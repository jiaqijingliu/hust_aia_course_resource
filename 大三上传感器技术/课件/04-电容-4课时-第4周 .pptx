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61"/>
  </p:notesMasterIdLst>
  <p:sldIdLst>
    <p:sldId id="256" r:id="rId2"/>
    <p:sldId id="257" r:id="rId3"/>
    <p:sldId id="258" r:id="rId4"/>
    <p:sldId id="354" r:id="rId5"/>
    <p:sldId id="318" r:id="rId6"/>
    <p:sldId id="347" r:id="rId7"/>
    <p:sldId id="348" r:id="rId8"/>
    <p:sldId id="351" r:id="rId9"/>
    <p:sldId id="357" r:id="rId10"/>
    <p:sldId id="358" r:id="rId11"/>
    <p:sldId id="436" r:id="rId12"/>
    <p:sldId id="268" r:id="rId13"/>
    <p:sldId id="366" r:id="rId14"/>
    <p:sldId id="359" r:id="rId15"/>
    <p:sldId id="425" r:id="rId16"/>
    <p:sldId id="362" r:id="rId17"/>
    <p:sldId id="363" r:id="rId18"/>
    <p:sldId id="371" r:id="rId19"/>
    <p:sldId id="373" r:id="rId20"/>
    <p:sldId id="375" r:id="rId21"/>
    <p:sldId id="427" r:id="rId22"/>
    <p:sldId id="428" r:id="rId23"/>
    <p:sldId id="389" r:id="rId24"/>
    <p:sldId id="395" r:id="rId25"/>
    <p:sldId id="396" r:id="rId26"/>
    <p:sldId id="397" r:id="rId27"/>
    <p:sldId id="400" r:id="rId28"/>
    <p:sldId id="401" r:id="rId29"/>
    <p:sldId id="390" r:id="rId30"/>
    <p:sldId id="292" r:id="rId31"/>
    <p:sldId id="434" r:id="rId32"/>
    <p:sldId id="293" r:id="rId33"/>
    <p:sldId id="435" r:id="rId34"/>
    <p:sldId id="403" r:id="rId35"/>
    <p:sldId id="402" r:id="rId36"/>
    <p:sldId id="405" r:id="rId37"/>
    <p:sldId id="406" r:id="rId38"/>
    <p:sldId id="407" r:id="rId39"/>
    <p:sldId id="410" r:id="rId40"/>
    <p:sldId id="411" r:id="rId41"/>
    <p:sldId id="409" r:id="rId42"/>
    <p:sldId id="412" r:id="rId43"/>
    <p:sldId id="416" r:id="rId44"/>
    <p:sldId id="429" r:id="rId45"/>
    <p:sldId id="430" r:id="rId46"/>
    <p:sldId id="369" r:id="rId47"/>
    <p:sldId id="367" r:id="rId48"/>
    <p:sldId id="372" r:id="rId49"/>
    <p:sldId id="432" r:id="rId50"/>
    <p:sldId id="415" r:id="rId51"/>
    <p:sldId id="414" r:id="rId52"/>
    <p:sldId id="421" r:id="rId53"/>
    <p:sldId id="420" r:id="rId54"/>
    <p:sldId id="419" r:id="rId55"/>
    <p:sldId id="418" r:id="rId56"/>
    <p:sldId id="422" r:id="rId57"/>
    <p:sldId id="423" r:id="rId58"/>
    <p:sldId id="424" r:id="rId59"/>
    <p:sldId id="338" r:id="rId60"/>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omic Sans MS" panose="030F0702030302020204" pitchFamily="66"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omic Sans MS" panose="030F0702030302020204" pitchFamily="66"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omic Sans MS" panose="030F0702030302020204" pitchFamily="66"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omic Sans MS" panose="030F0702030302020204" pitchFamily="66"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omic Sans MS" panose="030F0702030302020204" pitchFamily="66" charset="0"/>
        <a:ea typeface="宋体" panose="02010600030101010101" pitchFamily="2" charset="-122"/>
        <a:cs typeface="+mn-cs"/>
      </a:defRPr>
    </a:lvl5pPr>
    <a:lvl6pPr marL="2286000" algn="l" defTabSz="914400" rtl="0" eaLnBrk="1" latinLnBrk="0" hangingPunct="1">
      <a:defRPr kern="1200">
        <a:solidFill>
          <a:schemeClr val="tx1"/>
        </a:solidFill>
        <a:latin typeface="Comic Sans MS" panose="030F0702030302020204" pitchFamily="66" charset="0"/>
        <a:ea typeface="宋体" panose="02010600030101010101" pitchFamily="2" charset="-122"/>
        <a:cs typeface="+mn-cs"/>
      </a:defRPr>
    </a:lvl6pPr>
    <a:lvl7pPr marL="2743200" algn="l" defTabSz="914400" rtl="0" eaLnBrk="1" latinLnBrk="0" hangingPunct="1">
      <a:defRPr kern="1200">
        <a:solidFill>
          <a:schemeClr val="tx1"/>
        </a:solidFill>
        <a:latin typeface="Comic Sans MS" panose="030F0702030302020204" pitchFamily="66" charset="0"/>
        <a:ea typeface="宋体" panose="02010600030101010101" pitchFamily="2" charset="-122"/>
        <a:cs typeface="+mn-cs"/>
      </a:defRPr>
    </a:lvl7pPr>
    <a:lvl8pPr marL="3200400" algn="l" defTabSz="914400" rtl="0" eaLnBrk="1" latinLnBrk="0" hangingPunct="1">
      <a:defRPr kern="1200">
        <a:solidFill>
          <a:schemeClr val="tx1"/>
        </a:solidFill>
        <a:latin typeface="Comic Sans MS" panose="030F0702030302020204" pitchFamily="66" charset="0"/>
        <a:ea typeface="宋体" panose="02010600030101010101" pitchFamily="2" charset="-122"/>
        <a:cs typeface="+mn-cs"/>
      </a:defRPr>
    </a:lvl8pPr>
    <a:lvl9pPr marL="3657600" algn="l" defTabSz="914400" rtl="0" eaLnBrk="1" latinLnBrk="0" hangingPunct="1">
      <a:defRPr kern="1200">
        <a:solidFill>
          <a:schemeClr val="tx1"/>
        </a:solidFill>
        <a:latin typeface="Comic Sans MS" panose="030F0702030302020204" pitchFamily="66"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0000FF"/>
    <a:srgbClr val="0099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75" autoAdjust="0"/>
    <p:restoredTop sz="77867" autoAdjust="0"/>
  </p:normalViewPr>
  <p:slideViewPr>
    <p:cSldViewPr>
      <p:cViewPr varScale="1">
        <p:scale>
          <a:sx n="68" d="100"/>
          <a:sy n="68" d="100"/>
        </p:scale>
        <p:origin x="1188"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1" d="100"/>
          <a:sy n="51" d="100"/>
        </p:scale>
        <p:origin x="2692" y="5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8.wmf"/><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 Id="rId4" Type="http://schemas.openxmlformats.org/officeDocument/2006/relationships/image" Target="../media/image23.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 Id="rId6" Type="http://schemas.openxmlformats.org/officeDocument/2006/relationships/image" Target="../media/image29.wmf"/><Relationship Id="rId5" Type="http://schemas.openxmlformats.org/officeDocument/2006/relationships/image" Target="../media/image28.wmf"/><Relationship Id="rId4" Type="http://schemas.openxmlformats.org/officeDocument/2006/relationships/image" Target="../media/image27.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3.wmf"/><Relationship Id="rId1" Type="http://schemas.openxmlformats.org/officeDocument/2006/relationships/image" Target="../media/image43.wmf"/><Relationship Id="rId4" Type="http://schemas.openxmlformats.org/officeDocument/2006/relationships/image" Target="../media/image45.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3.wmf"/><Relationship Id="rId1" Type="http://schemas.openxmlformats.org/officeDocument/2006/relationships/image" Target="../media/image43.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 Id="rId5" Type="http://schemas.openxmlformats.org/officeDocument/2006/relationships/image" Target="../media/image51.wmf"/><Relationship Id="rId4" Type="http://schemas.openxmlformats.org/officeDocument/2006/relationships/image" Target="../media/image50.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69.wmf"/><Relationship Id="rId1" Type="http://schemas.openxmlformats.org/officeDocument/2006/relationships/image" Target="../media/image68.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72.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image" Target="../media/image74.wmf"/><Relationship Id="rId1" Type="http://schemas.openxmlformats.org/officeDocument/2006/relationships/image" Target="../media/image73.wmf"/><Relationship Id="rId4" Type="http://schemas.openxmlformats.org/officeDocument/2006/relationships/image" Target="../media/image69.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76.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78.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80.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90.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91.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95.wmf"/><Relationship Id="rId7" Type="http://schemas.openxmlformats.org/officeDocument/2006/relationships/image" Target="../media/image99.wmf"/><Relationship Id="rId2" Type="http://schemas.openxmlformats.org/officeDocument/2006/relationships/image" Target="../media/image94.wmf"/><Relationship Id="rId1" Type="http://schemas.openxmlformats.org/officeDocument/2006/relationships/image" Target="../media/image93.wmf"/><Relationship Id="rId6" Type="http://schemas.openxmlformats.org/officeDocument/2006/relationships/image" Target="../media/image98.wmf"/><Relationship Id="rId5" Type="http://schemas.openxmlformats.org/officeDocument/2006/relationships/image" Target="../media/image97.wmf"/><Relationship Id="rId4" Type="http://schemas.openxmlformats.org/officeDocument/2006/relationships/image" Target="../media/image96.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03.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10.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11.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113.wmf"/><Relationship Id="rId1" Type="http://schemas.openxmlformats.org/officeDocument/2006/relationships/image" Target="../media/image11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1A955949-E209-40CA-9259-6719EDF246B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a:extLst>
              <a:ext uri="{FF2B5EF4-FFF2-40B4-BE49-F238E27FC236}">
                <a16:creationId xmlns:a16="http://schemas.microsoft.com/office/drawing/2014/main" id="{D7974D80-F595-4809-BA60-A6DB72E7EEE4}"/>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45EEBEFF-7CB9-415E-B85D-22F6B55E3094}" type="datetimeFigureOut">
              <a:rPr lang="zh-CN" altLang="en-US"/>
              <a:pPr>
                <a:defRPr/>
              </a:pPr>
              <a:t>2024/9/18</a:t>
            </a:fld>
            <a:endParaRPr lang="zh-CN" altLang="en-US"/>
          </a:p>
        </p:txBody>
      </p:sp>
      <p:sp>
        <p:nvSpPr>
          <p:cNvPr id="4" name="幻灯片图像占位符 3">
            <a:extLst>
              <a:ext uri="{FF2B5EF4-FFF2-40B4-BE49-F238E27FC236}">
                <a16:creationId xmlns:a16="http://schemas.microsoft.com/office/drawing/2014/main" id="{A64AEC47-619C-4EDF-A23D-7A92D3E9666F}"/>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BB278412-8779-4B58-9C2C-38E8FEF1C778}"/>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FC09CAD2-C5FA-42A5-B561-16B3CF10544C}"/>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a:extLst>
              <a:ext uri="{FF2B5EF4-FFF2-40B4-BE49-F238E27FC236}">
                <a16:creationId xmlns:a16="http://schemas.microsoft.com/office/drawing/2014/main" id="{CF6DF0C9-80B2-4EAE-A085-5EB576600917}"/>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5A57FAF2-40BB-4E2C-9D3C-5FA15963475F}"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405432F0-0F4D-4AAD-80A1-296B508F902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107C8BD9-08E2-4531-A2B7-169D5755F5E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7412" name="灯片编号占位符 3">
            <a:extLst>
              <a:ext uri="{FF2B5EF4-FFF2-40B4-BE49-F238E27FC236}">
                <a16:creationId xmlns:a16="http://schemas.microsoft.com/office/drawing/2014/main" id="{A4EE3FDD-D5AF-450B-B0DA-4C0C1D47B5A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C041C51B-AA39-4C2F-8B88-A302D2A90835}"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2DB12807-0933-4E63-9D3F-2F27DEB6141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9C5340A9-F02A-4111-BB70-22F8CEEBE3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a:t>一种典型的结构型传感器</a:t>
            </a:r>
          </a:p>
        </p:txBody>
      </p:sp>
      <p:sp>
        <p:nvSpPr>
          <p:cNvPr id="20484" name="灯片编号占位符 3">
            <a:extLst>
              <a:ext uri="{FF2B5EF4-FFF2-40B4-BE49-F238E27FC236}">
                <a16:creationId xmlns:a16="http://schemas.microsoft.com/office/drawing/2014/main" id="{09A367B4-BE47-4A70-B2AB-AE17E52F5EA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0B7F1860-5500-4493-AF92-B49B429FAF7A}" type="slidenum">
              <a:rPr lang="zh-CN" altLang="en-US" smtClean="0"/>
              <a:pPr/>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a:extLst>
              <a:ext uri="{FF2B5EF4-FFF2-40B4-BE49-F238E27FC236}">
                <a16:creationId xmlns:a16="http://schemas.microsoft.com/office/drawing/2014/main" id="{3238503C-3E61-48EE-AC83-AF9294B3B06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备注占位符 2">
            <a:extLst>
              <a:ext uri="{FF2B5EF4-FFF2-40B4-BE49-F238E27FC236}">
                <a16:creationId xmlns:a16="http://schemas.microsoft.com/office/drawing/2014/main" id="{77D25D0A-AC76-452F-84A1-1F149457930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150000"/>
              </a:lnSpc>
              <a:spcBef>
                <a:spcPct val="0"/>
              </a:spcBef>
            </a:pPr>
            <a:r>
              <a:rPr lang="zh-CN" altLang="en-US">
                <a:latin typeface="宋体" panose="02010600030101010101" pitchFamily="2" charset="-122"/>
              </a:rPr>
              <a:t>●</a:t>
            </a:r>
            <a:r>
              <a:rPr lang="zh-CN" altLang="en-US">
                <a:latin typeface="楷体_GB2312" pitchFamily="49" charset="-122"/>
                <a:ea typeface="楷体_GB2312" pitchFamily="49" charset="-122"/>
              </a:rPr>
              <a:t>谷物收获时一般含水率较高，容易造成谷物发热、发酵、变质和发芽率下降。为了确保谷物安全贮存，必须将收获后的谷物及时干燥，将谷物水分降至安全贮藏标准。</a:t>
            </a:r>
          </a:p>
          <a:p>
            <a:pPr eaLnBrk="1" hangingPunct="1">
              <a:lnSpc>
                <a:spcPct val="150000"/>
              </a:lnSpc>
              <a:spcBef>
                <a:spcPct val="0"/>
              </a:spcBef>
            </a:pPr>
            <a:r>
              <a:rPr lang="zh-CN" altLang="en-US"/>
              <a:t>●</a:t>
            </a:r>
            <a:r>
              <a:rPr lang="zh-CN" altLang="en-US">
                <a:latin typeface="楷体_GB2312" pitchFamily="49" charset="-122"/>
                <a:ea typeface="楷体_GB2312" pitchFamily="49" charset="-122"/>
              </a:rPr>
              <a:t>利用水的介电常数远高于谷物介电常数的特性来测定谷物含水率。</a:t>
            </a:r>
          </a:p>
          <a:p>
            <a:pPr eaLnBrk="1" hangingPunct="1">
              <a:lnSpc>
                <a:spcPct val="150000"/>
              </a:lnSpc>
              <a:spcBef>
                <a:spcPct val="0"/>
              </a:spcBef>
            </a:pPr>
            <a:r>
              <a:rPr lang="zh-CN" altLang="en-US"/>
              <a:t>●</a:t>
            </a:r>
            <a:r>
              <a:rPr lang="zh-CN" altLang="en-US">
                <a:latin typeface="楷体_GB2312" pitchFamily="49" charset="-122"/>
                <a:ea typeface="楷体_GB2312" pitchFamily="49" charset="-122"/>
              </a:rPr>
              <a:t>但电容传感器所测电容值与谷物含水率之间并不是单值函数关系，其结果还受一系列其它因素的影响。</a:t>
            </a:r>
          </a:p>
          <a:p>
            <a:endParaRPr lang="zh-CN" altLang="en-US"/>
          </a:p>
        </p:txBody>
      </p:sp>
      <p:sp>
        <p:nvSpPr>
          <p:cNvPr id="33796" name="灯片编号占位符 3">
            <a:extLst>
              <a:ext uri="{FF2B5EF4-FFF2-40B4-BE49-F238E27FC236}">
                <a16:creationId xmlns:a16="http://schemas.microsoft.com/office/drawing/2014/main" id="{16B16D41-49D9-4D01-B698-2622EE89C4E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CD22C321-98B8-474D-A293-9BEBA74139BC}" type="slidenum">
              <a:rPr lang="zh-CN" altLang="en-US" smtClean="0"/>
              <a:pPr/>
              <a:t>16</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a:extLst>
              <a:ext uri="{FF2B5EF4-FFF2-40B4-BE49-F238E27FC236}">
                <a16:creationId xmlns:a16="http://schemas.microsoft.com/office/drawing/2014/main" id="{3A88F064-9117-46F0-9501-E0617E94CF7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备注占位符 2">
            <a:extLst>
              <a:ext uri="{FF2B5EF4-FFF2-40B4-BE49-F238E27FC236}">
                <a16:creationId xmlns:a16="http://schemas.microsoft.com/office/drawing/2014/main" id="{5AB876CD-1372-4D1B-86DD-49FDF5C9CAB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6868" name="灯片编号占位符 3">
            <a:extLst>
              <a:ext uri="{FF2B5EF4-FFF2-40B4-BE49-F238E27FC236}">
                <a16:creationId xmlns:a16="http://schemas.microsoft.com/office/drawing/2014/main" id="{6E03095E-C4FF-4154-AB24-677A505284B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623844AA-2F95-47E2-8631-26E02EE0A345}" type="slidenum">
              <a:rPr lang="zh-CN" altLang="en-US" smtClean="0"/>
              <a:pPr/>
              <a:t>18</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a:extLst>
              <a:ext uri="{FF2B5EF4-FFF2-40B4-BE49-F238E27FC236}">
                <a16:creationId xmlns:a16="http://schemas.microsoft.com/office/drawing/2014/main" id="{473975D1-49B5-4E7C-AEDD-8116DAC060D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备注占位符 2">
            <a:extLst>
              <a:ext uri="{FF2B5EF4-FFF2-40B4-BE49-F238E27FC236}">
                <a16:creationId xmlns:a16="http://schemas.microsoft.com/office/drawing/2014/main" id="{5161AC0F-934C-44DC-ADD8-EBBBB23CA02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zh-CN"/>
              <a:t>比如热轧钢板并不是一个平面而是一个曲面，这时激光头和待切割钢板表面之间的实际距离则不是恒定的。又如工件装夹方式会使工件在负载力下产生形变、工件在加工过程中的热形变等诸多因素都会造成激光头和工件表面之间的距离发生变化，这就意味着由于工件表面的实际形状以及可能产生的形变无法事先测量，故获得切口处最大功率的最佳解决方案是当激光切割头沿工件表面切向做相对运动时</a:t>
            </a:r>
            <a:r>
              <a:rPr lang="en-US" altLang="zh-CN"/>
              <a:t>,</a:t>
            </a:r>
            <a:endParaRPr lang="zh-CN" altLang="en-US"/>
          </a:p>
          <a:p>
            <a:endParaRPr lang="zh-CN" altLang="en-US"/>
          </a:p>
        </p:txBody>
      </p:sp>
      <p:sp>
        <p:nvSpPr>
          <p:cNvPr id="58372" name="灯片编号占位符 3">
            <a:extLst>
              <a:ext uri="{FF2B5EF4-FFF2-40B4-BE49-F238E27FC236}">
                <a16:creationId xmlns:a16="http://schemas.microsoft.com/office/drawing/2014/main" id="{D27B84B8-27C5-44B6-8796-87D31D7650A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FAAF9FFA-3805-4E0E-BEAB-EB892AE1A4D6}" type="slidenum">
              <a:rPr lang="zh-CN" altLang="en-US" smtClean="0"/>
              <a:pPr/>
              <a:t>35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a:extLst>
              <a:ext uri="{FF2B5EF4-FFF2-40B4-BE49-F238E27FC236}">
                <a16:creationId xmlns:a16="http://schemas.microsoft.com/office/drawing/2014/main" id="{6721DB7D-A63C-4F43-80CA-BAC03CB0A9D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备注占位符 2">
            <a:extLst>
              <a:ext uri="{FF2B5EF4-FFF2-40B4-BE49-F238E27FC236}">
                <a16:creationId xmlns:a16="http://schemas.microsoft.com/office/drawing/2014/main" id="{A3BD8FB6-A662-4A6C-9DA4-7476738140C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60420" name="灯片编号占位符 3">
            <a:extLst>
              <a:ext uri="{FF2B5EF4-FFF2-40B4-BE49-F238E27FC236}">
                <a16:creationId xmlns:a16="http://schemas.microsoft.com/office/drawing/2014/main" id="{11A979D7-5BF5-4A7B-BA1F-18872E2DF9D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82A6F4B-AFDF-413C-BC76-639682E474AA}" type="slidenum">
              <a:rPr lang="zh-CN" altLang="en-US" smtClean="0"/>
              <a:pPr/>
              <a:t>36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43B6002E-312D-46B7-8723-11CF41FB697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备注占位符 2">
            <a:extLst>
              <a:ext uri="{FF2B5EF4-FFF2-40B4-BE49-F238E27FC236}">
                <a16:creationId xmlns:a16="http://schemas.microsoft.com/office/drawing/2014/main" id="{DA5BD5E8-E36A-4F07-8E4F-5931B481226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62468" name="灯片编号占位符 3">
            <a:extLst>
              <a:ext uri="{FF2B5EF4-FFF2-40B4-BE49-F238E27FC236}">
                <a16:creationId xmlns:a16="http://schemas.microsoft.com/office/drawing/2014/main" id="{868B21A9-ED7E-457D-AEEA-A5D94F991B7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F1D690CC-F650-4C97-AC74-90554341C080}" type="slidenum">
              <a:rPr lang="zh-CN" altLang="en-US" smtClean="0"/>
              <a:pPr/>
              <a:t>37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a:extLst>
              <a:ext uri="{FF2B5EF4-FFF2-40B4-BE49-F238E27FC236}">
                <a16:creationId xmlns:a16="http://schemas.microsoft.com/office/drawing/2014/main" id="{B8C61F44-D697-4347-9E65-32F638116D4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备注占位符 2">
            <a:extLst>
              <a:ext uri="{FF2B5EF4-FFF2-40B4-BE49-F238E27FC236}">
                <a16:creationId xmlns:a16="http://schemas.microsoft.com/office/drawing/2014/main" id="{2BFF34DF-6F2F-47E6-836A-12FD0FC6E64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64516" name="灯片编号占位符 3">
            <a:extLst>
              <a:ext uri="{FF2B5EF4-FFF2-40B4-BE49-F238E27FC236}">
                <a16:creationId xmlns:a16="http://schemas.microsoft.com/office/drawing/2014/main" id="{A332D7EB-8D4A-4AE1-9AEC-15C52A099E1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E67AE2C6-97F0-4478-93BB-16DFA17E3D7C}" type="slidenum">
              <a:rPr lang="zh-CN" altLang="en-US" smtClean="0"/>
              <a:pPr/>
              <a:t>38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a:extLst>
              <a:ext uri="{FF2B5EF4-FFF2-40B4-BE49-F238E27FC236}">
                <a16:creationId xmlns:a16="http://schemas.microsoft.com/office/drawing/2014/main" id="{B1106363-0D4C-42DF-AB68-1573C43C27A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备注占位符 2">
            <a:extLst>
              <a:ext uri="{FF2B5EF4-FFF2-40B4-BE49-F238E27FC236}">
                <a16:creationId xmlns:a16="http://schemas.microsoft.com/office/drawing/2014/main" id="{C73F41DD-7713-401A-A60B-DEAE53A94B4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66564" name="灯片编号占位符 3">
            <a:extLst>
              <a:ext uri="{FF2B5EF4-FFF2-40B4-BE49-F238E27FC236}">
                <a16:creationId xmlns:a16="http://schemas.microsoft.com/office/drawing/2014/main" id="{286CCFDB-1179-47E5-BDE9-0D9C0F29DEC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634423BE-1715-4D1E-9EC3-B16AEF772F8E}" type="slidenum">
              <a:rPr lang="zh-CN" altLang="en-US" smtClean="0"/>
              <a:pPr/>
              <a:t>39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a:extLst>
              <a:ext uri="{FF2B5EF4-FFF2-40B4-BE49-F238E27FC236}">
                <a16:creationId xmlns:a16="http://schemas.microsoft.com/office/drawing/2014/main" id="{03646299-5AF2-4468-A2FB-DA2AFCE9891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备注占位符 2">
            <a:extLst>
              <a:ext uri="{FF2B5EF4-FFF2-40B4-BE49-F238E27FC236}">
                <a16:creationId xmlns:a16="http://schemas.microsoft.com/office/drawing/2014/main" id="{01F6583F-D7C8-4460-BB8E-0227154CF80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68612" name="灯片编号占位符 3">
            <a:extLst>
              <a:ext uri="{FF2B5EF4-FFF2-40B4-BE49-F238E27FC236}">
                <a16:creationId xmlns:a16="http://schemas.microsoft.com/office/drawing/2014/main" id="{6EEA9B92-3834-4386-8EC8-0F590776962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96BD973E-27A5-43DA-9644-30BA1DA318CC}" type="slidenum">
              <a:rPr lang="zh-CN" altLang="en-US" smtClean="0"/>
              <a:pPr/>
              <a:t>40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a:extLst>
              <a:ext uri="{FF2B5EF4-FFF2-40B4-BE49-F238E27FC236}">
                <a16:creationId xmlns:a16="http://schemas.microsoft.com/office/drawing/2014/main" id="{BE04E65F-D278-4E8B-9C49-BEF60907870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备注占位符 2">
            <a:extLst>
              <a:ext uri="{FF2B5EF4-FFF2-40B4-BE49-F238E27FC236}">
                <a16:creationId xmlns:a16="http://schemas.microsoft.com/office/drawing/2014/main" id="{E4892F17-BDAD-45B1-9FAD-27AD072E03A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70660" name="灯片编号占位符 3">
            <a:extLst>
              <a:ext uri="{FF2B5EF4-FFF2-40B4-BE49-F238E27FC236}">
                <a16:creationId xmlns:a16="http://schemas.microsoft.com/office/drawing/2014/main" id="{AB5818A3-8A3B-4007-A6C8-EC7C932652C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CEDC99D8-82C0-4BA5-87F2-3DB8E9648652}" type="slidenum">
              <a:rPr lang="zh-CN" altLang="en-US" smtClean="0"/>
              <a:pPr/>
              <a:t>41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a:extLst>
              <a:ext uri="{FF2B5EF4-FFF2-40B4-BE49-F238E27FC236}">
                <a16:creationId xmlns:a16="http://schemas.microsoft.com/office/drawing/2014/main" id="{F91F9474-F32E-4ECE-B4AE-9336C58F921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备注占位符 2">
            <a:extLst>
              <a:ext uri="{FF2B5EF4-FFF2-40B4-BE49-F238E27FC236}">
                <a16:creationId xmlns:a16="http://schemas.microsoft.com/office/drawing/2014/main" id="{A665BA6A-3378-4EEA-8BB4-A55121A6278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72708" name="灯片编号占位符 3">
            <a:extLst>
              <a:ext uri="{FF2B5EF4-FFF2-40B4-BE49-F238E27FC236}">
                <a16:creationId xmlns:a16="http://schemas.microsoft.com/office/drawing/2014/main" id="{0222D23F-FA52-473C-B498-19F694AEB78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F8ED7472-5E91-4EC0-99EC-601ED5867551}" type="slidenum">
              <a:rPr lang="zh-CN" altLang="en-US" smtClean="0"/>
              <a:pPr/>
              <a:t>42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a:extLst>
              <a:ext uri="{FF2B5EF4-FFF2-40B4-BE49-F238E27FC236}">
                <a16:creationId xmlns:a16="http://schemas.microsoft.com/office/drawing/2014/main" id="{9377CB07-A152-43AF-B16D-B112B8E985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备注占位符 2">
            <a:extLst>
              <a:ext uri="{FF2B5EF4-FFF2-40B4-BE49-F238E27FC236}">
                <a16:creationId xmlns:a16="http://schemas.microsoft.com/office/drawing/2014/main" id="{1382481C-5FBF-47D8-B4E1-EF33F3B758D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74756" name="灯片编号占位符 3">
            <a:extLst>
              <a:ext uri="{FF2B5EF4-FFF2-40B4-BE49-F238E27FC236}">
                <a16:creationId xmlns:a16="http://schemas.microsoft.com/office/drawing/2014/main" id="{12D44982-7696-4BA3-BD84-7ACA03325E0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FA7A0F54-ECAE-4351-9721-960F0612D6E3}" type="slidenum">
              <a:rPr lang="zh-CN" altLang="en-US" smtClean="0"/>
              <a:pPr/>
              <a:t>43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a:extLst>
              <a:ext uri="{FF2B5EF4-FFF2-40B4-BE49-F238E27FC236}">
                <a16:creationId xmlns:a16="http://schemas.microsoft.com/office/drawing/2014/main" id="{8E28B065-97BE-4354-BBE6-6DC4C78DBEC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备注占位符 2">
            <a:extLst>
              <a:ext uri="{FF2B5EF4-FFF2-40B4-BE49-F238E27FC236}">
                <a16:creationId xmlns:a16="http://schemas.microsoft.com/office/drawing/2014/main" id="{5C7098EB-4496-46C0-8575-9AE3198344C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76804" name="灯片编号占位符 3">
            <a:extLst>
              <a:ext uri="{FF2B5EF4-FFF2-40B4-BE49-F238E27FC236}">
                <a16:creationId xmlns:a16="http://schemas.microsoft.com/office/drawing/2014/main" id="{D20A5C92-B8AD-476D-A84E-1346938B796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FD86126B-4009-437F-A4C5-F4834F6433C8}" type="slidenum">
              <a:rPr lang="zh-CN" altLang="en-US" smtClean="0"/>
              <a:pPr/>
              <a:t>44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a:extLst>
              <a:ext uri="{FF2B5EF4-FFF2-40B4-BE49-F238E27FC236}">
                <a16:creationId xmlns:a16="http://schemas.microsoft.com/office/drawing/2014/main" id="{597BD68B-2CBD-4384-95DE-E14E04D5068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备注占位符 2">
            <a:extLst>
              <a:ext uri="{FF2B5EF4-FFF2-40B4-BE49-F238E27FC236}">
                <a16:creationId xmlns:a16="http://schemas.microsoft.com/office/drawing/2014/main" id="{BEEB8A60-E439-42EE-AEA4-939451059CD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78852" name="灯片编号占位符 3">
            <a:extLst>
              <a:ext uri="{FF2B5EF4-FFF2-40B4-BE49-F238E27FC236}">
                <a16:creationId xmlns:a16="http://schemas.microsoft.com/office/drawing/2014/main" id="{17A6549E-71EF-4830-9EF0-6CFA699E3E4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9BCBE5DF-30EF-4EAD-8EE4-7EADF07AF86E}" type="slidenum">
              <a:rPr lang="zh-CN" altLang="en-US" smtClean="0"/>
              <a:pPr/>
              <a:t>45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a:extLst>
              <a:ext uri="{FF2B5EF4-FFF2-40B4-BE49-F238E27FC236}">
                <a16:creationId xmlns:a16="http://schemas.microsoft.com/office/drawing/2014/main" id="{8A4172A5-6BD1-496A-8319-A56635F7201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备注占位符 2">
            <a:extLst>
              <a:ext uri="{FF2B5EF4-FFF2-40B4-BE49-F238E27FC236}">
                <a16:creationId xmlns:a16="http://schemas.microsoft.com/office/drawing/2014/main" id="{33BEC4C0-C342-4F48-9333-0838D93E95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82948" name="灯片编号占位符 3">
            <a:extLst>
              <a:ext uri="{FF2B5EF4-FFF2-40B4-BE49-F238E27FC236}">
                <a16:creationId xmlns:a16="http://schemas.microsoft.com/office/drawing/2014/main" id="{E055D4DE-BB2B-4AE7-B905-DA12D8E3E6B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DD577C1F-DBA4-4824-A8DF-FC3E447E5649}" type="slidenum">
              <a:rPr lang="zh-CN" altLang="en-US" smtClean="0"/>
              <a:pPr/>
              <a:t>48</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a:extLst>
              <a:ext uri="{FF2B5EF4-FFF2-40B4-BE49-F238E27FC236}">
                <a16:creationId xmlns:a16="http://schemas.microsoft.com/office/drawing/2014/main" id="{E392C9D3-F048-485E-BCEC-9F9C2652A0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备注占位符 2">
            <a:extLst>
              <a:ext uri="{FF2B5EF4-FFF2-40B4-BE49-F238E27FC236}">
                <a16:creationId xmlns:a16="http://schemas.microsoft.com/office/drawing/2014/main" id="{539588A5-F1E1-425E-94E6-CB0D8648230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84996" name="灯片编号占位符 3">
            <a:extLst>
              <a:ext uri="{FF2B5EF4-FFF2-40B4-BE49-F238E27FC236}">
                <a16:creationId xmlns:a16="http://schemas.microsoft.com/office/drawing/2014/main" id="{C8072A0A-BEA3-473A-A27E-CAE00D84D88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2F5B31AA-879D-406D-8FC1-4EFA24A531FB}" type="slidenum">
              <a:rPr lang="zh-CN" altLang="en-US" smtClean="0"/>
              <a:pPr/>
              <a:t>49</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a:extLst>
              <a:ext uri="{FF2B5EF4-FFF2-40B4-BE49-F238E27FC236}">
                <a16:creationId xmlns:a16="http://schemas.microsoft.com/office/drawing/2014/main" id="{A63BE73A-1D29-46CF-B7AE-4A3927E7CBF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备注占位符 2">
            <a:extLst>
              <a:ext uri="{FF2B5EF4-FFF2-40B4-BE49-F238E27FC236}">
                <a16:creationId xmlns:a16="http://schemas.microsoft.com/office/drawing/2014/main" id="{01FE4D32-242E-4EB6-B5A2-EB46F3E18FF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87044" name="灯片编号占位符 3">
            <a:extLst>
              <a:ext uri="{FF2B5EF4-FFF2-40B4-BE49-F238E27FC236}">
                <a16:creationId xmlns:a16="http://schemas.microsoft.com/office/drawing/2014/main" id="{100320DB-4730-4B5B-BBF5-DA2732879DD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9166D7A-0930-4640-AD8E-F42BDA018482}" type="slidenum">
              <a:rPr lang="zh-CN" altLang="en-US" smtClean="0"/>
              <a:pPr/>
              <a:t>50</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B6D10065-C2D0-4A57-B88A-7871F850D7A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18E4AFBA-D39D-4097-9268-8FC90C2194B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89092" name="灯片编号占位符 3">
            <a:extLst>
              <a:ext uri="{FF2B5EF4-FFF2-40B4-BE49-F238E27FC236}">
                <a16:creationId xmlns:a16="http://schemas.microsoft.com/office/drawing/2014/main" id="{07817535-135C-416E-89DA-600F6C36868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C2EF20B9-522B-47F5-A80B-5370D8F293A7}" type="slidenum">
              <a:rPr lang="zh-CN" altLang="en-US" smtClean="0"/>
              <a:pPr/>
              <a:t>51</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a:extLst>
              <a:ext uri="{FF2B5EF4-FFF2-40B4-BE49-F238E27FC236}">
                <a16:creationId xmlns:a16="http://schemas.microsoft.com/office/drawing/2014/main" id="{AAEF3521-BF8A-41B8-9689-5733D878026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备注占位符 2">
            <a:extLst>
              <a:ext uri="{FF2B5EF4-FFF2-40B4-BE49-F238E27FC236}">
                <a16:creationId xmlns:a16="http://schemas.microsoft.com/office/drawing/2014/main" id="{39F23B73-9BF0-4088-8C72-F4EB67F6E10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just" eaLnBrk="1" hangingPunct="1">
              <a:lnSpc>
                <a:spcPct val="120000"/>
              </a:lnSpc>
            </a:pPr>
            <a:r>
              <a:rPr lang="en-US" altLang="zh-CN">
                <a:solidFill>
                  <a:schemeClr val="tx2"/>
                </a:solidFill>
                <a:latin typeface="楷体_GB2312" pitchFamily="49" charset="-122"/>
                <a:ea typeface="楷体_GB2312" pitchFamily="49" charset="-122"/>
              </a:rPr>
              <a:t>●</a:t>
            </a:r>
            <a:r>
              <a:rPr lang="zh-CN" altLang="en-US">
                <a:solidFill>
                  <a:schemeClr val="tx2"/>
                </a:solidFill>
                <a:latin typeface="楷体_GB2312" pitchFamily="49" charset="-122"/>
                <a:ea typeface="楷体_GB2312" pitchFamily="49" charset="-122"/>
              </a:rPr>
              <a:t>当车厢有了加速度，情况就不同了。单摆会向后偏离铅垂线，垂直上抛的小球也会落到抛出点的后方，因此</a:t>
            </a:r>
            <a:r>
              <a:rPr lang="zh-CN" altLang="en-US" b="1">
                <a:solidFill>
                  <a:schemeClr val="tx2"/>
                </a:solidFill>
                <a:latin typeface="楷体_GB2312" pitchFamily="49" charset="-122"/>
                <a:ea typeface="楷体_GB2312" pitchFamily="49" charset="-122"/>
              </a:rPr>
              <a:t>不依赖外部信息，在运动体的内部可以测出物体的加速度</a:t>
            </a:r>
            <a:r>
              <a:rPr lang="zh-CN" altLang="en-US">
                <a:solidFill>
                  <a:schemeClr val="tx2"/>
                </a:solidFill>
                <a:latin typeface="楷体_GB2312" pitchFamily="49" charset="-122"/>
                <a:ea typeface="楷体_GB2312" pitchFamily="49" charset="-122"/>
              </a:rPr>
              <a:t>。考虑相对运动，加上牵连惯性力 ，可以解释为：是牵连惯性力</a:t>
            </a:r>
            <a:r>
              <a:rPr lang="en-US" altLang="zh-CN" b="1" i="1">
                <a:solidFill>
                  <a:schemeClr val="tx2"/>
                </a:solidFill>
                <a:latin typeface="楷体_GB2312" pitchFamily="49" charset="-122"/>
                <a:ea typeface="楷体_GB2312" pitchFamily="49" charset="-122"/>
              </a:rPr>
              <a:t>Q</a:t>
            </a:r>
            <a:r>
              <a:rPr lang="zh-CN" altLang="en-US">
                <a:solidFill>
                  <a:schemeClr val="tx2"/>
                </a:solidFill>
                <a:latin typeface="楷体_GB2312" pitchFamily="49" charset="-122"/>
                <a:ea typeface="楷体_GB2312" pitchFamily="49" charset="-122"/>
              </a:rPr>
              <a:t>向后拉动小球，如能测出单摆偏角</a:t>
            </a:r>
            <a:r>
              <a:rPr lang="en-US" altLang="zh-CN">
                <a:solidFill>
                  <a:schemeClr val="tx2"/>
                </a:solidFill>
                <a:latin typeface="楷体_GB2312" pitchFamily="49" charset="-122"/>
                <a:ea typeface="楷体_GB2312" pitchFamily="49" charset="-122"/>
              </a:rPr>
              <a:t>θ </a:t>
            </a:r>
            <a:r>
              <a:rPr lang="zh-CN" altLang="en-US">
                <a:solidFill>
                  <a:schemeClr val="tx2"/>
                </a:solidFill>
                <a:latin typeface="楷体_GB2312" pitchFamily="49" charset="-122"/>
                <a:ea typeface="楷体_GB2312" pitchFamily="49" charset="-122"/>
              </a:rPr>
              <a:t>，则运动物体加速度是 </a:t>
            </a:r>
            <a:r>
              <a:rPr lang="en-US" altLang="zh-CN" i="1">
                <a:solidFill>
                  <a:schemeClr val="tx2"/>
                </a:solidFill>
                <a:latin typeface="楷体_GB2312" pitchFamily="49" charset="-122"/>
                <a:ea typeface="楷体_GB2312" pitchFamily="49" charset="-122"/>
              </a:rPr>
              <a:t>a</a:t>
            </a:r>
            <a:r>
              <a:rPr lang="en-US" altLang="zh-CN">
                <a:solidFill>
                  <a:schemeClr val="tx2"/>
                </a:solidFill>
                <a:latin typeface="楷体_GB2312" pitchFamily="49" charset="-122"/>
                <a:ea typeface="楷体_GB2312" pitchFamily="49" charset="-122"/>
              </a:rPr>
              <a:t>=</a:t>
            </a:r>
            <a:r>
              <a:rPr lang="en-US" altLang="zh-CN" i="1">
                <a:solidFill>
                  <a:schemeClr val="tx2"/>
                </a:solidFill>
                <a:latin typeface="楷体_GB2312" pitchFamily="49" charset="-122"/>
                <a:ea typeface="楷体_GB2312" pitchFamily="49" charset="-122"/>
              </a:rPr>
              <a:t>g</a:t>
            </a:r>
            <a:r>
              <a:rPr lang="en-US" altLang="zh-CN">
                <a:solidFill>
                  <a:schemeClr val="tx2"/>
                </a:solidFill>
                <a:latin typeface="楷体_GB2312" pitchFamily="49" charset="-122"/>
                <a:ea typeface="楷体_GB2312" pitchFamily="49" charset="-122"/>
              </a:rPr>
              <a:t>tan</a:t>
            </a:r>
            <a:r>
              <a:rPr lang="en-US" altLang="zh-CN" i="1">
                <a:solidFill>
                  <a:schemeClr val="tx2"/>
                </a:solidFill>
                <a:latin typeface="楷体_GB2312" pitchFamily="49" charset="-122"/>
                <a:ea typeface="楷体_GB2312" pitchFamily="49" charset="-122"/>
              </a:rPr>
              <a:t>θ</a:t>
            </a:r>
            <a:r>
              <a:rPr lang="zh-CN" altLang="en-US" i="1">
                <a:solidFill>
                  <a:schemeClr val="tx2"/>
                </a:solidFill>
                <a:latin typeface="楷体_GB2312" pitchFamily="49" charset="-122"/>
                <a:ea typeface="楷体_GB2312" pitchFamily="49" charset="-122"/>
              </a:rPr>
              <a:t>。</a:t>
            </a:r>
          </a:p>
          <a:p>
            <a:pPr algn="just" eaLnBrk="1" hangingPunct="1">
              <a:lnSpc>
                <a:spcPct val="120000"/>
              </a:lnSpc>
            </a:pPr>
            <a:r>
              <a:rPr lang="zh-CN" altLang="en-US">
                <a:solidFill>
                  <a:schemeClr val="tx2"/>
                </a:solidFill>
                <a:latin typeface="楷体_GB2312" pitchFamily="49" charset="-122"/>
                <a:ea typeface="楷体_GB2312" pitchFamily="49" charset="-122"/>
              </a:rPr>
              <a:t>●在运动物体内部能测出物体加速度的仪器叫做加速度计，单摆就可作加速度计使用，但不方便。右图的弹簧质点系统，是一种可行方案，当壳体（安装在载体上）沿仪器敏感轴有加速度时，惯性力作用在惯性质量上，使其移动，直至与弹簧恢复力平衡，电位计即有与惯性力成正比的信号输出，因而可测出载体的加速度</a:t>
            </a:r>
            <a:r>
              <a:rPr lang="en-US" altLang="zh-CN">
                <a:solidFill>
                  <a:schemeClr val="tx2"/>
                </a:solidFill>
                <a:latin typeface="楷体_GB2312" pitchFamily="49" charset="-122"/>
                <a:ea typeface="楷体_GB2312" pitchFamily="49" charset="-122"/>
              </a:rPr>
              <a:t>a</a:t>
            </a:r>
            <a:r>
              <a:rPr lang="zh-CN" altLang="en-US">
                <a:solidFill>
                  <a:schemeClr val="tx2"/>
                </a:solidFill>
                <a:latin typeface="楷体_GB2312" pitchFamily="49" charset="-122"/>
                <a:ea typeface="楷体_GB2312" pitchFamily="49" charset="-122"/>
              </a:rPr>
              <a:t>。</a:t>
            </a:r>
          </a:p>
          <a:p>
            <a:pPr algn="just" eaLnBrk="1" hangingPunct="1">
              <a:lnSpc>
                <a:spcPct val="120000"/>
              </a:lnSpc>
            </a:pPr>
            <a:r>
              <a:rPr lang="zh-CN" altLang="en-US">
                <a:solidFill>
                  <a:schemeClr val="tx2"/>
                </a:solidFill>
                <a:latin typeface="楷体_GB2312" pitchFamily="49" charset="-122"/>
                <a:ea typeface="楷体_GB2312" pitchFamily="49" charset="-122"/>
              </a:rPr>
              <a:t>●对所测得的加速度 ，积分一次可得速度</a:t>
            </a:r>
            <a:r>
              <a:rPr lang="en-US" altLang="zh-CN" i="1">
                <a:solidFill>
                  <a:schemeClr val="tx2"/>
                </a:solidFill>
                <a:latin typeface="楷体_GB2312" pitchFamily="49" charset="-122"/>
                <a:ea typeface="楷体_GB2312" pitchFamily="49" charset="-122"/>
              </a:rPr>
              <a:t>v</a:t>
            </a:r>
            <a:r>
              <a:rPr lang="zh-CN" altLang="en-US">
                <a:solidFill>
                  <a:schemeClr val="tx2"/>
                </a:solidFill>
                <a:latin typeface="楷体_GB2312" pitchFamily="49" charset="-122"/>
                <a:ea typeface="楷体_GB2312" pitchFamily="49" charset="-122"/>
              </a:rPr>
              <a:t>，积分两次得载体在积分时间间隔中的位移。如果再考虑初始条件，就能完全确定载体在任一时刻的位置与速度。</a:t>
            </a:r>
          </a:p>
          <a:p>
            <a:endParaRPr lang="zh-CN" altLang="en-US"/>
          </a:p>
        </p:txBody>
      </p:sp>
      <p:sp>
        <p:nvSpPr>
          <p:cNvPr id="91140" name="灯片编号占位符 3">
            <a:extLst>
              <a:ext uri="{FF2B5EF4-FFF2-40B4-BE49-F238E27FC236}">
                <a16:creationId xmlns:a16="http://schemas.microsoft.com/office/drawing/2014/main" id="{2A1A75A9-5F5D-4555-950F-5FFA6589BB3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FEBFE18A-F005-49ED-A66C-91C4913E4476}" type="slidenum">
              <a:rPr lang="zh-CN" altLang="en-US" smtClean="0"/>
              <a:pPr/>
              <a:t>52</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a:extLst>
              <a:ext uri="{FF2B5EF4-FFF2-40B4-BE49-F238E27FC236}">
                <a16:creationId xmlns:a16="http://schemas.microsoft.com/office/drawing/2014/main" id="{12A182A9-7F44-4E9D-B44D-CD1E9F9B125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7" name="备注占位符 2">
            <a:extLst>
              <a:ext uri="{FF2B5EF4-FFF2-40B4-BE49-F238E27FC236}">
                <a16:creationId xmlns:a16="http://schemas.microsoft.com/office/drawing/2014/main" id="{FE0235A0-CD2D-4C22-8C68-7FEEC637E6A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140000"/>
              </a:lnSpc>
              <a:spcBef>
                <a:spcPct val="0"/>
              </a:spcBef>
            </a:pPr>
            <a:r>
              <a:rPr lang="en-US" altLang="zh-CN">
                <a:solidFill>
                  <a:schemeClr val="tx2"/>
                </a:solidFill>
                <a:latin typeface="楷体_GB2312" pitchFamily="49" charset="-122"/>
                <a:ea typeface="楷体_GB2312" pitchFamily="49" charset="-122"/>
              </a:rPr>
              <a:t>●</a:t>
            </a:r>
            <a:r>
              <a:rPr lang="zh-CN" altLang="en-US">
                <a:solidFill>
                  <a:schemeClr val="tx2"/>
                </a:solidFill>
                <a:latin typeface="楷体_GB2312" pitchFamily="49" charset="-122"/>
                <a:ea typeface="楷体_GB2312" pitchFamily="49" charset="-122"/>
              </a:rPr>
              <a:t>图中右侧标尺表示与大地（或惯性空间）保持相对静止的运动参照点，称为静基准。</a:t>
            </a:r>
          </a:p>
          <a:p>
            <a:pPr eaLnBrk="1" hangingPunct="1">
              <a:lnSpc>
                <a:spcPct val="140000"/>
              </a:lnSpc>
              <a:spcBef>
                <a:spcPct val="0"/>
              </a:spcBef>
            </a:pPr>
            <a:r>
              <a:rPr lang="zh-CN" altLang="en-US" sz="1400">
                <a:solidFill>
                  <a:schemeClr val="tx2"/>
                </a:solidFill>
                <a:latin typeface="楷体_GB2312" pitchFamily="49" charset="-122"/>
                <a:ea typeface="楷体_GB2312" pitchFamily="49" charset="-122"/>
              </a:rPr>
              <a:t>● </a:t>
            </a:r>
            <a:r>
              <a:rPr lang="en-US" altLang="zh-CN" i="1">
                <a:solidFill>
                  <a:schemeClr val="tx2"/>
                </a:solidFill>
                <a:latin typeface="楷体_GB2312" pitchFamily="49" charset="-122"/>
                <a:ea typeface="楷体_GB2312" pitchFamily="49" charset="-122"/>
              </a:rPr>
              <a:t>x </a:t>
            </a:r>
            <a:r>
              <a:rPr lang="zh-CN" altLang="en-US">
                <a:solidFill>
                  <a:schemeClr val="tx2"/>
                </a:solidFill>
                <a:latin typeface="楷体_GB2312" pitchFamily="49" charset="-122"/>
                <a:ea typeface="楷体_GB2312" pitchFamily="49" charset="-122"/>
              </a:rPr>
              <a:t>表示被测振动体</a:t>
            </a:r>
            <a:r>
              <a:rPr lang="en-US" altLang="zh-CN">
                <a:solidFill>
                  <a:schemeClr val="tx2"/>
                </a:solidFill>
                <a:latin typeface="楷体_GB2312" pitchFamily="49" charset="-122"/>
                <a:ea typeface="楷体_GB2312" pitchFamily="49" charset="-122"/>
              </a:rPr>
              <a:t>2 </a:t>
            </a:r>
            <a:r>
              <a:rPr lang="zh-CN" altLang="en-US">
                <a:solidFill>
                  <a:schemeClr val="tx2"/>
                </a:solidFill>
                <a:latin typeface="楷体_GB2312" pitchFamily="49" charset="-122"/>
                <a:ea typeface="楷体_GB2312" pitchFamily="49" charset="-122"/>
              </a:rPr>
              <a:t>及传感器底座</a:t>
            </a:r>
            <a:r>
              <a:rPr lang="en-US" altLang="zh-CN">
                <a:solidFill>
                  <a:schemeClr val="tx2"/>
                </a:solidFill>
                <a:latin typeface="楷体_GB2312" pitchFamily="49" charset="-122"/>
                <a:ea typeface="楷体_GB2312" pitchFamily="49" charset="-122"/>
              </a:rPr>
              <a:t>1 </a:t>
            </a:r>
            <a:r>
              <a:rPr lang="zh-CN" altLang="en-US">
                <a:solidFill>
                  <a:schemeClr val="tx2"/>
                </a:solidFill>
                <a:latin typeface="楷体_GB2312" pitchFamily="49" charset="-122"/>
                <a:ea typeface="楷体_GB2312" pitchFamily="49" charset="-122"/>
              </a:rPr>
              <a:t>相对与该参照点的位移，即绝对位移；</a:t>
            </a:r>
          </a:p>
          <a:p>
            <a:pPr eaLnBrk="1" hangingPunct="1">
              <a:lnSpc>
                <a:spcPct val="140000"/>
              </a:lnSpc>
              <a:spcBef>
                <a:spcPct val="0"/>
              </a:spcBef>
            </a:pPr>
            <a:r>
              <a:rPr lang="zh-CN" altLang="en-US" sz="1400">
                <a:solidFill>
                  <a:schemeClr val="tx2"/>
                </a:solidFill>
                <a:latin typeface="楷体_GB2312" pitchFamily="49" charset="-122"/>
                <a:ea typeface="楷体_GB2312" pitchFamily="49" charset="-122"/>
              </a:rPr>
              <a:t>● </a:t>
            </a:r>
            <a:r>
              <a:rPr lang="en-US" altLang="zh-CN" i="1">
                <a:solidFill>
                  <a:schemeClr val="tx2"/>
                </a:solidFill>
                <a:latin typeface="楷体_GB2312" pitchFamily="49" charset="-122"/>
                <a:ea typeface="楷体_GB2312" pitchFamily="49" charset="-122"/>
              </a:rPr>
              <a:t>y </a:t>
            </a:r>
            <a:r>
              <a:rPr lang="zh-CN" altLang="en-US">
                <a:solidFill>
                  <a:schemeClr val="tx2"/>
                </a:solidFill>
                <a:latin typeface="楷体_GB2312" pitchFamily="49" charset="-122"/>
                <a:ea typeface="楷体_GB2312" pitchFamily="49" charset="-122"/>
              </a:rPr>
              <a:t>表示质量块</a:t>
            </a:r>
            <a:r>
              <a:rPr lang="en-US" altLang="zh-CN">
                <a:solidFill>
                  <a:schemeClr val="tx2"/>
                </a:solidFill>
                <a:latin typeface="楷体_GB2312" pitchFamily="49" charset="-122"/>
                <a:ea typeface="楷体_GB2312" pitchFamily="49" charset="-122"/>
              </a:rPr>
              <a:t>m </a:t>
            </a:r>
            <a:r>
              <a:rPr lang="zh-CN" altLang="en-US">
                <a:solidFill>
                  <a:schemeClr val="tx2"/>
                </a:solidFill>
                <a:latin typeface="楷体_GB2312" pitchFamily="49" charset="-122"/>
                <a:ea typeface="楷体_GB2312" pitchFamily="49" charset="-122"/>
              </a:rPr>
              <a:t>相对于传感器底座</a:t>
            </a:r>
            <a:r>
              <a:rPr lang="en-US" altLang="zh-CN">
                <a:solidFill>
                  <a:schemeClr val="tx2"/>
                </a:solidFill>
                <a:latin typeface="楷体_GB2312" pitchFamily="49" charset="-122"/>
                <a:ea typeface="楷体_GB2312" pitchFamily="49" charset="-122"/>
              </a:rPr>
              <a:t>1 </a:t>
            </a:r>
            <a:r>
              <a:rPr lang="zh-CN" altLang="en-US">
                <a:solidFill>
                  <a:schemeClr val="tx2"/>
                </a:solidFill>
                <a:latin typeface="楷体_GB2312" pitchFamily="49" charset="-122"/>
                <a:ea typeface="楷体_GB2312" pitchFamily="49" charset="-122"/>
              </a:rPr>
              <a:t>的位移，称为相对位移。</a:t>
            </a:r>
          </a:p>
          <a:p>
            <a:pPr eaLnBrk="1" hangingPunct="1">
              <a:lnSpc>
                <a:spcPct val="140000"/>
              </a:lnSpc>
              <a:spcBef>
                <a:spcPct val="0"/>
              </a:spcBef>
            </a:pPr>
            <a:r>
              <a:rPr lang="zh-CN" altLang="en-US" sz="1400">
                <a:solidFill>
                  <a:schemeClr val="tx2"/>
                </a:solidFill>
                <a:latin typeface="楷体_GB2312" pitchFamily="49" charset="-122"/>
                <a:ea typeface="楷体_GB2312" pitchFamily="49" charset="-122"/>
              </a:rPr>
              <a:t>● </a:t>
            </a:r>
            <a:r>
              <a:rPr lang="en-US" altLang="zh-CN">
                <a:solidFill>
                  <a:schemeClr val="tx2"/>
                </a:solidFill>
                <a:latin typeface="楷体_GB2312" pitchFamily="49" charset="-122"/>
                <a:ea typeface="楷体_GB2312" pitchFamily="49" charset="-122"/>
              </a:rPr>
              <a:t>x</a:t>
            </a:r>
            <a:r>
              <a:rPr lang="en-US" altLang="zh-CN" baseline="-25000">
                <a:solidFill>
                  <a:schemeClr val="tx2"/>
                </a:solidFill>
                <a:latin typeface="楷体_GB2312" pitchFamily="49" charset="-122"/>
                <a:ea typeface="楷体_GB2312" pitchFamily="49" charset="-122"/>
              </a:rPr>
              <a:t>0</a:t>
            </a:r>
            <a:r>
              <a:rPr lang="en-US" altLang="zh-CN">
                <a:solidFill>
                  <a:schemeClr val="tx2"/>
                </a:solidFill>
                <a:latin typeface="楷体_GB2312" pitchFamily="49" charset="-122"/>
                <a:ea typeface="楷体_GB2312" pitchFamily="49" charset="-122"/>
              </a:rPr>
              <a:t> </a:t>
            </a:r>
            <a:r>
              <a:rPr lang="zh-CN" altLang="en-US">
                <a:solidFill>
                  <a:schemeClr val="tx2"/>
                </a:solidFill>
                <a:latin typeface="楷体_GB2312" pitchFamily="49" charset="-122"/>
                <a:ea typeface="楷体_GB2312" pitchFamily="49" charset="-122"/>
              </a:rPr>
              <a:t>表示质量块</a:t>
            </a:r>
            <a:r>
              <a:rPr lang="en-US" altLang="zh-CN">
                <a:solidFill>
                  <a:schemeClr val="tx2"/>
                </a:solidFill>
                <a:latin typeface="楷体_GB2312" pitchFamily="49" charset="-122"/>
                <a:ea typeface="楷体_GB2312" pitchFamily="49" charset="-122"/>
              </a:rPr>
              <a:t>m</a:t>
            </a:r>
            <a:r>
              <a:rPr lang="zh-CN" altLang="en-US">
                <a:solidFill>
                  <a:schemeClr val="tx2"/>
                </a:solidFill>
                <a:latin typeface="楷体_GB2312" pitchFamily="49" charset="-122"/>
                <a:ea typeface="楷体_GB2312" pitchFamily="49" charset="-122"/>
              </a:rPr>
              <a:t>相对与该参照点的位移，即绝对位移；</a:t>
            </a:r>
          </a:p>
          <a:p>
            <a:pPr eaLnBrk="1" hangingPunct="1">
              <a:lnSpc>
                <a:spcPct val="140000"/>
              </a:lnSpc>
              <a:spcBef>
                <a:spcPct val="0"/>
              </a:spcBef>
            </a:pPr>
            <a:r>
              <a:rPr lang="zh-CN" altLang="en-US" sz="1400">
                <a:solidFill>
                  <a:schemeClr val="tx2"/>
                </a:solidFill>
                <a:latin typeface="楷体_GB2312" pitchFamily="49" charset="-122"/>
                <a:ea typeface="楷体_GB2312" pitchFamily="49" charset="-122"/>
              </a:rPr>
              <a:t>●</a:t>
            </a:r>
            <a:r>
              <a:rPr lang="zh-CN" altLang="en-US">
                <a:solidFill>
                  <a:schemeClr val="tx2"/>
                </a:solidFill>
                <a:latin typeface="楷体_GB2312" pitchFamily="49" charset="-122"/>
                <a:ea typeface="楷体_GB2312" pitchFamily="49" charset="-122"/>
              </a:rPr>
              <a:t>由于质量块不与传感器基座相固连，因而在惯性作用下将与基座之间产生相对位移。质量块感受加速度并产生与加速度成比例的惯性力，从而使弹簧产生与质量块相对位移相等的伸缩变形，弹簧变形又产生与变形量成此例的反作用力。当惯性力与弹簧反作用力相平衡时，质量块相对于基座的位移与加速度成正比例，故可通过该位移或惯性力来测量加速度。</a:t>
            </a:r>
          </a:p>
          <a:p>
            <a:endParaRPr lang="zh-CN" altLang="en-US"/>
          </a:p>
        </p:txBody>
      </p:sp>
      <p:sp>
        <p:nvSpPr>
          <p:cNvPr id="93188" name="灯片编号占位符 3">
            <a:extLst>
              <a:ext uri="{FF2B5EF4-FFF2-40B4-BE49-F238E27FC236}">
                <a16:creationId xmlns:a16="http://schemas.microsoft.com/office/drawing/2014/main" id="{B1C112FC-2278-44F1-B0F5-10B43151A12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DBC04CB7-CA01-4459-9B2B-3073C0C10A4B}" type="slidenum">
              <a:rPr lang="zh-CN" altLang="en-US" smtClean="0"/>
              <a:pPr/>
              <a:t>53</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a:extLst>
              <a:ext uri="{FF2B5EF4-FFF2-40B4-BE49-F238E27FC236}">
                <a16:creationId xmlns:a16="http://schemas.microsoft.com/office/drawing/2014/main" id="{5DD83587-8874-4042-996B-086C2C3FF07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备注占位符 2">
            <a:extLst>
              <a:ext uri="{FF2B5EF4-FFF2-40B4-BE49-F238E27FC236}">
                <a16:creationId xmlns:a16="http://schemas.microsoft.com/office/drawing/2014/main" id="{D81BAA19-440F-4E09-8DFB-7A3BB8E5792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95236" name="灯片编号占位符 3">
            <a:extLst>
              <a:ext uri="{FF2B5EF4-FFF2-40B4-BE49-F238E27FC236}">
                <a16:creationId xmlns:a16="http://schemas.microsoft.com/office/drawing/2014/main" id="{CE067F85-31A8-4323-B077-3821BB45F6E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25DBFBD3-D99F-44E8-85D6-5B049090DFA8}" type="slidenum">
              <a:rPr lang="zh-CN" altLang="en-US" smtClean="0"/>
              <a:pPr/>
              <a:t>54</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a:extLst>
              <a:ext uri="{FF2B5EF4-FFF2-40B4-BE49-F238E27FC236}">
                <a16:creationId xmlns:a16="http://schemas.microsoft.com/office/drawing/2014/main" id="{9EECAEFC-43D4-4483-AA79-1C88A59AD90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备注占位符 2">
            <a:extLst>
              <a:ext uri="{FF2B5EF4-FFF2-40B4-BE49-F238E27FC236}">
                <a16:creationId xmlns:a16="http://schemas.microsoft.com/office/drawing/2014/main" id="{B910CCB2-2856-49F9-A87C-AECD3540E04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97284" name="灯片编号占位符 3">
            <a:extLst>
              <a:ext uri="{FF2B5EF4-FFF2-40B4-BE49-F238E27FC236}">
                <a16:creationId xmlns:a16="http://schemas.microsoft.com/office/drawing/2014/main" id="{DEDF1C55-E8A0-4AEF-8423-062BA13D716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9ECEBC3A-AE1D-42F6-888E-A2BFA539E931}" type="slidenum">
              <a:rPr lang="zh-CN" altLang="en-US" smtClean="0"/>
              <a:pPr/>
              <a:t>55</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a:extLst>
              <a:ext uri="{FF2B5EF4-FFF2-40B4-BE49-F238E27FC236}">
                <a16:creationId xmlns:a16="http://schemas.microsoft.com/office/drawing/2014/main" id="{04AD8B69-A16B-4F9B-B333-4279358112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9331" name="备注占位符 2">
            <a:extLst>
              <a:ext uri="{FF2B5EF4-FFF2-40B4-BE49-F238E27FC236}">
                <a16:creationId xmlns:a16="http://schemas.microsoft.com/office/drawing/2014/main" id="{54162D29-0C3D-4A9D-948E-CCA55C6257A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a:t>Af=10-16</a:t>
            </a:r>
            <a:endParaRPr lang="zh-CN" altLang="en-US"/>
          </a:p>
        </p:txBody>
      </p:sp>
      <p:sp>
        <p:nvSpPr>
          <p:cNvPr id="99332" name="灯片编号占位符 3">
            <a:extLst>
              <a:ext uri="{FF2B5EF4-FFF2-40B4-BE49-F238E27FC236}">
                <a16:creationId xmlns:a16="http://schemas.microsoft.com/office/drawing/2014/main" id="{C2688C65-955E-426F-A374-AE52BB2C19C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686CFF96-BFAA-4A84-8C42-BCF45D4940BE}" type="slidenum">
              <a:rPr lang="zh-CN" altLang="en-US" smtClean="0"/>
              <a:pPr/>
              <a:t>56</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a:extLst>
              <a:ext uri="{FF2B5EF4-FFF2-40B4-BE49-F238E27FC236}">
                <a16:creationId xmlns:a16="http://schemas.microsoft.com/office/drawing/2014/main" id="{AE56C291-07BA-45F2-B1A2-3D443CBAB8B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9" name="备注占位符 2">
            <a:extLst>
              <a:ext uri="{FF2B5EF4-FFF2-40B4-BE49-F238E27FC236}">
                <a16:creationId xmlns:a16="http://schemas.microsoft.com/office/drawing/2014/main" id="{29BAF25F-EAB6-4BED-9103-124A3EC463D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a:t>Af=10-16</a:t>
            </a:r>
            <a:endParaRPr lang="zh-CN" altLang="en-US"/>
          </a:p>
        </p:txBody>
      </p:sp>
      <p:sp>
        <p:nvSpPr>
          <p:cNvPr id="101380" name="灯片编号占位符 3">
            <a:extLst>
              <a:ext uri="{FF2B5EF4-FFF2-40B4-BE49-F238E27FC236}">
                <a16:creationId xmlns:a16="http://schemas.microsoft.com/office/drawing/2014/main" id="{61CB217E-5E63-45FE-A0F5-4788D16F2DF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57671149-010E-4EDD-965C-34B33DCC17C3}" type="slidenum">
              <a:rPr lang="zh-CN" altLang="en-US" smtClean="0"/>
              <a:pPr/>
              <a:t>57</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a:extLst>
              <a:ext uri="{FF2B5EF4-FFF2-40B4-BE49-F238E27FC236}">
                <a16:creationId xmlns:a16="http://schemas.microsoft.com/office/drawing/2014/main" id="{1441CECF-4730-432D-85E6-3F2DE4C5209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7" name="备注占位符 2">
            <a:extLst>
              <a:ext uri="{FF2B5EF4-FFF2-40B4-BE49-F238E27FC236}">
                <a16:creationId xmlns:a16="http://schemas.microsoft.com/office/drawing/2014/main" id="{3E629D96-B329-403F-9BD6-E6106AC860A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a:t>Af=10-16</a:t>
            </a:r>
            <a:endParaRPr lang="zh-CN" altLang="en-US"/>
          </a:p>
        </p:txBody>
      </p:sp>
      <p:sp>
        <p:nvSpPr>
          <p:cNvPr id="103428" name="灯片编号占位符 3">
            <a:extLst>
              <a:ext uri="{FF2B5EF4-FFF2-40B4-BE49-F238E27FC236}">
                <a16:creationId xmlns:a16="http://schemas.microsoft.com/office/drawing/2014/main" id="{573AE8FE-C944-414B-88E5-BA3659972EA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23201973-F7DA-4DEB-9F99-DFA3630E8266}" type="slidenum">
              <a:rPr lang="zh-CN" altLang="en-US" smtClean="0"/>
              <a:pPr/>
              <a:t>58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31D4CC1C-5C6B-46B2-A828-29379ED91C75}"/>
              </a:ext>
            </a:extLst>
          </p:cNvPr>
          <p:cNvSpPr>
            <a:spLocks/>
          </p:cNvSpPr>
          <p:nvPr/>
        </p:nvSpPr>
        <p:spPr bwMode="blackWhite">
          <a:xfrm>
            <a:off x="20638" y="12700"/>
            <a:ext cx="8896350" cy="6780213"/>
          </a:xfrm>
          <a:custGeom>
            <a:avLst/>
            <a:gdLst>
              <a:gd name="T0" fmla="*/ 2147483646 w 3985"/>
              <a:gd name="T1" fmla="*/ 0 h 3619"/>
              <a:gd name="T2" fmla="*/ 0 w 3985"/>
              <a:gd name="T3" fmla="*/ 2147483646 h 3619"/>
              <a:gd name="T4" fmla="*/ 2147483646 w 3985"/>
              <a:gd name="T5" fmla="*/ 2147483646 h 3619"/>
              <a:gd name="T6" fmla="*/ 2147483646 w 3985"/>
              <a:gd name="T7" fmla="*/ 2147483646 h 3619"/>
              <a:gd name="T8" fmla="*/ 2147483646 w 3985"/>
              <a:gd name="T9" fmla="*/ 0 h 3619"/>
              <a:gd name="T10" fmla="*/ 2147483646 w 3985"/>
              <a:gd name="T11" fmla="*/ 0 h 36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85" h="3619">
                <a:moveTo>
                  <a:pt x="2822" y="0"/>
                </a:moveTo>
                <a:lnTo>
                  <a:pt x="0" y="975"/>
                </a:lnTo>
                <a:lnTo>
                  <a:pt x="2169" y="3619"/>
                </a:lnTo>
                <a:lnTo>
                  <a:pt x="3985" y="1125"/>
                </a:lnTo>
                <a:lnTo>
                  <a:pt x="282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 name="Group 8">
            <a:extLst>
              <a:ext uri="{FF2B5EF4-FFF2-40B4-BE49-F238E27FC236}">
                <a16:creationId xmlns:a16="http://schemas.microsoft.com/office/drawing/2014/main" id="{23DBC6CF-510F-4119-A837-41DEC3FDB91F}"/>
              </a:ext>
            </a:extLst>
          </p:cNvPr>
          <p:cNvGrpSpPr>
            <a:grpSpLocks/>
          </p:cNvGrpSpPr>
          <p:nvPr/>
        </p:nvGrpSpPr>
        <p:grpSpPr bwMode="auto">
          <a:xfrm>
            <a:off x="195263" y="234950"/>
            <a:ext cx="3787775" cy="1778000"/>
            <a:chOff x="123" y="148"/>
            <a:chExt cx="2386" cy="1120"/>
          </a:xfrm>
        </p:grpSpPr>
        <p:sp>
          <p:nvSpPr>
            <p:cNvPr id="6" name="Freeform 9">
              <a:extLst>
                <a:ext uri="{FF2B5EF4-FFF2-40B4-BE49-F238E27FC236}">
                  <a16:creationId xmlns:a16="http://schemas.microsoft.com/office/drawing/2014/main" id="{46FFD5B8-90C9-4D78-B7F0-AA8CAEFDE26C}"/>
                </a:ext>
              </a:extLst>
            </p:cNvPr>
            <p:cNvSpPr>
              <a:spLocks/>
            </p:cNvSpPr>
            <p:nvPr userDrawn="1"/>
          </p:nvSpPr>
          <p:spPr bwMode="auto">
            <a:xfrm>
              <a:off x="177" y="177"/>
              <a:ext cx="2250" cy="1017"/>
            </a:xfrm>
            <a:custGeom>
              <a:avLst/>
              <a:gdLst>
                <a:gd name="T0" fmla="*/ 2147483646 w 794"/>
                <a:gd name="T1" fmla="*/ 2147483646 h 414"/>
                <a:gd name="T2" fmla="*/ 2147483646 w 794"/>
                <a:gd name="T3" fmla="*/ 2147483646 h 414"/>
                <a:gd name="T4" fmla="*/ 2147483646 w 794"/>
                <a:gd name="T5" fmla="*/ 2147483646 h 414"/>
                <a:gd name="T6" fmla="*/ 2147483646 w 794"/>
                <a:gd name="T7" fmla="*/ 0 h 414"/>
                <a:gd name="T8" fmla="*/ 2147483646 w 794"/>
                <a:gd name="T9" fmla="*/ 2147483646 h 414"/>
                <a:gd name="T10" fmla="*/ 0 w 794"/>
                <a:gd name="T11" fmla="*/ 2147483646 h 414"/>
                <a:gd name="T12" fmla="*/ 2147483646 w 794"/>
                <a:gd name="T13" fmla="*/ 2147483646 h 414"/>
                <a:gd name="T14" fmla="*/ 2147483646 w 794"/>
                <a:gd name="T15" fmla="*/ 2147483646 h 414"/>
                <a:gd name="T16" fmla="*/ 2147483646 w 794"/>
                <a:gd name="T17" fmla="*/ 2147483646 h 414"/>
                <a:gd name="T18" fmla="*/ 2147483646 w 794"/>
                <a:gd name="T19" fmla="*/ 2147483646 h 414"/>
                <a:gd name="T20" fmla="*/ 2147483646 w 794"/>
                <a:gd name="T21" fmla="*/ 2147483646 h 414"/>
                <a:gd name="T22" fmla="*/ 2147483646 w 794"/>
                <a:gd name="T23" fmla="*/ 2147483646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
              <a:extLst>
                <a:ext uri="{FF2B5EF4-FFF2-40B4-BE49-F238E27FC236}">
                  <a16:creationId xmlns:a16="http://schemas.microsoft.com/office/drawing/2014/main" id="{CCCD6D0E-C62F-45D9-A22F-ADA780B337D0}"/>
                </a:ext>
              </a:extLst>
            </p:cNvPr>
            <p:cNvSpPr>
              <a:spLocks/>
            </p:cNvSpPr>
            <p:nvPr userDrawn="1"/>
          </p:nvSpPr>
          <p:spPr bwMode="auto">
            <a:xfrm>
              <a:off x="166" y="261"/>
              <a:ext cx="2244" cy="1007"/>
            </a:xfrm>
            <a:custGeom>
              <a:avLst/>
              <a:gdLst>
                <a:gd name="T0" fmla="*/ 803148 w 1586"/>
                <a:gd name="T1" fmla="*/ 0 h 821"/>
                <a:gd name="T2" fmla="*/ 7800775 w 1586"/>
                <a:gd name="T3" fmla="*/ 85557 h 821"/>
                <a:gd name="T4" fmla="*/ 8368824 w 1586"/>
                <a:gd name="T5" fmla="*/ 105181 h 821"/>
                <a:gd name="T6" fmla="*/ 9296061 w 1586"/>
                <a:gd name="T7" fmla="*/ 130551 h 821"/>
                <a:gd name="T8" fmla="*/ 9173079 w 1586"/>
                <a:gd name="T9" fmla="*/ 135348 h 821"/>
                <a:gd name="T10" fmla="*/ 7910711 w 1586"/>
                <a:gd name="T11" fmla="*/ 129725 h 821"/>
                <a:gd name="T12" fmla="*/ 6709673 w 1586"/>
                <a:gd name="T13" fmla="*/ 133708 h 821"/>
                <a:gd name="T14" fmla="*/ 242628 w 1586"/>
                <a:gd name="T15" fmla="*/ 49262 h 821"/>
                <a:gd name="T16" fmla="*/ 0 w 1586"/>
                <a:gd name="T17" fmla="*/ 24737 h 821"/>
                <a:gd name="T18" fmla="*/ 269038 w 1586"/>
                <a:gd name="T19" fmla="*/ 5215 h 821"/>
                <a:gd name="T20" fmla="*/ 803148 w 1586"/>
                <a:gd name="T21" fmla="*/ 0 h 821"/>
                <a:gd name="T22" fmla="*/ 803148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1">
              <a:extLst>
                <a:ext uri="{FF2B5EF4-FFF2-40B4-BE49-F238E27FC236}">
                  <a16:creationId xmlns:a16="http://schemas.microsoft.com/office/drawing/2014/main" id="{1FE47717-D6C2-4FC5-A2A5-7FEDEAA1AC5F}"/>
                </a:ext>
              </a:extLst>
            </p:cNvPr>
            <p:cNvSpPr>
              <a:spLocks/>
            </p:cNvSpPr>
            <p:nvPr userDrawn="1"/>
          </p:nvSpPr>
          <p:spPr bwMode="auto">
            <a:xfrm>
              <a:off x="474" y="344"/>
              <a:ext cx="1488" cy="919"/>
            </a:xfrm>
            <a:custGeom>
              <a:avLst/>
              <a:gdLst>
                <a:gd name="T0" fmla="*/ 0 w 1049"/>
                <a:gd name="T1" fmla="*/ 57735 h 747"/>
                <a:gd name="T2" fmla="*/ 5759081 w 1049"/>
                <a:gd name="T3" fmla="*/ 132824 h 747"/>
                <a:gd name="T4" fmla="*/ 5866202 w 1049"/>
                <a:gd name="T5" fmla="*/ 94960 h 747"/>
                <a:gd name="T6" fmla="*/ 6553186 w 1049"/>
                <a:gd name="T7" fmla="*/ 75065 h 747"/>
                <a:gd name="T8" fmla="*/ 487190 w 1049"/>
                <a:gd name="T9" fmla="*/ 0 h 747"/>
                <a:gd name="T10" fmla="*/ 0 w 1049"/>
                <a:gd name="T11" fmla="*/ 22493 h 747"/>
                <a:gd name="T12" fmla="*/ 0 w 1049"/>
                <a:gd name="T13" fmla="*/ 57735 h 747"/>
                <a:gd name="T14" fmla="*/ 0 w 1049"/>
                <a:gd name="T15" fmla="*/ 57735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 name="Group 12">
              <a:extLst>
                <a:ext uri="{FF2B5EF4-FFF2-40B4-BE49-F238E27FC236}">
                  <a16:creationId xmlns:a16="http://schemas.microsoft.com/office/drawing/2014/main" id="{B76344A1-6DCB-48A8-848F-354E04DBF7DA}"/>
                </a:ext>
              </a:extLst>
            </p:cNvPr>
            <p:cNvGrpSpPr>
              <a:grpSpLocks/>
            </p:cNvGrpSpPr>
            <p:nvPr userDrawn="1"/>
          </p:nvGrpSpPr>
          <p:grpSpPr bwMode="auto">
            <a:xfrm>
              <a:off x="123" y="148"/>
              <a:ext cx="2386" cy="1081"/>
              <a:chOff x="123" y="148"/>
              <a:chExt cx="2386" cy="1081"/>
            </a:xfrm>
          </p:grpSpPr>
          <p:sp>
            <p:nvSpPr>
              <p:cNvPr id="10" name="Freeform 13">
                <a:extLst>
                  <a:ext uri="{FF2B5EF4-FFF2-40B4-BE49-F238E27FC236}">
                    <a16:creationId xmlns:a16="http://schemas.microsoft.com/office/drawing/2014/main" id="{95159DA9-281D-4E42-8861-D53DCC638D66}"/>
                  </a:ext>
                </a:extLst>
              </p:cNvPr>
              <p:cNvSpPr>
                <a:spLocks/>
              </p:cNvSpPr>
              <p:nvPr userDrawn="1"/>
            </p:nvSpPr>
            <p:spPr bwMode="auto">
              <a:xfrm>
                <a:off x="2005" y="934"/>
                <a:ext cx="212" cy="214"/>
              </a:xfrm>
              <a:custGeom>
                <a:avLst/>
                <a:gdLst>
                  <a:gd name="T0" fmla="*/ 626220 w 150"/>
                  <a:gd name="T1" fmla="*/ 0 h 173"/>
                  <a:gd name="T2" fmla="*/ 230501 w 150"/>
                  <a:gd name="T3" fmla="*/ 13531 h 173"/>
                  <a:gd name="T4" fmla="*/ 0 w 150"/>
                  <a:gd name="T5" fmla="*/ 35299 h 173"/>
                  <a:gd name="T6" fmla="*/ 455649 w 150"/>
                  <a:gd name="T7" fmla="*/ 32624 h 173"/>
                  <a:gd name="T8" fmla="*/ 586964 w 150"/>
                  <a:gd name="T9" fmla="*/ 17236 h 173"/>
                  <a:gd name="T10" fmla="*/ 856474 w 150"/>
                  <a:gd name="T11" fmla="*/ 5474 h 173"/>
                  <a:gd name="T12" fmla="*/ 626220 w 150"/>
                  <a:gd name="T13" fmla="*/ 0 h 173"/>
                  <a:gd name="T14" fmla="*/ 626220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4">
                <a:extLst>
                  <a:ext uri="{FF2B5EF4-FFF2-40B4-BE49-F238E27FC236}">
                    <a16:creationId xmlns:a16="http://schemas.microsoft.com/office/drawing/2014/main" id="{76485A48-6ED3-414F-A9E7-B00844192674}"/>
                  </a:ext>
                </a:extLst>
              </p:cNvPr>
              <p:cNvSpPr>
                <a:spLocks/>
              </p:cNvSpPr>
              <p:nvPr userDrawn="1"/>
            </p:nvSpPr>
            <p:spPr bwMode="auto">
              <a:xfrm>
                <a:off x="123" y="148"/>
                <a:ext cx="2386" cy="1081"/>
              </a:xfrm>
              <a:custGeom>
                <a:avLst/>
                <a:gdLst>
                  <a:gd name="T0" fmla="*/ 946518 w 1684"/>
                  <a:gd name="T1" fmla="*/ 0 h 880"/>
                  <a:gd name="T2" fmla="*/ 382682 w 1684"/>
                  <a:gd name="T3" fmla="*/ 8912 h 880"/>
                  <a:gd name="T4" fmla="*/ 0 w 1684"/>
                  <a:gd name="T5" fmla="*/ 35634 h 880"/>
                  <a:gd name="T6" fmla="*/ 408186 w 1684"/>
                  <a:gd name="T7" fmla="*/ 61451 h 880"/>
                  <a:gd name="T8" fmla="*/ 7174485 w 1684"/>
                  <a:gd name="T9" fmla="*/ 148450 h 880"/>
                  <a:gd name="T10" fmla="*/ 8632085 w 1684"/>
                  <a:gd name="T11" fmla="*/ 143033 h 880"/>
                  <a:gd name="T12" fmla="*/ 9813216 w 1684"/>
                  <a:gd name="T13" fmla="*/ 150688 h 880"/>
                  <a:gd name="T14" fmla="*/ 10223034 w 1684"/>
                  <a:gd name="T15" fmla="*/ 138524 h 880"/>
                  <a:gd name="T16" fmla="*/ 9117113 w 1684"/>
                  <a:gd name="T17" fmla="*/ 113660 h 880"/>
                  <a:gd name="T18" fmla="*/ 8667766 w 1684"/>
                  <a:gd name="T19" fmla="*/ 87765 h 880"/>
                  <a:gd name="T20" fmla="*/ 8313131 w 1684"/>
                  <a:gd name="T21" fmla="*/ 90254 h 880"/>
                  <a:gd name="T22" fmla="*/ 8734479 w 1684"/>
                  <a:gd name="T23" fmla="*/ 113660 h 880"/>
                  <a:gd name="T24" fmla="*/ 9579257 w 1684"/>
                  <a:gd name="T25" fmla="*/ 138620 h 880"/>
                  <a:gd name="T26" fmla="*/ 8578560 w 1684"/>
                  <a:gd name="T27" fmla="*/ 134791 h 880"/>
                  <a:gd name="T28" fmla="*/ 7398647 w 1684"/>
                  <a:gd name="T29" fmla="*/ 139240 h 880"/>
                  <a:gd name="T30" fmla="*/ 7617017 w 1684"/>
                  <a:gd name="T31" fmla="*/ 111229 h 880"/>
                  <a:gd name="T32" fmla="*/ 8122924 w 1684"/>
                  <a:gd name="T33" fmla="*/ 92142 h 880"/>
                  <a:gd name="T34" fmla="*/ 7530676 w 1684"/>
                  <a:gd name="T35" fmla="*/ 94520 h 880"/>
                  <a:gd name="T36" fmla="*/ 7071527 w 1684"/>
                  <a:gd name="T37" fmla="*/ 112767 h 880"/>
                  <a:gd name="T38" fmla="*/ 6915482 w 1684"/>
                  <a:gd name="T39" fmla="*/ 135495 h 880"/>
                  <a:gd name="T40" fmla="*/ 650300 w 1684"/>
                  <a:gd name="T41" fmla="*/ 53072 h 880"/>
                  <a:gd name="T42" fmla="*/ 484182 w 1684"/>
                  <a:gd name="T43" fmla="*/ 36760 h 880"/>
                  <a:gd name="T44" fmla="*/ 624945 w 1684"/>
                  <a:gd name="T45" fmla="*/ 16370 h 880"/>
                  <a:gd name="T46" fmla="*/ 1315183 w 1684"/>
                  <a:gd name="T47" fmla="*/ 0 h 880"/>
                  <a:gd name="T48" fmla="*/ 946518 w 1684"/>
                  <a:gd name="T49" fmla="*/ 0 h 880"/>
                  <a:gd name="T50" fmla="*/ 946518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5">
                <a:extLst>
                  <a:ext uri="{FF2B5EF4-FFF2-40B4-BE49-F238E27FC236}">
                    <a16:creationId xmlns:a16="http://schemas.microsoft.com/office/drawing/2014/main" id="{1F87E1BE-610E-435C-A9A0-4B7ACBFFDE87}"/>
                  </a:ext>
                </a:extLst>
              </p:cNvPr>
              <p:cNvSpPr>
                <a:spLocks/>
              </p:cNvSpPr>
              <p:nvPr userDrawn="1"/>
            </p:nvSpPr>
            <p:spPr bwMode="auto">
              <a:xfrm>
                <a:off x="324" y="158"/>
                <a:ext cx="1686" cy="614"/>
              </a:xfrm>
              <a:custGeom>
                <a:avLst/>
                <a:gdLst>
                  <a:gd name="T0" fmla="*/ 607258 w 1190"/>
                  <a:gd name="T1" fmla="*/ 0 h 500"/>
                  <a:gd name="T2" fmla="*/ 7217749 w 1190"/>
                  <a:gd name="T3" fmla="*/ 83199 h 500"/>
                  <a:gd name="T4" fmla="*/ 6521843 w 1190"/>
                  <a:gd name="T5" fmla="*/ 84888 h 500"/>
                  <a:gd name="T6" fmla="*/ 0 w 1190"/>
                  <a:gd name="T7" fmla="*/ 4578 h 500"/>
                  <a:gd name="T8" fmla="*/ 607258 w 1190"/>
                  <a:gd name="T9" fmla="*/ 0 h 500"/>
                  <a:gd name="T10" fmla="*/ 607258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6">
                <a:extLst>
                  <a:ext uri="{FF2B5EF4-FFF2-40B4-BE49-F238E27FC236}">
                    <a16:creationId xmlns:a16="http://schemas.microsoft.com/office/drawing/2014/main" id="{EC968F36-29F5-4F74-BB97-6C5C6C3E76A7}"/>
                  </a:ext>
                </a:extLst>
              </p:cNvPr>
              <p:cNvSpPr>
                <a:spLocks/>
              </p:cNvSpPr>
              <p:nvPr userDrawn="1"/>
            </p:nvSpPr>
            <p:spPr bwMode="auto">
              <a:xfrm>
                <a:off x="409" y="251"/>
                <a:ext cx="227" cy="410"/>
              </a:xfrm>
              <a:custGeom>
                <a:avLst/>
                <a:gdLst>
                  <a:gd name="T0" fmla="*/ 729459 w 160"/>
                  <a:gd name="T1" fmla="*/ 0 h 335"/>
                  <a:gd name="T2" fmla="*/ 119449 w 160"/>
                  <a:gd name="T3" fmla="*/ 16646 h 335"/>
                  <a:gd name="T4" fmla="*/ 0 w 160"/>
                  <a:gd name="T5" fmla="*/ 35860 h 335"/>
                  <a:gd name="T6" fmla="*/ 209324 w 160"/>
                  <a:gd name="T7" fmla="*/ 49015 h 335"/>
                  <a:gd name="T8" fmla="*/ 588170 w 160"/>
                  <a:gd name="T9" fmla="*/ 52265 h 335"/>
                  <a:gd name="T10" fmla="*/ 477536 w 160"/>
                  <a:gd name="T11" fmla="*/ 23940 h 335"/>
                  <a:gd name="T12" fmla="*/ 1003417 w 160"/>
                  <a:gd name="T13" fmla="*/ 2726 h 335"/>
                  <a:gd name="T14" fmla="*/ 729459 w 160"/>
                  <a:gd name="T15" fmla="*/ 0 h 335"/>
                  <a:gd name="T16" fmla="*/ 729459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7">
                <a:extLst>
                  <a:ext uri="{FF2B5EF4-FFF2-40B4-BE49-F238E27FC236}">
                    <a16:creationId xmlns:a16="http://schemas.microsoft.com/office/drawing/2014/main" id="{6251F549-86DC-48F7-A055-291946CAB7EC}"/>
                  </a:ext>
                </a:extLst>
              </p:cNvPr>
              <p:cNvSpPr>
                <a:spLocks/>
              </p:cNvSpPr>
              <p:nvPr userDrawn="1"/>
            </p:nvSpPr>
            <p:spPr bwMode="auto">
              <a:xfrm>
                <a:off x="846" y="536"/>
                <a:ext cx="691" cy="364"/>
              </a:xfrm>
              <a:custGeom>
                <a:avLst/>
                <a:gdLst>
                  <a:gd name="T0" fmla="*/ 81360 w 489"/>
                  <a:gd name="T1" fmla="*/ 6049 h 296"/>
                  <a:gd name="T2" fmla="*/ 906787 w 489"/>
                  <a:gd name="T3" fmla="*/ 11676 h 296"/>
                  <a:gd name="T4" fmla="*/ 1839973 w 489"/>
                  <a:gd name="T5" fmla="*/ 24140 h 296"/>
                  <a:gd name="T6" fmla="*/ 2498895 w 489"/>
                  <a:gd name="T7" fmla="*/ 42813 h 296"/>
                  <a:gd name="T8" fmla="*/ 1851111 w 489"/>
                  <a:gd name="T9" fmla="*/ 40483 h 296"/>
                  <a:gd name="T10" fmla="*/ 787115 w 489"/>
                  <a:gd name="T11" fmla="*/ 25726 h 296"/>
                  <a:gd name="T12" fmla="*/ 283251 w 489"/>
                  <a:gd name="T13" fmla="*/ 14074 h 296"/>
                  <a:gd name="T14" fmla="*/ 605843 w 489"/>
                  <a:gd name="T15" fmla="*/ 28679 h 296"/>
                  <a:gd name="T16" fmla="*/ 1544149 w 489"/>
                  <a:gd name="T17" fmla="*/ 47461 h 296"/>
                  <a:gd name="T18" fmla="*/ 2644878 w 489"/>
                  <a:gd name="T19" fmla="*/ 52219 h 296"/>
                  <a:gd name="T20" fmla="*/ 2776041 w 489"/>
                  <a:gd name="T21" fmla="*/ 39413 h 296"/>
                  <a:gd name="T22" fmla="*/ 2237450 w 489"/>
                  <a:gd name="T23" fmla="*/ 21194 h 296"/>
                  <a:gd name="T24" fmla="*/ 964127 w 489"/>
                  <a:gd name="T25" fmla="*/ 3053 h 296"/>
                  <a:gd name="T26" fmla="*/ 0 w 489"/>
                  <a:gd name="T27" fmla="*/ 0 h 296"/>
                  <a:gd name="T28" fmla="*/ 81360 w 489"/>
                  <a:gd name="T29" fmla="*/ 6049 h 296"/>
                  <a:gd name="T30" fmla="*/ 81360 w 489"/>
                  <a:gd name="T31" fmla="*/ 6049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15" name="Group 18">
            <a:extLst>
              <a:ext uri="{FF2B5EF4-FFF2-40B4-BE49-F238E27FC236}">
                <a16:creationId xmlns:a16="http://schemas.microsoft.com/office/drawing/2014/main" id="{11C1D64B-9CF1-40E0-8627-9505833301C7}"/>
              </a:ext>
            </a:extLst>
          </p:cNvPr>
          <p:cNvGrpSpPr>
            <a:grpSpLocks/>
          </p:cNvGrpSpPr>
          <p:nvPr/>
        </p:nvGrpSpPr>
        <p:grpSpPr bwMode="auto">
          <a:xfrm>
            <a:off x="7915275" y="4368800"/>
            <a:ext cx="742950" cy="1058863"/>
            <a:chOff x="4986" y="2752"/>
            <a:chExt cx="468" cy="667"/>
          </a:xfrm>
        </p:grpSpPr>
        <p:sp>
          <p:nvSpPr>
            <p:cNvPr id="16" name="Freeform 19">
              <a:extLst>
                <a:ext uri="{FF2B5EF4-FFF2-40B4-BE49-F238E27FC236}">
                  <a16:creationId xmlns:a16="http://schemas.microsoft.com/office/drawing/2014/main" id="{9CE77FBB-4A95-43E3-94A8-F463D64A4DD2}"/>
                </a:ext>
              </a:extLst>
            </p:cNvPr>
            <p:cNvSpPr>
              <a:spLocks/>
            </p:cNvSpPr>
            <p:nvPr userDrawn="1"/>
          </p:nvSpPr>
          <p:spPr bwMode="auto">
            <a:xfrm rot="7320404">
              <a:off x="4909" y="2936"/>
              <a:ext cx="629" cy="293"/>
            </a:xfrm>
            <a:custGeom>
              <a:avLst/>
              <a:gdLst>
                <a:gd name="T0" fmla="*/ 2 w 794"/>
                <a:gd name="T1" fmla="*/ 1 h 414"/>
                <a:gd name="T2" fmla="*/ 2 w 794"/>
                <a:gd name="T3" fmla="*/ 1 h 414"/>
                <a:gd name="T4" fmla="*/ 2 w 794"/>
                <a:gd name="T5" fmla="*/ 1 h 414"/>
                <a:gd name="T6" fmla="*/ 2 w 794"/>
                <a:gd name="T7" fmla="*/ 0 h 414"/>
                <a:gd name="T8" fmla="*/ 2 w 794"/>
                <a:gd name="T9" fmla="*/ 1 h 414"/>
                <a:gd name="T10" fmla="*/ 0 w 794"/>
                <a:gd name="T11" fmla="*/ 1 h 414"/>
                <a:gd name="T12" fmla="*/ 2 w 794"/>
                <a:gd name="T13" fmla="*/ 1 h 414"/>
                <a:gd name="T14" fmla="*/ 2 w 794"/>
                <a:gd name="T15" fmla="*/ 1 h 414"/>
                <a:gd name="T16" fmla="*/ 2 w 794"/>
                <a:gd name="T17" fmla="*/ 1 h 414"/>
                <a:gd name="T18" fmla="*/ 2 w 794"/>
                <a:gd name="T19" fmla="*/ 1 h 414"/>
                <a:gd name="T20" fmla="*/ 2 w 794"/>
                <a:gd name="T21" fmla="*/ 1 h 414"/>
                <a:gd name="T22" fmla="*/ 2 w 794"/>
                <a:gd name="T23" fmla="*/ 1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20">
              <a:extLst>
                <a:ext uri="{FF2B5EF4-FFF2-40B4-BE49-F238E27FC236}">
                  <a16:creationId xmlns:a16="http://schemas.microsoft.com/office/drawing/2014/main" id="{AD16584B-CE18-4676-A39A-A9BF9A0391C8}"/>
                </a:ext>
              </a:extLst>
            </p:cNvPr>
            <p:cNvSpPr>
              <a:spLocks/>
            </p:cNvSpPr>
            <p:nvPr userDrawn="1"/>
          </p:nvSpPr>
          <p:spPr bwMode="auto">
            <a:xfrm rot="7320404">
              <a:off x="4893" y="2923"/>
              <a:ext cx="627" cy="29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21">
              <a:extLst>
                <a:ext uri="{FF2B5EF4-FFF2-40B4-BE49-F238E27FC236}">
                  <a16:creationId xmlns:a16="http://schemas.microsoft.com/office/drawing/2014/main" id="{83E00DC6-BC15-4AC1-A38C-3C077C4C7F87}"/>
                </a:ext>
              </a:extLst>
            </p:cNvPr>
            <p:cNvSpPr>
              <a:spLocks/>
            </p:cNvSpPr>
            <p:nvPr userDrawn="1"/>
          </p:nvSpPr>
          <p:spPr bwMode="auto">
            <a:xfrm rot="7320404">
              <a:off x="5000" y="2913"/>
              <a:ext cx="416" cy="265"/>
            </a:xfrm>
            <a:custGeom>
              <a:avLst/>
              <a:gdLst>
                <a:gd name="T0" fmla="*/ 0 w 1049"/>
                <a:gd name="T1" fmla="*/ 0 h 747"/>
                <a:gd name="T2" fmla="*/ 0 w 1049"/>
                <a:gd name="T3" fmla="*/ 0 h 747"/>
                <a:gd name="T4" fmla="*/ 0 w 1049"/>
                <a:gd name="T5" fmla="*/ 0 h 747"/>
                <a:gd name="T6" fmla="*/ 0 w 1049"/>
                <a:gd name="T7" fmla="*/ 0 h 747"/>
                <a:gd name="T8" fmla="*/ 0 w 1049"/>
                <a:gd name="T9" fmla="*/ 0 h 747"/>
                <a:gd name="T10" fmla="*/ 0 w 1049"/>
                <a:gd name="T11" fmla="*/ 0 h 747"/>
                <a:gd name="T12" fmla="*/ 0 w 1049"/>
                <a:gd name="T13" fmla="*/ 0 h 747"/>
                <a:gd name="T14" fmla="*/ 0 w 1049"/>
                <a:gd name="T15" fmla="*/ 0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9" name="Group 22">
              <a:extLst>
                <a:ext uri="{FF2B5EF4-FFF2-40B4-BE49-F238E27FC236}">
                  <a16:creationId xmlns:a16="http://schemas.microsoft.com/office/drawing/2014/main" id="{FA1C85A0-9F24-43CC-891C-09BD59952214}"/>
                </a:ext>
              </a:extLst>
            </p:cNvPr>
            <p:cNvGrpSpPr>
              <a:grpSpLocks/>
            </p:cNvGrpSpPr>
            <p:nvPr userDrawn="1"/>
          </p:nvGrpSpPr>
          <p:grpSpPr bwMode="auto">
            <a:xfrm>
              <a:off x="4986" y="2752"/>
              <a:ext cx="468" cy="667"/>
              <a:chOff x="4986" y="2752"/>
              <a:chExt cx="468" cy="667"/>
            </a:xfrm>
          </p:grpSpPr>
          <p:sp>
            <p:nvSpPr>
              <p:cNvPr id="20" name="Freeform 23">
                <a:extLst>
                  <a:ext uri="{FF2B5EF4-FFF2-40B4-BE49-F238E27FC236}">
                    <a16:creationId xmlns:a16="http://schemas.microsoft.com/office/drawing/2014/main" id="{4C36A21E-69C4-4CA0-8052-877E5E0CD529}"/>
                  </a:ext>
                </a:extLst>
              </p:cNvPr>
              <p:cNvSpPr>
                <a:spLocks/>
              </p:cNvSpPr>
              <p:nvPr userDrawn="1"/>
            </p:nvSpPr>
            <p:spPr bwMode="auto">
              <a:xfrm rot="7320404">
                <a:off x="4987" y="3190"/>
                <a:ext cx="59" cy="61"/>
              </a:xfrm>
              <a:custGeom>
                <a:avLst/>
                <a:gdLst>
                  <a:gd name="T0" fmla="*/ 0 w 150"/>
                  <a:gd name="T1" fmla="*/ 0 h 173"/>
                  <a:gd name="T2" fmla="*/ 0 w 150"/>
                  <a:gd name="T3" fmla="*/ 0 h 173"/>
                  <a:gd name="T4" fmla="*/ 0 w 150"/>
                  <a:gd name="T5" fmla="*/ 0 h 173"/>
                  <a:gd name="T6" fmla="*/ 0 w 150"/>
                  <a:gd name="T7" fmla="*/ 0 h 173"/>
                  <a:gd name="T8" fmla="*/ 0 w 150"/>
                  <a:gd name="T9" fmla="*/ 0 h 173"/>
                  <a:gd name="T10" fmla="*/ 0 w 150"/>
                  <a:gd name="T11" fmla="*/ 0 h 173"/>
                  <a:gd name="T12" fmla="*/ 0 w 150"/>
                  <a:gd name="T13" fmla="*/ 0 h 173"/>
                  <a:gd name="T14" fmla="*/ 0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24">
                <a:extLst>
                  <a:ext uri="{FF2B5EF4-FFF2-40B4-BE49-F238E27FC236}">
                    <a16:creationId xmlns:a16="http://schemas.microsoft.com/office/drawing/2014/main" id="{F0323ED9-962A-4E5B-8ADB-5255A4D229FF}"/>
                  </a:ext>
                </a:extLst>
              </p:cNvPr>
              <p:cNvSpPr>
                <a:spLocks/>
              </p:cNvSpPr>
              <p:nvPr userDrawn="1"/>
            </p:nvSpPr>
            <p:spPr bwMode="auto">
              <a:xfrm rot="7320404">
                <a:off x="4887" y="2930"/>
                <a:ext cx="667" cy="311"/>
              </a:xfrm>
              <a:custGeom>
                <a:avLst/>
                <a:gdLst>
                  <a:gd name="T0" fmla="*/ 0 w 1684"/>
                  <a:gd name="T1" fmla="*/ 0 h 880"/>
                  <a:gd name="T2" fmla="*/ 0 w 1684"/>
                  <a:gd name="T3" fmla="*/ 0 h 880"/>
                  <a:gd name="T4" fmla="*/ 0 w 1684"/>
                  <a:gd name="T5" fmla="*/ 0 h 880"/>
                  <a:gd name="T6" fmla="*/ 0 w 1684"/>
                  <a:gd name="T7" fmla="*/ 0 h 880"/>
                  <a:gd name="T8" fmla="*/ 0 w 1684"/>
                  <a:gd name="T9" fmla="*/ 0 h 880"/>
                  <a:gd name="T10" fmla="*/ 0 w 1684"/>
                  <a:gd name="T11" fmla="*/ 0 h 880"/>
                  <a:gd name="T12" fmla="*/ 0 w 1684"/>
                  <a:gd name="T13" fmla="*/ 0 h 880"/>
                  <a:gd name="T14" fmla="*/ 0 w 1684"/>
                  <a:gd name="T15" fmla="*/ 0 h 880"/>
                  <a:gd name="T16" fmla="*/ 0 w 1684"/>
                  <a:gd name="T17" fmla="*/ 0 h 880"/>
                  <a:gd name="T18" fmla="*/ 0 w 1684"/>
                  <a:gd name="T19" fmla="*/ 0 h 880"/>
                  <a:gd name="T20" fmla="*/ 0 w 1684"/>
                  <a:gd name="T21" fmla="*/ 0 h 880"/>
                  <a:gd name="T22" fmla="*/ 0 w 1684"/>
                  <a:gd name="T23" fmla="*/ 0 h 880"/>
                  <a:gd name="T24" fmla="*/ 0 w 1684"/>
                  <a:gd name="T25" fmla="*/ 0 h 880"/>
                  <a:gd name="T26" fmla="*/ 0 w 1684"/>
                  <a:gd name="T27" fmla="*/ 0 h 880"/>
                  <a:gd name="T28" fmla="*/ 0 w 1684"/>
                  <a:gd name="T29" fmla="*/ 0 h 880"/>
                  <a:gd name="T30" fmla="*/ 0 w 1684"/>
                  <a:gd name="T31" fmla="*/ 0 h 880"/>
                  <a:gd name="T32" fmla="*/ 0 w 1684"/>
                  <a:gd name="T33" fmla="*/ 0 h 880"/>
                  <a:gd name="T34" fmla="*/ 0 w 1684"/>
                  <a:gd name="T35" fmla="*/ 0 h 880"/>
                  <a:gd name="T36" fmla="*/ 0 w 1684"/>
                  <a:gd name="T37" fmla="*/ 0 h 880"/>
                  <a:gd name="T38" fmla="*/ 0 w 1684"/>
                  <a:gd name="T39" fmla="*/ 0 h 880"/>
                  <a:gd name="T40" fmla="*/ 0 w 1684"/>
                  <a:gd name="T41" fmla="*/ 0 h 880"/>
                  <a:gd name="T42" fmla="*/ 0 w 1684"/>
                  <a:gd name="T43" fmla="*/ 0 h 880"/>
                  <a:gd name="T44" fmla="*/ 0 w 1684"/>
                  <a:gd name="T45" fmla="*/ 0 h 880"/>
                  <a:gd name="T46" fmla="*/ 0 w 1684"/>
                  <a:gd name="T47" fmla="*/ 0 h 880"/>
                  <a:gd name="T48" fmla="*/ 0 w 1684"/>
                  <a:gd name="T49" fmla="*/ 0 h 880"/>
                  <a:gd name="T50" fmla="*/ 0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25">
                <a:extLst>
                  <a:ext uri="{FF2B5EF4-FFF2-40B4-BE49-F238E27FC236}">
                    <a16:creationId xmlns:a16="http://schemas.microsoft.com/office/drawing/2014/main" id="{CDFD0D73-01DD-4F96-9584-D122688D4EE3}"/>
                  </a:ext>
                </a:extLst>
              </p:cNvPr>
              <p:cNvSpPr>
                <a:spLocks/>
              </p:cNvSpPr>
              <p:nvPr userDrawn="1"/>
            </p:nvSpPr>
            <p:spPr bwMode="auto">
              <a:xfrm rot="7320404">
                <a:off x="5062" y="2997"/>
                <a:ext cx="472" cy="176"/>
              </a:xfrm>
              <a:custGeom>
                <a:avLst/>
                <a:gdLst>
                  <a:gd name="T0" fmla="*/ 0 w 1190"/>
                  <a:gd name="T1" fmla="*/ 0 h 500"/>
                  <a:gd name="T2" fmla="*/ 0 w 1190"/>
                  <a:gd name="T3" fmla="*/ 0 h 500"/>
                  <a:gd name="T4" fmla="*/ 0 w 1190"/>
                  <a:gd name="T5" fmla="*/ 0 h 500"/>
                  <a:gd name="T6" fmla="*/ 0 w 1190"/>
                  <a:gd name="T7" fmla="*/ 0 h 500"/>
                  <a:gd name="T8" fmla="*/ 0 w 1190"/>
                  <a:gd name="T9" fmla="*/ 0 h 500"/>
                  <a:gd name="T10" fmla="*/ 0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26">
                <a:extLst>
                  <a:ext uri="{FF2B5EF4-FFF2-40B4-BE49-F238E27FC236}">
                    <a16:creationId xmlns:a16="http://schemas.microsoft.com/office/drawing/2014/main" id="{3B797562-EE91-40CD-B941-7AA1DBE049B9}"/>
                  </a:ext>
                </a:extLst>
              </p:cNvPr>
              <p:cNvSpPr>
                <a:spLocks/>
              </p:cNvSpPr>
              <p:nvPr userDrawn="1"/>
            </p:nvSpPr>
            <p:spPr bwMode="auto">
              <a:xfrm rot="7320404">
                <a:off x="5365" y="2873"/>
                <a:ext cx="63" cy="118"/>
              </a:xfrm>
              <a:custGeom>
                <a:avLst/>
                <a:gdLst>
                  <a:gd name="T0" fmla="*/ 0 w 160"/>
                  <a:gd name="T1" fmla="*/ 0 h 335"/>
                  <a:gd name="T2" fmla="*/ 0 w 160"/>
                  <a:gd name="T3" fmla="*/ 0 h 335"/>
                  <a:gd name="T4" fmla="*/ 0 w 160"/>
                  <a:gd name="T5" fmla="*/ 0 h 335"/>
                  <a:gd name="T6" fmla="*/ 0 w 160"/>
                  <a:gd name="T7" fmla="*/ 0 h 335"/>
                  <a:gd name="T8" fmla="*/ 0 w 160"/>
                  <a:gd name="T9" fmla="*/ 0 h 335"/>
                  <a:gd name="T10" fmla="*/ 0 w 160"/>
                  <a:gd name="T11" fmla="*/ 0 h 335"/>
                  <a:gd name="T12" fmla="*/ 0 w 160"/>
                  <a:gd name="T13" fmla="*/ 0 h 335"/>
                  <a:gd name="T14" fmla="*/ 0 w 160"/>
                  <a:gd name="T15" fmla="*/ 0 h 335"/>
                  <a:gd name="T16" fmla="*/ 0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27">
                <a:extLst>
                  <a:ext uri="{FF2B5EF4-FFF2-40B4-BE49-F238E27FC236}">
                    <a16:creationId xmlns:a16="http://schemas.microsoft.com/office/drawing/2014/main" id="{71D75BB2-6A2B-44C0-AD9F-B2D855AA06E5}"/>
                  </a:ext>
                </a:extLst>
              </p:cNvPr>
              <p:cNvSpPr>
                <a:spLocks/>
              </p:cNvSpPr>
              <p:nvPr userDrawn="1"/>
            </p:nvSpPr>
            <p:spPr bwMode="auto">
              <a:xfrm rot="7320404">
                <a:off x="5137" y="3000"/>
                <a:ext cx="193" cy="104"/>
              </a:xfrm>
              <a:custGeom>
                <a:avLst/>
                <a:gdLst>
                  <a:gd name="T0" fmla="*/ 0 w 489"/>
                  <a:gd name="T1" fmla="*/ 0 h 296"/>
                  <a:gd name="T2" fmla="*/ 0 w 489"/>
                  <a:gd name="T3" fmla="*/ 0 h 296"/>
                  <a:gd name="T4" fmla="*/ 0 w 489"/>
                  <a:gd name="T5" fmla="*/ 0 h 296"/>
                  <a:gd name="T6" fmla="*/ 0 w 489"/>
                  <a:gd name="T7" fmla="*/ 0 h 296"/>
                  <a:gd name="T8" fmla="*/ 0 w 489"/>
                  <a:gd name="T9" fmla="*/ 0 h 296"/>
                  <a:gd name="T10" fmla="*/ 0 w 489"/>
                  <a:gd name="T11" fmla="*/ 0 h 296"/>
                  <a:gd name="T12" fmla="*/ 0 w 489"/>
                  <a:gd name="T13" fmla="*/ 0 h 296"/>
                  <a:gd name="T14" fmla="*/ 0 w 489"/>
                  <a:gd name="T15" fmla="*/ 0 h 296"/>
                  <a:gd name="T16" fmla="*/ 0 w 489"/>
                  <a:gd name="T17" fmla="*/ 0 h 296"/>
                  <a:gd name="T18" fmla="*/ 0 w 489"/>
                  <a:gd name="T19" fmla="*/ 0 h 296"/>
                  <a:gd name="T20" fmla="*/ 0 w 489"/>
                  <a:gd name="T21" fmla="*/ 0 h 296"/>
                  <a:gd name="T22" fmla="*/ 0 w 489"/>
                  <a:gd name="T23" fmla="*/ 0 h 296"/>
                  <a:gd name="T24" fmla="*/ 0 w 489"/>
                  <a:gd name="T25" fmla="*/ 0 h 296"/>
                  <a:gd name="T26" fmla="*/ 0 w 489"/>
                  <a:gd name="T27" fmla="*/ 0 h 296"/>
                  <a:gd name="T28" fmla="*/ 0 w 489"/>
                  <a:gd name="T29" fmla="*/ 0 h 296"/>
                  <a:gd name="T30" fmla="*/ 0 w 489"/>
                  <a:gd name="T31" fmla="*/ 0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25" name="Freeform 28">
            <a:extLst>
              <a:ext uri="{FF2B5EF4-FFF2-40B4-BE49-F238E27FC236}">
                <a16:creationId xmlns:a16="http://schemas.microsoft.com/office/drawing/2014/main" id="{05C743D0-B284-4AFF-B621-74CE6A2F625D}"/>
              </a:ext>
            </a:extLst>
          </p:cNvPr>
          <p:cNvSpPr>
            <a:spLocks/>
          </p:cNvSpPr>
          <p:nvPr/>
        </p:nvSpPr>
        <p:spPr bwMode="auto">
          <a:xfrm>
            <a:off x="901700" y="5054600"/>
            <a:ext cx="6807200" cy="728663"/>
          </a:xfrm>
          <a:custGeom>
            <a:avLst/>
            <a:gdLst>
              <a:gd name="T0" fmla="*/ 0 w 4288"/>
              <a:gd name="T1" fmla="*/ 0 h 459"/>
              <a:gd name="T2" fmla="*/ 2147483646 w 4288"/>
              <a:gd name="T3" fmla="*/ 2147483646 h 459"/>
              <a:gd name="T4" fmla="*/ 2147483646 w 4288"/>
              <a:gd name="T5" fmla="*/ 2147483646 h 459"/>
              <a:gd name="T6" fmla="*/ 2147483646 w 4288"/>
              <a:gd name="T7" fmla="*/ 2147483646 h 459"/>
              <a:gd name="T8" fmla="*/ 2147483646 w 4288"/>
              <a:gd name="T9" fmla="*/ 2147483646 h 459"/>
              <a:gd name="T10" fmla="*/ 2147483646 w 4288"/>
              <a:gd name="T11" fmla="*/ 2147483646 h 459"/>
              <a:gd name="T12" fmla="*/ 2147483646 w 4288"/>
              <a:gd name="T13" fmla="*/ 2147483646 h 4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88" h="459">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w="76200" cap="flat" cmpd="sng">
            <a:solidFill>
              <a:schemeClr val="folHlink"/>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 name="Freeform 29">
            <a:extLst>
              <a:ext uri="{FF2B5EF4-FFF2-40B4-BE49-F238E27FC236}">
                <a16:creationId xmlns:a16="http://schemas.microsoft.com/office/drawing/2014/main" id="{BFF16F90-D4F7-4C3B-94C5-E787012D6041}"/>
              </a:ext>
            </a:extLst>
          </p:cNvPr>
          <p:cNvSpPr>
            <a:spLocks/>
          </p:cNvSpPr>
          <p:nvPr/>
        </p:nvSpPr>
        <p:spPr bwMode="auto">
          <a:xfrm>
            <a:off x="4076700" y="1930400"/>
            <a:ext cx="889000" cy="381000"/>
          </a:xfrm>
          <a:custGeom>
            <a:avLst/>
            <a:gdLst>
              <a:gd name="T0" fmla="*/ 0 w 560"/>
              <a:gd name="T1" fmla="*/ 2147483646 h 240"/>
              <a:gd name="T2" fmla="*/ 2147483646 w 560"/>
              <a:gd name="T3" fmla="*/ 2147483646 h 240"/>
              <a:gd name="T4" fmla="*/ 2147483646 w 560"/>
              <a:gd name="T5" fmla="*/ 2147483646 h 240"/>
              <a:gd name="T6" fmla="*/ 2147483646 w 560"/>
              <a:gd name="T7" fmla="*/ 2147483646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0" h="240">
                <a:moveTo>
                  <a:pt x="0" y="32"/>
                </a:moveTo>
                <a:cubicBezTo>
                  <a:pt x="102" y="89"/>
                  <a:pt x="205" y="147"/>
                  <a:pt x="280" y="144"/>
                </a:cubicBezTo>
                <a:cubicBezTo>
                  <a:pt x="355" y="141"/>
                  <a:pt x="401" y="0"/>
                  <a:pt x="448" y="16"/>
                </a:cubicBezTo>
                <a:cubicBezTo>
                  <a:pt x="495" y="32"/>
                  <a:pt x="541" y="201"/>
                  <a:pt x="560" y="240"/>
                </a:cubicBezTo>
              </a:path>
            </a:pathLst>
          </a:custGeom>
          <a:noFill/>
          <a:ln w="114300" cmpd="sng">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3" name="Rectangle 3"/>
          <p:cNvSpPr>
            <a:spLocks noGrp="1" noChangeArrowheads="1"/>
          </p:cNvSpPr>
          <p:nvPr>
            <p:ph type="ctrTitle"/>
          </p:nvPr>
        </p:nvSpPr>
        <p:spPr>
          <a:xfrm>
            <a:off x="1371600" y="1511300"/>
            <a:ext cx="6400800" cy="2273300"/>
          </a:xfrm>
          <a:effectLst>
            <a:outerShdw dist="45791" dir="2021404" algn="ctr" rotWithShape="0">
              <a:schemeClr val="bg2"/>
            </a:outerShdw>
          </a:effectLst>
        </p:spPr>
        <p:txBody>
          <a:bodyPr/>
          <a:lstStyle>
            <a:lvl1pPr>
              <a:defRPr>
                <a:solidFill>
                  <a:schemeClr val="tx2"/>
                </a:solidFill>
                <a:effectLst>
                  <a:outerShdw blurRad="38100" dist="38100" dir="2700000" algn="tl">
                    <a:srgbClr val="C0C0C0"/>
                  </a:outerShdw>
                </a:effectLst>
              </a:defRPr>
            </a:lvl1pPr>
          </a:lstStyle>
          <a:p>
            <a:pPr lvl="0"/>
            <a:r>
              <a:rPr lang="zh-CN" altLang="en-US" noProof="0"/>
              <a:t>单击此处编辑母版标题样式</a:t>
            </a:r>
          </a:p>
        </p:txBody>
      </p:sp>
      <p:sp>
        <p:nvSpPr>
          <p:cNvPr id="5124" name="Rectangle 4"/>
          <p:cNvSpPr>
            <a:spLocks noGrp="1" noChangeArrowheads="1"/>
          </p:cNvSpPr>
          <p:nvPr>
            <p:ph type="subTitle" idx="1"/>
          </p:nvPr>
        </p:nvSpPr>
        <p:spPr>
          <a:xfrm>
            <a:off x="1549401" y="4051300"/>
            <a:ext cx="6032500" cy="1003300"/>
          </a:xfrm>
        </p:spPr>
        <p:txBody>
          <a:bodyPr/>
          <a:lstStyle>
            <a:lvl1pPr marL="0" indent="0" algn="ctr">
              <a:buFontTx/>
              <a:buNone/>
              <a:defRPr sz="2800">
                <a:effectLst>
                  <a:outerShdw blurRad="38100" dist="38100" dir="2700000" algn="tl">
                    <a:srgbClr val="C0C0C0"/>
                  </a:outerShdw>
                </a:effectLst>
              </a:defRPr>
            </a:lvl1pPr>
          </a:lstStyle>
          <a:p>
            <a:pPr lvl="0"/>
            <a:r>
              <a:rPr lang="zh-CN" altLang="en-US" noProof="0"/>
              <a:t>单击此处编辑母版副标题样式</a:t>
            </a:r>
          </a:p>
        </p:txBody>
      </p:sp>
      <p:sp>
        <p:nvSpPr>
          <p:cNvPr id="27" name="Rectangle 5">
            <a:extLst>
              <a:ext uri="{FF2B5EF4-FFF2-40B4-BE49-F238E27FC236}">
                <a16:creationId xmlns:a16="http://schemas.microsoft.com/office/drawing/2014/main" id="{65978985-50AF-4753-B338-C20634C9605A}"/>
              </a:ext>
            </a:extLst>
          </p:cNvPr>
          <p:cNvSpPr>
            <a:spLocks noGrp="1" noChangeArrowheads="1"/>
          </p:cNvSpPr>
          <p:nvPr>
            <p:ph type="dt" sz="half" idx="10"/>
          </p:nvPr>
        </p:nvSpPr>
        <p:spPr>
          <a:xfrm>
            <a:off x="685800" y="6248400"/>
            <a:ext cx="1905000" cy="457200"/>
          </a:xfrm>
        </p:spPr>
        <p:txBody>
          <a:bodyPr/>
          <a:lstStyle>
            <a:lvl1pPr>
              <a:defRPr/>
            </a:lvl1pPr>
          </a:lstStyle>
          <a:p>
            <a:pPr>
              <a:defRPr/>
            </a:pPr>
            <a:endParaRPr lang="en-US" altLang="zh-CN"/>
          </a:p>
        </p:txBody>
      </p:sp>
      <p:sp>
        <p:nvSpPr>
          <p:cNvPr id="28" name="Rectangle 6">
            <a:extLst>
              <a:ext uri="{FF2B5EF4-FFF2-40B4-BE49-F238E27FC236}">
                <a16:creationId xmlns:a16="http://schemas.microsoft.com/office/drawing/2014/main" id="{42E2D1B5-9D62-4D9A-B3CA-A3B9C2682CE8}"/>
              </a:ext>
            </a:extLst>
          </p:cNvPr>
          <p:cNvSpPr>
            <a:spLocks noGrp="1" noChangeArrowheads="1"/>
          </p:cNvSpPr>
          <p:nvPr>
            <p:ph type="ftr" sz="quarter" idx="11"/>
          </p:nvPr>
        </p:nvSpPr>
        <p:spPr>
          <a:xfrm>
            <a:off x="3124200" y="6248400"/>
            <a:ext cx="2895600" cy="457200"/>
          </a:xfrm>
        </p:spPr>
        <p:txBody>
          <a:bodyPr/>
          <a:lstStyle>
            <a:lvl1pPr>
              <a:defRPr/>
            </a:lvl1pPr>
          </a:lstStyle>
          <a:p>
            <a:pPr>
              <a:defRPr/>
            </a:pPr>
            <a:r>
              <a:rPr lang="zh-CN" altLang="en-US"/>
              <a:t>自动化学院测量科学与仪器系</a:t>
            </a:r>
            <a:endParaRPr lang="en-US" altLang="zh-CN"/>
          </a:p>
        </p:txBody>
      </p:sp>
      <p:sp>
        <p:nvSpPr>
          <p:cNvPr id="29" name="Rectangle 7">
            <a:extLst>
              <a:ext uri="{FF2B5EF4-FFF2-40B4-BE49-F238E27FC236}">
                <a16:creationId xmlns:a16="http://schemas.microsoft.com/office/drawing/2014/main" id="{4457B777-E898-4885-86E4-39054DB98994}"/>
              </a:ext>
            </a:extLst>
          </p:cNvPr>
          <p:cNvSpPr>
            <a:spLocks noGrp="1" noChangeArrowheads="1"/>
          </p:cNvSpPr>
          <p:nvPr>
            <p:ph type="sldNum" sz="quarter" idx="12"/>
          </p:nvPr>
        </p:nvSpPr>
        <p:spPr>
          <a:xfrm>
            <a:off x="6553200" y="6248400"/>
            <a:ext cx="1905000" cy="457200"/>
          </a:xfrm>
        </p:spPr>
        <p:txBody>
          <a:bodyPr/>
          <a:lstStyle>
            <a:lvl1pPr>
              <a:defRPr/>
            </a:lvl1pPr>
          </a:lstStyle>
          <a:p>
            <a:pPr>
              <a:defRPr/>
            </a:pPr>
            <a:fld id="{575606B7-DF53-4185-8A61-BCC16FCA07E4}" type="slidenum">
              <a:rPr lang="en-US" altLang="zh-CN"/>
              <a:pPr>
                <a:defRPr/>
              </a:pPr>
              <a:t>‹#›</a:t>
            </a:fld>
            <a:endParaRPr lang="en-US" altLang="zh-CN"/>
          </a:p>
        </p:txBody>
      </p:sp>
    </p:spTree>
    <p:extLst>
      <p:ext uri="{BB962C8B-B14F-4D97-AF65-F5344CB8AC3E}">
        <p14:creationId xmlns:p14="http://schemas.microsoft.com/office/powerpoint/2010/main" val="3539745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0FAC4FF8-DDEF-4FAE-A7CE-CC58066E0575}"/>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6084137C-1C3C-4187-B20D-0202A0FE4E0E}"/>
              </a:ext>
            </a:extLst>
          </p:cNvPr>
          <p:cNvSpPr>
            <a:spLocks noGrp="1" noChangeArrowheads="1"/>
          </p:cNvSpPr>
          <p:nvPr>
            <p:ph type="ftr" sz="quarter" idx="11"/>
          </p:nvPr>
        </p:nvSpPr>
        <p:spPr/>
        <p:txBody>
          <a:bodyPr/>
          <a:lstStyle>
            <a:lvl1pPr>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05227C0C-4B67-4F43-A15D-20B105A3295D}"/>
              </a:ext>
            </a:extLst>
          </p:cNvPr>
          <p:cNvSpPr>
            <a:spLocks noGrp="1" noChangeArrowheads="1"/>
          </p:cNvSpPr>
          <p:nvPr>
            <p:ph type="sldNum" sz="quarter" idx="12"/>
          </p:nvPr>
        </p:nvSpPr>
        <p:spPr/>
        <p:txBody>
          <a:bodyPr/>
          <a:lstStyle>
            <a:lvl1pPr>
              <a:defRPr/>
            </a:lvl1pPr>
          </a:lstStyle>
          <a:p>
            <a:pPr>
              <a:defRPr/>
            </a:pPr>
            <a:fld id="{091897A5-501C-4614-82E8-66B68D02A94E}" type="slidenum">
              <a:rPr lang="en-US" altLang="zh-CN"/>
              <a:pPr>
                <a:defRPr/>
              </a:pPr>
              <a:t>‹#›</a:t>
            </a:fld>
            <a:endParaRPr lang="en-US" altLang="zh-CN"/>
          </a:p>
        </p:txBody>
      </p:sp>
    </p:spTree>
    <p:extLst>
      <p:ext uri="{BB962C8B-B14F-4D97-AF65-F5344CB8AC3E}">
        <p14:creationId xmlns:p14="http://schemas.microsoft.com/office/powerpoint/2010/main" val="3094069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0"/>
            <a:ext cx="78867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5"/>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5">
            <a:extLst>
              <a:ext uri="{FF2B5EF4-FFF2-40B4-BE49-F238E27FC236}">
                <a16:creationId xmlns:a16="http://schemas.microsoft.com/office/drawing/2014/main" id="{7933F129-F4B7-406E-8CA7-1C166DDFD493}"/>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1FA88C05-96A4-4E23-9631-CBFF8CB0112A}"/>
              </a:ext>
            </a:extLst>
          </p:cNvPr>
          <p:cNvSpPr>
            <a:spLocks noGrp="1" noChangeArrowheads="1"/>
          </p:cNvSpPr>
          <p:nvPr>
            <p:ph type="ftr" sz="quarter" idx="11"/>
          </p:nvPr>
        </p:nvSpPr>
        <p:spPr/>
        <p:txBody>
          <a:bodyPr/>
          <a:lstStyle>
            <a:lvl1pPr>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878E03FE-C81C-45A7-88B7-B201FF4A6CDD}"/>
              </a:ext>
            </a:extLst>
          </p:cNvPr>
          <p:cNvSpPr>
            <a:spLocks noGrp="1" noChangeArrowheads="1"/>
          </p:cNvSpPr>
          <p:nvPr>
            <p:ph type="sldNum" sz="quarter" idx="12"/>
          </p:nvPr>
        </p:nvSpPr>
        <p:spPr/>
        <p:txBody>
          <a:bodyPr/>
          <a:lstStyle>
            <a:lvl1pPr>
              <a:defRPr/>
            </a:lvl1pPr>
          </a:lstStyle>
          <a:p>
            <a:pPr>
              <a:defRPr/>
            </a:pPr>
            <a:fld id="{4194BA1C-561C-4B3D-AAE8-35D126778D25}" type="slidenum">
              <a:rPr lang="en-US" altLang="zh-CN"/>
              <a:pPr>
                <a:defRPr/>
              </a:pPr>
              <a:t>‹#›</a:t>
            </a:fld>
            <a:endParaRPr lang="en-US" altLang="zh-CN"/>
          </a:p>
        </p:txBody>
      </p:sp>
    </p:spTree>
    <p:extLst>
      <p:ext uri="{BB962C8B-B14F-4D97-AF65-F5344CB8AC3E}">
        <p14:creationId xmlns:p14="http://schemas.microsoft.com/office/powerpoint/2010/main" val="4058306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01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CF215476-57CB-4F86-A93B-FF6B451F9D44}"/>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CD1C3AD-318B-429B-BE03-14A288357A15}"/>
              </a:ext>
            </a:extLst>
          </p:cNvPr>
          <p:cNvSpPr>
            <a:spLocks noGrp="1" noChangeArrowheads="1"/>
          </p:cNvSpPr>
          <p:nvPr>
            <p:ph type="ftr" sz="quarter" idx="11"/>
          </p:nvPr>
        </p:nvSpPr>
        <p:spPr/>
        <p:txBody>
          <a:bodyPr/>
          <a:lstStyle>
            <a:lvl1pPr>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910BD842-1CF8-4B7C-A2FD-24E250F8A791}"/>
              </a:ext>
            </a:extLst>
          </p:cNvPr>
          <p:cNvSpPr>
            <a:spLocks noGrp="1" noChangeArrowheads="1"/>
          </p:cNvSpPr>
          <p:nvPr>
            <p:ph type="sldNum" sz="quarter" idx="12"/>
          </p:nvPr>
        </p:nvSpPr>
        <p:spPr/>
        <p:txBody>
          <a:bodyPr/>
          <a:lstStyle>
            <a:lvl1pPr>
              <a:defRPr/>
            </a:lvl1pPr>
          </a:lstStyle>
          <a:p>
            <a:pPr>
              <a:defRPr/>
            </a:pPr>
            <a:fld id="{38CD2CA4-B897-4D11-8AE7-399784EB2D28}" type="slidenum">
              <a:rPr lang="en-US" altLang="zh-CN"/>
              <a:pPr>
                <a:defRPr/>
              </a:pPr>
              <a:t>‹#›</a:t>
            </a:fld>
            <a:endParaRPr lang="en-US" altLang="zh-CN"/>
          </a:p>
        </p:txBody>
      </p:sp>
    </p:spTree>
    <p:extLst>
      <p:ext uri="{BB962C8B-B14F-4D97-AF65-F5344CB8AC3E}">
        <p14:creationId xmlns:p14="http://schemas.microsoft.com/office/powerpoint/2010/main" val="4287260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7"/>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9"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9"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a:extLst>
              <a:ext uri="{FF2B5EF4-FFF2-40B4-BE49-F238E27FC236}">
                <a16:creationId xmlns:a16="http://schemas.microsoft.com/office/drawing/2014/main" id="{A6B993B9-74B9-49FA-A8AA-A3537D793975}"/>
              </a:ext>
            </a:extLst>
          </p:cNvPr>
          <p:cNvSpPr>
            <a:spLocks noGrp="1" noChangeArrowheads="1"/>
          </p:cNvSpPr>
          <p:nvPr>
            <p:ph type="dt" sz="half" idx="10"/>
          </p:nvPr>
        </p:nvSpPr>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C4D37DA6-7792-4E2D-84D5-91D8A26AB53C}"/>
              </a:ext>
            </a:extLst>
          </p:cNvPr>
          <p:cNvSpPr>
            <a:spLocks noGrp="1" noChangeArrowheads="1"/>
          </p:cNvSpPr>
          <p:nvPr>
            <p:ph type="ftr" sz="quarter" idx="11"/>
          </p:nvPr>
        </p:nvSpPr>
        <p:spPr/>
        <p:txBody>
          <a:bodyPr/>
          <a:lstStyle>
            <a:lvl1pPr>
              <a:defRPr/>
            </a:lvl1pPr>
          </a:lstStyle>
          <a:p>
            <a:pPr>
              <a:defRPr/>
            </a:pPr>
            <a:r>
              <a:rPr lang="zh-CN" altLang="en-US"/>
              <a:t>自动化学院测量科学与仪器系</a:t>
            </a:r>
            <a:endParaRPr lang="en-US" altLang="zh-CN"/>
          </a:p>
        </p:txBody>
      </p:sp>
      <p:sp>
        <p:nvSpPr>
          <p:cNvPr id="9" name="Rectangle 7">
            <a:extLst>
              <a:ext uri="{FF2B5EF4-FFF2-40B4-BE49-F238E27FC236}">
                <a16:creationId xmlns:a16="http://schemas.microsoft.com/office/drawing/2014/main" id="{2AA1AC59-8357-4F5F-82E9-4C90580BCE6B}"/>
              </a:ext>
            </a:extLst>
          </p:cNvPr>
          <p:cNvSpPr>
            <a:spLocks noGrp="1" noChangeArrowheads="1"/>
          </p:cNvSpPr>
          <p:nvPr>
            <p:ph type="sldNum" sz="quarter" idx="12"/>
          </p:nvPr>
        </p:nvSpPr>
        <p:spPr/>
        <p:txBody>
          <a:bodyPr/>
          <a:lstStyle>
            <a:lvl1pPr>
              <a:defRPr/>
            </a:lvl1pPr>
          </a:lstStyle>
          <a:p>
            <a:pPr>
              <a:defRPr/>
            </a:pPr>
            <a:fld id="{59ECD85F-41F1-4E52-9DE3-D572C2251287}" type="slidenum">
              <a:rPr lang="en-US" altLang="zh-CN"/>
              <a:pPr>
                <a:defRPr/>
              </a:pPr>
              <a:t>‹#›</a:t>
            </a:fld>
            <a:endParaRPr lang="en-US" altLang="zh-CN"/>
          </a:p>
        </p:txBody>
      </p:sp>
    </p:spTree>
    <p:extLst>
      <p:ext uri="{BB962C8B-B14F-4D97-AF65-F5344CB8AC3E}">
        <p14:creationId xmlns:p14="http://schemas.microsoft.com/office/powerpoint/2010/main" val="766991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a:extLst>
              <a:ext uri="{FF2B5EF4-FFF2-40B4-BE49-F238E27FC236}">
                <a16:creationId xmlns:a16="http://schemas.microsoft.com/office/drawing/2014/main" id="{CDDE6456-A80F-4833-869C-705698BEB507}"/>
              </a:ext>
            </a:extLst>
          </p:cNvPr>
          <p:cNvSpPr>
            <a:spLocks noGrp="1" noChangeArrowheads="1"/>
          </p:cNvSpPr>
          <p:nvPr>
            <p:ph type="dt" sz="half" idx="10"/>
          </p:nvPr>
        </p:nvSpPr>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4A2835B9-2CBB-4A8D-890C-259EA07C77D1}"/>
              </a:ext>
            </a:extLst>
          </p:cNvPr>
          <p:cNvSpPr>
            <a:spLocks noGrp="1" noChangeArrowheads="1"/>
          </p:cNvSpPr>
          <p:nvPr>
            <p:ph type="ftr" sz="quarter" idx="11"/>
          </p:nvPr>
        </p:nvSpPr>
        <p:spPr/>
        <p:txBody>
          <a:bodyPr/>
          <a:lstStyle>
            <a:lvl1pPr>
              <a:defRPr/>
            </a:lvl1pPr>
          </a:lstStyle>
          <a:p>
            <a:pPr>
              <a:defRPr/>
            </a:pPr>
            <a:r>
              <a:rPr lang="zh-CN" altLang="en-US"/>
              <a:t>自动化学院测量科学与仪器系</a:t>
            </a:r>
            <a:endParaRPr lang="en-US" altLang="zh-CN"/>
          </a:p>
        </p:txBody>
      </p:sp>
      <p:sp>
        <p:nvSpPr>
          <p:cNvPr id="5" name="Rectangle 7">
            <a:extLst>
              <a:ext uri="{FF2B5EF4-FFF2-40B4-BE49-F238E27FC236}">
                <a16:creationId xmlns:a16="http://schemas.microsoft.com/office/drawing/2014/main" id="{E27A620A-BDBB-4FE8-A2FC-469368F7F542}"/>
              </a:ext>
            </a:extLst>
          </p:cNvPr>
          <p:cNvSpPr>
            <a:spLocks noGrp="1" noChangeArrowheads="1"/>
          </p:cNvSpPr>
          <p:nvPr>
            <p:ph type="sldNum" sz="quarter" idx="12"/>
          </p:nvPr>
        </p:nvSpPr>
        <p:spPr/>
        <p:txBody>
          <a:bodyPr/>
          <a:lstStyle>
            <a:lvl1pPr>
              <a:defRPr/>
            </a:lvl1pPr>
          </a:lstStyle>
          <a:p>
            <a:pPr>
              <a:defRPr/>
            </a:pPr>
            <a:fld id="{A70115C6-85A3-4EF9-91C5-C27C374D85CC}" type="slidenum">
              <a:rPr lang="en-US" altLang="zh-CN"/>
              <a:pPr>
                <a:defRPr/>
              </a:pPr>
              <a:t>‹#›</a:t>
            </a:fld>
            <a:endParaRPr lang="en-US" altLang="zh-CN"/>
          </a:p>
        </p:txBody>
      </p:sp>
    </p:spTree>
    <p:extLst>
      <p:ext uri="{BB962C8B-B14F-4D97-AF65-F5344CB8AC3E}">
        <p14:creationId xmlns:p14="http://schemas.microsoft.com/office/powerpoint/2010/main" val="1130485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D087EE27-58DF-4B63-81B0-85F21ED35CC3}"/>
              </a:ext>
            </a:extLst>
          </p:cNvPr>
          <p:cNvSpPr>
            <a:spLocks noGrp="1" noChangeArrowheads="1"/>
          </p:cNvSpPr>
          <p:nvPr>
            <p:ph type="dt" sz="half" idx="10"/>
          </p:nvPr>
        </p:nvSpPr>
        <p:spPr/>
        <p:txBody>
          <a:bodyPr/>
          <a:lstStyle>
            <a:lvl1pPr>
              <a:defRPr/>
            </a:lvl1pPr>
          </a:lstStyle>
          <a:p>
            <a:pPr>
              <a:defRPr/>
            </a:pPr>
            <a:endParaRPr lang="en-US" altLang="zh-CN"/>
          </a:p>
        </p:txBody>
      </p:sp>
      <p:sp>
        <p:nvSpPr>
          <p:cNvPr id="3" name="Rectangle 6">
            <a:extLst>
              <a:ext uri="{FF2B5EF4-FFF2-40B4-BE49-F238E27FC236}">
                <a16:creationId xmlns:a16="http://schemas.microsoft.com/office/drawing/2014/main" id="{75277A5F-4EC4-43EB-91C7-9D9E0BB7C00A}"/>
              </a:ext>
            </a:extLst>
          </p:cNvPr>
          <p:cNvSpPr>
            <a:spLocks noGrp="1" noChangeArrowheads="1"/>
          </p:cNvSpPr>
          <p:nvPr>
            <p:ph type="ftr" sz="quarter" idx="11"/>
          </p:nvPr>
        </p:nvSpPr>
        <p:spPr/>
        <p:txBody>
          <a:bodyPr/>
          <a:lstStyle>
            <a:lvl1pPr>
              <a:defRPr/>
            </a:lvl1pPr>
          </a:lstStyle>
          <a:p>
            <a:pPr>
              <a:defRPr/>
            </a:pPr>
            <a:r>
              <a:rPr lang="zh-CN" altLang="en-US"/>
              <a:t>自动化学院测量科学与仪器系</a:t>
            </a:r>
            <a:endParaRPr lang="en-US" altLang="zh-CN"/>
          </a:p>
        </p:txBody>
      </p:sp>
      <p:sp>
        <p:nvSpPr>
          <p:cNvPr id="4" name="Rectangle 7">
            <a:extLst>
              <a:ext uri="{FF2B5EF4-FFF2-40B4-BE49-F238E27FC236}">
                <a16:creationId xmlns:a16="http://schemas.microsoft.com/office/drawing/2014/main" id="{F159C0EC-81C0-4751-AA64-848939F2FEF3}"/>
              </a:ext>
            </a:extLst>
          </p:cNvPr>
          <p:cNvSpPr>
            <a:spLocks noGrp="1" noChangeArrowheads="1"/>
          </p:cNvSpPr>
          <p:nvPr>
            <p:ph type="sldNum" sz="quarter" idx="12"/>
          </p:nvPr>
        </p:nvSpPr>
        <p:spPr/>
        <p:txBody>
          <a:bodyPr/>
          <a:lstStyle>
            <a:lvl1pPr>
              <a:defRPr/>
            </a:lvl1pPr>
          </a:lstStyle>
          <a:p>
            <a:pPr>
              <a:defRPr/>
            </a:pPr>
            <a:fld id="{39FCB856-5870-46EB-9616-4D354A397128}" type="slidenum">
              <a:rPr lang="en-US" altLang="zh-CN"/>
              <a:pPr>
                <a:defRPr/>
              </a:pPr>
              <a:t>‹#›</a:t>
            </a:fld>
            <a:endParaRPr lang="en-US" altLang="zh-CN"/>
          </a:p>
        </p:txBody>
      </p:sp>
    </p:spTree>
    <p:extLst>
      <p:ext uri="{BB962C8B-B14F-4D97-AF65-F5344CB8AC3E}">
        <p14:creationId xmlns:p14="http://schemas.microsoft.com/office/powerpoint/2010/main" val="2497279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9" y="457200"/>
            <a:ext cx="2949575" cy="1600200"/>
          </a:xfrm>
        </p:spPr>
        <p:txBody>
          <a:bodyPr/>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7"/>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9"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65D4B11B-CCE9-494F-A408-FAD408FA60E4}"/>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920CF40-473C-472D-8266-60370BE9600D}"/>
              </a:ext>
            </a:extLst>
          </p:cNvPr>
          <p:cNvSpPr>
            <a:spLocks noGrp="1" noChangeArrowheads="1"/>
          </p:cNvSpPr>
          <p:nvPr>
            <p:ph type="ftr" sz="quarter" idx="11"/>
          </p:nvPr>
        </p:nvSpPr>
        <p:spPr/>
        <p:txBody>
          <a:bodyPr/>
          <a:lstStyle>
            <a:lvl1pPr>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1F74C2D6-AB79-41A4-926E-F2F13DD046E4}"/>
              </a:ext>
            </a:extLst>
          </p:cNvPr>
          <p:cNvSpPr>
            <a:spLocks noGrp="1" noChangeArrowheads="1"/>
          </p:cNvSpPr>
          <p:nvPr>
            <p:ph type="sldNum" sz="quarter" idx="12"/>
          </p:nvPr>
        </p:nvSpPr>
        <p:spPr/>
        <p:txBody>
          <a:bodyPr/>
          <a:lstStyle>
            <a:lvl1pPr>
              <a:defRPr/>
            </a:lvl1pPr>
          </a:lstStyle>
          <a:p>
            <a:pPr>
              <a:defRPr/>
            </a:pPr>
            <a:fld id="{45D0A65F-0609-4F33-BEE1-D1273EF86D75}" type="slidenum">
              <a:rPr lang="en-US" altLang="zh-CN"/>
              <a:pPr>
                <a:defRPr/>
              </a:pPr>
              <a:t>‹#›</a:t>
            </a:fld>
            <a:endParaRPr lang="en-US" altLang="zh-CN"/>
          </a:p>
        </p:txBody>
      </p:sp>
    </p:spTree>
    <p:extLst>
      <p:ext uri="{BB962C8B-B14F-4D97-AF65-F5344CB8AC3E}">
        <p14:creationId xmlns:p14="http://schemas.microsoft.com/office/powerpoint/2010/main" val="1869490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9" y="457200"/>
            <a:ext cx="2949575"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7"/>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9"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D5BBF79B-513B-49E0-B1D6-9D79DFBE2DD3}"/>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4A49F73-38D9-460F-A5EC-54A19CC479A5}"/>
              </a:ext>
            </a:extLst>
          </p:cNvPr>
          <p:cNvSpPr>
            <a:spLocks noGrp="1" noChangeArrowheads="1"/>
          </p:cNvSpPr>
          <p:nvPr>
            <p:ph type="ftr" sz="quarter" idx="11"/>
          </p:nvPr>
        </p:nvSpPr>
        <p:spPr/>
        <p:txBody>
          <a:bodyPr/>
          <a:lstStyle>
            <a:lvl1pPr>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EFBB86F8-45C9-4528-A245-D04BCADAC44F}"/>
              </a:ext>
            </a:extLst>
          </p:cNvPr>
          <p:cNvSpPr>
            <a:spLocks noGrp="1" noChangeArrowheads="1"/>
          </p:cNvSpPr>
          <p:nvPr>
            <p:ph type="sldNum" sz="quarter" idx="12"/>
          </p:nvPr>
        </p:nvSpPr>
        <p:spPr/>
        <p:txBody>
          <a:bodyPr/>
          <a:lstStyle>
            <a:lvl1pPr>
              <a:defRPr/>
            </a:lvl1pPr>
          </a:lstStyle>
          <a:p>
            <a:pPr>
              <a:defRPr/>
            </a:pPr>
            <a:fld id="{E572F475-F972-43D6-AC63-0ED397B578A8}" type="slidenum">
              <a:rPr lang="en-US" altLang="zh-CN"/>
              <a:pPr>
                <a:defRPr/>
              </a:pPr>
              <a:t>‹#›</a:t>
            </a:fld>
            <a:endParaRPr lang="en-US" altLang="zh-CN"/>
          </a:p>
        </p:txBody>
      </p:sp>
    </p:spTree>
    <p:extLst>
      <p:ext uri="{BB962C8B-B14F-4D97-AF65-F5344CB8AC3E}">
        <p14:creationId xmlns:p14="http://schemas.microsoft.com/office/powerpoint/2010/main" val="3092889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93D861EA-F69C-47B5-8B94-724279911FAA}"/>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3AA8FDFB-D4E5-4BBD-8686-45275C1117C2}"/>
              </a:ext>
            </a:extLst>
          </p:cNvPr>
          <p:cNvSpPr>
            <a:spLocks noGrp="1" noChangeArrowheads="1"/>
          </p:cNvSpPr>
          <p:nvPr>
            <p:ph type="ftr" sz="quarter" idx="11"/>
          </p:nvPr>
        </p:nvSpPr>
        <p:spPr/>
        <p:txBody>
          <a:bodyPr/>
          <a:lstStyle>
            <a:lvl1pPr>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9A03757F-A607-4673-B1A7-B0DAE9203C40}"/>
              </a:ext>
            </a:extLst>
          </p:cNvPr>
          <p:cNvSpPr>
            <a:spLocks noGrp="1" noChangeArrowheads="1"/>
          </p:cNvSpPr>
          <p:nvPr>
            <p:ph type="sldNum" sz="quarter" idx="12"/>
          </p:nvPr>
        </p:nvSpPr>
        <p:spPr/>
        <p:txBody>
          <a:bodyPr/>
          <a:lstStyle>
            <a:lvl1pPr>
              <a:defRPr/>
            </a:lvl1pPr>
          </a:lstStyle>
          <a:p>
            <a:pPr>
              <a:defRPr/>
            </a:pPr>
            <a:fld id="{5189B820-3148-44F3-92DA-A62E988B13B4}" type="slidenum">
              <a:rPr lang="en-US" altLang="zh-CN"/>
              <a:pPr>
                <a:defRPr/>
              </a:pPr>
              <a:t>‹#›</a:t>
            </a:fld>
            <a:endParaRPr lang="en-US" altLang="zh-CN"/>
          </a:p>
        </p:txBody>
      </p:sp>
    </p:spTree>
    <p:extLst>
      <p:ext uri="{BB962C8B-B14F-4D97-AF65-F5344CB8AC3E}">
        <p14:creationId xmlns:p14="http://schemas.microsoft.com/office/powerpoint/2010/main" val="3391394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7950" y="152400"/>
            <a:ext cx="1924050" cy="5334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152400"/>
            <a:ext cx="5619750" cy="5334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29B1ED26-B5E7-4291-BEFA-647647D5F998}"/>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052010A0-A15A-418C-9160-9D3D6CC88F66}"/>
              </a:ext>
            </a:extLst>
          </p:cNvPr>
          <p:cNvSpPr>
            <a:spLocks noGrp="1" noChangeArrowheads="1"/>
          </p:cNvSpPr>
          <p:nvPr>
            <p:ph type="ftr" sz="quarter" idx="11"/>
          </p:nvPr>
        </p:nvSpPr>
        <p:spPr/>
        <p:txBody>
          <a:bodyPr/>
          <a:lstStyle>
            <a:lvl1pPr>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C278DE75-3AAD-4B86-B933-64B72343D350}"/>
              </a:ext>
            </a:extLst>
          </p:cNvPr>
          <p:cNvSpPr>
            <a:spLocks noGrp="1" noChangeArrowheads="1"/>
          </p:cNvSpPr>
          <p:nvPr>
            <p:ph type="sldNum" sz="quarter" idx="12"/>
          </p:nvPr>
        </p:nvSpPr>
        <p:spPr/>
        <p:txBody>
          <a:bodyPr/>
          <a:lstStyle>
            <a:lvl1pPr>
              <a:defRPr/>
            </a:lvl1pPr>
          </a:lstStyle>
          <a:p>
            <a:pPr>
              <a:defRPr/>
            </a:pPr>
            <a:fld id="{8F03A0D7-662F-49CF-BF79-AC5F3E2CFAEA}" type="slidenum">
              <a:rPr lang="en-US" altLang="zh-CN"/>
              <a:pPr>
                <a:defRPr/>
              </a:pPr>
              <a:t>‹#›</a:t>
            </a:fld>
            <a:endParaRPr lang="en-US" altLang="zh-CN"/>
          </a:p>
        </p:txBody>
      </p:sp>
    </p:spTree>
    <p:extLst>
      <p:ext uri="{BB962C8B-B14F-4D97-AF65-F5344CB8AC3E}">
        <p14:creationId xmlns:p14="http://schemas.microsoft.com/office/powerpoint/2010/main" val="33836575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10100" y="1828800"/>
            <a:ext cx="37719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10100" y="3733800"/>
            <a:ext cx="37719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5">
            <a:extLst>
              <a:ext uri="{FF2B5EF4-FFF2-40B4-BE49-F238E27FC236}">
                <a16:creationId xmlns:a16="http://schemas.microsoft.com/office/drawing/2014/main" id="{3127D063-E7BF-4044-AE59-648F9CDB8321}"/>
              </a:ext>
            </a:extLst>
          </p:cNvPr>
          <p:cNvSpPr>
            <a:spLocks noGrp="1" noChangeArrowheads="1"/>
          </p:cNvSpPr>
          <p:nvPr>
            <p:ph type="dt" sz="half" idx="10"/>
          </p:nvPr>
        </p:nvSpPr>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618EF3E7-0CD1-4061-B8E1-06C55CAC8CE4}"/>
              </a:ext>
            </a:extLst>
          </p:cNvPr>
          <p:cNvSpPr>
            <a:spLocks noGrp="1" noChangeArrowheads="1"/>
          </p:cNvSpPr>
          <p:nvPr>
            <p:ph type="ftr" sz="quarter" idx="11"/>
          </p:nvPr>
        </p:nvSpPr>
        <p:spPr/>
        <p:txBody>
          <a:bodyPr/>
          <a:lstStyle>
            <a:lvl1pPr>
              <a:defRPr/>
            </a:lvl1pPr>
          </a:lstStyle>
          <a:p>
            <a:pPr>
              <a:defRPr/>
            </a:pPr>
            <a:r>
              <a:rPr lang="zh-CN" altLang="en-US"/>
              <a:t>自动化学院测量科学与仪器系</a:t>
            </a:r>
            <a:endParaRPr lang="en-US" altLang="zh-CN"/>
          </a:p>
        </p:txBody>
      </p:sp>
      <p:sp>
        <p:nvSpPr>
          <p:cNvPr id="8" name="Rectangle 7">
            <a:extLst>
              <a:ext uri="{FF2B5EF4-FFF2-40B4-BE49-F238E27FC236}">
                <a16:creationId xmlns:a16="http://schemas.microsoft.com/office/drawing/2014/main" id="{D45608CE-15D3-43AF-B837-C2278E7A492E}"/>
              </a:ext>
            </a:extLst>
          </p:cNvPr>
          <p:cNvSpPr>
            <a:spLocks noGrp="1" noChangeArrowheads="1"/>
          </p:cNvSpPr>
          <p:nvPr>
            <p:ph type="sldNum" sz="quarter" idx="12"/>
          </p:nvPr>
        </p:nvSpPr>
        <p:spPr/>
        <p:txBody>
          <a:bodyPr/>
          <a:lstStyle>
            <a:lvl1pPr>
              <a:defRPr/>
            </a:lvl1pPr>
          </a:lstStyle>
          <a:p>
            <a:pPr>
              <a:defRPr/>
            </a:pPr>
            <a:fld id="{28A0C48A-85FC-44BD-B01B-950A1B8DEE2D}" type="slidenum">
              <a:rPr lang="en-US" altLang="zh-CN"/>
              <a:pPr>
                <a:defRPr/>
              </a:pPr>
              <a:t>‹#›</a:t>
            </a:fld>
            <a:endParaRPr lang="en-US" altLang="zh-CN"/>
          </a:p>
        </p:txBody>
      </p:sp>
    </p:spTree>
    <p:extLst>
      <p:ext uri="{BB962C8B-B14F-4D97-AF65-F5344CB8AC3E}">
        <p14:creationId xmlns:p14="http://schemas.microsoft.com/office/powerpoint/2010/main" val="3083000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内容">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44051B7-FDC4-4452-BFCC-300A1DFC0A43}"/>
              </a:ext>
            </a:extLst>
          </p:cNvPr>
          <p:cNvSpPr>
            <a:spLocks noGrp="1" noChangeArrowheads="1"/>
          </p:cNvSpPr>
          <p:nvPr>
            <p:ph type="dt" sz="half" idx="10"/>
          </p:nvPr>
        </p:nvSpPr>
        <p:spPr/>
        <p:txBody>
          <a:bodyPr/>
          <a:lstStyle>
            <a:lvl1pPr>
              <a:defRPr/>
            </a:lvl1pPr>
          </a:lstStyle>
          <a:p>
            <a:pPr>
              <a:defRPr/>
            </a:pPr>
            <a:fld id="{3D89D441-BF1E-4884-97D8-792706E31068}" type="datetime1">
              <a:rPr lang="zh-CN" altLang="en-US"/>
              <a:pPr>
                <a:defRPr/>
              </a:pPr>
              <a:t>2024/9/18</a:t>
            </a:fld>
            <a:endParaRPr lang="en-US" altLang="zh-CN"/>
          </a:p>
        </p:txBody>
      </p:sp>
      <p:sp>
        <p:nvSpPr>
          <p:cNvPr id="3" name="Rectangle 5">
            <a:extLst>
              <a:ext uri="{FF2B5EF4-FFF2-40B4-BE49-F238E27FC236}">
                <a16:creationId xmlns:a16="http://schemas.microsoft.com/office/drawing/2014/main" id="{D0C3575B-434F-4380-A630-B356615DF448}"/>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52138109-873F-40DB-B6CD-87EECFAE2C33}"/>
              </a:ext>
            </a:extLst>
          </p:cNvPr>
          <p:cNvSpPr>
            <a:spLocks noGrp="1" noChangeArrowheads="1"/>
          </p:cNvSpPr>
          <p:nvPr>
            <p:ph type="sldNum" sz="quarter" idx="12"/>
          </p:nvPr>
        </p:nvSpPr>
        <p:spPr/>
        <p:txBody>
          <a:bodyPr/>
          <a:lstStyle>
            <a:lvl1pPr>
              <a:defRPr/>
            </a:lvl1pPr>
          </a:lstStyle>
          <a:p>
            <a:pPr>
              <a:defRPr/>
            </a:pPr>
            <a:fld id="{D4FD0E70-0562-4934-A5A7-41EEC44E9E99}" type="slidenum">
              <a:rPr lang="en-US" altLang="zh-CN"/>
              <a:pPr>
                <a:defRPr/>
              </a:pPr>
              <a:t>‹#›</a:t>
            </a:fld>
            <a:endParaRPr lang="en-US" altLang="zh-CN"/>
          </a:p>
        </p:txBody>
      </p:sp>
    </p:spTree>
    <p:extLst>
      <p:ext uri="{BB962C8B-B14F-4D97-AF65-F5344CB8AC3E}">
        <p14:creationId xmlns:p14="http://schemas.microsoft.com/office/powerpoint/2010/main" val="78948848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Freeform 2">
            <a:extLst>
              <a:ext uri="{FF2B5EF4-FFF2-40B4-BE49-F238E27FC236}">
                <a16:creationId xmlns:a16="http://schemas.microsoft.com/office/drawing/2014/main" id="{E242004D-A793-4281-9265-651FC95C8682}"/>
              </a:ext>
            </a:extLst>
          </p:cNvPr>
          <p:cNvSpPr>
            <a:spLocks/>
          </p:cNvSpPr>
          <p:nvPr/>
        </p:nvSpPr>
        <p:spPr bwMode="auto">
          <a:xfrm rot="-3172564">
            <a:off x="7777957" y="-15081"/>
            <a:ext cx="1162050" cy="2084387"/>
          </a:xfrm>
          <a:custGeom>
            <a:avLst/>
            <a:gdLst>
              <a:gd name="T0" fmla="*/ 2147483646 w 2903"/>
              <a:gd name="T1" fmla="*/ 2147483646 h 3686"/>
              <a:gd name="T2" fmla="*/ 2147483646 w 2903"/>
              <a:gd name="T3" fmla="*/ 2147483646 h 3686"/>
              <a:gd name="T4" fmla="*/ 2147483646 w 2903"/>
              <a:gd name="T5" fmla="*/ 0 h 3686"/>
              <a:gd name="T6" fmla="*/ 2147483646 w 2903"/>
              <a:gd name="T7" fmla="*/ 2147483646 h 3686"/>
              <a:gd name="T8" fmla="*/ 2147483646 w 2903"/>
              <a:gd name="T9" fmla="*/ 2147483646 h 3686"/>
              <a:gd name="T10" fmla="*/ 0 w 2903"/>
              <a:gd name="T11" fmla="*/ 2147483646 h 3686"/>
              <a:gd name="T12" fmla="*/ 2147483646 w 2903"/>
              <a:gd name="T13" fmla="*/ 2147483646 h 3686"/>
              <a:gd name="T14" fmla="*/ 2147483646 w 2903"/>
              <a:gd name="T15" fmla="*/ 2147483646 h 3686"/>
              <a:gd name="T16" fmla="*/ 2147483646 w 2903"/>
              <a:gd name="T17" fmla="*/ 2147483646 h 3686"/>
              <a:gd name="T18" fmla="*/ 2147483646 w 2903"/>
              <a:gd name="T19" fmla="*/ 2147483646 h 3686"/>
              <a:gd name="T20" fmla="*/ 2147483646 w 2903"/>
              <a:gd name="T21" fmla="*/ 2147483646 h 36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7" name="Rectangle 3">
            <a:extLst>
              <a:ext uri="{FF2B5EF4-FFF2-40B4-BE49-F238E27FC236}">
                <a16:creationId xmlns:a16="http://schemas.microsoft.com/office/drawing/2014/main" id="{897ED3D5-1E1C-484B-9903-94BCB6C2CAB2}"/>
              </a:ext>
            </a:extLst>
          </p:cNvPr>
          <p:cNvSpPr>
            <a:spLocks noGrp="1" noChangeArrowheads="1"/>
          </p:cNvSpPr>
          <p:nvPr>
            <p:ph type="title"/>
          </p:nvPr>
        </p:nvSpPr>
        <p:spPr bwMode="auto">
          <a:xfrm>
            <a:off x="685800" y="152400"/>
            <a:ext cx="68707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8" name="Rectangle 4">
            <a:extLst>
              <a:ext uri="{FF2B5EF4-FFF2-40B4-BE49-F238E27FC236}">
                <a16:creationId xmlns:a16="http://schemas.microsoft.com/office/drawing/2014/main" id="{9CD0AF1F-6F8F-419A-9495-5CF2851ACCF0}"/>
              </a:ext>
            </a:extLst>
          </p:cNvPr>
          <p:cNvSpPr>
            <a:spLocks noGrp="1" noChangeArrowheads="1"/>
          </p:cNvSpPr>
          <p:nvPr>
            <p:ph type="body" idx="1"/>
          </p:nvPr>
        </p:nvSpPr>
        <p:spPr bwMode="auto">
          <a:xfrm>
            <a:off x="685800" y="1828800"/>
            <a:ext cx="76962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1" name="Rectangle 5">
            <a:extLst>
              <a:ext uri="{FF2B5EF4-FFF2-40B4-BE49-F238E27FC236}">
                <a16:creationId xmlns:a16="http://schemas.microsoft.com/office/drawing/2014/main" id="{15A3B941-4BC6-43EE-BAC9-151985CDED64}"/>
              </a:ext>
            </a:extLst>
          </p:cNvPr>
          <p:cNvSpPr>
            <a:spLocks noGrp="1" noChangeArrowheads="1"/>
          </p:cNvSpPr>
          <p:nvPr>
            <p:ph type="dt" sz="half" idx="2"/>
          </p:nvPr>
        </p:nvSpPr>
        <p:spPr bwMode="auto">
          <a:xfrm>
            <a:off x="1371600" y="6248400"/>
            <a:ext cx="1905000" cy="457200"/>
          </a:xfrm>
          <a:prstGeom prst="rect">
            <a:avLst/>
          </a:prstGeom>
          <a:noFill/>
          <a:ln>
            <a:noFill/>
          </a:ln>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zh-CN"/>
          </a:p>
        </p:txBody>
      </p:sp>
      <p:sp>
        <p:nvSpPr>
          <p:cNvPr id="4102" name="Rectangle 6">
            <a:extLst>
              <a:ext uri="{FF2B5EF4-FFF2-40B4-BE49-F238E27FC236}">
                <a16:creationId xmlns:a16="http://schemas.microsoft.com/office/drawing/2014/main" id="{749335A8-97A2-4904-ADBE-38BA5E7BAEF3}"/>
              </a:ext>
            </a:extLst>
          </p:cNvPr>
          <p:cNvSpPr>
            <a:spLocks noGrp="1" noChangeArrowheads="1"/>
          </p:cNvSpPr>
          <p:nvPr>
            <p:ph type="ftr" sz="quarter" idx="3"/>
          </p:nvPr>
        </p:nvSpPr>
        <p:spPr bwMode="auto">
          <a:xfrm>
            <a:off x="3556000" y="6248400"/>
            <a:ext cx="2895600" cy="457200"/>
          </a:xfrm>
          <a:prstGeom prst="rect">
            <a:avLst/>
          </a:prstGeom>
          <a:noFill/>
          <a:ln>
            <a:noFill/>
          </a:ln>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r>
              <a:rPr lang="zh-CN" altLang="en-US"/>
              <a:t>自动化学院测量科学与仪器系</a:t>
            </a:r>
            <a:endParaRPr lang="en-US" altLang="zh-CN"/>
          </a:p>
        </p:txBody>
      </p:sp>
      <p:sp>
        <p:nvSpPr>
          <p:cNvPr id="4103" name="Rectangle 7">
            <a:extLst>
              <a:ext uri="{FF2B5EF4-FFF2-40B4-BE49-F238E27FC236}">
                <a16:creationId xmlns:a16="http://schemas.microsoft.com/office/drawing/2014/main" id="{A43920A7-1439-496C-9F8B-D91A91ACC168}"/>
              </a:ext>
            </a:extLst>
          </p:cNvPr>
          <p:cNvSpPr>
            <a:spLocks noGrp="1" noChangeArrowheads="1"/>
          </p:cNvSpPr>
          <p:nvPr>
            <p:ph type="sldNum" sz="quarter" idx="4"/>
          </p:nvPr>
        </p:nvSpPr>
        <p:spPr bwMode="auto">
          <a:xfrm>
            <a:off x="6718300" y="6248400"/>
            <a:ext cx="19050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629DB83D-9018-42A7-847D-7636DBCCEE82}" type="slidenum">
              <a:rPr lang="en-US" altLang="zh-CN"/>
              <a:pPr>
                <a:defRPr/>
              </a:pPr>
              <a:t>‹#›</a:t>
            </a:fld>
            <a:endParaRPr lang="en-US" altLang="zh-CN"/>
          </a:p>
        </p:txBody>
      </p:sp>
      <p:sp>
        <p:nvSpPr>
          <p:cNvPr id="1032" name="Freeform 8">
            <a:extLst>
              <a:ext uri="{FF2B5EF4-FFF2-40B4-BE49-F238E27FC236}">
                <a16:creationId xmlns:a16="http://schemas.microsoft.com/office/drawing/2014/main" id="{2CDBB1EE-9BD7-4041-933B-05BF6A7318F2}"/>
              </a:ext>
            </a:extLst>
          </p:cNvPr>
          <p:cNvSpPr>
            <a:spLocks/>
          </p:cNvSpPr>
          <p:nvPr/>
        </p:nvSpPr>
        <p:spPr bwMode="auto">
          <a:xfrm rot="-3172564">
            <a:off x="7865269" y="24607"/>
            <a:ext cx="1165225" cy="2097087"/>
          </a:xfrm>
          <a:custGeom>
            <a:avLst/>
            <a:gdLst>
              <a:gd name="T0" fmla="*/ 2147483646 w 2911"/>
              <a:gd name="T1" fmla="*/ 0 h 3703"/>
              <a:gd name="T2" fmla="*/ 2147483646 w 2911"/>
              <a:gd name="T3" fmla="*/ 2147483646 h 3703"/>
              <a:gd name="T4" fmla="*/ 2147483646 w 2911"/>
              <a:gd name="T5" fmla="*/ 2147483646 h 3703"/>
              <a:gd name="T6" fmla="*/ 0 w 2911"/>
              <a:gd name="T7" fmla="*/ 2147483646 h 3703"/>
              <a:gd name="T8" fmla="*/ 2147483646 w 2911"/>
              <a:gd name="T9" fmla="*/ 2147483646 h 3703"/>
              <a:gd name="T10" fmla="*/ 2147483646 w 2911"/>
              <a:gd name="T11" fmla="*/ 2147483646 h 3703"/>
              <a:gd name="T12" fmla="*/ 2147483646 w 2911"/>
              <a:gd name="T13" fmla="*/ 2147483646 h 3703"/>
              <a:gd name="T14" fmla="*/ 2147483646 w 2911"/>
              <a:gd name="T15" fmla="*/ 2147483646 h 3703"/>
              <a:gd name="T16" fmla="*/ 2147483646 w 2911"/>
              <a:gd name="T17" fmla="*/ 2147483646 h 3703"/>
              <a:gd name="T18" fmla="*/ 2147483646 w 2911"/>
              <a:gd name="T19" fmla="*/ 0 h 3703"/>
              <a:gd name="T20" fmla="*/ 2147483646 w 2911"/>
              <a:gd name="T21" fmla="*/ 0 h 37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3" name="Freeform 9">
            <a:extLst>
              <a:ext uri="{FF2B5EF4-FFF2-40B4-BE49-F238E27FC236}">
                <a16:creationId xmlns:a16="http://schemas.microsoft.com/office/drawing/2014/main" id="{2EFD2022-7DCB-48A9-AF4C-D8D4E0660E40}"/>
              </a:ext>
            </a:extLst>
          </p:cNvPr>
          <p:cNvSpPr>
            <a:spLocks/>
          </p:cNvSpPr>
          <p:nvPr/>
        </p:nvSpPr>
        <p:spPr bwMode="auto">
          <a:xfrm rot="-3172564">
            <a:off x="7831138" y="192088"/>
            <a:ext cx="1025525" cy="1571625"/>
          </a:xfrm>
          <a:custGeom>
            <a:avLst/>
            <a:gdLst>
              <a:gd name="T0" fmla="*/ 0 w 2561"/>
              <a:gd name="T1" fmla="*/ 2147483646 h 2777"/>
              <a:gd name="T2" fmla="*/ 2147483646 w 2561"/>
              <a:gd name="T3" fmla="*/ 2147483646 h 2777"/>
              <a:gd name="T4" fmla="*/ 2147483646 w 2561"/>
              <a:gd name="T5" fmla="*/ 2147483646 h 2777"/>
              <a:gd name="T6" fmla="*/ 2147483646 w 2561"/>
              <a:gd name="T7" fmla="*/ 2147483646 h 2777"/>
              <a:gd name="T8" fmla="*/ 2147483646 w 2561"/>
              <a:gd name="T9" fmla="*/ 2147483646 h 2777"/>
              <a:gd name="T10" fmla="*/ 2147483646 w 2561"/>
              <a:gd name="T11" fmla="*/ 0 h 2777"/>
              <a:gd name="T12" fmla="*/ 0 w 2561"/>
              <a:gd name="T13" fmla="*/ 2147483646 h 2777"/>
              <a:gd name="T14" fmla="*/ 0 w 2561"/>
              <a:gd name="T15" fmla="*/ 2147483646 h 277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61" h="2777">
                <a:moveTo>
                  <a:pt x="0" y="2485"/>
                </a:moveTo>
                <a:lnTo>
                  <a:pt x="432" y="2553"/>
                </a:lnTo>
                <a:lnTo>
                  <a:pt x="736" y="2777"/>
                </a:lnTo>
                <a:lnTo>
                  <a:pt x="2561" y="399"/>
                </a:lnTo>
                <a:lnTo>
                  <a:pt x="2118" y="82"/>
                </a:lnTo>
                <a:lnTo>
                  <a:pt x="1898" y="0"/>
                </a:lnTo>
                <a:lnTo>
                  <a:pt x="0" y="248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34" name="Group 10">
            <a:extLst>
              <a:ext uri="{FF2B5EF4-FFF2-40B4-BE49-F238E27FC236}">
                <a16:creationId xmlns:a16="http://schemas.microsoft.com/office/drawing/2014/main" id="{621B6F50-6FC8-4738-9FA0-FABED051A06B}"/>
              </a:ext>
            </a:extLst>
          </p:cNvPr>
          <p:cNvGrpSpPr>
            <a:grpSpLocks/>
          </p:cNvGrpSpPr>
          <p:nvPr/>
        </p:nvGrpSpPr>
        <p:grpSpPr bwMode="auto">
          <a:xfrm>
            <a:off x="7938" y="5540375"/>
            <a:ext cx="1784350" cy="1246188"/>
            <a:chOff x="5" y="3490"/>
            <a:chExt cx="1124" cy="785"/>
          </a:xfrm>
        </p:grpSpPr>
        <p:sp>
          <p:nvSpPr>
            <p:cNvPr id="1051" name="Freeform 11">
              <a:extLst>
                <a:ext uri="{FF2B5EF4-FFF2-40B4-BE49-F238E27FC236}">
                  <a16:creationId xmlns:a16="http://schemas.microsoft.com/office/drawing/2014/main" id="{2AFFBECD-2543-4FF8-83F3-384434B0DCDC}"/>
                </a:ext>
              </a:extLst>
            </p:cNvPr>
            <p:cNvSpPr>
              <a:spLocks/>
            </p:cNvSpPr>
            <p:nvPr userDrawn="1"/>
          </p:nvSpPr>
          <p:spPr bwMode="auto">
            <a:xfrm>
              <a:off x="24" y="3505"/>
              <a:ext cx="1089" cy="649"/>
            </a:xfrm>
            <a:custGeom>
              <a:avLst/>
              <a:gdLst>
                <a:gd name="T0" fmla="*/ 1 w 2177"/>
                <a:gd name="T1" fmla="*/ 1 h 1298"/>
                <a:gd name="T2" fmla="*/ 1 w 2177"/>
                <a:gd name="T3" fmla="*/ 1 h 1298"/>
                <a:gd name="T4" fmla="*/ 1 w 2177"/>
                <a:gd name="T5" fmla="*/ 1 h 1298"/>
                <a:gd name="T6" fmla="*/ 1 w 2177"/>
                <a:gd name="T7" fmla="*/ 1 h 1298"/>
                <a:gd name="T8" fmla="*/ 1 w 2177"/>
                <a:gd name="T9" fmla="*/ 1 h 1298"/>
                <a:gd name="T10" fmla="*/ 1 w 2177"/>
                <a:gd name="T11" fmla="*/ 1 h 1298"/>
                <a:gd name="T12" fmla="*/ 1 w 2177"/>
                <a:gd name="T13" fmla="*/ 1 h 1298"/>
                <a:gd name="T14" fmla="*/ 1 w 2177"/>
                <a:gd name="T15" fmla="*/ 1 h 1298"/>
                <a:gd name="T16" fmla="*/ 1 w 2177"/>
                <a:gd name="T17" fmla="*/ 0 h 1298"/>
                <a:gd name="T18" fmla="*/ 1 w 2177"/>
                <a:gd name="T19" fmla="*/ 1 h 1298"/>
                <a:gd name="T20" fmla="*/ 1 w 2177"/>
                <a:gd name="T21" fmla="*/ 1 h 1298"/>
                <a:gd name="T22" fmla="*/ 1 w 2177"/>
                <a:gd name="T23" fmla="*/ 1 h 1298"/>
                <a:gd name="T24" fmla="*/ 1 w 2177"/>
                <a:gd name="T25" fmla="*/ 1 h 1298"/>
                <a:gd name="T26" fmla="*/ 1 w 2177"/>
                <a:gd name="T27" fmla="*/ 1 h 1298"/>
                <a:gd name="T28" fmla="*/ 1 w 2177"/>
                <a:gd name="T29" fmla="*/ 1 h 1298"/>
                <a:gd name="T30" fmla="*/ 1 w 2177"/>
                <a:gd name="T31" fmla="*/ 1 h 1298"/>
                <a:gd name="T32" fmla="*/ 1 w 2177"/>
                <a:gd name="T33" fmla="*/ 1 h 1298"/>
                <a:gd name="T34" fmla="*/ 0 w 2177"/>
                <a:gd name="T35" fmla="*/ 1 h 1298"/>
                <a:gd name="T36" fmla="*/ 1 w 2177"/>
                <a:gd name="T37" fmla="*/ 1 h 1298"/>
                <a:gd name="T38" fmla="*/ 1 w 2177"/>
                <a:gd name="T39" fmla="*/ 1 h 1298"/>
                <a:gd name="T40" fmla="*/ 1 w 2177"/>
                <a:gd name="T41" fmla="*/ 1 h 1298"/>
                <a:gd name="T42" fmla="*/ 1 w 2177"/>
                <a:gd name="T43" fmla="*/ 1 h 1298"/>
                <a:gd name="T44" fmla="*/ 1 w 2177"/>
                <a:gd name="T45" fmla="*/ 1 h 1298"/>
                <a:gd name="T46" fmla="*/ 1 w 2177"/>
                <a:gd name="T47" fmla="*/ 1 h 129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2" name="Freeform 12">
              <a:extLst>
                <a:ext uri="{FF2B5EF4-FFF2-40B4-BE49-F238E27FC236}">
                  <a16:creationId xmlns:a16="http://schemas.microsoft.com/office/drawing/2014/main" id="{AB478E06-2888-4446-80A1-9965DA9690C8}"/>
                </a:ext>
              </a:extLst>
            </p:cNvPr>
            <p:cNvSpPr>
              <a:spLocks/>
            </p:cNvSpPr>
            <p:nvPr userDrawn="1"/>
          </p:nvSpPr>
          <p:spPr bwMode="auto">
            <a:xfrm>
              <a:off x="1022" y="3582"/>
              <a:ext cx="71" cy="129"/>
            </a:xfrm>
            <a:custGeom>
              <a:avLst/>
              <a:gdLst>
                <a:gd name="T0" fmla="*/ 0 w 143"/>
                <a:gd name="T1" fmla="*/ 1 h 258"/>
                <a:gd name="T2" fmla="*/ 0 w 143"/>
                <a:gd name="T3" fmla="*/ 0 h 258"/>
                <a:gd name="T4" fmla="*/ 0 w 143"/>
                <a:gd name="T5" fmla="*/ 1 h 258"/>
                <a:gd name="T6" fmla="*/ 0 w 143"/>
                <a:gd name="T7" fmla="*/ 1 h 258"/>
                <a:gd name="T8" fmla="*/ 0 w 143"/>
                <a:gd name="T9" fmla="*/ 1 h 258"/>
                <a:gd name="T10" fmla="*/ 0 w 143"/>
                <a:gd name="T11" fmla="*/ 1 h 25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3" h="258">
                  <a:moveTo>
                    <a:pt x="0" y="7"/>
                  </a:moveTo>
                  <a:lnTo>
                    <a:pt x="120" y="0"/>
                  </a:lnTo>
                  <a:lnTo>
                    <a:pt x="143" y="233"/>
                  </a:lnTo>
                  <a:lnTo>
                    <a:pt x="8" y="258"/>
                  </a:lnTo>
                  <a:lnTo>
                    <a:pt x="0" y="7"/>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3" name="Freeform 13">
              <a:extLst>
                <a:ext uri="{FF2B5EF4-FFF2-40B4-BE49-F238E27FC236}">
                  <a16:creationId xmlns:a16="http://schemas.microsoft.com/office/drawing/2014/main" id="{83BD68F3-B657-4EA1-91C3-465024184643}"/>
                </a:ext>
              </a:extLst>
            </p:cNvPr>
            <p:cNvSpPr>
              <a:spLocks/>
            </p:cNvSpPr>
            <p:nvPr userDrawn="1"/>
          </p:nvSpPr>
          <p:spPr bwMode="auto">
            <a:xfrm>
              <a:off x="20" y="3774"/>
              <a:ext cx="792" cy="41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4" name="Freeform 14">
              <a:extLst>
                <a:ext uri="{FF2B5EF4-FFF2-40B4-BE49-F238E27FC236}">
                  <a16:creationId xmlns:a16="http://schemas.microsoft.com/office/drawing/2014/main" id="{936079F0-36B2-4FDF-953F-834E94C93555}"/>
                </a:ext>
              </a:extLst>
            </p:cNvPr>
            <p:cNvSpPr>
              <a:spLocks/>
            </p:cNvSpPr>
            <p:nvPr userDrawn="1"/>
          </p:nvSpPr>
          <p:spPr bwMode="auto">
            <a:xfrm>
              <a:off x="129" y="3808"/>
              <a:ext cx="525" cy="374"/>
            </a:xfrm>
            <a:custGeom>
              <a:avLst/>
              <a:gdLst>
                <a:gd name="T0" fmla="*/ 0 w 1049"/>
                <a:gd name="T1" fmla="*/ 1 h 747"/>
                <a:gd name="T2" fmla="*/ 1 w 1049"/>
                <a:gd name="T3" fmla="*/ 1 h 747"/>
                <a:gd name="T4" fmla="*/ 1 w 1049"/>
                <a:gd name="T5" fmla="*/ 1 h 747"/>
                <a:gd name="T6" fmla="*/ 1 w 1049"/>
                <a:gd name="T7" fmla="*/ 1 h 747"/>
                <a:gd name="T8" fmla="*/ 1 w 1049"/>
                <a:gd name="T9" fmla="*/ 0 h 747"/>
                <a:gd name="T10" fmla="*/ 0 w 1049"/>
                <a:gd name="T11" fmla="*/ 1 h 747"/>
                <a:gd name="T12" fmla="*/ 0 w 1049"/>
                <a:gd name="T13" fmla="*/ 1 h 747"/>
                <a:gd name="T14" fmla="*/ 0 w 1049"/>
                <a:gd name="T15" fmla="*/ 1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5" name="Freeform 15">
              <a:extLst>
                <a:ext uri="{FF2B5EF4-FFF2-40B4-BE49-F238E27FC236}">
                  <a16:creationId xmlns:a16="http://schemas.microsoft.com/office/drawing/2014/main" id="{60985A73-0B30-4843-9994-963D5F52A7A1}"/>
                </a:ext>
              </a:extLst>
            </p:cNvPr>
            <p:cNvSpPr>
              <a:spLocks/>
            </p:cNvSpPr>
            <p:nvPr userDrawn="1"/>
          </p:nvSpPr>
          <p:spPr bwMode="auto">
            <a:xfrm>
              <a:off x="485" y="3532"/>
              <a:ext cx="135" cy="121"/>
            </a:xfrm>
            <a:custGeom>
              <a:avLst/>
              <a:gdLst>
                <a:gd name="T0" fmla="*/ 0 w 272"/>
                <a:gd name="T1" fmla="*/ 1 h 241"/>
                <a:gd name="T2" fmla="*/ 0 w 272"/>
                <a:gd name="T3" fmla="*/ 0 h 241"/>
                <a:gd name="T4" fmla="*/ 0 w 272"/>
                <a:gd name="T5" fmla="*/ 1 h 241"/>
                <a:gd name="T6" fmla="*/ 0 w 272"/>
                <a:gd name="T7" fmla="*/ 1 h 241"/>
                <a:gd name="T8" fmla="*/ 0 w 272"/>
                <a:gd name="T9" fmla="*/ 1 h 241"/>
                <a:gd name="T10" fmla="*/ 0 w 272"/>
                <a:gd name="T11" fmla="*/ 1 h 241"/>
                <a:gd name="T12" fmla="*/ 0 w 272"/>
                <a:gd name="T13" fmla="*/ 1 h 241"/>
                <a:gd name="T14" fmla="*/ 0 w 272"/>
                <a:gd name="T15" fmla="*/ 1 h 2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2" h="241">
                  <a:moveTo>
                    <a:pt x="0" y="28"/>
                  </a:moveTo>
                  <a:lnTo>
                    <a:pt x="160" y="0"/>
                  </a:lnTo>
                  <a:lnTo>
                    <a:pt x="251" y="36"/>
                  </a:lnTo>
                  <a:lnTo>
                    <a:pt x="272" y="139"/>
                  </a:lnTo>
                  <a:lnTo>
                    <a:pt x="164" y="146"/>
                  </a:lnTo>
                  <a:lnTo>
                    <a:pt x="32" y="241"/>
                  </a:lnTo>
                  <a:lnTo>
                    <a:pt x="0" y="28"/>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6" name="Freeform 16">
              <a:extLst>
                <a:ext uri="{FF2B5EF4-FFF2-40B4-BE49-F238E27FC236}">
                  <a16:creationId xmlns:a16="http://schemas.microsoft.com/office/drawing/2014/main" id="{3CBED551-55E7-4BD9-A6D6-3C8C4F81E1D9}"/>
                </a:ext>
              </a:extLst>
            </p:cNvPr>
            <p:cNvSpPr>
              <a:spLocks/>
            </p:cNvSpPr>
            <p:nvPr userDrawn="1"/>
          </p:nvSpPr>
          <p:spPr bwMode="auto">
            <a:xfrm>
              <a:off x="641" y="4163"/>
              <a:ext cx="76" cy="112"/>
            </a:xfrm>
            <a:custGeom>
              <a:avLst/>
              <a:gdLst>
                <a:gd name="T0" fmla="*/ 1 w 152"/>
                <a:gd name="T1" fmla="*/ 1 h 224"/>
                <a:gd name="T2" fmla="*/ 1 w 152"/>
                <a:gd name="T3" fmla="*/ 1 h 224"/>
                <a:gd name="T4" fmla="*/ 0 w 152"/>
                <a:gd name="T5" fmla="*/ 1 h 224"/>
                <a:gd name="T6" fmla="*/ 1 w 152"/>
                <a:gd name="T7" fmla="*/ 0 h 224"/>
                <a:gd name="T8" fmla="*/ 1 w 152"/>
                <a:gd name="T9" fmla="*/ 1 h 224"/>
                <a:gd name="T10" fmla="*/ 1 w 152"/>
                <a:gd name="T11" fmla="*/ 1 h 2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2" h="224">
                  <a:moveTo>
                    <a:pt x="152" y="4"/>
                  </a:moveTo>
                  <a:lnTo>
                    <a:pt x="152" y="224"/>
                  </a:lnTo>
                  <a:lnTo>
                    <a:pt x="0" y="8"/>
                  </a:lnTo>
                  <a:lnTo>
                    <a:pt x="72" y="0"/>
                  </a:lnTo>
                  <a:lnTo>
                    <a:pt x="152" y="4"/>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7" name="Freeform 17">
              <a:extLst>
                <a:ext uri="{FF2B5EF4-FFF2-40B4-BE49-F238E27FC236}">
                  <a16:creationId xmlns:a16="http://schemas.microsoft.com/office/drawing/2014/main" id="{0617F76D-F1C7-4CFF-8571-34BB00681C26}"/>
                </a:ext>
              </a:extLst>
            </p:cNvPr>
            <p:cNvSpPr>
              <a:spLocks/>
            </p:cNvSpPr>
            <p:nvPr userDrawn="1"/>
          </p:nvSpPr>
          <p:spPr bwMode="auto">
            <a:xfrm>
              <a:off x="504" y="3607"/>
              <a:ext cx="193" cy="383"/>
            </a:xfrm>
            <a:custGeom>
              <a:avLst/>
              <a:gdLst>
                <a:gd name="T0" fmla="*/ 0 w 386"/>
                <a:gd name="T1" fmla="*/ 1 h 764"/>
                <a:gd name="T2" fmla="*/ 1 w 386"/>
                <a:gd name="T3" fmla="*/ 0 h 764"/>
                <a:gd name="T4" fmla="*/ 1 w 386"/>
                <a:gd name="T5" fmla="*/ 1 h 764"/>
                <a:gd name="T6" fmla="*/ 1 w 386"/>
                <a:gd name="T7" fmla="*/ 1 h 764"/>
                <a:gd name="T8" fmla="*/ 1 w 386"/>
                <a:gd name="T9" fmla="*/ 1 h 764"/>
                <a:gd name="T10" fmla="*/ 1 w 386"/>
                <a:gd name="T11" fmla="*/ 1 h 764"/>
                <a:gd name="T12" fmla="*/ 0 w 386"/>
                <a:gd name="T13" fmla="*/ 1 h 764"/>
                <a:gd name="T14" fmla="*/ 0 w 386"/>
                <a:gd name="T15" fmla="*/ 1 h 7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6" h="764">
                  <a:moveTo>
                    <a:pt x="0" y="80"/>
                  </a:moveTo>
                  <a:lnTo>
                    <a:pt x="87" y="0"/>
                  </a:lnTo>
                  <a:lnTo>
                    <a:pt x="232" y="6"/>
                  </a:lnTo>
                  <a:lnTo>
                    <a:pt x="386" y="764"/>
                  </a:lnTo>
                  <a:lnTo>
                    <a:pt x="279" y="720"/>
                  </a:lnTo>
                  <a:lnTo>
                    <a:pt x="152" y="677"/>
                  </a:lnTo>
                  <a:lnTo>
                    <a:pt x="0" y="8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8" name="Freeform 18">
              <a:extLst>
                <a:ext uri="{FF2B5EF4-FFF2-40B4-BE49-F238E27FC236}">
                  <a16:creationId xmlns:a16="http://schemas.microsoft.com/office/drawing/2014/main" id="{FFACC285-DE8B-4BC5-8D26-1CC054300D0A}"/>
                </a:ext>
              </a:extLst>
            </p:cNvPr>
            <p:cNvSpPr>
              <a:spLocks/>
            </p:cNvSpPr>
            <p:nvPr userDrawn="1"/>
          </p:nvSpPr>
          <p:spPr bwMode="auto">
            <a:xfrm>
              <a:off x="668" y="3590"/>
              <a:ext cx="364" cy="174"/>
            </a:xfrm>
            <a:custGeom>
              <a:avLst/>
              <a:gdLst>
                <a:gd name="T0" fmla="*/ 1 w 728"/>
                <a:gd name="T1" fmla="*/ 0 h 348"/>
                <a:gd name="T2" fmla="*/ 0 w 728"/>
                <a:gd name="T3" fmla="*/ 1 h 348"/>
                <a:gd name="T4" fmla="*/ 1 w 728"/>
                <a:gd name="T5" fmla="*/ 1 h 348"/>
                <a:gd name="T6" fmla="*/ 1 w 728"/>
                <a:gd name="T7" fmla="*/ 1 h 348"/>
                <a:gd name="T8" fmla="*/ 1 w 728"/>
                <a:gd name="T9" fmla="*/ 1 h 348"/>
                <a:gd name="T10" fmla="*/ 1 w 728"/>
                <a:gd name="T11" fmla="*/ 0 h 348"/>
                <a:gd name="T12" fmla="*/ 1 w 728"/>
                <a:gd name="T13" fmla="*/ 0 h 3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8" h="348">
                  <a:moveTo>
                    <a:pt x="692" y="0"/>
                  </a:moveTo>
                  <a:lnTo>
                    <a:pt x="0" y="106"/>
                  </a:lnTo>
                  <a:lnTo>
                    <a:pt x="28" y="348"/>
                  </a:lnTo>
                  <a:lnTo>
                    <a:pt x="715" y="237"/>
                  </a:lnTo>
                  <a:lnTo>
                    <a:pt x="728" y="43"/>
                  </a:lnTo>
                  <a:lnTo>
                    <a:pt x="692"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9" name="Freeform 19">
              <a:extLst>
                <a:ext uri="{FF2B5EF4-FFF2-40B4-BE49-F238E27FC236}">
                  <a16:creationId xmlns:a16="http://schemas.microsoft.com/office/drawing/2014/main" id="{5E768D76-72C2-4326-884B-05703FE5A859}"/>
                </a:ext>
              </a:extLst>
            </p:cNvPr>
            <p:cNvSpPr>
              <a:spLocks/>
            </p:cNvSpPr>
            <p:nvPr userDrawn="1"/>
          </p:nvSpPr>
          <p:spPr bwMode="auto">
            <a:xfrm>
              <a:off x="347" y="3693"/>
              <a:ext cx="156" cy="67"/>
            </a:xfrm>
            <a:custGeom>
              <a:avLst/>
              <a:gdLst>
                <a:gd name="T0" fmla="*/ 1 w 312"/>
                <a:gd name="T1" fmla="*/ 0 h 135"/>
                <a:gd name="T2" fmla="*/ 0 w 312"/>
                <a:gd name="T3" fmla="*/ 0 h 135"/>
                <a:gd name="T4" fmla="*/ 1 w 312"/>
                <a:gd name="T5" fmla="*/ 0 h 135"/>
                <a:gd name="T6" fmla="*/ 1 w 312"/>
                <a:gd name="T7" fmla="*/ 0 h 135"/>
                <a:gd name="T8" fmla="*/ 1 w 312"/>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2" h="135">
                  <a:moveTo>
                    <a:pt x="272" y="0"/>
                  </a:moveTo>
                  <a:lnTo>
                    <a:pt x="0" y="78"/>
                  </a:lnTo>
                  <a:lnTo>
                    <a:pt x="312" y="135"/>
                  </a:lnTo>
                  <a:lnTo>
                    <a:pt x="27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60" name="Group 20">
              <a:extLst>
                <a:ext uri="{FF2B5EF4-FFF2-40B4-BE49-F238E27FC236}">
                  <a16:creationId xmlns:a16="http://schemas.microsoft.com/office/drawing/2014/main" id="{E5474712-BC48-4666-BC21-19F750C3069D}"/>
                </a:ext>
              </a:extLst>
            </p:cNvPr>
            <p:cNvGrpSpPr>
              <a:grpSpLocks/>
            </p:cNvGrpSpPr>
            <p:nvPr userDrawn="1"/>
          </p:nvGrpSpPr>
          <p:grpSpPr bwMode="auto">
            <a:xfrm>
              <a:off x="5" y="3490"/>
              <a:ext cx="1124" cy="780"/>
              <a:chOff x="5" y="3490"/>
              <a:chExt cx="1124" cy="780"/>
            </a:xfrm>
          </p:grpSpPr>
          <p:grpSp>
            <p:nvGrpSpPr>
              <p:cNvPr id="1061" name="Group 21">
                <a:extLst>
                  <a:ext uri="{FF2B5EF4-FFF2-40B4-BE49-F238E27FC236}">
                    <a16:creationId xmlns:a16="http://schemas.microsoft.com/office/drawing/2014/main" id="{75B3886A-5E2F-40AB-BB13-BBD86EE34DDB}"/>
                  </a:ext>
                </a:extLst>
              </p:cNvPr>
              <p:cNvGrpSpPr>
                <a:grpSpLocks/>
              </p:cNvGrpSpPr>
              <p:nvPr userDrawn="1"/>
            </p:nvGrpSpPr>
            <p:grpSpPr bwMode="auto">
              <a:xfrm>
                <a:off x="499" y="3562"/>
                <a:ext cx="548" cy="708"/>
                <a:chOff x="499" y="3562"/>
                <a:chExt cx="548" cy="708"/>
              </a:xfrm>
            </p:grpSpPr>
            <p:sp>
              <p:nvSpPr>
                <p:cNvPr id="1074" name="Freeform 22">
                  <a:extLst>
                    <a:ext uri="{FF2B5EF4-FFF2-40B4-BE49-F238E27FC236}">
                      <a16:creationId xmlns:a16="http://schemas.microsoft.com/office/drawing/2014/main" id="{F6BF0304-9011-4E3D-8DE4-C416EB57BA6B}"/>
                    </a:ext>
                  </a:extLst>
                </p:cNvPr>
                <p:cNvSpPr>
                  <a:spLocks/>
                </p:cNvSpPr>
                <p:nvPr userDrawn="1"/>
              </p:nvSpPr>
              <p:spPr bwMode="auto">
                <a:xfrm>
                  <a:off x="499" y="3587"/>
                  <a:ext cx="157" cy="87"/>
                </a:xfrm>
                <a:custGeom>
                  <a:avLst/>
                  <a:gdLst>
                    <a:gd name="T0" fmla="*/ 0 w 313"/>
                    <a:gd name="T1" fmla="*/ 0 h 175"/>
                    <a:gd name="T2" fmla="*/ 1 w 313"/>
                    <a:gd name="T3" fmla="*/ 0 h 175"/>
                    <a:gd name="T4" fmla="*/ 1 w 313"/>
                    <a:gd name="T5" fmla="*/ 0 h 175"/>
                    <a:gd name="T6" fmla="*/ 1 w 313"/>
                    <a:gd name="T7" fmla="*/ 0 h 175"/>
                    <a:gd name="T8" fmla="*/ 1 w 313"/>
                    <a:gd name="T9" fmla="*/ 0 h 175"/>
                    <a:gd name="T10" fmla="*/ 1 w 313"/>
                    <a:gd name="T11" fmla="*/ 0 h 175"/>
                    <a:gd name="T12" fmla="*/ 1 w 313"/>
                    <a:gd name="T13" fmla="*/ 0 h 175"/>
                    <a:gd name="T14" fmla="*/ 1 w 313"/>
                    <a:gd name="T15" fmla="*/ 0 h 175"/>
                    <a:gd name="T16" fmla="*/ 0 w 313"/>
                    <a:gd name="T17" fmla="*/ 0 h 175"/>
                    <a:gd name="T18" fmla="*/ 0 w 313"/>
                    <a:gd name="T19" fmla="*/ 0 h 1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13" h="175">
                      <a:moveTo>
                        <a:pt x="0" y="107"/>
                      </a:moveTo>
                      <a:lnTo>
                        <a:pt x="114" y="10"/>
                      </a:lnTo>
                      <a:lnTo>
                        <a:pt x="213" y="0"/>
                      </a:lnTo>
                      <a:lnTo>
                        <a:pt x="292" y="27"/>
                      </a:lnTo>
                      <a:lnTo>
                        <a:pt x="313" y="91"/>
                      </a:lnTo>
                      <a:lnTo>
                        <a:pt x="167" y="67"/>
                      </a:lnTo>
                      <a:lnTo>
                        <a:pt x="74" y="101"/>
                      </a:lnTo>
                      <a:lnTo>
                        <a:pt x="13" y="175"/>
                      </a:lnTo>
                      <a:lnTo>
                        <a:pt x="0" y="10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5" name="Freeform 23">
                  <a:extLst>
                    <a:ext uri="{FF2B5EF4-FFF2-40B4-BE49-F238E27FC236}">
                      <a16:creationId xmlns:a16="http://schemas.microsoft.com/office/drawing/2014/main" id="{BE9E9522-E7B1-4784-8E57-A005D1EBE47E}"/>
                    </a:ext>
                  </a:extLst>
                </p:cNvPr>
                <p:cNvSpPr>
                  <a:spLocks/>
                </p:cNvSpPr>
                <p:nvPr userDrawn="1"/>
              </p:nvSpPr>
              <p:spPr bwMode="auto">
                <a:xfrm>
                  <a:off x="636" y="4137"/>
                  <a:ext cx="115" cy="133"/>
                </a:xfrm>
                <a:custGeom>
                  <a:avLst/>
                  <a:gdLst>
                    <a:gd name="T0" fmla="*/ 0 w 230"/>
                    <a:gd name="T1" fmla="*/ 1 h 266"/>
                    <a:gd name="T2" fmla="*/ 1 w 230"/>
                    <a:gd name="T3" fmla="*/ 1 h 266"/>
                    <a:gd name="T4" fmla="*/ 1 w 230"/>
                    <a:gd name="T5" fmla="*/ 1 h 266"/>
                    <a:gd name="T6" fmla="*/ 1 w 230"/>
                    <a:gd name="T7" fmla="*/ 1 h 266"/>
                    <a:gd name="T8" fmla="*/ 1 w 230"/>
                    <a:gd name="T9" fmla="*/ 0 h 266"/>
                    <a:gd name="T10" fmla="*/ 1 w 230"/>
                    <a:gd name="T11" fmla="*/ 1 h 266"/>
                    <a:gd name="T12" fmla="*/ 1 w 230"/>
                    <a:gd name="T13" fmla="*/ 1 h 266"/>
                    <a:gd name="T14" fmla="*/ 0 w 230"/>
                    <a:gd name="T15" fmla="*/ 1 h 266"/>
                    <a:gd name="T16" fmla="*/ 0 w 230"/>
                    <a:gd name="T17" fmla="*/ 1 h 2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0" h="266">
                      <a:moveTo>
                        <a:pt x="0" y="40"/>
                      </a:moveTo>
                      <a:lnTo>
                        <a:pt x="160" y="266"/>
                      </a:lnTo>
                      <a:lnTo>
                        <a:pt x="230" y="251"/>
                      </a:lnTo>
                      <a:lnTo>
                        <a:pt x="223" y="17"/>
                      </a:lnTo>
                      <a:lnTo>
                        <a:pt x="166" y="0"/>
                      </a:lnTo>
                      <a:lnTo>
                        <a:pt x="179" y="197"/>
                      </a:lnTo>
                      <a:lnTo>
                        <a:pt x="71" y="4"/>
                      </a:lnTo>
                      <a:lnTo>
                        <a:pt x="0" y="4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6" name="Freeform 24">
                  <a:extLst>
                    <a:ext uri="{FF2B5EF4-FFF2-40B4-BE49-F238E27FC236}">
                      <a16:creationId xmlns:a16="http://schemas.microsoft.com/office/drawing/2014/main" id="{2EF30242-9D2D-4353-932B-EA40C3FC7FF0}"/>
                    </a:ext>
                  </a:extLst>
                </p:cNvPr>
                <p:cNvSpPr>
                  <a:spLocks/>
                </p:cNvSpPr>
                <p:nvPr userDrawn="1"/>
              </p:nvSpPr>
              <p:spPr bwMode="auto">
                <a:xfrm>
                  <a:off x="1004" y="3562"/>
                  <a:ext cx="43" cy="117"/>
                </a:xfrm>
                <a:custGeom>
                  <a:avLst/>
                  <a:gdLst>
                    <a:gd name="T0" fmla="*/ 0 w 87"/>
                    <a:gd name="T1" fmla="*/ 1 h 234"/>
                    <a:gd name="T2" fmla="*/ 0 w 87"/>
                    <a:gd name="T3" fmla="*/ 1 h 234"/>
                    <a:gd name="T4" fmla="*/ 0 w 87"/>
                    <a:gd name="T5" fmla="*/ 1 h 234"/>
                    <a:gd name="T6" fmla="*/ 0 w 87"/>
                    <a:gd name="T7" fmla="*/ 1 h 234"/>
                    <a:gd name="T8" fmla="*/ 0 w 87"/>
                    <a:gd name="T9" fmla="*/ 1 h 234"/>
                    <a:gd name="T10" fmla="*/ 0 w 87"/>
                    <a:gd name="T11" fmla="*/ 1 h 234"/>
                    <a:gd name="T12" fmla="*/ 0 w 87"/>
                    <a:gd name="T13" fmla="*/ 0 h 234"/>
                    <a:gd name="T14" fmla="*/ 0 w 87"/>
                    <a:gd name="T15" fmla="*/ 1 h 234"/>
                    <a:gd name="T16" fmla="*/ 0 w 87"/>
                    <a:gd name="T17" fmla="*/ 1 h 2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7" h="234">
                      <a:moveTo>
                        <a:pt x="0" y="19"/>
                      </a:moveTo>
                      <a:lnTo>
                        <a:pt x="36" y="93"/>
                      </a:lnTo>
                      <a:lnTo>
                        <a:pt x="44" y="154"/>
                      </a:lnTo>
                      <a:lnTo>
                        <a:pt x="27" y="234"/>
                      </a:lnTo>
                      <a:lnTo>
                        <a:pt x="80" y="220"/>
                      </a:lnTo>
                      <a:lnTo>
                        <a:pt x="87" y="116"/>
                      </a:lnTo>
                      <a:lnTo>
                        <a:pt x="46" y="0"/>
                      </a:lnTo>
                      <a:lnTo>
                        <a:pt x="0" y="1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2" name="Freeform 25">
                <a:extLst>
                  <a:ext uri="{FF2B5EF4-FFF2-40B4-BE49-F238E27FC236}">
                    <a16:creationId xmlns:a16="http://schemas.microsoft.com/office/drawing/2014/main" id="{408FBD5C-AEEA-43B1-8F4F-6E26DDFCC2AB}"/>
                  </a:ext>
                </a:extLst>
              </p:cNvPr>
              <p:cNvSpPr>
                <a:spLocks/>
              </p:cNvSpPr>
              <p:nvPr userDrawn="1"/>
            </p:nvSpPr>
            <p:spPr bwMode="auto">
              <a:xfrm>
                <a:off x="76" y="3732"/>
                <a:ext cx="595" cy="250"/>
              </a:xfrm>
              <a:custGeom>
                <a:avLst/>
                <a:gdLst>
                  <a:gd name="T0" fmla="*/ 1 w 1190"/>
                  <a:gd name="T1" fmla="*/ 0 h 500"/>
                  <a:gd name="T2" fmla="*/ 1 w 1190"/>
                  <a:gd name="T3" fmla="*/ 1 h 500"/>
                  <a:gd name="T4" fmla="*/ 1 w 1190"/>
                  <a:gd name="T5" fmla="*/ 1 h 500"/>
                  <a:gd name="T6" fmla="*/ 0 w 1190"/>
                  <a:gd name="T7" fmla="*/ 1 h 500"/>
                  <a:gd name="T8" fmla="*/ 1 w 1190"/>
                  <a:gd name="T9" fmla="*/ 0 h 500"/>
                  <a:gd name="T10" fmla="*/ 1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3" name="Freeform 26">
                <a:extLst>
                  <a:ext uri="{FF2B5EF4-FFF2-40B4-BE49-F238E27FC236}">
                    <a16:creationId xmlns:a16="http://schemas.microsoft.com/office/drawing/2014/main" id="{7446F929-1A59-4677-83A8-3A171EBF4B67}"/>
                  </a:ext>
                </a:extLst>
              </p:cNvPr>
              <p:cNvSpPr>
                <a:spLocks/>
              </p:cNvSpPr>
              <p:nvPr userDrawn="1"/>
            </p:nvSpPr>
            <p:spPr bwMode="auto">
              <a:xfrm>
                <a:off x="260" y="3886"/>
                <a:ext cx="244" cy="148"/>
              </a:xfrm>
              <a:custGeom>
                <a:avLst/>
                <a:gdLst>
                  <a:gd name="T0" fmla="*/ 0 w 489"/>
                  <a:gd name="T1" fmla="*/ 1 h 296"/>
                  <a:gd name="T2" fmla="*/ 0 w 489"/>
                  <a:gd name="T3" fmla="*/ 1 h 296"/>
                  <a:gd name="T4" fmla="*/ 0 w 489"/>
                  <a:gd name="T5" fmla="*/ 1 h 296"/>
                  <a:gd name="T6" fmla="*/ 0 w 489"/>
                  <a:gd name="T7" fmla="*/ 1 h 296"/>
                  <a:gd name="T8" fmla="*/ 0 w 489"/>
                  <a:gd name="T9" fmla="*/ 1 h 296"/>
                  <a:gd name="T10" fmla="*/ 0 w 489"/>
                  <a:gd name="T11" fmla="*/ 1 h 296"/>
                  <a:gd name="T12" fmla="*/ 0 w 489"/>
                  <a:gd name="T13" fmla="*/ 1 h 296"/>
                  <a:gd name="T14" fmla="*/ 0 w 489"/>
                  <a:gd name="T15" fmla="*/ 1 h 296"/>
                  <a:gd name="T16" fmla="*/ 0 w 489"/>
                  <a:gd name="T17" fmla="*/ 1 h 296"/>
                  <a:gd name="T18" fmla="*/ 0 w 489"/>
                  <a:gd name="T19" fmla="*/ 1 h 296"/>
                  <a:gd name="T20" fmla="*/ 0 w 489"/>
                  <a:gd name="T21" fmla="*/ 1 h 296"/>
                  <a:gd name="T22" fmla="*/ 0 w 489"/>
                  <a:gd name="T23" fmla="*/ 1 h 296"/>
                  <a:gd name="T24" fmla="*/ 0 w 489"/>
                  <a:gd name="T25" fmla="*/ 1 h 296"/>
                  <a:gd name="T26" fmla="*/ 0 w 489"/>
                  <a:gd name="T27" fmla="*/ 0 h 296"/>
                  <a:gd name="T28" fmla="*/ 0 w 489"/>
                  <a:gd name="T29" fmla="*/ 1 h 296"/>
                  <a:gd name="T30" fmla="*/ 0 w 489"/>
                  <a:gd name="T31" fmla="*/ 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4" name="Freeform 27">
                <a:extLst>
                  <a:ext uri="{FF2B5EF4-FFF2-40B4-BE49-F238E27FC236}">
                    <a16:creationId xmlns:a16="http://schemas.microsoft.com/office/drawing/2014/main" id="{727F2B9D-A214-4C6D-8A0E-97266DDD4B8C}"/>
                  </a:ext>
                </a:extLst>
              </p:cNvPr>
              <p:cNvSpPr>
                <a:spLocks/>
              </p:cNvSpPr>
              <p:nvPr userDrawn="1"/>
            </p:nvSpPr>
            <p:spPr bwMode="auto">
              <a:xfrm>
                <a:off x="565" y="3680"/>
                <a:ext cx="107" cy="238"/>
              </a:xfrm>
              <a:custGeom>
                <a:avLst/>
                <a:gdLst>
                  <a:gd name="T0" fmla="*/ 1 w 213"/>
                  <a:gd name="T1" fmla="*/ 0 h 478"/>
                  <a:gd name="T2" fmla="*/ 1 w 213"/>
                  <a:gd name="T3" fmla="*/ 0 h 478"/>
                  <a:gd name="T4" fmla="*/ 1 w 213"/>
                  <a:gd name="T5" fmla="*/ 0 h 478"/>
                  <a:gd name="T6" fmla="*/ 1 w 213"/>
                  <a:gd name="T7" fmla="*/ 0 h 478"/>
                  <a:gd name="T8" fmla="*/ 1 w 213"/>
                  <a:gd name="T9" fmla="*/ 0 h 478"/>
                  <a:gd name="T10" fmla="*/ 1 w 213"/>
                  <a:gd name="T11" fmla="*/ 0 h 478"/>
                  <a:gd name="T12" fmla="*/ 1 w 213"/>
                  <a:gd name="T13" fmla="*/ 0 h 478"/>
                  <a:gd name="T14" fmla="*/ 0 w 213"/>
                  <a:gd name="T15" fmla="*/ 0 h 478"/>
                  <a:gd name="T16" fmla="*/ 1 w 213"/>
                  <a:gd name="T17" fmla="*/ 0 h 478"/>
                  <a:gd name="T18" fmla="*/ 1 w 213"/>
                  <a:gd name="T19" fmla="*/ 0 h 4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3" h="478">
                    <a:moveTo>
                      <a:pt x="24" y="0"/>
                    </a:moveTo>
                    <a:lnTo>
                      <a:pt x="91" y="25"/>
                    </a:lnTo>
                    <a:lnTo>
                      <a:pt x="80" y="192"/>
                    </a:lnTo>
                    <a:lnTo>
                      <a:pt x="106" y="327"/>
                    </a:lnTo>
                    <a:lnTo>
                      <a:pt x="213" y="451"/>
                    </a:lnTo>
                    <a:lnTo>
                      <a:pt x="97" y="478"/>
                    </a:lnTo>
                    <a:lnTo>
                      <a:pt x="30" y="344"/>
                    </a:lnTo>
                    <a:lnTo>
                      <a:pt x="0" y="57"/>
                    </a:lnTo>
                    <a:lnTo>
                      <a:pt x="24"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65" name="Group 28">
                <a:extLst>
                  <a:ext uri="{FF2B5EF4-FFF2-40B4-BE49-F238E27FC236}">
                    <a16:creationId xmlns:a16="http://schemas.microsoft.com/office/drawing/2014/main" id="{B8B92F92-F3E9-4D7F-AC05-BB5A6ACAD0DC}"/>
                  </a:ext>
                </a:extLst>
              </p:cNvPr>
              <p:cNvGrpSpPr>
                <a:grpSpLocks/>
              </p:cNvGrpSpPr>
              <p:nvPr userDrawn="1"/>
            </p:nvGrpSpPr>
            <p:grpSpPr bwMode="auto">
              <a:xfrm>
                <a:off x="5" y="3490"/>
                <a:ext cx="1124" cy="678"/>
                <a:chOff x="5" y="3490"/>
                <a:chExt cx="1124" cy="678"/>
              </a:xfrm>
            </p:grpSpPr>
            <p:sp>
              <p:nvSpPr>
                <p:cNvPr id="1066" name="Freeform 29">
                  <a:extLst>
                    <a:ext uri="{FF2B5EF4-FFF2-40B4-BE49-F238E27FC236}">
                      <a16:creationId xmlns:a16="http://schemas.microsoft.com/office/drawing/2014/main" id="{EE98ED57-A47D-45D6-8B89-9E11002BB4E3}"/>
                    </a:ext>
                  </a:extLst>
                </p:cNvPr>
                <p:cNvSpPr>
                  <a:spLocks/>
                </p:cNvSpPr>
                <p:nvPr userDrawn="1"/>
              </p:nvSpPr>
              <p:spPr bwMode="auto">
                <a:xfrm>
                  <a:off x="669" y="4048"/>
                  <a:ext cx="75" cy="87"/>
                </a:xfrm>
                <a:custGeom>
                  <a:avLst/>
                  <a:gdLst>
                    <a:gd name="T0" fmla="*/ 1 w 150"/>
                    <a:gd name="T1" fmla="*/ 0 h 173"/>
                    <a:gd name="T2" fmla="*/ 1 w 150"/>
                    <a:gd name="T3" fmla="*/ 1 h 173"/>
                    <a:gd name="T4" fmla="*/ 0 w 150"/>
                    <a:gd name="T5" fmla="*/ 1 h 173"/>
                    <a:gd name="T6" fmla="*/ 1 w 150"/>
                    <a:gd name="T7" fmla="*/ 1 h 173"/>
                    <a:gd name="T8" fmla="*/ 1 w 150"/>
                    <a:gd name="T9" fmla="*/ 1 h 173"/>
                    <a:gd name="T10" fmla="*/ 1 w 150"/>
                    <a:gd name="T11" fmla="*/ 1 h 173"/>
                    <a:gd name="T12" fmla="*/ 1 w 150"/>
                    <a:gd name="T13" fmla="*/ 0 h 173"/>
                    <a:gd name="T14" fmla="*/ 1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7" name="Freeform 30">
                  <a:extLst>
                    <a:ext uri="{FF2B5EF4-FFF2-40B4-BE49-F238E27FC236}">
                      <a16:creationId xmlns:a16="http://schemas.microsoft.com/office/drawing/2014/main" id="{E14B1A6C-60FD-4BF7-94FC-55B31BD6D7CB}"/>
                    </a:ext>
                  </a:extLst>
                </p:cNvPr>
                <p:cNvSpPr>
                  <a:spLocks/>
                </p:cNvSpPr>
                <p:nvPr userDrawn="1"/>
              </p:nvSpPr>
              <p:spPr bwMode="auto">
                <a:xfrm>
                  <a:off x="5" y="3728"/>
                  <a:ext cx="842" cy="440"/>
                </a:xfrm>
                <a:custGeom>
                  <a:avLst/>
                  <a:gdLst>
                    <a:gd name="T0" fmla="*/ 1 w 1684"/>
                    <a:gd name="T1" fmla="*/ 0 h 880"/>
                    <a:gd name="T2" fmla="*/ 1 w 1684"/>
                    <a:gd name="T3" fmla="*/ 1 h 880"/>
                    <a:gd name="T4" fmla="*/ 0 w 1684"/>
                    <a:gd name="T5" fmla="*/ 1 h 880"/>
                    <a:gd name="T6" fmla="*/ 1 w 1684"/>
                    <a:gd name="T7" fmla="*/ 1 h 880"/>
                    <a:gd name="T8" fmla="*/ 1 w 1684"/>
                    <a:gd name="T9" fmla="*/ 1 h 880"/>
                    <a:gd name="T10" fmla="*/ 1 w 1684"/>
                    <a:gd name="T11" fmla="*/ 1 h 880"/>
                    <a:gd name="T12" fmla="*/ 1 w 1684"/>
                    <a:gd name="T13" fmla="*/ 1 h 880"/>
                    <a:gd name="T14" fmla="*/ 1 w 1684"/>
                    <a:gd name="T15" fmla="*/ 1 h 880"/>
                    <a:gd name="T16" fmla="*/ 1 w 1684"/>
                    <a:gd name="T17" fmla="*/ 1 h 880"/>
                    <a:gd name="T18" fmla="*/ 1 w 1684"/>
                    <a:gd name="T19" fmla="*/ 1 h 880"/>
                    <a:gd name="T20" fmla="*/ 1 w 1684"/>
                    <a:gd name="T21" fmla="*/ 1 h 880"/>
                    <a:gd name="T22" fmla="*/ 1 w 1684"/>
                    <a:gd name="T23" fmla="*/ 1 h 880"/>
                    <a:gd name="T24" fmla="*/ 1 w 1684"/>
                    <a:gd name="T25" fmla="*/ 1 h 880"/>
                    <a:gd name="T26" fmla="*/ 1 w 1684"/>
                    <a:gd name="T27" fmla="*/ 1 h 880"/>
                    <a:gd name="T28" fmla="*/ 1 w 1684"/>
                    <a:gd name="T29" fmla="*/ 1 h 880"/>
                    <a:gd name="T30" fmla="*/ 1 w 1684"/>
                    <a:gd name="T31" fmla="*/ 1 h 880"/>
                    <a:gd name="T32" fmla="*/ 1 w 1684"/>
                    <a:gd name="T33" fmla="*/ 1 h 880"/>
                    <a:gd name="T34" fmla="*/ 1 w 1684"/>
                    <a:gd name="T35" fmla="*/ 1 h 880"/>
                    <a:gd name="T36" fmla="*/ 1 w 1684"/>
                    <a:gd name="T37" fmla="*/ 1 h 880"/>
                    <a:gd name="T38" fmla="*/ 1 w 1684"/>
                    <a:gd name="T39" fmla="*/ 1 h 880"/>
                    <a:gd name="T40" fmla="*/ 1 w 1684"/>
                    <a:gd name="T41" fmla="*/ 1 h 880"/>
                    <a:gd name="T42" fmla="*/ 1 w 1684"/>
                    <a:gd name="T43" fmla="*/ 1 h 880"/>
                    <a:gd name="T44" fmla="*/ 1 w 1684"/>
                    <a:gd name="T45" fmla="*/ 1 h 880"/>
                    <a:gd name="T46" fmla="*/ 1 w 1684"/>
                    <a:gd name="T47" fmla="*/ 0 h 880"/>
                    <a:gd name="T48" fmla="*/ 1 w 1684"/>
                    <a:gd name="T49" fmla="*/ 0 h 880"/>
                    <a:gd name="T50" fmla="*/ 1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8" name="Freeform 31">
                  <a:extLst>
                    <a:ext uri="{FF2B5EF4-FFF2-40B4-BE49-F238E27FC236}">
                      <a16:creationId xmlns:a16="http://schemas.microsoft.com/office/drawing/2014/main" id="{1FB28A9C-77E0-4DC5-B9C9-370B87458973}"/>
                    </a:ext>
                  </a:extLst>
                </p:cNvPr>
                <p:cNvSpPr>
                  <a:spLocks/>
                </p:cNvSpPr>
                <p:nvPr userDrawn="1"/>
              </p:nvSpPr>
              <p:spPr bwMode="auto">
                <a:xfrm>
                  <a:off x="106" y="3770"/>
                  <a:ext cx="80" cy="167"/>
                </a:xfrm>
                <a:custGeom>
                  <a:avLst/>
                  <a:gdLst>
                    <a:gd name="T0" fmla="*/ 1 w 160"/>
                    <a:gd name="T1" fmla="*/ 0 h 335"/>
                    <a:gd name="T2" fmla="*/ 1 w 160"/>
                    <a:gd name="T3" fmla="*/ 0 h 335"/>
                    <a:gd name="T4" fmla="*/ 0 w 160"/>
                    <a:gd name="T5" fmla="*/ 0 h 335"/>
                    <a:gd name="T6" fmla="*/ 1 w 160"/>
                    <a:gd name="T7" fmla="*/ 0 h 335"/>
                    <a:gd name="T8" fmla="*/ 1 w 160"/>
                    <a:gd name="T9" fmla="*/ 0 h 335"/>
                    <a:gd name="T10" fmla="*/ 1 w 160"/>
                    <a:gd name="T11" fmla="*/ 0 h 335"/>
                    <a:gd name="T12" fmla="*/ 1 w 160"/>
                    <a:gd name="T13" fmla="*/ 0 h 335"/>
                    <a:gd name="T14" fmla="*/ 1 w 160"/>
                    <a:gd name="T15" fmla="*/ 0 h 335"/>
                    <a:gd name="T16" fmla="*/ 1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9" name="Freeform 32">
                  <a:extLst>
                    <a:ext uri="{FF2B5EF4-FFF2-40B4-BE49-F238E27FC236}">
                      <a16:creationId xmlns:a16="http://schemas.microsoft.com/office/drawing/2014/main" id="{DBBC9961-8518-4FE2-BE48-127A34377767}"/>
                    </a:ext>
                  </a:extLst>
                </p:cNvPr>
                <p:cNvSpPr>
                  <a:spLocks/>
                </p:cNvSpPr>
                <p:nvPr userDrawn="1"/>
              </p:nvSpPr>
              <p:spPr bwMode="auto">
                <a:xfrm>
                  <a:off x="449" y="3490"/>
                  <a:ext cx="322" cy="594"/>
                </a:xfrm>
                <a:custGeom>
                  <a:avLst/>
                  <a:gdLst>
                    <a:gd name="T0" fmla="*/ 1 w 642"/>
                    <a:gd name="T1" fmla="*/ 1 h 1188"/>
                    <a:gd name="T2" fmla="*/ 0 w 642"/>
                    <a:gd name="T3" fmla="*/ 1 h 1188"/>
                    <a:gd name="T4" fmla="*/ 1 w 642"/>
                    <a:gd name="T5" fmla="*/ 1 h 1188"/>
                    <a:gd name="T6" fmla="*/ 1 w 642"/>
                    <a:gd name="T7" fmla="*/ 0 h 1188"/>
                    <a:gd name="T8" fmla="*/ 1 w 642"/>
                    <a:gd name="T9" fmla="*/ 1 h 1188"/>
                    <a:gd name="T10" fmla="*/ 1 w 642"/>
                    <a:gd name="T11" fmla="*/ 1 h 1188"/>
                    <a:gd name="T12" fmla="*/ 1 w 642"/>
                    <a:gd name="T13" fmla="*/ 1 h 1188"/>
                    <a:gd name="T14" fmla="*/ 1 w 642"/>
                    <a:gd name="T15" fmla="*/ 1 h 1188"/>
                    <a:gd name="T16" fmla="*/ 1 w 642"/>
                    <a:gd name="T17" fmla="*/ 1 h 1188"/>
                    <a:gd name="T18" fmla="*/ 1 w 642"/>
                    <a:gd name="T19" fmla="*/ 1 h 1188"/>
                    <a:gd name="T20" fmla="*/ 1 w 642"/>
                    <a:gd name="T21" fmla="*/ 1 h 1188"/>
                    <a:gd name="T22" fmla="*/ 1 w 642"/>
                    <a:gd name="T23" fmla="*/ 1 h 1188"/>
                    <a:gd name="T24" fmla="*/ 1 w 642"/>
                    <a:gd name="T25" fmla="*/ 1 h 1188"/>
                    <a:gd name="T26" fmla="*/ 1 w 642"/>
                    <a:gd name="T27" fmla="*/ 1 h 11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0" name="Freeform 33">
                  <a:extLst>
                    <a:ext uri="{FF2B5EF4-FFF2-40B4-BE49-F238E27FC236}">
                      <a16:creationId xmlns:a16="http://schemas.microsoft.com/office/drawing/2014/main" id="{A1131AD6-E757-4E46-A293-2966654D3361}"/>
                    </a:ext>
                  </a:extLst>
                </p:cNvPr>
                <p:cNvSpPr>
                  <a:spLocks/>
                </p:cNvSpPr>
                <p:nvPr userDrawn="1"/>
              </p:nvSpPr>
              <p:spPr bwMode="auto">
                <a:xfrm>
                  <a:off x="578" y="3650"/>
                  <a:ext cx="96" cy="252"/>
                </a:xfrm>
                <a:custGeom>
                  <a:avLst/>
                  <a:gdLst>
                    <a:gd name="T0" fmla="*/ 0 w 192"/>
                    <a:gd name="T1" fmla="*/ 1 h 504"/>
                    <a:gd name="T2" fmla="*/ 1 w 192"/>
                    <a:gd name="T3" fmla="*/ 1 h 504"/>
                    <a:gd name="T4" fmla="*/ 1 w 192"/>
                    <a:gd name="T5" fmla="*/ 1 h 504"/>
                    <a:gd name="T6" fmla="*/ 1 w 192"/>
                    <a:gd name="T7" fmla="*/ 1 h 504"/>
                    <a:gd name="T8" fmla="*/ 1 w 192"/>
                    <a:gd name="T9" fmla="*/ 1 h 504"/>
                    <a:gd name="T10" fmla="*/ 1 w 192"/>
                    <a:gd name="T11" fmla="*/ 1 h 504"/>
                    <a:gd name="T12" fmla="*/ 1 w 192"/>
                    <a:gd name="T13" fmla="*/ 1 h 504"/>
                    <a:gd name="T14" fmla="*/ 1 w 192"/>
                    <a:gd name="T15" fmla="*/ 1 h 504"/>
                    <a:gd name="T16" fmla="*/ 1 w 192"/>
                    <a:gd name="T17" fmla="*/ 0 h 504"/>
                    <a:gd name="T18" fmla="*/ 0 w 192"/>
                    <a:gd name="T19" fmla="*/ 1 h 504"/>
                    <a:gd name="T20" fmla="*/ 0 w 192"/>
                    <a:gd name="T21" fmla="*/ 1 h 5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2" h="504">
                      <a:moveTo>
                        <a:pt x="0" y="27"/>
                      </a:moveTo>
                      <a:lnTo>
                        <a:pt x="76" y="194"/>
                      </a:lnTo>
                      <a:lnTo>
                        <a:pt x="113" y="318"/>
                      </a:lnTo>
                      <a:lnTo>
                        <a:pt x="116" y="504"/>
                      </a:lnTo>
                      <a:lnTo>
                        <a:pt x="192" y="504"/>
                      </a:lnTo>
                      <a:lnTo>
                        <a:pt x="187" y="360"/>
                      </a:lnTo>
                      <a:lnTo>
                        <a:pt x="162" y="208"/>
                      </a:lnTo>
                      <a:lnTo>
                        <a:pt x="99" y="59"/>
                      </a:lnTo>
                      <a:lnTo>
                        <a:pt x="63" y="0"/>
                      </a:lnTo>
                      <a:lnTo>
                        <a:pt x="0" y="2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1" name="Freeform 34">
                  <a:extLst>
                    <a:ext uri="{FF2B5EF4-FFF2-40B4-BE49-F238E27FC236}">
                      <a16:creationId xmlns:a16="http://schemas.microsoft.com/office/drawing/2014/main" id="{C6F5DBFE-4761-4C1D-91E9-B84D08C011A9}"/>
                    </a:ext>
                  </a:extLst>
                </p:cNvPr>
                <p:cNvSpPr>
                  <a:spLocks/>
                </p:cNvSpPr>
                <p:nvPr userDrawn="1"/>
              </p:nvSpPr>
              <p:spPr bwMode="auto">
                <a:xfrm>
                  <a:off x="328" y="3630"/>
                  <a:ext cx="195" cy="135"/>
                </a:xfrm>
                <a:custGeom>
                  <a:avLst/>
                  <a:gdLst>
                    <a:gd name="T0" fmla="*/ 1 w 390"/>
                    <a:gd name="T1" fmla="*/ 0 h 269"/>
                    <a:gd name="T2" fmla="*/ 1 w 390"/>
                    <a:gd name="T3" fmla="*/ 1 h 269"/>
                    <a:gd name="T4" fmla="*/ 1 w 390"/>
                    <a:gd name="T5" fmla="*/ 1 h 269"/>
                    <a:gd name="T6" fmla="*/ 0 w 390"/>
                    <a:gd name="T7" fmla="*/ 1 h 269"/>
                    <a:gd name="T8" fmla="*/ 0 w 390"/>
                    <a:gd name="T9" fmla="*/ 1 h 269"/>
                    <a:gd name="T10" fmla="*/ 1 w 390"/>
                    <a:gd name="T11" fmla="*/ 1 h 269"/>
                    <a:gd name="T12" fmla="*/ 1 w 390"/>
                    <a:gd name="T13" fmla="*/ 1 h 269"/>
                    <a:gd name="T14" fmla="*/ 1 w 390"/>
                    <a:gd name="T15" fmla="*/ 1 h 269"/>
                    <a:gd name="T16" fmla="*/ 1 w 390"/>
                    <a:gd name="T17" fmla="*/ 1 h 269"/>
                    <a:gd name="T18" fmla="*/ 1 w 390"/>
                    <a:gd name="T19" fmla="*/ 1 h 269"/>
                    <a:gd name="T20" fmla="*/ 1 w 390"/>
                    <a:gd name="T21" fmla="*/ 1 h 269"/>
                    <a:gd name="T22" fmla="*/ 1 w 390"/>
                    <a:gd name="T23" fmla="*/ 0 h 269"/>
                    <a:gd name="T24" fmla="*/ 1 w 390"/>
                    <a:gd name="T25" fmla="*/ 0 h 26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2" name="Freeform 35">
                  <a:extLst>
                    <a:ext uri="{FF2B5EF4-FFF2-40B4-BE49-F238E27FC236}">
                      <a16:creationId xmlns:a16="http://schemas.microsoft.com/office/drawing/2014/main" id="{68D6364C-27DE-42AF-BEF0-00134C3A7D06}"/>
                    </a:ext>
                  </a:extLst>
                </p:cNvPr>
                <p:cNvSpPr>
                  <a:spLocks/>
                </p:cNvSpPr>
                <p:nvPr userDrawn="1"/>
              </p:nvSpPr>
              <p:spPr bwMode="auto">
                <a:xfrm>
                  <a:off x="658" y="3538"/>
                  <a:ext cx="471" cy="212"/>
                </a:xfrm>
                <a:custGeom>
                  <a:avLst/>
                  <a:gdLst>
                    <a:gd name="T0" fmla="*/ 0 w 941"/>
                    <a:gd name="T1" fmla="*/ 1 h 424"/>
                    <a:gd name="T2" fmla="*/ 1 w 941"/>
                    <a:gd name="T3" fmla="*/ 0 h 424"/>
                    <a:gd name="T4" fmla="*/ 1 w 941"/>
                    <a:gd name="T5" fmla="*/ 1 h 424"/>
                    <a:gd name="T6" fmla="*/ 1 w 941"/>
                    <a:gd name="T7" fmla="*/ 1 h 424"/>
                    <a:gd name="T8" fmla="*/ 1 w 941"/>
                    <a:gd name="T9" fmla="*/ 1 h 424"/>
                    <a:gd name="T10" fmla="*/ 1 w 941"/>
                    <a:gd name="T11" fmla="*/ 1 h 424"/>
                    <a:gd name="T12" fmla="*/ 1 w 941"/>
                    <a:gd name="T13" fmla="*/ 1 h 424"/>
                    <a:gd name="T14" fmla="*/ 1 w 941"/>
                    <a:gd name="T15" fmla="*/ 1 h 424"/>
                    <a:gd name="T16" fmla="*/ 1 w 941"/>
                    <a:gd name="T17" fmla="*/ 1 h 424"/>
                    <a:gd name="T18" fmla="*/ 1 w 941"/>
                    <a:gd name="T19" fmla="*/ 1 h 424"/>
                    <a:gd name="T20" fmla="*/ 0 w 941"/>
                    <a:gd name="T21" fmla="*/ 1 h 424"/>
                    <a:gd name="T22" fmla="*/ 0 w 941"/>
                    <a:gd name="T23" fmla="*/ 1 h 424"/>
                    <a:gd name="T24" fmla="*/ 0 w 941"/>
                    <a:gd name="T25" fmla="*/ 1 h 4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3" name="Freeform 36">
                  <a:extLst>
                    <a:ext uri="{FF2B5EF4-FFF2-40B4-BE49-F238E27FC236}">
                      <a16:creationId xmlns:a16="http://schemas.microsoft.com/office/drawing/2014/main" id="{516EB465-E209-4506-830E-B66767FF3D76}"/>
                    </a:ext>
                  </a:extLst>
                </p:cNvPr>
                <p:cNvSpPr>
                  <a:spLocks/>
                </p:cNvSpPr>
                <p:nvPr userDrawn="1"/>
              </p:nvSpPr>
              <p:spPr bwMode="auto">
                <a:xfrm>
                  <a:off x="717" y="3606"/>
                  <a:ext cx="245" cy="86"/>
                </a:xfrm>
                <a:custGeom>
                  <a:avLst/>
                  <a:gdLst>
                    <a:gd name="T0" fmla="*/ 0 w 488"/>
                    <a:gd name="T1" fmla="*/ 0 h 173"/>
                    <a:gd name="T2" fmla="*/ 1 w 488"/>
                    <a:gd name="T3" fmla="*/ 0 h 173"/>
                    <a:gd name="T4" fmla="*/ 1 w 488"/>
                    <a:gd name="T5" fmla="*/ 0 h 173"/>
                    <a:gd name="T6" fmla="*/ 1 w 488"/>
                    <a:gd name="T7" fmla="*/ 0 h 173"/>
                    <a:gd name="T8" fmla="*/ 1 w 488"/>
                    <a:gd name="T9" fmla="*/ 0 h 173"/>
                    <a:gd name="T10" fmla="*/ 1 w 488"/>
                    <a:gd name="T11" fmla="*/ 0 h 173"/>
                    <a:gd name="T12" fmla="*/ 1 w 488"/>
                    <a:gd name="T13" fmla="*/ 0 h 173"/>
                    <a:gd name="T14" fmla="*/ 1 w 488"/>
                    <a:gd name="T15" fmla="*/ 0 h 173"/>
                    <a:gd name="T16" fmla="*/ 1 w 488"/>
                    <a:gd name="T17" fmla="*/ 0 h 173"/>
                    <a:gd name="T18" fmla="*/ 1 w 488"/>
                    <a:gd name="T19" fmla="*/ 0 h 173"/>
                    <a:gd name="T20" fmla="*/ 1 w 488"/>
                    <a:gd name="T21" fmla="*/ 0 h 173"/>
                    <a:gd name="T22" fmla="*/ 1 w 488"/>
                    <a:gd name="T23" fmla="*/ 0 h 173"/>
                    <a:gd name="T24" fmla="*/ 1 w 488"/>
                    <a:gd name="T25" fmla="*/ 0 h 173"/>
                    <a:gd name="T26" fmla="*/ 1 w 488"/>
                    <a:gd name="T27" fmla="*/ 0 h 173"/>
                    <a:gd name="T28" fmla="*/ 0 w 488"/>
                    <a:gd name="T29" fmla="*/ 0 h 173"/>
                    <a:gd name="T30" fmla="*/ 0 w 488"/>
                    <a:gd name="T31" fmla="*/ 0 h 17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grpSp>
        <p:nvGrpSpPr>
          <p:cNvPr id="1035" name="Group 37">
            <a:extLst>
              <a:ext uri="{FF2B5EF4-FFF2-40B4-BE49-F238E27FC236}">
                <a16:creationId xmlns:a16="http://schemas.microsoft.com/office/drawing/2014/main" id="{BD202D18-5511-4EE6-A614-897670B37C33}"/>
              </a:ext>
            </a:extLst>
          </p:cNvPr>
          <p:cNvGrpSpPr>
            <a:grpSpLocks/>
          </p:cNvGrpSpPr>
          <p:nvPr/>
        </p:nvGrpSpPr>
        <p:grpSpPr bwMode="auto">
          <a:xfrm>
            <a:off x="8680450" y="2116138"/>
            <a:ext cx="385763" cy="4308475"/>
            <a:chOff x="5468" y="1333"/>
            <a:chExt cx="243" cy="2714"/>
          </a:xfrm>
        </p:grpSpPr>
        <p:sp>
          <p:nvSpPr>
            <p:cNvPr id="1049" name="Freeform 38">
              <a:extLst>
                <a:ext uri="{FF2B5EF4-FFF2-40B4-BE49-F238E27FC236}">
                  <a16:creationId xmlns:a16="http://schemas.microsoft.com/office/drawing/2014/main" id="{90FEA5B2-E9B3-4EB1-BDBF-8E941DFF1297}"/>
                </a:ext>
              </a:extLst>
            </p:cNvPr>
            <p:cNvSpPr>
              <a:spLocks/>
            </p:cNvSpPr>
            <p:nvPr userDrawn="1"/>
          </p:nvSpPr>
          <p:spPr bwMode="auto">
            <a:xfrm flipH="1">
              <a:off x="5468" y="2620"/>
              <a:ext cx="205" cy="1427"/>
            </a:xfrm>
            <a:custGeom>
              <a:avLst/>
              <a:gdLst>
                <a:gd name="T0" fmla="*/ 0 w 772"/>
                <a:gd name="T1" fmla="*/ 0 h 3266"/>
                <a:gd name="T2" fmla="*/ 0 w 772"/>
                <a:gd name="T3" fmla="*/ 0 h 3266"/>
                <a:gd name="T4" fmla="*/ 0 w 772"/>
                <a:gd name="T5" fmla="*/ 0 h 3266"/>
                <a:gd name="T6" fmla="*/ 0 w 772"/>
                <a:gd name="T7" fmla="*/ 0 h 3266"/>
                <a:gd name="T8" fmla="*/ 0 w 772"/>
                <a:gd name="T9" fmla="*/ 0 h 3266"/>
                <a:gd name="T10" fmla="*/ 0 w 772"/>
                <a:gd name="T11" fmla="*/ 0 h 3266"/>
                <a:gd name="T12" fmla="*/ 0 w 772"/>
                <a:gd name="T13" fmla="*/ 0 h 3266"/>
                <a:gd name="T14" fmla="*/ 0 w 772"/>
                <a:gd name="T15" fmla="*/ 0 h 3266"/>
                <a:gd name="T16" fmla="*/ 0 w 772"/>
                <a:gd name="T17" fmla="*/ 0 h 3266"/>
                <a:gd name="T18" fmla="*/ 0 w 772"/>
                <a:gd name="T19" fmla="*/ 0 h 3266"/>
                <a:gd name="T20" fmla="*/ 0 w 772"/>
                <a:gd name="T21" fmla="*/ 0 h 3266"/>
                <a:gd name="T22" fmla="*/ 0 w 772"/>
                <a:gd name="T23" fmla="*/ 0 h 3266"/>
                <a:gd name="T24" fmla="*/ 0 w 772"/>
                <a:gd name="T25" fmla="*/ 0 h 3266"/>
                <a:gd name="T26" fmla="*/ 0 w 772"/>
                <a:gd name="T27" fmla="*/ 0 h 3266"/>
                <a:gd name="T28" fmla="*/ 0 w 772"/>
                <a:gd name="T29" fmla="*/ 0 h 3266"/>
                <a:gd name="T30" fmla="*/ 0 w 772"/>
                <a:gd name="T31" fmla="*/ 0 h 3266"/>
                <a:gd name="T32" fmla="*/ 0 w 772"/>
                <a:gd name="T33" fmla="*/ 0 h 3266"/>
                <a:gd name="T34" fmla="*/ 0 w 772"/>
                <a:gd name="T35" fmla="*/ 0 h 3266"/>
                <a:gd name="T36" fmla="*/ 0 w 772"/>
                <a:gd name="T37" fmla="*/ 0 h 3266"/>
                <a:gd name="T38" fmla="*/ 0 w 772"/>
                <a:gd name="T39" fmla="*/ 0 h 3266"/>
                <a:gd name="T40" fmla="*/ 0 w 772"/>
                <a:gd name="T41" fmla="*/ 0 h 3266"/>
                <a:gd name="T42" fmla="*/ 0 w 772"/>
                <a:gd name="T43" fmla="*/ 0 h 3266"/>
                <a:gd name="T44" fmla="*/ 0 w 772"/>
                <a:gd name="T45" fmla="*/ 0 h 3266"/>
                <a:gd name="T46" fmla="*/ 0 w 772"/>
                <a:gd name="T47" fmla="*/ 0 h 3266"/>
                <a:gd name="T48" fmla="*/ 0 w 772"/>
                <a:gd name="T49" fmla="*/ 0 h 3266"/>
                <a:gd name="T50" fmla="*/ 0 w 772"/>
                <a:gd name="T51" fmla="*/ 0 h 3266"/>
                <a:gd name="T52" fmla="*/ 0 w 772"/>
                <a:gd name="T53" fmla="*/ 0 h 3266"/>
                <a:gd name="T54" fmla="*/ 0 w 772"/>
                <a:gd name="T55" fmla="*/ 0 h 3266"/>
                <a:gd name="T56" fmla="*/ 0 w 772"/>
                <a:gd name="T57" fmla="*/ 0 h 3266"/>
                <a:gd name="T58" fmla="*/ 0 w 772"/>
                <a:gd name="T59" fmla="*/ 0 h 3266"/>
                <a:gd name="T60" fmla="*/ 0 w 772"/>
                <a:gd name="T61" fmla="*/ 0 h 3266"/>
                <a:gd name="T62" fmla="*/ 0 w 772"/>
                <a:gd name="T63" fmla="*/ 0 h 3266"/>
                <a:gd name="T64" fmla="*/ 0 w 772"/>
                <a:gd name="T65" fmla="*/ 0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0" name="Freeform 39">
              <a:extLst>
                <a:ext uri="{FF2B5EF4-FFF2-40B4-BE49-F238E27FC236}">
                  <a16:creationId xmlns:a16="http://schemas.microsoft.com/office/drawing/2014/main" id="{C01248F9-A50B-4F6E-84D1-088935B0242A}"/>
                </a:ext>
              </a:extLst>
            </p:cNvPr>
            <p:cNvSpPr>
              <a:spLocks/>
            </p:cNvSpPr>
            <p:nvPr userDrawn="1"/>
          </p:nvSpPr>
          <p:spPr bwMode="auto">
            <a:xfrm flipH="1">
              <a:off x="5506" y="1333"/>
              <a:ext cx="205" cy="1633"/>
            </a:xfrm>
            <a:custGeom>
              <a:avLst/>
              <a:gdLst>
                <a:gd name="T0" fmla="*/ 0 w 772"/>
                <a:gd name="T1" fmla="*/ 1 h 3266"/>
                <a:gd name="T2" fmla="*/ 0 w 772"/>
                <a:gd name="T3" fmla="*/ 1 h 3266"/>
                <a:gd name="T4" fmla="*/ 0 w 772"/>
                <a:gd name="T5" fmla="*/ 1 h 3266"/>
                <a:gd name="T6" fmla="*/ 0 w 772"/>
                <a:gd name="T7" fmla="*/ 1 h 3266"/>
                <a:gd name="T8" fmla="*/ 0 w 772"/>
                <a:gd name="T9" fmla="*/ 1 h 3266"/>
                <a:gd name="T10" fmla="*/ 0 w 772"/>
                <a:gd name="T11" fmla="*/ 1 h 3266"/>
                <a:gd name="T12" fmla="*/ 0 w 772"/>
                <a:gd name="T13" fmla="*/ 1 h 3266"/>
                <a:gd name="T14" fmla="*/ 0 w 772"/>
                <a:gd name="T15" fmla="*/ 1 h 3266"/>
                <a:gd name="T16" fmla="*/ 0 w 772"/>
                <a:gd name="T17" fmla="*/ 1 h 3266"/>
                <a:gd name="T18" fmla="*/ 0 w 772"/>
                <a:gd name="T19" fmla="*/ 1 h 3266"/>
                <a:gd name="T20" fmla="*/ 0 w 772"/>
                <a:gd name="T21" fmla="*/ 1 h 3266"/>
                <a:gd name="T22" fmla="*/ 0 w 772"/>
                <a:gd name="T23" fmla="*/ 1 h 3266"/>
                <a:gd name="T24" fmla="*/ 0 w 772"/>
                <a:gd name="T25" fmla="*/ 1 h 3266"/>
                <a:gd name="T26" fmla="*/ 0 w 772"/>
                <a:gd name="T27" fmla="*/ 1 h 3266"/>
                <a:gd name="T28" fmla="*/ 0 w 772"/>
                <a:gd name="T29" fmla="*/ 1 h 3266"/>
                <a:gd name="T30" fmla="*/ 0 w 772"/>
                <a:gd name="T31" fmla="*/ 0 h 3266"/>
                <a:gd name="T32" fmla="*/ 0 w 772"/>
                <a:gd name="T33" fmla="*/ 1 h 3266"/>
                <a:gd name="T34" fmla="*/ 0 w 772"/>
                <a:gd name="T35" fmla="*/ 1 h 3266"/>
                <a:gd name="T36" fmla="*/ 0 w 772"/>
                <a:gd name="T37" fmla="*/ 1 h 3266"/>
                <a:gd name="T38" fmla="*/ 0 w 772"/>
                <a:gd name="T39" fmla="*/ 1 h 3266"/>
                <a:gd name="T40" fmla="*/ 0 w 772"/>
                <a:gd name="T41" fmla="*/ 1 h 3266"/>
                <a:gd name="T42" fmla="*/ 0 w 772"/>
                <a:gd name="T43" fmla="*/ 1 h 3266"/>
                <a:gd name="T44" fmla="*/ 0 w 772"/>
                <a:gd name="T45" fmla="*/ 1 h 3266"/>
                <a:gd name="T46" fmla="*/ 0 w 772"/>
                <a:gd name="T47" fmla="*/ 1 h 3266"/>
                <a:gd name="T48" fmla="*/ 0 w 772"/>
                <a:gd name="T49" fmla="*/ 1 h 3266"/>
                <a:gd name="T50" fmla="*/ 0 w 772"/>
                <a:gd name="T51" fmla="*/ 1 h 3266"/>
                <a:gd name="T52" fmla="*/ 0 w 772"/>
                <a:gd name="T53" fmla="*/ 1 h 3266"/>
                <a:gd name="T54" fmla="*/ 0 w 772"/>
                <a:gd name="T55" fmla="*/ 1 h 3266"/>
                <a:gd name="T56" fmla="*/ 0 w 772"/>
                <a:gd name="T57" fmla="*/ 1 h 3266"/>
                <a:gd name="T58" fmla="*/ 0 w 772"/>
                <a:gd name="T59" fmla="*/ 1 h 3266"/>
                <a:gd name="T60" fmla="*/ 0 w 772"/>
                <a:gd name="T61" fmla="*/ 1 h 3266"/>
                <a:gd name="T62" fmla="*/ 0 w 772"/>
                <a:gd name="T63" fmla="*/ 1 h 3266"/>
                <a:gd name="T64" fmla="*/ 0 w 772"/>
                <a:gd name="T65" fmla="*/ 1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036" name="Group 40">
            <a:extLst>
              <a:ext uri="{FF2B5EF4-FFF2-40B4-BE49-F238E27FC236}">
                <a16:creationId xmlns:a16="http://schemas.microsoft.com/office/drawing/2014/main" id="{12DD0A26-1179-4C4E-9547-652B78B43954}"/>
              </a:ext>
            </a:extLst>
          </p:cNvPr>
          <p:cNvGrpSpPr>
            <a:grpSpLocks/>
          </p:cNvGrpSpPr>
          <p:nvPr/>
        </p:nvGrpSpPr>
        <p:grpSpPr bwMode="auto">
          <a:xfrm>
            <a:off x="7318375" y="90488"/>
            <a:ext cx="2133600" cy="1911350"/>
            <a:chOff x="4610" y="57"/>
            <a:chExt cx="1344" cy="1204"/>
          </a:xfrm>
        </p:grpSpPr>
        <p:grpSp>
          <p:nvGrpSpPr>
            <p:cNvPr id="1037" name="Group 41">
              <a:extLst>
                <a:ext uri="{FF2B5EF4-FFF2-40B4-BE49-F238E27FC236}">
                  <a16:creationId xmlns:a16="http://schemas.microsoft.com/office/drawing/2014/main" id="{068AA673-B044-456C-B9AE-E4B2ABA667AB}"/>
                </a:ext>
              </a:extLst>
            </p:cNvPr>
            <p:cNvGrpSpPr>
              <a:grpSpLocks/>
            </p:cNvGrpSpPr>
            <p:nvPr userDrawn="1"/>
          </p:nvGrpSpPr>
          <p:grpSpPr bwMode="auto">
            <a:xfrm>
              <a:off x="4610" y="57"/>
              <a:ext cx="1344" cy="1204"/>
              <a:chOff x="4610" y="57"/>
              <a:chExt cx="1344" cy="1204"/>
            </a:xfrm>
          </p:grpSpPr>
          <p:sp>
            <p:nvSpPr>
              <p:cNvPr id="1039" name="Freeform 42">
                <a:extLst>
                  <a:ext uri="{FF2B5EF4-FFF2-40B4-BE49-F238E27FC236}">
                    <a16:creationId xmlns:a16="http://schemas.microsoft.com/office/drawing/2014/main" id="{F38B11FD-324F-4635-AB88-E8FC5F361A35}"/>
                  </a:ext>
                </a:extLst>
              </p:cNvPr>
              <p:cNvSpPr>
                <a:spLocks/>
              </p:cNvSpPr>
              <p:nvPr userDrawn="1"/>
            </p:nvSpPr>
            <p:spPr bwMode="auto">
              <a:xfrm rot="-3172564">
                <a:off x="5430" y="1086"/>
                <a:ext cx="62" cy="288"/>
              </a:xfrm>
              <a:custGeom>
                <a:avLst/>
                <a:gdLst>
                  <a:gd name="T0" fmla="*/ 0 w 245"/>
                  <a:gd name="T1" fmla="*/ 0 h 806"/>
                  <a:gd name="T2" fmla="*/ 0 w 245"/>
                  <a:gd name="T3" fmla="*/ 0 h 806"/>
                  <a:gd name="T4" fmla="*/ 0 w 245"/>
                  <a:gd name="T5" fmla="*/ 0 h 806"/>
                  <a:gd name="T6" fmla="*/ 0 w 245"/>
                  <a:gd name="T7" fmla="*/ 0 h 806"/>
                  <a:gd name="T8" fmla="*/ 0 w 245"/>
                  <a:gd name="T9" fmla="*/ 0 h 806"/>
                  <a:gd name="T10" fmla="*/ 0 w 245"/>
                  <a:gd name="T11" fmla="*/ 0 h 806"/>
                  <a:gd name="T12" fmla="*/ 0 w 245"/>
                  <a:gd name="T13" fmla="*/ 0 h 806"/>
                  <a:gd name="T14" fmla="*/ 0 w 245"/>
                  <a:gd name="T15" fmla="*/ 0 h 8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5" h="806">
                    <a:moveTo>
                      <a:pt x="123" y="9"/>
                    </a:moveTo>
                    <a:lnTo>
                      <a:pt x="131" y="342"/>
                    </a:lnTo>
                    <a:lnTo>
                      <a:pt x="0" y="806"/>
                    </a:lnTo>
                    <a:lnTo>
                      <a:pt x="79" y="789"/>
                    </a:lnTo>
                    <a:lnTo>
                      <a:pt x="218" y="376"/>
                    </a:lnTo>
                    <a:lnTo>
                      <a:pt x="245" y="0"/>
                    </a:lnTo>
                    <a:lnTo>
                      <a:pt x="123" y="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40" name="Group 43">
                <a:extLst>
                  <a:ext uri="{FF2B5EF4-FFF2-40B4-BE49-F238E27FC236}">
                    <a16:creationId xmlns:a16="http://schemas.microsoft.com/office/drawing/2014/main" id="{BC185B9E-17B8-455B-8B1F-FE39512A91D2}"/>
                  </a:ext>
                </a:extLst>
              </p:cNvPr>
              <p:cNvGrpSpPr>
                <a:grpSpLocks/>
              </p:cNvGrpSpPr>
              <p:nvPr userDrawn="1"/>
            </p:nvGrpSpPr>
            <p:grpSpPr bwMode="auto">
              <a:xfrm>
                <a:off x="4610" y="57"/>
                <a:ext cx="1344" cy="985"/>
                <a:chOff x="4610" y="57"/>
                <a:chExt cx="1344" cy="985"/>
              </a:xfrm>
            </p:grpSpPr>
            <p:sp>
              <p:nvSpPr>
                <p:cNvPr id="1041" name="Freeform 44">
                  <a:extLst>
                    <a:ext uri="{FF2B5EF4-FFF2-40B4-BE49-F238E27FC236}">
                      <a16:creationId xmlns:a16="http://schemas.microsoft.com/office/drawing/2014/main" id="{59B2A411-80F6-4FD6-8844-2D1F6B7326E5}"/>
                    </a:ext>
                  </a:extLst>
                </p:cNvPr>
                <p:cNvSpPr>
                  <a:spLocks/>
                </p:cNvSpPr>
                <p:nvPr userDrawn="1"/>
              </p:nvSpPr>
              <p:spPr bwMode="auto">
                <a:xfrm rot="-3172564">
                  <a:off x="4966" y="71"/>
                  <a:ext cx="153" cy="125"/>
                </a:xfrm>
                <a:custGeom>
                  <a:avLst/>
                  <a:gdLst>
                    <a:gd name="T0" fmla="*/ 0 w 604"/>
                    <a:gd name="T1" fmla="*/ 0 h 349"/>
                    <a:gd name="T2" fmla="*/ 0 w 604"/>
                    <a:gd name="T3" fmla="*/ 0 h 349"/>
                    <a:gd name="T4" fmla="*/ 0 w 604"/>
                    <a:gd name="T5" fmla="*/ 0 h 349"/>
                    <a:gd name="T6" fmla="*/ 0 w 604"/>
                    <a:gd name="T7" fmla="*/ 0 h 349"/>
                    <a:gd name="T8" fmla="*/ 0 w 604"/>
                    <a:gd name="T9" fmla="*/ 0 h 349"/>
                    <a:gd name="T10" fmla="*/ 0 w 604"/>
                    <a:gd name="T11" fmla="*/ 0 h 349"/>
                    <a:gd name="T12" fmla="*/ 0 w 604"/>
                    <a:gd name="T13" fmla="*/ 0 h 349"/>
                    <a:gd name="T14" fmla="*/ 0 w 604"/>
                    <a:gd name="T15" fmla="*/ 0 h 349"/>
                    <a:gd name="T16" fmla="*/ 0 w 604"/>
                    <a:gd name="T17" fmla="*/ 0 h 3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4" h="349">
                      <a:moveTo>
                        <a:pt x="0" y="0"/>
                      </a:moveTo>
                      <a:lnTo>
                        <a:pt x="298" y="184"/>
                      </a:lnTo>
                      <a:lnTo>
                        <a:pt x="500" y="349"/>
                      </a:lnTo>
                      <a:lnTo>
                        <a:pt x="604" y="140"/>
                      </a:lnTo>
                      <a:lnTo>
                        <a:pt x="359" y="9"/>
                      </a:lnTo>
                      <a:lnTo>
                        <a:pt x="464" y="184"/>
                      </a:lnTo>
                      <a:lnTo>
                        <a:pt x="131" y="17"/>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2" name="Freeform 45">
                  <a:extLst>
                    <a:ext uri="{FF2B5EF4-FFF2-40B4-BE49-F238E27FC236}">
                      <a16:creationId xmlns:a16="http://schemas.microsoft.com/office/drawing/2014/main" id="{FF367B4C-6927-4945-B90B-2B68944AD084}"/>
                    </a:ext>
                  </a:extLst>
                </p:cNvPr>
                <p:cNvSpPr>
                  <a:spLocks/>
                </p:cNvSpPr>
                <p:nvPr userDrawn="1"/>
              </p:nvSpPr>
              <p:spPr bwMode="auto">
                <a:xfrm rot="-3172564">
                  <a:off x="5052" y="328"/>
                  <a:ext cx="269" cy="438"/>
                </a:xfrm>
                <a:custGeom>
                  <a:avLst/>
                  <a:gdLst>
                    <a:gd name="T0" fmla="*/ 0 w 1064"/>
                    <a:gd name="T1" fmla="*/ 0 h 1230"/>
                    <a:gd name="T2" fmla="*/ 0 w 1064"/>
                    <a:gd name="T3" fmla="*/ 0 h 1230"/>
                    <a:gd name="T4" fmla="*/ 0 w 1064"/>
                    <a:gd name="T5" fmla="*/ 0 h 1230"/>
                    <a:gd name="T6" fmla="*/ 0 w 1064"/>
                    <a:gd name="T7" fmla="*/ 0 h 1230"/>
                    <a:gd name="T8" fmla="*/ 0 w 1064"/>
                    <a:gd name="T9" fmla="*/ 0 h 1230"/>
                    <a:gd name="T10" fmla="*/ 0 w 1064"/>
                    <a:gd name="T11" fmla="*/ 0 h 1230"/>
                    <a:gd name="T12" fmla="*/ 0 w 1064"/>
                    <a:gd name="T13" fmla="*/ 0 h 1230"/>
                    <a:gd name="T14" fmla="*/ 0 w 1064"/>
                    <a:gd name="T15" fmla="*/ 0 h 1230"/>
                    <a:gd name="T16" fmla="*/ 0 w 1064"/>
                    <a:gd name="T17" fmla="*/ 0 h 1230"/>
                    <a:gd name="T18" fmla="*/ 0 w 1064"/>
                    <a:gd name="T19" fmla="*/ 0 h 1230"/>
                    <a:gd name="T20" fmla="*/ 0 w 1064"/>
                    <a:gd name="T21" fmla="*/ 0 h 1230"/>
                    <a:gd name="T22" fmla="*/ 0 w 1064"/>
                    <a:gd name="T23" fmla="*/ 0 h 1230"/>
                    <a:gd name="T24" fmla="*/ 0 w 1064"/>
                    <a:gd name="T25" fmla="*/ 0 h 1230"/>
                    <a:gd name="T26" fmla="*/ 0 w 1064"/>
                    <a:gd name="T27" fmla="*/ 0 h 1230"/>
                    <a:gd name="T28" fmla="*/ 0 w 1064"/>
                    <a:gd name="T29" fmla="*/ 0 h 1230"/>
                    <a:gd name="T30" fmla="*/ 0 w 1064"/>
                    <a:gd name="T31" fmla="*/ 0 h 1230"/>
                    <a:gd name="T32" fmla="*/ 0 w 1064"/>
                    <a:gd name="T33" fmla="*/ 0 h 1230"/>
                    <a:gd name="T34" fmla="*/ 0 w 1064"/>
                    <a:gd name="T35" fmla="*/ 0 h 1230"/>
                    <a:gd name="T36" fmla="*/ 0 w 1064"/>
                    <a:gd name="T37" fmla="*/ 0 h 1230"/>
                    <a:gd name="T38" fmla="*/ 0 w 1064"/>
                    <a:gd name="T39" fmla="*/ 0 h 1230"/>
                    <a:gd name="T40" fmla="*/ 0 w 1064"/>
                    <a:gd name="T41" fmla="*/ 0 h 1230"/>
                    <a:gd name="T42" fmla="*/ 0 w 1064"/>
                    <a:gd name="T43" fmla="*/ 0 h 12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3" name="Freeform 46">
                  <a:extLst>
                    <a:ext uri="{FF2B5EF4-FFF2-40B4-BE49-F238E27FC236}">
                      <a16:creationId xmlns:a16="http://schemas.microsoft.com/office/drawing/2014/main" id="{037F8B39-4005-4CD6-948A-C88708B25E48}"/>
                    </a:ext>
                  </a:extLst>
                </p:cNvPr>
                <p:cNvSpPr>
                  <a:spLocks/>
                </p:cNvSpPr>
                <p:nvPr userDrawn="1"/>
              </p:nvSpPr>
              <p:spPr bwMode="auto">
                <a:xfrm rot="-3172564">
                  <a:off x="4862" y="178"/>
                  <a:ext cx="505" cy="898"/>
                </a:xfrm>
                <a:custGeom>
                  <a:avLst/>
                  <a:gdLst>
                    <a:gd name="T0" fmla="*/ 0 w 2002"/>
                    <a:gd name="T1" fmla="*/ 0 h 2521"/>
                    <a:gd name="T2" fmla="*/ 0 w 2002"/>
                    <a:gd name="T3" fmla="*/ 0 h 2521"/>
                    <a:gd name="T4" fmla="*/ 0 w 2002"/>
                    <a:gd name="T5" fmla="*/ 0 h 2521"/>
                    <a:gd name="T6" fmla="*/ 0 w 2002"/>
                    <a:gd name="T7" fmla="*/ 0 h 2521"/>
                    <a:gd name="T8" fmla="*/ 0 w 2002"/>
                    <a:gd name="T9" fmla="*/ 0 h 2521"/>
                    <a:gd name="T10" fmla="*/ 0 w 2002"/>
                    <a:gd name="T11" fmla="*/ 0 h 252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02" h="2521">
                      <a:moveTo>
                        <a:pt x="1941" y="0"/>
                      </a:moveTo>
                      <a:lnTo>
                        <a:pt x="0" y="2521"/>
                      </a:lnTo>
                      <a:lnTo>
                        <a:pt x="192" y="2450"/>
                      </a:lnTo>
                      <a:lnTo>
                        <a:pt x="2002" y="61"/>
                      </a:lnTo>
                      <a:lnTo>
                        <a:pt x="1941"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4" name="Freeform 47">
                  <a:extLst>
                    <a:ext uri="{FF2B5EF4-FFF2-40B4-BE49-F238E27FC236}">
                      <a16:creationId xmlns:a16="http://schemas.microsoft.com/office/drawing/2014/main" id="{B26BA2AE-A2FD-4369-A040-BCDCE98717A5}"/>
                    </a:ext>
                  </a:extLst>
                </p:cNvPr>
                <p:cNvSpPr>
                  <a:spLocks/>
                </p:cNvSpPr>
                <p:nvPr userDrawn="1"/>
              </p:nvSpPr>
              <p:spPr bwMode="auto">
                <a:xfrm rot="-3172564">
                  <a:off x="4903" y="-19"/>
                  <a:ext cx="758" cy="1344"/>
                </a:xfrm>
                <a:custGeom>
                  <a:avLst/>
                  <a:gdLst>
                    <a:gd name="T0" fmla="*/ 0 w 3007"/>
                    <a:gd name="T1" fmla="*/ 0 h 3771"/>
                    <a:gd name="T2" fmla="*/ 0 w 3007"/>
                    <a:gd name="T3" fmla="*/ 0 h 3771"/>
                    <a:gd name="T4" fmla="*/ 0 w 3007"/>
                    <a:gd name="T5" fmla="*/ 0 h 3771"/>
                    <a:gd name="T6" fmla="*/ 0 w 3007"/>
                    <a:gd name="T7" fmla="*/ 0 h 3771"/>
                    <a:gd name="T8" fmla="*/ 0 w 3007"/>
                    <a:gd name="T9" fmla="*/ 0 h 3771"/>
                    <a:gd name="T10" fmla="*/ 0 w 3007"/>
                    <a:gd name="T11" fmla="*/ 0 h 3771"/>
                    <a:gd name="T12" fmla="*/ 0 w 3007"/>
                    <a:gd name="T13" fmla="*/ 0 h 3771"/>
                    <a:gd name="T14" fmla="*/ 0 w 3007"/>
                    <a:gd name="T15" fmla="*/ 0 h 3771"/>
                    <a:gd name="T16" fmla="*/ 0 w 3007"/>
                    <a:gd name="T17" fmla="*/ 0 h 3771"/>
                    <a:gd name="T18" fmla="*/ 0 w 3007"/>
                    <a:gd name="T19" fmla="*/ 0 h 3771"/>
                    <a:gd name="T20" fmla="*/ 0 w 3007"/>
                    <a:gd name="T21" fmla="*/ 0 h 3771"/>
                    <a:gd name="T22" fmla="*/ 0 w 3007"/>
                    <a:gd name="T23" fmla="*/ 0 h 3771"/>
                    <a:gd name="T24" fmla="*/ 0 w 3007"/>
                    <a:gd name="T25" fmla="*/ 0 h 3771"/>
                    <a:gd name="T26" fmla="*/ 0 w 3007"/>
                    <a:gd name="T27" fmla="*/ 0 h 3771"/>
                    <a:gd name="T28" fmla="*/ 0 w 3007"/>
                    <a:gd name="T29" fmla="*/ 0 h 3771"/>
                    <a:gd name="T30" fmla="*/ 0 w 3007"/>
                    <a:gd name="T31" fmla="*/ 0 h 3771"/>
                    <a:gd name="T32" fmla="*/ 0 w 3007"/>
                    <a:gd name="T33" fmla="*/ 0 h 3771"/>
                    <a:gd name="T34" fmla="*/ 0 w 3007"/>
                    <a:gd name="T35" fmla="*/ 0 h 3771"/>
                    <a:gd name="T36" fmla="*/ 0 w 3007"/>
                    <a:gd name="T37" fmla="*/ 0 h 3771"/>
                    <a:gd name="T38" fmla="*/ 0 w 3007"/>
                    <a:gd name="T39" fmla="*/ 0 h 3771"/>
                    <a:gd name="T40" fmla="*/ 0 w 3007"/>
                    <a:gd name="T41" fmla="*/ 0 h 3771"/>
                    <a:gd name="T42" fmla="*/ 0 w 3007"/>
                    <a:gd name="T43" fmla="*/ 0 h 3771"/>
                    <a:gd name="T44" fmla="*/ 0 w 3007"/>
                    <a:gd name="T45" fmla="*/ 0 h 3771"/>
                    <a:gd name="T46" fmla="*/ 0 w 3007"/>
                    <a:gd name="T47" fmla="*/ 0 h 3771"/>
                    <a:gd name="T48" fmla="*/ 0 w 3007"/>
                    <a:gd name="T49" fmla="*/ 0 h 3771"/>
                    <a:gd name="T50" fmla="*/ 0 w 3007"/>
                    <a:gd name="T51" fmla="*/ 0 h 3771"/>
                    <a:gd name="T52" fmla="*/ 0 w 3007"/>
                    <a:gd name="T53" fmla="*/ 0 h 37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 name="Freeform 48">
                  <a:extLst>
                    <a:ext uri="{FF2B5EF4-FFF2-40B4-BE49-F238E27FC236}">
                      <a16:creationId xmlns:a16="http://schemas.microsoft.com/office/drawing/2014/main" id="{659D7C61-9D88-4607-AFED-9F42C88E4006}"/>
                    </a:ext>
                  </a:extLst>
                </p:cNvPr>
                <p:cNvSpPr>
                  <a:spLocks/>
                </p:cNvSpPr>
                <p:nvPr userDrawn="1"/>
              </p:nvSpPr>
              <p:spPr bwMode="auto">
                <a:xfrm rot="-3172564">
                  <a:off x="5301" y="893"/>
                  <a:ext cx="169" cy="122"/>
                </a:xfrm>
                <a:custGeom>
                  <a:avLst/>
                  <a:gdLst>
                    <a:gd name="T0" fmla="*/ 0 w 673"/>
                    <a:gd name="T1" fmla="*/ 0 h 342"/>
                    <a:gd name="T2" fmla="*/ 0 w 673"/>
                    <a:gd name="T3" fmla="*/ 0 h 342"/>
                    <a:gd name="T4" fmla="*/ 0 w 673"/>
                    <a:gd name="T5" fmla="*/ 0 h 342"/>
                    <a:gd name="T6" fmla="*/ 0 w 673"/>
                    <a:gd name="T7" fmla="*/ 0 h 342"/>
                    <a:gd name="T8" fmla="*/ 0 w 673"/>
                    <a:gd name="T9" fmla="*/ 0 h 342"/>
                    <a:gd name="T10" fmla="*/ 0 w 673"/>
                    <a:gd name="T11" fmla="*/ 0 h 342"/>
                    <a:gd name="T12" fmla="*/ 0 w 673"/>
                    <a:gd name="T13" fmla="*/ 0 h 342"/>
                    <a:gd name="T14" fmla="*/ 0 w 673"/>
                    <a:gd name="T15" fmla="*/ 0 h 34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3" h="342">
                      <a:moveTo>
                        <a:pt x="0" y="80"/>
                      </a:moveTo>
                      <a:lnTo>
                        <a:pt x="255" y="106"/>
                      </a:lnTo>
                      <a:lnTo>
                        <a:pt x="639" y="342"/>
                      </a:lnTo>
                      <a:lnTo>
                        <a:pt x="673" y="289"/>
                      </a:lnTo>
                      <a:lnTo>
                        <a:pt x="447" y="114"/>
                      </a:lnTo>
                      <a:lnTo>
                        <a:pt x="26" y="0"/>
                      </a:lnTo>
                      <a:lnTo>
                        <a:pt x="0" y="8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6" name="Freeform 49">
                  <a:extLst>
                    <a:ext uri="{FF2B5EF4-FFF2-40B4-BE49-F238E27FC236}">
                      <a16:creationId xmlns:a16="http://schemas.microsoft.com/office/drawing/2014/main" id="{0D55D2E7-398E-40B4-991B-C721F3C393CF}"/>
                    </a:ext>
                  </a:extLst>
                </p:cNvPr>
                <p:cNvSpPr>
                  <a:spLocks/>
                </p:cNvSpPr>
                <p:nvPr userDrawn="1"/>
              </p:nvSpPr>
              <p:spPr bwMode="auto">
                <a:xfrm rot="-3172564">
                  <a:off x="5253" y="802"/>
                  <a:ext cx="181" cy="144"/>
                </a:xfrm>
                <a:custGeom>
                  <a:avLst/>
                  <a:gdLst>
                    <a:gd name="T0" fmla="*/ 0 w 716"/>
                    <a:gd name="T1" fmla="*/ 0 h 403"/>
                    <a:gd name="T2" fmla="*/ 0 w 716"/>
                    <a:gd name="T3" fmla="*/ 0 h 403"/>
                    <a:gd name="T4" fmla="*/ 0 w 716"/>
                    <a:gd name="T5" fmla="*/ 0 h 403"/>
                    <a:gd name="T6" fmla="*/ 0 w 716"/>
                    <a:gd name="T7" fmla="*/ 0 h 403"/>
                    <a:gd name="T8" fmla="*/ 0 w 716"/>
                    <a:gd name="T9" fmla="*/ 0 h 403"/>
                    <a:gd name="T10" fmla="*/ 0 w 716"/>
                    <a:gd name="T11" fmla="*/ 0 h 403"/>
                    <a:gd name="T12" fmla="*/ 0 w 716"/>
                    <a:gd name="T13" fmla="*/ 0 h 403"/>
                    <a:gd name="T14" fmla="*/ 0 w 716"/>
                    <a:gd name="T15" fmla="*/ 0 h 40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6" h="403">
                      <a:moveTo>
                        <a:pt x="0" y="78"/>
                      </a:moveTo>
                      <a:lnTo>
                        <a:pt x="340" y="148"/>
                      </a:lnTo>
                      <a:lnTo>
                        <a:pt x="638" y="403"/>
                      </a:lnTo>
                      <a:lnTo>
                        <a:pt x="716" y="296"/>
                      </a:lnTo>
                      <a:lnTo>
                        <a:pt x="420" y="114"/>
                      </a:lnTo>
                      <a:lnTo>
                        <a:pt x="70"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7" name="Freeform 50">
                  <a:extLst>
                    <a:ext uri="{FF2B5EF4-FFF2-40B4-BE49-F238E27FC236}">
                      <a16:creationId xmlns:a16="http://schemas.microsoft.com/office/drawing/2014/main" id="{718B8416-8105-479B-89D3-028D96A63791}"/>
                    </a:ext>
                  </a:extLst>
                </p:cNvPr>
                <p:cNvSpPr>
                  <a:spLocks/>
                </p:cNvSpPr>
                <p:nvPr userDrawn="1"/>
              </p:nvSpPr>
              <p:spPr bwMode="auto">
                <a:xfrm rot="-3172564">
                  <a:off x="4985" y="210"/>
                  <a:ext cx="181" cy="147"/>
                </a:xfrm>
                <a:custGeom>
                  <a:avLst/>
                  <a:gdLst>
                    <a:gd name="T0" fmla="*/ 0 w 717"/>
                    <a:gd name="T1" fmla="*/ 0 h 411"/>
                    <a:gd name="T2" fmla="*/ 0 w 717"/>
                    <a:gd name="T3" fmla="*/ 0 h 411"/>
                    <a:gd name="T4" fmla="*/ 0 w 717"/>
                    <a:gd name="T5" fmla="*/ 0 h 411"/>
                    <a:gd name="T6" fmla="*/ 0 w 717"/>
                    <a:gd name="T7" fmla="*/ 0 h 411"/>
                    <a:gd name="T8" fmla="*/ 0 w 717"/>
                    <a:gd name="T9" fmla="*/ 0 h 411"/>
                    <a:gd name="T10" fmla="*/ 0 w 717"/>
                    <a:gd name="T11" fmla="*/ 0 h 411"/>
                    <a:gd name="T12" fmla="*/ 0 w 717"/>
                    <a:gd name="T13" fmla="*/ 0 h 411"/>
                    <a:gd name="T14" fmla="*/ 0 w 717"/>
                    <a:gd name="T15" fmla="*/ 0 h 41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7" h="411">
                      <a:moveTo>
                        <a:pt x="0" y="78"/>
                      </a:moveTo>
                      <a:lnTo>
                        <a:pt x="316" y="139"/>
                      </a:lnTo>
                      <a:lnTo>
                        <a:pt x="649" y="411"/>
                      </a:lnTo>
                      <a:lnTo>
                        <a:pt x="717" y="314"/>
                      </a:lnTo>
                      <a:lnTo>
                        <a:pt x="394" y="87"/>
                      </a:lnTo>
                      <a:lnTo>
                        <a:pt x="54"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8" name="Freeform 51">
                  <a:extLst>
                    <a:ext uri="{FF2B5EF4-FFF2-40B4-BE49-F238E27FC236}">
                      <a16:creationId xmlns:a16="http://schemas.microsoft.com/office/drawing/2014/main" id="{B5D18A6E-1F3E-4DE9-AE06-A545B8CC4661}"/>
                    </a:ext>
                  </a:extLst>
                </p:cNvPr>
                <p:cNvSpPr>
                  <a:spLocks/>
                </p:cNvSpPr>
                <p:nvPr userDrawn="1"/>
              </p:nvSpPr>
              <p:spPr bwMode="auto">
                <a:xfrm rot="-3172564">
                  <a:off x="4951" y="138"/>
                  <a:ext cx="179" cy="138"/>
                </a:xfrm>
                <a:custGeom>
                  <a:avLst/>
                  <a:gdLst>
                    <a:gd name="T0" fmla="*/ 0 w 709"/>
                    <a:gd name="T1" fmla="*/ 0 h 386"/>
                    <a:gd name="T2" fmla="*/ 0 w 709"/>
                    <a:gd name="T3" fmla="*/ 0 h 386"/>
                    <a:gd name="T4" fmla="*/ 0 w 709"/>
                    <a:gd name="T5" fmla="*/ 0 h 386"/>
                    <a:gd name="T6" fmla="*/ 0 w 709"/>
                    <a:gd name="T7" fmla="*/ 0 h 386"/>
                    <a:gd name="T8" fmla="*/ 0 w 709"/>
                    <a:gd name="T9" fmla="*/ 0 h 386"/>
                    <a:gd name="T10" fmla="*/ 0 w 709"/>
                    <a:gd name="T11" fmla="*/ 0 h 386"/>
                    <a:gd name="T12" fmla="*/ 0 w 709"/>
                    <a:gd name="T13" fmla="*/ 0 h 386"/>
                    <a:gd name="T14" fmla="*/ 0 w 709"/>
                    <a:gd name="T15" fmla="*/ 0 h 3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9" h="386">
                      <a:moveTo>
                        <a:pt x="0" y="88"/>
                      </a:moveTo>
                      <a:lnTo>
                        <a:pt x="272" y="131"/>
                      </a:lnTo>
                      <a:lnTo>
                        <a:pt x="665" y="386"/>
                      </a:lnTo>
                      <a:lnTo>
                        <a:pt x="709" y="308"/>
                      </a:lnTo>
                      <a:lnTo>
                        <a:pt x="306" y="53"/>
                      </a:lnTo>
                      <a:lnTo>
                        <a:pt x="43" y="0"/>
                      </a:lnTo>
                      <a:lnTo>
                        <a:pt x="0" y="8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038" name="Line 52">
              <a:extLst>
                <a:ext uri="{FF2B5EF4-FFF2-40B4-BE49-F238E27FC236}">
                  <a16:creationId xmlns:a16="http://schemas.microsoft.com/office/drawing/2014/main" id="{3FC8D388-AFBD-4118-B946-AFA5E029AC29}"/>
                </a:ext>
              </a:extLst>
            </p:cNvPr>
            <p:cNvSpPr>
              <a:spLocks noChangeShapeType="1"/>
            </p:cNvSpPr>
            <p:nvPr userDrawn="1"/>
          </p:nvSpPr>
          <p:spPr bwMode="auto">
            <a:xfrm>
              <a:off x="4870" y="84"/>
              <a:ext cx="42" cy="96"/>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 bg1="lt1" tx1="dk1" bg2="lt2" tx2="dk2" accent1="accent1" accent2="accent2" accent3="accent3" accent4="accent4" accent5="accent5" accent6="accent6" hlink="hlink" folHlink="folHlink"/>
  <p:sldLayoutIdLst>
    <p:sldLayoutId id="2147484358" r:id="rId1"/>
    <p:sldLayoutId id="2147484359" r:id="rId2"/>
    <p:sldLayoutId id="2147484360" r:id="rId3"/>
    <p:sldLayoutId id="2147484361" r:id="rId4"/>
    <p:sldLayoutId id="2147484362" r:id="rId5"/>
    <p:sldLayoutId id="2147484363" r:id="rId6"/>
    <p:sldLayoutId id="2147484364" r:id="rId7"/>
    <p:sldLayoutId id="2147484365" r:id="rId8"/>
    <p:sldLayoutId id="2147484366" r:id="rId9"/>
    <p:sldLayoutId id="2147484367" r:id="rId10"/>
    <p:sldLayoutId id="2147484368" r:id="rId11"/>
    <p:sldLayoutId id="2147484369" r:id="rId12"/>
    <p:sldLayoutId id="2147484370" r:id="rId13"/>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5pPr>
      <a:lvl6pPr marL="4572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6pPr>
      <a:lvl7pPr marL="9144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7pPr>
      <a:lvl8pPr marL="13716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8pPr>
      <a:lvl9pPr marL="18288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notesSlide" Target="../notesSlides/notesSlide2.xml"/><Relationship Id="rId7" Type="http://schemas.openxmlformats.org/officeDocument/2006/relationships/oleObject" Target="../embeddings/oleObject2.bin"/><Relationship Id="rId12"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wmf"/><Relationship Id="rId11" Type="http://schemas.openxmlformats.org/officeDocument/2006/relationships/image" Target="../media/image7.png"/><Relationship Id="rId5" Type="http://schemas.openxmlformats.org/officeDocument/2006/relationships/oleObject" Target="../embeddings/oleObject1.bin"/><Relationship Id="rId10" Type="http://schemas.openxmlformats.org/officeDocument/2006/relationships/image" Target="../media/image5.wmf"/><Relationship Id="rId4" Type="http://schemas.openxmlformats.org/officeDocument/2006/relationships/image" Target="../media/image6.png"/><Relationship Id="rId9" Type="http://schemas.openxmlformats.org/officeDocument/2006/relationships/oleObject" Target="../embeddings/oleObject3.bin"/></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image" Target="../media/image17.png"/><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13.wmf"/><Relationship Id="rId11" Type="http://schemas.openxmlformats.org/officeDocument/2006/relationships/image" Target="../media/image16.png"/><Relationship Id="rId5" Type="http://schemas.openxmlformats.org/officeDocument/2006/relationships/oleObject" Target="../embeddings/oleObject5.bin"/><Relationship Id="rId10" Type="http://schemas.openxmlformats.org/officeDocument/2006/relationships/image" Target="../media/image10.png"/><Relationship Id="rId4" Type="http://schemas.openxmlformats.org/officeDocument/2006/relationships/image" Target="../media/image12.wmf"/><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8.wmf"/><Relationship Id="rId5" Type="http://schemas.openxmlformats.org/officeDocument/2006/relationships/oleObject" Target="../embeddings/oleObject8.bin"/><Relationship Id="rId10" Type="http://schemas.openxmlformats.org/officeDocument/2006/relationships/image" Target="../media/image19.png"/><Relationship Id="rId4" Type="http://schemas.openxmlformats.org/officeDocument/2006/relationships/image" Target="../media/image14.wmf"/><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21.wmf"/><Relationship Id="rId5" Type="http://schemas.openxmlformats.org/officeDocument/2006/relationships/oleObject" Target="../embeddings/oleObject11.bin"/><Relationship Id="rId10" Type="http://schemas.openxmlformats.org/officeDocument/2006/relationships/image" Target="../media/image23.wmf"/><Relationship Id="rId4" Type="http://schemas.openxmlformats.org/officeDocument/2006/relationships/image" Target="../media/image20.wmf"/><Relationship Id="rId9" Type="http://schemas.openxmlformats.org/officeDocument/2006/relationships/oleObject" Target="../embeddings/oleObject13.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28.wmf"/><Relationship Id="rId3" Type="http://schemas.openxmlformats.org/officeDocument/2006/relationships/image" Target="../media/image30.png"/><Relationship Id="rId7" Type="http://schemas.openxmlformats.org/officeDocument/2006/relationships/image" Target="../media/image25.wmf"/><Relationship Id="rId12"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15.bin"/><Relationship Id="rId11" Type="http://schemas.openxmlformats.org/officeDocument/2006/relationships/image" Target="../media/image27.wmf"/><Relationship Id="rId5" Type="http://schemas.openxmlformats.org/officeDocument/2006/relationships/image" Target="../media/image24.wmf"/><Relationship Id="rId15" Type="http://schemas.openxmlformats.org/officeDocument/2006/relationships/image" Target="../media/image29.wmf"/><Relationship Id="rId10" Type="http://schemas.openxmlformats.org/officeDocument/2006/relationships/oleObject" Target="../embeddings/oleObject17.bin"/><Relationship Id="rId4" Type="http://schemas.openxmlformats.org/officeDocument/2006/relationships/oleObject" Target="../embeddings/oleObject14.bin"/><Relationship Id="rId9" Type="http://schemas.openxmlformats.org/officeDocument/2006/relationships/image" Target="../media/image26.wmf"/><Relationship Id="rId14" Type="http://schemas.openxmlformats.org/officeDocument/2006/relationships/oleObject" Target="../embeddings/oleObject19.bin"/></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0.bin"/><Relationship Id="rId7" Type="http://schemas.openxmlformats.org/officeDocument/2006/relationships/image" Target="../media/image31.w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21.bin"/><Relationship Id="rId5" Type="http://schemas.openxmlformats.org/officeDocument/2006/relationships/image" Target="../media/image32.png"/><Relationship Id="rId4" Type="http://schemas.openxmlformats.org/officeDocument/2006/relationships/image" Target="../media/image30.emf"/></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7.xml"/><Relationship Id="rId1" Type="http://schemas.openxmlformats.org/officeDocument/2006/relationships/vmlDrawing" Target="../drawings/vmlDrawing7.vml"/><Relationship Id="rId5" Type="http://schemas.openxmlformats.org/officeDocument/2006/relationships/image" Target="../media/image33.wmf"/><Relationship Id="rId4" Type="http://schemas.openxmlformats.org/officeDocument/2006/relationships/oleObject" Target="../embeddings/oleObject22.bin"/></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35.png"/><Relationship Id="rId5" Type="http://schemas.openxmlformats.org/officeDocument/2006/relationships/image" Target="../media/image33.wmf"/><Relationship Id="rId4" Type="http://schemas.openxmlformats.org/officeDocument/2006/relationships/oleObject" Target="../embeddings/oleObject23.bin"/></Relationships>
</file>

<file path=ppt/slides/_rels/slide12.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36.wmf"/><Relationship Id="rId5" Type="http://schemas.openxmlformats.org/officeDocument/2006/relationships/oleObject" Target="../embeddings/oleObject25.bin"/><Relationship Id="rId4" Type="http://schemas.openxmlformats.org/officeDocument/2006/relationships/image" Target="../media/image35.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39.wmf"/><Relationship Id="rId5" Type="http://schemas.openxmlformats.org/officeDocument/2006/relationships/oleObject" Target="../embeddings/oleObject28.bin"/><Relationship Id="rId4" Type="http://schemas.openxmlformats.org/officeDocument/2006/relationships/image" Target="../media/image38.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42.jpeg"/><Relationship Id="rId5" Type="http://schemas.openxmlformats.org/officeDocument/2006/relationships/image" Target="../media/image41.jpeg"/><Relationship Id="rId4" Type="http://schemas.openxmlformats.org/officeDocument/2006/relationships/image" Target="../media/image40.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oleObject" Target="../embeddings/oleObject30.bin"/><Relationship Id="rId7" Type="http://schemas.openxmlformats.org/officeDocument/2006/relationships/oleObject" Target="../embeddings/oleObject32.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3.wmf"/><Relationship Id="rId11" Type="http://schemas.openxmlformats.org/officeDocument/2006/relationships/image" Target="../media/image45.wmf"/><Relationship Id="rId5" Type="http://schemas.openxmlformats.org/officeDocument/2006/relationships/oleObject" Target="../embeddings/oleObject31.bin"/><Relationship Id="rId10" Type="http://schemas.openxmlformats.org/officeDocument/2006/relationships/oleObject" Target="../embeddings/oleObject34.bin"/><Relationship Id="rId4" Type="http://schemas.openxmlformats.org/officeDocument/2006/relationships/image" Target="../media/image43.wmf"/><Relationship Id="rId9" Type="http://schemas.openxmlformats.org/officeDocument/2006/relationships/image" Target="../media/image44.w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37.bin"/><Relationship Id="rId3" Type="http://schemas.openxmlformats.org/officeDocument/2006/relationships/notesSlide" Target="../notesSlides/notesSlide3.xml"/><Relationship Id="rId7" Type="http://schemas.openxmlformats.org/officeDocument/2006/relationships/image" Target="../media/image3.wmf"/><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36.bin"/><Relationship Id="rId5" Type="http://schemas.openxmlformats.org/officeDocument/2006/relationships/image" Target="../media/image43.wmf"/><Relationship Id="rId4" Type="http://schemas.openxmlformats.org/officeDocument/2006/relationships/oleObject" Target="../embeddings/oleObject35.bin"/><Relationship Id="rId9" Type="http://schemas.openxmlformats.org/officeDocument/2006/relationships/image" Target="../media/image46.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40.bin"/><Relationship Id="rId13" Type="http://schemas.openxmlformats.org/officeDocument/2006/relationships/image" Target="../media/image51.wmf"/><Relationship Id="rId3" Type="http://schemas.openxmlformats.org/officeDocument/2006/relationships/notesSlide" Target="../notesSlides/notesSlide4.xml"/><Relationship Id="rId7" Type="http://schemas.openxmlformats.org/officeDocument/2006/relationships/image" Target="../media/image48.wmf"/><Relationship Id="rId12" Type="http://schemas.openxmlformats.org/officeDocument/2006/relationships/oleObject" Target="../embeddings/oleObject42.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39.bin"/><Relationship Id="rId11" Type="http://schemas.openxmlformats.org/officeDocument/2006/relationships/image" Target="../media/image50.wmf"/><Relationship Id="rId5" Type="http://schemas.openxmlformats.org/officeDocument/2006/relationships/image" Target="../media/image47.wmf"/><Relationship Id="rId10" Type="http://schemas.openxmlformats.org/officeDocument/2006/relationships/oleObject" Target="../embeddings/oleObject41.bin"/><Relationship Id="rId4" Type="http://schemas.openxmlformats.org/officeDocument/2006/relationships/oleObject" Target="../embeddings/oleObject38.bin"/><Relationship Id="rId9" Type="http://schemas.openxmlformats.org/officeDocument/2006/relationships/image" Target="../media/image49.wmf"/><Relationship Id="rId14" Type="http://schemas.openxmlformats.org/officeDocument/2006/relationships/image" Target="../media/image52.png"/></Relationships>
</file>

<file path=ppt/slides/_rels/slide1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4.png"/><Relationship Id="rId1" Type="http://schemas.openxmlformats.org/officeDocument/2006/relationships/slideLayout" Target="../slideLayouts/slideLayout13.xml"/><Relationship Id="rId5" Type="http://schemas.openxmlformats.org/officeDocument/2006/relationships/image" Target="../media/image56.png"/><Relationship Id="rId4" Type="http://schemas.openxmlformats.org/officeDocument/2006/relationships/image" Target="../media/image55.png"/></Relationships>
</file>

<file path=ppt/slides/_rels/slide2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5.png"/><Relationship Id="rId1" Type="http://schemas.openxmlformats.org/officeDocument/2006/relationships/slideLayout" Target="../slideLayouts/slideLayout13.xml"/><Relationship Id="rId5" Type="http://schemas.openxmlformats.org/officeDocument/2006/relationships/image" Target="../media/image59.png"/><Relationship Id="rId4" Type="http://schemas.openxmlformats.org/officeDocument/2006/relationships/image" Target="../media/image58.png"/></Relationships>
</file>

<file path=ppt/slides/_rels/slide2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3.xml"/><Relationship Id="rId4" Type="http://schemas.openxmlformats.org/officeDocument/2006/relationships/image" Target="../media/image56.png"/></Relationships>
</file>

<file path=ppt/slides/_rels/slide2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67.png"/><Relationship Id="rId2" Type="http://schemas.openxmlformats.org/officeDocument/2006/relationships/image" Target="../media/image56.png"/><Relationship Id="rId1" Type="http://schemas.openxmlformats.org/officeDocument/2006/relationships/slideLayout" Target="../slideLayouts/slideLayout13.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25.xml.rels><?xml version="1.0" encoding="UTF-8" standalone="yes"?>
<Relationships xmlns="http://schemas.openxmlformats.org/package/2006/relationships"><Relationship Id="rId3" Type="http://schemas.openxmlformats.org/officeDocument/2006/relationships/image" Target="../media/image67.png"/><Relationship Id="rId7" Type="http://schemas.openxmlformats.org/officeDocument/2006/relationships/image" Target="../media/image69.wmf"/><Relationship Id="rId2" Type="http://schemas.openxmlformats.org/officeDocument/2006/relationships/slideLayout" Target="../slideLayouts/slideLayout4.xml"/><Relationship Id="rId1" Type="http://schemas.openxmlformats.org/officeDocument/2006/relationships/vmlDrawing" Target="../drawings/vmlDrawing15.vml"/><Relationship Id="rId6" Type="http://schemas.openxmlformats.org/officeDocument/2006/relationships/oleObject" Target="../embeddings/oleObject44.bin"/><Relationship Id="rId5" Type="http://schemas.openxmlformats.org/officeDocument/2006/relationships/image" Target="../media/image68.wmf"/><Relationship Id="rId4" Type="http://schemas.openxmlformats.org/officeDocument/2006/relationships/oleObject" Target="../embeddings/oleObject43.bin"/></Relationships>
</file>

<file path=ppt/slides/_rels/slide2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2.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13.xml"/><Relationship Id="rId1" Type="http://schemas.openxmlformats.org/officeDocument/2006/relationships/vmlDrawing" Target="../drawings/vmlDrawing16.vml"/><Relationship Id="rId4" Type="http://schemas.openxmlformats.org/officeDocument/2006/relationships/image" Target="../media/image71.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13.xml"/><Relationship Id="rId1" Type="http://schemas.openxmlformats.org/officeDocument/2006/relationships/vmlDrawing" Target="../drawings/vmlDrawing17.vml"/><Relationship Id="rId4" Type="http://schemas.openxmlformats.org/officeDocument/2006/relationships/image" Target="../media/image72.wmf"/></Relationships>
</file>

<file path=ppt/slides/_rels/slide29.xml.rels><?xml version="1.0" encoding="UTF-8" standalone="yes"?>
<Relationships xmlns="http://schemas.openxmlformats.org/package/2006/relationships"><Relationship Id="rId8" Type="http://schemas.openxmlformats.org/officeDocument/2006/relationships/image" Target="../media/image75.wmf"/><Relationship Id="rId3" Type="http://schemas.openxmlformats.org/officeDocument/2006/relationships/oleObject" Target="../embeddings/oleObject47.bin"/><Relationship Id="rId7" Type="http://schemas.openxmlformats.org/officeDocument/2006/relationships/oleObject" Target="../embeddings/oleObject49.bin"/><Relationship Id="rId2" Type="http://schemas.openxmlformats.org/officeDocument/2006/relationships/slideLayout" Target="../slideLayouts/slideLayout13.xml"/><Relationship Id="rId1" Type="http://schemas.openxmlformats.org/officeDocument/2006/relationships/vmlDrawing" Target="../drawings/vmlDrawing18.vml"/><Relationship Id="rId6" Type="http://schemas.openxmlformats.org/officeDocument/2006/relationships/image" Target="../media/image74.wmf"/><Relationship Id="rId5" Type="http://schemas.openxmlformats.org/officeDocument/2006/relationships/oleObject" Target="../embeddings/oleObject48.bin"/><Relationship Id="rId10" Type="http://schemas.openxmlformats.org/officeDocument/2006/relationships/image" Target="../media/image69.wmf"/><Relationship Id="rId4" Type="http://schemas.openxmlformats.org/officeDocument/2006/relationships/image" Target="../media/image73.wmf"/><Relationship Id="rId9" Type="http://schemas.openxmlformats.org/officeDocument/2006/relationships/oleObject" Target="../embeddings/oleObject44.bin"/></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7.xml"/><Relationship Id="rId1" Type="http://schemas.openxmlformats.org/officeDocument/2006/relationships/vmlDrawing" Target="../drawings/vmlDrawing19.vml"/><Relationship Id="rId5" Type="http://schemas.openxmlformats.org/officeDocument/2006/relationships/image" Target="../media/image77.emf"/><Relationship Id="rId4" Type="http://schemas.openxmlformats.org/officeDocument/2006/relationships/image" Target="../media/image76.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7.xml"/><Relationship Id="rId1" Type="http://schemas.openxmlformats.org/officeDocument/2006/relationships/vmlDrawing" Target="../drawings/vmlDrawing20.vml"/><Relationship Id="rId5" Type="http://schemas.openxmlformats.org/officeDocument/2006/relationships/image" Target="../media/image79.emf"/><Relationship Id="rId4" Type="http://schemas.openxmlformats.org/officeDocument/2006/relationships/image" Target="../media/image78.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7.xml"/><Relationship Id="rId1" Type="http://schemas.openxmlformats.org/officeDocument/2006/relationships/vmlDrawing" Target="../drawings/vmlDrawing21.vml"/><Relationship Id="rId5" Type="http://schemas.openxmlformats.org/officeDocument/2006/relationships/image" Target="../media/image79.emf"/><Relationship Id="rId4" Type="http://schemas.openxmlformats.org/officeDocument/2006/relationships/image" Target="../media/image80.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3.png"/></Relationships>
</file>

<file path=ppt/slides/_rels/slide3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85.png"/></Relationships>
</file>

<file path=ppt/slides/_rels/slide37.xml.rels><?xml version="1.0" encoding="UTF-8" standalone="yes"?>
<Relationships xmlns="http://schemas.openxmlformats.org/package/2006/relationships"><Relationship Id="rId3" Type="http://schemas.openxmlformats.org/officeDocument/2006/relationships/image" Target="../media/image86.em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vmlDrawing" Target="../drawings/vmlDrawing22.vml"/><Relationship Id="rId5" Type="http://schemas.openxmlformats.org/officeDocument/2006/relationships/image" Target="../media/image90.wmf"/><Relationship Id="rId4" Type="http://schemas.openxmlformats.org/officeDocument/2006/relationships/oleObject" Target="../embeddings/oleObject53.bin"/></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92.jpeg"/><Relationship Id="rId5" Type="http://schemas.openxmlformats.org/officeDocument/2006/relationships/image" Target="../media/image91.wmf"/><Relationship Id="rId4" Type="http://schemas.openxmlformats.org/officeDocument/2006/relationships/oleObject" Target="../embeddings/oleObject54.bin"/></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57.bin"/><Relationship Id="rId13" Type="http://schemas.openxmlformats.org/officeDocument/2006/relationships/image" Target="../media/image97.wmf"/><Relationship Id="rId3" Type="http://schemas.openxmlformats.org/officeDocument/2006/relationships/notesSlide" Target="../notesSlides/notesSlide13.xml"/><Relationship Id="rId7" Type="http://schemas.openxmlformats.org/officeDocument/2006/relationships/image" Target="../media/image94.wmf"/><Relationship Id="rId12" Type="http://schemas.openxmlformats.org/officeDocument/2006/relationships/oleObject" Target="../embeddings/oleObject59.bin"/><Relationship Id="rId17" Type="http://schemas.openxmlformats.org/officeDocument/2006/relationships/image" Target="../media/image99.wmf"/><Relationship Id="rId2" Type="http://schemas.openxmlformats.org/officeDocument/2006/relationships/slideLayout" Target="../slideLayouts/slideLayout7.xml"/><Relationship Id="rId16" Type="http://schemas.openxmlformats.org/officeDocument/2006/relationships/oleObject" Target="../embeddings/oleObject61.bin"/><Relationship Id="rId1" Type="http://schemas.openxmlformats.org/officeDocument/2006/relationships/vmlDrawing" Target="../drawings/vmlDrawing24.vml"/><Relationship Id="rId6" Type="http://schemas.openxmlformats.org/officeDocument/2006/relationships/oleObject" Target="../embeddings/oleObject56.bin"/><Relationship Id="rId11" Type="http://schemas.openxmlformats.org/officeDocument/2006/relationships/image" Target="../media/image96.wmf"/><Relationship Id="rId5" Type="http://schemas.openxmlformats.org/officeDocument/2006/relationships/image" Target="../media/image93.wmf"/><Relationship Id="rId15" Type="http://schemas.openxmlformats.org/officeDocument/2006/relationships/image" Target="../media/image98.wmf"/><Relationship Id="rId10" Type="http://schemas.openxmlformats.org/officeDocument/2006/relationships/oleObject" Target="../embeddings/oleObject58.bin"/><Relationship Id="rId4" Type="http://schemas.openxmlformats.org/officeDocument/2006/relationships/oleObject" Target="../embeddings/oleObject55.bin"/><Relationship Id="rId9" Type="http://schemas.openxmlformats.org/officeDocument/2006/relationships/image" Target="../media/image95.wmf"/><Relationship Id="rId14" Type="http://schemas.openxmlformats.org/officeDocument/2006/relationships/oleObject" Target="../embeddings/oleObject60.bin"/></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64.bin"/><Relationship Id="rId3" Type="http://schemas.openxmlformats.org/officeDocument/2006/relationships/notesSlide" Target="../notesSlides/notesSlide14.xml"/><Relationship Id="rId7" Type="http://schemas.openxmlformats.org/officeDocument/2006/relationships/image" Target="../media/image4.wmf"/><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63.bin"/><Relationship Id="rId5" Type="http://schemas.openxmlformats.org/officeDocument/2006/relationships/image" Target="../media/image3.wmf"/><Relationship Id="rId4" Type="http://schemas.openxmlformats.org/officeDocument/2006/relationships/oleObject" Target="../embeddings/oleObject62.bin"/><Relationship Id="rId9" Type="http://schemas.openxmlformats.org/officeDocument/2006/relationships/image" Target="../media/image5.w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105.png"/><Relationship Id="rId5" Type="http://schemas.openxmlformats.org/officeDocument/2006/relationships/image" Target="../media/image103.wmf"/><Relationship Id="rId4" Type="http://schemas.openxmlformats.org/officeDocument/2006/relationships/oleObject" Target="../embeddings/oleObject65.bin"/></Relationships>
</file>

<file path=ppt/slides/_rels/slide51.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109.png"/><Relationship Id="rId4" Type="http://schemas.openxmlformats.org/officeDocument/2006/relationships/image" Target="../media/image108.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110.wmf"/><Relationship Id="rId5" Type="http://schemas.openxmlformats.org/officeDocument/2006/relationships/oleObject" Target="../embeddings/oleObject66.bin"/><Relationship Id="rId4" Type="http://schemas.openxmlformats.org/officeDocument/2006/relationships/image" Target="../media/image106.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106.png"/><Relationship Id="rId5" Type="http://schemas.openxmlformats.org/officeDocument/2006/relationships/image" Target="../media/image111.wmf"/><Relationship Id="rId4" Type="http://schemas.openxmlformats.org/officeDocument/2006/relationships/oleObject" Target="../embeddings/oleObject67.bin"/></Relationships>
</file>

<file path=ppt/slides/_rels/slide55.xml.rels><?xml version="1.0" encoding="UTF-8" standalone="yes"?>
<Relationships xmlns="http://schemas.openxmlformats.org/package/2006/relationships"><Relationship Id="rId8" Type="http://schemas.openxmlformats.org/officeDocument/2006/relationships/image" Target="../media/image113.wmf"/><Relationship Id="rId3" Type="http://schemas.openxmlformats.org/officeDocument/2006/relationships/notesSlide" Target="../notesSlides/notesSlide23.xml"/><Relationship Id="rId7" Type="http://schemas.openxmlformats.org/officeDocument/2006/relationships/oleObject" Target="../embeddings/oleObject69.bin"/><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114.png"/><Relationship Id="rId5" Type="http://schemas.openxmlformats.org/officeDocument/2006/relationships/image" Target="../media/image112.wmf"/><Relationship Id="rId4" Type="http://schemas.openxmlformats.org/officeDocument/2006/relationships/oleObject" Target="../embeddings/oleObject68.bin"/></Relationships>
</file>

<file path=ppt/slides/_rels/slide56.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4DEF74EB-D7A2-4D45-ACCA-14858E646AEB}"/>
              </a:ext>
            </a:extLst>
          </p:cNvPr>
          <p:cNvSpPr>
            <a:spLocks noGrp="1" noChangeArrowheads="1"/>
          </p:cNvSpPr>
          <p:nvPr>
            <p:ph type="ctrTitle"/>
          </p:nvPr>
        </p:nvSpPr>
        <p:spPr>
          <a:xfrm>
            <a:off x="1258888" y="2133600"/>
            <a:ext cx="6400800" cy="1120775"/>
          </a:xfrm>
        </p:spPr>
        <p:txBody>
          <a:bodyPr/>
          <a:lstStyle/>
          <a:p>
            <a:pPr eaLnBrk="1" hangingPunct="1">
              <a:defRPr/>
            </a:pPr>
            <a:r>
              <a:rPr lang="zh-CN" altLang="en-US" dirty="0">
                <a:latin typeface="华文琥珀" panose="02010800040101010101" pitchFamily="2" charset="-122"/>
                <a:ea typeface="华文琥珀" panose="02010800040101010101" pitchFamily="2" charset="-122"/>
              </a:rPr>
              <a:t>电容式传感器</a:t>
            </a:r>
          </a:p>
        </p:txBody>
      </p:sp>
      <p:sp>
        <p:nvSpPr>
          <p:cNvPr id="3" name="矩形 2">
            <a:extLst>
              <a:ext uri="{FF2B5EF4-FFF2-40B4-BE49-F238E27FC236}">
                <a16:creationId xmlns:a16="http://schemas.microsoft.com/office/drawing/2014/main" id="{3DDE1E65-246D-4834-A2CC-D309BF165495}"/>
              </a:ext>
            </a:extLst>
          </p:cNvPr>
          <p:cNvSpPr/>
          <p:nvPr/>
        </p:nvSpPr>
        <p:spPr>
          <a:xfrm>
            <a:off x="117475" y="1420813"/>
            <a:ext cx="4206875"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8" name="矩形 7">
            <a:extLst>
              <a:ext uri="{FF2B5EF4-FFF2-40B4-BE49-F238E27FC236}">
                <a16:creationId xmlns:a16="http://schemas.microsoft.com/office/drawing/2014/main" id="{E2E84314-461C-4469-89F5-0E36C418D459}"/>
              </a:ext>
            </a:extLst>
          </p:cNvPr>
          <p:cNvSpPr/>
          <p:nvPr/>
        </p:nvSpPr>
        <p:spPr>
          <a:xfrm rot="10800000" flipV="1">
            <a:off x="4900613" y="4487863"/>
            <a:ext cx="408940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pic>
        <p:nvPicPr>
          <p:cNvPr id="16389" name="图片 6">
            <a:extLst>
              <a:ext uri="{FF2B5EF4-FFF2-40B4-BE49-F238E27FC236}">
                <a16:creationId xmlns:a16="http://schemas.microsoft.com/office/drawing/2014/main" id="{A1971AA9-0A0D-43DE-B7C3-38EC716EB8A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08850" y="4797425"/>
            <a:ext cx="1685925" cy="125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0" name="灯片编号占位符 9">
            <a:extLst>
              <a:ext uri="{FF2B5EF4-FFF2-40B4-BE49-F238E27FC236}">
                <a16:creationId xmlns:a16="http://schemas.microsoft.com/office/drawing/2014/main" id="{505BF93E-9402-40B3-A9DC-E34CBBFFC178}"/>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3A35C162-2DA3-494A-B4E3-A18E44C1D68F}" type="slidenum">
              <a:rPr lang="en-US" altLang="zh-CN" smtClean="0"/>
              <a:pPr/>
              <a:t>1</a:t>
            </a:fld>
            <a:endParaRPr lang="en-US" altLang="zh-CN"/>
          </a:p>
        </p:txBody>
      </p:sp>
      <p:sp>
        <p:nvSpPr>
          <p:cNvPr id="16391" name="页脚占位符 10">
            <a:extLst>
              <a:ext uri="{FF2B5EF4-FFF2-40B4-BE49-F238E27FC236}">
                <a16:creationId xmlns:a16="http://schemas.microsoft.com/office/drawing/2014/main" id="{D24F29DC-9CBA-4443-9653-BBCF7B3DE925}"/>
              </a:ext>
            </a:extLst>
          </p:cNvPr>
          <p:cNvSpPr>
            <a:spLocks noGrp="1"/>
          </p:cNvSpPr>
          <p:nvPr>
            <p:ph type="ftr" sz="quarter" idx="11"/>
          </p:nvPr>
        </p:nvSpPr>
        <p:spPr>
          <a:xfrm>
            <a:off x="3124200" y="6248400"/>
            <a:ext cx="3429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r>
              <a:rPr lang="zh-CN" altLang="en-US"/>
              <a:t>人工智能与自动化学院测量科学与仪器系</a:t>
            </a:r>
            <a:endParaRPr lang="en-US" altLang="zh-CN"/>
          </a:p>
        </p:txBody>
      </p:sp>
      <p:pic>
        <p:nvPicPr>
          <p:cNvPr id="16392" name="图片 11">
            <a:extLst>
              <a:ext uri="{FF2B5EF4-FFF2-40B4-BE49-F238E27FC236}">
                <a16:creationId xmlns:a16="http://schemas.microsoft.com/office/drawing/2014/main" id="{ACE837CA-4F9A-4A2E-B4E0-82852CAAEB7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7475" y="187325"/>
            <a:ext cx="1660525"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3">
            <a:extLst>
              <a:ext uri="{FF2B5EF4-FFF2-40B4-BE49-F238E27FC236}">
                <a16:creationId xmlns:a16="http://schemas.microsoft.com/office/drawing/2014/main" id="{8C738D7F-E082-45E8-809A-F6917323673A}"/>
              </a:ext>
            </a:extLst>
          </p:cNvPr>
          <p:cNvSpPr txBox="1">
            <a:spLocks noChangeArrowheads="1"/>
          </p:cNvSpPr>
          <p:nvPr/>
        </p:nvSpPr>
        <p:spPr bwMode="auto">
          <a:xfrm>
            <a:off x="1093788" y="1341438"/>
            <a:ext cx="4465637"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200000"/>
              </a:lnSpc>
              <a:spcBef>
                <a:spcPct val="0"/>
              </a:spcBef>
              <a:buFontTx/>
              <a:buNone/>
            </a:pPr>
            <a:r>
              <a:rPr kumimoji="1" lang="en-US" altLang="zh-CN" sz="2400" b="1">
                <a:latin typeface="微软雅黑" panose="020B0503020204020204" pitchFamily="34" charset="-122"/>
                <a:ea typeface="微软雅黑" panose="020B0503020204020204" pitchFamily="34" charset="-122"/>
              </a:rPr>
              <a:t>1 </a:t>
            </a:r>
            <a:r>
              <a:rPr kumimoji="1" lang="zh-CN" altLang="en-US" sz="2400" b="1">
                <a:latin typeface="微软雅黑" panose="020B0503020204020204" pitchFamily="34" charset="-122"/>
                <a:ea typeface="微软雅黑" panose="020B0503020204020204" pitchFamily="34" charset="-122"/>
              </a:rPr>
              <a:t>工作原理和结构</a:t>
            </a:r>
          </a:p>
          <a:p>
            <a:pPr eaLnBrk="1" hangingPunct="1">
              <a:lnSpc>
                <a:spcPct val="200000"/>
              </a:lnSpc>
              <a:spcBef>
                <a:spcPct val="0"/>
              </a:spcBef>
              <a:buFontTx/>
              <a:buNone/>
            </a:pPr>
            <a:r>
              <a:rPr kumimoji="1" lang="en-US" altLang="zh-CN" sz="2400" b="1">
                <a:latin typeface="微软雅黑" panose="020B0503020204020204" pitchFamily="34" charset="-122"/>
                <a:ea typeface="微软雅黑" panose="020B0503020204020204" pitchFamily="34" charset="-122"/>
              </a:rPr>
              <a:t>2 </a:t>
            </a:r>
            <a:r>
              <a:rPr kumimoji="1" lang="zh-CN" altLang="en-US" sz="2400" b="1">
                <a:latin typeface="微软雅黑" panose="020B0503020204020204" pitchFamily="34" charset="-122"/>
                <a:ea typeface="微软雅黑" panose="020B0503020204020204" pitchFamily="34" charset="-122"/>
              </a:rPr>
              <a:t>测量电路</a:t>
            </a:r>
            <a:endParaRPr kumimoji="1" lang="en-US" altLang="zh-CN" sz="2400" b="1">
              <a:latin typeface="微软雅黑" panose="020B0503020204020204" pitchFamily="34" charset="-122"/>
              <a:ea typeface="微软雅黑" panose="020B0503020204020204" pitchFamily="34" charset="-122"/>
            </a:endParaRPr>
          </a:p>
          <a:p>
            <a:pPr eaLnBrk="1" hangingPunct="1">
              <a:lnSpc>
                <a:spcPct val="200000"/>
              </a:lnSpc>
              <a:spcBef>
                <a:spcPct val="0"/>
              </a:spcBef>
              <a:buFontTx/>
              <a:buNone/>
            </a:pPr>
            <a:r>
              <a:rPr kumimoji="1" lang="en-US" altLang="zh-CN" sz="2400" b="1">
                <a:latin typeface="微软雅黑" panose="020B0503020204020204" pitchFamily="34" charset="-122"/>
                <a:ea typeface="微软雅黑" panose="020B0503020204020204" pitchFamily="34" charset="-122"/>
              </a:rPr>
              <a:t>3 </a:t>
            </a:r>
            <a:r>
              <a:rPr kumimoji="1" lang="zh-CN" altLang="en-US" sz="2400" b="1">
                <a:latin typeface="微软雅黑" panose="020B0503020204020204" pitchFamily="34" charset="-122"/>
                <a:ea typeface="微软雅黑" panose="020B0503020204020204" pitchFamily="34" charset="-122"/>
              </a:rPr>
              <a:t>杂散电容的影响及其解决思路</a:t>
            </a:r>
          </a:p>
          <a:p>
            <a:pPr eaLnBrk="1" hangingPunct="1">
              <a:lnSpc>
                <a:spcPct val="200000"/>
              </a:lnSpc>
              <a:spcBef>
                <a:spcPct val="0"/>
              </a:spcBef>
              <a:buFontTx/>
              <a:buNone/>
            </a:pPr>
            <a:r>
              <a:rPr kumimoji="1" lang="en-US" altLang="zh-CN" sz="2400" b="1">
                <a:latin typeface="微软雅黑" panose="020B0503020204020204" pitchFamily="34" charset="-122"/>
                <a:ea typeface="微软雅黑" panose="020B0503020204020204" pitchFamily="34" charset="-122"/>
              </a:rPr>
              <a:t>4 </a:t>
            </a:r>
            <a:r>
              <a:rPr kumimoji="1" lang="zh-CN" altLang="en-US" sz="2400" b="1">
                <a:latin typeface="微软雅黑" panose="020B0503020204020204" pitchFamily="34" charset="-122"/>
                <a:ea typeface="微软雅黑" panose="020B0503020204020204" pitchFamily="34" charset="-122"/>
              </a:rPr>
              <a:t>温度特性</a:t>
            </a:r>
            <a:endParaRPr kumimoji="1" lang="en-US" altLang="zh-CN" sz="2400" b="1">
              <a:latin typeface="微软雅黑" panose="020B0503020204020204" pitchFamily="34" charset="-122"/>
              <a:ea typeface="微软雅黑" panose="020B0503020204020204" pitchFamily="34" charset="-122"/>
            </a:endParaRPr>
          </a:p>
          <a:p>
            <a:pPr eaLnBrk="1" hangingPunct="1">
              <a:lnSpc>
                <a:spcPct val="200000"/>
              </a:lnSpc>
              <a:spcBef>
                <a:spcPct val="0"/>
              </a:spcBef>
              <a:buFontTx/>
              <a:buNone/>
            </a:pPr>
            <a:r>
              <a:rPr kumimoji="1" lang="en-US" altLang="zh-CN" sz="2400" b="1">
                <a:latin typeface="微软雅黑" panose="020B0503020204020204" pitchFamily="34" charset="-122"/>
                <a:ea typeface="微软雅黑" panose="020B0503020204020204" pitchFamily="34" charset="-122"/>
              </a:rPr>
              <a:t>5 </a:t>
            </a:r>
            <a:r>
              <a:rPr kumimoji="1" lang="zh-CN" altLang="en-US" sz="2400" b="1">
                <a:latin typeface="微软雅黑" panose="020B0503020204020204" pitchFamily="34" charset="-122"/>
                <a:ea typeface="微软雅黑" panose="020B0503020204020204" pitchFamily="34" charset="-122"/>
              </a:rPr>
              <a:t>动态特性</a:t>
            </a:r>
          </a:p>
        </p:txBody>
      </p:sp>
      <p:sp>
        <p:nvSpPr>
          <p:cNvPr id="18435" name="灯片编号占位符 1">
            <a:extLst>
              <a:ext uri="{FF2B5EF4-FFF2-40B4-BE49-F238E27FC236}">
                <a16:creationId xmlns:a16="http://schemas.microsoft.com/office/drawing/2014/main" id="{1AE68FF1-E222-4901-96A9-03C0E34C76C6}"/>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D8996C3A-1728-4E26-8103-478395FFED28}" type="slidenum">
              <a:rPr lang="en-US" altLang="zh-CN" smtClean="0"/>
              <a:pPr/>
              <a:t>2</a:t>
            </a:fld>
            <a:endParaRPr lang="en-US" altLang="zh-CN"/>
          </a:p>
        </p:txBody>
      </p:sp>
      <p:sp>
        <p:nvSpPr>
          <p:cNvPr id="18436" name="页脚占位符 2">
            <a:extLst>
              <a:ext uri="{FF2B5EF4-FFF2-40B4-BE49-F238E27FC236}">
                <a16:creationId xmlns:a16="http://schemas.microsoft.com/office/drawing/2014/main" id="{468EC727-FD00-4D2B-8C7A-D61222D18BFD}"/>
              </a:ext>
            </a:extLst>
          </p:cNvPr>
          <p:cNvSpPr>
            <a:spLocks noGrp="1"/>
          </p:cNvSpPr>
          <p:nvPr>
            <p:ph type="ftr" sz="quarter" idx="11"/>
          </p:nvPr>
        </p:nvSpPr>
        <p:spPr>
          <a:xfrm>
            <a:off x="3556000" y="6248400"/>
            <a:ext cx="3463925" cy="349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r>
              <a:rPr lang="zh-CN" altLang="en-US"/>
              <a:t>人工智能与自动化学院测量科学与仪器系</a:t>
            </a:r>
            <a:endParaRPr lang="en-US" altLang="zh-CN"/>
          </a:p>
        </p:txBody>
      </p:sp>
      <p:sp>
        <p:nvSpPr>
          <p:cNvPr id="6" name="矩形 5">
            <a:extLst>
              <a:ext uri="{FF2B5EF4-FFF2-40B4-BE49-F238E27FC236}">
                <a16:creationId xmlns:a16="http://schemas.microsoft.com/office/drawing/2014/main" id="{17BDE0AF-2D1F-414A-A8E5-5B33F7280C38}"/>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5" name="矩形 4">
            <a:extLst>
              <a:ext uri="{FF2B5EF4-FFF2-40B4-BE49-F238E27FC236}">
                <a16:creationId xmlns:a16="http://schemas.microsoft.com/office/drawing/2014/main" id="{960075D1-29AB-4E4F-9E61-FD754FCCF91F}"/>
              </a:ext>
            </a:extLst>
          </p:cNvPr>
          <p:cNvSpPr/>
          <p:nvPr/>
        </p:nvSpPr>
        <p:spPr>
          <a:xfrm>
            <a:off x="142875" y="182563"/>
            <a:ext cx="1620838" cy="523875"/>
          </a:xfrm>
          <a:prstGeom prst="rect">
            <a:avLst/>
          </a:prstGeom>
        </p:spPr>
        <p:txBody>
          <a:bodyPr wrap="none">
            <a:spAutoFit/>
          </a:bodyPr>
          <a:lstStyle/>
          <a:p>
            <a:pPr eaLnBrk="1" hangingPunct="1">
              <a:defRPr/>
            </a:pPr>
            <a:r>
              <a:rPr kumimoji="1" lang="zh-CN" altLang="en-US" sz="2800" b="1" kern="0" dirty="0">
                <a:solidFill>
                  <a:srgbClr val="C00000"/>
                </a:solidFill>
                <a:latin typeface="微软雅黑" panose="020B0503020204020204" pitchFamily="34" charset="-122"/>
                <a:ea typeface="微软雅黑" panose="020B0503020204020204" pitchFamily="34" charset="-122"/>
              </a:rPr>
              <a:t>本章目录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D940275-CD12-458E-9742-5E3160B719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21100" y="4600575"/>
            <a:ext cx="4352925"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8" name="Text Box 2">
            <a:extLst>
              <a:ext uri="{FF2B5EF4-FFF2-40B4-BE49-F238E27FC236}">
                <a16:creationId xmlns:a16="http://schemas.microsoft.com/office/drawing/2014/main" id="{B760173A-643F-4537-BB76-37B71C48475F}"/>
              </a:ext>
            </a:extLst>
          </p:cNvPr>
          <p:cNvSpPr txBox="1">
            <a:spLocks noChangeArrowheads="1"/>
          </p:cNvSpPr>
          <p:nvPr/>
        </p:nvSpPr>
        <p:spPr bwMode="auto">
          <a:xfrm>
            <a:off x="117475" y="188913"/>
            <a:ext cx="77819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1 </a:t>
            </a:r>
            <a:r>
              <a:rPr kumimoji="1" lang="zh-CN" altLang="en-US" sz="2800" b="1">
                <a:solidFill>
                  <a:srgbClr val="C00000"/>
                </a:solidFill>
                <a:latin typeface="微软雅黑" panose="020B0503020204020204" pitchFamily="34" charset="-122"/>
                <a:ea typeface="微软雅黑" panose="020B0503020204020204" pitchFamily="34" charset="-122"/>
              </a:rPr>
              <a:t>工作原理和结构</a:t>
            </a:r>
          </a:p>
        </p:txBody>
      </p:sp>
      <p:sp>
        <p:nvSpPr>
          <p:cNvPr id="19459" name="灯片编号占位符 1">
            <a:extLst>
              <a:ext uri="{FF2B5EF4-FFF2-40B4-BE49-F238E27FC236}">
                <a16:creationId xmlns:a16="http://schemas.microsoft.com/office/drawing/2014/main" id="{8FF2028B-557C-4857-AE80-904D3FDCBD1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AD886CB4-3A9F-46EA-8AC6-F14A2AAE8317}" type="slidenum">
              <a:rPr lang="en-US" altLang="zh-CN" smtClean="0"/>
              <a:pPr/>
              <a:t>3</a:t>
            </a:fld>
            <a:endParaRPr lang="en-US" altLang="zh-CN"/>
          </a:p>
        </p:txBody>
      </p:sp>
      <p:sp>
        <p:nvSpPr>
          <p:cNvPr id="19460" name="Text Box 2">
            <a:extLst>
              <a:ext uri="{FF2B5EF4-FFF2-40B4-BE49-F238E27FC236}">
                <a16:creationId xmlns:a16="http://schemas.microsoft.com/office/drawing/2014/main" id="{CC347D24-E9B3-4D7C-AC0F-F6BA44124968}"/>
              </a:ext>
            </a:extLst>
          </p:cNvPr>
          <p:cNvSpPr txBox="1">
            <a:spLocks noChangeArrowheads="1"/>
          </p:cNvSpPr>
          <p:nvPr/>
        </p:nvSpPr>
        <p:spPr bwMode="auto">
          <a:xfrm>
            <a:off x="3567113" y="1341438"/>
            <a:ext cx="4662487" cy="142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zh-CN" altLang="en-US" sz="2000" b="1">
                <a:latin typeface="微软雅黑" panose="020B0503020204020204" pitchFamily="34" charset="-122"/>
                <a:ea typeface="微软雅黑" panose="020B0503020204020204" pitchFamily="34" charset="-122"/>
              </a:rPr>
              <a:t>由绝缘介质分开的两个平行金属板组成的平板电容器</a:t>
            </a:r>
            <a:r>
              <a:rPr lang="en-US" altLang="zh-CN" sz="2000" b="1">
                <a:latin typeface="微软雅黑" panose="020B0503020204020204" pitchFamily="34" charset="-122"/>
                <a:ea typeface="微软雅黑" panose="020B0503020204020204" pitchFamily="34" charset="-122"/>
              </a:rPr>
              <a:t>, </a:t>
            </a:r>
            <a:r>
              <a:rPr lang="zh-CN" altLang="en-US" sz="2000" b="1">
                <a:latin typeface="微软雅黑" panose="020B0503020204020204" pitchFamily="34" charset="-122"/>
                <a:ea typeface="微软雅黑" panose="020B0503020204020204" pitchFamily="34" charset="-122"/>
              </a:rPr>
              <a:t>如果不考虑</a:t>
            </a:r>
            <a:r>
              <a:rPr lang="zh-CN" altLang="en-US" sz="2000" b="1">
                <a:solidFill>
                  <a:srgbClr val="0000FF"/>
                </a:solidFill>
                <a:latin typeface="微软雅黑" panose="020B0503020204020204" pitchFamily="34" charset="-122"/>
                <a:ea typeface="微软雅黑" panose="020B0503020204020204" pitchFamily="34" charset="-122"/>
              </a:rPr>
              <a:t>边缘效应</a:t>
            </a:r>
            <a:r>
              <a:rPr lang="en-US" altLang="zh-CN" sz="2000" b="1">
                <a:latin typeface="微软雅黑" panose="020B0503020204020204" pitchFamily="34" charset="-122"/>
                <a:ea typeface="微软雅黑" panose="020B0503020204020204" pitchFamily="34" charset="-122"/>
              </a:rPr>
              <a:t>, </a:t>
            </a:r>
            <a:r>
              <a:rPr lang="zh-CN" altLang="en-US" sz="2000" b="1">
                <a:latin typeface="微软雅黑" panose="020B0503020204020204" pitchFamily="34" charset="-122"/>
                <a:ea typeface="微软雅黑" panose="020B0503020204020204" pitchFamily="34" charset="-122"/>
              </a:rPr>
              <a:t>其电容量为</a:t>
            </a:r>
          </a:p>
        </p:txBody>
      </p:sp>
      <p:sp>
        <p:nvSpPr>
          <p:cNvPr id="19461" name="Rectangle 3">
            <a:extLst>
              <a:ext uri="{FF2B5EF4-FFF2-40B4-BE49-F238E27FC236}">
                <a16:creationId xmlns:a16="http://schemas.microsoft.com/office/drawing/2014/main" id="{9B01B548-F717-4DE1-B807-668EA46E0111}"/>
              </a:ext>
            </a:extLst>
          </p:cNvPr>
          <p:cNvSpPr>
            <a:spLocks noChangeArrowheads="1"/>
          </p:cNvSpPr>
          <p:nvPr/>
        </p:nvSpPr>
        <p:spPr bwMode="auto">
          <a:xfrm>
            <a:off x="0" y="3913188"/>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62" name="Rectangle 4">
            <a:extLst>
              <a:ext uri="{FF2B5EF4-FFF2-40B4-BE49-F238E27FC236}">
                <a16:creationId xmlns:a16="http://schemas.microsoft.com/office/drawing/2014/main" id="{F45FDEBA-F216-4E47-94CB-366DAF68F6EE}"/>
              </a:ext>
            </a:extLst>
          </p:cNvPr>
          <p:cNvSpPr>
            <a:spLocks noChangeArrowheads="1"/>
          </p:cNvSpPr>
          <p:nvPr/>
        </p:nvSpPr>
        <p:spPr bwMode="auto">
          <a:xfrm>
            <a:off x="0" y="4910138"/>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63" name="Rectangle 5">
            <a:extLst>
              <a:ext uri="{FF2B5EF4-FFF2-40B4-BE49-F238E27FC236}">
                <a16:creationId xmlns:a16="http://schemas.microsoft.com/office/drawing/2014/main" id="{2EC2E5A4-105D-4717-8353-F18CD3815103}"/>
              </a:ext>
            </a:extLst>
          </p:cNvPr>
          <p:cNvSpPr>
            <a:spLocks noChangeArrowheads="1"/>
          </p:cNvSpPr>
          <p:nvPr/>
        </p:nvSpPr>
        <p:spPr bwMode="auto">
          <a:xfrm>
            <a:off x="0" y="4910138"/>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64" name="Rectangle 6">
            <a:extLst>
              <a:ext uri="{FF2B5EF4-FFF2-40B4-BE49-F238E27FC236}">
                <a16:creationId xmlns:a16="http://schemas.microsoft.com/office/drawing/2014/main" id="{F72FDFE8-56A4-4776-B1C1-FBEE1E9E672A}"/>
              </a:ext>
            </a:extLst>
          </p:cNvPr>
          <p:cNvSpPr>
            <a:spLocks noChangeArrowheads="1"/>
          </p:cNvSpPr>
          <p:nvPr/>
        </p:nvSpPr>
        <p:spPr bwMode="auto">
          <a:xfrm>
            <a:off x="0" y="48958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65" name="Rectangle 7">
            <a:extLst>
              <a:ext uri="{FF2B5EF4-FFF2-40B4-BE49-F238E27FC236}">
                <a16:creationId xmlns:a16="http://schemas.microsoft.com/office/drawing/2014/main" id="{4515A630-B47B-4643-9FA3-D1674EA453FD}"/>
              </a:ext>
            </a:extLst>
          </p:cNvPr>
          <p:cNvSpPr>
            <a:spLocks noChangeArrowheads="1"/>
          </p:cNvSpPr>
          <p:nvPr/>
        </p:nvSpPr>
        <p:spPr bwMode="auto">
          <a:xfrm>
            <a:off x="0" y="4833938"/>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66" name="Rectangle 8">
            <a:extLst>
              <a:ext uri="{FF2B5EF4-FFF2-40B4-BE49-F238E27FC236}">
                <a16:creationId xmlns:a16="http://schemas.microsoft.com/office/drawing/2014/main" id="{4D92FC77-5894-4941-B7D7-02EB6FAAEE1C}"/>
              </a:ext>
            </a:extLst>
          </p:cNvPr>
          <p:cNvSpPr>
            <a:spLocks noChangeArrowheads="1"/>
          </p:cNvSpPr>
          <p:nvPr/>
        </p:nvSpPr>
        <p:spPr bwMode="auto">
          <a:xfrm>
            <a:off x="0" y="48958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67" name="Rectangle 9">
            <a:extLst>
              <a:ext uri="{FF2B5EF4-FFF2-40B4-BE49-F238E27FC236}">
                <a16:creationId xmlns:a16="http://schemas.microsoft.com/office/drawing/2014/main" id="{610003EA-4295-465A-99ED-5531A88E07A0}"/>
              </a:ext>
            </a:extLst>
          </p:cNvPr>
          <p:cNvSpPr>
            <a:spLocks noChangeArrowheads="1"/>
          </p:cNvSpPr>
          <p:nvPr/>
        </p:nvSpPr>
        <p:spPr bwMode="auto">
          <a:xfrm>
            <a:off x="0" y="4424363"/>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68" name="Rectangle 10">
            <a:extLst>
              <a:ext uri="{FF2B5EF4-FFF2-40B4-BE49-F238E27FC236}">
                <a16:creationId xmlns:a16="http://schemas.microsoft.com/office/drawing/2014/main" id="{B47B5656-A1C1-4D42-BBFC-1C9FE3EC48D0}"/>
              </a:ext>
            </a:extLst>
          </p:cNvPr>
          <p:cNvSpPr>
            <a:spLocks noChangeArrowheads="1"/>
          </p:cNvSpPr>
          <p:nvPr/>
        </p:nvSpPr>
        <p:spPr bwMode="auto">
          <a:xfrm>
            <a:off x="0" y="48958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69" name="Rectangle 11">
            <a:extLst>
              <a:ext uri="{FF2B5EF4-FFF2-40B4-BE49-F238E27FC236}">
                <a16:creationId xmlns:a16="http://schemas.microsoft.com/office/drawing/2014/main" id="{539DF63C-6933-4EF5-B54D-7DB4BEB9A6B3}"/>
              </a:ext>
            </a:extLst>
          </p:cNvPr>
          <p:cNvSpPr>
            <a:spLocks noChangeArrowheads="1"/>
          </p:cNvSpPr>
          <p:nvPr/>
        </p:nvSpPr>
        <p:spPr bwMode="auto">
          <a:xfrm>
            <a:off x="0" y="4881563"/>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70" name="Rectangle 12">
            <a:extLst>
              <a:ext uri="{FF2B5EF4-FFF2-40B4-BE49-F238E27FC236}">
                <a16:creationId xmlns:a16="http://schemas.microsoft.com/office/drawing/2014/main" id="{1DE3A7B9-DC2C-410E-AC9C-4B6D0FB51B9A}"/>
              </a:ext>
            </a:extLst>
          </p:cNvPr>
          <p:cNvSpPr>
            <a:spLocks noChangeArrowheads="1"/>
          </p:cNvSpPr>
          <p:nvPr/>
        </p:nvSpPr>
        <p:spPr bwMode="auto">
          <a:xfrm>
            <a:off x="0" y="43624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71" name="Rectangle 14">
            <a:extLst>
              <a:ext uri="{FF2B5EF4-FFF2-40B4-BE49-F238E27FC236}">
                <a16:creationId xmlns:a16="http://schemas.microsoft.com/office/drawing/2014/main" id="{1524C8E0-7364-468D-B7FE-E56DD242C006}"/>
              </a:ext>
            </a:extLst>
          </p:cNvPr>
          <p:cNvSpPr>
            <a:spLocks noChangeArrowheads="1"/>
          </p:cNvSpPr>
          <p:nvPr/>
        </p:nvSpPr>
        <p:spPr bwMode="auto">
          <a:xfrm>
            <a:off x="0" y="4452938"/>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72" name="Rectangle 15">
            <a:extLst>
              <a:ext uri="{FF2B5EF4-FFF2-40B4-BE49-F238E27FC236}">
                <a16:creationId xmlns:a16="http://schemas.microsoft.com/office/drawing/2014/main" id="{AADC0D0D-9C25-4A90-8756-136AE8948408}"/>
              </a:ext>
            </a:extLst>
          </p:cNvPr>
          <p:cNvSpPr>
            <a:spLocks noChangeArrowheads="1"/>
          </p:cNvSpPr>
          <p:nvPr/>
        </p:nvSpPr>
        <p:spPr bwMode="auto">
          <a:xfrm>
            <a:off x="0" y="14033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73" name="Rectangle 17">
            <a:extLst>
              <a:ext uri="{FF2B5EF4-FFF2-40B4-BE49-F238E27FC236}">
                <a16:creationId xmlns:a16="http://schemas.microsoft.com/office/drawing/2014/main" id="{EEB4CC92-0B36-47BC-A9D4-ED76D9F382DE}"/>
              </a:ext>
            </a:extLst>
          </p:cNvPr>
          <p:cNvSpPr>
            <a:spLocks noChangeArrowheads="1"/>
          </p:cNvSpPr>
          <p:nvPr/>
        </p:nvSpPr>
        <p:spPr bwMode="auto">
          <a:xfrm>
            <a:off x="0" y="47815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74" name="Rectangle 21">
            <a:extLst>
              <a:ext uri="{FF2B5EF4-FFF2-40B4-BE49-F238E27FC236}">
                <a16:creationId xmlns:a16="http://schemas.microsoft.com/office/drawing/2014/main" id="{9DFDD14F-DCB0-4F49-ADCB-65A5CAC77B88}"/>
              </a:ext>
            </a:extLst>
          </p:cNvPr>
          <p:cNvSpPr>
            <a:spLocks noChangeArrowheads="1"/>
          </p:cNvSpPr>
          <p:nvPr/>
        </p:nvSpPr>
        <p:spPr bwMode="auto">
          <a:xfrm>
            <a:off x="0" y="4910138"/>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grpSp>
        <p:nvGrpSpPr>
          <p:cNvPr id="19475" name="Group 25">
            <a:extLst>
              <a:ext uri="{FF2B5EF4-FFF2-40B4-BE49-F238E27FC236}">
                <a16:creationId xmlns:a16="http://schemas.microsoft.com/office/drawing/2014/main" id="{2A528433-3705-4DCC-8C91-B024A7DF041C}"/>
              </a:ext>
            </a:extLst>
          </p:cNvPr>
          <p:cNvGrpSpPr>
            <a:grpSpLocks/>
          </p:cNvGrpSpPr>
          <p:nvPr/>
        </p:nvGrpSpPr>
        <p:grpSpPr bwMode="auto">
          <a:xfrm>
            <a:off x="714376" y="1493838"/>
            <a:ext cx="2332038" cy="2074862"/>
            <a:chOff x="4080" y="2544"/>
            <a:chExt cx="1469" cy="1307"/>
          </a:xfrm>
        </p:grpSpPr>
        <p:sp>
          <p:nvSpPr>
            <p:cNvPr id="19485" name="Rectangle 27">
              <a:extLst>
                <a:ext uri="{FF2B5EF4-FFF2-40B4-BE49-F238E27FC236}">
                  <a16:creationId xmlns:a16="http://schemas.microsoft.com/office/drawing/2014/main" id="{E7816DC9-253D-48EF-95DB-B9851C7B93CE}"/>
                </a:ext>
              </a:extLst>
            </p:cNvPr>
            <p:cNvSpPr>
              <a:spLocks noChangeArrowheads="1"/>
            </p:cNvSpPr>
            <p:nvPr/>
          </p:nvSpPr>
          <p:spPr bwMode="auto">
            <a:xfrm>
              <a:off x="4116" y="3175"/>
              <a:ext cx="1169" cy="51"/>
            </a:xfrm>
            <a:prstGeom prst="rect">
              <a:avLst/>
            </a:prstGeom>
            <a:solidFill>
              <a:srgbClr val="CC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86" name="Line 28">
              <a:extLst>
                <a:ext uri="{FF2B5EF4-FFF2-40B4-BE49-F238E27FC236}">
                  <a16:creationId xmlns:a16="http://schemas.microsoft.com/office/drawing/2014/main" id="{CF5A84D1-8D44-40A3-A61D-ED34B2FEE428}"/>
                </a:ext>
              </a:extLst>
            </p:cNvPr>
            <p:cNvSpPr>
              <a:spLocks noChangeShapeType="1"/>
            </p:cNvSpPr>
            <p:nvPr/>
          </p:nvSpPr>
          <p:spPr bwMode="auto">
            <a:xfrm>
              <a:off x="4209" y="2938"/>
              <a:ext cx="0" cy="237"/>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487" name="Line 29">
              <a:extLst>
                <a:ext uri="{FF2B5EF4-FFF2-40B4-BE49-F238E27FC236}">
                  <a16:creationId xmlns:a16="http://schemas.microsoft.com/office/drawing/2014/main" id="{F3EF404F-3546-4539-A9D7-DB4FACF82D57}"/>
                </a:ext>
              </a:extLst>
            </p:cNvPr>
            <p:cNvSpPr>
              <a:spLocks noChangeShapeType="1"/>
            </p:cNvSpPr>
            <p:nvPr/>
          </p:nvSpPr>
          <p:spPr bwMode="auto">
            <a:xfrm>
              <a:off x="4349" y="2938"/>
              <a:ext cx="0" cy="237"/>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488" name="Line 30">
              <a:extLst>
                <a:ext uri="{FF2B5EF4-FFF2-40B4-BE49-F238E27FC236}">
                  <a16:creationId xmlns:a16="http://schemas.microsoft.com/office/drawing/2014/main" id="{80F1D8D4-4915-4D4A-A794-75AB4BD02611}"/>
                </a:ext>
              </a:extLst>
            </p:cNvPr>
            <p:cNvSpPr>
              <a:spLocks noChangeShapeType="1"/>
            </p:cNvSpPr>
            <p:nvPr/>
          </p:nvSpPr>
          <p:spPr bwMode="auto">
            <a:xfrm>
              <a:off x="4489" y="2938"/>
              <a:ext cx="0" cy="237"/>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489" name="Line 31">
              <a:extLst>
                <a:ext uri="{FF2B5EF4-FFF2-40B4-BE49-F238E27FC236}">
                  <a16:creationId xmlns:a16="http://schemas.microsoft.com/office/drawing/2014/main" id="{11EC4722-D661-461F-8236-693128EF74E0}"/>
                </a:ext>
              </a:extLst>
            </p:cNvPr>
            <p:cNvSpPr>
              <a:spLocks noChangeShapeType="1"/>
            </p:cNvSpPr>
            <p:nvPr/>
          </p:nvSpPr>
          <p:spPr bwMode="auto">
            <a:xfrm>
              <a:off x="4628" y="2938"/>
              <a:ext cx="0" cy="237"/>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490" name="Line 32">
              <a:extLst>
                <a:ext uri="{FF2B5EF4-FFF2-40B4-BE49-F238E27FC236}">
                  <a16:creationId xmlns:a16="http://schemas.microsoft.com/office/drawing/2014/main" id="{FB3A631A-DAD4-4419-B7C2-1FA79B74260B}"/>
                </a:ext>
              </a:extLst>
            </p:cNvPr>
            <p:cNvSpPr>
              <a:spLocks noChangeShapeType="1"/>
            </p:cNvSpPr>
            <p:nvPr/>
          </p:nvSpPr>
          <p:spPr bwMode="auto">
            <a:xfrm>
              <a:off x="4768" y="2938"/>
              <a:ext cx="0" cy="237"/>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491" name="Line 33">
              <a:extLst>
                <a:ext uri="{FF2B5EF4-FFF2-40B4-BE49-F238E27FC236}">
                  <a16:creationId xmlns:a16="http://schemas.microsoft.com/office/drawing/2014/main" id="{8E197E25-B688-4AAF-AE24-64F0E1E4E08C}"/>
                </a:ext>
              </a:extLst>
            </p:cNvPr>
            <p:cNvSpPr>
              <a:spLocks noChangeShapeType="1"/>
            </p:cNvSpPr>
            <p:nvPr/>
          </p:nvSpPr>
          <p:spPr bwMode="auto">
            <a:xfrm>
              <a:off x="4908" y="2938"/>
              <a:ext cx="0" cy="237"/>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492" name="Line 34">
              <a:extLst>
                <a:ext uri="{FF2B5EF4-FFF2-40B4-BE49-F238E27FC236}">
                  <a16:creationId xmlns:a16="http://schemas.microsoft.com/office/drawing/2014/main" id="{B415E73D-597E-424A-B081-0792A5E1EC7E}"/>
                </a:ext>
              </a:extLst>
            </p:cNvPr>
            <p:cNvSpPr>
              <a:spLocks noChangeShapeType="1"/>
            </p:cNvSpPr>
            <p:nvPr/>
          </p:nvSpPr>
          <p:spPr bwMode="auto">
            <a:xfrm>
              <a:off x="5048" y="2938"/>
              <a:ext cx="0" cy="237"/>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493" name="Line 35">
              <a:extLst>
                <a:ext uri="{FF2B5EF4-FFF2-40B4-BE49-F238E27FC236}">
                  <a16:creationId xmlns:a16="http://schemas.microsoft.com/office/drawing/2014/main" id="{11298521-6967-4C2C-A272-9C40C464E7E0}"/>
                </a:ext>
              </a:extLst>
            </p:cNvPr>
            <p:cNvSpPr>
              <a:spLocks noChangeShapeType="1"/>
            </p:cNvSpPr>
            <p:nvPr/>
          </p:nvSpPr>
          <p:spPr bwMode="auto">
            <a:xfrm>
              <a:off x="5187" y="2938"/>
              <a:ext cx="0" cy="237"/>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494" name="Freeform 36">
              <a:extLst>
                <a:ext uri="{FF2B5EF4-FFF2-40B4-BE49-F238E27FC236}">
                  <a16:creationId xmlns:a16="http://schemas.microsoft.com/office/drawing/2014/main" id="{C0BCBF25-5BC5-4840-953F-37706AEAB149}"/>
                </a:ext>
              </a:extLst>
            </p:cNvPr>
            <p:cNvSpPr>
              <a:spLocks/>
            </p:cNvSpPr>
            <p:nvPr/>
          </p:nvSpPr>
          <p:spPr bwMode="auto">
            <a:xfrm>
              <a:off x="4080" y="2949"/>
              <a:ext cx="38" cy="226"/>
            </a:xfrm>
            <a:custGeom>
              <a:avLst/>
              <a:gdLst>
                <a:gd name="T0" fmla="*/ 0 w 85"/>
                <a:gd name="T1" fmla="*/ 0 h 504"/>
                <a:gd name="T2" fmla="*/ 0 w 85"/>
                <a:gd name="T3" fmla="*/ 0 h 504"/>
                <a:gd name="T4" fmla="*/ 0 w 85"/>
                <a:gd name="T5" fmla="*/ 0 h 504"/>
                <a:gd name="T6" fmla="*/ 0 60000 65536"/>
                <a:gd name="T7" fmla="*/ 0 60000 65536"/>
                <a:gd name="T8" fmla="*/ 0 60000 65536"/>
              </a:gdLst>
              <a:ahLst/>
              <a:cxnLst>
                <a:cxn ang="T6">
                  <a:pos x="T0" y="T1"/>
                </a:cxn>
                <a:cxn ang="T7">
                  <a:pos x="T2" y="T3"/>
                </a:cxn>
                <a:cxn ang="T8">
                  <a:pos x="T4" y="T5"/>
                </a:cxn>
              </a:cxnLst>
              <a:rect l="0" t="0" r="r" b="b"/>
              <a:pathLst>
                <a:path w="85" h="504">
                  <a:moveTo>
                    <a:pt x="85" y="0"/>
                  </a:moveTo>
                  <a:cubicBezTo>
                    <a:pt x="71" y="33"/>
                    <a:pt x="2" y="114"/>
                    <a:pt x="1" y="198"/>
                  </a:cubicBezTo>
                  <a:cubicBezTo>
                    <a:pt x="0" y="282"/>
                    <a:pt x="65" y="440"/>
                    <a:pt x="82" y="504"/>
                  </a:cubicBezTo>
                </a:path>
              </a:pathLst>
            </a:custGeom>
            <a:solidFill>
              <a:srgbClr val="CCFFFF"/>
            </a:solidFill>
            <a:ln w="6350" cap="flat" cmpd="sng">
              <a:solidFill>
                <a:srgbClr val="000000"/>
              </a:solidFill>
              <a:prstDash val="solid"/>
              <a:round/>
              <a:headEnd/>
              <a:tailEnd type="triangl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495" name="Freeform 37">
              <a:extLst>
                <a:ext uri="{FF2B5EF4-FFF2-40B4-BE49-F238E27FC236}">
                  <a16:creationId xmlns:a16="http://schemas.microsoft.com/office/drawing/2014/main" id="{DE83D6C3-4C65-4F69-A52F-F484511E6FDF}"/>
                </a:ext>
              </a:extLst>
            </p:cNvPr>
            <p:cNvSpPr>
              <a:spLocks/>
            </p:cNvSpPr>
            <p:nvPr/>
          </p:nvSpPr>
          <p:spPr bwMode="auto">
            <a:xfrm>
              <a:off x="5287" y="2947"/>
              <a:ext cx="32" cy="228"/>
            </a:xfrm>
            <a:custGeom>
              <a:avLst/>
              <a:gdLst>
                <a:gd name="T0" fmla="*/ 0 w 72"/>
                <a:gd name="T1" fmla="*/ 0 h 507"/>
                <a:gd name="T2" fmla="*/ 0 w 72"/>
                <a:gd name="T3" fmla="*/ 0 h 507"/>
                <a:gd name="T4" fmla="*/ 0 w 72"/>
                <a:gd name="T5" fmla="*/ 0 h 507"/>
                <a:gd name="T6" fmla="*/ 0 60000 65536"/>
                <a:gd name="T7" fmla="*/ 0 60000 65536"/>
                <a:gd name="T8" fmla="*/ 0 60000 65536"/>
              </a:gdLst>
              <a:ahLst/>
              <a:cxnLst>
                <a:cxn ang="T6">
                  <a:pos x="T0" y="T1"/>
                </a:cxn>
                <a:cxn ang="T7">
                  <a:pos x="T2" y="T3"/>
                </a:cxn>
                <a:cxn ang="T8">
                  <a:pos x="T4" y="T5"/>
                </a:cxn>
              </a:cxnLst>
              <a:rect l="0" t="0" r="r" b="b"/>
              <a:pathLst>
                <a:path w="72" h="507">
                  <a:moveTo>
                    <a:pt x="0" y="0"/>
                  </a:moveTo>
                  <a:cubicBezTo>
                    <a:pt x="21" y="33"/>
                    <a:pt x="72" y="120"/>
                    <a:pt x="72" y="204"/>
                  </a:cubicBezTo>
                  <a:cubicBezTo>
                    <a:pt x="72" y="288"/>
                    <a:pt x="18" y="444"/>
                    <a:pt x="3" y="507"/>
                  </a:cubicBezTo>
                </a:path>
              </a:pathLst>
            </a:custGeom>
            <a:solidFill>
              <a:srgbClr val="CCFFFF"/>
            </a:solidFill>
            <a:ln w="6350" cap="flat" cmpd="sng">
              <a:solidFill>
                <a:srgbClr val="000000"/>
              </a:solidFill>
              <a:prstDash val="solid"/>
              <a:round/>
              <a:headEnd/>
              <a:tailEnd type="triangl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496" name="Rectangle 38">
              <a:extLst>
                <a:ext uri="{FF2B5EF4-FFF2-40B4-BE49-F238E27FC236}">
                  <a16:creationId xmlns:a16="http://schemas.microsoft.com/office/drawing/2014/main" id="{9CCBCC0A-7325-4FB9-8F6C-2120AA273863}"/>
                </a:ext>
              </a:extLst>
            </p:cNvPr>
            <p:cNvSpPr>
              <a:spLocks noChangeArrowheads="1"/>
            </p:cNvSpPr>
            <p:nvPr/>
          </p:nvSpPr>
          <p:spPr bwMode="auto">
            <a:xfrm>
              <a:off x="4116" y="2895"/>
              <a:ext cx="1169" cy="50"/>
            </a:xfrm>
            <a:prstGeom prst="rect">
              <a:avLst/>
            </a:prstGeom>
            <a:solidFill>
              <a:srgbClr val="CC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97" name="Line 39">
              <a:extLst>
                <a:ext uri="{FF2B5EF4-FFF2-40B4-BE49-F238E27FC236}">
                  <a16:creationId xmlns:a16="http://schemas.microsoft.com/office/drawing/2014/main" id="{5FFBAC82-1FD2-4F09-A083-24C014E9B1DC}"/>
                </a:ext>
              </a:extLst>
            </p:cNvPr>
            <p:cNvSpPr>
              <a:spLocks noChangeShapeType="1"/>
            </p:cNvSpPr>
            <p:nvPr/>
          </p:nvSpPr>
          <p:spPr bwMode="auto">
            <a:xfrm flipV="1">
              <a:off x="4693" y="2614"/>
              <a:ext cx="0" cy="281"/>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498" name="Line 40">
              <a:extLst>
                <a:ext uri="{FF2B5EF4-FFF2-40B4-BE49-F238E27FC236}">
                  <a16:creationId xmlns:a16="http://schemas.microsoft.com/office/drawing/2014/main" id="{3334BA96-6881-4FCD-AE9D-74B3B9FED06C}"/>
                </a:ext>
              </a:extLst>
            </p:cNvPr>
            <p:cNvSpPr>
              <a:spLocks noChangeShapeType="1"/>
            </p:cNvSpPr>
            <p:nvPr/>
          </p:nvSpPr>
          <p:spPr bwMode="auto">
            <a:xfrm>
              <a:off x="4693" y="3227"/>
              <a:ext cx="0" cy="281"/>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499" name="Oval 41">
              <a:extLst>
                <a:ext uri="{FF2B5EF4-FFF2-40B4-BE49-F238E27FC236}">
                  <a16:creationId xmlns:a16="http://schemas.microsoft.com/office/drawing/2014/main" id="{DBC51A21-5176-4FBA-AF43-5DD8DDDEDCA3}"/>
                </a:ext>
              </a:extLst>
            </p:cNvPr>
            <p:cNvSpPr>
              <a:spLocks noChangeAspect="1" noChangeArrowheads="1"/>
            </p:cNvSpPr>
            <p:nvPr/>
          </p:nvSpPr>
          <p:spPr bwMode="auto">
            <a:xfrm>
              <a:off x="4675" y="3511"/>
              <a:ext cx="35" cy="36"/>
            </a:xfrm>
            <a:prstGeom prst="ellipse">
              <a:avLst/>
            </a:prstGeom>
            <a:solidFill>
              <a:srgbClr val="CC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500" name="Oval 42">
              <a:extLst>
                <a:ext uri="{FF2B5EF4-FFF2-40B4-BE49-F238E27FC236}">
                  <a16:creationId xmlns:a16="http://schemas.microsoft.com/office/drawing/2014/main" id="{7EECF6C7-2815-409C-AF8D-7BE14067E65F}"/>
                </a:ext>
              </a:extLst>
            </p:cNvPr>
            <p:cNvSpPr>
              <a:spLocks noChangeAspect="1" noChangeArrowheads="1"/>
            </p:cNvSpPr>
            <p:nvPr/>
          </p:nvSpPr>
          <p:spPr bwMode="auto">
            <a:xfrm>
              <a:off x="4675" y="2579"/>
              <a:ext cx="35" cy="35"/>
            </a:xfrm>
            <a:prstGeom prst="ellipse">
              <a:avLst/>
            </a:prstGeom>
            <a:solidFill>
              <a:srgbClr val="CC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501" name="Text Box 43">
              <a:extLst>
                <a:ext uri="{FF2B5EF4-FFF2-40B4-BE49-F238E27FC236}">
                  <a16:creationId xmlns:a16="http://schemas.microsoft.com/office/drawing/2014/main" id="{EED9E264-5768-474C-9536-A3465AD614E1}"/>
                </a:ext>
              </a:extLst>
            </p:cNvPr>
            <p:cNvSpPr txBox="1">
              <a:spLocks noChangeArrowheads="1"/>
            </p:cNvSpPr>
            <p:nvPr/>
          </p:nvSpPr>
          <p:spPr bwMode="auto">
            <a:xfrm>
              <a:off x="4722" y="2544"/>
              <a:ext cx="94" cy="140"/>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en-US" altLang="zh-CN" sz="1200" b="1">
                  <a:latin typeface="Times New Roman" panose="02020603050405020304" pitchFamily="18" charset="0"/>
                </a:rPr>
                <a:t>+</a:t>
              </a:r>
            </a:p>
          </p:txBody>
        </p:sp>
        <p:sp>
          <p:nvSpPr>
            <p:cNvPr id="19502" name="Text Box 44">
              <a:extLst>
                <a:ext uri="{FF2B5EF4-FFF2-40B4-BE49-F238E27FC236}">
                  <a16:creationId xmlns:a16="http://schemas.microsoft.com/office/drawing/2014/main" id="{D3B5695A-0407-43EE-B121-2971F384F6DC}"/>
                </a:ext>
              </a:extLst>
            </p:cNvPr>
            <p:cNvSpPr txBox="1">
              <a:spLocks noChangeArrowheads="1"/>
            </p:cNvSpPr>
            <p:nvPr/>
          </p:nvSpPr>
          <p:spPr bwMode="auto">
            <a:xfrm>
              <a:off x="4722" y="3455"/>
              <a:ext cx="94" cy="141"/>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en-US" altLang="zh-CN" sz="1200" b="1">
                  <a:latin typeface="Times New Roman" panose="02020603050405020304" pitchFamily="18" charset="0"/>
                </a:rPr>
                <a:t>-</a:t>
              </a:r>
            </a:p>
          </p:txBody>
        </p:sp>
        <p:sp>
          <p:nvSpPr>
            <p:cNvPr id="19503" name="Line 45">
              <a:extLst>
                <a:ext uri="{FF2B5EF4-FFF2-40B4-BE49-F238E27FC236}">
                  <a16:creationId xmlns:a16="http://schemas.microsoft.com/office/drawing/2014/main" id="{B4C30A05-F377-4EF9-AD9E-DC439F62E793}"/>
                </a:ext>
              </a:extLst>
            </p:cNvPr>
            <p:cNvSpPr>
              <a:spLocks noChangeShapeType="1"/>
            </p:cNvSpPr>
            <p:nvPr/>
          </p:nvSpPr>
          <p:spPr bwMode="auto">
            <a:xfrm>
              <a:off x="5316" y="2947"/>
              <a:ext cx="23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504" name="Line 46">
              <a:extLst>
                <a:ext uri="{FF2B5EF4-FFF2-40B4-BE49-F238E27FC236}">
                  <a16:creationId xmlns:a16="http://schemas.microsoft.com/office/drawing/2014/main" id="{4C270124-3747-4E93-A2DD-F47CCB52FA70}"/>
                </a:ext>
              </a:extLst>
            </p:cNvPr>
            <p:cNvSpPr>
              <a:spLocks noChangeShapeType="1"/>
            </p:cNvSpPr>
            <p:nvPr/>
          </p:nvSpPr>
          <p:spPr bwMode="auto">
            <a:xfrm>
              <a:off x="5316" y="3175"/>
              <a:ext cx="23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505" name="Line 47">
              <a:extLst>
                <a:ext uri="{FF2B5EF4-FFF2-40B4-BE49-F238E27FC236}">
                  <a16:creationId xmlns:a16="http://schemas.microsoft.com/office/drawing/2014/main" id="{ACA8D117-65EA-426F-AE7A-9CFCB04565D7}"/>
                </a:ext>
              </a:extLst>
            </p:cNvPr>
            <p:cNvSpPr>
              <a:spLocks noChangeShapeType="1"/>
            </p:cNvSpPr>
            <p:nvPr/>
          </p:nvSpPr>
          <p:spPr bwMode="auto">
            <a:xfrm>
              <a:off x="5467" y="2938"/>
              <a:ext cx="0" cy="237"/>
            </a:xfrm>
            <a:prstGeom prst="line">
              <a:avLst/>
            </a:prstGeom>
            <a:noFill/>
            <a:ln w="9525">
              <a:solidFill>
                <a:srgbClr val="000000"/>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506" name="Text Box 48">
              <a:extLst>
                <a:ext uri="{FF2B5EF4-FFF2-40B4-BE49-F238E27FC236}">
                  <a16:creationId xmlns:a16="http://schemas.microsoft.com/office/drawing/2014/main" id="{D4D67822-E00A-457C-8924-97D1E479EAD5}"/>
                </a:ext>
              </a:extLst>
            </p:cNvPr>
            <p:cNvSpPr txBox="1">
              <a:spLocks noChangeArrowheads="1"/>
            </p:cNvSpPr>
            <p:nvPr/>
          </p:nvSpPr>
          <p:spPr bwMode="auto">
            <a:xfrm>
              <a:off x="5420" y="2993"/>
              <a:ext cx="94" cy="115"/>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en-US" altLang="zh-CN" sz="1400" b="1" i="1">
                  <a:latin typeface="Times New Roman" panose="02020603050405020304" pitchFamily="18" charset="0"/>
                </a:rPr>
                <a:t>d</a:t>
              </a:r>
              <a:endParaRPr kumimoji="1" lang="en-US" altLang="zh-CN" sz="1000" b="1" i="1">
                <a:latin typeface="Times New Roman" panose="02020603050405020304" pitchFamily="18" charset="0"/>
              </a:endParaRPr>
            </a:p>
          </p:txBody>
        </p:sp>
        <p:sp>
          <p:nvSpPr>
            <p:cNvPr id="19507" name="Line 49">
              <a:extLst>
                <a:ext uri="{FF2B5EF4-FFF2-40B4-BE49-F238E27FC236}">
                  <a16:creationId xmlns:a16="http://schemas.microsoft.com/office/drawing/2014/main" id="{D5A7BA30-E459-4079-B372-85FAD1EA7533}"/>
                </a:ext>
              </a:extLst>
            </p:cNvPr>
            <p:cNvSpPr>
              <a:spLocks noChangeShapeType="1"/>
            </p:cNvSpPr>
            <p:nvPr/>
          </p:nvSpPr>
          <p:spPr bwMode="auto">
            <a:xfrm flipH="1">
              <a:off x="4954" y="2754"/>
              <a:ext cx="140" cy="141"/>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graphicFrame>
          <p:nvGraphicFramePr>
            <p:cNvPr id="19508" name="Object 50">
              <a:extLst>
                <a:ext uri="{FF2B5EF4-FFF2-40B4-BE49-F238E27FC236}">
                  <a16:creationId xmlns:a16="http://schemas.microsoft.com/office/drawing/2014/main" id="{91E4A401-246C-4867-A304-D73F9DC2FBF2}"/>
                </a:ext>
              </a:extLst>
            </p:cNvPr>
            <p:cNvGraphicFramePr>
              <a:graphicFrameLocks noChangeAspect="1"/>
            </p:cNvGraphicFramePr>
            <p:nvPr/>
          </p:nvGraphicFramePr>
          <p:xfrm>
            <a:off x="4106" y="2592"/>
            <a:ext cx="146" cy="162"/>
          </p:xfrm>
          <a:graphic>
            <a:graphicData uri="http://schemas.openxmlformats.org/presentationml/2006/ole">
              <mc:AlternateContent xmlns:mc="http://schemas.openxmlformats.org/markup-compatibility/2006">
                <mc:Choice xmlns:v="urn:schemas-microsoft-com:vml" Requires="v">
                  <p:oleObj spid="_x0000_s19679" name="公式" r:id="rId5" imgW="126835" imgH="139518" progId="Equation.3">
                    <p:embed/>
                  </p:oleObj>
                </mc:Choice>
                <mc:Fallback>
                  <p:oleObj name="公式" r:id="rId5" imgW="126835" imgH="139518" progId="Equation.3">
                    <p:embed/>
                    <p:pic>
                      <p:nvPicPr>
                        <p:cNvPr id="0" name="Object 5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06" y="2592"/>
                          <a:ext cx="146" cy="162"/>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509" name="Freeform 51">
              <a:extLst>
                <a:ext uri="{FF2B5EF4-FFF2-40B4-BE49-F238E27FC236}">
                  <a16:creationId xmlns:a16="http://schemas.microsoft.com/office/drawing/2014/main" id="{EC404E1A-17EC-4C60-92FD-25BD8E9483EC}"/>
                </a:ext>
              </a:extLst>
            </p:cNvPr>
            <p:cNvSpPr>
              <a:spLocks/>
            </p:cNvSpPr>
            <p:nvPr/>
          </p:nvSpPr>
          <p:spPr bwMode="auto">
            <a:xfrm>
              <a:off x="4209" y="2754"/>
              <a:ext cx="83" cy="303"/>
            </a:xfrm>
            <a:custGeom>
              <a:avLst/>
              <a:gdLst>
                <a:gd name="T0" fmla="*/ 0 w 186"/>
                <a:gd name="T1" fmla="*/ 0 h 674"/>
                <a:gd name="T2" fmla="*/ 0 w 186"/>
                <a:gd name="T3" fmla="*/ 0 h 674"/>
                <a:gd name="T4" fmla="*/ 0 60000 65536"/>
                <a:gd name="T5" fmla="*/ 0 60000 65536"/>
              </a:gdLst>
              <a:ahLst/>
              <a:cxnLst>
                <a:cxn ang="T4">
                  <a:pos x="T0" y="T1"/>
                </a:cxn>
                <a:cxn ang="T5">
                  <a:pos x="T2" y="T3"/>
                </a:cxn>
              </a:cxnLst>
              <a:rect l="0" t="0" r="r" b="b"/>
              <a:pathLst>
                <a:path w="186" h="674">
                  <a:moveTo>
                    <a:pt x="0" y="0"/>
                  </a:moveTo>
                  <a:lnTo>
                    <a:pt x="186" y="674"/>
                  </a:lnTo>
                </a:path>
              </a:pathLst>
            </a:custGeom>
            <a:solidFill>
              <a:srgbClr val="CCFFFF"/>
            </a:solidFill>
            <a:ln w="9525" cap="flat" cmpd="sng">
              <a:solidFill>
                <a:srgbClr val="000000"/>
              </a:solidFill>
              <a:prstDash val="solid"/>
              <a:round/>
              <a:headEnd type="none" w="med" len="med"/>
              <a:tailEnd type="triangl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510" name="Text Box 52">
              <a:extLst>
                <a:ext uri="{FF2B5EF4-FFF2-40B4-BE49-F238E27FC236}">
                  <a16:creationId xmlns:a16="http://schemas.microsoft.com/office/drawing/2014/main" id="{469ACED9-20BC-4F0D-9095-9A9EF3141E1D}"/>
                </a:ext>
              </a:extLst>
            </p:cNvPr>
            <p:cNvSpPr txBox="1">
              <a:spLocks noChangeArrowheads="1"/>
            </p:cNvSpPr>
            <p:nvPr/>
          </p:nvSpPr>
          <p:spPr bwMode="auto">
            <a:xfrm>
              <a:off x="4163" y="3641"/>
              <a:ext cx="1164" cy="210"/>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zh-CN" altLang="en-US" sz="1600" b="1">
                  <a:latin typeface="Times New Roman" panose="02020603050405020304" pitchFamily="18" charset="0"/>
                </a:rPr>
                <a:t>平行板电容器</a:t>
              </a:r>
            </a:p>
          </p:txBody>
        </p:sp>
        <p:sp>
          <p:nvSpPr>
            <p:cNvPr id="19511" name="Text Box 53">
              <a:extLst>
                <a:ext uri="{FF2B5EF4-FFF2-40B4-BE49-F238E27FC236}">
                  <a16:creationId xmlns:a16="http://schemas.microsoft.com/office/drawing/2014/main" id="{64935FEE-6A41-42C8-80CD-B410B32B6FD5}"/>
                </a:ext>
              </a:extLst>
            </p:cNvPr>
            <p:cNvSpPr txBox="1">
              <a:spLocks noChangeArrowheads="1"/>
            </p:cNvSpPr>
            <p:nvPr/>
          </p:nvSpPr>
          <p:spPr bwMode="auto">
            <a:xfrm>
              <a:off x="4868" y="3354"/>
              <a:ext cx="374" cy="153"/>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zh-CN" altLang="en-US" sz="1400" dirty="0">
                  <a:latin typeface="Times New Roman" panose="02020603050405020304" pitchFamily="18" charset="0"/>
                </a:rPr>
                <a:t>电力线</a:t>
              </a:r>
              <a:endParaRPr kumimoji="1" lang="zh-CN" altLang="en-US" sz="1200" dirty="0">
                <a:latin typeface="Times New Roman" panose="02020603050405020304" pitchFamily="18" charset="0"/>
              </a:endParaRPr>
            </a:p>
          </p:txBody>
        </p:sp>
        <p:sp>
          <p:nvSpPr>
            <p:cNvPr id="19512" name="Freeform 54">
              <a:extLst>
                <a:ext uri="{FF2B5EF4-FFF2-40B4-BE49-F238E27FC236}">
                  <a16:creationId xmlns:a16="http://schemas.microsoft.com/office/drawing/2014/main" id="{F733B721-B7F7-4AB5-BA67-0505DBC3D8E1}"/>
                </a:ext>
              </a:extLst>
            </p:cNvPr>
            <p:cNvSpPr>
              <a:spLocks/>
            </p:cNvSpPr>
            <p:nvPr/>
          </p:nvSpPr>
          <p:spPr bwMode="auto">
            <a:xfrm>
              <a:off x="5032" y="3034"/>
              <a:ext cx="157" cy="326"/>
            </a:xfrm>
            <a:custGeom>
              <a:avLst/>
              <a:gdLst>
                <a:gd name="T0" fmla="*/ 0 w 614"/>
                <a:gd name="T1" fmla="*/ 0 h 726"/>
                <a:gd name="T2" fmla="*/ 0 w 614"/>
                <a:gd name="T3" fmla="*/ 0 h 726"/>
                <a:gd name="T4" fmla="*/ 0 60000 65536"/>
                <a:gd name="T5" fmla="*/ 0 60000 65536"/>
              </a:gdLst>
              <a:ahLst/>
              <a:cxnLst>
                <a:cxn ang="T4">
                  <a:pos x="T0" y="T1"/>
                </a:cxn>
                <a:cxn ang="T5">
                  <a:pos x="T2" y="T3"/>
                </a:cxn>
              </a:cxnLst>
              <a:rect l="0" t="0" r="r" b="b"/>
              <a:pathLst>
                <a:path w="614" h="726">
                  <a:moveTo>
                    <a:pt x="0" y="726"/>
                  </a:moveTo>
                  <a:lnTo>
                    <a:pt x="614" y="0"/>
                  </a:lnTo>
                </a:path>
              </a:pathLst>
            </a:custGeom>
            <a:solidFill>
              <a:srgbClr val="CCFFFF"/>
            </a:solidFill>
            <a:ln w="9525" cap="flat" cmpd="sng">
              <a:solidFill>
                <a:srgbClr val="000000"/>
              </a:solidFill>
              <a:prstDash val="solid"/>
              <a:round/>
              <a:headEnd type="none" w="med" len="med"/>
              <a:tailEnd type="triangl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graphicFrame>
          <p:nvGraphicFramePr>
            <p:cNvPr id="19513" name="Object 55">
              <a:extLst>
                <a:ext uri="{FF2B5EF4-FFF2-40B4-BE49-F238E27FC236}">
                  <a16:creationId xmlns:a16="http://schemas.microsoft.com/office/drawing/2014/main" id="{63FF722A-B508-4B32-AC54-5C4D93D87A2F}"/>
                </a:ext>
              </a:extLst>
            </p:cNvPr>
            <p:cNvGraphicFramePr>
              <a:graphicFrameLocks noChangeAspect="1"/>
            </p:cNvGraphicFramePr>
            <p:nvPr/>
          </p:nvGraphicFramePr>
          <p:xfrm>
            <a:off x="4896" y="2586"/>
            <a:ext cx="419" cy="180"/>
          </p:xfrm>
          <a:graphic>
            <a:graphicData uri="http://schemas.openxmlformats.org/presentationml/2006/ole">
              <mc:AlternateContent xmlns:mc="http://schemas.openxmlformats.org/markup-compatibility/2006">
                <mc:Choice xmlns:v="urn:schemas-microsoft-com:vml" Requires="v">
                  <p:oleObj spid="_x0000_s19680" name="公式" r:id="rId7" imgW="533169" imgH="228501" progId="Equation.3">
                    <p:embed/>
                  </p:oleObj>
                </mc:Choice>
                <mc:Fallback>
                  <p:oleObj name="公式" r:id="rId7" imgW="533169" imgH="228501" progId="Equation.3">
                    <p:embed/>
                    <p:pic>
                      <p:nvPicPr>
                        <p:cNvPr id="0" name="Object 5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96" y="2586"/>
                          <a:ext cx="419"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514" name="Object 56">
              <a:extLst>
                <a:ext uri="{FF2B5EF4-FFF2-40B4-BE49-F238E27FC236}">
                  <a16:creationId xmlns:a16="http://schemas.microsoft.com/office/drawing/2014/main" id="{23FD5410-1801-4872-949F-060025A5E3C7}"/>
                </a:ext>
              </a:extLst>
            </p:cNvPr>
            <p:cNvGraphicFramePr>
              <a:graphicFrameLocks noChangeAspect="1"/>
            </p:cNvGraphicFramePr>
            <p:nvPr/>
          </p:nvGraphicFramePr>
          <p:xfrm>
            <a:off x="5341" y="2730"/>
            <a:ext cx="108" cy="152"/>
          </p:xfrm>
          <a:graphic>
            <a:graphicData uri="http://schemas.openxmlformats.org/presentationml/2006/ole">
              <mc:AlternateContent xmlns:mc="http://schemas.openxmlformats.org/markup-compatibility/2006">
                <mc:Choice xmlns:v="urn:schemas-microsoft-com:vml" Requires="v">
                  <p:oleObj spid="_x0000_s19681" name="公式" r:id="rId9" imgW="126725" imgH="177415" progId="Equation.3">
                    <p:embed/>
                  </p:oleObj>
                </mc:Choice>
                <mc:Fallback>
                  <p:oleObj name="公式" r:id="rId9" imgW="126725" imgH="177415" progId="Equation.3">
                    <p:embed/>
                    <p:pic>
                      <p:nvPicPr>
                        <p:cNvPr id="0" name="Object 5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41" y="2730"/>
                          <a:ext cx="108" cy="1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515" name="Line 57">
              <a:extLst>
                <a:ext uri="{FF2B5EF4-FFF2-40B4-BE49-F238E27FC236}">
                  <a16:creationId xmlns:a16="http://schemas.microsoft.com/office/drawing/2014/main" id="{0A3F1E74-5ED9-4634-9BD1-716566123D7A}"/>
                </a:ext>
              </a:extLst>
            </p:cNvPr>
            <p:cNvSpPr>
              <a:spLocks noChangeShapeType="1"/>
            </p:cNvSpPr>
            <p:nvPr/>
          </p:nvSpPr>
          <p:spPr bwMode="auto">
            <a:xfrm>
              <a:off x="5307" y="2880"/>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spAutoFit/>
            </a:bodyPr>
            <a:lstStyle/>
            <a:p>
              <a:endParaRPr lang="zh-CN" altLang="en-US"/>
            </a:p>
          </p:txBody>
        </p:sp>
        <p:sp>
          <p:nvSpPr>
            <p:cNvPr id="19516" name="Line 58">
              <a:extLst>
                <a:ext uri="{FF2B5EF4-FFF2-40B4-BE49-F238E27FC236}">
                  <a16:creationId xmlns:a16="http://schemas.microsoft.com/office/drawing/2014/main" id="{01D61C9E-CAC1-4CF2-BEE5-1C66FDFF2156}"/>
                </a:ext>
              </a:extLst>
            </p:cNvPr>
            <p:cNvSpPr>
              <a:spLocks noChangeShapeType="1"/>
            </p:cNvSpPr>
            <p:nvPr/>
          </p:nvSpPr>
          <p:spPr bwMode="auto">
            <a:xfrm flipH="1">
              <a:off x="5473" y="2736"/>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nchor="ctr">
              <a:spAutoFit/>
            </a:bodyPr>
            <a:lstStyle/>
            <a:p>
              <a:endParaRPr lang="zh-CN" altLang="en-US"/>
            </a:p>
          </p:txBody>
        </p:sp>
      </p:grpSp>
      <p:sp>
        <p:nvSpPr>
          <p:cNvPr id="19477" name="Rectangle 60">
            <a:extLst>
              <a:ext uri="{FF2B5EF4-FFF2-40B4-BE49-F238E27FC236}">
                <a16:creationId xmlns:a16="http://schemas.microsoft.com/office/drawing/2014/main" id="{18F848CC-4ADE-48BB-A253-89879D1F98A3}"/>
              </a:ext>
            </a:extLst>
          </p:cNvPr>
          <p:cNvSpPr>
            <a:spLocks noChangeArrowheads="1"/>
          </p:cNvSpPr>
          <p:nvPr/>
        </p:nvSpPr>
        <p:spPr bwMode="auto">
          <a:xfrm>
            <a:off x="142875" y="4525963"/>
            <a:ext cx="8821738" cy="1422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2000" b="1" dirty="0">
                <a:latin typeface="微软雅黑" panose="020B0503020204020204" pitchFamily="34" charset="-122"/>
                <a:ea typeface="微软雅黑" panose="020B0503020204020204" pitchFamily="34" charset="-122"/>
              </a:rPr>
              <a:t>①</a:t>
            </a:r>
            <a:r>
              <a:rPr lang="zh-CN" altLang="en-US" sz="2000" b="1" dirty="0">
                <a:solidFill>
                  <a:srgbClr val="FF0000"/>
                </a:solidFill>
                <a:latin typeface="微软雅黑" panose="020B0503020204020204" pitchFamily="34" charset="-122"/>
                <a:ea typeface="微软雅黑" panose="020B0503020204020204" pitchFamily="34" charset="-122"/>
              </a:rPr>
              <a:t>变极距型  </a:t>
            </a:r>
            <a:r>
              <a:rPr lang="zh-CN" altLang="en-US" sz="2000" b="1" dirty="0">
                <a:latin typeface="微软雅黑" panose="020B0503020204020204" pitchFamily="34" charset="-122"/>
                <a:ea typeface="微软雅黑" panose="020B0503020204020204" pitchFamily="34" charset="-122"/>
              </a:rPr>
              <a:t>覆盖面积和介电常数不变，被测量为极距。用于测量机械位移。</a:t>
            </a:r>
          </a:p>
          <a:p>
            <a:pPr>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②</a:t>
            </a:r>
            <a:r>
              <a:rPr lang="zh-CN" altLang="en-US" sz="2000" b="1" dirty="0">
                <a:solidFill>
                  <a:srgbClr val="FF0000"/>
                </a:solidFill>
                <a:latin typeface="微软雅黑" panose="020B0503020204020204" pitchFamily="34" charset="-122"/>
                <a:ea typeface="微软雅黑" panose="020B0503020204020204" pitchFamily="34" charset="-122"/>
              </a:rPr>
              <a:t>变面积型  </a:t>
            </a:r>
            <a:r>
              <a:rPr lang="zh-CN" altLang="en-US" sz="2000" b="1" dirty="0">
                <a:latin typeface="微软雅黑" panose="020B0503020204020204" pitchFamily="34" charset="-122"/>
                <a:ea typeface="微软雅黑" panose="020B0503020204020204" pitchFamily="34" charset="-122"/>
              </a:rPr>
              <a:t>改变覆盖面积</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覆盖长度或宽度），用于测量位移。</a:t>
            </a:r>
          </a:p>
          <a:p>
            <a:pPr>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③</a:t>
            </a:r>
            <a:r>
              <a:rPr lang="zh-CN" altLang="en-US" sz="2000" b="1" dirty="0">
                <a:solidFill>
                  <a:srgbClr val="FF0000"/>
                </a:solidFill>
                <a:latin typeface="微软雅黑" panose="020B0503020204020204" pitchFamily="34" charset="-122"/>
                <a:ea typeface="微软雅黑" panose="020B0503020204020204" pitchFamily="34" charset="-122"/>
              </a:rPr>
              <a:t>变介电常数型  </a:t>
            </a:r>
            <a:r>
              <a:rPr lang="zh-CN" altLang="en-US" sz="2000" b="1" dirty="0">
                <a:latin typeface="微软雅黑" panose="020B0503020204020204" pitchFamily="34" charset="-122"/>
                <a:ea typeface="微软雅黑" panose="020B0503020204020204" pitchFamily="34" charset="-122"/>
              </a:rPr>
              <a:t>覆盖面积及极距均不变，改变</a:t>
            </a:r>
            <a:r>
              <a:rPr lang="el-GR" altLang="zh-CN" sz="2000" b="1" dirty="0">
                <a:latin typeface="微软雅黑" panose="020B0503020204020204" pitchFamily="34" charset="-122"/>
                <a:ea typeface="微软雅黑" panose="020B0503020204020204" pitchFamily="34" charset="-122"/>
              </a:rPr>
              <a:t>ε</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。测量物性参数、物位等</a:t>
            </a:r>
            <a:endParaRPr lang="en-US" altLang="zh-CN" sz="2000" b="1" dirty="0">
              <a:latin typeface="微软雅黑" panose="020B0503020204020204" pitchFamily="34" charset="-122"/>
              <a:ea typeface="微软雅黑" panose="020B0503020204020204" pitchFamily="34" charset="-122"/>
            </a:endParaRPr>
          </a:p>
        </p:txBody>
      </p:sp>
      <p:sp>
        <p:nvSpPr>
          <p:cNvPr id="62" name="矩形 61">
            <a:extLst>
              <a:ext uri="{FF2B5EF4-FFF2-40B4-BE49-F238E27FC236}">
                <a16:creationId xmlns:a16="http://schemas.microsoft.com/office/drawing/2014/main" id="{70E19D76-429F-43F1-8FAC-B10BFBD67D6B}"/>
              </a:ext>
            </a:extLst>
          </p:cNvPr>
          <p:cNvSpPr/>
          <p:nvPr/>
        </p:nvSpPr>
        <p:spPr>
          <a:xfrm>
            <a:off x="179388" y="836613"/>
            <a:ext cx="7848600" cy="71437"/>
          </a:xfrm>
          <a:prstGeom prst="rect">
            <a:avLst/>
          </a:prstGeom>
          <a:gradFill flip="none" rotWithShape="1">
            <a:gsLst>
              <a:gs pos="0">
                <a:srgbClr val="5E9EFF"/>
              </a:gs>
              <a:gs pos="39999">
                <a:srgbClr val="85C2FF"/>
              </a:gs>
              <a:gs pos="70000">
                <a:srgbClr val="C4D6EB"/>
              </a:gs>
              <a:gs pos="100000">
                <a:srgbClr val="FFEBFA"/>
              </a:gs>
            </a:gsLst>
            <a:lin ang="0" scaled="0"/>
            <a:tileRect/>
          </a:gradFill>
          <a:ln w="25400" cap="flat" cmpd="sng" algn="ctr">
            <a:noFill/>
            <a:prstDash val="solid"/>
          </a:ln>
          <a:effectLst/>
        </p:spPr>
        <p:txBody>
          <a:bodyPr anchor="ctr"/>
          <a:lstStyle/>
          <a:p>
            <a:pPr>
              <a:lnSpc>
                <a:spcPct val="120000"/>
              </a:lnSpc>
              <a:defRPr/>
            </a:pPr>
            <a:endParaRPr lang="zh-CN" altLang="en-US" sz="2000" kern="0">
              <a:solidFill>
                <a:srgbClr val="FFFFFF"/>
              </a:solidFill>
              <a:latin typeface="Times New Roman"/>
              <a:ea typeface="宋体"/>
            </a:endParaRPr>
          </a:p>
        </p:txBody>
      </p:sp>
      <p:sp>
        <p:nvSpPr>
          <p:cNvPr id="2" name="矩形 1">
            <a:extLst>
              <a:ext uri="{FF2B5EF4-FFF2-40B4-BE49-F238E27FC236}">
                <a16:creationId xmlns:a16="http://schemas.microsoft.com/office/drawing/2014/main" id="{C597CBA7-8623-4132-8F37-9855EAFF5898}"/>
              </a:ext>
            </a:extLst>
          </p:cNvPr>
          <p:cNvSpPr>
            <a:spLocks noChangeArrowheads="1"/>
          </p:cNvSpPr>
          <p:nvPr/>
        </p:nvSpPr>
        <p:spPr bwMode="auto">
          <a:xfrm>
            <a:off x="3611563" y="3829050"/>
            <a:ext cx="4572000" cy="646113"/>
          </a:xfrm>
          <a:prstGeom prst="rect">
            <a:avLst/>
          </a:prstGeom>
          <a:blipFill dpi="0" rotWithShape="0">
            <a:blip r:embed="rId11"/>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b="1">
                <a:solidFill>
                  <a:srgbClr val="0099FF"/>
                </a:solidFill>
                <a:latin typeface="微软雅黑" panose="020B0503020204020204" pitchFamily="34" charset="-122"/>
                <a:ea typeface="微软雅黑" panose="020B0503020204020204" pitchFamily="34" charset="-122"/>
              </a:rPr>
              <a:t>改变</a:t>
            </a:r>
            <a:r>
              <a:rPr lang="en-US" altLang="zh-CN" sz="1800" b="1">
                <a:solidFill>
                  <a:srgbClr val="0099FF"/>
                </a:solidFill>
                <a:latin typeface="微软雅黑" panose="020B0503020204020204" pitchFamily="34" charset="-122"/>
                <a:ea typeface="微软雅黑" panose="020B0503020204020204" pitchFamily="34" charset="-122"/>
              </a:rPr>
              <a:t>A</a:t>
            </a:r>
            <a:r>
              <a:rPr lang="zh-CN" altLang="en-US" sz="1800" b="1">
                <a:solidFill>
                  <a:srgbClr val="0099FF"/>
                </a:solidFill>
                <a:latin typeface="微软雅黑" panose="020B0503020204020204" pitchFamily="34" charset="-122"/>
                <a:ea typeface="微软雅黑" panose="020B0503020204020204" pitchFamily="34" charset="-122"/>
              </a:rPr>
              <a:t>、</a:t>
            </a:r>
            <a:r>
              <a:rPr lang="en-US" altLang="zh-CN" sz="1800" b="1">
                <a:solidFill>
                  <a:srgbClr val="0099FF"/>
                </a:solidFill>
                <a:latin typeface="微软雅黑" panose="020B0503020204020204" pitchFamily="34" charset="-122"/>
                <a:ea typeface="微软雅黑" panose="020B0503020204020204" pitchFamily="34" charset="-122"/>
              </a:rPr>
              <a:t>d</a:t>
            </a:r>
            <a:r>
              <a:rPr lang="zh-CN" altLang="en-US" sz="1800" b="1">
                <a:solidFill>
                  <a:srgbClr val="0099FF"/>
                </a:solidFill>
                <a:latin typeface="微软雅黑" panose="020B0503020204020204" pitchFamily="34" charset="-122"/>
                <a:ea typeface="微软雅黑" panose="020B0503020204020204" pitchFamily="34" charset="-122"/>
              </a:rPr>
              <a:t>、</a:t>
            </a:r>
            <a:r>
              <a:rPr lang="zh-CN" altLang="en-US" sz="1800" b="1">
                <a:solidFill>
                  <a:srgbClr val="0099FF"/>
                </a:solidFill>
                <a:latin typeface="微软雅黑" panose="020B0503020204020204" pitchFamily="34" charset="-122"/>
                <a:ea typeface="微软雅黑" panose="020B0503020204020204" pitchFamily="34" charset="-122"/>
                <a:sym typeface="Symbol" panose="05050102010706020507" pitchFamily="18" charset="2"/>
              </a:rPr>
              <a:t> </a:t>
            </a:r>
            <a:r>
              <a:rPr lang="zh-CN" altLang="en-US" sz="1800" b="1">
                <a:solidFill>
                  <a:srgbClr val="0099FF"/>
                </a:solidFill>
                <a:latin typeface="微软雅黑" panose="020B0503020204020204" pitchFamily="34" charset="-122"/>
                <a:ea typeface="微软雅黑" panose="020B0503020204020204" pitchFamily="34" charset="-122"/>
              </a:rPr>
              <a:t>三个参量中的任意一个量，均可使平板电容的电容量</a:t>
            </a:r>
            <a:r>
              <a:rPr lang="en-US" altLang="zh-CN" sz="1800" b="1">
                <a:solidFill>
                  <a:srgbClr val="0099FF"/>
                </a:solidFill>
                <a:latin typeface="微软雅黑" panose="020B0503020204020204" pitchFamily="34" charset="-122"/>
                <a:ea typeface="微软雅黑" panose="020B0503020204020204" pitchFamily="34" charset="-122"/>
              </a:rPr>
              <a:t>C </a:t>
            </a:r>
            <a:r>
              <a:rPr lang="zh-CN" altLang="en-US" sz="1800" b="1">
                <a:solidFill>
                  <a:srgbClr val="0099FF"/>
                </a:solidFill>
                <a:latin typeface="微软雅黑" panose="020B0503020204020204" pitchFamily="34" charset="-122"/>
                <a:ea typeface="微软雅黑" panose="020B0503020204020204" pitchFamily="34" charset="-122"/>
              </a:rPr>
              <a:t>改变。</a:t>
            </a:r>
            <a:endParaRPr lang="zh-CN" altLang="en-US" sz="1800">
              <a:solidFill>
                <a:srgbClr val="0099FF"/>
              </a:solidFill>
            </a:endParaRPr>
          </a:p>
        </p:txBody>
      </p:sp>
      <p:pic>
        <p:nvPicPr>
          <p:cNvPr id="19479" name="图片 2">
            <a:extLst>
              <a:ext uri="{FF2B5EF4-FFF2-40B4-BE49-F238E27FC236}">
                <a16:creationId xmlns:a16="http://schemas.microsoft.com/office/drawing/2014/main" id="{F903A63F-86C3-4F0B-9BDF-9E2654DF8AD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18075" y="2732088"/>
            <a:ext cx="2182813"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a:extLst>
              <a:ext uri="{FF2B5EF4-FFF2-40B4-BE49-F238E27FC236}">
                <a16:creationId xmlns:a16="http://schemas.microsoft.com/office/drawing/2014/main" id="{6D0144ED-9128-4586-80C2-E73D55CB82D0}"/>
              </a:ext>
            </a:extLst>
          </p:cNvPr>
          <p:cNvGrpSpPr>
            <a:grpSpLocks/>
          </p:cNvGrpSpPr>
          <p:nvPr/>
        </p:nvGrpSpPr>
        <p:grpSpPr bwMode="auto">
          <a:xfrm>
            <a:off x="204788" y="2495550"/>
            <a:ext cx="1233487" cy="1520825"/>
            <a:chOff x="204102" y="2495549"/>
            <a:chExt cx="1233487" cy="1520826"/>
          </a:xfrm>
        </p:grpSpPr>
        <p:sp>
          <p:nvSpPr>
            <p:cNvPr id="19482" name="Text Box 51">
              <a:extLst>
                <a:ext uri="{FF2B5EF4-FFF2-40B4-BE49-F238E27FC236}">
                  <a16:creationId xmlns:a16="http://schemas.microsoft.com/office/drawing/2014/main" id="{A57A7D97-E084-42CF-BF5C-46F9ED9368B9}"/>
                </a:ext>
              </a:extLst>
            </p:cNvPr>
            <p:cNvSpPr txBox="1">
              <a:spLocks noChangeArrowheads="1"/>
            </p:cNvSpPr>
            <p:nvPr/>
          </p:nvSpPr>
          <p:spPr bwMode="auto">
            <a:xfrm>
              <a:off x="204102" y="3717925"/>
              <a:ext cx="1233487"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zh-CN" altLang="en-US" sz="1800" b="1">
                  <a:solidFill>
                    <a:srgbClr val="0000FF"/>
                  </a:solidFill>
                  <a:latin typeface="楷体_GB2312" pitchFamily="49" charset="-122"/>
                  <a:ea typeface="楷体_GB2312" pitchFamily="49" charset="-122"/>
                </a:rPr>
                <a:t>边缘效应</a:t>
              </a:r>
            </a:p>
          </p:txBody>
        </p:sp>
        <p:sp>
          <p:nvSpPr>
            <p:cNvPr id="19483" name="Line 52">
              <a:extLst>
                <a:ext uri="{FF2B5EF4-FFF2-40B4-BE49-F238E27FC236}">
                  <a16:creationId xmlns:a16="http://schemas.microsoft.com/office/drawing/2014/main" id="{B6AF453B-AD42-4045-B751-E9DD66466C6D}"/>
                </a:ext>
              </a:extLst>
            </p:cNvPr>
            <p:cNvSpPr>
              <a:spLocks noChangeShapeType="1"/>
            </p:cNvSpPr>
            <p:nvPr/>
          </p:nvSpPr>
          <p:spPr bwMode="auto">
            <a:xfrm flipV="1">
              <a:off x="482601" y="2495549"/>
              <a:ext cx="195262" cy="1094151"/>
            </a:xfrm>
            <a:prstGeom prst="line">
              <a:avLst/>
            </a:prstGeom>
            <a:noFill/>
            <a:ln w="190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nchor="ctr">
              <a:spAutoFit/>
            </a:bodyPr>
            <a:lstStyle/>
            <a:p>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xit" presetSubtype="4" fill="hold" nodeType="clickEffect">
                                  <p:stCondLst>
                                    <p:cond delay="0"/>
                                  </p:stCondLst>
                                  <p:childTnLst>
                                    <p:anim calcmode="lin" valueType="num">
                                      <p:cBhvr additive="base">
                                        <p:cTn id="18" dur="500"/>
                                        <p:tgtEl>
                                          <p:spTgt spid="4"/>
                                        </p:tgtEl>
                                        <p:attrNameLst>
                                          <p:attrName>ppt_x</p:attrName>
                                        </p:attrNameLst>
                                      </p:cBhvr>
                                      <p:tavLst>
                                        <p:tav tm="0">
                                          <p:val>
                                            <p:strVal val="ppt_x"/>
                                          </p:val>
                                        </p:tav>
                                        <p:tav tm="100000">
                                          <p:val>
                                            <p:strVal val="ppt_x"/>
                                          </p:val>
                                        </p:tav>
                                      </p:tavLst>
                                    </p:anim>
                                    <p:anim calcmode="lin" valueType="num">
                                      <p:cBhvr additive="base">
                                        <p:cTn id="19" dur="500"/>
                                        <p:tgtEl>
                                          <p:spTgt spid="4"/>
                                        </p:tgtEl>
                                        <p:attrNameLst>
                                          <p:attrName>ppt_y</p:attrName>
                                        </p:attrNameLst>
                                      </p:cBhvr>
                                      <p:tavLst>
                                        <p:tav tm="0">
                                          <p:val>
                                            <p:strVal val="ppt_y"/>
                                          </p:val>
                                        </p:tav>
                                        <p:tav tm="100000">
                                          <p:val>
                                            <p:strVal val="1+ppt_h/2"/>
                                          </p:val>
                                        </p:tav>
                                      </p:tavLst>
                                    </p:anim>
                                    <p:set>
                                      <p:cBhvr>
                                        <p:cTn id="20" dur="1" fill="hold">
                                          <p:stCondLst>
                                            <p:cond delay="499"/>
                                          </p:stCondLst>
                                        </p:cTn>
                                        <p:tgtEl>
                                          <p:spTgt spid="4"/>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down)">
                                      <p:cBhvr>
                                        <p:cTn id="25" dur="580">
                                          <p:stCondLst>
                                            <p:cond delay="0"/>
                                          </p:stCondLst>
                                        </p:cTn>
                                        <p:tgtEl>
                                          <p:spTgt spid="2"/>
                                        </p:tgtEl>
                                      </p:cBhvr>
                                    </p:animEffect>
                                    <p:anim calcmode="lin" valueType="num">
                                      <p:cBhvr>
                                        <p:cTn id="26"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31" dur="26">
                                          <p:stCondLst>
                                            <p:cond delay="650"/>
                                          </p:stCondLst>
                                        </p:cTn>
                                        <p:tgtEl>
                                          <p:spTgt spid="2"/>
                                        </p:tgtEl>
                                      </p:cBhvr>
                                      <p:to x="100000" y="60000"/>
                                    </p:animScale>
                                    <p:animScale>
                                      <p:cBhvr>
                                        <p:cTn id="32" dur="166" decel="50000">
                                          <p:stCondLst>
                                            <p:cond delay="676"/>
                                          </p:stCondLst>
                                        </p:cTn>
                                        <p:tgtEl>
                                          <p:spTgt spid="2"/>
                                        </p:tgtEl>
                                      </p:cBhvr>
                                      <p:to x="100000" y="100000"/>
                                    </p:animScale>
                                    <p:animScale>
                                      <p:cBhvr>
                                        <p:cTn id="33" dur="26">
                                          <p:stCondLst>
                                            <p:cond delay="1312"/>
                                          </p:stCondLst>
                                        </p:cTn>
                                        <p:tgtEl>
                                          <p:spTgt spid="2"/>
                                        </p:tgtEl>
                                      </p:cBhvr>
                                      <p:to x="100000" y="80000"/>
                                    </p:animScale>
                                    <p:animScale>
                                      <p:cBhvr>
                                        <p:cTn id="34" dur="166" decel="50000">
                                          <p:stCondLst>
                                            <p:cond delay="1338"/>
                                          </p:stCondLst>
                                        </p:cTn>
                                        <p:tgtEl>
                                          <p:spTgt spid="2"/>
                                        </p:tgtEl>
                                      </p:cBhvr>
                                      <p:to x="100000" y="100000"/>
                                    </p:animScale>
                                    <p:animScale>
                                      <p:cBhvr>
                                        <p:cTn id="35" dur="26">
                                          <p:stCondLst>
                                            <p:cond delay="1642"/>
                                          </p:stCondLst>
                                        </p:cTn>
                                        <p:tgtEl>
                                          <p:spTgt spid="2"/>
                                        </p:tgtEl>
                                      </p:cBhvr>
                                      <p:to x="100000" y="90000"/>
                                    </p:animScale>
                                    <p:animScale>
                                      <p:cBhvr>
                                        <p:cTn id="36" dur="166" decel="50000">
                                          <p:stCondLst>
                                            <p:cond delay="1668"/>
                                          </p:stCondLst>
                                        </p:cTn>
                                        <p:tgtEl>
                                          <p:spTgt spid="2"/>
                                        </p:tgtEl>
                                      </p:cBhvr>
                                      <p:to x="100000" y="100000"/>
                                    </p:animScale>
                                    <p:animScale>
                                      <p:cBhvr>
                                        <p:cTn id="37" dur="26">
                                          <p:stCondLst>
                                            <p:cond delay="1808"/>
                                          </p:stCondLst>
                                        </p:cTn>
                                        <p:tgtEl>
                                          <p:spTgt spid="2"/>
                                        </p:tgtEl>
                                      </p:cBhvr>
                                      <p:to x="100000" y="95000"/>
                                    </p:animScale>
                                    <p:animScale>
                                      <p:cBhvr>
                                        <p:cTn id="38" dur="166" decel="50000">
                                          <p:stCondLst>
                                            <p:cond delay="1834"/>
                                          </p:stCondLst>
                                        </p:cTn>
                                        <p:tgtEl>
                                          <p:spTgt spid="2"/>
                                        </p:tgtEl>
                                      </p:cBhvr>
                                      <p:to x="100000" y="100000"/>
                                    </p:animScale>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9477"/>
                                        </p:tgtEl>
                                        <p:attrNameLst>
                                          <p:attrName>style.visibility</p:attrName>
                                        </p:attrNameLst>
                                      </p:cBhvr>
                                      <p:to>
                                        <p:strVal val="visible"/>
                                      </p:to>
                                    </p:set>
                                    <p:anim calcmode="lin" valueType="num">
                                      <p:cBhvr additive="base">
                                        <p:cTn id="43" dur="500" fill="hold"/>
                                        <p:tgtEl>
                                          <p:spTgt spid="19477"/>
                                        </p:tgtEl>
                                        <p:attrNameLst>
                                          <p:attrName>ppt_x</p:attrName>
                                        </p:attrNameLst>
                                      </p:cBhvr>
                                      <p:tavLst>
                                        <p:tav tm="0">
                                          <p:val>
                                            <p:strVal val="#ppt_x"/>
                                          </p:val>
                                        </p:tav>
                                        <p:tav tm="100000">
                                          <p:val>
                                            <p:strVal val="#ppt_x"/>
                                          </p:val>
                                        </p:tav>
                                      </p:tavLst>
                                    </p:anim>
                                    <p:anim calcmode="lin" valueType="num">
                                      <p:cBhvr additive="base">
                                        <p:cTn id="44" dur="500" fill="hold"/>
                                        <p:tgtEl>
                                          <p:spTgt spid="194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77" grpId="0"/>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a:extLst>
              <a:ext uri="{FF2B5EF4-FFF2-40B4-BE49-F238E27FC236}">
                <a16:creationId xmlns:a16="http://schemas.microsoft.com/office/drawing/2014/main" id="{7A9FD77E-39E5-47E1-AEAD-60FFAE815225}"/>
              </a:ext>
            </a:extLst>
          </p:cNvPr>
          <p:cNvSpPr txBox="1">
            <a:spLocks noChangeArrowheads="1"/>
          </p:cNvSpPr>
          <p:nvPr/>
        </p:nvSpPr>
        <p:spPr bwMode="auto">
          <a:xfrm>
            <a:off x="155575" y="369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1.1  </a:t>
            </a:r>
            <a:r>
              <a:rPr kumimoji="1" lang="zh-CN" altLang="en-US" sz="2800" b="1">
                <a:solidFill>
                  <a:srgbClr val="C00000"/>
                </a:solidFill>
                <a:latin typeface="微软雅黑" panose="020B0503020204020204" pitchFamily="34" charset="-122"/>
                <a:ea typeface="微软雅黑" panose="020B0503020204020204" pitchFamily="34" charset="-122"/>
              </a:rPr>
              <a:t>变极距型电容传感器</a:t>
            </a:r>
          </a:p>
        </p:txBody>
      </p:sp>
      <p:sp>
        <p:nvSpPr>
          <p:cNvPr id="5" name="矩形 4">
            <a:extLst>
              <a:ext uri="{FF2B5EF4-FFF2-40B4-BE49-F238E27FC236}">
                <a16:creationId xmlns:a16="http://schemas.microsoft.com/office/drawing/2014/main" id="{CD400D67-6AB0-47E8-996E-38FB31FC83F0}"/>
              </a:ext>
            </a:extLst>
          </p:cNvPr>
          <p:cNvSpPr/>
          <p:nvPr/>
        </p:nvSpPr>
        <p:spPr>
          <a:xfrm>
            <a:off x="155575" y="1023938"/>
            <a:ext cx="8015288" cy="58737"/>
          </a:xfrm>
          <a:prstGeom prst="rect">
            <a:avLst/>
          </a:prstGeom>
          <a:gradFill flip="none" rotWithShape="1">
            <a:gsLst>
              <a:gs pos="0">
                <a:srgbClr val="5E9EFF"/>
              </a:gs>
              <a:gs pos="39999">
                <a:srgbClr val="85C2FF"/>
              </a:gs>
              <a:gs pos="70000">
                <a:srgbClr val="C4D6EB"/>
              </a:gs>
              <a:gs pos="100000">
                <a:srgbClr val="FFEBFA"/>
              </a:gs>
            </a:gsLst>
            <a:lin ang="0" scaled="0"/>
            <a:tileRect/>
          </a:gradFill>
          <a:ln w="25400" cap="flat" cmpd="sng" algn="ctr">
            <a:noFill/>
            <a:prstDash val="solid"/>
          </a:ln>
          <a:effectLst/>
        </p:spPr>
        <p:txBody>
          <a:bodyPr anchor="ctr"/>
          <a:lstStyle/>
          <a:p>
            <a:pPr>
              <a:lnSpc>
                <a:spcPct val="120000"/>
              </a:lnSpc>
              <a:defRPr/>
            </a:pPr>
            <a:endParaRPr lang="zh-CN" altLang="en-US" sz="2000" kern="0">
              <a:solidFill>
                <a:srgbClr val="FFFFFF"/>
              </a:solidFill>
              <a:latin typeface="Times New Roman"/>
              <a:ea typeface="宋体"/>
            </a:endParaRPr>
          </a:p>
        </p:txBody>
      </p:sp>
      <p:sp>
        <p:nvSpPr>
          <p:cNvPr id="21508" name="灯片编号占位符 1">
            <a:extLst>
              <a:ext uri="{FF2B5EF4-FFF2-40B4-BE49-F238E27FC236}">
                <a16:creationId xmlns:a16="http://schemas.microsoft.com/office/drawing/2014/main" id="{22A6172F-7614-4C8C-819B-C7E7D4CB09DC}"/>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E9EC6E03-82AF-4E2D-8AB8-4E07F4AD568C}" type="slidenum">
              <a:rPr lang="en-US" altLang="zh-CN" smtClean="0"/>
              <a:pPr/>
              <a:t>4</a:t>
            </a:fld>
            <a:endParaRPr lang="en-US" altLang="zh-CN"/>
          </a:p>
        </p:txBody>
      </p:sp>
      <p:sp>
        <p:nvSpPr>
          <p:cNvPr id="21509" name="Rectangle 12">
            <a:extLst>
              <a:ext uri="{FF2B5EF4-FFF2-40B4-BE49-F238E27FC236}">
                <a16:creationId xmlns:a16="http://schemas.microsoft.com/office/drawing/2014/main" id="{F3B85D15-FE55-449F-80BF-E1E911471122}"/>
              </a:ext>
            </a:extLst>
          </p:cNvPr>
          <p:cNvSpPr>
            <a:spLocks noChangeArrowheads="1"/>
          </p:cNvSpPr>
          <p:nvPr/>
        </p:nvSpPr>
        <p:spPr bwMode="auto">
          <a:xfrm>
            <a:off x="4479925" y="2057400"/>
            <a:ext cx="1841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1510" name="Rectangle 13">
            <a:extLst>
              <a:ext uri="{FF2B5EF4-FFF2-40B4-BE49-F238E27FC236}">
                <a16:creationId xmlns:a16="http://schemas.microsoft.com/office/drawing/2014/main" id="{ACDC0773-18EA-4343-A338-0C2D6D8DCB8F}"/>
              </a:ext>
            </a:extLst>
          </p:cNvPr>
          <p:cNvSpPr>
            <a:spLocks noChangeArrowheads="1"/>
          </p:cNvSpPr>
          <p:nvPr/>
        </p:nvSpPr>
        <p:spPr bwMode="auto">
          <a:xfrm>
            <a:off x="4479925" y="539750"/>
            <a:ext cx="1841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1511" name="Rectangle 15">
            <a:extLst>
              <a:ext uri="{FF2B5EF4-FFF2-40B4-BE49-F238E27FC236}">
                <a16:creationId xmlns:a16="http://schemas.microsoft.com/office/drawing/2014/main" id="{6FFAEE92-8FBE-4CCD-AAC9-DC7BA35BBD81}"/>
              </a:ext>
            </a:extLst>
          </p:cNvPr>
          <p:cNvSpPr>
            <a:spLocks noChangeArrowheads="1"/>
          </p:cNvSpPr>
          <p:nvPr/>
        </p:nvSpPr>
        <p:spPr bwMode="auto">
          <a:xfrm>
            <a:off x="4479925" y="539750"/>
            <a:ext cx="1841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grpSp>
        <p:nvGrpSpPr>
          <p:cNvPr id="21512" name="组合 6">
            <a:extLst>
              <a:ext uri="{FF2B5EF4-FFF2-40B4-BE49-F238E27FC236}">
                <a16:creationId xmlns:a16="http://schemas.microsoft.com/office/drawing/2014/main" id="{CF09B6A7-7604-4489-A9E9-24B306ABA9E3}"/>
              </a:ext>
            </a:extLst>
          </p:cNvPr>
          <p:cNvGrpSpPr>
            <a:grpSpLocks/>
          </p:cNvGrpSpPr>
          <p:nvPr/>
        </p:nvGrpSpPr>
        <p:grpSpPr bwMode="auto">
          <a:xfrm>
            <a:off x="5254626" y="511470"/>
            <a:ext cx="2906711" cy="2801938"/>
            <a:chOff x="5148263" y="2633663"/>
            <a:chExt cx="2906712" cy="2801937"/>
          </a:xfrm>
        </p:grpSpPr>
        <p:sp>
          <p:nvSpPr>
            <p:cNvPr id="21520" name="Rectangle 55">
              <a:extLst>
                <a:ext uri="{FF2B5EF4-FFF2-40B4-BE49-F238E27FC236}">
                  <a16:creationId xmlns:a16="http://schemas.microsoft.com/office/drawing/2014/main" id="{C7B24910-DAC9-45C1-94EE-D5D29B9082CE}"/>
                </a:ext>
              </a:extLst>
            </p:cNvPr>
            <p:cNvSpPr>
              <a:spLocks noChangeArrowheads="1"/>
            </p:cNvSpPr>
            <p:nvPr/>
          </p:nvSpPr>
          <p:spPr bwMode="auto">
            <a:xfrm>
              <a:off x="5219700" y="4037013"/>
              <a:ext cx="2312988" cy="112712"/>
            </a:xfrm>
            <a:prstGeom prst="rect">
              <a:avLst/>
            </a:prstGeom>
            <a:solidFill>
              <a:srgbClr val="CC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1521" name="Line 56">
              <a:extLst>
                <a:ext uri="{FF2B5EF4-FFF2-40B4-BE49-F238E27FC236}">
                  <a16:creationId xmlns:a16="http://schemas.microsoft.com/office/drawing/2014/main" id="{2E05A42C-32E2-4115-8AE4-4E59BD85410E}"/>
                </a:ext>
              </a:extLst>
            </p:cNvPr>
            <p:cNvSpPr>
              <a:spLocks noChangeShapeType="1"/>
            </p:cNvSpPr>
            <p:nvPr/>
          </p:nvSpPr>
          <p:spPr bwMode="auto">
            <a:xfrm>
              <a:off x="5403850" y="3509963"/>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22" name="Line 57">
              <a:extLst>
                <a:ext uri="{FF2B5EF4-FFF2-40B4-BE49-F238E27FC236}">
                  <a16:creationId xmlns:a16="http://schemas.microsoft.com/office/drawing/2014/main" id="{0122385C-CCED-4012-8E4B-B98DC70333F7}"/>
                </a:ext>
              </a:extLst>
            </p:cNvPr>
            <p:cNvSpPr>
              <a:spLocks noChangeShapeType="1"/>
            </p:cNvSpPr>
            <p:nvPr/>
          </p:nvSpPr>
          <p:spPr bwMode="auto">
            <a:xfrm>
              <a:off x="5681663" y="3509963"/>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23" name="Line 58">
              <a:extLst>
                <a:ext uri="{FF2B5EF4-FFF2-40B4-BE49-F238E27FC236}">
                  <a16:creationId xmlns:a16="http://schemas.microsoft.com/office/drawing/2014/main" id="{B2A7D012-22CD-406E-989B-35532B3957DB}"/>
                </a:ext>
              </a:extLst>
            </p:cNvPr>
            <p:cNvSpPr>
              <a:spLocks noChangeShapeType="1"/>
            </p:cNvSpPr>
            <p:nvPr/>
          </p:nvSpPr>
          <p:spPr bwMode="auto">
            <a:xfrm>
              <a:off x="5957888" y="3509963"/>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24" name="Line 59">
              <a:extLst>
                <a:ext uri="{FF2B5EF4-FFF2-40B4-BE49-F238E27FC236}">
                  <a16:creationId xmlns:a16="http://schemas.microsoft.com/office/drawing/2014/main" id="{0B30A90B-3A9C-4428-A596-880340A69E20}"/>
                </a:ext>
              </a:extLst>
            </p:cNvPr>
            <p:cNvSpPr>
              <a:spLocks noChangeShapeType="1"/>
            </p:cNvSpPr>
            <p:nvPr/>
          </p:nvSpPr>
          <p:spPr bwMode="auto">
            <a:xfrm>
              <a:off x="6232525" y="3509963"/>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25" name="Line 60">
              <a:extLst>
                <a:ext uri="{FF2B5EF4-FFF2-40B4-BE49-F238E27FC236}">
                  <a16:creationId xmlns:a16="http://schemas.microsoft.com/office/drawing/2014/main" id="{036B6590-F1CF-444D-A5FE-1010C9967F73}"/>
                </a:ext>
              </a:extLst>
            </p:cNvPr>
            <p:cNvSpPr>
              <a:spLocks noChangeShapeType="1"/>
            </p:cNvSpPr>
            <p:nvPr/>
          </p:nvSpPr>
          <p:spPr bwMode="auto">
            <a:xfrm>
              <a:off x="6510338" y="3509963"/>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dirty="0"/>
            </a:p>
          </p:txBody>
        </p:sp>
        <p:sp>
          <p:nvSpPr>
            <p:cNvPr id="21526" name="Line 61">
              <a:extLst>
                <a:ext uri="{FF2B5EF4-FFF2-40B4-BE49-F238E27FC236}">
                  <a16:creationId xmlns:a16="http://schemas.microsoft.com/office/drawing/2014/main" id="{58114E06-8CC3-4AF9-A126-66B835258E79}"/>
                </a:ext>
              </a:extLst>
            </p:cNvPr>
            <p:cNvSpPr>
              <a:spLocks noChangeShapeType="1"/>
            </p:cNvSpPr>
            <p:nvPr/>
          </p:nvSpPr>
          <p:spPr bwMode="auto">
            <a:xfrm>
              <a:off x="6786563" y="3509963"/>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27" name="Line 62">
              <a:extLst>
                <a:ext uri="{FF2B5EF4-FFF2-40B4-BE49-F238E27FC236}">
                  <a16:creationId xmlns:a16="http://schemas.microsoft.com/office/drawing/2014/main" id="{BB19CC19-BDB0-4768-9104-1930ABE07390}"/>
                </a:ext>
              </a:extLst>
            </p:cNvPr>
            <p:cNvSpPr>
              <a:spLocks noChangeShapeType="1"/>
            </p:cNvSpPr>
            <p:nvPr/>
          </p:nvSpPr>
          <p:spPr bwMode="auto">
            <a:xfrm>
              <a:off x="7062788" y="3509963"/>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28" name="Line 63">
              <a:extLst>
                <a:ext uri="{FF2B5EF4-FFF2-40B4-BE49-F238E27FC236}">
                  <a16:creationId xmlns:a16="http://schemas.microsoft.com/office/drawing/2014/main" id="{A16C03A5-0154-43FE-987D-41D5FF8FDD31}"/>
                </a:ext>
              </a:extLst>
            </p:cNvPr>
            <p:cNvSpPr>
              <a:spLocks noChangeShapeType="1"/>
            </p:cNvSpPr>
            <p:nvPr/>
          </p:nvSpPr>
          <p:spPr bwMode="auto">
            <a:xfrm>
              <a:off x="7339013" y="3509963"/>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29" name="Freeform 64">
              <a:extLst>
                <a:ext uri="{FF2B5EF4-FFF2-40B4-BE49-F238E27FC236}">
                  <a16:creationId xmlns:a16="http://schemas.microsoft.com/office/drawing/2014/main" id="{A294FD51-8573-49BC-BBDC-127DC8E679FF}"/>
                </a:ext>
              </a:extLst>
            </p:cNvPr>
            <p:cNvSpPr>
              <a:spLocks/>
            </p:cNvSpPr>
            <p:nvPr/>
          </p:nvSpPr>
          <p:spPr bwMode="auto">
            <a:xfrm>
              <a:off x="5148263" y="3533775"/>
              <a:ext cx="76200" cy="503238"/>
            </a:xfrm>
            <a:custGeom>
              <a:avLst/>
              <a:gdLst>
                <a:gd name="T0" fmla="*/ 2147483646 w 85"/>
                <a:gd name="T1" fmla="*/ 0 h 504"/>
                <a:gd name="T2" fmla="*/ 0 w 85"/>
                <a:gd name="T3" fmla="*/ 2147483646 h 504"/>
                <a:gd name="T4" fmla="*/ 2147483646 w 85"/>
                <a:gd name="T5" fmla="*/ 2147483646 h 504"/>
                <a:gd name="T6" fmla="*/ 0 60000 65536"/>
                <a:gd name="T7" fmla="*/ 0 60000 65536"/>
                <a:gd name="T8" fmla="*/ 0 60000 65536"/>
              </a:gdLst>
              <a:ahLst/>
              <a:cxnLst>
                <a:cxn ang="T6">
                  <a:pos x="T0" y="T1"/>
                </a:cxn>
                <a:cxn ang="T7">
                  <a:pos x="T2" y="T3"/>
                </a:cxn>
                <a:cxn ang="T8">
                  <a:pos x="T4" y="T5"/>
                </a:cxn>
              </a:cxnLst>
              <a:rect l="0" t="0" r="r" b="b"/>
              <a:pathLst>
                <a:path w="85" h="504">
                  <a:moveTo>
                    <a:pt x="85" y="0"/>
                  </a:moveTo>
                  <a:cubicBezTo>
                    <a:pt x="71" y="33"/>
                    <a:pt x="2" y="114"/>
                    <a:pt x="1" y="198"/>
                  </a:cubicBezTo>
                  <a:cubicBezTo>
                    <a:pt x="0" y="282"/>
                    <a:pt x="65" y="440"/>
                    <a:pt x="82" y="504"/>
                  </a:cubicBezTo>
                </a:path>
              </a:pathLst>
            </a:custGeom>
            <a:solidFill>
              <a:srgbClr val="CCFFFF"/>
            </a:solidFill>
            <a:ln w="6350" cap="flat" cmpd="sng">
              <a:solidFill>
                <a:srgbClr val="000000"/>
              </a:solidFill>
              <a:prstDash val="solid"/>
              <a:round/>
              <a:headEnd/>
              <a:tailEnd type="triangl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30" name="Freeform 65">
              <a:extLst>
                <a:ext uri="{FF2B5EF4-FFF2-40B4-BE49-F238E27FC236}">
                  <a16:creationId xmlns:a16="http://schemas.microsoft.com/office/drawing/2014/main" id="{BE2EDE21-4D6C-4923-B1D4-D454589E4BFF}"/>
                </a:ext>
              </a:extLst>
            </p:cNvPr>
            <p:cNvSpPr>
              <a:spLocks/>
            </p:cNvSpPr>
            <p:nvPr/>
          </p:nvSpPr>
          <p:spPr bwMode="auto">
            <a:xfrm>
              <a:off x="7535863" y="3529013"/>
              <a:ext cx="63500" cy="508000"/>
            </a:xfrm>
            <a:custGeom>
              <a:avLst/>
              <a:gdLst>
                <a:gd name="T0" fmla="*/ 0 w 72"/>
                <a:gd name="T1" fmla="*/ 0 h 507"/>
                <a:gd name="T2" fmla="*/ 2147483646 w 72"/>
                <a:gd name="T3" fmla="*/ 2147483646 h 507"/>
                <a:gd name="T4" fmla="*/ 0 w 72"/>
                <a:gd name="T5" fmla="*/ 2147483646 h 507"/>
                <a:gd name="T6" fmla="*/ 0 60000 65536"/>
                <a:gd name="T7" fmla="*/ 0 60000 65536"/>
                <a:gd name="T8" fmla="*/ 0 60000 65536"/>
              </a:gdLst>
              <a:ahLst/>
              <a:cxnLst>
                <a:cxn ang="T6">
                  <a:pos x="T0" y="T1"/>
                </a:cxn>
                <a:cxn ang="T7">
                  <a:pos x="T2" y="T3"/>
                </a:cxn>
                <a:cxn ang="T8">
                  <a:pos x="T4" y="T5"/>
                </a:cxn>
              </a:cxnLst>
              <a:rect l="0" t="0" r="r" b="b"/>
              <a:pathLst>
                <a:path w="72" h="507">
                  <a:moveTo>
                    <a:pt x="0" y="0"/>
                  </a:moveTo>
                  <a:cubicBezTo>
                    <a:pt x="21" y="33"/>
                    <a:pt x="72" y="120"/>
                    <a:pt x="72" y="204"/>
                  </a:cubicBezTo>
                  <a:cubicBezTo>
                    <a:pt x="72" y="288"/>
                    <a:pt x="18" y="444"/>
                    <a:pt x="3" y="507"/>
                  </a:cubicBezTo>
                </a:path>
              </a:pathLst>
            </a:custGeom>
            <a:solidFill>
              <a:srgbClr val="CCFFFF"/>
            </a:solidFill>
            <a:ln w="6350" cap="flat" cmpd="sng">
              <a:solidFill>
                <a:srgbClr val="000000"/>
              </a:solidFill>
              <a:prstDash val="solid"/>
              <a:round/>
              <a:headEnd/>
              <a:tailEnd type="triangl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31" name="Rectangle 66">
              <a:extLst>
                <a:ext uri="{FF2B5EF4-FFF2-40B4-BE49-F238E27FC236}">
                  <a16:creationId xmlns:a16="http://schemas.microsoft.com/office/drawing/2014/main" id="{BEE3E765-838F-4447-9719-E5DB440CC929}"/>
                </a:ext>
              </a:extLst>
            </p:cNvPr>
            <p:cNvSpPr>
              <a:spLocks noChangeArrowheads="1"/>
            </p:cNvSpPr>
            <p:nvPr/>
          </p:nvSpPr>
          <p:spPr bwMode="auto">
            <a:xfrm>
              <a:off x="5219700" y="3414713"/>
              <a:ext cx="2312988" cy="111125"/>
            </a:xfrm>
            <a:prstGeom prst="rect">
              <a:avLst/>
            </a:prstGeom>
            <a:solidFill>
              <a:srgbClr val="CC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1532" name="Line 67">
              <a:extLst>
                <a:ext uri="{FF2B5EF4-FFF2-40B4-BE49-F238E27FC236}">
                  <a16:creationId xmlns:a16="http://schemas.microsoft.com/office/drawing/2014/main" id="{476D4DCF-3953-473F-9214-F96B43F66460}"/>
                </a:ext>
              </a:extLst>
            </p:cNvPr>
            <p:cNvSpPr>
              <a:spLocks noChangeShapeType="1"/>
            </p:cNvSpPr>
            <p:nvPr/>
          </p:nvSpPr>
          <p:spPr bwMode="auto">
            <a:xfrm flipV="1">
              <a:off x="6361113" y="2789238"/>
              <a:ext cx="0" cy="62547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33" name="Line 68">
              <a:extLst>
                <a:ext uri="{FF2B5EF4-FFF2-40B4-BE49-F238E27FC236}">
                  <a16:creationId xmlns:a16="http://schemas.microsoft.com/office/drawing/2014/main" id="{F15E13F7-D39E-4717-A6D4-531C316C0571}"/>
                </a:ext>
              </a:extLst>
            </p:cNvPr>
            <p:cNvSpPr>
              <a:spLocks noChangeShapeType="1"/>
            </p:cNvSpPr>
            <p:nvPr/>
          </p:nvSpPr>
          <p:spPr bwMode="auto">
            <a:xfrm>
              <a:off x="6361113" y="4151313"/>
              <a:ext cx="0" cy="62547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34" name="Oval 69">
              <a:extLst>
                <a:ext uri="{FF2B5EF4-FFF2-40B4-BE49-F238E27FC236}">
                  <a16:creationId xmlns:a16="http://schemas.microsoft.com/office/drawing/2014/main" id="{5AE473DD-02A3-4840-9123-55893B725AC8}"/>
                </a:ext>
              </a:extLst>
            </p:cNvPr>
            <p:cNvSpPr>
              <a:spLocks noChangeAspect="1" noChangeArrowheads="1"/>
            </p:cNvSpPr>
            <p:nvPr/>
          </p:nvSpPr>
          <p:spPr bwMode="auto">
            <a:xfrm>
              <a:off x="6326188" y="4783138"/>
              <a:ext cx="68262" cy="79375"/>
            </a:xfrm>
            <a:prstGeom prst="ellipse">
              <a:avLst/>
            </a:prstGeom>
            <a:solidFill>
              <a:srgbClr val="CC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1535" name="Oval 70">
              <a:extLst>
                <a:ext uri="{FF2B5EF4-FFF2-40B4-BE49-F238E27FC236}">
                  <a16:creationId xmlns:a16="http://schemas.microsoft.com/office/drawing/2014/main" id="{2DF05B37-3B41-4A4C-A58B-37660A21D462}"/>
                </a:ext>
              </a:extLst>
            </p:cNvPr>
            <p:cNvSpPr>
              <a:spLocks noChangeAspect="1" noChangeArrowheads="1"/>
            </p:cNvSpPr>
            <p:nvPr/>
          </p:nvSpPr>
          <p:spPr bwMode="auto">
            <a:xfrm>
              <a:off x="6326188" y="2711450"/>
              <a:ext cx="68262" cy="77788"/>
            </a:xfrm>
            <a:prstGeom prst="ellipse">
              <a:avLst/>
            </a:prstGeom>
            <a:solidFill>
              <a:srgbClr val="CC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1536" name="Text Box 71">
              <a:extLst>
                <a:ext uri="{FF2B5EF4-FFF2-40B4-BE49-F238E27FC236}">
                  <a16:creationId xmlns:a16="http://schemas.microsoft.com/office/drawing/2014/main" id="{97F478DD-E911-49DB-AB15-574151E75B23}"/>
                </a:ext>
              </a:extLst>
            </p:cNvPr>
            <p:cNvSpPr txBox="1">
              <a:spLocks noChangeArrowheads="1"/>
            </p:cNvSpPr>
            <p:nvPr/>
          </p:nvSpPr>
          <p:spPr bwMode="auto">
            <a:xfrm>
              <a:off x="6418263" y="2633663"/>
              <a:ext cx="185737" cy="311150"/>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200" b="1">
                  <a:latin typeface="Times New Roman" panose="02020603050405020304" pitchFamily="18" charset="0"/>
                </a:rPr>
                <a:t>+</a:t>
              </a:r>
            </a:p>
          </p:txBody>
        </p:sp>
        <p:sp>
          <p:nvSpPr>
            <p:cNvPr id="21537" name="Text Box 72">
              <a:extLst>
                <a:ext uri="{FF2B5EF4-FFF2-40B4-BE49-F238E27FC236}">
                  <a16:creationId xmlns:a16="http://schemas.microsoft.com/office/drawing/2014/main" id="{F3FAC4F3-056E-4503-8CB2-0BF27C198C13}"/>
                </a:ext>
              </a:extLst>
            </p:cNvPr>
            <p:cNvSpPr txBox="1">
              <a:spLocks noChangeArrowheads="1"/>
            </p:cNvSpPr>
            <p:nvPr/>
          </p:nvSpPr>
          <p:spPr bwMode="auto">
            <a:xfrm>
              <a:off x="6418263" y="4659313"/>
              <a:ext cx="185737" cy="312737"/>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200" b="1">
                  <a:latin typeface="Times New Roman" panose="02020603050405020304" pitchFamily="18" charset="0"/>
                </a:rPr>
                <a:t>-</a:t>
              </a:r>
            </a:p>
          </p:txBody>
        </p:sp>
        <p:sp>
          <p:nvSpPr>
            <p:cNvPr id="21538" name="Line 73">
              <a:extLst>
                <a:ext uri="{FF2B5EF4-FFF2-40B4-BE49-F238E27FC236}">
                  <a16:creationId xmlns:a16="http://schemas.microsoft.com/office/drawing/2014/main" id="{95ECAA49-40E1-4656-AF1C-A97606A306F9}"/>
                </a:ext>
              </a:extLst>
            </p:cNvPr>
            <p:cNvSpPr>
              <a:spLocks noChangeShapeType="1"/>
            </p:cNvSpPr>
            <p:nvPr/>
          </p:nvSpPr>
          <p:spPr bwMode="auto">
            <a:xfrm>
              <a:off x="7593013" y="3529013"/>
              <a:ext cx="46196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39" name="Line 74">
              <a:extLst>
                <a:ext uri="{FF2B5EF4-FFF2-40B4-BE49-F238E27FC236}">
                  <a16:creationId xmlns:a16="http://schemas.microsoft.com/office/drawing/2014/main" id="{04001764-6439-4951-A727-96024AE1CB7B}"/>
                </a:ext>
              </a:extLst>
            </p:cNvPr>
            <p:cNvSpPr>
              <a:spLocks noChangeShapeType="1"/>
            </p:cNvSpPr>
            <p:nvPr/>
          </p:nvSpPr>
          <p:spPr bwMode="auto">
            <a:xfrm>
              <a:off x="7593013" y="4037013"/>
              <a:ext cx="46196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40" name="Line 75">
              <a:extLst>
                <a:ext uri="{FF2B5EF4-FFF2-40B4-BE49-F238E27FC236}">
                  <a16:creationId xmlns:a16="http://schemas.microsoft.com/office/drawing/2014/main" id="{225D210D-FB84-4651-8AE7-4C84108E5533}"/>
                </a:ext>
              </a:extLst>
            </p:cNvPr>
            <p:cNvSpPr>
              <a:spLocks noChangeShapeType="1"/>
            </p:cNvSpPr>
            <p:nvPr/>
          </p:nvSpPr>
          <p:spPr bwMode="auto">
            <a:xfrm>
              <a:off x="7893050" y="3509963"/>
              <a:ext cx="0" cy="527050"/>
            </a:xfrm>
            <a:prstGeom prst="line">
              <a:avLst/>
            </a:prstGeom>
            <a:noFill/>
            <a:ln w="9525">
              <a:solidFill>
                <a:srgbClr val="000000"/>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41" name="Text Box 76">
              <a:extLst>
                <a:ext uri="{FF2B5EF4-FFF2-40B4-BE49-F238E27FC236}">
                  <a16:creationId xmlns:a16="http://schemas.microsoft.com/office/drawing/2014/main" id="{C49391B9-B94D-4BCC-B88F-39F6C90FF4F7}"/>
                </a:ext>
              </a:extLst>
            </p:cNvPr>
            <p:cNvSpPr txBox="1">
              <a:spLocks noChangeArrowheads="1"/>
            </p:cNvSpPr>
            <p:nvPr/>
          </p:nvSpPr>
          <p:spPr bwMode="auto">
            <a:xfrm>
              <a:off x="7799388" y="3632200"/>
              <a:ext cx="185737" cy="255588"/>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latin typeface="Times New Roman" panose="02020603050405020304" pitchFamily="18" charset="0"/>
                </a:rPr>
                <a:t>d</a:t>
              </a:r>
              <a:endParaRPr kumimoji="1" lang="en-US" altLang="zh-CN" sz="1000" b="1" i="1">
                <a:latin typeface="Times New Roman" panose="02020603050405020304" pitchFamily="18" charset="0"/>
              </a:endParaRPr>
            </a:p>
          </p:txBody>
        </p:sp>
        <p:sp>
          <p:nvSpPr>
            <p:cNvPr id="21542" name="Text Box 80">
              <a:extLst>
                <a:ext uri="{FF2B5EF4-FFF2-40B4-BE49-F238E27FC236}">
                  <a16:creationId xmlns:a16="http://schemas.microsoft.com/office/drawing/2014/main" id="{FB9BAF58-5D49-4B5D-8AFB-BCEB6C3AEA2D}"/>
                </a:ext>
              </a:extLst>
            </p:cNvPr>
            <p:cNvSpPr txBox="1">
              <a:spLocks noChangeArrowheads="1"/>
            </p:cNvSpPr>
            <p:nvPr/>
          </p:nvSpPr>
          <p:spPr bwMode="auto">
            <a:xfrm>
              <a:off x="5313363" y="5072063"/>
              <a:ext cx="2301875" cy="363537"/>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sz="1600" b="1">
                  <a:latin typeface="Times New Roman" panose="02020603050405020304" pitchFamily="18" charset="0"/>
                </a:rPr>
                <a:t>变极距型电容传感器</a:t>
              </a:r>
            </a:p>
          </p:txBody>
        </p:sp>
      </p:grpSp>
      <p:pic>
        <p:nvPicPr>
          <p:cNvPr id="21513" name="图片 1">
            <a:extLst>
              <a:ext uri="{FF2B5EF4-FFF2-40B4-BE49-F238E27FC236}">
                <a16:creationId xmlns:a16="http://schemas.microsoft.com/office/drawing/2014/main" id="{224566D8-CF1F-41CE-981A-99EF0757BA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250" y="2238375"/>
            <a:ext cx="443865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4" name="图片 2">
            <a:extLst>
              <a:ext uri="{FF2B5EF4-FFF2-40B4-BE49-F238E27FC236}">
                <a16:creationId xmlns:a16="http://schemas.microsoft.com/office/drawing/2014/main" id="{FB8F26FD-4261-4F71-B324-B561C1A2F8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4629150"/>
            <a:ext cx="2733675" cy="2076450"/>
          </a:xfrm>
          <a:prstGeom prst="rect">
            <a:avLst/>
          </a:prstGeom>
          <a:solidFill>
            <a:srgbClr val="92D050"/>
          </a:solidFill>
          <a:ln w="9525">
            <a:solidFill>
              <a:srgbClr val="000000"/>
            </a:solidFill>
            <a:miter lim="800000"/>
            <a:headEnd/>
            <a:tailEnd/>
          </a:ln>
        </p:spPr>
      </p:pic>
      <p:sp>
        <p:nvSpPr>
          <p:cNvPr id="21515" name="矩形 3">
            <a:extLst>
              <a:ext uri="{FF2B5EF4-FFF2-40B4-BE49-F238E27FC236}">
                <a16:creationId xmlns:a16="http://schemas.microsoft.com/office/drawing/2014/main" id="{0F581A98-36E6-4A6C-8F32-0BC2F91A458E}"/>
              </a:ext>
            </a:extLst>
          </p:cNvPr>
          <p:cNvSpPr>
            <a:spLocks noChangeArrowheads="1"/>
          </p:cNvSpPr>
          <p:nvPr/>
        </p:nvSpPr>
        <p:spPr bwMode="auto">
          <a:xfrm>
            <a:off x="323850" y="1512888"/>
            <a:ext cx="20304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400" b="1">
                <a:solidFill>
                  <a:srgbClr val="0000FF"/>
                </a:solidFill>
                <a:latin typeface="微软雅黑" panose="020B0503020204020204" pitchFamily="34" charset="-122"/>
                <a:ea typeface="微软雅黑" panose="020B0503020204020204" pitchFamily="34" charset="-122"/>
              </a:rPr>
              <a:t>传感器电容：</a:t>
            </a:r>
            <a:endParaRPr lang="zh-CN" altLang="en-US" sz="2400">
              <a:solidFill>
                <a:srgbClr val="0000FF"/>
              </a:solidFill>
            </a:endParaRPr>
          </a:p>
        </p:txBody>
      </p:sp>
      <p:sp>
        <p:nvSpPr>
          <p:cNvPr id="21516" name="矩形 48">
            <a:extLst>
              <a:ext uri="{FF2B5EF4-FFF2-40B4-BE49-F238E27FC236}">
                <a16:creationId xmlns:a16="http://schemas.microsoft.com/office/drawing/2014/main" id="{50925B80-9DD5-49D3-99B8-330519908587}"/>
              </a:ext>
            </a:extLst>
          </p:cNvPr>
          <p:cNvSpPr>
            <a:spLocks noChangeArrowheads="1"/>
          </p:cNvSpPr>
          <p:nvPr/>
        </p:nvSpPr>
        <p:spPr bwMode="auto">
          <a:xfrm>
            <a:off x="323850" y="4075113"/>
            <a:ext cx="44624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400" b="1">
                <a:solidFill>
                  <a:srgbClr val="0000FF"/>
                </a:solidFill>
                <a:latin typeface="微软雅黑" panose="020B0503020204020204" pitchFamily="34" charset="-122"/>
                <a:ea typeface="微软雅黑" panose="020B0503020204020204" pitchFamily="34" charset="-122"/>
              </a:rPr>
              <a:t>电容相对变化</a:t>
            </a:r>
            <a:r>
              <a:rPr lang="zh-CN" altLang="en-US" sz="2400" b="1">
                <a:solidFill>
                  <a:srgbClr val="FF0000"/>
                </a:solidFill>
                <a:latin typeface="微软雅黑" panose="020B0503020204020204" pitchFamily="34" charset="-122"/>
                <a:ea typeface="微软雅黑" panose="020B0503020204020204" pitchFamily="34" charset="-122"/>
              </a:rPr>
              <a:t> </a:t>
            </a:r>
            <a:r>
              <a:rPr lang="en-US" altLang="zh-CN" sz="2400" b="1">
                <a:solidFill>
                  <a:srgbClr val="FF0000"/>
                </a:solidFill>
                <a:latin typeface="微软雅黑" panose="020B0503020204020204" pitchFamily="34" charset="-122"/>
                <a:ea typeface="微软雅黑" panose="020B0503020204020204" pitchFamily="34" charset="-122"/>
              </a:rPr>
              <a:t>VS </a:t>
            </a:r>
            <a:r>
              <a:rPr lang="zh-CN" altLang="en-US" sz="2400" b="1">
                <a:solidFill>
                  <a:srgbClr val="0000FF"/>
                </a:solidFill>
                <a:latin typeface="微软雅黑" panose="020B0503020204020204" pitchFamily="34" charset="-122"/>
                <a:ea typeface="微软雅黑" panose="020B0503020204020204" pitchFamily="34" charset="-122"/>
              </a:rPr>
              <a:t>极距相对变化</a:t>
            </a:r>
            <a:endParaRPr lang="zh-CN" altLang="en-US" sz="2400">
              <a:solidFill>
                <a:srgbClr val="0000FF"/>
              </a:solidFill>
            </a:endParaRPr>
          </a:p>
        </p:txBody>
      </p:sp>
      <p:sp>
        <p:nvSpPr>
          <p:cNvPr id="21517" name="矩形 5">
            <a:extLst>
              <a:ext uri="{FF2B5EF4-FFF2-40B4-BE49-F238E27FC236}">
                <a16:creationId xmlns:a16="http://schemas.microsoft.com/office/drawing/2014/main" id="{7E0D34CB-60DA-4191-BFBD-DBBEC48156FE}"/>
              </a:ext>
            </a:extLst>
          </p:cNvPr>
          <p:cNvSpPr>
            <a:spLocks noChangeArrowheads="1"/>
          </p:cNvSpPr>
          <p:nvPr/>
        </p:nvSpPr>
        <p:spPr bwMode="auto">
          <a:xfrm>
            <a:off x="4786313" y="5980006"/>
            <a:ext cx="377539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b="1" dirty="0">
                <a:solidFill>
                  <a:srgbClr val="FF9900"/>
                </a:solidFill>
                <a:latin typeface="微软雅黑" panose="020B0503020204020204" pitchFamily="34" charset="-122"/>
                <a:ea typeface="微软雅黑" panose="020B0503020204020204" pitchFamily="34" charset="-122"/>
              </a:rPr>
              <a:t>特性：</a:t>
            </a:r>
            <a:r>
              <a:rPr lang="zh-CN" altLang="en-US" sz="2000" b="1" dirty="0">
                <a:solidFill>
                  <a:srgbClr val="0099FF"/>
                </a:solidFill>
                <a:latin typeface="微软雅黑" panose="020B0503020204020204" pitchFamily="34" charset="-122"/>
                <a:ea typeface="微软雅黑" panose="020B0503020204020204" pitchFamily="34" charset="-122"/>
              </a:rPr>
              <a:t>随极距的增加，电容减小</a:t>
            </a:r>
            <a:endParaRPr lang="en-US" altLang="zh-CN" sz="2000" b="1" dirty="0">
              <a:solidFill>
                <a:srgbClr val="0099FF"/>
              </a:solidFill>
              <a:latin typeface="微软雅黑" panose="020B0503020204020204" pitchFamily="34" charset="-122"/>
              <a:ea typeface="微软雅黑" panose="020B0503020204020204" pitchFamily="34" charset="-122"/>
            </a:endParaRPr>
          </a:p>
          <a:p>
            <a:pPr>
              <a:spcBef>
                <a:spcPct val="0"/>
              </a:spcBef>
              <a:buFontTx/>
              <a:buNone/>
            </a:pPr>
            <a:r>
              <a:rPr lang="en-US" altLang="zh-CN" sz="2000" b="1" dirty="0">
                <a:solidFill>
                  <a:srgbClr val="0099FF"/>
                </a:solidFill>
                <a:latin typeface="微软雅黑" panose="020B0503020204020204" pitchFamily="34" charset="-122"/>
                <a:ea typeface="微软雅黑" panose="020B0503020204020204" pitchFamily="34" charset="-122"/>
              </a:rPr>
              <a:t>          </a:t>
            </a:r>
            <a:r>
              <a:rPr lang="zh-CN" altLang="en-US" sz="2000" b="1" dirty="0">
                <a:solidFill>
                  <a:srgbClr val="0099FF"/>
                </a:solidFill>
                <a:latin typeface="微软雅黑" panose="020B0503020204020204" pitchFamily="34" charset="-122"/>
                <a:ea typeface="微软雅黑" panose="020B0503020204020204" pitchFamily="34" charset="-122"/>
              </a:rPr>
              <a:t>且呈现明显的非线性特性</a:t>
            </a:r>
            <a:endParaRPr lang="zh-CN" altLang="en-US" sz="2000" dirty="0">
              <a:solidFill>
                <a:srgbClr val="0099FF"/>
              </a:solidFill>
            </a:endParaRPr>
          </a:p>
        </p:txBody>
      </p:sp>
      <p:pic>
        <p:nvPicPr>
          <p:cNvPr id="21518" name="图片 1">
            <a:extLst>
              <a:ext uri="{FF2B5EF4-FFF2-40B4-BE49-F238E27FC236}">
                <a16:creationId xmlns:a16="http://schemas.microsoft.com/office/drawing/2014/main" id="{53110315-BEA3-4226-89D4-60A6CE70B9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3488" y="3363742"/>
            <a:ext cx="3267075"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6F90ACD1-C386-47B5-B58C-764FFEC30BB2}"/>
              </a:ext>
            </a:extLst>
          </p:cNvPr>
          <p:cNvSpPr/>
          <p:nvPr/>
        </p:nvSpPr>
        <p:spPr>
          <a:xfrm>
            <a:off x="250825" y="854075"/>
            <a:ext cx="7804150" cy="53975"/>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22531" name="Text Box 2">
            <a:extLst>
              <a:ext uri="{FF2B5EF4-FFF2-40B4-BE49-F238E27FC236}">
                <a16:creationId xmlns:a16="http://schemas.microsoft.com/office/drawing/2014/main" id="{AF09C9A3-25F9-49CC-A745-F538081B662C}"/>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1.1  </a:t>
            </a:r>
            <a:r>
              <a:rPr kumimoji="1" lang="zh-CN" altLang="en-US" sz="2800" b="1">
                <a:solidFill>
                  <a:srgbClr val="C00000"/>
                </a:solidFill>
                <a:latin typeface="微软雅黑" panose="020B0503020204020204" pitchFamily="34" charset="-122"/>
                <a:ea typeface="微软雅黑" panose="020B0503020204020204" pitchFamily="34" charset="-122"/>
              </a:rPr>
              <a:t>变极距型电容传感器：灵敏度</a:t>
            </a:r>
          </a:p>
        </p:txBody>
      </p:sp>
      <p:graphicFrame>
        <p:nvGraphicFramePr>
          <p:cNvPr id="22532" name="Object 21">
            <a:extLst>
              <a:ext uri="{FF2B5EF4-FFF2-40B4-BE49-F238E27FC236}">
                <a16:creationId xmlns:a16="http://schemas.microsoft.com/office/drawing/2014/main" id="{64CD0D32-6751-48D8-A4D7-F899C5262AE3}"/>
              </a:ext>
            </a:extLst>
          </p:cNvPr>
          <p:cNvGraphicFramePr>
            <a:graphicFrameLocks noChangeAspect="1"/>
          </p:cNvGraphicFramePr>
          <p:nvPr/>
        </p:nvGraphicFramePr>
        <p:xfrm>
          <a:off x="339725" y="2600325"/>
          <a:ext cx="4746625" cy="900113"/>
        </p:xfrm>
        <a:graphic>
          <a:graphicData uri="http://schemas.openxmlformats.org/presentationml/2006/ole">
            <mc:AlternateContent xmlns:mc="http://schemas.openxmlformats.org/markup-compatibility/2006">
              <mc:Choice xmlns:v="urn:schemas-microsoft-com:vml" Requires="v">
                <p:oleObj spid="_x0000_s22713" name="Equation" r:id="rId3" imgW="2679700" imgH="508000" progId="Equation.3">
                  <p:embed/>
                </p:oleObj>
              </mc:Choice>
              <mc:Fallback>
                <p:oleObj name="Equation" r:id="rId3" imgW="2679700" imgH="508000" progId="Equation.3">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9725" y="2600325"/>
                        <a:ext cx="4746625"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 name="矩形 22">
            <a:extLst>
              <a:ext uri="{FF2B5EF4-FFF2-40B4-BE49-F238E27FC236}">
                <a16:creationId xmlns:a16="http://schemas.microsoft.com/office/drawing/2014/main" id="{E7D85DC6-3E63-411A-84E4-FF479EB6C719}"/>
              </a:ext>
            </a:extLst>
          </p:cNvPr>
          <p:cNvSpPr/>
          <p:nvPr/>
        </p:nvSpPr>
        <p:spPr bwMode="auto">
          <a:xfrm>
            <a:off x="266700" y="1008063"/>
            <a:ext cx="4945063" cy="2587625"/>
          </a:xfrm>
          <a:prstGeom prst="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2534" name="Text Box 43">
            <a:extLst>
              <a:ext uri="{FF2B5EF4-FFF2-40B4-BE49-F238E27FC236}">
                <a16:creationId xmlns:a16="http://schemas.microsoft.com/office/drawing/2014/main" id="{DAE9A63F-BEB7-42D9-BAD0-5380D14A9CFF}"/>
              </a:ext>
            </a:extLst>
          </p:cNvPr>
          <p:cNvSpPr txBox="1">
            <a:spLocks noChangeArrowheads="1"/>
          </p:cNvSpPr>
          <p:nvPr/>
        </p:nvSpPr>
        <p:spPr bwMode="auto">
          <a:xfrm>
            <a:off x="350838" y="5580063"/>
            <a:ext cx="38862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50000"/>
              </a:spcBef>
              <a:buFontTx/>
              <a:buNone/>
            </a:pPr>
            <a:r>
              <a:rPr kumimoji="1" lang="zh-CN" altLang="en-US" sz="2400" b="1">
                <a:latin typeface="微软雅黑" panose="020B0503020204020204" pitchFamily="34" charset="-122"/>
                <a:ea typeface="微软雅黑" panose="020B0503020204020204" pitchFamily="34" charset="-122"/>
              </a:rPr>
              <a:t>灵敏度为：</a:t>
            </a:r>
          </a:p>
        </p:txBody>
      </p:sp>
      <p:sp>
        <p:nvSpPr>
          <p:cNvPr id="26" name="矩形 25">
            <a:extLst>
              <a:ext uri="{FF2B5EF4-FFF2-40B4-BE49-F238E27FC236}">
                <a16:creationId xmlns:a16="http://schemas.microsoft.com/office/drawing/2014/main" id="{FFB42496-C470-4160-8073-DC317BF9E394}"/>
              </a:ext>
            </a:extLst>
          </p:cNvPr>
          <p:cNvSpPr/>
          <p:nvPr/>
        </p:nvSpPr>
        <p:spPr bwMode="auto">
          <a:xfrm>
            <a:off x="250825" y="5349875"/>
            <a:ext cx="4945063" cy="1393825"/>
          </a:xfrm>
          <a:prstGeom prst="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22536" name="组合 3">
            <a:extLst>
              <a:ext uri="{FF2B5EF4-FFF2-40B4-BE49-F238E27FC236}">
                <a16:creationId xmlns:a16="http://schemas.microsoft.com/office/drawing/2014/main" id="{00D6AB8F-CDAD-4976-A9DB-E27935933399}"/>
              </a:ext>
            </a:extLst>
          </p:cNvPr>
          <p:cNvGrpSpPr>
            <a:grpSpLocks/>
          </p:cNvGrpSpPr>
          <p:nvPr/>
        </p:nvGrpSpPr>
        <p:grpSpPr bwMode="auto">
          <a:xfrm>
            <a:off x="252413" y="3716338"/>
            <a:ext cx="4943475" cy="1393825"/>
            <a:chOff x="3700463" y="3932238"/>
            <a:chExt cx="4943475" cy="1393825"/>
          </a:xfrm>
        </p:grpSpPr>
        <p:sp>
          <p:nvSpPr>
            <p:cNvPr id="22548" name="Rectangle 22">
              <a:extLst>
                <a:ext uri="{FF2B5EF4-FFF2-40B4-BE49-F238E27FC236}">
                  <a16:creationId xmlns:a16="http://schemas.microsoft.com/office/drawing/2014/main" id="{87EE2BD4-4BAE-4F73-B987-81D8231B7C97}"/>
                </a:ext>
              </a:extLst>
            </p:cNvPr>
            <p:cNvSpPr>
              <a:spLocks noChangeArrowheads="1"/>
            </p:cNvSpPr>
            <p:nvPr/>
          </p:nvSpPr>
          <p:spPr bwMode="auto">
            <a:xfrm>
              <a:off x="3787775" y="3952875"/>
              <a:ext cx="3533340" cy="511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25000"/>
                </a:lnSpc>
                <a:spcBef>
                  <a:spcPct val="50000"/>
                </a:spcBef>
                <a:buFontTx/>
                <a:buNone/>
              </a:pPr>
              <a:r>
                <a:rPr kumimoji="1" lang="zh-CN" altLang="en-US" sz="2400" b="1">
                  <a:latin typeface="微软雅黑" panose="020B0503020204020204" pitchFamily="34" charset="-122"/>
                  <a:ea typeface="微软雅黑" panose="020B0503020204020204" pitchFamily="34" charset="-122"/>
                </a:rPr>
                <a:t>略去高次项</a:t>
              </a:r>
              <a:r>
                <a:rPr kumimoji="1" lang="en-US" altLang="zh-CN" sz="2400" b="1">
                  <a:latin typeface="微软雅黑" panose="020B0503020204020204" pitchFamily="34" charset="-122"/>
                  <a:ea typeface="微软雅黑" panose="020B0503020204020204" pitchFamily="34" charset="-122"/>
                </a:rPr>
                <a:t>, </a:t>
              </a:r>
              <a:r>
                <a:rPr kumimoji="1" lang="zh-CN" altLang="en-US" sz="2400" b="1">
                  <a:latin typeface="微软雅黑" panose="020B0503020204020204" pitchFamily="34" charset="-122"/>
                  <a:ea typeface="微软雅黑" panose="020B0503020204020204" pitchFamily="34" charset="-122"/>
                </a:rPr>
                <a:t>近似线性：</a:t>
              </a:r>
              <a:r>
                <a:rPr kumimoji="1" lang="zh-CN" altLang="en-US" sz="2400">
                  <a:latin typeface="微软雅黑" panose="020B0503020204020204" pitchFamily="34" charset="-122"/>
                  <a:ea typeface="微软雅黑" panose="020B0503020204020204" pitchFamily="34" charset="-122"/>
                </a:rPr>
                <a:t> </a:t>
              </a:r>
            </a:p>
          </p:txBody>
        </p:sp>
        <p:sp>
          <p:nvSpPr>
            <p:cNvPr id="25" name="矩形 24">
              <a:extLst>
                <a:ext uri="{FF2B5EF4-FFF2-40B4-BE49-F238E27FC236}">
                  <a16:creationId xmlns:a16="http://schemas.microsoft.com/office/drawing/2014/main" id="{C8419918-E663-46B0-AFDF-70B44DE06AAA}"/>
                </a:ext>
              </a:extLst>
            </p:cNvPr>
            <p:cNvSpPr/>
            <p:nvPr/>
          </p:nvSpPr>
          <p:spPr>
            <a:xfrm>
              <a:off x="3700463" y="3932238"/>
              <a:ext cx="4943475" cy="1393825"/>
            </a:xfrm>
            <a:prstGeom prst="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aphicFrame>
          <p:nvGraphicFramePr>
            <p:cNvPr id="22550" name="对象 3">
              <a:extLst>
                <a:ext uri="{FF2B5EF4-FFF2-40B4-BE49-F238E27FC236}">
                  <a16:creationId xmlns:a16="http://schemas.microsoft.com/office/drawing/2014/main" id="{82DA34A4-952C-49C1-8789-7497D67B22CF}"/>
                </a:ext>
              </a:extLst>
            </p:cNvPr>
            <p:cNvGraphicFramePr>
              <a:graphicFrameLocks noChangeAspect="1"/>
            </p:cNvGraphicFramePr>
            <p:nvPr/>
          </p:nvGraphicFramePr>
          <p:xfrm>
            <a:off x="4378803" y="4487538"/>
            <a:ext cx="1698625" cy="539750"/>
          </p:xfrm>
          <a:graphic>
            <a:graphicData uri="http://schemas.openxmlformats.org/presentationml/2006/ole">
              <mc:AlternateContent xmlns:mc="http://schemas.openxmlformats.org/markup-compatibility/2006">
                <mc:Choice xmlns:v="urn:schemas-microsoft-com:vml" Requires="v">
                  <p:oleObj spid="_x0000_s22714" name="Equation" r:id="rId5" imgW="799753" imgH="253890" progId="Equation.DSMT4">
                    <p:embed/>
                  </p:oleObj>
                </mc:Choice>
                <mc:Fallback>
                  <p:oleObj name="Equation" r:id="rId5" imgW="799753" imgH="253890" progId="Equation.DSMT4">
                    <p:embed/>
                    <p:pic>
                      <p:nvPicPr>
                        <p:cNvPr id="0" name="对象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78803" y="4487538"/>
                          <a:ext cx="169862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22537" name="组合 2">
            <a:extLst>
              <a:ext uri="{FF2B5EF4-FFF2-40B4-BE49-F238E27FC236}">
                <a16:creationId xmlns:a16="http://schemas.microsoft.com/office/drawing/2014/main" id="{EC0E6A56-88C5-44A4-9D36-A9AA18E0D401}"/>
              </a:ext>
            </a:extLst>
          </p:cNvPr>
          <p:cNvGrpSpPr>
            <a:grpSpLocks/>
          </p:cNvGrpSpPr>
          <p:nvPr/>
        </p:nvGrpSpPr>
        <p:grpSpPr bwMode="auto">
          <a:xfrm>
            <a:off x="4002088" y="980728"/>
            <a:ext cx="4606925" cy="4162425"/>
            <a:chOff x="4002124" y="1297806"/>
            <a:chExt cx="4606925" cy="4162425"/>
          </a:xfrm>
        </p:grpSpPr>
        <p:graphicFrame>
          <p:nvGraphicFramePr>
            <p:cNvPr id="22546" name="Object 3">
              <a:extLst>
                <a:ext uri="{FF2B5EF4-FFF2-40B4-BE49-F238E27FC236}">
                  <a16:creationId xmlns:a16="http://schemas.microsoft.com/office/drawing/2014/main" id="{54ABE45D-883C-4B57-B3FF-47AFA2E66E2A}"/>
                </a:ext>
              </a:extLst>
            </p:cNvPr>
            <p:cNvGraphicFramePr>
              <a:graphicFrameLocks noChangeAspect="1"/>
            </p:cNvGraphicFramePr>
            <p:nvPr/>
          </p:nvGraphicFramePr>
          <p:xfrm>
            <a:off x="4002124" y="1297806"/>
            <a:ext cx="4606925" cy="4162425"/>
          </p:xfrm>
          <a:graphic>
            <a:graphicData uri="http://schemas.openxmlformats.org/presentationml/2006/ole">
              <mc:AlternateContent xmlns:mc="http://schemas.openxmlformats.org/markup-compatibility/2006">
                <mc:Choice xmlns:v="urn:schemas-microsoft-com:vml" Requires="v">
                  <p:oleObj spid="_x0000_s22715" name="VISIO" r:id="rId7" imgW="2301240" imgH="2072640" progId="Visio.Drawing.4">
                    <p:embed/>
                  </p:oleObj>
                </mc:Choice>
                <mc:Fallback>
                  <p:oleObj name="VISIO" r:id="rId7" imgW="2301240" imgH="2072640" progId="Visio.Drawing.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02124" y="1297806"/>
                          <a:ext cx="4606925" cy="416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47" name="矩形 5">
              <a:extLst>
                <a:ext uri="{FF2B5EF4-FFF2-40B4-BE49-F238E27FC236}">
                  <a16:creationId xmlns:a16="http://schemas.microsoft.com/office/drawing/2014/main" id="{5C03A96E-0D35-425C-A2B8-09D50E5B632C}"/>
                </a:ext>
              </a:extLst>
            </p:cNvPr>
            <p:cNvSpPr>
              <a:spLocks noChangeArrowheads="1"/>
            </p:cNvSpPr>
            <p:nvPr/>
          </p:nvSpPr>
          <p:spPr bwMode="auto">
            <a:xfrm>
              <a:off x="5938439" y="4043412"/>
              <a:ext cx="16700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zh-CN" altLang="en-US" sz="1800" b="1">
                  <a:latin typeface="微软雅黑" panose="020B0503020204020204" pitchFamily="34" charset="-122"/>
                  <a:ea typeface="微软雅黑" panose="020B0503020204020204" pitchFamily="34" charset="-122"/>
                </a:rPr>
                <a:t>极距</a:t>
              </a:r>
              <a:r>
                <a:rPr kumimoji="1" lang="en-US" altLang="zh-CN" sz="1800" b="1">
                  <a:latin typeface="微软雅黑" panose="020B0503020204020204" pitchFamily="34" charset="-122"/>
                  <a:ea typeface="微软雅黑" panose="020B0503020204020204" pitchFamily="34" charset="-122"/>
                </a:rPr>
                <a:t>-</a:t>
              </a:r>
              <a:r>
                <a:rPr kumimoji="1" lang="zh-CN" altLang="en-US" sz="1800" b="1">
                  <a:latin typeface="微软雅黑" panose="020B0503020204020204" pitchFamily="34" charset="-122"/>
                  <a:ea typeface="微软雅黑" panose="020B0503020204020204" pitchFamily="34" charset="-122"/>
                </a:rPr>
                <a:t>电容曲线</a:t>
              </a:r>
              <a:endParaRPr lang="zh-CN" altLang="en-US" sz="1800"/>
            </a:p>
          </p:txBody>
        </p:sp>
      </p:grpSp>
      <p:sp>
        <p:nvSpPr>
          <p:cNvPr id="22538" name="矩形 6">
            <a:extLst>
              <a:ext uri="{FF2B5EF4-FFF2-40B4-BE49-F238E27FC236}">
                <a16:creationId xmlns:a16="http://schemas.microsoft.com/office/drawing/2014/main" id="{851C6269-3EC0-4DAC-A482-38A338ADB03A}"/>
              </a:ext>
            </a:extLst>
          </p:cNvPr>
          <p:cNvSpPr>
            <a:spLocks noChangeArrowheads="1"/>
          </p:cNvSpPr>
          <p:nvPr/>
        </p:nvSpPr>
        <p:spPr bwMode="auto">
          <a:xfrm>
            <a:off x="2513013" y="2038350"/>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zh-CN" altLang="en-US" sz="2400" b="1">
                <a:solidFill>
                  <a:srgbClr val="0000FF"/>
                </a:solidFill>
                <a:latin typeface="微软雅黑" panose="020B0503020204020204" pitchFamily="34" charset="-122"/>
                <a:ea typeface="微软雅黑" panose="020B0503020204020204" pitchFamily="34" charset="-122"/>
              </a:rPr>
              <a:t>级数展开：</a:t>
            </a:r>
            <a:endParaRPr lang="zh-CN" altLang="en-US" sz="2400">
              <a:solidFill>
                <a:srgbClr val="0000FF"/>
              </a:solidFill>
            </a:endParaRPr>
          </a:p>
        </p:txBody>
      </p:sp>
      <p:pic>
        <p:nvPicPr>
          <p:cNvPr id="22539" name="图片 1">
            <a:extLst>
              <a:ext uri="{FF2B5EF4-FFF2-40B4-BE49-F238E27FC236}">
                <a16:creationId xmlns:a16="http://schemas.microsoft.com/office/drawing/2014/main" id="{5E10FD8A-829C-4355-BC92-FFAF0E30A3E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92388" y="5580063"/>
            <a:ext cx="950912"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0" name="图片 2">
            <a:extLst>
              <a:ext uri="{FF2B5EF4-FFF2-40B4-BE49-F238E27FC236}">
                <a16:creationId xmlns:a16="http://schemas.microsoft.com/office/drawing/2014/main" id="{86419F1E-774D-45AD-B9B6-ABD4954C418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9100" y="1068388"/>
            <a:ext cx="1885950" cy="1431925"/>
          </a:xfrm>
          <a:prstGeom prst="rect">
            <a:avLst/>
          </a:prstGeom>
          <a:solidFill>
            <a:srgbClr val="92D050"/>
          </a:solidFill>
          <a:ln w="9525">
            <a:solidFill>
              <a:srgbClr val="000000"/>
            </a:solidFill>
            <a:miter lim="800000"/>
            <a:headEnd/>
            <a:tailEnd/>
          </a:ln>
        </p:spPr>
      </p:pic>
      <p:pic>
        <p:nvPicPr>
          <p:cNvPr id="22541" name="图片 4">
            <a:extLst>
              <a:ext uri="{FF2B5EF4-FFF2-40B4-BE49-F238E27FC236}">
                <a16:creationId xmlns:a16="http://schemas.microsoft.com/office/drawing/2014/main" id="{59FAF1B7-73E2-48AB-A1BB-E59DEC9162F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25863" y="4181475"/>
            <a:ext cx="1171575"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42" name="文本框 6">
            <a:extLst>
              <a:ext uri="{FF2B5EF4-FFF2-40B4-BE49-F238E27FC236}">
                <a16:creationId xmlns:a16="http://schemas.microsoft.com/office/drawing/2014/main" id="{A612919B-6C79-4E61-A56C-414A7E380717}"/>
              </a:ext>
            </a:extLst>
          </p:cNvPr>
          <p:cNvSpPr txBox="1">
            <a:spLocks noChangeArrowheads="1"/>
          </p:cNvSpPr>
          <p:nvPr/>
        </p:nvSpPr>
        <p:spPr bwMode="auto">
          <a:xfrm>
            <a:off x="1398588" y="4724400"/>
            <a:ext cx="13668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a:solidFill>
                  <a:srgbClr val="0099FF"/>
                </a:solidFill>
              </a:rPr>
              <a:t>(0.02~0.1)</a:t>
            </a:r>
            <a:endParaRPr lang="zh-CN" altLang="en-US" sz="1800">
              <a:solidFill>
                <a:srgbClr val="0099FF"/>
              </a:solidFill>
            </a:endParaRPr>
          </a:p>
        </p:txBody>
      </p:sp>
      <p:grpSp>
        <p:nvGrpSpPr>
          <p:cNvPr id="12" name="组合 11">
            <a:extLst>
              <a:ext uri="{FF2B5EF4-FFF2-40B4-BE49-F238E27FC236}">
                <a16:creationId xmlns:a16="http://schemas.microsoft.com/office/drawing/2014/main" id="{85243468-F15F-4E2C-A0A3-E2879FC17400}"/>
              </a:ext>
            </a:extLst>
          </p:cNvPr>
          <p:cNvGrpSpPr>
            <a:grpSpLocks/>
          </p:cNvGrpSpPr>
          <p:nvPr/>
        </p:nvGrpSpPr>
        <p:grpSpPr bwMode="auto">
          <a:xfrm>
            <a:off x="5334000" y="4811714"/>
            <a:ext cx="3646488" cy="1754326"/>
            <a:chOff x="5333758" y="4811437"/>
            <a:chExt cx="3646524" cy="1755458"/>
          </a:xfrm>
        </p:grpSpPr>
        <p:sp>
          <p:nvSpPr>
            <p:cNvPr id="22544" name="矩形 9">
              <a:extLst>
                <a:ext uri="{FF2B5EF4-FFF2-40B4-BE49-F238E27FC236}">
                  <a16:creationId xmlns:a16="http://schemas.microsoft.com/office/drawing/2014/main" id="{C610E743-C1FF-4421-AA2A-0DD2EB27D70A}"/>
                </a:ext>
              </a:extLst>
            </p:cNvPr>
            <p:cNvSpPr>
              <a:spLocks noChangeArrowheads="1"/>
            </p:cNvSpPr>
            <p:nvPr/>
          </p:nvSpPr>
          <p:spPr bwMode="auto">
            <a:xfrm>
              <a:off x="5333758" y="4811437"/>
              <a:ext cx="3646524" cy="1755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b="1" i="1" dirty="0">
                  <a:latin typeface="微软雅黑" panose="020B0503020204020204" pitchFamily="34" charset="-122"/>
                  <a:ea typeface="微软雅黑" panose="020B0503020204020204" pitchFamily="34" charset="-122"/>
                </a:rPr>
                <a:t>C</a:t>
              </a:r>
              <a:r>
                <a:rPr lang="en-US" altLang="zh-CN" sz="1400" b="1" i="1" dirty="0">
                  <a:latin typeface="微软雅黑" panose="020B0503020204020204" pitchFamily="34" charset="-122"/>
                  <a:ea typeface="微软雅黑" panose="020B0503020204020204" pitchFamily="34" charset="-122"/>
                </a:rPr>
                <a:t>0  </a:t>
              </a:r>
              <a:r>
                <a:rPr lang="zh-CN" altLang="en-US" sz="1800" b="1" dirty="0">
                  <a:latin typeface="微软雅黑" panose="020B0503020204020204" pitchFamily="34" charset="-122"/>
                  <a:ea typeface="微软雅黑" panose="020B0503020204020204" pitchFamily="34" charset="-122"/>
                </a:rPr>
                <a:t>在</a:t>
              </a:r>
              <a:r>
                <a:rPr lang="en-US" altLang="zh-CN" sz="1800" b="1" dirty="0">
                  <a:solidFill>
                    <a:srgbClr val="0000FF"/>
                  </a:solidFill>
                  <a:latin typeface="微软雅黑" panose="020B0503020204020204" pitchFamily="34" charset="-122"/>
                  <a:ea typeface="微软雅黑" panose="020B0503020204020204" pitchFamily="34" charset="-122"/>
                </a:rPr>
                <a:t>20</a:t>
              </a:r>
              <a:r>
                <a:rPr lang="zh-CN" altLang="en-US" sz="1800" b="1" dirty="0">
                  <a:solidFill>
                    <a:srgbClr val="0000FF"/>
                  </a:solidFill>
                  <a:latin typeface="微软雅黑" panose="020B0503020204020204" pitchFamily="34" charset="-122"/>
                  <a:ea typeface="微软雅黑" panose="020B0503020204020204" pitchFamily="34" charset="-122"/>
                </a:rPr>
                <a:t>～</a:t>
              </a:r>
              <a:r>
                <a:rPr lang="en-US" altLang="zh-CN" sz="1800" b="1" dirty="0">
                  <a:solidFill>
                    <a:srgbClr val="0000FF"/>
                  </a:solidFill>
                  <a:latin typeface="微软雅黑" panose="020B0503020204020204" pitchFamily="34" charset="-122"/>
                  <a:ea typeface="微软雅黑" panose="020B0503020204020204" pitchFamily="34" charset="-122"/>
                </a:rPr>
                <a:t>100pF</a:t>
              </a:r>
              <a:r>
                <a:rPr lang="zh-CN" altLang="en-US" sz="1800" b="1" dirty="0">
                  <a:latin typeface="微软雅黑" panose="020B0503020204020204" pitchFamily="34" charset="-122"/>
                  <a:ea typeface="微软雅黑" panose="020B0503020204020204" pitchFamily="34" charset="-122"/>
                </a:rPr>
                <a:t>之间</a:t>
              </a:r>
              <a:endParaRPr lang="en-US" altLang="zh-CN" sz="1800" b="1" dirty="0">
                <a:latin typeface="微软雅黑" panose="020B0503020204020204" pitchFamily="34" charset="-122"/>
                <a:ea typeface="微软雅黑" panose="020B0503020204020204" pitchFamily="34" charset="-122"/>
              </a:endParaRPr>
            </a:p>
            <a:p>
              <a:pPr>
                <a:spcBef>
                  <a:spcPct val="0"/>
                </a:spcBef>
                <a:buFontTx/>
                <a:buNone/>
              </a:pPr>
              <a:r>
                <a:rPr lang="en-US" altLang="zh-CN" sz="1800" b="1" i="1" dirty="0">
                  <a:latin typeface="微软雅黑" panose="020B0503020204020204" pitchFamily="34" charset="-122"/>
                  <a:ea typeface="微软雅黑" panose="020B0503020204020204" pitchFamily="34" charset="-122"/>
                </a:rPr>
                <a:t>D</a:t>
              </a:r>
              <a:r>
                <a:rPr lang="en-US" altLang="zh-CN" sz="1400" b="1" i="1" dirty="0">
                  <a:latin typeface="微软雅黑" panose="020B0503020204020204" pitchFamily="34" charset="-122"/>
                  <a:ea typeface="微软雅黑" panose="020B0503020204020204" pitchFamily="34" charset="-122"/>
                </a:rPr>
                <a:t>0 </a:t>
              </a:r>
              <a:r>
                <a:rPr lang="zh-CN" altLang="en-US" sz="1800" b="1" dirty="0">
                  <a:latin typeface="微软雅黑" panose="020B0503020204020204" pitchFamily="34" charset="-122"/>
                  <a:ea typeface="微软雅黑" panose="020B0503020204020204" pitchFamily="34" charset="-122"/>
                </a:rPr>
                <a:t>在</a:t>
              </a:r>
              <a:r>
                <a:rPr lang="en-US" altLang="zh-CN" sz="1800" b="1" dirty="0">
                  <a:solidFill>
                    <a:srgbClr val="0000FF"/>
                  </a:solidFill>
                  <a:latin typeface="微软雅黑" panose="020B0503020204020204" pitchFamily="34" charset="-122"/>
                  <a:ea typeface="微软雅黑" panose="020B0503020204020204" pitchFamily="34" charset="-122"/>
                </a:rPr>
                <a:t>25</a:t>
              </a:r>
              <a:r>
                <a:rPr lang="zh-CN" altLang="en-US" sz="1800" b="1" dirty="0">
                  <a:solidFill>
                    <a:srgbClr val="0000FF"/>
                  </a:solidFill>
                  <a:latin typeface="微软雅黑" panose="020B0503020204020204" pitchFamily="34" charset="-122"/>
                  <a:ea typeface="微软雅黑" panose="020B0503020204020204" pitchFamily="34" charset="-122"/>
                </a:rPr>
                <a:t>～</a:t>
              </a:r>
              <a:r>
                <a:rPr lang="en-US" altLang="zh-CN" sz="1800" b="1" dirty="0">
                  <a:solidFill>
                    <a:srgbClr val="0000FF"/>
                  </a:solidFill>
                  <a:latin typeface="微软雅黑" panose="020B0503020204020204" pitchFamily="34" charset="-122"/>
                  <a:ea typeface="微软雅黑" panose="020B0503020204020204" pitchFamily="34" charset="-122"/>
                </a:rPr>
                <a:t>200μm</a:t>
              </a:r>
              <a:r>
                <a:rPr lang="zh-CN" altLang="en-US" sz="1800" b="1" dirty="0">
                  <a:latin typeface="微软雅黑" panose="020B0503020204020204" pitchFamily="34" charset="-122"/>
                  <a:ea typeface="微软雅黑" panose="020B0503020204020204" pitchFamily="34" charset="-122"/>
                </a:rPr>
                <a:t>的范围内</a:t>
              </a:r>
              <a:endParaRPr lang="en-US" altLang="zh-CN" sz="1800" b="1" dirty="0">
                <a:latin typeface="微软雅黑" panose="020B0503020204020204" pitchFamily="34" charset="-122"/>
                <a:ea typeface="微软雅黑" panose="020B0503020204020204" pitchFamily="34" charset="-122"/>
              </a:endParaRPr>
            </a:p>
            <a:p>
              <a:pPr>
                <a:spcBef>
                  <a:spcPct val="0"/>
                </a:spcBef>
                <a:buFontTx/>
                <a:buNone/>
              </a:pPr>
              <a:endParaRPr lang="en-US" altLang="zh-CN" sz="1800" b="1" dirty="0">
                <a:latin typeface="微软雅黑" panose="020B0503020204020204" pitchFamily="34" charset="-122"/>
                <a:ea typeface="微软雅黑" panose="020B0503020204020204" pitchFamily="34" charset="-122"/>
              </a:endParaRPr>
            </a:p>
            <a:p>
              <a:pPr>
                <a:spcBef>
                  <a:spcPct val="0"/>
                </a:spcBef>
                <a:buFontTx/>
                <a:buNone/>
              </a:pPr>
              <a:endParaRPr lang="en-US" altLang="zh-CN" sz="1800" b="1" dirty="0">
                <a:latin typeface="微软雅黑" panose="020B0503020204020204" pitchFamily="34" charset="-122"/>
                <a:ea typeface="微软雅黑" panose="020B0503020204020204" pitchFamily="34" charset="-122"/>
              </a:endParaRPr>
            </a:p>
            <a:p>
              <a:pPr>
                <a:spcBef>
                  <a:spcPct val="0"/>
                </a:spcBef>
                <a:buFontTx/>
                <a:buNone/>
              </a:pPr>
              <a:r>
                <a:rPr lang="zh-CN" altLang="en-US" sz="1800" b="1" dirty="0">
                  <a:solidFill>
                    <a:schemeClr val="tx2"/>
                  </a:solidFill>
                  <a:latin typeface="微软雅黑" panose="020B0503020204020204" pitchFamily="34" charset="-122"/>
                  <a:ea typeface="微软雅黑" panose="020B0503020204020204" pitchFamily="34" charset="-122"/>
                </a:rPr>
                <a:t>**</a:t>
              </a:r>
              <a:r>
                <a:rPr lang="zh-CN" altLang="en-US" sz="1800" b="1" dirty="0">
                  <a:latin typeface="微软雅黑" panose="020B0503020204020204" pitchFamily="34" charset="-122"/>
                  <a:ea typeface="微软雅黑" panose="020B0503020204020204" pitchFamily="34" charset="-122"/>
                </a:rPr>
                <a:t>由于非线性大，这种传感器一般应用于</a:t>
              </a:r>
              <a:r>
                <a:rPr lang="zh-CN" altLang="en-US" sz="1800" b="1" dirty="0">
                  <a:solidFill>
                    <a:srgbClr val="0000FF"/>
                  </a:solidFill>
                  <a:latin typeface="微软雅黑" panose="020B0503020204020204" pitchFamily="34" charset="-122"/>
                  <a:ea typeface="微软雅黑" panose="020B0503020204020204" pitchFamily="34" charset="-122"/>
                </a:rPr>
                <a:t>微位移测量</a:t>
              </a:r>
              <a:r>
                <a:rPr lang="zh-CN" altLang="en-US" sz="1800" b="1" dirty="0">
                  <a:latin typeface="微软雅黑" panose="020B0503020204020204" pitchFamily="34" charset="-122"/>
                  <a:ea typeface="微软雅黑" panose="020B0503020204020204" pitchFamily="34" charset="-122"/>
                </a:rPr>
                <a:t>。</a:t>
              </a:r>
              <a:endParaRPr lang="zh-CN" altLang="en-US" sz="1800" dirty="0"/>
            </a:p>
          </p:txBody>
        </p:sp>
        <p:pic>
          <p:nvPicPr>
            <p:cNvPr id="22545" name="图片 10">
              <a:extLst>
                <a:ext uri="{FF2B5EF4-FFF2-40B4-BE49-F238E27FC236}">
                  <a16:creationId xmlns:a16="http://schemas.microsoft.com/office/drawing/2014/main" id="{DEC7D40C-736E-4D80-ABA1-C877E40462C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36096" y="5373216"/>
              <a:ext cx="2434173" cy="540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矩形 1">
            <a:extLst>
              <a:ext uri="{FF2B5EF4-FFF2-40B4-BE49-F238E27FC236}">
                <a16:creationId xmlns:a16="http://schemas.microsoft.com/office/drawing/2014/main" id="{24AE018D-66A3-496F-9CDE-4497CC2030D7}"/>
              </a:ext>
            </a:extLst>
          </p:cNvPr>
          <p:cNvSpPr/>
          <p:nvPr/>
        </p:nvSpPr>
        <p:spPr>
          <a:xfrm>
            <a:off x="5334000" y="4379860"/>
            <a:ext cx="2723823" cy="369332"/>
          </a:xfrm>
          <a:prstGeom prst="rect">
            <a:avLst/>
          </a:prstGeom>
        </p:spPr>
        <p:txBody>
          <a:bodyPr wrap="none">
            <a:spAutoFit/>
          </a:bodyPr>
          <a:lstStyle/>
          <a:p>
            <a:r>
              <a:rPr lang="zh-CN" altLang="en-US" b="1" dirty="0">
                <a:solidFill>
                  <a:srgbClr val="FF9900"/>
                </a:solidFill>
                <a:latin typeface="微软雅黑" panose="020B0503020204020204" pitchFamily="34" charset="-122"/>
                <a:ea typeface="微软雅黑" panose="020B0503020204020204" pitchFamily="34" charset="-122"/>
              </a:rPr>
              <a:t>变极距电容传感器参数：</a:t>
            </a:r>
            <a:endParaRPr lang="en-US" altLang="zh-CN" b="1" dirty="0">
              <a:solidFill>
                <a:srgbClr val="FF99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54" name="Object 3">
            <a:extLst>
              <a:ext uri="{FF2B5EF4-FFF2-40B4-BE49-F238E27FC236}">
                <a16:creationId xmlns:a16="http://schemas.microsoft.com/office/drawing/2014/main" id="{A84C028D-C690-4626-B9CD-CBFB85C25A68}"/>
              </a:ext>
            </a:extLst>
          </p:cNvPr>
          <p:cNvGraphicFramePr>
            <a:graphicFrameLocks noChangeAspect="1"/>
          </p:cNvGraphicFramePr>
          <p:nvPr>
            <p:extLst>
              <p:ext uri="{D42A27DB-BD31-4B8C-83A1-F6EECF244321}">
                <p14:modId xmlns:p14="http://schemas.microsoft.com/office/powerpoint/2010/main" val="1924036026"/>
              </p:ext>
            </p:extLst>
          </p:nvPr>
        </p:nvGraphicFramePr>
        <p:xfrm>
          <a:off x="4356100" y="811213"/>
          <a:ext cx="4606925" cy="4160837"/>
        </p:xfrm>
        <a:graphic>
          <a:graphicData uri="http://schemas.openxmlformats.org/presentationml/2006/ole">
            <mc:AlternateContent xmlns:mc="http://schemas.openxmlformats.org/markup-compatibility/2006">
              <mc:Choice xmlns:v="urn:schemas-microsoft-com:vml" Requires="v">
                <p:oleObj spid="_x0000_s23741" name="VISIO" r:id="rId3" imgW="2301240" imgH="2072640" progId="Visio.Drawing.4">
                  <p:embed/>
                </p:oleObj>
              </mc:Choice>
              <mc:Fallback>
                <p:oleObj name="VISIO" r:id="rId3" imgW="2301240" imgH="2072640" progId="Visio.Drawing.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6100" y="811213"/>
                        <a:ext cx="4606925" cy="416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55" name="Text Box 5">
            <a:extLst>
              <a:ext uri="{FF2B5EF4-FFF2-40B4-BE49-F238E27FC236}">
                <a16:creationId xmlns:a16="http://schemas.microsoft.com/office/drawing/2014/main" id="{4A136959-1E09-498A-BEDD-B131056B506D}"/>
              </a:ext>
            </a:extLst>
          </p:cNvPr>
          <p:cNvSpPr txBox="1">
            <a:spLocks noChangeArrowheads="1"/>
          </p:cNvSpPr>
          <p:nvPr/>
        </p:nvSpPr>
        <p:spPr bwMode="auto">
          <a:xfrm>
            <a:off x="539750" y="2411413"/>
            <a:ext cx="45704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400" b="1">
                <a:latin typeface="微软雅黑" panose="020B0503020204020204" pitchFamily="34" charset="-122"/>
                <a:ea typeface="微软雅黑" panose="020B0503020204020204" pitchFamily="34" charset="-122"/>
              </a:rPr>
              <a:t>传感器的</a:t>
            </a:r>
            <a:r>
              <a:rPr kumimoji="1" lang="zh-CN" altLang="en-US" sz="2400" b="1">
                <a:solidFill>
                  <a:srgbClr val="0000FF"/>
                </a:solidFill>
                <a:latin typeface="微软雅黑" panose="020B0503020204020204" pitchFamily="34" charset="-122"/>
                <a:ea typeface="微软雅黑" panose="020B0503020204020204" pitchFamily="34" charset="-122"/>
              </a:rPr>
              <a:t>相对非线性误差</a:t>
            </a:r>
            <a:r>
              <a:rPr kumimoji="1" lang="en-US" altLang="zh-CN" sz="2400" b="1" i="1">
                <a:latin typeface="微软雅黑" panose="020B0503020204020204" pitchFamily="34" charset="-122"/>
                <a:ea typeface="微软雅黑" panose="020B0503020204020204" pitchFamily="34" charset="-122"/>
              </a:rPr>
              <a:t>δ </a:t>
            </a:r>
            <a:r>
              <a:rPr kumimoji="1" lang="zh-CN" altLang="en-US" sz="2400" b="1">
                <a:latin typeface="微软雅黑" panose="020B0503020204020204" pitchFamily="34" charset="-122"/>
                <a:ea typeface="微软雅黑" panose="020B0503020204020204" pitchFamily="34" charset="-122"/>
              </a:rPr>
              <a:t>为： </a:t>
            </a:r>
          </a:p>
        </p:txBody>
      </p:sp>
      <p:graphicFrame>
        <p:nvGraphicFramePr>
          <p:cNvPr id="23556" name="Object 6">
            <a:extLst>
              <a:ext uri="{FF2B5EF4-FFF2-40B4-BE49-F238E27FC236}">
                <a16:creationId xmlns:a16="http://schemas.microsoft.com/office/drawing/2014/main" id="{46BFCEE2-6E69-4530-B449-B87682C462F0}"/>
              </a:ext>
            </a:extLst>
          </p:cNvPr>
          <p:cNvGraphicFramePr>
            <a:graphicFrameLocks noChangeAspect="1"/>
          </p:cNvGraphicFramePr>
          <p:nvPr/>
        </p:nvGraphicFramePr>
        <p:xfrm>
          <a:off x="539750" y="3152775"/>
          <a:ext cx="4803775" cy="1025525"/>
        </p:xfrm>
        <a:graphic>
          <a:graphicData uri="http://schemas.openxmlformats.org/presentationml/2006/ole">
            <mc:AlternateContent xmlns:mc="http://schemas.openxmlformats.org/markup-compatibility/2006">
              <mc:Choice xmlns:v="urn:schemas-microsoft-com:vml" Requires="v">
                <p:oleObj spid="_x0000_s23742" name="Equation" r:id="rId5" imgW="2260600" imgH="482600" progId="Equation.3">
                  <p:embed/>
                </p:oleObj>
              </mc:Choice>
              <mc:Fallback>
                <p:oleObj name="Equation" r:id="rId5" imgW="2260600" imgH="4826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750" y="3152775"/>
                        <a:ext cx="4803775" cy="1025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7" name="灯片编号占位符 1">
            <a:extLst>
              <a:ext uri="{FF2B5EF4-FFF2-40B4-BE49-F238E27FC236}">
                <a16:creationId xmlns:a16="http://schemas.microsoft.com/office/drawing/2014/main" id="{946CF71C-4DC9-437F-AAA8-728EC3396381}"/>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B944D36A-B9A3-4C78-AB94-E640E9D3AD9A}" type="slidenum">
              <a:rPr lang="en-US" altLang="zh-CN" smtClean="0"/>
              <a:pPr/>
              <a:t>6</a:t>
            </a:fld>
            <a:endParaRPr lang="en-US" altLang="zh-CN"/>
          </a:p>
        </p:txBody>
      </p:sp>
      <p:sp>
        <p:nvSpPr>
          <p:cNvPr id="11" name="矩形 10">
            <a:extLst>
              <a:ext uri="{FF2B5EF4-FFF2-40B4-BE49-F238E27FC236}">
                <a16:creationId xmlns:a16="http://schemas.microsoft.com/office/drawing/2014/main" id="{2EA05B1B-24DC-4024-B074-B14D5ACB8611}"/>
              </a:ext>
            </a:extLst>
          </p:cNvPr>
          <p:cNvSpPr/>
          <p:nvPr/>
        </p:nvSpPr>
        <p:spPr>
          <a:xfrm>
            <a:off x="142875" y="76517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23559" name="Text Box 2">
            <a:extLst>
              <a:ext uri="{FF2B5EF4-FFF2-40B4-BE49-F238E27FC236}">
                <a16:creationId xmlns:a16="http://schemas.microsoft.com/office/drawing/2014/main" id="{D5C0069F-73CE-4C98-9FBF-342FF7726C67}"/>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1.1  </a:t>
            </a:r>
            <a:r>
              <a:rPr kumimoji="1" lang="zh-CN" altLang="en-US" sz="2800" b="1">
                <a:solidFill>
                  <a:srgbClr val="C00000"/>
                </a:solidFill>
                <a:latin typeface="微软雅黑" panose="020B0503020204020204" pitchFamily="34" charset="-122"/>
                <a:ea typeface="微软雅黑" panose="020B0503020204020204" pitchFamily="34" charset="-122"/>
              </a:rPr>
              <a:t>变极距型电容传感器：非线性</a:t>
            </a:r>
          </a:p>
        </p:txBody>
      </p:sp>
      <p:graphicFrame>
        <p:nvGraphicFramePr>
          <p:cNvPr id="23560" name="Object 21">
            <a:extLst>
              <a:ext uri="{FF2B5EF4-FFF2-40B4-BE49-F238E27FC236}">
                <a16:creationId xmlns:a16="http://schemas.microsoft.com/office/drawing/2014/main" id="{1B37205C-FA12-4D69-87B1-8924B8857D1A}"/>
              </a:ext>
            </a:extLst>
          </p:cNvPr>
          <p:cNvGraphicFramePr>
            <a:graphicFrameLocks noChangeAspect="1"/>
          </p:cNvGraphicFramePr>
          <p:nvPr/>
        </p:nvGraphicFramePr>
        <p:xfrm>
          <a:off x="446088" y="1209675"/>
          <a:ext cx="4746625" cy="900113"/>
        </p:xfrm>
        <a:graphic>
          <a:graphicData uri="http://schemas.openxmlformats.org/presentationml/2006/ole">
            <mc:AlternateContent xmlns:mc="http://schemas.openxmlformats.org/markup-compatibility/2006">
              <mc:Choice xmlns:v="urn:schemas-microsoft-com:vml" Requires="v">
                <p:oleObj spid="_x0000_s23743" name="Equation" r:id="rId7" imgW="2679700" imgH="508000" progId="Equation.3">
                  <p:embed/>
                </p:oleObj>
              </mc:Choice>
              <mc:Fallback>
                <p:oleObj name="Equation" r:id="rId7" imgW="2679700" imgH="508000" progId="Equation.3">
                  <p:embed/>
                  <p:pic>
                    <p:nvPicPr>
                      <p:cNvPr id="0" name="Object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6088" y="1209675"/>
                        <a:ext cx="4746625"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61" name="矩形 5">
            <a:extLst>
              <a:ext uri="{FF2B5EF4-FFF2-40B4-BE49-F238E27FC236}">
                <a16:creationId xmlns:a16="http://schemas.microsoft.com/office/drawing/2014/main" id="{B79F0679-DCD7-41FD-8668-8F6FD91781E5}"/>
              </a:ext>
            </a:extLst>
          </p:cNvPr>
          <p:cNvSpPr>
            <a:spLocks noChangeArrowheads="1"/>
          </p:cNvSpPr>
          <p:nvPr/>
        </p:nvSpPr>
        <p:spPr bwMode="auto">
          <a:xfrm>
            <a:off x="6354763" y="3592513"/>
            <a:ext cx="16700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zh-CN" altLang="en-US" sz="1800" b="1">
                <a:latin typeface="微软雅黑" panose="020B0503020204020204" pitchFamily="34" charset="-122"/>
                <a:ea typeface="微软雅黑" panose="020B0503020204020204" pitchFamily="34" charset="-122"/>
              </a:rPr>
              <a:t>极距</a:t>
            </a:r>
            <a:r>
              <a:rPr kumimoji="1" lang="en-US" altLang="zh-CN" sz="1800" b="1">
                <a:latin typeface="微软雅黑" panose="020B0503020204020204" pitchFamily="34" charset="-122"/>
                <a:ea typeface="微软雅黑" panose="020B0503020204020204" pitchFamily="34" charset="-122"/>
              </a:rPr>
              <a:t>-</a:t>
            </a:r>
            <a:r>
              <a:rPr kumimoji="1" lang="zh-CN" altLang="en-US" sz="1800" b="1">
                <a:latin typeface="微软雅黑" panose="020B0503020204020204" pitchFamily="34" charset="-122"/>
                <a:ea typeface="微软雅黑" panose="020B0503020204020204" pitchFamily="34" charset="-122"/>
              </a:rPr>
              <a:t>电容曲线</a:t>
            </a:r>
            <a:endParaRPr lang="zh-CN" altLang="en-US" sz="1800"/>
          </a:p>
        </p:txBody>
      </p:sp>
      <p:grpSp>
        <p:nvGrpSpPr>
          <p:cNvPr id="21" name="组合 20">
            <a:extLst>
              <a:ext uri="{FF2B5EF4-FFF2-40B4-BE49-F238E27FC236}">
                <a16:creationId xmlns:a16="http://schemas.microsoft.com/office/drawing/2014/main" id="{873BC9D6-0FF3-41A2-8E9A-53547782B602}"/>
              </a:ext>
            </a:extLst>
          </p:cNvPr>
          <p:cNvGrpSpPr>
            <a:grpSpLocks/>
          </p:cNvGrpSpPr>
          <p:nvPr/>
        </p:nvGrpSpPr>
        <p:grpSpPr bwMode="auto">
          <a:xfrm>
            <a:off x="787400" y="4613275"/>
            <a:ext cx="2419350" cy="869950"/>
            <a:chOff x="788105" y="4612669"/>
            <a:chExt cx="2418471" cy="870556"/>
          </a:xfrm>
        </p:grpSpPr>
        <p:sp>
          <p:nvSpPr>
            <p:cNvPr id="23577" name="Text Box 43">
              <a:extLst>
                <a:ext uri="{FF2B5EF4-FFF2-40B4-BE49-F238E27FC236}">
                  <a16:creationId xmlns:a16="http://schemas.microsoft.com/office/drawing/2014/main" id="{56830504-A1A8-42FE-8993-7391EE1FD980}"/>
                </a:ext>
              </a:extLst>
            </p:cNvPr>
            <p:cNvSpPr txBox="1">
              <a:spLocks noChangeArrowheads="1"/>
            </p:cNvSpPr>
            <p:nvPr/>
          </p:nvSpPr>
          <p:spPr bwMode="auto">
            <a:xfrm>
              <a:off x="788105" y="4789561"/>
              <a:ext cx="12636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50000"/>
                </a:spcBef>
                <a:buFontTx/>
                <a:buNone/>
              </a:pPr>
              <a:r>
                <a:rPr kumimoji="1" lang="zh-CN" altLang="en-US" sz="2400" b="1">
                  <a:latin typeface="微软雅黑" panose="020B0503020204020204" pitchFamily="34" charset="-122"/>
                  <a:ea typeface="微软雅黑" panose="020B0503020204020204" pitchFamily="34" charset="-122"/>
                </a:rPr>
                <a:t>灵敏度：</a:t>
              </a:r>
            </a:p>
          </p:txBody>
        </p:sp>
        <p:pic>
          <p:nvPicPr>
            <p:cNvPr id="23578" name="图片 13">
              <a:extLst>
                <a:ext uri="{FF2B5EF4-FFF2-40B4-BE49-F238E27FC236}">
                  <a16:creationId xmlns:a16="http://schemas.microsoft.com/office/drawing/2014/main" id="{008CEE0E-A218-465D-ACF4-6259EE6AF54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55837" y="4612669"/>
              <a:ext cx="950739" cy="870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 name="组合 6">
            <a:extLst>
              <a:ext uri="{FF2B5EF4-FFF2-40B4-BE49-F238E27FC236}">
                <a16:creationId xmlns:a16="http://schemas.microsoft.com/office/drawing/2014/main" id="{25E798C2-6FD9-42AF-9BEE-11EA967DCBAF}"/>
              </a:ext>
            </a:extLst>
          </p:cNvPr>
          <p:cNvGrpSpPr/>
          <p:nvPr/>
        </p:nvGrpSpPr>
        <p:grpSpPr>
          <a:xfrm>
            <a:off x="3275857" y="4178301"/>
            <a:ext cx="1532091" cy="1433969"/>
            <a:chOff x="3275857" y="4178301"/>
            <a:chExt cx="1532091" cy="1433969"/>
          </a:xfrm>
        </p:grpSpPr>
        <p:sp>
          <p:nvSpPr>
            <p:cNvPr id="23574" name="矩形 1">
              <a:extLst>
                <a:ext uri="{FF2B5EF4-FFF2-40B4-BE49-F238E27FC236}">
                  <a16:creationId xmlns:a16="http://schemas.microsoft.com/office/drawing/2014/main" id="{A6CB1CE4-8C73-4E51-BE87-94E7271D57B5}"/>
                </a:ext>
              </a:extLst>
            </p:cNvPr>
            <p:cNvSpPr>
              <a:spLocks noChangeArrowheads="1"/>
            </p:cNvSpPr>
            <p:nvPr/>
          </p:nvSpPr>
          <p:spPr bwMode="auto">
            <a:xfrm>
              <a:off x="4201440" y="4869160"/>
              <a:ext cx="606508" cy="743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en-US" altLang="zh-CN" b="1" i="1" dirty="0">
                  <a:solidFill>
                    <a:srgbClr val="FF0000"/>
                  </a:solidFill>
                  <a:latin typeface="微软雅黑" panose="020B0503020204020204" pitchFamily="34" charset="-122"/>
                  <a:ea typeface="微软雅黑" panose="020B0503020204020204" pitchFamily="34" charset="-122"/>
                </a:rPr>
                <a:t>d</a:t>
              </a:r>
              <a:r>
                <a:rPr kumimoji="1" lang="en-US" altLang="zh-CN" b="1" baseline="-25000" dirty="0">
                  <a:solidFill>
                    <a:srgbClr val="FF0000"/>
                  </a:solidFill>
                  <a:latin typeface="微软雅黑" panose="020B0503020204020204" pitchFamily="34" charset="-122"/>
                  <a:ea typeface="微软雅黑" panose="020B0503020204020204" pitchFamily="34" charset="-122"/>
                </a:rPr>
                <a:t>0</a:t>
              </a:r>
              <a:endParaRPr lang="zh-CN" altLang="en-US" dirty="0">
                <a:solidFill>
                  <a:srgbClr val="FF0000"/>
                </a:solidFill>
              </a:endParaRPr>
            </a:p>
          </p:txBody>
        </p:sp>
        <p:cxnSp>
          <p:nvCxnSpPr>
            <p:cNvPr id="4" name="直接箭头连接符 3">
              <a:extLst>
                <a:ext uri="{FF2B5EF4-FFF2-40B4-BE49-F238E27FC236}">
                  <a16:creationId xmlns:a16="http://schemas.microsoft.com/office/drawing/2014/main" id="{CBEA340F-4FDE-42AC-A841-2AFDAB4CC35A}"/>
                </a:ext>
              </a:extLst>
            </p:cNvPr>
            <p:cNvCxnSpPr>
              <a:cxnSpLocks/>
            </p:cNvCxnSpPr>
            <p:nvPr/>
          </p:nvCxnSpPr>
          <p:spPr bwMode="auto">
            <a:xfrm flipH="1">
              <a:off x="3275857" y="5262962"/>
              <a:ext cx="887362" cy="1"/>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FC2BFDAA-043E-4D26-B39B-11996A00D1C2}"/>
                </a:ext>
              </a:extLst>
            </p:cNvPr>
            <p:cNvCxnSpPr>
              <a:cxnSpLocks/>
            </p:cNvCxnSpPr>
            <p:nvPr/>
          </p:nvCxnSpPr>
          <p:spPr bwMode="auto">
            <a:xfrm flipH="1" flipV="1">
              <a:off x="3963413" y="4178301"/>
              <a:ext cx="351267" cy="784029"/>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F5346818-794B-428D-A949-37A9AFF1C88F}"/>
              </a:ext>
            </a:extLst>
          </p:cNvPr>
          <p:cNvGrpSpPr>
            <a:grpSpLocks/>
          </p:cNvGrpSpPr>
          <p:nvPr/>
        </p:nvGrpSpPr>
        <p:grpSpPr bwMode="auto">
          <a:xfrm>
            <a:off x="446088" y="5883275"/>
            <a:ext cx="8315325" cy="693738"/>
            <a:chOff x="446088" y="5882710"/>
            <a:chExt cx="8315325" cy="694195"/>
          </a:xfrm>
        </p:grpSpPr>
        <p:sp>
          <p:nvSpPr>
            <p:cNvPr id="23568" name="Text Box 8">
              <a:extLst>
                <a:ext uri="{FF2B5EF4-FFF2-40B4-BE49-F238E27FC236}">
                  <a16:creationId xmlns:a16="http://schemas.microsoft.com/office/drawing/2014/main" id="{5C0E3F66-F368-4E24-A07B-87B77A223716}"/>
                </a:ext>
              </a:extLst>
            </p:cNvPr>
            <p:cNvSpPr txBox="1">
              <a:spLocks noChangeArrowheads="1"/>
            </p:cNvSpPr>
            <p:nvPr/>
          </p:nvSpPr>
          <p:spPr bwMode="auto">
            <a:xfrm>
              <a:off x="446088" y="5995848"/>
              <a:ext cx="8315325" cy="581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50000"/>
                </a:lnSpc>
                <a:spcBef>
                  <a:spcPct val="50000"/>
                </a:spcBef>
                <a:buFontTx/>
                <a:buNone/>
              </a:pPr>
              <a:r>
                <a:rPr kumimoji="1" lang="en-US" altLang="zh-CN" sz="2400" b="1" i="1">
                  <a:solidFill>
                    <a:srgbClr val="0000FF"/>
                  </a:solidFill>
                  <a:latin typeface="微软雅黑" panose="020B0503020204020204" pitchFamily="34" charset="-122"/>
                  <a:ea typeface="微软雅黑" panose="020B0503020204020204" pitchFamily="34" charset="-122"/>
                </a:rPr>
                <a:t>d</a:t>
              </a:r>
              <a:r>
                <a:rPr kumimoji="1" lang="en-US" altLang="zh-CN" sz="2400" b="1" baseline="-25000">
                  <a:solidFill>
                    <a:srgbClr val="0000FF"/>
                  </a:solidFill>
                  <a:latin typeface="微软雅黑" panose="020B0503020204020204" pitchFamily="34" charset="-122"/>
                  <a:ea typeface="微软雅黑" panose="020B0503020204020204" pitchFamily="34" charset="-122"/>
                </a:rPr>
                <a:t>0     </a:t>
              </a:r>
              <a:r>
                <a:rPr kumimoji="1" lang="zh-CN" altLang="en-US" sz="2400" b="1" baseline="-25000">
                  <a:solidFill>
                    <a:srgbClr val="0000FF"/>
                  </a:solidFill>
                  <a:latin typeface="微软雅黑" panose="020B0503020204020204" pitchFamily="34" charset="-122"/>
                  <a:ea typeface="微软雅黑" panose="020B0503020204020204" pitchFamily="34" charset="-122"/>
                </a:rPr>
                <a:t>，</a:t>
              </a:r>
              <a:r>
                <a:rPr kumimoji="1" lang="zh-CN" altLang="en-US" sz="2400" b="1">
                  <a:solidFill>
                    <a:srgbClr val="0000FF"/>
                  </a:solidFill>
                  <a:latin typeface="微软雅黑" panose="020B0503020204020204" pitchFamily="34" charset="-122"/>
                  <a:ea typeface="微软雅黑" panose="020B0503020204020204" pitchFamily="34" charset="-122"/>
                </a:rPr>
                <a:t>灵敏度</a:t>
              </a:r>
              <a:r>
                <a:rPr kumimoji="1" lang="en-US" altLang="zh-CN" sz="2400" b="1">
                  <a:solidFill>
                    <a:srgbClr val="0000FF"/>
                  </a:solidFill>
                  <a:latin typeface="微软雅黑" panose="020B0503020204020204" pitchFamily="34" charset="-122"/>
                  <a:ea typeface="微软雅黑" panose="020B0503020204020204" pitchFamily="34" charset="-122"/>
                </a:rPr>
                <a:t>K</a:t>
              </a:r>
              <a:r>
                <a:rPr kumimoji="1" lang="zh-CN" altLang="en-US" sz="2400" b="1">
                  <a:solidFill>
                    <a:srgbClr val="0000FF"/>
                  </a:solidFill>
                  <a:latin typeface="微软雅黑" panose="020B0503020204020204" pitchFamily="34" charset="-122"/>
                  <a:ea typeface="微软雅黑" panose="020B0503020204020204" pitchFamily="34" charset="-122"/>
                </a:rPr>
                <a:t>          ，但非线性误差</a:t>
              </a:r>
              <a:r>
                <a:rPr kumimoji="1" lang="zh-CN" altLang="en-US" sz="2400" b="1">
                  <a:solidFill>
                    <a:srgbClr val="0000FF"/>
                  </a:solidFill>
                  <a:latin typeface="微软雅黑" panose="020B0503020204020204" pitchFamily="34" charset="-122"/>
                  <a:ea typeface="微软雅黑" panose="020B0503020204020204" pitchFamily="34" charset="-122"/>
                  <a:sym typeface="Symbol" panose="05050102010706020507" pitchFamily="18" charset="2"/>
                </a:rPr>
                <a:t>  </a:t>
              </a:r>
              <a:r>
                <a:rPr kumimoji="1" lang="zh-CN" altLang="en-US" sz="2400" b="1">
                  <a:solidFill>
                    <a:srgbClr val="0000FF"/>
                  </a:solidFill>
                  <a:latin typeface="微软雅黑" panose="020B0503020204020204" pitchFamily="34" charset="-122"/>
                  <a:ea typeface="微软雅黑" panose="020B0503020204020204" pitchFamily="34" charset="-122"/>
                </a:rPr>
                <a:t> </a:t>
              </a:r>
            </a:p>
          </p:txBody>
        </p:sp>
        <p:sp>
          <p:nvSpPr>
            <p:cNvPr id="8" name="箭头: 下 7">
              <a:extLst>
                <a:ext uri="{FF2B5EF4-FFF2-40B4-BE49-F238E27FC236}">
                  <a16:creationId xmlns:a16="http://schemas.microsoft.com/office/drawing/2014/main" id="{2BF38015-77CC-4CD1-A016-4AFA3DC0BB55}"/>
                </a:ext>
              </a:extLst>
            </p:cNvPr>
            <p:cNvSpPr/>
            <p:nvPr/>
          </p:nvSpPr>
          <p:spPr>
            <a:xfrm>
              <a:off x="900113" y="6136877"/>
              <a:ext cx="142875" cy="29864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2" name="箭头: 下 21">
              <a:extLst>
                <a:ext uri="{FF2B5EF4-FFF2-40B4-BE49-F238E27FC236}">
                  <a16:creationId xmlns:a16="http://schemas.microsoft.com/office/drawing/2014/main" id="{730A68BA-E7F0-4639-A576-62945CAC6DE2}"/>
                </a:ext>
              </a:extLst>
            </p:cNvPr>
            <p:cNvSpPr/>
            <p:nvPr/>
          </p:nvSpPr>
          <p:spPr>
            <a:xfrm rot="10800000">
              <a:off x="2587625" y="6070158"/>
              <a:ext cx="142875" cy="29864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3" name="箭头: 下 22">
              <a:extLst>
                <a:ext uri="{FF2B5EF4-FFF2-40B4-BE49-F238E27FC236}">
                  <a16:creationId xmlns:a16="http://schemas.microsoft.com/office/drawing/2014/main" id="{2318BA35-8340-4768-89E0-EAF3B49B1DA8}"/>
                </a:ext>
              </a:extLst>
            </p:cNvPr>
            <p:cNvSpPr/>
            <p:nvPr/>
          </p:nvSpPr>
          <p:spPr>
            <a:xfrm rot="10800000">
              <a:off x="5772150" y="6070158"/>
              <a:ext cx="144463" cy="29864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23572" name="图形 15" descr="竖起的大拇指手势 ">
              <a:extLst>
                <a:ext uri="{FF2B5EF4-FFF2-40B4-BE49-F238E27FC236}">
                  <a16:creationId xmlns:a16="http://schemas.microsoft.com/office/drawing/2014/main" id="{405FC081-2782-4E98-BFE1-C413BBEA97B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19400" y="5882710"/>
              <a:ext cx="566738" cy="565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73" name="图形 27" descr="竖起的大拇指手势 ">
              <a:extLst>
                <a:ext uri="{FF2B5EF4-FFF2-40B4-BE49-F238E27FC236}">
                  <a16:creationId xmlns:a16="http://schemas.microsoft.com/office/drawing/2014/main" id="{7B219D1B-935A-42CC-BCA3-A7BF19525BD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rot="10800000">
              <a:off x="5949950" y="5965314"/>
              <a:ext cx="566738" cy="565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 name="矩形 19">
            <a:extLst>
              <a:ext uri="{FF2B5EF4-FFF2-40B4-BE49-F238E27FC236}">
                <a16:creationId xmlns:a16="http://schemas.microsoft.com/office/drawing/2014/main" id="{2394295B-8AAB-4788-8857-BB2C3B103DC7}"/>
              </a:ext>
            </a:extLst>
          </p:cNvPr>
          <p:cNvSpPr/>
          <p:nvPr/>
        </p:nvSpPr>
        <p:spPr>
          <a:xfrm>
            <a:off x="5915878" y="4206820"/>
            <a:ext cx="2979351" cy="1261884"/>
          </a:xfrm>
          <a:prstGeom prst="rect">
            <a:avLst/>
          </a:prstGeom>
          <a:solidFill>
            <a:schemeClr val="bg1">
              <a:lumMod val="8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spAutoFit/>
          </a:bodyPr>
          <a:lstStyle/>
          <a:p>
            <a:pPr>
              <a:defRPr/>
            </a:pPr>
            <a:endParaRPr lang="zh-CN" altLang="en-US" sz="800" dirty="0">
              <a:solidFill>
                <a:srgbClr val="0099FF"/>
              </a:solidFill>
            </a:endParaRPr>
          </a:p>
          <a:p>
            <a:pPr>
              <a:defRPr/>
            </a:pPr>
            <a:r>
              <a:rPr lang="zh-CN" altLang="en-US" sz="2000" b="1" dirty="0">
                <a:solidFill>
                  <a:srgbClr val="0099FF"/>
                </a:solidFill>
                <a:latin typeface="微软雅黑" panose="020B0503020204020204" pitchFamily="34" charset="-122"/>
                <a:ea typeface="微软雅黑" panose="020B0503020204020204" pitchFamily="34" charset="-122"/>
              </a:rPr>
              <a:t>由于非线性太大</a:t>
            </a:r>
            <a:endParaRPr lang="en-US" altLang="zh-CN" sz="2000" b="1" dirty="0">
              <a:solidFill>
                <a:srgbClr val="0099FF"/>
              </a:solidFill>
              <a:latin typeface="微软雅黑" panose="020B0503020204020204" pitchFamily="34" charset="-122"/>
              <a:ea typeface="微软雅黑" panose="020B0503020204020204" pitchFamily="34" charset="-122"/>
            </a:endParaRPr>
          </a:p>
          <a:p>
            <a:pPr>
              <a:defRPr/>
            </a:pPr>
            <a:r>
              <a:rPr lang="zh-CN" altLang="en-US" sz="2000" b="1" dirty="0">
                <a:solidFill>
                  <a:srgbClr val="0099FF"/>
                </a:solidFill>
                <a:latin typeface="微软雅黑" panose="020B0503020204020204" pitchFamily="34" charset="-122"/>
                <a:ea typeface="微软雅黑" panose="020B0503020204020204" pitchFamily="34" charset="-122"/>
              </a:rPr>
              <a:t>仅适用于</a:t>
            </a:r>
            <a:r>
              <a:rPr lang="zh-CN" altLang="en-US" sz="2000" b="1" dirty="0">
                <a:solidFill>
                  <a:schemeClr val="tx2">
                    <a:lumMod val="50000"/>
                  </a:schemeClr>
                </a:solidFill>
                <a:latin typeface="微软雅黑" panose="020B0503020204020204" pitchFamily="34" charset="-122"/>
                <a:ea typeface="微软雅黑" panose="020B0503020204020204" pitchFamily="34" charset="-122"/>
              </a:rPr>
              <a:t>微位移测量</a:t>
            </a:r>
            <a:r>
              <a:rPr lang="zh-CN" altLang="en-US" sz="2000" b="1" dirty="0">
                <a:solidFill>
                  <a:srgbClr val="0099FF"/>
                </a:solidFill>
                <a:latin typeface="微软雅黑" panose="020B0503020204020204" pitchFamily="34" charset="-122"/>
                <a:ea typeface="微软雅黑" panose="020B0503020204020204" pitchFamily="34" charset="-122"/>
              </a:rPr>
              <a:t>。</a:t>
            </a:r>
            <a:endParaRPr lang="en-US" altLang="zh-CN" sz="2000" b="1" dirty="0">
              <a:solidFill>
                <a:srgbClr val="0099FF"/>
              </a:solidFill>
              <a:latin typeface="微软雅黑" panose="020B0503020204020204" pitchFamily="34" charset="-122"/>
              <a:ea typeface="微软雅黑" panose="020B0503020204020204" pitchFamily="34" charset="-122"/>
            </a:endParaRPr>
          </a:p>
          <a:p>
            <a:pPr>
              <a:defRPr/>
            </a:pPr>
            <a:r>
              <a:rPr lang="zh-CN" altLang="en-US" sz="2000" b="1" dirty="0">
                <a:solidFill>
                  <a:srgbClr val="0099FF"/>
                </a:solidFill>
                <a:latin typeface="微软雅黑" panose="020B0503020204020204" pitchFamily="34" charset="-122"/>
                <a:ea typeface="微软雅黑" panose="020B0503020204020204" pitchFamily="34" charset="-122"/>
              </a:rPr>
              <a:t>有什么办法减小非线性？</a:t>
            </a:r>
            <a:endParaRPr lang="en-US" altLang="zh-CN" sz="2000" b="1" dirty="0">
              <a:solidFill>
                <a:srgbClr val="0099FF"/>
              </a:solidFill>
              <a:latin typeface="微软雅黑" panose="020B0503020204020204" pitchFamily="34" charset="-122"/>
              <a:ea typeface="微软雅黑" panose="020B0503020204020204" pitchFamily="34" charset="-122"/>
            </a:endParaRPr>
          </a:p>
          <a:p>
            <a:pPr>
              <a:defRPr/>
            </a:pPr>
            <a:endParaRPr lang="zh-CN" altLang="en-US" sz="800" dirty="0">
              <a:solidFill>
                <a:srgbClr val="0099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1000" fill="hold"/>
                                        <p:tgtEl>
                                          <p:spTgt spid="7"/>
                                        </p:tgtEl>
                                        <p:attrNameLst>
                                          <p:attrName>ppt_w</p:attrName>
                                        </p:attrNameLst>
                                      </p:cBhvr>
                                      <p:tavLst>
                                        <p:tav tm="0">
                                          <p:val>
                                            <p:fltVal val="0"/>
                                          </p:val>
                                        </p:tav>
                                        <p:tav tm="100000">
                                          <p:val>
                                            <p:strVal val="#ppt_w"/>
                                          </p:val>
                                        </p:tav>
                                      </p:tavLst>
                                    </p:anim>
                                    <p:anim calcmode="lin" valueType="num">
                                      <p:cBhvr>
                                        <p:cTn id="14" dur="1000" fill="hold"/>
                                        <p:tgtEl>
                                          <p:spTgt spid="7"/>
                                        </p:tgtEl>
                                        <p:attrNameLst>
                                          <p:attrName>ppt_h</p:attrName>
                                        </p:attrNameLst>
                                      </p:cBhvr>
                                      <p:tavLst>
                                        <p:tav tm="0">
                                          <p:val>
                                            <p:fltVal val="0"/>
                                          </p:val>
                                        </p:tav>
                                        <p:tav tm="100000">
                                          <p:val>
                                            <p:strVal val="#ppt_h"/>
                                          </p:val>
                                        </p:tav>
                                      </p:tavLst>
                                    </p:anim>
                                    <p:anim calcmode="lin" valueType="num">
                                      <p:cBhvr>
                                        <p:cTn id="15" dur="1000" fill="hold"/>
                                        <p:tgtEl>
                                          <p:spTgt spid="7"/>
                                        </p:tgtEl>
                                        <p:attrNameLst>
                                          <p:attrName>style.rotation</p:attrName>
                                        </p:attrNameLst>
                                      </p:cBhvr>
                                      <p:tavLst>
                                        <p:tav tm="0">
                                          <p:val>
                                            <p:fltVal val="90"/>
                                          </p:val>
                                        </p:tav>
                                        <p:tav tm="100000">
                                          <p:val>
                                            <p:fltVal val="0"/>
                                          </p:val>
                                        </p:tav>
                                      </p:tavLst>
                                    </p:anim>
                                    <p:animEffect transition="in" filter="fade">
                                      <p:cBhvr>
                                        <p:cTn id="16" dur="10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ppt_x"/>
                                          </p:val>
                                        </p:tav>
                                        <p:tav tm="100000">
                                          <p:val>
                                            <p:strVal val="#ppt_x"/>
                                          </p:val>
                                        </p:tav>
                                      </p:tavLst>
                                    </p:anim>
                                    <p:anim calcmode="lin" valueType="num">
                                      <p:cBhvr additive="base">
                                        <p:cTn id="2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6"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down)">
                                      <p:cBhvr>
                                        <p:cTn id="27" dur="580">
                                          <p:stCondLst>
                                            <p:cond delay="0"/>
                                          </p:stCondLst>
                                        </p:cTn>
                                        <p:tgtEl>
                                          <p:spTgt spid="20"/>
                                        </p:tgtEl>
                                      </p:cBhvr>
                                    </p:animEffect>
                                    <p:anim calcmode="lin" valueType="num">
                                      <p:cBhvr>
                                        <p:cTn id="28" dur="1822"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29" dur="664"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30" dur="664" tmFilter="0, 0; 0.125,0.2665; 0.25,0.4; 0.375,0.465; 0.5,0.5;  0.625,0.535; 0.75,0.6; 0.875,0.7335; 1,1">
                                          <p:stCondLst>
                                            <p:cond delay="664"/>
                                          </p:stCondLst>
                                        </p:cTn>
                                        <p:tgtEl>
                                          <p:spTgt spid="20"/>
                                        </p:tgtEl>
                                        <p:attrNameLst>
                                          <p:attrName>ppt_y</p:attrName>
                                        </p:attrNameLst>
                                      </p:cBhvr>
                                      <p:tavLst>
                                        <p:tav tm="0" fmla="#ppt_y-sin(pi*$)/9">
                                          <p:val>
                                            <p:fltVal val="0"/>
                                          </p:val>
                                        </p:tav>
                                        <p:tav tm="100000">
                                          <p:val>
                                            <p:fltVal val="1"/>
                                          </p:val>
                                        </p:tav>
                                      </p:tavLst>
                                    </p:anim>
                                    <p:anim calcmode="lin" valueType="num">
                                      <p:cBhvr>
                                        <p:cTn id="31" dur="332" tmFilter="0, 0; 0.125,0.2665; 0.25,0.4; 0.375,0.465; 0.5,0.5;  0.625,0.535; 0.75,0.6; 0.875,0.7335; 1,1">
                                          <p:stCondLst>
                                            <p:cond delay="1324"/>
                                          </p:stCondLst>
                                        </p:cTn>
                                        <p:tgtEl>
                                          <p:spTgt spid="20"/>
                                        </p:tgtEl>
                                        <p:attrNameLst>
                                          <p:attrName>ppt_y</p:attrName>
                                        </p:attrNameLst>
                                      </p:cBhvr>
                                      <p:tavLst>
                                        <p:tav tm="0" fmla="#ppt_y-sin(pi*$)/27">
                                          <p:val>
                                            <p:fltVal val="0"/>
                                          </p:val>
                                        </p:tav>
                                        <p:tav tm="100000">
                                          <p:val>
                                            <p:fltVal val="1"/>
                                          </p:val>
                                        </p:tav>
                                      </p:tavLst>
                                    </p:anim>
                                    <p:anim calcmode="lin" valueType="num">
                                      <p:cBhvr>
                                        <p:cTn id="32" dur="164" tmFilter="0, 0; 0.125,0.2665; 0.25,0.4; 0.375,0.465; 0.5,0.5;  0.625,0.535; 0.75,0.6; 0.875,0.7335; 1,1">
                                          <p:stCondLst>
                                            <p:cond delay="1656"/>
                                          </p:stCondLst>
                                        </p:cTn>
                                        <p:tgtEl>
                                          <p:spTgt spid="20"/>
                                        </p:tgtEl>
                                        <p:attrNameLst>
                                          <p:attrName>ppt_y</p:attrName>
                                        </p:attrNameLst>
                                      </p:cBhvr>
                                      <p:tavLst>
                                        <p:tav tm="0" fmla="#ppt_y-sin(pi*$)/81">
                                          <p:val>
                                            <p:fltVal val="0"/>
                                          </p:val>
                                        </p:tav>
                                        <p:tav tm="100000">
                                          <p:val>
                                            <p:fltVal val="1"/>
                                          </p:val>
                                        </p:tav>
                                      </p:tavLst>
                                    </p:anim>
                                    <p:animScale>
                                      <p:cBhvr>
                                        <p:cTn id="33" dur="26">
                                          <p:stCondLst>
                                            <p:cond delay="650"/>
                                          </p:stCondLst>
                                        </p:cTn>
                                        <p:tgtEl>
                                          <p:spTgt spid="20"/>
                                        </p:tgtEl>
                                      </p:cBhvr>
                                      <p:to x="100000" y="60000"/>
                                    </p:animScale>
                                    <p:animScale>
                                      <p:cBhvr>
                                        <p:cTn id="34" dur="166" decel="50000">
                                          <p:stCondLst>
                                            <p:cond delay="676"/>
                                          </p:stCondLst>
                                        </p:cTn>
                                        <p:tgtEl>
                                          <p:spTgt spid="20"/>
                                        </p:tgtEl>
                                      </p:cBhvr>
                                      <p:to x="100000" y="100000"/>
                                    </p:animScale>
                                    <p:animScale>
                                      <p:cBhvr>
                                        <p:cTn id="35" dur="26">
                                          <p:stCondLst>
                                            <p:cond delay="1312"/>
                                          </p:stCondLst>
                                        </p:cTn>
                                        <p:tgtEl>
                                          <p:spTgt spid="20"/>
                                        </p:tgtEl>
                                      </p:cBhvr>
                                      <p:to x="100000" y="80000"/>
                                    </p:animScale>
                                    <p:animScale>
                                      <p:cBhvr>
                                        <p:cTn id="36" dur="166" decel="50000">
                                          <p:stCondLst>
                                            <p:cond delay="1338"/>
                                          </p:stCondLst>
                                        </p:cTn>
                                        <p:tgtEl>
                                          <p:spTgt spid="20"/>
                                        </p:tgtEl>
                                      </p:cBhvr>
                                      <p:to x="100000" y="100000"/>
                                    </p:animScale>
                                    <p:animScale>
                                      <p:cBhvr>
                                        <p:cTn id="37" dur="26">
                                          <p:stCondLst>
                                            <p:cond delay="1642"/>
                                          </p:stCondLst>
                                        </p:cTn>
                                        <p:tgtEl>
                                          <p:spTgt spid="20"/>
                                        </p:tgtEl>
                                      </p:cBhvr>
                                      <p:to x="100000" y="90000"/>
                                    </p:animScale>
                                    <p:animScale>
                                      <p:cBhvr>
                                        <p:cTn id="38" dur="166" decel="50000">
                                          <p:stCondLst>
                                            <p:cond delay="1668"/>
                                          </p:stCondLst>
                                        </p:cTn>
                                        <p:tgtEl>
                                          <p:spTgt spid="20"/>
                                        </p:tgtEl>
                                      </p:cBhvr>
                                      <p:to x="100000" y="100000"/>
                                    </p:animScale>
                                    <p:animScale>
                                      <p:cBhvr>
                                        <p:cTn id="39" dur="26">
                                          <p:stCondLst>
                                            <p:cond delay="1808"/>
                                          </p:stCondLst>
                                        </p:cTn>
                                        <p:tgtEl>
                                          <p:spTgt spid="20"/>
                                        </p:tgtEl>
                                      </p:cBhvr>
                                      <p:to x="100000" y="95000"/>
                                    </p:animScale>
                                    <p:animScale>
                                      <p:cBhvr>
                                        <p:cTn id="40" dur="166" decel="50000">
                                          <p:stCondLst>
                                            <p:cond delay="1834"/>
                                          </p:stCondLst>
                                        </p:cTn>
                                        <p:tgtEl>
                                          <p:spTgt spid="2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1">
            <a:extLst>
              <a:ext uri="{FF2B5EF4-FFF2-40B4-BE49-F238E27FC236}">
                <a16:creationId xmlns:a16="http://schemas.microsoft.com/office/drawing/2014/main" id="{E94DC256-0D81-4906-BE71-EF0C7393312D}"/>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B2F03941-882B-43AA-A8D4-D11904BB0FBE}" type="slidenum">
              <a:rPr lang="en-US" altLang="zh-CN" smtClean="0"/>
              <a:pPr/>
              <a:t>7</a:t>
            </a:fld>
            <a:endParaRPr lang="en-US" altLang="zh-CN"/>
          </a:p>
        </p:txBody>
      </p:sp>
      <p:sp>
        <p:nvSpPr>
          <p:cNvPr id="8" name="矩形 7">
            <a:extLst>
              <a:ext uri="{FF2B5EF4-FFF2-40B4-BE49-F238E27FC236}">
                <a16:creationId xmlns:a16="http://schemas.microsoft.com/office/drawing/2014/main" id="{3CBF76E7-67A0-47AC-BABC-B8AAC29EB4CC}"/>
              </a:ext>
            </a:extLst>
          </p:cNvPr>
          <p:cNvSpPr/>
          <p:nvPr/>
        </p:nvSpPr>
        <p:spPr>
          <a:xfrm>
            <a:off x="158750" y="793750"/>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graphicFrame>
        <p:nvGraphicFramePr>
          <p:cNvPr id="24580" name="Object 3">
            <a:extLst>
              <a:ext uri="{FF2B5EF4-FFF2-40B4-BE49-F238E27FC236}">
                <a16:creationId xmlns:a16="http://schemas.microsoft.com/office/drawing/2014/main" id="{09069D83-DEE7-4D31-98BF-3F61E1A015AC}"/>
              </a:ext>
            </a:extLst>
          </p:cNvPr>
          <p:cNvGraphicFramePr>
            <a:graphicFrameLocks noChangeAspect="1"/>
          </p:cNvGraphicFramePr>
          <p:nvPr/>
        </p:nvGraphicFramePr>
        <p:xfrm>
          <a:off x="185738" y="866775"/>
          <a:ext cx="4011612" cy="2516188"/>
        </p:xfrm>
        <a:graphic>
          <a:graphicData uri="http://schemas.openxmlformats.org/presentationml/2006/ole">
            <mc:AlternateContent xmlns:mc="http://schemas.openxmlformats.org/markup-compatibility/2006">
              <mc:Choice xmlns:v="urn:schemas-microsoft-com:vml" Requires="v">
                <p:oleObj spid="_x0000_s24809" name="VISIO" r:id="rId3" imgW="2316480" imgH="1539240" progId="Visio.Drawing.4">
                  <p:embed/>
                </p:oleObj>
              </mc:Choice>
              <mc:Fallback>
                <p:oleObj name="VISIO" r:id="rId3" imgW="2316480" imgH="1539240" progId="Visio.Drawing.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738" y="866775"/>
                        <a:ext cx="4011612" cy="251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1" name="Text Box 2">
            <a:extLst>
              <a:ext uri="{FF2B5EF4-FFF2-40B4-BE49-F238E27FC236}">
                <a16:creationId xmlns:a16="http://schemas.microsoft.com/office/drawing/2014/main" id="{556D673A-239F-4F67-8CEF-DCAFE63C0341}"/>
              </a:ext>
            </a:extLst>
          </p:cNvPr>
          <p:cNvSpPr txBox="1">
            <a:spLocks noChangeArrowheads="1"/>
          </p:cNvSpPr>
          <p:nvPr/>
        </p:nvSpPr>
        <p:spPr bwMode="auto">
          <a:xfrm>
            <a:off x="468313" y="3235325"/>
            <a:ext cx="35956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000" b="1">
                <a:latin typeface="微软雅黑" panose="020B0503020204020204" pitchFamily="34" charset="-122"/>
                <a:ea typeface="微软雅黑" panose="020B0503020204020204" pitchFamily="34" charset="-122"/>
              </a:rPr>
              <a:t>差动平板式电容传感器结构图 </a:t>
            </a:r>
          </a:p>
        </p:txBody>
      </p:sp>
      <p:sp>
        <p:nvSpPr>
          <p:cNvPr id="24582" name="Text Box 2">
            <a:extLst>
              <a:ext uri="{FF2B5EF4-FFF2-40B4-BE49-F238E27FC236}">
                <a16:creationId xmlns:a16="http://schemas.microsoft.com/office/drawing/2014/main" id="{A26400DE-2F91-412E-A070-6D75F1582D81}"/>
              </a:ext>
            </a:extLst>
          </p:cNvPr>
          <p:cNvSpPr txBox="1">
            <a:spLocks noChangeArrowheads="1"/>
          </p:cNvSpPr>
          <p:nvPr/>
        </p:nvSpPr>
        <p:spPr bwMode="auto">
          <a:xfrm>
            <a:off x="155575" y="115888"/>
            <a:ext cx="8642350" cy="597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C00000"/>
                </a:solidFill>
                <a:latin typeface="微软雅黑" panose="020B0503020204020204" pitchFamily="34" charset="-122"/>
                <a:ea typeface="微软雅黑" panose="020B0503020204020204" pitchFamily="34" charset="-122"/>
              </a:rPr>
              <a:t>1.1  </a:t>
            </a:r>
            <a:r>
              <a:rPr kumimoji="1" lang="zh-CN" altLang="en-US" sz="2800" b="1" dirty="0">
                <a:solidFill>
                  <a:srgbClr val="C00000"/>
                </a:solidFill>
                <a:latin typeface="微软雅黑" panose="020B0503020204020204" pitchFamily="34" charset="-122"/>
                <a:ea typeface="微软雅黑" panose="020B0503020204020204" pitchFamily="34" charset="-122"/>
              </a:rPr>
              <a:t>变极距型电容传感器：用差动结构减少非线性</a:t>
            </a:r>
          </a:p>
        </p:txBody>
      </p:sp>
      <p:sp>
        <p:nvSpPr>
          <p:cNvPr id="24583" name="Text Box 2">
            <a:extLst>
              <a:ext uri="{FF2B5EF4-FFF2-40B4-BE49-F238E27FC236}">
                <a16:creationId xmlns:a16="http://schemas.microsoft.com/office/drawing/2014/main" id="{2B500C7A-4BDB-42CB-9CD4-7839AEB67F71}"/>
              </a:ext>
            </a:extLst>
          </p:cNvPr>
          <p:cNvSpPr txBox="1">
            <a:spLocks noChangeArrowheads="1"/>
          </p:cNvSpPr>
          <p:nvPr/>
        </p:nvSpPr>
        <p:spPr bwMode="auto">
          <a:xfrm>
            <a:off x="266700" y="3716338"/>
            <a:ext cx="4425950"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8000"/>
              </a:lnSpc>
              <a:spcBef>
                <a:spcPct val="50000"/>
              </a:spcBef>
              <a:buFontTx/>
              <a:buNone/>
            </a:pPr>
            <a:r>
              <a:rPr kumimoji="1" lang="zh-CN" altLang="en-US" sz="2000" b="1">
                <a:latin typeface="微软雅黑" panose="020B0503020204020204" pitchFamily="34" charset="-122"/>
                <a:ea typeface="微软雅黑" panose="020B0503020204020204" pitchFamily="34" charset="-122"/>
              </a:rPr>
              <a:t>当</a:t>
            </a:r>
            <a:r>
              <a:rPr kumimoji="1" lang="zh-CN" altLang="en-US" sz="2000" b="1">
                <a:solidFill>
                  <a:srgbClr val="0000FF"/>
                </a:solidFill>
                <a:latin typeface="微软雅黑" panose="020B0503020204020204" pitchFamily="34" charset="-122"/>
                <a:ea typeface="微软雅黑" panose="020B0503020204020204" pitchFamily="34" charset="-122"/>
              </a:rPr>
              <a:t>动极板</a:t>
            </a:r>
            <a:r>
              <a:rPr kumimoji="1" lang="zh-CN" altLang="en-US" sz="2000" b="1">
                <a:solidFill>
                  <a:srgbClr val="FF0000"/>
                </a:solidFill>
                <a:latin typeface="微软雅黑" panose="020B0503020204020204" pitchFamily="34" charset="-122"/>
                <a:ea typeface="微软雅黑" panose="020B0503020204020204" pitchFamily="34" charset="-122"/>
              </a:rPr>
              <a:t>向上</a:t>
            </a:r>
            <a:r>
              <a:rPr kumimoji="1" lang="zh-CN" altLang="en-US" sz="2000" b="1">
                <a:latin typeface="微软雅黑" panose="020B0503020204020204" pitchFamily="34" charset="-122"/>
                <a:ea typeface="微软雅黑" panose="020B0503020204020204" pitchFamily="34" charset="-122"/>
              </a:rPr>
              <a:t>移动</a:t>
            </a:r>
            <a:r>
              <a:rPr kumimoji="1" lang="en-US" altLang="zh-CN" sz="2000" b="1">
                <a:latin typeface="微软雅黑" panose="020B0503020204020204" pitchFamily="34" charset="-122"/>
                <a:ea typeface="微软雅黑" panose="020B0503020204020204" pitchFamily="34" charset="-122"/>
              </a:rPr>
              <a:t>Δ</a:t>
            </a:r>
            <a:r>
              <a:rPr kumimoji="1" lang="en-US" altLang="zh-CN" sz="2000" b="1" i="1">
                <a:latin typeface="微软雅黑" panose="020B0503020204020204" pitchFamily="34" charset="-122"/>
                <a:ea typeface="微软雅黑" panose="020B0503020204020204" pitchFamily="34" charset="-122"/>
              </a:rPr>
              <a:t>d </a:t>
            </a:r>
            <a:r>
              <a:rPr kumimoji="1" lang="zh-CN" altLang="en-US" sz="2000" b="1">
                <a:latin typeface="微软雅黑" panose="020B0503020204020204" pitchFamily="34" charset="-122"/>
                <a:ea typeface="微软雅黑" panose="020B0503020204020204" pitchFamily="34" charset="-122"/>
              </a:rPr>
              <a:t>时，电容器</a:t>
            </a:r>
            <a:r>
              <a:rPr kumimoji="1" lang="en-US" altLang="zh-CN" sz="2000" b="1" i="1">
                <a:latin typeface="微软雅黑" panose="020B0503020204020204" pitchFamily="34" charset="-122"/>
                <a:ea typeface="微软雅黑" panose="020B0503020204020204" pitchFamily="34" charset="-122"/>
              </a:rPr>
              <a:t>C</a:t>
            </a:r>
            <a:r>
              <a:rPr kumimoji="1" lang="en-US" altLang="zh-CN" sz="2000" b="1" baseline="-25000">
                <a:latin typeface="微软雅黑" panose="020B0503020204020204" pitchFamily="34" charset="-122"/>
                <a:ea typeface="微软雅黑" panose="020B0503020204020204" pitchFamily="34" charset="-122"/>
              </a:rPr>
              <a:t>1</a:t>
            </a:r>
            <a:r>
              <a:rPr kumimoji="1" lang="zh-CN" altLang="en-US" sz="2000" b="1">
                <a:latin typeface="微软雅黑" panose="020B0503020204020204" pitchFamily="34" charset="-122"/>
                <a:ea typeface="微软雅黑" panose="020B0503020204020204" pitchFamily="34" charset="-122"/>
              </a:rPr>
              <a:t>的间隙</a:t>
            </a:r>
            <a:r>
              <a:rPr kumimoji="1" lang="en-US" altLang="zh-CN" sz="2000" b="1" i="1">
                <a:latin typeface="微软雅黑" panose="020B0503020204020204" pitchFamily="34" charset="-122"/>
                <a:ea typeface="微软雅黑" panose="020B0503020204020204" pitchFamily="34" charset="-122"/>
              </a:rPr>
              <a:t>d</a:t>
            </a:r>
            <a:r>
              <a:rPr kumimoji="1" lang="en-US" altLang="zh-CN" sz="2000" b="1" baseline="-25000">
                <a:latin typeface="微软雅黑" panose="020B0503020204020204" pitchFamily="34" charset="-122"/>
                <a:ea typeface="微软雅黑" panose="020B0503020204020204" pitchFamily="34" charset="-122"/>
              </a:rPr>
              <a:t>1</a:t>
            </a:r>
            <a:r>
              <a:rPr kumimoji="1" lang="zh-CN" altLang="en-US" sz="2000" b="1">
                <a:latin typeface="微软雅黑" panose="020B0503020204020204" pitchFamily="34" charset="-122"/>
                <a:ea typeface="微软雅黑" panose="020B0503020204020204" pitchFamily="34" charset="-122"/>
              </a:rPr>
              <a:t>变为</a:t>
            </a:r>
            <a:r>
              <a:rPr kumimoji="1" lang="en-US" altLang="zh-CN" sz="2000" b="1" i="1">
                <a:latin typeface="微软雅黑" panose="020B0503020204020204" pitchFamily="34" charset="-122"/>
                <a:ea typeface="微软雅黑" panose="020B0503020204020204" pitchFamily="34" charset="-122"/>
              </a:rPr>
              <a:t>d</a:t>
            </a:r>
            <a:r>
              <a:rPr kumimoji="1" lang="en-US" altLang="zh-CN" sz="2000" b="1" baseline="-25000">
                <a:latin typeface="微软雅黑" panose="020B0503020204020204" pitchFamily="34" charset="-122"/>
                <a:ea typeface="微软雅黑" panose="020B0503020204020204" pitchFamily="34" charset="-122"/>
              </a:rPr>
              <a:t>0</a:t>
            </a:r>
            <a:r>
              <a:rPr kumimoji="1" lang="en-US" altLang="zh-CN" sz="2000" b="1">
                <a:latin typeface="微软雅黑" panose="020B0503020204020204" pitchFamily="34" charset="-122"/>
                <a:ea typeface="微软雅黑" panose="020B0503020204020204" pitchFamily="34" charset="-122"/>
              </a:rPr>
              <a:t>-Δ</a:t>
            </a:r>
            <a:r>
              <a:rPr kumimoji="1" lang="en-US" altLang="zh-CN" sz="2000" b="1" i="1">
                <a:latin typeface="微软雅黑" panose="020B0503020204020204" pitchFamily="34" charset="-122"/>
                <a:ea typeface="微软雅黑" panose="020B0503020204020204" pitchFamily="34" charset="-122"/>
              </a:rPr>
              <a:t>d</a:t>
            </a:r>
            <a:r>
              <a:rPr kumimoji="1" lang="zh-CN" altLang="en-US" sz="2000" b="1">
                <a:latin typeface="微软雅黑" panose="020B0503020204020204" pitchFamily="34" charset="-122"/>
                <a:ea typeface="微软雅黑" panose="020B0503020204020204" pitchFamily="34" charset="-122"/>
              </a:rPr>
              <a:t>，电容器</a:t>
            </a:r>
            <a:r>
              <a:rPr kumimoji="1" lang="en-US" altLang="zh-CN" sz="2000" b="1" i="1">
                <a:latin typeface="微软雅黑" panose="020B0503020204020204" pitchFamily="34" charset="-122"/>
                <a:ea typeface="微软雅黑" panose="020B0503020204020204" pitchFamily="34" charset="-122"/>
              </a:rPr>
              <a:t>C</a:t>
            </a:r>
            <a:r>
              <a:rPr kumimoji="1" lang="en-US" altLang="zh-CN" sz="2000" b="1" baseline="-25000">
                <a:latin typeface="微软雅黑" panose="020B0503020204020204" pitchFamily="34" charset="-122"/>
                <a:ea typeface="微软雅黑" panose="020B0503020204020204" pitchFamily="34" charset="-122"/>
              </a:rPr>
              <a:t>2</a:t>
            </a:r>
            <a:r>
              <a:rPr kumimoji="1" lang="zh-CN" altLang="en-US" sz="2000" b="1">
                <a:latin typeface="微软雅黑" panose="020B0503020204020204" pitchFamily="34" charset="-122"/>
                <a:ea typeface="微软雅黑" panose="020B0503020204020204" pitchFamily="34" charset="-122"/>
              </a:rPr>
              <a:t>的间隙</a:t>
            </a:r>
            <a:r>
              <a:rPr kumimoji="1" lang="en-US" altLang="zh-CN" sz="2000" b="1" i="1">
                <a:latin typeface="微软雅黑" panose="020B0503020204020204" pitchFamily="34" charset="-122"/>
                <a:ea typeface="微软雅黑" panose="020B0503020204020204" pitchFamily="34" charset="-122"/>
              </a:rPr>
              <a:t>d</a:t>
            </a:r>
            <a:r>
              <a:rPr kumimoji="1" lang="en-US" altLang="zh-CN" sz="2000" b="1" baseline="-25000">
                <a:latin typeface="微软雅黑" panose="020B0503020204020204" pitchFamily="34" charset="-122"/>
                <a:ea typeface="微软雅黑" panose="020B0503020204020204" pitchFamily="34" charset="-122"/>
              </a:rPr>
              <a:t>2</a:t>
            </a:r>
            <a:r>
              <a:rPr kumimoji="1" lang="zh-CN" altLang="en-US" sz="2000" b="1">
                <a:latin typeface="微软雅黑" panose="020B0503020204020204" pitchFamily="34" charset="-122"/>
                <a:ea typeface="微软雅黑" panose="020B0503020204020204" pitchFamily="34" charset="-122"/>
              </a:rPr>
              <a:t>变为</a:t>
            </a:r>
            <a:r>
              <a:rPr kumimoji="1" lang="en-US" altLang="zh-CN" sz="2000" b="1" i="1">
                <a:latin typeface="微软雅黑" panose="020B0503020204020204" pitchFamily="34" charset="-122"/>
                <a:ea typeface="微软雅黑" panose="020B0503020204020204" pitchFamily="34" charset="-122"/>
              </a:rPr>
              <a:t>d</a:t>
            </a:r>
            <a:r>
              <a:rPr kumimoji="1" lang="en-US" altLang="zh-CN" sz="2000" b="1" baseline="-25000">
                <a:latin typeface="微软雅黑" panose="020B0503020204020204" pitchFamily="34" charset="-122"/>
                <a:ea typeface="微软雅黑" panose="020B0503020204020204" pitchFamily="34" charset="-122"/>
              </a:rPr>
              <a:t>0</a:t>
            </a:r>
            <a:r>
              <a:rPr kumimoji="1" lang="en-US" altLang="zh-CN" sz="2000" b="1">
                <a:latin typeface="微软雅黑" panose="020B0503020204020204" pitchFamily="34" charset="-122"/>
                <a:ea typeface="微软雅黑" panose="020B0503020204020204" pitchFamily="34" charset="-122"/>
              </a:rPr>
              <a:t>+Δ</a:t>
            </a:r>
            <a:r>
              <a:rPr kumimoji="1" lang="en-US" altLang="zh-CN" sz="2000" b="1" i="1">
                <a:latin typeface="微软雅黑" panose="020B0503020204020204" pitchFamily="34" charset="-122"/>
                <a:ea typeface="微软雅黑" panose="020B0503020204020204" pitchFamily="34" charset="-122"/>
              </a:rPr>
              <a:t>d</a:t>
            </a:r>
            <a:r>
              <a:rPr kumimoji="1" lang="en-US" altLang="zh-CN" sz="2000" b="1">
                <a:latin typeface="微软雅黑" panose="020B0503020204020204" pitchFamily="34" charset="-122"/>
                <a:ea typeface="微软雅黑" panose="020B0503020204020204" pitchFamily="34" charset="-122"/>
              </a:rPr>
              <a:t>, </a:t>
            </a:r>
            <a:r>
              <a:rPr kumimoji="1" lang="zh-CN" altLang="en-US" sz="2000" b="1">
                <a:latin typeface="微软雅黑" panose="020B0503020204020204" pitchFamily="34" charset="-122"/>
                <a:ea typeface="微软雅黑" panose="020B0503020204020204" pitchFamily="34" charset="-122"/>
              </a:rPr>
              <a:t>则： </a:t>
            </a:r>
          </a:p>
        </p:txBody>
      </p:sp>
      <p:graphicFrame>
        <p:nvGraphicFramePr>
          <p:cNvPr id="24584" name="Object 3">
            <a:extLst>
              <a:ext uri="{FF2B5EF4-FFF2-40B4-BE49-F238E27FC236}">
                <a16:creationId xmlns:a16="http://schemas.microsoft.com/office/drawing/2014/main" id="{BFB4F90E-5CE9-4FEF-AF3A-C65FEF024C6E}"/>
              </a:ext>
            </a:extLst>
          </p:cNvPr>
          <p:cNvGraphicFramePr>
            <a:graphicFrameLocks noChangeAspect="1"/>
          </p:cNvGraphicFramePr>
          <p:nvPr/>
        </p:nvGraphicFramePr>
        <p:xfrm>
          <a:off x="1042988" y="5100638"/>
          <a:ext cx="2073275" cy="1712912"/>
        </p:xfrm>
        <a:graphic>
          <a:graphicData uri="http://schemas.openxmlformats.org/presentationml/2006/ole">
            <mc:AlternateContent xmlns:mc="http://schemas.openxmlformats.org/markup-compatibility/2006">
              <mc:Choice xmlns:v="urn:schemas-microsoft-com:vml" Requires="v">
                <p:oleObj spid="_x0000_s24810" name="Equation" r:id="rId5" imgW="1168400" imgH="965200" progId="Equation.3">
                  <p:embed/>
                </p:oleObj>
              </mc:Choice>
              <mc:Fallback>
                <p:oleObj name="Equation" r:id="rId5" imgW="1168400" imgH="9652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2988" y="5100638"/>
                        <a:ext cx="2073275" cy="171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5" name="Text Box 2">
            <a:extLst>
              <a:ext uri="{FF2B5EF4-FFF2-40B4-BE49-F238E27FC236}">
                <a16:creationId xmlns:a16="http://schemas.microsoft.com/office/drawing/2014/main" id="{823C8D7F-15B2-4AB2-BE1A-745A9085E4DC}"/>
              </a:ext>
            </a:extLst>
          </p:cNvPr>
          <p:cNvSpPr txBox="1">
            <a:spLocks noChangeArrowheads="1"/>
          </p:cNvSpPr>
          <p:nvPr/>
        </p:nvSpPr>
        <p:spPr bwMode="auto">
          <a:xfrm>
            <a:off x="5024438" y="1089025"/>
            <a:ext cx="37734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000" b="1">
                <a:latin typeface="微软雅黑" panose="020B0503020204020204" pitchFamily="34" charset="-122"/>
                <a:ea typeface="微软雅黑" panose="020B0503020204020204" pitchFamily="34" charset="-122"/>
              </a:rPr>
              <a:t>在</a:t>
            </a:r>
            <a:r>
              <a:rPr kumimoji="1" lang="en-US" altLang="zh-CN" sz="2000" b="1">
                <a:latin typeface="微软雅黑" panose="020B0503020204020204" pitchFamily="34" charset="-122"/>
                <a:ea typeface="微软雅黑" panose="020B0503020204020204" pitchFamily="34" charset="-122"/>
              </a:rPr>
              <a:t>Δ</a:t>
            </a:r>
            <a:r>
              <a:rPr kumimoji="1" lang="en-US" altLang="zh-CN" sz="2000" b="1" i="1">
                <a:latin typeface="微软雅黑" panose="020B0503020204020204" pitchFamily="34" charset="-122"/>
                <a:ea typeface="微软雅黑" panose="020B0503020204020204" pitchFamily="34" charset="-122"/>
              </a:rPr>
              <a:t>d</a:t>
            </a:r>
            <a:r>
              <a:rPr kumimoji="1" lang="en-US" altLang="zh-CN" sz="2000" b="1">
                <a:latin typeface="微软雅黑" panose="020B0503020204020204" pitchFamily="34" charset="-122"/>
                <a:ea typeface="微软雅黑" panose="020B0503020204020204" pitchFamily="34" charset="-122"/>
              </a:rPr>
              <a:t>/</a:t>
            </a:r>
            <a:r>
              <a:rPr kumimoji="1" lang="en-US" altLang="zh-CN" sz="2000" b="1" i="1">
                <a:latin typeface="微软雅黑" panose="020B0503020204020204" pitchFamily="34" charset="-122"/>
                <a:ea typeface="微软雅黑" panose="020B0503020204020204" pitchFamily="34" charset="-122"/>
              </a:rPr>
              <a:t>d</a:t>
            </a:r>
            <a:r>
              <a:rPr kumimoji="1" lang="en-US" altLang="zh-CN" sz="2000" b="1" baseline="-25000">
                <a:latin typeface="微软雅黑" panose="020B0503020204020204" pitchFamily="34" charset="-122"/>
                <a:ea typeface="微软雅黑" panose="020B0503020204020204" pitchFamily="34" charset="-122"/>
              </a:rPr>
              <a:t>0</a:t>
            </a:r>
            <a:r>
              <a:rPr kumimoji="1" lang="en-US" altLang="zh-CN" sz="2000" b="1">
                <a:latin typeface="微软雅黑" panose="020B0503020204020204" pitchFamily="34" charset="-122"/>
                <a:ea typeface="微软雅黑" panose="020B0503020204020204" pitchFamily="34" charset="-122"/>
              </a:rPr>
              <a:t>&lt;&lt;1</a:t>
            </a:r>
            <a:r>
              <a:rPr kumimoji="1" lang="zh-CN" altLang="en-US" sz="2000" b="1">
                <a:latin typeface="微软雅黑" panose="020B0503020204020204" pitchFamily="34" charset="-122"/>
                <a:ea typeface="微软雅黑" panose="020B0503020204020204" pitchFamily="34" charset="-122"/>
              </a:rPr>
              <a:t>时</a:t>
            </a:r>
            <a:r>
              <a:rPr kumimoji="1" lang="en-US" altLang="zh-CN" sz="2000" b="1">
                <a:latin typeface="微软雅黑" panose="020B0503020204020204" pitchFamily="34" charset="-122"/>
                <a:ea typeface="微软雅黑" panose="020B0503020204020204" pitchFamily="34" charset="-122"/>
              </a:rPr>
              <a:t>, </a:t>
            </a:r>
            <a:r>
              <a:rPr kumimoji="1" lang="zh-CN" altLang="en-US" sz="2000" b="1">
                <a:latin typeface="微软雅黑" panose="020B0503020204020204" pitchFamily="34" charset="-122"/>
                <a:ea typeface="微软雅黑" panose="020B0503020204020204" pitchFamily="34" charset="-122"/>
              </a:rPr>
              <a:t>按级数展开得 </a:t>
            </a:r>
          </a:p>
        </p:txBody>
      </p:sp>
      <p:graphicFrame>
        <p:nvGraphicFramePr>
          <p:cNvPr id="24586" name="Object 3">
            <a:extLst>
              <a:ext uri="{FF2B5EF4-FFF2-40B4-BE49-F238E27FC236}">
                <a16:creationId xmlns:a16="http://schemas.microsoft.com/office/drawing/2014/main" id="{A8345CA9-FCEE-4C41-BE5B-08A135DA72BA}"/>
              </a:ext>
            </a:extLst>
          </p:cNvPr>
          <p:cNvGraphicFramePr>
            <a:graphicFrameLocks noChangeAspect="1"/>
          </p:cNvGraphicFramePr>
          <p:nvPr/>
        </p:nvGraphicFramePr>
        <p:xfrm>
          <a:off x="4953000" y="1577975"/>
          <a:ext cx="3960813" cy="1857375"/>
        </p:xfrm>
        <a:graphic>
          <a:graphicData uri="http://schemas.openxmlformats.org/presentationml/2006/ole">
            <mc:AlternateContent xmlns:mc="http://schemas.openxmlformats.org/markup-compatibility/2006">
              <mc:Choice xmlns:v="urn:schemas-microsoft-com:vml" Requires="v">
                <p:oleObj spid="_x0000_s24811" name="Equation" r:id="rId7" imgW="2438400" imgH="1143000" progId="Equation.DSMT4">
                  <p:embed/>
                </p:oleObj>
              </mc:Choice>
              <mc:Fallback>
                <p:oleObj name="Equation" r:id="rId7" imgW="2438400" imgH="114300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53000" y="1577975"/>
                        <a:ext cx="3960813"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7" name="Text Box 6">
            <a:extLst>
              <a:ext uri="{FF2B5EF4-FFF2-40B4-BE49-F238E27FC236}">
                <a16:creationId xmlns:a16="http://schemas.microsoft.com/office/drawing/2014/main" id="{41CD993D-0A58-4EFD-85F9-498A9346F45E}"/>
              </a:ext>
            </a:extLst>
          </p:cNvPr>
          <p:cNvSpPr txBox="1">
            <a:spLocks noChangeArrowheads="1"/>
          </p:cNvSpPr>
          <p:nvPr/>
        </p:nvSpPr>
        <p:spPr bwMode="auto">
          <a:xfrm>
            <a:off x="5024438" y="3724275"/>
            <a:ext cx="25699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000" b="1" dirty="0">
                <a:latin typeface="微软雅黑" panose="020B0503020204020204" pitchFamily="34" charset="-122"/>
                <a:ea typeface="微软雅黑" panose="020B0503020204020204" pitchFamily="34" charset="-122"/>
              </a:rPr>
              <a:t>二者的电容差值为： </a:t>
            </a:r>
          </a:p>
        </p:txBody>
      </p:sp>
      <p:graphicFrame>
        <p:nvGraphicFramePr>
          <p:cNvPr id="24588" name="Object 7">
            <a:extLst>
              <a:ext uri="{FF2B5EF4-FFF2-40B4-BE49-F238E27FC236}">
                <a16:creationId xmlns:a16="http://schemas.microsoft.com/office/drawing/2014/main" id="{23D79F24-6DBD-4184-83E8-75EDCC0A5E4E}"/>
              </a:ext>
            </a:extLst>
          </p:cNvPr>
          <p:cNvGraphicFramePr>
            <a:graphicFrameLocks noChangeAspect="1"/>
          </p:cNvGraphicFramePr>
          <p:nvPr/>
        </p:nvGraphicFramePr>
        <p:xfrm>
          <a:off x="5065713" y="4303713"/>
          <a:ext cx="3898900" cy="1428750"/>
        </p:xfrm>
        <a:graphic>
          <a:graphicData uri="http://schemas.openxmlformats.org/presentationml/2006/ole">
            <mc:AlternateContent xmlns:mc="http://schemas.openxmlformats.org/markup-compatibility/2006">
              <mc:Choice xmlns:v="urn:schemas-microsoft-com:vml" Requires="v">
                <p:oleObj spid="_x0000_s24812" name="Equation" r:id="rId9" imgW="2146300" imgH="787400" progId="Equation.DSMT4">
                  <p:embed/>
                </p:oleObj>
              </mc:Choice>
              <mc:Fallback>
                <p:oleObj name="Equation" r:id="rId9" imgW="2146300" imgH="78740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65713" y="4303713"/>
                        <a:ext cx="3898900"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矩形 15">
            <a:extLst>
              <a:ext uri="{FF2B5EF4-FFF2-40B4-BE49-F238E27FC236}">
                <a16:creationId xmlns:a16="http://schemas.microsoft.com/office/drawing/2014/main" id="{75C043EF-25C0-4F5C-A437-AAB808B58404}"/>
              </a:ext>
            </a:extLst>
          </p:cNvPr>
          <p:cNvSpPr/>
          <p:nvPr/>
        </p:nvSpPr>
        <p:spPr>
          <a:xfrm>
            <a:off x="185738" y="919163"/>
            <a:ext cx="4486275" cy="5892800"/>
          </a:xfrm>
          <a:prstGeom prst="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矩形 16">
            <a:extLst>
              <a:ext uri="{FF2B5EF4-FFF2-40B4-BE49-F238E27FC236}">
                <a16:creationId xmlns:a16="http://schemas.microsoft.com/office/drawing/2014/main" id="{BCA9C4AD-AFCA-45CD-A19E-D6CAA1A6021B}"/>
              </a:ext>
            </a:extLst>
          </p:cNvPr>
          <p:cNvSpPr/>
          <p:nvPr/>
        </p:nvSpPr>
        <p:spPr>
          <a:xfrm>
            <a:off x="4921250" y="919163"/>
            <a:ext cx="4043363" cy="5892800"/>
          </a:xfrm>
          <a:prstGeom prst="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4591" name="矩形 2">
            <a:extLst>
              <a:ext uri="{FF2B5EF4-FFF2-40B4-BE49-F238E27FC236}">
                <a16:creationId xmlns:a16="http://schemas.microsoft.com/office/drawing/2014/main" id="{FFF64060-08D0-46DB-836E-DF328740D24E}"/>
              </a:ext>
            </a:extLst>
          </p:cNvPr>
          <p:cNvSpPr>
            <a:spLocks noChangeArrowheads="1"/>
          </p:cNvSpPr>
          <p:nvPr/>
        </p:nvSpPr>
        <p:spPr bwMode="auto">
          <a:xfrm>
            <a:off x="3495675" y="5370513"/>
            <a:ext cx="9556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en-US" altLang="zh-CN" sz="1800" b="1" i="1">
                <a:latin typeface="Times New Roman" panose="02020603050405020304" pitchFamily="18" charset="0"/>
                <a:ea typeface="微软雅黑" panose="020B0503020204020204" pitchFamily="34" charset="-122"/>
                <a:cs typeface="Times New Roman" panose="02020603050405020304" pitchFamily="18" charset="0"/>
              </a:rPr>
              <a:t>C</a:t>
            </a:r>
            <a:r>
              <a:rPr kumimoji="1" lang="en-US" altLang="zh-CN" sz="1200" b="1" i="1">
                <a:latin typeface="Times New Roman" panose="02020603050405020304" pitchFamily="18" charset="0"/>
                <a:ea typeface="微软雅黑" panose="020B0503020204020204" pitchFamily="34" charset="-122"/>
                <a:cs typeface="Times New Roman" panose="02020603050405020304" pitchFamily="18" charset="0"/>
              </a:rPr>
              <a:t>1  </a:t>
            </a:r>
            <a:r>
              <a:rPr kumimoji="1" lang="zh-CN" altLang="en-US" sz="1800"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增大</a:t>
            </a:r>
            <a:endParaRPr lang="zh-CN" altLang="en-US" sz="1800">
              <a:ea typeface="微软雅黑" panose="020B0503020204020204" pitchFamily="34" charset="-122"/>
              <a:cs typeface="Times New Roman" panose="02020603050405020304" pitchFamily="18" charset="0"/>
            </a:endParaRPr>
          </a:p>
        </p:txBody>
      </p:sp>
      <p:sp>
        <p:nvSpPr>
          <p:cNvPr id="24592" name="矩形 18">
            <a:extLst>
              <a:ext uri="{FF2B5EF4-FFF2-40B4-BE49-F238E27FC236}">
                <a16:creationId xmlns:a16="http://schemas.microsoft.com/office/drawing/2014/main" id="{47364103-8C8F-40A6-A1EE-2211214E0A61}"/>
              </a:ext>
            </a:extLst>
          </p:cNvPr>
          <p:cNvSpPr>
            <a:spLocks noChangeArrowheads="1"/>
          </p:cNvSpPr>
          <p:nvPr/>
        </p:nvSpPr>
        <p:spPr bwMode="auto">
          <a:xfrm>
            <a:off x="3495675" y="6245225"/>
            <a:ext cx="9556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en-US" altLang="zh-CN" sz="1800" b="1" i="1">
                <a:latin typeface="Times New Roman" panose="02020603050405020304" pitchFamily="18" charset="0"/>
                <a:ea typeface="微软雅黑" panose="020B0503020204020204" pitchFamily="34" charset="-122"/>
                <a:cs typeface="Times New Roman" panose="02020603050405020304" pitchFamily="18" charset="0"/>
              </a:rPr>
              <a:t>C</a:t>
            </a:r>
            <a:r>
              <a:rPr kumimoji="1" lang="en-US" altLang="zh-CN" sz="1200" b="1" i="1">
                <a:latin typeface="Times New Roman" panose="02020603050405020304" pitchFamily="18" charset="0"/>
                <a:ea typeface="微软雅黑" panose="020B0503020204020204" pitchFamily="34" charset="-122"/>
                <a:cs typeface="Times New Roman" panose="02020603050405020304" pitchFamily="18" charset="0"/>
              </a:rPr>
              <a:t>2  </a:t>
            </a:r>
            <a:r>
              <a:rPr kumimoji="1" lang="zh-CN" altLang="en-US" sz="1800"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减小</a:t>
            </a:r>
            <a:endParaRPr lang="zh-CN" altLang="en-US" sz="1800">
              <a:ea typeface="微软雅黑" panose="020B0503020204020204" pitchFamily="34" charset="-122"/>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1">
            <a:extLst>
              <a:ext uri="{FF2B5EF4-FFF2-40B4-BE49-F238E27FC236}">
                <a16:creationId xmlns:a16="http://schemas.microsoft.com/office/drawing/2014/main" id="{8814E929-047A-4290-BEFD-E1FCBEAC1FEE}"/>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EA7F003F-3A58-41B6-8FF1-1C083CFF263C}" type="slidenum">
              <a:rPr lang="en-US" altLang="zh-CN" smtClean="0"/>
              <a:pPr/>
              <a:t>8</a:t>
            </a:fld>
            <a:endParaRPr lang="en-US" altLang="zh-CN"/>
          </a:p>
        </p:txBody>
      </p:sp>
      <p:sp>
        <p:nvSpPr>
          <p:cNvPr id="13" name="矩形 12">
            <a:extLst>
              <a:ext uri="{FF2B5EF4-FFF2-40B4-BE49-F238E27FC236}">
                <a16:creationId xmlns:a16="http://schemas.microsoft.com/office/drawing/2014/main" id="{D13A5B23-7D2C-4569-850F-1BE45136BCF5}"/>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25604" name="Text Box 2">
            <a:extLst>
              <a:ext uri="{FF2B5EF4-FFF2-40B4-BE49-F238E27FC236}">
                <a16:creationId xmlns:a16="http://schemas.microsoft.com/office/drawing/2014/main" id="{2D83EC0A-6DA3-4D4D-9210-CA787D23CBE9}"/>
              </a:ext>
            </a:extLst>
          </p:cNvPr>
          <p:cNvSpPr txBox="1">
            <a:spLocks noChangeArrowheads="1"/>
          </p:cNvSpPr>
          <p:nvPr/>
        </p:nvSpPr>
        <p:spPr bwMode="auto">
          <a:xfrm>
            <a:off x="419100" y="1185863"/>
            <a:ext cx="25701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000" b="1" dirty="0">
                <a:latin typeface="微软雅黑" panose="020B0503020204020204" pitchFamily="34" charset="-122"/>
                <a:ea typeface="微软雅黑" panose="020B0503020204020204" pitchFamily="34" charset="-122"/>
              </a:rPr>
              <a:t>电容值相对变化量为 </a:t>
            </a:r>
          </a:p>
        </p:txBody>
      </p:sp>
      <mc:AlternateContent xmlns:mc="http://schemas.openxmlformats.org/markup-compatibility/2006" xmlns:a14="http://schemas.microsoft.com/office/drawing/2010/main">
        <mc:Choice Requires="a14">
          <p:sp>
            <p:nvSpPr>
              <p:cNvPr id="25605" name="Object 3">
                <a:extLst>
                  <a:ext uri="{FF2B5EF4-FFF2-40B4-BE49-F238E27FC236}">
                    <a16:creationId xmlns:a16="http://schemas.microsoft.com/office/drawing/2014/main" id="{231EA425-7C72-41E2-9554-D40144475806}"/>
                  </a:ext>
                </a:extLst>
              </p:cNvPr>
              <p:cNvSpPr txBox="1"/>
              <p:nvPr/>
            </p:nvSpPr>
            <p:spPr bwMode="auto">
              <a:xfrm>
                <a:off x="2878138" y="973138"/>
                <a:ext cx="4278312" cy="873125"/>
              </a:xfrm>
              <a:prstGeom prst="rect">
                <a:avLst/>
              </a:prstGeom>
              <a:noFill/>
              <a:ln>
                <a:noFill/>
              </a:ln>
              <a:extLst/>
            </p:spPr>
            <p:txBody>
              <a:bodyPr>
                <a:noAutofit/>
              </a:bodyPr>
              <a:lstStyle/>
              <a:p>
                <a:pPr/>
                <a14:m>
                  <m:oMathPara xmlns:m="http://schemas.openxmlformats.org/officeDocument/2006/math">
                    <m:oMathParaPr>
                      <m:jc m:val="centerGroup"/>
                    </m:oMathParaPr>
                    <m:oMath xmlns:m="http://schemas.openxmlformats.org/officeDocument/2006/math">
                      <m:f>
                        <m:fPr>
                          <m:ctrlPr>
                            <a:rPr lang="zh-CN" altLang="en-US" i="1" smtClean="0">
                              <a:solidFill>
                                <a:srgbClr val="000000"/>
                              </a:solidFill>
                              <a:latin typeface="Cambria Math" panose="02040503050406030204" pitchFamily="18" charset="0"/>
                            </a:rPr>
                          </m:ctrlPr>
                        </m:fPr>
                        <m:num>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𝐶</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𝐶</m:t>
                              </m:r>
                            </m:e>
                            <m:sub>
                              <m:r>
                                <a:rPr lang="zh-CN" altLang="en-US" i="1">
                                  <a:solidFill>
                                    <a:srgbClr val="000000"/>
                                  </a:solidFill>
                                  <a:latin typeface="Cambria Math" panose="02040503050406030204" pitchFamily="18" charset="0"/>
                                </a:rPr>
                                <m:t>0</m:t>
                              </m:r>
                            </m:sub>
                          </m:sSub>
                        </m:den>
                      </m:f>
                      <m:r>
                        <a:rPr lang="zh-CN" altLang="en-US" i="1">
                          <a:solidFill>
                            <a:srgbClr val="000000"/>
                          </a:solidFill>
                          <a:latin typeface="Cambria Math" panose="02040503050406030204" pitchFamily="18" charset="0"/>
                        </a:rPr>
                        <m:t>=2</m:t>
                      </m:r>
                      <m:f>
                        <m:fPr>
                          <m:ctrlPr>
                            <a:rPr lang="zh-CN" altLang="en-US" i="1">
                              <a:solidFill>
                                <a:srgbClr val="000000"/>
                              </a:solidFill>
                              <a:latin typeface="Cambria Math" panose="02040503050406030204" pitchFamily="18" charset="0"/>
                            </a:rPr>
                          </m:ctrlPr>
                        </m:fPr>
                        <m:num>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𝑑</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𝑑</m:t>
                              </m:r>
                            </m:e>
                            <m:sub>
                              <m:r>
                                <a:rPr lang="zh-CN" altLang="en-US" i="1">
                                  <a:solidFill>
                                    <a:srgbClr val="000000"/>
                                  </a:solidFill>
                                  <a:latin typeface="Cambria Math" panose="02040503050406030204" pitchFamily="18" charset="0"/>
                                </a:rPr>
                                <m:t>0</m:t>
                              </m:r>
                            </m:sub>
                          </m:sSub>
                        </m:den>
                      </m:f>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d>
                                <m:dPr>
                                  <m:ctrlPr>
                                    <a:rPr lang="zh-CN" altLang="en-US" i="1">
                                      <a:solidFill>
                                        <a:srgbClr val="000000"/>
                                      </a:solidFill>
                                      <a:latin typeface="Cambria Math" panose="02040503050406030204" pitchFamily="18" charset="0"/>
                                    </a:rPr>
                                  </m:ctrlPr>
                                </m:dPr>
                                <m:e>
                                  <m:f>
                                    <m:fPr>
                                      <m:ctrlPr>
                                        <a:rPr lang="zh-CN" altLang="en-US" i="1">
                                          <a:solidFill>
                                            <a:srgbClr val="000000"/>
                                          </a:solidFill>
                                          <a:latin typeface="Cambria Math" panose="02040503050406030204" pitchFamily="18" charset="0"/>
                                        </a:rPr>
                                      </m:ctrlPr>
                                    </m:fPr>
                                    <m:num>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𝑑</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𝑑</m:t>
                                          </m:r>
                                        </m:e>
                                        <m:sub>
                                          <m:r>
                                            <a:rPr lang="zh-CN" altLang="en-US" i="1">
                                              <a:solidFill>
                                                <a:srgbClr val="000000"/>
                                              </a:solidFill>
                                              <a:latin typeface="Cambria Math" panose="02040503050406030204" pitchFamily="18" charset="0"/>
                                            </a:rPr>
                                            <m:t>0</m:t>
                                          </m:r>
                                        </m:sub>
                                      </m:sSub>
                                    </m:den>
                                  </m:f>
                                </m:e>
                              </m:d>
                            </m:e>
                            <m:sup>
                              <m:r>
                                <a:rPr lang="en-US" altLang="zh-CN" b="0" i="1" smtClean="0">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d>
                                <m:dPr>
                                  <m:ctrlPr>
                                    <a:rPr lang="zh-CN" altLang="en-US" i="1">
                                      <a:solidFill>
                                        <a:srgbClr val="000000"/>
                                      </a:solidFill>
                                      <a:latin typeface="Cambria Math" panose="02040503050406030204" pitchFamily="18" charset="0"/>
                                    </a:rPr>
                                  </m:ctrlPr>
                                </m:dPr>
                                <m:e>
                                  <m:f>
                                    <m:fPr>
                                      <m:ctrlPr>
                                        <a:rPr lang="zh-CN" altLang="en-US" i="1">
                                          <a:solidFill>
                                            <a:srgbClr val="000000"/>
                                          </a:solidFill>
                                          <a:latin typeface="Cambria Math" panose="02040503050406030204" pitchFamily="18" charset="0"/>
                                        </a:rPr>
                                      </m:ctrlPr>
                                    </m:fPr>
                                    <m:num>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𝑑</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𝑑</m:t>
                                          </m:r>
                                        </m:e>
                                        <m:sub>
                                          <m:r>
                                            <a:rPr lang="zh-CN" altLang="en-US" i="1">
                                              <a:solidFill>
                                                <a:srgbClr val="000000"/>
                                              </a:solidFill>
                                              <a:latin typeface="Cambria Math" panose="02040503050406030204" pitchFamily="18" charset="0"/>
                                            </a:rPr>
                                            <m:t>0</m:t>
                                          </m:r>
                                        </m:sub>
                                      </m:sSub>
                                    </m:den>
                                  </m:f>
                                </m:e>
                              </m:d>
                            </m:e>
                            <m:sup>
                              <m:r>
                                <a:rPr lang="en-US" altLang="zh-CN" b="0" i="1" smtClean="0">
                                  <a:solidFill>
                                    <a:srgbClr val="000000"/>
                                  </a:solidFill>
                                  <a:latin typeface="Cambria Math" panose="02040503050406030204" pitchFamily="18" charset="0"/>
                                </a:rPr>
                                <m:t>4</m:t>
                              </m:r>
                            </m:sup>
                          </m:sSup>
                          <m:r>
                            <a:rPr lang="zh-CN" altLang="en-US" i="1">
                              <a:solidFill>
                                <a:srgbClr val="000000"/>
                              </a:solidFill>
                              <a:latin typeface="Cambria Math" panose="02040503050406030204" pitchFamily="18" charset="0"/>
                            </a:rPr>
                            <m:t>+⋯</m:t>
                          </m:r>
                        </m:e>
                      </m:d>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25605" name="Object 3">
                <a:extLst>
                  <a:ext uri="{FF2B5EF4-FFF2-40B4-BE49-F238E27FC236}">
                    <a16:creationId xmlns:a16="http://schemas.microsoft.com/office/drawing/2014/main" id="{231EA425-7C72-41E2-9554-D40144475806}"/>
                  </a:ext>
                </a:extLst>
              </p:cNvPr>
              <p:cNvSpPr txBox="1">
                <a:spLocks noRot="1" noChangeAspect="1" noMove="1" noResize="1" noEditPoints="1" noAdjustHandles="1" noChangeArrowheads="1" noChangeShapeType="1" noTextEdit="1"/>
              </p:cNvSpPr>
              <p:nvPr/>
            </p:nvSpPr>
            <p:spPr bwMode="auto">
              <a:xfrm>
                <a:off x="2878138" y="973138"/>
                <a:ext cx="4278312" cy="873125"/>
              </a:xfrm>
              <a:prstGeom prst="rect">
                <a:avLst/>
              </a:prstGeom>
              <a:blipFill>
                <a:blip r:embed="rId3"/>
                <a:stretch>
                  <a:fillRect/>
                </a:stretch>
              </a:blipFill>
              <a:ln>
                <a:noFill/>
              </a:ln>
              <a:extLst/>
            </p:spPr>
            <p:txBody>
              <a:bodyPr/>
              <a:lstStyle/>
              <a:p>
                <a:r>
                  <a:rPr lang="zh-CN" altLang="en-US">
                    <a:noFill/>
                  </a:rPr>
                  <a:t> </a:t>
                </a:r>
              </a:p>
            </p:txBody>
          </p:sp>
        </mc:Fallback>
      </mc:AlternateContent>
      <p:sp>
        <p:nvSpPr>
          <p:cNvPr id="25606" name="Text Box 5">
            <a:extLst>
              <a:ext uri="{FF2B5EF4-FFF2-40B4-BE49-F238E27FC236}">
                <a16:creationId xmlns:a16="http://schemas.microsoft.com/office/drawing/2014/main" id="{5C557C13-79BF-4F10-9AD8-800C1A62FA82}"/>
              </a:ext>
            </a:extLst>
          </p:cNvPr>
          <p:cNvSpPr txBox="1">
            <a:spLocks noChangeArrowheads="1"/>
          </p:cNvSpPr>
          <p:nvPr/>
        </p:nvSpPr>
        <p:spPr bwMode="auto">
          <a:xfrm>
            <a:off x="390525" y="1920875"/>
            <a:ext cx="69167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000" b="1">
                <a:latin typeface="微软雅黑" panose="020B0503020204020204" pitchFamily="34" charset="-122"/>
                <a:ea typeface="微软雅黑" panose="020B0503020204020204" pitchFamily="34" charset="-122"/>
              </a:rPr>
              <a:t>略去高次项，则</a:t>
            </a:r>
            <a:r>
              <a:rPr kumimoji="1" lang="en-US" altLang="zh-CN" sz="2000" b="1">
                <a:latin typeface="微软雅黑" panose="020B0503020204020204" pitchFamily="34" charset="-122"/>
                <a:ea typeface="微软雅黑" panose="020B0503020204020204" pitchFamily="34" charset="-122"/>
              </a:rPr>
              <a:t>Δ</a:t>
            </a:r>
            <a:r>
              <a:rPr kumimoji="1" lang="en-US" altLang="zh-CN" sz="2000" b="1" i="1">
                <a:latin typeface="微软雅黑" panose="020B0503020204020204" pitchFamily="34" charset="-122"/>
                <a:ea typeface="微软雅黑" panose="020B0503020204020204" pitchFamily="34" charset="-122"/>
              </a:rPr>
              <a:t>C</a:t>
            </a:r>
            <a:r>
              <a:rPr kumimoji="1" lang="en-US" altLang="zh-CN" sz="2000" b="1">
                <a:latin typeface="微软雅黑" panose="020B0503020204020204" pitchFamily="34" charset="-122"/>
                <a:ea typeface="微软雅黑" panose="020B0503020204020204" pitchFamily="34" charset="-122"/>
              </a:rPr>
              <a:t>/</a:t>
            </a:r>
            <a:r>
              <a:rPr kumimoji="1" lang="en-US" altLang="zh-CN" sz="2000" b="1" i="1">
                <a:latin typeface="微软雅黑" panose="020B0503020204020204" pitchFamily="34" charset="-122"/>
                <a:ea typeface="微软雅黑" panose="020B0503020204020204" pitchFamily="34" charset="-122"/>
              </a:rPr>
              <a:t>C</a:t>
            </a:r>
            <a:r>
              <a:rPr kumimoji="1" lang="en-US" altLang="zh-CN" sz="2000" b="1" baseline="-25000">
                <a:latin typeface="微软雅黑" panose="020B0503020204020204" pitchFamily="34" charset="-122"/>
                <a:ea typeface="微软雅黑" panose="020B0503020204020204" pitchFamily="34" charset="-122"/>
              </a:rPr>
              <a:t>0</a:t>
            </a:r>
            <a:r>
              <a:rPr kumimoji="1" lang="zh-CN" altLang="en-US" sz="2000" b="1">
                <a:latin typeface="微软雅黑" panose="020B0503020204020204" pitchFamily="34" charset="-122"/>
                <a:ea typeface="微软雅黑" panose="020B0503020204020204" pitchFamily="34" charset="-122"/>
              </a:rPr>
              <a:t>与</a:t>
            </a:r>
            <a:r>
              <a:rPr kumimoji="1" lang="en-US" altLang="zh-CN" sz="2000" b="1">
                <a:latin typeface="微软雅黑" panose="020B0503020204020204" pitchFamily="34" charset="-122"/>
                <a:ea typeface="微软雅黑" panose="020B0503020204020204" pitchFamily="34" charset="-122"/>
              </a:rPr>
              <a:t>Δ</a:t>
            </a:r>
            <a:r>
              <a:rPr kumimoji="1" lang="en-US" altLang="zh-CN" sz="2000" b="1" i="1">
                <a:latin typeface="微软雅黑" panose="020B0503020204020204" pitchFamily="34" charset="-122"/>
                <a:ea typeface="微软雅黑" panose="020B0503020204020204" pitchFamily="34" charset="-122"/>
              </a:rPr>
              <a:t>d</a:t>
            </a:r>
            <a:r>
              <a:rPr kumimoji="1" lang="en-US" altLang="zh-CN" sz="2000" b="1">
                <a:latin typeface="微软雅黑" panose="020B0503020204020204" pitchFamily="34" charset="-122"/>
                <a:ea typeface="微软雅黑" panose="020B0503020204020204" pitchFamily="34" charset="-122"/>
              </a:rPr>
              <a:t>/</a:t>
            </a:r>
            <a:r>
              <a:rPr kumimoji="1" lang="en-US" altLang="zh-CN" sz="2000" b="1" i="1">
                <a:latin typeface="微软雅黑" panose="020B0503020204020204" pitchFamily="34" charset="-122"/>
                <a:ea typeface="微软雅黑" panose="020B0503020204020204" pitchFamily="34" charset="-122"/>
              </a:rPr>
              <a:t>d</a:t>
            </a:r>
            <a:r>
              <a:rPr kumimoji="1" lang="en-US" altLang="zh-CN" sz="2000" b="1" baseline="-25000">
                <a:latin typeface="微软雅黑" panose="020B0503020204020204" pitchFamily="34" charset="-122"/>
                <a:ea typeface="微软雅黑" panose="020B0503020204020204" pitchFamily="34" charset="-122"/>
              </a:rPr>
              <a:t>0</a:t>
            </a:r>
            <a:r>
              <a:rPr kumimoji="1" lang="zh-CN" altLang="en-US" sz="2000" b="1">
                <a:latin typeface="微软雅黑" panose="020B0503020204020204" pitchFamily="34" charset="-122"/>
                <a:ea typeface="微软雅黑" panose="020B0503020204020204" pitchFamily="34" charset="-122"/>
              </a:rPr>
              <a:t>近似成为如下的线性关系： </a:t>
            </a:r>
          </a:p>
        </p:txBody>
      </p:sp>
      <p:graphicFrame>
        <p:nvGraphicFramePr>
          <p:cNvPr id="25607" name="Object 6">
            <a:extLst>
              <a:ext uri="{FF2B5EF4-FFF2-40B4-BE49-F238E27FC236}">
                <a16:creationId xmlns:a16="http://schemas.microsoft.com/office/drawing/2014/main" id="{CCC0DCFB-8365-4456-AF45-1A823AEBFE51}"/>
              </a:ext>
            </a:extLst>
          </p:cNvPr>
          <p:cNvGraphicFramePr>
            <a:graphicFrameLocks noChangeAspect="1"/>
          </p:cNvGraphicFramePr>
          <p:nvPr/>
        </p:nvGraphicFramePr>
        <p:xfrm>
          <a:off x="7156450" y="1697038"/>
          <a:ext cx="1252538" cy="736600"/>
        </p:xfrm>
        <a:graphic>
          <a:graphicData uri="http://schemas.openxmlformats.org/presentationml/2006/ole">
            <mc:AlternateContent xmlns:mc="http://schemas.openxmlformats.org/markup-compatibility/2006">
              <mc:Choice xmlns:v="urn:schemas-microsoft-com:vml" Requires="v">
                <p:oleObj spid="_x0000_s25951" name="Equation" r:id="rId4" imgW="736600" imgH="431800" progId="Equation.3">
                  <p:embed/>
                </p:oleObj>
              </mc:Choice>
              <mc:Fallback>
                <p:oleObj name="Equation" r:id="rId4" imgW="736600" imgH="4318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56450" y="1697038"/>
                        <a:ext cx="1252538" cy="736600"/>
                      </a:xfrm>
                      <a:prstGeom prst="rect">
                        <a:avLst/>
                      </a:prstGeom>
                      <a:solidFill>
                        <a:srgbClr val="FFF1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08" name="Text Box 8">
            <a:extLst>
              <a:ext uri="{FF2B5EF4-FFF2-40B4-BE49-F238E27FC236}">
                <a16:creationId xmlns:a16="http://schemas.microsoft.com/office/drawing/2014/main" id="{73ED2FBB-0379-4C50-A55A-1C555009375A}"/>
              </a:ext>
            </a:extLst>
          </p:cNvPr>
          <p:cNvSpPr txBox="1">
            <a:spLocks noChangeArrowheads="1"/>
          </p:cNvSpPr>
          <p:nvPr/>
        </p:nvSpPr>
        <p:spPr bwMode="auto">
          <a:xfrm>
            <a:off x="277813" y="2571750"/>
            <a:ext cx="8686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50000"/>
              </a:spcBef>
              <a:buFontTx/>
              <a:buNone/>
            </a:pPr>
            <a:r>
              <a:rPr kumimoji="1" lang="en-US" altLang="zh-CN" sz="2000" b="1">
                <a:latin typeface="微软雅黑" panose="020B0503020204020204" pitchFamily="34" charset="-122"/>
                <a:ea typeface="微软雅黑" panose="020B0503020204020204" pitchFamily="34" charset="-122"/>
              </a:rPr>
              <a:t> </a:t>
            </a:r>
            <a:r>
              <a:rPr kumimoji="1" lang="zh-CN" altLang="en-US" sz="2000" b="1">
                <a:latin typeface="微软雅黑" panose="020B0503020204020204" pitchFamily="34" charset="-122"/>
                <a:ea typeface="微软雅黑" panose="020B0503020204020204" pitchFamily="34" charset="-122"/>
              </a:rPr>
              <a:t>只考虑线性项和三次项</a:t>
            </a:r>
            <a:r>
              <a:rPr kumimoji="1" lang="en-US" altLang="zh-CN" sz="2000" b="1">
                <a:latin typeface="微软雅黑" panose="020B0503020204020204" pitchFamily="34" charset="-122"/>
                <a:ea typeface="微软雅黑" panose="020B0503020204020204" pitchFamily="34" charset="-122"/>
              </a:rPr>
              <a:t>, </a:t>
            </a:r>
            <a:r>
              <a:rPr kumimoji="1" lang="zh-CN" altLang="en-US" sz="2000" b="1">
                <a:latin typeface="微软雅黑" panose="020B0503020204020204" pitchFamily="34" charset="-122"/>
                <a:ea typeface="微软雅黑" panose="020B0503020204020204" pitchFamily="34" charset="-122"/>
              </a:rPr>
              <a:t>则差动电容式传感器的相对非线性误差</a:t>
            </a:r>
            <a:r>
              <a:rPr kumimoji="1" lang="en-US" altLang="zh-CN" sz="2000" b="1" i="1">
                <a:latin typeface="微软雅黑" panose="020B0503020204020204" pitchFamily="34" charset="-122"/>
                <a:ea typeface="微软雅黑" panose="020B0503020204020204" pitchFamily="34" charset="-122"/>
              </a:rPr>
              <a:t>δ </a:t>
            </a:r>
            <a:r>
              <a:rPr kumimoji="1" lang="zh-CN" altLang="en-US" sz="2000" b="1">
                <a:latin typeface="微软雅黑" panose="020B0503020204020204" pitchFamily="34" charset="-122"/>
                <a:ea typeface="微软雅黑" panose="020B0503020204020204" pitchFamily="34" charset="-122"/>
              </a:rPr>
              <a:t>近似为 </a:t>
            </a:r>
          </a:p>
        </p:txBody>
      </p:sp>
      <p:graphicFrame>
        <p:nvGraphicFramePr>
          <p:cNvPr id="25609" name="Object 9">
            <a:extLst>
              <a:ext uri="{FF2B5EF4-FFF2-40B4-BE49-F238E27FC236}">
                <a16:creationId xmlns:a16="http://schemas.microsoft.com/office/drawing/2014/main" id="{F7A714D9-DEB9-421F-B94A-04508A6A36E8}"/>
              </a:ext>
            </a:extLst>
          </p:cNvPr>
          <p:cNvGraphicFramePr>
            <a:graphicFrameLocks noChangeAspect="1"/>
          </p:cNvGraphicFramePr>
          <p:nvPr/>
        </p:nvGraphicFramePr>
        <p:xfrm>
          <a:off x="2555875" y="3067050"/>
          <a:ext cx="5238750" cy="1006475"/>
        </p:xfrm>
        <a:graphic>
          <a:graphicData uri="http://schemas.openxmlformats.org/presentationml/2006/ole">
            <mc:AlternateContent xmlns:mc="http://schemas.openxmlformats.org/markup-compatibility/2006">
              <mc:Choice xmlns:v="urn:schemas-microsoft-com:vml" Requires="v">
                <p:oleObj spid="_x0000_s25952" name="Equation" r:id="rId6" imgW="2641600" imgH="508000" progId="Equation.3">
                  <p:embed/>
                </p:oleObj>
              </mc:Choice>
              <mc:Fallback>
                <p:oleObj name="Equation" r:id="rId6" imgW="2641600" imgH="50800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55875" y="3067050"/>
                        <a:ext cx="52387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10" name="Text Box 2">
            <a:extLst>
              <a:ext uri="{FF2B5EF4-FFF2-40B4-BE49-F238E27FC236}">
                <a16:creationId xmlns:a16="http://schemas.microsoft.com/office/drawing/2014/main" id="{A9D29799-E7BC-4CAD-8240-4CF12C43308E}"/>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zh-CN" altLang="en-US" sz="2800" b="1">
                <a:solidFill>
                  <a:srgbClr val="C00000"/>
                </a:solidFill>
                <a:latin typeface="微软雅黑" panose="020B0503020204020204" pitchFamily="34" charset="-122"/>
                <a:ea typeface="微软雅黑" panose="020B0503020204020204" pitchFamily="34" charset="-122"/>
              </a:rPr>
              <a:t>通过差动结构减少非线性误差</a:t>
            </a:r>
          </a:p>
        </p:txBody>
      </p:sp>
      <p:sp>
        <p:nvSpPr>
          <p:cNvPr id="25611" name="Rectangle 3">
            <a:extLst>
              <a:ext uri="{FF2B5EF4-FFF2-40B4-BE49-F238E27FC236}">
                <a16:creationId xmlns:a16="http://schemas.microsoft.com/office/drawing/2014/main" id="{6F8BDE12-666A-41BC-B9C3-5D5A06483E59}"/>
              </a:ext>
            </a:extLst>
          </p:cNvPr>
          <p:cNvSpPr txBox="1">
            <a:spLocks noChangeArrowheads="1"/>
          </p:cNvSpPr>
          <p:nvPr/>
        </p:nvSpPr>
        <p:spPr bwMode="auto">
          <a:xfrm>
            <a:off x="241300" y="4006850"/>
            <a:ext cx="4435475"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r>
              <a:rPr lang="zh-CN" altLang="en-US" sz="2000" b="1">
                <a:solidFill>
                  <a:srgbClr val="0000FF"/>
                </a:solidFill>
                <a:latin typeface="微软雅黑" panose="020B0503020204020204" pitchFamily="34" charset="-122"/>
                <a:ea typeface="微软雅黑" panose="020B0503020204020204" pitchFamily="34" charset="-122"/>
              </a:rPr>
              <a:t>灵敏度得到一倍的改善</a:t>
            </a:r>
          </a:p>
          <a:p>
            <a:pPr eaLnBrk="1" hangingPunct="1"/>
            <a:endParaRPr lang="zh-CN" altLang="en-US" sz="2000" b="1">
              <a:latin typeface="微软雅黑" panose="020B0503020204020204" pitchFamily="34" charset="-122"/>
              <a:ea typeface="微软雅黑" panose="020B0503020204020204" pitchFamily="34" charset="-122"/>
            </a:endParaRPr>
          </a:p>
          <a:p>
            <a:pPr eaLnBrk="1" hangingPunct="1"/>
            <a:endParaRPr lang="zh-CN" altLang="en-US" sz="2000" b="1">
              <a:latin typeface="微软雅黑" panose="020B0503020204020204" pitchFamily="34" charset="-122"/>
              <a:ea typeface="微软雅黑" panose="020B0503020204020204" pitchFamily="34" charset="-122"/>
            </a:endParaRPr>
          </a:p>
          <a:p>
            <a:pPr eaLnBrk="1" hangingPunct="1"/>
            <a:r>
              <a:rPr lang="zh-CN" altLang="en-US" sz="2000" b="1">
                <a:solidFill>
                  <a:srgbClr val="0000FF"/>
                </a:solidFill>
                <a:latin typeface="微软雅黑" panose="020B0503020204020204" pitchFamily="34" charset="-122"/>
                <a:ea typeface="微软雅黑" panose="020B0503020204020204" pitchFamily="34" charset="-122"/>
              </a:rPr>
              <a:t>线性度得到改善</a:t>
            </a:r>
          </a:p>
        </p:txBody>
      </p:sp>
      <p:graphicFrame>
        <p:nvGraphicFramePr>
          <p:cNvPr id="25612" name="Object 5">
            <a:extLst>
              <a:ext uri="{FF2B5EF4-FFF2-40B4-BE49-F238E27FC236}">
                <a16:creationId xmlns:a16="http://schemas.microsoft.com/office/drawing/2014/main" id="{B1E04647-2028-4803-9E2A-E5DA9CFA5D6C}"/>
              </a:ext>
            </a:extLst>
          </p:cNvPr>
          <p:cNvGraphicFramePr>
            <a:graphicFrameLocks noChangeAspect="1"/>
          </p:cNvGraphicFramePr>
          <p:nvPr>
            <p:extLst>
              <p:ext uri="{D42A27DB-BD31-4B8C-83A1-F6EECF244321}">
                <p14:modId xmlns:p14="http://schemas.microsoft.com/office/powerpoint/2010/main" val="1770227341"/>
              </p:ext>
            </p:extLst>
          </p:nvPr>
        </p:nvGraphicFramePr>
        <p:xfrm>
          <a:off x="2772098" y="4418013"/>
          <a:ext cx="1439862" cy="698500"/>
        </p:xfrm>
        <a:graphic>
          <a:graphicData uri="http://schemas.openxmlformats.org/presentationml/2006/ole">
            <mc:AlternateContent xmlns:mc="http://schemas.openxmlformats.org/markup-compatibility/2006">
              <mc:Choice xmlns:v="urn:schemas-microsoft-com:vml" Requires="v">
                <p:oleObj spid="_x0000_s25953" name="Equation" r:id="rId8" imgW="888614" imgH="431613" progId="Equation.DSMT4">
                  <p:embed/>
                </p:oleObj>
              </mc:Choice>
              <mc:Fallback>
                <p:oleObj name="Equation" r:id="rId8" imgW="888614" imgH="431613"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72098" y="4418013"/>
                        <a:ext cx="1439862" cy="69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13" name="Object 10">
            <a:extLst>
              <a:ext uri="{FF2B5EF4-FFF2-40B4-BE49-F238E27FC236}">
                <a16:creationId xmlns:a16="http://schemas.microsoft.com/office/drawing/2014/main" id="{CCAE5522-9D0E-47CA-975D-573278E5997D}"/>
              </a:ext>
            </a:extLst>
          </p:cNvPr>
          <p:cNvGraphicFramePr>
            <a:graphicFrameLocks noChangeAspect="1"/>
          </p:cNvGraphicFramePr>
          <p:nvPr>
            <p:extLst>
              <p:ext uri="{D42A27DB-BD31-4B8C-83A1-F6EECF244321}">
                <p14:modId xmlns:p14="http://schemas.microsoft.com/office/powerpoint/2010/main" val="2500939251"/>
              </p:ext>
            </p:extLst>
          </p:nvPr>
        </p:nvGraphicFramePr>
        <p:xfrm>
          <a:off x="6228606" y="4338638"/>
          <a:ext cx="1655762" cy="804862"/>
        </p:xfrm>
        <a:graphic>
          <a:graphicData uri="http://schemas.openxmlformats.org/presentationml/2006/ole">
            <mc:AlternateContent xmlns:mc="http://schemas.openxmlformats.org/markup-compatibility/2006">
              <mc:Choice xmlns:v="urn:schemas-microsoft-com:vml" Requires="v">
                <p:oleObj spid="_x0000_s25954" name="Equation" r:id="rId10" imgW="888614" imgH="431613" progId="Equation.DSMT4">
                  <p:embed/>
                </p:oleObj>
              </mc:Choice>
              <mc:Fallback>
                <p:oleObj name="Equation" r:id="rId10" imgW="888614" imgH="431613"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28606" y="4338638"/>
                        <a:ext cx="1655762" cy="804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14" name="Object 11">
            <a:extLst>
              <a:ext uri="{FF2B5EF4-FFF2-40B4-BE49-F238E27FC236}">
                <a16:creationId xmlns:a16="http://schemas.microsoft.com/office/drawing/2014/main" id="{3A6832BA-CE82-40AC-8622-4B21DB44E0F4}"/>
              </a:ext>
            </a:extLst>
          </p:cNvPr>
          <p:cNvGraphicFramePr>
            <a:graphicFrameLocks noChangeAspect="1"/>
          </p:cNvGraphicFramePr>
          <p:nvPr/>
        </p:nvGraphicFramePr>
        <p:xfrm>
          <a:off x="5994400" y="5581650"/>
          <a:ext cx="1800225" cy="806450"/>
        </p:xfrm>
        <a:graphic>
          <a:graphicData uri="http://schemas.openxmlformats.org/presentationml/2006/ole">
            <mc:AlternateContent xmlns:mc="http://schemas.openxmlformats.org/markup-compatibility/2006">
              <mc:Choice xmlns:v="urn:schemas-microsoft-com:vml" Requires="v">
                <p:oleObj spid="_x0000_s25955" name="Equation" r:id="rId12" imgW="965200" imgH="431800" progId="Equation.DSMT4">
                  <p:embed/>
                </p:oleObj>
              </mc:Choice>
              <mc:Fallback>
                <p:oleObj name="Equation" r:id="rId12" imgW="965200" imgH="431800" progId="Equation.DSMT4">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94400" y="5581650"/>
                        <a:ext cx="1800225" cy="806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15" name="Object 12">
            <a:extLst>
              <a:ext uri="{FF2B5EF4-FFF2-40B4-BE49-F238E27FC236}">
                <a16:creationId xmlns:a16="http://schemas.microsoft.com/office/drawing/2014/main" id="{E3C8269C-DB13-496E-A7A6-AE41330EAD43}"/>
              </a:ext>
            </a:extLst>
          </p:cNvPr>
          <p:cNvGraphicFramePr>
            <a:graphicFrameLocks noChangeAspect="1"/>
          </p:cNvGraphicFramePr>
          <p:nvPr/>
        </p:nvGraphicFramePr>
        <p:xfrm>
          <a:off x="2339975" y="5549900"/>
          <a:ext cx="2089150" cy="908050"/>
        </p:xfrm>
        <a:graphic>
          <a:graphicData uri="http://schemas.openxmlformats.org/presentationml/2006/ole">
            <mc:AlternateContent xmlns:mc="http://schemas.openxmlformats.org/markup-compatibility/2006">
              <mc:Choice xmlns:v="urn:schemas-microsoft-com:vml" Requires="v">
                <p:oleObj spid="_x0000_s25956" name="Equation" r:id="rId14" imgW="1168400" imgH="508000" progId="Equation.DSMT4">
                  <p:embed/>
                </p:oleObj>
              </mc:Choice>
              <mc:Fallback>
                <p:oleObj name="Equation" r:id="rId14" imgW="1168400" imgH="508000" progId="Equation.DSMT4">
                  <p:embed/>
                  <p:pic>
                    <p:nvPicPr>
                      <p:cNvPr id="0" name="Object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39975" y="5549900"/>
                        <a:ext cx="2089150" cy="90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16" name="矩形 1">
            <a:extLst>
              <a:ext uri="{FF2B5EF4-FFF2-40B4-BE49-F238E27FC236}">
                <a16:creationId xmlns:a16="http://schemas.microsoft.com/office/drawing/2014/main" id="{6BFF7313-B9A6-4738-85A2-DD628AAD3FD5}"/>
              </a:ext>
            </a:extLst>
          </p:cNvPr>
          <p:cNvSpPr>
            <a:spLocks noChangeArrowheads="1"/>
          </p:cNvSpPr>
          <p:nvPr/>
        </p:nvSpPr>
        <p:spPr bwMode="auto">
          <a:xfrm>
            <a:off x="1047665" y="4514850"/>
            <a:ext cx="181492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b="1" dirty="0">
                <a:solidFill>
                  <a:srgbClr val="00B050"/>
                </a:solidFill>
                <a:latin typeface="微软雅黑" panose="020B0503020204020204" pitchFamily="34" charset="-122"/>
                <a:ea typeface="微软雅黑" panose="020B0503020204020204" pitchFamily="34" charset="-122"/>
              </a:rPr>
              <a:t>差动结构：</a:t>
            </a:r>
            <a:r>
              <a:rPr lang="en-US" altLang="zh-CN" sz="2000" b="1" i="1" dirty="0">
                <a:latin typeface="微软雅黑" panose="020B0503020204020204" pitchFamily="34" charset="-122"/>
                <a:ea typeface="微软雅黑" panose="020B0503020204020204" pitchFamily="34" charset="-122"/>
              </a:rPr>
              <a:t>k=</a:t>
            </a:r>
            <a:endParaRPr lang="zh-CN" altLang="en-US" sz="2000" i="1" dirty="0"/>
          </a:p>
        </p:txBody>
      </p:sp>
      <p:sp>
        <p:nvSpPr>
          <p:cNvPr id="25617" name="矩形 16">
            <a:extLst>
              <a:ext uri="{FF2B5EF4-FFF2-40B4-BE49-F238E27FC236}">
                <a16:creationId xmlns:a16="http://schemas.microsoft.com/office/drawing/2014/main" id="{9F0DB2D0-75C1-4D85-82D3-B4155666B261}"/>
              </a:ext>
            </a:extLst>
          </p:cNvPr>
          <p:cNvSpPr>
            <a:spLocks noChangeArrowheads="1"/>
          </p:cNvSpPr>
          <p:nvPr/>
        </p:nvSpPr>
        <p:spPr bwMode="auto">
          <a:xfrm>
            <a:off x="4648200" y="4518025"/>
            <a:ext cx="16353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b="1" dirty="0">
                <a:solidFill>
                  <a:srgbClr val="00B050"/>
                </a:solidFill>
                <a:latin typeface="微软雅黑" panose="020B0503020204020204" pitchFamily="34" charset="-122"/>
                <a:ea typeface="微软雅黑" panose="020B0503020204020204" pitchFamily="34" charset="-122"/>
              </a:rPr>
              <a:t>单电容：</a:t>
            </a:r>
            <a:r>
              <a:rPr lang="en-US" altLang="zh-CN" sz="2000" b="1" i="1" dirty="0">
                <a:latin typeface="微软雅黑" panose="020B0503020204020204" pitchFamily="34" charset="-122"/>
                <a:ea typeface="微软雅黑" panose="020B0503020204020204" pitchFamily="34" charset="-122"/>
              </a:rPr>
              <a:t> k=</a:t>
            </a:r>
            <a:endParaRPr lang="zh-CN" altLang="en-US" sz="2000" dirty="0">
              <a:solidFill>
                <a:srgbClr val="00B050"/>
              </a:solidFill>
            </a:endParaRPr>
          </a:p>
        </p:txBody>
      </p:sp>
      <p:sp>
        <p:nvSpPr>
          <p:cNvPr id="25618" name="矩形 17">
            <a:extLst>
              <a:ext uri="{FF2B5EF4-FFF2-40B4-BE49-F238E27FC236}">
                <a16:creationId xmlns:a16="http://schemas.microsoft.com/office/drawing/2014/main" id="{DF4819F2-7602-4E97-AE60-E091B25C9C35}"/>
              </a:ext>
            </a:extLst>
          </p:cNvPr>
          <p:cNvSpPr>
            <a:spLocks noChangeArrowheads="1"/>
          </p:cNvSpPr>
          <p:nvPr/>
        </p:nvSpPr>
        <p:spPr bwMode="auto">
          <a:xfrm>
            <a:off x="1035050" y="5840413"/>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b="1">
                <a:solidFill>
                  <a:srgbClr val="00B050"/>
                </a:solidFill>
                <a:latin typeface="微软雅黑" panose="020B0503020204020204" pitchFamily="34" charset="-122"/>
                <a:ea typeface="微软雅黑" panose="020B0503020204020204" pitchFamily="34" charset="-122"/>
              </a:rPr>
              <a:t>差动结构：</a:t>
            </a:r>
            <a:endParaRPr lang="zh-CN" altLang="en-US" sz="2000">
              <a:solidFill>
                <a:srgbClr val="00B050"/>
              </a:solidFill>
            </a:endParaRPr>
          </a:p>
        </p:txBody>
      </p:sp>
      <p:sp>
        <p:nvSpPr>
          <p:cNvPr id="25619" name="矩形 18">
            <a:extLst>
              <a:ext uri="{FF2B5EF4-FFF2-40B4-BE49-F238E27FC236}">
                <a16:creationId xmlns:a16="http://schemas.microsoft.com/office/drawing/2014/main" id="{85DF0682-1E56-4A36-85C4-5118EB62D92A}"/>
              </a:ext>
            </a:extLst>
          </p:cNvPr>
          <p:cNvSpPr>
            <a:spLocks noChangeArrowheads="1"/>
          </p:cNvSpPr>
          <p:nvPr/>
        </p:nvSpPr>
        <p:spPr bwMode="auto">
          <a:xfrm>
            <a:off x="4657725" y="5807075"/>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b="1">
                <a:solidFill>
                  <a:srgbClr val="00B050"/>
                </a:solidFill>
                <a:latin typeface="微软雅黑" panose="020B0503020204020204" pitchFamily="34" charset="-122"/>
                <a:ea typeface="微软雅黑" panose="020B0503020204020204" pitchFamily="34" charset="-122"/>
              </a:rPr>
              <a:t>单电容：</a:t>
            </a:r>
            <a:endParaRPr lang="zh-CN" altLang="en-US" sz="2000">
              <a:solidFill>
                <a:srgbClr val="00B05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6" name="Object 3">
            <a:extLst>
              <a:ext uri="{FF2B5EF4-FFF2-40B4-BE49-F238E27FC236}">
                <a16:creationId xmlns:a16="http://schemas.microsoft.com/office/drawing/2014/main" id="{50EDC90D-A664-4939-A334-751DF29957DB}"/>
              </a:ext>
            </a:extLst>
          </p:cNvPr>
          <p:cNvGraphicFramePr>
            <a:graphicFrameLocks noChangeAspect="1"/>
          </p:cNvGraphicFramePr>
          <p:nvPr>
            <p:extLst>
              <p:ext uri="{D42A27DB-BD31-4B8C-83A1-F6EECF244321}">
                <p14:modId xmlns:p14="http://schemas.microsoft.com/office/powerpoint/2010/main" val="423092245"/>
              </p:ext>
            </p:extLst>
          </p:nvPr>
        </p:nvGraphicFramePr>
        <p:xfrm>
          <a:off x="346100" y="1380526"/>
          <a:ext cx="4897437" cy="4740275"/>
        </p:xfrm>
        <a:graphic>
          <a:graphicData uri="http://schemas.openxmlformats.org/presentationml/2006/ole">
            <mc:AlternateContent xmlns:mc="http://schemas.openxmlformats.org/markup-compatibility/2006">
              <mc:Choice xmlns:v="urn:schemas-microsoft-com:vml" Requires="v">
                <p:oleObj spid="_x0000_s26761" name="Visio" r:id="rId3" imgW="2049143" imgH="1983943" progId="Visio.Drawing.6">
                  <p:embed/>
                </p:oleObj>
              </mc:Choice>
              <mc:Fallback>
                <p:oleObj name="Visio" r:id="rId3" imgW="2049143" imgH="1983943" progId="Visio.Drawing.6">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100" y="1380526"/>
                        <a:ext cx="4897437" cy="474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27" name="灯片编号占位符 1">
            <a:extLst>
              <a:ext uri="{FF2B5EF4-FFF2-40B4-BE49-F238E27FC236}">
                <a16:creationId xmlns:a16="http://schemas.microsoft.com/office/drawing/2014/main" id="{16D2671D-426B-4846-A390-654ADF32B9A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7378A11-2F27-4398-B432-7F144FD60F44}" type="slidenum">
              <a:rPr lang="en-US" altLang="zh-CN" smtClean="0"/>
              <a:pPr/>
              <a:t>9</a:t>
            </a:fld>
            <a:endParaRPr lang="en-US" altLang="zh-CN"/>
          </a:p>
        </p:txBody>
      </p:sp>
      <p:sp>
        <p:nvSpPr>
          <p:cNvPr id="13" name="矩形 12">
            <a:extLst>
              <a:ext uri="{FF2B5EF4-FFF2-40B4-BE49-F238E27FC236}">
                <a16:creationId xmlns:a16="http://schemas.microsoft.com/office/drawing/2014/main" id="{69BB9A3E-4324-4A00-AAC7-EFB378623F07}"/>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26629" name="Text Box 2">
            <a:extLst>
              <a:ext uri="{FF2B5EF4-FFF2-40B4-BE49-F238E27FC236}">
                <a16:creationId xmlns:a16="http://schemas.microsoft.com/office/drawing/2014/main" id="{50A9478F-BEDF-4557-9ED5-5D2CDCFBECB6}"/>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zh-CN" altLang="en-US" sz="2800" b="1" dirty="0">
                <a:solidFill>
                  <a:srgbClr val="C00000"/>
                </a:solidFill>
                <a:latin typeface="微软雅黑" panose="020B0503020204020204" pitchFamily="34" charset="-122"/>
                <a:ea typeface="微软雅黑" panose="020B0503020204020204" pitchFamily="34" charset="-122"/>
              </a:rPr>
              <a:t>实例：球</a:t>
            </a:r>
            <a:r>
              <a:rPr kumimoji="1" lang="en-US" altLang="zh-CN" sz="2800" b="1" dirty="0">
                <a:solidFill>
                  <a:srgbClr val="C00000"/>
                </a:solidFill>
                <a:latin typeface="微软雅黑" panose="020B0503020204020204" pitchFamily="34" charset="-122"/>
                <a:ea typeface="微软雅黑" panose="020B0503020204020204" pitchFamily="34" charset="-122"/>
              </a:rPr>
              <a:t>—</a:t>
            </a:r>
            <a:r>
              <a:rPr kumimoji="1" lang="zh-CN" altLang="en-US" sz="2800" b="1" dirty="0">
                <a:solidFill>
                  <a:srgbClr val="C00000"/>
                </a:solidFill>
                <a:latin typeface="微软雅黑" panose="020B0503020204020204" pitchFamily="34" charset="-122"/>
                <a:ea typeface="微软雅黑" panose="020B0503020204020204" pitchFamily="34" charset="-122"/>
              </a:rPr>
              <a:t>平面型差动电容压力传感器</a:t>
            </a:r>
          </a:p>
        </p:txBody>
      </p:sp>
      <p:sp>
        <p:nvSpPr>
          <p:cNvPr id="2" name="矩形 1">
            <a:extLst>
              <a:ext uri="{FF2B5EF4-FFF2-40B4-BE49-F238E27FC236}">
                <a16:creationId xmlns:a16="http://schemas.microsoft.com/office/drawing/2014/main" id="{53A58222-95D8-486D-9C2C-38E90F4712A5}"/>
              </a:ext>
            </a:extLst>
          </p:cNvPr>
          <p:cNvSpPr/>
          <p:nvPr/>
        </p:nvSpPr>
        <p:spPr>
          <a:xfrm>
            <a:off x="842392" y="5936218"/>
            <a:ext cx="2437013" cy="784830"/>
          </a:xfrm>
          <a:prstGeom prst="rect">
            <a:avLst/>
          </a:prstGeom>
        </p:spPr>
        <p:txBody>
          <a:bodyPr wrap="none">
            <a:spAutoFit/>
          </a:bodyPr>
          <a:lstStyle/>
          <a:p>
            <a:pPr algn="ctr" eaLnBrk="1" hangingPunct="1">
              <a:spcBef>
                <a:spcPct val="50000"/>
              </a:spcBef>
              <a:buFontTx/>
              <a:buNone/>
            </a:pPr>
            <a:r>
              <a:rPr kumimoji="1" lang="zh-CN" altLang="en-US" b="1" dirty="0">
                <a:latin typeface="微软雅黑" panose="020B0503020204020204" pitchFamily="34" charset="-122"/>
                <a:ea typeface="微软雅黑" panose="020B0503020204020204" pitchFamily="34" charset="-122"/>
              </a:rPr>
              <a:t>美国</a:t>
            </a:r>
            <a:r>
              <a:rPr kumimoji="1" lang="en-US" altLang="zh-CN" b="1" dirty="0">
                <a:latin typeface="微软雅黑" panose="020B0503020204020204" pitchFamily="34" charset="-122"/>
                <a:ea typeface="微软雅黑" panose="020B0503020204020204" pitchFamily="34" charset="-122"/>
              </a:rPr>
              <a:t>Rosemount</a:t>
            </a:r>
            <a:r>
              <a:rPr kumimoji="1" lang="zh-CN" altLang="en-US" b="1" dirty="0">
                <a:latin typeface="微软雅黑" panose="020B0503020204020204" pitchFamily="34" charset="-122"/>
                <a:ea typeface="微软雅黑" panose="020B0503020204020204" pitchFamily="34" charset="-122"/>
              </a:rPr>
              <a:t>公司</a:t>
            </a:r>
            <a:endParaRPr kumimoji="1" lang="en-US" altLang="zh-CN" b="1" dirty="0">
              <a:latin typeface="微软雅黑" panose="020B0503020204020204" pitchFamily="34" charset="-122"/>
              <a:ea typeface="微软雅黑" panose="020B0503020204020204" pitchFamily="34" charset="-122"/>
            </a:endParaRPr>
          </a:p>
          <a:p>
            <a:pPr algn="ctr" eaLnBrk="1" hangingPunct="1">
              <a:spcBef>
                <a:spcPct val="50000"/>
              </a:spcBef>
              <a:buFontTx/>
              <a:buNone/>
            </a:pPr>
            <a:r>
              <a:rPr kumimoji="1" lang="en-US" altLang="zh-CN" b="1" dirty="0">
                <a:latin typeface="微软雅黑" panose="020B0503020204020204" pitchFamily="34" charset="-122"/>
                <a:ea typeface="微软雅黑" panose="020B0503020204020204" pitchFamily="34" charset="-122"/>
              </a:rPr>
              <a:t>1151</a:t>
            </a:r>
            <a:r>
              <a:rPr kumimoji="1" lang="zh-CN" altLang="en-US" b="1" dirty="0">
                <a:latin typeface="微软雅黑" panose="020B0503020204020204" pitchFamily="34" charset="-122"/>
                <a:ea typeface="微软雅黑" panose="020B0503020204020204" pitchFamily="34" charset="-122"/>
              </a:rPr>
              <a:t>型压力变送器</a:t>
            </a:r>
          </a:p>
        </p:txBody>
      </p:sp>
      <p:pic>
        <p:nvPicPr>
          <p:cNvPr id="27" name="图片 1">
            <a:extLst>
              <a:ext uri="{FF2B5EF4-FFF2-40B4-BE49-F238E27FC236}">
                <a16:creationId xmlns:a16="http://schemas.microsoft.com/office/drawing/2014/main" id="{E8A613C8-368D-41D5-9842-A09A30D503A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004048" y="1708342"/>
            <a:ext cx="3925993" cy="3396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DA24FCC3-BCCC-4859-A501-C043AA30C97B}"/>
              </a:ext>
            </a:extLst>
          </p:cNvPr>
          <p:cNvSpPr/>
          <p:nvPr/>
        </p:nvSpPr>
        <p:spPr>
          <a:xfrm>
            <a:off x="3985567" y="5855985"/>
            <a:ext cx="4572000" cy="784830"/>
          </a:xfrm>
          <a:prstGeom prst="rect">
            <a:avLst/>
          </a:prstGeom>
        </p:spPr>
        <p:txBody>
          <a:bodyPr>
            <a:spAutoFit/>
          </a:bodyPr>
          <a:lstStyle/>
          <a:p>
            <a:pPr algn="just" eaLnBrk="1" hangingPunct="1">
              <a:spcBef>
                <a:spcPct val="50000"/>
              </a:spcBef>
              <a:buFontTx/>
              <a:buNone/>
            </a:pPr>
            <a:r>
              <a:rPr kumimoji="1" lang="zh-CN" altLang="en-US" b="1" dirty="0">
                <a:solidFill>
                  <a:srgbClr val="0000FF"/>
                </a:solidFill>
                <a:latin typeface="微软雅黑" panose="020B0503020204020204" pitchFamily="34" charset="-122"/>
                <a:ea typeface="微软雅黑" panose="020B0503020204020204" pitchFamily="34" charset="-122"/>
              </a:rPr>
              <a:t>特点：温度稳定性好、耐腐蚀、抗震性好</a:t>
            </a:r>
            <a:endParaRPr kumimoji="1" lang="en-US" altLang="zh-CN" b="1" dirty="0">
              <a:solidFill>
                <a:srgbClr val="0000FF"/>
              </a:solidFill>
              <a:latin typeface="微软雅黑" panose="020B0503020204020204" pitchFamily="34" charset="-122"/>
              <a:ea typeface="微软雅黑" panose="020B0503020204020204" pitchFamily="34" charset="-122"/>
            </a:endParaRPr>
          </a:p>
          <a:p>
            <a:pPr algn="just" eaLnBrk="1" hangingPunct="1">
              <a:spcBef>
                <a:spcPct val="50000"/>
              </a:spcBef>
              <a:buFontTx/>
              <a:buNone/>
            </a:pPr>
            <a:r>
              <a:rPr kumimoji="1" lang="zh-CN" altLang="en-US" b="1" dirty="0">
                <a:solidFill>
                  <a:srgbClr val="0000FF"/>
                </a:solidFill>
                <a:latin typeface="微软雅黑" panose="020B0503020204020204" pitchFamily="34" charset="-122"/>
                <a:ea typeface="微软雅黑" panose="020B0503020204020204" pitchFamily="34" charset="-122"/>
              </a:rPr>
              <a:t>           可用于工业过程的各种压力测量</a:t>
            </a:r>
          </a:p>
        </p:txBody>
      </p:sp>
      <p:graphicFrame>
        <p:nvGraphicFramePr>
          <p:cNvPr id="29" name="Object 120">
            <a:extLst>
              <a:ext uri="{FF2B5EF4-FFF2-40B4-BE49-F238E27FC236}">
                <a16:creationId xmlns:a16="http://schemas.microsoft.com/office/drawing/2014/main" id="{6CFE5657-4A06-49E8-A8A1-DD3F5F8F65D2}"/>
              </a:ext>
            </a:extLst>
          </p:cNvPr>
          <p:cNvGraphicFramePr>
            <a:graphicFrameLocks noChangeAspect="1"/>
          </p:cNvGraphicFramePr>
          <p:nvPr>
            <p:extLst>
              <p:ext uri="{D42A27DB-BD31-4B8C-83A1-F6EECF244321}">
                <p14:modId xmlns:p14="http://schemas.microsoft.com/office/powerpoint/2010/main" val="2504214042"/>
              </p:ext>
            </p:extLst>
          </p:nvPr>
        </p:nvGraphicFramePr>
        <p:xfrm>
          <a:off x="183672" y="1100265"/>
          <a:ext cx="2267744" cy="711072"/>
        </p:xfrm>
        <a:graphic>
          <a:graphicData uri="http://schemas.openxmlformats.org/presentationml/2006/ole">
            <mc:AlternateContent xmlns:mc="http://schemas.openxmlformats.org/markup-compatibility/2006">
              <mc:Choice xmlns:v="urn:schemas-microsoft-com:vml" Requires="v">
                <p:oleObj spid="_x0000_s26762" name="Equation" r:id="rId6" imgW="1371600" imgH="431800" progId="Equation.DSMT4">
                  <p:embed/>
                </p:oleObj>
              </mc:Choice>
              <mc:Fallback>
                <p:oleObj name="Equation" r:id="rId6" imgW="1371600" imgH="431800" progId="Equation.DSMT4">
                  <p:embed/>
                  <p:pic>
                    <p:nvPicPr>
                      <p:cNvPr id="70666" name="Object 120">
                        <a:extLst>
                          <a:ext uri="{FF2B5EF4-FFF2-40B4-BE49-F238E27FC236}">
                            <a16:creationId xmlns:a16="http://schemas.microsoft.com/office/drawing/2014/main" id="{ECDB1A38-2619-4DCD-86C2-41C08DACC05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3672" y="1100265"/>
                        <a:ext cx="2267744" cy="711072"/>
                      </a:xfrm>
                      <a:prstGeom prst="rect">
                        <a:avLst/>
                      </a:prstGeom>
                      <a:solidFill>
                        <a:srgbClr val="CCFFFF"/>
                      </a:solidFill>
                      <a:ln>
                        <a:noFill/>
                      </a:ln>
                      <a:effectLs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1">
            <a:extLst>
              <a:ext uri="{FF2B5EF4-FFF2-40B4-BE49-F238E27FC236}">
                <a16:creationId xmlns:a16="http://schemas.microsoft.com/office/drawing/2014/main" id="{67EBB9C9-9A4B-4B9A-8436-0FE325C3F746}"/>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D4A5925-9704-4375-A05C-639C8EFAAD7F}" type="slidenum">
              <a:rPr lang="en-US" altLang="zh-CN" smtClean="0"/>
              <a:pPr/>
              <a:t>10</a:t>
            </a:fld>
            <a:endParaRPr lang="en-US" altLang="zh-CN"/>
          </a:p>
        </p:txBody>
      </p:sp>
      <p:sp>
        <p:nvSpPr>
          <p:cNvPr id="13" name="矩形 12">
            <a:extLst>
              <a:ext uri="{FF2B5EF4-FFF2-40B4-BE49-F238E27FC236}">
                <a16:creationId xmlns:a16="http://schemas.microsoft.com/office/drawing/2014/main" id="{FE8B2C14-89CA-475A-881D-989CC202A9CB}"/>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27652" name="Text Box 2">
            <a:extLst>
              <a:ext uri="{FF2B5EF4-FFF2-40B4-BE49-F238E27FC236}">
                <a16:creationId xmlns:a16="http://schemas.microsoft.com/office/drawing/2014/main" id="{395705B9-65EB-42CB-9BC1-C46F5C71EDF2}"/>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zh-CN" altLang="en-US" sz="2800" b="1" dirty="0">
                <a:solidFill>
                  <a:srgbClr val="C00000"/>
                </a:solidFill>
                <a:latin typeface="微软雅黑" panose="020B0503020204020204" pitchFamily="34" charset="-122"/>
                <a:ea typeface="微软雅黑" panose="020B0503020204020204" pitchFamily="34" charset="-122"/>
              </a:rPr>
              <a:t>实例：球</a:t>
            </a:r>
            <a:r>
              <a:rPr kumimoji="1" lang="en-US" altLang="zh-CN" sz="2800" b="1" dirty="0">
                <a:solidFill>
                  <a:srgbClr val="C00000"/>
                </a:solidFill>
                <a:latin typeface="微软雅黑" panose="020B0503020204020204" pitchFamily="34" charset="-122"/>
                <a:ea typeface="微软雅黑" panose="020B0503020204020204" pitchFamily="34" charset="-122"/>
              </a:rPr>
              <a:t>—</a:t>
            </a:r>
            <a:r>
              <a:rPr kumimoji="1" lang="zh-CN" altLang="en-US" sz="2800" b="1" dirty="0">
                <a:solidFill>
                  <a:srgbClr val="C00000"/>
                </a:solidFill>
                <a:latin typeface="微软雅黑" panose="020B0503020204020204" pitchFamily="34" charset="-122"/>
                <a:ea typeface="微软雅黑" panose="020B0503020204020204" pitchFamily="34" charset="-122"/>
              </a:rPr>
              <a:t>平面型差动电容压力传感器</a:t>
            </a:r>
          </a:p>
        </p:txBody>
      </p:sp>
      <p:grpSp>
        <p:nvGrpSpPr>
          <p:cNvPr id="29701" name="Group 57">
            <a:extLst>
              <a:ext uri="{FF2B5EF4-FFF2-40B4-BE49-F238E27FC236}">
                <a16:creationId xmlns:a16="http://schemas.microsoft.com/office/drawing/2014/main" id="{61042EE6-33D3-4830-B334-7FBE06993022}"/>
              </a:ext>
            </a:extLst>
          </p:cNvPr>
          <p:cNvGrpSpPr>
            <a:grpSpLocks/>
          </p:cNvGrpSpPr>
          <p:nvPr/>
        </p:nvGrpSpPr>
        <p:grpSpPr bwMode="auto">
          <a:xfrm>
            <a:off x="1228725" y="4464050"/>
            <a:ext cx="2600325" cy="1655763"/>
            <a:chOff x="4404" y="2746"/>
            <a:chExt cx="1174" cy="582"/>
          </a:xfrm>
        </p:grpSpPr>
        <p:grpSp>
          <p:nvGrpSpPr>
            <p:cNvPr id="27690" name="Group 58">
              <a:extLst>
                <a:ext uri="{FF2B5EF4-FFF2-40B4-BE49-F238E27FC236}">
                  <a16:creationId xmlns:a16="http://schemas.microsoft.com/office/drawing/2014/main" id="{AEB32A2D-D9DD-483E-9DE9-500A4F75205F}"/>
                </a:ext>
              </a:extLst>
            </p:cNvPr>
            <p:cNvGrpSpPr>
              <a:grpSpLocks/>
            </p:cNvGrpSpPr>
            <p:nvPr/>
          </p:nvGrpSpPr>
          <p:grpSpPr bwMode="auto">
            <a:xfrm>
              <a:off x="4709" y="2889"/>
              <a:ext cx="126" cy="46"/>
              <a:chOff x="7171" y="2751"/>
              <a:chExt cx="315" cy="116"/>
            </a:xfrm>
          </p:grpSpPr>
          <p:sp>
            <p:nvSpPr>
              <p:cNvPr id="27717" name="Line 59">
                <a:extLst>
                  <a:ext uri="{FF2B5EF4-FFF2-40B4-BE49-F238E27FC236}">
                    <a16:creationId xmlns:a16="http://schemas.microsoft.com/office/drawing/2014/main" id="{CEADC353-B067-43E9-8E85-60AC29D1A9C4}"/>
                  </a:ext>
                </a:extLst>
              </p:cNvPr>
              <p:cNvSpPr>
                <a:spLocks noChangeShapeType="1"/>
              </p:cNvSpPr>
              <p:nvPr/>
            </p:nvSpPr>
            <p:spPr bwMode="auto">
              <a:xfrm>
                <a:off x="7171" y="2751"/>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27718" name="Line 60">
                <a:extLst>
                  <a:ext uri="{FF2B5EF4-FFF2-40B4-BE49-F238E27FC236}">
                    <a16:creationId xmlns:a16="http://schemas.microsoft.com/office/drawing/2014/main" id="{72E4C06E-D23B-47B1-A5CD-598BE4FAE40A}"/>
                  </a:ext>
                </a:extLst>
              </p:cNvPr>
              <p:cNvSpPr>
                <a:spLocks noChangeShapeType="1"/>
              </p:cNvSpPr>
              <p:nvPr/>
            </p:nvSpPr>
            <p:spPr bwMode="auto">
              <a:xfrm>
                <a:off x="7171" y="2867"/>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grpSp>
        <p:grpSp>
          <p:nvGrpSpPr>
            <p:cNvPr id="27691" name="Group 61">
              <a:extLst>
                <a:ext uri="{FF2B5EF4-FFF2-40B4-BE49-F238E27FC236}">
                  <a16:creationId xmlns:a16="http://schemas.microsoft.com/office/drawing/2014/main" id="{2B856955-EC4D-43A9-8067-D00F7E4BE717}"/>
                </a:ext>
              </a:extLst>
            </p:cNvPr>
            <p:cNvGrpSpPr>
              <a:grpSpLocks/>
            </p:cNvGrpSpPr>
            <p:nvPr/>
          </p:nvGrpSpPr>
          <p:grpSpPr bwMode="auto">
            <a:xfrm>
              <a:off x="4707" y="3140"/>
              <a:ext cx="126" cy="46"/>
              <a:chOff x="7224" y="2751"/>
              <a:chExt cx="315" cy="116"/>
            </a:xfrm>
          </p:grpSpPr>
          <p:sp>
            <p:nvSpPr>
              <p:cNvPr id="27715" name="Line 62">
                <a:extLst>
                  <a:ext uri="{FF2B5EF4-FFF2-40B4-BE49-F238E27FC236}">
                    <a16:creationId xmlns:a16="http://schemas.microsoft.com/office/drawing/2014/main" id="{12792237-1DD4-4014-97F8-3A976E2DCE34}"/>
                  </a:ext>
                </a:extLst>
              </p:cNvPr>
              <p:cNvSpPr>
                <a:spLocks noChangeShapeType="1"/>
              </p:cNvSpPr>
              <p:nvPr/>
            </p:nvSpPr>
            <p:spPr bwMode="auto">
              <a:xfrm>
                <a:off x="7224" y="2751"/>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27716" name="Line 63">
                <a:extLst>
                  <a:ext uri="{FF2B5EF4-FFF2-40B4-BE49-F238E27FC236}">
                    <a16:creationId xmlns:a16="http://schemas.microsoft.com/office/drawing/2014/main" id="{B26FBE56-D845-4B6C-B2C2-1B91F7243575}"/>
                  </a:ext>
                </a:extLst>
              </p:cNvPr>
              <p:cNvSpPr>
                <a:spLocks noChangeShapeType="1"/>
              </p:cNvSpPr>
              <p:nvPr/>
            </p:nvSpPr>
            <p:spPr bwMode="auto">
              <a:xfrm>
                <a:off x="7224" y="2867"/>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grpSp>
        <p:sp>
          <p:nvSpPr>
            <p:cNvPr id="27692" name="Line 64">
              <a:extLst>
                <a:ext uri="{FF2B5EF4-FFF2-40B4-BE49-F238E27FC236}">
                  <a16:creationId xmlns:a16="http://schemas.microsoft.com/office/drawing/2014/main" id="{C643A815-4BDD-4602-914C-B336F766E58B}"/>
                </a:ext>
              </a:extLst>
            </p:cNvPr>
            <p:cNvSpPr>
              <a:spLocks noChangeShapeType="1"/>
            </p:cNvSpPr>
            <p:nvPr/>
          </p:nvSpPr>
          <p:spPr bwMode="auto">
            <a:xfrm>
              <a:off x="4771" y="2935"/>
              <a:ext cx="0" cy="20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27693" name="Freeform 65">
              <a:extLst>
                <a:ext uri="{FF2B5EF4-FFF2-40B4-BE49-F238E27FC236}">
                  <a16:creationId xmlns:a16="http://schemas.microsoft.com/office/drawing/2014/main" id="{CE0EE304-AC40-4CEA-B5A4-97F2BACB92C7}"/>
                </a:ext>
              </a:extLst>
            </p:cNvPr>
            <p:cNvSpPr>
              <a:spLocks/>
            </p:cNvSpPr>
            <p:nvPr/>
          </p:nvSpPr>
          <p:spPr bwMode="auto">
            <a:xfrm>
              <a:off x="4479" y="2764"/>
              <a:ext cx="293" cy="125"/>
            </a:xfrm>
            <a:custGeom>
              <a:avLst/>
              <a:gdLst>
                <a:gd name="T0" fmla="*/ 0 w 735"/>
                <a:gd name="T1" fmla="*/ 0 h 312"/>
                <a:gd name="T2" fmla="*/ 0 w 735"/>
                <a:gd name="T3" fmla="*/ 0 h 312"/>
                <a:gd name="T4" fmla="*/ 0 w 735"/>
                <a:gd name="T5" fmla="*/ 0 h 312"/>
                <a:gd name="T6" fmla="*/ 0 60000 65536"/>
                <a:gd name="T7" fmla="*/ 0 60000 65536"/>
                <a:gd name="T8" fmla="*/ 0 60000 65536"/>
              </a:gdLst>
              <a:ahLst/>
              <a:cxnLst>
                <a:cxn ang="T6">
                  <a:pos x="T0" y="T1"/>
                </a:cxn>
                <a:cxn ang="T7">
                  <a:pos x="T2" y="T3"/>
                </a:cxn>
                <a:cxn ang="T8">
                  <a:pos x="T4" y="T5"/>
                </a:cxn>
              </a:cxnLst>
              <a:rect l="0" t="0" r="r" b="b"/>
              <a:pathLst>
                <a:path w="735" h="312">
                  <a:moveTo>
                    <a:pt x="735" y="312"/>
                  </a:moveTo>
                  <a:lnTo>
                    <a:pt x="735" y="0"/>
                  </a:lnTo>
                  <a:lnTo>
                    <a:pt x="0" y="0"/>
                  </a:ln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27694" name="Oval 66">
              <a:extLst>
                <a:ext uri="{FF2B5EF4-FFF2-40B4-BE49-F238E27FC236}">
                  <a16:creationId xmlns:a16="http://schemas.microsoft.com/office/drawing/2014/main" id="{F97EACF3-1486-474C-89EF-47608686526F}"/>
                </a:ext>
              </a:extLst>
            </p:cNvPr>
            <p:cNvSpPr>
              <a:spLocks noChangeAspect="1" noChangeArrowheads="1"/>
            </p:cNvSpPr>
            <p:nvPr/>
          </p:nvSpPr>
          <p:spPr bwMode="auto">
            <a:xfrm>
              <a:off x="4444" y="2748"/>
              <a:ext cx="32" cy="32"/>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grpSp>
          <p:nvGrpSpPr>
            <p:cNvPr id="27695" name="Group 67">
              <a:extLst>
                <a:ext uri="{FF2B5EF4-FFF2-40B4-BE49-F238E27FC236}">
                  <a16:creationId xmlns:a16="http://schemas.microsoft.com/office/drawing/2014/main" id="{BDF9B316-0633-4F3C-AC6E-0D49C6075491}"/>
                </a:ext>
              </a:extLst>
            </p:cNvPr>
            <p:cNvGrpSpPr>
              <a:grpSpLocks/>
            </p:cNvGrpSpPr>
            <p:nvPr/>
          </p:nvGrpSpPr>
          <p:grpSpPr bwMode="auto">
            <a:xfrm>
              <a:off x="4441" y="3187"/>
              <a:ext cx="330" cy="141"/>
              <a:chOff x="4441" y="3187"/>
              <a:chExt cx="330" cy="141"/>
            </a:xfrm>
          </p:grpSpPr>
          <p:sp>
            <p:nvSpPr>
              <p:cNvPr id="27713" name="Freeform 68">
                <a:extLst>
                  <a:ext uri="{FF2B5EF4-FFF2-40B4-BE49-F238E27FC236}">
                    <a16:creationId xmlns:a16="http://schemas.microsoft.com/office/drawing/2014/main" id="{8636BDAA-7578-484A-9F90-8247881A065E}"/>
                  </a:ext>
                </a:extLst>
              </p:cNvPr>
              <p:cNvSpPr>
                <a:spLocks/>
              </p:cNvSpPr>
              <p:nvPr/>
            </p:nvSpPr>
            <p:spPr bwMode="auto">
              <a:xfrm>
                <a:off x="4478" y="3187"/>
                <a:ext cx="293" cy="125"/>
              </a:xfrm>
              <a:custGeom>
                <a:avLst/>
                <a:gdLst>
                  <a:gd name="T0" fmla="*/ 0 w 735"/>
                  <a:gd name="T1" fmla="*/ 0 h 312"/>
                  <a:gd name="T2" fmla="*/ 0 w 735"/>
                  <a:gd name="T3" fmla="*/ 0 h 312"/>
                  <a:gd name="T4" fmla="*/ 0 w 735"/>
                  <a:gd name="T5" fmla="*/ 0 h 312"/>
                  <a:gd name="T6" fmla="*/ 0 60000 65536"/>
                  <a:gd name="T7" fmla="*/ 0 60000 65536"/>
                  <a:gd name="T8" fmla="*/ 0 60000 65536"/>
                </a:gdLst>
                <a:ahLst/>
                <a:cxnLst>
                  <a:cxn ang="T6">
                    <a:pos x="T0" y="T1"/>
                  </a:cxn>
                  <a:cxn ang="T7">
                    <a:pos x="T2" y="T3"/>
                  </a:cxn>
                  <a:cxn ang="T8">
                    <a:pos x="T4" y="T5"/>
                  </a:cxn>
                </a:cxnLst>
                <a:rect l="0" t="0" r="r" b="b"/>
                <a:pathLst>
                  <a:path w="735" h="312">
                    <a:moveTo>
                      <a:pt x="735" y="0"/>
                    </a:moveTo>
                    <a:lnTo>
                      <a:pt x="735" y="312"/>
                    </a:lnTo>
                    <a:lnTo>
                      <a:pt x="0" y="312"/>
                    </a:ln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27714" name="Oval 69">
                <a:extLst>
                  <a:ext uri="{FF2B5EF4-FFF2-40B4-BE49-F238E27FC236}">
                    <a16:creationId xmlns:a16="http://schemas.microsoft.com/office/drawing/2014/main" id="{B27581B0-2717-4A49-8D09-00745ED863CE}"/>
                  </a:ext>
                </a:extLst>
              </p:cNvPr>
              <p:cNvSpPr>
                <a:spLocks noChangeAspect="1" noChangeArrowheads="1"/>
              </p:cNvSpPr>
              <p:nvPr/>
            </p:nvSpPr>
            <p:spPr bwMode="auto">
              <a:xfrm>
                <a:off x="4441" y="3296"/>
                <a:ext cx="32" cy="32"/>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grpSp>
        <p:grpSp>
          <p:nvGrpSpPr>
            <p:cNvPr id="27696" name="Group 70">
              <a:extLst>
                <a:ext uri="{FF2B5EF4-FFF2-40B4-BE49-F238E27FC236}">
                  <a16:creationId xmlns:a16="http://schemas.microsoft.com/office/drawing/2014/main" id="{B86EA2D9-894C-48DD-8127-6231CD0006C9}"/>
                </a:ext>
              </a:extLst>
            </p:cNvPr>
            <p:cNvGrpSpPr>
              <a:grpSpLocks/>
            </p:cNvGrpSpPr>
            <p:nvPr/>
          </p:nvGrpSpPr>
          <p:grpSpPr bwMode="auto">
            <a:xfrm flipH="1">
              <a:off x="5159" y="2887"/>
              <a:ext cx="126" cy="46"/>
              <a:chOff x="7171" y="2751"/>
              <a:chExt cx="315" cy="116"/>
            </a:xfrm>
          </p:grpSpPr>
          <p:sp>
            <p:nvSpPr>
              <p:cNvPr id="27711" name="Line 71">
                <a:extLst>
                  <a:ext uri="{FF2B5EF4-FFF2-40B4-BE49-F238E27FC236}">
                    <a16:creationId xmlns:a16="http://schemas.microsoft.com/office/drawing/2014/main" id="{091AB859-C096-42AF-86FB-B7DD50D56F07}"/>
                  </a:ext>
                </a:extLst>
              </p:cNvPr>
              <p:cNvSpPr>
                <a:spLocks noChangeShapeType="1"/>
              </p:cNvSpPr>
              <p:nvPr/>
            </p:nvSpPr>
            <p:spPr bwMode="auto">
              <a:xfrm>
                <a:off x="7171" y="2751"/>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27712" name="Line 72">
                <a:extLst>
                  <a:ext uri="{FF2B5EF4-FFF2-40B4-BE49-F238E27FC236}">
                    <a16:creationId xmlns:a16="http://schemas.microsoft.com/office/drawing/2014/main" id="{1CE2F985-8A2A-4E29-91ED-5580B65CA377}"/>
                  </a:ext>
                </a:extLst>
              </p:cNvPr>
              <p:cNvSpPr>
                <a:spLocks noChangeShapeType="1"/>
              </p:cNvSpPr>
              <p:nvPr/>
            </p:nvSpPr>
            <p:spPr bwMode="auto">
              <a:xfrm>
                <a:off x="7171" y="2867"/>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grpSp>
        <p:grpSp>
          <p:nvGrpSpPr>
            <p:cNvPr id="27697" name="Group 73">
              <a:extLst>
                <a:ext uri="{FF2B5EF4-FFF2-40B4-BE49-F238E27FC236}">
                  <a16:creationId xmlns:a16="http://schemas.microsoft.com/office/drawing/2014/main" id="{141AB7E5-484D-4D39-BE52-85395865EF77}"/>
                </a:ext>
              </a:extLst>
            </p:cNvPr>
            <p:cNvGrpSpPr>
              <a:grpSpLocks/>
            </p:cNvGrpSpPr>
            <p:nvPr/>
          </p:nvGrpSpPr>
          <p:grpSpPr bwMode="auto">
            <a:xfrm flipH="1">
              <a:off x="5161" y="3138"/>
              <a:ext cx="126" cy="46"/>
              <a:chOff x="7224" y="2751"/>
              <a:chExt cx="315" cy="116"/>
            </a:xfrm>
          </p:grpSpPr>
          <p:sp>
            <p:nvSpPr>
              <p:cNvPr id="27709" name="Line 74">
                <a:extLst>
                  <a:ext uri="{FF2B5EF4-FFF2-40B4-BE49-F238E27FC236}">
                    <a16:creationId xmlns:a16="http://schemas.microsoft.com/office/drawing/2014/main" id="{78859A7E-B106-4B00-868D-7E9E6657341E}"/>
                  </a:ext>
                </a:extLst>
              </p:cNvPr>
              <p:cNvSpPr>
                <a:spLocks noChangeShapeType="1"/>
              </p:cNvSpPr>
              <p:nvPr/>
            </p:nvSpPr>
            <p:spPr bwMode="auto">
              <a:xfrm>
                <a:off x="7224" y="2751"/>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27710" name="Line 75">
                <a:extLst>
                  <a:ext uri="{FF2B5EF4-FFF2-40B4-BE49-F238E27FC236}">
                    <a16:creationId xmlns:a16="http://schemas.microsoft.com/office/drawing/2014/main" id="{0E6B14E0-800B-4488-9F18-D58BE96F7F66}"/>
                  </a:ext>
                </a:extLst>
              </p:cNvPr>
              <p:cNvSpPr>
                <a:spLocks noChangeShapeType="1"/>
              </p:cNvSpPr>
              <p:nvPr/>
            </p:nvSpPr>
            <p:spPr bwMode="auto">
              <a:xfrm>
                <a:off x="7224" y="2867"/>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grpSp>
        <p:sp>
          <p:nvSpPr>
            <p:cNvPr id="27698" name="Line 76">
              <a:extLst>
                <a:ext uri="{FF2B5EF4-FFF2-40B4-BE49-F238E27FC236}">
                  <a16:creationId xmlns:a16="http://schemas.microsoft.com/office/drawing/2014/main" id="{7098514D-38BB-4764-B2CB-FDAA1A8A155A}"/>
                </a:ext>
              </a:extLst>
            </p:cNvPr>
            <p:cNvSpPr>
              <a:spLocks noChangeShapeType="1"/>
            </p:cNvSpPr>
            <p:nvPr/>
          </p:nvSpPr>
          <p:spPr bwMode="auto">
            <a:xfrm flipH="1">
              <a:off x="5223" y="2933"/>
              <a:ext cx="0" cy="20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27699" name="Freeform 77">
              <a:extLst>
                <a:ext uri="{FF2B5EF4-FFF2-40B4-BE49-F238E27FC236}">
                  <a16:creationId xmlns:a16="http://schemas.microsoft.com/office/drawing/2014/main" id="{94F2B6F5-224F-4F38-8EA1-1066E0A9202D}"/>
                </a:ext>
              </a:extLst>
            </p:cNvPr>
            <p:cNvSpPr>
              <a:spLocks/>
            </p:cNvSpPr>
            <p:nvPr/>
          </p:nvSpPr>
          <p:spPr bwMode="auto">
            <a:xfrm flipH="1">
              <a:off x="5222" y="2762"/>
              <a:ext cx="293" cy="125"/>
            </a:xfrm>
            <a:custGeom>
              <a:avLst/>
              <a:gdLst>
                <a:gd name="T0" fmla="*/ 0 w 735"/>
                <a:gd name="T1" fmla="*/ 0 h 312"/>
                <a:gd name="T2" fmla="*/ 0 w 735"/>
                <a:gd name="T3" fmla="*/ 0 h 312"/>
                <a:gd name="T4" fmla="*/ 0 w 735"/>
                <a:gd name="T5" fmla="*/ 0 h 312"/>
                <a:gd name="T6" fmla="*/ 0 60000 65536"/>
                <a:gd name="T7" fmla="*/ 0 60000 65536"/>
                <a:gd name="T8" fmla="*/ 0 60000 65536"/>
              </a:gdLst>
              <a:ahLst/>
              <a:cxnLst>
                <a:cxn ang="T6">
                  <a:pos x="T0" y="T1"/>
                </a:cxn>
                <a:cxn ang="T7">
                  <a:pos x="T2" y="T3"/>
                </a:cxn>
                <a:cxn ang="T8">
                  <a:pos x="T4" y="T5"/>
                </a:cxn>
              </a:cxnLst>
              <a:rect l="0" t="0" r="r" b="b"/>
              <a:pathLst>
                <a:path w="735" h="312">
                  <a:moveTo>
                    <a:pt x="735" y="312"/>
                  </a:moveTo>
                  <a:lnTo>
                    <a:pt x="735" y="0"/>
                  </a:lnTo>
                  <a:lnTo>
                    <a:pt x="0" y="0"/>
                  </a:ln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27700" name="Freeform 78">
              <a:extLst>
                <a:ext uri="{FF2B5EF4-FFF2-40B4-BE49-F238E27FC236}">
                  <a16:creationId xmlns:a16="http://schemas.microsoft.com/office/drawing/2014/main" id="{C5E45F32-086A-48B1-8ED2-8F18FF566EA3}"/>
                </a:ext>
              </a:extLst>
            </p:cNvPr>
            <p:cNvSpPr>
              <a:spLocks/>
            </p:cNvSpPr>
            <p:nvPr/>
          </p:nvSpPr>
          <p:spPr bwMode="auto">
            <a:xfrm flipH="1">
              <a:off x="5223" y="3185"/>
              <a:ext cx="293" cy="125"/>
            </a:xfrm>
            <a:custGeom>
              <a:avLst/>
              <a:gdLst>
                <a:gd name="T0" fmla="*/ 0 w 735"/>
                <a:gd name="T1" fmla="*/ 0 h 312"/>
                <a:gd name="T2" fmla="*/ 0 w 735"/>
                <a:gd name="T3" fmla="*/ 0 h 312"/>
                <a:gd name="T4" fmla="*/ 0 w 735"/>
                <a:gd name="T5" fmla="*/ 0 h 312"/>
                <a:gd name="T6" fmla="*/ 0 60000 65536"/>
                <a:gd name="T7" fmla="*/ 0 60000 65536"/>
                <a:gd name="T8" fmla="*/ 0 60000 65536"/>
              </a:gdLst>
              <a:ahLst/>
              <a:cxnLst>
                <a:cxn ang="T6">
                  <a:pos x="T0" y="T1"/>
                </a:cxn>
                <a:cxn ang="T7">
                  <a:pos x="T2" y="T3"/>
                </a:cxn>
                <a:cxn ang="T8">
                  <a:pos x="T4" y="T5"/>
                </a:cxn>
              </a:cxnLst>
              <a:rect l="0" t="0" r="r" b="b"/>
              <a:pathLst>
                <a:path w="735" h="312">
                  <a:moveTo>
                    <a:pt x="735" y="0"/>
                  </a:moveTo>
                  <a:lnTo>
                    <a:pt x="735" y="312"/>
                  </a:lnTo>
                  <a:lnTo>
                    <a:pt x="0" y="312"/>
                  </a:ln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27701" name="Oval 79">
              <a:extLst>
                <a:ext uri="{FF2B5EF4-FFF2-40B4-BE49-F238E27FC236}">
                  <a16:creationId xmlns:a16="http://schemas.microsoft.com/office/drawing/2014/main" id="{B71C87A1-2590-40D6-A39E-74D7100B5B36}"/>
                </a:ext>
              </a:extLst>
            </p:cNvPr>
            <p:cNvSpPr>
              <a:spLocks noChangeAspect="1" noChangeArrowheads="1"/>
            </p:cNvSpPr>
            <p:nvPr/>
          </p:nvSpPr>
          <p:spPr bwMode="auto">
            <a:xfrm flipH="1">
              <a:off x="5518" y="2746"/>
              <a:ext cx="32" cy="32"/>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7702" name="Oval 80">
              <a:extLst>
                <a:ext uri="{FF2B5EF4-FFF2-40B4-BE49-F238E27FC236}">
                  <a16:creationId xmlns:a16="http://schemas.microsoft.com/office/drawing/2014/main" id="{F2A37A33-70AB-4165-9C0E-31020C1E9531}"/>
                </a:ext>
              </a:extLst>
            </p:cNvPr>
            <p:cNvSpPr>
              <a:spLocks noChangeAspect="1" noChangeArrowheads="1"/>
            </p:cNvSpPr>
            <p:nvPr/>
          </p:nvSpPr>
          <p:spPr bwMode="auto">
            <a:xfrm flipH="1">
              <a:off x="5521" y="3294"/>
              <a:ext cx="32" cy="32"/>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7703" name="Text Box 81">
              <a:extLst>
                <a:ext uri="{FF2B5EF4-FFF2-40B4-BE49-F238E27FC236}">
                  <a16:creationId xmlns:a16="http://schemas.microsoft.com/office/drawing/2014/main" id="{5E57FCC8-C8F1-423E-9D8A-2DB8E4ECD9B3}"/>
                </a:ext>
              </a:extLst>
            </p:cNvPr>
            <p:cNvSpPr txBox="1">
              <a:spLocks noChangeArrowheads="1"/>
            </p:cNvSpPr>
            <p:nvPr/>
          </p:nvSpPr>
          <p:spPr bwMode="auto">
            <a:xfrm>
              <a:off x="4863" y="3108"/>
              <a:ext cx="131"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C</a:t>
              </a:r>
              <a:r>
                <a:rPr kumimoji="1" lang="en-US" altLang="zh-CN" sz="1400" b="1" baseline="-25000">
                  <a:solidFill>
                    <a:srgbClr val="000000"/>
                  </a:solidFill>
                  <a:latin typeface="Times New Roman" panose="02020603050405020304" pitchFamily="18" charset="0"/>
                </a:rPr>
                <a:t>A</a:t>
              </a:r>
            </a:p>
          </p:txBody>
        </p:sp>
        <p:sp>
          <p:nvSpPr>
            <p:cNvPr id="27704" name="Text Box 82">
              <a:extLst>
                <a:ext uri="{FF2B5EF4-FFF2-40B4-BE49-F238E27FC236}">
                  <a16:creationId xmlns:a16="http://schemas.microsoft.com/office/drawing/2014/main" id="{C16B527A-8CFC-4A48-ADE1-56548465B25D}"/>
                </a:ext>
              </a:extLst>
            </p:cNvPr>
            <p:cNvSpPr txBox="1">
              <a:spLocks noChangeArrowheads="1"/>
            </p:cNvSpPr>
            <p:nvPr/>
          </p:nvSpPr>
          <p:spPr bwMode="auto">
            <a:xfrm>
              <a:off x="4850" y="2855"/>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C</a:t>
              </a:r>
              <a:r>
                <a:rPr kumimoji="1" lang="en-US" altLang="zh-CN" sz="1400" b="1" baseline="-25000">
                  <a:solidFill>
                    <a:srgbClr val="000000"/>
                  </a:solidFill>
                  <a:latin typeface="Times New Roman" panose="02020603050405020304" pitchFamily="18" charset="0"/>
                </a:rPr>
                <a:t>L</a:t>
              </a:r>
            </a:p>
          </p:txBody>
        </p:sp>
        <p:sp>
          <p:nvSpPr>
            <p:cNvPr id="27705" name="Text Box 83">
              <a:extLst>
                <a:ext uri="{FF2B5EF4-FFF2-40B4-BE49-F238E27FC236}">
                  <a16:creationId xmlns:a16="http://schemas.microsoft.com/office/drawing/2014/main" id="{7A253DCF-449B-4D59-9B46-21D48218E2AA}"/>
                </a:ext>
              </a:extLst>
            </p:cNvPr>
            <p:cNvSpPr txBox="1">
              <a:spLocks noChangeArrowheads="1"/>
            </p:cNvSpPr>
            <p:nvPr/>
          </p:nvSpPr>
          <p:spPr bwMode="auto">
            <a:xfrm>
              <a:off x="5446" y="2967"/>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latin typeface="Times New Roman" panose="02020603050405020304" pitchFamily="18" charset="0"/>
                </a:rPr>
                <a:t>C</a:t>
              </a:r>
              <a:r>
                <a:rPr kumimoji="1" lang="en-US" altLang="zh-CN" sz="1400" b="1" baseline="-25000">
                  <a:latin typeface="Times New Roman" panose="02020603050405020304" pitchFamily="18" charset="0"/>
                </a:rPr>
                <a:t>H</a:t>
              </a:r>
            </a:p>
          </p:txBody>
        </p:sp>
        <p:sp>
          <p:nvSpPr>
            <p:cNvPr id="27706" name="Text Box 84">
              <a:extLst>
                <a:ext uri="{FF2B5EF4-FFF2-40B4-BE49-F238E27FC236}">
                  <a16:creationId xmlns:a16="http://schemas.microsoft.com/office/drawing/2014/main" id="{AAF62785-C7AF-4989-9B3D-A7B36F585132}"/>
                </a:ext>
              </a:extLst>
            </p:cNvPr>
            <p:cNvSpPr txBox="1">
              <a:spLocks noChangeArrowheads="1"/>
            </p:cNvSpPr>
            <p:nvPr/>
          </p:nvSpPr>
          <p:spPr bwMode="auto">
            <a:xfrm>
              <a:off x="4404" y="2964"/>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C</a:t>
              </a:r>
              <a:r>
                <a:rPr kumimoji="1" lang="en-US" altLang="zh-CN" sz="1400" b="1" baseline="-25000">
                  <a:solidFill>
                    <a:srgbClr val="000000"/>
                  </a:solidFill>
                  <a:latin typeface="Times New Roman" panose="02020603050405020304" pitchFamily="18" charset="0"/>
                </a:rPr>
                <a:t>0</a:t>
              </a:r>
            </a:p>
          </p:txBody>
        </p:sp>
        <p:sp>
          <p:nvSpPr>
            <p:cNvPr id="27707" name="Text Box 85">
              <a:extLst>
                <a:ext uri="{FF2B5EF4-FFF2-40B4-BE49-F238E27FC236}">
                  <a16:creationId xmlns:a16="http://schemas.microsoft.com/office/drawing/2014/main" id="{E95ACAE2-5674-47F0-8FD2-98FDE37A5FE2}"/>
                </a:ext>
              </a:extLst>
            </p:cNvPr>
            <p:cNvSpPr txBox="1">
              <a:spLocks noChangeArrowheads="1"/>
            </p:cNvSpPr>
            <p:nvPr/>
          </p:nvSpPr>
          <p:spPr bwMode="auto">
            <a:xfrm>
              <a:off x="5033" y="3108"/>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C</a:t>
              </a:r>
              <a:r>
                <a:rPr kumimoji="1" lang="en-US" altLang="zh-CN" sz="1400" b="1" baseline="-25000">
                  <a:solidFill>
                    <a:srgbClr val="000000"/>
                  </a:solidFill>
                  <a:latin typeface="Times New Roman" panose="02020603050405020304" pitchFamily="18" charset="0"/>
                </a:rPr>
                <a:t>0</a:t>
              </a:r>
            </a:p>
          </p:txBody>
        </p:sp>
        <p:sp>
          <p:nvSpPr>
            <p:cNvPr id="27708" name="Text Box 86">
              <a:extLst>
                <a:ext uri="{FF2B5EF4-FFF2-40B4-BE49-F238E27FC236}">
                  <a16:creationId xmlns:a16="http://schemas.microsoft.com/office/drawing/2014/main" id="{389CCFF4-84F7-41FD-BA4C-34DE7C8A05CF}"/>
                </a:ext>
              </a:extLst>
            </p:cNvPr>
            <p:cNvSpPr txBox="1">
              <a:spLocks noChangeArrowheads="1"/>
            </p:cNvSpPr>
            <p:nvPr/>
          </p:nvSpPr>
          <p:spPr bwMode="auto">
            <a:xfrm>
              <a:off x="5023" y="2852"/>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C</a:t>
              </a:r>
              <a:r>
                <a:rPr kumimoji="1" lang="en-US" altLang="zh-CN" sz="1400" b="1" baseline="-25000">
                  <a:solidFill>
                    <a:srgbClr val="000000"/>
                  </a:solidFill>
                  <a:latin typeface="Times New Roman" panose="02020603050405020304" pitchFamily="18" charset="0"/>
                </a:rPr>
                <a:t>A</a:t>
              </a:r>
            </a:p>
          </p:txBody>
        </p:sp>
      </p:grpSp>
      <p:sp>
        <p:nvSpPr>
          <p:cNvPr id="29702" name="Text Box 87">
            <a:extLst>
              <a:ext uri="{FF2B5EF4-FFF2-40B4-BE49-F238E27FC236}">
                <a16:creationId xmlns:a16="http://schemas.microsoft.com/office/drawing/2014/main" id="{FB013D6B-0B7B-4B72-A4F4-44ADC8DDEA1E}"/>
              </a:ext>
            </a:extLst>
          </p:cNvPr>
          <p:cNvSpPr txBox="1">
            <a:spLocks noChangeArrowheads="1"/>
          </p:cNvSpPr>
          <p:nvPr/>
        </p:nvSpPr>
        <p:spPr bwMode="auto">
          <a:xfrm>
            <a:off x="136525" y="4953000"/>
            <a:ext cx="1150938"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zh-CN" altLang="en-US" sz="2000" b="1">
                <a:solidFill>
                  <a:srgbClr val="000000"/>
                </a:solidFill>
                <a:latin typeface="楷体_GB2312" pitchFamily="49" charset="-122"/>
                <a:ea typeface="楷体_GB2312" pitchFamily="49" charset="-122"/>
              </a:rPr>
              <a:t>等效电路</a:t>
            </a:r>
            <a:endParaRPr kumimoji="1" lang="zh-CN" altLang="en-US" sz="2200" b="1">
              <a:solidFill>
                <a:srgbClr val="000000"/>
              </a:solidFill>
              <a:latin typeface="楷体_GB2312" pitchFamily="49" charset="-122"/>
              <a:ea typeface="楷体_GB2312" pitchFamily="49" charset="-122"/>
            </a:endParaRPr>
          </a:p>
        </p:txBody>
      </p:sp>
      <p:grpSp>
        <p:nvGrpSpPr>
          <p:cNvPr id="27655" name="Group 88">
            <a:extLst>
              <a:ext uri="{FF2B5EF4-FFF2-40B4-BE49-F238E27FC236}">
                <a16:creationId xmlns:a16="http://schemas.microsoft.com/office/drawing/2014/main" id="{458C65E8-1F6F-409C-8F69-718CF23BE956}"/>
              </a:ext>
            </a:extLst>
          </p:cNvPr>
          <p:cNvGrpSpPr>
            <a:grpSpLocks/>
          </p:cNvGrpSpPr>
          <p:nvPr/>
        </p:nvGrpSpPr>
        <p:grpSpPr bwMode="auto">
          <a:xfrm>
            <a:off x="250825" y="981075"/>
            <a:ext cx="3960813" cy="3455988"/>
            <a:chOff x="2312" y="2064"/>
            <a:chExt cx="1933" cy="1156"/>
          </a:xfrm>
        </p:grpSpPr>
        <p:sp>
          <p:nvSpPr>
            <p:cNvPr id="27660" name="Rectangle 89" descr="大纸屑">
              <a:extLst>
                <a:ext uri="{FF2B5EF4-FFF2-40B4-BE49-F238E27FC236}">
                  <a16:creationId xmlns:a16="http://schemas.microsoft.com/office/drawing/2014/main" id="{A73E3B22-F68E-4F41-95F6-EA8385FA2894}"/>
                </a:ext>
              </a:extLst>
            </p:cNvPr>
            <p:cNvSpPr>
              <a:spLocks noChangeArrowheads="1"/>
            </p:cNvSpPr>
            <p:nvPr/>
          </p:nvSpPr>
          <p:spPr bwMode="auto">
            <a:xfrm>
              <a:off x="2607" y="2252"/>
              <a:ext cx="1428" cy="750"/>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7661" name="Freeform 90">
              <a:extLst>
                <a:ext uri="{FF2B5EF4-FFF2-40B4-BE49-F238E27FC236}">
                  <a16:creationId xmlns:a16="http://schemas.microsoft.com/office/drawing/2014/main" id="{FC3ABC80-AC48-4410-9FC3-723A77484EAF}"/>
                </a:ext>
              </a:extLst>
            </p:cNvPr>
            <p:cNvSpPr>
              <a:spLocks/>
            </p:cNvSpPr>
            <p:nvPr/>
          </p:nvSpPr>
          <p:spPr bwMode="auto">
            <a:xfrm>
              <a:off x="2727" y="2417"/>
              <a:ext cx="1152" cy="424"/>
            </a:xfrm>
            <a:custGeom>
              <a:avLst/>
              <a:gdLst>
                <a:gd name="T0" fmla="*/ 0 w 2880"/>
                <a:gd name="T1" fmla="*/ 0 h 1057"/>
                <a:gd name="T2" fmla="*/ 0 w 2880"/>
                <a:gd name="T3" fmla="*/ 0 h 1057"/>
                <a:gd name="T4" fmla="*/ 0 w 2880"/>
                <a:gd name="T5" fmla="*/ 0 h 1057"/>
                <a:gd name="T6" fmla="*/ 0 w 2880"/>
                <a:gd name="T7" fmla="*/ 0 h 1057"/>
                <a:gd name="T8" fmla="*/ 0 w 2880"/>
                <a:gd name="T9" fmla="*/ 0 h 1057"/>
                <a:gd name="T10" fmla="*/ 0 w 2880"/>
                <a:gd name="T11" fmla="*/ 0 h 1057"/>
                <a:gd name="T12" fmla="*/ 0 w 2880"/>
                <a:gd name="T13" fmla="*/ 0 h 1057"/>
                <a:gd name="T14" fmla="*/ 0 w 2880"/>
                <a:gd name="T15" fmla="*/ 0 h 1057"/>
                <a:gd name="T16" fmla="*/ 0 w 2880"/>
                <a:gd name="T17" fmla="*/ 0 h 10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880" h="1057">
                  <a:moveTo>
                    <a:pt x="0" y="521"/>
                  </a:moveTo>
                  <a:cubicBezTo>
                    <a:pt x="45" y="472"/>
                    <a:pt x="447" y="222"/>
                    <a:pt x="690" y="135"/>
                  </a:cubicBezTo>
                  <a:cubicBezTo>
                    <a:pt x="933" y="48"/>
                    <a:pt x="1204" y="0"/>
                    <a:pt x="1459" y="0"/>
                  </a:cubicBezTo>
                  <a:cubicBezTo>
                    <a:pt x="1714" y="0"/>
                    <a:pt x="1983" y="48"/>
                    <a:pt x="2220" y="135"/>
                  </a:cubicBezTo>
                  <a:cubicBezTo>
                    <a:pt x="2457" y="222"/>
                    <a:pt x="2830" y="458"/>
                    <a:pt x="2880" y="525"/>
                  </a:cubicBezTo>
                  <a:cubicBezTo>
                    <a:pt x="2818" y="581"/>
                    <a:pt x="2494" y="812"/>
                    <a:pt x="2258" y="900"/>
                  </a:cubicBezTo>
                  <a:cubicBezTo>
                    <a:pt x="2022" y="988"/>
                    <a:pt x="1725" y="1049"/>
                    <a:pt x="1466" y="1053"/>
                  </a:cubicBezTo>
                  <a:cubicBezTo>
                    <a:pt x="1207" y="1057"/>
                    <a:pt x="949" y="1011"/>
                    <a:pt x="705" y="922"/>
                  </a:cubicBezTo>
                  <a:cubicBezTo>
                    <a:pt x="461" y="833"/>
                    <a:pt x="41" y="566"/>
                    <a:pt x="0" y="521"/>
                  </a:cubicBezTo>
                  <a:close/>
                </a:path>
              </a:pathLst>
            </a:custGeom>
            <a:solidFill>
              <a:srgbClr val="FFFFFF"/>
            </a:solidFill>
            <a:ln w="19050" cmpd="sng">
              <a:solidFill>
                <a:srgbClr val="000000"/>
              </a:solidFill>
              <a:round/>
              <a:headEnd/>
              <a:tailEnd/>
            </a:ln>
          </p:spPr>
          <p:txBody>
            <a:bodyPr/>
            <a:lstStyle/>
            <a:p>
              <a:endParaRPr lang="zh-CN" altLang="en-US"/>
            </a:p>
          </p:txBody>
        </p:sp>
        <p:sp>
          <p:nvSpPr>
            <p:cNvPr id="27662" name="Line 91">
              <a:extLst>
                <a:ext uri="{FF2B5EF4-FFF2-40B4-BE49-F238E27FC236}">
                  <a16:creationId xmlns:a16="http://schemas.microsoft.com/office/drawing/2014/main" id="{3B118CF2-70E5-4C58-A307-D43BDB8A40D3}"/>
                </a:ext>
              </a:extLst>
            </p:cNvPr>
            <p:cNvSpPr>
              <a:spLocks noChangeShapeType="1"/>
            </p:cNvSpPr>
            <p:nvPr/>
          </p:nvSpPr>
          <p:spPr bwMode="auto">
            <a:xfrm>
              <a:off x="2397" y="2627"/>
              <a:ext cx="184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3" name="Line 92">
              <a:extLst>
                <a:ext uri="{FF2B5EF4-FFF2-40B4-BE49-F238E27FC236}">
                  <a16:creationId xmlns:a16="http://schemas.microsoft.com/office/drawing/2014/main" id="{7F3FA737-E66F-4418-B610-06918A2FE3C4}"/>
                </a:ext>
              </a:extLst>
            </p:cNvPr>
            <p:cNvSpPr>
              <a:spLocks noChangeShapeType="1"/>
            </p:cNvSpPr>
            <p:nvPr/>
          </p:nvSpPr>
          <p:spPr bwMode="auto">
            <a:xfrm>
              <a:off x="2733" y="2627"/>
              <a:ext cx="1134"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4" name="Freeform 93">
              <a:extLst>
                <a:ext uri="{FF2B5EF4-FFF2-40B4-BE49-F238E27FC236}">
                  <a16:creationId xmlns:a16="http://schemas.microsoft.com/office/drawing/2014/main" id="{05631EC4-A77D-452F-BF25-A8993884CDB6}"/>
                </a:ext>
              </a:extLst>
            </p:cNvPr>
            <p:cNvSpPr>
              <a:spLocks/>
            </p:cNvSpPr>
            <p:nvPr/>
          </p:nvSpPr>
          <p:spPr bwMode="auto">
            <a:xfrm>
              <a:off x="2729" y="2527"/>
              <a:ext cx="1149" cy="98"/>
            </a:xfrm>
            <a:custGeom>
              <a:avLst/>
              <a:gdLst>
                <a:gd name="T0" fmla="*/ 0 w 2871"/>
                <a:gd name="T1" fmla="*/ 0 h 243"/>
                <a:gd name="T2" fmla="*/ 0 w 2871"/>
                <a:gd name="T3" fmla="*/ 0 h 243"/>
                <a:gd name="T4" fmla="*/ 0 w 2871"/>
                <a:gd name="T5" fmla="*/ 0 h 243"/>
                <a:gd name="T6" fmla="*/ 0 60000 65536"/>
                <a:gd name="T7" fmla="*/ 0 60000 65536"/>
                <a:gd name="T8" fmla="*/ 0 60000 65536"/>
              </a:gdLst>
              <a:ahLst/>
              <a:cxnLst>
                <a:cxn ang="T6">
                  <a:pos x="T0" y="T1"/>
                </a:cxn>
                <a:cxn ang="T7">
                  <a:pos x="T2" y="T3"/>
                </a:cxn>
                <a:cxn ang="T8">
                  <a:pos x="T4" y="T5"/>
                </a:cxn>
              </a:cxnLst>
              <a:rect l="0" t="0" r="r" b="b"/>
              <a:pathLst>
                <a:path w="2871" h="243">
                  <a:moveTo>
                    <a:pt x="0" y="243"/>
                  </a:moveTo>
                  <a:cubicBezTo>
                    <a:pt x="244" y="202"/>
                    <a:pt x="988" y="0"/>
                    <a:pt x="1466" y="0"/>
                  </a:cubicBezTo>
                  <a:cubicBezTo>
                    <a:pt x="1944" y="0"/>
                    <a:pt x="2578" y="192"/>
                    <a:pt x="2871" y="243"/>
                  </a:cubicBezTo>
                </a:path>
              </a:pathLst>
            </a:custGeom>
            <a:noFill/>
            <a:ln w="1905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65" name="Rectangle 94">
              <a:extLst>
                <a:ext uri="{FF2B5EF4-FFF2-40B4-BE49-F238E27FC236}">
                  <a16:creationId xmlns:a16="http://schemas.microsoft.com/office/drawing/2014/main" id="{FA915665-86ED-4584-845C-FE5B006DCAB6}"/>
                </a:ext>
              </a:extLst>
            </p:cNvPr>
            <p:cNvSpPr>
              <a:spLocks noChangeArrowheads="1"/>
            </p:cNvSpPr>
            <p:nvPr/>
          </p:nvSpPr>
          <p:spPr bwMode="auto">
            <a:xfrm>
              <a:off x="3277" y="2836"/>
              <a:ext cx="84" cy="166"/>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7666" name="Rectangle 95">
              <a:extLst>
                <a:ext uri="{FF2B5EF4-FFF2-40B4-BE49-F238E27FC236}">
                  <a16:creationId xmlns:a16="http://schemas.microsoft.com/office/drawing/2014/main" id="{49A42174-E68E-46A4-AFAE-19A9B44AD820}"/>
                </a:ext>
              </a:extLst>
            </p:cNvPr>
            <p:cNvSpPr>
              <a:spLocks noChangeArrowheads="1"/>
            </p:cNvSpPr>
            <p:nvPr/>
          </p:nvSpPr>
          <p:spPr bwMode="auto">
            <a:xfrm>
              <a:off x="3273" y="2252"/>
              <a:ext cx="84" cy="166"/>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7667" name="Rectangle 96">
              <a:extLst>
                <a:ext uri="{FF2B5EF4-FFF2-40B4-BE49-F238E27FC236}">
                  <a16:creationId xmlns:a16="http://schemas.microsoft.com/office/drawing/2014/main" id="{D71DE717-658A-4218-BA22-2710767C2E2A}"/>
                </a:ext>
              </a:extLst>
            </p:cNvPr>
            <p:cNvSpPr>
              <a:spLocks noChangeArrowheads="1"/>
            </p:cNvSpPr>
            <p:nvPr/>
          </p:nvSpPr>
          <p:spPr bwMode="auto">
            <a:xfrm>
              <a:off x="3281" y="2824"/>
              <a:ext cx="77" cy="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7668" name="Rectangle 97">
              <a:extLst>
                <a:ext uri="{FF2B5EF4-FFF2-40B4-BE49-F238E27FC236}">
                  <a16:creationId xmlns:a16="http://schemas.microsoft.com/office/drawing/2014/main" id="{F04336F7-DF44-48F1-8083-E50CAAF89ED0}"/>
                </a:ext>
              </a:extLst>
            </p:cNvPr>
            <p:cNvSpPr>
              <a:spLocks noChangeArrowheads="1"/>
            </p:cNvSpPr>
            <p:nvPr/>
          </p:nvSpPr>
          <p:spPr bwMode="auto">
            <a:xfrm>
              <a:off x="3276" y="2413"/>
              <a:ext cx="77" cy="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7669" name="Line 98">
              <a:extLst>
                <a:ext uri="{FF2B5EF4-FFF2-40B4-BE49-F238E27FC236}">
                  <a16:creationId xmlns:a16="http://schemas.microsoft.com/office/drawing/2014/main" id="{5F6CC609-3B17-4EF2-AD68-165B9F352C85}"/>
                </a:ext>
              </a:extLst>
            </p:cNvPr>
            <p:cNvSpPr>
              <a:spLocks noChangeShapeType="1"/>
            </p:cNvSpPr>
            <p:nvPr/>
          </p:nvSpPr>
          <p:spPr bwMode="auto">
            <a:xfrm>
              <a:off x="3363" y="2417"/>
              <a:ext cx="88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0" name="Line 99">
              <a:extLst>
                <a:ext uri="{FF2B5EF4-FFF2-40B4-BE49-F238E27FC236}">
                  <a16:creationId xmlns:a16="http://schemas.microsoft.com/office/drawing/2014/main" id="{03E575CD-B703-4BDE-8AFD-A424DEEC76D6}"/>
                </a:ext>
              </a:extLst>
            </p:cNvPr>
            <p:cNvSpPr>
              <a:spLocks noChangeShapeType="1"/>
            </p:cNvSpPr>
            <p:nvPr/>
          </p:nvSpPr>
          <p:spPr bwMode="auto">
            <a:xfrm flipH="1" flipV="1">
              <a:off x="2397" y="2525"/>
              <a:ext cx="8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1" name="Text Box 100">
              <a:extLst>
                <a:ext uri="{FF2B5EF4-FFF2-40B4-BE49-F238E27FC236}">
                  <a16:creationId xmlns:a16="http://schemas.microsoft.com/office/drawing/2014/main" id="{0990B2FE-65DA-4033-8BD5-53BE594C5F8F}"/>
                </a:ext>
              </a:extLst>
            </p:cNvPr>
            <p:cNvSpPr txBox="1">
              <a:spLocks noChangeArrowheads="1"/>
            </p:cNvSpPr>
            <p:nvPr/>
          </p:nvSpPr>
          <p:spPr bwMode="auto">
            <a:xfrm>
              <a:off x="2312" y="2455"/>
              <a:ext cx="21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h</a:t>
              </a:r>
              <a:r>
                <a:rPr kumimoji="1" lang="en-US" altLang="zh-CN" sz="1400" b="1" baseline="-25000">
                  <a:solidFill>
                    <a:srgbClr val="000000"/>
                  </a:solidFill>
                  <a:latin typeface="Times New Roman" panose="02020603050405020304" pitchFamily="18" charset="0"/>
                </a:rPr>
                <a:t>max</a:t>
              </a:r>
              <a:endParaRPr kumimoji="1" lang="en-US" altLang="zh-CN" sz="1200" baseline="-25000">
                <a:solidFill>
                  <a:srgbClr val="000000"/>
                </a:solidFill>
                <a:latin typeface="Times New Roman" panose="02020603050405020304" pitchFamily="18" charset="0"/>
              </a:endParaRPr>
            </a:p>
          </p:txBody>
        </p:sp>
        <p:sp>
          <p:nvSpPr>
            <p:cNvPr id="27672" name="Text Box 101">
              <a:extLst>
                <a:ext uri="{FF2B5EF4-FFF2-40B4-BE49-F238E27FC236}">
                  <a16:creationId xmlns:a16="http://schemas.microsoft.com/office/drawing/2014/main" id="{913712FB-07FA-4C0C-8A38-961C464A2E24}"/>
                </a:ext>
              </a:extLst>
            </p:cNvPr>
            <p:cNvSpPr txBox="1">
              <a:spLocks noChangeArrowheads="1"/>
            </p:cNvSpPr>
            <p:nvPr/>
          </p:nvSpPr>
          <p:spPr bwMode="auto">
            <a:xfrm>
              <a:off x="4087" y="2454"/>
              <a:ext cx="131"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d</a:t>
              </a:r>
              <a:r>
                <a:rPr kumimoji="1" lang="en-US" altLang="zh-CN" sz="1400" b="1" baseline="-25000">
                  <a:solidFill>
                    <a:srgbClr val="000000"/>
                  </a:solidFill>
                  <a:latin typeface="Times New Roman" panose="02020603050405020304" pitchFamily="18" charset="0"/>
                </a:rPr>
                <a:t>0</a:t>
              </a:r>
              <a:endParaRPr kumimoji="1" lang="en-US" altLang="zh-CN" sz="1200" baseline="-25000">
                <a:solidFill>
                  <a:srgbClr val="000000"/>
                </a:solidFill>
                <a:latin typeface="Times New Roman" panose="02020603050405020304" pitchFamily="18" charset="0"/>
              </a:endParaRPr>
            </a:p>
          </p:txBody>
        </p:sp>
        <p:sp>
          <p:nvSpPr>
            <p:cNvPr id="27673" name="Text Box 102">
              <a:extLst>
                <a:ext uri="{FF2B5EF4-FFF2-40B4-BE49-F238E27FC236}">
                  <a16:creationId xmlns:a16="http://schemas.microsoft.com/office/drawing/2014/main" id="{9BFDA6CB-FE29-4BDF-A277-FB05B2EE1B11}"/>
                </a:ext>
              </a:extLst>
            </p:cNvPr>
            <p:cNvSpPr txBox="1">
              <a:spLocks noChangeArrowheads="1"/>
            </p:cNvSpPr>
            <p:nvPr/>
          </p:nvSpPr>
          <p:spPr bwMode="auto">
            <a:xfrm>
              <a:off x="2694" y="2064"/>
              <a:ext cx="13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C</a:t>
              </a:r>
              <a:r>
                <a:rPr kumimoji="1" lang="en-US" altLang="zh-CN" sz="1400" b="1" baseline="-25000">
                  <a:solidFill>
                    <a:srgbClr val="000000"/>
                  </a:solidFill>
                  <a:latin typeface="Times New Roman" panose="02020603050405020304" pitchFamily="18" charset="0"/>
                </a:rPr>
                <a:t>A</a:t>
              </a:r>
              <a:endParaRPr kumimoji="1" lang="en-US" altLang="zh-CN" sz="1400" baseline="-25000">
                <a:solidFill>
                  <a:srgbClr val="000000"/>
                </a:solidFill>
                <a:latin typeface="Times New Roman" panose="02020603050405020304" pitchFamily="18" charset="0"/>
              </a:endParaRPr>
            </a:p>
          </p:txBody>
        </p:sp>
        <p:sp>
          <p:nvSpPr>
            <p:cNvPr id="27674" name="Text Box 103">
              <a:extLst>
                <a:ext uri="{FF2B5EF4-FFF2-40B4-BE49-F238E27FC236}">
                  <a16:creationId xmlns:a16="http://schemas.microsoft.com/office/drawing/2014/main" id="{923A9926-9A56-401B-8B14-0200DE96D7AA}"/>
                </a:ext>
              </a:extLst>
            </p:cNvPr>
            <p:cNvSpPr txBox="1">
              <a:spLocks noChangeArrowheads="1"/>
            </p:cNvSpPr>
            <p:nvPr/>
          </p:nvSpPr>
          <p:spPr bwMode="auto">
            <a:xfrm>
              <a:off x="3741" y="2075"/>
              <a:ext cx="1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C</a:t>
              </a:r>
              <a:r>
                <a:rPr kumimoji="1" lang="en-US" altLang="zh-CN" sz="1400" b="1" baseline="-25000">
                  <a:solidFill>
                    <a:srgbClr val="000000"/>
                  </a:solidFill>
                  <a:latin typeface="Times New Roman" panose="02020603050405020304" pitchFamily="18" charset="0"/>
                </a:rPr>
                <a:t>L</a:t>
              </a:r>
            </a:p>
          </p:txBody>
        </p:sp>
        <p:sp>
          <p:nvSpPr>
            <p:cNvPr id="27675" name="Text Box 104">
              <a:extLst>
                <a:ext uri="{FF2B5EF4-FFF2-40B4-BE49-F238E27FC236}">
                  <a16:creationId xmlns:a16="http://schemas.microsoft.com/office/drawing/2014/main" id="{22B727A6-66CB-4A80-A537-3584370C4C1C}"/>
                </a:ext>
              </a:extLst>
            </p:cNvPr>
            <p:cNvSpPr txBox="1">
              <a:spLocks noChangeArrowheads="1"/>
            </p:cNvSpPr>
            <p:nvPr/>
          </p:nvSpPr>
          <p:spPr bwMode="auto">
            <a:xfrm>
              <a:off x="3741" y="3064"/>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C</a:t>
              </a:r>
              <a:r>
                <a:rPr kumimoji="1" lang="en-US" altLang="zh-CN" sz="1400" b="1" baseline="-25000">
                  <a:solidFill>
                    <a:srgbClr val="000000"/>
                  </a:solidFill>
                  <a:latin typeface="Times New Roman" panose="02020603050405020304" pitchFamily="18" charset="0"/>
                </a:rPr>
                <a:t>H</a:t>
              </a:r>
            </a:p>
          </p:txBody>
        </p:sp>
        <p:sp>
          <p:nvSpPr>
            <p:cNvPr id="27676" name="Text Box 105">
              <a:extLst>
                <a:ext uri="{FF2B5EF4-FFF2-40B4-BE49-F238E27FC236}">
                  <a16:creationId xmlns:a16="http://schemas.microsoft.com/office/drawing/2014/main" id="{93D63876-EDD0-4CAA-85F8-F2B1BEB41A58}"/>
                </a:ext>
              </a:extLst>
            </p:cNvPr>
            <p:cNvSpPr txBox="1">
              <a:spLocks noChangeArrowheads="1"/>
            </p:cNvSpPr>
            <p:nvPr/>
          </p:nvSpPr>
          <p:spPr bwMode="auto">
            <a:xfrm>
              <a:off x="2789" y="3064"/>
              <a:ext cx="139"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C</a:t>
              </a:r>
              <a:r>
                <a:rPr kumimoji="1" lang="en-US" altLang="zh-CN" sz="1400" b="1" baseline="-25000">
                  <a:solidFill>
                    <a:srgbClr val="000000"/>
                  </a:solidFill>
                  <a:latin typeface="Times New Roman" panose="02020603050405020304" pitchFamily="18" charset="0"/>
                </a:rPr>
                <a:t>0</a:t>
              </a:r>
            </a:p>
          </p:txBody>
        </p:sp>
        <p:sp>
          <p:nvSpPr>
            <p:cNvPr id="27677" name="Freeform 106">
              <a:extLst>
                <a:ext uri="{FF2B5EF4-FFF2-40B4-BE49-F238E27FC236}">
                  <a16:creationId xmlns:a16="http://schemas.microsoft.com/office/drawing/2014/main" id="{987F3ABD-8BAF-4ECA-9469-6B5B490CCBA2}"/>
                </a:ext>
              </a:extLst>
            </p:cNvPr>
            <p:cNvSpPr>
              <a:spLocks/>
            </p:cNvSpPr>
            <p:nvPr/>
          </p:nvSpPr>
          <p:spPr bwMode="auto">
            <a:xfrm>
              <a:off x="2733" y="2190"/>
              <a:ext cx="294" cy="437"/>
            </a:xfrm>
            <a:custGeom>
              <a:avLst/>
              <a:gdLst>
                <a:gd name="T0" fmla="*/ 0 w 735"/>
                <a:gd name="T1" fmla="*/ 0 h 1092"/>
                <a:gd name="T2" fmla="*/ 0 w 735"/>
                <a:gd name="T3" fmla="*/ 0 h 1092"/>
                <a:gd name="T4" fmla="*/ 0 w 735"/>
                <a:gd name="T5" fmla="*/ 0 h 1092"/>
                <a:gd name="T6" fmla="*/ 0 60000 65536"/>
                <a:gd name="T7" fmla="*/ 0 60000 65536"/>
                <a:gd name="T8" fmla="*/ 0 60000 65536"/>
              </a:gdLst>
              <a:ahLst/>
              <a:cxnLst>
                <a:cxn ang="T6">
                  <a:pos x="T0" y="T1"/>
                </a:cxn>
                <a:cxn ang="T7">
                  <a:pos x="T2" y="T3"/>
                </a:cxn>
                <a:cxn ang="T8">
                  <a:pos x="T4" y="T5"/>
                </a:cxn>
              </a:cxnLst>
              <a:rect l="0" t="0" r="r" b="b"/>
              <a:pathLst>
                <a:path w="735" h="1092">
                  <a:moveTo>
                    <a:pt x="525" y="1092"/>
                  </a:moveTo>
                  <a:lnTo>
                    <a:pt x="0" y="0"/>
                  </a:lnTo>
                  <a:lnTo>
                    <a:pt x="735" y="936"/>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78" name="Freeform 107">
              <a:extLst>
                <a:ext uri="{FF2B5EF4-FFF2-40B4-BE49-F238E27FC236}">
                  <a16:creationId xmlns:a16="http://schemas.microsoft.com/office/drawing/2014/main" id="{F0FD009D-DBBD-4D26-8F4E-533DAE895B06}"/>
                </a:ext>
              </a:extLst>
            </p:cNvPr>
            <p:cNvSpPr>
              <a:spLocks/>
            </p:cNvSpPr>
            <p:nvPr/>
          </p:nvSpPr>
          <p:spPr bwMode="auto">
            <a:xfrm>
              <a:off x="3569" y="2190"/>
              <a:ext cx="214" cy="375"/>
            </a:xfrm>
            <a:custGeom>
              <a:avLst/>
              <a:gdLst>
                <a:gd name="T0" fmla="*/ 0 w 534"/>
                <a:gd name="T1" fmla="*/ 0 h 936"/>
                <a:gd name="T2" fmla="*/ 0 w 534"/>
                <a:gd name="T3" fmla="*/ 0 h 936"/>
                <a:gd name="T4" fmla="*/ 0 w 534"/>
                <a:gd name="T5" fmla="*/ 0 h 936"/>
                <a:gd name="T6" fmla="*/ 0 60000 65536"/>
                <a:gd name="T7" fmla="*/ 0 60000 65536"/>
                <a:gd name="T8" fmla="*/ 0 60000 65536"/>
              </a:gdLst>
              <a:ahLst/>
              <a:cxnLst>
                <a:cxn ang="T6">
                  <a:pos x="T0" y="T1"/>
                </a:cxn>
                <a:cxn ang="T7">
                  <a:pos x="T2" y="T3"/>
                </a:cxn>
                <a:cxn ang="T8">
                  <a:pos x="T4" y="T5"/>
                </a:cxn>
              </a:cxnLst>
              <a:rect l="0" t="0" r="r" b="b"/>
              <a:pathLst>
                <a:path w="534" h="936">
                  <a:moveTo>
                    <a:pt x="114" y="936"/>
                  </a:moveTo>
                  <a:lnTo>
                    <a:pt x="534" y="0"/>
                  </a:lnTo>
                  <a:lnTo>
                    <a:pt x="0" y="671"/>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79" name="Freeform 108">
              <a:extLst>
                <a:ext uri="{FF2B5EF4-FFF2-40B4-BE49-F238E27FC236}">
                  <a16:creationId xmlns:a16="http://schemas.microsoft.com/office/drawing/2014/main" id="{C4D69FA2-677D-4ED6-88A0-F92C4AA7F0AF}"/>
                </a:ext>
              </a:extLst>
            </p:cNvPr>
            <p:cNvSpPr>
              <a:spLocks/>
            </p:cNvSpPr>
            <p:nvPr/>
          </p:nvSpPr>
          <p:spPr bwMode="auto">
            <a:xfrm>
              <a:off x="3521" y="2561"/>
              <a:ext cx="262" cy="503"/>
            </a:xfrm>
            <a:custGeom>
              <a:avLst/>
              <a:gdLst>
                <a:gd name="T0" fmla="*/ 0 w 654"/>
                <a:gd name="T1" fmla="*/ 0 h 1258"/>
                <a:gd name="T2" fmla="*/ 0 w 654"/>
                <a:gd name="T3" fmla="*/ 0 h 1258"/>
                <a:gd name="T4" fmla="*/ 0 w 654"/>
                <a:gd name="T5" fmla="*/ 0 h 1258"/>
                <a:gd name="T6" fmla="*/ 0 60000 65536"/>
                <a:gd name="T7" fmla="*/ 0 60000 65536"/>
                <a:gd name="T8" fmla="*/ 0 60000 65536"/>
              </a:gdLst>
              <a:ahLst/>
              <a:cxnLst>
                <a:cxn ang="T6">
                  <a:pos x="T0" y="T1"/>
                </a:cxn>
                <a:cxn ang="T7">
                  <a:pos x="T2" y="T3"/>
                </a:cxn>
                <a:cxn ang="T8">
                  <a:pos x="T4" y="T5"/>
                </a:cxn>
              </a:cxnLst>
              <a:rect l="0" t="0" r="r" b="b"/>
              <a:pathLst>
                <a:path w="654" h="1258">
                  <a:moveTo>
                    <a:pt x="128" y="0"/>
                  </a:moveTo>
                  <a:lnTo>
                    <a:pt x="654" y="1258"/>
                  </a:lnTo>
                  <a:lnTo>
                    <a:pt x="0" y="607"/>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80" name="Freeform 109">
              <a:extLst>
                <a:ext uri="{FF2B5EF4-FFF2-40B4-BE49-F238E27FC236}">
                  <a16:creationId xmlns:a16="http://schemas.microsoft.com/office/drawing/2014/main" id="{4D706C99-DC48-440C-9E72-C6C804B38FEA}"/>
                </a:ext>
              </a:extLst>
            </p:cNvPr>
            <p:cNvSpPr>
              <a:spLocks/>
            </p:cNvSpPr>
            <p:nvPr/>
          </p:nvSpPr>
          <p:spPr bwMode="auto">
            <a:xfrm>
              <a:off x="2859" y="2627"/>
              <a:ext cx="210" cy="437"/>
            </a:xfrm>
            <a:custGeom>
              <a:avLst/>
              <a:gdLst>
                <a:gd name="T0" fmla="*/ 0 w 525"/>
                <a:gd name="T1" fmla="*/ 0 h 1092"/>
                <a:gd name="T2" fmla="*/ 0 w 525"/>
                <a:gd name="T3" fmla="*/ 0 h 1092"/>
                <a:gd name="T4" fmla="*/ 0 w 525"/>
                <a:gd name="T5" fmla="*/ 0 h 1092"/>
                <a:gd name="T6" fmla="*/ 0 60000 65536"/>
                <a:gd name="T7" fmla="*/ 0 60000 65536"/>
                <a:gd name="T8" fmla="*/ 0 60000 65536"/>
              </a:gdLst>
              <a:ahLst/>
              <a:cxnLst>
                <a:cxn ang="T6">
                  <a:pos x="T0" y="T1"/>
                </a:cxn>
                <a:cxn ang="T7">
                  <a:pos x="T2" y="T3"/>
                </a:cxn>
                <a:cxn ang="T8">
                  <a:pos x="T4" y="T5"/>
                </a:cxn>
              </a:cxnLst>
              <a:rect l="0" t="0" r="r" b="b"/>
              <a:pathLst>
                <a:path w="525" h="1092">
                  <a:moveTo>
                    <a:pt x="315" y="0"/>
                  </a:moveTo>
                  <a:lnTo>
                    <a:pt x="0" y="1092"/>
                  </a:lnTo>
                  <a:lnTo>
                    <a:pt x="525" y="468"/>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81" name="Text Box 110">
              <a:extLst>
                <a:ext uri="{FF2B5EF4-FFF2-40B4-BE49-F238E27FC236}">
                  <a16:creationId xmlns:a16="http://schemas.microsoft.com/office/drawing/2014/main" id="{068F2870-9D88-4460-A45C-6A4DB536743A}"/>
                </a:ext>
              </a:extLst>
            </p:cNvPr>
            <p:cNvSpPr txBox="1">
              <a:spLocks noChangeArrowheads="1"/>
            </p:cNvSpPr>
            <p:nvPr/>
          </p:nvSpPr>
          <p:spPr bwMode="auto">
            <a:xfrm>
              <a:off x="3274" y="3064"/>
              <a:ext cx="18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P</a:t>
              </a:r>
              <a:r>
                <a:rPr kumimoji="1" lang="en-US" altLang="zh-CN" sz="1400" b="1" baseline="-25000">
                  <a:solidFill>
                    <a:srgbClr val="000000"/>
                  </a:solidFill>
                  <a:latin typeface="Times New Roman" panose="02020603050405020304" pitchFamily="18" charset="0"/>
                </a:rPr>
                <a:t>H</a:t>
              </a:r>
            </a:p>
          </p:txBody>
        </p:sp>
        <p:sp>
          <p:nvSpPr>
            <p:cNvPr id="27682" name="Text Box 111">
              <a:extLst>
                <a:ext uri="{FF2B5EF4-FFF2-40B4-BE49-F238E27FC236}">
                  <a16:creationId xmlns:a16="http://schemas.microsoft.com/office/drawing/2014/main" id="{A4B358BC-66EC-4F52-980F-5139C46350BF}"/>
                </a:ext>
              </a:extLst>
            </p:cNvPr>
            <p:cNvSpPr txBox="1">
              <a:spLocks noChangeArrowheads="1"/>
            </p:cNvSpPr>
            <p:nvPr/>
          </p:nvSpPr>
          <p:spPr bwMode="auto">
            <a:xfrm>
              <a:off x="3253" y="2065"/>
              <a:ext cx="1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P</a:t>
              </a:r>
              <a:r>
                <a:rPr kumimoji="1" lang="en-US" altLang="zh-CN" sz="1400" b="1" baseline="-25000">
                  <a:solidFill>
                    <a:srgbClr val="000000"/>
                  </a:solidFill>
                  <a:latin typeface="Times New Roman" panose="02020603050405020304" pitchFamily="18" charset="0"/>
                </a:rPr>
                <a:t>L</a:t>
              </a:r>
              <a:endParaRPr kumimoji="1" lang="en-US" altLang="zh-CN" sz="1200" baseline="-25000">
                <a:solidFill>
                  <a:srgbClr val="000000"/>
                </a:solidFill>
                <a:latin typeface="Times New Roman" panose="02020603050405020304" pitchFamily="18" charset="0"/>
              </a:endParaRPr>
            </a:p>
          </p:txBody>
        </p:sp>
        <p:sp>
          <p:nvSpPr>
            <p:cNvPr id="27683" name="Line 112">
              <a:extLst>
                <a:ext uri="{FF2B5EF4-FFF2-40B4-BE49-F238E27FC236}">
                  <a16:creationId xmlns:a16="http://schemas.microsoft.com/office/drawing/2014/main" id="{ADB96AF2-E75F-4307-B6D4-44173B6762CF}"/>
                </a:ext>
              </a:extLst>
            </p:cNvPr>
            <p:cNvSpPr>
              <a:spLocks noChangeShapeType="1"/>
            </p:cNvSpPr>
            <p:nvPr/>
          </p:nvSpPr>
          <p:spPr bwMode="auto">
            <a:xfrm flipV="1">
              <a:off x="3321" y="2689"/>
              <a:ext cx="0" cy="375"/>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84" name="Freeform 113">
              <a:extLst>
                <a:ext uri="{FF2B5EF4-FFF2-40B4-BE49-F238E27FC236}">
                  <a16:creationId xmlns:a16="http://schemas.microsoft.com/office/drawing/2014/main" id="{25242A8A-7F6A-4D95-A3DB-01F7D55FADF8}"/>
                </a:ext>
              </a:extLst>
            </p:cNvPr>
            <p:cNvSpPr>
              <a:spLocks/>
            </p:cNvSpPr>
            <p:nvPr/>
          </p:nvSpPr>
          <p:spPr bwMode="auto">
            <a:xfrm>
              <a:off x="3317" y="2190"/>
              <a:ext cx="1" cy="299"/>
            </a:xfrm>
            <a:custGeom>
              <a:avLst/>
              <a:gdLst>
                <a:gd name="T0" fmla="*/ 1 w 1"/>
                <a:gd name="T1" fmla="*/ 0 h 746"/>
                <a:gd name="T2" fmla="*/ 0 w 1"/>
                <a:gd name="T3" fmla="*/ 0 h 746"/>
                <a:gd name="T4" fmla="*/ 0 60000 65536"/>
                <a:gd name="T5" fmla="*/ 0 60000 65536"/>
              </a:gdLst>
              <a:ahLst/>
              <a:cxnLst>
                <a:cxn ang="T4">
                  <a:pos x="T0" y="T1"/>
                </a:cxn>
                <a:cxn ang="T5">
                  <a:pos x="T2" y="T3"/>
                </a:cxn>
              </a:cxnLst>
              <a:rect l="0" t="0" r="r" b="b"/>
              <a:pathLst>
                <a:path w="1" h="746">
                  <a:moveTo>
                    <a:pt x="1" y="0"/>
                  </a:moveTo>
                  <a:lnTo>
                    <a:pt x="0" y="746"/>
                  </a:lnTo>
                </a:path>
              </a:pathLst>
            </a:custGeom>
            <a:noFill/>
            <a:ln w="1270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85" name="Line 114">
              <a:extLst>
                <a:ext uri="{FF2B5EF4-FFF2-40B4-BE49-F238E27FC236}">
                  <a16:creationId xmlns:a16="http://schemas.microsoft.com/office/drawing/2014/main" id="{8ED76D1E-A8D0-4967-8564-C6741014644C}"/>
                </a:ext>
              </a:extLst>
            </p:cNvPr>
            <p:cNvSpPr>
              <a:spLocks noChangeShapeType="1"/>
            </p:cNvSpPr>
            <p:nvPr/>
          </p:nvSpPr>
          <p:spPr bwMode="auto">
            <a:xfrm>
              <a:off x="2459" y="2393"/>
              <a:ext cx="0" cy="12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7686" name="Line 115">
              <a:extLst>
                <a:ext uri="{FF2B5EF4-FFF2-40B4-BE49-F238E27FC236}">
                  <a16:creationId xmlns:a16="http://schemas.microsoft.com/office/drawing/2014/main" id="{EABBB879-9A8A-4C4B-B58B-8CFF579B7937}"/>
                </a:ext>
              </a:extLst>
            </p:cNvPr>
            <p:cNvSpPr>
              <a:spLocks noChangeShapeType="1"/>
            </p:cNvSpPr>
            <p:nvPr/>
          </p:nvSpPr>
          <p:spPr bwMode="auto">
            <a:xfrm flipV="1">
              <a:off x="2462" y="2627"/>
              <a:ext cx="0" cy="12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7687" name="Line 116">
              <a:extLst>
                <a:ext uri="{FF2B5EF4-FFF2-40B4-BE49-F238E27FC236}">
                  <a16:creationId xmlns:a16="http://schemas.microsoft.com/office/drawing/2014/main" id="{6CB23C5D-AD76-4099-9F6E-0289F91EE258}"/>
                </a:ext>
              </a:extLst>
            </p:cNvPr>
            <p:cNvSpPr>
              <a:spLocks noChangeShapeType="1"/>
            </p:cNvSpPr>
            <p:nvPr/>
          </p:nvSpPr>
          <p:spPr bwMode="auto">
            <a:xfrm>
              <a:off x="4151" y="2284"/>
              <a:ext cx="0" cy="12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7688" name="Line 117">
              <a:extLst>
                <a:ext uri="{FF2B5EF4-FFF2-40B4-BE49-F238E27FC236}">
                  <a16:creationId xmlns:a16="http://schemas.microsoft.com/office/drawing/2014/main" id="{3590E334-146C-4F63-A54B-83A3D63F4CFB}"/>
                </a:ext>
              </a:extLst>
            </p:cNvPr>
            <p:cNvSpPr>
              <a:spLocks noChangeShapeType="1"/>
            </p:cNvSpPr>
            <p:nvPr/>
          </p:nvSpPr>
          <p:spPr bwMode="auto">
            <a:xfrm flipV="1">
              <a:off x="4155" y="2627"/>
              <a:ext cx="0" cy="12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7689" name="Freeform 118">
              <a:extLst>
                <a:ext uri="{FF2B5EF4-FFF2-40B4-BE49-F238E27FC236}">
                  <a16:creationId xmlns:a16="http://schemas.microsoft.com/office/drawing/2014/main" id="{B1AE8335-CBF6-4F95-B347-D3CACA66C97E}"/>
                </a:ext>
              </a:extLst>
            </p:cNvPr>
            <p:cNvSpPr>
              <a:spLocks/>
            </p:cNvSpPr>
            <p:nvPr/>
          </p:nvSpPr>
          <p:spPr bwMode="auto">
            <a:xfrm flipV="1">
              <a:off x="2712" y="2635"/>
              <a:ext cx="1149" cy="98"/>
            </a:xfrm>
            <a:custGeom>
              <a:avLst/>
              <a:gdLst>
                <a:gd name="T0" fmla="*/ 0 w 2871"/>
                <a:gd name="T1" fmla="*/ 0 h 243"/>
                <a:gd name="T2" fmla="*/ 0 w 2871"/>
                <a:gd name="T3" fmla="*/ 0 h 243"/>
                <a:gd name="T4" fmla="*/ 0 w 2871"/>
                <a:gd name="T5" fmla="*/ 0 h 243"/>
                <a:gd name="T6" fmla="*/ 0 60000 65536"/>
                <a:gd name="T7" fmla="*/ 0 60000 65536"/>
                <a:gd name="T8" fmla="*/ 0 60000 65536"/>
              </a:gdLst>
              <a:ahLst/>
              <a:cxnLst>
                <a:cxn ang="T6">
                  <a:pos x="T0" y="T1"/>
                </a:cxn>
                <a:cxn ang="T7">
                  <a:pos x="T2" y="T3"/>
                </a:cxn>
                <a:cxn ang="T8">
                  <a:pos x="T4" y="T5"/>
                </a:cxn>
              </a:cxnLst>
              <a:rect l="0" t="0" r="r" b="b"/>
              <a:pathLst>
                <a:path w="2871" h="243">
                  <a:moveTo>
                    <a:pt x="0" y="243"/>
                  </a:moveTo>
                  <a:cubicBezTo>
                    <a:pt x="244" y="202"/>
                    <a:pt x="988" y="0"/>
                    <a:pt x="1466" y="0"/>
                  </a:cubicBezTo>
                  <a:cubicBezTo>
                    <a:pt x="1944" y="0"/>
                    <a:pt x="2578" y="192"/>
                    <a:pt x="2871" y="243"/>
                  </a:cubicBezTo>
                </a:path>
              </a:pathLst>
            </a:custGeom>
            <a:noFill/>
            <a:ln w="9525" cap="flat" cmpd="sng">
              <a:solidFill>
                <a:srgbClr val="33CCCC"/>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27657" name="Rectangle 122">
            <a:extLst>
              <a:ext uri="{FF2B5EF4-FFF2-40B4-BE49-F238E27FC236}">
                <a16:creationId xmlns:a16="http://schemas.microsoft.com/office/drawing/2014/main" id="{87740851-A706-423B-881C-DCC7D473442E}"/>
              </a:ext>
            </a:extLst>
          </p:cNvPr>
          <p:cNvSpPr>
            <a:spLocks noChangeArrowheads="1"/>
          </p:cNvSpPr>
          <p:nvPr/>
        </p:nvSpPr>
        <p:spPr bwMode="auto">
          <a:xfrm>
            <a:off x="4356100" y="981075"/>
            <a:ext cx="4608513" cy="2646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20000"/>
              </a:lnSpc>
              <a:spcBef>
                <a:spcPct val="0"/>
              </a:spcBef>
              <a:buFontTx/>
              <a:buNone/>
            </a:pPr>
            <a:r>
              <a:rPr kumimoji="1" lang="en-US" altLang="zh-CN" sz="2000" b="1" dirty="0">
                <a:latin typeface="微软雅黑" panose="020B0503020204020204" pitchFamily="34" charset="-122"/>
                <a:ea typeface="微软雅黑" panose="020B0503020204020204" pitchFamily="34" charset="-122"/>
              </a:rPr>
              <a:t> ●</a:t>
            </a:r>
            <a:r>
              <a:rPr kumimoji="1" lang="zh-CN" altLang="en-US" sz="2000" b="1" dirty="0">
                <a:latin typeface="微软雅黑" panose="020B0503020204020204" pitchFamily="34" charset="-122"/>
                <a:ea typeface="微软雅黑" panose="020B0503020204020204" pitchFamily="34" charset="-122"/>
              </a:rPr>
              <a:t>压力</a:t>
            </a:r>
            <a:r>
              <a:rPr kumimoji="1" lang="en-US" altLang="zh-CN" sz="2000" b="1" i="1" dirty="0">
                <a:latin typeface="微软雅黑" panose="020B0503020204020204" pitchFamily="34" charset="-122"/>
                <a:ea typeface="微软雅黑" panose="020B0503020204020204" pitchFamily="34" charset="-122"/>
              </a:rPr>
              <a:t>P</a:t>
            </a:r>
            <a:r>
              <a:rPr kumimoji="1" lang="en-US" altLang="zh-CN" sz="2000" b="1" baseline="-25000" dirty="0">
                <a:latin typeface="微软雅黑" panose="020B0503020204020204" pitchFamily="34" charset="-122"/>
                <a:ea typeface="微软雅黑" panose="020B0503020204020204" pitchFamily="34" charset="-122"/>
              </a:rPr>
              <a:t>H</a:t>
            </a:r>
            <a:r>
              <a:rPr kumimoji="1" lang="en-US" altLang="zh-CN" sz="2000" b="1" dirty="0">
                <a:latin typeface="微软雅黑" panose="020B0503020204020204" pitchFamily="34" charset="-122"/>
                <a:ea typeface="微软雅黑" panose="020B0503020204020204" pitchFamily="34" charset="-122"/>
              </a:rPr>
              <a:t>=</a:t>
            </a:r>
            <a:r>
              <a:rPr kumimoji="1" lang="en-US" altLang="zh-CN" sz="2000" b="1" i="1" dirty="0">
                <a:latin typeface="微软雅黑" panose="020B0503020204020204" pitchFamily="34" charset="-122"/>
                <a:ea typeface="微软雅黑" panose="020B0503020204020204" pitchFamily="34" charset="-122"/>
              </a:rPr>
              <a:t>P</a:t>
            </a:r>
            <a:r>
              <a:rPr kumimoji="1" lang="en-US" altLang="zh-CN" sz="2000" b="1" baseline="-25000" dirty="0">
                <a:latin typeface="微软雅黑" panose="020B0503020204020204" pitchFamily="34" charset="-122"/>
                <a:ea typeface="微软雅黑" panose="020B0503020204020204" pitchFamily="34" charset="-122"/>
              </a:rPr>
              <a:t>L</a:t>
            </a:r>
            <a:r>
              <a:rPr kumimoji="1" lang="zh-CN" altLang="en-US" sz="2000" b="1" dirty="0">
                <a:latin typeface="微软雅黑" panose="020B0503020204020204" pitchFamily="34" charset="-122"/>
                <a:ea typeface="微软雅黑" panose="020B0503020204020204" pitchFamily="34" charset="-122"/>
              </a:rPr>
              <a:t>时中心膜片处于平直状态，膜片两侧电容均为</a:t>
            </a:r>
            <a:r>
              <a:rPr kumimoji="1" lang="en-US" altLang="zh-CN" sz="2000" b="1" i="1" dirty="0">
                <a:latin typeface="微软雅黑" panose="020B0503020204020204" pitchFamily="34" charset="-122"/>
                <a:ea typeface="微软雅黑" panose="020B0503020204020204" pitchFamily="34" charset="-122"/>
              </a:rPr>
              <a:t>C</a:t>
            </a:r>
            <a:r>
              <a:rPr kumimoji="1" lang="en-US" altLang="zh-CN" sz="2000" b="1" baseline="-25000" dirty="0">
                <a:latin typeface="微软雅黑" panose="020B0503020204020204" pitchFamily="34" charset="-122"/>
                <a:ea typeface="微软雅黑" panose="020B0503020204020204" pitchFamily="34" charset="-122"/>
              </a:rPr>
              <a:t>0</a:t>
            </a:r>
            <a:r>
              <a:rPr kumimoji="1" lang="zh-CN" altLang="en-US" sz="2000" b="1" dirty="0">
                <a:latin typeface="微软雅黑" panose="020B0503020204020204" pitchFamily="34" charset="-122"/>
                <a:ea typeface="微软雅黑" panose="020B0503020204020204" pitchFamily="34" charset="-122"/>
              </a:rPr>
              <a:t>；</a:t>
            </a:r>
          </a:p>
          <a:p>
            <a:pPr algn="just" eaLnBrk="1" hangingPunct="1">
              <a:lnSpc>
                <a:spcPct val="120000"/>
              </a:lnSpc>
              <a:spcBef>
                <a:spcPct val="0"/>
              </a:spcBef>
              <a:buFontTx/>
              <a:buNone/>
            </a:pPr>
            <a:r>
              <a:rPr kumimoji="1" lang="zh-CN" altLang="en-US" sz="2000" b="1" dirty="0">
                <a:latin typeface="微软雅黑" panose="020B0503020204020204" pitchFamily="34" charset="-122"/>
                <a:ea typeface="微软雅黑" panose="020B0503020204020204" pitchFamily="34" charset="-122"/>
              </a:rPr>
              <a:t>● </a:t>
            </a:r>
            <a:r>
              <a:rPr kumimoji="1" lang="en-US" altLang="zh-CN" sz="2000" b="1" i="1" dirty="0">
                <a:latin typeface="微软雅黑" panose="020B0503020204020204" pitchFamily="34" charset="-122"/>
                <a:ea typeface="微软雅黑" panose="020B0503020204020204" pitchFamily="34" charset="-122"/>
              </a:rPr>
              <a:t>P</a:t>
            </a:r>
            <a:r>
              <a:rPr kumimoji="1" lang="en-US" altLang="zh-CN" sz="2000" b="1" baseline="-25000" dirty="0">
                <a:latin typeface="微软雅黑" panose="020B0503020204020204" pitchFamily="34" charset="-122"/>
                <a:ea typeface="微软雅黑" panose="020B0503020204020204" pitchFamily="34" charset="-122"/>
              </a:rPr>
              <a:t>H</a:t>
            </a:r>
            <a:r>
              <a:rPr kumimoji="1" lang="en-US" altLang="zh-CN" sz="2000" b="1" dirty="0">
                <a:latin typeface="微软雅黑" panose="020B0503020204020204" pitchFamily="34" charset="-122"/>
                <a:ea typeface="微软雅黑" panose="020B0503020204020204" pitchFamily="34" charset="-122"/>
              </a:rPr>
              <a:t>&gt;</a:t>
            </a:r>
            <a:r>
              <a:rPr kumimoji="1" lang="en-US" altLang="zh-CN" sz="2000" b="1" i="1" dirty="0">
                <a:latin typeface="微软雅黑" panose="020B0503020204020204" pitchFamily="34" charset="-122"/>
                <a:ea typeface="微软雅黑" panose="020B0503020204020204" pitchFamily="34" charset="-122"/>
              </a:rPr>
              <a:t>P</a:t>
            </a:r>
            <a:r>
              <a:rPr kumimoji="1" lang="en-US" altLang="zh-CN" sz="2000" b="1" baseline="-25000" dirty="0">
                <a:latin typeface="微软雅黑" panose="020B0503020204020204" pitchFamily="34" charset="-122"/>
                <a:ea typeface="微软雅黑" panose="020B0503020204020204" pitchFamily="34" charset="-122"/>
              </a:rPr>
              <a:t>L</a:t>
            </a:r>
            <a:r>
              <a:rPr kumimoji="1" lang="zh-CN" altLang="en-US" sz="2000" b="1" dirty="0">
                <a:latin typeface="微软雅黑" panose="020B0503020204020204" pitchFamily="34" charset="-122"/>
                <a:ea typeface="微软雅黑" panose="020B0503020204020204" pitchFamily="34" charset="-122"/>
              </a:rPr>
              <a:t>时，中心膜片上凸，上部电容为</a:t>
            </a:r>
            <a:r>
              <a:rPr kumimoji="1" lang="en-US" altLang="zh-CN" sz="2000" b="1" i="1" dirty="0">
                <a:latin typeface="微软雅黑" panose="020B0503020204020204" pitchFamily="34" charset="-122"/>
                <a:ea typeface="微软雅黑" panose="020B0503020204020204" pitchFamily="34" charset="-122"/>
              </a:rPr>
              <a:t>C</a:t>
            </a:r>
            <a:r>
              <a:rPr kumimoji="1" lang="en-US" altLang="zh-CN" sz="2000" b="1" baseline="-25000" dirty="0">
                <a:latin typeface="微软雅黑" panose="020B0503020204020204" pitchFamily="34" charset="-122"/>
                <a:ea typeface="微软雅黑" panose="020B0503020204020204" pitchFamily="34" charset="-122"/>
              </a:rPr>
              <a:t>L</a:t>
            </a:r>
            <a:r>
              <a:rPr kumimoji="1" lang="zh-CN" altLang="en-US" sz="2000" b="1" dirty="0">
                <a:latin typeface="微软雅黑" panose="020B0503020204020204" pitchFamily="34" charset="-122"/>
                <a:ea typeface="微软雅黑" panose="020B0503020204020204" pitchFamily="34" charset="-122"/>
              </a:rPr>
              <a:t>，下部电容为</a:t>
            </a:r>
            <a:r>
              <a:rPr kumimoji="1" lang="en-US" altLang="zh-CN" sz="2000" b="1" i="1" dirty="0">
                <a:latin typeface="微软雅黑" panose="020B0503020204020204" pitchFamily="34" charset="-122"/>
                <a:ea typeface="微软雅黑" panose="020B0503020204020204" pitchFamily="34" charset="-122"/>
              </a:rPr>
              <a:t>C</a:t>
            </a:r>
            <a:r>
              <a:rPr kumimoji="1" lang="en-US" altLang="zh-CN" sz="2000" b="1" baseline="-25000" dirty="0">
                <a:latin typeface="微软雅黑" panose="020B0503020204020204" pitchFamily="34" charset="-122"/>
                <a:ea typeface="微软雅黑" panose="020B0503020204020204" pitchFamily="34" charset="-122"/>
              </a:rPr>
              <a:t>H</a:t>
            </a:r>
            <a:r>
              <a:rPr kumimoji="1" lang="zh-CN" altLang="en-US" sz="2000" b="1" dirty="0">
                <a:latin typeface="微软雅黑" panose="020B0503020204020204" pitchFamily="34" charset="-122"/>
                <a:ea typeface="微软雅黑" panose="020B0503020204020204" pitchFamily="34" charset="-122"/>
              </a:rPr>
              <a:t>。</a:t>
            </a:r>
          </a:p>
          <a:p>
            <a:pPr algn="just" eaLnBrk="1" hangingPunct="1">
              <a:lnSpc>
                <a:spcPct val="120000"/>
              </a:lnSpc>
              <a:spcBef>
                <a:spcPct val="0"/>
              </a:spcBef>
              <a:buFontTx/>
              <a:buNone/>
            </a:pPr>
            <a:r>
              <a:rPr kumimoji="1" lang="zh-CN" altLang="en-US" sz="2000" b="1" dirty="0">
                <a:latin typeface="微软雅黑" panose="020B0503020204020204" pitchFamily="34" charset="-122"/>
                <a:ea typeface="微软雅黑" panose="020B0503020204020204" pitchFamily="34" charset="-122"/>
              </a:rPr>
              <a:t>● </a:t>
            </a:r>
            <a:r>
              <a:rPr kumimoji="1" lang="en-US" altLang="zh-CN" sz="2000" b="1" i="1" dirty="0">
                <a:latin typeface="微软雅黑" panose="020B0503020204020204" pitchFamily="34" charset="-122"/>
                <a:ea typeface="微软雅黑" panose="020B0503020204020204" pitchFamily="34" charset="-122"/>
              </a:rPr>
              <a:t>C</a:t>
            </a:r>
            <a:r>
              <a:rPr kumimoji="1" lang="en-US" altLang="zh-CN" sz="2000" b="1" baseline="-25000" dirty="0">
                <a:latin typeface="微软雅黑" panose="020B0503020204020204" pitchFamily="34" charset="-122"/>
                <a:ea typeface="微软雅黑" panose="020B0503020204020204" pitchFamily="34" charset="-122"/>
              </a:rPr>
              <a:t>H</a:t>
            </a:r>
            <a:r>
              <a:rPr kumimoji="1" lang="en-US" altLang="zh-CN" sz="2000" b="1" dirty="0">
                <a:latin typeface="微软雅黑" panose="020B0503020204020204" pitchFamily="34" charset="-122"/>
                <a:ea typeface="微软雅黑" panose="020B0503020204020204" pitchFamily="34" charset="-122"/>
              </a:rPr>
              <a:t> </a:t>
            </a:r>
            <a:r>
              <a:rPr kumimoji="1" lang="zh-CN" altLang="en-US" sz="2000" b="1" dirty="0">
                <a:latin typeface="微软雅黑" panose="020B0503020204020204" pitchFamily="34" charset="-122"/>
                <a:ea typeface="微软雅黑" panose="020B0503020204020204" pitchFamily="34" charset="-122"/>
              </a:rPr>
              <a:t>相当于</a:t>
            </a:r>
            <a:r>
              <a:rPr kumimoji="1" lang="zh-CN" altLang="en-US" sz="2000" b="1" dirty="0">
                <a:solidFill>
                  <a:srgbClr val="0000FF"/>
                </a:solidFill>
                <a:latin typeface="微软雅黑" panose="020B0503020204020204" pitchFamily="34" charset="-122"/>
                <a:ea typeface="微软雅黑" panose="020B0503020204020204" pitchFamily="34" charset="-122"/>
              </a:rPr>
              <a:t>当前膜片位置与平直位置间的电容</a:t>
            </a:r>
            <a:r>
              <a:rPr kumimoji="1" lang="en-US" altLang="zh-CN" sz="2000" b="1" i="1" dirty="0">
                <a:solidFill>
                  <a:srgbClr val="0000FF"/>
                </a:solidFill>
                <a:latin typeface="微软雅黑" panose="020B0503020204020204" pitchFamily="34" charset="-122"/>
                <a:ea typeface="微软雅黑" panose="020B0503020204020204" pitchFamily="34" charset="-122"/>
              </a:rPr>
              <a:t>C</a:t>
            </a:r>
            <a:r>
              <a:rPr kumimoji="1" lang="en-US" altLang="zh-CN" sz="2000" b="1" baseline="-25000" dirty="0">
                <a:solidFill>
                  <a:srgbClr val="0000FF"/>
                </a:solidFill>
                <a:latin typeface="微软雅黑" panose="020B0503020204020204" pitchFamily="34" charset="-122"/>
                <a:ea typeface="微软雅黑" panose="020B0503020204020204" pitchFamily="34" charset="-122"/>
              </a:rPr>
              <a:t>A</a:t>
            </a:r>
            <a:r>
              <a:rPr kumimoji="1" lang="zh-CN" altLang="en-US" sz="2000" b="1" dirty="0">
                <a:solidFill>
                  <a:srgbClr val="0000FF"/>
                </a:solidFill>
                <a:latin typeface="微软雅黑" panose="020B0503020204020204" pitchFamily="34" charset="-122"/>
                <a:ea typeface="微软雅黑" panose="020B0503020204020204" pitchFamily="34" charset="-122"/>
              </a:rPr>
              <a:t>和</a:t>
            </a:r>
            <a:r>
              <a:rPr kumimoji="1" lang="en-US" altLang="zh-CN" sz="2000" b="1" i="1" dirty="0">
                <a:solidFill>
                  <a:srgbClr val="0000FF"/>
                </a:solidFill>
                <a:latin typeface="微软雅黑" panose="020B0503020204020204" pitchFamily="34" charset="-122"/>
                <a:ea typeface="微软雅黑" panose="020B0503020204020204" pitchFamily="34" charset="-122"/>
              </a:rPr>
              <a:t>C</a:t>
            </a:r>
            <a:r>
              <a:rPr kumimoji="1" lang="en-US" altLang="zh-CN" sz="2000" b="1" baseline="-25000" dirty="0">
                <a:solidFill>
                  <a:srgbClr val="0000FF"/>
                </a:solidFill>
                <a:latin typeface="微软雅黑" panose="020B0503020204020204" pitchFamily="34" charset="-122"/>
                <a:ea typeface="微软雅黑" panose="020B0503020204020204" pitchFamily="34" charset="-122"/>
              </a:rPr>
              <a:t>0</a:t>
            </a:r>
            <a:r>
              <a:rPr kumimoji="1" lang="zh-CN" altLang="en-US" sz="2000" b="1" dirty="0">
                <a:solidFill>
                  <a:srgbClr val="0000FF"/>
                </a:solidFill>
                <a:latin typeface="微软雅黑" panose="020B0503020204020204" pitchFamily="34" charset="-122"/>
                <a:ea typeface="微软雅黑" panose="020B0503020204020204" pitchFamily="34" charset="-122"/>
              </a:rPr>
              <a:t>的</a:t>
            </a:r>
            <a:r>
              <a:rPr kumimoji="1" lang="zh-CN" altLang="en-US" sz="2000" b="1" dirty="0">
                <a:solidFill>
                  <a:srgbClr val="FF9900"/>
                </a:solidFill>
                <a:latin typeface="微软雅黑" panose="020B0503020204020204" pitchFamily="34" charset="-122"/>
                <a:ea typeface="微软雅黑" panose="020B0503020204020204" pitchFamily="34" charset="-122"/>
              </a:rPr>
              <a:t>串联</a:t>
            </a:r>
            <a:r>
              <a:rPr kumimoji="1" lang="zh-CN" altLang="en-US" sz="2000" b="1" dirty="0">
                <a:latin typeface="微软雅黑" panose="020B0503020204020204" pitchFamily="34" charset="-122"/>
                <a:ea typeface="微软雅黑" panose="020B0503020204020204" pitchFamily="34" charset="-122"/>
              </a:rPr>
              <a:t>；而</a:t>
            </a:r>
            <a:r>
              <a:rPr kumimoji="1" lang="en-US" altLang="zh-CN" sz="2000" b="1" i="1" dirty="0">
                <a:latin typeface="微软雅黑" panose="020B0503020204020204" pitchFamily="34" charset="-122"/>
                <a:ea typeface="微软雅黑" panose="020B0503020204020204" pitchFamily="34" charset="-122"/>
              </a:rPr>
              <a:t>C</a:t>
            </a:r>
            <a:r>
              <a:rPr kumimoji="1" lang="en-US" altLang="zh-CN" sz="2000" b="1" baseline="-25000" dirty="0">
                <a:latin typeface="微软雅黑" panose="020B0503020204020204" pitchFamily="34" charset="-122"/>
                <a:ea typeface="微软雅黑" panose="020B0503020204020204" pitchFamily="34" charset="-122"/>
              </a:rPr>
              <a:t>0</a:t>
            </a:r>
            <a:r>
              <a:rPr kumimoji="1" lang="zh-CN" altLang="en-US" sz="2000" b="1" dirty="0">
                <a:latin typeface="微软雅黑" panose="020B0503020204020204" pitchFamily="34" charset="-122"/>
                <a:ea typeface="微软雅黑" panose="020B0503020204020204" pitchFamily="34" charset="-122"/>
              </a:rPr>
              <a:t>又可以看成是膜片上部电容</a:t>
            </a:r>
            <a:r>
              <a:rPr kumimoji="1" lang="en-US" altLang="zh-CN" sz="2000" b="1" i="1" dirty="0">
                <a:latin typeface="微软雅黑" panose="020B0503020204020204" pitchFamily="34" charset="-122"/>
                <a:ea typeface="微软雅黑" panose="020B0503020204020204" pitchFamily="34" charset="-122"/>
              </a:rPr>
              <a:t>C</a:t>
            </a:r>
            <a:r>
              <a:rPr kumimoji="1" lang="en-US" altLang="zh-CN" sz="2000" b="1" baseline="-25000" dirty="0">
                <a:latin typeface="微软雅黑" panose="020B0503020204020204" pitchFamily="34" charset="-122"/>
                <a:ea typeface="微软雅黑" panose="020B0503020204020204" pitchFamily="34" charset="-122"/>
              </a:rPr>
              <a:t>L</a:t>
            </a:r>
            <a:r>
              <a:rPr kumimoji="1" lang="zh-CN" altLang="en-US" sz="2000" b="1" dirty="0">
                <a:latin typeface="微软雅黑" panose="020B0503020204020204" pitchFamily="34" charset="-122"/>
                <a:ea typeface="微软雅黑" panose="020B0503020204020204" pitchFamily="34" charset="-122"/>
              </a:rPr>
              <a:t>与的</a:t>
            </a:r>
            <a:r>
              <a:rPr kumimoji="1" lang="en-US" altLang="zh-CN" sz="2000" b="1" i="1" dirty="0">
                <a:latin typeface="微软雅黑" panose="020B0503020204020204" pitchFamily="34" charset="-122"/>
                <a:ea typeface="微软雅黑" panose="020B0503020204020204" pitchFamily="34" charset="-122"/>
              </a:rPr>
              <a:t>C</a:t>
            </a:r>
            <a:r>
              <a:rPr kumimoji="1" lang="en-US" altLang="zh-CN" sz="2000" b="1" baseline="-25000" dirty="0">
                <a:latin typeface="微软雅黑" panose="020B0503020204020204" pitchFamily="34" charset="-122"/>
                <a:ea typeface="微软雅黑" panose="020B0503020204020204" pitchFamily="34" charset="-122"/>
              </a:rPr>
              <a:t>A</a:t>
            </a:r>
            <a:r>
              <a:rPr kumimoji="1" lang="zh-CN" altLang="en-US" sz="2000" b="1" dirty="0">
                <a:latin typeface="微软雅黑" panose="020B0503020204020204" pitchFamily="34" charset="-122"/>
                <a:ea typeface="微软雅黑" panose="020B0503020204020204" pitchFamily="34" charset="-122"/>
              </a:rPr>
              <a:t>串联。</a:t>
            </a:r>
          </a:p>
        </p:txBody>
      </p:sp>
      <p:sp>
        <p:nvSpPr>
          <p:cNvPr id="3" name="矩形 2">
            <a:extLst>
              <a:ext uri="{FF2B5EF4-FFF2-40B4-BE49-F238E27FC236}">
                <a16:creationId xmlns:a16="http://schemas.microsoft.com/office/drawing/2014/main" id="{320CB87C-CE4B-4CC5-9016-936A441A8C5B}"/>
              </a:ext>
            </a:extLst>
          </p:cNvPr>
          <p:cNvSpPr>
            <a:spLocks noChangeArrowheads="1"/>
          </p:cNvSpPr>
          <p:nvPr/>
        </p:nvSpPr>
        <p:spPr bwMode="auto">
          <a:xfrm>
            <a:off x="350838" y="6356350"/>
            <a:ext cx="66479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b="1" dirty="0">
                <a:solidFill>
                  <a:srgbClr val="0099FF"/>
                </a:solidFill>
                <a:latin typeface="微软雅黑" panose="020B0503020204020204" pitchFamily="34" charset="-122"/>
                <a:ea typeface="微软雅黑" panose="020B0503020204020204" pitchFamily="34" charset="-122"/>
              </a:rPr>
              <a:t>这是差动电容的另一种推导方法：电容串并联分析法，很有用！</a:t>
            </a:r>
            <a:endParaRPr lang="en-US" altLang="zh-CN" sz="1800" b="1" dirty="0">
              <a:solidFill>
                <a:srgbClr val="0099FF"/>
              </a:solidFill>
              <a:latin typeface="微软雅黑" panose="020B0503020204020204" pitchFamily="34" charset="-122"/>
              <a:ea typeface="微软雅黑" panose="020B0503020204020204" pitchFamily="34" charset="-122"/>
            </a:endParaRPr>
          </a:p>
        </p:txBody>
      </p:sp>
      <p:graphicFrame>
        <p:nvGraphicFramePr>
          <p:cNvPr id="76" name="Object 120">
            <a:extLst>
              <a:ext uri="{FF2B5EF4-FFF2-40B4-BE49-F238E27FC236}">
                <a16:creationId xmlns:a16="http://schemas.microsoft.com/office/drawing/2014/main" id="{01DCC718-561E-4FB9-99F2-84D1A8D8ED1A}"/>
              </a:ext>
            </a:extLst>
          </p:cNvPr>
          <p:cNvGraphicFramePr>
            <a:graphicFrameLocks noChangeAspect="1"/>
          </p:cNvGraphicFramePr>
          <p:nvPr>
            <p:extLst>
              <p:ext uri="{D42A27DB-BD31-4B8C-83A1-F6EECF244321}">
                <p14:modId xmlns:p14="http://schemas.microsoft.com/office/powerpoint/2010/main" val="2165701822"/>
              </p:ext>
            </p:extLst>
          </p:nvPr>
        </p:nvGraphicFramePr>
        <p:xfrm>
          <a:off x="4441825" y="3595688"/>
          <a:ext cx="4103688" cy="2598737"/>
        </p:xfrm>
        <a:graphic>
          <a:graphicData uri="http://schemas.openxmlformats.org/presentationml/2006/ole">
            <mc:AlternateContent xmlns:mc="http://schemas.openxmlformats.org/markup-compatibility/2006">
              <mc:Choice xmlns:v="urn:schemas-microsoft-com:vml" Requires="v">
                <p:oleObj spid="_x0000_s27767" name="Equation" r:id="rId4" imgW="2095500" imgH="1333500" progId="Equation.DSMT4">
                  <p:embed/>
                </p:oleObj>
              </mc:Choice>
              <mc:Fallback>
                <p:oleObj name="Equation" r:id="rId4" imgW="2095500" imgH="1333500" progId="Equation.DSMT4">
                  <p:embed/>
                  <p:pic>
                    <p:nvPicPr>
                      <p:cNvPr id="29704" name="Object 120">
                        <a:extLst>
                          <a:ext uri="{FF2B5EF4-FFF2-40B4-BE49-F238E27FC236}">
                            <a16:creationId xmlns:a16="http://schemas.microsoft.com/office/drawing/2014/main" id="{30D637A9-62CD-4C60-BC42-1066A726E9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41825" y="3595688"/>
                        <a:ext cx="4103688" cy="2598737"/>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箭头: 圆角右 1">
            <a:extLst>
              <a:ext uri="{FF2B5EF4-FFF2-40B4-BE49-F238E27FC236}">
                <a16:creationId xmlns:a16="http://schemas.microsoft.com/office/drawing/2014/main" id="{77C65BBE-7481-4EA9-9B48-47E90C3A791A}"/>
              </a:ext>
            </a:extLst>
          </p:cNvPr>
          <p:cNvSpPr/>
          <p:nvPr/>
        </p:nvSpPr>
        <p:spPr>
          <a:xfrm flipV="1">
            <a:off x="851940" y="3827074"/>
            <a:ext cx="327849" cy="948407"/>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矩形 4">
            <a:extLst>
              <a:ext uri="{FF2B5EF4-FFF2-40B4-BE49-F238E27FC236}">
                <a16:creationId xmlns:a16="http://schemas.microsoft.com/office/drawing/2014/main" id="{9FC7D4E4-A3B8-45A3-BAC2-3C5D063AA879}"/>
              </a:ext>
            </a:extLst>
          </p:cNvPr>
          <p:cNvSpPr/>
          <p:nvPr/>
        </p:nvSpPr>
        <p:spPr>
          <a:xfrm>
            <a:off x="7062300" y="5592796"/>
            <a:ext cx="1217000" cy="400110"/>
          </a:xfrm>
          <a:prstGeom prst="rect">
            <a:avLst/>
          </a:prstGeom>
        </p:spPr>
        <p:txBody>
          <a:bodyPr wrap="none">
            <a:spAutoFit/>
          </a:bodyPr>
          <a:lstStyle/>
          <a:p>
            <a:r>
              <a:rPr lang="zh-CN" altLang="en-US" sz="2000" b="1" dirty="0">
                <a:solidFill>
                  <a:srgbClr val="FF9900"/>
                </a:solidFill>
              </a:rPr>
              <a:t>线性关系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9702"/>
                                        </p:tgtEl>
                                        <p:attrNameLst>
                                          <p:attrName>style.visibility</p:attrName>
                                        </p:attrNameLst>
                                      </p:cBhvr>
                                      <p:to>
                                        <p:strVal val="visible"/>
                                      </p:to>
                                    </p:set>
                                    <p:anim calcmode="lin" valueType="num">
                                      <p:cBhvr additive="base">
                                        <p:cTn id="11" dur="500" fill="hold"/>
                                        <p:tgtEl>
                                          <p:spTgt spid="29702"/>
                                        </p:tgtEl>
                                        <p:attrNameLst>
                                          <p:attrName>ppt_x</p:attrName>
                                        </p:attrNameLst>
                                      </p:cBhvr>
                                      <p:tavLst>
                                        <p:tav tm="0">
                                          <p:val>
                                            <p:strVal val="#ppt_x"/>
                                          </p:val>
                                        </p:tav>
                                        <p:tav tm="100000">
                                          <p:val>
                                            <p:strVal val="#ppt_x"/>
                                          </p:val>
                                        </p:tav>
                                      </p:tavLst>
                                    </p:anim>
                                    <p:anim calcmode="lin" valueType="num">
                                      <p:cBhvr additive="base">
                                        <p:cTn id="12" dur="500" fill="hold"/>
                                        <p:tgtEl>
                                          <p:spTgt spid="2970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9701"/>
                                        </p:tgtEl>
                                        <p:attrNameLst>
                                          <p:attrName>style.visibility</p:attrName>
                                        </p:attrNameLst>
                                      </p:cBhvr>
                                      <p:to>
                                        <p:strVal val="visible"/>
                                      </p:to>
                                    </p:set>
                                    <p:anim calcmode="lin" valueType="num">
                                      <p:cBhvr additive="base">
                                        <p:cTn id="15" dur="500" fill="hold"/>
                                        <p:tgtEl>
                                          <p:spTgt spid="29701"/>
                                        </p:tgtEl>
                                        <p:attrNameLst>
                                          <p:attrName>ppt_x</p:attrName>
                                        </p:attrNameLst>
                                      </p:cBhvr>
                                      <p:tavLst>
                                        <p:tav tm="0">
                                          <p:val>
                                            <p:strVal val="#ppt_x"/>
                                          </p:val>
                                        </p:tav>
                                        <p:tav tm="100000">
                                          <p:val>
                                            <p:strVal val="#ppt_x"/>
                                          </p:val>
                                        </p:tav>
                                      </p:tavLst>
                                    </p:anim>
                                    <p:anim calcmode="lin" valueType="num">
                                      <p:cBhvr additive="base">
                                        <p:cTn id="16" dur="500" fill="hold"/>
                                        <p:tgtEl>
                                          <p:spTgt spid="2970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6"/>
                                        </p:tgtEl>
                                        <p:attrNameLst>
                                          <p:attrName>style.visibility</p:attrName>
                                        </p:attrNameLst>
                                      </p:cBhvr>
                                      <p:to>
                                        <p:strVal val="visible"/>
                                      </p:to>
                                    </p:set>
                                    <p:anim calcmode="lin" valueType="num">
                                      <p:cBhvr additive="base">
                                        <p:cTn id="27" dur="500" fill="hold"/>
                                        <p:tgtEl>
                                          <p:spTgt spid="76"/>
                                        </p:tgtEl>
                                        <p:attrNameLst>
                                          <p:attrName>ppt_x</p:attrName>
                                        </p:attrNameLst>
                                      </p:cBhvr>
                                      <p:tavLst>
                                        <p:tav tm="0">
                                          <p:val>
                                            <p:strVal val="#ppt_x"/>
                                          </p:val>
                                        </p:tav>
                                        <p:tav tm="100000">
                                          <p:val>
                                            <p:strVal val="#ppt_x"/>
                                          </p:val>
                                        </p:tav>
                                      </p:tavLst>
                                    </p:anim>
                                    <p:anim calcmode="lin" valueType="num">
                                      <p:cBhvr additive="base">
                                        <p:cTn id="28"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500" fill="hold"/>
                                        <p:tgtEl>
                                          <p:spTgt spid="5"/>
                                        </p:tgtEl>
                                        <p:attrNameLst>
                                          <p:attrName>ppt_x</p:attrName>
                                        </p:attrNameLst>
                                      </p:cBhvr>
                                      <p:tavLst>
                                        <p:tav tm="0">
                                          <p:val>
                                            <p:strVal val="1+#ppt_w/2"/>
                                          </p:val>
                                        </p:tav>
                                        <p:tav tm="100000">
                                          <p:val>
                                            <p:strVal val="#ppt_x"/>
                                          </p:val>
                                        </p:tav>
                                      </p:tavLst>
                                    </p:anim>
                                    <p:anim calcmode="lin" valueType="num">
                                      <p:cBhvr additive="base">
                                        <p:cTn id="34"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2" grpId="0"/>
      <p:bldP spid="3" grpId="0"/>
      <p:bldP spid="2" grpId="0" animBg="1"/>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1">
            <a:extLst>
              <a:ext uri="{FF2B5EF4-FFF2-40B4-BE49-F238E27FC236}">
                <a16:creationId xmlns:a16="http://schemas.microsoft.com/office/drawing/2014/main" id="{67EBB9C9-9A4B-4B9A-8436-0FE325C3F746}"/>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D4A5925-9704-4375-A05C-639C8EFAAD7F}" type="slidenum">
              <a:rPr lang="en-US" altLang="zh-CN" smtClean="0"/>
              <a:pPr/>
              <a:t>11</a:t>
            </a:fld>
            <a:endParaRPr lang="en-US" altLang="zh-CN"/>
          </a:p>
        </p:txBody>
      </p:sp>
      <p:sp>
        <p:nvSpPr>
          <p:cNvPr id="13" name="矩形 12">
            <a:extLst>
              <a:ext uri="{FF2B5EF4-FFF2-40B4-BE49-F238E27FC236}">
                <a16:creationId xmlns:a16="http://schemas.microsoft.com/office/drawing/2014/main" id="{FE8B2C14-89CA-475A-881D-989CC202A9CB}"/>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27652" name="Text Box 2">
            <a:extLst>
              <a:ext uri="{FF2B5EF4-FFF2-40B4-BE49-F238E27FC236}">
                <a16:creationId xmlns:a16="http://schemas.microsoft.com/office/drawing/2014/main" id="{395705B9-65EB-42CB-9BC1-C46F5C71EDF2}"/>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zh-CN" altLang="en-US" sz="2800" b="1" dirty="0">
                <a:solidFill>
                  <a:srgbClr val="C00000"/>
                </a:solidFill>
                <a:latin typeface="微软雅黑" panose="020B0503020204020204" pitchFamily="34" charset="-122"/>
                <a:ea typeface="微软雅黑" panose="020B0503020204020204" pitchFamily="34" charset="-122"/>
              </a:rPr>
              <a:t>实例：球</a:t>
            </a:r>
            <a:r>
              <a:rPr kumimoji="1" lang="en-US" altLang="zh-CN" sz="2800" b="1" dirty="0">
                <a:solidFill>
                  <a:srgbClr val="C00000"/>
                </a:solidFill>
                <a:latin typeface="微软雅黑" panose="020B0503020204020204" pitchFamily="34" charset="-122"/>
                <a:ea typeface="微软雅黑" panose="020B0503020204020204" pitchFamily="34" charset="-122"/>
              </a:rPr>
              <a:t>—</a:t>
            </a:r>
            <a:r>
              <a:rPr kumimoji="1" lang="zh-CN" altLang="en-US" sz="2800" b="1" dirty="0">
                <a:solidFill>
                  <a:srgbClr val="C00000"/>
                </a:solidFill>
                <a:latin typeface="微软雅黑" panose="020B0503020204020204" pitchFamily="34" charset="-122"/>
                <a:ea typeface="微软雅黑" panose="020B0503020204020204" pitchFamily="34" charset="-122"/>
              </a:rPr>
              <a:t>平面型差动电容压力传感器</a:t>
            </a:r>
          </a:p>
        </p:txBody>
      </p:sp>
      <p:grpSp>
        <p:nvGrpSpPr>
          <p:cNvPr id="27655" name="Group 88">
            <a:extLst>
              <a:ext uri="{FF2B5EF4-FFF2-40B4-BE49-F238E27FC236}">
                <a16:creationId xmlns:a16="http://schemas.microsoft.com/office/drawing/2014/main" id="{458C65E8-1F6F-409C-8F69-718CF23BE956}"/>
              </a:ext>
            </a:extLst>
          </p:cNvPr>
          <p:cNvGrpSpPr>
            <a:grpSpLocks/>
          </p:cNvGrpSpPr>
          <p:nvPr/>
        </p:nvGrpSpPr>
        <p:grpSpPr bwMode="auto">
          <a:xfrm>
            <a:off x="250825" y="981075"/>
            <a:ext cx="3960813" cy="3455988"/>
            <a:chOff x="2312" y="2064"/>
            <a:chExt cx="1933" cy="1156"/>
          </a:xfrm>
        </p:grpSpPr>
        <p:sp>
          <p:nvSpPr>
            <p:cNvPr id="27660" name="Rectangle 89" descr="大纸屑">
              <a:extLst>
                <a:ext uri="{FF2B5EF4-FFF2-40B4-BE49-F238E27FC236}">
                  <a16:creationId xmlns:a16="http://schemas.microsoft.com/office/drawing/2014/main" id="{A73E3B22-F68E-4F41-95F6-EA8385FA2894}"/>
                </a:ext>
              </a:extLst>
            </p:cNvPr>
            <p:cNvSpPr>
              <a:spLocks noChangeArrowheads="1"/>
            </p:cNvSpPr>
            <p:nvPr/>
          </p:nvSpPr>
          <p:spPr bwMode="auto">
            <a:xfrm>
              <a:off x="2607" y="2252"/>
              <a:ext cx="1428" cy="750"/>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7661" name="Freeform 90">
              <a:extLst>
                <a:ext uri="{FF2B5EF4-FFF2-40B4-BE49-F238E27FC236}">
                  <a16:creationId xmlns:a16="http://schemas.microsoft.com/office/drawing/2014/main" id="{FC3ABC80-AC48-4410-9FC3-723A77484EAF}"/>
                </a:ext>
              </a:extLst>
            </p:cNvPr>
            <p:cNvSpPr>
              <a:spLocks/>
            </p:cNvSpPr>
            <p:nvPr/>
          </p:nvSpPr>
          <p:spPr bwMode="auto">
            <a:xfrm>
              <a:off x="2727" y="2417"/>
              <a:ext cx="1152" cy="424"/>
            </a:xfrm>
            <a:custGeom>
              <a:avLst/>
              <a:gdLst>
                <a:gd name="T0" fmla="*/ 0 w 2880"/>
                <a:gd name="T1" fmla="*/ 0 h 1057"/>
                <a:gd name="T2" fmla="*/ 0 w 2880"/>
                <a:gd name="T3" fmla="*/ 0 h 1057"/>
                <a:gd name="T4" fmla="*/ 0 w 2880"/>
                <a:gd name="T5" fmla="*/ 0 h 1057"/>
                <a:gd name="T6" fmla="*/ 0 w 2880"/>
                <a:gd name="T7" fmla="*/ 0 h 1057"/>
                <a:gd name="T8" fmla="*/ 0 w 2880"/>
                <a:gd name="T9" fmla="*/ 0 h 1057"/>
                <a:gd name="T10" fmla="*/ 0 w 2880"/>
                <a:gd name="T11" fmla="*/ 0 h 1057"/>
                <a:gd name="T12" fmla="*/ 0 w 2880"/>
                <a:gd name="T13" fmla="*/ 0 h 1057"/>
                <a:gd name="T14" fmla="*/ 0 w 2880"/>
                <a:gd name="T15" fmla="*/ 0 h 1057"/>
                <a:gd name="T16" fmla="*/ 0 w 2880"/>
                <a:gd name="T17" fmla="*/ 0 h 10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880" h="1057">
                  <a:moveTo>
                    <a:pt x="0" y="521"/>
                  </a:moveTo>
                  <a:cubicBezTo>
                    <a:pt x="45" y="472"/>
                    <a:pt x="447" y="222"/>
                    <a:pt x="690" y="135"/>
                  </a:cubicBezTo>
                  <a:cubicBezTo>
                    <a:pt x="933" y="48"/>
                    <a:pt x="1204" y="0"/>
                    <a:pt x="1459" y="0"/>
                  </a:cubicBezTo>
                  <a:cubicBezTo>
                    <a:pt x="1714" y="0"/>
                    <a:pt x="1983" y="48"/>
                    <a:pt x="2220" y="135"/>
                  </a:cubicBezTo>
                  <a:cubicBezTo>
                    <a:pt x="2457" y="222"/>
                    <a:pt x="2830" y="458"/>
                    <a:pt x="2880" y="525"/>
                  </a:cubicBezTo>
                  <a:cubicBezTo>
                    <a:pt x="2818" y="581"/>
                    <a:pt x="2494" y="812"/>
                    <a:pt x="2258" y="900"/>
                  </a:cubicBezTo>
                  <a:cubicBezTo>
                    <a:pt x="2022" y="988"/>
                    <a:pt x="1725" y="1049"/>
                    <a:pt x="1466" y="1053"/>
                  </a:cubicBezTo>
                  <a:cubicBezTo>
                    <a:pt x="1207" y="1057"/>
                    <a:pt x="949" y="1011"/>
                    <a:pt x="705" y="922"/>
                  </a:cubicBezTo>
                  <a:cubicBezTo>
                    <a:pt x="461" y="833"/>
                    <a:pt x="41" y="566"/>
                    <a:pt x="0" y="521"/>
                  </a:cubicBezTo>
                  <a:close/>
                </a:path>
              </a:pathLst>
            </a:custGeom>
            <a:solidFill>
              <a:srgbClr val="FFFFFF"/>
            </a:solidFill>
            <a:ln w="19050" cmpd="sng">
              <a:solidFill>
                <a:srgbClr val="000000"/>
              </a:solidFill>
              <a:round/>
              <a:headEnd/>
              <a:tailEnd/>
            </a:ln>
          </p:spPr>
          <p:txBody>
            <a:bodyPr/>
            <a:lstStyle/>
            <a:p>
              <a:endParaRPr lang="zh-CN" altLang="en-US"/>
            </a:p>
          </p:txBody>
        </p:sp>
        <p:sp>
          <p:nvSpPr>
            <p:cNvPr id="27662" name="Line 91">
              <a:extLst>
                <a:ext uri="{FF2B5EF4-FFF2-40B4-BE49-F238E27FC236}">
                  <a16:creationId xmlns:a16="http://schemas.microsoft.com/office/drawing/2014/main" id="{3B118CF2-70E5-4C58-A307-D43BDB8A40D3}"/>
                </a:ext>
              </a:extLst>
            </p:cNvPr>
            <p:cNvSpPr>
              <a:spLocks noChangeShapeType="1"/>
            </p:cNvSpPr>
            <p:nvPr/>
          </p:nvSpPr>
          <p:spPr bwMode="auto">
            <a:xfrm>
              <a:off x="2397" y="2627"/>
              <a:ext cx="184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3" name="Line 92">
              <a:extLst>
                <a:ext uri="{FF2B5EF4-FFF2-40B4-BE49-F238E27FC236}">
                  <a16:creationId xmlns:a16="http://schemas.microsoft.com/office/drawing/2014/main" id="{7F3FA737-E66F-4418-B610-06918A2FE3C4}"/>
                </a:ext>
              </a:extLst>
            </p:cNvPr>
            <p:cNvSpPr>
              <a:spLocks noChangeShapeType="1"/>
            </p:cNvSpPr>
            <p:nvPr/>
          </p:nvSpPr>
          <p:spPr bwMode="auto">
            <a:xfrm>
              <a:off x="2733" y="2627"/>
              <a:ext cx="1134"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4" name="Freeform 93">
              <a:extLst>
                <a:ext uri="{FF2B5EF4-FFF2-40B4-BE49-F238E27FC236}">
                  <a16:creationId xmlns:a16="http://schemas.microsoft.com/office/drawing/2014/main" id="{05631EC4-A77D-452F-BF25-A8993884CDB6}"/>
                </a:ext>
              </a:extLst>
            </p:cNvPr>
            <p:cNvSpPr>
              <a:spLocks/>
            </p:cNvSpPr>
            <p:nvPr/>
          </p:nvSpPr>
          <p:spPr bwMode="auto">
            <a:xfrm>
              <a:off x="2729" y="2527"/>
              <a:ext cx="1149" cy="98"/>
            </a:xfrm>
            <a:custGeom>
              <a:avLst/>
              <a:gdLst>
                <a:gd name="T0" fmla="*/ 0 w 2871"/>
                <a:gd name="T1" fmla="*/ 0 h 243"/>
                <a:gd name="T2" fmla="*/ 0 w 2871"/>
                <a:gd name="T3" fmla="*/ 0 h 243"/>
                <a:gd name="T4" fmla="*/ 0 w 2871"/>
                <a:gd name="T5" fmla="*/ 0 h 243"/>
                <a:gd name="T6" fmla="*/ 0 60000 65536"/>
                <a:gd name="T7" fmla="*/ 0 60000 65536"/>
                <a:gd name="T8" fmla="*/ 0 60000 65536"/>
              </a:gdLst>
              <a:ahLst/>
              <a:cxnLst>
                <a:cxn ang="T6">
                  <a:pos x="T0" y="T1"/>
                </a:cxn>
                <a:cxn ang="T7">
                  <a:pos x="T2" y="T3"/>
                </a:cxn>
                <a:cxn ang="T8">
                  <a:pos x="T4" y="T5"/>
                </a:cxn>
              </a:cxnLst>
              <a:rect l="0" t="0" r="r" b="b"/>
              <a:pathLst>
                <a:path w="2871" h="243">
                  <a:moveTo>
                    <a:pt x="0" y="243"/>
                  </a:moveTo>
                  <a:cubicBezTo>
                    <a:pt x="244" y="202"/>
                    <a:pt x="988" y="0"/>
                    <a:pt x="1466" y="0"/>
                  </a:cubicBezTo>
                  <a:cubicBezTo>
                    <a:pt x="1944" y="0"/>
                    <a:pt x="2578" y="192"/>
                    <a:pt x="2871" y="243"/>
                  </a:cubicBezTo>
                </a:path>
              </a:pathLst>
            </a:custGeom>
            <a:noFill/>
            <a:ln w="1905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65" name="Rectangle 94">
              <a:extLst>
                <a:ext uri="{FF2B5EF4-FFF2-40B4-BE49-F238E27FC236}">
                  <a16:creationId xmlns:a16="http://schemas.microsoft.com/office/drawing/2014/main" id="{FA915665-86ED-4584-845C-FE5B006DCAB6}"/>
                </a:ext>
              </a:extLst>
            </p:cNvPr>
            <p:cNvSpPr>
              <a:spLocks noChangeArrowheads="1"/>
            </p:cNvSpPr>
            <p:nvPr/>
          </p:nvSpPr>
          <p:spPr bwMode="auto">
            <a:xfrm>
              <a:off x="3277" y="2836"/>
              <a:ext cx="84" cy="166"/>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7666" name="Rectangle 95">
              <a:extLst>
                <a:ext uri="{FF2B5EF4-FFF2-40B4-BE49-F238E27FC236}">
                  <a16:creationId xmlns:a16="http://schemas.microsoft.com/office/drawing/2014/main" id="{49A42174-E68E-46A4-AFAE-19A9B44AD820}"/>
                </a:ext>
              </a:extLst>
            </p:cNvPr>
            <p:cNvSpPr>
              <a:spLocks noChangeArrowheads="1"/>
            </p:cNvSpPr>
            <p:nvPr/>
          </p:nvSpPr>
          <p:spPr bwMode="auto">
            <a:xfrm>
              <a:off x="3273" y="2252"/>
              <a:ext cx="84" cy="166"/>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7667" name="Rectangle 96">
              <a:extLst>
                <a:ext uri="{FF2B5EF4-FFF2-40B4-BE49-F238E27FC236}">
                  <a16:creationId xmlns:a16="http://schemas.microsoft.com/office/drawing/2014/main" id="{D71DE717-658A-4218-BA22-2710767C2E2A}"/>
                </a:ext>
              </a:extLst>
            </p:cNvPr>
            <p:cNvSpPr>
              <a:spLocks noChangeArrowheads="1"/>
            </p:cNvSpPr>
            <p:nvPr/>
          </p:nvSpPr>
          <p:spPr bwMode="auto">
            <a:xfrm>
              <a:off x="3281" y="2824"/>
              <a:ext cx="77" cy="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7668" name="Rectangle 97">
              <a:extLst>
                <a:ext uri="{FF2B5EF4-FFF2-40B4-BE49-F238E27FC236}">
                  <a16:creationId xmlns:a16="http://schemas.microsoft.com/office/drawing/2014/main" id="{F04336F7-DF44-48F1-8083-E50CAAF89ED0}"/>
                </a:ext>
              </a:extLst>
            </p:cNvPr>
            <p:cNvSpPr>
              <a:spLocks noChangeArrowheads="1"/>
            </p:cNvSpPr>
            <p:nvPr/>
          </p:nvSpPr>
          <p:spPr bwMode="auto">
            <a:xfrm>
              <a:off x="3276" y="2413"/>
              <a:ext cx="77" cy="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7669" name="Line 98">
              <a:extLst>
                <a:ext uri="{FF2B5EF4-FFF2-40B4-BE49-F238E27FC236}">
                  <a16:creationId xmlns:a16="http://schemas.microsoft.com/office/drawing/2014/main" id="{5F6CC609-3B17-4EF2-AD68-165B9F352C85}"/>
                </a:ext>
              </a:extLst>
            </p:cNvPr>
            <p:cNvSpPr>
              <a:spLocks noChangeShapeType="1"/>
            </p:cNvSpPr>
            <p:nvPr/>
          </p:nvSpPr>
          <p:spPr bwMode="auto">
            <a:xfrm>
              <a:off x="3363" y="2417"/>
              <a:ext cx="88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0" name="Line 99">
              <a:extLst>
                <a:ext uri="{FF2B5EF4-FFF2-40B4-BE49-F238E27FC236}">
                  <a16:creationId xmlns:a16="http://schemas.microsoft.com/office/drawing/2014/main" id="{03E575CD-B703-4BDE-8AFD-A424DEEC76D6}"/>
                </a:ext>
              </a:extLst>
            </p:cNvPr>
            <p:cNvSpPr>
              <a:spLocks noChangeShapeType="1"/>
            </p:cNvSpPr>
            <p:nvPr/>
          </p:nvSpPr>
          <p:spPr bwMode="auto">
            <a:xfrm flipH="1" flipV="1">
              <a:off x="2397" y="2525"/>
              <a:ext cx="8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1" name="Text Box 100">
              <a:extLst>
                <a:ext uri="{FF2B5EF4-FFF2-40B4-BE49-F238E27FC236}">
                  <a16:creationId xmlns:a16="http://schemas.microsoft.com/office/drawing/2014/main" id="{0990B2FE-65DA-4033-8BD5-53BE594C5F8F}"/>
                </a:ext>
              </a:extLst>
            </p:cNvPr>
            <p:cNvSpPr txBox="1">
              <a:spLocks noChangeArrowheads="1"/>
            </p:cNvSpPr>
            <p:nvPr/>
          </p:nvSpPr>
          <p:spPr bwMode="auto">
            <a:xfrm>
              <a:off x="2312" y="2455"/>
              <a:ext cx="21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h</a:t>
              </a:r>
              <a:r>
                <a:rPr kumimoji="1" lang="en-US" altLang="zh-CN" sz="1400" b="1" baseline="-25000">
                  <a:solidFill>
                    <a:srgbClr val="000000"/>
                  </a:solidFill>
                  <a:latin typeface="Times New Roman" panose="02020603050405020304" pitchFamily="18" charset="0"/>
                </a:rPr>
                <a:t>max</a:t>
              </a:r>
              <a:endParaRPr kumimoji="1" lang="en-US" altLang="zh-CN" sz="1200" baseline="-25000">
                <a:solidFill>
                  <a:srgbClr val="000000"/>
                </a:solidFill>
                <a:latin typeface="Times New Roman" panose="02020603050405020304" pitchFamily="18" charset="0"/>
              </a:endParaRPr>
            </a:p>
          </p:txBody>
        </p:sp>
        <p:sp>
          <p:nvSpPr>
            <p:cNvPr id="27672" name="Text Box 101">
              <a:extLst>
                <a:ext uri="{FF2B5EF4-FFF2-40B4-BE49-F238E27FC236}">
                  <a16:creationId xmlns:a16="http://schemas.microsoft.com/office/drawing/2014/main" id="{913712FB-07FA-4C0C-8A38-961C464A2E24}"/>
                </a:ext>
              </a:extLst>
            </p:cNvPr>
            <p:cNvSpPr txBox="1">
              <a:spLocks noChangeArrowheads="1"/>
            </p:cNvSpPr>
            <p:nvPr/>
          </p:nvSpPr>
          <p:spPr bwMode="auto">
            <a:xfrm>
              <a:off x="4087" y="2454"/>
              <a:ext cx="131"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d</a:t>
              </a:r>
              <a:r>
                <a:rPr kumimoji="1" lang="en-US" altLang="zh-CN" sz="1400" b="1" baseline="-25000">
                  <a:solidFill>
                    <a:srgbClr val="000000"/>
                  </a:solidFill>
                  <a:latin typeface="Times New Roman" panose="02020603050405020304" pitchFamily="18" charset="0"/>
                </a:rPr>
                <a:t>0</a:t>
              </a:r>
              <a:endParaRPr kumimoji="1" lang="en-US" altLang="zh-CN" sz="1200" baseline="-25000">
                <a:solidFill>
                  <a:srgbClr val="000000"/>
                </a:solidFill>
                <a:latin typeface="Times New Roman" panose="02020603050405020304" pitchFamily="18" charset="0"/>
              </a:endParaRPr>
            </a:p>
          </p:txBody>
        </p:sp>
        <p:sp>
          <p:nvSpPr>
            <p:cNvPr id="27673" name="Text Box 102">
              <a:extLst>
                <a:ext uri="{FF2B5EF4-FFF2-40B4-BE49-F238E27FC236}">
                  <a16:creationId xmlns:a16="http://schemas.microsoft.com/office/drawing/2014/main" id="{9BFDA6CB-FE29-4BDF-A277-FB05B2EE1B11}"/>
                </a:ext>
              </a:extLst>
            </p:cNvPr>
            <p:cNvSpPr txBox="1">
              <a:spLocks noChangeArrowheads="1"/>
            </p:cNvSpPr>
            <p:nvPr/>
          </p:nvSpPr>
          <p:spPr bwMode="auto">
            <a:xfrm>
              <a:off x="2694" y="2064"/>
              <a:ext cx="13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C</a:t>
              </a:r>
              <a:r>
                <a:rPr kumimoji="1" lang="en-US" altLang="zh-CN" sz="1400" b="1" baseline="-25000">
                  <a:solidFill>
                    <a:srgbClr val="000000"/>
                  </a:solidFill>
                  <a:latin typeface="Times New Roman" panose="02020603050405020304" pitchFamily="18" charset="0"/>
                </a:rPr>
                <a:t>A</a:t>
              </a:r>
              <a:endParaRPr kumimoji="1" lang="en-US" altLang="zh-CN" sz="1400" baseline="-25000">
                <a:solidFill>
                  <a:srgbClr val="000000"/>
                </a:solidFill>
                <a:latin typeface="Times New Roman" panose="02020603050405020304" pitchFamily="18" charset="0"/>
              </a:endParaRPr>
            </a:p>
          </p:txBody>
        </p:sp>
        <p:sp>
          <p:nvSpPr>
            <p:cNvPr id="27674" name="Text Box 103">
              <a:extLst>
                <a:ext uri="{FF2B5EF4-FFF2-40B4-BE49-F238E27FC236}">
                  <a16:creationId xmlns:a16="http://schemas.microsoft.com/office/drawing/2014/main" id="{923A9926-9A56-401B-8B14-0200DE96D7AA}"/>
                </a:ext>
              </a:extLst>
            </p:cNvPr>
            <p:cNvSpPr txBox="1">
              <a:spLocks noChangeArrowheads="1"/>
            </p:cNvSpPr>
            <p:nvPr/>
          </p:nvSpPr>
          <p:spPr bwMode="auto">
            <a:xfrm>
              <a:off x="3741" y="2075"/>
              <a:ext cx="1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C</a:t>
              </a:r>
              <a:r>
                <a:rPr kumimoji="1" lang="en-US" altLang="zh-CN" sz="1400" b="1" baseline="-25000">
                  <a:solidFill>
                    <a:srgbClr val="000000"/>
                  </a:solidFill>
                  <a:latin typeface="Times New Roman" panose="02020603050405020304" pitchFamily="18" charset="0"/>
                </a:rPr>
                <a:t>L</a:t>
              </a:r>
            </a:p>
          </p:txBody>
        </p:sp>
        <p:sp>
          <p:nvSpPr>
            <p:cNvPr id="27675" name="Text Box 104">
              <a:extLst>
                <a:ext uri="{FF2B5EF4-FFF2-40B4-BE49-F238E27FC236}">
                  <a16:creationId xmlns:a16="http://schemas.microsoft.com/office/drawing/2014/main" id="{22B727A6-66CB-4A80-A537-3584370C4C1C}"/>
                </a:ext>
              </a:extLst>
            </p:cNvPr>
            <p:cNvSpPr txBox="1">
              <a:spLocks noChangeArrowheads="1"/>
            </p:cNvSpPr>
            <p:nvPr/>
          </p:nvSpPr>
          <p:spPr bwMode="auto">
            <a:xfrm>
              <a:off x="3741" y="3064"/>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C</a:t>
              </a:r>
              <a:r>
                <a:rPr kumimoji="1" lang="en-US" altLang="zh-CN" sz="1400" b="1" baseline="-25000">
                  <a:solidFill>
                    <a:srgbClr val="000000"/>
                  </a:solidFill>
                  <a:latin typeface="Times New Roman" panose="02020603050405020304" pitchFamily="18" charset="0"/>
                </a:rPr>
                <a:t>H</a:t>
              </a:r>
            </a:p>
          </p:txBody>
        </p:sp>
        <p:sp>
          <p:nvSpPr>
            <p:cNvPr id="27676" name="Text Box 105">
              <a:extLst>
                <a:ext uri="{FF2B5EF4-FFF2-40B4-BE49-F238E27FC236}">
                  <a16:creationId xmlns:a16="http://schemas.microsoft.com/office/drawing/2014/main" id="{93D63876-EDD0-4CAA-85F8-F2B1BEB41A58}"/>
                </a:ext>
              </a:extLst>
            </p:cNvPr>
            <p:cNvSpPr txBox="1">
              <a:spLocks noChangeArrowheads="1"/>
            </p:cNvSpPr>
            <p:nvPr/>
          </p:nvSpPr>
          <p:spPr bwMode="auto">
            <a:xfrm>
              <a:off x="2789" y="3064"/>
              <a:ext cx="139"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C</a:t>
              </a:r>
              <a:r>
                <a:rPr kumimoji="1" lang="en-US" altLang="zh-CN" sz="1400" b="1" baseline="-25000">
                  <a:solidFill>
                    <a:srgbClr val="000000"/>
                  </a:solidFill>
                  <a:latin typeface="Times New Roman" panose="02020603050405020304" pitchFamily="18" charset="0"/>
                </a:rPr>
                <a:t>0</a:t>
              </a:r>
            </a:p>
          </p:txBody>
        </p:sp>
        <p:sp>
          <p:nvSpPr>
            <p:cNvPr id="27677" name="Freeform 106">
              <a:extLst>
                <a:ext uri="{FF2B5EF4-FFF2-40B4-BE49-F238E27FC236}">
                  <a16:creationId xmlns:a16="http://schemas.microsoft.com/office/drawing/2014/main" id="{987F3ABD-8BAF-4ECA-9469-6B5B490CCBA2}"/>
                </a:ext>
              </a:extLst>
            </p:cNvPr>
            <p:cNvSpPr>
              <a:spLocks/>
            </p:cNvSpPr>
            <p:nvPr/>
          </p:nvSpPr>
          <p:spPr bwMode="auto">
            <a:xfrm>
              <a:off x="2733" y="2190"/>
              <a:ext cx="294" cy="437"/>
            </a:xfrm>
            <a:custGeom>
              <a:avLst/>
              <a:gdLst>
                <a:gd name="T0" fmla="*/ 0 w 735"/>
                <a:gd name="T1" fmla="*/ 0 h 1092"/>
                <a:gd name="T2" fmla="*/ 0 w 735"/>
                <a:gd name="T3" fmla="*/ 0 h 1092"/>
                <a:gd name="T4" fmla="*/ 0 w 735"/>
                <a:gd name="T5" fmla="*/ 0 h 1092"/>
                <a:gd name="T6" fmla="*/ 0 60000 65536"/>
                <a:gd name="T7" fmla="*/ 0 60000 65536"/>
                <a:gd name="T8" fmla="*/ 0 60000 65536"/>
              </a:gdLst>
              <a:ahLst/>
              <a:cxnLst>
                <a:cxn ang="T6">
                  <a:pos x="T0" y="T1"/>
                </a:cxn>
                <a:cxn ang="T7">
                  <a:pos x="T2" y="T3"/>
                </a:cxn>
                <a:cxn ang="T8">
                  <a:pos x="T4" y="T5"/>
                </a:cxn>
              </a:cxnLst>
              <a:rect l="0" t="0" r="r" b="b"/>
              <a:pathLst>
                <a:path w="735" h="1092">
                  <a:moveTo>
                    <a:pt x="525" y="1092"/>
                  </a:moveTo>
                  <a:lnTo>
                    <a:pt x="0" y="0"/>
                  </a:lnTo>
                  <a:lnTo>
                    <a:pt x="735" y="936"/>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78" name="Freeform 107">
              <a:extLst>
                <a:ext uri="{FF2B5EF4-FFF2-40B4-BE49-F238E27FC236}">
                  <a16:creationId xmlns:a16="http://schemas.microsoft.com/office/drawing/2014/main" id="{F0FD009D-DBBD-4D26-8F4E-533DAE895B06}"/>
                </a:ext>
              </a:extLst>
            </p:cNvPr>
            <p:cNvSpPr>
              <a:spLocks/>
            </p:cNvSpPr>
            <p:nvPr/>
          </p:nvSpPr>
          <p:spPr bwMode="auto">
            <a:xfrm>
              <a:off x="3569" y="2190"/>
              <a:ext cx="214" cy="375"/>
            </a:xfrm>
            <a:custGeom>
              <a:avLst/>
              <a:gdLst>
                <a:gd name="T0" fmla="*/ 0 w 534"/>
                <a:gd name="T1" fmla="*/ 0 h 936"/>
                <a:gd name="T2" fmla="*/ 0 w 534"/>
                <a:gd name="T3" fmla="*/ 0 h 936"/>
                <a:gd name="T4" fmla="*/ 0 w 534"/>
                <a:gd name="T5" fmla="*/ 0 h 936"/>
                <a:gd name="T6" fmla="*/ 0 60000 65536"/>
                <a:gd name="T7" fmla="*/ 0 60000 65536"/>
                <a:gd name="T8" fmla="*/ 0 60000 65536"/>
              </a:gdLst>
              <a:ahLst/>
              <a:cxnLst>
                <a:cxn ang="T6">
                  <a:pos x="T0" y="T1"/>
                </a:cxn>
                <a:cxn ang="T7">
                  <a:pos x="T2" y="T3"/>
                </a:cxn>
                <a:cxn ang="T8">
                  <a:pos x="T4" y="T5"/>
                </a:cxn>
              </a:cxnLst>
              <a:rect l="0" t="0" r="r" b="b"/>
              <a:pathLst>
                <a:path w="534" h="936">
                  <a:moveTo>
                    <a:pt x="114" y="936"/>
                  </a:moveTo>
                  <a:lnTo>
                    <a:pt x="534" y="0"/>
                  </a:lnTo>
                  <a:lnTo>
                    <a:pt x="0" y="671"/>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79" name="Freeform 108">
              <a:extLst>
                <a:ext uri="{FF2B5EF4-FFF2-40B4-BE49-F238E27FC236}">
                  <a16:creationId xmlns:a16="http://schemas.microsoft.com/office/drawing/2014/main" id="{C4D69FA2-677D-4ED6-88A0-F92C4AA7F0AF}"/>
                </a:ext>
              </a:extLst>
            </p:cNvPr>
            <p:cNvSpPr>
              <a:spLocks/>
            </p:cNvSpPr>
            <p:nvPr/>
          </p:nvSpPr>
          <p:spPr bwMode="auto">
            <a:xfrm>
              <a:off x="3521" y="2561"/>
              <a:ext cx="262" cy="503"/>
            </a:xfrm>
            <a:custGeom>
              <a:avLst/>
              <a:gdLst>
                <a:gd name="T0" fmla="*/ 0 w 654"/>
                <a:gd name="T1" fmla="*/ 0 h 1258"/>
                <a:gd name="T2" fmla="*/ 0 w 654"/>
                <a:gd name="T3" fmla="*/ 0 h 1258"/>
                <a:gd name="T4" fmla="*/ 0 w 654"/>
                <a:gd name="T5" fmla="*/ 0 h 1258"/>
                <a:gd name="T6" fmla="*/ 0 60000 65536"/>
                <a:gd name="T7" fmla="*/ 0 60000 65536"/>
                <a:gd name="T8" fmla="*/ 0 60000 65536"/>
              </a:gdLst>
              <a:ahLst/>
              <a:cxnLst>
                <a:cxn ang="T6">
                  <a:pos x="T0" y="T1"/>
                </a:cxn>
                <a:cxn ang="T7">
                  <a:pos x="T2" y="T3"/>
                </a:cxn>
                <a:cxn ang="T8">
                  <a:pos x="T4" y="T5"/>
                </a:cxn>
              </a:cxnLst>
              <a:rect l="0" t="0" r="r" b="b"/>
              <a:pathLst>
                <a:path w="654" h="1258">
                  <a:moveTo>
                    <a:pt x="128" y="0"/>
                  </a:moveTo>
                  <a:lnTo>
                    <a:pt x="654" y="1258"/>
                  </a:lnTo>
                  <a:lnTo>
                    <a:pt x="0" y="607"/>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80" name="Freeform 109">
              <a:extLst>
                <a:ext uri="{FF2B5EF4-FFF2-40B4-BE49-F238E27FC236}">
                  <a16:creationId xmlns:a16="http://schemas.microsoft.com/office/drawing/2014/main" id="{4D706C99-DC48-440C-9E72-C6C804B38FEA}"/>
                </a:ext>
              </a:extLst>
            </p:cNvPr>
            <p:cNvSpPr>
              <a:spLocks/>
            </p:cNvSpPr>
            <p:nvPr/>
          </p:nvSpPr>
          <p:spPr bwMode="auto">
            <a:xfrm>
              <a:off x="2859" y="2627"/>
              <a:ext cx="210" cy="437"/>
            </a:xfrm>
            <a:custGeom>
              <a:avLst/>
              <a:gdLst>
                <a:gd name="T0" fmla="*/ 0 w 525"/>
                <a:gd name="T1" fmla="*/ 0 h 1092"/>
                <a:gd name="T2" fmla="*/ 0 w 525"/>
                <a:gd name="T3" fmla="*/ 0 h 1092"/>
                <a:gd name="T4" fmla="*/ 0 w 525"/>
                <a:gd name="T5" fmla="*/ 0 h 1092"/>
                <a:gd name="T6" fmla="*/ 0 60000 65536"/>
                <a:gd name="T7" fmla="*/ 0 60000 65536"/>
                <a:gd name="T8" fmla="*/ 0 60000 65536"/>
              </a:gdLst>
              <a:ahLst/>
              <a:cxnLst>
                <a:cxn ang="T6">
                  <a:pos x="T0" y="T1"/>
                </a:cxn>
                <a:cxn ang="T7">
                  <a:pos x="T2" y="T3"/>
                </a:cxn>
                <a:cxn ang="T8">
                  <a:pos x="T4" y="T5"/>
                </a:cxn>
              </a:cxnLst>
              <a:rect l="0" t="0" r="r" b="b"/>
              <a:pathLst>
                <a:path w="525" h="1092">
                  <a:moveTo>
                    <a:pt x="315" y="0"/>
                  </a:moveTo>
                  <a:lnTo>
                    <a:pt x="0" y="1092"/>
                  </a:lnTo>
                  <a:lnTo>
                    <a:pt x="525" y="468"/>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81" name="Text Box 110">
              <a:extLst>
                <a:ext uri="{FF2B5EF4-FFF2-40B4-BE49-F238E27FC236}">
                  <a16:creationId xmlns:a16="http://schemas.microsoft.com/office/drawing/2014/main" id="{068F2870-9D88-4460-A45C-6A4DB536743A}"/>
                </a:ext>
              </a:extLst>
            </p:cNvPr>
            <p:cNvSpPr txBox="1">
              <a:spLocks noChangeArrowheads="1"/>
            </p:cNvSpPr>
            <p:nvPr/>
          </p:nvSpPr>
          <p:spPr bwMode="auto">
            <a:xfrm>
              <a:off x="3274" y="3064"/>
              <a:ext cx="18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P</a:t>
              </a:r>
              <a:r>
                <a:rPr kumimoji="1" lang="en-US" altLang="zh-CN" sz="1400" b="1" baseline="-25000">
                  <a:solidFill>
                    <a:srgbClr val="000000"/>
                  </a:solidFill>
                  <a:latin typeface="Times New Roman" panose="02020603050405020304" pitchFamily="18" charset="0"/>
                </a:rPr>
                <a:t>H</a:t>
              </a:r>
            </a:p>
          </p:txBody>
        </p:sp>
        <p:sp>
          <p:nvSpPr>
            <p:cNvPr id="27682" name="Text Box 111">
              <a:extLst>
                <a:ext uri="{FF2B5EF4-FFF2-40B4-BE49-F238E27FC236}">
                  <a16:creationId xmlns:a16="http://schemas.microsoft.com/office/drawing/2014/main" id="{A4B358BC-66EC-4F52-980F-5139C46350BF}"/>
                </a:ext>
              </a:extLst>
            </p:cNvPr>
            <p:cNvSpPr txBox="1">
              <a:spLocks noChangeArrowheads="1"/>
            </p:cNvSpPr>
            <p:nvPr/>
          </p:nvSpPr>
          <p:spPr bwMode="auto">
            <a:xfrm>
              <a:off x="3253" y="2065"/>
              <a:ext cx="1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P</a:t>
              </a:r>
              <a:r>
                <a:rPr kumimoji="1" lang="en-US" altLang="zh-CN" sz="1400" b="1" baseline="-25000">
                  <a:solidFill>
                    <a:srgbClr val="000000"/>
                  </a:solidFill>
                  <a:latin typeface="Times New Roman" panose="02020603050405020304" pitchFamily="18" charset="0"/>
                </a:rPr>
                <a:t>L</a:t>
              </a:r>
              <a:endParaRPr kumimoji="1" lang="en-US" altLang="zh-CN" sz="1200" baseline="-25000">
                <a:solidFill>
                  <a:srgbClr val="000000"/>
                </a:solidFill>
                <a:latin typeface="Times New Roman" panose="02020603050405020304" pitchFamily="18" charset="0"/>
              </a:endParaRPr>
            </a:p>
          </p:txBody>
        </p:sp>
        <p:sp>
          <p:nvSpPr>
            <p:cNvPr id="27683" name="Line 112">
              <a:extLst>
                <a:ext uri="{FF2B5EF4-FFF2-40B4-BE49-F238E27FC236}">
                  <a16:creationId xmlns:a16="http://schemas.microsoft.com/office/drawing/2014/main" id="{ADB96AF2-E75F-4307-B6D4-44173B6762CF}"/>
                </a:ext>
              </a:extLst>
            </p:cNvPr>
            <p:cNvSpPr>
              <a:spLocks noChangeShapeType="1"/>
            </p:cNvSpPr>
            <p:nvPr/>
          </p:nvSpPr>
          <p:spPr bwMode="auto">
            <a:xfrm flipV="1">
              <a:off x="3321" y="2689"/>
              <a:ext cx="0" cy="375"/>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84" name="Freeform 113">
              <a:extLst>
                <a:ext uri="{FF2B5EF4-FFF2-40B4-BE49-F238E27FC236}">
                  <a16:creationId xmlns:a16="http://schemas.microsoft.com/office/drawing/2014/main" id="{25242A8A-7F6A-4D95-A3DB-01F7D55FADF8}"/>
                </a:ext>
              </a:extLst>
            </p:cNvPr>
            <p:cNvSpPr>
              <a:spLocks/>
            </p:cNvSpPr>
            <p:nvPr/>
          </p:nvSpPr>
          <p:spPr bwMode="auto">
            <a:xfrm>
              <a:off x="3317" y="2190"/>
              <a:ext cx="1" cy="299"/>
            </a:xfrm>
            <a:custGeom>
              <a:avLst/>
              <a:gdLst>
                <a:gd name="T0" fmla="*/ 1 w 1"/>
                <a:gd name="T1" fmla="*/ 0 h 746"/>
                <a:gd name="T2" fmla="*/ 0 w 1"/>
                <a:gd name="T3" fmla="*/ 0 h 746"/>
                <a:gd name="T4" fmla="*/ 0 60000 65536"/>
                <a:gd name="T5" fmla="*/ 0 60000 65536"/>
              </a:gdLst>
              <a:ahLst/>
              <a:cxnLst>
                <a:cxn ang="T4">
                  <a:pos x="T0" y="T1"/>
                </a:cxn>
                <a:cxn ang="T5">
                  <a:pos x="T2" y="T3"/>
                </a:cxn>
              </a:cxnLst>
              <a:rect l="0" t="0" r="r" b="b"/>
              <a:pathLst>
                <a:path w="1" h="746">
                  <a:moveTo>
                    <a:pt x="1" y="0"/>
                  </a:moveTo>
                  <a:lnTo>
                    <a:pt x="0" y="746"/>
                  </a:lnTo>
                </a:path>
              </a:pathLst>
            </a:custGeom>
            <a:noFill/>
            <a:ln w="1270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85" name="Line 114">
              <a:extLst>
                <a:ext uri="{FF2B5EF4-FFF2-40B4-BE49-F238E27FC236}">
                  <a16:creationId xmlns:a16="http://schemas.microsoft.com/office/drawing/2014/main" id="{8ED76D1E-A8D0-4967-8564-C6741014644C}"/>
                </a:ext>
              </a:extLst>
            </p:cNvPr>
            <p:cNvSpPr>
              <a:spLocks noChangeShapeType="1"/>
            </p:cNvSpPr>
            <p:nvPr/>
          </p:nvSpPr>
          <p:spPr bwMode="auto">
            <a:xfrm>
              <a:off x="2459" y="2393"/>
              <a:ext cx="0" cy="12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7686" name="Line 115">
              <a:extLst>
                <a:ext uri="{FF2B5EF4-FFF2-40B4-BE49-F238E27FC236}">
                  <a16:creationId xmlns:a16="http://schemas.microsoft.com/office/drawing/2014/main" id="{EABBB879-9A8A-4C4B-B58B-8CFF579B7937}"/>
                </a:ext>
              </a:extLst>
            </p:cNvPr>
            <p:cNvSpPr>
              <a:spLocks noChangeShapeType="1"/>
            </p:cNvSpPr>
            <p:nvPr/>
          </p:nvSpPr>
          <p:spPr bwMode="auto">
            <a:xfrm flipV="1">
              <a:off x="2462" y="2627"/>
              <a:ext cx="0" cy="12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7687" name="Line 116">
              <a:extLst>
                <a:ext uri="{FF2B5EF4-FFF2-40B4-BE49-F238E27FC236}">
                  <a16:creationId xmlns:a16="http://schemas.microsoft.com/office/drawing/2014/main" id="{6CB23C5D-AD76-4099-9F6E-0289F91EE258}"/>
                </a:ext>
              </a:extLst>
            </p:cNvPr>
            <p:cNvSpPr>
              <a:spLocks noChangeShapeType="1"/>
            </p:cNvSpPr>
            <p:nvPr/>
          </p:nvSpPr>
          <p:spPr bwMode="auto">
            <a:xfrm>
              <a:off x="4151" y="2284"/>
              <a:ext cx="0" cy="12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7688" name="Line 117">
              <a:extLst>
                <a:ext uri="{FF2B5EF4-FFF2-40B4-BE49-F238E27FC236}">
                  <a16:creationId xmlns:a16="http://schemas.microsoft.com/office/drawing/2014/main" id="{3590E334-146C-4F63-A54B-83A3D63F4CFB}"/>
                </a:ext>
              </a:extLst>
            </p:cNvPr>
            <p:cNvSpPr>
              <a:spLocks noChangeShapeType="1"/>
            </p:cNvSpPr>
            <p:nvPr/>
          </p:nvSpPr>
          <p:spPr bwMode="auto">
            <a:xfrm flipV="1">
              <a:off x="4155" y="2627"/>
              <a:ext cx="0" cy="12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7689" name="Freeform 118">
              <a:extLst>
                <a:ext uri="{FF2B5EF4-FFF2-40B4-BE49-F238E27FC236}">
                  <a16:creationId xmlns:a16="http://schemas.microsoft.com/office/drawing/2014/main" id="{B1AE8335-CBF6-4F95-B347-D3CACA66C97E}"/>
                </a:ext>
              </a:extLst>
            </p:cNvPr>
            <p:cNvSpPr>
              <a:spLocks/>
            </p:cNvSpPr>
            <p:nvPr/>
          </p:nvSpPr>
          <p:spPr bwMode="auto">
            <a:xfrm flipV="1">
              <a:off x="2712" y="2635"/>
              <a:ext cx="1149" cy="98"/>
            </a:xfrm>
            <a:custGeom>
              <a:avLst/>
              <a:gdLst>
                <a:gd name="T0" fmla="*/ 0 w 2871"/>
                <a:gd name="T1" fmla="*/ 0 h 243"/>
                <a:gd name="T2" fmla="*/ 0 w 2871"/>
                <a:gd name="T3" fmla="*/ 0 h 243"/>
                <a:gd name="T4" fmla="*/ 0 w 2871"/>
                <a:gd name="T5" fmla="*/ 0 h 243"/>
                <a:gd name="T6" fmla="*/ 0 60000 65536"/>
                <a:gd name="T7" fmla="*/ 0 60000 65536"/>
                <a:gd name="T8" fmla="*/ 0 60000 65536"/>
              </a:gdLst>
              <a:ahLst/>
              <a:cxnLst>
                <a:cxn ang="T6">
                  <a:pos x="T0" y="T1"/>
                </a:cxn>
                <a:cxn ang="T7">
                  <a:pos x="T2" y="T3"/>
                </a:cxn>
                <a:cxn ang="T8">
                  <a:pos x="T4" y="T5"/>
                </a:cxn>
              </a:cxnLst>
              <a:rect l="0" t="0" r="r" b="b"/>
              <a:pathLst>
                <a:path w="2871" h="243">
                  <a:moveTo>
                    <a:pt x="0" y="243"/>
                  </a:moveTo>
                  <a:cubicBezTo>
                    <a:pt x="244" y="202"/>
                    <a:pt x="988" y="0"/>
                    <a:pt x="1466" y="0"/>
                  </a:cubicBezTo>
                  <a:cubicBezTo>
                    <a:pt x="1944" y="0"/>
                    <a:pt x="2578" y="192"/>
                    <a:pt x="2871" y="243"/>
                  </a:cubicBezTo>
                </a:path>
              </a:pathLst>
            </a:custGeom>
            <a:noFill/>
            <a:ln w="9525" cap="flat" cmpd="sng">
              <a:solidFill>
                <a:srgbClr val="33CCCC"/>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aphicFrame>
        <p:nvGraphicFramePr>
          <p:cNvPr id="76" name="Object 120">
            <a:extLst>
              <a:ext uri="{FF2B5EF4-FFF2-40B4-BE49-F238E27FC236}">
                <a16:creationId xmlns:a16="http://schemas.microsoft.com/office/drawing/2014/main" id="{01DCC718-561E-4FB9-99F2-84D1A8D8ED1A}"/>
              </a:ext>
            </a:extLst>
          </p:cNvPr>
          <p:cNvGraphicFramePr>
            <a:graphicFrameLocks noChangeAspect="1"/>
          </p:cNvGraphicFramePr>
          <p:nvPr>
            <p:extLst>
              <p:ext uri="{D42A27DB-BD31-4B8C-83A1-F6EECF244321}">
                <p14:modId xmlns:p14="http://schemas.microsoft.com/office/powerpoint/2010/main" val="2843177000"/>
              </p:ext>
            </p:extLst>
          </p:nvPr>
        </p:nvGraphicFramePr>
        <p:xfrm>
          <a:off x="4380499" y="1224344"/>
          <a:ext cx="4103688" cy="2598737"/>
        </p:xfrm>
        <a:graphic>
          <a:graphicData uri="http://schemas.openxmlformats.org/presentationml/2006/ole">
            <mc:AlternateContent xmlns:mc="http://schemas.openxmlformats.org/markup-compatibility/2006">
              <mc:Choice xmlns:v="urn:schemas-microsoft-com:vml" Requires="v">
                <p:oleObj spid="_x0000_s102413" name="Equation" r:id="rId4" imgW="2095500" imgH="1333500" progId="Equation.DSMT4">
                  <p:embed/>
                </p:oleObj>
              </mc:Choice>
              <mc:Fallback>
                <p:oleObj name="Equation" r:id="rId4" imgW="2095500" imgH="1333500" progId="Equation.DSMT4">
                  <p:embed/>
                  <p:pic>
                    <p:nvPicPr>
                      <p:cNvPr id="76" name="Object 120">
                        <a:extLst>
                          <a:ext uri="{FF2B5EF4-FFF2-40B4-BE49-F238E27FC236}">
                            <a16:creationId xmlns:a16="http://schemas.microsoft.com/office/drawing/2014/main" id="{01DCC718-561E-4FB9-99F2-84D1A8D8ED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80499" y="1224344"/>
                        <a:ext cx="4103688" cy="2598737"/>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矩形 4">
            <a:extLst>
              <a:ext uri="{FF2B5EF4-FFF2-40B4-BE49-F238E27FC236}">
                <a16:creationId xmlns:a16="http://schemas.microsoft.com/office/drawing/2014/main" id="{9FC7D4E4-A3B8-45A3-BAC2-3C5D063AA879}"/>
              </a:ext>
            </a:extLst>
          </p:cNvPr>
          <p:cNvSpPr/>
          <p:nvPr/>
        </p:nvSpPr>
        <p:spPr>
          <a:xfrm>
            <a:off x="7056342" y="3176883"/>
            <a:ext cx="1217000" cy="400110"/>
          </a:xfrm>
          <a:prstGeom prst="rect">
            <a:avLst/>
          </a:prstGeom>
        </p:spPr>
        <p:txBody>
          <a:bodyPr wrap="none">
            <a:spAutoFit/>
          </a:bodyPr>
          <a:lstStyle/>
          <a:p>
            <a:r>
              <a:rPr lang="zh-CN" altLang="en-US" sz="2000" b="1" dirty="0">
                <a:solidFill>
                  <a:srgbClr val="FF9900"/>
                </a:solidFill>
              </a:rPr>
              <a:t>线性关系</a:t>
            </a:r>
          </a:p>
        </p:txBody>
      </p:sp>
      <p:sp>
        <p:nvSpPr>
          <p:cNvPr id="72" name="Rectangle 122">
            <a:extLst>
              <a:ext uri="{FF2B5EF4-FFF2-40B4-BE49-F238E27FC236}">
                <a16:creationId xmlns:a16="http://schemas.microsoft.com/office/drawing/2014/main" id="{CAF32B59-FD94-459B-BD78-95073524A057}"/>
              </a:ext>
            </a:extLst>
          </p:cNvPr>
          <p:cNvSpPr>
            <a:spLocks noChangeArrowheads="1"/>
          </p:cNvSpPr>
          <p:nvPr/>
        </p:nvSpPr>
        <p:spPr bwMode="auto">
          <a:xfrm>
            <a:off x="1130656" y="4265360"/>
            <a:ext cx="7415285" cy="1061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20000"/>
              </a:lnSpc>
              <a:spcBef>
                <a:spcPct val="0"/>
              </a:spcBef>
              <a:buFontTx/>
              <a:buNone/>
            </a:pPr>
            <a:r>
              <a:rPr kumimoji="1" lang="en-US" altLang="zh-CN" sz="1800" b="1" dirty="0">
                <a:latin typeface="微软雅黑" panose="020B0503020204020204" pitchFamily="34" charset="-122"/>
                <a:ea typeface="微软雅黑" panose="020B0503020204020204" pitchFamily="34" charset="-122"/>
              </a:rPr>
              <a:t> </a:t>
            </a:r>
            <a:r>
              <a:rPr kumimoji="1" lang="zh-CN" altLang="en-US" sz="1800" b="1" dirty="0">
                <a:latin typeface="微软雅黑" panose="020B0503020204020204" pitchFamily="34" charset="-122"/>
                <a:ea typeface="微软雅黑" panose="020B0503020204020204" pitchFamily="34" charset="-122"/>
              </a:rPr>
              <a:t>针对球</a:t>
            </a:r>
            <a:r>
              <a:rPr kumimoji="1" lang="en-US" altLang="zh-CN" sz="1800" b="1" dirty="0">
                <a:latin typeface="微软雅黑" panose="020B0503020204020204" pitchFamily="34" charset="-122"/>
                <a:ea typeface="微软雅黑" panose="020B0503020204020204" pitchFamily="34" charset="-122"/>
              </a:rPr>
              <a:t>—</a:t>
            </a:r>
            <a:r>
              <a:rPr kumimoji="1" lang="zh-CN" altLang="en-US" sz="1800" b="1" dirty="0">
                <a:latin typeface="微软雅黑" panose="020B0503020204020204" pitchFamily="34" charset="-122"/>
                <a:ea typeface="微软雅黑" panose="020B0503020204020204" pitchFamily="34" charset="-122"/>
              </a:rPr>
              <a:t>平面型电容器，可用面积分法计算得到</a:t>
            </a:r>
            <a:r>
              <a:rPr kumimoji="1" lang="en-US" altLang="zh-CN" sz="1800" b="1" dirty="0">
                <a:latin typeface="微软雅黑" panose="020B0503020204020204" pitchFamily="34" charset="-122"/>
                <a:ea typeface="微软雅黑" panose="020B0503020204020204" pitchFamily="34" charset="-122"/>
              </a:rPr>
              <a:t>C</a:t>
            </a:r>
            <a:r>
              <a:rPr kumimoji="1" lang="en-US" altLang="zh-CN" sz="1800" b="1" baseline="-25000" dirty="0">
                <a:latin typeface="微软雅黑" panose="020B0503020204020204" pitchFamily="34" charset="-122"/>
                <a:ea typeface="微软雅黑" panose="020B0503020204020204" pitchFamily="34" charset="-122"/>
              </a:rPr>
              <a:t>0</a:t>
            </a:r>
            <a:r>
              <a:rPr kumimoji="1" lang="en-US" altLang="zh-CN" sz="1800" b="1" dirty="0">
                <a:latin typeface="微软雅黑" panose="020B0503020204020204" pitchFamily="34" charset="-122"/>
                <a:ea typeface="微软雅黑" panose="020B0503020204020204" pitchFamily="34" charset="-122"/>
              </a:rPr>
              <a:t>/C</a:t>
            </a:r>
            <a:r>
              <a:rPr kumimoji="1" lang="en-US" altLang="zh-CN" sz="1800" b="1" baseline="-25000" dirty="0">
                <a:latin typeface="微软雅黑" panose="020B0503020204020204" pitchFamily="34" charset="-122"/>
                <a:ea typeface="微软雅黑" panose="020B0503020204020204" pitchFamily="34" charset="-122"/>
              </a:rPr>
              <a:t>A</a:t>
            </a:r>
            <a:r>
              <a:rPr kumimoji="1" lang="zh-CN" altLang="en-US" sz="1800" b="1" dirty="0">
                <a:latin typeface="微软雅黑" panose="020B0503020204020204" pitchFamily="34" charset="-122"/>
                <a:ea typeface="微软雅黑" panose="020B0503020204020204" pitchFamily="34" charset="-122"/>
              </a:rPr>
              <a:t>与压力差（</a:t>
            </a:r>
            <a:r>
              <a:rPr kumimoji="1" lang="en-US" altLang="zh-CN" sz="1800" b="1" dirty="0">
                <a:latin typeface="微软雅黑" panose="020B0503020204020204" pitchFamily="34" charset="-122"/>
                <a:ea typeface="微软雅黑" panose="020B0503020204020204" pitchFamily="34" charset="-122"/>
              </a:rPr>
              <a:t>P</a:t>
            </a:r>
            <a:r>
              <a:rPr kumimoji="1" lang="en-US" altLang="zh-CN" sz="1800" b="1" baseline="-25000" dirty="0">
                <a:latin typeface="微软雅黑" panose="020B0503020204020204" pitchFamily="34" charset="-122"/>
                <a:ea typeface="微软雅黑" panose="020B0503020204020204" pitchFamily="34" charset="-122"/>
              </a:rPr>
              <a:t>H</a:t>
            </a:r>
            <a:r>
              <a:rPr kumimoji="1" lang="en-US" altLang="zh-CN" sz="1800" b="1" dirty="0">
                <a:latin typeface="微软雅黑" panose="020B0503020204020204" pitchFamily="34" charset="-122"/>
                <a:ea typeface="微软雅黑" panose="020B0503020204020204" pitchFamily="34" charset="-122"/>
              </a:rPr>
              <a:t>-P</a:t>
            </a:r>
            <a:r>
              <a:rPr kumimoji="1" lang="en-US" altLang="zh-CN" sz="1800" b="1" baseline="-25000" dirty="0">
                <a:latin typeface="微软雅黑" panose="020B0503020204020204" pitchFamily="34" charset="-122"/>
                <a:ea typeface="微软雅黑" panose="020B0503020204020204" pitchFamily="34" charset="-122"/>
              </a:rPr>
              <a:t>L</a:t>
            </a:r>
            <a:r>
              <a:rPr kumimoji="1" lang="zh-CN" altLang="en-US" sz="1800" b="1" dirty="0">
                <a:latin typeface="微软雅黑" panose="020B0503020204020204" pitchFamily="34" charset="-122"/>
                <a:ea typeface="微软雅黑" panose="020B0503020204020204" pitchFamily="34" charset="-122"/>
              </a:rPr>
              <a:t>）的关系（</a:t>
            </a:r>
            <a:r>
              <a:rPr kumimoji="1" lang="zh-CN" altLang="en-US" sz="1800" b="1" dirty="0">
                <a:solidFill>
                  <a:srgbClr val="FF0000"/>
                </a:solidFill>
                <a:latin typeface="微软雅黑" panose="020B0503020204020204" pitchFamily="34" charset="-122"/>
                <a:ea typeface="微软雅黑" panose="020B0503020204020204" pitchFamily="34" charset="-122"/>
              </a:rPr>
              <a:t>教材</a:t>
            </a:r>
            <a:r>
              <a:rPr kumimoji="1" lang="en-US" altLang="zh-CN" sz="1800" b="1" dirty="0">
                <a:solidFill>
                  <a:srgbClr val="FF0000"/>
                </a:solidFill>
                <a:latin typeface="微软雅黑" panose="020B0503020204020204" pitchFamily="34" charset="-122"/>
                <a:ea typeface="微软雅黑" panose="020B0503020204020204" pitchFamily="34" charset="-122"/>
              </a:rPr>
              <a:t>P61</a:t>
            </a:r>
            <a:r>
              <a:rPr kumimoji="1" lang="zh-CN" altLang="en-US" sz="1800" b="1" dirty="0">
                <a:latin typeface="微软雅黑" panose="020B0503020204020204" pitchFamily="34" charset="-122"/>
                <a:ea typeface="微软雅黑" panose="020B0503020204020204" pitchFamily="34" charset="-122"/>
              </a:rPr>
              <a:t>），再通过电容测量电路</a:t>
            </a:r>
            <a:r>
              <a:rPr kumimoji="1" lang="en-US" altLang="zh-CN" sz="1800" b="1" dirty="0">
                <a:latin typeface="微软雅黑" panose="020B0503020204020204" pitchFamily="34" charset="-122"/>
                <a:ea typeface="微软雅黑" panose="020B0503020204020204" pitchFamily="34" charset="-122"/>
              </a:rPr>
              <a:t>(</a:t>
            </a:r>
            <a:r>
              <a:rPr kumimoji="1" lang="zh-CN" altLang="en-US" sz="1800" b="1" dirty="0">
                <a:solidFill>
                  <a:srgbClr val="FF0000"/>
                </a:solidFill>
                <a:latin typeface="微软雅黑" panose="020B0503020204020204" pitchFamily="34" charset="-122"/>
                <a:ea typeface="微软雅黑" panose="020B0503020204020204" pitchFamily="34" charset="-122"/>
              </a:rPr>
              <a:t>教材</a:t>
            </a:r>
            <a:r>
              <a:rPr kumimoji="1" lang="en-US" altLang="zh-CN" sz="1800" b="1" dirty="0">
                <a:solidFill>
                  <a:srgbClr val="FF0000"/>
                </a:solidFill>
                <a:latin typeface="微软雅黑" panose="020B0503020204020204" pitchFamily="34" charset="-122"/>
                <a:ea typeface="微软雅黑" panose="020B0503020204020204" pitchFamily="34" charset="-122"/>
              </a:rPr>
              <a:t>P53</a:t>
            </a:r>
            <a:r>
              <a:rPr kumimoji="1" lang="en-US" altLang="zh-CN" sz="1800" b="1" dirty="0">
                <a:latin typeface="微软雅黑" panose="020B0503020204020204" pitchFamily="34" charset="-122"/>
                <a:ea typeface="微软雅黑" panose="020B0503020204020204" pitchFamily="34" charset="-122"/>
              </a:rPr>
              <a:t>)</a:t>
            </a:r>
            <a:r>
              <a:rPr kumimoji="1" lang="zh-CN" altLang="en-US" sz="1800" b="1" dirty="0">
                <a:latin typeface="微软雅黑" panose="020B0503020204020204" pitchFamily="34" charset="-122"/>
                <a:ea typeface="微软雅黑" panose="020B0503020204020204" pitchFamily="34" charset="-122"/>
              </a:rPr>
              <a:t>，将其转换为电流输出，即：</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F8F4373-6B7C-4AB5-82F2-762D762DB622}"/>
                  </a:ext>
                </a:extLst>
              </p:cNvPr>
              <p:cNvSpPr txBox="1"/>
              <p:nvPr/>
            </p:nvSpPr>
            <p:spPr>
              <a:xfrm>
                <a:off x="3045728" y="5051636"/>
                <a:ext cx="4406592" cy="754309"/>
              </a:xfrm>
              <a:prstGeom prst="rect">
                <a:avLst/>
              </a:prstGeom>
              <a:solidFill>
                <a:schemeClr val="accent3">
                  <a:lumMod val="95000"/>
                </a:schemeClr>
              </a:solidFill>
              <a:effectLst>
                <a:outerShdw blurRad="50800" dist="38100" dir="2700000" algn="tl" rotWithShape="0">
                  <a:prstClr val="black">
                    <a:alpha val="40000"/>
                  </a:prstClr>
                </a:outerShdw>
              </a:effectLst>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𝐼</m:t>
                      </m:r>
                      <m:r>
                        <a:rPr lang="en-US" altLang="zh-CN" sz="2400" i="1" smtClean="0">
                          <a:latin typeface="Cambria Math" panose="02040503050406030204" pitchFamily="18" charset="0"/>
                        </a:rPr>
                        <m:t>=</m:t>
                      </m:r>
                      <m:r>
                        <a:rPr lang="en-US" altLang="zh-CN" sz="2400" b="0" i="1" smtClean="0">
                          <a:latin typeface="Cambria Math" panose="02040503050406030204" pitchFamily="18" charset="0"/>
                        </a:rPr>
                        <m:t>𝐾</m:t>
                      </m:r>
                      <m:f>
                        <m:fPr>
                          <m:ctrlPr>
                            <a:rPr lang="el-GR" altLang="zh-CN" sz="2400" i="1" smtClean="0">
                              <a:latin typeface="Cambria Math" panose="02040503050406030204" pitchFamily="18" charset="0"/>
                            </a:rPr>
                          </m:ctrlPr>
                        </m:fPr>
                        <m:num>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𝐶</m:t>
                              </m:r>
                            </m:e>
                            <m:sub>
                              <m:r>
                                <a:rPr lang="en-US" altLang="zh-CN" sz="2400" b="0" i="1" smtClean="0">
                                  <a:latin typeface="Cambria Math" panose="02040503050406030204" pitchFamily="18" charset="0"/>
                                </a:rPr>
                                <m:t>0</m:t>
                              </m:r>
                            </m:sub>
                          </m:sSub>
                        </m:num>
                        <m:den>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e>
                            <m:sub>
                              <m:r>
                                <m:rPr>
                                  <m:sty m:val="p"/>
                                </m:rPr>
                                <a:rPr lang="en-US" altLang="zh-CN" sz="2400" i="1" smtClean="0">
                                  <a:latin typeface="Cambria Math" panose="02040503050406030204" pitchFamily="18" charset="0"/>
                                </a:rPr>
                                <m:t>A</m:t>
                              </m:r>
                            </m:sub>
                          </m:sSub>
                        </m:den>
                      </m:f>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𝐼</m:t>
                          </m:r>
                        </m:e>
                        <m:sub>
                          <m:r>
                            <a:rPr lang="en-US" altLang="zh-CN" sz="2400" i="1">
                              <a:latin typeface="Cambria Math" panose="02040503050406030204" pitchFamily="18" charset="0"/>
                            </a:rPr>
                            <m:t>0</m:t>
                          </m:r>
                        </m:sub>
                      </m:sSub>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𝐾</m:t>
                          </m:r>
                        </m:e>
                        <m:sup>
                          <m:r>
                            <a:rPr lang="en-US" altLang="zh-CN" sz="2400" b="0" i="1" smtClean="0">
                              <a:latin typeface="Cambria Math" panose="02040503050406030204" pitchFamily="18" charset="0"/>
                            </a:rPr>
                            <m:t>′</m:t>
                          </m:r>
                        </m:sup>
                      </m:sSup>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𝑃</m:t>
                              </m:r>
                            </m:e>
                            <m:sub>
                              <m:r>
                                <a:rPr lang="en-US" altLang="zh-CN" sz="2400" b="0" i="1" smtClean="0">
                                  <a:latin typeface="Cambria Math" panose="02040503050406030204" pitchFamily="18" charset="0"/>
                                </a:rPr>
                                <m:t>𝐻</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𝑃</m:t>
                              </m:r>
                            </m:e>
                            <m:sub>
                              <m:r>
                                <a:rPr lang="en-US" altLang="zh-CN" sz="2400" b="0" i="1" smtClean="0">
                                  <a:latin typeface="Cambria Math" panose="02040503050406030204" pitchFamily="18" charset="0"/>
                                </a:rPr>
                                <m:t>𝐿</m:t>
                              </m:r>
                            </m:sub>
                          </m:sSub>
                        </m:e>
                      </m:d>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𝐼</m:t>
                          </m:r>
                        </m:e>
                        <m:sub>
                          <m:r>
                            <a:rPr lang="en-US" altLang="zh-CN" sz="2400" b="0" i="1" smtClean="0">
                              <a:latin typeface="Cambria Math" panose="02040503050406030204" pitchFamily="18" charset="0"/>
                            </a:rPr>
                            <m:t>0</m:t>
                          </m:r>
                        </m:sub>
                      </m:sSub>
                    </m:oMath>
                  </m:oMathPara>
                </a14:m>
                <a:endParaRPr lang="zh-CN" altLang="en-US" sz="2400" dirty="0"/>
              </a:p>
            </p:txBody>
          </p:sp>
        </mc:Choice>
        <mc:Fallback xmlns="">
          <p:sp>
            <p:nvSpPr>
              <p:cNvPr id="6" name="文本框 5">
                <a:extLst>
                  <a:ext uri="{FF2B5EF4-FFF2-40B4-BE49-F238E27FC236}">
                    <a16:creationId xmlns:a16="http://schemas.microsoft.com/office/drawing/2014/main" id="{BF8F4373-6B7C-4AB5-82F2-762D762DB622}"/>
                  </a:ext>
                </a:extLst>
              </p:cNvPr>
              <p:cNvSpPr txBox="1">
                <a:spLocks noRot="1" noChangeAspect="1" noMove="1" noResize="1" noEditPoints="1" noAdjustHandles="1" noChangeArrowheads="1" noChangeShapeType="1" noTextEdit="1"/>
              </p:cNvSpPr>
              <p:nvPr/>
            </p:nvSpPr>
            <p:spPr>
              <a:xfrm>
                <a:off x="3045728" y="5051636"/>
                <a:ext cx="4406592" cy="754309"/>
              </a:xfrm>
              <a:prstGeom prst="rect">
                <a:avLst/>
              </a:prstGeom>
              <a:blipFill>
                <a:blip r:embed="rId6"/>
                <a:stretch>
                  <a:fillRect/>
                </a:stretch>
              </a:blipFill>
              <a:effectLst>
                <a:outerShdw blurRad="50800" dist="38100" dir="2700000" algn="tl" rotWithShape="0">
                  <a:prstClr val="black">
                    <a:alpha val="40000"/>
                  </a:prstClr>
                </a:outerShdw>
              </a:effectLst>
            </p:spPr>
            <p:txBody>
              <a:bodyPr/>
              <a:lstStyle/>
              <a:p>
                <a:r>
                  <a:rPr lang="zh-CN" altLang="en-US">
                    <a:noFill/>
                  </a:rPr>
                  <a:t> </a:t>
                </a:r>
              </a:p>
            </p:txBody>
          </p:sp>
        </mc:Fallback>
      </mc:AlternateContent>
      <p:sp>
        <p:nvSpPr>
          <p:cNvPr id="75" name="矩形 74">
            <a:extLst>
              <a:ext uri="{FF2B5EF4-FFF2-40B4-BE49-F238E27FC236}">
                <a16:creationId xmlns:a16="http://schemas.microsoft.com/office/drawing/2014/main" id="{638CE6B5-2903-43CC-A8DA-8D213F1E112E}"/>
              </a:ext>
            </a:extLst>
          </p:cNvPr>
          <p:cNvSpPr/>
          <p:nvPr/>
        </p:nvSpPr>
        <p:spPr>
          <a:xfrm>
            <a:off x="1228222" y="5911557"/>
            <a:ext cx="6704079" cy="646331"/>
          </a:xfrm>
          <a:prstGeom prst="rect">
            <a:avLst/>
          </a:prstGeom>
        </p:spPr>
        <p:txBody>
          <a:bodyPr wrap="none">
            <a:spAutoFit/>
          </a:bodyPr>
          <a:lstStyle/>
          <a:p>
            <a:r>
              <a:rPr lang="zh-CN" altLang="en-US" b="1" dirty="0">
                <a:solidFill>
                  <a:srgbClr val="FF9900"/>
                </a:solidFill>
              </a:rPr>
              <a:t>**经过传感器结构和测量电路二者结合，将变极距型传感器设计</a:t>
            </a:r>
            <a:endParaRPr lang="en-US" altLang="zh-CN" b="1" dirty="0">
              <a:solidFill>
                <a:srgbClr val="FF9900"/>
              </a:solidFill>
            </a:endParaRPr>
          </a:p>
          <a:p>
            <a:r>
              <a:rPr lang="zh-CN" altLang="en-US" b="1" dirty="0">
                <a:solidFill>
                  <a:srgbClr val="FF9900"/>
                </a:solidFill>
              </a:rPr>
              <a:t>为原理上线性的传感器系统。</a:t>
            </a:r>
          </a:p>
        </p:txBody>
      </p:sp>
    </p:spTree>
    <p:extLst>
      <p:ext uri="{BB962C8B-B14F-4D97-AF65-F5344CB8AC3E}">
        <p14:creationId xmlns:p14="http://schemas.microsoft.com/office/powerpoint/2010/main" val="2472466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2"/>
                                        </p:tgtEl>
                                        <p:attrNameLst>
                                          <p:attrName>style.visibility</p:attrName>
                                        </p:attrNameLst>
                                      </p:cBhvr>
                                      <p:to>
                                        <p:strVal val="visible"/>
                                      </p:to>
                                    </p:set>
                                    <p:anim calcmode="lin" valueType="num">
                                      <p:cBhvr additive="base">
                                        <p:cTn id="11" dur="500" fill="hold"/>
                                        <p:tgtEl>
                                          <p:spTgt spid="72"/>
                                        </p:tgtEl>
                                        <p:attrNameLst>
                                          <p:attrName>ppt_x</p:attrName>
                                        </p:attrNameLst>
                                      </p:cBhvr>
                                      <p:tavLst>
                                        <p:tav tm="0">
                                          <p:val>
                                            <p:strVal val="#ppt_x"/>
                                          </p:val>
                                        </p:tav>
                                        <p:tav tm="100000">
                                          <p:val>
                                            <p:strVal val="#ppt_x"/>
                                          </p:val>
                                        </p:tav>
                                      </p:tavLst>
                                    </p:anim>
                                    <p:anim calcmode="lin" valueType="num">
                                      <p:cBhvr additive="base">
                                        <p:cTn id="12"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75"/>
                                        </p:tgtEl>
                                        <p:attrNameLst>
                                          <p:attrName>style.visibility</p:attrName>
                                        </p:attrNameLst>
                                      </p:cBhvr>
                                      <p:to>
                                        <p:strVal val="visible"/>
                                      </p:to>
                                    </p:set>
                                    <p:anim calcmode="lin" valueType="num">
                                      <p:cBhvr additive="base">
                                        <p:cTn id="17" dur="500" fill="hold"/>
                                        <p:tgtEl>
                                          <p:spTgt spid="75"/>
                                        </p:tgtEl>
                                        <p:attrNameLst>
                                          <p:attrName>ppt_x</p:attrName>
                                        </p:attrNameLst>
                                      </p:cBhvr>
                                      <p:tavLst>
                                        <p:tav tm="0">
                                          <p:val>
                                            <p:strVal val="1+#ppt_w/2"/>
                                          </p:val>
                                        </p:tav>
                                        <p:tav tm="100000">
                                          <p:val>
                                            <p:strVal val="#ppt_x"/>
                                          </p:val>
                                        </p:tav>
                                      </p:tavLst>
                                    </p:anim>
                                    <p:anim calcmode="lin" valueType="num">
                                      <p:cBhvr additive="base">
                                        <p:cTn id="18" dur="500" fill="hold"/>
                                        <p:tgtEl>
                                          <p:spTgt spid="7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6" grpId="0" animBg="1"/>
      <p:bldP spid="75"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Text Box 2">
            <a:extLst>
              <a:ext uri="{FF2B5EF4-FFF2-40B4-BE49-F238E27FC236}">
                <a16:creationId xmlns:a16="http://schemas.microsoft.com/office/drawing/2014/main" id="{E25454DC-10E7-4161-BF62-A982669386BE}"/>
              </a:ext>
            </a:extLst>
          </p:cNvPr>
          <p:cNvSpPr txBox="1">
            <a:spLocks noChangeArrowheads="1"/>
          </p:cNvSpPr>
          <p:nvPr/>
        </p:nvSpPr>
        <p:spPr bwMode="auto">
          <a:xfrm>
            <a:off x="419100" y="114300"/>
            <a:ext cx="8088313"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8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1.2  </a:t>
            </a:r>
            <a:r>
              <a:rPr kumimoji="1" lang="zh-CN" altLang="en-US" sz="2800" b="1">
                <a:solidFill>
                  <a:srgbClr val="C00000"/>
                </a:solidFill>
                <a:latin typeface="微软雅黑" panose="020B0503020204020204" pitchFamily="34" charset="-122"/>
                <a:ea typeface="微软雅黑" panose="020B0503020204020204" pitchFamily="34" charset="-122"/>
              </a:rPr>
              <a:t>变面积型电容式传感器</a:t>
            </a:r>
            <a:endParaRPr kumimoji="1" lang="en-US" altLang="zh-CN" sz="2400">
              <a:latin typeface="Times New Roman" panose="02020603050405020304" pitchFamily="18" charset="0"/>
            </a:endParaRPr>
          </a:p>
        </p:txBody>
      </p:sp>
      <p:graphicFrame>
        <p:nvGraphicFramePr>
          <p:cNvPr id="28675" name="Object 3">
            <a:extLst>
              <a:ext uri="{FF2B5EF4-FFF2-40B4-BE49-F238E27FC236}">
                <a16:creationId xmlns:a16="http://schemas.microsoft.com/office/drawing/2014/main" id="{333F00F5-1844-4622-92DA-3865B09803EB}"/>
              </a:ext>
            </a:extLst>
          </p:cNvPr>
          <p:cNvGraphicFramePr>
            <a:graphicFrameLocks noChangeAspect="1"/>
          </p:cNvGraphicFramePr>
          <p:nvPr/>
        </p:nvGraphicFramePr>
        <p:xfrm>
          <a:off x="3708400" y="2751138"/>
          <a:ext cx="3062288" cy="784225"/>
        </p:xfrm>
        <a:graphic>
          <a:graphicData uri="http://schemas.openxmlformats.org/presentationml/2006/ole">
            <mc:AlternateContent xmlns:mc="http://schemas.openxmlformats.org/markup-compatibility/2006">
              <mc:Choice xmlns:v="urn:schemas-microsoft-com:vml" Requires="v">
                <p:oleObj spid="_x0000_s28852" name="Equation" r:id="rId3" imgW="1536033" imgH="393529" progId="Equation.DSMT4">
                  <p:embed/>
                </p:oleObj>
              </mc:Choice>
              <mc:Fallback>
                <p:oleObj name="Equation" r:id="rId3" imgW="1536033" imgH="393529"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8400" y="2751138"/>
                        <a:ext cx="3062288"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76" name="Text Box 5">
            <a:extLst>
              <a:ext uri="{FF2B5EF4-FFF2-40B4-BE49-F238E27FC236}">
                <a16:creationId xmlns:a16="http://schemas.microsoft.com/office/drawing/2014/main" id="{63375EEC-9FF3-4BCE-B863-A1BFF7F86CFD}"/>
              </a:ext>
            </a:extLst>
          </p:cNvPr>
          <p:cNvSpPr txBox="1">
            <a:spLocks noChangeArrowheads="1"/>
          </p:cNvSpPr>
          <p:nvPr/>
        </p:nvSpPr>
        <p:spPr bwMode="auto">
          <a:xfrm>
            <a:off x="3640138" y="3581400"/>
            <a:ext cx="3573607" cy="961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kumimoji="1" lang="en-US" altLang="zh-CN" sz="2000" b="1" i="1" dirty="0">
                <a:latin typeface="微软雅黑" panose="020B0503020204020204" pitchFamily="34" charset="-122"/>
                <a:ea typeface="微软雅黑" panose="020B0503020204020204" pitchFamily="34" charset="-122"/>
              </a:rPr>
              <a:t>C</a:t>
            </a:r>
            <a:r>
              <a:rPr kumimoji="1" lang="en-US" altLang="zh-CN" sz="2000" b="1" baseline="-25000" dirty="0">
                <a:latin typeface="微软雅黑" panose="020B0503020204020204" pitchFamily="34" charset="-122"/>
                <a:ea typeface="微软雅黑" panose="020B0503020204020204" pitchFamily="34" charset="-122"/>
              </a:rPr>
              <a:t>0 </a:t>
            </a:r>
            <a:r>
              <a:rPr kumimoji="1" lang="en-US" altLang="zh-CN" sz="2000" b="1" dirty="0">
                <a:latin typeface="微软雅黑" panose="020B0503020204020204" pitchFamily="34" charset="-122"/>
                <a:ea typeface="微软雅黑" panose="020B0503020204020204" pitchFamily="34" charset="-122"/>
              </a:rPr>
              <a:t>= </a:t>
            </a:r>
            <a:r>
              <a:rPr kumimoji="1" lang="en-US" altLang="zh-CN" sz="2000" b="1" i="1" dirty="0">
                <a:latin typeface="微软雅黑" panose="020B0503020204020204" pitchFamily="34" charset="-122"/>
                <a:ea typeface="微软雅黑" panose="020B0503020204020204" pitchFamily="34" charset="-122"/>
              </a:rPr>
              <a:t>ε</a:t>
            </a:r>
            <a:r>
              <a:rPr kumimoji="1" lang="en-US" altLang="zh-CN" sz="2000" b="1" baseline="-25000" dirty="0">
                <a:latin typeface="微软雅黑" panose="020B0503020204020204" pitchFamily="34" charset="-122"/>
                <a:ea typeface="微软雅黑" panose="020B0503020204020204" pitchFamily="34" charset="-122"/>
              </a:rPr>
              <a:t>0</a:t>
            </a:r>
            <a:r>
              <a:rPr kumimoji="1" lang="en-US" altLang="zh-CN" sz="2000" b="1" i="1" dirty="0">
                <a:latin typeface="微软雅黑" panose="020B0503020204020204" pitchFamily="34" charset="-122"/>
                <a:ea typeface="微软雅黑" panose="020B0503020204020204" pitchFamily="34" charset="-122"/>
              </a:rPr>
              <a:t>ε</a:t>
            </a:r>
            <a:r>
              <a:rPr kumimoji="1" lang="en-US" altLang="zh-CN" sz="2000" b="1" baseline="-25000" dirty="0">
                <a:latin typeface="微软雅黑" panose="020B0503020204020204" pitchFamily="34" charset="-122"/>
                <a:ea typeface="微软雅黑" panose="020B0503020204020204" pitchFamily="34" charset="-122"/>
              </a:rPr>
              <a:t>r </a:t>
            </a:r>
            <a:r>
              <a:rPr kumimoji="1" lang="en-US" altLang="zh-CN" sz="2000" b="1" i="1" dirty="0" err="1">
                <a:latin typeface="微软雅黑" panose="020B0503020204020204" pitchFamily="34" charset="-122"/>
                <a:ea typeface="微软雅黑" panose="020B0503020204020204" pitchFamily="34" charset="-122"/>
              </a:rPr>
              <a:t>ba</a:t>
            </a:r>
            <a:r>
              <a:rPr kumimoji="1" lang="en-US" altLang="zh-CN" sz="2000" b="1" dirty="0">
                <a:latin typeface="微软雅黑" panose="020B0503020204020204" pitchFamily="34" charset="-122"/>
                <a:ea typeface="微软雅黑" panose="020B0503020204020204" pitchFamily="34" charset="-122"/>
              </a:rPr>
              <a:t>/</a:t>
            </a:r>
            <a:r>
              <a:rPr kumimoji="1" lang="en-US" altLang="zh-CN" sz="2000" b="1" i="1" dirty="0">
                <a:latin typeface="微软雅黑" panose="020B0503020204020204" pitchFamily="34" charset="-122"/>
                <a:ea typeface="微软雅黑" panose="020B0503020204020204" pitchFamily="34" charset="-122"/>
              </a:rPr>
              <a:t>d  </a:t>
            </a:r>
            <a:r>
              <a:rPr kumimoji="1" lang="zh-CN" altLang="en-US" sz="2000" b="1" dirty="0">
                <a:latin typeface="微软雅黑" panose="020B0503020204020204" pitchFamily="34" charset="-122"/>
                <a:ea typeface="微软雅黑" panose="020B0503020204020204" pitchFamily="34" charset="-122"/>
              </a:rPr>
              <a:t>为初始电容。</a:t>
            </a:r>
            <a:endParaRPr kumimoji="1" lang="en-US" altLang="zh-CN" sz="2000" b="1" dirty="0">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r>
              <a:rPr kumimoji="1" lang="zh-CN" altLang="en-US" sz="2000" b="1" dirty="0">
                <a:latin typeface="微软雅黑" panose="020B0503020204020204" pitchFamily="34" charset="-122"/>
                <a:ea typeface="微软雅黑" panose="020B0503020204020204" pitchFamily="34" charset="-122"/>
              </a:rPr>
              <a:t>电容相对变化量为： </a:t>
            </a:r>
          </a:p>
        </p:txBody>
      </p:sp>
      <p:graphicFrame>
        <p:nvGraphicFramePr>
          <p:cNvPr id="28677" name="Object 6">
            <a:extLst>
              <a:ext uri="{FF2B5EF4-FFF2-40B4-BE49-F238E27FC236}">
                <a16:creationId xmlns:a16="http://schemas.microsoft.com/office/drawing/2014/main" id="{2C28283F-6DB1-41DA-A176-D3F3DE82B501}"/>
              </a:ext>
            </a:extLst>
          </p:cNvPr>
          <p:cNvGraphicFramePr>
            <a:graphicFrameLocks noChangeAspect="1"/>
          </p:cNvGraphicFramePr>
          <p:nvPr/>
        </p:nvGraphicFramePr>
        <p:xfrm>
          <a:off x="3668713" y="4595813"/>
          <a:ext cx="1117600" cy="776287"/>
        </p:xfrm>
        <a:graphic>
          <a:graphicData uri="http://schemas.openxmlformats.org/presentationml/2006/ole">
            <mc:AlternateContent xmlns:mc="http://schemas.openxmlformats.org/markup-compatibility/2006">
              <mc:Choice xmlns:v="urn:schemas-microsoft-com:vml" Requires="v">
                <p:oleObj spid="_x0000_s28853" name="Equation" r:id="rId5" imgW="622030" imgH="431613" progId="Equation.3">
                  <p:embed/>
                </p:oleObj>
              </mc:Choice>
              <mc:Fallback>
                <p:oleObj name="Equation" r:id="rId5" imgW="622030" imgH="431613"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68713" y="4595813"/>
                        <a:ext cx="1117600" cy="77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78" name="Text Box 8">
            <a:extLst>
              <a:ext uri="{FF2B5EF4-FFF2-40B4-BE49-F238E27FC236}">
                <a16:creationId xmlns:a16="http://schemas.microsoft.com/office/drawing/2014/main" id="{A71C78FA-67AA-45C1-876E-8ED17F793BDF}"/>
              </a:ext>
            </a:extLst>
          </p:cNvPr>
          <p:cNvSpPr txBox="1">
            <a:spLocks noChangeArrowheads="1"/>
          </p:cNvSpPr>
          <p:nvPr/>
        </p:nvSpPr>
        <p:spPr bwMode="auto">
          <a:xfrm>
            <a:off x="3589338" y="5549900"/>
            <a:ext cx="5375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000" b="1" dirty="0">
                <a:latin typeface="微软雅黑" panose="020B0503020204020204" pitchFamily="34" charset="-122"/>
                <a:ea typeface="微软雅黑" panose="020B0503020204020204" pitchFamily="34" charset="-122"/>
              </a:rPr>
              <a:t>其电容量</a:t>
            </a:r>
            <a:r>
              <a:rPr kumimoji="1" lang="en-US" altLang="zh-CN" sz="2000" b="1" i="1" dirty="0">
                <a:latin typeface="微软雅黑" panose="020B0503020204020204" pitchFamily="34" charset="-122"/>
                <a:ea typeface="微软雅黑" panose="020B0503020204020204" pitchFamily="34" charset="-122"/>
              </a:rPr>
              <a:t>C </a:t>
            </a:r>
            <a:r>
              <a:rPr kumimoji="1" lang="zh-CN" altLang="en-US" sz="2000" b="1" dirty="0">
                <a:latin typeface="微软雅黑" panose="020B0503020204020204" pitchFamily="34" charset="-122"/>
                <a:ea typeface="微软雅黑" panose="020B0503020204020204" pitchFamily="34" charset="-122"/>
              </a:rPr>
              <a:t>与水平位移</a:t>
            </a:r>
            <a:r>
              <a:rPr kumimoji="1" lang="en-US" altLang="zh-CN" sz="2000" b="1" dirty="0" err="1">
                <a:latin typeface="微软雅黑" panose="020B0503020204020204" pitchFamily="34" charset="-122"/>
                <a:ea typeface="微软雅黑" panose="020B0503020204020204" pitchFamily="34" charset="-122"/>
              </a:rPr>
              <a:t>Δ</a:t>
            </a:r>
            <a:r>
              <a:rPr kumimoji="1" lang="en-US" altLang="zh-CN" sz="2000" b="1" i="1" dirty="0" err="1">
                <a:latin typeface="微软雅黑" panose="020B0503020204020204" pitchFamily="34" charset="-122"/>
                <a:ea typeface="微软雅黑" panose="020B0503020204020204" pitchFamily="34" charset="-122"/>
              </a:rPr>
              <a:t>x</a:t>
            </a:r>
            <a:r>
              <a:rPr kumimoji="1" lang="en-US" altLang="zh-CN" sz="2000" b="1" i="1" dirty="0">
                <a:latin typeface="微软雅黑" panose="020B0503020204020204" pitchFamily="34" charset="-122"/>
                <a:ea typeface="微软雅黑" panose="020B0503020204020204" pitchFamily="34" charset="-122"/>
              </a:rPr>
              <a:t> </a:t>
            </a:r>
            <a:r>
              <a:rPr kumimoji="1" lang="zh-CN" altLang="en-US" sz="2000" b="1" dirty="0">
                <a:latin typeface="微软雅黑" panose="020B0503020204020204" pitchFamily="34" charset="-122"/>
                <a:ea typeface="微软雅黑" panose="020B0503020204020204" pitchFamily="34" charset="-122"/>
              </a:rPr>
              <a:t>呈</a:t>
            </a:r>
            <a:r>
              <a:rPr kumimoji="1" lang="zh-CN" altLang="en-US" sz="2000" b="1" dirty="0">
                <a:solidFill>
                  <a:srgbClr val="FF0000"/>
                </a:solidFill>
                <a:latin typeface="微软雅黑" panose="020B0503020204020204" pitchFamily="34" charset="-122"/>
                <a:ea typeface="微软雅黑" panose="020B0503020204020204" pitchFamily="34" charset="-122"/>
              </a:rPr>
              <a:t>线性关系</a:t>
            </a:r>
            <a:r>
              <a:rPr kumimoji="1" lang="zh-CN" altLang="en-US" sz="2000" b="1" dirty="0">
                <a:latin typeface="微软雅黑" panose="020B0503020204020204" pitchFamily="34" charset="-122"/>
                <a:ea typeface="微软雅黑" panose="020B0503020204020204" pitchFamily="34" charset="-122"/>
              </a:rPr>
              <a:t>。 </a:t>
            </a:r>
          </a:p>
        </p:txBody>
      </p:sp>
      <p:sp>
        <p:nvSpPr>
          <p:cNvPr id="11" name="矩形 10">
            <a:extLst>
              <a:ext uri="{FF2B5EF4-FFF2-40B4-BE49-F238E27FC236}">
                <a16:creationId xmlns:a16="http://schemas.microsoft.com/office/drawing/2014/main" id="{F505AC71-B559-4578-B5B1-0C452CBCBBBF}"/>
              </a:ext>
            </a:extLst>
          </p:cNvPr>
          <p:cNvSpPr/>
          <p:nvPr/>
        </p:nvSpPr>
        <p:spPr>
          <a:xfrm>
            <a:off x="365125" y="765175"/>
            <a:ext cx="7908925" cy="49213"/>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28680" name="灯片编号占位符 1">
            <a:extLst>
              <a:ext uri="{FF2B5EF4-FFF2-40B4-BE49-F238E27FC236}">
                <a16:creationId xmlns:a16="http://schemas.microsoft.com/office/drawing/2014/main" id="{BBF82A92-FAEE-4930-A9BD-FE7A394E5D20}"/>
              </a:ext>
            </a:extLst>
          </p:cNvPr>
          <p:cNvSpPr>
            <a:spLocks noGrp="1"/>
          </p:cNvSpPr>
          <p:nvPr>
            <p:ph type="sldNum" sz="quarter" idx="12"/>
          </p:nvPr>
        </p:nvSpPr>
        <p:spPr>
          <a:xfrm>
            <a:off x="6770688" y="62484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9C5386A1-2532-4882-853A-52E52CB78B9B}" type="slidenum">
              <a:rPr lang="en-US" altLang="zh-CN" smtClean="0"/>
              <a:pPr/>
              <a:t>12</a:t>
            </a:fld>
            <a:endParaRPr lang="en-US" altLang="zh-CN"/>
          </a:p>
        </p:txBody>
      </p:sp>
      <p:sp>
        <p:nvSpPr>
          <p:cNvPr id="28681" name="矩形 1">
            <a:extLst>
              <a:ext uri="{FF2B5EF4-FFF2-40B4-BE49-F238E27FC236}">
                <a16:creationId xmlns:a16="http://schemas.microsoft.com/office/drawing/2014/main" id="{D4F93D50-8FCF-4ACB-A25F-4823720D44AE}"/>
              </a:ext>
            </a:extLst>
          </p:cNvPr>
          <p:cNvSpPr>
            <a:spLocks noChangeArrowheads="1"/>
          </p:cNvSpPr>
          <p:nvPr/>
        </p:nvSpPr>
        <p:spPr bwMode="auto">
          <a:xfrm>
            <a:off x="3602038" y="860425"/>
            <a:ext cx="5073650" cy="188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kumimoji="1" lang="zh-CN" altLang="en-US" sz="2000" b="1">
                <a:latin typeface="微软雅黑" panose="020B0503020204020204" pitchFamily="34" charset="-122"/>
                <a:ea typeface="微软雅黑" panose="020B0503020204020204" pitchFamily="34" charset="-122"/>
              </a:rPr>
              <a:t>被测量通过动极板移动引起两极板有效覆盖面积</a:t>
            </a:r>
            <a:r>
              <a:rPr kumimoji="1" lang="en-US" altLang="zh-CN" sz="2000" b="1">
                <a:latin typeface="微软雅黑" panose="020B0503020204020204" pitchFamily="34" charset="-122"/>
                <a:ea typeface="微软雅黑" panose="020B0503020204020204" pitchFamily="34" charset="-122"/>
              </a:rPr>
              <a:t>S</a:t>
            </a:r>
            <a:r>
              <a:rPr kumimoji="1" lang="zh-CN" altLang="en-US" sz="2000" b="1">
                <a:latin typeface="微软雅黑" panose="020B0503020204020204" pitchFamily="34" charset="-122"/>
                <a:ea typeface="微软雅黑" panose="020B0503020204020204" pitchFamily="34" charset="-122"/>
              </a:rPr>
              <a:t>改变，从而得到电容量的变化。</a:t>
            </a:r>
            <a:r>
              <a:rPr kumimoji="1" lang="zh-CN" altLang="en-US" sz="2000" b="1">
                <a:solidFill>
                  <a:srgbClr val="0000FF"/>
                </a:solidFill>
                <a:latin typeface="微软雅黑" panose="020B0503020204020204" pitchFamily="34" charset="-122"/>
                <a:ea typeface="微软雅黑" panose="020B0503020204020204" pitchFamily="34" charset="-122"/>
              </a:rPr>
              <a:t>当动极板相对于定极板沿长度方向平移</a:t>
            </a:r>
            <a:r>
              <a:rPr kumimoji="1" lang="en-US" altLang="zh-CN" sz="2000" b="1">
                <a:solidFill>
                  <a:srgbClr val="0000FF"/>
                </a:solidFill>
                <a:latin typeface="微软雅黑" panose="020B0503020204020204" pitchFamily="34" charset="-122"/>
                <a:ea typeface="微软雅黑" panose="020B0503020204020204" pitchFamily="34" charset="-122"/>
              </a:rPr>
              <a:t>Δ</a:t>
            </a:r>
            <a:r>
              <a:rPr kumimoji="1" lang="en-US" altLang="zh-CN" sz="2000" b="1" i="1">
                <a:solidFill>
                  <a:srgbClr val="0000FF"/>
                </a:solidFill>
                <a:latin typeface="微软雅黑" panose="020B0503020204020204" pitchFamily="34" charset="-122"/>
                <a:ea typeface="微软雅黑" panose="020B0503020204020204" pitchFamily="34" charset="-122"/>
              </a:rPr>
              <a:t>x</a:t>
            </a:r>
            <a:r>
              <a:rPr kumimoji="1" lang="zh-CN" altLang="en-US" sz="2000" b="1">
                <a:solidFill>
                  <a:srgbClr val="0000FF"/>
                </a:solidFill>
                <a:latin typeface="微软雅黑" panose="020B0503020204020204" pitchFamily="34" charset="-122"/>
                <a:ea typeface="微软雅黑" panose="020B0503020204020204" pitchFamily="34" charset="-122"/>
              </a:rPr>
              <a:t>时</a:t>
            </a:r>
            <a:r>
              <a:rPr kumimoji="1" lang="zh-CN" altLang="en-US" sz="2000" b="1">
                <a:latin typeface="微软雅黑" panose="020B0503020204020204" pitchFamily="34" charset="-122"/>
                <a:ea typeface="微软雅黑" panose="020B0503020204020204" pitchFamily="34" charset="-122"/>
              </a:rPr>
              <a:t>，则电容变化量为 </a:t>
            </a:r>
            <a:endParaRPr lang="zh-CN" altLang="en-US" sz="2000" b="1">
              <a:latin typeface="微软雅黑" panose="020B0503020204020204" pitchFamily="34" charset="-122"/>
              <a:ea typeface="微软雅黑" panose="020B0503020204020204" pitchFamily="34" charset="-122"/>
            </a:endParaRPr>
          </a:p>
        </p:txBody>
      </p:sp>
      <p:graphicFrame>
        <p:nvGraphicFramePr>
          <p:cNvPr id="28682" name="Object 3">
            <a:extLst>
              <a:ext uri="{FF2B5EF4-FFF2-40B4-BE49-F238E27FC236}">
                <a16:creationId xmlns:a16="http://schemas.microsoft.com/office/drawing/2014/main" id="{4DD2E749-5EF8-40BA-B447-9E45948FACB9}"/>
              </a:ext>
            </a:extLst>
          </p:cNvPr>
          <p:cNvGraphicFramePr>
            <a:graphicFrameLocks noChangeAspect="1"/>
          </p:cNvGraphicFramePr>
          <p:nvPr/>
        </p:nvGraphicFramePr>
        <p:xfrm>
          <a:off x="-468313" y="1766888"/>
          <a:ext cx="4346576" cy="4225925"/>
        </p:xfrm>
        <a:graphic>
          <a:graphicData uri="http://schemas.openxmlformats.org/presentationml/2006/ole">
            <mc:AlternateContent xmlns:mc="http://schemas.openxmlformats.org/markup-compatibility/2006">
              <mc:Choice xmlns:v="urn:schemas-microsoft-com:vml" Requires="v">
                <p:oleObj spid="_x0000_s28854" name="VISIO" r:id="rId7" imgW="1722120" imgH="1676400" progId="Visio.Drawing.4">
                  <p:embed/>
                </p:oleObj>
              </mc:Choice>
              <mc:Fallback>
                <p:oleObj name="VISIO" r:id="rId7" imgW="1722120" imgH="1676400" progId="Visio.Drawing.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8313" y="1766888"/>
                        <a:ext cx="4346576" cy="422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83" name="矩形 1">
            <a:extLst>
              <a:ext uri="{FF2B5EF4-FFF2-40B4-BE49-F238E27FC236}">
                <a16:creationId xmlns:a16="http://schemas.microsoft.com/office/drawing/2014/main" id="{C4A9401F-EA19-4C29-B285-7EE0A001B586}"/>
              </a:ext>
            </a:extLst>
          </p:cNvPr>
          <p:cNvSpPr>
            <a:spLocks noChangeArrowheads="1"/>
          </p:cNvSpPr>
          <p:nvPr/>
        </p:nvSpPr>
        <p:spPr bwMode="auto">
          <a:xfrm>
            <a:off x="611188" y="1163638"/>
            <a:ext cx="268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pPr>
            <a:r>
              <a:rPr kumimoji="1" lang="zh-CN" altLang="en-US" sz="2400" b="1">
                <a:solidFill>
                  <a:srgbClr val="C00000"/>
                </a:solidFill>
                <a:latin typeface="微软雅黑" panose="020B0503020204020204" pitchFamily="34" charset="-122"/>
                <a:ea typeface="微软雅黑" panose="020B0503020204020204" pitchFamily="34" charset="-122"/>
              </a:rPr>
              <a:t>测量平移距离：</a:t>
            </a:r>
            <a:endParaRPr lang="zh-CN" altLang="en-US" sz="2400"/>
          </a:p>
        </p:txBody>
      </p:sp>
      <p:sp>
        <p:nvSpPr>
          <p:cNvPr id="2" name="矩形 1">
            <a:extLst>
              <a:ext uri="{FF2B5EF4-FFF2-40B4-BE49-F238E27FC236}">
                <a16:creationId xmlns:a16="http://schemas.microsoft.com/office/drawing/2014/main" id="{FEA73A78-775C-4D0B-9058-1BAC2579F2EA}"/>
              </a:ext>
            </a:extLst>
          </p:cNvPr>
          <p:cNvSpPr/>
          <p:nvPr/>
        </p:nvSpPr>
        <p:spPr>
          <a:xfrm>
            <a:off x="365125" y="6181726"/>
            <a:ext cx="3876382" cy="338554"/>
          </a:xfrm>
          <a:prstGeom prst="rect">
            <a:avLst/>
          </a:prstGeom>
        </p:spPr>
        <p:txBody>
          <a:bodyPr wrap="none">
            <a:spAutoFit/>
          </a:bodyPr>
          <a:lstStyle/>
          <a:p>
            <a:r>
              <a:rPr kumimoji="1" lang="en-US" altLang="zh-CN" sz="1600" b="1" i="1" dirty="0">
                <a:solidFill>
                  <a:srgbClr val="0099FF"/>
                </a:solidFill>
                <a:latin typeface="微软雅黑" panose="020B0503020204020204" pitchFamily="34" charset="-122"/>
                <a:ea typeface="微软雅黑" panose="020B0503020204020204" pitchFamily="34" charset="-122"/>
              </a:rPr>
              <a:t>ε</a:t>
            </a:r>
            <a:r>
              <a:rPr kumimoji="1" lang="en-US" altLang="zh-CN" sz="1600" b="1" baseline="-25000" dirty="0">
                <a:solidFill>
                  <a:srgbClr val="0099FF"/>
                </a:solidFill>
                <a:latin typeface="微软雅黑" panose="020B0503020204020204" pitchFamily="34" charset="-122"/>
                <a:ea typeface="微软雅黑" panose="020B0503020204020204" pitchFamily="34" charset="-122"/>
              </a:rPr>
              <a:t>0</a:t>
            </a:r>
            <a:r>
              <a:rPr kumimoji="1" lang="zh-CN" altLang="en-US" sz="1600" b="1" i="1" dirty="0">
                <a:solidFill>
                  <a:srgbClr val="0099FF"/>
                </a:solidFill>
                <a:latin typeface="微软雅黑" panose="020B0503020204020204" pitchFamily="34" charset="-122"/>
                <a:ea typeface="微软雅黑" panose="020B0503020204020204" pitchFamily="34" charset="-122"/>
              </a:rPr>
              <a:t>为真空介电常数，</a:t>
            </a:r>
            <a:r>
              <a:rPr kumimoji="1" lang="en-US" altLang="zh-CN" sz="1600" b="1" i="1" dirty="0">
                <a:solidFill>
                  <a:srgbClr val="0099FF"/>
                </a:solidFill>
                <a:latin typeface="微软雅黑" panose="020B0503020204020204" pitchFamily="34" charset="-122"/>
                <a:ea typeface="微软雅黑" panose="020B0503020204020204" pitchFamily="34" charset="-122"/>
              </a:rPr>
              <a:t> </a:t>
            </a:r>
            <a:r>
              <a:rPr kumimoji="1" lang="en-US" altLang="zh-CN" sz="1600" b="1" i="1" dirty="0" err="1">
                <a:solidFill>
                  <a:srgbClr val="0099FF"/>
                </a:solidFill>
                <a:latin typeface="微软雅黑" panose="020B0503020204020204" pitchFamily="34" charset="-122"/>
                <a:ea typeface="微软雅黑" panose="020B0503020204020204" pitchFamily="34" charset="-122"/>
              </a:rPr>
              <a:t>ε</a:t>
            </a:r>
            <a:r>
              <a:rPr kumimoji="1" lang="en-US" altLang="zh-CN" sz="1600" b="1" baseline="-25000" dirty="0" err="1">
                <a:solidFill>
                  <a:srgbClr val="0099FF"/>
                </a:solidFill>
                <a:latin typeface="微软雅黑" panose="020B0503020204020204" pitchFamily="34" charset="-122"/>
                <a:ea typeface="微软雅黑" panose="020B0503020204020204" pitchFamily="34" charset="-122"/>
              </a:rPr>
              <a:t>r</a:t>
            </a:r>
            <a:r>
              <a:rPr kumimoji="1" lang="zh-CN" altLang="en-US" sz="1600" b="1" i="1" dirty="0">
                <a:solidFill>
                  <a:srgbClr val="0099FF"/>
                </a:solidFill>
                <a:latin typeface="微软雅黑" panose="020B0503020204020204" pitchFamily="34" charset="-122"/>
                <a:ea typeface="微软雅黑" panose="020B0503020204020204" pitchFamily="34" charset="-122"/>
              </a:rPr>
              <a:t>介质相对介电常数</a:t>
            </a:r>
            <a:endParaRPr lang="zh-CN" altLang="en-US" sz="1600" dirty="0">
              <a:solidFill>
                <a:srgbClr val="0099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2">
            <a:extLst>
              <a:ext uri="{FF2B5EF4-FFF2-40B4-BE49-F238E27FC236}">
                <a16:creationId xmlns:a16="http://schemas.microsoft.com/office/drawing/2014/main" id="{1BAD3C14-0646-484D-928C-77154C71C037}"/>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572B7042-F7A1-4156-9A32-FFC0FAA53D3F}" type="slidenum">
              <a:rPr lang="en-US" altLang="zh-CN" smtClean="0"/>
              <a:pPr/>
              <a:t>13</a:t>
            </a:fld>
            <a:endParaRPr lang="en-US" altLang="zh-CN"/>
          </a:p>
        </p:txBody>
      </p:sp>
      <p:graphicFrame>
        <p:nvGraphicFramePr>
          <p:cNvPr id="29699" name="Object 17">
            <a:extLst>
              <a:ext uri="{FF2B5EF4-FFF2-40B4-BE49-F238E27FC236}">
                <a16:creationId xmlns:a16="http://schemas.microsoft.com/office/drawing/2014/main" id="{08A93B96-42C6-4B59-B3FC-424D53CA29E5}"/>
              </a:ext>
            </a:extLst>
          </p:cNvPr>
          <p:cNvGraphicFramePr>
            <a:graphicFrameLocks noChangeAspect="1"/>
          </p:cNvGraphicFramePr>
          <p:nvPr>
            <p:extLst>
              <p:ext uri="{D42A27DB-BD31-4B8C-83A1-F6EECF244321}">
                <p14:modId xmlns:p14="http://schemas.microsoft.com/office/powerpoint/2010/main" val="1800463955"/>
              </p:ext>
            </p:extLst>
          </p:nvPr>
        </p:nvGraphicFramePr>
        <p:xfrm>
          <a:off x="2755900" y="1916832"/>
          <a:ext cx="6227763" cy="2752725"/>
        </p:xfrm>
        <a:graphic>
          <a:graphicData uri="http://schemas.openxmlformats.org/presentationml/2006/ole">
            <mc:AlternateContent xmlns:mc="http://schemas.openxmlformats.org/markup-compatibility/2006">
              <mc:Choice xmlns:v="urn:schemas-microsoft-com:vml" Requires="v">
                <p:oleObj spid="_x0000_s29828" name="公式" r:id="rId3" imgW="3162300" imgH="1397000" progId="Equation.3">
                  <p:embed/>
                </p:oleObj>
              </mc:Choice>
              <mc:Fallback>
                <p:oleObj name="公式" r:id="rId3" imgW="3162300" imgH="1397000" progId="Equation.3">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5900" y="1916832"/>
                        <a:ext cx="6227763" cy="2752725"/>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00" name="Text Box 18">
            <a:extLst>
              <a:ext uri="{FF2B5EF4-FFF2-40B4-BE49-F238E27FC236}">
                <a16:creationId xmlns:a16="http://schemas.microsoft.com/office/drawing/2014/main" id="{84C88BA3-1A8F-420E-AE94-9194F4554F53}"/>
              </a:ext>
            </a:extLst>
          </p:cNvPr>
          <p:cNvSpPr txBox="1">
            <a:spLocks noChangeArrowheads="1"/>
          </p:cNvSpPr>
          <p:nvPr/>
        </p:nvSpPr>
        <p:spPr bwMode="auto">
          <a:xfrm>
            <a:off x="2112864" y="5199117"/>
            <a:ext cx="510540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200" b="1" i="1" dirty="0">
                <a:latin typeface="楷体_GB2312" pitchFamily="49" charset="-122"/>
                <a:ea typeface="楷体_GB2312" pitchFamily="49" charset="-122"/>
              </a:rPr>
              <a:t>C</a:t>
            </a:r>
            <a:r>
              <a:rPr kumimoji="1" lang="en-US" altLang="zh-CN" sz="2200" b="1" baseline="-25000" dirty="0">
                <a:latin typeface="楷体_GB2312" pitchFamily="49" charset="-122"/>
                <a:ea typeface="楷体_GB2312" pitchFamily="49" charset="-122"/>
              </a:rPr>
              <a:t>1</a:t>
            </a:r>
            <a:r>
              <a:rPr kumimoji="1" lang="zh-CN" altLang="en-US" sz="2200" b="1" dirty="0">
                <a:latin typeface="楷体_GB2312" pitchFamily="49" charset="-122"/>
                <a:ea typeface="楷体_GB2312" pitchFamily="49" charset="-122"/>
              </a:rPr>
              <a:t>（</a:t>
            </a:r>
            <a:r>
              <a:rPr kumimoji="1" lang="en-US" altLang="zh-CN" sz="2200" b="1" dirty="0">
                <a:latin typeface="楷体_GB2312" pitchFamily="49" charset="-122"/>
                <a:ea typeface="楷体_GB2312" pitchFamily="49" charset="-122"/>
              </a:rPr>
              <a:t>Δ</a:t>
            </a:r>
            <a:r>
              <a:rPr kumimoji="1" lang="en-US" altLang="zh-CN" sz="2200" b="1" i="1" dirty="0">
                <a:latin typeface="楷体_GB2312" pitchFamily="49" charset="-122"/>
                <a:ea typeface="楷体_GB2312" pitchFamily="49" charset="-122"/>
              </a:rPr>
              <a:t>C</a:t>
            </a:r>
            <a:r>
              <a:rPr kumimoji="1" lang="zh-CN" altLang="en-US" sz="2200" b="1" dirty="0">
                <a:latin typeface="楷体_GB2312" pitchFamily="49" charset="-122"/>
                <a:ea typeface="楷体_GB2312" pitchFamily="49" charset="-122"/>
              </a:rPr>
              <a:t>）</a:t>
            </a:r>
            <a:r>
              <a:rPr kumimoji="1" lang="zh-CN" altLang="zh-CN" sz="2200" b="1" dirty="0">
                <a:latin typeface="楷体_GB2312" pitchFamily="49" charset="-122"/>
                <a:ea typeface="楷体_GB2312" pitchFamily="49" charset="-122"/>
              </a:rPr>
              <a:t>与</a:t>
            </a:r>
            <a:r>
              <a:rPr kumimoji="1" lang="en-US" altLang="zh-CN" sz="2200" b="1" i="1" dirty="0">
                <a:latin typeface="楷体_GB2312" pitchFamily="49" charset="-122"/>
                <a:ea typeface="楷体_GB2312" pitchFamily="49" charset="-122"/>
              </a:rPr>
              <a:t>θ</a:t>
            </a:r>
            <a:r>
              <a:rPr kumimoji="1" lang="zh-CN" altLang="en-US" sz="2200" b="1" dirty="0">
                <a:latin typeface="楷体_GB2312" pitchFamily="49" charset="-122"/>
                <a:ea typeface="楷体_GB2312" pitchFamily="49" charset="-122"/>
              </a:rPr>
              <a:t>（角位移）成线性关系。</a:t>
            </a:r>
          </a:p>
        </p:txBody>
      </p:sp>
      <p:grpSp>
        <p:nvGrpSpPr>
          <p:cNvPr id="29701" name="组合 21">
            <a:extLst>
              <a:ext uri="{FF2B5EF4-FFF2-40B4-BE49-F238E27FC236}">
                <a16:creationId xmlns:a16="http://schemas.microsoft.com/office/drawing/2014/main" id="{65D6AAD5-B42C-4441-B00D-878DC64D7BC3}"/>
              </a:ext>
            </a:extLst>
          </p:cNvPr>
          <p:cNvGrpSpPr>
            <a:grpSpLocks/>
          </p:cNvGrpSpPr>
          <p:nvPr/>
        </p:nvGrpSpPr>
        <p:grpSpPr bwMode="auto">
          <a:xfrm>
            <a:off x="117376" y="1999233"/>
            <a:ext cx="2438400" cy="2593975"/>
            <a:chOff x="6637450" y="1474800"/>
            <a:chExt cx="2438400" cy="2593975"/>
          </a:xfrm>
        </p:grpSpPr>
        <p:grpSp>
          <p:nvGrpSpPr>
            <p:cNvPr id="29705" name="Group 4">
              <a:extLst>
                <a:ext uri="{FF2B5EF4-FFF2-40B4-BE49-F238E27FC236}">
                  <a16:creationId xmlns:a16="http://schemas.microsoft.com/office/drawing/2014/main" id="{FC8B1E7A-19DA-481E-877A-0AEEC4267694}"/>
                </a:ext>
              </a:extLst>
            </p:cNvPr>
            <p:cNvGrpSpPr>
              <a:grpSpLocks/>
            </p:cNvGrpSpPr>
            <p:nvPr/>
          </p:nvGrpSpPr>
          <p:grpSpPr bwMode="auto">
            <a:xfrm rot="-1498046">
              <a:off x="6899388" y="1733562"/>
              <a:ext cx="1828800" cy="1828800"/>
              <a:chOff x="1659" y="2070"/>
              <a:chExt cx="2880" cy="2880"/>
            </a:xfrm>
          </p:grpSpPr>
          <p:sp>
            <p:nvSpPr>
              <p:cNvPr id="29716" name="AutoShape 5">
                <a:extLst>
                  <a:ext uri="{FF2B5EF4-FFF2-40B4-BE49-F238E27FC236}">
                    <a16:creationId xmlns:a16="http://schemas.microsoft.com/office/drawing/2014/main" id="{A814FAF0-11F8-44A7-80E1-B08F1D3F2DA9}"/>
                  </a:ext>
                </a:extLst>
              </p:cNvPr>
              <p:cNvSpPr>
                <a:spLocks noChangeAspect="1" noChangeArrowheads="1"/>
              </p:cNvSpPr>
              <p:nvPr/>
            </p:nvSpPr>
            <p:spPr bwMode="auto">
              <a:xfrm>
                <a:off x="1659" y="2070"/>
                <a:ext cx="2880" cy="288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10395" y="10800"/>
                    </a:moveTo>
                    <a:cubicBezTo>
                      <a:pt x="10395" y="10576"/>
                      <a:pt x="10576" y="10395"/>
                      <a:pt x="10800" y="10395"/>
                    </a:cubicBezTo>
                    <a:cubicBezTo>
                      <a:pt x="11023" y="10394"/>
                      <a:pt x="11204" y="10576"/>
                      <a:pt x="11205" y="10799"/>
                    </a:cubicBezTo>
                    <a:lnTo>
                      <a:pt x="21600" y="10800"/>
                    </a:lnTo>
                    <a:cubicBezTo>
                      <a:pt x="21600" y="4835"/>
                      <a:pt x="16764" y="0"/>
                      <a:pt x="10800" y="0"/>
                    </a:cubicBezTo>
                    <a:cubicBezTo>
                      <a:pt x="4835" y="0"/>
                      <a:pt x="0" y="4835"/>
                      <a:pt x="0" y="10800"/>
                    </a:cubicBezTo>
                    <a:lnTo>
                      <a:pt x="10395" y="10800"/>
                    </a:lnTo>
                    <a:close/>
                  </a:path>
                </a:pathLst>
              </a:cu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36000" rIns="0" bIns="36000"/>
              <a:lstStyle/>
              <a:p>
                <a:endParaRPr lang="zh-CN" altLang="en-US"/>
              </a:p>
            </p:txBody>
          </p:sp>
          <p:sp>
            <p:nvSpPr>
              <p:cNvPr id="29717" name="AutoShape 6">
                <a:extLst>
                  <a:ext uri="{FF2B5EF4-FFF2-40B4-BE49-F238E27FC236}">
                    <a16:creationId xmlns:a16="http://schemas.microsoft.com/office/drawing/2014/main" id="{5D4C9E05-CDB7-4C54-A437-E07ACAD7015C}"/>
                  </a:ext>
                </a:extLst>
              </p:cNvPr>
              <p:cNvSpPr>
                <a:spLocks noChangeAspect="1" noChangeArrowheads="1"/>
              </p:cNvSpPr>
              <p:nvPr/>
            </p:nvSpPr>
            <p:spPr bwMode="auto">
              <a:xfrm rot="-3908897">
                <a:off x="1659" y="2070"/>
                <a:ext cx="2880" cy="288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10395" y="10800"/>
                    </a:moveTo>
                    <a:cubicBezTo>
                      <a:pt x="10395" y="10576"/>
                      <a:pt x="10576" y="10395"/>
                      <a:pt x="10800" y="10395"/>
                    </a:cubicBezTo>
                    <a:cubicBezTo>
                      <a:pt x="11023" y="10394"/>
                      <a:pt x="11204" y="10576"/>
                      <a:pt x="11205" y="10799"/>
                    </a:cubicBezTo>
                    <a:lnTo>
                      <a:pt x="21600" y="10800"/>
                    </a:lnTo>
                    <a:cubicBezTo>
                      <a:pt x="21600" y="4835"/>
                      <a:pt x="16764" y="0"/>
                      <a:pt x="10800" y="0"/>
                    </a:cubicBezTo>
                    <a:cubicBezTo>
                      <a:pt x="4835" y="0"/>
                      <a:pt x="0" y="4835"/>
                      <a:pt x="0" y="10800"/>
                    </a:cubicBezTo>
                    <a:lnTo>
                      <a:pt x="10395" y="10800"/>
                    </a:lnTo>
                    <a:close/>
                  </a:path>
                </a:pathLst>
              </a:custGeom>
              <a:solidFill>
                <a:srgbClr val="FFFFFF">
                  <a:alpha val="50195"/>
                </a:srgbClr>
              </a:solidFill>
              <a:ln w="12700">
                <a:solidFill>
                  <a:srgbClr val="000000"/>
                </a:solidFill>
                <a:miter lim="800000"/>
                <a:headEnd/>
                <a:tailEnd/>
              </a:ln>
            </p:spPr>
            <p:txBody>
              <a:bodyPr lIns="0" tIns="36000" rIns="0" bIns="36000"/>
              <a:lstStyle/>
              <a:p>
                <a:endParaRPr lang="zh-CN" altLang="en-US"/>
              </a:p>
            </p:txBody>
          </p:sp>
        </p:grpSp>
        <p:sp>
          <p:nvSpPr>
            <p:cNvPr id="29706" name="Text Box 7">
              <a:extLst>
                <a:ext uri="{FF2B5EF4-FFF2-40B4-BE49-F238E27FC236}">
                  <a16:creationId xmlns:a16="http://schemas.microsoft.com/office/drawing/2014/main" id="{890389E0-91BF-4B1F-A0FD-337F42C84381}"/>
                </a:ext>
              </a:extLst>
            </p:cNvPr>
            <p:cNvSpPr txBox="1">
              <a:spLocks noChangeArrowheads="1"/>
            </p:cNvSpPr>
            <p:nvPr/>
          </p:nvSpPr>
          <p:spPr bwMode="auto">
            <a:xfrm>
              <a:off x="8166213" y="3219462"/>
              <a:ext cx="533400"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0"/>
                </a:spcBef>
                <a:buFontTx/>
                <a:buNone/>
              </a:pPr>
              <a:r>
                <a:rPr kumimoji="1" lang="zh-CN" altLang="en-US" sz="1200" b="1">
                  <a:latin typeface="Times New Roman" panose="02020603050405020304" pitchFamily="18" charset="0"/>
                </a:rPr>
                <a:t>定极板</a:t>
              </a:r>
            </a:p>
          </p:txBody>
        </p:sp>
        <p:sp>
          <p:nvSpPr>
            <p:cNvPr id="29707" name="Text Box 8">
              <a:extLst>
                <a:ext uri="{FF2B5EF4-FFF2-40B4-BE49-F238E27FC236}">
                  <a16:creationId xmlns:a16="http://schemas.microsoft.com/office/drawing/2014/main" id="{FE75C79C-920E-4FF0-8D82-F056682CBC2E}"/>
                </a:ext>
              </a:extLst>
            </p:cNvPr>
            <p:cNvSpPr txBox="1">
              <a:spLocks noChangeArrowheads="1"/>
            </p:cNvSpPr>
            <p:nvPr/>
          </p:nvSpPr>
          <p:spPr bwMode="auto">
            <a:xfrm>
              <a:off x="8366238" y="2625737"/>
              <a:ext cx="533400"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0"/>
                </a:spcBef>
                <a:buFontTx/>
                <a:buNone/>
              </a:pPr>
              <a:r>
                <a:rPr kumimoji="1" lang="zh-CN" altLang="en-US" sz="1200" b="1">
                  <a:latin typeface="Times New Roman" panose="02020603050405020304" pitchFamily="18" charset="0"/>
                </a:rPr>
                <a:t>动极板</a:t>
              </a:r>
            </a:p>
          </p:txBody>
        </p:sp>
        <p:sp>
          <p:nvSpPr>
            <p:cNvPr id="29708" name="Freeform 9">
              <a:extLst>
                <a:ext uri="{FF2B5EF4-FFF2-40B4-BE49-F238E27FC236}">
                  <a16:creationId xmlns:a16="http://schemas.microsoft.com/office/drawing/2014/main" id="{29AE9042-5122-4770-A5DF-3829629F967B}"/>
                </a:ext>
              </a:extLst>
            </p:cNvPr>
            <p:cNvSpPr>
              <a:spLocks/>
            </p:cNvSpPr>
            <p:nvPr/>
          </p:nvSpPr>
          <p:spPr bwMode="auto">
            <a:xfrm>
              <a:off x="7642338" y="3181362"/>
              <a:ext cx="457200" cy="136525"/>
            </a:xfrm>
            <a:custGeom>
              <a:avLst/>
              <a:gdLst>
                <a:gd name="T0" fmla="*/ 2147483646 w 720"/>
                <a:gd name="T1" fmla="*/ 2147483646 h 216"/>
                <a:gd name="T2" fmla="*/ 0 w 720"/>
                <a:gd name="T3" fmla="*/ 0 h 216"/>
                <a:gd name="T4" fmla="*/ 0 60000 65536"/>
                <a:gd name="T5" fmla="*/ 0 60000 65536"/>
                <a:gd name="T6" fmla="*/ 0 w 720"/>
                <a:gd name="T7" fmla="*/ 0 h 216"/>
                <a:gd name="T8" fmla="*/ 720 w 720"/>
                <a:gd name="T9" fmla="*/ 216 h 216"/>
              </a:gdLst>
              <a:ahLst/>
              <a:cxnLst>
                <a:cxn ang="T4">
                  <a:pos x="T0" y="T1"/>
                </a:cxn>
                <a:cxn ang="T5">
                  <a:pos x="T2" y="T3"/>
                </a:cxn>
              </a:cxnLst>
              <a:rect l="T6" t="T7" r="T8" b="T9"/>
              <a:pathLst>
                <a:path w="720" h="216">
                  <a:moveTo>
                    <a:pt x="720" y="216"/>
                  </a:moveTo>
                  <a:lnTo>
                    <a:pt x="0" y="0"/>
                  </a:lnTo>
                </a:path>
              </a:pathLst>
            </a:custGeom>
            <a:noFill/>
            <a:ln w="9525">
              <a:solidFill>
                <a:srgbClr val="000000"/>
              </a:solidFill>
              <a:round/>
              <a:headEnd/>
              <a:tailEnd type="triangle" w="sm" len="med"/>
            </a:ln>
            <a:extLst>
              <a:ext uri="{909E8E84-426E-40DD-AFC4-6F175D3DCCD1}">
                <a14:hiddenFill xmlns:a14="http://schemas.microsoft.com/office/drawing/2010/main">
                  <a:solidFill>
                    <a:srgbClr val="FFFFFF"/>
                  </a:solidFill>
                </a14:hiddenFill>
              </a:ext>
            </a:extLst>
          </p:spPr>
          <p:txBody>
            <a:bodyPr lIns="0" tIns="36000" rIns="0" bIns="36000"/>
            <a:lstStyle/>
            <a:p>
              <a:endParaRPr lang="zh-CN" altLang="en-US"/>
            </a:p>
          </p:txBody>
        </p:sp>
        <p:sp>
          <p:nvSpPr>
            <p:cNvPr id="29709" name="Line 10">
              <a:extLst>
                <a:ext uri="{FF2B5EF4-FFF2-40B4-BE49-F238E27FC236}">
                  <a16:creationId xmlns:a16="http://schemas.microsoft.com/office/drawing/2014/main" id="{EA1A823F-C3B8-4812-A872-0391016E6A11}"/>
                </a:ext>
              </a:extLst>
            </p:cNvPr>
            <p:cNvSpPr>
              <a:spLocks noChangeShapeType="1"/>
            </p:cNvSpPr>
            <p:nvPr/>
          </p:nvSpPr>
          <p:spPr bwMode="auto">
            <a:xfrm flipH="1" flipV="1">
              <a:off x="8299563" y="2228862"/>
              <a:ext cx="200025" cy="39687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lIns="0" tIns="36000" rIns="0" bIns="36000"/>
            <a:lstStyle/>
            <a:p>
              <a:endParaRPr lang="zh-CN" altLang="en-US"/>
            </a:p>
          </p:txBody>
        </p:sp>
        <p:sp>
          <p:nvSpPr>
            <p:cNvPr id="29710" name="Line 11">
              <a:extLst>
                <a:ext uri="{FF2B5EF4-FFF2-40B4-BE49-F238E27FC236}">
                  <a16:creationId xmlns:a16="http://schemas.microsoft.com/office/drawing/2014/main" id="{37419FA3-9284-420D-AEFE-0BE64C805168}"/>
                </a:ext>
              </a:extLst>
            </p:cNvPr>
            <p:cNvSpPr>
              <a:spLocks noChangeShapeType="1"/>
            </p:cNvSpPr>
            <p:nvPr/>
          </p:nvSpPr>
          <p:spPr bwMode="auto">
            <a:xfrm flipV="1">
              <a:off x="7813788" y="1474800"/>
              <a:ext cx="0" cy="1984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36000" rIns="0" bIns="36000"/>
            <a:lstStyle/>
            <a:p>
              <a:endParaRPr lang="zh-CN" altLang="en-US"/>
            </a:p>
          </p:txBody>
        </p:sp>
        <p:sp>
          <p:nvSpPr>
            <p:cNvPr id="29711" name="Line 12">
              <a:extLst>
                <a:ext uri="{FF2B5EF4-FFF2-40B4-BE49-F238E27FC236}">
                  <a16:creationId xmlns:a16="http://schemas.microsoft.com/office/drawing/2014/main" id="{314B9B68-F5AD-46A5-A57A-0159A17E6401}"/>
                </a:ext>
              </a:extLst>
            </p:cNvPr>
            <p:cNvSpPr>
              <a:spLocks noChangeShapeType="1"/>
            </p:cNvSpPr>
            <p:nvPr/>
          </p:nvSpPr>
          <p:spPr bwMode="auto">
            <a:xfrm flipV="1">
              <a:off x="8680563" y="2143137"/>
              <a:ext cx="200025" cy="98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36000" rIns="0" bIns="36000"/>
            <a:lstStyle/>
            <a:p>
              <a:endParaRPr lang="zh-CN" altLang="en-US"/>
            </a:p>
          </p:txBody>
        </p:sp>
        <p:sp>
          <p:nvSpPr>
            <p:cNvPr id="29712" name="Freeform 13">
              <a:extLst>
                <a:ext uri="{FF2B5EF4-FFF2-40B4-BE49-F238E27FC236}">
                  <a16:creationId xmlns:a16="http://schemas.microsoft.com/office/drawing/2014/main" id="{C07162FC-39AA-4DE3-83CC-788355EDF58D}"/>
                </a:ext>
              </a:extLst>
            </p:cNvPr>
            <p:cNvSpPr>
              <a:spLocks/>
            </p:cNvSpPr>
            <p:nvPr/>
          </p:nvSpPr>
          <p:spPr bwMode="auto">
            <a:xfrm>
              <a:off x="7818550" y="1539887"/>
              <a:ext cx="1009650" cy="604838"/>
            </a:xfrm>
            <a:custGeom>
              <a:avLst/>
              <a:gdLst>
                <a:gd name="T0" fmla="*/ 0 w 1590"/>
                <a:gd name="T1" fmla="*/ 2147483646 h 953"/>
                <a:gd name="T2" fmla="*/ 2147483646 w 1590"/>
                <a:gd name="T3" fmla="*/ 2147483646 h 953"/>
                <a:gd name="T4" fmla="*/ 2147483646 w 1590"/>
                <a:gd name="T5" fmla="*/ 2147483646 h 953"/>
                <a:gd name="T6" fmla="*/ 2147483646 w 1590"/>
                <a:gd name="T7" fmla="*/ 2147483646 h 953"/>
                <a:gd name="T8" fmla="*/ 2147483646 w 1590"/>
                <a:gd name="T9" fmla="*/ 2147483646 h 953"/>
                <a:gd name="T10" fmla="*/ 0 60000 65536"/>
                <a:gd name="T11" fmla="*/ 0 60000 65536"/>
                <a:gd name="T12" fmla="*/ 0 60000 65536"/>
                <a:gd name="T13" fmla="*/ 0 60000 65536"/>
                <a:gd name="T14" fmla="*/ 0 60000 65536"/>
                <a:gd name="T15" fmla="*/ 0 w 1590"/>
                <a:gd name="T16" fmla="*/ 0 h 953"/>
                <a:gd name="T17" fmla="*/ 1590 w 1590"/>
                <a:gd name="T18" fmla="*/ 953 h 953"/>
              </a:gdLst>
              <a:ahLst/>
              <a:cxnLst>
                <a:cxn ang="T10">
                  <a:pos x="T0" y="T1"/>
                </a:cxn>
                <a:cxn ang="T11">
                  <a:pos x="T2" y="T3"/>
                </a:cxn>
                <a:cxn ang="T12">
                  <a:pos x="T4" y="T5"/>
                </a:cxn>
                <a:cxn ang="T13">
                  <a:pos x="T6" y="T7"/>
                </a:cxn>
                <a:cxn ang="T14">
                  <a:pos x="T8" y="T9"/>
                </a:cxn>
              </a:cxnLst>
              <a:rect l="T15" t="T16" r="T17" b="T18"/>
              <a:pathLst>
                <a:path w="1590" h="953">
                  <a:moveTo>
                    <a:pt x="0" y="3"/>
                  </a:moveTo>
                  <a:cubicBezTo>
                    <a:pt x="77" y="8"/>
                    <a:pt x="300" y="0"/>
                    <a:pt x="460" y="33"/>
                  </a:cubicBezTo>
                  <a:cubicBezTo>
                    <a:pt x="620" y="66"/>
                    <a:pt x="815" y="116"/>
                    <a:pt x="960" y="203"/>
                  </a:cubicBezTo>
                  <a:cubicBezTo>
                    <a:pt x="1105" y="290"/>
                    <a:pt x="1225" y="428"/>
                    <a:pt x="1330" y="553"/>
                  </a:cubicBezTo>
                  <a:cubicBezTo>
                    <a:pt x="1435" y="678"/>
                    <a:pt x="1536" y="870"/>
                    <a:pt x="1590" y="953"/>
                  </a:cubicBezTo>
                </a:path>
              </a:pathLst>
            </a:custGeom>
            <a:noFill/>
            <a:ln w="9525">
              <a:solidFill>
                <a:srgbClr val="000000"/>
              </a:solidFill>
              <a:round/>
              <a:headEnd type="triangle" w="sm" len="med"/>
              <a:tailEnd type="triangle" w="sm" len="med"/>
            </a:ln>
            <a:extLst>
              <a:ext uri="{909E8E84-426E-40DD-AFC4-6F175D3DCCD1}">
                <a14:hiddenFill xmlns:a14="http://schemas.microsoft.com/office/drawing/2010/main">
                  <a:solidFill>
                    <a:srgbClr val="FFFFFF"/>
                  </a:solidFill>
                </a14:hiddenFill>
              </a:ext>
            </a:extLst>
          </p:spPr>
          <p:txBody>
            <a:bodyPr lIns="0" tIns="36000" rIns="0" bIns="36000"/>
            <a:lstStyle/>
            <a:p>
              <a:endParaRPr lang="zh-CN" altLang="en-US"/>
            </a:p>
          </p:txBody>
        </p:sp>
        <p:graphicFrame>
          <p:nvGraphicFramePr>
            <p:cNvPr id="29713" name="Object 14">
              <a:extLst>
                <a:ext uri="{FF2B5EF4-FFF2-40B4-BE49-F238E27FC236}">
                  <a16:creationId xmlns:a16="http://schemas.microsoft.com/office/drawing/2014/main" id="{01760B36-5462-44DC-ABC6-73BC93AABBB5}"/>
                </a:ext>
              </a:extLst>
            </p:cNvPr>
            <p:cNvGraphicFramePr>
              <a:graphicFrameLocks noChangeAspect="1"/>
            </p:cNvGraphicFramePr>
            <p:nvPr/>
          </p:nvGraphicFramePr>
          <p:xfrm>
            <a:off x="8401163" y="1609737"/>
            <a:ext cx="127000" cy="176213"/>
          </p:xfrm>
          <a:graphic>
            <a:graphicData uri="http://schemas.openxmlformats.org/presentationml/2006/ole">
              <mc:AlternateContent xmlns:mc="http://schemas.openxmlformats.org/markup-compatibility/2006">
                <mc:Choice xmlns:v="urn:schemas-microsoft-com:vml" Requires="v">
                  <p:oleObj spid="_x0000_s29829" name="公式" r:id="rId5" imgW="126725" imgH="177415" progId="Equation.3">
                    <p:embed/>
                  </p:oleObj>
                </mc:Choice>
                <mc:Fallback>
                  <p:oleObj name="公式" r:id="rId5" imgW="126725" imgH="177415"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01163" y="1609737"/>
                          <a:ext cx="127000" cy="1762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14" name="Text Box 15">
              <a:extLst>
                <a:ext uri="{FF2B5EF4-FFF2-40B4-BE49-F238E27FC236}">
                  <a16:creationId xmlns:a16="http://schemas.microsoft.com/office/drawing/2014/main" id="{4B5100A6-2359-4112-A7C2-D75A2479752E}"/>
                </a:ext>
              </a:extLst>
            </p:cNvPr>
            <p:cNvSpPr txBox="1">
              <a:spLocks noChangeArrowheads="1"/>
            </p:cNvSpPr>
            <p:nvPr/>
          </p:nvSpPr>
          <p:spPr bwMode="auto">
            <a:xfrm>
              <a:off x="6637450" y="3771912"/>
              <a:ext cx="2438400"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1400" b="1">
                  <a:latin typeface="Times New Roman" panose="02020603050405020304" pitchFamily="18" charset="0"/>
                </a:rPr>
                <a:t>平板电容式角位移传感器</a:t>
              </a:r>
              <a:endParaRPr kumimoji="1" lang="zh-CN" altLang="en-US" sz="1200" b="1">
                <a:latin typeface="Times New Roman" panose="02020603050405020304" pitchFamily="18" charset="0"/>
              </a:endParaRPr>
            </a:p>
          </p:txBody>
        </p:sp>
        <p:sp>
          <p:nvSpPr>
            <p:cNvPr id="29715" name="AutoShape 19">
              <a:extLst>
                <a:ext uri="{FF2B5EF4-FFF2-40B4-BE49-F238E27FC236}">
                  <a16:creationId xmlns:a16="http://schemas.microsoft.com/office/drawing/2014/main" id="{8C820282-28F6-4835-B3B5-380C64C34F38}"/>
                </a:ext>
              </a:extLst>
            </p:cNvPr>
            <p:cNvSpPr>
              <a:spLocks noChangeAspect="1" noChangeArrowheads="1"/>
            </p:cNvSpPr>
            <p:nvPr/>
          </p:nvSpPr>
          <p:spPr bwMode="auto">
            <a:xfrm rot="-3420000">
              <a:off x="6899388" y="1744675"/>
              <a:ext cx="1828800" cy="18288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637 w 21600"/>
                <a:gd name="T13" fmla="*/ 0 h 21600"/>
                <a:gd name="T14" fmla="*/ 20963 w 21600"/>
                <a:gd name="T15" fmla="*/ 10671 h 21600"/>
              </a:gdLst>
              <a:ahLst/>
              <a:cxnLst>
                <a:cxn ang="T8">
                  <a:pos x="T0" y="T1"/>
                </a:cxn>
                <a:cxn ang="T9">
                  <a:pos x="T2" y="T3"/>
                </a:cxn>
                <a:cxn ang="T10">
                  <a:pos x="T4" y="T5"/>
                </a:cxn>
                <a:cxn ang="T11">
                  <a:pos x="T6" y="T7"/>
                </a:cxn>
              </a:cxnLst>
              <a:rect l="T12" t="T13" r="T14" b="T15"/>
              <a:pathLst>
                <a:path w="21600" h="21600">
                  <a:moveTo>
                    <a:pt x="10482" y="10591"/>
                  </a:moveTo>
                  <a:cubicBezTo>
                    <a:pt x="10552" y="10484"/>
                    <a:pt x="10672" y="10419"/>
                    <a:pt x="10800" y="10420"/>
                  </a:cubicBezTo>
                  <a:cubicBezTo>
                    <a:pt x="10927" y="10420"/>
                    <a:pt x="11047" y="10484"/>
                    <a:pt x="11117" y="10591"/>
                  </a:cubicBezTo>
                  <a:lnTo>
                    <a:pt x="19825" y="4868"/>
                  </a:lnTo>
                  <a:cubicBezTo>
                    <a:pt x="17828" y="1829"/>
                    <a:pt x="14436" y="-1"/>
                    <a:pt x="10799" y="0"/>
                  </a:cubicBezTo>
                  <a:cubicBezTo>
                    <a:pt x="7163" y="0"/>
                    <a:pt x="3771" y="1829"/>
                    <a:pt x="1774" y="4868"/>
                  </a:cubicBezTo>
                  <a:lnTo>
                    <a:pt x="10482" y="10591"/>
                  </a:lnTo>
                  <a:close/>
                </a:path>
              </a:pathLst>
            </a:custGeom>
            <a:noFill/>
            <a:ln w="1270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vert="eaVert" lIns="0" tIns="36000" rIns="0" bIns="36000"/>
            <a:lstStyle/>
            <a:p>
              <a:endParaRPr lang="zh-CN" altLang="en-US"/>
            </a:p>
          </p:txBody>
        </p:sp>
      </p:grpSp>
      <p:sp>
        <p:nvSpPr>
          <p:cNvPr id="29702" name="Text Box 2">
            <a:extLst>
              <a:ext uri="{FF2B5EF4-FFF2-40B4-BE49-F238E27FC236}">
                <a16:creationId xmlns:a16="http://schemas.microsoft.com/office/drawing/2014/main" id="{C4EE26D5-7B39-464A-95E9-5BAD8A43CE67}"/>
              </a:ext>
            </a:extLst>
          </p:cNvPr>
          <p:cNvSpPr txBox="1">
            <a:spLocks noChangeArrowheads="1"/>
          </p:cNvSpPr>
          <p:nvPr/>
        </p:nvSpPr>
        <p:spPr bwMode="auto">
          <a:xfrm>
            <a:off x="419100" y="114300"/>
            <a:ext cx="8088313"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8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1.2  </a:t>
            </a:r>
            <a:r>
              <a:rPr kumimoji="1" lang="zh-CN" altLang="en-US" sz="2800" b="1">
                <a:solidFill>
                  <a:srgbClr val="C00000"/>
                </a:solidFill>
                <a:latin typeface="微软雅黑" panose="020B0503020204020204" pitchFamily="34" charset="-122"/>
                <a:ea typeface="微软雅黑" panose="020B0503020204020204" pitchFamily="34" charset="-122"/>
              </a:rPr>
              <a:t>变面积型电容式传感器</a:t>
            </a:r>
            <a:endParaRPr kumimoji="1" lang="en-US" altLang="zh-CN" sz="2400">
              <a:latin typeface="Times New Roman" panose="02020603050405020304" pitchFamily="18" charset="0"/>
            </a:endParaRPr>
          </a:p>
        </p:txBody>
      </p:sp>
      <p:sp>
        <p:nvSpPr>
          <p:cNvPr id="21" name="矩形 20">
            <a:extLst>
              <a:ext uri="{FF2B5EF4-FFF2-40B4-BE49-F238E27FC236}">
                <a16:creationId xmlns:a16="http://schemas.microsoft.com/office/drawing/2014/main" id="{44543926-6332-46CC-819C-2B59631F2FA6}"/>
              </a:ext>
            </a:extLst>
          </p:cNvPr>
          <p:cNvSpPr/>
          <p:nvPr/>
        </p:nvSpPr>
        <p:spPr>
          <a:xfrm>
            <a:off x="365125" y="765175"/>
            <a:ext cx="7908925" cy="49213"/>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29704" name="矩形 21">
            <a:extLst>
              <a:ext uri="{FF2B5EF4-FFF2-40B4-BE49-F238E27FC236}">
                <a16:creationId xmlns:a16="http://schemas.microsoft.com/office/drawing/2014/main" id="{E4779008-9E58-4C51-A55E-E7E95531BCCE}"/>
              </a:ext>
            </a:extLst>
          </p:cNvPr>
          <p:cNvSpPr>
            <a:spLocks noChangeArrowheads="1"/>
          </p:cNvSpPr>
          <p:nvPr/>
        </p:nvSpPr>
        <p:spPr bwMode="auto">
          <a:xfrm>
            <a:off x="611188" y="1163638"/>
            <a:ext cx="2378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pPr>
            <a:r>
              <a:rPr kumimoji="1" lang="zh-CN" altLang="en-US" sz="2400" b="1">
                <a:solidFill>
                  <a:srgbClr val="C00000"/>
                </a:solidFill>
                <a:latin typeface="微软雅黑" panose="020B0503020204020204" pitchFamily="34" charset="-122"/>
                <a:ea typeface="微软雅黑" panose="020B0503020204020204" pitchFamily="34" charset="-122"/>
              </a:rPr>
              <a:t>测量角位移：</a:t>
            </a:r>
            <a:endParaRPr lang="zh-CN" altLang="en-US"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2">
            <a:extLst>
              <a:ext uri="{FF2B5EF4-FFF2-40B4-BE49-F238E27FC236}">
                <a16:creationId xmlns:a16="http://schemas.microsoft.com/office/drawing/2014/main" id="{CE9A8619-C842-424D-90E5-64A54F2B830F}"/>
              </a:ext>
            </a:extLst>
          </p:cNvPr>
          <p:cNvSpPr>
            <a:spLocks noGrp="1"/>
          </p:cNvSpPr>
          <p:nvPr>
            <p:ph type="sldNum" sz="quarter" idx="12"/>
          </p:nvPr>
        </p:nvSpPr>
        <p:spPr>
          <a:xfrm>
            <a:off x="6718300" y="6453188"/>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E32E5A50-B5A4-4CC6-9E62-0C9E17D6C339}" type="slidenum">
              <a:rPr lang="en-US" altLang="zh-CN" smtClean="0"/>
              <a:pPr/>
              <a:t>14</a:t>
            </a:fld>
            <a:endParaRPr lang="en-US" altLang="zh-CN"/>
          </a:p>
        </p:txBody>
      </p:sp>
      <p:sp>
        <p:nvSpPr>
          <p:cNvPr id="48" name="矩形 47">
            <a:extLst>
              <a:ext uri="{FF2B5EF4-FFF2-40B4-BE49-F238E27FC236}">
                <a16:creationId xmlns:a16="http://schemas.microsoft.com/office/drawing/2014/main" id="{D0B85F65-59B3-4382-8B54-B27B019ED651}"/>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30724" name="Text Box 2">
            <a:extLst>
              <a:ext uri="{FF2B5EF4-FFF2-40B4-BE49-F238E27FC236}">
                <a16:creationId xmlns:a16="http://schemas.microsoft.com/office/drawing/2014/main" id="{11190DC3-7D88-4507-9DC0-04274AE3DF43}"/>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C00000"/>
                </a:solidFill>
                <a:latin typeface="微软雅黑" panose="020B0503020204020204" pitchFamily="34" charset="-122"/>
                <a:ea typeface="微软雅黑" panose="020B0503020204020204" pitchFamily="34" charset="-122"/>
              </a:rPr>
              <a:t>1.3</a:t>
            </a:r>
            <a:r>
              <a:rPr kumimoji="1" lang="zh-CN" altLang="en-US" sz="2800" b="1" dirty="0">
                <a:solidFill>
                  <a:srgbClr val="C00000"/>
                </a:solidFill>
                <a:latin typeface="微软雅黑" panose="020B0503020204020204" pitchFamily="34" charset="-122"/>
                <a:ea typeface="微软雅黑" panose="020B0503020204020204" pitchFamily="34" charset="-122"/>
              </a:rPr>
              <a:t>变介电常数型电容传感器</a:t>
            </a:r>
            <a:r>
              <a:rPr kumimoji="1" lang="en-US" altLang="zh-CN" sz="2800" b="1" dirty="0">
                <a:solidFill>
                  <a:srgbClr val="C00000"/>
                </a:solidFill>
                <a:latin typeface="微软雅黑" panose="020B0503020204020204" pitchFamily="34" charset="-122"/>
                <a:ea typeface="微软雅黑" panose="020B0503020204020204" pitchFamily="34" charset="-122"/>
              </a:rPr>
              <a:t>--</a:t>
            </a:r>
            <a:r>
              <a:rPr kumimoji="1" lang="zh-CN" altLang="en-US" sz="2800" b="1" dirty="0">
                <a:solidFill>
                  <a:srgbClr val="C00000"/>
                </a:solidFill>
                <a:latin typeface="微软雅黑" panose="020B0503020204020204" pitchFamily="34" charset="-122"/>
                <a:ea typeface="微软雅黑" panose="020B0503020204020204" pitchFamily="34" charset="-122"/>
              </a:rPr>
              <a:t>测量液位</a:t>
            </a:r>
          </a:p>
        </p:txBody>
      </p:sp>
      <p:sp>
        <p:nvSpPr>
          <p:cNvPr id="30725" name="矩形 48">
            <a:extLst>
              <a:ext uri="{FF2B5EF4-FFF2-40B4-BE49-F238E27FC236}">
                <a16:creationId xmlns:a16="http://schemas.microsoft.com/office/drawing/2014/main" id="{01855BB5-A8FD-41CE-B852-2B08DBE37AD4}"/>
              </a:ext>
            </a:extLst>
          </p:cNvPr>
          <p:cNvSpPr>
            <a:spLocks noChangeArrowheads="1"/>
          </p:cNvSpPr>
          <p:nvPr/>
        </p:nvSpPr>
        <p:spPr bwMode="auto">
          <a:xfrm>
            <a:off x="184150" y="1004888"/>
            <a:ext cx="36083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pPr>
            <a:r>
              <a:rPr kumimoji="1" lang="zh-CN" altLang="en-US" sz="2400" b="1">
                <a:solidFill>
                  <a:srgbClr val="C00000"/>
                </a:solidFill>
                <a:latin typeface="微软雅黑" panose="020B0503020204020204" pitchFamily="34" charset="-122"/>
                <a:ea typeface="微软雅黑" panose="020B0503020204020204" pitchFamily="34" charset="-122"/>
              </a:rPr>
              <a:t>测量液位：</a:t>
            </a:r>
            <a:r>
              <a:rPr lang="zh-CN" altLang="en-US" sz="2400" b="1">
                <a:latin typeface="微软雅黑" panose="020B0503020204020204" pitchFamily="34" charset="-122"/>
                <a:ea typeface="微软雅黑" panose="020B0503020204020204" pitchFamily="34" charset="-122"/>
              </a:rPr>
              <a:t>同心圆筒形</a:t>
            </a:r>
            <a:endParaRPr lang="zh-CN" altLang="en-US" sz="2400"/>
          </a:p>
        </p:txBody>
      </p:sp>
      <p:sp>
        <p:nvSpPr>
          <p:cNvPr id="2" name="矩形 1">
            <a:extLst>
              <a:ext uri="{FF2B5EF4-FFF2-40B4-BE49-F238E27FC236}">
                <a16:creationId xmlns:a16="http://schemas.microsoft.com/office/drawing/2014/main" id="{D5E78C04-9DE0-44AF-8A54-D22F55C05707}"/>
              </a:ext>
            </a:extLst>
          </p:cNvPr>
          <p:cNvSpPr/>
          <p:nvPr/>
        </p:nvSpPr>
        <p:spPr>
          <a:xfrm>
            <a:off x="5139213" y="1136079"/>
            <a:ext cx="2954655" cy="461665"/>
          </a:xfrm>
          <a:prstGeom prst="rect">
            <a:avLst/>
          </a:prstGeom>
        </p:spPr>
        <p:txBody>
          <a:bodyPr wrap="none">
            <a:spAutoFit/>
          </a:bodyPr>
          <a:lstStyle/>
          <a:p>
            <a:r>
              <a:rPr kumimoji="1" lang="zh-CN" altLang="en-US" sz="2400" b="1" dirty="0">
                <a:solidFill>
                  <a:srgbClr val="0099FF"/>
                </a:solidFill>
                <a:latin typeface="微软雅黑" panose="020B0503020204020204" pitchFamily="34" charset="-122"/>
                <a:ea typeface="微软雅黑" panose="020B0503020204020204" pitchFamily="34" charset="-122"/>
              </a:rPr>
              <a:t>介电常数发生了变化</a:t>
            </a:r>
            <a:endParaRPr lang="zh-CN" altLang="en-US" sz="2400" dirty="0">
              <a:solidFill>
                <a:srgbClr val="0099FF"/>
              </a:solidFill>
            </a:endParaRPr>
          </a:p>
        </p:txBody>
      </p:sp>
      <p:graphicFrame>
        <p:nvGraphicFramePr>
          <p:cNvPr id="9" name="Object 3">
            <a:extLst>
              <a:ext uri="{FF2B5EF4-FFF2-40B4-BE49-F238E27FC236}">
                <a16:creationId xmlns:a16="http://schemas.microsoft.com/office/drawing/2014/main" id="{64B1C746-DC98-49AC-90A2-A49A5B7BBB0F}"/>
              </a:ext>
            </a:extLst>
          </p:cNvPr>
          <p:cNvGraphicFramePr>
            <a:graphicFrameLocks noChangeAspect="1"/>
          </p:cNvGraphicFramePr>
          <p:nvPr>
            <p:extLst>
              <p:ext uri="{D42A27DB-BD31-4B8C-83A1-F6EECF244321}">
                <p14:modId xmlns:p14="http://schemas.microsoft.com/office/powerpoint/2010/main" val="60617936"/>
              </p:ext>
            </p:extLst>
          </p:nvPr>
        </p:nvGraphicFramePr>
        <p:xfrm>
          <a:off x="5652120" y="2380126"/>
          <a:ext cx="2849563" cy="3097213"/>
        </p:xfrm>
        <a:graphic>
          <a:graphicData uri="http://schemas.openxmlformats.org/presentationml/2006/ole">
            <mc:AlternateContent xmlns:mc="http://schemas.openxmlformats.org/markup-compatibility/2006">
              <mc:Choice xmlns:v="urn:schemas-microsoft-com:vml" Requires="v">
                <p:oleObj spid="_x0000_s97334" name="VISIO" r:id="rId3" imgW="1927860" imgH="2087880" progId="Visio.Drawing.4">
                  <p:embed/>
                </p:oleObj>
              </mc:Choice>
              <mc:Fallback>
                <p:oleObj name="VISIO" r:id="rId3" imgW="1927860" imgH="2087880" progId="Visio.Drawing.4">
                  <p:embed/>
                  <p:pic>
                    <p:nvPicPr>
                      <p:cNvPr id="82949" name="Object 3">
                        <a:extLst>
                          <a:ext uri="{FF2B5EF4-FFF2-40B4-BE49-F238E27FC236}">
                            <a16:creationId xmlns:a16="http://schemas.microsoft.com/office/drawing/2014/main" id="{3E23447D-5092-47E2-9132-57A41B671C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2120" y="2380126"/>
                        <a:ext cx="2849563" cy="3097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 name="组合 2">
            <a:extLst>
              <a:ext uri="{FF2B5EF4-FFF2-40B4-BE49-F238E27FC236}">
                <a16:creationId xmlns:a16="http://schemas.microsoft.com/office/drawing/2014/main" id="{060D14E8-6AF4-4E51-8469-CCC3F23F4474}"/>
              </a:ext>
            </a:extLst>
          </p:cNvPr>
          <p:cNvGrpSpPr/>
          <p:nvPr/>
        </p:nvGrpSpPr>
        <p:grpSpPr>
          <a:xfrm>
            <a:off x="323528" y="1847169"/>
            <a:ext cx="4670186" cy="4276501"/>
            <a:chOff x="3934262" y="2109291"/>
            <a:chExt cx="4670186" cy="4276501"/>
          </a:xfrm>
        </p:grpSpPr>
        <p:pic>
          <p:nvPicPr>
            <p:cNvPr id="10" name="Picture 7" descr="C:\Documents and Settings\yue\桌面\QQ1.jpg">
              <a:extLst>
                <a:ext uri="{FF2B5EF4-FFF2-40B4-BE49-F238E27FC236}">
                  <a16:creationId xmlns:a16="http://schemas.microsoft.com/office/drawing/2014/main" id="{B4D2543E-8F5F-4C73-BAD5-9A9FE02999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34262" y="2109291"/>
              <a:ext cx="3853507" cy="36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9" descr="射频电容式物位限位开关8">
              <a:extLst>
                <a:ext uri="{FF2B5EF4-FFF2-40B4-BE49-F238E27FC236}">
                  <a16:creationId xmlns:a16="http://schemas.microsoft.com/office/drawing/2014/main" id="{F3F814CA-39B0-47E7-BB10-63FC9FBDB5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10800" y="2278292"/>
              <a:ext cx="693648" cy="3262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a:extLst>
                <a:ext uri="{FF2B5EF4-FFF2-40B4-BE49-F238E27FC236}">
                  <a16:creationId xmlns:a16="http://schemas.microsoft.com/office/drawing/2014/main" id="{FFE7F100-7456-4D9C-B3D1-F923D29F0308}"/>
                </a:ext>
              </a:extLst>
            </p:cNvPr>
            <p:cNvSpPr/>
            <p:nvPr/>
          </p:nvSpPr>
          <p:spPr>
            <a:xfrm>
              <a:off x="4446716" y="5739461"/>
              <a:ext cx="3647152" cy="646331"/>
            </a:xfrm>
            <a:prstGeom prst="rect">
              <a:avLst/>
            </a:prstGeom>
          </p:spPr>
          <p:txBody>
            <a:bodyPr wrap="none">
              <a:spAutoFit/>
            </a:bodyPr>
            <a:lstStyle/>
            <a:p>
              <a:r>
                <a:rPr lang="zh-CN" altLang="en-US" dirty="0">
                  <a:solidFill>
                    <a:srgbClr val="0070C0"/>
                  </a:solidFill>
                </a:rPr>
                <a:t>储罐材料为导体，溶液为绝缘体：</a:t>
              </a:r>
              <a:endParaRPr lang="en-US" altLang="zh-CN" dirty="0">
                <a:solidFill>
                  <a:srgbClr val="0070C0"/>
                </a:solidFill>
              </a:endParaRPr>
            </a:p>
            <a:p>
              <a:r>
                <a:rPr lang="zh-CN" altLang="en-US" dirty="0">
                  <a:solidFill>
                    <a:srgbClr val="0070C0"/>
                  </a:solidFill>
                </a:rPr>
                <a:t>可以把罐体作为电极</a:t>
              </a:r>
            </a:p>
          </p:txBody>
        </p:sp>
      </p:grpSp>
      <p:sp>
        <p:nvSpPr>
          <p:cNvPr id="13" name="矩形 12">
            <a:extLst>
              <a:ext uri="{FF2B5EF4-FFF2-40B4-BE49-F238E27FC236}">
                <a16:creationId xmlns:a16="http://schemas.microsoft.com/office/drawing/2014/main" id="{3789B68E-C998-4881-AAFA-FEF3EDBD5E3F}"/>
              </a:ext>
            </a:extLst>
          </p:cNvPr>
          <p:cNvSpPr/>
          <p:nvPr/>
        </p:nvSpPr>
        <p:spPr>
          <a:xfrm>
            <a:off x="1218321" y="6322217"/>
            <a:ext cx="6340197" cy="400110"/>
          </a:xfrm>
          <a:prstGeom prst="rect">
            <a:avLst/>
          </a:prstGeom>
        </p:spPr>
        <p:txBody>
          <a:bodyPr wrap="none">
            <a:spAutoFit/>
          </a:bodyPr>
          <a:lstStyle/>
          <a:p>
            <a:r>
              <a:rPr lang="zh-CN" altLang="en-US" sz="2000" dirty="0">
                <a:solidFill>
                  <a:srgbClr val="FF9900"/>
                </a:solidFill>
              </a:rPr>
              <a:t>思考一下：其他情况下如何测量呢？比如液体为导体。</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Text Box 2">
            <a:extLst>
              <a:ext uri="{FF2B5EF4-FFF2-40B4-BE49-F238E27FC236}">
                <a16:creationId xmlns:a16="http://schemas.microsoft.com/office/drawing/2014/main" id="{EE349DE1-97CC-4BD2-AB0D-A93FBD711904}"/>
              </a:ext>
            </a:extLst>
          </p:cNvPr>
          <p:cNvSpPr txBox="1">
            <a:spLocks noChangeArrowheads="1"/>
          </p:cNvSpPr>
          <p:nvPr/>
        </p:nvSpPr>
        <p:spPr bwMode="auto">
          <a:xfrm>
            <a:off x="303213" y="1697038"/>
            <a:ext cx="3667125" cy="960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lang="zh-CN" altLang="en-US" sz="2000" b="1" dirty="0">
                <a:solidFill>
                  <a:srgbClr val="0099FF"/>
                </a:solidFill>
                <a:latin typeface="微软雅黑" panose="020B0503020204020204" pitchFamily="34" charset="-122"/>
                <a:ea typeface="微软雅黑" panose="020B0503020204020204" pitchFamily="34" charset="-122"/>
              </a:rPr>
              <a:t>●同心圆筒形电容器的</a:t>
            </a:r>
            <a:r>
              <a:rPr lang="zh-CN" altLang="en-US" sz="2000" b="1" dirty="0">
                <a:solidFill>
                  <a:srgbClr val="FF0000"/>
                </a:solidFill>
                <a:latin typeface="微软雅黑" panose="020B0503020204020204" pitchFamily="34" charset="-122"/>
                <a:ea typeface="微软雅黑" panose="020B0503020204020204" pitchFamily="34" charset="-122"/>
              </a:rPr>
              <a:t>总电容</a:t>
            </a:r>
            <a:r>
              <a:rPr lang="en-US" altLang="zh-CN" sz="2000" b="1" dirty="0">
                <a:solidFill>
                  <a:srgbClr val="FF0000"/>
                </a:solidFill>
                <a:latin typeface="微软雅黑" panose="020B0503020204020204" pitchFamily="34" charset="-122"/>
                <a:ea typeface="微软雅黑" panose="020B0503020204020204" pitchFamily="34" charset="-122"/>
              </a:rPr>
              <a:t>C</a:t>
            </a:r>
          </a:p>
          <a:p>
            <a:pPr eaLnBrk="1" hangingPunct="1">
              <a:lnSpc>
                <a:spcPct val="150000"/>
              </a:lnSpc>
              <a:spcBef>
                <a:spcPct val="0"/>
              </a:spcBef>
              <a:buFontTx/>
              <a:buNone/>
            </a:pPr>
            <a:r>
              <a:rPr lang="zh-CN" altLang="en-US" sz="2000" b="1" dirty="0">
                <a:solidFill>
                  <a:srgbClr val="0099FF"/>
                </a:solidFill>
                <a:latin typeface="微软雅黑" panose="020B0503020204020204" pitchFamily="34" charset="-122"/>
                <a:ea typeface="微软雅黑" panose="020B0503020204020204" pitchFamily="34" charset="-122"/>
              </a:rPr>
              <a:t>是</a:t>
            </a:r>
            <a:r>
              <a:rPr lang="zh-CN" altLang="en-US" sz="2000" b="1" dirty="0">
                <a:solidFill>
                  <a:srgbClr val="FF0000"/>
                </a:solidFill>
                <a:latin typeface="微软雅黑" panose="020B0503020204020204" pitchFamily="34" charset="-122"/>
                <a:ea typeface="微软雅黑" panose="020B0503020204020204" pitchFamily="34" charset="-122"/>
              </a:rPr>
              <a:t>空气电容</a:t>
            </a:r>
            <a:r>
              <a:rPr lang="zh-CN" altLang="en-US" sz="2000" b="1" dirty="0">
                <a:solidFill>
                  <a:srgbClr val="0099FF"/>
                </a:solidFill>
                <a:latin typeface="微软雅黑" panose="020B0503020204020204" pitchFamily="34" charset="-122"/>
                <a:ea typeface="微软雅黑" panose="020B0503020204020204" pitchFamily="34" charset="-122"/>
              </a:rPr>
              <a:t>和</a:t>
            </a:r>
            <a:r>
              <a:rPr lang="zh-CN" altLang="en-US" sz="2000" b="1" dirty="0">
                <a:solidFill>
                  <a:srgbClr val="FF0000"/>
                </a:solidFill>
                <a:latin typeface="微软雅黑" panose="020B0503020204020204" pitchFamily="34" charset="-122"/>
                <a:ea typeface="微软雅黑" panose="020B0503020204020204" pitchFamily="34" charset="-122"/>
              </a:rPr>
              <a:t>液体电容</a:t>
            </a:r>
            <a:r>
              <a:rPr lang="zh-CN" altLang="en-US" sz="2000" b="1" dirty="0">
                <a:solidFill>
                  <a:srgbClr val="0099FF"/>
                </a:solidFill>
                <a:latin typeface="微软雅黑" panose="020B0503020204020204" pitchFamily="34" charset="-122"/>
                <a:ea typeface="微软雅黑" panose="020B0503020204020204" pitchFamily="34" charset="-122"/>
              </a:rPr>
              <a:t>的</a:t>
            </a:r>
            <a:r>
              <a:rPr lang="zh-CN" altLang="en-US" sz="2000" b="1" dirty="0">
                <a:solidFill>
                  <a:srgbClr val="FF0000"/>
                </a:solidFill>
                <a:latin typeface="微软雅黑" panose="020B0503020204020204" pitchFamily="34" charset="-122"/>
                <a:ea typeface="微软雅黑" panose="020B0503020204020204" pitchFamily="34" charset="-122"/>
              </a:rPr>
              <a:t>并联</a:t>
            </a:r>
            <a:r>
              <a:rPr lang="zh-CN" altLang="en-US" sz="2000" b="1" dirty="0">
                <a:solidFill>
                  <a:srgbClr val="0099FF"/>
                </a:solidFill>
                <a:latin typeface="微软雅黑" panose="020B0503020204020204" pitchFamily="34" charset="-122"/>
                <a:ea typeface="微软雅黑" panose="020B0503020204020204" pitchFamily="34" charset="-122"/>
              </a:rPr>
              <a:t>。</a:t>
            </a:r>
            <a:endParaRPr lang="en-US" altLang="zh-CN" sz="2000" b="1" dirty="0">
              <a:solidFill>
                <a:srgbClr val="0099FF"/>
              </a:solidFill>
              <a:latin typeface="微软雅黑" panose="020B0503020204020204" pitchFamily="34" charset="-122"/>
              <a:ea typeface="微软雅黑" panose="020B0503020204020204" pitchFamily="34" charset="-122"/>
            </a:endParaRPr>
          </a:p>
        </p:txBody>
      </p:sp>
      <p:sp>
        <p:nvSpPr>
          <p:cNvPr id="31747" name="灯片编号占位符 2">
            <a:extLst>
              <a:ext uri="{FF2B5EF4-FFF2-40B4-BE49-F238E27FC236}">
                <a16:creationId xmlns:a16="http://schemas.microsoft.com/office/drawing/2014/main" id="{59121C68-1559-4325-AAA8-F701D3E6C96F}"/>
              </a:ext>
            </a:extLst>
          </p:cNvPr>
          <p:cNvSpPr>
            <a:spLocks noGrp="1"/>
          </p:cNvSpPr>
          <p:nvPr>
            <p:ph type="sldNum" sz="quarter" idx="12"/>
          </p:nvPr>
        </p:nvSpPr>
        <p:spPr>
          <a:xfrm>
            <a:off x="6718300" y="6453188"/>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510E8256-3C5B-40F7-81FC-F98526238AEB}" type="slidenum">
              <a:rPr lang="en-US" altLang="zh-CN" smtClean="0"/>
              <a:pPr/>
              <a:t>15</a:t>
            </a:fld>
            <a:endParaRPr lang="en-US" altLang="zh-CN"/>
          </a:p>
        </p:txBody>
      </p:sp>
      <p:grpSp>
        <p:nvGrpSpPr>
          <p:cNvPr id="32772" name="Group 16">
            <a:extLst>
              <a:ext uri="{FF2B5EF4-FFF2-40B4-BE49-F238E27FC236}">
                <a16:creationId xmlns:a16="http://schemas.microsoft.com/office/drawing/2014/main" id="{9A6B5E53-E9CB-41ED-9BDE-60D5D6A03307}"/>
              </a:ext>
            </a:extLst>
          </p:cNvPr>
          <p:cNvGrpSpPr>
            <a:grpSpLocks/>
          </p:cNvGrpSpPr>
          <p:nvPr/>
        </p:nvGrpSpPr>
        <p:grpSpPr bwMode="auto">
          <a:xfrm>
            <a:off x="6565900" y="1268413"/>
            <a:ext cx="2178050" cy="2663825"/>
            <a:chOff x="3360" y="1098"/>
            <a:chExt cx="1791" cy="1988"/>
          </a:xfrm>
        </p:grpSpPr>
        <p:sp>
          <p:nvSpPr>
            <p:cNvPr id="31775" name="Rectangle 17">
              <a:extLst>
                <a:ext uri="{FF2B5EF4-FFF2-40B4-BE49-F238E27FC236}">
                  <a16:creationId xmlns:a16="http://schemas.microsoft.com/office/drawing/2014/main" id="{7244565A-F3FE-408B-A7A1-C521A14F6206}"/>
                </a:ext>
              </a:extLst>
            </p:cNvPr>
            <p:cNvSpPr>
              <a:spLocks noChangeArrowheads="1"/>
            </p:cNvSpPr>
            <p:nvPr/>
          </p:nvSpPr>
          <p:spPr bwMode="auto">
            <a:xfrm>
              <a:off x="3360" y="1952"/>
              <a:ext cx="1776" cy="32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1776" name="AutoShape 18">
              <a:extLst>
                <a:ext uri="{FF2B5EF4-FFF2-40B4-BE49-F238E27FC236}">
                  <a16:creationId xmlns:a16="http://schemas.microsoft.com/office/drawing/2014/main" id="{24769C68-CC5E-4166-88EA-CA4284250548}"/>
                </a:ext>
              </a:extLst>
            </p:cNvPr>
            <p:cNvSpPr>
              <a:spLocks noChangeArrowheads="1"/>
            </p:cNvSpPr>
            <p:nvPr/>
          </p:nvSpPr>
          <p:spPr bwMode="auto">
            <a:xfrm>
              <a:off x="3632" y="1760"/>
              <a:ext cx="1176" cy="1060"/>
            </a:xfrm>
            <a:prstGeom prst="can">
              <a:avLst>
                <a:gd name="adj" fmla="val 38991"/>
              </a:avLst>
            </a:prstGeom>
            <a:solidFill>
              <a:srgbClr val="969696"/>
            </a:solidFill>
            <a:ln w="12700">
              <a:solidFill>
                <a:srgbClr val="000000"/>
              </a:solidFill>
              <a:prstDash val="dash"/>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1777" name="AutoShape 19">
              <a:extLst>
                <a:ext uri="{FF2B5EF4-FFF2-40B4-BE49-F238E27FC236}">
                  <a16:creationId xmlns:a16="http://schemas.microsoft.com/office/drawing/2014/main" id="{1BE0D567-0177-467F-9A66-C6F389D9C7D7}"/>
                </a:ext>
              </a:extLst>
            </p:cNvPr>
            <p:cNvSpPr>
              <a:spLocks noChangeArrowheads="1"/>
            </p:cNvSpPr>
            <p:nvPr/>
          </p:nvSpPr>
          <p:spPr bwMode="auto">
            <a:xfrm>
              <a:off x="3630" y="1198"/>
              <a:ext cx="1176" cy="1622"/>
            </a:xfrm>
            <a:prstGeom prst="can">
              <a:avLst>
                <a:gd name="adj" fmla="val 34481"/>
              </a:avLst>
            </a:prstGeom>
            <a:noFill/>
            <a:ln w="127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1778" name="AutoShape 20">
              <a:extLst>
                <a:ext uri="{FF2B5EF4-FFF2-40B4-BE49-F238E27FC236}">
                  <a16:creationId xmlns:a16="http://schemas.microsoft.com/office/drawing/2014/main" id="{4F8F89CA-25BD-4902-B166-4ECFBE46AAA4}"/>
                </a:ext>
              </a:extLst>
            </p:cNvPr>
            <p:cNvSpPr>
              <a:spLocks noChangeArrowheads="1"/>
            </p:cNvSpPr>
            <p:nvPr/>
          </p:nvSpPr>
          <p:spPr bwMode="auto">
            <a:xfrm>
              <a:off x="3756" y="1261"/>
              <a:ext cx="924" cy="1497"/>
            </a:xfrm>
            <a:prstGeom prst="can">
              <a:avLst>
                <a:gd name="adj" fmla="val 29252"/>
              </a:avLst>
            </a:prstGeom>
            <a:noFill/>
            <a:ln w="9525">
              <a:solidFill>
                <a:srgbClr val="0000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1779" name="Oval 21">
              <a:extLst>
                <a:ext uri="{FF2B5EF4-FFF2-40B4-BE49-F238E27FC236}">
                  <a16:creationId xmlns:a16="http://schemas.microsoft.com/office/drawing/2014/main" id="{A8794B44-44FC-41AC-9FAC-EA60E7B0253E}"/>
                </a:ext>
              </a:extLst>
            </p:cNvPr>
            <p:cNvSpPr>
              <a:spLocks noChangeArrowheads="1"/>
            </p:cNvSpPr>
            <p:nvPr/>
          </p:nvSpPr>
          <p:spPr bwMode="auto">
            <a:xfrm>
              <a:off x="3758" y="1261"/>
              <a:ext cx="924" cy="272"/>
            </a:xfrm>
            <a:prstGeom prst="ellipse">
              <a:avLst/>
            </a:prstGeom>
            <a:noFill/>
            <a:ln w="127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1780" name="Line 22">
              <a:extLst>
                <a:ext uri="{FF2B5EF4-FFF2-40B4-BE49-F238E27FC236}">
                  <a16:creationId xmlns:a16="http://schemas.microsoft.com/office/drawing/2014/main" id="{8D007971-5BBC-4BEF-9735-7A4237E29596}"/>
                </a:ext>
              </a:extLst>
            </p:cNvPr>
            <p:cNvSpPr>
              <a:spLocks noChangeShapeType="1"/>
            </p:cNvSpPr>
            <p:nvPr/>
          </p:nvSpPr>
          <p:spPr bwMode="auto">
            <a:xfrm>
              <a:off x="4218" y="1402"/>
              <a:ext cx="58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81" name="Freeform 23">
              <a:extLst>
                <a:ext uri="{FF2B5EF4-FFF2-40B4-BE49-F238E27FC236}">
                  <a16:creationId xmlns:a16="http://schemas.microsoft.com/office/drawing/2014/main" id="{D25787C0-7DCA-4908-89FE-3BBC76F670E1}"/>
                </a:ext>
              </a:extLst>
            </p:cNvPr>
            <p:cNvSpPr>
              <a:spLocks/>
            </p:cNvSpPr>
            <p:nvPr/>
          </p:nvSpPr>
          <p:spPr bwMode="auto">
            <a:xfrm>
              <a:off x="3963" y="1289"/>
              <a:ext cx="255" cy="114"/>
            </a:xfrm>
            <a:custGeom>
              <a:avLst/>
              <a:gdLst>
                <a:gd name="T0" fmla="*/ 0 w 638"/>
                <a:gd name="T1" fmla="*/ 0 h 285"/>
                <a:gd name="T2" fmla="*/ 0 w 638"/>
                <a:gd name="T3" fmla="*/ 0 h 285"/>
                <a:gd name="T4" fmla="*/ 0 60000 65536"/>
                <a:gd name="T5" fmla="*/ 0 60000 65536"/>
              </a:gdLst>
              <a:ahLst/>
              <a:cxnLst>
                <a:cxn ang="T4">
                  <a:pos x="T0" y="T1"/>
                </a:cxn>
                <a:cxn ang="T5">
                  <a:pos x="T2" y="T3"/>
                </a:cxn>
              </a:cxnLst>
              <a:rect l="0" t="0" r="r" b="b"/>
              <a:pathLst>
                <a:path w="638" h="285">
                  <a:moveTo>
                    <a:pt x="0" y="0"/>
                  </a:moveTo>
                  <a:lnTo>
                    <a:pt x="638" y="285"/>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82" name="Text Box 24">
              <a:extLst>
                <a:ext uri="{FF2B5EF4-FFF2-40B4-BE49-F238E27FC236}">
                  <a16:creationId xmlns:a16="http://schemas.microsoft.com/office/drawing/2014/main" id="{3551D3D2-1B47-4052-A9C6-12AF0ADBC408}"/>
                </a:ext>
              </a:extLst>
            </p:cNvPr>
            <p:cNvSpPr txBox="1">
              <a:spLocks noChangeArrowheads="1"/>
            </p:cNvSpPr>
            <p:nvPr/>
          </p:nvSpPr>
          <p:spPr bwMode="auto">
            <a:xfrm>
              <a:off x="4338" y="1264"/>
              <a:ext cx="85" cy="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latin typeface="Times New Roman" panose="02020603050405020304" pitchFamily="18" charset="0"/>
                </a:rPr>
                <a:t>R</a:t>
              </a:r>
              <a:endParaRPr kumimoji="1" lang="en-US" altLang="zh-CN" sz="1200" b="1" i="1">
                <a:latin typeface="Times New Roman" panose="02020603050405020304" pitchFamily="18" charset="0"/>
              </a:endParaRPr>
            </a:p>
          </p:txBody>
        </p:sp>
        <p:sp>
          <p:nvSpPr>
            <p:cNvPr id="31783" name="Text Box 25">
              <a:extLst>
                <a:ext uri="{FF2B5EF4-FFF2-40B4-BE49-F238E27FC236}">
                  <a16:creationId xmlns:a16="http://schemas.microsoft.com/office/drawing/2014/main" id="{F4780202-F4A0-482D-91E4-E1BB8616143C}"/>
                </a:ext>
              </a:extLst>
            </p:cNvPr>
            <p:cNvSpPr txBox="1">
              <a:spLocks noChangeArrowheads="1"/>
            </p:cNvSpPr>
            <p:nvPr/>
          </p:nvSpPr>
          <p:spPr bwMode="auto">
            <a:xfrm>
              <a:off x="3966" y="1307"/>
              <a:ext cx="86" cy="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latin typeface="Times New Roman" panose="02020603050405020304" pitchFamily="18" charset="0"/>
                </a:rPr>
                <a:t>r</a:t>
              </a:r>
              <a:endParaRPr kumimoji="1" lang="en-US" altLang="zh-CN" sz="1200" b="1" i="1">
                <a:latin typeface="Times New Roman" panose="02020603050405020304" pitchFamily="18" charset="0"/>
              </a:endParaRPr>
            </a:p>
          </p:txBody>
        </p:sp>
        <p:graphicFrame>
          <p:nvGraphicFramePr>
            <p:cNvPr id="31784" name="Object 26">
              <a:extLst>
                <a:ext uri="{FF2B5EF4-FFF2-40B4-BE49-F238E27FC236}">
                  <a16:creationId xmlns:a16="http://schemas.microsoft.com/office/drawing/2014/main" id="{DC748F94-3943-4AEF-8AC3-8071F326039F}"/>
                </a:ext>
              </a:extLst>
            </p:cNvPr>
            <p:cNvGraphicFramePr>
              <a:graphicFrameLocks noChangeAspect="1"/>
            </p:cNvGraphicFramePr>
            <p:nvPr/>
          </p:nvGraphicFramePr>
          <p:xfrm>
            <a:off x="3427" y="1098"/>
            <a:ext cx="174" cy="240"/>
          </p:xfrm>
          <a:graphic>
            <a:graphicData uri="http://schemas.openxmlformats.org/presentationml/2006/ole">
              <mc:AlternateContent xmlns:mc="http://schemas.openxmlformats.org/markup-compatibility/2006">
                <mc:Choice xmlns:v="urn:schemas-microsoft-com:vml" Requires="v">
                  <p:oleObj spid="_x0000_s32088" name="公式" r:id="rId3" imgW="165028" imgH="228501" progId="Equation.3">
                    <p:embed/>
                  </p:oleObj>
                </mc:Choice>
                <mc:Fallback>
                  <p:oleObj name="公式" r:id="rId3" imgW="165028" imgH="228501" progId="Equation.3">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7" y="1098"/>
                          <a:ext cx="17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85" name="Freeform 27">
              <a:extLst>
                <a:ext uri="{FF2B5EF4-FFF2-40B4-BE49-F238E27FC236}">
                  <a16:creationId xmlns:a16="http://schemas.microsoft.com/office/drawing/2014/main" id="{BBCFF23E-A61F-4768-A495-7A68BF95185B}"/>
                </a:ext>
              </a:extLst>
            </p:cNvPr>
            <p:cNvSpPr>
              <a:spLocks/>
            </p:cNvSpPr>
            <p:nvPr/>
          </p:nvSpPr>
          <p:spPr bwMode="auto">
            <a:xfrm>
              <a:off x="3587" y="1261"/>
              <a:ext cx="124" cy="175"/>
            </a:xfrm>
            <a:custGeom>
              <a:avLst/>
              <a:gdLst>
                <a:gd name="T0" fmla="*/ 0 w 309"/>
                <a:gd name="T1" fmla="*/ 0 h 438"/>
                <a:gd name="T2" fmla="*/ 0 w 309"/>
                <a:gd name="T3" fmla="*/ 0 h 438"/>
                <a:gd name="T4" fmla="*/ 0 60000 65536"/>
                <a:gd name="T5" fmla="*/ 0 60000 65536"/>
              </a:gdLst>
              <a:ahLst/>
              <a:cxnLst>
                <a:cxn ang="T4">
                  <a:pos x="T0" y="T1"/>
                </a:cxn>
                <a:cxn ang="T5">
                  <a:pos x="T2" y="T3"/>
                </a:cxn>
              </a:cxnLst>
              <a:rect l="0" t="0" r="r" b="b"/>
              <a:pathLst>
                <a:path w="309" h="438">
                  <a:moveTo>
                    <a:pt x="0" y="0"/>
                  </a:moveTo>
                  <a:lnTo>
                    <a:pt x="309" y="438"/>
                  </a:lnTo>
                </a:path>
              </a:pathLst>
            </a:custGeom>
            <a:noFill/>
            <a:ln w="9525" cap="flat" cmpd="sng">
              <a:solidFill>
                <a:srgbClr val="000000"/>
              </a:solidFill>
              <a:prstDash val="solid"/>
              <a:round/>
              <a:headEnd type="none" w="med" len="me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86" name="Line 28">
              <a:extLst>
                <a:ext uri="{FF2B5EF4-FFF2-40B4-BE49-F238E27FC236}">
                  <a16:creationId xmlns:a16="http://schemas.microsoft.com/office/drawing/2014/main" id="{6F6A4025-D3CE-45DF-B8F4-49882A0AD220}"/>
                </a:ext>
              </a:extLst>
            </p:cNvPr>
            <p:cNvSpPr>
              <a:spLocks noChangeShapeType="1"/>
            </p:cNvSpPr>
            <p:nvPr/>
          </p:nvSpPr>
          <p:spPr bwMode="auto">
            <a:xfrm flipH="1">
              <a:off x="3456" y="1402"/>
              <a:ext cx="1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87" name="Line 29">
              <a:extLst>
                <a:ext uri="{FF2B5EF4-FFF2-40B4-BE49-F238E27FC236}">
                  <a16:creationId xmlns:a16="http://schemas.microsoft.com/office/drawing/2014/main" id="{26F160CF-8091-4034-B3DF-1B0859834AC3}"/>
                </a:ext>
              </a:extLst>
            </p:cNvPr>
            <p:cNvSpPr>
              <a:spLocks noChangeShapeType="1"/>
            </p:cNvSpPr>
            <p:nvPr/>
          </p:nvSpPr>
          <p:spPr bwMode="auto">
            <a:xfrm flipH="1">
              <a:off x="3456" y="2624"/>
              <a:ext cx="1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88" name="Line 30">
              <a:extLst>
                <a:ext uri="{FF2B5EF4-FFF2-40B4-BE49-F238E27FC236}">
                  <a16:creationId xmlns:a16="http://schemas.microsoft.com/office/drawing/2014/main" id="{5F9B5F7D-F02F-446B-A1D0-116568F01923}"/>
                </a:ext>
              </a:extLst>
            </p:cNvPr>
            <p:cNvSpPr>
              <a:spLocks noChangeShapeType="1"/>
            </p:cNvSpPr>
            <p:nvPr/>
          </p:nvSpPr>
          <p:spPr bwMode="auto">
            <a:xfrm>
              <a:off x="3501" y="1402"/>
              <a:ext cx="0" cy="1224"/>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89" name="Text Box 31">
              <a:extLst>
                <a:ext uri="{FF2B5EF4-FFF2-40B4-BE49-F238E27FC236}">
                  <a16:creationId xmlns:a16="http://schemas.microsoft.com/office/drawing/2014/main" id="{2442FE7E-3C2D-459E-A644-6F24F184F041}"/>
                </a:ext>
              </a:extLst>
            </p:cNvPr>
            <p:cNvSpPr txBox="1">
              <a:spLocks noChangeArrowheads="1"/>
            </p:cNvSpPr>
            <p:nvPr/>
          </p:nvSpPr>
          <p:spPr bwMode="auto">
            <a:xfrm>
              <a:off x="3456" y="1849"/>
              <a:ext cx="96" cy="288"/>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i="1">
                  <a:latin typeface="Times New Roman" panose="02020603050405020304" pitchFamily="18" charset="0"/>
                </a:rPr>
                <a:t>L</a:t>
              </a:r>
            </a:p>
          </p:txBody>
        </p:sp>
        <p:sp>
          <p:nvSpPr>
            <p:cNvPr id="31790" name="Text Box 32">
              <a:extLst>
                <a:ext uri="{FF2B5EF4-FFF2-40B4-BE49-F238E27FC236}">
                  <a16:creationId xmlns:a16="http://schemas.microsoft.com/office/drawing/2014/main" id="{A552166A-5FDB-40CA-83B4-F9F1DC8A59AC}"/>
                </a:ext>
              </a:extLst>
            </p:cNvPr>
            <p:cNvSpPr txBox="1">
              <a:spLocks noChangeArrowheads="1"/>
            </p:cNvSpPr>
            <p:nvPr/>
          </p:nvSpPr>
          <p:spPr bwMode="auto">
            <a:xfrm>
              <a:off x="3456" y="2899"/>
              <a:ext cx="1536" cy="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endParaRPr kumimoji="1" lang="zh-CN" altLang="en-US" sz="1600" b="1">
                <a:latin typeface="Times New Roman" panose="02020603050405020304" pitchFamily="18" charset="0"/>
              </a:endParaRPr>
            </a:p>
          </p:txBody>
        </p:sp>
        <p:sp>
          <p:nvSpPr>
            <p:cNvPr id="31791" name="Oval 33">
              <a:extLst>
                <a:ext uri="{FF2B5EF4-FFF2-40B4-BE49-F238E27FC236}">
                  <a16:creationId xmlns:a16="http://schemas.microsoft.com/office/drawing/2014/main" id="{49C54669-F63F-4BE2-97AE-F08A5CF9093E}"/>
                </a:ext>
              </a:extLst>
            </p:cNvPr>
            <p:cNvSpPr>
              <a:spLocks noChangeArrowheads="1"/>
            </p:cNvSpPr>
            <p:nvPr/>
          </p:nvSpPr>
          <p:spPr bwMode="auto">
            <a:xfrm>
              <a:off x="3756" y="1825"/>
              <a:ext cx="924" cy="272"/>
            </a:xfrm>
            <a:prstGeom prst="ellipse">
              <a:avLst/>
            </a:prstGeom>
            <a:solidFill>
              <a:srgbClr val="FFFFFF"/>
            </a:solidFill>
            <a:ln w="12700">
              <a:solidFill>
                <a:srgbClr val="000000"/>
              </a:solidFill>
              <a:prstDash val="dash"/>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1792" name="Line 34">
              <a:extLst>
                <a:ext uri="{FF2B5EF4-FFF2-40B4-BE49-F238E27FC236}">
                  <a16:creationId xmlns:a16="http://schemas.microsoft.com/office/drawing/2014/main" id="{729FC980-C0F0-41BB-A0A7-9E487C79A253}"/>
                </a:ext>
              </a:extLst>
            </p:cNvPr>
            <p:cNvSpPr>
              <a:spLocks noChangeShapeType="1"/>
            </p:cNvSpPr>
            <p:nvPr/>
          </p:nvSpPr>
          <p:spPr bwMode="auto">
            <a:xfrm>
              <a:off x="4842" y="2627"/>
              <a:ext cx="12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93" name="Line 35">
              <a:extLst>
                <a:ext uri="{FF2B5EF4-FFF2-40B4-BE49-F238E27FC236}">
                  <a16:creationId xmlns:a16="http://schemas.microsoft.com/office/drawing/2014/main" id="{67740028-4830-4A77-B256-99C6B0BF1AE4}"/>
                </a:ext>
              </a:extLst>
            </p:cNvPr>
            <p:cNvSpPr>
              <a:spLocks noChangeShapeType="1"/>
            </p:cNvSpPr>
            <p:nvPr/>
          </p:nvSpPr>
          <p:spPr bwMode="auto">
            <a:xfrm>
              <a:off x="4842" y="1963"/>
              <a:ext cx="12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94" name="Line 36">
              <a:extLst>
                <a:ext uri="{FF2B5EF4-FFF2-40B4-BE49-F238E27FC236}">
                  <a16:creationId xmlns:a16="http://schemas.microsoft.com/office/drawing/2014/main" id="{49069764-90EA-4D7B-9F76-6589F79A3FB1}"/>
                </a:ext>
              </a:extLst>
            </p:cNvPr>
            <p:cNvSpPr>
              <a:spLocks noChangeShapeType="1"/>
            </p:cNvSpPr>
            <p:nvPr/>
          </p:nvSpPr>
          <p:spPr bwMode="auto">
            <a:xfrm>
              <a:off x="4927" y="1963"/>
              <a:ext cx="0" cy="664"/>
            </a:xfrm>
            <a:prstGeom prst="line">
              <a:avLst/>
            </a:prstGeom>
            <a:noFill/>
            <a:ln w="9525">
              <a:solidFill>
                <a:srgbClr val="000000"/>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95" name="Text Box 37">
              <a:extLst>
                <a:ext uri="{FF2B5EF4-FFF2-40B4-BE49-F238E27FC236}">
                  <a16:creationId xmlns:a16="http://schemas.microsoft.com/office/drawing/2014/main" id="{B033014B-6BAE-4A4E-A31D-ACF13674D7F3}"/>
                </a:ext>
              </a:extLst>
            </p:cNvPr>
            <p:cNvSpPr txBox="1">
              <a:spLocks noChangeArrowheads="1"/>
            </p:cNvSpPr>
            <p:nvPr/>
          </p:nvSpPr>
          <p:spPr bwMode="auto">
            <a:xfrm>
              <a:off x="4862" y="2112"/>
              <a:ext cx="289" cy="319"/>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i="1">
                  <a:latin typeface="Times New Roman" panose="02020603050405020304" pitchFamily="18" charset="0"/>
                </a:rPr>
                <a:t>L</a:t>
              </a:r>
              <a:r>
                <a:rPr kumimoji="1" lang="en-US" altLang="zh-CN" sz="2400" b="1" i="1" baseline="-25000">
                  <a:latin typeface="Times New Roman" panose="02020603050405020304" pitchFamily="18" charset="0"/>
                </a:rPr>
                <a:t>x</a:t>
              </a:r>
            </a:p>
          </p:txBody>
        </p:sp>
        <p:graphicFrame>
          <p:nvGraphicFramePr>
            <p:cNvPr id="31796" name="Object 38">
              <a:extLst>
                <a:ext uri="{FF2B5EF4-FFF2-40B4-BE49-F238E27FC236}">
                  <a16:creationId xmlns:a16="http://schemas.microsoft.com/office/drawing/2014/main" id="{B603C62A-DBF9-434B-8794-F28B356F3CF3}"/>
                </a:ext>
              </a:extLst>
            </p:cNvPr>
            <p:cNvGraphicFramePr>
              <a:graphicFrameLocks noChangeAspect="1"/>
            </p:cNvGraphicFramePr>
            <p:nvPr/>
          </p:nvGraphicFramePr>
          <p:xfrm>
            <a:off x="4814" y="1580"/>
            <a:ext cx="184" cy="202"/>
          </p:xfrm>
          <a:graphic>
            <a:graphicData uri="http://schemas.openxmlformats.org/presentationml/2006/ole">
              <mc:AlternateContent xmlns:mc="http://schemas.openxmlformats.org/markup-compatibility/2006">
                <mc:Choice xmlns:v="urn:schemas-microsoft-com:vml" Requires="v">
                  <p:oleObj spid="_x0000_s32089" name="公式" r:id="rId5" imgW="126835" imgH="139518" progId="Equation.3">
                    <p:embed/>
                  </p:oleObj>
                </mc:Choice>
                <mc:Fallback>
                  <p:oleObj name="公式" r:id="rId5" imgW="126835" imgH="139518" progId="Equation.3">
                    <p:embed/>
                    <p:pic>
                      <p:nvPicPr>
                        <p:cNvPr id="0" name="Object 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14" y="1580"/>
                          <a:ext cx="1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97" name="Freeform 39">
              <a:extLst>
                <a:ext uri="{FF2B5EF4-FFF2-40B4-BE49-F238E27FC236}">
                  <a16:creationId xmlns:a16="http://schemas.microsoft.com/office/drawing/2014/main" id="{6E95887D-1D70-439F-B5DE-17D423F23F0B}"/>
                </a:ext>
              </a:extLst>
            </p:cNvPr>
            <p:cNvSpPr>
              <a:spLocks/>
            </p:cNvSpPr>
            <p:nvPr/>
          </p:nvSpPr>
          <p:spPr bwMode="auto">
            <a:xfrm>
              <a:off x="4724" y="1776"/>
              <a:ext cx="159" cy="257"/>
            </a:xfrm>
            <a:custGeom>
              <a:avLst/>
              <a:gdLst>
                <a:gd name="T0" fmla="*/ 0 w 397"/>
                <a:gd name="T1" fmla="*/ 0 h 644"/>
                <a:gd name="T2" fmla="*/ 0 w 397"/>
                <a:gd name="T3" fmla="*/ 0 h 644"/>
                <a:gd name="T4" fmla="*/ 0 60000 65536"/>
                <a:gd name="T5" fmla="*/ 0 60000 65536"/>
              </a:gdLst>
              <a:ahLst/>
              <a:cxnLst>
                <a:cxn ang="T4">
                  <a:pos x="T0" y="T1"/>
                </a:cxn>
                <a:cxn ang="T5">
                  <a:pos x="T2" y="T3"/>
                </a:cxn>
              </a:cxnLst>
              <a:rect l="0" t="0" r="r" b="b"/>
              <a:pathLst>
                <a:path w="397" h="644">
                  <a:moveTo>
                    <a:pt x="397" y="0"/>
                  </a:moveTo>
                  <a:lnTo>
                    <a:pt x="0" y="644"/>
                  </a:lnTo>
                </a:path>
              </a:pathLst>
            </a:custGeom>
            <a:noFill/>
            <a:ln w="9525" cap="flat" cmpd="sng">
              <a:solidFill>
                <a:srgbClr val="000000"/>
              </a:solidFill>
              <a:prstDash val="solid"/>
              <a:round/>
              <a:headEnd type="none" w="med" len="me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grpSp>
      <p:grpSp>
        <p:nvGrpSpPr>
          <p:cNvPr id="32773" name="Group 57">
            <a:extLst>
              <a:ext uri="{FF2B5EF4-FFF2-40B4-BE49-F238E27FC236}">
                <a16:creationId xmlns:a16="http://schemas.microsoft.com/office/drawing/2014/main" id="{4BC38A08-B838-4F61-BC66-85F7F73019E4}"/>
              </a:ext>
            </a:extLst>
          </p:cNvPr>
          <p:cNvGrpSpPr>
            <a:grpSpLocks/>
          </p:cNvGrpSpPr>
          <p:nvPr/>
        </p:nvGrpSpPr>
        <p:grpSpPr bwMode="auto">
          <a:xfrm>
            <a:off x="4173538" y="1268413"/>
            <a:ext cx="2079625" cy="2597150"/>
            <a:chOff x="3696" y="480"/>
            <a:chExt cx="1824" cy="2125"/>
          </a:xfrm>
        </p:grpSpPr>
        <p:sp>
          <p:nvSpPr>
            <p:cNvPr id="31760" name="Rectangle 58">
              <a:extLst>
                <a:ext uri="{FF2B5EF4-FFF2-40B4-BE49-F238E27FC236}">
                  <a16:creationId xmlns:a16="http://schemas.microsoft.com/office/drawing/2014/main" id="{844C113F-21F2-4328-9C61-D7C651C92000}"/>
                </a:ext>
              </a:extLst>
            </p:cNvPr>
            <p:cNvSpPr>
              <a:spLocks noChangeArrowheads="1"/>
            </p:cNvSpPr>
            <p:nvPr/>
          </p:nvSpPr>
          <p:spPr bwMode="auto">
            <a:xfrm>
              <a:off x="3696" y="1398"/>
              <a:ext cx="1824"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1761" name="AutoShape 59">
              <a:extLst>
                <a:ext uri="{FF2B5EF4-FFF2-40B4-BE49-F238E27FC236}">
                  <a16:creationId xmlns:a16="http://schemas.microsoft.com/office/drawing/2014/main" id="{EDF98341-6BEE-483E-84DB-60F8533EEF33}"/>
                </a:ext>
              </a:extLst>
            </p:cNvPr>
            <p:cNvSpPr>
              <a:spLocks noChangeArrowheads="1"/>
            </p:cNvSpPr>
            <p:nvPr/>
          </p:nvSpPr>
          <p:spPr bwMode="auto">
            <a:xfrm>
              <a:off x="4028" y="533"/>
              <a:ext cx="1314" cy="1780"/>
            </a:xfrm>
            <a:prstGeom prst="can">
              <a:avLst>
                <a:gd name="adj" fmla="val 33866"/>
              </a:avLst>
            </a:prstGeom>
            <a:noFill/>
            <a:ln w="127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1762" name="AutoShape 60">
              <a:extLst>
                <a:ext uri="{FF2B5EF4-FFF2-40B4-BE49-F238E27FC236}">
                  <a16:creationId xmlns:a16="http://schemas.microsoft.com/office/drawing/2014/main" id="{1D086E5D-3A79-4C48-A3D7-E4D410B29B0A}"/>
                </a:ext>
              </a:extLst>
            </p:cNvPr>
            <p:cNvSpPr>
              <a:spLocks noChangeArrowheads="1"/>
            </p:cNvSpPr>
            <p:nvPr/>
          </p:nvSpPr>
          <p:spPr bwMode="auto">
            <a:xfrm>
              <a:off x="4169" y="601"/>
              <a:ext cx="1032" cy="1644"/>
            </a:xfrm>
            <a:prstGeom prst="can">
              <a:avLst>
                <a:gd name="adj" fmla="val 28763"/>
              </a:avLst>
            </a:prstGeom>
            <a:noFill/>
            <a:ln w="9525">
              <a:solidFill>
                <a:srgbClr val="0000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1763" name="Oval 61">
              <a:extLst>
                <a:ext uri="{FF2B5EF4-FFF2-40B4-BE49-F238E27FC236}">
                  <a16:creationId xmlns:a16="http://schemas.microsoft.com/office/drawing/2014/main" id="{F79A32B2-F289-4B7A-8BB2-77D7CF8D827B}"/>
                </a:ext>
              </a:extLst>
            </p:cNvPr>
            <p:cNvSpPr>
              <a:spLocks noChangeArrowheads="1"/>
            </p:cNvSpPr>
            <p:nvPr/>
          </p:nvSpPr>
          <p:spPr bwMode="auto">
            <a:xfrm>
              <a:off x="4171" y="601"/>
              <a:ext cx="1032" cy="298"/>
            </a:xfrm>
            <a:prstGeom prst="ellipse">
              <a:avLst/>
            </a:prstGeom>
            <a:noFill/>
            <a:ln w="127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1764" name="Line 62">
              <a:extLst>
                <a:ext uri="{FF2B5EF4-FFF2-40B4-BE49-F238E27FC236}">
                  <a16:creationId xmlns:a16="http://schemas.microsoft.com/office/drawing/2014/main" id="{513CA18D-5734-4F56-9156-A4D3AB833221}"/>
                </a:ext>
              </a:extLst>
            </p:cNvPr>
            <p:cNvSpPr>
              <a:spLocks noChangeShapeType="1"/>
            </p:cNvSpPr>
            <p:nvPr/>
          </p:nvSpPr>
          <p:spPr bwMode="auto">
            <a:xfrm>
              <a:off x="4685" y="755"/>
              <a:ext cx="657"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65" name="Freeform 63">
              <a:extLst>
                <a:ext uri="{FF2B5EF4-FFF2-40B4-BE49-F238E27FC236}">
                  <a16:creationId xmlns:a16="http://schemas.microsoft.com/office/drawing/2014/main" id="{C45FB7A2-0747-4D4E-9FE3-9DE5E39B8E15}"/>
                </a:ext>
              </a:extLst>
            </p:cNvPr>
            <p:cNvSpPr>
              <a:spLocks/>
            </p:cNvSpPr>
            <p:nvPr/>
          </p:nvSpPr>
          <p:spPr bwMode="auto">
            <a:xfrm>
              <a:off x="4400" y="633"/>
              <a:ext cx="285" cy="125"/>
            </a:xfrm>
            <a:custGeom>
              <a:avLst/>
              <a:gdLst>
                <a:gd name="T0" fmla="*/ 0 w 638"/>
                <a:gd name="T1" fmla="*/ 0 h 285"/>
                <a:gd name="T2" fmla="*/ 0 w 638"/>
                <a:gd name="T3" fmla="*/ 0 h 285"/>
                <a:gd name="T4" fmla="*/ 0 60000 65536"/>
                <a:gd name="T5" fmla="*/ 0 60000 65536"/>
              </a:gdLst>
              <a:ahLst/>
              <a:cxnLst>
                <a:cxn ang="T4">
                  <a:pos x="T0" y="T1"/>
                </a:cxn>
                <a:cxn ang="T5">
                  <a:pos x="T2" y="T3"/>
                </a:cxn>
              </a:cxnLst>
              <a:rect l="0" t="0" r="r" b="b"/>
              <a:pathLst>
                <a:path w="638" h="285">
                  <a:moveTo>
                    <a:pt x="0" y="0"/>
                  </a:moveTo>
                  <a:lnTo>
                    <a:pt x="638" y="285"/>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66" name="Text Box 64">
              <a:extLst>
                <a:ext uri="{FF2B5EF4-FFF2-40B4-BE49-F238E27FC236}">
                  <a16:creationId xmlns:a16="http://schemas.microsoft.com/office/drawing/2014/main" id="{6A986FF6-BB68-4255-BCF0-24808CE87E03}"/>
                </a:ext>
              </a:extLst>
            </p:cNvPr>
            <p:cNvSpPr txBox="1">
              <a:spLocks noChangeArrowheads="1"/>
            </p:cNvSpPr>
            <p:nvPr/>
          </p:nvSpPr>
          <p:spPr bwMode="auto">
            <a:xfrm>
              <a:off x="4819" y="616"/>
              <a:ext cx="95" cy="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latin typeface="Times New Roman" panose="02020603050405020304" pitchFamily="18" charset="0"/>
                </a:rPr>
                <a:t>R</a:t>
              </a:r>
              <a:endParaRPr kumimoji="1" lang="en-US" altLang="zh-CN" sz="1200" b="1" i="1">
                <a:latin typeface="Times New Roman" panose="02020603050405020304" pitchFamily="18" charset="0"/>
              </a:endParaRPr>
            </a:p>
          </p:txBody>
        </p:sp>
        <p:sp>
          <p:nvSpPr>
            <p:cNvPr id="31767" name="Text Box 65">
              <a:extLst>
                <a:ext uri="{FF2B5EF4-FFF2-40B4-BE49-F238E27FC236}">
                  <a16:creationId xmlns:a16="http://schemas.microsoft.com/office/drawing/2014/main" id="{F0A32647-A8A2-499F-9FFA-FE27339B63CD}"/>
                </a:ext>
              </a:extLst>
            </p:cNvPr>
            <p:cNvSpPr txBox="1">
              <a:spLocks noChangeArrowheads="1"/>
            </p:cNvSpPr>
            <p:nvPr/>
          </p:nvSpPr>
          <p:spPr bwMode="auto">
            <a:xfrm>
              <a:off x="4403" y="652"/>
              <a:ext cx="95"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600" b="1" i="1">
                  <a:latin typeface="Times New Roman" panose="02020603050405020304" pitchFamily="18" charset="0"/>
                </a:rPr>
                <a:t>r</a:t>
              </a:r>
              <a:endParaRPr kumimoji="1" lang="en-US" altLang="zh-CN" sz="1200" b="1" i="1">
                <a:latin typeface="Times New Roman" panose="02020603050405020304" pitchFamily="18" charset="0"/>
              </a:endParaRPr>
            </a:p>
          </p:txBody>
        </p:sp>
        <p:graphicFrame>
          <p:nvGraphicFramePr>
            <p:cNvPr id="31768" name="Object 66">
              <a:extLst>
                <a:ext uri="{FF2B5EF4-FFF2-40B4-BE49-F238E27FC236}">
                  <a16:creationId xmlns:a16="http://schemas.microsoft.com/office/drawing/2014/main" id="{6FBD2CF9-5204-445B-A3DA-47339794F774}"/>
                </a:ext>
              </a:extLst>
            </p:cNvPr>
            <p:cNvGraphicFramePr>
              <a:graphicFrameLocks noChangeAspect="1"/>
            </p:cNvGraphicFramePr>
            <p:nvPr/>
          </p:nvGraphicFramePr>
          <p:xfrm>
            <a:off x="3856" y="480"/>
            <a:ext cx="140" cy="149"/>
          </p:xfrm>
          <a:graphic>
            <a:graphicData uri="http://schemas.openxmlformats.org/presentationml/2006/ole">
              <mc:AlternateContent xmlns:mc="http://schemas.openxmlformats.org/markup-compatibility/2006">
                <mc:Choice xmlns:v="urn:schemas-microsoft-com:vml" Requires="v">
                  <p:oleObj spid="_x0000_s32090" name="公式" r:id="rId7" imgW="126835" imgH="139518" progId="Equation.3">
                    <p:embed/>
                  </p:oleObj>
                </mc:Choice>
                <mc:Fallback>
                  <p:oleObj name="公式" r:id="rId7" imgW="126835" imgH="139518" progId="Equation.3">
                    <p:embed/>
                    <p:pic>
                      <p:nvPicPr>
                        <p:cNvPr id="0" name="Object 6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56" y="480"/>
                          <a:ext cx="140"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69" name="Freeform 67">
              <a:extLst>
                <a:ext uri="{FF2B5EF4-FFF2-40B4-BE49-F238E27FC236}">
                  <a16:creationId xmlns:a16="http://schemas.microsoft.com/office/drawing/2014/main" id="{BD443626-2129-44A1-9472-006C153B59AD}"/>
                </a:ext>
              </a:extLst>
            </p:cNvPr>
            <p:cNvSpPr>
              <a:spLocks/>
            </p:cNvSpPr>
            <p:nvPr/>
          </p:nvSpPr>
          <p:spPr bwMode="auto">
            <a:xfrm>
              <a:off x="3980" y="601"/>
              <a:ext cx="138" cy="193"/>
            </a:xfrm>
            <a:custGeom>
              <a:avLst/>
              <a:gdLst>
                <a:gd name="T0" fmla="*/ 0 w 309"/>
                <a:gd name="T1" fmla="*/ 0 h 438"/>
                <a:gd name="T2" fmla="*/ 0 w 309"/>
                <a:gd name="T3" fmla="*/ 0 h 438"/>
                <a:gd name="T4" fmla="*/ 0 60000 65536"/>
                <a:gd name="T5" fmla="*/ 0 60000 65536"/>
              </a:gdLst>
              <a:ahLst/>
              <a:cxnLst>
                <a:cxn ang="T4">
                  <a:pos x="T0" y="T1"/>
                </a:cxn>
                <a:cxn ang="T5">
                  <a:pos x="T2" y="T3"/>
                </a:cxn>
              </a:cxnLst>
              <a:rect l="0" t="0" r="r" b="b"/>
              <a:pathLst>
                <a:path w="309" h="438">
                  <a:moveTo>
                    <a:pt x="0" y="0"/>
                  </a:moveTo>
                  <a:lnTo>
                    <a:pt x="309" y="438"/>
                  </a:lnTo>
                </a:path>
              </a:pathLst>
            </a:custGeom>
            <a:noFill/>
            <a:ln w="9525" cap="flat" cmpd="sng">
              <a:solidFill>
                <a:srgbClr val="000000"/>
              </a:solidFill>
              <a:prstDash val="solid"/>
              <a:round/>
              <a:headEnd type="none" w="med" len="me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70" name="Line 68">
              <a:extLst>
                <a:ext uri="{FF2B5EF4-FFF2-40B4-BE49-F238E27FC236}">
                  <a16:creationId xmlns:a16="http://schemas.microsoft.com/office/drawing/2014/main" id="{07CDB362-3C89-4CC0-8879-EB66928C88DB}"/>
                </a:ext>
              </a:extLst>
            </p:cNvPr>
            <p:cNvSpPr>
              <a:spLocks noChangeShapeType="1"/>
            </p:cNvSpPr>
            <p:nvPr/>
          </p:nvSpPr>
          <p:spPr bwMode="auto">
            <a:xfrm flipH="1">
              <a:off x="3833" y="755"/>
              <a:ext cx="16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71" name="Line 69">
              <a:extLst>
                <a:ext uri="{FF2B5EF4-FFF2-40B4-BE49-F238E27FC236}">
                  <a16:creationId xmlns:a16="http://schemas.microsoft.com/office/drawing/2014/main" id="{19BD173B-0962-44D9-807A-0144E0B6C2E1}"/>
                </a:ext>
              </a:extLst>
            </p:cNvPr>
            <p:cNvSpPr>
              <a:spLocks noChangeShapeType="1"/>
            </p:cNvSpPr>
            <p:nvPr/>
          </p:nvSpPr>
          <p:spPr bwMode="auto">
            <a:xfrm flipH="1">
              <a:off x="3833" y="2098"/>
              <a:ext cx="16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72" name="Line 70">
              <a:extLst>
                <a:ext uri="{FF2B5EF4-FFF2-40B4-BE49-F238E27FC236}">
                  <a16:creationId xmlns:a16="http://schemas.microsoft.com/office/drawing/2014/main" id="{079D6859-CE3F-4429-8943-48BFB1C23136}"/>
                </a:ext>
              </a:extLst>
            </p:cNvPr>
            <p:cNvSpPr>
              <a:spLocks noChangeShapeType="1"/>
            </p:cNvSpPr>
            <p:nvPr/>
          </p:nvSpPr>
          <p:spPr bwMode="auto">
            <a:xfrm>
              <a:off x="3884" y="755"/>
              <a:ext cx="0" cy="1345"/>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73" name="Text Box 71">
              <a:extLst>
                <a:ext uri="{FF2B5EF4-FFF2-40B4-BE49-F238E27FC236}">
                  <a16:creationId xmlns:a16="http://schemas.microsoft.com/office/drawing/2014/main" id="{EF535090-16B6-473D-9636-7A289DBE0483}"/>
                </a:ext>
              </a:extLst>
            </p:cNvPr>
            <p:cNvSpPr txBox="1">
              <a:spLocks noChangeArrowheads="1"/>
            </p:cNvSpPr>
            <p:nvPr/>
          </p:nvSpPr>
          <p:spPr bwMode="auto">
            <a:xfrm>
              <a:off x="3840" y="1241"/>
              <a:ext cx="101" cy="293"/>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i="1">
                  <a:latin typeface="Times New Roman" panose="02020603050405020304" pitchFamily="18" charset="0"/>
                </a:rPr>
                <a:t>L</a:t>
              </a:r>
            </a:p>
          </p:txBody>
        </p:sp>
        <p:sp>
          <p:nvSpPr>
            <p:cNvPr id="31774" name="Text Box 72">
              <a:extLst>
                <a:ext uri="{FF2B5EF4-FFF2-40B4-BE49-F238E27FC236}">
                  <a16:creationId xmlns:a16="http://schemas.microsoft.com/office/drawing/2014/main" id="{65458284-9347-4674-BDFB-BA14C49F7638}"/>
                </a:ext>
              </a:extLst>
            </p:cNvPr>
            <p:cNvSpPr txBox="1">
              <a:spLocks noChangeArrowheads="1"/>
            </p:cNvSpPr>
            <p:nvPr/>
          </p:nvSpPr>
          <p:spPr bwMode="auto">
            <a:xfrm>
              <a:off x="3820" y="2400"/>
              <a:ext cx="1521" cy="2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endParaRPr kumimoji="1" lang="zh-CN" altLang="en-US" sz="1600" b="1">
                <a:latin typeface="Times New Roman" panose="02020603050405020304" pitchFamily="18" charset="0"/>
              </a:endParaRPr>
            </a:p>
          </p:txBody>
        </p:sp>
      </p:grpSp>
      <p:graphicFrame>
        <p:nvGraphicFramePr>
          <p:cNvPr id="32774" name="Object 74">
            <a:extLst>
              <a:ext uri="{FF2B5EF4-FFF2-40B4-BE49-F238E27FC236}">
                <a16:creationId xmlns:a16="http://schemas.microsoft.com/office/drawing/2014/main" id="{1455C420-B3F8-40CB-A684-C4070EFEA072}"/>
              </a:ext>
            </a:extLst>
          </p:cNvPr>
          <p:cNvGraphicFramePr>
            <a:graphicFrameLocks noChangeAspect="1"/>
          </p:cNvGraphicFramePr>
          <p:nvPr>
            <p:extLst>
              <p:ext uri="{D42A27DB-BD31-4B8C-83A1-F6EECF244321}">
                <p14:modId xmlns:p14="http://schemas.microsoft.com/office/powerpoint/2010/main" val="347576748"/>
              </p:ext>
            </p:extLst>
          </p:nvPr>
        </p:nvGraphicFramePr>
        <p:xfrm>
          <a:off x="4059238" y="5546874"/>
          <a:ext cx="4872037" cy="906462"/>
        </p:xfrm>
        <a:graphic>
          <a:graphicData uri="http://schemas.openxmlformats.org/presentationml/2006/ole">
            <mc:AlternateContent xmlns:mc="http://schemas.openxmlformats.org/markup-compatibility/2006">
              <mc:Choice xmlns:v="urn:schemas-microsoft-com:vml" Requires="v">
                <p:oleObj spid="_x0000_s32091" name="公式" r:id="rId8" imgW="3352800" imgH="584200" progId="Equation.3">
                  <p:embed/>
                </p:oleObj>
              </mc:Choice>
              <mc:Fallback>
                <p:oleObj name="公式" r:id="rId8" imgW="3352800" imgH="584200" progId="Equation.3">
                  <p:embed/>
                  <p:pic>
                    <p:nvPicPr>
                      <p:cNvPr id="0" name="Object 7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59238" y="5546874"/>
                        <a:ext cx="4872037" cy="906462"/>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75" name="Object 73">
            <a:extLst>
              <a:ext uri="{FF2B5EF4-FFF2-40B4-BE49-F238E27FC236}">
                <a16:creationId xmlns:a16="http://schemas.microsoft.com/office/drawing/2014/main" id="{17A55C6B-962F-48B6-B804-0764B93479EF}"/>
              </a:ext>
            </a:extLst>
          </p:cNvPr>
          <p:cNvGraphicFramePr>
            <a:graphicFrameLocks noChangeAspect="1"/>
          </p:cNvGraphicFramePr>
          <p:nvPr/>
        </p:nvGraphicFramePr>
        <p:xfrm>
          <a:off x="477838" y="3444875"/>
          <a:ext cx="3149600" cy="3154363"/>
        </p:xfrm>
        <a:graphic>
          <a:graphicData uri="http://schemas.openxmlformats.org/presentationml/2006/ole">
            <mc:AlternateContent xmlns:mc="http://schemas.openxmlformats.org/markup-compatibility/2006">
              <mc:Choice xmlns:v="urn:schemas-microsoft-com:vml" Requires="v">
                <p:oleObj spid="_x0000_s32092" name="Equation" r:id="rId10" imgW="2095500" imgH="2006600" progId="Equation.DSMT4">
                  <p:embed/>
                </p:oleObj>
              </mc:Choice>
              <mc:Fallback>
                <p:oleObj name="Equation" r:id="rId10" imgW="2095500" imgH="2006600" progId="Equation.DSMT4">
                  <p:embed/>
                  <p:pic>
                    <p:nvPicPr>
                      <p:cNvPr id="0" name="Object 7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7838" y="3444875"/>
                        <a:ext cx="3149600" cy="315436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 name="矩形 47">
            <a:extLst>
              <a:ext uri="{FF2B5EF4-FFF2-40B4-BE49-F238E27FC236}">
                <a16:creationId xmlns:a16="http://schemas.microsoft.com/office/drawing/2014/main" id="{D0B85F65-59B3-4382-8B54-B27B019ED651}"/>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31753" name="Text Box 2">
            <a:extLst>
              <a:ext uri="{FF2B5EF4-FFF2-40B4-BE49-F238E27FC236}">
                <a16:creationId xmlns:a16="http://schemas.microsoft.com/office/drawing/2014/main" id="{D8959265-E1CC-4D74-9398-F66261B65276}"/>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C00000"/>
                </a:solidFill>
                <a:latin typeface="微软雅黑" panose="020B0503020204020204" pitchFamily="34" charset="-122"/>
                <a:ea typeface="微软雅黑" panose="020B0503020204020204" pitchFamily="34" charset="-122"/>
              </a:rPr>
              <a:t>1.3</a:t>
            </a:r>
            <a:r>
              <a:rPr kumimoji="1" lang="zh-CN" altLang="en-US" sz="2800" b="1" dirty="0">
                <a:solidFill>
                  <a:srgbClr val="C00000"/>
                </a:solidFill>
                <a:latin typeface="微软雅黑" panose="020B0503020204020204" pitchFamily="34" charset="-122"/>
                <a:ea typeface="微软雅黑" panose="020B0503020204020204" pitchFamily="34" charset="-122"/>
              </a:rPr>
              <a:t>变介电常数型电容传感器</a:t>
            </a:r>
            <a:r>
              <a:rPr kumimoji="1" lang="en-US" altLang="zh-CN" sz="2800" b="1" dirty="0">
                <a:solidFill>
                  <a:srgbClr val="C00000"/>
                </a:solidFill>
                <a:latin typeface="微软雅黑" panose="020B0503020204020204" pitchFamily="34" charset="-122"/>
                <a:ea typeface="微软雅黑" panose="020B0503020204020204" pitchFamily="34" charset="-122"/>
              </a:rPr>
              <a:t>--</a:t>
            </a:r>
            <a:r>
              <a:rPr kumimoji="1" lang="zh-CN" altLang="en-US" sz="2800" b="1" dirty="0">
                <a:solidFill>
                  <a:srgbClr val="C00000"/>
                </a:solidFill>
                <a:highlight>
                  <a:srgbClr val="FFFF00"/>
                </a:highlight>
                <a:latin typeface="微软雅黑" panose="020B0503020204020204" pitchFamily="34" charset="-122"/>
                <a:ea typeface="微软雅黑" panose="020B0503020204020204" pitchFamily="34" charset="-122"/>
              </a:rPr>
              <a:t>测量液位</a:t>
            </a:r>
          </a:p>
        </p:txBody>
      </p:sp>
      <p:sp>
        <p:nvSpPr>
          <p:cNvPr id="31754" name="矩形 48">
            <a:extLst>
              <a:ext uri="{FF2B5EF4-FFF2-40B4-BE49-F238E27FC236}">
                <a16:creationId xmlns:a16="http://schemas.microsoft.com/office/drawing/2014/main" id="{C10F790E-6BB6-4129-9EF3-A9E61E89C0AD}"/>
              </a:ext>
            </a:extLst>
          </p:cNvPr>
          <p:cNvSpPr>
            <a:spLocks noChangeArrowheads="1"/>
          </p:cNvSpPr>
          <p:nvPr/>
        </p:nvSpPr>
        <p:spPr bwMode="auto">
          <a:xfrm>
            <a:off x="184150" y="1004888"/>
            <a:ext cx="36083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pPr>
            <a:r>
              <a:rPr kumimoji="1" lang="zh-CN" altLang="en-US" sz="2400" b="1" dirty="0">
                <a:solidFill>
                  <a:srgbClr val="C00000"/>
                </a:solidFill>
                <a:latin typeface="微软雅黑" panose="020B0503020204020204" pitchFamily="34" charset="-122"/>
                <a:ea typeface="微软雅黑" panose="020B0503020204020204" pitchFamily="34" charset="-122"/>
              </a:rPr>
              <a:t>测量液位：</a:t>
            </a:r>
            <a:r>
              <a:rPr lang="zh-CN" altLang="en-US" sz="2400" b="1" dirty="0">
                <a:latin typeface="微软雅黑" panose="020B0503020204020204" pitchFamily="34" charset="-122"/>
                <a:ea typeface="微软雅黑" panose="020B0503020204020204" pitchFamily="34" charset="-122"/>
              </a:rPr>
              <a:t>同心圆筒形</a:t>
            </a:r>
            <a:endParaRPr lang="zh-CN" altLang="en-US" sz="2400" dirty="0"/>
          </a:p>
        </p:txBody>
      </p:sp>
      <p:sp>
        <p:nvSpPr>
          <p:cNvPr id="2" name="矩形 1">
            <a:extLst>
              <a:ext uri="{FF2B5EF4-FFF2-40B4-BE49-F238E27FC236}">
                <a16:creationId xmlns:a16="http://schemas.microsoft.com/office/drawing/2014/main" id="{8A94A675-1772-43D7-AAA1-D8875B254AA9}"/>
              </a:ext>
            </a:extLst>
          </p:cNvPr>
          <p:cNvSpPr>
            <a:spLocks noChangeArrowheads="1"/>
          </p:cNvSpPr>
          <p:nvPr/>
        </p:nvSpPr>
        <p:spPr bwMode="auto">
          <a:xfrm>
            <a:off x="477838" y="2955925"/>
            <a:ext cx="1339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b="1">
                <a:solidFill>
                  <a:srgbClr val="0000FF"/>
                </a:solidFill>
                <a:latin typeface="微软雅黑" panose="020B0503020204020204" pitchFamily="34" charset="-122"/>
                <a:ea typeface="微软雅黑" panose="020B0503020204020204" pitchFamily="34" charset="-122"/>
              </a:rPr>
              <a:t>空载电容：</a:t>
            </a:r>
            <a:endParaRPr lang="zh-CN" altLang="en-US" sz="1800">
              <a:solidFill>
                <a:srgbClr val="0000FF"/>
              </a:solidFill>
            </a:endParaRPr>
          </a:p>
        </p:txBody>
      </p:sp>
      <p:sp>
        <p:nvSpPr>
          <p:cNvPr id="50" name="矩形 49">
            <a:extLst>
              <a:ext uri="{FF2B5EF4-FFF2-40B4-BE49-F238E27FC236}">
                <a16:creationId xmlns:a16="http://schemas.microsoft.com/office/drawing/2014/main" id="{B5E5E10E-CC7B-4E5E-A6BB-4647083D50DA}"/>
              </a:ext>
            </a:extLst>
          </p:cNvPr>
          <p:cNvSpPr>
            <a:spLocks noChangeArrowheads="1"/>
          </p:cNvSpPr>
          <p:nvPr/>
        </p:nvSpPr>
        <p:spPr bwMode="auto">
          <a:xfrm>
            <a:off x="4056063" y="5076924"/>
            <a:ext cx="1568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b="1" dirty="0">
                <a:solidFill>
                  <a:srgbClr val="0000FF"/>
                </a:solidFill>
                <a:latin typeface="微软雅黑" panose="020B0503020204020204" pitchFamily="34" charset="-122"/>
                <a:ea typeface="微软雅黑" panose="020B0503020204020204" pitchFamily="34" charset="-122"/>
              </a:rPr>
              <a:t>带负载电容：</a:t>
            </a:r>
            <a:endParaRPr lang="zh-CN" altLang="en-US" sz="1800" dirty="0">
              <a:solidFill>
                <a:srgbClr val="0000FF"/>
              </a:solidFill>
            </a:endParaRPr>
          </a:p>
        </p:txBody>
      </p:sp>
      <p:sp>
        <p:nvSpPr>
          <p:cNvPr id="3" name="矩形 2">
            <a:extLst>
              <a:ext uri="{FF2B5EF4-FFF2-40B4-BE49-F238E27FC236}">
                <a16:creationId xmlns:a16="http://schemas.microsoft.com/office/drawing/2014/main" id="{5D49F2EA-C5E3-48C6-9699-98E1A2F31BF9}"/>
              </a:ext>
            </a:extLst>
          </p:cNvPr>
          <p:cNvSpPr>
            <a:spLocks noChangeArrowheads="1"/>
          </p:cNvSpPr>
          <p:nvPr/>
        </p:nvSpPr>
        <p:spPr bwMode="auto">
          <a:xfrm>
            <a:off x="4864100" y="3711575"/>
            <a:ext cx="6461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b="1">
                <a:latin typeface="微软雅黑" panose="020B0503020204020204" pitchFamily="34" charset="-122"/>
                <a:ea typeface="微软雅黑" panose="020B0503020204020204" pitchFamily="34" charset="-122"/>
              </a:rPr>
              <a:t>空载</a:t>
            </a:r>
            <a:endParaRPr lang="zh-CN" altLang="en-US" sz="1800"/>
          </a:p>
        </p:txBody>
      </p:sp>
      <p:sp>
        <p:nvSpPr>
          <p:cNvPr id="52" name="矩形 51">
            <a:extLst>
              <a:ext uri="{FF2B5EF4-FFF2-40B4-BE49-F238E27FC236}">
                <a16:creationId xmlns:a16="http://schemas.microsoft.com/office/drawing/2014/main" id="{567F0666-F303-4CB9-98FE-7983EE685A09}"/>
              </a:ext>
            </a:extLst>
          </p:cNvPr>
          <p:cNvSpPr>
            <a:spLocks noChangeArrowheads="1"/>
          </p:cNvSpPr>
          <p:nvPr/>
        </p:nvSpPr>
        <p:spPr bwMode="auto">
          <a:xfrm>
            <a:off x="7310438" y="3716338"/>
            <a:ext cx="876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b="1">
                <a:latin typeface="微软雅黑" panose="020B0503020204020204" pitchFamily="34" charset="-122"/>
                <a:ea typeface="微软雅黑" panose="020B0503020204020204" pitchFamily="34" charset="-122"/>
              </a:rPr>
              <a:t>带负载</a:t>
            </a:r>
            <a:endParaRPr lang="zh-CN" altLang="en-US" sz="1800"/>
          </a:p>
        </p:txBody>
      </p:sp>
      <p:sp>
        <p:nvSpPr>
          <p:cNvPr id="4" name="矩形 3">
            <a:extLst>
              <a:ext uri="{FF2B5EF4-FFF2-40B4-BE49-F238E27FC236}">
                <a16:creationId xmlns:a16="http://schemas.microsoft.com/office/drawing/2014/main" id="{7CFB70DF-7123-4705-96B0-A63E0C65FF2D}"/>
              </a:ext>
            </a:extLst>
          </p:cNvPr>
          <p:cNvSpPr>
            <a:spLocks noChangeArrowheads="1"/>
          </p:cNvSpPr>
          <p:nvPr/>
        </p:nvSpPr>
        <p:spPr bwMode="auto">
          <a:xfrm>
            <a:off x="4946650" y="4171950"/>
            <a:ext cx="3209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b="1" dirty="0">
                <a:latin typeface="微软雅黑" panose="020B0503020204020204" pitchFamily="34" charset="-122"/>
                <a:ea typeface="微软雅黑" panose="020B0503020204020204" pitchFamily="34" charset="-122"/>
              </a:rPr>
              <a:t>同心圆筒形电容式</a:t>
            </a:r>
            <a:r>
              <a:rPr lang="zh-CN" altLang="en-US" sz="1800" b="1" dirty="0">
                <a:highlight>
                  <a:srgbClr val="FFFF00"/>
                </a:highlight>
                <a:latin typeface="微软雅黑" panose="020B0503020204020204" pitchFamily="34" charset="-122"/>
                <a:ea typeface="微软雅黑" panose="020B0503020204020204" pitchFamily="34" charset="-122"/>
              </a:rPr>
              <a:t>液位传感器</a:t>
            </a:r>
            <a:endParaRPr lang="zh-CN" altLang="en-US" sz="1800" dirty="0">
              <a:highlight>
                <a:srgbClr val="FFFF00"/>
              </a:highlight>
            </a:endParaRPr>
          </a:p>
        </p:txBody>
      </p:sp>
      <p:sp>
        <p:nvSpPr>
          <p:cNvPr id="5" name="矩形 4">
            <a:extLst>
              <a:ext uri="{FF2B5EF4-FFF2-40B4-BE49-F238E27FC236}">
                <a16:creationId xmlns:a16="http://schemas.microsoft.com/office/drawing/2014/main" id="{C7C9CC38-7F8C-458E-95C2-C463C77C6E16}"/>
              </a:ext>
            </a:extLst>
          </p:cNvPr>
          <p:cNvSpPr/>
          <p:nvPr/>
        </p:nvSpPr>
        <p:spPr>
          <a:xfrm>
            <a:off x="6345994" y="954088"/>
            <a:ext cx="2419252" cy="369332"/>
          </a:xfrm>
          <a:prstGeom prst="rect">
            <a:avLst/>
          </a:prstGeom>
        </p:spPr>
        <p:txBody>
          <a:bodyPr wrap="none">
            <a:spAutoFit/>
          </a:bodyPr>
          <a:lstStyle/>
          <a:p>
            <a:r>
              <a:rPr lang="zh-CN" altLang="en-US" b="1" dirty="0">
                <a:solidFill>
                  <a:srgbClr val="0000FF"/>
                </a:solidFill>
                <a:latin typeface="微软雅黑" panose="020B0503020204020204" pitchFamily="34" charset="-122"/>
                <a:ea typeface="微软雅黑" panose="020B0503020204020204" pitchFamily="34" charset="-122"/>
              </a:rPr>
              <a:t>串并联分析法 </a:t>
            </a:r>
            <a:r>
              <a:rPr lang="en-US" altLang="zh-CN" b="1" dirty="0">
                <a:solidFill>
                  <a:srgbClr val="0000FF"/>
                </a:solidFill>
                <a:latin typeface="微软雅黑" panose="020B0503020204020204" pitchFamily="34" charset="-122"/>
                <a:ea typeface="微软雅黑" panose="020B0503020204020204" pitchFamily="34" charset="-122"/>
              </a:rPr>
              <a:t>— </a:t>
            </a:r>
            <a:r>
              <a:rPr lang="zh-CN" altLang="en-US" b="1" dirty="0">
                <a:solidFill>
                  <a:srgbClr val="0000FF"/>
                </a:solidFill>
                <a:latin typeface="微软雅黑" panose="020B0503020204020204" pitchFamily="34" charset="-122"/>
                <a:ea typeface="微软雅黑" panose="020B0503020204020204" pitchFamily="34" charset="-122"/>
              </a:rPr>
              <a:t>并联</a:t>
            </a:r>
            <a:endParaRPr lang="zh-CN" altLang="en-US" dirty="0">
              <a:solidFill>
                <a:srgbClr val="0000FF"/>
              </a:solidFill>
            </a:endParaRPr>
          </a:p>
        </p:txBody>
      </p:sp>
      <p:sp>
        <p:nvSpPr>
          <p:cNvPr id="55" name="矩形 54">
            <a:extLst>
              <a:ext uri="{FF2B5EF4-FFF2-40B4-BE49-F238E27FC236}">
                <a16:creationId xmlns:a16="http://schemas.microsoft.com/office/drawing/2014/main" id="{7EB30C2B-5D42-43B3-9B00-94AD948C8736}"/>
              </a:ext>
            </a:extLst>
          </p:cNvPr>
          <p:cNvSpPr/>
          <p:nvPr/>
        </p:nvSpPr>
        <p:spPr>
          <a:xfrm>
            <a:off x="5624513" y="5099329"/>
            <a:ext cx="2755883" cy="369332"/>
          </a:xfrm>
          <a:prstGeom prst="rect">
            <a:avLst/>
          </a:prstGeom>
        </p:spPr>
        <p:txBody>
          <a:bodyPr wrap="none">
            <a:spAutoFit/>
          </a:bodyPr>
          <a:lstStyle/>
          <a:p>
            <a:r>
              <a:rPr lang="zh-CN" altLang="en-US" dirty="0">
                <a:solidFill>
                  <a:srgbClr val="FF9900"/>
                </a:solidFill>
              </a:rPr>
              <a:t>液位</a:t>
            </a:r>
            <a:r>
              <a:rPr lang="en-US" altLang="zh-CN" dirty="0">
                <a:solidFill>
                  <a:srgbClr val="FF9900"/>
                </a:solidFill>
              </a:rPr>
              <a:t>Lx</a:t>
            </a:r>
            <a:r>
              <a:rPr lang="zh-CN" altLang="en-US" dirty="0">
                <a:solidFill>
                  <a:srgbClr val="FF9900"/>
                </a:solidFill>
              </a:rPr>
              <a:t>与输出电容成正比</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771"/>
                                        </p:tgtEl>
                                        <p:attrNameLst>
                                          <p:attrName>style.visibility</p:attrName>
                                        </p:attrNameLst>
                                      </p:cBhvr>
                                      <p:to>
                                        <p:strVal val="visible"/>
                                      </p:to>
                                    </p:set>
                                    <p:anim calcmode="lin" valueType="num">
                                      <p:cBhvr additive="base">
                                        <p:cTn id="7" dur="500" fill="hold"/>
                                        <p:tgtEl>
                                          <p:spTgt spid="32771"/>
                                        </p:tgtEl>
                                        <p:attrNameLst>
                                          <p:attrName>ppt_x</p:attrName>
                                        </p:attrNameLst>
                                      </p:cBhvr>
                                      <p:tavLst>
                                        <p:tav tm="0">
                                          <p:val>
                                            <p:strVal val="#ppt_x"/>
                                          </p:val>
                                        </p:tav>
                                        <p:tav tm="100000">
                                          <p:val>
                                            <p:strVal val="#ppt_x"/>
                                          </p:val>
                                        </p:tav>
                                      </p:tavLst>
                                    </p:anim>
                                    <p:anim calcmode="lin" valueType="num">
                                      <p:cBhvr additive="base">
                                        <p:cTn id="8" dur="500" fill="hold"/>
                                        <p:tgtEl>
                                          <p:spTgt spid="3277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2773"/>
                                        </p:tgtEl>
                                        <p:attrNameLst>
                                          <p:attrName>style.visibility</p:attrName>
                                        </p:attrNameLst>
                                      </p:cBhvr>
                                      <p:to>
                                        <p:strVal val="visible"/>
                                      </p:to>
                                    </p:set>
                                    <p:anim calcmode="lin" valueType="num">
                                      <p:cBhvr additive="base">
                                        <p:cTn id="11" dur="500" fill="hold"/>
                                        <p:tgtEl>
                                          <p:spTgt spid="32773"/>
                                        </p:tgtEl>
                                        <p:attrNameLst>
                                          <p:attrName>ppt_x</p:attrName>
                                        </p:attrNameLst>
                                      </p:cBhvr>
                                      <p:tavLst>
                                        <p:tav tm="0">
                                          <p:val>
                                            <p:strVal val="#ppt_x"/>
                                          </p:val>
                                        </p:tav>
                                        <p:tav tm="100000">
                                          <p:val>
                                            <p:strVal val="#ppt_x"/>
                                          </p:val>
                                        </p:tav>
                                      </p:tavLst>
                                    </p:anim>
                                    <p:anim calcmode="lin" valueType="num">
                                      <p:cBhvr additive="base">
                                        <p:cTn id="12" dur="500" fill="hold"/>
                                        <p:tgtEl>
                                          <p:spTgt spid="3277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2772"/>
                                        </p:tgtEl>
                                        <p:attrNameLst>
                                          <p:attrName>style.visibility</p:attrName>
                                        </p:attrNameLst>
                                      </p:cBhvr>
                                      <p:to>
                                        <p:strVal val="visible"/>
                                      </p:to>
                                    </p:set>
                                    <p:anim calcmode="lin" valueType="num">
                                      <p:cBhvr additive="base">
                                        <p:cTn id="15" dur="500" fill="hold"/>
                                        <p:tgtEl>
                                          <p:spTgt spid="32772"/>
                                        </p:tgtEl>
                                        <p:attrNameLst>
                                          <p:attrName>ppt_x</p:attrName>
                                        </p:attrNameLst>
                                      </p:cBhvr>
                                      <p:tavLst>
                                        <p:tav tm="0">
                                          <p:val>
                                            <p:strVal val="#ppt_x"/>
                                          </p:val>
                                        </p:tav>
                                        <p:tav tm="100000">
                                          <p:val>
                                            <p:strVal val="#ppt_x"/>
                                          </p:val>
                                        </p:tav>
                                      </p:tavLst>
                                    </p:anim>
                                    <p:anim calcmode="lin" valueType="num">
                                      <p:cBhvr additive="base">
                                        <p:cTn id="16" dur="500" fill="hold"/>
                                        <p:tgtEl>
                                          <p:spTgt spid="3277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2"/>
                                        </p:tgtEl>
                                        <p:attrNameLst>
                                          <p:attrName>style.visibility</p:attrName>
                                        </p:attrNameLst>
                                      </p:cBhvr>
                                      <p:to>
                                        <p:strVal val="visible"/>
                                      </p:to>
                                    </p:set>
                                    <p:anim calcmode="lin" valueType="num">
                                      <p:cBhvr additive="base">
                                        <p:cTn id="23" dur="500" fill="hold"/>
                                        <p:tgtEl>
                                          <p:spTgt spid="52"/>
                                        </p:tgtEl>
                                        <p:attrNameLst>
                                          <p:attrName>ppt_x</p:attrName>
                                        </p:attrNameLst>
                                      </p:cBhvr>
                                      <p:tavLst>
                                        <p:tav tm="0">
                                          <p:val>
                                            <p:strVal val="#ppt_x"/>
                                          </p:val>
                                        </p:tav>
                                        <p:tav tm="100000">
                                          <p:val>
                                            <p:strVal val="#ppt_x"/>
                                          </p:val>
                                        </p:tav>
                                      </p:tavLst>
                                    </p:anim>
                                    <p:anim calcmode="lin" valueType="num">
                                      <p:cBhvr additive="base">
                                        <p:cTn id="24" dur="500" fill="hold"/>
                                        <p:tgtEl>
                                          <p:spTgt spid="5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anim calcmode="lin" valueType="num">
                                      <p:cBhvr additive="base">
                                        <p:cTn id="31" dur="500" fill="hold"/>
                                        <p:tgtEl>
                                          <p:spTgt spid="50"/>
                                        </p:tgtEl>
                                        <p:attrNameLst>
                                          <p:attrName>ppt_x</p:attrName>
                                        </p:attrNameLst>
                                      </p:cBhvr>
                                      <p:tavLst>
                                        <p:tav tm="0">
                                          <p:val>
                                            <p:strVal val="#ppt_x"/>
                                          </p:val>
                                        </p:tav>
                                        <p:tav tm="100000">
                                          <p:val>
                                            <p:strVal val="#ppt_x"/>
                                          </p:val>
                                        </p:tav>
                                      </p:tavLst>
                                    </p:anim>
                                    <p:anim calcmode="lin" valueType="num">
                                      <p:cBhvr additive="base">
                                        <p:cTn id="32" dur="500" fill="hold"/>
                                        <p:tgtEl>
                                          <p:spTgt spid="50"/>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2774"/>
                                        </p:tgtEl>
                                        <p:attrNameLst>
                                          <p:attrName>style.visibility</p:attrName>
                                        </p:attrNameLst>
                                      </p:cBhvr>
                                      <p:to>
                                        <p:strVal val="visible"/>
                                      </p:to>
                                    </p:set>
                                    <p:anim calcmode="lin" valueType="num">
                                      <p:cBhvr additive="base">
                                        <p:cTn id="35" dur="500" fill="hold"/>
                                        <p:tgtEl>
                                          <p:spTgt spid="32774"/>
                                        </p:tgtEl>
                                        <p:attrNameLst>
                                          <p:attrName>ppt_x</p:attrName>
                                        </p:attrNameLst>
                                      </p:cBhvr>
                                      <p:tavLst>
                                        <p:tav tm="0">
                                          <p:val>
                                            <p:strVal val="#ppt_x"/>
                                          </p:val>
                                        </p:tav>
                                        <p:tav tm="100000">
                                          <p:val>
                                            <p:strVal val="#ppt_x"/>
                                          </p:val>
                                        </p:tav>
                                      </p:tavLst>
                                    </p:anim>
                                    <p:anim calcmode="lin" valueType="num">
                                      <p:cBhvr additive="base">
                                        <p:cTn id="36" dur="500" fill="hold"/>
                                        <p:tgtEl>
                                          <p:spTgt spid="32774"/>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2775"/>
                                        </p:tgtEl>
                                        <p:attrNameLst>
                                          <p:attrName>style.visibility</p:attrName>
                                        </p:attrNameLst>
                                      </p:cBhvr>
                                      <p:to>
                                        <p:strVal val="visible"/>
                                      </p:to>
                                    </p:set>
                                    <p:anim calcmode="lin" valueType="num">
                                      <p:cBhvr additive="base">
                                        <p:cTn id="39" dur="500" fill="hold"/>
                                        <p:tgtEl>
                                          <p:spTgt spid="32775"/>
                                        </p:tgtEl>
                                        <p:attrNameLst>
                                          <p:attrName>ppt_x</p:attrName>
                                        </p:attrNameLst>
                                      </p:cBhvr>
                                      <p:tavLst>
                                        <p:tav tm="0">
                                          <p:val>
                                            <p:strVal val="#ppt_x"/>
                                          </p:val>
                                        </p:tav>
                                        <p:tav tm="100000">
                                          <p:val>
                                            <p:strVal val="#ppt_x"/>
                                          </p:val>
                                        </p:tav>
                                      </p:tavLst>
                                    </p:anim>
                                    <p:anim calcmode="lin" valueType="num">
                                      <p:cBhvr additive="base">
                                        <p:cTn id="40" dur="500" fill="hold"/>
                                        <p:tgtEl>
                                          <p:spTgt spid="3277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
                                        </p:tgtEl>
                                        <p:attrNameLst>
                                          <p:attrName>style.visibility</p:attrName>
                                        </p:attrNameLst>
                                      </p:cBhvr>
                                      <p:to>
                                        <p:strVal val="visible"/>
                                      </p:to>
                                    </p:set>
                                    <p:anim calcmode="lin" valueType="num">
                                      <p:cBhvr additive="base">
                                        <p:cTn id="43" dur="500" fill="hold"/>
                                        <p:tgtEl>
                                          <p:spTgt spid="2"/>
                                        </p:tgtEl>
                                        <p:attrNameLst>
                                          <p:attrName>ppt_x</p:attrName>
                                        </p:attrNameLst>
                                      </p:cBhvr>
                                      <p:tavLst>
                                        <p:tav tm="0">
                                          <p:val>
                                            <p:strVal val="#ppt_x"/>
                                          </p:val>
                                        </p:tav>
                                        <p:tav tm="100000">
                                          <p:val>
                                            <p:strVal val="#ppt_x"/>
                                          </p:val>
                                        </p:tav>
                                      </p:tavLst>
                                    </p:anim>
                                    <p:anim calcmode="lin" valueType="num">
                                      <p:cBhvr additive="base">
                                        <p:cTn id="4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55"/>
                                        </p:tgtEl>
                                        <p:attrNameLst>
                                          <p:attrName>style.visibility</p:attrName>
                                        </p:attrNameLst>
                                      </p:cBhvr>
                                      <p:to>
                                        <p:strVal val="visible"/>
                                      </p:to>
                                    </p:set>
                                    <p:animEffect transition="in" filter="fade">
                                      <p:cBhvr>
                                        <p:cTn id="49" dur="1000"/>
                                        <p:tgtEl>
                                          <p:spTgt spid="55"/>
                                        </p:tgtEl>
                                      </p:cBhvr>
                                    </p:animEffect>
                                    <p:anim calcmode="lin" valueType="num">
                                      <p:cBhvr>
                                        <p:cTn id="50" dur="1000" fill="hold"/>
                                        <p:tgtEl>
                                          <p:spTgt spid="55"/>
                                        </p:tgtEl>
                                        <p:attrNameLst>
                                          <p:attrName>ppt_x</p:attrName>
                                        </p:attrNameLst>
                                      </p:cBhvr>
                                      <p:tavLst>
                                        <p:tav tm="0">
                                          <p:val>
                                            <p:strVal val="#ppt_x"/>
                                          </p:val>
                                        </p:tav>
                                        <p:tav tm="100000">
                                          <p:val>
                                            <p:strVal val="#ppt_x"/>
                                          </p:val>
                                        </p:tav>
                                      </p:tavLst>
                                    </p:anim>
                                    <p:anim calcmode="lin" valueType="num">
                                      <p:cBhvr>
                                        <p:cTn id="51"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p:bldP spid="2" grpId="0"/>
      <p:bldP spid="50" grpId="0"/>
      <p:bldP spid="3" grpId="0"/>
      <p:bldP spid="52" grpId="0"/>
      <p:bldP spid="4" grpId="0"/>
      <p:bldP spid="5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2">
            <a:extLst>
              <a:ext uri="{FF2B5EF4-FFF2-40B4-BE49-F238E27FC236}">
                <a16:creationId xmlns:a16="http://schemas.microsoft.com/office/drawing/2014/main" id="{68A1388F-CEAD-4085-B878-8F82921BD24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FB72200-4275-4377-BCF6-1FD4103C23B5}" type="slidenum">
              <a:rPr lang="en-US" altLang="zh-CN" smtClean="0"/>
              <a:pPr/>
              <a:t>16</a:t>
            </a:fld>
            <a:endParaRPr lang="en-US" altLang="zh-CN"/>
          </a:p>
        </p:txBody>
      </p:sp>
      <p:sp>
        <p:nvSpPr>
          <p:cNvPr id="6" name="矩形 5">
            <a:extLst>
              <a:ext uri="{FF2B5EF4-FFF2-40B4-BE49-F238E27FC236}">
                <a16:creationId xmlns:a16="http://schemas.microsoft.com/office/drawing/2014/main" id="{230752C3-FAA2-40C5-998D-DE1DEC93733C}"/>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32772" name="Text Box 2">
            <a:extLst>
              <a:ext uri="{FF2B5EF4-FFF2-40B4-BE49-F238E27FC236}">
                <a16:creationId xmlns:a16="http://schemas.microsoft.com/office/drawing/2014/main" id="{35776DF5-1F2C-4BC8-B388-52B831F64BE2}"/>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C00000"/>
                </a:solidFill>
                <a:latin typeface="微软雅黑" panose="020B0503020204020204" pitchFamily="34" charset="-122"/>
                <a:ea typeface="微软雅黑" panose="020B0503020204020204" pitchFamily="34" charset="-122"/>
              </a:rPr>
              <a:t>1.3</a:t>
            </a:r>
            <a:r>
              <a:rPr kumimoji="1" lang="zh-CN" altLang="en-US" sz="2800" b="1" dirty="0">
                <a:solidFill>
                  <a:srgbClr val="C00000"/>
                </a:solidFill>
                <a:latin typeface="微软雅黑" panose="020B0503020204020204" pitchFamily="34" charset="-122"/>
                <a:ea typeface="微软雅黑" panose="020B0503020204020204" pitchFamily="34" charset="-122"/>
              </a:rPr>
              <a:t>变介电常数型电容传感器</a:t>
            </a:r>
            <a:r>
              <a:rPr kumimoji="1" lang="en-US" altLang="zh-CN" sz="2800" b="1" dirty="0">
                <a:solidFill>
                  <a:srgbClr val="C00000"/>
                </a:solidFill>
                <a:latin typeface="微软雅黑" panose="020B0503020204020204" pitchFamily="34" charset="-122"/>
                <a:ea typeface="微软雅黑" panose="020B0503020204020204" pitchFamily="34" charset="-122"/>
              </a:rPr>
              <a:t>--</a:t>
            </a:r>
            <a:r>
              <a:rPr kumimoji="1" lang="zh-CN" altLang="en-US" sz="2800" b="1" dirty="0">
                <a:solidFill>
                  <a:srgbClr val="C00000"/>
                </a:solidFill>
                <a:highlight>
                  <a:srgbClr val="FFFF00"/>
                </a:highlight>
                <a:latin typeface="微软雅黑" panose="020B0503020204020204" pitchFamily="34" charset="-122"/>
                <a:ea typeface="微软雅黑" panose="020B0503020204020204" pitchFamily="34" charset="-122"/>
              </a:rPr>
              <a:t>测量水份</a:t>
            </a:r>
          </a:p>
        </p:txBody>
      </p:sp>
      <p:sp>
        <p:nvSpPr>
          <p:cNvPr id="32773" name="Text Box 2">
            <a:extLst>
              <a:ext uri="{FF2B5EF4-FFF2-40B4-BE49-F238E27FC236}">
                <a16:creationId xmlns:a16="http://schemas.microsoft.com/office/drawing/2014/main" id="{7FE6303E-5B76-4052-9B32-9924DE285D1A}"/>
              </a:ext>
            </a:extLst>
          </p:cNvPr>
          <p:cNvSpPr txBox="1">
            <a:spLocks noChangeArrowheads="1"/>
          </p:cNvSpPr>
          <p:nvPr/>
        </p:nvSpPr>
        <p:spPr bwMode="auto">
          <a:xfrm>
            <a:off x="293803" y="1377499"/>
            <a:ext cx="8353425" cy="280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●测量原理：</a:t>
            </a:r>
            <a:r>
              <a:rPr lang="zh-CN" altLang="en-US" sz="2000" b="1" dirty="0">
                <a:solidFill>
                  <a:srgbClr val="0099FF"/>
                </a:solidFill>
                <a:latin typeface="微软雅黑" panose="020B0503020204020204" pitchFamily="34" charset="-122"/>
                <a:ea typeface="微软雅黑" panose="020B0503020204020204" pitchFamily="34" charset="-122"/>
              </a:rPr>
              <a:t>水的相对介电常数</a:t>
            </a:r>
          </a:p>
          <a:p>
            <a:pPr eaLnBrk="1" hangingPunct="1">
              <a:lnSpc>
                <a:spcPct val="150000"/>
              </a:lnSpc>
              <a:spcBef>
                <a:spcPct val="0"/>
              </a:spcBef>
              <a:buFontTx/>
              <a:buNone/>
            </a:pPr>
            <a:r>
              <a:rPr lang="zh-CN" altLang="en-US" sz="2000" b="1" dirty="0">
                <a:solidFill>
                  <a:srgbClr val="0099FF"/>
                </a:solidFill>
                <a:latin typeface="微软雅黑" panose="020B0503020204020204" pitchFamily="34" charset="-122"/>
                <a:ea typeface="微软雅黑" panose="020B0503020204020204" pitchFamily="34" charset="-122"/>
              </a:rPr>
              <a:t>是空气的</a:t>
            </a:r>
            <a:r>
              <a:rPr lang="en-US" altLang="zh-CN" sz="2000" b="1" dirty="0">
                <a:solidFill>
                  <a:srgbClr val="0099FF"/>
                </a:solidFill>
                <a:latin typeface="微软雅黑" panose="020B0503020204020204" pitchFamily="34" charset="-122"/>
                <a:ea typeface="微软雅黑" panose="020B0503020204020204" pitchFamily="34" charset="-122"/>
              </a:rPr>
              <a:t>82</a:t>
            </a:r>
            <a:r>
              <a:rPr lang="zh-CN" altLang="en-US" sz="2000" b="1" dirty="0">
                <a:solidFill>
                  <a:srgbClr val="0099FF"/>
                </a:solidFill>
                <a:latin typeface="微软雅黑" panose="020B0503020204020204" pitchFamily="34" charset="-122"/>
                <a:ea typeface="微软雅黑" panose="020B0503020204020204" pitchFamily="34" charset="-122"/>
              </a:rPr>
              <a:t>倍</a:t>
            </a:r>
            <a:r>
              <a:rPr lang="zh-CN" altLang="en-US" sz="2000" b="1" dirty="0">
                <a:latin typeface="微软雅黑" panose="020B0503020204020204" pitchFamily="34" charset="-122"/>
                <a:ea typeface="微软雅黑" panose="020B0503020204020204" pitchFamily="34" charset="-122"/>
              </a:rPr>
              <a:t>，故以水为介质</a:t>
            </a: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的电容器对水的变化非常敏感。</a:t>
            </a: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●测量时，总电容等效于三个</a:t>
            </a:r>
            <a:endParaRPr lang="en-US" altLang="zh-CN" sz="2000" b="1" dirty="0">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电容</a:t>
            </a:r>
            <a:r>
              <a:rPr lang="zh-CN" altLang="en-US" sz="2000" b="1" dirty="0">
                <a:solidFill>
                  <a:srgbClr val="FF0000"/>
                </a:solidFill>
                <a:latin typeface="微软雅黑" panose="020B0503020204020204" pitchFamily="34" charset="-122"/>
                <a:ea typeface="微软雅黑" panose="020B0503020204020204" pitchFamily="34" charset="-122"/>
              </a:rPr>
              <a:t>并联</a:t>
            </a:r>
            <a:r>
              <a:rPr lang="zh-CN" altLang="en-US" sz="2000" b="1" dirty="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   </a:t>
            </a:r>
            <a:r>
              <a:rPr lang="zh-CN" altLang="en-US" sz="2000" b="1" dirty="0">
                <a:solidFill>
                  <a:srgbClr val="0000FF"/>
                </a:solidFill>
                <a:latin typeface="微软雅黑" panose="020B0503020204020204" pitchFamily="34" charset="-122"/>
                <a:ea typeface="微软雅黑" panose="020B0503020204020204" pitchFamily="34" charset="-122"/>
              </a:rPr>
              <a:t>空气、水份和固体介质电容</a:t>
            </a:r>
            <a:r>
              <a:rPr lang="zh-CN" altLang="en-US" sz="2000" b="1" dirty="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p:txBody>
      </p:sp>
      <p:grpSp>
        <p:nvGrpSpPr>
          <p:cNvPr id="32774" name="Group 16">
            <a:extLst>
              <a:ext uri="{FF2B5EF4-FFF2-40B4-BE49-F238E27FC236}">
                <a16:creationId xmlns:a16="http://schemas.microsoft.com/office/drawing/2014/main" id="{DF22505A-A9B8-4AAB-B05C-A68D0D9F08A9}"/>
              </a:ext>
            </a:extLst>
          </p:cNvPr>
          <p:cNvGrpSpPr>
            <a:grpSpLocks/>
          </p:cNvGrpSpPr>
          <p:nvPr/>
        </p:nvGrpSpPr>
        <p:grpSpPr bwMode="auto">
          <a:xfrm>
            <a:off x="5697538" y="1420813"/>
            <a:ext cx="2600325" cy="3155950"/>
            <a:chOff x="3447" y="614"/>
            <a:chExt cx="1638" cy="1988"/>
          </a:xfrm>
        </p:grpSpPr>
        <p:sp>
          <p:nvSpPr>
            <p:cNvPr id="32777" name="AutoShape 18">
              <a:extLst>
                <a:ext uri="{FF2B5EF4-FFF2-40B4-BE49-F238E27FC236}">
                  <a16:creationId xmlns:a16="http://schemas.microsoft.com/office/drawing/2014/main" id="{6D02F88C-40F9-407B-9E59-A4F6E0C309D3}"/>
                </a:ext>
              </a:extLst>
            </p:cNvPr>
            <p:cNvSpPr>
              <a:spLocks noChangeArrowheads="1"/>
            </p:cNvSpPr>
            <p:nvPr/>
          </p:nvSpPr>
          <p:spPr bwMode="auto">
            <a:xfrm>
              <a:off x="3717" y="710"/>
              <a:ext cx="1176" cy="1626"/>
            </a:xfrm>
            <a:prstGeom prst="can">
              <a:avLst>
                <a:gd name="adj" fmla="val 38990"/>
              </a:avLst>
            </a:prstGeom>
            <a:solidFill>
              <a:srgbClr val="969696"/>
            </a:solidFill>
            <a:ln w="12700">
              <a:solidFill>
                <a:srgbClr val="000000"/>
              </a:solidFill>
              <a:prstDash val="dash"/>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2778" name="Oval 33">
              <a:extLst>
                <a:ext uri="{FF2B5EF4-FFF2-40B4-BE49-F238E27FC236}">
                  <a16:creationId xmlns:a16="http://schemas.microsoft.com/office/drawing/2014/main" id="{D3CEF9E8-A12A-4A6B-95F4-E104C47CF17F}"/>
                </a:ext>
              </a:extLst>
            </p:cNvPr>
            <p:cNvSpPr>
              <a:spLocks noChangeArrowheads="1"/>
            </p:cNvSpPr>
            <p:nvPr/>
          </p:nvSpPr>
          <p:spPr bwMode="auto">
            <a:xfrm>
              <a:off x="3831" y="784"/>
              <a:ext cx="924" cy="272"/>
            </a:xfrm>
            <a:prstGeom prst="ellipse">
              <a:avLst/>
            </a:prstGeom>
            <a:solidFill>
              <a:srgbClr val="FFFFFF"/>
            </a:solidFill>
            <a:ln w="12700">
              <a:solidFill>
                <a:srgbClr val="000000"/>
              </a:solidFill>
              <a:prstDash val="dash"/>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2779" name="Rectangle 17">
              <a:extLst>
                <a:ext uri="{FF2B5EF4-FFF2-40B4-BE49-F238E27FC236}">
                  <a16:creationId xmlns:a16="http://schemas.microsoft.com/office/drawing/2014/main" id="{F9A3DF86-5F95-4233-9E8C-F6B4557BFE7C}"/>
                </a:ext>
              </a:extLst>
            </p:cNvPr>
            <p:cNvSpPr>
              <a:spLocks noChangeArrowheads="1"/>
            </p:cNvSpPr>
            <p:nvPr/>
          </p:nvSpPr>
          <p:spPr bwMode="auto">
            <a:xfrm>
              <a:off x="3447" y="1493"/>
              <a:ext cx="226" cy="22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2780" name="AutoShape 19">
              <a:extLst>
                <a:ext uri="{FF2B5EF4-FFF2-40B4-BE49-F238E27FC236}">
                  <a16:creationId xmlns:a16="http://schemas.microsoft.com/office/drawing/2014/main" id="{DB8D90A5-F361-4560-8F3A-9785D0583EDA}"/>
                </a:ext>
              </a:extLst>
            </p:cNvPr>
            <p:cNvSpPr>
              <a:spLocks noChangeArrowheads="1"/>
            </p:cNvSpPr>
            <p:nvPr/>
          </p:nvSpPr>
          <p:spPr bwMode="auto">
            <a:xfrm>
              <a:off x="3717" y="714"/>
              <a:ext cx="1176" cy="1622"/>
            </a:xfrm>
            <a:prstGeom prst="can">
              <a:avLst>
                <a:gd name="adj" fmla="val 38210"/>
              </a:avLst>
            </a:prstGeom>
            <a:noFill/>
            <a:ln w="127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2781" name="AutoShape 20">
              <a:extLst>
                <a:ext uri="{FF2B5EF4-FFF2-40B4-BE49-F238E27FC236}">
                  <a16:creationId xmlns:a16="http://schemas.microsoft.com/office/drawing/2014/main" id="{D6B5065F-D91C-40ED-81F3-DFAC2AA49F9D}"/>
                </a:ext>
              </a:extLst>
            </p:cNvPr>
            <p:cNvSpPr>
              <a:spLocks noChangeArrowheads="1"/>
            </p:cNvSpPr>
            <p:nvPr/>
          </p:nvSpPr>
          <p:spPr bwMode="auto">
            <a:xfrm>
              <a:off x="3843" y="777"/>
              <a:ext cx="924" cy="1497"/>
            </a:xfrm>
            <a:prstGeom prst="can">
              <a:avLst>
                <a:gd name="adj" fmla="val 29252"/>
              </a:avLst>
            </a:prstGeom>
            <a:noFill/>
            <a:ln w="9525">
              <a:solidFill>
                <a:srgbClr val="0000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2782" name="Oval 21">
              <a:extLst>
                <a:ext uri="{FF2B5EF4-FFF2-40B4-BE49-F238E27FC236}">
                  <a16:creationId xmlns:a16="http://schemas.microsoft.com/office/drawing/2014/main" id="{3CA36CFB-925F-45BD-BB76-330AAAEDAA5A}"/>
                </a:ext>
              </a:extLst>
            </p:cNvPr>
            <p:cNvSpPr>
              <a:spLocks noChangeArrowheads="1"/>
            </p:cNvSpPr>
            <p:nvPr/>
          </p:nvSpPr>
          <p:spPr bwMode="auto">
            <a:xfrm>
              <a:off x="3845" y="777"/>
              <a:ext cx="924" cy="272"/>
            </a:xfrm>
            <a:prstGeom prst="ellipse">
              <a:avLst/>
            </a:prstGeom>
            <a:noFill/>
            <a:ln w="127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2783" name="Line 22">
              <a:extLst>
                <a:ext uri="{FF2B5EF4-FFF2-40B4-BE49-F238E27FC236}">
                  <a16:creationId xmlns:a16="http://schemas.microsoft.com/office/drawing/2014/main" id="{71CAE8F0-11C6-44F8-908A-4C6CBFB36597}"/>
                </a:ext>
              </a:extLst>
            </p:cNvPr>
            <p:cNvSpPr>
              <a:spLocks noChangeShapeType="1"/>
            </p:cNvSpPr>
            <p:nvPr/>
          </p:nvSpPr>
          <p:spPr bwMode="auto">
            <a:xfrm>
              <a:off x="4305" y="918"/>
              <a:ext cx="58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2784" name="Freeform 23">
              <a:extLst>
                <a:ext uri="{FF2B5EF4-FFF2-40B4-BE49-F238E27FC236}">
                  <a16:creationId xmlns:a16="http://schemas.microsoft.com/office/drawing/2014/main" id="{623B67B0-462F-4122-A232-BFF884C71B7E}"/>
                </a:ext>
              </a:extLst>
            </p:cNvPr>
            <p:cNvSpPr>
              <a:spLocks/>
            </p:cNvSpPr>
            <p:nvPr/>
          </p:nvSpPr>
          <p:spPr bwMode="auto">
            <a:xfrm>
              <a:off x="4050" y="805"/>
              <a:ext cx="255" cy="114"/>
            </a:xfrm>
            <a:custGeom>
              <a:avLst/>
              <a:gdLst>
                <a:gd name="T0" fmla="*/ 0 w 638"/>
                <a:gd name="T1" fmla="*/ 0 h 285"/>
                <a:gd name="T2" fmla="*/ 0 w 638"/>
                <a:gd name="T3" fmla="*/ 0 h 285"/>
                <a:gd name="T4" fmla="*/ 0 60000 65536"/>
                <a:gd name="T5" fmla="*/ 0 60000 65536"/>
              </a:gdLst>
              <a:ahLst/>
              <a:cxnLst>
                <a:cxn ang="T4">
                  <a:pos x="T0" y="T1"/>
                </a:cxn>
                <a:cxn ang="T5">
                  <a:pos x="T2" y="T3"/>
                </a:cxn>
              </a:cxnLst>
              <a:rect l="0" t="0" r="r" b="b"/>
              <a:pathLst>
                <a:path w="638" h="285">
                  <a:moveTo>
                    <a:pt x="0" y="0"/>
                  </a:moveTo>
                  <a:lnTo>
                    <a:pt x="638" y="285"/>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2785" name="Text Box 24">
              <a:extLst>
                <a:ext uri="{FF2B5EF4-FFF2-40B4-BE49-F238E27FC236}">
                  <a16:creationId xmlns:a16="http://schemas.microsoft.com/office/drawing/2014/main" id="{71C9D8DA-A881-4F6F-81E9-02C3E1DB1E90}"/>
                </a:ext>
              </a:extLst>
            </p:cNvPr>
            <p:cNvSpPr txBox="1">
              <a:spLocks noChangeArrowheads="1"/>
            </p:cNvSpPr>
            <p:nvPr/>
          </p:nvSpPr>
          <p:spPr bwMode="auto">
            <a:xfrm>
              <a:off x="4425" y="780"/>
              <a:ext cx="85" cy="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latin typeface="Times New Roman" panose="02020603050405020304" pitchFamily="18" charset="0"/>
                </a:rPr>
                <a:t>R</a:t>
              </a:r>
              <a:endParaRPr kumimoji="1" lang="en-US" altLang="zh-CN" sz="1200" b="1" i="1">
                <a:latin typeface="Times New Roman" panose="02020603050405020304" pitchFamily="18" charset="0"/>
              </a:endParaRPr>
            </a:p>
          </p:txBody>
        </p:sp>
        <p:sp>
          <p:nvSpPr>
            <p:cNvPr id="32786" name="Text Box 25">
              <a:extLst>
                <a:ext uri="{FF2B5EF4-FFF2-40B4-BE49-F238E27FC236}">
                  <a16:creationId xmlns:a16="http://schemas.microsoft.com/office/drawing/2014/main" id="{2C7E41C1-8EE9-4D15-A617-B81D8A443920}"/>
                </a:ext>
              </a:extLst>
            </p:cNvPr>
            <p:cNvSpPr txBox="1">
              <a:spLocks noChangeArrowheads="1"/>
            </p:cNvSpPr>
            <p:nvPr/>
          </p:nvSpPr>
          <p:spPr bwMode="auto">
            <a:xfrm>
              <a:off x="4053" y="823"/>
              <a:ext cx="86" cy="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latin typeface="Times New Roman" panose="02020603050405020304" pitchFamily="18" charset="0"/>
                </a:rPr>
                <a:t>r</a:t>
              </a:r>
              <a:endParaRPr kumimoji="1" lang="en-US" altLang="zh-CN" sz="1200" b="1" i="1">
                <a:latin typeface="Times New Roman" panose="02020603050405020304" pitchFamily="18" charset="0"/>
              </a:endParaRPr>
            </a:p>
          </p:txBody>
        </p:sp>
        <p:graphicFrame>
          <p:nvGraphicFramePr>
            <p:cNvPr id="32787" name="Object 26">
              <a:extLst>
                <a:ext uri="{FF2B5EF4-FFF2-40B4-BE49-F238E27FC236}">
                  <a16:creationId xmlns:a16="http://schemas.microsoft.com/office/drawing/2014/main" id="{5A551D96-DAAE-47FE-98FA-C7FAFF318405}"/>
                </a:ext>
              </a:extLst>
            </p:cNvPr>
            <p:cNvGraphicFramePr>
              <a:graphicFrameLocks noChangeAspect="1"/>
            </p:cNvGraphicFramePr>
            <p:nvPr/>
          </p:nvGraphicFramePr>
          <p:xfrm>
            <a:off x="3514" y="614"/>
            <a:ext cx="174" cy="240"/>
          </p:xfrm>
          <a:graphic>
            <a:graphicData uri="http://schemas.openxmlformats.org/presentationml/2006/ole">
              <mc:AlternateContent xmlns:mc="http://schemas.openxmlformats.org/markup-compatibility/2006">
                <mc:Choice xmlns:v="urn:schemas-microsoft-com:vml" Requires="v">
                  <p:oleObj spid="_x0000_s32964" name="公式" r:id="rId4" imgW="165028" imgH="228501" progId="Equation.3">
                    <p:embed/>
                  </p:oleObj>
                </mc:Choice>
                <mc:Fallback>
                  <p:oleObj name="公式" r:id="rId4" imgW="165028" imgH="228501" progId="Equation.3">
                    <p:embed/>
                    <p:pic>
                      <p:nvPicPr>
                        <p:cNvPr id="0"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14" y="614"/>
                          <a:ext cx="17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88" name="Freeform 27">
              <a:extLst>
                <a:ext uri="{FF2B5EF4-FFF2-40B4-BE49-F238E27FC236}">
                  <a16:creationId xmlns:a16="http://schemas.microsoft.com/office/drawing/2014/main" id="{212B9879-F961-4DEA-9B22-AFBB144F4EFE}"/>
                </a:ext>
              </a:extLst>
            </p:cNvPr>
            <p:cNvSpPr>
              <a:spLocks/>
            </p:cNvSpPr>
            <p:nvPr/>
          </p:nvSpPr>
          <p:spPr bwMode="auto">
            <a:xfrm>
              <a:off x="3674" y="777"/>
              <a:ext cx="124" cy="175"/>
            </a:xfrm>
            <a:custGeom>
              <a:avLst/>
              <a:gdLst>
                <a:gd name="T0" fmla="*/ 0 w 309"/>
                <a:gd name="T1" fmla="*/ 0 h 438"/>
                <a:gd name="T2" fmla="*/ 0 w 309"/>
                <a:gd name="T3" fmla="*/ 0 h 438"/>
                <a:gd name="T4" fmla="*/ 0 60000 65536"/>
                <a:gd name="T5" fmla="*/ 0 60000 65536"/>
              </a:gdLst>
              <a:ahLst/>
              <a:cxnLst>
                <a:cxn ang="T4">
                  <a:pos x="T0" y="T1"/>
                </a:cxn>
                <a:cxn ang="T5">
                  <a:pos x="T2" y="T3"/>
                </a:cxn>
              </a:cxnLst>
              <a:rect l="0" t="0" r="r" b="b"/>
              <a:pathLst>
                <a:path w="309" h="438">
                  <a:moveTo>
                    <a:pt x="0" y="0"/>
                  </a:moveTo>
                  <a:lnTo>
                    <a:pt x="309" y="438"/>
                  </a:lnTo>
                </a:path>
              </a:pathLst>
            </a:custGeom>
            <a:noFill/>
            <a:ln w="9525" cap="flat" cmpd="sng">
              <a:solidFill>
                <a:srgbClr val="000000"/>
              </a:solidFill>
              <a:prstDash val="solid"/>
              <a:round/>
              <a:headEnd type="none" w="med" len="me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2789" name="Line 28">
              <a:extLst>
                <a:ext uri="{FF2B5EF4-FFF2-40B4-BE49-F238E27FC236}">
                  <a16:creationId xmlns:a16="http://schemas.microsoft.com/office/drawing/2014/main" id="{D65178F0-322F-4693-8A62-A69CEDBC1D1F}"/>
                </a:ext>
              </a:extLst>
            </p:cNvPr>
            <p:cNvSpPr>
              <a:spLocks noChangeShapeType="1"/>
            </p:cNvSpPr>
            <p:nvPr/>
          </p:nvSpPr>
          <p:spPr bwMode="auto">
            <a:xfrm flipH="1">
              <a:off x="3543" y="918"/>
              <a:ext cx="1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2790" name="Line 29">
              <a:extLst>
                <a:ext uri="{FF2B5EF4-FFF2-40B4-BE49-F238E27FC236}">
                  <a16:creationId xmlns:a16="http://schemas.microsoft.com/office/drawing/2014/main" id="{F60E7D64-62F3-4C26-8117-8C3928E79F10}"/>
                </a:ext>
              </a:extLst>
            </p:cNvPr>
            <p:cNvSpPr>
              <a:spLocks noChangeShapeType="1"/>
            </p:cNvSpPr>
            <p:nvPr/>
          </p:nvSpPr>
          <p:spPr bwMode="auto">
            <a:xfrm flipH="1">
              <a:off x="3543" y="2140"/>
              <a:ext cx="1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2791" name="Line 30">
              <a:extLst>
                <a:ext uri="{FF2B5EF4-FFF2-40B4-BE49-F238E27FC236}">
                  <a16:creationId xmlns:a16="http://schemas.microsoft.com/office/drawing/2014/main" id="{6052BE67-D38F-4D5E-9631-9E0EF3D0CE53}"/>
                </a:ext>
              </a:extLst>
            </p:cNvPr>
            <p:cNvSpPr>
              <a:spLocks noChangeShapeType="1"/>
            </p:cNvSpPr>
            <p:nvPr/>
          </p:nvSpPr>
          <p:spPr bwMode="auto">
            <a:xfrm>
              <a:off x="3588" y="918"/>
              <a:ext cx="0" cy="1224"/>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2792" name="Text Box 31">
              <a:extLst>
                <a:ext uri="{FF2B5EF4-FFF2-40B4-BE49-F238E27FC236}">
                  <a16:creationId xmlns:a16="http://schemas.microsoft.com/office/drawing/2014/main" id="{5D430759-5D41-4CD1-8205-5BC3E2E9B4DF}"/>
                </a:ext>
              </a:extLst>
            </p:cNvPr>
            <p:cNvSpPr txBox="1">
              <a:spLocks noChangeArrowheads="1"/>
            </p:cNvSpPr>
            <p:nvPr/>
          </p:nvSpPr>
          <p:spPr bwMode="auto">
            <a:xfrm>
              <a:off x="3543" y="1365"/>
              <a:ext cx="96" cy="288"/>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i="1">
                  <a:solidFill>
                    <a:srgbClr val="000000"/>
                  </a:solidFill>
                  <a:latin typeface="Times New Roman" panose="02020603050405020304" pitchFamily="18" charset="0"/>
                </a:rPr>
                <a:t>L</a:t>
              </a:r>
            </a:p>
          </p:txBody>
        </p:sp>
        <p:sp>
          <p:nvSpPr>
            <p:cNvPr id="32793" name="Text Box 32">
              <a:extLst>
                <a:ext uri="{FF2B5EF4-FFF2-40B4-BE49-F238E27FC236}">
                  <a16:creationId xmlns:a16="http://schemas.microsoft.com/office/drawing/2014/main" id="{35DBBA75-05FA-4F8D-A434-B9143C664B8A}"/>
                </a:ext>
              </a:extLst>
            </p:cNvPr>
            <p:cNvSpPr txBox="1">
              <a:spLocks noChangeArrowheads="1"/>
            </p:cNvSpPr>
            <p:nvPr/>
          </p:nvSpPr>
          <p:spPr bwMode="auto">
            <a:xfrm>
              <a:off x="3543" y="2415"/>
              <a:ext cx="1536" cy="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sz="1600" b="1" dirty="0">
                  <a:solidFill>
                    <a:srgbClr val="000000"/>
                  </a:solidFill>
                  <a:latin typeface="Times New Roman" panose="02020603050405020304" pitchFamily="18" charset="0"/>
                  <a:ea typeface="楷体_GB2312" pitchFamily="49" charset="-122"/>
                </a:rPr>
                <a:t>电容式</a:t>
              </a:r>
              <a:r>
                <a:rPr kumimoji="1" lang="zh-CN" altLang="en-US" sz="1600" b="1" dirty="0">
                  <a:solidFill>
                    <a:srgbClr val="000000"/>
                  </a:solidFill>
                  <a:highlight>
                    <a:srgbClr val="FFFF00"/>
                  </a:highlight>
                  <a:latin typeface="Times New Roman" panose="02020603050405020304" pitchFamily="18" charset="0"/>
                  <a:ea typeface="楷体_GB2312" pitchFamily="49" charset="-122"/>
                </a:rPr>
                <a:t>水份计</a:t>
              </a:r>
              <a:r>
                <a:rPr kumimoji="1" lang="zh-CN" altLang="en-US" sz="1600" b="1" dirty="0">
                  <a:solidFill>
                    <a:srgbClr val="000000"/>
                  </a:solidFill>
                  <a:latin typeface="Times New Roman" panose="02020603050405020304" pitchFamily="18" charset="0"/>
                  <a:ea typeface="楷体_GB2312" pitchFamily="49" charset="-122"/>
                </a:rPr>
                <a:t>原理示意图</a:t>
              </a:r>
            </a:p>
          </p:txBody>
        </p:sp>
        <p:graphicFrame>
          <p:nvGraphicFramePr>
            <p:cNvPr id="32794" name="Object 38">
              <a:extLst>
                <a:ext uri="{FF2B5EF4-FFF2-40B4-BE49-F238E27FC236}">
                  <a16:creationId xmlns:a16="http://schemas.microsoft.com/office/drawing/2014/main" id="{0131AA98-26DA-4D00-AD64-DC1BFE2865D0}"/>
                </a:ext>
              </a:extLst>
            </p:cNvPr>
            <p:cNvGraphicFramePr>
              <a:graphicFrameLocks noChangeAspect="1"/>
            </p:cNvGraphicFramePr>
            <p:nvPr/>
          </p:nvGraphicFramePr>
          <p:xfrm>
            <a:off x="4901" y="1096"/>
            <a:ext cx="184" cy="202"/>
          </p:xfrm>
          <a:graphic>
            <a:graphicData uri="http://schemas.openxmlformats.org/presentationml/2006/ole">
              <mc:AlternateContent xmlns:mc="http://schemas.openxmlformats.org/markup-compatibility/2006">
                <mc:Choice xmlns:v="urn:schemas-microsoft-com:vml" Requires="v">
                  <p:oleObj spid="_x0000_s32965" name="公式" r:id="rId6" imgW="126835" imgH="139518" progId="Equation.3">
                    <p:embed/>
                  </p:oleObj>
                </mc:Choice>
                <mc:Fallback>
                  <p:oleObj name="公式" r:id="rId6" imgW="126835" imgH="139518" progId="Equation.3">
                    <p:embed/>
                    <p:pic>
                      <p:nvPicPr>
                        <p:cNvPr id="0" name="Object 3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01" y="1096"/>
                          <a:ext cx="1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95" name="Freeform 39">
              <a:extLst>
                <a:ext uri="{FF2B5EF4-FFF2-40B4-BE49-F238E27FC236}">
                  <a16:creationId xmlns:a16="http://schemas.microsoft.com/office/drawing/2014/main" id="{FF262198-1432-478A-BB46-BB3E5A19EAB6}"/>
                </a:ext>
              </a:extLst>
            </p:cNvPr>
            <p:cNvSpPr>
              <a:spLocks/>
            </p:cNvSpPr>
            <p:nvPr/>
          </p:nvSpPr>
          <p:spPr bwMode="auto">
            <a:xfrm>
              <a:off x="4811" y="1292"/>
              <a:ext cx="159" cy="257"/>
            </a:xfrm>
            <a:custGeom>
              <a:avLst/>
              <a:gdLst>
                <a:gd name="T0" fmla="*/ 0 w 397"/>
                <a:gd name="T1" fmla="*/ 0 h 644"/>
                <a:gd name="T2" fmla="*/ 0 w 397"/>
                <a:gd name="T3" fmla="*/ 0 h 644"/>
                <a:gd name="T4" fmla="*/ 0 60000 65536"/>
                <a:gd name="T5" fmla="*/ 0 60000 65536"/>
              </a:gdLst>
              <a:ahLst/>
              <a:cxnLst>
                <a:cxn ang="T4">
                  <a:pos x="T0" y="T1"/>
                </a:cxn>
                <a:cxn ang="T5">
                  <a:pos x="T2" y="T3"/>
                </a:cxn>
              </a:cxnLst>
              <a:rect l="0" t="0" r="r" b="b"/>
              <a:pathLst>
                <a:path w="397" h="644">
                  <a:moveTo>
                    <a:pt x="397" y="0"/>
                  </a:moveTo>
                  <a:lnTo>
                    <a:pt x="0" y="644"/>
                  </a:lnTo>
                </a:path>
              </a:pathLst>
            </a:custGeom>
            <a:noFill/>
            <a:ln w="9525" cap="flat" cmpd="sng">
              <a:solidFill>
                <a:srgbClr val="000000"/>
              </a:solidFill>
              <a:prstDash val="solid"/>
              <a:round/>
              <a:headEnd type="none" w="med" len="me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grpSp>
      <p:graphicFrame>
        <p:nvGraphicFramePr>
          <p:cNvPr id="32775" name="Object 40">
            <a:extLst>
              <a:ext uri="{FF2B5EF4-FFF2-40B4-BE49-F238E27FC236}">
                <a16:creationId xmlns:a16="http://schemas.microsoft.com/office/drawing/2014/main" id="{9B1ECDAF-51AC-4258-8405-B8738C39047C}"/>
              </a:ext>
            </a:extLst>
          </p:cNvPr>
          <p:cNvGraphicFramePr>
            <a:graphicFrameLocks noChangeAspect="1"/>
          </p:cNvGraphicFramePr>
          <p:nvPr/>
        </p:nvGraphicFramePr>
        <p:xfrm>
          <a:off x="384175" y="4149725"/>
          <a:ext cx="4962525" cy="2163763"/>
        </p:xfrm>
        <a:graphic>
          <a:graphicData uri="http://schemas.openxmlformats.org/presentationml/2006/ole">
            <mc:AlternateContent xmlns:mc="http://schemas.openxmlformats.org/markup-compatibility/2006">
              <mc:Choice xmlns:v="urn:schemas-microsoft-com:vml" Requires="v">
                <p:oleObj spid="_x0000_s32966" name="Equation" r:id="rId8" imgW="3175000" imgH="1384300" progId="Equation.DSMT4">
                  <p:embed/>
                </p:oleObj>
              </mc:Choice>
              <mc:Fallback>
                <p:oleObj name="Equation" r:id="rId8" imgW="3175000" imgH="1384300" progId="Equation.DSMT4">
                  <p:embed/>
                  <p:pic>
                    <p:nvPicPr>
                      <p:cNvPr id="0" name="Object 4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4175" y="4149725"/>
                        <a:ext cx="4962525" cy="2163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776" name="Oval 33">
            <a:extLst>
              <a:ext uri="{FF2B5EF4-FFF2-40B4-BE49-F238E27FC236}">
                <a16:creationId xmlns:a16="http://schemas.microsoft.com/office/drawing/2014/main" id="{73FBF85A-3F32-45F3-9DBE-098F16F2650F}"/>
              </a:ext>
            </a:extLst>
          </p:cNvPr>
          <p:cNvSpPr>
            <a:spLocks noChangeArrowheads="1"/>
          </p:cNvSpPr>
          <p:nvPr/>
        </p:nvSpPr>
        <p:spPr bwMode="auto">
          <a:xfrm>
            <a:off x="6329363" y="3603625"/>
            <a:ext cx="1466850" cy="431800"/>
          </a:xfrm>
          <a:prstGeom prst="ellipse">
            <a:avLst/>
          </a:prstGeom>
          <a:solidFill>
            <a:srgbClr val="FFFFFF"/>
          </a:solidFill>
          <a:ln w="12700">
            <a:solidFill>
              <a:srgbClr val="000000"/>
            </a:solidFill>
            <a:prstDash val="dash"/>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2" name="矩形 1">
            <a:extLst>
              <a:ext uri="{FF2B5EF4-FFF2-40B4-BE49-F238E27FC236}">
                <a16:creationId xmlns:a16="http://schemas.microsoft.com/office/drawing/2014/main" id="{B91A6ED1-EA09-47FB-A992-DC8999EC0180}"/>
              </a:ext>
            </a:extLst>
          </p:cNvPr>
          <p:cNvSpPr/>
          <p:nvPr/>
        </p:nvSpPr>
        <p:spPr>
          <a:xfrm>
            <a:off x="5574338" y="5204508"/>
            <a:ext cx="3185487" cy="646331"/>
          </a:xfrm>
          <a:prstGeom prst="rect">
            <a:avLst/>
          </a:prstGeom>
        </p:spPr>
        <p:txBody>
          <a:bodyPr wrap="none">
            <a:spAutoFit/>
          </a:bodyPr>
          <a:lstStyle/>
          <a:p>
            <a:r>
              <a:rPr kumimoji="1" lang="zh-CN" altLang="en-US" b="1" dirty="0">
                <a:solidFill>
                  <a:srgbClr val="C00000"/>
                </a:solidFill>
                <a:highlight>
                  <a:srgbClr val="FFFF00"/>
                </a:highlight>
                <a:latin typeface="微软雅黑" panose="020B0503020204020204" pitchFamily="34" charset="-122"/>
                <a:ea typeface="微软雅黑" panose="020B0503020204020204" pitchFamily="34" charset="-122"/>
              </a:rPr>
              <a:t>功能：测量被测物的水分含量</a:t>
            </a:r>
            <a:endParaRPr kumimoji="1" lang="en-US" altLang="zh-CN" b="1" dirty="0">
              <a:solidFill>
                <a:srgbClr val="C00000"/>
              </a:solidFill>
              <a:highlight>
                <a:srgbClr val="FFFF00"/>
              </a:highlight>
              <a:latin typeface="微软雅黑" panose="020B0503020204020204" pitchFamily="34" charset="-122"/>
              <a:ea typeface="微软雅黑" panose="020B0503020204020204" pitchFamily="34" charset="-122"/>
            </a:endParaRPr>
          </a:p>
          <a:p>
            <a:r>
              <a:rPr kumimoji="1" lang="en-US" altLang="zh-CN" b="1" dirty="0">
                <a:solidFill>
                  <a:srgbClr val="C00000"/>
                </a:solidFill>
                <a:highlight>
                  <a:srgbClr val="FFFF00"/>
                </a:highlight>
                <a:latin typeface="微软雅黑" panose="020B0503020204020204" pitchFamily="34" charset="-122"/>
                <a:ea typeface="微软雅黑" panose="020B0503020204020204" pitchFamily="34" charset="-122"/>
              </a:rPr>
              <a:t>          </a:t>
            </a:r>
            <a:r>
              <a:rPr kumimoji="1" lang="zh-CN" altLang="en-US" b="1" dirty="0">
                <a:solidFill>
                  <a:srgbClr val="C00000"/>
                </a:solidFill>
                <a:highlight>
                  <a:srgbClr val="FFFF00"/>
                </a:highlight>
                <a:latin typeface="微软雅黑" panose="020B0503020204020204" pitchFamily="34" charset="-122"/>
                <a:ea typeface="微软雅黑" panose="020B0503020204020204" pitchFamily="34" charset="-122"/>
              </a:rPr>
              <a:t>例如测量稻谷中的水分</a:t>
            </a:r>
            <a:endParaRPr lang="zh-CN" altLang="en-US" dirty="0"/>
          </a:p>
        </p:txBody>
      </p:sp>
      <p:sp>
        <p:nvSpPr>
          <p:cNvPr id="29" name="矩形 28">
            <a:extLst>
              <a:ext uri="{FF2B5EF4-FFF2-40B4-BE49-F238E27FC236}">
                <a16:creationId xmlns:a16="http://schemas.microsoft.com/office/drawing/2014/main" id="{2B90524C-E11D-401F-9A56-C7ED57E3B5E8}"/>
              </a:ext>
            </a:extLst>
          </p:cNvPr>
          <p:cNvSpPr/>
          <p:nvPr/>
        </p:nvSpPr>
        <p:spPr>
          <a:xfrm>
            <a:off x="5721127" y="992120"/>
            <a:ext cx="2526654" cy="369332"/>
          </a:xfrm>
          <a:prstGeom prst="rect">
            <a:avLst/>
          </a:prstGeom>
        </p:spPr>
        <p:txBody>
          <a:bodyPr wrap="none">
            <a:spAutoFit/>
          </a:bodyPr>
          <a:lstStyle/>
          <a:p>
            <a:r>
              <a:rPr lang="zh-CN" altLang="en-US" b="1" dirty="0">
                <a:solidFill>
                  <a:srgbClr val="0000FF"/>
                </a:solidFill>
                <a:latin typeface="微软雅黑" panose="020B0503020204020204" pitchFamily="34" charset="-122"/>
                <a:ea typeface="微软雅黑" panose="020B0503020204020204" pitchFamily="34" charset="-122"/>
              </a:rPr>
              <a:t>串并联分析法</a:t>
            </a:r>
            <a:r>
              <a:rPr lang="en-US" altLang="zh-CN" b="1" dirty="0">
                <a:solidFill>
                  <a:srgbClr val="0000FF"/>
                </a:solidFill>
                <a:latin typeface="微软雅黑" panose="020B0503020204020204" pitchFamily="34" charset="-122"/>
                <a:ea typeface="微软雅黑" panose="020B0503020204020204" pitchFamily="34" charset="-122"/>
              </a:rPr>
              <a:t>——</a:t>
            </a:r>
            <a:r>
              <a:rPr lang="zh-CN" altLang="en-US" b="1" dirty="0">
                <a:solidFill>
                  <a:srgbClr val="0000FF"/>
                </a:solidFill>
                <a:latin typeface="微软雅黑" panose="020B0503020204020204" pitchFamily="34" charset="-122"/>
                <a:ea typeface="微软雅黑" panose="020B0503020204020204" pitchFamily="34" charset="-122"/>
              </a:rPr>
              <a:t>并联</a:t>
            </a:r>
            <a:endParaRPr lang="zh-CN" altLang="en-US" dirty="0">
              <a:solidFill>
                <a:srgbClr val="0000FF"/>
              </a:solidFill>
            </a:endParaRPr>
          </a:p>
        </p:txBody>
      </p:sp>
      <p:sp>
        <p:nvSpPr>
          <p:cNvPr id="3" name="矩形 2">
            <a:extLst>
              <a:ext uri="{FF2B5EF4-FFF2-40B4-BE49-F238E27FC236}">
                <a16:creationId xmlns:a16="http://schemas.microsoft.com/office/drawing/2014/main" id="{A7CFD7D4-8DD4-4F2D-BFA5-C589353DE835}"/>
              </a:ext>
            </a:extLst>
          </p:cNvPr>
          <p:cNvSpPr/>
          <p:nvPr/>
        </p:nvSpPr>
        <p:spPr>
          <a:xfrm>
            <a:off x="293803" y="921088"/>
            <a:ext cx="1704313" cy="461665"/>
          </a:xfrm>
          <a:prstGeom prst="rect">
            <a:avLst/>
          </a:prstGeom>
        </p:spPr>
        <p:txBody>
          <a:bodyPr wrap="none">
            <a:spAutoFit/>
          </a:bodyPr>
          <a:lstStyle/>
          <a:p>
            <a:pPr marL="285750" indent="-285750">
              <a:buFont typeface="Arial" panose="020B0604020202020204" pitchFamily="34" charset="0"/>
              <a:buChar char="•"/>
            </a:pPr>
            <a:r>
              <a:rPr kumimoji="1" lang="zh-CN" altLang="en-US" sz="2400" b="1" dirty="0">
                <a:solidFill>
                  <a:srgbClr val="C00000"/>
                </a:solidFill>
                <a:latin typeface="微软雅黑" panose="020B0503020204020204" pitchFamily="34" charset="-122"/>
                <a:ea typeface="微软雅黑" panose="020B0503020204020204" pitchFamily="34" charset="-122"/>
              </a:rPr>
              <a:t>测量水分</a:t>
            </a:r>
            <a:endParaRPr lang="zh-CN" alt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2">
            <a:extLst>
              <a:ext uri="{FF2B5EF4-FFF2-40B4-BE49-F238E27FC236}">
                <a16:creationId xmlns:a16="http://schemas.microsoft.com/office/drawing/2014/main" id="{0E3554A6-93A2-4496-B5DA-B992D19E433E}"/>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2EE39619-1869-4E59-9358-EAC0DED1228F}" type="slidenum">
              <a:rPr lang="en-US" altLang="zh-CN" smtClean="0"/>
              <a:pPr/>
              <a:t>17</a:t>
            </a:fld>
            <a:endParaRPr lang="en-US" altLang="zh-CN"/>
          </a:p>
        </p:txBody>
      </p:sp>
      <p:sp>
        <p:nvSpPr>
          <p:cNvPr id="6" name="矩形 5">
            <a:extLst>
              <a:ext uri="{FF2B5EF4-FFF2-40B4-BE49-F238E27FC236}">
                <a16:creationId xmlns:a16="http://schemas.microsoft.com/office/drawing/2014/main" id="{9C696F41-529D-476A-A98B-B036552C90B6}"/>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34820" name="Text Box 2">
            <a:extLst>
              <a:ext uri="{FF2B5EF4-FFF2-40B4-BE49-F238E27FC236}">
                <a16:creationId xmlns:a16="http://schemas.microsoft.com/office/drawing/2014/main" id="{23F2080F-A34B-47AF-AE16-DEF625EB9FBC}"/>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2 </a:t>
            </a:r>
            <a:r>
              <a:rPr kumimoji="1" lang="zh-CN" altLang="en-US" sz="2800" b="1">
                <a:solidFill>
                  <a:srgbClr val="C00000"/>
                </a:solidFill>
                <a:latin typeface="微软雅黑" panose="020B0503020204020204" pitchFamily="34" charset="-122"/>
                <a:ea typeface="微软雅黑" panose="020B0503020204020204" pitchFamily="34" charset="-122"/>
              </a:rPr>
              <a:t>测量电路</a:t>
            </a:r>
            <a:r>
              <a:rPr kumimoji="1" lang="en-US" altLang="zh-CN" sz="2800" b="1">
                <a:solidFill>
                  <a:srgbClr val="C00000"/>
                </a:solidFill>
                <a:latin typeface="微软雅黑" panose="020B0503020204020204" pitchFamily="34" charset="-122"/>
                <a:ea typeface="微软雅黑" panose="020B0503020204020204" pitchFamily="34" charset="-122"/>
              </a:rPr>
              <a:t>——</a:t>
            </a:r>
            <a:r>
              <a:rPr kumimoji="1" lang="zh-CN" altLang="en-US" sz="2800" b="1">
                <a:solidFill>
                  <a:srgbClr val="C00000"/>
                </a:solidFill>
                <a:latin typeface="微软雅黑" panose="020B0503020204020204" pitchFamily="34" charset="-122"/>
                <a:ea typeface="微软雅黑" panose="020B0503020204020204" pitchFamily="34" charset="-122"/>
              </a:rPr>
              <a:t>挑战</a:t>
            </a:r>
          </a:p>
        </p:txBody>
      </p:sp>
      <p:sp>
        <p:nvSpPr>
          <p:cNvPr id="34821" name="Text Box 2">
            <a:extLst>
              <a:ext uri="{FF2B5EF4-FFF2-40B4-BE49-F238E27FC236}">
                <a16:creationId xmlns:a16="http://schemas.microsoft.com/office/drawing/2014/main" id="{7A08B4E2-ACF8-43A4-82D2-57B5B63E009B}"/>
              </a:ext>
            </a:extLst>
          </p:cNvPr>
          <p:cNvSpPr txBox="1">
            <a:spLocks noChangeArrowheads="1"/>
          </p:cNvSpPr>
          <p:nvPr/>
        </p:nvSpPr>
        <p:spPr bwMode="auto">
          <a:xfrm>
            <a:off x="280764" y="1702128"/>
            <a:ext cx="8582471" cy="3351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zh-CN" altLang="en-US" sz="2400" b="1" dirty="0">
                <a:latin typeface="微软雅黑" panose="020B0503020204020204" pitchFamily="34" charset="-122"/>
                <a:ea typeface="微软雅黑" panose="020B0503020204020204" pitchFamily="34" charset="-122"/>
              </a:rPr>
              <a:t>●电极引线之间以及导线间有</a:t>
            </a:r>
            <a:r>
              <a:rPr lang="zh-CN" altLang="en-US" sz="2400" b="1" dirty="0">
                <a:solidFill>
                  <a:srgbClr val="FF0000"/>
                </a:solidFill>
                <a:latin typeface="微软雅黑" panose="020B0503020204020204" pitchFamily="34" charset="-122"/>
                <a:ea typeface="微软雅黑" panose="020B0503020204020204" pitchFamily="34" charset="-122"/>
              </a:rPr>
              <a:t>杂散电容</a:t>
            </a:r>
            <a:r>
              <a:rPr lang="zh-CN" altLang="en-US" sz="2400" b="1" dirty="0">
                <a:latin typeface="微软雅黑" panose="020B0503020204020204" pitchFamily="34" charset="-122"/>
                <a:ea typeface="微软雅黑" panose="020B0503020204020204" pitchFamily="34" charset="-122"/>
              </a:rPr>
              <a:t>，其数值约</a:t>
            </a:r>
            <a:r>
              <a:rPr lang="en-US" altLang="zh-CN" sz="2400" b="1" dirty="0">
                <a:solidFill>
                  <a:srgbClr val="0000FF"/>
                </a:solidFill>
                <a:latin typeface="微软雅黑" panose="020B0503020204020204" pitchFamily="34" charset="-122"/>
                <a:ea typeface="微软雅黑" panose="020B0503020204020204" pitchFamily="34" charset="-122"/>
              </a:rPr>
              <a:t>100pF/m</a:t>
            </a:r>
            <a:r>
              <a:rPr lang="zh-CN" altLang="en-US" sz="2400" b="1" dirty="0">
                <a:latin typeface="微软雅黑" panose="020B0503020204020204" pitchFamily="34" charset="-122"/>
                <a:ea typeface="微软雅黑" panose="020B0503020204020204" pitchFamily="34" charset="-122"/>
              </a:rPr>
              <a:t>；</a:t>
            </a:r>
          </a:p>
          <a:p>
            <a:pPr>
              <a:lnSpc>
                <a:spcPct val="150000"/>
              </a:lnSpc>
              <a:spcBef>
                <a:spcPct val="0"/>
              </a:spcBef>
              <a:buFontTx/>
              <a:buNone/>
            </a:pPr>
            <a:r>
              <a:rPr lang="zh-CN" altLang="en-US" sz="2400" b="1" dirty="0">
                <a:latin typeface="微软雅黑" panose="020B0503020204020204" pitchFamily="34" charset="-122"/>
                <a:ea typeface="微软雅黑" panose="020B0503020204020204" pitchFamily="34" charset="-122"/>
              </a:rPr>
              <a:t>●用于选择不同测量电极的</a:t>
            </a:r>
            <a:r>
              <a:rPr lang="zh-CN" altLang="en-US" sz="2400" b="1" dirty="0">
                <a:solidFill>
                  <a:srgbClr val="FF0000"/>
                </a:solidFill>
                <a:latin typeface="微软雅黑" panose="020B0503020204020204" pitchFamily="34" charset="-122"/>
                <a:ea typeface="微软雅黑" panose="020B0503020204020204" pitchFamily="34" charset="-122"/>
              </a:rPr>
              <a:t>电子开关其输入电容值</a:t>
            </a:r>
            <a:r>
              <a:rPr lang="zh-CN" altLang="en-US" sz="2400" b="1" dirty="0">
                <a:latin typeface="微软雅黑" panose="020B0503020204020204" pitchFamily="34" charset="-122"/>
                <a:ea typeface="微软雅黑" panose="020B0503020204020204" pitchFamily="34" charset="-122"/>
              </a:rPr>
              <a:t>约</a:t>
            </a:r>
            <a:r>
              <a:rPr lang="en-US" altLang="zh-CN" sz="2400" b="1" dirty="0">
                <a:solidFill>
                  <a:srgbClr val="0000FF"/>
                </a:solidFill>
                <a:latin typeface="微软雅黑" panose="020B0503020204020204" pitchFamily="34" charset="-122"/>
                <a:ea typeface="微软雅黑" panose="020B0503020204020204" pitchFamily="34" charset="-122"/>
              </a:rPr>
              <a:t>8pF</a:t>
            </a:r>
            <a:r>
              <a:rPr lang="zh-CN" altLang="en-US" sz="2400" b="1" dirty="0">
                <a:latin typeface="微软雅黑" panose="020B0503020204020204" pitchFamily="34" charset="-122"/>
                <a:ea typeface="微软雅黑" panose="020B0503020204020204" pitchFamily="34" charset="-122"/>
              </a:rPr>
              <a:t>；</a:t>
            </a:r>
          </a:p>
          <a:p>
            <a:pPr>
              <a:lnSpc>
                <a:spcPct val="150000"/>
              </a:lnSpc>
              <a:spcBef>
                <a:spcPct val="0"/>
              </a:spcBef>
              <a:buFontTx/>
              <a:buNone/>
            </a:pPr>
            <a:r>
              <a:rPr lang="zh-CN" altLang="en-US" sz="2400" b="1" dirty="0">
                <a:latin typeface="微软雅黑" panose="020B0503020204020204" pitchFamily="34" charset="-122"/>
                <a:ea typeface="微软雅黑" panose="020B0503020204020204" pitchFamily="34" charset="-122"/>
              </a:rPr>
              <a:t>●在普通线路板上两段</a:t>
            </a:r>
            <a:r>
              <a:rPr lang="zh-CN" altLang="en-US" sz="2400" b="1" dirty="0">
                <a:solidFill>
                  <a:srgbClr val="0099FF"/>
                </a:solidFill>
                <a:latin typeface="微软雅黑" panose="020B0503020204020204" pitchFamily="34" charset="-122"/>
                <a:ea typeface="微软雅黑" panose="020B0503020204020204" pitchFamily="34" charset="-122"/>
              </a:rPr>
              <a:t>间隔</a:t>
            </a:r>
            <a:r>
              <a:rPr lang="en-US" altLang="zh-CN" sz="2400" b="1" dirty="0">
                <a:solidFill>
                  <a:srgbClr val="0099FF"/>
                </a:solidFill>
                <a:latin typeface="微软雅黑" panose="020B0503020204020204" pitchFamily="34" charset="-122"/>
                <a:ea typeface="微软雅黑" panose="020B0503020204020204" pitchFamily="34" charset="-122"/>
              </a:rPr>
              <a:t>1mm</a:t>
            </a:r>
            <a:r>
              <a:rPr lang="zh-CN" altLang="en-US" sz="2400" b="1" dirty="0">
                <a:solidFill>
                  <a:srgbClr val="0099FF"/>
                </a:solidFill>
                <a:latin typeface="微软雅黑" panose="020B0503020204020204" pitchFamily="34" charset="-122"/>
                <a:ea typeface="微软雅黑" panose="020B0503020204020204" pitchFamily="34" charset="-122"/>
              </a:rPr>
              <a:t>长</a:t>
            </a:r>
            <a:r>
              <a:rPr lang="en-US" altLang="zh-CN" sz="2400" b="1" dirty="0">
                <a:solidFill>
                  <a:srgbClr val="0099FF"/>
                </a:solidFill>
                <a:latin typeface="微软雅黑" panose="020B0503020204020204" pitchFamily="34" charset="-122"/>
                <a:ea typeface="微软雅黑" panose="020B0503020204020204" pitchFamily="34" charset="-122"/>
              </a:rPr>
              <a:t>1cm</a:t>
            </a:r>
            <a:r>
              <a:rPr lang="zh-CN" altLang="en-US" sz="2400" b="1" dirty="0">
                <a:solidFill>
                  <a:srgbClr val="0099FF"/>
                </a:solidFill>
                <a:latin typeface="微软雅黑" panose="020B0503020204020204" pitchFamily="34" charset="-122"/>
                <a:ea typeface="微软雅黑" panose="020B0503020204020204" pitchFamily="34" charset="-122"/>
              </a:rPr>
              <a:t>的导线</a:t>
            </a:r>
            <a:r>
              <a:rPr lang="zh-CN" altLang="en-US" sz="2400" b="1" dirty="0">
                <a:latin typeface="微软雅黑" panose="020B0503020204020204" pitchFamily="34" charset="-122"/>
                <a:ea typeface="微软雅黑" panose="020B0503020204020204" pitchFamily="34" charset="-122"/>
              </a:rPr>
              <a:t>之间的</a:t>
            </a:r>
            <a:r>
              <a:rPr lang="zh-CN" altLang="en-US" sz="2400" b="1" dirty="0">
                <a:solidFill>
                  <a:srgbClr val="FF0000"/>
                </a:solidFill>
                <a:latin typeface="微软雅黑" panose="020B0503020204020204" pitchFamily="34" charset="-122"/>
                <a:ea typeface="微软雅黑" panose="020B0503020204020204" pitchFamily="34" charset="-122"/>
              </a:rPr>
              <a:t>分布电容</a:t>
            </a:r>
            <a:r>
              <a:rPr lang="zh-CN" altLang="en-US" sz="2400" b="1" dirty="0">
                <a:latin typeface="微软雅黑" panose="020B0503020204020204" pitchFamily="34" charset="-122"/>
                <a:ea typeface="微软雅黑" panose="020B0503020204020204" pitchFamily="34" charset="-122"/>
              </a:rPr>
              <a:t>约</a:t>
            </a:r>
            <a:r>
              <a:rPr lang="en-US" altLang="zh-CN" sz="2400" b="1" dirty="0">
                <a:solidFill>
                  <a:srgbClr val="0000FF"/>
                </a:solidFill>
                <a:latin typeface="微软雅黑" panose="020B0503020204020204" pitchFamily="34" charset="-122"/>
                <a:ea typeface="微软雅黑" panose="020B0503020204020204" pitchFamily="34" charset="-122"/>
              </a:rPr>
              <a:t>1pF</a:t>
            </a:r>
            <a:r>
              <a:rPr lang="zh-CN" altLang="en-US" sz="2400" b="1" dirty="0">
                <a:latin typeface="微软雅黑" panose="020B0503020204020204" pitchFamily="34" charset="-122"/>
                <a:ea typeface="微软雅黑" panose="020B0503020204020204" pitchFamily="34" charset="-122"/>
              </a:rPr>
              <a:t>。</a:t>
            </a:r>
          </a:p>
          <a:p>
            <a:pPr eaLnBrk="1" hangingPunct="1">
              <a:lnSpc>
                <a:spcPct val="150000"/>
              </a:lnSpc>
              <a:spcBef>
                <a:spcPct val="0"/>
              </a:spcBef>
              <a:buFontTx/>
              <a:buNone/>
            </a:pPr>
            <a:r>
              <a:rPr lang="zh-CN" altLang="en-US" sz="2400" b="1" dirty="0">
                <a:latin typeface="微软雅黑" panose="020B0503020204020204" pitchFamily="34" charset="-122"/>
                <a:ea typeface="微软雅黑" panose="020B0503020204020204" pitchFamily="34" charset="-122"/>
              </a:rPr>
              <a:t>●</a:t>
            </a:r>
            <a:r>
              <a:rPr lang="zh-CN" altLang="en-US" sz="2400" b="1" dirty="0">
                <a:solidFill>
                  <a:srgbClr val="FF0000"/>
                </a:solidFill>
                <a:latin typeface="微软雅黑" panose="020B0503020204020204" pitchFamily="34" charset="-122"/>
                <a:ea typeface="微软雅黑" panose="020B0503020204020204" pitchFamily="34" charset="-122"/>
              </a:rPr>
              <a:t>测量电容小：</a:t>
            </a:r>
            <a:r>
              <a:rPr lang="zh-CN" altLang="en-US" sz="2400" b="1" dirty="0">
                <a:latin typeface="微软雅黑" panose="020B0503020204020204" pitchFamily="34" charset="-122"/>
                <a:ea typeface="微软雅黑" panose="020B0503020204020204" pitchFamily="34" charset="-122"/>
              </a:rPr>
              <a:t>最多</a:t>
            </a:r>
            <a:r>
              <a:rPr lang="zh-CN" altLang="en-US" sz="2400" b="1" dirty="0">
                <a:solidFill>
                  <a:srgbClr val="0000FF"/>
                </a:solidFill>
                <a:latin typeface="微软雅黑" panose="020B0503020204020204" pitchFamily="34" charset="-122"/>
                <a:ea typeface="微软雅黑" panose="020B0503020204020204" pitchFamily="34" charset="-122"/>
              </a:rPr>
              <a:t>数十</a:t>
            </a:r>
            <a:r>
              <a:rPr lang="en-US" altLang="zh-CN" sz="2400" b="1" dirty="0">
                <a:solidFill>
                  <a:srgbClr val="0000FF"/>
                </a:solidFill>
                <a:latin typeface="微软雅黑" panose="020B0503020204020204" pitchFamily="34" charset="-122"/>
                <a:ea typeface="微软雅黑" panose="020B0503020204020204" pitchFamily="34" charset="-122"/>
              </a:rPr>
              <a:t>pF</a:t>
            </a:r>
            <a:r>
              <a:rPr lang="zh-CN" altLang="en-US" sz="2400" b="1" dirty="0">
                <a:latin typeface="微软雅黑" panose="020B0503020204020204" pitchFamily="34" charset="-122"/>
                <a:ea typeface="微软雅黑" panose="020B0503020204020204" pitchFamily="34" charset="-122"/>
              </a:rPr>
              <a:t>，</a:t>
            </a:r>
            <a:r>
              <a:rPr lang="zh-CN" altLang="en-US" sz="2400" b="1" dirty="0">
                <a:solidFill>
                  <a:srgbClr val="0099FF"/>
                </a:solidFill>
                <a:latin typeface="微软雅黑" panose="020B0503020204020204" pitchFamily="34" charset="-122"/>
                <a:ea typeface="微软雅黑" panose="020B0503020204020204" pitchFamily="34" charset="-122"/>
              </a:rPr>
              <a:t>远小于影响电容测量的杂散电容值</a:t>
            </a:r>
            <a:r>
              <a:rPr lang="zh-CN" altLang="en-US" sz="2400" b="1" dirty="0">
                <a:latin typeface="微软雅黑" panose="020B0503020204020204" pitchFamily="34" charset="-122"/>
                <a:ea typeface="微软雅黑" panose="020B0503020204020204" pitchFamily="34" charset="-122"/>
              </a:rPr>
              <a:t>，抗杂散电容的能力是小电容电路必须具备的重要性能。</a:t>
            </a:r>
          </a:p>
        </p:txBody>
      </p:sp>
      <p:sp>
        <p:nvSpPr>
          <p:cNvPr id="3" name="矩形 2">
            <a:extLst>
              <a:ext uri="{FF2B5EF4-FFF2-40B4-BE49-F238E27FC236}">
                <a16:creationId xmlns:a16="http://schemas.microsoft.com/office/drawing/2014/main" id="{D9A239EC-6234-4B14-A0A9-07CA5397313A}"/>
              </a:ext>
            </a:extLst>
          </p:cNvPr>
          <p:cNvSpPr/>
          <p:nvPr/>
        </p:nvSpPr>
        <p:spPr>
          <a:xfrm>
            <a:off x="1115616" y="5394032"/>
            <a:ext cx="6647974" cy="523220"/>
          </a:xfrm>
          <a:prstGeom prst="rect">
            <a:avLst/>
          </a:prstGeom>
          <a:solidFill>
            <a:schemeClr val="bg2">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a:spAutoFit/>
          </a:bodyPr>
          <a:lstStyle/>
          <a:p>
            <a:pPr>
              <a:defRPr/>
            </a:pPr>
            <a:r>
              <a:rPr lang="zh-CN" altLang="en-US" sz="2800" b="1" dirty="0">
                <a:solidFill>
                  <a:srgbClr val="0099FF"/>
                </a:solidFill>
                <a:latin typeface="微软雅黑" panose="020B0503020204020204" pitchFamily="34" charset="-122"/>
                <a:ea typeface="微软雅黑" panose="020B0503020204020204" pitchFamily="34" charset="-122"/>
              </a:rPr>
              <a:t>所以：电容传感器的测量电路不容易设计</a:t>
            </a:r>
            <a:endParaRPr lang="zh-CN" altLang="en-US" sz="2800" dirty="0"/>
          </a:p>
        </p:txBody>
      </p:sp>
      <p:sp>
        <p:nvSpPr>
          <p:cNvPr id="34825" name="矩形 7">
            <a:extLst>
              <a:ext uri="{FF2B5EF4-FFF2-40B4-BE49-F238E27FC236}">
                <a16:creationId xmlns:a16="http://schemas.microsoft.com/office/drawing/2014/main" id="{50E7DEC6-3AD6-4477-A6C5-C6BED3128728}"/>
              </a:ext>
            </a:extLst>
          </p:cNvPr>
          <p:cNvSpPr>
            <a:spLocks noChangeArrowheads="1"/>
          </p:cNvSpPr>
          <p:nvPr/>
        </p:nvSpPr>
        <p:spPr bwMode="auto">
          <a:xfrm>
            <a:off x="971600" y="1157367"/>
            <a:ext cx="5342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marL="342900" indent="-342900">
              <a:spcBef>
                <a:spcPct val="0"/>
              </a:spcBef>
              <a:buFont typeface="Wingdings" panose="05000000000000000000" pitchFamily="2" charset="2"/>
              <a:buChar char="u"/>
            </a:pPr>
            <a:r>
              <a:rPr kumimoji="1" lang="zh-CN" altLang="en-US" sz="2400" b="1" dirty="0">
                <a:solidFill>
                  <a:srgbClr val="FF0000"/>
                </a:solidFill>
                <a:latin typeface="微软雅黑" panose="020B0503020204020204" pitchFamily="34" charset="-122"/>
                <a:ea typeface="微软雅黑" panose="020B0503020204020204" pitchFamily="34" charset="-122"/>
              </a:rPr>
              <a:t>电容传感器测量电路面临的挑战：</a:t>
            </a:r>
          </a:p>
        </p:txBody>
      </p:sp>
      <p:sp>
        <p:nvSpPr>
          <p:cNvPr id="8" name="矩形 7">
            <a:extLst>
              <a:ext uri="{FF2B5EF4-FFF2-40B4-BE49-F238E27FC236}">
                <a16:creationId xmlns:a16="http://schemas.microsoft.com/office/drawing/2014/main" id="{CE7B2FE4-2E33-45D5-B082-68C92ADE6262}"/>
              </a:ext>
            </a:extLst>
          </p:cNvPr>
          <p:cNvSpPr/>
          <p:nvPr/>
        </p:nvSpPr>
        <p:spPr>
          <a:xfrm>
            <a:off x="2376562" y="6258110"/>
            <a:ext cx="5416868" cy="461665"/>
          </a:xfrm>
          <a:prstGeom prst="rect">
            <a:avLst/>
          </a:prstGeom>
          <a:solidFill>
            <a:schemeClr val="bg2">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a:spAutoFit/>
          </a:bodyPr>
          <a:lstStyle/>
          <a:p>
            <a:pPr>
              <a:defRPr/>
            </a:pPr>
            <a:r>
              <a:rPr lang="zh-CN" altLang="en-US" sz="2400" b="1" dirty="0">
                <a:solidFill>
                  <a:srgbClr val="FF9900"/>
                </a:solidFill>
                <a:latin typeface="微软雅黑" panose="020B0503020204020204" pitchFamily="34" charset="-122"/>
                <a:ea typeface="微软雅黑" panose="020B0503020204020204" pitchFamily="34" charset="-122"/>
              </a:rPr>
              <a:t>电容传感器的测量电路非常丰富。。。</a:t>
            </a:r>
            <a:endParaRPr lang="zh-CN" altLang="en-US" sz="2400" dirty="0">
              <a:solidFill>
                <a:srgbClr val="FF99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down)">
                                      <p:cBhvr>
                                        <p:cTn id="25" dur="580">
                                          <p:stCondLst>
                                            <p:cond delay="0"/>
                                          </p:stCondLst>
                                        </p:cTn>
                                        <p:tgtEl>
                                          <p:spTgt spid="8"/>
                                        </p:tgtEl>
                                      </p:cBhvr>
                                    </p:animEffect>
                                    <p:anim calcmode="lin" valueType="num">
                                      <p:cBhvr>
                                        <p:cTn id="26"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31" dur="26">
                                          <p:stCondLst>
                                            <p:cond delay="650"/>
                                          </p:stCondLst>
                                        </p:cTn>
                                        <p:tgtEl>
                                          <p:spTgt spid="8"/>
                                        </p:tgtEl>
                                      </p:cBhvr>
                                      <p:to x="100000" y="60000"/>
                                    </p:animScale>
                                    <p:animScale>
                                      <p:cBhvr>
                                        <p:cTn id="32" dur="166" decel="50000">
                                          <p:stCondLst>
                                            <p:cond delay="676"/>
                                          </p:stCondLst>
                                        </p:cTn>
                                        <p:tgtEl>
                                          <p:spTgt spid="8"/>
                                        </p:tgtEl>
                                      </p:cBhvr>
                                      <p:to x="100000" y="100000"/>
                                    </p:animScale>
                                    <p:animScale>
                                      <p:cBhvr>
                                        <p:cTn id="33" dur="26">
                                          <p:stCondLst>
                                            <p:cond delay="1312"/>
                                          </p:stCondLst>
                                        </p:cTn>
                                        <p:tgtEl>
                                          <p:spTgt spid="8"/>
                                        </p:tgtEl>
                                      </p:cBhvr>
                                      <p:to x="100000" y="80000"/>
                                    </p:animScale>
                                    <p:animScale>
                                      <p:cBhvr>
                                        <p:cTn id="34" dur="166" decel="50000">
                                          <p:stCondLst>
                                            <p:cond delay="1338"/>
                                          </p:stCondLst>
                                        </p:cTn>
                                        <p:tgtEl>
                                          <p:spTgt spid="8"/>
                                        </p:tgtEl>
                                      </p:cBhvr>
                                      <p:to x="100000" y="100000"/>
                                    </p:animScale>
                                    <p:animScale>
                                      <p:cBhvr>
                                        <p:cTn id="35" dur="26">
                                          <p:stCondLst>
                                            <p:cond delay="1642"/>
                                          </p:stCondLst>
                                        </p:cTn>
                                        <p:tgtEl>
                                          <p:spTgt spid="8"/>
                                        </p:tgtEl>
                                      </p:cBhvr>
                                      <p:to x="100000" y="90000"/>
                                    </p:animScale>
                                    <p:animScale>
                                      <p:cBhvr>
                                        <p:cTn id="36" dur="166" decel="50000">
                                          <p:stCondLst>
                                            <p:cond delay="1668"/>
                                          </p:stCondLst>
                                        </p:cTn>
                                        <p:tgtEl>
                                          <p:spTgt spid="8"/>
                                        </p:tgtEl>
                                      </p:cBhvr>
                                      <p:to x="100000" y="100000"/>
                                    </p:animScale>
                                    <p:animScale>
                                      <p:cBhvr>
                                        <p:cTn id="37" dur="26">
                                          <p:stCondLst>
                                            <p:cond delay="1808"/>
                                          </p:stCondLst>
                                        </p:cTn>
                                        <p:tgtEl>
                                          <p:spTgt spid="8"/>
                                        </p:tgtEl>
                                      </p:cBhvr>
                                      <p:to x="100000" y="95000"/>
                                    </p:animScale>
                                    <p:animScale>
                                      <p:cBhvr>
                                        <p:cTn id="38"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2">
            <a:extLst>
              <a:ext uri="{FF2B5EF4-FFF2-40B4-BE49-F238E27FC236}">
                <a16:creationId xmlns:a16="http://schemas.microsoft.com/office/drawing/2014/main" id="{93D1CC16-5A15-40DB-8A68-A14E24A53B36}"/>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25CE2F3-4F18-4E31-9D47-F46305F7B18E}" type="slidenum">
              <a:rPr lang="en-US" altLang="zh-CN" smtClean="0"/>
              <a:pPr/>
              <a:t>18</a:t>
            </a:fld>
            <a:endParaRPr lang="en-US" altLang="zh-CN"/>
          </a:p>
        </p:txBody>
      </p:sp>
      <p:sp>
        <p:nvSpPr>
          <p:cNvPr id="6" name="矩形 5">
            <a:extLst>
              <a:ext uri="{FF2B5EF4-FFF2-40B4-BE49-F238E27FC236}">
                <a16:creationId xmlns:a16="http://schemas.microsoft.com/office/drawing/2014/main" id="{07EEDCBE-416C-4306-A1FE-1C391841491A}"/>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35844" name="Text Box 2">
            <a:extLst>
              <a:ext uri="{FF2B5EF4-FFF2-40B4-BE49-F238E27FC236}">
                <a16:creationId xmlns:a16="http://schemas.microsoft.com/office/drawing/2014/main" id="{585C264B-F92F-4FB4-8578-A9E74423D23D}"/>
              </a:ext>
            </a:extLst>
          </p:cNvPr>
          <p:cNvSpPr txBox="1">
            <a:spLocks noChangeArrowheads="1"/>
          </p:cNvSpPr>
          <p:nvPr/>
        </p:nvSpPr>
        <p:spPr bwMode="auto">
          <a:xfrm>
            <a:off x="157163" y="196850"/>
            <a:ext cx="8015287"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3 </a:t>
            </a:r>
            <a:r>
              <a:rPr kumimoji="1" lang="zh-CN" altLang="en-US" sz="2800" b="1">
                <a:solidFill>
                  <a:srgbClr val="C00000"/>
                </a:solidFill>
                <a:latin typeface="微软雅黑" panose="020B0503020204020204" pitchFamily="34" charset="-122"/>
                <a:ea typeface="微软雅黑" panose="020B0503020204020204" pitchFamily="34" charset="-122"/>
              </a:rPr>
              <a:t>测量电路</a:t>
            </a:r>
            <a:r>
              <a:rPr kumimoji="1" lang="en-US" altLang="zh-CN" sz="2800" b="1">
                <a:solidFill>
                  <a:srgbClr val="C00000"/>
                </a:solidFill>
                <a:latin typeface="微软雅黑" panose="020B0503020204020204" pitchFamily="34" charset="-122"/>
                <a:ea typeface="微软雅黑" panose="020B0503020204020204" pitchFamily="34" charset="-122"/>
              </a:rPr>
              <a:t>——1</a:t>
            </a:r>
            <a:r>
              <a:rPr kumimoji="1" lang="zh-CN" altLang="en-US" sz="2800" b="1">
                <a:solidFill>
                  <a:srgbClr val="C00000"/>
                </a:solidFill>
                <a:latin typeface="微软雅黑" panose="020B0503020204020204" pitchFamily="34" charset="-122"/>
                <a:ea typeface="微软雅黑" panose="020B0503020204020204" pitchFamily="34" charset="-122"/>
              </a:rPr>
              <a:t>）运算法</a:t>
            </a:r>
          </a:p>
        </p:txBody>
      </p:sp>
      <p:grpSp>
        <p:nvGrpSpPr>
          <p:cNvPr id="35845" name="组合 4">
            <a:extLst>
              <a:ext uri="{FF2B5EF4-FFF2-40B4-BE49-F238E27FC236}">
                <a16:creationId xmlns:a16="http://schemas.microsoft.com/office/drawing/2014/main" id="{1B9D5B7E-C3C5-4858-8F66-FFA1AB6A6D12}"/>
              </a:ext>
            </a:extLst>
          </p:cNvPr>
          <p:cNvGrpSpPr>
            <a:grpSpLocks/>
          </p:cNvGrpSpPr>
          <p:nvPr/>
        </p:nvGrpSpPr>
        <p:grpSpPr bwMode="auto">
          <a:xfrm>
            <a:off x="619125" y="1428750"/>
            <a:ext cx="3544888" cy="2149475"/>
            <a:chOff x="5702300" y="1590675"/>
            <a:chExt cx="2706688" cy="1744663"/>
          </a:xfrm>
        </p:grpSpPr>
        <p:grpSp>
          <p:nvGrpSpPr>
            <p:cNvPr id="35859" name="Group 19">
              <a:extLst>
                <a:ext uri="{FF2B5EF4-FFF2-40B4-BE49-F238E27FC236}">
                  <a16:creationId xmlns:a16="http://schemas.microsoft.com/office/drawing/2014/main" id="{915E5EE8-52C4-4BC6-AC02-B19806003CAA}"/>
                </a:ext>
              </a:extLst>
            </p:cNvPr>
            <p:cNvGrpSpPr>
              <a:grpSpLocks/>
            </p:cNvGrpSpPr>
            <p:nvPr/>
          </p:nvGrpSpPr>
          <p:grpSpPr bwMode="auto">
            <a:xfrm>
              <a:off x="7331075" y="1603375"/>
              <a:ext cx="98425" cy="287338"/>
              <a:chOff x="8169" y="12702"/>
              <a:chExt cx="105" cy="255"/>
            </a:xfrm>
          </p:grpSpPr>
          <p:sp>
            <p:nvSpPr>
              <p:cNvPr id="35887" name="Line 20">
                <a:extLst>
                  <a:ext uri="{FF2B5EF4-FFF2-40B4-BE49-F238E27FC236}">
                    <a16:creationId xmlns:a16="http://schemas.microsoft.com/office/drawing/2014/main" id="{AF1BFF99-D3D0-4431-BD33-7BA9397C2BB2}"/>
                  </a:ext>
                </a:extLst>
              </p:cNvPr>
              <p:cNvSpPr>
                <a:spLocks noChangeShapeType="1"/>
              </p:cNvSpPr>
              <p:nvPr/>
            </p:nvSpPr>
            <p:spPr bwMode="auto">
              <a:xfrm>
                <a:off x="8169" y="12702"/>
                <a:ext cx="0" cy="2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5888" name="Line 21">
                <a:extLst>
                  <a:ext uri="{FF2B5EF4-FFF2-40B4-BE49-F238E27FC236}">
                    <a16:creationId xmlns:a16="http://schemas.microsoft.com/office/drawing/2014/main" id="{F1CE466E-54B3-4A90-B1DB-0B62F2150381}"/>
                  </a:ext>
                </a:extLst>
              </p:cNvPr>
              <p:cNvSpPr>
                <a:spLocks noChangeShapeType="1"/>
              </p:cNvSpPr>
              <p:nvPr/>
            </p:nvSpPr>
            <p:spPr bwMode="auto">
              <a:xfrm>
                <a:off x="8274" y="12702"/>
                <a:ext cx="0" cy="2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grpSp>
        <p:sp>
          <p:nvSpPr>
            <p:cNvPr id="35860" name="Line 22">
              <a:extLst>
                <a:ext uri="{FF2B5EF4-FFF2-40B4-BE49-F238E27FC236}">
                  <a16:creationId xmlns:a16="http://schemas.microsoft.com/office/drawing/2014/main" id="{C76582DE-0ECE-4C15-A372-50C2ACC6B683}"/>
                </a:ext>
              </a:extLst>
            </p:cNvPr>
            <p:cNvSpPr>
              <a:spLocks noChangeShapeType="1"/>
            </p:cNvSpPr>
            <p:nvPr/>
          </p:nvSpPr>
          <p:spPr bwMode="auto">
            <a:xfrm>
              <a:off x="7723188" y="2632075"/>
              <a:ext cx="48895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5861" name="Freeform 23">
              <a:extLst>
                <a:ext uri="{FF2B5EF4-FFF2-40B4-BE49-F238E27FC236}">
                  <a16:creationId xmlns:a16="http://schemas.microsoft.com/office/drawing/2014/main" id="{3E240747-BF1C-4056-83AA-145B1F25719D}"/>
                </a:ext>
              </a:extLst>
            </p:cNvPr>
            <p:cNvSpPr>
              <a:spLocks/>
            </p:cNvSpPr>
            <p:nvPr/>
          </p:nvSpPr>
          <p:spPr bwMode="auto">
            <a:xfrm>
              <a:off x="7429500" y="1752600"/>
              <a:ext cx="488950" cy="879475"/>
            </a:xfrm>
            <a:custGeom>
              <a:avLst/>
              <a:gdLst>
                <a:gd name="T0" fmla="*/ 0 w 525"/>
                <a:gd name="T1" fmla="*/ 0 h 780"/>
                <a:gd name="T2" fmla="*/ 2147483646 w 525"/>
                <a:gd name="T3" fmla="*/ 0 h 780"/>
                <a:gd name="T4" fmla="*/ 2147483646 w 525"/>
                <a:gd name="T5" fmla="*/ 2147483646 h 780"/>
                <a:gd name="T6" fmla="*/ 0 60000 65536"/>
                <a:gd name="T7" fmla="*/ 0 60000 65536"/>
                <a:gd name="T8" fmla="*/ 0 60000 65536"/>
              </a:gdLst>
              <a:ahLst/>
              <a:cxnLst>
                <a:cxn ang="T6">
                  <a:pos x="T0" y="T1"/>
                </a:cxn>
                <a:cxn ang="T7">
                  <a:pos x="T2" y="T3"/>
                </a:cxn>
                <a:cxn ang="T8">
                  <a:pos x="T4" y="T5"/>
                </a:cxn>
              </a:cxnLst>
              <a:rect l="0" t="0" r="r" b="b"/>
              <a:pathLst>
                <a:path w="525" h="780">
                  <a:moveTo>
                    <a:pt x="0" y="0"/>
                  </a:moveTo>
                  <a:lnTo>
                    <a:pt x="525" y="0"/>
                  </a:lnTo>
                  <a:lnTo>
                    <a:pt x="525" y="78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grpSp>
          <p:nvGrpSpPr>
            <p:cNvPr id="35862" name="Group 24">
              <a:extLst>
                <a:ext uri="{FF2B5EF4-FFF2-40B4-BE49-F238E27FC236}">
                  <a16:creationId xmlns:a16="http://schemas.microsoft.com/office/drawing/2014/main" id="{6D92525F-3E84-48F1-940F-B6D0A9F17686}"/>
                </a:ext>
              </a:extLst>
            </p:cNvPr>
            <p:cNvGrpSpPr>
              <a:grpSpLocks/>
            </p:cNvGrpSpPr>
            <p:nvPr/>
          </p:nvGrpSpPr>
          <p:grpSpPr bwMode="auto">
            <a:xfrm>
              <a:off x="6253163" y="2212975"/>
              <a:ext cx="98425" cy="285750"/>
              <a:chOff x="8169" y="12702"/>
              <a:chExt cx="105" cy="255"/>
            </a:xfrm>
          </p:grpSpPr>
          <p:sp>
            <p:nvSpPr>
              <p:cNvPr id="35885" name="Line 25">
                <a:extLst>
                  <a:ext uri="{FF2B5EF4-FFF2-40B4-BE49-F238E27FC236}">
                    <a16:creationId xmlns:a16="http://schemas.microsoft.com/office/drawing/2014/main" id="{6315E7AE-8378-4550-8BB4-CFBE674D3FA6}"/>
                  </a:ext>
                </a:extLst>
              </p:cNvPr>
              <p:cNvSpPr>
                <a:spLocks noChangeShapeType="1"/>
              </p:cNvSpPr>
              <p:nvPr/>
            </p:nvSpPr>
            <p:spPr bwMode="auto">
              <a:xfrm>
                <a:off x="8169" y="12702"/>
                <a:ext cx="0" cy="2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5886" name="Line 26">
                <a:extLst>
                  <a:ext uri="{FF2B5EF4-FFF2-40B4-BE49-F238E27FC236}">
                    <a16:creationId xmlns:a16="http://schemas.microsoft.com/office/drawing/2014/main" id="{1A863666-A980-44C2-93E0-0CD95BEE6AD4}"/>
                  </a:ext>
                </a:extLst>
              </p:cNvPr>
              <p:cNvSpPr>
                <a:spLocks noChangeShapeType="1"/>
              </p:cNvSpPr>
              <p:nvPr/>
            </p:nvSpPr>
            <p:spPr bwMode="auto">
              <a:xfrm>
                <a:off x="8274" y="12702"/>
                <a:ext cx="0" cy="2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grpSp>
        <p:sp>
          <p:nvSpPr>
            <p:cNvPr id="35863" name="Line 27">
              <a:extLst>
                <a:ext uri="{FF2B5EF4-FFF2-40B4-BE49-F238E27FC236}">
                  <a16:creationId xmlns:a16="http://schemas.microsoft.com/office/drawing/2014/main" id="{8CAAA058-2707-4108-81C3-DD15B021F0E8}"/>
                </a:ext>
              </a:extLst>
            </p:cNvPr>
            <p:cNvSpPr>
              <a:spLocks noChangeShapeType="1"/>
            </p:cNvSpPr>
            <p:nvPr/>
          </p:nvSpPr>
          <p:spPr bwMode="auto">
            <a:xfrm>
              <a:off x="6351588" y="2355850"/>
              <a:ext cx="58737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5864" name="Freeform 28">
              <a:extLst>
                <a:ext uri="{FF2B5EF4-FFF2-40B4-BE49-F238E27FC236}">
                  <a16:creationId xmlns:a16="http://schemas.microsoft.com/office/drawing/2014/main" id="{9C6B449E-7367-48A9-B723-1A41DB1E6A34}"/>
                </a:ext>
              </a:extLst>
            </p:cNvPr>
            <p:cNvSpPr>
              <a:spLocks/>
            </p:cNvSpPr>
            <p:nvPr/>
          </p:nvSpPr>
          <p:spPr bwMode="auto">
            <a:xfrm>
              <a:off x="6645275" y="1752600"/>
              <a:ext cx="685800" cy="611188"/>
            </a:xfrm>
            <a:custGeom>
              <a:avLst/>
              <a:gdLst>
                <a:gd name="T0" fmla="*/ 2147483646 w 735"/>
                <a:gd name="T1" fmla="*/ 0 h 468"/>
                <a:gd name="T2" fmla="*/ 0 w 735"/>
                <a:gd name="T3" fmla="*/ 0 h 468"/>
                <a:gd name="T4" fmla="*/ 0 w 735"/>
                <a:gd name="T5" fmla="*/ 2147483646 h 468"/>
                <a:gd name="T6" fmla="*/ 0 60000 65536"/>
                <a:gd name="T7" fmla="*/ 0 60000 65536"/>
                <a:gd name="T8" fmla="*/ 0 60000 65536"/>
              </a:gdLst>
              <a:ahLst/>
              <a:cxnLst>
                <a:cxn ang="T6">
                  <a:pos x="T0" y="T1"/>
                </a:cxn>
                <a:cxn ang="T7">
                  <a:pos x="T2" y="T3"/>
                </a:cxn>
                <a:cxn ang="T8">
                  <a:pos x="T4" y="T5"/>
                </a:cxn>
              </a:cxnLst>
              <a:rect l="0" t="0" r="r" b="b"/>
              <a:pathLst>
                <a:path w="735" h="468">
                  <a:moveTo>
                    <a:pt x="735" y="0"/>
                  </a:moveTo>
                  <a:lnTo>
                    <a:pt x="0" y="0"/>
                  </a:lnTo>
                  <a:lnTo>
                    <a:pt x="0" y="468"/>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5865" name="Line 29">
              <a:extLst>
                <a:ext uri="{FF2B5EF4-FFF2-40B4-BE49-F238E27FC236}">
                  <a16:creationId xmlns:a16="http://schemas.microsoft.com/office/drawing/2014/main" id="{A829D387-1717-4161-B101-FC2BDF8DC769}"/>
                </a:ext>
              </a:extLst>
            </p:cNvPr>
            <p:cNvSpPr>
              <a:spLocks noChangeShapeType="1"/>
            </p:cNvSpPr>
            <p:nvPr/>
          </p:nvSpPr>
          <p:spPr bwMode="auto">
            <a:xfrm flipH="1">
              <a:off x="5861050" y="2360613"/>
              <a:ext cx="392113"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5866" name="Oval 30">
              <a:extLst>
                <a:ext uri="{FF2B5EF4-FFF2-40B4-BE49-F238E27FC236}">
                  <a16:creationId xmlns:a16="http://schemas.microsoft.com/office/drawing/2014/main" id="{01DA836D-8318-444D-A325-E8A541076CAD}"/>
                </a:ext>
              </a:extLst>
            </p:cNvPr>
            <p:cNvSpPr>
              <a:spLocks noChangeAspect="1" noChangeArrowheads="1"/>
            </p:cNvSpPr>
            <p:nvPr/>
          </p:nvSpPr>
          <p:spPr bwMode="auto">
            <a:xfrm>
              <a:off x="5778500" y="2316163"/>
              <a:ext cx="73025" cy="90487"/>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5867" name="Oval 31">
              <a:extLst>
                <a:ext uri="{FF2B5EF4-FFF2-40B4-BE49-F238E27FC236}">
                  <a16:creationId xmlns:a16="http://schemas.microsoft.com/office/drawing/2014/main" id="{1A2EF238-0F44-4F46-87D8-A061D8DBDBD0}"/>
                </a:ext>
              </a:extLst>
            </p:cNvPr>
            <p:cNvSpPr>
              <a:spLocks noChangeAspect="1" noChangeArrowheads="1"/>
            </p:cNvSpPr>
            <p:nvPr/>
          </p:nvSpPr>
          <p:spPr bwMode="auto">
            <a:xfrm>
              <a:off x="5772150" y="2894013"/>
              <a:ext cx="74613" cy="88900"/>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5868" name="Oval 32">
              <a:extLst>
                <a:ext uri="{FF2B5EF4-FFF2-40B4-BE49-F238E27FC236}">
                  <a16:creationId xmlns:a16="http://schemas.microsoft.com/office/drawing/2014/main" id="{C8B4A199-96A5-4A6A-9CC3-6A6E65B8CD35}"/>
                </a:ext>
              </a:extLst>
            </p:cNvPr>
            <p:cNvSpPr>
              <a:spLocks noChangeAspect="1" noChangeArrowheads="1"/>
            </p:cNvSpPr>
            <p:nvPr/>
          </p:nvSpPr>
          <p:spPr bwMode="auto">
            <a:xfrm>
              <a:off x="8212138" y="2589213"/>
              <a:ext cx="74612" cy="88900"/>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5869" name="Line 33">
              <a:extLst>
                <a:ext uri="{FF2B5EF4-FFF2-40B4-BE49-F238E27FC236}">
                  <a16:creationId xmlns:a16="http://schemas.microsoft.com/office/drawing/2014/main" id="{07623682-D948-49BB-975E-2733038ED5F3}"/>
                </a:ext>
              </a:extLst>
            </p:cNvPr>
            <p:cNvSpPr>
              <a:spLocks noChangeShapeType="1"/>
            </p:cNvSpPr>
            <p:nvPr/>
          </p:nvSpPr>
          <p:spPr bwMode="auto">
            <a:xfrm>
              <a:off x="5808663" y="2982913"/>
              <a:ext cx="0" cy="35242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5870" name="Line 34">
              <a:extLst>
                <a:ext uri="{FF2B5EF4-FFF2-40B4-BE49-F238E27FC236}">
                  <a16:creationId xmlns:a16="http://schemas.microsoft.com/office/drawing/2014/main" id="{7D11735A-6078-4EB8-B338-6888A69E5083}"/>
                </a:ext>
              </a:extLst>
            </p:cNvPr>
            <p:cNvSpPr>
              <a:spLocks noChangeShapeType="1"/>
            </p:cNvSpPr>
            <p:nvPr/>
          </p:nvSpPr>
          <p:spPr bwMode="auto">
            <a:xfrm>
              <a:off x="5702300" y="3335338"/>
              <a:ext cx="19685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grpSp>
          <p:nvGrpSpPr>
            <p:cNvPr id="35871" name="Group 49">
              <a:extLst>
                <a:ext uri="{FF2B5EF4-FFF2-40B4-BE49-F238E27FC236}">
                  <a16:creationId xmlns:a16="http://schemas.microsoft.com/office/drawing/2014/main" id="{CF7FAC76-B38D-474A-ACA2-9A0757016417}"/>
                </a:ext>
              </a:extLst>
            </p:cNvPr>
            <p:cNvGrpSpPr>
              <a:grpSpLocks/>
            </p:cNvGrpSpPr>
            <p:nvPr/>
          </p:nvGrpSpPr>
          <p:grpSpPr bwMode="auto">
            <a:xfrm>
              <a:off x="6645275" y="2112963"/>
              <a:ext cx="1069975" cy="1222375"/>
              <a:chOff x="4186" y="1331"/>
              <a:chExt cx="674" cy="770"/>
            </a:xfrm>
          </p:grpSpPr>
          <p:sp>
            <p:nvSpPr>
              <p:cNvPr id="35879" name="AutoShape 15">
                <a:extLst>
                  <a:ext uri="{FF2B5EF4-FFF2-40B4-BE49-F238E27FC236}">
                    <a16:creationId xmlns:a16="http://schemas.microsoft.com/office/drawing/2014/main" id="{5A3E31AF-2732-4DFB-80DB-0FE53B942110}"/>
                  </a:ext>
                </a:extLst>
              </p:cNvPr>
              <p:cNvSpPr>
                <a:spLocks noChangeArrowheads="1"/>
              </p:cNvSpPr>
              <p:nvPr/>
            </p:nvSpPr>
            <p:spPr bwMode="auto">
              <a:xfrm rot="16200000" flipV="1">
                <a:off x="4299" y="1403"/>
                <a:ext cx="634" cy="489"/>
              </a:xfrm>
              <a:prstGeom prst="triangle">
                <a:avLst>
                  <a:gd name="adj" fmla="val 50000"/>
                </a:avLst>
              </a:prstGeom>
              <a:noFill/>
              <a:ln w="190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5880" name="Line 16">
                <a:extLst>
                  <a:ext uri="{FF2B5EF4-FFF2-40B4-BE49-F238E27FC236}">
                    <a16:creationId xmlns:a16="http://schemas.microsoft.com/office/drawing/2014/main" id="{C0C0267C-2BA9-4EAE-A4F7-0BAA13E39EE8}"/>
                  </a:ext>
                </a:extLst>
              </p:cNvPr>
              <p:cNvSpPr>
                <a:spLocks noChangeShapeType="1"/>
              </p:cNvSpPr>
              <p:nvPr/>
            </p:nvSpPr>
            <p:spPr bwMode="auto">
              <a:xfrm flipV="1">
                <a:off x="4405" y="1487"/>
                <a:ext cx="61"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5881" name="AutoShape 17">
                <a:extLst>
                  <a:ext uri="{FF2B5EF4-FFF2-40B4-BE49-F238E27FC236}">
                    <a16:creationId xmlns:a16="http://schemas.microsoft.com/office/drawing/2014/main" id="{1A689C9C-FCC0-4AA6-ACF1-3435BA42173A}"/>
                  </a:ext>
                </a:extLst>
              </p:cNvPr>
              <p:cNvSpPr>
                <a:spLocks noChangeAspect="1" noChangeArrowheads="1"/>
              </p:cNvSpPr>
              <p:nvPr/>
            </p:nvSpPr>
            <p:spPr bwMode="auto">
              <a:xfrm flipV="1">
                <a:off x="4400" y="1763"/>
                <a:ext cx="66" cy="81"/>
              </a:xfrm>
              <a:prstGeom prst="plus">
                <a:avLst>
                  <a:gd name="adj" fmla="val 50000"/>
                </a:avLst>
              </a:prstGeom>
              <a:noFill/>
              <a:ln w="190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5882" name="Text Box 18">
                <a:extLst>
                  <a:ext uri="{FF2B5EF4-FFF2-40B4-BE49-F238E27FC236}">
                    <a16:creationId xmlns:a16="http://schemas.microsoft.com/office/drawing/2014/main" id="{4D4A2917-013C-40C4-837C-27C60A219BAF}"/>
                  </a:ext>
                </a:extLst>
              </p:cNvPr>
              <p:cNvSpPr txBox="1">
                <a:spLocks noChangeArrowheads="1"/>
              </p:cNvSpPr>
              <p:nvPr/>
            </p:nvSpPr>
            <p:spPr bwMode="auto">
              <a:xfrm>
                <a:off x="4442" y="1543"/>
                <a:ext cx="185"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a:latin typeface="宋体" panose="02010600030101010101" pitchFamily="2" charset="-122"/>
                  </a:rPr>
                  <a:t>-</a:t>
                </a:r>
                <a:r>
                  <a:rPr kumimoji="1" lang="en-US" altLang="zh-CN" sz="1400" b="1" i="1">
                    <a:latin typeface="Times New Roman" panose="02020603050405020304" pitchFamily="18" charset="0"/>
                  </a:rPr>
                  <a:t>K</a:t>
                </a:r>
                <a:endParaRPr kumimoji="1" lang="en-US" altLang="zh-CN" sz="1400" b="1" baseline="-25000">
                  <a:latin typeface="Times New Roman" panose="02020603050405020304" pitchFamily="18" charset="0"/>
                </a:endParaRPr>
              </a:p>
            </p:txBody>
          </p:sp>
          <p:sp>
            <p:nvSpPr>
              <p:cNvPr id="35883" name="Line 35">
                <a:extLst>
                  <a:ext uri="{FF2B5EF4-FFF2-40B4-BE49-F238E27FC236}">
                    <a16:creationId xmlns:a16="http://schemas.microsoft.com/office/drawing/2014/main" id="{DE7F59AD-3BCA-475E-A45A-0F8A2EC901A1}"/>
                  </a:ext>
                </a:extLst>
              </p:cNvPr>
              <p:cNvSpPr>
                <a:spLocks noChangeShapeType="1"/>
              </p:cNvSpPr>
              <p:nvPr/>
            </p:nvSpPr>
            <p:spPr bwMode="auto">
              <a:xfrm>
                <a:off x="4186" y="2101"/>
                <a:ext cx="123"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5884" name="Freeform 36">
                <a:extLst>
                  <a:ext uri="{FF2B5EF4-FFF2-40B4-BE49-F238E27FC236}">
                    <a16:creationId xmlns:a16="http://schemas.microsoft.com/office/drawing/2014/main" id="{A0032770-C301-49EB-87AE-680D55A261B2}"/>
                  </a:ext>
                </a:extLst>
              </p:cNvPr>
              <p:cNvSpPr>
                <a:spLocks/>
              </p:cNvSpPr>
              <p:nvPr/>
            </p:nvSpPr>
            <p:spPr bwMode="auto">
              <a:xfrm>
                <a:off x="4247" y="1807"/>
                <a:ext cx="124" cy="294"/>
              </a:xfrm>
              <a:custGeom>
                <a:avLst/>
                <a:gdLst>
                  <a:gd name="T0" fmla="*/ 0 w 210"/>
                  <a:gd name="T1" fmla="*/ 1 h 468"/>
                  <a:gd name="T2" fmla="*/ 0 w 210"/>
                  <a:gd name="T3" fmla="*/ 0 h 468"/>
                  <a:gd name="T4" fmla="*/ 1 w 210"/>
                  <a:gd name="T5" fmla="*/ 0 h 468"/>
                  <a:gd name="T6" fmla="*/ 0 60000 65536"/>
                  <a:gd name="T7" fmla="*/ 0 60000 65536"/>
                  <a:gd name="T8" fmla="*/ 0 60000 65536"/>
                </a:gdLst>
                <a:ahLst/>
                <a:cxnLst>
                  <a:cxn ang="T6">
                    <a:pos x="T0" y="T1"/>
                  </a:cxn>
                  <a:cxn ang="T7">
                    <a:pos x="T2" y="T3"/>
                  </a:cxn>
                  <a:cxn ang="T8">
                    <a:pos x="T4" y="T5"/>
                  </a:cxn>
                </a:cxnLst>
                <a:rect l="0" t="0" r="r" b="b"/>
                <a:pathLst>
                  <a:path w="210" h="468">
                    <a:moveTo>
                      <a:pt x="0" y="468"/>
                    </a:moveTo>
                    <a:lnTo>
                      <a:pt x="0" y="0"/>
                    </a:lnTo>
                    <a:lnTo>
                      <a:pt x="210"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grpSp>
        <p:sp>
          <p:nvSpPr>
            <p:cNvPr id="35872" name="Text Box 37">
              <a:extLst>
                <a:ext uri="{FF2B5EF4-FFF2-40B4-BE49-F238E27FC236}">
                  <a16:creationId xmlns:a16="http://schemas.microsoft.com/office/drawing/2014/main" id="{791FEA04-2D8C-4E3E-8C6A-E686D327D0B1}"/>
                </a:ext>
              </a:extLst>
            </p:cNvPr>
            <p:cNvSpPr txBox="1">
              <a:spLocks noChangeArrowheads="1"/>
            </p:cNvSpPr>
            <p:nvPr/>
          </p:nvSpPr>
          <p:spPr bwMode="auto">
            <a:xfrm>
              <a:off x="7459663" y="1733550"/>
              <a:ext cx="1968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0"/>
                </a:spcBef>
                <a:buFontTx/>
                <a:buNone/>
              </a:pPr>
              <a:r>
                <a:rPr kumimoji="1" lang="en-US" altLang="zh-CN" sz="1400" b="1" i="1">
                  <a:latin typeface="Times New Roman" panose="02020603050405020304" pitchFamily="18" charset="0"/>
                </a:rPr>
                <a:t>C</a:t>
              </a:r>
              <a:endParaRPr kumimoji="1" lang="en-US" altLang="zh-CN" sz="1400" b="1" baseline="-25000">
                <a:latin typeface="Times New Roman" panose="02020603050405020304" pitchFamily="18" charset="0"/>
              </a:endParaRPr>
            </a:p>
          </p:txBody>
        </p:sp>
        <p:graphicFrame>
          <p:nvGraphicFramePr>
            <p:cNvPr id="35873" name="Object 38">
              <a:extLst>
                <a:ext uri="{FF2B5EF4-FFF2-40B4-BE49-F238E27FC236}">
                  <a16:creationId xmlns:a16="http://schemas.microsoft.com/office/drawing/2014/main" id="{6F83A940-A3C8-42BE-B548-962CB250934E}"/>
                </a:ext>
              </a:extLst>
            </p:cNvPr>
            <p:cNvGraphicFramePr>
              <a:graphicFrameLocks noChangeAspect="1"/>
            </p:cNvGraphicFramePr>
            <p:nvPr/>
          </p:nvGraphicFramePr>
          <p:xfrm>
            <a:off x="7462314" y="1590675"/>
            <a:ext cx="341744" cy="424147"/>
          </p:xfrm>
          <a:graphic>
            <a:graphicData uri="http://schemas.openxmlformats.org/presentationml/2006/ole">
              <mc:AlternateContent xmlns:mc="http://schemas.openxmlformats.org/markup-compatibility/2006">
                <mc:Choice xmlns:v="urn:schemas-microsoft-com:vml" Requires="v">
                  <p:oleObj spid="_x0000_s36159" name="公式" r:id="rId4" imgW="101556" imgH="228501" progId="Equation.3">
                    <p:embed/>
                  </p:oleObj>
                </mc:Choice>
                <mc:Fallback>
                  <p:oleObj name="公式" r:id="rId4" imgW="101556" imgH="228501" progId="Equation.3">
                    <p:embed/>
                    <p:pic>
                      <p:nvPicPr>
                        <p:cNvPr id="0" name="Object 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2314" y="1590675"/>
                          <a:ext cx="341744" cy="424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74" name="Text Box 39">
              <a:extLst>
                <a:ext uri="{FF2B5EF4-FFF2-40B4-BE49-F238E27FC236}">
                  <a16:creationId xmlns:a16="http://schemas.microsoft.com/office/drawing/2014/main" id="{7C6C316D-EFB3-4290-A291-06EB084FEF5E}"/>
                </a:ext>
              </a:extLst>
            </p:cNvPr>
            <p:cNvSpPr txBox="1">
              <a:spLocks noChangeArrowheads="1"/>
            </p:cNvSpPr>
            <p:nvPr/>
          </p:nvSpPr>
          <p:spPr bwMode="auto">
            <a:xfrm>
              <a:off x="6218239" y="1948657"/>
              <a:ext cx="293687" cy="528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0"/>
                </a:spcBef>
                <a:buFontTx/>
                <a:buNone/>
              </a:pPr>
              <a:r>
                <a:rPr kumimoji="1" lang="en-US" altLang="zh-CN" sz="1400" b="1" i="1">
                  <a:latin typeface="Times New Roman" panose="02020603050405020304" pitchFamily="18" charset="0"/>
                </a:rPr>
                <a:t>C</a:t>
              </a:r>
              <a:r>
                <a:rPr kumimoji="1" lang="en-US" altLang="zh-CN" sz="1400" b="1" baseline="-25000">
                  <a:latin typeface="宋体" panose="02010600030101010101" pitchFamily="2" charset="-122"/>
                </a:rPr>
                <a:t>0</a:t>
              </a:r>
              <a:endParaRPr kumimoji="1" lang="en-US" altLang="zh-CN" sz="1200" b="1" baseline="-25000">
                <a:latin typeface="宋体" panose="02010600030101010101" pitchFamily="2" charset="-122"/>
              </a:endParaRPr>
            </a:p>
          </p:txBody>
        </p:sp>
        <p:sp>
          <p:nvSpPr>
            <p:cNvPr id="35875" name="Text Box 40">
              <a:extLst>
                <a:ext uri="{FF2B5EF4-FFF2-40B4-BE49-F238E27FC236}">
                  <a16:creationId xmlns:a16="http://schemas.microsoft.com/office/drawing/2014/main" id="{B4453FB5-5EE9-4182-9B4F-C361172319EF}"/>
                </a:ext>
              </a:extLst>
            </p:cNvPr>
            <p:cNvSpPr txBox="1">
              <a:spLocks noChangeArrowheads="1"/>
            </p:cNvSpPr>
            <p:nvPr/>
          </p:nvSpPr>
          <p:spPr bwMode="auto">
            <a:xfrm>
              <a:off x="8115300" y="2103438"/>
              <a:ext cx="293688" cy="528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0"/>
                </a:spcBef>
                <a:buFontTx/>
                <a:buNone/>
              </a:pPr>
              <a:r>
                <a:rPr kumimoji="1" lang="en-US" altLang="zh-CN" sz="1400" b="1" i="1">
                  <a:latin typeface="Times New Roman" panose="02020603050405020304" pitchFamily="18" charset="0"/>
                </a:rPr>
                <a:t>U</a:t>
              </a:r>
              <a:r>
                <a:rPr kumimoji="1" lang="en-US" altLang="zh-CN" sz="1400" b="1" baseline="-25000">
                  <a:latin typeface="宋体" panose="02010600030101010101" pitchFamily="2" charset="-122"/>
                </a:rPr>
                <a:t>0</a:t>
              </a:r>
              <a:endParaRPr kumimoji="1" lang="en-US" altLang="zh-CN" sz="1200" b="1" baseline="-25000">
                <a:latin typeface="宋体" panose="02010600030101010101" pitchFamily="2" charset="-122"/>
              </a:endParaRPr>
            </a:p>
          </p:txBody>
        </p:sp>
        <p:sp>
          <p:nvSpPr>
            <p:cNvPr id="35876" name="Text Box 41">
              <a:extLst>
                <a:ext uri="{FF2B5EF4-FFF2-40B4-BE49-F238E27FC236}">
                  <a16:creationId xmlns:a16="http://schemas.microsoft.com/office/drawing/2014/main" id="{F8F27945-5CD4-4FA9-806F-D0828786A747}"/>
                </a:ext>
              </a:extLst>
            </p:cNvPr>
            <p:cNvSpPr txBox="1">
              <a:spLocks noChangeArrowheads="1"/>
            </p:cNvSpPr>
            <p:nvPr/>
          </p:nvSpPr>
          <p:spPr bwMode="auto">
            <a:xfrm>
              <a:off x="5710238" y="2409825"/>
              <a:ext cx="293687"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0"/>
                </a:spcBef>
                <a:buFontTx/>
                <a:buNone/>
              </a:pPr>
              <a:r>
                <a:rPr kumimoji="1" lang="en-US" altLang="zh-CN" sz="1400" b="1" i="1">
                  <a:latin typeface="Times New Roman" panose="02020603050405020304" pitchFamily="18" charset="0"/>
                </a:rPr>
                <a:t>U</a:t>
              </a:r>
              <a:endParaRPr kumimoji="1" lang="en-US" altLang="zh-CN" sz="1400" b="1" baseline="-25000">
                <a:latin typeface="Times New Roman" panose="02020603050405020304" pitchFamily="18" charset="0"/>
              </a:endParaRPr>
            </a:p>
          </p:txBody>
        </p:sp>
        <p:graphicFrame>
          <p:nvGraphicFramePr>
            <p:cNvPr id="35877" name="Object 42">
              <a:extLst>
                <a:ext uri="{FF2B5EF4-FFF2-40B4-BE49-F238E27FC236}">
                  <a16:creationId xmlns:a16="http://schemas.microsoft.com/office/drawing/2014/main" id="{47943AEA-6AF1-4F5B-B951-A1BAED9E1A5E}"/>
                </a:ext>
              </a:extLst>
            </p:cNvPr>
            <p:cNvGraphicFramePr>
              <a:graphicFrameLocks noChangeAspect="1"/>
            </p:cNvGraphicFramePr>
            <p:nvPr/>
          </p:nvGraphicFramePr>
          <p:xfrm>
            <a:off x="5732387" y="2269890"/>
            <a:ext cx="214418" cy="432665"/>
          </p:xfrm>
          <a:graphic>
            <a:graphicData uri="http://schemas.openxmlformats.org/presentationml/2006/ole">
              <mc:AlternateContent xmlns:mc="http://schemas.openxmlformats.org/markup-compatibility/2006">
                <mc:Choice xmlns:v="urn:schemas-microsoft-com:vml" Requires="v">
                  <p:oleObj spid="_x0000_s36160" name="公式" r:id="rId6" imgW="76134" imgH="228402" progId="Equation.3">
                    <p:embed/>
                  </p:oleObj>
                </mc:Choice>
                <mc:Fallback>
                  <p:oleObj name="公式" r:id="rId6" imgW="76134" imgH="228402" progId="Equation.3">
                    <p:embed/>
                    <p:pic>
                      <p:nvPicPr>
                        <p:cNvPr id="0" name="Object 4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32387" y="2269890"/>
                          <a:ext cx="214418" cy="432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78" name="Text Box 44">
              <a:extLst>
                <a:ext uri="{FF2B5EF4-FFF2-40B4-BE49-F238E27FC236}">
                  <a16:creationId xmlns:a16="http://schemas.microsoft.com/office/drawing/2014/main" id="{3EC7DC4A-283E-4F91-939C-E443C7842DB4}"/>
                </a:ext>
              </a:extLst>
            </p:cNvPr>
            <p:cNvSpPr txBox="1">
              <a:spLocks noChangeArrowheads="1"/>
            </p:cNvSpPr>
            <p:nvPr/>
          </p:nvSpPr>
          <p:spPr bwMode="auto">
            <a:xfrm>
              <a:off x="6486525" y="2409825"/>
              <a:ext cx="293688"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600" b="1" i="1">
                  <a:latin typeface="Times New Roman" panose="02020603050405020304" pitchFamily="18" charset="0"/>
                </a:rPr>
                <a:t>a</a:t>
              </a:r>
              <a:endParaRPr kumimoji="1" lang="en-US" altLang="zh-CN" sz="1400" b="1" i="1">
                <a:latin typeface="Times New Roman" panose="02020603050405020304" pitchFamily="18" charset="0"/>
              </a:endParaRPr>
            </a:p>
          </p:txBody>
        </p:sp>
      </p:grpSp>
      <p:graphicFrame>
        <p:nvGraphicFramePr>
          <p:cNvPr id="35846" name="Object 45">
            <a:extLst>
              <a:ext uri="{FF2B5EF4-FFF2-40B4-BE49-F238E27FC236}">
                <a16:creationId xmlns:a16="http://schemas.microsoft.com/office/drawing/2014/main" id="{4AE0B6BF-F125-40F8-B72A-0DA974691214}"/>
              </a:ext>
            </a:extLst>
          </p:cNvPr>
          <p:cNvGraphicFramePr>
            <a:graphicFrameLocks noChangeAspect="1"/>
          </p:cNvGraphicFramePr>
          <p:nvPr/>
        </p:nvGraphicFramePr>
        <p:xfrm>
          <a:off x="4572000" y="1700213"/>
          <a:ext cx="4097338" cy="693737"/>
        </p:xfrm>
        <a:graphic>
          <a:graphicData uri="http://schemas.openxmlformats.org/presentationml/2006/ole">
            <mc:AlternateContent xmlns:mc="http://schemas.openxmlformats.org/markup-compatibility/2006">
              <mc:Choice xmlns:v="urn:schemas-microsoft-com:vml" Requires="v">
                <p:oleObj spid="_x0000_s36161" name="公式" r:id="rId8" imgW="2540000" imgH="431800" progId="Equation.3">
                  <p:embed/>
                </p:oleObj>
              </mc:Choice>
              <mc:Fallback>
                <p:oleObj name="公式" r:id="rId8" imgW="2540000" imgH="431800" progId="Equation.3">
                  <p:embed/>
                  <p:pic>
                    <p:nvPicPr>
                      <p:cNvPr id="0" name="Object 4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0" y="1700213"/>
                        <a:ext cx="4097338" cy="693737"/>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47" name="Text Box 46">
            <a:extLst>
              <a:ext uri="{FF2B5EF4-FFF2-40B4-BE49-F238E27FC236}">
                <a16:creationId xmlns:a16="http://schemas.microsoft.com/office/drawing/2014/main" id="{B2800375-7860-437C-92ED-3253AB9A090A}"/>
              </a:ext>
            </a:extLst>
          </p:cNvPr>
          <p:cNvSpPr txBox="1">
            <a:spLocks noChangeArrowheads="1"/>
          </p:cNvSpPr>
          <p:nvPr/>
        </p:nvSpPr>
        <p:spPr bwMode="auto">
          <a:xfrm>
            <a:off x="4348163" y="1069975"/>
            <a:ext cx="2311400"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zh-CN" altLang="en-US" sz="2000" b="1">
                <a:latin typeface="微软雅黑" panose="020B0503020204020204" pitchFamily="34" charset="-122"/>
                <a:ea typeface="微软雅黑" panose="020B0503020204020204" pitchFamily="34" charset="-122"/>
              </a:rPr>
              <a:t>反相比例放大器：</a:t>
            </a:r>
          </a:p>
        </p:txBody>
      </p:sp>
      <p:graphicFrame>
        <p:nvGraphicFramePr>
          <p:cNvPr id="35848" name="Object 47">
            <a:extLst>
              <a:ext uri="{FF2B5EF4-FFF2-40B4-BE49-F238E27FC236}">
                <a16:creationId xmlns:a16="http://schemas.microsoft.com/office/drawing/2014/main" id="{14AE3334-2733-40B6-8874-49D72AC74EF5}"/>
              </a:ext>
            </a:extLst>
          </p:cNvPr>
          <p:cNvGraphicFramePr>
            <a:graphicFrameLocks noChangeAspect="1"/>
          </p:cNvGraphicFramePr>
          <p:nvPr/>
        </p:nvGraphicFramePr>
        <p:xfrm>
          <a:off x="6888163" y="955675"/>
          <a:ext cx="1495425" cy="738188"/>
        </p:xfrm>
        <a:graphic>
          <a:graphicData uri="http://schemas.openxmlformats.org/presentationml/2006/ole">
            <mc:AlternateContent xmlns:mc="http://schemas.openxmlformats.org/markup-compatibility/2006">
              <mc:Choice xmlns:v="urn:schemas-microsoft-com:vml" Requires="v">
                <p:oleObj spid="_x0000_s36162" name="公式" r:id="rId10" imgW="927100" imgH="457200" progId="Equation.3">
                  <p:embed/>
                </p:oleObj>
              </mc:Choice>
              <mc:Fallback>
                <p:oleObj name="公式" r:id="rId10" imgW="927100" imgH="457200" progId="Equation.3">
                  <p:embed/>
                  <p:pic>
                    <p:nvPicPr>
                      <p:cNvPr id="0" name="Object 4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88163" y="955675"/>
                        <a:ext cx="1495425" cy="738188"/>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9" name="Object 48">
            <a:extLst>
              <a:ext uri="{FF2B5EF4-FFF2-40B4-BE49-F238E27FC236}">
                <a16:creationId xmlns:a16="http://schemas.microsoft.com/office/drawing/2014/main" id="{4611C18E-67CA-4222-9C4B-C5169241B963}"/>
              </a:ext>
            </a:extLst>
          </p:cNvPr>
          <p:cNvGraphicFramePr>
            <a:graphicFrameLocks noChangeAspect="1"/>
          </p:cNvGraphicFramePr>
          <p:nvPr/>
        </p:nvGraphicFramePr>
        <p:xfrm>
          <a:off x="4592638" y="2447925"/>
          <a:ext cx="1905000" cy="1550988"/>
        </p:xfrm>
        <a:graphic>
          <a:graphicData uri="http://schemas.openxmlformats.org/presentationml/2006/ole">
            <mc:AlternateContent xmlns:mc="http://schemas.openxmlformats.org/markup-compatibility/2006">
              <mc:Choice xmlns:v="urn:schemas-microsoft-com:vml" Requires="v">
                <p:oleObj spid="_x0000_s36163" name="公式" r:id="rId12" imgW="1028700" imgH="838200" progId="Equation.3">
                  <p:embed/>
                </p:oleObj>
              </mc:Choice>
              <mc:Fallback>
                <p:oleObj name="公式" r:id="rId12" imgW="1028700" imgH="838200" progId="Equation.3">
                  <p:embed/>
                  <p:pic>
                    <p:nvPicPr>
                      <p:cNvPr id="0" name="Object 4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92638" y="2447925"/>
                        <a:ext cx="1905000" cy="1550988"/>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50" name="矩形 1">
            <a:extLst>
              <a:ext uri="{FF2B5EF4-FFF2-40B4-BE49-F238E27FC236}">
                <a16:creationId xmlns:a16="http://schemas.microsoft.com/office/drawing/2014/main" id="{EB390F8E-7DAE-4598-BD7C-1B11D7002427}"/>
              </a:ext>
            </a:extLst>
          </p:cNvPr>
          <p:cNvSpPr>
            <a:spLocks noChangeArrowheads="1"/>
          </p:cNvSpPr>
          <p:nvPr/>
        </p:nvSpPr>
        <p:spPr bwMode="auto">
          <a:xfrm>
            <a:off x="4267200" y="4186238"/>
            <a:ext cx="4572000"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●由高频交流正弦波供电</a:t>
            </a: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●输出信号的相位由激励电源和待测信号两种因素的相位所决定；</a:t>
            </a: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●其频率与电源频率相同；</a:t>
            </a: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●大小不能反映方向；</a:t>
            </a:r>
          </a:p>
        </p:txBody>
      </p:sp>
      <p:pic>
        <p:nvPicPr>
          <p:cNvPr id="35851" name="Picture 14">
            <a:extLst>
              <a:ext uri="{FF2B5EF4-FFF2-40B4-BE49-F238E27FC236}">
                <a16:creationId xmlns:a16="http://schemas.microsoft.com/office/drawing/2014/main" id="{C891B637-B2D7-4325-BBA5-2256EC91940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44550" y="3738563"/>
            <a:ext cx="2781300"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2" name="文本框 2">
            <a:extLst>
              <a:ext uri="{FF2B5EF4-FFF2-40B4-BE49-F238E27FC236}">
                <a16:creationId xmlns:a16="http://schemas.microsoft.com/office/drawing/2014/main" id="{667522B2-55E1-4CA6-BF65-1A9372D509CF}"/>
              </a:ext>
            </a:extLst>
          </p:cNvPr>
          <p:cNvSpPr txBox="1">
            <a:spLocks noChangeArrowheads="1"/>
          </p:cNvSpPr>
          <p:nvPr/>
        </p:nvSpPr>
        <p:spPr bwMode="auto">
          <a:xfrm>
            <a:off x="249238" y="4016375"/>
            <a:ext cx="6111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i="1">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800" i="1">
                <a:solidFill>
                  <a:srgbClr val="FF0000"/>
                </a:solidFill>
                <a:latin typeface="Times New Roman" panose="02020603050405020304" pitchFamily="18" charset="0"/>
                <a:cs typeface="Times New Roman" panose="02020603050405020304" pitchFamily="18" charset="0"/>
                <a:sym typeface="Symbol" panose="05050102010706020507" pitchFamily="18" charset="2"/>
              </a:rPr>
              <a:t>C</a:t>
            </a:r>
            <a:endParaRPr lang="zh-CN" altLang="en-US" sz="1800" i="1">
              <a:solidFill>
                <a:srgbClr val="FF0000"/>
              </a:solidFill>
              <a:latin typeface="Times New Roman" panose="02020603050405020304" pitchFamily="18" charset="0"/>
              <a:cs typeface="Times New Roman" panose="02020603050405020304" pitchFamily="18" charset="0"/>
            </a:endParaRPr>
          </a:p>
        </p:txBody>
      </p:sp>
      <p:sp>
        <p:nvSpPr>
          <p:cNvPr id="35853" name="文本框 43">
            <a:extLst>
              <a:ext uri="{FF2B5EF4-FFF2-40B4-BE49-F238E27FC236}">
                <a16:creationId xmlns:a16="http://schemas.microsoft.com/office/drawing/2014/main" id="{C612B7FE-5095-4D58-8FD3-9C32654CE0E3}"/>
              </a:ext>
            </a:extLst>
          </p:cNvPr>
          <p:cNvSpPr txBox="1">
            <a:spLocks noChangeArrowheads="1"/>
          </p:cNvSpPr>
          <p:nvPr/>
        </p:nvSpPr>
        <p:spPr bwMode="auto">
          <a:xfrm>
            <a:off x="265113" y="5013325"/>
            <a:ext cx="6111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i="1">
                <a:solidFill>
                  <a:srgbClr val="FF0000"/>
                </a:solidFill>
                <a:latin typeface="Times New Roman" panose="02020603050405020304" pitchFamily="18" charset="0"/>
                <a:cs typeface="Times New Roman" panose="02020603050405020304" pitchFamily="18" charset="0"/>
              </a:rPr>
              <a:t>U</a:t>
            </a:r>
            <a:r>
              <a:rPr lang="en-US" altLang="zh-CN" sz="1600" i="1">
                <a:solidFill>
                  <a:srgbClr val="FF0000"/>
                </a:solidFill>
                <a:latin typeface="Times New Roman" panose="02020603050405020304" pitchFamily="18" charset="0"/>
                <a:cs typeface="Times New Roman" panose="02020603050405020304" pitchFamily="18" charset="0"/>
              </a:rPr>
              <a:t>i</a:t>
            </a:r>
            <a:endParaRPr lang="zh-CN" altLang="en-US" sz="1800" i="1">
              <a:solidFill>
                <a:srgbClr val="FF0000"/>
              </a:solidFill>
              <a:latin typeface="Times New Roman" panose="02020603050405020304" pitchFamily="18" charset="0"/>
              <a:cs typeface="Times New Roman" panose="02020603050405020304" pitchFamily="18" charset="0"/>
            </a:endParaRPr>
          </a:p>
        </p:txBody>
      </p:sp>
      <p:sp>
        <p:nvSpPr>
          <p:cNvPr id="35854" name="文本框 44">
            <a:extLst>
              <a:ext uri="{FF2B5EF4-FFF2-40B4-BE49-F238E27FC236}">
                <a16:creationId xmlns:a16="http://schemas.microsoft.com/office/drawing/2014/main" id="{D49E8C53-7454-4A36-8AA1-3EF104F5B7B0}"/>
              </a:ext>
            </a:extLst>
          </p:cNvPr>
          <p:cNvSpPr txBox="1">
            <a:spLocks noChangeArrowheads="1"/>
          </p:cNvSpPr>
          <p:nvPr/>
        </p:nvSpPr>
        <p:spPr bwMode="auto">
          <a:xfrm>
            <a:off x="265113" y="5913438"/>
            <a:ext cx="6111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i="1">
                <a:solidFill>
                  <a:srgbClr val="FF0000"/>
                </a:solidFill>
                <a:latin typeface="Times New Roman" panose="02020603050405020304" pitchFamily="18" charset="0"/>
                <a:cs typeface="Times New Roman" panose="02020603050405020304" pitchFamily="18" charset="0"/>
              </a:rPr>
              <a:t>U</a:t>
            </a:r>
            <a:r>
              <a:rPr lang="en-US" altLang="zh-CN" sz="1400" i="1">
                <a:solidFill>
                  <a:srgbClr val="FF0000"/>
                </a:solidFill>
                <a:latin typeface="Times New Roman" panose="02020603050405020304" pitchFamily="18" charset="0"/>
                <a:cs typeface="Times New Roman" panose="02020603050405020304" pitchFamily="18" charset="0"/>
              </a:rPr>
              <a:t>0</a:t>
            </a:r>
            <a:endParaRPr lang="zh-CN" altLang="en-US" sz="1800" i="1">
              <a:solidFill>
                <a:srgbClr val="FF0000"/>
              </a:solidFill>
              <a:latin typeface="Times New Roman" panose="02020603050405020304" pitchFamily="18" charset="0"/>
              <a:cs typeface="Times New Roman" panose="02020603050405020304" pitchFamily="18" charset="0"/>
            </a:endParaRPr>
          </a:p>
        </p:txBody>
      </p:sp>
      <p:sp>
        <p:nvSpPr>
          <p:cNvPr id="4" name="矩形 3">
            <a:extLst>
              <a:ext uri="{FF2B5EF4-FFF2-40B4-BE49-F238E27FC236}">
                <a16:creationId xmlns:a16="http://schemas.microsoft.com/office/drawing/2014/main" id="{A5C95161-1E7B-4CF4-9C56-039E159B693D}"/>
              </a:ext>
            </a:extLst>
          </p:cNvPr>
          <p:cNvSpPr/>
          <p:nvPr/>
        </p:nvSpPr>
        <p:spPr>
          <a:xfrm>
            <a:off x="6916275" y="2828835"/>
            <a:ext cx="1936937" cy="1200329"/>
          </a:xfrm>
          <a:prstGeom prst="rect">
            <a:avLst/>
          </a:prstGeom>
          <a:solidFill>
            <a:schemeClr val="bg2">
              <a:lumMod val="20000"/>
              <a:lumOff val="80000"/>
            </a:schemeClr>
          </a:solidFill>
          <a:ln>
            <a:noFill/>
          </a:ln>
          <a:effectLst>
            <a:glow rad="63500">
              <a:schemeClr val="accent2">
                <a:satMod val="175000"/>
                <a:alpha val="40000"/>
              </a:schemeClr>
            </a:glow>
            <a:outerShdw blurRad="44450" dist="27940" dir="5400000" algn="ctr">
              <a:srgbClr val="000000">
                <a:alpha val="32000"/>
              </a:srgbClr>
            </a:outerShdw>
          </a:effectLst>
        </p:spPr>
        <p:txBody>
          <a:bodyPr>
            <a:spAutoFit/>
          </a:bodyPr>
          <a:lstStyle/>
          <a:p>
            <a:pPr>
              <a:defRPr/>
            </a:pPr>
            <a:r>
              <a:rPr lang="zh-CN" altLang="en-US" b="1" dirty="0">
                <a:solidFill>
                  <a:srgbClr val="0099FF"/>
                </a:solidFill>
                <a:latin typeface="微软雅黑" panose="020B0503020204020204" pitchFamily="34" charset="-122"/>
                <a:ea typeface="微软雅黑" panose="020B0503020204020204" pitchFamily="34" charset="-122"/>
              </a:rPr>
              <a:t>对于变极距传感器：幅值与被测量（位移）成正比！</a:t>
            </a:r>
            <a:endParaRPr lang="zh-CN" altLang="en-US" dirty="0">
              <a:solidFill>
                <a:srgbClr val="0099FF"/>
              </a:solidFill>
            </a:endParaRPr>
          </a:p>
        </p:txBody>
      </p:sp>
      <p:sp>
        <p:nvSpPr>
          <p:cNvPr id="35858" name="矩形 4">
            <a:extLst>
              <a:ext uri="{FF2B5EF4-FFF2-40B4-BE49-F238E27FC236}">
                <a16:creationId xmlns:a16="http://schemas.microsoft.com/office/drawing/2014/main" id="{7182F27D-B411-46A2-8EB0-6F3C96500C9E}"/>
              </a:ext>
            </a:extLst>
          </p:cNvPr>
          <p:cNvSpPr>
            <a:spLocks noChangeArrowheads="1"/>
          </p:cNvSpPr>
          <p:nvPr/>
        </p:nvSpPr>
        <p:spPr bwMode="auto">
          <a:xfrm>
            <a:off x="398463" y="998538"/>
            <a:ext cx="16049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en-US" altLang="zh-CN" sz="2400" b="1">
                <a:solidFill>
                  <a:srgbClr val="C00000"/>
                </a:solidFill>
                <a:latin typeface="微软雅黑" panose="020B0503020204020204" pitchFamily="34" charset="-122"/>
                <a:ea typeface="微软雅黑" panose="020B0503020204020204" pitchFamily="34" charset="-122"/>
              </a:rPr>
              <a:t>1</a:t>
            </a:r>
            <a:r>
              <a:rPr kumimoji="1" lang="zh-CN" altLang="en-US" sz="2400" b="1">
                <a:solidFill>
                  <a:srgbClr val="C00000"/>
                </a:solidFill>
                <a:latin typeface="微软雅黑" panose="020B0503020204020204" pitchFamily="34" charset="-122"/>
                <a:ea typeface="微软雅黑" panose="020B0503020204020204" pitchFamily="34" charset="-122"/>
              </a:rPr>
              <a:t>）运算法</a:t>
            </a:r>
            <a:endParaRPr lang="zh-CN" altLang="en-US"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a:extLst>
              <a:ext uri="{FF2B5EF4-FFF2-40B4-BE49-F238E27FC236}">
                <a16:creationId xmlns:a16="http://schemas.microsoft.com/office/drawing/2014/main" id="{7B28DFD9-8B81-49F1-84A3-32718D171103}"/>
              </a:ext>
            </a:extLst>
          </p:cNvPr>
          <p:cNvSpPr>
            <a:spLocks noChangeArrowheads="1"/>
          </p:cNvSpPr>
          <p:nvPr/>
        </p:nvSpPr>
        <p:spPr bwMode="auto">
          <a:xfrm>
            <a:off x="0" y="226060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7891" name="Rectangle 4">
            <a:extLst>
              <a:ext uri="{FF2B5EF4-FFF2-40B4-BE49-F238E27FC236}">
                <a16:creationId xmlns:a16="http://schemas.microsoft.com/office/drawing/2014/main" id="{F4CB00D8-751D-41CD-ACF2-2BACB1F57941}"/>
              </a:ext>
            </a:extLst>
          </p:cNvPr>
          <p:cNvSpPr>
            <a:spLocks noChangeArrowheads="1"/>
          </p:cNvSpPr>
          <p:nvPr/>
        </p:nvSpPr>
        <p:spPr bwMode="auto">
          <a:xfrm>
            <a:off x="0" y="29654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7892" name="Rectangle 5">
            <a:extLst>
              <a:ext uri="{FF2B5EF4-FFF2-40B4-BE49-F238E27FC236}">
                <a16:creationId xmlns:a16="http://schemas.microsoft.com/office/drawing/2014/main" id="{27B36628-E733-41AA-9879-ED5E8D2DA655}"/>
              </a:ext>
            </a:extLst>
          </p:cNvPr>
          <p:cNvSpPr>
            <a:spLocks noChangeArrowheads="1"/>
          </p:cNvSpPr>
          <p:nvPr/>
        </p:nvSpPr>
        <p:spPr bwMode="auto">
          <a:xfrm>
            <a:off x="0" y="29654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7893" name="Rectangle 6">
            <a:extLst>
              <a:ext uri="{FF2B5EF4-FFF2-40B4-BE49-F238E27FC236}">
                <a16:creationId xmlns:a16="http://schemas.microsoft.com/office/drawing/2014/main" id="{700C7776-C212-4083-A8D8-C0D412AA80B3}"/>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7894" name="Rectangle 7">
            <a:extLst>
              <a:ext uri="{FF2B5EF4-FFF2-40B4-BE49-F238E27FC236}">
                <a16:creationId xmlns:a16="http://schemas.microsoft.com/office/drawing/2014/main" id="{F18589D5-601C-43C8-A06D-43C8DC65E3F8}"/>
              </a:ext>
            </a:extLst>
          </p:cNvPr>
          <p:cNvSpPr>
            <a:spLocks noChangeArrowheads="1"/>
          </p:cNvSpPr>
          <p:nvPr/>
        </p:nvSpPr>
        <p:spPr bwMode="auto">
          <a:xfrm>
            <a:off x="0" y="28892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7895" name="Rectangle 8">
            <a:extLst>
              <a:ext uri="{FF2B5EF4-FFF2-40B4-BE49-F238E27FC236}">
                <a16:creationId xmlns:a16="http://schemas.microsoft.com/office/drawing/2014/main" id="{DBEE0655-FC11-4FF0-B34A-447D7584764A}"/>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7896" name="Rectangle 9">
            <a:extLst>
              <a:ext uri="{FF2B5EF4-FFF2-40B4-BE49-F238E27FC236}">
                <a16:creationId xmlns:a16="http://schemas.microsoft.com/office/drawing/2014/main" id="{E3FEA787-1A4F-4561-B9A0-4FD876A41595}"/>
              </a:ext>
            </a:extLst>
          </p:cNvPr>
          <p:cNvSpPr>
            <a:spLocks noChangeArrowheads="1"/>
          </p:cNvSpPr>
          <p:nvPr/>
        </p:nvSpPr>
        <p:spPr bwMode="auto">
          <a:xfrm>
            <a:off x="0" y="293687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7897" name="Rectangle 10">
            <a:extLst>
              <a:ext uri="{FF2B5EF4-FFF2-40B4-BE49-F238E27FC236}">
                <a16:creationId xmlns:a16="http://schemas.microsoft.com/office/drawing/2014/main" id="{9CE83746-AB31-4946-9E6F-A66A735D08DF}"/>
              </a:ext>
            </a:extLst>
          </p:cNvPr>
          <p:cNvSpPr>
            <a:spLocks noChangeArrowheads="1"/>
          </p:cNvSpPr>
          <p:nvPr/>
        </p:nvSpPr>
        <p:spPr bwMode="auto">
          <a:xfrm>
            <a:off x="0" y="24177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7898" name="Rectangle 11">
            <a:extLst>
              <a:ext uri="{FF2B5EF4-FFF2-40B4-BE49-F238E27FC236}">
                <a16:creationId xmlns:a16="http://schemas.microsoft.com/office/drawing/2014/main" id="{044AA54D-08D7-4599-8646-7F4E4E0A34DF}"/>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7899" name="Rectangle 12">
            <a:extLst>
              <a:ext uri="{FF2B5EF4-FFF2-40B4-BE49-F238E27FC236}">
                <a16:creationId xmlns:a16="http://schemas.microsoft.com/office/drawing/2014/main" id="{A32E0CFF-36D9-40B3-BFF8-71D5A11D33A6}"/>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15" name="矩形 14">
            <a:extLst>
              <a:ext uri="{FF2B5EF4-FFF2-40B4-BE49-F238E27FC236}">
                <a16:creationId xmlns:a16="http://schemas.microsoft.com/office/drawing/2014/main" id="{D54A9DA7-DC88-4E29-A618-151AB313A88B}"/>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37901" name="Text Box 2">
            <a:extLst>
              <a:ext uri="{FF2B5EF4-FFF2-40B4-BE49-F238E27FC236}">
                <a16:creationId xmlns:a16="http://schemas.microsoft.com/office/drawing/2014/main" id="{D7788103-629F-4959-A3B8-50D208C760A6}"/>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3.1 </a:t>
            </a:r>
            <a:r>
              <a:rPr kumimoji="1" lang="zh-CN" altLang="en-US" sz="2800" b="1">
                <a:solidFill>
                  <a:srgbClr val="C00000"/>
                </a:solidFill>
                <a:latin typeface="微软雅黑" panose="020B0503020204020204" pitchFamily="34" charset="-122"/>
                <a:ea typeface="微软雅黑" panose="020B0503020204020204" pitchFamily="34" charset="-122"/>
              </a:rPr>
              <a:t>测量电路</a:t>
            </a:r>
            <a:r>
              <a:rPr kumimoji="1" lang="en-US" altLang="zh-CN" sz="2800" b="1">
                <a:solidFill>
                  <a:srgbClr val="C00000"/>
                </a:solidFill>
                <a:latin typeface="微软雅黑" panose="020B0503020204020204" pitchFamily="34" charset="-122"/>
                <a:ea typeface="微软雅黑" panose="020B0503020204020204" pitchFamily="34" charset="-122"/>
              </a:rPr>
              <a:t>——2</a:t>
            </a:r>
            <a:r>
              <a:rPr kumimoji="1" lang="zh-CN" altLang="en-US" sz="2800" b="1">
                <a:solidFill>
                  <a:srgbClr val="C00000"/>
                </a:solidFill>
                <a:latin typeface="微软雅黑" panose="020B0503020204020204" pitchFamily="34" charset="-122"/>
                <a:ea typeface="微软雅黑" panose="020B0503020204020204" pitchFamily="34" charset="-122"/>
              </a:rPr>
              <a:t>）二极管双</a:t>
            </a:r>
            <a:r>
              <a:rPr kumimoji="1" lang="en-US" altLang="zh-CN" sz="2800" b="1">
                <a:solidFill>
                  <a:srgbClr val="C00000"/>
                </a:solidFill>
                <a:latin typeface="微软雅黑" panose="020B0503020204020204" pitchFamily="34" charset="-122"/>
                <a:ea typeface="微软雅黑" panose="020B0503020204020204" pitchFamily="34" charset="-122"/>
              </a:rPr>
              <a:t>T</a:t>
            </a:r>
            <a:r>
              <a:rPr kumimoji="1" lang="zh-CN" altLang="en-US" sz="2800" b="1">
                <a:solidFill>
                  <a:srgbClr val="C00000"/>
                </a:solidFill>
                <a:latin typeface="微软雅黑" panose="020B0503020204020204" pitchFamily="34" charset="-122"/>
                <a:ea typeface="微软雅黑" panose="020B0503020204020204" pitchFamily="34" charset="-122"/>
              </a:rPr>
              <a:t>电桥</a:t>
            </a:r>
          </a:p>
        </p:txBody>
      </p:sp>
      <p:sp>
        <p:nvSpPr>
          <p:cNvPr id="37902" name="Text Box 2">
            <a:extLst>
              <a:ext uri="{FF2B5EF4-FFF2-40B4-BE49-F238E27FC236}">
                <a16:creationId xmlns:a16="http://schemas.microsoft.com/office/drawing/2014/main" id="{BA3A9514-63F5-4C74-907F-4E923913E765}"/>
              </a:ext>
            </a:extLst>
          </p:cNvPr>
          <p:cNvSpPr txBox="1">
            <a:spLocks noChangeArrowheads="1"/>
          </p:cNvSpPr>
          <p:nvPr/>
        </p:nvSpPr>
        <p:spPr bwMode="auto">
          <a:xfrm>
            <a:off x="398463" y="1489075"/>
            <a:ext cx="8561387"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lang="zh-CN" altLang="en-US" sz="2000" b="1">
                <a:solidFill>
                  <a:srgbClr val="0099FF"/>
                </a:solidFill>
                <a:latin typeface="微软雅黑" panose="020B0503020204020204" pitchFamily="34" charset="-122"/>
                <a:ea typeface="微软雅黑" panose="020B0503020204020204" pitchFamily="34" charset="-122"/>
              </a:rPr>
              <a:t>美国麻省理工学院教授</a:t>
            </a:r>
            <a:r>
              <a:rPr lang="en-US" altLang="zh-CN" sz="2000" b="1">
                <a:solidFill>
                  <a:srgbClr val="0099FF"/>
                </a:solidFill>
                <a:latin typeface="微软雅黑" panose="020B0503020204020204" pitchFamily="34" charset="-122"/>
                <a:ea typeface="微软雅黑" panose="020B0503020204020204" pitchFamily="34" charset="-122"/>
              </a:rPr>
              <a:t>K.S.LION</a:t>
            </a:r>
            <a:r>
              <a:rPr lang="zh-CN" altLang="en-US" sz="2000" b="1">
                <a:solidFill>
                  <a:srgbClr val="0099FF"/>
                </a:solidFill>
                <a:latin typeface="微软雅黑" panose="020B0503020204020204" pitchFamily="34" charset="-122"/>
                <a:ea typeface="微软雅黑" panose="020B0503020204020204" pitchFamily="34" charset="-122"/>
              </a:rPr>
              <a:t>发明二极管交流双</a:t>
            </a:r>
            <a:r>
              <a:rPr lang="en-US" altLang="zh-CN" sz="2000" b="1">
                <a:solidFill>
                  <a:srgbClr val="0099FF"/>
                </a:solidFill>
                <a:latin typeface="微软雅黑" panose="020B0503020204020204" pitchFamily="34" charset="-122"/>
                <a:ea typeface="微软雅黑" panose="020B0503020204020204" pitchFamily="34" charset="-122"/>
              </a:rPr>
              <a:t>T</a:t>
            </a:r>
            <a:r>
              <a:rPr lang="zh-CN" altLang="en-US" sz="2000" b="1">
                <a:solidFill>
                  <a:srgbClr val="0099FF"/>
                </a:solidFill>
                <a:latin typeface="微软雅黑" panose="020B0503020204020204" pitchFamily="34" charset="-122"/>
                <a:ea typeface="微软雅黑" panose="020B0503020204020204" pitchFamily="34" charset="-122"/>
              </a:rPr>
              <a:t>型网络，</a:t>
            </a:r>
            <a:r>
              <a:rPr lang="en-US" altLang="zh-CN" sz="2000" b="1">
                <a:solidFill>
                  <a:srgbClr val="0000FF"/>
                </a:solidFill>
                <a:latin typeface="微软雅黑" panose="020B0503020204020204" pitchFamily="34" charset="-122"/>
                <a:ea typeface="微软雅黑" panose="020B0503020204020204" pitchFamily="34" charset="-122"/>
              </a:rPr>
              <a:t>1963</a:t>
            </a:r>
            <a:r>
              <a:rPr lang="zh-CN" altLang="en-US" sz="2000" b="1">
                <a:solidFill>
                  <a:srgbClr val="0000FF"/>
                </a:solidFill>
                <a:latin typeface="微软雅黑" panose="020B0503020204020204" pitchFamily="34" charset="-122"/>
                <a:ea typeface="微软雅黑" panose="020B0503020204020204" pitchFamily="34" charset="-122"/>
              </a:rPr>
              <a:t>年</a:t>
            </a:r>
            <a:endParaRPr lang="en-US" altLang="zh-CN" sz="2000" b="1">
              <a:latin typeface="微软雅黑" panose="020B0503020204020204" pitchFamily="34" charset="-122"/>
              <a:ea typeface="微软雅黑" panose="020B0503020204020204" pitchFamily="34" charset="-122"/>
            </a:endParaRPr>
          </a:p>
        </p:txBody>
      </p:sp>
      <p:sp>
        <p:nvSpPr>
          <p:cNvPr id="37903" name="矩形 2">
            <a:extLst>
              <a:ext uri="{FF2B5EF4-FFF2-40B4-BE49-F238E27FC236}">
                <a16:creationId xmlns:a16="http://schemas.microsoft.com/office/drawing/2014/main" id="{CE14E495-A117-419D-9C65-80F8B58AD74C}"/>
              </a:ext>
            </a:extLst>
          </p:cNvPr>
          <p:cNvSpPr>
            <a:spLocks noChangeArrowheads="1"/>
          </p:cNvSpPr>
          <p:nvPr/>
        </p:nvSpPr>
        <p:spPr bwMode="auto">
          <a:xfrm>
            <a:off x="260350" y="2276475"/>
            <a:ext cx="4419600" cy="373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pPr>
            <a:r>
              <a:rPr lang="en-US" altLang="zh-CN" sz="2000" b="1" i="1">
                <a:solidFill>
                  <a:srgbClr val="FF0000"/>
                </a:solidFill>
                <a:latin typeface="微软雅黑" panose="020B0503020204020204" pitchFamily="34" charset="-122"/>
                <a:ea typeface="微软雅黑" panose="020B0503020204020204" pitchFamily="34" charset="-122"/>
              </a:rPr>
              <a:t>E </a:t>
            </a:r>
            <a:r>
              <a:rPr lang="zh-CN" altLang="en-US" sz="2000" b="1">
                <a:latin typeface="微软雅黑" panose="020B0503020204020204" pitchFamily="34" charset="-122"/>
                <a:ea typeface="微软雅黑" panose="020B0503020204020204" pitchFamily="34" charset="-122"/>
              </a:rPr>
              <a:t>为电压信号，可为</a:t>
            </a:r>
            <a:r>
              <a:rPr lang="zh-CN" altLang="en-US" sz="2000" b="1">
                <a:solidFill>
                  <a:srgbClr val="0000FF"/>
                </a:solidFill>
                <a:latin typeface="微软雅黑" panose="020B0503020204020204" pitchFamily="34" charset="-122"/>
                <a:ea typeface="微软雅黑" panose="020B0503020204020204" pitchFamily="34" charset="-122"/>
              </a:rPr>
              <a:t>正弦波</a:t>
            </a:r>
            <a:r>
              <a:rPr lang="zh-CN" altLang="en-US" sz="2000" b="1">
                <a:latin typeface="微软雅黑" panose="020B0503020204020204" pitchFamily="34" charset="-122"/>
                <a:ea typeface="微软雅黑" panose="020B0503020204020204" pitchFamily="34" charset="-122"/>
              </a:rPr>
              <a:t>或</a:t>
            </a:r>
            <a:r>
              <a:rPr lang="zh-CN" altLang="en-US" sz="2000" b="1">
                <a:solidFill>
                  <a:srgbClr val="0000FF"/>
                </a:solidFill>
                <a:latin typeface="微软雅黑" panose="020B0503020204020204" pitchFamily="34" charset="-122"/>
                <a:ea typeface="微软雅黑" panose="020B0503020204020204" pitchFamily="34" charset="-122"/>
              </a:rPr>
              <a:t>方波</a:t>
            </a:r>
            <a:endParaRPr lang="zh-CN" altLang="en-US" sz="2000" b="1">
              <a:latin typeface="微软雅黑" panose="020B0503020204020204" pitchFamily="34" charset="-122"/>
              <a:ea typeface="微软雅黑" panose="020B0503020204020204" pitchFamily="34" charset="-122"/>
            </a:endParaRPr>
          </a:p>
          <a:p>
            <a:pPr>
              <a:lnSpc>
                <a:spcPct val="150000"/>
              </a:lnSpc>
              <a:spcBef>
                <a:spcPct val="0"/>
              </a:spcBef>
            </a:pPr>
            <a:r>
              <a:rPr lang="zh-CN" altLang="en-US" sz="2000" b="1" i="1">
                <a:latin typeface="微软雅黑" panose="020B0503020204020204" pitchFamily="34" charset="-122"/>
                <a:ea typeface="微软雅黑" panose="020B0503020204020204" pitchFamily="34" charset="-122"/>
              </a:rPr>
              <a:t> </a:t>
            </a:r>
            <a:r>
              <a:rPr lang="en-US" altLang="zh-CN" sz="2000" b="1" i="1">
                <a:solidFill>
                  <a:srgbClr val="FF0000"/>
                </a:solidFill>
                <a:latin typeface="微软雅黑" panose="020B0503020204020204" pitchFamily="34" charset="-122"/>
                <a:ea typeface="微软雅黑" panose="020B0503020204020204" pitchFamily="34" charset="-122"/>
              </a:rPr>
              <a:t>C</a:t>
            </a:r>
            <a:r>
              <a:rPr lang="en-US" altLang="zh-CN" sz="2000" b="1" i="1" baseline="-25000">
                <a:solidFill>
                  <a:srgbClr val="FF0000"/>
                </a:solidFill>
                <a:latin typeface="微软雅黑" panose="020B0503020204020204" pitchFamily="34" charset="-122"/>
                <a:ea typeface="微软雅黑" panose="020B0503020204020204" pitchFamily="34" charset="-122"/>
              </a:rPr>
              <a:t>1</a:t>
            </a:r>
            <a:r>
              <a:rPr lang="zh-CN" altLang="en-US" sz="2000" b="1" i="1">
                <a:solidFill>
                  <a:srgbClr val="FF0000"/>
                </a:solidFill>
                <a:latin typeface="微软雅黑" panose="020B0503020204020204" pitchFamily="34" charset="-122"/>
                <a:ea typeface="微软雅黑" panose="020B0503020204020204" pitchFamily="34" charset="-122"/>
              </a:rPr>
              <a:t>、</a:t>
            </a:r>
            <a:r>
              <a:rPr lang="en-US" altLang="zh-CN" sz="2000" b="1" i="1">
                <a:solidFill>
                  <a:srgbClr val="FF0000"/>
                </a:solidFill>
                <a:latin typeface="微软雅黑" panose="020B0503020204020204" pitchFamily="34" charset="-122"/>
                <a:ea typeface="微软雅黑" panose="020B0503020204020204" pitchFamily="34" charset="-122"/>
              </a:rPr>
              <a:t>C</a:t>
            </a:r>
            <a:r>
              <a:rPr lang="en-US" altLang="zh-CN" sz="2000" b="1" i="1" baseline="-25000">
                <a:solidFill>
                  <a:srgbClr val="FF0000"/>
                </a:solidFill>
                <a:latin typeface="微软雅黑" panose="020B0503020204020204" pitchFamily="34" charset="-122"/>
                <a:ea typeface="微软雅黑" panose="020B0503020204020204" pitchFamily="34" charset="-122"/>
              </a:rPr>
              <a:t>2</a:t>
            </a:r>
            <a:r>
              <a:rPr lang="zh-CN" altLang="en-US" sz="2000" b="1">
                <a:latin typeface="微软雅黑" panose="020B0503020204020204" pitchFamily="34" charset="-122"/>
                <a:ea typeface="微软雅黑" panose="020B0503020204020204" pitchFamily="34" charset="-122"/>
              </a:rPr>
              <a:t>为</a:t>
            </a:r>
            <a:r>
              <a:rPr lang="zh-CN" altLang="en-US" sz="2000" b="1">
                <a:solidFill>
                  <a:srgbClr val="0000FF"/>
                </a:solidFill>
                <a:latin typeface="微软雅黑" panose="020B0503020204020204" pitchFamily="34" charset="-122"/>
                <a:ea typeface="微软雅黑" panose="020B0503020204020204" pitchFamily="34" charset="-122"/>
              </a:rPr>
              <a:t>差动电容传感器的电容</a:t>
            </a:r>
            <a:r>
              <a:rPr lang="zh-CN" altLang="en-US" sz="2000" b="1">
                <a:latin typeface="微软雅黑" panose="020B0503020204020204" pitchFamily="34" charset="-122"/>
                <a:ea typeface="微软雅黑" panose="020B0503020204020204" pitchFamily="34" charset="-122"/>
              </a:rPr>
              <a:t>，或者</a:t>
            </a:r>
            <a:r>
              <a:rPr lang="zh-CN" altLang="en-US" sz="2000" b="1">
                <a:solidFill>
                  <a:srgbClr val="0000FF"/>
                </a:solidFill>
                <a:latin typeface="微软雅黑" panose="020B0503020204020204" pitchFamily="34" charset="-122"/>
                <a:ea typeface="微软雅黑" panose="020B0503020204020204" pitchFamily="34" charset="-122"/>
              </a:rPr>
              <a:t>一个为固定电容，另一个为电容传感器的电容</a:t>
            </a:r>
            <a:endParaRPr lang="en-US" altLang="zh-CN" sz="2000" b="1">
              <a:solidFill>
                <a:srgbClr val="0000FF"/>
              </a:solidFill>
              <a:latin typeface="微软雅黑" panose="020B0503020204020204" pitchFamily="34" charset="-122"/>
              <a:ea typeface="微软雅黑" panose="020B0503020204020204" pitchFamily="34" charset="-122"/>
            </a:endParaRPr>
          </a:p>
          <a:p>
            <a:pPr>
              <a:lnSpc>
                <a:spcPct val="150000"/>
              </a:lnSpc>
              <a:spcBef>
                <a:spcPct val="0"/>
              </a:spcBef>
            </a:pPr>
            <a:r>
              <a:rPr lang="en-US" altLang="zh-CN" sz="2000" b="1" i="1">
                <a:solidFill>
                  <a:srgbClr val="FF0000"/>
                </a:solidFill>
                <a:latin typeface="微软雅黑" panose="020B0503020204020204" pitchFamily="34" charset="-122"/>
                <a:ea typeface="微软雅黑" panose="020B0503020204020204" pitchFamily="34" charset="-122"/>
              </a:rPr>
              <a:t>R</a:t>
            </a:r>
            <a:r>
              <a:rPr lang="en-US" altLang="zh-CN" sz="1400" b="1" i="1">
                <a:solidFill>
                  <a:srgbClr val="FF0000"/>
                </a:solidFill>
                <a:latin typeface="微软雅黑" panose="020B0503020204020204" pitchFamily="34" charset="-122"/>
                <a:ea typeface="微软雅黑" panose="020B0503020204020204" pitchFamily="34" charset="-122"/>
              </a:rPr>
              <a:t>L</a:t>
            </a:r>
            <a:r>
              <a:rPr lang="zh-CN" altLang="en-US" sz="2000" b="1">
                <a:latin typeface="微软雅黑" panose="020B0503020204020204" pitchFamily="34" charset="-122"/>
                <a:ea typeface="微软雅黑" panose="020B0503020204020204" pitchFamily="34" charset="-122"/>
              </a:rPr>
              <a:t>为负载电阻</a:t>
            </a:r>
            <a:endParaRPr lang="en-US" altLang="zh-CN" sz="2000" b="1">
              <a:latin typeface="微软雅黑" panose="020B0503020204020204" pitchFamily="34" charset="-122"/>
              <a:ea typeface="微软雅黑" panose="020B0503020204020204" pitchFamily="34" charset="-122"/>
            </a:endParaRPr>
          </a:p>
          <a:p>
            <a:pPr>
              <a:lnSpc>
                <a:spcPct val="150000"/>
              </a:lnSpc>
              <a:spcBef>
                <a:spcPct val="0"/>
              </a:spcBef>
            </a:pPr>
            <a:r>
              <a:rPr lang="en-US" altLang="zh-CN" sz="2000" b="1" i="1">
                <a:solidFill>
                  <a:srgbClr val="FF0000"/>
                </a:solidFill>
                <a:latin typeface="微软雅黑" panose="020B0503020204020204" pitchFamily="34" charset="-122"/>
                <a:ea typeface="微软雅黑" panose="020B0503020204020204" pitchFamily="34" charset="-122"/>
              </a:rPr>
              <a:t>U</a:t>
            </a:r>
            <a:r>
              <a:rPr lang="en-US" altLang="zh-CN" sz="1400" b="1" i="1">
                <a:solidFill>
                  <a:srgbClr val="FF0000"/>
                </a:solidFill>
                <a:latin typeface="微软雅黑" panose="020B0503020204020204" pitchFamily="34" charset="-122"/>
                <a:ea typeface="微软雅黑" panose="020B0503020204020204" pitchFamily="34" charset="-122"/>
              </a:rPr>
              <a:t>L</a:t>
            </a:r>
            <a:r>
              <a:rPr lang="zh-CN" altLang="en-US" sz="2000" b="1">
                <a:latin typeface="微软雅黑" panose="020B0503020204020204" pitchFamily="34" charset="-122"/>
                <a:ea typeface="微软雅黑" panose="020B0503020204020204" pitchFamily="34" charset="-122"/>
              </a:rPr>
              <a:t>为输出电压</a:t>
            </a:r>
            <a:endParaRPr lang="en-US" altLang="zh-CN" sz="2000" b="1">
              <a:latin typeface="微软雅黑" panose="020B0503020204020204" pitchFamily="34" charset="-122"/>
              <a:ea typeface="微软雅黑" panose="020B0503020204020204" pitchFamily="34" charset="-122"/>
            </a:endParaRPr>
          </a:p>
          <a:p>
            <a:pPr>
              <a:lnSpc>
                <a:spcPct val="150000"/>
              </a:lnSpc>
              <a:spcBef>
                <a:spcPct val="0"/>
              </a:spcBef>
            </a:pPr>
            <a:r>
              <a:rPr lang="zh-CN" altLang="en-US" sz="2000" b="1">
                <a:solidFill>
                  <a:srgbClr val="FF0000"/>
                </a:solidFill>
                <a:latin typeface="微软雅黑" panose="020B0503020204020204" pitchFamily="34" charset="-122"/>
                <a:ea typeface="微软雅黑" panose="020B0503020204020204" pitchFamily="34" charset="-122"/>
              </a:rPr>
              <a:t>设：</a:t>
            </a:r>
            <a:r>
              <a:rPr lang="zh-CN" altLang="en-US" sz="2000" b="1">
                <a:latin typeface="微软雅黑" panose="020B0503020204020204" pitchFamily="34" charset="-122"/>
                <a:ea typeface="微软雅黑" panose="020B0503020204020204" pitchFamily="34" charset="-122"/>
              </a:rPr>
              <a:t>输入为占空比</a:t>
            </a:r>
            <a:r>
              <a:rPr lang="en-US" altLang="zh-CN" sz="2000" b="1">
                <a:latin typeface="微软雅黑" panose="020B0503020204020204" pitchFamily="34" charset="-122"/>
                <a:ea typeface="微软雅黑" panose="020B0503020204020204" pitchFamily="34" charset="-122"/>
              </a:rPr>
              <a:t>50%</a:t>
            </a:r>
            <a:r>
              <a:rPr lang="zh-CN" altLang="en-US" sz="2000" b="1">
                <a:latin typeface="微软雅黑" panose="020B0503020204020204" pitchFamily="34" charset="-122"/>
                <a:ea typeface="微软雅黑" panose="020B0503020204020204" pitchFamily="34" charset="-122"/>
              </a:rPr>
              <a:t>的方波，周期为</a:t>
            </a:r>
            <a:r>
              <a:rPr lang="en-US" altLang="zh-CN" sz="2000" b="1">
                <a:solidFill>
                  <a:srgbClr val="FF0000"/>
                </a:solidFill>
                <a:latin typeface="微软雅黑" panose="020B0503020204020204" pitchFamily="34" charset="-122"/>
                <a:ea typeface="微软雅黑" panose="020B0503020204020204" pitchFamily="34" charset="-122"/>
              </a:rPr>
              <a:t>T</a:t>
            </a:r>
            <a:r>
              <a:rPr lang="zh-CN" altLang="en-US" sz="2000" b="1">
                <a:solidFill>
                  <a:srgbClr val="FF0000"/>
                </a:solidFill>
                <a:latin typeface="微软雅黑" panose="020B0503020204020204" pitchFamily="34" charset="-122"/>
                <a:ea typeface="微软雅黑" panose="020B0503020204020204" pitchFamily="34" charset="-122"/>
              </a:rPr>
              <a:t>，</a:t>
            </a:r>
            <a:r>
              <a:rPr lang="en-US" altLang="zh-CN" sz="2000" b="1">
                <a:solidFill>
                  <a:srgbClr val="0099FF"/>
                </a:solidFill>
                <a:latin typeface="微软雅黑" panose="020B0503020204020204" pitchFamily="34" charset="-122"/>
                <a:ea typeface="微软雅黑" panose="020B0503020204020204" pitchFamily="34" charset="-122"/>
              </a:rPr>
              <a:t> R</a:t>
            </a:r>
            <a:r>
              <a:rPr lang="en-US" altLang="zh-CN" sz="2000" b="1" baseline="-25000">
                <a:solidFill>
                  <a:srgbClr val="0099FF"/>
                </a:solidFill>
                <a:latin typeface="微软雅黑" panose="020B0503020204020204" pitchFamily="34" charset="-122"/>
                <a:ea typeface="微软雅黑" panose="020B0503020204020204" pitchFamily="34" charset="-122"/>
              </a:rPr>
              <a:t>1</a:t>
            </a:r>
            <a:r>
              <a:rPr lang="en-US" altLang="zh-CN" sz="2000" b="1">
                <a:solidFill>
                  <a:srgbClr val="0099FF"/>
                </a:solidFill>
                <a:latin typeface="微软雅黑" panose="020B0503020204020204" pitchFamily="34" charset="-122"/>
                <a:ea typeface="微软雅黑" panose="020B0503020204020204" pitchFamily="34" charset="-122"/>
              </a:rPr>
              <a:t>=R</a:t>
            </a:r>
            <a:r>
              <a:rPr lang="en-US" altLang="zh-CN" sz="2000" b="1" baseline="-25000">
                <a:solidFill>
                  <a:srgbClr val="0099FF"/>
                </a:solidFill>
                <a:latin typeface="微软雅黑" panose="020B0503020204020204" pitchFamily="34" charset="-122"/>
                <a:ea typeface="微软雅黑" panose="020B0503020204020204" pitchFamily="34" charset="-122"/>
              </a:rPr>
              <a:t>2</a:t>
            </a:r>
            <a:r>
              <a:rPr lang="en-US" altLang="zh-CN" sz="2000" b="1">
                <a:solidFill>
                  <a:srgbClr val="0099FF"/>
                </a:solidFill>
                <a:latin typeface="微软雅黑" panose="020B0503020204020204" pitchFamily="34" charset="-122"/>
                <a:ea typeface="微软雅黑" panose="020B0503020204020204" pitchFamily="34" charset="-122"/>
              </a:rPr>
              <a:t>=R</a:t>
            </a:r>
            <a:endParaRPr lang="zh-CN" altLang="en-US" sz="2000" b="1">
              <a:solidFill>
                <a:srgbClr val="FF0000"/>
              </a:solidFill>
              <a:latin typeface="微软雅黑" panose="020B0503020204020204" pitchFamily="34" charset="-122"/>
              <a:ea typeface="微软雅黑" panose="020B0503020204020204" pitchFamily="34" charset="-122"/>
            </a:endParaRPr>
          </a:p>
        </p:txBody>
      </p:sp>
      <p:sp>
        <p:nvSpPr>
          <p:cNvPr id="37904" name="矩形 19">
            <a:extLst>
              <a:ext uri="{FF2B5EF4-FFF2-40B4-BE49-F238E27FC236}">
                <a16:creationId xmlns:a16="http://schemas.microsoft.com/office/drawing/2014/main" id="{2F8ACDF7-89F0-405D-B5A0-FD48D9AD23A7}"/>
              </a:ext>
            </a:extLst>
          </p:cNvPr>
          <p:cNvSpPr>
            <a:spLocks noChangeArrowheads="1"/>
          </p:cNvSpPr>
          <p:nvPr/>
        </p:nvSpPr>
        <p:spPr bwMode="auto">
          <a:xfrm>
            <a:off x="398463" y="998538"/>
            <a:ext cx="27209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en-US" altLang="zh-CN" sz="2400" b="1">
                <a:solidFill>
                  <a:srgbClr val="C00000"/>
                </a:solidFill>
                <a:latin typeface="微软雅黑" panose="020B0503020204020204" pitchFamily="34" charset="-122"/>
                <a:ea typeface="微软雅黑" panose="020B0503020204020204" pitchFamily="34" charset="-122"/>
              </a:rPr>
              <a:t>2</a:t>
            </a:r>
            <a:r>
              <a:rPr kumimoji="1" lang="zh-CN" altLang="en-US" sz="2400" b="1">
                <a:solidFill>
                  <a:srgbClr val="C00000"/>
                </a:solidFill>
                <a:latin typeface="微软雅黑" panose="020B0503020204020204" pitchFamily="34" charset="-122"/>
                <a:ea typeface="微软雅黑" panose="020B0503020204020204" pitchFamily="34" charset="-122"/>
              </a:rPr>
              <a:t>）二极管双</a:t>
            </a:r>
            <a:r>
              <a:rPr kumimoji="1" lang="en-US" altLang="zh-CN" sz="2400" b="1">
                <a:solidFill>
                  <a:srgbClr val="C00000"/>
                </a:solidFill>
                <a:latin typeface="微软雅黑" panose="020B0503020204020204" pitchFamily="34" charset="-122"/>
                <a:ea typeface="微软雅黑" panose="020B0503020204020204" pitchFamily="34" charset="-122"/>
              </a:rPr>
              <a:t>T</a:t>
            </a:r>
            <a:r>
              <a:rPr kumimoji="1" lang="zh-CN" altLang="en-US" sz="2400" b="1">
                <a:solidFill>
                  <a:srgbClr val="C00000"/>
                </a:solidFill>
                <a:latin typeface="微软雅黑" panose="020B0503020204020204" pitchFamily="34" charset="-122"/>
                <a:ea typeface="微软雅黑" panose="020B0503020204020204" pitchFamily="34" charset="-122"/>
              </a:rPr>
              <a:t>电桥</a:t>
            </a:r>
            <a:endParaRPr lang="zh-CN" altLang="en-US" sz="2400"/>
          </a:p>
        </p:txBody>
      </p:sp>
      <p:pic>
        <p:nvPicPr>
          <p:cNvPr id="37905" name="图片 3">
            <a:extLst>
              <a:ext uri="{FF2B5EF4-FFF2-40B4-BE49-F238E27FC236}">
                <a16:creationId xmlns:a16="http://schemas.microsoft.com/office/drawing/2014/main" id="{88ED3F4E-9024-4DB7-8C0B-23231160C0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2163" y="2309813"/>
            <a:ext cx="4200525"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6" name="图片 2">
            <a:extLst>
              <a:ext uri="{FF2B5EF4-FFF2-40B4-BE49-F238E27FC236}">
                <a16:creationId xmlns:a16="http://schemas.microsoft.com/office/drawing/2014/main" id="{1880C3E7-494C-42F4-BD0F-0D1618D61F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9038" y="3860800"/>
            <a:ext cx="866775"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a:extLst>
              <a:ext uri="{FF2B5EF4-FFF2-40B4-BE49-F238E27FC236}">
                <a16:creationId xmlns:a16="http://schemas.microsoft.com/office/drawing/2014/main" id="{F68E82E0-29C2-4C53-A888-47C1D05EAF10}"/>
              </a:ext>
            </a:extLst>
          </p:cNvPr>
          <p:cNvSpPr txBox="1">
            <a:spLocks noChangeArrowheads="1"/>
          </p:cNvSpPr>
          <p:nvPr/>
        </p:nvSpPr>
        <p:spPr bwMode="auto">
          <a:xfrm>
            <a:off x="323850" y="908050"/>
            <a:ext cx="3600450" cy="1423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zh-CN" altLang="en-US" sz="2000" b="1">
                <a:solidFill>
                  <a:srgbClr val="0000FF"/>
                </a:solidFill>
                <a:latin typeface="微软雅黑" panose="020B0503020204020204" pitchFamily="34" charset="-122"/>
                <a:ea typeface="微软雅黑" panose="020B0503020204020204" pitchFamily="34" charset="-122"/>
              </a:rPr>
              <a:t>①电源</a:t>
            </a:r>
            <a:r>
              <a:rPr lang="en-US" altLang="zh-CN" sz="2000" b="1" i="1">
                <a:solidFill>
                  <a:srgbClr val="FF0000"/>
                </a:solidFill>
                <a:latin typeface="微软雅黑" panose="020B0503020204020204" pitchFamily="34" charset="-122"/>
                <a:ea typeface="微软雅黑" panose="020B0503020204020204" pitchFamily="34" charset="-122"/>
              </a:rPr>
              <a:t>E</a:t>
            </a:r>
            <a:r>
              <a:rPr lang="en-US" altLang="zh-CN" sz="2000" b="1" i="1">
                <a:solidFill>
                  <a:srgbClr val="0000FF"/>
                </a:solidFill>
                <a:latin typeface="微软雅黑" panose="020B0503020204020204" pitchFamily="34" charset="-122"/>
                <a:ea typeface="微软雅黑" panose="020B0503020204020204" pitchFamily="34" charset="-122"/>
              </a:rPr>
              <a:t> </a:t>
            </a:r>
            <a:r>
              <a:rPr lang="zh-CN" altLang="en-US" sz="2000" b="1">
                <a:solidFill>
                  <a:srgbClr val="0000FF"/>
                </a:solidFill>
                <a:latin typeface="微软雅黑" panose="020B0503020204020204" pitchFamily="34" charset="-122"/>
                <a:ea typeface="微软雅黑" panose="020B0503020204020204" pitchFamily="34" charset="-122"/>
              </a:rPr>
              <a:t>的正半周</a:t>
            </a:r>
          </a:p>
          <a:p>
            <a:pPr>
              <a:lnSpc>
                <a:spcPct val="150000"/>
              </a:lnSpc>
              <a:spcBef>
                <a:spcPct val="0"/>
              </a:spcBef>
              <a:buFontTx/>
              <a:buNone/>
            </a:pPr>
            <a:r>
              <a:rPr lang="en-US" altLang="zh-CN" sz="2000" b="1">
                <a:latin typeface="微软雅黑" panose="020B0503020204020204" pitchFamily="34" charset="-122"/>
                <a:ea typeface="微软雅黑" panose="020B0503020204020204" pitchFamily="34" charset="-122"/>
              </a:rPr>
              <a:t>    D</a:t>
            </a:r>
            <a:r>
              <a:rPr lang="en-US" altLang="zh-CN" sz="2000" b="1" baseline="-25000">
                <a:latin typeface="微软雅黑" panose="020B0503020204020204" pitchFamily="34" charset="-122"/>
                <a:ea typeface="微软雅黑" panose="020B0503020204020204" pitchFamily="34" charset="-122"/>
              </a:rPr>
              <a:t>1</a:t>
            </a:r>
            <a:r>
              <a:rPr lang="zh-CN" altLang="en-US" sz="2000" b="1">
                <a:latin typeface="微软雅黑" panose="020B0503020204020204" pitchFamily="34" charset="-122"/>
                <a:ea typeface="微软雅黑" panose="020B0503020204020204" pitchFamily="34" charset="-122"/>
              </a:rPr>
              <a:t>导通，</a:t>
            </a:r>
            <a:r>
              <a:rPr lang="en-US" altLang="zh-CN" sz="2000" b="1">
                <a:latin typeface="微软雅黑" panose="020B0503020204020204" pitchFamily="34" charset="-122"/>
                <a:ea typeface="微软雅黑" panose="020B0503020204020204" pitchFamily="34" charset="-122"/>
              </a:rPr>
              <a:t>D</a:t>
            </a:r>
            <a:r>
              <a:rPr lang="en-US" altLang="zh-CN" sz="2000" b="1" baseline="-25000">
                <a:latin typeface="微软雅黑" panose="020B0503020204020204" pitchFamily="34" charset="-122"/>
                <a:ea typeface="微软雅黑" panose="020B0503020204020204" pitchFamily="34" charset="-122"/>
              </a:rPr>
              <a:t>2</a:t>
            </a:r>
            <a:r>
              <a:rPr lang="zh-CN" altLang="en-US" sz="2000" b="1">
                <a:latin typeface="微软雅黑" panose="020B0503020204020204" pitchFamily="34" charset="-122"/>
                <a:ea typeface="微软雅黑" panose="020B0503020204020204" pitchFamily="34" charset="-122"/>
              </a:rPr>
              <a:t>截止</a:t>
            </a:r>
            <a:r>
              <a:rPr lang="en-US" altLang="zh-CN" sz="2000" b="1">
                <a:latin typeface="微软雅黑" panose="020B0503020204020204" pitchFamily="34" charset="-122"/>
                <a:ea typeface="微软雅黑" panose="020B0503020204020204" pitchFamily="34" charset="-122"/>
              </a:rPr>
              <a:t> </a:t>
            </a:r>
          </a:p>
          <a:p>
            <a:pPr>
              <a:lnSpc>
                <a:spcPct val="150000"/>
              </a:lnSpc>
              <a:spcBef>
                <a:spcPct val="0"/>
              </a:spcBef>
              <a:buFontTx/>
              <a:buNone/>
            </a:pPr>
            <a:r>
              <a:rPr lang="zh-CN" altLang="en-US" sz="2000" b="1">
                <a:latin typeface="微软雅黑" panose="020B0503020204020204" pitchFamily="34" charset="-122"/>
                <a:ea typeface="微软雅黑" panose="020B0503020204020204" pitchFamily="34" charset="-122"/>
              </a:rPr>
              <a:t>    </a:t>
            </a:r>
          </a:p>
        </p:txBody>
      </p:sp>
      <p:sp>
        <p:nvSpPr>
          <p:cNvPr id="38915" name="Rectangle 3">
            <a:extLst>
              <a:ext uri="{FF2B5EF4-FFF2-40B4-BE49-F238E27FC236}">
                <a16:creationId xmlns:a16="http://schemas.microsoft.com/office/drawing/2014/main" id="{4DC475E3-5CB4-4D42-82B4-F1FFD123A251}"/>
              </a:ext>
            </a:extLst>
          </p:cNvPr>
          <p:cNvSpPr>
            <a:spLocks noChangeArrowheads="1"/>
          </p:cNvSpPr>
          <p:nvPr/>
        </p:nvSpPr>
        <p:spPr bwMode="auto">
          <a:xfrm>
            <a:off x="0" y="226060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8916" name="Rectangle 4">
            <a:extLst>
              <a:ext uri="{FF2B5EF4-FFF2-40B4-BE49-F238E27FC236}">
                <a16:creationId xmlns:a16="http://schemas.microsoft.com/office/drawing/2014/main" id="{AE4099B0-3BE0-47B5-B6A0-56DCAAD59A7B}"/>
              </a:ext>
            </a:extLst>
          </p:cNvPr>
          <p:cNvSpPr>
            <a:spLocks noChangeArrowheads="1"/>
          </p:cNvSpPr>
          <p:nvPr/>
        </p:nvSpPr>
        <p:spPr bwMode="auto">
          <a:xfrm>
            <a:off x="0" y="29654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8917" name="Rectangle 5">
            <a:extLst>
              <a:ext uri="{FF2B5EF4-FFF2-40B4-BE49-F238E27FC236}">
                <a16:creationId xmlns:a16="http://schemas.microsoft.com/office/drawing/2014/main" id="{40AD4EEE-58C2-47F5-A126-FE385B67D327}"/>
              </a:ext>
            </a:extLst>
          </p:cNvPr>
          <p:cNvSpPr>
            <a:spLocks noChangeArrowheads="1"/>
          </p:cNvSpPr>
          <p:nvPr/>
        </p:nvSpPr>
        <p:spPr bwMode="auto">
          <a:xfrm>
            <a:off x="0" y="29654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8918" name="Rectangle 6">
            <a:extLst>
              <a:ext uri="{FF2B5EF4-FFF2-40B4-BE49-F238E27FC236}">
                <a16:creationId xmlns:a16="http://schemas.microsoft.com/office/drawing/2014/main" id="{BB25E913-32A3-40A4-9BA9-82FFDCFB8AD2}"/>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8919" name="Rectangle 7">
            <a:extLst>
              <a:ext uri="{FF2B5EF4-FFF2-40B4-BE49-F238E27FC236}">
                <a16:creationId xmlns:a16="http://schemas.microsoft.com/office/drawing/2014/main" id="{2C0BA77D-142B-4D54-B52D-2C21D8BA5066}"/>
              </a:ext>
            </a:extLst>
          </p:cNvPr>
          <p:cNvSpPr>
            <a:spLocks noChangeArrowheads="1"/>
          </p:cNvSpPr>
          <p:nvPr/>
        </p:nvSpPr>
        <p:spPr bwMode="auto">
          <a:xfrm>
            <a:off x="0" y="28892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8920" name="Rectangle 8">
            <a:extLst>
              <a:ext uri="{FF2B5EF4-FFF2-40B4-BE49-F238E27FC236}">
                <a16:creationId xmlns:a16="http://schemas.microsoft.com/office/drawing/2014/main" id="{8254A5DE-09D6-4876-8909-E7532BA0575A}"/>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8921" name="Rectangle 9">
            <a:extLst>
              <a:ext uri="{FF2B5EF4-FFF2-40B4-BE49-F238E27FC236}">
                <a16:creationId xmlns:a16="http://schemas.microsoft.com/office/drawing/2014/main" id="{120060EF-6D3E-4FB5-9D7E-364190C66CD1}"/>
              </a:ext>
            </a:extLst>
          </p:cNvPr>
          <p:cNvSpPr>
            <a:spLocks noChangeArrowheads="1"/>
          </p:cNvSpPr>
          <p:nvPr/>
        </p:nvSpPr>
        <p:spPr bwMode="auto">
          <a:xfrm>
            <a:off x="0" y="293687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8922" name="Rectangle 10">
            <a:extLst>
              <a:ext uri="{FF2B5EF4-FFF2-40B4-BE49-F238E27FC236}">
                <a16:creationId xmlns:a16="http://schemas.microsoft.com/office/drawing/2014/main" id="{2D335788-C82E-4530-98DD-AD7390C865A9}"/>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8923" name="Rectangle 11">
            <a:extLst>
              <a:ext uri="{FF2B5EF4-FFF2-40B4-BE49-F238E27FC236}">
                <a16:creationId xmlns:a16="http://schemas.microsoft.com/office/drawing/2014/main" id="{3481F753-ADA0-460B-930C-4E9243AE9AB1}"/>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14" name="矩形 13">
            <a:extLst>
              <a:ext uri="{FF2B5EF4-FFF2-40B4-BE49-F238E27FC236}">
                <a16:creationId xmlns:a16="http://schemas.microsoft.com/office/drawing/2014/main" id="{42B61881-74BD-4661-8D17-756244BC68FB}"/>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38925" name="Text Box 2">
            <a:extLst>
              <a:ext uri="{FF2B5EF4-FFF2-40B4-BE49-F238E27FC236}">
                <a16:creationId xmlns:a16="http://schemas.microsoft.com/office/drawing/2014/main" id="{C88D2575-F32C-4270-BFC2-88C90144CA34}"/>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3.1  </a:t>
            </a:r>
            <a:r>
              <a:rPr kumimoji="1" lang="zh-CN" altLang="en-US" sz="2800" b="1">
                <a:solidFill>
                  <a:srgbClr val="C00000"/>
                </a:solidFill>
                <a:latin typeface="微软雅黑" panose="020B0503020204020204" pitchFamily="34" charset="-122"/>
                <a:ea typeface="微软雅黑" panose="020B0503020204020204" pitchFamily="34" charset="-122"/>
              </a:rPr>
              <a:t>二极管双</a:t>
            </a:r>
            <a:r>
              <a:rPr kumimoji="1" lang="en-US" altLang="zh-CN" sz="2800" b="1">
                <a:solidFill>
                  <a:srgbClr val="C00000"/>
                </a:solidFill>
                <a:latin typeface="微软雅黑" panose="020B0503020204020204" pitchFamily="34" charset="-122"/>
                <a:ea typeface="微软雅黑" panose="020B0503020204020204" pitchFamily="34" charset="-122"/>
              </a:rPr>
              <a:t>T</a:t>
            </a:r>
            <a:r>
              <a:rPr kumimoji="1" lang="zh-CN" altLang="en-US" sz="2800" b="1">
                <a:solidFill>
                  <a:srgbClr val="C00000"/>
                </a:solidFill>
                <a:latin typeface="微软雅黑" panose="020B0503020204020204" pitchFamily="34" charset="-122"/>
                <a:ea typeface="微软雅黑" panose="020B0503020204020204" pitchFamily="34" charset="-122"/>
              </a:rPr>
              <a:t>电桥电容测量电路</a:t>
            </a:r>
          </a:p>
        </p:txBody>
      </p:sp>
      <p:pic>
        <p:nvPicPr>
          <p:cNvPr id="38926" name="图片 2">
            <a:extLst>
              <a:ext uri="{FF2B5EF4-FFF2-40B4-BE49-F238E27FC236}">
                <a16:creationId xmlns:a16="http://schemas.microsoft.com/office/drawing/2014/main" id="{C4A0B7D9-7463-472B-8239-26B842F4F7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0525" y="2220913"/>
            <a:ext cx="866775"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7" name="图片 18">
            <a:extLst>
              <a:ext uri="{FF2B5EF4-FFF2-40B4-BE49-F238E27FC236}">
                <a16:creationId xmlns:a16="http://schemas.microsoft.com/office/drawing/2014/main" id="{635F4A3E-FDB0-4980-832B-EEF0E7D225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3475" y="766763"/>
            <a:ext cx="4200525"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8" name="矩形 4">
            <a:extLst>
              <a:ext uri="{FF2B5EF4-FFF2-40B4-BE49-F238E27FC236}">
                <a16:creationId xmlns:a16="http://schemas.microsoft.com/office/drawing/2014/main" id="{01840FF1-AD43-4563-ADD4-56715AF675C1}"/>
              </a:ext>
            </a:extLst>
          </p:cNvPr>
          <p:cNvSpPr>
            <a:spLocks noChangeArrowheads="1"/>
          </p:cNvSpPr>
          <p:nvPr/>
        </p:nvSpPr>
        <p:spPr bwMode="auto">
          <a:xfrm>
            <a:off x="1136650" y="6288088"/>
            <a:ext cx="24622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b="1" i="1">
                <a:solidFill>
                  <a:srgbClr val="FF0000"/>
                </a:solidFill>
                <a:latin typeface="微软雅黑" panose="020B0503020204020204" pitchFamily="34" charset="-122"/>
                <a:ea typeface="微软雅黑" panose="020B0503020204020204" pitchFamily="34" charset="-122"/>
              </a:rPr>
              <a:t>E</a:t>
            </a:r>
            <a:r>
              <a:rPr lang="en-US" altLang="zh-CN" sz="1800" b="1">
                <a:solidFill>
                  <a:srgbClr val="0000FF"/>
                </a:solidFill>
                <a:latin typeface="微软雅黑" panose="020B0503020204020204" pitchFamily="34" charset="-122"/>
                <a:ea typeface="微软雅黑" panose="020B0503020204020204" pitchFamily="34" charset="-122"/>
              </a:rPr>
              <a:t> </a:t>
            </a:r>
            <a:r>
              <a:rPr lang="zh-CN" altLang="en-US" sz="1800" b="1">
                <a:solidFill>
                  <a:srgbClr val="0000FF"/>
                </a:solidFill>
                <a:latin typeface="微软雅黑" panose="020B0503020204020204" pitchFamily="34" charset="-122"/>
                <a:ea typeface="微软雅黑" panose="020B0503020204020204" pitchFamily="34" charset="-122"/>
              </a:rPr>
              <a:t>正半周</a:t>
            </a:r>
            <a:r>
              <a:rPr lang="zh-CN" altLang="en-US" sz="1800" b="1">
                <a:latin typeface="微软雅黑" panose="020B0503020204020204" pitchFamily="34" charset="-122"/>
                <a:ea typeface="微软雅黑" panose="020B0503020204020204" pitchFamily="34" charset="-122"/>
              </a:rPr>
              <a:t>时的等效电路</a:t>
            </a:r>
            <a:endParaRPr lang="zh-CN" altLang="en-US" sz="1800"/>
          </a:p>
        </p:txBody>
      </p:sp>
      <p:sp>
        <p:nvSpPr>
          <p:cNvPr id="38929" name="文本框 5">
            <a:extLst>
              <a:ext uri="{FF2B5EF4-FFF2-40B4-BE49-F238E27FC236}">
                <a16:creationId xmlns:a16="http://schemas.microsoft.com/office/drawing/2014/main" id="{29E478F6-D3EA-4BF8-ACDE-B53565811274}"/>
              </a:ext>
            </a:extLst>
          </p:cNvPr>
          <p:cNvSpPr txBox="1">
            <a:spLocks noChangeArrowheads="1"/>
          </p:cNvSpPr>
          <p:nvPr/>
        </p:nvSpPr>
        <p:spPr bwMode="auto">
          <a:xfrm>
            <a:off x="5205413" y="2055813"/>
            <a:ext cx="46037"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a:solidFill>
                  <a:srgbClr val="FF0000"/>
                </a:solidFill>
              </a:rPr>
              <a:t>+</a:t>
            </a:r>
            <a:endParaRPr lang="zh-CN" altLang="en-US">
              <a:solidFill>
                <a:srgbClr val="FF0000"/>
              </a:solidFill>
            </a:endParaRPr>
          </a:p>
        </p:txBody>
      </p:sp>
      <p:cxnSp>
        <p:nvCxnSpPr>
          <p:cNvPr id="8" name="直接连接符 7">
            <a:extLst>
              <a:ext uri="{FF2B5EF4-FFF2-40B4-BE49-F238E27FC236}">
                <a16:creationId xmlns:a16="http://schemas.microsoft.com/office/drawing/2014/main" id="{BD3E1F0F-74CC-4BF2-A0A5-A992284442A3}"/>
              </a:ext>
            </a:extLst>
          </p:cNvPr>
          <p:cNvCxnSpPr>
            <a:cxnSpLocks/>
          </p:cNvCxnSpPr>
          <p:nvPr/>
        </p:nvCxnSpPr>
        <p:spPr>
          <a:xfrm>
            <a:off x="6011863" y="1812925"/>
            <a:ext cx="504825" cy="0"/>
          </a:xfrm>
          <a:prstGeom prst="line">
            <a:avLst/>
          </a:prstGeom>
          <a:ln w="635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924ED899-4938-487A-8066-7CFE07823F8E}"/>
              </a:ext>
            </a:extLst>
          </p:cNvPr>
          <p:cNvCxnSpPr/>
          <p:nvPr/>
        </p:nvCxnSpPr>
        <p:spPr>
          <a:xfrm flipH="1">
            <a:off x="6097588" y="1052513"/>
            <a:ext cx="419100" cy="360362"/>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445A6A8E-0AB5-4D1A-9EA8-656DE052E44E}"/>
              </a:ext>
            </a:extLst>
          </p:cNvPr>
          <p:cNvCxnSpPr/>
          <p:nvPr/>
        </p:nvCxnSpPr>
        <p:spPr>
          <a:xfrm>
            <a:off x="6097588" y="1008063"/>
            <a:ext cx="419100" cy="374650"/>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
        <p:nvSpPr>
          <p:cNvPr id="38933" name="矩形 12">
            <a:extLst>
              <a:ext uri="{FF2B5EF4-FFF2-40B4-BE49-F238E27FC236}">
                <a16:creationId xmlns:a16="http://schemas.microsoft.com/office/drawing/2014/main" id="{6AA5DDA6-C37B-45A7-8E51-78852A3B0879}"/>
              </a:ext>
            </a:extLst>
          </p:cNvPr>
          <p:cNvSpPr>
            <a:spLocks noChangeArrowheads="1"/>
          </p:cNvSpPr>
          <p:nvPr/>
        </p:nvSpPr>
        <p:spPr bwMode="auto">
          <a:xfrm>
            <a:off x="600075" y="1851025"/>
            <a:ext cx="2771775"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2000" b="1">
                <a:latin typeface="微软雅黑" panose="020B0503020204020204" pitchFamily="34" charset="-122"/>
                <a:ea typeface="微软雅黑" panose="020B0503020204020204" pitchFamily="34" charset="-122"/>
              </a:rPr>
              <a:t>C</a:t>
            </a:r>
            <a:r>
              <a:rPr lang="en-US" altLang="zh-CN" sz="2000" b="1" baseline="-25000">
                <a:latin typeface="微软雅黑" panose="020B0503020204020204" pitchFamily="34" charset="-122"/>
                <a:ea typeface="微软雅黑" panose="020B0503020204020204" pitchFamily="34" charset="-122"/>
              </a:rPr>
              <a:t>1</a:t>
            </a:r>
            <a:r>
              <a:rPr lang="zh-CN" altLang="en-US" sz="2000" b="1">
                <a:latin typeface="微软雅黑" panose="020B0503020204020204" pitchFamily="34" charset="-122"/>
                <a:ea typeface="微软雅黑" panose="020B0503020204020204" pitchFamily="34" charset="-122"/>
              </a:rPr>
              <a:t>立即充电至电源电压</a:t>
            </a:r>
            <a:r>
              <a:rPr lang="en-US" altLang="zh-CN" sz="2000" b="1">
                <a:latin typeface="微软雅黑" panose="020B0503020204020204" pitchFamily="34" charset="-122"/>
                <a:ea typeface="微软雅黑" panose="020B0503020204020204" pitchFamily="34" charset="-122"/>
              </a:rPr>
              <a:t>   </a:t>
            </a:r>
          </a:p>
        </p:txBody>
      </p:sp>
      <p:sp>
        <p:nvSpPr>
          <p:cNvPr id="38934" name="矩形 4">
            <a:extLst>
              <a:ext uri="{FF2B5EF4-FFF2-40B4-BE49-F238E27FC236}">
                <a16:creationId xmlns:a16="http://schemas.microsoft.com/office/drawing/2014/main" id="{05FB7264-98B9-4668-95C0-880645F85C31}"/>
              </a:ext>
            </a:extLst>
          </p:cNvPr>
          <p:cNvSpPr>
            <a:spLocks noChangeArrowheads="1"/>
          </p:cNvSpPr>
          <p:nvPr/>
        </p:nvSpPr>
        <p:spPr bwMode="auto">
          <a:xfrm>
            <a:off x="5435600" y="6300788"/>
            <a:ext cx="2463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b="1" i="1">
                <a:solidFill>
                  <a:srgbClr val="FF0000"/>
                </a:solidFill>
                <a:latin typeface="微软雅黑" panose="020B0503020204020204" pitchFamily="34" charset="-122"/>
                <a:ea typeface="微软雅黑" panose="020B0503020204020204" pitchFamily="34" charset="-122"/>
              </a:rPr>
              <a:t>E </a:t>
            </a:r>
            <a:r>
              <a:rPr lang="zh-CN" altLang="en-US" sz="1800" b="1">
                <a:solidFill>
                  <a:srgbClr val="0000FF"/>
                </a:solidFill>
                <a:latin typeface="微软雅黑" panose="020B0503020204020204" pitchFamily="34" charset="-122"/>
                <a:ea typeface="微软雅黑" panose="020B0503020204020204" pitchFamily="34" charset="-122"/>
              </a:rPr>
              <a:t>负半周</a:t>
            </a:r>
            <a:r>
              <a:rPr lang="zh-CN" altLang="en-US" sz="1800" b="1">
                <a:latin typeface="微软雅黑" panose="020B0503020204020204" pitchFamily="34" charset="-122"/>
                <a:ea typeface="微软雅黑" panose="020B0503020204020204" pitchFamily="34" charset="-122"/>
              </a:rPr>
              <a:t>时的等效电路</a:t>
            </a:r>
            <a:endParaRPr lang="zh-CN" altLang="en-US" sz="1800"/>
          </a:p>
        </p:txBody>
      </p:sp>
      <p:sp>
        <p:nvSpPr>
          <p:cNvPr id="38935" name="Text Box 2">
            <a:extLst>
              <a:ext uri="{FF2B5EF4-FFF2-40B4-BE49-F238E27FC236}">
                <a16:creationId xmlns:a16="http://schemas.microsoft.com/office/drawing/2014/main" id="{D1E95639-1CEA-47AF-AEC9-F6602CE3D3CF}"/>
              </a:ext>
            </a:extLst>
          </p:cNvPr>
          <p:cNvSpPr txBox="1">
            <a:spLocks noChangeArrowheads="1"/>
          </p:cNvSpPr>
          <p:nvPr/>
        </p:nvSpPr>
        <p:spPr bwMode="auto">
          <a:xfrm>
            <a:off x="323850" y="2347913"/>
            <a:ext cx="3600450" cy="142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zh-CN" altLang="en-US" sz="2000" b="1">
                <a:solidFill>
                  <a:srgbClr val="0000FF"/>
                </a:solidFill>
                <a:latin typeface="微软雅黑" panose="020B0503020204020204" pitchFamily="34" charset="-122"/>
                <a:ea typeface="微软雅黑" panose="020B0503020204020204" pitchFamily="34" charset="-122"/>
              </a:rPr>
              <a:t>②电源</a:t>
            </a:r>
            <a:r>
              <a:rPr lang="en-US" altLang="zh-CN" sz="2000" b="1" i="1">
                <a:solidFill>
                  <a:srgbClr val="FF0000"/>
                </a:solidFill>
                <a:latin typeface="微软雅黑" panose="020B0503020204020204" pitchFamily="34" charset="-122"/>
                <a:ea typeface="微软雅黑" panose="020B0503020204020204" pitchFamily="34" charset="-122"/>
              </a:rPr>
              <a:t>E</a:t>
            </a:r>
            <a:r>
              <a:rPr lang="en-US" altLang="zh-CN" sz="2000" b="1" i="1">
                <a:solidFill>
                  <a:srgbClr val="0000FF"/>
                </a:solidFill>
                <a:latin typeface="微软雅黑" panose="020B0503020204020204" pitchFamily="34" charset="-122"/>
                <a:ea typeface="微软雅黑" panose="020B0503020204020204" pitchFamily="34" charset="-122"/>
              </a:rPr>
              <a:t> </a:t>
            </a:r>
            <a:r>
              <a:rPr lang="zh-CN" altLang="en-US" sz="2000" b="1">
                <a:solidFill>
                  <a:srgbClr val="0000FF"/>
                </a:solidFill>
                <a:latin typeface="微软雅黑" panose="020B0503020204020204" pitchFamily="34" charset="-122"/>
                <a:ea typeface="微软雅黑" panose="020B0503020204020204" pitchFamily="34" charset="-122"/>
              </a:rPr>
              <a:t>的负半周</a:t>
            </a:r>
          </a:p>
          <a:p>
            <a:pPr>
              <a:lnSpc>
                <a:spcPct val="150000"/>
              </a:lnSpc>
              <a:spcBef>
                <a:spcPct val="0"/>
              </a:spcBef>
              <a:buFontTx/>
              <a:buNone/>
            </a:pPr>
            <a:r>
              <a:rPr lang="en-US" altLang="zh-CN" sz="2000" b="1">
                <a:latin typeface="微软雅黑" panose="020B0503020204020204" pitchFamily="34" charset="-122"/>
                <a:ea typeface="微软雅黑" panose="020B0503020204020204" pitchFamily="34" charset="-122"/>
              </a:rPr>
              <a:t>    D</a:t>
            </a:r>
            <a:r>
              <a:rPr lang="en-US" altLang="zh-CN" sz="2000" b="1" baseline="-25000">
                <a:latin typeface="微软雅黑" panose="020B0503020204020204" pitchFamily="34" charset="-122"/>
                <a:ea typeface="微软雅黑" panose="020B0503020204020204" pitchFamily="34" charset="-122"/>
              </a:rPr>
              <a:t>1</a:t>
            </a:r>
            <a:r>
              <a:rPr lang="zh-CN" altLang="en-US" sz="2000" b="1">
                <a:latin typeface="微软雅黑" panose="020B0503020204020204" pitchFamily="34" charset="-122"/>
                <a:ea typeface="微软雅黑" panose="020B0503020204020204" pitchFamily="34" charset="-122"/>
              </a:rPr>
              <a:t>截止，</a:t>
            </a:r>
            <a:r>
              <a:rPr lang="en-US" altLang="zh-CN" sz="2000" b="1">
                <a:latin typeface="微软雅黑" panose="020B0503020204020204" pitchFamily="34" charset="-122"/>
                <a:ea typeface="微软雅黑" panose="020B0503020204020204" pitchFamily="34" charset="-122"/>
              </a:rPr>
              <a:t>D</a:t>
            </a:r>
            <a:r>
              <a:rPr lang="en-US" altLang="zh-CN" sz="2000" b="1" baseline="-25000">
                <a:latin typeface="微软雅黑" panose="020B0503020204020204" pitchFamily="34" charset="-122"/>
                <a:ea typeface="微软雅黑" panose="020B0503020204020204" pitchFamily="34" charset="-122"/>
              </a:rPr>
              <a:t>2</a:t>
            </a:r>
            <a:r>
              <a:rPr lang="zh-CN" altLang="en-US" sz="2000" b="1">
                <a:latin typeface="微软雅黑" panose="020B0503020204020204" pitchFamily="34" charset="-122"/>
                <a:ea typeface="微软雅黑" panose="020B0503020204020204" pitchFamily="34" charset="-122"/>
              </a:rPr>
              <a:t>导通</a:t>
            </a:r>
            <a:endParaRPr lang="en-US" altLang="zh-CN" sz="2000" b="1">
              <a:latin typeface="微软雅黑" panose="020B0503020204020204" pitchFamily="34" charset="-122"/>
              <a:ea typeface="微软雅黑" panose="020B0503020204020204" pitchFamily="34" charset="-122"/>
            </a:endParaRPr>
          </a:p>
          <a:p>
            <a:pPr>
              <a:lnSpc>
                <a:spcPct val="150000"/>
              </a:lnSpc>
              <a:spcBef>
                <a:spcPct val="0"/>
              </a:spcBef>
              <a:buFontTx/>
              <a:buNone/>
            </a:pPr>
            <a:r>
              <a:rPr lang="zh-CN" altLang="en-US" sz="2000" b="1">
                <a:latin typeface="微软雅黑" panose="020B0503020204020204" pitchFamily="34" charset="-122"/>
                <a:ea typeface="微软雅黑" panose="020B0503020204020204" pitchFamily="34" charset="-122"/>
              </a:rPr>
              <a:t>    </a:t>
            </a:r>
          </a:p>
        </p:txBody>
      </p:sp>
      <p:sp>
        <p:nvSpPr>
          <p:cNvPr id="38936" name="矩形 12">
            <a:extLst>
              <a:ext uri="{FF2B5EF4-FFF2-40B4-BE49-F238E27FC236}">
                <a16:creationId xmlns:a16="http://schemas.microsoft.com/office/drawing/2014/main" id="{2F9D1180-39B8-4EB3-A702-8443D5573BDD}"/>
              </a:ext>
            </a:extLst>
          </p:cNvPr>
          <p:cNvSpPr>
            <a:spLocks noChangeArrowheads="1"/>
          </p:cNvSpPr>
          <p:nvPr/>
        </p:nvSpPr>
        <p:spPr bwMode="auto">
          <a:xfrm>
            <a:off x="600075" y="3289300"/>
            <a:ext cx="2771775"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2000" b="1">
                <a:latin typeface="微软雅黑" panose="020B0503020204020204" pitchFamily="34" charset="-122"/>
                <a:ea typeface="微软雅黑" panose="020B0503020204020204" pitchFamily="34" charset="-122"/>
              </a:rPr>
              <a:t>C</a:t>
            </a:r>
            <a:r>
              <a:rPr lang="en-US" altLang="zh-CN" sz="2000" b="1" baseline="-25000">
                <a:latin typeface="微软雅黑" panose="020B0503020204020204" pitchFamily="34" charset="-122"/>
                <a:ea typeface="微软雅黑" panose="020B0503020204020204" pitchFamily="34" charset="-122"/>
              </a:rPr>
              <a:t>2</a:t>
            </a:r>
            <a:r>
              <a:rPr lang="zh-CN" altLang="en-US" sz="2000" b="1">
                <a:latin typeface="微软雅黑" panose="020B0503020204020204" pitchFamily="34" charset="-122"/>
                <a:ea typeface="微软雅黑" panose="020B0503020204020204" pitchFamily="34" charset="-122"/>
              </a:rPr>
              <a:t>立即充电至电源电压</a:t>
            </a:r>
            <a:r>
              <a:rPr lang="en-US" altLang="zh-CN" sz="2000" b="1">
                <a:latin typeface="微软雅黑" panose="020B0503020204020204" pitchFamily="34" charset="-122"/>
                <a:ea typeface="微软雅黑" panose="020B0503020204020204" pitchFamily="34" charset="-122"/>
              </a:rPr>
              <a:t>   </a:t>
            </a:r>
          </a:p>
        </p:txBody>
      </p:sp>
      <p:pic>
        <p:nvPicPr>
          <p:cNvPr id="38937" name="Picture 10">
            <a:extLst>
              <a:ext uri="{FF2B5EF4-FFF2-40B4-BE49-F238E27FC236}">
                <a16:creationId xmlns:a16="http://schemas.microsoft.com/office/drawing/2014/main" id="{1CE9DED6-5D84-473C-B3E5-E375F61A0D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775" y="3875088"/>
            <a:ext cx="346075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38" name="Picture 13">
            <a:extLst>
              <a:ext uri="{FF2B5EF4-FFF2-40B4-BE49-F238E27FC236}">
                <a16:creationId xmlns:a16="http://schemas.microsoft.com/office/drawing/2014/main" id="{E0C3DB12-6F79-40DE-8D44-80B59B6B04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67300" y="3903663"/>
            <a:ext cx="3373438" cy="227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39" name="矩形 4">
            <a:extLst>
              <a:ext uri="{FF2B5EF4-FFF2-40B4-BE49-F238E27FC236}">
                <a16:creationId xmlns:a16="http://schemas.microsoft.com/office/drawing/2014/main" id="{A35E9C19-C677-4B37-A991-EBD8BB081F98}"/>
              </a:ext>
            </a:extLst>
          </p:cNvPr>
          <p:cNvSpPr>
            <a:spLocks noChangeArrowheads="1"/>
          </p:cNvSpPr>
          <p:nvPr/>
        </p:nvSpPr>
        <p:spPr bwMode="auto">
          <a:xfrm>
            <a:off x="5765800" y="3490913"/>
            <a:ext cx="2854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b="1" i="1">
                <a:solidFill>
                  <a:srgbClr val="FF0000"/>
                </a:solidFill>
                <a:latin typeface="微软雅黑" panose="020B0503020204020204" pitchFamily="34" charset="-122"/>
                <a:ea typeface="微软雅黑" panose="020B0503020204020204" pitchFamily="34" charset="-122"/>
              </a:rPr>
              <a:t>E</a:t>
            </a:r>
            <a:r>
              <a:rPr lang="en-US" altLang="zh-CN" sz="1800" b="1">
                <a:solidFill>
                  <a:srgbClr val="0000FF"/>
                </a:solidFill>
                <a:latin typeface="微软雅黑" panose="020B0503020204020204" pitchFamily="34" charset="-122"/>
                <a:ea typeface="微软雅黑" panose="020B0503020204020204" pitchFamily="34" charset="-122"/>
              </a:rPr>
              <a:t> </a:t>
            </a:r>
            <a:r>
              <a:rPr lang="zh-CN" altLang="en-US" sz="1800" b="1">
                <a:solidFill>
                  <a:srgbClr val="0000FF"/>
                </a:solidFill>
                <a:latin typeface="微软雅黑" panose="020B0503020204020204" pitchFamily="34" charset="-122"/>
                <a:ea typeface="微软雅黑" panose="020B0503020204020204" pitchFamily="34" charset="-122"/>
              </a:rPr>
              <a:t>正半周</a:t>
            </a:r>
            <a:r>
              <a:rPr lang="en-US" altLang="zh-CN" sz="1800" b="1">
                <a:latin typeface="微软雅黑" panose="020B0503020204020204" pitchFamily="34" charset="-122"/>
                <a:ea typeface="微软雅黑" panose="020B0503020204020204" pitchFamily="34" charset="-122"/>
              </a:rPr>
              <a:t>D</a:t>
            </a:r>
            <a:r>
              <a:rPr lang="en-US" altLang="zh-CN" sz="1800" b="1" baseline="-25000">
                <a:latin typeface="微软雅黑" panose="020B0503020204020204" pitchFamily="34" charset="-122"/>
                <a:ea typeface="微软雅黑" panose="020B0503020204020204" pitchFamily="34" charset="-122"/>
              </a:rPr>
              <a:t>1</a:t>
            </a:r>
            <a:r>
              <a:rPr lang="zh-CN" altLang="en-US" sz="1800" b="1">
                <a:latin typeface="微软雅黑" panose="020B0503020204020204" pitchFamily="34" charset="-122"/>
                <a:ea typeface="微软雅黑" panose="020B0503020204020204" pitchFamily="34" charset="-122"/>
              </a:rPr>
              <a:t>导通，</a:t>
            </a:r>
            <a:r>
              <a:rPr lang="en-US" altLang="zh-CN" sz="1800" b="1">
                <a:latin typeface="微软雅黑" panose="020B0503020204020204" pitchFamily="34" charset="-122"/>
                <a:ea typeface="微软雅黑" panose="020B0503020204020204" pitchFamily="34" charset="-122"/>
              </a:rPr>
              <a:t>D</a:t>
            </a:r>
            <a:r>
              <a:rPr lang="en-US" altLang="zh-CN" sz="1800" b="1" baseline="-25000">
                <a:latin typeface="微软雅黑" panose="020B0503020204020204" pitchFamily="34" charset="-122"/>
                <a:ea typeface="微软雅黑" panose="020B0503020204020204" pitchFamily="34" charset="-122"/>
              </a:rPr>
              <a:t>2</a:t>
            </a:r>
            <a:r>
              <a:rPr lang="zh-CN" altLang="en-US" sz="1800" b="1">
                <a:latin typeface="微软雅黑" panose="020B0503020204020204" pitchFamily="34" charset="-122"/>
                <a:ea typeface="微软雅黑" panose="020B0503020204020204" pitchFamily="34" charset="-122"/>
              </a:rPr>
              <a:t>截止</a:t>
            </a:r>
            <a:r>
              <a:rPr lang="en-US" altLang="zh-CN" sz="1800" b="1">
                <a:latin typeface="微软雅黑" panose="020B0503020204020204" pitchFamily="34" charset="-122"/>
                <a:ea typeface="微软雅黑" panose="020B0503020204020204" pitchFamily="34" charset="-122"/>
              </a:rPr>
              <a:t> </a:t>
            </a:r>
            <a:endParaRPr lang="zh-CN" altLang="en-US" sz="1800"/>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42B61881-74BD-4661-8D17-756244BC68FB}"/>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39939" name="Text Box 2">
            <a:extLst>
              <a:ext uri="{FF2B5EF4-FFF2-40B4-BE49-F238E27FC236}">
                <a16:creationId xmlns:a16="http://schemas.microsoft.com/office/drawing/2014/main" id="{3ED10BAD-E11C-4E58-8AB0-9E172C8E76E6}"/>
              </a:ext>
            </a:extLst>
          </p:cNvPr>
          <p:cNvSpPr txBox="1">
            <a:spLocks noChangeArrowheads="1"/>
          </p:cNvSpPr>
          <p:nvPr/>
        </p:nvSpPr>
        <p:spPr bwMode="auto">
          <a:xfrm>
            <a:off x="639763" y="922338"/>
            <a:ext cx="3600450" cy="50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zh-CN" altLang="en-US" sz="2000" b="1">
                <a:solidFill>
                  <a:srgbClr val="0000FF"/>
                </a:solidFill>
                <a:latin typeface="微软雅黑" panose="020B0503020204020204" pitchFamily="34" charset="-122"/>
                <a:ea typeface="微软雅黑" panose="020B0503020204020204" pitchFamily="34" charset="-122"/>
              </a:rPr>
              <a:t>①电源</a:t>
            </a:r>
            <a:r>
              <a:rPr lang="en-US" altLang="zh-CN" sz="2000" b="1" i="1">
                <a:solidFill>
                  <a:srgbClr val="FF0000"/>
                </a:solidFill>
                <a:latin typeface="微软雅黑" panose="020B0503020204020204" pitchFamily="34" charset="-122"/>
                <a:ea typeface="微软雅黑" panose="020B0503020204020204" pitchFamily="34" charset="-122"/>
              </a:rPr>
              <a:t>E</a:t>
            </a:r>
            <a:r>
              <a:rPr lang="en-US" altLang="zh-CN" sz="2000" b="1" i="1">
                <a:solidFill>
                  <a:srgbClr val="0000FF"/>
                </a:solidFill>
                <a:latin typeface="微软雅黑" panose="020B0503020204020204" pitchFamily="34" charset="-122"/>
                <a:ea typeface="微软雅黑" panose="020B0503020204020204" pitchFamily="34" charset="-122"/>
              </a:rPr>
              <a:t> </a:t>
            </a:r>
            <a:r>
              <a:rPr lang="zh-CN" altLang="en-US" sz="2000" b="1">
                <a:solidFill>
                  <a:srgbClr val="0000FF"/>
                </a:solidFill>
                <a:latin typeface="微软雅黑" panose="020B0503020204020204" pitchFamily="34" charset="-122"/>
                <a:ea typeface="微软雅黑" panose="020B0503020204020204" pitchFamily="34" charset="-122"/>
              </a:rPr>
              <a:t>的正半周</a:t>
            </a:r>
            <a:r>
              <a:rPr lang="zh-CN" altLang="en-US" sz="2000" b="1">
                <a:latin typeface="微软雅黑" panose="020B0503020204020204" pitchFamily="34" charset="-122"/>
                <a:ea typeface="微软雅黑" panose="020B0503020204020204" pitchFamily="34" charset="-122"/>
              </a:rPr>
              <a:t>    </a:t>
            </a:r>
          </a:p>
        </p:txBody>
      </p:sp>
      <p:sp>
        <p:nvSpPr>
          <p:cNvPr id="39940" name="Rectangle 3">
            <a:extLst>
              <a:ext uri="{FF2B5EF4-FFF2-40B4-BE49-F238E27FC236}">
                <a16:creationId xmlns:a16="http://schemas.microsoft.com/office/drawing/2014/main" id="{20871127-5685-48C4-9FAA-06D00799F10E}"/>
              </a:ext>
            </a:extLst>
          </p:cNvPr>
          <p:cNvSpPr>
            <a:spLocks noChangeArrowheads="1"/>
          </p:cNvSpPr>
          <p:nvPr/>
        </p:nvSpPr>
        <p:spPr bwMode="auto">
          <a:xfrm>
            <a:off x="0" y="226060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9941" name="Rectangle 4">
            <a:extLst>
              <a:ext uri="{FF2B5EF4-FFF2-40B4-BE49-F238E27FC236}">
                <a16:creationId xmlns:a16="http://schemas.microsoft.com/office/drawing/2014/main" id="{07DB3B44-49AE-4671-93AF-C4F40CB3F4C0}"/>
              </a:ext>
            </a:extLst>
          </p:cNvPr>
          <p:cNvSpPr>
            <a:spLocks noChangeArrowheads="1"/>
          </p:cNvSpPr>
          <p:nvPr/>
        </p:nvSpPr>
        <p:spPr bwMode="auto">
          <a:xfrm>
            <a:off x="0" y="29654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9942" name="Rectangle 5">
            <a:extLst>
              <a:ext uri="{FF2B5EF4-FFF2-40B4-BE49-F238E27FC236}">
                <a16:creationId xmlns:a16="http://schemas.microsoft.com/office/drawing/2014/main" id="{363416A0-2F00-4B5F-917F-DDC2232BDCE7}"/>
              </a:ext>
            </a:extLst>
          </p:cNvPr>
          <p:cNvSpPr>
            <a:spLocks noChangeArrowheads="1"/>
          </p:cNvSpPr>
          <p:nvPr/>
        </p:nvSpPr>
        <p:spPr bwMode="auto">
          <a:xfrm>
            <a:off x="0" y="29654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9943" name="Rectangle 6">
            <a:extLst>
              <a:ext uri="{FF2B5EF4-FFF2-40B4-BE49-F238E27FC236}">
                <a16:creationId xmlns:a16="http://schemas.microsoft.com/office/drawing/2014/main" id="{C676E502-6FC0-47F7-A1FD-D47B569E14C8}"/>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9944" name="Rectangle 7">
            <a:extLst>
              <a:ext uri="{FF2B5EF4-FFF2-40B4-BE49-F238E27FC236}">
                <a16:creationId xmlns:a16="http://schemas.microsoft.com/office/drawing/2014/main" id="{63370C9B-07C0-40DC-841E-371DF7CAF5B8}"/>
              </a:ext>
            </a:extLst>
          </p:cNvPr>
          <p:cNvSpPr>
            <a:spLocks noChangeArrowheads="1"/>
          </p:cNvSpPr>
          <p:nvPr/>
        </p:nvSpPr>
        <p:spPr bwMode="auto">
          <a:xfrm>
            <a:off x="0" y="28892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9945" name="Rectangle 8">
            <a:extLst>
              <a:ext uri="{FF2B5EF4-FFF2-40B4-BE49-F238E27FC236}">
                <a16:creationId xmlns:a16="http://schemas.microsoft.com/office/drawing/2014/main" id="{B19F7EA6-C177-457A-8D2F-F38ADD3E013D}"/>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9946" name="Rectangle 9">
            <a:extLst>
              <a:ext uri="{FF2B5EF4-FFF2-40B4-BE49-F238E27FC236}">
                <a16:creationId xmlns:a16="http://schemas.microsoft.com/office/drawing/2014/main" id="{0E002F67-4FB7-4547-803C-16C497D83A68}"/>
              </a:ext>
            </a:extLst>
          </p:cNvPr>
          <p:cNvSpPr>
            <a:spLocks noChangeArrowheads="1"/>
          </p:cNvSpPr>
          <p:nvPr/>
        </p:nvSpPr>
        <p:spPr bwMode="auto">
          <a:xfrm>
            <a:off x="0" y="293687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9947" name="Rectangle 10">
            <a:extLst>
              <a:ext uri="{FF2B5EF4-FFF2-40B4-BE49-F238E27FC236}">
                <a16:creationId xmlns:a16="http://schemas.microsoft.com/office/drawing/2014/main" id="{390AF057-38CA-4BD4-937C-1CADCA3FB6FF}"/>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9948" name="Rectangle 11">
            <a:extLst>
              <a:ext uri="{FF2B5EF4-FFF2-40B4-BE49-F238E27FC236}">
                <a16:creationId xmlns:a16="http://schemas.microsoft.com/office/drawing/2014/main" id="{C1A93304-B332-4F67-B03F-E0BC7DC88785}"/>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9949" name="Text Box 2">
            <a:extLst>
              <a:ext uri="{FF2B5EF4-FFF2-40B4-BE49-F238E27FC236}">
                <a16:creationId xmlns:a16="http://schemas.microsoft.com/office/drawing/2014/main" id="{295C9D16-0E74-4CE3-B8B4-2D8779D083AA}"/>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3.1  </a:t>
            </a:r>
            <a:r>
              <a:rPr kumimoji="1" lang="zh-CN" altLang="en-US" sz="2800" b="1">
                <a:solidFill>
                  <a:srgbClr val="C00000"/>
                </a:solidFill>
                <a:latin typeface="微软雅黑" panose="020B0503020204020204" pitchFamily="34" charset="-122"/>
                <a:ea typeface="微软雅黑" panose="020B0503020204020204" pitchFamily="34" charset="-122"/>
              </a:rPr>
              <a:t>二极管双</a:t>
            </a:r>
            <a:r>
              <a:rPr kumimoji="1" lang="en-US" altLang="zh-CN" sz="2800" b="1">
                <a:solidFill>
                  <a:srgbClr val="C00000"/>
                </a:solidFill>
                <a:latin typeface="微软雅黑" panose="020B0503020204020204" pitchFamily="34" charset="-122"/>
                <a:ea typeface="微软雅黑" panose="020B0503020204020204" pitchFamily="34" charset="-122"/>
              </a:rPr>
              <a:t>T</a:t>
            </a:r>
            <a:r>
              <a:rPr kumimoji="1" lang="zh-CN" altLang="en-US" sz="2800" b="1">
                <a:solidFill>
                  <a:srgbClr val="C00000"/>
                </a:solidFill>
                <a:latin typeface="微软雅黑" panose="020B0503020204020204" pitchFamily="34" charset="-122"/>
                <a:ea typeface="微软雅黑" panose="020B0503020204020204" pitchFamily="34" charset="-122"/>
              </a:rPr>
              <a:t>电桥电容测量电路</a:t>
            </a:r>
          </a:p>
        </p:txBody>
      </p:sp>
      <p:sp>
        <p:nvSpPr>
          <p:cNvPr id="39950" name="矩形 12">
            <a:extLst>
              <a:ext uri="{FF2B5EF4-FFF2-40B4-BE49-F238E27FC236}">
                <a16:creationId xmlns:a16="http://schemas.microsoft.com/office/drawing/2014/main" id="{418FDC72-9827-4160-8D07-3FB73B67C886}"/>
              </a:ext>
            </a:extLst>
          </p:cNvPr>
          <p:cNvSpPr>
            <a:spLocks noChangeArrowheads="1"/>
          </p:cNvSpPr>
          <p:nvPr/>
        </p:nvSpPr>
        <p:spPr bwMode="auto">
          <a:xfrm>
            <a:off x="673100" y="2011363"/>
            <a:ext cx="277177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2000" b="1">
                <a:latin typeface="微软雅黑" panose="020B0503020204020204" pitchFamily="34" charset="-122"/>
                <a:ea typeface="微软雅黑" panose="020B0503020204020204" pitchFamily="34" charset="-122"/>
              </a:rPr>
              <a:t>   </a:t>
            </a:r>
          </a:p>
        </p:txBody>
      </p:sp>
      <p:grpSp>
        <p:nvGrpSpPr>
          <p:cNvPr id="39951" name="组合 10">
            <a:extLst>
              <a:ext uri="{FF2B5EF4-FFF2-40B4-BE49-F238E27FC236}">
                <a16:creationId xmlns:a16="http://schemas.microsoft.com/office/drawing/2014/main" id="{420C5FEC-29E2-440E-B29C-15AC174E4BE9}"/>
              </a:ext>
            </a:extLst>
          </p:cNvPr>
          <p:cNvGrpSpPr>
            <a:grpSpLocks/>
          </p:cNvGrpSpPr>
          <p:nvPr/>
        </p:nvGrpSpPr>
        <p:grpSpPr bwMode="auto">
          <a:xfrm>
            <a:off x="2843213" y="968375"/>
            <a:ext cx="3460750" cy="2309813"/>
            <a:chOff x="4788024" y="784444"/>
            <a:chExt cx="3460255" cy="2309560"/>
          </a:xfrm>
        </p:grpSpPr>
        <p:pic>
          <p:nvPicPr>
            <p:cNvPr id="39961" name="Picture 10">
              <a:extLst>
                <a:ext uri="{FF2B5EF4-FFF2-40B4-BE49-F238E27FC236}">
                  <a16:creationId xmlns:a16="http://schemas.microsoft.com/office/drawing/2014/main" id="{DA854B7D-7A92-4009-965D-FFC239F6B4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784444"/>
              <a:ext cx="3460255" cy="2309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62" name="文本框 5">
              <a:extLst>
                <a:ext uri="{FF2B5EF4-FFF2-40B4-BE49-F238E27FC236}">
                  <a16:creationId xmlns:a16="http://schemas.microsoft.com/office/drawing/2014/main" id="{6237604F-5337-4828-90E0-0B3F4AFDE5D5}"/>
                </a:ext>
              </a:extLst>
            </p:cNvPr>
            <p:cNvSpPr txBox="1">
              <a:spLocks noChangeArrowheads="1"/>
            </p:cNvSpPr>
            <p:nvPr/>
          </p:nvSpPr>
          <p:spPr bwMode="auto">
            <a:xfrm flipH="1">
              <a:off x="5148064" y="1763149"/>
              <a:ext cx="436812"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a:solidFill>
                    <a:srgbClr val="FF0000"/>
                  </a:solidFill>
                </a:rPr>
                <a:t>+</a:t>
              </a:r>
              <a:endParaRPr lang="zh-CN" altLang="en-US">
                <a:solidFill>
                  <a:srgbClr val="FF0000"/>
                </a:solidFill>
              </a:endParaRPr>
            </a:p>
          </p:txBody>
        </p:sp>
      </p:grpSp>
      <p:sp>
        <p:nvSpPr>
          <p:cNvPr id="39952" name="矩形 5">
            <a:extLst>
              <a:ext uri="{FF2B5EF4-FFF2-40B4-BE49-F238E27FC236}">
                <a16:creationId xmlns:a16="http://schemas.microsoft.com/office/drawing/2014/main" id="{1808924A-E5D2-4161-A73B-92103390AF55}"/>
              </a:ext>
            </a:extLst>
          </p:cNvPr>
          <p:cNvSpPr>
            <a:spLocks noChangeArrowheads="1"/>
          </p:cNvSpPr>
          <p:nvPr/>
        </p:nvSpPr>
        <p:spPr bwMode="auto">
          <a:xfrm>
            <a:off x="841375" y="3213100"/>
            <a:ext cx="6308137" cy="458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1800" b="1" dirty="0">
                <a:latin typeface="微软雅黑" panose="020B0503020204020204" pitchFamily="34" charset="-122"/>
                <a:ea typeface="微软雅黑" panose="020B0503020204020204" pitchFamily="34" charset="-122"/>
              </a:rPr>
              <a:t>1)</a:t>
            </a:r>
            <a:r>
              <a:rPr lang="zh-CN" altLang="en-US" sz="1800" b="1" dirty="0">
                <a:solidFill>
                  <a:srgbClr val="FF0000"/>
                </a:solidFill>
                <a:latin typeface="微软雅黑" panose="020B0503020204020204" pitchFamily="34" charset="-122"/>
                <a:ea typeface="微软雅黑" panose="020B0503020204020204" pitchFamily="34" charset="-122"/>
              </a:rPr>
              <a:t>红线时刻（上升沿）</a:t>
            </a:r>
            <a:r>
              <a:rPr lang="zh-CN" altLang="en-US" sz="1800" b="1" dirty="0">
                <a:latin typeface="微软雅黑" panose="020B0503020204020204" pitchFamily="34" charset="-122"/>
                <a:ea typeface="微软雅黑" panose="020B0503020204020204" pitchFamily="34" charset="-122"/>
              </a:rPr>
              <a:t>：</a:t>
            </a:r>
            <a:r>
              <a:rPr lang="en-US" altLang="zh-CN" sz="1800" b="1" dirty="0">
                <a:solidFill>
                  <a:srgbClr val="0099FF"/>
                </a:solidFill>
                <a:latin typeface="微软雅黑" panose="020B0503020204020204" pitchFamily="34" charset="-122"/>
                <a:ea typeface="微软雅黑" panose="020B0503020204020204" pitchFamily="34" charset="-122"/>
              </a:rPr>
              <a:t>C</a:t>
            </a:r>
            <a:r>
              <a:rPr lang="en-US" altLang="zh-CN" sz="1800" b="1" baseline="-25000" dirty="0">
                <a:solidFill>
                  <a:srgbClr val="0099FF"/>
                </a:solidFill>
                <a:latin typeface="微软雅黑" panose="020B0503020204020204" pitchFamily="34" charset="-122"/>
                <a:ea typeface="微软雅黑" panose="020B0503020204020204" pitchFamily="34" charset="-122"/>
              </a:rPr>
              <a:t>1</a:t>
            </a:r>
            <a:r>
              <a:rPr lang="zh-CN" altLang="en-US" sz="1800" b="1" dirty="0">
                <a:latin typeface="微软雅黑" panose="020B0503020204020204" pitchFamily="34" charset="-122"/>
                <a:ea typeface="微软雅黑" panose="020B0503020204020204" pitchFamily="34" charset="-122"/>
              </a:rPr>
              <a:t>立即充电至电源电压，等于</a:t>
            </a:r>
            <a:r>
              <a:rPr lang="en-US" altLang="zh-CN" sz="1800" b="1" dirty="0">
                <a:solidFill>
                  <a:srgbClr val="00B050"/>
                </a:solidFill>
                <a:latin typeface="微软雅黑" panose="020B0503020204020204" pitchFamily="34" charset="-122"/>
                <a:ea typeface="微软雅黑" panose="020B0503020204020204" pitchFamily="34" charset="-122"/>
              </a:rPr>
              <a:t>+U</a:t>
            </a:r>
            <a:r>
              <a:rPr lang="en-US" altLang="zh-CN" sz="1800" b="1" dirty="0">
                <a:latin typeface="微软雅黑" panose="020B0503020204020204" pitchFamily="34" charset="-122"/>
                <a:ea typeface="微软雅黑" panose="020B0503020204020204" pitchFamily="34" charset="-122"/>
              </a:rPr>
              <a:t>   </a:t>
            </a:r>
          </a:p>
        </p:txBody>
      </p:sp>
      <p:pic>
        <p:nvPicPr>
          <p:cNvPr id="39953" name="图片 6">
            <a:extLst>
              <a:ext uri="{FF2B5EF4-FFF2-40B4-BE49-F238E27FC236}">
                <a16:creationId xmlns:a16="http://schemas.microsoft.com/office/drawing/2014/main" id="{2D00161E-9D5E-42D9-BA64-8EB8540B70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238" y="1682750"/>
            <a:ext cx="1992312"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矩形 42">
            <a:extLst>
              <a:ext uri="{FF2B5EF4-FFF2-40B4-BE49-F238E27FC236}">
                <a16:creationId xmlns:a16="http://schemas.microsoft.com/office/drawing/2014/main" id="{6F02CFA6-6D6C-4BDA-928A-E11800290DF9}"/>
              </a:ext>
            </a:extLst>
          </p:cNvPr>
          <p:cNvSpPr/>
          <p:nvPr/>
        </p:nvSpPr>
        <p:spPr>
          <a:xfrm>
            <a:off x="835025" y="3671888"/>
            <a:ext cx="6689725" cy="458787"/>
          </a:xfrm>
          <a:prstGeom prst="rect">
            <a:avLst/>
          </a:prstGeom>
        </p:spPr>
        <p:txBody>
          <a:bodyPr>
            <a:spAutoFit/>
          </a:bodyPr>
          <a:lstStyle/>
          <a:p>
            <a:pPr>
              <a:lnSpc>
                <a:spcPct val="150000"/>
              </a:lnSpc>
              <a:defRPr/>
            </a:pPr>
            <a:r>
              <a:rPr lang="en-US" altLang="zh-CN" b="1" dirty="0">
                <a:solidFill>
                  <a:srgbClr val="0099FF"/>
                </a:solidFill>
                <a:latin typeface="微软雅黑" panose="020B0503020204020204" pitchFamily="34" charset="-122"/>
                <a:ea typeface="微软雅黑" panose="020B0503020204020204" pitchFamily="34" charset="-122"/>
              </a:rPr>
              <a:t>	       C</a:t>
            </a:r>
            <a:r>
              <a:rPr lang="en-US" altLang="zh-CN" b="1" baseline="-25000" dirty="0">
                <a:solidFill>
                  <a:srgbClr val="0099FF"/>
                </a:solidFill>
                <a:latin typeface="微软雅黑" panose="020B0503020204020204" pitchFamily="34" charset="-122"/>
                <a:ea typeface="微软雅黑" panose="020B0503020204020204" pitchFamily="34" charset="-122"/>
              </a:rPr>
              <a:t>0 </a:t>
            </a:r>
            <a:r>
              <a:rPr lang="zh-CN" altLang="en-US" b="1" dirty="0">
                <a:latin typeface="微软雅黑" panose="020B0503020204020204" pitchFamily="34" charset="-122"/>
                <a:ea typeface="微软雅黑" panose="020B0503020204020204" pitchFamily="34" charset="-122"/>
              </a:rPr>
              <a:t>的初始电压为</a:t>
            </a:r>
            <a:r>
              <a:rPr lang="en-US" altLang="zh-CN" b="1" dirty="0">
                <a:solidFill>
                  <a:srgbClr val="00B050"/>
                </a:solidFill>
                <a:latin typeface="微软雅黑" panose="020B0503020204020204" pitchFamily="34" charset="-122"/>
                <a:ea typeface="微软雅黑" panose="020B0503020204020204" pitchFamily="34" charset="-122"/>
              </a:rPr>
              <a:t>-U</a:t>
            </a:r>
            <a:r>
              <a:rPr lang="en-US" altLang="zh-CN" b="1" dirty="0">
                <a:latin typeface="微软雅黑" panose="020B0503020204020204" pitchFamily="34" charset="-122"/>
                <a:ea typeface="微软雅黑" panose="020B0503020204020204" pitchFamily="34" charset="-122"/>
              </a:rPr>
              <a:t>(</a:t>
            </a:r>
            <a:r>
              <a:rPr lang="zh-CN" altLang="en-US" b="1" dirty="0">
                <a:solidFill>
                  <a:schemeClr val="accent5">
                    <a:lumMod val="50000"/>
                  </a:schemeClr>
                </a:solidFill>
                <a:latin typeface="微软雅黑" panose="020B0503020204020204" pitchFamily="34" charset="-122"/>
                <a:ea typeface="微软雅黑" panose="020B0503020204020204" pitchFamily="34" charset="-122"/>
              </a:rPr>
              <a:t>可由上一负半周条件得到</a:t>
            </a:r>
            <a:r>
              <a:rPr lang="en-US" altLang="zh-CN" b="1" dirty="0">
                <a:latin typeface="微软雅黑" panose="020B0503020204020204" pitchFamily="34" charset="-122"/>
                <a:ea typeface="微软雅黑" panose="020B0503020204020204" pitchFamily="34" charset="-122"/>
              </a:rPr>
              <a:t>)</a:t>
            </a:r>
          </a:p>
        </p:txBody>
      </p:sp>
      <p:sp>
        <p:nvSpPr>
          <p:cNvPr id="44" name="矩形 43">
            <a:extLst>
              <a:ext uri="{FF2B5EF4-FFF2-40B4-BE49-F238E27FC236}">
                <a16:creationId xmlns:a16="http://schemas.microsoft.com/office/drawing/2014/main" id="{7045639E-D57B-4139-BA52-8DC9837CEC39}"/>
              </a:ext>
            </a:extLst>
          </p:cNvPr>
          <p:cNvSpPr/>
          <p:nvPr/>
        </p:nvSpPr>
        <p:spPr>
          <a:xfrm>
            <a:off x="827088" y="4589463"/>
            <a:ext cx="8316912" cy="1826462"/>
          </a:xfrm>
          <a:prstGeom prst="rect">
            <a:avLst/>
          </a:prstGeom>
        </p:spPr>
        <p:txBody>
          <a:bodyPr>
            <a:spAutoFit/>
          </a:bodyPr>
          <a:lstStyle/>
          <a:p>
            <a:pPr>
              <a:lnSpc>
                <a:spcPct val="150000"/>
              </a:lnSpc>
              <a:defRPr/>
            </a:pPr>
            <a:r>
              <a:rPr lang="en-US" altLang="zh-CN" b="1" dirty="0">
                <a:latin typeface="微软雅黑" panose="020B0503020204020204" pitchFamily="34" charset="-122"/>
                <a:ea typeface="微软雅黑" panose="020B0503020204020204" pitchFamily="34" charset="-122"/>
              </a:rPr>
              <a:t>2)</a:t>
            </a:r>
            <a:r>
              <a:rPr lang="zh-CN" altLang="en-US" b="1" dirty="0">
                <a:solidFill>
                  <a:srgbClr val="0000FF"/>
                </a:solidFill>
                <a:latin typeface="微软雅黑" panose="020B0503020204020204" pitchFamily="34" charset="-122"/>
                <a:ea typeface="微软雅黑" panose="020B0503020204020204" pitchFamily="34" charset="-122"/>
              </a:rPr>
              <a:t>蓝线时间内</a:t>
            </a: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a:t>
            </a:r>
            <a:r>
              <a:rPr lang="en-US" altLang="zh-CN" b="1" dirty="0">
                <a:solidFill>
                  <a:srgbClr val="0099FF"/>
                </a:solidFill>
                <a:latin typeface="微软雅黑" panose="020B0503020204020204" pitchFamily="34" charset="-122"/>
                <a:ea typeface="微软雅黑" panose="020B0503020204020204" pitchFamily="34" charset="-122"/>
              </a:rPr>
              <a:t> C</a:t>
            </a:r>
            <a:r>
              <a:rPr lang="en-US" altLang="zh-CN" b="1" baseline="-25000" dirty="0">
                <a:solidFill>
                  <a:srgbClr val="0099FF"/>
                </a:solidFill>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电压（</a:t>
            </a:r>
            <a:r>
              <a:rPr lang="en-US" altLang="zh-CN" b="1" dirty="0">
                <a:latin typeface="微软雅黑" panose="020B0503020204020204" pitchFamily="34" charset="-122"/>
                <a:ea typeface="微软雅黑" panose="020B0503020204020204" pitchFamily="34" charset="-122"/>
              </a:rPr>
              <a:t>A</a:t>
            </a:r>
            <a:r>
              <a:rPr lang="zh-CN" altLang="en-US" b="1" dirty="0">
                <a:latin typeface="微软雅黑" panose="020B0503020204020204" pitchFamily="34" charset="-122"/>
                <a:ea typeface="微软雅黑" panose="020B0503020204020204" pitchFamily="34" charset="-122"/>
              </a:rPr>
              <a:t>点）不变，恒等于</a:t>
            </a:r>
            <a:r>
              <a:rPr lang="en-US" altLang="zh-CN" b="1" dirty="0">
                <a:solidFill>
                  <a:srgbClr val="00B050"/>
                </a:solidFill>
                <a:latin typeface="微软雅黑" panose="020B0503020204020204" pitchFamily="34" charset="-122"/>
                <a:ea typeface="微软雅黑" panose="020B0503020204020204" pitchFamily="34" charset="-122"/>
              </a:rPr>
              <a:t>+U</a:t>
            </a:r>
            <a:r>
              <a:rPr lang="zh-CN" altLang="en-US" b="1" dirty="0">
                <a:solidFill>
                  <a:schemeClr val="accent5">
                    <a:lumMod val="50000"/>
                  </a:schemeClr>
                </a:solidFill>
                <a:latin typeface="微软雅黑" panose="020B0503020204020204" pitchFamily="34" charset="-122"/>
                <a:ea typeface="微软雅黑" panose="020B0503020204020204" pitchFamily="34" charset="-122"/>
              </a:rPr>
              <a:t>（为下一个负半周初始条件）</a:t>
            </a:r>
            <a:endParaRPr lang="en-US" altLang="zh-CN" b="1" dirty="0">
              <a:solidFill>
                <a:schemeClr val="accent5">
                  <a:lumMod val="50000"/>
                </a:schemeClr>
              </a:solidFill>
              <a:latin typeface="微软雅黑" panose="020B0503020204020204" pitchFamily="34" charset="-122"/>
              <a:ea typeface="微软雅黑" panose="020B0503020204020204" pitchFamily="34" charset="-122"/>
            </a:endParaRPr>
          </a:p>
          <a:p>
            <a:pPr>
              <a:lnSpc>
                <a:spcPct val="150000"/>
              </a:lnSpc>
              <a:defRPr/>
            </a:pPr>
            <a:r>
              <a:rPr lang="en-US" altLang="zh-CN" b="1" i="1" dirty="0">
                <a:solidFill>
                  <a:srgbClr val="FF0000"/>
                </a:solidFill>
                <a:latin typeface="微软雅黑" panose="020B0503020204020204" pitchFamily="34" charset="-122"/>
                <a:ea typeface="微软雅黑" panose="020B0503020204020204" pitchFamily="34" charset="-122"/>
              </a:rPr>
              <a:t>                     </a:t>
            </a:r>
            <a:r>
              <a:rPr lang="zh-CN" altLang="en-US" b="1" dirty="0">
                <a:solidFill>
                  <a:srgbClr val="FF0000"/>
                </a:solidFill>
                <a:latin typeface="微软雅黑" panose="020B0503020204020204" pitchFamily="34" charset="-122"/>
                <a:ea typeface="微软雅黑" panose="020B0503020204020204" pitchFamily="34" charset="-122"/>
              </a:rPr>
              <a:t>电源</a:t>
            </a:r>
            <a:r>
              <a:rPr lang="en-US" altLang="zh-CN" b="1" i="1" dirty="0">
                <a:solidFill>
                  <a:srgbClr val="FF0000"/>
                </a:solidFill>
                <a:latin typeface="微软雅黑" panose="020B0503020204020204" pitchFamily="34" charset="-122"/>
                <a:ea typeface="微软雅黑" panose="020B0503020204020204" pitchFamily="34" charset="-122"/>
              </a:rPr>
              <a:t>E </a:t>
            </a:r>
            <a:r>
              <a:rPr lang="zh-CN" altLang="en-US" b="1" dirty="0">
                <a:latin typeface="微软雅黑" panose="020B0503020204020204" pitchFamily="34" charset="-122"/>
                <a:ea typeface="微软雅黑" panose="020B0503020204020204" pitchFamily="34" charset="-122"/>
              </a:rPr>
              <a:t>通过</a:t>
            </a:r>
            <a:r>
              <a:rPr lang="en-US" altLang="zh-CN" b="1" dirty="0">
                <a:solidFill>
                  <a:srgbClr val="0099FF"/>
                </a:solidFill>
                <a:latin typeface="微软雅黑" panose="020B0503020204020204" pitchFamily="34" charset="-122"/>
                <a:ea typeface="微软雅黑" panose="020B0503020204020204" pitchFamily="34" charset="-122"/>
              </a:rPr>
              <a:t>R</a:t>
            </a:r>
            <a:r>
              <a:rPr lang="en-US" altLang="zh-CN" b="1" baseline="-25000" dirty="0">
                <a:solidFill>
                  <a:srgbClr val="0099FF"/>
                </a:solidFill>
                <a:latin typeface="微软雅黑" panose="020B0503020204020204" pitchFamily="34" charset="-122"/>
                <a:ea typeface="微软雅黑" panose="020B0503020204020204" pitchFamily="34" charset="-122"/>
              </a:rPr>
              <a:t>1</a:t>
            </a:r>
            <a:r>
              <a:rPr lang="en-US" altLang="zh-CN" b="1" dirty="0">
                <a:solidFill>
                  <a:srgbClr val="0099FF"/>
                </a:solidFill>
                <a:latin typeface="微软雅黑" panose="020B0503020204020204" pitchFamily="34" charset="-122"/>
                <a:ea typeface="微软雅黑" panose="020B0503020204020204" pitchFamily="34" charset="-122"/>
              </a:rPr>
              <a:t> </a:t>
            </a:r>
            <a:r>
              <a:rPr lang="zh-CN" altLang="en-US" b="1" dirty="0">
                <a:solidFill>
                  <a:srgbClr val="0099FF"/>
                </a:solidFill>
                <a:latin typeface="微软雅黑" panose="020B0503020204020204" pitchFamily="34" charset="-122"/>
                <a:ea typeface="微软雅黑" panose="020B0503020204020204" pitchFamily="34" charset="-122"/>
              </a:rPr>
              <a:t>，</a:t>
            </a:r>
            <a:r>
              <a:rPr lang="en-US" altLang="zh-CN" b="1" dirty="0">
                <a:solidFill>
                  <a:srgbClr val="0099FF"/>
                </a:solidFill>
                <a:latin typeface="微软雅黑" panose="020B0503020204020204" pitchFamily="34" charset="-122"/>
                <a:ea typeface="微软雅黑" panose="020B0503020204020204" pitchFamily="34" charset="-122"/>
              </a:rPr>
              <a:t>R</a:t>
            </a:r>
            <a:r>
              <a:rPr lang="en-US" altLang="zh-CN" b="1" baseline="-25000" dirty="0">
                <a:solidFill>
                  <a:srgbClr val="0099FF"/>
                </a:solidFill>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和</a:t>
            </a:r>
            <a:r>
              <a:rPr lang="en-US" altLang="zh-CN" b="1" dirty="0">
                <a:solidFill>
                  <a:srgbClr val="0099FF"/>
                </a:solidFill>
                <a:latin typeface="微软雅黑" panose="020B0503020204020204" pitchFamily="34" charset="-122"/>
                <a:ea typeface="微软雅黑" panose="020B0503020204020204" pitchFamily="34" charset="-122"/>
              </a:rPr>
              <a:t>R</a:t>
            </a:r>
            <a:r>
              <a:rPr lang="en-US" altLang="zh-CN" b="1" baseline="-25000" dirty="0">
                <a:solidFill>
                  <a:srgbClr val="0099FF"/>
                </a:solidFill>
                <a:latin typeface="微软雅黑" panose="020B0503020204020204" pitchFamily="34" charset="-122"/>
                <a:ea typeface="微软雅黑" panose="020B0503020204020204" pitchFamily="34" charset="-122"/>
              </a:rPr>
              <a:t>L</a:t>
            </a:r>
            <a:r>
              <a:rPr lang="zh-CN" altLang="en-US" b="1" dirty="0">
                <a:latin typeface="微软雅黑" panose="020B0503020204020204" pitchFamily="34" charset="-122"/>
                <a:ea typeface="微软雅黑" panose="020B0503020204020204" pitchFamily="34" charset="-122"/>
              </a:rPr>
              <a:t>向</a:t>
            </a:r>
            <a:r>
              <a:rPr lang="en-US" altLang="zh-CN" b="1" dirty="0">
                <a:solidFill>
                  <a:srgbClr val="0099FF"/>
                </a:solidFill>
                <a:latin typeface="微软雅黑" panose="020B0503020204020204" pitchFamily="34" charset="-122"/>
                <a:ea typeface="微软雅黑" panose="020B0503020204020204" pitchFamily="34" charset="-122"/>
              </a:rPr>
              <a:t>C</a:t>
            </a:r>
            <a:r>
              <a:rPr lang="en-US" altLang="zh-CN" b="1" baseline="-25000" dirty="0">
                <a:solidFill>
                  <a:srgbClr val="0099FF"/>
                </a:solidFill>
                <a:latin typeface="微软雅黑" panose="020B0503020204020204" pitchFamily="34" charset="-122"/>
                <a:ea typeface="微软雅黑" panose="020B0503020204020204" pitchFamily="34" charset="-122"/>
              </a:rPr>
              <a:t>0</a:t>
            </a:r>
            <a:r>
              <a:rPr lang="zh-CN" altLang="en-US" b="1" dirty="0">
                <a:latin typeface="微软雅黑" panose="020B0503020204020204" pitchFamily="34" charset="-122"/>
                <a:ea typeface="微软雅黑" panose="020B0503020204020204" pitchFamily="34" charset="-122"/>
              </a:rPr>
              <a:t>充电，</a:t>
            </a:r>
            <a:r>
              <a:rPr lang="en-US" altLang="zh-CN" b="1" dirty="0">
                <a:solidFill>
                  <a:srgbClr val="0099FF"/>
                </a:solidFill>
                <a:latin typeface="微软雅黑" panose="020B0503020204020204" pitchFamily="34" charset="-122"/>
                <a:ea typeface="微软雅黑" panose="020B0503020204020204" pitchFamily="34" charset="-122"/>
              </a:rPr>
              <a:t> C</a:t>
            </a:r>
            <a:r>
              <a:rPr lang="en-US" altLang="zh-CN" b="1" baseline="-25000" dirty="0">
                <a:solidFill>
                  <a:srgbClr val="0099FF"/>
                </a:solidFill>
                <a:latin typeface="微软雅黑" panose="020B0503020204020204" pitchFamily="34" charset="-122"/>
                <a:ea typeface="微软雅黑" panose="020B0503020204020204" pitchFamily="34" charset="-122"/>
              </a:rPr>
              <a:t>0</a:t>
            </a:r>
            <a:r>
              <a:rPr lang="zh-CN" altLang="en-US" b="1" dirty="0">
                <a:latin typeface="微软雅黑" panose="020B0503020204020204" pitchFamily="34" charset="-122"/>
                <a:ea typeface="微软雅黑" panose="020B0503020204020204" pitchFamily="34" charset="-122"/>
              </a:rPr>
              <a:t>初始电压</a:t>
            </a:r>
            <a:r>
              <a:rPr lang="en-US" altLang="zh-CN" b="1" dirty="0">
                <a:latin typeface="微软雅黑" panose="020B0503020204020204" pitchFamily="34" charset="-122"/>
                <a:ea typeface="微软雅黑" panose="020B0503020204020204" pitchFamily="34" charset="-122"/>
              </a:rPr>
              <a:t>=</a:t>
            </a:r>
            <a:r>
              <a:rPr lang="en-US" altLang="zh-CN" b="1" dirty="0">
                <a:solidFill>
                  <a:srgbClr val="00B050"/>
                </a:solidFill>
                <a:latin typeface="微软雅黑" panose="020B0503020204020204" pitchFamily="34" charset="-122"/>
                <a:ea typeface="微软雅黑" panose="020B0503020204020204" pitchFamily="34" charset="-122"/>
              </a:rPr>
              <a:t>-U</a:t>
            </a:r>
            <a:endParaRPr lang="en-US" altLang="zh-CN" b="1" baseline="-25000" dirty="0">
              <a:solidFill>
                <a:srgbClr val="00B050"/>
              </a:solidFill>
              <a:latin typeface="微软雅黑" panose="020B0503020204020204" pitchFamily="34" charset="-122"/>
              <a:ea typeface="微软雅黑" panose="020B0503020204020204" pitchFamily="34" charset="-122"/>
            </a:endParaRPr>
          </a:p>
          <a:p>
            <a:pPr>
              <a:lnSpc>
                <a:spcPct val="150000"/>
              </a:lnSpc>
              <a:defRPr/>
            </a:pPr>
            <a:r>
              <a:rPr lang="en-US" altLang="zh-CN" b="1" dirty="0">
                <a:solidFill>
                  <a:srgbClr val="0099FF"/>
                </a:solidFill>
                <a:latin typeface="微软雅黑" panose="020B0503020204020204" pitchFamily="34" charset="-122"/>
                <a:ea typeface="微软雅黑" panose="020B0503020204020204" pitchFamily="34" charset="-122"/>
              </a:rPr>
              <a:t>		C</a:t>
            </a:r>
            <a:r>
              <a:rPr lang="en-US" altLang="zh-CN" b="1" baseline="-25000" dirty="0">
                <a:solidFill>
                  <a:srgbClr val="0099FF"/>
                </a:solidFill>
                <a:latin typeface="微软雅黑" panose="020B0503020204020204" pitchFamily="34" charset="-122"/>
                <a:ea typeface="微软雅黑" panose="020B0503020204020204" pitchFamily="34" charset="-122"/>
              </a:rPr>
              <a:t>0 </a:t>
            </a:r>
            <a:r>
              <a:rPr lang="zh-CN" altLang="en-US" b="1" dirty="0">
                <a:latin typeface="微软雅黑" panose="020B0503020204020204" pitchFamily="34" charset="-122"/>
                <a:ea typeface="微软雅黑" panose="020B0503020204020204" pitchFamily="34" charset="-122"/>
              </a:rPr>
              <a:t>电压</a:t>
            </a:r>
            <a:r>
              <a:rPr lang="en-US" altLang="zh-CN" b="1" dirty="0">
                <a:latin typeface="微软雅黑" panose="020B0503020204020204" pitchFamily="34" charset="-122"/>
                <a:ea typeface="微软雅黑" panose="020B0503020204020204" pitchFamily="34" charset="-122"/>
              </a:rPr>
              <a:t>(U</a:t>
            </a:r>
            <a:r>
              <a:rPr lang="en-US" altLang="zh-CN" b="1" baseline="-25000" dirty="0">
                <a:latin typeface="微软雅黑" panose="020B0503020204020204" pitchFamily="34" charset="-122"/>
                <a:ea typeface="微软雅黑" panose="020B0503020204020204" pitchFamily="34" charset="-122"/>
              </a:rPr>
              <a:t>B</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呈指数下降</a:t>
            </a:r>
            <a:endParaRPr lang="en-US" altLang="zh-CN" b="1" dirty="0">
              <a:latin typeface="微软雅黑" panose="020B0503020204020204" pitchFamily="34" charset="-122"/>
              <a:ea typeface="微软雅黑" panose="020B0503020204020204" pitchFamily="34" charset="-122"/>
            </a:endParaRPr>
          </a:p>
          <a:p>
            <a:pPr>
              <a:lnSpc>
                <a:spcPct val="150000"/>
              </a:lnSpc>
              <a:defRPr/>
            </a:pPr>
            <a:r>
              <a:rPr lang="en-US" altLang="zh-CN" b="1" dirty="0">
                <a:latin typeface="微软雅黑" panose="020B0503020204020204" pitchFamily="34" charset="-122"/>
                <a:ea typeface="微软雅黑" panose="020B0503020204020204" pitchFamily="34" charset="-122"/>
              </a:rPr>
              <a:t> 		</a:t>
            </a:r>
            <a:r>
              <a:rPr lang="en-US" altLang="zh-CN" sz="2400" b="1" i="1" u="wavyHeavy" dirty="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b="1" u="wavyHeavy" baseline="-25000" dirty="0">
                <a:solidFill>
                  <a:srgbClr val="7030A0"/>
                </a:solidFill>
                <a:latin typeface="微软雅黑" panose="020B0503020204020204" pitchFamily="34" charset="-122"/>
                <a:ea typeface="微软雅黑" panose="020B0503020204020204" pitchFamily="34" charset="-122"/>
              </a:rPr>
              <a:t>f</a:t>
            </a:r>
            <a:r>
              <a:rPr lang="en-US" altLang="zh-CN" b="1" u="wavyHeavy" baseline="-25000" dirty="0">
                <a:solidFill>
                  <a:srgbClr val="0099FF"/>
                </a:solidFill>
                <a:latin typeface="微软雅黑" panose="020B0503020204020204" pitchFamily="34" charset="-122"/>
                <a:ea typeface="微软雅黑" panose="020B0503020204020204" pitchFamily="34" charset="-122"/>
              </a:rPr>
              <a:t> </a:t>
            </a:r>
            <a:r>
              <a:rPr lang="zh-CN" altLang="en-US" b="1" u="wavyHeavy" dirty="0">
                <a:latin typeface="微软雅黑" panose="020B0503020204020204" pitchFamily="34" charset="-122"/>
                <a:ea typeface="微软雅黑" panose="020B0503020204020204" pitchFamily="34" charset="-122"/>
              </a:rPr>
              <a:t>从</a:t>
            </a:r>
            <a:r>
              <a:rPr lang="en-US" altLang="zh-CN" b="1" u="wavyHeavy" dirty="0">
                <a:latin typeface="微软雅黑" panose="020B0503020204020204" pitchFamily="34" charset="-122"/>
                <a:ea typeface="微软雅黑" panose="020B0503020204020204" pitchFamily="34" charset="-122"/>
              </a:rPr>
              <a:t>0</a:t>
            </a:r>
            <a:r>
              <a:rPr lang="zh-CN" altLang="en-US" b="1" u="wavyHeavy" dirty="0">
                <a:latin typeface="微软雅黑" panose="020B0503020204020204" pitchFamily="34" charset="-122"/>
                <a:ea typeface="微软雅黑" panose="020B0503020204020204" pitchFamily="34" charset="-122"/>
              </a:rPr>
              <a:t>指数上升，</a:t>
            </a:r>
            <a:r>
              <a:rPr lang="en-US" altLang="zh-CN" sz="2400" b="1" i="1" u="wavyHeavy" dirty="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b="1" u="wavyHeavy" baseline="-25000" dirty="0">
                <a:solidFill>
                  <a:srgbClr val="7030A0"/>
                </a:solidFill>
                <a:latin typeface="微软雅黑" panose="020B0503020204020204" pitchFamily="34" charset="-122"/>
                <a:ea typeface="微软雅黑" panose="020B0503020204020204" pitchFamily="34" charset="-122"/>
              </a:rPr>
              <a:t>f</a:t>
            </a:r>
            <a:r>
              <a:rPr lang="en-US" altLang="zh-CN" b="1" u="wavyHeavy" baseline="-25000" dirty="0">
                <a:solidFill>
                  <a:srgbClr val="0099FF"/>
                </a:solidFill>
                <a:latin typeface="微软雅黑" panose="020B0503020204020204" pitchFamily="34" charset="-122"/>
                <a:ea typeface="微软雅黑" panose="020B0503020204020204" pitchFamily="34" charset="-122"/>
              </a:rPr>
              <a:t> </a:t>
            </a:r>
            <a:r>
              <a:rPr lang="zh-CN" altLang="en-US" b="1" u="wavyHeavy" dirty="0">
                <a:latin typeface="微软雅黑" panose="020B0503020204020204" pitchFamily="34" charset="-122"/>
                <a:ea typeface="微软雅黑" panose="020B0503020204020204" pitchFamily="34" charset="-122"/>
              </a:rPr>
              <a:t>曲线的上半周</a:t>
            </a:r>
            <a:endParaRPr lang="en-US" altLang="zh-CN" b="1" dirty="0">
              <a:solidFill>
                <a:srgbClr val="00B050"/>
              </a:solidFill>
              <a:latin typeface="微软雅黑" panose="020B0503020204020204" pitchFamily="34" charset="-122"/>
              <a:ea typeface="微软雅黑" panose="020B0503020204020204" pitchFamily="34" charset="-122"/>
            </a:endParaRPr>
          </a:p>
        </p:txBody>
      </p:sp>
      <p:sp>
        <p:nvSpPr>
          <p:cNvPr id="39956" name="文本框 5">
            <a:extLst>
              <a:ext uri="{FF2B5EF4-FFF2-40B4-BE49-F238E27FC236}">
                <a16:creationId xmlns:a16="http://schemas.microsoft.com/office/drawing/2014/main" id="{41E5BAEC-C5E2-4AB0-A891-F4ED9F66C824}"/>
              </a:ext>
            </a:extLst>
          </p:cNvPr>
          <p:cNvSpPr txBox="1">
            <a:spLocks noChangeArrowheads="1"/>
          </p:cNvSpPr>
          <p:nvPr/>
        </p:nvSpPr>
        <p:spPr bwMode="auto">
          <a:xfrm flipH="1">
            <a:off x="3570288" y="1979613"/>
            <a:ext cx="436562"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a:solidFill>
                  <a:srgbClr val="FF0000"/>
                </a:solidFill>
              </a:rPr>
              <a:t>+</a:t>
            </a:r>
            <a:endParaRPr lang="zh-CN" altLang="en-US">
              <a:solidFill>
                <a:srgbClr val="FF0000"/>
              </a:solidFill>
            </a:endParaRPr>
          </a:p>
        </p:txBody>
      </p:sp>
      <p:sp>
        <p:nvSpPr>
          <p:cNvPr id="39957" name="文本框 5">
            <a:extLst>
              <a:ext uri="{FF2B5EF4-FFF2-40B4-BE49-F238E27FC236}">
                <a16:creationId xmlns:a16="http://schemas.microsoft.com/office/drawing/2014/main" id="{CAE27C25-2C89-4A26-9097-EFDC5F862228}"/>
              </a:ext>
            </a:extLst>
          </p:cNvPr>
          <p:cNvSpPr txBox="1">
            <a:spLocks noChangeArrowheads="1"/>
          </p:cNvSpPr>
          <p:nvPr/>
        </p:nvSpPr>
        <p:spPr bwMode="auto">
          <a:xfrm flipH="1">
            <a:off x="4268788" y="1865313"/>
            <a:ext cx="43815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a:solidFill>
                  <a:srgbClr val="FF0000"/>
                </a:solidFill>
              </a:rPr>
              <a:t>-</a:t>
            </a:r>
            <a:endParaRPr lang="zh-CN" altLang="en-US">
              <a:solidFill>
                <a:srgbClr val="FF0000"/>
              </a:solidFill>
            </a:endParaRPr>
          </a:p>
        </p:txBody>
      </p:sp>
      <p:sp>
        <p:nvSpPr>
          <p:cNvPr id="39958" name="矩形 46">
            <a:extLst>
              <a:ext uri="{FF2B5EF4-FFF2-40B4-BE49-F238E27FC236}">
                <a16:creationId xmlns:a16="http://schemas.microsoft.com/office/drawing/2014/main" id="{C4AEF4D8-8F22-4B4F-BDE6-77F678530519}"/>
              </a:ext>
            </a:extLst>
          </p:cNvPr>
          <p:cNvSpPr>
            <a:spLocks noChangeArrowheads="1"/>
          </p:cNvSpPr>
          <p:nvPr/>
        </p:nvSpPr>
        <p:spPr bwMode="auto">
          <a:xfrm>
            <a:off x="835025" y="4130675"/>
            <a:ext cx="668972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1800" b="1">
                <a:solidFill>
                  <a:srgbClr val="0099FF"/>
                </a:solidFill>
                <a:latin typeface="微软雅黑" panose="020B0503020204020204" pitchFamily="34" charset="-122"/>
                <a:ea typeface="微软雅黑" panose="020B0503020204020204" pitchFamily="34" charset="-122"/>
              </a:rPr>
              <a:t>	       </a:t>
            </a:r>
            <a:r>
              <a:rPr lang="en-US" altLang="zh-CN" sz="1800" b="1">
                <a:solidFill>
                  <a:srgbClr val="7030A0"/>
                </a:solidFill>
                <a:latin typeface="微软雅黑" panose="020B0503020204020204" pitchFamily="34" charset="-122"/>
                <a:ea typeface="微软雅黑" panose="020B0503020204020204" pitchFamily="34" charset="-122"/>
              </a:rPr>
              <a:t>U</a:t>
            </a:r>
            <a:r>
              <a:rPr lang="en-US" altLang="zh-CN" sz="1800" b="1" baseline="-25000">
                <a:solidFill>
                  <a:srgbClr val="7030A0"/>
                </a:solidFill>
                <a:latin typeface="微软雅黑" panose="020B0503020204020204" pitchFamily="34" charset="-122"/>
                <a:ea typeface="微软雅黑" panose="020B0503020204020204" pitchFamily="34" charset="-122"/>
              </a:rPr>
              <a:t>L </a:t>
            </a:r>
            <a:r>
              <a:rPr lang="en-US" altLang="zh-CN" sz="1800" b="1">
                <a:latin typeface="微软雅黑" panose="020B0503020204020204" pitchFamily="34" charset="-122"/>
                <a:ea typeface="微软雅黑" panose="020B0503020204020204" pitchFamily="34" charset="-122"/>
              </a:rPr>
              <a:t>=0</a:t>
            </a:r>
            <a:r>
              <a:rPr lang="zh-CN" altLang="en-US" sz="1800" b="1">
                <a:latin typeface="微软雅黑" panose="020B0503020204020204" pitchFamily="34" charset="-122"/>
                <a:ea typeface="微软雅黑" panose="020B0503020204020204" pitchFamily="34" charset="-122"/>
              </a:rPr>
              <a:t>，因为</a:t>
            </a:r>
            <a:r>
              <a:rPr lang="en-US" altLang="zh-CN" sz="1800" b="1">
                <a:solidFill>
                  <a:srgbClr val="0099FF"/>
                </a:solidFill>
                <a:latin typeface="微软雅黑" panose="020B0503020204020204" pitchFamily="34" charset="-122"/>
                <a:ea typeface="微软雅黑" panose="020B0503020204020204" pitchFamily="34" charset="-122"/>
              </a:rPr>
              <a:t>R</a:t>
            </a:r>
            <a:r>
              <a:rPr lang="en-US" altLang="zh-CN" sz="1800" b="1" baseline="-25000">
                <a:solidFill>
                  <a:srgbClr val="0099FF"/>
                </a:solidFill>
                <a:latin typeface="微软雅黑" panose="020B0503020204020204" pitchFamily="34" charset="-122"/>
                <a:ea typeface="微软雅黑" panose="020B0503020204020204" pitchFamily="34" charset="-122"/>
              </a:rPr>
              <a:t>1</a:t>
            </a:r>
            <a:r>
              <a:rPr lang="en-US" altLang="zh-CN" sz="1800" b="1">
                <a:solidFill>
                  <a:srgbClr val="0099FF"/>
                </a:solidFill>
                <a:latin typeface="微软雅黑" panose="020B0503020204020204" pitchFamily="34" charset="-122"/>
                <a:ea typeface="微软雅黑" panose="020B0503020204020204" pitchFamily="34" charset="-122"/>
              </a:rPr>
              <a:t>=R</a:t>
            </a:r>
            <a:r>
              <a:rPr lang="en-US" altLang="zh-CN" sz="1800" b="1" baseline="-25000">
                <a:solidFill>
                  <a:srgbClr val="0099FF"/>
                </a:solidFill>
                <a:latin typeface="微软雅黑" panose="020B0503020204020204" pitchFamily="34" charset="-122"/>
                <a:ea typeface="微软雅黑" panose="020B0503020204020204" pitchFamily="34" charset="-122"/>
              </a:rPr>
              <a:t>2</a:t>
            </a:r>
            <a:r>
              <a:rPr lang="zh-CN" altLang="en-US" sz="1800" b="1">
                <a:latin typeface="微软雅黑" panose="020B0503020204020204" pitchFamily="34" charset="-122"/>
                <a:ea typeface="微软雅黑" panose="020B0503020204020204" pitchFamily="34" charset="-122"/>
              </a:rPr>
              <a:t>，且</a:t>
            </a:r>
            <a:r>
              <a:rPr lang="en-US" altLang="zh-CN" sz="1800" b="1">
                <a:solidFill>
                  <a:srgbClr val="0099FF"/>
                </a:solidFill>
                <a:latin typeface="微软雅黑" panose="020B0503020204020204" pitchFamily="34" charset="-122"/>
                <a:ea typeface="微软雅黑" panose="020B0503020204020204" pitchFamily="34" charset="-122"/>
              </a:rPr>
              <a:t>U</a:t>
            </a:r>
            <a:r>
              <a:rPr lang="en-US" altLang="zh-CN" sz="1800" b="1" baseline="-25000">
                <a:solidFill>
                  <a:srgbClr val="0099FF"/>
                </a:solidFill>
                <a:latin typeface="微软雅黑" panose="020B0503020204020204" pitchFamily="34" charset="-122"/>
                <a:ea typeface="微软雅黑" panose="020B0503020204020204" pitchFamily="34" charset="-122"/>
              </a:rPr>
              <a:t>A</a:t>
            </a:r>
            <a:r>
              <a:rPr lang="en-US" altLang="zh-CN" sz="1800" b="1">
                <a:latin typeface="微软雅黑" panose="020B0503020204020204" pitchFamily="34" charset="-122"/>
                <a:ea typeface="微软雅黑" panose="020B0503020204020204" pitchFamily="34" charset="-122"/>
              </a:rPr>
              <a:t>=</a:t>
            </a:r>
            <a:r>
              <a:rPr lang="en-US" altLang="zh-CN" sz="1800" b="1">
                <a:solidFill>
                  <a:srgbClr val="00B050"/>
                </a:solidFill>
                <a:latin typeface="微软雅黑" panose="020B0503020204020204" pitchFamily="34" charset="-122"/>
                <a:ea typeface="微软雅黑" panose="020B0503020204020204" pitchFamily="34" charset="-122"/>
              </a:rPr>
              <a:t> +U</a:t>
            </a:r>
            <a:r>
              <a:rPr lang="zh-CN" altLang="en-US" sz="1800" b="1">
                <a:solidFill>
                  <a:srgbClr val="00B050"/>
                </a:solidFill>
                <a:latin typeface="微软雅黑" panose="020B0503020204020204" pitchFamily="34" charset="-122"/>
                <a:ea typeface="微软雅黑" panose="020B0503020204020204" pitchFamily="34" charset="-122"/>
              </a:rPr>
              <a:t>，</a:t>
            </a:r>
            <a:r>
              <a:rPr lang="en-US" altLang="zh-CN" sz="1800" b="1">
                <a:solidFill>
                  <a:srgbClr val="0099FF"/>
                </a:solidFill>
                <a:latin typeface="微软雅黑" panose="020B0503020204020204" pitchFamily="34" charset="-122"/>
                <a:ea typeface="微软雅黑" panose="020B0503020204020204" pitchFamily="34" charset="-122"/>
              </a:rPr>
              <a:t> U</a:t>
            </a:r>
            <a:r>
              <a:rPr lang="en-US" altLang="zh-CN" sz="1800" b="1" baseline="-25000">
                <a:solidFill>
                  <a:srgbClr val="0099FF"/>
                </a:solidFill>
                <a:latin typeface="微软雅黑" panose="020B0503020204020204" pitchFamily="34" charset="-122"/>
                <a:ea typeface="微软雅黑" panose="020B0503020204020204" pitchFamily="34" charset="-122"/>
              </a:rPr>
              <a:t>B</a:t>
            </a:r>
            <a:r>
              <a:rPr lang="en-US" altLang="zh-CN" sz="1800" b="1">
                <a:latin typeface="微软雅黑" panose="020B0503020204020204" pitchFamily="34" charset="-122"/>
                <a:ea typeface="微软雅黑" panose="020B0503020204020204" pitchFamily="34" charset="-122"/>
              </a:rPr>
              <a:t>=</a:t>
            </a:r>
            <a:r>
              <a:rPr lang="en-US" altLang="zh-CN" sz="1800" b="1">
                <a:solidFill>
                  <a:srgbClr val="00B050"/>
                </a:solidFill>
                <a:latin typeface="微软雅黑" panose="020B0503020204020204" pitchFamily="34" charset="-122"/>
                <a:ea typeface="微软雅黑" panose="020B0503020204020204" pitchFamily="34" charset="-122"/>
              </a:rPr>
              <a:t> -U</a:t>
            </a:r>
            <a:r>
              <a:rPr lang="en-US" altLang="zh-CN" sz="1800" b="1" baseline="-25000">
                <a:solidFill>
                  <a:srgbClr val="0099FF"/>
                </a:solidFill>
                <a:latin typeface="微软雅黑" panose="020B0503020204020204" pitchFamily="34" charset="-122"/>
                <a:ea typeface="微软雅黑" panose="020B0503020204020204" pitchFamily="34" charset="-122"/>
              </a:rPr>
              <a:t> </a:t>
            </a:r>
            <a:endParaRPr lang="en-US" altLang="zh-CN" sz="1800" b="1">
              <a:latin typeface="微软雅黑" panose="020B0503020204020204" pitchFamily="34" charset="-122"/>
              <a:ea typeface="微软雅黑" panose="020B0503020204020204" pitchFamily="34" charset="-122"/>
            </a:endParaRPr>
          </a:p>
        </p:txBody>
      </p:sp>
      <p:pic>
        <p:nvPicPr>
          <p:cNvPr id="39959" name="图片 15">
            <a:extLst>
              <a:ext uri="{FF2B5EF4-FFF2-40B4-BE49-F238E27FC236}">
                <a16:creationId xmlns:a16="http://schemas.microsoft.com/office/drawing/2014/main" id="{78481512-2CB4-46B1-AE19-65D26EA194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0513" y="877888"/>
            <a:ext cx="3460750" cy="226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60" name="图片 16">
            <a:extLst>
              <a:ext uri="{FF2B5EF4-FFF2-40B4-BE49-F238E27FC236}">
                <a16:creationId xmlns:a16="http://schemas.microsoft.com/office/drawing/2014/main" id="{E8C80604-AD73-4D5B-BACB-AE9FF70595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3963" y="1139825"/>
            <a:ext cx="2587625" cy="182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42B61881-74BD-4661-8D17-756244BC68FB}"/>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40963" name="Text Box 2">
            <a:extLst>
              <a:ext uri="{FF2B5EF4-FFF2-40B4-BE49-F238E27FC236}">
                <a16:creationId xmlns:a16="http://schemas.microsoft.com/office/drawing/2014/main" id="{6AAF3C84-684A-499C-9636-EC5CE7686A6B}"/>
              </a:ext>
            </a:extLst>
          </p:cNvPr>
          <p:cNvSpPr txBox="1">
            <a:spLocks noChangeArrowheads="1"/>
          </p:cNvSpPr>
          <p:nvPr/>
        </p:nvSpPr>
        <p:spPr bwMode="auto">
          <a:xfrm>
            <a:off x="639763" y="922338"/>
            <a:ext cx="3600450" cy="50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zh-CN" altLang="en-US" sz="2000" b="1" dirty="0">
                <a:solidFill>
                  <a:srgbClr val="0000FF"/>
                </a:solidFill>
                <a:latin typeface="微软雅黑" panose="020B0503020204020204" pitchFamily="34" charset="-122"/>
                <a:ea typeface="微软雅黑" panose="020B0503020204020204" pitchFamily="34" charset="-122"/>
              </a:rPr>
              <a:t>②电源</a:t>
            </a:r>
            <a:r>
              <a:rPr lang="en-US" altLang="zh-CN" sz="2000" b="1" i="1" dirty="0">
                <a:solidFill>
                  <a:srgbClr val="FF0000"/>
                </a:solidFill>
                <a:latin typeface="微软雅黑" panose="020B0503020204020204" pitchFamily="34" charset="-122"/>
                <a:ea typeface="微软雅黑" panose="020B0503020204020204" pitchFamily="34" charset="-122"/>
              </a:rPr>
              <a:t>E</a:t>
            </a:r>
            <a:r>
              <a:rPr lang="en-US" altLang="zh-CN" sz="2000" b="1" i="1" dirty="0">
                <a:solidFill>
                  <a:srgbClr val="0000FF"/>
                </a:solidFill>
                <a:latin typeface="微软雅黑" panose="020B0503020204020204" pitchFamily="34" charset="-122"/>
                <a:ea typeface="微软雅黑" panose="020B0503020204020204" pitchFamily="34" charset="-122"/>
              </a:rPr>
              <a:t> </a:t>
            </a:r>
            <a:r>
              <a:rPr lang="zh-CN" altLang="en-US" sz="2000" b="1" dirty="0">
                <a:solidFill>
                  <a:srgbClr val="0000FF"/>
                </a:solidFill>
                <a:latin typeface="微软雅黑" panose="020B0503020204020204" pitchFamily="34" charset="-122"/>
                <a:ea typeface="微软雅黑" panose="020B0503020204020204" pitchFamily="34" charset="-122"/>
              </a:rPr>
              <a:t>的负半周</a:t>
            </a:r>
            <a:r>
              <a:rPr lang="zh-CN" altLang="en-US" sz="2000" b="1" dirty="0">
                <a:latin typeface="微软雅黑" panose="020B0503020204020204" pitchFamily="34" charset="-122"/>
                <a:ea typeface="微软雅黑" panose="020B0503020204020204" pitchFamily="34" charset="-122"/>
              </a:rPr>
              <a:t>    </a:t>
            </a:r>
          </a:p>
        </p:txBody>
      </p:sp>
      <p:sp>
        <p:nvSpPr>
          <p:cNvPr id="40964" name="Rectangle 3">
            <a:extLst>
              <a:ext uri="{FF2B5EF4-FFF2-40B4-BE49-F238E27FC236}">
                <a16:creationId xmlns:a16="http://schemas.microsoft.com/office/drawing/2014/main" id="{9B1427D2-1C82-4AF0-BC70-47F7244700D9}"/>
              </a:ext>
            </a:extLst>
          </p:cNvPr>
          <p:cNvSpPr>
            <a:spLocks noChangeArrowheads="1"/>
          </p:cNvSpPr>
          <p:nvPr/>
        </p:nvSpPr>
        <p:spPr bwMode="auto">
          <a:xfrm>
            <a:off x="0" y="226060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0965" name="Rectangle 4">
            <a:extLst>
              <a:ext uri="{FF2B5EF4-FFF2-40B4-BE49-F238E27FC236}">
                <a16:creationId xmlns:a16="http://schemas.microsoft.com/office/drawing/2014/main" id="{5FD308FE-7DC1-48F2-A01E-968C32B706A6}"/>
              </a:ext>
            </a:extLst>
          </p:cNvPr>
          <p:cNvSpPr>
            <a:spLocks noChangeArrowheads="1"/>
          </p:cNvSpPr>
          <p:nvPr/>
        </p:nvSpPr>
        <p:spPr bwMode="auto">
          <a:xfrm>
            <a:off x="0" y="29654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0966" name="Rectangle 5">
            <a:extLst>
              <a:ext uri="{FF2B5EF4-FFF2-40B4-BE49-F238E27FC236}">
                <a16:creationId xmlns:a16="http://schemas.microsoft.com/office/drawing/2014/main" id="{472CEE4F-B033-4647-AD58-4EB01A004206}"/>
              </a:ext>
            </a:extLst>
          </p:cNvPr>
          <p:cNvSpPr>
            <a:spLocks noChangeArrowheads="1"/>
          </p:cNvSpPr>
          <p:nvPr/>
        </p:nvSpPr>
        <p:spPr bwMode="auto">
          <a:xfrm>
            <a:off x="0" y="29654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0967" name="Rectangle 6">
            <a:extLst>
              <a:ext uri="{FF2B5EF4-FFF2-40B4-BE49-F238E27FC236}">
                <a16:creationId xmlns:a16="http://schemas.microsoft.com/office/drawing/2014/main" id="{8AFF0703-B368-465A-AE9B-03C94369374E}"/>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0968" name="Rectangle 7">
            <a:extLst>
              <a:ext uri="{FF2B5EF4-FFF2-40B4-BE49-F238E27FC236}">
                <a16:creationId xmlns:a16="http://schemas.microsoft.com/office/drawing/2014/main" id="{403585AF-D3FE-4F56-BF75-0F18FE950E54}"/>
              </a:ext>
            </a:extLst>
          </p:cNvPr>
          <p:cNvSpPr>
            <a:spLocks noChangeArrowheads="1"/>
          </p:cNvSpPr>
          <p:nvPr/>
        </p:nvSpPr>
        <p:spPr bwMode="auto">
          <a:xfrm>
            <a:off x="0" y="28892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0969" name="Rectangle 8">
            <a:extLst>
              <a:ext uri="{FF2B5EF4-FFF2-40B4-BE49-F238E27FC236}">
                <a16:creationId xmlns:a16="http://schemas.microsoft.com/office/drawing/2014/main" id="{DC16581B-5E08-4259-A888-219E77E968D0}"/>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0970" name="Rectangle 9">
            <a:extLst>
              <a:ext uri="{FF2B5EF4-FFF2-40B4-BE49-F238E27FC236}">
                <a16:creationId xmlns:a16="http://schemas.microsoft.com/office/drawing/2014/main" id="{985BB066-5742-4A64-B56E-F8E192383B4D}"/>
              </a:ext>
            </a:extLst>
          </p:cNvPr>
          <p:cNvSpPr>
            <a:spLocks noChangeArrowheads="1"/>
          </p:cNvSpPr>
          <p:nvPr/>
        </p:nvSpPr>
        <p:spPr bwMode="auto">
          <a:xfrm>
            <a:off x="0" y="293687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0971" name="Rectangle 10">
            <a:extLst>
              <a:ext uri="{FF2B5EF4-FFF2-40B4-BE49-F238E27FC236}">
                <a16:creationId xmlns:a16="http://schemas.microsoft.com/office/drawing/2014/main" id="{FBC3C81E-3461-4A79-90C5-7E9E99096C75}"/>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0972" name="Rectangle 11">
            <a:extLst>
              <a:ext uri="{FF2B5EF4-FFF2-40B4-BE49-F238E27FC236}">
                <a16:creationId xmlns:a16="http://schemas.microsoft.com/office/drawing/2014/main" id="{6B5087CF-28CB-41C7-AE9B-20C27C9E6CDE}"/>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0973" name="Text Box 2">
            <a:extLst>
              <a:ext uri="{FF2B5EF4-FFF2-40B4-BE49-F238E27FC236}">
                <a16:creationId xmlns:a16="http://schemas.microsoft.com/office/drawing/2014/main" id="{192F2F63-C11D-42A4-8C78-2DD39AB651B8}"/>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3.1  </a:t>
            </a:r>
            <a:r>
              <a:rPr kumimoji="1" lang="zh-CN" altLang="en-US" sz="2800" b="1">
                <a:solidFill>
                  <a:srgbClr val="C00000"/>
                </a:solidFill>
                <a:latin typeface="微软雅黑" panose="020B0503020204020204" pitchFamily="34" charset="-122"/>
                <a:ea typeface="微软雅黑" panose="020B0503020204020204" pitchFamily="34" charset="-122"/>
              </a:rPr>
              <a:t>二极管双</a:t>
            </a:r>
            <a:r>
              <a:rPr kumimoji="1" lang="en-US" altLang="zh-CN" sz="2800" b="1">
                <a:solidFill>
                  <a:srgbClr val="C00000"/>
                </a:solidFill>
                <a:latin typeface="微软雅黑" panose="020B0503020204020204" pitchFamily="34" charset="-122"/>
                <a:ea typeface="微软雅黑" panose="020B0503020204020204" pitchFamily="34" charset="-122"/>
              </a:rPr>
              <a:t>T</a:t>
            </a:r>
            <a:r>
              <a:rPr kumimoji="1" lang="zh-CN" altLang="en-US" sz="2800" b="1">
                <a:solidFill>
                  <a:srgbClr val="C00000"/>
                </a:solidFill>
                <a:latin typeface="微软雅黑" panose="020B0503020204020204" pitchFamily="34" charset="-122"/>
                <a:ea typeface="微软雅黑" panose="020B0503020204020204" pitchFamily="34" charset="-122"/>
              </a:rPr>
              <a:t>电桥电容测量电路</a:t>
            </a:r>
          </a:p>
        </p:txBody>
      </p:sp>
      <p:sp>
        <p:nvSpPr>
          <p:cNvPr id="40974" name="矩形 12">
            <a:extLst>
              <a:ext uri="{FF2B5EF4-FFF2-40B4-BE49-F238E27FC236}">
                <a16:creationId xmlns:a16="http://schemas.microsoft.com/office/drawing/2014/main" id="{DE2AEC9A-59FE-4E20-A16B-36110E3EDC4A}"/>
              </a:ext>
            </a:extLst>
          </p:cNvPr>
          <p:cNvSpPr>
            <a:spLocks noChangeArrowheads="1"/>
          </p:cNvSpPr>
          <p:nvPr/>
        </p:nvSpPr>
        <p:spPr bwMode="auto">
          <a:xfrm>
            <a:off x="673100" y="2011363"/>
            <a:ext cx="277177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2000" b="1">
                <a:latin typeface="微软雅黑" panose="020B0503020204020204" pitchFamily="34" charset="-122"/>
                <a:ea typeface="微软雅黑" panose="020B0503020204020204" pitchFamily="34" charset="-122"/>
              </a:rPr>
              <a:t>   </a:t>
            </a:r>
          </a:p>
        </p:txBody>
      </p:sp>
      <p:sp>
        <p:nvSpPr>
          <p:cNvPr id="40975" name="矩形 5">
            <a:extLst>
              <a:ext uri="{FF2B5EF4-FFF2-40B4-BE49-F238E27FC236}">
                <a16:creationId xmlns:a16="http://schemas.microsoft.com/office/drawing/2014/main" id="{F78B22F8-352D-4A30-BD38-E7E952A934B8}"/>
              </a:ext>
            </a:extLst>
          </p:cNvPr>
          <p:cNvSpPr>
            <a:spLocks noChangeArrowheads="1"/>
          </p:cNvSpPr>
          <p:nvPr/>
        </p:nvSpPr>
        <p:spPr bwMode="auto">
          <a:xfrm>
            <a:off x="841375" y="3213100"/>
            <a:ext cx="524827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1800" b="1" dirty="0">
                <a:latin typeface="微软雅黑" panose="020B0503020204020204" pitchFamily="34" charset="-122"/>
                <a:ea typeface="微软雅黑" panose="020B0503020204020204" pitchFamily="34" charset="-122"/>
              </a:rPr>
              <a:t>1)</a:t>
            </a:r>
            <a:r>
              <a:rPr lang="zh-CN" altLang="en-US" sz="1800" b="1" dirty="0">
                <a:solidFill>
                  <a:schemeClr val="bg2"/>
                </a:solidFill>
                <a:latin typeface="微软雅黑" panose="020B0503020204020204" pitchFamily="34" charset="-122"/>
                <a:ea typeface="微软雅黑" panose="020B0503020204020204" pitchFamily="34" charset="-122"/>
              </a:rPr>
              <a:t>橙色时刻</a:t>
            </a:r>
            <a:r>
              <a:rPr lang="zh-CN" altLang="en-US" sz="1800" b="1" dirty="0">
                <a:latin typeface="微软雅黑" panose="020B0503020204020204" pitchFamily="34" charset="-122"/>
                <a:ea typeface="微软雅黑" panose="020B0503020204020204" pitchFamily="34" charset="-122"/>
              </a:rPr>
              <a:t>：</a:t>
            </a:r>
            <a:r>
              <a:rPr lang="en-US" altLang="zh-CN" sz="1800" b="1" dirty="0">
                <a:solidFill>
                  <a:srgbClr val="0099FF"/>
                </a:solidFill>
                <a:latin typeface="微软雅黑" panose="020B0503020204020204" pitchFamily="34" charset="-122"/>
                <a:ea typeface="微软雅黑" panose="020B0503020204020204" pitchFamily="34" charset="-122"/>
              </a:rPr>
              <a:t>C</a:t>
            </a:r>
            <a:r>
              <a:rPr lang="en-US" altLang="zh-CN" sz="1800" b="1" baseline="-25000" dirty="0">
                <a:solidFill>
                  <a:srgbClr val="0099FF"/>
                </a:solidFill>
                <a:latin typeface="微软雅黑" panose="020B0503020204020204" pitchFamily="34" charset="-122"/>
                <a:ea typeface="微软雅黑" panose="020B0503020204020204" pitchFamily="34" charset="-122"/>
              </a:rPr>
              <a:t>0</a:t>
            </a:r>
            <a:r>
              <a:rPr lang="zh-CN" altLang="en-US" sz="1800" b="1" dirty="0">
                <a:latin typeface="微软雅黑" panose="020B0503020204020204" pitchFamily="34" charset="-122"/>
                <a:ea typeface="微软雅黑" panose="020B0503020204020204" pitchFamily="34" charset="-122"/>
              </a:rPr>
              <a:t>立即充电至电源电压，等于</a:t>
            </a:r>
            <a:r>
              <a:rPr lang="en-US" altLang="zh-CN" sz="1800" b="1" dirty="0">
                <a:solidFill>
                  <a:srgbClr val="00B050"/>
                </a:solidFill>
                <a:latin typeface="微软雅黑" panose="020B0503020204020204" pitchFamily="34" charset="-122"/>
                <a:ea typeface="微软雅黑" panose="020B0503020204020204" pitchFamily="34" charset="-122"/>
              </a:rPr>
              <a:t>-U</a:t>
            </a:r>
            <a:r>
              <a:rPr lang="en-US" altLang="zh-CN" sz="1800" b="1" dirty="0">
                <a:latin typeface="微软雅黑" panose="020B0503020204020204" pitchFamily="34" charset="-122"/>
                <a:ea typeface="微软雅黑" panose="020B0503020204020204" pitchFamily="34" charset="-122"/>
              </a:rPr>
              <a:t>   </a:t>
            </a:r>
          </a:p>
        </p:txBody>
      </p:sp>
      <p:sp>
        <p:nvSpPr>
          <p:cNvPr id="43" name="矩形 42">
            <a:extLst>
              <a:ext uri="{FF2B5EF4-FFF2-40B4-BE49-F238E27FC236}">
                <a16:creationId xmlns:a16="http://schemas.microsoft.com/office/drawing/2014/main" id="{6F02CFA6-6D6C-4BDA-928A-E11800290DF9}"/>
              </a:ext>
            </a:extLst>
          </p:cNvPr>
          <p:cNvSpPr/>
          <p:nvPr/>
        </p:nvSpPr>
        <p:spPr>
          <a:xfrm>
            <a:off x="835025" y="3671888"/>
            <a:ext cx="6689725" cy="458787"/>
          </a:xfrm>
          <a:prstGeom prst="rect">
            <a:avLst/>
          </a:prstGeom>
        </p:spPr>
        <p:txBody>
          <a:bodyPr>
            <a:spAutoFit/>
          </a:bodyPr>
          <a:lstStyle/>
          <a:p>
            <a:pPr>
              <a:lnSpc>
                <a:spcPct val="150000"/>
              </a:lnSpc>
              <a:defRPr/>
            </a:pPr>
            <a:r>
              <a:rPr lang="en-US" altLang="zh-CN" b="1" dirty="0">
                <a:solidFill>
                  <a:srgbClr val="0099FF"/>
                </a:solidFill>
                <a:latin typeface="微软雅黑" panose="020B0503020204020204" pitchFamily="34" charset="-122"/>
                <a:ea typeface="微软雅黑" panose="020B0503020204020204" pitchFamily="34" charset="-122"/>
              </a:rPr>
              <a:t>	       C</a:t>
            </a:r>
            <a:r>
              <a:rPr lang="en-US" altLang="zh-CN" b="1" baseline="-25000" dirty="0">
                <a:solidFill>
                  <a:srgbClr val="0099FF"/>
                </a:solidFill>
                <a:latin typeface="微软雅黑" panose="020B0503020204020204" pitchFamily="34" charset="-122"/>
                <a:ea typeface="微软雅黑" panose="020B0503020204020204" pitchFamily="34" charset="-122"/>
              </a:rPr>
              <a:t>1 </a:t>
            </a:r>
            <a:r>
              <a:rPr lang="zh-CN" altLang="en-US" b="1" dirty="0">
                <a:latin typeface="微软雅黑" panose="020B0503020204020204" pitchFamily="34" charset="-122"/>
                <a:ea typeface="微软雅黑" panose="020B0503020204020204" pitchFamily="34" charset="-122"/>
              </a:rPr>
              <a:t>的初始电压为</a:t>
            </a:r>
            <a:r>
              <a:rPr lang="en-US" altLang="zh-CN" b="1" dirty="0">
                <a:solidFill>
                  <a:srgbClr val="00B050"/>
                </a:solidFill>
                <a:latin typeface="微软雅黑" panose="020B0503020204020204" pitchFamily="34" charset="-122"/>
                <a:ea typeface="微软雅黑" panose="020B0503020204020204" pitchFamily="34" charset="-122"/>
              </a:rPr>
              <a:t>+U</a:t>
            </a:r>
            <a:r>
              <a:rPr lang="en-US" altLang="zh-CN" b="1" dirty="0">
                <a:latin typeface="微软雅黑" panose="020B0503020204020204" pitchFamily="34" charset="-122"/>
                <a:ea typeface="微软雅黑" panose="020B0503020204020204" pitchFamily="34" charset="-122"/>
              </a:rPr>
              <a:t>(</a:t>
            </a:r>
            <a:r>
              <a:rPr lang="zh-CN" altLang="en-US" b="1" dirty="0">
                <a:solidFill>
                  <a:schemeClr val="accent5">
                    <a:lumMod val="50000"/>
                  </a:schemeClr>
                </a:solidFill>
                <a:latin typeface="微软雅黑" panose="020B0503020204020204" pitchFamily="34" charset="-122"/>
                <a:ea typeface="微软雅黑" panose="020B0503020204020204" pitchFamily="34" charset="-122"/>
              </a:rPr>
              <a:t>正半周过程获得</a:t>
            </a:r>
            <a:r>
              <a:rPr lang="en-US" altLang="zh-CN" b="1" dirty="0">
                <a:latin typeface="微软雅黑" panose="020B0503020204020204" pitchFamily="34" charset="-122"/>
                <a:ea typeface="微软雅黑" panose="020B0503020204020204" pitchFamily="34" charset="-122"/>
              </a:rPr>
              <a:t>)</a:t>
            </a:r>
          </a:p>
        </p:txBody>
      </p:sp>
      <p:sp>
        <p:nvSpPr>
          <p:cNvPr id="44" name="矩形 43">
            <a:extLst>
              <a:ext uri="{FF2B5EF4-FFF2-40B4-BE49-F238E27FC236}">
                <a16:creationId xmlns:a16="http://schemas.microsoft.com/office/drawing/2014/main" id="{7045639E-D57B-4139-BA52-8DC9837CEC39}"/>
              </a:ext>
            </a:extLst>
          </p:cNvPr>
          <p:cNvSpPr/>
          <p:nvPr/>
        </p:nvSpPr>
        <p:spPr>
          <a:xfrm>
            <a:off x="827088" y="4589463"/>
            <a:ext cx="8316912" cy="1827212"/>
          </a:xfrm>
          <a:prstGeom prst="rect">
            <a:avLst/>
          </a:prstGeom>
        </p:spPr>
        <p:txBody>
          <a:bodyPr>
            <a:spAutoFit/>
          </a:bodyPr>
          <a:lstStyle/>
          <a:p>
            <a:pPr>
              <a:lnSpc>
                <a:spcPct val="150000"/>
              </a:lnSpc>
              <a:defRPr/>
            </a:pPr>
            <a:r>
              <a:rPr lang="en-US" altLang="zh-CN" b="1" dirty="0">
                <a:latin typeface="微软雅黑" panose="020B0503020204020204" pitchFamily="34" charset="-122"/>
                <a:ea typeface="微软雅黑" panose="020B0503020204020204" pitchFamily="34" charset="-122"/>
              </a:rPr>
              <a:t>2)</a:t>
            </a:r>
            <a:r>
              <a:rPr lang="zh-CN" altLang="en-US" b="1" dirty="0">
                <a:solidFill>
                  <a:srgbClr val="0099FF"/>
                </a:solidFill>
                <a:latin typeface="微软雅黑" panose="020B0503020204020204" pitchFamily="34" charset="-122"/>
                <a:ea typeface="微软雅黑" panose="020B0503020204020204" pitchFamily="34" charset="-122"/>
              </a:rPr>
              <a:t>浅蓝线时间内</a:t>
            </a:r>
            <a:r>
              <a:rPr lang="zh-CN" altLang="en-US" b="1" dirty="0">
                <a:latin typeface="微软雅黑" panose="020B0503020204020204" pitchFamily="34" charset="-122"/>
                <a:ea typeface="微软雅黑" panose="020B0503020204020204" pitchFamily="34" charset="-122"/>
              </a:rPr>
              <a:t>：</a:t>
            </a:r>
            <a:r>
              <a:rPr lang="en-US" altLang="zh-CN" b="1" dirty="0">
                <a:solidFill>
                  <a:srgbClr val="0099FF"/>
                </a:solidFill>
                <a:latin typeface="微软雅黑" panose="020B0503020204020204" pitchFamily="34" charset="-122"/>
                <a:ea typeface="微软雅黑" panose="020B0503020204020204" pitchFamily="34" charset="-122"/>
              </a:rPr>
              <a:t>C</a:t>
            </a:r>
            <a:r>
              <a:rPr lang="en-US" altLang="zh-CN" b="1" baseline="-25000" dirty="0">
                <a:solidFill>
                  <a:srgbClr val="0099FF"/>
                </a:solidFill>
                <a:latin typeface="微软雅黑" panose="020B0503020204020204" pitchFamily="34" charset="-122"/>
                <a:ea typeface="微软雅黑" panose="020B0503020204020204" pitchFamily="34" charset="-122"/>
              </a:rPr>
              <a:t>0</a:t>
            </a:r>
            <a:r>
              <a:rPr lang="zh-CN" altLang="en-US" b="1" dirty="0">
                <a:latin typeface="微软雅黑" panose="020B0503020204020204" pitchFamily="34" charset="-122"/>
                <a:ea typeface="微软雅黑" panose="020B0503020204020204" pitchFamily="34" charset="-122"/>
              </a:rPr>
              <a:t>电压（</a:t>
            </a:r>
            <a:r>
              <a:rPr lang="en-US" altLang="zh-CN" b="1" dirty="0">
                <a:latin typeface="微软雅黑" panose="020B0503020204020204" pitchFamily="34" charset="-122"/>
                <a:ea typeface="微软雅黑" panose="020B0503020204020204" pitchFamily="34" charset="-122"/>
              </a:rPr>
              <a:t> U</a:t>
            </a:r>
            <a:r>
              <a:rPr lang="en-US" altLang="zh-CN" b="1" baseline="-25000" dirty="0">
                <a:latin typeface="微软雅黑" panose="020B0503020204020204" pitchFamily="34" charset="-122"/>
                <a:ea typeface="微软雅黑" panose="020B0503020204020204" pitchFamily="34" charset="-122"/>
              </a:rPr>
              <a:t>B </a:t>
            </a:r>
            <a:r>
              <a:rPr lang="zh-CN" altLang="en-US" b="1" dirty="0">
                <a:latin typeface="微软雅黑" panose="020B0503020204020204" pitchFamily="34" charset="-122"/>
                <a:ea typeface="微软雅黑" panose="020B0503020204020204" pitchFamily="34" charset="-122"/>
              </a:rPr>
              <a:t>）不变，恒等于</a:t>
            </a:r>
            <a:r>
              <a:rPr lang="en-US" altLang="zh-CN" b="1" dirty="0">
                <a:solidFill>
                  <a:srgbClr val="00B050"/>
                </a:solidFill>
                <a:latin typeface="微软雅黑" panose="020B0503020204020204" pitchFamily="34" charset="-122"/>
                <a:ea typeface="微软雅黑" panose="020B0503020204020204" pitchFamily="34" charset="-122"/>
              </a:rPr>
              <a:t>-U</a:t>
            </a:r>
            <a:endParaRPr lang="en-US" altLang="zh-CN" b="1" dirty="0">
              <a:solidFill>
                <a:schemeClr val="accent5">
                  <a:lumMod val="50000"/>
                </a:schemeClr>
              </a:solidFill>
              <a:latin typeface="微软雅黑" panose="020B0503020204020204" pitchFamily="34" charset="-122"/>
              <a:ea typeface="微软雅黑" panose="020B0503020204020204" pitchFamily="34" charset="-122"/>
            </a:endParaRPr>
          </a:p>
          <a:p>
            <a:pPr>
              <a:lnSpc>
                <a:spcPct val="150000"/>
              </a:lnSpc>
              <a:defRPr/>
            </a:pPr>
            <a:r>
              <a:rPr lang="zh-CN" altLang="en-US" b="1" dirty="0">
                <a:solidFill>
                  <a:srgbClr val="FF0000"/>
                </a:solidFill>
                <a:latin typeface="微软雅黑" panose="020B0503020204020204" pitchFamily="34" charset="-122"/>
                <a:ea typeface="微软雅黑" panose="020B0503020204020204" pitchFamily="34" charset="-122"/>
              </a:rPr>
              <a:t>                     电源</a:t>
            </a:r>
            <a:r>
              <a:rPr lang="en-US" altLang="zh-CN" b="1" i="1" dirty="0">
                <a:solidFill>
                  <a:srgbClr val="FF0000"/>
                </a:solidFill>
                <a:latin typeface="微软雅黑" panose="020B0503020204020204" pitchFamily="34" charset="-122"/>
                <a:ea typeface="微软雅黑" panose="020B0503020204020204" pitchFamily="34" charset="-122"/>
              </a:rPr>
              <a:t>E </a:t>
            </a:r>
            <a:r>
              <a:rPr lang="zh-CN" altLang="en-US" b="1" dirty="0">
                <a:latin typeface="微软雅黑" panose="020B0503020204020204" pitchFamily="34" charset="-122"/>
                <a:ea typeface="微软雅黑" panose="020B0503020204020204" pitchFamily="34" charset="-122"/>
              </a:rPr>
              <a:t>通过</a:t>
            </a:r>
            <a:r>
              <a:rPr lang="en-US" altLang="zh-CN" b="1" dirty="0">
                <a:solidFill>
                  <a:srgbClr val="0099FF"/>
                </a:solidFill>
                <a:latin typeface="微软雅黑" panose="020B0503020204020204" pitchFamily="34" charset="-122"/>
                <a:ea typeface="微软雅黑" panose="020B0503020204020204" pitchFamily="34" charset="-122"/>
              </a:rPr>
              <a:t>R</a:t>
            </a:r>
            <a:r>
              <a:rPr lang="en-US" altLang="zh-CN" b="1" baseline="-25000" dirty="0">
                <a:solidFill>
                  <a:srgbClr val="0099FF"/>
                </a:solidFill>
                <a:latin typeface="微软雅黑" panose="020B0503020204020204" pitchFamily="34" charset="-122"/>
                <a:ea typeface="微软雅黑" panose="020B0503020204020204" pitchFamily="34" charset="-122"/>
              </a:rPr>
              <a:t>2</a:t>
            </a:r>
            <a:r>
              <a:rPr lang="en-US" altLang="zh-CN" b="1" dirty="0">
                <a:solidFill>
                  <a:srgbClr val="0099FF"/>
                </a:solidFill>
                <a:latin typeface="微软雅黑" panose="020B0503020204020204" pitchFamily="34" charset="-122"/>
                <a:ea typeface="微软雅黑" panose="020B0503020204020204" pitchFamily="34" charset="-122"/>
              </a:rPr>
              <a:t> </a:t>
            </a:r>
            <a:r>
              <a:rPr lang="zh-CN" altLang="en-US" b="1" dirty="0">
                <a:solidFill>
                  <a:srgbClr val="0099FF"/>
                </a:solidFill>
                <a:latin typeface="微软雅黑" panose="020B0503020204020204" pitchFamily="34" charset="-122"/>
                <a:ea typeface="微软雅黑" panose="020B0503020204020204" pitchFamily="34" charset="-122"/>
              </a:rPr>
              <a:t>，</a:t>
            </a:r>
            <a:r>
              <a:rPr lang="en-US" altLang="zh-CN" b="1" dirty="0">
                <a:solidFill>
                  <a:srgbClr val="0099FF"/>
                </a:solidFill>
                <a:latin typeface="微软雅黑" panose="020B0503020204020204" pitchFamily="34" charset="-122"/>
                <a:ea typeface="微软雅黑" panose="020B0503020204020204" pitchFamily="34" charset="-122"/>
              </a:rPr>
              <a:t>R</a:t>
            </a:r>
            <a:r>
              <a:rPr lang="en-US" altLang="zh-CN" b="1" baseline="-25000" dirty="0">
                <a:solidFill>
                  <a:srgbClr val="0099FF"/>
                </a:solidFill>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和</a:t>
            </a:r>
            <a:r>
              <a:rPr lang="en-US" altLang="zh-CN" b="1" dirty="0">
                <a:solidFill>
                  <a:srgbClr val="0099FF"/>
                </a:solidFill>
                <a:latin typeface="微软雅黑" panose="020B0503020204020204" pitchFamily="34" charset="-122"/>
                <a:ea typeface="微软雅黑" panose="020B0503020204020204" pitchFamily="34" charset="-122"/>
              </a:rPr>
              <a:t>R</a:t>
            </a:r>
            <a:r>
              <a:rPr lang="en-US" altLang="zh-CN" b="1" baseline="-25000" dirty="0">
                <a:solidFill>
                  <a:srgbClr val="0099FF"/>
                </a:solidFill>
                <a:latin typeface="微软雅黑" panose="020B0503020204020204" pitchFamily="34" charset="-122"/>
                <a:ea typeface="微软雅黑" panose="020B0503020204020204" pitchFamily="34" charset="-122"/>
              </a:rPr>
              <a:t>L</a:t>
            </a:r>
            <a:r>
              <a:rPr lang="zh-CN" altLang="en-US" b="1" dirty="0">
                <a:latin typeface="微软雅黑" panose="020B0503020204020204" pitchFamily="34" charset="-122"/>
                <a:ea typeface="微软雅黑" panose="020B0503020204020204" pitchFamily="34" charset="-122"/>
              </a:rPr>
              <a:t>放电，</a:t>
            </a:r>
            <a:r>
              <a:rPr lang="en-US" altLang="zh-CN" b="1" dirty="0">
                <a:solidFill>
                  <a:srgbClr val="0099FF"/>
                </a:solidFill>
                <a:latin typeface="微软雅黑" panose="020B0503020204020204" pitchFamily="34" charset="-122"/>
                <a:ea typeface="微软雅黑" panose="020B0503020204020204" pitchFamily="34" charset="-122"/>
              </a:rPr>
              <a:t> C</a:t>
            </a:r>
            <a:r>
              <a:rPr lang="en-US" altLang="zh-CN" b="1" baseline="-25000" dirty="0">
                <a:solidFill>
                  <a:srgbClr val="0099FF"/>
                </a:solidFill>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初始电压</a:t>
            </a:r>
            <a:r>
              <a:rPr lang="en-US" altLang="zh-CN" b="1" dirty="0">
                <a:latin typeface="微软雅黑" panose="020B0503020204020204" pitchFamily="34" charset="-122"/>
                <a:ea typeface="微软雅黑" panose="020B0503020204020204" pitchFamily="34" charset="-122"/>
              </a:rPr>
              <a:t>=</a:t>
            </a:r>
            <a:r>
              <a:rPr lang="en-US" altLang="zh-CN" b="1" dirty="0">
                <a:solidFill>
                  <a:srgbClr val="00B050"/>
                </a:solidFill>
                <a:latin typeface="微软雅黑" panose="020B0503020204020204" pitchFamily="34" charset="-122"/>
                <a:ea typeface="微软雅黑" panose="020B0503020204020204" pitchFamily="34" charset="-122"/>
              </a:rPr>
              <a:t>+U</a:t>
            </a:r>
            <a:endParaRPr lang="en-US" altLang="zh-CN" b="1" baseline="-25000" dirty="0">
              <a:solidFill>
                <a:srgbClr val="00B050"/>
              </a:solidFill>
              <a:latin typeface="微软雅黑" panose="020B0503020204020204" pitchFamily="34" charset="-122"/>
              <a:ea typeface="微软雅黑" panose="020B0503020204020204" pitchFamily="34" charset="-122"/>
            </a:endParaRPr>
          </a:p>
          <a:p>
            <a:pPr>
              <a:lnSpc>
                <a:spcPct val="150000"/>
              </a:lnSpc>
              <a:defRPr/>
            </a:pPr>
            <a:r>
              <a:rPr lang="en-US" altLang="zh-CN" b="1" dirty="0">
                <a:solidFill>
                  <a:srgbClr val="0099FF"/>
                </a:solidFill>
                <a:latin typeface="微软雅黑" panose="020B0503020204020204" pitchFamily="34" charset="-122"/>
                <a:ea typeface="微软雅黑" panose="020B0503020204020204" pitchFamily="34" charset="-122"/>
              </a:rPr>
              <a:t>	        C</a:t>
            </a:r>
            <a:r>
              <a:rPr lang="en-US" altLang="zh-CN" b="1" baseline="-25000" dirty="0">
                <a:solidFill>
                  <a:srgbClr val="0099FF"/>
                </a:solidFill>
                <a:latin typeface="微软雅黑" panose="020B0503020204020204" pitchFamily="34" charset="-122"/>
                <a:ea typeface="微软雅黑" panose="020B0503020204020204" pitchFamily="34" charset="-122"/>
              </a:rPr>
              <a:t>1 </a:t>
            </a:r>
            <a:r>
              <a:rPr lang="zh-CN" altLang="en-US" b="1" dirty="0">
                <a:latin typeface="微软雅黑" panose="020B0503020204020204" pitchFamily="34" charset="-122"/>
                <a:ea typeface="微软雅黑" panose="020B0503020204020204" pitchFamily="34" charset="-122"/>
              </a:rPr>
              <a:t>电压</a:t>
            </a:r>
            <a:r>
              <a:rPr lang="en-US" altLang="zh-CN" b="1" dirty="0">
                <a:latin typeface="微软雅黑" panose="020B0503020204020204" pitchFamily="34" charset="-122"/>
                <a:ea typeface="微软雅黑" panose="020B0503020204020204" pitchFamily="34" charset="-122"/>
              </a:rPr>
              <a:t>(U</a:t>
            </a:r>
            <a:r>
              <a:rPr lang="en-US" altLang="zh-CN" b="1" baseline="-25000" dirty="0">
                <a:latin typeface="微软雅黑" panose="020B0503020204020204" pitchFamily="34" charset="-122"/>
                <a:ea typeface="微软雅黑" panose="020B0503020204020204" pitchFamily="34" charset="-122"/>
              </a:rPr>
              <a:t>A</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呈指数下降</a:t>
            </a:r>
            <a:endParaRPr lang="en-US" altLang="zh-CN" b="1" dirty="0">
              <a:latin typeface="微软雅黑" panose="020B0503020204020204" pitchFamily="34" charset="-122"/>
              <a:ea typeface="微软雅黑" panose="020B0503020204020204" pitchFamily="34" charset="-122"/>
            </a:endParaRPr>
          </a:p>
          <a:p>
            <a:pPr>
              <a:lnSpc>
                <a:spcPct val="150000"/>
              </a:lnSpc>
              <a:defRPr/>
            </a:pPr>
            <a:r>
              <a:rPr lang="en-US" altLang="zh-CN" b="1" dirty="0">
                <a:latin typeface="微软雅黑" panose="020B0503020204020204" pitchFamily="34" charset="-122"/>
                <a:ea typeface="微软雅黑" panose="020B0503020204020204" pitchFamily="34" charset="-122"/>
              </a:rPr>
              <a:t> 		</a:t>
            </a:r>
            <a:r>
              <a:rPr lang="en-US" altLang="zh-CN" sz="2400" b="1" i="1" u="wavyHeavy" dirty="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b="1" u="wavyHeavy" baseline="-25000" dirty="0">
                <a:solidFill>
                  <a:srgbClr val="7030A0"/>
                </a:solidFill>
                <a:latin typeface="微软雅黑" panose="020B0503020204020204" pitchFamily="34" charset="-122"/>
                <a:ea typeface="微软雅黑" panose="020B0503020204020204" pitchFamily="34" charset="-122"/>
              </a:rPr>
              <a:t>f</a:t>
            </a:r>
            <a:r>
              <a:rPr lang="en-US" altLang="zh-CN" b="1" u="wavyHeavy" baseline="-25000" dirty="0">
                <a:solidFill>
                  <a:srgbClr val="0099FF"/>
                </a:solidFill>
                <a:latin typeface="微软雅黑" panose="020B0503020204020204" pitchFamily="34" charset="-122"/>
                <a:ea typeface="微软雅黑" panose="020B0503020204020204" pitchFamily="34" charset="-122"/>
              </a:rPr>
              <a:t> </a:t>
            </a:r>
            <a:r>
              <a:rPr lang="zh-CN" altLang="en-US" b="1" u="wavyHeavy" dirty="0">
                <a:latin typeface="微软雅黑" panose="020B0503020204020204" pitchFamily="34" charset="-122"/>
                <a:ea typeface="微软雅黑" panose="020B0503020204020204" pitchFamily="34" charset="-122"/>
              </a:rPr>
              <a:t>从</a:t>
            </a:r>
            <a:r>
              <a:rPr lang="en-US" altLang="zh-CN" b="1" u="wavyHeavy" dirty="0">
                <a:latin typeface="微软雅黑" panose="020B0503020204020204" pitchFamily="34" charset="-122"/>
                <a:ea typeface="微软雅黑" panose="020B0503020204020204" pitchFamily="34" charset="-122"/>
              </a:rPr>
              <a:t>0</a:t>
            </a:r>
            <a:r>
              <a:rPr lang="zh-CN" altLang="en-US" b="1" u="wavyHeavy" dirty="0">
                <a:latin typeface="微软雅黑" panose="020B0503020204020204" pitchFamily="34" charset="-122"/>
                <a:ea typeface="微软雅黑" panose="020B0503020204020204" pitchFamily="34" charset="-122"/>
              </a:rPr>
              <a:t>指数下降，</a:t>
            </a:r>
            <a:r>
              <a:rPr lang="en-US" altLang="zh-CN" sz="2400" b="1" i="1" u="wavyHeavy" dirty="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b="1" u="wavyHeavy" baseline="-25000" dirty="0">
                <a:solidFill>
                  <a:srgbClr val="7030A0"/>
                </a:solidFill>
                <a:latin typeface="微软雅黑" panose="020B0503020204020204" pitchFamily="34" charset="-122"/>
                <a:ea typeface="微软雅黑" panose="020B0503020204020204" pitchFamily="34" charset="-122"/>
              </a:rPr>
              <a:t>f</a:t>
            </a:r>
            <a:r>
              <a:rPr lang="en-US" altLang="zh-CN" b="1" u="wavyHeavy" baseline="-25000" dirty="0">
                <a:solidFill>
                  <a:srgbClr val="0099FF"/>
                </a:solidFill>
                <a:latin typeface="微软雅黑" panose="020B0503020204020204" pitchFamily="34" charset="-122"/>
                <a:ea typeface="微软雅黑" panose="020B0503020204020204" pitchFamily="34" charset="-122"/>
              </a:rPr>
              <a:t> </a:t>
            </a:r>
            <a:r>
              <a:rPr lang="zh-CN" altLang="en-US" b="1" u="wavyHeavy" dirty="0">
                <a:latin typeface="微软雅黑" panose="020B0503020204020204" pitchFamily="34" charset="-122"/>
                <a:ea typeface="微软雅黑" panose="020B0503020204020204" pitchFamily="34" charset="-122"/>
              </a:rPr>
              <a:t>曲线的下半周</a:t>
            </a:r>
            <a:endParaRPr lang="en-US" altLang="zh-CN" b="1" dirty="0">
              <a:solidFill>
                <a:srgbClr val="00B050"/>
              </a:solidFill>
              <a:latin typeface="微软雅黑" panose="020B0503020204020204" pitchFamily="34" charset="-122"/>
              <a:ea typeface="微软雅黑" panose="020B0503020204020204" pitchFamily="34" charset="-122"/>
            </a:endParaRPr>
          </a:p>
        </p:txBody>
      </p:sp>
      <p:sp>
        <p:nvSpPr>
          <p:cNvPr id="40978" name="矩形 46">
            <a:extLst>
              <a:ext uri="{FF2B5EF4-FFF2-40B4-BE49-F238E27FC236}">
                <a16:creationId xmlns:a16="http://schemas.microsoft.com/office/drawing/2014/main" id="{6CDD66EB-8FD5-49E8-9B2D-49D88E670EDA}"/>
              </a:ext>
            </a:extLst>
          </p:cNvPr>
          <p:cNvSpPr>
            <a:spLocks noChangeArrowheads="1"/>
          </p:cNvSpPr>
          <p:nvPr/>
        </p:nvSpPr>
        <p:spPr bwMode="auto">
          <a:xfrm>
            <a:off x="835025" y="4130675"/>
            <a:ext cx="668972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1800" b="1">
                <a:solidFill>
                  <a:srgbClr val="0099FF"/>
                </a:solidFill>
                <a:latin typeface="微软雅黑" panose="020B0503020204020204" pitchFamily="34" charset="-122"/>
                <a:ea typeface="微软雅黑" panose="020B0503020204020204" pitchFamily="34" charset="-122"/>
              </a:rPr>
              <a:t>	       </a:t>
            </a:r>
            <a:r>
              <a:rPr lang="en-US" altLang="zh-CN" sz="1800" b="1">
                <a:solidFill>
                  <a:srgbClr val="7030A0"/>
                </a:solidFill>
                <a:latin typeface="微软雅黑" panose="020B0503020204020204" pitchFamily="34" charset="-122"/>
                <a:ea typeface="微软雅黑" panose="020B0503020204020204" pitchFamily="34" charset="-122"/>
              </a:rPr>
              <a:t>U</a:t>
            </a:r>
            <a:r>
              <a:rPr lang="en-US" altLang="zh-CN" sz="1800" b="1" baseline="-25000">
                <a:solidFill>
                  <a:srgbClr val="7030A0"/>
                </a:solidFill>
                <a:latin typeface="微软雅黑" panose="020B0503020204020204" pitchFamily="34" charset="-122"/>
                <a:ea typeface="微软雅黑" panose="020B0503020204020204" pitchFamily="34" charset="-122"/>
              </a:rPr>
              <a:t>L </a:t>
            </a:r>
            <a:r>
              <a:rPr lang="en-US" altLang="zh-CN" sz="1800" b="1">
                <a:latin typeface="微软雅黑" panose="020B0503020204020204" pitchFamily="34" charset="-122"/>
                <a:ea typeface="微软雅黑" panose="020B0503020204020204" pitchFamily="34" charset="-122"/>
              </a:rPr>
              <a:t>=0</a:t>
            </a:r>
            <a:r>
              <a:rPr lang="zh-CN" altLang="en-US" sz="1800" b="1">
                <a:latin typeface="微软雅黑" panose="020B0503020204020204" pitchFamily="34" charset="-122"/>
                <a:ea typeface="微软雅黑" panose="020B0503020204020204" pitchFamily="34" charset="-122"/>
              </a:rPr>
              <a:t>，因为</a:t>
            </a:r>
            <a:r>
              <a:rPr lang="en-US" altLang="zh-CN" sz="1800" b="1">
                <a:solidFill>
                  <a:srgbClr val="0099FF"/>
                </a:solidFill>
                <a:latin typeface="微软雅黑" panose="020B0503020204020204" pitchFamily="34" charset="-122"/>
                <a:ea typeface="微软雅黑" panose="020B0503020204020204" pitchFamily="34" charset="-122"/>
              </a:rPr>
              <a:t>R</a:t>
            </a:r>
            <a:r>
              <a:rPr lang="en-US" altLang="zh-CN" sz="1800" b="1" baseline="-25000">
                <a:solidFill>
                  <a:srgbClr val="0099FF"/>
                </a:solidFill>
                <a:latin typeface="微软雅黑" panose="020B0503020204020204" pitchFamily="34" charset="-122"/>
                <a:ea typeface="微软雅黑" panose="020B0503020204020204" pitchFamily="34" charset="-122"/>
              </a:rPr>
              <a:t>1</a:t>
            </a:r>
            <a:r>
              <a:rPr lang="en-US" altLang="zh-CN" sz="1800" b="1">
                <a:solidFill>
                  <a:srgbClr val="0099FF"/>
                </a:solidFill>
                <a:latin typeface="微软雅黑" panose="020B0503020204020204" pitchFamily="34" charset="-122"/>
                <a:ea typeface="微软雅黑" panose="020B0503020204020204" pitchFamily="34" charset="-122"/>
              </a:rPr>
              <a:t>=R</a:t>
            </a:r>
            <a:r>
              <a:rPr lang="en-US" altLang="zh-CN" sz="1800" b="1" baseline="-25000">
                <a:solidFill>
                  <a:srgbClr val="0099FF"/>
                </a:solidFill>
                <a:latin typeface="微软雅黑" panose="020B0503020204020204" pitchFamily="34" charset="-122"/>
                <a:ea typeface="微软雅黑" panose="020B0503020204020204" pitchFamily="34" charset="-122"/>
              </a:rPr>
              <a:t>2</a:t>
            </a:r>
            <a:r>
              <a:rPr lang="zh-CN" altLang="en-US" sz="1800" b="1">
                <a:latin typeface="微软雅黑" panose="020B0503020204020204" pitchFamily="34" charset="-122"/>
                <a:ea typeface="微软雅黑" panose="020B0503020204020204" pitchFamily="34" charset="-122"/>
              </a:rPr>
              <a:t>，且</a:t>
            </a:r>
            <a:r>
              <a:rPr lang="en-US" altLang="zh-CN" sz="1800" b="1">
                <a:solidFill>
                  <a:srgbClr val="0099FF"/>
                </a:solidFill>
                <a:latin typeface="微软雅黑" panose="020B0503020204020204" pitchFamily="34" charset="-122"/>
                <a:ea typeface="微软雅黑" panose="020B0503020204020204" pitchFamily="34" charset="-122"/>
              </a:rPr>
              <a:t>U</a:t>
            </a:r>
            <a:r>
              <a:rPr lang="en-US" altLang="zh-CN" sz="1800" b="1" baseline="-25000">
                <a:solidFill>
                  <a:srgbClr val="0099FF"/>
                </a:solidFill>
                <a:latin typeface="微软雅黑" panose="020B0503020204020204" pitchFamily="34" charset="-122"/>
                <a:ea typeface="微软雅黑" panose="020B0503020204020204" pitchFamily="34" charset="-122"/>
              </a:rPr>
              <a:t>A</a:t>
            </a:r>
            <a:r>
              <a:rPr lang="en-US" altLang="zh-CN" sz="1800" b="1">
                <a:latin typeface="微软雅黑" panose="020B0503020204020204" pitchFamily="34" charset="-122"/>
                <a:ea typeface="微软雅黑" panose="020B0503020204020204" pitchFamily="34" charset="-122"/>
              </a:rPr>
              <a:t>=</a:t>
            </a:r>
            <a:r>
              <a:rPr lang="en-US" altLang="zh-CN" sz="1800" b="1">
                <a:solidFill>
                  <a:srgbClr val="00B050"/>
                </a:solidFill>
                <a:latin typeface="微软雅黑" panose="020B0503020204020204" pitchFamily="34" charset="-122"/>
                <a:ea typeface="微软雅黑" panose="020B0503020204020204" pitchFamily="34" charset="-122"/>
              </a:rPr>
              <a:t> +U</a:t>
            </a:r>
            <a:r>
              <a:rPr lang="zh-CN" altLang="en-US" sz="1800" b="1">
                <a:solidFill>
                  <a:srgbClr val="00B050"/>
                </a:solidFill>
                <a:latin typeface="微软雅黑" panose="020B0503020204020204" pitchFamily="34" charset="-122"/>
                <a:ea typeface="微软雅黑" panose="020B0503020204020204" pitchFamily="34" charset="-122"/>
              </a:rPr>
              <a:t>，</a:t>
            </a:r>
            <a:r>
              <a:rPr lang="en-US" altLang="zh-CN" sz="1800" b="1">
                <a:solidFill>
                  <a:srgbClr val="0099FF"/>
                </a:solidFill>
                <a:latin typeface="微软雅黑" panose="020B0503020204020204" pitchFamily="34" charset="-122"/>
                <a:ea typeface="微软雅黑" panose="020B0503020204020204" pitchFamily="34" charset="-122"/>
              </a:rPr>
              <a:t> U</a:t>
            </a:r>
            <a:r>
              <a:rPr lang="en-US" altLang="zh-CN" sz="1800" b="1" baseline="-25000">
                <a:solidFill>
                  <a:srgbClr val="0099FF"/>
                </a:solidFill>
                <a:latin typeface="微软雅黑" panose="020B0503020204020204" pitchFamily="34" charset="-122"/>
                <a:ea typeface="微软雅黑" panose="020B0503020204020204" pitchFamily="34" charset="-122"/>
              </a:rPr>
              <a:t>B</a:t>
            </a:r>
            <a:r>
              <a:rPr lang="en-US" altLang="zh-CN" sz="1800" b="1">
                <a:latin typeface="微软雅黑" panose="020B0503020204020204" pitchFamily="34" charset="-122"/>
                <a:ea typeface="微软雅黑" panose="020B0503020204020204" pitchFamily="34" charset="-122"/>
              </a:rPr>
              <a:t>=</a:t>
            </a:r>
            <a:r>
              <a:rPr lang="en-US" altLang="zh-CN" sz="1800" b="1">
                <a:solidFill>
                  <a:srgbClr val="00B050"/>
                </a:solidFill>
                <a:latin typeface="微软雅黑" panose="020B0503020204020204" pitchFamily="34" charset="-122"/>
                <a:ea typeface="微软雅黑" panose="020B0503020204020204" pitchFamily="34" charset="-122"/>
              </a:rPr>
              <a:t> -U</a:t>
            </a:r>
            <a:r>
              <a:rPr lang="en-US" altLang="zh-CN" sz="1800" b="1" baseline="-25000">
                <a:solidFill>
                  <a:srgbClr val="0099FF"/>
                </a:solidFill>
                <a:latin typeface="微软雅黑" panose="020B0503020204020204" pitchFamily="34" charset="-122"/>
                <a:ea typeface="微软雅黑" panose="020B0503020204020204" pitchFamily="34" charset="-122"/>
              </a:rPr>
              <a:t> </a:t>
            </a:r>
            <a:endParaRPr lang="en-US" altLang="zh-CN" sz="1800" b="1">
              <a:latin typeface="微软雅黑" panose="020B0503020204020204" pitchFamily="34" charset="-122"/>
              <a:ea typeface="微软雅黑" panose="020B0503020204020204" pitchFamily="34" charset="-122"/>
            </a:endParaRPr>
          </a:p>
        </p:txBody>
      </p:sp>
      <p:pic>
        <p:nvPicPr>
          <p:cNvPr id="40979" name="图片 1">
            <a:extLst>
              <a:ext uri="{FF2B5EF4-FFF2-40B4-BE49-F238E27FC236}">
                <a16:creationId xmlns:a16="http://schemas.microsoft.com/office/drawing/2014/main" id="{42D7247A-AB7A-49FA-B37E-F93354294E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2863" y="1219200"/>
            <a:ext cx="2546350" cy="179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80" name="图片 2">
            <a:extLst>
              <a:ext uri="{FF2B5EF4-FFF2-40B4-BE49-F238E27FC236}">
                <a16:creationId xmlns:a16="http://schemas.microsoft.com/office/drawing/2014/main" id="{6C8528A8-C19E-4C5D-A3EB-7C4650DB6F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 y="1563688"/>
            <a:ext cx="2578100" cy="14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0981" name="组合 3">
            <a:extLst>
              <a:ext uri="{FF2B5EF4-FFF2-40B4-BE49-F238E27FC236}">
                <a16:creationId xmlns:a16="http://schemas.microsoft.com/office/drawing/2014/main" id="{D281BF0E-63D9-4BFE-A1A1-AFAFD05A26F3}"/>
              </a:ext>
            </a:extLst>
          </p:cNvPr>
          <p:cNvGrpSpPr>
            <a:grpSpLocks/>
          </p:cNvGrpSpPr>
          <p:nvPr/>
        </p:nvGrpSpPr>
        <p:grpSpPr bwMode="auto">
          <a:xfrm>
            <a:off x="2886075" y="966788"/>
            <a:ext cx="3371850" cy="2279650"/>
            <a:chOff x="2885442" y="966788"/>
            <a:chExt cx="3373115" cy="2280316"/>
          </a:xfrm>
        </p:grpSpPr>
        <p:pic>
          <p:nvPicPr>
            <p:cNvPr id="40986" name="Picture 13">
              <a:extLst>
                <a:ext uri="{FF2B5EF4-FFF2-40B4-BE49-F238E27FC236}">
                  <a16:creationId xmlns:a16="http://schemas.microsoft.com/office/drawing/2014/main" id="{6349F0D0-506D-430E-89AE-1AD3ED211B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5442" y="966788"/>
              <a:ext cx="3373115" cy="2280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7" name="文本框 5">
              <a:extLst>
                <a:ext uri="{FF2B5EF4-FFF2-40B4-BE49-F238E27FC236}">
                  <a16:creationId xmlns:a16="http://schemas.microsoft.com/office/drawing/2014/main" id="{0114FA9F-8A8D-4AB0-A2F2-2238A84D8E5F}"/>
                </a:ext>
              </a:extLst>
            </p:cNvPr>
            <p:cNvSpPr txBox="1">
              <a:spLocks noChangeArrowheads="1"/>
            </p:cNvSpPr>
            <p:nvPr/>
          </p:nvSpPr>
          <p:spPr bwMode="auto">
            <a:xfrm flipH="1">
              <a:off x="3304485" y="1965783"/>
              <a:ext cx="436812"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a:solidFill>
                    <a:srgbClr val="FF0000"/>
                  </a:solidFill>
                </a:rPr>
                <a:t>-</a:t>
              </a:r>
              <a:endParaRPr lang="zh-CN" altLang="en-US">
                <a:solidFill>
                  <a:srgbClr val="FF0000"/>
                </a:solidFill>
              </a:endParaRPr>
            </a:p>
          </p:txBody>
        </p:sp>
        <p:sp>
          <p:nvSpPr>
            <p:cNvPr id="40988" name="文本框 5">
              <a:extLst>
                <a:ext uri="{FF2B5EF4-FFF2-40B4-BE49-F238E27FC236}">
                  <a16:creationId xmlns:a16="http://schemas.microsoft.com/office/drawing/2014/main" id="{7416DCE8-E2F9-4012-870A-90B7B6731EBE}"/>
                </a:ext>
              </a:extLst>
            </p:cNvPr>
            <p:cNvSpPr txBox="1">
              <a:spLocks noChangeArrowheads="1"/>
            </p:cNvSpPr>
            <p:nvPr/>
          </p:nvSpPr>
          <p:spPr bwMode="auto">
            <a:xfrm flipH="1">
              <a:off x="4571999" y="1900762"/>
              <a:ext cx="436812"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a:solidFill>
                    <a:srgbClr val="FF0000"/>
                  </a:solidFill>
                </a:rPr>
                <a:t>-</a:t>
              </a:r>
              <a:endParaRPr lang="zh-CN" altLang="en-US">
                <a:solidFill>
                  <a:srgbClr val="FF0000"/>
                </a:solidFill>
              </a:endParaRPr>
            </a:p>
          </p:txBody>
        </p:sp>
        <p:sp>
          <p:nvSpPr>
            <p:cNvPr id="40989" name="文本框 5">
              <a:extLst>
                <a:ext uri="{FF2B5EF4-FFF2-40B4-BE49-F238E27FC236}">
                  <a16:creationId xmlns:a16="http://schemas.microsoft.com/office/drawing/2014/main" id="{8C9E244B-BE8B-4C66-87F7-B17A1E52D0BA}"/>
                </a:ext>
              </a:extLst>
            </p:cNvPr>
            <p:cNvSpPr txBox="1">
              <a:spLocks noChangeArrowheads="1"/>
            </p:cNvSpPr>
            <p:nvPr/>
          </p:nvSpPr>
          <p:spPr bwMode="auto">
            <a:xfrm flipH="1">
              <a:off x="3919164" y="1988840"/>
              <a:ext cx="436812"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a:solidFill>
                    <a:srgbClr val="FF0000"/>
                  </a:solidFill>
                </a:rPr>
                <a:t>+</a:t>
              </a:r>
              <a:endParaRPr lang="zh-CN" altLang="en-US">
                <a:solidFill>
                  <a:srgbClr val="FF0000"/>
                </a:solidFill>
              </a:endParaRPr>
            </a:p>
          </p:txBody>
        </p:sp>
      </p:grpSp>
      <p:sp>
        <p:nvSpPr>
          <p:cNvPr id="9" name="任意多边形: 形状 8">
            <a:extLst>
              <a:ext uri="{FF2B5EF4-FFF2-40B4-BE49-F238E27FC236}">
                <a16:creationId xmlns:a16="http://schemas.microsoft.com/office/drawing/2014/main" id="{B2633265-846C-4B36-833B-A857B8DE4D56}"/>
              </a:ext>
            </a:extLst>
          </p:cNvPr>
          <p:cNvSpPr/>
          <p:nvPr/>
        </p:nvSpPr>
        <p:spPr bwMode="auto">
          <a:xfrm>
            <a:off x="4081463" y="1339850"/>
            <a:ext cx="1998662" cy="1708150"/>
          </a:xfrm>
          <a:custGeom>
            <a:avLst/>
            <a:gdLst>
              <a:gd name="connsiteX0" fmla="*/ 490971 w 1999328"/>
              <a:gd name="connsiteY0" fmla="*/ 53558 h 1708187"/>
              <a:gd name="connsiteX1" fmla="*/ 1829914 w 1999328"/>
              <a:gd name="connsiteY1" fmla="*/ 42673 h 1708187"/>
              <a:gd name="connsiteX2" fmla="*/ 1797257 w 1999328"/>
              <a:gd name="connsiteY2" fmla="*/ 521644 h 1708187"/>
              <a:gd name="connsiteX3" fmla="*/ 164400 w 1999328"/>
              <a:gd name="connsiteY3" fmla="*/ 499873 h 1708187"/>
              <a:gd name="connsiteX4" fmla="*/ 142628 w 1999328"/>
              <a:gd name="connsiteY4" fmla="*/ 1708187 h 17081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9328" h="1708187">
                <a:moveTo>
                  <a:pt x="490971" y="53558"/>
                </a:moveTo>
                <a:cubicBezTo>
                  <a:pt x="1051585" y="9108"/>
                  <a:pt x="1612200" y="-35341"/>
                  <a:pt x="1829914" y="42673"/>
                </a:cubicBezTo>
                <a:cubicBezTo>
                  <a:pt x="2047628" y="120687"/>
                  <a:pt x="2074843" y="445444"/>
                  <a:pt x="1797257" y="521644"/>
                </a:cubicBezTo>
                <a:cubicBezTo>
                  <a:pt x="1519671" y="597844"/>
                  <a:pt x="440171" y="302116"/>
                  <a:pt x="164400" y="499873"/>
                </a:cubicBezTo>
                <a:cubicBezTo>
                  <a:pt x="-111372" y="697630"/>
                  <a:pt x="15628" y="1202908"/>
                  <a:pt x="142628" y="1708187"/>
                </a:cubicBezTo>
              </a:path>
            </a:pathLst>
          </a:custGeom>
          <a:noFill/>
          <a:ln w="38100">
            <a:solidFill>
              <a:schemeClr val="tx2"/>
            </a:solidFill>
            <a:headEnd type="triangle" w="lg" len="lg"/>
            <a:tailEnd type="none"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任意多边形: 形状 11">
            <a:extLst>
              <a:ext uri="{FF2B5EF4-FFF2-40B4-BE49-F238E27FC236}">
                <a16:creationId xmlns:a16="http://schemas.microsoft.com/office/drawing/2014/main" id="{6B2700B5-1FD5-40E6-B2AB-688DE60A4C4B}"/>
              </a:ext>
            </a:extLst>
          </p:cNvPr>
          <p:cNvSpPr/>
          <p:nvPr/>
        </p:nvSpPr>
        <p:spPr bwMode="auto">
          <a:xfrm>
            <a:off x="4778375" y="1844675"/>
            <a:ext cx="912813" cy="1252538"/>
          </a:xfrm>
          <a:custGeom>
            <a:avLst/>
            <a:gdLst>
              <a:gd name="connsiteX0" fmla="*/ 0 w 1209798"/>
              <a:gd name="connsiteY0" fmla="*/ 1110343 h 1225625"/>
              <a:gd name="connsiteX1" fmla="*/ 1077685 w 1209798"/>
              <a:gd name="connsiteY1" fmla="*/ 1121228 h 1225625"/>
              <a:gd name="connsiteX2" fmla="*/ 1153885 w 1209798"/>
              <a:gd name="connsiteY2" fmla="*/ 0 h 1225625"/>
            </a:gdLst>
            <a:ahLst/>
            <a:cxnLst>
              <a:cxn ang="0">
                <a:pos x="connsiteX0" y="connsiteY0"/>
              </a:cxn>
              <a:cxn ang="0">
                <a:pos x="connsiteX1" y="connsiteY1"/>
              </a:cxn>
              <a:cxn ang="0">
                <a:pos x="connsiteX2" y="connsiteY2"/>
              </a:cxn>
            </a:cxnLst>
            <a:rect l="l" t="t" r="r" b="b"/>
            <a:pathLst>
              <a:path w="1209798" h="1225625">
                <a:moveTo>
                  <a:pt x="0" y="1110343"/>
                </a:moveTo>
                <a:cubicBezTo>
                  <a:pt x="442685" y="1208314"/>
                  <a:pt x="885371" y="1306285"/>
                  <a:pt x="1077685" y="1121228"/>
                </a:cubicBezTo>
                <a:cubicBezTo>
                  <a:pt x="1269999" y="936171"/>
                  <a:pt x="1211942" y="468085"/>
                  <a:pt x="1153885" y="0"/>
                </a:cubicBezTo>
              </a:path>
            </a:pathLst>
          </a:custGeom>
          <a:noFill/>
          <a:ln w="38100">
            <a:solidFill>
              <a:srgbClr val="7030A0"/>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0983" name="矩形 12">
            <a:extLst>
              <a:ext uri="{FF2B5EF4-FFF2-40B4-BE49-F238E27FC236}">
                <a16:creationId xmlns:a16="http://schemas.microsoft.com/office/drawing/2014/main" id="{AFF36DA3-2DC0-43A3-8D2E-0BA9B9BEACF3}"/>
              </a:ext>
            </a:extLst>
          </p:cNvPr>
          <p:cNvSpPr>
            <a:spLocks noChangeArrowheads="1"/>
          </p:cNvSpPr>
          <p:nvPr/>
        </p:nvSpPr>
        <p:spPr bwMode="auto">
          <a:xfrm>
            <a:off x="5233988" y="2535238"/>
            <a:ext cx="3778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400" b="1" i="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b="1" baseline="-25000">
                <a:solidFill>
                  <a:srgbClr val="7030A0"/>
                </a:solidFill>
                <a:latin typeface="微软雅黑" panose="020B0503020204020204" pitchFamily="34" charset="-122"/>
                <a:ea typeface="微软雅黑" panose="020B0503020204020204" pitchFamily="34" charset="-122"/>
                <a:cs typeface="Times New Roman" panose="02020603050405020304" pitchFamily="18" charset="0"/>
              </a:rPr>
              <a:t>f</a:t>
            </a:r>
            <a:r>
              <a:rPr lang="en-US" altLang="zh-CN" sz="1800" b="1" baseline="-25000">
                <a:solidFill>
                  <a:srgbClr val="0099FF"/>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en-US" sz="1800">
              <a:ea typeface="微软雅黑" panose="020B0503020204020204" pitchFamily="34" charset="-122"/>
              <a:cs typeface="Times New Roman" panose="02020603050405020304" pitchFamily="18" charset="0"/>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a:extLst>
              <a:ext uri="{FF2B5EF4-FFF2-40B4-BE49-F238E27FC236}">
                <a16:creationId xmlns:a16="http://schemas.microsoft.com/office/drawing/2014/main" id="{EB3EA839-3119-4009-8EF8-885FFB809539}"/>
              </a:ext>
            </a:extLst>
          </p:cNvPr>
          <p:cNvSpPr>
            <a:spLocks noChangeArrowheads="1"/>
          </p:cNvSpPr>
          <p:nvPr/>
        </p:nvSpPr>
        <p:spPr bwMode="auto">
          <a:xfrm>
            <a:off x="0" y="226060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1987" name="Rectangle 4">
            <a:extLst>
              <a:ext uri="{FF2B5EF4-FFF2-40B4-BE49-F238E27FC236}">
                <a16:creationId xmlns:a16="http://schemas.microsoft.com/office/drawing/2014/main" id="{8712EA6B-55F1-4C52-83AA-074124EB21BD}"/>
              </a:ext>
            </a:extLst>
          </p:cNvPr>
          <p:cNvSpPr>
            <a:spLocks noChangeArrowheads="1"/>
          </p:cNvSpPr>
          <p:nvPr/>
        </p:nvSpPr>
        <p:spPr bwMode="auto">
          <a:xfrm>
            <a:off x="0" y="29654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1988" name="Rectangle 5">
            <a:extLst>
              <a:ext uri="{FF2B5EF4-FFF2-40B4-BE49-F238E27FC236}">
                <a16:creationId xmlns:a16="http://schemas.microsoft.com/office/drawing/2014/main" id="{27F7571E-B9B5-45E6-9621-B53902739247}"/>
              </a:ext>
            </a:extLst>
          </p:cNvPr>
          <p:cNvSpPr>
            <a:spLocks noChangeArrowheads="1"/>
          </p:cNvSpPr>
          <p:nvPr/>
        </p:nvSpPr>
        <p:spPr bwMode="auto">
          <a:xfrm>
            <a:off x="0" y="29654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1989" name="Rectangle 6">
            <a:extLst>
              <a:ext uri="{FF2B5EF4-FFF2-40B4-BE49-F238E27FC236}">
                <a16:creationId xmlns:a16="http://schemas.microsoft.com/office/drawing/2014/main" id="{5484ECEB-D0CC-4784-AC69-F9D7DC7789D0}"/>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1990" name="Rectangle 7">
            <a:extLst>
              <a:ext uri="{FF2B5EF4-FFF2-40B4-BE49-F238E27FC236}">
                <a16:creationId xmlns:a16="http://schemas.microsoft.com/office/drawing/2014/main" id="{3F1595A1-EE82-47E9-8FE6-A985B154D264}"/>
              </a:ext>
            </a:extLst>
          </p:cNvPr>
          <p:cNvSpPr>
            <a:spLocks noChangeArrowheads="1"/>
          </p:cNvSpPr>
          <p:nvPr/>
        </p:nvSpPr>
        <p:spPr bwMode="auto">
          <a:xfrm>
            <a:off x="0" y="28892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1991" name="Rectangle 8">
            <a:extLst>
              <a:ext uri="{FF2B5EF4-FFF2-40B4-BE49-F238E27FC236}">
                <a16:creationId xmlns:a16="http://schemas.microsoft.com/office/drawing/2014/main" id="{71A9722C-0CAF-42C6-B10F-8130E797AA40}"/>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1992" name="Rectangle 9">
            <a:extLst>
              <a:ext uri="{FF2B5EF4-FFF2-40B4-BE49-F238E27FC236}">
                <a16:creationId xmlns:a16="http://schemas.microsoft.com/office/drawing/2014/main" id="{BAB5E0D5-71D0-47EA-94D3-2105EE6C6B86}"/>
              </a:ext>
            </a:extLst>
          </p:cNvPr>
          <p:cNvSpPr>
            <a:spLocks noChangeArrowheads="1"/>
          </p:cNvSpPr>
          <p:nvPr/>
        </p:nvSpPr>
        <p:spPr bwMode="auto">
          <a:xfrm>
            <a:off x="0" y="293687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1993" name="Rectangle 10">
            <a:extLst>
              <a:ext uri="{FF2B5EF4-FFF2-40B4-BE49-F238E27FC236}">
                <a16:creationId xmlns:a16="http://schemas.microsoft.com/office/drawing/2014/main" id="{9C07C963-E673-457D-B626-923C22F9098B}"/>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1994" name="Rectangle 11">
            <a:extLst>
              <a:ext uri="{FF2B5EF4-FFF2-40B4-BE49-F238E27FC236}">
                <a16:creationId xmlns:a16="http://schemas.microsoft.com/office/drawing/2014/main" id="{65453320-7111-439A-9B84-1BFDA4C44A62}"/>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14" name="矩形 13">
            <a:extLst>
              <a:ext uri="{FF2B5EF4-FFF2-40B4-BE49-F238E27FC236}">
                <a16:creationId xmlns:a16="http://schemas.microsoft.com/office/drawing/2014/main" id="{E6AC3CCF-9CAC-4C7C-B76E-25286737C76E}"/>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41996" name="Text Box 2">
            <a:extLst>
              <a:ext uri="{FF2B5EF4-FFF2-40B4-BE49-F238E27FC236}">
                <a16:creationId xmlns:a16="http://schemas.microsoft.com/office/drawing/2014/main" id="{AB2ADA8C-20EE-4153-95CD-AA7C1B41F72E}"/>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3.1  </a:t>
            </a:r>
            <a:r>
              <a:rPr kumimoji="1" lang="zh-CN" altLang="en-US" sz="2800" b="1">
                <a:solidFill>
                  <a:srgbClr val="C00000"/>
                </a:solidFill>
                <a:latin typeface="微软雅黑" panose="020B0503020204020204" pitchFamily="34" charset="-122"/>
                <a:ea typeface="微软雅黑" panose="020B0503020204020204" pitchFamily="34" charset="-122"/>
              </a:rPr>
              <a:t>二极管双</a:t>
            </a:r>
            <a:r>
              <a:rPr kumimoji="1" lang="en-US" altLang="zh-CN" sz="2800" b="1">
                <a:solidFill>
                  <a:srgbClr val="C00000"/>
                </a:solidFill>
                <a:latin typeface="微软雅黑" panose="020B0503020204020204" pitchFamily="34" charset="-122"/>
                <a:ea typeface="微软雅黑" panose="020B0503020204020204" pitchFamily="34" charset="-122"/>
              </a:rPr>
              <a:t>T</a:t>
            </a:r>
            <a:r>
              <a:rPr kumimoji="1" lang="zh-CN" altLang="en-US" sz="2800" b="1">
                <a:solidFill>
                  <a:srgbClr val="C00000"/>
                </a:solidFill>
                <a:latin typeface="微软雅黑" panose="020B0503020204020204" pitchFamily="34" charset="-122"/>
                <a:ea typeface="微软雅黑" panose="020B0503020204020204" pitchFamily="34" charset="-122"/>
              </a:rPr>
              <a:t>电桥电容测量电路</a:t>
            </a:r>
          </a:p>
        </p:txBody>
      </p:sp>
      <p:sp>
        <p:nvSpPr>
          <p:cNvPr id="41997" name="Text Box 2">
            <a:extLst>
              <a:ext uri="{FF2B5EF4-FFF2-40B4-BE49-F238E27FC236}">
                <a16:creationId xmlns:a16="http://schemas.microsoft.com/office/drawing/2014/main" id="{137D2DEF-4A95-4874-83BB-2FD661BDA14A}"/>
              </a:ext>
            </a:extLst>
          </p:cNvPr>
          <p:cNvSpPr txBox="1">
            <a:spLocks noChangeArrowheads="1"/>
          </p:cNvSpPr>
          <p:nvPr/>
        </p:nvSpPr>
        <p:spPr bwMode="auto">
          <a:xfrm>
            <a:off x="395288" y="1108075"/>
            <a:ext cx="8353425" cy="188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defRPr/>
            </a:pPr>
            <a:r>
              <a:rPr lang="zh-CN" altLang="en-US" sz="2000" b="1" dirty="0">
                <a:solidFill>
                  <a:srgbClr val="0000FF"/>
                </a:solidFill>
                <a:latin typeface="微软雅黑" panose="020B0503020204020204" pitchFamily="34" charset="-122"/>
                <a:ea typeface="微软雅黑" panose="020B0503020204020204" pitchFamily="34" charset="-122"/>
              </a:rPr>
              <a:t>输出电压</a:t>
            </a:r>
            <a:r>
              <a:rPr lang="en-US" altLang="zh-CN" sz="2000" b="1" dirty="0">
                <a:solidFill>
                  <a:srgbClr val="0000FF"/>
                </a:solidFill>
                <a:latin typeface="微软雅黑" panose="020B0503020204020204" pitchFamily="34" charset="-122"/>
                <a:ea typeface="微软雅黑" panose="020B0503020204020204" pitchFamily="34" charset="-122"/>
              </a:rPr>
              <a:t>U</a:t>
            </a:r>
            <a:r>
              <a:rPr lang="en-US" altLang="zh-CN" sz="1800" b="1" dirty="0">
                <a:solidFill>
                  <a:srgbClr val="0000FF"/>
                </a:solidFill>
                <a:latin typeface="微软雅黑" panose="020B0503020204020204" pitchFamily="34" charset="-122"/>
                <a:ea typeface="微软雅黑" panose="020B0503020204020204" pitchFamily="34" charset="-122"/>
              </a:rPr>
              <a:t>L</a:t>
            </a:r>
            <a:r>
              <a:rPr lang="zh-CN" altLang="en-US" sz="2000" b="1" dirty="0">
                <a:solidFill>
                  <a:srgbClr val="0000FF"/>
                </a:solidFill>
                <a:latin typeface="微软雅黑" panose="020B0503020204020204" pitchFamily="34" charset="-122"/>
                <a:ea typeface="微软雅黑" panose="020B0503020204020204" pitchFamily="34" charset="-122"/>
              </a:rPr>
              <a:t>的直流分量：</a:t>
            </a:r>
            <a:r>
              <a:rPr lang="zh-CN" altLang="en-US" sz="2000" b="1" dirty="0">
                <a:latin typeface="微软雅黑" panose="020B0503020204020204" pitchFamily="34" charset="-122"/>
                <a:ea typeface="微软雅黑" panose="020B0503020204020204" pitchFamily="34" charset="-122"/>
              </a:rPr>
              <a:t>整个</a:t>
            </a:r>
            <a:r>
              <a:rPr lang="en-US" altLang="zh-CN" sz="2000" b="1" dirty="0">
                <a:solidFill>
                  <a:srgbClr val="FF0000"/>
                </a:solidFill>
                <a:latin typeface="微软雅黑" panose="020B0503020204020204" pitchFamily="34" charset="-122"/>
                <a:ea typeface="微软雅黑" panose="020B0503020204020204" pitchFamily="34" charset="-122"/>
              </a:rPr>
              <a:t>T</a:t>
            </a:r>
            <a:r>
              <a:rPr lang="zh-CN" altLang="en-US" sz="2000" b="1" dirty="0">
                <a:latin typeface="微软雅黑" panose="020B0503020204020204" pitchFamily="34" charset="-122"/>
                <a:ea typeface="微软雅黑" panose="020B0503020204020204" pitchFamily="34" charset="-122"/>
              </a:rPr>
              <a:t>周期内：</a:t>
            </a:r>
          </a:p>
          <a:p>
            <a:pPr>
              <a:lnSpc>
                <a:spcPct val="150000"/>
              </a:lnSpc>
              <a:spcBef>
                <a:spcPct val="0"/>
              </a:spcBef>
              <a:buFontTx/>
              <a:buNone/>
              <a:defRPr/>
            </a:pPr>
            <a:r>
              <a:rPr lang="zh-CN" altLang="en-US" sz="2000" b="1" dirty="0">
                <a:latin typeface="微软雅黑" panose="020B0503020204020204" pitchFamily="34" charset="-122"/>
                <a:ea typeface="微软雅黑" panose="020B0503020204020204" pitchFamily="34" charset="-122"/>
              </a:rPr>
              <a:t>●当传感器不工作时</a:t>
            </a:r>
            <a:r>
              <a:rPr lang="en-US" altLang="zh-CN" sz="2000" b="1" dirty="0">
                <a:solidFill>
                  <a:srgbClr val="0000FF"/>
                </a:solidFill>
                <a:latin typeface="微软雅黑" panose="020B0503020204020204" pitchFamily="34" charset="-122"/>
                <a:ea typeface="微软雅黑" panose="020B0503020204020204" pitchFamily="34" charset="-122"/>
              </a:rPr>
              <a:t>C1=C0</a:t>
            </a:r>
            <a:r>
              <a:rPr lang="zh-CN" altLang="en-US" sz="2000" b="1" dirty="0">
                <a:latin typeface="微软雅黑" panose="020B0503020204020204" pitchFamily="34" charset="-122"/>
                <a:ea typeface="微软雅黑" panose="020B0503020204020204" pitchFamily="34" charset="-122"/>
              </a:rPr>
              <a:t>，那么在电源正负半周流经</a:t>
            </a:r>
            <a:r>
              <a:rPr lang="en-US" altLang="zh-CN" sz="2000" b="1" dirty="0">
                <a:latin typeface="微软雅黑" panose="020B0503020204020204" pitchFamily="34" charset="-122"/>
                <a:ea typeface="微软雅黑" panose="020B0503020204020204" pitchFamily="34" charset="-122"/>
              </a:rPr>
              <a:t>RL</a:t>
            </a:r>
            <a:r>
              <a:rPr lang="zh-CN" altLang="en-US" sz="2000" b="1" dirty="0">
                <a:latin typeface="微软雅黑" panose="020B0503020204020204" pitchFamily="34" charset="-122"/>
                <a:ea typeface="微软雅黑" panose="020B0503020204020204" pitchFamily="34" charset="-122"/>
              </a:rPr>
              <a:t>电阻的电流是</a:t>
            </a:r>
            <a:r>
              <a:rPr lang="zh-CN" altLang="en-US" sz="2000" b="1" dirty="0">
                <a:solidFill>
                  <a:schemeClr val="bg2">
                    <a:lumMod val="75000"/>
                  </a:schemeClr>
                </a:solidFill>
                <a:latin typeface="微软雅黑" panose="020B0503020204020204" pitchFamily="34" charset="-122"/>
                <a:ea typeface="微软雅黑" panose="020B0503020204020204" pitchFamily="34" charset="-122"/>
              </a:rPr>
              <a:t>波形相同的</a:t>
            </a:r>
            <a:r>
              <a:rPr lang="zh-CN" altLang="en-US" sz="2000" b="1" dirty="0">
                <a:latin typeface="微软雅黑" panose="020B0503020204020204" pitchFamily="34" charset="-122"/>
                <a:ea typeface="微软雅黑" panose="020B0503020204020204" pitchFamily="34" charset="-122"/>
              </a:rPr>
              <a:t>，而</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方向相反</a:t>
            </a:r>
            <a:r>
              <a:rPr lang="zh-CN" altLang="en-US" sz="2000" b="1" dirty="0">
                <a:latin typeface="微软雅黑" panose="020B0503020204020204" pitchFamily="34" charset="-122"/>
                <a:ea typeface="微软雅黑" panose="020B0503020204020204" pitchFamily="34" charset="-122"/>
              </a:rPr>
              <a:t>的，所以流经</a:t>
            </a:r>
            <a:r>
              <a:rPr lang="en-US" altLang="zh-CN" sz="2000" b="1" dirty="0">
                <a:solidFill>
                  <a:srgbClr val="0000FF"/>
                </a:solidFill>
                <a:latin typeface="微软雅黑" panose="020B0503020204020204" pitchFamily="34" charset="-122"/>
                <a:ea typeface="微软雅黑" panose="020B0503020204020204" pitchFamily="34" charset="-122"/>
              </a:rPr>
              <a:t>R</a:t>
            </a:r>
            <a:r>
              <a:rPr lang="en-US" altLang="zh-CN" sz="1400" b="1" dirty="0">
                <a:solidFill>
                  <a:srgbClr val="0000FF"/>
                </a:solidFill>
                <a:latin typeface="微软雅黑" panose="020B0503020204020204" pitchFamily="34" charset="-122"/>
                <a:ea typeface="微软雅黑" panose="020B0503020204020204" pitchFamily="34" charset="-122"/>
              </a:rPr>
              <a:t>L</a:t>
            </a:r>
            <a:r>
              <a:rPr lang="zh-CN" altLang="en-US" sz="2000" b="1" dirty="0">
                <a:solidFill>
                  <a:srgbClr val="0000FF"/>
                </a:solidFill>
                <a:latin typeface="微软雅黑" panose="020B0503020204020204" pitchFamily="34" charset="-122"/>
                <a:ea typeface="微软雅黑" panose="020B0503020204020204" pitchFamily="34" charset="-122"/>
              </a:rPr>
              <a:t>上的</a:t>
            </a:r>
            <a:r>
              <a:rPr lang="zh-CN" altLang="en-US" sz="2000" b="1" dirty="0">
                <a:solidFill>
                  <a:schemeClr val="tx2"/>
                </a:solidFill>
                <a:latin typeface="微软雅黑" panose="020B0503020204020204" pitchFamily="34" charset="-122"/>
                <a:ea typeface="微软雅黑" panose="020B0503020204020204" pitchFamily="34" charset="-122"/>
              </a:rPr>
              <a:t>电流平均值</a:t>
            </a:r>
            <a:r>
              <a:rPr lang="zh-CN" altLang="en-US" sz="2000" b="1" dirty="0">
                <a:solidFill>
                  <a:srgbClr val="0000FF"/>
                </a:solidFill>
                <a:latin typeface="微软雅黑" panose="020B0503020204020204" pitchFamily="34" charset="-122"/>
                <a:ea typeface="微软雅黑" panose="020B0503020204020204" pitchFamily="34" charset="-122"/>
              </a:rPr>
              <a:t>为零</a:t>
            </a:r>
            <a:r>
              <a:rPr lang="zh-CN" altLang="en-US" sz="2000" b="1" dirty="0">
                <a:latin typeface="微软雅黑" panose="020B0503020204020204" pitchFamily="34" charset="-122"/>
                <a:ea typeface="微软雅黑" panose="020B0503020204020204" pitchFamily="34" charset="-122"/>
              </a:rPr>
              <a:t>。</a:t>
            </a:r>
          </a:p>
          <a:p>
            <a:pPr>
              <a:lnSpc>
                <a:spcPct val="150000"/>
              </a:lnSpc>
              <a:spcBef>
                <a:spcPct val="0"/>
              </a:spcBef>
              <a:buFontTx/>
              <a:buNone/>
              <a:defRPr/>
            </a:pPr>
            <a:r>
              <a:rPr lang="zh-CN" altLang="en-US" sz="2000" b="1" dirty="0">
                <a:latin typeface="微软雅黑" panose="020B0503020204020204" pitchFamily="34" charset="-122"/>
                <a:ea typeface="微软雅黑" panose="020B0503020204020204" pitchFamily="34" charset="-122"/>
              </a:rPr>
              <a:t>●当传感器工作时，</a:t>
            </a:r>
            <a:r>
              <a:rPr lang="en-US" altLang="zh-CN" sz="2000" b="1" dirty="0">
                <a:solidFill>
                  <a:srgbClr val="0000FF"/>
                </a:solidFill>
                <a:latin typeface="微软雅黑" panose="020B0503020204020204" pitchFamily="34" charset="-122"/>
                <a:ea typeface="微软雅黑" panose="020B0503020204020204" pitchFamily="34" charset="-122"/>
              </a:rPr>
              <a:t>C1≠C0</a:t>
            </a:r>
            <a:r>
              <a:rPr lang="zh-CN" altLang="en-US" sz="2000" b="1" dirty="0">
                <a:latin typeface="微软雅黑" panose="020B0503020204020204" pitchFamily="34" charset="-122"/>
                <a:ea typeface="微软雅黑" panose="020B0503020204020204" pitchFamily="34" charset="-122"/>
              </a:rPr>
              <a:t>，流经</a:t>
            </a:r>
            <a:r>
              <a:rPr lang="en-US" altLang="zh-CN" sz="2000" b="1" dirty="0">
                <a:solidFill>
                  <a:srgbClr val="0000FF"/>
                </a:solidFill>
                <a:latin typeface="微软雅黑" panose="020B0503020204020204" pitchFamily="34" charset="-122"/>
                <a:ea typeface="微软雅黑" panose="020B0503020204020204" pitchFamily="34" charset="-122"/>
              </a:rPr>
              <a:t>R</a:t>
            </a:r>
            <a:r>
              <a:rPr lang="en-US" altLang="zh-CN" sz="1600" b="1" dirty="0">
                <a:solidFill>
                  <a:srgbClr val="0000FF"/>
                </a:solidFill>
                <a:latin typeface="微软雅黑" panose="020B0503020204020204" pitchFamily="34" charset="-122"/>
                <a:ea typeface="微软雅黑" panose="020B0503020204020204" pitchFamily="34" charset="-122"/>
              </a:rPr>
              <a:t>L</a:t>
            </a:r>
            <a:r>
              <a:rPr lang="zh-CN" altLang="en-US" sz="2000" b="1" dirty="0">
                <a:solidFill>
                  <a:srgbClr val="0000FF"/>
                </a:solidFill>
                <a:latin typeface="微软雅黑" panose="020B0503020204020204" pitchFamily="34" charset="-122"/>
                <a:ea typeface="微软雅黑" panose="020B0503020204020204" pitchFamily="34" charset="-122"/>
              </a:rPr>
              <a:t>上的</a:t>
            </a:r>
            <a:r>
              <a:rPr lang="zh-CN" altLang="en-US" sz="2000" b="1" dirty="0">
                <a:solidFill>
                  <a:schemeClr val="tx2"/>
                </a:solidFill>
                <a:latin typeface="微软雅黑" panose="020B0503020204020204" pitchFamily="34" charset="-122"/>
                <a:ea typeface="微软雅黑" panose="020B0503020204020204" pitchFamily="34" charset="-122"/>
              </a:rPr>
              <a:t>电流平均值</a:t>
            </a:r>
            <a:r>
              <a:rPr lang="zh-CN" altLang="en-US" sz="2000" b="1" dirty="0">
                <a:solidFill>
                  <a:srgbClr val="0000FF"/>
                </a:solidFill>
                <a:latin typeface="微软雅黑" panose="020B0503020204020204" pitchFamily="34" charset="-122"/>
                <a:ea typeface="微软雅黑" panose="020B0503020204020204" pitchFamily="34" charset="-122"/>
              </a:rPr>
              <a:t>不为零</a:t>
            </a:r>
            <a:r>
              <a:rPr lang="zh-CN" altLang="en-US" sz="2000" b="1" dirty="0">
                <a:latin typeface="微软雅黑" panose="020B0503020204020204" pitchFamily="34" charset="-122"/>
                <a:ea typeface="微软雅黑" panose="020B0503020204020204" pitchFamily="34" charset="-122"/>
              </a:rPr>
              <a:t>。</a:t>
            </a:r>
          </a:p>
        </p:txBody>
      </p:sp>
      <p:pic>
        <p:nvPicPr>
          <p:cNvPr id="41998" name="Picture 10">
            <a:extLst>
              <a:ext uri="{FF2B5EF4-FFF2-40B4-BE49-F238E27FC236}">
                <a16:creationId xmlns:a16="http://schemas.microsoft.com/office/drawing/2014/main" id="{D84AA415-75EA-4AD4-9411-1AAD41ED2B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625" y="3263900"/>
            <a:ext cx="4140200"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9" name="Picture 12">
            <a:extLst>
              <a:ext uri="{FF2B5EF4-FFF2-40B4-BE49-F238E27FC236}">
                <a16:creationId xmlns:a16="http://schemas.microsoft.com/office/drawing/2014/main" id="{589B8F2A-3F4F-444A-9943-934A658A6E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5238" y="3498850"/>
            <a:ext cx="2952750"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a:extLst>
              <a:ext uri="{FF2B5EF4-FFF2-40B4-BE49-F238E27FC236}">
                <a16:creationId xmlns:a16="http://schemas.microsoft.com/office/drawing/2014/main" id="{2260D9AF-83A0-4CCD-82AF-DDE601F987AF}"/>
              </a:ext>
            </a:extLst>
          </p:cNvPr>
          <p:cNvSpPr txBox="1">
            <a:spLocks noChangeArrowheads="1"/>
          </p:cNvSpPr>
          <p:nvPr/>
        </p:nvSpPr>
        <p:spPr bwMode="auto">
          <a:xfrm>
            <a:off x="358775" y="985838"/>
            <a:ext cx="8353425" cy="142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lang="zh-CN" altLang="en-US" sz="2000" b="1" dirty="0">
                <a:solidFill>
                  <a:srgbClr val="0000FF"/>
                </a:solidFill>
                <a:latin typeface="微软雅黑" panose="020B0503020204020204" pitchFamily="34" charset="-122"/>
                <a:ea typeface="微软雅黑" panose="020B0503020204020204" pitchFamily="34" charset="-122"/>
              </a:rPr>
              <a:t>二极管双</a:t>
            </a:r>
            <a:r>
              <a:rPr lang="en-US" altLang="zh-CN" sz="2000" b="1" dirty="0">
                <a:solidFill>
                  <a:srgbClr val="0000FF"/>
                </a:solidFill>
                <a:latin typeface="微软雅黑" panose="020B0503020204020204" pitchFamily="34" charset="-122"/>
                <a:ea typeface="微软雅黑" panose="020B0503020204020204" pitchFamily="34" charset="-122"/>
              </a:rPr>
              <a:t>T</a:t>
            </a:r>
            <a:r>
              <a:rPr lang="zh-CN" altLang="en-US" sz="2000" b="1" dirty="0">
                <a:solidFill>
                  <a:srgbClr val="0000FF"/>
                </a:solidFill>
                <a:latin typeface="微软雅黑" panose="020B0503020204020204" pitchFamily="34" charset="-122"/>
                <a:ea typeface="微软雅黑" panose="020B0503020204020204" pitchFamily="34" charset="-122"/>
              </a:rPr>
              <a:t>桥路数值计算：</a:t>
            </a:r>
          </a:p>
          <a:p>
            <a:pPr>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T/2&lt;t&lt;T</a:t>
            </a:r>
            <a:r>
              <a:rPr lang="zh-CN" altLang="en-US" sz="2000" b="1" dirty="0">
                <a:latin typeface="微软雅黑" panose="020B0503020204020204" pitchFamily="34" charset="-122"/>
                <a:ea typeface="微软雅黑" panose="020B0503020204020204" pitchFamily="34" charset="-122"/>
              </a:rPr>
              <a:t>：即电源处于</a:t>
            </a:r>
            <a:r>
              <a:rPr lang="zh-CN" altLang="en-US" sz="2000" b="1" dirty="0">
                <a:solidFill>
                  <a:srgbClr val="0000FF"/>
                </a:solidFill>
                <a:latin typeface="微软雅黑" panose="020B0503020204020204" pitchFamily="34" charset="-122"/>
                <a:ea typeface="微软雅黑" panose="020B0503020204020204" pitchFamily="34" charset="-122"/>
              </a:rPr>
              <a:t>负半周</a:t>
            </a:r>
            <a:r>
              <a:rPr lang="zh-CN" altLang="en-US" sz="2000" b="1" dirty="0">
                <a:latin typeface="微软雅黑" panose="020B0503020204020204" pitchFamily="34" charset="-122"/>
                <a:ea typeface="微软雅黑" panose="020B0503020204020204" pitchFamily="34" charset="-122"/>
              </a:rPr>
              <a:t>（</a:t>
            </a:r>
            <a:r>
              <a:rPr lang="en-US" altLang="zh-CN" sz="2000" b="1" dirty="0">
                <a:solidFill>
                  <a:srgbClr val="0099FF"/>
                </a:solidFill>
                <a:latin typeface="微软雅黑" panose="020B0503020204020204" pitchFamily="34" charset="-122"/>
                <a:ea typeface="微软雅黑" panose="020B0503020204020204" pitchFamily="34" charset="-122"/>
              </a:rPr>
              <a:t>R</a:t>
            </a:r>
            <a:r>
              <a:rPr lang="en-US" altLang="zh-CN" sz="2000" b="1" baseline="-25000" dirty="0">
                <a:solidFill>
                  <a:srgbClr val="0099FF"/>
                </a:solidFill>
                <a:latin typeface="微软雅黑" panose="020B0503020204020204" pitchFamily="34" charset="-122"/>
                <a:ea typeface="微软雅黑" panose="020B0503020204020204" pitchFamily="34" charset="-122"/>
              </a:rPr>
              <a:t>1</a:t>
            </a:r>
            <a:r>
              <a:rPr lang="en-US" altLang="zh-CN" sz="2000" b="1" dirty="0">
                <a:solidFill>
                  <a:srgbClr val="0099FF"/>
                </a:solidFill>
                <a:latin typeface="微软雅黑" panose="020B0503020204020204" pitchFamily="34" charset="-122"/>
                <a:ea typeface="微软雅黑" panose="020B0503020204020204" pitchFamily="34" charset="-122"/>
              </a:rPr>
              <a:t>=R</a:t>
            </a:r>
            <a:r>
              <a:rPr lang="en-US" altLang="zh-CN" sz="2000" b="1" baseline="-25000" dirty="0">
                <a:solidFill>
                  <a:srgbClr val="0099FF"/>
                </a:solidFill>
                <a:latin typeface="微软雅黑" panose="020B0503020204020204" pitchFamily="34" charset="-122"/>
                <a:ea typeface="微软雅黑" panose="020B0503020204020204" pitchFamily="34" charset="-122"/>
              </a:rPr>
              <a:t>2</a:t>
            </a:r>
            <a:r>
              <a:rPr lang="en-US" altLang="zh-CN" sz="2000" b="1" dirty="0">
                <a:solidFill>
                  <a:srgbClr val="0099FF"/>
                </a:solidFill>
                <a:latin typeface="微软雅黑" panose="020B0503020204020204" pitchFamily="34" charset="-122"/>
                <a:ea typeface="微软雅黑" panose="020B0503020204020204" pitchFamily="34" charset="-122"/>
              </a:rPr>
              <a:t>=R</a:t>
            </a:r>
            <a:r>
              <a:rPr lang="zh-CN" altLang="en-US" sz="2000" b="1" dirty="0">
                <a:latin typeface="微软雅黑" panose="020B0503020204020204" pitchFamily="34" charset="-122"/>
                <a:ea typeface="微软雅黑" panose="020B0503020204020204" pitchFamily="34" charset="-122"/>
              </a:rPr>
              <a:t>）</a:t>
            </a:r>
          </a:p>
          <a:p>
            <a:pPr>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此时</a:t>
            </a:r>
            <a:r>
              <a:rPr lang="en-US" altLang="zh-CN" sz="2000" b="1" dirty="0">
                <a:latin typeface="微软雅黑" panose="020B0503020204020204" pitchFamily="34" charset="-122"/>
                <a:ea typeface="微软雅黑" panose="020B0503020204020204" pitchFamily="34" charset="-122"/>
              </a:rPr>
              <a:t>D</a:t>
            </a:r>
            <a:r>
              <a:rPr lang="en-US" altLang="zh-CN" sz="2000" b="1" baseline="-25000" dirty="0">
                <a:latin typeface="微软雅黑" panose="020B0503020204020204" pitchFamily="34" charset="-122"/>
                <a:ea typeface="微软雅黑" panose="020B0503020204020204" pitchFamily="34" charset="-122"/>
              </a:rPr>
              <a:t>2</a:t>
            </a:r>
            <a:r>
              <a:rPr lang="zh-CN" altLang="en-US" sz="2000" b="1" dirty="0">
                <a:latin typeface="微软雅黑" panose="020B0503020204020204" pitchFamily="34" charset="-122"/>
                <a:ea typeface="微软雅黑" panose="020B0503020204020204" pitchFamily="34" charset="-122"/>
              </a:rPr>
              <a:t>导通，</a:t>
            </a:r>
            <a:r>
              <a:rPr lang="en-US" altLang="zh-CN" sz="2000" b="1" dirty="0">
                <a:latin typeface="微软雅黑" panose="020B0503020204020204" pitchFamily="34" charset="-122"/>
                <a:ea typeface="微软雅黑" panose="020B0503020204020204" pitchFamily="34" charset="-122"/>
              </a:rPr>
              <a:t>D</a:t>
            </a:r>
            <a:r>
              <a:rPr lang="en-US" altLang="zh-CN" sz="2000" b="1" baseline="-25000"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截止，</a:t>
            </a:r>
            <a:r>
              <a:rPr lang="en-US" altLang="zh-CN" sz="2000" b="1" dirty="0">
                <a:latin typeface="微软雅黑" panose="020B0503020204020204" pitchFamily="34" charset="-122"/>
                <a:ea typeface="微软雅黑" panose="020B0503020204020204" pitchFamily="34" charset="-122"/>
              </a:rPr>
              <a:t>C</a:t>
            </a:r>
            <a:r>
              <a:rPr lang="en-US" altLang="zh-CN" sz="2000" b="1" baseline="-25000"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放电，</a:t>
            </a:r>
            <a:r>
              <a:rPr lang="en-US" altLang="zh-CN" sz="2000" b="1" dirty="0">
                <a:latin typeface="微软雅黑" panose="020B0503020204020204" pitchFamily="34" charset="-122"/>
                <a:ea typeface="微软雅黑" panose="020B0503020204020204" pitchFamily="34" charset="-122"/>
              </a:rPr>
              <a:t>U</a:t>
            </a:r>
            <a:r>
              <a:rPr lang="en-US" altLang="zh-CN" sz="2000" b="1" baseline="-25000" dirty="0">
                <a:latin typeface="微软雅黑" panose="020B0503020204020204" pitchFamily="34" charset="-122"/>
                <a:ea typeface="微软雅黑" panose="020B0503020204020204" pitchFamily="34" charset="-122"/>
              </a:rPr>
              <a:t>A</a:t>
            </a:r>
            <a:r>
              <a:rPr lang="zh-CN" altLang="en-US" sz="2000" b="1" dirty="0">
                <a:latin typeface="微软雅黑" panose="020B0503020204020204" pitchFamily="34" charset="-122"/>
                <a:ea typeface="微软雅黑" panose="020B0503020204020204" pitchFamily="34" charset="-122"/>
              </a:rPr>
              <a:t>电压从</a:t>
            </a:r>
            <a:r>
              <a:rPr lang="en-US" altLang="zh-CN" sz="2000" b="1" dirty="0">
                <a:latin typeface="微软雅黑" panose="020B0503020204020204" pitchFamily="34" charset="-122"/>
                <a:ea typeface="微软雅黑" panose="020B0503020204020204" pitchFamily="34" charset="-122"/>
              </a:rPr>
              <a:t>+U</a:t>
            </a:r>
            <a:r>
              <a:rPr lang="en-US" altLang="zh-CN" sz="2000" b="1" baseline="-25000" dirty="0">
                <a:latin typeface="微软雅黑" panose="020B0503020204020204" pitchFamily="34" charset="-122"/>
                <a:ea typeface="微软雅黑" panose="020B0503020204020204" pitchFamily="34" charset="-122"/>
              </a:rPr>
              <a:t>E</a:t>
            </a:r>
            <a:r>
              <a:rPr lang="zh-CN" altLang="en-US" sz="2000" b="1" dirty="0">
                <a:latin typeface="微软雅黑" panose="020B0503020204020204" pitchFamily="34" charset="-122"/>
                <a:ea typeface="微软雅黑" panose="020B0503020204020204" pitchFamily="34" charset="-122"/>
              </a:rPr>
              <a:t>呈指数下降，而</a:t>
            </a:r>
            <a:r>
              <a:rPr lang="en-US" altLang="zh-CN" sz="2000" b="1" dirty="0">
                <a:latin typeface="微软雅黑" panose="020B0503020204020204" pitchFamily="34" charset="-122"/>
                <a:ea typeface="微软雅黑" panose="020B0503020204020204" pitchFamily="34" charset="-122"/>
              </a:rPr>
              <a:t>U</a:t>
            </a:r>
            <a:r>
              <a:rPr lang="en-US" altLang="zh-CN" sz="2000" b="1" baseline="-25000" dirty="0">
                <a:latin typeface="微软雅黑" panose="020B0503020204020204" pitchFamily="34" charset="-122"/>
                <a:ea typeface="微软雅黑" panose="020B0503020204020204" pitchFamily="34" charset="-122"/>
              </a:rPr>
              <a:t>B</a:t>
            </a:r>
            <a:r>
              <a:rPr lang="en-US" altLang="zh-CN" sz="2000" b="1" dirty="0">
                <a:latin typeface="微软雅黑" panose="020B0503020204020204" pitchFamily="34" charset="-122"/>
                <a:ea typeface="微软雅黑" panose="020B0503020204020204" pitchFamily="34" charset="-122"/>
              </a:rPr>
              <a:t>= -U</a:t>
            </a:r>
            <a:r>
              <a:rPr lang="en-US" altLang="zh-CN" sz="2000" b="1" baseline="-25000" dirty="0">
                <a:latin typeface="微软雅黑" panose="020B0503020204020204" pitchFamily="34" charset="-122"/>
                <a:ea typeface="微软雅黑" panose="020B0503020204020204" pitchFamily="34" charset="-122"/>
              </a:rPr>
              <a:t>E</a:t>
            </a:r>
          </a:p>
        </p:txBody>
      </p:sp>
      <p:sp>
        <p:nvSpPr>
          <p:cNvPr id="43011" name="Rectangle 3">
            <a:extLst>
              <a:ext uri="{FF2B5EF4-FFF2-40B4-BE49-F238E27FC236}">
                <a16:creationId xmlns:a16="http://schemas.microsoft.com/office/drawing/2014/main" id="{BB723405-B4D7-4083-B79C-9BB431EC86A0}"/>
              </a:ext>
            </a:extLst>
          </p:cNvPr>
          <p:cNvSpPr>
            <a:spLocks noChangeArrowheads="1"/>
          </p:cNvSpPr>
          <p:nvPr/>
        </p:nvSpPr>
        <p:spPr bwMode="auto">
          <a:xfrm>
            <a:off x="0" y="359251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3012" name="Rectangle 4">
            <a:extLst>
              <a:ext uri="{FF2B5EF4-FFF2-40B4-BE49-F238E27FC236}">
                <a16:creationId xmlns:a16="http://schemas.microsoft.com/office/drawing/2014/main" id="{520C47F1-1237-4F84-82A9-2957A0559C67}"/>
              </a:ext>
            </a:extLst>
          </p:cNvPr>
          <p:cNvSpPr>
            <a:spLocks noChangeArrowheads="1"/>
          </p:cNvSpPr>
          <p:nvPr/>
        </p:nvSpPr>
        <p:spPr bwMode="auto">
          <a:xfrm>
            <a:off x="0" y="359251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3013" name="Rectangle 5">
            <a:extLst>
              <a:ext uri="{FF2B5EF4-FFF2-40B4-BE49-F238E27FC236}">
                <a16:creationId xmlns:a16="http://schemas.microsoft.com/office/drawing/2014/main" id="{7B86069D-BE2D-4873-BEE4-A7CEA5E9C5F3}"/>
              </a:ext>
            </a:extLst>
          </p:cNvPr>
          <p:cNvSpPr>
            <a:spLocks noChangeArrowheads="1"/>
          </p:cNvSpPr>
          <p:nvPr/>
        </p:nvSpPr>
        <p:spPr bwMode="auto">
          <a:xfrm>
            <a:off x="0" y="357822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3014" name="Rectangle 6">
            <a:extLst>
              <a:ext uri="{FF2B5EF4-FFF2-40B4-BE49-F238E27FC236}">
                <a16:creationId xmlns:a16="http://schemas.microsoft.com/office/drawing/2014/main" id="{471AFB1C-62BF-4D89-B689-8FCDADED196F}"/>
              </a:ext>
            </a:extLst>
          </p:cNvPr>
          <p:cNvSpPr>
            <a:spLocks noChangeArrowheads="1"/>
          </p:cNvSpPr>
          <p:nvPr/>
        </p:nvSpPr>
        <p:spPr bwMode="auto">
          <a:xfrm>
            <a:off x="0" y="357822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3015" name="Rectangle 7">
            <a:extLst>
              <a:ext uri="{FF2B5EF4-FFF2-40B4-BE49-F238E27FC236}">
                <a16:creationId xmlns:a16="http://schemas.microsoft.com/office/drawing/2014/main" id="{1C214E0A-0A5C-4EB8-84FC-FFED7C1F5D4E}"/>
              </a:ext>
            </a:extLst>
          </p:cNvPr>
          <p:cNvSpPr>
            <a:spLocks noChangeArrowheads="1"/>
          </p:cNvSpPr>
          <p:nvPr/>
        </p:nvSpPr>
        <p:spPr bwMode="auto">
          <a:xfrm>
            <a:off x="0" y="3563938"/>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3016" name="Rectangle 8">
            <a:extLst>
              <a:ext uri="{FF2B5EF4-FFF2-40B4-BE49-F238E27FC236}">
                <a16:creationId xmlns:a16="http://schemas.microsoft.com/office/drawing/2014/main" id="{F76030AF-0521-4477-8E95-ED8B849482EA}"/>
              </a:ext>
            </a:extLst>
          </p:cNvPr>
          <p:cNvSpPr>
            <a:spLocks noChangeArrowheads="1"/>
          </p:cNvSpPr>
          <p:nvPr/>
        </p:nvSpPr>
        <p:spPr bwMode="auto">
          <a:xfrm>
            <a:off x="0" y="37782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3017" name="Rectangle 9">
            <a:extLst>
              <a:ext uri="{FF2B5EF4-FFF2-40B4-BE49-F238E27FC236}">
                <a16:creationId xmlns:a16="http://schemas.microsoft.com/office/drawing/2014/main" id="{B93626BB-ACE9-4C48-9FE8-D507F006EAFD}"/>
              </a:ext>
            </a:extLst>
          </p:cNvPr>
          <p:cNvSpPr>
            <a:spLocks noChangeArrowheads="1"/>
          </p:cNvSpPr>
          <p:nvPr/>
        </p:nvSpPr>
        <p:spPr bwMode="auto">
          <a:xfrm>
            <a:off x="0" y="37782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pic>
        <p:nvPicPr>
          <p:cNvPr id="218122" name="Picture 10">
            <a:extLst>
              <a:ext uri="{FF2B5EF4-FFF2-40B4-BE49-F238E27FC236}">
                <a16:creationId xmlns:a16="http://schemas.microsoft.com/office/drawing/2014/main" id="{0B2E9F1D-16E4-433F-AECC-FF11E3F8C3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113" y="2509838"/>
            <a:ext cx="3095625"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9" name="Picture 11">
            <a:extLst>
              <a:ext uri="{FF2B5EF4-FFF2-40B4-BE49-F238E27FC236}">
                <a16:creationId xmlns:a16="http://schemas.microsoft.com/office/drawing/2014/main" id="{7FBAE752-BD7E-4E58-A923-0955597817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19363"/>
            <a:ext cx="3059113"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126" name="Picture 14">
            <a:extLst>
              <a:ext uri="{FF2B5EF4-FFF2-40B4-BE49-F238E27FC236}">
                <a16:creationId xmlns:a16="http://schemas.microsoft.com/office/drawing/2014/main" id="{C25CEDB1-CBFB-409A-B777-D9EEF4D11B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6325" y="2492375"/>
            <a:ext cx="2987675" cy="209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127" name="Picture 15">
            <a:extLst>
              <a:ext uri="{FF2B5EF4-FFF2-40B4-BE49-F238E27FC236}">
                <a16:creationId xmlns:a16="http://schemas.microsoft.com/office/drawing/2014/main" id="{EF5FD742-E333-4684-BAA2-5101CFD3E5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560888"/>
            <a:ext cx="2916238"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128" name="Picture 16">
            <a:extLst>
              <a:ext uri="{FF2B5EF4-FFF2-40B4-BE49-F238E27FC236}">
                <a16:creationId xmlns:a16="http://schemas.microsoft.com/office/drawing/2014/main" id="{B07DC905-5C52-4526-A714-3DEAF495E0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6238" y="4560888"/>
            <a:ext cx="3248025" cy="218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15">
            <a:extLst>
              <a:ext uri="{FF2B5EF4-FFF2-40B4-BE49-F238E27FC236}">
                <a16:creationId xmlns:a16="http://schemas.microsoft.com/office/drawing/2014/main" id="{CA1E9D65-2076-44D2-B8D2-6EC9323061A6}"/>
              </a:ext>
            </a:extLst>
          </p:cNvPr>
          <p:cNvSpPr/>
          <p:nvPr/>
        </p:nvSpPr>
        <p:spPr>
          <a:xfrm>
            <a:off x="138113" y="935038"/>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43024" name="Text Box 2">
            <a:extLst>
              <a:ext uri="{FF2B5EF4-FFF2-40B4-BE49-F238E27FC236}">
                <a16:creationId xmlns:a16="http://schemas.microsoft.com/office/drawing/2014/main" id="{0F0C2B84-F080-4C7E-B44A-EBE526AD4C4A}"/>
              </a:ext>
            </a:extLst>
          </p:cNvPr>
          <p:cNvSpPr txBox="1">
            <a:spLocks noChangeArrowheads="1"/>
          </p:cNvSpPr>
          <p:nvPr/>
        </p:nvSpPr>
        <p:spPr bwMode="auto">
          <a:xfrm>
            <a:off x="155575" y="233363"/>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3.1  </a:t>
            </a:r>
            <a:r>
              <a:rPr kumimoji="1" lang="zh-CN" altLang="en-US" sz="2800" b="1">
                <a:solidFill>
                  <a:srgbClr val="C00000"/>
                </a:solidFill>
                <a:latin typeface="微软雅黑" panose="020B0503020204020204" pitchFamily="34" charset="-122"/>
                <a:ea typeface="微软雅黑" panose="020B0503020204020204" pitchFamily="34" charset="-122"/>
              </a:rPr>
              <a:t>二极管双</a:t>
            </a:r>
            <a:r>
              <a:rPr kumimoji="1" lang="en-US" altLang="zh-CN" sz="2800" b="1">
                <a:solidFill>
                  <a:srgbClr val="C00000"/>
                </a:solidFill>
                <a:latin typeface="微软雅黑" panose="020B0503020204020204" pitchFamily="34" charset="-122"/>
                <a:ea typeface="微软雅黑" panose="020B0503020204020204" pitchFamily="34" charset="-122"/>
              </a:rPr>
              <a:t>T</a:t>
            </a:r>
            <a:r>
              <a:rPr kumimoji="1" lang="zh-CN" altLang="en-US" sz="2800" b="1">
                <a:solidFill>
                  <a:srgbClr val="C00000"/>
                </a:solidFill>
                <a:latin typeface="微软雅黑" panose="020B0503020204020204" pitchFamily="34" charset="-122"/>
                <a:ea typeface="微软雅黑" panose="020B0503020204020204" pitchFamily="34" charset="-122"/>
              </a:rPr>
              <a:t>电桥电容测量电路</a:t>
            </a:r>
          </a:p>
        </p:txBody>
      </p:sp>
      <p:pic>
        <p:nvPicPr>
          <p:cNvPr id="218125" name="Picture 13">
            <a:extLst>
              <a:ext uri="{FF2B5EF4-FFF2-40B4-BE49-F238E27FC236}">
                <a16:creationId xmlns:a16="http://schemas.microsoft.com/office/drawing/2014/main" id="{ED0CA204-683D-4D9D-BCE8-5B5756D1C0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71481" y="4637956"/>
            <a:ext cx="2565301" cy="1820712"/>
          </a:xfrm>
          <a:prstGeom prst="rect">
            <a:avLst/>
          </a:prstGeom>
          <a:solidFill>
            <a:schemeClr val="accent1">
              <a:lumMod val="20000"/>
              <a:lumOff val="80000"/>
            </a:schemeClr>
          </a:solidFill>
          <a:ln>
            <a:noFill/>
          </a:ln>
          <a:effectLst>
            <a:glow rad="139700">
              <a:schemeClr val="accent1">
                <a:satMod val="175000"/>
                <a:alpha val="40000"/>
              </a:schemeClr>
            </a:glow>
            <a:outerShdw blurRad="50800" dist="38100" dir="5400000" algn="t" rotWithShape="0">
              <a:prstClr val="black">
                <a:alpha val="40000"/>
              </a:prstClr>
            </a:outerShdw>
          </a:effectLst>
          <a:scene3d>
            <a:camera prst="orthographicFront">
              <a:rot lat="0" lon="0" rev="0"/>
            </a:camera>
            <a:lightRig rig="balanced" dir="t">
              <a:rot lat="0" lon="0" rev="8700000"/>
            </a:lightRig>
          </a:scene3d>
          <a:sp3d>
            <a:bevelT w="190500" h="38100"/>
          </a:sp3d>
        </p:spPr>
      </p:pic>
      <p:sp>
        <p:nvSpPr>
          <p:cNvPr id="2" name="矩形 1">
            <a:extLst>
              <a:ext uri="{FF2B5EF4-FFF2-40B4-BE49-F238E27FC236}">
                <a16:creationId xmlns:a16="http://schemas.microsoft.com/office/drawing/2014/main" id="{2F2C8B43-0528-4415-ADED-6BD721F2F36D}"/>
              </a:ext>
            </a:extLst>
          </p:cNvPr>
          <p:cNvSpPr/>
          <p:nvPr/>
        </p:nvSpPr>
        <p:spPr>
          <a:xfrm>
            <a:off x="3591262" y="6385481"/>
            <a:ext cx="2031325" cy="369332"/>
          </a:xfrm>
          <a:prstGeom prst="rect">
            <a:avLst/>
          </a:prstGeom>
        </p:spPr>
        <p:txBody>
          <a:bodyPr wrap="none">
            <a:spAutoFit/>
          </a:bodyPr>
          <a:lstStyle/>
          <a:p>
            <a:r>
              <a:rPr lang="zh-CN" altLang="en-US" b="1" dirty="0">
                <a:solidFill>
                  <a:schemeClr val="bg2"/>
                </a:solidFill>
                <a:latin typeface="微软雅黑" panose="020B0503020204020204" pitchFamily="34" charset="-122"/>
                <a:ea typeface="微软雅黑" panose="020B0503020204020204" pitchFamily="34" charset="-122"/>
              </a:rPr>
              <a:t>左边部分等效电路</a:t>
            </a:r>
            <a:endParaRPr lang="zh-CN" altLang="en-US"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812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1812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1812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1812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18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3ED8025-71FA-4EDE-B237-9D1C98C9C26D}"/>
              </a:ext>
            </a:extLst>
          </p:cNvPr>
          <p:cNvSpPr/>
          <p:nvPr/>
        </p:nvSpPr>
        <p:spPr>
          <a:xfrm>
            <a:off x="2566894" y="5632435"/>
            <a:ext cx="3527425" cy="7032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44035" name="Text Box 2">
            <a:extLst>
              <a:ext uri="{FF2B5EF4-FFF2-40B4-BE49-F238E27FC236}">
                <a16:creationId xmlns:a16="http://schemas.microsoft.com/office/drawing/2014/main" id="{6991DA78-4878-4CC2-9DC2-1B55BD7DA28C}"/>
              </a:ext>
            </a:extLst>
          </p:cNvPr>
          <p:cNvSpPr txBox="1">
            <a:spLocks noChangeArrowheads="1"/>
          </p:cNvSpPr>
          <p:nvPr/>
        </p:nvSpPr>
        <p:spPr bwMode="auto">
          <a:xfrm>
            <a:off x="153895" y="129122"/>
            <a:ext cx="8353425" cy="50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2000" b="1" dirty="0">
                <a:latin typeface="微软雅黑" panose="020B0503020204020204" pitchFamily="34" charset="-122"/>
                <a:ea typeface="微软雅黑" panose="020B0503020204020204" pitchFamily="34" charset="-122"/>
              </a:rPr>
              <a:t>● T/2&lt;t&lt;T</a:t>
            </a:r>
            <a:r>
              <a:rPr lang="zh-CN" altLang="en-US" sz="2000" b="1" dirty="0">
                <a:latin typeface="微软雅黑" panose="020B0503020204020204" pitchFamily="34" charset="-122"/>
                <a:ea typeface="微软雅黑" panose="020B0503020204020204" pitchFamily="34" charset="-122"/>
              </a:rPr>
              <a:t>，电源处于</a:t>
            </a:r>
            <a:r>
              <a:rPr lang="zh-CN" altLang="en-US" sz="2000" b="1" dirty="0">
                <a:solidFill>
                  <a:srgbClr val="0000FF"/>
                </a:solidFill>
                <a:latin typeface="微软雅黑" panose="020B0503020204020204" pitchFamily="34" charset="-122"/>
                <a:ea typeface="微软雅黑" panose="020B0503020204020204" pitchFamily="34" charset="-122"/>
              </a:rPr>
              <a:t>负半周</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R</a:t>
            </a:r>
            <a:r>
              <a:rPr lang="en-US" altLang="zh-CN" sz="2000" b="1" baseline="-25000" dirty="0">
                <a:latin typeface="微软雅黑" panose="020B0503020204020204" pitchFamily="34" charset="-122"/>
                <a:ea typeface="微软雅黑" panose="020B0503020204020204" pitchFamily="34" charset="-122"/>
              </a:rPr>
              <a:t>1</a:t>
            </a:r>
            <a:r>
              <a:rPr lang="en-US" altLang="zh-CN" sz="2000" b="1" dirty="0">
                <a:latin typeface="微软雅黑" panose="020B0503020204020204" pitchFamily="34" charset="-122"/>
                <a:ea typeface="微软雅黑" panose="020B0503020204020204" pitchFamily="34" charset="-122"/>
              </a:rPr>
              <a:t>=R</a:t>
            </a:r>
            <a:r>
              <a:rPr lang="en-US" altLang="zh-CN" sz="2000" b="1" baseline="-25000" dirty="0">
                <a:latin typeface="微软雅黑" panose="020B0503020204020204" pitchFamily="34" charset="-122"/>
                <a:ea typeface="微软雅黑" panose="020B0503020204020204" pitchFamily="34" charset="-122"/>
              </a:rPr>
              <a:t>2</a:t>
            </a:r>
            <a:r>
              <a:rPr lang="en-US" altLang="zh-CN" sz="2000" b="1" dirty="0">
                <a:latin typeface="微软雅黑" panose="020B0503020204020204" pitchFamily="34" charset="-122"/>
                <a:ea typeface="微软雅黑" panose="020B0503020204020204" pitchFamily="34" charset="-122"/>
              </a:rPr>
              <a:t>=R</a:t>
            </a:r>
            <a:r>
              <a:rPr lang="zh-CN" altLang="en-US" sz="2000" b="1" dirty="0">
                <a:latin typeface="微软雅黑" panose="020B0503020204020204" pitchFamily="34" charset="-122"/>
                <a:ea typeface="微软雅黑" panose="020B0503020204020204" pitchFamily="34" charset="-122"/>
              </a:rPr>
              <a:t>）</a:t>
            </a:r>
          </a:p>
        </p:txBody>
      </p:sp>
      <p:sp>
        <p:nvSpPr>
          <p:cNvPr id="44036" name="Rectangle 4">
            <a:extLst>
              <a:ext uri="{FF2B5EF4-FFF2-40B4-BE49-F238E27FC236}">
                <a16:creationId xmlns:a16="http://schemas.microsoft.com/office/drawing/2014/main" id="{E71D82C9-6F8C-4ADB-A65F-4C5E29F74B58}"/>
              </a:ext>
            </a:extLst>
          </p:cNvPr>
          <p:cNvSpPr>
            <a:spLocks noChangeArrowheads="1"/>
          </p:cNvSpPr>
          <p:nvPr/>
        </p:nvSpPr>
        <p:spPr bwMode="auto">
          <a:xfrm>
            <a:off x="0" y="29654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4037" name="Rectangle 5">
            <a:extLst>
              <a:ext uri="{FF2B5EF4-FFF2-40B4-BE49-F238E27FC236}">
                <a16:creationId xmlns:a16="http://schemas.microsoft.com/office/drawing/2014/main" id="{4DE13A9D-940A-45F9-8EFF-238431869D22}"/>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4038" name="Rectangle 6">
            <a:extLst>
              <a:ext uri="{FF2B5EF4-FFF2-40B4-BE49-F238E27FC236}">
                <a16:creationId xmlns:a16="http://schemas.microsoft.com/office/drawing/2014/main" id="{BD763164-71AB-4686-871D-1F80DAB84DD5}"/>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4039" name="Rectangle 8">
            <a:extLst>
              <a:ext uri="{FF2B5EF4-FFF2-40B4-BE49-F238E27FC236}">
                <a16:creationId xmlns:a16="http://schemas.microsoft.com/office/drawing/2014/main" id="{A3F9EE97-680A-410E-847F-AA60A8BD835D}"/>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4040" name="Rectangle 9">
            <a:extLst>
              <a:ext uri="{FF2B5EF4-FFF2-40B4-BE49-F238E27FC236}">
                <a16:creationId xmlns:a16="http://schemas.microsoft.com/office/drawing/2014/main" id="{531F5A05-5FC4-4AC3-B035-0C3607D55E77}"/>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pic>
        <p:nvPicPr>
          <p:cNvPr id="44041" name="Picture 10">
            <a:extLst>
              <a:ext uri="{FF2B5EF4-FFF2-40B4-BE49-F238E27FC236}">
                <a16:creationId xmlns:a16="http://schemas.microsoft.com/office/drawing/2014/main" id="{D499FF76-66E7-4DFB-8BF0-74D4ED3A5F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0519" y="1052513"/>
            <a:ext cx="3337731" cy="2376487"/>
          </a:xfrm>
          <a:prstGeom prst="rect">
            <a:avLst/>
          </a:prstGeom>
          <a:noFill/>
          <a:ln>
            <a:noFill/>
          </a:ln>
          <a:effectLst>
            <a:glow rad="139700">
              <a:schemeClr val="accent6">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2">
            <a:extLst>
              <a:ext uri="{FF2B5EF4-FFF2-40B4-BE49-F238E27FC236}">
                <a16:creationId xmlns:a16="http://schemas.microsoft.com/office/drawing/2014/main" id="{70873EAD-CA69-4B87-9677-5975FCA73AC1}"/>
              </a:ext>
            </a:extLst>
          </p:cNvPr>
          <p:cNvSpPr txBox="1">
            <a:spLocks noChangeArrowheads="1"/>
          </p:cNvSpPr>
          <p:nvPr/>
        </p:nvSpPr>
        <p:spPr bwMode="auto">
          <a:xfrm>
            <a:off x="168786" y="2415293"/>
            <a:ext cx="8353425" cy="50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2000" b="1" dirty="0">
                <a:latin typeface="微软雅黑" panose="020B0503020204020204" pitchFamily="34" charset="-122"/>
                <a:ea typeface="微软雅黑" panose="020B0503020204020204" pitchFamily="34" charset="-122"/>
              </a:rPr>
              <a:t>● 0&lt;t&lt; T/2 </a:t>
            </a:r>
            <a:r>
              <a:rPr lang="zh-CN" altLang="en-US" sz="2000" b="1" dirty="0">
                <a:latin typeface="微软雅黑" panose="020B0503020204020204" pitchFamily="34" charset="-122"/>
                <a:ea typeface="微软雅黑" panose="020B0503020204020204" pitchFamily="34" charset="-122"/>
              </a:rPr>
              <a:t>，电源处于</a:t>
            </a:r>
            <a:r>
              <a:rPr lang="zh-CN" altLang="en-US" sz="2000" b="1" dirty="0">
                <a:solidFill>
                  <a:srgbClr val="0000FF"/>
                </a:solidFill>
                <a:latin typeface="微软雅黑" panose="020B0503020204020204" pitchFamily="34" charset="-122"/>
                <a:ea typeface="微软雅黑" panose="020B0503020204020204" pitchFamily="34" charset="-122"/>
              </a:rPr>
              <a:t>正半周</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R</a:t>
            </a:r>
            <a:r>
              <a:rPr lang="en-US" altLang="zh-CN" sz="2000" b="1" baseline="-25000" dirty="0">
                <a:latin typeface="微软雅黑" panose="020B0503020204020204" pitchFamily="34" charset="-122"/>
                <a:ea typeface="微软雅黑" panose="020B0503020204020204" pitchFamily="34" charset="-122"/>
              </a:rPr>
              <a:t>1</a:t>
            </a:r>
            <a:r>
              <a:rPr lang="en-US" altLang="zh-CN" sz="2000" b="1" dirty="0">
                <a:latin typeface="微软雅黑" panose="020B0503020204020204" pitchFamily="34" charset="-122"/>
                <a:ea typeface="微软雅黑" panose="020B0503020204020204" pitchFamily="34" charset="-122"/>
              </a:rPr>
              <a:t>=R</a:t>
            </a:r>
            <a:r>
              <a:rPr lang="en-US" altLang="zh-CN" sz="2000" b="1" baseline="-25000" dirty="0">
                <a:latin typeface="微软雅黑" panose="020B0503020204020204" pitchFamily="34" charset="-122"/>
                <a:ea typeface="微软雅黑" panose="020B0503020204020204" pitchFamily="34" charset="-122"/>
              </a:rPr>
              <a:t>2</a:t>
            </a:r>
            <a:r>
              <a:rPr lang="en-US" altLang="zh-CN" sz="2000" b="1" dirty="0">
                <a:latin typeface="微软雅黑" panose="020B0503020204020204" pitchFamily="34" charset="-122"/>
                <a:ea typeface="微软雅黑" panose="020B0503020204020204" pitchFamily="34" charset="-122"/>
              </a:rPr>
              <a:t>=R</a:t>
            </a:r>
            <a:r>
              <a:rPr lang="zh-CN" altLang="en-US" sz="2000" b="1" dirty="0">
                <a:latin typeface="微软雅黑" panose="020B0503020204020204" pitchFamily="34" charset="-122"/>
                <a:ea typeface="微软雅黑" panose="020B0503020204020204" pitchFamily="34" charset="-122"/>
              </a:rPr>
              <a:t>）</a:t>
            </a:r>
          </a:p>
        </p:txBody>
      </p:sp>
      <p:graphicFrame>
        <p:nvGraphicFramePr>
          <p:cNvPr id="15" name="Object 11">
            <a:extLst>
              <a:ext uri="{FF2B5EF4-FFF2-40B4-BE49-F238E27FC236}">
                <a16:creationId xmlns:a16="http://schemas.microsoft.com/office/drawing/2014/main" id="{FBAAE943-3DE9-4313-8392-7ABC21A30D94}"/>
              </a:ext>
            </a:extLst>
          </p:cNvPr>
          <p:cNvGraphicFramePr>
            <a:graphicFrameLocks noChangeAspect="1"/>
          </p:cNvGraphicFramePr>
          <p:nvPr>
            <p:extLst>
              <p:ext uri="{D42A27DB-BD31-4B8C-83A1-F6EECF244321}">
                <p14:modId xmlns:p14="http://schemas.microsoft.com/office/powerpoint/2010/main" val="1059511272"/>
              </p:ext>
            </p:extLst>
          </p:nvPr>
        </p:nvGraphicFramePr>
        <p:xfrm>
          <a:off x="715962" y="623977"/>
          <a:ext cx="5813425" cy="4945062"/>
        </p:xfrm>
        <a:graphic>
          <a:graphicData uri="http://schemas.openxmlformats.org/presentationml/2006/ole">
            <mc:AlternateContent xmlns:mc="http://schemas.openxmlformats.org/markup-compatibility/2006">
              <mc:Choice xmlns:v="urn:schemas-microsoft-com:vml" Requires="v">
                <p:oleObj spid="_x0000_s44156" name="Equation" r:id="rId4" imgW="4089400" imgH="3479800" progId="Equation.DSMT4">
                  <p:embed/>
                </p:oleObj>
              </mc:Choice>
              <mc:Fallback>
                <p:oleObj name="Equation" r:id="rId4" imgW="4089400" imgH="3479800" progId="Equation.DSMT4">
                  <p:embed/>
                  <p:pic>
                    <p:nvPicPr>
                      <p:cNvPr id="62469" name="Object 11">
                        <a:extLst>
                          <a:ext uri="{FF2B5EF4-FFF2-40B4-BE49-F238E27FC236}">
                            <a16:creationId xmlns:a16="http://schemas.microsoft.com/office/drawing/2014/main" id="{1CD629C2-E358-49E1-BDA9-8066ECE8F1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5962" y="623977"/>
                        <a:ext cx="5813425" cy="4945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 name="Text Box 2">
            <a:extLst>
              <a:ext uri="{FF2B5EF4-FFF2-40B4-BE49-F238E27FC236}">
                <a16:creationId xmlns:a16="http://schemas.microsoft.com/office/drawing/2014/main" id="{9316DF72-77AF-45C7-8C38-187056C860EE}"/>
              </a:ext>
            </a:extLst>
          </p:cNvPr>
          <p:cNvSpPr txBox="1">
            <a:spLocks noChangeArrowheads="1"/>
          </p:cNvSpPr>
          <p:nvPr/>
        </p:nvSpPr>
        <p:spPr bwMode="auto">
          <a:xfrm>
            <a:off x="715962" y="5865723"/>
            <a:ext cx="22320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dirty="0"/>
              <a:t>当</a:t>
            </a:r>
            <a:r>
              <a:rPr lang="en-US" altLang="zh-CN" sz="1800" dirty="0"/>
              <a:t>k</a:t>
            </a:r>
            <a:r>
              <a:rPr lang="en-US" altLang="zh-CN" sz="1800" baseline="-25000" dirty="0"/>
              <a:t>0</a:t>
            </a:r>
            <a:r>
              <a:rPr lang="zh-CN" altLang="en-US" sz="1800" dirty="0"/>
              <a:t>、</a:t>
            </a:r>
            <a:r>
              <a:rPr lang="en-US" altLang="zh-CN" sz="1800" dirty="0"/>
              <a:t>k</a:t>
            </a:r>
            <a:r>
              <a:rPr lang="en-US" altLang="zh-CN" sz="1800" baseline="-25000" dirty="0"/>
              <a:t>1</a:t>
            </a:r>
            <a:r>
              <a:rPr lang="en-US" altLang="zh-CN" sz="1800" dirty="0"/>
              <a:t>&gt;5</a:t>
            </a:r>
            <a:r>
              <a:rPr lang="zh-CN" altLang="en-US" sz="1800" dirty="0"/>
              <a:t>时，</a:t>
            </a:r>
          </a:p>
        </p:txBody>
      </p:sp>
      <p:graphicFrame>
        <p:nvGraphicFramePr>
          <p:cNvPr id="19" name="Object 12">
            <a:extLst>
              <a:ext uri="{FF2B5EF4-FFF2-40B4-BE49-F238E27FC236}">
                <a16:creationId xmlns:a16="http://schemas.microsoft.com/office/drawing/2014/main" id="{CF79C3FB-803C-4848-A6F3-88727F00ECC8}"/>
              </a:ext>
            </a:extLst>
          </p:cNvPr>
          <p:cNvGraphicFramePr>
            <a:graphicFrameLocks noChangeAspect="1"/>
          </p:cNvGraphicFramePr>
          <p:nvPr>
            <p:extLst>
              <p:ext uri="{D42A27DB-BD31-4B8C-83A1-F6EECF244321}">
                <p14:modId xmlns:p14="http://schemas.microsoft.com/office/powerpoint/2010/main" val="57903922"/>
              </p:ext>
            </p:extLst>
          </p:nvPr>
        </p:nvGraphicFramePr>
        <p:xfrm>
          <a:off x="2627784" y="5671264"/>
          <a:ext cx="3165475" cy="681037"/>
        </p:xfrm>
        <a:graphic>
          <a:graphicData uri="http://schemas.openxmlformats.org/presentationml/2006/ole">
            <mc:AlternateContent xmlns:mc="http://schemas.openxmlformats.org/markup-compatibility/2006">
              <mc:Choice xmlns:v="urn:schemas-microsoft-com:vml" Requires="v">
                <p:oleObj spid="_x0000_s44157" name="Equation" r:id="rId6" imgW="2006600" imgH="431800" progId="Equation.DSMT4">
                  <p:embed/>
                </p:oleObj>
              </mc:Choice>
              <mc:Fallback>
                <p:oleObj name="Equation" r:id="rId6" imgW="2006600" imgH="431800" progId="Equation.DSMT4">
                  <p:embed/>
                  <p:pic>
                    <p:nvPicPr>
                      <p:cNvPr id="62470" name="Object 12">
                        <a:extLst>
                          <a:ext uri="{FF2B5EF4-FFF2-40B4-BE49-F238E27FC236}">
                            <a16:creationId xmlns:a16="http://schemas.microsoft.com/office/drawing/2014/main" id="{84633355-A927-4923-96DB-F76C20FE5EC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27784" y="5671264"/>
                        <a:ext cx="3165475" cy="68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 name="Text Box 2">
            <a:extLst>
              <a:ext uri="{FF2B5EF4-FFF2-40B4-BE49-F238E27FC236}">
                <a16:creationId xmlns:a16="http://schemas.microsoft.com/office/drawing/2014/main" id="{344DDF89-A85E-412D-ADFC-55711AE30BE3}"/>
              </a:ext>
            </a:extLst>
          </p:cNvPr>
          <p:cNvSpPr txBox="1">
            <a:spLocks noChangeArrowheads="1"/>
          </p:cNvSpPr>
          <p:nvPr/>
        </p:nvSpPr>
        <p:spPr bwMode="auto">
          <a:xfrm>
            <a:off x="6302933" y="5799916"/>
            <a:ext cx="22336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dirty="0"/>
              <a:t>其非线性误差</a:t>
            </a:r>
            <a:r>
              <a:rPr lang="en-US" altLang="zh-CN" sz="1800" dirty="0"/>
              <a:t>&lt;1%</a:t>
            </a:r>
            <a:endParaRPr lang="zh-CN" altLang="en-US" sz="1800" dirty="0"/>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a:extLst>
              <a:ext uri="{FF2B5EF4-FFF2-40B4-BE49-F238E27FC236}">
                <a16:creationId xmlns:a16="http://schemas.microsoft.com/office/drawing/2014/main" id="{B2623C51-9C94-4D1D-BBA3-5D4160CC9FFE}"/>
              </a:ext>
            </a:extLst>
          </p:cNvPr>
          <p:cNvSpPr txBox="1">
            <a:spLocks noChangeArrowheads="1"/>
          </p:cNvSpPr>
          <p:nvPr/>
        </p:nvSpPr>
        <p:spPr bwMode="auto">
          <a:xfrm>
            <a:off x="358775" y="1028700"/>
            <a:ext cx="8353425" cy="2116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25000"/>
              </a:spcBef>
              <a:buFontTx/>
              <a:buNone/>
            </a:pPr>
            <a:r>
              <a:rPr lang="zh-CN" altLang="en-US" sz="2000" b="1" dirty="0">
                <a:latin typeface="微软雅黑" panose="020B0503020204020204" pitchFamily="34" charset="-122"/>
                <a:ea typeface="微软雅黑" panose="020B0503020204020204" pitchFamily="34" charset="-122"/>
              </a:rPr>
              <a:t>二极管双</a:t>
            </a:r>
            <a:r>
              <a:rPr lang="en-US" altLang="zh-CN" sz="2000" b="1" dirty="0">
                <a:latin typeface="微软雅黑" panose="020B0503020204020204" pitchFamily="34" charset="-122"/>
                <a:ea typeface="微软雅黑" panose="020B0503020204020204" pitchFamily="34" charset="-122"/>
              </a:rPr>
              <a:t>T</a:t>
            </a:r>
            <a:r>
              <a:rPr lang="zh-CN" altLang="en-US" sz="2000" b="1" dirty="0">
                <a:latin typeface="微软雅黑" panose="020B0503020204020204" pitchFamily="34" charset="-122"/>
                <a:ea typeface="微软雅黑" panose="020B0503020204020204" pitchFamily="34" charset="-122"/>
              </a:rPr>
              <a:t>桥路电路原理</a:t>
            </a:r>
            <a:r>
              <a:rPr lang="zh-CN" altLang="en-US" sz="2000" b="1" dirty="0">
                <a:solidFill>
                  <a:srgbClr val="FF0000"/>
                </a:solidFill>
                <a:latin typeface="微软雅黑" panose="020B0503020204020204" pitchFamily="34" charset="-122"/>
                <a:ea typeface="微软雅黑" panose="020B0503020204020204" pitchFamily="34" charset="-122"/>
              </a:rPr>
              <a:t>小结</a:t>
            </a:r>
            <a:r>
              <a:rPr lang="zh-CN" altLang="en-US" sz="2000" b="1" dirty="0">
                <a:latin typeface="微软雅黑" panose="020B0503020204020204" pitchFamily="34" charset="-122"/>
                <a:ea typeface="微软雅黑" panose="020B0503020204020204" pitchFamily="34" charset="-122"/>
              </a:rPr>
              <a:t>：</a:t>
            </a:r>
          </a:p>
          <a:p>
            <a:pPr eaLnBrk="1" hangingPunct="1">
              <a:lnSpc>
                <a:spcPct val="150000"/>
              </a:lnSpc>
              <a:spcBef>
                <a:spcPct val="25000"/>
              </a:spcBef>
              <a:buFontTx/>
              <a:buNone/>
            </a:pPr>
            <a:r>
              <a:rPr lang="zh-CN" altLang="en-US" sz="2000" b="1" dirty="0">
                <a:latin typeface="微软雅黑" panose="020B0503020204020204" pitchFamily="34" charset="-122"/>
                <a:ea typeface="微软雅黑" panose="020B0503020204020204" pitchFamily="34" charset="-122"/>
              </a:rPr>
              <a:t>①二极管控制放电回路的路由，使之在</a:t>
            </a:r>
            <a:r>
              <a:rPr lang="zh-CN" altLang="en-US" sz="2000" b="1" dirty="0">
                <a:solidFill>
                  <a:srgbClr val="0000FF"/>
                </a:solidFill>
                <a:latin typeface="微软雅黑" panose="020B0503020204020204" pitchFamily="34" charset="-122"/>
                <a:ea typeface="微软雅黑" panose="020B0503020204020204" pitchFamily="34" charset="-122"/>
              </a:rPr>
              <a:t>正负半周分别流经电容</a:t>
            </a:r>
            <a:r>
              <a:rPr lang="en-US" altLang="zh-CN" sz="2000" b="1" dirty="0">
                <a:solidFill>
                  <a:srgbClr val="0000FF"/>
                </a:solidFill>
                <a:latin typeface="微软雅黑" panose="020B0503020204020204" pitchFamily="34" charset="-122"/>
                <a:ea typeface="微软雅黑" panose="020B0503020204020204" pitchFamily="34" charset="-122"/>
              </a:rPr>
              <a:t>C</a:t>
            </a:r>
            <a:r>
              <a:rPr lang="en-US" altLang="zh-CN" sz="2000" b="1" baseline="-25000" dirty="0">
                <a:solidFill>
                  <a:srgbClr val="0000FF"/>
                </a:solidFill>
                <a:latin typeface="微软雅黑" panose="020B0503020204020204" pitchFamily="34" charset="-122"/>
                <a:ea typeface="微软雅黑" panose="020B0503020204020204" pitchFamily="34" charset="-122"/>
              </a:rPr>
              <a:t>0</a:t>
            </a:r>
            <a:r>
              <a:rPr lang="zh-CN" altLang="en-US" sz="2000" b="1" dirty="0">
                <a:solidFill>
                  <a:srgbClr val="0000FF"/>
                </a:solidFill>
                <a:latin typeface="微软雅黑" panose="020B0503020204020204" pitchFamily="34" charset="-122"/>
                <a:ea typeface="微软雅黑" panose="020B0503020204020204" pitchFamily="34" charset="-122"/>
              </a:rPr>
              <a:t>和</a:t>
            </a:r>
            <a:r>
              <a:rPr lang="en-US" altLang="zh-CN" sz="2000" b="1" dirty="0">
                <a:solidFill>
                  <a:srgbClr val="0000FF"/>
                </a:solidFill>
                <a:latin typeface="微软雅黑" panose="020B0503020204020204" pitchFamily="34" charset="-122"/>
                <a:ea typeface="微软雅黑" panose="020B0503020204020204" pitchFamily="34" charset="-122"/>
              </a:rPr>
              <a:t>C</a:t>
            </a:r>
            <a:r>
              <a:rPr lang="en-US" altLang="zh-CN" sz="2000" b="1" baseline="-25000" dirty="0">
                <a:solidFill>
                  <a:srgbClr val="0000FF"/>
                </a:solidFill>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a:t>
            </a:r>
          </a:p>
          <a:p>
            <a:pPr eaLnBrk="1" hangingPunct="1">
              <a:lnSpc>
                <a:spcPct val="150000"/>
              </a:lnSpc>
              <a:spcBef>
                <a:spcPct val="25000"/>
              </a:spcBef>
              <a:buFontTx/>
              <a:buNone/>
            </a:pPr>
            <a:r>
              <a:rPr lang="zh-CN" altLang="en-US" sz="2000" b="1" dirty="0">
                <a:latin typeface="微软雅黑" panose="020B0503020204020204" pitchFamily="34" charset="-122"/>
                <a:ea typeface="微软雅黑" panose="020B0503020204020204" pitchFamily="34" charset="-122"/>
              </a:rPr>
              <a:t>②电容值不同，放电时间常数不同，放电电流不同；</a:t>
            </a:r>
          </a:p>
          <a:p>
            <a:pPr eaLnBrk="1" hangingPunct="1">
              <a:lnSpc>
                <a:spcPct val="150000"/>
              </a:lnSpc>
              <a:spcBef>
                <a:spcPct val="25000"/>
              </a:spcBef>
              <a:buFontTx/>
              <a:buNone/>
            </a:pPr>
            <a:r>
              <a:rPr lang="zh-CN" altLang="en-US" sz="2000" b="1" dirty="0">
                <a:latin typeface="微软雅黑" panose="020B0503020204020204" pitchFamily="34" charset="-122"/>
                <a:ea typeface="微软雅黑" panose="020B0503020204020204" pitchFamily="34" charset="-122"/>
              </a:rPr>
              <a:t>③负载电阻两端的电压平均值和一个周期内电容放电时间常数有关。</a:t>
            </a:r>
          </a:p>
        </p:txBody>
      </p:sp>
      <p:sp>
        <p:nvSpPr>
          <p:cNvPr id="45059" name="Rectangle 3">
            <a:extLst>
              <a:ext uri="{FF2B5EF4-FFF2-40B4-BE49-F238E27FC236}">
                <a16:creationId xmlns:a16="http://schemas.microsoft.com/office/drawing/2014/main" id="{6F9C76DA-0C3B-47E5-A86C-B713501F5BBC}"/>
              </a:ext>
            </a:extLst>
          </p:cNvPr>
          <p:cNvSpPr>
            <a:spLocks noChangeArrowheads="1"/>
          </p:cNvSpPr>
          <p:nvPr/>
        </p:nvSpPr>
        <p:spPr bwMode="auto">
          <a:xfrm>
            <a:off x="0" y="38782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5060" name="Rectangle 4">
            <a:extLst>
              <a:ext uri="{FF2B5EF4-FFF2-40B4-BE49-F238E27FC236}">
                <a16:creationId xmlns:a16="http://schemas.microsoft.com/office/drawing/2014/main" id="{8B91CBFF-4285-4ADB-96BB-DC5E87B7B40C}"/>
              </a:ext>
            </a:extLst>
          </p:cNvPr>
          <p:cNvSpPr>
            <a:spLocks noChangeArrowheads="1"/>
          </p:cNvSpPr>
          <p:nvPr/>
        </p:nvSpPr>
        <p:spPr bwMode="auto">
          <a:xfrm>
            <a:off x="0" y="38782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5061" name="Rectangle 5">
            <a:extLst>
              <a:ext uri="{FF2B5EF4-FFF2-40B4-BE49-F238E27FC236}">
                <a16:creationId xmlns:a16="http://schemas.microsoft.com/office/drawing/2014/main" id="{39015A6B-C6D3-422D-B4DE-D1B6CDCAFA29}"/>
              </a:ext>
            </a:extLst>
          </p:cNvPr>
          <p:cNvSpPr>
            <a:spLocks noChangeArrowheads="1"/>
          </p:cNvSpPr>
          <p:nvPr/>
        </p:nvSpPr>
        <p:spPr bwMode="auto">
          <a:xfrm>
            <a:off x="0" y="386397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5062" name="Rectangle 6">
            <a:extLst>
              <a:ext uri="{FF2B5EF4-FFF2-40B4-BE49-F238E27FC236}">
                <a16:creationId xmlns:a16="http://schemas.microsoft.com/office/drawing/2014/main" id="{07F355E7-ED76-45B8-9C24-AEBEAB1CE202}"/>
              </a:ext>
            </a:extLst>
          </p:cNvPr>
          <p:cNvSpPr>
            <a:spLocks noChangeArrowheads="1"/>
          </p:cNvSpPr>
          <p:nvPr/>
        </p:nvSpPr>
        <p:spPr bwMode="auto">
          <a:xfrm>
            <a:off x="0" y="386397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5063" name="Rectangle 7">
            <a:extLst>
              <a:ext uri="{FF2B5EF4-FFF2-40B4-BE49-F238E27FC236}">
                <a16:creationId xmlns:a16="http://schemas.microsoft.com/office/drawing/2014/main" id="{C2169F11-B7E3-4048-971E-C9AD3027258A}"/>
              </a:ext>
            </a:extLst>
          </p:cNvPr>
          <p:cNvSpPr>
            <a:spLocks noChangeArrowheads="1"/>
          </p:cNvSpPr>
          <p:nvPr/>
        </p:nvSpPr>
        <p:spPr bwMode="auto">
          <a:xfrm>
            <a:off x="0" y="3849688"/>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5064" name="Rectangle 8">
            <a:extLst>
              <a:ext uri="{FF2B5EF4-FFF2-40B4-BE49-F238E27FC236}">
                <a16:creationId xmlns:a16="http://schemas.microsoft.com/office/drawing/2014/main" id="{61D60B6E-DF70-4663-8938-DA1207D416E4}"/>
              </a:ext>
            </a:extLst>
          </p:cNvPr>
          <p:cNvSpPr>
            <a:spLocks noChangeArrowheads="1"/>
          </p:cNvSpPr>
          <p:nvPr/>
        </p:nvSpPr>
        <p:spPr bwMode="auto">
          <a:xfrm>
            <a:off x="0" y="66357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5065" name="Rectangle 9">
            <a:extLst>
              <a:ext uri="{FF2B5EF4-FFF2-40B4-BE49-F238E27FC236}">
                <a16:creationId xmlns:a16="http://schemas.microsoft.com/office/drawing/2014/main" id="{39EBBD2E-529A-4D56-B071-6C26A21A40F5}"/>
              </a:ext>
            </a:extLst>
          </p:cNvPr>
          <p:cNvSpPr>
            <a:spLocks noChangeArrowheads="1"/>
          </p:cNvSpPr>
          <p:nvPr/>
        </p:nvSpPr>
        <p:spPr bwMode="auto">
          <a:xfrm>
            <a:off x="0" y="66357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pic>
        <p:nvPicPr>
          <p:cNvPr id="45066" name="Picture 10">
            <a:extLst>
              <a:ext uri="{FF2B5EF4-FFF2-40B4-BE49-F238E27FC236}">
                <a16:creationId xmlns:a16="http://schemas.microsoft.com/office/drawing/2014/main" id="{A5B7F86D-F5E8-4564-A6A7-1A2F631BF4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9613" y="3219450"/>
            <a:ext cx="3851275"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7" name="Rectangle 14">
            <a:extLst>
              <a:ext uri="{FF2B5EF4-FFF2-40B4-BE49-F238E27FC236}">
                <a16:creationId xmlns:a16="http://schemas.microsoft.com/office/drawing/2014/main" id="{D9485F0C-E2FD-419F-A68F-F69939FDBCAA}"/>
              </a:ext>
            </a:extLst>
          </p:cNvPr>
          <p:cNvSpPr>
            <a:spLocks noChangeArrowheads="1"/>
          </p:cNvSpPr>
          <p:nvPr/>
        </p:nvSpPr>
        <p:spPr bwMode="auto">
          <a:xfrm>
            <a:off x="4427538" y="4379913"/>
            <a:ext cx="184150" cy="500062"/>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pic>
        <p:nvPicPr>
          <p:cNvPr id="45068" name="Picture 16">
            <a:extLst>
              <a:ext uri="{FF2B5EF4-FFF2-40B4-BE49-F238E27FC236}">
                <a16:creationId xmlns:a16="http://schemas.microsoft.com/office/drawing/2014/main" id="{BC8CC4A6-E851-473B-9C7A-D2C766CB5D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6638" y="5954713"/>
            <a:ext cx="3324225"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矩形 12">
            <a:extLst>
              <a:ext uri="{FF2B5EF4-FFF2-40B4-BE49-F238E27FC236}">
                <a16:creationId xmlns:a16="http://schemas.microsoft.com/office/drawing/2014/main" id="{634A571B-A536-45EE-AE18-CC22605997AD}"/>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45070" name="Text Box 2">
            <a:extLst>
              <a:ext uri="{FF2B5EF4-FFF2-40B4-BE49-F238E27FC236}">
                <a16:creationId xmlns:a16="http://schemas.microsoft.com/office/drawing/2014/main" id="{0407BE10-03B4-4C47-90B9-96ECC6C4BFDD}"/>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3.1  </a:t>
            </a:r>
            <a:r>
              <a:rPr kumimoji="1" lang="zh-CN" altLang="en-US" sz="2800" b="1">
                <a:solidFill>
                  <a:srgbClr val="C00000"/>
                </a:solidFill>
                <a:latin typeface="微软雅黑" panose="020B0503020204020204" pitchFamily="34" charset="-122"/>
                <a:ea typeface="微软雅黑" panose="020B0503020204020204" pitchFamily="34" charset="-122"/>
              </a:rPr>
              <a:t>二极管双</a:t>
            </a:r>
            <a:r>
              <a:rPr kumimoji="1" lang="en-US" altLang="zh-CN" sz="2800" b="1">
                <a:solidFill>
                  <a:srgbClr val="C00000"/>
                </a:solidFill>
                <a:latin typeface="微软雅黑" panose="020B0503020204020204" pitchFamily="34" charset="-122"/>
                <a:ea typeface="微软雅黑" panose="020B0503020204020204" pitchFamily="34" charset="-122"/>
              </a:rPr>
              <a:t>T</a:t>
            </a:r>
            <a:r>
              <a:rPr kumimoji="1" lang="zh-CN" altLang="en-US" sz="2800" b="1">
                <a:solidFill>
                  <a:srgbClr val="C00000"/>
                </a:solidFill>
                <a:latin typeface="微软雅黑" panose="020B0503020204020204" pitchFamily="34" charset="-122"/>
                <a:ea typeface="微软雅黑" panose="020B0503020204020204" pitchFamily="34" charset="-122"/>
              </a:rPr>
              <a:t>电桥电容测量电路</a:t>
            </a:r>
          </a:p>
        </p:txBody>
      </p:sp>
      <p:sp>
        <p:nvSpPr>
          <p:cNvPr id="45071" name="Text Box 2">
            <a:extLst>
              <a:ext uri="{FF2B5EF4-FFF2-40B4-BE49-F238E27FC236}">
                <a16:creationId xmlns:a16="http://schemas.microsoft.com/office/drawing/2014/main" id="{C54FB7AA-C608-41F6-A651-C145E9833431}"/>
              </a:ext>
            </a:extLst>
          </p:cNvPr>
          <p:cNvSpPr txBox="1">
            <a:spLocks noChangeArrowheads="1"/>
          </p:cNvSpPr>
          <p:nvPr/>
        </p:nvSpPr>
        <p:spPr bwMode="auto">
          <a:xfrm>
            <a:off x="185738" y="3144838"/>
            <a:ext cx="4333875" cy="3732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lang="zh-CN" altLang="en-US" sz="2000" b="1" dirty="0">
                <a:solidFill>
                  <a:srgbClr val="FF0000"/>
                </a:solidFill>
                <a:latin typeface="微软雅黑" panose="020B0503020204020204" pitchFamily="34" charset="-122"/>
                <a:ea typeface="微软雅黑" panose="020B0503020204020204" pitchFamily="34" charset="-122"/>
              </a:rPr>
              <a:t>特点：</a:t>
            </a:r>
            <a:endParaRPr lang="en-US" altLang="zh-CN" sz="2000" b="1" dirty="0">
              <a:solidFill>
                <a:srgbClr val="FF0000"/>
              </a:solidFill>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●该线路非常</a:t>
            </a:r>
            <a:r>
              <a:rPr lang="zh-CN" altLang="en-US" sz="2000" b="1" dirty="0">
                <a:solidFill>
                  <a:srgbClr val="0000FF"/>
                </a:solidFill>
                <a:latin typeface="微软雅黑" panose="020B0503020204020204" pitchFamily="34" charset="-122"/>
                <a:ea typeface="微软雅黑" panose="020B0503020204020204" pitchFamily="34" charset="-122"/>
              </a:rPr>
              <a:t>简单</a:t>
            </a:r>
            <a:r>
              <a:rPr lang="zh-CN" altLang="en-US" sz="2000" b="1" dirty="0">
                <a:latin typeface="微软雅黑" panose="020B0503020204020204" pitchFamily="34" charset="-122"/>
                <a:ea typeface="微软雅黑" panose="020B0503020204020204" pitchFamily="34" charset="-122"/>
              </a:rPr>
              <a:t>，不需要附加相敏解调器，就能获得高电平的</a:t>
            </a:r>
            <a:r>
              <a:rPr lang="zh-CN" altLang="en-US" sz="2000" b="1" dirty="0">
                <a:highlight>
                  <a:srgbClr val="FFFF00"/>
                </a:highlight>
                <a:latin typeface="微软雅黑" panose="020B0503020204020204" pitchFamily="34" charset="-122"/>
                <a:ea typeface="微软雅黑" panose="020B0503020204020204" pitchFamily="34" charset="-122"/>
              </a:rPr>
              <a:t>直流输出</a:t>
            </a:r>
            <a:r>
              <a:rPr lang="zh-CN" altLang="en-US" sz="2000" b="1" dirty="0">
                <a:latin typeface="微软雅黑" panose="020B0503020204020204" pitchFamily="34" charset="-122"/>
                <a:ea typeface="微软雅黑" panose="020B0503020204020204" pitchFamily="34" charset="-122"/>
              </a:rPr>
              <a:t>，而且灵敏度较高。</a:t>
            </a:r>
            <a:endParaRPr lang="en-US" altLang="zh-CN" sz="2000" b="1" dirty="0">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二极管以及二个电阻都可</a:t>
            </a:r>
            <a:r>
              <a:rPr lang="zh-CN" altLang="en-US" sz="2000" b="1" dirty="0">
                <a:solidFill>
                  <a:srgbClr val="0000FF"/>
                </a:solidFill>
                <a:latin typeface="微软雅黑" panose="020B0503020204020204" pitchFamily="34" charset="-122"/>
                <a:ea typeface="微软雅黑" panose="020B0503020204020204" pitchFamily="34" charset="-122"/>
              </a:rPr>
              <a:t>放在探头内</a:t>
            </a:r>
            <a:r>
              <a:rPr lang="zh-CN" altLang="en-US" sz="2000" b="1" dirty="0">
                <a:latin typeface="微软雅黑" panose="020B0503020204020204" pitchFamily="34" charset="-122"/>
                <a:ea typeface="微软雅黑" panose="020B0503020204020204" pitchFamily="34" charset="-122"/>
              </a:rPr>
              <a:t>，缩短电容引线，</a:t>
            </a:r>
            <a:r>
              <a:rPr lang="zh-CN" altLang="en-US" sz="2000" b="1" dirty="0">
                <a:solidFill>
                  <a:srgbClr val="0000FF"/>
                </a:solidFill>
                <a:latin typeface="微软雅黑" panose="020B0503020204020204" pitchFamily="34" charset="-122"/>
                <a:ea typeface="微软雅黑" panose="020B0503020204020204" pitchFamily="34" charset="-122"/>
              </a:rPr>
              <a:t>减小分布电容的影响</a:t>
            </a:r>
            <a:endParaRPr lang="en-US" altLang="zh-CN" sz="2000" dirty="0">
              <a:solidFill>
                <a:srgbClr val="0000FF"/>
              </a:solidFill>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●电源的</a:t>
            </a:r>
            <a:r>
              <a:rPr lang="zh-CN" altLang="en-US" sz="2000" b="1" dirty="0">
                <a:solidFill>
                  <a:srgbClr val="0000FF"/>
                </a:solidFill>
                <a:latin typeface="微软雅黑" panose="020B0503020204020204" pitchFamily="34" charset="-122"/>
                <a:ea typeface="微软雅黑" panose="020B0503020204020204" pitchFamily="34" charset="-122"/>
              </a:rPr>
              <a:t>频率与幅值的稳定性</a:t>
            </a:r>
            <a:r>
              <a:rPr lang="zh-CN" altLang="en-US" sz="2000" b="1" dirty="0">
                <a:latin typeface="微软雅黑" panose="020B0503020204020204" pitchFamily="34" charset="-122"/>
                <a:ea typeface="微软雅黑" panose="020B0503020204020204" pitchFamily="34" charset="-122"/>
              </a:rPr>
              <a:t>直接影响精度，对电源要求较高。</a:t>
            </a:r>
            <a:endParaRPr lang="en-US" altLang="zh-CN" sz="2000" b="1" dirty="0">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a:extLst>
              <a:ext uri="{FF2B5EF4-FFF2-40B4-BE49-F238E27FC236}">
                <a16:creationId xmlns:a16="http://schemas.microsoft.com/office/drawing/2014/main" id="{09CD574E-78A6-4418-BCF1-75612C144225}"/>
              </a:ext>
            </a:extLst>
          </p:cNvPr>
          <p:cNvSpPr>
            <a:spLocks noChangeArrowheads="1"/>
          </p:cNvSpPr>
          <p:nvPr/>
        </p:nvSpPr>
        <p:spPr bwMode="auto">
          <a:xfrm>
            <a:off x="0" y="226060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6083" name="Rectangle 6">
            <a:extLst>
              <a:ext uri="{FF2B5EF4-FFF2-40B4-BE49-F238E27FC236}">
                <a16:creationId xmlns:a16="http://schemas.microsoft.com/office/drawing/2014/main" id="{1F6FBE9C-DE95-4AD8-92B4-9B4F08C5A731}"/>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6084" name="Rectangle 7">
            <a:extLst>
              <a:ext uri="{FF2B5EF4-FFF2-40B4-BE49-F238E27FC236}">
                <a16:creationId xmlns:a16="http://schemas.microsoft.com/office/drawing/2014/main" id="{49FC5B04-8EA2-426C-A0FD-4C4D04BB08F0}"/>
              </a:ext>
            </a:extLst>
          </p:cNvPr>
          <p:cNvSpPr>
            <a:spLocks noChangeArrowheads="1"/>
          </p:cNvSpPr>
          <p:nvPr/>
        </p:nvSpPr>
        <p:spPr bwMode="auto">
          <a:xfrm>
            <a:off x="0" y="28892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6085" name="Rectangle 8">
            <a:extLst>
              <a:ext uri="{FF2B5EF4-FFF2-40B4-BE49-F238E27FC236}">
                <a16:creationId xmlns:a16="http://schemas.microsoft.com/office/drawing/2014/main" id="{4B5A3903-E321-4EE7-8464-653282C217FB}"/>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6086" name="Rectangle 9">
            <a:extLst>
              <a:ext uri="{FF2B5EF4-FFF2-40B4-BE49-F238E27FC236}">
                <a16:creationId xmlns:a16="http://schemas.microsoft.com/office/drawing/2014/main" id="{158BB809-46C5-444D-B8D9-84C2F63D23B9}"/>
              </a:ext>
            </a:extLst>
          </p:cNvPr>
          <p:cNvSpPr>
            <a:spLocks noChangeArrowheads="1"/>
          </p:cNvSpPr>
          <p:nvPr/>
        </p:nvSpPr>
        <p:spPr bwMode="auto">
          <a:xfrm>
            <a:off x="0" y="293687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6087" name="Rectangle 10">
            <a:extLst>
              <a:ext uri="{FF2B5EF4-FFF2-40B4-BE49-F238E27FC236}">
                <a16:creationId xmlns:a16="http://schemas.microsoft.com/office/drawing/2014/main" id="{613B7197-ECB4-4B0A-BC0C-5A7AF490665F}"/>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6088" name="Rectangle 11">
            <a:extLst>
              <a:ext uri="{FF2B5EF4-FFF2-40B4-BE49-F238E27FC236}">
                <a16:creationId xmlns:a16="http://schemas.microsoft.com/office/drawing/2014/main" id="{8D318CEB-F154-4A45-960A-D21C8F4F039A}"/>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14" name="矩形 13">
            <a:extLst>
              <a:ext uri="{FF2B5EF4-FFF2-40B4-BE49-F238E27FC236}">
                <a16:creationId xmlns:a16="http://schemas.microsoft.com/office/drawing/2014/main" id="{283EB5F0-A97E-4916-8907-F3A66A14A25D}"/>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46090" name="Text Box 2">
            <a:extLst>
              <a:ext uri="{FF2B5EF4-FFF2-40B4-BE49-F238E27FC236}">
                <a16:creationId xmlns:a16="http://schemas.microsoft.com/office/drawing/2014/main" id="{327184B2-9A1B-4FCC-A75F-A6D42DA87687}"/>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0000FF"/>
                </a:solidFill>
                <a:latin typeface="微软雅黑" panose="020B0503020204020204" pitchFamily="34" charset="-122"/>
                <a:ea typeface="微软雅黑" panose="020B0503020204020204" pitchFamily="34" charset="-122"/>
              </a:rPr>
              <a:t>* </a:t>
            </a:r>
            <a:r>
              <a:rPr kumimoji="1" lang="zh-CN" altLang="en-US" sz="2800" b="1">
                <a:solidFill>
                  <a:srgbClr val="C00000"/>
                </a:solidFill>
                <a:latin typeface="微软雅黑" panose="020B0503020204020204" pitchFamily="34" charset="-122"/>
                <a:ea typeface="微软雅黑" panose="020B0503020204020204" pitchFamily="34" charset="-122"/>
              </a:rPr>
              <a:t>提一下传感器的激励源</a:t>
            </a:r>
            <a:r>
              <a:rPr kumimoji="1" lang="en-US" altLang="zh-CN" sz="2800" b="1">
                <a:solidFill>
                  <a:srgbClr val="C00000"/>
                </a:solidFill>
                <a:latin typeface="微软雅黑" panose="020B0503020204020204" pitchFamily="34" charset="-122"/>
                <a:ea typeface="微软雅黑" panose="020B0503020204020204" pitchFamily="34" charset="-122"/>
              </a:rPr>
              <a:t>——</a:t>
            </a:r>
            <a:r>
              <a:rPr kumimoji="1" lang="zh-CN" altLang="en-US" sz="2800" b="1">
                <a:solidFill>
                  <a:srgbClr val="C00000"/>
                </a:solidFill>
                <a:latin typeface="微软雅黑" panose="020B0503020204020204" pitchFamily="34" charset="-122"/>
                <a:ea typeface="微软雅黑" panose="020B0503020204020204" pitchFamily="34" charset="-122"/>
              </a:rPr>
              <a:t>恒电荷激励</a:t>
            </a:r>
          </a:p>
        </p:txBody>
      </p:sp>
      <p:sp>
        <p:nvSpPr>
          <p:cNvPr id="46091" name="Text Box 2">
            <a:extLst>
              <a:ext uri="{FF2B5EF4-FFF2-40B4-BE49-F238E27FC236}">
                <a16:creationId xmlns:a16="http://schemas.microsoft.com/office/drawing/2014/main" id="{2EE50EC9-7A15-43EB-985D-0EAC090CD9A2}"/>
              </a:ext>
            </a:extLst>
          </p:cNvPr>
          <p:cNvSpPr txBox="1">
            <a:spLocks noChangeArrowheads="1"/>
          </p:cNvSpPr>
          <p:nvPr/>
        </p:nvSpPr>
        <p:spPr bwMode="auto">
          <a:xfrm>
            <a:off x="501650" y="1149350"/>
            <a:ext cx="8353425" cy="4828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defRPr/>
            </a:pPr>
            <a:r>
              <a:rPr lang="zh-CN" altLang="en-US" sz="2400" b="1" dirty="0">
                <a:solidFill>
                  <a:srgbClr val="FF0000"/>
                </a:solidFill>
                <a:latin typeface="微软雅黑" panose="020B0503020204020204" pitchFamily="34" charset="-122"/>
                <a:ea typeface="微软雅黑" panose="020B0503020204020204" pitchFamily="34" charset="-122"/>
              </a:rPr>
              <a:t>定义</a:t>
            </a:r>
            <a:r>
              <a:rPr lang="zh-CN" altLang="en-US" sz="2400" b="1" dirty="0">
                <a:latin typeface="微软雅黑" panose="020B0503020204020204" pitchFamily="34" charset="-122"/>
                <a:ea typeface="微软雅黑" panose="020B0503020204020204" pitchFamily="34" charset="-122"/>
              </a:rPr>
              <a:t>：恒电荷激励源保证极板上的电荷恒定。</a:t>
            </a:r>
          </a:p>
          <a:p>
            <a:pPr>
              <a:lnSpc>
                <a:spcPct val="150000"/>
              </a:lnSpc>
              <a:spcBef>
                <a:spcPct val="0"/>
              </a:spcBef>
              <a:buFontTx/>
              <a:buNone/>
              <a:defRPr/>
            </a:pPr>
            <a:endParaRPr lang="zh-CN" altLang="en-US" sz="2400" b="1" dirty="0">
              <a:latin typeface="微软雅黑" panose="020B0503020204020204" pitchFamily="34" charset="-122"/>
              <a:ea typeface="微软雅黑" panose="020B0503020204020204" pitchFamily="34" charset="-122"/>
            </a:endParaRPr>
          </a:p>
          <a:p>
            <a:pPr>
              <a:lnSpc>
                <a:spcPct val="150000"/>
              </a:lnSpc>
              <a:spcBef>
                <a:spcPct val="0"/>
              </a:spcBef>
              <a:buFontTx/>
              <a:buNone/>
              <a:defRPr/>
            </a:pPr>
            <a:endParaRPr lang="zh-CN" altLang="en-US" sz="2400" b="1" dirty="0">
              <a:latin typeface="微软雅黑" panose="020B0503020204020204" pitchFamily="34" charset="-122"/>
              <a:ea typeface="微软雅黑" panose="020B0503020204020204" pitchFamily="34" charset="-122"/>
            </a:endParaRPr>
          </a:p>
          <a:p>
            <a:pPr eaLnBrk="1" hangingPunct="1">
              <a:lnSpc>
                <a:spcPct val="150000"/>
              </a:lnSpc>
              <a:spcBef>
                <a:spcPct val="50000"/>
              </a:spcBef>
              <a:buFontTx/>
              <a:buNone/>
              <a:defRPr/>
            </a:pPr>
            <a:r>
              <a:rPr lang="zh-CN" altLang="en-US" sz="2400" b="1" dirty="0">
                <a:latin typeface="微软雅黑" panose="020B0503020204020204" pitchFamily="34" charset="-122"/>
                <a:ea typeface="微软雅黑" panose="020B0503020204020204" pitchFamily="34" charset="-122"/>
              </a:rPr>
              <a:t>●</a:t>
            </a:r>
            <a:r>
              <a:rPr lang="en-US" altLang="zh-CN" sz="2400" b="1" dirty="0" err="1">
                <a:latin typeface="微软雅黑" panose="020B0503020204020204" pitchFamily="34" charset="-122"/>
                <a:ea typeface="微软雅黑" panose="020B0503020204020204" pitchFamily="34" charset="-122"/>
              </a:rPr>
              <a:t>U</a:t>
            </a:r>
            <a:r>
              <a:rPr lang="en-US" altLang="zh-CN" sz="2400" b="1" baseline="-25000" dirty="0" err="1">
                <a:latin typeface="微软雅黑" panose="020B0503020204020204" pitchFamily="34" charset="-122"/>
                <a:ea typeface="微软雅黑" panose="020B0503020204020204" pitchFamily="34" charset="-122"/>
              </a:rPr>
              <a:t>c</a:t>
            </a:r>
            <a:r>
              <a:rPr lang="zh-CN" altLang="en-US" sz="2400" b="1" dirty="0">
                <a:latin typeface="微软雅黑" panose="020B0503020204020204" pitchFamily="34" charset="-122"/>
                <a:ea typeface="微软雅黑" panose="020B0503020204020204" pitchFamily="34" charset="-122"/>
              </a:rPr>
              <a:t>与电容极距</a:t>
            </a:r>
            <a:r>
              <a:rPr lang="en-US" altLang="zh-CN" sz="2400" b="1" dirty="0">
                <a:latin typeface="微软雅黑" panose="020B0503020204020204" pitchFamily="34" charset="-122"/>
                <a:ea typeface="微软雅黑" panose="020B0503020204020204" pitchFamily="34" charset="-122"/>
              </a:rPr>
              <a:t>d</a:t>
            </a:r>
            <a:r>
              <a:rPr lang="zh-CN" altLang="en-US" sz="2400" b="1" dirty="0">
                <a:latin typeface="微软雅黑" panose="020B0503020204020204" pitchFamily="34" charset="-122"/>
                <a:ea typeface="微软雅黑" panose="020B0503020204020204" pitchFamily="34" charset="-122"/>
              </a:rPr>
              <a:t>有单值线形关系，与</a:t>
            </a:r>
            <a:r>
              <a:rPr lang="el-GR" altLang="zh-CN" sz="2400" b="1" dirty="0">
                <a:latin typeface="微软雅黑" panose="020B0503020204020204" pitchFamily="34" charset="-122"/>
                <a:ea typeface="微软雅黑" panose="020B0503020204020204" pitchFamily="34" charset="-122"/>
              </a:rPr>
              <a:t>ε</a:t>
            </a:r>
            <a:r>
              <a:rPr lang="zh-CN" altLang="en-US" sz="2400" b="1" dirty="0">
                <a:latin typeface="微软雅黑" panose="020B0503020204020204" pitchFamily="34" charset="-122"/>
                <a:ea typeface="微软雅黑" panose="020B0503020204020204" pitchFamily="34" charset="-122"/>
              </a:rPr>
              <a:t>和</a:t>
            </a:r>
            <a:r>
              <a:rPr lang="en-US" altLang="zh-CN" sz="2400" b="1" dirty="0">
                <a:latin typeface="微软雅黑" panose="020B0503020204020204" pitchFamily="34" charset="-122"/>
                <a:ea typeface="微软雅黑" panose="020B0503020204020204" pitchFamily="34" charset="-122"/>
              </a:rPr>
              <a:t>A</a:t>
            </a:r>
            <a:r>
              <a:rPr lang="zh-CN" altLang="en-US" sz="2400" b="1" dirty="0">
                <a:latin typeface="微软雅黑" panose="020B0503020204020204" pitchFamily="34" charset="-122"/>
                <a:ea typeface="微软雅黑" panose="020B0503020204020204" pitchFamily="34" charset="-122"/>
              </a:rPr>
              <a:t>是单值非线性关系。</a:t>
            </a:r>
          </a:p>
          <a:p>
            <a:pPr eaLnBrk="1" hangingPunct="1">
              <a:lnSpc>
                <a:spcPct val="150000"/>
              </a:lnSpc>
              <a:spcBef>
                <a:spcPct val="50000"/>
              </a:spcBef>
              <a:buFontTx/>
              <a:buNone/>
              <a:defRPr/>
            </a:pPr>
            <a:r>
              <a:rPr lang="zh-CN" altLang="en-US" sz="2400" b="1" dirty="0">
                <a:solidFill>
                  <a:srgbClr val="FF0000"/>
                </a:solidFill>
                <a:latin typeface="微软雅黑" panose="020B0503020204020204" pitchFamily="34" charset="-122"/>
                <a:ea typeface="微软雅黑" panose="020B0503020204020204" pitchFamily="34" charset="-122"/>
              </a:rPr>
              <a:t>结论</a:t>
            </a:r>
            <a:r>
              <a:rPr lang="zh-CN" altLang="en-US" sz="2400" b="1" dirty="0">
                <a:latin typeface="微软雅黑" panose="020B0503020204020204" pitchFamily="34" charset="-122"/>
                <a:ea typeface="微软雅黑" panose="020B0503020204020204" pitchFamily="34" charset="-122"/>
              </a:rPr>
              <a:t>：恒电荷激励适用于</a:t>
            </a:r>
            <a:r>
              <a:rPr lang="zh-CN" altLang="en-US" sz="2400" b="1" dirty="0">
                <a:solidFill>
                  <a:srgbClr val="0000FF"/>
                </a:solidFill>
                <a:latin typeface="微软雅黑" panose="020B0503020204020204" pitchFamily="34" charset="-122"/>
                <a:ea typeface="微软雅黑" panose="020B0503020204020204" pitchFamily="34" charset="-122"/>
              </a:rPr>
              <a:t>变极距型电容传感器</a:t>
            </a:r>
            <a:r>
              <a:rPr lang="zh-CN" altLang="en-US" sz="2400" b="1" dirty="0">
                <a:latin typeface="微软雅黑" panose="020B0503020204020204" pitchFamily="34" charset="-122"/>
                <a:ea typeface="微软雅黑" panose="020B0503020204020204" pitchFamily="34" charset="-122"/>
              </a:rPr>
              <a:t>。</a:t>
            </a:r>
          </a:p>
          <a:p>
            <a:pPr>
              <a:lnSpc>
                <a:spcPct val="150000"/>
              </a:lnSpc>
              <a:spcBef>
                <a:spcPct val="0"/>
              </a:spcBef>
              <a:buFontTx/>
              <a:buNone/>
              <a:defRPr/>
            </a:pPr>
            <a:r>
              <a:rPr lang="zh-CN" altLang="en-US" sz="2400" b="1" dirty="0">
                <a:latin typeface="微软雅黑" panose="020B0503020204020204" pitchFamily="34" charset="-122"/>
                <a:ea typeface="微软雅黑" panose="020B0503020204020204" pitchFamily="34" charset="-122"/>
              </a:rPr>
              <a:t>●恒电荷激励 →</a:t>
            </a:r>
            <a:r>
              <a:rPr lang="zh-CN" altLang="en-US" sz="2400" b="1" dirty="0">
                <a:solidFill>
                  <a:srgbClr val="0000FF"/>
                </a:solidFill>
                <a:latin typeface="微软雅黑" panose="020B0503020204020204" pitchFamily="34" charset="-122"/>
                <a:ea typeface="微软雅黑" panose="020B0503020204020204" pitchFamily="34" charset="-122"/>
              </a:rPr>
              <a:t>实用困难</a:t>
            </a:r>
            <a:r>
              <a:rPr lang="zh-CN" altLang="en-US" sz="2400" b="1" dirty="0">
                <a:latin typeface="微软雅黑" panose="020B0503020204020204" pitchFamily="34" charset="-122"/>
                <a:ea typeface="微软雅黑" panose="020B0503020204020204" pitchFamily="34" charset="-122"/>
              </a:rPr>
              <a:t>→ </a:t>
            </a:r>
            <a:r>
              <a:rPr lang="zh-CN" altLang="en-US" sz="2400" b="1" dirty="0">
                <a:solidFill>
                  <a:srgbClr val="0000FF"/>
                </a:solidFill>
                <a:latin typeface="微软雅黑" panose="020B0503020204020204" pitchFamily="34" charset="-122"/>
                <a:ea typeface="微软雅黑" panose="020B0503020204020204" pitchFamily="34" charset="-122"/>
              </a:rPr>
              <a:t>常用恒电流激励</a:t>
            </a:r>
            <a:r>
              <a:rPr lang="zh-CN" altLang="en-US" sz="2400" b="1" dirty="0">
                <a:latin typeface="微软雅黑" panose="020B0503020204020204" pitchFamily="34" charset="-122"/>
                <a:ea typeface="微软雅黑" panose="020B0503020204020204" pitchFamily="34" charset="-122"/>
              </a:rPr>
              <a:t>。</a:t>
            </a:r>
          </a:p>
          <a:p>
            <a:pPr>
              <a:lnSpc>
                <a:spcPct val="150000"/>
              </a:lnSpc>
              <a:spcBef>
                <a:spcPct val="0"/>
              </a:spcBef>
              <a:buFontTx/>
              <a:buNone/>
              <a:defRPr/>
            </a:pPr>
            <a:r>
              <a:rPr lang="zh-CN" altLang="en-US" sz="2400" b="1" dirty="0">
                <a:latin typeface="微软雅黑" panose="020B0503020204020204" pitchFamily="34" charset="-122"/>
                <a:ea typeface="微软雅黑" panose="020B0503020204020204" pitchFamily="34" charset="-122"/>
              </a:rPr>
              <a:t>●恒电荷或恒电流激励，</a:t>
            </a:r>
            <a:r>
              <a:rPr lang="zh-CN" altLang="en-US" sz="2400" b="1" dirty="0">
                <a:solidFill>
                  <a:srgbClr val="0000FF"/>
                </a:solidFill>
                <a:latin typeface="微软雅黑" panose="020B0503020204020204" pitchFamily="34" charset="-122"/>
                <a:ea typeface="微软雅黑" panose="020B0503020204020204" pitchFamily="34" charset="-122"/>
              </a:rPr>
              <a:t>测量电路的输入阻抗应为无穷大</a:t>
            </a:r>
            <a:r>
              <a:rPr lang="zh-CN" altLang="en-US" sz="2400" b="1" dirty="0">
                <a:latin typeface="微软雅黑" panose="020B0503020204020204" pitchFamily="34" charset="-122"/>
                <a:ea typeface="微软雅黑" panose="020B0503020204020204" pitchFamily="34" charset="-122"/>
              </a:rPr>
              <a:t>，</a:t>
            </a:r>
            <a:r>
              <a:rPr lang="zh-CN" altLang="en-US" sz="2400" b="1" dirty="0">
                <a:highlight>
                  <a:srgbClr val="FFFF00"/>
                </a:highlight>
                <a:latin typeface="微软雅黑" panose="020B0503020204020204" pitchFamily="34" charset="-122"/>
                <a:ea typeface="微软雅黑" panose="020B0503020204020204" pitchFamily="34" charset="-122"/>
              </a:rPr>
              <a:t>否则形成的并联分路成为电荷泄露回路</a:t>
            </a:r>
            <a:r>
              <a:rPr lang="zh-CN" altLang="en-US" sz="2400" b="1" dirty="0">
                <a:latin typeface="微软雅黑" panose="020B0503020204020204" pitchFamily="34" charset="-122"/>
                <a:ea typeface="微软雅黑" panose="020B0503020204020204" pitchFamily="34" charset="-122"/>
              </a:rPr>
              <a:t>。</a:t>
            </a:r>
          </a:p>
        </p:txBody>
      </p:sp>
      <p:graphicFrame>
        <p:nvGraphicFramePr>
          <p:cNvPr id="46092" name="Object 13">
            <a:extLst>
              <a:ext uri="{FF2B5EF4-FFF2-40B4-BE49-F238E27FC236}">
                <a16:creationId xmlns:a16="http://schemas.microsoft.com/office/drawing/2014/main" id="{57E4A13A-8988-40D1-8BE8-F22E3E1A96CA}"/>
              </a:ext>
            </a:extLst>
          </p:cNvPr>
          <p:cNvGraphicFramePr>
            <a:graphicFrameLocks noChangeAspect="1"/>
          </p:cNvGraphicFramePr>
          <p:nvPr/>
        </p:nvGraphicFramePr>
        <p:xfrm>
          <a:off x="2627313" y="1844675"/>
          <a:ext cx="3101975" cy="1122363"/>
        </p:xfrm>
        <a:graphic>
          <a:graphicData uri="http://schemas.openxmlformats.org/presentationml/2006/ole">
            <mc:AlternateContent xmlns:mc="http://schemas.openxmlformats.org/markup-compatibility/2006">
              <mc:Choice xmlns:v="urn:schemas-microsoft-com:vml" Requires="v">
                <p:oleObj spid="_x0000_s46149" name="公式" r:id="rId3" imgW="1193800" imgH="431800" progId="Equation.3">
                  <p:embed/>
                </p:oleObj>
              </mc:Choice>
              <mc:Fallback>
                <p:oleObj name="公式" r:id="rId3" imgW="1193800" imgH="4318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313" y="1844675"/>
                        <a:ext cx="3101975" cy="112236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a:extLst>
              <a:ext uri="{FF2B5EF4-FFF2-40B4-BE49-F238E27FC236}">
                <a16:creationId xmlns:a16="http://schemas.microsoft.com/office/drawing/2014/main" id="{E51AAA09-19A4-4A5A-9D65-D21B450AF5E2}"/>
              </a:ext>
            </a:extLst>
          </p:cNvPr>
          <p:cNvSpPr>
            <a:spLocks noChangeArrowheads="1"/>
          </p:cNvSpPr>
          <p:nvPr/>
        </p:nvSpPr>
        <p:spPr bwMode="auto">
          <a:xfrm>
            <a:off x="0" y="226060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7107" name="Rectangle 6">
            <a:extLst>
              <a:ext uri="{FF2B5EF4-FFF2-40B4-BE49-F238E27FC236}">
                <a16:creationId xmlns:a16="http://schemas.microsoft.com/office/drawing/2014/main" id="{DD865AAA-AA64-452B-8440-669215230B23}"/>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7108" name="Rectangle 7">
            <a:extLst>
              <a:ext uri="{FF2B5EF4-FFF2-40B4-BE49-F238E27FC236}">
                <a16:creationId xmlns:a16="http://schemas.microsoft.com/office/drawing/2014/main" id="{1008606A-8511-4C86-ACBD-13ADA1B4BD8D}"/>
              </a:ext>
            </a:extLst>
          </p:cNvPr>
          <p:cNvSpPr>
            <a:spLocks noChangeArrowheads="1"/>
          </p:cNvSpPr>
          <p:nvPr/>
        </p:nvSpPr>
        <p:spPr bwMode="auto">
          <a:xfrm>
            <a:off x="0" y="28892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7109" name="Rectangle 8">
            <a:extLst>
              <a:ext uri="{FF2B5EF4-FFF2-40B4-BE49-F238E27FC236}">
                <a16:creationId xmlns:a16="http://schemas.microsoft.com/office/drawing/2014/main" id="{5F23679E-8BF4-46E8-BB36-BF1865E33A79}"/>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7110" name="Rectangle 9">
            <a:extLst>
              <a:ext uri="{FF2B5EF4-FFF2-40B4-BE49-F238E27FC236}">
                <a16:creationId xmlns:a16="http://schemas.microsoft.com/office/drawing/2014/main" id="{5A664ACE-B939-4F0C-8C83-7F4395813F27}"/>
              </a:ext>
            </a:extLst>
          </p:cNvPr>
          <p:cNvSpPr>
            <a:spLocks noChangeArrowheads="1"/>
          </p:cNvSpPr>
          <p:nvPr/>
        </p:nvSpPr>
        <p:spPr bwMode="auto">
          <a:xfrm>
            <a:off x="0" y="293687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7111" name="Rectangle 10">
            <a:extLst>
              <a:ext uri="{FF2B5EF4-FFF2-40B4-BE49-F238E27FC236}">
                <a16:creationId xmlns:a16="http://schemas.microsoft.com/office/drawing/2014/main" id="{376512D3-A130-435D-B0AC-132AA75B42D8}"/>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7112" name="Rectangle 11">
            <a:extLst>
              <a:ext uri="{FF2B5EF4-FFF2-40B4-BE49-F238E27FC236}">
                <a16:creationId xmlns:a16="http://schemas.microsoft.com/office/drawing/2014/main" id="{99911A8D-4684-4D98-BCDD-E14C53A462CB}"/>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14" name="矩形 13">
            <a:extLst>
              <a:ext uri="{FF2B5EF4-FFF2-40B4-BE49-F238E27FC236}">
                <a16:creationId xmlns:a16="http://schemas.microsoft.com/office/drawing/2014/main" id="{6C28CD4B-86BE-428E-82EC-22ABCB8B6CD7}"/>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47114" name="Text Box 2">
            <a:extLst>
              <a:ext uri="{FF2B5EF4-FFF2-40B4-BE49-F238E27FC236}">
                <a16:creationId xmlns:a16="http://schemas.microsoft.com/office/drawing/2014/main" id="{A1E37AB5-BFA4-4B8F-B0C8-C34DD5575F24}"/>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0000FF"/>
                </a:solidFill>
                <a:latin typeface="微软雅黑" panose="020B0503020204020204" pitchFamily="34" charset="-122"/>
                <a:ea typeface="微软雅黑" panose="020B0503020204020204" pitchFamily="34" charset="-122"/>
              </a:rPr>
              <a:t>* </a:t>
            </a:r>
            <a:r>
              <a:rPr kumimoji="1" lang="zh-CN" altLang="en-US" sz="2800" b="1" dirty="0">
                <a:solidFill>
                  <a:srgbClr val="C00000"/>
                </a:solidFill>
                <a:latin typeface="微软雅黑" panose="020B0503020204020204" pitchFamily="34" charset="-122"/>
                <a:ea typeface="微软雅黑" panose="020B0503020204020204" pitchFamily="34" charset="-122"/>
              </a:rPr>
              <a:t>提一下传感器的激励源</a:t>
            </a:r>
            <a:r>
              <a:rPr kumimoji="1" lang="en-US" altLang="zh-CN" sz="2800" b="1" dirty="0">
                <a:solidFill>
                  <a:srgbClr val="C00000"/>
                </a:solidFill>
                <a:latin typeface="微软雅黑" panose="020B0503020204020204" pitchFamily="34" charset="-122"/>
                <a:ea typeface="微软雅黑" panose="020B0503020204020204" pitchFamily="34" charset="-122"/>
              </a:rPr>
              <a:t>——</a:t>
            </a:r>
            <a:r>
              <a:rPr kumimoji="1" lang="zh-CN" altLang="en-US" sz="2800" b="1" dirty="0">
                <a:solidFill>
                  <a:srgbClr val="C00000"/>
                </a:solidFill>
                <a:latin typeface="微软雅黑" panose="020B0503020204020204" pitchFamily="34" charset="-122"/>
                <a:ea typeface="微软雅黑" panose="020B0503020204020204" pitchFamily="34" charset="-122"/>
              </a:rPr>
              <a:t>恒压源激励</a:t>
            </a:r>
          </a:p>
        </p:txBody>
      </p:sp>
      <p:sp>
        <p:nvSpPr>
          <p:cNvPr id="47115" name="Text Box 2">
            <a:extLst>
              <a:ext uri="{FF2B5EF4-FFF2-40B4-BE49-F238E27FC236}">
                <a16:creationId xmlns:a16="http://schemas.microsoft.com/office/drawing/2014/main" id="{852D8BF5-F297-422C-B2D5-A6C889A96F59}"/>
              </a:ext>
            </a:extLst>
          </p:cNvPr>
          <p:cNvSpPr txBox="1">
            <a:spLocks noChangeArrowheads="1"/>
          </p:cNvSpPr>
          <p:nvPr/>
        </p:nvSpPr>
        <p:spPr bwMode="auto">
          <a:xfrm>
            <a:off x="358775" y="1223963"/>
            <a:ext cx="8353425" cy="4459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lang="zh-CN" altLang="en-US" sz="2400" b="1" dirty="0">
                <a:solidFill>
                  <a:srgbClr val="0000FF"/>
                </a:solidFill>
                <a:latin typeface="微软雅黑" panose="020B0503020204020204" pitchFamily="34" charset="-122"/>
                <a:ea typeface="微软雅黑" panose="020B0503020204020204" pitchFamily="34" charset="-122"/>
              </a:rPr>
              <a:t>定义</a:t>
            </a:r>
            <a:r>
              <a:rPr lang="zh-CN" altLang="en-US" sz="2400" b="1" dirty="0">
                <a:latin typeface="微软雅黑" panose="020B0503020204020204" pitchFamily="34" charset="-122"/>
                <a:ea typeface="微软雅黑" panose="020B0503020204020204" pitchFamily="34" charset="-122"/>
              </a:rPr>
              <a:t>：保持电容器上的交流电压有效值恒定不变。</a:t>
            </a:r>
          </a:p>
          <a:p>
            <a:pPr eaLnBrk="1" hangingPunct="1">
              <a:lnSpc>
                <a:spcPct val="150000"/>
              </a:lnSpc>
              <a:spcBef>
                <a:spcPct val="0"/>
              </a:spcBef>
              <a:buFontTx/>
              <a:buNone/>
            </a:pPr>
            <a:r>
              <a:rPr lang="zh-CN" altLang="en-US" sz="2400" b="1" dirty="0">
                <a:latin typeface="微软雅黑" panose="020B0503020204020204" pitchFamily="34" charset="-122"/>
                <a:ea typeface="微软雅黑" panose="020B0503020204020204" pitchFamily="34" charset="-122"/>
              </a:rPr>
              <a:t>此时输出变量为电流</a:t>
            </a:r>
            <a:r>
              <a:rPr lang="en-US" altLang="zh-CN" sz="2400" b="1" dirty="0" err="1">
                <a:latin typeface="微软雅黑" panose="020B0503020204020204" pitchFamily="34" charset="-122"/>
                <a:ea typeface="微软雅黑" panose="020B0503020204020204" pitchFamily="34" charset="-122"/>
              </a:rPr>
              <a:t>I</a:t>
            </a:r>
            <a:r>
              <a:rPr lang="en-US" altLang="zh-CN" sz="2400" b="1" baseline="-25000" dirty="0" err="1">
                <a:latin typeface="微软雅黑" panose="020B0503020204020204" pitchFamily="34" charset="-122"/>
                <a:ea typeface="微软雅黑" panose="020B0503020204020204" pitchFamily="34" charset="-122"/>
              </a:rPr>
              <a:t>c</a:t>
            </a:r>
            <a:r>
              <a:rPr lang="zh-CN" altLang="en-US" sz="2400" b="1" dirty="0">
                <a:latin typeface="微软雅黑" panose="020B0503020204020204" pitchFamily="34" charset="-122"/>
                <a:ea typeface="微软雅黑" panose="020B0503020204020204" pitchFamily="34" charset="-122"/>
              </a:rPr>
              <a:t>，其大小将随电容</a:t>
            </a:r>
            <a:r>
              <a:rPr lang="en-US" altLang="zh-CN" sz="2400" b="1" dirty="0" err="1">
                <a:latin typeface="微软雅黑" panose="020B0503020204020204" pitchFamily="34" charset="-122"/>
                <a:ea typeface="微软雅黑" panose="020B0503020204020204" pitchFamily="34" charset="-122"/>
              </a:rPr>
              <a:t>C</a:t>
            </a:r>
            <a:r>
              <a:rPr lang="en-US" altLang="zh-CN" sz="2400" b="1" baseline="-25000" dirty="0" err="1">
                <a:latin typeface="微软雅黑" panose="020B0503020204020204" pitchFamily="34" charset="-122"/>
                <a:ea typeface="微软雅黑" panose="020B0503020204020204" pitchFamily="34" charset="-122"/>
              </a:rPr>
              <a:t>x</a:t>
            </a:r>
            <a:r>
              <a:rPr lang="zh-CN" altLang="en-US" sz="2400" b="1" dirty="0">
                <a:latin typeface="微软雅黑" panose="020B0503020204020204" pitchFamily="34" charset="-122"/>
                <a:ea typeface="微软雅黑" panose="020B0503020204020204" pitchFamily="34" charset="-122"/>
              </a:rPr>
              <a:t>的变化而变化。</a:t>
            </a:r>
          </a:p>
          <a:p>
            <a:pPr eaLnBrk="1" hangingPunct="1">
              <a:lnSpc>
                <a:spcPct val="150000"/>
              </a:lnSpc>
              <a:spcBef>
                <a:spcPct val="0"/>
              </a:spcBef>
              <a:buFontTx/>
              <a:buNone/>
            </a:pPr>
            <a:endParaRPr lang="zh-CN" altLang="en-US" sz="2400" b="1" dirty="0">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endParaRPr lang="zh-CN" altLang="en-US" sz="2400" b="1" dirty="0">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r>
              <a:rPr lang="zh-CN" altLang="en-US" sz="2400" b="1" dirty="0">
                <a:solidFill>
                  <a:srgbClr val="0000FF"/>
                </a:solidFill>
                <a:latin typeface="微软雅黑" panose="020B0503020204020204" pitchFamily="34" charset="-122"/>
                <a:ea typeface="微软雅黑" panose="020B0503020204020204" pitchFamily="34" charset="-122"/>
              </a:rPr>
              <a:t>结论</a:t>
            </a:r>
            <a:r>
              <a:rPr lang="zh-CN" altLang="en-US" sz="2400" b="1" dirty="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r>
              <a:rPr lang="zh-CN" altLang="en-US" sz="2400" b="1" dirty="0">
                <a:latin typeface="微软雅黑" panose="020B0503020204020204" pitchFamily="34" charset="-122"/>
                <a:ea typeface="微软雅黑" panose="020B0503020204020204" pitchFamily="34" charset="-122"/>
              </a:rPr>
              <a:t>●恒电压激励适用于</a:t>
            </a:r>
            <a:r>
              <a:rPr lang="zh-CN" altLang="en-US" sz="2400" b="1" dirty="0">
                <a:solidFill>
                  <a:srgbClr val="FF0000"/>
                </a:solidFill>
                <a:latin typeface="微软雅黑" panose="020B0503020204020204" pitchFamily="34" charset="-122"/>
                <a:ea typeface="微软雅黑" panose="020B0503020204020204" pitchFamily="34" charset="-122"/>
              </a:rPr>
              <a:t>变面积型和变介电常数型电容传感器</a:t>
            </a:r>
            <a:r>
              <a:rPr lang="zh-CN" altLang="en-US" sz="2400" b="1" dirty="0">
                <a:latin typeface="微软雅黑" panose="020B0503020204020204" pitchFamily="34" charset="-122"/>
                <a:ea typeface="微软雅黑" panose="020B0503020204020204" pitchFamily="34" charset="-122"/>
              </a:rPr>
              <a:t>。对于变极距型传感器，采用恒电压激励时存在理论非线性。</a:t>
            </a:r>
          </a:p>
          <a:p>
            <a:pPr eaLnBrk="1" hangingPunct="1">
              <a:lnSpc>
                <a:spcPct val="150000"/>
              </a:lnSpc>
              <a:spcBef>
                <a:spcPct val="0"/>
              </a:spcBef>
              <a:buFontTx/>
              <a:buNone/>
            </a:pPr>
            <a:endParaRPr lang="zh-CN" altLang="en-US" sz="2400" b="1" dirty="0">
              <a:latin typeface="微软雅黑" panose="020B0503020204020204" pitchFamily="34" charset="-122"/>
              <a:ea typeface="微软雅黑" panose="020B0503020204020204" pitchFamily="34" charset="-122"/>
            </a:endParaRPr>
          </a:p>
        </p:txBody>
      </p:sp>
      <p:graphicFrame>
        <p:nvGraphicFramePr>
          <p:cNvPr id="47116" name="Object 13">
            <a:extLst>
              <a:ext uri="{FF2B5EF4-FFF2-40B4-BE49-F238E27FC236}">
                <a16:creationId xmlns:a16="http://schemas.microsoft.com/office/drawing/2014/main" id="{F6E650B7-1D79-4CD0-ABAB-80C6BDB9A046}"/>
              </a:ext>
            </a:extLst>
          </p:cNvPr>
          <p:cNvGraphicFramePr>
            <a:graphicFrameLocks noChangeAspect="1"/>
          </p:cNvGraphicFramePr>
          <p:nvPr/>
        </p:nvGraphicFramePr>
        <p:xfrm>
          <a:off x="1833563" y="2503488"/>
          <a:ext cx="4895850" cy="1157287"/>
        </p:xfrm>
        <a:graphic>
          <a:graphicData uri="http://schemas.openxmlformats.org/presentationml/2006/ole">
            <mc:AlternateContent xmlns:mc="http://schemas.openxmlformats.org/markup-compatibility/2006">
              <mc:Choice xmlns:v="urn:schemas-microsoft-com:vml" Requires="v">
                <p:oleObj spid="_x0000_s47172" name="公式" r:id="rId3" imgW="1663700" imgH="393700" progId="Equation.3">
                  <p:embed/>
                </p:oleObj>
              </mc:Choice>
              <mc:Fallback>
                <p:oleObj name="公式" r:id="rId3" imgW="1663700" imgH="3937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3563" y="2503488"/>
                        <a:ext cx="4895850" cy="1157287"/>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a:extLst>
              <a:ext uri="{FF2B5EF4-FFF2-40B4-BE49-F238E27FC236}">
                <a16:creationId xmlns:a16="http://schemas.microsoft.com/office/drawing/2014/main" id="{7F6D138B-E640-42DD-A999-8EC09867A614}"/>
              </a:ext>
            </a:extLst>
          </p:cNvPr>
          <p:cNvSpPr>
            <a:spLocks noChangeArrowheads="1"/>
          </p:cNvSpPr>
          <p:nvPr/>
        </p:nvSpPr>
        <p:spPr bwMode="auto">
          <a:xfrm>
            <a:off x="0" y="226060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8131" name="Rectangle 6">
            <a:extLst>
              <a:ext uri="{FF2B5EF4-FFF2-40B4-BE49-F238E27FC236}">
                <a16:creationId xmlns:a16="http://schemas.microsoft.com/office/drawing/2014/main" id="{B707370F-84B9-4712-844C-E26C6EF16B30}"/>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8132" name="Rectangle 7">
            <a:extLst>
              <a:ext uri="{FF2B5EF4-FFF2-40B4-BE49-F238E27FC236}">
                <a16:creationId xmlns:a16="http://schemas.microsoft.com/office/drawing/2014/main" id="{F5E0268A-1C37-4D02-8312-2637FB158FBD}"/>
              </a:ext>
            </a:extLst>
          </p:cNvPr>
          <p:cNvSpPr>
            <a:spLocks noChangeArrowheads="1"/>
          </p:cNvSpPr>
          <p:nvPr/>
        </p:nvSpPr>
        <p:spPr bwMode="auto">
          <a:xfrm>
            <a:off x="0" y="28892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8133" name="Rectangle 8">
            <a:extLst>
              <a:ext uri="{FF2B5EF4-FFF2-40B4-BE49-F238E27FC236}">
                <a16:creationId xmlns:a16="http://schemas.microsoft.com/office/drawing/2014/main" id="{EE2EAE31-E7BF-4237-A8A2-7E24F9359855}"/>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8134" name="Rectangle 9">
            <a:extLst>
              <a:ext uri="{FF2B5EF4-FFF2-40B4-BE49-F238E27FC236}">
                <a16:creationId xmlns:a16="http://schemas.microsoft.com/office/drawing/2014/main" id="{D131BCC8-00F3-4415-80A2-BFEF6760203A}"/>
              </a:ext>
            </a:extLst>
          </p:cNvPr>
          <p:cNvSpPr>
            <a:spLocks noChangeArrowheads="1"/>
          </p:cNvSpPr>
          <p:nvPr/>
        </p:nvSpPr>
        <p:spPr bwMode="auto">
          <a:xfrm>
            <a:off x="0" y="293687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8135" name="Rectangle 10">
            <a:extLst>
              <a:ext uri="{FF2B5EF4-FFF2-40B4-BE49-F238E27FC236}">
                <a16:creationId xmlns:a16="http://schemas.microsoft.com/office/drawing/2014/main" id="{CA850E18-8BFC-48DB-B099-40E9167ECEA7}"/>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8136" name="Rectangle 11">
            <a:extLst>
              <a:ext uri="{FF2B5EF4-FFF2-40B4-BE49-F238E27FC236}">
                <a16:creationId xmlns:a16="http://schemas.microsoft.com/office/drawing/2014/main" id="{40FF59A8-990B-46DC-B40C-CB7F80CAD196}"/>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14" name="矩形 13">
            <a:extLst>
              <a:ext uri="{FF2B5EF4-FFF2-40B4-BE49-F238E27FC236}">
                <a16:creationId xmlns:a16="http://schemas.microsoft.com/office/drawing/2014/main" id="{08E5F59C-7F7B-465C-816F-A5DD814B7437}"/>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48138" name="Text Box 2">
            <a:extLst>
              <a:ext uri="{FF2B5EF4-FFF2-40B4-BE49-F238E27FC236}">
                <a16:creationId xmlns:a16="http://schemas.microsoft.com/office/drawing/2014/main" id="{565AD202-A0D3-469D-8D5D-79712748AF69}"/>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C00000"/>
                </a:solidFill>
                <a:latin typeface="微软雅黑" panose="020B0503020204020204" pitchFamily="34" charset="-122"/>
                <a:ea typeface="微软雅黑" panose="020B0503020204020204" pitchFamily="34" charset="-122"/>
              </a:rPr>
              <a:t>3.1  </a:t>
            </a:r>
            <a:r>
              <a:rPr kumimoji="1" lang="zh-CN" altLang="en-US" sz="2800" b="1" dirty="0">
                <a:solidFill>
                  <a:srgbClr val="C00000"/>
                </a:solidFill>
                <a:latin typeface="微软雅黑" panose="020B0503020204020204" pitchFamily="34" charset="-122"/>
                <a:ea typeface="微软雅黑" panose="020B0503020204020204" pitchFamily="34" charset="-122"/>
              </a:rPr>
              <a:t>二极管双</a:t>
            </a:r>
            <a:r>
              <a:rPr kumimoji="1" lang="en-US" altLang="zh-CN" sz="2800" b="1" dirty="0">
                <a:solidFill>
                  <a:srgbClr val="C00000"/>
                </a:solidFill>
                <a:latin typeface="微软雅黑" panose="020B0503020204020204" pitchFamily="34" charset="-122"/>
                <a:ea typeface="微软雅黑" panose="020B0503020204020204" pitchFamily="34" charset="-122"/>
              </a:rPr>
              <a:t>T</a:t>
            </a:r>
            <a:r>
              <a:rPr kumimoji="1" lang="zh-CN" altLang="en-US" sz="2800" b="1" dirty="0">
                <a:solidFill>
                  <a:srgbClr val="C00000"/>
                </a:solidFill>
                <a:latin typeface="微软雅黑" panose="020B0503020204020204" pitchFamily="34" charset="-122"/>
                <a:ea typeface="微软雅黑" panose="020B0503020204020204" pitchFamily="34" charset="-122"/>
              </a:rPr>
              <a:t>电桥电容测量电路（</a:t>
            </a:r>
            <a:r>
              <a:rPr kumimoji="1" lang="zh-CN" altLang="en-US" sz="2800" b="1" dirty="0">
                <a:solidFill>
                  <a:srgbClr val="0000FF"/>
                </a:solidFill>
                <a:latin typeface="微软雅黑" panose="020B0503020204020204" pitchFamily="34" charset="-122"/>
                <a:ea typeface="微软雅黑" panose="020B0503020204020204" pitchFamily="34" charset="-122"/>
              </a:rPr>
              <a:t>总结续</a:t>
            </a:r>
            <a:r>
              <a:rPr kumimoji="1" lang="zh-CN" altLang="en-US" sz="2800" b="1" dirty="0">
                <a:solidFill>
                  <a:srgbClr val="C00000"/>
                </a:solidFill>
                <a:latin typeface="微软雅黑" panose="020B0503020204020204" pitchFamily="34" charset="-122"/>
                <a:ea typeface="微软雅黑" panose="020B0503020204020204" pitchFamily="34" charset="-122"/>
              </a:rPr>
              <a:t>）</a:t>
            </a:r>
          </a:p>
        </p:txBody>
      </p:sp>
      <p:sp>
        <p:nvSpPr>
          <p:cNvPr id="48139" name="Text Box 2">
            <a:extLst>
              <a:ext uri="{FF2B5EF4-FFF2-40B4-BE49-F238E27FC236}">
                <a16:creationId xmlns:a16="http://schemas.microsoft.com/office/drawing/2014/main" id="{A61FD56B-0E6A-4AF6-8517-B66AF855C1D4}"/>
              </a:ext>
            </a:extLst>
          </p:cNvPr>
          <p:cNvSpPr txBox="1">
            <a:spLocks noChangeArrowheads="1"/>
          </p:cNvSpPr>
          <p:nvPr/>
        </p:nvSpPr>
        <p:spPr bwMode="auto">
          <a:xfrm>
            <a:off x="358775" y="981075"/>
            <a:ext cx="8353425" cy="4192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25000"/>
              </a:spcBef>
              <a:buFontTx/>
              <a:buNone/>
            </a:pPr>
            <a:r>
              <a:rPr lang="zh-CN" altLang="en-US" sz="2000" b="1" dirty="0">
                <a:latin typeface="微软雅黑" panose="020B0503020204020204" pitchFamily="34" charset="-122"/>
                <a:ea typeface="微软雅黑" panose="020B0503020204020204" pitchFamily="34" charset="-122"/>
              </a:rPr>
              <a:t>双</a:t>
            </a:r>
            <a:r>
              <a:rPr lang="en-US" altLang="zh-CN" sz="2000" b="1" dirty="0">
                <a:latin typeface="微软雅黑" panose="020B0503020204020204" pitchFamily="34" charset="-122"/>
                <a:ea typeface="微软雅黑" panose="020B0503020204020204" pitchFamily="34" charset="-122"/>
              </a:rPr>
              <a:t>T</a:t>
            </a:r>
            <a:r>
              <a:rPr lang="zh-CN" altLang="en-US" sz="2000" b="1" dirty="0">
                <a:latin typeface="微软雅黑" panose="020B0503020204020204" pitchFamily="34" charset="-122"/>
                <a:ea typeface="微软雅黑" panose="020B0503020204020204" pitchFamily="34" charset="-122"/>
              </a:rPr>
              <a:t>电桥输出电压为：</a:t>
            </a:r>
          </a:p>
          <a:p>
            <a:pPr>
              <a:lnSpc>
                <a:spcPct val="150000"/>
              </a:lnSpc>
              <a:spcBef>
                <a:spcPct val="25000"/>
              </a:spcBef>
              <a:buFontTx/>
              <a:buNone/>
            </a:pPr>
            <a:r>
              <a:rPr lang="zh-CN" altLang="en-US" sz="2000" b="1" dirty="0">
                <a:solidFill>
                  <a:srgbClr val="FF0000"/>
                </a:solidFill>
                <a:latin typeface="微软雅黑" panose="020B0503020204020204" pitchFamily="34" charset="-122"/>
                <a:ea typeface="微软雅黑" panose="020B0503020204020204" pitchFamily="34" charset="-122"/>
              </a:rPr>
              <a:t>①</a:t>
            </a:r>
            <a:r>
              <a:rPr lang="zh-CN" altLang="en-US" sz="2000" b="1" dirty="0">
                <a:latin typeface="微软雅黑" panose="020B0503020204020204" pitchFamily="34" charset="-122"/>
                <a:ea typeface="微软雅黑" panose="020B0503020204020204" pitchFamily="34" charset="-122"/>
              </a:rPr>
              <a:t>线路为</a:t>
            </a:r>
            <a:r>
              <a:rPr lang="zh-CN" altLang="en-US" sz="2000" b="1" dirty="0">
                <a:solidFill>
                  <a:srgbClr val="0000FF"/>
                </a:solidFill>
                <a:latin typeface="微软雅黑" panose="020B0503020204020204" pitchFamily="34" charset="-122"/>
                <a:ea typeface="微软雅黑" panose="020B0503020204020204" pitchFamily="34" charset="-122"/>
              </a:rPr>
              <a:t>电压激励</a:t>
            </a:r>
            <a:r>
              <a:rPr lang="zh-CN" altLang="en-US" sz="2000" b="1" dirty="0">
                <a:latin typeface="微软雅黑" panose="020B0503020204020204" pitchFamily="34" charset="-122"/>
                <a:ea typeface="微软雅黑" panose="020B0503020204020204" pitchFamily="34" charset="-122"/>
              </a:rPr>
              <a:t>，适用于具有线性特性的单端或差动电容。例如：变面积式电容传感器等。</a:t>
            </a:r>
          </a:p>
          <a:p>
            <a:pPr>
              <a:lnSpc>
                <a:spcPct val="150000"/>
              </a:lnSpc>
              <a:spcBef>
                <a:spcPct val="25000"/>
              </a:spcBef>
              <a:buFontTx/>
              <a:buNone/>
            </a:pPr>
            <a:endParaRPr lang="zh-CN" altLang="en-US" sz="2000" b="1" dirty="0">
              <a:latin typeface="微软雅黑" panose="020B0503020204020204" pitchFamily="34" charset="-122"/>
              <a:ea typeface="微软雅黑" panose="020B0503020204020204" pitchFamily="34" charset="-122"/>
            </a:endParaRPr>
          </a:p>
          <a:p>
            <a:pPr>
              <a:lnSpc>
                <a:spcPct val="150000"/>
              </a:lnSpc>
              <a:spcBef>
                <a:spcPct val="25000"/>
              </a:spcBef>
              <a:buFontTx/>
              <a:buNone/>
            </a:pPr>
            <a:endParaRPr lang="zh-CN" altLang="en-US" sz="2000" b="1" dirty="0">
              <a:latin typeface="微软雅黑" panose="020B0503020204020204" pitchFamily="34" charset="-122"/>
              <a:ea typeface="微软雅黑" panose="020B0503020204020204" pitchFamily="34" charset="-122"/>
            </a:endParaRPr>
          </a:p>
          <a:p>
            <a:pPr>
              <a:lnSpc>
                <a:spcPct val="150000"/>
              </a:lnSpc>
              <a:spcBef>
                <a:spcPct val="25000"/>
              </a:spcBef>
              <a:buFontTx/>
              <a:buNone/>
            </a:pPr>
            <a:r>
              <a:rPr lang="zh-CN" altLang="en-US" sz="2000" b="1" dirty="0">
                <a:solidFill>
                  <a:srgbClr val="FF0000"/>
                </a:solidFill>
                <a:latin typeface="微软雅黑" panose="020B0503020204020204" pitchFamily="34" charset="-122"/>
                <a:ea typeface="微软雅黑" panose="020B0503020204020204" pitchFamily="34" charset="-122"/>
              </a:rPr>
              <a:t>②</a:t>
            </a:r>
            <a:r>
              <a:rPr lang="zh-CN" altLang="en-US" sz="2000" b="1" dirty="0">
                <a:solidFill>
                  <a:srgbClr val="0000FF"/>
                </a:solidFill>
                <a:latin typeface="微软雅黑" panose="020B0503020204020204" pitchFamily="34" charset="-122"/>
                <a:ea typeface="微软雅黑" panose="020B0503020204020204" pitchFamily="34" charset="-122"/>
              </a:rPr>
              <a:t>不适用于变极距式</a:t>
            </a:r>
            <a:r>
              <a:rPr lang="zh-CN" altLang="en-US" sz="2000" b="1" dirty="0">
                <a:latin typeface="微软雅黑" panose="020B0503020204020204" pitchFamily="34" charset="-122"/>
                <a:ea typeface="微软雅黑" panose="020B0503020204020204" pitchFamily="34" charset="-122"/>
              </a:rPr>
              <a:t>差动电容式传感器</a:t>
            </a:r>
          </a:p>
          <a:p>
            <a:pPr>
              <a:lnSpc>
                <a:spcPct val="150000"/>
              </a:lnSpc>
              <a:spcBef>
                <a:spcPct val="25000"/>
              </a:spcBef>
              <a:buFontTx/>
              <a:buNone/>
            </a:pPr>
            <a:endParaRPr lang="zh-CN" altLang="en-US" sz="2000" b="1" dirty="0">
              <a:latin typeface="微软雅黑" panose="020B0503020204020204" pitchFamily="34" charset="-122"/>
              <a:ea typeface="微软雅黑" panose="020B0503020204020204" pitchFamily="34" charset="-122"/>
            </a:endParaRPr>
          </a:p>
          <a:p>
            <a:pPr>
              <a:lnSpc>
                <a:spcPct val="150000"/>
              </a:lnSpc>
              <a:spcBef>
                <a:spcPct val="25000"/>
              </a:spcBef>
              <a:buFontTx/>
              <a:buNone/>
            </a:pPr>
            <a:r>
              <a:rPr lang="zh-CN" altLang="en-US" sz="2000" b="1" dirty="0">
                <a:solidFill>
                  <a:srgbClr val="FF0000"/>
                </a:solidFill>
                <a:latin typeface="微软雅黑" panose="020B0503020204020204" pitchFamily="34" charset="-122"/>
                <a:ea typeface="微软雅黑" panose="020B0503020204020204" pitchFamily="34" charset="-122"/>
              </a:rPr>
              <a:t>③</a:t>
            </a:r>
            <a:r>
              <a:rPr lang="zh-CN" altLang="en-US" sz="2000" b="1" dirty="0">
                <a:solidFill>
                  <a:srgbClr val="0000FF"/>
                </a:solidFill>
                <a:latin typeface="微软雅黑" panose="020B0503020204020204" pitchFamily="34" charset="-122"/>
                <a:ea typeface="微软雅黑" panose="020B0503020204020204" pitchFamily="34" charset="-122"/>
              </a:rPr>
              <a:t>引入</a:t>
            </a:r>
            <a:r>
              <a:rPr lang="en-US" altLang="zh-CN" sz="2000" b="1" dirty="0">
                <a:solidFill>
                  <a:srgbClr val="0000FF"/>
                </a:solidFill>
                <a:latin typeface="微软雅黑" panose="020B0503020204020204" pitchFamily="34" charset="-122"/>
                <a:ea typeface="微软雅黑" panose="020B0503020204020204" pitchFamily="34" charset="-122"/>
              </a:rPr>
              <a:t>1/</a:t>
            </a:r>
            <a:r>
              <a:rPr lang="zh-CN" altLang="en-US" sz="2000" b="1" dirty="0">
                <a:solidFill>
                  <a:srgbClr val="0000FF"/>
                </a:solidFill>
                <a:latin typeface="微软雅黑" panose="020B0503020204020204" pitchFamily="34" charset="-122"/>
                <a:ea typeface="微软雅黑" panose="020B0503020204020204" pitchFamily="34" charset="-122"/>
              </a:rPr>
              <a:t>（</a:t>
            </a:r>
            <a:r>
              <a:rPr lang="en-US" altLang="zh-CN" sz="2000" b="1" dirty="0">
                <a:solidFill>
                  <a:srgbClr val="0000FF"/>
                </a:solidFill>
                <a:latin typeface="微软雅黑" panose="020B0503020204020204" pitchFamily="34" charset="-122"/>
                <a:ea typeface="微软雅黑" panose="020B0503020204020204" pitchFamily="34" charset="-122"/>
              </a:rPr>
              <a:t>C</a:t>
            </a:r>
            <a:r>
              <a:rPr lang="en-US" altLang="zh-CN" sz="2000" b="1" baseline="-25000" dirty="0">
                <a:solidFill>
                  <a:srgbClr val="0000FF"/>
                </a:solidFill>
                <a:latin typeface="微软雅黑" panose="020B0503020204020204" pitchFamily="34" charset="-122"/>
                <a:ea typeface="微软雅黑" panose="020B0503020204020204" pitchFamily="34" charset="-122"/>
              </a:rPr>
              <a:t>0</a:t>
            </a:r>
            <a:r>
              <a:rPr lang="en-US" altLang="zh-CN" sz="2000" b="1" dirty="0">
                <a:solidFill>
                  <a:srgbClr val="0000FF"/>
                </a:solidFill>
                <a:latin typeface="微软雅黑" panose="020B0503020204020204" pitchFamily="34" charset="-122"/>
                <a:ea typeface="微软雅黑" panose="020B0503020204020204" pitchFamily="34" charset="-122"/>
              </a:rPr>
              <a:t>+C</a:t>
            </a:r>
            <a:r>
              <a:rPr lang="en-US" altLang="zh-CN" sz="2000" b="1" baseline="-25000" dirty="0">
                <a:solidFill>
                  <a:srgbClr val="0000FF"/>
                </a:solidFill>
                <a:latin typeface="微软雅黑" panose="020B0503020204020204" pitchFamily="34" charset="-122"/>
                <a:ea typeface="微软雅黑" panose="020B0503020204020204" pitchFamily="34" charset="-122"/>
              </a:rPr>
              <a:t>1</a:t>
            </a:r>
            <a:r>
              <a:rPr lang="zh-CN" altLang="en-US" sz="2000" b="1" dirty="0">
                <a:solidFill>
                  <a:srgbClr val="0000FF"/>
                </a:solidFill>
                <a:latin typeface="微软雅黑" panose="020B0503020204020204" pitchFamily="34" charset="-122"/>
                <a:ea typeface="微软雅黑" panose="020B0503020204020204" pitchFamily="34" charset="-122"/>
              </a:rPr>
              <a:t>）后</a:t>
            </a: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0000FF"/>
                </a:solidFill>
                <a:latin typeface="微软雅黑" panose="020B0503020204020204" pitchFamily="34" charset="-122"/>
                <a:ea typeface="微软雅黑" panose="020B0503020204020204" pitchFamily="34" charset="-122"/>
              </a:rPr>
              <a:t>可用于变极距差动电容式传感器</a:t>
            </a:r>
          </a:p>
        </p:txBody>
      </p:sp>
      <p:sp>
        <p:nvSpPr>
          <p:cNvPr id="48140" name="Rectangle 8">
            <a:extLst>
              <a:ext uri="{FF2B5EF4-FFF2-40B4-BE49-F238E27FC236}">
                <a16:creationId xmlns:a16="http://schemas.microsoft.com/office/drawing/2014/main" id="{FEFFCABF-53C7-4A8A-A6B5-B53B69AE2479}"/>
              </a:ext>
            </a:extLst>
          </p:cNvPr>
          <p:cNvSpPr>
            <a:spLocks noChangeArrowheads="1"/>
          </p:cNvSpPr>
          <p:nvPr/>
        </p:nvSpPr>
        <p:spPr bwMode="auto">
          <a:xfrm>
            <a:off x="0" y="95250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8141" name="Rectangle 9">
            <a:extLst>
              <a:ext uri="{FF2B5EF4-FFF2-40B4-BE49-F238E27FC236}">
                <a16:creationId xmlns:a16="http://schemas.microsoft.com/office/drawing/2014/main" id="{F1A3C699-C6BB-4616-9FFB-6B19E23A3F22}"/>
              </a:ext>
            </a:extLst>
          </p:cNvPr>
          <p:cNvSpPr>
            <a:spLocks noChangeArrowheads="1"/>
          </p:cNvSpPr>
          <p:nvPr/>
        </p:nvSpPr>
        <p:spPr bwMode="auto">
          <a:xfrm>
            <a:off x="0" y="95250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graphicFrame>
        <p:nvGraphicFramePr>
          <p:cNvPr id="48142" name="Object 10">
            <a:extLst>
              <a:ext uri="{FF2B5EF4-FFF2-40B4-BE49-F238E27FC236}">
                <a16:creationId xmlns:a16="http://schemas.microsoft.com/office/drawing/2014/main" id="{91162F90-03A4-47DA-B2FF-FBAD95A152A1}"/>
              </a:ext>
            </a:extLst>
          </p:cNvPr>
          <p:cNvGraphicFramePr>
            <a:graphicFrameLocks noChangeAspect="1"/>
          </p:cNvGraphicFramePr>
          <p:nvPr/>
        </p:nvGraphicFramePr>
        <p:xfrm>
          <a:off x="2916238" y="2276475"/>
          <a:ext cx="3455987" cy="1357313"/>
        </p:xfrm>
        <a:graphic>
          <a:graphicData uri="http://schemas.openxmlformats.org/presentationml/2006/ole">
            <mc:AlternateContent xmlns:mc="http://schemas.openxmlformats.org/markup-compatibility/2006">
              <mc:Choice xmlns:v="urn:schemas-microsoft-com:vml" Requires="v">
                <p:oleObj spid="_x0000_s48314" name="公式" r:id="rId3" imgW="2070100" imgH="812800" progId="Equation.3">
                  <p:embed/>
                </p:oleObj>
              </mc:Choice>
              <mc:Fallback>
                <p:oleObj name="公式" r:id="rId3" imgW="2070100" imgH="81280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6238" y="2276475"/>
                        <a:ext cx="3455987" cy="13573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43" name="Object 16">
            <a:extLst>
              <a:ext uri="{FF2B5EF4-FFF2-40B4-BE49-F238E27FC236}">
                <a16:creationId xmlns:a16="http://schemas.microsoft.com/office/drawing/2014/main" id="{8D9A7A77-6291-4243-A785-BAA1D2DB3980}"/>
              </a:ext>
            </a:extLst>
          </p:cNvPr>
          <p:cNvGraphicFramePr>
            <a:graphicFrameLocks noChangeAspect="1"/>
          </p:cNvGraphicFramePr>
          <p:nvPr/>
        </p:nvGraphicFramePr>
        <p:xfrm>
          <a:off x="5148263" y="3213100"/>
          <a:ext cx="3600450" cy="1536700"/>
        </p:xfrm>
        <a:graphic>
          <a:graphicData uri="http://schemas.openxmlformats.org/presentationml/2006/ole">
            <mc:AlternateContent xmlns:mc="http://schemas.openxmlformats.org/markup-compatibility/2006">
              <mc:Choice xmlns:v="urn:schemas-microsoft-com:vml" Requires="v">
                <p:oleObj spid="_x0000_s48315" name="公式" r:id="rId5" imgW="1905000" imgH="812800" progId="Equation.3">
                  <p:embed/>
                </p:oleObj>
              </mc:Choice>
              <mc:Fallback>
                <p:oleObj name="公式" r:id="rId5" imgW="1905000" imgH="812800" progId="Equation.3">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8263" y="3213100"/>
                        <a:ext cx="3600450" cy="15367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45" name="Object 19">
            <a:extLst>
              <a:ext uri="{FF2B5EF4-FFF2-40B4-BE49-F238E27FC236}">
                <a16:creationId xmlns:a16="http://schemas.microsoft.com/office/drawing/2014/main" id="{D95EFB6F-D292-4ECE-8108-3BEBF46ACFF1}"/>
              </a:ext>
            </a:extLst>
          </p:cNvPr>
          <p:cNvGraphicFramePr>
            <a:graphicFrameLocks noChangeAspect="1"/>
          </p:cNvGraphicFramePr>
          <p:nvPr/>
        </p:nvGraphicFramePr>
        <p:xfrm>
          <a:off x="2627313" y="5229225"/>
          <a:ext cx="3960812" cy="1389063"/>
        </p:xfrm>
        <a:graphic>
          <a:graphicData uri="http://schemas.openxmlformats.org/presentationml/2006/ole">
            <mc:AlternateContent xmlns:mc="http://schemas.openxmlformats.org/markup-compatibility/2006">
              <mc:Choice xmlns:v="urn:schemas-microsoft-com:vml" Requires="v">
                <p:oleObj spid="_x0000_s48316" name="公式" r:id="rId7" imgW="2171700" imgH="762000" progId="Equation.3">
                  <p:embed/>
                </p:oleObj>
              </mc:Choice>
              <mc:Fallback>
                <p:oleObj name="公式" r:id="rId7" imgW="2171700" imgH="762000" progId="Equation.3">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27313" y="5229225"/>
                        <a:ext cx="3960812" cy="138906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矩形 18">
            <a:extLst>
              <a:ext uri="{FF2B5EF4-FFF2-40B4-BE49-F238E27FC236}">
                <a16:creationId xmlns:a16="http://schemas.microsoft.com/office/drawing/2014/main" id="{EFF14F57-2DCF-4A6D-9DAC-027844162B20}"/>
              </a:ext>
            </a:extLst>
          </p:cNvPr>
          <p:cNvSpPr/>
          <p:nvPr/>
        </p:nvSpPr>
        <p:spPr>
          <a:xfrm>
            <a:off x="2966728" y="964471"/>
            <a:ext cx="3527425" cy="7032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graphicFrame>
        <p:nvGraphicFramePr>
          <p:cNvPr id="20" name="Object 12">
            <a:extLst>
              <a:ext uri="{FF2B5EF4-FFF2-40B4-BE49-F238E27FC236}">
                <a16:creationId xmlns:a16="http://schemas.microsoft.com/office/drawing/2014/main" id="{57C36731-9CB8-48C0-B62D-D69AC13FAFA9}"/>
              </a:ext>
            </a:extLst>
          </p:cNvPr>
          <p:cNvGraphicFramePr>
            <a:graphicFrameLocks noChangeAspect="1"/>
          </p:cNvGraphicFramePr>
          <p:nvPr>
            <p:extLst>
              <p:ext uri="{D42A27DB-BD31-4B8C-83A1-F6EECF244321}">
                <p14:modId xmlns:p14="http://schemas.microsoft.com/office/powerpoint/2010/main" val="1495917839"/>
              </p:ext>
            </p:extLst>
          </p:nvPr>
        </p:nvGraphicFramePr>
        <p:xfrm>
          <a:off x="3027618" y="1003300"/>
          <a:ext cx="3165475" cy="681037"/>
        </p:xfrm>
        <a:graphic>
          <a:graphicData uri="http://schemas.openxmlformats.org/presentationml/2006/ole">
            <mc:AlternateContent xmlns:mc="http://schemas.openxmlformats.org/markup-compatibility/2006">
              <mc:Choice xmlns:v="urn:schemas-microsoft-com:vml" Requires="v">
                <p:oleObj spid="_x0000_s48317" name="Equation" r:id="rId9" imgW="2006600" imgH="431800" progId="Equation.DSMT4">
                  <p:embed/>
                </p:oleObj>
              </mc:Choice>
              <mc:Fallback>
                <p:oleObj name="Equation" r:id="rId9" imgW="2006600" imgH="431800" progId="Equation.DSMT4">
                  <p:embed/>
                  <p:pic>
                    <p:nvPicPr>
                      <p:cNvPr id="19" name="Object 12">
                        <a:extLst>
                          <a:ext uri="{FF2B5EF4-FFF2-40B4-BE49-F238E27FC236}">
                            <a16:creationId xmlns:a16="http://schemas.microsoft.com/office/drawing/2014/main" id="{CF79C3FB-803C-4848-A6F3-88727F00ECC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27618" y="1003300"/>
                        <a:ext cx="3165475" cy="68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灯片编号占位符 1">
            <a:extLst>
              <a:ext uri="{FF2B5EF4-FFF2-40B4-BE49-F238E27FC236}">
                <a16:creationId xmlns:a16="http://schemas.microsoft.com/office/drawing/2014/main" id="{A8F6A93A-DD8C-43EF-A6DD-7835D778A3B0}"/>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A492AB2-02D6-413A-BC88-625DB487E1C7}" type="slidenum">
              <a:rPr lang="en-US" altLang="zh-CN" smtClean="0"/>
              <a:pPr/>
              <a:t>30</a:t>
            </a:fld>
            <a:endParaRPr lang="en-US" altLang="zh-CN"/>
          </a:p>
        </p:txBody>
      </p:sp>
      <p:sp>
        <p:nvSpPr>
          <p:cNvPr id="8" name="矩形 7">
            <a:extLst>
              <a:ext uri="{FF2B5EF4-FFF2-40B4-BE49-F238E27FC236}">
                <a16:creationId xmlns:a16="http://schemas.microsoft.com/office/drawing/2014/main" id="{F79DB2F6-DBE5-4968-909E-A5D16249A6DB}"/>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56325" name="Text Box 2">
            <a:extLst>
              <a:ext uri="{FF2B5EF4-FFF2-40B4-BE49-F238E27FC236}">
                <a16:creationId xmlns:a16="http://schemas.microsoft.com/office/drawing/2014/main" id="{8043D311-3D9A-47DD-BE57-8B2EE9743E9C}"/>
              </a:ext>
            </a:extLst>
          </p:cNvPr>
          <p:cNvSpPr txBox="1">
            <a:spLocks noChangeArrowheads="1"/>
          </p:cNvSpPr>
          <p:nvPr/>
        </p:nvSpPr>
        <p:spPr bwMode="auto">
          <a:xfrm>
            <a:off x="140445" y="184759"/>
            <a:ext cx="8015288"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C00000"/>
                </a:solidFill>
                <a:latin typeface="微软雅黑" panose="020B0503020204020204" pitchFamily="34" charset="-122"/>
                <a:ea typeface="微软雅黑" panose="020B0503020204020204" pitchFamily="34" charset="-122"/>
              </a:rPr>
              <a:t>3.4  </a:t>
            </a:r>
            <a:r>
              <a:rPr kumimoji="1" lang="zh-CN" altLang="en-US" sz="2800" b="1" dirty="0">
                <a:solidFill>
                  <a:srgbClr val="C00000"/>
                </a:solidFill>
                <a:latin typeface="微软雅黑" panose="020B0503020204020204" pitchFamily="34" charset="-122"/>
                <a:ea typeface="微软雅黑" panose="020B0503020204020204" pitchFamily="34" charset="-122"/>
              </a:rPr>
              <a:t>调频测量电路</a:t>
            </a:r>
          </a:p>
        </p:txBody>
      </p:sp>
      <p:graphicFrame>
        <p:nvGraphicFramePr>
          <p:cNvPr id="56326" name="Object 4">
            <a:extLst>
              <a:ext uri="{FF2B5EF4-FFF2-40B4-BE49-F238E27FC236}">
                <a16:creationId xmlns:a16="http://schemas.microsoft.com/office/drawing/2014/main" id="{6270290E-D080-49A1-A3B4-683921134B9A}"/>
              </a:ext>
            </a:extLst>
          </p:cNvPr>
          <p:cNvGraphicFramePr>
            <a:graphicFrameLocks noChangeAspect="1"/>
          </p:cNvGraphicFramePr>
          <p:nvPr>
            <p:extLst>
              <p:ext uri="{D42A27DB-BD31-4B8C-83A1-F6EECF244321}">
                <p14:modId xmlns:p14="http://schemas.microsoft.com/office/powerpoint/2010/main" val="1744862431"/>
              </p:ext>
            </p:extLst>
          </p:nvPr>
        </p:nvGraphicFramePr>
        <p:xfrm>
          <a:off x="6973143" y="2883992"/>
          <a:ext cx="1676400" cy="852487"/>
        </p:xfrm>
        <a:graphic>
          <a:graphicData uri="http://schemas.openxmlformats.org/presentationml/2006/ole">
            <mc:AlternateContent xmlns:mc="http://schemas.openxmlformats.org/markup-compatibility/2006">
              <mc:Choice xmlns:v="urn:schemas-microsoft-com:vml" Requires="v">
                <p:oleObj spid="_x0000_s99380" name="Equation" r:id="rId3" imgW="825500" imgH="419100" progId="Equation.3">
                  <p:embed/>
                </p:oleObj>
              </mc:Choice>
              <mc:Fallback>
                <p:oleObj name="Equation" r:id="rId3" imgW="825500" imgH="419100" progId="Equation.3">
                  <p:embed/>
                  <p:pic>
                    <p:nvPicPr>
                      <p:cNvPr id="56326" name="Object 4">
                        <a:extLst>
                          <a:ext uri="{FF2B5EF4-FFF2-40B4-BE49-F238E27FC236}">
                            <a16:creationId xmlns:a16="http://schemas.microsoft.com/office/drawing/2014/main" id="{6270290E-D080-49A1-A3B4-683921134B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3143" y="2883992"/>
                        <a:ext cx="1676400" cy="852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27" name="Text Box 3">
            <a:extLst>
              <a:ext uri="{FF2B5EF4-FFF2-40B4-BE49-F238E27FC236}">
                <a16:creationId xmlns:a16="http://schemas.microsoft.com/office/drawing/2014/main" id="{28392192-ED17-4EEF-9438-E14C9DD3824F}"/>
              </a:ext>
            </a:extLst>
          </p:cNvPr>
          <p:cNvSpPr txBox="1">
            <a:spLocks noChangeArrowheads="1"/>
          </p:cNvSpPr>
          <p:nvPr/>
        </p:nvSpPr>
        <p:spPr bwMode="auto">
          <a:xfrm>
            <a:off x="443086" y="3951287"/>
            <a:ext cx="8206457" cy="1884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50000"/>
              </a:lnSpc>
              <a:spcBef>
                <a:spcPct val="0"/>
              </a:spcBef>
              <a:buFontTx/>
              <a:buNone/>
            </a:pPr>
            <a:endParaRPr kumimoji="1" lang="en-US" altLang="zh-CN" sz="2000" b="1" dirty="0">
              <a:latin typeface="微软雅黑" panose="020B0503020204020204" pitchFamily="34" charset="-122"/>
              <a:ea typeface="微软雅黑" panose="020B0503020204020204" pitchFamily="34" charset="-122"/>
            </a:endParaRPr>
          </a:p>
          <a:p>
            <a:pPr algn="just" eaLnBrk="1" hangingPunct="1">
              <a:lnSpc>
                <a:spcPct val="150000"/>
              </a:lnSpc>
              <a:spcBef>
                <a:spcPct val="0"/>
              </a:spcBef>
              <a:buFontTx/>
              <a:buNone/>
            </a:pPr>
            <a:r>
              <a:rPr kumimoji="1" lang="zh-CN" altLang="en-US" sz="2000" b="1" dirty="0">
                <a:latin typeface="微软雅黑" panose="020B0503020204020204" pitchFamily="34" charset="-122"/>
                <a:ea typeface="微软雅黑" panose="020B0503020204020204" pitchFamily="34" charset="-122"/>
              </a:rPr>
              <a:t>☆</a:t>
            </a:r>
            <a:r>
              <a:rPr kumimoji="1" lang="zh-CN" altLang="en-US" sz="2000" b="1" dirty="0">
                <a:solidFill>
                  <a:schemeClr val="tx2"/>
                </a:solidFill>
                <a:latin typeface="微软雅黑" panose="020B0503020204020204" pitchFamily="34" charset="-122"/>
                <a:ea typeface="微软雅黑" panose="020B0503020204020204" pitchFamily="34" charset="-122"/>
              </a:rPr>
              <a:t>特点：</a:t>
            </a:r>
            <a:r>
              <a:rPr kumimoji="1" lang="zh-CN" altLang="en-US" sz="2000" b="1" dirty="0">
                <a:latin typeface="微软雅黑" panose="020B0503020204020204" pitchFamily="34" charset="-122"/>
                <a:ea typeface="微软雅黑" panose="020B0503020204020204" pitchFamily="34" charset="-122"/>
              </a:rPr>
              <a:t>调频电容传感器测量电路</a:t>
            </a:r>
            <a:r>
              <a:rPr kumimoji="1" lang="zh-CN" altLang="en-US" sz="2000" b="1" dirty="0">
                <a:solidFill>
                  <a:srgbClr val="0000FF"/>
                </a:solidFill>
                <a:latin typeface="微软雅黑" panose="020B0503020204020204" pitchFamily="34" charset="-122"/>
                <a:ea typeface="微软雅黑" panose="020B0503020204020204" pitchFamily="34" charset="-122"/>
              </a:rPr>
              <a:t>具有较高的灵敏度</a:t>
            </a:r>
            <a:r>
              <a:rPr kumimoji="1" lang="zh-CN" altLang="en-US" sz="2000" b="1" dirty="0">
                <a:latin typeface="微软雅黑" panose="020B0503020204020204" pitchFamily="34" charset="-122"/>
                <a:ea typeface="微软雅黑" panose="020B0503020204020204" pitchFamily="34" charset="-122"/>
              </a:rPr>
              <a:t>， 可以</a:t>
            </a:r>
            <a:r>
              <a:rPr kumimoji="1" lang="zh-CN" altLang="en-US" sz="2000" b="1" dirty="0">
                <a:solidFill>
                  <a:srgbClr val="0000FF"/>
                </a:solidFill>
                <a:latin typeface="微软雅黑" panose="020B0503020204020204" pitchFamily="34" charset="-122"/>
                <a:ea typeface="微软雅黑" panose="020B0503020204020204" pitchFamily="34" charset="-122"/>
              </a:rPr>
              <a:t>测量高至</a:t>
            </a:r>
            <a:r>
              <a:rPr kumimoji="1" lang="en-US" altLang="zh-CN" sz="2000" b="1" dirty="0">
                <a:solidFill>
                  <a:srgbClr val="0000FF"/>
                </a:solidFill>
                <a:latin typeface="微软雅黑" panose="020B0503020204020204" pitchFamily="34" charset="-122"/>
                <a:ea typeface="微软雅黑" panose="020B0503020204020204" pitchFamily="34" charset="-122"/>
              </a:rPr>
              <a:t>0.01μm</a:t>
            </a:r>
            <a:r>
              <a:rPr kumimoji="1" lang="zh-CN" altLang="en-US" sz="2000" b="1" dirty="0">
                <a:solidFill>
                  <a:srgbClr val="0000FF"/>
                </a:solidFill>
                <a:latin typeface="微软雅黑" panose="020B0503020204020204" pitchFamily="34" charset="-122"/>
                <a:ea typeface="微软雅黑" panose="020B0503020204020204" pitchFamily="34" charset="-122"/>
              </a:rPr>
              <a:t>级位移变化量</a:t>
            </a:r>
            <a:r>
              <a:rPr kumimoji="1" lang="zh-CN" altLang="en-US" sz="2000" b="1" dirty="0">
                <a:latin typeface="微软雅黑" panose="020B0503020204020204" pitchFamily="34" charset="-122"/>
                <a:ea typeface="微软雅黑" panose="020B0503020204020204" pitchFamily="34" charset="-122"/>
              </a:rPr>
              <a:t>。信号的</a:t>
            </a:r>
            <a:r>
              <a:rPr kumimoji="1" lang="zh-CN" altLang="en-US" sz="2000" b="1" dirty="0">
                <a:highlight>
                  <a:srgbClr val="FFFF00"/>
                </a:highlight>
                <a:latin typeface="微软雅黑" panose="020B0503020204020204" pitchFamily="34" charset="-122"/>
                <a:ea typeface="微软雅黑" panose="020B0503020204020204" pitchFamily="34" charset="-122"/>
              </a:rPr>
              <a:t>输出频率易于用数字仪器测量， 并与计算机通讯，抗干扰能力强， 可以发送、 接收， 以达到遥测遥控的目的</a:t>
            </a:r>
            <a:r>
              <a:rPr kumimoji="1" lang="zh-CN" altLang="en-US" sz="2000" b="1" dirty="0">
                <a:latin typeface="微软雅黑" panose="020B0503020204020204" pitchFamily="34" charset="-122"/>
                <a:ea typeface="微软雅黑" panose="020B0503020204020204" pitchFamily="34" charset="-122"/>
              </a:rPr>
              <a:t>。</a:t>
            </a:r>
          </a:p>
        </p:txBody>
      </p:sp>
      <p:sp>
        <p:nvSpPr>
          <p:cNvPr id="2" name="矩形 1">
            <a:extLst>
              <a:ext uri="{FF2B5EF4-FFF2-40B4-BE49-F238E27FC236}">
                <a16:creationId xmlns:a16="http://schemas.microsoft.com/office/drawing/2014/main" id="{25DB3868-1C66-4D0C-942C-CF4247647476}"/>
              </a:ext>
            </a:extLst>
          </p:cNvPr>
          <p:cNvSpPr/>
          <p:nvPr/>
        </p:nvSpPr>
        <p:spPr>
          <a:xfrm>
            <a:off x="443086" y="1334655"/>
            <a:ext cx="8377386" cy="961289"/>
          </a:xfrm>
          <a:prstGeom prst="rect">
            <a:avLst/>
          </a:prstGeom>
        </p:spPr>
        <p:txBody>
          <a:bodyPr wrap="square">
            <a:spAutoFit/>
          </a:bodyPr>
          <a:lstStyle/>
          <a:p>
            <a:pPr algn="just" eaLnBrk="1" hangingPunct="1">
              <a:lnSpc>
                <a:spcPct val="150000"/>
              </a:lnSpc>
            </a:pPr>
            <a:r>
              <a:rPr kumimoji="1" lang="zh-CN" altLang="en-US" sz="2000" b="1" dirty="0">
                <a:solidFill>
                  <a:schemeClr val="tx2"/>
                </a:solidFill>
                <a:latin typeface="微软雅黑" panose="020B0503020204020204" pitchFamily="34" charset="-122"/>
                <a:ea typeface="微软雅黑" panose="020B0503020204020204" pitchFamily="34" charset="-122"/>
              </a:rPr>
              <a:t>☆原理：</a:t>
            </a:r>
            <a:r>
              <a:rPr kumimoji="1" lang="zh-CN" altLang="en-US" sz="2000" b="1" dirty="0">
                <a:latin typeface="微软雅黑" panose="020B0503020204020204" pitchFamily="34" charset="-122"/>
                <a:ea typeface="微软雅黑" panose="020B0503020204020204" pitchFamily="34" charset="-122"/>
              </a:rPr>
              <a:t>把电容式传感器作为振荡器谐振回路的一部分</a:t>
            </a:r>
            <a:r>
              <a:rPr kumimoji="1" lang="en-US" altLang="zh-CN" sz="2000" b="1" dirty="0">
                <a:latin typeface="微软雅黑" panose="020B0503020204020204" pitchFamily="34" charset="-122"/>
                <a:ea typeface="微软雅黑" panose="020B0503020204020204" pitchFamily="34" charset="-122"/>
              </a:rPr>
              <a:t>, </a:t>
            </a:r>
            <a:r>
              <a:rPr kumimoji="1" lang="zh-CN" altLang="en-US" sz="2000" b="1" dirty="0">
                <a:latin typeface="微软雅黑" panose="020B0503020204020204" pitchFamily="34" charset="-122"/>
                <a:ea typeface="微软雅黑" panose="020B0503020204020204" pitchFamily="34" charset="-122"/>
              </a:rPr>
              <a:t>当输入量导致电容量发生变化时，振荡器的振荡频率就发生变化。</a:t>
            </a:r>
            <a:endParaRPr kumimoji="1" lang="en-US" altLang="zh-CN" sz="2000" b="1"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B372A074-BFCB-4D60-9009-9DB5AAF473B6}"/>
              </a:ext>
            </a:extLst>
          </p:cNvPr>
          <p:cNvPicPr>
            <a:picLocks noChangeAspect="1"/>
          </p:cNvPicPr>
          <p:nvPr/>
        </p:nvPicPr>
        <p:blipFill>
          <a:blip r:embed="rId5"/>
          <a:stretch>
            <a:fillRect/>
          </a:stretch>
        </p:blipFill>
        <p:spPr>
          <a:xfrm>
            <a:off x="1043608" y="2766999"/>
            <a:ext cx="5220169" cy="1421000"/>
          </a:xfrm>
          <a:prstGeom prst="rect">
            <a:avLst/>
          </a:prstGeom>
        </p:spPr>
      </p:pic>
    </p:spTree>
    <p:extLst>
      <p:ext uri="{BB962C8B-B14F-4D97-AF65-F5344CB8AC3E}">
        <p14:creationId xmlns:p14="http://schemas.microsoft.com/office/powerpoint/2010/main" val="20419040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a:extLst>
              <a:ext uri="{FF2B5EF4-FFF2-40B4-BE49-F238E27FC236}">
                <a16:creationId xmlns:a16="http://schemas.microsoft.com/office/drawing/2014/main" id="{7A3447B6-6845-4D22-8093-AA0434B4AE75}"/>
              </a:ext>
            </a:extLst>
          </p:cNvPr>
          <p:cNvSpPr txBox="1">
            <a:spLocks noChangeArrowheads="1"/>
          </p:cNvSpPr>
          <p:nvPr/>
        </p:nvSpPr>
        <p:spPr bwMode="auto">
          <a:xfrm>
            <a:off x="886943" y="4725144"/>
            <a:ext cx="7796213" cy="1439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8000"/>
              </a:lnSpc>
              <a:spcBef>
                <a:spcPct val="50000"/>
              </a:spcBef>
              <a:buFontTx/>
              <a:buNone/>
            </a:pPr>
            <a:r>
              <a:rPr kumimoji="1" lang="zh-CN" altLang="en-US" sz="2200" b="1" dirty="0">
                <a:latin typeface="Times New Roman" panose="02020603050405020304" pitchFamily="18" charset="0"/>
              </a:rPr>
              <a:t>式中：</a:t>
            </a:r>
            <a:r>
              <a:rPr kumimoji="1" lang="zh-CN" altLang="en-US" sz="2200" b="1" i="1" dirty="0">
                <a:latin typeface="Times New Roman" panose="02020603050405020304" pitchFamily="18" charset="0"/>
              </a:rPr>
              <a:t> </a:t>
            </a:r>
            <a:r>
              <a:rPr kumimoji="1" lang="en-US" altLang="zh-CN" sz="2200" b="1" i="1" dirty="0">
                <a:latin typeface="Times New Roman" panose="02020603050405020304" pitchFamily="18" charset="0"/>
              </a:rPr>
              <a:t>C</a:t>
            </a:r>
            <a:r>
              <a:rPr kumimoji="1" lang="en-US" altLang="zh-CN" sz="2200" b="1" dirty="0">
                <a:latin typeface="Courier New" panose="02070309020205020404" pitchFamily="49" charset="0"/>
              </a:rPr>
              <a:t>——</a:t>
            </a:r>
            <a:r>
              <a:rPr kumimoji="1" lang="zh-CN" altLang="en-US" sz="2200" b="1" dirty="0">
                <a:latin typeface="Times New Roman" panose="02020603050405020304" pitchFamily="18" charset="0"/>
              </a:rPr>
              <a:t>振荡回路的总电容，</a:t>
            </a:r>
            <a:r>
              <a:rPr kumimoji="1" lang="en-US" altLang="zh-CN" sz="2200" b="1" i="1" dirty="0">
                <a:latin typeface="Times New Roman" panose="02020603050405020304" pitchFamily="18" charset="0"/>
              </a:rPr>
              <a:t>C=C</a:t>
            </a:r>
            <a:r>
              <a:rPr kumimoji="1" lang="en-US" altLang="zh-CN" sz="2200" b="1" baseline="-25000" dirty="0">
                <a:latin typeface="Times New Roman" panose="02020603050405020304" pitchFamily="18" charset="0"/>
              </a:rPr>
              <a:t>1</a:t>
            </a:r>
            <a:r>
              <a:rPr kumimoji="1" lang="en-US" altLang="zh-CN" sz="2200" b="1" dirty="0">
                <a:latin typeface="Times New Roman" panose="02020603050405020304" pitchFamily="18" charset="0"/>
              </a:rPr>
              <a:t>+</a:t>
            </a:r>
            <a:r>
              <a:rPr kumimoji="1" lang="en-US" altLang="zh-CN" sz="2200" b="1" i="1" dirty="0">
                <a:latin typeface="Times New Roman" panose="02020603050405020304" pitchFamily="18" charset="0"/>
              </a:rPr>
              <a:t>C</a:t>
            </a:r>
            <a:r>
              <a:rPr kumimoji="1" lang="en-US" altLang="zh-CN" sz="2200" b="1" baseline="-25000" dirty="0">
                <a:latin typeface="Times New Roman" panose="02020603050405020304" pitchFamily="18" charset="0"/>
              </a:rPr>
              <a:t>2</a:t>
            </a:r>
            <a:r>
              <a:rPr kumimoji="1" lang="en-US" altLang="zh-CN" sz="2200" b="1" dirty="0">
                <a:latin typeface="Times New Roman" panose="02020603050405020304" pitchFamily="18" charset="0"/>
              </a:rPr>
              <a:t>+</a:t>
            </a:r>
            <a:r>
              <a:rPr kumimoji="1" lang="en-US" altLang="zh-CN" sz="2200" b="1" i="1" dirty="0">
                <a:latin typeface="Times New Roman" panose="02020603050405020304" pitchFamily="18" charset="0"/>
              </a:rPr>
              <a:t>C</a:t>
            </a:r>
            <a:r>
              <a:rPr kumimoji="1" lang="en-US" altLang="zh-CN" sz="2200" b="1" baseline="-25000" dirty="0">
                <a:latin typeface="Times New Roman" panose="02020603050405020304" pitchFamily="18" charset="0"/>
              </a:rPr>
              <a:t>x</a:t>
            </a:r>
            <a:r>
              <a:rPr kumimoji="1" lang="zh-CN" altLang="en-US" sz="2200" b="1" dirty="0">
                <a:latin typeface="Times New Roman" panose="02020603050405020304" pitchFamily="18" charset="0"/>
              </a:rPr>
              <a:t>，其中</a:t>
            </a:r>
            <a:r>
              <a:rPr kumimoji="1" lang="en-US" altLang="zh-CN" sz="2200" b="1" i="1" dirty="0">
                <a:latin typeface="Times New Roman" panose="02020603050405020304" pitchFamily="18" charset="0"/>
              </a:rPr>
              <a:t>C</a:t>
            </a:r>
            <a:r>
              <a:rPr kumimoji="1" lang="en-US" altLang="zh-CN" sz="2200" b="1" baseline="-25000" dirty="0">
                <a:latin typeface="Times New Roman" panose="02020603050405020304" pitchFamily="18" charset="0"/>
              </a:rPr>
              <a:t>1</a:t>
            </a:r>
            <a:r>
              <a:rPr kumimoji="1" lang="zh-CN" altLang="en-US" sz="2200" b="1" dirty="0">
                <a:latin typeface="Times New Roman" panose="02020603050405020304" pitchFamily="18" charset="0"/>
              </a:rPr>
              <a:t>为振荡回路固有电容</a:t>
            </a:r>
            <a:r>
              <a:rPr kumimoji="1" lang="en-US" altLang="zh-CN" sz="2200" b="1" dirty="0">
                <a:latin typeface="Times New Roman" panose="02020603050405020304" pitchFamily="18" charset="0"/>
              </a:rPr>
              <a:t>, </a:t>
            </a:r>
            <a:r>
              <a:rPr kumimoji="1" lang="en-US" altLang="zh-CN" sz="2200" b="1" i="1" dirty="0">
                <a:latin typeface="Times New Roman" panose="02020603050405020304" pitchFamily="18" charset="0"/>
              </a:rPr>
              <a:t>C</a:t>
            </a:r>
            <a:r>
              <a:rPr kumimoji="1" lang="en-US" altLang="zh-CN" sz="2200" b="1" baseline="-25000" dirty="0">
                <a:latin typeface="Times New Roman" panose="02020603050405020304" pitchFamily="18" charset="0"/>
              </a:rPr>
              <a:t>2</a:t>
            </a:r>
            <a:r>
              <a:rPr kumimoji="1" lang="zh-CN" altLang="en-US" sz="2200" b="1" dirty="0">
                <a:latin typeface="Times New Roman" panose="02020603050405020304" pitchFamily="18" charset="0"/>
              </a:rPr>
              <a:t>为传感器引线分布电容</a:t>
            </a:r>
            <a:r>
              <a:rPr kumimoji="1" lang="en-US" altLang="zh-CN" sz="2200" b="1" dirty="0">
                <a:latin typeface="Times New Roman" panose="02020603050405020304" pitchFamily="18" charset="0"/>
              </a:rPr>
              <a:t>, </a:t>
            </a:r>
            <a:r>
              <a:rPr kumimoji="1" lang="en-US" altLang="zh-CN" sz="2200" b="1" i="1" dirty="0" err="1">
                <a:latin typeface="Times New Roman" panose="02020603050405020304" pitchFamily="18" charset="0"/>
              </a:rPr>
              <a:t>C</a:t>
            </a:r>
            <a:r>
              <a:rPr kumimoji="1" lang="en-US" altLang="zh-CN" sz="2200" b="1" baseline="-25000" dirty="0" err="1">
                <a:latin typeface="Times New Roman" panose="02020603050405020304" pitchFamily="18" charset="0"/>
              </a:rPr>
              <a:t>x</a:t>
            </a:r>
            <a:r>
              <a:rPr kumimoji="1" lang="en-US" altLang="zh-CN" sz="2200" b="1" dirty="0">
                <a:latin typeface="Times New Roman" panose="02020603050405020304" pitchFamily="18" charset="0"/>
              </a:rPr>
              <a:t>=</a:t>
            </a:r>
            <a:r>
              <a:rPr kumimoji="1" lang="en-US" altLang="zh-CN" sz="2200" b="1" i="1" dirty="0">
                <a:latin typeface="Times New Roman" panose="02020603050405020304" pitchFamily="18" charset="0"/>
              </a:rPr>
              <a:t>C</a:t>
            </a:r>
            <a:r>
              <a:rPr kumimoji="1" lang="en-US" altLang="zh-CN" sz="2200" b="1" baseline="-25000" dirty="0">
                <a:latin typeface="Times New Roman" panose="02020603050405020304" pitchFamily="18" charset="0"/>
              </a:rPr>
              <a:t>0</a:t>
            </a:r>
            <a:r>
              <a:rPr kumimoji="1" lang="en-US" altLang="zh-CN" sz="2200" b="1" dirty="0">
                <a:latin typeface="Times New Roman" panose="02020603050405020304" pitchFamily="18" charset="0"/>
              </a:rPr>
              <a:t>±Δ</a:t>
            </a:r>
            <a:r>
              <a:rPr kumimoji="1" lang="en-US" altLang="zh-CN" sz="2200" b="1" i="1" dirty="0">
                <a:latin typeface="Times New Roman" panose="02020603050405020304" pitchFamily="18" charset="0"/>
              </a:rPr>
              <a:t>C</a:t>
            </a:r>
            <a:r>
              <a:rPr kumimoji="1" lang="zh-CN" altLang="en-US" sz="2200" b="1" dirty="0">
                <a:latin typeface="Times New Roman" panose="02020603050405020304" pitchFamily="18" charset="0"/>
              </a:rPr>
              <a:t>为传感器的电容。 </a:t>
            </a:r>
          </a:p>
        </p:txBody>
      </p:sp>
      <p:sp>
        <p:nvSpPr>
          <p:cNvPr id="52229" name="灯片编号占位符 1">
            <a:extLst>
              <a:ext uri="{FF2B5EF4-FFF2-40B4-BE49-F238E27FC236}">
                <a16:creationId xmlns:a16="http://schemas.microsoft.com/office/drawing/2014/main" id="{F2FB5077-A8B1-48F3-B501-A753F7222F8D}"/>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fld id="{425F9FF3-8D7C-4243-94BC-D30F266B54F0}" type="slidenum">
              <a:rPr lang="en-US" altLang="zh-CN" sz="1400" smtClean="0"/>
              <a:pPr>
                <a:spcBef>
                  <a:spcPct val="0"/>
                </a:spcBef>
                <a:buFontTx/>
                <a:buNone/>
              </a:pPr>
              <a:t>31</a:t>
            </a:fld>
            <a:endParaRPr lang="en-US" altLang="zh-CN" sz="1400"/>
          </a:p>
        </p:txBody>
      </p:sp>
      <p:sp>
        <p:nvSpPr>
          <p:cNvPr id="52230" name="页脚占位符 2">
            <a:extLst>
              <a:ext uri="{FF2B5EF4-FFF2-40B4-BE49-F238E27FC236}">
                <a16:creationId xmlns:a16="http://schemas.microsoft.com/office/drawing/2014/main" id="{780AFF16-6A83-4FDD-AE7E-C6AFC1B50A22}"/>
              </a:ext>
            </a:extLst>
          </p:cNvPr>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400"/>
              <a:t>自动化学院测量科学与仪器系</a:t>
            </a:r>
            <a:endParaRPr lang="en-US" altLang="zh-CN" sz="1400"/>
          </a:p>
        </p:txBody>
      </p:sp>
      <p:sp>
        <p:nvSpPr>
          <p:cNvPr id="7" name="矩形 6">
            <a:extLst>
              <a:ext uri="{FF2B5EF4-FFF2-40B4-BE49-F238E27FC236}">
                <a16:creationId xmlns:a16="http://schemas.microsoft.com/office/drawing/2014/main" id="{87DD5CEB-3987-4623-B047-D6472F9EE912}"/>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a:p>
        </p:txBody>
      </p:sp>
      <p:sp>
        <p:nvSpPr>
          <p:cNvPr id="8" name="Text Box 2">
            <a:extLst>
              <a:ext uri="{FF2B5EF4-FFF2-40B4-BE49-F238E27FC236}">
                <a16:creationId xmlns:a16="http://schemas.microsoft.com/office/drawing/2014/main" id="{C285338E-289F-4D4F-8C8F-28D902A5F620}"/>
              </a:ext>
            </a:extLst>
          </p:cNvPr>
          <p:cNvSpPr txBox="1">
            <a:spLocks noChangeArrowheads="1"/>
          </p:cNvSpPr>
          <p:nvPr/>
        </p:nvSpPr>
        <p:spPr bwMode="auto">
          <a:xfrm>
            <a:off x="140445" y="184759"/>
            <a:ext cx="8015288"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C00000"/>
                </a:solidFill>
                <a:latin typeface="微软雅黑" panose="020B0503020204020204" pitchFamily="34" charset="-122"/>
                <a:ea typeface="微软雅黑" panose="020B0503020204020204" pitchFamily="34" charset="-122"/>
              </a:rPr>
              <a:t>3.4  </a:t>
            </a:r>
            <a:r>
              <a:rPr kumimoji="1" lang="zh-CN" altLang="en-US" sz="2800" b="1" dirty="0">
                <a:solidFill>
                  <a:srgbClr val="C00000"/>
                </a:solidFill>
                <a:latin typeface="微软雅黑" panose="020B0503020204020204" pitchFamily="34" charset="-122"/>
                <a:ea typeface="微软雅黑" panose="020B0503020204020204" pitchFamily="34" charset="-122"/>
              </a:rPr>
              <a:t>调频测量电路</a:t>
            </a:r>
          </a:p>
        </p:txBody>
      </p:sp>
      <p:graphicFrame>
        <p:nvGraphicFramePr>
          <p:cNvPr id="9" name="Object 3">
            <a:extLst>
              <a:ext uri="{FF2B5EF4-FFF2-40B4-BE49-F238E27FC236}">
                <a16:creationId xmlns:a16="http://schemas.microsoft.com/office/drawing/2014/main" id="{00998A86-A0B4-493E-B950-C49B21527F26}"/>
              </a:ext>
            </a:extLst>
          </p:cNvPr>
          <p:cNvGraphicFramePr>
            <a:graphicFrameLocks noChangeAspect="1"/>
          </p:cNvGraphicFramePr>
          <p:nvPr>
            <p:extLst>
              <p:ext uri="{D42A27DB-BD31-4B8C-83A1-F6EECF244321}">
                <p14:modId xmlns:p14="http://schemas.microsoft.com/office/powerpoint/2010/main" val="478539735"/>
              </p:ext>
            </p:extLst>
          </p:nvPr>
        </p:nvGraphicFramePr>
        <p:xfrm>
          <a:off x="1765300" y="3347443"/>
          <a:ext cx="3581400" cy="993775"/>
        </p:xfrm>
        <a:graphic>
          <a:graphicData uri="http://schemas.openxmlformats.org/presentationml/2006/ole">
            <mc:AlternateContent xmlns:mc="http://schemas.openxmlformats.org/markup-compatibility/2006">
              <mc:Choice xmlns:v="urn:schemas-microsoft-com:vml" Requires="v">
                <p:oleObj spid="_x0000_s100404" name="Equation" r:id="rId3" imgW="1600200" imgH="444500" progId="Equation.3">
                  <p:embed/>
                </p:oleObj>
              </mc:Choice>
              <mc:Fallback>
                <p:oleObj name="Equation" r:id="rId3" imgW="1600200" imgH="444500" progId="Equation.3">
                  <p:embed/>
                  <p:pic>
                    <p:nvPicPr>
                      <p:cNvPr id="53251" name="Object 3">
                        <a:extLst>
                          <a:ext uri="{FF2B5EF4-FFF2-40B4-BE49-F238E27FC236}">
                            <a16:creationId xmlns:a16="http://schemas.microsoft.com/office/drawing/2014/main" id="{7EDB36CA-4FF5-424C-9497-3563791B6E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5300" y="3347443"/>
                        <a:ext cx="3581400" cy="99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2" name="图片 11">
            <a:extLst>
              <a:ext uri="{FF2B5EF4-FFF2-40B4-BE49-F238E27FC236}">
                <a16:creationId xmlns:a16="http://schemas.microsoft.com/office/drawing/2014/main" id="{569997DA-8755-4710-B334-1CA5DB620C14}"/>
              </a:ext>
            </a:extLst>
          </p:cNvPr>
          <p:cNvPicPr>
            <a:picLocks noChangeAspect="1"/>
          </p:cNvPicPr>
          <p:nvPr/>
        </p:nvPicPr>
        <p:blipFill>
          <a:blip r:embed="rId5"/>
          <a:stretch>
            <a:fillRect/>
          </a:stretch>
        </p:blipFill>
        <p:spPr>
          <a:xfrm>
            <a:off x="1547664" y="1656959"/>
            <a:ext cx="5679526" cy="1546043"/>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3" name="Text Box 5">
            <a:extLst>
              <a:ext uri="{FF2B5EF4-FFF2-40B4-BE49-F238E27FC236}">
                <a16:creationId xmlns:a16="http://schemas.microsoft.com/office/drawing/2014/main" id="{5C6DADC7-2252-4366-B497-E817BC3728BF}"/>
              </a:ext>
            </a:extLst>
          </p:cNvPr>
          <p:cNvSpPr txBox="1">
            <a:spLocks noChangeArrowheads="1"/>
          </p:cNvSpPr>
          <p:nvPr/>
        </p:nvSpPr>
        <p:spPr bwMode="auto">
          <a:xfrm>
            <a:off x="304800" y="3738563"/>
            <a:ext cx="85344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zh-CN" altLang="en-US" sz="2200" b="1" dirty="0">
                <a:latin typeface="Times New Roman" panose="02020603050405020304" pitchFamily="18" charset="0"/>
              </a:rPr>
              <a:t>当被测信号不为</a:t>
            </a:r>
            <a:r>
              <a:rPr kumimoji="1" lang="en-US" altLang="zh-CN" sz="2200" b="1" dirty="0">
                <a:latin typeface="Times New Roman" panose="02020603050405020304" pitchFamily="18" charset="0"/>
              </a:rPr>
              <a:t>0</a:t>
            </a:r>
            <a:r>
              <a:rPr kumimoji="1" lang="zh-CN" altLang="en-US" sz="2200" b="1" dirty="0">
                <a:latin typeface="Times New Roman" panose="02020603050405020304" pitchFamily="18" charset="0"/>
              </a:rPr>
              <a:t>时，</a:t>
            </a:r>
            <a:r>
              <a:rPr kumimoji="1" lang="en-US" altLang="zh-CN" sz="2200" b="1" dirty="0">
                <a:latin typeface="Times New Roman" panose="02020603050405020304" pitchFamily="18" charset="0"/>
              </a:rPr>
              <a:t>Δ</a:t>
            </a:r>
            <a:r>
              <a:rPr kumimoji="1" lang="en-US" altLang="zh-CN" sz="2200" b="1" i="1" dirty="0">
                <a:latin typeface="Times New Roman" panose="02020603050405020304" pitchFamily="18" charset="0"/>
              </a:rPr>
              <a:t>C</a:t>
            </a:r>
            <a:r>
              <a:rPr kumimoji="1" lang="en-US" altLang="zh-CN" sz="2200" b="1" dirty="0">
                <a:latin typeface="Times New Roman" panose="02020603050405020304" pitchFamily="18" charset="0"/>
              </a:rPr>
              <a:t>≠0</a:t>
            </a:r>
            <a:r>
              <a:rPr kumimoji="1" lang="zh-CN" altLang="en-US" sz="2200" b="1" dirty="0">
                <a:latin typeface="Times New Roman" panose="02020603050405020304" pitchFamily="18" charset="0"/>
              </a:rPr>
              <a:t>， 振荡器频率有相应变化， 此时频率为 </a:t>
            </a:r>
          </a:p>
        </p:txBody>
      </p:sp>
      <p:graphicFrame>
        <p:nvGraphicFramePr>
          <p:cNvPr id="53254" name="Object 6">
            <a:extLst>
              <a:ext uri="{FF2B5EF4-FFF2-40B4-BE49-F238E27FC236}">
                <a16:creationId xmlns:a16="http://schemas.microsoft.com/office/drawing/2014/main" id="{1907A0A5-3E0C-4521-BBB1-6DBEEFF8AFC4}"/>
              </a:ext>
            </a:extLst>
          </p:cNvPr>
          <p:cNvGraphicFramePr>
            <a:graphicFrameLocks noChangeAspect="1"/>
          </p:cNvGraphicFramePr>
          <p:nvPr>
            <p:extLst>
              <p:ext uri="{D42A27DB-BD31-4B8C-83A1-F6EECF244321}">
                <p14:modId xmlns:p14="http://schemas.microsoft.com/office/powerpoint/2010/main" val="699356880"/>
              </p:ext>
            </p:extLst>
          </p:nvPr>
        </p:nvGraphicFramePr>
        <p:xfrm>
          <a:off x="1743868" y="4279291"/>
          <a:ext cx="5656263" cy="993775"/>
        </p:xfrm>
        <a:graphic>
          <a:graphicData uri="http://schemas.openxmlformats.org/presentationml/2006/ole">
            <mc:AlternateContent xmlns:mc="http://schemas.openxmlformats.org/markup-compatibility/2006">
              <mc:Choice xmlns:v="urn:schemas-microsoft-com:vml" Requires="v">
                <p:oleObj spid="_x0000_s101428" name="Equation" r:id="rId3" imgW="2527300" imgH="444500" progId="Equation.3">
                  <p:embed/>
                </p:oleObj>
              </mc:Choice>
              <mc:Fallback>
                <p:oleObj name="Equation" r:id="rId3" imgW="2527300" imgH="444500" progId="Equation.3">
                  <p:embed/>
                  <p:pic>
                    <p:nvPicPr>
                      <p:cNvPr id="53254" name="Object 6">
                        <a:extLst>
                          <a:ext uri="{FF2B5EF4-FFF2-40B4-BE49-F238E27FC236}">
                            <a16:creationId xmlns:a16="http://schemas.microsoft.com/office/drawing/2014/main" id="{1907A0A5-3E0C-4521-BBB1-6DBEEFF8AF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3868" y="4279291"/>
                        <a:ext cx="5656263" cy="99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56" name="灯片编号占位符 1">
            <a:extLst>
              <a:ext uri="{FF2B5EF4-FFF2-40B4-BE49-F238E27FC236}">
                <a16:creationId xmlns:a16="http://schemas.microsoft.com/office/drawing/2014/main" id="{C799C104-A6C8-4AB9-8A0D-C6D4BCED1CDB}"/>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fld id="{F2E0B1D8-AE11-49BA-8CBF-5E5751D1FB36}" type="slidenum">
              <a:rPr lang="en-US" altLang="zh-CN" sz="1400" smtClean="0"/>
              <a:pPr>
                <a:spcBef>
                  <a:spcPct val="0"/>
                </a:spcBef>
                <a:buFontTx/>
                <a:buNone/>
              </a:pPr>
              <a:t>32</a:t>
            </a:fld>
            <a:endParaRPr lang="en-US" altLang="zh-CN" sz="1400"/>
          </a:p>
        </p:txBody>
      </p:sp>
      <p:sp>
        <p:nvSpPr>
          <p:cNvPr id="53257" name="页脚占位符 2">
            <a:extLst>
              <a:ext uri="{FF2B5EF4-FFF2-40B4-BE49-F238E27FC236}">
                <a16:creationId xmlns:a16="http://schemas.microsoft.com/office/drawing/2014/main" id="{FBC2BDA5-452A-44C9-ADE2-E9DBE47C4112}"/>
              </a:ext>
            </a:extLst>
          </p:cNvPr>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400"/>
              <a:t>自动化学院测量科学与仪器系</a:t>
            </a:r>
            <a:endParaRPr lang="en-US" altLang="zh-CN" sz="1400"/>
          </a:p>
        </p:txBody>
      </p:sp>
      <p:sp>
        <p:nvSpPr>
          <p:cNvPr id="10" name="矩形 9">
            <a:extLst>
              <a:ext uri="{FF2B5EF4-FFF2-40B4-BE49-F238E27FC236}">
                <a16:creationId xmlns:a16="http://schemas.microsoft.com/office/drawing/2014/main" id="{8671F368-E75B-4B9D-97F5-43561F103A85}"/>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a:p>
        </p:txBody>
      </p:sp>
      <p:sp>
        <p:nvSpPr>
          <p:cNvPr id="11" name="Text Box 2">
            <a:extLst>
              <a:ext uri="{FF2B5EF4-FFF2-40B4-BE49-F238E27FC236}">
                <a16:creationId xmlns:a16="http://schemas.microsoft.com/office/drawing/2014/main" id="{38212BEF-3480-4077-9FDD-6B519E235601}"/>
              </a:ext>
            </a:extLst>
          </p:cNvPr>
          <p:cNvSpPr txBox="1">
            <a:spLocks noChangeArrowheads="1"/>
          </p:cNvSpPr>
          <p:nvPr/>
        </p:nvSpPr>
        <p:spPr bwMode="auto">
          <a:xfrm>
            <a:off x="140445" y="184759"/>
            <a:ext cx="8015288"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C00000"/>
                </a:solidFill>
                <a:latin typeface="微软雅黑" panose="020B0503020204020204" pitchFamily="34" charset="-122"/>
                <a:ea typeface="微软雅黑" panose="020B0503020204020204" pitchFamily="34" charset="-122"/>
              </a:rPr>
              <a:t>3.4  </a:t>
            </a:r>
            <a:r>
              <a:rPr kumimoji="1" lang="zh-CN" altLang="en-US" sz="2800" b="1" dirty="0">
                <a:solidFill>
                  <a:srgbClr val="C00000"/>
                </a:solidFill>
                <a:latin typeface="微软雅黑" panose="020B0503020204020204" pitchFamily="34" charset="-122"/>
                <a:ea typeface="微软雅黑" panose="020B0503020204020204" pitchFamily="34" charset="-122"/>
              </a:rPr>
              <a:t>调频测量电路</a:t>
            </a:r>
          </a:p>
        </p:txBody>
      </p:sp>
      <p:pic>
        <p:nvPicPr>
          <p:cNvPr id="12" name="图片 11">
            <a:extLst>
              <a:ext uri="{FF2B5EF4-FFF2-40B4-BE49-F238E27FC236}">
                <a16:creationId xmlns:a16="http://schemas.microsoft.com/office/drawing/2014/main" id="{5C7C915D-CA67-41DF-B861-EDF5C33A1D9E}"/>
              </a:ext>
            </a:extLst>
          </p:cNvPr>
          <p:cNvPicPr>
            <a:picLocks noChangeAspect="1"/>
          </p:cNvPicPr>
          <p:nvPr/>
        </p:nvPicPr>
        <p:blipFill>
          <a:blip r:embed="rId5"/>
          <a:stretch>
            <a:fillRect/>
          </a:stretch>
        </p:blipFill>
        <p:spPr>
          <a:xfrm>
            <a:off x="1547664" y="1656959"/>
            <a:ext cx="5679526" cy="154604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6" name="灯片编号占位符 1">
            <a:extLst>
              <a:ext uri="{FF2B5EF4-FFF2-40B4-BE49-F238E27FC236}">
                <a16:creationId xmlns:a16="http://schemas.microsoft.com/office/drawing/2014/main" id="{C799C104-A6C8-4AB9-8A0D-C6D4BCED1CDB}"/>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fld id="{F2E0B1D8-AE11-49BA-8CBF-5E5751D1FB36}" type="slidenum">
              <a:rPr lang="en-US" altLang="zh-CN" sz="1400" smtClean="0"/>
              <a:pPr>
                <a:spcBef>
                  <a:spcPct val="0"/>
                </a:spcBef>
                <a:buFontTx/>
                <a:buNone/>
              </a:pPr>
              <a:t>33</a:t>
            </a:fld>
            <a:endParaRPr lang="en-US" altLang="zh-CN" sz="1400"/>
          </a:p>
        </p:txBody>
      </p:sp>
      <p:sp>
        <p:nvSpPr>
          <p:cNvPr id="53257" name="页脚占位符 2">
            <a:extLst>
              <a:ext uri="{FF2B5EF4-FFF2-40B4-BE49-F238E27FC236}">
                <a16:creationId xmlns:a16="http://schemas.microsoft.com/office/drawing/2014/main" id="{FBC2BDA5-452A-44C9-ADE2-E9DBE47C4112}"/>
              </a:ext>
            </a:extLst>
          </p:cNvPr>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400"/>
              <a:t>自动化学院测量科学与仪器系</a:t>
            </a:r>
            <a:endParaRPr lang="en-US" altLang="zh-CN" sz="1400"/>
          </a:p>
        </p:txBody>
      </p:sp>
      <p:sp>
        <p:nvSpPr>
          <p:cNvPr id="10" name="矩形 9">
            <a:extLst>
              <a:ext uri="{FF2B5EF4-FFF2-40B4-BE49-F238E27FC236}">
                <a16:creationId xmlns:a16="http://schemas.microsoft.com/office/drawing/2014/main" id="{8671F368-E75B-4B9D-97F5-43561F103A85}"/>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a:p>
        </p:txBody>
      </p:sp>
      <p:sp>
        <p:nvSpPr>
          <p:cNvPr id="11" name="Text Box 2">
            <a:extLst>
              <a:ext uri="{FF2B5EF4-FFF2-40B4-BE49-F238E27FC236}">
                <a16:creationId xmlns:a16="http://schemas.microsoft.com/office/drawing/2014/main" id="{38212BEF-3480-4077-9FDD-6B519E235601}"/>
              </a:ext>
            </a:extLst>
          </p:cNvPr>
          <p:cNvSpPr txBox="1">
            <a:spLocks noChangeArrowheads="1"/>
          </p:cNvSpPr>
          <p:nvPr/>
        </p:nvSpPr>
        <p:spPr bwMode="auto">
          <a:xfrm>
            <a:off x="140445" y="184759"/>
            <a:ext cx="8015288"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C00000"/>
                </a:solidFill>
                <a:latin typeface="微软雅黑" panose="020B0503020204020204" pitchFamily="34" charset="-122"/>
                <a:ea typeface="微软雅黑" panose="020B0503020204020204" pitchFamily="34" charset="-122"/>
              </a:rPr>
              <a:t>*</a:t>
            </a:r>
            <a:r>
              <a:rPr kumimoji="1" lang="zh-CN" altLang="en-US" sz="2800" b="1" dirty="0">
                <a:solidFill>
                  <a:srgbClr val="C00000"/>
                </a:solidFill>
                <a:latin typeface="微软雅黑" panose="020B0503020204020204" pitchFamily="34" charset="-122"/>
                <a:ea typeface="微软雅黑" panose="020B0503020204020204" pitchFamily="34" charset="-122"/>
              </a:rPr>
              <a:t>总结一下测量电容的方法</a:t>
            </a:r>
          </a:p>
        </p:txBody>
      </p:sp>
      <p:sp>
        <p:nvSpPr>
          <p:cNvPr id="9" name="Text Box 2">
            <a:extLst>
              <a:ext uri="{FF2B5EF4-FFF2-40B4-BE49-F238E27FC236}">
                <a16:creationId xmlns:a16="http://schemas.microsoft.com/office/drawing/2014/main" id="{EDDFFF23-7683-4779-A76A-6F74C2673B6D}"/>
              </a:ext>
            </a:extLst>
          </p:cNvPr>
          <p:cNvSpPr txBox="1">
            <a:spLocks noChangeArrowheads="1"/>
          </p:cNvSpPr>
          <p:nvPr/>
        </p:nvSpPr>
        <p:spPr bwMode="auto">
          <a:xfrm>
            <a:off x="265759" y="1324131"/>
            <a:ext cx="8353425" cy="3192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25000"/>
              </a:spcBef>
              <a:buFontTx/>
              <a:buNone/>
            </a:pPr>
            <a:r>
              <a:rPr lang="zh-CN" altLang="en-US" sz="2000" b="1" dirty="0">
                <a:solidFill>
                  <a:srgbClr val="FF0000"/>
                </a:solidFill>
                <a:latin typeface="微软雅黑" panose="020B0503020204020204" pitchFamily="34" charset="-122"/>
                <a:ea typeface="微软雅黑" panose="020B0503020204020204" pitchFamily="34" charset="-122"/>
              </a:rPr>
              <a:t>①</a:t>
            </a:r>
            <a:r>
              <a:rPr lang="zh-CN" altLang="en-US" sz="2000" b="1" dirty="0">
                <a:latin typeface="微软雅黑" panose="020B0503020204020204" pitchFamily="34" charset="-122"/>
                <a:ea typeface="微软雅黑" panose="020B0503020204020204" pitchFamily="34" charset="-122"/>
              </a:rPr>
              <a:t> </a:t>
            </a:r>
            <a:r>
              <a:rPr lang="zh-CN" altLang="en-US" sz="2000" b="1" dirty="0">
                <a:solidFill>
                  <a:srgbClr val="0000FF"/>
                </a:solidFill>
                <a:latin typeface="微软雅黑" panose="020B0503020204020204" pitchFamily="34" charset="-122"/>
                <a:ea typeface="微软雅黑" panose="020B0503020204020204" pitchFamily="34" charset="-122"/>
              </a:rPr>
              <a:t>采用运算放大器的运算法：</a:t>
            </a:r>
            <a:endParaRPr lang="en-US" altLang="zh-CN" sz="2000" b="1" dirty="0">
              <a:solidFill>
                <a:srgbClr val="0000FF"/>
              </a:solidFill>
              <a:latin typeface="微软雅黑" panose="020B0503020204020204" pitchFamily="34" charset="-122"/>
              <a:ea typeface="微软雅黑" panose="020B0503020204020204" pitchFamily="34" charset="-122"/>
            </a:endParaRPr>
          </a:p>
          <a:p>
            <a:pPr eaLnBrk="1" hangingPunct="1">
              <a:lnSpc>
                <a:spcPct val="150000"/>
              </a:lnSpc>
              <a:spcBef>
                <a:spcPct val="25000"/>
              </a:spcBef>
              <a:buFontTx/>
              <a:buNone/>
            </a:pPr>
            <a:r>
              <a:rPr lang="en-US" altLang="zh-CN" sz="2000" b="1" dirty="0">
                <a:solidFill>
                  <a:srgbClr val="0000FF"/>
                </a:solidFill>
                <a:latin typeface="微软雅黑" panose="020B0503020204020204" pitchFamily="34" charset="-122"/>
                <a:ea typeface="微软雅黑" panose="020B0503020204020204" pitchFamily="34" charset="-122"/>
              </a:rPr>
              <a:t>       </a:t>
            </a:r>
            <a:r>
              <a:rPr lang="zh-CN" altLang="en-US" sz="2000" b="1" dirty="0">
                <a:solidFill>
                  <a:srgbClr val="0000FF"/>
                </a:solidFill>
                <a:latin typeface="微软雅黑" panose="020B0503020204020204" pitchFamily="34" charset="-122"/>
                <a:ea typeface="微软雅黑" panose="020B0503020204020204" pitchFamily="34" charset="-122"/>
              </a:rPr>
              <a:t>等效为阻抗</a:t>
            </a:r>
            <a:r>
              <a:rPr lang="en-US" altLang="zh-CN" sz="2000" b="1"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000" b="1"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产生交流信号</a:t>
            </a:r>
            <a:endParaRPr lang="zh-CN" altLang="en-US" sz="2000" b="1" dirty="0">
              <a:solidFill>
                <a:srgbClr val="0000FF"/>
              </a:solidFill>
              <a:latin typeface="微软雅黑" panose="020B0503020204020204" pitchFamily="34" charset="-122"/>
              <a:ea typeface="微软雅黑" panose="020B0503020204020204" pitchFamily="34" charset="-122"/>
            </a:endParaRPr>
          </a:p>
          <a:p>
            <a:pPr eaLnBrk="1" hangingPunct="1">
              <a:lnSpc>
                <a:spcPct val="150000"/>
              </a:lnSpc>
              <a:spcBef>
                <a:spcPct val="25000"/>
              </a:spcBef>
              <a:buFontTx/>
              <a:buNone/>
            </a:pPr>
            <a:r>
              <a:rPr lang="zh-CN" altLang="en-US" sz="2000" b="1" dirty="0">
                <a:solidFill>
                  <a:srgbClr val="FF0000"/>
                </a:solidFill>
                <a:latin typeface="微软雅黑" panose="020B0503020204020204" pitchFamily="34" charset="-122"/>
                <a:ea typeface="微软雅黑" panose="020B0503020204020204" pitchFamily="34" charset="-122"/>
              </a:rPr>
              <a:t>②</a:t>
            </a:r>
            <a:r>
              <a:rPr lang="zh-CN" altLang="en-US" sz="2000" b="1" dirty="0">
                <a:solidFill>
                  <a:srgbClr val="0000FF"/>
                </a:solidFill>
                <a:latin typeface="微软雅黑" panose="020B0503020204020204" pitchFamily="34" charset="-122"/>
                <a:ea typeface="微软雅黑" panose="020B0503020204020204" pitchFamily="34" charset="-122"/>
              </a:rPr>
              <a:t> 利用电容的充放电特性设计的电路：</a:t>
            </a:r>
            <a:endParaRPr lang="en-US" altLang="zh-CN" sz="2000" b="1" dirty="0">
              <a:solidFill>
                <a:srgbClr val="0000FF"/>
              </a:solidFill>
              <a:latin typeface="微软雅黑" panose="020B0503020204020204" pitchFamily="34" charset="-122"/>
              <a:ea typeface="微软雅黑" panose="020B0503020204020204" pitchFamily="34" charset="-122"/>
            </a:endParaRPr>
          </a:p>
          <a:p>
            <a:pPr eaLnBrk="1" hangingPunct="1">
              <a:lnSpc>
                <a:spcPct val="150000"/>
              </a:lnSpc>
              <a:spcBef>
                <a:spcPct val="25000"/>
              </a:spcBef>
              <a:buFontTx/>
              <a:buNone/>
            </a:pPr>
            <a:r>
              <a:rPr lang="en-US" altLang="zh-CN" sz="2000" b="1" dirty="0">
                <a:solidFill>
                  <a:srgbClr val="0000FF"/>
                </a:solidFill>
                <a:latin typeface="微软雅黑" panose="020B0503020204020204" pitchFamily="34" charset="-122"/>
                <a:ea typeface="微软雅黑" panose="020B0503020204020204" pitchFamily="34" charset="-122"/>
              </a:rPr>
              <a:t>       </a:t>
            </a:r>
            <a:r>
              <a:rPr lang="zh-CN" altLang="en-US" sz="2000" b="1" dirty="0">
                <a:solidFill>
                  <a:srgbClr val="0000FF"/>
                </a:solidFill>
                <a:latin typeface="微软雅黑" panose="020B0503020204020204" pitchFamily="34" charset="-122"/>
                <a:ea typeface="微软雅黑" panose="020B0503020204020204" pitchFamily="34" charset="-122"/>
              </a:rPr>
              <a:t>例如双</a:t>
            </a:r>
            <a:r>
              <a:rPr lang="en-US" altLang="zh-CN" sz="2000" b="1" dirty="0">
                <a:solidFill>
                  <a:srgbClr val="0000FF"/>
                </a:solidFill>
                <a:latin typeface="微软雅黑" panose="020B0503020204020204" pitchFamily="34" charset="-122"/>
                <a:ea typeface="微软雅黑" panose="020B0503020204020204" pitchFamily="34" charset="-122"/>
              </a:rPr>
              <a:t>T</a:t>
            </a:r>
            <a:r>
              <a:rPr lang="zh-CN" altLang="en-US" sz="2000" b="1" dirty="0">
                <a:solidFill>
                  <a:srgbClr val="0000FF"/>
                </a:solidFill>
                <a:latin typeface="微软雅黑" panose="020B0503020204020204" pitchFamily="34" charset="-122"/>
                <a:ea typeface="微软雅黑" panose="020B0503020204020204" pitchFamily="34" charset="-122"/>
              </a:rPr>
              <a:t>电桥电路</a:t>
            </a:r>
            <a:r>
              <a:rPr lang="en-US" altLang="zh-CN" sz="2000" b="1"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000" b="1"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用电压</a:t>
            </a:r>
            <a:r>
              <a:rPr lang="en-US" altLang="zh-CN" sz="2000" b="1"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000" b="1"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电流平均值表示电容大小</a:t>
            </a:r>
            <a:endParaRPr lang="en-US" altLang="zh-CN" sz="2000" b="1" dirty="0">
              <a:solidFill>
                <a:srgbClr val="0000FF"/>
              </a:solidFill>
              <a:latin typeface="微软雅黑" panose="020B0503020204020204" pitchFamily="34" charset="-122"/>
              <a:ea typeface="微软雅黑" panose="020B0503020204020204" pitchFamily="34" charset="-122"/>
            </a:endParaRPr>
          </a:p>
          <a:p>
            <a:pPr eaLnBrk="1" hangingPunct="1">
              <a:lnSpc>
                <a:spcPct val="150000"/>
              </a:lnSpc>
              <a:spcBef>
                <a:spcPct val="25000"/>
              </a:spcBef>
              <a:buFontTx/>
              <a:buNone/>
            </a:pPr>
            <a:r>
              <a:rPr lang="zh-CN" altLang="en-US" sz="2000" b="1" dirty="0">
                <a:solidFill>
                  <a:srgbClr val="FF0000"/>
                </a:solidFill>
                <a:latin typeface="微软雅黑" panose="020B0503020204020204" pitchFamily="34" charset="-122"/>
                <a:ea typeface="微软雅黑" panose="020B0503020204020204" pitchFamily="34" charset="-122"/>
              </a:rPr>
              <a:t>③ </a:t>
            </a:r>
            <a:r>
              <a:rPr lang="zh-CN" altLang="en-US" sz="2000" b="1" dirty="0">
                <a:solidFill>
                  <a:srgbClr val="0000FF"/>
                </a:solidFill>
                <a:latin typeface="微软雅黑" panose="020B0503020204020204" pitchFamily="34" charset="-122"/>
                <a:ea typeface="微软雅黑" panose="020B0503020204020204" pitchFamily="34" charset="-122"/>
              </a:rPr>
              <a:t>调频测量电路：</a:t>
            </a:r>
            <a:endParaRPr lang="en-US" altLang="zh-CN" sz="2000" b="1" dirty="0">
              <a:solidFill>
                <a:srgbClr val="0000FF"/>
              </a:solidFill>
              <a:latin typeface="微软雅黑" panose="020B0503020204020204" pitchFamily="34" charset="-122"/>
              <a:ea typeface="微软雅黑" panose="020B0503020204020204" pitchFamily="34" charset="-122"/>
            </a:endParaRPr>
          </a:p>
          <a:p>
            <a:pPr eaLnBrk="1" hangingPunct="1">
              <a:lnSpc>
                <a:spcPct val="150000"/>
              </a:lnSpc>
              <a:spcBef>
                <a:spcPct val="25000"/>
              </a:spcBef>
              <a:buFontTx/>
              <a:buNone/>
            </a:pPr>
            <a:r>
              <a:rPr lang="en-US" altLang="zh-CN" sz="2000" b="1" dirty="0">
                <a:solidFill>
                  <a:srgbClr val="0000FF"/>
                </a:solidFill>
                <a:latin typeface="微软雅黑" panose="020B0503020204020204" pitchFamily="34" charset="-122"/>
                <a:ea typeface="微软雅黑" panose="020B0503020204020204" pitchFamily="34" charset="-122"/>
              </a:rPr>
              <a:t>       </a:t>
            </a:r>
            <a:r>
              <a:rPr lang="zh-CN" altLang="en-US" sz="2000" b="1" dirty="0">
                <a:solidFill>
                  <a:srgbClr val="0000FF"/>
                </a:solidFill>
                <a:latin typeface="微软雅黑" panose="020B0503020204020204" pitchFamily="34" charset="-122"/>
                <a:ea typeface="微软雅黑" panose="020B0503020204020204" pitchFamily="34" charset="-122"/>
              </a:rPr>
              <a:t>通过谐振电路</a:t>
            </a:r>
            <a:r>
              <a:rPr lang="en-US" altLang="zh-CN" sz="2000" b="1"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000" b="1"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频率信号：可远传，抗干扰</a:t>
            </a:r>
            <a:endParaRPr lang="zh-CN" altLang="en-US" sz="2000" b="1" dirty="0">
              <a:solidFill>
                <a:srgbClr val="0000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457439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1">
            <a:extLst>
              <a:ext uri="{FF2B5EF4-FFF2-40B4-BE49-F238E27FC236}">
                <a16:creationId xmlns:a16="http://schemas.microsoft.com/office/drawing/2014/main" id="{B7F19BC2-21C4-4DB2-8FDD-F9C8F47E3453}"/>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BBE86B2F-8FA6-4613-AAA9-20F4D5C10E92}" type="slidenum">
              <a:rPr lang="en-US" altLang="zh-CN" smtClean="0"/>
              <a:pPr/>
              <a:t>34</a:t>
            </a:fld>
            <a:endParaRPr lang="en-US" altLang="zh-CN"/>
          </a:p>
        </p:txBody>
      </p:sp>
      <p:sp>
        <p:nvSpPr>
          <p:cNvPr id="8" name="矩形 7">
            <a:extLst>
              <a:ext uri="{FF2B5EF4-FFF2-40B4-BE49-F238E27FC236}">
                <a16:creationId xmlns:a16="http://schemas.microsoft.com/office/drawing/2014/main" id="{C2A79AC6-14E3-4C59-8473-48F2442B8FFC}"/>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54276" name="Text Box 2">
            <a:extLst>
              <a:ext uri="{FF2B5EF4-FFF2-40B4-BE49-F238E27FC236}">
                <a16:creationId xmlns:a16="http://schemas.microsoft.com/office/drawing/2014/main" id="{F299A62D-92D5-4018-925A-3B5D91E0AF0C}"/>
              </a:ext>
            </a:extLst>
          </p:cNvPr>
          <p:cNvSpPr txBox="1">
            <a:spLocks noChangeArrowheads="1"/>
          </p:cNvSpPr>
          <p:nvPr/>
        </p:nvSpPr>
        <p:spPr bwMode="auto">
          <a:xfrm>
            <a:off x="155575" y="58738"/>
            <a:ext cx="8015288" cy="597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0000FF"/>
                </a:solidFill>
                <a:latin typeface="微软雅黑" panose="020B0503020204020204" pitchFamily="34" charset="-122"/>
                <a:ea typeface="微软雅黑" panose="020B0503020204020204" pitchFamily="34" charset="-122"/>
              </a:rPr>
              <a:t>*</a:t>
            </a:r>
            <a:r>
              <a:rPr kumimoji="1" lang="en-US" altLang="zh-CN" sz="2800" b="1" dirty="0">
                <a:solidFill>
                  <a:srgbClr val="C00000"/>
                </a:solidFill>
                <a:latin typeface="微软雅黑" panose="020B0503020204020204" pitchFamily="34" charset="-122"/>
                <a:ea typeface="微软雅黑" panose="020B0503020204020204" pitchFamily="34" charset="-122"/>
              </a:rPr>
              <a:t> </a:t>
            </a:r>
            <a:r>
              <a:rPr kumimoji="1" lang="zh-CN" altLang="en-US" sz="2800" b="1" dirty="0">
                <a:solidFill>
                  <a:srgbClr val="C00000"/>
                </a:solidFill>
                <a:latin typeface="微软雅黑" panose="020B0503020204020204" pitchFamily="34" charset="-122"/>
                <a:ea typeface="微软雅黑" panose="020B0503020204020204" pitchFamily="34" charset="-122"/>
              </a:rPr>
              <a:t>水份测量电容式传感器的测量电路</a:t>
            </a:r>
            <a:r>
              <a:rPr kumimoji="1" lang="en-US" altLang="zh-CN" sz="2800" b="1" dirty="0">
                <a:solidFill>
                  <a:srgbClr val="C00000"/>
                </a:solidFill>
                <a:latin typeface="微软雅黑" panose="020B0503020204020204" pitchFamily="34" charset="-122"/>
                <a:ea typeface="微软雅黑" panose="020B0503020204020204" pitchFamily="34" charset="-122"/>
              </a:rPr>
              <a:t>——</a:t>
            </a:r>
            <a:r>
              <a:rPr kumimoji="1" lang="zh-CN" altLang="en-US" sz="2800" b="1" dirty="0">
                <a:solidFill>
                  <a:srgbClr val="C00000"/>
                </a:solidFill>
                <a:latin typeface="微软雅黑" panose="020B0503020204020204" pitchFamily="34" charset="-122"/>
                <a:ea typeface="微软雅黑" panose="020B0503020204020204" pitchFamily="34" charset="-122"/>
              </a:rPr>
              <a:t>集成芯片</a:t>
            </a:r>
          </a:p>
        </p:txBody>
      </p:sp>
      <p:sp>
        <p:nvSpPr>
          <p:cNvPr id="54277" name="矩形 5">
            <a:extLst>
              <a:ext uri="{FF2B5EF4-FFF2-40B4-BE49-F238E27FC236}">
                <a16:creationId xmlns:a16="http://schemas.microsoft.com/office/drawing/2014/main" id="{5AE012D2-036C-44DD-AD71-F79A329DCC7B}"/>
              </a:ext>
            </a:extLst>
          </p:cNvPr>
          <p:cNvSpPr>
            <a:spLocks noChangeArrowheads="1"/>
          </p:cNvSpPr>
          <p:nvPr/>
        </p:nvSpPr>
        <p:spPr bwMode="auto">
          <a:xfrm>
            <a:off x="5638800" y="838200"/>
            <a:ext cx="3352800" cy="5816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C</a:t>
            </a:r>
            <a:r>
              <a:rPr lang="en-US" altLang="zh-CN" sz="1400" b="1" i="1" dirty="0">
                <a:latin typeface="微软雅黑" panose="020B0503020204020204" pitchFamily="34" charset="-122"/>
                <a:ea typeface="微软雅黑" panose="020B0503020204020204" pitchFamily="34" charset="-122"/>
              </a:rPr>
              <a:t>X1 </a:t>
            </a:r>
            <a:r>
              <a:rPr lang="zh-CN" altLang="en-US" sz="2000" b="1" dirty="0">
                <a:latin typeface="微软雅黑" panose="020B0503020204020204" pitchFamily="34" charset="-122"/>
                <a:ea typeface="微软雅黑" panose="020B0503020204020204" pitchFamily="34" charset="-122"/>
              </a:rPr>
              <a:t>和</a:t>
            </a:r>
            <a:r>
              <a:rPr lang="en-US" altLang="zh-CN" sz="2000" b="1" dirty="0">
                <a:latin typeface="微软雅黑" panose="020B0503020204020204" pitchFamily="34" charset="-122"/>
                <a:ea typeface="微软雅黑" panose="020B0503020204020204" pitchFamily="34" charset="-122"/>
              </a:rPr>
              <a:t>C</a:t>
            </a:r>
            <a:r>
              <a:rPr lang="en-US" altLang="zh-CN" sz="1400" b="1" i="1" dirty="0">
                <a:latin typeface="微软雅黑" panose="020B0503020204020204" pitchFamily="34" charset="-122"/>
                <a:ea typeface="微软雅黑" panose="020B0503020204020204" pitchFamily="34" charset="-122"/>
              </a:rPr>
              <a:t>X2 </a:t>
            </a:r>
            <a:r>
              <a:rPr lang="zh-CN" altLang="en-US" sz="2000" b="1" dirty="0">
                <a:latin typeface="微软雅黑" panose="020B0503020204020204" pitchFamily="34" charset="-122"/>
                <a:ea typeface="微软雅黑" panose="020B0503020204020204" pitchFamily="34" charset="-122"/>
              </a:rPr>
              <a:t>分别连接测量参考端和测量端，利用</a:t>
            </a:r>
            <a:r>
              <a:rPr lang="zh-CN" altLang="en-US" sz="2000" b="1" dirty="0">
                <a:solidFill>
                  <a:srgbClr val="FF0000"/>
                </a:solidFill>
                <a:latin typeface="微软雅黑" panose="020B0503020204020204" pitchFamily="34" charset="-122"/>
                <a:ea typeface="微软雅黑" panose="020B0503020204020204" pitchFamily="34" charset="-122"/>
              </a:rPr>
              <a:t>电容差值</a:t>
            </a:r>
            <a:r>
              <a:rPr lang="zh-CN" altLang="en-US" sz="2000" b="1" dirty="0">
                <a:latin typeface="微软雅黑" panose="020B0503020204020204" pitchFamily="34" charset="-122"/>
                <a:ea typeface="微软雅黑" panose="020B0503020204020204" pitchFamily="34" charset="-122"/>
              </a:rPr>
              <a:t>进行测量。</a:t>
            </a:r>
            <a:endParaRPr lang="en-US" altLang="zh-CN" sz="2000" b="1" dirty="0">
              <a:latin typeface="微软雅黑" panose="020B0503020204020204" pitchFamily="34" charset="-122"/>
              <a:ea typeface="微软雅黑" panose="020B0503020204020204" pitchFamily="34" charset="-122"/>
            </a:endParaRPr>
          </a:p>
          <a:p>
            <a:pPr eaLnBrk="1" hangingPunct="1">
              <a:spcBef>
                <a:spcPct val="0"/>
              </a:spcBef>
              <a:buFontTx/>
              <a:buNone/>
            </a:pPr>
            <a:r>
              <a:rPr lang="en-US" altLang="zh-CN" sz="2000" b="1" dirty="0">
                <a:latin typeface="微软雅黑" panose="020B0503020204020204" pitchFamily="34" charset="-122"/>
                <a:ea typeface="微软雅黑" panose="020B0503020204020204" pitchFamily="34" charset="-122"/>
              </a:rPr>
              <a:t>2</a:t>
            </a:r>
            <a:r>
              <a:rPr lang="zh-CN" altLang="en-US" sz="2000" b="1" dirty="0">
                <a:latin typeface="微软雅黑" panose="020B0503020204020204" pitchFamily="34" charset="-122"/>
                <a:ea typeface="微软雅黑" panose="020B0503020204020204" pitchFamily="34" charset="-122"/>
              </a:rPr>
              <a:t>）电容</a:t>
            </a:r>
            <a:r>
              <a:rPr lang="en-US" altLang="zh-CN" sz="2000" b="1" dirty="0">
                <a:latin typeface="微软雅黑" panose="020B0503020204020204" pitchFamily="34" charset="-122"/>
                <a:ea typeface="微软雅黑" panose="020B0503020204020204" pitchFamily="34" charset="-122"/>
              </a:rPr>
              <a:t>C</a:t>
            </a:r>
            <a:r>
              <a:rPr lang="en-US" altLang="zh-CN" sz="1400" b="1" i="1" dirty="0">
                <a:latin typeface="微软雅黑" panose="020B0503020204020204" pitchFamily="34" charset="-122"/>
                <a:ea typeface="微软雅黑" panose="020B0503020204020204" pitchFamily="34" charset="-122"/>
              </a:rPr>
              <a:t>OSC</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确定参考振荡器的频率，之后通过积分器，而</a:t>
            </a:r>
            <a:r>
              <a:rPr lang="zh-CN" altLang="en-US" sz="2000" b="1" dirty="0">
                <a:solidFill>
                  <a:srgbClr val="FF0000"/>
                </a:solidFill>
                <a:latin typeface="微软雅黑" panose="020B0503020204020204" pitchFamily="34" charset="-122"/>
                <a:ea typeface="微软雅黑" panose="020B0503020204020204" pitchFamily="34" charset="-122"/>
              </a:rPr>
              <a:t>积分器的振幅</a:t>
            </a:r>
            <a:r>
              <a:rPr lang="zh-CN" altLang="en-US" sz="2000" b="1" dirty="0">
                <a:latin typeface="微软雅黑" panose="020B0503020204020204" pitchFamily="34" charset="-122"/>
                <a:ea typeface="微软雅黑" panose="020B0503020204020204" pitchFamily="34" charset="-122"/>
              </a:rPr>
              <a:t>是由电容</a:t>
            </a:r>
            <a:r>
              <a:rPr lang="en-US" altLang="zh-CN" sz="2000" b="1" dirty="0">
                <a:latin typeface="微软雅黑" panose="020B0503020204020204" pitchFamily="34" charset="-122"/>
                <a:ea typeface="微软雅黑" panose="020B0503020204020204" pitchFamily="34" charset="-122"/>
              </a:rPr>
              <a:t>C</a:t>
            </a:r>
            <a:r>
              <a:rPr lang="en-US" altLang="zh-CN" sz="1400" b="1" i="1" dirty="0">
                <a:latin typeface="微软雅黑" panose="020B0503020204020204" pitchFamily="34" charset="-122"/>
                <a:ea typeface="微软雅黑" panose="020B0503020204020204" pitchFamily="34" charset="-122"/>
              </a:rPr>
              <a:t>X1 </a:t>
            </a:r>
            <a:r>
              <a:rPr lang="zh-CN" altLang="en-US" sz="2000" b="1" dirty="0">
                <a:latin typeface="微软雅黑" panose="020B0503020204020204" pitchFamily="34" charset="-122"/>
                <a:ea typeface="微软雅黑" panose="020B0503020204020204" pitchFamily="34" charset="-122"/>
              </a:rPr>
              <a:t>和</a:t>
            </a:r>
            <a:r>
              <a:rPr lang="en-US" altLang="zh-CN" sz="2000" b="1" dirty="0">
                <a:latin typeface="微软雅黑" panose="020B0503020204020204" pitchFamily="34" charset="-122"/>
                <a:ea typeface="微软雅黑" panose="020B0503020204020204" pitchFamily="34" charset="-122"/>
              </a:rPr>
              <a:t>C</a:t>
            </a:r>
            <a:r>
              <a:rPr lang="en-US" altLang="zh-CN" sz="1400" b="1" i="1" dirty="0">
                <a:latin typeface="微软雅黑" panose="020B0503020204020204" pitchFamily="34" charset="-122"/>
                <a:ea typeface="微软雅黑" panose="020B0503020204020204" pitchFamily="34" charset="-122"/>
              </a:rPr>
              <a:t>X2 </a:t>
            </a:r>
            <a:r>
              <a:rPr lang="zh-CN" altLang="en-US" sz="2000" b="1" dirty="0">
                <a:latin typeface="微软雅黑" panose="020B0503020204020204" pitchFamily="34" charset="-122"/>
                <a:ea typeface="微软雅黑" panose="020B0503020204020204" pitchFamily="34" charset="-122"/>
              </a:rPr>
              <a:t>决定的。</a:t>
            </a:r>
            <a:endParaRPr lang="en-US" altLang="zh-CN" sz="2000" b="1" dirty="0">
              <a:latin typeface="微软雅黑" panose="020B0503020204020204" pitchFamily="34" charset="-122"/>
              <a:ea typeface="微软雅黑" panose="020B0503020204020204" pitchFamily="34" charset="-122"/>
            </a:endParaRPr>
          </a:p>
          <a:p>
            <a:pPr eaLnBrk="1" hangingPunct="1">
              <a:spcBef>
                <a:spcPct val="0"/>
              </a:spcBef>
              <a:buFontTx/>
              <a:buNone/>
            </a:pPr>
            <a:r>
              <a:rPr lang="en-US" altLang="zh-CN" sz="2000" b="1" dirty="0">
                <a:latin typeface="微软雅黑" panose="020B0503020204020204" pitchFamily="34" charset="-122"/>
                <a:ea typeface="微软雅黑" panose="020B0503020204020204" pitchFamily="34" charset="-122"/>
              </a:rPr>
              <a:t>3</a:t>
            </a:r>
            <a:r>
              <a:rPr lang="zh-CN" altLang="en-US" sz="2000" b="1" dirty="0">
                <a:latin typeface="微软雅黑" panose="020B0503020204020204" pitchFamily="34" charset="-122"/>
                <a:ea typeface="微软雅黑" panose="020B0503020204020204" pitchFamily="34" charset="-122"/>
              </a:rPr>
              <a:t>）在此过程两个积分器的相位和周期是相同的，它们的</a:t>
            </a:r>
            <a:r>
              <a:rPr lang="zh-CN" altLang="en-US" sz="2000" b="1" dirty="0">
                <a:solidFill>
                  <a:srgbClr val="FF0000"/>
                </a:solidFill>
                <a:latin typeface="微软雅黑" panose="020B0503020204020204" pitchFamily="34" charset="-122"/>
                <a:ea typeface="微软雅黑" panose="020B0503020204020204" pitchFamily="34" charset="-122"/>
              </a:rPr>
              <a:t>振幅差</a:t>
            </a:r>
            <a:r>
              <a:rPr lang="zh-CN" altLang="en-US" sz="2000" b="1" dirty="0">
                <a:latin typeface="微软雅黑" panose="020B0503020204020204" pitchFamily="34" charset="-122"/>
                <a:ea typeface="微软雅黑" panose="020B0503020204020204" pitchFamily="34" charset="-122"/>
              </a:rPr>
              <a:t>反映了两个电容的电容变化差。</a:t>
            </a:r>
            <a:endParaRPr lang="en-US" altLang="zh-CN" sz="2000" b="1" dirty="0">
              <a:latin typeface="微软雅黑" panose="020B0503020204020204" pitchFamily="34" charset="-122"/>
              <a:ea typeface="微软雅黑" panose="020B0503020204020204" pitchFamily="34" charset="-122"/>
            </a:endParaRPr>
          </a:p>
          <a:p>
            <a:pPr eaLnBrk="1" hangingPunct="1">
              <a:spcBef>
                <a:spcPct val="0"/>
              </a:spcBef>
              <a:buFontTx/>
              <a:buNone/>
            </a:pPr>
            <a:r>
              <a:rPr lang="en-US" altLang="zh-CN" sz="2000" b="1" dirty="0">
                <a:latin typeface="微软雅黑" panose="020B0503020204020204" pitchFamily="34" charset="-122"/>
                <a:ea typeface="微软雅黑" panose="020B0503020204020204" pitchFamily="34" charset="-122"/>
              </a:rPr>
              <a:t>4</a:t>
            </a:r>
            <a:r>
              <a:rPr lang="zh-CN" altLang="en-US" sz="2000" b="1" dirty="0">
                <a:latin typeface="微软雅黑" panose="020B0503020204020204" pitchFamily="34" charset="-122"/>
                <a:ea typeface="微软雅黑" panose="020B0503020204020204" pitchFamily="34" charset="-122"/>
              </a:rPr>
              <a:t>）之后利用</a:t>
            </a:r>
            <a:r>
              <a:rPr lang="zh-CN" altLang="en-US" sz="2000" b="1" dirty="0">
                <a:solidFill>
                  <a:srgbClr val="FF0000"/>
                </a:solidFill>
                <a:latin typeface="微软雅黑" panose="020B0503020204020204" pitchFamily="34" charset="-122"/>
                <a:ea typeface="微软雅黑" panose="020B0503020204020204" pitchFamily="34" charset="-122"/>
              </a:rPr>
              <a:t>二级低通滤波器</a:t>
            </a:r>
            <a:r>
              <a:rPr lang="zh-CN" altLang="en-US" sz="2000" b="1" dirty="0">
                <a:latin typeface="微软雅黑" panose="020B0503020204020204" pitchFamily="34" charset="-122"/>
                <a:ea typeface="微软雅黑" panose="020B0503020204020204" pitchFamily="34" charset="-122"/>
              </a:rPr>
              <a:t>将此差分信号转化为直流电压信号。利用电阻值可以改变滤波器的滤波常数及放大比例。图示电路可以精确测出</a:t>
            </a:r>
            <a:r>
              <a:rPr lang="zh-CN" altLang="en-US" sz="2000" b="1" dirty="0">
                <a:solidFill>
                  <a:srgbClr val="FF0000"/>
                </a:solidFill>
                <a:latin typeface="微软雅黑" panose="020B0503020204020204" pitchFamily="34" charset="-122"/>
                <a:ea typeface="微软雅黑" panose="020B0503020204020204" pitchFamily="34" charset="-122"/>
              </a:rPr>
              <a:t>参考电容的</a:t>
            </a:r>
            <a:r>
              <a:rPr lang="en-US" altLang="zh-CN" sz="2000" b="1" dirty="0">
                <a:solidFill>
                  <a:srgbClr val="FF0000"/>
                </a:solidFill>
                <a:latin typeface="微软雅黑" panose="020B0503020204020204" pitchFamily="34" charset="-122"/>
                <a:ea typeface="微软雅黑" panose="020B0503020204020204" pitchFamily="34" charset="-122"/>
              </a:rPr>
              <a:t>5 % </a:t>
            </a:r>
            <a:r>
              <a:rPr lang="zh-CN" altLang="en-US" sz="2000" b="1" dirty="0">
                <a:solidFill>
                  <a:srgbClr val="FF0000"/>
                </a:solidFill>
                <a:latin typeface="微软雅黑" panose="020B0503020204020204" pitchFamily="34" charset="-122"/>
                <a:ea typeface="微软雅黑" panose="020B0503020204020204" pitchFamily="34" charset="-122"/>
              </a:rPr>
              <a:t>～ </a:t>
            </a:r>
            <a:r>
              <a:rPr lang="en-US" altLang="zh-CN" sz="2000" b="1" dirty="0">
                <a:solidFill>
                  <a:srgbClr val="FF0000"/>
                </a:solidFill>
                <a:latin typeface="微软雅黑" panose="020B0503020204020204" pitchFamily="34" charset="-122"/>
                <a:ea typeface="微软雅黑" panose="020B0503020204020204" pitchFamily="34" charset="-122"/>
              </a:rPr>
              <a:t>100 % </a:t>
            </a:r>
            <a:r>
              <a:rPr lang="zh-CN" altLang="en-US" sz="2000" b="1" dirty="0">
                <a:latin typeface="微软雅黑" panose="020B0503020204020204" pitchFamily="34" charset="-122"/>
                <a:ea typeface="微软雅黑" panose="020B0503020204020204" pitchFamily="34" charset="-122"/>
              </a:rPr>
              <a:t>的变化电容值</a:t>
            </a:r>
          </a:p>
        </p:txBody>
      </p:sp>
      <p:pic>
        <p:nvPicPr>
          <p:cNvPr id="54279" name="Picture 3">
            <a:extLst>
              <a:ext uri="{FF2B5EF4-FFF2-40B4-BE49-F238E27FC236}">
                <a16:creationId xmlns:a16="http://schemas.microsoft.com/office/drawing/2014/main" id="{C51DA052-F8B4-4429-9094-33B68A4839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88" y="1664116"/>
            <a:ext cx="5697538" cy="377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
        <p:nvSpPr>
          <p:cNvPr id="9" name="Text Box 2">
            <a:extLst>
              <a:ext uri="{FF2B5EF4-FFF2-40B4-BE49-F238E27FC236}">
                <a16:creationId xmlns:a16="http://schemas.microsoft.com/office/drawing/2014/main" id="{50CE0B9D-F681-47F1-972A-90D990CC17DD}"/>
              </a:ext>
            </a:extLst>
          </p:cNvPr>
          <p:cNvSpPr txBox="1">
            <a:spLocks noChangeArrowheads="1"/>
          </p:cNvSpPr>
          <p:nvPr/>
        </p:nvSpPr>
        <p:spPr bwMode="auto">
          <a:xfrm>
            <a:off x="39688" y="5616944"/>
            <a:ext cx="8991600" cy="961289"/>
          </a:xfrm>
          <a:prstGeom prst="rect">
            <a:avLst/>
          </a:prstGeom>
          <a:solidFill>
            <a:schemeClr val="accent3">
              <a:lumMod val="95000"/>
            </a:schemeClr>
          </a:solidFill>
          <a:ln>
            <a:noFill/>
          </a:ln>
          <a:effectLs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25000"/>
              </a:spcBef>
              <a:buFontTx/>
              <a:buNone/>
            </a:pPr>
            <a:r>
              <a:rPr lang="zh-CN" altLang="en-US" sz="2000" b="1" dirty="0">
                <a:solidFill>
                  <a:srgbClr val="0000FF"/>
                </a:solidFill>
                <a:latin typeface="微软雅黑" panose="020B0503020204020204" pitchFamily="34" charset="-122"/>
                <a:ea typeface="微软雅黑" panose="020B0503020204020204" pitchFamily="34" charset="-122"/>
              </a:rPr>
              <a:t>还有一种叫</a:t>
            </a:r>
            <a:r>
              <a:rPr lang="en-US" altLang="zh-CN" sz="2000" b="1" dirty="0">
                <a:solidFill>
                  <a:srgbClr val="0000FF"/>
                </a:solidFill>
                <a:latin typeface="微软雅黑" panose="020B0503020204020204" pitchFamily="34" charset="-122"/>
                <a:ea typeface="微软雅黑" panose="020B0503020204020204" pitchFamily="34" charset="-122"/>
              </a:rPr>
              <a:t>CDC</a:t>
            </a:r>
            <a:r>
              <a:rPr lang="zh-CN" altLang="en-US" sz="2000" b="1" dirty="0">
                <a:solidFill>
                  <a:srgbClr val="0000FF"/>
                </a:solidFill>
                <a:latin typeface="微软雅黑" panose="020B0503020204020204" pitchFamily="34" charset="-122"/>
                <a:ea typeface="微软雅黑" panose="020B0503020204020204" pitchFamily="34" charset="-122"/>
              </a:rPr>
              <a:t>（</a:t>
            </a:r>
            <a:r>
              <a:rPr lang="en-US" altLang="zh-CN" sz="2000" b="1" dirty="0">
                <a:solidFill>
                  <a:srgbClr val="0000FF"/>
                </a:solidFill>
                <a:latin typeface="微软雅黑" panose="020B0503020204020204" pitchFamily="34" charset="-122"/>
                <a:ea typeface="微软雅黑" panose="020B0503020204020204" pitchFamily="34" charset="-122"/>
              </a:rPr>
              <a:t>Capacity to Digital converter</a:t>
            </a:r>
            <a:r>
              <a:rPr lang="zh-CN" altLang="en-US" sz="2000" b="1" dirty="0">
                <a:solidFill>
                  <a:srgbClr val="0000FF"/>
                </a:solidFill>
                <a:latin typeface="微软雅黑" panose="020B0503020204020204" pitchFamily="34" charset="-122"/>
                <a:ea typeface="微软雅黑" panose="020B0503020204020204" pitchFamily="34" charset="-122"/>
              </a:rPr>
              <a:t>）电容</a:t>
            </a:r>
            <a:r>
              <a:rPr lang="en-US" altLang="zh-CN" sz="2000" b="1" dirty="0">
                <a:solidFill>
                  <a:srgbClr val="0000FF"/>
                </a:solidFill>
                <a:latin typeface="微软雅黑" panose="020B0503020204020204" pitchFamily="34" charset="-122"/>
                <a:ea typeface="微软雅黑" panose="020B0503020204020204" pitchFamily="34" charset="-122"/>
              </a:rPr>
              <a:t>-</a:t>
            </a:r>
            <a:r>
              <a:rPr lang="zh-CN" altLang="en-US" sz="2000" b="1" dirty="0">
                <a:solidFill>
                  <a:srgbClr val="0000FF"/>
                </a:solidFill>
                <a:latin typeface="微软雅黑" panose="020B0503020204020204" pitchFamily="34" charset="-122"/>
                <a:ea typeface="微软雅黑" panose="020B0503020204020204" pitchFamily="34" charset="-122"/>
              </a:rPr>
              <a:t>数字转换器的芯片，可以把电容值转换为数字量，可以直接和微机接口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1">
            <a:extLst>
              <a:ext uri="{FF2B5EF4-FFF2-40B4-BE49-F238E27FC236}">
                <a16:creationId xmlns:a16="http://schemas.microsoft.com/office/drawing/2014/main" id="{4B8445B4-FE4C-45C6-BF4D-BD6F9D180477}"/>
              </a:ext>
            </a:extLst>
          </p:cNvPr>
          <p:cNvSpPr>
            <a:spLocks noGrp="1"/>
          </p:cNvSpPr>
          <p:nvPr>
            <p:ph type="sldNum" sz="quarter" idx="12"/>
          </p:nvPr>
        </p:nvSpPr>
        <p:spPr>
          <a:xfrm>
            <a:off x="6718300" y="6284913"/>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ABFBC29B-3E8C-43D0-9FFC-761ACF687FA7}" type="slidenum">
              <a:rPr lang="en-US" altLang="zh-CN" smtClean="0"/>
              <a:pPr/>
              <a:t>35</a:t>
            </a:fld>
            <a:endParaRPr lang="en-US" altLang="zh-CN"/>
          </a:p>
        </p:txBody>
      </p:sp>
      <p:sp>
        <p:nvSpPr>
          <p:cNvPr id="9" name="矩形 8">
            <a:extLst>
              <a:ext uri="{FF2B5EF4-FFF2-40B4-BE49-F238E27FC236}">
                <a16:creationId xmlns:a16="http://schemas.microsoft.com/office/drawing/2014/main" id="{70CC6E35-D334-4040-ABF1-BD27B1DD2516}"/>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57348" name="Text Box 2">
            <a:extLst>
              <a:ext uri="{FF2B5EF4-FFF2-40B4-BE49-F238E27FC236}">
                <a16:creationId xmlns:a16="http://schemas.microsoft.com/office/drawing/2014/main" id="{911C70B6-994D-43CB-BBA8-A20227580B33}"/>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zh-CN" altLang="en-US" sz="2800" b="1" dirty="0">
                <a:solidFill>
                  <a:srgbClr val="0000FF"/>
                </a:solidFill>
                <a:latin typeface="微软雅黑" panose="020B0503020204020204" pitchFamily="34" charset="-122"/>
                <a:ea typeface="微软雅黑" panose="020B0503020204020204" pitchFamily="34" charset="-122"/>
              </a:rPr>
              <a:t>应用：</a:t>
            </a:r>
            <a:r>
              <a:rPr kumimoji="1" lang="zh-CN" altLang="en-US" sz="2800" b="1" dirty="0">
                <a:solidFill>
                  <a:srgbClr val="C00000"/>
                </a:solidFill>
                <a:latin typeface="微软雅黑" panose="020B0503020204020204" pitchFamily="34" charset="-122"/>
                <a:ea typeface="微软雅黑" panose="020B0503020204020204" pitchFamily="34" charset="-122"/>
              </a:rPr>
              <a:t>电容式激光焦点测量传感器及其测量电路</a:t>
            </a:r>
          </a:p>
        </p:txBody>
      </p:sp>
      <p:pic>
        <p:nvPicPr>
          <p:cNvPr id="57349" name="Picture 4" descr="b_20120222140807192">
            <a:extLst>
              <a:ext uri="{FF2B5EF4-FFF2-40B4-BE49-F238E27FC236}">
                <a16:creationId xmlns:a16="http://schemas.microsoft.com/office/drawing/2014/main" id="{AAFE44CF-A5E0-46CD-9E87-3772AF67AC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4663" y="1060450"/>
            <a:ext cx="4608512" cy="389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0" name="图片 1">
            <a:extLst>
              <a:ext uri="{FF2B5EF4-FFF2-40B4-BE49-F238E27FC236}">
                <a16:creationId xmlns:a16="http://schemas.microsoft.com/office/drawing/2014/main" id="{16778F28-7337-4EED-8431-8E9FCFE08B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575" y="1047750"/>
            <a:ext cx="4519613" cy="389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1" name="矩形 1">
            <a:extLst>
              <a:ext uri="{FF2B5EF4-FFF2-40B4-BE49-F238E27FC236}">
                <a16:creationId xmlns:a16="http://schemas.microsoft.com/office/drawing/2014/main" id="{B88BF83F-8167-459F-81DD-D73486C2053E}"/>
              </a:ext>
            </a:extLst>
          </p:cNvPr>
          <p:cNvSpPr>
            <a:spLocks noChangeArrowheads="1"/>
          </p:cNvSpPr>
          <p:nvPr/>
        </p:nvSpPr>
        <p:spPr bwMode="auto">
          <a:xfrm>
            <a:off x="195263" y="4994275"/>
            <a:ext cx="875347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b="1" dirty="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激光切割是一种非接触式加工技术</a:t>
            </a:r>
            <a:r>
              <a:rPr lang="en-US" altLang="zh-CN" sz="2000" b="1" dirty="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激光头与加工工件表面留有间距</a:t>
            </a:r>
            <a:r>
              <a:rPr lang="zh-CN" altLang="en-US" sz="2000" b="1" dirty="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a:p>
            <a:pPr>
              <a:spcBef>
                <a:spcPct val="0"/>
              </a:spcBef>
              <a:buFontTx/>
              <a:buNone/>
            </a:pPr>
            <a:r>
              <a:rPr lang="zh-CN" altLang="en-US" sz="2000" b="1" dirty="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在激光切割过程中，为了保证切割质量，需要使切口处的功率密度最大，</a:t>
            </a:r>
            <a:r>
              <a:rPr lang="zh-CN" altLang="en-US"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这</a:t>
            </a:r>
            <a:r>
              <a:rPr lang="zh-CN" altLang="zh-CN" sz="2000" b="1" dirty="0">
                <a:highlight>
                  <a:srgbClr val="FFFF00"/>
                </a:highlight>
                <a:latin typeface="微软雅黑" panose="020B0503020204020204" pitchFamily="34" charset="-122"/>
                <a:ea typeface="微软雅黑" panose="020B0503020204020204" pitchFamily="34" charset="-122"/>
              </a:rPr>
              <a:t>要求切割头的喷嘴与被加工工件表面的间隙恒定</a:t>
            </a:r>
            <a:r>
              <a:rPr lang="zh-CN" altLang="zh-CN" sz="2000" b="1" dirty="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a:p>
            <a:pPr>
              <a:spcBef>
                <a:spcPct val="0"/>
              </a:spcBef>
              <a:buFontTx/>
              <a:buNone/>
            </a:pPr>
            <a:r>
              <a:rPr lang="zh-CN" altLang="en-US" sz="2000" b="1" dirty="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在实际生产加工中，待切割加工的工件表面通常是不平整的，使用激光焦点位置测量系统获得实际距离，再通过控制系统调节激光切割头的焦距。</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1">
            <a:extLst>
              <a:ext uri="{FF2B5EF4-FFF2-40B4-BE49-F238E27FC236}">
                <a16:creationId xmlns:a16="http://schemas.microsoft.com/office/drawing/2014/main" id="{0F43C6EE-EB1E-4A18-A7A2-49DA449B84C7}"/>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43C24ED-2C77-4722-B961-E3DB1F5244ED}" type="slidenum">
              <a:rPr lang="en-US" altLang="zh-CN" smtClean="0"/>
              <a:pPr/>
              <a:t>36</a:t>
            </a:fld>
            <a:endParaRPr lang="en-US" altLang="zh-CN"/>
          </a:p>
        </p:txBody>
      </p:sp>
      <p:sp>
        <p:nvSpPr>
          <p:cNvPr id="9" name="矩形 8">
            <a:extLst>
              <a:ext uri="{FF2B5EF4-FFF2-40B4-BE49-F238E27FC236}">
                <a16:creationId xmlns:a16="http://schemas.microsoft.com/office/drawing/2014/main" id="{7CC75C07-B0DB-4E6E-8C6E-2E104B44B2F3}"/>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59396" name="Text Box 2">
            <a:extLst>
              <a:ext uri="{FF2B5EF4-FFF2-40B4-BE49-F238E27FC236}">
                <a16:creationId xmlns:a16="http://schemas.microsoft.com/office/drawing/2014/main" id="{F80C8C86-E644-42B3-8657-B69409B2A403}"/>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zh-CN" altLang="en-US" sz="2800" b="1" dirty="0">
                <a:solidFill>
                  <a:srgbClr val="0000FF"/>
                </a:solidFill>
                <a:latin typeface="微软雅黑" panose="020B0503020204020204" pitchFamily="34" charset="-122"/>
                <a:ea typeface="微软雅黑" panose="020B0503020204020204" pitchFamily="34" charset="-122"/>
              </a:rPr>
              <a:t>应用：</a:t>
            </a:r>
            <a:r>
              <a:rPr kumimoji="1" lang="zh-CN" altLang="en-US" sz="2800" b="1" dirty="0">
                <a:solidFill>
                  <a:srgbClr val="C00000"/>
                </a:solidFill>
                <a:latin typeface="微软雅黑" panose="020B0503020204020204" pitchFamily="34" charset="-122"/>
                <a:ea typeface="微软雅黑" panose="020B0503020204020204" pitchFamily="34" charset="-122"/>
              </a:rPr>
              <a:t>电容式激光焦点测量传感器及其测量电路</a:t>
            </a:r>
          </a:p>
        </p:txBody>
      </p:sp>
      <p:pic>
        <p:nvPicPr>
          <p:cNvPr id="59397" name="Picture 2">
            <a:extLst>
              <a:ext uri="{FF2B5EF4-FFF2-40B4-BE49-F238E27FC236}">
                <a16:creationId xmlns:a16="http://schemas.microsoft.com/office/drawing/2014/main" id="{E8D2B0C8-CA56-4B2A-AF32-199D7A7CC4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113" y="1208088"/>
            <a:ext cx="4556125" cy="351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7962C591-DF8F-4CDA-A93D-AE49641562A7}"/>
              </a:ext>
            </a:extLst>
          </p:cNvPr>
          <p:cNvSpPr/>
          <p:nvPr/>
        </p:nvSpPr>
        <p:spPr>
          <a:xfrm>
            <a:off x="155575" y="4845050"/>
            <a:ext cx="4427538" cy="1631950"/>
          </a:xfrm>
          <a:prstGeom prst="rect">
            <a:avLst/>
          </a:prstGeom>
        </p:spPr>
        <p:txBody>
          <a:bodyPr>
            <a:spAutoFit/>
          </a:bodyPr>
          <a:lstStyle/>
          <a:p>
            <a:pPr algn="ctr">
              <a:defRPr/>
            </a:pPr>
            <a:r>
              <a:rPr lang="zh-CN" altLang="zh-CN" sz="2000" b="1" kern="100" dirty="0">
                <a:solidFill>
                  <a:srgbClr val="000000"/>
                </a:solidFill>
                <a:latin typeface="微软雅黑" panose="020B0503020204020204" pitchFamily="34" charset="-122"/>
                <a:ea typeface="微软雅黑" panose="020B0503020204020204" pitchFamily="34" charset="-122"/>
              </a:rPr>
              <a:t>传感器系统结构示意图</a:t>
            </a:r>
            <a:endParaRPr lang="zh-CN" altLang="zh-CN" sz="2000" b="1" kern="100" dirty="0">
              <a:latin typeface="微软雅黑" panose="020B0503020204020204" pitchFamily="34" charset="-122"/>
              <a:ea typeface="微软雅黑" panose="020B0503020204020204" pitchFamily="34" charset="-122"/>
            </a:endParaRPr>
          </a:p>
          <a:p>
            <a:pPr algn="ctr">
              <a:defRPr/>
            </a:pPr>
            <a:r>
              <a:rPr lang="en-US" altLang="zh-CN" sz="2000" b="1" kern="100" dirty="0">
                <a:solidFill>
                  <a:srgbClr val="000000"/>
                </a:solidFill>
                <a:latin typeface="微软雅黑" panose="020B0503020204020204" pitchFamily="34" charset="-122"/>
                <a:ea typeface="微软雅黑" panose="020B0503020204020204" pitchFamily="34" charset="-122"/>
              </a:rPr>
              <a:t>1-</a:t>
            </a:r>
            <a:r>
              <a:rPr lang="zh-CN" altLang="zh-CN" sz="2000" b="1" kern="100" dirty="0">
                <a:solidFill>
                  <a:srgbClr val="000000"/>
                </a:solidFill>
                <a:latin typeface="微软雅黑" panose="020B0503020204020204" pitchFamily="34" charset="-122"/>
                <a:ea typeface="微软雅黑" panose="020B0503020204020204" pitchFamily="34" charset="-122"/>
              </a:rPr>
              <a:t>切割头；</a:t>
            </a:r>
            <a:r>
              <a:rPr lang="en-US" altLang="zh-CN" sz="2000" b="1" kern="100" dirty="0">
                <a:solidFill>
                  <a:srgbClr val="000000"/>
                </a:solidFill>
                <a:latin typeface="微软雅黑" panose="020B0503020204020204" pitchFamily="34" charset="-122"/>
                <a:ea typeface="微软雅黑" panose="020B0503020204020204" pitchFamily="34" charset="-122"/>
              </a:rPr>
              <a:t>2-</a:t>
            </a:r>
            <a:r>
              <a:rPr lang="zh-CN" altLang="zh-CN" sz="2000" b="1" kern="100" dirty="0">
                <a:solidFill>
                  <a:srgbClr val="000000"/>
                </a:solidFill>
                <a:latin typeface="微软雅黑" panose="020B0503020204020204" pitchFamily="34" charset="-122"/>
                <a:ea typeface="微软雅黑" panose="020B0503020204020204" pitchFamily="34" charset="-122"/>
              </a:rPr>
              <a:t>电容传感器；</a:t>
            </a:r>
            <a:endParaRPr lang="en-US" altLang="zh-CN" sz="2000" b="1" kern="100" dirty="0">
              <a:solidFill>
                <a:srgbClr val="000000"/>
              </a:solidFill>
              <a:latin typeface="微软雅黑" panose="020B0503020204020204" pitchFamily="34" charset="-122"/>
              <a:ea typeface="微软雅黑" panose="020B0503020204020204" pitchFamily="34" charset="-122"/>
            </a:endParaRPr>
          </a:p>
          <a:p>
            <a:pPr algn="ctr">
              <a:defRPr/>
            </a:pPr>
            <a:r>
              <a:rPr lang="en-US" altLang="zh-CN" sz="2000" b="1" kern="100" dirty="0">
                <a:solidFill>
                  <a:srgbClr val="000000"/>
                </a:solidFill>
                <a:latin typeface="微软雅黑" panose="020B0503020204020204" pitchFamily="34" charset="-122"/>
                <a:ea typeface="微软雅黑" panose="020B0503020204020204" pitchFamily="34" charset="-122"/>
              </a:rPr>
              <a:t>3-</a:t>
            </a:r>
            <a:r>
              <a:rPr lang="zh-CN" altLang="zh-CN" sz="2000" b="1" kern="100" dirty="0">
                <a:solidFill>
                  <a:srgbClr val="000000"/>
                </a:solidFill>
                <a:latin typeface="微软雅黑" panose="020B0503020204020204" pitchFamily="34" charset="-122"/>
                <a:ea typeface="微软雅黑" panose="020B0503020204020204" pitchFamily="34" charset="-122"/>
              </a:rPr>
              <a:t>电容电缆；</a:t>
            </a:r>
            <a:r>
              <a:rPr lang="en-US" altLang="zh-CN" sz="2000" b="1" kern="100" dirty="0">
                <a:solidFill>
                  <a:srgbClr val="000000"/>
                </a:solidFill>
                <a:latin typeface="微软雅黑" panose="020B0503020204020204" pitchFamily="34" charset="-122"/>
                <a:ea typeface="微软雅黑" panose="020B0503020204020204" pitchFamily="34" charset="-122"/>
              </a:rPr>
              <a:t>4-</a:t>
            </a:r>
            <a:r>
              <a:rPr lang="zh-CN" altLang="zh-CN" sz="2000" b="1" kern="100" dirty="0">
                <a:solidFill>
                  <a:srgbClr val="000000"/>
                </a:solidFill>
                <a:latin typeface="微软雅黑" panose="020B0503020204020204" pitchFamily="34" charset="-122"/>
                <a:ea typeface="微软雅黑" panose="020B0503020204020204" pitchFamily="34" charset="-122"/>
              </a:rPr>
              <a:t>前置放大器；</a:t>
            </a:r>
            <a:endParaRPr lang="en-US" altLang="zh-CN" sz="2000" b="1" kern="100" dirty="0">
              <a:solidFill>
                <a:srgbClr val="000000"/>
              </a:solidFill>
              <a:latin typeface="微软雅黑" panose="020B0503020204020204" pitchFamily="34" charset="-122"/>
              <a:ea typeface="微软雅黑" panose="020B0503020204020204" pitchFamily="34" charset="-122"/>
            </a:endParaRPr>
          </a:p>
          <a:p>
            <a:pPr algn="ctr">
              <a:defRPr/>
            </a:pPr>
            <a:r>
              <a:rPr lang="en-US" altLang="zh-CN" sz="2000" b="1" kern="100" dirty="0">
                <a:solidFill>
                  <a:srgbClr val="000000"/>
                </a:solidFill>
                <a:latin typeface="微软雅黑" panose="020B0503020204020204" pitchFamily="34" charset="-122"/>
                <a:ea typeface="微软雅黑" panose="020B0503020204020204" pitchFamily="34" charset="-122"/>
              </a:rPr>
              <a:t>5-</a:t>
            </a:r>
            <a:r>
              <a:rPr lang="zh-CN" altLang="zh-CN" sz="2000" b="1" kern="100" dirty="0">
                <a:solidFill>
                  <a:srgbClr val="000000"/>
                </a:solidFill>
                <a:latin typeface="微软雅黑" panose="020B0503020204020204" pitchFamily="34" charset="-122"/>
                <a:ea typeface="微软雅黑" panose="020B0503020204020204" pitchFamily="34" charset="-122"/>
              </a:rPr>
              <a:t>同轴电缆</a:t>
            </a:r>
            <a:r>
              <a:rPr lang="zh-CN" altLang="en-US" sz="2000" b="1" kern="100" dirty="0">
                <a:solidFill>
                  <a:srgbClr val="000000"/>
                </a:solidFill>
                <a:latin typeface="微软雅黑" panose="020B0503020204020204" pitchFamily="34" charset="-122"/>
                <a:ea typeface="微软雅黑" panose="020B0503020204020204" pitchFamily="34" charset="-122"/>
              </a:rPr>
              <a:t>；</a:t>
            </a:r>
            <a:r>
              <a:rPr lang="en-US" altLang="zh-CN" sz="2000" b="1" kern="100" dirty="0">
                <a:solidFill>
                  <a:srgbClr val="000000"/>
                </a:solidFill>
                <a:latin typeface="微软雅黑" panose="020B0503020204020204" pitchFamily="34" charset="-122"/>
                <a:ea typeface="微软雅黑" panose="020B0503020204020204" pitchFamily="34" charset="-122"/>
              </a:rPr>
              <a:t>6-</a:t>
            </a:r>
            <a:r>
              <a:rPr lang="zh-CN" altLang="zh-CN" sz="2000"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控制盒；</a:t>
            </a:r>
            <a:endParaRPr lang="en-US" altLang="zh-CN" sz="2000"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ctr">
              <a:defRPr/>
            </a:pPr>
            <a:r>
              <a:rPr lang="en-US" altLang="zh-CN" sz="2000" b="1" kern="100" dirty="0">
                <a:solidFill>
                  <a:srgbClr val="000000"/>
                </a:solidFill>
                <a:latin typeface="微软雅黑" panose="020B0503020204020204" pitchFamily="34" charset="-122"/>
                <a:ea typeface="微软雅黑" panose="020B0503020204020204" pitchFamily="34" charset="-122"/>
              </a:rPr>
              <a:t>7-</a:t>
            </a:r>
            <a:r>
              <a:rPr lang="zh-CN" altLang="zh-CN" sz="2000"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直流电源；</a:t>
            </a:r>
            <a:r>
              <a:rPr lang="en-US" altLang="zh-CN" sz="2000" b="1" kern="100" dirty="0">
                <a:solidFill>
                  <a:srgbClr val="000000"/>
                </a:solidFill>
                <a:latin typeface="微软雅黑" panose="020B0503020204020204" pitchFamily="34" charset="-122"/>
                <a:ea typeface="微软雅黑" panose="020B0503020204020204" pitchFamily="34" charset="-122"/>
              </a:rPr>
              <a:t>8-</a:t>
            </a:r>
            <a:r>
              <a:rPr lang="zh-CN" altLang="zh-CN" sz="2000"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工件；</a:t>
            </a:r>
            <a:r>
              <a:rPr lang="en-US" altLang="zh-CN" sz="2000" b="1" kern="100" dirty="0">
                <a:solidFill>
                  <a:srgbClr val="000000"/>
                </a:solidFill>
                <a:latin typeface="微软雅黑" panose="020B0503020204020204" pitchFamily="34" charset="-122"/>
                <a:ea typeface="微软雅黑" panose="020B0503020204020204" pitchFamily="34" charset="-122"/>
              </a:rPr>
              <a:t>9-</a:t>
            </a:r>
            <a:r>
              <a:rPr lang="zh-CN" altLang="zh-CN" sz="2000"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接地点</a:t>
            </a:r>
            <a:endParaRPr lang="zh-CN" altLang="en-US" sz="2000" b="1" dirty="0">
              <a:latin typeface="微软雅黑" panose="020B0503020204020204" pitchFamily="34" charset="-122"/>
              <a:ea typeface="微软雅黑" panose="020B0503020204020204" pitchFamily="34" charset="-122"/>
            </a:endParaRPr>
          </a:p>
        </p:txBody>
      </p:sp>
      <p:pic>
        <p:nvPicPr>
          <p:cNvPr id="59399" name="图片 6">
            <a:extLst>
              <a:ext uri="{FF2B5EF4-FFF2-40B4-BE49-F238E27FC236}">
                <a16:creationId xmlns:a16="http://schemas.microsoft.com/office/drawing/2014/main" id="{12CE1A17-225E-45F4-959A-95A1B9F2408A}"/>
              </a:ext>
            </a:extLst>
          </p:cNvPr>
          <p:cNvPicPr>
            <a:picLocks noChangeAspect="1" noChangeArrowheads="1"/>
          </p:cNvPicPr>
          <p:nvPr/>
        </p:nvPicPr>
        <p:blipFill>
          <a:blip r:embed="rId4">
            <a:lum bright="-40000" contrast="20000"/>
            <a:grayscl/>
            <a:biLevel thresh="50000"/>
            <a:extLst>
              <a:ext uri="{28A0092B-C50C-407E-A947-70E740481C1C}">
                <a14:useLocalDpi xmlns:a14="http://schemas.microsoft.com/office/drawing/2010/main" val="0"/>
              </a:ext>
            </a:extLst>
          </a:blip>
          <a:srcRect/>
          <a:stretch>
            <a:fillRect/>
          </a:stretch>
        </p:blipFill>
        <p:spPr bwMode="auto">
          <a:xfrm>
            <a:off x="4686300" y="4030663"/>
            <a:ext cx="4445000" cy="2076450"/>
          </a:xfrm>
          <a:prstGeom prst="rect">
            <a:avLst/>
          </a:prstGeom>
          <a:solidFill>
            <a:schemeClr val="accent3">
              <a:lumMod val="95000"/>
            </a:schemeClr>
          </a:solidFill>
          <a:ln>
            <a:noFill/>
          </a:ln>
          <a:extLst/>
        </p:spPr>
      </p:pic>
      <p:sp>
        <p:nvSpPr>
          <p:cNvPr id="4" name="矩形 3">
            <a:extLst>
              <a:ext uri="{FF2B5EF4-FFF2-40B4-BE49-F238E27FC236}">
                <a16:creationId xmlns:a16="http://schemas.microsoft.com/office/drawing/2014/main" id="{20D241D1-EC0F-4E1E-B4F8-D09ED5D3C6DA}"/>
              </a:ext>
            </a:extLst>
          </p:cNvPr>
          <p:cNvSpPr/>
          <p:nvPr/>
        </p:nvSpPr>
        <p:spPr>
          <a:xfrm>
            <a:off x="4721225" y="1033463"/>
            <a:ext cx="4422775" cy="2862262"/>
          </a:xfrm>
          <a:prstGeom prst="rect">
            <a:avLst/>
          </a:prstGeom>
        </p:spPr>
        <p:txBody>
          <a:bodyPr>
            <a:spAutoFit/>
          </a:bodyPr>
          <a:lstStyle/>
          <a:p>
            <a:pPr>
              <a:defRPr/>
            </a:pPr>
            <a:r>
              <a:rPr lang="zh-CN" altLang="zh-CN" sz="2000" b="1" kern="100" dirty="0">
                <a:solidFill>
                  <a:srgbClr val="000000"/>
                </a:solidFill>
                <a:latin typeface="微软雅黑" panose="020B0503020204020204" pitchFamily="34" charset="-122"/>
                <a:ea typeface="微软雅黑" panose="020B0503020204020204" pitchFamily="34" charset="-122"/>
              </a:rPr>
              <a:t>激光切割加工是指用高功率密度的激光去照射待加工的金属工件表面，工件在激光照射下被迅速的</a:t>
            </a:r>
            <a:r>
              <a:rPr lang="zh-CN" altLang="zh-CN" sz="2000" b="1" kern="100" dirty="0">
                <a:solidFill>
                  <a:srgbClr val="FF0000"/>
                </a:solidFill>
                <a:latin typeface="微软雅黑" panose="020B0503020204020204" pitchFamily="34" charset="-122"/>
                <a:ea typeface="微软雅黑" panose="020B0503020204020204" pitchFamily="34" charset="-122"/>
              </a:rPr>
              <a:t>溶化、汽化</a:t>
            </a:r>
            <a:r>
              <a:rPr lang="zh-CN" altLang="zh-CN" sz="2000" b="1" kern="100" dirty="0">
                <a:solidFill>
                  <a:srgbClr val="000000"/>
                </a:solidFill>
                <a:latin typeface="微软雅黑" panose="020B0503020204020204" pitchFamily="34" charset="-122"/>
                <a:ea typeface="微软雅黑" panose="020B0503020204020204" pitchFamily="34" charset="-122"/>
              </a:rPr>
              <a:t>并形成孔洞。在激光光束与加工工件的相对运动之下，形成对金属材料的切割，被</a:t>
            </a:r>
            <a:r>
              <a:rPr lang="zh-CN" altLang="zh-CN" sz="2000" b="1" kern="100" dirty="0">
                <a:solidFill>
                  <a:srgbClr val="FF0000"/>
                </a:solidFill>
                <a:latin typeface="微软雅黑" panose="020B0503020204020204" pitchFamily="34" charset="-122"/>
                <a:ea typeface="微软雅黑" panose="020B0503020204020204" pitchFamily="34" charset="-122"/>
              </a:rPr>
              <a:t>激光烧灼形成的熔融物</a:t>
            </a:r>
            <a:r>
              <a:rPr lang="zh-CN" altLang="zh-CN" sz="2000" b="1" kern="100" dirty="0">
                <a:solidFill>
                  <a:srgbClr val="000000"/>
                </a:solidFill>
                <a:latin typeface="微软雅黑" panose="020B0503020204020204" pitchFamily="34" charset="-122"/>
                <a:ea typeface="微软雅黑" panose="020B0503020204020204" pitchFamily="34" charset="-122"/>
              </a:rPr>
              <a:t>被辅助气体在拖拽力的作用下从切缝内吹出。从原理上看，激光切割加工属于热切割加工方法中的一种</a:t>
            </a:r>
            <a:endParaRPr lang="zh-CN" altLang="en-US" sz="2000" b="1" kern="1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1">
            <a:extLst>
              <a:ext uri="{FF2B5EF4-FFF2-40B4-BE49-F238E27FC236}">
                <a16:creationId xmlns:a16="http://schemas.microsoft.com/office/drawing/2014/main" id="{A3EE82DE-201C-48D7-B4F4-FDBF03463344}"/>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293BACF9-5DD7-45A2-9822-8DC866A247EB}" type="slidenum">
              <a:rPr lang="en-US" altLang="zh-CN" smtClean="0"/>
              <a:pPr/>
              <a:t>37</a:t>
            </a:fld>
            <a:endParaRPr lang="en-US" altLang="zh-CN"/>
          </a:p>
        </p:txBody>
      </p:sp>
      <p:sp>
        <p:nvSpPr>
          <p:cNvPr id="9" name="矩形 8">
            <a:extLst>
              <a:ext uri="{FF2B5EF4-FFF2-40B4-BE49-F238E27FC236}">
                <a16:creationId xmlns:a16="http://schemas.microsoft.com/office/drawing/2014/main" id="{381D4314-C91F-4FD3-90D9-B4940B2D7B46}"/>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61444" name="Text Box 2">
            <a:extLst>
              <a:ext uri="{FF2B5EF4-FFF2-40B4-BE49-F238E27FC236}">
                <a16:creationId xmlns:a16="http://schemas.microsoft.com/office/drawing/2014/main" id="{03828628-6FE8-4D8A-AD3C-2B18E0917F4E}"/>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zh-CN" altLang="en-US" sz="2800" b="1" dirty="0">
                <a:solidFill>
                  <a:srgbClr val="0000FF"/>
                </a:solidFill>
                <a:latin typeface="微软雅黑" panose="020B0503020204020204" pitchFamily="34" charset="-122"/>
                <a:ea typeface="微软雅黑" panose="020B0503020204020204" pitchFamily="34" charset="-122"/>
              </a:rPr>
              <a:t>应用：</a:t>
            </a:r>
            <a:r>
              <a:rPr kumimoji="1" lang="zh-CN" altLang="en-US" sz="2800" b="1" dirty="0">
                <a:solidFill>
                  <a:srgbClr val="C00000"/>
                </a:solidFill>
                <a:latin typeface="微软雅黑" panose="020B0503020204020204" pitchFamily="34" charset="-122"/>
                <a:ea typeface="微软雅黑" panose="020B0503020204020204" pitchFamily="34" charset="-122"/>
              </a:rPr>
              <a:t>电容式激光焦点测量传感器及其测量电路</a:t>
            </a:r>
          </a:p>
        </p:txBody>
      </p:sp>
      <p:pic>
        <p:nvPicPr>
          <p:cNvPr id="61445" name="Picture 2">
            <a:extLst>
              <a:ext uri="{FF2B5EF4-FFF2-40B4-BE49-F238E27FC236}">
                <a16:creationId xmlns:a16="http://schemas.microsoft.com/office/drawing/2014/main" id="{BAA4C9A4-F75C-466C-AD1C-40C4CCAFA8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923925"/>
            <a:ext cx="6584950" cy="300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EA000C3A-2E80-4AC2-B564-2CBC2C1DC413}"/>
              </a:ext>
            </a:extLst>
          </p:cNvPr>
          <p:cNvSpPr/>
          <p:nvPr/>
        </p:nvSpPr>
        <p:spPr>
          <a:xfrm>
            <a:off x="155575" y="4133850"/>
            <a:ext cx="8737600" cy="2554288"/>
          </a:xfrm>
          <a:prstGeom prst="rect">
            <a:avLst/>
          </a:prstGeom>
        </p:spPr>
        <p:txBody>
          <a:bodyPr>
            <a:spAutoFit/>
          </a:bodyPr>
          <a:lstStyle/>
          <a:p>
            <a:pPr>
              <a:defRPr/>
            </a:pPr>
            <a:r>
              <a:rPr lang="zh-CN" altLang="en-US" sz="2000" b="1" kern="100" dirty="0">
                <a:solidFill>
                  <a:srgbClr val="000000"/>
                </a:solidFill>
                <a:latin typeface="微软雅黑" panose="020B0503020204020204" pitchFamily="34" charset="-122"/>
                <a:ea typeface="微软雅黑" panose="020B0503020204020204" pitchFamily="34" charset="-122"/>
              </a:rPr>
              <a:t>☆</a:t>
            </a:r>
            <a:r>
              <a:rPr lang="zh-CN" altLang="zh-CN" sz="2000" b="1" kern="100" dirty="0">
                <a:solidFill>
                  <a:srgbClr val="000000"/>
                </a:solidFill>
                <a:latin typeface="微软雅黑" panose="020B0503020204020204" pitchFamily="34" charset="-122"/>
                <a:ea typeface="微软雅黑" panose="020B0503020204020204" pitchFamily="34" charset="-122"/>
              </a:rPr>
              <a:t>测量电路多采用分立元件构成，测量电路庞大而复杂，因此</a:t>
            </a:r>
            <a:r>
              <a:rPr lang="zh-CN" altLang="zh-CN" sz="2000" b="1" kern="100" dirty="0">
                <a:solidFill>
                  <a:srgbClr val="FF0000"/>
                </a:solidFill>
                <a:latin typeface="微软雅黑" panose="020B0503020204020204" pitchFamily="34" charset="-122"/>
                <a:ea typeface="微软雅黑" panose="020B0503020204020204" pitchFamily="34" charset="-122"/>
              </a:rPr>
              <a:t>无法</a:t>
            </a:r>
            <a:r>
              <a:rPr lang="zh-CN" altLang="zh-CN" sz="2000" b="1" kern="100" dirty="0">
                <a:solidFill>
                  <a:srgbClr val="000000"/>
                </a:solidFill>
                <a:latin typeface="微软雅黑" panose="020B0503020204020204" pitchFamily="34" charset="-122"/>
                <a:ea typeface="微软雅黑" panose="020B0503020204020204" pitchFamily="34" charset="-122"/>
              </a:rPr>
              <a:t>将后续的信号处理电路一并</a:t>
            </a:r>
            <a:r>
              <a:rPr lang="zh-CN" altLang="zh-CN" sz="2000" b="1" kern="100" dirty="0">
                <a:solidFill>
                  <a:srgbClr val="FF0000"/>
                </a:solidFill>
                <a:latin typeface="微软雅黑" panose="020B0503020204020204" pitchFamily="34" charset="-122"/>
                <a:ea typeface="微软雅黑" panose="020B0503020204020204" pitchFamily="34" charset="-122"/>
              </a:rPr>
              <a:t>集成</a:t>
            </a:r>
            <a:r>
              <a:rPr lang="zh-CN" altLang="zh-CN" sz="2000" b="1" kern="100" dirty="0">
                <a:solidFill>
                  <a:srgbClr val="000000"/>
                </a:solidFill>
                <a:latin typeface="微软雅黑" panose="020B0503020204020204" pitchFamily="34" charset="-122"/>
                <a:ea typeface="微软雅黑" panose="020B0503020204020204" pitchFamily="34" charset="-122"/>
              </a:rPr>
              <a:t>到传感器端</a:t>
            </a:r>
            <a:r>
              <a:rPr lang="zh-CN" altLang="en-US" sz="2000" b="1" kern="100" dirty="0">
                <a:solidFill>
                  <a:srgbClr val="000000"/>
                </a:solidFill>
                <a:latin typeface="微软雅黑" panose="020B0503020204020204" pitchFamily="34" charset="-122"/>
                <a:ea typeface="微软雅黑" panose="020B0503020204020204" pitchFamily="34" charset="-122"/>
              </a:rPr>
              <a:t>。</a:t>
            </a:r>
            <a:endParaRPr lang="en-US" altLang="zh-CN" sz="2000" b="1" kern="100" dirty="0">
              <a:solidFill>
                <a:srgbClr val="000000"/>
              </a:solidFill>
              <a:latin typeface="微软雅黑" panose="020B0503020204020204" pitchFamily="34" charset="-122"/>
              <a:ea typeface="微软雅黑" panose="020B0503020204020204" pitchFamily="34" charset="-122"/>
            </a:endParaRPr>
          </a:p>
          <a:p>
            <a:pPr>
              <a:defRPr/>
            </a:pPr>
            <a:r>
              <a:rPr lang="zh-CN" altLang="en-US" sz="2000" b="1" kern="100" dirty="0">
                <a:solidFill>
                  <a:srgbClr val="000000"/>
                </a:solidFill>
                <a:latin typeface="微软雅黑" panose="020B0503020204020204" pitchFamily="34" charset="-122"/>
                <a:ea typeface="微软雅黑" panose="020B0503020204020204" pitchFamily="34" charset="-122"/>
              </a:rPr>
              <a:t>☆</a:t>
            </a:r>
            <a:r>
              <a:rPr lang="zh-CN" altLang="zh-CN" sz="2000" b="1" kern="100" dirty="0">
                <a:solidFill>
                  <a:srgbClr val="000000"/>
                </a:solidFill>
                <a:latin typeface="微软雅黑" panose="020B0503020204020204" pitchFamily="34" charset="-122"/>
                <a:ea typeface="微软雅黑" panose="020B0503020204020204" pitchFamily="34" charset="-122"/>
              </a:rPr>
              <a:t>一般采用的都是传感器和后续信号处理电路分离的方式，那么</a:t>
            </a:r>
            <a:r>
              <a:rPr lang="zh-CN" altLang="zh-CN" sz="2000" b="1" kern="100" dirty="0">
                <a:solidFill>
                  <a:srgbClr val="FF0000"/>
                </a:solidFill>
                <a:latin typeface="微软雅黑" panose="020B0503020204020204" pitchFamily="34" charset="-122"/>
                <a:ea typeface="微软雅黑" panose="020B0503020204020204" pitchFamily="34" charset="-122"/>
              </a:rPr>
              <a:t>被测模拟量</a:t>
            </a:r>
            <a:r>
              <a:rPr lang="zh-CN" altLang="zh-CN" sz="2000" b="1" kern="100" dirty="0">
                <a:solidFill>
                  <a:srgbClr val="000000"/>
                </a:solidFill>
                <a:latin typeface="微软雅黑" panose="020B0503020204020204" pitchFamily="34" charset="-122"/>
                <a:ea typeface="微软雅黑" panose="020B0503020204020204" pitchFamily="34" charset="-122"/>
              </a:rPr>
              <a:t>从传感器输出要经过</a:t>
            </a:r>
            <a:r>
              <a:rPr lang="zh-CN" altLang="zh-CN" sz="2000" b="1" kern="100" dirty="0">
                <a:solidFill>
                  <a:srgbClr val="FF0000"/>
                </a:solidFill>
                <a:latin typeface="微软雅黑" panose="020B0503020204020204" pitchFamily="34" charset="-122"/>
                <a:ea typeface="微软雅黑" panose="020B0503020204020204" pitchFamily="34" charset="-122"/>
              </a:rPr>
              <a:t>较长的导线</a:t>
            </a:r>
            <a:r>
              <a:rPr lang="zh-CN" altLang="zh-CN" sz="2000" b="1" kern="100" dirty="0">
                <a:solidFill>
                  <a:srgbClr val="000000"/>
                </a:solidFill>
                <a:latin typeface="微软雅黑" panose="020B0503020204020204" pitchFamily="34" charset="-122"/>
                <a:ea typeface="微软雅黑" panose="020B0503020204020204" pitchFamily="34" charset="-122"/>
              </a:rPr>
              <a:t>送到后续的模拟或者数字</a:t>
            </a:r>
            <a:r>
              <a:rPr lang="zh-CN" altLang="zh-CN" sz="2000" b="1" kern="100" dirty="0">
                <a:solidFill>
                  <a:srgbClr val="FF0000"/>
                </a:solidFill>
                <a:latin typeface="微软雅黑" panose="020B0503020204020204" pitchFamily="34" charset="-122"/>
                <a:ea typeface="微软雅黑" panose="020B0503020204020204" pitchFamily="34" charset="-122"/>
              </a:rPr>
              <a:t>信号处理电路</a:t>
            </a:r>
            <a:r>
              <a:rPr lang="zh-CN" altLang="zh-CN" sz="2000" b="1" kern="100" dirty="0">
                <a:solidFill>
                  <a:srgbClr val="000000"/>
                </a:solidFill>
                <a:latin typeface="微软雅黑" panose="020B0503020204020204" pitchFamily="34" charset="-122"/>
                <a:ea typeface="微软雅黑" panose="020B0503020204020204" pitchFamily="34" charset="-122"/>
              </a:rPr>
              <a:t>中</a:t>
            </a:r>
            <a:r>
              <a:rPr lang="zh-CN" altLang="en-US" sz="2000" b="1" kern="100" dirty="0">
                <a:solidFill>
                  <a:srgbClr val="000000"/>
                </a:solidFill>
                <a:latin typeface="微软雅黑" panose="020B0503020204020204" pitchFamily="34" charset="-122"/>
                <a:ea typeface="微软雅黑" panose="020B0503020204020204" pitchFamily="34" charset="-122"/>
              </a:rPr>
              <a:t>。</a:t>
            </a:r>
            <a:endParaRPr lang="en-US" altLang="zh-CN" sz="2000" b="1" kern="100" dirty="0">
              <a:solidFill>
                <a:srgbClr val="000000"/>
              </a:solidFill>
              <a:latin typeface="微软雅黑" panose="020B0503020204020204" pitchFamily="34" charset="-122"/>
              <a:ea typeface="微软雅黑" panose="020B0503020204020204" pitchFamily="34" charset="-122"/>
            </a:endParaRPr>
          </a:p>
          <a:p>
            <a:pPr>
              <a:defRPr/>
            </a:pPr>
            <a:r>
              <a:rPr lang="zh-CN" altLang="en-US" sz="2000" b="1" kern="100" dirty="0">
                <a:solidFill>
                  <a:srgbClr val="000000"/>
                </a:solidFill>
                <a:latin typeface="微软雅黑" panose="020B0503020204020204" pitchFamily="34" charset="-122"/>
                <a:ea typeface="微软雅黑" panose="020B0503020204020204" pitchFamily="34" charset="-122"/>
              </a:rPr>
              <a:t>☆</a:t>
            </a:r>
            <a:r>
              <a:rPr lang="zh-CN" altLang="zh-CN" sz="2000" b="1" kern="100" dirty="0">
                <a:solidFill>
                  <a:srgbClr val="000000"/>
                </a:solidFill>
                <a:latin typeface="微软雅黑" panose="020B0503020204020204" pitchFamily="34" charset="-122"/>
                <a:ea typeface="微软雅黑" panose="020B0503020204020204" pitchFamily="34" charset="-122"/>
              </a:rPr>
              <a:t>模拟量在这一段传输过程中，又</a:t>
            </a:r>
            <a:r>
              <a:rPr lang="zh-CN" altLang="zh-CN" sz="2000" b="1" kern="100" dirty="0">
                <a:solidFill>
                  <a:srgbClr val="FF0000"/>
                </a:solidFill>
                <a:latin typeface="微软雅黑" panose="020B0503020204020204" pitchFamily="34" charset="-122"/>
                <a:ea typeface="微软雅黑" panose="020B0503020204020204" pitchFamily="34" charset="-122"/>
              </a:rPr>
              <a:t>引入了杂散电容</a:t>
            </a:r>
            <a:r>
              <a:rPr lang="zh-CN" altLang="zh-CN" sz="2000" b="1" kern="100" dirty="0">
                <a:solidFill>
                  <a:srgbClr val="000000"/>
                </a:solidFill>
                <a:latin typeface="微软雅黑" panose="020B0503020204020204" pitchFamily="34" charset="-122"/>
                <a:ea typeface="微软雅黑" panose="020B0503020204020204" pitchFamily="34" charset="-122"/>
              </a:rPr>
              <a:t>的影响，这些杂散电容值可以达到上百</a:t>
            </a:r>
            <a:r>
              <a:rPr lang="en-US" altLang="zh-CN" sz="2000" b="1" kern="100" dirty="0">
                <a:solidFill>
                  <a:srgbClr val="000000"/>
                </a:solidFill>
                <a:latin typeface="微软雅黑" panose="020B0503020204020204" pitchFamily="34" charset="-122"/>
                <a:ea typeface="微软雅黑" panose="020B0503020204020204" pitchFamily="34" charset="-122"/>
              </a:rPr>
              <a:t> </a:t>
            </a:r>
            <a:r>
              <a:rPr lang="zh-CN" altLang="zh-CN" sz="2000" b="1" kern="100" dirty="0">
                <a:solidFill>
                  <a:srgbClr val="000000"/>
                </a:solidFill>
                <a:latin typeface="微软雅黑" panose="020B0503020204020204" pitchFamily="34" charset="-122"/>
                <a:ea typeface="微软雅黑" panose="020B0503020204020204" pitchFamily="34" charset="-122"/>
              </a:rPr>
              <a:t>，会显著降低了传感器灵敏度，并且导线如果不固定，或者固定时的摆放形状发生变化，都将会引起</a:t>
            </a:r>
            <a:r>
              <a:rPr lang="zh-CN" altLang="zh-CN" sz="2000" b="1" kern="100" dirty="0">
                <a:solidFill>
                  <a:srgbClr val="FF0000"/>
                </a:solidFill>
                <a:latin typeface="微软雅黑" panose="020B0503020204020204" pitchFamily="34" charset="-122"/>
                <a:ea typeface="微软雅黑" panose="020B0503020204020204" pitchFamily="34" charset="-122"/>
              </a:rPr>
              <a:t>电缆电容发生变化</a:t>
            </a:r>
            <a:r>
              <a:rPr lang="zh-CN" altLang="zh-CN" sz="2000" b="1" kern="100" dirty="0">
                <a:solidFill>
                  <a:srgbClr val="000000"/>
                </a:solidFill>
                <a:latin typeface="微软雅黑" panose="020B0503020204020204" pitchFamily="34" charset="-122"/>
                <a:ea typeface="微软雅黑" panose="020B0503020204020204" pitchFamily="34" charset="-122"/>
              </a:rPr>
              <a:t>，使得传感器输出值不稳定。</a:t>
            </a:r>
            <a:endParaRPr lang="zh-CN" altLang="en-US" sz="2000" b="1" kern="1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1">
            <a:extLst>
              <a:ext uri="{FF2B5EF4-FFF2-40B4-BE49-F238E27FC236}">
                <a16:creationId xmlns:a16="http://schemas.microsoft.com/office/drawing/2014/main" id="{47CCC3F3-5D80-4B02-9F13-206F3028E99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52F97290-7585-4AD6-BF4B-E5E7C0C413BB}" type="slidenum">
              <a:rPr lang="en-US" altLang="zh-CN" smtClean="0"/>
              <a:pPr/>
              <a:t>38</a:t>
            </a:fld>
            <a:endParaRPr lang="en-US" altLang="zh-CN"/>
          </a:p>
        </p:txBody>
      </p:sp>
      <p:sp>
        <p:nvSpPr>
          <p:cNvPr id="9" name="矩形 8">
            <a:extLst>
              <a:ext uri="{FF2B5EF4-FFF2-40B4-BE49-F238E27FC236}">
                <a16:creationId xmlns:a16="http://schemas.microsoft.com/office/drawing/2014/main" id="{8D37A5B8-3431-4014-AF3E-F711D4C9164F}"/>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63492" name="Text Box 2">
            <a:extLst>
              <a:ext uri="{FF2B5EF4-FFF2-40B4-BE49-F238E27FC236}">
                <a16:creationId xmlns:a16="http://schemas.microsoft.com/office/drawing/2014/main" id="{B6A0EBAE-EBB9-493C-A155-33064D399D27}"/>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zh-CN" altLang="en-US" sz="2800" b="1">
                <a:solidFill>
                  <a:srgbClr val="C00000"/>
                </a:solidFill>
                <a:latin typeface="微软雅黑" panose="020B0503020204020204" pitchFamily="34" charset="-122"/>
                <a:ea typeface="微软雅黑" panose="020B0503020204020204" pitchFamily="34" charset="-122"/>
              </a:rPr>
              <a:t>电容式激光焦点测量传感器及其测量电路</a:t>
            </a:r>
          </a:p>
        </p:txBody>
      </p:sp>
      <p:pic>
        <p:nvPicPr>
          <p:cNvPr id="63493" name="Picture 2">
            <a:extLst>
              <a:ext uri="{FF2B5EF4-FFF2-40B4-BE49-F238E27FC236}">
                <a16:creationId xmlns:a16="http://schemas.microsoft.com/office/drawing/2014/main" id="{1076ED0C-45A3-45D1-8ACB-04E011C5F2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263" y="765175"/>
            <a:ext cx="6875462"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4" name="矩形 2">
            <a:extLst>
              <a:ext uri="{FF2B5EF4-FFF2-40B4-BE49-F238E27FC236}">
                <a16:creationId xmlns:a16="http://schemas.microsoft.com/office/drawing/2014/main" id="{EFF932DB-0C01-4354-8E77-BBB017543369}"/>
              </a:ext>
            </a:extLst>
          </p:cNvPr>
          <p:cNvSpPr>
            <a:spLocks noChangeArrowheads="1"/>
          </p:cNvSpPr>
          <p:nvPr/>
        </p:nvSpPr>
        <p:spPr bwMode="auto">
          <a:xfrm>
            <a:off x="93663" y="3933825"/>
            <a:ext cx="9050337"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b="1" dirty="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该电路由双振荡器</a:t>
            </a:r>
            <a:r>
              <a:rPr lang="en-US" altLang="zh-CN" sz="2000" b="1" dirty="0">
                <a:latin typeface="微软雅黑" panose="020B0503020204020204" pitchFamily="34" charset="-122"/>
                <a:ea typeface="微软雅黑" panose="020B0503020204020204" pitchFamily="34" charset="-122"/>
              </a:rPr>
              <a:t>(</a:t>
            </a:r>
            <a:r>
              <a:rPr lang="en-US" altLang="zh-CN" sz="2000" b="1" dirty="0">
                <a:solidFill>
                  <a:srgbClr val="0000FF"/>
                </a:solidFill>
                <a:latin typeface="微软雅黑" panose="020B0503020204020204" pitchFamily="34" charset="-122"/>
                <a:ea typeface="微软雅黑" panose="020B0503020204020204" pitchFamily="34" charset="-122"/>
              </a:rPr>
              <a:t>555</a:t>
            </a:r>
            <a:r>
              <a:rPr lang="zh-CN" altLang="en-US" sz="2000" b="1" dirty="0">
                <a:solidFill>
                  <a:srgbClr val="0000FF"/>
                </a:solidFill>
                <a:latin typeface="微软雅黑" panose="020B0503020204020204" pitchFamily="34" charset="-122"/>
                <a:ea typeface="微软雅黑" panose="020B0503020204020204" pitchFamily="34" charset="-122"/>
              </a:rPr>
              <a:t>定时器</a:t>
            </a:r>
            <a:r>
              <a:rPr lang="en-US" altLang="zh-CN" sz="2000" b="1" dirty="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、触发器和温度传感器组成，电路结构简单。</a:t>
            </a:r>
            <a:endParaRPr lang="en-US" altLang="zh-CN" sz="2000" b="1" dirty="0">
              <a:latin typeface="微软雅黑" panose="020B0503020204020204" pitchFamily="34" charset="-122"/>
              <a:ea typeface="微软雅黑" panose="020B0503020204020204" pitchFamily="34" charset="-122"/>
            </a:endParaRPr>
          </a:p>
          <a:p>
            <a:pPr>
              <a:spcBef>
                <a:spcPct val="0"/>
              </a:spcBef>
              <a:buFontTx/>
              <a:buNone/>
            </a:pPr>
            <a:r>
              <a:rPr lang="zh-CN" altLang="en-US" sz="2000" b="1" dirty="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基于差动模式可以</a:t>
            </a:r>
            <a:r>
              <a:rPr lang="zh-CN" altLang="zh-CN" sz="2000" b="1" dirty="0">
                <a:solidFill>
                  <a:srgbClr val="FF0000"/>
                </a:solidFill>
                <a:latin typeface="微软雅黑" panose="020B0503020204020204" pitchFamily="34" charset="-122"/>
                <a:ea typeface="微软雅黑" panose="020B0503020204020204" pitchFamily="34" charset="-122"/>
              </a:rPr>
              <a:t>降低共模噪声</a:t>
            </a:r>
            <a:r>
              <a:rPr lang="zh-CN" altLang="zh-CN" sz="2000" b="1" dirty="0">
                <a:latin typeface="微软雅黑" panose="020B0503020204020204" pitchFamily="34" charset="-122"/>
                <a:ea typeface="微软雅黑" panose="020B0503020204020204" pitchFamily="34" charset="-122"/>
              </a:rPr>
              <a:t>的考虑，使用了</a:t>
            </a:r>
            <a:r>
              <a:rPr lang="zh-CN" altLang="zh-CN" sz="2000" b="1" dirty="0">
                <a:solidFill>
                  <a:srgbClr val="FF0000"/>
                </a:solidFill>
                <a:latin typeface="微软雅黑" panose="020B0503020204020204" pitchFamily="34" charset="-122"/>
                <a:ea typeface="微软雅黑" panose="020B0503020204020204" pitchFamily="34" charset="-122"/>
              </a:rPr>
              <a:t>双振荡器电路</a:t>
            </a:r>
            <a:r>
              <a:rPr lang="zh-CN" altLang="zh-CN" sz="2000" b="1" dirty="0">
                <a:latin typeface="微软雅黑" panose="020B0503020204020204" pitchFamily="34" charset="-122"/>
                <a:ea typeface="微软雅黑" panose="020B0503020204020204" pitchFamily="34" charset="-122"/>
              </a:rPr>
              <a:t>和</a:t>
            </a:r>
            <a:r>
              <a:rPr lang="en-US" altLang="zh-CN" sz="2000" b="1" dirty="0">
                <a:latin typeface="微软雅黑" panose="020B0503020204020204" pitchFamily="34" charset="-122"/>
                <a:ea typeface="微软雅黑" panose="020B0503020204020204" pitchFamily="34" charset="-122"/>
              </a:rPr>
              <a:t>D</a:t>
            </a:r>
            <a:r>
              <a:rPr lang="zh-CN" altLang="zh-CN" sz="2000" b="1" dirty="0">
                <a:latin typeface="微软雅黑" panose="020B0503020204020204" pitchFamily="34" charset="-122"/>
                <a:ea typeface="微软雅黑" panose="020B0503020204020204" pitchFamily="34" charset="-122"/>
              </a:rPr>
              <a:t>触发器。</a:t>
            </a:r>
            <a:endParaRPr lang="en-US" altLang="zh-CN" sz="2000" b="1" dirty="0">
              <a:latin typeface="微软雅黑" panose="020B0503020204020204" pitchFamily="34" charset="-122"/>
              <a:ea typeface="微软雅黑" panose="020B0503020204020204" pitchFamily="34" charset="-122"/>
            </a:endParaRPr>
          </a:p>
          <a:p>
            <a:pPr>
              <a:spcBef>
                <a:spcPct val="0"/>
              </a:spcBef>
              <a:buFontTx/>
              <a:buNone/>
            </a:pPr>
            <a:r>
              <a:rPr lang="zh-CN" altLang="en-US" sz="2000" b="1" dirty="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一路振荡器的电容是基准电容，另一路振荡器的电容是传感器电容。</a:t>
            </a:r>
            <a:endParaRPr lang="en-US" altLang="zh-CN" sz="2000" b="1" dirty="0">
              <a:latin typeface="微软雅黑" panose="020B0503020204020204" pitchFamily="34" charset="-122"/>
              <a:ea typeface="微软雅黑" panose="020B0503020204020204" pitchFamily="34" charset="-122"/>
            </a:endParaRPr>
          </a:p>
          <a:p>
            <a:pPr>
              <a:spcBef>
                <a:spcPct val="0"/>
              </a:spcBef>
              <a:buFontTx/>
              <a:buNone/>
            </a:pPr>
            <a:r>
              <a:rPr lang="zh-CN" altLang="en-US" sz="2000" b="1" dirty="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在电路设计中把参考电容的波形从</a:t>
            </a:r>
            <a:r>
              <a:rPr lang="en-US" altLang="zh-CN" sz="2000" b="1" dirty="0">
                <a:latin typeface="微软雅黑" panose="020B0503020204020204" pitchFamily="34" charset="-122"/>
                <a:ea typeface="微软雅黑" panose="020B0503020204020204" pitchFamily="34" charset="-122"/>
              </a:rPr>
              <a:t>D</a:t>
            </a:r>
            <a:r>
              <a:rPr lang="zh-CN" altLang="zh-CN" sz="2000" b="1" dirty="0">
                <a:latin typeface="微软雅黑" panose="020B0503020204020204" pitchFamily="34" charset="-122"/>
                <a:ea typeface="微软雅黑" panose="020B0503020204020204" pitchFamily="34" charset="-122"/>
              </a:rPr>
              <a:t>触发器的时钟端引入，把敏感电容的波形从</a:t>
            </a:r>
            <a:r>
              <a:rPr lang="en-US" altLang="zh-CN" sz="2000" b="1" dirty="0">
                <a:latin typeface="微软雅黑" panose="020B0503020204020204" pitchFamily="34" charset="-122"/>
                <a:ea typeface="微软雅黑" panose="020B0503020204020204" pitchFamily="34" charset="-122"/>
              </a:rPr>
              <a:t>D</a:t>
            </a:r>
            <a:r>
              <a:rPr lang="zh-CN" altLang="zh-CN" sz="2000" b="1" dirty="0">
                <a:latin typeface="微软雅黑" panose="020B0503020204020204" pitchFamily="34" charset="-122"/>
                <a:ea typeface="微软雅黑" panose="020B0503020204020204" pitchFamily="34" charset="-122"/>
              </a:rPr>
              <a:t>端引入，</a:t>
            </a:r>
            <a:r>
              <a:rPr lang="en-US" altLang="zh-CN" sz="2000" b="1" dirty="0">
                <a:solidFill>
                  <a:srgbClr val="FF0000"/>
                </a:solidFill>
                <a:latin typeface="微软雅黑" panose="020B0503020204020204" pitchFamily="34" charset="-122"/>
                <a:ea typeface="微软雅黑" panose="020B0503020204020204" pitchFamily="34" charset="-122"/>
              </a:rPr>
              <a:t>D</a:t>
            </a:r>
            <a:r>
              <a:rPr lang="zh-CN" altLang="zh-CN" sz="2000" b="1" dirty="0">
                <a:solidFill>
                  <a:srgbClr val="FF0000"/>
                </a:solidFill>
                <a:latin typeface="微软雅黑" panose="020B0503020204020204" pitchFamily="34" charset="-122"/>
                <a:ea typeface="微软雅黑" panose="020B0503020204020204" pitchFamily="34" charset="-122"/>
              </a:rPr>
              <a:t>触发器的输出为两个波形的频率差</a:t>
            </a:r>
            <a:r>
              <a:rPr lang="zh-CN" altLang="zh-CN" sz="2000" b="1" dirty="0">
                <a:latin typeface="微软雅黑" panose="020B0503020204020204" pitchFamily="34" charset="-122"/>
                <a:ea typeface="微软雅黑" panose="020B0503020204020204" pitchFamily="34" charset="-122"/>
              </a:rPr>
              <a:t>。这样可以</a:t>
            </a:r>
            <a:r>
              <a:rPr lang="zh-CN" altLang="zh-CN" sz="2000" b="1" dirty="0">
                <a:solidFill>
                  <a:srgbClr val="FF0000"/>
                </a:solidFill>
                <a:latin typeface="微软雅黑" panose="020B0503020204020204" pitchFamily="34" charset="-122"/>
                <a:ea typeface="微软雅黑" panose="020B0503020204020204" pitchFamily="34" charset="-122"/>
              </a:rPr>
              <a:t>减少温度对电路的影响</a:t>
            </a:r>
            <a:r>
              <a:rPr lang="zh-CN" altLang="zh-CN" sz="2000" b="1" dirty="0">
                <a:latin typeface="微软雅黑" panose="020B0503020204020204" pitchFamily="34" charset="-122"/>
                <a:ea typeface="微软雅黑" panose="020B0503020204020204" pitchFamily="34" charset="-122"/>
              </a:rPr>
              <a:t>，对电源电压的波动也有抑制作用。</a:t>
            </a:r>
          </a:p>
          <a:p>
            <a:pPr>
              <a:spcBef>
                <a:spcPct val="0"/>
              </a:spcBef>
              <a:buFontTx/>
              <a:buNone/>
            </a:pPr>
            <a:r>
              <a:rPr lang="zh-CN" altLang="en-US" sz="2000" b="1" dirty="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由于激光焊接时热量极高，温度变化大，为了</a:t>
            </a:r>
            <a:r>
              <a:rPr lang="zh-CN" altLang="zh-CN" sz="2000" b="1" dirty="0">
                <a:solidFill>
                  <a:srgbClr val="FF0000"/>
                </a:solidFill>
                <a:latin typeface="微软雅黑" panose="020B0503020204020204" pitchFamily="34" charset="-122"/>
                <a:ea typeface="微软雅黑" panose="020B0503020204020204" pitchFamily="34" charset="-122"/>
              </a:rPr>
              <a:t>对测量值进行温度补偿</a:t>
            </a:r>
            <a:r>
              <a:rPr lang="zh-CN" altLang="zh-CN" sz="2000" b="1" dirty="0">
                <a:latin typeface="微软雅黑" panose="020B0503020204020204" pitchFamily="34" charset="-122"/>
                <a:ea typeface="微软雅黑" panose="020B0503020204020204" pitchFamily="34" charset="-122"/>
              </a:rPr>
              <a:t>，在差频电容式测量电路中附加了一个集成温度传感器，该温度传感器的测量值提供给焦点控制电路使用。</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1">
            <a:extLst>
              <a:ext uri="{FF2B5EF4-FFF2-40B4-BE49-F238E27FC236}">
                <a16:creationId xmlns:a16="http://schemas.microsoft.com/office/drawing/2014/main" id="{08D0B44E-530C-4196-B6EC-8944B05ADAB5}"/>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0E7A73B-9E80-4044-9BA3-9620AD1DECDF}" type="slidenum">
              <a:rPr lang="en-US" altLang="zh-CN" smtClean="0"/>
              <a:pPr/>
              <a:t>39</a:t>
            </a:fld>
            <a:endParaRPr lang="en-US" altLang="zh-CN"/>
          </a:p>
        </p:txBody>
      </p:sp>
      <p:sp>
        <p:nvSpPr>
          <p:cNvPr id="9" name="矩形 8">
            <a:extLst>
              <a:ext uri="{FF2B5EF4-FFF2-40B4-BE49-F238E27FC236}">
                <a16:creationId xmlns:a16="http://schemas.microsoft.com/office/drawing/2014/main" id="{D1ADFDEE-5CF9-4FF1-94DB-8CFC622E71C0}"/>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65540" name="Text Box 2">
            <a:extLst>
              <a:ext uri="{FF2B5EF4-FFF2-40B4-BE49-F238E27FC236}">
                <a16:creationId xmlns:a16="http://schemas.microsoft.com/office/drawing/2014/main" id="{597244E2-8CF7-44E5-B71C-2F567D5C2536}"/>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3.5</a:t>
            </a:r>
            <a:r>
              <a:rPr kumimoji="1" lang="zh-CN" altLang="en-US" sz="2800" b="1">
                <a:solidFill>
                  <a:srgbClr val="C00000"/>
                </a:solidFill>
                <a:latin typeface="微软雅黑" panose="020B0503020204020204" pitchFamily="34" charset="-122"/>
                <a:ea typeface="微软雅黑" panose="020B0503020204020204" pitchFamily="34" charset="-122"/>
              </a:rPr>
              <a:t>、其它测量电路：木工防护装置（手指救星）</a:t>
            </a:r>
          </a:p>
        </p:txBody>
      </p:sp>
      <p:pic>
        <p:nvPicPr>
          <p:cNvPr id="65541" name="Picture 28" descr="11-3">
            <a:extLst>
              <a:ext uri="{FF2B5EF4-FFF2-40B4-BE49-F238E27FC236}">
                <a16:creationId xmlns:a16="http://schemas.microsoft.com/office/drawing/2014/main" id="{70425943-7AE3-43DB-AAFD-30541C4714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8100" y="962025"/>
            <a:ext cx="5946775" cy="384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2" name="矩形 1">
            <a:extLst>
              <a:ext uri="{FF2B5EF4-FFF2-40B4-BE49-F238E27FC236}">
                <a16:creationId xmlns:a16="http://schemas.microsoft.com/office/drawing/2014/main" id="{C491C4AD-2008-4916-9D9F-81940C9A2B1B}"/>
              </a:ext>
            </a:extLst>
          </p:cNvPr>
          <p:cNvSpPr>
            <a:spLocks noChangeArrowheads="1"/>
          </p:cNvSpPr>
          <p:nvPr/>
        </p:nvSpPr>
        <p:spPr bwMode="auto">
          <a:xfrm>
            <a:off x="106363" y="4741863"/>
            <a:ext cx="8467725"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000" b="1">
                <a:latin typeface="微软雅黑" panose="020B0503020204020204" pitchFamily="34" charset="-122"/>
                <a:ea typeface="微软雅黑" panose="020B0503020204020204" pitchFamily="34" charset="-122"/>
              </a:rPr>
              <a:t>●</a:t>
            </a:r>
            <a:r>
              <a:rPr lang="zh-CN" altLang="en-US" sz="2000" b="1">
                <a:latin typeface="微软雅黑" panose="020B0503020204020204" pitchFamily="34" charset="-122"/>
                <a:ea typeface="微软雅黑" panose="020B0503020204020204" pitchFamily="34" charset="-122"/>
              </a:rPr>
              <a:t>将一个</a:t>
            </a:r>
            <a:r>
              <a:rPr lang="en-US" altLang="zh-CN" sz="2000" b="1">
                <a:latin typeface="微软雅黑" panose="020B0503020204020204" pitchFamily="34" charset="-122"/>
                <a:ea typeface="微软雅黑" panose="020B0503020204020204" pitchFamily="34" charset="-122"/>
              </a:rPr>
              <a:t>500kHz</a:t>
            </a:r>
            <a:r>
              <a:rPr lang="zh-CN" altLang="en-US" sz="2000" b="1">
                <a:latin typeface="微软雅黑" panose="020B0503020204020204" pitchFamily="34" charset="-122"/>
                <a:ea typeface="微软雅黑" panose="020B0503020204020204" pitchFamily="34" charset="-122"/>
              </a:rPr>
              <a:t>的正弦波信号，加于电锯刀片，振幅峰值可以在</a:t>
            </a:r>
            <a:r>
              <a:rPr lang="en-US" altLang="zh-CN" sz="2000" b="1">
                <a:latin typeface="微软雅黑" panose="020B0503020204020204" pitchFamily="34" charset="-122"/>
                <a:ea typeface="微软雅黑" panose="020B0503020204020204" pitchFamily="34" charset="-122"/>
              </a:rPr>
              <a:t>3</a:t>
            </a:r>
            <a:r>
              <a:rPr lang="zh-CN" altLang="en-US" sz="2000" b="1">
                <a:latin typeface="微软雅黑" panose="020B0503020204020204" pitchFamily="34" charset="-122"/>
                <a:ea typeface="微软雅黑" panose="020B0503020204020204" pitchFamily="34" charset="-122"/>
              </a:rPr>
              <a:t>～</a:t>
            </a:r>
            <a:r>
              <a:rPr lang="en-US" altLang="zh-CN" sz="2000" b="1">
                <a:latin typeface="微软雅黑" panose="020B0503020204020204" pitchFamily="34" charset="-122"/>
                <a:ea typeface="微软雅黑" panose="020B0503020204020204" pitchFamily="34" charset="-122"/>
              </a:rPr>
              <a:t>25</a:t>
            </a:r>
            <a:r>
              <a:rPr lang="zh-CN" altLang="en-US" sz="2000" b="1">
                <a:latin typeface="微软雅黑" panose="020B0503020204020204" pitchFamily="34" charset="-122"/>
                <a:ea typeface="微软雅黑" panose="020B0503020204020204" pitchFamily="34" charset="-122"/>
              </a:rPr>
              <a:t>伏之间调整。 </a:t>
            </a:r>
          </a:p>
          <a:p>
            <a:pPr eaLnBrk="1" hangingPunct="1">
              <a:spcBef>
                <a:spcPct val="0"/>
              </a:spcBef>
              <a:buFontTx/>
              <a:buNone/>
            </a:pPr>
            <a:r>
              <a:rPr kumimoji="1" lang="zh-CN" altLang="en-US" sz="2000" b="1">
                <a:latin typeface="微软雅黑" panose="020B0503020204020204" pitchFamily="34" charset="-122"/>
                <a:ea typeface="微软雅黑" panose="020B0503020204020204" pitchFamily="34" charset="-122"/>
              </a:rPr>
              <a:t>●</a:t>
            </a:r>
            <a:r>
              <a:rPr lang="zh-CN" altLang="en-US" sz="2000" b="1">
                <a:latin typeface="微软雅黑" panose="020B0503020204020204" pitchFamily="34" charset="-122"/>
                <a:ea typeface="微软雅黑" panose="020B0503020204020204" pitchFamily="34" charset="-122"/>
              </a:rPr>
              <a:t>由于刀片是良好的导体，该高频信号能够在整个刀片上保持一致性。</a:t>
            </a:r>
            <a:endParaRPr kumimoji="1" lang="zh-CN" altLang="en-US" sz="2000" b="1">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2000" b="1">
                <a:latin typeface="微软雅黑" panose="020B0503020204020204" pitchFamily="34" charset="-122"/>
                <a:ea typeface="微软雅黑" panose="020B0503020204020204" pitchFamily="34" charset="-122"/>
              </a:rPr>
              <a:t>●</a:t>
            </a:r>
            <a:r>
              <a:rPr lang="zh-CN" altLang="en-US" sz="2000" b="1">
                <a:latin typeface="微软雅黑" panose="020B0503020204020204" pitchFamily="34" charset="-122"/>
                <a:ea typeface="微软雅黑" panose="020B0503020204020204" pitchFamily="34" charset="-122"/>
              </a:rPr>
              <a:t>由于人体带有电容，</a:t>
            </a:r>
            <a:r>
              <a:rPr kumimoji="1" lang="zh-CN" altLang="en-US" sz="2000" b="1">
                <a:latin typeface="微软雅黑" panose="020B0503020204020204" pitchFamily="34" charset="-122"/>
                <a:ea typeface="微软雅黑" panose="020B0503020204020204" pitchFamily="34" charset="-122"/>
              </a:rPr>
              <a:t>当手指和刀刃发生接触时，最大将引起</a:t>
            </a:r>
            <a:r>
              <a:rPr kumimoji="1" lang="en-US" altLang="zh-CN" sz="2000" b="1">
                <a:latin typeface="微软雅黑" panose="020B0503020204020204" pitchFamily="34" charset="-122"/>
                <a:ea typeface="微软雅黑" panose="020B0503020204020204" pitchFamily="34" charset="-122"/>
              </a:rPr>
              <a:t>40%</a:t>
            </a:r>
            <a:r>
              <a:rPr kumimoji="1" lang="zh-CN" altLang="en-US" sz="2000" b="1">
                <a:latin typeface="微软雅黑" panose="020B0503020204020204" pitchFamily="34" charset="-122"/>
                <a:ea typeface="微软雅黑" panose="020B0503020204020204" pitchFamily="34" charset="-122"/>
              </a:rPr>
              <a:t>的信号衰减。</a:t>
            </a:r>
          </a:p>
          <a:p>
            <a:pPr eaLnBrk="1" hangingPunct="1">
              <a:spcBef>
                <a:spcPct val="0"/>
              </a:spcBef>
              <a:buFontTx/>
              <a:buNone/>
            </a:pPr>
            <a:r>
              <a:rPr kumimoji="1" lang="zh-CN" altLang="en-US" sz="2000" b="1">
                <a:latin typeface="微软雅黑" panose="020B0503020204020204" pitchFamily="34" charset="-122"/>
                <a:ea typeface="微软雅黑" panose="020B0503020204020204" pitchFamily="34" charset="-122"/>
              </a:rPr>
              <a:t>●实时性指标：</a:t>
            </a:r>
            <a:r>
              <a:rPr lang="zh-CN" altLang="en-US" sz="2000" b="1">
                <a:latin typeface="微软雅黑" panose="020B0503020204020204" pitchFamily="34" charset="-122"/>
                <a:ea typeface="微软雅黑" panose="020B0503020204020204" pitchFamily="34" charset="-122"/>
              </a:rPr>
              <a:t>在</a:t>
            </a:r>
            <a:r>
              <a:rPr lang="zh-CN" altLang="en-US" sz="2000" b="1">
                <a:solidFill>
                  <a:srgbClr val="FF0000"/>
                </a:solidFill>
                <a:latin typeface="微软雅黑" panose="020B0503020204020204" pitchFamily="34" charset="-122"/>
                <a:ea typeface="微软雅黑" panose="020B0503020204020204" pitchFamily="34" charset="-122"/>
              </a:rPr>
              <a:t>五毫秒内强行制动刀刃</a:t>
            </a:r>
            <a:r>
              <a:rPr lang="zh-CN" altLang="en-US" sz="2000" b="1">
                <a:latin typeface="微软雅黑" panose="020B0503020204020204" pitchFamily="34" charset="-122"/>
                <a:ea typeface="微软雅黑" panose="020B0503020204020204" pitchFamily="34" charset="-122"/>
              </a:rPr>
              <a:t>，探测</a:t>
            </a:r>
            <a:r>
              <a:rPr lang="en-US" altLang="zh-CN" sz="2000" b="1">
                <a:latin typeface="微软雅黑" panose="020B0503020204020204" pitchFamily="34" charset="-122"/>
                <a:ea typeface="微软雅黑" panose="020B0503020204020204" pitchFamily="34" charset="-122"/>
              </a:rPr>
              <a:t>+</a:t>
            </a:r>
            <a:r>
              <a:rPr lang="zh-CN" altLang="en-US" sz="2000" b="1">
                <a:latin typeface="微软雅黑" panose="020B0503020204020204" pitchFamily="34" charset="-122"/>
                <a:ea typeface="微软雅黑" panose="020B0503020204020204" pitchFamily="34" charset="-122"/>
              </a:rPr>
              <a:t>制动</a:t>
            </a:r>
            <a:endParaRPr lang="en-US" altLang="zh-CN" sz="2000" b="1">
              <a:latin typeface="微软雅黑" panose="020B0503020204020204" pitchFamily="34" charset="-122"/>
              <a:ea typeface="微软雅黑" panose="020B0503020204020204" pitchFamily="3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1">
            <a:extLst>
              <a:ext uri="{FF2B5EF4-FFF2-40B4-BE49-F238E27FC236}">
                <a16:creationId xmlns:a16="http://schemas.microsoft.com/office/drawing/2014/main" id="{C5991555-F077-49DE-A129-0DDE31A3C59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938B1FBB-06DA-46C4-8BA4-79F71AB9D455}" type="slidenum">
              <a:rPr lang="en-US" altLang="zh-CN" smtClean="0"/>
              <a:pPr/>
              <a:t>40</a:t>
            </a:fld>
            <a:endParaRPr lang="en-US" altLang="zh-CN"/>
          </a:p>
        </p:txBody>
      </p:sp>
      <p:sp>
        <p:nvSpPr>
          <p:cNvPr id="9" name="矩形 8">
            <a:extLst>
              <a:ext uri="{FF2B5EF4-FFF2-40B4-BE49-F238E27FC236}">
                <a16:creationId xmlns:a16="http://schemas.microsoft.com/office/drawing/2014/main" id="{CEBE74A4-508C-49FC-8E48-0E53CB80BBC3}"/>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67588" name="Text Box 2">
            <a:extLst>
              <a:ext uri="{FF2B5EF4-FFF2-40B4-BE49-F238E27FC236}">
                <a16:creationId xmlns:a16="http://schemas.microsoft.com/office/drawing/2014/main" id="{4F3E369B-E4CF-4F1C-BC1C-25D491A55C1D}"/>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3.5</a:t>
            </a:r>
            <a:r>
              <a:rPr kumimoji="1" lang="zh-CN" altLang="en-US" sz="2800" b="1">
                <a:solidFill>
                  <a:srgbClr val="C00000"/>
                </a:solidFill>
                <a:latin typeface="微软雅黑" panose="020B0503020204020204" pitchFamily="34" charset="-122"/>
                <a:ea typeface="微软雅黑" panose="020B0503020204020204" pitchFamily="34" charset="-122"/>
              </a:rPr>
              <a:t>、其它测量电路：木工防护装置（手指救星）</a:t>
            </a:r>
          </a:p>
        </p:txBody>
      </p:sp>
      <p:pic>
        <p:nvPicPr>
          <p:cNvPr id="67589" name="Picture 29" descr="11-1">
            <a:extLst>
              <a:ext uri="{FF2B5EF4-FFF2-40B4-BE49-F238E27FC236}">
                <a16:creationId xmlns:a16="http://schemas.microsoft.com/office/drawing/2014/main" id="{F624025F-8391-4373-A873-DF746CD9AE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9388" y="935038"/>
            <a:ext cx="5897562" cy="343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0" name="Text Box 2">
            <a:extLst>
              <a:ext uri="{FF2B5EF4-FFF2-40B4-BE49-F238E27FC236}">
                <a16:creationId xmlns:a16="http://schemas.microsoft.com/office/drawing/2014/main" id="{F474D54D-77A4-45F4-94DA-96F9D271C016}"/>
              </a:ext>
            </a:extLst>
          </p:cNvPr>
          <p:cNvSpPr txBox="1">
            <a:spLocks noChangeArrowheads="1"/>
          </p:cNvSpPr>
          <p:nvPr/>
        </p:nvSpPr>
        <p:spPr bwMode="auto">
          <a:xfrm>
            <a:off x="34925" y="4292600"/>
            <a:ext cx="91440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30000"/>
              </a:lnSpc>
              <a:spcBef>
                <a:spcPct val="0"/>
              </a:spcBef>
              <a:buFontTx/>
              <a:buNone/>
            </a:pPr>
            <a:r>
              <a:rPr lang="zh-CN" altLang="en-US" sz="2000" b="1" dirty="0">
                <a:latin typeface="微软雅黑" panose="020B0503020204020204" pitchFamily="34" charset="-122"/>
                <a:ea typeface="微软雅黑" panose="020B0503020204020204" pitchFamily="34" charset="-122"/>
              </a:rPr>
              <a:t>●基于</a:t>
            </a:r>
            <a:r>
              <a:rPr lang="en-US" altLang="zh-CN" sz="2000" b="1" dirty="0">
                <a:latin typeface="微软雅黑" panose="020B0503020204020204" pitchFamily="34" charset="-122"/>
                <a:ea typeface="微软雅黑" panose="020B0503020204020204" pitchFamily="34" charset="-122"/>
              </a:rPr>
              <a:t>TI</a:t>
            </a:r>
            <a:r>
              <a:rPr lang="zh-CN" altLang="en-US" sz="2000" b="1" dirty="0">
                <a:latin typeface="微软雅黑" panose="020B0503020204020204" pitchFamily="34" charset="-122"/>
                <a:ea typeface="微软雅黑" panose="020B0503020204020204" pitchFamily="34" charset="-122"/>
              </a:rPr>
              <a:t>的</a:t>
            </a:r>
            <a:r>
              <a:rPr lang="en-US" altLang="zh-CN" sz="2000" b="1" dirty="0">
                <a:solidFill>
                  <a:srgbClr val="0000FF"/>
                </a:solidFill>
                <a:latin typeface="微软雅黑" panose="020B0503020204020204" pitchFamily="34" charset="-122"/>
                <a:ea typeface="微软雅黑" panose="020B0503020204020204" pitchFamily="34" charset="-122"/>
              </a:rPr>
              <a:t>TMS320LF2403A DSP</a:t>
            </a:r>
            <a:r>
              <a:rPr lang="zh-CN" altLang="en-US" sz="2000" b="1" dirty="0">
                <a:latin typeface="微软雅黑" panose="020B0503020204020204" pitchFamily="34" charset="-122"/>
                <a:ea typeface="微软雅黑" panose="020B0503020204020204" pitchFamily="34" charset="-122"/>
              </a:rPr>
              <a:t>作为</a:t>
            </a:r>
            <a:r>
              <a:rPr lang="zh-CN" altLang="en-US" sz="2000" b="1" dirty="0">
                <a:highlight>
                  <a:srgbClr val="FFFF00"/>
                </a:highlight>
                <a:latin typeface="微软雅黑" panose="020B0503020204020204" pitchFamily="34" charset="-122"/>
                <a:ea typeface="微软雅黑" panose="020B0503020204020204" pitchFamily="34" charset="-122"/>
              </a:rPr>
              <a:t>电机控制器</a:t>
            </a:r>
            <a:r>
              <a:rPr lang="zh-CN" altLang="en-US" sz="2000" b="1" dirty="0">
                <a:latin typeface="微软雅黑" panose="020B0503020204020204" pitchFamily="34" charset="-122"/>
                <a:ea typeface="微软雅黑" panose="020B0503020204020204" pitchFamily="34" charset="-122"/>
              </a:rPr>
              <a:t>，用以探测由于人体电容引起的刀刃上的感应电压的变化。</a:t>
            </a:r>
          </a:p>
          <a:p>
            <a:pPr eaLnBrk="1" hangingPunct="1">
              <a:lnSpc>
                <a:spcPct val="130000"/>
              </a:lnSpc>
              <a:spcBef>
                <a:spcPct val="0"/>
              </a:spcBef>
              <a:buFontTx/>
              <a:buNone/>
            </a:pPr>
            <a:r>
              <a:rPr lang="zh-CN" altLang="en-US" sz="2000" b="1" dirty="0">
                <a:latin typeface="微软雅黑" panose="020B0503020204020204" pitchFamily="34" charset="-122"/>
                <a:ea typeface="微软雅黑" panose="020B0503020204020204" pitchFamily="34" charset="-122"/>
              </a:rPr>
              <a:t>●积分器</a:t>
            </a:r>
            <a:r>
              <a:rPr lang="zh-CN" altLang="en-US" sz="2000" b="1" dirty="0">
                <a:solidFill>
                  <a:srgbClr val="FF0000"/>
                </a:solidFill>
                <a:latin typeface="微软雅黑" panose="020B0503020204020204" pitchFamily="34" charset="-122"/>
                <a:ea typeface="微软雅黑" panose="020B0503020204020204" pitchFamily="34" charset="-122"/>
              </a:rPr>
              <a:t>每</a:t>
            </a:r>
            <a:r>
              <a:rPr lang="en-US" altLang="zh-CN" sz="2000" b="1" dirty="0">
                <a:solidFill>
                  <a:srgbClr val="FF0000"/>
                </a:solidFill>
                <a:latin typeface="微软雅黑" panose="020B0503020204020204" pitchFamily="34" charset="-122"/>
                <a:ea typeface="微软雅黑" panose="020B0503020204020204" pitchFamily="34" charset="-122"/>
              </a:rPr>
              <a:t>6</a:t>
            </a:r>
            <a:r>
              <a:rPr lang="zh-CN" altLang="en-US" sz="2000" b="1" dirty="0">
                <a:solidFill>
                  <a:srgbClr val="FF0000"/>
                </a:solidFill>
                <a:latin typeface="微软雅黑" panose="020B0503020204020204" pitchFamily="34" charset="-122"/>
                <a:ea typeface="微软雅黑" panose="020B0503020204020204" pitchFamily="34" charset="-122"/>
              </a:rPr>
              <a:t>微秒</a:t>
            </a:r>
            <a:r>
              <a:rPr lang="zh-CN" altLang="en-US" sz="2000" b="1" dirty="0">
                <a:latin typeface="微软雅黑" panose="020B0503020204020204" pitchFamily="34" charset="-122"/>
                <a:ea typeface="微软雅黑" panose="020B0503020204020204" pitchFamily="34" charset="-122"/>
              </a:rPr>
              <a:t>就对来自刀片的传感信号进行绝对积分计算。积分器的幅值则由</a:t>
            </a:r>
            <a:r>
              <a:rPr lang="en-US" altLang="zh-CN" sz="2000" b="1" dirty="0">
                <a:latin typeface="微软雅黑" panose="020B0503020204020204" pitchFamily="34" charset="-122"/>
                <a:ea typeface="微软雅黑" panose="020B0503020204020204" pitchFamily="34" charset="-122"/>
              </a:rPr>
              <a:t>DSP</a:t>
            </a:r>
            <a:r>
              <a:rPr lang="zh-CN" altLang="en-US" sz="2000" b="1" dirty="0">
                <a:latin typeface="微软雅黑" panose="020B0503020204020204" pitchFamily="34" charset="-122"/>
                <a:ea typeface="微软雅黑" panose="020B0503020204020204" pitchFamily="34" charset="-122"/>
              </a:rPr>
              <a:t>在每个</a:t>
            </a:r>
            <a:r>
              <a:rPr lang="zh-CN" altLang="en-US" sz="2000" b="1" dirty="0">
                <a:solidFill>
                  <a:srgbClr val="FF0000"/>
                </a:solidFill>
                <a:latin typeface="微软雅黑" panose="020B0503020204020204" pitchFamily="34" charset="-122"/>
                <a:ea typeface="微软雅黑" panose="020B0503020204020204" pitchFamily="34" charset="-122"/>
              </a:rPr>
              <a:t>第</a:t>
            </a:r>
            <a:r>
              <a:rPr lang="en-US" altLang="zh-CN" sz="2000" b="1" dirty="0">
                <a:solidFill>
                  <a:srgbClr val="FF0000"/>
                </a:solidFill>
                <a:latin typeface="微软雅黑" panose="020B0503020204020204" pitchFamily="34" charset="-122"/>
                <a:ea typeface="微软雅黑" panose="020B0503020204020204" pitchFamily="34" charset="-122"/>
              </a:rPr>
              <a:t>6</a:t>
            </a:r>
            <a:r>
              <a:rPr lang="zh-CN" altLang="en-US" sz="2000" b="1" dirty="0">
                <a:solidFill>
                  <a:srgbClr val="FF0000"/>
                </a:solidFill>
                <a:latin typeface="微软雅黑" panose="020B0503020204020204" pitchFamily="34" charset="-122"/>
                <a:ea typeface="微软雅黑" panose="020B0503020204020204" pitchFamily="34" charset="-122"/>
              </a:rPr>
              <a:t>微秒</a:t>
            </a:r>
            <a:r>
              <a:rPr lang="zh-CN" altLang="en-US" sz="2000" b="1" dirty="0">
                <a:latin typeface="微软雅黑" panose="020B0503020204020204" pitchFamily="34" charset="-122"/>
                <a:ea typeface="微软雅黑" panose="020B0503020204020204" pitchFamily="34" charset="-122"/>
              </a:rPr>
              <a:t>末采样，且采样电容会在下一个采样周期前被放空。</a:t>
            </a:r>
          </a:p>
          <a:p>
            <a:pPr eaLnBrk="1" hangingPunct="1">
              <a:lnSpc>
                <a:spcPct val="130000"/>
              </a:lnSpc>
              <a:spcBef>
                <a:spcPct val="0"/>
              </a:spcBef>
              <a:buFontTx/>
              <a:buNone/>
            </a:pPr>
            <a:r>
              <a:rPr lang="zh-CN" altLang="en-US" sz="2000" b="1" dirty="0">
                <a:latin typeface="微软雅黑" panose="020B0503020204020204" pitchFamily="34" charset="-122"/>
                <a:ea typeface="微软雅黑" panose="020B0503020204020204" pitchFamily="34" charset="-122"/>
              </a:rPr>
              <a:t>●采用</a:t>
            </a:r>
            <a:r>
              <a:rPr lang="zh-CN" altLang="en-US" sz="2000" b="1" dirty="0">
                <a:solidFill>
                  <a:srgbClr val="FF0000"/>
                </a:solidFill>
                <a:latin typeface="微软雅黑" panose="020B0503020204020204" pitchFamily="34" charset="-122"/>
                <a:ea typeface="微软雅黑" panose="020B0503020204020204" pitchFamily="34" charset="-122"/>
              </a:rPr>
              <a:t>积分器</a:t>
            </a:r>
            <a:r>
              <a:rPr lang="zh-CN" altLang="en-US" sz="2000" b="1" dirty="0">
                <a:latin typeface="微软雅黑" panose="020B0503020204020204" pitchFamily="34" charset="-122"/>
                <a:ea typeface="微软雅黑" panose="020B0503020204020204" pitchFamily="34" charset="-122"/>
              </a:rPr>
              <a:t>是由于它能够测量刀片信号的幅值，并对</a:t>
            </a:r>
            <a:r>
              <a:rPr lang="zh-CN" altLang="en-US" sz="2000" b="1" dirty="0">
                <a:solidFill>
                  <a:srgbClr val="FF0000"/>
                </a:solidFill>
                <a:latin typeface="微软雅黑" panose="020B0503020204020204" pitchFamily="34" charset="-122"/>
                <a:ea typeface="微软雅黑" panose="020B0503020204020204" pitchFamily="34" charset="-122"/>
              </a:rPr>
              <a:t>噪声扰动有一定的抵抗力</a:t>
            </a:r>
            <a:r>
              <a:rPr lang="zh-CN" altLang="en-US" sz="2000" b="1" dirty="0">
                <a:latin typeface="微软雅黑" panose="020B0503020204020204" pitchFamily="34" charset="-122"/>
                <a:ea typeface="微软雅黑" panose="020B0503020204020204" pitchFamily="34" charset="-122"/>
              </a:rPr>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1">
            <a:extLst>
              <a:ext uri="{FF2B5EF4-FFF2-40B4-BE49-F238E27FC236}">
                <a16:creationId xmlns:a16="http://schemas.microsoft.com/office/drawing/2014/main" id="{DC1CE26E-2016-48BB-8D79-0E8ADD3EE91D}"/>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A3C8E07-524F-44EC-B7DA-FD1C782BD00C}" type="slidenum">
              <a:rPr lang="en-US" altLang="zh-CN" smtClean="0"/>
              <a:pPr/>
              <a:t>41</a:t>
            </a:fld>
            <a:endParaRPr lang="en-US" altLang="zh-CN"/>
          </a:p>
        </p:txBody>
      </p:sp>
      <p:sp>
        <p:nvSpPr>
          <p:cNvPr id="9" name="矩形 8">
            <a:extLst>
              <a:ext uri="{FF2B5EF4-FFF2-40B4-BE49-F238E27FC236}">
                <a16:creationId xmlns:a16="http://schemas.microsoft.com/office/drawing/2014/main" id="{B15071A1-408F-4ADB-9E83-88D684E41C9B}"/>
              </a:ext>
            </a:extLst>
          </p:cNvPr>
          <p:cNvSpPr/>
          <p:nvPr/>
        </p:nvSpPr>
        <p:spPr>
          <a:xfrm>
            <a:off x="138113" y="852488"/>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69636" name="Text Box 2">
            <a:extLst>
              <a:ext uri="{FF2B5EF4-FFF2-40B4-BE49-F238E27FC236}">
                <a16:creationId xmlns:a16="http://schemas.microsoft.com/office/drawing/2014/main" id="{DF2E9200-EA93-4DD5-B984-34545BCB2C31}"/>
              </a:ext>
            </a:extLst>
          </p:cNvPr>
          <p:cNvSpPr txBox="1">
            <a:spLocks noChangeArrowheads="1"/>
          </p:cNvSpPr>
          <p:nvPr/>
        </p:nvSpPr>
        <p:spPr bwMode="auto">
          <a:xfrm>
            <a:off x="155575" y="115888"/>
            <a:ext cx="6216650"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4 </a:t>
            </a:r>
            <a:r>
              <a:rPr kumimoji="1" lang="zh-CN" altLang="en-US" sz="2800" b="1">
                <a:solidFill>
                  <a:srgbClr val="C00000"/>
                </a:solidFill>
                <a:latin typeface="微软雅黑" panose="020B0503020204020204" pitchFamily="34" charset="-122"/>
                <a:ea typeface="微软雅黑" panose="020B0503020204020204" pitchFamily="34" charset="-122"/>
              </a:rPr>
              <a:t>温度特性（温度对结构尺寸的影响）</a:t>
            </a:r>
          </a:p>
        </p:txBody>
      </p:sp>
      <p:sp>
        <p:nvSpPr>
          <p:cNvPr id="69637" name="TextBox 4">
            <a:extLst>
              <a:ext uri="{FF2B5EF4-FFF2-40B4-BE49-F238E27FC236}">
                <a16:creationId xmlns:a16="http://schemas.microsoft.com/office/drawing/2014/main" id="{754463A9-57E5-417E-BC2C-9558D019E039}"/>
              </a:ext>
            </a:extLst>
          </p:cNvPr>
          <p:cNvSpPr txBox="1">
            <a:spLocks noChangeArrowheads="1"/>
          </p:cNvSpPr>
          <p:nvPr/>
        </p:nvSpPr>
        <p:spPr bwMode="auto">
          <a:xfrm>
            <a:off x="581025" y="1014413"/>
            <a:ext cx="7848600" cy="113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zh-CN" altLang="en-US" sz="2400" b="1">
                <a:latin typeface="微软雅黑" panose="020B0503020204020204" pitchFamily="34" charset="-122"/>
                <a:ea typeface="微软雅黑" panose="020B0503020204020204" pitchFamily="34" charset="-122"/>
              </a:rPr>
              <a:t>当环境温度变化时，传感器各零件的几何形状、尺寸发生变化，从而引起电容量变化。</a:t>
            </a:r>
          </a:p>
        </p:txBody>
      </p:sp>
      <p:graphicFrame>
        <p:nvGraphicFramePr>
          <p:cNvPr id="69638" name="Object 5">
            <a:extLst>
              <a:ext uri="{FF2B5EF4-FFF2-40B4-BE49-F238E27FC236}">
                <a16:creationId xmlns:a16="http://schemas.microsoft.com/office/drawing/2014/main" id="{3546BDC1-DBE6-4048-A761-1942A26B6DE4}"/>
              </a:ext>
            </a:extLst>
          </p:cNvPr>
          <p:cNvGraphicFramePr>
            <a:graphicFrameLocks noChangeAspect="1"/>
          </p:cNvGraphicFramePr>
          <p:nvPr/>
        </p:nvGraphicFramePr>
        <p:xfrm>
          <a:off x="2611438" y="2205038"/>
          <a:ext cx="3105150" cy="576262"/>
        </p:xfrm>
        <a:graphic>
          <a:graphicData uri="http://schemas.openxmlformats.org/presentationml/2006/ole">
            <mc:AlternateContent xmlns:mc="http://schemas.openxmlformats.org/markup-compatibility/2006">
              <mc:Choice xmlns:v="urn:schemas-microsoft-com:vml" Requires="v">
                <p:oleObj spid="_x0000_s69697" name="Equation" r:id="rId4" imgW="1231366" imgH="228501" progId="Equation.DSMT4">
                  <p:embed/>
                </p:oleObj>
              </mc:Choice>
              <mc:Fallback>
                <p:oleObj name="Equation" r:id="rId4" imgW="1231366" imgH="228501"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11438" y="2205038"/>
                        <a:ext cx="3105150"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39" name="TextBox 6">
            <a:extLst>
              <a:ext uri="{FF2B5EF4-FFF2-40B4-BE49-F238E27FC236}">
                <a16:creationId xmlns:a16="http://schemas.microsoft.com/office/drawing/2014/main" id="{C710F0FB-B2ED-4347-ABBA-CFD5A0299E91}"/>
              </a:ext>
            </a:extLst>
          </p:cNvPr>
          <p:cNvSpPr txBox="1">
            <a:spLocks noChangeArrowheads="1"/>
          </p:cNvSpPr>
          <p:nvPr/>
        </p:nvSpPr>
        <p:spPr bwMode="auto">
          <a:xfrm>
            <a:off x="561975" y="2994025"/>
            <a:ext cx="78851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4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18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1800" b="1" i="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传感器的初始电容值</a:t>
            </a:r>
          </a:p>
          <a:p>
            <a:pPr>
              <a:spcBef>
                <a:spcPct val="0"/>
              </a:spcBef>
              <a:buFontTx/>
              <a:buNone/>
            </a:pPr>
            <a:r>
              <a:rPr lang="el-GR" altLang="zh-CN" sz="24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Δ</a:t>
            </a:r>
            <a:r>
              <a:rPr lang="en-US" altLang="zh-CN" sz="24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18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 </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在被测信号作用下电容变化量</a:t>
            </a:r>
            <a:endParaRPr lang="en-US" altLang="zh-CN" sz="2400" b="1" dirty="0">
              <a:latin typeface="微软雅黑" panose="020B0503020204020204" pitchFamily="34" charset="-122"/>
              <a:ea typeface="微软雅黑" panose="020B0503020204020204" pitchFamily="34" charset="-122"/>
            </a:endParaRPr>
          </a:p>
          <a:p>
            <a:pPr>
              <a:spcBef>
                <a:spcPct val="0"/>
              </a:spcBef>
              <a:buFontTx/>
              <a:buNone/>
            </a:pPr>
            <a:r>
              <a:rPr lang="el-GR" altLang="zh-CN" sz="2400" b="1" i="1" dirty="0">
                <a:solidFill>
                  <a:srgbClr val="FF0000"/>
                </a:solidFill>
                <a:latin typeface="Times New Roman" panose="02020603050405020304" pitchFamily="18" charset="0"/>
                <a:ea typeface="微软雅黑" panose="020B0503020204020204" pitchFamily="34" charset="-122"/>
              </a:rPr>
              <a:t>Δ</a:t>
            </a:r>
            <a:r>
              <a:rPr lang="en-US" altLang="zh-CN" sz="2400" b="1" i="1" dirty="0">
                <a:solidFill>
                  <a:srgbClr val="FF0000"/>
                </a:solidFill>
                <a:latin typeface="Times New Roman" panose="02020603050405020304" pitchFamily="18" charset="0"/>
                <a:ea typeface="微软雅黑" panose="020B0503020204020204" pitchFamily="34" charset="-122"/>
              </a:rPr>
              <a:t>C</a:t>
            </a:r>
            <a:r>
              <a:rPr lang="en-US" altLang="zh-CN" sz="2000" b="1" i="1" dirty="0">
                <a:solidFill>
                  <a:srgbClr val="FF0000"/>
                </a:solidFill>
                <a:latin typeface="Times New Roman" panose="02020603050405020304" pitchFamily="18" charset="0"/>
                <a:ea typeface="微软雅黑" panose="020B0503020204020204" pitchFamily="34" charset="-122"/>
              </a:rPr>
              <a:t>t  </a:t>
            </a:r>
            <a:r>
              <a:rPr lang="en-US" altLang="zh-CN" sz="2400" b="1" dirty="0">
                <a:latin typeface="微软雅黑" panose="020B0503020204020204" pitchFamily="34" charset="-122"/>
                <a:ea typeface="微软雅黑" panose="020B0503020204020204" pitchFamily="34" charset="-122"/>
              </a:rPr>
              <a:t>——</a:t>
            </a:r>
            <a:r>
              <a:rPr lang="zh-CN" altLang="en-US" sz="2400" b="1" dirty="0">
                <a:solidFill>
                  <a:srgbClr val="0000FF"/>
                </a:solidFill>
                <a:latin typeface="微软雅黑" panose="020B0503020204020204" pitchFamily="34" charset="-122"/>
                <a:ea typeface="微软雅黑" panose="020B0503020204020204" pitchFamily="34" charset="-122"/>
              </a:rPr>
              <a:t>由环境温度变化而产生的附加电容增量</a:t>
            </a:r>
            <a:endParaRPr lang="zh-CN" altLang="el-GR" sz="2400" baseline="-25000" dirty="0">
              <a:solidFill>
                <a:srgbClr val="0000FF"/>
              </a:solidFill>
              <a:latin typeface="楷体_GB2312" pitchFamily="49" charset="-122"/>
              <a:ea typeface="楷体_GB2312" pitchFamily="49" charset="-122"/>
            </a:endParaRPr>
          </a:p>
        </p:txBody>
      </p:sp>
      <p:sp>
        <p:nvSpPr>
          <p:cNvPr id="69640" name="Text Box 8">
            <a:extLst>
              <a:ext uri="{FF2B5EF4-FFF2-40B4-BE49-F238E27FC236}">
                <a16:creationId xmlns:a16="http://schemas.microsoft.com/office/drawing/2014/main" id="{FDC87A61-A187-443A-A6F5-72CDD475E3DB}"/>
              </a:ext>
            </a:extLst>
          </p:cNvPr>
          <p:cNvSpPr txBox="1">
            <a:spLocks noChangeArrowheads="1"/>
          </p:cNvSpPr>
          <p:nvPr/>
        </p:nvSpPr>
        <p:spPr bwMode="auto">
          <a:xfrm>
            <a:off x="508000" y="4449763"/>
            <a:ext cx="7993063" cy="100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30000"/>
              </a:lnSpc>
              <a:spcBef>
                <a:spcPct val="0"/>
              </a:spcBef>
              <a:buFontTx/>
              <a:buNone/>
            </a:pPr>
            <a:r>
              <a:rPr lang="el-GR" altLang="zh-CN" sz="24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Δ</a:t>
            </a:r>
            <a:r>
              <a:rPr lang="en-US" altLang="zh-CN" sz="24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Ct</a:t>
            </a:r>
            <a:r>
              <a:rPr lang="en-US" altLang="zh-CN" sz="2400" b="1" i="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决定了传感器温度误差的大小，在设计电容传感器时，正确选择零件的尺寸，可以减少温度造成的测量误差。</a:t>
            </a:r>
            <a:endParaRPr lang="zh-CN" altLang="el-GR"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1">
            <a:extLst>
              <a:ext uri="{FF2B5EF4-FFF2-40B4-BE49-F238E27FC236}">
                <a16:creationId xmlns:a16="http://schemas.microsoft.com/office/drawing/2014/main" id="{21B70498-3C02-47A1-9B23-BAA518178BD2}"/>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09864765-CF17-4969-A536-F2821EF8773D}" type="slidenum">
              <a:rPr lang="en-US" altLang="zh-CN" smtClean="0"/>
              <a:pPr/>
              <a:t>42</a:t>
            </a:fld>
            <a:endParaRPr lang="en-US" altLang="zh-CN"/>
          </a:p>
        </p:txBody>
      </p:sp>
      <p:sp>
        <p:nvSpPr>
          <p:cNvPr id="9" name="矩形 8">
            <a:extLst>
              <a:ext uri="{FF2B5EF4-FFF2-40B4-BE49-F238E27FC236}">
                <a16:creationId xmlns:a16="http://schemas.microsoft.com/office/drawing/2014/main" id="{92D5A05B-D894-4CF2-899E-9011DD5116D3}"/>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71684" name="Text Box 4">
            <a:extLst>
              <a:ext uri="{FF2B5EF4-FFF2-40B4-BE49-F238E27FC236}">
                <a16:creationId xmlns:a16="http://schemas.microsoft.com/office/drawing/2014/main" id="{1C4500D3-3228-41B0-9529-18B67EC21E20}"/>
              </a:ext>
            </a:extLst>
          </p:cNvPr>
          <p:cNvSpPr txBox="1">
            <a:spLocks noChangeArrowheads="1"/>
          </p:cNvSpPr>
          <p:nvPr/>
        </p:nvSpPr>
        <p:spPr bwMode="auto">
          <a:xfrm>
            <a:off x="115888" y="1093788"/>
            <a:ext cx="89296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50000"/>
              </a:spcBef>
              <a:buFontTx/>
              <a:buNone/>
            </a:pPr>
            <a:r>
              <a:rPr lang="zh-CN" altLang="en-US" sz="2400" b="1">
                <a:latin typeface="微软雅黑" panose="020B0503020204020204" pitchFamily="34" charset="-122"/>
                <a:ea typeface="微软雅黑" panose="020B0503020204020204" pitchFamily="34" charset="-122"/>
              </a:rPr>
              <a:t>设初始温度为</a:t>
            </a:r>
            <a:r>
              <a:rPr lang="en-US" altLang="zh-CN" sz="2400" b="1" i="1">
                <a:latin typeface="微软雅黑" panose="020B0503020204020204" pitchFamily="34" charset="-122"/>
                <a:ea typeface="微软雅黑" panose="020B0503020204020204" pitchFamily="34" charset="-122"/>
              </a:rPr>
              <a:t>t</a:t>
            </a:r>
            <a:r>
              <a:rPr lang="en-US" altLang="zh-CN" sz="2400" b="1" baseline="-25000">
                <a:latin typeface="微软雅黑" panose="020B0503020204020204" pitchFamily="34" charset="-122"/>
                <a:ea typeface="微软雅黑" panose="020B0503020204020204" pitchFamily="34" charset="-122"/>
              </a:rPr>
              <a:t>0 </a:t>
            </a:r>
            <a:r>
              <a:rPr lang="zh-CN" altLang="en-US" sz="2400" b="1">
                <a:latin typeface="微软雅黑" panose="020B0503020204020204" pitchFamily="34" charset="-122"/>
                <a:ea typeface="微软雅黑" panose="020B0503020204020204" pitchFamily="34" charset="-122"/>
              </a:rPr>
              <a:t>时，</a:t>
            </a:r>
            <a:r>
              <a:rPr lang="en-US" altLang="zh-CN" sz="2400" b="1" i="1">
                <a:latin typeface="微软雅黑" panose="020B0503020204020204" pitchFamily="34" charset="-122"/>
                <a:ea typeface="微软雅黑" panose="020B0503020204020204" pitchFamily="34" charset="-122"/>
              </a:rPr>
              <a:t>d</a:t>
            </a:r>
            <a:r>
              <a:rPr lang="en-US" altLang="zh-CN" sz="2400" b="1" baseline="-25000">
                <a:latin typeface="微软雅黑" panose="020B0503020204020204" pitchFamily="34" charset="-122"/>
                <a:ea typeface="微软雅黑" panose="020B0503020204020204" pitchFamily="34" charset="-122"/>
              </a:rPr>
              <a:t>0</a:t>
            </a:r>
            <a:r>
              <a:rPr lang="en-US" altLang="zh-CN" sz="2400" b="1">
                <a:latin typeface="微软雅黑" panose="020B0503020204020204" pitchFamily="34" charset="-122"/>
                <a:ea typeface="微软雅黑" panose="020B0503020204020204" pitchFamily="34" charset="-122"/>
              </a:rPr>
              <a:t>=</a:t>
            </a:r>
            <a:r>
              <a:rPr lang="en-US" altLang="zh-CN" sz="2400" b="1" i="1">
                <a:latin typeface="微软雅黑" panose="020B0503020204020204" pitchFamily="34" charset="-122"/>
                <a:ea typeface="微软雅黑" panose="020B0503020204020204" pitchFamily="34" charset="-122"/>
              </a:rPr>
              <a:t>L</a:t>
            </a:r>
            <a:r>
              <a:rPr lang="en-US" altLang="zh-CN" sz="2400" b="1">
                <a:latin typeface="微软雅黑" panose="020B0503020204020204" pitchFamily="34" charset="-122"/>
                <a:ea typeface="微软雅黑" panose="020B0503020204020204" pitchFamily="34" charset="-122"/>
              </a:rPr>
              <a:t>-</a:t>
            </a:r>
            <a:r>
              <a:rPr lang="en-US" altLang="zh-CN" sz="2400" b="1" i="1">
                <a:latin typeface="微软雅黑" panose="020B0503020204020204" pitchFamily="34" charset="-122"/>
                <a:ea typeface="微软雅黑" panose="020B0503020204020204" pitchFamily="34" charset="-122"/>
              </a:rPr>
              <a:t>h</a:t>
            </a:r>
            <a:r>
              <a:rPr lang="en-US" altLang="zh-CN" sz="2400" b="1" baseline="-25000">
                <a:latin typeface="微软雅黑" panose="020B0503020204020204" pitchFamily="34" charset="-122"/>
                <a:ea typeface="微软雅黑" panose="020B0503020204020204" pitchFamily="34" charset="-122"/>
              </a:rPr>
              <a:t>1</a:t>
            </a:r>
            <a:r>
              <a:rPr lang="en-US" altLang="zh-CN" sz="2400" b="1">
                <a:latin typeface="微软雅黑" panose="020B0503020204020204" pitchFamily="34" charset="-122"/>
                <a:ea typeface="微软雅黑" panose="020B0503020204020204" pitchFamily="34" charset="-122"/>
              </a:rPr>
              <a:t>-</a:t>
            </a:r>
            <a:r>
              <a:rPr lang="en-US" altLang="zh-CN" sz="2400" b="1" i="1">
                <a:latin typeface="微软雅黑" panose="020B0503020204020204" pitchFamily="34" charset="-122"/>
                <a:ea typeface="微软雅黑" panose="020B0503020204020204" pitchFamily="34" charset="-122"/>
              </a:rPr>
              <a:t>h</a:t>
            </a:r>
            <a:r>
              <a:rPr lang="en-US" altLang="zh-CN" sz="2400" b="1" baseline="-25000">
                <a:latin typeface="微软雅黑" panose="020B0503020204020204" pitchFamily="34" charset="-122"/>
                <a:ea typeface="微软雅黑" panose="020B0503020204020204" pitchFamily="34" charset="-122"/>
              </a:rPr>
              <a:t>2</a:t>
            </a:r>
            <a:r>
              <a:rPr lang="zh-CN" altLang="en-US" sz="2400" b="1">
                <a:latin typeface="微软雅黑" panose="020B0503020204020204" pitchFamily="34" charset="-122"/>
                <a:ea typeface="微软雅黑" panose="020B0503020204020204" pitchFamily="34" charset="-122"/>
              </a:rPr>
              <a:t>，随着温度变化</a:t>
            </a:r>
            <a:r>
              <a:rPr lang="el-GR" altLang="zh-CN" sz="2400" b="1">
                <a:latin typeface="微软雅黑" panose="020B0503020204020204" pitchFamily="34" charset="-122"/>
                <a:ea typeface="微软雅黑" panose="020B0503020204020204" pitchFamily="34" charset="-122"/>
              </a:rPr>
              <a:t>Δ</a:t>
            </a:r>
            <a:r>
              <a:rPr lang="en-US" altLang="zh-CN" sz="2400" b="1" i="1">
                <a:latin typeface="微软雅黑" panose="020B0503020204020204" pitchFamily="34" charset="-122"/>
                <a:ea typeface="微软雅黑" panose="020B0503020204020204" pitchFamily="34" charset="-122"/>
              </a:rPr>
              <a:t>t</a:t>
            </a:r>
            <a:r>
              <a:rPr lang="zh-CN" altLang="en-US" sz="2400" b="1">
                <a:latin typeface="微软雅黑" panose="020B0503020204020204" pitchFamily="34" charset="-122"/>
                <a:ea typeface="微软雅黑" panose="020B0503020204020204" pitchFamily="34" charset="-122"/>
              </a:rPr>
              <a:t>后，间隙</a:t>
            </a:r>
            <a:r>
              <a:rPr lang="en-US" altLang="zh-CN" sz="2400" b="1" i="1">
                <a:latin typeface="微软雅黑" panose="020B0503020204020204" pitchFamily="34" charset="-122"/>
                <a:ea typeface="微软雅黑" panose="020B0503020204020204" pitchFamily="34" charset="-122"/>
              </a:rPr>
              <a:t>d</a:t>
            </a:r>
            <a:r>
              <a:rPr lang="en-US" altLang="zh-CN" sz="2400" b="1" baseline="-25000">
                <a:latin typeface="微软雅黑" panose="020B0503020204020204" pitchFamily="34" charset="-122"/>
                <a:ea typeface="微软雅黑" panose="020B0503020204020204" pitchFamily="34" charset="-122"/>
              </a:rPr>
              <a:t>t</a:t>
            </a:r>
            <a:r>
              <a:rPr lang="zh-CN" altLang="en-US" sz="2400" b="1">
                <a:latin typeface="微软雅黑" panose="020B0503020204020204" pitchFamily="34" charset="-122"/>
                <a:ea typeface="微软雅黑" panose="020B0503020204020204" pitchFamily="34" charset="-122"/>
              </a:rPr>
              <a:t>为</a:t>
            </a:r>
            <a:endParaRPr lang="zh-CN" altLang="el-GR" sz="2400" b="1" i="1" baseline="-25000">
              <a:latin typeface="微软雅黑" panose="020B0503020204020204" pitchFamily="34" charset="-122"/>
              <a:ea typeface="微软雅黑" panose="020B0503020204020204" pitchFamily="34" charset="-122"/>
            </a:endParaRPr>
          </a:p>
        </p:txBody>
      </p:sp>
      <p:graphicFrame>
        <p:nvGraphicFramePr>
          <p:cNvPr id="71685" name="Object 5">
            <a:extLst>
              <a:ext uri="{FF2B5EF4-FFF2-40B4-BE49-F238E27FC236}">
                <a16:creationId xmlns:a16="http://schemas.microsoft.com/office/drawing/2014/main" id="{273BE21F-4E35-4722-B31F-D4EB8AB09253}"/>
              </a:ext>
            </a:extLst>
          </p:cNvPr>
          <p:cNvGraphicFramePr>
            <a:graphicFrameLocks noChangeAspect="1"/>
          </p:cNvGraphicFramePr>
          <p:nvPr/>
        </p:nvGraphicFramePr>
        <p:xfrm>
          <a:off x="788988" y="1844675"/>
          <a:ext cx="7239000" cy="1339850"/>
        </p:xfrm>
        <a:graphic>
          <a:graphicData uri="http://schemas.openxmlformats.org/presentationml/2006/ole">
            <mc:AlternateContent xmlns:mc="http://schemas.openxmlformats.org/markup-compatibility/2006">
              <mc:Choice xmlns:v="urn:schemas-microsoft-com:vml" Requires="v">
                <p:oleObj spid="_x0000_s71754" name="Equation" r:id="rId4" imgW="2743200" imgH="508000" progId="Equation.DSMT4">
                  <p:embed/>
                </p:oleObj>
              </mc:Choice>
              <mc:Fallback>
                <p:oleObj name="Equation" r:id="rId4" imgW="2743200" imgH="5080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8988" y="1844675"/>
                        <a:ext cx="7239000" cy="1339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86" name="Text Box 2">
            <a:extLst>
              <a:ext uri="{FF2B5EF4-FFF2-40B4-BE49-F238E27FC236}">
                <a16:creationId xmlns:a16="http://schemas.microsoft.com/office/drawing/2014/main" id="{2610CC05-DB90-471A-9B37-E7B879F2C082}"/>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4 </a:t>
            </a:r>
            <a:r>
              <a:rPr kumimoji="1" lang="zh-CN" altLang="en-US" sz="2800" b="1">
                <a:solidFill>
                  <a:srgbClr val="C00000"/>
                </a:solidFill>
                <a:latin typeface="微软雅黑" panose="020B0503020204020204" pitchFamily="34" charset="-122"/>
                <a:ea typeface="微软雅黑" panose="020B0503020204020204" pitchFamily="34" charset="-122"/>
              </a:rPr>
              <a:t>温度特性（温度对结构尺寸的影响）</a:t>
            </a:r>
          </a:p>
        </p:txBody>
      </p:sp>
      <p:grpSp>
        <p:nvGrpSpPr>
          <p:cNvPr id="71687" name="组合 19">
            <a:extLst>
              <a:ext uri="{FF2B5EF4-FFF2-40B4-BE49-F238E27FC236}">
                <a16:creationId xmlns:a16="http://schemas.microsoft.com/office/drawing/2014/main" id="{3B5D49A8-D5F1-451A-8659-DAAF72E08288}"/>
              </a:ext>
            </a:extLst>
          </p:cNvPr>
          <p:cNvGrpSpPr>
            <a:grpSpLocks/>
          </p:cNvGrpSpPr>
          <p:nvPr/>
        </p:nvGrpSpPr>
        <p:grpSpPr bwMode="auto">
          <a:xfrm>
            <a:off x="1046163" y="3184525"/>
            <a:ext cx="6470650" cy="3441700"/>
            <a:chOff x="1045773" y="3184525"/>
            <a:chExt cx="6471430" cy="3441700"/>
          </a:xfrm>
        </p:grpSpPr>
        <p:grpSp>
          <p:nvGrpSpPr>
            <p:cNvPr id="71688" name="组合 10">
              <a:extLst>
                <a:ext uri="{FF2B5EF4-FFF2-40B4-BE49-F238E27FC236}">
                  <a16:creationId xmlns:a16="http://schemas.microsoft.com/office/drawing/2014/main" id="{10802A00-0B57-4166-9A99-D514BEBE370C}"/>
                </a:ext>
              </a:extLst>
            </p:cNvPr>
            <p:cNvGrpSpPr>
              <a:grpSpLocks/>
            </p:cNvGrpSpPr>
            <p:nvPr/>
          </p:nvGrpSpPr>
          <p:grpSpPr bwMode="auto">
            <a:xfrm>
              <a:off x="1045773" y="3778250"/>
              <a:ext cx="6471430" cy="2847975"/>
              <a:chOff x="907692" y="3533353"/>
              <a:chExt cx="6471430" cy="2847975"/>
            </a:xfrm>
          </p:grpSpPr>
          <p:grpSp>
            <p:nvGrpSpPr>
              <p:cNvPr id="71691" name="Group 9">
                <a:extLst>
                  <a:ext uri="{FF2B5EF4-FFF2-40B4-BE49-F238E27FC236}">
                    <a16:creationId xmlns:a16="http://schemas.microsoft.com/office/drawing/2014/main" id="{69EDB6AF-114C-4822-AA07-90DB79091590}"/>
                  </a:ext>
                </a:extLst>
              </p:cNvPr>
              <p:cNvGrpSpPr>
                <a:grpSpLocks/>
              </p:cNvGrpSpPr>
              <p:nvPr/>
            </p:nvGrpSpPr>
            <p:grpSpPr bwMode="auto">
              <a:xfrm>
                <a:off x="1619672" y="3533353"/>
                <a:ext cx="5759450" cy="2847975"/>
                <a:chOff x="1202" y="1979"/>
                <a:chExt cx="3628" cy="1794"/>
              </a:xfrm>
            </p:grpSpPr>
            <p:pic>
              <p:nvPicPr>
                <p:cNvPr id="71698" name="Picture 7" descr="图片1">
                  <a:extLst>
                    <a:ext uri="{FF2B5EF4-FFF2-40B4-BE49-F238E27FC236}">
                      <a16:creationId xmlns:a16="http://schemas.microsoft.com/office/drawing/2014/main" id="{71E3E3F8-843D-4AB8-B55F-E6ADB6F975A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2" y="1979"/>
                  <a:ext cx="3310" cy="1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99" name="Text Box 8">
                  <a:extLst>
                    <a:ext uri="{FF2B5EF4-FFF2-40B4-BE49-F238E27FC236}">
                      <a16:creationId xmlns:a16="http://schemas.microsoft.com/office/drawing/2014/main" id="{2C591FF2-D969-41F6-A261-A89873D38152}"/>
                    </a:ext>
                  </a:extLst>
                </p:cNvPr>
                <p:cNvSpPr txBox="1">
                  <a:spLocks noChangeArrowheads="1"/>
                </p:cNvSpPr>
                <p:nvPr/>
              </p:nvSpPr>
              <p:spPr bwMode="auto">
                <a:xfrm>
                  <a:off x="1927" y="3521"/>
                  <a:ext cx="290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50000"/>
                    </a:spcBef>
                    <a:buFontTx/>
                    <a:buNone/>
                  </a:pPr>
                  <a:r>
                    <a:rPr lang="zh-CN" altLang="en-US" sz="2000">
                      <a:latin typeface="楷体_GB2312" pitchFamily="49" charset="-122"/>
                      <a:ea typeface="楷体_GB2312" pitchFamily="49" charset="-122"/>
                    </a:rPr>
                    <a:t>电容测压传感器</a:t>
                  </a:r>
                </a:p>
              </p:txBody>
            </p:sp>
          </p:grpSp>
          <p:cxnSp>
            <p:nvCxnSpPr>
              <p:cNvPr id="3" name="直接箭头连接符 2">
                <a:extLst>
                  <a:ext uri="{FF2B5EF4-FFF2-40B4-BE49-F238E27FC236}">
                    <a16:creationId xmlns:a16="http://schemas.microsoft.com/office/drawing/2014/main" id="{B587ECDF-7E1F-4AD2-A041-2997C73772F6}"/>
                  </a:ext>
                </a:extLst>
              </p:cNvPr>
              <p:cNvCxnSpPr/>
              <p:nvPr/>
            </p:nvCxnSpPr>
            <p:spPr>
              <a:xfrm flipV="1">
                <a:off x="4734028" y="3831803"/>
                <a:ext cx="1152664" cy="107950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1693" name="文本框 3">
                <a:extLst>
                  <a:ext uri="{FF2B5EF4-FFF2-40B4-BE49-F238E27FC236}">
                    <a16:creationId xmlns:a16="http://schemas.microsoft.com/office/drawing/2014/main" id="{5A0FA74C-1A08-4894-9079-8B7DD11769B9}"/>
                  </a:ext>
                </a:extLst>
              </p:cNvPr>
              <p:cNvSpPr txBox="1">
                <a:spLocks noChangeArrowheads="1"/>
              </p:cNvSpPr>
              <p:nvPr/>
            </p:nvSpPr>
            <p:spPr bwMode="auto">
              <a:xfrm>
                <a:off x="5868144" y="3593219"/>
                <a:ext cx="1152128" cy="370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b="1">
                    <a:solidFill>
                      <a:srgbClr val="00B050"/>
                    </a:solidFill>
                  </a:rPr>
                  <a:t>工作极片</a:t>
                </a:r>
              </a:p>
            </p:txBody>
          </p:sp>
          <p:sp>
            <p:nvSpPr>
              <p:cNvPr id="71694" name="文本框 12">
                <a:extLst>
                  <a:ext uri="{FF2B5EF4-FFF2-40B4-BE49-F238E27FC236}">
                    <a16:creationId xmlns:a16="http://schemas.microsoft.com/office/drawing/2014/main" id="{127A816A-C45A-45B9-BBB0-65761233E80D}"/>
                  </a:ext>
                </a:extLst>
              </p:cNvPr>
              <p:cNvSpPr txBox="1">
                <a:spLocks noChangeArrowheads="1"/>
              </p:cNvSpPr>
              <p:nvPr/>
            </p:nvSpPr>
            <p:spPr bwMode="auto">
              <a:xfrm>
                <a:off x="1114846" y="3657947"/>
                <a:ext cx="1152128" cy="370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b="1">
                    <a:solidFill>
                      <a:srgbClr val="00B050"/>
                    </a:solidFill>
                  </a:rPr>
                  <a:t>固定极片</a:t>
                </a:r>
              </a:p>
            </p:txBody>
          </p:sp>
          <p:cxnSp>
            <p:nvCxnSpPr>
              <p:cNvPr id="14" name="直接箭头连接符 13">
                <a:extLst>
                  <a:ext uri="{FF2B5EF4-FFF2-40B4-BE49-F238E27FC236}">
                    <a16:creationId xmlns:a16="http://schemas.microsoft.com/office/drawing/2014/main" id="{A0FCE624-AFCA-4E39-8B26-FDFD88C322B3}"/>
                  </a:ext>
                </a:extLst>
              </p:cNvPr>
              <p:cNvCxnSpPr>
                <a:cxnSpLocks/>
              </p:cNvCxnSpPr>
              <p:nvPr/>
            </p:nvCxnSpPr>
            <p:spPr>
              <a:xfrm flipH="1" flipV="1">
                <a:off x="2092110" y="4028653"/>
                <a:ext cx="865291" cy="106838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1696" name="文本框 17">
                <a:extLst>
                  <a:ext uri="{FF2B5EF4-FFF2-40B4-BE49-F238E27FC236}">
                    <a16:creationId xmlns:a16="http://schemas.microsoft.com/office/drawing/2014/main" id="{0ECF299B-2C40-4320-B455-7000B8C76F03}"/>
                  </a:ext>
                </a:extLst>
              </p:cNvPr>
              <p:cNvSpPr txBox="1">
                <a:spLocks noChangeArrowheads="1"/>
              </p:cNvSpPr>
              <p:nvPr/>
            </p:nvSpPr>
            <p:spPr bwMode="auto">
              <a:xfrm>
                <a:off x="907692" y="5800485"/>
                <a:ext cx="12309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b="1">
                    <a:solidFill>
                      <a:srgbClr val="00B050"/>
                    </a:solidFill>
                  </a:rPr>
                  <a:t>绝缘材料</a:t>
                </a:r>
              </a:p>
            </p:txBody>
          </p:sp>
          <p:cxnSp>
            <p:nvCxnSpPr>
              <p:cNvPr id="19" name="直接箭头连接符 18">
                <a:extLst>
                  <a:ext uri="{FF2B5EF4-FFF2-40B4-BE49-F238E27FC236}">
                    <a16:creationId xmlns:a16="http://schemas.microsoft.com/office/drawing/2014/main" id="{D05B17EC-2521-43C4-A846-A3D2C5098831}"/>
                  </a:ext>
                </a:extLst>
              </p:cNvPr>
              <p:cNvCxnSpPr>
                <a:cxnSpLocks/>
              </p:cNvCxnSpPr>
              <p:nvPr/>
            </p:nvCxnSpPr>
            <p:spPr>
              <a:xfrm flipH="1">
                <a:off x="2082584" y="5301828"/>
                <a:ext cx="1049463" cy="70008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5" name="直接箭头连接符 14">
              <a:extLst>
                <a:ext uri="{FF2B5EF4-FFF2-40B4-BE49-F238E27FC236}">
                  <a16:creationId xmlns:a16="http://schemas.microsoft.com/office/drawing/2014/main" id="{7E21FBF1-88DA-4E46-87C8-065647830005}"/>
                </a:ext>
              </a:extLst>
            </p:cNvPr>
            <p:cNvCxnSpPr/>
            <p:nvPr/>
          </p:nvCxnSpPr>
          <p:spPr>
            <a:xfrm>
              <a:off x="4040159" y="3184525"/>
              <a:ext cx="0" cy="59372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1690" name="文本框 16">
              <a:extLst>
                <a:ext uri="{FF2B5EF4-FFF2-40B4-BE49-F238E27FC236}">
                  <a16:creationId xmlns:a16="http://schemas.microsoft.com/office/drawing/2014/main" id="{4B55351F-751E-47FA-93B3-3DACC27BF518}"/>
                </a:ext>
              </a:extLst>
            </p:cNvPr>
            <p:cNvSpPr txBox="1">
              <a:spLocks noChangeArrowheads="1"/>
            </p:cNvSpPr>
            <p:nvPr/>
          </p:nvSpPr>
          <p:spPr bwMode="auto">
            <a:xfrm>
              <a:off x="3635896" y="3253708"/>
              <a:ext cx="2617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400" b="1">
                  <a:latin typeface="Times New Roman" panose="02020603050405020304" pitchFamily="18" charset="0"/>
                  <a:cs typeface="Times New Roman" panose="02020603050405020304" pitchFamily="18" charset="0"/>
                </a:rPr>
                <a:t>P</a:t>
              </a:r>
              <a:endParaRPr lang="zh-CN" altLang="en-US" sz="2400" b="1">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1">
            <a:extLst>
              <a:ext uri="{FF2B5EF4-FFF2-40B4-BE49-F238E27FC236}">
                <a16:creationId xmlns:a16="http://schemas.microsoft.com/office/drawing/2014/main" id="{14DCC60A-D42E-4761-A342-C7606A8BFF05}"/>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0B892A25-A69A-4350-A77C-F8B953742E17}" type="slidenum">
              <a:rPr lang="en-US" altLang="zh-CN" smtClean="0"/>
              <a:pPr/>
              <a:t>43</a:t>
            </a:fld>
            <a:endParaRPr lang="en-US" altLang="zh-CN"/>
          </a:p>
        </p:txBody>
      </p:sp>
      <p:sp>
        <p:nvSpPr>
          <p:cNvPr id="73731" name="Text Box 4">
            <a:extLst>
              <a:ext uri="{FF2B5EF4-FFF2-40B4-BE49-F238E27FC236}">
                <a16:creationId xmlns:a16="http://schemas.microsoft.com/office/drawing/2014/main" id="{008D9821-0739-4B64-BB77-CA0271D65B3D}"/>
              </a:ext>
            </a:extLst>
          </p:cNvPr>
          <p:cNvSpPr txBox="1">
            <a:spLocks noChangeArrowheads="1"/>
          </p:cNvSpPr>
          <p:nvPr/>
        </p:nvSpPr>
        <p:spPr bwMode="auto">
          <a:xfrm>
            <a:off x="-39688" y="1243013"/>
            <a:ext cx="82089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50000"/>
              </a:spcBef>
              <a:buFontTx/>
              <a:buNone/>
            </a:pPr>
            <a:r>
              <a:rPr lang="zh-CN" altLang="en-US" sz="2000" b="1">
                <a:latin typeface="微软雅黑" panose="020B0503020204020204" pitchFamily="34" charset="-122"/>
                <a:ea typeface="微软雅黑" panose="020B0503020204020204" pitchFamily="34" charset="-122"/>
              </a:rPr>
              <a:t>  由于温度变化而引起的电容量相对误差为</a:t>
            </a:r>
          </a:p>
        </p:txBody>
      </p:sp>
      <p:graphicFrame>
        <p:nvGraphicFramePr>
          <p:cNvPr id="73732" name="Object 5">
            <a:extLst>
              <a:ext uri="{FF2B5EF4-FFF2-40B4-BE49-F238E27FC236}">
                <a16:creationId xmlns:a16="http://schemas.microsoft.com/office/drawing/2014/main" id="{992FD37B-DFE1-459D-BD34-8E18CFA6862D}"/>
              </a:ext>
            </a:extLst>
          </p:cNvPr>
          <p:cNvGraphicFramePr>
            <a:graphicFrameLocks noChangeAspect="1"/>
          </p:cNvGraphicFramePr>
          <p:nvPr/>
        </p:nvGraphicFramePr>
        <p:xfrm>
          <a:off x="5156200" y="1198563"/>
          <a:ext cx="2879725" cy="1004887"/>
        </p:xfrm>
        <a:graphic>
          <a:graphicData uri="http://schemas.openxmlformats.org/presentationml/2006/ole">
            <mc:AlternateContent xmlns:mc="http://schemas.openxmlformats.org/markup-compatibility/2006">
              <mc:Choice xmlns:v="urn:schemas-microsoft-com:vml" Requires="v">
                <p:oleObj spid="_x0000_s74132" name="Equation" r:id="rId4" imgW="1384300" imgH="482600" progId="Equation.DSMT4">
                  <p:embed/>
                </p:oleObj>
              </mc:Choice>
              <mc:Fallback>
                <p:oleObj name="Equation" r:id="rId4" imgW="1384300" imgH="4826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56200" y="1198563"/>
                        <a:ext cx="2879725" cy="1004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33" name="Object 8">
            <a:extLst>
              <a:ext uri="{FF2B5EF4-FFF2-40B4-BE49-F238E27FC236}">
                <a16:creationId xmlns:a16="http://schemas.microsoft.com/office/drawing/2014/main" id="{4A8E1487-49EB-4D43-91E4-FC2B89F725BA}"/>
              </a:ext>
            </a:extLst>
          </p:cNvPr>
          <p:cNvGraphicFramePr>
            <a:graphicFrameLocks noChangeAspect="1"/>
          </p:cNvGraphicFramePr>
          <p:nvPr/>
        </p:nvGraphicFramePr>
        <p:xfrm>
          <a:off x="3597275" y="2181225"/>
          <a:ext cx="4681538" cy="1079500"/>
        </p:xfrm>
        <a:graphic>
          <a:graphicData uri="http://schemas.openxmlformats.org/presentationml/2006/ole">
            <mc:AlternateContent xmlns:mc="http://schemas.openxmlformats.org/markup-compatibility/2006">
              <mc:Choice xmlns:v="urn:schemas-microsoft-com:vml" Requires="v">
                <p:oleObj spid="_x0000_s74133" name="Equation" r:id="rId6" imgW="2095500" imgH="482600" progId="Equation.DSMT4">
                  <p:embed/>
                </p:oleObj>
              </mc:Choice>
              <mc:Fallback>
                <p:oleObj name="Equation" r:id="rId6" imgW="2095500" imgH="48260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97275" y="2181225"/>
                        <a:ext cx="4681538" cy="1079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34" name="Text Box 9">
            <a:extLst>
              <a:ext uri="{FF2B5EF4-FFF2-40B4-BE49-F238E27FC236}">
                <a16:creationId xmlns:a16="http://schemas.microsoft.com/office/drawing/2014/main" id="{9249154D-7305-4ED6-8385-28983865ACA3}"/>
              </a:ext>
            </a:extLst>
          </p:cNvPr>
          <p:cNvSpPr txBox="1">
            <a:spLocks noChangeArrowheads="1"/>
          </p:cNvSpPr>
          <p:nvPr/>
        </p:nvSpPr>
        <p:spPr bwMode="auto">
          <a:xfrm>
            <a:off x="52388" y="3409950"/>
            <a:ext cx="77771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50000"/>
              </a:spcBef>
              <a:buFontTx/>
              <a:buNone/>
            </a:pPr>
            <a:r>
              <a:rPr lang="zh-CN" altLang="en-US" sz="2000" b="1" dirty="0">
                <a:latin typeface="微软雅黑" panose="020B0503020204020204" pitchFamily="34" charset="-122"/>
                <a:ea typeface="微软雅黑" panose="020B0503020204020204" pitchFamily="34" charset="-122"/>
              </a:rPr>
              <a:t>要实现温度补偿，应使          ，即：</a:t>
            </a:r>
            <a:endParaRPr lang="el-GR" altLang="zh-CN" sz="2000" b="1" dirty="0">
              <a:latin typeface="微软雅黑" panose="020B0503020204020204" pitchFamily="34" charset="-122"/>
              <a:ea typeface="微软雅黑" panose="020B0503020204020204" pitchFamily="34" charset="-122"/>
            </a:endParaRPr>
          </a:p>
        </p:txBody>
      </p:sp>
      <p:graphicFrame>
        <p:nvGraphicFramePr>
          <p:cNvPr id="73735" name="Object 10">
            <a:extLst>
              <a:ext uri="{FF2B5EF4-FFF2-40B4-BE49-F238E27FC236}">
                <a16:creationId xmlns:a16="http://schemas.microsoft.com/office/drawing/2014/main" id="{7DB2E6C5-3023-4F26-8F96-D7585DA22207}"/>
              </a:ext>
            </a:extLst>
          </p:cNvPr>
          <p:cNvGraphicFramePr>
            <a:graphicFrameLocks noChangeAspect="1"/>
          </p:cNvGraphicFramePr>
          <p:nvPr>
            <p:extLst>
              <p:ext uri="{D42A27DB-BD31-4B8C-83A1-F6EECF244321}">
                <p14:modId xmlns:p14="http://schemas.microsoft.com/office/powerpoint/2010/main" val="1139724132"/>
              </p:ext>
            </p:extLst>
          </p:nvPr>
        </p:nvGraphicFramePr>
        <p:xfrm>
          <a:off x="2771775" y="3430588"/>
          <a:ext cx="636588" cy="369887"/>
        </p:xfrm>
        <a:graphic>
          <a:graphicData uri="http://schemas.openxmlformats.org/presentationml/2006/ole">
            <mc:AlternateContent xmlns:mc="http://schemas.openxmlformats.org/markup-compatibility/2006">
              <mc:Choice xmlns:v="urn:schemas-microsoft-com:vml" Requires="v">
                <p:oleObj spid="_x0000_s74134" name="Equation" r:id="rId8" imgW="393529" imgH="228501" progId="Equation.DSMT4">
                  <p:embed/>
                </p:oleObj>
              </mc:Choice>
              <mc:Fallback>
                <p:oleObj name="Equation" r:id="rId8" imgW="393529" imgH="228501"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71775" y="3430588"/>
                        <a:ext cx="636588" cy="369887"/>
                      </a:xfrm>
                      <a:prstGeom prst="rect">
                        <a:avLst/>
                      </a:prstGeom>
                      <a:noFill/>
                      <a:ln>
                        <a:noFill/>
                      </a:ln>
                      <a:effectLst/>
                      <a:extLst/>
                    </p:spPr>
                  </p:pic>
                </p:oleObj>
              </mc:Fallback>
            </mc:AlternateContent>
          </a:graphicData>
        </a:graphic>
      </p:graphicFrame>
      <p:graphicFrame>
        <p:nvGraphicFramePr>
          <p:cNvPr id="73736" name="Object 11">
            <a:extLst>
              <a:ext uri="{FF2B5EF4-FFF2-40B4-BE49-F238E27FC236}">
                <a16:creationId xmlns:a16="http://schemas.microsoft.com/office/drawing/2014/main" id="{86EB26B9-B2D8-4AC2-A6A0-C03386336BD2}"/>
              </a:ext>
            </a:extLst>
          </p:cNvPr>
          <p:cNvGraphicFramePr>
            <a:graphicFrameLocks noChangeAspect="1"/>
          </p:cNvGraphicFramePr>
          <p:nvPr>
            <p:extLst>
              <p:ext uri="{D42A27DB-BD31-4B8C-83A1-F6EECF244321}">
                <p14:modId xmlns:p14="http://schemas.microsoft.com/office/powerpoint/2010/main" val="4239641042"/>
              </p:ext>
            </p:extLst>
          </p:nvPr>
        </p:nvGraphicFramePr>
        <p:xfrm>
          <a:off x="4499992" y="3395663"/>
          <a:ext cx="3311525" cy="571500"/>
        </p:xfrm>
        <a:graphic>
          <a:graphicData uri="http://schemas.openxmlformats.org/presentationml/2006/ole">
            <mc:AlternateContent xmlns:mc="http://schemas.openxmlformats.org/markup-compatibility/2006">
              <mc:Choice xmlns:v="urn:schemas-microsoft-com:vml" Requires="v">
                <p:oleObj spid="_x0000_s74135" name="Equation" r:id="rId10" imgW="1397000" imgH="241300" progId="Equation.DSMT4">
                  <p:embed/>
                </p:oleObj>
              </mc:Choice>
              <mc:Fallback>
                <p:oleObj name="Equation" r:id="rId10" imgW="1397000" imgH="241300"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99992" y="3395663"/>
                        <a:ext cx="3311525"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37" name="Text Box 4">
            <a:extLst>
              <a:ext uri="{FF2B5EF4-FFF2-40B4-BE49-F238E27FC236}">
                <a16:creationId xmlns:a16="http://schemas.microsoft.com/office/drawing/2014/main" id="{9BCDED75-00ED-4580-B6F0-2FC3CBBA5306}"/>
              </a:ext>
            </a:extLst>
          </p:cNvPr>
          <p:cNvSpPr txBox="1">
            <a:spLocks noChangeArrowheads="1"/>
          </p:cNvSpPr>
          <p:nvPr/>
        </p:nvSpPr>
        <p:spPr bwMode="auto">
          <a:xfrm>
            <a:off x="107950" y="4032250"/>
            <a:ext cx="7632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50000"/>
              </a:spcBef>
              <a:buFontTx/>
              <a:buNone/>
            </a:pPr>
            <a:r>
              <a:rPr lang="zh-CN" altLang="en-US" sz="2000" b="1">
                <a:latin typeface="微软雅黑" panose="020B0503020204020204" pitchFamily="34" charset="-122"/>
                <a:ea typeface="微软雅黑" panose="020B0503020204020204" pitchFamily="34" charset="-122"/>
              </a:rPr>
              <a:t>考虑到                     ，代入上式得</a:t>
            </a:r>
            <a:endParaRPr lang="en-US" altLang="zh-CN" sz="2000" b="1">
              <a:latin typeface="微软雅黑" panose="020B0503020204020204" pitchFamily="34" charset="-122"/>
              <a:ea typeface="微软雅黑" panose="020B0503020204020204" pitchFamily="34" charset="-122"/>
            </a:endParaRPr>
          </a:p>
        </p:txBody>
      </p:sp>
      <p:graphicFrame>
        <p:nvGraphicFramePr>
          <p:cNvPr id="73738" name="Object 6">
            <a:extLst>
              <a:ext uri="{FF2B5EF4-FFF2-40B4-BE49-F238E27FC236}">
                <a16:creationId xmlns:a16="http://schemas.microsoft.com/office/drawing/2014/main" id="{033CA6BF-76E7-4E4D-9D48-E6DAD57700D6}"/>
              </a:ext>
            </a:extLst>
          </p:cNvPr>
          <p:cNvGraphicFramePr>
            <a:graphicFrameLocks noChangeAspect="1"/>
          </p:cNvGraphicFramePr>
          <p:nvPr/>
        </p:nvGraphicFramePr>
        <p:xfrm>
          <a:off x="4364038" y="4049713"/>
          <a:ext cx="4465637" cy="520700"/>
        </p:xfrm>
        <a:graphic>
          <a:graphicData uri="http://schemas.openxmlformats.org/presentationml/2006/ole">
            <mc:AlternateContent xmlns:mc="http://schemas.openxmlformats.org/markup-compatibility/2006">
              <mc:Choice xmlns:v="urn:schemas-microsoft-com:vml" Requires="v">
                <p:oleObj spid="_x0000_s74136" name="Equation" r:id="rId12" imgW="2070100" imgH="241300" progId="Equation.DSMT4">
                  <p:embed/>
                </p:oleObj>
              </mc:Choice>
              <mc:Fallback>
                <p:oleObj name="Equation" r:id="rId12" imgW="2070100" imgH="241300" progId="Equation.DSMT4">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64038" y="4049713"/>
                        <a:ext cx="4465637"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39" name="Text Box 7">
            <a:extLst>
              <a:ext uri="{FF2B5EF4-FFF2-40B4-BE49-F238E27FC236}">
                <a16:creationId xmlns:a16="http://schemas.microsoft.com/office/drawing/2014/main" id="{7EE95944-89FF-4D33-A015-EF1DC929C1FF}"/>
              </a:ext>
            </a:extLst>
          </p:cNvPr>
          <p:cNvSpPr txBox="1">
            <a:spLocks noChangeArrowheads="1"/>
          </p:cNvSpPr>
          <p:nvPr/>
        </p:nvSpPr>
        <p:spPr bwMode="auto">
          <a:xfrm>
            <a:off x="52388" y="4864100"/>
            <a:ext cx="79930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50000"/>
              </a:spcBef>
              <a:buFontTx/>
              <a:buNone/>
            </a:pPr>
            <a:r>
              <a:rPr lang="zh-CN" altLang="en-US" sz="2000" b="1">
                <a:latin typeface="微软雅黑" panose="020B0503020204020204" pitchFamily="34" charset="-122"/>
                <a:ea typeface="微软雅黑" panose="020B0503020204020204" pitchFamily="34" charset="-122"/>
              </a:rPr>
              <a:t>经整理后可得</a:t>
            </a:r>
          </a:p>
        </p:txBody>
      </p:sp>
      <p:graphicFrame>
        <p:nvGraphicFramePr>
          <p:cNvPr id="73740" name="Object 8">
            <a:extLst>
              <a:ext uri="{FF2B5EF4-FFF2-40B4-BE49-F238E27FC236}">
                <a16:creationId xmlns:a16="http://schemas.microsoft.com/office/drawing/2014/main" id="{11B79038-FAF4-415F-982B-64BC32516714}"/>
              </a:ext>
            </a:extLst>
          </p:cNvPr>
          <p:cNvGraphicFramePr>
            <a:graphicFrameLocks noChangeAspect="1"/>
          </p:cNvGraphicFramePr>
          <p:nvPr/>
        </p:nvGraphicFramePr>
        <p:xfrm>
          <a:off x="1979613" y="4638675"/>
          <a:ext cx="5026025" cy="1185863"/>
        </p:xfrm>
        <a:graphic>
          <a:graphicData uri="http://schemas.openxmlformats.org/presentationml/2006/ole">
            <mc:AlternateContent xmlns:mc="http://schemas.openxmlformats.org/markup-compatibility/2006">
              <mc:Choice xmlns:v="urn:schemas-microsoft-com:vml" Requires="v">
                <p:oleObj spid="_x0000_s74137" name="Equation" r:id="rId14" imgW="2044700" imgH="482600" progId="Equation.DSMT4">
                  <p:embed/>
                </p:oleObj>
              </mc:Choice>
              <mc:Fallback>
                <p:oleObj name="Equation" r:id="rId14" imgW="2044700" imgH="482600" progId="Equation.DSMT4">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79613" y="4638675"/>
                        <a:ext cx="5026025" cy="1185863"/>
                      </a:xfrm>
                      <a:prstGeom prst="rect">
                        <a:avLst/>
                      </a:prstGeom>
                      <a:solidFill>
                        <a:srgbClr val="FFF1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8861" name="Text Box 9">
            <a:extLst>
              <a:ext uri="{FF2B5EF4-FFF2-40B4-BE49-F238E27FC236}">
                <a16:creationId xmlns:a16="http://schemas.microsoft.com/office/drawing/2014/main" id="{7D9A8B42-0056-47BC-8E07-F92D836E55B4}"/>
              </a:ext>
            </a:extLst>
          </p:cNvPr>
          <p:cNvSpPr txBox="1">
            <a:spLocks noChangeArrowheads="1"/>
          </p:cNvSpPr>
          <p:nvPr/>
        </p:nvSpPr>
        <p:spPr bwMode="auto">
          <a:xfrm>
            <a:off x="152400" y="5908019"/>
            <a:ext cx="8991600" cy="400110"/>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50000"/>
              </a:spcBef>
              <a:buFontTx/>
              <a:buNone/>
              <a:defRPr/>
            </a:pPr>
            <a:r>
              <a:rPr lang="zh-CN" altLang="en-US" sz="2000" b="1" dirty="0">
                <a:solidFill>
                  <a:srgbClr val="FF0000"/>
                </a:solidFill>
                <a:latin typeface="微软雅黑" panose="020B0503020204020204" pitchFamily="34" charset="-122"/>
                <a:ea typeface="微软雅黑" panose="020B0503020204020204" pitchFamily="34" charset="-122"/>
              </a:rPr>
              <a:t>设计方法：</a:t>
            </a:r>
            <a:r>
              <a:rPr lang="zh-CN" altLang="en-US" sz="2000" b="1" dirty="0">
                <a:solidFill>
                  <a:srgbClr val="0000FF"/>
                </a:solidFill>
                <a:latin typeface="微软雅黑" panose="020B0503020204020204" pitchFamily="34" charset="-122"/>
                <a:ea typeface="微软雅黑" panose="020B0503020204020204" pitchFamily="34" charset="-122"/>
              </a:rPr>
              <a:t>先确定</a:t>
            </a:r>
            <a:r>
              <a:rPr lang="en-US" altLang="zh-CN" sz="2000" b="1" dirty="0">
                <a:solidFill>
                  <a:srgbClr val="0000FF"/>
                </a:solidFill>
                <a:latin typeface="微软雅黑" panose="020B0503020204020204" pitchFamily="34" charset="-122"/>
                <a:ea typeface="微软雅黑" panose="020B0503020204020204" pitchFamily="34" charset="-122"/>
              </a:rPr>
              <a:t>d0</a:t>
            </a:r>
            <a:r>
              <a:rPr lang="zh-CN" altLang="en-US" sz="2000" b="1" dirty="0">
                <a:solidFill>
                  <a:srgbClr val="0000FF"/>
                </a:solidFill>
                <a:latin typeface="微软雅黑" panose="020B0503020204020204" pitchFamily="34" charset="-122"/>
                <a:ea typeface="微软雅黑" panose="020B0503020204020204" pitchFamily="34" charset="-122"/>
              </a:rPr>
              <a:t>，再根据上式选择合适的</a:t>
            </a:r>
            <a:r>
              <a:rPr lang="en-US" altLang="zh-CN" sz="2000" b="1" dirty="0">
                <a:solidFill>
                  <a:srgbClr val="0000FF"/>
                </a:solidFill>
                <a:latin typeface="微软雅黑" panose="020B0503020204020204" pitchFamily="34" charset="-122"/>
                <a:ea typeface="微软雅黑" panose="020B0503020204020204" pitchFamily="34" charset="-122"/>
              </a:rPr>
              <a:t>h1</a:t>
            </a:r>
            <a:r>
              <a:rPr lang="zh-CN" altLang="en-US" sz="2000" b="1" dirty="0">
                <a:solidFill>
                  <a:srgbClr val="0000FF"/>
                </a:solidFill>
                <a:latin typeface="微软雅黑" panose="020B0503020204020204" pitchFamily="34" charset="-122"/>
                <a:ea typeface="微软雅黑" panose="020B0503020204020204" pitchFamily="34" charset="-122"/>
              </a:rPr>
              <a:t>和</a:t>
            </a:r>
            <a:r>
              <a:rPr lang="en-US" altLang="zh-CN" sz="2000" b="1" dirty="0">
                <a:solidFill>
                  <a:srgbClr val="0000FF"/>
                </a:solidFill>
                <a:latin typeface="微软雅黑" panose="020B0503020204020204" pitchFamily="34" charset="-122"/>
                <a:ea typeface="微软雅黑" panose="020B0503020204020204" pitchFamily="34" charset="-122"/>
              </a:rPr>
              <a:t>h2</a:t>
            </a:r>
            <a:r>
              <a:rPr lang="zh-CN" altLang="en-US" sz="2000" b="1" dirty="0">
                <a:solidFill>
                  <a:srgbClr val="0000FF"/>
                </a:solidFill>
                <a:latin typeface="微软雅黑" panose="020B0503020204020204" pitchFamily="34" charset="-122"/>
                <a:ea typeface="微软雅黑" panose="020B0503020204020204" pitchFamily="34" charset="-122"/>
              </a:rPr>
              <a:t>，可满足温度补偿要求</a:t>
            </a:r>
          </a:p>
        </p:txBody>
      </p:sp>
      <p:graphicFrame>
        <p:nvGraphicFramePr>
          <p:cNvPr id="73744" name="Object 5">
            <a:extLst>
              <a:ext uri="{FF2B5EF4-FFF2-40B4-BE49-F238E27FC236}">
                <a16:creationId xmlns:a16="http://schemas.microsoft.com/office/drawing/2014/main" id="{0F1B5186-6D71-43E5-B4E1-11B1A0B136E5}"/>
              </a:ext>
            </a:extLst>
          </p:cNvPr>
          <p:cNvGraphicFramePr>
            <a:graphicFrameLocks noChangeAspect="1"/>
          </p:cNvGraphicFramePr>
          <p:nvPr/>
        </p:nvGraphicFramePr>
        <p:xfrm>
          <a:off x="971550" y="4095750"/>
          <a:ext cx="1584325" cy="385763"/>
        </p:xfrm>
        <a:graphic>
          <a:graphicData uri="http://schemas.openxmlformats.org/presentationml/2006/ole">
            <mc:AlternateContent xmlns:mc="http://schemas.openxmlformats.org/markup-compatibility/2006">
              <mc:Choice xmlns:v="urn:schemas-microsoft-com:vml" Requires="v">
                <p:oleObj spid="_x0000_s74138" name="Equation" r:id="rId16" imgW="939800" imgH="228600" progId="Equation.DSMT4">
                  <p:embed/>
                </p:oleObj>
              </mc:Choice>
              <mc:Fallback>
                <p:oleObj name="Equation" r:id="rId16" imgW="939800" imgH="228600" progId="Equation.DSMT4">
                  <p:embed/>
                  <p:pic>
                    <p:nvPicPr>
                      <p:cNvPr id="0" name="Object 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71550" y="4095750"/>
                        <a:ext cx="1584325"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矩形 18">
            <a:extLst>
              <a:ext uri="{FF2B5EF4-FFF2-40B4-BE49-F238E27FC236}">
                <a16:creationId xmlns:a16="http://schemas.microsoft.com/office/drawing/2014/main" id="{1CCE6FC6-9554-48CF-9D20-B14B0696550C}"/>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73746" name="Text Box 2">
            <a:extLst>
              <a:ext uri="{FF2B5EF4-FFF2-40B4-BE49-F238E27FC236}">
                <a16:creationId xmlns:a16="http://schemas.microsoft.com/office/drawing/2014/main" id="{F18FD87C-26C4-4C96-8E26-0804A36D76FB}"/>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4.1 </a:t>
            </a:r>
            <a:r>
              <a:rPr kumimoji="1" lang="zh-CN" altLang="en-US" sz="2800" b="1">
                <a:solidFill>
                  <a:srgbClr val="C00000"/>
                </a:solidFill>
                <a:latin typeface="微软雅黑" panose="020B0503020204020204" pitchFamily="34" charset="-122"/>
                <a:ea typeface="微软雅黑" panose="020B0503020204020204" pitchFamily="34" charset="-122"/>
              </a:rPr>
              <a:t>温度特性（温度对结构尺寸的影响）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nodeType="clickEffect">
                                  <p:stCondLst>
                                    <p:cond delay="0"/>
                                  </p:stCondLst>
                                  <p:childTnLst>
                                    <p:set>
                                      <p:cBhvr>
                                        <p:cTn id="6" dur="1" fill="hold">
                                          <p:stCondLst>
                                            <p:cond delay="0"/>
                                          </p:stCondLst>
                                        </p:cTn>
                                        <p:tgtEl>
                                          <p:spTgt spid="78861"/>
                                        </p:tgtEl>
                                        <p:attrNameLst>
                                          <p:attrName>style.visibility</p:attrName>
                                        </p:attrNameLst>
                                      </p:cBhvr>
                                      <p:to>
                                        <p:strVal val="visible"/>
                                      </p:to>
                                    </p:set>
                                    <p:animEffect transition="in" filter="wipe(down)">
                                      <p:cBhvr>
                                        <p:cTn id="7" dur="580">
                                          <p:stCondLst>
                                            <p:cond delay="0"/>
                                          </p:stCondLst>
                                        </p:cTn>
                                        <p:tgtEl>
                                          <p:spTgt spid="78861"/>
                                        </p:tgtEl>
                                      </p:cBhvr>
                                    </p:animEffect>
                                    <p:anim calcmode="lin" valueType="num">
                                      <p:cBhvr>
                                        <p:cTn id="8" dur="1822" tmFilter="0,0; 0.14,0.36; 0.43,0.73; 0.71,0.91; 1.0,1.0">
                                          <p:stCondLst>
                                            <p:cond delay="0"/>
                                          </p:stCondLst>
                                        </p:cTn>
                                        <p:tgtEl>
                                          <p:spTgt spid="7886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886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886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886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8861"/>
                                        </p:tgtEl>
                                        <p:attrNameLst>
                                          <p:attrName>ppt_y</p:attrName>
                                        </p:attrNameLst>
                                      </p:cBhvr>
                                      <p:tavLst>
                                        <p:tav tm="0" fmla="#ppt_y-sin(pi*$)/81">
                                          <p:val>
                                            <p:fltVal val="0"/>
                                          </p:val>
                                        </p:tav>
                                        <p:tav tm="100000">
                                          <p:val>
                                            <p:fltVal val="1"/>
                                          </p:val>
                                        </p:tav>
                                      </p:tavLst>
                                    </p:anim>
                                    <p:animScale>
                                      <p:cBhvr>
                                        <p:cTn id="13" dur="26">
                                          <p:stCondLst>
                                            <p:cond delay="650"/>
                                          </p:stCondLst>
                                        </p:cTn>
                                        <p:tgtEl>
                                          <p:spTgt spid="78861"/>
                                        </p:tgtEl>
                                      </p:cBhvr>
                                      <p:to x="100000" y="60000"/>
                                    </p:animScale>
                                    <p:animScale>
                                      <p:cBhvr>
                                        <p:cTn id="14" dur="166" decel="50000">
                                          <p:stCondLst>
                                            <p:cond delay="676"/>
                                          </p:stCondLst>
                                        </p:cTn>
                                        <p:tgtEl>
                                          <p:spTgt spid="78861"/>
                                        </p:tgtEl>
                                      </p:cBhvr>
                                      <p:to x="100000" y="100000"/>
                                    </p:animScale>
                                    <p:animScale>
                                      <p:cBhvr>
                                        <p:cTn id="15" dur="26">
                                          <p:stCondLst>
                                            <p:cond delay="1312"/>
                                          </p:stCondLst>
                                        </p:cTn>
                                        <p:tgtEl>
                                          <p:spTgt spid="78861"/>
                                        </p:tgtEl>
                                      </p:cBhvr>
                                      <p:to x="100000" y="80000"/>
                                    </p:animScale>
                                    <p:animScale>
                                      <p:cBhvr>
                                        <p:cTn id="16" dur="166" decel="50000">
                                          <p:stCondLst>
                                            <p:cond delay="1338"/>
                                          </p:stCondLst>
                                        </p:cTn>
                                        <p:tgtEl>
                                          <p:spTgt spid="78861"/>
                                        </p:tgtEl>
                                      </p:cBhvr>
                                      <p:to x="100000" y="100000"/>
                                    </p:animScale>
                                    <p:animScale>
                                      <p:cBhvr>
                                        <p:cTn id="17" dur="26">
                                          <p:stCondLst>
                                            <p:cond delay="1642"/>
                                          </p:stCondLst>
                                        </p:cTn>
                                        <p:tgtEl>
                                          <p:spTgt spid="78861"/>
                                        </p:tgtEl>
                                      </p:cBhvr>
                                      <p:to x="100000" y="90000"/>
                                    </p:animScale>
                                    <p:animScale>
                                      <p:cBhvr>
                                        <p:cTn id="18" dur="166" decel="50000">
                                          <p:stCondLst>
                                            <p:cond delay="1668"/>
                                          </p:stCondLst>
                                        </p:cTn>
                                        <p:tgtEl>
                                          <p:spTgt spid="78861"/>
                                        </p:tgtEl>
                                      </p:cBhvr>
                                      <p:to x="100000" y="100000"/>
                                    </p:animScale>
                                    <p:animScale>
                                      <p:cBhvr>
                                        <p:cTn id="19" dur="26">
                                          <p:stCondLst>
                                            <p:cond delay="1808"/>
                                          </p:stCondLst>
                                        </p:cTn>
                                        <p:tgtEl>
                                          <p:spTgt spid="78861"/>
                                        </p:tgtEl>
                                      </p:cBhvr>
                                      <p:to x="100000" y="95000"/>
                                    </p:animScale>
                                    <p:animScale>
                                      <p:cBhvr>
                                        <p:cTn id="20" dur="166" decel="50000">
                                          <p:stCondLst>
                                            <p:cond delay="1834"/>
                                          </p:stCondLst>
                                        </p:cTn>
                                        <p:tgtEl>
                                          <p:spTgt spid="7886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2">
            <a:extLst>
              <a:ext uri="{FF2B5EF4-FFF2-40B4-BE49-F238E27FC236}">
                <a16:creationId xmlns:a16="http://schemas.microsoft.com/office/drawing/2014/main" id="{C4DC0EF0-C827-4141-AB38-D8618CA66C00}"/>
              </a:ext>
            </a:extLst>
          </p:cNvPr>
          <p:cNvSpPr>
            <a:spLocks noGrp="1"/>
          </p:cNvSpPr>
          <p:nvPr>
            <p:ph type="sldNum" sz="quarter" idx="12"/>
          </p:nvPr>
        </p:nvSpPr>
        <p:spPr>
          <a:xfrm>
            <a:off x="6718300" y="6288088"/>
            <a:ext cx="1905000" cy="377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951FC5E5-4445-40B1-9A3D-04CB68622D47}" type="slidenum">
              <a:rPr lang="en-US" altLang="zh-CN" smtClean="0"/>
              <a:pPr/>
              <a:t>44</a:t>
            </a:fld>
            <a:endParaRPr lang="en-US" altLang="zh-CN"/>
          </a:p>
        </p:txBody>
      </p:sp>
      <p:sp>
        <p:nvSpPr>
          <p:cNvPr id="6" name="矩形 5">
            <a:extLst>
              <a:ext uri="{FF2B5EF4-FFF2-40B4-BE49-F238E27FC236}">
                <a16:creationId xmlns:a16="http://schemas.microsoft.com/office/drawing/2014/main" id="{718C46BC-8741-4AF2-BFF0-10A21B136A0D}"/>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75780" name="Text Box 2">
            <a:extLst>
              <a:ext uri="{FF2B5EF4-FFF2-40B4-BE49-F238E27FC236}">
                <a16:creationId xmlns:a16="http://schemas.microsoft.com/office/drawing/2014/main" id="{AB6FF711-D7E9-4D6D-9A1C-B043AC516B97}"/>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C00000"/>
                </a:solidFill>
                <a:latin typeface="微软雅黑" panose="020B0503020204020204" pitchFamily="34" charset="-122"/>
                <a:ea typeface="微软雅黑" panose="020B0503020204020204" pitchFamily="34" charset="-122"/>
              </a:rPr>
              <a:t>4.2 </a:t>
            </a:r>
            <a:r>
              <a:rPr kumimoji="1" lang="zh-CN" altLang="en-US" sz="2800" b="1" dirty="0">
                <a:solidFill>
                  <a:srgbClr val="C00000"/>
                </a:solidFill>
                <a:latin typeface="微软雅黑" panose="020B0503020204020204" pitchFamily="34" charset="-122"/>
                <a:ea typeface="微软雅黑" panose="020B0503020204020204" pitchFamily="34" charset="-122"/>
              </a:rPr>
              <a:t>电容的电场边缘效应</a:t>
            </a:r>
          </a:p>
        </p:txBody>
      </p:sp>
      <p:sp>
        <p:nvSpPr>
          <p:cNvPr id="75781" name="Text Box 2">
            <a:extLst>
              <a:ext uri="{FF2B5EF4-FFF2-40B4-BE49-F238E27FC236}">
                <a16:creationId xmlns:a16="http://schemas.microsoft.com/office/drawing/2014/main" id="{78EF15BB-DFCD-4D7F-88BC-8EFB46B66A3A}"/>
              </a:ext>
            </a:extLst>
          </p:cNvPr>
          <p:cNvSpPr txBox="1">
            <a:spLocks noChangeArrowheads="1"/>
          </p:cNvSpPr>
          <p:nvPr/>
        </p:nvSpPr>
        <p:spPr bwMode="auto">
          <a:xfrm>
            <a:off x="815975" y="4117975"/>
            <a:ext cx="6877050" cy="2344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原理：</a:t>
            </a:r>
            <a:r>
              <a:rPr lang="zh-CN" altLang="en-US" sz="2000" b="1" dirty="0">
                <a:latin typeface="微软雅黑" panose="020B0503020204020204" pitchFamily="34" charset="-122"/>
                <a:ea typeface="微软雅黑" panose="020B0503020204020204" pitchFamily="34" charset="-122"/>
              </a:rPr>
              <a:t>相当于并联一个附加电容</a:t>
            </a:r>
            <a:endParaRPr lang="en-US" altLang="zh-CN" sz="2000" b="1" dirty="0">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危害：</a:t>
            </a:r>
            <a:r>
              <a:rPr lang="zh-CN" altLang="en-US" sz="2000" b="1" dirty="0">
                <a:latin typeface="微软雅黑" panose="020B0503020204020204" pitchFamily="34" charset="-122"/>
                <a:ea typeface="微软雅黑" panose="020B0503020204020204" pitchFamily="34" charset="-122"/>
              </a:rPr>
              <a:t>灵敏度降低，非线性增加</a:t>
            </a:r>
            <a:endParaRPr lang="en-US" altLang="zh-CN" sz="2000" b="1" dirty="0">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处理方案：</a:t>
            </a: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a:t>
            </a:r>
            <a:r>
              <a:rPr lang="en-US" altLang="zh-CN" sz="2000" b="1" dirty="0">
                <a:solidFill>
                  <a:srgbClr val="0000FF"/>
                </a:solidFill>
                <a:latin typeface="微软雅黑" panose="020B0503020204020204" pitchFamily="34" charset="-122"/>
                <a:ea typeface="微软雅黑" panose="020B0503020204020204" pitchFamily="34" charset="-122"/>
              </a:rPr>
              <a:t>A</a:t>
            </a:r>
            <a:r>
              <a:rPr lang="zh-CN" altLang="en-US" sz="2000" b="1" dirty="0">
                <a:solidFill>
                  <a:srgbClr val="0000FF"/>
                </a:solidFill>
                <a:latin typeface="微软雅黑" panose="020B0503020204020204" pitchFamily="34" charset="-122"/>
                <a:ea typeface="微软雅黑" panose="020B0503020204020204" pitchFamily="34" charset="-122"/>
              </a:rPr>
              <a:t>增加，</a:t>
            </a:r>
            <a:r>
              <a:rPr lang="en-US" altLang="zh-CN" sz="2000" b="1" dirty="0">
                <a:solidFill>
                  <a:srgbClr val="0000FF"/>
                </a:solidFill>
                <a:latin typeface="微软雅黑" panose="020B0503020204020204" pitchFamily="34" charset="-122"/>
                <a:ea typeface="微软雅黑" panose="020B0503020204020204" pitchFamily="34" charset="-122"/>
              </a:rPr>
              <a:t>d</a:t>
            </a:r>
            <a:r>
              <a:rPr lang="zh-CN" altLang="en-US" sz="2000" b="1" dirty="0">
                <a:solidFill>
                  <a:srgbClr val="0000FF"/>
                </a:solidFill>
                <a:latin typeface="微软雅黑" panose="020B0503020204020204" pitchFamily="34" charset="-122"/>
                <a:ea typeface="微软雅黑" panose="020B0503020204020204" pitchFamily="34" charset="-122"/>
              </a:rPr>
              <a:t>减小：</a:t>
            </a:r>
            <a:r>
              <a:rPr lang="zh-CN" altLang="en-US" sz="2000" b="1" dirty="0">
                <a:solidFill>
                  <a:schemeClr val="bg2"/>
                </a:solidFill>
                <a:latin typeface="微软雅黑" panose="020B0503020204020204" pitchFamily="34" charset="-122"/>
                <a:ea typeface="微软雅黑" panose="020B0503020204020204" pitchFamily="34" charset="-122"/>
              </a:rPr>
              <a:t>使边缘效应影响变小</a:t>
            </a:r>
            <a:endParaRPr lang="en-US" altLang="zh-CN" sz="2000" b="1" dirty="0">
              <a:solidFill>
                <a:schemeClr val="bg2"/>
              </a:solidFill>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r>
              <a:rPr lang="en-US" altLang="zh-CN" sz="2000" b="1" dirty="0">
                <a:latin typeface="微软雅黑" panose="020B0503020204020204" pitchFamily="34" charset="-122"/>
                <a:ea typeface="微软雅黑" panose="020B0503020204020204" pitchFamily="34" charset="-122"/>
              </a:rPr>
              <a:t>	       2</a:t>
            </a: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0000FF"/>
                </a:solidFill>
                <a:latin typeface="微软雅黑" panose="020B0503020204020204" pitchFamily="34" charset="-122"/>
                <a:ea typeface="微软雅黑" panose="020B0503020204020204" pitchFamily="34" charset="-122"/>
              </a:rPr>
              <a:t>加装等位环</a:t>
            </a:r>
            <a:r>
              <a:rPr lang="zh-CN" altLang="en-US" sz="2000" b="1" dirty="0">
                <a:latin typeface="微软雅黑" panose="020B0503020204020204" pitchFamily="34" charset="-122"/>
                <a:ea typeface="微软雅黑" panose="020B0503020204020204" pitchFamily="34" charset="-122"/>
              </a:rPr>
              <a:t>：等位环与上极板保持等电位</a:t>
            </a:r>
            <a:endParaRPr lang="en-US" altLang="zh-CN" sz="2000" b="1" dirty="0">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等位环一般接导线内屏蔽层</a:t>
            </a:r>
            <a:endParaRPr lang="en-US" altLang="zh-CN" sz="2000" b="1" dirty="0">
              <a:latin typeface="微软雅黑" panose="020B0503020204020204" pitchFamily="34" charset="-122"/>
              <a:ea typeface="微软雅黑" panose="020B0503020204020204" pitchFamily="34" charset="-122"/>
            </a:endParaRPr>
          </a:p>
        </p:txBody>
      </p:sp>
      <p:grpSp>
        <p:nvGrpSpPr>
          <p:cNvPr id="75782" name="Group 18">
            <a:extLst>
              <a:ext uri="{FF2B5EF4-FFF2-40B4-BE49-F238E27FC236}">
                <a16:creationId xmlns:a16="http://schemas.microsoft.com/office/drawing/2014/main" id="{800EEC8B-CCAF-4163-AE46-60801370D5CA}"/>
              </a:ext>
            </a:extLst>
          </p:cNvPr>
          <p:cNvGrpSpPr>
            <a:grpSpLocks/>
          </p:cNvGrpSpPr>
          <p:nvPr/>
        </p:nvGrpSpPr>
        <p:grpSpPr bwMode="auto">
          <a:xfrm>
            <a:off x="5003800" y="981075"/>
            <a:ext cx="3133725" cy="3095625"/>
            <a:chOff x="1148" y="12522"/>
            <a:chExt cx="3780" cy="2652"/>
          </a:xfrm>
        </p:grpSpPr>
        <p:sp>
          <p:nvSpPr>
            <p:cNvPr id="75818" name="Rectangle 19">
              <a:extLst>
                <a:ext uri="{FF2B5EF4-FFF2-40B4-BE49-F238E27FC236}">
                  <a16:creationId xmlns:a16="http://schemas.microsoft.com/office/drawing/2014/main" id="{219579AF-0AD5-46F9-AD22-30B12F6B3EAA}"/>
                </a:ext>
              </a:extLst>
            </p:cNvPr>
            <p:cNvSpPr>
              <a:spLocks noChangeArrowheads="1"/>
            </p:cNvSpPr>
            <p:nvPr/>
          </p:nvSpPr>
          <p:spPr bwMode="auto">
            <a:xfrm>
              <a:off x="1741" y="13746"/>
              <a:ext cx="2636" cy="57"/>
            </a:xfrm>
            <a:prstGeom prst="rect">
              <a:avLst/>
            </a:prstGeom>
            <a:solidFill>
              <a:srgbClr val="C0C0C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75819" name="Line 20">
              <a:extLst>
                <a:ext uri="{FF2B5EF4-FFF2-40B4-BE49-F238E27FC236}">
                  <a16:creationId xmlns:a16="http://schemas.microsoft.com/office/drawing/2014/main" id="{219B2480-3B7B-43F4-AAAA-E73FF7BDECD0}"/>
                </a:ext>
              </a:extLst>
            </p:cNvPr>
            <p:cNvSpPr>
              <a:spLocks noChangeShapeType="1"/>
            </p:cNvSpPr>
            <p:nvPr/>
          </p:nvSpPr>
          <p:spPr bwMode="auto">
            <a:xfrm>
              <a:off x="1951" y="13399"/>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20" name="Line 21">
              <a:extLst>
                <a:ext uri="{FF2B5EF4-FFF2-40B4-BE49-F238E27FC236}">
                  <a16:creationId xmlns:a16="http://schemas.microsoft.com/office/drawing/2014/main" id="{156A8253-DF13-47F4-8287-CDBD475FDFF6}"/>
                </a:ext>
              </a:extLst>
            </p:cNvPr>
            <p:cNvSpPr>
              <a:spLocks noChangeShapeType="1"/>
            </p:cNvSpPr>
            <p:nvPr/>
          </p:nvSpPr>
          <p:spPr bwMode="auto">
            <a:xfrm>
              <a:off x="2266" y="13399"/>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21" name="Line 22">
              <a:extLst>
                <a:ext uri="{FF2B5EF4-FFF2-40B4-BE49-F238E27FC236}">
                  <a16:creationId xmlns:a16="http://schemas.microsoft.com/office/drawing/2014/main" id="{6EAC7DC9-5337-4CB8-8449-C810426DE306}"/>
                </a:ext>
              </a:extLst>
            </p:cNvPr>
            <p:cNvSpPr>
              <a:spLocks noChangeShapeType="1"/>
            </p:cNvSpPr>
            <p:nvPr/>
          </p:nvSpPr>
          <p:spPr bwMode="auto">
            <a:xfrm>
              <a:off x="2581" y="13399"/>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22" name="Line 23">
              <a:extLst>
                <a:ext uri="{FF2B5EF4-FFF2-40B4-BE49-F238E27FC236}">
                  <a16:creationId xmlns:a16="http://schemas.microsoft.com/office/drawing/2014/main" id="{513F3C8C-224E-431E-A984-A6A3A84B157A}"/>
                </a:ext>
              </a:extLst>
            </p:cNvPr>
            <p:cNvSpPr>
              <a:spLocks noChangeShapeType="1"/>
            </p:cNvSpPr>
            <p:nvPr/>
          </p:nvSpPr>
          <p:spPr bwMode="auto">
            <a:xfrm>
              <a:off x="2896" y="13399"/>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23" name="Line 24">
              <a:extLst>
                <a:ext uri="{FF2B5EF4-FFF2-40B4-BE49-F238E27FC236}">
                  <a16:creationId xmlns:a16="http://schemas.microsoft.com/office/drawing/2014/main" id="{94F6BA73-9CAF-4D6E-A80D-CDC854DE578B}"/>
                </a:ext>
              </a:extLst>
            </p:cNvPr>
            <p:cNvSpPr>
              <a:spLocks noChangeShapeType="1"/>
            </p:cNvSpPr>
            <p:nvPr/>
          </p:nvSpPr>
          <p:spPr bwMode="auto">
            <a:xfrm>
              <a:off x="3211" y="13399"/>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24" name="Line 25">
              <a:extLst>
                <a:ext uri="{FF2B5EF4-FFF2-40B4-BE49-F238E27FC236}">
                  <a16:creationId xmlns:a16="http://schemas.microsoft.com/office/drawing/2014/main" id="{FC192BF6-0ED5-4688-AE4D-4970A0D0379A}"/>
                </a:ext>
              </a:extLst>
            </p:cNvPr>
            <p:cNvSpPr>
              <a:spLocks noChangeShapeType="1"/>
            </p:cNvSpPr>
            <p:nvPr/>
          </p:nvSpPr>
          <p:spPr bwMode="auto">
            <a:xfrm>
              <a:off x="3526" y="13399"/>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25" name="Line 26">
              <a:extLst>
                <a:ext uri="{FF2B5EF4-FFF2-40B4-BE49-F238E27FC236}">
                  <a16:creationId xmlns:a16="http://schemas.microsoft.com/office/drawing/2014/main" id="{E008EA6A-F012-412B-959B-570C8071AE8B}"/>
                </a:ext>
              </a:extLst>
            </p:cNvPr>
            <p:cNvSpPr>
              <a:spLocks noChangeShapeType="1"/>
            </p:cNvSpPr>
            <p:nvPr/>
          </p:nvSpPr>
          <p:spPr bwMode="auto">
            <a:xfrm>
              <a:off x="3841" y="13399"/>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26" name="Line 27">
              <a:extLst>
                <a:ext uri="{FF2B5EF4-FFF2-40B4-BE49-F238E27FC236}">
                  <a16:creationId xmlns:a16="http://schemas.microsoft.com/office/drawing/2014/main" id="{11E9A63C-505C-4980-AA00-555249EC4FDA}"/>
                </a:ext>
              </a:extLst>
            </p:cNvPr>
            <p:cNvSpPr>
              <a:spLocks noChangeShapeType="1"/>
            </p:cNvSpPr>
            <p:nvPr/>
          </p:nvSpPr>
          <p:spPr bwMode="auto">
            <a:xfrm>
              <a:off x="4156" y="13399"/>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27" name="Freeform 28">
              <a:extLst>
                <a:ext uri="{FF2B5EF4-FFF2-40B4-BE49-F238E27FC236}">
                  <a16:creationId xmlns:a16="http://schemas.microsoft.com/office/drawing/2014/main" id="{04EF8430-1E5C-4573-A90B-FE9C0F1A98FD}"/>
                </a:ext>
              </a:extLst>
            </p:cNvPr>
            <p:cNvSpPr>
              <a:spLocks/>
            </p:cNvSpPr>
            <p:nvPr/>
          </p:nvSpPr>
          <p:spPr bwMode="auto">
            <a:xfrm>
              <a:off x="1658" y="13404"/>
              <a:ext cx="79" cy="330"/>
            </a:xfrm>
            <a:custGeom>
              <a:avLst/>
              <a:gdLst>
                <a:gd name="T0" fmla="*/ 76 w 79"/>
                <a:gd name="T1" fmla="*/ 0 h 330"/>
                <a:gd name="T2" fmla="*/ 1 w 79"/>
                <a:gd name="T3" fmla="*/ 129 h 330"/>
                <a:gd name="T4" fmla="*/ 79 w 79"/>
                <a:gd name="T5" fmla="*/ 330 h 330"/>
                <a:gd name="T6" fmla="*/ 0 60000 65536"/>
                <a:gd name="T7" fmla="*/ 0 60000 65536"/>
                <a:gd name="T8" fmla="*/ 0 60000 65536"/>
              </a:gdLst>
              <a:ahLst/>
              <a:cxnLst>
                <a:cxn ang="T6">
                  <a:pos x="T0" y="T1"/>
                </a:cxn>
                <a:cxn ang="T7">
                  <a:pos x="T2" y="T3"/>
                </a:cxn>
                <a:cxn ang="T8">
                  <a:pos x="T4" y="T5"/>
                </a:cxn>
              </a:cxnLst>
              <a:rect l="0" t="0" r="r" b="b"/>
              <a:pathLst>
                <a:path w="79" h="330">
                  <a:moveTo>
                    <a:pt x="76" y="0"/>
                  </a:moveTo>
                  <a:cubicBezTo>
                    <a:pt x="63" y="22"/>
                    <a:pt x="0" y="74"/>
                    <a:pt x="1" y="129"/>
                  </a:cubicBezTo>
                  <a:cubicBezTo>
                    <a:pt x="2" y="184"/>
                    <a:pt x="63" y="288"/>
                    <a:pt x="79" y="330"/>
                  </a:cubicBezTo>
                </a:path>
              </a:pathLst>
            </a:custGeom>
            <a:noFill/>
            <a:ln w="6350" cap="flat" cmpd="sng">
              <a:solidFill>
                <a:srgbClr val="000000"/>
              </a:solidFill>
              <a:prstDash val="solid"/>
              <a:round/>
              <a:headEnd/>
              <a:tailEnd type="triangl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28" name="Freeform 29">
              <a:extLst>
                <a:ext uri="{FF2B5EF4-FFF2-40B4-BE49-F238E27FC236}">
                  <a16:creationId xmlns:a16="http://schemas.microsoft.com/office/drawing/2014/main" id="{23090DFE-C0EF-484D-85AC-BC2F4472F3C5}"/>
                </a:ext>
              </a:extLst>
            </p:cNvPr>
            <p:cNvSpPr>
              <a:spLocks/>
            </p:cNvSpPr>
            <p:nvPr/>
          </p:nvSpPr>
          <p:spPr bwMode="auto">
            <a:xfrm>
              <a:off x="4377" y="13398"/>
              <a:ext cx="63" cy="348"/>
            </a:xfrm>
            <a:custGeom>
              <a:avLst/>
              <a:gdLst>
                <a:gd name="T0" fmla="*/ 0 w 63"/>
                <a:gd name="T1" fmla="*/ 0 h 348"/>
                <a:gd name="T2" fmla="*/ 63 w 63"/>
                <a:gd name="T3" fmla="*/ 144 h 348"/>
                <a:gd name="T4" fmla="*/ 3 w 63"/>
                <a:gd name="T5" fmla="*/ 348 h 348"/>
                <a:gd name="T6" fmla="*/ 0 60000 65536"/>
                <a:gd name="T7" fmla="*/ 0 60000 65536"/>
                <a:gd name="T8" fmla="*/ 0 60000 65536"/>
              </a:gdLst>
              <a:ahLst/>
              <a:cxnLst>
                <a:cxn ang="T6">
                  <a:pos x="T0" y="T1"/>
                </a:cxn>
                <a:cxn ang="T7">
                  <a:pos x="T2" y="T3"/>
                </a:cxn>
                <a:cxn ang="T8">
                  <a:pos x="T4" y="T5"/>
                </a:cxn>
              </a:cxnLst>
              <a:rect l="0" t="0" r="r" b="b"/>
              <a:pathLst>
                <a:path w="63" h="348">
                  <a:moveTo>
                    <a:pt x="0" y="0"/>
                  </a:moveTo>
                  <a:cubicBezTo>
                    <a:pt x="21" y="22"/>
                    <a:pt x="63" y="86"/>
                    <a:pt x="63" y="144"/>
                  </a:cubicBezTo>
                  <a:cubicBezTo>
                    <a:pt x="63" y="202"/>
                    <a:pt x="15" y="306"/>
                    <a:pt x="3" y="348"/>
                  </a:cubicBezTo>
                </a:path>
              </a:pathLst>
            </a:custGeom>
            <a:noFill/>
            <a:ln w="6350" cap="flat" cmpd="sng">
              <a:solidFill>
                <a:srgbClr val="000000"/>
              </a:solidFill>
              <a:prstDash val="solid"/>
              <a:round/>
              <a:headEnd/>
              <a:tailEnd type="triangl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29" name="Line 30">
              <a:extLst>
                <a:ext uri="{FF2B5EF4-FFF2-40B4-BE49-F238E27FC236}">
                  <a16:creationId xmlns:a16="http://schemas.microsoft.com/office/drawing/2014/main" id="{8EB49028-32D3-4A2F-98EC-EDECBDA8F94A}"/>
                </a:ext>
              </a:extLst>
            </p:cNvPr>
            <p:cNvSpPr>
              <a:spLocks noChangeShapeType="1"/>
            </p:cNvSpPr>
            <p:nvPr/>
          </p:nvSpPr>
          <p:spPr bwMode="auto">
            <a:xfrm flipV="1">
              <a:off x="3051" y="12699"/>
              <a:ext cx="0" cy="62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30" name="Line 31">
              <a:extLst>
                <a:ext uri="{FF2B5EF4-FFF2-40B4-BE49-F238E27FC236}">
                  <a16:creationId xmlns:a16="http://schemas.microsoft.com/office/drawing/2014/main" id="{007C866A-8FBC-4A77-976E-63DDFBB467AB}"/>
                </a:ext>
              </a:extLst>
            </p:cNvPr>
            <p:cNvSpPr>
              <a:spLocks noChangeShapeType="1"/>
            </p:cNvSpPr>
            <p:nvPr/>
          </p:nvSpPr>
          <p:spPr bwMode="auto">
            <a:xfrm>
              <a:off x="3042" y="13810"/>
              <a:ext cx="0" cy="62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31" name="Oval 32">
              <a:extLst>
                <a:ext uri="{FF2B5EF4-FFF2-40B4-BE49-F238E27FC236}">
                  <a16:creationId xmlns:a16="http://schemas.microsoft.com/office/drawing/2014/main" id="{80AB1187-7211-4DEA-8006-B333AC1F78F0}"/>
                </a:ext>
              </a:extLst>
            </p:cNvPr>
            <p:cNvSpPr>
              <a:spLocks noChangeAspect="1" noChangeArrowheads="1"/>
            </p:cNvSpPr>
            <p:nvPr/>
          </p:nvSpPr>
          <p:spPr bwMode="auto">
            <a:xfrm>
              <a:off x="3001" y="14442"/>
              <a:ext cx="79" cy="79"/>
            </a:xfrm>
            <a:prstGeom prst="ellipse">
              <a:avLst/>
            </a:prstGeom>
            <a:noFill/>
            <a:ln w="127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75832" name="Oval 33">
              <a:extLst>
                <a:ext uri="{FF2B5EF4-FFF2-40B4-BE49-F238E27FC236}">
                  <a16:creationId xmlns:a16="http://schemas.microsoft.com/office/drawing/2014/main" id="{C4425DF6-4A10-48F2-98F1-C8F2B6C52038}"/>
                </a:ext>
              </a:extLst>
            </p:cNvPr>
            <p:cNvSpPr>
              <a:spLocks noChangeAspect="1" noChangeArrowheads="1"/>
            </p:cNvSpPr>
            <p:nvPr/>
          </p:nvSpPr>
          <p:spPr bwMode="auto">
            <a:xfrm>
              <a:off x="3010" y="12620"/>
              <a:ext cx="79" cy="79"/>
            </a:xfrm>
            <a:prstGeom prst="ellipse">
              <a:avLst/>
            </a:prstGeom>
            <a:noFill/>
            <a:ln w="127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75833" name="Text Box 34">
              <a:extLst>
                <a:ext uri="{FF2B5EF4-FFF2-40B4-BE49-F238E27FC236}">
                  <a16:creationId xmlns:a16="http://schemas.microsoft.com/office/drawing/2014/main" id="{8E59C88D-7F8E-445F-8210-9E4716707ABB}"/>
                </a:ext>
              </a:extLst>
            </p:cNvPr>
            <p:cNvSpPr txBox="1">
              <a:spLocks noChangeArrowheads="1"/>
            </p:cNvSpPr>
            <p:nvPr/>
          </p:nvSpPr>
          <p:spPr bwMode="auto">
            <a:xfrm>
              <a:off x="3106" y="12522"/>
              <a:ext cx="213"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200" b="1">
                  <a:latin typeface="Times New Roman" panose="02020603050405020304" pitchFamily="18" charset="0"/>
                </a:rPr>
                <a:t>+</a:t>
              </a:r>
            </a:p>
          </p:txBody>
        </p:sp>
        <p:sp>
          <p:nvSpPr>
            <p:cNvPr id="75834" name="Text Box 35">
              <a:extLst>
                <a:ext uri="{FF2B5EF4-FFF2-40B4-BE49-F238E27FC236}">
                  <a16:creationId xmlns:a16="http://schemas.microsoft.com/office/drawing/2014/main" id="{3E090D05-C31A-413F-81CE-1F3FBBAF244D}"/>
                </a:ext>
              </a:extLst>
            </p:cNvPr>
            <p:cNvSpPr txBox="1">
              <a:spLocks noChangeArrowheads="1"/>
            </p:cNvSpPr>
            <p:nvPr/>
          </p:nvSpPr>
          <p:spPr bwMode="auto">
            <a:xfrm>
              <a:off x="3106" y="14318"/>
              <a:ext cx="213"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200" b="1">
                  <a:latin typeface="Times New Roman" panose="02020603050405020304" pitchFamily="18" charset="0"/>
                </a:rPr>
                <a:t>-</a:t>
              </a:r>
            </a:p>
          </p:txBody>
        </p:sp>
        <p:sp>
          <p:nvSpPr>
            <p:cNvPr id="75835" name="Line 36">
              <a:extLst>
                <a:ext uri="{FF2B5EF4-FFF2-40B4-BE49-F238E27FC236}">
                  <a16:creationId xmlns:a16="http://schemas.microsoft.com/office/drawing/2014/main" id="{7ED6543A-5BA8-4F63-8C89-85A943070B0F}"/>
                </a:ext>
              </a:extLst>
            </p:cNvPr>
            <p:cNvSpPr>
              <a:spLocks noChangeShapeType="1"/>
            </p:cNvSpPr>
            <p:nvPr/>
          </p:nvSpPr>
          <p:spPr bwMode="auto">
            <a:xfrm flipH="1" flipV="1">
              <a:off x="3969" y="12990"/>
              <a:ext cx="210" cy="312"/>
            </a:xfrm>
            <a:prstGeom prst="line">
              <a:avLst/>
            </a:prstGeom>
            <a:noFill/>
            <a:ln w="9525">
              <a:solidFill>
                <a:srgbClr val="000000"/>
              </a:solidFill>
              <a:round/>
              <a:headEnd type="triangl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36" name="Text Box 37">
              <a:extLst>
                <a:ext uri="{FF2B5EF4-FFF2-40B4-BE49-F238E27FC236}">
                  <a16:creationId xmlns:a16="http://schemas.microsoft.com/office/drawing/2014/main" id="{3CF543AB-6EE3-48D9-B0EE-089B2A2FA2CC}"/>
                </a:ext>
              </a:extLst>
            </p:cNvPr>
            <p:cNvSpPr txBox="1">
              <a:spLocks noChangeArrowheads="1"/>
            </p:cNvSpPr>
            <p:nvPr/>
          </p:nvSpPr>
          <p:spPr bwMode="auto">
            <a:xfrm>
              <a:off x="1148" y="14706"/>
              <a:ext cx="378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sz="1400" b="1">
                  <a:latin typeface="宋体" panose="02010600030101010101" pitchFamily="2" charset="-122"/>
                </a:rPr>
                <a:t>带保护环的</a:t>
              </a:r>
              <a:r>
                <a:rPr kumimoji="1" lang="zh-CN" altLang="en-US" sz="1400" b="1">
                  <a:latin typeface="Times New Roman" panose="02020603050405020304" pitchFamily="18" charset="0"/>
                </a:rPr>
                <a:t>平行板电容器</a:t>
              </a:r>
            </a:p>
          </p:txBody>
        </p:sp>
        <p:sp>
          <p:nvSpPr>
            <p:cNvPr id="75837" name="Text Box 38">
              <a:extLst>
                <a:ext uri="{FF2B5EF4-FFF2-40B4-BE49-F238E27FC236}">
                  <a16:creationId xmlns:a16="http://schemas.microsoft.com/office/drawing/2014/main" id="{E86EB6F5-120C-483B-BF52-24271026F440}"/>
                </a:ext>
              </a:extLst>
            </p:cNvPr>
            <p:cNvSpPr txBox="1">
              <a:spLocks noChangeArrowheads="1"/>
            </p:cNvSpPr>
            <p:nvPr/>
          </p:nvSpPr>
          <p:spPr bwMode="auto">
            <a:xfrm>
              <a:off x="3549" y="12678"/>
              <a:ext cx="843" cy="3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sz="1200">
                  <a:latin typeface="Times New Roman" panose="02020603050405020304" pitchFamily="18" charset="0"/>
                </a:rPr>
                <a:t>保护环</a:t>
              </a:r>
            </a:p>
          </p:txBody>
        </p:sp>
        <p:sp>
          <p:nvSpPr>
            <p:cNvPr id="75838" name="Line 39">
              <a:extLst>
                <a:ext uri="{FF2B5EF4-FFF2-40B4-BE49-F238E27FC236}">
                  <a16:creationId xmlns:a16="http://schemas.microsoft.com/office/drawing/2014/main" id="{BAFD0DE5-5ED6-4033-ACCB-769C9779D513}"/>
                </a:ext>
              </a:extLst>
            </p:cNvPr>
            <p:cNvSpPr>
              <a:spLocks noChangeShapeType="1"/>
            </p:cNvSpPr>
            <p:nvPr/>
          </p:nvSpPr>
          <p:spPr bwMode="auto">
            <a:xfrm>
              <a:off x="2106" y="13400"/>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39" name="Line 40">
              <a:extLst>
                <a:ext uri="{FF2B5EF4-FFF2-40B4-BE49-F238E27FC236}">
                  <a16:creationId xmlns:a16="http://schemas.microsoft.com/office/drawing/2014/main" id="{D961FA61-D1D8-4496-92F9-E9E6C3674296}"/>
                </a:ext>
              </a:extLst>
            </p:cNvPr>
            <p:cNvSpPr>
              <a:spLocks noChangeShapeType="1"/>
            </p:cNvSpPr>
            <p:nvPr/>
          </p:nvSpPr>
          <p:spPr bwMode="auto">
            <a:xfrm>
              <a:off x="2421" y="13400"/>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40" name="Line 41">
              <a:extLst>
                <a:ext uri="{FF2B5EF4-FFF2-40B4-BE49-F238E27FC236}">
                  <a16:creationId xmlns:a16="http://schemas.microsoft.com/office/drawing/2014/main" id="{81108A0A-6FF6-41D1-B759-F671E31B3459}"/>
                </a:ext>
              </a:extLst>
            </p:cNvPr>
            <p:cNvSpPr>
              <a:spLocks noChangeShapeType="1"/>
            </p:cNvSpPr>
            <p:nvPr/>
          </p:nvSpPr>
          <p:spPr bwMode="auto">
            <a:xfrm>
              <a:off x="2736" y="13400"/>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41" name="Line 42">
              <a:extLst>
                <a:ext uri="{FF2B5EF4-FFF2-40B4-BE49-F238E27FC236}">
                  <a16:creationId xmlns:a16="http://schemas.microsoft.com/office/drawing/2014/main" id="{E4B695B2-FEEA-4850-A5F0-71E536BE7E25}"/>
                </a:ext>
              </a:extLst>
            </p:cNvPr>
            <p:cNvSpPr>
              <a:spLocks noChangeShapeType="1"/>
            </p:cNvSpPr>
            <p:nvPr/>
          </p:nvSpPr>
          <p:spPr bwMode="auto">
            <a:xfrm>
              <a:off x="3051" y="13400"/>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42" name="Line 43">
              <a:extLst>
                <a:ext uri="{FF2B5EF4-FFF2-40B4-BE49-F238E27FC236}">
                  <a16:creationId xmlns:a16="http://schemas.microsoft.com/office/drawing/2014/main" id="{BD696A4B-AF84-4120-8B8F-64293DDAB49F}"/>
                </a:ext>
              </a:extLst>
            </p:cNvPr>
            <p:cNvSpPr>
              <a:spLocks noChangeShapeType="1"/>
            </p:cNvSpPr>
            <p:nvPr/>
          </p:nvSpPr>
          <p:spPr bwMode="auto">
            <a:xfrm>
              <a:off x="3366" y="13400"/>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43" name="Line 44">
              <a:extLst>
                <a:ext uri="{FF2B5EF4-FFF2-40B4-BE49-F238E27FC236}">
                  <a16:creationId xmlns:a16="http://schemas.microsoft.com/office/drawing/2014/main" id="{722B70A3-8BF8-4C54-9163-BEC6EBC97BDD}"/>
                </a:ext>
              </a:extLst>
            </p:cNvPr>
            <p:cNvSpPr>
              <a:spLocks noChangeShapeType="1"/>
            </p:cNvSpPr>
            <p:nvPr/>
          </p:nvSpPr>
          <p:spPr bwMode="auto">
            <a:xfrm>
              <a:off x="3681" y="13400"/>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44" name="Line 45">
              <a:extLst>
                <a:ext uri="{FF2B5EF4-FFF2-40B4-BE49-F238E27FC236}">
                  <a16:creationId xmlns:a16="http://schemas.microsoft.com/office/drawing/2014/main" id="{767D6A30-E801-44F9-BFF6-57319922FA8F}"/>
                </a:ext>
              </a:extLst>
            </p:cNvPr>
            <p:cNvSpPr>
              <a:spLocks noChangeShapeType="1"/>
            </p:cNvSpPr>
            <p:nvPr/>
          </p:nvSpPr>
          <p:spPr bwMode="auto">
            <a:xfrm>
              <a:off x="3996" y="13400"/>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45" name="Rectangle 46">
              <a:extLst>
                <a:ext uri="{FF2B5EF4-FFF2-40B4-BE49-F238E27FC236}">
                  <a16:creationId xmlns:a16="http://schemas.microsoft.com/office/drawing/2014/main" id="{076ADF25-7BCE-4534-A680-97A13CC61A51}"/>
                </a:ext>
              </a:extLst>
            </p:cNvPr>
            <p:cNvSpPr>
              <a:spLocks noChangeArrowheads="1"/>
            </p:cNvSpPr>
            <p:nvPr/>
          </p:nvSpPr>
          <p:spPr bwMode="auto">
            <a:xfrm>
              <a:off x="2196" y="13335"/>
              <a:ext cx="1729" cy="57"/>
            </a:xfrm>
            <a:prstGeom prst="rect">
              <a:avLst/>
            </a:prstGeom>
            <a:solidFill>
              <a:srgbClr val="C0C0C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75846" name="Rectangle 47">
              <a:extLst>
                <a:ext uri="{FF2B5EF4-FFF2-40B4-BE49-F238E27FC236}">
                  <a16:creationId xmlns:a16="http://schemas.microsoft.com/office/drawing/2014/main" id="{89E49644-E478-4CCA-A6EC-0B9BE53AA619}"/>
                </a:ext>
              </a:extLst>
            </p:cNvPr>
            <p:cNvSpPr>
              <a:spLocks noChangeArrowheads="1"/>
            </p:cNvSpPr>
            <p:nvPr/>
          </p:nvSpPr>
          <p:spPr bwMode="auto">
            <a:xfrm>
              <a:off x="1741" y="13335"/>
              <a:ext cx="397" cy="57"/>
            </a:xfrm>
            <a:prstGeom prst="rect">
              <a:avLst/>
            </a:prstGeom>
            <a:solidFill>
              <a:srgbClr val="C0C0C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75847" name="Rectangle 48">
              <a:extLst>
                <a:ext uri="{FF2B5EF4-FFF2-40B4-BE49-F238E27FC236}">
                  <a16:creationId xmlns:a16="http://schemas.microsoft.com/office/drawing/2014/main" id="{4B7CBEF6-2F07-4C09-AD4D-C0421B48BBFA}"/>
                </a:ext>
              </a:extLst>
            </p:cNvPr>
            <p:cNvSpPr>
              <a:spLocks noChangeArrowheads="1"/>
            </p:cNvSpPr>
            <p:nvPr/>
          </p:nvSpPr>
          <p:spPr bwMode="auto">
            <a:xfrm>
              <a:off x="3981" y="13335"/>
              <a:ext cx="397" cy="57"/>
            </a:xfrm>
            <a:prstGeom prst="rect">
              <a:avLst/>
            </a:prstGeom>
            <a:solidFill>
              <a:srgbClr val="C0C0C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75848" name="Freeform 49">
              <a:extLst>
                <a:ext uri="{FF2B5EF4-FFF2-40B4-BE49-F238E27FC236}">
                  <a16:creationId xmlns:a16="http://schemas.microsoft.com/office/drawing/2014/main" id="{63CFC4C6-EEB9-4F7E-A1ED-3D5E48929FC9}"/>
                </a:ext>
              </a:extLst>
            </p:cNvPr>
            <p:cNvSpPr>
              <a:spLocks/>
            </p:cNvSpPr>
            <p:nvPr/>
          </p:nvSpPr>
          <p:spPr bwMode="auto">
            <a:xfrm>
              <a:off x="4299" y="13400"/>
              <a:ext cx="18" cy="340"/>
            </a:xfrm>
            <a:custGeom>
              <a:avLst/>
              <a:gdLst>
                <a:gd name="T0" fmla="*/ 0 w 18"/>
                <a:gd name="T1" fmla="*/ 0 h 340"/>
                <a:gd name="T2" fmla="*/ 18 w 18"/>
                <a:gd name="T3" fmla="*/ 142 h 340"/>
                <a:gd name="T4" fmla="*/ 1 w 18"/>
                <a:gd name="T5" fmla="*/ 340 h 340"/>
                <a:gd name="T6" fmla="*/ 0 60000 65536"/>
                <a:gd name="T7" fmla="*/ 0 60000 65536"/>
                <a:gd name="T8" fmla="*/ 0 60000 65536"/>
              </a:gdLst>
              <a:ahLst/>
              <a:cxnLst>
                <a:cxn ang="T6">
                  <a:pos x="T0" y="T1"/>
                </a:cxn>
                <a:cxn ang="T7">
                  <a:pos x="T2" y="T3"/>
                </a:cxn>
                <a:cxn ang="T8">
                  <a:pos x="T4" y="T5"/>
                </a:cxn>
              </a:cxnLst>
              <a:rect l="0" t="0" r="r" b="b"/>
              <a:pathLst>
                <a:path w="18" h="340">
                  <a:moveTo>
                    <a:pt x="0" y="0"/>
                  </a:moveTo>
                  <a:lnTo>
                    <a:pt x="18" y="142"/>
                  </a:lnTo>
                  <a:lnTo>
                    <a:pt x="1" y="340"/>
                  </a:lnTo>
                </a:path>
              </a:pathLst>
            </a:custGeom>
            <a:noFill/>
            <a:ln w="6350">
              <a:solidFill>
                <a:srgbClr val="000000"/>
              </a:solidFill>
              <a:round/>
              <a:headEnd/>
              <a:tailEnd type="triangl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49" name="Freeform 50">
              <a:extLst>
                <a:ext uri="{FF2B5EF4-FFF2-40B4-BE49-F238E27FC236}">
                  <a16:creationId xmlns:a16="http://schemas.microsoft.com/office/drawing/2014/main" id="{71B7310B-8BE8-4E45-8767-FF70EAB31E4A}"/>
                </a:ext>
              </a:extLst>
            </p:cNvPr>
            <p:cNvSpPr>
              <a:spLocks/>
            </p:cNvSpPr>
            <p:nvPr/>
          </p:nvSpPr>
          <p:spPr bwMode="auto">
            <a:xfrm>
              <a:off x="1788" y="13397"/>
              <a:ext cx="34" cy="340"/>
            </a:xfrm>
            <a:custGeom>
              <a:avLst/>
              <a:gdLst>
                <a:gd name="T0" fmla="*/ 33 w 34"/>
                <a:gd name="T1" fmla="*/ 0 h 340"/>
                <a:gd name="T2" fmla="*/ 0 w 34"/>
                <a:gd name="T3" fmla="*/ 133 h 340"/>
                <a:gd name="T4" fmla="*/ 34 w 34"/>
                <a:gd name="T5" fmla="*/ 340 h 340"/>
                <a:gd name="T6" fmla="*/ 0 60000 65536"/>
                <a:gd name="T7" fmla="*/ 0 60000 65536"/>
                <a:gd name="T8" fmla="*/ 0 60000 65536"/>
              </a:gdLst>
              <a:ahLst/>
              <a:cxnLst>
                <a:cxn ang="T6">
                  <a:pos x="T0" y="T1"/>
                </a:cxn>
                <a:cxn ang="T7">
                  <a:pos x="T2" y="T3"/>
                </a:cxn>
                <a:cxn ang="T8">
                  <a:pos x="T4" y="T5"/>
                </a:cxn>
              </a:cxnLst>
              <a:rect l="0" t="0" r="r" b="b"/>
              <a:pathLst>
                <a:path w="34" h="340">
                  <a:moveTo>
                    <a:pt x="33" y="0"/>
                  </a:moveTo>
                  <a:lnTo>
                    <a:pt x="0" y="133"/>
                  </a:lnTo>
                  <a:lnTo>
                    <a:pt x="34" y="340"/>
                  </a:lnTo>
                </a:path>
              </a:pathLst>
            </a:custGeom>
            <a:noFill/>
            <a:ln w="6350">
              <a:solidFill>
                <a:srgbClr val="000000"/>
              </a:solidFill>
              <a:round/>
              <a:headEnd/>
              <a:tailEnd type="triangl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grpSp>
      <p:sp>
        <p:nvSpPr>
          <p:cNvPr id="75783" name="Text Box 51">
            <a:extLst>
              <a:ext uri="{FF2B5EF4-FFF2-40B4-BE49-F238E27FC236}">
                <a16:creationId xmlns:a16="http://schemas.microsoft.com/office/drawing/2014/main" id="{6F05A20D-D9EB-4441-B436-79F2EE6ABF33}"/>
              </a:ext>
            </a:extLst>
          </p:cNvPr>
          <p:cNvSpPr txBox="1">
            <a:spLocks noChangeArrowheads="1"/>
          </p:cNvSpPr>
          <p:nvPr/>
        </p:nvSpPr>
        <p:spPr bwMode="auto">
          <a:xfrm>
            <a:off x="409575" y="2940050"/>
            <a:ext cx="1233488"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zh-CN" altLang="en-US" sz="1800" b="1">
                <a:solidFill>
                  <a:srgbClr val="0000FF"/>
                </a:solidFill>
                <a:latin typeface="楷体_GB2312" pitchFamily="49" charset="-122"/>
                <a:ea typeface="楷体_GB2312" pitchFamily="49" charset="-122"/>
              </a:rPr>
              <a:t>边缘效应</a:t>
            </a:r>
          </a:p>
        </p:txBody>
      </p:sp>
      <p:sp>
        <p:nvSpPr>
          <p:cNvPr id="75784" name="Line 52">
            <a:extLst>
              <a:ext uri="{FF2B5EF4-FFF2-40B4-BE49-F238E27FC236}">
                <a16:creationId xmlns:a16="http://schemas.microsoft.com/office/drawing/2014/main" id="{93809232-D8B1-4113-A427-21463B613765}"/>
              </a:ext>
            </a:extLst>
          </p:cNvPr>
          <p:cNvSpPr>
            <a:spLocks noChangeShapeType="1"/>
          </p:cNvSpPr>
          <p:nvPr/>
        </p:nvSpPr>
        <p:spPr bwMode="auto">
          <a:xfrm flipV="1">
            <a:off x="1179513" y="2208213"/>
            <a:ext cx="393700" cy="655637"/>
          </a:xfrm>
          <a:prstGeom prst="line">
            <a:avLst/>
          </a:prstGeom>
          <a:noFill/>
          <a:ln w="190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nchor="ctr">
            <a:spAutoFit/>
          </a:bodyPr>
          <a:lstStyle/>
          <a:p>
            <a:endParaRPr lang="zh-CN" altLang="en-US"/>
          </a:p>
        </p:txBody>
      </p:sp>
      <p:sp>
        <p:nvSpPr>
          <p:cNvPr id="75785" name="Rectangle 54">
            <a:extLst>
              <a:ext uri="{FF2B5EF4-FFF2-40B4-BE49-F238E27FC236}">
                <a16:creationId xmlns:a16="http://schemas.microsoft.com/office/drawing/2014/main" id="{465F22DA-F8D4-460C-B860-0475329F1972}"/>
              </a:ext>
            </a:extLst>
          </p:cNvPr>
          <p:cNvSpPr>
            <a:spLocks noChangeArrowheads="1"/>
          </p:cNvSpPr>
          <p:nvPr/>
        </p:nvSpPr>
        <p:spPr bwMode="auto">
          <a:xfrm>
            <a:off x="1268413" y="2243138"/>
            <a:ext cx="3417887"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75786" name="Rectangle 55">
            <a:extLst>
              <a:ext uri="{FF2B5EF4-FFF2-40B4-BE49-F238E27FC236}">
                <a16:creationId xmlns:a16="http://schemas.microsoft.com/office/drawing/2014/main" id="{97562E30-FBD0-4BF9-BA7B-ACDD5FA074F8}"/>
              </a:ext>
            </a:extLst>
          </p:cNvPr>
          <p:cNvSpPr>
            <a:spLocks noChangeArrowheads="1"/>
          </p:cNvSpPr>
          <p:nvPr/>
        </p:nvSpPr>
        <p:spPr bwMode="auto">
          <a:xfrm>
            <a:off x="1624013" y="2452688"/>
            <a:ext cx="2312987" cy="112712"/>
          </a:xfrm>
          <a:prstGeom prst="rect">
            <a:avLst/>
          </a:prstGeom>
          <a:solidFill>
            <a:srgbClr val="CC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75787" name="Line 56">
            <a:extLst>
              <a:ext uri="{FF2B5EF4-FFF2-40B4-BE49-F238E27FC236}">
                <a16:creationId xmlns:a16="http://schemas.microsoft.com/office/drawing/2014/main" id="{E324294D-7612-433E-A332-51BBCC539D5D}"/>
              </a:ext>
            </a:extLst>
          </p:cNvPr>
          <p:cNvSpPr>
            <a:spLocks noChangeShapeType="1"/>
          </p:cNvSpPr>
          <p:nvPr/>
        </p:nvSpPr>
        <p:spPr bwMode="auto">
          <a:xfrm>
            <a:off x="1808163" y="1925638"/>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788" name="Line 57">
            <a:extLst>
              <a:ext uri="{FF2B5EF4-FFF2-40B4-BE49-F238E27FC236}">
                <a16:creationId xmlns:a16="http://schemas.microsoft.com/office/drawing/2014/main" id="{EEA8AAE5-8BFF-4824-900C-5CB47A7D8E92}"/>
              </a:ext>
            </a:extLst>
          </p:cNvPr>
          <p:cNvSpPr>
            <a:spLocks noChangeShapeType="1"/>
          </p:cNvSpPr>
          <p:nvPr/>
        </p:nvSpPr>
        <p:spPr bwMode="auto">
          <a:xfrm>
            <a:off x="2085975" y="1925638"/>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789" name="Line 58">
            <a:extLst>
              <a:ext uri="{FF2B5EF4-FFF2-40B4-BE49-F238E27FC236}">
                <a16:creationId xmlns:a16="http://schemas.microsoft.com/office/drawing/2014/main" id="{1C0E74A4-B8AB-4030-9F66-6F29E7668B20}"/>
              </a:ext>
            </a:extLst>
          </p:cNvPr>
          <p:cNvSpPr>
            <a:spLocks noChangeShapeType="1"/>
          </p:cNvSpPr>
          <p:nvPr/>
        </p:nvSpPr>
        <p:spPr bwMode="auto">
          <a:xfrm>
            <a:off x="2362200" y="1925638"/>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790" name="Line 59">
            <a:extLst>
              <a:ext uri="{FF2B5EF4-FFF2-40B4-BE49-F238E27FC236}">
                <a16:creationId xmlns:a16="http://schemas.microsoft.com/office/drawing/2014/main" id="{0B0E09C7-2726-472F-81FE-9E9FD10DA5A7}"/>
              </a:ext>
            </a:extLst>
          </p:cNvPr>
          <p:cNvSpPr>
            <a:spLocks noChangeShapeType="1"/>
          </p:cNvSpPr>
          <p:nvPr/>
        </p:nvSpPr>
        <p:spPr bwMode="auto">
          <a:xfrm>
            <a:off x="2636838" y="1925638"/>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791" name="Line 60">
            <a:extLst>
              <a:ext uri="{FF2B5EF4-FFF2-40B4-BE49-F238E27FC236}">
                <a16:creationId xmlns:a16="http://schemas.microsoft.com/office/drawing/2014/main" id="{B86E8969-EFFE-4EB5-839F-A6A43D708951}"/>
              </a:ext>
            </a:extLst>
          </p:cNvPr>
          <p:cNvSpPr>
            <a:spLocks noChangeShapeType="1"/>
          </p:cNvSpPr>
          <p:nvPr/>
        </p:nvSpPr>
        <p:spPr bwMode="auto">
          <a:xfrm>
            <a:off x="2914650" y="1925638"/>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792" name="Line 61">
            <a:extLst>
              <a:ext uri="{FF2B5EF4-FFF2-40B4-BE49-F238E27FC236}">
                <a16:creationId xmlns:a16="http://schemas.microsoft.com/office/drawing/2014/main" id="{A1A35961-62D5-4D0B-9DB5-5F9C38DDB9C8}"/>
              </a:ext>
            </a:extLst>
          </p:cNvPr>
          <p:cNvSpPr>
            <a:spLocks noChangeShapeType="1"/>
          </p:cNvSpPr>
          <p:nvPr/>
        </p:nvSpPr>
        <p:spPr bwMode="auto">
          <a:xfrm>
            <a:off x="3190875" y="1925638"/>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793" name="Line 62">
            <a:extLst>
              <a:ext uri="{FF2B5EF4-FFF2-40B4-BE49-F238E27FC236}">
                <a16:creationId xmlns:a16="http://schemas.microsoft.com/office/drawing/2014/main" id="{A1034F84-58DD-4363-8E5D-40DD7D8CAF82}"/>
              </a:ext>
            </a:extLst>
          </p:cNvPr>
          <p:cNvSpPr>
            <a:spLocks noChangeShapeType="1"/>
          </p:cNvSpPr>
          <p:nvPr/>
        </p:nvSpPr>
        <p:spPr bwMode="auto">
          <a:xfrm>
            <a:off x="3467100" y="1925638"/>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794" name="Line 63">
            <a:extLst>
              <a:ext uri="{FF2B5EF4-FFF2-40B4-BE49-F238E27FC236}">
                <a16:creationId xmlns:a16="http://schemas.microsoft.com/office/drawing/2014/main" id="{0252189A-2DF8-466D-91F5-7E462353CD40}"/>
              </a:ext>
            </a:extLst>
          </p:cNvPr>
          <p:cNvSpPr>
            <a:spLocks noChangeShapeType="1"/>
          </p:cNvSpPr>
          <p:nvPr/>
        </p:nvSpPr>
        <p:spPr bwMode="auto">
          <a:xfrm>
            <a:off x="3743325" y="1925638"/>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795" name="Freeform 64">
            <a:extLst>
              <a:ext uri="{FF2B5EF4-FFF2-40B4-BE49-F238E27FC236}">
                <a16:creationId xmlns:a16="http://schemas.microsoft.com/office/drawing/2014/main" id="{7CDE00E5-8922-43D1-9399-A1D31B2A38DD}"/>
              </a:ext>
            </a:extLst>
          </p:cNvPr>
          <p:cNvSpPr>
            <a:spLocks/>
          </p:cNvSpPr>
          <p:nvPr/>
        </p:nvSpPr>
        <p:spPr bwMode="auto">
          <a:xfrm>
            <a:off x="1552575" y="1949450"/>
            <a:ext cx="76200" cy="503238"/>
          </a:xfrm>
          <a:custGeom>
            <a:avLst/>
            <a:gdLst>
              <a:gd name="T0" fmla="*/ 2147483646 w 85"/>
              <a:gd name="T1" fmla="*/ 0 h 504"/>
              <a:gd name="T2" fmla="*/ 0 w 85"/>
              <a:gd name="T3" fmla="*/ 2147483646 h 504"/>
              <a:gd name="T4" fmla="*/ 2147483646 w 85"/>
              <a:gd name="T5" fmla="*/ 2147483646 h 504"/>
              <a:gd name="T6" fmla="*/ 0 60000 65536"/>
              <a:gd name="T7" fmla="*/ 0 60000 65536"/>
              <a:gd name="T8" fmla="*/ 0 60000 65536"/>
            </a:gdLst>
            <a:ahLst/>
            <a:cxnLst>
              <a:cxn ang="T6">
                <a:pos x="T0" y="T1"/>
              </a:cxn>
              <a:cxn ang="T7">
                <a:pos x="T2" y="T3"/>
              </a:cxn>
              <a:cxn ang="T8">
                <a:pos x="T4" y="T5"/>
              </a:cxn>
            </a:cxnLst>
            <a:rect l="0" t="0" r="r" b="b"/>
            <a:pathLst>
              <a:path w="85" h="504">
                <a:moveTo>
                  <a:pt x="85" y="0"/>
                </a:moveTo>
                <a:cubicBezTo>
                  <a:pt x="71" y="33"/>
                  <a:pt x="2" y="114"/>
                  <a:pt x="1" y="198"/>
                </a:cubicBezTo>
                <a:cubicBezTo>
                  <a:pt x="0" y="282"/>
                  <a:pt x="65" y="440"/>
                  <a:pt x="82" y="504"/>
                </a:cubicBezTo>
              </a:path>
            </a:pathLst>
          </a:custGeom>
          <a:solidFill>
            <a:srgbClr val="CCFFFF"/>
          </a:solidFill>
          <a:ln w="6350" cap="flat" cmpd="sng">
            <a:solidFill>
              <a:srgbClr val="000000"/>
            </a:solidFill>
            <a:prstDash val="solid"/>
            <a:round/>
            <a:headEnd/>
            <a:tailEnd type="triangl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796" name="Freeform 65">
            <a:extLst>
              <a:ext uri="{FF2B5EF4-FFF2-40B4-BE49-F238E27FC236}">
                <a16:creationId xmlns:a16="http://schemas.microsoft.com/office/drawing/2014/main" id="{1EEF5230-DA41-417A-89D9-13C4BAECFF87}"/>
              </a:ext>
            </a:extLst>
          </p:cNvPr>
          <p:cNvSpPr>
            <a:spLocks/>
          </p:cNvSpPr>
          <p:nvPr/>
        </p:nvSpPr>
        <p:spPr bwMode="auto">
          <a:xfrm>
            <a:off x="3940175" y="1944688"/>
            <a:ext cx="63500" cy="508000"/>
          </a:xfrm>
          <a:custGeom>
            <a:avLst/>
            <a:gdLst>
              <a:gd name="T0" fmla="*/ 0 w 72"/>
              <a:gd name="T1" fmla="*/ 0 h 507"/>
              <a:gd name="T2" fmla="*/ 2147483646 w 72"/>
              <a:gd name="T3" fmla="*/ 2147483646 h 507"/>
              <a:gd name="T4" fmla="*/ 0 w 72"/>
              <a:gd name="T5" fmla="*/ 2147483646 h 507"/>
              <a:gd name="T6" fmla="*/ 0 60000 65536"/>
              <a:gd name="T7" fmla="*/ 0 60000 65536"/>
              <a:gd name="T8" fmla="*/ 0 60000 65536"/>
            </a:gdLst>
            <a:ahLst/>
            <a:cxnLst>
              <a:cxn ang="T6">
                <a:pos x="T0" y="T1"/>
              </a:cxn>
              <a:cxn ang="T7">
                <a:pos x="T2" y="T3"/>
              </a:cxn>
              <a:cxn ang="T8">
                <a:pos x="T4" y="T5"/>
              </a:cxn>
            </a:cxnLst>
            <a:rect l="0" t="0" r="r" b="b"/>
            <a:pathLst>
              <a:path w="72" h="507">
                <a:moveTo>
                  <a:pt x="0" y="0"/>
                </a:moveTo>
                <a:cubicBezTo>
                  <a:pt x="21" y="33"/>
                  <a:pt x="72" y="120"/>
                  <a:pt x="72" y="204"/>
                </a:cubicBezTo>
                <a:cubicBezTo>
                  <a:pt x="72" y="288"/>
                  <a:pt x="18" y="444"/>
                  <a:pt x="3" y="507"/>
                </a:cubicBezTo>
              </a:path>
            </a:pathLst>
          </a:custGeom>
          <a:solidFill>
            <a:srgbClr val="CCFFFF"/>
          </a:solidFill>
          <a:ln w="6350" cap="flat" cmpd="sng">
            <a:solidFill>
              <a:srgbClr val="000000"/>
            </a:solidFill>
            <a:prstDash val="solid"/>
            <a:round/>
            <a:headEnd/>
            <a:tailEnd type="triangl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797" name="Rectangle 66">
            <a:extLst>
              <a:ext uri="{FF2B5EF4-FFF2-40B4-BE49-F238E27FC236}">
                <a16:creationId xmlns:a16="http://schemas.microsoft.com/office/drawing/2014/main" id="{A9F55D30-C0CA-4BC8-AED7-E49F75FB2F99}"/>
              </a:ext>
            </a:extLst>
          </p:cNvPr>
          <p:cNvSpPr>
            <a:spLocks noChangeArrowheads="1"/>
          </p:cNvSpPr>
          <p:nvPr/>
        </p:nvSpPr>
        <p:spPr bwMode="auto">
          <a:xfrm>
            <a:off x="1624013" y="1830388"/>
            <a:ext cx="2312987" cy="111125"/>
          </a:xfrm>
          <a:prstGeom prst="rect">
            <a:avLst/>
          </a:prstGeom>
          <a:solidFill>
            <a:srgbClr val="CC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75798" name="Line 67">
            <a:extLst>
              <a:ext uri="{FF2B5EF4-FFF2-40B4-BE49-F238E27FC236}">
                <a16:creationId xmlns:a16="http://schemas.microsoft.com/office/drawing/2014/main" id="{F000597D-F9CA-4EC3-BCFB-B59332607C94}"/>
              </a:ext>
            </a:extLst>
          </p:cNvPr>
          <p:cNvSpPr>
            <a:spLocks noChangeShapeType="1"/>
          </p:cNvSpPr>
          <p:nvPr/>
        </p:nvSpPr>
        <p:spPr bwMode="auto">
          <a:xfrm flipV="1">
            <a:off x="2765425" y="1204913"/>
            <a:ext cx="0" cy="62547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799" name="Line 68">
            <a:extLst>
              <a:ext uri="{FF2B5EF4-FFF2-40B4-BE49-F238E27FC236}">
                <a16:creationId xmlns:a16="http://schemas.microsoft.com/office/drawing/2014/main" id="{04512732-E718-4282-B26B-75A08B42DD6C}"/>
              </a:ext>
            </a:extLst>
          </p:cNvPr>
          <p:cNvSpPr>
            <a:spLocks noChangeShapeType="1"/>
          </p:cNvSpPr>
          <p:nvPr/>
        </p:nvSpPr>
        <p:spPr bwMode="auto">
          <a:xfrm>
            <a:off x="2765425" y="2566988"/>
            <a:ext cx="0" cy="62547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00" name="Oval 69">
            <a:extLst>
              <a:ext uri="{FF2B5EF4-FFF2-40B4-BE49-F238E27FC236}">
                <a16:creationId xmlns:a16="http://schemas.microsoft.com/office/drawing/2014/main" id="{6E812864-95C7-42A6-B50C-E11698852DCF}"/>
              </a:ext>
            </a:extLst>
          </p:cNvPr>
          <p:cNvSpPr>
            <a:spLocks noChangeAspect="1" noChangeArrowheads="1"/>
          </p:cNvSpPr>
          <p:nvPr/>
        </p:nvSpPr>
        <p:spPr bwMode="auto">
          <a:xfrm>
            <a:off x="2730500" y="3198813"/>
            <a:ext cx="68263" cy="79375"/>
          </a:xfrm>
          <a:prstGeom prst="ellipse">
            <a:avLst/>
          </a:prstGeom>
          <a:solidFill>
            <a:srgbClr val="CC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75801" name="Oval 70">
            <a:extLst>
              <a:ext uri="{FF2B5EF4-FFF2-40B4-BE49-F238E27FC236}">
                <a16:creationId xmlns:a16="http://schemas.microsoft.com/office/drawing/2014/main" id="{75F238FA-F8A4-419B-9E4E-12B88D7D8B9A}"/>
              </a:ext>
            </a:extLst>
          </p:cNvPr>
          <p:cNvSpPr>
            <a:spLocks noChangeAspect="1" noChangeArrowheads="1"/>
          </p:cNvSpPr>
          <p:nvPr/>
        </p:nvSpPr>
        <p:spPr bwMode="auto">
          <a:xfrm>
            <a:off x="2730500" y="1127125"/>
            <a:ext cx="68263" cy="77788"/>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75802" name="Text Box 71">
            <a:extLst>
              <a:ext uri="{FF2B5EF4-FFF2-40B4-BE49-F238E27FC236}">
                <a16:creationId xmlns:a16="http://schemas.microsoft.com/office/drawing/2014/main" id="{74B7EA20-A142-488D-8FF4-FC2345FC478E}"/>
              </a:ext>
            </a:extLst>
          </p:cNvPr>
          <p:cNvSpPr txBox="1">
            <a:spLocks noChangeArrowheads="1"/>
          </p:cNvSpPr>
          <p:nvPr/>
        </p:nvSpPr>
        <p:spPr bwMode="auto">
          <a:xfrm>
            <a:off x="2822575" y="1049338"/>
            <a:ext cx="185738"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200" b="1">
                <a:latin typeface="Times New Roman" panose="02020603050405020304" pitchFamily="18" charset="0"/>
              </a:rPr>
              <a:t>+</a:t>
            </a:r>
          </a:p>
        </p:txBody>
      </p:sp>
      <p:sp>
        <p:nvSpPr>
          <p:cNvPr id="75803" name="Text Box 72">
            <a:extLst>
              <a:ext uri="{FF2B5EF4-FFF2-40B4-BE49-F238E27FC236}">
                <a16:creationId xmlns:a16="http://schemas.microsoft.com/office/drawing/2014/main" id="{192085A1-81B8-45EC-8BEC-FDDA7632B566}"/>
              </a:ext>
            </a:extLst>
          </p:cNvPr>
          <p:cNvSpPr txBox="1">
            <a:spLocks noChangeArrowheads="1"/>
          </p:cNvSpPr>
          <p:nvPr/>
        </p:nvSpPr>
        <p:spPr bwMode="auto">
          <a:xfrm>
            <a:off x="2822575" y="3074988"/>
            <a:ext cx="185738"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200" b="1">
                <a:latin typeface="Times New Roman" panose="02020603050405020304" pitchFamily="18" charset="0"/>
              </a:rPr>
              <a:t>-</a:t>
            </a:r>
          </a:p>
        </p:txBody>
      </p:sp>
      <p:sp>
        <p:nvSpPr>
          <p:cNvPr id="75804" name="Line 73">
            <a:extLst>
              <a:ext uri="{FF2B5EF4-FFF2-40B4-BE49-F238E27FC236}">
                <a16:creationId xmlns:a16="http://schemas.microsoft.com/office/drawing/2014/main" id="{CD252592-7FC9-4161-B237-5BEF40491F9A}"/>
              </a:ext>
            </a:extLst>
          </p:cNvPr>
          <p:cNvSpPr>
            <a:spLocks noChangeShapeType="1"/>
          </p:cNvSpPr>
          <p:nvPr/>
        </p:nvSpPr>
        <p:spPr bwMode="auto">
          <a:xfrm>
            <a:off x="3997325" y="1944688"/>
            <a:ext cx="46196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05" name="Line 74">
            <a:extLst>
              <a:ext uri="{FF2B5EF4-FFF2-40B4-BE49-F238E27FC236}">
                <a16:creationId xmlns:a16="http://schemas.microsoft.com/office/drawing/2014/main" id="{DAD06981-4BE8-4742-B16B-574187E82865}"/>
              </a:ext>
            </a:extLst>
          </p:cNvPr>
          <p:cNvSpPr>
            <a:spLocks noChangeShapeType="1"/>
          </p:cNvSpPr>
          <p:nvPr/>
        </p:nvSpPr>
        <p:spPr bwMode="auto">
          <a:xfrm>
            <a:off x="3997325" y="2452688"/>
            <a:ext cx="46196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06" name="Line 75">
            <a:extLst>
              <a:ext uri="{FF2B5EF4-FFF2-40B4-BE49-F238E27FC236}">
                <a16:creationId xmlns:a16="http://schemas.microsoft.com/office/drawing/2014/main" id="{AD0E3BEF-ADFB-4C78-A238-51018645FFD0}"/>
              </a:ext>
            </a:extLst>
          </p:cNvPr>
          <p:cNvSpPr>
            <a:spLocks noChangeShapeType="1"/>
          </p:cNvSpPr>
          <p:nvPr/>
        </p:nvSpPr>
        <p:spPr bwMode="auto">
          <a:xfrm>
            <a:off x="4297363" y="1925638"/>
            <a:ext cx="0" cy="527050"/>
          </a:xfrm>
          <a:prstGeom prst="line">
            <a:avLst/>
          </a:prstGeom>
          <a:noFill/>
          <a:ln w="9525">
            <a:solidFill>
              <a:srgbClr val="000000"/>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07" name="Text Box 76">
            <a:extLst>
              <a:ext uri="{FF2B5EF4-FFF2-40B4-BE49-F238E27FC236}">
                <a16:creationId xmlns:a16="http://schemas.microsoft.com/office/drawing/2014/main" id="{4D77158F-7C88-4520-AB3F-CF6FBD42D101}"/>
              </a:ext>
            </a:extLst>
          </p:cNvPr>
          <p:cNvSpPr txBox="1">
            <a:spLocks noChangeArrowheads="1"/>
          </p:cNvSpPr>
          <p:nvPr/>
        </p:nvSpPr>
        <p:spPr bwMode="auto">
          <a:xfrm>
            <a:off x="4203700" y="2028825"/>
            <a:ext cx="177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latin typeface="Times New Roman" panose="02020603050405020304" pitchFamily="18" charset="0"/>
              </a:rPr>
              <a:t>d</a:t>
            </a:r>
            <a:endParaRPr kumimoji="1" lang="en-US" altLang="zh-CN" sz="1000" b="1" i="1">
              <a:latin typeface="Times New Roman" panose="02020603050405020304" pitchFamily="18" charset="0"/>
            </a:endParaRPr>
          </a:p>
        </p:txBody>
      </p:sp>
      <p:sp>
        <p:nvSpPr>
          <p:cNvPr id="75808" name="Line 77">
            <a:extLst>
              <a:ext uri="{FF2B5EF4-FFF2-40B4-BE49-F238E27FC236}">
                <a16:creationId xmlns:a16="http://schemas.microsoft.com/office/drawing/2014/main" id="{36C73A94-DC6B-41B5-888F-3625A576B2B4}"/>
              </a:ext>
            </a:extLst>
          </p:cNvPr>
          <p:cNvSpPr>
            <a:spLocks noChangeShapeType="1"/>
          </p:cNvSpPr>
          <p:nvPr/>
        </p:nvSpPr>
        <p:spPr bwMode="auto">
          <a:xfrm flipH="1">
            <a:off x="3281363" y="1516063"/>
            <a:ext cx="277812" cy="314325"/>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graphicFrame>
        <p:nvGraphicFramePr>
          <p:cNvPr id="75809" name="Object 78">
            <a:extLst>
              <a:ext uri="{FF2B5EF4-FFF2-40B4-BE49-F238E27FC236}">
                <a16:creationId xmlns:a16="http://schemas.microsoft.com/office/drawing/2014/main" id="{861F71EF-E4F0-4D3E-A217-626529977142}"/>
              </a:ext>
            </a:extLst>
          </p:cNvPr>
          <p:cNvGraphicFramePr>
            <a:graphicFrameLocks noChangeAspect="1"/>
          </p:cNvGraphicFramePr>
          <p:nvPr/>
        </p:nvGraphicFramePr>
        <p:xfrm>
          <a:off x="1604963" y="1157288"/>
          <a:ext cx="288925" cy="358775"/>
        </p:xfrm>
        <a:graphic>
          <a:graphicData uri="http://schemas.openxmlformats.org/presentationml/2006/ole">
            <mc:AlternateContent xmlns:mc="http://schemas.openxmlformats.org/markup-compatibility/2006">
              <mc:Choice xmlns:v="urn:schemas-microsoft-com:vml" Requires="v">
                <p:oleObj spid="_x0000_s76018" name="公式" r:id="rId4" imgW="126835" imgH="139518" progId="Equation.3">
                  <p:embed/>
                </p:oleObj>
              </mc:Choice>
              <mc:Fallback>
                <p:oleObj name="公式" r:id="rId4" imgW="126835" imgH="139518" progId="Equation.3">
                  <p:embed/>
                  <p:pic>
                    <p:nvPicPr>
                      <p:cNvPr id="0" name="Object 7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4963" y="1157288"/>
                        <a:ext cx="28892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5810" name="Freeform 79">
            <a:extLst>
              <a:ext uri="{FF2B5EF4-FFF2-40B4-BE49-F238E27FC236}">
                <a16:creationId xmlns:a16="http://schemas.microsoft.com/office/drawing/2014/main" id="{CFA13223-4582-4AEE-A239-C158831C3C97}"/>
              </a:ext>
            </a:extLst>
          </p:cNvPr>
          <p:cNvSpPr>
            <a:spLocks/>
          </p:cNvSpPr>
          <p:nvPr/>
        </p:nvSpPr>
        <p:spPr bwMode="auto">
          <a:xfrm>
            <a:off x="1808163" y="1516063"/>
            <a:ext cx="165100" cy="673100"/>
          </a:xfrm>
          <a:custGeom>
            <a:avLst/>
            <a:gdLst>
              <a:gd name="T0" fmla="*/ 0 w 186"/>
              <a:gd name="T1" fmla="*/ 0 h 674"/>
              <a:gd name="T2" fmla="*/ 2147483646 w 186"/>
              <a:gd name="T3" fmla="*/ 2147483646 h 674"/>
              <a:gd name="T4" fmla="*/ 0 60000 65536"/>
              <a:gd name="T5" fmla="*/ 0 60000 65536"/>
            </a:gdLst>
            <a:ahLst/>
            <a:cxnLst>
              <a:cxn ang="T4">
                <a:pos x="T0" y="T1"/>
              </a:cxn>
              <a:cxn ang="T5">
                <a:pos x="T2" y="T3"/>
              </a:cxn>
            </a:cxnLst>
            <a:rect l="0" t="0" r="r" b="b"/>
            <a:pathLst>
              <a:path w="186" h="674">
                <a:moveTo>
                  <a:pt x="0" y="0"/>
                </a:moveTo>
                <a:lnTo>
                  <a:pt x="186" y="674"/>
                </a:lnTo>
              </a:path>
            </a:pathLst>
          </a:custGeom>
          <a:solidFill>
            <a:srgbClr val="CCFFFF"/>
          </a:solidFill>
          <a:ln w="9525" cap="flat" cmpd="sng">
            <a:solidFill>
              <a:srgbClr val="000000"/>
            </a:solidFill>
            <a:prstDash val="solid"/>
            <a:round/>
            <a:headEnd type="none" w="med" len="med"/>
            <a:tailEnd type="triangl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11" name="Text Box 80">
            <a:extLst>
              <a:ext uri="{FF2B5EF4-FFF2-40B4-BE49-F238E27FC236}">
                <a16:creationId xmlns:a16="http://schemas.microsoft.com/office/drawing/2014/main" id="{25D0A5C1-2E5C-42AC-8155-2699E70CFB78}"/>
              </a:ext>
            </a:extLst>
          </p:cNvPr>
          <p:cNvSpPr txBox="1">
            <a:spLocks noChangeArrowheads="1"/>
          </p:cNvSpPr>
          <p:nvPr/>
        </p:nvSpPr>
        <p:spPr bwMode="auto">
          <a:xfrm>
            <a:off x="1717675" y="3487738"/>
            <a:ext cx="23018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sz="1600" b="1">
                <a:latin typeface="Times New Roman" panose="02020603050405020304" pitchFamily="18" charset="0"/>
              </a:rPr>
              <a:t>平行板电容器</a:t>
            </a:r>
          </a:p>
        </p:txBody>
      </p:sp>
      <p:sp>
        <p:nvSpPr>
          <p:cNvPr id="75812" name="Text Box 81">
            <a:extLst>
              <a:ext uri="{FF2B5EF4-FFF2-40B4-BE49-F238E27FC236}">
                <a16:creationId xmlns:a16="http://schemas.microsoft.com/office/drawing/2014/main" id="{79EB0A65-2D24-483E-B5F6-ABF7303A7887}"/>
              </a:ext>
            </a:extLst>
          </p:cNvPr>
          <p:cNvSpPr txBox="1">
            <a:spLocks noChangeArrowheads="1"/>
          </p:cNvSpPr>
          <p:nvPr/>
        </p:nvSpPr>
        <p:spPr bwMode="auto">
          <a:xfrm>
            <a:off x="2927350" y="2847975"/>
            <a:ext cx="7397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sz="1400">
                <a:latin typeface="Times New Roman" panose="02020603050405020304" pitchFamily="18" charset="0"/>
              </a:rPr>
              <a:t>电力线</a:t>
            </a:r>
            <a:endParaRPr kumimoji="1" lang="zh-CN" altLang="en-US" sz="1200">
              <a:latin typeface="Times New Roman" panose="02020603050405020304" pitchFamily="18" charset="0"/>
            </a:endParaRPr>
          </a:p>
        </p:txBody>
      </p:sp>
      <p:sp>
        <p:nvSpPr>
          <p:cNvPr id="75813" name="Freeform 82">
            <a:extLst>
              <a:ext uri="{FF2B5EF4-FFF2-40B4-BE49-F238E27FC236}">
                <a16:creationId xmlns:a16="http://schemas.microsoft.com/office/drawing/2014/main" id="{03970D34-B9E4-47D5-B85F-F516F7678E07}"/>
              </a:ext>
            </a:extLst>
          </p:cNvPr>
          <p:cNvSpPr>
            <a:spLocks/>
          </p:cNvSpPr>
          <p:nvPr/>
        </p:nvSpPr>
        <p:spPr bwMode="auto">
          <a:xfrm>
            <a:off x="3208338" y="2138363"/>
            <a:ext cx="538162" cy="725487"/>
          </a:xfrm>
          <a:custGeom>
            <a:avLst/>
            <a:gdLst>
              <a:gd name="T0" fmla="*/ 0 w 614"/>
              <a:gd name="T1" fmla="*/ 2147483646 h 726"/>
              <a:gd name="T2" fmla="*/ 2147483646 w 614"/>
              <a:gd name="T3" fmla="*/ 0 h 726"/>
              <a:gd name="T4" fmla="*/ 0 60000 65536"/>
              <a:gd name="T5" fmla="*/ 0 60000 65536"/>
            </a:gdLst>
            <a:ahLst/>
            <a:cxnLst>
              <a:cxn ang="T4">
                <a:pos x="T0" y="T1"/>
              </a:cxn>
              <a:cxn ang="T5">
                <a:pos x="T2" y="T3"/>
              </a:cxn>
            </a:cxnLst>
            <a:rect l="0" t="0" r="r" b="b"/>
            <a:pathLst>
              <a:path w="614" h="726">
                <a:moveTo>
                  <a:pt x="0" y="726"/>
                </a:moveTo>
                <a:lnTo>
                  <a:pt x="614" y="0"/>
                </a:lnTo>
              </a:path>
            </a:pathLst>
          </a:custGeom>
          <a:solidFill>
            <a:srgbClr val="CCFFFF"/>
          </a:solidFill>
          <a:ln w="9525" cap="flat" cmpd="sng">
            <a:solidFill>
              <a:srgbClr val="000000"/>
            </a:solidFill>
            <a:prstDash val="solid"/>
            <a:round/>
            <a:headEnd type="none" w="med" len="med"/>
            <a:tailEnd type="triangl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graphicFrame>
        <p:nvGraphicFramePr>
          <p:cNvPr id="75814" name="Object 83">
            <a:extLst>
              <a:ext uri="{FF2B5EF4-FFF2-40B4-BE49-F238E27FC236}">
                <a16:creationId xmlns:a16="http://schemas.microsoft.com/office/drawing/2014/main" id="{12CCC685-599F-4635-8172-605929B2FBF6}"/>
              </a:ext>
            </a:extLst>
          </p:cNvPr>
          <p:cNvGraphicFramePr>
            <a:graphicFrameLocks noChangeAspect="1"/>
          </p:cNvGraphicFramePr>
          <p:nvPr/>
        </p:nvGraphicFramePr>
        <p:xfrm>
          <a:off x="3167063" y="1143000"/>
          <a:ext cx="828675" cy="400050"/>
        </p:xfrm>
        <a:graphic>
          <a:graphicData uri="http://schemas.openxmlformats.org/presentationml/2006/ole">
            <mc:AlternateContent xmlns:mc="http://schemas.openxmlformats.org/markup-compatibility/2006">
              <mc:Choice xmlns:v="urn:schemas-microsoft-com:vml" Requires="v">
                <p:oleObj spid="_x0000_s76019" name="公式" r:id="rId6" imgW="533169" imgH="228501" progId="Equation.3">
                  <p:embed/>
                </p:oleObj>
              </mc:Choice>
              <mc:Fallback>
                <p:oleObj name="公式" r:id="rId6" imgW="533169" imgH="228501" progId="Equation.3">
                  <p:embed/>
                  <p:pic>
                    <p:nvPicPr>
                      <p:cNvPr id="0" name="Object 8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67063" y="1143000"/>
                        <a:ext cx="828675"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15" name="Object 84">
            <a:extLst>
              <a:ext uri="{FF2B5EF4-FFF2-40B4-BE49-F238E27FC236}">
                <a16:creationId xmlns:a16="http://schemas.microsoft.com/office/drawing/2014/main" id="{0907BACB-C612-4901-8585-AEA594EA15ED}"/>
              </a:ext>
            </a:extLst>
          </p:cNvPr>
          <p:cNvGraphicFramePr>
            <a:graphicFrameLocks noChangeAspect="1"/>
          </p:cNvGraphicFramePr>
          <p:nvPr/>
        </p:nvGraphicFramePr>
        <p:xfrm>
          <a:off x="4048125" y="1463675"/>
          <a:ext cx="212725" cy="336550"/>
        </p:xfrm>
        <a:graphic>
          <a:graphicData uri="http://schemas.openxmlformats.org/presentationml/2006/ole">
            <mc:AlternateContent xmlns:mc="http://schemas.openxmlformats.org/markup-compatibility/2006">
              <mc:Choice xmlns:v="urn:schemas-microsoft-com:vml" Requires="v">
                <p:oleObj spid="_x0000_s76020" name="公式" r:id="rId8" imgW="126725" imgH="177415" progId="Equation.3">
                  <p:embed/>
                </p:oleObj>
              </mc:Choice>
              <mc:Fallback>
                <p:oleObj name="公式" r:id="rId8" imgW="126725" imgH="177415" progId="Equation.3">
                  <p:embed/>
                  <p:pic>
                    <p:nvPicPr>
                      <p:cNvPr id="0" name="Object 8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48125" y="1463675"/>
                        <a:ext cx="21272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816" name="Line 85">
            <a:extLst>
              <a:ext uri="{FF2B5EF4-FFF2-40B4-BE49-F238E27FC236}">
                <a16:creationId xmlns:a16="http://schemas.microsoft.com/office/drawing/2014/main" id="{DDCF71F1-FF8A-486D-9545-A1B2DA9AB4F5}"/>
              </a:ext>
            </a:extLst>
          </p:cNvPr>
          <p:cNvSpPr>
            <a:spLocks noChangeShapeType="1"/>
          </p:cNvSpPr>
          <p:nvPr/>
        </p:nvSpPr>
        <p:spPr bwMode="auto">
          <a:xfrm>
            <a:off x="3979863" y="1797050"/>
            <a:ext cx="4746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spAutoFit/>
          </a:bodyPr>
          <a:lstStyle/>
          <a:p>
            <a:endParaRPr lang="zh-CN" altLang="en-US"/>
          </a:p>
        </p:txBody>
      </p:sp>
      <p:sp>
        <p:nvSpPr>
          <p:cNvPr id="75817" name="Line 86">
            <a:extLst>
              <a:ext uri="{FF2B5EF4-FFF2-40B4-BE49-F238E27FC236}">
                <a16:creationId xmlns:a16="http://schemas.microsoft.com/office/drawing/2014/main" id="{4BC8ECB0-E2A0-4178-868D-A0D3A050374D}"/>
              </a:ext>
            </a:extLst>
          </p:cNvPr>
          <p:cNvSpPr>
            <a:spLocks noChangeShapeType="1"/>
          </p:cNvSpPr>
          <p:nvPr/>
        </p:nvSpPr>
        <p:spPr bwMode="auto">
          <a:xfrm flipH="1">
            <a:off x="4308475" y="1476375"/>
            <a:ext cx="0" cy="3206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nchor="ctr">
            <a:spAutoFit/>
          </a:bodyPr>
          <a:lstStyle/>
          <a:p>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2">
            <a:extLst>
              <a:ext uri="{FF2B5EF4-FFF2-40B4-BE49-F238E27FC236}">
                <a16:creationId xmlns:a16="http://schemas.microsoft.com/office/drawing/2014/main" id="{579B31B2-D19A-4E2F-8BB0-840C89DF624B}"/>
              </a:ext>
            </a:extLst>
          </p:cNvPr>
          <p:cNvSpPr>
            <a:spLocks noGrp="1"/>
          </p:cNvSpPr>
          <p:nvPr>
            <p:ph type="sldNum" sz="quarter" idx="12"/>
          </p:nvPr>
        </p:nvSpPr>
        <p:spPr>
          <a:xfrm>
            <a:off x="6718300" y="6288088"/>
            <a:ext cx="1905000" cy="377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A55BEE3-F892-46AD-8D9D-72A7E3E75528}" type="slidenum">
              <a:rPr lang="en-US" altLang="zh-CN" smtClean="0"/>
              <a:pPr/>
              <a:t>45</a:t>
            </a:fld>
            <a:endParaRPr lang="en-US" altLang="zh-CN"/>
          </a:p>
        </p:txBody>
      </p:sp>
      <p:sp>
        <p:nvSpPr>
          <p:cNvPr id="6" name="矩形 5">
            <a:extLst>
              <a:ext uri="{FF2B5EF4-FFF2-40B4-BE49-F238E27FC236}">
                <a16:creationId xmlns:a16="http://schemas.microsoft.com/office/drawing/2014/main" id="{718C46BC-8741-4AF2-BFF0-10A21B136A0D}"/>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77828" name="Text Box 2">
            <a:extLst>
              <a:ext uri="{FF2B5EF4-FFF2-40B4-BE49-F238E27FC236}">
                <a16:creationId xmlns:a16="http://schemas.microsoft.com/office/drawing/2014/main" id="{B52A2661-F1CF-4B13-8EAE-8CDEF37545BA}"/>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4.2</a:t>
            </a:r>
            <a:r>
              <a:rPr kumimoji="1" lang="zh-CN" altLang="en-US" sz="2800" b="1">
                <a:solidFill>
                  <a:srgbClr val="C00000"/>
                </a:solidFill>
                <a:latin typeface="微软雅黑" panose="020B0503020204020204" pitchFamily="34" charset="-122"/>
                <a:ea typeface="微软雅黑" panose="020B0503020204020204" pitchFamily="34" charset="-122"/>
              </a:rPr>
              <a:t>寄生与分布电容的影响</a:t>
            </a:r>
          </a:p>
        </p:txBody>
      </p:sp>
      <p:sp>
        <p:nvSpPr>
          <p:cNvPr id="77829" name="矩形 2">
            <a:extLst>
              <a:ext uri="{FF2B5EF4-FFF2-40B4-BE49-F238E27FC236}">
                <a16:creationId xmlns:a16="http://schemas.microsoft.com/office/drawing/2014/main" id="{9D2DB175-9AF1-4A4B-B2BC-2D00882A54F9}"/>
              </a:ext>
            </a:extLst>
          </p:cNvPr>
          <p:cNvSpPr>
            <a:spLocks noChangeArrowheads="1"/>
          </p:cNvSpPr>
          <p:nvPr/>
        </p:nvSpPr>
        <p:spPr bwMode="auto">
          <a:xfrm>
            <a:off x="468313" y="1196975"/>
            <a:ext cx="84931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400" b="1">
                <a:solidFill>
                  <a:srgbClr val="FF0000"/>
                </a:solidFill>
                <a:latin typeface="微软雅黑" panose="020B0503020204020204" pitchFamily="34" charset="-122"/>
                <a:ea typeface="微软雅黑" panose="020B0503020204020204" pitchFamily="34" charset="-122"/>
              </a:rPr>
              <a:t>寄生电容：</a:t>
            </a:r>
            <a:r>
              <a:rPr lang="zh-CN" altLang="en-US" sz="2400" b="1">
                <a:latin typeface="微软雅黑" panose="020B0503020204020204" pitchFamily="34" charset="-122"/>
                <a:ea typeface="微软雅黑" panose="020B0503020204020204" pitchFamily="34" charset="-122"/>
              </a:rPr>
              <a:t>电容</a:t>
            </a:r>
            <a:r>
              <a:rPr lang="zh-CN" altLang="en-US" sz="2400" b="1">
                <a:solidFill>
                  <a:srgbClr val="FFC000"/>
                </a:solidFill>
                <a:latin typeface="微软雅黑" panose="020B0503020204020204" pitchFamily="34" charset="-122"/>
                <a:ea typeface="微软雅黑" panose="020B0503020204020204" pitchFamily="34" charset="-122"/>
              </a:rPr>
              <a:t>极板与周围物体</a:t>
            </a:r>
            <a:r>
              <a:rPr lang="zh-CN" altLang="en-US" sz="2400" b="1">
                <a:latin typeface="微软雅黑" panose="020B0503020204020204" pitchFamily="34" charset="-122"/>
                <a:ea typeface="微软雅黑" panose="020B0503020204020204" pitchFamily="34" charset="-122"/>
              </a:rPr>
              <a:t>（各种元件甚至人体）产生的</a:t>
            </a:r>
            <a:endParaRPr lang="en-US" altLang="zh-CN" sz="2400" b="1">
              <a:latin typeface="微软雅黑" panose="020B0503020204020204" pitchFamily="34" charset="-122"/>
              <a:ea typeface="微软雅黑" panose="020B0503020204020204" pitchFamily="34" charset="-122"/>
            </a:endParaRPr>
          </a:p>
          <a:p>
            <a:pPr>
              <a:spcBef>
                <a:spcPct val="0"/>
              </a:spcBef>
              <a:buFontTx/>
              <a:buNone/>
            </a:pPr>
            <a:r>
              <a:rPr lang="en-US" altLang="zh-CN" sz="2400" b="1">
                <a:latin typeface="微软雅黑" panose="020B0503020204020204" pitchFamily="34" charset="-122"/>
                <a:ea typeface="微软雅黑" panose="020B0503020204020204" pitchFamily="34" charset="-122"/>
              </a:rPr>
              <a:t>                 </a:t>
            </a:r>
            <a:r>
              <a:rPr lang="zh-CN" altLang="en-US" sz="2400" b="1">
                <a:latin typeface="微软雅黑" panose="020B0503020204020204" pitchFamily="34" charset="-122"/>
                <a:ea typeface="微软雅黑" panose="020B0503020204020204" pitchFamily="34" charset="-122"/>
              </a:rPr>
              <a:t>电容联系</a:t>
            </a:r>
            <a:endParaRPr lang="en-US" altLang="zh-CN" sz="2400" b="1">
              <a:latin typeface="微软雅黑" panose="020B0503020204020204" pitchFamily="34" charset="-122"/>
              <a:ea typeface="微软雅黑" panose="020B0503020204020204" pitchFamily="34" charset="-122"/>
            </a:endParaRPr>
          </a:p>
          <a:p>
            <a:pPr>
              <a:spcBef>
                <a:spcPct val="0"/>
              </a:spcBef>
              <a:buFontTx/>
              <a:buNone/>
            </a:pPr>
            <a:r>
              <a:rPr lang="zh-CN" altLang="en-US" sz="2400" b="1">
                <a:solidFill>
                  <a:schemeClr val="tx2"/>
                </a:solidFill>
                <a:latin typeface="微软雅黑" panose="020B0503020204020204" pitchFamily="34" charset="-122"/>
                <a:ea typeface="微软雅黑" panose="020B0503020204020204" pitchFamily="34" charset="-122"/>
              </a:rPr>
              <a:t>特性：       </a:t>
            </a:r>
            <a:r>
              <a:rPr lang="zh-CN" altLang="en-US" sz="2400" b="1">
                <a:latin typeface="微软雅黑" panose="020B0503020204020204" pitchFamily="34" charset="-122"/>
                <a:ea typeface="微软雅黑" panose="020B0503020204020204" pitchFamily="34" charset="-122"/>
              </a:rPr>
              <a:t>固定或随机发生</a:t>
            </a:r>
            <a:endParaRPr lang="en-US" altLang="zh-CN" sz="2400" b="1">
              <a:latin typeface="微软雅黑" panose="020B0503020204020204" pitchFamily="34" charset="-122"/>
              <a:ea typeface="微软雅黑" panose="020B0503020204020204" pitchFamily="34" charset="-122"/>
            </a:endParaRPr>
          </a:p>
          <a:p>
            <a:pPr>
              <a:spcBef>
                <a:spcPct val="0"/>
              </a:spcBef>
              <a:buFontTx/>
              <a:buNone/>
            </a:pPr>
            <a:r>
              <a:rPr lang="zh-CN" altLang="en-US" sz="2400" b="1">
                <a:solidFill>
                  <a:schemeClr val="tx2"/>
                </a:solidFill>
                <a:latin typeface="微软雅黑" panose="020B0503020204020204" pitchFamily="34" charset="-122"/>
                <a:ea typeface="微软雅黑" panose="020B0503020204020204" pitchFamily="34" charset="-122"/>
              </a:rPr>
              <a:t>解决办法：</a:t>
            </a:r>
            <a:r>
              <a:rPr lang="zh-CN" altLang="en-US" sz="2400" b="1">
                <a:solidFill>
                  <a:srgbClr val="0000FF"/>
                </a:solidFill>
                <a:latin typeface="微软雅黑" panose="020B0503020204020204" pitchFamily="34" charset="-122"/>
                <a:ea typeface="微软雅黑" panose="020B0503020204020204" pitchFamily="34" charset="-122"/>
              </a:rPr>
              <a:t>静电屏蔽</a:t>
            </a:r>
            <a:endParaRPr lang="en-US" altLang="zh-CN" sz="2400" b="1">
              <a:solidFill>
                <a:srgbClr val="0000FF"/>
              </a:solidFill>
              <a:latin typeface="微软雅黑" panose="020B0503020204020204" pitchFamily="34" charset="-122"/>
              <a:ea typeface="微软雅黑" panose="020B0503020204020204" pitchFamily="34" charset="-122"/>
            </a:endParaRPr>
          </a:p>
          <a:p>
            <a:pPr>
              <a:spcBef>
                <a:spcPct val="0"/>
              </a:spcBef>
              <a:buFontTx/>
              <a:buNone/>
            </a:pPr>
            <a:r>
              <a:rPr lang="en-US" altLang="zh-CN" sz="2400" b="1">
                <a:solidFill>
                  <a:srgbClr val="0000FF"/>
                </a:solidFill>
                <a:latin typeface="微软雅黑" panose="020B0503020204020204" pitchFamily="34" charset="-122"/>
                <a:ea typeface="微软雅黑" panose="020B0503020204020204" pitchFamily="34" charset="-122"/>
              </a:rPr>
              <a:t>                 </a:t>
            </a:r>
            <a:r>
              <a:rPr lang="zh-CN" altLang="en-US" sz="2400" b="1">
                <a:latin typeface="微软雅黑" panose="020B0503020204020204" pitchFamily="34" charset="-122"/>
                <a:ea typeface="微软雅黑" panose="020B0503020204020204" pitchFamily="34" charset="-122"/>
              </a:rPr>
              <a:t>将传感器电容极板放置在金属壳体内</a:t>
            </a:r>
            <a:endParaRPr lang="en-US" altLang="zh-CN" sz="2400" b="1">
              <a:latin typeface="微软雅黑" panose="020B0503020204020204" pitchFamily="34" charset="-122"/>
              <a:ea typeface="微软雅黑" panose="020B0503020204020204" pitchFamily="34" charset="-122"/>
            </a:endParaRPr>
          </a:p>
          <a:p>
            <a:pPr>
              <a:spcBef>
                <a:spcPct val="0"/>
              </a:spcBef>
              <a:buFontTx/>
              <a:buNone/>
            </a:pPr>
            <a:r>
              <a:rPr lang="en-US" altLang="zh-CN" sz="2400" b="1">
                <a:latin typeface="微软雅黑" panose="020B0503020204020204" pitchFamily="34" charset="-122"/>
                <a:ea typeface="微软雅黑" panose="020B0503020204020204" pitchFamily="34" charset="-122"/>
              </a:rPr>
              <a:t>	       </a:t>
            </a:r>
            <a:r>
              <a:rPr lang="zh-CN" altLang="en-US" sz="2400" b="1">
                <a:latin typeface="微软雅黑" panose="020B0503020204020204" pitchFamily="34" charset="-122"/>
                <a:ea typeface="微软雅黑" panose="020B0503020204020204" pitchFamily="34" charset="-122"/>
              </a:rPr>
              <a:t>并将壳体与大地相连</a:t>
            </a:r>
            <a:r>
              <a:rPr lang="en-US" altLang="zh-CN" sz="2400" b="1">
                <a:solidFill>
                  <a:srgbClr val="0070C0"/>
                </a:solidFill>
                <a:latin typeface="微软雅黑" panose="020B0503020204020204" pitchFamily="34" charset="-122"/>
                <a:ea typeface="微软雅黑" panose="020B0503020204020204" pitchFamily="34" charset="-122"/>
              </a:rPr>
              <a:t>——</a:t>
            </a:r>
            <a:r>
              <a:rPr lang="zh-CN" altLang="en-US" sz="2400" b="1">
                <a:solidFill>
                  <a:srgbClr val="0099FF"/>
                </a:solidFill>
                <a:latin typeface="微软雅黑" panose="020B0503020204020204" pitchFamily="34" charset="-122"/>
                <a:ea typeface="微软雅黑" panose="020B0503020204020204" pitchFamily="34" charset="-122"/>
              </a:rPr>
              <a:t>接地良好</a:t>
            </a:r>
            <a:endParaRPr lang="zh-CN" altLang="en-US" sz="2400">
              <a:solidFill>
                <a:srgbClr val="0099FF"/>
              </a:solidFill>
            </a:endParaRPr>
          </a:p>
        </p:txBody>
      </p:sp>
      <p:sp>
        <p:nvSpPr>
          <p:cNvPr id="77830" name="矩形 10">
            <a:extLst>
              <a:ext uri="{FF2B5EF4-FFF2-40B4-BE49-F238E27FC236}">
                <a16:creationId xmlns:a16="http://schemas.microsoft.com/office/drawing/2014/main" id="{0E99EF84-188F-4E98-BB5C-14F5ECD3CA96}"/>
              </a:ext>
            </a:extLst>
          </p:cNvPr>
          <p:cNvSpPr>
            <a:spLocks noChangeArrowheads="1"/>
          </p:cNvSpPr>
          <p:nvPr/>
        </p:nvSpPr>
        <p:spPr bwMode="auto">
          <a:xfrm>
            <a:off x="468313" y="4016375"/>
            <a:ext cx="6954837"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400" b="1">
                <a:solidFill>
                  <a:srgbClr val="FF0000"/>
                </a:solidFill>
                <a:latin typeface="微软雅黑" panose="020B0503020204020204" pitchFamily="34" charset="-122"/>
                <a:ea typeface="微软雅黑" panose="020B0503020204020204" pitchFamily="34" charset="-122"/>
              </a:rPr>
              <a:t>分布电容：</a:t>
            </a:r>
            <a:r>
              <a:rPr lang="zh-CN" altLang="en-US" sz="2400" b="1">
                <a:solidFill>
                  <a:schemeClr val="bg2"/>
                </a:solidFill>
                <a:latin typeface="微软雅黑" panose="020B0503020204020204" pitchFamily="34" charset="-122"/>
                <a:ea typeface="微软雅黑" panose="020B0503020204020204" pitchFamily="34" charset="-122"/>
              </a:rPr>
              <a:t>电缆线之间</a:t>
            </a:r>
            <a:r>
              <a:rPr lang="zh-CN" altLang="en-US" sz="2400" b="1">
                <a:latin typeface="微软雅黑" panose="020B0503020204020204" pitchFamily="34" charset="-122"/>
                <a:ea typeface="微软雅黑" panose="020B0503020204020204" pitchFamily="34" charset="-122"/>
              </a:rPr>
              <a:t>产生的带有</a:t>
            </a:r>
            <a:r>
              <a:rPr lang="zh-CN" altLang="en-US" sz="2400" b="1">
                <a:solidFill>
                  <a:schemeClr val="bg2"/>
                </a:solidFill>
                <a:latin typeface="微软雅黑" panose="020B0503020204020204" pitchFamily="34" charset="-122"/>
                <a:ea typeface="微软雅黑" panose="020B0503020204020204" pitchFamily="34" charset="-122"/>
              </a:rPr>
              <a:t>分布特性</a:t>
            </a:r>
            <a:r>
              <a:rPr lang="zh-CN" altLang="en-US" sz="2400" b="1">
                <a:latin typeface="微软雅黑" panose="020B0503020204020204" pitchFamily="34" charset="-122"/>
                <a:ea typeface="微软雅黑" panose="020B0503020204020204" pitchFamily="34" charset="-122"/>
              </a:rPr>
              <a:t>的电容</a:t>
            </a:r>
            <a:endParaRPr lang="en-US" altLang="zh-CN" sz="2400" b="1">
              <a:latin typeface="微软雅黑" panose="020B0503020204020204" pitchFamily="34" charset="-122"/>
              <a:ea typeface="微软雅黑" panose="020B0503020204020204" pitchFamily="34" charset="-122"/>
            </a:endParaRPr>
          </a:p>
          <a:p>
            <a:pPr>
              <a:spcBef>
                <a:spcPct val="0"/>
              </a:spcBef>
              <a:buFontTx/>
              <a:buNone/>
            </a:pPr>
            <a:r>
              <a:rPr lang="zh-CN" altLang="en-US" sz="2400" b="1">
                <a:solidFill>
                  <a:srgbClr val="FF0000"/>
                </a:solidFill>
                <a:latin typeface="微软雅黑" panose="020B0503020204020204" pitchFamily="34" charset="-122"/>
                <a:ea typeface="微软雅黑" panose="020B0503020204020204" pitchFamily="34" charset="-122"/>
              </a:rPr>
              <a:t>特性：</a:t>
            </a:r>
            <a:r>
              <a:rPr lang="en-US" altLang="zh-CN" sz="2400" b="1">
                <a:solidFill>
                  <a:srgbClr val="FF0000"/>
                </a:solidFill>
                <a:latin typeface="微软雅黑" panose="020B0503020204020204" pitchFamily="34" charset="-122"/>
                <a:ea typeface="微软雅黑" panose="020B0503020204020204" pitchFamily="34" charset="-122"/>
              </a:rPr>
              <a:t>       </a:t>
            </a:r>
            <a:r>
              <a:rPr lang="zh-CN" altLang="en-US" sz="2400" b="1">
                <a:latin typeface="微软雅黑" panose="020B0503020204020204" pitchFamily="34" charset="-122"/>
                <a:ea typeface="微软雅黑" panose="020B0503020204020204" pitchFamily="34" charset="-122"/>
              </a:rPr>
              <a:t>数值大（</a:t>
            </a:r>
            <a:r>
              <a:rPr lang="en-US" altLang="zh-CN" sz="2400" b="1">
                <a:latin typeface="微软雅黑" panose="020B0503020204020204" pitchFamily="34" charset="-122"/>
                <a:ea typeface="微软雅黑" panose="020B0503020204020204" pitchFamily="34" charset="-122"/>
              </a:rPr>
              <a:t>&gt;100pf/m</a:t>
            </a: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a:t>
            </a:r>
          </a:p>
          <a:p>
            <a:pPr>
              <a:spcBef>
                <a:spcPct val="0"/>
              </a:spcBef>
              <a:buFontTx/>
              <a:buNone/>
            </a:pPr>
            <a:r>
              <a:rPr lang="en-US" altLang="zh-CN" sz="2400" b="1">
                <a:latin typeface="微软雅黑" panose="020B0503020204020204" pitchFamily="34" charset="-122"/>
                <a:ea typeface="微软雅黑" panose="020B0503020204020204" pitchFamily="34" charset="-122"/>
              </a:rPr>
              <a:t>                 </a:t>
            </a:r>
            <a:r>
              <a:rPr lang="zh-CN" altLang="en-US" sz="2400" b="1">
                <a:latin typeface="微软雅黑" panose="020B0503020204020204" pitchFamily="34" charset="-122"/>
                <a:ea typeface="微软雅黑" panose="020B0503020204020204" pitchFamily="34" charset="-122"/>
              </a:rPr>
              <a:t>可变（与电缆位置形状有关）</a:t>
            </a:r>
            <a:endParaRPr lang="en-US" altLang="zh-CN" sz="2400" b="1">
              <a:latin typeface="微软雅黑" panose="020B0503020204020204" pitchFamily="34" charset="-122"/>
              <a:ea typeface="微软雅黑" panose="020B0503020204020204" pitchFamily="34" charset="-122"/>
            </a:endParaRPr>
          </a:p>
          <a:p>
            <a:pPr>
              <a:spcBef>
                <a:spcPct val="0"/>
              </a:spcBef>
              <a:buFontTx/>
              <a:buNone/>
            </a:pPr>
            <a:r>
              <a:rPr lang="zh-CN" altLang="en-US" sz="2400" b="1">
                <a:solidFill>
                  <a:schemeClr val="tx2"/>
                </a:solidFill>
                <a:latin typeface="微软雅黑" panose="020B0503020204020204" pitchFamily="34" charset="-122"/>
                <a:ea typeface="微软雅黑" panose="020B0503020204020204" pitchFamily="34" charset="-122"/>
              </a:rPr>
              <a:t>解决办法：</a:t>
            </a:r>
            <a:r>
              <a:rPr lang="en-US" altLang="zh-CN" sz="2400" b="1">
                <a:solidFill>
                  <a:srgbClr val="0000FF"/>
                </a:solidFill>
                <a:latin typeface="微软雅黑" panose="020B0503020204020204" pitchFamily="34" charset="-122"/>
                <a:ea typeface="微软雅黑" panose="020B0503020204020204" pitchFamily="34" charset="-122"/>
              </a:rPr>
              <a:t>1</a:t>
            </a:r>
            <a:r>
              <a:rPr lang="zh-CN" altLang="en-US" sz="2400" b="1">
                <a:solidFill>
                  <a:srgbClr val="0000FF"/>
                </a:solidFill>
                <a:latin typeface="微软雅黑" panose="020B0503020204020204" pitchFamily="34" charset="-122"/>
                <a:ea typeface="微软雅黑" panose="020B0503020204020204" pitchFamily="34" charset="-122"/>
              </a:rPr>
              <a:t>）驱动电缆技术</a:t>
            </a:r>
            <a:endParaRPr lang="en-US" altLang="zh-CN" sz="2400" b="1">
              <a:solidFill>
                <a:srgbClr val="0000FF"/>
              </a:solidFill>
              <a:latin typeface="微软雅黑" panose="020B0503020204020204" pitchFamily="34" charset="-122"/>
              <a:ea typeface="微软雅黑" panose="020B0503020204020204" pitchFamily="34" charset="-122"/>
            </a:endParaRPr>
          </a:p>
          <a:p>
            <a:pPr>
              <a:spcBef>
                <a:spcPct val="0"/>
              </a:spcBef>
              <a:buFontTx/>
              <a:buNone/>
            </a:pPr>
            <a:r>
              <a:rPr lang="en-US" altLang="zh-CN" sz="2400" b="1">
                <a:solidFill>
                  <a:srgbClr val="0000FF"/>
                </a:solidFill>
                <a:latin typeface="微软雅黑" panose="020B0503020204020204" pitchFamily="34" charset="-122"/>
                <a:ea typeface="微软雅黑" panose="020B0503020204020204" pitchFamily="34" charset="-122"/>
              </a:rPr>
              <a:t>	       2</a:t>
            </a:r>
            <a:r>
              <a:rPr lang="zh-CN" altLang="en-US" sz="2400" b="1">
                <a:solidFill>
                  <a:srgbClr val="0000FF"/>
                </a:solidFill>
                <a:latin typeface="微软雅黑" panose="020B0503020204020204" pitchFamily="34" charset="-122"/>
                <a:ea typeface="微软雅黑" panose="020B0503020204020204" pitchFamily="34" charset="-122"/>
              </a:rPr>
              <a:t>）电荷转移法</a:t>
            </a:r>
            <a:endParaRPr lang="zh-CN" altLang="en-US" sz="2400">
              <a:solidFill>
                <a:srgbClr val="0070C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2">
            <a:extLst>
              <a:ext uri="{FF2B5EF4-FFF2-40B4-BE49-F238E27FC236}">
                <a16:creationId xmlns:a16="http://schemas.microsoft.com/office/drawing/2014/main" id="{0CC32122-89C0-40CC-AECE-DD737054FA83}"/>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4FAD6CF9-90F5-4D49-AC2E-3DAF261D392E}" type="slidenum">
              <a:rPr lang="en-US" altLang="zh-CN" smtClean="0"/>
              <a:pPr/>
              <a:t>46</a:t>
            </a:fld>
            <a:endParaRPr lang="en-US" altLang="zh-CN"/>
          </a:p>
        </p:txBody>
      </p:sp>
      <p:sp>
        <p:nvSpPr>
          <p:cNvPr id="6" name="矩形 5">
            <a:extLst>
              <a:ext uri="{FF2B5EF4-FFF2-40B4-BE49-F238E27FC236}">
                <a16:creationId xmlns:a16="http://schemas.microsoft.com/office/drawing/2014/main" id="{6EC27DBC-51A8-403D-A8C8-0746747532AC}"/>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79876" name="Text Box 2">
            <a:extLst>
              <a:ext uri="{FF2B5EF4-FFF2-40B4-BE49-F238E27FC236}">
                <a16:creationId xmlns:a16="http://schemas.microsoft.com/office/drawing/2014/main" id="{062F20B0-8D51-4947-BB49-4327BC5EE68F}"/>
              </a:ext>
            </a:extLst>
          </p:cNvPr>
          <p:cNvSpPr txBox="1">
            <a:spLocks noChangeArrowheads="1"/>
          </p:cNvSpPr>
          <p:nvPr/>
        </p:nvSpPr>
        <p:spPr bwMode="auto">
          <a:xfrm>
            <a:off x="155575" y="115888"/>
            <a:ext cx="880903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4.2 </a:t>
            </a:r>
            <a:r>
              <a:rPr kumimoji="1" lang="zh-CN" altLang="en-US" sz="2800" b="1">
                <a:solidFill>
                  <a:srgbClr val="C00000"/>
                </a:solidFill>
                <a:latin typeface="微软雅黑" panose="020B0503020204020204" pitchFamily="34" charset="-122"/>
                <a:ea typeface="微软雅黑" panose="020B0503020204020204" pitchFamily="34" charset="-122"/>
              </a:rPr>
              <a:t>寄生与分布电容的影响</a:t>
            </a:r>
          </a:p>
        </p:txBody>
      </p:sp>
      <p:sp>
        <p:nvSpPr>
          <p:cNvPr id="79877" name="矩形 7">
            <a:extLst>
              <a:ext uri="{FF2B5EF4-FFF2-40B4-BE49-F238E27FC236}">
                <a16:creationId xmlns:a16="http://schemas.microsoft.com/office/drawing/2014/main" id="{0F7E9DD1-FAF8-4454-8E42-F3FD3F40A178}"/>
              </a:ext>
            </a:extLst>
          </p:cNvPr>
          <p:cNvSpPr>
            <a:spLocks noChangeArrowheads="1"/>
          </p:cNvSpPr>
          <p:nvPr/>
        </p:nvSpPr>
        <p:spPr bwMode="auto">
          <a:xfrm>
            <a:off x="328613" y="925513"/>
            <a:ext cx="25288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400" b="1" dirty="0">
                <a:solidFill>
                  <a:srgbClr val="0000FF"/>
                </a:solidFill>
                <a:latin typeface="微软雅黑" panose="020B0503020204020204" pitchFamily="34" charset="-122"/>
                <a:ea typeface="微软雅黑" panose="020B0503020204020204" pitchFamily="34" charset="-122"/>
              </a:rPr>
              <a:t>1</a:t>
            </a:r>
            <a:r>
              <a:rPr lang="zh-CN" altLang="en-US" sz="2400" b="1" dirty="0">
                <a:solidFill>
                  <a:srgbClr val="0000FF"/>
                </a:solidFill>
                <a:latin typeface="微软雅黑" panose="020B0503020204020204" pitchFamily="34" charset="-122"/>
                <a:ea typeface="微软雅黑" panose="020B0503020204020204" pitchFamily="34" charset="-122"/>
              </a:rPr>
              <a:t>）驱动电缆技术</a:t>
            </a:r>
            <a:endParaRPr lang="zh-CN" altLang="en-US" sz="2400" dirty="0"/>
          </a:p>
        </p:txBody>
      </p:sp>
      <p:sp>
        <p:nvSpPr>
          <p:cNvPr id="79878" name="矩形 2">
            <a:extLst>
              <a:ext uri="{FF2B5EF4-FFF2-40B4-BE49-F238E27FC236}">
                <a16:creationId xmlns:a16="http://schemas.microsoft.com/office/drawing/2014/main" id="{4ECEECCE-A444-446A-80FE-C2824EBE47C6}"/>
              </a:ext>
            </a:extLst>
          </p:cNvPr>
          <p:cNvSpPr>
            <a:spLocks noChangeArrowheads="1"/>
          </p:cNvSpPr>
          <p:nvPr/>
        </p:nvSpPr>
        <p:spPr bwMode="auto">
          <a:xfrm>
            <a:off x="539750" y="1341438"/>
            <a:ext cx="7488238"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b="1" dirty="0">
                <a:solidFill>
                  <a:schemeClr val="tx2"/>
                </a:solidFill>
                <a:latin typeface="微软雅黑" panose="020B0503020204020204" pitchFamily="34" charset="-122"/>
                <a:ea typeface="微软雅黑" panose="020B0503020204020204" pitchFamily="34" charset="-122"/>
              </a:rPr>
              <a:t>思路：</a:t>
            </a:r>
            <a:r>
              <a:rPr lang="zh-CN" altLang="en-US" sz="2000" b="1" dirty="0">
                <a:latin typeface="微软雅黑" panose="020B0503020204020204" pitchFamily="34" charset="-122"/>
                <a:ea typeface="微软雅黑" panose="020B0503020204020204" pitchFamily="34" charset="-122"/>
              </a:rPr>
              <a:t>屏蔽层跟踪电容的极板电位，使二者电位保持一致（幅值、相位必需一致）</a:t>
            </a:r>
            <a:endParaRPr lang="en-US" altLang="zh-CN" sz="2000" b="1" dirty="0">
              <a:latin typeface="微软雅黑" panose="020B0503020204020204" pitchFamily="34" charset="-122"/>
              <a:ea typeface="微软雅黑" panose="020B0503020204020204" pitchFamily="34" charset="-122"/>
            </a:endParaRPr>
          </a:p>
          <a:p>
            <a:pPr>
              <a:spcBef>
                <a:spcPct val="0"/>
              </a:spcBef>
              <a:buFontTx/>
              <a:buNone/>
            </a:pPr>
            <a:r>
              <a:rPr lang="zh-CN" altLang="en-US" sz="2000" b="1" dirty="0">
                <a:solidFill>
                  <a:srgbClr val="FF0000"/>
                </a:solidFill>
                <a:latin typeface="微软雅黑" panose="020B0503020204020204" pitchFamily="34" charset="-122"/>
                <a:ea typeface="微软雅黑" panose="020B0503020204020204" pitchFamily="34" charset="-122"/>
              </a:rPr>
              <a:t>原理：</a:t>
            </a:r>
            <a:r>
              <a:rPr lang="zh-CN" altLang="zh-CN" sz="2000" b="1" dirty="0">
                <a:latin typeface="微软雅黑" panose="020B0503020204020204" pitchFamily="34" charset="-122"/>
                <a:ea typeface="微软雅黑" panose="020B0503020204020204" pitchFamily="34" charset="-122"/>
              </a:rPr>
              <a:t>芯线和内层屏蔽层之间的</a:t>
            </a:r>
            <a:r>
              <a:rPr lang="zh-CN" altLang="en-US" sz="2000" b="1" dirty="0">
                <a:latin typeface="微软雅黑" panose="020B0503020204020204" pitchFamily="34" charset="-122"/>
                <a:ea typeface="微软雅黑" panose="020B0503020204020204" pitchFamily="34" charset="-122"/>
              </a:rPr>
              <a:t>分布</a:t>
            </a:r>
            <a:r>
              <a:rPr lang="zh-CN" altLang="zh-CN" sz="2000" b="1" dirty="0">
                <a:latin typeface="微软雅黑" panose="020B0503020204020204" pitchFamily="34" charset="-122"/>
                <a:ea typeface="微软雅黑" panose="020B0503020204020204" pitchFamily="34" charset="-122"/>
              </a:rPr>
              <a:t>电容由于两端电位相等，表现为</a:t>
            </a:r>
            <a:r>
              <a:rPr lang="zh-CN" altLang="en-US" sz="2000" b="1" dirty="0">
                <a:solidFill>
                  <a:srgbClr val="0070C0"/>
                </a:solidFill>
                <a:highlight>
                  <a:srgbClr val="FFFF00"/>
                </a:highlight>
                <a:latin typeface="微软雅黑" panose="020B0503020204020204" pitchFamily="34" charset="-122"/>
                <a:ea typeface="微软雅黑" panose="020B0503020204020204" pitchFamily="34" charset="-122"/>
              </a:rPr>
              <a:t>既</a:t>
            </a:r>
            <a:r>
              <a:rPr lang="zh-CN" altLang="zh-CN" sz="2000" b="1" dirty="0">
                <a:solidFill>
                  <a:srgbClr val="0070C0"/>
                </a:solidFill>
                <a:highlight>
                  <a:srgbClr val="FFFF00"/>
                </a:highlight>
                <a:latin typeface="微软雅黑" panose="020B0503020204020204" pitchFamily="34" charset="-122"/>
                <a:ea typeface="微软雅黑" panose="020B0503020204020204" pitchFamily="34" charset="-122"/>
              </a:rPr>
              <a:t>不吸收电荷也不释放电荷</a:t>
            </a:r>
            <a:r>
              <a:rPr lang="zh-CN" altLang="zh-CN" sz="2000" b="1" dirty="0">
                <a:latin typeface="微软雅黑" panose="020B0503020204020204" pitchFamily="34" charset="-122"/>
                <a:ea typeface="微软雅黑" panose="020B0503020204020204" pitchFamily="34" charset="-122"/>
              </a:rPr>
              <a:t>，对电容传感器</a:t>
            </a:r>
            <a:r>
              <a:rPr lang="en-US" altLang="zh-CN" sz="2000" b="1" dirty="0">
                <a:latin typeface="微软雅黑" panose="020B0503020204020204" pitchFamily="34" charset="-122"/>
                <a:ea typeface="微软雅黑" panose="020B0503020204020204" pitchFamily="34" charset="-122"/>
              </a:rPr>
              <a:t>C</a:t>
            </a:r>
            <a:r>
              <a:rPr lang="en-US" altLang="zh-CN" sz="2000" b="1" baseline="-25000" dirty="0">
                <a:latin typeface="微软雅黑" panose="020B0503020204020204" pitchFamily="34" charset="-122"/>
                <a:ea typeface="微软雅黑" panose="020B0503020204020204" pitchFamily="34" charset="-122"/>
              </a:rPr>
              <a:t>X</a:t>
            </a:r>
            <a:r>
              <a:rPr lang="zh-CN" altLang="zh-CN" sz="2000" b="1" dirty="0">
                <a:latin typeface="微软雅黑" panose="020B0503020204020204" pitchFamily="34" charset="-122"/>
                <a:ea typeface="微软雅黑" panose="020B0503020204020204" pitchFamily="34" charset="-122"/>
              </a:rPr>
              <a:t>没有影响。</a:t>
            </a:r>
            <a:endParaRPr lang="en-US" altLang="zh-CN" sz="2000" b="1" dirty="0">
              <a:latin typeface="微软雅黑" panose="020B0503020204020204" pitchFamily="34" charset="-122"/>
              <a:ea typeface="微软雅黑" panose="020B0503020204020204" pitchFamily="34" charset="-122"/>
            </a:endParaRPr>
          </a:p>
        </p:txBody>
      </p:sp>
      <p:pic>
        <p:nvPicPr>
          <p:cNvPr id="79879" name="图片 3">
            <a:extLst>
              <a:ext uri="{FF2B5EF4-FFF2-40B4-BE49-F238E27FC236}">
                <a16:creationId xmlns:a16="http://schemas.microsoft.com/office/drawing/2014/main" id="{1621C57C-E327-48C0-9E55-381B3E80E1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 y="2646363"/>
            <a:ext cx="7713663" cy="288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a:extLst>
              <a:ext uri="{FF2B5EF4-FFF2-40B4-BE49-F238E27FC236}">
                <a16:creationId xmlns:a16="http://schemas.microsoft.com/office/drawing/2014/main" id="{C7DF6351-F648-4CEE-A0CF-273C6E976192}"/>
              </a:ext>
            </a:extLst>
          </p:cNvPr>
          <p:cNvSpPr/>
          <p:nvPr/>
        </p:nvSpPr>
        <p:spPr>
          <a:xfrm>
            <a:off x="611188" y="5241925"/>
            <a:ext cx="7921252" cy="1323439"/>
          </a:xfrm>
          <a:prstGeom prst="rect">
            <a:avLst/>
          </a:prstGeom>
        </p:spPr>
        <p:txBody>
          <a:bodyPr wrap="square">
            <a:spAutoFit/>
          </a:bodyPr>
          <a:lstStyle/>
          <a:p>
            <a:pPr marL="342900" indent="-342900">
              <a:buFont typeface="Arial" panose="020B0604020202020204" pitchFamily="34" charset="0"/>
              <a:buChar char="•"/>
              <a:defRPr/>
            </a:pPr>
            <a:r>
              <a:rPr lang="zh-CN" altLang="en-US" sz="2000" b="1" dirty="0">
                <a:solidFill>
                  <a:schemeClr val="tx2"/>
                </a:solidFill>
                <a:latin typeface="微软雅黑" panose="020B0503020204020204" pitchFamily="34" charset="-122"/>
                <a:ea typeface="微软雅黑" panose="020B0503020204020204" pitchFamily="34" charset="-122"/>
              </a:rPr>
              <a:t>外屏蔽：</a:t>
            </a:r>
            <a:r>
              <a:rPr lang="zh-CN" altLang="en-US" sz="2000" b="1" dirty="0">
                <a:solidFill>
                  <a:srgbClr val="0000FF"/>
                </a:solidFill>
                <a:latin typeface="微软雅黑" panose="020B0503020204020204" pitchFamily="34" charset="-122"/>
                <a:ea typeface="微软雅黑" panose="020B0503020204020204" pitchFamily="34" charset="-122"/>
              </a:rPr>
              <a:t>单点接地</a:t>
            </a:r>
            <a:endParaRPr lang="en-US" altLang="zh-CN" sz="2000" b="1" dirty="0">
              <a:solidFill>
                <a:srgbClr val="0000FF"/>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defRPr/>
            </a:pPr>
            <a:r>
              <a:rPr lang="zh-CN" altLang="en-US" sz="2000" b="1" dirty="0">
                <a:solidFill>
                  <a:srgbClr val="FF0000"/>
                </a:solidFill>
                <a:latin typeface="微软雅黑" panose="020B0503020204020204" pitchFamily="34" charset="-122"/>
                <a:ea typeface="微软雅黑" panose="020B0503020204020204" pitchFamily="34" charset="-122"/>
              </a:rPr>
              <a:t>内屏蔽：</a:t>
            </a:r>
            <a:r>
              <a:rPr lang="en-US" altLang="zh-CN" sz="2000" b="1" dirty="0">
                <a:solidFill>
                  <a:srgbClr val="0000FF"/>
                </a:solidFill>
                <a:latin typeface="微软雅黑" panose="020B0503020204020204" pitchFamily="34" charset="-122"/>
                <a:ea typeface="微软雅黑" panose="020B0503020204020204" pitchFamily="34" charset="-122"/>
              </a:rPr>
              <a:t>1</a:t>
            </a:r>
            <a:r>
              <a:rPr lang="zh-CN" altLang="en-US" sz="2000" b="1" dirty="0">
                <a:solidFill>
                  <a:srgbClr val="0000FF"/>
                </a:solidFill>
                <a:latin typeface="微软雅黑" panose="020B0503020204020204" pitchFamily="34" charset="-122"/>
                <a:ea typeface="微软雅黑" panose="020B0503020204020204" pitchFamily="34" charset="-122"/>
              </a:rPr>
              <a:t>：</a:t>
            </a:r>
            <a:r>
              <a:rPr lang="en-US" altLang="zh-CN" sz="2000" b="1" dirty="0">
                <a:solidFill>
                  <a:srgbClr val="0000FF"/>
                </a:solidFill>
                <a:latin typeface="微软雅黑" panose="020B0503020204020204" pitchFamily="34" charset="-122"/>
                <a:ea typeface="微软雅黑" panose="020B0503020204020204" pitchFamily="34" charset="-122"/>
              </a:rPr>
              <a:t>1</a:t>
            </a:r>
            <a:r>
              <a:rPr lang="zh-CN" altLang="en-US" sz="2000" b="1" dirty="0">
                <a:solidFill>
                  <a:srgbClr val="0000FF"/>
                </a:solidFill>
                <a:latin typeface="微软雅黑" panose="020B0503020204020204" pitchFamily="34" charset="-122"/>
                <a:ea typeface="微软雅黑" panose="020B0503020204020204" pitchFamily="34" charset="-122"/>
              </a:rPr>
              <a:t>倍放大器连接</a:t>
            </a:r>
            <a:endParaRPr lang="en-US" altLang="zh-CN" sz="2000" b="1" dirty="0">
              <a:solidFill>
                <a:srgbClr val="0000FF"/>
              </a:solidFill>
              <a:latin typeface="微软雅黑" panose="020B0503020204020204" pitchFamily="34" charset="-122"/>
              <a:ea typeface="微软雅黑" panose="020B0503020204020204" pitchFamily="34" charset="-122"/>
            </a:endParaRPr>
          </a:p>
          <a:p>
            <a:pPr>
              <a:defRPr/>
            </a:pP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要求放大倍数为</a:t>
            </a: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，相移为零，</a:t>
            </a:r>
            <a:endParaRPr lang="en-US" altLang="zh-CN" sz="2000" b="1" dirty="0">
              <a:latin typeface="微软雅黑" panose="020B0503020204020204" pitchFamily="34" charset="-122"/>
              <a:ea typeface="微软雅黑" panose="020B0503020204020204" pitchFamily="34" charset="-122"/>
            </a:endParaRPr>
          </a:p>
          <a:p>
            <a:pPr>
              <a:defRPr/>
            </a:pP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且：输入阻抗无穷大，输入电容为</a:t>
            </a:r>
            <a:r>
              <a:rPr lang="en-US" altLang="zh-CN" sz="2000" b="1" dirty="0">
                <a:latin typeface="微软雅黑" panose="020B0503020204020204" pitchFamily="34" charset="-122"/>
                <a:ea typeface="微软雅黑" panose="020B0503020204020204" pitchFamily="34" charset="-122"/>
              </a:rPr>
              <a:t>0</a:t>
            </a:r>
            <a:r>
              <a:rPr lang="zh-CN" altLang="en-US" sz="2000" b="1" dirty="0">
                <a:latin typeface="微软雅黑" panose="020B0503020204020204" pitchFamily="34" charset="-122"/>
                <a:ea typeface="微软雅黑" panose="020B0503020204020204" pitchFamily="34" charset="-122"/>
              </a:rPr>
              <a:t>，无相移</a:t>
            </a:r>
            <a:r>
              <a:rPr lang="en-US" altLang="zh-CN" sz="2000" b="1" dirty="0">
                <a:latin typeface="微软雅黑" panose="020B0503020204020204" pitchFamily="34" charset="-122"/>
                <a:ea typeface="微软雅黑" panose="020B0503020204020204" pitchFamily="34" charset="-122"/>
              </a:rPr>
              <a:t>—</a:t>
            </a:r>
            <a:r>
              <a:rPr lang="zh-CN" altLang="en-US" sz="2000" b="1" dirty="0">
                <a:solidFill>
                  <a:srgbClr val="0099FF"/>
                </a:solidFill>
                <a:latin typeface="微软雅黑" panose="020B0503020204020204" pitchFamily="34" charset="-122"/>
                <a:ea typeface="微软雅黑" panose="020B0503020204020204" pitchFamily="34" charset="-122"/>
              </a:rPr>
              <a:t>难满足</a:t>
            </a:r>
            <a:endParaRPr lang="en-US" altLang="zh-CN" sz="2000" b="1" dirty="0">
              <a:solidFill>
                <a:srgbClr val="0099FF"/>
              </a:solidFill>
              <a:latin typeface="微软雅黑" panose="020B0503020204020204" pitchFamily="34" charset="-122"/>
              <a:ea typeface="微软雅黑" panose="020B0503020204020204" pitchFamily="34" charset="-122"/>
            </a:endParaRPr>
          </a:p>
        </p:txBody>
      </p:sp>
      <p:cxnSp>
        <p:nvCxnSpPr>
          <p:cNvPr id="3" name="直接箭头连接符 2">
            <a:extLst>
              <a:ext uri="{FF2B5EF4-FFF2-40B4-BE49-F238E27FC236}">
                <a16:creationId xmlns:a16="http://schemas.microsoft.com/office/drawing/2014/main" id="{6E09CD7D-4473-41AA-A2BA-B291CA121ABC}"/>
              </a:ext>
            </a:extLst>
          </p:cNvPr>
          <p:cNvCxnSpPr/>
          <p:nvPr/>
        </p:nvCxnSpPr>
        <p:spPr>
          <a:xfrm flipV="1">
            <a:off x="3131840" y="5157192"/>
            <a:ext cx="1584176" cy="288032"/>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6F2A93BD-2DAA-46A9-9BDF-0CCD337952EF}"/>
              </a:ext>
            </a:extLst>
          </p:cNvPr>
          <p:cNvSpPr/>
          <p:nvPr/>
        </p:nvSpPr>
        <p:spPr>
          <a:xfrm>
            <a:off x="4783524" y="4972526"/>
            <a:ext cx="2481770" cy="400110"/>
          </a:xfrm>
          <a:prstGeom prst="rect">
            <a:avLst/>
          </a:prstGeom>
        </p:spPr>
        <p:txBody>
          <a:bodyPr wrap="none">
            <a:spAutoFit/>
          </a:bodyPr>
          <a:lstStyle/>
          <a:p>
            <a:r>
              <a:rPr lang="zh-CN" altLang="en-US" sz="2000" b="1" dirty="0">
                <a:solidFill>
                  <a:srgbClr val="FFC000"/>
                </a:solidFill>
                <a:latin typeface="微软雅黑" panose="020B0503020204020204" pitchFamily="34" charset="-122"/>
                <a:ea typeface="微软雅黑" panose="020B0503020204020204" pitchFamily="34" charset="-122"/>
              </a:rPr>
              <a:t>为什么要单点接地？</a:t>
            </a:r>
            <a:endParaRPr lang="zh-CN" altLang="en-US" sz="2000" dirty="0">
              <a:solidFill>
                <a:srgbClr val="FFC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2">
            <a:extLst>
              <a:ext uri="{FF2B5EF4-FFF2-40B4-BE49-F238E27FC236}">
                <a16:creationId xmlns:a16="http://schemas.microsoft.com/office/drawing/2014/main" id="{302E5DD9-502A-47A0-BAD4-69ED67114DBD}"/>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A288ABE-C38C-4077-B50B-CCBBE0F45F17}" type="slidenum">
              <a:rPr lang="en-US" altLang="zh-CN" smtClean="0"/>
              <a:pPr/>
              <a:t>47</a:t>
            </a:fld>
            <a:endParaRPr lang="en-US" altLang="zh-CN"/>
          </a:p>
        </p:txBody>
      </p:sp>
      <p:sp>
        <p:nvSpPr>
          <p:cNvPr id="6" name="矩形 5">
            <a:extLst>
              <a:ext uri="{FF2B5EF4-FFF2-40B4-BE49-F238E27FC236}">
                <a16:creationId xmlns:a16="http://schemas.microsoft.com/office/drawing/2014/main" id="{0B0FD49E-7442-42A8-BF1C-73BD2B9A4BDA}"/>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80900" name="Text Box 2">
            <a:extLst>
              <a:ext uri="{FF2B5EF4-FFF2-40B4-BE49-F238E27FC236}">
                <a16:creationId xmlns:a16="http://schemas.microsoft.com/office/drawing/2014/main" id="{243D6FC0-1011-46C6-9CD1-E8DA42477118}"/>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4.3 </a:t>
            </a:r>
            <a:r>
              <a:rPr kumimoji="1" lang="zh-CN" altLang="en-US" sz="2800" b="1">
                <a:solidFill>
                  <a:srgbClr val="C00000"/>
                </a:solidFill>
                <a:latin typeface="微软雅黑" panose="020B0503020204020204" pitchFamily="34" charset="-122"/>
                <a:ea typeface="微软雅黑" panose="020B0503020204020204" pitchFamily="34" charset="-122"/>
              </a:rPr>
              <a:t>寄生与分布电容的影响</a:t>
            </a:r>
          </a:p>
        </p:txBody>
      </p:sp>
      <p:sp>
        <p:nvSpPr>
          <p:cNvPr id="80901" name="矩形 1">
            <a:extLst>
              <a:ext uri="{FF2B5EF4-FFF2-40B4-BE49-F238E27FC236}">
                <a16:creationId xmlns:a16="http://schemas.microsoft.com/office/drawing/2014/main" id="{5E011979-0CBD-448B-A1C5-4C071C5CE4B7}"/>
              </a:ext>
            </a:extLst>
          </p:cNvPr>
          <p:cNvSpPr>
            <a:spLocks noChangeArrowheads="1"/>
          </p:cNvSpPr>
          <p:nvPr/>
        </p:nvSpPr>
        <p:spPr bwMode="auto">
          <a:xfrm>
            <a:off x="431800" y="1071563"/>
            <a:ext cx="37830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400" b="1">
                <a:solidFill>
                  <a:srgbClr val="0000FF"/>
                </a:solidFill>
                <a:latin typeface="微软雅黑" panose="020B0503020204020204" pitchFamily="34" charset="-122"/>
                <a:ea typeface="微软雅黑" panose="020B0503020204020204" pitchFamily="34" charset="-122"/>
              </a:rPr>
              <a:t>1</a:t>
            </a:r>
            <a:r>
              <a:rPr lang="zh-CN" altLang="en-US" sz="2400" b="1">
                <a:solidFill>
                  <a:srgbClr val="0000FF"/>
                </a:solidFill>
                <a:latin typeface="微软雅黑" panose="020B0503020204020204" pitchFamily="34" charset="-122"/>
                <a:ea typeface="微软雅黑" panose="020B0503020204020204" pitchFamily="34" charset="-122"/>
              </a:rPr>
              <a:t>）驱动电缆技术</a:t>
            </a:r>
            <a:r>
              <a:rPr lang="en-US" altLang="zh-CN" sz="2400" b="1">
                <a:solidFill>
                  <a:srgbClr val="0000FF"/>
                </a:solidFill>
                <a:latin typeface="微软雅黑" panose="020B0503020204020204" pitchFamily="34" charset="-122"/>
                <a:ea typeface="微软雅黑" panose="020B0503020204020204" pitchFamily="34" charset="-122"/>
              </a:rPr>
              <a:t>—</a:t>
            </a:r>
            <a:r>
              <a:rPr lang="zh-CN" altLang="en-US" sz="2400" b="1">
                <a:solidFill>
                  <a:srgbClr val="0000FF"/>
                </a:solidFill>
                <a:latin typeface="微软雅黑" panose="020B0503020204020204" pitchFamily="34" charset="-122"/>
                <a:ea typeface="微软雅黑" panose="020B0503020204020204" pitchFamily="34" charset="-122"/>
              </a:rPr>
              <a:t>改进型</a:t>
            </a:r>
            <a:endParaRPr lang="zh-CN" altLang="en-US" sz="2400"/>
          </a:p>
        </p:txBody>
      </p:sp>
      <p:sp>
        <p:nvSpPr>
          <p:cNvPr id="9" name="矩形 8">
            <a:extLst>
              <a:ext uri="{FF2B5EF4-FFF2-40B4-BE49-F238E27FC236}">
                <a16:creationId xmlns:a16="http://schemas.microsoft.com/office/drawing/2014/main" id="{E3051EDE-D121-4451-947E-DD5E0D512694}"/>
              </a:ext>
            </a:extLst>
          </p:cNvPr>
          <p:cNvSpPr/>
          <p:nvPr/>
        </p:nvSpPr>
        <p:spPr>
          <a:xfrm>
            <a:off x="569913" y="1700213"/>
            <a:ext cx="6767512" cy="1631950"/>
          </a:xfrm>
          <a:prstGeom prst="rect">
            <a:avLst/>
          </a:prstGeom>
        </p:spPr>
        <p:txBody>
          <a:bodyPr>
            <a:spAutoFit/>
          </a:bodyPr>
          <a:lstStyle/>
          <a:p>
            <a:pPr marL="342900" indent="-342900">
              <a:buFont typeface="Arial" panose="020B0604020202020204" pitchFamily="34" charset="0"/>
              <a:buChar char="•"/>
              <a:defRPr/>
            </a:pPr>
            <a:r>
              <a:rPr lang="zh-CN" altLang="en-US" sz="2000" b="1" dirty="0">
                <a:latin typeface="微软雅黑" panose="020B0503020204020204" pitchFamily="34" charset="-122"/>
                <a:ea typeface="微软雅黑" panose="020B0503020204020204" pitchFamily="34" charset="-122"/>
              </a:rPr>
              <a:t>放大器</a:t>
            </a:r>
            <a:r>
              <a:rPr lang="en-US" altLang="zh-CN" sz="2000" b="1" dirty="0">
                <a:latin typeface="微软雅黑" panose="020B0503020204020204" pitchFamily="34" charset="-122"/>
                <a:ea typeface="微软雅黑" panose="020B0503020204020204" pitchFamily="34" charset="-122"/>
              </a:rPr>
              <a:t>2</a:t>
            </a:r>
            <a:r>
              <a:rPr lang="zh-CN" altLang="en-US" sz="2000" b="1" dirty="0">
                <a:latin typeface="微软雅黑" panose="020B0503020204020204" pitchFamily="34" charset="-122"/>
                <a:ea typeface="微软雅黑" panose="020B0503020204020204" pitchFamily="34" charset="-122"/>
              </a:rPr>
              <a:t>为驱动电缆，其输入电容为放大器</a:t>
            </a: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的负载，因而无附加电容与</a:t>
            </a:r>
            <a:r>
              <a:rPr lang="en-US" altLang="zh-CN" sz="2000" b="1" dirty="0" err="1">
                <a:latin typeface="微软雅黑" panose="020B0503020204020204" pitchFamily="34" charset="-122"/>
                <a:ea typeface="微软雅黑" panose="020B0503020204020204" pitchFamily="34" charset="-122"/>
              </a:rPr>
              <a:t>Cx</a:t>
            </a:r>
            <a:r>
              <a:rPr lang="zh-CN" altLang="en-US" sz="2000" b="1" dirty="0">
                <a:latin typeface="微软雅黑" panose="020B0503020204020204" pitchFamily="34" charset="-122"/>
                <a:ea typeface="微软雅黑" panose="020B0503020204020204" pitchFamily="34" charset="-122"/>
              </a:rPr>
              <a:t>并联</a:t>
            </a:r>
            <a:endParaRPr lang="en-US" altLang="zh-CN" sz="2000" b="1"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defRPr/>
            </a:pPr>
            <a:endParaRPr lang="en-US" altLang="zh-CN" sz="2000" b="1"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defRPr/>
            </a:pPr>
            <a:r>
              <a:rPr lang="zh-CN" altLang="en-US" sz="2000" b="1" dirty="0">
                <a:latin typeface="微软雅黑" panose="020B0503020204020204" pitchFamily="34" charset="-122"/>
                <a:ea typeface="微软雅黑" panose="020B0503020204020204" pitchFamily="34" charset="-122"/>
              </a:rPr>
              <a:t>只需两放大器的放大倍数满足：</a:t>
            </a:r>
            <a:endParaRPr lang="en-US" altLang="zh-CN" sz="2000" b="1" dirty="0">
              <a:latin typeface="微软雅黑" panose="020B0503020204020204" pitchFamily="34" charset="-122"/>
              <a:ea typeface="微软雅黑" panose="020B0503020204020204" pitchFamily="34" charset="-122"/>
            </a:endParaRPr>
          </a:p>
          <a:p>
            <a:pPr>
              <a:defRPr/>
            </a:pPr>
            <a:r>
              <a:rPr lang="en-US" altLang="zh-CN" sz="2000" b="1" dirty="0">
                <a:latin typeface="微软雅黑" panose="020B0503020204020204" pitchFamily="34" charset="-122"/>
                <a:ea typeface="微软雅黑" panose="020B0503020204020204" pitchFamily="34" charset="-122"/>
              </a:rPr>
              <a:t>    (</a:t>
            </a:r>
            <a:r>
              <a:rPr lang="zh-CN" altLang="en-US" sz="2000" b="1" dirty="0">
                <a:solidFill>
                  <a:srgbClr val="00B0F0"/>
                </a:solidFill>
                <a:latin typeface="微软雅黑" panose="020B0503020204020204" pitchFamily="34" charset="-122"/>
                <a:ea typeface="微软雅黑" panose="020B0503020204020204" pitchFamily="34" charset="-122"/>
              </a:rPr>
              <a:t>推导过程参见教材</a:t>
            </a:r>
            <a:r>
              <a:rPr lang="en-US" altLang="zh-CN" sz="2000" b="1" dirty="0">
                <a:solidFill>
                  <a:srgbClr val="00B0F0"/>
                </a:solidFill>
                <a:latin typeface="微软雅黑" panose="020B0503020204020204" pitchFamily="34" charset="-122"/>
                <a:ea typeface="微软雅黑" panose="020B0503020204020204" pitchFamily="34" charset="-122"/>
              </a:rPr>
              <a:t>P60</a:t>
            </a:r>
            <a:r>
              <a:rPr lang="en-US" altLang="zh-CN" sz="2000" b="1" dirty="0">
                <a:latin typeface="微软雅黑" panose="020B0503020204020204" pitchFamily="34" charset="-122"/>
                <a:ea typeface="微软雅黑" panose="020B0503020204020204" pitchFamily="34" charset="-122"/>
              </a:rPr>
              <a:t>)</a:t>
            </a:r>
          </a:p>
        </p:txBody>
      </p:sp>
      <p:pic>
        <p:nvPicPr>
          <p:cNvPr id="80903" name="图片 3">
            <a:extLst>
              <a:ext uri="{FF2B5EF4-FFF2-40B4-BE49-F238E27FC236}">
                <a16:creationId xmlns:a16="http://schemas.microsoft.com/office/drawing/2014/main" id="{71E3A68B-187C-4817-AB48-0CF927423B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0063" y="3735388"/>
            <a:ext cx="5022850" cy="284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C90BA853-9A17-4AEB-BC3B-E74681D8C298}"/>
              </a:ext>
            </a:extLst>
          </p:cNvPr>
          <p:cNvSpPr txBox="1">
            <a:spLocks noRot="1" noChangeAspect="1" noMove="1" noResize="1" noEditPoints="1" noAdjustHandles="1" noChangeArrowheads="1" noChangeShapeType="1" noTextEdit="1"/>
          </p:cNvSpPr>
          <p:nvPr/>
        </p:nvSpPr>
        <p:spPr>
          <a:xfrm>
            <a:off x="4860032" y="2640553"/>
            <a:ext cx="1557862" cy="691471"/>
          </a:xfrm>
          <a:prstGeom prst="rect">
            <a:avLst/>
          </a:prstGeom>
          <a:blipFill>
            <a:blip r:embed="rId3"/>
            <a:stretch>
              <a:fillRect/>
            </a:stretch>
          </a:blipFill>
          <a:ln>
            <a:noFill/>
          </a:ln>
          <a:effectLst>
            <a:outerShdw blurRad="50800" dist="38100" dir="5400000" algn="t" rotWithShape="0">
              <a:prstClr val="black">
                <a:alpha val="40000"/>
              </a:prstClr>
            </a:outerShdw>
          </a:effectLst>
        </p:spPr>
        <p:txBody>
          <a:bodyPr/>
          <a:lstStyle/>
          <a:p>
            <a:pPr>
              <a:defRPr/>
            </a:pPr>
            <a:r>
              <a:rPr lang="zh-CN" altLang="en-US">
                <a:noFill/>
              </a:rPr>
              <a: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2">
            <a:extLst>
              <a:ext uri="{FF2B5EF4-FFF2-40B4-BE49-F238E27FC236}">
                <a16:creationId xmlns:a16="http://schemas.microsoft.com/office/drawing/2014/main" id="{E89DFB41-3F6B-4ABE-AEB5-F5989BD9CF3C}"/>
              </a:ext>
            </a:extLst>
          </p:cNvPr>
          <p:cNvSpPr>
            <a:spLocks noGrp="1"/>
          </p:cNvSpPr>
          <p:nvPr>
            <p:ph type="sldNum" sz="quarter" idx="12"/>
          </p:nvPr>
        </p:nvSpPr>
        <p:spPr>
          <a:xfrm>
            <a:off x="6718300" y="6288088"/>
            <a:ext cx="1905000" cy="377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D1EC6412-4DDE-4D18-9544-313C7B0414C0}" type="slidenum">
              <a:rPr lang="en-US" altLang="zh-CN" smtClean="0"/>
              <a:pPr/>
              <a:t>48</a:t>
            </a:fld>
            <a:endParaRPr lang="en-US" altLang="zh-CN"/>
          </a:p>
        </p:txBody>
      </p:sp>
      <p:sp>
        <p:nvSpPr>
          <p:cNvPr id="6" name="矩形 5">
            <a:extLst>
              <a:ext uri="{FF2B5EF4-FFF2-40B4-BE49-F238E27FC236}">
                <a16:creationId xmlns:a16="http://schemas.microsoft.com/office/drawing/2014/main" id="{718C46BC-8741-4AF2-BFF0-10A21B136A0D}"/>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81924" name="Text Box 2">
            <a:extLst>
              <a:ext uri="{FF2B5EF4-FFF2-40B4-BE49-F238E27FC236}">
                <a16:creationId xmlns:a16="http://schemas.microsoft.com/office/drawing/2014/main" id="{4F8776B8-FAA1-4B97-8FB6-C84229786FE3}"/>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4.2</a:t>
            </a:r>
            <a:r>
              <a:rPr kumimoji="1" lang="zh-CN" altLang="en-US" sz="2800" b="1">
                <a:solidFill>
                  <a:srgbClr val="C00000"/>
                </a:solidFill>
                <a:latin typeface="微软雅黑" panose="020B0503020204020204" pitchFamily="34" charset="-122"/>
                <a:ea typeface="微软雅黑" panose="020B0503020204020204" pitchFamily="34" charset="-122"/>
              </a:rPr>
              <a:t>寄生与分布电容的影响</a:t>
            </a:r>
          </a:p>
        </p:txBody>
      </p:sp>
      <p:sp>
        <p:nvSpPr>
          <p:cNvPr id="81925" name="矩形 8">
            <a:extLst>
              <a:ext uri="{FF2B5EF4-FFF2-40B4-BE49-F238E27FC236}">
                <a16:creationId xmlns:a16="http://schemas.microsoft.com/office/drawing/2014/main" id="{8CA900A7-4715-428B-9FF0-F9922047A4BF}"/>
              </a:ext>
            </a:extLst>
          </p:cNvPr>
          <p:cNvSpPr>
            <a:spLocks noChangeArrowheads="1"/>
          </p:cNvSpPr>
          <p:nvPr/>
        </p:nvSpPr>
        <p:spPr bwMode="auto">
          <a:xfrm>
            <a:off x="328613" y="925513"/>
            <a:ext cx="22161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400" b="1">
                <a:solidFill>
                  <a:srgbClr val="0000FF"/>
                </a:solidFill>
                <a:latin typeface="微软雅黑" panose="020B0503020204020204" pitchFamily="34" charset="-122"/>
                <a:ea typeface="微软雅黑" panose="020B0503020204020204" pitchFamily="34" charset="-122"/>
              </a:rPr>
              <a:t>2</a:t>
            </a:r>
            <a:r>
              <a:rPr lang="zh-CN" altLang="en-US" sz="2400" b="1">
                <a:solidFill>
                  <a:srgbClr val="0000FF"/>
                </a:solidFill>
                <a:latin typeface="微软雅黑" panose="020B0503020204020204" pitchFamily="34" charset="-122"/>
                <a:ea typeface="微软雅黑" panose="020B0503020204020204" pitchFamily="34" charset="-122"/>
              </a:rPr>
              <a:t>）电荷转移法</a:t>
            </a:r>
            <a:endParaRPr lang="zh-CN" altLang="en-US" sz="2400"/>
          </a:p>
        </p:txBody>
      </p:sp>
      <p:sp>
        <p:nvSpPr>
          <p:cNvPr id="81926" name="Line 5">
            <a:extLst>
              <a:ext uri="{FF2B5EF4-FFF2-40B4-BE49-F238E27FC236}">
                <a16:creationId xmlns:a16="http://schemas.microsoft.com/office/drawing/2014/main" id="{C909E976-414F-4797-AF6A-425CB54357BE}"/>
              </a:ext>
            </a:extLst>
          </p:cNvPr>
          <p:cNvSpPr>
            <a:spLocks noChangeShapeType="1"/>
          </p:cNvSpPr>
          <p:nvPr/>
        </p:nvSpPr>
        <p:spPr bwMode="auto">
          <a:xfrm flipH="1" flipV="1">
            <a:off x="2998788" y="2281238"/>
            <a:ext cx="90487" cy="155575"/>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27" name="Freeform 6">
            <a:extLst>
              <a:ext uri="{FF2B5EF4-FFF2-40B4-BE49-F238E27FC236}">
                <a16:creationId xmlns:a16="http://schemas.microsoft.com/office/drawing/2014/main" id="{F9EBD1A9-A58A-4C39-A8B9-809593486BEE}"/>
              </a:ext>
            </a:extLst>
          </p:cNvPr>
          <p:cNvSpPr>
            <a:spLocks noEditPoints="1"/>
          </p:cNvSpPr>
          <p:nvPr/>
        </p:nvSpPr>
        <p:spPr bwMode="auto">
          <a:xfrm>
            <a:off x="3089275" y="1968500"/>
            <a:ext cx="0" cy="779463"/>
          </a:xfrm>
          <a:custGeom>
            <a:avLst/>
            <a:gdLst>
              <a:gd name="T0" fmla="*/ 528335272 h 460"/>
              <a:gd name="T1" fmla="*/ 0 h 460"/>
              <a:gd name="T2" fmla="*/ 1320839027 h 460"/>
              <a:gd name="T3" fmla="*/ 792503755 h 460"/>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460">
                <a:moveTo>
                  <a:pt x="0" y="184"/>
                </a:moveTo>
                <a:lnTo>
                  <a:pt x="0" y="0"/>
                </a:lnTo>
                <a:moveTo>
                  <a:pt x="0" y="460"/>
                </a:moveTo>
                <a:lnTo>
                  <a:pt x="0" y="276"/>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28" name="Line 7">
            <a:extLst>
              <a:ext uri="{FF2B5EF4-FFF2-40B4-BE49-F238E27FC236}">
                <a16:creationId xmlns:a16="http://schemas.microsoft.com/office/drawing/2014/main" id="{CBFD6A9D-E568-467E-B463-B404EB7E6E94}"/>
              </a:ext>
            </a:extLst>
          </p:cNvPr>
          <p:cNvSpPr>
            <a:spLocks noChangeShapeType="1"/>
          </p:cNvSpPr>
          <p:nvPr/>
        </p:nvSpPr>
        <p:spPr bwMode="auto">
          <a:xfrm flipH="1" flipV="1">
            <a:off x="3005138" y="3055938"/>
            <a:ext cx="84137" cy="14605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29" name="Freeform 8">
            <a:extLst>
              <a:ext uri="{FF2B5EF4-FFF2-40B4-BE49-F238E27FC236}">
                <a16:creationId xmlns:a16="http://schemas.microsoft.com/office/drawing/2014/main" id="{C6A9F9E5-7942-4447-8792-F942994FF7BA}"/>
              </a:ext>
            </a:extLst>
          </p:cNvPr>
          <p:cNvSpPr>
            <a:spLocks noEditPoints="1"/>
          </p:cNvSpPr>
          <p:nvPr/>
        </p:nvSpPr>
        <p:spPr bwMode="auto">
          <a:xfrm>
            <a:off x="3089275" y="2767013"/>
            <a:ext cx="0" cy="725487"/>
          </a:xfrm>
          <a:custGeom>
            <a:avLst/>
            <a:gdLst>
              <a:gd name="T0" fmla="*/ 491175040 h 428"/>
              <a:gd name="T1" fmla="*/ 0 h 428"/>
              <a:gd name="T2" fmla="*/ 1229375013 h 428"/>
              <a:gd name="T3" fmla="*/ 738199973 h 428"/>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428">
                <a:moveTo>
                  <a:pt x="0" y="171"/>
                </a:moveTo>
                <a:lnTo>
                  <a:pt x="0" y="0"/>
                </a:lnTo>
                <a:moveTo>
                  <a:pt x="0" y="428"/>
                </a:moveTo>
                <a:lnTo>
                  <a:pt x="0" y="257"/>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30" name="Freeform 9">
            <a:extLst>
              <a:ext uri="{FF2B5EF4-FFF2-40B4-BE49-F238E27FC236}">
                <a16:creationId xmlns:a16="http://schemas.microsoft.com/office/drawing/2014/main" id="{320216DB-6D2A-4956-995B-E00F270FCA6A}"/>
              </a:ext>
            </a:extLst>
          </p:cNvPr>
          <p:cNvSpPr>
            <a:spLocks noEditPoints="1"/>
          </p:cNvSpPr>
          <p:nvPr/>
        </p:nvSpPr>
        <p:spPr bwMode="auto">
          <a:xfrm>
            <a:off x="3429000" y="3101975"/>
            <a:ext cx="171450" cy="36513"/>
          </a:xfrm>
          <a:custGeom>
            <a:avLst/>
            <a:gdLst>
              <a:gd name="T0" fmla="*/ 333863806 w 88"/>
              <a:gd name="T1" fmla="*/ 61873887 h 21"/>
              <a:gd name="T2" fmla="*/ 0 w 88"/>
              <a:gd name="T3" fmla="*/ 61873887 h 21"/>
              <a:gd name="T4" fmla="*/ 333863806 w 88"/>
              <a:gd name="T5" fmla="*/ 0 h 21"/>
              <a:gd name="T6" fmla="*/ 0 w 88"/>
              <a:gd name="T7" fmla="*/ 0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8" h="21">
                <a:moveTo>
                  <a:pt x="88" y="21"/>
                </a:moveTo>
                <a:lnTo>
                  <a:pt x="0" y="21"/>
                </a:lnTo>
                <a:moveTo>
                  <a:pt x="88" y="0"/>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31" name="Freeform 10">
            <a:extLst>
              <a:ext uri="{FF2B5EF4-FFF2-40B4-BE49-F238E27FC236}">
                <a16:creationId xmlns:a16="http://schemas.microsoft.com/office/drawing/2014/main" id="{9540DB80-512D-46B1-BA7A-8C810D350EFA}"/>
              </a:ext>
            </a:extLst>
          </p:cNvPr>
          <p:cNvSpPr>
            <a:spLocks noEditPoints="1"/>
          </p:cNvSpPr>
          <p:nvPr/>
        </p:nvSpPr>
        <p:spPr bwMode="auto">
          <a:xfrm>
            <a:off x="3514725" y="2935288"/>
            <a:ext cx="0" cy="371475"/>
          </a:xfrm>
          <a:custGeom>
            <a:avLst/>
            <a:gdLst>
              <a:gd name="T0" fmla="*/ 629482961 h 220"/>
              <a:gd name="T1" fmla="*/ 343354343 h 220"/>
              <a:gd name="T2" fmla="*/ 283266573 h 220"/>
              <a:gd name="T3" fmla="*/ 0 h 220"/>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220">
                <a:moveTo>
                  <a:pt x="0" y="220"/>
                </a:moveTo>
                <a:lnTo>
                  <a:pt x="0" y="120"/>
                </a:lnTo>
                <a:moveTo>
                  <a:pt x="0" y="99"/>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32" name="Freeform 11">
            <a:extLst>
              <a:ext uri="{FF2B5EF4-FFF2-40B4-BE49-F238E27FC236}">
                <a16:creationId xmlns:a16="http://schemas.microsoft.com/office/drawing/2014/main" id="{B55342A8-AE8A-413A-A90B-7B3923F035D7}"/>
              </a:ext>
            </a:extLst>
          </p:cNvPr>
          <p:cNvSpPr>
            <a:spLocks noEditPoints="1"/>
          </p:cNvSpPr>
          <p:nvPr/>
        </p:nvSpPr>
        <p:spPr bwMode="auto">
          <a:xfrm>
            <a:off x="3833813" y="2673350"/>
            <a:ext cx="42862" cy="149225"/>
          </a:xfrm>
          <a:custGeom>
            <a:avLst/>
            <a:gdLst>
              <a:gd name="T0" fmla="*/ 0 w 22"/>
              <a:gd name="T1" fmla="*/ 252868545 h 88"/>
              <a:gd name="T2" fmla="*/ 0 w 22"/>
              <a:gd name="T3" fmla="*/ 0 h 88"/>
              <a:gd name="T4" fmla="*/ 83465952 w 22"/>
              <a:gd name="T5" fmla="*/ 252868545 h 88"/>
              <a:gd name="T6" fmla="*/ 83465952 w 22"/>
              <a:gd name="T7" fmla="*/ 0 h 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88">
                <a:moveTo>
                  <a:pt x="0" y="88"/>
                </a:moveTo>
                <a:lnTo>
                  <a:pt x="0" y="0"/>
                </a:lnTo>
                <a:moveTo>
                  <a:pt x="22" y="88"/>
                </a:moveTo>
                <a:lnTo>
                  <a:pt x="22"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33" name="Freeform 12">
            <a:extLst>
              <a:ext uri="{FF2B5EF4-FFF2-40B4-BE49-F238E27FC236}">
                <a16:creationId xmlns:a16="http://schemas.microsoft.com/office/drawing/2014/main" id="{4EB2DD9F-6A05-43FA-B0DF-D16A23819EA0}"/>
              </a:ext>
            </a:extLst>
          </p:cNvPr>
          <p:cNvSpPr>
            <a:spLocks noEditPoints="1"/>
          </p:cNvSpPr>
          <p:nvPr/>
        </p:nvSpPr>
        <p:spPr bwMode="auto">
          <a:xfrm>
            <a:off x="3643313" y="2747963"/>
            <a:ext cx="427037" cy="0"/>
          </a:xfrm>
          <a:custGeom>
            <a:avLst/>
            <a:gdLst>
              <a:gd name="T0" fmla="*/ 0 w 219"/>
              <a:gd name="T1" fmla="*/ 372118872 w 219"/>
              <a:gd name="T2" fmla="*/ 455654329 w 219"/>
              <a:gd name="T3" fmla="*/ 831569735 w 219"/>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219">
                <a:moveTo>
                  <a:pt x="0" y="0"/>
                </a:moveTo>
                <a:lnTo>
                  <a:pt x="98" y="0"/>
                </a:lnTo>
                <a:moveTo>
                  <a:pt x="120" y="0"/>
                </a:moveTo>
                <a:lnTo>
                  <a:pt x="219"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34" name="Freeform 13">
            <a:extLst>
              <a:ext uri="{FF2B5EF4-FFF2-40B4-BE49-F238E27FC236}">
                <a16:creationId xmlns:a16="http://schemas.microsoft.com/office/drawing/2014/main" id="{B7506DB9-EB90-498F-9177-833F49902162}"/>
              </a:ext>
            </a:extLst>
          </p:cNvPr>
          <p:cNvSpPr>
            <a:spLocks noEditPoints="1"/>
          </p:cNvSpPr>
          <p:nvPr/>
        </p:nvSpPr>
        <p:spPr bwMode="auto">
          <a:xfrm>
            <a:off x="4070350" y="3101975"/>
            <a:ext cx="171450" cy="36513"/>
          </a:xfrm>
          <a:custGeom>
            <a:avLst/>
            <a:gdLst>
              <a:gd name="T0" fmla="*/ 333863806 w 88"/>
              <a:gd name="T1" fmla="*/ 61873887 h 21"/>
              <a:gd name="T2" fmla="*/ 0 w 88"/>
              <a:gd name="T3" fmla="*/ 61873887 h 21"/>
              <a:gd name="T4" fmla="*/ 333863806 w 88"/>
              <a:gd name="T5" fmla="*/ 0 h 21"/>
              <a:gd name="T6" fmla="*/ 0 w 88"/>
              <a:gd name="T7" fmla="*/ 0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8" h="21">
                <a:moveTo>
                  <a:pt x="88" y="21"/>
                </a:moveTo>
                <a:lnTo>
                  <a:pt x="0" y="21"/>
                </a:lnTo>
                <a:moveTo>
                  <a:pt x="88" y="0"/>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35" name="Freeform 14">
            <a:extLst>
              <a:ext uri="{FF2B5EF4-FFF2-40B4-BE49-F238E27FC236}">
                <a16:creationId xmlns:a16="http://schemas.microsoft.com/office/drawing/2014/main" id="{F31693DD-42D8-4B38-A838-18FEB7FD1924}"/>
              </a:ext>
            </a:extLst>
          </p:cNvPr>
          <p:cNvSpPr>
            <a:spLocks noEditPoints="1"/>
          </p:cNvSpPr>
          <p:nvPr/>
        </p:nvSpPr>
        <p:spPr bwMode="auto">
          <a:xfrm>
            <a:off x="4156075" y="2935288"/>
            <a:ext cx="0" cy="371475"/>
          </a:xfrm>
          <a:custGeom>
            <a:avLst/>
            <a:gdLst>
              <a:gd name="T0" fmla="*/ 629482961 h 220"/>
              <a:gd name="T1" fmla="*/ 343354343 h 220"/>
              <a:gd name="T2" fmla="*/ 283266573 h 220"/>
              <a:gd name="T3" fmla="*/ 0 h 220"/>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220">
                <a:moveTo>
                  <a:pt x="0" y="220"/>
                </a:moveTo>
                <a:lnTo>
                  <a:pt x="0" y="120"/>
                </a:lnTo>
                <a:moveTo>
                  <a:pt x="0" y="99"/>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36" name="Line 15">
            <a:extLst>
              <a:ext uri="{FF2B5EF4-FFF2-40B4-BE49-F238E27FC236}">
                <a16:creationId xmlns:a16="http://schemas.microsoft.com/office/drawing/2014/main" id="{58BA736F-9D22-4979-BCCA-C16BD54715AA}"/>
              </a:ext>
            </a:extLst>
          </p:cNvPr>
          <p:cNvSpPr>
            <a:spLocks noChangeShapeType="1"/>
          </p:cNvSpPr>
          <p:nvPr/>
        </p:nvSpPr>
        <p:spPr bwMode="auto">
          <a:xfrm flipH="1" flipV="1">
            <a:off x="4498975" y="2301875"/>
            <a:ext cx="82550" cy="149225"/>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37" name="Freeform 16">
            <a:extLst>
              <a:ext uri="{FF2B5EF4-FFF2-40B4-BE49-F238E27FC236}">
                <a16:creationId xmlns:a16="http://schemas.microsoft.com/office/drawing/2014/main" id="{315A46C2-3BFA-4B4C-8885-B2912945B067}"/>
              </a:ext>
            </a:extLst>
          </p:cNvPr>
          <p:cNvSpPr>
            <a:spLocks noEditPoints="1"/>
          </p:cNvSpPr>
          <p:nvPr/>
        </p:nvSpPr>
        <p:spPr bwMode="auto">
          <a:xfrm>
            <a:off x="4573588" y="2011363"/>
            <a:ext cx="0" cy="744537"/>
          </a:xfrm>
          <a:custGeom>
            <a:avLst/>
            <a:gdLst>
              <a:gd name="T0" fmla="*/ 505811980 h 439"/>
              <a:gd name="T1" fmla="*/ 0 h 439"/>
              <a:gd name="T2" fmla="*/ 1261656106 h 439"/>
              <a:gd name="T3" fmla="*/ 758718819 h 439"/>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439">
                <a:moveTo>
                  <a:pt x="0" y="176"/>
                </a:moveTo>
                <a:lnTo>
                  <a:pt x="0" y="0"/>
                </a:lnTo>
                <a:moveTo>
                  <a:pt x="0" y="439"/>
                </a:moveTo>
                <a:lnTo>
                  <a:pt x="0" y="264"/>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38" name="Rectangle 17">
            <a:extLst>
              <a:ext uri="{FF2B5EF4-FFF2-40B4-BE49-F238E27FC236}">
                <a16:creationId xmlns:a16="http://schemas.microsoft.com/office/drawing/2014/main" id="{21709FB5-A313-4968-8474-3E8D9955625E}"/>
              </a:ext>
            </a:extLst>
          </p:cNvPr>
          <p:cNvSpPr>
            <a:spLocks noChangeArrowheads="1"/>
          </p:cNvSpPr>
          <p:nvPr/>
        </p:nvSpPr>
        <p:spPr bwMode="auto">
          <a:xfrm>
            <a:off x="4733925" y="2289175"/>
            <a:ext cx="1317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S</a:t>
            </a:r>
            <a:endParaRPr lang="zh-CN" altLang="zh-CN" sz="1800"/>
          </a:p>
        </p:txBody>
      </p:sp>
      <p:sp>
        <p:nvSpPr>
          <p:cNvPr id="81939" name="Rectangle 18">
            <a:extLst>
              <a:ext uri="{FF2B5EF4-FFF2-40B4-BE49-F238E27FC236}">
                <a16:creationId xmlns:a16="http://schemas.microsoft.com/office/drawing/2014/main" id="{4393E36F-C90C-40E5-948A-483A398743CD}"/>
              </a:ext>
            </a:extLst>
          </p:cNvPr>
          <p:cNvSpPr>
            <a:spLocks noChangeArrowheads="1"/>
          </p:cNvSpPr>
          <p:nvPr/>
        </p:nvSpPr>
        <p:spPr bwMode="auto">
          <a:xfrm>
            <a:off x="4822825" y="2289175"/>
            <a:ext cx="1333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3</a:t>
            </a:r>
            <a:endParaRPr lang="zh-CN" altLang="zh-CN" sz="1800"/>
          </a:p>
        </p:txBody>
      </p:sp>
      <p:sp>
        <p:nvSpPr>
          <p:cNvPr id="81940" name="Line 19">
            <a:extLst>
              <a:ext uri="{FF2B5EF4-FFF2-40B4-BE49-F238E27FC236}">
                <a16:creationId xmlns:a16="http://schemas.microsoft.com/office/drawing/2014/main" id="{BBE25EB6-FE2F-44A6-BB0C-AC903A6051FF}"/>
              </a:ext>
            </a:extLst>
          </p:cNvPr>
          <p:cNvSpPr>
            <a:spLocks noChangeShapeType="1"/>
          </p:cNvSpPr>
          <p:nvPr/>
        </p:nvSpPr>
        <p:spPr bwMode="auto">
          <a:xfrm flipH="1" flipV="1">
            <a:off x="4498975" y="3024188"/>
            <a:ext cx="77788" cy="138112"/>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1" name="Freeform 20">
            <a:extLst>
              <a:ext uri="{FF2B5EF4-FFF2-40B4-BE49-F238E27FC236}">
                <a16:creationId xmlns:a16="http://schemas.microsoft.com/office/drawing/2014/main" id="{3B97BB70-D736-4464-8726-C2912B957D95}"/>
              </a:ext>
            </a:extLst>
          </p:cNvPr>
          <p:cNvSpPr>
            <a:spLocks noEditPoints="1"/>
          </p:cNvSpPr>
          <p:nvPr/>
        </p:nvSpPr>
        <p:spPr bwMode="auto">
          <a:xfrm>
            <a:off x="4570413" y="2747963"/>
            <a:ext cx="0" cy="687387"/>
          </a:xfrm>
          <a:custGeom>
            <a:avLst/>
            <a:gdLst>
              <a:gd name="T0" fmla="*/ 467646645 h 406"/>
              <a:gd name="T1" fmla="*/ 0 h 406"/>
              <a:gd name="T2" fmla="*/ 1164811133 h 406"/>
              <a:gd name="T3" fmla="*/ 700034244 h 406"/>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406">
                <a:moveTo>
                  <a:pt x="0" y="163"/>
                </a:moveTo>
                <a:lnTo>
                  <a:pt x="0" y="0"/>
                </a:lnTo>
                <a:moveTo>
                  <a:pt x="0" y="406"/>
                </a:moveTo>
                <a:lnTo>
                  <a:pt x="0" y="244"/>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42" name="Rectangle 21">
            <a:extLst>
              <a:ext uri="{FF2B5EF4-FFF2-40B4-BE49-F238E27FC236}">
                <a16:creationId xmlns:a16="http://schemas.microsoft.com/office/drawing/2014/main" id="{DAF78A6D-CDCA-4CF5-9219-6C62C1355A17}"/>
              </a:ext>
            </a:extLst>
          </p:cNvPr>
          <p:cNvSpPr>
            <a:spLocks noChangeArrowheads="1"/>
          </p:cNvSpPr>
          <p:nvPr/>
        </p:nvSpPr>
        <p:spPr bwMode="auto">
          <a:xfrm>
            <a:off x="4719638" y="3006725"/>
            <a:ext cx="1333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S</a:t>
            </a:r>
            <a:endParaRPr lang="zh-CN" altLang="zh-CN" sz="1800"/>
          </a:p>
        </p:txBody>
      </p:sp>
      <p:sp>
        <p:nvSpPr>
          <p:cNvPr id="81943" name="Rectangle 22">
            <a:extLst>
              <a:ext uri="{FF2B5EF4-FFF2-40B4-BE49-F238E27FC236}">
                <a16:creationId xmlns:a16="http://schemas.microsoft.com/office/drawing/2014/main" id="{2AE03C1B-19E9-44E3-98BD-587CB0EAA4E1}"/>
              </a:ext>
            </a:extLst>
          </p:cNvPr>
          <p:cNvSpPr>
            <a:spLocks noChangeArrowheads="1"/>
          </p:cNvSpPr>
          <p:nvPr/>
        </p:nvSpPr>
        <p:spPr bwMode="auto">
          <a:xfrm>
            <a:off x="4811713" y="3006725"/>
            <a:ext cx="1333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4</a:t>
            </a:r>
            <a:endParaRPr lang="zh-CN" altLang="zh-CN" sz="1800"/>
          </a:p>
        </p:txBody>
      </p:sp>
      <p:sp>
        <p:nvSpPr>
          <p:cNvPr id="81944" name="Freeform 23">
            <a:extLst>
              <a:ext uri="{FF2B5EF4-FFF2-40B4-BE49-F238E27FC236}">
                <a16:creationId xmlns:a16="http://schemas.microsoft.com/office/drawing/2014/main" id="{8803F942-DF5B-4DD8-8F70-2C43D3D59CCF}"/>
              </a:ext>
            </a:extLst>
          </p:cNvPr>
          <p:cNvSpPr>
            <a:spLocks/>
          </p:cNvSpPr>
          <p:nvPr/>
        </p:nvSpPr>
        <p:spPr bwMode="auto">
          <a:xfrm>
            <a:off x="5757863" y="1725613"/>
            <a:ext cx="1066800" cy="928687"/>
          </a:xfrm>
          <a:custGeom>
            <a:avLst/>
            <a:gdLst>
              <a:gd name="T0" fmla="*/ 0 w 548"/>
              <a:gd name="T1" fmla="*/ 0 h 548"/>
              <a:gd name="T2" fmla="*/ 0 w 548"/>
              <a:gd name="T3" fmla="*/ 1573707573 h 548"/>
              <a:gd name="T4" fmla="*/ 2077380808 w 548"/>
              <a:gd name="T5" fmla="*/ 786853786 h 548"/>
              <a:gd name="T6" fmla="*/ 0 w 548"/>
              <a:gd name="T7" fmla="*/ 0 h 5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8" h="548">
                <a:moveTo>
                  <a:pt x="0" y="0"/>
                </a:moveTo>
                <a:lnTo>
                  <a:pt x="0" y="548"/>
                </a:lnTo>
                <a:lnTo>
                  <a:pt x="548" y="274"/>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45" name="Freeform 24">
            <a:extLst>
              <a:ext uri="{FF2B5EF4-FFF2-40B4-BE49-F238E27FC236}">
                <a16:creationId xmlns:a16="http://schemas.microsoft.com/office/drawing/2014/main" id="{05D7BD87-6705-4065-BC9B-00114285E684}"/>
              </a:ext>
            </a:extLst>
          </p:cNvPr>
          <p:cNvSpPr>
            <a:spLocks/>
          </p:cNvSpPr>
          <p:nvPr/>
        </p:nvSpPr>
        <p:spPr bwMode="auto">
          <a:xfrm>
            <a:off x="5757863" y="1725613"/>
            <a:ext cx="1066800" cy="928687"/>
          </a:xfrm>
          <a:custGeom>
            <a:avLst/>
            <a:gdLst>
              <a:gd name="T0" fmla="*/ 0 w 548"/>
              <a:gd name="T1" fmla="*/ 0 h 548"/>
              <a:gd name="T2" fmla="*/ 0 w 548"/>
              <a:gd name="T3" fmla="*/ 1573707573 h 548"/>
              <a:gd name="T4" fmla="*/ 2077380808 w 548"/>
              <a:gd name="T5" fmla="*/ 786853786 h 548"/>
              <a:gd name="T6" fmla="*/ 0 w 548"/>
              <a:gd name="T7" fmla="*/ 0 h 5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8" h="548">
                <a:moveTo>
                  <a:pt x="0" y="0"/>
                </a:moveTo>
                <a:lnTo>
                  <a:pt x="0" y="548"/>
                </a:lnTo>
                <a:lnTo>
                  <a:pt x="548" y="274"/>
                </a:lnTo>
                <a:lnTo>
                  <a:pt x="0" y="0"/>
                </a:ln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46" name="Freeform 27">
            <a:extLst>
              <a:ext uri="{FF2B5EF4-FFF2-40B4-BE49-F238E27FC236}">
                <a16:creationId xmlns:a16="http://schemas.microsoft.com/office/drawing/2014/main" id="{7F57DB3D-36D6-49D0-B6DC-4F93335E0CEB}"/>
              </a:ext>
            </a:extLst>
          </p:cNvPr>
          <p:cNvSpPr>
            <a:spLocks/>
          </p:cNvSpPr>
          <p:nvPr/>
        </p:nvSpPr>
        <p:spPr bwMode="auto">
          <a:xfrm>
            <a:off x="4576763" y="1958975"/>
            <a:ext cx="1169987" cy="46038"/>
          </a:xfrm>
          <a:custGeom>
            <a:avLst/>
            <a:gdLst>
              <a:gd name="T0" fmla="*/ 2147483646 w 535"/>
              <a:gd name="T1" fmla="*/ 0 h 27"/>
              <a:gd name="T2" fmla="*/ 0 w 535"/>
              <a:gd name="T3" fmla="*/ 0 h 27"/>
              <a:gd name="T4" fmla="*/ 0 w 535"/>
              <a:gd name="T5" fmla="*/ 77955975 h 27"/>
              <a:gd name="T6" fmla="*/ 0 60000 65536"/>
              <a:gd name="T7" fmla="*/ 0 60000 65536"/>
              <a:gd name="T8" fmla="*/ 0 60000 65536"/>
            </a:gdLst>
            <a:ahLst/>
            <a:cxnLst>
              <a:cxn ang="T6">
                <a:pos x="T0" y="T1"/>
              </a:cxn>
              <a:cxn ang="T7">
                <a:pos x="T2" y="T3"/>
              </a:cxn>
              <a:cxn ang="T8">
                <a:pos x="T4" y="T5"/>
              </a:cxn>
            </a:cxnLst>
            <a:rect l="0" t="0" r="r" b="b"/>
            <a:pathLst>
              <a:path w="535" h="27">
                <a:moveTo>
                  <a:pt x="535" y="0"/>
                </a:moveTo>
                <a:lnTo>
                  <a:pt x="0" y="0"/>
                </a:lnTo>
                <a:lnTo>
                  <a:pt x="0" y="27"/>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47" name="Freeform 28">
            <a:extLst>
              <a:ext uri="{FF2B5EF4-FFF2-40B4-BE49-F238E27FC236}">
                <a16:creationId xmlns:a16="http://schemas.microsoft.com/office/drawing/2014/main" id="{8B540683-0FB8-4490-8A35-6E71FE35D191}"/>
              </a:ext>
            </a:extLst>
          </p:cNvPr>
          <p:cNvSpPr>
            <a:spLocks noEditPoints="1"/>
          </p:cNvSpPr>
          <p:nvPr/>
        </p:nvSpPr>
        <p:spPr bwMode="auto">
          <a:xfrm>
            <a:off x="5053013" y="2359025"/>
            <a:ext cx="169862" cy="36513"/>
          </a:xfrm>
          <a:custGeom>
            <a:avLst/>
            <a:gdLst>
              <a:gd name="T0" fmla="*/ 330772077 w 87"/>
              <a:gd name="T1" fmla="*/ 61872938 h 22"/>
              <a:gd name="T2" fmla="*/ 0 w 87"/>
              <a:gd name="T3" fmla="*/ 61872938 h 22"/>
              <a:gd name="T4" fmla="*/ 330772077 w 87"/>
              <a:gd name="T5" fmla="*/ 0 h 22"/>
              <a:gd name="T6" fmla="*/ 0 w 8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7" h="22">
                <a:moveTo>
                  <a:pt x="87" y="22"/>
                </a:moveTo>
                <a:lnTo>
                  <a:pt x="0" y="22"/>
                </a:lnTo>
                <a:moveTo>
                  <a:pt x="87" y="0"/>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48" name="Freeform 29">
            <a:extLst>
              <a:ext uri="{FF2B5EF4-FFF2-40B4-BE49-F238E27FC236}">
                <a16:creationId xmlns:a16="http://schemas.microsoft.com/office/drawing/2014/main" id="{7F54CF45-FD7B-4AFA-96C9-0FEA3D791BD5}"/>
              </a:ext>
            </a:extLst>
          </p:cNvPr>
          <p:cNvSpPr>
            <a:spLocks noEditPoints="1"/>
          </p:cNvSpPr>
          <p:nvPr/>
        </p:nvSpPr>
        <p:spPr bwMode="auto">
          <a:xfrm>
            <a:off x="5137150" y="2190750"/>
            <a:ext cx="0" cy="373063"/>
          </a:xfrm>
          <a:custGeom>
            <a:avLst/>
            <a:gdLst>
              <a:gd name="T0" fmla="*/ 632173907 h 220"/>
              <a:gd name="T1" fmla="*/ 347696412 h 220"/>
              <a:gd name="T2" fmla="*/ 284477495 h 220"/>
              <a:gd name="T3" fmla="*/ 0 h 220"/>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220">
                <a:moveTo>
                  <a:pt x="0" y="220"/>
                </a:moveTo>
                <a:lnTo>
                  <a:pt x="0" y="121"/>
                </a:lnTo>
                <a:moveTo>
                  <a:pt x="0" y="99"/>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49" name="Rectangle 30">
            <a:extLst>
              <a:ext uri="{FF2B5EF4-FFF2-40B4-BE49-F238E27FC236}">
                <a16:creationId xmlns:a16="http://schemas.microsoft.com/office/drawing/2014/main" id="{BE640726-CB24-40F0-AE4B-94EEA7617E4E}"/>
              </a:ext>
            </a:extLst>
          </p:cNvPr>
          <p:cNvSpPr>
            <a:spLocks noChangeArrowheads="1"/>
          </p:cNvSpPr>
          <p:nvPr/>
        </p:nvSpPr>
        <p:spPr bwMode="auto">
          <a:xfrm>
            <a:off x="5289550" y="2289175"/>
            <a:ext cx="1317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C</a:t>
            </a:r>
            <a:endParaRPr lang="zh-CN" altLang="zh-CN" sz="1800"/>
          </a:p>
        </p:txBody>
      </p:sp>
      <p:sp>
        <p:nvSpPr>
          <p:cNvPr id="81950" name="Freeform 31">
            <a:extLst>
              <a:ext uri="{FF2B5EF4-FFF2-40B4-BE49-F238E27FC236}">
                <a16:creationId xmlns:a16="http://schemas.microsoft.com/office/drawing/2014/main" id="{C35CA61E-056A-4592-B2F8-E52352EB4F32}"/>
              </a:ext>
            </a:extLst>
          </p:cNvPr>
          <p:cNvSpPr>
            <a:spLocks noEditPoints="1"/>
          </p:cNvSpPr>
          <p:nvPr/>
        </p:nvSpPr>
        <p:spPr bwMode="auto">
          <a:xfrm>
            <a:off x="5351463" y="2489200"/>
            <a:ext cx="171450" cy="371475"/>
          </a:xfrm>
          <a:custGeom>
            <a:avLst/>
            <a:gdLst>
              <a:gd name="T0" fmla="*/ 110024141 w 88"/>
              <a:gd name="T1" fmla="*/ 629483894 h 219"/>
              <a:gd name="T2" fmla="*/ 220046334 w 88"/>
              <a:gd name="T3" fmla="*/ 629483894 h 219"/>
              <a:gd name="T4" fmla="*/ 56907762 w 88"/>
              <a:gd name="T5" fmla="*/ 589242465 h 219"/>
              <a:gd name="T6" fmla="*/ 276956044 w 88"/>
              <a:gd name="T7" fmla="*/ 589242465 h 219"/>
              <a:gd name="T8" fmla="*/ 0 w 88"/>
              <a:gd name="T9" fmla="*/ 546127618 h 219"/>
              <a:gd name="T10" fmla="*/ 333863806 w 88"/>
              <a:gd name="T11" fmla="*/ 546127618 h 219"/>
              <a:gd name="T12" fmla="*/ 166931903 w 88"/>
              <a:gd name="T13" fmla="*/ 0 h 219"/>
              <a:gd name="T14" fmla="*/ 166931903 w 88"/>
              <a:gd name="T15" fmla="*/ 546127618 h 2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8" h="219">
                <a:moveTo>
                  <a:pt x="29" y="219"/>
                </a:moveTo>
                <a:lnTo>
                  <a:pt x="58" y="219"/>
                </a:lnTo>
                <a:moveTo>
                  <a:pt x="15" y="205"/>
                </a:moveTo>
                <a:lnTo>
                  <a:pt x="73" y="205"/>
                </a:lnTo>
                <a:moveTo>
                  <a:pt x="0" y="190"/>
                </a:moveTo>
                <a:lnTo>
                  <a:pt x="88" y="190"/>
                </a:lnTo>
                <a:moveTo>
                  <a:pt x="44" y="0"/>
                </a:moveTo>
                <a:lnTo>
                  <a:pt x="44" y="19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51" name="Freeform 32">
            <a:extLst>
              <a:ext uri="{FF2B5EF4-FFF2-40B4-BE49-F238E27FC236}">
                <a16:creationId xmlns:a16="http://schemas.microsoft.com/office/drawing/2014/main" id="{2B7D4A46-C1F1-4ABA-95B3-5B5BEA24F8E7}"/>
              </a:ext>
            </a:extLst>
          </p:cNvPr>
          <p:cNvSpPr>
            <a:spLocks/>
          </p:cNvSpPr>
          <p:nvPr/>
        </p:nvSpPr>
        <p:spPr bwMode="auto">
          <a:xfrm>
            <a:off x="5053013" y="1958975"/>
            <a:ext cx="84137" cy="231775"/>
          </a:xfrm>
          <a:custGeom>
            <a:avLst/>
            <a:gdLst>
              <a:gd name="T0" fmla="*/ 163840176 w 43"/>
              <a:gd name="T1" fmla="*/ 392753734 h 137"/>
              <a:gd name="T2" fmla="*/ 163840176 w 43"/>
              <a:gd name="T3" fmla="*/ 0 h 137"/>
              <a:gd name="T4" fmla="*/ 0 w 43"/>
              <a:gd name="T5" fmla="*/ 0 h 137"/>
              <a:gd name="T6" fmla="*/ 0 60000 65536"/>
              <a:gd name="T7" fmla="*/ 0 60000 65536"/>
              <a:gd name="T8" fmla="*/ 0 60000 65536"/>
            </a:gdLst>
            <a:ahLst/>
            <a:cxnLst>
              <a:cxn ang="T6">
                <a:pos x="T0" y="T1"/>
              </a:cxn>
              <a:cxn ang="T7">
                <a:pos x="T2" y="T3"/>
              </a:cxn>
              <a:cxn ang="T8">
                <a:pos x="T4" y="T5"/>
              </a:cxn>
            </a:cxnLst>
            <a:rect l="0" t="0" r="r" b="b"/>
            <a:pathLst>
              <a:path w="43" h="137">
                <a:moveTo>
                  <a:pt x="43" y="137"/>
                </a:moveTo>
                <a:lnTo>
                  <a:pt x="43" y="0"/>
                </a:ln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52" name="Freeform 33">
            <a:extLst>
              <a:ext uri="{FF2B5EF4-FFF2-40B4-BE49-F238E27FC236}">
                <a16:creationId xmlns:a16="http://schemas.microsoft.com/office/drawing/2014/main" id="{F535B938-CC8E-4498-933A-643A3FFE0469}"/>
              </a:ext>
            </a:extLst>
          </p:cNvPr>
          <p:cNvSpPr>
            <a:spLocks/>
          </p:cNvSpPr>
          <p:nvPr/>
        </p:nvSpPr>
        <p:spPr bwMode="auto">
          <a:xfrm>
            <a:off x="5970588" y="1373188"/>
            <a:ext cx="214312" cy="73025"/>
          </a:xfrm>
          <a:custGeom>
            <a:avLst/>
            <a:gdLst>
              <a:gd name="T0" fmla="*/ 0 w 110"/>
              <a:gd name="T1" fmla="*/ 60434131 h 43"/>
              <a:gd name="T2" fmla="*/ 34145746 w 110"/>
              <a:gd name="T3" fmla="*/ 0 h 43"/>
              <a:gd name="T4" fmla="*/ 106228614 w 110"/>
              <a:gd name="T5" fmla="*/ 123745108 h 43"/>
              <a:gd name="T6" fmla="*/ 174520106 w 110"/>
              <a:gd name="T7" fmla="*/ 0 h 43"/>
              <a:gd name="T8" fmla="*/ 242809651 w 110"/>
              <a:gd name="T9" fmla="*/ 123745108 h 43"/>
              <a:gd name="T10" fmla="*/ 311101144 w 110"/>
              <a:gd name="T11" fmla="*/ 0 h 43"/>
              <a:gd name="T12" fmla="*/ 383184011 w 110"/>
              <a:gd name="T13" fmla="*/ 123745108 h 43"/>
              <a:gd name="T14" fmla="*/ 417329758 w 110"/>
              <a:gd name="T15" fmla="*/ 60434131 h 4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0" h="43">
                <a:moveTo>
                  <a:pt x="0" y="21"/>
                </a:moveTo>
                <a:lnTo>
                  <a:pt x="9" y="0"/>
                </a:lnTo>
                <a:lnTo>
                  <a:pt x="28" y="43"/>
                </a:lnTo>
                <a:lnTo>
                  <a:pt x="46" y="0"/>
                </a:lnTo>
                <a:lnTo>
                  <a:pt x="64" y="43"/>
                </a:lnTo>
                <a:lnTo>
                  <a:pt x="82" y="0"/>
                </a:lnTo>
                <a:lnTo>
                  <a:pt x="101" y="43"/>
                </a:lnTo>
                <a:lnTo>
                  <a:pt x="110" y="21"/>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53" name="Freeform 34">
            <a:extLst>
              <a:ext uri="{FF2B5EF4-FFF2-40B4-BE49-F238E27FC236}">
                <a16:creationId xmlns:a16="http://schemas.microsoft.com/office/drawing/2014/main" id="{F6C5E635-C5D0-478B-8593-8B4E6ECC81A4}"/>
              </a:ext>
            </a:extLst>
          </p:cNvPr>
          <p:cNvSpPr>
            <a:spLocks/>
          </p:cNvSpPr>
          <p:nvPr/>
        </p:nvSpPr>
        <p:spPr bwMode="auto">
          <a:xfrm>
            <a:off x="5137150" y="1409700"/>
            <a:ext cx="833438" cy="549275"/>
          </a:xfrm>
          <a:custGeom>
            <a:avLst/>
            <a:gdLst>
              <a:gd name="T0" fmla="*/ 1808916407 w 384"/>
              <a:gd name="T1" fmla="*/ 0 h 324"/>
              <a:gd name="T2" fmla="*/ 0 w 384"/>
              <a:gd name="T3" fmla="*/ 0 h 324"/>
              <a:gd name="T4" fmla="*/ 0 w 384"/>
              <a:gd name="T5" fmla="*/ 930773612 h 324"/>
              <a:gd name="T6" fmla="*/ 0 60000 65536"/>
              <a:gd name="T7" fmla="*/ 0 60000 65536"/>
              <a:gd name="T8" fmla="*/ 0 60000 65536"/>
            </a:gdLst>
            <a:ahLst/>
            <a:cxnLst>
              <a:cxn ang="T6">
                <a:pos x="T0" y="T1"/>
              </a:cxn>
              <a:cxn ang="T7">
                <a:pos x="T2" y="T3"/>
              </a:cxn>
              <a:cxn ang="T8">
                <a:pos x="T4" y="T5"/>
              </a:cxn>
            </a:cxnLst>
            <a:rect l="0" t="0" r="r" b="b"/>
            <a:pathLst>
              <a:path w="384" h="324">
                <a:moveTo>
                  <a:pt x="384" y="0"/>
                </a:moveTo>
                <a:lnTo>
                  <a:pt x="0" y="0"/>
                </a:lnTo>
                <a:lnTo>
                  <a:pt x="0" y="324"/>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54" name="Line 35">
            <a:extLst>
              <a:ext uri="{FF2B5EF4-FFF2-40B4-BE49-F238E27FC236}">
                <a16:creationId xmlns:a16="http://schemas.microsoft.com/office/drawing/2014/main" id="{595233E6-031D-4593-AA14-FAB4BF6FEFDF}"/>
              </a:ext>
            </a:extLst>
          </p:cNvPr>
          <p:cNvSpPr>
            <a:spLocks noChangeShapeType="1"/>
          </p:cNvSpPr>
          <p:nvPr/>
        </p:nvSpPr>
        <p:spPr bwMode="auto">
          <a:xfrm>
            <a:off x="3941763" y="2747963"/>
            <a:ext cx="63976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5" name="Line 36">
            <a:extLst>
              <a:ext uri="{FF2B5EF4-FFF2-40B4-BE49-F238E27FC236}">
                <a16:creationId xmlns:a16="http://schemas.microsoft.com/office/drawing/2014/main" id="{2F820CB2-7C2E-4B5B-9DB1-027B73B88493}"/>
              </a:ext>
            </a:extLst>
          </p:cNvPr>
          <p:cNvSpPr>
            <a:spLocks noChangeShapeType="1"/>
          </p:cNvSpPr>
          <p:nvPr/>
        </p:nvSpPr>
        <p:spPr bwMode="auto">
          <a:xfrm flipH="1">
            <a:off x="3514725" y="2747963"/>
            <a:ext cx="85725"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6" name="Line 37">
            <a:extLst>
              <a:ext uri="{FF2B5EF4-FFF2-40B4-BE49-F238E27FC236}">
                <a16:creationId xmlns:a16="http://schemas.microsoft.com/office/drawing/2014/main" id="{06355B61-7DEC-457C-8DE1-6D9ACD8FFD9C}"/>
              </a:ext>
            </a:extLst>
          </p:cNvPr>
          <p:cNvSpPr>
            <a:spLocks noChangeShapeType="1"/>
          </p:cNvSpPr>
          <p:nvPr/>
        </p:nvSpPr>
        <p:spPr bwMode="auto">
          <a:xfrm>
            <a:off x="3600450" y="2747963"/>
            <a:ext cx="128588"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7" name="Line 38">
            <a:extLst>
              <a:ext uri="{FF2B5EF4-FFF2-40B4-BE49-F238E27FC236}">
                <a16:creationId xmlns:a16="http://schemas.microsoft.com/office/drawing/2014/main" id="{96E9BA8F-C39E-45B3-9AD2-6EADEBB7A159}"/>
              </a:ext>
            </a:extLst>
          </p:cNvPr>
          <p:cNvSpPr>
            <a:spLocks noChangeShapeType="1"/>
          </p:cNvSpPr>
          <p:nvPr/>
        </p:nvSpPr>
        <p:spPr bwMode="auto">
          <a:xfrm flipH="1">
            <a:off x="3089275" y="2747963"/>
            <a:ext cx="425450"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8" name="Line 39">
            <a:extLst>
              <a:ext uri="{FF2B5EF4-FFF2-40B4-BE49-F238E27FC236}">
                <a16:creationId xmlns:a16="http://schemas.microsoft.com/office/drawing/2014/main" id="{AF9ECD12-9D3F-48DC-BAB0-B8D0925D9891}"/>
              </a:ext>
            </a:extLst>
          </p:cNvPr>
          <p:cNvSpPr>
            <a:spLocks noChangeShapeType="1"/>
          </p:cNvSpPr>
          <p:nvPr/>
        </p:nvSpPr>
        <p:spPr bwMode="auto">
          <a:xfrm>
            <a:off x="3089275" y="2747963"/>
            <a:ext cx="0" cy="261937"/>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9" name="Line 40">
            <a:extLst>
              <a:ext uri="{FF2B5EF4-FFF2-40B4-BE49-F238E27FC236}">
                <a16:creationId xmlns:a16="http://schemas.microsoft.com/office/drawing/2014/main" id="{5B242F73-C652-46B4-A6F3-8D92BE28D62A}"/>
              </a:ext>
            </a:extLst>
          </p:cNvPr>
          <p:cNvSpPr>
            <a:spLocks noChangeShapeType="1"/>
          </p:cNvSpPr>
          <p:nvPr/>
        </p:nvSpPr>
        <p:spPr bwMode="auto">
          <a:xfrm>
            <a:off x="3514725" y="2747963"/>
            <a:ext cx="0" cy="223837"/>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0" name="Line 41">
            <a:extLst>
              <a:ext uri="{FF2B5EF4-FFF2-40B4-BE49-F238E27FC236}">
                <a16:creationId xmlns:a16="http://schemas.microsoft.com/office/drawing/2014/main" id="{334302FC-48F9-4DBF-B3F6-80B8B4798295}"/>
              </a:ext>
            </a:extLst>
          </p:cNvPr>
          <p:cNvSpPr>
            <a:spLocks noChangeShapeType="1"/>
          </p:cNvSpPr>
          <p:nvPr/>
        </p:nvSpPr>
        <p:spPr bwMode="auto">
          <a:xfrm>
            <a:off x="4156075" y="2747963"/>
            <a:ext cx="0" cy="187325"/>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1" name="Freeform 42">
            <a:extLst>
              <a:ext uri="{FF2B5EF4-FFF2-40B4-BE49-F238E27FC236}">
                <a16:creationId xmlns:a16="http://schemas.microsoft.com/office/drawing/2014/main" id="{501B1A54-47D9-435B-BAC7-7D3F24055554}"/>
              </a:ext>
            </a:extLst>
          </p:cNvPr>
          <p:cNvSpPr>
            <a:spLocks noEditPoints="1"/>
          </p:cNvSpPr>
          <p:nvPr/>
        </p:nvSpPr>
        <p:spPr bwMode="auto">
          <a:xfrm>
            <a:off x="3429000" y="3232150"/>
            <a:ext cx="171450" cy="371475"/>
          </a:xfrm>
          <a:custGeom>
            <a:avLst/>
            <a:gdLst>
              <a:gd name="T0" fmla="*/ 113817472 w 88"/>
              <a:gd name="T1" fmla="*/ 629483894 h 219"/>
              <a:gd name="T2" fmla="*/ 223839665 w 88"/>
              <a:gd name="T3" fmla="*/ 629483894 h 219"/>
              <a:gd name="T4" fmla="*/ 56907762 w 88"/>
              <a:gd name="T5" fmla="*/ 586369047 h 219"/>
              <a:gd name="T6" fmla="*/ 276956044 w 88"/>
              <a:gd name="T7" fmla="*/ 586369047 h 219"/>
              <a:gd name="T8" fmla="*/ 0 w 88"/>
              <a:gd name="T9" fmla="*/ 546127618 h 219"/>
              <a:gd name="T10" fmla="*/ 333863806 w 88"/>
              <a:gd name="T11" fmla="*/ 546127618 h 219"/>
              <a:gd name="T12" fmla="*/ 166931903 w 88"/>
              <a:gd name="T13" fmla="*/ 0 h 219"/>
              <a:gd name="T14" fmla="*/ 166931903 w 88"/>
              <a:gd name="T15" fmla="*/ 546127618 h 2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8" h="219">
                <a:moveTo>
                  <a:pt x="30" y="219"/>
                </a:moveTo>
                <a:lnTo>
                  <a:pt x="59" y="219"/>
                </a:lnTo>
                <a:moveTo>
                  <a:pt x="15" y="204"/>
                </a:moveTo>
                <a:lnTo>
                  <a:pt x="73" y="204"/>
                </a:lnTo>
                <a:moveTo>
                  <a:pt x="0" y="190"/>
                </a:moveTo>
                <a:lnTo>
                  <a:pt x="88" y="190"/>
                </a:lnTo>
                <a:moveTo>
                  <a:pt x="44" y="0"/>
                </a:moveTo>
                <a:lnTo>
                  <a:pt x="44" y="19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62" name="Freeform 43">
            <a:extLst>
              <a:ext uri="{FF2B5EF4-FFF2-40B4-BE49-F238E27FC236}">
                <a16:creationId xmlns:a16="http://schemas.microsoft.com/office/drawing/2014/main" id="{E0C060DD-5F41-49F4-AC77-FF86EA6987C4}"/>
              </a:ext>
            </a:extLst>
          </p:cNvPr>
          <p:cNvSpPr>
            <a:spLocks noEditPoints="1"/>
          </p:cNvSpPr>
          <p:nvPr/>
        </p:nvSpPr>
        <p:spPr bwMode="auto">
          <a:xfrm>
            <a:off x="4070350" y="3232150"/>
            <a:ext cx="171450" cy="371475"/>
          </a:xfrm>
          <a:custGeom>
            <a:avLst/>
            <a:gdLst>
              <a:gd name="T0" fmla="*/ 110024141 w 88"/>
              <a:gd name="T1" fmla="*/ 629483894 h 219"/>
              <a:gd name="T2" fmla="*/ 220046334 w 88"/>
              <a:gd name="T3" fmla="*/ 629483894 h 219"/>
              <a:gd name="T4" fmla="*/ 56907762 w 88"/>
              <a:gd name="T5" fmla="*/ 586369047 h 219"/>
              <a:gd name="T6" fmla="*/ 276956044 w 88"/>
              <a:gd name="T7" fmla="*/ 586369047 h 219"/>
              <a:gd name="T8" fmla="*/ 0 w 88"/>
              <a:gd name="T9" fmla="*/ 546127618 h 219"/>
              <a:gd name="T10" fmla="*/ 333863806 w 88"/>
              <a:gd name="T11" fmla="*/ 546127618 h 219"/>
              <a:gd name="T12" fmla="*/ 166931903 w 88"/>
              <a:gd name="T13" fmla="*/ 0 h 219"/>
              <a:gd name="T14" fmla="*/ 166931903 w 88"/>
              <a:gd name="T15" fmla="*/ 546127618 h 2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8" h="219">
                <a:moveTo>
                  <a:pt x="29" y="219"/>
                </a:moveTo>
                <a:lnTo>
                  <a:pt x="58" y="219"/>
                </a:lnTo>
                <a:moveTo>
                  <a:pt x="15" y="204"/>
                </a:moveTo>
                <a:lnTo>
                  <a:pt x="73" y="204"/>
                </a:lnTo>
                <a:moveTo>
                  <a:pt x="0" y="190"/>
                </a:moveTo>
                <a:lnTo>
                  <a:pt x="88" y="190"/>
                </a:lnTo>
                <a:moveTo>
                  <a:pt x="44" y="0"/>
                </a:moveTo>
                <a:lnTo>
                  <a:pt x="44" y="19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63" name="Freeform 44">
            <a:extLst>
              <a:ext uri="{FF2B5EF4-FFF2-40B4-BE49-F238E27FC236}">
                <a16:creationId xmlns:a16="http://schemas.microsoft.com/office/drawing/2014/main" id="{48BE98DF-2395-45E4-BCD6-09DABBE8C149}"/>
              </a:ext>
            </a:extLst>
          </p:cNvPr>
          <p:cNvSpPr>
            <a:spLocks noEditPoints="1"/>
          </p:cNvSpPr>
          <p:nvPr/>
        </p:nvSpPr>
        <p:spPr bwMode="auto">
          <a:xfrm>
            <a:off x="3003550" y="3306763"/>
            <a:ext cx="168275" cy="371475"/>
          </a:xfrm>
          <a:custGeom>
            <a:avLst/>
            <a:gdLst>
              <a:gd name="T0" fmla="*/ 109227883 w 87"/>
              <a:gd name="T1" fmla="*/ 629483894 h 219"/>
              <a:gd name="T2" fmla="*/ 218453831 w 87"/>
              <a:gd name="T3" fmla="*/ 629483894 h 219"/>
              <a:gd name="T4" fmla="*/ 52730035 w 87"/>
              <a:gd name="T5" fmla="*/ 586369047 h 219"/>
              <a:gd name="T6" fmla="*/ 274951679 w 87"/>
              <a:gd name="T7" fmla="*/ 586369047 h 219"/>
              <a:gd name="T8" fmla="*/ 0 w 87"/>
              <a:gd name="T9" fmla="*/ 546127618 h 219"/>
              <a:gd name="T10" fmla="*/ 327681714 w 87"/>
              <a:gd name="T11" fmla="*/ 546127618 h 219"/>
              <a:gd name="T12" fmla="*/ 165723796 w 87"/>
              <a:gd name="T13" fmla="*/ 0 h 219"/>
              <a:gd name="T14" fmla="*/ 165723796 w 87"/>
              <a:gd name="T15" fmla="*/ 546127618 h 2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7" h="219">
                <a:moveTo>
                  <a:pt x="29" y="219"/>
                </a:moveTo>
                <a:lnTo>
                  <a:pt x="58" y="219"/>
                </a:lnTo>
                <a:moveTo>
                  <a:pt x="14" y="204"/>
                </a:moveTo>
                <a:lnTo>
                  <a:pt x="73" y="204"/>
                </a:lnTo>
                <a:moveTo>
                  <a:pt x="0" y="190"/>
                </a:moveTo>
                <a:lnTo>
                  <a:pt x="87" y="190"/>
                </a:lnTo>
                <a:moveTo>
                  <a:pt x="44" y="0"/>
                </a:moveTo>
                <a:lnTo>
                  <a:pt x="44" y="19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64" name="Rectangle 45">
            <a:extLst>
              <a:ext uri="{FF2B5EF4-FFF2-40B4-BE49-F238E27FC236}">
                <a16:creationId xmlns:a16="http://schemas.microsoft.com/office/drawing/2014/main" id="{A54F9BC9-E3E2-4836-BAC7-0324D45DE914}"/>
              </a:ext>
            </a:extLst>
          </p:cNvPr>
          <p:cNvSpPr>
            <a:spLocks noChangeArrowheads="1"/>
          </p:cNvSpPr>
          <p:nvPr/>
        </p:nvSpPr>
        <p:spPr bwMode="auto">
          <a:xfrm>
            <a:off x="2746375" y="2989263"/>
            <a:ext cx="1317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S</a:t>
            </a:r>
            <a:endParaRPr lang="zh-CN" altLang="zh-CN" sz="1800"/>
          </a:p>
        </p:txBody>
      </p:sp>
      <p:sp>
        <p:nvSpPr>
          <p:cNvPr id="81965" name="Rectangle 46">
            <a:extLst>
              <a:ext uri="{FF2B5EF4-FFF2-40B4-BE49-F238E27FC236}">
                <a16:creationId xmlns:a16="http://schemas.microsoft.com/office/drawing/2014/main" id="{61E6EDAD-2CF4-49A3-80A1-F406768287A4}"/>
              </a:ext>
            </a:extLst>
          </p:cNvPr>
          <p:cNvSpPr>
            <a:spLocks noChangeArrowheads="1"/>
          </p:cNvSpPr>
          <p:nvPr/>
        </p:nvSpPr>
        <p:spPr bwMode="auto">
          <a:xfrm>
            <a:off x="2836863" y="2989263"/>
            <a:ext cx="1333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2</a:t>
            </a:r>
            <a:endParaRPr lang="zh-CN" altLang="zh-CN" sz="1800"/>
          </a:p>
        </p:txBody>
      </p:sp>
      <p:sp>
        <p:nvSpPr>
          <p:cNvPr id="81966" name="Rectangle 47">
            <a:extLst>
              <a:ext uri="{FF2B5EF4-FFF2-40B4-BE49-F238E27FC236}">
                <a16:creationId xmlns:a16="http://schemas.microsoft.com/office/drawing/2014/main" id="{21B55721-8E65-4370-BBE2-B16E72E305E9}"/>
              </a:ext>
            </a:extLst>
          </p:cNvPr>
          <p:cNvSpPr>
            <a:spLocks noChangeArrowheads="1"/>
          </p:cNvSpPr>
          <p:nvPr/>
        </p:nvSpPr>
        <p:spPr bwMode="auto">
          <a:xfrm>
            <a:off x="2681288" y="2106613"/>
            <a:ext cx="1333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S</a:t>
            </a:r>
            <a:endParaRPr lang="zh-CN" altLang="zh-CN" sz="1800"/>
          </a:p>
        </p:txBody>
      </p:sp>
      <p:sp>
        <p:nvSpPr>
          <p:cNvPr id="81967" name="Rectangle 48">
            <a:extLst>
              <a:ext uri="{FF2B5EF4-FFF2-40B4-BE49-F238E27FC236}">
                <a16:creationId xmlns:a16="http://schemas.microsoft.com/office/drawing/2014/main" id="{9DD045F9-8565-49FF-943B-F70909BCF422}"/>
              </a:ext>
            </a:extLst>
          </p:cNvPr>
          <p:cNvSpPr>
            <a:spLocks noChangeArrowheads="1"/>
          </p:cNvSpPr>
          <p:nvPr/>
        </p:nvSpPr>
        <p:spPr bwMode="auto">
          <a:xfrm>
            <a:off x="2773363" y="2106613"/>
            <a:ext cx="1317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1</a:t>
            </a:r>
            <a:endParaRPr lang="zh-CN" altLang="zh-CN" sz="1800"/>
          </a:p>
        </p:txBody>
      </p:sp>
      <p:sp>
        <p:nvSpPr>
          <p:cNvPr id="81968" name="Oval 49">
            <a:extLst>
              <a:ext uri="{FF2B5EF4-FFF2-40B4-BE49-F238E27FC236}">
                <a16:creationId xmlns:a16="http://schemas.microsoft.com/office/drawing/2014/main" id="{A7FE413D-17D3-4C35-8C5D-A601582645C0}"/>
              </a:ext>
            </a:extLst>
          </p:cNvPr>
          <p:cNvSpPr>
            <a:spLocks noChangeArrowheads="1"/>
          </p:cNvSpPr>
          <p:nvPr/>
        </p:nvSpPr>
        <p:spPr bwMode="auto">
          <a:xfrm>
            <a:off x="3055938" y="1947863"/>
            <a:ext cx="63500" cy="57150"/>
          </a:xfrm>
          <a:prstGeom prst="ellipse">
            <a:avLst/>
          </a:prstGeom>
          <a:solidFill>
            <a:srgbClr val="FFFFFF"/>
          </a:solidFill>
          <a:ln w="0">
            <a:solidFill>
              <a:srgbClr val="000000"/>
            </a:solidFill>
            <a:round/>
            <a:headEnd/>
            <a:tailEnd/>
          </a:ln>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81969" name="Oval 50">
            <a:extLst>
              <a:ext uri="{FF2B5EF4-FFF2-40B4-BE49-F238E27FC236}">
                <a16:creationId xmlns:a16="http://schemas.microsoft.com/office/drawing/2014/main" id="{B5EBD8EB-E8F3-42F6-9394-AA8F8BFDA6A8}"/>
              </a:ext>
            </a:extLst>
          </p:cNvPr>
          <p:cNvSpPr>
            <a:spLocks noChangeArrowheads="1"/>
          </p:cNvSpPr>
          <p:nvPr/>
        </p:nvSpPr>
        <p:spPr bwMode="auto">
          <a:xfrm>
            <a:off x="3055938" y="1947863"/>
            <a:ext cx="63500" cy="57150"/>
          </a:xfrm>
          <a:prstGeom prst="ellipse">
            <a:avLst/>
          </a:prstGeom>
          <a:noFill/>
          <a:ln w="952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81970" name="Rectangle 53">
            <a:extLst>
              <a:ext uri="{FF2B5EF4-FFF2-40B4-BE49-F238E27FC236}">
                <a16:creationId xmlns:a16="http://schemas.microsoft.com/office/drawing/2014/main" id="{760C535B-DD7A-424F-BA49-B1C1500131B3}"/>
              </a:ext>
            </a:extLst>
          </p:cNvPr>
          <p:cNvSpPr>
            <a:spLocks noChangeArrowheads="1"/>
          </p:cNvSpPr>
          <p:nvPr/>
        </p:nvSpPr>
        <p:spPr bwMode="auto">
          <a:xfrm>
            <a:off x="3729038" y="2400300"/>
            <a:ext cx="2651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C</a:t>
            </a:r>
            <a:r>
              <a:rPr lang="en-US" altLang="zh-CN" sz="1800">
                <a:solidFill>
                  <a:srgbClr val="000000"/>
                </a:solidFill>
                <a:latin typeface="宋体" panose="02010600030101010101" pitchFamily="2" charset="-122"/>
              </a:rPr>
              <a:t>x</a:t>
            </a:r>
            <a:endParaRPr lang="zh-CN" altLang="zh-CN" sz="1800"/>
          </a:p>
        </p:txBody>
      </p:sp>
      <p:sp>
        <p:nvSpPr>
          <p:cNvPr id="81971" name="Rectangle 54">
            <a:extLst>
              <a:ext uri="{FF2B5EF4-FFF2-40B4-BE49-F238E27FC236}">
                <a16:creationId xmlns:a16="http://schemas.microsoft.com/office/drawing/2014/main" id="{6ABD19E0-04EB-462E-9F46-680D64F4C25A}"/>
              </a:ext>
            </a:extLst>
          </p:cNvPr>
          <p:cNvSpPr>
            <a:spLocks noChangeArrowheads="1"/>
          </p:cNvSpPr>
          <p:nvPr/>
        </p:nvSpPr>
        <p:spPr bwMode="auto">
          <a:xfrm>
            <a:off x="3563938" y="3165475"/>
            <a:ext cx="2651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Cs</a:t>
            </a:r>
            <a:endParaRPr lang="zh-CN" altLang="zh-CN" sz="1800"/>
          </a:p>
        </p:txBody>
      </p:sp>
      <p:sp>
        <p:nvSpPr>
          <p:cNvPr id="81972" name="Rectangle 55">
            <a:extLst>
              <a:ext uri="{FF2B5EF4-FFF2-40B4-BE49-F238E27FC236}">
                <a16:creationId xmlns:a16="http://schemas.microsoft.com/office/drawing/2014/main" id="{FF3251DC-0D8C-4364-824E-A4538E21EF57}"/>
              </a:ext>
            </a:extLst>
          </p:cNvPr>
          <p:cNvSpPr>
            <a:spLocks noChangeArrowheads="1"/>
          </p:cNvSpPr>
          <p:nvPr/>
        </p:nvSpPr>
        <p:spPr bwMode="auto">
          <a:xfrm>
            <a:off x="3759200" y="3165475"/>
            <a:ext cx="1317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1</a:t>
            </a:r>
            <a:endParaRPr lang="zh-CN" altLang="zh-CN" sz="1800"/>
          </a:p>
        </p:txBody>
      </p:sp>
      <p:sp>
        <p:nvSpPr>
          <p:cNvPr id="81973" name="Rectangle 56">
            <a:extLst>
              <a:ext uri="{FF2B5EF4-FFF2-40B4-BE49-F238E27FC236}">
                <a16:creationId xmlns:a16="http://schemas.microsoft.com/office/drawing/2014/main" id="{A796299D-8ED6-47B7-AC1B-67AF9BE968FA}"/>
              </a:ext>
            </a:extLst>
          </p:cNvPr>
          <p:cNvSpPr>
            <a:spLocks noChangeArrowheads="1"/>
          </p:cNvSpPr>
          <p:nvPr/>
        </p:nvSpPr>
        <p:spPr bwMode="auto">
          <a:xfrm>
            <a:off x="4171950" y="3144838"/>
            <a:ext cx="2651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Cs</a:t>
            </a:r>
            <a:endParaRPr lang="zh-CN" altLang="zh-CN" sz="1800"/>
          </a:p>
        </p:txBody>
      </p:sp>
      <p:sp>
        <p:nvSpPr>
          <p:cNvPr id="81974" name="Rectangle 57">
            <a:extLst>
              <a:ext uri="{FF2B5EF4-FFF2-40B4-BE49-F238E27FC236}">
                <a16:creationId xmlns:a16="http://schemas.microsoft.com/office/drawing/2014/main" id="{A404427E-172D-48A7-A748-6CBD3BF1F095}"/>
              </a:ext>
            </a:extLst>
          </p:cNvPr>
          <p:cNvSpPr>
            <a:spLocks noChangeArrowheads="1"/>
          </p:cNvSpPr>
          <p:nvPr/>
        </p:nvSpPr>
        <p:spPr bwMode="auto">
          <a:xfrm>
            <a:off x="4389438" y="3167063"/>
            <a:ext cx="1317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2</a:t>
            </a:r>
            <a:endParaRPr lang="zh-CN" altLang="zh-CN" sz="1800"/>
          </a:p>
        </p:txBody>
      </p:sp>
      <p:sp>
        <p:nvSpPr>
          <p:cNvPr id="81975" name="Rectangle 58">
            <a:extLst>
              <a:ext uri="{FF2B5EF4-FFF2-40B4-BE49-F238E27FC236}">
                <a16:creationId xmlns:a16="http://schemas.microsoft.com/office/drawing/2014/main" id="{5679029F-7BEC-4D5A-BAA8-7716B079AEA2}"/>
              </a:ext>
            </a:extLst>
          </p:cNvPr>
          <p:cNvSpPr>
            <a:spLocks noChangeArrowheads="1"/>
          </p:cNvSpPr>
          <p:nvPr/>
        </p:nvSpPr>
        <p:spPr bwMode="auto">
          <a:xfrm>
            <a:off x="6173788" y="2106613"/>
            <a:ext cx="1317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2</a:t>
            </a:r>
            <a:endParaRPr lang="zh-CN" altLang="zh-CN" sz="1800"/>
          </a:p>
        </p:txBody>
      </p:sp>
      <p:sp>
        <p:nvSpPr>
          <p:cNvPr id="81976" name="Rectangle 59">
            <a:extLst>
              <a:ext uri="{FF2B5EF4-FFF2-40B4-BE49-F238E27FC236}">
                <a16:creationId xmlns:a16="http://schemas.microsoft.com/office/drawing/2014/main" id="{338349B8-D31E-461F-B84A-7CB021E4E973}"/>
              </a:ext>
            </a:extLst>
          </p:cNvPr>
          <p:cNvSpPr>
            <a:spLocks noChangeArrowheads="1"/>
          </p:cNvSpPr>
          <p:nvPr/>
        </p:nvSpPr>
        <p:spPr bwMode="auto">
          <a:xfrm>
            <a:off x="5824538" y="1865313"/>
            <a:ext cx="134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b="1">
                <a:solidFill>
                  <a:srgbClr val="000000"/>
                </a:solidFill>
                <a:latin typeface="宋体" panose="02010600030101010101" pitchFamily="2" charset="-122"/>
              </a:rPr>
              <a:t>-</a:t>
            </a:r>
            <a:endParaRPr lang="zh-CN" altLang="zh-CN" sz="1800"/>
          </a:p>
        </p:txBody>
      </p:sp>
      <p:sp>
        <p:nvSpPr>
          <p:cNvPr id="81977" name="Rectangle 60">
            <a:extLst>
              <a:ext uri="{FF2B5EF4-FFF2-40B4-BE49-F238E27FC236}">
                <a16:creationId xmlns:a16="http://schemas.microsoft.com/office/drawing/2014/main" id="{98203C99-B89B-428C-B4C3-8EC3E6E67E85}"/>
              </a:ext>
            </a:extLst>
          </p:cNvPr>
          <p:cNvSpPr>
            <a:spLocks noChangeArrowheads="1"/>
          </p:cNvSpPr>
          <p:nvPr/>
        </p:nvSpPr>
        <p:spPr bwMode="auto">
          <a:xfrm>
            <a:off x="5843588" y="2341563"/>
            <a:ext cx="1333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a:t>
            </a:r>
            <a:endParaRPr lang="zh-CN" altLang="zh-CN" sz="1800"/>
          </a:p>
        </p:txBody>
      </p:sp>
      <p:sp>
        <p:nvSpPr>
          <p:cNvPr id="81978" name="Line 61">
            <a:extLst>
              <a:ext uri="{FF2B5EF4-FFF2-40B4-BE49-F238E27FC236}">
                <a16:creationId xmlns:a16="http://schemas.microsoft.com/office/drawing/2014/main" id="{8B981E17-1E99-4C36-B6AD-E27F9CECEF83}"/>
              </a:ext>
            </a:extLst>
          </p:cNvPr>
          <p:cNvSpPr>
            <a:spLocks noChangeShapeType="1"/>
          </p:cNvSpPr>
          <p:nvPr/>
        </p:nvSpPr>
        <p:spPr bwMode="auto">
          <a:xfrm>
            <a:off x="5437188" y="2414588"/>
            <a:ext cx="0" cy="258762"/>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79" name="Freeform 62">
            <a:extLst>
              <a:ext uri="{FF2B5EF4-FFF2-40B4-BE49-F238E27FC236}">
                <a16:creationId xmlns:a16="http://schemas.microsoft.com/office/drawing/2014/main" id="{6F55EE28-D26E-4905-A103-BB098166B934}"/>
              </a:ext>
            </a:extLst>
          </p:cNvPr>
          <p:cNvSpPr>
            <a:spLocks/>
          </p:cNvSpPr>
          <p:nvPr/>
        </p:nvSpPr>
        <p:spPr bwMode="auto">
          <a:xfrm>
            <a:off x="5437188" y="2411413"/>
            <a:ext cx="293687" cy="7937"/>
          </a:xfrm>
          <a:custGeom>
            <a:avLst/>
            <a:gdLst>
              <a:gd name="T0" fmla="*/ 0 w 151"/>
              <a:gd name="T1" fmla="*/ 0 h 5"/>
              <a:gd name="T2" fmla="*/ 0 w 151"/>
              <a:gd name="T3" fmla="*/ 13450040 h 5"/>
              <a:gd name="T4" fmla="*/ 571896112 w 151"/>
              <a:gd name="T5" fmla="*/ 13450040 h 5"/>
              <a:gd name="T6" fmla="*/ 0 60000 65536"/>
              <a:gd name="T7" fmla="*/ 0 60000 65536"/>
              <a:gd name="T8" fmla="*/ 0 60000 65536"/>
            </a:gdLst>
            <a:ahLst/>
            <a:cxnLst>
              <a:cxn ang="T6">
                <a:pos x="T0" y="T1"/>
              </a:cxn>
              <a:cxn ang="T7">
                <a:pos x="T2" y="T3"/>
              </a:cxn>
              <a:cxn ang="T8">
                <a:pos x="T4" y="T5"/>
              </a:cxn>
            </a:cxnLst>
            <a:rect l="0" t="0" r="r" b="b"/>
            <a:pathLst>
              <a:path w="151" h="5">
                <a:moveTo>
                  <a:pt x="0" y="0"/>
                </a:moveTo>
                <a:lnTo>
                  <a:pt x="0" y="5"/>
                </a:lnTo>
                <a:lnTo>
                  <a:pt x="151" y="5"/>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80" name="Freeform 64">
            <a:extLst>
              <a:ext uri="{FF2B5EF4-FFF2-40B4-BE49-F238E27FC236}">
                <a16:creationId xmlns:a16="http://schemas.microsoft.com/office/drawing/2014/main" id="{3468DE80-D651-485C-B08B-305CC4F6F0B7}"/>
              </a:ext>
            </a:extLst>
          </p:cNvPr>
          <p:cNvSpPr>
            <a:spLocks/>
          </p:cNvSpPr>
          <p:nvPr/>
        </p:nvSpPr>
        <p:spPr bwMode="auto">
          <a:xfrm>
            <a:off x="5970588" y="3121025"/>
            <a:ext cx="214312" cy="73025"/>
          </a:xfrm>
          <a:custGeom>
            <a:avLst/>
            <a:gdLst>
              <a:gd name="T0" fmla="*/ 0 w 110"/>
              <a:gd name="T1" fmla="*/ 63310977 h 43"/>
              <a:gd name="T2" fmla="*/ 34145746 w 110"/>
              <a:gd name="T3" fmla="*/ 0 h 43"/>
              <a:gd name="T4" fmla="*/ 106228614 w 110"/>
              <a:gd name="T5" fmla="*/ 123745108 h 43"/>
              <a:gd name="T6" fmla="*/ 174520106 w 110"/>
              <a:gd name="T7" fmla="*/ 0 h 43"/>
              <a:gd name="T8" fmla="*/ 242809651 w 110"/>
              <a:gd name="T9" fmla="*/ 123745108 h 43"/>
              <a:gd name="T10" fmla="*/ 311101144 w 110"/>
              <a:gd name="T11" fmla="*/ 0 h 43"/>
              <a:gd name="T12" fmla="*/ 383184011 w 110"/>
              <a:gd name="T13" fmla="*/ 123745108 h 43"/>
              <a:gd name="T14" fmla="*/ 417329758 w 110"/>
              <a:gd name="T15" fmla="*/ 63310977 h 4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0" h="43">
                <a:moveTo>
                  <a:pt x="0" y="22"/>
                </a:moveTo>
                <a:lnTo>
                  <a:pt x="9" y="0"/>
                </a:lnTo>
                <a:lnTo>
                  <a:pt x="28" y="43"/>
                </a:lnTo>
                <a:lnTo>
                  <a:pt x="46" y="0"/>
                </a:lnTo>
                <a:lnTo>
                  <a:pt x="64" y="43"/>
                </a:lnTo>
                <a:lnTo>
                  <a:pt x="82" y="0"/>
                </a:lnTo>
                <a:lnTo>
                  <a:pt x="101" y="43"/>
                </a:lnTo>
                <a:lnTo>
                  <a:pt x="110" y="22"/>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81" name="Freeform 65">
            <a:extLst>
              <a:ext uri="{FF2B5EF4-FFF2-40B4-BE49-F238E27FC236}">
                <a16:creationId xmlns:a16="http://schemas.microsoft.com/office/drawing/2014/main" id="{474AEEDD-C150-4103-A272-8A88ACE46E18}"/>
              </a:ext>
            </a:extLst>
          </p:cNvPr>
          <p:cNvSpPr>
            <a:spLocks/>
          </p:cNvSpPr>
          <p:nvPr/>
        </p:nvSpPr>
        <p:spPr bwMode="auto">
          <a:xfrm>
            <a:off x="5087938" y="3157538"/>
            <a:ext cx="882650" cy="369887"/>
          </a:xfrm>
          <a:custGeom>
            <a:avLst/>
            <a:gdLst>
              <a:gd name="T0" fmla="*/ 2027628637 w 384"/>
              <a:gd name="T1" fmla="*/ 0 h 219"/>
              <a:gd name="T2" fmla="*/ 0 w 384"/>
              <a:gd name="T3" fmla="*/ 0 h 219"/>
              <a:gd name="T4" fmla="*/ 0 w 384"/>
              <a:gd name="T5" fmla="*/ 622987669 h 219"/>
              <a:gd name="T6" fmla="*/ 0 60000 65536"/>
              <a:gd name="T7" fmla="*/ 0 60000 65536"/>
              <a:gd name="T8" fmla="*/ 0 60000 65536"/>
            </a:gdLst>
            <a:ahLst/>
            <a:cxnLst>
              <a:cxn ang="T6">
                <a:pos x="T0" y="T1"/>
              </a:cxn>
              <a:cxn ang="T7">
                <a:pos x="T2" y="T3"/>
              </a:cxn>
              <a:cxn ang="T8">
                <a:pos x="T4" y="T5"/>
              </a:cxn>
            </a:cxnLst>
            <a:rect l="0" t="0" r="r" b="b"/>
            <a:pathLst>
              <a:path w="384" h="219">
                <a:moveTo>
                  <a:pt x="384" y="0"/>
                </a:moveTo>
                <a:lnTo>
                  <a:pt x="0" y="0"/>
                </a:lnTo>
                <a:lnTo>
                  <a:pt x="0" y="219"/>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82" name="Freeform 66">
            <a:extLst>
              <a:ext uri="{FF2B5EF4-FFF2-40B4-BE49-F238E27FC236}">
                <a16:creationId xmlns:a16="http://schemas.microsoft.com/office/drawing/2014/main" id="{8969B899-ECDA-40A4-B357-464425D51734}"/>
              </a:ext>
            </a:extLst>
          </p:cNvPr>
          <p:cNvSpPr>
            <a:spLocks/>
          </p:cNvSpPr>
          <p:nvPr/>
        </p:nvSpPr>
        <p:spPr bwMode="auto">
          <a:xfrm>
            <a:off x="5757863" y="3306763"/>
            <a:ext cx="1066800" cy="928687"/>
          </a:xfrm>
          <a:custGeom>
            <a:avLst/>
            <a:gdLst>
              <a:gd name="T0" fmla="*/ 0 w 548"/>
              <a:gd name="T1" fmla="*/ 0 h 548"/>
              <a:gd name="T2" fmla="*/ 0 w 548"/>
              <a:gd name="T3" fmla="*/ 1573707573 h 548"/>
              <a:gd name="T4" fmla="*/ 2077380808 w 548"/>
              <a:gd name="T5" fmla="*/ 783981296 h 548"/>
              <a:gd name="T6" fmla="*/ 0 w 548"/>
              <a:gd name="T7" fmla="*/ 0 h 5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8" h="548">
                <a:moveTo>
                  <a:pt x="0" y="0"/>
                </a:moveTo>
                <a:lnTo>
                  <a:pt x="0" y="548"/>
                </a:lnTo>
                <a:lnTo>
                  <a:pt x="548" y="27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83" name="Freeform 67">
            <a:extLst>
              <a:ext uri="{FF2B5EF4-FFF2-40B4-BE49-F238E27FC236}">
                <a16:creationId xmlns:a16="http://schemas.microsoft.com/office/drawing/2014/main" id="{71D0EB4D-A849-4F06-82BE-6862123F6D36}"/>
              </a:ext>
            </a:extLst>
          </p:cNvPr>
          <p:cNvSpPr>
            <a:spLocks/>
          </p:cNvSpPr>
          <p:nvPr/>
        </p:nvSpPr>
        <p:spPr bwMode="auto">
          <a:xfrm>
            <a:off x="5757863" y="3306763"/>
            <a:ext cx="1066800" cy="928687"/>
          </a:xfrm>
          <a:custGeom>
            <a:avLst/>
            <a:gdLst>
              <a:gd name="T0" fmla="*/ 0 w 548"/>
              <a:gd name="T1" fmla="*/ 0 h 548"/>
              <a:gd name="T2" fmla="*/ 0 w 548"/>
              <a:gd name="T3" fmla="*/ 1573707573 h 548"/>
              <a:gd name="T4" fmla="*/ 2077380808 w 548"/>
              <a:gd name="T5" fmla="*/ 783981296 h 548"/>
              <a:gd name="T6" fmla="*/ 0 w 548"/>
              <a:gd name="T7" fmla="*/ 0 h 5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8" h="548">
                <a:moveTo>
                  <a:pt x="0" y="0"/>
                </a:moveTo>
                <a:lnTo>
                  <a:pt x="0" y="548"/>
                </a:lnTo>
                <a:lnTo>
                  <a:pt x="548" y="273"/>
                </a:lnTo>
                <a:lnTo>
                  <a:pt x="0" y="0"/>
                </a:ln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84" name="Freeform 69">
            <a:extLst>
              <a:ext uri="{FF2B5EF4-FFF2-40B4-BE49-F238E27FC236}">
                <a16:creationId xmlns:a16="http://schemas.microsoft.com/office/drawing/2014/main" id="{0CF078F1-62C1-4A4F-8ADF-93FE6E1DEB7D}"/>
              </a:ext>
            </a:extLst>
          </p:cNvPr>
          <p:cNvSpPr>
            <a:spLocks/>
          </p:cNvSpPr>
          <p:nvPr/>
        </p:nvSpPr>
        <p:spPr bwMode="auto">
          <a:xfrm>
            <a:off x="5222875" y="3492500"/>
            <a:ext cx="534988" cy="46038"/>
          </a:xfrm>
          <a:custGeom>
            <a:avLst/>
            <a:gdLst>
              <a:gd name="T0" fmla="*/ 1390711694 w 206"/>
              <a:gd name="T1" fmla="*/ 420962264 h 5"/>
              <a:gd name="T2" fmla="*/ 0 w 206"/>
              <a:gd name="T3" fmla="*/ 420962264 h 5"/>
              <a:gd name="T4" fmla="*/ 0 w 206"/>
              <a:gd name="T5" fmla="*/ 0 h 5"/>
              <a:gd name="T6" fmla="*/ 0 60000 65536"/>
              <a:gd name="T7" fmla="*/ 0 60000 65536"/>
              <a:gd name="T8" fmla="*/ 0 60000 65536"/>
            </a:gdLst>
            <a:ahLst/>
            <a:cxnLst>
              <a:cxn ang="T6">
                <a:pos x="T0" y="T1"/>
              </a:cxn>
              <a:cxn ang="T7">
                <a:pos x="T2" y="T3"/>
              </a:cxn>
              <a:cxn ang="T8">
                <a:pos x="T4" y="T5"/>
              </a:cxn>
            </a:cxnLst>
            <a:rect l="0" t="0" r="r" b="b"/>
            <a:pathLst>
              <a:path w="206" h="5">
                <a:moveTo>
                  <a:pt x="206" y="5"/>
                </a:moveTo>
                <a:lnTo>
                  <a:pt x="0" y="5"/>
                </a:ln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85" name="Freeform 70">
            <a:extLst>
              <a:ext uri="{FF2B5EF4-FFF2-40B4-BE49-F238E27FC236}">
                <a16:creationId xmlns:a16="http://schemas.microsoft.com/office/drawing/2014/main" id="{85EDDA5C-7FC7-49C2-B3BA-52D0C135547E}"/>
              </a:ext>
            </a:extLst>
          </p:cNvPr>
          <p:cNvSpPr>
            <a:spLocks/>
          </p:cNvSpPr>
          <p:nvPr/>
        </p:nvSpPr>
        <p:spPr bwMode="auto">
          <a:xfrm>
            <a:off x="4567238" y="3379788"/>
            <a:ext cx="655637" cy="158750"/>
          </a:xfrm>
          <a:custGeom>
            <a:avLst/>
            <a:gdLst>
              <a:gd name="T0" fmla="*/ 1305460951 w 329"/>
              <a:gd name="T1" fmla="*/ 269009556 h 93"/>
              <a:gd name="T2" fmla="*/ 0 w 329"/>
              <a:gd name="T3" fmla="*/ 269009556 h 93"/>
              <a:gd name="T4" fmla="*/ 0 w 329"/>
              <a:gd name="T5" fmla="*/ 0 h 93"/>
              <a:gd name="T6" fmla="*/ 0 60000 65536"/>
              <a:gd name="T7" fmla="*/ 0 60000 65536"/>
              <a:gd name="T8" fmla="*/ 0 60000 65536"/>
            </a:gdLst>
            <a:ahLst/>
            <a:cxnLst>
              <a:cxn ang="T6">
                <a:pos x="T0" y="T1"/>
              </a:cxn>
              <a:cxn ang="T7">
                <a:pos x="T2" y="T3"/>
              </a:cxn>
              <a:cxn ang="T8">
                <a:pos x="T4" y="T5"/>
              </a:cxn>
            </a:cxnLst>
            <a:rect l="0" t="0" r="r" b="b"/>
            <a:pathLst>
              <a:path w="329" h="93">
                <a:moveTo>
                  <a:pt x="329" y="93"/>
                </a:moveTo>
                <a:lnTo>
                  <a:pt x="0" y="93"/>
                </a:ln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86" name="Freeform 71">
            <a:extLst>
              <a:ext uri="{FF2B5EF4-FFF2-40B4-BE49-F238E27FC236}">
                <a16:creationId xmlns:a16="http://schemas.microsoft.com/office/drawing/2014/main" id="{8D7EA0FC-BC33-4FFE-9B71-3BEDE626774B}"/>
              </a:ext>
            </a:extLst>
          </p:cNvPr>
          <p:cNvSpPr>
            <a:spLocks/>
          </p:cNvSpPr>
          <p:nvPr/>
        </p:nvSpPr>
        <p:spPr bwMode="auto">
          <a:xfrm>
            <a:off x="6184900" y="3157538"/>
            <a:ext cx="935038" cy="612775"/>
          </a:xfrm>
          <a:custGeom>
            <a:avLst/>
            <a:gdLst>
              <a:gd name="T0" fmla="*/ 0 w 397"/>
              <a:gd name="T1" fmla="*/ 0 h 361"/>
              <a:gd name="T2" fmla="*/ 1974117231 w 397"/>
              <a:gd name="T3" fmla="*/ 0 h 361"/>
              <a:gd name="T4" fmla="*/ 1974117231 w 397"/>
              <a:gd name="T5" fmla="*/ 1038378640 h 361"/>
              <a:gd name="T6" fmla="*/ 2147483646 w 397"/>
              <a:gd name="T7" fmla="*/ 1038378640 h 36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97" h="361">
                <a:moveTo>
                  <a:pt x="0" y="0"/>
                </a:moveTo>
                <a:lnTo>
                  <a:pt x="356" y="0"/>
                </a:lnTo>
                <a:lnTo>
                  <a:pt x="356" y="361"/>
                </a:lnTo>
                <a:lnTo>
                  <a:pt x="397" y="361"/>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87" name="Freeform 72">
            <a:extLst>
              <a:ext uri="{FF2B5EF4-FFF2-40B4-BE49-F238E27FC236}">
                <a16:creationId xmlns:a16="http://schemas.microsoft.com/office/drawing/2014/main" id="{48921C4D-300E-492E-B126-83549B7B6715}"/>
              </a:ext>
            </a:extLst>
          </p:cNvPr>
          <p:cNvSpPr>
            <a:spLocks/>
          </p:cNvSpPr>
          <p:nvPr/>
        </p:nvSpPr>
        <p:spPr bwMode="auto">
          <a:xfrm>
            <a:off x="6184900" y="1409700"/>
            <a:ext cx="788988" cy="781050"/>
          </a:xfrm>
          <a:custGeom>
            <a:avLst/>
            <a:gdLst>
              <a:gd name="T0" fmla="*/ 0 w 405"/>
              <a:gd name="T1" fmla="*/ 0 h 461"/>
              <a:gd name="T2" fmla="*/ 1536397306 w 405"/>
              <a:gd name="T3" fmla="*/ 0 h 461"/>
              <a:gd name="T4" fmla="*/ 1536397306 w 405"/>
              <a:gd name="T5" fmla="*/ 1323529040 h 461"/>
              <a:gd name="T6" fmla="*/ 0 60000 65536"/>
              <a:gd name="T7" fmla="*/ 0 60000 65536"/>
              <a:gd name="T8" fmla="*/ 0 60000 65536"/>
            </a:gdLst>
            <a:ahLst/>
            <a:cxnLst>
              <a:cxn ang="T6">
                <a:pos x="T0" y="T1"/>
              </a:cxn>
              <a:cxn ang="T7">
                <a:pos x="T2" y="T3"/>
              </a:cxn>
              <a:cxn ang="T8">
                <a:pos x="T4" y="T5"/>
              </a:cxn>
            </a:cxnLst>
            <a:rect l="0" t="0" r="r" b="b"/>
            <a:pathLst>
              <a:path w="405" h="461">
                <a:moveTo>
                  <a:pt x="0" y="0"/>
                </a:moveTo>
                <a:lnTo>
                  <a:pt x="405" y="0"/>
                </a:lnTo>
                <a:lnTo>
                  <a:pt x="405" y="461"/>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88" name="Freeform 73">
            <a:extLst>
              <a:ext uri="{FF2B5EF4-FFF2-40B4-BE49-F238E27FC236}">
                <a16:creationId xmlns:a16="http://schemas.microsoft.com/office/drawing/2014/main" id="{C4502B12-C458-4789-8BF8-C67941440147}"/>
              </a:ext>
            </a:extLst>
          </p:cNvPr>
          <p:cNvSpPr>
            <a:spLocks noEditPoints="1"/>
          </p:cNvSpPr>
          <p:nvPr/>
        </p:nvSpPr>
        <p:spPr bwMode="auto">
          <a:xfrm>
            <a:off x="5008563" y="3751263"/>
            <a:ext cx="171450" cy="38100"/>
          </a:xfrm>
          <a:custGeom>
            <a:avLst/>
            <a:gdLst>
              <a:gd name="T0" fmla="*/ 333863806 w 88"/>
              <a:gd name="T1" fmla="*/ 64562182 h 22"/>
              <a:gd name="T2" fmla="*/ 0 w 88"/>
              <a:gd name="T3" fmla="*/ 64562182 h 22"/>
              <a:gd name="T4" fmla="*/ 333863806 w 88"/>
              <a:gd name="T5" fmla="*/ 0 h 22"/>
              <a:gd name="T6" fmla="*/ 0 w 88"/>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8" h="22">
                <a:moveTo>
                  <a:pt x="88" y="22"/>
                </a:moveTo>
                <a:lnTo>
                  <a:pt x="0" y="22"/>
                </a:lnTo>
                <a:moveTo>
                  <a:pt x="88" y="0"/>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89" name="Rectangle 75">
            <a:extLst>
              <a:ext uri="{FF2B5EF4-FFF2-40B4-BE49-F238E27FC236}">
                <a16:creationId xmlns:a16="http://schemas.microsoft.com/office/drawing/2014/main" id="{9E76A5CD-3ACD-44D9-96B6-48B5BE12A7AE}"/>
              </a:ext>
            </a:extLst>
          </p:cNvPr>
          <p:cNvSpPr>
            <a:spLocks noChangeArrowheads="1"/>
          </p:cNvSpPr>
          <p:nvPr/>
        </p:nvSpPr>
        <p:spPr bwMode="auto">
          <a:xfrm>
            <a:off x="5235575" y="3633788"/>
            <a:ext cx="1333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C</a:t>
            </a:r>
            <a:endParaRPr lang="zh-CN" altLang="zh-CN" sz="1800"/>
          </a:p>
        </p:txBody>
      </p:sp>
      <p:sp>
        <p:nvSpPr>
          <p:cNvPr id="81990" name="Freeform 76">
            <a:extLst>
              <a:ext uri="{FF2B5EF4-FFF2-40B4-BE49-F238E27FC236}">
                <a16:creationId xmlns:a16="http://schemas.microsoft.com/office/drawing/2014/main" id="{781B4EF3-2E4E-4040-8BC1-E196661479EE}"/>
              </a:ext>
            </a:extLst>
          </p:cNvPr>
          <p:cNvSpPr>
            <a:spLocks/>
          </p:cNvSpPr>
          <p:nvPr/>
        </p:nvSpPr>
        <p:spPr bwMode="auto">
          <a:xfrm>
            <a:off x="5094288" y="3538538"/>
            <a:ext cx="46037" cy="209550"/>
          </a:xfrm>
          <a:custGeom>
            <a:avLst/>
            <a:gdLst>
              <a:gd name="T0" fmla="*/ 0 w 12"/>
              <a:gd name="T1" fmla="*/ 378747173 h 116"/>
              <a:gd name="T2" fmla="*/ 0 w 12"/>
              <a:gd name="T3" fmla="*/ 0 h 116"/>
              <a:gd name="T4" fmla="*/ 175397134 w 12"/>
              <a:gd name="T5" fmla="*/ 0 h 116"/>
              <a:gd name="T6" fmla="*/ 0 60000 65536"/>
              <a:gd name="T7" fmla="*/ 0 60000 65536"/>
              <a:gd name="T8" fmla="*/ 0 60000 65536"/>
            </a:gdLst>
            <a:ahLst/>
            <a:cxnLst>
              <a:cxn ang="T6">
                <a:pos x="T0" y="T1"/>
              </a:cxn>
              <a:cxn ang="T7">
                <a:pos x="T2" y="T3"/>
              </a:cxn>
              <a:cxn ang="T8">
                <a:pos x="T4" y="T5"/>
              </a:cxn>
            </a:cxnLst>
            <a:rect l="0" t="0" r="r" b="b"/>
            <a:pathLst>
              <a:path w="12" h="116">
                <a:moveTo>
                  <a:pt x="0" y="116"/>
                </a:moveTo>
                <a:lnTo>
                  <a:pt x="0" y="0"/>
                </a:lnTo>
                <a:lnTo>
                  <a:pt x="12"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91" name="Freeform 77">
            <a:extLst>
              <a:ext uri="{FF2B5EF4-FFF2-40B4-BE49-F238E27FC236}">
                <a16:creationId xmlns:a16="http://schemas.microsoft.com/office/drawing/2014/main" id="{97C25C04-30EB-463C-AC0E-69AA29BEACFF}"/>
              </a:ext>
            </a:extLst>
          </p:cNvPr>
          <p:cNvSpPr>
            <a:spLocks noEditPoints="1"/>
          </p:cNvSpPr>
          <p:nvPr/>
        </p:nvSpPr>
        <p:spPr bwMode="auto">
          <a:xfrm>
            <a:off x="5308600" y="4049713"/>
            <a:ext cx="171450" cy="373062"/>
          </a:xfrm>
          <a:custGeom>
            <a:avLst/>
            <a:gdLst>
              <a:gd name="T0" fmla="*/ 110024141 w 88"/>
              <a:gd name="T1" fmla="*/ 632172212 h 220"/>
              <a:gd name="T2" fmla="*/ 223839665 w 88"/>
              <a:gd name="T3" fmla="*/ 632172212 h 220"/>
              <a:gd name="T4" fmla="*/ 56907762 w 88"/>
              <a:gd name="T5" fmla="*/ 589069985 h 220"/>
              <a:gd name="T6" fmla="*/ 276956044 w 88"/>
              <a:gd name="T7" fmla="*/ 589069985 h 220"/>
              <a:gd name="T8" fmla="*/ 0 w 88"/>
              <a:gd name="T9" fmla="*/ 545967758 h 220"/>
              <a:gd name="T10" fmla="*/ 333863806 w 88"/>
              <a:gd name="T11" fmla="*/ 545967758 h 220"/>
              <a:gd name="T12" fmla="*/ 166931903 w 88"/>
              <a:gd name="T13" fmla="*/ 0 h 220"/>
              <a:gd name="T14" fmla="*/ 166931903 w 88"/>
              <a:gd name="T15" fmla="*/ 545967758 h 22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8" h="220">
                <a:moveTo>
                  <a:pt x="29" y="220"/>
                </a:moveTo>
                <a:lnTo>
                  <a:pt x="59" y="220"/>
                </a:lnTo>
                <a:moveTo>
                  <a:pt x="15" y="205"/>
                </a:moveTo>
                <a:lnTo>
                  <a:pt x="73" y="205"/>
                </a:lnTo>
                <a:moveTo>
                  <a:pt x="0" y="190"/>
                </a:moveTo>
                <a:lnTo>
                  <a:pt x="88" y="190"/>
                </a:lnTo>
                <a:moveTo>
                  <a:pt x="44" y="0"/>
                </a:moveTo>
                <a:lnTo>
                  <a:pt x="44" y="19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92" name="Line 80">
            <a:extLst>
              <a:ext uri="{FF2B5EF4-FFF2-40B4-BE49-F238E27FC236}">
                <a16:creationId xmlns:a16="http://schemas.microsoft.com/office/drawing/2014/main" id="{EAE8C7F8-CCFE-437C-BD0F-C605B31AC27B}"/>
              </a:ext>
            </a:extLst>
          </p:cNvPr>
          <p:cNvSpPr>
            <a:spLocks noChangeShapeType="1"/>
          </p:cNvSpPr>
          <p:nvPr/>
        </p:nvSpPr>
        <p:spPr bwMode="auto">
          <a:xfrm>
            <a:off x="5094288" y="4043363"/>
            <a:ext cx="300037"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93" name="Rectangle 81">
            <a:extLst>
              <a:ext uri="{FF2B5EF4-FFF2-40B4-BE49-F238E27FC236}">
                <a16:creationId xmlns:a16="http://schemas.microsoft.com/office/drawing/2014/main" id="{8C907040-2B90-4BA0-A48A-F675A9AC0022}"/>
              </a:ext>
            </a:extLst>
          </p:cNvPr>
          <p:cNvSpPr>
            <a:spLocks noChangeArrowheads="1"/>
          </p:cNvSpPr>
          <p:nvPr/>
        </p:nvSpPr>
        <p:spPr bwMode="auto">
          <a:xfrm>
            <a:off x="5853113" y="3462338"/>
            <a:ext cx="134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b="1">
                <a:solidFill>
                  <a:srgbClr val="000000"/>
                </a:solidFill>
                <a:latin typeface="宋体" panose="02010600030101010101" pitchFamily="2" charset="-122"/>
              </a:rPr>
              <a:t>-</a:t>
            </a:r>
            <a:endParaRPr lang="zh-CN" altLang="zh-CN" sz="1800"/>
          </a:p>
        </p:txBody>
      </p:sp>
      <p:sp>
        <p:nvSpPr>
          <p:cNvPr id="81994" name="Rectangle 82">
            <a:extLst>
              <a:ext uri="{FF2B5EF4-FFF2-40B4-BE49-F238E27FC236}">
                <a16:creationId xmlns:a16="http://schemas.microsoft.com/office/drawing/2014/main" id="{A7C9143F-8CF9-4D15-85FE-FF86AD99B760}"/>
              </a:ext>
            </a:extLst>
          </p:cNvPr>
          <p:cNvSpPr>
            <a:spLocks noChangeArrowheads="1"/>
          </p:cNvSpPr>
          <p:nvPr/>
        </p:nvSpPr>
        <p:spPr bwMode="auto">
          <a:xfrm>
            <a:off x="6221413" y="3684588"/>
            <a:ext cx="1333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1</a:t>
            </a:r>
            <a:endParaRPr lang="zh-CN" altLang="zh-CN" sz="1800"/>
          </a:p>
        </p:txBody>
      </p:sp>
      <p:sp>
        <p:nvSpPr>
          <p:cNvPr id="81995" name="Rectangle 83">
            <a:extLst>
              <a:ext uri="{FF2B5EF4-FFF2-40B4-BE49-F238E27FC236}">
                <a16:creationId xmlns:a16="http://schemas.microsoft.com/office/drawing/2014/main" id="{46E293F8-642A-4E34-829C-BE56C2990C92}"/>
              </a:ext>
            </a:extLst>
          </p:cNvPr>
          <p:cNvSpPr>
            <a:spLocks noChangeArrowheads="1"/>
          </p:cNvSpPr>
          <p:nvPr/>
        </p:nvSpPr>
        <p:spPr bwMode="auto">
          <a:xfrm>
            <a:off x="5980113" y="2838450"/>
            <a:ext cx="2651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Rf</a:t>
            </a:r>
            <a:endParaRPr lang="zh-CN" altLang="zh-CN" sz="1800"/>
          </a:p>
        </p:txBody>
      </p:sp>
      <p:sp>
        <p:nvSpPr>
          <p:cNvPr id="81996" name="Freeform 84">
            <a:extLst>
              <a:ext uri="{FF2B5EF4-FFF2-40B4-BE49-F238E27FC236}">
                <a16:creationId xmlns:a16="http://schemas.microsoft.com/office/drawing/2014/main" id="{3A3BC361-B9A8-496C-99F1-A82646F6FF60}"/>
              </a:ext>
            </a:extLst>
          </p:cNvPr>
          <p:cNvSpPr>
            <a:spLocks/>
          </p:cNvSpPr>
          <p:nvPr/>
        </p:nvSpPr>
        <p:spPr bwMode="auto">
          <a:xfrm>
            <a:off x="7423150" y="2376488"/>
            <a:ext cx="1066800" cy="930275"/>
          </a:xfrm>
          <a:custGeom>
            <a:avLst/>
            <a:gdLst>
              <a:gd name="T0" fmla="*/ 0 w 548"/>
              <a:gd name="T1" fmla="*/ 0 h 549"/>
              <a:gd name="T2" fmla="*/ 0 w 548"/>
              <a:gd name="T3" fmla="*/ 1576397586 h 549"/>
              <a:gd name="T4" fmla="*/ 2077380808 w 548"/>
              <a:gd name="T5" fmla="*/ 786763560 h 549"/>
              <a:gd name="T6" fmla="*/ 0 w 548"/>
              <a:gd name="T7" fmla="*/ 0 h 5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8" h="549">
                <a:moveTo>
                  <a:pt x="0" y="0"/>
                </a:moveTo>
                <a:lnTo>
                  <a:pt x="0" y="549"/>
                </a:lnTo>
                <a:lnTo>
                  <a:pt x="548" y="274"/>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97" name="Freeform 85">
            <a:extLst>
              <a:ext uri="{FF2B5EF4-FFF2-40B4-BE49-F238E27FC236}">
                <a16:creationId xmlns:a16="http://schemas.microsoft.com/office/drawing/2014/main" id="{C4C90CB8-5A67-464A-A3E5-6384D3C8E6A5}"/>
              </a:ext>
            </a:extLst>
          </p:cNvPr>
          <p:cNvSpPr>
            <a:spLocks/>
          </p:cNvSpPr>
          <p:nvPr/>
        </p:nvSpPr>
        <p:spPr bwMode="auto">
          <a:xfrm>
            <a:off x="7727950" y="2376488"/>
            <a:ext cx="1068388" cy="930275"/>
          </a:xfrm>
          <a:custGeom>
            <a:avLst/>
            <a:gdLst>
              <a:gd name="T0" fmla="*/ 0 w 548"/>
              <a:gd name="T1" fmla="*/ 0 h 549"/>
              <a:gd name="T2" fmla="*/ 0 w 548"/>
              <a:gd name="T3" fmla="*/ 1576397586 h 549"/>
              <a:gd name="T4" fmla="*/ 2080473122 w 548"/>
              <a:gd name="T5" fmla="*/ 786763560 h 549"/>
              <a:gd name="T6" fmla="*/ 0 w 548"/>
              <a:gd name="T7" fmla="*/ 0 h 5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8" h="549">
                <a:moveTo>
                  <a:pt x="0" y="0"/>
                </a:moveTo>
                <a:lnTo>
                  <a:pt x="0" y="549"/>
                </a:lnTo>
                <a:lnTo>
                  <a:pt x="548" y="274"/>
                </a:lnTo>
                <a:lnTo>
                  <a:pt x="0" y="0"/>
                </a:ln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98" name="Freeform 87">
            <a:extLst>
              <a:ext uri="{FF2B5EF4-FFF2-40B4-BE49-F238E27FC236}">
                <a16:creationId xmlns:a16="http://schemas.microsoft.com/office/drawing/2014/main" id="{D8AD9FC4-AE79-4B36-8EFC-29217CA44BF1}"/>
              </a:ext>
            </a:extLst>
          </p:cNvPr>
          <p:cNvSpPr>
            <a:spLocks/>
          </p:cNvSpPr>
          <p:nvPr/>
        </p:nvSpPr>
        <p:spPr bwMode="auto">
          <a:xfrm>
            <a:off x="7251700" y="3073400"/>
            <a:ext cx="474663" cy="696913"/>
          </a:xfrm>
          <a:custGeom>
            <a:avLst/>
            <a:gdLst>
              <a:gd name="T0" fmla="*/ 2147483646 w 19"/>
              <a:gd name="T1" fmla="*/ 0 h 411"/>
              <a:gd name="T2" fmla="*/ 2147483646 w 19"/>
              <a:gd name="T3" fmla="*/ 0 h 411"/>
              <a:gd name="T4" fmla="*/ 2147483646 w 19"/>
              <a:gd name="T5" fmla="*/ 1180953839 h 411"/>
              <a:gd name="T6" fmla="*/ 0 w 19"/>
              <a:gd name="T7" fmla="*/ 1180953839 h 41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411">
                <a:moveTo>
                  <a:pt x="19" y="0"/>
                </a:moveTo>
                <a:lnTo>
                  <a:pt x="5" y="0"/>
                </a:lnTo>
                <a:lnTo>
                  <a:pt x="5" y="411"/>
                </a:lnTo>
                <a:lnTo>
                  <a:pt x="0" y="411"/>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99" name="Line 88">
            <a:extLst>
              <a:ext uri="{FF2B5EF4-FFF2-40B4-BE49-F238E27FC236}">
                <a16:creationId xmlns:a16="http://schemas.microsoft.com/office/drawing/2014/main" id="{3152F3AA-351A-422E-BB36-2757F9FA31EB}"/>
              </a:ext>
            </a:extLst>
          </p:cNvPr>
          <p:cNvSpPr>
            <a:spLocks noChangeShapeType="1"/>
          </p:cNvSpPr>
          <p:nvPr/>
        </p:nvSpPr>
        <p:spPr bwMode="auto">
          <a:xfrm>
            <a:off x="6824663" y="2190750"/>
            <a:ext cx="427037"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00" name="Freeform 89">
            <a:extLst>
              <a:ext uri="{FF2B5EF4-FFF2-40B4-BE49-F238E27FC236}">
                <a16:creationId xmlns:a16="http://schemas.microsoft.com/office/drawing/2014/main" id="{05D8791B-625B-45C1-9B37-D1B0288B3B1F}"/>
              </a:ext>
            </a:extLst>
          </p:cNvPr>
          <p:cNvSpPr>
            <a:spLocks/>
          </p:cNvSpPr>
          <p:nvPr/>
        </p:nvSpPr>
        <p:spPr bwMode="auto">
          <a:xfrm>
            <a:off x="7251700" y="2190750"/>
            <a:ext cx="474663" cy="419100"/>
          </a:xfrm>
          <a:custGeom>
            <a:avLst/>
            <a:gdLst>
              <a:gd name="T0" fmla="*/ 2147483646 w 19"/>
              <a:gd name="T1" fmla="*/ 710186160 h 247"/>
              <a:gd name="T2" fmla="*/ 2147483646 w 19"/>
              <a:gd name="T3" fmla="*/ 710186160 h 247"/>
              <a:gd name="T4" fmla="*/ 2147483646 w 19"/>
              <a:gd name="T5" fmla="*/ 0 h 247"/>
              <a:gd name="T6" fmla="*/ 0 w 19"/>
              <a:gd name="T7" fmla="*/ 0 h 2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247">
                <a:moveTo>
                  <a:pt x="19" y="247"/>
                </a:moveTo>
                <a:lnTo>
                  <a:pt x="5" y="247"/>
                </a:lnTo>
                <a:lnTo>
                  <a:pt x="5" y="0"/>
                </a:ln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001" name="Line 90">
            <a:extLst>
              <a:ext uri="{FF2B5EF4-FFF2-40B4-BE49-F238E27FC236}">
                <a16:creationId xmlns:a16="http://schemas.microsoft.com/office/drawing/2014/main" id="{8BA3613D-27D2-49EE-A955-94B6188AD612}"/>
              </a:ext>
            </a:extLst>
          </p:cNvPr>
          <p:cNvSpPr>
            <a:spLocks noChangeShapeType="1"/>
          </p:cNvSpPr>
          <p:nvPr/>
        </p:nvSpPr>
        <p:spPr bwMode="auto">
          <a:xfrm>
            <a:off x="6835775" y="3765550"/>
            <a:ext cx="425450" cy="4763"/>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02" name="Rectangle 91">
            <a:extLst>
              <a:ext uri="{FF2B5EF4-FFF2-40B4-BE49-F238E27FC236}">
                <a16:creationId xmlns:a16="http://schemas.microsoft.com/office/drawing/2014/main" id="{0E5BA927-A680-47C2-8A9A-36F34BE8F338}"/>
              </a:ext>
            </a:extLst>
          </p:cNvPr>
          <p:cNvSpPr>
            <a:spLocks noChangeArrowheads="1"/>
          </p:cNvSpPr>
          <p:nvPr/>
        </p:nvSpPr>
        <p:spPr bwMode="auto">
          <a:xfrm>
            <a:off x="7759700" y="2474913"/>
            <a:ext cx="1349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b="1">
                <a:solidFill>
                  <a:srgbClr val="000000"/>
                </a:solidFill>
                <a:latin typeface="宋体" panose="02010600030101010101" pitchFamily="2" charset="-122"/>
              </a:rPr>
              <a:t>-</a:t>
            </a:r>
            <a:endParaRPr lang="zh-CN" altLang="zh-CN" sz="1800"/>
          </a:p>
        </p:txBody>
      </p:sp>
      <p:sp>
        <p:nvSpPr>
          <p:cNvPr id="82003" name="Rectangle 92">
            <a:extLst>
              <a:ext uri="{FF2B5EF4-FFF2-40B4-BE49-F238E27FC236}">
                <a16:creationId xmlns:a16="http://schemas.microsoft.com/office/drawing/2014/main" id="{CBDD9525-8B05-42BA-9F53-F8733148F251}"/>
              </a:ext>
            </a:extLst>
          </p:cNvPr>
          <p:cNvSpPr>
            <a:spLocks noChangeArrowheads="1"/>
          </p:cNvSpPr>
          <p:nvPr/>
        </p:nvSpPr>
        <p:spPr bwMode="auto">
          <a:xfrm>
            <a:off x="7777163" y="2962275"/>
            <a:ext cx="1333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a:t>
            </a:r>
            <a:endParaRPr lang="zh-CN" altLang="zh-CN" sz="1800"/>
          </a:p>
        </p:txBody>
      </p:sp>
      <p:sp>
        <p:nvSpPr>
          <p:cNvPr id="82004" name="Rectangle 93">
            <a:extLst>
              <a:ext uri="{FF2B5EF4-FFF2-40B4-BE49-F238E27FC236}">
                <a16:creationId xmlns:a16="http://schemas.microsoft.com/office/drawing/2014/main" id="{40CDF026-6C4A-41ED-863A-1243D239FD4A}"/>
              </a:ext>
            </a:extLst>
          </p:cNvPr>
          <p:cNvSpPr>
            <a:spLocks noChangeArrowheads="1"/>
          </p:cNvSpPr>
          <p:nvPr/>
        </p:nvSpPr>
        <p:spPr bwMode="auto">
          <a:xfrm>
            <a:off x="7948613" y="2730500"/>
            <a:ext cx="1317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3</a:t>
            </a:r>
            <a:endParaRPr lang="zh-CN" altLang="zh-CN" sz="1800"/>
          </a:p>
        </p:txBody>
      </p:sp>
      <p:sp>
        <p:nvSpPr>
          <p:cNvPr id="82005" name="Rectangle 94">
            <a:extLst>
              <a:ext uri="{FF2B5EF4-FFF2-40B4-BE49-F238E27FC236}">
                <a16:creationId xmlns:a16="http://schemas.microsoft.com/office/drawing/2014/main" id="{9925A3C5-D30B-4FFC-9672-16D6D47AB934}"/>
              </a:ext>
            </a:extLst>
          </p:cNvPr>
          <p:cNvSpPr>
            <a:spLocks noChangeArrowheads="1"/>
          </p:cNvSpPr>
          <p:nvPr/>
        </p:nvSpPr>
        <p:spPr bwMode="auto">
          <a:xfrm>
            <a:off x="7086600" y="1844675"/>
            <a:ext cx="1317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V</a:t>
            </a:r>
            <a:endParaRPr lang="zh-CN" altLang="zh-CN" sz="1800"/>
          </a:p>
        </p:txBody>
      </p:sp>
      <p:sp>
        <p:nvSpPr>
          <p:cNvPr id="82006" name="Rectangle 95">
            <a:extLst>
              <a:ext uri="{FF2B5EF4-FFF2-40B4-BE49-F238E27FC236}">
                <a16:creationId xmlns:a16="http://schemas.microsoft.com/office/drawing/2014/main" id="{B7ACA550-529A-4CE4-9C88-1365B20E7062}"/>
              </a:ext>
            </a:extLst>
          </p:cNvPr>
          <p:cNvSpPr>
            <a:spLocks noChangeArrowheads="1"/>
          </p:cNvSpPr>
          <p:nvPr/>
        </p:nvSpPr>
        <p:spPr bwMode="auto">
          <a:xfrm>
            <a:off x="7175500" y="1844675"/>
            <a:ext cx="1333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1</a:t>
            </a:r>
            <a:endParaRPr lang="zh-CN" altLang="zh-CN" sz="1800"/>
          </a:p>
        </p:txBody>
      </p:sp>
      <p:sp>
        <p:nvSpPr>
          <p:cNvPr id="82007" name="Rectangle 96">
            <a:extLst>
              <a:ext uri="{FF2B5EF4-FFF2-40B4-BE49-F238E27FC236}">
                <a16:creationId xmlns:a16="http://schemas.microsoft.com/office/drawing/2014/main" id="{4078AC13-6070-47F6-BD0C-ACD031933A7A}"/>
              </a:ext>
            </a:extLst>
          </p:cNvPr>
          <p:cNvSpPr>
            <a:spLocks noChangeArrowheads="1"/>
          </p:cNvSpPr>
          <p:nvPr/>
        </p:nvSpPr>
        <p:spPr bwMode="auto">
          <a:xfrm>
            <a:off x="7019925" y="3440113"/>
            <a:ext cx="1333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V</a:t>
            </a:r>
            <a:endParaRPr lang="zh-CN" altLang="zh-CN" sz="1800"/>
          </a:p>
        </p:txBody>
      </p:sp>
      <p:sp>
        <p:nvSpPr>
          <p:cNvPr id="82008" name="Rectangle 97">
            <a:extLst>
              <a:ext uri="{FF2B5EF4-FFF2-40B4-BE49-F238E27FC236}">
                <a16:creationId xmlns:a16="http://schemas.microsoft.com/office/drawing/2014/main" id="{F76C4B35-ED42-47F6-8005-5B11AF460421}"/>
              </a:ext>
            </a:extLst>
          </p:cNvPr>
          <p:cNvSpPr>
            <a:spLocks noChangeArrowheads="1"/>
          </p:cNvSpPr>
          <p:nvPr/>
        </p:nvSpPr>
        <p:spPr bwMode="auto">
          <a:xfrm>
            <a:off x="7110413" y="3440113"/>
            <a:ext cx="1317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2</a:t>
            </a:r>
            <a:endParaRPr lang="zh-CN" altLang="zh-CN" sz="1800"/>
          </a:p>
        </p:txBody>
      </p:sp>
      <p:sp>
        <p:nvSpPr>
          <p:cNvPr id="82009" name="Freeform 106">
            <a:extLst>
              <a:ext uri="{FF2B5EF4-FFF2-40B4-BE49-F238E27FC236}">
                <a16:creationId xmlns:a16="http://schemas.microsoft.com/office/drawing/2014/main" id="{C4162184-0430-4375-836B-7F8F64856865}"/>
              </a:ext>
            </a:extLst>
          </p:cNvPr>
          <p:cNvSpPr>
            <a:spLocks/>
          </p:cNvSpPr>
          <p:nvPr/>
        </p:nvSpPr>
        <p:spPr bwMode="auto">
          <a:xfrm>
            <a:off x="5137150" y="2563813"/>
            <a:ext cx="300038" cy="109537"/>
          </a:xfrm>
          <a:custGeom>
            <a:avLst/>
            <a:gdLst>
              <a:gd name="T0" fmla="*/ 0 w 154"/>
              <a:gd name="T1" fmla="*/ 0 h 65"/>
              <a:gd name="T2" fmla="*/ 0 w 154"/>
              <a:gd name="T3" fmla="*/ 185616345 h 65"/>
              <a:gd name="T4" fmla="*/ 584263608 w 154"/>
              <a:gd name="T5" fmla="*/ 185616345 h 65"/>
              <a:gd name="T6" fmla="*/ 0 60000 65536"/>
              <a:gd name="T7" fmla="*/ 0 60000 65536"/>
              <a:gd name="T8" fmla="*/ 0 60000 65536"/>
            </a:gdLst>
            <a:ahLst/>
            <a:cxnLst>
              <a:cxn ang="T6">
                <a:pos x="T0" y="T1"/>
              </a:cxn>
              <a:cxn ang="T7">
                <a:pos x="T2" y="T3"/>
              </a:cxn>
              <a:cxn ang="T8">
                <a:pos x="T4" y="T5"/>
              </a:cxn>
            </a:cxnLst>
            <a:rect l="0" t="0" r="r" b="b"/>
            <a:pathLst>
              <a:path w="154" h="65">
                <a:moveTo>
                  <a:pt x="0" y="0"/>
                </a:moveTo>
                <a:lnTo>
                  <a:pt x="0" y="65"/>
                </a:lnTo>
                <a:lnTo>
                  <a:pt x="154" y="65"/>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010" name="Rectangle 83">
            <a:extLst>
              <a:ext uri="{FF2B5EF4-FFF2-40B4-BE49-F238E27FC236}">
                <a16:creationId xmlns:a16="http://schemas.microsoft.com/office/drawing/2014/main" id="{AA99126E-5D2B-4A5D-91BE-3CE4F0D742D9}"/>
              </a:ext>
            </a:extLst>
          </p:cNvPr>
          <p:cNvSpPr>
            <a:spLocks noChangeArrowheads="1"/>
          </p:cNvSpPr>
          <p:nvPr/>
        </p:nvSpPr>
        <p:spPr bwMode="auto">
          <a:xfrm>
            <a:off x="5940425" y="1052513"/>
            <a:ext cx="2651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Rf</a:t>
            </a:r>
            <a:endParaRPr lang="zh-CN" altLang="zh-CN" sz="1800"/>
          </a:p>
        </p:txBody>
      </p:sp>
      <p:sp>
        <p:nvSpPr>
          <p:cNvPr id="82011" name="Rectangle 60">
            <a:extLst>
              <a:ext uri="{FF2B5EF4-FFF2-40B4-BE49-F238E27FC236}">
                <a16:creationId xmlns:a16="http://schemas.microsoft.com/office/drawing/2014/main" id="{E7BD87A2-630E-46FF-A03D-591DBAAA35C8}"/>
              </a:ext>
            </a:extLst>
          </p:cNvPr>
          <p:cNvSpPr>
            <a:spLocks noChangeArrowheads="1"/>
          </p:cNvSpPr>
          <p:nvPr/>
        </p:nvSpPr>
        <p:spPr bwMode="auto">
          <a:xfrm>
            <a:off x="5824538" y="3873500"/>
            <a:ext cx="1333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a:t>
            </a:r>
            <a:endParaRPr lang="zh-CN" altLang="zh-CN" sz="1800"/>
          </a:p>
        </p:txBody>
      </p:sp>
      <p:sp>
        <p:nvSpPr>
          <p:cNvPr id="54325" name="椭圆 54324">
            <a:extLst>
              <a:ext uri="{FF2B5EF4-FFF2-40B4-BE49-F238E27FC236}">
                <a16:creationId xmlns:a16="http://schemas.microsoft.com/office/drawing/2014/main" id="{A4E1E719-2C7D-459A-B2E0-5534D5E11CCA}"/>
              </a:ext>
            </a:extLst>
          </p:cNvPr>
          <p:cNvSpPr/>
          <p:nvPr/>
        </p:nvSpPr>
        <p:spPr>
          <a:xfrm>
            <a:off x="3067050" y="2724150"/>
            <a:ext cx="44450" cy="4286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0" name="椭圆 119">
            <a:extLst>
              <a:ext uri="{FF2B5EF4-FFF2-40B4-BE49-F238E27FC236}">
                <a16:creationId xmlns:a16="http://schemas.microsoft.com/office/drawing/2014/main" id="{80E84B79-841C-4D6E-AB3A-5FCFD3F20E6B}"/>
              </a:ext>
            </a:extLst>
          </p:cNvPr>
          <p:cNvSpPr/>
          <p:nvPr/>
        </p:nvSpPr>
        <p:spPr>
          <a:xfrm>
            <a:off x="3495675" y="2730500"/>
            <a:ext cx="46038" cy="4286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1" name="椭圆 120">
            <a:extLst>
              <a:ext uri="{FF2B5EF4-FFF2-40B4-BE49-F238E27FC236}">
                <a16:creationId xmlns:a16="http://schemas.microsoft.com/office/drawing/2014/main" id="{99B6E029-9A75-4016-BBA2-59B6C323B709}"/>
              </a:ext>
            </a:extLst>
          </p:cNvPr>
          <p:cNvSpPr/>
          <p:nvPr/>
        </p:nvSpPr>
        <p:spPr>
          <a:xfrm>
            <a:off x="4137025" y="2730500"/>
            <a:ext cx="46038" cy="4286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2" name="椭圆 121">
            <a:extLst>
              <a:ext uri="{FF2B5EF4-FFF2-40B4-BE49-F238E27FC236}">
                <a16:creationId xmlns:a16="http://schemas.microsoft.com/office/drawing/2014/main" id="{BB458DAE-BFB4-4C70-9E01-A21FBE0C06A5}"/>
              </a:ext>
            </a:extLst>
          </p:cNvPr>
          <p:cNvSpPr/>
          <p:nvPr/>
        </p:nvSpPr>
        <p:spPr>
          <a:xfrm>
            <a:off x="4551363" y="2730500"/>
            <a:ext cx="46037" cy="4286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3" name="椭圆 122">
            <a:extLst>
              <a:ext uri="{FF2B5EF4-FFF2-40B4-BE49-F238E27FC236}">
                <a16:creationId xmlns:a16="http://schemas.microsoft.com/office/drawing/2014/main" id="{575141C8-FD8B-4F1D-8CCA-5BCD5BFB0CFD}"/>
              </a:ext>
            </a:extLst>
          </p:cNvPr>
          <p:cNvSpPr/>
          <p:nvPr/>
        </p:nvSpPr>
        <p:spPr>
          <a:xfrm>
            <a:off x="5070475" y="3513138"/>
            <a:ext cx="44450" cy="4127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4" name="椭圆 123">
            <a:extLst>
              <a:ext uri="{FF2B5EF4-FFF2-40B4-BE49-F238E27FC236}">
                <a16:creationId xmlns:a16="http://schemas.microsoft.com/office/drawing/2014/main" id="{F4BD962B-E0D6-4AD2-809C-AC3277130BB4}"/>
              </a:ext>
            </a:extLst>
          </p:cNvPr>
          <p:cNvSpPr/>
          <p:nvPr/>
        </p:nvSpPr>
        <p:spPr>
          <a:xfrm>
            <a:off x="5118100" y="1938338"/>
            <a:ext cx="46038" cy="428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6" name="椭圆 125">
            <a:extLst>
              <a:ext uri="{FF2B5EF4-FFF2-40B4-BE49-F238E27FC236}">
                <a16:creationId xmlns:a16="http://schemas.microsoft.com/office/drawing/2014/main" id="{252A0F18-6B63-4A84-83F9-8BFDCA06071F}"/>
              </a:ext>
            </a:extLst>
          </p:cNvPr>
          <p:cNvSpPr/>
          <p:nvPr/>
        </p:nvSpPr>
        <p:spPr>
          <a:xfrm>
            <a:off x="6954838" y="2170113"/>
            <a:ext cx="46037" cy="4127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7" name="椭圆 126">
            <a:extLst>
              <a:ext uri="{FF2B5EF4-FFF2-40B4-BE49-F238E27FC236}">
                <a16:creationId xmlns:a16="http://schemas.microsoft.com/office/drawing/2014/main" id="{8AFC9D05-0638-420C-9CCC-098A3A6BE68B}"/>
              </a:ext>
            </a:extLst>
          </p:cNvPr>
          <p:cNvSpPr/>
          <p:nvPr/>
        </p:nvSpPr>
        <p:spPr>
          <a:xfrm>
            <a:off x="7000875" y="3748088"/>
            <a:ext cx="46038" cy="4127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2020" name="Rectangle 47">
            <a:extLst>
              <a:ext uri="{FF2B5EF4-FFF2-40B4-BE49-F238E27FC236}">
                <a16:creationId xmlns:a16="http://schemas.microsoft.com/office/drawing/2014/main" id="{4539620D-144F-4681-A3D6-51D1A7CE4D41}"/>
              </a:ext>
            </a:extLst>
          </p:cNvPr>
          <p:cNvSpPr>
            <a:spLocks noChangeArrowheads="1"/>
          </p:cNvSpPr>
          <p:nvPr/>
        </p:nvSpPr>
        <p:spPr bwMode="auto">
          <a:xfrm>
            <a:off x="2878138" y="1609725"/>
            <a:ext cx="5111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a:solidFill>
                  <a:srgbClr val="000000"/>
                </a:solidFill>
                <a:latin typeface="宋体" panose="02010600030101010101" pitchFamily="2" charset="-122"/>
              </a:rPr>
              <a:t>+Vc</a:t>
            </a:r>
            <a:endParaRPr lang="zh-CN" altLang="zh-CN" sz="1800"/>
          </a:p>
        </p:txBody>
      </p:sp>
      <p:sp>
        <p:nvSpPr>
          <p:cNvPr id="82021" name="Oval 49">
            <a:extLst>
              <a:ext uri="{FF2B5EF4-FFF2-40B4-BE49-F238E27FC236}">
                <a16:creationId xmlns:a16="http://schemas.microsoft.com/office/drawing/2014/main" id="{C58E5D8D-03FD-4197-BEE4-2174ED5BD07E}"/>
              </a:ext>
            </a:extLst>
          </p:cNvPr>
          <p:cNvSpPr>
            <a:spLocks noChangeArrowheads="1"/>
          </p:cNvSpPr>
          <p:nvPr/>
        </p:nvSpPr>
        <p:spPr bwMode="auto">
          <a:xfrm rot="4568680">
            <a:off x="8919369" y="2810669"/>
            <a:ext cx="58738" cy="57150"/>
          </a:xfrm>
          <a:prstGeom prst="ellipse">
            <a:avLst/>
          </a:prstGeom>
          <a:solidFill>
            <a:srgbClr val="FFFFFF"/>
          </a:solidFill>
          <a:ln w="0">
            <a:solidFill>
              <a:srgbClr val="000000"/>
            </a:solidFill>
            <a:round/>
            <a:headEnd/>
            <a:tailEnd/>
          </a:ln>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82022" name="Line 90">
            <a:extLst>
              <a:ext uri="{FF2B5EF4-FFF2-40B4-BE49-F238E27FC236}">
                <a16:creationId xmlns:a16="http://schemas.microsoft.com/office/drawing/2014/main" id="{7276EBCF-C190-4D3F-8720-CCD1398F15A3}"/>
              </a:ext>
            </a:extLst>
          </p:cNvPr>
          <p:cNvSpPr>
            <a:spLocks noChangeShapeType="1"/>
          </p:cNvSpPr>
          <p:nvPr/>
        </p:nvSpPr>
        <p:spPr bwMode="auto">
          <a:xfrm>
            <a:off x="5087938" y="3789363"/>
            <a:ext cx="0" cy="26035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23" name="Line 80">
            <a:extLst>
              <a:ext uri="{FF2B5EF4-FFF2-40B4-BE49-F238E27FC236}">
                <a16:creationId xmlns:a16="http://schemas.microsoft.com/office/drawing/2014/main" id="{029E4FDD-F9E8-46CD-8B8B-B6EF2007C6AD}"/>
              </a:ext>
            </a:extLst>
          </p:cNvPr>
          <p:cNvSpPr>
            <a:spLocks noChangeShapeType="1"/>
          </p:cNvSpPr>
          <p:nvPr/>
        </p:nvSpPr>
        <p:spPr bwMode="auto">
          <a:xfrm>
            <a:off x="5403850" y="4041775"/>
            <a:ext cx="354013"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24" name="Line 88">
            <a:extLst>
              <a:ext uri="{FF2B5EF4-FFF2-40B4-BE49-F238E27FC236}">
                <a16:creationId xmlns:a16="http://schemas.microsoft.com/office/drawing/2014/main" id="{1494080D-6B95-442A-BF7E-F37C0C28749F}"/>
              </a:ext>
            </a:extLst>
          </p:cNvPr>
          <p:cNvSpPr>
            <a:spLocks noChangeShapeType="1"/>
          </p:cNvSpPr>
          <p:nvPr/>
        </p:nvSpPr>
        <p:spPr bwMode="auto">
          <a:xfrm>
            <a:off x="8796338" y="2838450"/>
            <a:ext cx="117475"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27" name="任意多边形: 形状 54326">
            <a:extLst>
              <a:ext uri="{FF2B5EF4-FFF2-40B4-BE49-F238E27FC236}">
                <a16:creationId xmlns:a16="http://schemas.microsoft.com/office/drawing/2014/main" id="{1DA72C33-0BCE-49A4-A6ED-FF75C1FE4AE0}"/>
              </a:ext>
            </a:extLst>
          </p:cNvPr>
          <p:cNvSpPr/>
          <p:nvPr/>
        </p:nvSpPr>
        <p:spPr>
          <a:xfrm>
            <a:off x="2949575" y="2098675"/>
            <a:ext cx="4164013" cy="1616075"/>
          </a:xfrm>
          <a:custGeom>
            <a:avLst/>
            <a:gdLst>
              <a:gd name="connsiteX0" fmla="*/ 140781 w 4164141"/>
              <a:gd name="connsiteY0" fmla="*/ 0 h 1617045"/>
              <a:gd name="connsiteX1" fmla="*/ 140781 w 4164141"/>
              <a:gd name="connsiteY1" fmla="*/ 635268 h 1617045"/>
              <a:gd name="connsiteX2" fmla="*/ 1603821 w 4164141"/>
              <a:gd name="connsiteY2" fmla="*/ 673769 h 1617045"/>
              <a:gd name="connsiteX3" fmla="*/ 1680824 w 4164141"/>
              <a:gd name="connsiteY3" fmla="*/ 1424539 h 1617045"/>
              <a:gd name="connsiteX4" fmla="*/ 2171712 w 4164141"/>
              <a:gd name="connsiteY4" fmla="*/ 1424539 h 1617045"/>
              <a:gd name="connsiteX5" fmla="*/ 2171712 w 4164141"/>
              <a:gd name="connsiteY5" fmla="*/ 1068405 h 1617045"/>
              <a:gd name="connsiteX6" fmla="*/ 3769506 w 4164141"/>
              <a:gd name="connsiteY6" fmla="*/ 1039529 h 1617045"/>
              <a:gd name="connsiteX7" fmla="*/ 4164141 w 4164141"/>
              <a:gd name="connsiteY7" fmla="*/ 1617045 h 1617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4141" h="1617045">
                <a:moveTo>
                  <a:pt x="140781" y="0"/>
                </a:moveTo>
                <a:cubicBezTo>
                  <a:pt x="18861" y="261486"/>
                  <a:pt x="-103059" y="522973"/>
                  <a:pt x="140781" y="635268"/>
                </a:cubicBezTo>
                <a:cubicBezTo>
                  <a:pt x="384621" y="747563"/>
                  <a:pt x="1347147" y="542224"/>
                  <a:pt x="1603821" y="673769"/>
                </a:cubicBezTo>
                <a:cubicBezTo>
                  <a:pt x="1860495" y="805314"/>
                  <a:pt x="1586176" y="1299411"/>
                  <a:pt x="1680824" y="1424539"/>
                </a:cubicBezTo>
                <a:cubicBezTo>
                  <a:pt x="1775472" y="1549667"/>
                  <a:pt x="2089897" y="1483895"/>
                  <a:pt x="2171712" y="1424539"/>
                </a:cubicBezTo>
                <a:cubicBezTo>
                  <a:pt x="2253527" y="1365183"/>
                  <a:pt x="1905413" y="1132573"/>
                  <a:pt x="2171712" y="1068405"/>
                </a:cubicBezTo>
                <a:cubicBezTo>
                  <a:pt x="2438011" y="1004237"/>
                  <a:pt x="3437435" y="948089"/>
                  <a:pt x="3769506" y="1039529"/>
                </a:cubicBezTo>
                <a:cubicBezTo>
                  <a:pt x="4101578" y="1130969"/>
                  <a:pt x="4050242" y="1522397"/>
                  <a:pt x="4164141" y="1617045"/>
                </a:cubicBezTo>
              </a:path>
            </a:pathLst>
          </a:custGeom>
          <a:noFill/>
          <a:ln w="19050">
            <a:solidFill>
              <a:schemeClr val="tx2"/>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328" name="任意多边形: 形状 54327">
            <a:extLst>
              <a:ext uri="{FF2B5EF4-FFF2-40B4-BE49-F238E27FC236}">
                <a16:creationId xmlns:a16="http://schemas.microsoft.com/office/drawing/2014/main" id="{397DD90D-2174-4CD4-8C69-BD174A362BBF}"/>
              </a:ext>
            </a:extLst>
          </p:cNvPr>
          <p:cNvSpPr/>
          <p:nvPr/>
        </p:nvSpPr>
        <p:spPr>
          <a:xfrm>
            <a:off x="3032125" y="1301750"/>
            <a:ext cx="4160838" cy="2135188"/>
          </a:xfrm>
          <a:custGeom>
            <a:avLst/>
            <a:gdLst>
              <a:gd name="connsiteX0" fmla="*/ 4119613 w 4161713"/>
              <a:gd name="connsiteY0" fmla="*/ 844044 h 2133829"/>
              <a:gd name="connsiteX1" fmla="*/ 3888606 w 4161713"/>
              <a:gd name="connsiteY1" fmla="*/ 93273 h 2133829"/>
              <a:gd name="connsiteX2" fmla="*/ 2059806 w 4161713"/>
              <a:gd name="connsiteY2" fmla="*/ 64397 h 2133829"/>
              <a:gd name="connsiteX3" fmla="*/ 1982804 w 4161713"/>
              <a:gd name="connsiteY3" fmla="*/ 574536 h 2133829"/>
              <a:gd name="connsiteX4" fmla="*/ 1511166 w 4161713"/>
              <a:gd name="connsiteY4" fmla="*/ 699665 h 2133829"/>
              <a:gd name="connsiteX5" fmla="*/ 1559293 w 4161713"/>
              <a:gd name="connsiteY5" fmla="*/ 1277181 h 2133829"/>
              <a:gd name="connsiteX6" fmla="*/ 365760 w 4161713"/>
              <a:gd name="connsiteY6" fmla="*/ 1431185 h 2133829"/>
              <a:gd name="connsiteX7" fmla="*/ 86627 w 4161713"/>
              <a:gd name="connsiteY7" fmla="*/ 1460061 h 2133829"/>
              <a:gd name="connsiteX8" fmla="*/ 0 w 4161713"/>
              <a:gd name="connsiteY8" fmla="*/ 2133829 h 21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61713" h="2133829">
                <a:moveTo>
                  <a:pt x="4119613" y="844044"/>
                </a:moveTo>
                <a:cubicBezTo>
                  <a:pt x="4175760" y="533629"/>
                  <a:pt x="4231907" y="223214"/>
                  <a:pt x="3888606" y="93273"/>
                </a:cubicBezTo>
                <a:cubicBezTo>
                  <a:pt x="3545305" y="-36668"/>
                  <a:pt x="2377440" y="-15813"/>
                  <a:pt x="2059806" y="64397"/>
                </a:cubicBezTo>
                <a:cubicBezTo>
                  <a:pt x="1742172" y="144607"/>
                  <a:pt x="2074244" y="468658"/>
                  <a:pt x="1982804" y="574536"/>
                </a:cubicBezTo>
                <a:cubicBezTo>
                  <a:pt x="1891364" y="680414"/>
                  <a:pt x="1581751" y="582558"/>
                  <a:pt x="1511166" y="699665"/>
                </a:cubicBezTo>
                <a:cubicBezTo>
                  <a:pt x="1440581" y="816772"/>
                  <a:pt x="1750194" y="1155261"/>
                  <a:pt x="1559293" y="1277181"/>
                </a:cubicBezTo>
                <a:cubicBezTo>
                  <a:pt x="1368392" y="1399101"/>
                  <a:pt x="611204" y="1400705"/>
                  <a:pt x="365760" y="1431185"/>
                </a:cubicBezTo>
                <a:cubicBezTo>
                  <a:pt x="120316" y="1461665"/>
                  <a:pt x="147587" y="1342954"/>
                  <a:pt x="86627" y="1460061"/>
                </a:cubicBezTo>
                <a:cubicBezTo>
                  <a:pt x="25667" y="1577168"/>
                  <a:pt x="12833" y="1855498"/>
                  <a:pt x="0" y="2133829"/>
                </a:cubicBezTo>
              </a:path>
            </a:pathLst>
          </a:custGeom>
          <a:noFill/>
          <a:ln w="19050">
            <a:solidFill>
              <a:srgbClr val="7030A0"/>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2028" name="Rectangle 47">
            <a:extLst>
              <a:ext uri="{FF2B5EF4-FFF2-40B4-BE49-F238E27FC236}">
                <a16:creationId xmlns:a16="http://schemas.microsoft.com/office/drawing/2014/main" id="{E7B51093-7CBC-4115-AF26-9B667E46EEAD}"/>
              </a:ext>
            </a:extLst>
          </p:cNvPr>
          <p:cNvSpPr>
            <a:spLocks noChangeArrowheads="1"/>
          </p:cNvSpPr>
          <p:nvPr/>
        </p:nvSpPr>
        <p:spPr bwMode="auto">
          <a:xfrm>
            <a:off x="8796338" y="2411413"/>
            <a:ext cx="5111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a:solidFill>
                  <a:srgbClr val="000000"/>
                </a:solidFill>
                <a:latin typeface="宋体" panose="02010600030101010101" pitchFamily="2" charset="-122"/>
              </a:rPr>
              <a:t>Vo</a:t>
            </a:r>
            <a:endParaRPr lang="zh-CN" altLang="zh-CN" sz="1800"/>
          </a:p>
        </p:txBody>
      </p:sp>
      <p:sp>
        <p:nvSpPr>
          <p:cNvPr id="82029" name="矩形 54328">
            <a:extLst>
              <a:ext uri="{FF2B5EF4-FFF2-40B4-BE49-F238E27FC236}">
                <a16:creationId xmlns:a16="http://schemas.microsoft.com/office/drawing/2014/main" id="{B5FB9E27-321D-4390-A604-C02377CBDA53}"/>
              </a:ext>
            </a:extLst>
          </p:cNvPr>
          <p:cNvSpPr>
            <a:spLocks noChangeArrowheads="1"/>
          </p:cNvSpPr>
          <p:nvPr/>
        </p:nvSpPr>
        <p:spPr bwMode="auto">
          <a:xfrm>
            <a:off x="633413" y="1566863"/>
            <a:ext cx="1681162" cy="1422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lang="zh-CN" altLang="en-US" sz="2000" b="1" dirty="0">
                <a:solidFill>
                  <a:schemeClr val="tx2"/>
                </a:solidFill>
                <a:latin typeface="微软雅黑" panose="020B0503020204020204" pitchFamily="34" charset="-122"/>
                <a:ea typeface="微软雅黑" panose="020B0503020204020204" pitchFamily="34" charset="-122"/>
              </a:rPr>
              <a:t>采用：</a:t>
            </a:r>
            <a:r>
              <a:rPr lang="zh-CN" altLang="en-US" sz="2000" b="1" dirty="0">
                <a:solidFill>
                  <a:srgbClr val="0099FF"/>
                </a:solidFill>
                <a:latin typeface="微软雅黑" panose="020B0503020204020204" pitchFamily="34" charset="-122"/>
                <a:ea typeface="微软雅黑" panose="020B0503020204020204" pitchFamily="34" charset="-122"/>
              </a:rPr>
              <a:t>差分式充放电电容检测电路</a:t>
            </a:r>
          </a:p>
        </p:txBody>
      </p:sp>
      <p:sp>
        <p:nvSpPr>
          <p:cNvPr id="82030" name="矩形 138">
            <a:extLst>
              <a:ext uri="{FF2B5EF4-FFF2-40B4-BE49-F238E27FC236}">
                <a16:creationId xmlns:a16="http://schemas.microsoft.com/office/drawing/2014/main" id="{B95C15F6-B5E2-4B74-BCF9-4C10B95E2877}"/>
              </a:ext>
            </a:extLst>
          </p:cNvPr>
          <p:cNvSpPr>
            <a:spLocks noChangeArrowheads="1"/>
          </p:cNvSpPr>
          <p:nvPr/>
        </p:nvSpPr>
        <p:spPr bwMode="auto">
          <a:xfrm>
            <a:off x="469900" y="4527550"/>
            <a:ext cx="77009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第</a:t>
            </a: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步：</a:t>
            </a:r>
            <a:r>
              <a:rPr lang="en-US" altLang="zh-CN" sz="2000" b="1" dirty="0">
                <a:latin typeface="微软雅黑" panose="020B0503020204020204" pitchFamily="34" charset="-122"/>
                <a:ea typeface="微软雅黑" panose="020B0503020204020204" pitchFamily="34" charset="-122"/>
              </a:rPr>
              <a:t>S1</a:t>
            </a:r>
            <a:r>
              <a:rPr lang="zh-CN" altLang="en-US" sz="2000" b="1" dirty="0">
                <a:latin typeface="微软雅黑" panose="020B0503020204020204" pitchFamily="34" charset="-122"/>
                <a:ea typeface="微软雅黑" panose="020B0503020204020204" pitchFamily="34" charset="-122"/>
              </a:rPr>
              <a:t>和</a:t>
            </a:r>
            <a:r>
              <a:rPr lang="en-US" altLang="zh-CN" sz="2000" b="1" dirty="0">
                <a:latin typeface="微软雅黑" panose="020B0503020204020204" pitchFamily="34" charset="-122"/>
                <a:ea typeface="微软雅黑" panose="020B0503020204020204" pitchFamily="34" charset="-122"/>
              </a:rPr>
              <a:t>S4</a:t>
            </a:r>
            <a:r>
              <a:rPr lang="zh-CN" altLang="en-US" sz="2000" b="1" dirty="0">
                <a:latin typeface="微软雅黑" panose="020B0503020204020204" pitchFamily="34" charset="-122"/>
                <a:ea typeface="微软雅黑" panose="020B0503020204020204" pitchFamily="34" charset="-122"/>
              </a:rPr>
              <a:t>闭合，</a:t>
            </a:r>
            <a:r>
              <a:rPr lang="en-US" altLang="zh-CN" sz="2000" b="1" dirty="0">
                <a:latin typeface="微软雅黑" panose="020B0503020204020204" pitchFamily="34" charset="-122"/>
                <a:ea typeface="微软雅黑" panose="020B0503020204020204" pitchFamily="34" charset="-122"/>
              </a:rPr>
              <a:t>S2</a:t>
            </a:r>
            <a:r>
              <a:rPr lang="zh-CN" altLang="en-US" sz="2000" b="1" dirty="0">
                <a:latin typeface="微软雅黑" panose="020B0503020204020204" pitchFamily="34" charset="-122"/>
                <a:ea typeface="微软雅黑" panose="020B0503020204020204" pitchFamily="34" charset="-122"/>
              </a:rPr>
              <a:t>和</a:t>
            </a:r>
            <a:r>
              <a:rPr lang="en-US" altLang="zh-CN" sz="2000" b="1" dirty="0">
                <a:latin typeface="微软雅黑" panose="020B0503020204020204" pitchFamily="34" charset="-122"/>
                <a:ea typeface="微软雅黑" panose="020B0503020204020204" pitchFamily="34" charset="-122"/>
              </a:rPr>
              <a:t>S3</a:t>
            </a:r>
            <a:r>
              <a:rPr lang="zh-CN" altLang="en-US" sz="2000" b="1" dirty="0">
                <a:latin typeface="微软雅黑" panose="020B0503020204020204" pitchFamily="34" charset="-122"/>
                <a:ea typeface="微软雅黑" panose="020B0503020204020204" pitchFamily="34" charset="-122"/>
              </a:rPr>
              <a:t>断开，</a:t>
            </a:r>
            <a:r>
              <a:rPr lang="en-US" altLang="zh-CN" sz="2000" b="1" dirty="0" err="1">
                <a:latin typeface="微软雅黑" panose="020B0503020204020204" pitchFamily="34" charset="-122"/>
                <a:ea typeface="微软雅黑" panose="020B0503020204020204" pitchFamily="34" charset="-122"/>
              </a:rPr>
              <a:t>Vc</a:t>
            </a:r>
            <a:r>
              <a:rPr lang="zh-CN" altLang="en-US" sz="2000" b="1" dirty="0">
                <a:latin typeface="微软雅黑" panose="020B0503020204020204" pitchFamily="34" charset="-122"/>
                <a:ea typeface="微软雅黑" panose="020B0503020204020204" pitchFamily="34" charset="-122"/>
              </a:rPr>
              <a:t>对</a:t>
            </a:r>
            <a:r>
              <a:rPr lang="en-US" altLang="zh-CN" sz="2000" b="1" dirty="0" err="1">
                <a:latin typeface="微软雅黑" panose="020B0503020204020204" pitchFamily="34" charset="-122"/>
                <a:ea typeface="微软雅黑" panose="020B0503020204020204" pitchFamily="34" charset="-122"/>
              </a:rPr>
              <a:t>Cx</a:t>
            </a:r>
            <a:r>
              <a:rPr lang="zh-CN" altLang="en-US" sz="2000" b="1" dirty="0">
                <a:latin typeface="微软雅黑" panose="020B0503020204020204" pitchFamily="34" charset="-122"/>
                <a:ea typeface="微软雅黑" panose="020B0503020204020204" pitchFamily="34" charset="-122"/>
              </a:rPr>
              <a:t>充电</a:t>
            </a:r>
            <a:endParaRPr lang="en-US" altLang="zh-CN" sz="2000" b="1" dirty="0">
              <a:latin typeface="微软雅黑" panose="020B0503020204020204" pitchFamily="34" charset="-122"/>
              <a:ea typeface="微软雅黑" panose="020B0503020204020204" pitchFamily="34" charset="-122"/>
            </a:endParaRPr>
          </a:p>
        </p:txBody>
      </p:sp>
      <p:sp>
        <p:nvSpPr>
          <p:cNvPr id="82031" name="矩形 139">
            <a:extLst>
              <a:ext uri="{FF2B5EF4-FFF2-40B4-BE49-F238E27FC236}">
                <a16:creationId xmlns:a16="http://schemas.microsoft.com/office/drawing/2014/main" id="{73752904-CCB8-4E3B-B10E-3FA43E2F8B7B}"/>
              </a:ext>
            </a:extLst>
          </p:cNvPr>
          <p:cNvSpPr>
            <a:spLocks noChangeArrowheads="1"/>
          </p:cNvSpPr>
          <p:nvPr/>
        </p:nvSpPr>
        <p:spPr bwMode="auto">
          <a:xfrm>
            <a:off x="492125" y="5097463"/>
            <a:ext cx="63325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第</a:t>
            </a:r>
            <a:r>
              <a:rPr lang="en-US" altLang="zh-CN" sz="2000" b="1" dirty="0">
                <a:latin typeface="微软雅黑" panose="020B0503020204020204" pitchFamily="34" charset="-122"/>
                <a:ea typeface="微软雅黑" panose="020B0503020204020204" pitchFamily="34" charset="-122"/>
              </a:rPr>
              <a:t>2</a:t>
            </a:r>
            <a:r>
              <a:rPr lang="zh-CN" altLang="en-US" sz="2000" b="1" dirty="0">
                <a:latin typeface="微软雅黑" panose="020B0503020204020204" pitchFamily="34" charset="-122"/>
                <a:ea typeface="微软雅黑" panose="020B0503020204020204" pitchFamily="34" charset="-122"/>
              </a:rPr>
              <a:t>步：</a:t>
            </a:r>
            <a:r>
              <a:rPr lang="en-US" altLang="zh-CN" sz="2000" b="1" dirty="0">
                <a:latin typeface="微软雅黑" panose="020B0503020204020204" pitchFamily="34" charset="-122"/>
                <a:ea typeface="微软雅黑" panose="020B0503020204020204" pitchFamily="34" charset="-122"/>
              </a:rPr>
              <a:t>S2</a:t>
            </a:r>
            <a:r>
              <a:rPr lang="zh-CN" altLang="en-US" sz="2000" b="1" dirty="0">
                <a:latin typeface="微软雅黑" panose="020B0503020204020204" pitchFamily="34" charset="-122"/>
                <a:ea typeface="微软雅黑" panose="020B0503020204020204" pitchFamily="34" charset="-122"/>
              </a:rPr>
              <a:t>和</a:t>
            </a:r>
            <a:r>
              <a:rPr lang="en-US" altLang="zh-CN" sz="2000" b="1" dirty="0">
                <a:latin typeface="微软雅黑" panose="020B0503020204020204" pitchFamily="34" charset="-122"/>
                <a:ea typeface="微软雅黑" panose="020B0503020204020204" pitchFamily="34" charset="-122"/>
              </a:rPr>
              <a:t>S3</a:t>
            </a:r>
            <a:r>
              <a:rPr lang="zh-CN" altLang="en-US" sz="2000" b="1" dirty="0">
                <a:latin typeface="微软雅黑" panose="020B0503020204020204" pitchFamily="34" charset="-122"/>
                <a:ea typeface="微软雅黑" panose="020B0503020204020204" pitchFamily="34" charset="-122"/>
              </a:rPr>
              <a:t>闭合，</a:t>
            </a:r>
            <a:r>
              <a:rPr lang="en-US" altLang="zh-CN" sz="2000" b="1" dirty="0">
                <a:latin typeface="微软雅黑" panose="020B0503020204020204" pitchFamily="34" charset="-122"/>
                <a:ea typeface="微软雅黑" panose="020B0503020204020204" pitchFamily="34" charset="-122"/>
              </a:rPr>
              <a:t> S1</a:t>
            </a:r>
            <a:r>
              <a:rPr lang="zh-CN" altLang="en-US" sz="2000" b="1" dirty="0">
                <a:latin typeface="微软雅黑" panose="020B0503020204020204" pitchFamily="34" charset="-122"/>
                <a:ea typeface="微软雅黑" panose="020B0503020204020204" pitchFamily="34" charset="-122"/>
              </a:rPr>
              <a:t>和</a:t>
            </a:r>
            <a:r>
              <a:rPr lang="en-US" altLang="zh-CN" sz="2000" b="1" dirty="0">
                <a:latin typeface="微软雅黑" panose="020B0503020204020204" pitchFamily="34" charset="-122"/>
                <a:ea typeface="微软雅黑" panose="020B0503020204020204" pitchFamily="34" charset="-122"/>
              </a:rPr>
              <a:t>S4</a:t>
            </a:r>
            <a:r>
              <a:rPr lang="zh-CN" altLang="en-US" sz="2000" b="1" dirty="0">
                <a:latin typeface="微软雅黑" panose="020B0503020204020204" pitchFamily="34" charset="-122"/>
                <a:ea typeface="微软雅黑" panose="020B0503020204020204" pitchFamily="34" charset="-122"/>
              </a:rPr>
              <a:t>断开，</a:t>
            </a:r>
            <a:r>
              <a:rPr lang="en-US" altLang="zh-CN" sz="2000" b="1" dirty="0" err="1">
                <a:latin typeface="微软雅黑" panose="020B0503020204020204" pitchFamily="34" charset="-122"/>
                <a:ea typeface="微软雅黑" panose="020B0503020204020204" pitchFamily="34" charset="-122"/>
              </a:rPr>
              <a:t>Cx</a:t>
            </a:r>
            <a:r>
              <a:rPr lang="zh-CN" altLang="en-US" sz="2000" b="1" dirty="0">
                <a:latin typeface="微软雅黑" panose="020B0503020204020204" pitchFamily="34" charset="-122"/>
                <a:ea typeface="微软雅黑" panose="020B0503020204020204" pitchFamily="34" charset="-122"/>
              </a:rPr>
              <a:t>对地放电</a:t>
            </a:r>
            <a:endParaRPr lang="en-US" altLang="zh-CN" sz="2000" b="1" dirty="0">
              <a:latin typeface="微软雅黑" panose="020B0503020204020204" pitchFamily="34" charset="-122"/>
              <a:ea typeface="微软雅黑" panose="020B0503020204020204" pitchFamily="34" charset="-122"/>
            </a:endParaRPr>
          </a:p>
        </p:txBody>
      </p:sp>
      <p:sp>
        <p:nvSpPr>
          <p:cNvPr id="82032" name="矩形 140">
            <a:extLst>
              <a:ext uri="{FF2B5EF4-FFF2-40B4-BE49-F238E27FC236}">
                <a16:creationId xmlns:a16="http://schemas.microsoft.com/office/drawing/2014/main" id="{51B67175-32C9-4D38-A2FC-53BC0D6B5DD0}"/>
              </a:ext>
            </a:extLst>
          </p:cNvPr>
          <p:cNvSpPr>
            <a:spLocks noChangeArrowheads="1"/>
          </p:cNvSpPr>
          <p:nvPr/>
        </p:nvSpPr>
        <p:spPr bwMode="auto">
          <a:xfrm>
            <a:off x="657225" y="5614988"/>
            <a:ext cx="7605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000" b="1">
                <a:latin typeface="微软雅黑" panose="020B0503020204020204" pitchFamily="34" charset="-122"/>
                <a:ea typeface="微软雅黑" panose="020B0503020204020204" pitchFamily="34" charset="-122"/>
              </a:rPr>
              <a:t>      </a:t>
            </a:r>
            <a:r>
              <a:rPr lang="zh-CN" altLang="en-US" sz="2000" b="1">
                <a:latin typeface="微软雅黑" panose="020B0503020204020204" pitchFamily="34" charset="-122"/>
                <a:ea typeface="微软雅黑" panose="020B0503020204020204" pitchFamily="34" charset="-122"/>
              </a:rPr>
              <a:t>不断重复，重复频率为</a:t>
            </a:r>
            <a:r>
              <a:rPr lang="en-US" altLang="zh-CN" sz="2000" b="1">
                <a:latin typeface="微软雅黑" panose="020B0503020204020204" pitchFamily="34" charset="-122"/>
                <a:ea typeface="微软雅黑" panose="020B0503020204020204" pitchFamily="34" charset="-122"/>
              </a:rPr>
              <a:t>f</a:t>
            </a:r>
            <a:r>
              <a:rPr lang="zh-CN" altLang="en-US" sz="2000" b="1">
                <a:latin typeface="微软雅黑" panose="020B0503020204020204" pitchFamily="34" charset="-122"/>
                <a:ea typeface="微软雅黑" panose="020B0503020204020204" pitchFamily="34" charset="-122"/>
              </a:rPr>
              <a:t>，充电电流产生平均电压</a:t>
            </a:r>
            <a:r>
              <a:rPr lang="en-US" altLang="zh-CN" sz="2000" b="1">
                <a:latin typeface="微软雅黑" panose="020B0503020204020204" pitchFamily="34" charset="-122"/>
                <a:ea typeface="微软雅黑" panose="020B0503020204020204" pitchFamily="34" charset="-122"/>
              </a:rPr>
              <a:t>V1</a:t>
            </a:r>
            <a:r>
              <a:rPr lang="zh-CN" altLang="en-US" sz="2000" b="1">
                <a:latin typeface="微软雅黑" panose="020B0503020204020204" pitchFamily="34" charset="-122"/>
                <a:ea typeface="微软雅黑" panose="020B0503020204020204" pitchFamily="34" charset="-122"/>
              </a:rPr>
              <a:t>和</a:t>
            </a:r>
            <a:r>
              <a:rPr lang="en-US" altLang="zh-CN" sz="2000" b="1">
                <a:latin typeface="微软雅黑" panose="020B0503020204020204" pitchFamily="34" charset="-122"/>
                <a:ea typeface="微软雅黑" panose="020B0503020204020204" pitchFamily="34" charset="-122"/>
              </a:rPr>
              <a:t>V2</a:t>
            </a:r>
          </a:p>
        </p:txBody>
      </p:sp>
      <p:sp>
        <p:nvSpPr>
          <p:cNvPr id="82033" name="矩形 141">
            <a:extLst>
              <a:ext uri="{FF2B5EF4-FFF2-40B4-BE49-F238E27FC236}">
                <a16:creationId xmlns:a16="http://schemas.microsoft.com/office/drawing/2014/main" id="{2DEB124C-FEE0-40E3-974D-5EA92F2F57E5}"/>
              </a:ext>
            </a:extLst>
          </p:cNvPr>
          <p:cNvSpPr>
            <a:spLocks noChangeArrowheads="1"/>
          </p:cNvSpPr>
          <p:nvPr/>
        </p:nvSpPr>
        <p:spPr bwMode="auto">
          <a:xfrm>
            <a:off x="696913" y="6016625"/>
            <a:ext cx="7604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000" b="1">
                <a:latin typeface="微软雅黑" panose="020B0503020204020204" pitchFamily="34" charset="-122"/>
                <a:ea typeface="微软雅黑" panose="020B0503020204020204" pitchFamily="34" charset="-122"/>
              </a:rPr>
              <a:t>      </a:t>
            </a:r>
            <a:r>
              <a:rPr lang="zh-CN" altLang="en-US" sz="2000" b="1">
                <a:latin typeface="微软雅黑" panose="020B0503020204020204" pitchFamily="34" charset="-122"/>
                <a:ea typeface="微软雅黑" panose="020B0503020204020204" pitchFamily="34" charset="-122"/>
              </a:rPr>
              <a:t>差分电压输出 </a:t>
            </a:r>
            <a:r>
              <a:rPr lang="en-US" altLang="zh-CN" sz="2000" b="1">
                <a:latin typeface="微软雅黑" panose="020B0503020204020204" pitchFamily="34" charset="-122"/>
                <a:ea typeface="微软雅黑" panose="020B0503020204020204" pitchFamily="34" charset="-122"/>
              </a:rPr>
              <a:t>Vo=V1-V2</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169201B-06D2-4AB1-9826-76F5AF715393}"/>
                  </a:ext>
                </a:extLst>
              </p:cNvPr>
              <p:cNvSpPr txBox="1"/>
              <p:nvPr/>
            </p:nvSpPr>
            <p:spPr>
              <a:xfrm>
                <a:off x="164135" y="3830122"/>
                <a:ext cx="3541711" cy="4043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1" i="1" smtClean="0">
                              <a:solidFill>
                                <a:srgbClr val="0000FF"/>
                              </a:solidFill>
                              <a:latin typeface="Cambria Math" panose="02040503050406030204" pitchFamily="18" charset="0"/>
                            </a:rPr>
                          </m:ctrlPr>
                        </m:sSubPr>
                        <m:e>
                          <m:r>
                            <a:rPr lang="en-US" altLang="zh-CN" sz="2400" b="1" i="1" smtClean="0">
                              <a:solidFill>
                                <a:srgbClr val="0000FF"/>
                              </a:solidFill>
                              <a:latin typeface="Cambria Math" panose="02040503050406030204" pitchFamily="18" charset="0"/>
                            </a:rPr>
                            <m:t>𝑽</m:t>
                          </m:r>
                        </m:e>
                        <m:sub>
                          <m:r>
                            <a:rPr lang="en-US" altLang="zh-CN" sz="2400" b="1" i="1" smtClean="0">
                              <a:solidFill>
                                <a:srgbClr val="0000FF"/>
                              </a:solidFill>
                              <a:latin typeface="Cambria Math" panose="02040503050406030204" pitchFamily="18" charset="0"/>
                            </a:rPr>
                            <m:t>𝑶</m:t>
                          </m:r>
                        </m:sub>
                      </m:sSub>
                      <m:r>
                        <a:rPr lang="en-US" altLang="zh-CN" sz="2400" b="1" i="1" smtClean="0">
                          <a:solidFill>
                            <a:srgbClr val="0000FF"/>
                          </a:solidFill>
                          <a:latin typeface="Cambria Math" panose="02040503050406030204" pitchFamily="18" charset="0"/>
                          <a:ea typeface="Cambria Math" panose="02040503050406030204" pitchFamily="18" charset="0"/>
                        </a:rPr>
                        <m:t>=</m:t>
                      </m:r>
                      <m:sSub>
                        <m:sSubPr>
                          <m:ctrlPr>
                            <a:rPr lang="en-US" altLang="zh-CN" sz="2400" b="1" i="1" smtClean="0">
                              <a:solidFill>
                                <a:srgbClr val="0000FF"/>
                              </a:solidFill>
                              <a:latin typeface="Cambria Math" panose="02040503050406030204" pitchFamily="18" charset="0"/>
                              <a:ea typeface="Cambria Math" panose="02040503050406030204" pitchFamily="18" charset="0"/>
                            </a:rPr>
                          </m:ctrlPr>
                        </m:sSubPr>
                        <m:e>
                          <m:r>
                            <a:rPr lang="en-US" altLang="zh-CN" sz="2400" b="1" i="1" smtClean="0">
                              <a:solidFill>
                                <a:srgbClr val="0000FF"/>
                              </a:solidFill>
                              <a:latin typeface="Cambria Math" panose="02040503050406030204" pitchFamily="18" charset="0"/>
                              <a:ea typeface="Cambria Math" panose="02040503050406030204" pitchFamily="18" charset="0"/>
                            </a:rPr>
                            <m:t>𝟐</m:t>
                          </m:r>
                          <m:r>
                            <m:rPr>
                              <m:nor/>
                            </m:rPr>
                            <a:rPr lang="en-US" altLang="zh-CN" sz="2400" b="1" i="1">
                              <a:solidFill>
                                <a:srgbClr val="0000FF"/>
                              </a:solidFill>
                              <a:latin typeface="Times New Roman" panose="02020603050405020304" pitchFamily="18" charset="0"/>
                              <a:ea typeface="Cambria Math" panose="02040503050406030204" pitchFamily="18" charset="0"/>
                              <a:cs typeface="Times New Roman" panose="02020603050405020304" pitchFamily="18" charset="0"/>
                            </a:rPr>
                            <m:t>f</m:t>
                          </m:r>
                          <m:r>
                            <m:rPr>
                              <m:nor/>
                            </m:rPr>
                            <a:rPr lang="en-US" altLang="zh-CN" sz="2400" b="1" i="1" smtClean="0">
                              <a:solidFill>
                                <a:srgbClr val="0000FF"/>
                              </a:solidFill>
                              <a:latin typeface="Times New Roman" panose="02020603050405020304" pitchFamily="18" charset="0"/>
                              <a:ea typeface="Cambria Math" panose="02040503050406030204" pitchFamily="18" charset="0"/>
                              <a:cs typeface="Times New Roman" panose="02020603050405020304" pitchFamily="18" charset="0"/>
                            </a:rPr>
                            <m:t> </m:t>
                          </m:r>
                          <m:r>
                            <a:rPr lang="en-US" altLang="zh-CN" sz="2400" b="1" i="1" smtClean="0">
                              <a:solidFill>
                                <a:srgbClr val="0000FF"/>
                              </a:solidFill>
                              <a:latin typeface="Cambria Math" panose="02040503050406030204" pitchFamily="18" charset="0"/>
                              <a:ea typeface="Cambria Math" panose="02040503050406030204" pitchFamily="18" charset="0"/>
                            </a:rPr>
                            <m:t>𝑽</m:t>
                          </m:r>
                        </m:e>
                        <m:sub>
                          <m:r>
                            <a:rPr lang="en-US" altLang="zh-CN" sz="2400" b="1" i="1">
                              <a:solidFill>
                                <a:srgbClr val="0000FF"/>
                              </a:solidFill>
                              <a:latin typeface="Cambria Math" panose="02040503050406030204" pitchFamily="18" charset="0"/>
                              <a:ea typeface="Cambria Math" panose="02040503050406030204" pitchFamily="18" charset="0"/>
                            </a:rPr>
                            <m:t>𝒄</m:t>
                          </m:r>
                        </m:sub>
                      </m:sSub>
                      <m:sSub>
                        <m:sSubPr>
                          <m:ctrlPr>
                            <a:rPr lang="en-US" altLang="zh-CN" sz="2400" b="1" i="1" smtClean="0">
                              <a:solidFill>
                                <a:srgbClr val="0000FF"/>
                              </a:solidFill>
                              <a:latin typeface="Cambria Math" panose="02040503050406030204" pitchFamily="18" charset="0"/>
                              <a:ea typeface="Cambria Math" panose="02040503050406030204" pitchFamily="18" charset="0"/>
                            </a:rPr>
                          </m:ctrlPr>
                        </m:sSubPr>
                        <m:e>
                          <m:r>
                            <a:rPr lang="en-US" altLang="zh-CN" sz="2400" b="1" i="1" smtClean="0">
                              <a:solidFill>
                                <a:srgbClr val="0000FF"/>
                              </a:solidFill>
                              <a:latin typeface="Cambria Math" panose="02040503050406030204" pitchFamily="18" charset="0"/>
                              <a:ea typeface="Cambria Math" panose="02040503050406030204" pitchFamily="18" charset="0"/>
                            </a:rPr>
                            <m:t>𝑪</m:t>
                          </m:r>
                        </m:e>
                        <m:sub>
                          <m:r>
                            <a:rPr lang="en-US" altLang="zh-CN" sz="2400" b="1" i="1" smtClean="0">
                              <a:solidFill>
                                <a:srgbClr val="0000FF"/>
                              </a:solidFill>
                              <a:latin typeface="Cambria Math" panose="02040503050406030204" pitchFamily="18" charset="0"/>
                              <a:ea typeface="Cambria Math" panose="02040503050406030204" pitchFamily="18" charset="0"/>
                            </a:rPr>
                            <m:t>𝑿</m:t>
                          </m:r>
                        </m:sub>
                      </m:sSub>
                      <m:sSub>
                        <m:sSubPr>
                          <m:ctrlPr>
                            <a:rPr lang="en-US" altLang="zh-CN" sz="2400" b="1" i="1" smtClean="0">
                              <a:solidFill>
                                <a:srgbClr val="0000FF"/>
                              </a:solidFill>
                              <a:latin typeface="Cambria Math" panose="02040503050406030204" pitchFamily="18" charset="0"/>
                              <a:ea typeface="Cambria Math" panose="02040503050406030204" pitchFamily="18" charset="0"/>
                            </a:rPr>
                          </m:ctrlPr>
                        </m:sSubPr>
                        <m:e>
                          <m:r>
                            <a:rPr lang="en-US" altLang="zh-CN" sz="2400" b="1" i="1" smtClean="0">
                              <a:solidFill>
                                <a:srgbClr val="0000FF"/>
                              </a:solidFill>
                              <a:latin typeface="Cambria Math" panose="02040503050406030204" pitchFamily="18" charset="0"/>
                              <a:ea typeface="Cambria Math" panose="02040503050406030204" pitchFamily="18" charset="0"/>
                            </a:rPr>
                            <m:t>𝑹</m:t>
                          </m:r>
                        </m:e>
                        <m:sub>
                          <m:r>
                            <a:rPr lang="en-US" altLang="zh-CN" sz="2400" b="1" i="1">
                              <a:solidFill>
                                <a:srgbClr val="0000FF"/>
                              </a:solidFill>
                              <a:latin typeface="Cambria Math" panose="02040503050406030204" pitchFamily="18" charset="0"/>
                              <a:ea typeface="Cambria Math" panose="02040503050406030204" pitchFamily="18" charset="0"/>
                            </a:rPr>
                            <m:t>𝒇</m:t>
                          </m:r>
                        </m:sub>
                      </m:sSub>
                    </m:oMath>
                  </m:oMathPara>
                </a14:m>
                <a:endParaRPr lang="zh-CN" altLang="en-US" sz="2400" b="1" dirty="0">
                  <a:solidFill>
                    <a:srgbClr val="0000FF"/>
                  </a:solidFill>
                </a:endParaRPr>
              </a:p>
            </p:txBody>
          </p:sp>
        </mc:Choice>
        <mc:Fallback xmlns="">
          <p:sp>
            <p:nvSpPr>
              <p:cNvPr id="5" name="文本框 4">
                <a:extLst>
                  <a:ext uri="{FF2B5EF4-FFF2-40B4-BE49-F238E27FC236}">
                    <a16:creationId xmlns:a16="http://schemas.microsoft.com/office/drawing/2014/main" id="{0169201B-06D2-4AB1-9826-76F5AF715393}"/>
                  </a:ext>
                </a:extLst>
              </p:cNvPr>
              <p:cNvSpPr txBox="1">
                <a:spLocks noRot="1" noChangeAspect="1" noMove="1" noResize="1" noEditPoints="1" noAdjustHandles="1" noChangeArrowheads="1" noChangeShapeType="1" noTextEdit="1"/>
              </p:cNvSpPr>
              <p:nvPr/>
            </p:nvSpPr>
            <p:spPr>
              <a:xfrm>
                <a:off x="164135" y="3830122"/>
                <a:ext cx="3541711" cy="404341"/>
              </a:xfrm>
              <a:prstGeom prst="rect">
                <a:avLst/>
              </a:prstGeom>
              <a:blipFill>
                <a:blip r:embed="rId3"/>
                <a:stretch>
                  <a:fillRect b="-2537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32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xit" presetSubtype="0" fill="hold" nodeType="clickEffect">
                                  <p:stCondLst>
                                    <p:cond delay="0"/>
                                  </p:stCondLst>
                                  <p:childTnLst>
                                    <p:animEffect transition="out" filter="fade">
                                      <p:cBhvr>
                                        <p:cTn id="10" dur="500"/>
                                        <p:tgtEl>
                                          <p:spTgt spid="54327"/>
                                        </p:tgtEl>
                                      </p:cBhvr>
                                    </p:animEffect>
                                    <p:set>
                                      <p:cBhvr>
                                        <p:cTn id="11" dur="1" fill="hold">
                                          <p:stCondLst>
                                            <p:cond delay="499"/>
                                          </p:stCondLst>
                                        </p:cTn>
                                        <p:tgtEl>
                                          <p:spTgt spid="54327"/>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nodeType="clickEffect">
                                  <p:stCondLst>
                                    <p:cond delay="0"/>
                                  </p:stCondLst>
                                  <p:childTnLst>
                                    <p:set>
                                      <p:cBhvr>
                                        <p:cTn id="15" dur="1" fill="hold">
                                          <p:stCondLst>
                                            <p:cond delay="0"/>
                                          </p:stCondLst>
                                        </p:cTn>
                                        <p:tgtEl>
                                          <p:spTgt spid="54328"/>
                                        </p:tgtEl>
                                        <p:attrNameLst>
                                          <p:attrName>style.visibility</p:attrName>
                                        </p:attrNameLst>
                                      </p:cBhvr>
                                      <p:to>
                                        <p:strVal val="visible"/>
                                      </p:to>
                                    </p:set>
                                    <p:animEffect transition="in" filter="fade">
                                      <p:cBhvr>
                                        <p:cTn id="16" dur="500"/>
                                        <p:tgtEl>
                                          <p:spTgt spid="5432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xit" presetSubtype="0" fill="hold" nodeType="clickEffect">
                                  <p:stCondLst>
                                    <p:cond delay="0"/>
                                  </p:stCondLst>
                                  <p:childTnLst>
                                    <p:animEffect transition="out" filter="fade">
                                      <p:cBhvr>
                                        <p:cTn id="20" dur="500"/>
                                        <p:tgtEl>
                                          <p:spTgt spid="54328"/>
                                        </p:tgtEl>
                                      </p:cBhvr>
                                    </p:animEffect>
                                    <p:set>
                                      <p:cBhvr>
                                        <p:cTn id="21" dur="1" fill="hold">
                                          <p:stCondLst>
                                            <p:cond delay="499"/>
                                          </p:stCondLst>
                                        </p:cTn>
                                        <p:tgtEl>
                                          <p:spTgt spid="543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2">
            <a:extLst>
              <a:ext uri="{FF2B5EF4-FFF2-40B4-BE49-F238E27FC236}">
                <a16:creationId xmlns:a16="http://schemas.microsoft.com/office/drawing/2014/main" id="{67CC24D5-1065-443B-848D-9EDCAA9191F1}"/>
              </a:ext>
            </a:extLst>
          </p:cNvPr>
          <p:cNvSpPr>
            <a:spLocks noGrp="1"/>
          </p:cNvSpPr>
          <p:nvPr>
            <p:ph type="sldNum" sz="quarter" idx="12"/>
          </p:nvPr>
        </p:nvSpPr>
        <p:spPr>
          <a:xfrm>
            <a:off x="6718300" y="6288088"/>
            <a:ext cx="1905000" cy="377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6DE4DADD-CD9E-4F47-819D-879B5253AD8A}" type="slidenum">
              <a:rPr lang="en-US" altLang="zh-CN" smtClean="0"/>
              <a:pPr/>
              <a:t>49</a:t>
            </a:fld>
            <a:endParaRPr lang="en-US" altLang="zh-CN"/>
          </a:p>
        </p:txBody>
      </p:sp>
      <p:sp>
        <p:nvSpPr>
          <p:cNvPr id="6" name="矩形 5">
            <a:extLst>
              <a:ext uri="{FF2B5EF4-FFF2-40B4-BE49-F238E27FC236}">
                <a16:creationId xmlns:a16="http://schemas.microsoft.com/office/drawing/2014/main" id="{718C46BC-8741-4AF2-BFF0-10A21B136A0D}"/>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83972" name="Text Box 2">
            <a:extLst>
              <a:ext uri="{FF2B5EF4-FFF2-40B4-BE49-F238E27FC236}">
                <a16:creationId xmlns:a16="http://schemas.microsoft.com/office/drawing/2014/main" id="{C819E34C-8CCE-4308-BA5C-E59441A9B986}"/>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4.2</a:t>
            </a:r>
            <a:r>
              <a:rPr kumimoji="1" lang="zh-CN" altLang="en-US" sz="2800" b="1">
                <a:solidFill>
                  <a:srgbClr val="C00000"/>
                </a:solidFill>
                <a:latin typeface="微软雅黑" panose="020B0503020204020204" pitchFamily="34" charset="-122"/>
                <a:ea typeface="微软雅黑" panose="020B0503020204020204" pitchFamily="34" charset="-122"/>
              </a:rPr>
              <a:t>寄生与分布电容的影响</a:t>
            </a:r>
          </a:p>
        </p:txBody>
      </p:sp>
      <p:sp>
        <p:nvSpPr>
          <p:cNvPr id="83973" name="Text Box 2">
            <a:extLst>
              <a:ext uri="{FF2B5EF4-FFF2-40B4-BE49-F238E27FC236}">
                <a16:creationId xmlns:a16="http://schemas.microsoft.com/office/drawing/2014/main" id="{A0DABE8E-E904-4AC5-A422-F18DD595A1B4}"/>
              </a:ext>
            </a:extLst>
          </p:cNvPr>
          <p:cNvSpPr txBox="1">
            <a:spLocks noChangeArrowheads="1"/>
          </p:cNvSpPr>
          <p:nvPr/>
        </p:nvSpPr>
        <p:spPr bwMode="auto">
          <a:xfrm>
            <a:off x="573088" y="4167188"/>
            <a:ext cx="8353425"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lang="zh-CN" altLang="en-US" sz="2000" b="1" dirty="0">
                <a:solidFill>
                  <a:srgbClr val="FF0000"/>
                </a:solidFill>
                <a:latin typeface="微软雅黑" panose="020B0503020204020204" pitchFamily="34" charset="-122"/>
                <a:ea typeface="微软雅黑" panose="020B0503020204020204" pitchFamily="34" charset="-122"/>
              </a:rPr>
              <a:t>杂散电容影响的消除：</a:t>
            </a:r>
          </a:p>
          <a:p>
            <a:pPr>
              <a:lnSpc>
                <a:spcPct val="150000"/>
              </a:lnSpc>
              <a:spcBef>
                <a:spcPct val="0"/>
              </a:spcBef>
              <a:buFontTx/>
              <a:buNone/>
            </a:pPr>
            <a:r>
              <a:rPr lang="zh-CN" altLang="en-US" sz="2000" b="1" dirty="0">
                <a:solidFill>
                  <a:schemeClr val="tx2"/>
                </a:solidFill>
                <a:latin typeface="微软雅黑" panose="020B0503020204020204" pitchFamily="34" charset="-122"/>
                <a:ea typeface="微软雅黑" panose="020B0503020204020204" pitchFamily="34" charset="-122"/>
              </a:rPr>
              <a:t>●</a:t>
            </a:r>
            <a:r>
              <a:rPr lang="en-US" altLang="zh-CN" sz="2000" b="1" dirty="0">
                <a:solidFill>
                  <a:schemeClr val="tx2"/>
                </a:solidFill>
                <a:latin typeface="微软雅黑" panose="020B0503020204020204" pitchFamily="34" charset="-122"/>
                <a:ea typeface="微软雅黑" panose="020B0503020204020204" pitchFamily="34" charset="-122"/>
              </a:rPr>
              <a:t>C</a:t>
            </a:r>
            <a:r>
              <a:rPr lang="en-US" altLang="zh-CN" sz="2000" b="1" baseline="-25000" dirty="0">
                <a:solidFill>
                  <a:schemeClr val="tx2"/>
                </a:solidFill>
                <a:latin typeface="微软雅黑" panose="020B0503020204020204" pitchFamily="34" charset="-122"/>
                <a:ea typeface="微软雅黑" panose="020B0503020204020204" pitchFamily="34" charset="-122"/>
              </a:rPr>
              <a:t>S1</a:t>
            </a:r>
            <a:r>
              <a:rPr lang="zh-CN" altLang="en-US" sz="2000" b="1" dirty="0">
                <a:solidFill>
                  <a:schemeClr val="tx2"/>
                </a:solidFill>
                <a:latin typeface="微软雅黑" panose="020B0503020204020204" pitchFamily="34" charset="-122"/>
                <a:ea typeface="微软雅黑" panose="020B0503020204020204" pitchFamily="34" charset="-122"/>
              </a:rPr>
              <a:t>：</a:t>
            </a:r>
            <a:r>
              <a:rPr lang="zh-CN" altLang="en-US" sz="2000" b="1" dirty="0">
                <a:solidFill>
                  <a:srgbClr val="0000FF"/>
                </a:solidFill>
                <a:latin typeface="微软雅黑" panose="020B0503020204020204" pitchFamily="34" charset="-122"/>
                <a:ea typeface="微软雅黑" panose="020B0503020204020204" pitchFamily="34" charset="-122"/>
              </a:rPr>
              <a:t>由</a:t>
            </a:r>
            <a:r>
              <a:rPr lang="en-US" altLang="zh-CN" sz="2000" b="1" dirty="0" err="1">
                <a:solidFill>
                  <a:srgbClr val="0000FF"/>
                </a:solidFill>
                <a:latin typeface="微软雅黑" panose="020B0503020204020204" pitchFamily="34" charset="-122"/>
                <a:ea typeface="微软雅黑" panose="020B0503020204020204" pitchFamily="34" charset="-122"/>
              </a:rPr>
              <a:t>Vc</a:t>
            </a:r>
            <a:r>
              <a:rPr lang="zh-CN" altLang="en-US" sz="2000" b="1" dirty="0">
                <a:solidFill>
                  <a:srgbClr val="0000FF"/>
                </a:solidFill>
                <a:latin typeface="微软雅黑" panose="020B0503020204020204" pitchFamily="34" charset="-122"/>
                <a:ea typeface="微软雅黑" panose="020B0503020204020204" pitchFamily="34" charset="-122"/>
              </a:rPr>
              <a:t>充电，对地放电</a:t>
            </a:r>
            <a:r>
              <a:rPr lang="zh-CN" altLang="en-US" sz="2000" b="1" dirty="0">
                <a:latin typeface="微软雅黑" panose="020B0503020204020204" pitchFamily="34" charset="-122"/>
                <a:ea typeface="微软雅黑" panose="020B0503020204020204" pitchFamily="34" charset="-122"/>
              </a:rPr>
              <a:t>，电流不经过</a:t>
            </a:r>
            <a:r>
              <a:rPr lang="en-US" altLang="zh-CN" sz="2000" b="1" dirty="0" err="1">
                <a:latin typeface="微软雅黑" panose="020B0503020204020204" pitchFamily="34" charset="-122"/>
                <a:ea typeface="微软雅黑" panose="020B0503020204020204" pitchFamily="34" charset="-122"/>
              </a:rPr>
              <a:t>Cx</a:t>
            </a:r>
            <a:r>
              <a:rPr lang="zh-CN" altLang="en-US" sz="2000" b="1" dirty="0">
                <a:latin typeface="微软雅黑" panose="020B0503020204020204" pitchFamily="34" charset="-122"/>
                <a:ea typeface="微软雅黑" panose="020B0503020204020204" pitchFamily="34" charset="-122"/>
              </a:rPr>
              <a:t>，不影响输出</a:t>
            </a:r>
            <a:r>
              <a:rPr lang="en-US" altLang="zh-CN" sz="2000" b="1" dirty="0">
                <a:latin typeface="微软雅黑" panose="020B0503020204020204" pitchFamily="34" charset="-122"/>
                <a:ea typeface="微软雅黑" panose="020B0503020204020204" pitchFamily="34" charset="-122"/>
              </a:rPr>
              <a:t>Vo</a:t>
            </a:r>
            <a:endParaRPr lang="zh-CN" altLang="en-US" sz="2000" b="1" dirty="0">
              <a:latin typeface="微软雅黑" panose="020B0503020204020204" pitchFamily="34" charset="-122"/>
              <a:ea typeface="微软雅黑" panose="020B0503020204020204" pitchFamily="34" charset="-122"/>
            </a:endParaRPr>
          </a:p>
          <a:p>
            <a:pPr>
              <a:spcBef>
                <a:spcPct val="0"/>
              </a:spcBef>
              <a:buFontTx/>
              <a:buNone/>
            </a:pPr>
            <a:r>
              <a:rPr lang="zh-CN" altLang="en-US" sz="2000" b="1" dirty="0">
                <a:solidFill>
                  <a:schemeClr val="tx2"/>
                </a:solidFill>
                <a:latin typeface="微软雅黑" panose="020B0503020204020204" pitchFamily="34" charset="-122"/>
                <a:ea typeface="微软雅黑" panose="020B0503020204020204" pitchFamily="34" charset="-122"/>
              </a:rPr>
              <a:t>●</a:t>
            </a:r>
            <a:r>
              <a:rPr lang="en-US" altLang="zh-CN" sz="2000" b="1" dirty="0">
                <a:solidFill>
                  <a:schemeClr val="tx2"/>
                </a:solidFill>
                <a:latin typeface="微软雅黑" panose="020B0503020204020204" pitchFamily="34" charset="-122"/>
                <a:ea typeface="微软雅黑" panose="020B0503020204020204" pitchFamily="34" charset="-122"/>
              </a:rPr>
              <a:t>C</a:t>
            </a:r>
            <a:r>
              <a:rPr lang="en-US" altLang="zh-CN" sz="2000" b="1" baseline="-25000" dirty="0">
                <a:solidFill>
                  <a:schemeClr val="tx2"/>
                </a:solidFill>
                <a:latin typeface="微软雅黑" panose="020B0503020204020204" pitchFamily="34" charset="-122"/>
                <a:ea typeface="微软雅黑" panose="020B0503020204020204" pitchFamily="34" charset="-122"/>
              </a:rPr>
              <a:t>S2</a:t>
            </a:r>
            <a:r>
              <a:rPr lang="zh-CN" altLang="en-US" sz="2000" b="1" dirty="0">
                <a:solidFill>
                  <a:schemeClr val="tx2"/>
                </a:solidFill>
                <a:latin typeface="微软雅黑" panose="020B0503020204020204" pitchFamily="34" charset="-122"/>
                <a:ea typeface="微软雅黑" panose="020B0503020204020204" pitchFamily="34" charset="-122"/>
              </a:rPr>
              <a:t>：</a:t>
            </a:r>
            <a:r>
              <a:rPr lang="zh-CN" altLang="en-US" sz="2000" b="1" dirty="0">
                <a:solidFill>
                  <a:srgbClr val="0000FF"/>
                </a:solidFill>
                <a:latin typeface="微软雅黑" panose="020B0503020204020204" pitchFamily="34" charset="-122"/>
                <a:ea typeface="微软雅黑" panose="020B0503020204020204" pitchFamily="34" charset="-122"/>
              </a:rPr>
              <a:t>放大器虚短</a:t>
            </a:r>
            <a:r>
              <a:rPr lang="zh-CN" altLang="en-US" sz="2000" b="1" dirty="0">
                <a:latin typeface="微软雅黑" panose="020B0503020204020204" pitchFamily="34" charset="-122"/>
                <a:ea typeface="微软雅黑" panose="020B0503020204020204" pitchFamily="34" charset="-122"/>
              </a:rPr>
              <a:t>，相当于两端均接地，对电路输出无影响。</a:t>
            </a:r>
            <a:endParaRPr lang="en-US" altLang="zh-CN" sz="2000" b="1" dirty="0">
              <a:latin typeface="微软雅黑" panose="020B0503020204020204" pitchFamily="34" charset="-122"/>
              <a:ea typeface="微软雅黑" panose="020B0503020204020204" pitchFamily="34" charset="-122"/>
            </a:endParaRPr>
          </a:p>
          <a:p>
            <a:pPr>
              <a:spcBef>
                <a:spcPct val="0"/>
              </a:spcBef>
              <a:buNone/>
            </a:pPr>
            <a:r>
              <a:rPr lang="zh-CN" altLang="en-US" sz="2000" b="1" dirty="0">
                <a:solidFill>
                  <a:schemeClr val="tx2"/>
                </a:solidFill>
                <a:latin typeface="微软雅黑" panose="020B0503020204020204" pitchFamily="34" charset="-122"/>
                <a:ea typeface="微软雅黑" panose="020B0503020204020204" pitchFamily="34" charset="-122"/>
              </a:rPr>
              <a:t>●</a:t>
            </a:r>
            <a:r>
              <a:rPr lang="en-US" altLang="zh-CN" sz="2000" b="1" dirty="0">
                <a:solidFill>
                  <a:schemeClr val="tx2"/>
                </a:solidFill>
                <a:latin typeface="微软雅黑" panose="020B0503020204020204" pitchFamily="34" charset="-122"/>
                <a:ea typeface="微软雅黑" panose="020B0503020204020204" pitchFamily="34" charset="-122"/>
              </a:rPr>
              <a:t>C</a:t>
            </a:r>
            <a:r>
              <a:rPr lang="zh-CN" altLang="en-US" sz="2000" b="1" dirty="0">
                <a:solidFill>
                  <a:schemeClr val="tx2"/>
                </a:solidFill>
                <a:latin typeface="微软雅黑" panose="020B0503020204020204" pitchFamily="34" charset="-122"/>
                <a:ea typeface="微软雅黑" panose="020B0503020204020204" pitchFamily="34" charset="-122"/>
              </a:rPr>
              <a:t>：</a:t>
            </a:r>
            <a:r>
              <a:rPr lang="zh-CN" altLang="en-US" sz="2000" b="1" dirty="0">
                <a:solidFill>
                  <a:srgbClr val="0000FF"/>
                </a:solidFill>
                <a:latin typeface="微软雅黑" panose="020B0503020204020204" pitchFamily="34" charset="-122"/>
                <a:ea typeface="微软雅黑" panose="020B0503020204020204" pitchFamily="34" charset="-122"/>
              </a:rPr>
              <a:t>不参与</a:t>
            </a:r>
            <a:r>
              <a:rPr lang="en-US" altLang="zh-CN" sz="2000" b="1" dirty="0" err="1">
                <a:solidFill>
                  <a:srgbClr val="0000FF"/>
                </a:solidFill>
                <a:latin typeface="微软雅黑" panose="020B0503020204020204" pitchFamily="34" charset="-122"/>
                <a:ea typeface="微软雅黑" panose="020B0503020204020204" pitchFamily="34" charset="-122"/>
              </a:rPr>
              <a:t>Cx</a:t>
            </a:r>
            <a:r>
              <a:rPr lang="zh-CN" altLang="en-US" sz="2000" b="1" dirty="0">
                <a:solidFill>
                  <a:srgbClr val="0000FF"/>
                </a:solidFill>
                <a:latin typeface="微软雅黑" panose="020B0503020204020204" pitchFamily="34" charset="-122"/>
                <a:ea typeface="微软雅黑" panose="020B0503020204020204" pitchFamily="34" charset="-122"/>
              </a:rPr>
              <a:t>的充放电过程</a:t>
            </a:r>
            <a:r>
              <a:rPr lang="zh-CN" altLang="en-US" sz="2000" b="1" dirty="0">
                <a:latin typeface="微软雅黑" panose="020B0503020204020204" pitchFamily="34" charset="-122"/>
                <a:ea typeface="微软雅黑" panose="020B0503020204020204" pitchFamily="34" charset="-122"/>
              </a:rPr>
              <a:t>，对电路输出无影响。（放大器输入电容）</a:t>
            </a:r>
            <a:endParaRPr lang="en-US" altLang="zh-CN" sz="2000" b="1" dirty="0">
              <a:latin typeface="微软雅黑" panose="020B0503020204020204" pitchFamily="34" charset="-122"/>
              <a:ea typeface="微软雅黑" panose="020B0503020204020204" pitchFamily="34" charset="-122"/>
            </a:endParaRPr>
          </a:p>
        </p:txBody>
      </p:sp>
      <p:sp>
        <p:nvSpPr>
          <p:cNvPr id="83974" name="矩形 8">
            <a:extLst>
              <a:ext uri="{FF2B5EF4-FFF2-40B4-BE49-F238E27FC236}">
                <a16:creationId xmlns:a16="http://schemas.microsoft.com/office/drawing/2014/main" id="{C5417BDF-03EC-4926-8DA2-4E8E0C307FD7}"/>
              </a:ext>
            </a:extLst>
          </p:cNvPr>
          <p:cNvSpPr>
            <a:spLocks noChangeArrowheads="1"/>
          </p:cNvSpPr>
          <p:nvPr/>
        </p:nvSpPr>
        <p:spPr bwMode="auto">
          <a:xfrm>
            <a:off x="328613" y="925513"/>
            <a:ext cx="22161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400" b="1">
                <a:solidFill>
                  <a:srgbClr val="0000FF"/>
                </a:solidFill>
                <a:latin typeface="微软雅黑" panose="020B0503020204020204" pitchFamily="34" charset="-122"/>
                <a:ea typeface="微软雅黑" panose="020B0503020204020204" pitchFamily="34" charset="-122"/>
              </a:rPr>
              <a:t>2</a:t>
            </a:r>
            <a:r>
              <a:rPr lang="zh-CN" altLang="en-US" sz="2400" b="1">
                <a:solidFill>
                  <a:srgbClr val="0000FF"/>
                </a:solidFill>
                <a:latin typeface="微软雅黑" panose="020B0503020204020204" pitchFamily="34" charset="-122"/>
                <a:ea typeface="微软雅黑" panose="020B0503020204020204" pitchFamily="34" charset="-122"/>
              </a:rPr>
              <a:t>）电荷转移法</a:t>
            </a:r>
            <a:endParaRPr lang="zh-CN" altLang="en-US" sz="2400"/>
          </a:p>
        </p:txBody>
      </p:sp>
      <p:grpSp>
        <p:nvGrpSpPr>
          <p:cNvPr id="83975" name="组合 1">
            <a:extLst>
              <a:ext uri="{FF2B5EF4-FFF2-40B4-BE49-F238E27FC236}">
                <a16:creationId xmlns:a16="http://schemas.microsoft.com/office/drawing/2014/main" id="{38B6DC15-6DF2-4676-B52A-6923FF718315}"/>
              </a:ext>
            </a:extLst>
          </p:cNvPr>
          <p:cNvGrpSpPr>
            <a:grpSpLocks/>
          </p:cNvGrpSpPr>
          <p:nvPr/>
        </p:nvGrpSpPr>
        <p:grpSpPr bwMode="auto">
          <a:xfrm>
            <a:off x="2916238" y="1214438"/>
            <a:ext cx="5741987" cy="2665412"/>
            <a:chOff x="2681566" y="1052736"/>
            <a:chExt cx="6625293" cy="3369634"/>
          </a:xfrm>
        </p:grpSpPr>
        <p:sp>
          <p:nvSpPr>
            <p:cNvPr id="83977" name="Line 5">
              <a:extLst>
                <a:ext uri="{FF2B5EF4-FFF2-40B4-BE49-F238E27FC236}">
                  <a16:creationId xmlns:a16="http://schemas.microsoft.com/office/drawing/2014/main" id="{14EA7533-9184-4F0F-B6F8-B6631BA35ABF}"/>
                </a:ext>
              </a:extLst>
            </p:cNvPr>
            <p:cNvSpPr>
              <a:spLocks noChangeShapeType="1"/>
            </p:cNvSpPr>
            <p:nvPr/>
          </p:nvSpPr>
          <p:spPr bwMode="auto">
            <a:xfrm flipH="1" flipV="1">
              <a:off x="2998976" y="2280458"/>
              <a:ext cx="89576" cy="155899"/>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78" name="Freeform 6">
              <a:extLst>
                <a:ext uri="{FF2B5EF4-FFF2-40B4-BE49-F238E27FC236}">
                  <a16:creationId xmlns:a16="http://schemas.microsoft.com/office/drawing/2014/main" id="{8D4BCB60-B5DA-43AD-AEA6-B7006DBBDFFA}"/>
                </a:ext>
              </a:extLst>
            </p:cNvPr>
            <p:cNvSpPr>
              <a:spLocks noEditPoints="1"/>
            </p:cNvSpPr>
            <p:nvPr/>
          </p:nvSpPr>
          <p:spPr bwMode="auto">
            <a:xfrm>
              <a:off x="3088552" y="1968661"/>
              <a:ext cx="0" cy="779493"/>
            </a:xfrm>
            <a:custGeom>
              <a:avLst/>
              <a:gdLst>
                <a:gd name="T0" fmla="*/ 528355606 h 460"/>
                <a:gd name="T1" fmla="*/ 0 h 460"/>
                <a:gd name="T2" fmla="*/ 1320889863 h 460"/>
                <a:gd name="T3" fmla="*/ 792534257 h 460"/>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460">
                  <a:moveTo>
                    <a:pt x="0" y="184"/>
                  </a:moveTo>
                  <a:lnTo>
                    <a:pt x="0" y="0"/>
                  </a:lnTo>
                  <a:moveTo>
                    <a:pt x="0" y="460"/>
                  </a:moveTo>
                  <a:lnTo>
                    <a:pt x="0" y="276"/>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79" name="Line 7">
              <a:extLst>
                <a:ext uri="{FF2B5EF4-FFF2-40B4-BE49-F238E27FC236}">
                  <a16:creationId xmlns:a16="http://schemas.microsoft.com/office/drawing/2014/main" id="{6673D0C7-B07A-40A1-B5B2-2EE03003E122}"/>
                </a:ext>
              </a:extLst>
            </p:cNvPr>
            <p:cNvSpPr>
              <a:spLocks noChangeShapeType="1"/>
            </p:cNvSpPr>
            <p:nvPr/>
          </p:nvSpPr>
          <p:spPr bwMode="auto">
            <a:xfrm flipH="1" flipV="1">
              <a:off x="3004818" y="3056562"/>
              <a:ext cx="83734" cy="145731"/>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80" name="Freeform 8">
              <a:extLst>
                <a:ext uri="{FF2B5EF4-FFF2-40B4-BE49-F238E27FC236}">
                  <a16:creationId xmlns:a16="http://schemas.microsoft.com/office/drawing/2014/main" id="{0FAE2403-874D-40BB-8F52-D743159344AF}"/>
                </a:ext>
              </a:extLst>
            </p:cNvPr>
            <p:cNvSpPr>
              <a:spLocks noEditPoints="1"/>
            </p:cNvSpPr>
            <p:nvPr/>
          </p:nvSpPr>
          <p:spPr bwMode="auto">
            <a:xfrm>
              <a:off x="3088552" y="2766794"/>
              <a:ext cx="0" cy="725268"/>
            </a:xfrm>
            <a:custGeom>
              <a:avLst/>
              <a:gdLst>
                <a:gd name="T0" fmla="*/ 491026771 h 428"/>
                <a:gd name="T1" fmla="*/ 0 h 428"/>
                <a:gd name="T2" fmla="*/ 1229003906 h 428"/>
                <a:gd name="T3" fmla="*/ 737977136 h 428"/>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428">
                  <a:moveTo>
                    <a:pt x="0" y="171"/>
                  </a:moveTo>
                  <a:lnTo>
                    <a:pt x="0" y="0"/>
                  </a:lnTo>
                  <a:moveTo>
                    <a:pt x="0" y="428"/>
                  </a:moveTo>
                  <a:lnTo>
                    <a:pt x="0" y="257"/>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81" name="Freeform 9">
              <a:extLst>
                <a:ext uri="{FF2B5EF4-FFF2-40B4-BE49-F238E27FC236}">
                  <a16:creationId xmlns:a16="http://schemas.microsoft.com/office/drawing/2014/main" id="{29D48390-A536-4295-9D2A-B947C8469CB2}"/>
                </a:ext>
              </a:extLst>
            </p:cNvPr>
            <p:cNvSpPr>
              <a:spLocks noEditPoints="1"/>
            </p:cNvSpPr>
            <p:nvPr/>
          </p:nvSpPr>
          <p:spPr bwMode="auto">
            <a:xfrm>
              <a:off x="3429330" y="3102315"/>
              <a:ext cx="171362" cy="35586"/>
            </a:xfrm>
            <a:custGeom>
              <a:avLst/>
              <a:gdLst>
                <a:gd name="T0" fmla="*/ 333692444 w 88"/>
                <a:gd name="T1" fmla="*/ 60303019 h 21"/>
                <a:gd name="T2" fmla="*/ 0 w 88"/>
                <a:gd name="T3" fmla="*/ 60303019 h 21"/>
                <a:gd name="T4" fmla="*/ 333692444 w 88"/>
                <a:gd name="T5" fmla="*/ 0 h 21"/>
                <a:gd name="T6" fmla="*/ 0 w 88"/>
                <a:gd name="T7" fmla="*/ 0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8" h="21">
                  <a:moveTo>
                    <a:pt x="88" y="21"/>
                  </a:moveTo>
                  <a:lnTo>
                    <a:pt x="0" y="21"/>
                  </a:lnTo>
                  <a:moveTo>
                    <a:pt x="88" y="0"/>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82" name="Freeform 10">
              <a:extLst>
                <a:ext uri="{FF2B5EF4-FFF2-40B4-BE49-F238E27FC236}">
                  <a16:creationId xmlns:a16="http://schemas.microsoft.com/office/drawing/2014/main" id="{140CFAB7-803B-4F24-80B9-72FB50442FFC}"/>
                </a:ext>
              </a:extLst>
            </p:cNvPr>
            <p:cNvSpPr>
              <a:spLocks noEditPoints="1"/>
            </p:cNvSpPr>
            <p:nvPr/>
          </p:nvSpPr>
          <p:spPr bwMode="auto">
            <a:xfrm>
              <a:off x="3515011" y="2934555"/>
              <a:ext cx="0" cy="372801"/>
            </a:xfrm>
            <a:custGeom>
              <a:avLst/>
              <a:gdLst>
                <a:gd name="T0" fmla="*/ 631729935 h 220"/>
                <a:gd name="T1" fmla="*/ 344579964 h 220"/>
                <a:gd name="T2" fmla="*/ 284277708 h 220"/>
                <a:gd name="T3" fmla="*/ 0 h 220"/>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220">
                  <a:moveTo>
                    <a:pt x="0" y="220"/>
                  </a:moveTo>
                  <a:lnTo>
                    <a:pt x="0" y="120"/>
                  </a:lnTo>
                  <a:moveTo>
                    <a:pt x="0" y="99"/>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83" name="Freeform 11">
              <a:extLst>
                <a:ext uri="{FF2B5EF4-FFF2-40B4-BE49-F238E27FC236}">
                  <a16:creationId xmlns:a16="http://schemas.microsoft.com/office/drawing/2014/main" id="{42232F58-22F5-43B2-BE3B-B7946B4F7D8E}"/>
                </a:ext>
              </a:extLst>
            </p:cNvPr>
            <p:cNvSpPr>
              <a:spLocks noEditPoints="1"/>
            </p:cNvSpPr>
            <p:nvPr/>
          </p:nvSpPr>
          <p:spPr bwMode="auto">
            <a:xfrm>
              <a:off x="3834368" y="2673594"/>
              <a:ext cx="42841" cy="149120"/>
            </a:xfrm>
            <a:custGeom>
              <a:avLst/>
              <a:gdLst>
                <a:gd name="T0" fmla="*/ 0 w 22"/>
                <a:gd name="T1" fmla="*/ 252690618 h 88"/>
                <a:gd name="T2" fmla="*/ 0 w 22"/>
                <a:gd name="T3" fmla="*/ 0 h 88"/>
                <a:gd name="T4" fmla="*/ 83425058 w 22"/>
                <a:gd name="T5" fmla="*/ 252690618 h 88"/>
                <a:gd name="T6" fmla="*/ 83425058 w 22"/>
                <a:gd name="T7" fmla="*/ 0 h 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88">
                  <a:moveTo>
                    <a:pt x="0" y="88"/>
                  </a:moveTo>
                  <a:lnTo>
                    <a:pt x="0" y="0"/>
                  </a:lnTo>
                  <a:moveTo>
                    <a:pt x="22" y="88"/>
                  </a:moveTo>
                  <a:lnTo>
                    <a:pt x="22"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84" name="Freeform 12">
              <a:extLst>
                <a:ext uri="{FF2B5EF4-FFF2-40B4-BE49-F238E27FC236}">
                  <a16:creationId xmlns:a16="http://schemas.microsoft.com/office/drawing/2014/main" id="{E9AAF7DB-FF95-485B-8F5B-AD00507311D6}"/>
                </a:ext>
              </a:extLst>
            </p:cNvPr>
            <p:cNvSpPr>
              <a:spLocks noEditPoints="1"/>
            </p:cNvSpPr>
            <p:nvPr/>
          </p:nvSpPr>
          <p:spPr bwMode="auto">
            <a:xfrm>
              <a:off x="3643533" y="2748154"/>
              <a:ext cx="426459" cy="0"/>
            </a:xfrm>
            <a:custGeom>
              <a:avLst/>
              <a:gdLst>
                <a:gd name="T0" fmla="*/ 0 w 219"/>
                <a:gd name="T1" fmla="*/ 371615204 w 219"/>
                <a:gd name="T2" fmla="*/ 455037595 w 219"/>
                <a:gd name="T3" fmla="*/ 830444195 w 219"/>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219">
                  <a:moveTo>
                    <a:pt x="0" y="0"/>
                  </a:moveTo>
                  <a:lnTo>
                    <a:pt x="98" y="0"/>
                  </a:lnTo>
                  <a:moveTo>
                    <a:pt x="120" y="0"/>
                  </a:moveTo>
                  <a:lnTo>
                    <a:pt x="219"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85" name="Freeform 13">
              <a:extLst>
                <a:ext uri="{FF2B5EF4-FFF2-40B4-BE49-F238E27FC236}">
                  <a16:creationId xmlns:a16="http://schemas.microsoft.com/office/drawing/2014/main" id="{62E6FF8C-3088-4DAF-9D6D-FA9DF80895CE}"/>
                </a:ext>
              </a:extLst>
            </p:cNvPr>
            <p:cNvSpPr>
              <a:spLocks noEditPoints="1"/>
            </p:cNvSpPr>
            <p:nvPr/>
          </p:nvSpPr>
          <p:spPr bwMode="auto">
            <a:xfrm>
              <a:off x="4069992" y="3102315"/>
              <a:ext cx="171362" cy="35586"/>
            </a:xfrm>
            <a:custGeom>
              <a:avLst/>
              <a:gdLst>
                <a:gd name="T0" fmla="*/ 333692444 w 88"/>
                <a:gd name="T1" fmla="*/ 60303019 h 21"/>
                <a:gd name="T2" fmla="*/ 0 w 88"/>
                <a:gd name="T3" fmla="*/ 60303019 h 21"/>
                <a:gd name="T4" fmla="*/ 333692444 w 88"/>
                <a:gd name="T5" fmla="*/ 0 h 21"/>
                <a:gd name="T6" fmla="*/ 0 w 88"/>
                <a:gd name="T7" fmla="*/ 0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8" h="21">
                  <a:moveTo>
                    <a:pt x="88" y="21"/>
                  </a:moveTo>
                  <a:lnTo>
                    <a:pt x="0" y="21"/>
                  </a:lnTo>
                  <a:moveTo>
                    <a:pt x="88" y="0"/>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86" name="Freeform 14">
              <a:extLst>
                <a:ext uri="{FF2B5EF4-FFF2-40B4-BE49-F238E27FC236}">
                  <a16:creationId xmlns:a16="http://schemas.microsoft.com/office/drawing/2014/main" id="{AAD9B67A-6EC2-4BAF-988D-4A6B9CE16135}"/>
                </a:ext>
              </a:extLst>
            </p:cNvPr>
            <p:cNvSpPr>
              <a:spLocks noEditPoints="1"/>
            </p:cNvSpPr>
            <p:nvPr/>
          </p:nvSpPr>
          <p:spPr bwMode="auto">
            <a:xfrm>
              <a:off x="4155673" y="2934555"/>
              <a:ext cx="0" cy="372801"/>
            </a:xfrm>
            <a:custGeom>
              <a:avLst/>
              <a:gdLst>
                <a:gd name="T0" fmla="*/ 631729935 h 220"/>
                <a:gd name="T1" fmla="*/ 344579964 h 220"/>
                <a:gd name="T2" fmla="*/ 284277708 h 220"/>
                <a:gd name="T3" fmla="*/ 0 h 220"/>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220">
                  <a:moveTo>
                    <a:pt x="0" y="220"/>
                  </a:moveTo>
                  <a:lnTo>
                    <a:pt x="0" y="120"/>
                  </a:lnTo>
                  <a:moveTo>
                    <a:pt x="0" y="99"/>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87" name="Line 15">
              <a:extLst>
                <a:ext uri="{FF2B5EF4-FFF2-40B4-BE49-F238E27FC236}">
                  <a16:creationId xmlns:a16="http://schemas.microsoft.com/office/drawing/2014/main" id="{93E1AAF2-5105-4CCD-8844-051A508E6902}"/>
                </a:ext>
              </a:extLst>
            </p:cNvPr>
            <p:cNvSpPr>
              <a:spLocks noChangeShapeType="1"/>
            </p:cNvSpPr>
            <p:nvPr/>
          </p:nvSpPr>
          <p:spPr bwMode="auto">
            <a:xfrm flipH="1" flipV="1">
              <a:off x="4498398" y="2302487"/>
              <a:ext cx="83734" cy="14912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88" name="Freeform 16">
              <a:extLst>
                <a:ext uri="{FF2B5EF4-FFF2-40B4-BE49-F238E27FC236}">
                  <a16:creationId xmlns:a16="http://schemas.microsoft.com/office/drawing/2014/main" id="{2D6E14C2-31AC-42D7-9460-73127F8AB877}"/>
                </a:ext>
              </a:extLst>
            </p:cNvPr>
            <p:cNvSpPr>
              <a:spLocks noEditPoints="1"/>
            </p:cNvSpPr>
            <p:nvPr/>
          </p:nvSpPr>
          <p:spPr bwMode="auto">
            <a:xfrm>
              <a:off x="4573722" y="2012071"/>
              <a:ext cx="0" cy="743908"/>
            </a:xfrm>
            <a:custGeom>
              <a:avLst/>
              <a:gdLst>
                <a:gd name="T0" fmla="*/ 505384660 h 439"/>
                <a:gd name="T1" fmla="*/ 0 h 439"/>
                <a:gd name="T2" fmla="*/ 1260590233 h 439"/>
                <a:gd name="T3" fmla="*/ 758077838 h 439"/>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439">
                  <a:moveTo>
                    <a:pt x="0" y="176"/>
                  </a:moveTo>
                  <a:lnTo>
                    <a:pt x="0" y="0"/>
                  </a:lnTo>
                  <a:moveTo>
                    <a:pt x="0" y="439"/>
                  </a:moveTo>
                  <a:lnTo>
                    <a:pt x="0" y="264"/>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89" name="Rectangle 17">
              <a:extLst>
                <a:ext uri="{FF2B5EF4-FFF2-40B4-BE49-F238E27FC236}">
                  <a16:creationId xmlns:a16="http://schemas.microsoft.com/office/drawing/2014/main" id="{8F723183-5827-42EA-9EC4-2475D1826928}"/>
                </a:ext>
              </a:extLst>
            </p:cNvPr>
            <p:cNvSpPr>
              <a:spLocks noChangeArrowheads="1"/>
            </p:cNvSpPr>
            <p:nvPr/>
          </p:nvSpPr>
          <p:spPr bwMode="auto">
            <a:xfrm>
              <a:off x="4734021" y="2288931"/>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S</a:t>
              </a:r>
              <a:endParaRPr lang="zh-CN" altLang="zh-CN" sz="1800"/>
            </a:p>
          </p:txBody>
        </p:sp>
        <p:sp>
          <p:nvSpPr>
            <p:cNvPr id="83990" name="Rectangle 18">
              <a:extLst>
                <a:ext uri="{FF2B5EF4-FFF2-40B4-BE49-F238E27FC236}">
                  <a16:creationId xmlns:a16="http://schemas.microsoft.com/office/drawing/2014/main" id="{3C24DACA-7D17-4BAB-B4A2-CFFCBA96C052}"/>
                </a:ext>
              </a:extLst>
            </p:cNvPr>
            <p:cNvSpPr>
              <a:spLocks noChangeArrowheads="1"/>
            </p:cNvSpPr>
            <p:nvPr/>
          </p:nvSpPr>
          <p:spPr bwMode="auto">
            <a:xfrm>
              <a:off x="4823597" y="2288931"/>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3</a:t>
              </a:r>
              <a:endParaRPr lang="zh-CN" altLang="zh-CN" sz="1800"/>
            </a:p>
          </p:txBody>
        </p:sp>
        <p:sp>
          <p:nvSpPr>
            <p:cNvPr id="83991" name="Line 19">
              <a:extLst>
                <a:ext uri="{FF2B5EF4-FFF2-40B4-BE49-F238E27FC236}">
                  <a16:creationId xmlns:a16="http://schemas.microsoft.com/office/drawing/2014/main" id="{FBF65225-2BA6-4BE5-AEF8-B8283FF3398E}"/>
                </a:ext>
              </a:extLst>
            </p:cNvPr>
            <p:cNvSpPr>
              <a:spLocks noChangeShapeType="1"/>
            </p:cNvSpPr>
            <p:nvPr/>
          </p:nvSpPr>
          <p:spPr bwMode="auto">
            <a:xfrm flipH="1" flipV="1">
              <a:off x="4498398" y="3024366"/>
              <a:ext cx="77892" cy="137259"/>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92" name="Freeform 20">
              <a:extLst>
                <a:ext uri="{FF2B5EF4-FFF2-40B4-BE49-F238E27FC236}">
                  <a16:creationId xmlns:a16="http://schemas.microsoft.com/office/drawing/2014/main" id="{70F48405-33BA-450B-80A9-A3E8539B4FF5}"/>
                </a:ext>
              </a:extLst>
            </p:cNvPr>
            <p:cNvSpPr>
              <a:spLocks noEditPoints="1"/>
            </p:cNvSpPr>
            <p:nvPr/>
          </p:nvSpPr>
          <p:spPr bwMode="auto">
            <a:xfrm>
              <a:off x="4571055" y="2748154"/>
              <a:ext cx="0" cy="687987"/>
            </a:xfrm>
            <a:custGeom>
              <a:avLst/>
              <a:gdLst>
                <a:gd name="T0" fmla="*/ 468054841 h 406"/>
                <a:gd name="T1" fmla="*/ 0 h 406"/>
                <a:gd name="T2" fmla="*/ 1165827862 h 406"/>
                <a:gd name="T3" fmla="*/ 700645283 h 406"/>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406">
                  <a:moveTo>
                    <a:pt x="0" y="163"/>
                  </a:moveTo>
                  <a:lnTo>
                    <a:pt x="0" y="0"/>
                  </a:lnTo>
                  <a:moveTo>
                    <a:pt x="0" y="406"/>
                  </a:moveTo>
                  <a:lnTo>
                    <a:pt x="0" y="244"/>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93" name="Rectangle 21">
              <a:extLst>
                <a:ext uri="{FF2B5EF4-FFF2-40B4-BE49-F238E27FC236}">
                  <a16:creationId xmlns:a16="http://schemas.microsoft.com/office/drawing/2014/main" id="{C3FADC40-7515-4F22-AD37-45EB1A592A78}"/>
                </a:ext>
              </a:extLst>
            </p:cNvPr>
            <p:cNvSpPr>
              <a:spLocks noChangeArrowheads="1"/>
            </p:cNvSpPr>
            <p:nvPr/>
          </p:nvSpPr>
          <p:spPr bwMode="auto">
            <a:xfrm>
              <a:off x="4720390" y="3007420"/>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S</a:t>
              </a:r>
              <a:endParaRPr lang="zh-CN" altLang="zh-CN" sz="1800"/>
            </a:p>
          </p:txBody>
        </p:sp>
        <p:sp>
          <p:nvSpPr>
            <p:cNvPr id="83994" name="Rectangle 22">
              <a:extLst>
                <a:ext uri="{FF2B5EF4-FFF2-40B4-BE49-F238E27FC236}">
                  <a16:creationId xmlns:a16="http://schemas.microsoft.com/office/drawing/2014/main" id="{43F84B2C-890D-43F7-9F12-1111A6A84FFC}"/>
                </a:ext>
              </a:extLst>
            </p:cNvPr>
            <p:cNvSpPr>
              <a:spLocks noChangeArrowheads="1"/>
            </p:cNvSpPr>
            <p:nvPr/>
          </p:nvSpPr>
          <p:spPr bwMode="auto">
            <a:xfrm>
              <a:off x="4811913" y="3007420"/>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4</a:t>
              </a:r>
              <a:endParaRPr lang="zh-CN" altLang="zh-CN" sz="1800"/>
            </a:p>
          </p:txBody>
        </p:sp>
        <p:sp>
          <p:nvSpPr>
            <p:cNvPr id="83995" name="Freeform 23">
              <a:extLst>
                <a:ext uri="{FF2B5EF4-FFF2-40B4-BE49-F238E27FC236}">
                  <a16:creationId xmlns:a16="http://schemas.microsoft.com/office/drawing/2014/main" id="{7A5B2009-E99A-4CE7-A97F-7AEA421D880A}"/>
                </a:ext>
              </a:extLst>
            </p:cNvPr>
            <p:cNvSpPr>
              <a:spLocks/>
            </p:cNvSpPr>
            <p:nvPr/>
          </p:nvSpPr>
          <p:spPr bwMode="auto">
            <a:xfrm>
              <a:off x="5758301" y="1726340"/>
              <a:ext cx="1067121" cy="928614"/>
            </a:xfrm>
            <a:custGeom>
              <a:avLst/>
              <a:gdLst>
                <a:gd name="T0" fmla="*/ 0 w 548"/>
                <a:gd name="T1" fmla="*/ 0 h 548"/>
                <a:gd name="T2" fmla="*/ 0 w 548"/>
                <a:gd name="T3" fmla="*/ 1573583870 h 548"/>
                <a:gd name="T4" fmla="*/ 2078005892 w 548"/>
                <a:gd name="T5" fmla="*/ 786791935 h 548"/>
                <a:gd name="T6" fmla="*/ 0 w 548"/>
                <a:gd name="T7" fmla="*/ 0 h 5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8" h="548">
                  <a:moveTo>
                    <a:pt x="0" y="0"/>
                  </a:moveTo>
                  <a:lnTo>
                    <a:pt x="0" y="548"/>
                  </a:lnTo>
                  <a:lnTo>
                    <a:pt x="548" y="274"/>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996" name="Freeform 24">
              <a:extLst>
                <a:ext uri="{FF2B5EF4-FFF2-40B4-BE49-F238E27FC236}">
                  <a16:creationId xmlns:a16="http://schemas.microsoft.com/office/drawing/2014/main" id="{365F68F4-F0E4-4DFC-9DAF-6A4B1BBE56B9}"/>
                </a:ext>
              </a:extLst>
            </p:cNvPr>
            <p:cNvSpPr>
              <a:spLocks/>
            </p:cNvSpPr>
            <p:nvPr/>
          </p:nvSpPr>
          <p:spPr bwMode="auto">
            <a:xfrm>
              <a:off x="5758301" y="1726340"/>
              <a:ext cx="1067121" cy="928614"/>
            </a:xfrm>
            <a:custGeom>
              <a:avLst/>
              <a:gdLst>
                <a:gd name="T0" fmla="*/ 0 w 548"/>
                <a:gd name="T1" fmla="*/ 0 h 548"/>
                <a:gd name="T2" fmla="*/ 0 w 548"/>
                <a:gd name="T3" fmla="*/ 1573583870 h 548"/>
                <a:gd name="T4" fmla="*/ 2078005892 w 548"/>
                <a:gd name="T5" fmla="*/ 786791935 h 548"/>
                <a:gd name="T6" fmla="*/ 0 w 548"/>
                <a:gd name="T7" fmla="*/ 0 h 5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8" h="548">
                  <a:moveTo>
                    <a:pt x="0" y="0"/>
                  </a:moveTo>
                  <a:lnTo>
                    <a:pt x="0" y="548"/>
                  </a:lnTo>
                  <a:lnTo>
                    <a:pt x="548" y="274"/>
                  </a:lnTo>
                  <a:lnTo>
                    <a:pt x="0" y="0"/>
                  </a:ln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97" name="Freeform 27">
              <a:extLst>
                <a:ext uri="{FF2B5EF4-FFF2-40B4-BE49-F238E27FC236}">
                  <a16:creationId xmlns:a16="http://schemas.microsoft.com/office/drawing/2014/main" id="{9CA74F1E-D86E-43A0-AA05-6F0E4565DEA3}"/>
                </a:ext>
              </a:extLst>
            </p:cNvPr>
            <p:cNvSpPr>
              <a:spLocks/>
            </p:cNvSpPr>
            <p:nvPr/>
          </p:nvSpPr>
          <p:spPr bwMode="auto">
            <a:xfrm>
              <a:off x="4576289" y="1958528"/>
              <a:ext cx="1170323" cy="45719"/>
            </a:xfrm>
            <a:custGeom>
              <a:avLst/>
              <a:gdLst>
                <a:gd name="T0" fmla="*/ 2147483646 w 535"/>
                <a:gd name="T1" fmla="*/ 0 h 27"/>
                <a:gd name="T2" fmla="*/ 0 w 535"/>
                <a:gd name="T3" fmla="*/ 0 h 27"/>
                <a:gd name="T4" fmla="*/ 0 w 535"/>
                <a:gd name="T5" fmla="*/ 77415813 h 27"/>
                <a:gd name="T6" fmla="*/ 0 60000 65536"/>
                <a:gd name="T7" fmla="*/ 0 60000 65536"/>
                <a:gd name="T8" fmla="*/ 0 60000 65536"/>
              </a:gdLst>
              <a:ahLst/>
              <a:cxnLst>
                <a:cxn ang="T6">
                  <a:pos x="T0" y="T1"/>
                </a:cxn>
                <a:cxn ang="T7">
                  <a:pos x="T2" y="T3"/>
                </a:cxn>
                <a:cxn ang="T8">
                  <a:pos x="T4" y="T5"/>
                </a:cxn>
              </a:cxnLst>
              <a:rect l="0" t="0" r="r" b="b"/>
              <a:pathLst>
                <a:path w="535" h="27">
                  <a:moveTo>
                    <a:pt x="535" y="0"/>
                  </a:moveTo>
                  <a:lnTo>
                    <a:pt x="0" y="0"/>
                  </a:lnTo>
                  <a:lnTo>
                    <a:pt x="0" y="27"/>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98" name="Freeform 28">
              <a:extLst>
                <a:ext uri="{FF2B5EF4-FFF2-40B4-BE49-F238E27FC236}">
                  <a16:creationId xmlns:a16="http://schemas.microsoft.com/office/drawing/2014/main" id="{E6082DF0-B2C7-4AA0-9301-847EC2363518}"/>
                </a:ext>
              </a:extLst>
            </p:cNvPr>
            <p:cNvSpPr>
              <a:spLocks noEditPoints="1"/>
            </p:cNvSpPr>
            <p:nvPr/>
          </p:nvSpPr>
          <p:spPr bwMode="auto">
            <a:xfrm>
              <a:off x="5053378" y="2358408"/>
              <a:ext cx="169415" cy="37280"/>
            </a:xfrm>
            <a:custGeom>
              <a:avLst/>
              <a:gdLst>
                <a:gd name="T0" fmla="*/ 329901635 w 87"/>
                <a:gd name="T1" fmla="*/ 63172655 h 22"/>
                <a:gd name="T2" fmla="*/ 0 w 87"/>
                <a:gd name="T3" fmla="*/ 63172655 h 22"/>
                <a:gd name="T4" fmla="*/ 329901635 w 87"/>
                <a:gd name="T5" fmla="*/ 0 h 22"/>
                <a:gd name="T6" fmla="*/ 0 w 8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7" h="22">
                  <a:moveTo>
                    <a:pt x="87" y="22"/>
                  </a:moveTo>
                  <a:lnTo>
                    <a:pt x="0" y="22"/>
                  </a:lnTo>
                  <a:moveTo>
                    <a:pt x="87" y="0"/>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99" name="Freeform 29">
              <a:extLst>
                <a:ext uri="{FF2B5EF4-FFF2-40B4-BE49-F238E27FC236}">
                  <a16:creationId xmlns:a16="http://schemas.microsoft.com/office/drawing/2014/main" id="{54B76CD1-C60B-4D5A-966B-2132EAEDA795}"/>
                </a:ext>
              </a:extLst>
            </p:cNvPr>
            <p:cNvSpPr>
              <a:spLocks noEditPoints="1"/>
            </p:cNvSpPr>
            <p:nvPr/>
          </p:nvSpPr>
          <p:spPr bwMode="auto">
            <a:xfrm>
              <a:off x="5137112" y="2190647"/>
              <a:ext cx="0" cy="372801"/>
            </a:xfrm>
            <a:custGeom>
              <a:avLst/>
              <a:gdLst>
                <a:gd name="T0" fmla="*/ 631729935 h 220"/>
                <a:gd name="T1" fmla="*/ 347452227 h 220"/>
                <a:gd name="T2" fmla="*/ 284277708 h 220"/>
                <a:gd name="T3" fmla="*/ 0 h 220"/>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220">
                  <a:moveTo>
                    <a:pt x="0" y="220"/>
                  </a:moveTo>
                  <a:lnTo>
                    <a:pt x="0" y="121"/>
                  </a:lnTo>
                  <a:moveTo>
                    <a:pt x="0" y="99"/>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00" name="Rectangle 30">
              <a:extLst>
                <a:ext uri="{FF2B5EF4-FFF2-40B4-BE49-F238E27FC236}">
                  <a16:creationId xmlns:a16="http://schemas.microsoft.com/office/drawing/2014/main" id="{B6FCD8C2-DC07-4322-9604-3A14B3868E7C}"/>
                </a:ext>
              </a:extLst>
            </p:cNvPr>
            <p:cNvSpPr>
              <a:spLocks noChangeArrowheads="1"/>
            </p:cNvSpPr>
            <p:nvPr/>
          </p:nvSpPr>
          <p:spPr bwMode="auto">
            <a:xfrm>
              <a:off x="5289002" y="2288931"/>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C</a:t>
              </a:r>
              <a:endParaRPr lang="zh-CN" altLang="zh-CN" sz="1800"/>
            </a:p>
          </p:txBody>
        </p:sp>
        <p:sp>
          <p:nvSpPr>
            <p:cNvPr id="84001" name="Freeform 31">
              <a:extLst>
                <a:ext uri="{FF2B5EF4-FFF2-40B4-BE49-F238E27FC236}">
                  <a16:creationId xmlns:a16="http://schemas.microsoft.com/office/drawing/2014/main" id="{48C2AAC5-B77E-45A0-9B1E-B98AAE2F259F}"/>
                </a:ext>
              </a:extLst>
            </p:cNvPr>
            <p:cNvSpPr>
              <a:spLocks noEditPoints="1"/>
            </p:cNvSpPr>
            <p:nvPr/>
          </p:nvSpPr>
          <p:spPr bwMode="auto">
            <a:xfrm>
              <a:off x="5351315" y="2488888"/>
              <a:ext cx="171362" cy="371107"/>
            </a:xfrm>
            <a:custGeom>
              <a:avLst/>
              <a:gdLst>
                <a:gd name="T0" fmla="*/ 109967669 w 88"/>
                <a:gd name="T1" fmla="*/ 628860299 h 219"/>
                <a:gd name="T2" fmla="*/ 219933391 w 88"/>
                <a:gd name="T3" fmla="*/ 628860299 h 219"/>
                <a:gd name="T4" fmla="*/ 56878553 w 88"/>
                <a:gd name="T5" fmla="*/ 588658735 h 219"/>
                <a:gd name="T6" fmla="*/ 276813891 w 88"/>
                <a:gd name="T7" fmla="*/ 588658735 h 219"/>
                <a:gd name="T8" fmla="*/ 0 w 88"/>
                <a:gd name="T9" fmla="*/ 545586599 h 219"/>
                <a:gd name="T10" fmla="*/ 333692444 w 88"/>
                <a:gd name="T11" fmla="*/ 545586599 h 219"/>
                <a:gd name="T12" fmla="*/ 166846222 w 88"/>
                <a:gd name="T13" fmla="*/ 0 h 219"/>
                <a:gd name="T14" fmla="*/ 166846222 w 88"/>
                <a:gd name="T15" fmla="*/ 545586599 h 2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8" h="219">
                  <a:moveTo>
                    <a:pt x="29" y="219"/>
                  </a:moveTo>
                  <a:lnTo>
                    <a:pt x="58" y="219"/>
                  </a:lnTo>
                  <a:moveTo>
                    <a:pt x="15" y="205"/>
                  </a:moveTo>
                  <a:lnTo>
                    <a:pt x="73" y="205"/>
                  </a:lnTo>
                  <a:moveTo>
                    <a:pt x="0" y="190"/>
                  </a:moveTo>
                  <a:lnTo>
                    <a:pt x="88" y="190"/>
                  </a:lnTo>
                  <a:moveTo>
                    <a:pt x="44" y="0"/>
                  </a:moveTo>
                  <a:lnTo>
                    <a:pt x="44" y="19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02" name="Freeform 32">
              <a:extLst>
                <a:ext uri="{FF2B5EF4-FFF2-40B4-BE49-F238E27FC236}">
                  <a16:creationId xmlns:a16="http://schemas.microsoft.com/office/drawing/2014/main" id="{5F7F15EF-8971-4291-B8D8-CEB2BF115776}"/>
                </a:ext>
              </a:extLst>
            </p:cNvPr>
            <p:cNvSpPr>
              <a:spLocks/>
            </p:cNvSpPr>
            <p:nvPr/>
          </p:nvSpPr>
          <p:spPr bwMode="auto">
            <a:xfrm>
              <a:off x="5053378" y="1958494"/>
              <a:ext cx="83734" cy="232153"/>
            </a:xfrm>
            <a:custGeom>
              <a:avLst/>
              <a:gdLst>
                <a:gd name="T0" fmla="*/ 163055413 w 43"/>
                <a:gd name="T1" fmla="*/ 393394273 h 137"/>
                <a:gd name="T2" fmla="*/ 163055413 w 43"/>
                <a:gd name="T3" fmla="*/ 0 h 137"/>
                <a:gd name="T4" fmla="*/ 0 w 43"/>
                <a:gd name="T5" fmla="*/ 0 h 137"/>
                <a:gd name="T6" fmla="*/ 0 60000 65536"/>
                <a:gd name="T7" fmla="*/ 0 60000 65536"/>
                <a:gd name="T8" fmla="*/ 0 60000 65536"/>
              </a:gdLst>
              <a:ahLst/>
              <a:cxnLst>
                <a:cxn ang="T6">
                  <a:pos x="T0" y="T1"/>
                </a:cxn>
                <a:cxn ang="T7">
                  <a:pos x="T2" y="T3"/>
                </a:cxn>
                <a:cxn ang="T8">
                  <a:pos x="T4" y="T5"/>
                </a:cxn>
              </a:cxnLst>
              <a:rect l="0" t="0" r="r" b="b"/>
              <a:pathLst>
                <a:path w="43" h="137">
                  <a:moveTo>
                    <a:pt x="43" y="137"/>
                  </a:moveTo>
                  <a:lnTo>
                    <a:pt x="43" y="0"/>
                  </a:ln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03" name="Freeform 33">
              <a:extLst>
                <a:ext uri="{FF2B5EF4-FFF2-40B4-BE49-F238E27FC236}">
                  <a16:creationId xmlns:a16="http://schemas.microsoft.com/office/drawing/2014/main" id="{7156E55A-80B7-49A9-BBAF-2A72008122CB}"/>
                </a:ext>
              </a:extLst>
            </p:cNvPr>
            <p:cNvSpPr>
              <a:spLocks/>
            </p:cNvSpPr>
            <p:nvPr/>
          </p:nvSpPr>
          <p:spPr bwMode="auto">
            <a:xfrm>
              <a:off x="5970557" y="1373874"/>
              <a:ext cx="214203" cy="72866"/>
            </a:xfrm>
            <a:custGeom>
              <a:avLst/>
              <a:gdLst>
                <a:gd name="T0" fmla="*/ 0 w 110"/>
                <a:gd name="T1" fmla="*/ 60302546 h 43"/>
                <a:gd name="T2" fmla="*/ 34128380 w 110"/>
                <a:gd name="T3" fmla="*/ 0 h 43"/>
                <a:gd name="T4" fmla="*/ 106174585 w 110"/>
                <a:gd name="T5" fmla="*/ 123475673 h 43"/>
                <a:gd name="T6" fmla="*/ 174431345 w 110"/>
                <a:gd name="T7" fmla="*/ 0 h 43"/>
                <a:gd name="T8" fmla="*/ 242686157 w 110"/>
                <a:gd name="T9" fmla="*/ 123475673 h 43"/>
                <a:gd name="T10" fmla="*/ 310942917 w 110"/>
                <a:gd name="T11" fmla="*/ 0 h 43"/>
                <a:gd name="T12" fmla="*/ 382989122 w 110"/>
                <a:gd name="T13" fmla="*/ 123475673 h 43"/>
                <a:gd name="T14" fmla="*/ 417117502 w 110"/>
                <a:gd name="T15" fmla="*/ 60302546 h 4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0" h="43">
                  <a:moveTo>
                    <a:pt x="0" y="21"/>
                  </a:moveTo>
                  <a:lnTo>
                    <a:pt x="9" y="0"/>
                  </a:lnTo>
                  <a:lnTo>
                    <a:pt x="28" y="43"/>
                  </a:lnTo>
                  <a:lnTo>
                    <a:pt x="46" y="0"/>
                  </a:lnTo>
                  <a:lnTo>
                    <a:pt x="64" y="43"/>
                  </a:lnTo>
                  <a:lnTo>
                    <a:pt x="82" y="0"/>
                  </a:lnTo>
                  <a:lnTo>
                    <a:pt x="101" y="43"/>
                  </a:lnTo>
                  <a:lnTo>
                    <a:pt x="110" y="21"/>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04" name="Freeform 34">
              <a:extLst>
                <a:ext uri="{FF2B5EF4-FFF2-40B4-BE49-F238E27FC236}">
                  <a16:creationId xmlns:a16="http://schemas.microsoft.com/office/drawing/2014/main" id="{84EEF6F1-206F-42D8-BF79-D6367FF13219}"/>
                </a:ext>
              </a:extLst>
            </p:cNvPr>
            <p:cNvSpPr>
              <a:spLocks/>
            </p:cNvSpPr>
            <p:nvPr/>
          </p:nvSpPr>
          <p:spPr bwMode="auto">
            <a:xfrm>
              <a:off x="5137113" y="1409459"/>
              <a:ext cx="833444" cy="549034"/>
            </a:xfrm>
            <a:custGeom>
              <a:avLst/>
              <a:gdLst>
                <a:gd name="T0" fmla="*/ 1808929430 w 384"/>
                <a:gd name="T1" fmla="*/ 0 h 324"/>
                <a:gd name="T2" fmla="*/ 0 w 384"/>
                <a:gd name="T3" fmla="*/ 0 h 324"/>
                <a:gd name="T4" fmla="*/ 0 w 384"/>
                <a:gd name="T5" fmla="*/ 930365226 h 324"/>
                <a:gd name="T6" fmla="*/ 0 60000 65536"/>
                <a:gd name="T7" fmla="*/ 0 60000 65536"/>
                <a:gd name="T8" fmla="*/ 0 60000 65536"/>
              </a:gdLst>
              <a:ahLst/>
              <a:cxnLst>
                <a:cxn ang="T6">
                  <a:pos x="T0" y="T1"/>
                </a:cxn>
                <a:cxn ang="T7">
                  <a:pos x="T2" y="T3"/>
                </a:cxn>
                <a:cxn ang="T8">
                  <a:pos x="T4" y="T5"/>
                </a:cxn>
              </a:cxnLst>
              <a:rect l="0" t="0" r="r" b="b"/>
              <a:pathLst>
                <a:path w="384" h="324">
                  <a:moveTo>
                    <a:pt x="384" y="0"/>
                  </a:moveTo>
                  <a:lnTo>
                    <a:pt x="0" y="0"/>
                  </a:lnTo>
                  <a:lnTo>
                    <a:pt x="0" y="324"/>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05" name="Line 35">
              <a:extLst>
                <a:ext uri="{FF2B5EF4-FFF2-40B4-BE49-F238E27FC236}">
                  <a16:creationId xmlns:a16="http://schemas.microsoft.com/office/drawing/2014/main" id="{E4CF9D54-7B90-4ABD-A71F-CDB94B16AC12}"/>
                </a:ext>
              </a:extLst>
            </p:cNvPr>
            <p:cNvSpPr>
              <a:spLocks noChangeShapeType="1"/>
            </p:cNvSpPr>
            <p:nvPr/>
          </p:nvSpPr>
          <p:spPr bwMode="auto">
            <a:xfrm>
              <a:off x="3941470" y="2748154"/>
              <a:ext cx="64066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06" name="Line 36">
              <a:extLst>
                <a:ext uri="{FF2B5EF4-FFF2-40B4-BE49-F238E27FC236}">
                  <a16:creationId xmlns:a16="http://schemas.microsoft.com/office/drawing/2014/main" id="{1C1B82BA-364C-45BF-987A-2C30EB04D589}"/>
                </a:ext>
              </a:extLst>
            </p:cNvPr>
            <p:cNvSpPr>
              <a:spLocks noChangeShapeType="1"/>
            </p:cNvSpPr>
            <p:nvPr/>
          </p:nvSpPr>
          <p:spPr bwMode="auto">
            <a:xfrm flipH="1">
              <a:off x="3515011" y="2748154"/>
              <a:ext cx="85681"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07" name="Line 37">
              <a:extLst>
                <a:ext uri="{FF2B5EF4-FFF2-40B4-BE49-F238E27FC236}">
                  <a16:creationId xmlns:a16="http://schemas.microsoft.com/office/drawing/2014/main" id="{8204635B-294E-458C-9268-58EC0B9C3AB5}"/>
                </a:ext>
              </a:extLst>
            </p:cNvPr>
            <p:cNvSpPr>
              <a:spLocks noChangeShapeType="1"/>
            </p:cNvSpPr>
            <p:nvPr/>
          </p:nvSpPr>
          <p:spPr bwMode="auto">
            <a:xfrm>
              <a:off x="3600692" y="2748154"/>
              <a:ext cx="12852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08" name="Line 38">
              <a:extLst>
                <a:ext uri="{FF2B5EF4-FFF2-40B4-BE49-F238E27FC236}">
                  <a16:creationId xmlns:a16="http://schemas.microsoft.com/office/drawing/2014/main" id="{653D8B5C-0C46-4EA5-925D-42AFF70D501C}"/>
                </a:ext>
              </a:extLst>
            </p:cNvPr>
            <p:cNvSpPr>
              <a:spLocks noChangeShapeType="1"/>
            </p:cNvSpPr>
            <p:nvPr/>
          </p:nvSpPr>
          <p:spPr bwMode="auto">
            <a:xfrm flipH="1">
              <a:off x="3088552" y="2748154"/>
              <a:ext cx="426459"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09" name="Line 39">
              <a:extLst>
                <a:ext uri="{FF2B5EF4-FFF2-40B4-BE49-F238E27FC236}">
                  <a16:creationId xmlns:a16="http://schemas.microsoft.com/office/drawing/2014/main" id="{F77DC046-0BC2-47DF-9827-23DF499DE787}"/>
                </a:ext>
              </a:extLst>
            </p:cNvPr>
            <p:cNvSpPr>
              <a:spLocks noChangeShapeType="1"/>
            </p:cNvSpPr>
            <p:nvPr/>
          </p:nvSpPr>
          <p:spPr bwMode="auto">
            <a:xfrm>
              <a:off x="3088552" y="2748154"/>
              <a:ext cx="0" cy="260961"/>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10" name="Line 40">
              <a:extLst>
                <a:ext uri="{FF2B5EF4-FFF2-40B4-BE49-F238E27FC236}">
                  <a16:creationId xmlns:a16="http://schemas.microsoft.com/office/drawing/2014/main" id="{696B97DF-4CA4-4676-A8E5-170E217BEC74}"/>
                </a:ext>
              </a:extLst>
            </p:cNvPr>
            <p:cNvSpPr>
              <a:spLocks noChangeShapeType="1"/>
            </p:cNvSpPr>
            <p:nvPr/>
          </p:nvSpPr>
          <p:spPr bwMode="auto">
            <a:xfrm>
              <a:off x="3515011" y="2748154"/>
              <a:ext cx="0" cy="223681"/>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11" name="Line 41">
              <a:extLst>
                <a:ext uri="{FF2B5EF4-FFF2-40B4-BE49-F238E27FC236}">
                  <a16:creationId xmlns:a16="http://schemas.microsoft.com/office/drawing/2014/main" id="{D4060D90-FA9F-49A8-8DC3-F00E9403605A}"/>
                </a:ext>
              </a:extLst>
            </p:cNvPr>
            <p:cNvSpPr>
              <a:spLocks noChangeShapeType="1"/>
            </p:cNvSpPr>
            <p:nvPr/>
          </p:nvSpPr>
          <p:spPr bwMode="auto">
            <a:xfrm>
              <a:off x="4155673" y="2748154"/>
              <a:ext cx="0" cy="186401"/>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12" name="Freeform 42">
              <a:extLst>
                <a:ext uri="{FF2B5EF4-FFF2-40B4-BE49-F238E27FC236}">
                  <a16:creationId xmlns:a16="http://schemas.microsoft.com/office/drawing/2014/main" id="{543757BA-78E8-415E-815D-71A92209095B}"/>
                </a:ext>
              </a:extLst>
            </p:cNvPr>
            <p:cNvSpPr>
              <a:spLocks noEditPoints="1"/>
            </p:cNvSpPr>
            <p:nvPr/>
          </p:nvSpPr>
          <p:spPr bwMode="auto">
            <a:xfrm>
              <a:off x="3429330" y="3232796"/>
              <a:ext cx="171362" cy="371107"/>
            </a:xfrm>
            <a:custGeom>
              <a:avLst/>
              <a:gdLst>
                <a:gd name="T0" fmla="*/ 113759053 w 88"/>
                <a:gd name="T1" fmla="*/ 628860299 h 219"/>
                <a:gd name="T2" fmla="*/ 223724775 w 88"/>
                <a:gd name="T3" fmla="*/ 628860299 h 219"/>
                <a:gd name="T4" fmla="*/ 56878553 w 88"/>
                <a:gd name="T5" fmla="*/ 585788163 h 219"/>
                <a:gd name="T6" fmla="*/ 276813891 w 88"/>
                <a:gd name="T7" fmla="*/ 585788163 h 219"/>
                <a:gd name="T8" fmla="*/ 0 w 88"/>
                <a:gd name="T9" fmla="*/ 545586599 h 219"/>
                <a:gd name="T10" fmla="*/ 333692444 w 88"/>
                <a:gd name="T11" fmla="*/ 545586599 h 219"/>
                <a:gd name="T12" fmla="*/ 166846222 w 88"/>
                <a:gd name="T13" fmla="*/ 0 h 219"/>
                <a:gd name="T14" fmla="*/ 166846222 w 88"/>
                <a:gd name="T15" fmla="*/ 545586599 h 2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8" h="219">
                  <a:moveTo>
                    <a:pt x="30" y="219"/>
                  </a:moveTo>
                  <a:lnTo>
                    <a:pt x="59" y="219"/>
                  </a:lnTo>
                  <a:moveTo>
                    <a:pt x="15" y="204"/>
                  </a:moveTo>
                  <a:lnTo>
                    <a:pt x="73" y="204"/>
                  </a:lnTo>
                  <a:moveTo>
                    <a:pt x="0" y="190"/>
                  </a:moveTo>
                  <a:lnTo>
                    <a:pt x="88" y="190"/>
                  </a:lnTo>
                  <a:moveTo>
                    <a:pt x="44" y="0"/>
                  </a:moveTo>
                  <a:lnTo>
                    <a:pt x="44" y="19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13" name="Freeform 43">
              <a:extLst>
                <a:ext uri="{FF2B5EF4-FFF2-40B4-BE49-F238E27FC236}">
                  <a16:creationId xmlns:a16="http://schemas.microsoft.com/office/drawing/2014/main" id="{B8F32C62-2B2B-4DBC-BEE7-AFEE1578E5D4}"/>
                </a:ext>
              </a:extLst>
            </p:cNvPr>
            <p:cNvSpPr>
              <a:spLocks noEditPoints="1"/>
            </p:cNvSpPr>
            <p:nvPr/>
          </p:nvSpPr>
          <p:spPr bwMode="auto">
            <a:xfrm>
              <a:off x="4069992" y="3232796"/>
              <a:ext cx="171362" cy="371107"/>
            </a:xfrm>
            <a:custGeom>
              <a:avLst/>
              <a:gdLst>
                <a:gd name="T0" fmla="*/ 109967669 w 88"/>
                <a:gd name="T1" fmla="*/ 628860299 h 219"/>
                <a:gd name="T2" fmla="*/ 219933391 w 88"/>
                <a:gd name="T3" fmla="*/ 628860299 h 219"/>
                <a:gd name="T4" fmla="*/ 56878553 w 88"/>
                <a:gd name="T5" fmla="*/ 585788163 h 219"/>
                <a:gd name="T6" fmla="*/ 276813891 w 88"/>
                <a:gd name="T7" fmla="*/ 585788163 h 219"/>
                <a:gd name="T8" fmla="*/ 0 w 88"/>
                <a:gd name="T9" fmla="*/ 545586599 h 219"/>
                <a:gd name="T10" fmla="*/ 333692444 w 88"/>
                <a:gd name="T11" fmla="*/ 545586599 h 219"/>
                <a:gd name="T12" fmla="*/ 166846222 w 88"/>
                <a:gd name="T13" fmla="*/ 0 h 219"/>
                <a:gd name="T14" fmla="*/ 166846222 w 88"/>
                <a:gd name="T15" fmla="*/ 545586599 h 2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8" h="219">
                  <a:moveTo>
                    <a:pt x="29" y="219"/>
                  </a:moveTo>
                  <a:lnTo>
                    <a:pt x="58" y="219"/>
                  </a:lnTo>
                  <a:moveTo>
                    <a:pt x="15" y="204"/>
                  </a:moveTo>
                  <a:lnTo>
                    <a:pt x="73" y="204"/>
                  </a:lnTo>
                  <a:moveTo>
                    <a:pt x="0" y="190"/>
                  </a:moveTo>
                  <a:lnTo>
                    <a:pt x="88" y="190"/>
                  </a:lnTo>
                  <a:moveTo>
                    <a:pt x="44" y="0"/>
                  </a:moveTo>
                  <a:lnTo>
                    <a:pt x="44" y="19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14" name="Freeform 44">
              <a:extLst>
                <a:ext uri="{FF2B5EF4-FFF2-40B4-BE49-F238E27FC236}">
                  <a16:creationId xmlns:a16="http://schemas.microsoft.com/office/drawing/2014/main" id="{A35BC935-FB79-4CBA-8351-B2E9FB11E373}"/>
                </a:ext>
              </a:extLst>
            </p:cNvPr>
            <p:cNvSpPr>
              <a:spLocks noEditPoints="1"/>
            </p:cNvSpPr>
            <p:nvPr/>
          </p:nvSpPr>
          <p:spPr bwMode="auto">
            <a:xfrm>
              <a:off x="3002871" y="3307356"/>
              <a:ext cx="169415" cy="371107"/>
            </a:xfrm>
            <a:custGeom>
              <a:avLst/>
              <a:gdLst>
                <a:gd name="T0" fmla="*/ 109967861 w 87"/>
                <a:gd name="T1" fmla="*/ 628860299 h 219"/>
                <a:gd name="T2" fmla="*/ 219933774 w 87"/>
                <a:gd name="T3" fmla="*/ 628860299 h 219"/>
                <a:gd name="T4" fmla="*/ 53087261 w 87"/>
                <a:gd name="T5" fmla="*/ 585788163 h 219"/>
                <a:gd name="T6" fmla="*/ 276814374 w 87"/>
                <a:gd name="T7" fmla="*/ 585788163 h 219"/>
                <a:gd name="T8" fmla="*/ 0 w 87"/>
                <a:gd name="T9" fmla="*/ 545586599 h 219"/>
                <a:gd name="T10" fmla="*/ 329901635 w 87"/>
                <a:gd name="T11" fmla="*/ 545586599 h 219"/>
                <a:gd name="T12" fmla="*/ 166846513 w 87"/>
                <a:gd name="T13" fmla="*/ 0 h 219"/>
                <a:gd name="T14" fmla="*/ 166846513 w 87"/>
                <a:gd name="T15" fmla="*/ 545586599 h 2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7" h="219">
                  <a:moveTo>
                    <a:pt x="29" y="219"/>
                  </a:moveTo>
                  <a:lnTo>
                    <a:pt x="58" y="219"/>
                  </a:lnTo>
                  <a:moveTo>
                    <a:pt x="14" y="204"/>
                  </a:moveTo>
                  <a:lnTo>
                    <a:pt x="73" y="204"/>
                  </a:lnTo>
                  <a:moveTo>
                    <a:pt x="0" y="190"/>
                  </a:moveTo>
                  <a:lnTo>
                    <a:pt x="87" y="190"/>
                  </a:lnTo>
                  <a:moveTo>
                    <a:pt x="44" y="0"/>
                  </a:moveTo>
                  <a:lnTo>
                    <a:pt x="44" y="19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15" name="Rectangle 45">
              <a:extLst>
                <a:ext uri="{FF2B5EF4-FFF2-40B4-BE49-F238E27FC236}">
                  <a16:creationId xmlns:a16="http://schemas.microsoft.com/office/drawing/2014/main" id="{25CC2C4C-496E-4EF8-88E3-ACF3F0F95DCD}"/>
                </a:ext>
              </a:extLst>
            </p:cNvPr>
            <p:cNvSpPr>
              <a:spLocks noChangeArrowheads="1"/>
            </p:cNvSpPr>
            <p:nvPr/>
          </p:nvSpPr>
          <p:spPr bwMode="auto">
            <a:xfrm>
              <a:off x="2745827" y="2988780"/>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S</a:t>
              </a:r>
              <a:endParaRPr lang="zh-CN" altLang="zh-CN" sz="1800"/>
            </a:p>
          </p:txBody>
        </p:sp>
        <p:sp>
          <p:nvSpPr>
            <p:cNvPr id="84016" name="Rectangle 46">
              <a:extLst>
                <a:ext uri="{FF2B5EF4-FFF2-40B4-BE49-F238E27FC236}">
                  <a16:creationId xmlns:a16="http://schemas.microsoft.com/office/drawing/2014/main" id="{F8DD634B-9096-4ABF-A859-0E0AC70BD1B3}"/>
                </a:ext>
              </a:extLst>
            </p:cNvPr>
            <p:cNvSpPr>
              <a:spLocks noChangeArrowheads="1"/>
            </p:cNvSpPr>
            <p:nvPr/>
          </p:nvSpPr>
          <p:spPr bwMode="auto">
            <a:xfrm>
              <a:off x="2837350" y="2988780"/>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2</a:t>
              </a:r>
              <a:endParaRPr lang="zh-CN" altLang="zh-CN" sz="1800"/>
            </a:p>
          </p:txBody>
        </p:sp>
        <p:sp>
          <p:nvSpPr>
            <p:cNvPr id="84017" name="Rectangle 47">
              <a:extLst>
                <a:ext uri="{FF2B5EF4-FFF2-40B4-BE49-F238E27FC236}">
                  <a16:creationId xmlns:a16="http://schemas.microsoft.com/office/drawing/2014/main" id="{36DE4114-988C-4B6A-A9FF-84DCA9788CA3}"/>
                </a:ext>
              </a:extLst>
            </p:cNvPr>
            <p:cNvSpPr>
              <a:spLocks noChangeArrowheads="1"/>
            </p:cNvSpPr>
            <p:nvPr/>
          </p:nvSpPr>
          <p:spPr bwMode="auto">
            <a:xfrm>
              <a:off x="2681566" y="2105920"/>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S</a:t>
              </a:r>
              <a:endParaRPr lang="zh-CN" altLang="zh-CN" sz="1800"/>
            </a:p>
          </p:txBody>
        </p:sp>
        <p:sp>
          <p:nvSpPr>
            <p:cNvPr id="84018" name="Rectangle 48">
              <a:extLst>
                <a:ext uri="{FF2B5EF4-FFF2-40B4-BE49-F238E27FC236}">
                  <a16:creationId xmlns:a16="http://schemas.microsoft.com/office/drawing/2014/main" id="{F59782FE-D9FC-474D-A62A-3469C28DEF6F}"/>
                </a:ext>
              </a:extLst>
            </p:cNvPr>
            <p:cNvSpPr>
              <a:spLocks noChangeArrowheads="1"/>
            </p:cNvSpPr>
            <p:nvPr/>
          </p:nvSpPr>
          <p:spPr bwMode="auto">
            <a:xfrm>
              <a:off x="2773089" y="2105920"/>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1</a:t>
              </a:r>
              <a:endParaRPr lang="zh-CN" altLang="zh-CN" sz="1800"/>
            </a:p>
          </p:txBody>
        </p:sp>
        <p:sp>
          <p:nvSpPr>
            <p:cNvPr id="84019" name="Oval 49">
              <a:extLst>
                <a:ext uri="{FF2B5EF4-FFF2-40B4-BE49-F238E27FC236}">
                  <a16:creationId xmlns:a16="http://schemas.microsoft.com/office/drawing/2014/main" id="{3767FE17-D5C0-4C23-B1EA-B4F041157968}"/>
                </a:ext>
              </a:extLst>
            </p:cNvPr>
            <p:cNvSpPr>
              <a:spLocks noChangeArrowheads="1"/>
            </p:cNvSpPr>
            <p:nvPr/>
          </p:nvSpPr>
          <p:spPr bwMode="auto">
            <a:xfrm>
              <a:off x="3055448" y="1948326"/>
              <a:ext cx="64261" cy="55920"/>
            </a:xfrm>
            <a:prstGeom prst="ellipse">
              <a:avLst/>
            </a:prstGeom>
            <a:solidFill>
              <a:srgbClr val="FFFFFF"/>
            </a:solidFill>
            <a:ln w="0">
              <a:solidFill>
                <a:srgbClr val="000000"/>
              </a:solidFill>
              <a:round/>
              <a:headEnd/>
              <a:tailEnd/>
            </a:ln>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84020" name="Oval 50">
              <a:extLst>
                <a:ext uri="{FF2B5EF4-FFF2-40B4-BE49-F238E27FC236}">
                  <a16:creationId xmlns:a16="http://schemas.microsoft.com/office/drawing/2014/main" id="{8B54DC77-8940-4619-8E89-18D3C2559894}"/>
                </a:ext>
              </a:extLst>
            </p:cNvPr>
            <p:cNvSpPr>
              <a:spLocks noChangeArrowheads="1"/>
            </p:cNvSpPr>
            <p:nvPr/>
          </p:nvSpPr>
          <p:spPr bwMode="auto">
            <a:xfrm>
              <a:off x="3055448" y="1948326"/>
              <a:ext cx="64261" cy="55920"/>
            </a:xfrm>
            <a:prstGeom prst="ellipse">
              <a:avLst/>
            </a:prstGeom>
            <a:noFill/>
            <a:ln w="952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84021" name="Rectangle 53">
              <a:extLst>
                <a:ext uri="{FF2B5EF4-FFF2-40B4-BE49-F238E27FC236}">
                  <a16:creationId xmlns:a16="http://schemas.microsoft.com/office/drawing/2014/main" id="{0653AEAE-8B01-4A50-8CE1-F6F972044B06}"/>
                </a:ext>
              </a:extLst>
            </p:cNvPr>
            <p:cNvSpPr>
              <a:spLocks noChangeArrowheads="1"/>
            </p:cNvSpPr>
            <p:nvPr/>
          </p:nvSpPr>
          <p:spPr bwMode="auto">
            <a:xfrm>
              <a:off x="3729214" y="2400771"/>
              <a:ext cx="264833"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C</a:t>
              </a:r>
              <a:r>
                <a:rPr lang="en-US" altLang="zh-CN" sz="1800">
                  <a:solidFill>
                    <a:srgbClr val="000000"/>
                  </a:solidFill>
                  <a:latin typeface="宋体" panose="02010600030101010101" pitchFamily="2" charset="-122"/>
                </a:rPr>
                <a:t>x</a:t>
              </a:r>
              <a:endParaRPr lang="zh-CN" altLang="zh-CN" sz="1800"/>
            </a:p>
          </p:txBody>
        </p:sp>
        <p:sp>
          <p:nvSpPr>
            <p:cNvPr id="84022" name="Rectangle 54">
              <a:extLst>
                <a:ext uri="{FF2B5EF4-FFF2-40B4-BE49-F238E27FC236}">
                  <a16:creationId xmlns:a16="http://schemas.microsoft.com/office/drawing/2014/main" id="{DB92D7B1-B4BB-44B7-A8B4-D1C538AEA343}"/>
                </a:ext>
              </a:extLst>
            </p:cNvPr>
            <p:cNvSpPr>
              <a:spLocks noChangeArrowheads="1"/>
            </p:cNvSpPr>
            <p:nvPr/>
          </p:nvSpPr>
          <p:spPr bwMode="auto">
            <a:xfrm>
              <a:off x="3563888" y="3165014"/>
              <a:ext cx="264833"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Cs</a:t>
              </a:r>
              <a:endParaRPr lang="zh-CN" altLang="zh-CN" sz="1800"/>
            </a:p>
          </p:txBody>
        </p:sp>
        <p:sp>
          <p:nvSpPr>
            <p:cNvPr id="84023" name="Rectangle 55">
              <a:extLst>
                <a:ext uri="{FF2B5EF4-FFF2-40B4-BE49-F238E27FC236}">
                  <a16:creationId xmlns:a16="http://schemas.microsoft.com/office/drawing/2014/main" id="{F34320E7-D04A-44F1-8FA6-8B547E68F377}"/>
                </a:ext>
              </a:extLst>
            </p:cNvPr>
            <p:cNvSpPr>
              <a:spLocks noChangeArrowheads="1"/>
            </p:cNvSpPr>
            <p:nvPr/>
          </p:nvSpPr>
          <p:spPr bwMode="auto">
            <a:xfrm>
              <a:off x="3758423" y="3165014"/>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1</a:t>
              </a:r>
              <a:endParaRPr lang="zh-CN" altLang="zh-CN" sz="1800"/>
            </a:p>
          </p:txBody>
        </p:sp>
        <p:sp>
          <p:nvSpPr>
            <p:cNvPr id="84024" name="Rectangle 56">
              <a:extLst>
                <a:ext uri="{FF2B5EF4-FFF2-40B4-BE49-F238E27FC236}">
                  <a16:creationId xmlns:a16="http://schemas.microsoft.com/office/drawing/2014/main" id="{ECB81E76-1F02-44BF-B3D5-7800A08C3C4F}"/>
                </a:ext>
              </a:extLst>
            </p:cNvPr>
            <p:cNvSpPr>
              <a:spLocks noChangeArrowheads="1"/>
            </p:cNvSpPr>
            <p:nvPr/>
          </p:nvSpPr>
          <p:spPr bwMode="auto">
            <a:xfrm>
              <a:off x="4171702" y="3144734"/>
              <a:ext cx="264833"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Cs</a:t>
              </a:r>
              <a:endParaRPr lang="zh-CN" altLang="zh-CN" sz="1800"/>
            </a:p>
          </p:txBody>
        </p:sp>
        <p:sp>
          <p:nvSpPr>
            <p:cNvPr id="84025" name="Rectangle 57">
              <a:extLst>
                <a:ext uri="{FF2B5EF4-FFF2-40B4-BE49-F238E27FC236}">
                  <a16:creationId xmlns:a16="http://schemas.microsoft.com/office/drawing/2014/main" id="{09E03467-391B-46E6-A1B0-D5C5F5DAA34B}"/>
                </a:ext>
              </a:extLst>
            </p:cNvPr>
            <p:cNvSpPr>
              <a:spLocks noChangeArrowheads="1"/>
            </p:cNvSpPr>
            <p:nvPr/>
          </p:nvSpPr>
          <p:spPr bwMode="auto">
            <a:xfrm>
              <a:off x="4388756" y="3166959"/>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2</a:t>
              </a:r>
              <a:endParaRPr lang="zh-CN" altLang="zh-CN" sz="1800"/>
            </a:p>
          </p:txBody>
        </p:sp>
        <p:sp>
          <p:nvSpPr>
            <p:cNvPr id="84026" name="Rectangle 58">
              <a:extLst>
                <a:ext uri="{FF2B5EF4-FFF2-40B4-BE49-F238E27FC236}">
                  <a16:creationId xmlns:a16="http://schemas.microsoft.com/office/drawing/2014/main" id="{E28A01BD-BB5C-4916-9F31-16809BDAD21C}"/>
                </a:ext>
              </a:extLst>
            </p:cNvPr>
            <p:cNvSpPr>
              <a:spLocks noChangeArrowheads="1"/>
            </p:cNvSpPr>
            <p:nvPr/>
          </p:nvSpPr>
          <p:spPr bwMode="auto">
            <a:xfrm>
              <a:off x="6173076" y="2105920"/>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2</a:t>
              </a:r>
              <a:endParaRPr lang="zh-CN" altLang="zh-CN" sz="1800"/>
            </a:p>
          </p:txBody>
        </p:sp>
        <p:sp>
          <p:nvSpPr>
            <p:cNvPr id="84027" name="Rectangle 59">
              <a:extLst>
                <a:ext uri="{FF2B5EF4-FFF2-40B4-BE49-F238E27FC236}">
                  <a16:creationId xmlns:a16="http://schemas.microsoft.com/office/drawing/2014/main" id="{0BB8112B-F1F9-43F8-8D80-30B6278EFBDC}"/>
                </a:ext>
              </a:extLst>
            </p:cNvPr>
            <p:cNvSpPr>
              <a:spLocks noChangeArrowheads="1"/>
            </p:cNvSpPr>
            <p:nvPr/>
          </p:nvSpPr>
          <p:spPr bwMode="auto">
            <a:xfrm>
              <a:off x="5824509" y="1865293"/>
              <a:ext cx="134364"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b="1">
                  <a:solidFill>
                    <a:srgbClr val="000000"/>
                  </a:solidFill>
                  <a:latin typeface="宋体" panose="02010600030101010101" pitchFamily="2" charset="-122"/>
                </a:rPr>
                <a:t>-</a:t>
              </a:r>
              <a:endParaRPr lang="zh-CN" altLang="zh-CN" sz="1800"/>
            </a:p>
          </p:txBody>
        </p:sp>
        <p:sp>
          <p:nvSpPr>
            <p:cNvPr id="84028" name="Rectangle 60">
              <a:extLst>
                <a:ext uri="{FF2B5EF4-FFF2-40B4-BE49-F238E27FC236}">
                  <a16:creationId xmlns:a16="http://schemas.microsoft.com/office/drawing/2014/main" id="{71B64FD2-E141-4E03-ACB9-CA5C7F2B599E}"/>
                </a:ext>
              </a:extLst>
            </p:cNvPr>
            <p:cNvSpPr>
              <a:spLocks noChangeArrowheads="1"/>
            </p:cNvSpPr>
            <p:nvPr/>
          </p:nvSpPr>
          <p:spPr bwMode="auto">
            <a:xfrm>
              <a:off x="5843982" y="2341462"/>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a:t>
              </a:r>
              <a:endParaRPr lang="zh-CN" altLang="zh-CN" sz="1800"/>
            </a:p>
          </p:txBody>
        </p:sp>
        <p:sp>
          <p:nvSpPr>
            <p:cNvPr id="84029" name="Line 61">
              <a:extLst>
                <a:ext uri="{FF2B5EF4-FFF2-40B4-BE49-F238E27FC236}">
                  <a16:creationId xmlns:a16="http://schemas.microsoft.com/office/drawing/2014/main" id="{02E9BA9F-8920-4765-8AAF-27D9722979CB}"/>
                </a:ext>
              </a:extLst>
            </p:cNvPr>
            <p:cNvSpPr>
              <a:spLocks noChangeShapeType="1"/>
            </p:cNvSpPr>
            <p:nvPr/>
          </p:nvSpPr>
          <p:spPr bwMode="auto">
            <a:xfrm>
              <a:off x="5436997" y="2414328"/>
              <a:ext cx="0" cy="259266"/>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30" name="Freeform 62">
              <a:extLst>
                <a:ext uri="{FF2B5EF4-FFF2-40B4-BE49-F238E27FC236}">
                  <a16:creationId xmlns:a16="http://schemas.microsoft.com/office/drawing/2014/main" id="{11BA0EBD-9E7C-4EF9-BC67-95E2704335F0}"/>
                </a:ext>
              </a:extLst>
            </p:cNvPr>
            <p:cNvSpPr>
              <a:spLocks/>
            </p:cNvSpPr>
            <p:nvPr/>
          </p:nvSpPr>
          <p:spPr bwMode="auto">
            <a:xfrm>
              <a:off x="5436997" y="2411153"/>
              <a:ext cx="294042" cy="8473"/>
            </a:xfrm>
            <a:custGeom>
              <a:avLst/>
              <a:gdLst>
                <a:gd name="T0" fmla="*/ 0 w 151"/>
                <a:gd name="T1" fmla="*/ 0 h 5"/>
                <a:gd name="T2" fmla="*/ 0 w 151"/>
                <a:gd name="T3" fmla="*/ 14358346 h 5"/>
                <a:gd name="T4" fmla="*/ 572587402 w 151"/>
                <a:gd name="T5" fmla="*/ 14358346 h 5"/>
                <a:gd name="T6" fmla="*/ 0 60000 65536"/>
                <a:gd name="T7" fmla="*/ 0 60000 65536"/>
                <a:gd name="T8" fmla="*/ 0 60000 65536"/>
              </a:gdLst>
              <a:ahLst/>
              <a:cxnLst>
                <a:cxn ang="T6">
                  <a:pos x="T0" y="T1"/>
                </a:cxn>
                <a:cxn ang="T7">
                  <a:pos x="T2" y="T3"/>
                </a:cxn>
                <a:cxn ang="T8">
                  <a:pos x="T4" y="T5"/>
                </a:cxn>
              </a:cxnLst>
              <a:rect l="0" t="0" r="r" b="b"/>
              <a:pathLst>
                <a:path w="151" h="5">
                  <a:moveTo>
                    <a:pt x="0" y="0"/>
                  </a:moveTo>
                  <a:lnTo>
                    <a:pt x="0" y="5"/>
                  </a:lnTo>
                  <a:lnTo>
                    <a:pt x="151" y="5"/>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31" name="Freeform 64">
              <a:extLst>
                <a:ext uri="{FF2B5EF4-FFF2-40B4-BE49-F238E27FC236}">
                  <a16:creationId xmlns:a16="http://schemas.microsoft.com/office/drawing/2014/main" id="{FAF85DEF-C829-488A-8C35-C763823BF021}"/>
                </a:ext>
              </a:extLst>
            </p:cNvPr>
            <p:cNvSpPr>
              <a:spLocks/>
            </p:cNvSpPr>
            <p:nvPr/>
          </p:nvSpPr>
          <p:spPr bwMode="auto">
            <a:xfrm>
              <a:off x="5970557" y="3120955"/>
              <a:ext cx="214203" cy="72866"/>
            </a:xfrm>
            <a:custGeom>
              <a:avLst/>
              <a:gdLst>
                <a:gd name="T0" fmla="*/ 0 w 110"/>
                <a:gd name="T1" fmla="*/ 63173127 h 43"/>
                <a:gd name="T2" fmla="*/ 34128380 w 110"/>
                <a:gd name="T3" fmla="*/ 0 h 43"/>
                <a:gd name="T4" fmla="*/ 106174585 w 110"/>
                <a:gd name="T5" fmla="*/ 123475673 h 43"/>
                <a:gd name="T6" fmla="*/ 174431345 w 110"/>
                <a:gd name="T7" fmla="*/ 0 h 43"/>
                <a:gd name="T8" fmla="*/ 242686157 w 110"/>
                <a:gd name="T9" fmla="*/ 123475673 h 43"/>
                <a:gd name="T10" fmla="*/ 310942917 w 110"/>
                <a:gd name="T11" fmla="*/ 0 h 43"/>
                <a:gd name="T12" fmla="*/ 382989122 w 110"/>
                <a:gd name="T13" fmla="*/ 123475673 h 43"/>
                <a:gd name="T14" fmla="*/ 417117502 w 110"/>
                <a:gd name="T15" fmla="*/ 63173127 h 4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0" h="43">
                  <a:moveTo>
                    <a:pt x="0" y="22"/>
                  </a:moveTo>
                  <a:lnTo>
                    <a:pt x="9" y="0"/>
                  </a:lnTo>
                  <a:lnTo>
                    <a:pt x="28" y="43"/>
                  </a:lnTo>
                  <a:lnTo>
                    <a:pt x="46" y="0"/>
                  </a:lnTo>
                  <a:lnTo>
                    <a:pt x="64" y="43"/>
                  </a:lnTo>
                  <a:lnTo>
                    <a:pt x="82" y="0"/>
                  </a:lnTo>
                  <a:lnTo>
                    <a:pt x="101" y="43"/>
                  </a:lnTo>
                  <a:lnTo>
                    <a:pt x="110" y="22"/>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32" name="Freeform 65">
              <a:extLst>
                <a:ext uri="{FF2B5EF4-FFF2-40B4-BE49-F238E27FC236}">
                  <a16:creationId xmlns:a16="http://schemas.microsoft.com/office/drawing/2014/main" id="{DC70C216-48AB-4D95-923C-E3A5B502D311}"/>
                </a:ext>
              </a:extLst>
            </p:cNvPr>
            <p:cNvSpPr>
              <a:spLocks/>
            </p:cNvSpPr>
            <p:nvPr/>
          </p:nvSpPr>
          <p:spPr bwMode="auto">
            <a:xfrm>
              <a:off x="5088429" y="3158235"/>
              <a:ext cx="882127" cy="368854"/>
            </a:xfrm>
            <a:custGeom>
              <a:avLst/>
              <a:gdLst>
                <a:gd name="T0" fmla="*/ 2026427198 w 384"/>
                <a:gd name="T1" fmla="*/ 0 h 219"/>
                <a:gd name="T2" fmla="*/ 0 w 384"/>
                <a:gd name="T3" fmla="*/ 0 h 219"/>
                <a:gd name="T4" fmla="*/ 0 w 384"/>
                <a:gd name="T5" fmla="*/ 621247823 h 219"/>
                <a:gd name="T6" fmla="*/ 0 60000 65536"/>
                <a:gd name="T7" fmla="*/ 0 60000 65536"/>
                <a:gd name="T8" fmla="*/ 0 60000 65536"/>
              </a:gdLst>
              <a:ahLst/>
              <a:cxnLst>
                <a:cxn ang="T6">
                  <a:pos x="T0" y="T1"/>
                </a:cxn>
                <a:cxn ang="T7">
                  <a:pos x="T2" y="T3"/>
                </a:cxn>
                <a:cxn ang="T8">
                  <a:pos x="T4" y="T5"/>
                </a:cxn>
              </a:cxnLst>
              <a:rect l="0" t="0" r="r" b="b"/>
              <a:pathLst>
                <a:path w="384" h="219">
                  <a:moveTo>
                    <a:pt x="384" y="0"/>
                  </a:moveTo>
                  <a:lnTo>
                    <a:pt x="0" y="0"/>
                  </a:lnTo>
                  <a:lnTo>
                    <a:pt x="0" y="219"/>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33" name="Freeform 66">
              <a:extLst>
                <a:ext uri="{FF2B5EF4-FFF2-40B4-BE49-F238E27FC236}">
                  <a16:creationId xmlns:a16="http://schemas.microsoft.com/office/drawing/2014/main" id="{34D28187-FCDF-42B4-B29A-DF2B9958C115}"/>
                </a:ext>
              </a:extLst>
            </p:cNvPr>
            <p:cNvSpPr>
              <a:spLocks/>
            </p:cNvSpPr>
            <p:nvPr/>
          </p:nvSpPr>
          <p:spPr bwMode="auto">
            <a:xfrm>
              <a:off x="5758300" y="3307357"/>
              <a:ext cx="1067121" cy="928615"/>
            </a:xfrm>
            <a:custGeom>
              <a:avLst/>
              <a:gdLst>
                <a:gd name="T0" fmla="*/ 0 w 548"/>
                <a:gd name="T1" fmla="*/ 0 h 548"/>
                <a:gd name="T2" fmla="*/ 0 w 548"/>
                <a:gd name="T3" fmla="*/ 1573587260 h 548"/>
                <a:gd name="T4" fmla="*/ 2078005892 w 548"/>
                <a:gd name="T5" fmla="*/ 783922210 h 548"/>
                <a:gd name="T6" fmla="*/ 0 w 548"/>
                <a:gd name="T7" fmla="*/ 0 h 5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8" h="548">
                  <a:moveTo>
                    <a:pt x="0" y="0"/>
                  </a:moveTo>
                  <a:lnTo>
                    <a:pt x="0" y="548"/>
                  </a:lnTo>
                  <a:lnTo>
                    <a:pt x="548" y="27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034" name="Freeform 67">
              <a:extLst>
                <a:ext uri="{FF2B5EF4-FFF2-40B4-BE49-F238E27FC236}">
                  <a16:creationId xmlns:a16="http://schemas.microsoft.com/office/drawing/2014/main" id="{DE70375E-196D-4DAE-B57B-70249F56301C}"/>
                </a:ext>
              </a:extLst>
            </p:cNvPr>
            <p:cNvSpPr>
              <a:spLocks/>
            </p:cNvSpPr>
            <p:nvPr/>
          </p:nvSpPr>
          <p:spPr bwMode="auto">
            <a:xfrm>
              <a:off x="5758301" y="3307356"/>
              <a:ext cx="1067121" cy="928614"/>
            </a:xfrm>
            <a:custGeom>
              <a:avLst/>
              <a:gdLst>
                <a:gd name="T0" fmla="*/ 0 w 548"/>
                <a:gd name="T1" fmla="*/ 0 h 548"/>
                <a:gd name="T2" fmla="*/ 0 w 548"/>
                <a:gd name="T3" fmla="*/ 1573583870 h 548"/>
                <a:gd name="T4" fmla="*/ 2078005892 w 548"/>
                <a:gd name="T5" fmla="*/ 783919671 h 548"/>
                <a:gd name="T6" fmla="*/ 0 w 548"/>
                <a:gd name="T7" fmla="*/ 0 h 5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8" h="548">
                  <a:moveTo>
                    <a:pt x="0" y="0"/>
                  </a:moveTo>
                  <a:lnTo>
                    <a:pt x="0" y="548"/>
                  </a:lnTo>
                  <a:lnTo>
                    <a:pt x="548" y="273"/>
                  </a:lnTo>
                  <a:lnTo>
                    <a:pt x="0" y="0"/>
                  </a:ln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35" name="Freeform 69">
              <a:extLst>
                <a:ext uri="{FF2B5EF4-FFF2-40B4-BE49-F238E27FC236}">
                  <a16:creationId xmlns:a16="http://schemas.microsoft.com/office/drawing/2014/main" id="{CBED04B9-E353-4F44-863B-F396C5754ED8}"/>
                </a:ext>
              </a:extLst>
            </p:cNvPr>
            <p:cNvSpPr>
              <a:spLocks/>
            </p:cNvSpPr>
            <p:nvPr/>
          </p:nvSpPr>
          <p:spPr bwMode="auto">
            <a:xfrm>
              <a:off x="5222792" y="3492096"/>
              <a:ext cx="535501" cy="45719"/>
            </a:xfrm>
            <a:custGeom>
              <a:avLst/>
              <a:gdLst>
                <a:gd name="T0" fmla="*/ 1392045248 w 206"/>
                <a:gd name="T1" fmla="*/ 418045392 h 5"/>
                <a:gd name="T2" fmla="*/ 0 w 206"/>
                <a:gd name="T3" fmla="*/ 418045392 h 5"/>
                <a:gd name="T4" fmla="*/ 0 w 206"/>
                <a:gd name="T5" fmla="*/ 0 h 5"/>
                <a:gd name="T6" fmla="*/ 0 60000 65536"/>
                <a:gd name="T7" fmla="*/ 0 60000 65536"/>
                <a:gd name="T8" fmla="*/ 0 60000 65536"/>
              </a:gdLst>
              <a:ahLst/>
              <a:cxnLst>
                <a:cxn ang="T6">
                  <a:pos x="T0" y="T1"/>
                </a:cxn>
                <a:cxn ang="T7">
                  <a:pos x="T2" y="T3"/>
                </a:cxn>
                <a:cxn ang="T8">
                  <a:pos x="T4" y="T5"/>
                </a:cxn>
              </a:cxnLst>
              <a:rect l="0" t="0" r="r" b="b"/>
              <a:pathLst>
                <a:path w="206" h="5">
                  <a:moveTo>
                    <a:pt x="206" y="5"/>
                  </a:moveTo>
                  <a:lnTo>
                    <a:pt x="0" y="5"/>
                  </a:ln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36" name="Freeform 70">
              <a:extLst>
                <a:ext uri="{FF2B5EF4-FFF2-40B4-BE49-F238E27FC236}">
                  <a16:creationId xmlns:a16="http://schemas.microsoft.com/office/drawing/2014/main" id="{301897E3-EB0A-4F9D-A2EF-2DEDD3A530FD}"/>
                </a:ext>
              </a:extLst>
            </p:cNvPr>
            <p:cNvSpPr>
              <a:spLocks/>
            </p:cNvSpPr>
            <p:nvPr/>
          </p:nvSpPr>
          <p:spPr bwMode="auto">
            <a:xfrm>
              <a:off x="4567711" y="3380221"/>
              <a:ext cx="655083" cy="157593"/>
            </a:xfrm>
            <a:custGeom>
              <a:avLst/>
              <a:gdLst>
                <a:gd name="T0" fmla="*/ 1304357863 w 329"/>
                <a:gd name="T1" fmla="*/ 267048964 h 93"/>
                <a:gd name="T2" fmla="*/ 0 w 329"/>
                <a:gd name="T3" fmla="*/ 267048964 h 93"/>
                <a:gd name="T4" fmla="*/ 0 w 329"/>
                <a:gd name="T5" fmla="*/ 0 h 93"/>
                <a:gd name="T6" fmla="*/ 0 60000 65536"/>
                <a:gd name="T7" fmla="*/ 0 60000 65536"/>
                <a:gd name="T8" fmla="*/ 0 60000 65536"/>
              </a:gdLst>
              <a:ahLst/>
              <a:cxnLst>
                <a:cxn ang="T6">
                  <a:pos x="T0" y="T1"/>
                </a:cxn>
                <a:cxn ang="T7">
                  <a:pos x="T2" y="T3"/>
                </a:cxn>
                <a:cxn ang="T8">
                  <a:pos x="T4" y="T5"/>
                </a:cxn>
              </a:cxnLst>
              <a:rect l="0" t="0" r="r" b="b"/>
              <a:pathLst>
                <a:path w="329" h="93">
                  <a:moveTo>
                    <a:pt x="329" y="93"/>
                  </a:moveTo>
                  <a:lnTo>
                    <a:pt x="0" y="93"/>
                  </a:ln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37" name="Freeform 71">
              <a:extLst>
                <a:ext uri="{FF2B5EF4-FFF2-40B4-BE49-F238E27FC236}">
                  <a16:creationId xmlns:a16="http://schemas.microsoft.com/office/drawing/2014/main" id="{FE57E93F-0740-4E0D-89CF-222DE3ECEBA2}"/>
                </a:ext>
              </a:extLst>
            </p:cNvPr>
            <p:cNvSpPr>
              <a:spLocks/>
            </p:cNvSpPr>
            <p:nvPr/>
          </p:nvSpPr>
          <p:spPr bwMode="auto">
            <a:xfrm>
              <a:off x="6184759" y="3158235"/>
              <a:ext cx="934705" cy="611733"/>
            </a:xfrm>
            <a:custGeom>
              <a:avLst/>
              <a:gdLst>
                <a:gd name="T0" fmla="*/ 0 w 397"/>
                <a:gd name="T1" fmla="*/ 0 h 361"/>
                <a:gd name="T2" fmla="*/ 1973414178 w 397"/>
                <a:gd name="T3" fmla="*/ 0 h 361"/>
                <a:gd name="T4" fmla="*/ 1973414178 w 397"/>
                <a:gd name="T5" fmla="*/ 1036612918 h 361"/>
                <a:gd name="T6" fmla="*/ 2147483646 w 397"/>
                <a:gd name="T7" fmla="*/ 1036612918 h 36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97" h="361">
                  <a:moveTo>
                    <a:pt x="0" y="0"/>
                  </a:moveTo>
                  <a:lnTo>
                    <a:pt x="356" y="0"/>
                  </a:lnTo>
                  <a:lnTo>
                    <a:pt x="356" y="361"/>
                  </a:lnTo>
                  <a:lnTo>
                    <a:pt x="397" y="361"/>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38" name="Freeform 72">
              <a:extLst>
                <a:ext uri="{FF2B5EF4-FFF2-40B4-BE49-F238E27FC236}">
                  <a16:creationId xmlns:a16="http://schemas.microsoft.com/office/drawing/2014/main" id="{472C786B-B41E-485C-B1F0-787BEEC94122}"/>
                </a:ext>
              </a:extLst>
            </p:cNvPr>
            <p:cNvSpPr>
              <a:spLocks/>
            </p:cNvSpPr>
            <p:nvPr/>
          </p:nvSpPr>
          <p:spPr bwMode="auto">
            <a:xfrm>
              <a:off x="6184760" y="1409459"/>
              <a:ext cx="788657" cy="781188"/>
            </a:xfrm>
            <a:custGeom>
              <a:avLst/>
              <a:gdLst>
                <a:gd name="T0" fmla="*/ 0 w 405"/>
                <a:gd name="T1" fmla="*/ 0 h 461"/>
                <a:gd name="T2" fmla="*/ 1535752750 w 405"/>
                <a:gd name="T3" fmla="*/ 0 h 461"/>
                <a:gd name="T4" fmla="*/ 1535752750 w 405"/>
                <a:gd name="T5" fmla="*/ 1323762888 h 461"/>
                <a:gd name="T6" fmla="*/ 0 60000 65536"/>
                <a:gd name="T7" fmla="*/ 0 60000 65536"/>
                <a:gd name="T8" fmla="*/ 0 60000 65536"/>
              </a:gdLst>
              <a:ahLst/>
              <a:cxnLst>
                <a:cxn ang="T6">
                  <a:pos x="T0" y="T1"/>
                </a:cxn>
                <a:cxn ang="T7">
                  <a:pos x="T2" y="T3"/>
                </a:cxn>
                <a:cxn ang="T8">
                  <a:pos x="T4" y="T5"/>
                </a:cxn>
              </a:cxnLst>
              <a:rect l="0" t="0" r="r" b="b"/>
              <a:pathLst>
                <a:path w="405" h="461">
                  <a:moveTo>
                    <a:pt x="0" y="0"/>
                  </a:moveTo>
                  <a:lnTo>
                    <a:pt x="405" y="0"/>
                  </a:lnTo>
                  <a:lnTo>
                    <a:pt x="405" y="461"/>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39" name="Freeform 73">
              <a:extLst>
                <a:ext uri="{FF2B5EF4-FFF2-40B4-BE49-F238E27FC236}">
                  <a16:creationId xmlns:a16="http://schemas.microsoft.com/office/drawing/2014/main" id="{209494E3-CDFA-4FE3-B703-86C891E9E9C3}"/>
                </a:ext>
              </a:extLst>
            </p:cNvPr>
            <p:cNvSpPr>
              <a:spLocks noEditPoints="1"/>
            </p:cNvSpPr>
            <p:nvPr/>
          </p:nvSpPr>
          <p:spPr bwMode="auto">
            <a:xfrm>
              <a:off x="5008590" y="3751760"/>
              <a:ext cx="171362" cy="37280"/>
            </a:xfrm>
            <a:custGeom>
              <a:avLst/>
              <a:gdLst>
                <a:gd name="T0" fmla="*/ 333692444 w 88"/>
                <a:gd name="T1" fmla="*/ 63172655 h 22"/>
                <a:gd name="T2" fmla="*/ 0 w 88"/>
                <a:gd name="T3" fmla="*/ 63172655 h 22"/>
                <a:gd name="T4" fmla="*/ 333692444 w 88"/>
                <a:gd name="T5" fmla="*/ 0 h 22"/>
                <a:gd name="T6" fmla="*/ 0 w 88"/>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8" h="22">
                  <a:moveTo>
                    <a:pt x="88" y="22"/>
                  </a:moveTo>
                  <a:lnTo>
                    <a:pt x="0" y="22"/>
                  </a:lnTo>
                  <a:moveTo>
                    <a:pt x="88" y="0"/>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40" name="Rectangle 75">
              <a:extLst>
                <a:ext uri="{FF2B5EF4-FFF2-40B4-BE49-F238E27FC236}">
                  <a16:creationId xmlns:a16="http://schemas.microsoft.com/office/drawing/2014/main" id="{22D2B7F1-C76E-4E23-9ED4-F4B45D7268AE}"/>
                </a:ext>
              </a:extLst>
            </p:cNvPr>
            <p:cNvSpPr>
              <a:spLocks noChangeArrowheads="1"/>
            </p:cNvSpPr>
            <p:nvPr/>
          </p:nvSpPr>
          <p:spPr bwMode="auto">
            <a:xfrm>
              <a:off x="5236134" y="3633836"/>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C</a:t>
              </a:r>
              <a:endParaRPr lang="zh-CN" altLang="zh-CN" sz="1800"/>
            </a:p>
          </p:txBody>
        </p:sp>
        <p:sp>
          <p:nvSpPr>
            <p:cNvPr id="84041" name="Freeform 76">
              <a:extLst>
                <a:ext uri="{FF2B5EF4-FFF2-40B4-BE49-F238E27FC236}">
                  <a16:creationId xmlns:a16="http://schemas.microsoft.com/office/drawing/2014/main" id="{41896C0C-0260-40D1-AA7F-C7577D0941D9}"/>
                </a:ext>
              </a:extLst>
            </p:cNvPr>
            <p:cNvSpPr>
              <a:spLocks/>
            </p:cNvSpPr>
            <p:nvPr/>
          </p:nvSpPr>
          <p:spPr bwMode="auto">
            <a:xfrm>
              <a:off x="5094271" y="3537815"/>
              <a:ext cx="45719" cy="209662"/>
            </a:xfrm>
            <a:custGeom>
              <a:avLst/>
              <a:gdLst>
                <a:gd name="T0" fmla="*/ 0 w 12"/>
                <a:gd name="T1" fmla="*/ 378949606 h 116"/>
                <a:gd name="T2" fmla="*/ 0 w 12"/>
                <a:gd name="T3" fmla="*/ 0 h 116"/>
                <a:gd name="T4" fmla="*/ 174185580 w 12"/>
                <a:gd name="T5" fmla="*/ 0 h 116"/>
                <a:gd name="T6" fmla="*/ 0 60000 65536"/>
                <a:gd name="T7" fmla="*/ 0 60000 65536"/>
                <a:gd name="T8" fmla="*/ 0 60000 65536"/>
              </a:gdLst>
              <a:ahLst/>
              <a:cxnLst>
                <a:cxn ang="T6">
                  <a:pos x="T0" y="T1"/>
                </a:cxn>
                <a:cxn ang="T7">
                  <a:pos x="T2" y="T3"/>
                </a:cxn>
                <a:cxn ang="T8">
                  <a:pos x="T4" y="T5"/>
                </a:cxn>
              </a:cxnLst>
              <a:rect l="0" t="0" r="r" b="b"/>
              <a:pathLst>
                <a:path w="12" h="116">
                  <a:moveTo>
                    <a:pt x="0" y="116"/>
                  </a:moveTo>
                  <a:lnTo>
                    <a:pt x="0" y="0"/>
                  </a:lnTo>
                  <a:lnTo>
                    <a:pt x="12"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42" name="Freeform 77">
              <a:extLst>
                <a:ext uri="{FF2B5EF4-FFF2-40B4-BE49-F238E27FC236}">
                  <a16:creationId xmlns:a16="http://schemas.microsoft.com/office/drawing/2014/main" id="{5CA4C9CC-F3A6-4BF9-A60C-670356A5CE85}"/>
                </a:ext>
              </a:extLst>
            </p:cNvPr>
            <p:cNvSpPr>
              <a:spLocks noEditPoints="1"/>
            </p:cNvSpPr>
            <p:nvPr/>
          </p:nvSpPr>
          <p:spPr bwMode="auto">
            <a:xfrm>
              <a:off x="5308475" y="4049569"/>
              <a:ext cx="171362" cy="372801"/>
            </a:xfrm>
            <a:custGeom>
              <a:avLst/>
              <a:gdLst>
                <a:gd name="T0" fmla="*/ 109967669 w 88"/>
                <a:gd name="T1" fmla="*/ 631729935 h 220"/>
                <a:gd name="T2" fmla="*/ 223724775 w 88"/>
                <a:gd name="T3" fmla="*/ 631729935 h 220"/>
                <a:gd name="T4" fmla="*/ 56878553 w 88"/>
                <a:gd name="T5" fmla="*/ 588657863 h 220"/>
                <a:gd name="T6" fmla="*/ 276813891 w 88"/>
                <a:gd name="T7" fmla="*/ 588657863 h 220"/>
                <a:gd name="T8" fmla="*/ 0 w 88"/>
                <a:gd name="T9" fmla="*/ 545585791 h 220"/>
                <a:gd name="T10" fmla="*/ 333692444 w 88"/>
                <a:gd name="T11" fmla="*/ 545585791 h 220"/>
                <a:gd name="T12" fmla="*/ 166846222 w 88"/>
                <a:gd name="T13" fmla="*/ 0 h 220"/>
                <a:gd name="T14" fmla="*/ 166846222 w 88"/>
                <a:gd name="T15" fmla="*/ 545585791 h 22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8" h="220">
                  <a:moveTo>
                    <a:pt x="29" y="220"/>
                  </a:moveTo>
                  <a:lnTo>
                    <a:pt x="59" y="220"/>
                  </a:lnTo>
                  <a:moveTo>
                    <a:pt x="15" y="205"/>
                  </a:moveTo>
                  <a:lnTo>
                    <a:pt x="73" y="205"/>
                  </a:lnTo>
                  <a:moveTo>
                    <a:pt x="0" y="190"/>
                  </a:moveTo>
                  <a:lnTo>
                    <a:pt x="88" y="190"/>
                  </a:lnTo>
                  <a:moveTo>
                    <a:pt x="44" y="0"/>
                  </a:moveTo>
                  <a:lnTo>
                    <a:pt x="44" y="19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43" name="Line 80">
              <a:extLst>
                <a:ext uri="{FF2B5EF4-FFF2-40B4-BE49-F238E27FC236}">
                  <a16:creationId xmlns:a16="http://schemas.microsoft.com/office/drawing/2014/main" id="{C0C5BB52-0413-47E5-A1C4-4982A76C9A25}"/>
                </a:ext>
              </a:extLst>
            </p:cNvPr>
            <p:cNvSpPr>
              <a:spLocks noChangeShapeType="1"/>
            </p:cNvSpPr>
            <p:nvPr/>
          </p:nvSpPr>
          <p:spPr bwMode="auto">
            <a:xfrm>
              <a:off x="5094272" y="4042757"/>
              <a:ext cx="299884"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44" name="Rectangle 81">
              <a:extLst>
                <a:ext uri="{FF2B5EF4-FFF2-40B4-BE49-F238E27FC236}">
                  <a16:creationId xmlns:a16="http://schemas.microsoft.com/office/drawing/2014/main" id="{1827B3A8-001A-4AAA-8A4E-B8F5424C1151}"/>
                </a:ext>
              </a:extLst>
            </p:cNvPr>
            <p:cNvSpPr>
              <a:spLocks noChangeArrowheads="1"/>
            </p:cNvSpPr>
            <p:nvPr/>
          </p:nvSpPr>
          <p:spPr bwMode="auto">
            <a:xfrm>
              <a:off x="5853719" y="3461560"/>
              <a:ext cx="134364"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b="1">
                  <a:solidFill>
                    <a:srgbClr val="000000"/>
                  </a:solidFill>
                  <a:latin typeface="宋体" panose="02010600030101010101" pitchFamily="2" charset="-122"/>
                </a:rPr>
                <a:t>-</a:t>
              </a:r>
              <a:endParaRPr lang="zh-CN" altLang="zh-CN" sz="1800"/>
            </a:p>
          </p:txBody>
        </p:sp>
        <p:sp>
          <p:nvSpPr>
            <p:cNvPr id="84045" name="Rectangle 82">
              <a:extLst>
                <a:ext uri="{FF2B5EF4-FFF2-40B4-BE49-F238E27FC236}">
                  <a16:creationId xmlns:a16="http://schemas.microsoft.com/office/drawing/2014/main" id="{554AFADD-15A7-4CE6-BA65-C0A8C92D8D38}"/>
                </a:ext>
              </a:extLst>
            </p:cNvPr>
            <p:cNvSpPr>
              <a:spLocks noChangeArrowheads="1"/>
            </p:cNvSpPr>
            <p:nvPr/>
          </p:nvSpPr>
          <p:spPr bwMode="auto">
            <a:xfrm>
              <a:off x="6221759" y="3685240"/>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1</a:t>
              </a:r>
              <a:endParaRPr lang="zh-CN" altLang="zh-CN" sz="1800"/>
            </a:p>
          </p:txBody>
        </p:sp>
        <p:sp>
          <p:nvSpPr>
            <p:cNvPr id="84046" name="Rectangle 83">
              <a:extLst>
                <a:ext uri="{FF2B5EF4-FFF2-40B4-BE49-F238E27FC236}">
                  <a16:creationId xmlns:a16="http://schemas.microsoft.com/office/drawing/2014/main" id="{856DF01F-949E-44EE-9317-B90DA38AF860}"/>
                </a:ext>
              </a:extLst>
            </p:cNvPr>
            <p:cNvSpPr>
              <a:spLocks noChangeArrowheads="1"/>
            </p:cNvSpPr>
            <p:nvPr/>
          </p:nvSpPr>
          <p:spPr bwMode="auto">
            <a:xfrm>
              <a:off x="5980883" y="2837965"/>
              <a:ext cx="264833"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Rf</a:t>
              </a:r>
              <a:endParaRPr lang="zh-CN" altLang="zh-CN" sz="1800"/>
            </a:p>
          </p:txBody>
        </p:sp>
        <p:sp>
          <p:nvSpPr>
            <p:cNvPr id="84047" name="Freeform 84">
              <a:extLst>
                <a:ext uri="{FF2B5EF4-FFF2-40B4-BE49-F238E27FC236}">
                  <a16:creationId xmlns:a16="http://schemas.microsoft.com/office/drawing/2014/main" id="{737FB7B8-E339-4AC2-B6A2-C3E27BEF8F87}"/>
                </a:ext>
              </a:extLst>
            </p:cNvPr>
            <p:cNvSpPr>
              <a:spLocks/>
            </p:cNvSpPr>
            <p:nvPr/>
          </p:nvSpPr>
          <p:spPr bwMode="auto">
            <a:xfrm>
              <a:off x="7423243" y="2377048"/>
              <a:ext cx="1067121" cy="930308"/>
            </a:xfrm>
            <a:custGeom>
              <a:avLst/>
              <a:gdLst>
                <a:gd name="T0" fmla="*/ 0 w 548"/>
                <a:gd name="T1" fmla="*/ 0 h 549"/>
                <a:gd name="T2" fmla="*/ 0 w 548"/>
                <a:gd name="T3" fmla="*/ 1576453506 h 549"/>
                <a:gd name="T4" fmla="*/ 2078005892 w 548"/>
                <a:gd name="T5" fmla="*/ 786791469 h 549"/>
                <a:gd name="T6" fmla="*/ 0 w 548"/>
                <a:gd name="T7" fmla="*/ 0 h 5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8" h="549">
                  <a:moveTo>
                    <a:pt x="0" y="0"/>
                  </a:moveTo>
                  <a:lnTo>
                    <a:pt x="0" y="549"/>
                  </a:lnTo>
                  <a:lnTo>
                    <a:pt x="548" y="274"/>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048" name="Freeform 85">
              <a:extLst>
                <a:ext uri="{FF2B5EF4-FFF2-40B4-BE49-F238E27FC236}">
                  <a16:creationId xmlns:a16="http://schemas.microsoft.com/office/drawing/2014/main" id="{FE11898B-9FFF-4947-864B-E5338C6C6901}"/>
                </a:ext>
              </a:extLst>
            </p:cNvPr>
            <p:cNvSpPr>
              <a:spLocks/>
            </p:cNvSpPr>
            <p:nvPr/>
          </p:nvSpPr>
          <p:spPr bwMode="auto">
            <a:xfrm>
              <a:off x="7728669" y="2377048"/>
              <a:ext cx="1067121" cy="930308"/>
            </a:xfrm>
            <a:custGeom>
              <a:avLst/>
              <a:gdLst>
                <a:gd name="T0" fmla="*/ 0 w 548"/>
                <a:gd name="T1" fmla="*/ 0 h 549"/>
                <a:gd name="T2" fmla="*/ 0 w 548"/>
                <a:gd name="T3" fmla="*/ 1576453506 h 549"/>
                <a:gd name="T4" fmla="*/ 2078005892 w 548"/>
                <a:gd name="T5" fmla="*/ 786791469 h 549"/>
                <a:gd name="T6" fmla="*/ 0 w 548"/>
                <a:gd name="T7" fmla="*/ 0 h 5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8" h="549">
                  <a:moveTo>
                    <a:pt x="0" y="0"/>
                  </a:moveTo>
                  <a:lnTo>
                    <a:pt x="0" y="549"/>
                  </a:lnTo>
                  <a:lnTo>
                    <a:pt x="548" y="274"/>
                  </a:lnTo>
                  <a:lnTo>
                    <a:pt x="0" y="0"/>
                  </a:ln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49" name="Freeform 87">
              <a:extLst>
                <a:ext uri="{FF2B5EF4-FFF2-40B4-BE49-F238E27FC236}">
                  <a16:creationId xmlns:a16="http://schemas.microsoft.com/office/drawing/2014/main" id="{AD0E1870-B1D3-4C29-A645-AB506F77BEE3}"/>
                </a:ext>
              </a:extLst>
            </p:cNvPr>
            <p:cNvSpPr>
              <a:spLocks/>
            </p:cNvSpPr>
            <p:nvPr/>
          </p:nvSpPr>
          <p:spPr bwMode="auto">
            <a:xfrm>
              <a:off x="7251881" y="3073508"/>
              <a:ext cx="475141" cy="696460"/>
            </a:xfrm>
            <a:custGeom>
              <a:avLst/>
              <a:gdLst>
                <a:gd name="T0" fmla="*/ 2147483646 w 19"/>
                <a:gd name="T1" fmla="*/ 0 h 411"/>
                <a:gd name="T2" fmla="*/ 2147483646 w 19"/>
                <a:gd name="T3" fmla="*/ 0 h 411"/>
                <a:gd name="T4" fmla="*/ 2147483646 w 19"/>
                <a:gd name="T5" fmla="*/ 1180186208 h 411"/>
                <a:gd name="T6" fmla="*/ 0 w 19"/>
                <a:gd name="T7" fmla="*/ 1180186208 h 41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411">
                  <a:moveTo>
                    <a:pt x="19" y="0"/>
                  </a:moveTo>
                  <a:lnTo>
                    <a:pt x="5" y="0"/>
                  </a:lnTo>
                  <a:lnTo>
                    <a:pt x="5" y="411"/>
                  </a:lnTo>
                  <a:lnTo>
                    <a:pt x="0" y="411"/>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50" name="Line 88">
              <a:extLst>
                <a:ext uri="{FF2B5EF4-FFF2-40B4-BE49-F238E27FC236}">
                  <a16:creationId xmlns:a16="http://schemas.microsoft.com/office/drawing/2014/main" id="{0512CED5-BFEB-4B86-A20C-B31459B3E383}"/>
                </a:ext>
              </a:extLst>
            </p:cNvPr>
            <p:cNvSpPr>
              <a:spLocks noChangeShapeType="1"/>
            </p:cNvSpPr>
            <p:nvPr/>
          </p:nvSpPr>
          <p:spPr bwMode="auto">
            <a:xfrm>
              <a:off x="6825303" y="2190647"/>
              <a:ext cx="426578"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51" name="Freeform 89">
              <a:extLst>
                <a:ext uri="{FF2B5EF4-FFF2-40B4-BE49-F238E27FC236}">
                  <a16:creationId xmlns:a16="http://schemas.microsoft.com/office/drawing/2014/main" id="{EEEB5354-D800-47E0-A4A5-CE3B909E62F8}"/>
                </a:ext>
              </a:extLst>
            </p:cNvPr>
            <p:cNvSpPr>
              <a:spLocks/>
            </p:cNvSpPr>
            <p:nvPr/>
          </p:nvSpPr>
          <p:spPr bwMode="auto">
            <a:xfrm>
              <a:off x="7251881" y="2190647"/>
              <a:ext cx="475141" cy="418554"/>
            </a:xfrm>
            <a:custGeom>
              <a:avLst/>
              <a:gdLst>
                <a:gd name="T0" fmla="*/ 2147483646 w 19"/>
                <a:gd name="T1" fmla="*/ 709260935 h 247"/>
                <a:gd name="T2" fmla="*/ 2147483646 w 19"/>
                <a:gd name="T3" fmla="*/ 709260935 h 247"/>
                <a:gd name="T4" fmla="*/ 2147483646 w 19"/>
                <a:gd name="T5" fmla="*/ 0 h 247"/>
                <a:gd name="T6" fmla="*/ 0 w 19"/>
                <a:gd name="T7" fmla="*/ 0 h 2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247">
                  <a:moveTo>
                    <a:pt x="19" y="247"/>
                  </a:moveTo>
                  <a:lnTo>
                    <a:pt x="5" y="247"/>
                  </a:lnTo>
                  <a:lnTo>
                    <a:pt x="5" y="0"/>
                  </a:ln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52" name="Line 90">
              <a:extLst>
                <a:ext uri="{FF2B5EF4-FFF2-40B4-BE49-F238E27FC236}">
                  <a16:creationId xmlns:a16="http://schemas.microsoft.com/office/drawing/2014/main" id="{E45E4B10-2AA2-4F01-8D31-E787850C01E2}"/>
                </a:ext>
              </a:extLst>
            </p:cNvPr>
            <p:cNvSpPr>
              <a:spLocks noChangeShapeType="1"/>
            </p:cNvSpPr>
            <p:nvPr/>
          </p:nvSpPr>
          <p:spPr bwMode="auto">
            <a:xfrm>
              <a:off x="6835040" y="3764955"/>
              <a:ext cx="426578" cy="5013"/>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53" name="Rectangle 91">
              <a:extLst>
                <a:ext uri="{FF2B5EF4-FFF2-40B4-BE49-F238E27FC236}">
                  <a16:creationId xmlns:a16="http://schemas.microsoft.com/office/drawing/2014/main" id="{F3132AD1-69ED-46A7-A0F2-61097F9108DE}"/>
                </a:ext>
              </a:extLst>
            </p:cNvPr>
            <p:cNvSpPr>
              <a:spLocks noChangeArrowheads="1"/>
            </p:cNvSpPr>
            <p:nvPr/>
          </p:nvSpPr>
          <p:spPr bwMode="auto">
            <a:xfrm>
              <a:off x="7759826" y="2474863"/>
              <a:ext cx="134364"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b="1">
                  <a:solidFill>
                    <a:srgbClr val="000000"/>
                  </a:solidFill>
                  <a:latin typeface="宋体" panose="02010600030101010101" pitchFamily="2" charset="-122"/>
                </a:rPr>
                <a:t>-</a:t>
              </a:r>
              <a:endParaRPr lang="zh-CN" altLang="zh-CN" sz="1800"/>
            </a:p>
          </p:txBody>
        </p:sp>
        <p:sp>
          <p:nvSpPr>
            <p:cNvPr id="84054" name="Rectangle 92">
              <a:extLst>
                <a:ext uri="{FF2B5EF4-FFF2-40B4-BE49-F238E27FC236}">
                  <a16:creationId xmlns:a16="http://schemas.microsoft.com/office/drawing/2014/main" id="{119A581B-8CA7-4D7F-993D-A1032252A9C0}"/>
                </a:ext>
              </a:extLst>
            </p:cNvPr>
            <p:cNvSpPr>
              <a:spLocks noChangeArrowheads="1"/>
            </p:cNvSpPr>
            <p:nvPr/>
          </p:nvSpPr>
          <p:spPr bwMode="auto">
            <a:xfrm>
              <a:off x="7777352" y="2962894"/>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a:t>
              </a:r>
              <a:endParaRPr lang="zh-CN" altLang="zh-CN" sz="1800"/>
            </a:p>
          </p:txBody>
        </p:sp>
        <p:sp>
          <p:nvSpPr>
            <p:cNvPr id="84055" name="Rectangle 93">
              <a:extLst>
                <a:ext uri="{FF2B5EF4-FFF2-40B4-BE49-F238E27FC236}">
                  <a16:creationId xmlns:a16="http://schemas.microsoft.com/office/drawing/2014/main" id="{735EF515-BEF8-45D9-96AC-A81515EA0436}"/>
                </a:ext>
              </a:extLst>
            </p:cNvPr>
            <p:cNvSpPr>
              <a:spLocks noChangeArrowheads="1"/>
            </p:cNvSpPr>
            <p:nvPr/>
          </p:nvSpPr>
          <p:spPr bwMode="auto">
            <a:xfrm>
              <a:off x="7948714" y="2730527"/>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3</a:t>
              </a:r>
              <a:endParaRPr lang="zh-CN" altLang="zh-CN" sz="1800"/>
            </a:p>
          </p:txBody>
        </p:sp>
        <p:sp>
          <p:nvSpPr>
            <p:cNvPr id="84056" name="Rectangle 94">
              <a:extLst>
                <a:ext uri="{FF2B5EF4-FFF2-40B4-BE49-F238E27FC236}">
                  <a16:creationId xmlns:a16="http://schemas.microsoft.com/office/drawing/2014/main" id="{253B30D2-ED25-4D1F-B240-BEAC0297E77F}"/>
                </a:ext>
              </a:extLst>
            </p:cNvPr>
            <p:cNvSpPr>
              <a:spLocks noChangeArrowheads="1"/>
            </p:cNvSpPr>
            <p:nvPr/>
          </p:nvSpPr>
          <p:spPr bwMode="auto">
            <a:xfrm>
              <a:off x="7086312" y="1844824"/>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V</a:t>
              </a:r>
              <a:endParaRPr lang="zh-CN" altLang="zh-CN" sz="1800"/>
            </a:p>
          </p:txBody>
        </p:sp>
        <p:sp>
          <p:nvSpPr>
            <p:cNvPr id="84057" name="Rectangle 95">
              <a:extLst>
                <a:ext uri="{FF2B5EF4-FFF2-40B4-BE49-F238E27FC236}">
                  <a16:creationId xmlns:a16="http://schemas.microsoft.com/office/drawing/2014/main" id="{4B08BB5D-5974-4E37-B2D3-72B849DA860E}"/>
                </a:ext>
              </a:extLst>
            </p:cNvPr>
            <p:cNvSpPr>
              <a:spLocks noChangeArrowheads="1"/>
            </p:cNvSpPr>
            <p:nvPr/>
          </p:nvSpPr>
          <p:spPr bwMode="auto">
            <a:xfrm>
              <a:off x="7185513" y="1844824"/>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1</a:t>
              </a:r>
              <a:endParaRPr lang="zh-CN" altLang="zh-CN" sz="1800"/>
            </a:p>
          </p:txBody>
        </p:sp>
        <p:sp>
          <p:nvSpPr>
            <p:cNvPr id="84058" name="Rectangle 96">
              <a:extLst>
                <a:ext uri="{FF2B5EF4-FFF2-40B4-BE49-F238E27FC236}">
                  <a16:creationId xmlns:a16="http://schemas.microsoft.com/office/drawing/2014/main" id="{F07BAF69-053F-46C9-A014-2718DAF74BC4}"/>
                </a:ext>
              </a:extLst>
            </p:cNvPr>
            <p:cNvSpPr>
              <a:spLocks noChangeArrowheads="1"/>
            </p:cNvSpPr>
            <p:nvPr/>
          </p:nvSpPr>
          <p:spPr bwMode="auto">
            <a:xfrm>
              <a:off x="7055755" y="3450445"/>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V</a:t>
              </a:r>
              <a:endParaRPr lang="zh-CN" altLang="zh-CN" sz="1800"/>
            </a:p>
          </p:txBody>
        </p:sp>
        <p:sp>
          <p:nvSpPr>
            <p:cNvPr id="84059" name="Rectangle 97">
              <a:extLst>
                <a:ext uri="{FF2B5EF4-FFF2-40B4-BE49-F238E27FC236}">
                  <a16:creationId xmlns:a16="http://schemas.microsoft.com/office/drawing/2014/main" id="{EC9E47C6-7BD2-456E-814B-F41EACA2EF05}"/>
                </a:ext>
              </a:extLst>
            </p:cNvPr>
            <p:cNvSpPr>
              <a:spLocks noChangeArrowheads="1"/>
            </p:cNvSpPr>
            <p:nvPr/>
          </p:nvSpPr>
          <p:spPr bwMode="auto">
            <a:xfrm>
              <a:off x="7175888" y="3440820"/>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2</a:t>
              </a:r>
              <a:endParaRPr lang="zh-CN" altLang="zh-CN" sz="1800"/>
            </a:p>
          </p:txBody>
        </p:sp>
        <p:sp>
          <p:nvSpPr>
            <p:cNvPr id="84060" name="Freeform 106">
              <a:extLst>
                <a:ext uri="{FF2B5EF4-FFF2-40B4-BE49-F238E27FC236}">
                  <a16:creationId xmlns:a16="http://schemas.microsoft.com/office/drawing/2014/main" id="{A1261EA4-DA02-4C9C-9047-4550E910B0C6}"/>
                </a:ext>
              </a:extLst>
            </p:cNvPr>
            <p:cNvSpPr>
              <a:spLocks/>
            </p:cNvSpPr>
            <p:nvPr/>
          </p:nvSpPr>
          <p:spPr bwMode="auto">
            <a:xfrm>
              <a:off x="5137112" y="2563448"/>
              <a:ext cx="299884" cy="110146"/>
            </a:xfrm>
            <a:custGeom>
              <a:avLst/>
              <a:gdLst>
                <a:gd name="T0" fmla="*/ 0 w 154"/>
                <a:gd name="T1" fmla="*/ 0 h 65"/>
                <a:gd name="T2" fmla="*/ 0 w 154"/>
                <a:gd name="T3" fmla="*/ 186648328 h 65"/>
                <a:gd name="T4" fmla="*/ 583963724 w 154"/>
                <a:gd name="T5" fmla="*/ 186648328 h 65"/>
                <a:gd name="T6" fmla="*/ 0 60000 65536"/>
                <a:gd name="T7" fmla="*/ 0 60000 65536"/>
                <a:gd name="T8" fmla="*/ 0 60000 65536"/>
              </a:gdLst>
              <a:ahLst/>
              <a:cxnLst>
                <a:cxn ang="T6">
                  <a:pos x="T0" y="T1"/>
                </a:cxn>
                <a:cxn ang="T7">
                  <a:pos x="T2" y="T3"/>
                </a:cxn>
                <a:cxn ang="T8">
                  <a:pos x="T4" y="T5"/>
                </a:cxn>
              </a:cxnLst>
              <a:rect l="0" t="0" r="r" b="b"/>
              <a:pathLst>
                <a:path w="154" h="65">
                  <a:moveTo>
                    <a:pt x="0" y="0"/>
                  </a:moveTo>
                  <a:lnTo>
                    <a:pt x="0" y="65"/>
                  </a:lnTo>
                  <a:lnTo>
                    <a:pt x="154" y="65"/>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61" name="Rectangle 83">
              <a:extLst>
                <a:ext uri="{FF2B5EF4-FFF2-40B4-BE49-F238E27FC236}">
                  <a16:creationId xmlns:a16="http://schemas.microsoft.com/office/drawing/2014/main" id="{4AEF6016-107D-4A1B-BF9F-8DC438AEAE7B}"/>
                </a:ext>
              </a:extLst>
            </p:cNvPr>
            <p:cNvSpPr>
              <a:spLocks noChangeArrowheads="1"/>
            </p:cNvSpPr>
            <p:nvPr/>
          </p:nvSpPr>
          <p:spPr bwMode="auto">
            <a:xfrm>
              <a:off x="5940152" y="1052736"/>
              <a:ext cx="264833"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Rf</a:t>
              </a:r>
              <a:endParaRPr lang="zh-CN" altLang="zh-CN" sz="1800"/>
            </a:p>
          </p:txBody>
        </p:sp>
        <p:sp>
          <p:nvSpPr>
            <p:cNvPr id="84062" name="Rectangle 60">
              <a:extLst>
                <a:ext uri="{FF2B5EF4-FFF2-40B4-BE49-F238E27FC236}">
                  <a16:creationId xmlns:a16="http://schemas.microsoft.com/office/drawing/2014/main" id="{FAB9019E-3DFC-4EC5-90B1-2D497BE7A9DB}"/>
                </a:ext>
              </a:extLst>
            </p:cNvPr>
            <p:cNvSpPr>
              <a:spLocks noChangeArrowheads="1"/>
            </p:cNvSpPr>
            <p:nvPr/>
          </p:nvSpPr>
          <p:spPr bwMode="auto">
            <a:xfrm>
              <a:off x="5824711" y="3872868"/>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a:t>
              </a:r>
              <a:endParaRPr lang="zh-CN" altLang="zh-CN" sz="1800"/>
            </a:p>
          </p:txBody>
        </p:sp>
        <p:sp>
          <p:nvSpPr>
            <p:cNvPr id="54325" name="椭圆 54324">
              <a:extLst>
                <a:ext uri="{FF2B5EF4-FFF2-40B4-BE49-F238E27FC236}">
                  <a16:creationId xmlns:a16="http://schemas.microsoft.com/office/drawing/2014/main" id="{A4E1E719-2C7D-459A-B2E0-5534D5E11CCA}"/>
                </a:ext>
              </a:extLst>
            </p:cNvPr>
            <p:cNvSpPr/>
            <p:nvPr/>
          </p:nvSpPr>
          <p:spPr>
            <a:xfrm>
              <a:off x="3066225" y="2724508"/>
              <a:ext cx="45792" cy="4214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0" name="椭圆 119">
              <a:extLst>
                <a:ext uri="{FF2B5EF4-FFF2-40B4-BE49-F238E27FC236}">
                  <a16:creationId xmlns:a16="http://schemas.microsoft.com/office/drawing/2014/main" id="{80E84B79-841C-4D6E-AB3A-5FCFD3F20E6B}"/>
                </a:ext>
              </a:extLst>
            </p:cNvPr>
            <p:cNvSpPr/>
            <p:nvPr/>
          </p:nvSpPr>
          <p:spPr>
            <a:xfrm>
              <a:off x="3496676" y="2730529"/>
              <a:ext cx="45793" cy="4214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1" name="椭圆 120">
              <a:extLst>
                <a:ext uri="{FF2B5EF4-FFF2-40B4-BE49-F238E27FC236}">
                  <a16:creationId xmlns:a16="http://schemas.microsoft.com/office/drawing/2014/main" id="{99B6E029-9A75-4016-BBA2-59B6C323B709}"/>
                </a:ext>
              </a:extLst>
            </p:cNvPr>
            <p:cNvSpPr/>
            <p:nvPr/>
          </p:nvSpPr>
          <p:spPr>
            <a:xfrm>
              <a:off x="4137775" y="2730529"/>
              <a:ext cx="45793" cy="4214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2" name="椭圆 121">
              <a:extLst>
                <a:ext uri="{FF2B5EF4-FFF2-40B4-BE49-F238E27FC236}">
                  <a16:creationId xmlns:a16="http://schemas.microsoft.com/office/drawing/2014/main" id="{BB458DAE-BFB4-4C70-9E01-A21FBE0C06A5}"/>
                </a:ext>
              </a:extLst>
            </p:cNvPr>
            <p:cNvSpPr/>
            <p:nvPr/>
          </p:nvSpPr>
          <p:spPr>
            <a:xfrm>
              <a:off x="4551741" y="2730529"/>
              <a:ext cx="45793" cy="4214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3" name="椭圆 122">
              <a:extLst>
                <a:ext uri="{FF2B5EF4-FFF2-40B4-BE49-F238E27FC236}">
                  <a16:creationId xmlns:a16="http://schemas.microsoft.com/office/drawing/2014/main" id="{575141C8-FD8B-4F1D-8CCA-5BCD5BFB0CFD}"/>
                </a:ext>
              </a:extLst>
            </p:cNvPr>
            <p:cNvSpPr/>
            <p:nvPr/>
          </p:nvSpPr>
          <p:spPr>
            <a:xfrm>
              <a:off x="5070115" y="3513232"/>
              <a:ext cx="45792" cy="4214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4" name="椭圆 123">
              <a:extLst>
                <a:ext uri="{FF2B5EF4-FFF2-40B4-BE49-F238E27FC236}">
                  <a16:creationId xmlns:a16="http://schemas.microsoft.com/office/drawing/2014/main" id="{F4BD962B-E0D6-4AD2-809C-AC3277130BB4}"/>
                </a:ext>
              </a:extLst>
            </p:cNvPr>
            <p:cNvSpPr/>
            <p:nvPr/>
          </p:nvSpPr>
          <p:spPr>
            <a:xfrm>
              <a:off x="5117740" y="1939799"/>
              <a:ext cx="45792" cy="4013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6" name="椭圆 125">
              <a:extLst>
                <a:ext uri="{FF2B5EF4-FFF2-40B4-BE49-F238E27FC236}">
                  <a16:creationId xmlns:a16="http://schemas.microsoft.com/office/drawing/2014/main" id="{252A0F18-6B63-4A84-83F9-8BFDCA06071F}"/>
                </a:ext>
              </a:extLst>
            </p:cNvPr>
            <p:cNvSpPr/>
            <p:nvPr/>
          </p:nvSpPr>
          <p:spPr>
            <a:xfrm>
              <a:off x="6954944" y="2170595"/>
              <a:ext cx="45793" cy="4013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7" name="椭圆 126">
              <a:extLst>
                <a:ext uri="{FF2B5EF4-FFF2-40B4-BE49-F238E27FC236}">
                  <a16:creationId xmlns:a16="http://schemas.microsoft.com/office/drawing/2014/main" id="{8AFC9D05-0638-420C-9CCC-098A3A6BE68B}"/>
                </a:ext>
              </a:extLst>
            </p:cNvPr>
            <p:cNvSpPr/>
            <p:nvPr/>
          </p:nvSpPr>
          <p:spPr>
            <a:xfrm>
              <a:off x="7000737" y="3748042"/>
              <a:ext cx="45792" cy="4013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4071" name="Rectangle 47">
              <a:extLst>
                <a:ext uri="{FF2B5EF4-FFF2-40B4-BE49-F238E27FC236}">
                  <a16:creationId xmlns:a16="http://schemas.microsoft.com/office/drawing/2014/main" id="{623E42A4-AE69-4088-928F-A2F06A0E271A}"/>
                </a:ext>
              </a:extLst>
            </p:cNvPr>
            <p:cNvSpPr>
              <a:spLocks noChangeArrowheads="1"/>
            </p:cNvSpPr>
            <p:nvPr/>
          </p:nvSpPr>
          <p:spPr bwMode="auto">
            <a:xfrm>
              <a:off x="2878243" y="1609473"/>
              <a:ext cx="51106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a:solidFill>
                    <a:srgbClr val="000000"/>
                  </a:solidFill>
                  <a:latin typeface="宋体" panose="02010600030101010101" pitchFamily="2" charset="-122"/>
                </a:rPr>
                <a:t>+Vc</a:t>
              </a:r>
              <a:endParaRPr lang="zh-CN" altLang="zh-CN" sz="1800"/>
            </a:p>
          </p:txBody>
        </p:sp>
        <p:sp>
          <p:nvSpPr>
            <p:cNvPr id="84072" name="Oval 49">
              <a:extLst>
                <a:ext uri="{FF2B5EF4-FFF2-40B4-BE49-F238E27FC236}">
                  <a16:creationId xmlns:a16="http://schemas.microsoft.com/office/drawing/2014/main" id="{D3386A78-DE53-450C-AD89-15FA7F0DAEC1}"/>
                </a:ext>
              </a:extLst>
            </p:cNvPr>
            <p:cNvSpPr>
              <a:spLocks noChangeArrowheads="1"/>
            </p:cNvSpPr>
            <p:nvPr/>
          </p:nvSpPr>
          <p:spPr bwMode="auto">
            <a:xfrm rot="4568680">
              <a:off x="8919439" y="2811157"/>
              <a:ext cx="58419" cy="55920"/>
            </a:xfrm>
            <a:prstGeom prst="ellipse">
              <a:avLst/>
            </a:prstGeom>
            <a:solidFill>
              <a:srgbClr val="FFFFFF"/>
            </a:solidFill>
            <a:ln w="0">
              <a:solidFill>
                <a:srgbClr val="000000"/>
              </a:solidFill>
              <a:round/>
              <a:headEnd/>
              <a:tailEnd/>
            </a:ln>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84073" name="Line 90">
              <a:extLst>
                <a:ext uri="{FF2B5EF4-FFF2-40B4-BE49-F238E27FC236}">
                  <a16:creationId xmlns:a16="http://schemas.microsoft.com/office/drawing/2014/main" id="{F8571B0F-C56C-480B-B998-433503C6EFC7}"/>
                </a:ext>
              </a:extLst>
            </p:cNvPr>
            <p:cNvSpPr>
              <a:spLocks noChangeShapeType="1"/>
            </p:cNvSpPr>
            <p:nvPr/>
          </p:nvSpPr>
          <p:spPr bwMode="auto">
            <a:xfrm>
              <a:off x="5088429" y="3788609"/>
              <a:ext cx="0" cy="26096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74" name="Line 80">
              <a:extLst>
                <a:ext uri="{FF2B5EF4-FFF2-40B4-BE49-F238E27FC236}">
                  <a16:creationId xmlns:a16="http://schemas.microsoft.com/office/drawing/2014/main" id="{12B1E77C-D82D-413B-94DF-C7B7712F682E}"/>
                </a:ext>
              </a:extLst>
            </p:cNvPr>
            <p:cNvSpPr>
              <a:spLocks noChangeShapeType="1"/>
            </p:cNvSpPr>
            <p:nvPr/>
          </p:nvSpPr>
          <p:spPr bwMode="auto">
            <a:xfrm>
              <a:off x="5404052" y="4042146"/>
              <a:ext cx="354233" cy="1"/>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75" name="Line 88">
              <a:extLst>
                <a:ext uri="{FF2B5EF4-FFF2-40B4-BE49-F238E27FC236}">
                  <a16:creationId xmlns:a16="http://schemas.microsoft.com/office/drawing/2014/main" id="{E4E8403F-9F61-442D-892E-1D1A0F842B88}"/>
                </a:ext>
              </a:extLst>
            </p:cNvPr>
            <p:cNvSpPr>
              <a:spLocks noChangeShapeType="1"/>
            </p:cNvSpPr>
            <p:nvPr/>
          </p:nvSpPr>
          <p:spPr bwMode="auto">
            <a:xfrm>
              <a:off x="8795790" y="2837965"/>
              <a:ext cx="118717"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76" name="Rectangle 47">
              <a:extLst>
                <a:ext uri="{FF2B5EF4-FFF2-40B4-BE49-F238E27FC236}">
                  <a16:creationId xmlns:a16="http://schemas.microsoft.com/office/drawing/2014/main" id="{9251030F-9B0C-4D25-8B92-2D5E850D4315}"/>
                </a:ext>
              </a:extLst>
            </p:cNvPr>
            <p:cNvSpPr>
              <a:spLocks noChangeArrowheads="1"/>
            </p:cNvSpPr>
            <p:nvPr/>
          </p:nvSpPr>
          <p:spPr bwMode="auto">
            <a:xfrm>
              <a:off x="8795790" y="2411153"/>
              <a:ext cx="51106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a:solidFill>
                    <a:srgbClr val="000000"/>
                  </a:solidFill>
                  <a:latin typeface="宋体" panose="02010600030101010101" pitchFamily="2" charset="-122"/>
                </a:rPr>
                <a:t>Vo</a:t>
              </a:r>
              <a:endParaRPr lang="zh-CN" altLang="zh-CN" sz="1800"/>
            </a:p>
          </p:txBody>
        </p:sp>
      </p:grpSp>
      <p:sp>
        <p:nvSpPr>
          <p:cNvPr id="83976" name="矩形 54328">
            <a:extLst>
              <a:ext uri="{FF2B5EF4-FFF2-40B4-BE49-F238E27FC236}">
                <a16:creationId xmlns:a16="http://schemas.microsoft.com/office/drawing/2014/main" id="{F68A1159-182B-43AC-B4DA-9BB3432F83FF}"/>
              </a:ext>
            </a:extLst>
          </p:cNvPr>
          <p:cNvSpPr>
            <a:spLocks noChangeArrowheads="1"/>
          </p:cNvSpPr>
          <p:nvPr/>
        </p:nvSpPr>
        <p:spPr bwMode="auto">
          <a:xfrm>
            <a:off x="507158" y="1955372"/>
            <a:ext cx="1743075" cy="961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lang="zh-CN" altLang="en-US" sz="2000" b="1" dirty="0">
                <a:solidFill>
                  <a:srgbClr val="0099FF"/>
                </a:solidFill>
                <a:latin typeface="微软雅黑" panose="020B0503020204020204" pitchFamily="34" charset="-122"/>
                <a:ea typeface="微软雅黑" panose="020B0503020204020204" pitchFamily="34" charset="-122"/>
              </a:rPr>
              <a:t>差分式充放电电容检测电路</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1">
            <a:extLst>
              <a:ext uri="{FF2B5EF4-FFF2-40B4-BE49-F238E27FC236}">
                <a16:creationId xmlns:a16="http://schemas.microsoft.com/office/drawing/2014/main" id="{0E50454A-E2BB-443A-8B9B-A9A1F83C0521}"/>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95FFB2FA-9569-4DF3-B912-944589081EAD}" type="slidenum">
              <a:rPr lang="en-US" altLang="zh-CN" smtClean="0"/>
              <a:pPr/>
              <a:t>50</a:t>
            </a:fld>
            <a:endParaRPr lang="en-US" altLang="zh-CN"/>
          </a:p>
        </p:txBody>
      </p:sp>
      <p:sp>
        <p:nvSpPr>
          <p:cNvPr id="9" name="矩形 8">
            <a:extLst>
              <a:ext uri="{FF2B5EF4-FFF2-40B4-BE49-F238E27FC236}">
                <a16:creationId xmlns:a16="http://schemas.microsoft.com/office/drawing/2014/main" id="{60AC8E26-7805-47A2-8560-C26AA749521A}"/>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86020" name="Text Box 2">
            <a:extLst>
              <a:ext uri="{FF2B5EF4-FFF2-40B4-BE49-F238E27FC236}">
                <a16:creationId xmlns:a16="http://schemas.microsoft.com/office/drawing/2014/main" id="{5B50E88D-6EA9-466B-906E-3E140EDF873C}"/>
              </a:ext>
            </a:extLst>
          </p:cNvPr>
          <p:cNvSpPr txBox="1">
            <a:spLocks noChangeArrowheads="1"/>
          </p:cNvSpPr>
          <p:nvPr/>
        </p:nvSpPr>
        <p:spPr bwMode="auto">
          <a:xfrm>
            <a:off x="155575" y="80963"/>
            <a:ext cx="7008813"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C00000"/>
                </a:solidFill>
                <a:latin typeface="微软雅黑" panose="020B0503020204020204" pitchFamily="34" charset="-122"/>
                <a:ea typeface="微软雅黑" panose="020B0503020204020204" pitchFamily="34" charset="-122"/>
              </a:rPr>
              <a:t>5 </a:t>
            </a:r>
            <a:r>
              <a:rPr kumimoji="1" lang="zh-CN" altLang="en-US" sz="2800" b="1" dirty="0">
                <a:solidFill>
                  <a:srgbClr val="C00000"/>
                </a:solidFill>
                <a:latin typeface="微软雅黑" panose="020B0503020204020204" pitchFamily="34" charset="-122"/>
                <a:ea typeface="微软雅黑" panose="020B0503020204020204" pitchFamily="34" charset="-122"/>
              </a:rPr>
              <a:t>动态特性（以电容式加速度传感器为例）</a:t>
            </a:r>
          </a:p>
        </p:txBody>
      </p:sp>
      <p:sp>
        <p:nvSpPr>
          <p:cNvPr id="86021" name="Text Box 3">
            <a:extLst>
              <a:ext uri="{FF2B5EF4-FFF2-40B4-BE49-F238E27FC236}">
                <a16:creationId xmlns:a16="http://schemas.microsoft.com/office/drawing/2014/main" id="{147AA234-CEF2-4E05-9616-FE58DE0F6BC5}"/>
              </a:ext>
            </a:extLst>
          </p:cNvPr>
          <p:cNvSpPr txBox="1">
            <a:spLocks noChangeArrowheads="1"/>
          </p:cNvSpPr>
          <p:nvPr/>
        </p:nvSpPr>
        <p:spPr bwMode="auto">
          <a:xfrm>
            <a:off x="2243138" y="966788"/>
            <a:ext cx="38528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000" b="1">
                <a:latin typeface="微软雅黑" panose="020B0503020204020204" pitchFamily="34" charset="-122"/>
                <a:ea typeface="微软雅黑" panose="020B0503020204020204" pitchFamily="34" charset="-122"/>
              </a:rPr>
              <a:t>差动式电容加速度传感器结构图 </a:t>
            </a:r>
          </a:p>
        </p:txBody>
      </p:sp>
      <p:graphicFrame>
        <p:nvGraphicFramePr>
          <p:cNvPr id="86022" name="Object 4">
            <a:extLst>
              <a:ext uri="{FF2B5EF4-FFF2-40B4-BE49-F238E27FC236}">
                <a16:creationId xmlns:a16="http://schemas.microsoft.com/office/drawing/2014/main" id="{3DCF72BC-B3A9-4E2B-82BC-A75300C3D470}"/>
              </a:ext>
            </a:extLst>
          </p:cNvPr>
          <p:cNvGraphicFramePr>
            <a:graphicFrameLocks noChangeAspect="1"/>
          </p:cNvGraphicFramePr>
          <p:nvPr/>
        </p:nvGraphicFramePr>
        <p:xfrm>
          <a:off x="144463" y="1644650"/>
          <a:ext cx="5099050" cy="2308225"/>
        </p:xfrm>
        <a:graphic>
          <a:graphicData uri="http://schemas.openxmlformats.org/presentationml/2006/ole">
            <mc:AlternateContent xmlns:mc="http://schemas.openxmlformats.org/markup-compatibility/2006">
              <mc:Choice xmlns:v="urn:schemas-microsoft-com:vml" Requires="v">
                <p:oleObj spid="_x0000_s86080" name="Visio" r:id="rId4" imgW="3489960" imgH="1577340" progId="Visio.Drawing.11">
                  <p:embed/>
                </p:oleObj>
              </mc:Choice>
              <mc:Fallback>
                <p:oleObj name="Visio" r:id="rId4" imgW="3489960" imgH="1577340" progId="Visio.Drawing.11">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463" y="1644650"/>
                        <a:ext cx="509905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6023" name="Text Box 2">
            <a:extLst>
              <a:ext uri="{FF2B5EF4-FFF2-40B4-BE49-F238E27FC236}">
                <a16:creationId xmlns:a16="http://schemas.microsoft.com/office/drawing/2014/main" id="{0D80B56F-7F3A-4266-BB59-28A90F6DD0CB}"/>
              </a:ext>
            </a:extLst>
          </p:cNvPr>
          <p:cNvSpPr txBox="1">
            <a:spLocks noChangeArrowheads="1"/>
          </p:cNvSpPr>
          <p:nvPr/>
        </p:nvSpPr>
        <p:spPr bwMode="auto">
          <a:xfrm>
            <a:off x="355600" y="4230688"/>
            <a:ext cx="8375650"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0"/>
              </a:spcBef>
              <a:buFontTx/>
              <a:buNone/>
            </a:pPr>
            <a:r>
              <a:rPr kumimoji="1" lang="zh-CN" altLang="en-US" sz="2000" b="1">
                <a:latin typeface="微软雅黑" panose="020B0503020204020204" pitchFamily="34" charset="-122"/>
                <a:ea typeface="微软雅黑" panose="020B0503020204020204" pitchFamily="34" charset="-122"/>
              </a:rPr>
              <a:t>当传感器壳体随被测对象沿垂直方向作直线加速运动时， </a:t>
            </a:r>
            <a:r>
              <a:rPr kumimoji="1" lang="zh-CN" altLang="en-US" sz="2000" b="1">
                <a:solidFill>
                  <a:srgbClr val="FF0000"/>
                </a:solidFill>
                <a:latin typeface="微软雅黑" panose="020B0503020204020204" pitchFamily="34" charset="-122"/>
                <a:ea typeface="微软雅黑" panose="020B0503020204020204" pitchFamily="34" charset="-122"/>
              </a:rPr>
              <a:t>质量块</a:t>
            </a:r>
            <a:r>
              <a:rPr kumimoji="1" lang="zh-CN" altLang="en-US" sz="2000" b="1">
                <a:latin typeface="微软雅黑" panose="020B0503020204020204" pitchFamily="34" charset="-122"/>
                <a:ea typeface="微软雅黑" panose="020B0503020204020204" pitchFamily="34" charset="-122"/>
              </a:rPr>
              <a:t>在惯性空间中相对静止，</a:t>
            </a:r>
            <a:r>
              <a:rPr kumimoji="1" lang="zh-CN" altLang="en-US" sz="2000" b="1">
                <a:solidFill>
                  <a:srgbClr val="FF0000"/>
                </a:solidFill>
                <a:latin typeface="微软雅黑" panose="020B0503020204020204" pitchFamily="34" charset="-122"/>
                <a:ea typeface="微软雅黑" panose="020B0503020204020204" pitchFamily="34" charset="-122"/>
              </a:rPr>
              <a:t>两个固定电极将相对于质量块在垂直方向产生大小正比于被测加速度的位移</a:t>
            </a:r>
            <a:r>
              <a:rPr kumimoji="1" lang="zh-CN" altLang="en-US" sz="2000" b="1">
                <a:latin typeface="微软雅黑" panose="020B0503020204020204" pitchFamily="34" charset="-122"/>
                <a:ea typeface="微软雅黑" panose="020B0503020204020204" pitchFamily="34" charset="-122"/>
              </a:rPr>
              <a:t>。此位移使两电容的间隙发生变化，一个增加，一个减小，从而使</a:t>
            </a:r>
            <a:r>
              <a:rPr kumimoji="1" lang="en-US" altLang="zh-CN" sz="2000" b="1" i="1">
                <a:latin typeface="微软雅黑" panose="020B0503020204020204" pitchFamily="34" charset="-122"/>
                <a:ea typeface="微软雅黑" panose="020B0503020204020204" pitchFamily="34" charset="-122"/>
              </a:rPr>
              <a:t>C</a:t>
            </a:r>
            <a:r>
              <a:rPr kumimoji="1" lang="en-US" altLang="zh-CN" sz="2000" b="1" baseline="-25000">
                <a:latin typeface="微软雅黑" panose="020B0503020204020204" pitchFamily="34" charset="-122"/>
                <a:ea typeface="微软雅黑" panose="020B0503020204020204" pitchFamily="34" charset="-122"/>
              </a:rPr>
              <a:t>1</a:t>
            </a:r>
            <a:r>
              <a:rPr kumimoji="1" lang="zh-CN" altLang="en-US" sz="2000" b="1">
                <a:latin typeface="微软雅黑" panose="020B0503020204020204" pitchFamily="34" charset="-122"/>
                <a:ea typeface="微软雅黑" panose="020B0503020204020204" pitchFamily="34" charset="-122"/>
              </a:rPr>
              <a:t>、</a:t>
            </a:r>
            <a:r>
              <a:rPr kumimoji="1" lang="en-US" altLang="zh-CN" sz="2000" b="1" i="1">
                <a:latin typeface="微软雅黑" panose="020B0503020204020204" pitchFamily="34" charset="-122"/>
                <a:ea typeface="微软雅黑" panose="020B0503020204020204" pitchFamily="34" charset="-122"/>
              </a:rPr>
              <a:t>C</a:t>
            </a:r>
            <a:r>
              <a:rPr kumimoji="1" lang="en-US" altLang="zh-CN" sz="2000" b="1" baseline="-25000">
                <a:latin typeface="微软雅黑" panose="020B0503020204020204" pitchFamily="34" charset="-122"/>
                <a:ea typeface="微软雅黑" panose="020B0503020204020204" pitchFamily="34" charset="-122"/>
              </a:rPr>
              <a:t>2</a:t>
            </a:r>
            <a:r>
              <a:rPr kumimoji="1" lang="zh-CN" altLang="en-US" sz="2000" b="1">
                <a:latin typeface="微软雅黑" panose="020B0503020204020204" pitchFamily="34" charset="-122"/>
                <a:ea typeface="微软雅黑" panose="020B0503020204020204" pitchFamily="34" charset="-122"/>
              </a:rPr>
              <a:t>产生大小相等、符号相反的增量，此增量正比于被测加速度。 </a:t>
            </a:r>
          </a:p>
          <a:p>
            <a:pPr algn="just" eaLnBrk="1" hangingPunct="1">
              <a:spcBef>
                <a:spcPct val="0"/>
              </a:spcBef>
              <a:buFontTx/>
              <a:buNone/>
            </a:pPr>
            <a:r>
              <a:rPr kumimoji="1" lang="zh-CN" altLang="en-US" sz="2000" b="1">
                <a:latin typeface="微软雅黑" panose="020B0503020204020204" pitchFamily="34" charset="-122"/>
                <a:ea typeface="微软雅黑" panose="020B0503020204020204" pitchFamily="34" charset="-122"/>
              </a:rPr>
              <a:t>电容式加速度传感器的主要特点是频率响应快和量程范围大， 大多采用空气或其它气体作阻尼物质。 </a:t>
            </a:r>
          </a:p>
        </p:txBody>
      </p:sp>
      <p:pic>
        <p:nvPicPr>
          <p:cNvPr id="86024" name="图片 1">
            <a:extLst>
              <a:ext uri="{FF2B5EF4-FFF2-40B4-BE49-F238E27FC236}">
                <a16:creationId xmlns:a16="http://schemas.microsoft.com/office/drawing/2014/main" id="{F8E88753-26CE-415B-B4AC-A4713C58AFC4}"/>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059363" y="1908175"/>
            <a:ext cx="3713162" cy="164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5" name="Text Box 2">
            <a:extLst>
              <a:ext uri="{FF2B5EF4-FFF2-40B4-BE49-F238E27FC236}">
                <a16:creationId xmlns:a16="http://schemas.microsoft.com/office/drawing/2014/main" id="{F8197060-8383-4415-8B72-460106709600}"/>
              </a:ext>
            </a:extLst>
          </p:cNvPr>
          <p:cNvSpPr txBox="1">
            <a:spLocks noChangeArrowheads="1"/>
          </p:cNvSpPr>
          <p:nvPr/>
        </p:nvSpPr>
        <p:spPr bwMode="auto">
          <a:xfrm>
            <a:off x="6763544" y="80963"/>
            <a:ext cx="1814512" cy="597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zh-CN" altLang="en-US" sz="2800" b="1" dirty="0">
                <a:solidFill>
                  <a:srgbClr val="C00000"/>
                </a:solidFill>
                <a:latin typeface="微软雅黑" panose="020B0503020204020204" pitchFamily="34" charset="-122"/>
                <a:ea typeface="微软雅黑" panose="020B0503020204020204" pitchFamily="34" charset="-122"/>
              </a:rPr>
              <a:t>（</a:t>
            </a:r>
            <a:r>
              <a:rPr kumimoji="1" lang="zh-CN" altLang="en-US" sz="2800" b="1" dirty="0">
                <a:solidFill>
                  <a:srgbClr val="0000FF"/>
                </a:solidFill>
                <a:latin typeface="微软雅黑" panose="020B0503020204020204" pitchFamily="34" charset="-122"/>
                <a:ea typeface="微软雅黑" panose="020B0503020204020204" pitchFamily="34" charset="-122"/>
              </a:rPr>
              <a:t>了解</a:t>
            </a:r>
            <a:r>
              <a:rPr kumimoji="1" lang="zh-CN" altLang="en-US" sz="2800" b="1" dirty="0">
                <a:solidFill>
                  <a:srgbClr val="C00000"/>
                </a:solidFill>
                <a:latin typeface="微软雅黑" panose="020B0503020204020204" pitchFamily="34" charset="-122"/>
                <a:ea typeface="微软雅黑" panose="020B0503020204020204" pitchFamily="34" charset="-122"/>
              </a:rPr>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1">
            <a:extLst>
              <a:ext uri="{FF2B5EF4-FFF2-40B4-BE49-F238E27FC236}">
                <a16:creationId xmlns:a16="http://schemas.microsoft.com/office/drawing/2014/main" id="{8F3643AE-BB1D-48F8-B0D6-E88AD22A511B}"/>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5313922-0DB0-482A-BD79-E6F7A0E7D921}" type="slidenum">
              <a:rPr lang="en-US" altLang="zh-CN" smtClean="0"/>
              <a:pPr/>
              <a:t>51</a:t>
            </a:fld>
            <a:endParaRPr lang="en-US" altLang="zh-CN"/>
          </a:p>
        </p:txBody>
      </p:sp>
      <p:sp>
        <p:nvSpPr>
          <p:cNvPr id="9" name="矩形 8">
            <a:extLst>
              <a:ext uri="{FF2B5EF4-FFF2-40B4-BE49-F238E27FC236}">
                <a16:creationId xmlns:a16="http://schemas.microsoft.com/office/drawing/2014/main" id="{0580BABA-2563-4A80-BBC1-2E5162305F6F}"/>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88068" name="Text Box 2">
            <a:extLst>
              <a:ext uri="{FF2B5EF4-FFF2-40B4-BE49-F238E27FC236}">
                <a16:creationId xmlns:a16="http://schemas.microsoft.com/office/drawing/2014/main" id="{24968F6C-CDA9-4133-B534-A3042E2CDD11}"/>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5 </a:t>
            </a:r>
            <a:r>
              <a:rPr kumimoji="1" lang="zh-CN" altLang="en-US" sz="2800" b="1">
                <a:solidFill>
                  <a:srgbClr val="C00000"/>
                </a:solidFill>
                <a:latin typeface="微软雅黑" panose="020B0503020204020204" pitchFamily="34" charset="-122"/>
                <a:ea typeface="微软雅黑" panose="020B0503020204020204" pitchFamily="34" charset="-122"/>
              </a:rPr>
              <a:t>动态特性（以电容式加速度传感器 为例）</a:t>
            </a:r>
          </a:p>
        </p:txBody>
      </p:sp>
      <p:pic>
        <p:nvPicPr>
          <p:cNvPr id="88069" name="Picture 2">
            <a:extLst>
              <a:ext uri="{FF2B5EF4-FFF2-40B4-BE49-F238E27FC236}">
                <a16:creationId xmlns:a16="http://schemas.microsoft.com/office/drawing/2014/main" id="{4C9C2940-C8F9-430E-A8E7-708B083E5F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4663" y="2852738"/>
            <a:ext cx="4175125" cy="303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70" name="Text Box 3">
            <a:extLst>
              <a:ext uri="{FF2B5EF4-FFF2-40B4-BE49-F238E27FC236}">
                <a16:creationId xmlns:a16="http://schemas.microsoft.com/office/drawing/2014/main" id="{28EA8E4E-6254-41F4-9854-8401D0ED351F}"/>
              </a:ext>
            </a:extLst>
          </p:cNvPr>
          <p:cNvSpPr txBox="1">
            <a:spLocks noChangeArrowheads="1"/>
          </p:cNvSpPr>
          <p:nvPr/>
        </p:nvSpPr>
        <p:spPr bwMode="auto">
          <a:xfrm>
            <a:off x="138113" y="922338"/>
            <a:ext cx="8604250" cy="212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50000"/>
              </a:lnSpc>
              <a:spcBef>
                <a:spcPct val="0"/>
              </a:spcBef>
              <a:buFontTx/>
              <a:buNone/>
            </a:pPr>
            <a:r>
              <a:rPr lang="zh-CN" altLang="en-US" sz="1800" b="1">
                <a:latin typeface="微软雅黑" panose="020B0503020204020204" pitchFamily="34" charset="-122"/>
                <a:ea typeface="微软雅黑" panose="020B0503020204020204" pitchFamily="34" charset="-122"/>
              </a:rPr>
              <a:t>测量运动参数的两种方式</a:t>
            </a:r>
          </a:p>
          <a:p>
            <a:pPr eaLnBrk="1" hangingPunct="1">
              <a:lnSpc>
                <a:spcPct val="150000"/>
              </a:lnSpc>
              <a:spcBef>
                <a:spcPct val="0"/>
              </a:spcBef>
              <a:buFontTx/>
              <a:buNone/>
            </a:pPr>
            <a:r>
              <a:rPr lang="zh-CN" altLang="en-US" sz="1800" b="1">
                <a:latin typeface="微软雅黑" panose="020B0503020204020204" pitchFamily="34" charset="-122"/>
                <a:ea typeface="微软雅黑" panose="020B0503020204020204" pitchFamily="34" charset="-122"/>
              </a:rPr>
              <a:t>①相对式测振传感器</a:t>
            </a:r>
          </a:p>
          <a:p>
            <a:pPr eaLnBrk="1" hangingPunct="1">
              <a:lnSpc>
                <a:spcPct val="150000"/>
              </a:lnSpc>
              <a:spcBef>
                <a:spcPct val="0"/>
              </a:spcBef>
              <a:buFontTx/>
              <a:buNone/>
            </a:pPr>
            <a:r>
              <a:rPr lang="zh-CN" altLang="en-US" sz="1800" b="1">
                <a:latin typeface="微软雅黑" panose="020B0503020204020204" pitchFamily="34" charset="-122"/>
                <a:ea typeface="微软雅黑" panose="020B0503020204020204" pitchFamily="34" charset="-122"/>
              </a:rPr>
              <a:t>  用于测量振动体相对其振动参照点的运动</a:t>
            </a:r>
            <a:r>
              <a:rPr lang="en-US" altLang="zh-CN" sz="1800" b="1">
                <a:latin typeface="微软雅黑" panose="020B0503020204020204" pitchFamily="34" charset="-122"/>
                <a:ea typeface="微软雅黑" panose="020B0503020204020204" pitchFamily="34" charset="-122"/>
              </a:rPr>
              <a:t>(</a:t>
            </a:r>
            <a:r>
              <a:rPr lang="zh-CN" altLang="en-US" sz="1800" b="1">
                <a:latin typeface="微软雅黑" panose="020B0503020204020204" pitchFamily="34" charset="-122"/>
                <a:ea typeface="微软雅黑" panose="020B0503020204020204" pitchFamily="34" charset="-122"/>
              </a:rPr>
              <a:t>例如机床转轴相对于机床底座的振动</a:t>
            </a:r>
            <a:r>
              <a:rPr lang="en-US" altLang="zh-CN" sz="1800" b="1">
                <a:latin typeface="微软雅黑" panose="020B0503020204020204" pitchFamily="34" charset="-122"/>
                <a:ea typeface="微软雅黑" panose="020B0503020204020204" pitchFamily="34" charset="-122"/>
              </a:rPr>
              <a:t>)</a:t>
            </a:r>
            <a:r>
              <a:rPr lang="zh-CN" altLang="en-US" sz="1800" b="1">
                <a:latin typeface="微软雅黑" panose="020B0503020204020204" pitchFamily="34" charset="-122"/>
                <a:ea typeface="微软雅黑" panose="020B0503020204020204" pitchFamily="34" charset="-122"/>
              </a:rPr>
              <a:t>。</a:t>
            </a:r>
          </a:p>
          <a:p>
            <a:pPr eaLnBrk="1" hangingPunct="1">
              <a:lnSpc>
                <a:spcPct val="150000"/>
              </a:lnSpc>
              <a:spcBef>
                <a:spcPct val="0"/>
              </a:spcBef>
              <a:buFontTx/>
              <a:buNone/>
            </a:pPr>
            <a:r>
              <a:rPr lang="zh-CN" altLang="en-US" sz="1800" b="1">
                <a:latin typeface="微软雅黑" panose="020B0503020204020204" pitchFamily="34" charset="-122"/>
                <a:ea typeface="微软雅黑" panose="020B0503020204020204" pitchFamily="34" charset="-122"/>
              </a:rPr>
              <a:t>②绝对式测振传感器 </a:t>
            </a:r>
          </a:p>
          <a:p>
            <a:pPr eaLnBrk="1" hangingPunct="1">
              <a:lnSpc>
                <a:spcPct val="150000"/>
              </a:lnSpc>
              <a:spcBef>
                <a:spcPct val="0"/>
              </a:spcBef>
              <a:buFontTx/>
              <a:buNone/>
            </a:pPr>
            <a:r>
              <a:rPr lang="zh-CN" altLang="en-US" sz="1800" b="1">
                <a:latin typeface="微软雅黑" panose="020B0503020204020204" pitchFamily="34" charset="-122"/>
                <a:ea typeface="微软雅黑" panose="020B0503020204020204" pitchFamily="34" charset="-122"/>
              </a:rPr>
              <a:t>  用于测量振动体相对于大地或惯性空间的运动</a:t>
            </a:r>
            <a:r>
              <a:rPr lang="en-US" altLang="zh-CN" sz="1800" b="1">
                <a:latin typeface="微软雅黑" panose="020B0503020204020204" pitchFamily="34" charset="-122"/>
                <a:ea typeface="微软雅黑" panose="020B0503020204020204" pitchFamily="34" charset="-122"/>
              </a:rPr>
              <a:t>(</a:t>
            </a:r>
            <a:r>
              <a:rPr lang="zh-CN" altLang="en-US" sz="1800" b="1">
                <a:latin typeface="微软雅黑" panose="020B0503020204020204" pitchFamily="34" charset="-122"/>
                <a:ea typeface="微软雅黑" panose="020B0503020204020204" pitchFamily="34" charset="-122"/>
              </a:rPr>
              <a:t>例如机床底座的振动、地面的振动</a:t>
            </a:r>
            <a:r>
              <a:rPr lang="en-US" altLang="zh-CN" sz="1800" b="1">
                <a:latin typeface="微软雅黑" panose="020B0503020204020204" pitchFamily="34" charset="-122"/>
                <a:ea typeface="微软雅黑" panose="020B0503020204020204" pitchFamily="34" charset="-122"/>
              </a:rPr>
              <a:t>)</a:t>
            </a:r>
            <a:r>
              <a:rPr lang="zh-CN" altLang="en-US" sz="1800" b="1">
                <a:latin typeface="微软雅黑" panose="020B0503020204020204" pitchFamily="34" charset="-122"/>
                <a:ea typeface="微软雅黑" panose="020B0503020204020204" pitchFamily="34" charset="-122"/>
              </a:rPr>
              <a:t>。</a:t>
            </a:r>
          </a:p>
        </p:txBody>
      </p:sp>
      <p:grpSp>
        <p:nvGrpSpPr>
          <p:cNvPr id="88071" name="Group 4">
            <a:extLst>
              <a:ext uri="{FF2B5EF4-FFF2-40B4-BE49-F238E27FC236}">
                <a16:creationId xmlns:a16="http://schemas.microsoft.com/office/drawing/2014/main" id="{64C52601-8895-4A07-BD8E-6FC2DC42C619}"/>
              </a:ext>
            </a:extLst>
          </p:cNvPr>
          <p:cNvGrpSpPr>
            <a:grpSpLocks/>
          </p:cNvGrpSpPr>
          <p:nvPr/>
        </p:nvGrpSpPr>
        <p:grpSpPr bwMode="auto">
          <a:xfrm>
            <a:off x="898525" y="3211513"/>
            <a:ext cx="2808288" cy="2093912"/>
            <a:chOff x="2381" y="2519"/>
            <a:chExt cx="1769" cy="1319"/>
          </a:xfrm>
        </p:grpSpPr>
        <p:sp>
          <p:nvSpPr>
            <p:cNvPr id="88074" name="Line 5">
              <a:extLst>
                <a:ext uri="{FF2B5EF4-FFF2-40B4-BE49-F238E27FC236}">
                  <a16:creationId xmlns:a16="http://schemas.microsoft.com/office/drawing/2014/main" id="{75BF67D3-0EA3-402C-BC3F-BB672586E614}"/>
                </a:ext>
              </a:extLst>
            </p:cNvPr>
            <p:cNvSpPr>
              <a:spLocks noChangeShapeType="1"/>
            </p:cNvSpPr>
            <p:nvPr/>
          </p:nvSpPr>
          <p:spPr bwMode="auto">
            <a:xfrm>
              <a:off x="2381" y="3793"/>
              <a:ext cx="140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75" name="Line 6">
              <a:extLst>
                <a:ext uri="{FF2B5EF4-FFF2-40B4-BE49-F238E27FC236}">
                  <a16:creationId xmlns:a16="http://schemas.microsoft.com/office/drawing/2014/main" id="{D311BDD9-21DD-42C0-B972-D2C2485F9214}"/>
                </a:ext>
              </a:extLst>
            </p:cNvPr>
            <p:cNvSpPr>
              <a:spLocks noChangeShapeType="1"/>
            </p:cNvSpPr>
            <p:nvPr/>
          </p:nvSpPr>
          <p:spPr bwMode="auto">
            <a:xfrm flipH="1">
              <a:off x="2426"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76" name="Line 7">
              <a:extLst>
                <a:ext uri="{FF2B5EF4-FFF2-40B4-BE49-F238E27FC236}">
                  <a16:creationId xmlns:a16="http://schemas.microsoft.com/office/drawing/2014/main" id="{517F5714-A94F-4B3E-81E2-0336122BE4E7}"/>
                </a:ext>
              </a:extLst>
            </p:cNvPr>
            <p:cNvSpPr>
              <a:spLocks noChangeShapeType="1"/>
            </p:cNvSpPr>
            <p:nvPr/>
          </p:nvSpPr>
          <p:spPr bwMode="auto">
            <a:xfrm flipH="1">
              <a:off x="2516"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77" name="Line 8">
              <a:extLst>
                <a:ext uri="{FF2B5EF4-FFF2-40B4-BE49-F238E27FC236}">
                  <a16:creationId xmlns:a16="http://schemas.microsoft.com/office/drawing/2014/main" id="{03971E9B-D20F-498E-B99D-47A55E1FEF69}"/>
                </a:ext>
              </a:extLst>
            </p:cNvPr>
            <p:cNvSpPr>
              <a:spLocks noChangeShapeType="1"/>
            </p:cNvSpPr>
            <p:nvPr/>
          </p:nvSpPr>
          <p:spPr bwMode="auto">
            <a:xfrm flipH="1">
              <a:off x="2607"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78" name="Line 9">
              <a:extLst>
                <a:ext uri="{FF2B5EF4-FFF2-40B4-BE49-F238E27FC236}">
                  <a16:creationId xmlns:a16="http://schemas.microsoft.com/office/drawing/2014/main" id="{60C4FB21-98A0-47A2-990D-10251E4B91C0}"/>
                </a:ext>
              </a:extLst>
            </p:cNvPr>
            <p:cNvSpPr>
              <a:spLocks noChangeShapeType="1"/>
            </p:cNvSpPr>
            <p:nvPr/>
          </p:nvSpPr>
          <p:spPr bwMode="auto">
            <a:xfrm flipH="1">
              <a:off x="2698"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79" name="Line 10">
              <a:extLst>
                <a:ext uri="{FF2B5EF4-FFF2-40B4-BE49-F238E27FC236}">
                  <a16:creationId xmlns:a16="http://schemas.microsoft.com/office/drawing/2014/main" id="{42D7A520-31C0-41FA-9BA8-C0FA5D5E243C}"/>
                </a:ext>
              </a:extLst>
            </p:cNvPr>
            <p:cNvSpPr>
              <a:spLocks noChangeShapeType="1"/>
            </p:cNvSpPr>
            <p:nvPr/>
          </p:nvSpPr>
          <p:spPr bwMode="auto">
            <a:xfrm flipH="1">
              <a:off x="2788"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0" name="Line 11">
              <a:extLst>
                <a:ext uri="{FF2B5EF4-FFF2-40B4-BE49-F238E27FC236}">
                  <a16:creationId xmlns:a16="http://schemas.microsoft.com/office/drawing/2014/main" id="{D50ECF90-CB56-4C9D-8385-620AAFF22189}"/>
                </a:ext>
              </a:extLst>
            </p:cNvPr>
            <p:cNvSpPr>
              <a:spLocks noChangeShapeType="1"/>
            </p:cNvSpPr>
            <p:nvPr/>
          </p:nvSpPr>
          <p:spPr bwMode="auto">
            <a:xfrm flipH="1">
              <a:off x="2879"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1" name="Line 12">
              <a:extLst>
                <a:ext uri="{FF2B5EF4-FFF2-40B4-BE49-F238E27FC236}">
                  <a16:creationId xmlns:a16="http://schemas.microsoft.com/office/drawing/2014/main" id="{7AAA4157-5B10-4B63-BDCC-FC7833404926}"/>
                </a:ext>
              </a:extLst>
            </p:cNvPr>
            <p:cNvSpPr>
              <a:spLocks noChangeShapeType="1"/>
            </p:cNvSpPr>
            <p:nvPr/>
          </p:nvSpPr>
          <p:spPr bwMode="auto">
            <a:xfrm flipH="1">
              <a:off x="2971"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2" name="Line 13">
              <a:extLst>
                <a:ext uri="{FF2B5EF4-FFF2-40B4-BE49-F238E27FC236}">
                  <a16:creationId xmlns:a16="http://schemas.microsoft.com/office/drawing/2014/main" id="{E0599EA2-A529-42F7-9901-16702D926022}"/>
                </a:ext>
              </a:extLst>
            </p:cNvPr>
            <p:cNvSpPr>
              <a:spLocks noChangeShapeType="1"/>
            </p:cNvSpPr>
            <p:nvPr/>
          </p:nvSpPr>
          <p:spPr bwMode="auto">
            <a:xfrm flipH="1">
              <a:off x="3061"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3" name="Line 14">
              <a:extLst>
                <a:ext uri="{FF2B5EF4-FFF2-40B4-BE49-F238E27FC236}">
                  <a16:creationId xmlns:a16="http://schemas.microsoft.com/office/drawing/2014/main" id="{0DEE1793-E214-4CA7-A46A-618C1C605F1C}"/>
                </a:ext>
              </a:extLst>
            </p:cNvPr>
            <p:cNvSpPr>
              <a:spLocks noChangeShapeType="1"/>
            </p:cNvSpPr>
            <p:nvPr/>
          </p:nvSpPr>
          <p:spPr bwMode="auto">
            <a:xfrm flipH="1">
              <a:off x="3152"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4" name="Line 15">
              <a:extLst>
                <a:ext uri="{FF2B5EF4-FFF2-40B4-BE49-F238E27FC236}">
                  <a16:creationId xmlns:a16="http://schemas.microsoft.com/office/drawing/2014/main" id="{E7E98C07-DA1D-48A8-9F17-4C28A6030395}"/>
                </a:ext>
              </a:extLst>
            </p:cNvPr>
            <p:cNvSpPr>
              <a:spLocks noChangeShapeType="1"/>
            </p:cNvSpPr>
            <p:nvPr/>
          </p:nvSpPr>
          <p:spPr bwMode="auto">
            <a:xfrm flipH="1">
              <a:off x="3243"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5" name="Line 16">
              <a:extLst>
                <a:ext uri="{FF2B5EF4-FFF2-40B4-BE49-F238E27FC236}">
                  <a16:creationId xmlns:a16="http://schemas.microsoft.com/office/drawing/2014/main" id="{A8C77641-D474-4564-ABEF-FC70E88276CB}"/>
                </a:ext>
              </a:extLst>
            </p:cNvPr>
            <p:cNvSpPr>
              <a:spLocks noChangeShapeType="1"/>
            </p:cNvSpPr>
            <p:nvPr/>
          </p:nvSpPr>
          <p:spPr bwMode="auto">
            <a:xfrm flipH="1">
              <a:off x="3333"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6" name="Line 17">
              <a:extLst>
                <a:ext uri="{FF2B5EF4-FFF2-40B4-BE49-F238E27FC236}">
                  <a16:creationId xmlns:a16="http://schemas.microsoft.com/office/drawing/2014/main" id="{7E6FFBFE-AC48-4B45-8D66-BA47E8412FB7}"/>
                </a:ext>
              </a:extLst>
            </p:cNvPr>
            <p:cNvSpPr>
              <a:spLocks noChangeShapeType="1"/>
            </p:cNvSpPr>
            <p:nvPr/>
          </p:nvSpPr>
          <p:spPr bwMode="auto">
            <a:xfrm flipH="1">
              <a:off x="3424"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7" name="Line 18">
              <a:extLst>
                <a:ext uri="{FF2B5EF4-FFF2-40B4-BE49-F238E27FC236}">
                  <a16:creationId xmlns:a16="http://schemas.microsoft.com/office/drawing/2014/main" id="{7CF83F9A-BD17-4CC5-B065-FF14F1DB194E}"/>
                </a:ext>
              </a:extLst>
            </p:cNvPr>
            <p:cNvSpPr>
              <a:spLocks noChangeShapeType="1"/>
            </p:cNvSpPr>
            <p:nvPr/>
          </p:nvSpPr>
          <p:spPr bwMode="auto">
            <a:xfrm flipH="1">
              <a:off x="3515"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8" name="Line 19">
              <a:extLst>
                <a:ext uri="{FF2B5EF4-FFF2-40B4-BE49-F238E27FC236}">
                  <a16:creationId xmlns:a16="http://schemas.microsoft.com/office/drawing/2014/main" id="{74E70DD0-D35F-4B50-8597-1731AA7CBA62}"/>
                </a:ext>
              </a:extLst>
            </p:cNvPr>
            <p:cNvSpPr>
              <a:spLocks noChangeShapeType="1"/>
            </p:cNvSpPr>
            <p:nvPr/>
          </p:nvSpPr>
          <p:spPr bwMode="auto">
            <a:xfrm flipH="1">
              <a:off x="3605"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9" name="Line 20">
              <a:extLst>
                <a:ext uri="{FF2B5EF4-FFF2-40B4-BE49-F238E27FC236}">
                  <a16:creationId xmlns:a16="http://schemas.microsoft.com/office/drawing/2014/main" id="{32B4FC7D-1FF6-4295-8327-E9C77F7C7F6E}"/>
                </a:ext>
              </a:extLst>
            </p:cNvPr>
            <p:cNvSpPr>
              <a:spLocks noChangeShapeType="1"/>
            </p:cNvSpPr>
            <p:nvPr/>
          </p:nvSpPr>
          <p:spPr bwMode="auto">
            <a:xfrm flipH="1">
              <a:off x="3696"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0" name="Line 21">
              <a:extLst>
                <a:ext uri="{FF2B5EF4-FFF2-40B4-BE49-F238E27FC236}">
                  <a16:creationId xmlns:a16="http://schemas.microsoft.com/office/drawing/2014/main" id="{46010FA9-6DFB-41EB-9040-1B8000B6A01E}"/>
                </a:ext>
              </a:extLst>
            </p:cNvPr>
            <p:cNvSpPr>
              <a:spLocks noChangeShapeType="1"/>
            </p:cNvSpPr>
            <p:nvPr/>
          </p:nvSpPr>
          <p:spPr bwMode="auto">
            <a:xfrm>
              <a:off x="2517" y="3158"/>
              <a:ext cx="0" cy="63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1" name="Line 22">
              <a:extLst>
                <a:ext uri="{FF2B5EF4-FFF2-40B4-BE49-F238E27FC236}">
                  <a16:creationId xmlns:a16="http://schemas.microsoft.com/office/drawing/2014/main" id="{C04ED8A1-A889-4AE0-AE05-7C7BBCEDFC4B}"/>
                </a:ext>
              </a:extLst>
            </p:cNvPr>
            <p:cNvSpPr>
              <a:spLocks noChangeShapeType="1"/>
            </p:cNvSpPr>
            <p:nvPr/>
          </p:nvSpPr>
          <p:spPr bwMode="auto">
            <a:xfrm>
              <a:off x="2517" y="3158"/>
              <a:ext cx="1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2" name="Line 23">
              <a:extLst>
                <a:ext uri="{FF2B5EF4-FFF2-40B4-BE49-F238E27FC236}">
                  <a16:creationId xmlns:a16="http://schemas.microsoft.com/office/drawing/2014/main" id="{2728F08F-06B3-40D1-915C-43DE5548B18A}"/>
                </a:ext>
              </a:extLst>
            </p:cNvPr>
            <p:cNvSpPr>
              <a:spLocks noChangeShapeType="1"/>
            </p:cNvSpPr>
            <p:nvPr/>
          </p:nvSpPr>
          <p:spPr bwMode="auto">
            <a:xfrm>
              <a:off x="2653" y="3158"/>
              <a:ext cx="0" cy="49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3" name="Line 24">
              <a:extLst>
                <a:ext uri="{FF2B5EF4-FFF2-40B4-BE49-F238E27FC236}">
                  <a16:creationId xmlns:a16="http://schemas.microsoft.com/office/drawing/2014/main" id="{21787272-A0C0-43C8-90D3-BD34555BA41F}"/>
                </a:ext>
              </a:extLst>
            </p:cNvPr>
            <p:cNvSpPr>
              <a:spLocks noChangeShapeType="1"/>
            </p:cNvSpPr>
            <p:nvPr/>
          </p:nvSpPr>
          <p:spPr bwMode="auto">
            <a:xfrm>
              <a:off x="2653" y="3657"/>
              <a:ext cx="6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4" name="Line 25">
              <a:extLst>
                <a:ext uri="{FF2B5EF4-FFF2-40B4-BE49-F238E27FC236}">
                  <a16:creationId xmlns:a16="http://schemas.microsoft.com/office/drawing/2014/main" id="{390AD982-DEAA-423B-B622-96CB6BB514E5}"/>
                </a:ext>
              </a:extLst>
            </p:cNvPr>
            <p:cNvSpPr>
              <a:spLocks noChangeShapeType="1"/>
            </p:cNvSpPr>
            <p:nvPr/>
          </p:nvSpPr>
          <p:spPr bwMode="auto">
            <a:xfrm>
              <a:off x="3243" y="3113"/>
              <a:ext cx="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5" name="Line 26">
              <a:extLst>
                <a:ext uri="{FF2B5EF4-FFF2-40B4-BE49-F238E27FC236}">
                  <a16:creationId xmlns:a16="http://schemas.microsoft.com/office/drawing/2014/main" id="{B8AB3D0F-ABCA-40A6-9C5D-BD1776367DA8}"/>
                </a:ext>
              </a:extLst>
            </p:cNvPr>
            <p:cNvSpPr>
              <a:spLocks noChangeShapeType="1"/>
            </p:cNvSpPr>
            <p:nvPr/>
          </p:nvSpPr>
          <p:spPr bwMode="auto">
            <a:xfrm>
              <a:off x="3424" y="3158"/>
              <a:ext cx="0" cy="63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6" name="Line 27">
              <a:extLst>
                <a:ext uri="{FF2B5EF4-FFF2-40B4-BE49-F238E27FC236}">
                  <a16:creationId xmlns:a16="http://schemas.microsoft.com/office/drawing/2014/main" id="{37EC9850-20BB-457E-BE14-9E45A7DC9ACD}"/>
                </a:ext>
              </a:extLst>
            </p:cNvPr>
            <p:cNvSpPr>
              <a:spLocks noChangeShapeType="1"/>
            </p:cNvSpPr>
            <p:nvPr/>
          </p:nvSpPr>
          <p:spPr bwMode="auto">
            <a:xfrm>
              <a:off x="3288" y="3158"/>
              <a:ext cx="1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7" name="Line 28">
              <a:extLst>
                <a:ext uri="{FF2B5EF4-FFF2-40B4-BE49-F238E27FC236}">
                  <a16:creationId xmlns:a16="http://schemas.microsoft.com/office/drawing/2014/main" id="{5F01DA0D-3C89-4CE2-9388-B6724D3E38B7}"/>
                </a:ext>
              </a:extLst>
            </p:cNvPr>
            <p:cNvSpPr>
              <a:spLocks noChangeShapeType="1"/>
            </p:cNvSpPr>
            <p:nvPr/>
          </p:nvSpPr>
          <p:spPr bwMode="auto">
            <a:xfrm>
              <a:off x="3288" y="3158"/>
              <a:ext cx="0" cy="49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8" name="Line 29">
              <a:extLst>
                <a:ext uri="{FF2B5EF4-FFF2-40B4-BE49-F238E27FC236}">
                  <a16:creationId xmlns:a16="http://schemas.microsoft.com/office/drawing/2014/main" id="{5990C173-F96B-4282-A3BF-508EB32C5FCB}"/>
                </a:ext>
              </a:extLst>
            </p:cNvPr>
            <p:cNvSpPr>
              <a:spLocks noChangeShapeType="1"/>
            </p:cNvSpPr>
            <p:nvPr/>
          </p:nvSpPr>
          <p:spPr bwMode="auto">
            <a:xfrm flipV="1">
              <a:off x="2880" y="3566"/>
              <a:ext cx="181" cy="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9" name="Line 30">
              <a:extLst>
                <a:ext uri="{FF2B5EF4-FFF2-40B4-BE49-F238E27FC236}">
                  <a16:creationId xmlns:a16="http://schemas.microsoft.com/office/drawing/2014/main" id="{D568E55C-57EE-4E23-BB38-9C6C36A89AAC}"/>
                </a:ext>
              </a:extLst>
            </p:cNvPr>
            <p:cNvSpPr>
              <a:spLocks noChangeShapeType="1"/>
            </p:cNvSpPr>
            <p:nvPr/>
          </p:nvSpPr>
          <p:spPr bwMode="auto">
            <a:xfrm flipH="1" flipV="1">
              <a:off x="2880" y="3475"/>
              <a:ext cx="181" cy="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00" name="Line 31">
              <a:extLst>
                <a:ext uri="{FF2B5EF4-FFF2-40B4-BE49-F238E27FC236}">
                  <a16:creationId xmlns:a16="http://schemas.microsoft.com/office/drawing/2014/main" id="{EE3E1F55-7F19-4C9D-860B-1BF8F3E94E20}"/>
                </a:ext>
              </a:extLst>
            </p:cNvPr>
            <p:cNvSpPr>
              <a:spLocks noChangeShapeType="1"/>
            </p:cNvSpPr>
            <p:nvPr/>
          </p:nvSpPr>
          <p:spPr bwMode="auto">
            <a:xfrm flipV="1">
              <a:off x="2880" y="3385"/>
              <a:ext cx="181" cy="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01" name="Line 32">
              <a:extLst>
                <a:ext uri="{FF2B5EF4-FFF2-40B4-BE49-F238E27FC236}">
                  <a16:creationId xmlns:a16="http://schemas.microsoft.com/office/drawing/2014/main" id="{16F8DEA5-A96B-4A90-9CCF-E444086B9738}"/>
                </a:ext>
              </a:extLst>
            </p:cNvPr>
            <p:cNvSpPr>
              <a:spLocks noChangeShapeType="1"/>
            </p:cNvSpPr>
            <p:nvPr/>
          </p:nvSpPr>
          <p:spPr bwMode="auto">
            <a:xfrm flipH="1" flipV="1">
              <a:off x="2880" y="3294"/>
              <a:ext cx="181" cy="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02" name="Rectangle 33">
              <a:extLst>
                <a:ext uri="{FF2B5EF4-FFF2-40B4-BE49-F238E27FC236}">
                  <a16:creationId xmlns:a16="http://schemas.microsoft.com/office/drawing/2014/main" id="{AEDEA4A3-B2BB-4F6C-8463-ECCDA7A1CD63}"/>
                </a:ext>
              </a:extLst>
            </p:cNvPr>
            <p:cNvSpPr>
              <a:spLocks noChangeArrowheads="1"/>
            </p:cNvSpPr>
            <p:nvPr/>
          </p:nvSpPr>
          <p:spPr bwMode="auto">
            <a:xfrm>
              <a:off x="2835" y="3113"/>
              <a:ext cx="272" cy="181"/>
            </a:xfrm>
            <a:prstGeom prst="rect">
              <a:avLst/>
            </a:prstGeom>
            <a:solidFill>
              <a:srgbClr val="FFFFFF"/>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88103" name="Line 34">
              <a:extLst>
                <a:ext uri="{FF2B5EF4-FFF2-40B4-BE49-F238E27FC236}">
                  <a16:creationId xmlns:a16="http://schemas.microsoft.com/office/drawing/2014/main" id="{A9E4A6B3-2F2E-4687-ABDD-F5E164AA6161}"/>
                </a:ext>
              </a:extLst>
            </p:cNvPr>
            <p:cNvSpPr>
              <a:spLocks noChangeShapeType="1"/>
            </p:cNvSpPr>
            <p:nvPr/>
          </p:nvSpPr>
          <p:spPr bwMode="auto">
            <a:xfrm>
              <a:off x="2925" y="2840"/>
              <a:ext cx="0" cy="27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04" name="Line 35">
              <a:extLst>
                <a:ext uri="{FF2B5EF4-FFF2-40B4-BE49-F238E27FC236}">
                  <a16:creationId xmlns:a16="http://schemas.microsoft.com/office/drawing/2014/main" id="{2FD1B65D-43B9-4B9B-8636-30BBA991A793}"/>
                </a:ext>
              </a:extLst>
            </p:cNvPr>
            <p:cNvSpPr>
              <a:spLocks noChangeShapeType="1"/>
            </p:cNvSpPr>
            <p:nvPr/>
          </p:nvSpPr>
          <p:spPr bwMode="auto">
            <a:xfrm>
              <a:off x="3016" y="2840"/>
              <a:ext cx="0" cy="27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05" name="Line 36">
              <a:extLst>
                <a:ext uri="{FF2B5EF4-FFF2-40B4-BE49-F238E27FC236}">
                  <a16:creationId xmlns:a16="http://schemas.microsoft.com/office/drawing/2014/main" id="{639934AF-CEAE-46A4-BEC8-39D64E3145F6}"/>
                </a:ext>
              </a:extLst>
            </p:cNvPr>
            <p:cNvSpPr>
              <a:spLocks noChangeShapeType="1"/>
            </p:cNvSpPr>
            <p:nvPr/>
          </p:nvSpPr>
          <p:spPr bwMode="auto">
            <a:xfrm flipV="1">
              <a:off x="2925" y="2750"/>
              <a:ext cx="46" cy="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06" name="Line 37">
              <a:extLst>
                <a:ext uri="{FF2B5EF4-FFF2-40B4-BE49-F238E27FC236}">
                  <a16:creationId xmlns:a16="http://schemas.microsoft.com/office/drawing/2014/main" id="{6EDBE123-C54A-46BF-BFCB-891400FFB3EA}"/>
                </a:ext>
              </a:extLst>
            </p:cNvPr>
            <p:cNvSpPr>
              <a:spLocks noChangeShapeType="1"/>
            </p:cNvSpPr>
            <p:nvPr/>
          </p:nvSpPr>
          <p:spPr bwMode="auto">
            <a:xfrm>
              <a:off x="2971" y="2750"/>
              <a:ext cx="45" cy="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07" name="Line 38">
              <a:extLst>
                <a:ext uri="{FF2B5EF4-FFF2-40B4-BE49-F238E27FC236}">
                  <a16:creationId xmlns:a16="http://schemas.microsoft.com/office/drawing/2014/main" id="{C4C5467C-2D76-4B74-AA3F-21F5F23B019E}"/>
                </a:ext>
              </a:extLst>
            </p:cNvPr>
            <p:cNvSpPr>
              <a:spLocks noChangeShapeType="1"/>
            </p:cNvSpPr>
            <p:nvPr/>
          </p:nvSpPr>
          <p:spPr bwMode="auto">
            <a:xfrm>
              <a:off x="2608" y="2750"/>
              <a:ext cx="77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08" name="Line 39">
              <a:extLst>
                <a:ext uri="{FF2B5EF4-FFF2-40B4-BE49-F238E27FC236}">
                  <a16:creationId xmlns:a16="http://schemas.microsoft.com/office/drawing/2014/main" id="{FA35E13A-6ED1-436D-BFE4-B7EA933DF4C8}"/>
                </a:ext>
              </a:extLst>
            </p:cNvPr>
            <p:cNvSpPr>
              <a:spLocks noChangeShapeType="1"/>
            </p:cNvSpPr>
            <p:nvPr/>
          </p:nvSpPr>
          <p:spPr bwMode="auto">
            <a:xfrm>
              <a:off x="2608" y="2568"/>
              <a:ext cx="77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09" name="Freeform 40">
              <a:extLst>
                <a:ext uri="{FF2B5EF4-FFF2-40B4-BE49-F238E27FC236}">
                  <a16:creationId xmlns:a16="http://schemas.microsoft.com/office/drawing/2014/main" id="{E31AD2CC-8070-4349-9B5A-0604E73EE2EA}"/>
                </a:ext>
              </a:extLst>
            </p:cNvPr>
            <p:cNvSpPr>
              <a:spLocks/>
            </p:cNvSpPr>
            <p:nvPr/>
          </p:nvSpPr>
          <p:spPr bwMode="auto">
            <a:xfrm>
              <a:off x="2608" y="2568"/>
              <a:ext cx="52" cy="182"/>
            </a:xfrm>
            <a:custGeom>
              <a:avLst/>
              <a:gdLst>
                <a:gd name="T0" fmla="*/ 0 w 52"/>
                <a:gd name="T1" fmla="*/ 0 h 182"/>
                <a:gd name="T2" fmla="*/ 45 w 52"/>
                <a:gd name="T3" fmla="*/ 91 h 182"/>
                <a:gd name="T4" fmla="*/ 45 w 52"/>
                <a:gd name="T5" fmla="*/ 136 h 182"/>
                <a:gd name="T6" fmla="*/ 0 w 52"/>
                <a:gd name="T7" fmla="*/ 182 h 18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182">
                  <a:moveTo>
                    <a:pt x="0" y="0"/>
                  </a:moveTo>
                  <a:cubicBezTo>
                    <a:pt x="19" y="34"/>
                    <a:pt x="38" y="68"/>
                    <a:pt x="45" y="91"/>
                  </a:cubicBezTo>
                  <a:cubicBezTo>
                    <a:pt x="52" y="114"/>
                    <a:pt x="52" y="121"/>
                    <a:pt x="45" y="136"/>
                  </a:cubicBezTo>
                  <a:cubicBezTo>
                    <a:pt x="38" y="151"/>
                    <a:pt x="7" y="174"/>
                    <a:pt x="0" y="182"/>
                  </a:cubicBez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10" name="Freeform 41">
              <a:extLst>
                <a:ext uri="{FF2B5EF4-FFF2-40B4-BE49-F238E27FC236}">
                  <a16:creationId xmlns:a16="http://schemas.microsoft.com/office/drawing/2014/main" id="{899E9F28-E71C-419E-AE26-62922008BE07}"/>
                </a:ext>
              </a:extLst>
            </p:cNvPr>
            <p:cNvSpPr>
              <a:spLocks/>
            </p:cNvSpPr>
            <p:nvPr/>
          </p:nvSpPr>
          <p:spPr bwMode="auto">
            <a:xfrm>
              <a:off x="3388" y="2568"/>
              <a:ext cx="46" cy="182"/>
            </a:xfrm>
            <a:custGeom>
              <a:avLst/>
              <a:gdLst>
                <a:gd name="T0" fmla="*/ 0 w 52"/>
                <a:gd name="T1" fmla="*/ 0 h 182"/>
                <a:gd name="T2" fmla="*/ 4 w 52"/>
                <a:gd name="T3" fmla="*/ 91 h 182"/>
                <a:gd name="T4" fmla="*/ 4 w 52"/>
                <a:gd name="T5" fmla="*/ 136 h 182"/>
                <a:gd name="T6" fmla="*/ 0 w 52"/>
                <a:gd name="T7" fmla="*/ 182 h 18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182">
                  <a:moveTo>
                    <a:pt x="0" y="0"/>
                  </a:moveTo>
                  <a:cubicBezTo>
                    <a:pt x="19" y="34"/>
                    <a:pt x="38" y="68"/>
                    <a:pt x="45" y="91"/>
                  </a:cubicBezTo>
                  <a:cubicBezTo>
                    <a:pt x="52" y="114"/>
                    <a:pt x="52" y="121"/>
                    <a:pt x="45" y="136"/>
                  </a:cubicBezTo>
                  <a:cubicBezTo>
                    <a:pt x="38" y="151"/>
                    <a:pt x="7" y="174"/>
                    <a:pt x="0" y="182"/>
                  </a:cubicBez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11" name="Text Box 42">
              <a:extLst>
                <a:ext uri="{FF2B5EF4-FFF2-40B4-BE49-F238E27FC236}">
                  <a16:creationId xmlns:a16="http://schemas.microsoft.com/office/drawing/2014/main" id="{830A95EE-95D9-497F-85E7-DCFECB37E9CE}"/>
                </a:ext>
              </a:extLst>
            </p:cNvPr>
            <p:cNvSpPr txBox="1">
              <a:spLocks noChangeArrowheads="1"/>
            </p:cNvSpPr>
            <p:nvPr/>
          </p:nvSpPr>
          <p:spPr bwMode="auto">
            <a:xfrm>
              <a:off x="2743" y="2519"/>
              <a:ext cx="545"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r>
                <a:rPr kumimoji="1" lang="zh-CN" altLang="en-US" sz="1000">
                  <a:solidFill>
                    <a:schemeClr val="tx2"/>
                  </a:solidFill>
                  <a:latin typeface="楷体_GB2312" pitchFamily="49" charset="-122"/>
                  <a:ea typeface="楷体_GB2312" pitchFamily="49" charset="-122"/>
                </a:rPr>
                <a:t>被测物体</a:t>
              </a:r>
            </a:p>
          </p:txBody>
        </p:sp>
        <p:sp>
          <p:nvSpPr>
            <p:cNvPr id="88112" name="Line 43">
              <a:extLst>
                <a:ext uri="{FF2B5EF4-FFF2-40B4-BE49-F238E27FC236}">
                  <a16:creationId xmlns:a16="http://schemas.microsoft.com/office/drawing/2014/main" id="{92D1597C-4597-40BB-AEFD-8D9E2D2C7951}"/>
                </a:ext>
              </a:extLst>
            </p:cNvPr>
            <p:cNvSpPr>
              <a:spLocks noChangeShapeType="1"/>
            </p:cNvSpPr>
            <p:nvPr/>
          </p:nvSpPr>
          <p:spPr bwMode="auto">
            <a:xfrm flipH="1">
              <a:off x="2937" y="2931"/>
              <a:ext cx="31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13" name="Text Box 44">
              <a:extLst>
                <a:ext uri="{FF2B5EF4-FFF2-40B4-BE49-F238E27FC236}">
                  <a16:creationId xmlns:a16="http://schemas.microsoft.com/office/drawing/2014/main" id="{2F1CD99A-8444-45DD-89FF-B4DEEB63AC46}"/>
                </a:ext>
              </a:extLst>
            </p:cNvPr>
            <p:cNvSpPr txBox="1">
              <a:spLocks noChangeArrowheads="1"/>
            </p:cNvSpPr>
            <p:nvPr/>
          </p:nvSpPr>
          <p:spPr bwMode="auto">
            <a:xfrm>
              <a:off x="3107" y="2795"/>
              <a:ext cx="545"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r>
                <a:rPr kumimoji="1" lang="zh-CN" altLang="en-US" sz="1000">
                  <a:solidFill>
                    <a:schemeClr val="tx2"/>
                  </a:solidFill>
                  <a:latin typeface="楷体_GB2312" pitchFamily="49" charset="-122"/>
                  <a:ea typeface="楷体_GB2312" pitchFamily="49" charset="-122"/>
                </a:rPr>
                <a:t>顶杆</a:t>
              </a:r>
            </a:p>
          </p:txBody>
        </p:sp>
        <p:sp>
          <p:nvSpPr>
            <p:cNvPr id="88114" name="Line 45">
              <a:extLst>
                <a:ext uri="{FF2B5EF4-FFF2-40B4-BE49-F238E27FC236}">
                  <a16:creationId xmlns:a16="http://schemas.microsoft.com/office/drawing/2014/main" id="{81EDD18E-721A-4F04-93BB-7F4E15DEDDA1}"/>
                </a:ext>
              </a:extLst>
            </p:cNvPr>
            <p:cNvSpPr>
              <a:spLocks noChangeShapeType="1"/>
            </p:cNvSpPr>
            <p:nvPr/>
          </p:nvSpPr>
          <p:spPr bwMode="auto">
            <a:xfrm flipH="1" flipV="1">
              <a:off x="3073" y="3199"/>
              <a:ext cx="578" cy="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15" name="Text Box 46">
              <a:extLst>
                <a:ext uri="{FF2B5EF4-FFF2-40B4-BE49-F238E27FC236}">
                  <a16:creationId xmlns:a16="http://schemas.microsoft.com/office/drawing/2014/main" id="{FE844662-01F8-428A-891F-CFC1E5221098}"/>
                </a:ext>
              </a:extLst>
            </p:cNvPr>
            <p:cNvSpPr txBox="1">
              <a:spLocks noChangeArrowheads="1"/>
            </p:cNvSpPr>
            <p:nvPr/>
          </p:nvSpPr>
          <p:spPr bwMode="auto">
            <a:xfrm>
              <a:off x="3605" y="3067"/>
              <a:ext cx="545"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r>
                <a:rPr kumimoji="1" lang="zh-CN" altLang="en-US" sz="1000">
                  <a:solidFill>
                    <a:schemeClr val="tx2"/>
                  </a:solidFill>
                  <a:latin typeface="楷体_GB2312" pitchFamily="49" charset="-122"/>
                  <a:ea typeface="楷体_GB2312" pitchFamily="49" charset="-122"/>
                </a:rPr>
                <a:t>可动部分</a:t>
              </a:r>
            </a:p>
          </p:txBody>
        </p:sp>
        <p:sp>
          <p:nvSpPr>
            <p:cNvPr id="88116" name="Line 47">
              <a:extLst>
                <a:ext uri="{FF2B5EF4-FFF2-40B4-BE49-F238E27FC236}">
                  <a16:creationId xmlns:a16="http://schemas.microsoft.com/office/drawing/2014/main" id="{4229721D-8A5F-4728-81DF-F476A59C8493}"/>
                </a:ext>
              </a:extLst>
            </p:cNvPr>
            <p:cNvSpPr>
              <a:spLocks noChangeShapeType="1"/>
            </p:cNvSpPr>
            <p:nvPr/>
          </p:nvSpPr>
          <p:spPr bwMode="auto">
            <a:xfrm flipH="1" flipV="1">
              <a:off x="3073" y="3562"/>
              <a:ext cx="578" cy="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17" name="Text Box 48">
              <a:extLst>
                <a:ext uri="{FF2B5EF4-FFF2-40B4-BE49-F238E27FC236}">
                  <a16:creationId xmlns:a16="http://schemas.microsoft.com/office/drawing/2014/main" id="{3B8C74C2-7FF6-458F-A571-6BEE9EE2CF57}"/>
                </a:ext>
              </a:extLst>
            </p:cNvPr>
            <p:cNvSpPr txBox="1">
              <a:spLocks noChangeArrowheads="1"/>
            </p:cNvSpPr>
            <p:nvPr/>
          </p:nvSpPr>
          <p:spPr bwMode="auto">
            <a:xfrm>
              <a:off x="3514" y="3426"/>
              <a:ext cx="545"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r>
                <a:rPr kumimoji="1" lang="zh-CN" altLang="en-US" sz="1000">
                  <a:solidFill>
                    <a:schemeClr val="tx2"/>
                  </a:solidFill>
                  <a:latin typeface="楷体_GB2312" pitchFamily="49" charset="-122"/>
                  <a:ea typeface="楷体_GB2312" pitchFamily="49" charset="-122"/>
                </a:rPr>
                <a:t>弹簧</a:t>
              </a:r>
            </a:p>
          </p:txBody>
        </p:sp>
        <p:sp>
          <p:nvSpPr>
            <p:cNvPr id="88118" name="Line 49">
              <a:extLst>
                <a:ext uri="{FF2B5EF4-FFF2-40B4-BE49-F238E27FC236}">
                  <a16:creationId xmlns:a16="http://schemas.microsoft.com/office/drawing/2014/main" id="{D1327BBE-78BD-4967-ADED-42222EB4B93E}"/>
                </a:ext>
              </a:extLst>
            </p:cNvPr>
            <p:cNvSpPr>
              <a:spLocks noChangeShapeType="1"/>
            </p:cNvSpPr>
            <p:nvPr/>
          </p:nvSpPr>
          <p:spPr bwMode="auto">
            <a:xfrm flipH="1">
              <a:off x="3334" y="3380"/>
              <a:ext cx="31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19" name="Text Box 50">
              <a:extLst>
                <a:ext uri="{FF2B5EF4-FFF2-40B4-BE49-F238E27FC236}">
                  <a16:creationId xmlns:a16="http://schemas.microsoft.com/office/drawing/2014/main" id="{FB15F5E7-5EE5-47C0-B3FD-BF3A46732F1F}"/>
                </a:ext>
              </a:extLst>
            </p:cNvPr>
            <p:cNvSpPr txBox="1">
              <a:spLocks noChangeArrowheads="1"/>
            </p:cNvSpPr>
            <p:nvPr/>
          </p:nvSpPr>
          <p:spPr bwMode="auto">
            <a:xfrm>
              <a:off x="3605" y="3244"/>
              <a:ext cx="545"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r>
                <a:rPr kumimoji="1" lang="zh-CN" altLang="en-US" sz="1000">
                  <a:solidFill>
                    <a:schemeClr val="tx2"/>
                  </a:solidFill>
                  <a:latin typeface="楷体_GB2312" pitchFamily="49" charset="-122"/>
                  <a:ea typeface="楷体_GB2312" pitchFamily="49" charset="-122"/>
                </a:rPr>
                <a:t>固定部分</a:t>
              </a:r>
            </a:p>
          </p:txBody>
        </p:sp>
      </p:grpSp>
      <p:sp>
        <p:nvSpPr>
          <p:cNvPr id="88072" name="Text Box 51">
            <a:extLst>
              <a:ext uri="{FF2B5EF4-FFF2-40B4-BE49-F238E27FC236}">
                <a16:creationId xmlns:a16="http://schemas.microsoft.com/office/drawing/2014/main" id="{27391A6D-9253-45E3-A6CD-DA4A927ADEBC}"/>
              </a:ext>
            </a:extLst>
          </p:cNvPr>
          <p:cNvSpPr txBox="1">
            <a:spLocks noChangeArrowheads="1"/>
          </p:cNvSpPr>
          <p:nvPr/>
        </p:nvSpPr>
        <p:spPr bwMode="auto">
          <a:xfrm>
            <a:off x="34925" y="5372100"/>
            <a:ext cx="4537075"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0"/>
              </a:spcBef>
              <a:buFontTx/>
              <a:buNone/>
            </a:pPr>
            <a:r>
              <a:rPr kumimoji="1" lang="zh-CN" altLang="en-US" sz="1600" b="1">
                <a:solidFill>
                  <a:schemeClr val="tx2"/>
                </a:solidFill>
                <a:latin typeface="微软雅黑" panose="020B0503020204020204" pitchFamily="34" charset="-122"/>
                <a:ea typeface="微软雅黑" panose="020B0503020204020204" pitchFamily="34" charset="-122"/>
              </a:rPr>
              <a:t>图</a:t>
            </a:r>
            <a:r>
              <a:rPr kumimoji="1" lang="en-US" altLang="zh-CN" sz="1600" b="1">
                <a:solidFill>
                  <a:schemeClr val="tx2"/>
                </a:solidFill>
                <a:latin typeface="微软雅黑" panose="020B0503020204020204" pitchFamily="34" charset="-122"/>
                <a:ea typeface="微软雅黑" panose="020B0503020204020204" pitchFamily="34" charset="-122"/>
              </a:rPr>
              <a:t>(a) </a:t>
            </a:r>
            <a:r>
              <a:rPr kumimoji="1" lang="zh-CN" altLang="en-US" sz="1600" b="1">
                <a:solidFill>
                  <a:schemeClr val="tx2"/>
                </a:solidFill>
                <a:latin typeface="微软雅黑" panose="020B0503020204020204" pitchFamily="34" charset="-122"/>
                <a:ea typeface="微软雅黑" panose="020B0503020204020204" pitchFamily="34" charset="-122"/>
              </a:rPr>
              <a:t>相对测振</a:t>
            </a:r>
          </a:p>
          <a:p>
            <a:pPr eaLnBrk="1" hangingPunct="1">
              <a:lnSpc>
                <a:spcPct val="150000"/>
              </a:lnSpc>
              <a:spcBef>
                <a:spcPct val="0"/>
              </a:spcBef>
              <a:buFontTx/>
              <a:buNone/>
            </a:pPr>
            <a:r>
              <a:rPr kumimoji="1" lang="zh-CN" altLang="en-US" sz="1600" b="1">
                <a:solidFill>
                  <a:schemeClr val="tx2"/>
                </a:solidFill>
                <a:latin typeface="微软雅黑" panose="020B0503020204020204" pitchFamily="34" charset="-122"/>
                <a:ea typeface="微软雅黑" panose="020B0503020204020204" pitchFamily="34" charset="-122"/>
              </a:rPr>
              <a:t>可动部分在被测体上，固定部分在参照点上。</a:t>
            </a:r>
          </a:p>
        </p:txBody>
      </p:sp>
      <p:sp>
        <p:nvSpPr>
          <p:cNvPr id="88073" name="Text Box 52">
            <a:extLst>
              <a:ext uri="{FF2B5EF4-FFF2-40B4-BE49-F238E27FC236}">
                <a16:creationId xmlns:a16="http://schemas.microsoft.com/office/drawing/2014/main" id="{DA6AB490-7B4E-46BB-8AC7-8A5CA72CCDB1}"/>
              </a:ext>
            </a:extLst>
          </p:cNvPr>
          <p:cNvSpPr txBox="1">
            <a:spLocks noChangeArrowheads="1"/>
          </p:cNvSpPr>
          <p:nvPr/>
        </p:nvSpPr>
        <p:spPr bwMode="auto">
          <a:xfrm>
            <a:off x="4356100" y="5416550"/>
            <a:ext cx="4392613"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0"/>
              </a:spcBef>
              <a:buFontTx/>
              <a:buNone/>
            </a:pPr>
            <a:r>
              <a:rPr kumimoji="1" lang="zh-CN" altLang="en-US" sz="1600" b="1">
                <a:solidFill>
                  <a:schemeClr val="tx2"/>
                </a:solidFill>
                <a:latin typeface="微软雅黑" panose="020B0503020204020204" pitchFamily="34" charset="-122"/>
                <a:ea typeface="微软雅黑" panose="020B0503020204020204" pitchFamily="34" charset="-122"/>
              </a:rPr>
              <a:t>图</a:t>
            </a:r>
            <a:r>
              <a:rPr kumimoji="1" lang="en-US" altLang="zh-CN" sz="1600" b="1">
                <a:solidFill>
                  <a:schemeClr val="tx2"/>
                </a:solidFill>
                <a:latin typeface="微软雅黑" panose="020B0503020204020204" pitchFamily="34" charset="-122"/>
                <a:ea typeface="微软雅黑" panose="020B0503020204020204" pitchFamily="34" charset="-122"/>
              </a:rPr>
              <a:t>(b)</a:t>
            </a:r>
            <a:r>
              <a:rPr kumimoji="1" lang="zh-CN" altLang="en-US" sz="1600" b="1">
                <a:solidFill>
                  <a:schemeClr val="tx2"/>
                </a:solidFill>
                <a:latin typeface="微软雅黑" panose="020B0503020204020204" pitchFamily="34" charset="-122"/>
                <a:ea typeface="微软雅黑" panose="020B0503020204020204" pitchFamily="34" charset="-122"/>
              </a:rPr>
              <a:t>绝对测振</a:t>
            </a:r>
          </a:p>
          <a:p>
            <a:pPr algn="ctr" eaLnBrk="1" hangingPunct="1">
              <a:lnSpc>
                <a:spcPct val="150000"/>
              </a:lnSpc>
              <a:spcBef>
                <a:spcPct val="0"/>
              </a:spcBef>
              <a:buFontTx/>
              <a:buNone/>
            </a:pPr>
            <a:r>
              <a:rPr kumimoji="1" lang="zh-CN" altLang="en-US" sz="1600" b="1">
                <a:solidFill>
                  <a:schemeClr val="tx2"/>
                </a:solidFill>
                <a:latin typeface="微软雅黑" panose="020B0503020204020204" pitchFamily="34" charset="-122"/>
                <a:ea typeface="微软雅黑" panose="020B0503020204020204" pitchFamily="34" charset="-122"/>
              </a:rPr>
              <a:t>固定部分在被测体上，可动部分做相对运动。</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1">
            <a:extLst>
              <a:ext uri="{FF2B5EF4-FFF2-40B4-BE49-F238E27FC236}">
                <a16:creationId xmlns:a16="http://schemas.microsoft.com/office/drawing/2014/main" id="{55A802B8-C6DF-4F19-B511-463513C2CFC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8112725-3E0E-4C6F-92C0-1FF6EFD883DC}" type="slidenum">
              <a:rPr lang="en-US" altLang="zh-CN" smtClean="0"/>
              <a:pPr/>
              <a:t>52</a:t>
            </a:fld>
            <a:endParaRPr lang="en-US" altLang="zh-CN"/>
          </a:p>
        </p:txBody>
      </p:sp>
      <p:sp>
        <p:nvSpPr>
          <p:cNvPr id="9" name="矩形 8">
            <a:extLst>
              <a:ext uri="{FF2B5EF4-FFF2-40B4-BE49-F238E27FC236}">
                <a16:creationId xmlns:a16="http://schemas.microsoft.com/office/drawing/2014/main" id="{FDD671E9-0CF7-4AC2-B32F-1467F5A65F7A}"/>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90116" name="Text Box 2">
            <a:extLst>
              <a:ext uri="{FF2B5EF4-FFF2-40B4-BE49-F238E27FC236}">
                <a16:creationId xmlns:a16="http://schemas.microsoft.com/office/drawing/2014/main" id="{0F7A8205-1C47-4330-81F8-34ACD84367E9}"/>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5 </a:t>
            </a:r>
            <a:r>
              <a:rPr kumimoji="1" lang="zh-CN" altLang="en-US" sz="2800" b="1">
                <a:solidFill>
                  <a:srgbClr val="C00000"/>
                </a:solidFill>
                <a:latin typeface="微软雅黑" panose="020B0503020204020204" pitchFamily="34" charset="-122"/>
                <a:ea typeface="微软雅黑" panose="020B0503020204020204" pitchFamily="34" charset="-122"/>
              </a:rPr>
              <a:t>动态特性（以电容式加速度传感器 为例）</a:t>
            </a:r>
          </a:p>
        </p:txBody>
      </p:sp>
      <p:pic>
        <p:nvPicPr>
          <p:cNvPr id="90117" name="Picture 2" descr="8_3">
            <a:extLst>
              <a:ext uri="{FF2B5EF4-FFF2-40B4-BE49-F238E27FC236}">
                <a16:creationId xmlns:a16="http://schemas.microsoft.com/office/drawing/2014/main" id="{99A9E3FE-8C0E-49E3-89BB-3E451867AC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38" y="947738"/>
            <a:ext cx="4587875" cy="204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18" name="Picture 3" descr="9_1">
            <a:extLst>
              <a:ext uri="{FF2B5EF4-FFF2-40B4-BE49-F238E27FC236}">
                <a16:creationId xmlns:a16="http://schemas.microsoft.com/office/drawing/2014/main" id="{069DE718-F339-47AC-8B1B-45675FBC26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 y="4030663"/>
            <a:ext cx="4586288"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19" name="Picture 4" descr="9_2">
            <a:extLst>
              <a:ext uri="{FF2B5EF4-FFF2-40B4-BE49-F238E27FC236}">
                <a16:creationId xmlns:a16="http://schemas.microsoft.com/office/drawing/2014/main" id="{FFB0D932-199E-463A-8EF5-DB5B23BC7E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0113" y="4244975"/>
            <a:ext cx="423862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20" name="Text Box 5">
            <a:extLst>
              <a:ext uri="{FF2B5EF4-FFF2-40B4-BE49-F238E27FC236}">
                <a16:creationId xmlns:a16="http://schemas.microsoft.com/office/drawing/2014/main" id="{EFA29237-FAC6-42F3-BF75-34453F2D18E4}"/>
              </a:ext>
            </a:extLst>
          </p:cNvPr>
          <p:cNvSpPr txBox="1">
            <a:spLocks noChangeArrowheads="1"/>
          </p:cNvSpPr>
          <p:nvPr/>
        </p:nvSpPr>
        <p:spPr bwMode="auto">
          <a:xfrm>
            <a:off x="4710113" y="765175"/>
            <a:ext cx="4376737" cy="3270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●不依赖外部信息，在运动体的内部可以测出物体的加速度。</a:t>
            </a: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●对所测得的加速度 ，积分一次可得速度</a:t>
            </a:r>
            <a:r>
              <a:rPr lang="en-US" altLang="zh-CN" sz="2000" b="1" dirty="0">
                <a:latin typeface="微软雅黑" panose="020B0503020204020204" pitchFamily="34" charset="-122"/>
                <a:ea typeface="微软雅黑" panose="020B0503020204020204" pitchFamily="34" charset="-122"/>
              </a:rPr>
              <a:t>v</a:t>
            </a:r>
            <a:r>
              <a:rPr lang="zh-CN" altLang="en-US" sz="2000" b="1" dirty="0">
                <a:latin typeface="微软雅黑" panose="020B0503020204020204" pitchFamily="34" charset="-122"/>
                <a:ea typeface="微软雅黑" panose="020B0503020204020204" pitchFamily="34" charset="-122"/>
              </a:rPr>
              <a:t>，积分两次得载体在积分时间间隔中的位移。如果再考虑初始条件，就能确定载体在任一时刻的位置与速度。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灯片编号占位符 1">
            <a:extLst>
              <a:ext uri="{FF2B5EF4-FFF2-40B4-BE49-F238E27FC236}">
                <a16:creationId xmlns:a16="http://schemas.microsoft.com/office/drawing/2014/main" id="{8280551D-335A-45A1-A308-E73BCFE06994}"/>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E86B337D-F30D-4FA8-B933-9E28DD2EEEC9}" type="slidenum">
              <a:rPr lang="en-US" altLang="zh-CN" smtClean="0"/>
              <a:pPr/>
              <a:t>53</a:t>
            </a:fld>
            <a:endParaRPr lang="en-US" altLang="zh-CN"/>
          </a:p>
        </p:txBody>
      </p:sp>
      <p:sp>
        <p:nvSpPr>
          <p:cNvPr id="9" name="矩形 8">
            <a:extLst>
              <a:ext uri="{FF2B5EF4-FFF2-40B4-BE49-F238E27FC236}">
                <a16:creationId xmlns:a16="http://schemas.microsoft.com/office/drawing/2014/main" id="{86F5A98C-A655-439C-B359-F31A3FD1E4BE}"/>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92164" name="Text Box 2">
            <a:extLst>
              <a:ext uri="{FF2B5EF4-FFF2-40B4-BE49-F238E27FC236}">
                <a16:creationId xmlns:a16="http://schemas.microsoft.com/office/drawing/2014/main" id="{FDE4D3D9-5E5B-4419-B053-C37CD7C882CA}"/>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5 </a:t>
            </a:r>
            <a:r>
              <a:rPr kumimoji="1" lang="zh-CN" altLang="en-US" sz="2800" b="1">
                <a:solidFill>
                  <a:srgbClr val="C00000"/>
                </a:solidFill>
                <a:latin typeface="微软雅黑" panose="020B0503020204020204" pitchFamily="34" charset="-122"/>
                <a:ea typeface="微软雅黑" panose="020B0503020204020204" pitchFamily="34" charset="-122"/>
              </a:rPr>
              <a:t>动态特性（以电容式加速度传感器 为例）</a:t>
            </a:r>
          </a:p>
        </p:txBody>
      </p:sp>
      <p:pic>
        <p:nvPicPr>
          <p:cNvPr id="92165" name="Picture 4">
            <a:extLst>
              <a:ext uri="{FF2B5EF4-FFF2-40B4-BE49-F238E27FC236}">
                <a16:creationId xmlns:a16="http://schemas.microsoft.com/office/drawing/2014/main" id="{D9CD14F2-2085-4AED-9D14-30B9418CBA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1038225"/>
            <a:ext cx="4175125" cy="303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2166" name="Object 5">
            <a:extLst>
              <a:ext uri="{FF2B5EF4-FFF2-40B4-BE49-F238E27FC236}">
                <a16:creationId xmlns:a16="http://schemas.microsoft.com/office/drawing/2014/main" id="{5D6CCF8C-EC1D-48B9-B23C-43868979F9E3}"/>
              </a:ext>
            </a:extLst>
          </p:cNvPr>
          <p:cNvGraphicFramePr>
            <a:graphicFrameLocks noChangeAspect="1"/>
          </p:cNvGraphicFramePr>
          <p:nvPr/>
        </p:nvGraphicFramePr>
        <p:xfrm>
          <a:off x="754063" y="4073525"/>
          <a:ext cx="7345362" cy="2054225"/>
        </p:xfrm>
        <a:graphic>
          <a:graphicData uri="http://schemas.openxmlformats.org/presentationml/2006/ole">
            <mc:AlternateContent xmlns:mc="http://schemas.openxmlformats.org/markup-compatibility/2006">
              <mc:Choice xmlns:v="urn:schemas-microsoft-com:vml" Requires="v">
                <p:oleObj spid="_x0000_s92223" name="Equation" r:id="rId5" imgW="4724400" imgH="1320800" progId="Equation.DSMT4">
                  <p:embed/>
                </p:oleObj>
              </mc:Choice>
              <mc:Fallback>
                <p:oleObj name="Equation" r:id="rId5" imgW="4724400" imgH="13208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4063" y="4073525"/>
                        <a:ext cx="7345362" cy="2054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67" name="Text Box 6">
            <a:extLst>
              <a:ext uri="{FF2B5EF4-FFF2-40B4-BE49-F238E27FC236}">
                <a16:creationId xmlns:a16="http://schemas.microsoft.com/office/drawing/2014/main" id="{E266F77A-F3C3-4F1E-924A-7790E77CF2A2}"/>
              </a:ext>
            </a:extLst>
          </p:cNvPr>
          <p:cNvSpPr txBox="1">
            <a:spLocks noChangeArrowheads="1"/>
          </p:cNvSpPr>
          <p:nvPr/>
        </p:nvSpPr>
        <p:spPr bwMode="auto">
          <a:xfrm>
            <a:off x="4500563" y="1317625"/>
            <a:ext cx="4429125" cy="142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kumimoji="1" lang="en-US" altLang="zh-CN" sz="2000" b="1" dirty="0">
                <a:latin typeface="微软雅黑" panose="020B0503020204020204" pitchFamily="34" charset="-122"/>
                <a:ea typeface="微软雅黑" panose="020B0503020204020204" pitchFamily="34" charset="-122"/>
              </a:rPr>
              <a:t>●</a:t>
            </a:r>
            <a:r>
              <a:rPr kumimoji="1" lang="zh-CN" altLang="en-US" sz="2000" b="1" dirty="0">
                <a:latin typeface="微软雅黑" panose="020B0503020204020204" pitchFamily="34" charset="-122"/>
                <a:ea typeface="微软雅黑" panose="020B0503020204020204" pitchFamily="34" charset="-122"/>
              </a:rPr>
              <a:t>建立了相对运动和绝对运动的联系。</a:t>
            </a:r>
          </a:p>
          <a:p>
            <a:pPr eaLnBrk="1" hangingPunct="1">
              <a:lnSpc>
                <a:spcPct val="150000"/>
              </a:lnSpc>
              <a:spcBef>
                <a:spcPct val="0"/>
              </a:spcBef>
              <a:buFontTx/>
              <a:buNone/>
            </a:pPr>
            <a:r>
              <a:rPr kumimoji="1" lang="zh-CN" altLang="en-US"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将</a:t>
            </a:r>
            <a:r>
              <a:rPr lang="zh-CN" altLang="en-US" sz="2000" b="1" dirty="0">
                <a:solidFill>
                  <a:srgbClr val="FF0000"/>
                </a:solidFill>
                <a:latin typeface="微软雅黑" panose="020B0503020204020204" pitchFamily="34" charset="-122"/>
                <a:ea typeface="微软雅黑" panose="020B0503020204020204" pitchFamily="34" charset="-122"/>
              </a:rPr>
              <a:t>被测参数，</a:t>
            </a:r>
            <a:r>
              <a:rPr lang="zh-CN" altLang="en-US" sz="2000" b="1" dirty="0">
                <a:latin typeface="微软雅黑" panose="020B0503020204020204" pitchFamily="34" charset="-122"/>
                <a:ea typeface="微软雅黑" panose="020B0503020204020204" pitchFamily="34" charset="-122"/>
              </a:rPr>
              <a:t>即</a:t>
            </a:r>
            <a:r>
              <a:rPr lang="zh-CN" altLang="en-US" sz="2000" b="1" dirty="0">
                <a:solidFill>
                  <a:srgbClr val="FF0000"/>
                </a:solidFill>
                <a:latin typeface="微软雅黑" panose="020B0503020204020204" pitchFamily="34" charset="-122"/>
                <a:ea typeface="微软雅黑" panose="020B0503020204020204" pitchFamily="34" charset="-122"/>
              </a:rPr>
              <a:t>加速度</a:t>
            </a:r>
            <a:r>
              <a:rPr lang="zh-CN" altLang="en-US" sz="2000" b="1" dirty="0">
                <a:latin typeface="微软雅黑" panose="020B0503020204020204" pitchFamily="34" charset="-122"/>
                <a:ea typeface="微软雅黑" panose="020B0503020204020204" pitchFamily="34" charset="-122"/>
              </a:rPr>
              <a:t>的大小，变为</a:t>
            </a:r>
            <a:r>
              <a:rPr lang="zh-CN" altLang="en-US" sz="2000" b="1" dirty="0">
                <a:solidFill>
                  <a:srgbClr val="FF0000"/>
                </a:solidFill>
                <a:latin typeface="微软雅黑" panose="020B0503020204020204" pitchFamily="34" charset="-122"/>
                <a:ea typeface="微软雅黑" panose="020B0503020204020204" pitchFamily="34" charset="-122"/>
              </a:rPr>
              <a:t>电容动极板相对位移</a:t>
            </a:r>
            <a:r>
              <a:rPr lang="en-US" altLang="zh-CN" sz="2000" b="1" dirty="0">
                <a:solidFill>
                  <a:srgbClr val="FF0000"/>
                </a:solidFill>
                <a:latin typeface="微软雅黑" panose="020B0503020204020204" pitchFamily="34" charset="-122"/>
                <a:ea typeface="微软雅黑" panose="020B0503020204020204" pitchFamily="34" charset="-122"/>
              </a:rPr>
              <a:t>y</a:t>
            </a:r>
            <a:r>
              <a:rPr lang="zh-CN" altLang="en-US" sz="2000" b="1" dirty="0">
                <a:latin typeface="微软雅黑" panose="020B0503020204020204" pitchFamily="34" charset="-122"/>
                <a:ea typeface="微软雅黑" panose="020B0503020204020204" pitchFamily="34" charset="-122"/>
              </a:rPr>
              <a:t>的转换。</a:t>
            </a:r>
          </a:p>
        </p:txBody>
      </p:sp>
      <p:cxnSp>
        <p:nvCxnSpPr>
          <p:cNvPr id="3" name="直接连接符 2">
            <a:extLst>
              <a:ext uri="{FF2B5EF4-FFF2-40B4-BE49-F238E27FC236}">
                <a16:creationId xmlns:a16="http://schemas.microsoft.com/office/drawing/2014/main" id="{0DAA1FF6-54DB-419D-B2EC-456819F509B0}"/>
              </a:ext>
            </a:extLst>
          </p:cNvPr>
          <p:cNvCxnSpPr/>
          <p:nvPr/>
        </p:nvCxnSpPr>
        <p:spPr>
          <a:xfrm>
            <a:off x="5076056" y="4437112"/>
            <a:ext cx="864096"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2C0E759D-9B33-430A-8CAE-CD0E5EAB2318}"/>
              </a:ext>
            </a:extLst>
          </p:cNvPr>
          <p:cNvCxnSpPr/>
          <p:nvPr/>
        </p:nvCxnSpPr>
        <p:spPr>
          <a:xfrm>
            <a:off x="6084168" y="4437112"/>
            <a:ext cx="864096"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6520296E-5962-4FF6-A6B9-9D56ABBAADB3}"/>
              </a:ext>
            </a:extLst>
          </p:cNvPr>
          <p:cNvCxnSpPr/>
          <p:nvPr/>
        </p:nvCxnSpPr>
        <p:spPr>
          <a:xfrm>
            <a:off x="7164288" y="4437112"/>
            <a:ext cx="864096"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1">
            <a:extLst>
              <a:ext uri="{FF2B5EF4-FFF2-40B4-BE49-F238E27FC236}">
                <a16:creationId xmlns:a16="http://schemas.microsoft.com/office/drawing/2014/main" id="{A951EBFB-BEC4-4C45-A459-69AC90F2C794}"/>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B62D794B-E032-44A9-B852-2C11C6EFC132}" type="slidenum">
              <a:rPr lang="en-US" altLang="zh-CN" smtClean="0"/>
              <a:pPr/>
              <a:t>54</a:t>
            </a:fld>
            <a:endParaRPr lang="en-US" altLang="zh-CN"/>
          </a:p>
        </p:txBody>
      </p:sp>
      <p:sp>
        <p:nvSpPr>
          <p:cNvPr id="9" name="矩形 8">
            <a:extLst>
              <a:ext uri="{FF2B5EF4-FFF2-40B4-BE49-F238E27FC236}">
                <a16:creationId xmlns:a16="http://schemas.microsoft.com/office/drawing/2014/main" id="{084A6F7C-6620-4E7C-B998-8CA26DEF2444}"/>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94212" name="Text Box 2">
            <a:extLst>
              <a:ext uri="{FF2B5EF4-FFF2-40B4-BE49-F238E27FC236}">
                <a16:creationId xmlns:a16="http://schemas.microsoft.com/office/drawing/2014/main" id="{14608DEE-DF99-4194-AA46-DD285C9549ED}"/>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5 </a:t>
            </a:r>
            <a:r>
              <a:rPr kumimoji="1" lang="zh-CN" altLang="en-US" sz="2800" b="1">
                <a:solidFill>
                  <a:srgbClr val="C00000"/>
                </a:solidFill>
                <a:latin typeface="微软雅黑" panose="020B0503020204020204" pitchFamily="34" charset="-122"/>
                <a:ea typeface="微软雅黑" panose="020B0503020204020204" pitchFamily="34" charset="-122"/>
              </a:rPr>
              <a:t>动态特性（以电容式加速度传感器 为例）</a:t>
            </a:r>
          </a:p>
        </p:txBody>
      </p:sp>
      <p:graphicFrame>
        <p:nvGraphicFramePr>
          <p:cNvPr id="94213" name="Object 12">
            <a:extLst>
              <a:ext uri="{FF2B5EF4-FFF2-40B4-BE49-F238E27FC236}">
                <a16:creationId xmlns:a16="http://schemas.microsoft.com/office/drawing/2014/main" id="{D3572D7B-904A-475B-9259-00E2E6475747}"/>
              </a:ext>
            </a:extLst>
          </p:cNvPr>
          <p:cNvGraphicFramePr>
            <a:graphicFrameLocks noChangeAspect="1"/>
          </p:cNvGraphicFramePr>
          <p:nvPr/>
        </p:nvGraphicFramePr>
        <p:xfrm>
          <a:off x="127000" y="1050925"/>
          <a:ext cx="4438650" cy="4968875"/>
        </p:xfrm>
        <a:graphic>
          <a:graphicData uri="http://schemas.openxmlformats.org/presentationml/2006/ole">
            <mc:AlternateContent xmlns:mc="http://schemas.openxmlformats.org/markup-compatibility/2006">
              <mc:Choice xmlns:v="urn:schemas-microsoft-com:vml" Requires="v">
                <p:oleObj spid="_x0000_s94271" name="Equation" r:id="rId4" imgW="2768600" imgH="3098800" progId="Equation.DSMT4">
                  <p:embed/>
                </p:oleObj>
              </mc:Choice>
              <mc:Fallback>
                <p:oleObj name="Equation" r:id="rId4" imgW="2768600" imgH="3098800" progId="Equation.DSMT4">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000" y="1050925"/>
                        <a:ext cx="4438650" cy="4968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94214" name="Picture 15">
            <a:extLst>
              <a:ext uri="{FF2B5EF4-FFF2-40B4-BE49-F238E27FC236}">
                <a16:creationId xmlns:a16="http://schemas.microsoft.com/office/drawing/2014/main" id="{2B1C4038-7965-410D-9548-CC1FA6EB372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37100" y="835025"/>
            <a:ext cx="4175125" cy="303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5" name="Rectangle 17">
            <a:extLst>
              <a:ext uri="{FF2B5EF4-FFF2-40B4-BE49-F238E27FC236}">
                <a16:creationId xmlns:a16="http://schemas.microsoft.com/office/drawing/2014/main" id="{1B88D5D9-E96D-48AA-8964-C6ACDD1F8211}"/>
              </a:ext>
            </a:extLst>
          </p:cNvPr>
          <p:cNvSpPr>
            <a:spLocks noChangeArrowheads="1"/>
          </p:cNvSpPr>
          <p:nvPr/>
        </p:nvSpPr>
        <p:spPr bwMode="auto">
          <a:xfrm>
            <a:off x="3851275" y="3897313"/>
            <a:ext cx="4997450" cy="1884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当被测刚体作正弦运动时，电容器的动极板亦相对于定极板作正弦运动，其振幅和相位则与传感器的结构参数</a:t>
            </a:r>
            <a:r>
              <a:rPr lang="el-GR" altLang="zh-CN" sz="2000" b="1" dirty="0">
                <a:latin typeface="微软雅黑" panose="020B0503020204020204" pitchFamily="34" charset="-122"/>
                <a:ea typeface="微软雅黑" panose="020B0503020204020204" pitchFamily="34" charset="-122"/>
              </a:rPr>
              <a:t>ξ</a:t>
            </a:r>
            <a:r>
              <a:rPr lang="en-US" altLang="zh-CN" sz="2000" b="1" dirty="0">
                <a:latin typeface="微软雅黑" panose="020B0503020204020204" pitchFamily="34" charset="-122"/>
                <a:ea typeface="微软雅黑" panose="020B0503020204020204" pitchFamily="34" charset="-122"/>
              </a:rPr>
              <a:t> </a:t>
            </a:r>
            <a:r>
              <a:rPr lang="el-GR" altLang="zh-CN" sz="2000" b="1" dirty="0">
                <a:latin typeface="微软雅黑" panose="020B0503020204020204" pitchFamily="34" charset="-122"/>
                <a:ea typeface="微软雅黑" panose="020B0503020204020204" pitchFamily="34" charset="-122"/>
              </a:rPr>
              <a:t>ω</a:t>
            </a:r>
            <a:r>
              <a:rPr lang="el-GR" altLang="zh-CN" sz="2000" b="1" baseline="-25000" dirty="0">
                <a:latin typeface="微软雅黑" panose="020B0503020204020204" pitchFamily="34" charset="-122"/>
                <a:ea typeface="微软雅黑" panose="020B0503020204020204" pitchFamily="34" charset="-122"/>
              </a:rPr>
              <a:t>0</a:t>
            </a:r>
            <a:r>
              <a:rPr lang="zh-CN" altLang="en-US" sz="2000" b="1" dirty="0">
                <a:latin typeface="微软雅黑" panose="020B0503020204020204" pitchFamily="34" charset="-122"/>
                <a:ea typeface="微软雅黑" panose="020B0503020204020204" pitchFamily="34" charset="-122"/>
              </a:rPr>
              <a:t>有关。</a:t>
            </a:r>
          </a:p>
          <a:p>
            <a:pPr>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●动极板质量轻，固有频率非常高。</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1">
            <a:extLst>
              <a:ext uri="{FF2B5EF4-FFF2-40B4-BE49-F238E27FC236}">
                <a16:creationId xmlns:a16="http://schemas.microsoft.com/office/drawing/2014/main" id="{0B4214D0-F1C1-46E4-A5B0-3539EE7AC5C9}"/>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0BF95292-9EFC-41A1-8D8D-5B2AB7CA8297}" type="slidenum">
              <a:rPr lang="en-US" altLang="zh-CN" smtClean="0"/>
              <a:pPr/>
              <a:t>55</a:t>
            </a:fld>
            <a:endParaRPr lang="en-US" altLang="zh-CN"/>
          </a:p>
        </p:txBody>
      </p:sp>
      <p:sp>
        <p:nvSpPr>
          <p:cNvPr id="9" name="矩形 8">
            <a:extLst>
              <a:ext uri="{FF2B5EF4-FFF2-40B4-BE49-F238E27FC236}">
                <a16:creationId xmlns:a16="http://schemas.microsoft.com/office/drawing/2014/main" id="{0AA84ED7-D6E6-4F2E-B4EE-79605D482132}"/>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96260" name="Text Box 2">
            <a:extLst>
              <a:ext uri="{FF2B5EF4-FFF2-40B4-BE49-F238E27FC236}">
                <a16:creationId xmlns:a16="http://schemas.microsoft.com/office/drawing/2014/main" id="{F7D6FE5A-C3D0-4CBB-B19A-CC5621F0B1B2}"/>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5 </a:t>
            </a:r>
            <a:r>
              <a:rPr kumimoji="1" lang="zh-CN" altLang="en-US" sz="2800" b="1">
                <a:solidFill>
                  <a:srgbClr val="C00000"/>
                </a:solidFill>
                <a:latin typeface="微软雅黑" panose="020B0503020204020204" pitchFamily="34" charset="-122"/>
                <a:ea typeface="微软雅黑" panose="020B0503020204020204" pitchFamily="34" charset="-122"/>
              </a:rPr>
              <a:t>动态特性（以电容式加速度传感器 为例）</a:t>
            </a:r>
          </a:p>
        </p:txBody>
      </p:sp>
      <p:sp>
        <p:nvSpPr>
          <p:cNvPr id="96261" name="Text Box 2">
            <a:extLst>
              <a:ext uri="{FF2B5EF4-FFF2-40B4-BE49-F238E27FC236}">
                <a16:creationId xmlns:a16="http://schemas.microsoft.com/office/drawing/2014/main" id="{B3BF03A1-BCAA-4728-821D-5F5E98F4C6D9}"/>
              </a:ext>
            </a:extLst>
          </p:cNvPr>
          <p:cNvSpPr txBox="1">
            <a:spLocks noChangeArrowheads="1"/>
          </p:cNvSpPr>
          <p:nvPr/>
        </p:nvSpPr>
        <p:spPr bwMode="auto">
          <a:xfrm>
            <a:off x="358775" y="1073150"/>
            <a:ext cx="8353425" cy="465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endParaRPr lang="zh-CN" altLang="en-US" sz="2000">
              <a:latin typeface="楷体_GB2312" pitchFamily="49" charset="-122"/>
              <a:ea typeface="楷体_GB2312" pitchFamily="49" charset="-122"/>
            </a:endParaRPr>
          </a:p>
          <a:p>
            <a:pPr eaLnBrk="1" hangingPunct="1">
              <a:lnSpc>
                <a:spcPct val="150000"/>
              </a:lnSpc>
              <a:spcBef>
                <a:spcPct val="0"/>
              </a:spcBef>
              <a:buFontTx/>
              <a:buNone/>
            </a:pPr>
            <a:endParaRPr lang="zh-CN" altLang="en-US" sz="2000">
              <a:latin typeface="楷体_GB2312" pitchFamily="49" charset="-122"/>
              <a:ea typeface="楷体_GB2312" pitchFamily="49" charset="-122"/>
            </a:endParaRPr>
          </a:p>
          <a:p>
            <a:pPr eaLnBrk="1" hangingPunct="1">
              <a:lnSpc>
                <a:spcPct val="150000"/>
              </a:lnSpc>
              <a:spcBef>
                <a:spcPct val="0"/>
              </a:spcBef>
              <a:buFontTx/>
              <a:buNone/>
            </a:pPr>
            <a:endParaRPr lang="zh-CN" altLang="en-US" sz="2000">
              <a:latin typeface="楷体_GB2312" pitchFamily="49" charset="-122"/>
              <a:ea typeface="楷体_GB2312" pitchFamily="49" charset="-122"/>
            </a:endParaRPr>
          </a:p>
          <a:p>
            <a:pPr eaLnBrk="1" hangingPunct="1">
              <a:lnSpc>
                <a:spcPct val="150000"/>
              </a:lnSpc>
              <a:spcBef>
                <a:spcPct val="0"/>
              </a:spcBef>
              <a:buFontTx/>
              <a:buNone/>
            </a:pPr>
            <a:endParaRPr lang="zh-CN" altLang="en-US" sz="2000">
              <a:latin typeface="楷体_GB2312" pitchFamily="49" charset="-122"/>
              <a:ea typeface="楷体_GB2312" pitchFamily="49" charset="-122"/>
            </a:endParaRPr>
          </a:p>
          <a:p>
            <a:pPr eaLnBrk="1" hangingPunct="1">
              <a:lnSpc>
                <a:spcPct val="150000"/>
              </a:lnSpc>
              <a:spcBef>
                <a:spcPct val="0"/>
              </a:spcBef>
              <a:buFontTx/>
              <a:buNone/>
            </a:pPr>
            <a:endParaRPr lang="zh-CN" altLang="en-US" sz="2000">
              <a:latin typeface="楷体_GB2312" pitchFamily="49" charset="-122"/>
              <a:ea typeface="楷体_GB2312" pitchFamily="49" charset="-122"/>
            </a:endParaRPr>
          </a:p>
          <a:p>
            <a:pPr eaLnBrk="1" hangingPunct="1">
              <a:lnSpc>
                <a:spcPct val="150000"/>
              </a:lnSpc>
              <a:spcBef>
                <a:spcPct val="0"/>
              </a:spcBef>
              <a:buFontTx/>
              <a:buNone/>
            </a:pPr>
            <a:endParaRPr lang="zh-CN" altLang="en-US" sz="2000">
              <a:latin typeface="楷体_GB2312" pitchFamily="49" charset="-122"/>
              <a:ea typeface="楷体_GB2312" pitchFamily="49" charset="-122"/>
            </a:endParaRPr>
          </a:p>
          <a:p>
            <a:pPr eaLnBrk="1" hangingPunct="1">
              <a:lnSpc>
                <a:spcPct val="150000"/>
              </a:lnSpc>
              <a:spcBef>
                <a:spcPct val="0"/>
              </a:spcBef>
              <a:buFontTx/>
              <a:buNone/>
            </a:pPr>
            <a:endParaRPr lang="zh-CN" altLang="en-US" sz="2000">
              <a:latin typeface="楷体_GB2312" pitchFamily="49" charset="-122"/>
              <a:ea typeface="楷体_GB2312" pitchFamily="49" charset="-122"/>
            </a:endParaRPr>
          </a:p>
          <a:p>
            <a:pPr eaLnBrk="1" hangingPunct="1">
              <a:lnSpc>
                <a:spcPct val="150000"/>
              </a:lnSpc>
              <a:spcBef>
                <a:spcPct val="0"/>
              </a:spcBef>
              <a:buFontTx/>
              <a:buNone/>
            </a:pPr>
            <a:endParaRPr lang="zh-CN" altLang="en-US" sz="2000">
              <a:latin typeface="楷体_GB2312" pitchFamily="49" charset="-122"/>
              <a:ea typeface="楷体_GB2312" pitchFamily="49" charset="-122"/>
            </a:endParaRPr>
          </a:p>
          <a:p>
            <a:pPr eaLnBrk="1" hangingPunct="1">
              <a:lnSpc>
                <a:spcPct val="150000"/>
              </a:lnSpc>
              <a:spcBef>
                <a:spcPct val="0"/>
              </a:spcBef>
              <a:buFontTx/>
              <a:buNone/>
            </a:pPr>
            <a:r>
              <a:rPr lang="zh-CN" altLang="en-US" sz="2000">
                <a:latin typeface="楷体_GB2312" pitchFamily="49" charset="-122"/>
                <a:ea typeface="楷体_GB2312" pitchFamily="49" charset="-122"/>
              </a:rPr>
              <a:t>结论：可以提高固有频率，增大频区，但灵敏度降低。</a:t>
            </a:r>
          </a:p>
          <a:p>
            <a:pPr eaLnBrk="1" hangingPunct="1">
              <a:lnSpc>
                <a:spcPct val="150000"/>
              </a:lnSpc>
              <a:spcBef>
                <a:spcPct val="0"/>
              </a:spcBef>
              <a:buFontTx/>
              <a:buNone/>
            </a:pPr>
            <a:r>
              <a:rPr lang="zh-CN" altLang="en-US" sz="2000">
                <a:latin typeface="楷体_GB2312" pitchFamily="49" charset="-122"/>
                <a:ea typeface="楷体_GB2312" pitchFamily="49" charset="-122"/>
              </a:rPr>
              <a:t>     </a:t>
            </a:r>
          </a:p>
        </p:txBody>
      </p:sp>
      <p:graphicFrame>
        <p:nvGraphicFramePr>
          <p:cNvPr id="96262" name="Object 12">
            <a:extLst>
              <a:ext uri="{FF2B5EF4-FFF2-40B4-BE49-F238E27FC236}">
                <a16:creationId xmlns:a16="http://schemas.microsoft.com/office/drawing/2014/main" id="{A9FA4B61-08A0-4B75-BAF9-ACE33714D929}"/>
              </a:ext>
            </a:extLst>
          </p:cNvPr>
          <p:cNvGraphicFramePr>
            <a:graphicFrameLocks noChangeAspect="1"/>
          </p:cNvGraphicFramePr>
          <p:nvPr/>
        </p:nvGraphicFramePr>
        <p:xfrm>
          <a:off x="355600" y="1254125"/>
          <a:ext cx="6362700" cy="3444875"/>
        </p:xfrm>
        <a:graphic>
          <a:graphicData uri="http://schemas.openxmlformats.org/presentationml/2006/ole">
            <mc:AlternateContent xmlns:mc="http://schemas.openxmlformats.org/markup-compatibility/2006">
              <mc:Choice xmlns:v="urn:schemas-microsoft-com:vml" Requires="v">
                <p:oleObj spid="_x0000_s96375" name="Equation" r:id="rId4" imgW="3378200" imgH="1828800" progId="Equation.DSMT4">
                  <p:embed/>
                </p:oleObj>
              </mc:Choice>
              <mc:Fallback>
                <p:oleObj name="Equation" r:id="rId4" imgW="3378200" imgH="1828800" progId="Equation.DSMT4">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5600" y="1254125"/>
                        <a:ext cx="6362700" cy="3444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96263" name="Picture 13">
            <a:extLst>
              <a:ext uri="{FF2B5EF4-FFF2-40B4-BE49-F238E27FC236}">
                <a16:creationId xmlns:a16="http://schemas.microsoft.com/office/drawing/2014/main" id="{5ADA1C83-DB0E-4E69-8198-F54A3A23B3B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4876" y="810143"/>
            <a:ext cx="3455988" cy="2375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6264" name="Object 14">
            <a:extLst>
              <a:ext uri="{FF2B5EF4-FFF2-40B4-BE49-F238E27FC236}">
                <a16:creationId xmlns:a16="http://schemas.microsoft.com/office/drawing/2014/main" id="{FB5E5267-41F1-469D-8BE7-ADB67D188ED3}"/>
              </a:ext>
            </a:extLst>
          </p:cNvPr>
          <p:cNvGraphicFramePr>
            <a:graphicFrameLocks noChangeAspect="1"/>
          </p:cNvGraphicFramePr>
          <p:nvPr/>
        </p:nvGraphicFramePr>
        <p:xfrm>
          <a:off x="6884988" y="4129088"/>
          <a:ext cx="1420812" cy="1954212"/>
        </p:xfrm>
        <a:graphic>
          <a:graphicData uri="http://schemas.openxmlformats.org/presentationml/2006/ole">
            <mc:AlternateContent xmlns:mc="http://schemas.openxmlformats.org/markup-compatibility/2006">
              <mc:Choice xmlns:v="urn:schemas-microsoft-com:vml" Requires="v">
                <p:oleObj spid="_x0000_s96376" name="Equation" r:id="rId7" imgW="685800" imgH="889000" progId="Equation.DSMT4">
                  <p:embed/>
                </p:oleObj>
              </mc:Choice>
              <mc:Fallback>
                <p:oleObj name="Equation" r:id="rId7" imgW="685800" imgH="889000" progId="Equation.DSMT4">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84988" y="4129088"/>
                        <a:ext cx="1420812" cy="1954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灯片编号占位符 1">
            <a:extLst>
              <a:ext uri="{FF2B5EF4-FFF2-40B4-BE49-F238E27FC236}">
                <a16:creationId xmlns:a16="http://schemas.microsoft.com/office/drawing/2014/main" id="{A0115D2E-8420-48C3-A042-80757EB01375}"/>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5A1FDA7-47A5-4933-9BB8-9439CF90B474}" type="slidenum">
              <a:rPr lang="en-US" altLang="zh-CN" smtClean="0"/>
              <a:pPr/>
              <a:t>56</a:t>
            </a:fld>
            <a:endParaRPr lang="en-US" altLang="zh-CN"/>
          </a:p>
        </p:txBody>
      </p:sp>
      <p:sp>
        <p:nvSpPr>
          <p:cNvPr id="9" name="矩形 8">
            <a:extLst>
              <a:ext uri="{FF2B5EF4-FFF2-40B4-BE49-F238E27FC236}">
                <a16:creationId xmlns:a16="http://schemas.microsoft.com/office/drawing/2014/main" id="{F0D28423-4099-4DDC-9B2F-945BF92221F8}"/>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98308" name="Text Box 2">
            <a:extLst>
              <a:ext uri="{FF2B5EF4-FFF2-40B4-BE49-F238E27FC236}">
                <a16:creationId xmlns:a16="http://schemas.microsoft.com/office/drawing/2014/main" id="{477E5176-C09D-45BE-A491-49B962EAE720}"/>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5 </a:t>
            </a:r>
            <a:r>
              <a:rPr kumimoji="1" lang="zh-CN" altLang="en-US" sz="2800" b="1">
                <a:solidFill>
                  <a:srgbClr val="C00000"/>
                </a:solidFill>
                <a:latin typeface="微软雅黑" panose="020B0503020204020204" pitchFamily="34" charset="-122"/>
                <a:ea typeface="微软雅黑" panose="020B0503020204020204" pitchFamily="34" charset="-122"/>
              </a:rPr>
              <a:t>动态特性（以电容式加速度传感器 为例）</a:t>
            </a:r>
          </a:p>
        </p:txBody>
      </p:sp>
      <p:sp>
        <p:nvSpPr>
          <p:cNvPr id="98309" name="矩形 1">
            <a:extLst>
              <a:ext uri="{FF2B5EF4-FFF2-40B4-BE49-F238E27FC236}">
                <a16:creationId xmlns:a16="http://schemas.microsoft.com/office/drawing/2014/main" id="{9A672663-67E6-4393-AD9B-9922C401B391}"/>
              </a:ext>
            </a:extLst>
          </p:cNvPr>
          <p:cNvSpPr>
            <a:spLocks noChangeArrowheads="1"/>
          </p:cNvSpPr>
          <p:nvPr/>
        </p:nvSpPr>
        <p:spPr bwMode="auto">
          <a:xfrm>
            <a:off x="138113" y="1125538"/>
            <a:ext cx="8737600" cy="1422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MEMS </a:t>
            </a:r>
            <a:r>
              <a:rPr lang="zh-CN" altLang="en-US" sz="2000" b="1" dirty="0">
                <a:solidFill>
                  <a:srgbClr val="0000FF"/>
                </a:solidFill>
                <a:latin typeface="微软雅黑" panose="020B0503020204020204" pitchFamily="34" charset="-122"/>
                <a:ea typeface="微软雅黑" panose="020B0503020204020204" pitchFamily="34" charset="-122"/>
              </a:rPr>
              <a:t>传感器 </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如微加速度计 、微陀螺仪 </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的 输出电容 变化量非常微弱 </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往往只有几 或几十 </a:t>
            </a:r>
            <a:r>
              <a:rPr lang="en-US" altLang="zh-CN" sz="2000" b="1" dirty="0">
                <a:latin typeface="微软雅黑" panose="020B0503020204020204" pitchFamily="34" charset="-122"/>
                <a:ea typeface="微软雅黑" panose="020B0503020204020204" pitchFamily="34" charset="-122"/>
              </a:rPr>
              <a:t>f </a:t>
            </a:r>
            <a:r>
              <a:rPr lang="en-US" altLang="zh-CN" sz="2000" b="1" dirty="0" err="1">
                <a:latin typeface="微软雅黑" panose="020B0503020204020204" pitchFamily="34" charset="-122"/>
                <a:ea typeface="微软雅黑" panose="020B0503020204020204" pitchFamily="34" charset="-122"/>
              </a:rPr>
              <a:t>F</a:t>
            </a:r>
            <a:r>
              <a:rPr lang="zh-CN" altLang="en-US" sz="2000" b="1" dirty="0">
                <a:latin typeface="微软雅黑" panose="020B0503020204020204" pitchFamily="34" charset="-122"/>
                <a:ea typeface="微软雅黑" panose="020B0503020204020204" pitchFamily="34" charset="-122"/>
              </a:rPr>
              <a:t>（</a:t>
            </a:r>
            <a:r>
              <a:rPr lang="en-US" altLang="zh-CN" sz="2000" b="1" i="1" dirty="0">
                <a:latin typeface="微软雅黑" panose="020B0503020204020204" pitchFamily="34" charset="-122"/>
                <a:ea typeface="微软雅黑" panose="020B0503020204020204" pitchFamily="34" charset="-122"/>
              </a:rPr>
              <a:t>10</a:t>
            </a:r>
            <a:r>
              <a:rPr lang="en-US" altLang="zh-CN" sz="2000" b="1" i="1" baseline="30000" dirty="0">
                <a:latin typeface="微软雅黑" panose="020B0503020204020204" pitchFamily="34" charset="-122"/>
                <a:ea typeface="微软雅黑" panose="020B0503020204020204" pitchFamily="34" charset="-122"/>
              </a:rPr>
              <a:t>-15</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 , </a:t>
            </a:r>
            <a:r>
              <a:rPr lang="zh-CN" altLang="en-US" sz="2000" b="1" dirty="0">
                <a:latin typeface="微软雅黑" panose="020B0503020204020204" pitchFamily="34" charset="-122"/>
                <a:ea typeface="微软雅黑" panose="020B0503020204020204" pitchFamily="34" charset="-122"/>
              </a:rPr>
              <a:t>对检测电路的分辨率提出了较高的要求 。 电容检测电路的设计 是 </a:t>
            </a:r>
            <a:r>
              <a:rPr lang="en-US" altLang="zh-CN"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MEMS </a:t>
            </a:r>
            <a:r>
              <a:rPr lang="zh-CN" altLang="en-US" sz="2000" b="1" dirty="0">
                <a:latin typeface="微软雅黑" panose="020B0503020204020204" pitchFamily="34" charset="-122"/>
                <a:ea typeface="微软雅黑" panose="020B0503020204020204" pitchFamily="34" charset="-122"/>
              </a:rPr>
              <a:t>传感 器设计中的主要问题之一 。</a:t>
            </a:r>
          </a:p>
        </p:txBody>
      </p:sp>
      <p:sp>
        <p:nvSpPr>
          <p:cNvPr id="98310" name="矩形 2">
            <a:extLst>
              <a:ext uri="{FF2B5EF4-FFF2-40B4-BE49-F238E27FC236}">
                <a16:creationId xmlns:a16="http://schemas.microsoft.com/office/drawing/2014/main" id="{AE37E9B6-A480-40FC-AD69-94CAF662262D}"/>
              </a:ext>
            </a:extLst>
          </p:cNvPr>
          <p:cNvSpPr>
            <a:spLocks noChangeArrowheads="1"/>
          </p:cNvSpPr>
          <p:nvPr/>
        </p:nvSpPr>
        <p:spPr bwMode="auto">
          <a:xfrm>
            <a:off x="53975" y="2924175"/>
            <a:ext cx="4217988" cy="2346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MS3110芯片是美国Irvine传感器公司生产的一种通用电容读取芯片，具有超低噪声特点，可以读取低至4.0 aF/Hz</a:t>
            </a:r>
            <a:r>
              <a:rPr lang="en-US" altLang="zh-CN" sz="2000" b="1" baseline="30000" dirty="0">
                <a:latin typeface="微软雅黑" panose="020B0503020204020204" pitchFamily="34" charset="-122"/>
                <a:ea typeface="微软雅黑" panose="020B0503020204020204" pitchFamily="34" charset="-122"/>
              </a:rPr>
              <a:t>1/2</a:t>
            </a:r>
            <a:r>
              <a:rPr lang="zh-CN" altLang="en-US" sz="2000" b="1" dirty="0">
                <a:latin typeface="微软雅黑" panose="020B0503020204020204" pitchFamily="34" charset="-122"/>
                <a:ea typeface="微软雅黑" panose="020B0503020204020204" pitchFamily="34" charset="-122"/>
              </a:rPr>
              <a:t>的电容变化，适用于高性能要求的电容式测量电路</a:t>
            </a:r>
          </a:p>
        </p:txBody>
      </p:sp>
      <p:pic>
        <p:nvPicPr>
          <p:cNvPr id="98311" name="图片 3">
            <a:extLst>
              <a:ext uri="{FF2B5EF4-FFF2-40B4-BE49-F238E27FC236}">
                <a16:creationId xmlns:a16="http://schemas.microsoft.com/office/drawing/2014/main" id="{34AC5D0D-811D-4908-8353-5D6D31CE00C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71963" y="2925763"/>
            <a:ext cx="4706937" cy="199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C8AF815B-60C9-436A-AF90-9F9FA441D1DD}"/>
              </a:ext>
            </a:extLst>
          </p:cNvPr>
          <p:cNvSpPr/>
          <p:nvPr/>
        </p:nvSpPr>
        <p:spPr>
          <a:xfrm>
            <a:off x="755576" y="5795972"/>
            <a:ext cx="1656184" cy="369332"/>
          </a:xfrm>
          <a:prstGeom prst="rect">
            <a:avLst/>
          </a:prstGeom>
        </p:spPr>
        <p:txBody>
          <a:bodyPr wrap="square">
            <a:spAutoFit/>
          </a:bodyPr>
          <a:lstStyle/>
          <a:p>
            <a:r>
              <a:rPr lang="en-US" altLang="zh-CN" b="1" dirty="0">
                <a:solidFill>
                  <a:srgbClr val="0000FF"/>
                </a:solidFill>
                <a:latin typeface="微软雅黑" panose="020B0503020204020204" pitchFamily="34" charset="-122"/>
                <a:ea typeface="微软雅黑" panose="020B0503020204020204" pitchFamily="34" charset="-122"/>
              </a:rPr>
              <a:t>1aF=</a:t>
            </a:r>
            <a:r>
              <a:rPr lang="en-US" altLang="zh-CN" b="1" i="1" dirty="0">
                <a:solidFill>
                  <a:srgbClr val="0000FF"/>
                </a:solidFill>
                <a:latin typeface="微软雅黑" panose="020B0503020204020204" pitchFamily="34" charset="-122"/>
                <a:ea typeface="微软雅黑" panose="020B0503020204020204" pitchFamily="34" charset="-122"/>
              </a:rPr>
              <a:t>10</a:t>
            </a:r>
            <a:r>
              <a:rPr lang="en-US" altLang="zh-CN" b="1" i="1" baseline="30000" dirty="0">
                <a:solidFill>
                  <a:srgbClr val="0000FF"/>
                </a:solidFill>
                <a:latin typeface="微软雅黑" panose="020B0503020204020204" pitchFamily="34" charset="-122"/>
                <a:ea typeface="微软雅黑" panose="020B0503020204020204" pitchFamily="34" charset="-122"/>
              </a:rPr>
              <a:t>-18 </a:t>
            </a:r>
            <a:r>
              <a:rPr lang="en-US" altLang="zh-CN" b="1" dirty="0">
                <a:solidFill>
                  <a:srgbClr val="0000FF"/>
                </a:solidFill>
                <a:latin typeface="微软雅黑" panose="020B0503020204020204" pitchFamily="34" charset="-122"/>
                <a:ea typeface="微软雅黑" panose="020B0503020204020204" pitchFamily="34" charset="-122"/>
              </a:rPr>
              <a:t>F</a:t>
            </a:r>
            <a:endParaRPr lang="zh-CN" altLang="en-US" dirty="0">
              <a:solidFill>
                <a:srgbClr val="0000FF"/>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1">
            <a:extLst>
              <a:ext uri="{FF2B5EF4-FFF2-40B4-BE49-F238E27FC236}">
                <a16:creationId xmlns:a16="http://schemas.microsoft.com/office/drawing/2014/main" id="{FD8CD12F-25B2-413B-A1E6-6B102D049902}"/>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60F063F6-B5CC-43EC-9BAD-627711C2D2DD}" type="slidenum">
              <a:rPr lang="en-US" altLang="zh-CN" smtClean="0"/>
              <a:pPr/>
              <a:t>57</a:t>
            </a:fld>
            <a:endParaRPr lang="en-US" altLang="zh-CN"/>
          </a:p>
        </p:txBody>
      </p:sp>
      <p:sp>
        <p:nvSpPr>
          <p:cNvPr id="9" name="矩形 8">
            <a:extLst>
              <a:ext uri="{FF2B5EF4-FFF2-40B4-BE49-F238E27FC236}">
                <a16:creationId xmlns:a16="http://schemas.microsoft.com/office/drawing/2014/main" id="{D8AFFFE7-9EFB-40BD-B9D9-2A9C77215626}"/>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100356" name="Text Box 2">
            <a:extLst>
              <a:ext uri="{FF2B5EF4-FFF2-40B4-BE49-F238E27FC236}">
                <a16:creationId xmlns:a16="http://schemas.microsoft.com/office/drawing/2014/main" id="{435E94D1-B1A7-4F99-A63B-EA2C1C27D9BB}"/>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5 </a:t>
            </a:r>
            <a:r>
              <a:rPr kumimoji="1" lang="zh-CN" altLang="en-US" sz="2800" b="1">
                <a:solidFill>
                  <a:srgbClr val="C00000"/>
                </a:solidFill>
                <a:latin typeface="微软雅黑" panose="020B0503020204020204" pitchFamily="34" charset="-122"/>
                <a:ea typeface="微软雅黑" panose="020B0503020204020204" pitchFamily="34" charset="-122"/>
              </a:rPr>
              <a:t>动态特性（以电容式加速度传感器 为例）</a:t>
            </a:r>
          </a:p>
        </p:txBody>
      </p:sp>
      <p:pic>
        <p:nvPicPr>
          <p:cNvPr id="100357" name="图片 9">
            <a:extLst>
              <a:ext uri="{FF2B5EF4-FFF2-40B4-BE49-F238E27FC236}">
                <a16:creationId xmlns:a16="http://schemas.microsoft.com/office/drawing/2014/main" id="{8E1F8CC8-FE2F-4459-B115-32DED00964C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27088" y="966788"/>
            <a:ext cx="6503987" cy="338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8" name="矩形 5">
            <a:extLst>
              <a:ext uri="{FF2B5EF4-FFF2-40B4-BE49-F238E27FC236}">
                <a16:creationId xmlns:a16="http://schemas.microsoft.com/office/drawing/2014/main" id="{1ADD6258-820C-4012-B083-C97386B2BC07}"/>
              </a:ext>
            </a:extLst>
          </p:cNvPr>
          <p:cNvSpPr>
            <a:spLocks noChangeArrowheads="1"/>
          </p:cNvSpPr>
          <p:nvPr/>
        </p:nvSpPr>
        <p:spPr bwMode="auto">
          <a:xfrm>
            <a:off x="115888" y="4530725"/>
            <a:ext cx="9005887"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b="1">
                <a:latin typeface="微软雅黑" panose="020B0503020204020204" pitchFamily="34" charset="-122"/>
                <a:ea typeface="微软雅黑" panose="020B0503020204020204" pitchFamily="34" charset="-122"/>
              </a:rPr>
              <a:t>☆MS3110由电容补偿电路、电荷放大器、低通滤波器以及驱动放大器组成。</a:t>
            </a:r>
            <a:endParaRPr lang="en-US" altLang="zh-CN" sz="2000" b="1">
              <a:latin typeface="微软雅黑" panose="020B0503020204020204" pitchFamily="34" charset="-122"/>
              <a:ea typeface="微软雅黑" panose="020B0503020204020204" pitchFamily="34" charset="-122"/>
            </a:endParaRPr>
          </a:p>
          <a:p>
            <a:pPr>
              <a:spcBef>
                <a:spcPct val="0"/>
              </a:spcBef>
              <a:buFontTx/>
              <a:buNone/>
            </a:pPr>
            <a:r>
              <a:rPr lang="zh-CN" altLang="en-US" sz="2000" b="1">
                <a:latin typeface="微软雅黑" panose="020B0503020204020204" pitchFamily="34" charset="-122"/>
                <a:ea typeface="微软雅黑" panose="020B0503020204020204" pitchFamily="34" charset="-122"/>
              </a:rPr>
              <a:t>☆ CS1IN、CS2IN为被读取差分电容对，CS1、CS2为MS3110芯片内部的可调补偿电容阵列，用于调节由于输入电容不对对称而引起的偏置。</a:t>
            </a:r>
            <a:endParaRPr lang="en-US" altLang="zh-CN" sz="2000" b="1">
              <a:latin typeface="微软雅黑" panose="020B0503020204020204" pitchFamily="34" charset="-122"/>
              <a:ea typeface="微软雅黑" panose="020B0503020204020204" pitchFamily="34" charset="-122"/>
            </a:endParaRPr>
          </a:p>
          <a:p>
            <a:pPr>
              <a:spcBef>
                <a:spcPct val="0"/>
              </a:spcBef>
              <a:buFontTx/>
              <a:buNone/>
            </a:pPr>
            <a:r>
              <a:rPr lang="zh-CN" altLang="en-US" sz="2000" b="1">
                <a:latin typeface="微软雅黑" panose="020B0503020204020204" pitchFamily="34" charset="-122"/>
                <a:ea typeface="微软雅黑" panose="020B0503020204020204" pitchFamily="34" charset="-122"/>
              </a:rPr>
              <a:t>☆ CF为电荷放大器的可调积分电容，通过调节可以设置前端积分器的增益。</a:t>
            </a:r>
            <a:endParaRPr lang="en-US" altLang="zh-CN" sz="2000" b="1">
              <a:latin typeface="微软雅黑" panose="020B0503020204020204" pitchFamily="34" charset="-122"/>
              <a:ea typeface="微软雅黑" panose="020B0503020204020204" pitchFamily="34"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灯片编号占位符 1">
            <a:extLst>
              <a:ext uri="{FF2B5EF4-FFF2-40B4-BE49-F238E27FC236}">
                <a16:creationId xmlns:a16="http://schemas.microsoft.com/office/drawing/2014/main" id="{6CB5F56F-7C0C-446A-AA34-61378E924682}"/>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90EBA77-71E7-452C-A910-3CFD4ED7B0A7}" type="slidenum">
              <a:rPr lang="en-US" altLang="zh-CN" smtClean="0"/>
              <a:pPr/>
              <a:t>58</a:t>
            </a:fld>
            <a:endParaRPr lang="en-US" altLang="zh-CN"/>
          </a:p>
        </p:txBody>
      </p:sp>
      <p:sp>
        <p:nvSpPr>
          <p:cNvPr id="9" name="矩形 8">
            <a:extLst>
              <a:ext uri="{FF2B5EF4-FFF2-40B4-BE49-F238E27FC236}">
                <a16:creationId xmlns:a16="http://schemas.microsoft.com/office/drawing/2014/main" id="{DC8223E8-3E21-4413-BE32-3CE35E6584A5}"/>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102404" name="Text Box 2">
            <a:extLst>
              <a:ext uri="{FF2B5EF4-FFF2-40B4-BE49-F238E27FC236}">
                <a16:creationId xmlns:a16="http://schemas.microsoft.com/office/drawing/2014/main" id="{39105069-1E56-4C0A-A560-3828D05A57CC}"/>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5 </a:t>
            </a:r>
            <a:r>
              <a:rPr kumimoji="1" lang="zh-CN" altLang="en-US" sz="2800" b="1">
                <a:solidFill>
                  <a:srgbClr val="C00000"/>
                </a:solidFill>
                <a:latin typeface="微软雅黑" panose="020B0503020204020204" pitchFamily="34" charset="-122"/>
                <a:ea typeface="微软雅黑" panose="020B0503020204020204" pitchFamily="34" charset="-122"/>
              </a:rPr>
              <a:t>动态特性（以电容式加速度传感器 为例）</a:t>
            </a:r>
          </a:p>
        </p:txBody>
      </p:sp>
      <p:sp>
        <p:nvSpPr>
          <p:cNvPr id="102405" name="矩形 1">
            <a:extLst>
              <a:ext uri="{FF2B5EF4-FFF2-40B4-BE49-F238E27FC236}">
                <a16:creationId xmlns:a16="http://schemas.microsoft.com/office/drawing/2014/main" id="{05BCF24C-89A1-4713-A87D-2C0DF07AB5E5}"/>
              </a:ext>
            </a:extLst>
          </p:cNvPr>
          <p:cNvSpPr>
            <a:spLocks noChangeArrowheads="1"/>
          </p:cNvSpPr>
          <p:nvPr/>
        </p:nvSpPr>
        <p:spPr bwMode="auto">
          <a:xfrm>
            <a:off x="5073650" y="1412875"/>
            <a:ext cx="3549650" cy="465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2000" b="1" dirty="0">
                <a:latin typeface="微软雅黑" panose="020B0503020204020204" pitchFamily="34" charset="-122"/>
                <a:ea typeface="微软雅黑" panose="020B0503020204020204" pitchFamily="34" charset="-122"/>
              </a:rPr>
              <a:t>MS3110</a:t>
            </a:r>
            <a:r>
              <a:rPr lang="zh-CN" altLang="en-US" sz="2000" b="1" dirty="0">
                <a:latin typeface="微软雅黑" panose="020B0503020204020204" pitchFamily="34" charset="-122"/>
                <a:ea typeface="微软雅黑" panose="020B0503020204020204" pitchFamily="34" charset="-122"/>
              </a:rPr>
              <a:t>采用</a:t>
            </a:r>
            <a:r>
              <a:rPr lang="zh-CN" altLang="en-US" sz="2000" b="1" dirty="0">
                <a:solidFill>
                  <a:srgbClr val="0000FF"/>
                </a:solidFill>
                <a:latin typeface="微软雅黑" panose="020B0503020204020204" pitchFamily="34" charset="-122"/>
                <a:ea typeface="微软雅黑" panose="020B0503020204020204" pitchFamily="34" charset="-122"/>
              </a:rPr>
              <a:t>调制解调的电容读取方法</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MS3110</a:t>
            </a:r>
            <a:r>
              <a:rPr lang="zh-CN" altLang="en-US" sz="2000" b="1" dirty="0">
                <a:latin typeface="微软雅黑" panose="020B0503020204020204" pitchFamily="34" charset="-122"/>
                <a:ea typeface="微软雅黑" panose="020B0503020204020204" pitchFamily="34" charset="-122"/>
              </a:rPr>
              <a:t>芯片内部可以</a:t>
            </a:r>
            <a:r>
              <a:rPr lang="zh-CN" altLang="en-US" sz="2000" b="1" dirty="0">
                <a:solidFill>
                  <a:srgbClr val="FF0000"/>
                </a:solidFill>
                <a:latin typeface="微软雅黑" panose="020B0503020204020204" pitchFamily="34" charset="-122"/>
                <a:ea typeface="微软雅黑" panose="020B0503020204020204" pitchFamily="34" charset="-122"/>
              </a:rPr>
              <a:t>输出两路幅值相等、相位相反的方波作为待读取电容的激励信号</a:t>
            </a:r>
            <a:r>
              <a:rPr lang="zh-CN" altLang="en-US" sz="2000" b="1" dirty="0">
                <a:latin typeface="微软雅黑" panose="020B0503020204020204" pitchFamily="34" charset="-122"/>
                <a:ea typeface="微软雅黑" panose="020B0503020204020204" pitchFamily="34" charset="-122"/>
              </a:rPr>
              <a:t>，实现对电容变化的调制。调制信号经过电荷积分放大器将电容变化转换为电压变化，再经过低通滤、增益放大就得到了</a:t>
            </a:r>
            <a:r>
              <a:rPr lang="zh-CN" altLang="en-US" sz="2000" b="1" dirty="0">
                <a:solidFill>
                  <a:srgbClr val="FF0000"/>
                </a:solidFill>
                <a:latin typeface="微软雅黑" panose="020B0503020204020204" pitchFamily="34" charset="-122"/>
                <a:ea typeface="微软雅黑" panose="020B0503020204020204" pitchFamily="34" charset="-122"/>
              </a:rPr>
              <a:t>与电容变化成正比的电压信号</a:t>
            </a:r>
            <a:r>
              <a:rPr lang="zh-CN" altLang="en-US" sz="2000" b="1" dirty="0">
                <a:latin typeface="微软雅黑" panose="020B0503020204020204" pitchFamily="34" charset="-122"/>
                <a:ea typeface="微软雅黑" panose="020B0503020204020204" pitchFamily="34" charset="-122"/>
              </a:rPr>
              <a:t>。</a:t>
            </a:r>
          </a:p>
        </p:txBody>
      </p:sp>
      <p:pic>
        <p:nvPicPr>
          <p:cNvPr id="102406" name="图片 2">
            <a:extLst>
              <a:ext uri="{FF2B5EF4-FFF2-40B4-BE49-F238E27FC236}">
                <a16:creationId xmlns:a16="http://schemas.microsoft.com/office/drawing/2014/main" id="{136FC104-C49A-4833-B50C-E4B558A20A0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5575" y="1085850"/>
            <a:ext cx="4943475" cy="514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灯片编号占位符 1">
            <a:extLst>
              <a:ext uri="{FF2B5EF4-FFF2-40B4-BE49-F238E27FC236}">
                <a16:creationId xmlns:a16="http://schemas.microsoft.com/office/drawing/2014/main" id="{75E16BBD-C9F5-40F9-9FB7-04A60EA59F92}"/>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8DC9297-3417-4307-86BC-66B2F51B0C71}" type="slidenum">
              <a:rPr lang="en-US" altLang="zh-CN" smtClean="0"/>
              <a:pPr/>
              <a:t>59</a:t>
            </a:fld>
            <a:endParaRPr lang="en-US" altLang="zh-CN"/>
          </a:p>
        </p:txBody>
      </p:sp>
      <p:sp>
        <p:nvSpPr>
          <p:cNvPr id="104451" name="Text Box 2">
            <a:extLst>
              <a:ext uri="{FF2B5EF4-FFF2-40B4-BE49-F238E27FC236}">
                <a16:creationId xmlns:a16="http://schemas.microsoft.com/office/drawing/2014/main" id="{65A890C0-90E8-4EA8-B3E1-901558ECC944}"/>
              </a:ext>
            </a:extLst>
          </p:cNvPr>
          <p:cNvSpPr txBox="1">
            <a:spLocks noChangeArrowheads="1"/>
          </p:cNvSpPr>
          <p:nvPr/>
        </p:nvSpPr>
        <p:spPr bwMode="auto">
          <a:xfrm>
            <a:off x="1042988" y="2133600"/>
            <a:ext cx="6624637"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lang="zh-CN" altLang="en-US" sz="2800" b="1">
                <a:latin typeface="微软雅黑" panose="020B0503020204020204" pitchFamily="34" charset="-122"/>
                <a:ea typeface="微软雅黑" panose="020B0503020204020204" pitchFamily="34" charset="-122"/>
              </a:rPr>
              <a:t>作业：</a:t>
            </a:r>
            <a:r>
              <a:rPr lang="en-US" altLang="zh-CN" sz="2800" b="1">
                <a:latin typeface="微软雅黑" panose="020B0503020204020204" pitchFamily="34" charset="-122"/>
                <a:ea typeface="微软雅黑" panose="020B0503020204020204" pitchFamily="34" charset="-122"/>
              </a:rPr>
              <a:t> 4-2</a:t>
            </a:r>
            <a:r>
              <a:rPr lang="zh-CN" altLang="en-US" sz="2800" b="1">
                <a:latin typeface="微软雅黑" panose="020B0503020204020204" pitchFamily="34" charset="-122"/>
                <a:ea typeface="微软雅黑" panose="020B0503020204020204" pitchFamily="34" charset="-122"/>
              </a:rPr>
              <a:t>、</a:t>
            </a:r>
            <a:r>
              <a:rPr lang="en-US" altLang="zh-CN" sz="2800" b="1">
                <a:latin typeface="微软雅黑" panose="020B0503020204020204" pitchFamily="34" charset="-122"/>
                <a:ea typeface="微软雅黑" panose="020B0503020204020204" pitchFamily="34" charset="-122"/>
              </a:rPr>
              <a:t>4-4</a:t>
            </a:r>
            <a:r>
              <a:rPr lang="zh-CN" altLang="en-US" sz="2800" b="1">
                <a:latin typeface="微软雅黑" panose="020B0503020204020204" pitchFamily="34" charset="-122"/>
                <a:ea typeface="微软雅黑" panose="020B0503020204020204" pitchFamily="34" charset="-122"/>
              </a:rPr>
              <a:t>、</a:t>
            </a:r>
            <a:r>
              <a:rPr lang="en-US" altLang="zh-CN" sz="2800" b="1">
                <a:latin typeface="微软雅黑" panose="020B0503020204020204" pitchFamily="34" charset="-122"/>
                <a:ea typeface="微软雅黑" panose="020B0503020204020204" pitchFamily="34" charset="-122"/>
              </a:rPr>
              <a:t>4-7</a:t>
            </a:r>
            <a:r>
              <a:rPr lang="zh-CN" altLang="en-US" sz="2800" b="1">
                <a:latin typeface="微软雅黑" panose="020B0503020204020204" pitchFamily="34" charset="-122"/>
                <a:ea typeface="微软雅黑" panose="020B0503020204020204" pitchFamily="34" charset="-122"/>
              </a:rPr>
              <a:t>、</a:t>
            </a:r>
            <a:r>
              <a:rPr lang="en-US" altLang="zh-CN" sz="2800" b="1">
                <a:latin typeface="微软雅黑" panose="020B0503020204020204" pitchFamily="34" charset="-122"/>
                <a:ea typeface="微软雅黑" panose="020B0503020204020204" pitchFamily="34" charset="-122"/>
              </a:rPr>
              <a:t> 4-10</a:t>
            </a:r>
          </a:p>
          <a:p>
            <a:pPr eaLnBrk="1" hangingPunct="1">
              <a:lnSpc>
                <a:spcPct val="150000"/>
              </a:lnSpc>
              <a:spcBef>
                <a:spcPct val="0"/>
              </a:spcBef>
              <a:buFontTx/>
              <a:buNone/>
            </a:pPr>
            <a:r>
              <a:rPr lang="en-US" altLang="zh-CN" sz="2800" b="1">
                <a:latin typeface="微软雅黑" panose="020B0503020204020204" pitchFamily="34" charset="-122"/>
                <a:ea typeface="微软雅黑" panose="020B0503020204020204" pitchFamily="34" charset="-122"/>
              </a:rPr>
              <a:t>4-11</a:t>
            </a:r>
            <a:r>
              <a:rPr lang="zh-CN" altLang="en-US" sz="2800" b="1">
                <a:latin typeface="微软雅黑" panose="020B0503020204020204" pitchFamily="34" charset="-122"/>
                <a:ea typeface="微软雅黑" panose="020B0503020204020204" pitchFamily="34" charset="-122"/>
              </a:rPr>
              <a:t>、</a:t>
            </a:r>
            <a:r>
              <a:rPr lang="en-US" altLang="zh-CN" sz="2800" b="1">
                <a:latin typeface="微软雅黑" panose="020B0503020204020204" pitchFamily="34" charset="-122"/>
                <a:ea typeface="微软雅黑" panose="020B0503020204020204" pitchFamily="34" charset="-122"/>
              </a:rPr>
              <a:t>4-14</a:t>
            </a:r>
            <a:r>
              <a:rPr lang="zh-CN" altLang="en-US" sz="2800" b="1">
                <a:latin typeface="微软雅黑" panose="020B0503020204020204" pitchFamily="34" charset="-122"/>
                <a:ea typeface="微软雅黑" panose="020B0503020204020204" pitchFamily="34" charset="-122"/>
              </a:rPr>
              <a:t>、</a:t>
            </a:r>
            <a:r>
              <a:rPr lang="en-US" altLang="zh-CN" sz="2800" b="1">
                <a:latin typeface="微软雅黑" panose="020B0503020204020204" pitchFamily="34" charset="-122"/>
                <a:ea typeface="微软雅黑" panose="020B0503020204020204" pitchFamily="34" charset="-122"/>
              </a:rPr>
              <a:t>4-15</a:t>
            </a:r>
            <a:endParaRPr lang="zh-CN" altLang="en-US" sz="2800" b="1">
              <a:latin typeface="微软雅黑" panose="020B0503020204020204" pitchFamily="34" charset="-122"/>
              <a:ea typeface="微软雅黑" panose="020B0503020204020204" pitchFamily="34" charset="-122"/>
            </a:endParaRPr>
          </a:p>
        </p:txBody>
      </p:sp>
      <p:sp>
        <p:nvSpPr>
          <p:cNvPr id="25" name="矩形 24">
            <a:extLst>
              <a:ext uri="{FF2B5EF4-FFF2-40B4-BE49-F238E27FC236}">
                <a16:creationId xmlns:a16="http://schemas.microsoft.com/office/drawing/2014/main" id="{E4D559D1-C84E-4A71-9DD3-B32CAC3979E6}"/>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Tree>
  </p:cSld>
  <p:clrMapOvr>
    <a:masterClrMapping/>
  </p:clrMapOvr>
</p:sld>
</file>

<file path=ppt/theme/theme1.xml><?xml version="1.0" encoding="utf-8"?>
<a:theme xmlns:a="http://schemas.openxmlformats.org/drawingml/2006/main" name="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Crayons">
      <a:majorFont>
        <a:latin typeface="Comic Sans MS"/>
        <a:ea typeface="宋体"/>
        <a:cs typeface=""/>
      </a:majorFont>
      <a:minorFont>
        <a:latin typeface="Comic Sans MS"/>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2">
        <a:dk1>
          <a:srgbClr val="000000"/>
        </a:dk1>
        <a:lt1>
          <a:srgbClr val="FFFFFF"/>
        </a:lt1>
        <a:dk2>
          <a:srgbClr val="000000"/>
        </a:dk2>
        <a:lt2>
          <a:srgbClr val="99CCFF"/>
        </a:lt2>
        <a:accent1>
          <a:srgbClr val="CCCCFF"/>
        </a:accent1>
        <a:accent2>
          <a:srgbClr val="000066"/>
        </a:accent2>
        <a:accent3>
          <a:srgbClr val="FFFFFF"/>
        </a:accent3>
        <a:accent4>
          <a:srgbClr val="000000"/>
        </a:accent4>
        <a:accent5>
          <a:srgbClr val="E2E2FF"/>
        </a:accent5>
        <a:accent6>
          <a:srgbClr val="00005C"/>
        </a:accent6>
        <a:hlink>
          <a:srgbClr val="00B200"/>
        </a:hlink>
        <a:folHlink>
          <a:srgbClr val="CCFF33"/>
        </a:folHlink>
      </a:clrScheme>
      <a:clrMap bg1="lt1" tx1="dk1" bg2="lt2" tx2="dk2" accent1="accent1" accent2="accent2" accent3="accent3" accent4="accent4" accent5="accent5" accent6="accent6" hlink="hlink" folHlink="folHlink"/>
    </a:extraClrScheme>
    <a:extraClrScheme>
      <a:clrScheme name="Crayons 3">
        <a:dk1>
          <a:srgbClr val="000000"/>
        </a:dk1>
        <a:lt1>
          <a:srgbClr val="FFFFFF"/>
        </a:lt1>
        <a:dk2>
          <a:srgbClr val="000000"/>
        </a:dk2>
        <a:lt2>
          <a:srgbClr val="3399FF"/>
        </a:lt2>
        <a:accent1>
          <a:srgbClr val="CCECFF"/>
        </a:accent1>
        <a:accent2>
          <a:srgbClr val="008080"/>
        </a:accent2>
        <a:accent3>
          <a:srgbClr val="FFFFFF"/>
        </a:accent3>
        <a:accent4>
          <a:srgbClr val="000000"/>
        </a:accent4>
        <a:accent5>
          <a:srgbClr val="E2F4FF"/>
        </a:accent5>
        <a:accent6>
          <a:srgbClr val="007373"/>
        </a:accent6>
        <a:hlink>
          <a:srgbClr val="009999"/>
        </a:hlink>
        <a:folHlink>
          <a:srgbClr val="3366CC"/>
        </a:folHlink>
      </a:clrScheme>
      <a:clrMap bg1="lt1" tx1="dk1" bg2="lt2" tx2="dk2" accent1="accent1" accent2="accent2" accent3="accent3" accent4="accent4" accent5="accent5" accent6="accent6" hlink="hlink" folHlink="folHlink"/>
    </a:extraClrScheme>
    <a:extraClrScheme>
      <a:clrScheme name="Crayons 4">
        <a:dk1>
          <a:srgbClr val="808000"/>
        </a:dk1>
        <a:lt1>
          <a:srgbClr val="FFFFFF"/>
        </a:lt1>
        <a:dk2>
          <a:srgbClr val="336600"/>
        </a:dk2>
        <a:lt2>
          <a:srgbClr val="FFFFFF"/>
        </a:lt2>
        <a:accent1>
          <a:srgbClr val="99CC00"/>
        </a:accent1>
        <a:accent2>
          <a:srgbClr val="003300"/>
        </a:accent2>
        <a:accent3>
          <a:srgbClr val="ADB8AA"/>
        </a:accent3>
        <a:accent4>
          <a:srgbClr val="DADADA"/>
        </a:accent4>
        <a:accent5>
          <a:srgbClr val="CAE2AA"/>
        </a:accent5>
        <a:accent6>
          <a:srgbClr val="002D00"/>
        </a:accent6>
        <a:hlink>
          <a:srgbClr val="CCCC00"/>
        </a:hlink>
        <a:folHlink>
          <a:srgbClr val="CCFF33"/>
        </a:folHlink>
      </a:clrScheme>
      <a:clrMap bg1="dk2" tx1="lt1" bg2="dk1" tx2="lt2" accent1="accent1" accent2="accent2" accent3="accent3" accent4="accent4" accent5="accent5" accent6="accent6" hlink="hlink" folHlink="folHlink"/>
    </a:extraClrScheme>
    <a:extraClrScheme>
      <a:clrScheme name="Crayons 5">
        <a:dk1>
          <a:srgbClr val="808080"/>
        </a:dk1>
        <a:lt1>
          <a:srgbClr val="FFFFFF"/>
        </a:lt1>
        <a:dk2>
          <a:srgbClr val="003366"/>
        </a:dk2>
        <a:lt2>
          <a:srgbClr val="CCECFF"/>
        </a:lt2>
        <a:accent1>
          <a:srgbClr val="33CCCC"/>
        </a:accent1>
        <a:accent2>
          <a:srgbClr val="006699"/>
        </a:accent2>
        <a:accent3>
          <a:srgbClr val="AAADB8"/>
        </a:accent3>
        <a:accent4>
          <a:srgbClr val="DADADA"/>
        </a:accent4>
        <a:accent5>
          <a:srgbClr val="ADE2E2"/>
        </a:accent5>
        <a:accent6>
          <a:srgbClr val="005C8A"/>
        </a:accent6>
        <a:hlink>
          <a:srgbClr val="00FFFF"/>
        </a:hlink>
        <a:folHlink>
          <a:srgbClr val="0000FF"/>
        </a:folHlink>
      </a:clrScheme>
      <a:clrMap bg1="dk2" tx1="lt1" bg2="dk1" tx2="lt2" accent1="accent1" accent2="accent2" accent3="accent3" accent4="accent4" accent5="accent5" accent6="accent6" hlink="hlink" folHlink="folHlink"/>
    </a:extraClrScheme>
    <a:extraClrScheme>
      <a:clrScheme name="Crayons 6">
        <a:dk1>
          <a:srgbClr val="6666FF"/>
        </a:dk1>
        <a:lt1>
          <a:srgbClr val="FFFFFF"/>
        </a:lt1>
        <a:dk2>
          <a:srgbClr val="000066"/>
        </a:dk2>
        <a:lt2>
          <a:srgbClr val="FFFFFF"/>
        </a:lt2>
        <a:accent1>
          <a:srgbClr val="33CCFF"/>
        </a:accent1>
        <a:accent2>
          <a:srgbClr val="0000FF"/>
        </a:accent2>
        <a:accent3>
          <a:srgbClr val="AAAAB8"/>
        </a:accent3>
        <a:accent4>
          <a:srgbClr val="DADADA"/>
        </a:accent4>
        <a:accent5>
          <a:srgbClr val="ADE2FF"/>
        </a:accent5>
        <a:accent6>
          <a:srgbClr val="0000E7"/>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Crayons 7">
        <a:dk1>
          <a:srgbClr val="000000"/>
        </a:dk1>
        <a:lt1>
          <a:srgbClr val="FFFFFF"/>
        </a:lt1>
        <a:dk2>
          <a:srgbClr val="800080"/>
        </a:dk2>
        <a:lt2>
          <a:srgbClr val="FFFFFF"/>
        </a:lt2>
        <a:accent1>
          <a:srgbClr val="CC66FF"/>
        </a:accent1>
        <a:accent2>
          <a:srgbClr val="990099"/>
        </a:accent2>
        <a:accent3>
          <a:srgbClr val="C0AAC0"/>
        </a:accent3>
        <a:accent4>
          <a:srgbClr val="DADADA"/>
        </a:accent4>
        <a:accent5>
          <a:srgbClr val="E2B8FF"/>
        </a:accent5>
        <a:accent6>
          <a:srgbClr val="8A008A"/>
        </a:accent6>
        <a:hlink>
          <a:srgbClr val="FF9900"/>
        </a:hlink>
        <a:folHlink>
          <a:srgbClr val="FF3300"/>
        </a:folHlink>
      </a:clrScheme>
      <a:clrMap bg1="dk2" tx1="lt1" bg2="dk1" tx2="lt2" accent1="accent1" accent2="accent2" accent3="accent3" accent4="accent4" accent5="accent5" accent6="accent6" hlink="hlink" folHlink="folHlink"/>
    </a:extraClrScheme>
    <a:extraClrScheme>
      <a:clrScheme name="Crayons 8">
        <a:dk1>
          <a:srgbClr val="FF3300"/>
        </a:dk1>
        <a:lt1>
          <a:srgbClr val="FFFFFF"/>
        </a:lt1>
        <a:dk2>
          <a:srgbClr val="800000"/>
        </a:dk2>
        <a:lt2>
          <a:srgbClr val="FFFFCC"/>
        </a:lt2>
        <a:accent1>
          <a:srgbClr val="FF7C80"/>
        </a:accent1>
        <a:accent2>
          <a:srgbClr val="990000"/>
        </a:accent2>
        <a:accent3>
          <a:srgbClr val="C0AAAA"/>
        </a:accent3>
        <a:accent4>
          <a:srgbClr val="DADADA"/>
        </a:accent4>
        <a:accent5>
          <a:srgbClr val="FFBFC0"/>
        </a:accent5>
        <a:accent6>
          <a:srgbClr val="8A0000"/>
        </a:accent6>
        <a:hlink>
          <a:srgbClr val="FF66CC"/>
        </a:hlink>
        <a:folHlink>
          <a:srgbClr val="FF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7532</TotalTime>
  <Words>5453</Words>
  <Application>Microsoft Office PowerPoint</Application>
  <PresentationFormat>全屏显示(4:3)</PresentationFormat>
  <Paragraphs>619</Paragraphs>
  <Slides>59</Slides>
  <Notes>26</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5</vt:i4>
      </vt:variant>
      <vt:variant>
        <vt:lpstr>幻灯片标题</vt:lpstr>
      </vt:variant>
      <vt:variant>
        <vt:i4>59</vt:i4>
      </vt:variant>
    </vt:vector>
  </HeadingPairs>
  <TitlesOfParts>
    <vt:vector size="77" baseType="lpstr">
      <vt:lpstr>华文琥珀</vt:lpstr>
      <vt:lpstr>楷体_GB2312</vt:lpstr>
      <vt:lpstr>宋体</vt:lpstr>
      <vt:lpstr>微软雅黑</vt:lpstr>
      <vt:lpstr>Arial</vt:lpstr>
      <vt:lpstr>Calibri</vt:lpstr>
      <vt:lpstr>Cambria Math</vt:lpstr>
      <vt:lpstr>Comic Sans MS</vt:lpstr>
      <vt:lpstr>Courier New</vt:lpstr>
      <vt:lpstr>Symbol</vt:lpstr>
      <vt:lpstr>Times New Roman</vt:lpstr>
      <vt:lpstr>Wingdings</vt:lpstr>
      <vt:lpstr>Crayons</vt:lpstr>
      <vt:lpstr>公式</vt:lpstr>
      <vt:lpstr>Equation</vt:lpstr>
      <vt:lpstr>VISIO</vt:lpstr>
      <vt:lpstr>Visio</vt:lpstr>
      <vt:lpstr>MathType 6.0 Equation</vt:lpstr>
      <vt:lpstr>电容式传感器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xtong</dc:creator>
  <cp:lastModifiedBy>Hong Zhang</cp:lastModifiedBy>
  <cp:revision>360</cp:revision>
  <dcterms:created xsi:type="dcterms:W3CDTF">2005-09-09T02:52:29Z</dcterms:created>
  <dcterms:modified xsi:type="dcterms:W3CDTF">2024-09-18T16:27:59Z</dcterms:modified>
</cp:coreProperties>
</file>
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442" r:id="rId2"/>
    <p:sldId id="443" r:id="rId3"/>
    <p:sldId id="445" r:id="rId4"/>
    <p:sldId id="486" r:id="rId5"/>
    <p:sldId id="446" r:id="rId6"/>
    <p:sldId id="447" r:id="rId7"/>
    <p:sldId id="448" r:id="rId8"/>
    <p:sldId id="450" r:id="rId9"/>
    <p:sldId id="451" r:id="rId10"/>
    <p:sldId id="452" r:id="rId11"/>
    <p:sldId id="489" r:id="rId12"/>
    <p:sldId id="444" r:id="rId13"/>
    <p:sldId id="457" r:id="rId14"/>
    <p:sldId id="459" r:id="rId15"/>
    <p:sldId id="460" r:id="rId16"/>
    <p:sldId id="461" r:id="rId17"/>
    <p:sldId id="462" r:id="rId18"/>
    <p:sldId id="492" r:id="rId19"/>
    <p:sldId id="463" r:id="rId20"/>
    <p:sldId id="465" r:id="rId21"/>
    <p:sldId id="466" r:id="rId22"/>
    <p:sldId id="467" r:id="rId23"/>
    <p:sldId id="468" r:id="rId24"/>
    <p:sldId id="493" r:id="rId25"/>
    <p:sldId id="471" r:id="rId26"/>
    <p:sldId id="470" r:id="rId27"/>
    <p:sldId id="472" r:id="rId28"/>
    <p:sldId id="473" r:id="rId29"/>
    <p:sldId id="488" r:id="rId30"/>
    <p:sldId id="487" r:id="rId31"/>
    <p:sldId id="490" r:id="rId32"/>
    <p:sldId id="491" r:id="rId33"/>
    <p:sldId id="475" r:id="rId34"/>
    <p:sldId id="477" r:id="rId35"/>
    <p:sldId id="478" r:id="rId36"/>
    <p:sldId id="476" r:id="rId37"/>
    <p:sldId id="479" r:id="rId38"/>
    <p:sldId id="480" r:id="rId39"/>
    <p:sldId id="481" r:id="rId40"/>
    <p:sldId id="482" r:id="rId41"/>
    <p:sldId id="483" r:id="rId42"/>
    <p:sldId id="494" r:id="rId4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9">
          <p15:clr>
            <a:srgbClr val="A4A3A4"/>
          </p15:clr>
        </p15:guide>
        <p15:guide id="2" pos="28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FF66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29" autoAdjust="0"/>
  </p:normalViewPr>
  <p:slideViewPr>
    <p:cSldViewPr>
      <p:cViewPr varScale="1">
        <p:scale>
          <a:sx n="56" d="100"/>
          <a:sy n="56" d="100"/>
        </p:scale>
        <p:origin x="1044" y="40"/>
      </p:cViewPr>
      <p:guideLst>
        <p:guide orient="horz" pos="2259"/>
        <p:guide pos="28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>
            <a:extLst>
              <a:ext uri="{FF2B5EF4-FFF2-40B4-BE49-F238E27FC236}">
                <a16:creationId xmlns:a16="http://schemas.microsoft.com/office/drawing/2014/main" id="{43FCC4AC-6FF3-494D-A6C1-7833A18BC056}"/>
              </a:ext>
            </a:extLst>
          </p:cNvPr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>
            <a:extLst>
              <a:ext uri="{FF2B5EF4-FFF2-40B4-BE49-F238E27FC236}">
                <a16:creationId xmlns:a16="http://schemas.microsoft.com/office/drawing/2014/main" id="{5E2DC9F3-17AE-41E4-87F9-703515E05A8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022DA6BA-05E0-44BC-9F6D-C078FABDE26E}" type="datetime1">
              <a:rPr lang="zh-CN" altLang="en-US"/>
              <a:pPr>
                <a:defRPr/>
              </a:pPr>
              <a:t>2024/9/4</a:t>
            </a:fld>
            <a:endParaRPr lang="zh-CN" altLang="en-US" sz="1200">
              <a:latin typeface="Calibri" pitchFamily="34" charset="0"/>
            </a:endParaRPr>
          </a:p>
        </p:txBody>
      </p:sp>
      <p:sp>
        <p:nvSpPr>
          <p:cNvPr id="12292" name="幻灯片图像占位符 3">
            <a:extLst>
              <a:ext uri="{FF2B5EF4-FFF2-40B4-BE49-F238E27FC236}">
                <a16:creationId xmlns:a16="http://schemas.microsoft.com/office/drawing/2014/main" id="{8315B7BD-6D20-4FDA-BFC6-C3694C8D7AA6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>
            <a:extLst>
              <a:ext uri="{FF2B5EF4-FFF2-40B4-BE49-F238E27FC236}">
                <a16:creationId xmlns:a16="http://schemas.microsoft.com/office/drawing/2014/main" id="{037D7FF2-F174-46F2-A30C-C1AE5B51140F}"/>
              </a:ext>
            </a:extLst>
          </p:cNvPr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单击此处编辑母版文本样式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第二级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第三级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第四级</a:t>
            </a:r>
          </a:p>
          <a:p>
            <a:pPr>
              <a:spcBef>
                <a:spcPct val="30000"/>
              </a:spcBef>
              <a:buFontTx/>
              <a:buNone/>
              <a:defRPr/>
            </a:pPr>
            <a:r>
              <a:rPr lang="zh-CN" sz="1200"/>
              <a:t>第五级</a:t>
            </a:r>
          </a:p>
        </p:txBody>
      </p:sp>
      <p:sp>
        <p:nvSpPr>
          <p:cNvPr id="2054" name="页脚占位符 5">
            <a:extLst>
              <a:ext uri="{FF2B5EF4-FFF2-40B4-BE49-F238E27FC236}">
                <a16:creationId xmlns:a16="http://schemas.microsoft.com/office/drawing/2014/main" id="{3CAAFF5D-6AF9-4F86-A53A-11BE4F3519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>
            <a:extLst>
              <a:ext uri="{FF2B5EF4-FFF2-40B4-BE49-F238E27FC236}">
                <a16:creationId xmlns:a16="http://schemas.microsoft.com/office/drawing/2014/main" id="{30A4160E-C7D4-4E2F-B4B4-E990AC412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4871EB8-F0DA-4E0D-84CA-C1E8149BE915}" type="slidenum">
              <a:rPr lang="zh-CN" altLang="en-US"/>
              <a:pPr>
                <a:defRPr/>
              </a:pPr>
              <a:t>‹#›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9B%BD%E5%AE%B6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ike.baidu.com/item/%E7%A1%AC%E5%BA%A6" TargetMode="External"/><Relationship Id="rId4" Type="http://schemas.openxmlformats.org/officeDocument/2006/relationships/hyperlink" Target="https://baike.baidu.com/item/%E7%9C%9F%E7%A9%BA%E5%85%89%E9%80%9F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96CB9FFF-09D1-474D-83D0-3E24071B4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C08C5737-228B-465A-99AA-51510B6909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传感器是被测对象信息感知的基础，本课程偏重于传感器部分的内容</a:t>
            </a: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4AD4A697-560E-4B45-B203-567488C4D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238A86-EF18-423C-BC77-F682BF2093D3}" type="slidenum">
              <a:rPr kumimoji="1" lang="en-US" altLang="zh-CN" sz="1300" smtClean="0">
                <a:latin typeface="Times New Roman" panose="02020603050405020304" pitchFamily="18" charset="0"/>
              </a:rPr>
              <a:pPr/>
              <a:t>2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>
            <a:extLst>
              <a:ext uri="{FF2B5EF4-FFF2-40B4-BE49-F238E27FC236}">
                <a16:creationId xmlns:a16="http://schemas.microsoft.com/office/drawing/2014/main" id="{E26BD058-2DF5-41EA-B7E1-77B2FD428E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备注占位符 2">
            <a:extLst>
              <a:ext uri="{FF2B5EF4-FFF2-40B4-BE49-F238E27FC236}">
                <a16:creationId xmlns:a16="http://schemas.microsoft.com/office/drawing/2014/main" id="{29181BBF-D73A-4270-9A13-9DE6167A4D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真值是指与给定的特定量的定义一致的值。约定真值是指对于给定目的具有适当不确定度的，赋予特定的值。在实际检定工作中是以计量标准所复现的量值作为约定真值。常称为标准值或实际值。</a:t>
            </a:r>
            <a:endParaRPr lang="en-US" altLang="zh-CN"/>
          </a:p>
          <a:p>
            <a:r>
              <a:rPr lang="zh-CN" altLang="en-US"/>
              <a:t>获得特定量约定真值的方法，通常有以下几种</a:t>
            </a:r>
            <a:r>
              <a:rPr lang="en-US" altLang="zh-CN"/>
              <a:t>:</a:t>
            </a:r>
          </a:p>
          <a:p>
            <a:r>
              <a:rPr lang="en-US" altLang="zh-CN"/>
              <a:t>(1)</a:t>
            </a:r>
            <a:r>
              <a:rPr lang="zh-CN" altLang="en-US"/>
              <a:t>由</a:t>
            </a:r>
            <a:r>
              <a:rPr lang="zh-CN" altLang="en-US">
                <a:hlinkClick r:id="rId3"/>
              </a:rPr>
              <a:t>国家</a:t>
            </a:r>
            <a:r>
              <a:rPr lang="zh-CN" altLang="en-US"/>
              <a:t>基准或当地最高计量标准复现而赋予该特定量的值。</a:t>
            </a:r>
          </a:p>
          <a:p>
            <a:r>
              <a:rPr lang="en-US" altLang="zh-CN"/>
              <a:t>(2)</a:t>
            </a:r>
            <a:r>
              <a:rPr lang="zh-CN" altLang="en-US"/>
              <a:t>采用权威组织推荐的该量的值。例如，由国际数据委员会</a:t>
            </a:r>
            <a:r>
              <a:rPr lang="en-US" altLang="zh-CN"/>
              <a:t>(CODATA)</a:t>
            </a:r>
            <a:r>
              <a:rPr lang="zh-CN" altLang="en-US"/>
              <a:t>推荐的</a:t>
            </a:r>
            <a:r>
              <a:rPr lang="zh-CN" altLang="en-US">
                <a:hlinkClick r:id="rId4"/>
              </a:rPr>
              <a:t>真空光速</a:t>
            </a:r>
            <a:r>
              <a:rPr lang="zh-CN" altLang="en-US"/>
              <a:t>、阿伏加德罗常量等特定量的最新值。</a:t>
            </a:r>
          </a:p>
          <a:p>
            <a:r>
              <a:rPr lang="en-US" altLang="zh-CN"/>
              <a:t>(3)</a:t>
            </a:r>
            <a:r>
              <a:rPr lang="zh-CN" altLang="en-US"/>
              <a:t>有时用某量的多次测量结果来确定该量的约定真值。</a:t>
            </a:r>
          </a:p>
          <a:p>
            <a:r>
              <a:rPr lang="en-US" altLang="zh-CN"/>
              <a:t>(4)</a:t>
            </a:r>
            <a:r>
              <a:rPr lang="zh-CN" altLang="en-US"/>
              <a:t>对于</a:t>
            </a:r>
            <a:r>
              <a:rPr lang="zh-CN" altLang="en-US">
                <a:hlinkClick r:id="rId5"/>
              </a:rPr>
              <a:t>硬度</a:t>
            </a:r>
            <a:r>
              <a:rPr lang="zh-CN" altLang="en-US"/>
              <a:t>等量，则用其约定参考标尺上的值作为约定真值。</a:t>
            </a:r>
          </a:p>
          <a:p>
            <a:endParaRPr lang="zh-CN" altLang="en-US"/>
          </a:p>
        </p:txBody>
      </p:sp>
      <p:sp>
        <p:nvSpPr>
          <p:cNvPr id="18436" name="日期占位符 3">
            <a:extLst>
              <a:ext uri="{FF2B5EF4-FFF2-40B4-BE49-F238E27FC236}">
                <a16:creationId xmlns:a16="http://schemas.microsoft.com/office/drawing/2014/main" id="{DB7AF924-7484-466C-9E8A-3115372D11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7DB2BE2-3160-4D77-A085-E93017CC1599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18437" name="灯片编号占位符 4">
            <a:extLst>
              <a:ext uri="{FF2B5EF4-FFF2-40B4-BE49-F238E27FC236}">
                <a16:creationId xmlns:a16="http://schemas.microsoft.com/office/drawing/2014/main" id="{A1934E5B-187E-4511-A364-8FF72876A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8B7F07-D97F-4804-B345-46C3CB604E7F}" type="slidenum">
              <a:rPr lang="zh-CN" altLang="en-US" smtClean="0"/>
              <a:pPr/>
              <a:t>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B7092D12-4E28-40D0-A65D-4C80CAC2F5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0C1D7254-AE55-4B3A-B1F0-A3ACBC7BA6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仪表的绝对误差限，即在仪表量程范围内可能的最大误差</a:t>
            </a:r>
            <a:endParaRPr lang="zh-CN" altLang="en-US"/>
          </a:p>
        </p:txBody>
      </p:sp>
      <p:sp>
        <p:nvSpPr>
          <p:cNvPr id="21508" name="日期占位符 3">
            <a:extLst>
              <a:ext uri="{FF2B5EF4-FFF2-40B4-BE49-F238E27FC236}">
                <a16:creationId xmlns:a16="http://schemas.microsoft.com/office/drawing/2014/main" id="{F6F712FA-A2EE-4318-A3AC-E21326D83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695D29E-1861-4C41-B08B-3A6696161B9B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1509" name="灯片编号占位符 4">
            <a:extLst>
              <a:ext uri="{FF2B5EF4-FFF2-40B4-BE49-F238E27FC236}">
                <a16:creationId xmlns:a16="http://schemas.microsoft.com/office/drawing/2014/main" id="{D8B079A9-7326-42F2-92D6-BBCF60B5C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95F41D-EA91-4E50-97C0-2F7EFB982E94}" type="slidenum">
              <a:rPr lang="zh-CN" altLang="en-US" smtClean="0"/>
              <a:pPr/>
              <a:t>6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86904021-D481-4C59-8A6F-610764552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2334D4C2-D76F-496B-A04E-226ED91F7A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仪表的绝对误差限，即在仪表量程范围内可能的最大误差</a:t>
            </a:r>
            <a:endParaRPr lang="zh-CN" altLang="en-US"/>
          </a:p>
        </p:txBody>
      </p:sp>
      <p:sp>
        <p:nvSpPr>
          <p:cNvPr id="23556" name="日期占位符 3">
            <a:extLst>
              <a:ext uri="{FF2B5EF4-FFF2-40B4-BE49-F238E27FC236}">
                <a16:creationId xmlns:a16="http://schemas.microsoft.com/office/drawing/2014/main" id="{8F89F92C-5F2D-405E-830B-FDED65283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CBDE94-004C-43B0-BCBF-A83BAF5F96DD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3557" name="灯片编号占位符 4">
            <a:extLst>
              <a:ext uri="{FF2B5EF4-FFF2-40B4-BE49-F238E27FC236}">
                <a16:creationId xmlns:a16="http://schemas.microsoft.com/office/drawing/2014/main" id="{26A29EEB-3F30-42B2-B256-F91BDB7FC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C24C8B-BC5F-440C-83FE-7BFE5361F2BE}" type="slidenum">
              <a:rPr lang="zh-CN" altLang="en-US" smtClean="0"/>
              <a:pPr/>
              <a:t>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ADD635CC-D144-4586-BB1F-BF60925F8C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8C57B9C2-FBA9-4C88-A5E9-D820D4131B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不同行业规定的精度等级不同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028A8C55-EB81-4313-8750-94ADAEFA4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A134E6-A870-4433-9802-30B50D3F8132}" type="slidenum">
              <a:rPr kumimoji="1" lang="en-US" altLang="zh-CN" sz="1300" smtClean="0">
                <a:latin typeface="Times New Roman" panose="02020603050405020304" pitchFamily="18" charset="0"/>
              </a:rPr>
              <a:pPr/>
              <a:t>8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EDFFF4DE-C9A5-4F3C-8A02-1EE05FEF3F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183C7F1B-74F3-4BDE-999B-4DE0E94D0C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在测量中我们希望得到精确度高的结果。 </a:t>
            </a:r>
          </a:p>
          <a:p>
            <a:endParaRPr lang="zh-CN" altLang="en-US"/>
          </a:p>
        </p:txBody>
      </p:sp>
      <p:sp>
        <p:nvSpPr>
          <p:cNvPr id="29700" name="日期占位符 3">
            <a:extLst>
              <a:ext uri="{FF2B5EF4-FFF2-40B4-BE49-F238E27FC236}">
                <a16:creationId xmlns:a16="http://schemas.microsoft.com/office/drawing/2014/main" id="{33A99873-C7AC-4ACA-8F55-CC188DE7FA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51A570-820E-49C0-8FBD-120C9A867379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29701" name="灯片编号占位符 4">
            <a:extLst>
              <a:ext uri="{FF2B5EF4-FFF2-40B4-BE49-F238E27FC236}">
                <a16:creationId xmlns:a16="http://schemas.microsoft.com/office/drawing/2014/main" id="{EA504B96-CE00-4307-B1C5-B95C62E8A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9B90CDE-581E-4573-93F6-55A0B89E0EBA}" type="slidenum">
              <a:rPr lang="zh-CN" altLang="en-US" smtClean="0"/>
              <a:pPr/>
              <a:t>11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0D79798D-4845-417F-A86F-8E1381A5CC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1689D3EC-59B9-4312-8D3B-0B7834FF54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在测量中我们希望得到精确度高的结果。 </a:t>
            </a:r>
          </a:p>
          <a:p>
            <a:endParaRPr lang="zh-CN" altLang="en-US"/>
          </a:p>
        </p:txBody>
      </p:sp>
      <p:sp>
        <p:nvSpPr>
          <p:cNvPr id="31748" name="日期占位符 3">
            <a:extLst>
              <a:ext uri="{FF2B5EF4-FFF2-40B4-BE49-F238E27FC236}">
                <a16:creationId xmlns:a16="http://schemas.microsoft.com/office/drawing/2014/main" id="{5D77115E-CB9F-4C3D-8239-6B7C175FB7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EF0EA2-F9EC-4EBA-B9A1-E482B3064BD8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31749" name="灯片编号占位符 4">
            <a:extLst>
              <a:ext uri="{FF2B5EF4-FFF2-40B4-BE49-F238E27FC236}">
                <a16:creationId xmlns:a16="http://schemas.microsoft.com/office/drawing/2014/main" id="{3D977052-4B9F-42E0-B4BE-D21F51CEC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F5CFDB-C06E-4D26-B66D-93564F70F7B5}" type="slidenum">
              <a:rPr lang="zh-CN" altLang="en-US" smtClean="0"/>
              <a:pPr/>
              <a:t>12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6329D9F3-D289-4504-A047-085338974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F29CC750-73EF-405B-8074-790FD906F8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在测量中我们希望得到精确度高的结果。 </a:t>
            </a:r>
          </a:p>
          <a:p>
            <a:endParaRPr lang="zh-CN" altLang="en-US"/>
          </a:p>
        </p:txBody>
      </p:sp>
      <p:sp>
        <p:nvSpPr>
          <p:cNvPr id="33796" name="日期占位符 3">
            <a:extLst>
              <a:ext uri="{FF2B5EF4-FFF2-40B4-BE49-F238E27FC236}">
                <a16:creationId xmlns:a16="http://schemas.microsoft.com/office/drawing/2014/main" id="{D96F8629-C0F4-47DF-AC88-34F9116869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5D90704-7522-4AB0-868A-DFB23316355E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33797" name="灯片编号占位符 4">
            <a:extLst>
              <a:ext uri="{FF2B5EF4-FFF2-40B4-BE49-F238E27FC236}">
                <a16:creationId xmlns:a16="http://schemas.microsoft.com/office/drawing/2014/main" id="{FFECA25D-B9F9-4DA9-87A0-CFE6B66FA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B768BD-794B-43A6-803D-C09663AC4A35}" type="slidenum">
              <a:rPr lang="zh-CN" altLang="en-US" smtClean="0"/>
              <a:pPr/>
              <a:t>13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17304B28-991E-402E-8939-6B47159AD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A043829C-CB56-4FCF-94BE-B62D6371B2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例如：工作基准米尺连续</a:t>
            </a:r>
            <a:r>
              <a:rPr lang="en-US" altLang="zh-CN"/>
              <a:t>3</a:t>
            </a:r>
            <a:r>
              <a:rPr lang="zh-CN" altLang="en-US"/>
              <a:t>天与国家基准器比较，得到基准米尺的平均长度为</a:t>
            </a:r>
            <a:r>
              <a:rPr lang="en-US" altLang="zh-CN"/>
              <a:t>999.9425mm</a:t>
            </a:r>
            <a:r>
              <a:rPr lang="zh-CN" altLang="en-US"/>
              <a:t>（三次测量）、</a:t>
            </a:r>
            <a:r>
              <a:rPr lang="en-US" altLang="zh-CN"/>
              <a:t>999.9416mm</a:t>
            </a:r>
            <a:r>
              <a:rPr lang="zh-CN" altLang="en-US"/>
              <a:t>（二次测量）、</a:t>
            </a:r>
            <a:r>
              <a:rPr lang="en-US" altLang="zh-CN"/>
              <a:t>999.9419mm</a:t>
            </a:r>
            <a:r>
              <a:rPr lang="zh-CN" altLang="en-US"/>
              <a:t>（五次测量）。则权重分别为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38916" name="日期占位符 3">
            <a:extLst>
              <a:ext uri="{FF2B5EF4-FFF2-40B4-BE49-F238E27FC236}">
                <a16:creationId xmlns:a16="http://schemas.microsoft.com/office/drawing/2014/main" id="{DA05BF0C-66FA-4522-9AB7-D8E73CDD5C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44A244-4CD6-47E1-8F39-1A23A0963163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38917" name="灯片编号占位符 4">
            <a:extLst>
              <a:ext uri="{FF2B5EF4-FFF2-40B4-BE49-F238E27FC236}">
                <a16:creationId xmlns:a16="http://schemas.microsoft.com/office/drawing/2014/main" id="{8B74712D-9A63-4C8D-9E45-B98B71D83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1ED337-5A48-4DD0-8A4A-8C2F615C46B9}" type="slidenum">
              <a:rPr lang="zh-CN" altLang="en-US" smtClean="0"/>
              <a:pPr/>
              <a:t>17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1ECDD099-73E0-4434-ABAC-B8AD3796A4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AB716D4C-E12B-4EC0-98B6-1B941A98E1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例如：工作基准米尺连续</a:t>
            </a:r>
            <a:r>
              <a:rPr lang="en-US" altLang="zh-CN"/>
              <a:t>3</a:t>
            </a:r>
            <a:r>
              <a:rPr lang="zh-CN" altLang="en-US"/>
              <a:t>天与国家基准器比较，得到基准米尺的平均长度为</a:t>
            </a:r>
            <a:r>
              <a:rPr lang="en-US" altLang="zh-CN"/>
              <a:t>999.9425mm</a:t>
            </a:r>
            <a:r>
              <a:rPr lang="zh-CN" altLang="en-US"/>
              <a:t>（三次测量）、</a:t>
            </a:r>
            <a:r>
              <a:rPr lang="en-US" altLang="zh-CN"/>
              <a:t>999.9416mm</a:t>
            </a:r>
            <a:r>
              <a:rPr lang="zh-CN" altLang="en-US"/>
              <a:t>（二次测量）、</a:t>
            </a:r>
            <a:r>
              <a:rPr lang="en-US" altLang="zh-CN"/>
              <a:t>999.9419mm</a:t>
            </a:r>
            <a:r>
              <a:rPr lang="zh-CN" altLang="en-US"/>
              <a:t>（五次测量）。则权重分别为</a:t>
            </a: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40964" name="日期占位符 3">
            <a:extLst>
              <a:ext uri="{FF2B5EF4-FFF2-40B4-BE49-F238E27FC236}">
                <a16:creationId xmlns:a16="http://schemas.microsoft.com/office/drawing/2014/main" id="{AED0A9B5-7C58-4D71-A276-86843B889A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BD33CB-1126-436F-83B2-381DC5B6BC36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40965" name="灯片编号占位符 4">
            <a:extLst>
              <a:ext uri="{FF2B5EF4-FFF2-40B4-BE49-F238E27FC236}">
                <a16:creationId xmlns:a16="http://schemas.microsoft.com/office/drawing/2014/main" id="{06862B75-2782-419F-ABAC-805076246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4C2007-D617-41A9-8D04-D1BBC1B9EDDB}" type="slidenum">
              <a:rPr lang="zh-CN" altLang="en-US" smtClean="0"/>
              <a:pPr/>
              <a:t>18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37D5E344-6E5A-4426-A48C-3F6BC1F403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E2760586-B066-4C37-9D64-715DD9DF12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实验对比法，例如用更高准确度的仪器</a:t>
            </a:r>
          </a:p>
          <a:p>
            <a:endParaRPr lang="zh-CN" altLang="en-US"/>
          </a:p>
        </p:txBody>
      </p:sp>
      <p:sp>
        <p:nvSpPr>
          <p:cNvPr id="44036" name="日期占位符 3">
            <a:extLst>
              <a:ext uri="{FF2B5EF4-FFF2-40B4-BE49-F238E27FC236}">
                <a16:creationId xmlns:a16="http://schemas.microsoft.com/office/drawing/2014/main" id="{C4D3E53A-B99E-429C-A8A0-5228242AA7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135092-A84B-4656-92CF-B094DB2F6F4F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44037" name="灯片编号占位符 4">
            <a:extLst>
              <a:ext uri="{FF2B5EF4-FFF2-40B4-BE49-F238E27FC236}">
                <a16:creationId xmlns:a16="http://schemas.microsoft.com/office/drawing/2014/main" id="{78F9D0EB-B600-45B2-9C4D-A35E5C22B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2DA3300-C4BA-4B0F-B2C5-A7449635EB86}" type="slidenum">
              <a:rPr lang="zh-CN" altLang="en-US" smtClean="0"/>
              <a:pPr/>
              <a:t>20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05373B6A-2999-423C-9729-14DD5FA432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BB1AF84C-CE4A-49DD-8AE2-951A0B9FD5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前面所讨论的主要是直接测量量的误差计算，但在有些情况下，不能进行直接测量，或者，直接测量难以保证测量精确度，需要采用间接测量。</a:t>
            </a:r>
          </a:p>
          <a:p>
            <a:endParaRPr lang="zh-CN" altLang="en-US"/>
          </a:p>
        </p:txBody>
      </p:sp>
      <p:sp>
        <p:nvSpPr>
          <p:cNvPr id="50180" name="日期占位符 3">
            <a:extLst>
              <a:ext uri="{FF2B5EF4-FFF2-40B4-BE49-F238E27FC236}">
                <a16:creationId xmlns:a16="http://schemas.microsoft.com/office/drawing/2014/main" id="{D468C445-3B32-42E2-A1D7-BEF9576C5B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098F82-879C-4400-985A-1C37675295E8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0181" name="灯片编号占位符 4">
            <a:extLst>
              <a:ext uri="{FF2B5EF4-FFF2-40B4-BE49-F238E27FC236}">
                <a16:creationId xmlns:a16="http://schemas.microsoft.com/office/drawing/2014/main" id="{6CA82169-EF4A-49A4-ACAA-1ABBC9714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B741F7-8308-4F27-BDE0-817C69190D75}" type="slidenum">
              <a:rPr lang="zh-CN" altLang="en-US" smtClean="0"/>
              <a:pPr/>
              <a:t>25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9E6F1C82-FC0B-418B-8389-BB8C3BC0D4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5E39DB9E-9470-445A-B889-2675FDA959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前面所讨论的主要是直接测量量的误差计算，但在有些情况下，不能进行直接测量，或者，直接测量难以保证测量精确度，需要采用间接测量。</a:t>
            </a:r>
          </a:p>
        </p:txBody>
      </p:sp>
      <p:sp>
        <p:nvSpPr>
          <p:cNvPr id="52228" name="日期占位符 3">
            <a:extLst>
              <a:ext uri="{FF2B5EF4-FFF2-40B4-BE49-F238E27FC236}">
                <a16:creationId xmlns:a16="http://schemas.microsoft.com/office/drawing/2014/main" id="{CBB4EFE3-D7C3-4E43-B1DA-D2112A09B8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58F1C2-097E-4577-8188-0E0F69CFF722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2229" name="灯片编号占位符 4">
            <a:extLst>
              <a:ext uri="{FF2B5EF4-FFF2-40B4-BE49-F238E27FC236}">
                <a16:creationId xmlns:a16="http://schemas.microsoft.com/office/drawing/2014/main" id="{015A008E-8825-461B-81BB-5F8E3A035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30A6AB3-2D48-4A3F-B02F-56B5AB315E4C}" type="slidenum">
              <a:rPr lang="zh-CN" altLang="en-US" smtClean="0"/>
              <a:pPr/>
              <a:t>26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33658E94-6FDE-42F5-9069-78DDFD48B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4B426659-3A19-4B61-881F-88695F839E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在进行测量工作前，应根据给定测量总误差的允差来选择方案，合理进行误差分配，确定各单项误差，以保证测量精确度。</a:t>
            </a:r>
          </a:p>
        </p:txBody>
      </p:sp>
      <p:sp>
        <p:nvSpPr>
          <p:cNvPr id="54276" name="日期占位符 3">
            <a:extLst>
              <a:ext uri="{FF2B5EF4-FFF2-40B4-BE49-F238E27FC236}">
                <a16:creationId xmlns:a16="http://schemas.microsoft.com/office/drawing/2014/main" id="{D7BFF4B8-9081-4824-9399-81D1CE5E22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A4BAD0-3A71-4AAC-9EA2-A6E5DB57258C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4277" name="灯片编号占位符 4">
            <a:extLst>
              <a:ext uri="{FF2B5EF4-FFF2-40B4-BE49-F238E27FC236}">
                <a16:creationId xmlns:a16="http://schemas.microsoft.com/office/drawing/2014/main" id="{259EA899-1309-420F-9D7D-EA513E6B6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236253B-CABE-4C1D-BEB5-CFED47394721}" type="slidenum">
              <a:rPr lang="zh-CN" altLang="en-US" smtClean="0"/>
              <a:pPr/>
              <a:t>27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89146874-F53E-4BD7-A6BD-258003656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BF510593-AC13-44A9-B15A-20571410ED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56324" name="日期占位符 3">
            <a:extLst>
              <a:ext uri="{FF2B5EF4-FFF2-40B4-BE49-F238E27FC236}">
                <a16:creationId xmlns:a16="http://schemas.microsoft.com/office/drawing/2014/main" id="{21C7C97C-FBF4-49AF-B272-3F5AC348F6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E77F8D-84ED-4CF5-90BE-0AA7A3EAD1A8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6325" name="灯片编号占位符 4">
            <a:extLst>
              <a:ext uri="{FF2B5EF4-FFF2-40B4-BE49-F238E27FC236}">
                <a16:creationId xmlns:a16="http://schemas.microsoft.com/office/drawing/2014/main" id="{47C1AB42-5703-41F4-BA7F-ABD496D83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FECBFB-B532-4BB6-97D5-845C8D9988B3}" type="slidenum">
              <a:rPr lang="zh-CN" altLang="en-US" smtClean="0"/>
              <a:pPr/>
              <a:t>28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>
            <a:extLst>
              <a:ext uri="{FF2B5EF4-FFF2-40B4-BE49-F238E27FC236}">
                <a16:creationId xmlns:a16="http://schemas.microsoft.com/office/drawing/2014/main" id="{997B80F5-D966-4F80-8381-2875E698D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5" name="备注占位符 2">
            <a:extLst>
              <a:ext uri="{FF2B5EF4-FFF2-40B4-BE49-F238E27FC236}">
                <a16:creationId xmlns:a16="http://schemas.microsoft.com/office/drawing/2014/main" id="{06E28963-FF53-4975-8000-4D2774C85F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59396" name="日期占位符 3">
            <a:extLst>
              <a:ext uri="{FF2B5EF4-FFF2-40B4-BE49-F238E27FC236}">
                <a16:creationId xmlns:a16="http://schemas.microsoft.com/office/drawing/2014/main" id="{8A2CDB52-FC4E-4AA3-8944-74F3525663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0C9800-07AB-4BE6-8838-29BAADAEEEB4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59397" name="灯片编号占位符 4">
            <a:extLst>
              <a:ext uri="{FF2B5EF4-FFF2-40B4-BE49-F238E27FC236}">
                <a16:creationId xmlns:a16="http://schemas.microsoft.com/office/drawing/2014/main" id="{BD08F93C-05C4-4E03-ABB7-BC0A8085B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E9CBA6-C526-4C13-99EF-344C78682D2F}" type="slidenum">
              <a:rPr lang="zh-CN" altLang="en-US" smtClean="0"/>
              <a:pPr/>
              <a:t>30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5A4F0BAD-BC0D-4E72-B511-5A2D44DD83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E3C34603-3479-40FE-A2F1-54FF42D7E8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1444" name="日期占位符 3">
            <a:extLst>
              <a:ext uri="{FF2B5EF4-FFF2-40B4-BE49-F238E27FC236}">
                <a16:creationId xmlns:a16="http://schemas.microsoft.com/office/drawing/2014/main" id="{3E6AD162-08CA-4A05-BF14-43E453B00D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C39A05-391E-4394-AAA0-78240082D26C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1445" name="灯片编号占位符 4">
            <a:extLst>
              <a:ext uri="{FF2B5EF4-FFF2-40B4-BE49-F238E27FC236}">
                <a16:creationId xmlns:a16="http://schemas.microsoft.com/office/drawing/2014/main" id="{1684EE49-59CE-4215-8CF9-2FD700A4B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C23E38-530D-4988-AB52-3F05E4EF2582}" type="slidenum">
              <a:rPr lang="zh-CN" altLang="en-US" smtClean="0"/>
              <a:pPr/>
              <a:t>31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9FBCDFD4-0A28-4334-B3B1-E39D2079E7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DD064451-3508-4AF9-A7D3-A1239B1C8D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4516" name="日期占位符 3">
            <a:extLst>
              <a:ext uri="{FF2B5EF4-FFF2-40B4-BE49-F238E27FC236}">
                <a16:creationId xmlns:a16="http://schemas.microsoft.com/office/drawing/2014/main" id="{0045C498-14E1-4A2E-BBC2-75D7B8F1A9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F89CD3-AEB0-4626-BA5D-D9437214A5B6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4517" name="灯片编号占位符 4">
            <a:extLst>
              <a:ext uri="{FF2B5EF4-FFF2-40B4-BE49-F238E27FC236}">
                <a16:creationId xmlns:a16="http://schemas.microsoft.com/office/drawing/2014/main" id="{D326429A-9F87-487C-9A15-A3EF91DF6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5FD2E8-237F-446A-9E23-5116467FDA4F}" type="slidenum">
              <a:rPr lang="zh-CN" altLang="en-US" smtClean="0"/>
              <a:pPr/>
              <a:t>33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B5FA522C-CBF8-4680-A5FF-174FF60BCD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1FDBE5DD-8FEE-4EE9-ABAF-DDF0D13342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6564" name="日期占位符 3">
            <a:extLst>
              <a:ext uri="{FF2B5EF4-FFF2-40B4-BE49-F238E27FC236}">
                <a16:creationId xmlns:a16="http://schemas.microsoft.com/office/drawing/2014/main" id="{B5B9BDFC-95CB-4106-9ABC-A19473130E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E37F04-EE1D-4ADA-950F-F7CED0AE1871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6565" name="灯片编号占位符 4">
            <a:extLst>
              <a:ext uri="{FF2B5EF4-FFF2-40B4-BE49-F238E27FC236}">
                <a16:creationId xmlns:a16="http://schemas.microsoft.com/office/drawing/2014/main" id="{28BDB96C-36D4-48BA-98E8-643E7FBDA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8A01C5-9535-49D7-AB6D-397C0939CEF4}" type="slidenum">
              <a:rPr lang="zh-CN" altLang="en-US" smtClean="0"/>
              <a:pPr/>
              <a:t>34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C8EE6EDE-F4F0-45F3-857C-F70470C6D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83E9D284-E182-4BBF-8A4E-B11679F5AFF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最佳函数误差公式：</a:t>
            </a:r>
            <a:r>
              <a:rPr lang="zh-CN" altLang="en-US">
                <a:sym typeface="Wingdings" panose="05000000000000000000" pitchFamily="2" charset="2"/>
              </a:rPr>
              <a:t>（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）尽可能减小直接测量量数目；（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）选择误差较小的测量；</a:t>
            </a:r>
            <a:endParaRPr lang="zh-CN" altLang="en-US"/>
          </a:p>
        </p:txBody>
      </p:sp>
      <p:sp>
        <p:nvSpPr>
          <p:cNvPr id="68612" name="日期占位符 3">
            <a:extLst>
              <a:ext uri="{FF2B5EF4-FFF2-40B4-BE49-F238E27FC236}">
                <a16:creationId xmlns:a16="http://schemas.microsoft.com/office/drawing/2014/main" id="{2C8BAA44-A7CD-403C-94AD-C9787FAA3C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0BF6FA-37B0-4BFE-97D8-D3B1A28CB541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68613" name="灯片编号占位符 4">
            <a:extLst>
              <a:ext uri="{FF2B5EF4-FFF2-40B4-BE49-F238E27FC236}">
                <a16:creationId xmlns:a16="http://schemas.microsoft.com/office/drawing/2014/main" id="{35D85E15-CDC9-49C0-984A-368FDE976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A1EAC3-6C15-4B1B-ADE4-D5BE4BE17B0E}" type="slidenum">
              <a:rPr lang="zh-CN" altLang="en-US" smtClean="0"/>
              <a:pPr/>
              <a:t>35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01CBB05C-BA0B-4DD1-8E36-EB7B11FCBB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1883FE5E-64B0-4D66-848B-4150B9836F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上式置信概率较小，大约</a:t>
            </a:r>
            <a:r>
              <a:rPr lang="en-US" altLang="zh-CN"/>
              <a:t>68%</a:t>
            </a:r>
            <a:endParaRPr lang="zh-CN" altLang="en-US"/>
          </a:p>
        </p:txBody>
      </p:sp>
      <p:sp>
        <p:nvSpPr>
          <p:cNvPr id="70660" name="日期占位符 3">
            <a:extLst>
              <a:ext uri="{FF2B5EF4-FFF2-40B4-BE49-F238E27FC236}">
                <a16:creationId xmlns:a16="http://schemas.microsoft.com/office/drawing/2014/main" id="{FF9BA2CE-D53E-48D0-8CA9-66045091BE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CE9AE0D-9AB7-4B9B-AA9E-B76F8FD4577C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0661" name="灯片编号占位符 4">
            <a:extLst>
              <a:ext uri="{FF2B5EF4-FFF2-40B4-BE49-F238E27FC236}">
                <a16:creationId xmlns:a16="http://schemas.microsoft.com/office/drawing/2014/main" id="{C56E4092-57AB-440E-8D68-35098B5B5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4BCCD2-50DD-4487-BD03-5C5CC38D9B33}" type="slidenum">
              <a:rPr lang="zh-CN" altLang="en-US" smtClean="0"/>
              <a:pPr/>
              <a:t>36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91298CF2-F13C-404D-8A32-8B88A0D3E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BEE020F3-B43F-4B5B-9F36-89A0DF79F7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2708" name="日期占位符 3">
            <a:extLst>
              <a:ext uri="{FF2B5EF4-FFF2-40B4-BE49-F238E27FC236}">
                <a16:creationId xmlns:a16="http://schemas.microsoft.com/office/drawing/2014/main" id="{CCDB9FA7-8931-49F2-87EC-801FA6E4F4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6D6E0C-81D6-47F5-841F-F94EFBDBE845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2709" name="灯片编号占位符 4">
            <a:extLst>
              <a:ext uri="{FF2B5EF4-FFF2-40B4-BE49-F238E27FC236}">
                <a16:creationId xmlns:a16="http://schemas.microsoft.com/office/drawing/2014/main" id="{1D95952A-9E6C-4DDD-AB31-AB3E9209B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841045-F3B9-47B3-BF55-5B90ECCC3628}" type="slidenum">
              <a:rPr lang="zh-CN" altLang="en-US" smtClean="0"/>
              <a:pPr/>
              <a:t>37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579F4B84-D09E-48AF-ABFA-6097E294C8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66ED2C0A-2DDF-493E-87F5-A440A28360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4756" name="日期占位符 3">
            <a:extLst>
              <a:ext uri="{FF2B5EF4-FFF2-40B4-BE49-F238E27FC236}">
                <a16:creationId xmlns:a16="http://schemas.microsoft.com/office/drawing/2014/main" id="{1449CF02-A96D-49EB-8A66-BF7FEC2D72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55E972-FF4B-487E-95F8-1A82E4101A7E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4757" name="灯片编号占位符 4">
            <a:extLst>
              <a:ext uri="{FF2B5EF4-FFF2-40B4-BE49-F238E27FC236}">
                <a16:creationId xmlns:a16="http://schemas.microsoft.com/office/drawing/2014/main" id="{745FAA0B-05FB-45AE-88B7-BAEB21E95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8BF991-C7B4-4F09-91CD-C31ADBE4FAA8}" type="slidenum">
              <a:rPr lang="zh-CN" altLang="en-US" smtClean="0"/>
              <a:pPr/>
              <a:t>38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2EB6628A-0B5B-46F1-B7D8-E5FE88CED1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00283E6B-261A-4DBA-875D-D8C01BD42A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6804" name="日期占位符 3">
            <a:extLst>
              <a:ext uri="{FF2B5EF4-FFF2-40B4-BE49-F238E27FC236}">
                <a16:creationId xmlns:a16="http://schemas.microsoft.com/office/drawing/2014/main" id="{4A43C9D0-7D33-43FA-BF0C-1008FC738B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27AE994-7B4F-45ED-BC3E-060F00398BE8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6805" name="灯片编号占位符 4">
            <a:extLst>
              <a:ext uri="{FF2B5EF4-FFF2-40B4-BE49-F238E27FC236}">
                <a16:creationId xmlns:a16="http://schemas.microsoft.com/office/drawing/2014/main" id="{D54CA68E-9AC3-45B6-AC72-8938B0E62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5C3153-3D6F-4497-B3D2-5DFF6245E118}" type="slidenum">
              <a:rPr lang="zh-CN" altLang="en-US" smtClean="0"/>
              <a:pPr/>
              <a:t>39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3C5E3361-1351-4555-A83C-A8AC15689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B0B154DA-3F8E-491C-8DB7-155C437E8A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往往由于缺少资料难以确定每个分量的自由度，无法根据上式计算自由度，通常情况下可取包含因子</a:t>
            </a:r>
            <a:r>
              <a:rPr lang="en-US" altLang="zh-CN"/>
              <a:t>k=2~3</a:t>
            </a:r>
            <a:endParaRPr lang="zh-CN" altLang="en-US"/>
          </a:p>
        </p:txBody>
      </p:sp>
      <p:sp>
        <p:nvSpPr>
          <p:cNvPr id="78852" name="日期占位符 3">
            <a:extLst>
              <a:ext uri="{FF2B5EF4-FFF2-40B4-BE49-F238E27FC236}">
                <a16:creationId xmlns:a16="http://schemas.microsoft.com/office/drawing/2014/main" id="{9F8218E1-03E8-4281-AAA0-43986F135D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BA9B74-8BA7-458F-BF40-7FF2ABAD8E46}" type="datetime1">
              <a:rPr lang="zh-CN" altLang="en-US" smtClean="0"/>
              <a:pPr/>
              <a:t>2024/9/4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  <p:sp>
        <p:nvSpPr>
          <p:cNvPr id="78853" name="灯片编号占位符 4">
            <a:extLst>
              <a:ext uri="{FF2B5EF4-FFF2-40B4-BE49-F238E27FC236}">
                <a16:creationId xmlns:a16="http://schemas.microsoft.com/office/drawing/2014/main" id="{84AACA4F-D397-44A4-BC54-A07BC7F4D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51315E2-65E7-4091-A17F-411993D399F5}" type="slidenum">
              <a:rPr lang="zh-CN" altLang="en-US" smtClean="0"/>
              <a:pPr/>
              <a:t>40</a:t>
            </a:fld>
            <a:endParaRPr lang="zh-CN" altLang="en-US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3AF83E-9EE3-46E9-91FD-AD32CC79AD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60ED8-EC85-4F69-B3EC-3446AB87E0C6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97F0DE-2194-42E7-BE41-F01F100309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6F348-D6CA-4483-8BFE-3370457BEF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96B74-42DB-4C7B-B0C6-2807174EAB4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098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45547-12DB-4FF1-B205-C55229CD35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88608-FE34-4B3F-8A30-A4BE6BBB897F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E46AF0-EBE7-4C31-A757-719B3A32F7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B4F982-EF0B-4426-BD6D-6EE9A07B6C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B41F3-9DEF-4069-BB27-0BB82108858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8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75963C-0631-49F3-8F55-D110ACEA76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12667-ABB2-486B-847D-6DC3D1FFD86A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55FBC7-D2B8-49BD-B1E5-808C54D9D6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60EE8-406C-4118-8762-8502093B2D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E5B0A-0AF1-4D8A-B918-A57B4B723E0B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8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0C4590D-B3B2-4414-9834-09000FD32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7831C-BC65-4E5F-9A0C-65AF95034D2B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6615D65-0CF9-4209-850F-AEA22C7C74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34CC8FA-1829-487D-940F-7F93D498F2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5D0E7-9051-43D4-ADB3-8468AAFD3279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8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1B3B6AA7-B431-44A8-AAA1-D05641F30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7AFDB-0796-4EBE-BA76-1AE474E1BE1D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2F9C6F4-5529-4BF1-A109-F21F36D9AC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C0F280E-F87B-40E9-AF61-225113DD4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5EDA0-08D1-4F23-8D7B-C59F29B0560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017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95AD5C6-6C0E-411E-BF43-008E22042B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D00A-6826-4624-87CD-CCE7C422C8D7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AC3FC6D-8192-49D1-8ABC-18493DA22C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D563850-B474-43FB-B28D-72149AC690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1E341-7310-4995-B145-C8233B7E5B81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73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B57A5371-3974-4617-96E4-45F9E60F85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55D5C-0E89-4D89-952D-96AB3D7F08F3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FB5BD5D-1266-45AF-9B69-659C3E1732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FD26B91-EB06-4058-86BF-3764EF184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A5324-7CF9-4280-A5B2-64D0C8E9D1E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85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067E942-0BA9-4D6F-95DC-65CB417EF2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AE958-14EA-47FE-BDD5-7EABC4FD3A39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9BF7A673-8A71-4526-8AFA-DC73AB49EE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CDDA52-4082-43E6-8198-57FFF43666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40CB6-A291-4450-9C04-43A329B842D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557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EF459E5-4DE3-47D0-BFF0-557B6047AA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BE5A6-4BCA-45FB-BAFA-A697F27B85AC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7008A86-1701-4110-8E47-DBFC1B7A45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298AB82-481B-4103-929C-03A2A38A73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FFEA74-9AD6-48D7-87C0-9549FC65B0B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01E0AA-591D-445B-B6E3-41434BECFE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AD964-2232-492C-B70F-3C552531BCDB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C31172-44DA-423C-8D2C-1991DC0B5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16C40D-2E27-41B6-986D-E682624979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FFCF1-888F-445F-8F14-B07CE9DBF61F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89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F8433E-0E11-4C9D-B2E7-ABEADFACDA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CB970-F671-40E7-A393-F64EA01DDAB5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97125-5DB2-4E43-81F4-5979B1D97E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华中科技大学人工智能与自动化学院测量科学与仪器系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0A0D0-C5C4-4936-80F0-A173662569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CEA19-07CF-41A1-8EF1-C48BD1F310E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88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4CF016E-BC98-4970-A6F7-597BA778F0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4A905EE-73F3-4E6B-938E-6CFB6CEB8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zh-CN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zh-CN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zh-CN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>
            <a:extLst>
              <a:ext uri="{FF2B5EF4-FFF2-40B4-BE49-F238E27FC236}">
                <a16:creationId xmlns:a16="http://schemas.microsoft.com/office/drawing/2014/main" id="{39C41FAF-AF6E-4CE0-8EBC-A9549A0F9D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sym typeface="Calibri" pitchFamily="34" charset="0"/>
              </a:defRPr>
            </a:lvl1pPr>
          </a:lstStyle>
          <a:p>
            <a:pPr>
              <a:defRPr/>
            </a:pPr>
            <a:fld id="{36C8293B-4A1D-4C3D-B3AD-7BC69EF139A2}" type="datetime1">
              <a:rPr lang="zh-CN" altLang="en-US"/>
              <a:pPr>
                <a:defRPr/>
              </a:pPr>
              <a:t>2024/9/4</a:t>
            </a:fld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29" name="页脚占位符 4">
            <a:extLst>
              <a:ext uri="{FF2B5EF4-FFF2-40B4-BE49-F238E27FC236}">
                <a16:creationId xmlns:a16="http://schemas.microsoft.com/office/drawing/2014/main" id="{285BA646-77DF-46AD-AB36-6F7D7836477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sym typeface="Calibri" pitchFamily="34" charset="0"/>
              </a:defRPr>
            </a:lvl1pPr>
          </a:lstStyle>
          <a:p>
            <a:pPr>
              <a:defRPr/>
            </a:pPr>
            <a:r>
              <a:rPr lang="zh-CN" altLang="en-US"/>
              <a:t>华中科技大学自动化学院测量科学与仪器系</a:t>
            </a:r>
            <a:endParaRPr lang="zh-CN" altLang="en-US" sz="180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030" name="灯片编号占位符 5">
            <a:extLst>
              <a:ext uri="{FF2B5EF4-FFF2-40B4-BE49-F238E27FC236}">
                <a16:creationId xmlns:a16="http://schemas.microsoft.com/office/drawing/2014/main" id="{AC5BD581-EB24-4D62-9E9B-905601A7C5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pPr>
              <a:defRPr/>
            </a:pPr>
            <a:fld id="{6D3BFBD0-47ED-4A60-BEFF-FBD2A08AC86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  <a:sym typeface="Calibri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anose="020F0502020204030204" pitchFamily="34" charset="0"/>
        </a:defRPr>
      </a:lvl5pPr>
      <a:lvl6pPr marL="25146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defTabSz="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earch.kongfz.com/item_result/?status=0&amp;select=2&amp;author=hk8d39k4e1ak6cf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8.png"/><Relationship Id="rId4" Type="http://schemas.openxmlformats.org/officeDocument/2006/relationships/image" Target="../media/image15.wmf"/><Relationship Id="rId9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26.png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5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7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4.jpeg"/><Relationship Id="rId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43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3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3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5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47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20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5F3C22AF-6258-4D19-BD54-6F5F20A1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64B96D7-DCF5-4399-B50E-6F9BA77A2EE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243478C-4F57-4B4B-BBA2-B7854996AF20}"/>
              </a:ext>
            </a:extLst>
          </p:cNvPr>
          <p:cNvSpPr/>
          <p:nvPr/>
        </p:nvSpPr>
        <p:spPr>
          <a:xfrm>
            <a:off x="117475" y="1420813"/>
            <a:ext cx="4206875" cy="46037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7D090EB-8042-40D9-95AD-F7B48C880FE5}"/>
              </a:ext>
            </a:extLst>
          </p:cNvPr>
          <p:cNvSpPr/>
          <p:nvPr/>
        </p:nvSpPr>
        <p:spPr>
          <a:xfrm rot="10800000" flipV="1">
            <a:off x="4900613" y="4487863"/>
            <a:ext cx="4089400" cy="46037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3317" name="TextBox 13">
            <a:extLst>
              <a:ext uri="{FF2B5EF4-FFF2-40B4-BE49-F238E27FC236}">
                <a16:creationId xmlns:a16="http://schemas.microsoft.com/office/drawing/2014/main" id="{F1D5BE6C-DB51-4F99-95B4-D78D20B46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2041525"/>
            <a:ext cx="7691438" cy="215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buSzPct val="85000"/>
              <a:buFontTx/>
              <a:buNone/>
            </a:pPr>
            <a:r>
              <a:rPr lang="zh-CN" altLang="en-US" sz="440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第一章 </a:t>
            </a:r>
            <a:r>
              <a:rPr lang="en-US" altLang="zh-CN" sz="440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PART2</a:t>
            </a:r>
          </a:p>
          <a:p>
            <a:pPr algn="ctr" eaLnBrk="1" hangingPunct="1">
              <a:lnSpc>
                <a:spcPct val="150000"/>
              </a:lnSpc>
              <a:buSzPct val="85000"/>
              <a:buFontTx/>
              <a:buNone/>
            </a:pPr>
            <a:r>
              <a:rPr lang="zh-CN" altLang="en-US" sz="440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  检测数据处理   </a:t>
            </a:r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35C4CD13-BFBE-49A2-B696-8806040A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AFB1D5E-FFA1-4DE4-8438-94155F332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9113" y="179388"/>
            <a:ext cx="3359150" cy="769937"/>
          </a:xfrm>
        </p:spPr>
        <p:txBody>
          <a:bodyPr/>
          <a:lstStyle/>
          <a:p>
            <a:pPr algn="l" eaLnBrk="1" hangingPunct="1"/>
            <a:r>
              <a:rPr lang="zh-CN" altLang="en-US"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本章主要内容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00F2FE8-2A61-4862-9C95-39CBEE134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4225" y="1844675"/>
            <a:ext cx="4464050" cy="2297113"/>
          </a:xfrm>
        </p:spPr>
        <p:txBody>
          <a:bodyPr/>
          <a:lstStyle/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800" b="1" dirty="0"/>
              <a:t>误差理论基础</a:t>
            </a:r>
            <a:endParaRPr lang="en-US" altLang="zh-CN" sz="2800" b="1" dirty="0"/>
          </a:p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800" b="1" dirty="0"/>
              <a:t>误差的合成与分配</a:t>
            </a:r>
            <a:endParaRPr lang="en-US" altLang="zh-CN" sz="2800" b="1" dirty="0"/>
          </a:p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800" b="1" dirty="0"/>
              <a:t>测量不确定度</a:t>
            </a:r>
          </a:p>
        </p:txBody>
      </p:sp>
      <p:sp>
        <p:nvSpPr>
          <p:cNvPr id="14340" name="灯片编号占位符 5">
            <a:extLst>
              <a:ext uri="{FF2B5EF4-FFF2-40B4-BE49-F238E27FC236}">
                <a16:creationId xmlns:a16="http://schemas.microsoft.com/office/drawing/2014/main" id="{14226B86-597E-4BFD-A12F-CD74468D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19F336D5-73BE-45AF-A6A5-CA6EB33321A1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EFBBFD-0B2B-4CD4-A179-FF79221B1A6A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BACD56DD-F79D-4368-AB08-8B1857AA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  <p:sp>
        <p:nvSpPr>
          <p:cNvPr id="14343" name="矩形 1">
            <a:extLst>
              <a:ext uri="{FF2B5EF4-FFF2-40B4-BE49-F238E27FC236}">
                <a16:creationId xmlns:a16="http://schemas.microsoft.com/office/drawing/2014/main" id="{BE29A211-29A3-450A-8304-39B37824B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3" y="4756150"/>
            <a:ext cx="804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333333"/>
                </a:solidFill>
                <a:latin typeface="Helvetica" panose="020B0604020202020204" pitchFamily="34" charset="0"/>
              </a:rPr>
              <a:t>参考书：</a:t>
            </a:r>
            <a:r>
              <a:rPr lang="zh-CN" altLang="en-US" sz="1800">
                <a:latin typeface="Arial" panose="020B0604020202020204" pitchFamily="34" charset="0"/>
                <a:hlinkClick r:id="rId3"/>
              </a:rPr>
              <a:t>费业泰</a:t>
            </a:r>
            <a:r>
              <a:rPr lang="zh-CN" altLang="en-US" sz="1800">
                <a:latin typeface="Arial" panose="020B0604020202020204" pitchFamily="34" charset="0"/>
              </a:rPr>
              <a:t> ，</a:t>
            </a:r>
            <a:r>
              <a:rPr lang="zh-CN" altLang="en-US" sz="1800" b="1">
                <a:solidFill>
                  <a:srgbClr val="333333"/>
                </a:solidFill>
                <a:latin typeface="Helvetica" panose="020B0604020202020204" pitchFamily="34" charset="0"/>
              </a:rPr>
              <a:t>误差理论与数据处理（苐</a:t>
            </a:r>
            <a:r>
              <a:rPr lang="en-US" altLang="zh-CN" sz="1800" b="1">
                <a:solidFill>
                  <a:srgbClr val="333333"/>
                </a:solidFill>
                <a:latin typeface="Helvetica" panose="020B0604020202020204" pitchFamily="34" charset="0"/>
              </a:rPr>
              <a:t>7</a:t>
            </a:r>
            <a:r>
              <a:rPr lang="zh-CN" altLang="en-US" sz="1800" b="1">
                <a:solidFill>
                  <a:srgbClr val="333333"/>
                </a:solidFill>
                <a:latin typeface="Helvetica" panose="020B0604020202020204" pitchFamily="34" charset="0"/>
              </a:rPr>
              <a:t>版），机械工业出版社，</a:t>
            </a:r>
            <a:r>
              <a:rPr lang="en-US" altLang="zh-CN" sz="1800" b="1">
                <a:solidFill>
                  <a:srgbClr val="333333"/>
                </a:solidFill>
                <a:latin typeface="Helvetica" panose="020B0604020202020204" pitchFamily="34" charset="0"/>
              </a:rPr>
              <a:t>2015.4</a:t>
            </a:r>
            <a:endParaRPr lang="zh-CN" altLang="en-US" sz="1800" b="1">
              <a:solidFill>
                <a:srgbClr val="333333"/>
              </a:solidFill>
              <a:latin typeface="Helvetica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5FCA83-1603-4B05-AC0D-8EC5ED760837}"/>
              </a:ext>
            </a:extLst>
          </p:cNvPr>
          <p:cNvSpPr/>
          <p:nvPr/>
        </p:nvSpPr>
        <p:spPr>
          <a:xfrm>
            <a:off x="407988" y="4079875"/>
            <a:ext cx="40036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600"/>
              </a:spcAft>
              <a:buClr>
                <a:schemeClr val="accent6"/>
              </a:buClr>
              <a:buFont typeface="Arial" charset="0"/>
              <a:buChar char="•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测量过程总在和误差做斗争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1F67101E-8ABB-433C-AE20-DD98A66C23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误差理论基础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7" name="灯片编号占位符 5">
            <a:extLst>
              <a:ext uri="{FF2B5EF4-FFF2-40B4-BE49-F238E27FC236}">
                <a16:creationId xmlns:a16="http://schemas.microsoft.com/office/drawing/2014/main" id="{8E1B0BB7-D4E3-49C8-BD44-F5B4F29F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27B0DE30-0D70-4823-9E4B-BD7EC077AC7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B69AD9-0155-4F97-882C-8907970374D8}"/>
              </a:ext>
            </a:extLst>
          </p:cNvPr>
          <p:cNvSpPr/>
          <p:nvPr/>
        </p:nvSpPr>
        <p:spPr>
          <a:xfrm>
            <a:off x="149225" y="9366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2" name="页脚占位符 6">
            <a:extLst>
              <a:ext uri="{FF2B5EF4-FFF2-40B4-BE49-F238E27FC236}">
                <a16:creationId xmlns:a16="http://schemas.microsoft.com/office/drawing/2014/main" id="{39FFAABC-007E-4517-889F-1C2BAC05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  <p:sp>
        <p:nvSpPr>
          <p:cNvPr id="16390" name="文本框 1">
            <a:extLst>
              <a:ext uri="{FF2B5EF4-FFF2-40B4-BE49-F238E27FC236}">
                <a16:creationId xmlns:a16="http://schemas.microsoft.com/office/drawing/2014/main" id="{750B73AB-1A5E-4D63-89A6-15E9E0578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916113"/>
            <a:ext cx="164306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定义及表示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1" name="文本框 3">
            <a:extLst>
              <a:ext uri="{FF2B5EF4-FFF2-40B4-BE49-F238E27FC236}">
                <a16:creationId xmlns:a16="http://schemas.microsoft.com/office/drawing/2014/main" id="{601A4D09-C5D4-4EB2-BB17-A5D0D4422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3370263"/>
            <a:ext cx="15414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16392" name="左大括号 4">
            <a:extLst>
              <a:ext uri="{FF2B5EF4-FFF2-40B4-BE49-F238E27FC236}">
                <a16:creationId xmlns:a16="http://schemas.microsoft.com/office/drawing/2014/main" id="{F68858F5-1CA9-4167-AF37-E6A8CC96144F}"/>
              </a:ext>
            </a:extLst>
          </p:cNvPr>
          <p:cNvSpPr>
            <a:spLocks/>
          </p:cNvSpPr>
          <p:nvPr/>
        </p:nvSpPr>
        <p:spPr bwMode="auto">
          <a:xfrm>
            <a:off x="2436813" y="2182813"/>
            <a:ext cx="431800" cy="3059112"/>
          </a:xfrm>
          <a:prstGeom prst="leftBrace">
            <a:avLst>
              <a:gd name="adj1" fmla="val 833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6393" name="文本框 1">
            <a:extLst>
              <a:ext uri="{FF2B5EF4-FFF2-40B4-BE49-F238E27FC236}">
                <a16:creationId xmlns:a16="http://schemas.microsoft.com/office/drawing/2014/main" id="{6A7CE787-4AB9-4975-9DC1-A071D6E28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325" y="4918075"/>
            <a:ext cx="1404938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误差来源</a:t>
            </a:r>
          </a:p>
        </p:txBody>
      </p:sp>
      <p:sp>
        <p:nvSpPr>
          <p:cNvPr id="16394" name="左大括号 4">
            <a:extLst>
              <a:ext uri="{FF2B5EF4-FFF2-40B4-BE49-F238E27FC236}">
                <a16:creationId xmlns:a16="http://schemas.microsoft.com/office/drawing/2014/main" id="{B2707C0F-9BFA-4C60-8FD0-D6A3A7B1644B}"/>
              </a:ext>
            </a:extLst>
          </p:cNvPr>
          <p:cNvSpPr>
            <a:spLocks/>
          </p:cNvSpPr>
          <p:nvPr/>
        </p:nvSpPr>
        <p:spPr bwMode="auto">
          <a:xfrm>
            <a:off x="4292600" y="1652588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6395" name="文本框 1">
            <a:extLst>
              <a:ext uri="{FF2B5EF4-FFF2-40B4-BE49-F238E27FC236}">
                <a16:creationId xmlns:a16="http://schemas.microsoft.com/office/drawing/2014/main" id="{F19EA99B-5F50-4805-98D8-5EF0BE5B9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470025"/>
            <a:ext cx="1333500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绝对误差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相对误差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引用误差</a:t>
            </a:r>
          </a:p>
        </p:txBody>
      </p:sp>
      <p:sp>
        <p:nvSpPr>
          <p:cNvPr id="16396" name="文本框 1">
            <a:extLst>
              <a:ext uri="{FF2B5EF4-FFF2-40B4-BE49-F238E27FC236}">
                <a16:creationId xmlns:a16="http://schemas.microsoft.com/office/drawing/2014/main" id="{9C3D6FEF-F701-4F77-87C4-F1D919B47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3363" y="2414588"/>
            <a:ext cx="1643062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仪表准确度</a:t>
            </a:r>
            <a:endParaRPr lang="en-US" altLang="zh-CN" sz="2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AB849ED-300F-4C34-85B2-D2C4D24541B4}"/>
              </a:ext>
            </a:extLst>
          </p:cNvPr>
          <p:cNvCxnSpPr/>
          <p:nvPr/>
        </p:nvCxnSpPr>
        <p:spPr bwMode="auto">
          <a:xfrm>
            <a:off x="5930900" y="2706688"/>
            <a:ext cx="701675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398" name="文本框 1">
            <a:extLst>
              <a:ext uri="{FF2B5EF4-FFF2-40B4-BE49-F238E27FC236}">
                <a16:creationId xmlns:a16="http://schemas.microsoft.com/office/drawing/2014/main" id="{E1627301-6743-42F1-850A-D9E67C041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3454400"/>
            <a:ext cx="8477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分类</a:t>
            </a:r>
            <a:endParaRPr lang="en-US" altLang="zh-CN" sz="20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9" name="左大括号 4">
            <a:extLst>
              <a:ext uri="{FF2B5EF4-FFF2-40B4-BE49-F238E27FC236}">
                <a16:creationId xmlns:a16="http://schemas.microsoft.com/office/drawing/2014/main" id="{FE2B2AF1-FE69-4253-B7F0-C594CC4FE1C6}"/>
              </a:ext>
            </a:extLst>
          </p:cNvPr>
          <p:cNvSpPr>
            <a:spLocks/>
          </p:cNvSpPr>
          <p:nvPr/>
        </p:nvSpPr>
        <p:spPr bwMode="auto">
          <a:xfrm>
            <a:off x="4284663" y="3211513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6400" name="文本框 1">
            <a:extLst>
              <a:ext uri="{FF2B5EF4-FFF2-40B4-BE49-F238E27FC236}">
                <a16:creationId xmlns:a16="http://schemas.microsoft.com/office/drawing/2014/main" id="{7C67F355-331A-4BC0-A6D7-05E6EB0FA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6413"/>
            <a:ext cx="13335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  <a:endParaRPr lang="en-US" altLang="zh-CN" sz="20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</a:t>
            </a:r>
          </a:p>
        </p:txBody>
      </p:sp>
      <p:sp>
        <p:nvSpPr>
          <p:cNvPr id="16401" name="文本框 3">
            <a:extLst>
              <a:ext uri="{FF2B5EF4-FFF2-40B4-BE49-F238E27FC236}">
                <a16:creationId xmlns:a16="http://schemas.microsoft.com/office/drawing/2014/main" id="{4895E8F0-6C2D-4BDA-8FB4-37983735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7238" y="5705475"/>
            <a:ext cx="1754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误差的处理</a:t>
            </a:r>
          </a:p>
        </p:txBody>
      </p:sp>
      <p:sp>
        <p:nvSpPr>
          <p:cNvPr id="8" name="直角上箭头 7">
            <a:extLst>
              <a:ext uri="{FF2B5EF4-FFF2-40B4-BE49-F238E27FC236}">
                <a16:creationId xmlns:a16="http://schemas.microsoft.com/office/drawing/2014/main" id="{F232CD22-9E49-4752-96A8-EA34A6F270C7}"/>
              </a:ext>
            </a:extLst>
          </p:cNvPr>
          <p:cNvSpPr/>
          <p:nvPr/>
        </p:nvSpPr>
        <p:spPr bwMode="auto">
          <a:xfrm rot="16200000">
            <a:off x="5434806" y="4368007"/>
            <a:ext cx="1817687" cy="571500"/>
          </a:xfrm>
          <a:prstGeom prst="bentUp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65E8955E-29C3-4EDF-A720-E82B742AB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1052513"/>
            <a:ext cx="34210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主要内容：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endParaRPr lang="zh-CN" altLang="en-US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2FA5573D-1635-4366-8079-66DEF58A1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误差理论基础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灯片编号占位符 5">
            <a:extLst>
              <a:ext uri="{FF2B5EF4-FFF2-40B4-BE49-F238E27FC236}">
                <a16:creationId xmlns:a16="http://schemas.microsoft.com/office/drawing/2014/main" id="{F1CA434B-80F0-4FC5-9180-BD7EA228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3538075-347C-48B3-80FD-E6899DD694BB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4D3028-A45C-4096-B94F-31C9ECEC61A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14916F25-2442-456D-B5FD-20E885178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12" name="页脚占位符 6">
            <a:extLst>
              <a:ext uri="{FF2B5EF4-FFF2-40B4-BE49-F238E27FC236}">
                <a16:creationId xmlns:a16="http://schemas.microsoft.com/office/drawing/2014/main" id="{4E8405B5-678E-4CC3-BFFD-1F656F29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503988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7175" name="文本框 3">
            <a:extLst>
              <a:ext uri="{FF2B5EF4-FFF2-40B4-BE49-F238E27FC236}">
                <a16:creationId xmlns:a16="http://schemas.microsoft.com/office/drawing/2014/main" id="{4DEA41CF-3FEA-4785-96B5-48AC9F11A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1851025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误差的定义及表示</a:t>
            </a:r>
          </a:p>
        </p:txBody>
      </p:sp>
      <p:sp>
        <p:nvSpPr>
          <p:cNvPr id="7176" name="文本框 3">
            <a:extLst>
              <a:ext uri="{FF2B5EF4-FFF2-40B4-BE49-F238E27FC236}">
                <a16:creationId xmlns:a16="http://schemas.microsoft.com/office/drawing/2014/main" id="{559FB940-96BF-47C9-9B7A-A8DE3EB4E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9038" y="2455863"/>
            <a:ext cx="33448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误差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测得值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</a:p>
        </p:txBody>
      </p:sp>
      <p:sp>
        <p:nvSpPr>
          <p:cNvPr id="7177" name="文本框 3">
            <a:extLst>
              <a:ext uri="{FF2B5EF4-FFF2-40B4-BE49-F238E27FC236}">
                <a16:creationId xmlns:a16="http://schemas.microsoft.com/office/drawing/2014/main" id="{EECFF265-4FFB-478F-BDE8-2CE75F491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275" y="3289300"/>
            <a:ext cx="23241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通常用约定真值 </a:t>
            </a:r>
            <a:r>
              <a:rPr lang="en-US" altLang="zh-CN" sz="20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(A)</a:t>
            </a:r>
            <a:r>
              <a:rPr lang="zh-CN" altLang="en-US" sz="20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代替</a:t>
            </a:r>
          </a:p>
        </p:txBody>
      </p:sp>
      <p:sp>
        <p:nvSpPr>
          <p:cNvPr id="7178" name="右箭头 1">
            <a:extLst>
              <a:ext uri="{FF2B5EF4-FFF2-40B4-BE49-F238E27FC236}">
                <a16:creationId xmlns:a16="http://schemas.microsoft.com/office/drawing/2014/main" id="{0C3FDFC1-1D23-4C56-B86D-67340F0B3DC9}"/>
              </a:ext>
            </a:extLst>
          </p:cNvPr>
          <p:cNvSpPr>
            <a:spLocks noChangeArrowheads="1"/>
          </p:cNvSpPr>
          <p:nvPr/>
        </p:nvSpPr>
        <p:spPr bwMode="auto">
          <a:xfrm rot="-8730152">
            <a:off x="5145088" y="3128963"/>
            <a:ext cx="949325" cy="149225"/>
          </a:xfrm>
          <a:prstGeom prst="rightArrow">
            <a:avLst>
              <a:gd name="adj1" fmla="val 50000"/>
              <a:gd name="adj2" fmla="val 5027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179" name="文本框 3">
            <a:extLst>
              <a:ext uri="{FF2B5EF4-FFF2-40B4-BE49-F238E27FC236}">
                <a16:creationId xmlns:a16="http://schemas.microsoft.com/office/drawing/2014/main" id="{6EA65D22-BA9D-4E22-82F2-5E431F3BD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3" y="4662488"/>
            <a:ext cx="196056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约定真值</a:t>
            </a:r>
            <a:r>
              <a:rPr lang="en-US" altLang="zh-CN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(A)</a:t>
            </a:r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000" b="1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PMingLiU" panose="02020500000000000000" pitchFamily="18" charset="-120"/>
                <a:ea typeface="PMingLiU" panose="02020500000000000000" pitchFamily="18" charset="-120"/>
              </a:rPr>
              <a:t>Conventional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PMingLiU" panose="02020500000000000000" pitchFamily="18" charset="-120"/>
                <a:ea typeface="PMingLiU" panose="02020500000000000000" pitchFamily="18" charset="-120"/>
              </a:rPr>
              <a:t> true value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000" b="1">
              <a:latin typeface="PMingLiU" panose="02020500000000000000" pitchFamily="18" charset="-120"/>
              <a:ea typeface="PMingLiU" panose="02020500000000000000" pitchFamily="18" charset="-12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00B05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3</a:t>
            </a:r>
            <a:r>
              <a:rPr lang="zh-CN" altLang="en-US" sz="2000" b="1">
                <a:solidFill>
                  <a:srgbClr val="00B050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个途径：</a:t>
            </a:r>
          </a:p>
        </p:txBody>
      </p:sp>
      <p:graphicFrame>
        <p:nvGraphicFramePr>
          <p:cNvPr id="7180" name="对象 2">
            <a:extLst>
              <a:ext uri="{FF2B5EF4-FFF2-40B4-BE49-F238E27FC236}">
                <a16:creationId xmlns:a16="http://schemas.microsoft.com/office/drawing/2014/main" id="{C7BE344F-61CF-4026-B3E6-12B1B0637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268663"/>
          <a:ext cx="1890712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3" name="Equation" r:id="rId4" imgW="711200" imgH="228600" progId="Equation.DSMT4">
                  <p:embed/>
                </p:oleObj>
              </mc:Choice>
              <mc:Fallback>
                <p:oleObj name="Equation" r:id="rId4" imgW="711200" imgH="228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68663"/>
                        <a:ext cx="1890712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右箭头 16">
            <a:extLst>
              <a:ext uri="{FF2B5EF4-FFF2-40B4-BE49-F238E27FC236}">
                <a16:creationId xmlns:a16="http://schemas.microsoft.com/office/drawing/2014/main" id="{83778BFF-D1A5-4DA7-8F5D-3FAF8842BAB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103813" y="3567113"/>
            <a:ext cx="949325" cy="150812"/>
          </a:xfrm>
          <a:prstGeom prst="rightArrow">
            <a:avLst>
              <a:gd name="adj1" fmla="val 50000"/>
              <a:gd name="adj2" fmla="val 4974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182" name="文本框 3">
            <a:extLst>
              <a:ext uri="{FF2B5EF4-FFF2-40B4-BE49-F238E27FC236}">
                <a16:creationId xmlns:a16="http://schemas.microsoft.com/office/drawing/2014/main" id="{FA9EDB50-960A-4282-9328-9A2943C8B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725" y="4627563"/>
            <a:ext cx="5076825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6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）由国家基准或当地最高计量标准复现而赋予该特定量的值；</a:t>
            </a:r>
            <a:endParaRPr lang="en-US" altLang="zh-CN" sz="16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）在没有系统误差的情况下，足够多次的测量值之平均值；</a:t>
            </a:r>
            <a:endParaRPr lang="en-US" altLang="zh-CN" sz="16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）采用权威组织推荐的该量的值。例如，由国际数据委员会</a:t>
            </a:r>
            <a:r>
              <a:rPr lang="en-US" altLang="zh-CN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(CODATA)</a:t>
            </a:r>
            <a:r>
              <a:rPr lang="zh-CN" altLang="en-US" sz="16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推荐的真空光速、阿伏加德罗常量等特定量的最新值。</a:t>
            </a:r>
            <a:endParaRPr lang="en-US" altLang="zh-CN" sz="1600" b="1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1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3">
            <a:extLst>
              <a:ext uri="{FF2B5EF4-FFF2-40B4-BE49-F238E27FC236}">
                <a16:creationId xmlns:a16="http://schemas.microsoft.com/office/drawing/2014/main" id="{C75BDBBC-A41F-4D54-BC13-E02C5E3D1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950" y="2317750"/>
            <a:ext cx="26749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或者相对真值</a:t>
            </a:r>
            <a:r>
              <a:rPr lang="en-US" altLang="zh-CN" sz="18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(A)</a:t>
            </a:r>
            <a:r>
              <a:rPr lang="zh-CN" altLang="en-US" sz="1800" b="1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代替：</a:t>
            </a:r>
            <a:r>
              <a:rPr lang="zh-CN" altLang="en-US" sz="1800" b="1">
                <a:latin typeface="Segoe UI Black" panose="020B0A02040204020203" pitchFamily="34" charset="0"/>
                <a:ea typeface="黑体" panose="02010609060101010101" pitchFamily="49" charset="-122"/>
              </a:rPr>
              <a:t>高精确度等级器具的测得值</a:t>
            </a:r>
          </a:p>
        </p:txBody>
      </p:sp>
      <p:sp>
        <p:nvSpPr>
          <p:cNvPr id="16" name="左大括号 4">
            <a:extLst>
              <a:ext uri="{FF2B5EF4-FFF2-40B4-BE49-F238E27FC236}">
                <a16:creationId xmlns:a16="http://schemas.microsoft.com/office/drawing/2014/main" id="{DA923D39-F97E-4DBD-9667-09CB2CEDA6C1}"/>
              </a:ext>
            </a:extLst>
          </p:cNvPr>
          <p:cNvSpPr>
            <a:spLocks/>
          </p:cNvSpPr>
          <p:nvPr/>
        </p:nvSpPr>
        <p:spPr bwMode="auto">
          <a:xfrm rot="10800000">
            <a:off x="8559800" y="2478088"/>
            <a:ext cx="254000" cy="1446212"/>
          </a:xfrm>
          <a:prstGeom prst="leftBrace">
            <a:avLst>
              <a:gd name="adj1" fmla="val 8382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  <p:bldP spid="6" grpId="0" animBg="1"/>
      <p:bldP spid="7173" grpId="0"/>
      <p:bldP spid="7175" grpId="0"/>
      <p:bldP spid="7176" grpId="0"/>
      <p:bldP spid="7177" grpId="0"/>
      <p:bldP spid="7178" grpId="0" animBg="1"/>
      <p:bldP spid="7179" grpId="0"/>
      <p:bldP spid="7181" grpId="0" animBg="1"/>
      <p:bldP spid="7182" grpId="0"/>
      <p:bldP spid="15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2705764C-0761-4D57-9B00-B7E6BFAE9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ABFF28B-A363-4009-8D7F-1CF8C4FF721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176D57-BB5C-42C9-84CC-2CC7B1248BA6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8197" name="文本框 3">
            <a:extLst>
              <a:ext uri="{FF2B5EF4-FFF2-40B4-BE49-F238E27FC236}">
                <a16:creationId xmlns:a16="http://schemas.microsoft.com/office/drawing/2014/main" id="{F1AB9BF1-1902-485F-B964-93FC3900E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250825"/>
            <a:ext cx="4103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误差的定义及表示</a:t>
            </a:r>
          </a:p>
        </p:txBody>
      </p:sp>
      <p:sp>
        <p:nvSpPr>
          <p:cNvPr id="8198" name="文本框 3">
            <a:extLst>
              <a:ext uri="{FF2B5EF4-FFF2-40B4-BE49-F238E27FC236}">
                <a16:creationId xmlns:a16="http://schemas.microsoft.com/office/drawing/2014/main" id="{040FAF7E-487E-472F-9C8A-496D1E9FE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231900"/>
            <a:ext cx="42433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Segoe UI Black" panose="020B0A02040204020203" pitchFamily="34" charset="0"/>
                <a:ea typeface="黑体" panose="02010609060101010101" pitchFamily="49" charset="-122"/>
              </a:rPr>
              <a:t>三种测量误差表示方法：</a:t>
            </a:r>
          </a:p>
        </p:txBody>
      </p:sp>
      <p:sp>
        <p:nvSpPr>
          <p:cNvPr id="8199" name="文本框 3">
            <a:extLst>
              <a:ext uri="{FF2B5EF4-FFF2-40B4-BE49-F238E27FC236}">
                <a16:creationId xmlns:a16="http://schemas.microsoft.com/office/drawing/2014/main" id="{D1953302-9456-4AC4-A4E4-36DF735ED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4356100"/>
            <a:ext cx="2351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实际相对误差：</a:t>
            </a:r>
          </a:p>
        </p:txBody>
      </p:sp>
      <p:graphicFrame>
        <p:nvGraphicFramePr>
          <p:cNvPr id="8200" name="对象 2">
            <a:extLst>
              <a:ext uri="{FF2B5EF4-FFF2-40B4-BE49-F238E27FC236}">
                <a16:creationId xmlns:a16="http://schemas.microsoft.com/office/drawing/2014/main" id="{26E12B5A-7520-4918-9ED2-8C93520BF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2875" y="2413000"/>
          <a:ext cx="12922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9" name="Equation" r:id="rId3" imgW="672516" imgH="177646" progId="Equation.DSMT4">
                  <p:embed/>
                </p:oleObj>
              </mc:Choice>
              <mc:Fallback>
                <p:oleObj name="Equation" r:id="rId3" imgW="672516" imgH="177646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75" y="2413000"/>
                        <a:ext cx="12922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文本框 3">
            <a:extLst>
              <a:ext uri="{FF2B5EF4-FFF2-40B4-BE49-F238E27FC236}">
                <a16:creationId xmlns:a16="http://schemas.microsoft.com/office/drawing/2014/main" id="{85CC5684-8928-4F0E-BC22-BF2809D17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3795713"/>
            <a:ext cx="42433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(2)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相对误差</a:t>
            </a:r>
          </a:p>
        </p:txBody>
      </p:sp>
      <p:sp>
        <p:nvSpPr>
          <p:cNvPr id="8202" name="文本框 3">
            <a:extLst>
              <a:ext uri="{FF2B5EF4-FFF2-40B4-BE49-F238E27FC236}">
                <a16:creationId xmlns:a16="http://schemas.microsoft.com/office/drawing/2014/main" id="{C0E0BF3E-FB57-4A14-9822-9FC47E3FB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75" y="5143500"/>
            <a:ext cx="23495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示值相对误差：</a:t>
            </a:r>
          </a:p>
        </p:txBody>
      </p:sp>
      <p:graphicFrame>
        <p:nvGraphicFramePr>
          <p:cNvPr id="8203" name="Object 17">
            <a:extLst>
              <a:ext uri="{FF2B5EF4-FFF2-40B4-BE49-F238E27FC236}">
                <a16:creationId xmlns:a16="http://schemas.microsoft.com/office/drawing/2014/main" id="{FA8F9D99-F64A-4020-B2D7-4260D6803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9625" y="4257675"/>
          <a:ext cx="14478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Equation" r:id="rId5" imgW="1002865" imgH="393529" progId="Equation.DSMT4">
                  <p:embed/>
                </p:oleObj>
              </mc:Choice>
              <mc:Fallback>
                <p:oleObj name="Equation" r:id="rId5" imgW="1002865" imgH="39352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4257675"/>
                        <a:ext cx="1447800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20">
            <a:extLst>
              <a:ext uri="{FF2B5EF4-FFF2-40B4-BE49-F238E27FC236}">
                <a16:creationId xmlns:a16="http://schemas.microsoft.com/office/drawing/2014/main" id="{D1EEE774-E268-4C4C-90CB-97B22ED7B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27563" y="5059363"/>
          <a:ext cx="15240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r:id="rId7" imgW="990170" imgH="393529" progId="Equation.3">
                  <p:embed/>
                </p:oleObj>
              </mc:Choice>
              <mc:Fallback>
                <p:oleObj r:id="rId7" imgW="990170" imgH="393529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7563" y="5059363"/>
                        <a:ext cx="15240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文本框 3">
            <a:extLst>
              <a:ext uri="{FF2B5EF4-FFF2-40B4-BE49-F238E27FC236}">
                <a16:creationId xmlns:a16="http://schemas.microsoft.com/office/drawing/2014/main" id="{405E08F0-5324-4169-A829-5D72D4A02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2430463"/>
            <a:ext cx="3349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绝对误差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测得值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</a:p>
        </p:txBody>
      </p:sp>
      <p:sp>
        <p:nvSpPr>
          <p:cNvPr id="8206" name="文本框 3">
            <a:extLst>
              <a:ext uri="{FF2B5EF4-FFF2-40B4-BE49-F238E27FC236}">
                <a16:creationId xmlns:a16="http://schemas.microsoft.com/office/drawing/2014/main" id="{17C91948-F2D3-4FA6-B333-87B28361B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1550" y="2819400"/>
            <a:ext cx="161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通常用约定真值或相对真值</a:t>
            </a:r>
            <a:r>
              <a:rPr lang="en-US" altLang="zh-CN" sz="1400" b="1" dirty="0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(A)</a:t>
            </a:r>
            <a:r>
              <a:rPr lang="zh-CN" altLang="en-US" sz="1400" b="1" dirty="0">
                <a:solidFill>
                  <a:srgbClr val="C00000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代替</a:t>
            </a:r>
          </a:p>
        </p:txBody>
      </p:sp>
      <p:sp>
        <p:nvSpPr>
          <p:cNvPr id="15" name="文本框 3">
            <a:extLst>
              <a:ext uri="{FF2B5EF4-FFF2-40B4-BE49-F238E27FC236}">
                <a16:creationId xmlns:a16="http://schemas.microsoft.com/office/drawing/2014/main" id="{1439E754-07D8-42CE-8EFF-D9758646D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63" y="1835150"/>
            <a:ext cx="4243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(1)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绝对误差</a:t>
            </a:r>
          </a:p>
        </p:txBody>
      </p:sp>
      <p:sp>
        <p:nvSpPr>
          <p:cNvPr id="16" name="页脚占位符 6">
            <a:extLst>
              <a:ext uri="{FF2B5EF4-FFF2-40B4-BE49-F238E27FC236}">
                <a16:creationId xmlns:a16="http://schemas.microsoft.com/office/drawing/2014/main" id="{09F43EEF-0003-4B4C-B1EB-E0F7B840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19472" name="页脚占位符 6">
            <a:extLst>
              <a:ext uri="{FF2B5EF4-FFF2-40B4-BE49-F238E27FC236}">
                <a16:creationId xmlns:a16="http://schemas.microsoft.com/office/drawing/2014/main" id="{E672D92B-7496-4C6F-ABE0-9E047CC7D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613" y="6564313"/>
            <a:ext cx="29606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3" name="图形 2" descr="蜂鸟">
            <a:extLst>
              <a:ext uri="{FF2B5EF4-FFF2-40B4-BE49-F238E27FC236}">
                <a16:creationId xmlns:a16="http://schemas.microsoft.com/office/drawing/2014/main" id="{FA99BC7E-070E-4EC8-80E8-238877092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5626100"/>
            <a:ext cx="785812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592172A-F24E-4C45-B080-437F936E7A82}"/>
              </a:ext>
            </a:extLst>
          </p:cNvPr>
          <p:cNvCxnSpPr>
            <a:cxnSpLocks/>
          </p:cNvCxnSpPr>
          <p:nvPr/>
        </p:nvCxnSpPr>
        <p:spPr bwMode="auto">
          <a:xfrm>
            <a:off x="5067300" y="4835525"/>
            <a:ext cx="276225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文本框 3">
            <a:extLst>
              <a:ext uri="{FF2B5EF4-FFF2-40B4-BE49-F238E27FC236}">
                <a16:creationId xmlns:a16="http://schemas.microsoft.com/office/drawing/2014/main" id="{18A0A19B-7B42-456A-94E9-F172D82D9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550" y="4573915"/>
            <a:ext cx="16129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rgbClr val="FF9933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注意：相对误差的分母为</a:t>
            </a:r>
            <a:r>
              <a:rPr lang="en-US" altLang="zh-CN" sz="1400" b="1" dirty="0">
                <a:solidFill>
                  <a:srgbClr val="FF9933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A</a:t>
            </a:r>
            <a:endParaRPr lang="zh-CN" altLang="en-US" sz="1400" b="1" dirty="0">
              <a:solidFill>
                <a:srgbClr val="FF9933"/>
              </a:solidFill>
              <a:latin typeface="Segoe UI Black" panose="020B0A02040204020203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579 C 0.00781 -0.00973 0.0151 -0.01389 0.02274 -0.0169 C 0.07777 -0.0382 0.12847 -0.04399 0.1842 -0.07593 C 0.22777 -0.10093 0.2177 -0.0963 0.24878 -0.11135 C 0.25017 -0.11204 0.25121 -0.11274 0.25225 -0.11297 C 0.25729 -0.11412 0.2618 -0.11482 0.26632 -0.11598 C 0.26944 -0.1169 0.27222 -0.11829 0.27482 -0.11922 C 0.27708 -0.11991 0.27951 -0.11991 0.28194 -0.12084 C 0.28437 -0.12153 0.28663 -0.12315 0.28906 -0.12385 C 0.29253 -0.125 0.29618 -0.1257 0.29965 -0.12686 C 0.30208 -0.12778 0.30434 -0.12963 0.30677 -0.1301 C 0.31614 -0.13125 0.32569 -0.13125 0.33507 -0.13149 C 0.33784 -0.13264 0.34045 -0.1338 0.34323 -0.13473 C 0.34687 -0.13588 0.35034 -0.13658 0.35399 -0.13774 C 0.35642 -0.13866 0.3625 -0.1419 0.36562 -0.14236 C 0.371 -0.14329 0.37656 -0.14352 0.38211 -0.14399 C 0.41632 -0.14746 0.36979 -0.14329 0.41284 -0.14699 C 0.41354 -0.14723 0.41996 -0.14931 0.42083 -0.15024 C 0.42204 -0.15093 0.42239 -0.15255 0.42343 -0.15324 C 0.42448 -0.15417 0.42725 -0.15463 0.42725 -0.1544 " pathEditMode="relative" rAng="0" ptsTypes="AAAAAAAAAAAAAAAAAAAA">
                                      <p:cBhvr>
                                        <p:cTn id="6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37" y="-7454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197" grpId="0"/>
      <p:bldP spid="8198" grpId="0"/>
      <p:bldP spid="8199" grpId="0"/>
      <p:bldP spid="8201" grpId="0"/>
      <p:bldP spid="8202" grpId="0"/>
      <p:bldP spid="8205" grpId="0"/>
      <p:bldP spid="8206" grpId="0"/>
      <p:bldP spid="15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20761044-7B5B-4D2F-88A3-02C71FFB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1BF6E0C-4C77-4D39-9D07-D6B4C4060389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279C4B-D400-45EE-919A-9E98B1ABD0EF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0484" name="文本框 3">
            <a:extLst>
              <a:ext uri="{FF2B5EF4-FFF2-40B4-BE49-F238E27FC236}">
                <a16:creationId xmlns:a16="http://schemas.microsoft.com/office/drawing/2014/main" id="{2170144B-7024-4823-850C-D46EE3C85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250825"/>
            <a:ext cx="41036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误差的定义及表示</a:t>
            </a:r>
          </a:p>
        </p:txBody>
      </p:sp>
      <p:sp>
        <p:nvSpPr>
          <p:cNvPr id="20485" name="文本框 3">
            <a:extLst>
              <a:ext uri="{FF2B5EF4-FFF2-40B4-BE49-F238E27FC236}">
                <a16:creationId xmlns:a16="http://schemas.microsoft.com/office/drawing/2014/main" id="{4CC8859A-5BB7-4C84-9044-CC2DBA08E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3856038"/>
            <a:ext cx="34845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：仪表的最大绝对误差</a:t>
            </a:r>
          </a:p>
        </p:txBody>
      </p:sp>
      <p:sp>
        <p:nvSpPr>
          <p:cNvPr id="20486" name="文本框 3">
            <a:extLst>
              <a:ext uri="{FF2B5EF4-FFF2-40B4-BE49-F238E27FC236}">
                <a16:creationId xmlns:a16="http://schemas.microsoft.com/office/drawing/2014/main" id="{8AFB2B2C-391D-4912-8167-A6EE736F7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1233488"/>
            <a:ext cx="45574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引用误差（满度相对误差）</a:t>
            </a:r>
          </a:p>
        </p:txBody>
      </p:sp>
      <p:graphicFrame>
        <p:nvGraphicFramePr>
          <p:cNvPr id="20487" name="Object 20">
            <a:extLst>
              <a:ext uri="{FF2B5EF4-FFF2-40B4-BE49-F238E27FC236}">
                <a16:creationId xmlns:a16="http://schemas.microsoft.com/office/drawing/2014/main" id="{39E775FF-B24C-40C8-8435-77B47F18D3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5100" y="3879850"/>
          <a:ext cx="7159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2" name="Equation" r:id="rId4" imgW="368300" imgH="228600" progId="Equation.DSMT4">
                  <p:embed/>
                </p:oleObj>
              </mc:Choice>
              <mc:Fallback>
                <p:oleObj name="Equation" r:id="rId4" imgW="3683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3879850"/>
                        <a:ext cx="71596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24">
            <a:extLst>
              <a:ext uri="{FF2B5EF4-FFF2-40B4-BE49-F238E27FC236}">
                <a16:creationId xmlns:a16="http://schemas.microsoft.com/office/drawing/2014/main" id="{5F675F23-64C5-486D-98E8-510A3B7CC7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8863" y="2012950"/>
          <a:ext cx="16732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3" name="Equation" r:id="rId6" imgW="926698" imgH="393529" progId="Equation.DSMT4">
                  <p:embed/>
                </p:oleObj>
              </mc:Choice>
              <mc:Fallback>
                <p:oleObj name="Equation" r:id="rId6" imgW="926698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863" y="2012950"/>
                        <a:ext cx="16732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26">
            <a:extLst>
              <a:ext uri="{FF2B5EF4-FFF2-40B4-BE49-F238E27FC236}">
                <a16:creationId xmlns:a16="http://schemas.microsoft.com/office/drawing/2014/main" id="{9AA40A34-C728-4EF8-9DD5-F07C6D357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0600" y="2833688"/>
          <a:ext cx="225266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4" name="公式" r:id="rId8" imgW="1307532" imgH="406224" progId="Equation.3">
                  <p:embed/>
                </p:oleObj>
              </mc:Choice>
              <mc:Fallback>
                <p:oleObj name="公式" r:id="rId8" imgW="1307532" imgH="406224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2833688"/>
                        <a:ext cx="225266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24">
            <a:extLst>
              <a:ext uri="{FF2B5EF4-FFF2-40B4-BE49-F238E27FC236}">
                <a16:creationId xmlns:a16="http://schemas.microsoft.com/office/drawing/2014/main" id="{C1856716-DBD9-478B-9B74-BC8D67281C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325" y="4446588"/>
          <a:ext cx="2809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5" name="Equation" r:id="rId10" imgW="139579" imgH="164957" progId="Equation.DSMT4">
                  <p:embed/>
                </p:oleObj>
              </mc:Choice>
              <mc:Fallback>
                <p:oleObj name="Equation" r:id="rId10" imgW="139579" imgH="164957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4446588"/>
                        <a:ext cx="28098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文本框 3">
            <a:extLst>
              <a:ext uri="{FF2B5EF4-FFF2-40B4-BE49-F238E27FC236}">
                <a16:creationId xmlns:a16="http://schemas.microsoft.com/office/drawing/2014/main" id="{9740994F-CAA2-45BA-B7A9-6BEB186AF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383088"/>
            <a:ext cx="279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：仪表的量程</a:t>
            </a:r>
          </a:p>
        </p:txBody>
      </p:sp>
      <p:sp>
        <p:nvSpPr>
          <p:cNvPr id="20492" name="文本框 3">
            <a:extLst>
              <a:ext uri="{FF2B5EF4-FFF2-40B4-BE49-F238E27FC236}">
                <a16:creationId xmlns:a16="http://schemas.microsoft.com/office/drawing/2014/main" id="{373C7370-155E-45E3-B853-BF8410688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325" y="3028950"/>
            <a:ext cx="2263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最大引用误差：</a:t>
            </a:r>
          </a:p>
        </p:txBody>
      </p:sp>
      <p:sp>
        <p:nvSpPr>
          <p:cNvPr id="20493" name="文本框 3">
            <a:extLst>
              <a:ext uri="{FF2B5EF4-FFF2-40B4-BE49-F238E27FC236}">
                <a16:creationId xmlns:a16="http://schemas.microsoft.com/office/drawing/2014/main" id="{E711BF61-314A-4FC7-BF71-9164AA3AF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2189163"/>
            <a:ext cx="1492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ts val="1200"/>
              </a:spcBef>
              <a:buFontTx/>
              <a:buNone/>
            </a:pP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引用误差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0494" name="页脚占位符 6">
            <a:extLst>
              <a:ext uri="{FF2B5EF4-FFF2-40B4-BE49-F238E27FC236}">
                <a16:creationId xmlns:a16="http://schemas.microsoft.com/office/drawing/2014/main" id="{BA27E426-0760-4981-983C-61EA5B2B4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850" y="6297613"/>
            <a:ext cx="2960688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A2F3A11-8ECC-4334-A4F6-EDB0A461A00C}"/>
              </a:ext>
            </a:extLst>
          </p:cNvPr>
          <p:cNvCxnSpPr>
            <a:cxnSpLocks/>
          </p:cNvCxnSpPr>
          <p:nvPr/>
        </p:nvCxnSpPr>
        <p:spPr bwMode="auto">
          <a:xfrm>
            <a:off x="4378325" y="4835525"/>
            <a:ext cx="1778000" cy="0"/>
          </a:xfrm>
          <a:prstGeom prst="line">
            <a:avLst/>
          </a:prstGeom>
          <a:noFill/>
          <a:ln w="2222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3">
            <a:extLst>
              <a:ext uri="{FF2B5EF4-FFF2-40B4-BE49-F238E27FC236}">
                <a16:creationId xmlns:a16="http://schemas.microsoft.com/office/drawing/2014/main" id="{06990AC2-51FF-4070-9D0E-0839727B8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5061607"/>
            <a:ext cx="18646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FF9933"/>
                </a:solidFill>
                <a:latin typeface="Segoe UI Black" panose="020B0A02040204020203" pitchFamily="34" charset="0"/>
                <a:ea typeface="黑体" panose="02010609060101010101" pitchFamily="49" charset="-122"/>
              </a:rPr>
              <a:t>注意：引用误差的分母为满量程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76A82859-77CD-47D9-A9FB-E39AE63B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CDF37A5C-C4F5-450C-8BC0-2D208DDA861F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F5AD3B-D822-45C9-BAE0-7CFB32EA3C48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graphicFrame>
        <p:nvGraphicFramePr>
          <p:cNvPr id="22532" name="Object 24">
            <a:extLst>
              <a:ext uri="{FF2B5EF4-FFF2-40B4-BE49-F238E27FC236}">
                <a16:creationId xmlns:a16="http://schemas.microsoft.com/office/drawing/2014/main" id="{D0185CA3-1DE8-4080-B64F-8C42882D97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459163"/>
          <a:ext cx="367188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Equation" r:id="rId4" imgW="1752600" imgH="431800" progId="Equation.DSMT4">
                  <p:embed/>
                </p:oleObj>
              </mc:Choice>
              <mc:Fallback>
                <p:oleObj name="Equation" r:id="rId4" imgW="1752600" imgH="4318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459163"/>
                        <a:ext cx="367188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5">
            <a:extLst>
              <a:ext uri="{FF2B5EF4-FFF2-40B4-BE49-F238E27FC236}">
                <a16:creationId xmlns:a16="http://schemas.microsoft.com/office/drawing/2014/main" id="{8BBCBE43-5614-49FC-BA78-4290936B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2228850"/>
            <a:ext cx="72151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85000"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000" b="1">
                <a:latin typeface="Times New Roman" panose="02020603050405020304" pitchFamily="18" charset="0"/>
                <a:ea typeface="楷体_GB2312" pitchFamily="49" charset="-122"/>
              </a:rPr>
              <a:t>工程中，为了表示测量结果的可靠程度，引入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准确度等级</a:t>
            </a:r>
            <a:r>
              <a:rPr lang="zh-CN" altLang="en-US" sz="2000" b="1">
                <a:latin typeface="Times New Roman" panose="02020603050405020304" pitchFamily="18" charset="0"/>
                <a:ea typeface="楷体_GB2312" pitchFamily="49" charset="-122"/>
              </a:rPr>
              <a:t>概念，用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zh-CN" altLang="en-US" sz="2000" b="1">
                <a:latin typeface="Times New Roman" panose="02020603050405020304" pitchFamily="18" charset="0"/>
                <a:ea typeface="楷体_GB2312" pitchFamily="49" charset="-122"/>
              </a:rPr>
              <a:t>表示。这个数值是测量仪表在规定条件下，其允许的最大引用误差百分比的分子。</a:t>
            </a: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4077041D-E03F-4E61-876A-9BBE56B27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147763"/>
            <a:ext cx="43211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仪表准（精）确度的表示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：</a:t>
            </a:r>
          </a:p>
        </p:txBody>
      </p:sp>
      <p:sp>
        <p:nvSpPr>
          <p:cNvPr id="22535" name="Rectangle 5">
            <a:extLst>
              <a:ext uri="{FF2B5EF4-FFF2-40B4-BE49-F238E27FC236}">
                <a16:creationId xmlns:a16="http://schemas.microsoft.com/office/drawing/2014/main" id="{D192B381-6D5B-4D23-875E-8AA800D06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156200"/>
            <a:ext cx="48307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buSzPct val="85000"/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准确度等级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Leval of accuracy</a:t>
            </a:r>
          </a:p>
        </p:txBody>
      </p:sp>
      <p:sp>
        <p:nvSpPr>
          <p:cNvPr id="9" name="页脚占位符 6">
            <a:extLst>
              <a:ext uri="{FF2B5EF4-FFF2-40B4-BE49-F238E27FC236}">
                <a16:creationId xmlns:a16="http://schemas.microsoft.com/office/drawing/2014/main" id="{F6FE17B0-8A45-4160-8791-864ED617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381750"/>
            <a:ext cx="2960687" cy="309563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22537" name="页脚占位符 6">
            <a:extLst>
              <a:ext uri="{FF2B5EF4-FFF2-40B4-BE49-F238E27FC236}">
                <a16:creationId xmlns:a16="http://schemas.microsoft.com/office/drawing/2014/main" id="{9A1ED5C9-77DA-48EE-9CB4-3A1F1BB26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6411913"/>
            <a:ext cx="29606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>
            <a:extLst>
              <a:ext uri="{FF2B5EF4-FFF2-40B4-BE49-F238E27FC236}">
                <a16:creationId xmlns:a16="http://schemas.microsoft.com/office/drawing/2014/main" id="{73952A61-BCA7-4DD2-B637-3DC34566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6E2BFB7C-080D-4FD0-8DA7-D2D5D7B5CB09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79" name="Text Box 5">
            <a:extLst>
              <a:ext uri="{FF2B5EF4-FFF2-40B4-BE49-F238E27FC236}">
                <a16:creationId xmlns:a16="http://schemas.microsoft.com/office/drawing/2014/main" id="{99273ABF-6D27-4270-9098-918D36EA0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165100"/>
            <a:ext cx="8074025" cy="291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SzPct val="85000"/>
              <a:buFontTx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仪表的准确度等级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</a:p>
          <a:p>
            <a:pPr algn="ctr" eaLnBrk="1" hangingPunct="1">
              <a:spcBef>
                <a:spcPct val="50000"/>
              </a:spcBef>
              <a:buSzPct val="85000"/>
              <a:buFontTx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    G=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0.005, 0.01, 0.02, 0.05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0.1, 0.2,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0.4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, 0.5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algn="ctr" eaLnBrk="1" hangingPunct="1">
              <a:buSzPct val="85000"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lang="en-US" altLang="zh-CN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级标准表                 </a:t>
            </a:r>
            <a:r>
              <a:rPr lang="el-GR" altLang="zh-CN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Ⅱ</a:t>
            </a:r>
            <a:r>
              <a:rPr lang="zh-CN" altLang="en-US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级标准表</a:t>
            </a:r>
          </a:p>
          <a:p>
            <a:pPr algn="ctr" eaLnBrk="1" hangingPunct="1">
              <a:lnSpc>
                <a:spcPct val="150000"/>
              </a:lnSpc>
              <a:spcBef>
                <a:spcPct val="50000"/>
              </a:spcBef>
              <a:buSzPct val="85000"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1.0, 1.5, 2.5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，（</a:t>
            </a:r>
            <a:r>
              <a:rPr lang="en-US" altLang="zh-CN" sz="2400" u="sng" dirty="0">
                <a:latin typeface="Times New Roman" panose="02020603050405020304" pitchFamily="18" charset="0"/>
                <a:ea typeface="楷体_GB2312" pitchFamily="49" charset="-122"/>
              </a:rPr>
              <a:t>4.0</a:t>
            </a:r>
            <a:r>
              <a:rPr lang="zh-CN" altLang="en-US" sz="2400" u="sng" dirty="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；等</a:t>
            </a:r>
          </a:p>
          <a:p>
            <a:pPr algn="ctr" eaLnBrk="1" hangingPunct="1">
              <a:buSzPct val="85000"/>
              <a:buFontTx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sz="2400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工业用表</a:t>
            </a:r>
            <a:endParaRPr lang="zh-CN" altLang="el-GR" sz="2400" dirty="0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80" name="Text Box 6">
            <a:extLst>
              <a:ext uri="{FF2B5EF4-FFF2-40B4-BE49-F238E27FC236}">
                <a16:creationId xmlns:a16="http://schemas.microsoft.com/office/drawing/2014/main" id="{91ECE8B3-2047-4521-8AA5-E9B5B1A61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3789363"/>
            <a:ext cx="5400675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SzPct val="85000"/>
              <a:buFontTx/>
              <a:buChar char="•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仪表的最大允许绝对误差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24581" name="Object 2">
            <a:extLst>
              <a:ext uri="{FF2B5EF4-FFF2-40B4-BE49-F238E27FC236}">
                <a16:creationId xmlns:a16="http://schemas.microsoft.com/office/drawing/2014/main" id="{D401514D-908B-4B8B-B2D7-E43AD936DF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2538" y="4727575"/>
          <a:ext cx="2074862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Equation" r:id="rId4" imgW="787058" imgH="215806" progId="Equation.DSMT4">
                  <p:embed/>
                </p:oleObj>
              </mc:Choice>
              <mc:Fallback>
                <p:oleObj name="Equation" r:id="rId4" imgW="787058" imgH="21580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4727575"/>
                        <a:ext cx="2074862" cy="5699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6">
            <a:extLst>
              <a:ext uri="{FF2B5EF4-FFF2-40B4-BE49-F238E27FC236}">
                <a16:creationId xmlns:a16="http://schemas.microsoft.com/office/drawing/2014/main" id="{1C2E52E0-6620-443F-ADDF-AB3528F7A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013" y="5467350"/>
            <a:ext cx="13335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50000"/>
              </a:spcBef>
              <a:buSzPct val="85000"/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量程</a:t>
            </a:r>
          </a:p>
        </p:txBody>
      </p:sp>
      <p:grpSp>
        <p:nvGrpSpPr>
          <p:cNvPr id="24583" name="Group 3">
            <a:extLst>
              <a:ext uri="{FF2B5EF4-FFF2-40B4-BE49-F238E27FC236}">
                <a16:creationId xmlns:a16="http://schemas.microsoft.com/office/drawing/2014/main" id="{D6C7E191-7BCF-4D28-9052-1F3B5DB17292}"/>
              </a:ext>
            </a:extLst>
          </p:cNvPr>
          <p:cNvGrpSpPr>
            <a:grpSpLocks/>
          </p:cNvGrpSpPr>
          <p:nvPr/>
        </p:nvGrpSpPr>
        <p:grpSpPr bwMode="auto">
          <a:xfrm>
            <a:off x="4613275" y="5235575"/>
            <a:ext cx="503238" cy="288925"/>
            <a:chOff x="1292" y="1622"/>
            <a:chExt cx="596" cy="141"/>
          </a:xfrm>
        </p:grpSpPr>
        <p:sp>
          <p:nvSpPr>
            <p:cNvPr id="24585" name="Line 4">
              <a:extLst>
                <a:ext uri="{FF2B5EF4-FFF2-40B4-BE49-F238E27FC236}">
                  <a16:creationId xmlns:a16="http://schemas.microsoft.com/office/drawing/2014/main" id="{F658467D-DA9E-45B0-9B33-127D22252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6" name="Line 5">
              <a:extLst>
                <a:ext uri="{FF2B5EF4-FFF2-40B4-BE49-F238E27FC236}">
                  <a16:creationId xmlns:a16="http://schemas.microsoft.com/office/drawing/2014/main" id="{262EDD4C-DE95-4F11-BE64-DB926E84DF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页脚占位符 6">
            <a:extLst>
              <a:ext uri="{FF2B5EF4-FFF2-40B4-BE49-F238E27FC236}">
                <a16:creationId xmlns:a16="http://schemas.microsoft.com/office/drawing/2014/main" id="{B4824AC5-8EEB-43C0-8981-B1E2A915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>
            <a:extLst>
              <a:ext uri="{FF2B5EF4-FFF2-40B4-BE49-F238E27FC236}">
                <a16:creationId xmlns:a16="http://schemas.microsoft.com/office/drawing/2014/main" id="{270D7C88-D9D1-47BE-B575-4DF4CF0C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8F1009CD-473C-412D-9953-6889D2E983F2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6581" name="Rectangle 5">
            <a:extLst>
              <a:ext uri="{FF2B5EF4-FFF2-40B4-BE49-F238E27FC236}">
                <a16:creationId xmlns:a16="http://schemas.microsoft.com/office/drawing/2014/main" id="{014166B5-7F39-4C89-A6A3-27F2F1EC6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265363"/>
            <a:ext cx="6048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buSzPct val="85000"/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ea typeface="黑体" panose="02010609060101010101" pitchFamily="49" charset="-122"/>
              </a:rPr>
              <a:t>解：该测温仪表的实际最大引用误差为：</a:t>
            </a:r>
          </a:p>
        </p:txBody>
      </p:sp>
      <p:sp>
        <p:nvSpPr>
          <p:cNvPr id="536582" name="Rectangle 6">
            <a:extLst>
              <a:ext uri="{FF2B5EF4-FFF2-40B4-BE49-F238E27FC236}">
                <a16:creationId xmlns:a16="http://schemas.microsoft.com/office/drawing/2014/main" id="{D8D81E92-5688-4EC5-814B-AB29AB94E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076700"/>
            <a:ext cx="7848600" cy="113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57626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800"/>
              </a:lnSpc>
              <a:buSzPct val="85000"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去掉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后，该表的准确度值为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，介于国家规定的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准确度等级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之间，而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级表和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级表的允许误差</a:t>
            </a:r>
            <a:r>
              <a:rPr lang="el-GR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表允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±0.5%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±1.0%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。则这台测温仪表的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准确度等级只能定为</a:t>
            </a:r>
            <a:r>
              <a:rPr lang="en-US" altLang="zh-CN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级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A63709BE-E625-41EF-9996-35DD859C2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396875"/>
            <a:ext cx="8129587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42913" indent="-3524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SzPct val="85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例  某台温度检测仪表的测温范围为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100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600℃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，校验该表时得到的最大绝对误差为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3℃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，试确定该仪表的准确度等级。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AA43F22C-F9D2-4D9A-AF52-76E0B316E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7700" y="2889250"/>
          <a:ext cx="58007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Equation" r:id="rId3" imgW="2413000" imgH="355600" progId="Equation.DSMT4">
                  <p:embed/>
                </p:oleObj>
              </mc:Choice>
              <mc:Fallback>
                <p:oleObj name="Equation" r:id="rId3" imgW="2413000" imgH="355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2889250"/>
                        <a:ext cx="58007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页脚占位符 6">
            <a:extLst>
              <a:ext uri="{FF2B5EF4-FFF2-40B4-BE49-F238E27FC236}">
                <a16:creationId xmlns:a16="http://schemas.microsoft.com/office/drawing/2014/main" id="{AB58A92C-1FF1-404B-AF35-97CF2ADA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6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6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81" grpId="0" autoUpdateAnimBg="0"/>
      <p:bldP spid="536582" grpId="0" autoUpdateAnimBg="0"/>
      <p:bldP spid="102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>
            <a:extLst>
              <a:ext uri="{FF2B5EF4-FFF2-40B4-BE49-F238E27FC236}">
                <a16:creationId xmlns:a16="http://schemas.microsoft.com/office/drawing/2014/main" id="{EF9D07D5-821F-4B70-80A0-B8AD81AB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90E2FA61-013F-4A13-8B84-88A20C0D2DB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EA49BFB6-E395-484C-8F1E-8C70FC1F2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96863"/>
            <a:ext cx="80279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4429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fontAlgn="ctr" hangingPunct="1">
              <a:buSzPct val="90000"/>
              <a:buFont typeface="Wingdings" panose="05000000000000000000" pitchFamily="2" charset="2"/>
              <a:buChar char="n"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   现需选择一台测温范围为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500℃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的测温仪表。根据工艺要求，温度指示值的误差不允许超过</a:t>
            </a:r>
            <a:r>
              <a:rPr lang="en-US" altLang="zh-CN" sz="2400">
                <a:latin typeface="黑体" panose="02010609060101010101" pitchFamily="49" charset="-122"/>
                <a:ea typeface="黑体" panose="02010609060101010101" pitchFamily="49" charset="-122"/>
              </a:rPr>
              <a:t>±4℃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，试问：应选哪一级精确度等级的仪表？</a:t>
            </a:r>
          </a:p>
        </p:txBody>
      </p:sp>
      <p:sp>
        <p:nvSpPr>
          <p:cNvPr id="537605" name="Rectangle 5">
            <a:extLst>
              <a:ext uri="{FF2B5EF4-FFF2-40B4-BE49-F238E27FC236}">
                <a16:creationId xmlns:a16="http://schemas.microsoft.com/office/drawing/2014/main" id="{AA548908-5B3D-4D43-A91B-C55D660F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50" y="1927225"/>
            <a:ext cx="4321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buSzPct val="85000"/>
              <a:buFontTx/>
              <a:buChar char="•"/>
            </a:pPr>
            <a:r>
              <a:rPr lang="zh-CN" altLang="en-US" sz="2000" b="1"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</a:rPr>
              <a:t>工艺允许误差为</a:t>
            </a:r>
          </a:p>
        </p:txBody>
      </p:sp>
      <p:sp>
        <p:nvSpPr>
          <p:cNvPr id="537607" name="Rectangle 7">
            <a:extLst>
              <a:ext uri="{FF2B5EF4-FFF2-40B4-BE49-F238E27FC236}">
                <a16:creationId xmlns:a16="http://schemas.microsoft.com/office/drawing/2014/main" id="{1BC702B0-4FB6-4536-8C8D-3B451FBBD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713" y="3311525"/>
            <a:ext cx="8191500" cy="141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889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SzPct val="85000"/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去掉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后，该表的精确度值为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，也是介于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之间，而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级表和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级表的允许误差</a:t>
            </a:r>
            <a:r>
              <a:rPr lang="el-GR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zh-CN" altLang="en-US" sz="20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表允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分别为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±0.5%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±1.0%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。应选择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级的仪表才能满足工艺上的要求。</a:t>
            </a:r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31C89477-6213-4814-ACB2-32B462D392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359025"/>
          <a:ext cx="481647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5" name="Equation" r:id="rId3" imgW="2145369" imgH="355446" progId="Equation.DSMT4">
                  <p:embed/>
                </p:oleObj>
              </mc:Choice>
              <mc:Fallback>
                <p:oleObj name="Equation" r:id="rId3" imgW="2145369" imgH="3554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359025"/>
                        <a:ext cx="481647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页脚占位符 6">
            <a:extLst>
              <a:ext uri="{FF2B5EF4-FFF2-40B4-BE49-F238E27FC236}">
                <a16:creationId xmlns:a16="http://schemas.microsoft.com/office/drawing/2014/main" id="{2C07B0FE-B669-4A88-98D6-F6018EC8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3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537605" grpId="0" autoUpdateAnimBg="0"/>
      <p:bldP spid="53760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D0F20BF6-F5D5-4511-A212-D1A2E9B5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48F10D02-2470-49A4-A99C-5474FF12DDC9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6DE3C6-4572-4696-9610-EA489E5B5E28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8437" name="文本框 3">
            <a:extLst>
              <a:ext uri="{FF2B5EF4-FFF2-40B4-BE49-F238E27FC236}">
                <a16:creationId xmlns:a16="http://schemas.microsoft.com/office/drawing/2014/main" id="{0DFFB0A4-6B1F-46EC-81C9-7FF3B4148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246188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误差的分类</a:t>
            </a:r>
          </a:p>
        </p:txBody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71887568-9768-45A6-B3C5-B4B420F03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809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18439" name="文本框 1">
            <a:extLst>
              <a:ext uri="{FF2B5EF4-FFF2-40B4-BE49-F238E27FC236}">
                <a16:creationId xmlns:a16="http://schemas.microsoft.com/office/drawing/2014/main" id="{C9FAF567-163A-4412-831B-239B9B9B2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5087938"/>
            <a:ext cx="2908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准确度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精密度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正确度</a:t>
            </a:r>
          </a:p>
        </p:txBody>
      </p:sp>
      <p:sp>
        <p:nvSpPr>
          <p:cNvPr id="18440" name="Text Box 4">
            <a:extLst>
              <a:ext uri="{FF2B5EF4-FFF2-40B4-BE49-F238E27FC236}">
                <a16:creationId xmlns:a16="http://schemas.microsoft.com/office/drawing/2014/main" id="{AA704B79-871B-4C7E-AE55-C6FD78E24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1808163"/>
            <a:ext cx="226536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SzPct val="85000"/>
              <a:buFont typeface="Wingdings" panose="05000000000000000000" pitchFamily="2" charset="2"/>
              <a:buChar char="n"/>
            </a:pP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还是</a:t>
            </a:r>
            <a:r>
              <a:rPr lang="en-US" altLang="zh-CN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00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个靶面</a:t>
            </a:r>
          </a:p>
        </p:txBody>
      </p:sp>
      <p:pic>
        <p:nvPicPr>
          <p:cNvPr id="18441" name="Picture 7">
            <a:extLst>
              <a:ext uri="{FF2B5EF4-FFF2-40B4-BE49-F238E27FC236}">
                <a16:creationId xmlns:a16="http://schemas.microsoft.com/office/drawing/2014/main" id="{B8B89294-B72D-45C4-98CE-396C214F7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417763"/>
            <a:ext cx="592772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2" name="Rectangle 8">
            <a:extLst>
              <a:ext uri="{FF2B5EF4-FFF2-40B4-BE49-F238E27FC236}">
                <a16:creationId xmlns:a16="http://schemas.microsoft.com/office/drawing/2014/main" id="{EF224AF0-E520-446C-8271-1A1FDDD1D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4313238"/>
            <a:ext cx="27527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just" eaLnBrk="1" hangingPunct="1">
              <a:buSzPct val="85000"/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）正确度低而精密度高</a:t>
            </a:r>
          </a:p>
        </p:txBody>
      </p:sp>
      <p:sp>
        <p:nvSpPr>
          <p:cNvPr id="18443" name="Rectangle 8">
            <a:extLst>
              <a:ext uri="{FF2B5EF4-FFF2-40B4-BE49-F238E27FC236}">
                <a16:creationId xmlns:a16="http://schemas.microsoft.com/office/drawing/2014/main" id="{0DDD60C3-7829-4B67-B9CD-E490A23D1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286250"/>
            <a:ext cx="28241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just" eaLnBrk="1" hangingPunct="1">
              <a:buSzPct val="85000"/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 （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）正确度高而精密度低</a:t>
            </a:r>
          </a:p>
        </p:txBody>
      </p:sp>
      <p:sp>
        <p:nvSpPr>
          <p:cNvPr id="18444" name="Rectangle 8">
            <a:extLst>
              <a:ext uri="{FF2B5EF4-FFF2-40B4-BE49-F238E27FC236}">
                <a16:creationId xmlns:a16="http://schemas.microsoft.com/office/drawing/2014/main" id="{F64FCC0D-D6B0-4110-833B-7152C4709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313238"/>
            <a:ext cx="17272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just" eaLnBrk="1" hangingPunct="1">
              <a:buSzPct val="85000"/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）准确度高</a:t>
            </a:r>
          </a:p>
        </p:txBody>
      </p:sp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F4D73977-0598-4B63-AD93-58058AB4B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437" grpId="0"/>
      <p:bldP spid="18438" grpId="0"/>
      <p:bldP spid="18439" grpId="0"/>
      <p:bldP spid="18440" grpId="0"/>
      <p:bldP spid="18442" grpId="0"/>
      <p:bldP spid="18443" grpId="0"/>
      <p:bldP spid="184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93DD4F70-519B-4D32-8203-E1086F0E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38056BF5-C0CC-4B54-BEEF-2FD260CB727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6D74CB-C0C0-48AF-9D5B-C8FAEB233D83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0724" name="文本框 3">
            <a:extLst>
              <a:ext uri="{FF2B5EF4-FFF2-40B4-BE49-F238E27FC236}">
                <a16:creationId xmlns:a16="http://schemas.microsoft.com/office/drawing/2014/main" id="{F8D84DCF-F90E-4C65-B213-58D105703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246188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误差的分类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FFDD8E17-5A62-47AB-A876-30AF352D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809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30726" name="文本框 1">
            <a:extLst>
              <a:ext uri="{FF2B5EF4-FFF2-40B4-BE49-F238E27FC236}">
                <a16:creationId xmlns:a16="http://schemas.microsoft.com/office/drawing/2014/main" id="{11C257D4-C41B-4D8A-88D7-09E0CFEAC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200" y="2105025"/>
            <a:ext cx="47212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随机误差：精密度，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precision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系统误差：正确度 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correctness</a:t>
            </a: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粗大误差</a:t>
            </a:r>
          </a:p>
        </p:txBody>
      </p:sp>
      <p:sp>
        <p:nvSpPr>
          <p:cNvPr id="30727" name="文本框 3">
            <a:extLst>
              <a:ext uri="{FF2B5EF4-FFF2-40B4-BE49-F238E27FC236}">
                <a16:creationId xmlns:a16="http://schemas.microsoft.com/office/drawing/2014/main" id="{FE3660CB-F9E2-49DF-95C1-0C53C9758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2632075"/>
            <a:ext cx="1871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误差的分类</a:t>
            </a:r>
          </a:p>
        </p:txBody>
      </p:sp>
      <p:sp>
        <p:nvSpPr>
          <p:cNvPr id="30728" name="左大括号 4">
            <a:extLst>
              <a:ext uri="{FF2B5EF4-FFF2-40B4-BE49-F238E27FC236}">
                <a16:creationId xmlns:a16="http://schemas.microsoft.com/office/drawing/2014/main" id="{44338621-E881-47A9-AB56-842699B18182}"/>
              </a:ext>
            </a:extLst>
          </p:cNvPr>
          <p:cNvSpPr>
            <a:spLocks/>
          </p:cNvSpPr>
          <p:nvPr/>
        </p:nvSpPr>
        <p:spPr bwMode="auto">
          <a:xfrm>
            <a:off x="2946400" y="2255838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0729" name="文本框 1">
            <a:extLst>
              <a:ext uri="{FF2B5EF4-FFF2-40B4-BE49-F238E27FC236}">
                <a16:creationId xmlns:a16="http://schemas.microsoft.com/office/drawing/2014/main" id="{8E90CC78-B9E8-4E5E-B636-D265448C9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910013"/>
            <a:ext cx="6985145" cy="140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测量精密度（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precision of measurement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测量正确度（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correctness of measurement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测量准确度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accuracy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of measurement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综合指标</a:t>
            </a:r>
          </a:p>
        </p:txBody>
      </p:sp>
      <p:sp>
        <p:nvSpPr>
          <p:cNvPr id="20491" name="文本框 1">
            <a:extLst>
              <a:ext uri="{FF2B5EF4-FFF2-40B4-BE49-F238E27FC236}">
                <a16:creationId xmlns:a16="http://schemas.microsoft.com/office/drawing/2014/main" id="{3C9ACB54-046E-4F30-93C7-308259A91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201" y="5542892"/>
            <a:ext cx="3975697" cy="4603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测量准确度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又称测量精确度（精度）</a:t>
            </a:r>
          </a:p>
        </p:txBody>
      </p:sp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65E6B0EB-C8A9-485D-8187-3191572D2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C64A6BEC-F8A8-4D6D-A765-2F725229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FBE10825-0A38-4148-B5F9-82175EED4A5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5C08EB-6E27-42BA-B84B-6F42AFFBD28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2772" name="文本框 3">
            <a:extLst>
              <a:ext uri="{FF2B5EF4-FFF2-40B4-BE49-F238E27FC236}">
                <a16:creationId xmlns:a16="http://schemas.microsoft.com/office/drawing/2014/main" id="{57998433-3DAA-4B0B-B445-31BF52544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246188"/>
            <a:ext cx="4103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误差的主要来源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7C669CC0-4CA6-4721-B2C5-CEA1FAA36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1809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8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误差的基本概念</a:t>
            </a:r>
          </a:p>
        </p:txBody>
      </p:sp>
      <p:sp>
        <p:nvSpPr>
          <p:cNvPr id="32774" name="文本框 3">
            <a:extLst>
              <a:ext uri="{FF2B5EF4-FFF2-40B4-BE49-F238E27FC236}">
                <a16:creationId xmlns:a16="http://schemas.microsoft.com/office/drawing/2014/main" id="{2E05323C-E0B9-471E-885C-6174F36B3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1990725"/>
            <a:ext cx="3065462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测量装置误差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①标准量具误差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②仪器误差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③附件误差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测量环境误差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测量方法误差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测量人员误差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B8A97F0C-1551-43E2-8CDA-C26A52376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985FF981-F7CF-45D5-ACA6-EDA049728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19" name="灯片编号占位符 5">
            <a:extLst>
              <a:ext uri="{FF2B5EF4-FFF2-40B4-BE49-F238E27FC236}">
                <a16:creationId xmlns:a16="http://schemas.microsoft.com/office/drawing/2014/main" id="{E5DCA9D3-8094-49CC-8D32-4DAF5F91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3C277C6-1B5D-4502-BD72-69BDE6C7DD9F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65081A-824D-4723-832A-EB987FD9985D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C551CF6D-AD2B-444E-9A07-04D7C278D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随机误差的概率分布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2535" name="Object 6">
            <a:extLst>
              <a:ext uri="{FF2B5EF4-FFF2-40B4-BE49-F238E27FC236}">
                <a16:creationId xmlns:a16="http://schemas.microsoft.com/office/drawing/2014/main" id="{56236DA4-D1F4-4DA8-A1E5-6DE498A44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2238" y="1628775"/>
          <a:ext cx="201612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5" name="公式" r:id="rId3" imgW="1244600" imgH="482600" progId="Equation.3">
                  <p:embed/>
                </p:oleObj>
              </mc:Choice>
              <mc:Fallback>
                <p:oleObj name="公式" r:id="rId3" imgW="12446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1628775"/>
                        <a:ext cx="2016125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文本框 3">
            <a:extLst>
              <a:ext uri="{FF2B5EF4-FFF2-40B4-BE49-F238E27FC236}">
                <a16:creationId xmlns:a16="http://schemas.microsoft.com/office/drawing/2014/main" id="{4A678B43-2FA1-4CE5-BD33-F5701AA2E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788" y="1892300"/>
            <a:ext cx="198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正态分布：</a:t>
            </a:r>
          </a:p>
        </p:txBody>
      </p:sp>
      <p:sp>
        <p:nvSpPr>
          <p:cNvPr id="22537" name="文本框 3">
            <a:extLst>
              <a:ext uri="{FF2B5EF4-FFF2-40B4-BE49-F238E27FC236}">
                <a16:creationId xmlns:a16="http://schemas.microsoft.com/office/drawing/2014/main" id="{80BA4C65-11D3-409E-A943-DCD9869FD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238" y="5832475"/>
            <a:ext cx="198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0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分布：</a:t>
            </a:r>
          </a:p>
        </p:txBody>
      </p:sp>
      <p:pic>
        <p:nvPicPr>
          <p:cNvPr id="22538" name="图片 2">
            <a:extLst>
              <a:ext uri="{FF2B5EF4-FFF2-40B4-BE49-F238E27FC236}">
                <a16:creationId xmlns:a16="http://schemas.microsoft.com/office/drawing/2014/main" id="{8E821846-109B-41F2-AE3C-015213E5C4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2613025"/>
            <a:ext cx="4217987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1DDDF2B-1958-460F-93DF-8EC454D50D0C}"/>
              </a:ext>
            </a:extLst>
          </p:cNvPr>
          <p:cNvCxnSpPr/>
          <p:nvPr/>
        </p:nvCxnSpPr>
        <p:spPr bwMode="auto">
          <a:xfrm flipV="1">
            <a:off x="2076450" y="4484688"/>
            <a:ext cx="4951413" cy="0"/>
          </a:xfrm>
          <a:prstGeom prst="straightConnector1">
            <a:avLst/>
          </a:prstGeom>
          <a:ln>
            <a:headEnd type="none" w="med" len="med"/>
            <a:tailEnd type="triangle"/>
          </a:ln>
          <a:ex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2303F2C-2968-41CB-A0A4-41E4AB3C0F7B}"/>
              </a:ext>
            </a:extLst>
          </p:cNvPr>
          <p:cNvCxnSpPr/>
          <p:nvPr/>
        </p:nvCxnSpPr>
        <p:spPr bwMode="auto">
          <a:xfrm flipH="1" flipV="1">
            <a:off x="4498975" y="2181225"/>
            <a:ext cx="7938" cy="431800"/>
          </a:xfrm>
          <a:prstGeom prst="straightConnector1">
            <a:avLst/>
          </a:prstGeom>
          <a:ln>
            <a:prstDash val="dash"/>
            <a:headEnd type="none" w="med" len="med"/>
            <a:tailEnd type="triangle"/>
          </a:ln>
          <a:ex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22541" name="对象 15">
            <a:extLst>
              <a:ext uri="{FF2B5EF4-FFF2-40B4-BE49-F238E27FC236}">
                <a16:creationId xmlns:a16="http://schemas.microsoft.com/office/drawing/2014/main" id="{AB6BB087-4573-487D-B06F-B7AC4162A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4329113"/>
          <a:ext cx="223837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6" name="Equation" r:id="rId6" imgW="139579" imgH="177646" progId="Equation.DSMT4">
                  <p:embed/>
                </p:oleObj>
              </mc:Choice>
              <mc:Fallback>
                <p:oleObj name="Equation" r:id="rId6" imgW="139579" imgH="177646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329113"/>
                        <a:ext cx="223837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4FD78EE-08B2-4677-90F8-5105DE9930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0588" y="2019300"/>
          <a:ext cx="6667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7" name="Equation" r:id="rId8" imgW="444307" imgH="203112" progId="Equation.DSMT4">
                  <p:embed/>
                </p:oleObj>
              </mc:Choice>
              <mc:Fallback>
                <p:oleObj name="Equation" r:id="rId8" imgW="444307" imgH="20311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2019300"/>
                        <a:ext cx="66675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6F14C872-EF52-4BB2-B372-A152BEC30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  <p:bldP spid="6" grpId="0" animBg="1"/>
      <p:bldP spid="22533" grpId="0"/>
      <p:bldP spid="22536" grpId="0"/>
      <p:bldP spid="225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DB211678-E8D2-4F1B-B647-0C43A39D8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3" name="灯片编号占位符 5">
            <a:extLst>
              <a:ext uri="{FF2B5EF4-FFF2-40B4-BE49-F238E27FC236}">
                <a16:creationId xmlns:a16="http://schemas.microsoft.com/office/drawing/2014/main" id="{D0CCA70D-8E0C-461F-B20C-4F537B39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7C7BA054-4F21-4611-805F-8D91ED972D6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4B87B2-CB97-4C41-975E-F5F2F8D3EAB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D5552523-1C73-4C72-9BD8-75B325204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1.2.2 </a:t>
            </a:r>
            <a:r>
              <a:rPr lang="zh-CN" altLang="en-US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随机误差的数值特征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5" name="文本框 3">
            <a:extLst>
              <a:ext uri="{FF2B5EF4-FFF2-40B4-BE49-F238E27FC236}">
                <a16:creationId xmlns:a16="http://schemas.microsoft.com/office/drawing/2014/main" id="{B36B13D8-7451-4B71-805D-B81F5478A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995488"/>
            <a:ext cx="198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算术平均值</a:t>
            </a:r>
          </a:p>
        </p:txBody>
      </p:sp>
      <p:graphicFrame>
        <p:nvGraphicFramePr>
          <p:cNvPr id="22536" name="Object 9">
            <a:extLst>
              <a:ext uri="{FF2B5EF4-FFF2-40B4-BE49-F238E27FC236}">
                <a16:creationId xmlns:a16="http://schemas.microsoft.com/office/drawing/2014/main" id="{91AD0C66-8650-4296-95F0-21575B832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635250"/>
          <a:ext cx="35052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1" name="公式" r:id="rId3" imgW="1943100" imgH="431800" progId="Equation.3">
                  <p:embed/>
                </p:oleObj>
              </mc:Choice>
              <mc:Fallback>
                <p:oleObj name="公式" r:id="rId3" imgW="19431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35250"/>
                        <a:ext cx="35052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Text Box 11">
            <a:extLst>
              <a:ext uri="{FF2B5EF4-FFF2-40B4-BE49-F238E27FC236}">
                <a16:creationId xmlns:a16="http://schemas.microsoft.com/office/drawing/2014/main" id="{D311A9EF-5FB8-4AEB-AAC4-2F0237BB0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981450"/>
            <a:ext cx="13477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标准差</a:t>
            </a:r>
          </a:p>
        </p:txBody>
      </p:sp>
      <p:graphicFrame>
        <p:nvGraphicFramePr>
          <p:cNvPr id="22538" name="Object 12">
            <a:extLst>
              <a:ext uri="{FF2B5EF4-FFF2-40B4-BE49-F238E27FC236}">
                <a16:creationId xmlns:a16="http://schemas.microsoft.com/office/drawing/2014/main" id="{D8A7DEFC-A537-40ED-A3A3-1E8C58FB71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4181475"/>
          <a:ext cx="12192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2" name="公式" r:id="rId5" imgW="799753" imgH="482391" progId="Equation.3">
                  <p:embed/>
                </p:oleObj>
              </mc:Choice>
              <mc:Fallback>
                <p:oleObj name="公式" r:id="rId5" imgW="799753" imgH="4823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181475"/>
                        <a:ext cx="12192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4">
            <a:extLst>
              <a:ext uri="{FF2B5EF4-FFF2-40B4-BE49-F238E27FC236}">
                <a16:creationId xmlns:a16="http://schemas.microsoft.com/office/drawing/2014/main" id="{7239146E-DC34-48D0-BDA1-0B1EAC154E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172075"/>
          <a:ext cx="10668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3" name="公式" r:id="rId7" imgW="609600" imgH="419100" progId="Equation.3">
                  <p:embed/>
                </p:oleObj>
              </mc:Choice>
              <mc:Fallback>
                <p:oleObj name="公式" r:id="rId7" imgW="6096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172075"/>
                        <a:ext cx="10668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Text Box 11">
            <a:extLst>
              <a:ext uri="{FF2B5EF4-FFF2-40B4-BE49-F238E27FC236}">
                <a16:creationId xmlns:a16="http://schemas.microsoft.com/office/drawing/2014/main" id="{151FC5C4-7CA9-41A0-B8CE-4CA987439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372100"/>
            <a:ext cx="3903663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l-GR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σ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一定时，通常取</a:t>
            </a:r>
            <a:r>
              <a:rPr lang="en-US" altLang="zh-CN" sz="1600">
                <a:latin typeface="黑体" panose="02010609060101010101" pitchFamily="49" charset="-122"/>
                <a:ea typeface="黑体" panose="02010609060101010101" pitchFamily="49" charset="-122"/>
              </a:rPr>
              <a:t>n&lt;10</a:t>
            </a:r>
            <a:r>
              <a:rPr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较为适宜。因为增加测量次数难以保证测量条件的恒定，很难显著提高测量结果的准确性。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4D4812E-B0CB-450B-BC0E-B80658A2BA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8913" y="4406900"/>
          <a:ext cx="1152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4" name="Equation" r:id="rId9" imgW="660400" imgH="228600" progId="Equation.DSMT4">
                  <p:embed/>
                </p:oleObj>
              </mc:Choice>
              <mc:Fallback>
                <p:oleObj name="Equation" r:id="rId9" imgW="66040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913" y="4406900"/>
                        <a:ext cx="11525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页脚占位符 6">
            <a:extLst>
              <a:ext uri="{FF2B5EF4-FFF2-40B4-BE49-F238E27FC236}">
                <a16:creationId xmlns:a16="http://schemas.microsoft.com/office/drawing/2014/main" id="{086B0874-1B23-440B-86DE-3111F031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325D4A80-EDBD-4165-B6D6-65314FF5D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303838"/>
            <a:ext cx="21224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平均值标准差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uild="p"/>
      <p:bldP spid="6" grpId="0" animBg="1"/>
      <p:bldP spid="22533" grpId="0"/>
      <p:bldP spid="22535" grpId="0"/>
      <p:bldP spid="22537" grpId="0"/>
      <p:bldP spid="22540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4F1CD12B-C355-4DB2-A7A8-23047CD825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7" name="灯片编号占位符 5">
            <a:extLst>
              <a:ext uri="{FF2B5EF4-FFF2-40B4-BE49-F238E27FC236}">
                <a16:creationId xmlns:a16="http://schemas.microsoft.com/office/drawing/2014/main" id="{92B69F5B-4CC9-4612-87EC-AA2A2534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297734F4-8B18-485D-A6AA-6C9E0CF424B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A3D780-5601-4E6B-BF4B-3474E807B428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D908E6DD-3BF2-4467-834F-B086A5080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</a:t>
            </a:r>
            <a:r>
              <a:rPr lang="zh-CN" altLang="en-US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极限误差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3" name="Text Box 11">
            <a:extLst>
              <a:ext uri="{FF2B5EF4-FFF2-40B4-BE49-F238E27FC236}">
                <a16:creationId xmlns:a16="http://schemas.microsoft.com/office/drawing/2014/main" id="{EC5DB4E3-235C-4811-A074-EEAB10C90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75" y="4011613"/>
            <a:ext cx="4386263" cy="89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P: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置信概率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(confidence probability)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t: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置信系数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(confidence factor)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16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584" name="Picture 14" descr="0203">
            <a:extLst>
              <a:ext uri="{FF2B5EF4-FFF2-40B4-BE49-F238E27FC236}">
                <a16:creationId xmlns:a16="http://schemas.microsoft.com/office/drawing/2014/main" id="{658F5B99-2BD0-4102-93EF-10815A95C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825" y="1062038"/>
            <a:ext cx="3581400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585" name="Object 15">
            <a:extLst>
              <a:ext uri="{FF2B5EF4-FFF2-40B4-BE49-F238E27FC236}">
                <a16:creationId xmlns:a16="http://schemas.microsoft.com/office/drawing/2014/main" id="{BE04C02A-A161-48F2-9BCE-61D0997B6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3225" y="3887788"/>
          <a:ext cx="12954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1" name="公式" r:id="rId4" imgW="748975" imgH="215806" progId="Equation.3">
                  <p:embed/>
                </p:oleObj>
              </mc:Choice>
              <mc:Fallback>
                <p:oleObj name="公式" r:id="rId4" imgW="748975" imgH="215806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887788"/>
                        <a:ext cx="129540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7">
            <a:extLst>
              <a:ext uri="{FF2B5EF4-FFF2-40B4-BE49-F238E27FC236}">
                <a16:creationId xmlns:a16="http://schemas.microsoft.com/office/drawing/2014/main" id="{7405472C-A6B9-4229-A194-6CEC6D3C0C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4438650"/>
          <a:ext cx="1371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2" name="公式" r:id="rId6" imgW="850900" imgH="228600" progId="Equation.3">
                  <p:embed/>
                </p:oleObj>
              </mc:Choice>
              <mc:Fallback>
                <p:oleObj name="公式" r:id="rId6" imgW="8509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438650"/>
                        <a:ext cx="13716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6">
            <a:extLst>
              <a:ext uri="{FF2B5EF4-FFF2-40B4-BE49-F238E27FC236}">
                <a16:creationId xmlns:a16="http://schemas.microsoft.com/office/drawing/2014/main" id="{0DE9BF86-78BE-4A74-AE64-0E799AFD8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5163" y="2228850"/>
          <a:ext cx="20161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3" name="公式" r:id="rId8" imgW="1244600" imgH="482600" progId="Equation.3">
                  <p:embed/>
                </p:oleObj>
              </mc:Choice>
              <mc:Fallback>
                <p:oleObj name="公式" r:id="rId8" imgW="12446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63" y="2228850"/>
                        <a:ext cx="20161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1">
            <a:extLst>
              <a:ext uri="{FF2B5EF4-FFF2-40B4-BE49-F238E27FC236}">
                <a16:creationId xmlns:a16="http://schemas.microsoft.com/office/drawing/2014/main" id="{F83D03D9-3EBB-42CF-BE81-D7E83BBA8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3889375"/>
            <a:ext cx="15367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正态分布：</a:t>
            </a:r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   t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分布：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6BFB7E-AA62-469D-B7A4-5E187D43988D}"/>
              </a:ext>
            </a:extLst>
          </p:cNvPr>
          <p:cNvGrpSpPr/>
          <p:nvPr/>
        </p:nvGrpSpPr>
        <p:grpSpPr>
          <a:xfrm>
            <a:off x="1719263" y="5211763"/>
            <a:ext cx="5686425" cy="800100"/>
            <a:chOff x="1719263" y="5211763"/>
            <a:chExt cx="5686425" cy="800100"/>
          </a:xfrm>
        </p:grpSpPr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34072320-94D3-4D55-83CF-5B31827DF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1013" y="5211763"/>
              <a:ext cx="5654675" cy="800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spcBef>
                  <a:spcPts val="120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ta: 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置信系数</a:t>
              </a: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由给定的置信概率和自由度来确定；</a:t>
              </a:r>
              <a:endParaRPr lang="en-US" altLang="zh-CN" sz="18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ts val="1200"/>
                </a:spcBef>
                <a:buFont typeface="Arial" panose="020B0604020202020204" pitchFamily="34" charset="0"/>
                <a:buNone/>
              </a:pPr>
              <a:r>
                <a:rPr lang="en-US" altLang="zh-CN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  : </a:t>
              </a:r>
              <a:r>
                <a:rPr lang="zh-CN" altLang="en-US" sz="1800" b="1">
                  <a:latin typeface="黑体" panose="02010609060101010101" pitchFamily="49" charset="-122"/>
                  <a:ea typeface="黑体" panose="02010609060101010101" pitchFamily="49" charset="-122"/>
                </a:rPr>
                <a:t>算术平均值的标准差</a:t>
              </a:r>
              <a:endParaRPr lang="zh-CN" altLang="en-US" sz="1600" b="1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6877" name="对象 1">
              <a:extLst>
                <a:ext uri="{FF2B5EF4-FFF2-40B4-BE49-F238E27FC236}">
                  <a16:creationId xmlns:a16="http://schemas.microsoft.com/office/drawing/2014/main" id="{D978BCF9-AE29-4E7D-BFEA-B58CCCD48F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3937282"/>
                </p:ext>
              </p:extLst>
            </p:nvPr>
          </p:nvGraphicFramePr>
          <p:xfrm>
            <a:off x="1719263" y="5526088"/>
            <a:ext cx="431800" cy="485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54" name="Equation" r:id="rId10" imgW="203112" imgH="228501" progId="Equation.DSMT4">
                    <p:embed/>
                  </p:oleObj>
                </mc:Choice>
                <mc:Fallback>
                  <p:oleObj name="Equation" r:id="rId10" imgW="203112" imgH="228501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9263" y="5526088"/>
                          <a:ext cx="431800" cy="485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7BEF02A3-193A-49C4-9B98-22D653D8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6" grpId="0" animBg="1"/>
      <p:bldP spid="24581" grpId="0"/>
      <p:bldP spid="24583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A2E898F0-E523-4F97-9CC0-9269DB2EEC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1" name="灯片编号占位符 5">
            <a:extLst>
              <a:ext uri="{FF2B5EF4-FFF2-40B4-BE49-F238E27FC236}">
                <a16:creationId xmlns:a16="http://schemas.microsoft.com/office/drawing/2014/main" id="{1C884231-C2F2-46B9-B3AF-665E5A3FC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9776B05B-9F48-41BC-B605-A350C1B3559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635384-157F-479F-8DE4-96D8DDF8797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A2CB6997-E9F4-4C5C-B24F-1A12FB97F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1.2.4 </a:t>
            </a:r>
            <a:r>
              <a:rPr lang="zh-CN" altLang="en-US" sz="2400" b="1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非等精度测量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4" name="Text Box 11">
            <a:extLst>
              <a:ext uri="{FF2B5EF4-FFF2-40B4-BE49-F238E27FC236}">
                <a16:creationId xmlns:a16="http://schemas.microsoft.com/office/drawing/2014/main" id="{7F2C9D6C-78B3-4C73-B94A-21A3DF193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0438" y="3359150"/>
            <a:ext cx="2262187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黑体" panose="02010609060101010101" pitchFamily="49" charset="-122"/>
                <a:ea typeface="黑体" panose="02010609060101010101" pitchFamily="49" charset="-122"/>
              </a:rPr>
              <a:t>Pi:</a:t>
            </a: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各组测量结果的权</a:t>
            </a:r>
          </a:p>
        </p:txBody>
      </p:sp>
      <p:graphicFrame>
        <p:nvGraphicFramePr>
          <p:cNvPr id="37895" name="Object 15">
            <a:extLst>
              <a:ext uri="{FF2B5EF4-FFF2-40B4-BE49-F238E27FC236}">
                <a16:creationId xmlns:a16="http://schemas.microsoft.com/office/drawing/2014/main" id="{F6720F49-A264-4113-8E9F-B673869078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00" y="2446338"/>
          <a:ext cx="14398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8" name="公式" r:id="rId4" imgW="749300" imgH="838200" progId="Equation.3">
                  <p:embed/>
                </p:oleObj>
              </mc:Choice>
              <mc:Fallback>
                <p:oleObj name="公式" r:id="rId4" imgW="749300" imgH="838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2446338"/>
                        <a:ext cx="14398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7">
            <a:extLst>
              <a:ext uri="{FF2B5EF4-FFF2-40B4-BE49-F238E27FC236}">
                <a16:creationId xmlns:a16="http://schemas.microsoft.com/office/drawing/2014/main" id="{DCD71D75-50FA-43DA-81DB-17FC9DE721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6625" y="4273550"/>
          <a:ext cx="1981200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59" name="公式" r:id="rId6" imgW="1257300" imgH="889000" progId="Equation.3">
                  <p:embed/>
                </p:oleObj>
              </mc:Choice>
              <mc:Fallback>
                <p:oleObj name="公式" r:id="rId6" imgW="1257300" imgH="889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25" y="4273550"/>
                        <a:ext cx="1981200" cy="139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Text Box 11">
            <a:extLst>
              <a:ext uri="{FF2B5EF4-FFF2-40B4-BE49-F238E27FC236}">
                <a16:creationId xmlns:a16="http://schemas.microsoft.com/office/drawing/2014/main" id="{C4F97F99-929E-4C76-8D45-31BA841BB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250" y="1800225"/>
            <a:ext cx="4092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各测量结果的可靠程度不一样。</a:t>
            </a:r>
          </a:p>
        </p:txBody>
      </p:sp>
      <p:sp>
        <p:nvSpPr>
          <p:cNvPr id="37898" name="Text Box 11">
            <a:extLst>
              <a:ext uri="{FF2B5EF4-FFF2-40B4-BE49-F238E27FC236}">
                <a16:creationId xmlns:a16="http://schemas.microsoft.com/office/drawing/2014/main" id="{8DC37450-7A5D-4CC4-AEF8-259E5DAAB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188" y="4525963"/>
            <a:ext cx="2443162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>
                <a:latin typeface="黑体" panose="02010609060101010101" pitchFamily="49" charset="-122"/>
                <a:ea typeface="黑体" panose="02010609060101010101" pitchFamily="49" charset="-122"/>
              </a:rPr>
              <a:t>各组测量结果的残余误差</a:t>
            </a:r>
          </a:p>
        </p:txBody>
      </p:sp>
      <p:sp>
        <p:nvSpPr>
          <p:cNvPr id="37899" name="左箭头 1">
            <a:extLst>
              <a:ext uri="{FF2B5EF4-FFF2-40B4-BE49-F238E27FC236}">
                <a16:creationId xmlns:a16="http://schemas.microsoft.com/office/drawing/2014/main" id="{3EA97C83-3515-4248-9010-FDC541402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5100" y="4676775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7900" name="Text Box 11">
            <a:extLst>
              <a:ext uri="{FF2B5EF4-FFF2-40B4-BE49-F238E27FC236}">
                <a16:creationId xmlns:a16="http://schemas.microsoft.com/office/drawing/2014/main" id="{6546443F-DBD8-4498-ADE3-A9D90B8D0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2641600"/>
            <a:ext cx="1346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各组测量结果的均值</a:t>
            </a:r>
          </a:p>
        </p:txBody>
      </p:sp>
      <p:sp>
        <p:nvSpPr>
          <p:cNvPr id="37901" name="左箭头 22">
            <a:extLst>
              <a:ext uri="{FF2B5EF4-FFF2-40B4-BE49-F238E27FC236}">
                <a16:creationId xmlns:a16="http://schemas.microsoft.com/office/drawing/2014/main" id="{F96F8890-60AF-4CA7-873A-349126D2E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425" y="2863850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37902" name="对象 1">
            <a:extLst>
              <a:ext uri="{FF2B5EF4-FFF2-40B4-BE49-F238E27FC236}">
                <a16:creationId xmlns:a16="http://schemas.microsoft.com/office/drawing/2014/main" id="{032D27F3-4E51-449D-985F-CFA309A471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3663" y="4848225"/>
          <a:ext cx="14541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0" name="Equation" r:id="rId8" imgW="685800" imgH="241300" progId="Equation.DSMT4">
                  <p:embed/>
                </p:oleObj>
              </mc:Choice>
              <mc:Fallback>
                <p:oleObj name="Equation" r:id="rId8" imgW="685800" imgH="2413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663" y="4848225"/>
                        <a:ext cx="14541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页脚占位符 6">
            <a:extLst>
              <a:ext uri="{FF2B5EF4-FFF2-40B4-BE49-F238E27FC236}">
                <a16:creationId xmlns:a16="http://schemas.microsoft.com/office/drawing/2014/main" id="{62C5225C-5187-4C4C-AAB4-720A9DE4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0EADBB36-E84F-439D-9A32-25A06E61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FB682308-0283-4B8B-8D2B-0A8477ACB47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AF3756-917A-4EB1-B804-03C3416251E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graphicFrame>
        <p:nvGraphicFramePr>
          <p:cNvPr id="39940" name="Object 15">
            <a:extLst>
              <a:ext uri="{FF2B5EF4-FFF2-40B4-BE49-F238E27FC236}">
                <a16:creationId xmlns:a16="http://schemas.microsoft.com/office/drawing/2014/main" id="{C1EA9850-F4FC-4305-AA07-3B3CEB2A39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1287463"/>
          <a:ext cx="1512887" cy="16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0" name="公式" r:id="rId4" imgW="749300" imgH="838200" progId="Equation.3">
                  <p:embed/>
                </p:oleObj>
              </mc:Choice>
              <mc:Fallback>
                <p:oleObj name="公式" r:id="rId4" imgW="749300" imgH="838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287463"/>
                        <a:ext cx="1512887" cy="167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17">
            <a:extLst>
              <a:ext uri="{FF2B5EF4-FFF2-40B4-BE49-F238E27FC236}">
                <a16:creationId xmlns:a16="http://schemas.microsoft.com/office/drawing/2014/main" id="{B50F59CF-8F4D-4F73-8278-B54CD9E69E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7038" y="1389063"/>
          <a:ext cx="2101850" cy="147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1" name="公式" r:id="rId6" imgW="1257300" imgH="889000" progId="Equation.3">
                  <p:embed/>
                </p:oleObj>
              </mc:Choice>
              <mc:Fallback>
                <p:oleObj name="公式" r:id="rId6" imgW="1257300" imgH="889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1389063"/>
                        <a:ext cx="2101850" cy="147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3">
            <a:extLst>
              <a:ext uri="{FF2B5EF4-FFF2-40B4-BE49-F238E27FC236}">
                <a16:creationId xmlns:a16="http://schemas.microsoft.com/office/drawing/2014/main" id="{53FD1014-5FF9-4DC6-B85B-A24B20A56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00" y="3676650"/>
            <a:ext cx="76327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例如：工作基准米尺连续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天与国家基准器比较，得到基准米尺的平均长度为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999.9425mm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（三次测量）、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999.9416mm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（二次测量）、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999.9419mm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（五次测量）。则权重分别为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页脚占位符 6">
            <a:extLst>
              <a:ext uri="{FF2B5EF4-FFF2-40B4-BE49-F238E27FC236}">
                <a16:creationId xmlns:a16="http://schemas.microsoft.com/office/drawing/2014/main" id="{3CB42F6D-F6F2-4DFF-9F8D-C573D204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5F50BDA8-C6E6-4DFF-BB3A-00C8B158A0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87" name="灯片编号占位符 5">
            <a:extLst>
              <a:ext uri="{FF2B5EF4-FFF2-40B4-BE49-F238E27FC236}">
                <a16:creationId xmlns:a16="http://schemas.microsoft.com/office/drawing/2014/main" id="{3B7E9994-5196-4F35-9BF3-AE26021E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3572B2A-EE4A-4028-961C-0B6AE7B2627E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19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D47D15-AB10-4694-ACC2-056F714EFB07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29B970F3-CA8E-4BE0-982D-6D0B9D196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系统误差产生的原因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Text Box 11">
            <a:extLst>
              <a:ext uri="{FF2B5EF4-FFF2-40B4-BE49-F238E27FC236}">
                <a16:creationId xmlns:a16="http://schemas.microsoft.com/office/drawing/2014/main" id="{193ED545-B5DD-45FE-98F0-D4FCAB519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917700"/>
            <a:ext cx="5568950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测量装置方面的因素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环境方面的因素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测量方法的因素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测量人员的因素</a:t>
            </a:r>
          </a:p>
        </p:txBody>
      </p:sp>
      <p:sp>
        <p:nvSpPr>
          <p:cNvPr id="25608" name="Rectangle 3">
            <a:extLst>
              <a:ext uri="{FF2B5EF4-FFF2-40B4-BE49-F238E27FC236}">
                <a16:creationId xmlns:a16="http://schemas.microsoft.com/office/drawing/2014/main" id="{BB54D00F-1F83-4FC7-8632-20B0D7933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354806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系统误差的特征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F0BC413F-FDBF-44F8-B422-B977F725B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149725"/>
            <a:ext cx="388778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(1)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定值系统误差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——a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>
              <a:defRPr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(2)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变值系统误差</a:t>
            </a:r>
          </a:p>
          <a:p>
            <a:pPr indent="533400"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①累积性系统误差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-</a:t>
            </a:r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b,c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indent="533400"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②周期性系统误差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——d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sym typeface="Calibri" panose="020F0502020204030204" pitchFamily="34" charset="0"/>
            </a:endParaRPr>
          </a:p>
          <a:p>
            <a:pPr indent="533400"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③复杂规律变化系统误差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-e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Calibri" panose="020F0502020204030204" pitchFamily="34" charset="0"/>
              </a:rPr>
              <a:t> </a:t>
            </a:r>
          </a:p>
        </p:txBody>
      </p:sp>
      <p:pic>
        <p:nvPicPr>
          <p:cNvPr id="25610" name="Picture 16" descr="未命名">
            <a:extLst>
              <a:ext uri="{FF2B5EF4-FFF2-40B4-BE49-F238E27FC236}">
                <a16:creationId xmlns:a16="http://schemas.microsoft.com/office/drawing/2014/main" id="{60BF5273-72DC-4121-B169-A796DD24A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63" y="3405188"/>
            <a:ext cx="3005137" cy="282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页脚占位符 6">
            <a:extLst>
              <a:ext uri="{FF2B5EF4-FFF2-40B4-BE49-F238E27FC236}">
                <a16:creationId xmlns:a16="http://schemas.microsoft.com/office/drawing/2014/main" id="{63E6EB6D-D030-48A6-8E5A-EB8D7F68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  <p:bldP spid="6" grpId="0" animBg="1"/>
      <p:bldP spid="25605" grpId="0"/>
      <p:bldP spid="25607" grpId="0"/>
      <p:bldP spid="25608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C2C4C8A8-8895-4B28-9A56-507A0A19B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1" name="灯片编号占位符 5">
            <a:extLst>
              <a:ext uri="{FF2B5EF4-FFF2-40B4-BE49-F238E27FC236}">
                <a16:creationId xmlns:a16="http://schemas.microsoft.com/office/drawing/2014/main" id="{08420C69-E955-4B74-ADC3-01D88B47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9F3201B9-64F0-437D-B08B-8D68EE3E324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5323B7-A58B-4E9E-AD19-9E41AEBB5BD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0D9A093A-7585-4067-8C84-1285D61F4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系统误差的判别方法</a:t>
            </a: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4" name="Text Box 11">
            <a:extLst>
              <a:ext uri="{FF2B5EF4-FFF2-40B4-BE49-F238E27FC236}">
                <a16:creationId xmlns:a16="http://schemas.microsoft.com/office/drawing/2014/main" id="{A4DDA611-5633-4107-A127-ABAD55CCE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773238"/>
            <a:ext cx="273685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实验对比法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残余误差观察法</a:t>
            </a:r>
          </a:p>
        </p:txBody>
      </p:sp>
      <p:pic>
        <p:nvPicPr>
          <p:cNvPr id="43015" name="Picture 11" descr="未命名">
            <a:extLst>
              <a:ext uri="{FF2B5EF4-FFF2-40B4-BE49-F238E27FC236}">
                <a16:creationId xmlns:a16="http://schemas.microsoft.com/office/drawing/2014/main" id="{B88656FC-C703-4139-AD15-28BF9D49B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2592388"/>
            <a:ext cx="5268913" cy="361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页脚占位符 6">
            <a:extLst>
              <a:ext uri="{FF2B5EF4-FFF2-40B4-BE49-F238E27FC236}">
                <a16:creationId xmlns:a16="http://schemas.microsoft.com/office/drawing/2014/main" id="{A788EA64-4896-4C1E-B09C-548BB73BF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64725A13-3221-4742-B66D-118879F3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BC1C4952-6B7B-47EE-A6D5-934025386C15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F2758B-E268-429A-9533-2701E379EC4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0447DA2-CAB3-4154-89C2-6266DAB7D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406400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系统误差的判别方法</a:t>
            </a: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5061" name="Picture 9" descr="未命名">
            <a:extLst>
              <a:ext uri="{FF2B5EF4-FFF2-40B4-BE49-F238E27FC236}">
                <a16:creationId xmlns:a16="http://schemas.microsoft.com/office/drawing/2014/main" id="{73546044-7E40-432B-B276-BC35F06C6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670"/>
          <a:stretch>
            <a:fillRect/>
          </a:stretch>
        </p:blipFill>
        <p:spPr bwMode="auto">
          <a:xfrm>
            <a:off x="1100138" y="1412875"/>
            <a:ext cx="758666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A0FB223D-C9EE-47C7-A518-17EB247A0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45063" name="文本框 1">
            <a:extLst>
              <a:ext uri="{FF2B5EF4-FFF2-40B4-BE49-F238E27FC236}">
                <a16:creationId xmlns:a16="http://schemas.microsoft.com/office/drawing/2014/main" id="{10E7225C-005C-4D0C-AFBF-3AC8F0439E2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19713" y="2636838"/>
            <a:ext cx="2232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</a:t>
            </a:r>
            <a:r>
              <a:rPr lang="en-US" altLang="zh-CN" sz="18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为单次误差</a:t>
            </a:r>
            <a:endParaRPr lang="zh-CN" altLang="en-US" sz="180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2C453156-E0F0-498D-81F9-D3E8F37FF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3556" y="1752392"/>
            <a:ext cx="284062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用于判断是否存在累积性系统误差</a:t>
            </a:r>
          </a:p>
        </p:txBody>
      </p:sp>
      <p:sp>
        <p:nvSpPr>
          <p:cNvPr id="9" name="左箭头 22">
            <a:extLst>
              <a:ext uri="{FF2B5EF4-FFF2-40B4-BE49-F238E27FC236}">
                <a16:creationId xmlns:a16="http://schemas.microsoft.com/office/drawing/2014/main" id="{F2D53E13-5AC8-4523-885F-5DD026396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5942" y="1863725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FB1D5A19-396E-44B1-B22B-90CC08D0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F32169FF-08FE-44E1-B409-3110ED2D4B37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5D45C8-E917-4F95-A66C-DF82D3DEC1A9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5F56584-6EAD-432C-97A8-B15C853E3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4025" y="222250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系统误差的判别方法</a:t>
            </a:r>
            <a:endParaRPr lang="zh-CN" altLang="en-US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6085" name="Picture 7" descr="未命名">
            <a:extLst>
              <a:ext uri="{FF2B5EF4-FFF2-40B4-BE49-F238E27FC236}">
                <a16:creationId xmlns:a16="http://schemas.microsoft.com/office/drawing/2014/main" id="{06B4DFB7-72FB-4098-B062-6A2DFD880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0"/>
          <a:stretch>
            <a:fillRect/>
          </a:stretch>
        </p:blipFill>
        <p:spPr bwMode="auto">
          <a:xfrm>
            <a:off x="142875" y="1412875"/>
            <a:ext cx="8605838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2480CC90-8DB6-4B31-92E0-67E74C1DA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8D40B8B4-399C-4C96-A173-68D3342D3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65" y="1473369"/>
            <a:ext cx="36002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用于判断是否存在周期性系统误差？</a:t>
            </a:r>
          </a:p>
        </p:txBody>
      </p:sp>
      <p:sp>
        <p:nvSpPr>
          <p:cNvPr id="9" name="左箭头 22">
            <a:extLst>
              <a:ext uri="{FF2B5EF4-FFF2-40B4-BE49-F238E27FC236}">
                <a16:creationId xmlns:a16="http://schemas.microsoft.com/office/drawing/2014/main" id="{D8FE7836-D0EA-4435-8DCC-BA345C9E7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0351" y="1584702"/>
            <a:ext cx="795338" cy="115888"/>
          </a:xfrm>
          <a:prstGeom prst="leftArrow">
            <a:avLst>
              <a:gd name="adj1" fmla="val 50000"/>
              <a:gd name="adj2" fmla="val 5010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>
            <a:extLst>
              <a:ext uri="{FF2B5EF4-FFF2-40B4-BE49-F238E27FC236}">
                <a16:creationId xmlns:a16="http://schemas.microsoft.com/office/drawing/2014/main" id="{688B17E3-5025-46EC-A105-EEA8343A9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7" name="灯片编号占位符 5">
            <a:extLst>
              <a:ext uri="{FF2B5EF4-FFF2-40B4-BE49-F238E27FC236}">
                <a16:creationId xmlns:a16="http://schemas.microsoft.com/office/drawing/2014/main" id="{2DAC4B95-2CF3-424E-B931-7E5637BA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4D34B361-D623-4C6A-A47B-A37EE59269BC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3FC0DC-7E5B-4783-BF88-5AEC0D16C6F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7860C62B-A575-48BD-AA5D-18D842F4C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1.3.4 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系统误差的减小和消除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10" name="Text Box 11">
            <a:extLst>
              <a:ext uri="{FF2B5EF4-FFF2-40B4-BE49-F238E27FC236}">
                <a16:creationId xmlns:a16="http://schemas.microsoft.com/office/drawing/2014/main" id="{4B3A9AD5-5F56-47F5-B843-58A2F5FE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2142" y="1908834"/>
            <a:ext cx="63997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从误差产生根源上消除系统误差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加修正值法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交换法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抵消法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对称法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(6)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半周期法</a:t>
            </a:r>
          </a:p>
        </p:txBody>
      </p:sp>
      <p:sp>
        <p:nvSpPr>
          <p:cNvPr id="9" name="页脚占位符 6">
            <a:extLst>
              <a:ext uri="{FF2B5EF4-FFF2-40B4-BE49-F238E27FC236}">
                <a16:creationId xmlns:a16="http://schemas.microsoft.com/office/drawing/2014/main" id="{644BE4DE-567D-4E7C-93FA-1AC90112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E30BADEA-BA59-4D73-8F01-120BFF6279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1" name="灯片编号占位符 5">
            <a:extLst>
              <a:ext uri="{FF2B5EF4-FFF2-40B4-BE49-F238E27FC236}">
                <a16:creationId xmlns:a16="http://schemas.microsoft.com/office/drawing/2014/main" id="{EE232E2B-6781-431A-8B93-99DC8030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02377352-A1C5-4418-ADE0-52FFAD70E0A5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42C001-D668-4AEA-B9C2-C3B5D118093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B8625E0B-118C-4F20-8A06-3E553EFF4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1.4.1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粗大误差的产生原因</a:t>
            </a:r>
          </a:p>
        </p:txBody>
      </p:sp>
      <p:sp>
        <p:nvSpPr>
          <p:cNvPr id="33799" name="Text Box 11">
            <a:extLst>
              <a:ext uri="{FF2B5EF4-FFF2-40B4-BE49-F238E27FC236}">
                <a16:creationId xmlns:a16="http://schemas.microsoft.com/office/drawing/2014/main" id="{28D76CA9-384B-4FEB-9846-A16AF7DA8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793875"/>
            <a:ext cx="367188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测量人员的主观原因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客观外界条件的原因</a:t>
            </a:r>
          </a:p>
        </p:txBody>
      </p:sp>
      <p:sp>
        <p:nvSpPr>
          <p:cNvPr id="33800" name="Text Box 11">
            <a:extLst>
              <a:ext uri="{FF2B5EF4-FFF2-40B4-BE49-F238E27FC236}">
                <a16:creationId xmlns:a16="http://schemas.microsoft.com/office/drawing/2014/main" id="{022D774B-B1FD-4111-8A11-871A7E9CB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578225"/>
            <a:ext cx="2374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 3</a:t>
            </a:r>
            <a:r>
              <a:rPr lang="el-GR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σ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准则</a:t>
            </a:r>
          </a:p>
        </p:txBody>
      </p:sp>
      <p:sp>
        <p:nvSpPr>
          <p:cNvPr id="33801" name="Rectangle 3">
            <a:extLst>
              <a:ext uri="{FF2B5EF4-FFF2-40B4-BE49-F238E27FC236}">
                <a16:creationId xmlns:a16="http://schemas.microsoft.com/office/drawing/2014/main" id="{2F5B97DB-7768-40BA-B909-734F4A585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2794000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1.4.2 </a:t>
            </a:r>
            <a:r>
              <a:rPr lang="zh-CN" altLang="en-US" sz="24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粗大误差的判别准则</a:t>
            </a:r>
          </a:p>
        </p:txBody>
      </p:sp>
      <p:graphicFrame>
        <p:nvGraphicFramePr>
          <p:cNvPr id="33802" name="Object 10">
            <a:extLst>
              <a:ext uri="{FF2B5EF4-FFF2-40B4-BE49-F238E27FC236}">
                <a16:creationId xmlns:a16="http://schemas.microsoft.com/office/drawing/2014/main" id="{6E70FE8C-5A1B-4E56-BDD3-A337A27C8F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2450" y="4249738"/>
          <a:ext cx="22098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9" name="公式" r:id="rId3" imgW="1143000" imgH="228600" progId="Equation.3">
                  <p:embed/>
                </p:oleObj>
              </mc:Choice>
              <mc:Fallback>
                <p:oleObj name="公式" r:id="rId3" imgW="11430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4249738"/>
                        <a:ext cx="22098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Text Box 11">
            <a:extLst>
              <a:ext uri="{FF2B5EF4-FFF2-40B4-BE49-F238E27FC236}">
                <a16:creationId xmlns:a16="http://schemas.microsoft.com/office/drawing/2014/main" id="{66FFD559-B20F-4166-9970-A45F39BFA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5699125"/>
            <a:ext cx="2374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）其它准则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594304-0F22-4A25-92F6-748FC272F1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165100"/>
            <a:ext cx="4645025" cy="619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CD3A66D5-BB97-454C-815A-4880D9D41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build="p"/>
      <p:bldP spid="6" grpId="0" animBg="1"/>
      <p:bldP spid="33797" grpId="0"/>
      <p:bldP spid="33799" grpId="0"/>
      <p:bldP spid="33800" grpId="0"/>
      <p:bldP spid="33801" grpId="0"/>
      <p:bldP spid="3380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33025EA6-7EB4-4BF5-9F4E-A7C236CC9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5" name="灯片编号占位符 5">
            <a:extLst>
              <a:ext uri="{FF2B5EF4-FFF2-40B4-BE49-F238E27FC236}">
                <a16:creationId xmlns:a16="http://schemas.microsoft.com/office/drawing/2014/main" id="{B2EC6CC9-CF8C-44E1-9D29-40282AB4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7B8CE77-7BF0-4F7D-B130-1363BDFC12A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874D10-EFF4-41A4-A1CF-C10025803B7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B4713EFE-F4A2-4B93-8EED-85DABAC46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341438"/>
            <a:ext cx="741680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间接测量：</a:t>
            </a:r>
            <a:endParaRPr lang="en-US" altLang="zh-CN" sz="20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通过直接测量与被测量之间有一定函数关系的其他量。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换言之，间接测量的量是直接测量所得各个测量值的函数。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CB38741-2319-46C5-A680-9343EE091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573463"/>
            <a:ext cx="734536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误差的合成：</a:t>
            </a:r>
            <a:endParaRPr lang="en-US" altLang="zh-CN" sz="2000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间接测量的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总误差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是各个直接测得值误差的函数，称为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误差函数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。对于这种具有确定关系的误差计算也称为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误差合成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页脚占位符 6">
            <a:extLst>
              <a:ext uri="{FF2B5EF4-FFF2-40B4-BE49-F238E27FC236}">
                <a16:creationId xmlns:a16="http://schemas.microsoft.com/office/drawing/2014/main" id="{E32EB469-A65A-440F-AC77-A2439C2B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01AC4E-8749-45A7-8D81-02C8BB855F9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95929" y="2926676"/>
            <a:ext cx="3694565" cy="43088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815CB5-D4FA-46C0-8722-71D75B400B1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09465" y="5446883"/>
            <a:ext cx="3694565" cy="50135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>
            <a:extLst>
              <a:ext uri="{FF2B5EF4-FFF2-40B4-BE49-F238E27FC236}">
                <a16:creationId xmlns:a16="http://schemas.microsoft.com/office/drawing/2014/main" id="{5954AC1C-C1D3-4E6D-88F3-039C4FB051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3" name="灯片编号占位符 5">
            <a:extLst>
              <a:ext uri="{FF2B5EF4-FFF2-40B4-BE49-F238E27FC236}">
                <a16:creationId xmlns:a16="http://schemas.microsoft.com/office/drawing/2014/main" id="{5A397C6B-E563-4ADC-8AF9-7416E063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82F8072-A2AA-4D91-95A6-23D11B0F612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C7F61B-4F72-42D1-A357-506F17872417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89D1A0F6-08E0-4B9A-9409-E6A026138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</a:t>
            </a:r>
          </a:p>
        </p:txBody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ABD8F8A3-2B5F-44D4-97D3-ED4941D21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3352800"/>
            <a:ext cx="237648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系统误差的合成</a:t>
            </a:r>
          </a:p>
        </p:txBody>
      </p:sp>
      <p:graphicFrame>
        <p:nvGraphicFramePr>
          <p:cNvPr id="51207" name="Object 11">
            <a:extLst>
              <a:ext uri="{FF2B5EF4-FFF2-40B4-BE49-F238E27FC236}">
                <a16:creationId xmlns:a16="http://schemas.microsoft.com/office/drawing/2014/main" id="{D3154330-A517-454D-AA9D-368ECAF214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1981200"/>
          <a:ext cx="3124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7" name="公式" r:id="rId4" imgW="2374900" imgH="558800" progId="Equation.3">
                  <p:embed/>
                </p:oleObj>
              </mc:Choice>
              <mc:Fallback>
                <p:oleObj name="公式" r:id="rId4" imgW="2374900" imgH="558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981200"/>
                        <a:ext cx="3124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Rectangle 3">
            <a:extLst>
              <a:ext uri="{FF2B5EF4-FFF2-40B4-BE49-F238E27FC236}">
                <a16:creationId xmlns:a16="http://schemas.microsoft.com/office/drawing/2014/main" id="{9BEEEADB-6C41-491D-8B56-85F707309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475" y="2030413"/>
            <a:ext cx="23764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随机误差的合成</a:t>
            </a:r>
          </a:p>
        </p:txBody>
      </p:sp>
      <p:sp>
        <p:nvSpPr>
          <p:cNvPr id="51209" name="Rectangle 3">
            <a:extLst>
              <a:ext uri="{FF2B5EF4-FFF2-40B4-BE49-F238E27FC236}">
                <a16:creationId xmlns:a16="http://schemas.microsoft.com/office/drawing/2014/main" id="{CA3CAA3E-43FD-40B8-870D-B1EC70B20B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4598988"/>
            <a:ext cx="40417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系统误差与随机误差的合成</a:t>
            </a:r>
          </a:p>
        </p:txBody>
      </p:sp>
      <p:graphicFrame>
        <p:nvGraphicFramePr>
          <p:cNvPr id="51210" name="Object 14">
            <a:extLst>
              <a:ext uri="{FF2B5EF4-FFF2-40B4-BE49-F238E27FC236}">
                <a16:creationId xmlns:a16="http://schemas.microsoft.com/office/drawing/2014/main" id="{7D039C83-ED16-414C-B33F-2E566E152D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9363" y="3305175"/>
          <a:ext cx="12954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8" name="公式" r:id="rId6" imgW="901309" imgH="444307" progId="Equation.3">
                  <p:embed/>
                </p:oleObj>
              </mc:Choice>
              <mc:Fallback>
                <p:oleObj name="公式" r:id="rId6" imgW="901309" imgH="44430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3305175"/>
                        <a:ext cx="12954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7">
            <a:extLst>
              <a:ext uri="{FF2B5EF4-FFF2-40B4-BE49-F238E27FC236}">
                <a16:creationId xmlns:a16="http://schemas.microsoft.com/office/drawing/2014/main" id="{4FD3D927-A83B-430D-AE3C-3B17BFAA8C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0975" y="5165725"/>
          <a:ext cx="49530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9" name="公式" r:id="rId8" imgW="3657600" imgH="558800" progId="Equation.3">
                  <p:embed/>
                </p:oleObj>
              </mc:Choice>
              <mc:Fallback>
                <p:oleObj name="公式" r:id="rId8" imgW="3657600" imgH="558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5" y="5165725"/>
                        <a:ext cx="49530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505DFDF7-2529-4E8C-9901-B26BFD86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D99ECFE2-E457-4739-AF25-CBD397AF88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1" name="灯片编号占位符 5">
            <a:extLst>
              <a:ext uri="{FF2B5EF4-FFF2-40B4-BE49-F238E27FC236}">
                <a16:creationId xmlns:a16="http://schemas.microsoft.com/office/drawing/2014/main" id="{91D51E6A-D8BF-45A4-8D12-15B462AE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A324F302-238B-4B2F-9381-52A5F05C9AF7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8B0546-F8D7-4638-940F-72F7016B580F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14F74594-2B36-49CF-8FF6-9540D9B7D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误差的分配</a:t>
            </a:r>
          </a:p>
        </p:txBody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021F724A-BD99-440F-95C0-72D7E73C2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968625"/>
            <a:ext cx="58324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若各误差皆为随机误差，且互不相关，可得：</a:t>
            </a:r>
          </a:p>
        </p:txBody>
      </p:sp>
      <p:sp>
        <p:nvSpPr>
          <p:cNvPr id="53255" name="Rectangle 3">
            <a:extLst>
              <a:ext uri="{FF2B5EF4-FFF2-40B4-BE49-F238E27FC236}">
                <a16:creationId xmlns:a16="http://schemas.microsoft.com/office/drawing/2014/main" id="{929405DA-A06F-4A27-8EE7-C839500F3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2205036"/>
            <a:ext cx="64135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给定测量结果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总误差的允差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，要求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各个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单项误差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3256" name="Rectangle 3">
            <a:extLst>
              <a:ext uri="{FF2B5EF4-FFF2-40B4-BE49-F238E27FC236}">
                <a16:creationId xmlns:a16="http://schemas.microsoft.com/office/drawing/2014/main" id="{A1E7119D-2D06-4B38-899D-DDFDD3A29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392613"/>
            <a:ext cx="24542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1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Di</a:t>
            </a:r>
            <a:r>
              <a:rPr lang="zh-CN" altLang="en-US" sz="1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：函数的部分误差</a:t>
            </a:r>
          </a:p>
        </p:txBody>
      </p:sp>
      <p:graphicFrame>
        <p:nvGraphicFramePr>
          <p:cNvPr id="53257" name="Object 16">
            <a:extLst>
              <a:ext uri="{FF2B5EF4-FFF2-40B4-BE49-F238E27FC236}">
                <a16:creationId xmlns:a16="http://schemas.microsoft.com/office/drawing/2014/main" id="{CB27734E-9714-4046-B8EF-549731CE0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8225" y="3689350"/>
          <a:ext cx="73914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9" name="公式" r:id="rId4" imgW="5016500" imgH="558800" progId="Equation.3">
                  <p:embed/>
                </p:oleObj>
              </mc:Choice>
              <mc:Fallback>
                <p:oleObj name="公式" r:id="rId4" imgW="5016500" imgH="558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225" y="3689350"/>
                        <a:ext cx="73914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Rectangle 3">
            <a:extLst>
              <a:ext uri="{FF2B5EF4-FFF2-40B4-BE49-F238E27FC236}">
                <a16:creationId xmlns:a16="http://schemas.microsoft.com/office/drawing/2014/main" id="{6BD53AE7-D018-4A31-9D55-376E49372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5157788"/>
            <a:ext cx="10429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>
                <a:latin typeface="黑体" panose="02010609060101010101" pitchFamily="49" charset="-122"/>
                <a:ea typeface="黑体" panose="02010609060101010101" pitchFamily="49" charset="-122"/>
              </a:rPr>
              <a:t>要求：</a:t>
            </a:r>
          </a:p>
        </p:txBody>
      </p:sp>
      <p:graphicFrame>
        <p:nvGraphicFramePr>
          <p:cNvPr id="53259" name="对象 1">
            <a:extLst>
              <a:ext uri="{FF2B5EF4-FFF2-40B4-BE49-F238E27FC236}">
                <a16:creationId xmlns:a16="http://schemas.microsoft.com/office/drawing/2014/main" id="{7C06D8FF-8BEA-4BC2-ADD2-CDE2CB3996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0113" y="5129213"/>
          <a:ext cx="1081087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00" name="Equation" r:id="rId6" imgW="545863" imgH="241195" progId="Equation.DSMT4">
                  <p:embed/>
                </p:oleObj>
              </mc:Choice>
              <mc:Fallback>
                <p:oleObj name="Equation" r:id="rId6" imgW="545863" imgH="241195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5129213"/>
                        <a:ext cx="1081087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4ADEA6CD-DFB3-46CD-AA0B-119DBBA8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3">
            <a:extLst>
              <a:ext uri="{FF2B5EF4-FFF2-40B4-BE49-F238E27FC236}">
                <a16:creationId xmlns:a16="http://schemas.microsoft.com/office/drawing/2014/main" id="{A1F6D307-B313-4A1B-A020-15DC64B7D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0200" y="12065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误差的合成与分配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299" name="灯片编号占位符 5">
            <a:extLst>
              <a:ext uri="{FF2B5EF4-FFF2-40B4-BE49-F238E27FC236}">
                <a16:creationId xmlns:a16="http://schemas.microsoft.com/office/drawing/2014/main" id="{2574FDD4-C63F-4541-8F05-D09FCAB9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035EB74C-CFF6-4277-98AD-A40E65640A9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B880C3-6BBC-4A8C-9606-5E7D0F86FB75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85B150CE-60B1-48A3-BC83-437BE2056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154113"/>
            <a:ext cx="5435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误差的分配</a:t>
            </a:r>
          </a:p>
        </p:txBody>
      </p:sp>
      <p:graphicFrame>
        <p:nvGraphicFramePr>
          <p:cNvPr id="55302" name="Object 16">
            <a:extLst>
              <a:ext uri="{FF2B5EF4-FFF2-40B4-BE49-F238E27FC236}">
                <a16:creationId xmlns:a16="http://schemas.microsoft.com/office/drawing/2014/main" id="{0B7057C4-FB7C-4A5E-AC1B-F1AAF6109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78013"/>
          <a:ext cx="739140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5" name="公式" r:id="rId4" imgW="5016500" imgH="558800" progId="Equation.3">
                  <p:embed/>
                </p:oleObj>
              </mc:Choice>
              <mc:Fallback>
                <p:oleObj name="公式" r:id="rId4" imgW="5016500" imgH="5588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78013"/>
                        <a:ext cx="739140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Rectangle 3">
            <a:extLst>
              <a:ext uri="{FF2B5EF4-FFF2-40B4-BE49-F238E27FC236}">
                <a16:creationId xmlns:a16="http://schemas.microsoft.com/office/drawing/2014/main" id="{85E122F4-19A0-4B01-8C88-8B4324AE3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513" y="2949575"/>
            <a:ext cx="64135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按等作用原则分配误差</a:t>
            </a:r>
          </a:p>
        </p:txBody>
      </p:sp>
      <p:graphicFrame>
        <p:nvGraphicFramePr>
          <p:cNvPr id="55304" name="Object 18">
            <a:extLst>
              <a:ext uri="{FF2B5EF4-FFF2-40B4-BE49-F238E27FC236}">
                <a16:creationId xmlns:a16="http://schemas.microsoft.com/office/drawing/2014/main" id="{3BCF7DA4-B74D-44E4-AAFF-D7755AD50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2688" y="3425825"/>
          <a:ext cx="16002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6" name="公式" r:id="rId6" imgW="1231366" imgH="444307" progId="Equation.3">
                  <p:embed/>
                </p:oleObj>
              </mc:Choice>
              <mc:Fallback>
                <p:oleObj name="公式" r:id="rId6" imgW="1231366" imgH="44430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3425825"/>
                        <a:ext cx="16002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20">
            <a:extLst>
              <a:ext uri="{FF2B5EF4-FFF2-40B4-BE49-F238E27FC236}">
                <a16:creationId xmlns:a16="http://schemas.microsoft.com/office/drawing/2014/main" id="{ED8170CC-63AA-437D-B21C-7A64D1615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2000" y="3408363"/>
          <a:ext cx="14478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name="公式" r:id="rId8" imgW="1079500" imgH="457200" progId="Equation.3">
                  <p:embed/>
                </p:oleObj>
              </mc:Choice>
              <mc:Fallback>
                <p:oleObj name="公式" r:id="rId8" imgW="1079500" imgH="457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3408363"/>
                        <a:ext cx="14478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Rectangle 3">
            <a:extLst>
              <a:ext uri="{FF2B5EF4-FFF2-40B4-BE49-F238E27FC236}">
                <a16:creationId xmlns:a16="http://schemas.microsoft.com/office/drawing/2014/main" id="{9941F90A-49A0-45C4-9BC2-3D26CCB75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4097338"/>
            <a:ext cx="64150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按可能性调整误差</a:t>
            </a:r>
          </a:p>
        </p:txBody>
      </p:sp>
      <p:sp>
        <p:nvSpPr>
          <p:cNvPr id="55307" name="Rectangle 3">
            <a:extLst>
              <a:ext uri="{FF2B5EF4-FFF2-40B4-BE49-F238E27FC236}">
                <a16:creationId xmlns:a16="http://schemas.microsoft.com/office/drawing/2014/main" id="{C620113A-3D0E-4C81-B774-58FB4C633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716463"/>
            <a:ext cx="64150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最佳测量方案的确定</a:t>
            </a:r>
          </a:p>
        </p:txBody>
      </p:sp>
      <p:sp>
        <p:nvSpPr>
          <p:cNvPr id="55308" name="Rectangle 3">
            <a:extLst>
              <a:ext uri="{FF2B5EF4-FFF2-40B4-BE49-F238E27FC236}">
                <a16:creationId xmlns:a16="http://schemas.microsoft.com/office/drawing/2014/main" id="{785C0D16-0718-4546-AE0B-C3B1E9C8B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5160963"/>
            <a:ext cx="336708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选择最佳函数误差公式</a:t>
            </a:r>
          </a:p>
        </p:txBody>
      </p:sp>
      <p:sp>
        <p:nvSpPr>
          <p:cNvPr id="55309" name="Rectangle 3">
            <a:extLst>
              <a:ext uri="{FF2B5EF4-FFF2-40B4-BE49-F238E27FC236}">
                <a16:creationId xmlns:a16="http://schemas.microsoft.com/office/drawing/2014/main" id="{E198E87A-B273-4404-9FE6-EA5CDC35B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5599113"/>
            <a:ext cx="49942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使误差传递系数等于零或为最小</a:t>
            </a:r>
          </a:p>
        </p:txBody>
      </p:sp>
      <p:sp>
        <p:nvSpPr>
          <p:cNvPr id="15" name="页脚占位符 6">
            <a:extLst>
              <a:ext uri="{FF2B5EF4-FFF2-40B4-BE49-F238E27FC236}">
                <a16:creationId xmlns:a16="http://schemas.microsoft.com/office/drawing/2014/main" id="{23BC328B-EF3A-4326-AE8E-3C966C28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C1319D35-AD36-4FF4-92E2-9CB87C35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CFA592DB-AA0F-444D-A726-88AE725FCB15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29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CE3DCD-B2F5-4D86-90BD-6E3169101814}"/>
              </a:ext>
            </a:extLst>
          </p:cNvPr>
          <p:cNvSpPr/>
          <p:nvPr/>
        </p:nvSpPr>
        <p:spPr>
          <a:xfrm>
            <a:off x="149225" y="9366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7348" name="文本框 1">
            <a:extLst>
              <a:ext uri="{FF2B5EF4-FFF2-40B4-BE49-F238E27FC236}">
                <a16:creationId xmlns:a16="http://schemas.microsoft.com/office/drawing/2014/main" id="{71C6563D-7914-4F95-9E81-D7D290FA0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25" y="1744663"/>
            <a:ext cx="16414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9" name="文本框 3">
            <a:extLst>
              <a:ext uri="{FF2B5EF4-FFF2-40B4-BE49-F238E27FC236}">
                <a16:creationId xmlns:a16="http://schemas.microsoft.com/office/drawing/2014/main" id="{D18175B6-3D17-4DC9-B854-0774231CF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3417888"/>
            <a:ext cx="15430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</p:txBody>
      </p:sp>
      <p:sp>
        <p:nvSpPr>
          <p:cNvPr id="57350" name="左大括号 4">
            <a:extLst>
              <a:ext uri="{FF2B5EF4-FFF2-40B4-BE49-F238E27FC236}">
                <a16:creationId xmlns:a16="http://schemas.microsoft.com/office/drawing/2014/main" id="{D80A29FD-4471-4485-BE99-AE5FD8E0D9C1}"/>
              </a:ext>
            </a:extLst>
          </p:cNvPr>
          <p:cNvSpPr>
            <a:spLocks/>
          </p:cNvSpPr>
          <p:nvPr/>
        </p:nvSpPr>
        <p:spPr bwMode="auto">
          <a:xfrm>
            <a:off x="2112963" y="2070100"/>
            <a:ext cx="431800" cy="3525838"/>
          </a:xfrm>
          <a:prstGeom prst="leftBrace">
            <a:avLst>
              <a:gd name="adj1" fmla="val 8354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7351" name="文本框 1">
            <a:extLst>
              <a:ext uri="{FF2B5EF4-FFF2-40B4-BE49-F238E27FC236}">
                <a16:creationId xmlns:a16="http://schemas.microsoft.com/office/drawing/2014/main" id="{49435972-1E1D-4CAC-89AF-3EC1CE41B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4133850"/>
            <a:ext cx="270033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测量不确定度的合成</a:t>
            </a:r>
          </a:p>
        </p:txBody>
      </p:sp>
      <p:sp>
        <p:nvSpPr>
          <p:cNvPr id="57352" name="左大括号 4">
            <a:extLst>
              <a:ext uri="{FF2B5EF4-FFF2-40B4-BE49-F238E27FC236}">
                <a16:creationId xmlns:a16="http://schemas.microsoft.com/office/drawing/2014/main" id="{9D47EF30-9888-40D0-A6FA-81A353C3DEF8}"/>
              </a:ext>
            </a:extLst>
          </p:cNvPr>
          <p:cNvSpPr>
            <a:spLocks/>
          </p:cNvSpPr>
          <p:nvPr/>
        </p:nvSpPr>
        <p:spPr bwMode="auto">
          <a:xfrm>
            <a:off x="5127625" y="2447925"/>
            <a:ext cx="431800" cy="1152525"/>
          </a:xfrm>
          <a:prstGeom prst="leftBrace">
            <a:avLst>
              <a:gd name="adj1" fmla="val 8341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7353" name="文本框 1">
            <a:extLst>
              <a:ext uri="{FF2B5EF4-FFF2-40B4-BE49-F238E27FC236}">
                <a16:creationId xmlns:a16="http://schemas.microsoft.com/office/drawing/2014/main" id="{25853C80-5774-4B3A-8428-126F509E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2286000"/>
            <a:ext cx="2046287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自由度及其确定</a:t>
            </a:r>
          </a:p>
        </p:txBody>
      </p:sp>
      <p:sp>
        <p:nvSpPr>
          <p:cNvPr id="57354" name="文本框 1">
            <a:extLst>
              <a:ext uri="{FF2B5EF4-FFF2-40B4-BE49-F238E27FC236}">
                <a16:creationId xmlns:a16="http://schemas.microsoft.com/office/drawing/2014/main" id="{2688B7FF-0106-45BF-BE3B-B850A7B1E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2703513"/>
            <a:ext cx="251142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5" name="左大括号 4">
            <a:extLst>
              <a:ext uri="{FF2B5EF4-FFF2-40B4-BE49-F238E27FC236}">
                <a16:creationId xmlns:a16="http://schemas.microsoft.com/office/drawing/2014/main" id="{F09CF6A6-EC89-4CCF-B521-1590CB6BE594}"/>
              </a:ext>
            </a:extLst>
          </p:cNvPr>
          <p:cNvSpPr>
            <a:spLocks/>
          </p:cNvSpPr>
          <p:nvPr/>
        </p:nvSpPr>
        <p:spPr bwMode="auto">
          <a:xfrm>
            <a:off x="5127625" y="4013200"/>
            <a:ext cx="431800" cy="898525"/>
          </a:xfrm>
          <a:prstGeom prst="leftBrace">
            <a:avLst>
              <a:gd name="adj1" fmla="val 8352"/>
              <a:gd name="adj2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AD98E868-9CB6-4827-A7DB-31FA52CD7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1052513"/>
            <a:ext cx="34210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主要内容：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endParaRPr lang="zh-CN" altLang="en-US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0C8483B3-D3D1-47A8-BD62-C2DB07A51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120650"/>
            <a:ext cx="342106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1pPr>
            <a:lvl2pPr marL="742950" indent="-28575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2pPr>
            <a:lvl3pPr marL="1143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3pPr>
            <a:lvl4pPr marL="1600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4pPr>
            <a:lvl5pPr marL="20574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5pPr>
            <a:lvl6pPr marL="25146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6pPr>
            <a:lvl7pPr marL="29718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7pPr>
            <a:lvl8pPr marL="34290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8pPr>
            <a:lvl9pPr marL="3886200" indent="-228600" algn="l" defTabSz="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8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endParaRPr lang="zh-CN" altLang="en-US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8" name="Rectangle 3">
            <a:extLst>
              <a:ext uri="{FF2B5EF4-FFF2-40B4-BE49-F238E27FC236}">
                <a16:creationId xmlns:a16="http://schemas.microsoft.com/office/drawing/2014/main" id="{98E1BA00-C853-408D-9CA1-AABB377F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75" y="5322888"/>
            <a:ext cx="2212975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57359" name="文本框 1">
            <a:extLst>
              <a:ext uri="{FF2B5EF4-FFF2-40B4-BE49-F238E27FC236}">
                <a16:creationId xmlns:a16="http://schemas.microsoft.com/office/drawing/2014/main" id="{853F7C06-0CD4-4052-88F0-090D92036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1963" y="3908425"/>
            <a:ext cx="28940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合成标准不确定度</a:t>
            </a:r>
            <a:endParaRPr lang="en-US" altLang="zh-CN" sz="20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扩展（展伸）不确定度</a:t>
            </a:r>
          </a:p>
        </p:txBody>
      </p:sp>
      <p:sp>
        <p:nvSpPr>
          <p:cNvPr id="17" name="页脚占位符 6">
            <a:extLst>
              <a:ext uri="{FF2B5EF4-FFF2-40B4-BE49-F238E27FC236}">
                <a16:creationId xmlns:a16="http://schemas.microsoft.com/office/drawing/2014/main" id="{4EDBF5D3-258C-4074-AC01-3ED91BD1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45D2B7B1-7666-46D7-A85D-B29CD5468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152400"/>
            <a:ext cx="8070850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测量不确定度（</a:t>
            </a: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uncertainty of measurement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1" name="灯片编号占位符 5">
            <a:extLst>
              <a:ext uri="{FF2B5EF4-FFF2-40B4-BE49-F238E27FC236}">
                <a16:creationId xmlns:a16="http://schemas.microsoft.com/office/drawing/2014/main" id="{116BD43B-8A69-48A2-898B-5B92BEB5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CBA1C1AE-03F4-42FF-9572-AA2B856F8238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350F44-1AD9-423E-A30A-6847D69449FE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6C7728F0-9384-407B-9DA2-D81C7538E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测量不确定度的基本概念</a:t>
            </a:r>
          </a:p>
        </p:txBody>
      </p:sp>
      <p:sp>
        <p:nvSpPr>
          <p:cNvPr id="58374" name="Rectangle 3">
            <a:extLst>
              <a:ext uri="{FF2B5EF4-FFF2-40B4-BE49-F238E27FC236}">
                <a16:creationId xmlns:a16="http://schemas.microsoft.com/office/drawing/2014/main" id="{5F99E759-B250-438D-A28A-B335197E7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017713"/>
            <a:ext cx="752951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测量不确定度是指测量结果变化的不肯定程度，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是表征被测量的真值所处量值范围的评定，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是测量结果含有的一个参数，用以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表示被测量值的分散性（</a:t>
            </a:r>
            <a:r>
              <a:rPr lang="zh-CN" altLang="en-US" sz="20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被测量值可能出现的范围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这种测量不确定度的定义说明：</a:t>
            </a:r>
            <a:r>
              <a:rPr lang="zh-CN" altLang="en-US" sz="2000" b="1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一个完整的测量结果应包含被测量值的估计与分散性参数两部分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58375" name="Rectangle 3">
            <a:extLst>
              <a:ext uri="{FF2B5EF4-FFF2-40B4-BE49-F238E27FC236}">
                <a16:creationId xmlns:a16="http://schemas.microsoft.com/office/drawing/2014/main" id="{2DC0A1DB-569C-4844-B674-AE66416DC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538" y="5330825"/>
            <a:ext cx="990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估计值</a:t>
            </a:r>
          </a:p>
        </p:txBody>
      </p:sp>
      <p:graphicFrame>
        <p:nvGraphicFramePr>
          <p:cNvPr id="58376" name="对象 1">
            <a:extLst>
              <a:ext uri="{FF2B5EF4-FFF2-40B4-BE49-F238E27FC236}">
                <a16:creationId xmlns:a16="http://schemas.microsoft.com/office/drawing/2014/main" id="{7EACDB56-10A3-4225-B461-6AE4989863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6575" y="4518025"/>
          <a:ext cx="16684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04" name="Equation" r:id="rId4" imgW="647419" imgH="203112" progId="Equation.DSMT4">
                  <p:embed/>
                </p:oleObj>
              </mc:Choice>
              <mc:Fallback>
                <p:oleObj name="Equation" r:id="rId4" imgW="647419" imgH="20311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6575" y="4518025"/>
                        <a:ext cx="1668463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7" name="Group 3">
            <a:extLst>
              <a:ext uri="{FF2B5EF4-FFF2-40B4-BE49-F238E27FC236}">
                <a16:creationId xmlns:a16="http://schemas.microsoft.com/office/drawing/2014/main" id="{9ACB6B78-3896-4977-AE47-3598A1A522D3}"/>
              </a:ext>
            </a:extLst>
          </p:cNvPr>
          <p:cNvGrpSpPr>
            <a:grpSpLocks/>
          </p:cNvGrpSpPr>
          <p:nvPr/>
        </p:nvGrpSpPr>
        <p:grpSpPr bwMode="auto">
          <a:xfrm>
            <a:off x="3684588" y="5026025"/>
            <a:ext cx="409575" cy="249238"/>
            <a:chOff x="1292" y="1622"/>
            <a:chExt cx="596" cy="141"/>
          </a:xfrm>
        </p:grpSpPr>
        <p:sp>
          <p:nvSpPr>
            <p:cNvPr id="58383" name="Line 4">
              <a:extLst>
                <a:ext uri="{FF2B5EF4-FFF2-40B4-BE49-F238E27FC236}">
                  <a16:creationId xmlns:a16="http://schemas.microsoft.com/office/drawing/2014/main" id="{26ACC83E-A28A-40C8-9D8A-6957C9AA3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4" name="Line 5">
              <a:extLst>
                <a:ext uri="{FF2B5EF4-FFF2-40B4-BE49-F238E27FC236}">
                  <a16:creationId xmlns:a16="http://schemas.microsoft.com/office/drawing/2014/main" id="{82BC79C1-21EE-468F-9880-A0DF39033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378" name="Rectangle 3">
            <a:extLst>
              <a:ext uri="{FF2B5EF4-FFF2-40B4-BE49-F238E27FC236}">
                <a16:creationId xmlns:a16="http://schemas.microsoft.com/office/drawing/2014/main" id="{FB083FD8-F0C0-4B60-8655-783DC9639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5207000"/>
            <a:ext cx="989013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</p:txBody>
      </p:sp>
      <p:grpSp>
        <p:nvGrpSpPr>
          <p:cNvPr id="58379" name="Group 3">
            <a:extLst>
              <a:ext uri="{FF2B5EF4-FFF2-40B4-BE49-F238E27FC236}">
                <a16:creationId xmlns:a16="http://schemas.microsoft.com/office/drawing/2014/main" id="{200821EB-13D9-42F5-A4D1-0FA80820AABD}"/>
              </a:ext>
            </a:extLst>
          </p:cNvPr>
          <p:cNvGrpSpPr>
            <a:grpSpLocks/>
          </p:cNvGrpSpPr>
          <p:nvPr/>
        </p:nvGrpSpPr>
        <p:grpSpPr bwMode="auto">
          <a:xfrm>
            <a:off x="4335463" y="5018088"/>
            <a:ext cx="409575" cy="249237"/>
            <a:chOff x="1292" y="1622"/>
            <a:chExt cx="596" cy="141"/>
          </a:xfrm>
        </p:grpSpPr>
        <p:sp>
          <p:nvSpPr>
            <p:cNvPr id="58381" name="Line 4">
              <a:extLst>
                <a:ext uri="{FF2B5EF4-FFF2-40B4-BE49-F238E27FC236}">
                  <a16:creationId xmlns:a16="http://schemas.microsoft.com/office/drawing/2014/main" id="{AD211D13-724A-479E-9CFB-428280AF0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82" name="Line 5">
              <a:extLst>
                <a:ext uri="{FF2B5EF4-FFF2-40B4-BE49-F238E27FC236}">
                  <a16:creationId xmlns:a16="http://schemas.microsoft.com/office/drawing/2014/main" id="{42E7BA05-E1EC-4813-930C-F32C73EA7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页脚占位符 6">
            <a:extLst>
              <a:ext uri="{FF2B5EF4-FFF2-40B4-BE49-F238E27FC236}">
                <a16:creationId xmlns:a16="http://schemas.microsoft.com/office/drawing/2014/main" id="{3EBFF804-44E3-4687-9EA5-ED93AF951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C18076D0-9860-4049-878B-72620425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86B4C489-791B-4946-A1BA-4394A475A55A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437286-54A3-4F9E-88F0-805E1D6424F9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A170CFD-C9B5-42FF-BEF7-A114480AF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76375"/>
            <a:ext cx="72009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0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测量误差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是测量结果质量评价的两种表示方法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id="{A04174E0-06CF-4543-AF57-E344C39CC8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309563"/>
            <a:ext cx="547211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测量不确定度与测量误差的比较</a:t>
            </a:r>
          </a:p>
        </p:txBody>
      </p:sp>
      <p:sp>
        <p:nvSpPr>
          <p:cNvPr id="22" name="文本框 3">
            <a:extLst>
              <a:ext uri="{FF2B5EF4-FFF2-40B4-BE49-F238E27FC236}">
                <a16:creationId xmlns:a16="http://schemas.microsoft.com/office/drawing/2014/main" id="{40FAF8A7-3497-4C01-AB14-216EBA7FF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758" y="2260780"/>
            <a:ext cx="33448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误差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测得值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</a:p>
        </p:txBody>
      </p:sp>
      <p:sp>
        <p:nvSpPr>
          <p:cNvPr id="23" name="文本框 3">
            <a:extLst>
              <a:ext uri="{FF2B5EF4-FFF2-40B4-BE49-F238E27FC236}">
                <a16:creationId xmlns:a16="http://schemas.microsoft.com/office/drawing/2014/main" id="{80FDD3A4-7436-4BEC-B78E-3857F2C8C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3319" y="2180738"/>
            <a:ext cx="15954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描述测量值的分散性</a:t>
            </a:r>
            <a:endParaRPr lang="zh-CN" altLang="en-US" sz="2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0427" name="直接箭头连接符 3">
            <a:extLst>
              <a:ext uri="{FF2B5EF4-FFF2-40B4-BE49-F238E27FC236}">
                <a16:creationId xmlns:a16="http://schemas.microsoft.com/office/drawing/2014/main" id="{F8724A93-2BFC-479A-9DE1-CB91EAEB7EE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547790" y="1912938"/>
            <a:ext cx="488974" cy="267800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28" name="直接箭头连接符 25">
            <a:extLst>
              <a:ext uri="{FF2B5EF4-FFF2-40B4-BE49-F238E27FC236}">
                <a16:creationId xmlns:a16="http://schemas.microsoft.com/office/drawing/2014/main" id="{582A66FE-67D1-4AFB-A24E-D550591B98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217863" y="1962150"/>
            <a:ext cx="258762" cy="227013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页脚占位符 6">
            <a:extLst>
              <a:ext uri="{FF2B5EF4-FFF2-40B4-BE49-F238E27FC236}">
                <a16:creationId xmlns:a16="http://schemas.microsoft.com/office/drawing/2014/main" id="{D0FC41DC-630A-4D53-90B9-92BE19376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C52D01-05C0-4227-A544-A67AC8B1D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756" y="2888624"/>
            <a:ext cx="5848350" cy="33909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B14BC85-2AB5-4FA4-B6C5-EF6D7FA7B7DA}"/>
              </a:ext>
            </a:extLst>
          </p:cNvPr>
          <p:cNvSpPr/>
          <p:nvPr/>
        </p:nvSpPr>
        <p:spPr>
          <a:xfrm>
            <a:off x="806894" y="3828664"/>
            <a:ext cx="176494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真实值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测量值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误    差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不确定度</a:t>
            </a:r>
            <a:endParaRPr lang="en-US" altLang="zh-CN" sz="20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2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关系图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B26636A7-768B-420F-95DE-84D1364E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5068461F-79B2-4EA5-AEB1-9789A165F8D0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73179C-34DD-4288-9B14-E07C05290A4E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EAA2CBE-E5AC-436D-9581-05CFCD7C3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6700" y="309563"/>
            <a:ext cx="547211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测量误差与测量不确定度的比较</a:t>
            </a:r>
          </a:p>
        </p:txBody>
      </p:sp>
      <p:pic>
        <p:nvPicPr>
          <p:cNvPr id="62469" name="图片 7" descr="G:\Users\ZP\Desktop\QQ截图.png">
            <a:extLst>
              <a:ext uri="{FF2B5EF4-FFF2-40B4-BE49-F238E27FC236}">
                <a16:creationId xmlns:a16="http://schemas.microsoft.com/office/drawing/2014/main" id="{2089F191-CD32-49D0-8080-6A04C3CC6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775" y="1181151"/>
            <a:ext cx="5446842" cy="4495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>
            <a:extLst>
              <a:ext uri="{FF2B5EF4-FFF2-40B4-BE49-F238E27FC236}">
                <a16:creationId xmlns:a16="http://schemas.microsoft.com/office/drawing/2014/main" id="{B55A7586-4009-45E4-89BF-54EC3EB5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13617C33-BD36-4435-AAAC-759A304D0313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33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190420-1146-458D-AB10-80B08E1D4B4C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532A8E79-B116-4678-A709-317CDCA2A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2444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—A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</a:p>
        </p:txBody>
      </p:sp>
      <p:pic>
        <p:nvPicPr>
          <p:cNvPr id="63493" name="Picture 14" descr="未命名">
            <a:extLst>
              <a:ext uri="{FF2B5EF4-FFF2-40B4-BE49-F238E27FC236}">
                <a16:creationId xmlns:a16="http://schemas.microsoft.com/office/drawing/2014/main" id="{E5EBE08F-8E07-486D-8A9C-0CB8EA3C3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384300"/>
            <a:ext cx="81311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1BA69751-C4DE-45E8-B7D2-B477AB15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BA73D9-540D-45A1-B5E3-9CE8C1E51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850" y="3542020"/>
            <a:ext cx="4824335" cy="2824001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2DEF810-1055-4C11-8947-BBC62983E090}"/>
              </a:ext>
            </a:extLst>
          </p:cNvPr>
          <p:cNvCxnSpPr/>
          <p:nvPr/>
        </p:nvCxnSpPr>
        <p:spPr bwMode="auto">
          <a:xfrm>
            <a:off x="5076035" y="2107205"/>
            <a:ext cx="2448170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E49D596-E2F9-460E-93C8-F2D22A173B7B}"/>
              </a:ext>
            </a:extLst>
          </p:cNvPr>
          <p:cNvCxnSpPr/>
          <p:nvPr/>
        </p:nvCxnSpPr>
        <p:spPr bwMode="auto">
          <a:xfrm>
            <a:off x="3851950" y="2492935"/>
            <a:ext cx="2448170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6836A938-E2A7-44A6-AE41-1BBBB3984BB2}"/>
              </a:ext>
            </a:extLst>
          </p:cNvPr>
          <p:cNvSpPr/>
          <p:nvPr/>
        </p:nvSpPr>
        <p:spPr bwMode="auto">
          <a:xfrm>
            <a:off x="2411850" y="2780955"/>
            <a:ext cx="1944135" cy="53502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032C3556-1F0E-4556-BEA5-99F2131B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CCA1142-E3DC-490A-A504-A5AD2CF242EC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34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A98ACA-0EC3-4785-BF7F-2E16AA624793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12" name="页脚占位符 6">
            <a:extLst>
              <a:ext uri="{FF2B5EF4-FFF2-40B4-BE49-F238E27FC236}">
                <a16:creationId xmlns:a16="http://schemas.microsoft.com/office/drawing/2014/main" id="{2C312078-1273-4D8B-9A7F-6777D25F8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38450" y="63309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zh-CN" altLang="en-US"/>
              <a:t>自动化学院测量科学与仪器系</a:t>
            </a:r>
            <a:endParaRPr lang="en-US" altLang="zh-CN"/>
          </a:p>
        </p:txBody>
      </p:sp>
      <p:sp>
        <p:nvSpPr>
          <p:cNvPr id="65542" name="页脚占位符 6">
            <a:extLst>
              <a:ext uri="{FF2B5EF4-FFF2-40B4-BE49-F238E27FC236}">
                <a16:creationId xmlns:a16="http://schemas.microsoft.com/office/drawing/2014/main" id="{D94ABA69-2721-4CC8-AF20-D7B30073B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6411913"/>
            <a:ext cx="2960687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rgbClr val="898989"/>
                </a:solidFill>
              </a:rPr>
              <a:t>人工智能与自动化学院测量科学与仪器系</a:t>
            </a:r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C005C04-FB6A-43C5-9144-9A90C15BA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1181038"/>
            <a:ext cx="6980713" cy="5448361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CC89175-5BD2-4D9B-BDA6-9A24A0D64567}"/>
              </a:ext>
            </a:extLst>
          </p:cNvPr>
          <p:cNvCxnSpPr>
            <a:cxnSpLocks/>
          </p:cNvCxnSpPr>
          <p:nvPr/>
        </p:nvCxnSpPr>
        <p:spPr bwMode="auto">
          <a:xfrm>
            <a:off x="6444130" y="1772885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E286638-E463-4E04-B342-51F6CD35F767}"/>
              </a:ext>
            </a:extLst>
          </p:cNvPr>
          <p:cNvCxnSpPr>
            <a:cxnSpLocks/>
          </p:cNvCxnSpPr>
          <p:nvPr/>
        </p:nvCxnSpPr>
        <p:spPr bwMode="auto">
          <a:xfrm>
            <a:off x="2267840" y="3068975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94E543B-97E1-4D14-A288-F7091C21B825}"/>
              </a:ext>
            </a:extLst>
          </p:cNvPr>
          <p:cNvCxnSpPr>
            <a:cxnSpLocks/>
          </p:cNvCxnSpPr>
          <p:nvPr/>
        </p:nvCxnSpPr>
        <p:spPr bwMode="auto">
          <a:xfrm>
            <a:off x="1763805" y="4437070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84E727C-3BD8-49A2-9C33-9D3EBA84C8D5}"/>
              </a:ext>
            </a:extLst>
          </p:cNvPr>
          <p:cNvCxnSpPr>
            <a:cxnSpLocks/>
          </p:cNvCxnSpPr>
          <p:nvPr/>
        </p:nvCxnSpPr>
        <p:spPr bwMode="auto">
          <a:xfrm>
            <a:off x="1956670" y="5459270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E753127-7532-449C-AC58-81C1DFCF199C}"/>
              </a:ext>
            </a:extLst>
          </p:cNvPr>
          <p:cNvCxnSpPr>
            <a:cxnSpLocks/>
          </p:cNvCxnSpPr>
          <p:nvPr/>
        </p:nvCxnSpPr>
        <p:spPr bwMode="auto">
          <a:xfrm>
            <a:off x="4499995" y="6237195"/>
            <a:ext cx="79205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3">
            <a:extLst>
              <a:ext uri="{FF2B5EF4-FFF2-40B4-BE49-F238E27FC236}">
                <a16:creationId xmlns:a16="http://schemas.microsoft.com/office/drawing/2014/main" id="{905E0143-13AB-43E2-9068-E8865C7DD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2444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—B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类评定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46D3DA17-A00B-43BB-8791-A97147FD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4E5DFC20-DBEA-4FCA-A4BA-364F8736D4F3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35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693100-7680-449B-B126-C91360C4D576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pic>
        <p:nvPicPr>
          <p:cNvPr id="67588" name="Picture 14" descr="未命名">
            <a:extLst>
              <a:ext uri="{FF2B5EF4-FFF2-40B4-BE49-F238E27FC236}">
                <a16:creationId xmlns:a16="http://schemas.microsoft.com/office/drawing/2014/main" id="{669A4BC9-9C23-4508-996A-2977AF1FD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1" y="1237691"/>
            <a:ext cx="6545262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页脚占位符 6">
            <a:extLst>
              <a:ext uri="{FF2B5EF4-FFF2-40B4-BE49-F238E27FC236}">
                <a16:creationId xmlns:a16="http://schemas.microsoft.com/office/drawing/2014/main" id="{1CC38149-4114-4605-B753-6ADADAB4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A7151C3-73A0-4C51-AA33-4D43F82CD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2444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标准不确定度的评定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自由度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43F8EF5-3B54-46DC-8F9C-DCD11264B6A8}"/>
              </a:ext>
            </a:extLst>
          </p:cNvPr>
          <p:cNvCxnSpPr>
            <a:cxnSpLocks/>
          </p:cNvCxnSpPr>
          <p:nvPr/>
        </p:nvCxnSpPr>
        <p:spPr bwMode="auto">
          <a:xfrm>
            <a:off x="6147903" y="2564940"/>
            <a:ext cx="1376302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86DDEED-CB62-4BB4-90E9-D0766FE56304}"/>
              </a:ext>
            </a:extLst>
          </p:cNvPr>
          <p:cNvCxnSpPr>
            <a:cxnSpLocks/>
          </p:cNvCxnSpPr>
          <p:nvPr/>
        </p:nvCxnSpPr>
        <p:spPr bwMode="auto">
          <a:xfrm>
            <a:off x="1259770" y="2947825"/>
            <a:ext cx="1296090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78D0F59-326D-4A29-8452-456ADAAE5B9A}"/>
              </a:ext>
            </a:extLst>
          </p:cNvPr>
          <p:cNvCxnSpPr>
            <a:cxnSpLocks/>
          </p:cNvCxnSpPr>
          <p:nvPr/>
        </p:nvCxnSpPr>
        <p:spPr bwMode="auto">
          <a:xfrm>
            <a:off x="4211975" y="2982115"/>
            <a:ext cx="2808195" cy="0"/>
          </a:xfrm>
          <a:prstGeom prst="line">
            <a:avLst/>
          </a:prstGeom>
          <a:ln w="38100"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>
            <a:extLst>
              <a:ext uri="{FF2B5EF4-FFF2-40B4-BE49-F238E27FC236}">
                <a16:creationId xmlns:a16="http://schemas.microsoft.com/office/drawing/2014/main" id="{B1012F8B-C0D9-4BF4-A6D4-716D67AED9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8775" y="95250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5" name="灯片编号占位符 5">
            <a:extLst>
              <a:ext uri="{FF2B5EF4-FFF2-40B4-BE49-F238E27FC236}">
                <a16:creationId xmlns:a16="http://schemas.microsoft.com/office/drawing/2014/main" id="{D7970BDA-7FD5-4694-A67A-F84653A5E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FF98DB4-24A0-46AC-A4D1-A4102262013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36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1AABB9-E63B-4CF8-B61A-F189F8F0A3AE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69637" name="Rectangle 3">
            <a:extLst>
              <a:ext uri="{FF2B5EF4-FFF2-40B4-BE49-F238E27FC236}">
                <a16:creationId xmlns:a16="http://schemas.microsoft.com/office/drawing/2014/main" id="{3B0F6F28-9EC9-43D2-BA4C-8680D8C5C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测量不确定度的合成</a:t>
            </a:r>
          </a:p>
        </p:txBody>
      </p:sp>
      <p:sp>
        <p:nvSpPr>
          <p:cNvPr id="69638" name="Rectangle 3">
            <a:extLst>
              <a:ext uri="{FF2B5EF4-FFF2-40B4-BE49-F238E27FC236}">
                <a16:creationId xmlns:a16="http://schemas.microsoft.com/office/drawing/2014/main" id="{6C0EE76C-AD3D-474C-99AC-9E5AB06F1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017713"/>
            <a:ext cx="72009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）合成标准不确定度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(combined standard uncertainty)</a:t>
            </a:r>
            <a:endParaRPr lang="zh-CN" altLang="en-US" sz="20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9639" name="Object 15">
            <a:extLst>
              <a:ext uri="{FF2B5EF4-FFF2-40B4-BE49-F238E27FC236}">
                <a16:creationId xmlns:a16="http://schemas.microsoft.com/office/drawing/2014/main" id="{ADC8A245-C986-434F-8C2F-47A8635E6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4788" y="2703513"/>
          <a:ext cx="24193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4" name="公式" r:id="rId4" imgW="1346200" imgH="520700" progId="Equation.3">
                  <p:embed/>
                </p:oleObj>
              </mc:Choice>
              <mc:Fallback>
                <p:oleObj name="公式" r:id="rId4" imgW="1346200" imgH="520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2703513"/>
                        <a:ext cx="24193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>
            <a:extLst>
              <a:ext uri="{FF2B5EF4-FFF2-40B4-BE49-F238E27FC236}">
                <a16:creationId xmlns:a16="http://schemas.microsoft.com/office/drawing/2014/main" id="{506CAB68-CB28-4A82-879B-7E8185DC7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899025"/>
            <a:ext cx="6119812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上式间接测量中，被测量的估计值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y=f(X</a:t>
            </a:r>
            <a:r>
              <a:rPr lang="en-US" altLang="zh-CN" sz="2000" baseline="-25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,X</a:t>
            </a:r>
            <a:r>
              <a:rPr lang="en-US" altLang="zh-CN" sz="2000" baseline="-25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,…,X</a:t>
            </a:r>
            <a:r>
              <a:rPr lang="en-US" altLang="zh-CN" sz="2000" baseline="-25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1" name="Rectangle 3">
            <a:extLst>
              <a:ext uri="{FF2B5EF4-FFF2-40B4-BE49-F238E27FC236}">
                <a16:creationId xmlns:a16="http://schemas.microsoft.com/office/drawing/2014/main" id="{9F8A65D3-1E6D-46B9-9E98-ABE3CFC4E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2788" y="3702050"/>
            <a:ext cx="1778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直接测量值的标准不确定度</a:t>
            </a:r>
          </a:p>
        </p:txBody>
      </p:sp>
      <p:grpSp>
        <p:nvGrpSpPr>
          <p:cNvPr id="69642" name="Group 3">
            <a:extLst>
              <a:ext uri="{FF2B5EF4-FFF2-40B4-BE49-F238E27FC236}">
                <a16:creationId xmlns:a16="http://schemas.microsoft.com/office/drawing/2014/main" id="{932E6647-C8CE-4BB7-84BF-CEC527A0910C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513138"/>
            <a:ext cx="409575" cy="249237"/>
            <a:chOff x="1292" y="1622"/>
            <a:chExt cx="596" cy="141"/>
          </a:xfrm>
        </p:grpSpPr>
        <p:sp>
          <p:nvSpPr>
            <p:cNvPr id="69644" name="Line 4">
              <a:extLst>
                <a:ext uri="{FF2B5EF4-FFF2-40B4-BE49-F238E27FC236}">
                  <a16:creationId xmlns:a16="http://schemas.microsoft.com/office/drawing/2014/main" id="{C0C71D16-EF9C-4289-AFFD-BE2D27606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Line 5">
              <a:extLst>
                <a:ext uri="{FF2B5EF4-FFF2-40B4-BE49-F238E27FC236}">
                  <a16:creationId xmlns:a16="http://schemas.microsoft.com/office/drawing/2014/main" id="{48B17AF4-99EF-4956-B927-7B24170AD8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" name="页脚占位符 6">
            <a:extLst>
              <a:ext uri="{FF2B5EF4-FFF2-40B4-BE49-F238E27FC236}">
                <a16:creationId xmlns:a16="http://schemas.microsoft.com/office/drawing/2014/main" id="{4F505C5E-8FA7-4C0B-8607-8B239ABD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3">
            <a:extLst>
              <a:ext uri="{FF2B5EF4-FFF2-40B4-BE49-F238E27FC236}">
                <a16:creationId xmlns:a16="http://schemas.microsoft.com/office/drawing/2014/main" id="{A4994402-8D42-41DE-93CD-9F29D99D0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2900" y="123825"/>
            <a:ext cx="3421063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683" name="灯片编号占位符 5">
            <a:extLst>
              <a:ext uri="{FF2B5EF4-FFF2-40B4-BE49-F238E27FC236}">
                <a16:creationId xmlns:a16="http://schemas.microsoft.com/office/drawing/2014/main" id="{70529768-4C9C-485D-A564-1CF9AED4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1F25ADE1-22A0-44F8-87C0-957344C69882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37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6EBB42-B263-41D7-89DE-D5459FB6E96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836D2255-C478-42DB-88F8-DFD4D1793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测量不确定度的合成</a:t>
            </a:r>
          </a:p>
        </p:txBody>
      </p:sp>
      <p:sp>
        <p:nvSpPr>
          <p:cNvPr id="71686" name="Rectangle 3">
            <a:extLst>
              <a:ext uri="{FF2B5EF4-FFF2-40B4-BE49-F238E27FC236}">
                <a16:creationId xmlns:a16="http://schemas.microsoft.com/office/drawing/2014/main" id="{900E4CAD-4D62-44C4-BBE9-CE5201BD8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809750"/>
            <a:ext cx="669607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）扩展（展伸）不确定度（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expanded uncertainty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graphicFrame>
        <p:nvGraphicFramePr>
          <p:cNvPr id="71687" name="Object 18">
            <a:extLst>
              <a:ext uri="{FF2B5EF4-FFF2-40B4-BE49-F238E27FC236}">
                <a16:creationId xmlns:a16="http://schemas.microsoft.com/office/drawing/2014/main" id="{91C9135F-E5B1-4B2B-88BB-BA7DC1A66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2676525"/>
          <a:ext cx="126206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1" name="公式" r:id="rId4" imgW="533169" imgH="228501" progId="Equation.3">
                  <p:embed/>
                </p:oleObj>
              </mc:Choice>
              <mc:Fallback>
                <p:oleObj name="公式" r:id="rId4" imgW="533169" imgH="228501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676525"/>
                        <a:ext cx="126206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Object 20">
            <a:extLst>
              <a:ext uri="{FF2B5EF4-FFF2-40B4-BE49-F238E27FC236}">
                <a16:creationId xmlns:a16="http://schemas.microsoft.com/office/drawing/2014/main" id="{768412C0-0728-4448-AB6A-1AC5BA4036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4340225"/>
          <a:ext cx="11430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2" name="公式" r:id="rId6" imgW="698197" imgH="672808" progId="Equation.3">
                  <p:embed/>
                </p:oleObj>
              </mc:Choice>
              <mc:Fallback>
                <p:oleObj name="公式" r:id="rId6" imgW="698197" imgH="672808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4340225"/>
                        <a:ext cx="11430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9" name="Rectangle 3">
            <a:extLst>
              <a:ext uri="{FF2B5EF4-FFF2-40B4-BE49-F238E27FC236}">
                <a16:creationId xmlns:a16="http://schemas.microsoft.com/office/drawing/2014/main" id="{A19CDE8F-B7AC-4412-8AFF-9218D268A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4075" y="3570288"/>
            <a:ext cx="1262063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包含因子</a:t>
            </a:r>
          </a:p>
        </p:txBody>
      </p:sp>
      <p:grpSp>
        <p:nvGrpSpPr>
          <p:cNvPr id="71690" name="Group 3">
            <a:extLst>
              <a:ext uri="{FF2B5EF4-FFF2-40B4-BE49-F238E27FC236}">
                <a16:creationId xmlns:a16="http://schemas.microsoft.com/office/drawing/2014/main" id="{133045BF-5DF8-4735-8CC7-702B5D049D16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3203575"/>
            <a:ext cx="293687" cy="382588"/>
            <a:chOff x="1292" y="1622"/>
            <a:chExt cx="596" cy="141"/>
          </a:xfrm>
        </p:grpSpPr>
        <p:sp>
          <p:nvSpPr>
            <p:cNvPr id="71695" name="Line 4">
              <a:extLst>
                <a:ext uri="{FF2B5EF4-FFF2-40B4-BE49-F238E27FC236}">
                  <a16:creationId xmlns:a16="http://schemas.microsoft.com/office/drawing/2014/main" id="{646C4FB1-D76D-4217-B3A9-E6E6402FB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1622"/>
              <a:ext cx="596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5">
              <a:extLst>
                <a:ext uri="{FF2B5EF4-FFF2-40B4-BE49-F238E27FC236}">
                  <a16:creationId xmlns:a16="http://schemas.microsoft.com/office/drawing/2014/main" id="{6D044660-F708-46CC-A784-AB7720289E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4" y="1622"/>
              <a:ext cx="0" cy="141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Rectangle 3">
            <a:extLst>
              <a:ext uri="{FF2B5EF4-FFF2-40B4-BE49-F238E27FC236}">
                <a16:creationId xmlns:a16="http://schemas.microsoft.com/office/drawing/2014/main" id="{36D966B6-474A-49AE-8DA0-60A509844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4456113"/>
            <a:ext cx="28670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k:</a:t>
            </a:r>
            <a:r>
              <a:rPr lang="zh-CN" altLang="en-US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1800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分布的临界值给出，</a:t>
            </a:r>
          </a:p>
        </p:txBody>
      </p:sp>
      <p:graphicFrame>
        <p:nvGraphicFramePr>
          <p:cNvPr id="71692" name="对象 1">
            <a:extLst>
              <a:ext uri="{FF2B5EF4-FFF2-40B4-BE49-F238E27FC236}">
                <a16:creationId xmlns:a16="http://schemas.microsoft.com/office/drawing/2014/main" id="{0B6AF106-E3DC-451A-AB5F-32747D073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2075" y="4518025"/>
          <a:ext cx="10001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3" name="Equation" r:id="rId8" imgW="583947" imgH="241195" progId="Equation.DSMT4">
                  <p:embed/>
                </p:oleObj>
              </mc:Choice>
              <mc:Fallback>
                <p:oleObj name="Equation" r:id="rId8" imgW="583947" imgH="241195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075" y="4518025"/>
                        <a:ext cx="10001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3" name="Rectangle 3">
            <a:extLst>
              <a:ext uri="{FF2B5EF4-FFF2-40B4-BE49-F238E27FC236}">
                <a16:creationId xmlns:a16="http://schemas.microsoft.com/office/drawing/2014/main" id="{0BC2050B-A1A3-4BC0-8F6D-8E3E323E2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3092450"/>
            <a:ext cx="18335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通常取 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k=2~3</a:t>
            </a:r>
            <a:endParaRPr lang="zh-CN" altLang="en-US" sz="1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页脚占位符 6">
            <a:extLst>
              <a:ext uri="{FF2B5EF4-FFF2-40B4-BE49-F238E27FC236}">
                <a16:creationId xmlns:a16="http://schemas.microsoft.com/office/drawing/2014/main" id="{CC97B076-C948-42C3-8264-3370332C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>
            <a:extLst>
              <a:ext uri="{FF2B5EF4-FFF2-40B4-BE49-F238E27FC236}">
                <a16:creationId xmlns:a16="http://schemas.microsoft.com/office/drawing/2014/main" id="{589375F0-72AE-411B-9EEA-5B31E52560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3" y="177800"/>
            <a:ext cx="3421062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1" name="灯片编号占位符 5">
            <a:extLst>
              <a:ext uri="{FF2B5EF4-FFF2-40B4-BE49-F238E27FC236}">
                <a16:creationId xmlns:a16="http://schemas.microsoft.com/office/drawing/2014/main" id="{C6EEAD0D-DB9A-4475-8494-71A82302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D3381036-05F0-4D6C-AE87-EFED80710FFD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38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359A85-99E6-456A-A8DD-5B814C5185EC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6FFAFB5C-64A9-43C7-A317-5E9A5DB0C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3.4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73734" name="Rectangle 3">
            <a:extLst>
              <a:ext uri="{FF2B5EF4-FFF2-40B4-BE49-F238E27FC236}">
                <a16:creationId xmlns:a16="http://schemas.microsoft.com/office/drawing/2014/main" id="{2E4005E9-8F8A-444B-A0F5-C1B561715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2971800"/>
            <a:ext cx="6919913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例如，假设被测量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的标称值为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的标准砝码，其测量的估计值</a:t>
            </a:r>
            <a:endParaRPr lang="en-US" altLang="zh-CN" sz="18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y=100.02147g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，对应的合成标准不确定度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c=0.35mg,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则测量结果可表示为：</a:t>
            </a:r>
            <a:endParaRPr lang="en-US" altLang="zh-CN" sz="18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5" name="Rectangle 3">
            <a:extLst>
              <a:ext uri="{FF2B5EF4-FFF2-40B4-BE49-F238E27FC236}">
                <a16:creationId xmlns:a16="http://schemas.microsoft.com/office/drawing/2014/main" id="{EB8043D9-9E5C-4B6E-A35C-F691E2A58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765300"/>
            <a:ext cx="7529512" cy="122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）用合成标准不确定度作为被测量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估计值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的测量不确定度时，应给出合成标准不确定度</a:t>
            </a:r>
            <a:r>
              <a:rPr lang="el-GR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及自由度</a:t>
            </a:r>
            <a:r>
              <a:rPr lang="el-GR" altLang="zh-CN" sz="2000" b="1">
                <a:latin typeface="黑体" panose="02010609060101010101" pitchFamily="49" charset="-122"/>
                <a:ea typeface="黑体" panose="02010609060101010101" pitchFamily="49" charset="-122"/>
              </a:rPr>
              <a:t>ν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，可用下列几种方式之一表示测量结果。</a:t>
            </a:r>
          </a:p>
        </p:txBody>
      </p:sp>
      <p:graphicFrame>
        <p:nvGraphicFramePr>
          <p:cNvPr id="73736" name="对象 18">
            <a:extLst>
              <a:ext uri="{FF2B5EF4-FFF2-40B4-BE49-F238E27FC236}">
                <a16:creationId xmlns:a16="http://schemas.microsoft.com/office/drawing/2014/main" id="{2ED8B45B-FE29-4A56-BDC4-7FD05E665F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1600" y="4041775"/>
          <a:ext cx="38385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3" name="Equation" r:id="rId4" imgW="2286000" imgH="228600" progId="Equation.DSMT4">
                  <p:embed/>
                </p:oleObj>
              </mc:Choice>
              <mc:Fallback>
                <p:oleObj name="Equation" r:id="rId4" imgW="2286000" imgH="2286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4041775"/>
                        <a:ext cx="38385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7" name="对象 19">
            <a:extLst>
              <a:ext uri="{FF2B5EF4-FFF2-40B4-BE49-F238E27FC236}">
                <a16:creationId xmlns:a16="http://schemas.microsoft.com/office/drawing/2014/main" id="{D8425A11-6C8E-4140-8E8C-1CFBFA1C63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1600" y="4556125"/>
          <a:ext cx="268605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4" name="Equation" r:id="rId6" imgW="1600200" imgH="203200" progId="Equation.DSMT4">
                  <p:embed/>
                </p:oleObj>
              </mc:Choice>
              <mc:Fallback>
                <p:oleObj name="Equation" r:id="rId6" imgW="1600200" imgH="2032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1600" y="4556125"/>
                        <a:ext cx="268605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8" name="对象 20">
            <a:extLst>
              <a:ext uri="{FF2B5EF4-FFF2-40B4-BE49-F238E27FC236}">
                <a16:creationId xmlns:a16="http://schemas.microsoft.com/office/drawing/2014/main" id="{851529B4-D321-4AC6-9DE5-E22300BA9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888" y="5037138"/>
          <a:ext cx="3260725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5" name="Equation" r:id="rId8" imgW="1943100" imgH="203200" progId="Equation.DSMT4">
                  <p:embed/>
                </p:oleObj>
              </mc:Choice>
              <mc:Fallback>
                <p:oleObj name="Equation" r:id="rId8" imgW="1943100" imgH="2032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5037138"/>
                        <a:ext cx="3260725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9" name="对象 21">
            <a:extLst>
              <a:ext uri="{FF2B5EF4-FFF2-40B4-BE49-F238E27FC236}">
                <a16:creationId xmlns:a16="http://schemas.microsoft.com/office/drawing/2014/main" id="{A5D5A429-F0CA-4322-8C93-57B146BE1B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888" y="5518150"/>
          <a:ext cx="35147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6" name="Equation" r:id="rId10" imgW="2095500" imgH="203200" progId="Equation.DSMT4">
                  <p:embed/>
                </p:oleObj>
              </mc:Choice>
              <mc:Fallback>
                <p:oleObj name="Equation" r:id="rId10" imgW="2095500" imgH="2032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5518150"/>
                        <a:ext cx="351472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页脚占位符 6">
            <a:extLst>
              <a:ext uri="{FF2B5EF4-FFF2-40B4-BE49-F238E27FC236}">
                <a16:creationId xmlns:a16="http://schemas.microsoft.com/office/drawing/2014/main" id="{6E4D6FD0-B2C3-4E45-A2C3-186D35467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>
            <a:extLst>
              <a:ext uri="{FF2B5EF4-FFF2-40B4-BE49-F238E27FC236}">
                <a16:creationId xmlns:a16="http://schemas.microsoft.com/office/drawing/2014/main" id="{DD8CC628-8568-4A68-A51C-E7AD7A2ADF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2413" y="141288"/>
            <a:ext cx="3421062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79" name="灯片编号占位符 5">
            <a:extLst>
              <a:ext uri="{FF2B5EF4-FFF2-40B4-BE49-F238E27FC236}">
                <a16:creationId xmlns:a16="http://schemas.microsoft.com/office/drawing/2014/main" id="{EB5C19F5-8701-47B0-A2B2-AAF239FA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A183F50B-26E9-4F46-B923-B45A2D3B01A4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39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91022C9-D2AC-4A1B-BE59-EAAE896F57E2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79321EDE-0823-4F54-BDED-8EF19EDCF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3.4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799FA316-A701-42BA-8016-860396573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2695575"/>
            <a:ext cx="3838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例如，上述测量结果表示为：</a:t>
            </a:r>
            <a:endParaRPr lang="en-US" altLang="zh-CN" sz="1800" b="1">
              <a:solidFill>
                <a:srgbClr val="00B0F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3" name="Rectangle 3">
            <a:extLst>
              <a:ext uri="{FF2B5EF4-FFF2-40B4-BE49-F238E27FC236}">
                <a16:creationId xmlns:a16="http://schemas.microsoft.com/office/drawing/2014/main" id="{5C289ABA-63AB-4AD7-922B-D9877926B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1765300"/>
            <a:ext cx="7529512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）当测量不确定度用扩展不确定度表示时，应按下列方式表示测量结果。</a:t>
            </a:r>
          </a:p>
        </p:txBody>
      </p:sp>
      <p:graphicFrame>
        <p:nvGraphicFramePr>
          <p:cNvPr id="75784" name="对象 15">
            <a:extLst>
              <a:ext uri="{FF2B5EF4-FFF2-40B4-BE49-F238E27FC236}">
                <a16:creationId xmlns:a16="http://schemas.microsoft.com/office/drawing/2014/main" id="{D628061C-8AFD-4385-99B2-7D689E494E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6700" y="3243263"/>
          <a:ext cx="29606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5" name="Equation" r:id="rId4" imgW="1765300" imgH="203200" progId="Equation.DSMT4">
                  <p:embed/>
                </p:oleObj>
              </mc:Choice>
              <mc:Fallback>
                <p:oleObj name="Equation" r:id="rId4" imgW="1765300" imgH="2032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243263"/>
                        <a:ext cx="29606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Rectangle 3">
            <a:extLst>
              <a:ext uri="{FF2B5EF4-FFF2-40B4-BE49-F238E27FC236}">
                <a16:creationId xmlns:a16="http://schemas.microsoft.com/office/drawing/2014/main" id="{ABF09701-3A25-49CF-9D8B-AC1821A02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3757613"/>
            <a:ext cx="6130925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其中，扩展不确定度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U=k*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c=0.00079g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，是由合成标准不确定度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μ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c=0.35mg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和包含因子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k=2.26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确定的，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依据置信概率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P=0.95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和自由度</a:t>
            </a:r>
            <a:r>
              <a:rPr lang="el-GR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ν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=9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，由</a:t>
            </a:r>
            <a:r>
              <a:rPr lang="en-US" altLang="zh-CN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1800" b="1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分布查表获得。</a:t>
            </a:r>
          </a:p>
        </p:txBody>
      </p:sp>
      <p:sp>
        <p:nvSpPr>
          <p:cNvPr id="11" name="页脚占位符 6">
            <a:extLst>
              <a:ext uri="{FF2B5EF4-FFF2-40B4-BE49-F238E27FC236}">
                <a16:creationId xmlns:a16="http://schemas.microsoft.com/office/drawing/2014/main" id="{D30F0540-A7A1-4567-90DE-2C66D4C17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>
            <a:extLst>
              <a:ext uri="{FF2B5EF4-FFF2-40B4-BE49-F238E27FC236}">
                <a16:creationId xmlns:a16="http://schemas.microsoft.com/office/drawing/2014/main" id="{9409D8C0-63F8-4B8A-BE13-98433D9B4C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4963" y="165100"/>
            <a:ext cx="3421062" cy="64770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28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测量不确定度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endParaRPr lang="zh-CN" altLang="en-US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7" name="灯片编号占位符 5">
            <a:extLst>
              <a:ext uri="{FF2B5EF4-FFF2-40B4-BE49-F238E27FC236}">
                <a16:creationId xmlns:a16="http://schemas.microsoft.com/office/drawing/2014/main" id="{2BC941F5-F260-4A6B-AE1C-4EC31369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3213" y="63309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E74BE710-9D05-42F6-9E65-AD24364590DA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40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2A2777-CEA6-4032-83E5-0A929E350376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7829" name="Rectangle 3">
            <a:extLst>
              <a:ext uri="{FF2B5EF4-FFF2-40B4-BE49-F238E27FC236}">
                <a16:creationId xmlns:a16="http://schemas.microsoft.com/office/drawing/2014/main" id="{DE8FC4A4-3FEB-4039-A122-9CB97768C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184275"/>
            <a:ext cx="5435600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3.4 </a:t>
            </a:r>
            <a:r>
              <a:rPr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测量结果的表示</a:t>
            </a:r>
          </a:p>
        </p:txBody>
      </p:sp>
      <p:sp>
        <p:nvSpPr>
          <p:cNvPr id="77830" name="Rectangle 3">
            <a:extLst>
              <a:ext uri="{FF2B5EF4-FFF2-40B4-BE49-F238E27FC236}">
                <a16:creationId xmlns:a16="http://schemas.microsoft.com/office/drawing/2014/main" id="{28329FB3-FAA5-45D5-9C45-5DDB489B3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338" y="3379788"/>
            <a:ext cx="504031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位数较多时需要修约，依据“三分之一准则”</a:t>
            </a:r>
            <a:endParaRPr lang="en-US" altLang="zh-CN" sz="18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1" name="Rectangle 3">
            <a:extLst>
              <a:ext uri="{FF2B5EF4-FFF2-40B4-BE49-F238E27FC236}">
                <a16:creationId xmlns:a16="http://schemas.microsoft.com/office/drawing/2014/main" id="{A6CD289F-482D-4874-97D8-CE4C4E74B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1755775"/>
            <a:ext cx="8316912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）不确定度数值的修约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合成不确定度或扩展不确定度，其有效数字一般不超过两位，不确定度的数值与被测量的估计值的末尾对齐。</a:t>
            </a:r>
          </a:p>
        </p:txBody>
      </p:sp>
      <p:sp>
        <p:nvSpPr>
          <p:cNvPr id="77832" name="Rectangle 3">
            <a:extLst>
              <a:ext uri="{FF2B5EF4-FFF2-40B4-BE49-F238E27FC236}">
                <a16:creationId xmlns:a16="http://schemas.microsoft.com/office/drawing/2014/main" id="{32A37CC3-56B4-45A4-ABB0-8AC2110C0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275" y="4070350"/>
            <a:ext cx="66214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例：已知被测量的估计值为</a:t>
            </a: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20.0005mm</a:t>
            </a: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，若有两种情况：</a:t>
            </a:r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3" name="Rectangle 3">
            <a:extLst>
              <a:ext uri="{FF2B5EF4-FFF2-40B4-BE49-F238E27FC236}">
                <a16:creationId xmlns:a16="http://schemas.microsoft.com/office/drawing/2014/main" id="{4CB00378-A2BB-4B73-8153-5FD2E5385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013" y="4852988"/>
            <a:ext cx="19129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① U=0.00124mm</a:t>
            </a:r>
          </a:p>
        </p:txBody>
      </p:sp>
      <p:sp>
        <p:nvSpPr>
          <p:cNvPr id="77834" name="Rectangle 3">
            <a:extLst>
              <a:ext uri="{FF2B5EF4-FFF2-40B4-BE49-F238E27FC236}">
                <a16:creationId xmlns:a16="http://schemas.microsoft.com/office/drawing/2014/main" id="{75ADDC8A-CA4B-4489-A883-E52FF7DCE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891213"/>
            <a:ext cx="18224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② U=0.00123mm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235AE7C-5004-4596-A239-100456A2EBD4}"/>
              </a:ext>
            </a:extLst>
          </p:cNvPr>
          <p:cNvCxnSpPr/>
          <p:nvPr/>
        </p:nvCxnSpPr>
        <p:spPr bwMode="auto">
          <a:xfrm flipV="1">
            <a:off x="2905125" y="5108575"/>
            <a:ext cx="862013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36" name="Rectangle 3">
            <a:extLst>
              <a:ext uri="{FF2B5EF4-FFF2-40B4-BE49-F238E27FC236}">
                <a16:creationId xmlns:a16="http://schemas.microsoft.com/office/drawing/2014/main" id="{BE39953D-615A-427F-9959-0BCF4AAFA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4668838"/>
            <a:ext cx="110331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末尾对齐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7" name="Rectangle 3">
            <a:extLst>
              <a:ext uri="{FF2B5EF4-FFF2-40B4-BE49-F238E27FC236}">
                <a16:creationId xmlns:a16="http://schemas.microsoft.com/office/drawing/2014/main" id="{F848E305-6F85-435F-A857-65F5FB273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5" y="4873625"/>
            <a:ext cx="79375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12.4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80877AAD-9ADB-4DBE-9344-2336B0951DE6}"/>
              </a:ext>
            </a:extLst>
          </p:cNvPr>
          <p:cNvCxnSpPr/>
          <p:nvPr/>
        </p:nvCxnSpPr>
        <p:spPr bwMode="auto">
          <a:xfrm>
            <a:off x="4586288" y="5111750"/>
            <a:ext cx="1079500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39" name="Rectangle 3">
            <a:extLst>
              <a:ext uri="{FF2B5EF4-FFF2-40B4-BE49-F238E27FC236}">
                <a16:creationId xmlns:a16="http://schemas.microsoft.com/office/drawing/2014/main" id="{8F657EA2-5E78-414E-87DA-6BD12A90C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8963" y="4648200"/>
            <a:ext cx="1458912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三分之一准则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0" name="Rectangle 3">
            <a:extLst>
              <a:ext uri="{FF2B5EF4-FFF2-40B4-BE49-F238E27FC236}">
                <a16:creationId xmlns:a16="http://schemas.microsoft.com/office/drawing/2014/main" id="{30747A87-36AD-400B-B12C-8A8318440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4897438"/>
            <a:ext cx="792163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B2CC447-A40D-4D5E-88D0-EC333AE91FE3}"/>
              </a:ext>
            </a:extLst>
          </p:cNvPr>
          <p:cNvCxnSpPr/>
          <p:nvPr/>
        </p:nvCxnSpPr>
        <p:spPr bwMode="auto">
          <a:xfrm flipV="1">
            <a:off x="6269038" y="5100638"/>
            <a:ext cx="862012" cy="1587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42" name="Rectangle 3">
            <a:extLst>
              <a:ext uri="{FF2B5EF4-FFF2-40B4-BE49-F238E27FC236}">
                <a16:creationId xmlns:a16="http://schemas.microsoft.com/office/drawing/2014/main" id="{4BE9290D-3658-40DF-9BBD-642120955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8" y="4662488"/>
            <a:ext cx="1103312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修约后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3" name="Rectangle 3">
            <a:extLst>
              <a:ext uri="{FF2B5EF4-FFF2-40B4-BE49-F238E27FC236}">
                <a16:creationId xmlns:a16="http://schemas.microsoft.com/office/drawing/2014/main" id="{E9F96AF0-EB47-4EB6-973C-A8CB70669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811713"/>
            <a:ext cx="1454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U=0.0013mm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7B189B4-E8B7-44A8-A517-9E78308C60E1}"/>
              </a:ext>
            </a:extLst>
          </p:cNvPr>
          <p:cNvCxnSpPr/>
          <p:nvPr/>
        </p:nvCxnSpPr>
        <p:spPr bwMode="auto">
          <a:xfrm flipV="1">
            <a:off x="2909888" y="6140450"/>
            <a:ext cx="862012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45" name="Rectangle 3">
            <a:extLst>
              <a:ext uri="{FF2B5EF4-FFF2-40B4-BE49-F238E27FC236}">
                <a16:creationId xmlns:a16="http://schemas.microsoft.com/office/drawing/2014/main" id="{8DF534D5-0C2C-4538-9C95-C1B126594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5700713"/>
            <a:ext cx="11033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末尾对齐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6" name="Rectangle 3">
            <a:extLst>
              <a:ext uri="{FF2B5EF4-FFF2-40B4-BE49-F238E27FC236}">
                <a16:creationId xmlns:a16="http://schemas.microsoft.com/office/drawing/2014/main" id="{5FD69198-5172-4CD9-9B18-5F4F2794E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5238" y="5905500"/>
            <a:ext cx="7937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12.3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EA139A9-0387-42BC-BAEA-DF6D026D5F96}"/>
              </a:ext>
            </a:extLst>
          </p:cNvPr>
          <p:cNvCxnSpPr/>
          <p:nvPr/>
        </p:nvCxnSpPr>
        <p:spPr bwMode="auto">
          <a:xfrm>
            <a:off x="4591050" y="6143625"/>
            <a:ext cx="1081088" cy="0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48" name="Rectangle 3">
            <a:extLst>
              <a:ext uri="{FF2B5EF4-FFF2-40B4-BE49-F238E27FC236}">
                <a16:creationId xmlns:a16="http://schemas.microsoft.com/office/drawing/2014/main" id="{FB8EF2EA-C804-4292-A4D9-D1D3694F6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5680075"/>
            <a:ext cx="145891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三分之一准则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49" name="Rectangle 3">
            <a:extLst>
              <a:ext uri="{FF2B5EF4-FFF2-40B4-BE49-F238E27FC236}">
                <a16:creationId xmlns:a16="http://schemas.microsoft.com/office/drawing/2014/main" id="{62144014-2DD6-4224-95BA-B3F2281FB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913" y="5929313"/>
            <a:ext cx="792162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AC7288-ED1B-4A7E-8A2A-614F96B4A678}"/>
              </a:ext>
            </a:extLst>
          </p:cNvPr>
          <p:cNvCxnSpPr/>
          <p:nvPr/>
        </p:nvCxnSpPr>
        <p:spPr bwMode="auto">
          <a:xfrm flipV="1">
            <a:off x="6273800" y="6132513"/>
            <a:ext cx="862013" cy="1587"/>
          </a:xfrm>
          <a:prstGeom prst="straightConnector1">
            <a:avLst/>
          </a:prstGeom>
          <a:ln>
            <a:solidFill>
              <a:srgbClr val="00B050"/>
            </a:solidFill>
            <a:headEnd type="none" w="med" len="med"/>
            <a:tailEnd type="triangle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7851" name="Rectangle 3">
            <a:extLst>
              <a:ext uri="{FF2B5EF4-FFF2-40B4-BE49-F238E27FC236}">
                <a16:creationId xmlns:a16="http://schemas.microsoft.com/office/drawing/2014/main" id="{013A9B73-05E4-4370-85B3-352F71C85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8550" y="5694363"/>
            <a:ext cx="1103313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zh-CN" altLang="en-US" sz="1600" b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修约后</a:t>
            </a:r>
            <a:endParaRPr lang="en-US" altLang="zh-CN" sz="1600" b="1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52" name="Rectangle 3">
            <a:extLst>
              <a:ext uri="{FF2B5EF4-FFF2-40B4-BE49-F238E27FC236}">
                <a16:creationId xmlns:a16="http://schemas.microsoft.com/office/drawing/2014/main" id="{5957666F-EDAB-4D4C-B64D-89216959E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843588"/>
            <a:ext cx="14541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黑体" panose="02010609060101010101" pitchFamily="49" charset="-122"/>
                <a:ea typeface="黑体" panose="02010609060101010101" pitchFamily="49" charset="-122"/>
              </a:rPr>
              <a:t>U=0.0012mm</a:t>
            </a:r>
          </a:p>
        </p:txBody>
      </p:sp>
      <p:sp>
        <p:nvSpPr>
          <p:cNvPr id="30" name="页脚占位符 6">
            <a:extLst>
              <a:ext uri="{FF2B5EF4-FFF2-40B4-BE49-F238E27FC236}">
                <a16:creationId xmlns:a16="http://schemas.microsoft.com/office/drawing/2014/main" id="{280B6485-9F0B-4D7F-AA91-A03D69AC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>
            <a:extLst>
              <a:ext uri="{FF2B5EF4-FFF2-40B4-BE49-F238E27FC236}">
                <a16:creationId xmlns:a16="http://schemas.microsoft.com/office/drawing/2014/main" id="{DA79ADCA-9D00-4254-9A9C-1FF81447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89E4B945-E879-49EB-9831-4360F70F0BEF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41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9C7D4C-C0F7-4C7B-80FE-1C5E6D93CAC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77036EDF-4020-4337-B798-919AD6B8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  <p:sp>
        <p:nvSpPr>
          <p:cNvPr id="79877" name="矩形 1">
            <a:extLst>
              <a:ext uri="{FF2B5EF4-FFF2-40B4-BE49-F238E27FC236}">
                <a16:creationId xmlns:a16="http://schemas.microsoft.com/office/drawing/2014/main" id="{8DBF8DB4-F56A-4A58-A9FB-7D1CA6AD4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84313"/>
            <a:ext cx="5759450" cy="5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SzPct val="85000"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、作业：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习题册 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2-7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2-8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2-10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2-13</a:t>
            </a:r>
          </a:p>
        </p:txBody>
      </p:sp>
      <p:sp>
        <p:nvSpPr>
          <p:cNvPr id="79878" name="矩形 7">
            <a:extLst>
              <a:ext uri="{FF2B5EF4-FFF2-40B4-BE49-F238E27FC236}">
                <a16:creationId xmlns:a16="http://schemas.microsoft.com/office/drawing/2014/main" id="{2099EC75-45FA-4758-B4D0-6211AD0C2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2487494"/>
            <a:ext cx="7127897" cy="1873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50000"/>
              </a:spcBef>
              <a:buSzPct val="85000"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*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附加作业：可选择不做，但做对了有加分</a:t>
            </a: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spcBef>
                <a:spcPct val="50000"/>
              </a:spcBef>
              <a:buSzPct val="85000"/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        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说明标准差表达式中，根号内分母项为何不是 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n </a:t>
            </a:r>
            <a:r>
              <a:rPr lang="zh-CN" altLang="en-US" sz="240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而是 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n-1 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  <a:sym typeface="Wingdings" panose="05000000000000000000" pitchFamily="2" charset="2"/>
              </a:rPr>
              <a:t>？</a:t>
            </a:r>
            <a:endParaRPr lang="en-US" altLang="zh-CN" sz="2400" dirty="0">
              <a:latin typeface="Times New Roman" panose="02020603050405020304" pitchFamily="18" charset="0"/>
              <a:ea typeface="楷体_GB2312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BED48562-3445-41D2-870A-16C89F9D82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281130"/>
              </p:ext>
            </p:extLst>
          </p:nvPr>
        </p:nvGraphicFramePr>
        <p:xfrm>
          <a:off x="2669401" y="4116231"/>
          <a:ext cx="16827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898" name="公式" r:id="rId3" imgW="799753" imgH="482391" progId="Equation.3">
                  <p:embed/>
                </p:oleObj>
              </mc:Choice>
              <mc:Fallback>
                <p:oleObj name="公式" r:id="rId3" imgW="799753" imgH="482391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401" y="4116231"/>
                        <a:ext cx="168275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>
            <a:extLst>
              <a:ext uri="{FF2B5EF4-FFF2-40B4-BE49-F238E27FC236}">
                <a16:creationId xmlns:a16="http://schemas.microsoft.com/office/drawing/2014/main" id="{200F78E1-C913-4371-AD2C-32C8B8F2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fld id="{0E35D3D8-FED5-4EFB-AD4E-4F3DAB1F4CD2}" type="slidenum">
              <a:rPr lang="en-US" altLang="zh-CN" sz="1200" smtClean="0">
                <a:solidFill>
                  <a:srgbClr val="898989"/>
                </a:solidFill>
                <a:latin typeface="Times New Roman" panose="02020603050405020304" pitchFamily="18" charset="0"/>
                <a:ea typeface="楷体_GB2312" pitchFamily="49" charset="-122"/>
              </a:rPr>
              <a:pPr>
                <a:buFontTx/>
                <a:buChar char="•"/>
              </a:pPr>
              <a:t>42</a:t>
            </a:fld>
            <a:endParaRPr lang="en-US" altLang="zh-CN" sz="1200">
              <a:solidFill>
                <a:srgbClr val="898989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9C7D4C-C0F7-4C7B-80FE-1C5E6D93CAC0}"/>
              </a:ext>
            </a:extLst>
          </p:cNvPr>
          <p:cNvSpPr/>
          <p:nvPr/>
        </p:nvSpPr>
        <p:spPr>
          <a:xfrm>
            <a:off x="142875" y="1000125"/>
            <a:ext cx="8286750" cy="46038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5000"/>
              <a:buFontTx/>
              <a:buChar char="•"/>
              <a:defRPr/>
            </a:pPr>
            <a:endParaRPr lang="zh-CN" altLang="en-US"/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7A553D2-E4C8-4246-8E69-7AD498D8D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141663"/>
            <a:ext cx="2303462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Tx/>
              <a:buNone/>
            </a:pPr>
            <a:r>
              <a:rPr lang="en-US" altLang="zh-CN" sz="4400" b="1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END !</a:t>
            </a:r>
            <a:endParaRPr lang="zh-CN" altLang="en-US" sz="4400" b="1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77036EDF-4020-4337-B798-919AD6B8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3213" y="6411913"/>
            <a:ext cx="2960687" cy="309562"/>
          </a:xfrm>
        </p:spPr>
        <p:txBody>
          <a:bodyPr/>
          <a:lstStyle/>
          <a:p>
            <a:pPr>
              <a:defRPr/>
            </a:pPr>
            <a:r>
              <a:rPr lang="zh-CN" altLang="en-US"/>
              <a:t>人工智能与自动化学院测量科学与仪器系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5663</TotalTime>
  <Pages>0</Pages>
  <Words>3134</Words>
  <Characters>0</Characters>
  <Application>Microsoft Office PowerPoint</Application>
  <DocSecurity>0</DocSecurity>
  <PresentationFormat>全屏显示(4:3)</PresentationFormat>
  <Lines>0</Lines>
  <Paragraphs>422</Paragraphs>
  <Slides>42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60" baseType="lpstr">
      <vt:lpstr>PMingLiU</vt:lpstr>
      <vt:lpstr>方正舒体</vt:lpstr>
      <vt:lpstr>黑体</vt:lpstr>
      <vt:lpstr>华文琥珀</vt:lpstr>
      <vt:lpstr>华文楷体</vt:lpstr>
      <vt:lpstr>楷体_GB2312</vt:lpstr>
      <vt:lpstr>宋体</vt:lpstr>
      <vt:lpstr>Arial</vt:lpstr>
      <vt:lpstr>Calibri</vt:lpstr>
      <vt:lpstr>Helvetica</vt:lpstr>
      <vt:lpstr>Segoe UI Black</vt:lpstr>
      <vt:lpstr>Symbol</vt:lpstr>
      <vt:lpstr>Times New Roman</vt:lpstr>
      <vt:lpstr>Wingdings</vt:lpstr>
      <vt:lpstr>Office 主题</vt:lpstr>
      <vt:lpstr>Equation</vt:lpstr>
      <vt:lpstr>Equation.3</vt:lpstr>
      <vt:lpstr>公式</vt:lpstr>
      <vt:lpstr>PowerPoint 演示文稿</vt:lpstr>
      <vt:lpstr>本章主要内容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HUST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subject/>
  <dc:creator>微软用户</dc:creator>
  <cp:keywords/>
  <dc:description/>
  <cp:lastModifiedBy>Hong Zhang</cp:lastModifiedBy>
  <cp:revision>349</cp:revision>
  <dcterms:created xsi:type="dcterms:W3CDTF">2015-06-15T07:49:00Z</dcterms:created>
  <dcterms:modified xsi:type="dcterms:W3CDTF">2024-09-04T16:01:56Z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
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wmf" ContentType="image/x-wmf"/>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sldIdLst>
    <p:sldId id="444" r:id="rId2"/>
    <p:sldId id="445" r:id="rId3"/>
    <p:sldId id="446" r:id="rId4"/>
    <p:sldId id="261" r:id="rId5"/>
    <p:sldId id="366" r:id="rId6"/>
    <p:sldId id="439" r:id="rId7"/>
    <p:sldId id="440" r:id="rId8"/>
    <p:sldId id="258" r:id="rId9"/>
    <p:sldId id="267" r:id="rId10"/>
    <p:sldId id="268" r:id="rId11"/>
    <p:sldId id="269" r:id="rId12"/>
    <p:sldId id="286" r:id="rId13"/>
    <p:sldId id="259" r:id="rId14"/>
    <p:sldId id="266" r:id="rId15"/>
    <p:sldId id="287" r:id="rId16"/>
    <p:sldId id="288" r:id="rId17"/>
    <p:sldId id="289" r:id="rId18"/>
    <p:sldId id="290" r:id="rId19"/>
    <p:sldId id="291" r:id="rId20"/>
    <p:sldId id="292" r:id="rId21"/>
    <p:sldId id="293" r:id="rId22"/>
    <p:sldId id="321" r:id="rId23"/>
    <p:sldId id="331" r:id="rId24"/>
    <p:sldId id="332" r:id="rId25"/>
    <p:sldId id="333" r:id="rId26"/>
    <p:sldId id="455" r:id="rId27"/>
    <p:sldId id="454" r:id="rId28"/>
    <p:sldId id="336" r:id="rId29"/>
    <p:sldId id="456" r:id="rId30"/>
    <p:sldId id="339" r:id="rId31"/>
    <p:sldId id="340" r:id="rId32"/>
    <p:sldId id="341" r:id="rId33"/>
    <p:sldId id="342" r:id="rId34"/>
    <p:sldId id="447" r:id="rId35"/>
    <p:sldId id="448" r:id="rId36"/>
    <p:sldId id="343" r:id="rId37"/>
    <p:sldId id="344" r:id="rId38"/>
    <p:sldId id="345" r:id="rId39"/>
    <p:sldId id="346" r:id="rId40"/>
    <p:sldId id="347" r:id="rId41"/>
    <p:sldId id="348" r:id="rId42"/>
    <p:sldId id="349" r:id="rId43"/>
    <p:sldId id="361" r:id="rId44"/>
    <p:sldId id="299" r:id="rId45"/>
    <p:sldId id="449" r:id="rId46"/>
    <p:sldId id="317" r:id="rId47"/>
    <p:sldId id="450" r:id="rId48"/>
    <p:sldId id="452" r:id="rId49"/>
    <p:sldId id="451" r:id="rId50"/>
    <p:sldId id="453" r:id="rId51"/>
    <p:sldId id="310" r:id="rId52"/>
    <p:sldId id="311" r:id="rId53"/>
    <p:sldId id="369" r:id="rId54"/>
    <p:sldId id="367" r:id="rId55"/>
    <p:sldId id="422" r:id="rId56"/>
    <p:sldId id="318" r:id="rId57"/>
    <p:sldId id="442" r:id="rId58"/>
    <p:sldId id="443" r:id="rId59"/>
    <p:sldId id="314" r:id="rId60"/>
    <p:sldId id="368" r:id="rId61"/>
    <p:sldId id="294" r:id="rId62"/>
    <p:sldId id="457" r:id="rId63"/>
    <p:sldId id="458" r:id="rId64"/>
    <p:sldId id="295" r:id="rId65"/>
    <p:sldId id="459" r:id="rId66"/>
    <p:sldId id="297" r:id="rId67"/>
    <p:sldId id="298" r:id="rId68"/>
    <p:sldId id="370" r:id="rId69"/>
    <p:sldId id="423" r:id="rId70"/>
    <p:sldId id="462" r:id="rId71"/>
    <p:sldId id="315" r:id="rId72"/>
    <p:sldId id="319" r:id="rId73"/>
    <p:sldId id="320" r:id="rId74"/>
    <p:sldId id="323" r:id="rId75"/>
    <p:sldId id="463" r:id="rId76"/>
    <p:sldId id="469" r:id="rId77"/>
    <p:sldId id="464" r:id="rId78"/>
    <p:sldId id="322" r:id="rId79"/>
    <p:sldId id="365" r:id="rId80"/>
    <p:sldId id="465" r:id="rId81"/>
    <p:sldId id="466" r:id="rId82"/>
    <p:sldId id="467" r:id="rId83"/>
    <p:sldId id="460" r:id="rId84"/>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59">
          <p15:clr>
            <a:srgbClr val="A4A3A4"/>
          </p15:clr>
        </p15:guide>
        <p15:guide id="2" pos="2898">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ng Zhang"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9900"/>
    <a:srgbClr val="FF0000"/>
    <a:srgbClr val="0080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60" autoAdjust="0"/>
  </p:normalViewPr>
  <p:slideViewPr>
    <p:cSldViewPr>
      <p:cViewPr varScale="1">
        <p:scale>
          <a:sx n="63" d="100"/>
          <a:sy n="63" d="100"/>
        </p:scale>
        <p:origin x="1380" y="60"/>
      </p:cViewPr>
      <p:guideLst>
        <p:guide orient="horz" pos="2259"/>
        <p:guide pos="2898"/>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1.wmf"/><Relationship Id="rId1" Type="http://schemas.openxmlformats.org/officeDocument/2006/relationships/image" Target="../media/image10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1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19.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30.emf"/><Relationship Id="rId1" Type="http://schemas.openxmlformats.org/officeDocument/2006/relationships/image" Target="../media/image129.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image" Target="../media/image132.wmf"/><Relationship Id="rId1" Type="http://schemas.openxmlformats.org/officeDocument/2006/relationships/image" Target="../media/image131.wmf"/><Relationship Id="rId4" Type="http://schemas.openxmlformats.org/officeDocument/2006/relationships/image" Target="../media/image134.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43.wmf"/><Relationship Id="rId1" Type="http://schemas.openxmlformats.org/officeDocument/2006/relationships/image" Target="../media/image14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5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a:extLst>
              <a:ext uri="{FF2B5EF4-FFF2-40B4-BE49-F238E27FC236}">
                <a16:creationId xmlns:a16="http://schemas.microsoft.com/office/drawing/2014/main" id="{EB3743FC-1EA0-43B7-929D-CA60E1DDFF34}"/>
              </a:ext>
            </a:extLst>
          </p:cNvPr>
          <p:cNvSpPr>
            <a:spLocks noGrp="1" noChangeArrowheads="1"/>
          </p:cNvSpPr>
          <p:nvPr>
            <p:ph type="hdr" sz="quarter" idx="4294967295"/>
          </p:nvPr>
        </p:nvSpPr>
        <p:spPr bwMode="auto">
          <a:xfrm>
            <a:off x="0" y="0"/>
            <a:ext cx="2971800" cy="457200"/>
          </a:xfrm>
          <a:prstGeom prst="rect">
            <a:avLst/>
          </a:prstGeom>
          <a:noFill/>
          <a:ln>
            <a:noFill/>
          </a:ln>
        </p:spPr>
        <p:txBody>
          <a:bodyPr vert="horz" wrap="square" lIns="91440" tIns="45720" rIns="91440" bIns="45720" numCol="1" anchor="t" anchorCtr="0" compatLnSpc="1"/>
          <a:lstStyle>
            <a:lvl1pPr eaLnBrk="0" hangingPunct="0">
              <a:buFont typeface="Arial" pitchFamily="34" charset="0"/>
              <a:buNone/>
              <a:defRPr sz="1200">
                <a:latin typeface="Calibri" pitchFamily="34" charset="0"/>
              </a:defRPr>
            </a:lvl1pPr>
          </a:lstStyle>
          <a:p>
            <a:pPr>
              <a:defRPr/>
            </a:pPr>
            <a:endParaRPr lang="zh-CN" altLang="zh-CN"/>
          </a:p>
        </p:txBody>
      </p:sp>
      <p:sp>
        <p:nvSpPr>
          <p:cNvPr id="2051" name="日期占位符 2">
            <a:extLst>
              <a:ext uri="{FF2B5EF4-FFF2-40B4-BE49-F238E27FC236}">
                <a16:creationId xmlns:a16="http://schemas.microsoft.com/office/drawing/2014/main" id="{A3817A5F-8562-4102-B5FA-DD23D1CCFD8B}"/>
              </a:ext>
            </a:extLst>
          </p:cNvPr>
          <p:cNvSpPr>
            <a:spLocks noGrp="1" noChangeArrowheads="1"/>
          </p:cNvSpPr>
          <p:nvPr>
            <p:ph type="dt" idx="1"/>
          </p:nvPr>
        </p:nvSpPr>
        <p:spPr bwMode="auto">
          <a:xfrm>
            <a:off x="3884613" y="0"/>
            <a:ext cx="2971800" cy="457200"/>
          </a:xfrm>
          <a:prstGeom prst="rect">
            <a:avLst/>
          </a:prstGeom>
          <a:noFill/>
          <a:ln>
            <a:noFill/>
          </a:ln>
        </p:spPr>
        <p:txBody>
          <a:bodyPr vert="horz" wrap="square" lIns="91440" tIns="45720" rIns="91440" bIns="45720" numCol="1" anchor="t" anchorCtr="0" compatLnSpc="1"/>
          <a:lstStyle>
            <a:lvl1pPr algn="r" eaLnBrk="0" hangingPunct="0">
              <a:buFont typeface="Arial" pitchFamily="34" charset="0"/>
              <a:buNone/>
              <a:defRPr>
                <a:latin typeface="Arial" pitchFamily="34" charset="0"/>
              </a:defRPr>
            </a:lvl1pPr>
          </a:lstStyle>
          <a:p>
            <a:pPr>
              <a:defRPr/>
            </a:pPr>
            <a:fld id="{65C5B3DE-46CA-47C2-8B73-527F7A036CC6}" type="datetime1">
              <a:rPr lang="zh-CN" altLang="en-US"/>
              <a:pPr>
                <a:defRPr/>
              </a:pPr>
              <a:t>2024/9/14</a:t>
            </a:fld>
            <a:endParaRPr lang="zh-CN" altLang="en-US" sz="1200">
              <a:latin typeface="Calibri" pitchFamily="34" charset="0"/>
            </a:endParaRPr>
          </a:p>
        </p:txBody>
      </p:sp>
      <p:sp>
        <p:nvSpPr>
          <p:cNvPr id="2052" name="幻灯片图像占位符 3">
            <a:extLst>
              <a:ext uri="{FF2B5EF4-FFF2-40B4-BE49-F238E27FC236}">
                <a16:creationId xmlns:a16="http://schemas.microsoft.com/office/drawing/2014/main" id="{70BEA73F-B398-4676-9B66-B0906D46E2AC}"/>
              </a:ext>
            </a:extLst>
          </p:cNvPr>
          <p:cNvSpPr>
            <a:spLocks noGrp="1" noRot="1" noChangeAspect="1" noChangeArrowheads="1"/>
          </p:cNvSpPr>
          <p:nvPr>
            <p:ph type="sldImg" idx="4294967295"/>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9637" name="备注占位符 4">
            <a:extLst>
              <a:ext uri="{FF2B5EF4-FFF2-40B4-BE49-F238E27FC236}">
                <a16:creationId xmlns:a16="http://schemas.microsoft.com/office/drawing/2014/main" id="{51C7E880-EC97-49A2-9510-398ADE38A876}"/>
              </a:ext>
            </a:extLst>
          </p:cNvPr>
          <p:cNvSpPr>
            <a:spLocks noGrp="1" noRot="1" noChangeAspect="1" noChangeArrowheads="1"/>
          </p:cNvSpPr>
          <p:nvPr/>
        </p:nvSpPr>
        <p:spPr bwMode="auto">
          <a:xfrm>
            <a:off x="685800" y="4343400"/>
            <a:ext cx="5486400" cy="4114800"/>
          </a:xfrm>
          <a:prstGeom prst="rect">
            <a:avLst/>
          </a:prstGeom>
          <a:noFill/>
          <a:ln>
            <a:noFill/>
          </a:ln>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spcBef>
                <a:spcPct val="30000"/>
              </a:spcBef>
              <a:buFont typeface="Arial" panose="020B0604020202020204" pitchFamily="34" charset="0"/>
              <a:buNone/>
              <a:defRPr/>
            </a:pPr>
            <a:r>
              <a:rPr lang="zh-CN" altLang="en-US" sz="1200">
                <a:latin typeface="Arial" panose="020B0604020202020204" pitchFamily="34" charset="0"/>
              </a:rPr>
              <a:t>单击此处编辑母版文本样式</a:t>
            </a:r>
          </a:p>
          <a:p>
            <a:pPr>
              <a:spcBef>
                <a:spcPct val="30000"/>
              </a:spcBef>
              <a:buFont typeface="Arial" panose="020B0604020202020204" pitchFamily="34" charset="0"/>
              <a:buNone/>
              <a:defRPr/>
            </a:pPr>
            <a:r>
              <a:rPr lang="zh-CN" altLang="en-US" sz="1200">
                <a:latin typeface="Arial" panose="020B0604020202020204" pitchFamily="34" charset="0"/>
              </a:rPr>
              <a:t>第二级</a:t>
            </a:r>
          </a:p>
          <a:p>
            <a:pPr>
              <a:spcBef>
                <a:spcPct val="30000"/>
              </a:spcBef>
              <a:buFont typeface="Arial" panose="020B0604020202020204" pitchFamily="34" charset="0"/>
              <a:buNone/>
              <a:defRPr/>
            </a:pPr>
            <a:r>
              <a:rPr lang="zh-CN" altLang="en-US" sz="1200">
                <a:latin typeface="Arial" panose="020B0604020202020204" pitchFamily="34" charset="0"/>
              </a:rPr>
              <a:t>第三级</a:t>
            </a:r>
          </a:p>
          <a:p>
            <a:pPr>
              <a:spcBef>
                <a:spcPct val="30000"/>
              </a:spcBef>
              <a:buFont typeface="Arial" panose="020B0604020202020204" pitchFamily="34" charset="0"/>
              <a:buNone/>
              <a:defRPr/>
            </a:pPr>
            <a:r>
              <a:rPr lang="zh-CN" altLang="en-US" sz="1200">
                <a:latin typeface="Arial" panose="020B0604020202020204" pitchFamily="34" charset="0"/>
              </a:rPr>
              <a:t>第四级</a:t>
            </a:r>
          </a:p>
          <a:p>
            <a:pPr>
              <a:spcBef>
                <a:spcPct val="30000"/>
              </a:spcBef>
              <a:buFont typeface="Arial" panose="020B0604020202020204" pitchFamily="34" charset="0"/>
              <a:buNone/>
              <a:defRPr/>
            </a:pPr>
            <a:r>
              <a:rPr lang="zh-CN" altLang="en-US" sz="1200">
                <a:latin typeface="Arial" panose="020B0604020202020204" pitchFamily="34" charset="0"/>
              </a:rPr>
              <a:t>第五级</a:t>
            </a:r>
          </a:p>
        </p:txBody>
      </p:sp>
      <p:sp>
        <p:nvSpPr>
          <p:cNvPr id="2054" name="页脚占位符 5">
            <a:extLst>
              <a:ext uri="{FF2B5EF4-FFF2-40B4-BE49-F238E27FC236}">
                <a16:creationId xmlns:a16="http://schemas.microsoft.com/office/drawing/2014/main" id="{CA55DCE4-0D9F-4EBF-8ED7-46BBCAB1437E}"/>
              </a:ext>
            </a:extLst>
          </p:cNvPr>
          <p:cNvSpPr>
            <a:spLocks noGrp="1" noChangeArrowheads="1"/>
          </p:cNvSpPr>
          <p:nvPr>
            <p:ph type="ftr" sz="quarter" idx="4"/>
          </p:nvPr>
        </p:nvSpPr>
        <p:spPr bwMode="auto">
          <a:xfrm>
            <a:off x="0" y="8685213"/>
            <a:ext cx="2971800" cy="457200"/>
          </a:xfrm>
          <a:prstGeom prst="rect">
            <a:avLst/>
          </a:prstGeom>
          <a:noFill/>
          <a:ln>
            <a:noFill/>
          </a:ln>
        </p:spPr>
        <p:txBody>
          <a:bodyPr vert="horz" wrap="square" lIns="91440" tIns="45720" rIns="91440" bIns="45720" numCol="1" anchor="b" anchorCtr="0" compatLnSpc="1"/>
          <a:lstStyle>
            <a:lvl1pPr eaLnBrk="0" hangingPunct="0">
              <a:buFont typeface="Arial" pitchFamily="34" charset="0"/>
              <a:buNone/>
              <a:defRPr sz="1200">
                <a:latin typeface="Calibri" pitchFamily="34" charset="0"/>
              </a:defRPr>
            </a:lvl1pPr>
          </a:lstStyle>
          <a:p>
            <a:pPr>
              <a:defRPr/>
            </a:pPr>
            <a:endParaRPr lang="zh-CN" altLang="zh-CN"/>
          </a:p>
        </p:txBody>
      </p:sp>
      <p:sp>
        <p:nvSpPr>
          <p:cNvPr id="2055" name="灯片编号占位符 6">
            <a:extLst>
              <a:ext uri="{FF2B5EF4-FFF2-40B4-BE49-F238E27FC236}">
                <a16:creationId xmlns:a16="http://schemas.microsoft.com/office/drawing/2014/main" id="{5BE183CD-FB26-44E4-82E6-7A12D8B10D95}"/>
              </a:ext>
            </a:extLst>
          </p:cNvPr>
          <p:cNvSpPr>
            <a:spLocks noGrp="1" noChangeArrowheads="1"/>
          </p:cNvSpPr>
          <p:nvPr>
            <p:ph type="sldNum" sz="quarter" idx="5"/>
          </p:nvPr>
        </p:nvSpPr>
        <p:spPr bwMode="auto">
          <a:xfrm>
            <a:off x="3884613" y="8685213"/>
            <a:ext cx="2971800" cy="457200"/>
          </a:xfrm>
          <a:prstGeom prst="rect">
            <a:avLst/>
          </a:prstGeom>
          <a:noFill/>
          <a:ln>
            <a:noFill/>
          </a:ln>
        </p:spPr>
        <p:txBody>
          <a:bodyPr vert="horz" wrap="square" lIns="91440" tIns="45720" rIns="91440" bIns="45720" numCol="1" anchor="b" anchorCtr="0" compatLnSpc="1">
            <a:prstTxWarp prst="textNoShape">
              <a:avLst/>
            </a:prstTxWarp>
          </a:bodyPr>
          <a:lstStyle>
            <a:lvl1pPr algn="r">
              <a:buFont typeface="Arial" panose="020B0604020202020204" pitchFamily="34" charset="0"/>
              <a:buNone/>
              <a:defRPr>
                <a:latin typeface="Arial" panose="020B0604020202020204" pitchFamily="34" charset="0"/>
              </a:defRPr>
            </a:lvl1pPr>
          </a:lstStyle>
          <a:p>
            <a:pPr>
              <a:defRPr/>
            </a:pPr>
            <a:fld id="{F6BE538D-2F78-4B5D-97D1-CB3D386E0018}" type="slidenum">
              <a:rPr lang="zh-CN" altLang="en-US"/>
              <a:pPr>
                <a:defRPr/>
              </a:pPr>
              <a:t>‹#›</a:t>
            </a:fld>
            <a:endParaRPr lang="zh-CN" altLang="en-US" sz="120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p:notesStyle>
    <a:lvl1pPr algn="l" defTabSz="0"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a:extLst>
              <a:ext uri="{FF2B5EF4-FFF2-40B4-BE49-F238E27FC236}">
                <a16:creationId xmlns:a16="http://schemas.microsoft.com/office/drawing/2014/main" id="{FD755045-23BD-443C-A87E-F89473D5D9AB}"/>
              </a:ext>
            </a:extLst>
          </p:cNvPr>
          <p:cNvSpPr>
            <a:spLocks noGrp="1" noRot="1" noChangeAspect="1" noTextEdit="1"/>
          </p:cNvSpPr>
          <p:nvPr>
            <p:ph type="sldImg"/>
          </p:nvPr>
        </p:nvSpPr>
        <p:spPr/>
      </p:sp>
      <p:sp>
        <p:nvSpPr>
          <p:cNvPr id="67587" name="备注占位符 2">
            <a:extLst>
              <a:ext uri="{FF2B5EF4-FFF2-40B4-BE49-F238E27FC236}">
                <a16:creationId xmlns:a16="http://schemas.microsoft.com/office/drawing/2014/main" id="{61A1F9E5-C727-4ADC-9B92-69A790D93659}"/>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有时只有一个方向的应变，很难构成前述的桥路形式。</a:t>
            </a:r>
            <a:endParaRPr lang="en-US" altLang="zh-CN"/>
          </a:p>
          <a:p>
            <a:r>
              <a:rPr lang="zh-CN" altLang="en-US"/>
              <a:t>考虑如何设计测量电路？</a:t>
            </a:r>
            <a:endParaRPr lang="en-US" altLang="zh-CN"/>
          </a:p>
          <a:p>
            <a:endParaRPr lang="zh-CN" altLang="en-US"/>
          </a:p>
        </p:txBody>
      </p:sp>
      <p:sp>
        <p:nvSpPr>
          <p:cNvPr id="67588" name="日期占位符 3">
            <a:extLst>
              <a:ext uri="{FF2B5EF4-FFF2-40B4-BE49-F238E27FC236}">
                <a16:creationId xmlns:a16="http://schemas.microsoft.com/office/drawing/2014/main" id="{BA454CD5-3466-42EB-9F91-F8431755ED13}"/>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E840BC9-D3E5-4577-A803-BC5067B06FA7}" type="datetime1">
              <a:rPr lang="zh-CN" altLang="en-US" smtClean="0"/>
              <a:pPr/>
              <a:t>2024/9/14</a:t>
            </a:fld>
            <a:endParaRPr lang="zh-CN" altLang="en-US" sz="1200">
              <a:latin typeface="Calibri" panose="020F0502020204030204" pitchFamily="34" charset="0"/>
            </a:endParaRPr>
          </a:p>
        </p:txBody>
      </p:sp>
      <p:sp>
        <p:nvSpPr>
          <p:cNvPr id="67589" name="灯片编号占位符 4">
            <a:extLst>
              <a:ext uri="{FF2B5EF4-FFF2-40B4-BE49-F238E27FC236}">
                <a16:creationId xmlns:a16="http://schemas.microsoft.com/office/drawing/2014/main" id="{A4865DBF-D85D-47AC-AB8F-0F4FE6E43B8D}"/>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A5BB53C-5288-4B8B-AC22-0E70338F7A30}" type="slidenum">
              <a:rPr lang="zh-CN" altLang="en-US" smtClean="0"/>
              <a:pPr/>
              <a:t>66</a:t>
            </a:fld>
            <a:endParaRPr lang="zh-CN" altLang="en-US" sz="120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a:extLst>
              <a:ext uri="{FF2B5EF4-FFF2-40B4-BE49-F238E27FC236}">
                <a16:creationId xmlns:a16="http://schemas.microsoft.com/office/drawing/2014/main" id="{B625A948-E6BB-4F2F-A470-1B2AE9884C5B}"/>
              </a:ext>
            </a:extLst>
          </p:cNvPr>
          <p:cNvSpPr>
            <a:spLocks noGrp="1" noRot="1" noChangeAspect="1" noTextEdit="1"/>
          </p:cNvSpPr>
          <p:nvPr>
            <p:ph type="sldImg"/>
          </p:nvPr>
        </p:nvSpPr>
        <p:spPr/>
      </p:sp>
      <p:sp>
        <p:nvSpPr>
          <p:cNvPr id="69635" name="备注占位符 2">
            <a:extLst>
              <a:ext uri="{FF2B5EF4-FFF2-40B4-BE49-F238E27FC236}">
                <a16:creationId xmlns:a16="http://schemas.microsoft.com/office/drawing/2014/main" id="{66F8A7F2-8582-48B9-A12F-15809C5F03B2}"/>
              </a:ext>
            </a:extLst>
          </p:cNvPr>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有时只有一个方向的应变，很难构成前述的桥路形式。</a:t>
            </a:r>
            <a:endParaRPr lang="en-US" altLang="zh-CN"/>
          </a:p>
          <a:p>
            <a:r>
              <a:rPr lang="zh-CN" altLang="en-US"/>
              <a:t>考虑如何设计测量电路？</a:t>
            </a:r>
          </a:p>
        </p:txBody>
      </p:sp>
      <p:sp>
        <p:nvSpPr>
          <p:cNvPr id="69636" name="日期占位符 3">
            <a:extLst>
              <a:ext uri="{FF2B5EF4-FFF2-40B4-BE49-F238E27FC236}">
                <a16:creationId xmlns:a16="http://schemas.microsoft.com/office/drawing/2014/main" id="{5E745686-E841-47FD-B750-CD8CB33CABD9}"/>
              </a:ext>
            </a:extLst>
          </p:cNvPr>
          <p:cNvSpPr>
            <a:spLocks noGrp="1"/>
          </p:cNvSpPr>
          <p:nvPr>
            <p:ph type="dt" sz="quarter"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6DF1D2D-C61A-4FEE-96D2-DA1D4B37B61E}" type="datetime1">
              <a:rPr lang="zh-CN" altLang="en-US" smtClean="0"/>
              <a:pPr/>
              <a:t>2024/9/14</a:t>
            </a:fld>
            <a:endParaRPr lang="zh-CN" altLang="en-US" sz="1200">
              <a:latin typeface="Calibri" panose="020F0502020204030204" pitchFamily="34" charset="0"/>
            </a:endParaRPr>
          </a:p>
        </p:txBody>
      </p:sp>
      <p:sp>
        <p:nvSpPr>
          <p:cNvPr id="69637" name="灯片编号占位符 4">
            <a:extLst>
              <a:ext uri="{FF2B5EF4-FFF2-40B4-BE49-F238E27FC236}">
                <a16:creationId xmlns:a16="http://schemas.microsoft.com/office/drawing/2014/main" id="{C7287022-984C-4F2E-AD58-A19D8D4933EC}"/>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4343B29A-07C3-4F41-9739-1D4CD7BA47B2}" type="slidenum">
              <a:rPr lang="zh-CN" altLang="en-US" smtClean="0"/>
              <a:pPr/>
              <a:t>67</a:t>
            </a:fld>
            <a:endParaRPr lang="zh-CN" altLang="en-US" sz="120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a:t>单击此处编辑母版副标题样式</a:t>
            </a:r>
          </a:p>
        </p:txBody>
      </p:sp>
      <p:sp>
        <p:nvSpPr>
          <p:cNvPr id="4" name="日期占位符 3">
            <a:extLst>
              <a:ext uri="{FF2B5EF4-FFF2-40B4-BE49-F238E27FC236}">
                <a16:creationId xmlns:a16="http://schemas.microsoft.com/office/drawing/2014/main" id="{C3108996-CB1D-472D-82E6-D817E15EE014}"/>
              </a:ext>
            </a:extLst>
          </p:cNvPr>
          <p:cNvSpPr>
            <a:spLocks noGrp="1" noChangeArrowheads="1"/>
          </p:cNvSpPr>
          <p:nvPr>
            <p:ph type="dt" sz="half" idx="10"/>
          </p:nvPr>
        </p:nvSpPr>
        <p:spPr>
          <a:ln/>
        </p:spPr>
        <p:txBody>
          <a:bodyPr/>
          <a:lstStyle>
            <a:lvl1pPr>
              <a:defRPr/>
            </a:lvl1pPr>
          </a:lstStyle>
          <a:p>
            <a:pPr>
              <a:defRPr/>
            </a:pPr>
            <a:fld id="{942A7F8E-BECE-4B56-82A9-83E0FC139D31}" type="datetime1">
              <a:rPr lang="zh-CN" altLang="en-US"/>
              <a:pPr>
                <a:defRPr/>
              </a:pPr>
              <a:t>2024/9/14</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0553EA59-4F94-4C47-BAD3-243D96EB6E76}"/>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ABAB16B9-BF99-4A82-A8EB-A499A8F2D658}"/>
              </a:ext>
            </a:extLst>
          </p:cNvPr>
          <p:cNvSpPr>
            <a:spLocks noGrp="1" noChangeArrowheads="1"/>
          </p:cNvSpPr>
          <p:nvPr>
            <p:ph type="sldNum" sz="quarter" idx="12"/>
          </p:nvPr>
        </p:nvSpPr>
        <p:spPr>
          <a:ln/>
        </p:spPr>
        <p:txBody>
          <a:bodyPr/>
          <a:lstStyle>
            <a:lvl1pPr>
              <a:defRPr/>
            </a:lvl1pPr>
          </a:lstStyle>
          <a:p>
            <a:pPr>
              <a:defRPr/>
            </a:pPr>
            <a:fld id="{EBB76865-BD3E-4ED1-92F5-BE3B7723F750}" type="slidenum">
              <a:rPr lang="zh-CN" altLang="en-US"/>
              <a:pPr>
                <a:defRPr/>
              </a:pPr>
              <a:t>‹#›</a:t>
            </a:fld>
            <a:endParaRPr lang="zh-CN" altLang="en-US"/>
          </a:p>
        </p:txBody>
      </p:sp>
    </p:spTree>
    <p:extLst>
      <p:ext uri="{BB962C8B-B14F-4D97-AF65-F5344CB8AC3E}">
        <p14:creationId xmlns:p14="http://schemas.microsoft.com/office/powerpoint/2010/main" val="2325163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967A0275-9DCD-4339-9725-94E3FE072093}"/>
              </a:ext>
            </a:extLst>
          </p:cNvPr>
          <p:cNvSpPr>
            <a:spLocks noGrp="1" noChangeArrowheads="1"/>
          </p:cNvSpPr>
          <p:nvPr>
            <p:ph type="dt" sz="half" idx="10"/>
          </p:nvPr>
        </p:nvSpPr>
        <p:spPr>
          <a:ln/>
        </p:spPr>
        <p:txBody>
          <a:bodyPr/>
          <a:lstStyle>
            <a:lvl1pPr>
              <a:defRPr/>
            </a:lvl1pPr>
          </a:lstStyle>
          <a:p>
            <a:pPr>
              <a:defRPr/>
            </a:pPr>
            <a:fld id="{0AB31368-D09E-4C9A-BE4D-5F97BD3E3E8D}" type="datetime1">
              <a:rPr lang="zh-CN" altLang="en-US"/>
              <a:pPr>
                <a:defRPr/>
              </a:pPr>
              <a:t>2024/9/14</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9733F7A7-50EC-457C-97ED-F4FF52280D33}"/>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A2D59A56-0971-40C0-AF54-8429719CC869}"/>
              </a:ext>
            </a:extLst>
          </p:cNvPr>
          <p:cNvSpPr>
            <a:spLocks noGrp="1" noChangeArrowheads="1"/>
          </p:cNvSpPr>
          <p:nvPr>
            <p:ph type="sldNum" sz="quarter" idx="12"/>
          </p:nvPr>
        </p:nvSpPr>
        <p:spPr>
          <a:ln/>
        </p:spPr>
        <p:txBody>
          <a:bodyPr/>
          <a:lstStyle>
            <a:lvl1pPr>
              <a:defRPr/>
            </a:lvl1pPr>
          </a:lstStyle>
          <a:p>
            <a:pPr>
              <a:defRPr/>
            </a:pPr>
            <a:fld id="{3C510912-1CAF-488F-9CB7-99D2F09F4462}" type="slidenum">
              <a:rPr lang="zh-CN" altLang="en-US"/>
              <a:pPr>
                <a:defRPr/>
              </a:pPr>
              <a:t>‹#›</a:t>
            </a:fld>
            <a:endParaRPr lang="zh-CN" altLang="en-US"/>
          </a:p>
        </p:txBody>
      </p:sp>
    </p:spTree>
    <p:extLst>
      <p:ext uri="{BB962C8B-B14F-4D97-AF65-F5344CB8AC3E}">
        <p14:creationId xmlns:p14="http://schemas.microsoft.com/office/powerpoint/2010/main" val="2637180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日期占位符 3">
            <a:extLst>
              <a:ext uri="{FF2B5EF4-FFF2-40B4-BE49-F238E27FC236}">
                <a16:creationId xmlns:a16="http://schemas.microsoft.com/office/drawing/2014/main" id="{732115C3-AD5F-4122-ABE3-83DE617F1B15}"/>
              </a:ext>
            </a:extLst>
          </p:cNvPr>
          <p:cNvSpPr>
            <a:spLocks noGrp="1" noChangeArrowheads="1"/>
          </p:cNvSpPr>
          <p:nvPr>
            <p:ph type="dt" sz="half" idx="10"/>
          </p:nvPr>
        </p:nvSpPr>
        <p:spPr>
          <a:ln/>
        </p:spPr>
        <p:txBody>
          <a:bodyPr/>
          <a:lstStyle>
            <a:lvl1pPr>
              <a:defRPr/>
            </a:lvl1pPr>
          </a:lstStyle>
          <a:p>
            <a:pPr>
              <a:defRPr/>
            </a:pPr>
            <a:fld id="{237DD78B-41E8-45D5-A417-3AD6D98957E9}" type="datetime1">
              <a:rPr lang="zh-CN" altLang="en-US"/>
              <a:pPr>
                <a:defRPr/>
              </a:pPr>
              <a:t>2024/9/14</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85F53938-7C94-44E5-9CF2-2BBF52FE7A3D}"/>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FCD42A39-149F-4818-B742-F1F170DE1DCE}"/>
              </a:ext>
            </a:extLst>
          </p:cNvPr>
          <p:cNvSpPr>
            <a:spLocks noGrp="1" noChangeArrowheads="1"/>
          </p:cNvSpPr>
          <p:nvPr>
            <p:ph type="sldNum" sz="quarter" idx="12"/>
          </p:nvPr>
        </p:nvSpPr>
        <p:spPr>
          <a:ln/>
        </p:spPr>
        <p:txBody>
          <a:bodyPr/>
          <a:lstStyle>
            <a:lvl1pPr>
              <a:defRPr/>
            </a:lvl1pPr>
          </a:lstStyle>
          <a:p>
            <a:pPr>
              <a:defRPr/>
            </a:pPr>
            <a:fld id="{6F2AEA20-C95B-4821-BEFF-A4C220626556}" type="slidenum">
              <a:rPr lang="zh-CN" altLang="en-US"/>
              <a:pPr>
                <a:defRPr/>
              </a:pPr>
              <a:t>‹#›</a:t>
            </a:fld>
            <a:endParaRPr lang="zh-CN" altLang="en-US"/>
          </a:p>
        </p:txBody>
      </p:sp>
    </p:spTree>
    <p:extLst>
      <p:ext uri="{BB962C8B-B14F-4D97-AF65-F5344CB8AC3E}">
        <p14:creationId xmlns:p14="http://schemas.microsoft.com/office/powerpoint/2010/main" val="173329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2C040BFB-D6EA-4448-AECD-032D66278B7D}"/>
              </a:ext>
            </a:extLst>
          </p:cNvPr>
          <p:cNvSpPr>
            <a:spLocks noGrp="1" noChangeArrowheads="1"/>
          </p:cNvSpPr>
          <p:nvPr>
            <p:ph type="dt" sz="half" idx="10"/>
          </p:nvPr>
        </p:nvSpPr>
        <p:spPr>
          <a:ln/>
        </p:spPr>
        <p:txBody>
          <a:bodyPr/>
          <a:lstStyle>
            <a:lvl1pPr>
              <a:defRPr/>
            </a:lvl1pPr>
          </a:lstStyle>
          <a:p>
            <a:pPr>
              <a:defRPr/>
            </a:pPr>
            <a:fld id="{E958BCE6-F504-428F-BD0C-00588AEFAA34}" type="datetime1">
              <a:rPr lang="zh-CN" altLang="en-US"/>
              <a:pPr>
                <a:defRPr/>
              </a:pPr>
              <a:t>2024/9/14</a:t>
            </a:fld>
            <a:endParaRPr lang="zh-CN" altLang="en-US" sz="1800">
              <a:solidFill>
                <a:schemeClr val="tx1"/>
              </a:solidFill>
              <a:latin typeface="Arial" pitchFamily="34" charset="0"/>
            </a:endParaRPr>
          </a:p>
        </p:txBody>
      </p:sp>
      <p:sp>
        <p:nvSpPr>
          <p:cNvPr id="6" name="页脚占位符 4">
            <a:extLst>
              <a:ext uri="{FF2B5EF4-FFF2-40B4-BE49-F238E27FC236}">
                <a16:creationId xmlns:a16="http://schemas.microsoft.com/office/drawing/2014/main" id="{C7F6F74B-9F1A-4AA2-A207-EA4C5F0D53A7}"/>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7" name="灯片编号占位符 5">
            <a:extLst>
              <a:ext uri="{FF2B5EF4-FFF2-40B4-BE49-F238E27FC236}">
                <a16:creationId xmlns:a16="http://schemas.microsoft.com/office/drawing/2014/main" id="{5A88C199-642D-441D-9FA9-2F6ED8D23D27}"/>
              </a:ext>
            </a:extLst>
          </p:cNvPr>
          <p:cNvSpPr>
            <a:spLocks noGrp="1" noChangeArrowheads="1"/>
          </p:cNvSpPr>
          <p:nvPr>
            <p:ph type="sldNum" sz="quarter" idx="12"/>
          </p:nvPr>
        </p:nvSpPr>
        <p:spPr>
          <a:ln/>
        </p:spPr>
        <p:txBody>
          <a:bodyPr/>
          <a:lstStyle>
            <a:lvl1pPr>
              <a:defRPr/>
            </a:lvl1pPr>
          </a:lstStyle>
          <a:p>
            <a:pPr>
              <a:defRPr/>
            </a:pPr>
            <a:fld id="{32F06C88-16DD-472A-B00A-770AE4E65FEE}" type="slidenum">
              <a:rPr lang="zh-CN" altLang="en-US"/>
              <a:pPr>
                <a:defRPr/>
              </a:pPr>
              <a:t>‹#›</a:t>
            </a:fld>
            <a:endParaRPr lang="zh-CN" altLang="en-US"/>
          </a:p>
        </p:txBody>
      </p:sp>
    </p:spTree>
    <p:extLst>
      <p:ext uri="{BB962C8B-B14F-4D97-AF65-F5344CB8AC3E}">
        <p14:creationId xmlns:p14="http://schemas.microsoft.com/office/powerpoint/2010/main" val="794192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3">
            <a:extLst>
              <a:ext uri="{FF2B5EF4-FFF2-40B4-BE49-F238E27FC236}">
                <a16:creationId xmlns:a16="http://schemas.microsoft.com/office/drawing/2014/main" id="{E20996B7-291B-49FF-97B7-7482861E0BBD}"/>
              </a:ext>
            </a:extLst>
          </p:cNvPr>
          <p:cNvSpPr>
            <a:spLocks noGrp="1" noChangeArrowheads="1"/>
          </p:cNvSpPr>
          <p:nvPr>
            <p:ph type="dt" sz="half" idx="10"/>
          </p:nvPr>
        </p:nvSpPr>
        <p:spPr>
          <a:ln/>
        </p:spPr>
        <p:txBody>
          <a:bodyPr/>
          <a:lstStyle>
            <a:lvl1pPr>
              <a:defRPr/>
            </a:lvl1pPr>
          </a:lstStyle>
          <a:p>
            <a:pPr>
              <a:defRPr/>
            </a:pPr>
            <a:fld id="{1CA0312A-6527-4B36-A403-8650C6374BDB}" type="datetime1">
              <a:rPr lang="zh-CN" altLang="en-US"/>
              <a:pPr>
                <a:defRPr/>
              </a:pPr>
              <a:t>2024/9/14</a:t>
            </a:fld>
            <a:endParaRPr lang="zh-CN" altLang="en-US" sz="1800">
              <a:solidFill>
                <a:schemeClr val="tx1"/>
              </a:solidFill>
              <a:latin typeface="Arial" pitchFamily="34" charset="0"/>
            </a:endParaRPr>
          </a:p>
        </p:txBody>
      </p:sp>
      <p:sp>
        <p:nvSpPr>
          <p:cNvPr id="8" name="页脚占位符 4">
            <a:extLst>
              <a:ext uri="{FF2B5EF4-FFF2-40B4-BE49-F238E27FC236}">
                <a16:creationId xmlns:a16="http://schemas.microsoft.com/office/drawing/2014/main" id="{BC234B35-F604-4F93-8D15-13F02FBC2611}"/>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9" name="灯片编号占位符 5">
            <a:extLst>
              <a:ext uri="{FF2B5EF4-FFF2-40B4-BE49-F238E27FC236}">
                <a16:creationId xmlns:a16="http://schemas.microsoft.com/office/drawing/2014/main" id="{A26BD3A9-3A65-4E4E-874B-F205B8B6E784}"/>
              </a:ext>
            </a:extLst>
          </p:cNvPr>
          <p:cNvSpPr>
            <a:spLocks noGrp="1" noChangeArrowheads="1"/>
          </p:cNvSpPr>
          <p:nvPr>
            <p:ph type="sldNum" sz="quarter" idx="12"/>
          </p:nvPr>
        </p:nvSpPr>
        <p:spPr>
          <a:ln/>
        </p:spPr>
        <p:txBody>
          <a:bodyPr/>
          <a:lstStyle>
            <a:lvl1pPr>
              <a:defRPr/>
            </a:lvl1pPr>
          </a:lstStyle>
          <a:p>
            <a:pPr>
              <a:defRPr/>
            </a:pPr>
            <a:fld id="{0A53C7D5-C1F8-43A8-826D-76EF3A75E3A8}" type="slidenum">
              <a:rPr lang="zh-CN" altLang="en-US"/>
              <a:pPr>
                <a:defRPr/>
              </a:pPr>
              <a:t>‹#›</a:t>
            </a:fld>
            <a:endParaRPr lang="zh-CN" altLang="en-US"/>
          </a:p>
        </p:txBody>
      </p:sp>
    </p:spTree>
    <p:extLst>
      <p:ext uri="{BB962C8B-B14F-4D97-AF65-F5344CB8AC3E}">
        <p14:creationId xmlns:p14="http://schemas.microsoft.com/office/powerpoint/2010/main" val="29493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3">
            <a:extLst>
              <a:ext uri="{FF2B5EF4-FFF2-40B4-BE49-F238E27FC236}">
                <a16:creationId xmlns:a16="http://schemas.microsoft.com/office/drawing/2014/main" id="{2201ABA1-808E-43A6-91FA-6971A940BAA9}"/>
              </a:ext>
            </a:extLst>
          </p:cNvPr>
          <p:cNvSpPr>
            <a:spLocks noGrp="1" noChangeArrowheads="1"/>
          </p:cNvSpPr>
          <p:nvPr>
            <p:ph type="dt" sz="half" idx="10"/>
          </p:nvPr>
        </p:nvSpPr>
        <p:spPr>
          <a:ln/>
        </p:spPr>
        <p:txBody>
          <a:bodyPr/>
          <a:lstStyle>
            <a:lvl1pPr>
              <a:defRPr/>
            </a:lvl1pPr>
          </a:lstStyle>
          <a:p>
            <a:pPr>
              <a:defRPr/>
            </a:pPr>
            <a:fld id="{4B6C0EBD-D904-4046-9809-C73AE1B14932}" type="datetime1">
              <a:rPr lang="zh-CN" altLang="en-US"/>
              <a:pPr>
                <a:defRPr/>
              </a:pPr>
              <a:t>2024/9/14</a:t>
            </a:fld>
            <a:endParaRPr lang="zh-CN" altLang="en-US" sz="1800">
              <a:solidFill>
                <a:schemeClr val="tx1"/>
              </a:solidFill>
              <a:latin typeface="Arial" pitchFamily="34" charset="0"/>
            </a:endParaRPr>
          </a:p>
        </p:txBody>
      </p:sp>
      <p:sp>
        <p:nvSpPr>
          <p:cNvPr id="4" name="页脚占位符 4">
            <a:extLst>
              <a:ext uri="{FF2B5EF4-FFF2-40B4-BE49-F238E27FC236}">
                <a16:creationId xmlns:a16="http://schemas.microsoft.com/office/drawing/2014/main" id="{7BCEF578-1238-44C9-AB88-58D2F9B73261}"/>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5" name="灯片编号占位符 5">
            <a:extLst>
              <a:ext uri="{FF2B5EF4-FFF2-40B4-BE49-F238E27FC236}">
                <a16:creationId xmlns:a16="http://schemas.microsoft.com/office/drawing/2014/main" id="{1E88BBB6-2BB5-44E9-B11B-F2CB6DD1AC5C}"/>
              </a:ext>
            </a:extLst>
          </p:cNvPr>
          <p:cNvSpPr>
            <a:spLocks noGrp="1" noChangeArrowheads="1"/>
          </p:cNvSpPr>
          <p:nvPr>
            <p:ph type="sldNum" sz="quarter" idx="12"/>
          </p:nvPr>
        </p:nvSpPr>
        <p:spPr>
          <a:ln/>
        </p:spPr>
        <p:txBody>
          <a:bodyPr/>
          <a:lstStyle>
            <a:lvl1pPr>
              <a:defRPr/>
            </a:lvl1pPr>
          </a:lstStyle>
          <a:p>
            <a:pPr>
              <a:defRPr/>
            </a:pPr>
            <a:fld id="{D6CC0487-A932-4C72-A3E2-BB4CEB210FED}" type="slidenum">
              <a:rPr lang="zh-CN" altLang="en-US"/>
              <a:pPr>
                <a:defRPr/>
              </a:pPr>
              <a:t>‹#›</a:t>
            </a:fld>
            <a:endParaRPr lang="zh-CN" altLang="en-US"/>
          </a:p>
        </p:txBody>
      </p:sp>
    </p:spTree>
    <p:extLst>
      <p:ext uri="{BB962C8B-B14F-4D97-AF65-F5344CB8AC3E}">
        <p14:creationId xmlns:p14="http://schemas.microsoft.com/office/powerpoint/2010/main" val="110054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78CDBF5-D2DD-40A6-9D0B-29C042F6370B}"/>
              </a:ext>
            </a:extLst>
          </p:cNvPr>
          <p:cNvSpPr>
            <a:spLocks noGrp="1" noChangeArrowheads="1"/>
          </p:cNvSpPr>
          <p:nvPr>
            <p:ph type="dt" sz="half" idx="10"/>
          </p:nvPr>
        </p:nvSpPr>
        <p:spPr>
          <a:ln/>
        </p:spPr>
        <p:txBody>
          <a:bodyPr/>
          <a:lstStyle>
            <a:lvl1pPr>
              <a:defRPr/>
            </a:lvl1pPr>
          </a:lstStyle>
          <a:p>
            <a:pPr>
              <a:defRPr/>
            </a:pPr>
            <a:fld id="{113EE99A-8D31-41F2-BE4B-7E7E5DC951CB}" type="datetime1">
              <a:rPr lang="zh-CN" altLang="en-US"/>
              <a:pPr>
                <a:defRPr/>
              </a:pPr>
              <a:t>2024/9/14</a:t>
            </a:fld>
            <a:endParaRPr lang="zh-CN" altLang="en-US" sz="1800">
              <a:solidFill>
                <a:schemeClr val="tx1"/>
              </a:solidFill>
              <a:latin typeface="Arial" pitchFamily="34" charset="0"/>
            </a:endParaRPr>
          </a:p>
        </p:txBody>
      </p:sp>
      <p:sp>
        <p:nvSpPr>
          <p:cNvPr id="3" name="页脚占位符 4">
            <a:extLst>
              <a:ext uri="{FF2B5EF4-FFF2-40B4-BE49-F238E27FC236}">
                <a16:creationId xmlns:a16="http://schemas.microsoft.com/office/drawing/2014/main" id="{4DBD3D62-5EBB-4E14-952F-C778CC01016B}"/>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4" name="灯片编号占位符 5">
            <a:extLst>
              <a:ext uri="{FF2B5EF4-FFF2-40B4-BE49-F238E27FC236}">
                <a16:creationId xmlns:a16="http://schemas.microsoft.com/office/drawing/2014/main" id="{B9F05118-A32D-45E0-A220-D129B726FA49}"/>
              </a:ext>
            </a:extLst>
          </p:cNvPr>
          <p:cNvSpPr>
            <a:spLocks noGrp="1" noChangeArrowheads="1"/>
          </p:cNvSpPr>
          <p:nvPr>
            <p:ph type="sldNum" sz="quarter" idx="12"/>
          </p:nvPr>
        </p:nvSpPr>
        <p:spPr>
          <a:ln/>
        </p:spPr>
        <p:txBody>
          <a:bodyPr/>
          <a:lstStyle>
            <a:lvl1pPr>
              <a:defRPr/>
            </a:lvl1pPr>
          </a:lstStyle>
          <a:p>
            <a:pPr>
              <a:defRPr/>
            </a:pPr>
            <a:fld id="{13504A81-6D17-44F9-98CE-1B4F6FC8AE47}" type="slidenum">
              <a:rPr lang="zh-CN" altLang="en-US"/>
              <a:pPr>
                <a:defRPr/>
              </a:pPr>
              <a:t>‹#›</a:t>
            </a:fld>
            <a:endParaRPr lang="zh-CN" altLang="en-US"/>
          </a:p>
        </p:txBody>
      </p:sp>
    </p:spTree>
    <p:extLst>
      <p:ext uri="{BB962C8B-B14F-4D97-AF65-F5344CB8AC3E}">
        <p14:creationId xmlns:p14="http://schemas.microsoft.com/office/powerpoint/2010/main" val="2186902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1F7326FD-2096-4AB0-9EC0-4B74FF25F397}"/>
              </a:ext>
            </a:extLst>
          </p:cNvPr>
          <p:cNvSpPr>
            <a:spLocks noGrp="1" noChangeArrowheads="1"/>
          </p:cNvSpPr>
          <p:nvPr>
            <p:ph type="dt" sz="half" idx="10"/>
          </p:nvPr>
        </p:nvSpPr>
        <p:spPr>
          <a:ln/>
        </p:spPr>
        <p:txBody>
          <a:bodyPr/>
          <a:lstStyle>
            <a:lvl1pPr>
              <a:defRPr/>
            </a:lvl1pPr>
          </a:lstStyle>
          <a:p>
            <a:pPr>
              <a:defRPr/>
            </a:pPr>
            <a:fld id="{92FD3925-213D-46AB-A9EF-53A44942BFA2}" type="datetime1">
              <a:rPr lang="zh-CN" altLang="en-US"/>
              <a:pPr>
                <a:defRPr/>
              </a:pPr>
              <a:t>2024/9/14</a:t>
            </a:fld>
            <a:endParaRPr lang="zh-CN" altLang="en-US" sz="1800">
              <a:solidFill>
                <a:schemeClr val="tx1"/>
              </a:solidFill>
              <a:latin typeface="Arial" pitchFamily="34" charset="0"/>
            </a:endParaRPr>
          </a:p>
        </p:txBody>
      </p:sp>
      <p:sp>
        <p:nvSpPr>
          <p:cNvPr id="6" name="页脚占位符 4">
            <a:extLst>
              <a:ext uri="{FF2B5EF4-FFF2-40B4-BE49-F238E27FC236}">
                <a16:creationId xmlns:a16="http://schemas.microsoft.com/office/drawing/2014/main" id="{C722E60D-487F-4A30-A008-2F9F52F68D66}"/>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7" name="灯片编号占位符 5">
            <a:extLst>
              <a:ext uri="{FF2B5EF4-FFF2-40B4-BE49-F238E27FC236}">
                <a16:creationId xmlns:a16="http://schemas.microsoft.com/office/drawing/2014/main" id="{5545FE2E-26FC-4831-9EA2-43957A1F9EE2}"/>
              </a:ext>
            </a:extLst>
          </p:cNvPr>
          <p:cNvSpPr>
            <a:spLocks noGrp="1" noChangeArrowheads="1"/>
          </p:cNvSpPr>
          <p:nvPr>
            <p:ph type="sldNum" sz="quarter" idx="12"/>
          </p:nvPr>
        </p:nvSpPr>
        <p:spPr>
          <a:ln/>
        </p:spPr>
        <p:txBody>
          <a:bodyPr/>
          <a:lstStyle>
            <a:lvl1pPr>
              <a:defRPr/>
            </a:lvl1pPr>
          </a:lstStyle>
          <a:p>
            <a:pPr>
              <a:defRPr/>
            </a:pPr>
            <a:fld id="{BED47C7C-F346-4CE0-848F-9596AFB83239}" type="slidenum">
              <a:rPr lang="zh-CN" altLang="en-US"/>
              <a:pPr>
                <a:defRPr/>
              </a:pPr>
              <a:t>‹#›</a:t>
            </a:fld>
            <a:endParaRPr lang="zh-CN" altLang="en-US"/>
          </a:p>
        </p:txBody>
      </p:sp>
    </p:spTree>
    <p:extLst>
      <p:ext uri="{BB962C8B-B14F-4D97-AF65-F5344CB8AC3E}">
        <p14:creationId xmlns:p14="http://schemas.microsoft.com/office/powerpoint/2010/main" val="3783879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日期占位符 3">
            <a:extLst>
              <a:ext uri="{FF2B5EF4-FFF2-40B4-BE49-F238E27FC236}">
                <a16:creationId xmlns:a16="http://schemas.microsoft.com/office/drawing/2014/main" id="{CB4D7C7B-5CF7-496C-BB54-14EC9828BEB5}"/>
              </a:ext>
            </a:extLst>
          </p:cNvPr>
          <p:cNvSpPr>
            <a:spLocks noGrp="1" noChangeArrowheads="1"/>
          </p:cNvSpPr>
          <p:nvPr>
            <p:ph type="dt" sz="half" idx="10"/>
          </p:nvPr>
        </p:nvSpPr>
        <p:spPr>
          <a:ln/>
        </p:spPr>
        <p:txBody>
          <a:bodyPr/>
          <a:lstStyle>
            <a:lvl1pPr>
              <a:defRPr/>
            </a:lvl1pPr>
          </a:lstStyle>
          <a:p>
            <a:pPr>
              <a:defRPr/>
            </a:pPr>
            <a:fld id="{B478F9BA-AFEA-4930-95B9-4D5E9EC1E107}" type="datetime1">
              <a:rPr lang="zh-CN" altLang="en-US"/>
              <a:pPr>
                <a:defRPr/>
              </a:pPr>
              <a:t>2024/9/14</a:t>
            </a:fld>
            <a:endParaRPr lang="zh-CN" altLang="en-US" sz="1800">
              <a:solidFill>
                <a:schemeClr val="tx1"/>
              </a:solidFill>
              <a:latin typeface="Arial" pitchFamily="34" charset="0"/>
            </a:endParaRPr>
          </a:p>
        </p:txBody>
      </p:sp>
      <p:sp>
        <p:nvSpPr>
          <p:cNvPr id="6" name="页脚占位符 4">
            <a:extLst>
              <a:ext uri="{FF2B5EF4-FFF2-40B4-BE49-F238E27FC236}">
                <a16:creationId xmlns:a16="http://schemas.microsoft.com/office/drawing/2014/main" id="{7FD4655F-3FCF-4C0F-A05A-E663734CA0D1}"/>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7" name="灯片编号占位符 5">
            <a:extLst>
              <a:ext uri="{FF2B5EF4-FFF2-40B4-BE49-F238E27FC236}">
                <a16:creationId xmlns:a16="http://schemas.microsoft.com/office/drawing/2014/main" id="{E9CFED67-FAB0-461E-8AB2-BD0962BFB93C}"/>
              </a:ext>
            </a:extLst>
          </p:cNvPr>
          <p:cNvSpPr>
            <a:spLocks noGrp="1" noChangeArrowheads="1"/>
          </p:cNvSpPr>
          <p:nvPr>
            <p:ph type="sldNum" sz="quarter" idx="12"/>
          </p:nvPr>
        </p:nvSpPr>
        <p:spPr>
          <a:ln/>
        </p:spPr>
        <p:txBody>
          <a:bodyPr/>
          <a:lstStyle>
            <a:lvl1pPr>
              <a:defRPr/>
            </a:lvl1pPr>
          </a:lstStyle>
          <a:p>
            <a:pPr>
              <a:defRPr/>
            </a:pPr>
            <a:fld id="{86BBDC90-45DF-4B97-B242-34A317FF35C8}" type="slidenum">
              <a:rPr lang="zh-CN" altLang="en-US"/>
              <a:pPr>
                <a:defRPr/>
              </a:pPr>
              <a:t>‹#›</a:t>
            </a:fld>
            <a:endParaRPr lang="zh-CN" altLang="en-US"/>
          </a:p>
        </p:txBody>
      </p:sp>
    </p:spTree>
    <p:extLst>
      <p:ext uri="{BB962C8B-B14F-4D97-AF65-F5344CB8AC3E}">
        <p14:creationId xmlns:p14="http://schemas.microsoft.com/office/powerpoint/2010/main" val="28660899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E154C787-3F81-40B0-AAE7-0F6FA1218AC6}"/>
              </a:ext>
            </a:extLst>
          </p:cNvPr>
          <p:cNvSpPr>
            <a:spLocks noGrp="1" noChangeArrowheads="1"/>
          </p:cNvSpPr>
          <p:nvPr>
            <p:ph type="dt" sz="half" idx="10"/>
          </p:nvPr>
        </p:nvSpPr>
        <p:spPr>
          <a:ln/>
        </p:spPr>
        <p:txBody>
          <a:bodyPr/>
          <a:lstStyle>
            <a:lvl1pPr>
              <a:defRPr/>
            </a:lvl1pPr>
          </a:lstStyle>
          <a:p>
            <a:pPr>
              <a:defRPr/>
            </a:pPr>
            <a:fld id="{C1DEAB74-DB0E-43C5-A56B-B18E16F4F96E}" type="datetime1">
              <a:rPr lang="zh-CN" altLang="en-US"/>
              <a:pPr>
                <a:defRPr/>
              </a:pPr>
              <a:t>2024/9/14</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3ADF2148-2272-48CE-96FF-06B5645F3440}"/>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80C26B95-CA84-4A9E-9754-3CFA91C9CBF5}"/>
              </a:ext>
            </a:extLst>
          </p:cNvPr>
          <p:cNvSpPr>
            <a:spLocks noGrp="1" noChangeArrowheads="1"/>
          </p:cNvSpPr>
          <p:nvPr>
            <p:ph type="sldNum" sz="quarter" idx="12"/>
          </p:nvPr>
        </p:nvSpPr>
        <p:spPr>
          <a:ln/>
        </p:spPr>
        <p:txBody>
          <a:bodyPr/>
          <a:lstStyle>
            <a:lvl1pPr>
              <a:defRPr/>
            </a:lvl1pPr>
          </a:lstStyle>
          <a:p>
            <a:pPr>
              <a:defRPr/>
            </a:pPr>
            <a:fld id="{CE024463-6E72-4B43-ACE8-4E5F1C648C8A}" type="slidenum">
              <a:rPr lang="zh-CN" altLang="en-US"/>
              <a:pPr>
                <a:defRPr/>
              </a:pPr>
              <a:t>‹#›</a:t>
            </a:fld>
            <a:endParaRPr lang="zh-CN" altLang="en-US"/>
          </a:p>
        </p:txBody>
      </p:sp>
    </p:spTree>
    <p:extLst>
      <p:ext uri="{BB962C8B-B14F-4D97-AF65-F5344CB8AC3E}">
        <p14:creationId xmlns:p14="http://schemas.microsoft.com/office/powerpoint/2010/main" val="695981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1C09B492-D10C-4FC7-A34F-77C5EE8D4EA7}"/>
              </a:ext>
            </a:extLst>
          </p:cNvPr>
          <p:cNvSpPr>
            <a:spLocks noGrp="1" noChangeArrowheads="1"/>
          </p:cNvSpPr>
          <p:nvPr>
            <p:ph type="dt" sz="half" idx="10"/>
          </p:nvPr>
        </p:nvSpPr>
        <p:spPr>
          <a:ln/>
        </p:spPr>
        <p:txBody>
          <a:bodyPr/>
          <a:lstStyle>
            <a:lvl1pPr>
              <a:defRPr/>
            </a:lvl1pPr>
          </a:lstStyle>
          <a:p>
            <a:pPr>
              <a:defRPr/>
            </a:pPr>
            <a:fld id="{DE7ECAE8-DEED-47BE-9E30-8C07BF58D870}" type="datetime1">
              <a:rPr lang="zh-CN" altLang="en-US"/>
              <a:pPr>
                <a:defRPr/>
              </a:pPr>
              <a:t>2024/9/14</a:t>
            </a:fld>
            <a:endParaRPr lang="zh-CN" altLang="en-US" sz="1800">
              <a:solidFill>
                <a:schemeClr val="tx1"/>
              </a:solidFill>
              <a:latin typeface="Arial" pitchFamily="34" charset="0"/>
            </a:endParaRPr>
          </a:p>
        </p:txBody>
      </p:sp>
      <p:sp>
        <p:nvSpPr>
          <p:cNvPr id="5" name="页脚占位符 4">
            <a:extLst>
              <a:ext uri="{FF2B5EF4-FFF2-40B4-BE49-F238E27FC236}">
                <a16:creationId xmlns:a16="http://schemas.microsoft.com/office/drawing/2014/main" id="{01E98521-5BCD-4A31-9509-B233D83B59A2}"/>
              </a:ext>
            </a:extLst>
          </p:cNvPr>
          <p:cNvSpPr>
            <a:spLocks noGrp="1" noChangeArrowheads="1"/>
          </p:cNvSpPr>
          <p:nvPr>
            <p:ph type="ftr" sz="quarter" idx="11"/>
          </p:nvPr>
        </p:nvSpPr>
        <p:spPr>
          <a:ln/>
        </p:spPr>
        <p:txBody>
          <a:bodyPr/>
          <a:lstStyle>
            <a:lvl1pPr>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6" name="灯片编号占位符 5">
            <a:extLst>
              <a:ext uri="{FF2B5EF4-FFF2-40B4-BE49-F238E27FC236}">
                <a16:creationId xmlns:a16="http://schemas.microsoft.com/office/drawing/2014/main" id="{48B7B489-0D7B-47CD-A0CB-05B2DAEBCE78}"/>
              </a:ext>
            </a:extLst>
          </p:cNvPr>
          <p:cNvSpPr>
            <a:spLocks noGrp="1" noChangeArrowheads="1"/>
          </p:cNvSpPr>
          <p:nvPr>
            <p:ph type="sldNum" sz="quarter" idx="12"/>
          </p:nvPr>
        </p:nvSpPr>
        <p:spPr>
          <a:ln/>
        </p:spPr>
        <p:txBody>
          <a:bodyPr/>
          <a:lstStyle>
            <a:lvl1pPr>
              <a:defRPr/>
            </a:lvl1pPr>
          </a:lstStyle>
          <a:p>
            <a:pPr>
              <a:defRPr/>
            </a:pPr>
            <a:fld id="{0400D626-021E-466C-86BD-04289A6ED591}" type="slidenum">
              <a:rPr lang="zh-CN" altLang="en-US"/>
              <a:pPr>
                <a:defRPr/>
              </a:pPr>
              <a:t>‹#›</a:t>
            </a:fld>
            <a:endParaRPr lang="zh-CN" altLang="en-US"/>
          </a:p>
        </p:txBody>
      </p:sp>
    </p:spTree>
    <p:extLst>
      <p:ext uri="{BB962C8B-B14F-4D97-AF65-F5344CB8AC3E}">
        <p14:creationId xmlns:p14="http://schemas.microsoft.com/office/powerpoint/2010/main" val="327648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BE24EC4F-A956-4ADD-8510-30817A7F19E4}"/>
              </a:ext>
            </a:extLst>
          </p:cNvPr>
          <p:cNvSpPr>
            <a:spLocks noGrp="1" noChangeArrowheads="1"/>
          </p:cNvSpPr>
          <p:nvPr>
            <p:ph type="title" idx="4294967295"/>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sym typeface="Calibri" panose="020F0502020204030204" pitchFamily="34" charset="0"/>
              </a:rPr>
              <a:t>单击此处编辑母版标题样式</a:t>
            </a:r>
          </a:p>
        </p:txBody>
      </p:sp>
      <p:sp>
        <p:nvSpPr>
          <p:cNvPr id="1027" name="文本占位符 2">
            <a:extLst>
              <a:ext uri="{FF2B5EF4-FFF2-40B4-BE49-F238E27FC236}">
                <a16:creationId xmlns:a16="http://schemas.microsoft.com/office/drawing/2014/main" id="{3742D40D-E11A-4348-9F03-D6AA20F9A7EC}"/>
              </a:ext>
            </a:extLst>
          </p:cNvPr>
          <p:cNvSpPr>
            <a:spLocks noGrp="1" noChangeArrowheads="1"/>
          </p:cNvSpPr>
          <p:nvPr>
            <p:ph type="body" idx="4294967295"/>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sym typeface="Calibri" panose="020F0502020204030204" pitchFamily="34" charset="0"/>
              </a:rPr>
              <a:t>单击此处编辑母版文本样式</a:t>
            </a:r>
          </a:p>
          <a:p>
            <a:pPr lvl="1"/>
            <a:r>
              <a:rPr lang="zh-CN" altLang="en-US">
                <a:sym typeface="Calibri" panose="020F0502020204030204" pitchFamily="34" charset="0"/>
              </a:rPr>
              <a:t>第二级</a:t>
            </a:r>
          </a:p>
          <a:p>
            <a:pPr lvl="2"/>
            <a:r>
              <a:rPr lang="zh-CN" altLang="en-US">
                <a:sym typeface="Calibri" panose="020F0502020204030204" pitchFamily="34" charset="0"/>
              </a:rPr>
              <a:t>第三级</a:t>
            </a:r>
          </a:p>
          <a:p>
            <a:pPr lvl="3"/>
            <a:r>
              <a:rPr lang="zh-CN" altLang="en-US">
                <a:sym typeface="Calibri" panose="020F0502020204030204" pitchFamily="34" charset="0"/>
              </a:rPr>
              <a:t>第四级</a:t>
            </a:r>
          </a:p>
          <a:p>
            <a:pPr lvl="4"/>
            <a:r>
              <a:rPr lang="zh-CN" altLang="en-US">
                <a:sym typeface="Calibri" panose="020F0502020204030204" pitchFamily="34" charset="0"/>
              </a:rPr>
              <a:t>第五级</a:t>
            </a:r>
          </a:p>
        </p:txBody>
      </p:sp>
      <p:sp>
        <p:nvSpPr>
          <p:cNvPr id="1028" name="日期占位符 3">
            <a:extLst>
              <a:ext uri="{FF2B5EF4-FFF2-40B4-BE49-F238E27FC236}">
                <a16:creationId xmlns:a16="http://schemas.microsoft.com/office/drawing/2014/main" id="{70237BFA-3CFA-4763-ACE1-15438077091C}"/>
              </a:ext>
            </a:extLst>
          </p:cNvPr>
          <p:cNvSpPr>
            <a:spLocks noGrp="1" noChangeArrowheads="1"/>
          </p:cNvSpPr>
          <p:nvPr>
            <p:ph type="dt" sz="half" idx="2"/>
          </p:nvPr>
        </p:nvSpPr>
        <p:spPr bwMode="auto">
          <a:xfrm>
            <a:off x="457200" y="6356350"/>
            <a:ext cx="2133600" cy="365125"/>
          </a:xfrm>
          <a:prstGeom prst="rect">
            <a:avLst/>
          </a:prstGeom>
          <a:noFill/>
          <a:ln>
            <a:noFill/>
          </a:ln>
        </p:spPr>
        <p:txBody>
          <a:bodyPr vert="horz" wrap="square" lIns="91440" tIns="45720" rIns="91440" bIns="45720" numCol="1" anchor="ctr" anchorCtr="0" compatLnSpc="1"/>
          <a:lstStyle>
            <a:lvl1pPr eaLnBrk="0" hangingPunct="0">
              <a:buFont typeface="Arial" pitchFamily="34" charset="0"/>
              <a:buNone/>
              <a:defRPr sz="1200">
                <a:solidFill>
                  <a:srgbClr val="898989"/>
                </a:solidFill>
                <a:latin typeface="+mn-lt"/>
                <a:sym typeface="Calibri" pitchFamily="34" charset="0"/>
              </a:defRPr>
            </a:lvl1pPr>
          </a:lstStyle>
          <a:p>
            <a:pPr>
              <a:defRPr/>
            </a:pPr>
            <a:fld id="{C60FD64F-73FB-42AE-BEE9-004791BB6D04}" type="datetime1">
              <a:rPr lang="zh-CN" altLang="en-US"/>
              <a:pPr>
                <a:defRPr/>
              </a:pPr>
              <a:t>2024/9/14</a:t>
            </a:fld>
            <a:endParaRPr lang="zh-CN" altLang="en-US" sz="1800">
              <a:solidFill>
                <a:schemeClr val="tx1"/>
              </a:solidFill>
              <a:latin typeface="Arial" pitchFamily="34" charset="0"/>
            </a:endParaRPr>
          </a:p>
        </p:txBody>
      </p:sp>
      <p:sp>
        <p:nvSpPr>
          <p:cNvPr id="1029" name="页脚占位符 4">
            <a:extLst>
              <a:ext uri="{FF2B5EF4-FFF2-40B4-BE49-F238E27FC236}">
                <a16:creationId xmlns:a16="http://schemas.microsoft.com/office/drawing/2014/main" id="{50B22143-9735-4792-B343-C2358FC5922C}"/>
              </a:ext>
            </a:extLst>
          </p:cNvPr>
          <p:cNvSpPr>
            <a:spLocks noGrp="1" noChangeArrowheads="1"/>
          </p:cNvSpPr>
          <p:nvPr>
            <p:ph type="ftr" sz="quarter" idx="3"/>
          </p:nvPr>
        </p:nvSpPr>
        <p:spPr bwMode="auto">
          <a:xfrm>
            <a:off x="3124200" y="6356350"/>
            <a:ext cx="2895600" cy="365125"/>
          </a:xfrm>
          <a:prstGeom prst="rect">
            <a:avLst/>
          </a:prstGeom>
          <a:noFill/>
          <a:ln>
            <a:noFill/>
          </a:ln>
        </p:spPr>
        <p:txBody>
          <a:bodyPr vert="horz" wrap="square" lIns="91440" tIns="45720" rIns="91440" bIns="45720" numCol="1" anchor="ctr" anchorCtr="0" compatLnSpc="1"/>
          <a:lstStyle>
            <a:lvl1pPr algn="ctr" eaLnBrk="0" hangingPunct="0">
              <a:buFont typeface="Arial" pitchFamily="34" charset="0"/>
              <a:buNone/>
              <a:defRPr sz="1200">
                <a:solidFill>
                  <a:srgbClr val="898989"/>
                </a:solidFill>
                <a:latin typeface="+mn-lt"/>
                <a:sym typeface="Calibri" pitchFamily="34" charset="0"/>
              </a:defRPr>
            </a:lvl1pPr>
          </a:lstStyle>
          <a:p>
            <a:pPr>
              <a:defRPr/>
            </a:pPr>
            <a:r>
              <a:rPr lang="zh-CN" altLang="en-US"/>
              <a:t>华中科技大学自动化学院测量科学与仪器系</a:t>
            </a:r>
            <a:endParaRPr lang="zh-CN" altLang="en-US" sz="1800">
              <a:solidFill>
                <a:schemeClr val="tx1"/>
              </a:solidFill>
              <a:latin typeface="Arial" pitchFamily="34" charset="0"/>
            </a:endParaRPr>
          </a:p>
        </p:txBody>
      </p:sp>
      <p:sp>
        <p:nvSpPr>
          <p:cNvPr id="1030" name="灯片编号占位符 5">
            <a:extLst>
              <a:ext uri="{FF2B5EF4-FFF2-40B4-BE49-F238E27FC236}">
                <a16:creationId xmlns:a16="http://schemas.microsoft.com/office/drawing/2014/main" id="{6378F3B2-EDA0-4AFE-9C99-E8A8060DEFDB}"/>
              </a:ext>
            </a:extLst>
          </p:cNvPr>
          <p:cNvSpPr>
            <a:spLocks noGrp="1" noChangeArrowheads="1"/>
          </p:cNvSpPr>
          <p:nvPr>
            <p:ph type="sldNum" sz="quarter" idx="4"/>
          </p:nvPr>
        </p:nvSpPr>
        <p:spPr bwMode="auto">
          <a:xfrm>
            <a:off x="6553200" y="6356350"/>
            <a:ext cx="2133600" cy="365125"/>
          </a:xfrm>
          <a:prstGeom prst="rect">
            <a:avLst/>
          </a:prstGeom>
          <a:noFill/>
          <a:ln>
            <a:noFill/>
          </a:ln>
        </p:spPr>
        <p:txBody>
          <a:bodyPr vert="horz" wrap="square" lIns="91440" tIns="45720" rIns="91440" bIns="45720" numCol="1" anchor="ctr" anchorCtr="0" compatLnSpc="1">
            <a:prstTxWarp prst="textNoShape">
              <a:avLst/>
            </a:prstTxWarp>
          </a:bodyPr>
          <a:lstStyle>
            <a:lvl1pPr algn="r">
              <a:buFont typeface="Arial" panose="020B0604020202020204" pitchFamily="34" charset="0"/>
              <a:buNone/>
              <a:defRPr sz="1200">
                <a:solidFill>
                  <a:srgbClr val="898989"/>
                </a:solidFill>
                <a:sym typeface="Calibri" panose="020F0502020204030204" pitchFamily="34" charset="0"/>
              </a:defRPr>
            </a:lvl1pPr>
          </a:lstStyle>
          <a:p>
            <a:pPr>
              <a:defRPr/>
            </a:pPr>
            <a:fld id="{823BF718-E62E-414F-B5FA-4E2C60396C2C}"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rtl="0" eaLnBrk="0" fontAlgn="base" hangingPunct="0">
        <a:spcBef>
          <a:spcPct val="0"/>
        </a:spcBef>
        <a:spcAft>
          <a:spcPct val="0"/>
        </a:spcAft>
        <a:defRPr sz="4400">
          <a:solidFill>
            <a:schemeClr val="tx1"/>
          </a:solidFill>
          <a:latin typeface="+mj-lt"/>
          <a:ea typeface="+mj-ea"/>
          <a:cs typeface="+mj-cs"/>
          <a:sym typeface="Calibri" panose="020F0502020204030204" pitchFamily="34" charset="0"/>
        </a:defRPr>
      </a:lvl1pPr>
      <a:lvl2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2pPr>
      <a:lvl3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3pPr>
      <a:lvl4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4pPr>
      <a:lvl5pPr algn="ctr" rtl="0" eaLnBrk="0" fontAlgn="base" hangingPunct="0">
        <a:spcBef>
          <a:spcPct val="0"/>
        </a:spcBef>
        <a:spcAft>
          <a:spcPct val="0"/>
        </a:spcAft>
        <a:defRPr sz="4400">
          <a:solidFill>
            <a:schemeClr val="tx1"/>
          </a:solidFill>
          <a:latin typeface="Calibri" pitchFamily="34" charset="0"/>
          <a:ea typeface="宋体" pitchFamily="2" charset="-122"/>
          <a:sym typeface="Calibri" panose="020F0502020204030204" pitchFamily="34" charset="0"/>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sym typeface="Calibri" pitchFamily="34" charset="0"/>
        </a:defRPr>
      </a:lvl9pPr>
    </p:titleStyle>
    <p:body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Calibri" panose="020F050202020403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Calibri" panose="020F050202020403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5pPr>
      <a:lvl6pPr marL="25146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6pPr>
      <a:lvl7pPr marL="29718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7pPr>
      <a:lvl8pPr marL="34290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8pPr>
      <a:lvl9pPr marL="3886200" indent="-228600" algn="l" defTabSz="0" rtl="0" eaLnBrk="0" fontAlgn="base" hangingPunct="0">
        <a:spcBef>
          <a:spcPct val="20000"/>
        </a:spcBef>
        <a:spcAft>
          <a:spcPct val="0"/>
        </a:spcAft>
        <a:buFont typeface="Arial" pitchFamily="34" charset="0"/>
        <a:buChar char="»"/>
        <a:defRPr sz="2000">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4.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9.gif"/><Relationship Id="rId5" Type="http://schemas.openxmlformats.org/officeDocument/2006/relationships/image" Target="../media/image8.jpeg"/><Relationship Id="rId4"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5.wmf"/><Relationship Id="rId5" Type="http://schemas.openxmlformats.org/officeDocument/2006/relationships/oleObject" Target="../embeddings/oleObject5.bin"/><Relationship Id="rId4" Type="http://schemas.openxmlformats.org/officeDocument/2006/relationships/image" Target="../media/image10.wmf"/><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wmf"/><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wmf"/><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3" Type="http://schemas.openxmlformats.org/officeDocument/2006/relationships/image" Target="../media/image20.emf"/><Relationship Id="rId7" Type="http://schemas.openxmlformats.org/officeDocument/2006/relationships/image" Target="../media/image24.wmf"/><Relationship Id="rId2" Type="http://schemas.openxmlformats.org/officeDocument/2006/relationships/image" Target="../media/image19.emf"/><Relationship Id="rId1" Type="http://schemas.openxmlformats.org/officeDocument/2006/relationships/slideLayout" Target="../slideLayouts/slideLayout1.xml"/><Relationship Id="rId6" Type="http://schemas.openxmlformats.org/officeDocument/2006/relationships/image" Target="../media/image23.wmf"/><Relationship Id="rId5" Type="http://schemas.openxmlformats.org/officeDocument/2006/relationships/image" Target="../media/image22.wmf"/><Relationship Id="rId4" Type="http://schemas.openxmlformats.org/officeDocument/2006/relationships/image" Target="../media/image21.wmf"/></Relationships>
</file>

<file path=ppt/slides/_rels/slide11.x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wmf"/></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wmf"/><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0.emf"/><Relationship Id="rId7" Type="http://schemas.openxmlformats.org/officeDocument/2006/relationships/image" Target="../media/image55.png"/><Relationship Id="rId2" Type="http://schemas.openxmlformats.org/officeDocument/2006/relationships/image" Target="../media/image49.emf"/><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3.png"/><Relationship Id="rId4" Type="http://schemas.openxmlformats.org/officeDocument/2006/relationships/image" Target="../media/image51.emf"/><Relationship Id="rId9" Type="http://schemas.openxmlformats.org/officeDocument/2006/relationships/image" Target="../media/image57.png"/></Relationships>
</file>

<file path=ppt/slides/_rels/slide2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3.jpeg"/><Relationship Id="rId1" Type="http://schemas.openxmlformats.org/officeDocument/2006/relationships/slideLayout" Target="../slideLayouts/slideLayout1.xml"/><Relationship Id="rId4" Type="http://schemas.openxmlformats.org/officeDocument/2006/relationships/image" Target="../media/image54.emf"/></Relationships>
</file>

<file path=ppt/slides/_rels/slide30.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image" Target="../media/image55.emf"/><Relationship Id="rId1" Type="http://schemas.openxmlformats.org/officeDocument/2006/relationships/slideLayout" Target="../slideLayouts/slideLayout1.xml"/><Relationship Id="rId4" Type="http://schemas.openxmlformats.org/officeDocument/2006/relationships/image" Target="../media/image53.jpeg"/></Relationships>
</file>

<file path=ppt/slides/_rels/slide3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e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slideLayout" Target="../slideLayouts/slideLayout1.xml"/><Relationship Id="rId4" Type="http://schemas.openxmlformats.org/officeDocument/2006/relationships/image" Target="../media/image65.emf"/></Relationships>
</file>

<file path=ppt/slides/_rels/slide38.xml.rels><?xml version="1.0" encoding="UTF-8" standalone="yes"?>
<Relationships xmlns="http://schemas.openxmlformats.org/package/2006/relationships"><Relationship Id="rId2" Type="http://schemas.openxmlformats.org/officeDocument/2006/relationships/image" Target="../media/image66.wmf"/><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slideLayout" Target="../slideLayouts/slideLayout1.xml"/><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 Id="rId9" Type="http://schemas.openxmlformats.org/officeDocument/2006/relationships/image" Target="../media/image81.png"/></Relationships>
</file>

<file path=ppt/slides/_rels/slide41.x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slideLayout" Target="../slideLayouts/slideLayout1.xml"/><Relationship Id="rId4" Type="http://schemas.openxmlformats.org/officeDocument/2006/relationships/image" Target="../media/image85.png"/></Relationships>
</file>

<file path=ppt/slides/_rels/slide4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wmf"/><Relationship Id="rId1" Type="http://schemas.openxmlformats.org/officeDocument/2006/relationships/slideLayout" Target="../slideLayouts/slideLayout1.xml"/><Relationship Id="rId5" Type="http://schemas.openxmlformats.org/officeDocument/2006/relationships/image" Target="../media/image89.png"/><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6.wmf"/><Relationship Id="rId1" Type="http://schemas.openxmlformats.org/officeDocument/2006/relationships/slideLayout" Target="../slideLayouts/slideLayout1.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49.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xml"/><Relationship Id="rId6" Type="http://schemas.openxmlformats.org/officeDocument/2006/relationships/image" Target="../media/image99.png"/><Relationship Id="rId5" Type="http://schemas.openxmlformats.org/officeDocument/2006/relationships/image" Target="../media/image98.wmf"/><Relationship Id="rId4" Type="http://schemas.openxmlformats.org/officeDocument/2006/relationships/image" Target="../media/image97.wmf"/></Relationships>
</file>

<file path=ppt/slides/_rels/slide5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wmf"/><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oleObject" Target="../embeddings/oleObject7.bin"/><Relationship Id="rId7" Type="http://schemas.openxmlformats.org/officeDocument/2006/relationships/image" Target="../media/image102.png"/><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media/image101.wmf"/><Relationship Id="rId5" Type="http://schemas.openxmlformats.org/officeDocument/2006/relationships/oleObject" Target="../embeddings/oleObject8.bin"/><Relationship Id="rId4" Type="http://schemas.openxmlformats.org/officeDocument/2006/relationships/image" Target="../media/image100.wmf"/></Relationships>
</file>

<file path=ppt/slides/_rels/slide5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wmf"/><Relationship Id="rId1" Type="http://schemas.openxmlformats.org/officeDocument/2006/relationships/slideLayout" Target="../slideLayouts/slideLayout1.xml"/><Relationship Id="rId5" Type="http://schemas.openxmlformats.org/officeDocument/2006/relationships/image" Target="../media/image106.png"/><Relationship Id="rId4" Type="http://schemas.openxmlformats.org/officeDocument/2006/relationships/image" Target="../media/image105.png"/></Relationships>
</file>

<file path=ppt/slides/_rels/slide54.xml.rels><?xml version="1.0" encoding="UTF-8" standalone="yes"?>
<Relationships xmlns="http://schemas.openxmlformats.org/package/2006/relationships"><Relationship Id="rId8" Type="http://schemas.openxmlformats.org/officeDocument/2006/relationships/image" Target="../media/image109.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08.wmf"/><Relationship Id="rId5" Type="http://schemas.openxmlformats.org/officeDocument/2006/relationships/oleObject" Target="../embeddings/oleObject10.bin"/><Relationship Id="rId4" Type="http://schemas.openxmlformats.org/officeDocument/2006/relationships/image" Target="../media/image107.emf"/><Relationship Id="rId9" Type="http://schemas.openxmlformats.org/officeDocument/2006/relationships/image" Target="../media/image110.png"/></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106.png"/><Relationship Id="rId5" Type="http://schemas.openxmlformats.org/officeDocument/2006/relationships/image" Target="../media/image112.png"/><Relationship Id="rId4" Type="http://schemas.openxmlformats.org/officeDocument/2006/relationships/image" Target="../media/image111.wmf"/></Relationships>
</file>

<file path=ppt/slides/_rels/slide5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8" Type="http://schemas.openxmlformats.org/officeDocument/2006/relationships/image" Target="../media/image116.svg"/><Relationship Id="rId3" Type="http://schemas.openxmlformats.org/officeDocument/2006/relationships/oleObject" Target="../embeddings/oleObject13.bin"/><Relationship Id="rId7" Type="http://schemas.openxmlformats.org/officeDocument/2006/relationships/image" Target="../media/image115.png"/><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114.wmf"/><Relationship Id="rId5" Type="http://schemas.openxmlformats.org/officeDocument/2006/relationships/oleObject" Target="../embeddings/oleObject14.bin"/><Relationship Id="rId4" Type="http://schemas.openxmlformats.org/officeDocument/2006/relationships/image" Target="../media/image113.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116.svg"/><Relationship Id="rId5" Type="http://schemas.openxmlformats.org/officeDocument/2006/relationships/image" Target="../media/image115.png"/><Relationship Id="rId4" Type="http://schemas.openxmlformats.org/officeDocument/2006/relationships/image" Target="../media/image117.wmf"/></Relationships>
</file>

<file path=ppt/slides/_rels/slide5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24.png"/><Relationship Id="rId1" Type="http://schemas.openxmlformats.org/officeDocument/2006/relationships/slideLayout" Target="../slideLayouts/slideLayout1.xml"/><Relationship Id="rId4" Type="http://schemas.openxmlformats.org/officeDocument/2006/relationships/image" Target="../media/image116.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vmlDrawing" Target="../drawings/vmlDrawing9.vml"/><Relationship Id="rId4" Type="http://schemas.openxmlformats.org/officeDocument/2006/relationships/image" Target="../media/image118.e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xml"/><Relationship Id="rId1" Type="http://schemas.openxmlformats.org/officeDocument/2006/relationships/vmlDrawing" Target="../drawings/vmlDrawing10.vml"/><Relationship Id="rId4" Type="http://schemas.openxmlformats.org/officeDocument/2006/relationships/image" Target="../media/image119.emf"/></Relationships>
</file>

<file path=ppt/slides/_rels/slide63.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8" Type="http://schemas.openxmlformats.org/officeDocument/2006/relationships/image" Target="../media/image128.png"/><Relationship Id="rId3" Type="http://schemas.openxmlformats.org/officeDocument/2006/relationships/image" Target="../media/image121.wmf"/><Relationship Id="rId7" Type="http://schemas.openxmlformats.org/officeDocument/2006/relationships/image" Target="../media/image120.wmf"/><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oleObject" Target="../embeddings/oleObject18.bin"/><Relationship Id="rId5" Type="http://schemas.openxmlformats.org/officeDocument/2006/relationships/image" Target="../media/image125.png"/><Relationship Id="rId4" Type="http://schemas.openxmlformats.org/officeDocument/2006/relationships/image" Target="../media/image122.wmf"/></Relationships>
</file>

<file path=ppt/slides/_rels/slide65.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94.png"/><Relationship Id="rId4" Type="http://schemas.openxmlformats.org/officeDocument/2006/relationships/image" Target="../media/image127.png"/></Relationships>
</file>

<file path=ppt/slides/_rels/slide67.xml.rels><?xml version="1.0" encoding="UTF-8" standalone="yes"?>
<Relationships xmlns="http://schemas.openxmlformats.org/package/2006/relationships"><Relationship Id="rId3" Type="http://schemas.openxmlformats.org/officeDocument/2006/relationships/image" Target="../media/image128.w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image" Target="../media/image130.emf"/><Relationship Id="rId5" Type="http://schemas.openxmlformats.org/officeDocument/2006/relationships/oleObject" Target="../embeddings/oleObject20.bin"/><Relationship Id="rId4" Type="http://schemas.openxmlformats.org/officeDocument/2006/relationships/image" Target="../media/image129.emf"/></Relationships>
</file>

<file path=ppt/slides/_rels/slide69.xml.rels><?xml version="1.0" encoding="UTF-8" standalone="yes"?>
<Relationships xmlns="http://schemas.openxmlformats.org/package/2006/relationships"><Relationship Id="rId8" Type="http://schemas.openxmlformats.org/officeDocument/2006/relationships/image" Target="../media/image133.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132.wmf"/><Relationship Id="rId5" Type="http://schemas.openxmlformats.org/officeDocument/2006/relationships/oleObject" Target="../embeddings/oleObject22.bin"/><Relationship Id="rId10" Type="http://schemas.openxmlformats.org/officeDocument/2006/relationships/image" Target="../media/image134.wmf"/><Relationship Id="rId4" Type="http://schemas.openxmlformats.org/officeDocument/2006/relationships/image" Target="../media/image131.wmf"/><Relationship Id="rId9" Type="http://schemas.openxmlformats.org/officeDocument/2006/relationships/oleObject" Target="../embeddings/oleObject24.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35.wmf"/><Relationship Id="rId1" Type="http://schemas.openxmlformats.org/officeDocument/2006/relationships/slideLayout" Target="../slideLayouts/slideLayout1.xml"/><Relationship Id="rId5" Type="http://schemas.openxmlformats.org/officeDocument/2006/relationships/image" Target="../media/image138.wmf"/><Relationship Id="rId4" Type="http://schemas.openxmlformats.org/officeDocument/2006/relationships/image" Target="../media/image137.png"/></Relationships>
</file>

<file path=ppt/slides/_rels/slide73.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39.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44.png"/><Relationship Id="rId7" Type="http://schemas.openxmlformats.org/officeDocument/2006/relationships/image" Target="../media/image143.wmf"/><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oleObject" Target="../embeddings/oleObject26.bin"/><Relationship Id="rId5" Type="http://schemas.openxmlformats.org/officeDocument/2006/relationships/image" Target="../media/image142.wmf"/><Relationship Id="rId4" Type="http://schemas.openxmlformats.org/officeDocument/2006/relationships/oleObject" Target="../embeddings/oleObject25.bin"/></Relationships>
</file>

<file path=ppt/slides/_rels/slide76.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1.xml"/><Relationship Id="rId4" Type="http://schemas.openxmlformats.org/officeDocument/2006/relationships/image" Target="../media/image149.png"/></Relationships>
</file>

<file path=ppt/slides/_rels/slide80.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1.xml"/><Relationship Id="rId5" Type="http://schemas.openxmlformats.org/officeDocument/2006/relationships/image" Target="../media/image63.emf"/><Relationship Id="rId4" Type="http://schemas.openxmlformats.org/officeDocument/2006/relationships/image" Target="../media/image152.png"/></Relationships>
</file>

<file path=ppt/slides/_rels/slide81.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slideLayout" Target="../slideLayouts/slideLayout1.xml"/><Relationship Id="rId1" Type="http://schemas.openxmlformats.org/officeDocument/2006/relationships/vmlDrawing" Target="../drawings/vmlDrawing15.vml"/><Relationship Id="rId5" Type="http://schemas.openxmlformats.org/officeDocument/2006/relationships/image" Target="../media/image154.png"/><Relationship Id="rId4" Type="http://schemas.openxmlformats.org/officeDocument/2006/relationships/oleObject" Target="../embeddings/oleObject27.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a:extLst>
              <a:ext uri="{FF2B5EF4-FFF2-40B4-BE49-F238E27FC236}">
                <a16:creationId xmlns:a16="http://schemas.microsoft.com/office/drawing/2014/main" id="{91095297-85E6-47AB-8161-8DF6F046B001}"/>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FontTx/>
              <a:buChar char="•"/>
            </a:pPr>
            <a:fld id="{F7527B4B-E344-4F76-8A5A-14920E2267F5}" type="slidenum">
              <a:rPr lang="en-US" altLang="zh-CN" sz="1200" smtClean="0">
                <a:solidFill>
                  <a:srgbClr val="898989"/>
                </a:solidFill>
                <a:latin typeface="Times New Roman" panose="02020603050405020304" pitchFamily="18" charset="0"/>
                <a:ea typeface="楷体_GB2312" pitchFamily="49" charset="-122"/>
              </a:rPr>
              <a:pPr>
                <a:buFontTx/>
                <a:buChar char="•"/>
              </a:pPr>
              <a:t>1</a:t>
            </a:fld>
            <a:endParaRPr lang="en-US" altLang="zh-CN" sz="1200">
              <a:solidFill>
                <a:srgbClr val="898989"/>
              </a:solidFill>
              <a:latin typeface="Times New Roman" panose="02020603050405020304" pitchFamily="18" charset="0"/>
              <a:ea typeface="楷体_GB2312" pitchFamily="49" charset="-122"/>
            </a:endParaRPr>
          </a:p>
        </p:txBody>
      </p:sp>
      <p:sp>
        <p:nvSpPr>
          <p:cNvPr id="38" name="矩形 37">
            <a:extLst>
              <a:ext uri="{FF2B5EF4-FFF2-40B4-BE49-F238E27FC236}">
                <a16:creationId xmlns:a16="http://schemas.microsoft.com/office/drawing/2014/main" id="{B243478C-4F57-4B4B-BBA2-B7854996AF20}"/>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buSzPct val="85000"/>
              <a:buFontTx/>
              <a:buChar char="•"/>
              <a:defRPr/>
            </a:pPr>
            <a:endParaRPr lang="zh-CN" altLang="en-US"/>
          </a:p>
        </p:txBody>
      </p:sp>
      <p:sp>
        <p:nvSpPr>
          <p:cNvPr id="39" name="矩形 38">
            <a:extLst>
              <a:ext uri="{FF2B5EF4-FFF2-40B4-BE49-F238E27FC236}">
                <a16:creationId xmlns:a16="http://schemas.microsoft.com/office/drawing/2014/main" id="{97D090EB-8042-40D9-95AD-F7B48C880FE5}"/>
              </a:ext>
            </a:extLst>
          </p:cNvPr>
          <p:cNvSpPr/>
          <p:nvPr/>
        </p:nvSpPr>
        <p:spPr>
          <a:xfrm rot="10800000" flipV="1">
            <a:off x="4900613" y="4487863"/>
            <a:ext cx="4089400"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buSzPct val="85000"/>
              <a:buFontTx/>
              <a:buChar char="•"/>
              <a:defRPr/>
            </a:pPr>
            <a:endParaRPr lang="zh-CN" altLang="en-US"/>
          </a:p>
        </p:txBody>
      </p:sp>
      <p:sp>
        <p:nvSpPr>
          <p:cNvPr id="3077" name="TextBox 13">
            <a:extLst>
              <a:ext uri="{FF2B5EF4-FFF2-40B4-BE49-F238E27FC236}">
                <a16:creationId xmlns:a16="http://schemas.microsoft.com/office/drawing/2014/main" id="{92A1DC1C-8CF6-4369-9999-D6CED995A596}"/>
              </a:ext>
            </a:extLst>
          </p:cNvPr>
          <p:cNvSpPr txBox="1">
            <a:spLocks noChangeArrowheads="1"/>
          </p:cNvSpPr>
          <p:nvPr/>
        </p:nvSpPr>
        <p:spPr bwMode="auto">
          <a:xfrm>
            <a:off x="995363" y="1966913"/>
            <a:ext cx="7691437" cy="184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lnSpc>
                <a:spcPct val="150000"/>
              </a:lnSpc>
              <a:buSzPct val="85000"/>
              <a:buFontTx/>
              <a:buNone/>
            </a:pPr>
            <a:r>
              <a:rPr lang="zh-CN" altLang="en-US" sz="4400">
                <a:solidFill>
                  <a:srgbClr val="C00000"/>
                </a:solidFill>
                <a:latin typeface="华文琥珀" panose="02010800040101010101" pitchFamily="2" charset="-122"/>
                <a:ea typeface="华文琥珀" panose="02010800040101010101" pitchFamily="2" charset="-122"/>
              </a:rPr>
              <a:t>第</a:t>
            </a:r>
            <a:r>
              <a:rPr lang="en-US" altLang="zh-CN" sz="4400">
                <a:solidFill>
                  <a:srgbClr val="C00000"/>
                </a:solidFill>
                <a:latin typeface="华文琥珀" panose="02010800040101010101" pitchFamily="2" charset="-122"/>
                <a:ea typeface="华文琥珀" panose="02010800040101010101" pitchFamily="2" charset="-122"/>
              </a:rPr>
              <a:t>3</a:t>
            </a:r>
            <a:r>
              <a:rPr lang="zh-CN" altLang="en-US" sz="4400">
                <a:solidFill>
                  <a:srgbClr val="C00000"/>
                </a:solidFill>
                <a:latin typeface="华文琥珀" panose="02010800040101010101" pitchFamily="2" charset="-122"/>
                <a:ea typeface="华文琥珀" panose="02010800040101010101" pitchFamily="2" charset="-122"/>
              </a:rPr>
              <a:t>章 </a:t>
            </a:r>
            <a:endParaRPr lang="en-US" altLang="zh-CN" sz="4400">
              <a:solidFill>
                <a:srgbClr val="C00000"/>
              </a:solidFill>
              <a:latin typeface="华文琥珀" panose="02010800040101010101" pitchFamily="2" charset="-122"/>
              <a:ea typeface="华文琥珀" panose="02010800040101010101" pitchFamily="2" charset="-122"/>
            </a:endParaRPr>
          </a:p>
          <a:p>
            <a:pPr algn="ctr" eaLnBrk="1" hangingPunct="1">
              <a:spcBef>
                <a:spcPct val="0"/>
              </a:spcBef>
              <a:buFont typeface="Arial" panose="020B0604020202020204" pitchFamily="34" charset="0"/>
              <a:buNone/>
            </a:pPr>
            <a:r>
              <a:rPr lang="zh-CN" altLang="en-US" sz="44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应变式传感器</a:t>
            </a:r>
            <a:endParaRPr lang="en-US" altLang="zh-CN" sz="4400">
              <a:solidFill>
                <a:srgbClr val="C00000"/>
              </a:solidFill>
              <a:latin typeface="华文琥珀" panose="02010800040101010101" pitchFamily="2" charset="-122"/>
              <a:ea typeface="华文琥珀" panose="02010800040101010101" pitchFamily="2" charset="-122"/>
              <a:sym typeface="华文琥珀" panose="02010800040101010101" pitchFamily="2" charset="-122"/>
            </a:endParaRPr>
          </a:p>
        </p:txBody>
      </p:sp>
      <p:sp>
        <p:nvSpPr>
          <p:cNvPr id="8" name="页脚占位符 6">
            <a:extLst>
              <a:ext uri="{FF2B5EF4-FFF2-40B4-BE49-F238E27FC236}">
                <a16:creationId xmlns:a16="http://schemas.microsoft.com/office/drawing/2014/main" id="{35C4CD13-BFBE-49A2-B696-8806040A76C9}"/>
              </a:ext>
            </a:extLst>
          </p:cNvPr>
          <p:cNvSpPr>
            <a:spLocks noGrp="1"/>
          </p:cNvSpPr>
          <p:nvPr>
            <p:ph type="ftr" sz="quarter" idx="11"/>
          </p:nvPr>
        </p:nvSpPr>
        <p:spPr>
          <a:xfrm>
            <a:off x="2843213" y="6411913"/>
            <a:ext cx="2895600" cy="365125"/>
          </a:xfrm>
        </p:spPr>
        <p:txBody>
          <a:bodyPr/>
          <a:lstStyle/>
          <a:p>
            <a:pPr>
              <a:defRPr/>
            </a:pPr>
            <a:r>
              <a:rPr lang="zh-CN" altLang="en-US"/>
              <a:t>自动化学院测量科学与仪器系</a:t>
            </a:r>
            <a:endParaRPr lang="en-US" altLang="zh-CN"/>
          </a:p>
        </p:txBody>
      </p:sp>
      <p:pic>
        <p:nvPicPr>
          <p:cNvPr id="7" name="Picture 8">
            <a:extLst>
              <a:ext uri="{FF2B5EF4-FFF2-40B4-BE49-F238E27FC236}">
                <a16:creationId xmlns:a16="http://schemas.microsoft.com/office/drawing/2014/main" id="{6FE5F1F4-C3F0-4BF4-8927-E22FD94EAB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8" y="80963"/>
            <a:ext cx="3014662" cy="133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07183ACC-63BC-4BF3-A3BD-18991C2F81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4808538"/>
            <a:ext cx="15240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2158CE3B-2B8D-4601-8688-1F30044797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0913" y="190500"/>
            <a:ext cx="2162175"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repeatCount="indefinite"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3000" fill="hold"/>
                                        <p:tgtEl>
                                          <p:spTgt spid="3"/>
                                        </p:tgtEl>
                                        <p:attrNameLst>
                                          <p:attrName>ppt_x</p:attrName>
                                        </p:attrNameLst>
                                      </p:cBhvr>
                                      <p:tavLst>
                                        <p:tav tm="0">
                                          <p:val>
                                            <p:strVal val="0-#ppt_w/2"/>
                                          </p:val>
                                        </p:tav>
                                        <p:tav tm="100000">
                                          <p:val>
                                            <p:strVal val="#ppt_x"/>
                                          </p:val>
                                        </p:tav>
                                      </p:tavLst>
                                    </p:anim>
                                    <p:anim calcmode="lin" valueType="num">
                                      <p:cBhvr additive="base">
                                        <p:cTn id="8" dur="30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8" repeatCount="indefinite" fill="hold" nodeType="withEffect">
                                  <p:stCondLst>
                                    <p:cond delay="100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3000" fill="hold"/>
                                        <p:tgtEl>
                                          <p:spTgt spid="7"/>
                                        </p:tgtEl>
                                        <p:attrNameLst>
                                          <p:attrName>ppt_x</p:attrName>
                                        </p:attrNameLst>
                                      </p:cBhvr>
                                      <p:tavLst>
                                        <p:tav tm="0">
                                          <p:val>
                                            <p:strVal val="0-#ppt_w/2"/>
                                          </p:val>
                                        </p:tav>
                                        <p:tav tm="100000">
                                          <p:val>
                                            <p:strVal val="#ppt_x"/>
                                          </p:val>
                                        </p:tav>
                                      </p:tavLst>
                                    </p:anim>
                                    <p:anim calcmode="lin" valueType="num">
                                      <p:cBhvr additive="base">
                                        <p:cTn id="12" dur="3000" fill="hold"/>
                                        <p:tgtEl>
                                          <p:spTgt spid="7"/>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4000"/>
                            </p:stCondLst>
                            <p:childTnLst>
                              <p:par>
                                <p:cTn id="14" presetID="31" presetClass="entr" presetSubtype="0" repeatCount="indefinite"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p:cTn id="16" dur="3000" fill="hold"/>
                                        <p:tgtEl>
                                          <p:spTgt spid="2"/>
                                        </p:tgtEl>
                                        <p:attrNameLst>
                                          <p:attrName>ppt_w</p:attrName>
                                        </p:attrNameLst>
                                      </p:cBhvr>
                                      <p:tavLst>
                                        <p:tav tm="0">
                                          <p:val>
                                            <p:fltVal val="0"/>
                                          </p:val>
                                        </p:tav>
                                        <p:tav tm="100000">
                                          <p:val>
                                            <p:strVal val="#ppt_w"/>
                                          </p:val>
                                        </p:tav>
                                      </p:tavLst>
                                    </p:anim>
                                    <p:anim calcmode="lin" valueType="num">
                                      <p:cBhvr>
                                        <p:cTn id="17" dur="3000" fill="hold"/>
                                        <p:tgtEl>
                                          <p:spTgt spid="2"/>
                                        </p:tgtEl>
                                        <p:attrNameLst>
                                          <p:attrName>ppt_h</p:attrName>
                                        </p:attrNameLst>
                                      </p:cBhvr>
                                      <p:tavLst>
                                        <p:tav tm="0">
                                          <p:val>
                                            <p:fltVal val="0"/>
                                          </p:val>
                                        </p:tav>
                                        <p:tav tm="100000">
                                          <p:val>
                                            <p:strVal val="#ppt_h"/>
                                          </p:val>
                                        </p:tav>
                                      </p:tavLst>
                                    </p:anim>
                                    <p:anim calcmode="lin" valueType="num">
                                      <p:cBhvr>
                                        <p:cTn id="18" dur="3000" fill="hold"/>
                                        <p:tgtEl>
                                          <p:spTgt spid="2"/>
                                        </p:tgtEl>
                                        <p:attrNameLst>
                                          <p:attrName>style.rotation</p:attrName>
                                        </p:attrNameLst>
                                      </p:cBhvr>
                                      <p:tavLst>
                                        <p:tav tm="0">
                                          <p:val>
                                            <p:fltVal val="90"/>
                                          </p:val>
                                        </p:tav>
                                        <p:tav tm="100000">
                                          <p:val>
                                            <p:fltVal val="0"/>
                                          </p:val>
                                        </p:tav>
                                      </p:tavLst>
                                    </p:anim>
                                    <p:animEffect transition="in" filter="fade">
                                      <p:cBhvr>
                                        <p:cTn id="19" dur="3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a:extLst>
              <a:ext uri="{FF2B5EF4-FFF2-40B4-BE49-F238E27FC236}">
                <a16:creationId xmlns:a16="http://schemas.microsoft.com/office/drawing/2014/main" id="{FA9F1908-59E6-4B19-82A4-24F350F90FE9}"/>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FontTx/>
              <a:buChar char="•"/>
            </a:pPr>
            <a:fld id="{A71E2404-17B9-4BD7-B64B-64088DE8DA33}" type="slidenum">
              <a:rPr lang="en-US" altLang="zh-CN" sz="1200" smtClean="0">
                <a:solidFill>
                  <a:srgbClr val="898989"/>
                </a:solidFill>
                <a:latin typeface="Times New Roman" panose="02020603050405020304" pitchFamily="18" charset="0"/>
                <a:ea typeface="楷体_GB2312" pitchFamily="49" charset="-122"/>
              </a:rPr>
              <a:pPr>
                <a:buFontTx/>
                <a:buChar char="•"/>
              </a:pPr>
              <a:t>2</a:t>
            </a:fld>
            <a:endParaRPr lang="en-US" altLang="zh-CN" sz="1200">
              <a:solidFill>
                <a:srgbClr val="898989"/>
              </a:solidFill>
              <a:latin typeface="Times New Roman" panose="02020603050405020304" pitchFamily="18" charset="0"/>
              <a:ea typeface="楷体_GB2312" pitchFamily="49" charset="-122"/>
            </a:endParaRPr>
          </a:p>
        </p:txBody>
      </p:sp>
      <p:sp>
        <p:nvSpPr>
          <p:cNvPr id="38" name="矩形 37">
            <a:extLst>
              <a:ext uri="{FF2B5EF4-FFF2-40B4-BE49-F238E27FC236}">
                <a16:creationId xmlns:a16="http://schemas.microsoft.com/office/drawing/2014/main" id="{B243478C-4F57-4B4B-BBA2-B7854996AF20}"/>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buSzPct val="85000"/>
              <a:buFontTx/>
              <a:buChar char="•"/>
              <a:defRPr/>
            </a:pPr>
            <a:endParaRPr lang="zh-CN" altLang="en-US"/>
          </a:p>
        </p:txBody>
      </p:sp>
      <p:sp>
        <p:nvSpPr>
          <p:cNvPr id="8" name="页脚占位符 6">
            <a:extLst>
              <a:ext uri="{FF2B5EF4-FFF2-40B4-BE49-F238E27FC236}">
                <a16:creationId xmlns:a16="http://schemas.microsoft.com/office/drawing/2014/main" id="{35C4CD13-BFBE-49A2-B696-8806040A76C9}"/>
              </a:ext>
            </a:extLst>
          </p:cNvPr>
          <p:cNvSpPr>
            <a:spLocks noGrp="1"/>
          </p:cNvSpPr>
          <p:nvPr>
            <p:ph type="ftr" sz="quarter" idx="11"/>
          </p:nvPr>
        </p:nvSpPr>
        <p:spPr>
          <a:xfrm>
            <a:off x="2843213" y="6411913"/>
            <a:ext cx="2895600" cy="365125"/>
          </a:xfrm>
        </p:spPr>
        <p:txBody>
          <a:bodyPr/>
          <a:lstStyle/>
          <a:p>
            <a:pPr>
              <a:defRPr/>
            </a:pPr>
            <a:r>
              <a:rPr lang="zh-CN" altLang="en-US"/>
              <a:t>自动化学院测量科学与仪器系</a:t>
            </a:r>
            <a:endParaRPr lang="en-US" altLang="zh-CN"/>
          </a:p>
        </p:txBody>
      </p:sp>
      <p:pic>
        <p:nvPicPr>
          <p:cNvPr id="7" name="Picture 8">
            <a:extLst>
              <a:ext uri="{FF2B5EF4-FFF2-40B4-BE49-F238E27FC236}">
                <a16:creationId xmlns:a16="http://schemas.microsoft.com/office/drawing/2014/main" id="{30DE182A-96A8-4AC2-AB2F-E13288B795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574800"/>
            <a:ext cx="4805363"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矩形 3">
            <a:extLst>
              <a:ext uri="{FF2B5EF4-FFF2-40B4-BE49-F238E27FC236}">
                <a16:creationId xmlns:a16="http://schemas.microsoft.com/office/drawing/2014/main" id="{C2CF8CFD-BAC6-46C4-821D-7AC72B08F846}"/>
              </a:ext>
            </a:extLst>
          </p:cNvPr>
          <p:cNvSpPr>
            <a:spLocks noChangeArrowheads="1"/>
          </p:cNvSpPr>
          <p:nvPr/>
        </p:nvSpPr>
        <p:spPr bwMode="auto">
          <a:xfrm>
            <a:off x="425450" y="765175"/>
            <a:ext cx="25177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spcBef>
                <a:spcPct val="0"/>
              </a:spcBef>
              <a:buFontTx/>
              <a:buNone/>
            </a:pPr>
            <a:r>
              <a:rPr lang="en-US" altLang="zh-CN"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a:t>
            </a:r>
            <a:r>
              <a:rPr lang="zh-CN" altLang="en-US"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应变式传感器</a:t>
            </a:r>
            <a:endParaRPr lang="en-US" altLang="zh-CN"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endParaRPr>
          </a:p>
        </p:txBody>
      </p:sp>
      <p:pic>
        <p:nvPicPr>
          <p:cNvPr id="4103" name="Picture 7">
            <a:extLst>
              <a:ext uri="{FF2B5EF4-FFF2-40B4-BE49-F238E27FC236}">
                <a16:creationId xmlns:a16="http://schemas.microsoft.com/office/drawing/2014/main" id="{07FD880E-23B5-49CF-8636-49C0BB803B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488" y="1089025"/>
            <a:ext cx="2881312"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04" name="组合 9">
            <a:extLst>
              <a:ext uri="{FF2B5EF4-FFF2-40B4-BE49-F238E27FC236}">
                <a16:creationId xmlns:a16="http://schemas.microsoft.com/office/drawing/2014/main" id="{027288A0-67BB-4F02-B485-61FDC1E8E3ED}"/>
              </a:ext>
            </a:extLst>
          </p:cNvPr>
          <p:cNvGrpSpPr>
            <a:grpSpLocks/>
          </p:cNvGrpSpPr>
          <p:nvPr/>
        </p:nvGrpSpPr>
        <p:grpSpPr bwMode="auto">
          <a:xfrm>
            <a:off x="1163638" y="5029200"/>
            <a:ext cx="5541962" cy="1022350"/>
            <a:chOff x="1523313" y="4804915"/>
            <a:chExt cx="5540823" cy="1023276"/>
          </a:xfrm>
        </p:grpSpPr>
        <p:sp>
          <p:nvSpPr>
            <p:cNvPr id="4106" name="矩形 4">
              <a:extLst>
                <a:ext uri="{FF2B5EF4-FFF2-40B4-BE49-F238E27FC236}">
                  <a16:creationId xmlns:a16="http://schemas.microsoft.com/office/drawing/2014/main" id="{29FF0F37-2DD8-44E2-8795-6BB083C99F61}"/>
                </a:ext>
              </a:extLst>
            </p:cNvPr>
            <p:cNvSpPr>
              <a:spLocks noChangeArrowheads="1"/>
            </p:cNvSpPr>
            <p:nvPr/>
          </p:nvSpPr>
          <p:spPr bwMode="auto">
            <a:xfrm>
              <a:off x="2857535" y="4804915"/>
              <a:ext cx="4206601"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ct val="0"/>
                </a:spcBef>
                <a:buFontTx/>
                <a:buNone/>
              </a:pPr>
              <a:r>
                <a:rPr lang="zh-CN" altLang="en-US" sz="2400" b="1">
                  <a:solidFill>
                    <a:srgbClr val="FF0000"/>
                  </a:solidFill>
                  <a:latin typeface="黑体" panose="02010609060101010101" pitchFamily="49" charset="-122"/>
                  <a:ea typeface="黑体" panose="02010609060101010101" pitchFamily="49" charset="-122"/>
                </a:rPr>
                <a:t>金属</a:t>
              </a:r>
              <a:r>
                <a:rPr lang="en-US" altLang="zh-CN" sz="2400" b="1">
                  <a:solidFill>
                    <a:srgbClr val="0070C0"/>
                  </a:solidFill>
                  <a:latin typeface="黑体" panose="02010609060101010101" pitchFamily="49" charset="-122"/>
                  <a:ea typeface="黑体" panose="02010609060101010101" pitchFamily="49" charset="-122"/>
                </a:rPr>
                <a:t>——</a:t>
              </a:r>
              <a:r>
                <a:rPr lang="zh-CN" altLang="en-US" sz="2400" b="1">
                  <a:solidFill>
                    <a:srgbClr val="0070C0"/>
                  </a:solidFill>
                  <a:latin typeface="黑体" panose="02010609060101010101" pitchFamily="49" charset="-122"/>
                  <a:ea typeface="黑体" panose="02010609060101010101" pitchFamily="49" charset="-122"/>
                </a:rPr>
                <a:t>金属应变片式传感器</a:t>
              </a:r>
            </a:p>
          </p:txBody>
        </p:sp>
        <p:sp>
          <p:nvSpPr>
            <p:cNvPr id="4107" name="矩形 5">
              <a:extLst>
                <a:ext uri="{FF2B5EF4-FFF2-40B4-BE49-F238E27FC236}">
                  <a16:creationId xmlns:a16="http://schemas.microsoft.com/office/drawing/2014/main" id="{6840936E-C696-44DC-AE94-0D8A7A9B4A68}"/>
                </a:ext>
              </a:extLst>
            </p:cNvPr>
            <p:cNvSpPr>
              <a:spLocks noChangeArrowheads="1"/>
            </p:cNvSpPr>
            <p:nvPr/>
          </p:nvSpPr>
          <p:spPr bwMode="auto">
            <a:xfrm>
              <a:off x="2849563" y="5395380"/>
              <a:ext cx="4206601"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ct val="0"/>
                </a:spcBef>
                <a:buFontTx/>
                <a:buNone/>
              </a:pPr>
              <a:r>
                <a:rPr lang="zh-CN" altLang="en-US" sz="2400" b="1">
                  <a:solidFill>
                    <a:srgbClr val="FF0000"/>
                  </a:solidFill>
                  <a:latin typeface="黑体" panose="02010609060101010101" pitchFamily="49" charset="-122"/>
                  <a:ea typeface="黑体" panose="02010609060101010101" pitchFamily="49" charset="-122"/>
                </a:rPr>
                <a:t>半导体</a:t>
              </a:r>
              <a:r>
                <a:rPr lang="en-US" altLang="zh-CN" sz="2400" b="1">
                  <a:solidFill>
                    <a:srgbClr val="0070C0"/>
                  </a:solidFill>
                  <a:latin typeface="黑体" panose="02010609060101010101" pitchFamily="49" charset="-122"/>
                  <a:ea typeface="黑体" panose="02010609060101010101" pitchFamily="49" charset="-122"/>
                </a:rPr>
                <a:t>——</a:t>
              </a:r>
              <a:r>
                <a:rPr lang="zh-CN" altLang="en-US" sz="2400" b="1">
                  <a:solidFill>
                    <a:srgbClr val="0070C0"/>
                  </a:solidFill>
                  <a:latin typeface="黑体" panose="02010609060101010101" pitchFamily="49" charset="-122"/>
                  <a:ea typeface="黑体" panose="02010609060101010101" pitchFamily="49" charset="-122"/>
                </a:rPr>
                <a:t>压阻式电阻传感器</a:t>
              </a:r>
              <a:endParaRPr lang="zh-CN" altLang="en-US" sz="2400" b="1">
                <a:solidFill>
                  <a:srgbClr val="0070C0"/>
                </a:solidFill>
                <a:latin typeface="黑体" panose="02010609060101010101" pitchFamily="49" charset="-122"/>
                <a:ea typeface="黑体" panose="02010609060101010101" pitchFamily="49" charset="-122"/>
                <a:hlinkClick r:id="rId4" action="ppaction://hlinksldjump"/>
              </a:endParaRPr>
            </a:p>
          </p:txBody>
        </p:sp>
        <p:sp>
          <p:nvSpPr>
            <p:cNvPr id="4108" name="矩形 13">
              <a:extLst>
                <a:ext uri="{FF2B5EF4-FFF2-40B4-BE49-F238E27FC236}">
                  <a16:creationId xmlns:a16="http://schemas.microsoft.com/office/drawing/2014/main" id="{9DF64FDE-2BEF-492C-9D80-E055DC4DCDFF}"/>
                </a:ext>
              </a:extLst>
            </p:cNvPr>
            <p:cNvSpPr>
              <a:spLocks noChangeArrowheads="1"/>
            </p:cNvSpPr>
            <p:nvPr/>
          </p:nvSpPr>
          <p:spPr bwMode="auto">
            <a:xfrm>
              <a:off x="1523313" y="5069325"/>
              <a:ext cx="1420582"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ct val="0"/>
                </a:spcBef>
                <a:buFontTx/>
                <a:buNone/>
              </a:pPr>
              <a:r>
                <a:rPr lang="zh-CN" altLang="en-US" b="1">
                  <a:solidFill>
                    <a:srgbClr val="FF0000"/>
                  </a:solidFill>
                  <a:latin typeface="黑体" panose="02010609060101010101" pitchFamily="49" charset="-122"/>
                  <a:ea typeface="黑体" panose="02010609060101010101" pitchFamily="49" charset="-122"/>
                </a:rPr>
                <a:t>材料：</a:t>
              </a:r>
              <a:endParaRPr lang="zh-CN" altLang="en-US" b="1">
                <a:solidFill>
                  <a:srgbClr val="0070C0"/>
                </a:solidFill>
                <a:latin typeface="黑体" panose="02010609060101010101" pitchFamily="49" charset="-122"/>
                <a:ea typeface="黑体" panose="02010609060101010101" pitchFamily="49" charset="-122"/>
              </a:endParaRPr>
            </a:p>
          </p:txBody>
        </p:sp>
      </p:grpSp>
      <p:sp>
        <p:nvSpPr>
          <p:cNvPr id="4105" name="矩形 8">
            <a:extLst>
              <a:ext uri="{FF2B5EF4-FFF2-40B4-BE49-F238E27FC236}">
                <a16:creationId xmlns:a16="http://schemas.microsoft.com/office/drawing/2014/main" id="{216AA79B-B655-43AB-B97F-64770D98200F}"/>
              </a:ext>
            </a:extLst>
          </p:cNvPr>
          <p:cNvSpPr>
            <a:spLocks noChangeArrowheads="1"/>
          </p:cNvSpPr>
          <p:nvPr/>
        </p:nvSpPr>
        <p:spPr bwMode="auto">
          <a:xfrm>
            <a:off x="1163638" y="4221163"/>
            <a:ext cx="66484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a:solidFill>
                  <a:srgbClr val="FF0000"/>
                </a:solidFill>
                <a:latin typeface="微软雅黑" panose="020B0503020204020204" pitchFamily="34" charset="-122"/>
                <a:ea typeface="微软雅黑" panose="020B0503020204020204" pitchFamily="34" charset="-122"/>
                <a:sym typeface="楷体_GB2312" pitchFamily="49" charset="-122"/>
              </a:rPr>
              <a:t>测量：</a:t>
            </a:r>
            <a:r>
              <a:rPr lang="zh-CN" altLang="en-US" sz="2400">
                <a:solidFill>
                  <a:srgbClr val="0000FF"/>
                </a:solidFill>
                <a:latin typeface="微软雅黑" panose="020B0503020204020204" pitchFamily="34" charset="-122"/>
                <a:ea typeface="微软雅黑" panose="020B0503020204020204" pitchFamily="34" charset="-122"/>
                <a:sym typeface="楷体_GB2312" pitchFamily="49" charset="-122"/>
              </a:rPr>
              <a:t>应力、应变、力、扭矩、加速度、压力</a:t>
            </a:r>
            <a:endParaRPr lang="zh-CN" altLang="en-US" sz="2400">
              <a:solidFill>
                <a:srgbClr val="0000FF"/>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repeatCount="200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0" fill="hold"/>
                                        <p:tgtEl>
                                          <p:spTgt spid="7"/>
                                        </p:tgtEl>
                                        <p:attrNameLst>
                                          <p:attrName>ppt_x</p:attrName>
                                        </p:attrNameLst>
                                      </p:cBhvr>
                                      <p:tavLst>
                                        <p:tav tm="0">
                                          <p:val>
                                            <p:strVal val="0-#ppt_w/2"/>
                                          </p:val>
                                        </p:tav>
                                        <p:tav tm="100000">
                                          <p:val>
                                            <p:strVal val="#ppt_x"/>
                                          </p:val>
                                        </p:tav>
                                      </p:tavLst>
                                    </p:anim>
                                    <p:anim calcmode="lin" valueType="num">
                                      <p:cBhvr additive="base">
                                        <p:cTn id="8" dur="3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a:extLst>
              <a:ext uri="{FF2B5EF4-FFF2-40B4-BE49-F238E27FC236}">
                <a16:creationId xmlns:a16="http://schemas.microsoft.com/office/drawing/2014/main" id="{65A294B8-BEC4-4969-A7A3-1AC444EEECDE}"/>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FontTx/>
              <a:buChar char="•"/>
            </a:pPr>
            <a:fld id="{77161BC1-2C3E-41E7-A8EB-95ED992528C8}" type="slidenum">
              <a:rPr lang="en-US" altLang="zh-CN" sz="1200" smtClean="0">
                <a:solidFill>
                  <a:srgbClr val="898989"/>
                </a:solidFill>
                <a:latin typeface="Times New Roman" panose="02020603050405020304" pitchFamily="18" charset="0"/>
                <a:ea typeface="楷体_GB2312" pitchFamily="49" charset="-122"/>
              </a:rPr>
              <a:pPr>
                <a:buFontTx/>
                <a:buChar char="•"/>
              </a:pPr>
              <a:t>3</a:t>
            </a:fld>
            <a:endParaRPr lang="en-US" altLang="zh-CN" sz="1200">
              <a:solidFill>
                <a:srgbClr val="898989"/>
              </a:solidFill>
              <a:latin typeface="Times New Roman" panose="02020603050405020304" pitchFamily="18" charset="0"/>
              <a:ea typeface="楷体_GB2312" pitchFamily="49" charset="-122"/>
            </a:endParaRPr>
          </a:p>
        </p:txBody>
      </p:sp>
      <p:sp>
        <p:nvSpPr>
          <p:cNvPr id="38" name="矩形 37">
            <a:extLst>
              <a:ext uri="{FF2B5EF4-FFF2-40B4-BE49-F238E27FC236}">
                <a16:creationId xmlns:a16="http://schemas.microsoft.com/office/drawing/2014/main" id="{B243478C-4F57-4B4B-BBA2-B7854996AF20}"/>
              </a:ext>
            </a:extLst>
          </p:cNvPr>
          <p:cNvSpPr/>
          <p:nvPr/>
        </p:nvSpPr>
        <p:spPr>
          <a:xfrm>
            <a:off x="117475" y="1420813"/>
            <a:ext cx="4206875" cy="46037"/>
          </a:xfrm>
          <a:prstGeom prst="rect">
            <a:avLst/>
          </a:prstGeom>
          <a:gradFill flip="none" rotWithShape="1">
            <a:gsLst>
              <a:gs pos="0">
                <a:srgbClr val="5E9EFF"/>
              </a:gs>
              <a:gs pos="39999">
                <a:srgbClr val="85C2FF"/>
              </a:gs>
              <a:gs pos="70000">
                <a:srgbClr val="C4D6EB"/>
              </a:gs>
              <a:gs pos="100000">
                <a:srgbClr val="FFEBFA"/>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lnSpc>
                <a:spcPct val="150000"/>
              </a:lnSpc>
              <a:spcBef>
                <a:spcPts val="0"/>
              </a:spcBef>
              <a:spcAft>
                <a:spcPts val="0"/>
              </a:spcAft>
              <a:buSzPct val="85000"/>
              <a:buFontTx/>
              <a:buChar char="•"/>
              <a:defRPr/>
            </a:pPr>
            <a:endParaRPr lang="zh-CN" altLang="en-US"/>
          </a:p>
        </p:txBody>
      </p:sp>
      <p:sp>
        <p:nvSpPr>
          <p:cNvPr id="8" name="页脚占位符 6">
            <a:extLst>
              <a:ext uri="{FF2B5EF4-FFF2-40B4-BE49-F238E27FC236}">
                <a16:creationId xmlns:a16="http://schemas.microsoft.com/office/drawing/2014/main" id="{35C4CD13-BFBE-49A2-B696-8806040A76C9}"/>
              </a:ext>
            </a:extLst>
          </p:cNvPr>
          <p:cNvSpPr>
            <a:spLocks noGrp="1"/>
          </p:cNvSpPr>
          <p:nvPr>
            <p:ph type="ftr" sz="quarter" idx="11"/>
          </p:nvPr>
        </p:nvSpPr>
        <p:spPr>
          <a:xfrm>
            <a:off x="2843213" y="6411913"/>
            <a:ext cx="2895600" cy="365125"/>
          </a:xfrm>
        </p:spPr>
        <p:txBody>
          <a:bodyPr/>
          <a:lstStyle/>
          <a:p>
            <a:pPr>
              <a:defRPr/>
            </a:pPr>
            <a:r>
              <a:rPr lang="zh-CN" altLang="en-US"/>
              <a:t>自动化学院测量科学与仪器系</a:t>
            </a:r>
            <a:endParaRPr lang="en-US" altLang="zh-CN"/>
          </a:p>
        </p:txBody>
      </p:sp>
      <p:pic>
        <p:nvPicPr>
          <p:cNvPr id="7" name="Picture 8">
            <a:extLst>
              <a:ext uri="{FF2B5EF4-FFF2-40B4-BE49-F238E27FC236}">
                <a16:creationId xmlns:a16="http://schemas.microsoft.com/office/drawing/2014/main" id="{BA2F8D5C-1C98-46AF-B187-8FA9727C54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 y="1574800"/>
            <a:ext cx="4805363"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矩形 3">
            <a:extLst>
              <a:ext uri="{FF2B5EF4-FFF2-40B4-BE49-F238E27FC236}">
                <a16:creationId xmlns:a16="http://schemas.microsoft.com/office/drawing/2014/main" id="{A7534412-77C3-45D9-8214-ECBC8EEBCF6A}"/>
              </a:ext>
            </a:extLst>
          </p:cNvPr>
          <p:cNvSpPr>
            <a:spLocks noChangeArrowheads="1"/>
          </p:cNvSpPr>
          <p:nvPr/>
        </p:nvSpPr>
        <p:spPr bwMode="auto">
          <a:xfrm>
            <a:off x="425450" y="765175"/>
            <a:ext cx="25177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spcBef>
                <a:spcPct val="0"/>
              </a:spcBef>
              <a:buFontTx/>
              <a:buNone/>
            </a:pPr>
            <a:r>
              <a:rPr lang="en-US" altLang="zh-CN"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a:t>
            </a:r>
            <a:r>
              <a:rPr lang="zh-CN" altLang="en-US"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rPr>
              <a:t>应变式传感器</a:t>
            </a:r>
            <a:endParaRPr lang="en-US" altLang="zh-CN" sz="2800">
              <a:solidFill>
                <a:srgbClr val="C00000"/>
              </a:solidFill>
              <a:latin typeface="华文琥珀" panose="02010800040101010101" pitchFamily="2" charset="-122"/>
              <a:ea typeface="华文琥珀" panose="02010800040101010101" pitchFamily="2" charset="-122"/>
              <a:sym typeface="华文琥珀" panose="02010800040101010101" pitchFamily="2" charset="-122"/>
            </a:endParaRPr>
          </a:p>
        </p:txBody>
      </p:sp>
      <p:pic>
        <p:nvPicPr>
          <p:cNvPr id="5127" name="Picture 7">
            <a:extLst>
              <a:ext uri="{FF2B5EF4-FFF2-40B4-BE49-F238E27FC236}">
                <a16:creationId xmlns:a16="http://schemas.microsoft.com/office/drawing/2014/main" id="{96F13B36-CD48-4E86-BA70-2DD397A9D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5488" y="1089025"/>
            <a:ext cx="2881312"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矩形 4">
            <a:extLst>
              <a:ext uri="{FF2B5EF4-FFF2-40B4-BE49-F238E27FC236}">
                <a16:creationId xmlns:a16="http://schemas.microsoft.com/office/drawing/2014/main" id="{CBD94816-BE4A-4FDB-84CB-9F1EFB6F9881}"/>
              </a:ext>
            </a:extLst>
          </p:cNvPr>
          <p:cNvSpPr>
            <a:spLocks noChangeArrowheads="1"/>
          </p:cNvSpPr>
          <p:nvPr/>
        </p:nvSpPr>
        <p:spPr bwMode="auto">
          <a:xfrm>
            <a:off x="1317477" y="4000760"/>
            <a:ext cx="2234907"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indent="-342900" eaLnBrk="1" hangingPunct="1">
              <a:lnSpc>
                <a:spcPts val="3000"/>
              </a:lnSpc>
              <a:spcBef>
                <a:spcPct val="0"/>
              </a:spcBef>
              <a:buFont typeface="Wingdings" panose="05000000000000000000" pitchFamily="2" charset="2"/>
              <a:buChar char="u"/>
            </a:pPr>
            <a:r>
              <a:rPr lang="zh-CN" altLang="en-US" sz="2400" b="1">
                <a:solidFill>
                  <a:srgbClr val="0070C0"/>
                </a:solidFill>
                <a:latin typeface="黑体" panose="02010609060101010101" pitchFamily="49" charset="-122"/>
                <a:ea typeface="黑体" panose="02010609060101010101" pitchFamily="49" charset="-122"/>
              </a:rPr>
              <a:t>   基本原理</a:t>
            </a:r>
          </a:p>
        </p:txBody>
      </p:sp>
      <p:sp>
        <p:nvSpPr>
          <p:cNvPr id="5129" name="矩形 5">
            <a:extLst>
              <a:ext uri="{FF2B5EF4-FFF2-40B4-BE49-F238E27FC236}">
                <a16:creationId xmlns:a16="http://schemas.microsoft.com/office/drawing/2014/main" id="{469A8CE3-5B7F-4821-83D6-0EE15448DFAF}"/>
              </a:ext>
            </a:extLst>
          </p:cNvPr>
          <p:cNvSpPr>
            <a:spLocks noChangeArrowheads="1"/>
          </p:cNvSpPr>
          <p:nvPr/>
        </p:nvSpPr>
        <p:spPr bwMode="auto">
          <a:xfrm>
            <a:off x="1309539" y="4591310"/>
            <a:ext cx="4400564"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indent="-342900" eaLnBrk="1" hangingPunct="1">
              <a:lnSpc>
                <a:spcPts val="3000"/>
              </a:lnSpc>
              <a:spcBef>
                <a:spcPct val="0"/>
              </a:spcBef>
              <a:buFont typeface="Wingdings" panose="05000000000000000000" pitchFamily="2" charset="2"/>
              <a:buChar char="u"/>
            </a:pPr>
            <a:r>
              <a:rPr lang="zh-CN" altLang="en-US" sz="2400" b="1">
                <a:solidFill>
                  <a:srgbClr val="0070C0"/>
                </a:solidFill>
                <a:latin typeface="黑体" panose="02010609060101010101" pitchFamily="49" charset="-122"/>
                <a:ea typeface="黑体" panose="02010609060101010101" pitchFamily="49" charset="-122"/>
              </a:rPr>
              <a:t>   基本特性（</a:t>
            </a:r>
            <a:r>
              <a:rPr lang="zh-CN" altLang="en-US" sz="2400" b="1">
                <a:solidFill>
                  <a:srgbClr val="0000FF"/>
                </a:solidFill>
                <a:latin typeface="黑体" panose="02010609060101010101" pitchFamily="49" charset="-122"/>
                <a:ea typeface="黑体" panose="02010609060101010101" pitchFamily="49" charset="-122"/>
              </a:rPr>
              <a:t>静态</a:t>
            </a:r>
            <a:r>
              <a:rPr lang="zh-CN" altLang="en-US" sz="2400" b="1">
                <a:solidFill>
                  <a:srgbClr val="0070C0"/>
                </a:solidFill>
                <a:latin typeface="黑体" panose="02010609060101010101" pitchFamily="49" charset="-122"/>
                <a:ea typeface="黑体" panose="02010609060101010101" pitchFamily="49" charset="-122"/>
              </a:rPr>
              <a:t>，</a:t>
            </a:r>
            <a:r>
              <a:rPr lang="zh-CN" altLang="en-US" sz="2400" b="1">
                <a:solidFill>
                  <a:srgbClr val="0000FF"/>
                </a:solidFill>
                <a:latin typeface="黑体" panose="02010609060101010101" pitchFamily="49" charset="-122"/>
                <a:ea typeface="黑体" panose="02010609060101010101" pitchFamily="49" charset="-122"/>
              </a:rPr>
              <a:t>动态</a:t>
            </a:r>
            <a:r>
              <a:rPr lang="zh-CN" altLang="en-US" sz="2400" b="1">
                <a:solidFill>
                  <a:srgbClr val="0070C0"/>
                </a:solidFill>
                <a:latin typeface="黑体" panose="02010609060101010101" pitchFamily="49" charset="-122"/>
                <a:ea typeface="黑体" panose="02010609060101010101" pitchFamily="49" charset="-122"/>
              </a:rPr>
              <a:t>）</a:t>
            </a:r>
            <a:endParaRPr lang="zh-CN" altLang="en-US" sz="2400" b="1">
              <a:solidFill>
                <a:srgbClr val="0070C0"/>
              </a:solidFill>
              <a:latin typeface="黑体" panose="02010609060101010101" pitchFamily="49" charset="-122"/>
              <a:ea typeface="黑体" panose="02010609060101010101" pitchFamily="49" charset="-122"/>
              <a:hlinkClick r:id="rId4" action="ppaction://hlinksldjump"/>
            </a:endParaRPr>
          </a:p>
        </p:txBody>
      </p:sp>
      <p:sp>
        <p:nvSpPr>
          <p:cNvPr id="5130" name="矩形 13">
            <a:extLst>
              <a:ext uri="{FF2B5EF4-FFF2-40B4-BE49-F238E27FC236}">
                <a16:creationId xmlns:a16="http://schemas.microsoft.com/office/drawing/2014/main" id="{3F4830BF-D67A-469B-AEE4-AD114E4794FE}"/>
              </a:ext>
            </a:extLst>
          </p:cNvPr>
          <p:cNvSpPr>
            <a:spLocks noChangeArrowheads="1"/>
          </p:cNvSpPr>
          <p:nvPr/>
        </p:nvSpPr>
        <p:spPr bwMode="auto">
          <a:xfrm>
            <a:off x="6252369" y="5129472"/>
            <a:ext cx="2350323" cy="1048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ts val="1800"/>
              </a:spcBef>
              <a:buFontTx/>
              <a:buNone/>
            </a:pPr>
            <a:r>
              <a:rPr lang="zh-CN" altLang="en-US" sz="2400" b="1" dirty="0">
                <a:solidFill>
                  <a:srgbClr val="FF0000"/>
                </a:solidFill>
                <a:latin typeface="黑体" panose="02010609060101010101" pitchFamily="49" charset="-122"/>
                <a:ea typeface="黑体" panose="02010609060101010101" pitchFamily="49" charset="-122"/>
              </a:rPr>
              <a:t>也是每种传感器</a:t>
            </a:r>
            <a:endParaRPr lang="en-US" altLang="zh-CN" sz="2400" b="1" dirty="0">
              <a:solidFill>
                <a:srgbClr val="FF0000"/>
              </a:solidFill>
              <a:latin typeface="黑体" panose="02010609060101010101" pitchFamily="49" charset="-122"/>
              <a:ea typeface="黑体" panose="02010609060101010101" pitchFamily="49" charset="-122"/>
            </a:endParaRPr>
          </a:p>
          <a:p>
            <a:pPr eaLnBrk="1" hangingPunct="1">
              <a:lnSpc>
                <a:spcPts val="3000"/>
              </a:lnSpc>
              <a:spcBef>
                <a:spcPts val="1800"/>
              </a:spcBef>
              <a:buFontTx/>
              <a:buNone/>
            </a:pPr>
            <a:r>
              <a:rPr lang="zh-CN" altLang="en-US" sz="2400" b="1" dirty="0">
                <a:solidFill>
                  <a:srgbClr val="FF0000"/>
                </a:solidFill>
                <a:latin typeface="黑体" panose="02010609060101010101" pitchFamily="49" charset="-122"/>
                <a:ea typeface="黑体" panose="02010609060101010101" pitchFamily="49" charset="-122"/>
              </a:rPr>
              <a:t>学习的基本套路</a:t>
            </a:r>
            <a:endParaRPr lang="zh-CN" altLang="en-US" sz="2400" b="1" dirty="0">
              <a:solidFill>
                <a:srgbClr val="0070C0"/>
              </a:solidFill>
              <a:latin typeface="黑体" panose="02010609060101010101" pitchFamily="49" charset="-122"/>
              <a:ea typeface="黑体" panose="02010609060101010101" pitchFamily="49" charset="-122"/>
            </a:endParaRPr>
          </a:p>
        </p:txBody>
      </p:sp>
      <p:sp>
        <p:nvSpPr>
          <p:cNvPr id="5131" name="矩形 12">
            <a:extLst>
              <a:ext uri="{FF2B5EF4-FFF2-40B4-BE49-F238E27FC236}">
                <a16:creationId xmlns:a16="http://schemas.microsoft.com/office/drawing/2014/main" id="{9FD60A34-6767-41AE-B8D3-D436FE9D13DA}"/>
              </a:ext>
            </a:extLst>
          </p:cNvPr>
          <p:cNvSpPr>
            <a:spLocks noChangeArrowheads="1"/>
          </p:cNvSpPr>
          <p:nvPr/>
        </p:nvSpPr>
        <p:spPr bwMode="auto">
          <a:xfrm>
            <a:off x="1290489" y="5132647"/>
            <a:ext cx="2234907"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indent="-342900" eaLnBrk="1" hangingPunct="1">
              <a:lnSpc>
                <a:spcPts val="3000"/>
              </a:lnSpc>
              <a:spcBef>
                <a:spcPct val="0"/>
              </a:spcBef>
              <a:buFont typeface="Wingdings" panose="05000000000000000000" pitchFamily="2" charset="2"/>
              <a:buChar char="u"/>
            </a:pPr>
            <a:r>
              <a:rPr lang="zh-CN" altLang="en-US" sz="2400" b="1">
                <a:solidFill>
                  <a:srgbClr val="0070C0"/>
                </a:solidFill>
                <a:latin typeface="黑体" panose="02010609060101010101" pitchFamily="49" charset="-122"/>
                <a:ea typeface="黑体" panose="02010609060101010101" pitchFamily="49" charset="-122"/>
              </a:rPr>
              <a:t>   测量电路</a:t>
            </a:r>
            <a:endParaRPr lang="zh-CN" altLang="en-US" sz="2400" b="1">
              <a:solidFill>
                <a:srgbClr val="0070C0"/>
              </a:solidFill>
              <a:latin typeface="黑体" panose="02010609060101010101" pitchFamily="49" charset="-122"/>
              <a:ea typeface="黑体" panose="02010609060101010101" pitchFamily="49" charset="-122"/>
              <a:hlinkClick r:id="rId4" action="ppaction://hlinksldjump"/>
            </a:endParaRPr>
          </a:p>
        </p:txBody>
      </p:sp>
      <p:sp>
        <p:nvSpPr>
          <p:cNvPr id="5132" name="矩形 14">
            <a:extLst>
              <a:ext uri="{FF2B5EF4-FFF2-40B4-BE49-F238E27FC236}">
                <a16:creationId xmlns:a16="http://schemas.microsoft.com/office/drawing/2014/main" id="{7D242CD9-D8CD-4854-879A-333E6EAFA56F}"/>
              </a:ext>
            </a:extLst>
          </p:cNvPr>
          <p:cNvSpPr>
            <a:spLocks noChangeArrowheads="1"/>
          </p:cNvSpPr>
          <p:nvPr/>
        </p:nvSpPr>
        <p:spPr bwMode="auto">
          <a:xfrm>
            <a:off x="1309539" y="5675572"/>
            <a:ext cx="1616148" cy="432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marL="342900" indent="-342900" eaLnBrk="1" hangingPunct="1">
              <a:lnSpc>
                <a:spcPts val="3000"/>
              </a:lnSpc>
              <a:spcBef>
                <a:spcPct val="0"/>
              </a:spcBef>
              <a:buFont typeface="Wingdings" panose="05000000000000000000" pitchFamily="2" charset="2"/>
              <a:buChar char="u"/>
            </a:pPr>
            <a:r>
              <a:rPr lang="zh-CN" altLang="en-US" sz="2400" b="1">
                <a:solidFill>
                  <a:srgbClr val="0070C0"/>
                </a:solidFill>
                <a:latin typeface="黑体" panose="02010609060101010101" pitchFamily="49" charset="-122"/>
                <a:ea typeface="黑体" panose="02010609060101010101" pitchFamily="49" charset="-122"/>
              </a:rPr>
              <a:t>   应用</a:t>
            </a:r>
            <a:endParaRPr lang="zh-CN" altLang="en-US" sz="2400" b="1">
              <a:solidFill>
                <a:srgbClr val="0070C0"/>
              </a:solidFill>
              <a:latin typeface="黑体" panose="02010609060101010101" pitchFamily="49" charset="-122"/>
              <a:ea typeface="黑体" panose="02010609060101010101" pitchFamily="49" charset="-122"/>
              <a:hlinkClick r:id="rId4" action="ppaction://hlinksldjump"/>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0" fill="hold"/>
                                        <p:tgtEl>
                                          <p:spTgt spid="7"/>
                                        </p:tgtEl>
                                        <p:attrNameLst>
                                          <p:attrName>ppt_x</p:attrName>
                                        </p:attrNameLst>
                                      </p:cBhvr>
                                      <p:tavLst>
                                        <p:tav tm="0">
                                          <p:val>
                                            <p:strVal val="0-#ppt_w/2"/>
                                          </p:val>
                                        </p:tav>
                                        <p:tav tm="100000">
                                          <p:val>
                                            <p:strVal val="#ppt_x"/>
                                          </p:val>
                                        </p:tav>
                                      </p:tavLst>
                                    </p:anim>
                                    <p:anim calcmode="lin" valueType="num">
                                      <p:cBhvr additive="base">
                                        <p:cTn id="8" dur="50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grpId="0" nodeType="clickEffect">
                                  <p:stCondLst>
                                    <p:cond delay="0"/>
                                  </p:stCondLst>
                                  <p:childTnLst>
                                    <p:set>
                                      <p:cBhvr>
                                        <p:cTn id="12" dur="1" fill="hold">
                                          <p:stCondLst>
                                            <p:cond delay="0"/>
                                          </p:stCondLst>
                                        </p:cTn>
                                        <p:tgtEl>
                                          <p:spTgt spid="5130"/>
                                        </p:tgtEl>
                                        <p:attrNameLst>
                                          <p:attrName>style.visibility</p:attrName>
                                        </p:attrNameLst>
                                      </p:cBhvr>
                                      <p:to>
                                        <p:strVal val="visible"/>
                                      </p:to>
                                    </p:set>
                                    <p:animEffect transition="in" filter="fade">
                                      <p:cBhvr>
                                        <p:cTn id="13" dur="2000"/>
                                        <p:tgtEl>
                                          <p:spTgt spid="5130"/>
                                        </p:tgtEl>
                                      </p:cBhvr>
                                    </p:animEffect>
                                    <p:anim calcmode="lin" valueType="num">
                                      <p:cBhvr>
                                        <p:cTn id="14" dur="2000" fill="hold"/>
                                        <p:tgtEl>
                                          <p:spTgt spid="5130"/>
                                        </p:tgtEl>
                                        <p:attrNameLst>
                                          <p:attrName>ppt_w</p:attrName>
                                        </p:attrNameLst>
                                      </p:cBhvr>
                                      <p:tavLst>
                                        <p:tav tm="0" fmla="#ppt_w*sin(2.5*pi*$)">
                                          <p:val>
                                            <p:fltVal val="0"/>
                                          </p:val>
                                        </p:tav>
                                        <p:tav tm="100000">
                                          <p:val>
                                            <p:fltVal val="1"/>
                                          </p:val>
                                        </p:tav>
                                      </p:tavLst>
                                    </p:anim>
                                    <p:anim calcmode="lin" valueType="num">
                                      <p:cBhvr>
                                        <p:cTn id="15" dur="2000" fill="hold"/>
                                        <p:tgtEl>
                                          <p:spTgt spid="51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矩形 4">
            <a:extLst>
              <a:ext uri="{FF2B5EF4-FFF2-40B4-BE49-F238E27FC236}">
                <a16:creationId xmlns:a16="http://schemas.microsoft.com/office/drawing/2014/main" id="{8E32E2C6-B0C0-4106-A28D-774AD14F965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147" name="TextBox 5">
            <a:extLst>
              <a:ext uri="{FF2B5EF4-FFF2-40B4-BE49-F238E27FC236}">
                <a16:creationId xmlns:a16="http://schemas.microsoft.com/office/drawing/2014/main" id="{DBA93C95-D4D5-42AE-B5D1-355799916788}"/>
              </a:ext>
            </a:extLst>
          </p:cNvPr>
          <p:cNvSpPr>
            <a:spLocks noChangeArrowheads="1"/>
          </p:cNvSpPr>
          <p:nvPr/>
        </p:nvSpPr>
        <p:spPr bwMode="auto">
          <a:xfrm>
            <a:off x="500063" y="2857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t>本章主要内容</a:t>
            </a:r>
            <a:endParaRPr lang="zh-CN" altLang="en-US" sz="1800">
              <a:latin typeface="Arial" panose="020B0604020202020204" pitchFamily="34" charset="0"/>
            </a:endParaRPr>
          </a:p>
        </p:txBody>
      </p:sp>
      <p:sp>
        <p:nvSpPr>
          <p:cNvPr id="6148" name="TextBox 3">
            <a:extLst>
              <a:ext uri="{FF2B5EF4-FFF2-40B4-BE49-F238E27FC236}">
                <a16:creationId xmlns:a16="http://schemas.microsoft.com/office/drawing/2014/main" id="{589B3976-27AB-49BA-88DE-47CDDEC1A750}"/>
              </a:ext>
            </a:extLst>
          </p:cNvPr>
          <p:cNvSpPr>
            <a:spLocks noChangeArrowheads="1"/>
          </p:cNvSpPr>
          <p:nvPr/>
        </p:nvSpPr>
        <p:spPr bwMode="auto">
          <a:xfrm>
            <a:off x="971550" y="1628775"/>
            <a:ext cx="6359525"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应力应变基础</a:t>
            </a:r>
            <a:endParaRPr lang="en-US" altLang="zh-CN"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endParaRPr lang="en-US" altLang="zh-CN"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金属应变片式传感器</a:t>
            </a:r>
          </a:p>
          <a:p>
            <a:pPr eaLnBrk="1" hangingPunct="1">
              <a:lnSpc>
                <a:spcPts val="3000"/>
              </a:lnSpc>
              <a:spcBef>
                <a:spcPct val="0"/>
              </a:spcBef>
              <a:buFont typeface="Calibri" panose="020F0502020204030204" pitchFamily="34" charset="0"/>
              <a:buAutoNum type="arabicPeriod"/>
            </a:pPr>
            <a:endParaRPr lang="zh-CN" altLang="en-US"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压阻式传感器</a:t>
            </a:r>
            <a:endParaRPr lang="zh-CN" altLang="en-US" sz="2800" b="1" dirty="0">
              <a:solidFill>
                <a:srgbClr val="0070C0"/>
              </a:solidFill>
              <a:latin typeface="黑体" panose="02010609060101010101" pitchFamily="49" charset="-122"/>
              <a:ea typeface="黑体" panose="02010609060101010101" pitchFamily="49" charset="-122"/>
              <a:hlinkClick r:id="rId2" action="ppaction://hlinksldjump"/>
            </a:endParaRPr>
          </a:p>
          <a:p>
            <a:pPr eaLnBrk="1" hangingPunct="1">
              <a:lnSpc>
                <a:spcPts val="3000"/>
              </a:lnSpc>
              <a:spcBef>
                <a:spcPct val="0"/>
              </a:spcBef>
              <a:buFont typeface="Calibri" panose="020F0502020204030204" pitchFamily="34" charset="0"/>
              <a:buAutoNum type="arabicPeriod"/>
            </a:pPr>
            <a:endParaRPr lang="zh-CN" altLang="en-US"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测量电路</a:t>
            </a:r>
            <a:endParaRPr lang="zh-CN" altLang="en-US" sz="2800" b="1" dirty="0">
              <a:solidFill>
                <a:srgbClr val="0070C0"/>
              </a:solidFill>
              <a:latin typeface="黑体" panose="02010609060101010101" pitchFamily="49" charset="-122"/>
              <a:ea typeface="黑体" panose="02010609060101010101" pitchFamily="49" charset="-122"/>
              <a:hlinkClick r:id="rId2" action="ppaction://hlinksldjump"/>
            </a:endParaRPr>
          </a:p>
          <a:p>
            <a:pPr eaLnBrk="1" hangingPunct="1">
              <a:lnSpc>
                <a:spcPts val="3000"/>
              </a:lnSpc>
              <a:spcBef>
                <a:spcPct val="0"/>
              </a:spcBef>
              <a:buFont typeface="Calibri" panose="020F0502020204030204" pitchFamily="34" charset="0"/>
              <a:buAutoNum type="arabicPeriod"/>
            </a:pPr>
            <a:endParaRPr lang="zh-CN" altLang="en-US" sz="2800" b="1" dirty="0">
              <a:solidFill>
                <a:srgbClr val="0070C0"/>
              </a:solidFill>
              <a:latin typeface="黑体" panose="02010609060101010101" pitchFamily="49" charset="-122"/>
              <a:ea typeface="黑体" panose="02010609060101010101" pitchFamily="49" charset="-122"/>
            </a:endParaRPr>
          </a:p>
          <a:p>
            <a:pPr eaLnBrk="1" hangingPunct="1">
              <a:lnSpc>
                <a:spcPts val="3000"/>
              </a:lnSpc>
              <a:spcBef>
                <a:spcPct val="0"/>
              </a:spcBef>
              <a:buFont typeface="Calibri" panose="020F0502020204030204" pitchFamily="34" charset="0"/>
              <a:buAutoNum type="arabicPeriod"/>
            </a:pPr>
            <a:r>
              <a:rPr lang="zh-CN" altLang="en-US" sz="2800" b="1" dirty="0">
                <a:solidFill>
                  <a:srgbClr val="0070C0"/>
                </a:solidFill>
                <a:latin typeface="黑体" panose="02010609060101010101" pitchFamily="49" charset="-122"/>
                <a:ea typeface="黑体" panose="02010609060101010101" pitchFamily="49" charset="-122"/>
              </a:rPr>
              <a:t>相关应用</a:t>
            </a:r>
          </a:p>
        </p:txBody>
      </p:sp>
      <p:sp>
        <p:nvSpPr>
          <p:cNvPr id="6149" name="灯片编号占位符 3">
            <a:extLst>
              <a:ext uri="{FF2B5EF4-FFF2-40B4-BE49-F238E27FC236}">
                <a16:creationId xmlns:a16="http://schemas.microsoft.com/office/drawing/2014/main" id="{F876F54C-A574-4FD9-AF6F-348FB6634A1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4C8BD7E1-0E3B-4916-A4B1-220E0E01FB9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a:t>
            </a:fld>
            <a:endParaRPr lang="en-US" altLang="zh-CN" sz="1400">
              <a:solidFill>
                <a:srgbClr val="000000"/>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4">
            <a:extLst>
              <a:ext uri="{FF2B5EF4-FFF2-40B4-BE49-F238E27FC236}">
                <a16:creationId xmlns:a16="http://schemas.microsoft.com/office/drawing/2014/main" id="{0709C922-E392-45EC-AFF5-75466D69AE5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171" name="TextBox 5">
            <a:extLst>
              <a:ext uri="{FF2B5EF4-FFF2-40B4-BE49-F238E27FC236}">
                <a16:creationId xmlns:a16="http://schemas.microsoft.com/office/drawing/2014/main" id="{964EE131-AC57-4F88-A158-9D4FD696A4DA}"/>
              </a:ext>
            </a:extLst>
          </p:cNvPr>
          <p:cNvSpPr>
            <a:spLocks noChangeArrowheads="1"/>
          </p:cNvSpPr>
          <p:nvPr/>
        </p:nvSpPr>
        <p:spPr bwMode="auto">
          <a:xfrm>
            <a:off x="684213" y="260350"/>
            <a:ext cx="6264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C0000"/>
                </a:solidFill>
                <a:latin typeface="黑体" panose="02010609060101010101" pitchFamily="49" charset="-122"/>
                <a:ea typeface="黑体" panose="02010609060101010101" pitchFamily="49" charset="-122"/>
                <a:sym typeface="楷体_GB2312" pitchFamily="49" charset="-122"/>
              </a:rPr>
              <a:t>1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应变与应力</a:t>
            </a:r>
            <a:endParaRPr lang="zh-CN" altLang="en-US" sz="1800">
              <a:latin typeface="黑体" panose="02010609060101010101" pitchFamily="49" charset="-122"/>
              <a:ea typeface="黑体" panose="02010609060101010101" pitchFamily="49" charset="-122"/>
            </a:endParaRPr>
          </a:p>
        </p:txBody>
      </p:sp>
      <p:sp>
        <p:nvSpPr>
          <p:cNvPr id="5124" name="Text Box 4">
            <a:extLst>
              <a:ext uri="{FF2B5EF4-FFF2-40B4-BE49-F238E27FC236}">
                <a16:creationId xmlns:a16="http://schemas.microsoft.com/office/drawing/2014/main" id="{92A4EA8D-05C4-43B5-8FB0-6A555E8AD052}"/>
              </a:ext>
            </a:extLst>
          </p:cNvPr>
          <p:cNvSpPr>
            <a:spLocks noChangeArrowheads="1"/>
          </p:cNvSpPr>
          <p:nvPr/>
        </p:nvSpPr>
        <p:spPr bwMode="auto">
          <a:xfrm>
            <a:off x="468313" y="1270000"/>
            <a:ext cx="8275637"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ts val="1200"/>
              </a:spcBef>
              <a:defRPr/>
            </a:pPr>
            <a:r>
              <a:rPr lang="zh-CN" altLang="en-US" sz="240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应力</a:t>
            </a:r>
          </a:p>
          <a:p>
            <a:pPr eaLnBrk="1" hangingPunct="1">
              <a:spcBef>
                <a:spcPts val="1200"/>
              </a:spcBef>
              <a:buFont typeface="Arial" panose="020B0604020202020204" pitchFamily="34" charset="0"/>
              <a:buNone/>
              <a:defRPr/>
            </a:pPr>
            <a:r>
              <a:rPr lang="zh-CN" altLang="en-US" sz="22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物体内部抵抗外力而产生的内力</a:t>
            </a:r>
            <a:endParaRPr lang="en-US" altLang="zh-CN"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None/>
              <a:defRPr/>
            </a:pPr>
            <a:r>
              <a:rPr lang="zh-CN" altLang="en-US" sz="24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    </a:t>
            </a:r>
            <a:r>
              <a:rPr lang="en-US" altLang="zh-CN" sz="2400" dirty="0">
                <a:solidFill>
                  <a:srgbClr val="00B0F0"/>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2400" dirty="0">
                <a:solidFill>
                  <a:srgbClr val="0000FF"/>
                </a:solidFill>
                <a:highlight>
                  <a:srgbClr val="FFFF00"/>
                </a:highlight>
                <a:latin typeface="微软雅黑" panose="020B0503020204020204" pitchFamily="34" charset="-122"/>
                <a:ea typeface="微软雅黑" panose="020B0503020204020204" pitchFamily="34" charset="-122"/>
                <a:sym typeface="Arial" panose="020B0604020202020204" pitchFamily="34" charset="0"/>
              </a:rPr>
              <a:t>一种反作用力 </a:t>
            </a:r>
            <a:r>
              <a:rPr lang="zh-CN" altLang="en-US" sz="24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称作</a:t>
            </a: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应力，</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正应力σ，切应力τ。</a:t>
            </a:r>
            <a:endParaRPr lang="en-US" altLang="zh-CN" sz="2400" dirty="0">
              <a:solidFill>
                <a:srgbClr val="0000FF"/>
              </a:solidFill>
              <a:highlight>
                <a:srgbClr val="FFFF00"/>
              </a:highlight>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defRPr/>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    此外，还有</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拉应力</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压应力</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等概念</a:t>
            </a:r>
            <a:endParaRPr lang="en-US" altLang="zh-CN" sz="22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defRPr/>
            </a:pPr>
            <a:r>
              <a:rPr lang="zh-CN" altLang="en-US" sz="2200" dirty="0">
                <a:latin typeface="微软雅黑" panose="020B0503020204020204" pitchFamily="34" charset="-122"/>
                <a:ea typeface="微软雅黑" panose="020B0503020204020204" pitchFamily="34" charset="-122"/>
                <a:sym typeface="Arial" panose="020B0604020202020204" pitchFamily="34" charset="0"/>
              </a:rPr>
              <a:t>    </a:t>
            </a:r>
            <a:endParaRPr lang="en-US" altLang="zh-CN" sz="22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defRPr/>
            </a:pPr>
            <a:r>
              <a:rPr lang="en-US" altLang="zh-CN" sz="2200" dirty="0">
                <a:latin typeface="微软雅黑" panose="020B0503020204020204" pitchFamily="34" charset="-122"/>
                <a:ea typeface="微软雅黑" panose="020B0503020204020204" pitchFamily="34" charset="-122"/>
                <a:sym typeface="Arial" panose="020B0604020202020204" pitchFamily="34" charset="0"/>
              </a:rPr>
              <a:t>    </a:t>
            </a:r>
            <a:endParaRPr lang="zh-CN" altLang="en-US" sz="2400" b="1" dirty="0">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
        <p:nvSpPr>
          <p:cNvPr id="7173" name="灯片编号占位符 3">
            <a:extLst>
              <a:ext uri="{FF2B5EF4-FFF2-40B4-BE49-F238E27FC236}">
                <a16:creationId xmlns:a16="http://schemas.microsoft.com/office/drawing/2014/main" id="{9B8C336B-CF09-4687-8BA3-10F7712CFAA2}"/>
              </a:ext>
            </a:extLst>
          </p:cNvPr>
          <p:cNvSpPr>
            <a:spLocks noGrp="1" noChangeArrowheads="1"/>
          </p:cNvSpPr>
          <p:nvPr/>
        </p:nvSpPr>
        <p:spPr bwMode="auto">
          <a:xfrm>
            <a:off x="7235825" y="64023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562FF353-50D1-4283-ADF6-9C8F49A0B50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a:t>
            </a:fld>
            <a:endParaRPr lang="en-US" altLang="zh-CN" sz="1400">
              <a:solidFill>
                <a:srgbClr val="000000"/>
              </a:solidFill>
              <a:latin typeface="Arial" panose="020B0604020202020204" pitchFamily="34" charset="0"/>
            </a:endParaRPr>
          </a:p>
        </p:txBody>
      </p:sp>
      <p:sp>
        <p:nvSpPr>
          <p:cNvPr id="2" name="矩形 1">
            <a:extLst>
              <a:ext uri="{FF2B5EF4-FFF2-40B4-BE49-F238E27FC236}">
                <a16:creationId xmlns:a16="http://schemas.microsoft.com/office/drawing/2014/main" id="{1454413F-38F0-46DA-B4E9-73748E95496D}"/>
              </a:ext>
            </a:extLst>
          </p:cNvPr>
          <p:cNvSpPr/>
          <p:nvPr/>
        </p:nvSpPr>
        <p:spPr>
          <a:xfrm>
            <a:off x="684213" y="3429000"/>
            <a:ext cx="7601885" cy="2554545"/>
          </a:xfrm>
          <a:prstGeom prst="rect">
            <a:avLst/>
          </a:prstGeom>
        </p:spPr>
        <p:txBody>
          <a:bodyPr>
            <a:spAutoFit/>
          </a:bodyPr>
          <a:lstStyle/>
          <a:p>
            <a:pPr marL="342900" indent="-342900" eaLnBrk="1" hangingPunct="1">
              <a:spcBef>
                <a:spcPts val="1200"/>
              </a:spcBef>
              <a:buFont typeface="Arial" panose="020B0604020202020204" pitchFamily="34" charset="0"/>
              <a:buChar char="•"/>
              <a:defRPr/>
            </a:pPr>
            <a:r>
              <a:rPr lang="zh-CN" altLang="en-US" sz="2400" dirty="0">
                <a:solidFill>
                  <a:srgbClr val="C00000"/>
                </a:solidFill>
                <a:latin typeface="微软雅黑" panose="020B0503020204020204" pitchFamily="34" charset="-122"/>
                <a:ea typeface="微软雅黑" panose="020B0503020204020204" pitchFamily="34" charset="-122"/>
                <a:sym typeface="Arial" panose="020B0604020202020204" pitchFamily="34" charset="0"/>
              </a:rPr>
              <a:t>应变</a:t>
            </a:r>
          </a:p>
          <a:p>
            <a:pPr eaLnBrk="1" hangingPunct="1">
              <a:spcBef>
                <a:spcPts val="1200"/>
              </a:spcBef>
              <a:defRPr/>
            </a:pPr>
            <a:r>
              <a:rPr lang="zh-CN" altLang="en-US" sz="2400" dirty="0">
                <a:solidFill>
                  <a:srgbClr val="00B0F0"/>
                </a:solidFill>
                <a:latin typeface="微软雅黑" panose="020B0503020204020204" pitchFamily="34" charset="-122"/>
                <a:ea typeface="微软雅黑" panose="020B0503020204020204" pitchFamily="34" charset="-122"/>
              </a:rPr>
              <a:t>  物体在受到外力作用下会产生一定的变形</a:t>
            </a:r>
            <a:endParaRPr lang="en-US" altLang="zh-CN" sz="2400" dirty="0">
              <a:solidFill>
                <a:srgbClr val="00B0F0"/>
              </a:solidFill>
              <a:latin typeface="微软雅黑" panose="020B0503020204020204" pitchFamily="34" charset="-122"/>
              <a:ea typeface="微软雅黑" panose="020B0503020204020204" pitchFamily="34" charset="-122"/>
            </a:endParaRPr>
          </a:p>
          <a:p>
            <a:pPr eaLnBrk="1" hangingPunct="1">
              <a:spcBef>
                <a:spcPts val="1200"/>
              </a:spcBef>
              <a:defRPr/>
            </a:pPr>
            <a:r>
              <a:rPr lang="en-US" altLang="zh-CN" sz="2400" dirty="0">
                <a:solidFill>
                  <a:srgbClr val="00B0F0"/>
                </a:solidFill>
                <a:latin typeface="微软雅黑" panose="020B0503020204020204" pitchFamily="34" charset="-122"/>
                <a:ea typeface="微软雅黑" panose="020B0503020204020204" pitchFamily="34" charset="-122"/>
                <a:sym typeface="Wingdings" panose="05000000000000000000" pitchFamily="2" charset="2"/>
              </a:rPr>
              <a:t>      </a:t>
            </a:r>
            <a:r>
              <a:rPr lang="zh-CN" altLang="en-US" sz="2400" dirty="0">
                <a:solidFill>
                  <a:srgbClr val="0000FF"/>
                </a:solidFill>
                <a:highlight>
                  <a:srgbClr val="FFFF00"/>
                </a:highlight>
                <a:latin typeface="微软雅黑" panose="020B0503020204020204" pitchFamily="34" charset="-122"/>
                <a:ea typeface="微软雅黑" panose="020B0503020204020204" pitchFamily="34" charset="-122"/>
              </a:rPr>
              <a:t>变形的程度</a:t>
            </a:r>
            <a:r>
              <a:rPr lang="zh-CN" altLang="en-US" sz="2400" dirty="0">
                <a:solidFill>
                  <a:srgbClr val="0000FF"/>
                </a:solidFill>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称做</a:t>
            </a:r>
            <a:r>
              <a:rPr lang="zh-CN" altLang="en-US" sz="2400" dirty="0">
                <a:solidFill>
                  <a:srgbClr val="FF0000"/>
                </a:solidFill>
                <a:latin typeface="微软雅黑" panose="020B0503020204020204" pitchFamily="34" charset="-122"/>
                <a:ea typeface="微软雅黑" panose="020B0503020204020204" pitchFamily="34" charset="-122"/>
              </a:rPr>
              <a:t>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符号</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ε</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表示。</a:t>
            </a:r>
            <a:endParaRPr lang="en-US" altLang="zh-CN" sz="2400" dirty="0">
              <a:solidFill>
                <a:srgbClr val="FF0000"/>
              </a:solidFill>
              <a:latin typeface="微软雅黑" panose="020B0503020204020204" pitchFamily="34" charset="-122"/>
              <a:ea typeface="微软雅黑" panose="020B0503020204020204" pitchFamily="34" charset="-122"/>
            </a:endParaRPr>
          </a:p>
          <a:p>
            <a:pPr eaLnBrk="1" hangingPunct="1">
              <a:spcBef>
                <a:spcPts val="1200"/>
              </a:spcBef>
              <a:defRPr/>
            </a:pP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    </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a:p>
            <a:pPr eaLnBrk="1" hangingPunct="1">
              <a:spcBef>
                <a:spcPts val="1200"/>
              </a:spcBef>
              <a:defRPr/>
            </a:pP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    </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p:txBody>
      </p:sp>
      <p:graphicFrame>
        <p:nvGraphicFramePr>
          <p:cNvPr id="7175" name="Object 7">
            <a:hlinkClick r:id="" action="ppaction://ole?verb=1"/>
            <a:extLst>
              <a:ext uri="{FF2B5EF4-FFF2-40B4-BE49-F238E27FC236}">
                <a16:creationId xmlns:a16="http://schemas.microsoft.com/office/drawing/2014/main" id="{E08C73E7-2975-4754-8836-FD29C516226B}"/>
              </a:ext>
            </a:extLst>
          </p:cNvPr>
          <p:cNvGraphicFramePr>
            <a:graphicFrameLocks noChangeAspect="1"/>
          </p:cNvGraphicFramePr>
          <p:nvPr>
            <p:extLst>
              <p:ext uri="{D42A27DB-BD31-4B8C-83A1-F6EECF244321}">
                <p14:modId xmlns:p14="http://schemas.microsoft.com/office/powerpoint/2010/main" val="2321481334"/>
              </p:ext>
            </p:extLst>
          </p:nvPr>
        </p:nvGraphicFramePr>
        <p:xfrm>
          <a:off x="1865757" y="5013110"/>
          <a:ext cx="944563" cy="703262"/>
        </p:xfrm>
        <a:graphic>
          <a:graphicData uri="http://schemas.openxmlformats.org/presentationml/2006/ole">
            <mc:AlternateContent xmlns:mc="http://schemas.openxmlformats.org/markup-compatibility/2006">
              <mc:Choice xmlns:v="urn:schemas-microsoft-com:vml" Requires="v">
                <p:oleObj spid="_x0000_s7325" r:id="rId3" imgW="546621" imgH="406721" progId="Equation.3">
                  <p:embed/>
                </p:oleObj>
              </mc:Choice>
              <mc:Fallback>
                <p:oleObj r:id="rId3" imgW="546621" imgH="406721"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5757" y="5013110"/>
                        <a:ext cx="944563"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176" name="Object 8">
            <a:hlinkClick r:id="" action="ppaction://ole?verb=1"/>
            <a:extLst>
              <a:ext uri="{FF2B5EF4-FFF2-40B4-BE49-F238E27FC236}">
                <a16:creationId xmlns:a16="http://schemas.microsoft.com/office/drawing/2014/main" id="{96618BFF-F9B4-4D5F-8E46-06B7939E9AF1}"/>
              </a:ext>
            </a:extLst>
          </p:cNvPr>
          <p:cNvGraphicFramePr>
            <a:graphicFrameLocks noChangeAspect="1"/>
          </p:cNvGraphicFramePr>
          <p:nvPr>
            <p:extLst>
              <p:ext uri="{D42A27DB-BD31-4B8C-83A1-F6EECF244321}">
                <p14:modId xmlns:p14="http://schemas.microsoft.com/office/powerpoint/2010/main" val="4168472290"/>
              </p:ext>
            </p:extLst>
          </p:nvPr>
        </p:nvGraphicFramePr>
        <p:xfrm>
          <a:off x="1762400" y="5880477"/>
          <a:ext cx="993775" cy="661987"/>
        </p:xfrm>
        <a:graphic>
          <a:graphicData uri="http://schemas.openxmlformats.org/presentationml/2006/ole">
            <mc:AlternateContent xmlns:mc="http://schemas.openxmlformats.org/markup-compatibility/2006">
              <mc:Choice xmlns:v="urn:schemas-microsoft-com:vml" Requires="v">
                <p:oleObj spid="_x0000_s7326" r:id="rId5" imgW="610441" imgH="406721" progId="Equation.3">
                  <p:embed/>
                </p:oleObj>
              </mc:Choice>
              <mc:Fallback>
                <p:oleObj r:id="rId5" imgW="610441" imgH="406721"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2400" y="5880477"/>
                        <a:ext cx="993775"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77" name="矩形 3">
            <a:extLst>
              <a:ext uri="{FF2B5EF4-FFF2-40B4-BE49-F238E27FC236}">
                <a16:creationId xmlns:a16="http://schemas.microsoft.com/office/drawing/2014/main" id="{AD61B68C-2A4E-476A-A083-7E73BB7FE4BA}"/>
              </a:ext>
            </a:extLst>
          </p:cNvPr>
          <p:cNvSpPr>
            <a:spLocks noChangeArrowheads="1"/>
          </p:cNvSpPr>
          <p:nvPr/>
        </p:nvSpPr>
        <p:spPr bwMode="auto">
          <a:xfrm>
            <a:off x="3515440" y="4949242"/>
            <a:ext cx="40655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None/>
            </a:pP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正应变</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Tx/>
              <a:buNone/>
            </a:pP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又称：</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纵向应变 </a:t>
            </a: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or </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轴向应变</a:t>
            </a:r>
            <a:endParaRPr lang="zh-CN" altLang="en-US" sz="2400" dirty="0"/>
          </a:p>
        </p:txBody>
      </p:sp>
      <p:sp>
        <p:nvSpPr>
          <p:cNvPr id="7178" name="矩形 10">
            <a:extLst>
              <a:ext uri="{FF2B5EF4-FFF2-40B4-BE49-F238E27FC236}">
                <a16:creationId xmlns:a16="http://schemas.microsoft.com/office/drawing/2014/main" id="{810883E1-764E-4A0F-803D-987AF228A5E8}"/>
              </a:ext>
            </a:extLst>
          </p:cNvPr>
          <p:cNvSpPr>
            <a:spLocks noChangeArrowheads="1"/>
          </p:cNvSpPr>
          <p:nvPr/>
        </p:nvSpPr>
        <p:spPr bwMode="auto">
          <a:xfrm>
            <a:off x="3478065" y="5804703"/>
            <a:ext cx="375776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切应变</a:t>
            </a: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a:t>
            </a:r>
            <a:endParaRPr lang="en-US" altLang="zh-CN" sz="2400" dirty="0">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Tx/>
              <a:buNone/>
            </a:pPr>
            <a:r>
              <a:rPr lang="zh-CN" altLang="en-US" sz="2400" dirty="0">
                <a:latin typeface="微软雅黑" panose="020B0503020204020204" pitchFamily="34" charset="-122"/>
                <a:ea typeface="微软雅黑" panose="020B0503020204020204" pitchFamily="34" charset="-122"/>
                <a:sym typeface="宋体" panose="02010600030101010101" pitchFamily="2" charset="-122"/>
              </a:rPr>
              <a:t>又称：</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横向应变 </a:t>
            </a: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or </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角应变</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5"/>
                                        </p:tgtEl>
                                        <p:attrNameLst>
                                          <p:attrName>style.visibility</p:attrName>
                                        </p:attrNameLst>
                                      </p:cBhvr>
                                      <p:to>
                                        <p:strVal val="visible"/>
                                      </p:to>
                                    </p:set>
                                    <p:anim calcmode="lin" valueType="num">
                                      <p:cBhvr additive="base">
                                        <p:cTn id="13" dur="500" fill="hold"/>
                                        <p:tgtEl>
                                          <p:spTgt spid="7175"/>
                                        </p:tgtEl>
                                        <p:attrNameLst>
                                          <p:attrName>ppt_x</p:attrName>
                                        </p:attrNameLst>
                                      </p:cBhvr>
                                      <p:tavLst>
                                        <p:tav tm="0">
                                          <p:val>
                                            <p:strVal val="#ppt_x"/>
                                          </p:val>
                                        </p:tav>
                                        <p:tav tm="100000">
                                          <p:val>
                                            <p:strVal val="#ppt_x"/>
                                          </p:val>
                                        </p:tav>
                                      </p:tavLst>
                                    </p:anim>
                                    <p:anim calcmode="lin" valueType="num">
                                      <p:cBhvr additive="base">
                                        <p:cTn id="14" dur="500" fill="hold"/>
                                        <p:tgtEl>
                                          <p:spTgt spid="717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177"/>
                                        </p:tgtEl>
                                        <p:attrNameLst>
                                          <p:attrName>style.visibility</p:attrName>
                                        </p:attrNameLst>
                                      </p:cBhvr>
                                      <p:to>
                                        <p:strVal val="visible"/>
                                      </p:to>
                                    </p:set>
                                    <p:anim calcmode="lin" valueType="num">
                                      <p:cBhvr additive="base">
                                        <p:cTn id="17" dur="500" fill="hold"/>
                                        <p:tgtEl>
                                          <p:spTgt spid="7177"/>
                                        </p:tgtEl>
                                        <p:attrNameLst>
                                          <p:attrName>ppt_x</p:attrName>
                                        </p:attrNameLst>
                                      </p:cBhvr>
                                      <p:tavLst>
                                        <p:tav tm="0">
                                          <p:val>
                                            <p:strVal val="#ppt_x"/>
                                          </p:val>
                                        </p:tav>
                                        <p:tav tm="100000">
                                          <p:val>
                                            <p:strVal val="#ppt_x"/>
                                          </p:val>
                                        </p:tav>
                                      </p:tavLst>
                                    </p:anim>
                                    <p:anim calcmode="lin" valueType="num">
                                      <p:cBhvr additive="base">
                                        <p:cTn id="18" dur="500" fill="hold"/>
                                        <p:tgtEl>
                                          <p:spTgt spid="717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76"/>
                                        </p:tgtEl>
                                        <p:attrNameLst>
                                          <p:attrName>style.visibility</p:attrName>
                                        </p:attrNameLst>
                                      </p:cBhvr>
                                      <p:to>
                                        <p:strVal val="visible"/>
                                      </p:to>
                                    </p:set>
                                    <p:anim calcmode="lin" valueType="num">
                                      <p:cBhvr additive="base">
                                        <p:cTn id="23" dur="500" fill="hold"/>
                                        <p:tgtEl>
                                          <p:spTgt spid="7176"/>
                                        </p:tgtEl>
                                        <p:attrNameLst>
                                          <p:attrName>ppt_x</p:attrName>
                                        </p:attrNameLst>
                                      </p:cBhvr>
                                      <p:tavLst>
                                        <p:tav tm="0">
                                          <p:val>
                                            <p:strVal val="#ppt_x"/>
                                          </p:val>
                                        </p:tav>
                                        <p:tav tm="100000">
                                          <p:val>
                                            <p:strVal val="#ppt_x"/>
                                          </p:val>
                                        </p:tav>
                                      </p:tavLst>
                                    </p:anim>
                                    <p:anim calcmode="lin" valueType="num">
                                      <p:cBhvr additive="base">
                                        <p:cTn id="24" dur="500" fill="hold"/>
                                        <p:tgtEl>
                                          <p:spTgt spid="7176"/>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178"/>
                                        </p:tgtEl>
                                        <p:attrNameLst>
                                          <p:attrName>style.visibility</p:attrName>
                                        </p:attrNameLst>
                                      </p:cBhvr>
                                      <p:to>
                                        <p:strVal val="visible"/>
                                      </p:to>
                                    </p:set>
                                    <p:anim calcmode="lin" valueType="num">
                                      <p:cBhvr additive="base">
                                        <p:cTn id="27" dur="500" fill="hold"/>
                                        <p:tgtEl>
                                          <p:spTgt spid="7178"/>
                                        </p:tgtEl>
                                        <p:attrNameLst>
                                          <p:attrName>ppt_x</p:attrName>
                                        </p:attrNameLst>
                                      </p:cBhvr>
                                      <p:tavLst>
                                        <p:tav tm="0">
                                          <p:val>
                                            <p:strVal val="#ppt_x"/>
                                          </p:val>
                                        </p:tav>
                                        <p:tav tm="100000">
                                          <p:val>
                                            <p:strVal val="#ppt_x"/>
                                          </p:val>
                                        </p:tav>
                                      </p:tavLst>
                                    </p:anim>
                                    <p:anim calcmode="lin" valueType="num">
                                      <p:cBhvr additive="base">
                                        <p:cTn id="28" dur="500" fill="hold"/>
                                        <p:tgtEl>
                                          <p:spTgt spid="7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177" grpId="0"/>
      <p:bldP spid="717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4">
            <a:extLst>
              <a:ext uri="{FF2B5EF4-FFF2-40B4-BE49-F238E27FC236}">
                <a16:creationId xmlns:a16="http://schemas.microsoft.com/office/drawing/2014/main" id="{C6F0A107-A6B5-4A93-8474-F1E5BDAE255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195" name="TextBox 5">
            <a:extLst>
              <a:ext uri="{FF2B5EF4-FFF2-40B4-BE49-F238E27FC236}">
                <a16:creationId xmlns:a16="http://schemas.microsoft.com/office/drawing/2014/main" id="{D1C0FD87-0C22-42BC-94A6-E9C4AA86B86C}"/>
              </a:ext>
            </a:extLst>
          </p:cNvPr>
          <p:cNvSpPr>
            <a:spLocks noChangeArrowheads="1"/>
          </p:cNvSpPr>
          <p:nvPr/>
        </p:nvSpPr>
        <p:spPr bwMode="auto">
          <a:xfrm>
            <a:off x="684213" y="260350"/>
            <a:ext cx="6264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C0000"/>
                </a:solidFill>
                <a:latin typeface="黑体" panose="02010609060101010101" pitchFamily="49" charset="-122"/>
                <a:ea typeface="黑体" panose="02010609060101010101" pitchFamily="49" charset="-122"/>
                <a:sym typeface="楷体_GB2312" pitchFamily="49" charset="-122"/>
              </a:rPr>
              <a:t>1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应变与应力</a:t>
            </a:r>
            <a:endParaRPr lang="zh-CN" altLang="en-US" sz="1800">
              <a:latin typeface="黑体" panose="02010609060101010101" pitchFamily="49" charset="-122"/>
              <a:ea typeface="黑体" panose="02010609060101010101" pitchFamily="49" charset="-122"/>
            </a:endParaRPr>
          </a:p>
        </p:txBody>
      </p:sp>
      <p:sp>
        <p:nvSpPr>
          <p:cNvPr id="8196" name="Text Box 4">
            <a:extLst>
              <a:ext uri="{FF2B5EF4-FFF2-40B4-BE49-F238E27FC236}">
                <a16:creationId xmlns:a16="http://schemas.microsoft.com/office/drawing/2014/main" id="{50B34AA1-B5AB-47B1-B46A-51D3C8ED930E}"/>
              </a:ext>
            </a:extLst>
          </p:cNvPr>
          <p:cNvSpPr>
            <a:spLocks noChangeArrowheads="1"/>
          </p:cNvSpPr>
          <p:nvPr/>
        </p:nvSpPr>
        <p:spPr bwMode="auto">
          <a:xfrm>
            <a:off x="109538" y="825500"/>
            <a:ext cx="8928100"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弹性模量：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又称杨氏模量。</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弹性模量是是物体</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弹性变形难易程度</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的表征。</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用</a:t>
            </a:r>
            <a:r>
              <a:rPr lang="zh-CN" altLang="en-US" sz="2400" i="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E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表示。</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pPr>
            <a:r>
              <a:rPr lang="en-US" altLang="zh-CN" sz="2400" dirty="0">
                <a:solidFill>
                  <a:schemeClr val="folHlink"/>
                </a:solidFill>
                <a:latin typeface="微软雅黑" panose="020B0503020204020204" pitchFamily="34" charset="-122"/>
                <a:ea typeface="微软雅黑" panose="020B0503020204020204" pitchFamily="34" charset="-122"/>
                <a:sym typeface="Arial" panose="020B0604020202020204" pitchFamily="34" charset="0"/>
              </a:rPr>
              <a:t>    </a:t>
            </a:r>
          </a:p>
          <a:p>
            <a:pPr eaLnBrk="1" hangingPunct="1">
              <a:spcBef>
                <a:spcPts val="1200"/>
              </a:spcBef>
              <a:buFont typeface="Arial" panose="020B0604020202020204" pitchFamily="34" charset="0"/>
              <a:buNone/>
            </a:pPr>
            <a:r>
              <a:rPr lang="en-US" altLang="zh-CN" sz="2400" dirty="0">
                <a:solidFill>
                  <a:schemeClr val="folHlink"/>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solidFill>
                  <a:schemeClr val="folHlink"/>
                </a:solidFill>
                <a:latin typeface="微软雅黑" panose="020B0503020204020204" pitchFamily="34" charset="-122"/>
                <a:ea typeface="微软雅黑" panose="020B0503020204020204" pitchFamily="34" charset="-122"/>
                <a:sym typeface="Arial" panose="020B0604020202020204" pitchFamily="34" charset="0"/>
              </a:rPr>
              <a:t>定义：理想材料有</a:t>
            </a:r>
            <a:r>
              <a:rPr lang="zh-CN" altLang="en-US" sz="2400" dirty="0">
                <a:solidFill>
                  <a:srgbClr val="FFC000"/>
                </a:solidFill>
                <a:latin typeface="微软雅黑" panose="020B0503020204020204" pitchFamily="34" charset="-122"/>
                <a:ea typeface="微软雅黑" panose="020B0503020204020204" pitchFamily="34" charset="-122"/>
                <a:sym typeface="Arial" panose="020B0604020202020204" pitchFamily="34" charset="0"/>
              </a:rPr>
              <a:t>小形变</a:t>
            </a:r>
            <a:r>
              <a:rPr lang="zh-CN" altLang="en-US" sz="2400" dirty="0">
                <a:solidFill>
                  <a:schemeClr val="folHlink"/>
                </a:solidFill>
                <a:latin typeface="微软雅黑" panose="020B0503020204020204" pitchFamily="34" charset="-122"/>
                <a:ea typeface="微软雅黑" panose="020B0503020204020204" pitchFamily="34" charset="-122"/>
                <a:sym typeface="Arial" panose="020B0604020202020204" pitchFamily="34" charset="0"/>
              </a:rPr>
              <a:t>时应力与相应的应变之比</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ts val="1200"/>
              </a:spcBef>
              <a:buFont typeface="Arial" panose="020B0604020202020204" pitchFamily="34" charset="0"/>
              <a:buNone/>
            </a:pPr>
            <a:r>
              <a:rPr lang="en-US" altLang="zh-CN"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    </a:t>
            </a:r>
            <a:r>
              <a:rPr lang="zh-CN" altLang="en-US" sz="2400" i="1"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E </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以单位面积上承受的力表示，单位为</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N/m</a:t>
            </a:r>
            <a:r>
              <a:rPr lang="zh-CN" altLang="en-US" sz="2400" baseline="300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2</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a:t>
            </a:r>
          </a:p>
          <a:p>
            <a:pPr eaLnBrk="1" hangingPunct="1">
              <a:spcBef>
                <a:spcPct val="0"/>
              </a:spcBef>
            </a:pPr>
            <a:endPar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zh-CN" altLang="en-US" sz="2400" b="1" dirty="0">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
        <p:nvSpPr>
          <p:cNvPr id="8197" name="灯片编号占位符 3">
            <a:extLst>
              <a:ext uri="{FF2B5EF4-FFF2-40B4-BE49-F238E27FC236}">
                <a16:creationId xmlns:a16="http://schemas.microsoft.com/office/drawing/2014/main" id="{07DDBFF6-5CC5-4AD1-9B67-9785297D58A7}"/>
              </a:ext>
            </a:extLst>
          </p:cNvPr>
          <p:cNvSpPr>
            <a:spLocks noGrp="1" noChangeArrowheads="1"/>
          </p:cNvSpPr>
          <p:nvPr/>
        </p:nvSpPr>
        <p:spPr bwMode="auto">
          <a:xfrm>
            <a:off x="3447155" y="5415771"/>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dirty="0">
                <a:solidFill>
                  <a:srgbClr val="FF0000"/>
                </a:solidFill>
                <a:latin typeface="微软雅黑" panose="020B0503020204020204" pitchFamily="34" charset="-122"/>
                <a:ea typeface="微软雅黑" panose="020B0503020204020204" pitchFamily="34" charset="-122"/>
              </a:rPr>
              <a:t>正应变</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ε</a:t>
            </a:r>
            <a:endParaRPr lang="en-US" altLang="zh-CN" sz="2400" dirty="0">
              <a:solidFill>
                <a:srgbClr val="000000"/>
              </a:solidFill>
              <a:latin typeface="Arial" panose="020B0604020202020204" pitchFamily="34" charset="0"/>
            </a:endParaRPr>
          </a:p>
        </p:txBody>
      </p:sp>
      <p:graphicFrame>
        <p:nvGraphicFramePr>
          <p:cNvPr id="8198" name="Object 6">
            <a:hlinkClick r:id="" action="ppaction://ole?verb=1"/>
            <a:extLst>
              <a:ext uri="{FF2B5EF4-FFF2-40B4-BE49-F238E27FC236}">
                <a16:creationId xmlns:a16="http://schemas.microsoft.com/office/drawing/2014/main" id="{EED81CD7-1774-4742-8C1D-9052730E03BF}"/>
              </a:ext>
            </a:extLst>
          </p:cNvPr>
          <p:cNvGraphicFramePr>
            <a:graphicFrameLocks noChangeAspect="1"/>
          </p:cNvGraphicFramePr>
          <p:nvPr/>
        </p:nvGraphicFramePr>
        <p:xfrm>
          <a:off x="1619250" y="4732338"/>
          <a:ext cx="1238250" cy="1127125"/>
        </p:xfrm>
        <a:graphic>
          <a:graphicData uri="http://schemas.openxmlformats.org/presentationml/2006/ole">
            <mc:AlternateContent xmlns:mc="http://schemas.openxmlformats.org/markup-compatibility/2006">
              <mc:Choice xmlns:v="urn:schemas-microsoft-com:vml" Requires="v">
                <p:oleObj spid="_x0000_s8278" r:id="rId3" imgW="432321" imgH="394101" progId="Equation.KSEE3">
                  <p:embed/>
                </p:oleObj>
              </mc:Choice>
              <mc:Fallback>
                <p:oleObj r:id="rId3" imgW="432321" imgH="394101" progId="Equation.KSEE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4732338"/>
                        <a:ext cx="123825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199" name="Picture 22" descr="托马斯·杨">
            <a:extLst>
              <a:ext uri="{FF2B5EF4-FFF2-40B4-BE49-F238E27FC236}">
                <a16:creationId xmlns:a16="http://schemas.microsoft.com/office/drawing/2014/main" id="{4E194B94-DB5B-459A-8899-AA587D8195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2150" y="1124840"/>
            <a:ext cx="1697475" cy="2276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矩形 1">
            <a:extLst>
              <a:ext uri="{FF2B5EF4-FFF2-40B4-BE49-F238E27FC236}">
                <a16:creationId xmlns:a16="http://schemas.microsoft.com/office/drawing/2014/main" id="{9BB66787-144E-40FD-A29A-93EC906ADAC0}"/>
              </a:ext>
            </a:extLst>
          </p:cNvPr>
          <p:cNvSpPr>
            <a:spLocks noChangeArrowheads="1"/>
          </p:cNvSpPr>
          <p:nvPr/>
        </p:nvSpPr>
        <p:spPr bwMode="auto">
          <a:xfrm>
            <a:off x="3447155" y="4785518"/>
            <a:ext cx="1300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正应力σ</a:t>
            </a:r>
            <a:endParaRPr lang="zh-CN" altLang="en-US" sz="2400" dirty="0"/>
          </a:p>
        </p:txBody>
      </p:sp>
      <p:pic>
        <p:nvPicPr>
          <p:cNvPr id="8209" name="Picture 17" descr="查看源图像">
            <a:extLst>
              <a:ext uri="{FF2B5EF4-FFF2-40B4-BE49-F238E27FC236}">
                <a16:creationId xmlns:a16="http://schemas.microsoft.com/office/drawing/2014/main" id="{1F459C31-C255-4E77-A5AC-99E0966EAD34}"/>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004030" y="4509075"/>
            <a:ext cx="4128075" cy="2322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4">
            <a:extLst>
              <a:ext uri="{FF2B5EF4-FFF2-40B4-BE49-F238E27FC236}">
                <a16:creationId xmlns:a16="http://schemas.microsoft.com/office/drawing/2014/main" id="{9DE49411-CBFF-496F-AB64-20E4081B759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9219" name="TextBox 5">
            <a:extLst>
              <a:ext uri="{FF2B5EF4-FFF2-40B4-BE49-F238E27FC236}">
                <a16:creationId xmlns:a16="http://schemas.microsoft.com/office/drawing/2014/main" id="{A9CF2448-F833-4AE6-BEF0-5F9E64B16510}"/>
              </a:ext>
            </a:extLst>
          </p:cNvPr>
          <p:cNvSpPr>
            <a:spLocks noChangeArrowheads="1"/>
          </p:cNvSpPr>
          <p:nvPr/>
        </p:nvSpPr>
        <p:spPr bwMode="auto">
          <a:xfrm>
            <a:off x="684213" y="260350"/>
            <a:ext cx="6264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C0000"/>
                </a:solidFill>
                <a:latin typeface="黑体" panose="02010609060101010101" pitchFamily="49" charset="-122"/>
                <a:ea typeface="黑体" panose="02010609060101010101" pitchFamily="49" charset="-122"/>
                <a:sym typeface="楷体_GB2312" pitchFamily="49" charset="-122"/>
              </a:rPr>
              <a:t>1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应变与应力基础</a:t>
            </a:r>
            <a:endParaRPr lang="zh-CN" altLang="en-US" sz="1800">
              <a:latin typeface="黑体" panose="02010609060101010101" pitchFamily="49" charset="-122"/>
              <a:ea typeface="黑体" panose="02010609060101010101" pitchFamily="49" charset="-122"/>
            </a:endParaRPr>
          </a:p>
        </p:txBody>
      </p:sp>
      <p:sp>
        <p:nvSpPr>
          <p:cNvPr id="9220" name="Text Box 4">
            <a:extLst>
              <a:ext uri="{FF2B5EF4-FFF2-40B4-BE49-F238E27FC236}">
                <a16:creationId xmlns:a16="http://schemas.microsoft.com/office/drawing/2014/main" id="{230ED4CF-E516-4BD4-989F-5957FE5B5736}"/>
              </a:ext>
            </a:extLst>
          </p:cNvPr>
          <p:cNvSpPr>
            <a:spLocks noChangeArrowheads="1"/>
          </p:cNvSpPr>
          <p:nvPr/>
        </p:nvSpPr>
        <p:spPr bwMode="auto">
          <a:xfrm>
            <a:off x="190500" y="692810"/>
            <a:ext cx="8928100" cy="375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4" eaLnBrk="1" hangingPunct="1">
              <a:spcBef>
                <a:spcPct val="0"/>
              </a:spcBef>
              <a:buFont typeface="Arial" panose="020B0604020202020204" pitchFamily="34" charset="0"/>
              <a:buNone/>
            </a:pPr>
            <a:endParaRPr lang="zh-CN" altLang="en-US" sz="2400" dirty="0">
              <a:latin typeface="Arial" panose="020B0604020202020204" pitchFamily="34" charset="0"/>
              <a:ea typeface="华文新魏" panose="02010800040101010101" pitchFamily="2" charset="-122"/>
              <a:sym typeface="Arial" panose="020B0604020202020204" pitchFamily="34" charset="0"/>
            </a:endParaRPr>
          </a:p>
          <a:p>
            <a:pPr eaLnBrk="1" hangingPunct="1">
              <a:lnSpc>
                <a:spcPts val="3200"/>
              </a:lnSpc>
              <a:spcBef>
                <a:spcPts val="1000"/>
              </a:spcBef>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泊松比</a:t>
            </a:r>
            <a:r>
              <a:rPr lang="en-US" altLang="zh-CN"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a:t>
            </a:r>
            <a:r>
              <a:rPr lang="en-US" altLang="zh-CN" sz="2400" dirty="0" err="1">
                <a:solidFill>
                  <a:schemeClr val="hlink"/>
                </a:solidFill>
                <a:latin typeface="微软雅黑" panose="020B0503020204020204" pitchFamily="34" charset="-122"/>
                <a:ea typeface="微软雅黑" panose="020B0503020204020204" pitchFamily="34" charset="-122"/>
                <a:sym typeface="Arial" panose="020B0604020202020204" pitchFamily="34" charset="0"/>
              </a:rPr>
              <a:t>Possion</a:t>
            </a:r>
            <a:r>
              <a:rPr lang="en-US" altLang="zh-CN" sz="2400" dirty="0" err="1">
                <a:solidFill>
                  <a:schemeClr val="hlink"/>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400" dirty="0" err="1">
                <a:solidFill>
                  <a:schemeClr val="hlink"/>
                </a:solidFill>
                <a:latin typeface="微软雅黑" panose="020B0503020204020204" pitchFamily="34" charset="-122"/>
                <a:ea typeface="微软雅黑" panose="020B0503020204020204" pitchFamily="34" charset="-122"/>
                <a:sym typeface="Arial" panose="020B0604020202020204" pitchFamily="34" charset="0"/>
              </a:rPr>
              <a:t>s</a:t>
            </a:r>
            <a:r>
              <a:rPr lang="en-US" altLang="zh-CN"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Ratio)</a:t>
            </a:r>
            <a:endPar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lnSpc>
                <a:spcPts val="3200"/>
              </a:lnSpc>
              <a:spcBef>
                <a:spcPts val="1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    </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纵向应力</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所引起的</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横向应变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与相应的</a:t>
            </a:r>
            <a:r>
              <a:rPr lang="zh-CN" altLang="en-US" sz="2400" dirty="0">
                <a:solidFill>
                  <a:srgbClr val="FF0000"/>
                </a:solidFill>
                <a:latin typeface="微软雅黑" panose="020B0503020204020204" pitchFamily="34" charset="-122"/>
                <a:ea typeface="微软雅黑" panose="020B0503020204020204" pitchFamily="34" charset="-122"/>
                <a:sym typeface="Arial" panose="020B0604020202020204" pitchFamily="34" charset="0"/>
              </a:rPr>
              <a:t>纵向应变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之比的绝对值</a:t>
            </a:r>
            <a:r>
              <a:rPr lang="en-US" altLang="zh-CN" sz="2400" dirty="0">
                <a:latin typeface="微软雅黑" panose="020B0503020204020204" pitchFamily="34" charset="-122"/>
                <a:ea typeface="微软雅黑" panose="020B0503020204020204" pitchFamily="34" charset="-122"/>
                <a:sym typeface="Arial" panose="020B0604020202020204" pitchFamily="34" charset="0"/>
              </a:rPr>
              <a:t>:</a:t>
            </a:r>
          </a:p>
          <a:p>
            <a:pPr eaLnBrk="1" hangingPunct="1">
              <a:spcBef>
                <a:spcPct val="0"/>
              </a:spcBef>
              <a:buFont typeface="Arial" panose="020B0604020202020204" pitchFamily="34" charset="0"/>
              <a:buNone/>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a:t>
            </a:r>
          </a:p>
          <a:p>
            <a:pPr eaLnBrk="1" hangingPunct="1">
              <a:spcBef>
                <a:spcPct val="0"/>
              </a:spcBef>
            </a:pPr>
            <a:endParaRPr lang="zh-CN" altLang="en-US" sz="2400" dirty="0">
              <a:latin typeface="微软雅黑" panose="020B0503020204020204" pitchFamily="34" charset="-122"/>
              <a:ea typeface="微软雅黑" panose="020B0503020204020204" pitchFamily="34" charset="-122"/>
            </a:endParaRPr>
          </a:p>
          <a:p>
            <a:pPr eaLnBrk="1" hangingPunct="1">
              <a:spcBef>
                <a:spcPct val="0"/>
              </a:spcBef>
              <a:buFont typeface="Arial" panose="020B0604020202020204" pitchFamily="34" charset="0"/>
              <a:buNone/>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en-US" altLang="zh-CN"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en-US" altLang="zh-CN"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zh-CN" altLang="en-US" sz="2400" b="1" dirty="0">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
        <p:nvSpPr>
          <p:cNvPr id="9221" name="灯片编号占位符 3">
            <a:extLst>
              <a:ext uri="{FF2B5EF4-FFF2-40B4-BE49-F238E27FC236}">
                <a16:creationId xmlns:a16="http://schemas.microsoft.com/office/drawing/2014/main" id="{0557A893-3321-4619-8FE8-10D4B2CF65D2}"/>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147F5C8-9354-437A-BD41-77828AC8B78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a:t>
            </a:fld>
            <a:endParaRPr lang="en-US" altLang="zh-CN" sz="1400">
              <a:solidFill>
                <a:srgbClr val="000000"/>
              </a:solidFill>
              <a:latin typeface="Arial" panose="020B0604020202020204" pitchFamily="34" charset="0"/>
            </a:endParaRPr>
          </a:p>
        </p:txBody>
      </p:sp>
      <p:graphicFrame>
        <p:nvGraphicFramePr>
          <p:cNvPr id="9222" name="Object 6">
            <a:hlinkClick r:id="" action="ppaction://ole?verb=1"/>
            <a:extLst>
              <a:ext uri="{FF2B5EF4-FFF2-40B4-BE49-F238E27FC236}">
                <a16:creationId xmlns:a16="http://schemas.microsoft.com/office/drawing/2014/main" id="{23994E0E-28CB-4FDA-9112-9E50C5CE76C2}"/>
              </a:ext>
            </a:extLst>
          </p:cNvPr>
          <p:cNvGraphicFramePr>
            <a:graphicFrameLocks noChangeAspect="1"/>
          </p:cNvGraphicFramePr>
          <p:nvPr>
            <p:extLst>
              <p:ext uri="{D42A27DB-BD31-4B8C-83A1-F6EECF244321}">
                <p14:modId xmlns:p14="http://schemas.microsoft.com/office/powerpoint/2010/main" val="1608933984"/>
              </p:ext>
            </p:extLst>
          </p:nvPr>
        </p:nvGraphicFramePr>
        <p:xfrm>
          <a:off x="971750" y="2493505"/>
          <a:ext cx="1616075" cy="1223963"/>
        </p:xfrm>
        <a:graphic>
          <a:graphicData uri="http://schemas.openxmlformats.org/presentationml/2006/ole">
            <mc:AlternateContent xmlns:mc="http://schemas.openxmlformats.org/markup-compatibility/2006">
              <mc:Choice xmlns:v="urn:schemas-microsoft-com:vml" Requires="v">
                <p:oleObj spid="_x0000_s9453" r:id="rId3" imgW="521381" imgH="394101" progId="Equation.DSMT4">
                  <p:embed/>
                </p:oleObj>
              </mc:Choice>
              <mc:Fallback>
                <p:oleObj r:id="rId3" imgW="521381" imgH="394101"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750" y="2493505"/>
                        <a:ext cx="1616075"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3" name="Object 7">
            <a:hlinkClick r:id="" action="ppaction://ole?verb=1"/>
            <a:extLst>
              <a:ext uri="{FF2B5EF4-FFF2-40B4-BE49-F238E27FC236}">
                <a16:creationId xmlns:a16="http://schemas.microsoft.com/office/drawing/2014/main" id="{131A7271-0E24-46BC-A21C-FD2D860B729D}"/>
              </a:ext>
            </a:extLst>
          </p:cNvPr>
          <p:cNvGraphicFramePr>
            <a:graphicFrameLocks noChangeAspect="1"/>
          </p:cNvGraphicFramePr>
          <p:nvPr>
            <p:extLst>
              <p:ext uri="{D42A27DB-BD31-4B8C-83A1-F6EECF244321}">
                <p14:modId xmlns:p14="http://schemas.microsoft.com/office/powerpoint/2010/main" val="1811205612"/>
              </p:ext>
            </p:extLst>
          </p:nvPr>
        </p:nvGraphicFramePr>
        <p:xfrm>
          <a:off x="4193879" y="3104693"/>
          <a:ext cx="1223963" cy="911225"/>
        </p:xfrm>
        <a:graphic>
          <a:graphicData uri="http://schemas.openxmlformats.org/presentationml/2006/ole">
            <mc:AlternateContent xmlns:mc="http://schemas.openxmlformats.org/markup-compatibility/2006">
              <mc:Choice xmlns:v="urn:schemas-microsoft-com:vml" Requires="v">
                <p:oleObj spid="_x0000_s9454" r:id="rId5" imgW="546621" imgH="406721" progId="Equation.3">
                  <p:embed/>
                </p:oleObj>
              </mc:Choice>
              <mc:Fallback>
                <p:oleObj r:id="rId5" imgW="546621" imgH="406721"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3879" y="3104693"/>
                        <a:ext cx="1223963"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224" name="Object 8">
            <a:hlinkClick r:id="" action="ppaction://ole?verb=1"/>
            <a:extLst>
              <a:ext uri="{FF2B5EF4-FFF2-40B4-BE49-F238E27FC236}">
                <a16:creationId xmlns:a16="http://schemas.microsoft.com/office/drawing/2014/main" id="{6A44C808-EF40-4BEF-BD91-7837D08AFA2E}"/>
              </a:ext>
            </a:extLst>
          </p:cNvPr>
          <p:cNvGraphicFramePr>
            <a:graphicFrameLocks noChangeAspect="1"/>
          </p:cNvGraphicFramePr>
          <p:nvPr>
            <p:extLst>
              <p:ext uri="{D42A27DB-BD31-4B8C-83A1-F6EECF244321}">
                <p14:modId xmlns:p14="http://schemas.microsoft.com/office/powerpoint/2010/main" val="1140390091"/>
              </p:ext>
            </p:extLst>
          </p:nvPr>
        </p:nvGraphicFramePr>
        <p:xfrm>
          <a:off x="4193879" y="2204915"/>
          <a:ext cx="1368425" cy="911225"/>
        </p:xfrm>
        <a:graphic>
          <a:graphicData uri="http://schemas.openxmlformats.org/presentationml/2006/ole">
            <mc:AlternateContent xmlns:mc="http://schemas.openxmlformats.org/markup-compatibility/2006">
              <mc:Choice xmlns:v="urn:schemas-microsoft-com:vml" Requires="v">
                <p:oleObj spid="_x0000_s9455" r:id="rId7" imgW="610441" imgH="406721" progId="Equation.3">
                  <p:embed/>
                </p:oleObj>
              </mc:Choice>
              <mc:Fallback>
                <p:oleObj r:id="rId7" imgW="610441" imgH="406721"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93879" y="2204915"/>
                        <a:ext cx="1368425"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cxnSp>
        <p:nvCxnSpPr>
          <p:cNvPr id="9225" name="直接箭头连接符 2">
            <a:extLst>
              <a:ext uri="{FF2B5EF4-FFF2-40B4-BE49-F238E27FC236}">
                <a16:creationId xmlns:a16="http://schemas.microsoft.com/office/drawing/2014/main" id="{00F83C95-9C08-4712-A8A1-E213E3AD5196}"/>
              </a:ext>
            </a:extLst>
          </p:cNvPr>
          <p:cNvCxnSpPr>
            <a:cxnSpLocks noChangeShapeType="1"/>
          </p:cNvCxnSpPr>
          <p:nvPr/>
        </p:nvCxnSpPr>
        <p:spPr bwMode="auto">
          <a:xfrm flipV="1">
            <a:off x="2771975" y="2753855"/>
            <a:ext cx="1223963" cy="1714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226" name="直接箭头连接符 4">
            <a:extLst>
              <a:ext uri="{FF2B5EF4-FFF2-40B4-BE49-F238E27FC236}">
                <a16:creationId xmlns:a16="http://schemas.microsoft.com/office/drawing/2014/main" id="{5575B861-79F2-4187-B141-D7004C916FB0}"/>
              </a:ext>
            </a:extLst>
          </p:cNvPr>
          <p:cNvCxnSpPr>
            <a:cxnSpLocks noChangeShapeType="1"/>
          </p:cNvCxnSpPr>
          <p:nvPr/>
        </p:nvCxnSpPr>
        <p:spPr bwMode="auto">
          <a:xfrm>
            <a:off x="2587825" y="3504743"/>
            <a:ext cx="1479550" cy="68262"/>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9227" name="矩形 5">
            <a:extLst>
              <a:ext uri="{FF2B5EF4-FFF2-40B4-BE49-F238E27FC236}">
                <a16:creationId xmlns:a16="http://schemas.microsoft.com/office/drawing/2014/main" id="{C00822C0-FA67-4FC5-B965-C6C341FEC44E}"/>
              </a:ext>
            </a:extLst>
          </p:cNvPr>
          <p:cNvSpPr>
            <a:spLocks noChangeArrowheads="1"/>
          </p:cNvSpPr>
          <p:nvPr/>
        </p:nvSpPr>
        <p:spPr bwMode="auto">
          <a:xfrm>
            <a:off x="5691763" y="2904638"/>
            <a:ext cx="30059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000"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想一想：为什么有负号？</a:t>
            </a:r>
            <a:endParaRPr lang="zh-CN" altLang="en-US" sz="2000" dirty="0">
              <a:solidFill>
                <a:srgbClr val="00B0F0"/>
              </a:solidFill>
            </a:endParaRPr>
          </a:p>
        </p:txBody>
      </p:sp>
      <p:pic>
        <p:nvPicPr>
          <p:cNvPr id="2" name="图片 1">
            <a:extLst>
              <a:ext uri="{FF2B5EF4-FFF2-40B4-BE49-F238E27FC236}">
                <a16:creationId xmlns:a16="http://schemas.microsoft.com/office/drawing/2014/main" id="{89214EE8-FDFE-4A39-8B8A-B420A77CDC25}"/>
              </a:ext>
            </a:extLst>
          </p:cNvPr>
          <p:cNvPicPr>
            <a:picLocks noChangeAspect="1"/>
          </p:cNvPicPr>
          <p:nvPr/>
        </p:nvPicPr>
        <p:blipFill>
          <a:blip r:embed="rId9"/>
          <a:stretch>
            <a:fillRect/>
          </a:stretch>
        </p:blipFill>
        <p:spPr>
          <a:xfrm>
            <a:off x="2676537" y="4054872"/>
            <a:ext cx="5705851" cy="2719254"/>
          </a:xfrm>
          <a:prstGeom prst="rect">
            <a:avLst/>
          </a:prstGeom>
        </p:spPr>
      </p:pic>
      <p:sp>
        <p:nvSpPr>
          <p:cNvPr id="13" name="Text Box 4">
            <a:extLst>
              <a:ext uri="{FF2B5EF4-FFF2-40B4-BE49-F238E27FC236}">
                <a16:creationId xmlns:a16="http://schemas.microsoft.com/office/drawing/2014/main" id="{1D211853-7B6E-436D-993E-4B468CC621A5}"/>
              </a:ext>
            </a:extLst>
          </p:cNvPr>
          <p:cNvSpPr>
            <a:spLocks noChangeArrowheads="1"/>
          </p:cNvSpPr>
          <p:nvPr/>
        </p:nvSpPr>
        <p:spPr bwMode="auto">
          <a:xfrm>
            <a:off x="142875" y="3787512"/>
            <a:ext cx="8928100" cy="3754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4" eaLnBrk="1" hangingPunct="1">
              <a:spcBef>
                <a:spcPct val="0"/>
              </a:spcBef>
              <a:buFont typeface="Arial" panose="020B0604020202020204" pitchFamily="34" charset="0"/>
              <a:buNone/>
            </a:pPr>
            <a:endParaRPr lang="zh-CN" altLang="en-US" sz="2400" dirty="0">
              <a:latin typeface="Arial" panose="020B0604020202020204" pitchFamily="34" charset="0"/>
              <a:ea typeface="华文新魏" panose="02010800040101010101" pitchFamily="2" charset="-122"/>
              <a:sym typeface="Arial" panose="020B0604020202020204" pitchFamily="34" charset="0"/>
            </a:endParaRPr>
          </a:p>
          <a:p>
            <a:pPr eaLnBrk="1" hangingPunct="1">
              <a:lnSpc>
                <a:spcPts val="3200"/>
              </a:lnSpc>
              <a:spcBef>
                <a:spcPts val="1000"/>
              </a:spcBef>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泊松比是材料</a:t>
            </a:r>
            <a:endParaRPr lang="en-US" altLang="zh-CN"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endParaRPr>
          </a:p>
          <a:p>
            <a:pPr marL="0" indent="0" eaLnBrk="1" hangingPunct="1">
              <a:lnSpc>
                <a:spcPts val="3200"/>
              </a:lnSpc>
              <a:spcBef>
                <a:spcPts val="1000"/>
              </a:spcBef>
              <a:buNone/>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的一种特性</a:t>
            </a:r>
            <a:endParaRPr lang="en-US" altLang="zh-CN"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r>
              <a:rPr lang="zh-CN" altLang="en-US" sz="2400" dirty="0">
                <a:solidFill>
                  <a:schemeClr val="hlink"/>
                </a:solidFill>
                <a:latin typeface="微软雅黑" panose="020B0503020204020204" pitchFamily="34" charset="-122"/>
                <a:ea typeface="微软雅黑" panose="020B0503020204020204" pitchFamily="34" charset="-122"/>
                <a:sym typeface="Arial" panose="020B0604020202020204" pitchFamily="34" charset="0"/>
              </a:rPr>
              <a:t>     </a:t>
            </a:r>
          </a:p>
          <a:p>
            <a:pPr eaLnBrk="1" hangingPunct="1">
              <a:spcBef>
                <a:spcPct val="0"/>
              </a:spcBef>
            </a:pPr>
            <a:endParaRPr lang="zh-CN" altLang="en-US" sz="2400" dirty="0">
              <a:latin typeface="微软雅黑" panose="020B0503020204020204" pitchFamily="34" charset="-122"/>
              <a:ea typeface="微软雅黑" panose="020B0503020204020204" pitchFamily="34" charset="-122"/>
            </a:endParaRPr>
          </a:p>
          <a:p>
            <a:pPr eaLnBrk="1" hangingPunct="1">
              <a:spcBef>
                <a:spcPct val="0"/>
              </a:spcBef>
              <a:buFont typeface="Arial" panose="020B0604020202020204" pitchFamily="34" charset="0"/>
              <a:buNone/>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en-US" altLang="zh-CN"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en-US" altLang="zh-CN"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buFont typeface="Arial" panose="020B0604020202020204" pitchFamily="34" charset="0"/>
              <a:buNone/>
            </a:pPr>
            <a:endParaRPr lang="zh-CN" altLang="en-US" sz="2400" b="1" dirty="0">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27"/>
                                        </p:tgtEl>
                                        <p:attrNameLst>
                                          <p:attrName>style.visibility</p:attrName>
                                        </p:attrNameLst>
                                      </p:cBhvr>
                                      <p:to>
                                        <p:strVal val="visible"/>
                                      </p:to>
                                    </p:set>
                                    <p:anim calcmode="lin" valueType="num">
                                      <p:cBhvr additive="base">
                                        <p:cTn id="7" dur="500" fill="hold"/>
                                        <p:tgtEl>
                                          <p:spTgt spid="9227"/>
                                        </p:tgtEl>
                                        <p:attrNameLst>
                                          <p:attrName>ppt_x</p:attrName>
                                        </p:attrNameLst>
                                      </p:cBhvr>
                                      <p:tavLst>
                                        <p:tav tm="0">
                                          <p:val>
                                            <p:strVal val="#ppt_x"/>
                                          </p:val>
                                        </p:tav>
                                        <p:tav tm="100000">
                                          <p:val>
                                            <p:strVal val="#ppt_x"/>
                                          </p:val>
                                        </p:tav>
                                      </p:tavLst>
                                    </p:anim>
                                    <p:anim calcmode="lin" valueType="num">
                                      <p:cBhvr additive="base">
                                        <p:cTn id="8" dur="500" fill="hold"/>
                                        <p:tgtEl>
                                          <p:spTgt spid="92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7"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矩形 4">
            <a:extLst>
              <a:ext uri="{FF2B5EF4-FFF2-40B4-BE49-F238E27FC236}">
                <a16:creationId xmlns:a16="http://schemas.microsoft.com/office/drawing/2014/main" id="{FF433EF1-57DE-4E9F-A2EC-5CD3F35DE90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0243" name="TextBox 5">
            <a:extLst>
              <a:ext uri="{FF2B5EF4-FFF2-40B4-BE49-F238E27FC236}">
                <a16:creationId xmlns:a16="http://schemas.microsoft.com/office/drawing/2014/main" id="{54741B6C-24BC-491D-9E1F-6D57AA9E9E86}"/>
              </a:ext>
            </a:extLst>
          </p:cNvPr>
          <p:cNvSpPr>
            <a:spLocks noChangeArrowheads="1"/>
          </p:cNvSpPr>
          <p:nvPr/>
        </p:nvSpPr>
        <p:spPr bwMode="auto">
          <a:xfrm>
            <a:off x="755650"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金属应变式传感器</a:t>
            </a:r>
            <a:endParaRPr lang="zh-CN" altLang="en-US" sz="1800">
              <a:latin typeface="黑体" panose="02010609060101010101" pitchFamily="49" charset="-122"/>
              <a:ea typeface="黑体" panose="02010609060101010101" pitchFamily="49" charset="-122"/>
            </a:endParaRPr>
          </a:p>
        </p:txBody>
      </p:sp>
      <p:sp>
        <p:nvSpPr>
          <p:cNvPr id="10244" name="Text Box 4">
            <a:extLst>
              <a:ext uri="{FF2B5EF4-FFF2-40B4-BE49-F238E27FC236}">
                <a16:creationId xmlns:a16="http://schemas.microsoft.com/office/drawing/2014/main" id="{71EF053E-A9F0-4977-AEB6-42B24361B87E}"/>
              </a:ext>
            </a:extLst>
          </p:cNvPr>
          <p:cNvSpPr>
            <a:spLocks noChangeArrowheads="1"/>
          </p:cNvSpPr>
          <p:nvPr/>
        </p:nvSpPr>
        <p:spPr bwMode="auto">
          <a:xfrm>
            <a:off x="393700" y="1254125"/>
            <a:ext cx="835501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核心元件是金属应变片，它可将试件上的</a:t>
            </a: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变化转换为</a:t>
            </a: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电阻</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变化。</a:t>
            </a:r>
          </a:p>
          <a:p>
            <a:pPr eaLnBrk="1" hangingPunct="1">
              <a:spcBef>
                <a:spcPct val="0"/>
              </a:spcBef>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dirty="0">
                <a:latin typeface="微软雅黑" panose="020B0503020204020204" pitchFamily="34" charset="-122"/>
                <a:ea typeface="微软雅黑" panose="020B0503020204020204" pitchFamily="34" charset="-122"/>
                <a:sym typeface="Arial" panose="020B0604020202020204" pitchFamily="34" charset="0"/>
              </a:rPr>
              <a:t>应用时将应变片粘贴在被测试件表面。当试件受力变形时，应变片的</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敏感栅</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也随同变形，引起应变片的</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阻值变化</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，通过测量电路将其</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转换为电压或电流</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信号输出。</a:t>
            </a:r>
            <a:endParaRPr lang="zh-CN" altLang="en-US" sz="1800" dirty="0">
              <a:latin typeface="微软雅黑" panose="020B0503020204020204" pitchFamily="34" charset="-122"/>
              <a:ea typeface="微软雅黑" panose="020B0503020204020204" pitchFamily="34" charset="-122"/>
            </a:endParaRPr>
          </a:p>
        </p:txBody>
      </p:sp>
      <p:sp>
        <p:nvSpPr>
          <p:cNvPr id="10245" name="灯片编号占位符 3">
            <a:extLst>
              <a:ext uri="{FF2B5EF4-FFF2-40B4-BE49-F238E27FC236}">
                <a16:creationId xmlns:a16="http://schemas.microsoft.com/office/drawing/2014/main" id="{0C2DB3C7-1086-4832-84A1-41ACE72F3C8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381F37D0-9769-448F-9715-FF41C997712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a:t>
            </a:fld>
            <a:endParaRPr lang="en-US" altLang="zh-CN" sz="1400">
              <a:solidFill>
                <a:srgbClr val="000000"/>
              </a:solidFill>
              <a:latin typeface="Arial" panose="020B0604020202020204" pitchFamily="34" charset="0"/>
            </a:endParaRPr>
          </a:p>
        </p:txBody>
      </p:sp>
      <p:pic>
        <p:nvPicPr>
          <p:cNvPr id="10247" name="Picture 7">
            <a:extLst>
              <a:ext uri="{FF2B5EF4-FFF2-40B4-BE49-F238E27FC236}">
                <a16:creationId xmlns:a16="http://schemas.microsoft.com/office/drawing/2014/main" id="{FD44D7A7-AFA9-4FBE-BC4C-040421708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3646488"/>
            <a:ext cx="2881312"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505DB19C-36AF-4051-85FC-333C83D05CB4}"/>
              </a:ext>
            </a:extLst>
          </p:cNvPr>
          <p:cNvPicPr>
            <a:picLocks noChangeAspect="1"/>
          </p:cNvPicPr>
          <p:nvPr/>
        </p:nvPicPr>
        <p:blipFill>
          <a:blip r:embed="rId3"/>
          <a:stretch>
            <a:fillRect/>
          </a:stretch>
        </p:blipFill>
        <p:spPr>
          <a:xfrm>
            <a:off x="1217358" y="3681351"/>
            <a:ext cx="2962688" cy="2715004"/>
          </a:xfrm>
          <a:prstGeom prst="rect">
            <a:avLst/>
          </a:prstGeom>
        </p:spPr>
      </p:pic>
      <p:pic>
        <p:nvPicPr>
          <p:cNvPr id="2" name="图片 1">
            <a:extLst>
              <a:ext uri="{FF2B5EF4-FFF2-40B4-BE49-F238E27FC236}">
                <a16:creationId xmlns:a16="http://schemas.microsoft.com/office/drawing/2014/main" id="{2BD37DA7-5F04-4FBE-88A3-AFAB6DD29D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6975" y="1277937"/>
            <a:ext cx="4003675"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矩形 4">
            <a:extLst>
              <a:ext uri="{FF2B5EF4-FFF2-40B4-BE49-F238E27FC236}">
                <a16:creationId xmlns:a16="http://schemas.microsoft.com/office/drawing/2014/main" id="{C2026157-4576-4A75-8C02-057E818059E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1267" name="TextBox 5">
            <a:extLst>
              <a:ext uri="{FF2B5EF4-FFF2-40B4-BE49-F238E27FC236}">
                <a16:creationId xmlns:a16="http://schemas.microsoft.com/office/drawing/2014/main" id="{2D08D7FC-5C71-41F0-AE23-0ACD2C77C81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应变效应</a:t>
            </a:r>
            <a:endParaRPr lang="zh-CN" altLang="en-US" sz="1800">
              <a:latin typeface="黑体" panose="02010609060101010101" pitchFamily="49" charset="-122"/>
              <a:ea typeface="黑体" panose="02010609060101010101" pitchFamily="49" charset="-122"/>
            </a:endParaRPr>
          </a:p>
        </p:txBody>
      </p:sp>
      <p:sp>
        <p:nvSpPr>
          <p:cNvPr id="11268" name="Rectangle 5">
            <a:extLst>
              <a:ext uri="{FF2B5EF4-FFF2-40B4-BE49-F238E27FC236}">
                <a16:creationId xmlns:a16="http://schemas.microsoft.com/office/drawing/2014/main" id="{DD8416A5-FB9A-4299-AD3B-E8F7A9C2C27C}"/>
              </a:ext>
            </a:extLst>
          </p:cNvPr>
          <p:cNvSpPr>
            <a:spLocks noChangeArrowheads="1"/>
          </p:cNvSpPr>
          <p:nvPr/>
        </p:nvSpPr>
        <p:spPr bwMode="auto">
          <a:xfrm>
            <a:off x="468313" y="1196975"/>
            <a:ext cx="8066087"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b="1">
                <a:solidFill>
                  <a:srgbClr val="FF0000"/>
                </a:solidFill>
                <a:latin typeface="微软雅黑" panose="020B0503020204020204" pitchFamily="34" charset="-122"/>
                <a:ea typeface="微软雅黑" panose="020B0503020204020204" pitchFamily="34" charset="-122"/>
                <a:sym typeface="楷体_GB2312" pitchFamily="49" charset="-122"/>
              </a:rPr>
              <a:t>定义：</a:t>
            </a:r>
            <a:endParaRPr lang="en-US" altLang="zh-CN" sz="2400" b="1">
              <a:solidFill>
                <a:srgbClr val="FF0000"/>
              </a:solidFill>
              <a:latin typeface="微软雅黑" panose="020B0503020204020204" pitchFamily="34" charset="-122"/>
              <a:ea typeface="微软雅黑" panose="020B0503020204020204" pitchFamily="34" charset="-122"/>
              <a:sym typeface="楷体_GB2312" pitchFamily="49" charset="-122"/>
            </a:endParaRPr>
          </a:p>
          <a:p>
            <a:pPr>
              <a:spcBef>
                <a:spcPct val="0"/>
              </a:spcBef>
              <a:buFont typeface="Arial" panose="020B0604020202020204" pitchFamily="34" charset="0"/>
              <a:buNone/>
            </a:pPr>
            <a:r>
              <a:rPr lang="en-US" altLang="zh-CN" sz="2400">
                <a:solidFill>
                  <a:schemeClr val="tx2"/>
                </a:solidFill>
                <a:latin typeface="微软雅黑" panose="020B0503020204020204" pitchFamily="34" charset="-122"/>
                <a:ea typeface="微软雅黑" panose="020B0503020204020204" pitchFamily="34" charset="-122"/>
                <a:sym typeface="楷体_GB2312" pitchFamily="49" charset="-122"/>
              </a:rPr>
              <a:t>       </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金属丝的电阻随着它所受的机械形变（</a:t>
            </a:r>
            <a:r>
              <a:rPr lang="zh-CN" altLang="en-US" sz="2400" b="1">
                <a:solidFill>
                  <a:srgbClr val="CC0000"/>
                </a:solidFill>
                <a:latin typeface="微软雅黑" panose="020B0503020204020204" pitchFamily="34" charset="-122"/>
                <a:ea typeface="微软雅黑" panose="020B0503020204020204" pitchFamily="34" charset="-122"/>
                <a:sym typeface="楷体_GB2312" pitchFamily="49" charset="-122"/>
              </a:rPr>
              <a:t>拉伸或压缩</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）的大小而发生相应变化的现象称为金属的电阻应变效应。</a:t>
            </a:r>
          </a:p>
          <a:p>
            <a:pPr>
              <a:spcBef>
                <a:spcPct val="0"/>
              </a:spcBef>
              <a:buFont typeface="Arial" panose="020B0604020202020204" pitchFamily="34" charset="0"/>
              <a:buNone/>
            </a:pPr>
            <a:endPar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endParaRPr>
          </a:p>
          <a:p>
            <a:pPr>
              <a:spcBef>
                <a:spcPct val="0"/>
              </a:spcBef>
              <a:buFont typeface="Arial" panose="020B0604020202020204" pitchFamily="34" charset="0"/>
              <a:buNone/>
            </a:pPr>
            <a:r>
              <a:rPr lang="zh-CN" altLang="en-US" sz="2400">
                <a:solidFill>
                  <a:srgbClr val="FF0000"/>
                </a:solidFill>
                <a:latin typeface="微软雅黑" panose="020B0503020204020204" pitchFamily="34" charset="-122"/>
                <a:ea typeface="微软雅黑" panose="020B0503020204020204" pitchFamily="34" charset="-122"/>
                <a:sym typeface="楷体_GB2312" pitchFamily="49" charset="-122"/>
              </a:rPr>
              <a:t>原理：</a:t>
            </a:r>
          </a:p>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      设有一根长度为l、截面积为S、电阻率为ρ的</a:t>
            </a:r>
            <a:r>
              <a:rPr lang="zh-CN" altLang="en-US" sz="2400">
                <a:solidFill>
                  <a:srgbClr val="FF0000"/>
                </a:solidFill>
                <a:latin typeface="微软雅黑" panose="020B0503020204020204" pitchFamily="34" charset="-122"/>
                <a:ea typeface="微软雅黑" panose="020B0503020204020204" pitchFamily="34" charset="-122"/>
                <a:sym typeface="宋体" panose="02010600030101010101" pitchFamily="2" charset="-122"/>
              </a:rPr>
              <a:t>金属丝</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，其电阻</a:t>
            </a:r>
            <a:r>
              <a:rPr lang="zh-CN" altLang="en-US" sz="2400" i="1">
                <a:solidFill>
                  <a:srgbClr val="000000"/>
                </a:solidFill>
                <a:latin typeface="微软雅黑" panose="020B0503020204020204" pitchFamily="34" charset="-122"/>
                <a:ea typeface="微软雅黑" panose="020B0503020204020204" pitchFamily="34" charset="-122"/>
                <a:sym typeface="宋体" panose="02010600030101010101" pitchFamily="2" charset="-122"/>
              </a:rPr>
              <a:t>R </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为：</a:t>
            </a: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      等式两边取对数，两边再微分：</a:t>
            </a:r>
            <a:endParaRPr lang="zh-CN" altLang="en-US" sz="1800">
              <a:latin typeface="微软雅黑" panose="020B0503020204020204" pitchFamily="34" charset="-122"/>
              <a:ea typeface="微软雅黑" panose="020B0503020204020204" pitchFamily="34" charset="-122"/>
            </a:endParaRPr>
          </a:p>
        </p:txBody>
      </p:sp>
      <p:pic>
        <p:nvPicPr>
          <p:cNvPr id="11269" name="Object 6">
            <a:extLst>
              <a:ext uri="{FF2B5EF4-FFF2-40B4-BE49-F238E27FC236}">
                <a16:creationId xmlns:a16="http://schemas.microsoft.com/office/drawing/2014/main" id="{E8377F30-BA21-4217-A041-F1823ACFCD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1163" y="3505200"/>
            <a:ext cx="1081087"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Text Box 4">
            <a:extLst>
              <a:ext uri="{FF2B5EF4-FFF2-40B4-BE49-F238E27FC236}">
                <a16:creationId xmlns:a16="http://schemas.microsoft.com/office/drawing/2014/main" id="{0490448D-BC23-4ECC-A30D-96E69D61F2CD}"/>
              </a:ext>
            </a:extLst>
          </p:cNvPr>
          <p:cNvSpPr>
            <a:spLocks noChangeArrowheads="1"/>
          </p:cNvSpPr>
          <p:nvPr/>
        </p:nvSpPr>
        <p:spPr bwMode="auto">
          <a:xfrm>
            <a:off x="1187450" y="5495925"/>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轴向应变：</a:t>
            </a:r>
            <a:endParaRPr lang="zh-CN" altLang="en-US" sz="1800">
              <a:latin typeface="微软雅黑" panose="020B0503020204020204" pitchFamily="34" charset="-122"/>
              <a:ea typeface="微软雅黑" panose="020B0503020204020204" pitchFamily="34" charset="-122"/>
            </a:endParaRPr>
          </a:p>
        </p:txBody>
      </p:sp>
      <p:pic>
        <p:nvPicPr>
          <p:cNvPr id="11272" name="Object 8">
            <a:extLst>
              <a:ext uri="{FF2B5EF4-FFF2-40B4-BE49-F238E27FC236}">
                <a16:creationId xmlns:a16="http://schemas.microsoft.com/office/drawing/2014/main" id="{BBD99EE7-F88C-4B1A-A7E3-95AA230040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8013" y="5268913"/>
            <a:ext cx="11969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3" name="Object 9">
            <a:extLst>
              <a:ext uri="{FF2B5EF4-FFF2-40B4-BE49-F238E27FC236}">
                <a16:creationId xmlns:a16="http://schemas.microsoft.com/office/drawing/2014/main" id="{4402ECAB-89D6-4919-BE37-0BA58BB8EE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8288" y="5230813"/>
            <a:ext cx="1042987" cy="94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4" name="Text Box 7">
            <a:extLst>
              <a:ext uri="{FF2B5EF4-FFF2-40B4-BE49-F238E27FC236}">
                <a16:creationId xmlns:a16="http://schemas.microsoft.com/office/drawing/2014/main" id="{BFEE8B8D-80C7-4393-A72E-5D972A65273C}"/>
              </a:ext>
            </a:extLst>
          </p:cNvPr>
          <p:cNvSpPr>
            <a:spLocks noChangeArrowheads="1"/>
          </p:cNvSpPr>
          <p:nvPr/>
        </p:nvSpPr>
        <p:spPr bwMode="auto">
          <a:xfrm>
            <a:off x="4157663" y="5499100"/>
            <a:ext cx="1484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横向应变：</a:t>
            </a:r>
            <a:endParaRPr lang="zh-CN" altLang="en-US" sz="1800">
              <a:latin typeface="微软雅黑" panose="020B0503020204020204" pitchFamily="34" charset="-122"/>
              <a:ea typeface="微软雅黑" panose="020B0503020204020204" pitchFamily="34" charset="-122"/>
            </a:endParaRPr>
          </a:p>
        </p:txBody>
      </p:sp>
      <p:pic>
        <p:nvPicPr>
          <p:cNvPr id="5" name="Object 11">
            <a:extLst>
              <a:ext uri="{FF2B5EF4-FFF2-40B4-BE49-F238E27FC236}">
                <a16:creationId xmlns:a16="http://schemas.microsoft.com/office/drawing/2014/main" id="{DDED235A-A5F9-4615-BA32-BDB567DC4E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0063" y="4273550"/>
            <a:ext cx="244792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5" name="灯片编号占位符 3">
            <a:extLst>
              <a:ext uri="{FF2B5EF4-FFF2-40B4-BE49-F238E27FC236}">
                <a16:creationId xmlns:a16="http://schemas.microsoft.com/office/drawing/2014/main" id="{51346321-57BA-40C6-BD1B-47C0369C03B9}"/>
              </a:ext>
            </a:extLst>
          </p:cNvPr>
          <p:cNvSpPr>
            <a:spLocks noGrp="1" noChangeArrowheads="1"/>
          </p:cNvSpPr>
          <p:nvPr/>
        </p:nvSpPr>
        <p:spPr bwMode="auto">
          <a:xfrm>
            <a:off x="7269163"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6951D5B-7CB1-490B-B98E-98C52E77E40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9</a:t>
            </a:fld>
            <a:endParaRPr lang="en-US" altLang="zh-CN" sz="1400">
              <a:solidFill>
                <a:srgbClr val="000000"/>
              </a:solidFill>
              <a:latin typeface="Arial" panose="020B0604020202020204" pitchFamily="34" charset="0"/>
            </a:endParaRPr>
          </a:p>
        </p:txBody>
      </p:sp>
      <p:sp>
        <p:nvSpPr>
          <p:cNvPr id="2" name="文本框 1">
            <a:extLst>
              <a:ext uri="{FF2B5EF4-FFF2-40B4-BE49-F238E27FC236}">
                <a16:creationId xmlns:a16="http://schemas.microsoft.com/office/drawing/2014/main" id="{20CE80DA-2580-4B81-947F-A30A5CCD9517}"/>
              </a:ext>
            </a:extLst>
          </p:cNvPr>
          <p:cNvSpPr txBox="1">
            <a:spLocks noRot="1" noChangeAspect="1" noMove="1" noResize="1" noEditPoints="1" noAdjustHandles="1" noChangeArrowheads="1" noChangeShapeType="1" noTextEdit="1"/>
          </p:cNvSpPr>
          <p:nvPr/>
        </p:nvSpPr>
        <p:spPr>
          <a:xfrm>
            <a:off x="6931216" y="5320190"/>
            <a:ext cx="1337450" cy="846770"/>
          </a:xfrm>
          <a:prstGeom prst="rect">
            <a:avLst/>
          </a:prstGeom>
          <a:blipFill>
            <a:blip r:embed="rId6"/>
            <a:stretch>
              <a:fillRect/>
            </a:stretch>
          </a:blipFill>
        </p:spPr>
        <p:txBody>
          <a:bodyPr/>
          <a:lstStyle/>
          <a:p>
            <a:pPr>
              <a:defRPr/>
            </a:pPr>
            <a:r>
              <a:rPr lang="zh-CN" altLang="en-US">
                <a:noFill/>
              </a:rPr>
              <a:t> </a:t>
            </a:r>
          </a:p>
        </p:txBody>
      </p:sp>
      <p:sp>
        <p:nvSpPr>
          <p:cNvPr id="3" name="右大括号 2">
            <a:extLst>
              <a:ext uri="{FF2B5EF4-FFF2-40B4-BE49-F238E27FC236}">
                <a16:creationId xmlns:a16="http://schemas.microsoft.com/office/drawing/2014/main" id="{1F05C63D-A24D-4DA0-B538-5004A11AB3CD}"/>
              </a:ext>
            </a:extLst>
          </p:cNvPr>
          <p:cNvSpPr>
            <a:spLocks/>
          </p:cNvSpPr>
          <p:nvPr/>
        </p:nvSpPr>
        <p:spPr bwMode="auto">
          <a:xfrm rot="-5400000">
            <a:off x="7368381" y="3764757"/>
            <a:ext cx="287337" cy="768350"/>
          </a:xfrm>
          <a:prstGeom prst="rightBrace">
            <a:avLst>
              <a:gd name="adj1" fmla="val 8344"/>
              <a:gd name="adj2" fmla="val 50000"/>
            </a:avLst>
          </a:prstGeom>
          <a:noFill/>
          <a:ln w="158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15" name="右大括号 14">
            <a:extLst>
              <a:ext uri="{FF2B5EF4-FFF2-40B4-BE49-F238E27FC236}">
                <a16:creationId xmlns:a16="http://schemas.microsoft.com/office/drawing/2014/main" id="{0183DD30-BAA0-436A-A749-3BDCFD122F9E}"/>
              </a:ext>
            </a:extLst>
          </p:cNvPr>
          <p:cNvSpPr>
            <a:spLocks/>
          </p:cNvSpPr>
          <p:nvPr/>
        </p:nvSpPr>
        <p:spPr bwMode="auto">
          <a:xfrm rot="-5400000">
            <a:off x="6403442" y="3916363"/>
            <a:ext cx="287337" cy="465138"/>
          </a:xfrm>
          <a:prstGeom prst="rightBrace">
            <a:avLst>
              <a:gd name="adj1" fmla="val 8356"/>
              <a:gd name="adj2" fmla="val 50000"/>
            </a:avLst>
          </a:prstGeom>
          <a:noFill/>
          <a:ln w="158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4" name="矩形 3">
            <a:extLst>
              <a:ext uri="{FF2B5EF4-FFF2-40B4-BE49-F238E27FC236}">
                <a16:creationId xmlns:a16="http://schemas.microsoft.com/office/drawing/2014/main" id="{73FD38AA-6280-45EA-836B-DD76661FB585}"/>
              </a:ext>
            </a:extLst>
          </p:cNvPr>
          <p:cNvSpPr>
            <a:spLocks noChangeArrowheads="1"/>
          </p:cNvSpPr>
          <p:nvPr/>
        </p:nvSpPr>
        <p:spPr bwMode="auto">
          <a:xfrm>
            <a:off x="7207250" y="3430588"/>
            <a:ext cx="646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1800">
                <a:solidFill>
                  <a:srgbClr val="FF0000"/>
                </a:solidFill>
                <a:latin typeface="微软雅黑" panose="020B0503020204020204" pitchFamily="34" charset="-122"/>
                <a:ea typeface="微软雅黑" panose="020B0503020204020204" pitchFamily="34" charset="-122"/>
                <a:sym typeface="宋体" panose="02010600030101010101" pitchFamily="2" charset="-122"/>
              </a:rPr>
              <a:t>应变</a:t>
            </a:r>
            <a:endParaRPr lang="en-US" altLang="zh-CN" sz="180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Tx/>
              <a:buNone/>
            </a:pPr>
            <a:r>
              <a:rPr lang="zh-CN" altLang="en-US" sz="180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sz="1800"/>
          </a:p>
        </p:txBody>
      </p:sp>
      <p:sp>
        <p:nvSpPr>
          <p:cNvPr id="17" name="矩形 16">
            <a:extLst>
              <a:ext uri="{FF2B5EF4-FFF2-40B4-BE49-F238E27FC236}">
                <a16:creationId xmlns:a16="http://schemas.microsoft.com/office/drawing/2014/main" id="{0406861D-9B4B-482B-A044-E77909CDD1CE}"/>
              </a:ext>
            </a:extLst>
          </p:cNvPr>
          <p:cNvSpPr>
            <a:spLocks noChangeArrowheads="1"/>
          </p:cNvSpPr>
          <p:nvPr/>
        </p:nvSpPr>
        <p:spPr bwMode="auto">
          <a:xfrm>
            <a:off x="6217070" y="3430588"/>
            <a:ext cx="646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18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压阻</a:t>
            </a:r>
            <a:endParaRPr lang="en-US" altLang="zh-CN" sz="18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spcBef>
                <a:spcPct val="0"/>
              </a:spcBef>
              <a:buFontTx/>
              <a:buNone/>
            </a:pPr>
            <a:r>
              <a:rPr lang="zh-CN" altLang="en-US" sz="18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71"/>
                                        </p:tgtEl>
                                        <p:attrNameLst>
                                          <p:attrName>style.visibility</p:attrName>
                                        </p:attrNameLst>
                                      </p:cBhvr>
                                      <p:to>
                                        <p:strVal val="visible"/>
                                      </p:to>
                                    </p:set>
                                    <p:anim calcmode="lin" valueType="num">
                                      <p:cBhvr additive="base">
                                        <p:cTn id="25" dur="500" fill="hold"/>
                                        <p:tgtEl>
                                          <p:spTgt spid="11271"/>
                                        </p:tgtEl>
                                        <p:attrNameLst>
                                          <p:attrName>ppt_x</p:attrName>
                                        </p:attrNameLst>
                                      </p:cBhvr>
                                      <p:tavLst>
                                        <p:tav tm="0">
                                          <p:val>
                                            <p:strVal val="#ppt_x"/>
                                          </p:val>
                                        </p:tav>
                                        <p:tav tm="100000">
                                          <p:val>
                                            <p:strVal val="#ppt_x"/>
                                          </p:val>
                                        </p:tav>
                                      </p:tavLst>
                                    </p:anim>
                                    <p:anim calcmode="lin" valueType="num">
                                      <p:cBhvr additive="base">
                                        <p:cTn id="26" dur="500" fill="hold"/>
                                        <p:tgtEl>
                                          <p:spTgt spid="11271"/>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273"/>
                                        </p:tgtEl>
                                        <p:attrNameLst>
                                          <p:attrName>style.visibility</p:attrName>
                                        </p:attrNameLst>
                                      </p:cBhvr>
                                      <p:to>
                                        <p:strVal val="visible"/>
                                      </p:to>
                                    </p:set>
                                    <p:anim calcmode="lin" valueType="num">
                                      <p:cBhvr additive="base">
                                        <p:cTn id="29" dur="500" fill="hold"/>
                                        <p:tgtEl>
                                          <p:spTgt spid="11273"/>
                                        </p:tgtEl>
                                        <p:attrNameLst>
                                          <p:attrName>ppt_x</p:attrName>
                                        </p:attrNameLst>
                                      </p:cBhvr>
                                      <p:tavLst>
                                        <p:tav tm="0">
                                          <p:val>
                                            <p:strVal val="#ppt_x"/>
                                          </p:val>
                                        </p:tav>
                                        <p:tav tm="100000">
                                          <p:val>
                                            <p:strVal val="#ppt_x"/>
                                          </p:val>
                                        </p:tav>
                                      </p:tavLst>
                                    </p:anim>
                                    <p:anim calcmode="lin" valueType="num">
                                      <p:cBhvr additive="base">
                                        <p:cTn id="30" dur="500" fill="hold"/>
                                        <p:tgtEl>
                                          <p:spTgt spid="1127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1274"/>
                                        </p:tgtEl>
                                        <p:attrNameLst>
                                          <p:attrName>style.visibility</p:attrName>
                                        </p:attrNameLst>
                                      </p:cBhvr>
                                      <p:to>
                                        <p:strVal val="visible"/>
                                      </p:to>
                                    </p:set>
                                    <p:anim calcmode="lin" valueType="num">
                                      <p:cBhvr additive="base">
                                        <p:cTn id="33" dur="500" fill="hold"/>
                                        <p:tgtEl>
                                          <p:spTgt spid="11274"/>
                                        </p:tgtEl>
                                        <p:attrNameLst>
                                          <p:attrName>ppt_x</p:attrName>
                                        </p:attrNameLst>
                                      </p:cBhvr>
                                      <p:tavLst>
                                        <p:tav tm="0">
                                          <p:val>
                                            <p:strVal val="#ppt_x"/>
                                          </p:val>
                                        </p:tav>
                                        <p:tav tm="100000">
                                          <p:val>
                                            <p:strVal val="#ppt_x"/>
                                          </p:val>
                                        </p:tav>
                                      </p:tavLst>
                                    </p:anim>
                                    <p:anim calcmode="lin" valueType="num">
                                      <p:cBhvr additive="base">
                                        <p:cTn id="34" dur="500" fill="hold"/>
                                        <p:tgtEl>
                                          <p:spTgt spid="11274"/>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1272"/>
                                        </p:tgtEl>
                                        <p:attrNameLst>
                                          <p:attrName>style.visibility</p:attrName>
                                        </p:attrNameLst>
                                      </p:cBhvr>
                                      <p:to>
                                        <p:strVal val="visible"/>
                                      </p:to>
                                    </p:set>
                                    <p:anim calcmode="lin" valueType="num">
                                      <p:cBhvr additive="base">
                                        <p:cTn id="37" dur="500" fill="hold"/>
                                        <p:tgtEl>
                                          <p:spTgt spid="11272"/>
                                        </p:tgtEl>
                                        <p:attrNameLst>
                                          <p:attrName>ppt_x</p:attrName>
                                        </p:attrNameLst>
                                      </p:cBhvr>
                                      <p:tavLst>
                                        <p:tav tm="0">
                                          <p:val>
                                            <p:strVal val="#ppt_x"/>
                                          </p:val>
                                        </p:tav>
                                        <p:tav tm="100000">
                                          <p:val>
                                            <p:strVal val="#ppt_x"/>
                                          </p:val>
                                        </p:tav>
                                      </p:tavLst>
                                    </p:anim>
                                    <p:anim calcmode="lin" valueType="num">
                                      <p:cBhvr additive="base">
                                        <p:cTn id="38" dur="500" fill="hold"/>
                                        <p:tgtEl>
                                          <p:spTgt spid="11272"/>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additive="base">
                                        <p:cTn id="41" dur="500" fill="hold"/>
                                        <p:tgtEl>
                                          <p:spTgt spid="2"/>
                                        </p:tgtEl>
                                        <p:attrNameLst>
                                          <p:attrName>ppt_x</p:attrName>
                                        </p:attrNameLst>
                                      </p:cBhvr>
                                      <p:tavLst>
                                        <p:tav tm="0">
                                          <p:val>
                                            <p:strVal val="#ppt_x"/>
                                          </p:val>
                                        </p:tav>
                                        <p:tav tm="100000">
                                          <p:val>
                                            <p:strVal val="#ppt_x"/>
                                          </p:val>
                                        </p:tav>
                                      </p:tavLst>
                                    </p:anim>
                                    <p:anim calcmode="lin" valueType="num">
                                      <p:cBhvr additive="base">
                                        <p:cTn id="4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 grpId="0"/>
      <p:bldP spid="11274" grpId="0"/>
      <p:bldP spid="3" grpId="0" animBg="1"/>
      <p:bldP spid="15" grpId="0" animBg="1"/>
      <p:bldP spid="4" grpId="0"/>
      <p:bldP spid="1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CB8F7F2F-9CC2-46DD-9759-B5E1EA798D72}"/>
              </a:ext>
            </a:extLst>
          </p:cNvPr>
          <p:cNvSpPr/>
          <p:nvPr/>
        </p:nvSpPr>
        <p:spPr bwMode="auto">
          <a:xfrm>
            <a:off x="1619250" y="5673725"/>
            <a:ext cx="6408738" cy="708025"/>
          </a:xfrm>
          <a:prstGeom prst="roundRect">
            <a:avLst/>
          </a:prstGeom>
          <a:solidFill>
            <a:schemeClr val="bg2">
              <a:lumMod val="90000"/>
            </a:schemeClr>
          </a:solidFill>
          <a:ln w="9525" cap="flat" cmpd="sng" algn="ctr">
            <a:solidFill>
              <a:schemeClr val="tx1"/>
            </a:solidFill>
            <a:prstDash val="solid"/>
            <a:round/>
            <a:headEnd type="none" w="med" len="med"/>
            <a:tailEnd type="none" w="med" len="med"/>
          </a:ln>
        </p:spPr>
        <p:txBody>
          <a:bodyPr/>
          <a:lstStyle/>
          <a:p>
            <a:pPr>
              <a:buFont typeface="Arial" pitchFamily="34" charset="0"/>
              <a:buNone/>
              <a:defRPr/>
            </a:pPr>
            <a:endParaRPr lang="zh-CN" altLang="en-US">
              <a:latin typeface="Arial" pitchFamily="34" charset="0"/>
            </a:endParaRPr>
          </a:p>
        </p:txBody>
      </p:sp>
      <p:sp>
        <p:nvSpPr>
          <p:cNvPr id="12291" name="矩形 4">
            <a:extLst>
              <a:ext uri="{FF2B5EF4-FFF2-40B4-BE49-F238E27FC236}">
                <a16:creationId xmlns:a16="http://schemas.microsoft.com/office/drawing/2014/main" id="{80804FB8-66F4-4EC8-BF29-60C6DF847C7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2292" name="Text Box 8">
            <a:extLst>
              <a:ext uri="{FF2B5EF4-FFF2-40B4-BE49-F238E27FC236}">
                <a16:creationId xmlns:a16="http://schemas.microsoft.com/office/drawing/2014/main" id="{2B288CA4-2546-419A-BE58-F45CE546FCA5}"/>
              </a:ext>
            </a:extLst>
          </p:cNvPr>
          <p:cNvSpPr>
            <a:spLocks noChangeArrowheads="1"/>
          </p:cNvSpPr>
          <p:nvPr/>
        </p:nvSpPr>
        <p:spPr bwMode="auto">
          <a:xfrm>
            <a:off x="836613" y="1177925"/>
            <a:ext cx="211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在弹性范围内：</a:t>
            </a:r>
            <a:endParaRPr lang="zh-CN" altLang="en-US" sz="1800">
              <a:latin typeface="微软雅黑" panose="020B0503020204020204" pitchFamily="34" charset="-122"/>
              <a:ea typeface="微软雅黑" panose="020B0503020204020204" pitchFamily="34" charset="-122"/>
            </a:endParaRPr>
          </a:p>
        </p:txBody>
      </p:sp>
      <p:pic>
        <p:nvPicPr>
          <p:cNvPr id="12293" name="Object 4">
            <a:extLst>
              <a:ext uri="{FF2B5EF4-FFF2-40B4-BE49-F238E27FC236}">
                <a16:creationId xmlns:a16="http://schemas.microsoft.com/office/drawing/2014/main" id="{C53B2BF3-1171-436C-90E6-71CB57548B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2938" y="1962150"/>
            <a:ext cx="309562"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Text Box 10">
            <a:extLst>
              <a:ext uri="{FF2B5EF4-FFF2-40B4-BE49-F238E27FC236}">
                <a16:creationId xmlns:a16="http://schemas.microsoft.com/office/drawing/2014/main" id="{1E1EE94A-0109-4213-AD45-6D316C7535DE}"/>
              </a:ext>
            </a:extLst>
          </p:cNvPr>
          <p:cNvSpPr>
            <a:spLocks noChangeArrowheads="1"/>
          </p:cNvSpPr>
          <p:nvPr/>
        </p:nvSpPr>
        <p:spPr bwMode="auto">
          <a:xfrm>
            <a:off x="4752975" y="1898650"/>
            <a:ext cx="211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泊松比</a:t>
            </a:r>
            <a:endParaRPr lang="zh-CN" altLang="en-US" sz="1800">
              <a:latin typeface="微软雅黑" panose="020B0503020204020204" pitchFamily="34" charset="-122"/>
              <a:ea typeface="微软雅黑" panose="020B0503020204020204" pitchFamily="34" charset="-122"/>
            </a:endParaRPr>
          </a:p>
        </p:txBody>
      </p:sp>
      <p:pic>
        <p:nvPicPr>
          <p:cNvPr id="12295" name="Object 6">
            <a:extLst>
              <a:ext uri="{FF2B5EF4-FFF2-40B4-BE49-F238E27FC236}">
                <a16:creationId xmlns:a16="http://schemas.microsoft.com/office/drawing/2014/main" id="{070164C7-3DE2-4615-AF7A-9740C5DE5D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050" y="1773238"/>
            <a:ext cx="15557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6" name="Text Box 13">
            <a:extLst>
              <a:ext uri="{FF2B5EF4-FFF2-40B4-BE49-F238E27FC236}">
                <a16:creationId xmlns:a16="http://schemas.microsoft.com/office/drawing/2014/main" id="{F730BA78-511F-4F28-B49A-EDFDB26A3011}"/>
              </a:ext>
            </a:extLst>
          </p:cNvPr>
          <p:cNvSpPr>
            <a:spLocks noChangeArrowheads="1"/>
          </p:cNvSpPr>
          <p:nvPr/>
        </p:nvSpPr>
        <p:spPr bwMode="auto">
          <a:xfrm>
            <a:off x="881063" y="2619375"/>
            <a:ext cx="355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另外又：</a:t>
            </a:r>
            <a:endParaRPr lang="zh-CN" altLang="en-US" sz="1800">
              <a:latin typeface="微软雅黑" panose="020B0503020204020204" pitchFamily="34" charset="-122"/>
              <a:ea typeface="微软雅黑" panose="020B0503020204020204" pitchFamily="34" charset="-122"/>
            </a:endParaRPr>
          </a:p>
        </p:txBody>
      </p:sp>
      <p:pic>
        <p:nvPicPr>
          <p:cNvPr id="12297" name="Object 8">
            <a:extLst>
              <a:ext uri="{FF2B5EF4-FFF2-40B4-BE49-F238E27FC236}">
                <a16:creationId xmlns:a16="http://schemas.microsoft.com/office/drawing/2014/main" id="{65E7D47C-9217-447F-B596-17AAAC8F34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8688" y="2568575"/>
            <a:ext cx="1260475" cy="71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Object 9">
            <a:extLst>
              <a:ext uri="{FF2B5EF4-FFF2-40B4-BE49-F238E27FC236}">
                <a16:creationId xmlns:a16="http://schemas.microsoft.com/office/drawing/2014/main" id="{38C8E062-9FA8-4B41-89A3-78D086E8ABD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3352800"/>
            <a:ext cx="5132388"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Object 10">
            <a:extLst>
              <a:ext uri="{FF2B5EF4-FFF2-40B4-BE49-F238E27FC236}">
                <a16:creationId xmlns:a16="http://schemas.microsoft.com/office/drawing/2014/main" id="{304A767F-E030-4ADD-8C87-158CE7FD60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7075" y="4240213"/>
            <a:ext cx="2592388" cy="71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0" name="Text Box 20">
            <a:extLst>
              <a:ext uri="{FF2B5EF4-FFF2-40B4-BE49-F238E27FC236}">
                <a16:creationId xmlns:a16="http://schemas.microsoft.com/office/drawing/2014/main" id="{8CAC1FEA-415B-4430-9DA2-1800A5EBFBC0}"/>
              </a:ext>
            </a:extLst>
          </p:cNvPr>
          <p:cNvSpPr>
            <a:spLocks noChangeArrowheads="1"/>
          </p:cNvSpPr>
          <p:nvPr/>
        </p:nvSpPr>
        <p:spPr bwMode="auto">
          <a:xfrm>
            <a:off x="927100" y="5094288"/>
            <a:ext cx="80372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将上述关系式整理后，得：</a:t>
            </a:r>
            <a:r>
              <a:rPr lang="zh-CN" altLang="en-US" sz="2400" dirty="0">
                <a:solidFill>
                  <a:srgbClr val="0000FF"/>
                </a:solidFill>
                <a:latin typeface="微软雅黑" panose="020B0503020204020204" pitchFamily="34" charset="-122"/>
                <a:ea typeface="微软雅黑" panose="020B0503020204020204" pitchFamily="34" charset="-122"/>
              </a:rPr>
              <a:t>电阻变化与轴向应变的关系</a:t>
            </a:r>
            <a:endParaRPr lang="zh-CN" altLang="en-US" sz="1800" dirty="0">
              <a:solidFill>
                <a:srgbClr val="0000FF"/>
              </a:solidFill>
              <a:latin typeface="微软雅黑" panose="020B0503020204020204" pitchFamily="34" charset="-122"/>
              <a:ea typeface="微软雅黑" panose="020B0503020204020204" pitchFamily="34" charset="-122"/>
            </a:endParaRPr>
          </a:p>
        </p:txBody>
      </p:sp>
      <p:pic>
        <p:nvPicPr>
          <p:cNvPr id="12301" name="Object 12">
            <a:extLst>
              <a:ext uri="{FF2B5EF4-FFF2-40B4-BE49-F238E27FC236}">
                <a16:creationId xmlns:a16="http://schemas.microsoft.com/office/drawing/2014/main" id="{9FBC0071-FEF4-4583-A249-FBE6C4F7AE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7538" y="5673725"/>
            <a:ext cx="6030912"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2" name="TextBox 5">
            <a:extLst>
              <a:ext uri="{FF2B5EF4-FFF2-40B4-BE49-F238E27FC236}">
                <a16:creationId xmlns:a16="http://schemas.microsoft.com/office/drawing/2014/main" id="{AA701678-B1AC-46C9-B4A8-D0281D4B01BC}"/>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应变效应</a:t>
            </a:r>
            <a:endParaRPr lang="zh-CN" altLang="en-US" sz="1800">
              <a:latin typeface="黑体" panose="02010609060101010101" pitchFamily="49" charset="-122"/>
              <a:ea typeface="黑体" panose="02010609060101010101" pitchFamily="49" charset="-122"/>
            </a:endParaRPr>
          </a:p>
        </p:txBody>
      </p:sp>
      <p:sp>
        <p:nvSpPr>
          <p:cNvPr id="12303" name="灯片编号占位符 3">
            <a:extLst>
              <a:ext uri="{FF2B5EF4-FFF2-40B4-BE49-F238E27FC236}">
                <a16:creationId xmlns:a16="http://schemas.microsoft.com/office/drawing/2014/main" id="{C9186E51-C319-46E3-85EA-7D23BEDAD7A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32A277B3-9E7F-4E90-947F-609CA1A60EE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10</a:t>
            </a:fld>
            <a:endParaRPr lang="en-US" altLang="zh-CN" sz="1400">
              <a:solidFill>
                <a:srgbClr val="000000"/>
              </a:solidFill>
              <a:latin typeface="Arial" panose="020B0604020202020204" pitchFamily="34" charset="0"/>
            </a:endParaRPr>
          </a:p>
        </p:txBody>
      </p:sp>
      <p:sp>
        <p:nvSpPr>
          <p:cNvPr id="12304" name="Text Box 10">
            <a:extLst>
              <a:ext uri="{FF2B5EF4-FFF2-40B4-BE49-F238E27FC236}">
                <a16:creationId xmlns:a16="http://schemas.microsoft.com/office/drawing/2014/main" id="{E53FB057-0800-461F-9525-C059FB9C7478}"/>
              </a:ext>
            </a:extLst>
          </p:cNvPr>
          <p:cNvSpPr>
            <a:spLocks noChangeArrowheads="1"/>
          </p:cNvSpPr>
          <p:nvPr/>
        </p:nvSpPr>
        <p:spPr bwMode="auto">
          <a:xfrm>
            <a:off x="4419600" y="2678113"/>
            <a:ext cx="43291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000" i="1">
                <a:latin typeface="微软雅黑" panose="020B0503020204020204" pitchFamily="34" charset="-122"/>
                <a:ea typeface="微软雅黑" panose="020B0503020204020204" pitchFamily="34" charset="-122"/>
              </a:rPr>
              <a:t>V</a:t>
            </a:r>
            <a:r>
              <a:rPr lang="zh-CN" altLang="en-US" sz="2000">
                <a:latin typeface="微软雅黑" panose="020B0503020204020204" pitchFamily="34" charset="-122"/>
                <a:ea typeface="微软雅黑" panose="020B0503020204020204" pitchFamily="34" charset="-122"/>
              </a:rPr>
              <a:t>：</a:t>
            </a:r>
            <a:r>
              <a:rPr lang="zh-CN" altLang="en-US" sz="2400">
                <a:latin typeface="微软雅黑" panose="020B0503020204020204" pitchFamily="34" charset="-122"/>
                <a:ea typeface="微软雅黑" panose="020B0503020204020204" pitchFamily="34" charset="-122"/>
              </a:rPr>
              <a:t>体积；</a:t>
            </a:r>
            <a:r>
              <a:rPr lang="zh-CN" altLang="en-US" sz="2000">
                <a:solidFill>
                  <a:srgbClr val="0000FF"/>
                </a:solidFill>
                <a:latin typeface="微软雅黑" panose="020B0503020204020204" pitchFamily="34" charset="-122"/>
                <a:ea typeface="微软雅黑" panose="020B0503020204020204" pitchFamily="34" charset="-122"/>
              </a:rPr>
              <a:t>电阻率变化</a:t>
            </a:r>
            <a:r>
              <a:rPr lang="en-US" altLang="zh-CN" sz="2000">
                <a:solidFill>
                  <a:srgbClr val="0000FF"/>
                </a:solidFill>
                <a:latin typeface="微软雅黑" panose="020B0503020204020204" pitchFamily="34" charset="-122"/>
                <a:ea typeface="微软雅黑" panose="020B0503020204020204" pitchFamily="34" charset="-122"/>
              </a:rPr>
              <a:t>vs</a:t>
            </a:r>
            <a:r>
              <a:rPr lang="zh-CN" altLang="en-US" sz="2000">
                <a:solidFill>
                  <a:srgbClr val="0000FF"/>
                </a:solidFill>
                <a:latin typeface="微软雅黑" panose="020B0503020204020204" pitchFamily="34" charset="-122"/>
                <a:ea typeface="微软雅黑" panose="020B0503020204020204" pitchFamily="34" charset="-122"/>
              </a:rPr>
              <a:t>体积变化</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矩形 4">
            <a:extLst>
              <a:ext uri="{FF2B5EF4-FFF2-40B4-BE49-F238E27FC236}">
                <a16:creationId xmlns:a16="http://schemas.microsoft.com/office/drawing/2014/main" id="{CD4ED0CB-055B-47B5-850F-6912F4AF050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3315" name="灯片编号占位符 3">
            <a:extLst>
              <a:ext uri="{FF2B5EF4-FFF2-40B4-BE49-F238E27FC236}">
                <a16:creationId xmlns:a16="http://schemas.microsoft.com/office/drawing/2014/main" id="{8F904F32-8D45-4444-9A03-95377C53E619}"/>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7851C2D-6039-4175-855A-119E27FCAEA5}"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11</a:t>
            </a:fld>
            <a:endParaRPr lang="en-US" altLang="zh-CN" sz="1400">
              <a:solidFill>
                <a:srgbClr val="000000"/>
              </a:solidFill>
              <a:latin typeface="Arial" panose="020B0604020202020204" pitchFamily="34" charset="0"/>
            </a:endParaRPr>
          </a:p>
        </p:txBody>
      </p:sp>
      <p:sp>
        <p:nvSpPr>
          <p:cNvPr id="13316" name="Rectangle 4">
            <a:extLst>
              <a:ext uri="{FF2B5EF4-FFF2-40B4-BE49-F238E27FC236}">
                <a16:creationId xmlns:a16="http://schemas.microsoft.com/office/drawing/2014/main" id="{2D63E159-3580-41CF-B1EF-68FEFF62D301}"/>
              </a:ext>
            </a:extLst>
          </p:cNvPr>
          <p:cNvSpPr>
            <a:spLocks noChangeArrowheads="1"/>
          </p:cNvSpPr>
          <p:nvPr/>
        </p:nvSpPr>
        <p:spPr bwMode="auto">
          <a:xfrm>
            <a:off x="468313" y="4365625"/>
            <a:ext cx="8281987" cy="18097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1">
              <a:lnSpc>
                <a:spcPct val="130000"/>
              </a:lnSpc>
              <a:spcBef>
                <a:spcPct val="0"/>
              </a:spcBef>
              <a:buFont typeface="Wingdings" panose="05000000000000000000" pitchFamily="2" charset="2"/>
              <a:buChar char="u"/>
            </a:pPr>
            <a:r>
              <a:rPr lang="en-US" altLang="zh-CN" sz="2200">
                <a:solidFill>
                  <a:srgbClr val="000000"/>
                </a:solidFill>
                <a:latin typeface="微软雅黑" panose="020B0503020204020204" pitchFamily="34" charset="-122"/>
                <a:ea typeface="微软雅黑" panose="020B0503020204020204" pitchFamily="34" charset="-122"/>
              </a:rPr>
              <a:t>   </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通常把单位应变所引起的电阻值相对变化量称为电阻丝的灵敏度系数，用</a:t>
            </a:r>
            <a:r>
              <a:rPr lang="en-US" altLang="zh-CN" sz="2200">
                <a:solidFill>
                  <a:srgbClr val="000000"/>
                </a:solidFill>
                <a:latin typeface="微软雅黑" panose="020B0503020204020204" pitchFamily="34" charset="-122"/>
                <a:ea typeface="微软雅黑" panose="020B0503020204020204" pitchFamily="34" charset="-122"/>
                <a:sym typeface="楷体_GB2312" pitchFamily="49" charset="-122"/>
              </a:rPr>
              <a:t>K</a:t>
            </a:r>
            <a:r>
              <a:rPr lang="en-US" altLang="zh-CN" sz="2200" baseline="-25000">
                <a:solidFill>
                  <a:srgbClr val="000000"/>
                </a:solidFill>
                <a:latin typeface="微软雅黑" panose="020B0503020204020204" pitchFamily="34" charset="-122"/>
                <a:ea typeface="微软雅黑" panose="020B0503020204020204" pitchFamily="34" charset="-122"/>
                <a:sym typeface="楷体_GB2312" pitchFamily="49" charset="-122"/>
              </a:rPr>
              <a:t>S</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表示。</a:t>
            </a:r>
          </a:p>
          <a:p>
            <a:pPr lvl="1">
              <a:lnSpc>
                <a:spcPct val="130000"/>
              </a:lnSpc>
              <a:spcBef>
                <a:spcPct val="0"/>
              </a:spcBef>
              <a:buFont typeface="Wingdings" panose="05000000000000000000" pitchFamily="2" charset="2"/>
              <a:buChar char="u"/>
            </a:pP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 </a:t>
            </a:r>
            <a:r>
              <a:rPr lang="en-US" altLang="zh-CN" sz="2200">
                <a:solidFill>
                  <a:srgbClr val="000000"/>
                </a:solidFill>
                <a:latin typeface="微软雅黑" panose="020B0503020204020204" pitchFamily="34" charset="-122"/>
                <a:ea typeface="微软雅黑" panose="020B0503020204020204" pitchFamily="34" charset="-122"/>
                <a:sym typeface="楷体_GB2312" pitchFamily="49" charset="-122"/>
              </a:rPr>
              <a:t>K</a:t>
            </a:r>
            <a:r>
              <a:rPr lang="en-US" altLang="zh-CN" sz="2200" baseline="-25000">
                <a:solidFill>
                  <a:srgbClr val="000000"/>
                </a:solidFill>
                <a:latin typeface="微软雅黑" panose="020B0503020204020204" pitchFamily="34" charset="-122"/>
                <a:ea typeface="微软雅黑" panose="020B0503020204020204" pitchFamily="34" charset="-122"/>
                <a:sym typeface="楷体_GB2312" pitchFamily="49" charset="-122"/>
              </a:rPr>
              <a:t>S</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与</a:t>
            </a:r>
            <a:r>
              <a:rPr lang="zh-CN" altLang="en-US" sz="2200">
                <a:solidFill>
                  <a:srgbClr val="FF0000"/>
                </a:solidFill>
                <a:latin typeface="微软雅黑" panose="020B0503020204020204" pitchFamily="34" charset="-122"/>
                <a:ea typeface="微软雅黑" panose="020B0503020204020204" pitchFamily="34" charset="-122"/>
                <a:sym typeface="楷体_GB2312" pitchFamily="49" charset="-122"/>
              </a:rPr>
              <a:t>金属材料</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和</a:t>
            </a:r>
            <a:r>
              <a:rPr lang="zh-CN" altLang="en-US" sz="2200">
                <a:solidFill>
                  <a:srgbClr val="FF0000"/>
                </a:solidFill>
                <a:latin typeface="微软雅黑" panose="020B0503020204020204" pitchFamily="34" charset="-122"/>
                <a:ea typeface="微软雅黑" panose="020B0503020204020204" pitchFamily="34" charset="-122"/>
                <a:sym typeface="楷体_GB2312" pitchFamily="49" charset="-122"/>
              </a:rPr>
              <a:t>电阻丝形状</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的有关</a:t>
            </a:r>
            <a:r>
              <a:rPr lang="en-US" altLang="zh-CN" sz="2200">
                <a:solidFill>
                  <a:srgbClr val="000000"/>
                </a:solidFill>
                <a:latin typeface="微软雅黑" panose="020B0503020204020204" pitchFamily="34" charset="-122"/>
                <a:ea typeface="微软雅黑" panose="020B0503020204020204" pitchFamily="34" charset="-122"/>
                <a:sym typeface="楷体_GB2312" pitchFamily="49" charset="-122"/>
              </a:rPr>
              <a:t>;</a:t>
            </a:r>
            <a:endPar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endParaRPr>
          </a:p>
          <a:p>
            <a:pPr lvl="1">
              <a:lnSpc>
                <a:spcPct val="130000"/>
              </a:lnSpc>
              <a:spcBef>
                <a:spcPct val="0"/>
              </a:spcBef>
              <a:buFont typeface="Wingdings" panose="05000000000000000000" pitchFamily="2" charset="2"/>
              <a:buChar char="u"/>
            </a:pPr>
            <a:r>
              <a:rPr lang="en-US" altLang="zh-CN" sz="2200">
                <a:solidFill>
                  <a:srgbClr val="000000"/>
                </a:solidFill>
                <a:latin typeface="微软雅黑" panose="020B0503020204020204" pitchFamily="34" charset="-122"/>
                <a:ea typeface="微软雅黑" panose="020B0503020204020204" pitchFamily="34" charset="-122"/>
                <a:sym typeface="楷体_GB2312" pitchFamily="49" charset="-122"/>
              </a:rPr>
              <a:t> K</a:t>
            </a:r>
            <a:r>
              <a:rPr lang="en-US" altLang="zh-CN" sz="2200" baseline="-25000">
                <a:solidFill>
                  <a:srgbClr val="000000"/>
                </a:solidFill>
                <a:latin typeface="微软雅黑" panose="020B0503020204020204" pitchFamily="34" charset="-122"/>
                <a:ea typeface="微软雅黑" panose="020B0503020204020204" pitchFamily="34" charset="-122"/>
                <a:sym typeface="楷体_GB2312" pitchFamily="49" charset="-122"/>
              </a:rPr>
              <a:t>S</a:t>
            </a:r>
            <a:r>
              <a:rPr lang="zh-CN" altLang="en-US" sz="2200">
                <a:solidFill>
                  <a:srgbClr val="000000"/>
                </a:solidFill>
                <a:latin typeface="微软雅黑" panose="020B0503020204020204" pitchFamily="34" charset="-122"/>
                <a:ea typeface="微软雅黑" panose="020B0503020204020204" pitchFamily="34" charset="-122"/>
                <a:sym typeface="楷体_GB2312" pitchFamily="49" charset="-122"/>
              </a:rPr>
              <a:t>值是一个无因次量，没有量纲。</a:t>
            </a:r>
            <a:endParaRPr lang="zh-CN" altLang="en-US" sz="2200">
              <a:latin typeface="微软雅黑" panose="020B0503020204020204" pitchFamily="34" charset="-122"/>
              <a:ea typeface="微软雅黑" panose="020B0503020204020204" pitchFamily="34" charset="-122"/>
            </a:endParaRPr>
          </a:p>
        </p:txBody>
      </p:sp>
      <p:sp>
        <p:nvSpPr>
          <p:cNvPr id="13317" name="Text Box 5">
            <a:extLst>
              <a:ext uri="{FF2B5EF4-FFF2-40B4-BE49-F238E27FC236}">
                <a16:creationId xmlns:a16="http://schemas.microsoft.com/office/drawing/2014/main" id="{FF17BACF-6EDD-441A-935C-6797C83C830F}"/>
              </a:ext>
            </a:extLst>
          </p:cNvPr>
          <p:cNvSpPr>
            <a:spLocks noChangeArrowheads="1"/>
          </p:cNvSpPr>
          <p:nvPr/>
        </p:nvSpPr>
        <p:spPr bwMode="auto">
          <a:xfrm>
            <a:off x="468313" y="3860800"/>
            <a:ext cx="36449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200">
                <a:latin typeface="微软雅黑" panose="020B0503020204020204" pitchFamily="34" charset="-122"/>
                <a:ea typeface="微软雅黑" panose="020B0503020204020204" pitchFamily="34" charset="-122"/>
                <a:sym typeface="楷体_GB2312" pitchFamily="49" charset="-122"/>
              </a:rPr>
              <a:t>其中灵敏度系数</a:t>
            </a:r>
            <a:r>
              <a:rPr lang="en-US" altLang="zh-CN" sz="2200" i="1">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a:t>
            </a:r>
            <a:r>
              <a:rPr lang="en-US" altLang="zh-CN" sz="2200" i="1" baseline="-250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S</a:t>
            </a:r>
            <a:r>
              <a:rPr lang="en-US" altLang="zh-CN" sz="2200" b="1">
                <a:latin typeface="微软雅黑" panose="020B0503020204020204" pitchFamily="34" charset="-122"/>
                <a:ea typeface="微软雅黑" panose="020B0503020204020204" pitchFamily="34" charset="-122"/>
                <a:sym typeface="楷体_GB2312" pitchFamily="49" charset="-122"/>
              </a:rPr>
              <a:t>:</a:t>
            </a:r>
            <a:endParaRPr lang="en-US" altLang="zh-CN" sz="2200" baseline="-25000">
              <a:latin typeface="微软雅黑" panose="020B0503020204020204" pitchFamily="34" charset="-122"/>
              <a:ea typeface="微软雅黑" panose="020B0503020204020204" pitchFamily="34" charset="-122"/>
              <a:sym typeface="楷体_GB2312" pitchFamily="49" charset="-122"/>
            </a:endParaRPr>
          </a:p>
        </p:txBody>
      </p:sp>
      <p:sp>
        <p:nvSpPr>
          <p:cNvPr id="13318" name="Text Box 6">
            <a:extLst>
              <a:ext uri="{FF2B5EF4-FFF2-40B4-BE49-F238E27FC236}">
                <a16:creationId xmlns:a16="http://schemas.microsoft.com/office/drawing/2014/main" id="{7B9C790F-F160-4229-9558-2373C033BB6C}"/>
              </a:ext>
            </a:extLst>
          </p:cNvPr>
          <p:cNvSpPr>
            <a:spLocks noChangeArrowheads="1"/>
          </p:cNvSpPr>
          <p:nvPr/>
        </p:nvSpPr>
        <p:spPr bwMode="auto">
          <a:xfrm>
            <a:off x="395288" y="1054100"/>
            <a:ext cx="87757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200">
                <a:latin typeface="微软雅黑" panose="020B0503020204020204" pitchFamily="34" charset="-122"/>
                <a:ea typeface="微软雅黑" panose="020B0503020204020204" pitchFamily="34" charset="-122"/>
                <a:sym typeface="楷体_GB2312" pitchFamily="49" charset="-122"/>
              </a:rPr>
              <a:t>将微分</a:t>
            </a:r>
            <a:r>
              <a:rPr lang="en-US" altLang="zh-CN" sz="22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d</a:t>
            </a:r>
            <a:r>
              <a:rPr lang="en-US" altLang="zh-CN" sz="2200" i="1">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R</a:t>
            </a:r>
            <a:r>
              <a:rPr lang="zh-CN" altLang="en-US" sz="22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en-US" altLang="zh-CN" sz="22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d</a:t>
            </a:r>
            <a:r>
              <a:rPr lang="en-US" altLang="zh-CN" sz="2200" i="1">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l</a:t>
            </a:r>
            <a:r>
              <a:rPr lang="zh-CN" altLang="en-US" sz="2200">
                <a:latin typeface="微软雅黑" panose="020B0503020204020204" pitchFamily="34" charset="-122"/>
                <a:ea typeface="微软雅黑" panose="020B0503020204020204" pitchFamily="34" charset="-122"/>
                <a:sym typeface="楷体_GB2312" pitchFamily="49" charset="-122"/>
              </a:rPr>
              <a:t>改写成增量</a:t>
            </a:r>
            <a:r>
              <a:rPr lang="zh-CN" altLang="en-US" sz="2200">
                <a:latin typeface="Times New Roman" panose="02020603050405020304" pitchFamily="18" charset="0"/>
                <a:ea typeface="微软雅黑" panose="020B0503020204020204" pitchFamily="34" charset="-122"/>
                <a:sym typeface="楷体_GB2312" pitchFamily="49" charset="-122"/>
              </a:rPr>
              <a:t>Δ</a:t>
            </a:r>
            <a:r>
              <a:rPr lang="en-US" altLang="zh-CN" sz="2200" i="1">
                <a:latin typeface="Times New Roman" panose="02020603050405020304" pitchFamily="18" charset="0"/>
                <a:ea typeface="微软雅黑" panose="020B0503020204020204" pitchFamily="34" charset="-122"/>
                <a:sym typeface="楷体_GB2312" pitchFamily="49" charset="-122"/>
              </a:rPr>
              <a:t>R</a:t>
            </a:r>
            <a:r>
              <a:rPr lang="zh-CN" altLang="en-US" sz="2200">
                <a:latin typeface="Times New Roman" panose="02020603050405020304" pitchFamily="18" charset="0"/>
                <a:ea typeface="微软雅黑" panose="020B0503020204020204" pitchFamily="34" charset="-122"/>
                <a:sym typeface="楷体_GB2312" pitchFamily="49" charset="-122"/>
              </a:rPr>
              <a:t>、Δ</a:t>
            </a:r>
            <a:r>
              <a:rPr lang="en-US" altLang="zh-CN" sz="2200" i="1">
                <a:latin typeface="Times New Roman" panose="02020603050405020304" pitchFamily="18" charset="0"/>
                <a:ea typeface="微软雅黑" panose="020B0503020204020204" pitchFamily="34" charset="-122"/>
                <a:sym typeface="楷体_GB2312" pitchFamily="49" charset="-122"/>
              </a:rPr>
              <a:t>l</a:t>
            </a:r>
            <a:r>
              <a:rPr lang="zh-CN" altLang="en-US" sz="2200">
                <a:latin typeface="微软雅黑" panose="020B0503020204020204" pitchFamily="34" charset="-122"/>
                <a:ea typeface="微软雅黑" panose="020B0503020204020204" pitchFamily="34" charset="-122"/>
                <a:sym typeface="楷体_GB2312" pitchFamily="49" charset="-122"/>
              </a:rPr>
              <a:t>，可写成下式：</a:t>
            </a:r>
            <a:endParaRPr lang="zh-CN" altLang="en-US" sz="2200">
              <a:latin typeface="微软雅黑" panose="020B0503020204020204" pitchFamily="34" charset="-122"/>
              <a:ea typeface="微软雅黑" panose="020B0503020204020204" pitchFamily="34" charset="-122"/>
            </a:endParaRPr>
          </a:p>
        </p:txBody>
      </p:sp>
      <p:pic>
        <p:nvPicPr>
          <p:cNvPr id="13319" name="Object 7">
            <a:extLst>
              <a:ext uri="{FF2B5EF4-FFF2-40B4-BE49-F238E27FC236}">
                <a16:creationId xmlns:a16="http://schemas.microsoft.com/office/drawing/2014/main" id="{5D6A5ACB-67DD-44EF-AE7A-5A777772F6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550" y="1728788"/>
            <a:ext cx="21844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0" name="Text Box 8">
            <a:extLst>
              <a:ext uri="{FF2B5EF4-FFF2-40B4-BE49-F238E27FC236}">
                <a16:creationId xmlns:a16="http://schemas.microsoft.com/office/drawing/2014/main" id="{B0F3B74D-6389-468D-837B-0DEEE8686849}"/>
              </a:ext>
            </a:extLst>
          </p:cNvPr>
          <p:cNvSpPr>
            <a:spLocks noChangeArrowheads="1"/>
          </p:cNvSpPr>
          <p:nvPr/>
        </p:nvSpPr>
        <p:spPr bwMode="auto">
          <a:xfrm>
            <a:off x="-14288" y="2870200"/>
            <a:ext cx="9172576"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200">
                <a:latin typeface="微软雅黑" panose="020B0503020204020204" pitchFamily="34" charset="-122"/>
                <a:ea typeface="微软雅黑" panose="020B0503020204020204" pitchFamily="34" charset="-122"/>
              </a:rPr>
              <a:t>     </a:t>
            </a:r>
            <a:r>
              <a:rPr lang="zh-CN" altLang="en-US" sz="2200">
                <a:latin typeface="微软雅黑" panose="020B0503020204020204" pitchFamily="34" charset="-122"/>
                <a:ea typeface="微软雅黑" panose="020B0503020204020204" pitchFamily="34" charset="-122"/>
              </a:rPr>
              <a:t>即</a:t>
            </a:r>
            <a:r>
              <a:rPr lang="zh-CN" altLang="en-US" sz="2200">
                <a:solidFill>
                  <a:srgbClr val="0000FF"/>
                </a:solidFill>
                <a:latin typeface="微软雅黑" panose="020B0503020204020204" pitchFamily="34" charset="-122"/>
                <a:ea typeface="微软雅黑" panose="020B0503020204020204" pitchFamily="34" charset="-122"/>
              </a:rPr>
              <a:t>金属丝</a:t>
            </a:r>
            <a:r>
              <a:rPr lang="zh-CN" altLang="en-US" sz="2200">
                <a:solidFill>
                  <a:srgbClr val="FF0000"/>
                </a:solidFill>
                <a:latin typeface="微软雅黑" panose="020B0503020204020204" pitchFamily="34" charset="-122"/>
                <a:ea typeface="微软雅黑" panose="020B0503020204020204" pitchFamily="34" charset="-122"/>
              </a:rPr>
              <a:t>电阻的相对变化</a:t>
            </a:r>
            <a:r>
              <a:rPr lang="zh-CN" altLang="en-US" sz="2200">
                <a:solidFill>
                  <a:srgbClr val="0000FF"/>
                </a:solidFill>
                <a:latin typeface="微软雅黑" panose="020B0503020204020204" pitchFamily="34" charset="-122"/>
                <a:ea typeface="微软雅黑" panose="020B0503020204020204" pitchFamily="34" charset="-122"/>
              </a:rPr>
              <a:t>与金属丝的</a:t>
            </a:r>
            <a:r>
              <a:rPr lang="zh-CN" altLang="en-US" sz="2200">
                <a:solidFill>
                  <a:srgbClr val="FF0000"/>
                </a:solidFill>
                <a:latin typeface="微软雅黑" panose="020B0503020204020204" pitchFamily="34" charset="-122"/>
                <a:ea typeface="微软雅黑" panose="020B0503020204020204" pitchFamily="34" charset="-122"/>
              </a:rPr>
              <a:t>伸长或缩短</a:t>
            </a:r>
            <a:r>
              <a:rPr lang="zh-CN" altLang="en-US" sz="2200">
                <a:solidFill>
                  <a:srgbClr val="0000FF"/>
                </a:solidFill>
                <a:latin typeface="微软雅黑" panose="020B0503020204020204" pitchFamily="34" charset="-122"/>
                <a:ea typeface="微软雅黑" panose="020B0503020204020204" pitchFamily="34" charset="-122"/>
              </a:rPr>
              <a:t>之间存在比例关系</a:t>
            </a:r>
            <a:r>
              <a:rPr lang="zh-CN" altLang="en-US" sz="2200">
                <a:latin typeface="微软雅黑" panose="020B0503020204020204" pitchFamily="34" charset="-122"/>
                <a:ea typeface="微软雅黑" panose="020B0503020204020204" pitchFamily="34" charset="-122"/>
              </a:rPr>
              <a:t>。</a:t>
            </a:r>
          </a:p>
        </p:txBody>
      </p:sp>
      <p:sp>
        <p:nvSpPr>
          <p:cNvPr id="13321" name="TextBox 5">
            <a:extLst>
              <a:ext uri="{FF2B5EF4-FFF2-40B4-BE49-F238E27FC236}">
                <a16:creationId xmlns:a16="http://schemas.microsoft.com/office/drawing/2014/main" id="{46D8F574-0FA5-4A99-B542-9246DEE69855}"/>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应变效应</a:t>
            </a:r>
            <a:endParaRPr lang="zh-CN" altLang="en-US" sz="1800">
              <a:latin typeface="黑体" panose="02010609060101010101" pitchFamily="49" charset="-122"/>
              <a:ea typeface="黑体" panose="02010609060101010101" pitchFamily="49" charset="-122"/>
            </a:endParaRPr>
          </a:p>
        </p:txBody>
      </p:sp>
      <p:sp>
        <p:nvSpPr>
          <p:cNvPr id="13322" name="矩形: 圆角 15">
            <a:extLst>
              <a:ext uri="{FF2B5EF4-FFF2-40B4-BE49-F238E27FC236}">
                <a16:creationId xmlns:a16="http://schemas.microsoft.com/office/drawing/2014/main" id="{7C974D2B-0910-4539-A942-E19F59D047A4}"/>
              </a:ext>
            </a:extLst>
          </p:cNvPr>
          <p:cNvSpPr>
            <a:spLocks noChangeArrowheads="1"/>
          </p:cNvSpPr>
          <p:nvPr/>
        </p:nvSpPr>
        <p:spPr bwMode="auto">
          <a:xfrm>
            <a:off x="4324350" y="2205038"/>
            <a:ext cx="192088" cy="269875"/>
          </a:xfrm>
          <a:prstGeom prst="roundRect">
            <a:avLst>
              <a:gd name="adj" fmla="val 16667"/>
            </a:avLst>
          </a:prstGeom>
          <a:solidFill>
            <a:schemeClr val="bg1"/>
          </a:solidFill>
          <a:ln w="9525" algn="ctr">
            <a:solidFill>
              <a:schemeClr val="bg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矩形 4">
            <a:extLst>
              <a:ext uri="{FF2B5EF4-FFF2-40B4-BE49-F238E27FC236}">
                <a16:creationId xmlns:a16="http://schemas.microsoft.com/office/drawing/2014/main" id="{5A3E6FA6-0862-492F-92FA-43E8B901FB3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4339" name="灯片编号占位符 3">
            <a:extLst>
              <a:ext uri="{FF2B5EF4-FFF2-40B4-BE49-F238E27FC236}">
                <a16:creationId xmlns:a16="http://schemas.microsoft.com/office/drawing/2014/main" id="{09E12E39-91DC-4A90-8434-7AEE922A53D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1C6207F-E3A4-4F5A-8F32-ABF774D834B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12</a:t>
            </a:fld>
            <a:endParaRPr lang="en-US" altLang="zh-CN" sz="1400">
              <a:solidFill>
                <a:srgbClr val="000000"/>
              </a:solidFill>
              <a:latin typeface="Arial" panose="020B0604020202020204" pitchFamily="34" charset="0"/>
            </a:endParaRPr>
          </a:p>
        </p:txBody>
      </p:sp>
      <p:sp>
        <p:nvSpPr>
          <p:cNvPr id="14340" name="TextBox 5">
            <a:extLst>
              <a:ext uri="{FF2B5EF4-FFF2-40B4-BE49-F238E27FC236}">
                <a16:creationId xmlns:a16="http://schemas.microsoft.com/office/drawing/2014/main" id="{12880D45-341A-4F8A-BBFB-DBADCD1F617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应变片的结构</a:t>
            </a:r>
            <a:endParaRPr lang="zh-CN" altLang="en-US" sz="1800">
              <a:latin typeface="黑体" panose="02010609060101010101" pitchFamily="49" charset="-122"/>
              <a:ea typeface="黑体" panose="02010609060101010101" pitchFamily="49" charset="-122"/>
            </a:endParaRPr>
          </a:p>
        </p:txBody>
      </p:sp>
      <p:sp>
        <p:nvSpPr>
          <p:cNvPr id="14341" name="Text Box 6">
            <a:extLst>
              <a:ext uri="{FF2B5EF4-FFF2-40B4-BE49-F238E27FC236}">
                <a16:creationId xmlns:a16="http://schemas.microsoft.com/office/drawing/2014/main" id="{FE76F00D-9E9B-4F1C-B4E8-027DF321396C}"/>
              </a:ext>
            </a:extLst>
          </p:cNvPr>
          <p:cNvSpPr>
            <a:spLocks noChangeArrowheads="1"/>
          </p:cNvSpPr>
          <p:nvPr/>
        </p:nvSpPr>
        <p:spPr bwMode="auto">
          <a:xfrm>
            <a:off x="5273675" y="1601788"/>
            <a:ext cx="3016250" cy="210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AutoNum type="arabicPlain"/>
            </a:pPr>
            <a:r>
              <a:rPr lang="zh-CN" altLang="en-US" sz="2400">
                <a:latin typeface="Arial" panose="020B0604020202020204" pitchFamily="34" charset="0"/>
                <a:ea typeface="楷体_GB2312" pitchFamily="49" charset="-122"/>
              </a:rPr>
              <a:t>敏感栅</a:t>
            </a:r>
          </a:p>
          <a:p>
            <a:pPr eaLnBrk="1" hangingPunct="1">
              <a:spcBef>
                <a:spcPct val="50000"/>
              </a:spcBef>
              <a:buFont typeface="Arial" panose="020B0604020202020204" pitchFamily="34" charset="0"/>
              <a:buAutoNum type="arabicPlain"/>
            </a:pPr>
            <a:r>
              <a:rPr lang="zh-CN" altLang="en-US" sz="2400">
                <a:latin typeface="Arial" panose="020B0604020202020204" pitchFamily="34" charset="0"/>
                <a:ea typeface="楷体_GB2312" pitchFamily="49" charset="-122"/>
              </a:rPr>
              <a:t>基底</a:t>
            </a:r>
          </a:p>
          <a:p>
            <a:pPr eaLnBrk="1" hangingPunct="1">
              <a:spcBef>
                <a:spcPct val="50000"/>
              </a:spcBef>
              <a:buFont typeface="Arial" panose="020B0604020202020204" pitchFamily="34" charset="0"/>
              <a:buAutoNum type="arabicPlain"/>
            </a:pPr>
            <a:r>
              <a:rPr lang="zh-CN" altLang="en-US" sz="2400">
                <a:latin typeface="Arial" panose="020B0604020202020204" pitchFamily="34" charset="0"/>
                <a:ea typeface="楷体_GB2312" pitchFamily="49" charset="-122"/>
              </a:rPr>
              <a:t>盖片</a:t>
            </a:r>
          </a:p>
          <a:p>
            <a:pPr eaLnBrk="1" hangingPunct="1">
              <a:spcBef>
                <a:spcPct val="50000"/>
              </a:spcBef>
              <a:buFont typeface="Arial" panose="020B0604020202020204" pitchFamily="34" charset="0"/>
              <a:buAutoNum type="arabicPlain"/>
            </a:pPr>
            <a:r>
              <a:rPr lang="zh-CN" altLang="en-US" sz="2400">
                <a:latin typeface="Arial" panose="020B0604020202020204" pitchFamily="34" charset="0"/>
                <a:ea typeface="楷体_GB2312" pitchFamily="49" charset="-122"/>
              </a:rPr>
              <a:t>引线</a:t>
            </a:r>
            <a:endParaRPr lang="zh-CN" altLang="en-US" sz="1800">
              <a:latin typeface="Arial" panose="020B0604020202020204" pitchFamily="34" charset="0"/>
            </a:endParaRPr>
          </a:p>
        </p:txBody>
      </p:sp>
      <p:pic>
        <p:nvPicPr>
          <p:cNvPr id="14342" name="Picture 41">
            <a:extLst>
              <a:ext uri="{FF2B5EF4-FFF2-40B4-BE49-F238E27FC236}">
                <a16:creationId xmlns:a16="http://schemas.microsoft.com/office/drawing/2014/main" id="{9A36BC6F-1705-4E6E-9E1D-E39F9622C1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1" y="1064504"/>
            <a:ext cx="3681412" cy="211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42">
            <a:extLst>
              <a:ext uri="{FF2B5EF4-FFF2-40B4-BE49-F238E27FC236}">
                <a16:creationId xmlns:a16="http://schemas.microsoft.com/office/drawing/2014/main" id="{12D2F6CA-E8DE-4ACA-8986-1FB0BA2F30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663" y="4510900"/>
            <a:ext cx="3519487"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4" name="Picture 7">
            <a:extLst>
              <a:ext uri="{FF2B5EF4-FFF2-40B4-BE49-F238E27FC236}">
                <a16:creationId xmlns:a16="http://schemas.microsoft.com/office/drawing/2014/main" id="{9C8A15B2-C2C1-4A51-BDFD-6C63C1451F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4167188"/>
            <a:ext cx="2087563"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8">
            <a:extLst>
              <a:ext uri="{FF2B5EF4-FFF2-40B4-BE49-F238E27FC236}">
                <a16:creationId xmlns:a16="http://schemas.microsoft.com/office/drawing/2014/main" id="{F7815C6C-4472-4791-9AE0-3BBACA0DEC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1273175"/>
            <a:ext cx="4005263" cy="493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6">
            <a:extLst>
              <a:ext uri="{FF2B5EF4-FFF2-40B4-BE49-F238E27FC236}">
                <a16:creationId xmlns:a16="http://schemas.microsoft.com/office/drawing/2014/main" id="{0ADB5C04-619B-4CF7-89CF-3179766FE62A}"/>
              </a:ext>
            </a:extLst>
          </p:cNvPr>
          <p:cNvSpPr>
            <a:spLocks noChangeArrowheads="1"/>
          </p:cNvSpPr>
          <p:nvPr/>
        </p:nvSpPr>
        <p:spPr bwMode="auto">
          <a:xfrm>
            <a:off x="575517" y="2845039"/>
            <a:ext cx="30162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AutoNum type="arabicPlain"/>
            </a:pPr>
            <a:r>
              <a:rPr lang="zh-CN" altLang="en-US" sz="1600" dirty="0">
                <a:latin typeface="黑体" panose="02010609060101010101" pitchFamily="49" charset="-122"/>
                <a:ea typeface="黑体" panose="02010609060101010101" pitchFamily="49" charset="-122"/>
              </a:rPr>
              <a:t>敏感栅  </a:t>
            </a:r>
            <a:r>
              <a:rPr lang="en-US" altLang="zh-CN" sz="1600" dirty="0">
                <a:latin typeface="黑体" panose="02010609060101010101" pitchFamily="49" charset="-122"/>
                <a:ea typeface="黑体" panose="02010609060101010101" pitchFamily="49" charset="-122"/>
              </a:rPr>
              <a:t>2 </a:t>
            </a:r>
            <a:r>
              <a:rPr lang="zh-CN" altLang="en-US" sz="1600" dirty="0">
                <a:latin typeface="黑体" panose="02010609060101010101" pitchFamily="49" charset="-122"/>
                <a:ea typeface="黑体" panose="02010609060101010101" pitchFamily="49" charset="-122"/>
              </a:rPr>
              <a:t>基底</a:t>
            </a:r>
          </a:p>
          <a:p>
            <a:pPr eaLnBrk="1" hangingPunct="1">
              <a:spcBef>
                <a:spcPct val="50000"/>
              </a:spcBef>
              <a:buFont typeface="Arial" panose="020B0604020202020204" pitchFamily="34" charset="0"/>
              <a:buAutoNum type="arabicPlain"/>
            </a:pPr>
            <a:r>
              <a:rPr lang="zh-CN" altLang="en-US" sz="1600" dirty="0">
                <a:latin typeface="黑体" panose="02010609060101010101" pitchFamily="49" charset="-122"/>
                <a:ea typeface="黑体" panose="02010609060101010101" pitchFamily="49" charset="-122"/>
              </a:rPr>
              <a:t>盖片    </a:t>
            </a:r>
            <a:r>
              <a:rPr lang="en-US" altLang="zh-CN" sz="1600" dirty="0">
                <a:latin typeface="黑体" panose="02010609060101010101" pitchFamily="49" charset="-122"/>
                <a:ea typeface="黑体" panose="02010609060101010101" pitchFamily="49" charset="-122"/>
              </a:rPr>
              <a:t>3 </a:t>
            </a:r>
            <a:r>
              <a:rPr lang="zh-CN" altLang="en-US" sz="1600" dirty="0">
                <a:latin typeface="黑体" panose="02010609060101010101" pitchFamily="49" charset="-122"/>
                <a:ea typeface="黑体" panose="02010609060101010101" pitchFamily="49" charset="-122"/>
              </a:rPr>
              <a:t>引线</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80">
                                          <p:stCondLst>
                                            <p:cond delay="0"/>
                                          </p:stCondLst>
                                        </p:cTn>
                                        <p:tgtEl>
                                          <p:spTgt spid="9"/>
                                        </p:tgtEl>
                                      </p:cBhvr>
                                    </p:animEffect>
                                    <p:anim calcmode="lin" valueType="num">
                                      <p:cBhvr>
                                        <p:cTn id="8"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13" dur="26">
                                          <p:stCondLst>
                                            <p:cond delay="650"/>
                                          </p:stCondLst>
                                        </p:cTn>
                                        <p:tgtEl>
                                          <p:spTgt spid="9"/>
                                        </p:tgtEl>
                                      </p:cBhvr>
                                      <p:to x="100000" y="60000"/>
                                    </p:animScale>
                                    <p:animScale>
                                      <p:cBhvr>
                                        <p:cTn id="14" dur="166" decel="50000">
                                          <p:stCondLst>
                                            <p:cond delay="676"/>
                                          </p:stCondLst>
                                        </p:cTn>
                                        <p:tgtEl>
                                          <p:spTgt spid="9"/>
                                        </p:tgtEl>
                                      </p:cBhvr>
                                      <p:to x="100000" y="100000"/>
                                    </p:animScale>
                                    <p:animScale>
                                      <p:cBhvr>
                                        <p:cTn id="15" dur="26">
                                          <p:stCondLst>
                                            <p:cond delay="1312"/>
                                          </p:stCondLst>
                                        </p:cTn>
                                        <p:tgtEl>
                                          <p:spTgt spid="9"/>
                                        </p:tgtEl>
                                      </p:cBhvr>
                                      <p:to x="100000" y="80000"/>
                                    </p:animScale>
                                    <p:animScale>
                                      <p:cBhvr>
                                        <p:cTn id="16" dur="166" decel="50000">
                                          <p:stCondLst>
                                            <p:cond delay="1338"/>
                                          </p:stCondLst>
                                        </p:cTn>
                                        <p:tgtEl>
                                          <p:spTgt spid="9"/>
                                        </p:tgtEl>
                                      </p:cBhvr>
                                      <p:to x="100000" y="100000"/>
                                    </p:animScale>
                                    <p:animScale>
                                      <p:cBhvr>
                                        <p:cTn id="17" dur="26">
                                          <p:stCondLst>
                                            <p:cond delay="1642"/>
                                          </p:stCondLst>
                                        </p:cTn>
                                        <p:tgtEl>
                                          <p:spTgt spid="9"/>
                                        </p:tgtEl>
                                      </p:cBhvr>
                                      <p:to x="100000" y="90000"/>
                                    </p:animScale>
                                    <p:animScale>
                                      <p:cBhvr>
                                        <p:cTn id="18" dur="166" decel="50000">
                                          <p:stCondLst>
                                            <p:cond delay="1668"/>
                                          </p:stCondLst>
                                        </p:cTn>
                                        <p:tgtEl>
                                          <p:spTgt spid="9"/>
                                        </p:tgtEl>
                                      </p:cBhvr>
                                      <p:to x="100000" y="100000"/>
                                    </p:animScale>
                                    <p:animScale>
                                      <p:cBhvr>
                                        <p:cTn id="19" dur="26">
                                          <p:stCondLst>
                                            <p:cond delay="1808"/>
                                          </p:stCondLst>
                                        </p:cTn>
                                        <p:tgtEl>
                                          <p:spTgt spid="9"/>
                                        </p:tgtEl>
                                      </p:cBhvr>
                                      <p:to x="100000" y="95000"/>
                                    </p:animScale>
                                    <p:animScale>
                                      <p:cBhvr>
                                        <p:cTn id="20"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矩形 4">
            <a:extLst>
              <a:ext uri="{FF2B5EF4-FFF2-40B4-BE49-F238E27FC236}">
                <a16:creationId xmlns:a16="http://schemas.microsoft.com/office/drawing/2014/main" id="{3BD6B0E1-34BE-46D3-9B50-87DDE4FB789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5363" name="TextBox 5">
            <a:extLst>
              <a:ext uri="{FF2B5EF4-FFF2-40B4-BE49-F238E27FC236}">
                <a16:creationId xmlns:a16="http://schemas.microsoft.com/office/drawing/2014/main" id="{6B581A10-22F5-4A31-BE17-44338CCAA260}"/>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应变式传感器的优点</a:t>
            </a:r>
            <a:endParaRPr lang="zh-CN" altLang="en-US" sz="1800">
              <a:latin typeface="黑体" panose="02010609060101010101" pitchFamily="49" charset="-122"/>
              <a:ea typeface="黑体" panose="02010609060101010101" pitchFamily="49" charset="-122"/>
            </a:endParaRPr>
          </a:p>
        </p:txBody>
      </p:sp>
      <p:sp>
        <p:nvSpPr>
          <p:cNvPr id="15364" name="Text Box 4">
            <a:extLst>
              <a:ext uri="{FF2B5EF4-FFF2-40B4-BE49-F238E27FC236}">
                <a16:creationId xmlns:a16="http://schemas.microsoft.com/office/drawing/2014/main" id="{FC210A07-388B-4AC5-BEB6-831FD0F75B7D}"/>
              </a:ext>
            </a:extLst>
          </p:cNvPr>
          <p:cNvSpPr>
            <a:spLocks noChangeArrowheads="1"/>
          </p:cNvSpPr>
          <p:nvPr/>
        </p:nvSpPr>
        <p:spPr bwMode="auto">
          <a:xfrm>
            <a:off x="184150" y="1179513"/>
            <a:ext cx="8780463"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2400" b="1">
              <a:solidFill>
                <a:srgbClr val="CC0000"/>
              </a:solidFill>
              <a:latin typeface="Arial" panose="020B0604020202020204" pitchFamily="34" charset="0"/>
              <a:ea typeface="华文新魏" panose="02010800040101010101" pitchFamily="2" charset="-122"/>
              <a:sym typeface="Arial" panose="020B0604020202020204" pitchFamily="34" charset="0"/>
            </a:endParaRPr>
          </a:p>
          <a:p>
            <a:pPr eaLnBrk="1" hangingPunct="1">
              <a:spcBef>
                <a:spcPct val="0"/>
              </a:spcBef>
              <a:buFont typeface="Arial" panose="020B0604020202020204" pitchFamily="34" charset="0"/>
              <a:buNone/>
            </a:pPr>
            <a:endParaRPr lang="zh-CN" altLang="zh-CN" sz="2400" b="1">
              <a:solidFill>
                <a:srgbClr val="CC0000"/>
              </a:solidFill>
              <a:latin typeface="Arial" panose="020B0604020202020204" pitchFamily="34" charset="0"/>
              <a:ea typeface="华文新魏" panose="02010800040101010101" pitchFamily="2" charset="-122"/>
              <a:sym typeface="Arial" panose="020B0604020202020204" pitchFamily="34" charset="0"/>
            </a:endParaRPr>
          </a:p>
        </p:txBody>
      </p:sp>
      <p:sp>
        <p:nvSpPr>
          <p:cNvPr id="15365" name="Text Box 5">
            <a:extLst>
              <a:ext uri="{FF2B5EF4-FFF2-40B4-BE49-F238E27FC236}">
                <a16:creationId xmlns:a16="http://schemas.microsoft.com/office/drawing/2014/main" id="{2AA24676-BEBF-4842-A28B-E76EA6E982D1}"/>
              </a:ext>
            </a:extLst>
          </p:cNvPr>
          <p:cNvSpPr>
            <a:spLocks noChangeArrowheads="1"/>
          </p:cNvSpPr>
          <p:nvPr/>
        </p:nvSpPr>
        <p:spPr bwMode="auto">
          <a:xfrm>
            <a:off x="220663" y="1327150"/>
            <a:ext cx="86725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15366" name="Text Box 6">
            <a:extLst>
              <a:ext uri="{FF2B5EF4-FFF2-40B4-BE49-F238E27FC236}">
                <a16:creationId xmlns:a16="http://schemas.microsoft.com/office/drawing/2014/main" id="{D36AA0A3-443E-4F5B-B9F4-DB9589C55E00}"/>
              </a:ext>
            </a:extLst>
          </p:cNvPr>
          <p:cNvSpPr>
            <a:spLocks noChangeArrowheads="1"/>
          </p:cNvSpPr>
          <p:nvPr/>
        </p:nvSpPr>
        <p:spPr bwMode="auto">
          <a:xfrm>
            <a:off x="539750" y="1547813"/>
            <a:ext cx="8709025"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精度高，测量范围广</a:t>
            </a:r>
          </a:p>
          <a:p>
            <a:pPr eaLnBrk="1" hangingPunct="1">
              <a:spcBef>
                <a:spcPct val="0"/>
              </a:spcBef>
            </a:pPr>
            <a:endParaRPr lang="zh-CN" altLang="en-US"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频率响应特性较好</a:t>
            </a:r>
            <a:r>
              <a:rPr lang="en-US" altLang="zh-CN" sz="2400">
                <a:latin typeface="微软雅黑" panose="020B0503020204020204" pitchFamily="34" charset="-122"/>
                <a:ea typeface="微软雅黑" panose="020B0503020204020204" pitchFamily="34" charset="-122"/>
                <a:sym typeface="Arial" panose="020B0604020202020204" pitchFamily="34" charset="0"/>
              </a:rPr>
              <a:t>——</a:t>
            </a:r>
            <a:r>
              <a:rPr lang="zh-CN" altLang="en-US" sz="2400">
                <a:solidFill>
                  <a:srgbClr val="0000FF"/>
                </a:solidFill>
                <a:latin typeface="微软雅黑" panose="020B0503020204020204" pitchFamily="34" charset="-122"/>
                <a:ea typeface="微软雅黑" panose="020B0503020204020204" pitchFamily="34" charset="-122"/>
                <a:sym typeface="Arial" panose="020B0604020202020204" pitchFamily="34" charset="0"/>
              </a:rPr>
              <a:t>动态特性好</a:t>
            </a:r>
            <a:r>
              <a:rPr lang="zh-CN" altLang="en-US" sz="2400">
                <a:latin typeface="微软雅黑" panose="020B0503020204020204" pitchFamily="34" charset="-122"/>
                <a:ea typeface="微软雅黑" panose="020B0503020204020204" pitchFamily="34" charset="-122"/>
                <a:sym typeface="Arial" panose="020B0604020202020204" pitchFamily="34" charset="0"/>
              </a:rPr>
              <a:t>。</a:t>
            </a:r>
          </a:p>
          <a:p>
            <a:pPr eaLnBrk="1" hangingPunct="1">
              <a:spcBef>
                <a:spcPct val="0"/>
              </a:spcBef>
            </a:pPr>
            <a:endParaRPr lang="zh-CN" altLang="en-US"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 结构简单，尺寸小，质量轻。易于实现小型化、固态化。</a:t>
            </a:r>
            <a:endParaRPr lang="en-US" altLang="zh-CN"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endParaRPr lang="en-US" altLang="zh-CN"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价格低廉，品种多样，便于选择。</a:t>
            </a:r>
            <a:endParaRPr lang="en-US" altLang="zh-CN"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endParaRPr lang="zh-CN" altLang="en-US" sz="240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pPr>
            <a:r>
              <a:rPr lang="zh-CN" altLang="en-US" sz="2400">
                <a:latin typeface="微软雅黑" panose="020B0503020204020204" pitchFamily="34" charset="-122"/>
                <a:ea typeface="微软雅黑" panose="020B0503020204020204" pitchFamily="34" charset="-122"/>
                <a:sym typeface="Arial" panose="020B0604020202020204" pitchFamily="34" charset="0"/>
              </a:rPr>
              <a:t>可在高(低)温、高速、高压、强烈振动、强磁场及核辐射和化学辐射等恶劣条件下正常工作。 </a:t>
            </a:r>
            <a:endParaRPr lang="zh-CN" altLang="en-US" sz="1800">
              <a:latin typeface="微软雅黑" panose="020B0503020204020204" pitchFamily="34" charset="-122"/>
              <a:ea typeface="微软雅黑" panose="020B0503020204020204" pitchFamily="34" charset="-122"/>
            </a:endParaRPr>
          </a:p>
        </p:txBody>
      </p:sp>
      <p:sp>
        <p:nvSpPr>
          <p:cNvPr id="15367" name="灯片编号占位符 3">
            <a:extLst>
              <a:ext uri="{FF2B5EF4-FFF2-40B4-BE49-F238E27FC236}">
                <a16:creationId xmlns:a16="http://schemas.microsoft.com/office/drawing/2014/main" id="{9ACA8E60-8D00-4E64-ACE3-ECC90BE374C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26BC5CD-8613-4BD7-A0F4-CAF5CAE57A0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13</a:t>
            </a:fld>
            <a:endParaRPr lang="en-US" altLang="zh-CN" sz="1400">
              <a:solidFill>
                <a:srgbClr val="000000"/>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矩形 4">
            <a:extLst>
              <a:ext uri="{FF2B5EF4-FFF2-40B4-BE49-F238E27FC236}">
                <a16:creationId xmlns:a16="http://schemas.microsoft.com/office/drawing/2014/main" id="{516C0766-B00E-4C4F-9310-936FE440901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6387" name="TextBox 5">
            <a:extLst>
              <a:ext uri="{FF2B5EF4-FFF2-40B4-BE49-F238E27FC236}">
                <a16:creationId xmlns:a16="http://schemas.microsoft.com/office/drawing/2014/main" id="{2EE5D379-6448-4897-9792-A15F50C6D280}"/>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应变式传感器的缺点</a:t>
            </a:r>
            <a:endParaRPr lang="zh-CN" altLang="en-US" sz="1800">
              <a:latin typeface="黑体" panose="02010609060101010101" pitchFamily="49" charset="-122"/>
              <a:ea typeface="黑体" panose="02010609060101010101" pitchFamily="49" charset="-122"/>
            </a:endParaRPr>
          </a:p>
        </p:txBody>
      </p:sp>
      <p:sp>
        <p:nvSpPr>
          <p:cNvPr id="7172" name="Text Box 4">
            <a:extLst>
              <a:ext uri="{FF2B5EF4-FFF2-40B4-BE49-F238E27FC236}">
                <a16:creationId xmlns:a16="http://schemas.microsoft.com/office/drawing/2014/main" id="{0FB6C696-6AF4-4CB2-B34A-C0C90DA32D5F}"/>
              </a:ext>
            </a:extLst>
          </p:cNvPr>
          <p:cNvSpPr>
            <a:spLocks noChangeArrowheads="1"/>
          </p:cNvSpPr>
          <p:nvPr/>
        </p:nvSpPr>
        <p:spPr bwMode="auto">
          <a:xfrm>
            <a:off x="468313" y="1270000"/>
            <a:ext cx="8275637" cy="4894263"/>
          </a:xfrm>
          <a:prstGeom prst="rect">
            <a:avLst/>
          </a:prstGeom>
          <a:noFill/>
          <a:ln>
            <a:noFill/>
          </a:ln>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defRPr/>
            </a:pP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非线性：</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在</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大应变状态</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中具有较明显的</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非线性</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，半导体应变式传感器的非线性更为严重；</a:t>
            </a:r>
          </a:p>
          <a:p>
            <a:pPr eaLnBrk="1" hangingPunct="1">
              <a:spcBef>
                <a:spcPct val="0"/>
              </a:spcBef>
              <a:defRPr/>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defRPr/>
            </a:pP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信噪比：</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应变片式传感器</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输出信号微弱</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，故它的抗干扰能力较差，因此信号线需要采取屏蔽措施；</a:t>
            </a:r>
          </a:p>
          <a:p>
            <a:pPr eaLnBrk="1" hangingPunct="1">
              <a:spcBef>
                <a:spcPct val="0"/>
              </a:spcBef>
              <a:defRPr/>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eaLnBrk="1" hangingPunct="1">
              <a:spcBef>
                <a:spcPct val="0"/>
              </a:spcBef>
              <a:defRPr/>
            </a:pPr>
            <a:r>
              <a:rPr lang="zh-CN" altLang="en-US" sz="2400" dirty="0">
                <a:solidFill>
                  <a:srgbClr val="0000FF"/>
                </a:solidFill>
                <a:latin typeface="微软雅黑" panose="020B0503020204020204" pitchFamily="34" charset="-122"/>
                <a:ea typeface="微软雅黑" panose="020B0503020204020204" pitchFamily="34" charset="-122"/>
                <a:sym typeface="Arial" panose="020B0604020202020204" pitchFamily="34" charset="0"/>
              </a:rPr>
              <a:t>敏感面：</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应变式传感器测出的只是一点或</a:t>
            </a:r>
            <a:r>
              <a:rPr lang="zh-CN" altLang="en-US" sz="2400" b="1" dirty="0">
                <a:solidFill>
                  <a:srgbClr val="CC0000"/>
                </a:solidFill>
                <a:latin typeface="微软雅黑" panose="020B0503020204020204" pitchFamily="34" charset="-122"/>
                <a:ea typeface="微软雅黑" panose="020B0503020204020204" pitchFamily="34" charset="-122"/>
                <a:sym typeface="Arial" panose="020B0604020202020204" pitchFamily="34" charset="0"/>
              </a:rPr>
              <a:t>应变栅范围内的平均应变</a:t>
            </a:r>
            <a:r>
              <a:rPr lang="zh-CN" altLang="en-US" sz="2400" dirty="0">
                <a:latin typeface="微软雅黑" panose="020B0503020204020204" pitchFamily="34" charset="-122"/>
                <a:ea typeface="微软雅黑" panose="020B0503020204020204" pitchFamily="34" charset="-122"/>
                <a:sym typeface="Arial" panose="020B0604020202020204" pitchFamily="34" charset="0"/>
              </a:rPr>
              <a:t>，不能显示应力场中应力梯度的变化等。</a:t>
            </a:r>
          </a:p>
          <a:p>
            <a:pPr eaLnBrk="1" hangingPunct="1">
              <a:spcBef>
                <a:spcPct val="0"/>
              </a:spcBef>
              <a:defRPr/>
            </a:pPr>
            <a:endParaRPr lang="zh-CN" altLang="en-US" sz="2400" dirty="0">
              <a:latin typeface="微软雅黑" panose="020B0503020204020204" pitchFamily="34" charset="-122"/>
              <a:ea typeface="微软雅黑" panose="020B0503020204020204" pitchFamily="34" charset="-122"/>
            </a:endParaRPr>
          </a:p>
          <a:p>
            <a:pPr eaLnBrk="1" hangingPunct="1">
              <a:spcBef>
                <a:spcPct val="0"/>
              </a:spcBef>
              <a:buFont typeface="Arial" panose="020B0604020202020204" pitchFamily="34" charset="0"/>
              <a:buNone/>
              <a:defRPr/>
            </a:pPr>
            <a:endParaRPr lang="zh-CN" altLang="en-US" sz="2400" dirty="0">
              <a:latin typeface="微软雅黑" panose="020B0503020204020204" pitchFamily="34" charset="-122"/>
              <a:ea typeface="微软雅黑" panose="020B0503020204020204" pitchFamily="34" charset="-122"/>
              <a:sym typeface="Arial" panose="020B0604020202020204" pitchFamily="34" charset="0"/>
            </a:endParaRPr>
          </a:p>
          <a:p>
            <a:pPr marL="0" indent="0" eaLnBrk="1" hangingPunct="1">
              <a:spcBef>
                <a:spcPct val="0"/>
              </a:spcBef>
              <a:buFont typeface="Arial" panose="020B0604020202020204" pitchFamily="34" charset="0"/>
              <a:buNone/>
              <a:defRPr/>
            </a:pPr>
            <a:r>
              <a:rPr lang="zh-CN" altLang="en-US" sz="2400" b="1" dirty="0">
                <a:solidFill>
                  <a:srgbClr val="00B0F0"/>
                </a:solidFill>
                <a:latin typeface="微软雅黑" panose="020B0503020204020204" pitchFamily="34" charset="-122"/>
                <a:ea typeface="微软雅黑" panose="020B0503020204020204" pitchFamily="34" charset="-122"/>
                <a:sym typeface="Arial" panose="020B0604020202020204" pitchFamily="34" charset="0"/>
              </a:rPr>
              <a:t>        尽管应变式传感器存在上述缺点，但可采取一定补偿措施，因此它仍不失为非电量电测技术中应用最广和最有效的敏感元件。</a:t>
            </a:r>
            <a:endParaRPr lang="zh-CN" altLang="en-US" sz="1800" dirty="0">
              <a:solidFill>
                <a:srgbClr val="00B0F0"/>
              </a:solidFill>
              <a:latin typeface="微软雅黑" panose="020B0503020204020204" pitchFamily="34" charset="-122"/>
              <a:ea typeface="微软雅黑" panose="020B0503020204020204" pitchFamily="34" charset="-122"/>
            </a:endParaRPr>
          </a:p>
        </p:txBody>
      </p:sp>
      <p:sp>
        <p:nvSpPr>
          <p:cNvPr id="16389" name="灯片编号占位符 3">
            <a:extLst>
              <a:ext uri="{FF2B5EF4-FFF2-40B4-BE49-F238E27FC236}">
                <a16:creationId xmlns:a16="http://schemas.microsoft.com/office/drawing/2014/main" id="{3471B864-C184-4229-979F-D650EEF2D5A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02F64C0-5106-4DD3-AD73-A02F770C7800}"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14</a:t>
            </a:fld>
            <a:endParaRPr lang="en-US" altLang="zh-CN" sz="1400">
              <a:solidFill>
                <a:srgbClr val="000000"/>
              </a:solidFill>
              <a:latin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矩形 4">
            <a:extLst>
              <a:ext uri="{FF2B5EF4-FFF2-40B4-BE49-F238E27FC236}">
                <a16:creationId xmlns:a16="http://schemas.microsoft.com/office/drawing/2014/main" id="{6E3B674D-A0A7-4174-B650-2945DCC3AA9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7411" name="灯片编号占位符 3">
            <a:extLst>
              <a:ext uri="{FF2B5EF4-FFF2-40B4-BE49-F238E27FC236}">
                <a16:creationId xmlns:a16="http://schemas.microsoft.com/office/drawing/2014/main" id="{8D9965DB-B777-4F5F-B355-E03AD79C3A5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4AACFB2-723B-4B0D-BA78-C45F910D2AB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15</a:t>
            </a:fld>
            <a:endParaRPr lang="en-US" altLang="zh-CN" sz="1400">
              <a:solidFill>
                <a:srgbClr val="000000"/>
              </a:solidFill>
              <a:latin typeface="Arial" panose="020B0604020202020204" pitchFamily="34" charset="0"/>
            </a:endParaRPr>
          </a:p>
        </p:txBody>
      </p:sp>
      <p:sp>
        <p:nvSpPr>
          <p:cNvPr id="17412" name="TextBox 5">
            <a:extLst>
              <a:ext uri="{FF2B5EF4-FFF2-40B4-BE49-F238E27FC236}">
                <a16:creationId xmlns:a16="http://schemas.microsoft.com/office/drawing/2014/main" id="{319C631B-3023-489A-A234-A896755BEB7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灵敏度</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17413" name="Text Box 5">
            <a:extLst>
              <a:ext uri="{FF2B5EF4-FFF2-40B4-BE49-F238E27FC236}">
                <a16:creationId xmlns:a16="http://schemas.microsoft.com/office/drawing/2014/main" id="{F506781C-8E52-439D-956C-5BBCBC224247}"/>
              </a:ext>
            </a:extLst>
          </p:cNvPr>
          <p:cNvSpPr>
            <a:spLocks noChangeArrowheads="1"/>
          </p:cNvSpPr>
          <p:nvPr/>
        </p:nvSpPr>
        <p:spPr bwMode="auto">
          <a:xfrm>
            <a:off x="755650" y="1270000"/>
            <a:ext cx="3736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(1</a:t>
            </a:r>
            <a:r>
              <a:rPr lang="zh-CN" altLang="en-US" sz="2400" b="1">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zh-CN" altLang="en-US" sz="24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灵敏度系数</a:t>
            </a:r>
            <a:endParaRPr lang="zh-CN" altLang="en-US" sz="1800">
              <a:solidFill>
                <a:srgbClr val="0070C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414" name="Rectangle 6">
            <a:extLst>
              <a:ext uri="{FF2B5EF4-FFF2-40B4-BE49-F238E27FC236}">
                <a16:creationId xmlns:a16="http://schemas.microsoft.com/office/drawing/2014/main" id="{33E94308-96EF-4E9C-B469-5E11258A89D5}"/>
              </a:ext>
            </a:extLst>
          </p:cNvPr>
          <p:cNvSpPr>
            <a:spLocks noChangeArrowheads="1"/>
          </p:cNvSpPr>
          <p:nvPr/>
        </p:nvSpPr>
        <p:spPr bwMode="auto">
          <a:xfrm>
            <a:off x="828675" y="1628775"/>
            <a:ext cx="7785100" cy="173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Wingdings" panose="05000000000000000000" pitchFamily="2" charset="2"/>
              <a:buChar char="n"/>
            </a:pP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金属丝的电阻相对变化</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应变之间具有线性关系；</a:t>
            </a:r>
          </a:p>
          <a:p>
            <a:pPr>
              <a:lnSpc>
                <a:spcPct val="150000"/>
              </a:lnSpc>
              <a:spcBef>
                <a:spcPct val="0"/>
              </a:spcBef>
              <a:buFont typeface="Wingdings" panose="05000000000000000000" pitchFamily="2" charset="2"/>
              <a:buChar char="n"/>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金属丝做成电阻应变片后，其电阻</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应变特性与金属单丝时不同的，因此必须通过实验重新测定。</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415" name="Rectangle 7">
            <a:extLst>
              <a:ext uri="{FF2B5EF4-FFF2-40B4-BE49-F238E27FC236}">
                <a16:creationId xmlns:a16="http://schemas.microsoft.com/office/drawing/2014/main" id="{025787C6-9ADD-4907-8504-50487273BA61}"/>
              </a:ext>
            </a:extLst>
          </p:cNvPr>
          <p:cNvSpPr>
            <a:spLocks noChangeArrowheads="1"/>
          </p:cNvSpPr>
          <p:nvPr/>
        </p:nvSpPr>
        <p:spPr bwMode="auto">
          <a:xfrm>
            <a:off x="828675" y="3286125"/>
            <a:ext cx="7740650" cy="279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Wingdings" panose="05000000000000000000" pitchFamily="2" charset="2"/>
              <a:buChar char="n"/>
            </a:pP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实验证明，Δ</a:t>
            </a:r>
            <a:r>
              <a:rPr lang="en-US" altLang="zh-CN" sz="24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R</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en-US" altLang="zh-CN" sz="24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R</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与</a:t>
            </a:r>
            <a:r>
              <a:rPr lang="zh-CN" altLang="en-US" sz="24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ε</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的关系在很大范围内仍然有很好的线性关系。即</a:t>
            </a:r>
          </a:p>
          <a:p>
            <a:pPr>
              <a:lnSpc>
                <a:spcPct val="150000"/>
              </a:lnSpc>
              <a:spcBef>
                <a:spcPct val="0"/>
              </a:spcBef>
              <a:buFont typeface="Wingdings" panose="05000000000000000000" pitchFamily="2" charset="2"/>
              <a:buChar char="n"/>
            </a:pPr>
            <a:endPar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a:lnSpc>
                <a:spcPct val="150000"/>
              </a:lnSpc>
              <a:spcBef>
                <a:spcPct val="0"/>
              </a:spcBef>
              <a:buFont typeface="Arial" panose="020B0604020202020204" pitchFamily="34" charset="0"/>
              <a:buNone/>
            </a:pPr>
            <a:endPar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a:lnSpc>
                <a:spcPct val="150000"/>
              </a:lnSpc>
              <a:spcBef>
                <a:spcPct val="0"/>
              </a:spcBef>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其中，K为电阻应变片的灵敏系数。</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7416" name="Object 8">
            <a:extLst>
              <a:ext uri="{FF2B5EF4-FFF2-40B4-BE49-F238E27FC236}">
                <a16:creationId xmlns:a16="http://schemas.microsoft.com/office/drawing/2014/main" id="{7A48B5CF-34F5-4AE1-8A03-AD557FA133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8663" y="4297363"/>
            <a:ext cx="1743075"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矩形 4">
            <a:extLst>
              <a:ext uri="{FF2B5EF4-FFF2-40B4-BE49-F238E27FC236}">
                <a16:creationId xmlns:a16="http://schemas.microsoft.com/office/drawing/2014/main" id="{FA72DF98-AE39-477C-81D8-9F4F2D98BB6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8435" name="灯片编号占位符 3">
            <a:extLst>
              <a:ext uri="{FF2B5EF4-FFF2-40B4-BE49-F238E27FC236}">
                <a16:creationId xmlns:a16="http://schemas.microsoft.com/office/drawing/2014/main" id="{8834E799-55C8-41BE-8EBF-A509906FC88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47B493B-C863-4AFF-98D8-81A81657E08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16</a:t>
            </a:fld>
            <a:endParaRPr lang="en-US" altLang="zh-CN" sz="1400">
              <a:solidFill>
                <a:srgbClr val="000000"/>
              </a:solidFill>
              <a:latin typeface="Arial" panose="020B0604020202020204" pitchFamily="34" charset="0"/>
            </a:endParaRPr>
          </a:p>
        </p:txBody>
      </p:sp>
      <p:sp>
        <p:nvSpPr>
          <p:cNvPr id="18436" name="TextBox 5">
            <a:extLst>
              <a:ext uri="{FF2B5EF4-FFF2-40B4-BE49-F238E27FC236}">
                <a16:creationId xmlns:a16="http://schemas.microsoft.com/office/drawing/2014/main" id="{3B9C3A05-37F6-419B-AA65-7E039537B1E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横向效应</a:t>
            </a:r>
            <a:endParaRPr lang="zh-CN" altLang="en-US">
              <a:latin typeface="黑体" panose="02010609060101010101" pitchFamily="49" charset="-122"/>
              <a:ea typeface="黑体" panose="02010609060101010101" pitchFamily="49" charset="-122"/>
            </a:endParaRPr>
          </a:p>
        </p:txBody>
      </p:sp>
      <p:sp>
        <p:nvSpPr>
          <p:cNvPr id="18437" name="Text Box 4">
            <a:extLst>
              <a:ext uri="{FF2B5EF4-FFF2-40B4-BE49-F238E27FC236}">
                <a16:creationId xmlns:a16="http://schemas.microsoft.com/office/drawing/2014/main" id="{4300323D-2061-49B7-99EE-A88C0D88D2DC}"/>
              </a:ext>
            </a:extLst>
          </p:cNvPr>
          <p:cNvSpPr>
            <a:spLocks noChangeArrowheads="1"/>
          </p:cNvSpPr>
          <p:nvPr/>
        </p:nvSpPr>
        <p:spPr bwMode="auto">
          <a:xfrm>
            <a:off x="468313" y="1270000"/>
            <a:ext cx="3736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b="1">
                <a:solidFill>
                  <a:srgbClr val="0070C0"/>
                </a:solidFill>
                <a:latin typeface="微软雅黑" panose="020B0503020204020204" pitchFamily="34" charset="-122"/>
                <a:ea typeface="微软雅黑" panose="020B0503020204020204" pitchFamily="34" charset="-122"/>
                <a:sym typeface="楷体_GB2312" pitchFamily="49" charset="-122"/>
              </a:rPr>
              <a:t>(2</a:t>
            </a:r>
            <a:r>
              <a:rPr lang="zh-CN" altLang="en-US" sz="2400" b="1">
                <a:solidFill>
                  <a:srgbClr val="0070C0"/>
                </a:solidFill>
                <a:latin typeface="微软雅黑" panose="020B0503020204020204" pitchFamily="34" charset="-122"/>
                <a:ea typeface="微软雅黑" panose="020B0503020204020204" pitchFamily="34" charset="-122"/>
                <a:sym typeface="楷体_GB2312" pitchFamily="49" charset="-122"/>
              </a:rPr>
              <a:t>）</a:t>
            </a:r>
            <a:r>
              <a:rPr lang="zh-CN" altLang="en-US" sz="2400">
                <a:solidFill>
                  <a:srgbClr val="0070C0"/>
                </a:solidFill>
                <a:latin typeface="微软雅黑" panose="020B0503020204020204" pitchFamily="34" charset="-122"/>
                <a:ea typeface="微软雅黑" panose="020B0503020204020204" pitchFamily="34" charset="-122"/>
                <a:sym typeface="楷体_GB2312" pitchFamily="49" charset="-122"/>
              </a:rPr>
              <a:t>横向效应</a:t>
            </a:r>
            <a:endParaRPr lang="zh-CN" altLang="en-US" sz="1800">
              <a:solidFill>
                <a:srgbClr val="0070C0"/>
              </a:solidFill>
              <a:latin typeface="微软雅黑" panose="020B0503020204020204" pitchFamily="34" charset="-122"/>
              <a:ea typeface="微软雅黑" panose="020B0503020204020204" pitchFamily="34" charset="-122"/>
            </a:endParaRPr>
          </a:p>
        </p:txBody>
      </p:sp>
      <p:sp>
        <p:nvSpPr>
          <p:cNvPr id="18438" name="Rectangle 5">
            <a:extLst>
              <a:ext uri="{FF2B5EF4-FFF2-40B4-BE49-F238E27FC236}">
                <a16:creationId xmlns:a16="http://schemas.microsoft.com/office/drawing/2014/main" id="{FC79F42C-2310-4E8E-9B17-D7D126C2C88B}"/>
              </a:ext>
            </a:extLst>
          </p:cNvPr>
          <p:cNvSpPr>
            <a:spLocks noChangeArrowheads="1"/>
          </p:cNvSpPr>
          <p:nvPr/>
        </p:nvSpPr>
        <p:spPr bwMode="auto">
          <a:xfrm>
            <a:off x="755650" y="1701800"/>
            <a:ext cx="8416925" cy="228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Wingdings" panose="05000000000000000000" pitchFamily="2" charset="2"/>
              <a:buChar char="n"/>
            </a:pPr>
            <a:r>
              <a:rPr lang="en-US" altLang="zh-CN" sz="2400">
                <a:solidFill>
                  <a:srgbClr val="000000"/>
                </a:solidFill>
                <a:latin typeface="微软雅黑" panose="020B0503020204020204" pitchFamily="34" charset="-122"/>
                <a:ea typeface="微软雅黑" panose="020B0503020204020204" pitchFamily="34" charset="-122"/>
              </a:rPr>
              <a:t>  </a:t>
            </a:r>
            <a:r>
              <a:rPr lang="zh-CN" altLang="en-US" sz="2400">
                <a:solidFill>
                  <a:srgbClr val="000000"/>
                </a:solidFill>
                <a:latin typeface="微软雅黑" panose="020B0503020204020204" pitchFamily="34" charset="-122"/>
                <a:ea typeface="微软雅黑" panose="020B0503020204020204" pitchFamily="34" charset="-122"/>
              </a:rPr>
              <a:t>应变片由于两端有圆弧形或直线形的横栅，测量应变时，横栅既对应变片轴线方向的应变敏感，又对垂直于轴线方向的横向应变敏感。应变片的这种既受轴向应变影响，又受横向应变影响而引起电阻变化的现象称为横向效应。</a:t>
            </a:r>
            <a:endParaRPr lang="zh-CN" altLang="en-US" sz="1800">
              <a:latin typeface="微软雅黑" panose="020B0503020204020204" pitchFamily="34" charset="-122"/>
              <a:ea typeface="微软雅黑" panose="020B0503020204020204" pitchFamily="34" charset="-122"/>
            </a:endParaRPr>
          </a:p>
        </p:txBody>
      </p:sp>
      <p:sp>
        <p:nvSpPr>
          <p:cNvPr id="16391" name="Rectangle 6">
            <a:extLst>
              <a:ext uri="{FF2B5EF4-FFF2-40B4-BE49-F238E27FC236}">
                <a16:creationId xmlns:a16="http://schemas.microsoft.com/office/drawing/2014/main" id="{18897B1F-97A2-4FC5-9C11-6F3D75D0A164}"/>
              </a:ext>
            </a:extLst>
          </p:cNvPr>
          <p:cNvSpPr>
            <a:spLocks noChangeArrowheads="1"/>
          </p:cNvSpPr>
          <p:nvPr/>
        </p:nvSpPr>
        <p:spPr bwMode="auto">
          <a:xfrm>
            <a:off x="755650" y="3860800"/>
            <a:ext cx="4860925"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Wingdings" panose="05000000000000000000" pitchFamily="2" charset="2"/>
              <a:buChar char="n"/>
              <a:defRPr/>
            </a:pPr>
            <a:r>
              <a:rPr lang="en-US" altLang="zh-CN" sz="2400" dirty="0">
                <a:solidFill>
                  <a:srgbClr val="000000"/>
                </a:solidFill>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横向效应给测量带来了误差，其大小与敏感栅的构造及尺寸有关。</a:t>
            </a:r>
          </a:p>
          <a:p>
            <a:pPr>
              <a:lnSpc>
                <a:spcPct val="150000"/>
              </a:lnSpc>
              <a:spcBef>
                <a:spcPct val="0"/>
              </a:spcBef>
              <a:buFont typeface="Wingdings" panose="05000000000000000000" pitchFamily="2" charset="2"/>
              <a:buChar char="n"/>
              <a:defRPr/>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00"/>
                </a:solidFill>
                <a:highlight>
                  <a:srgbClr val="FFFF00"/>
                </a:highlight>
                <a:latin typeface="微软雅黑" panose="020B0503020204020204" pitchFamily="34" charset="-122"/>
                <a:ea typeface="微软雅黑" panose="020B0503020204020204" pitchFamily="34" charset="-122"/>
                <a:sym typeface="楷体_GB2312" pitchFamily="49" charset="-122"/>
              </a:rPr>
              <a:t>敏感栅纵栅愈窄愈长，而横栅愈宽愈短，则横向效应的影响愈小。</a:t>
            </a:r>
            <a:endParaRPr lang="zh-CN" altLang="en-US" sz="1800" dirty="0">
              <a:highlight>
                <a:srgbClr val="FFFF00"/>
              </a:highlight>
              <a:latin typeface="微软雅黑" panose="020B0503020204020204" pitchFamily="34" charset="-122"/>
              <a:ea typeface="微软雅黑" panose="020B0503020204020204" pitchFamily="34" charset="-122"/>
            </a:endParaRPr>
          </a:p>
        </p:txBody>
      </p:sp>
      <p:pic>
        <p:nvPicPr>
          <p:cNvPr id="18440" name="Picture 7">
            <a:extLst>
              <a:ext uri="{FF2B5EF4-FFF2-40B4-BE49-F238E27FC236}">
                <a16:creationId xmlns:a16="http://schemas.microsoft.com/office/drawing/2014/main" id="{F8AB2A47-0358-4A9F-B6CC-9D2D3DD6CF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988" y="3933825"/>
            <a:ext cx="2847975" cy="261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29D3CE52-E1C6-4AA7-8660-054A2FB43B08}"/>
              </a:ext>
            </a:extLst>
          </p:cNvPr>
          <p:cNvPicPr>
            <a:picLocks noChangeAspect="1"/>
          </p:cNvPicPr>
          <p:nvPr/>
        </p:nvPicPr>
        <p:blipFill>
          <a:blip r:embed="rId3"/>
          <a:stretch>
            <a:fillRect/>
          </a:stretch>
        </p:blipFill>
        <p:spPr>
          <a:xfrm rot="16200000">
            <a:off x="6045202" y="1131887"/>
            <a:ext cx="2019300" cy="33242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6391"/>
                                        </p:tgtEl>
                                        <p:attrNameLst>
                                          <p:attrName>style.visibility</p:attrName>
                                        </p:attrNameLst>
                                      </p:cBhvr>
                                      <p:to>
                                        <p:strVal val="visible"/>
                                      </p:to>
                                    </p:set>
                                    <p:animEffect filter="blinds(horizontal)">
                                      <p:cBhvr>
                                        <p:cTn id="7" dur="500"/>
                                        <p:tgtEl>
                                          <p:spTgt spid="1639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4">
            <a:extLst>
              <a:ext uri="{FF2B5EF4-FFF2-40B4-BE49-F238E27FC236}">
                <a16:creationId xmlns:a16="http://schemas.microsoft.com/office/drawing/2014/main" id="{8930992B-1F69-4645-8A3F-F53377F021E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19459" name="灯片编号占位符 3">
            <a:extLst>
              <a:ext uri="{FF2B5EF4-FFF2-40B4-BE49-F238E27FC236}">
                <a16:creationId xmlns:a16="http://schemas.microsoft.com/office/drawing/2014/main" id="{F55A96E9-E42A-4CE2-82A7-EF2D18C288B8}"/>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C8F8979-E0FA-4FDC-8C72-91AA7521BF9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17</a:t>
            </a:fld>
            <a:endParaRPr lang="en-US" altLang="zh-CN" sz="1400">
              <a:solidFill>
                <a:srgbClr val="000000"/>
              </a:solidFill>
              <a:latin typeface="Arial" panose="020B0604020202020204" pitchFamily="34" charset="0"/>
            </a:endParaRPr>
          </a:p>
        </p:txBody>
      </p:sp>
      <p:sp>
        <p:nvSpPr>
          <p:cNvPr id="19460" name="TextBox 5">
            <a:extLst>
              <a:ext uri="{FF2B5EF4-FFF2-40B4-BE49-F238E27FC236}">
                <a16:creationId xmlns:a16="http://schemas.microsoft.com/office/drawing/2014/main" id="{E2527512-138D-47F2-8D15-415394F067CC}"/>
              </a:ext>
            </a:extLst>
          </p:cNvPr>
          <p:cNvSpPr>
            <a:spLocks noChangeArrowheads="1"/>
          </p:cNvSpPr>
          <p:nvPr/>
        </p:nvSpPr>
        <p:spPr bwMode="auto">
          <a:xfrm>
            <a:off x="684213" y="200025"/>
            <a:ext cx="5143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滞回特性</a:t>
            </a:r>
            <a:endParaRPr lang="zh-CN" altLang="en-US">
              <a:latin typeface="黑体" panose="02010609060101010101" pitchFamily="49" charset="-122"/>
              <a:ea typeface="黑体" panose="02010609060101010101" pitchFamily="49" charset="-122"/>
            </a:endParaRPr>
          </a:p>
        </p:txBody>
      </p:sp>
      <p:sp>
        <p:nvSpPr>
          <p:cNvPr id="19461" name="Text Box 4">
            <a:extLst>
              <a:ext uri="{FF2B5EF4-FFF2-40B4-BE49-F238E27FC236}">
                <a16:creationId xmlns:a16="http://schemas.microsoft.com/office/drawing/2014/main" id="{07A498DC-CB8A-4E5D-B889-4896C6F3D331}"/>
              </a:ext>
            </a:extLst>
          </p:cNvPr>
          <p:cNvSpPr>
            <a:spLocks noChangeArrowheads="1"/>
          </p:cNvSpPr>
          <p:nvPr/>
        </p:nvSpPr>
        <p:spPr bwMode="auto">
          <a:xfrm>
            <a:off x="611188" y="1270000"/>
            <a:ext cx="37369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a:solidFill>
                  <a:srgbClr val="0070C0"/>
                </a:solidFill>
                <a:latin typeface="微软雅黑" panose="020B0503020204020204" pitchFamily="34" charset="-122"/>
                <a:ea typeface="微软雅黑" panose="020B0503020204020204" pitchFamily="34" charset="-122"/>
                <a:sym typeface="楷体_GB2312" pitchFamily="49" charset="-122"/>
              </a:rPr>
              <a:t>(3</a:t>
            </a:r>
            <a:r>
              <a:rPr lang="zh-CN" altLang="en-US" sz="2400">
                <a:solidFill>
                  <a:srgbClr val="0070C0"/>
                </a:solidFill>
                <a:latin typeface="微软雅黑" panose="020B0503020204020204" pitchFamily="34" charset="-122"/>
                <a:ea typeface="微软雅黑" panose="020B0503020204020204" pitchFamily="34" charset="-122"/>
                <a:sym typeface="楷体_GB2312" pitchFamily="49" charset="-122"/>
              </a:rPr>
              <a:t>）机械滞后</a:t>
            </a:r>
            <a:endParaRPr lang="zh-CN" altLang="en-US" sz="1800">
              <a:solidFill>
                <a:srgbClr val="0070C0"/>
              </a:solidFill>
              <a:latin typeface="微软雅黑" panose="020B0503020204020204" pitchFamily="34" charset="-122"/>
              <a:ea typeface="微软雅黑" panose="020B0503020204020204" pitchFamily="34" charset="-122"/>
            </a:endParaRPr>
          </a:p>
        </p:txBody>
      </p:sp>
      <p:sp>
        <p:nvSpPr>
          <p:cNvPr id="19462" name="Line 5">
            <a:extLst>
              <a:ext uri="{FF2B5EF4-FFF2-40B4-BE49-F238E27FC236}">
                <a16:creationId xmlns:a16="http://schemas.microsoft.com/office/drawing/2014/main" id="{88C681FD-AB51-4DF5-88D1-2A3C79F854B9}"/>
              </a:ext>
            </a:extLst>
          </p:cNvPr>
          <p:cNvSpPr>
            <a:spLocks noChangeShapeType="1"/>
          </p:cNvSpPr>
          <p:nvPr/>
        </p:nvSpPr>
        <p:spPr bwMode="auto">
          <a:xfrm flipV="1">
            <a:off x="919163" y="2078038"/>
            <a:ext cx="1587" cy="2928937"/>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463" name="Line 6">
            <a:extLst>
              <a:ext uri="{FF2B5EF4-FFF2-40B4-BE49-F238E27FC236}">
                <a16:creationId xmlns:a16="http://schemas.microsoft.com/office/drawing/2014/main" id="{5FE67832-9D3D-4719-B653-8F3AB545E5C5}"/>
              </a:ext>
            </a:extLst>
          </p:cNvPr>
          <p:cNvSpPr>
            <a:spLocks noChangeShapeType="1"/>
          </p:cNvSpPr>
          <p:nvPr/>
        </p:nvSpPr>
        <p:spPr bwMode="auto">
          <a:xfrm>
            <a:off x="919163" y="5006975"/>
            <a:ext cx="3297237" cy="0"/>
          </a:xfrm>
          <a:prstGeom prst="line">
            <a:avLst/>
          </a:prstGeom>
          <a:noFill/>
          <a:ln w="9525">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zh-CN" altLang="en-US"/>
          </a:p>
        </p:txBody>
      </p:sp>
      <p:sp>
        <p:nvSpPr>
          <p:cNvPr id="19464" name="Line 7">
            <a:extLst>
              <a:ext uri="{FF2B5EF4-FFF2-40B4-BE49-F238E27FC236}">
                <a16:creationId xmlns:a16="http://schemas.microsoft.com/office/drawing/2014/main" id="{9B391CB1-E7CB-4A66-AA43-9B126DD43B7F}"/>
              </a:ext>
            </a:extLst>
          </p:cNvPr>
          <p:cNvSpPr>
            <a:spLocks noChangeShapeType="1"/>
          </p:cNvSpPr>
          <p:nvPr/>
        </p:nvSpPr>
        <p:spPr bwMode="auto">
          <a:xfrm>
            <a:off x="2517775" y="3125788"/>
            <a:ext cx="0" cy="18811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5" name="Line 8">
            <a:extLst>
              <a:ext uri="{FF2B5EF4-FFF2-40B4-BE49-F238E27FC236}">
                <a16:creationId xmlns:a16="http://schemas.microsoft.com/office/drawing/2014/main" id="{77864D7E-7CE6-426A-88BC-59D6DA83EF97}"/>
              </a:ext>
            </a:extLst>
          </p:cNvPr>
          <p:cNvSpPr>
            <a:spLocks noChangeShapeType="1"/>
          </p:cNvSpPr>
          <p:nvPr/>
        </p:nvSpPr>
        <p:spPr bwMode="auto">
          <a:xfrm>
            <a:off x="2517775" y="3125788"/>
            <a:ext cx="993775" cy="15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6" name="Line 9">
            <a:extLst>
              <a:ext uri="{FF2B5EF4-FFF2-40B4-BE49-F238E27FC236}">
                <a16:creationId xmlns:a16="http://schemas.microsoft.com/office/drawing/2014/main" id="{85D4D0B3-03C0-4868-87C9-6FFA68A79DB5}"/>
              </a:ext>
            </a:extLst>
          </p:cNvPr>
          <p:cNvSpPr>
            <a:spLocks noChangeShapeType="1"/>
          </p:cNvSpPr>
          <p:nvPr/>
        </p:nvSpPr>
        <p:spPr bwMode="auto">
          <a:xfrm>
            <a:off x="2517775" y="3378200"/>
            <a:ext cx="9937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7" name="Line 10">
            <a:extLst>
              <a:ext uri="{FF2B5EF4-FFF2-40B4-BE49-F238E27FC236}">
                <a16:creationId xmlns:a16="http://schemas.microsoft.com/office/drawing/2014/main" id="{F6F27892-551B-448C-930E-56DEEEA48F37}"/>
              </a:ext>
            </a:extLst>
          </p:cNvPr>
          <p:cNvSpPr>
            <a:spLocks noChangeShapeType="1"/>
          </p:cNvSpPr>
          <p:nvPr/>
        </p:nvSpPr>
        <p:spPr bwMode="auto">
          <a:xfrm>
            <a:off x="3451225" y="2727325"/>
            <a:ext cx="0" cy="379413"/>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9468" name="Line 11">
            <a:extLst>
              <a:ext uri="{FF2B5EF4-FFF2-40B4-BE49-F238E27FC236}">
                <a16:creationId xmlns:a16="http://schemas.microsoft.com/office/drawing/2014/main" id="{1B4AA173-AE16-4001-9882-E2218C9CCA73}"/>
              </a:ext>
            </a:extLst>
          </p:cNvPr>
          <p:cNvSpPr>
            <a:spLocks noChangeShapeType="1"/>
          </p:cNvSpPr>
          <p:nvPr/>
        </p:nvSpPr>
        <p:spPr bwMode="auto">
          <a:xfrm flipV="1">
            <a:off x="3449638" y="3378200"/>
            <a:ext cx="1587" cy="379413"/>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sp>
        <p:nvSpPr>
          <p:cNvPr id="19469" name="Rectangle 12">
            <a:extLst>
              <a:ext uri="{FF2B5EF4-FFF2-40B4-BE49-F238E27FC236}">
                <a16:creationId xmlns:a16="http://schemas.microsoft.com/office/drawing/2014/main" id="{FE9AF574-C28E-414B-A601-C0A887CB3C33}"/>
              </a:ext>
            </a:extLst>
          </p:cNvPr>
          <p:cNvSpPr>
            <a:spLocks noChangeArrowheads="1"/>
          </p:cNvSpPr>
          <p:nvPr/>
        </p:nvSpPr>
        <p:spPr bwMode="auto">
          <a:xfrm>
            <a:off x="3656013" y="3106738"/>
            <a:ext cx="7540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zh-CN" sz="2400" i="1">
                <a:solidFill>
                  <a:schemeClr val="folHlink"/>
                </a:solidFill>
                <a:latin typeface="Times New Roman" panose="02020603050405020304" pitchFamily="18" charset="0"/>
                <a:sym typeface="Times New Roman" panose="02020603050405020304" pitchFamily="18" charset="0"/>
              </a:rPr>
              <a:t>Δ</a:t>
            </a:r>
            <a:r>
              <a:rPr lang="zh-CN" altLang="zh-CN" sz="2400" i="1">
                <a:solidFill>
                  <a:schemeClr val="folHlink"/>
                </a:solidFill>
                <a:latin typeface="宋体" panose="02010600030101010101" pitchFamily="2" charset="-122"/>
                <a:sym typeface="Times New Roman" panose="02020603050405020304" pitchFamily="18" charset="0"/>
              </a:rPr>
              <a:t>ε</a:t>
            </a:r>
            <a:endParaRPr lang="zh-CN" altLang="zh-CN" sz="2400">
              <a:solidFill>
                <a:schemeClr val="folHlink"/>
              </a:solidFill>
              <a:latin typeface="宋体" panose="02010600030101010101" pitchFamily="2" charset="-122"/>
              <a:sym typeface="Times New Roman" panose="02020603050405020304" pitchFamily="18" charset="0"/>
            </a:endParaRPr>
          </a:p>
          <a:p>
            <a:pPr>
              <a:spcBef>
                <a:spcPct val="0"/>
              </a:spcBef>
              <a:buFont typeface="Arial" panose="020B0604020202020204" pitchFamily="34" charset="0"/>
              <a:buNone/>
            </a:pPr>
            <a:endParaRPr lang="zh-CN" altLang="zh-CN" sz="2400">
              <a:solidFill>
                <a:schemeClr val="folHlink"/>
              </a:solidFill>
              <a:latin typeface="Times New Roman" panose="02020603050405020304" pitchFamily="18" charset="0"/>
              <a:sym typeface="Times New Roman" panose="02020603050405020304" pitchFamily="18" charset="0"/>
            </a:endParaRPr>
          </a:p>
        </p:txBody>
      </p:sp>
      <p:sp>
        <p:nvSpPr>
          <p:cNvPr id="19470" name="Rectangle 13">
            <a:extLst>
              <a:ext uri="{FF2B5EF4-FFF2-40B4-BE49-F238E27FC236}">
                <a16:creationId xmlns:a16="http://schemas.microsoft.com/office/drawing/2014/main" id="{31DB06A5-7831-49F0-A1FD-689E4C4F31CA}"/>
              </a:ext>
            </a:extLst>
          </p:cNvPr>
          <p:cNvSpPr>
            <a:spLocks noChangeArrowheads="1"/>
          </p:cNvSpPr>
          <p:nvPr/>
        </p:nvSpPr>
        <p:spPr bwMode="auto">
          <a:xfrm>
            <a:off x="2300288" y="5000625"/>
            <a:ext cx="7540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400" i="1">
                <a:solidFill>
                  <a:schemeClr val="folHlink"/>
                </a:solidFill>
                <a:latin typeface="Times New Roman" panose="02020603050405020304" pitchFamily="18" charset="0"/>
                <a:sym typeface="Times New Roman" panose="02020603050405020304" pitchFamily="18" charset="0"/>
              </a:rPr>
              <a:t>ε</a:t>
            </a:r>
            <a:r>
              <a:rPr lang="en-US" altLang="zh-CN" sz="2400" baseline="-30000">
                <a:solidFill>
                  <a:schemeClr val="folHlink"/>
                </a:solidFill>
                <a:latin typeface="Times New Roman" panose="02020603050405020304" pitchFamily="18" charset="0"/>
                <a:sym typeface="Times New Roman" panose="02020603050405020304" pitchFamily="18" charset="0"/>
              </a:rPr>
              <a:t>l</a:t>
            </a:r>
            <a:endParaRPr lang="en-US" altLang="zh-CN" sz="2400">
              <a:solidFill>
                <a:schemeClr val="folHlink"/>
              </a:solidFill>
              <a:latin typeface="Times New Roman" panose="02020603050405020304" pitchFamily="18" charset="0"/>
              <a:sym typeface="Times New Roman" panose="02020603050405020304" pitchFamily="18" charset="0"/>
            </a:endParaRPr>
          </a:p>
        </p:txBody>
      </p:sp>
      <p:sp>
        <p:nvSpPr>
          <p:cNvPr id="19471" name="Rectangle 14">
            <a:extLst>
              <a:ext uri="{FF2B5EF4-FFF2-40B4-BE49-F238E27FC236}">
                <a16:creationId xmlns:a16="http://schemas.microsoft.com/office/drawing/2014/main" id="{14E26868-EE1C-491E-9937-4B1C68D36588}"/>
              </a:ext>
            </a:extLst>
          </p:cNvPr>
          <p:cNvSpPr>
            <a:spLocks noChangeArrowheads="1"/>
          </p:cNvSpPr>
          <p:nvPr/>
        </p:nvSpPr>
        <p:spPr bwMode="auto">
          <a:xfrm>
            <a:off x="2916238" y="5086350"/>
            <a:ext cx="18764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2400">
                <a:solidFill>
                  <a:schemeClr val="folHlink"/>
                </a:solidFill>
                <a:latin typeface="Times New Roman" panose="02020603050405020304" pitchFamily="18" charset="0"/>
                <a:sym typeface="Times New Roman" panose="02020603050405020304" pitchFamily="18" charset="0"/>
              </a:rPr>
              <a:t>机械应变</a:t>
            </a:r>
            <a:r>
              <a:rPr lang="en-US" altLang="zh-CN" sz="2400" i="1">
                <a:solidFill>
                  <a:schemeClr val="folHlink"/>
                </a:solidFill>
                <a:latin typeface="Times New Roman" panose="02020603050405020304" pitchFamily="18" charset="0"/>
                <a:sym typeface="Times New Roman" panose="02020603050405020304" pitchFamily="18" charset="0"/>
              </a:rPr>
              <a:t>ε</a:t>
            </a:r>
            <a:endParaRPr lang="en-US" altLang="zh-CN" sz="2400" i="1" baseline="-25000">
              <a:solidFill>
                <a:schemeClr val="folHlink"/>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400">
              <a:solidFill>
                <a:schemeClr val="folHlink"/>
              </a:solidFill>
              <a:latin typeface="Times New Roman" panose="02020603050405020304" pitchFamily="18" charset="0"/>
              <a:sym typeface="Times New Roman" panose="02020603050405020304" pitchFamily="18" charset="0"/>
            </a:endParaRPr>
          </a:p>
        </p:txBody>
      </p:sp>
      <p:sp>
        <p:nvSpPr>
          <p:cNvPr id="19472" name="Rectangle 15">
            <a:extLst>
              <a:ext uri="{FF2B5EF4-FFF2-40B4-BE49-F238E27FC236}">
                <a16:creationId xmlns:a16="http://schemas.microsoft.com/office/drawing/2014/main" id="{BF88BC92-4C52-4345-8587-4754A9EB7727}"/>
              </a:ext>
            </a:extLst>
          </p:cNvPr>
          <p:cNvSpPr>
            <a:spLocks noChangeArrowheads="1"/>
          </p:cNvSpPr>
          <p:nvPr/>
        </p:nvSpPr>
        <p:spPr bwMode="auto">
          <a:xfrm>
            <a:off x="1763713" y="2636838"/>
            <a:ext cx="7540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2400">
                <a:solidFill>
                  <a:schemeClr val="folHlink"/>
                </a:solidFill>
                <a:latin typeface="Times New Roman" panose="02020603050405020304" pitchFamily="18" charset="0"/>
                <a:sym typeface="Times New Roman" panose="02020603050405020304" pitchFamily="18" charset="0"/>
              </a:rPr>
              <a:t>卸载</a:t>
            </a:r>
          </a:p>
          <a:p>
            <a:pPr>
              <a:spcBef>
                <a:spcPct val="0"/>
              </a:spcBef>
              <a:buFont typeface="Arial" panose="020B0604020202020204" pitchFamily="34" charset="0"/>
              <a:buNone/>
            </a:pPr>
            <a:endParaRPr lang="zh-CN" altLang="en-US" sz="2400">
              <a:solidFill>
                <a:schemeClr val="folHlink"/>
              </a:solidFill>
              <a:latin typeface="Times New Roman" panose="02020603050405020304" pitchFamily="18" charset="0"/>
              <a:sym typeface="Times New Roman" panose="02020603050405020304" pitchFamily="18" charset="0"/>
            </a:endParaRPr>
          </a:p>
        </p:txBody>
      </p:sp>
      <p:sp>
        <p:nvSpPr>
          <p:cNvPr id="19473" name="Rectangle 16">
            <a:extLst>
              <a:ext uri="{FF2B5EF4-FFF2-40B4-BE49-F238E27FC236}">
                <a16:creationId xmlns:a16="http://schemas.microsoft.com/office/drawing/2014/main" id="{119D3DF6-220B-496E-A173-07D0829D97D1}"/>
              </a:ext>
            </a:extLst>
          </p:cNvPr>
          <p:cNvSpPr>
            <a:spLocks noChangeArrowheads="1"/>
          </p:cNvSpPr>
          <p:nvPr/>
        </p:nvSpPr>
        <p:spPr bwMode="auto">
          <a:xfrm>
            <a:off x="1763713" y="4200525"/>
            <a:ext cx="7540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2400">
                <a:solidFill>
                  <a:schemeClr val="folHlink"/>
                </a:solidFill>
                <a:latin typeface="Times New Roman" panose="02020603050405020304" pitchFamily="18" charset="0"/>
                <a:sym typeface="Times New Roman" panose="02020603050405020304" pitchFamily="18" charset="0"/>
              </a:rPr>
              <a:t>加载</a:t>
            </a:r>
          </a:p>
          <a:p>
            <a:pPr>
              <a:spcBef>
                <a:spcPct val="0"/>
              </a:spcBef>
              <a:buFont typeface="Arial" panose="020B0604020202020204" pitchFamily="34" charset="0"/>
              <a:buNone/>
            </a:pPr>
            <a:endParaRPr lang="zh-CN" altLang="en-US" sz="2400">
              <a:solidFill>
                <a:schemeClr val="folHlink"/>
              </a:solidFill>
              <a:latin typeface="Times New Roman" panose="02020603050405020304" pitchFamily="18" charset="0"/>
              <a:sym typeface="Times New Roman" panose="02020603050405020304" pitchFamily="18" charset="0"/>
            </a:endParaRPr>
          </a:p>
        </p:txBody>
      </p:sp>
      <p:sp>
        <p:nvSpPr>
          <p:cNvPr id="19474" name="Rectangle 17">
            <a:extLst>
              <a:ext uri="{FF2B5EF4-FFF2-40B4-BE49-F238E27FC236}">
                <a16:creationId xmlns:a16="http://schemas.microsoft.com/office/drawing/2014/main" id="{7C9EE8C9-B4B9-459B-8A10-1AA8D23B3A86}"/>
              </a:ext>
            </a:extLst>
          </p:cNvPr>
          <p:cNvSpPr>
            <a:spLocks noChangeArrowheads="1"/>
          </p:cNvSpPr>
          <p:nvPr/>
        </p:nvSpPr>
        <p:spPr bwMode="auto">
          <a:xfrm>
            <a:off x="296863" y="2816225"/>
            <a:ext cx="385762"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2400">
                <a:solidFill>
                  <a:schemeClr val="folHlink"/>
                </a:solidFill>
                <a:latin typeface="Times New Roman" panose="02020603050405020304" pitchFamily="18" charset="0"/>
                <a:sym typeface="Times New Roman" panose="02020603050405020304" pitchFamily="18" charset="0"/>
              </a:rPr>
              <a:t>指示应变</a:t>
            </a:r>
            <a:r>
              <a:rPr lang="en-US" altLang="zh-CN" sz="2400" i="1">
                <a:solidFill>
                  <a:schemeClr val="folHlink"/>
                </a:solidFill>
                <a:latin typeface="Times New Roman" panose="02020603050405020304" pitchFamily="18" charset="0"/>
                <a:sym typeface="Times New Roman" panose="02020603050405020304" pitchFamily="18" charset="0"/>
              </a:rPr>
              <a:t>ε</a:t>
            </a:r>
            <a:r>
              <a:rPr lang="en-US" altLang="zh-CN" sz="2400" i="1" baseline="-30000">
                <a:solidFill>
                  <a:schemeClr val="folHlink"/>
                </a:solidFill>
                <a:latin typeface="Times New Roman" panose="02020603050405020304" pitchFamily="18" charset="0"/>
                <a:sym typeface="Times New Roman" panose="02020603050405020304" pitchFamily="18" charset="0"/>
              </a:rPr>
              <a:t>i</a:t>
            </a:r>
            <a:endParaRPr lang="en-US" altLang="zh-CN" sz="2400" i="1">
              <a:solidFill>
                <a:schemeClr val="folHlink"/>
              </a:solidFill>
              <a:latin typeface="Times New Roman" panose="02020603050405020304" pitchFamily="18" charset="0"/>
              <a:sym typeface="Times New Roman" panose="02020603050405020304" pitchFamily="18" charset="0"/>
            </a:endParaRPr>
          </a:p>
        </p:txBody>
      </p:sp>
      <p:sp>
        <p:nvSpPr>
          <p:cNvPr id="19475" name="Rectangle 18">
            <a:extLst>
              <a:ext uri="{FF2B5EF4-FFF2-40B4-BE49-F238E27FC236}">
                <a16:creationId xmlns:a16="http://schemas.microsoft.com/office/drawing/2014/main" id="{94540CAE-ACD1-4EC0-8562-F1BD466C3329}"/>
              </a:ext>
            </a:extLst>
          </p:cNvPr>
          <p:cNvSpPr>
            <a:spLocks noChangeArrowheads="1"/>
          </p:cNvSpPr>
          <p:nvPr/>
        </p:nvSpPr>
        <p:spPr bwMode="auto">
          <a:xfrm>
            <a:off x="539750" y="5805488"/>
            <a:ext cx="35560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b="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应变片的机械滞后</a:t>
            </a:r>
            <a:endParaRPr lang="zh-CN" altLang="en-US" sz="1800">
              <a:latin typeface="微软雅黑" panose="020B0503020204020204" pitchFamily="34" charset="-122"/>
              <a:ea typeface="微软雅黑" panose="020B0503020204020204" pitchFamily="34" charset="-122"/>
            </a:endParaRPr>
          </a:p>
        </p:txBody>
      </p:sp>
      <p:sp>
        <p:nvSpPr>
          <p:cNvPr id="19476" name="Line 19">
            <a:extLst>
              <a:ext uri="{FF2B5EF4-FFF2-40B4-BE49-F238E27FC236}">
                <a16:creationId xmlns:a16="http://schemas.microsoft.com/office/drawing/2014/main" id="{ED3EA9EB-5CE5-4BF2-A6CD-6E11EE0088F4}"/>
              </a:ext>
            </a:extLst>
          </p:cNvPr>
          <p:cNvSpPr>
            <a:spLocks noChangeShapeType="1"/>
          </p:cNvSpPr>
          <p:nvPr/>
        </p:nvSpPr>
        <p:spPr bwMode="auto">
          <a:xfrm flipV="1">
            <a:off x="919163" y="2482850"/>
            <a:ext cx="2447925" cy="251460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77" name="Line 20">
            <a:extLst>
              <a:ext uri="{FF2B5EF4-FFF2-40B4-BE49-F238E27FC236}">
                <a16:creationId xmlns:a16="http://schemas.microsoft.com/office/drawing/2014/main" id="{A55D4F6C-4386-488D-A2D2-C619E0DBA29F}"/>
              </a:ext>
            </a:extLst>
          </p:cNvPr>
          <p:cNvSpPr>
            <a:spLocks noChangeShapeType="1"/>
          </p:cNvSpPr>
          <p:nvPr/>
        </p:nvSpPr>
        <p:spPr bwMode="auto">
          <a:xfrm flipV="1">
            <a:off x="917575" y="2482850"/>
            <a:ext cx="2449513" cy="1831975"/>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78" name="Rectangle 25">
            <a:extLst>
              <a:ext uri="{FF2B5EF4-FFF2-40B4-BE49-F238E27FC236}">
                <a16:creationId xmlns:a16="http://schemas.microsoft.com/office/drawing/2014/main" id="{B738214A-FB85-49A7-90EC-8F9E927AE6BF}"/>
              </a:ext>
            </a:extLst>
          </p:cNvPr>
          <p:cNvSpPr>
            <a:spLocks noChangeArrowheads="1"/>
          </p:cNvSpPr>
          <p:nvPr/>
        </p:nvSpPr>
        <p:spPr bwMode="auto">
          <a:xfrm>
            <a:off x="4841875" y="1538288"/>
            <a:ext cx="4005263" cy="3925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buClr>
                <a:schemeClr val="hlink"/>
              </a:buClr>
              <a:buSzPct val="70000"/>
              <a:buFont typeface="Wingdings" panose="05000000000000000000" pitchFamily="2" charset="2"/>
              <a:buChar char="n"/>
            </a:pPr>
            <a:r>
              <a:rPr lang="zh-CN" altLang="en-US" sz="2400">
                <a:solidFill>
                  <a:srgbClr val="000000"/>
                </a:solidFill>
                <a:latin typeface="微软雅黑" panose="020B0503020204020204" pitchFamily="34" charset="-122"/>
                <a:ea typeface="微软雅黑" panose="020B0503020204020204" pitchFamily="34" charset="-122"/>
              </a:rPr>
              <a:t>由于</a:t>
            </a:r>
            <a:r>
              <a:rPr lang="zh-CN" altLang="en-US" sz="2400">
                <a:solidFill>
                  <a:srgbClr val="FF0000"/>
                </a:solidFill>
                <a:latin typeface="微软雅黑" panose="020B0503020204020204" pitchFamily="34" charset="-122"/>
                <a:ea typeface="微软雅黑" panose="020B0503020204020204" pitchFamily="34" charset="-122"/>
              </a:rPr>
              <a:t>敏感栅材料</a:t>
            </a:r>
            <a:r>
              <a:rPr lang="zh-CN" altLang="en-US" sz="2400">
                <a:solidFill>
                  <a:srgbClr val="000000"/>
                </a:solidFill>
                <a:latin typeface="微软雅黑" panose="020B0503020204020204" pitchFamily="34" charset="-122"/>
                <a:ea typeface="微软雅黑" panose="020B0503020204020204" pitchFamily="34" charset="-122"/>
              </a:rPr>
              <a:t>、</a:t>
            </a:r>
            <a:r>
              <a:rPr lang="zh-CN" altLang="en-US" sz="2400">
                <a:solidFill>
                  <a:srgbClr val="FF0000"/>
                </a:solidFill>
                <a:latin typeface="微软雅黑" panose="020B0503020204020204" pitchFamily="34" charset="-122"/>
                <a:ea typeface="微软雅黑" panose="020B0503020204020204" pitchFamily="34" charset="-122"/>
              </a:rPr>
              <a:t>基底</a:t>
            </a:r>
            <a:r>
              <a:rPr lang="zh-CN" altLang="en-US" sz="2400">
                <a:solidFill>
                  <a:srgbClr val="000000"/>
                </a:solidFill>
                <a:latin typeface="微软雅黑" panose="020B0503020204020204" pitchFamily="34" charset="-122"/>
                <a:ea typeface="微软雅黑" panose="020B0503020204020204" pitchFamily="34" charset="-122"/>
              </a:rPr>
              <a:t>和</a:t>
            </a:r>
            <a:r>
              <a:rPr lang="zh-CN" altLang="en-US" sz="2400">
                <a:solidFill>
                  <a:srgbClr val="FF0000"/>
                </a:solidFill>
                <a:latin typeface="微软雅黑" panose="020B0503020204020204" pitchFamily="34" charset="-122"/>
                <a:ea typeface="微软雅黑" panose="020B0503020204020204" pitchFamily="34" charset="-122"/>
              </a:rPr>
              <a:t>粘合剂</a:t>
            </a:r>
            <a:r>
              <a:rPr lang="zh-CN" altLang="en-US" sz="2400">
                <a:solidFill>
                  <a:srgbClr val="000000"/>
                </a:solidFill>
                <a:latin typeface="微软雅黑" panose="020B0503020204020204" pitchFamily="34" charset="-122"/>
                <a:ea typeface="微软雅黑" panose="020B0503020204020204" pitchFamily="34" charset="-122"/>
              </a:rPr>
              <a:t>在承受机械应变以后会有部分</a:t>
            </a:r>
            <a:r>
              <a:rPr lang="zh-CN" altLang="en-US" sz="2400">
                <a:solidFill>
                  <a:srgbClr val="FF0000"/>
                </a:solidFill>
                <a:latin typeface="微软雅黑" panose="020B0503020204020204" pitchFamily="34" charset="-122"/>
                <a:ea typeface="微软雅黑" panose="020B0503020204020204" pitchFamily="34" charset="-122"/>
              </a:rPr>
              <a:t>残余变形</a:t>
            </a:r>
            <a:r>
              <a:rPr lang="zh-CN" altLang="en-US" sz="2400">
                <a:solidFill>
                  <a:srgbClr val="000000"/>
                </a:solidFill>
                <a:latin typeface="微软雅黑" panose="020B0503020204020204" pitchFamily="34" charset="-122"/>
                <a:ea typeface="微软雅黑" panose="020B0503020204020204" pitchFamily="34" charset="-122"/>
              </a:rPr>
              <a:t>。因而对于已经安装好的应变片，在一定温度下，其</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指示应变与真实应变的加载特性和卸载特性不重合，称为</a:t>
            </a:r>
            <a:r>
              <a:rPr lang="zh-CN" altLang="en-US" sz="2400" u="sng">
                <a:solidFill>
                  <a:srgbClr val="000000"/>
                </a:solidFill>
                <a:latin typeface="微软雅黑" panose="020B0503020204020204" pitchFamily="34" charset="-122"/>
                <a:ea typeface="微软雅黑" panose="020B0503020204020204" pitchFamily="34" charset="-122"/>
                <a:sym typeface="Symbol" panose="05050102010706020507" pitchFamily="18" charset="2"/>
              </a:rPr>
              <a:t>机械滞后</a:t>
            </a: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矩形 4">
            <a:extLst>
              <a:ext uri="{FF2B5EF4-FFF2-40B4-BE49-F238E27FC236}">
                <a16:creationId xmlns:a16="http://schemas.microsoft.com/office/drawing/2014/main" id="{F327FF78-CD86-4D94-8926-84046278245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0483" name="灯片编号占位符 3">
            <a:extLst>
              <a:ext uri="{FF2B5EF4-FFF2-40B4-BE49-F238E27FC236}">
                <a16:creationId xmlns:a16="http://schemas.microsoft.com/office/drawing/2014/main" id="{285AD68A-B4BA-4CB2-AC25-1B79F723966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D0068D48-71F7-4611-BAE6-C7C395961A5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18</a:t>
            </a:fld>
            <a:endParaRPr lang="en-US" altLang="zh-CN" sz="1400">
              <a:solidFill>
                <a:srgbClr val="000000"/>
              </a:solidFill>
              <a:latin typeface="Arial" panose="020B0604020202020204" pitchFamily="34" charset="0"/>
            </a:endParaRPr>
          </a:p>
        </p:txBody>
      </p:sp>
      <p:sp>
        <p:nvSpPr>
          <p:cNvPr id="20484" name="TextBox 5">
            <a:extLst>
              <a:ext uri="{FF2B5EF4-FFF2-40B4-BE49-F238E27FC236}">
                <a16:creationId xmlns:a16="http://schemas.microsoft.com/office/drawing/2014/main" id="{CBD07B64-C282-48A6-BAF1-41011F2A8DE6}"/>
              </a:ext>
            </a:extLst>
          </p:cNvPr>
          <p:cNvSpPr>
            <a:spLocks noChangeArrowheads="1"/>
          </p:cNvSpPr>
          <p:nvPr/>
        </p:nvSpPr>
        <p:spPr bwMode="auto">
          <a:xfrm>
            <a:off x="684213" y="260350"/>
            <a:ext cx="6048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零漂和蠕变</a:t>
            </a:r>
            <a:endParaRPr lang="zh-CN" altLang="en-US">
              <a:latin typeface="黑体" panose="02010609060101010101" pitchFamily="49" charset="-122"/>
              <a:ea typeface="黑体" panose="02010609060101010101" pitchFamily="49" charset="-122"/>
            </a:endParaRPr>
          </a:p>
        </p:txBody>
      </p:sp>
      <p:sp>
        <p:nvSpPr>
          <p:cNvPr id="20485" name="Text Box 4">
            <a:extLst>
              <a:ext uri="{FF2B5EF4-FFF2-40B4-BE49-F238E27FC236}">
                <a16:creationId xmlns:a16="http://schemas.microsoft.com/office/drawing/2014/main" id="{8AE5CF19-3B92-4B4A-A3E9-8E2341CE25C5}"/>
              </a:ext>
            </a:extLst>
          </p:cNvPr>
          <p:cNvSpPr>
            <a:spLocks noChangeArrowheads="1"/>
          </p:cNvSpPr>
          <p:nvPr/>
        </p:nvSpPr>
        <p:spPr bwMode="auto">
          <a:xfrm>
            <a:off x="179388" y="1054100"/>
            <a:ext cx="405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a:solidFill>
                  <a:srgbClr val="0070C0"/>
                </a:solidFill>
                <a:latin typeface="微软雅黑" panose="020B0503020204020204" pitchFamily="34" charset="-122"/>
                <a:ea typeface="微软雅黑" panose="020B0503020204020204" pitchFamily="34" charset="-122"/>
                <a:sym typeface="楷体_GB2312" pitchFamily="49" charset="-122"/>
              </a:rPr>
              <a:t>(4</a:t>
            </a:r>
            <a:r>
              <a:rPr lang="zh-CN" altLang="en-US" sz="2400">
                <a:solidFill>
                  <a:srgbClr val="0070C0"/>
                </a:solidFill>
                <a:latin typeface="微软雅黑" panose="020B0503020204020204" pitchFamily="34" charset="-122"/>
                <a:ea typeface="微软雅黑" panose="020B0503020204020204" pitchFamily="34" charset="-122"/>
                <a:sym typeface="楷体_GB2312" pitchFamily="49" charset="-122"/>
              </a:rPr>
              <a:t>）零点漂移和蠕变</a:t>
            </a:r>
            <a:endParaRPr lang="zh-CN" altLang="en-US" sz="1800">
              <a:solidFill>
                <a:srgbClr val="0070C0"/>
              </a:solidFill>
              <a:latin typeface="微软雅黑" panose="020B0503020204020204" pitchFamily="34" charset="-122"/>
              <a:ea typeface="微软雅黑" panose="020B0503020204020204" pitchFamily="34" charset="-122"/>
            </a:endParaRPr>
          </a:p>
        </p:txBody>
      </p:sp>
      <p:sp>
        <p:nvSpPr>
          <p:cNvPr id="20486" name="Rectangle 5">
            <a:extLst>
              <a:ext uri="{FF2B5EF4-FFF2-40B4-BE49-F238E27FC236}">
                <a16:creationId xmlns:a16="http://schemas.microsoft.com/office/drawing/2014/main" id="{0CF1A9B1-1B8F-4D84-9156-E508EB14D152}"/>
              </a:ext>
            </a:extLst>
          </p:cNvPr>
          <p:cNvSpPr>
            <a:spLocks noChangeArrowheads="1"/>
          </p:cNvSpPr>
          <p:nvPr/>
        </p:nvSpPr>
        <p:spPr bwMode="auto">
          <a:xfrm>
            <a:off x="611188" y="1412875"/>
            <a:ext cx="8010525"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Wingdings" panose="05000000000000000000" pitchFamily="2" charset="2"/>
              <a:buChar char="n"/>
            </a:pP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零漂</a:t>
            </a: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(zero shift)</a:t>
            </a:r>
            <a:endPar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lnSpc>
                <a:spcPct val="130000"/>
              </a:lnSpc>
              <a:spcBef>
                <a:spcPct val="0"/>
              </a:spcBef>
              <a:buFont typeface="Arial" panose="020B0604020202020204" pitchFamily="34" charset="0"/>
              <a:buNone/>
            </a:pPr>
            <a:r>
              <a:rPr lang="en-US" altLang="zh-CN" sz="2400" dirty="0">
                <a:solidFill>
                  <a:schemeClr val="hlink"/>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对于已安装好的应变片，在一定温度下，不承受机械应变时，其指示应变随时间而变化的特性</a:t>
            </a:r>
          </a:p>
          <a:p>
            <a:pPr>
              <a:lnSpc>
                <a:spcPct val="130000"/>
              </a:lnSpc>
              <a:spcBef>
                <a:spcPct val="0"/>
              </a:spcBef>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原因：通以工作电流后的温度效应；应变片的内应力变化；粘结剂固化不充分等。</a:t>
            </a:r>
          </a:p>
          <a:p>
            <a:pPr>
              <a:lnSpc>
                <a:spcPct val="130000"/>
              </a:lnSpc>
              <a:spcBef>
                <a:spcPct val="0"/>
              </a:spcBef>
              <a:buFont typeface="Wingdings" panose="05000000000000000000" pitchFamily="2" charset="2"/>
              <a:buChar char="n"/>
            </a:pPr>
            <a:r>
              <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 蠕变</a:t>
            </a:r>
            <a:r>
              <a:rPr lang="en-US" altLang="zh-CN"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(creep)</a:t>
            </a:r>
            <a:endParaRPr lang="zh-CN" altLang="en-US" sz="2400"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lnSpc>
                <a:spcPct val="130000"/>
              </a:lnSpc>
              <a:spcBef>
                <a:spcPct val="0"/>
              </a:spcBef>
              <a:buFont typeface="Arial" panose="020B0604020202020204" pitchFamily="34" charset="0"/>
              <a:buNone/>
            </a:pPr>
            <a:r>
              <a:rPr lang="en-US" altLang="zh-CN" sz="2400" dirty="0">
                <a:solidFill>
                  <a:schemeClr val="hlink"/>
                </a:solidFill>
                <a:latin typeface="微软雅黑" panose="020B0503020204020204" pitchFamily="34" charset="-122"/>
                <a:ea typeface="微软雅黑" panose="020B0503020204020204" pitchFamily="34" charset="-122"/>
                <a:sym typeface="宋体" panose="02010600030101010101" pitchFamily="2"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在一定温度下，使其承受一恒定的机械应变时，指示应变随时间变化的特性。</a:t>
            </a:r>
            <a:r>
              <a:rPr lang="en-US" altLang="zh-CN" sz="2400"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a:t>
            </a:r>
            <a:r>
              <a:rPr lang="zh-CN" altLang="en-US" sz="2400" dirty="0">
                <a:solidFill>
                  <a:srgbClr val="0000FF"/>
                </a:solidFill>
                <a:latin typeface="微软雅黑" panose="020B0503020204020204" pitchFamily="34" charset="-122"/>
                <a:ea typeface="微软雅黑" panose="020B0503020204020204" pitchFamily="34" charset="-122"/>
                <a:sym typeface="宋体" panose="02010600030101010101" pitchFamily="2" charset="-122"/>
              </a:rPr>
              <a:t>时漂</a:t>
            </a:r>
          </a:p>
          <a:p>
            <a:pPr>
              <a:lnSpc>
                <a:spcPct val="130000"/>
              </a:lnSpc>
              <a:spcBef>
                <a:spcPct val="0"/>
              </a:spcBef>
              <a:buFont typeface="Wingdings" panose="05000000000000000000" pitchFamily="2" charset="2"/>
              <a:buChar char="Ø"/>
            </a:pPr>
            <a:r>
              <a:rPr lang="zh-CN" altLang="en-US" sz="2400" b="1" dirty="0">
                <a:solidFill>
                  <a:srgbClr val="000000"/>
                </a:solidFill>
                <a:latin typeface="微软雅黑" panose="020B0503020204020204" pitchFamily="34" charset="-122"/>
                <a:ea typeface="微软雅黑" panose="020B0503020204020204" pitchFamily="34" charset="-122"/>
                <a:sym typeface="宋体" panose="02010600030101010101" pitchFamily="2" charset="-122"/>
              </a:rPr>
              <a:t>原因：胶层之间发生“滑动”所致。</a:t>
            </a:r>
            <a:endParaRPr lang="zh-CN" altLang="en-US" sz="1800" dirty="0">
              <a:latin typeface="微软雅黑" panose="020B0503020204020204" pitchFamily="34" charset="-122"/>
              <a:ea typeface="微软雅黑" panose="020B0503020204020204" pitchFamily="34" charset="-122"/>
            </a:endParaRPr>
          </a:p>
        </p:txBody>
      </p:sp>
      <p:sp>
        <p:nvSpPr>
          <p:cNvPr id="18439" name="Text Box 6">
            <a:extLst>
              <a:ext uri="{FF2B5EF4-FFF2-40B4-BE49-F238E27FC236}">
                <a16:creationId xmlns:a16="http://schemas.microsoft.com/office/drawing/2014/main" id="{AEC92211-0096-498C-B380-762C226D920B}"/>
              </a:ext>
            </a:extLst>
          </p:cNvPr>
          <p:cNvSpPr>
            <a:spLocks noChangeArrowheads="1"/>
          </p:cNvSpPr>
          <p:nvPr/>
        </p:nvSpPr>
        <p:spPr bwMode="auto">
          <a:xfrm>
            <a:off x="684213" y="5949950"/>
            <a:ext cx="8145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Wingdings" panose="05000000000000000000" pitchFamily="2" charset="2"/>
              <a:buChar char="n"/>
            </a:pPr>
            <a:r>
              <a:rPr lang="zh-CN" altLang="en-US" sz="2400" b="1">
                <a:latin typeface="微软雅黑" panose="020B0503020204020204" pitchFamily="34" charset="-122"/>
                <a:ea typeface="微软雅黑" panose="020B0503020204020204" pitchFamily="34" charset="-122"/>
                <a:sym typeface="宋体" panose="02010600030101010101" pitchFamily="2" charset="-122"/>
              </a:rPr>
              <a:t> 这两个指标是衡量应变片特性对时间的稳定性。</a:t>
            </a: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Effect filter="blinds(horizontal)">
                                      <p:cBhvr>
                                        <p:cTn id="7"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bldLvl="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矩形 4">
            <a:extLst>
              <a:ext uri="{FF2B5EF4-FFF2-40B4-BE49-F238E27FC236}">
                <a16:creationId xmlns:a16="http://schemas.microsoft.com/office/drawing/2014/main" id="{980A343F-936F-4066-986C-FAD3A846531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1507" name="灯片编号占位符 3">
            <a:extLst>
              <a:ext uri="{FF2B5EF4-FFF2-40B4-BE49-F238E27FC236}">
                <a16:creationId xmlns:a16="http://schemas.microsoft.com/office/drawing/2014/main" id="{BC4CA4E3-F1F3-42FD-B9C6-04A1A6854B2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D48D237-46C4-4812-A31A-C8C85AB2AE02}"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19</a:t>
            </a:fld>
            <a:endParaRPr lang="en-US" altLang="zh-CN" sz="1400">
              <a:solidFill>
                <a:srgbClr val="000000"/>
              </a:solidFill>
              <a:latin typeface="Arial" panose="020B0604020202020204" pitchFamily="34" charset="0"/>
            </a:endParaRPr>
          </a:p>
        </p:txBody>
      </p:sp>
      <p:sp>
        <p:nvSpPr>
          <p:cNvPr id="21508" name="TextBox 5">
            <a:extLst>
              <a:ext uri="{FF2B5EF4-FFF2-40B4-BE49-F238E27FC236}">
                <a16:creationId xmlns:a16="http://schemas.microsoft.com/office/drawing/2014/main" id="{B4634223-D885-4105-96CF-4B31ED15240F}"/>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动态特性</a:t>
            </a:r>
            <a:endParaRPr lang="zh-CN" altLang="en-US">
              <a:latin typeface="黑体" panose="02010609060101010101" pitchFamily="49" charset="-122"/>
              <a:ea typeface="黑体" panose="02010609060101010101" pitchFamily="49" charset="-122"/>
            </a:endParaRPr>
          </a:p>
        </p:txBody>
      </p:sp>
      <p:sp>
        <p:nvSpPr>
          <p:cNvPr id="21509" name="Rectangle 7">
            <a:extLst>
              <a:ext uri="{FF2B5EF4-FFF2-40B4-BE49-F238E27FC236}">
                <a16:creationId xmlns:a16="http://schemas.microsoft.com/office/drawing/2014/main" id="{C10F90E8-7FDC-46D8-92EB-756E4FB1347B}"/>
              </a:ext>
            </a:extLst>
          </p:cNvPr>
          <p:cNvSpPr>
            <a:spLocks noChangeArrowheads="1"/>
          </p:cNvSpPr>
          <p:nvPr/>
        </p:nvSpPr>
        <p:spPr bwMode="auto">
          <a:xfrm>
            <a:off x="179388" y="1485900"/>
            <a:ext cx="8686800" cy="24558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1938">
              <a:spcBef>
                <a:spcPct val="20000"/>
              </a:spcBef>
              <a:buFont typeface="Arial" panose="020B0604020202020204" pitchFamily="34" charset="0"/>
              <a:buChar char="•"/>
              <a:tabLst>
                <a:tab pos="571500" algn="l"/>
                <a:tab pos="1524000" algn="l"/>
              </a:tabLst>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tabLst>
                <a:tab pos="571500" algn="l"/>
                <a:tab pos="1524000" algn="l"/>
              </a:tabLst>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tabLst>
                <a:tab pos="571500" algn="l"/>
                <a:tab pos="1524000" algn="l"/>
              </a:tabLst>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571500" algn="l"/>
                <a:tab pos="15240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rPr>
              <a:t>  </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当被测应变值随时间变化的频率很高时，需考虑应变片的动态特性。因应变片基底和粘贴胶层很薄，构件的应变波传到应变片的时间很短</a:t>
            </a:r>
            <a:r>
              <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估计约</a:t>
            </a:r>
            <a:r>
              <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rPr>
              <a:t>0.2μs)</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，故只需考虑应变沿应变片轴向传播时的动态响应。</a:t>
            </a:r>
          </a:p>
          <a:p>
            <a:pPr algn="just">
              <a:spcBef>
                <a:spcPct val="4000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  设一频率为 </a:t>
            </a:r>
            <a:r>
              <a:rPr lang="en-US" altLang="zh-CN" sz="2400" i="1">
                <a:solidFill>
                  <a:srgbClr val="000000"/>
                </a:solidFill>
                <a:latin typeface="微软雅黑" panose="020B0503020204020204" pitchFamily="34" charset="-122"/>
                <a:ea typeface="微软雅黑" panose="020B0503020204020204" pitchFamily="34" charset="-122"/>
                <a:sym typeface="楷体_GB2312" pitchFamily="49" charset="-122"/>
              </a:rPr>
              <a:t>f </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的正弦应变波在构件中以速度 </a:t>
            </a:r>
            <a:r>
              <a:rPr lang="en-US" altLang="zh-CN" sz="2400" i="1">
                <a:solidFill>
                  <a:srgbClr val="000000"/>
                </a:solidFill>
                <a:latin typeface="微软雅黑" panose="020B0503020204020204" pitchFamily="34" charset="-122"/>
                <a:ea typeface="微软雅黑" panose="020B0503020204020204" pitchFamily="34" charset="-122"/>
                <a:sym typeface="楷体_GB2312" pitchFamily="49" charset="-122"/>
              </a:rPr>
              <a:t>v </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沿应变片栅长方向传播，在某一瞬时 </a:t>
            </a:r>
            <a:r>
              <a:rPr lang="en-US" altLang="zh-CN" sz="2400" i="1">
                <a:solidFill>
                  <a:srgbClr val="000000"/>
                </a:solidFill>
                <a:latin typeface="微软雅黑" panose="020B0503020204020204" pitchFamily="34" charset="-122"/>
                <a:ea typeface="微软雅黑" panose="020B0503020204020204" pitchFamily="34" charset="-122"/>
                <a:sym typeface="楷体_GB2312" pitchFamily="49" charset="-122"/>
              </a:rPr>
              <a:t>t</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，应变量沿构件分布如图所示。</a:t>
            </a:r>
            <a:endParaRPr lang="zh-CN" altLang="en-US" sz="1800">
              <a:latin typeface="微软雅黑" panose="020B0503020204020204" pitchFamily="34" charset="-122"/>
              <a:ea typeface="微软雅黑" panose="020B0503020204020204" pitchFamily="34" charset="-122"/>
            </a:endParaRPr>
          </a:p>
        </p:txBody>
      </p:sp>
      <p:grpSp>
        <p:nvGrpSpPr>
          <p:cNvPr id="21510" name="Group 45">
            <a:extLst>
              <a:ext uri="{FF2B5EF4-FFF2-40B4-BE49-F238E27FC236}">
                <a16:creationId xmlns:a16="http://schemas.microsoft.com/office/drawing/2014/main" id="{B36B5077-C3B9-409A-863D-9188D449183D}"/>
              </a:ext>
            </a:extLst>
          </p:cNvPr>
          <p:cNvGrpSpPr>
            <a:grpSpLocks/>
          </p:cNvGrpSpPr>
          <p:nvPr/>
        </p:nvGrpSpPr>
        <p:grpSpPr bwMode="auto">
          <a:xfrm>
            <a:off x="1979613" y="3789363"/>
            <a:ext cx="5267325" cy="2978150"/>
            <a:chOff x="0" y="0"/>
            <a:chExt cx="3318" cy="1876"/>
          </a:xfrm>
        </p:grpSpPr>
        <p:sp>
          <p:nvSpPr>
            <p:cNvPr id="21512" name="Rectangle 8">
              <a:extLst>
                <a:ext uri="{FF2B5EF4-FFF2-40B4-BE49-F238E27FC236}">
                  <a16:creationId xmlns:a16="http://schemas.microsoft.com/office/drawing/2014/main" id="{0F37CC21-AB05-4DB9-B882-88787B46AADA}"/>
                </a:ext>
              </a:extLst>
            </p:cNvPr>
            <p:cNvSpPr>
              <a:spLocks noChangeArrowheads="1"/>
            </p:cNvSpPr>
            <p:nvPr/>
          </p:nvSpPr>
          <p:spPr bwMode="auto">
            <a:xfrm>
              <a:off x="0" y="1649"/>
              <a:ext cx="308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应变片对应变波的动态响应</a:t>
              </a:r>
              <a:endParaRPr lang="zh-CN" altLang="en-US" sz="1800">
                <a:latin typeface="微软雅黑" panose="020B0503020204020204" pitchFamily="34" charset="-122"/>
                <a:ea typeface="微软雅黑" panose="020B0503020204020204" pitchFamily="34" charset="-122"/>
              </a:endParaRPr>
            </a:p>
          </p:txBody>
        </p:sp>
        <p:sp>
          <p:nvSpPr>
            <p:cNvPr id="21513" name="Rectangle 41">
              <a:extLst>
                <a:ext uri="{FF2B5EF4-FFF2-40B4-BE49-F238E27FC236}">
                  <a16:creationId xmlns:a16="http://schemas.microsoft.com/office/drawing/2014/main" id="{086D0187-8F13-49B5-B5CC-47273AB66F04}"/>
                </a:ext>
              </a:extLst>
            </p:cNvPr>
            <p:cNvSpPr>
              <a:spLocks noChangeArrowheads="1"/>
            </p:cNvSpPr>
            <p:nvPr/>
          </p:nvSpPr>
          <p:spPr bwMode="auto">
            <a:xfrm>
              <a:off x="2974" y="495"/>
              <a:ext cx="320" cy="1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x</a:t>
              </a:r>
              <a:endParaRPr lang="zh-CN" altLang="en-US" sz="1800">
                <a:latin typeface="微软雅黑" panose="020B0503020204020204" pitchFamily="34" charset="-122"/>
                <a:ea typeface="微软雅黑" panose="020B0503020204020204" pitchFamily="34" charset="-122"/>
              </a:endParaRPr>
            </a:p>
          </p:txBody>
        </p:sp>
        <p:grpSp>
          <p:nvGrpSpPr>
            <p:cNvPr id="21514" name="Group 44">
              <a:extLst>
                <a:ext uri="{FF2B5EF4-FFF2-40B4-BE49-F238E27FC236}">
                  <a16:creationId xmlns:a16="http://schemas.microsoft.com/office/drawing/2014/main" id="{96835BCF-3991-4055-930F-70AC224933F0}"/>
                </a:ext>
              </a:extLst>
            </p:cNvPr>
            <p:cNvGrpSpPr>
              <a:grpSpLocks/>
            </p:cNvGrpSpPr>
            <p:nvPr/>
          </p:nvGrpSpPr>
          <p:grpSpPr bwMode="auto">
            <a:xfrm>
              <a:off x="66" y="0"/>
              <a:ext cx="3252" cy="1617"/>
              <a:chOff x="0" y="0"/>
              <a:chExt cx="3252" cy="1617"/>
            </a:xfrm>
          </p:grpSpPr>
          <p:sp>
            <p:nvSpPr>
              <p:cNvPr id="21515" name="Rectangle 9" descr="浅色上对角线">
                <a:extLst>
                  <a:ext uri="{FF2B5EF4-FFF2-40B4-BE49-F238E27FC236}">
                    <a16:creationId xmlns:a16="http://schemas.microsoft.com/office/drawing/2014/main" id="{1CFE1C63-BEA1-4D68-B940-C3B8859AA289}"/>
                  </a:ext>
                </a:extLst>
              </p:cNvPr>
              <p:cNvSpPr>
                <a:spLocks noChangeArrowheads="1"/>
              </p:cNvSpPr>
              <p:nvPr/>
            </p:nvSpPr>
            <p:spPr bwMode="auto">
              <a:xfrm>
                <a:off x="438" y="740"/>
                <a:ext cx="2591" cy="103"/>
              </a:xfrm>
              <a:prstGeom prst="rect">
                <a:avLst/>
              </a:prstGeom>
              <a:blipFill dpi="0" rotWithShape="0">
                <a:blip r:embed="rId2"/>
                <a:srcRect/>
                <a:tile tx="0" ty="0" sx="100000" sy="100000" flip="none" algn="tl"/>
              </a:blip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微软雅黑" panose="020B0503020204020204" pitchFamily="34" charset="-122"/>
                  <a:ea typeface="微软雅黑" panose="020B0503020204020204" pitchFamily="34" charset="-122"/>
                </a:endParaRPr>
              </a:p>
            </p:txBody>
          </p:sp>
          <p:sp>
            <p:nvSpPr>
              <p:cNvPr id="21516" name="Line 10">
                <a:extLst>
                  <a:ext uri="{FF2B5EF4-FFF2-40B4-BE49-F238E27FC236}">
                    <a16:creationId xmlns:a16="http://schemas.microsoft.com/office/drawing/2014/main" id="{9D9DFF28-178E-4D46-A973-29284B89ABD2}"/>
                  </a:ext>
                </a:extLst>
              </p:cNvPr>
              <p:cNvSpPr>
                <a:spLocks noChangeShapeType="1"/>
              </p:cNvSpPr>
              <p:nvPr/>
            </p:nvSpPr>
            <p:spPr bwMode="auto">
              <a:xfrm>
                <a:off x="78" y="730"/>
                <a:ext cx="3174"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17" name="Freeform 11">
                <a:extLst>
                  <a:ext uri="{FF2B5EF4-FFF2-40B4-BE49-F238E27FC236}">
                    <a16:creationId xmlns:a16="http://schemas.microsoft.com/office/drawing/2014/main" id="{11759894-147F-42A2-9F1C-8DCE1CD71CB1}"/>
                  </a:ext>
                </a:extLst>
              </p:cNvPr>
              <p:cNvSpPr>
                <a:spLocks noChangeArrowheads="1"/>
              </p:cNvSpPr>
              <p:nvPr/>
            </p:nvSpPr>
            <p:spPr bwMode="auto">
              <a:xfrm>
                <a:off x="627" y="244"/>
                <a:ext cx="2292" cy="1030"/>
              </a:xfrm>
              <a:custGeom>
                <a:avLst/>
                <a:gdLst>
                  <a:gd name="T0" fmla="*/ 0 w 2551"/>
                  <a:gd name="T1" fmla="*/ 26 h 1425"/>
                  <a:gd name="T2" fmla="*/ 227 w 2551"/>
                  <a:gd name="T3" fmla="*/ 0 h 1425"/>
                  <a:gd name="T4" fmla="*/ 443 w 2551"/>
                  <a:gd name="T5" fmla="*/ 26 h 1425"/>
                  <a:gd name="T6" fmla="*/ 626 w 2551"/>
                  <a:gd name="T7" fmla="*/ 56 h 1425"/>
                  <a:gd name="T8" fmla="*/ 874 w 2551"/>
                  <a:gd name="T9" fmla="*/ 26 h 14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51" h="1425">
                    <a:moveTo>
                      <a:pt x="0" y="675"/>
                    </a:moveTo>
                    <a:cubicBezTo>
                      <a:pt x="224" y="337"/>
                      <a:pt x="448" y="0"/>
                      <a:pt x="663" y="0"/>
                    </a:cubicBezTo>
                    <a:cubicBezTo>
                      <a:pt x="878" y="0"/>
                      <a:pt x="1098" y="437"/>
                      <a:pt x="1293" y="675"/>
                    </a:cubicBezTo>
                    <a:cubicBezTo>
                      <a:pt x="1488" y="913"/>
                      <a:pt x="1620" y="1425"/>
                      <a:pt x="1830" y="1425"/>
                    </a:cubicBezTo>
                    <a:cubicBezTo>
                      <a:pt x="2040" y="1425"/>
                      <a:pt x="2295" y="1050"/>
                      <a:pt x="2551" y="675"/>
                    </a:cubicBezTo>
                  </a:path>
                </a:pathLst>
              </a:custGeom>
              <a:noFill/>
              <a:ln w="158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18" name="Line 12">
                <a:extLst>
                  <a:ext uri="{FF2B5EF4-FFF2-40B4-BE49-F238E27FC236}">
                    <a16:creationId xmlns:a16="http://schemas.microsoft.com/office/drawing/2014/main" id="{226BA9B2-0B9D-4890-BCB7-B9A332BFD2D7}"/>
                  </a:ext>
                </a:extLst>
              </p:cNvPr>
              <p:cNvSpPr>
                <a:spLocks noChangeShapeType="1"/>
              </p:cNvSpPr>
              <p:nvPr/>
            </p:nvSpPr>
            <p:spPr bwMode="auto">
              <a:xfrm>
                <a:off x="1223" y="244"/>
                <a:ext cx="997"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9" name="Line 13">
                <a:extLst>
                  <a:ext uri="{FF2B5EF4-FFF2-40B4-BE49-F238E27FC236}">
                    <a16:creationId xmlns:a16="http://schemas.microsoft.com/office/drawing/2014/main" id="{0BDB495B-1DBA-432F-9238-26EAA8A72B3A}"/>
                  </a:ext>
                </a:extLst>
              </p:cNvPr>
              <p:cNvSpPr>
                <a:spLocks noChangeShapeType="1"/>
              </p:cNvSpPr>
              <p:nvPr/>
            </p:nvSpPr>
            <p:spPr bwMode="auto">
              <a:xfrm>
                <a:off x="2056" y="244"/>
                <a:ext cx="1" cy="49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20" name="Rectangle 14">
                <a:extLst>
                  <a:ext uri="{FF2B5EF4-FFF2-40B4-BE49-F238E27FC236}">
                    <a16:creationId xmlns:a16="http://schemas.microsoft.com/office/drawing/2014/main" id="{0BAE1092-BF5A-48A1-9CEB-356DDA0E72B9}"/>
                  </a:ext>
                </a:extLst>
              </p:cNvPr>
              <p:cNvSpPr>
                <a:spLocks noChangeArrowheads="1"/>
              </p:cNvSpPr>
              <p:nvPr/>
            </p:nvSpPr>
            <p:spPr bwMode="auto">
              <a:xfrm>
                <a:off x="1930" y="393"/>
                <a:ext cx="320" cy="1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ε</a:t>
                </a:r>
                <a:r>
                  <a:rPr lang="en-US" altLang="zh-CN" sz="2400" baseline="-300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0</a:t>
                </a:r>
                <a:endPar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21" name="Line 15">
                <a:extLst>
                  <a:ext uri="{FF2B5EF4-FFF2-40B4-BE49-F238E27FC236}">
                    <a16:creationId xmlns:a16="http://schemas.microsoft.com/office/drawing/2014/main" id="{C516BFE2-84FF-47E5-9A9C-C13DCE41272C}"/>
                  </a:ext>
                </a:extLst>
              </p:cNvPr>
              <p:cNvSpPr>
                <a:spLocks noChangeShapeType="1"/>
              </p:cNvSpPr>
              <p:nvPr/>
            </p:nvSpPr>
            <p:spPr bwMode="auto">
              <a:xfrm>
                <a:off x="1223" y="244"/>
                <a:ext cx="1" cy="47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2" name="Line 16">
                <a:extLst>
                  <a:ext uri="{FF2B5EF4-FFF2-40B4-BE49-F238E27FC236}">
                    <a16:creationId xmlns:a16="http://schemas.microsoft.com/office/drawing/2014/main" id="{742AF9C1-2FE5-42D3-A7C7-EEF293D1225C}"/>
                  </a:ext>
                </a:extLst>
              </p:cNvPr>
              <p:cNvSpPr>
                <a:spLocks noChangeShapeType="1"/>
              </p:cNvSpPr>
              <p:nvPr/>
            </p:nvSpPr>
            <p:spPr bwMode="auto">
              <a:xfrm>
                <a:off x="989" y="352"/>
                <a:ext cx="1" cy="36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3" name="Line 17">
                <a:extLst>
                  <a:ext uri="{FF2B5EF4-FFF2-40B4-BE49-F238E27FC236}">
                    <a16:creationId xmlns:a16="http://schemas.microsoft.com/office/drawing/2014/main" id="{1E5187B3-8912-459D-B4E6-AA20909B4F63}"/>
                  </a:ext>
                </a:extLst>
              </p:cNvPr>
              <p:cNvSpPr>
                <a:spLocks noChangeShapeType="1"/>
              </p:cNvSpPr>
              <p:nvPr/>
            </p:nvSpPr>
            <p:spPr bwMode="auto">
              <a:xfrm>
                <a:off x="1104" y="190"/>
                <a:ext cx="1" cy="1211"/>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4" name="Line 18">
                <a:extLst>
                  <a:ext uri="{FF2B5EF4-FFF2-40B4-BE49-F238E27FC236}">
                    <a16:creationId xmlns:a16="http://schemas.microsoft.com/office/drawing/2014/main" id="{BB84FB8D-9CE6-417C-BBB6-0DAE1BEF47E9}"/>
                  </a:ext>
                </a:extLst>
              </p:cNvPr>
              <p:cNvSpPr>
                <a:spLocks noChangeShapeType="1"/>
              </p:cNvSpPr>
              <p:nvPr/>
            </p:nvSpPr>
            <p:spPr bwMode="auto">
              <a:xfrm>
                <a:off x="989" y="718"/>
                <a:ext cx="1" cy="3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5" name="Line 19">
                <a:extLst>
                  <a:ext uri="{FF2B5EF4-FFF2-40B4-BE49-F238E27FC236}">
                    <a16:creationId xmlns:a16="http://schemas.microsoft.com/office/drawing/2014/main" id="{91B6A5A1-2D27-42DA-A49A-00518D3D6CE4}"/>
                  </a:ext>
                </a:extLst>
              </p:cNvPr>
              <p:cNvSpPr>
                <a:spLocks noChangeShapeType="1"/>
              </p:cNvSpPr>
              <p:nvPr/>
            </p:nvSpPr>
            <p:spPr bwMode="auto">
              <a:xfrm>
                <a:off x="1223" y="730"/>
                <a:ext cx="1"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6" name="Rectangle 20">
                <a:extLst>
                  <a:ext uri="{FF2B5EF4-FFF2-40B4-BE49-F238E27FC236}">
                    <a16:creationId xmlns:a16="http://schemas.microsoft.com/office/drawing/2014/main" id="{4EEE1717-E7ED-4F35-B8EB-1A311BBCF0A0}"/>
                  </a:ext>
                </a:extLst>
              </p:cNvPr>
              <p:cNvSpPr>
                <a:spLocks noChangeArrowheads="1"/>
              </p:cNvSpPr>
              <p:nvPr/>
            </p:nvSpPr>
            <p:spPr bwMode="auto">
              <a:xfrm>
                <a:off x="1359" y="901"/>
                <a:ext cx="414" cy="2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zh-CN" altLang="en-US" sz="1600" b="1" dirty="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应变片</a:t>
                </a:r>
                <a:endParaRPr lang="zh-CN" altLang="en-US" sz="1800" dirty="0">
                  <a:latin typeface="微软雅黑" panose="020B0503020204020204" pitchFamily="34" charset="-122"/>
                  <a:ea typeface="微软雅黑" panose="020B0503020204020204" pitchFamily="34" charset="-122"/>
                </a:endParaRPr>
              </a:p>
            </p:txBody>
          </p:sp>
          <p:sp>
            <p:nvSpPr>
              <p:cNvPr id="21527" name="Line 21">
                <a:extLst>
                  <a:ext uri="{FF2B5EF4-FFF2-40B4-BE49-F238E27FC236}">
                    <a16:creationId xmlns:a16="http://schemas.microsoft.com/office/drawing/2014/main" id="{7799B340-E991-4509-B577-7F1D181B4F97}"/>
                  </a:ext>
                </a:extLst>
              </p:cNvPr>
              <p:cNvSpPr>
                <a:spLocks noChangeShapeType="1"/>
              </p:cNvSpPr>
              <p:nvPr/>
            </p:nvSpPr>
            <p:spPr bwMode="auto">
              <a:xfrm>
                <a:off x="989" y="589"/>
                <a:ext cx="234"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8" name="Line 22">
                <a:extLst>
                  <a:ext uri="{FF2B5EF4-FFF2-40B4-BE49-F238E27FC236}">
                    <a16:creationId xmlns:a16="http://schemas.microsoft.com/office/drawing/2014/main" id="{08724F4B-70D5-4387-856A-681A15445D28}"/>
                  </a:ext>
                </a:extLst>
              </p:cNvPr>
              <p:cNvSpPr>
                <a:spLocks noChangeShapeType="1"/>
              </p:cNvSpPr>
              <p:nvPr/>
            </p:nvSpPr>
            <p:spPr bwMode="auto">
              <a:xfrm>
                <a:off x="992" y="537"/>
                <a:ext cx="235" cy="9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29" name="Line 23">
                <a:extLst>
                  <a:ext uri="{FF2B5EF4-FFF2-40B4-BE49-F238E27FC236}">
                    <a16:creationId xmlns:a16="http://schemas.microsoft.com/office/drawing/2014/main" id="{AA44BDD3-44F2-4926-A75F-18181FE15E26}"/>
                  </a:ext>
                </a:extLst>
              </p:cNvPr>
              <p:cNvSpPr>
                <a:spLocks noChangeShapeType="1"/>
              </p:cNvSpPr>
              <p:nvPr/>
            </p:nvSpPr>
            <p:spPr bwMode="auto">
              <a:xfrm>
                <a:off x="989" y="491"/>
                <a:ext cx="234"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0" name="Line 24">
                <a:extLst>
                  <a:ext uri="{FF2B5EF4-FFF2-40B4-BE49-F238E27FC236}">
                    <a16:creationId xmlns:a16="http://schemas.microsoft.com/office/drawing/2014/main" id="{D90AE5E0-ECAD-4D24-98BE-AC71760020F2}"/>
                  </a:ext>
                </a:extLst>
              </p:cNvPr>
              <p:cNvSpPr>
                <a:spLocks noChangeShapeType="1"/>
              </p:cNvSpPr>
              <p:nvPr/>
            </p:nvSpPr>
            <p:spPr bwMode="auto">
              <a:xfrm>
                <a:off x="992" y="448"/>
                <a:ext cx="235"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1" name="Line 25">
                <a:extLst>
                  <a:ext uri="{FF2B5EF4-FFF2-40B4-BE49-F238E27FC236}">
                    <a16:creationId xmlns:a16="http://schemas.microsoft.com/office/drawing/2014/main" id="{A6AB8F5A-45C9-48D9-8B33-8F71C593B45D}"/>
                  </a:ext>
                </a:extLst>
              </p:cNvPr>
              <p:cNvSpPr>
                <a:spLocks noChangeShapeType="1"/>
              </p:cNvSpPr>
              <p:nvPr/>
            </p:nvSpPr>
            <p:spPr bwMode="auto">
              <a:xfrm>
                <a:off x="992" y="402"/>
                <a:ext cx="235"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2" name="Line 26">
                <a:extLst>
                  <a:ext uri="{FF2B5EF4-FFF2-40B4-BE49-F238E27FC236}">
                    <a16:creationId xmlns:a16="http://schemas.microsoft.com/office/drawing/2014/main" id="{0BFC385C-F5DE-443E-967F-C632A03FD242}"/>
                  </a:ext>
                </a:extLst>
              </p:cNvPr>
              <p:cNvSpPr>
                <a:spLocks noChangeShapeType="1"/>
              </p:cNvSpPr>
              <p:nvPr/>
            </p:nvSpPr>
            <p:spPr bwMode="auto">
              <a:xfrm>
                <a:off x="992" y="350"/>
                <a:ext cx="235" cy="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3" name="Line 27">
                <a:extLst>
                  <a:ext uri="{FF2B5EF4-FFF2-40B4-BE49-F238E27FC236}">
                    <a16:creationId xmlns:a16="http://schemas.microsoft.com/office/drawing/2014/main" id="{09FCD577-7D26-4243-BC44-A2064B42A6C5}"/>
                  </a:ext>
                </a:extLst>
              </p:cNvPr>
              <p:cNvSpPr>
                <a:spLocks noChangeShapeType="1"/>
              </p:cNvSpPr>
              <p:nvPr/>
            </p:nvSpPr>
            <p:spPr bwMode="auto">
              <a:xfrm>
                <a:off x="1020" y="316"/>
                <a:ext cx="204" cy="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4" name="Line 28">
                <a:extLst>
                  <a:ext uri="{FF2B5EF4-FFF2-40B4-BE49-F238E27FC236}">
                    <a16:creationId xmlns:a16="http://schemas.microsoft.com/office/drawing/2014/main" id="{9C495580-89B6-4D7A-A08F-0293D241AC08}"/>
                  </a:ext>
                </a:extLst>
              </p:cNvPr>
              <p:cNvSpPr>
                <a:spLocks noChangeShapeType="1"/>
              </p:cNvSpPr>
              <p:nvPr/>
            </p:nvSpPr>
            <p:spPr bwMode="auto">
              <a:xfrm>
                <a:off x="1110" y="296"/>
                <a:ext cx="101"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5" name="Line 29">
                <a:extLst>
                  <a:ext uri="{FF2B5EF4-FFF2-40B4-BE49-F238E27FC236}">
                    <a16:creationId xmlns:a16="http://schemas.microsoft.com/office/drawing/2014/main" id="{32042979-935E-4C69-84A7-AA7D11D499D0}"/>
                  </a:ext>
                </a:extLst>
              </p:cNvPr>
              <p:cNvSpPr>
                <a:spLocks noChangeShapeType="1"/>
              </p:cNvSpPr>
              <p:nvPr/>
            </p:nvSpPr>
            <p:spPr bwMode="auto">
              <a:xfrm>
                <a:off x="103" y="275"/>
                <a:ext cx="998"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36" name="Rectangle 30">
                <a:extLst>
                  <a:ext uri="{FF2B5EF4-FFF2-40B4-BE49-F238E27FC236}">
                    <a16:creationId xmlns:a16="http://schemas.microsoft.com/office/drawing/2014/main" id="{4ECB7ED5-6BC5-41C0-B6EB-5B9E7E425B00}"/>
                  </a:ext>
                </a:extLst>
              </p:cNvPr>
              <p:cNvSpPr>
                <a:spLocks noChangeArrowheads="1"/>
              </p:cNvSpPr>
              <p:nvPr/>
            </p:nvSpPr>
            <p:spPr bwMode="auto">
              <a:xfrm>
                <a:off x="0" y="385"/>
                <a:ext cx="321" cy="19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ε</a:t>
                </a:r>
                <a:r>
                  <a:rPr lang="en-US" altLang="zh-CN" sz="2400" baseline="-300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1</a:t>
                </a:r>
                <a:endPar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37" name="Line 31">
                <a:extLst>
                  <a:ext uri="{FF2B5EF4-FFF2-40B4-BE49-F238E27FC236}">
                    <a16:creationId xmlns:a16="http://schemas.microsoft.com/office/drawing/2014/main" id="{3571723F-1A80-4D29-B341-285DF9FBB8D5}"/>
                  </a:ext>
                </a:extLst>
              </p:cNvPr>
              <p:cNvSpPr>
                <a:spLocks noChangeShapeType="1"/>
              </p:cNvSpPr>
              <p:nvPr/>
            </p:nvSpPr>
            <p:spPr bwMode="auto">
              <a:xfrm>
                <a:off x="294" y="261"/>
                <a:ext cx="1" cy="466"/>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8" name="Line 32">
                <a:extLst>
                  <a:ext uri="{FF2B5EF4-FFF2-40B4-BE49-F238E27FC236}">
                    <a16:creationId xmlns:a16="http://schemas.microsoft.com/office/drawing/2014/main" id="{149F1A80-089A-4E0F-905F-FD2F2E0FACD0}"/>
                  </a:ext>
                </a:extLst>
              </p:cNvPr>
              <p:cNvSpPr>
                <a:spLocks noChangeShapeType="1"/>
              </p:cNvSpPr>
              <p:nvPr/>
            </p:nvSpPr>
            <p:spPr bwMode="auto">
              <a:xfrm>
                <a:off x="724" y="949"/>
                <a:ext cx="265"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9" name="Line 33">
                <a:extLst>
                  <a:ext uri="{FF2B5EF4-FFF2-40B4-BE49-F238E27FC236}">
                    <a16:creationId xmlns:a16="http://schemas.microsoft.com/office/drawing/2014/main" id="{2EA86443-CCE2-4B21-AB1A-865DA24364F4}"/>
                  </a:ext>
                </a:extLst>
              </p:cNvPr>
              <p:cNvSpPr>
                <a:spLocks noChangeShapeType="1"/>
              </p:cNvSpPr>
              <p:nvPr/>
            </p:nvSpPr>
            <p:spPr bwMode="auto">
              <a:xfrm flipH="1">
                <a:off x="1236" y="949"/>
                <a:ext cx="265"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40" name="Rectangle 34">
                <a:extLst>
                  <a:ext uri="{FF2B5EF4-FFF2-40B4-BE49-F238E27FC236}">
                    <a16:creationId xmlns:a16="http://schemas.microsoft.com/office/drawing/2014/main" id="{8152A2C6-B715-4084-B0BB-0EC93E38BCD4}"/>
                  </a:ext>
                </a:extLst>
              </p:cNvPr>
              <p:cNvSpPr>
                <a:spLocks noChangeArrowheads="1"/>
              </p:cNvSpPr>
              <p:nvPr/>
            </p:nvSpPr>
            <p:spPr bwMode="auto">
              <a:xfrm>
                <a:off x="1034" y="913"/>
                <a:ext cx="147" cy="2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l</a:t>
                </a:r>
                <a:endPar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41" name="Line 35">
                <a:extLst>
                  <a:ext uri="{FF2B5EF4-FFF2-40B4-BE49-F238E27FC236}">
                    <a16:creationId xmlns:a16="http://schemas.microsoft.com/office/drawing/2014/main" id="{20B073CF-6E61-454A-A461-878DC4F63F18}"/>
                  </a:ext>
                </a:extLst>
              </p:cNvPr>
              <p:cNvSpPr>
                <a:spLocks noChangeShapeType="1"/>
              </p:cNvSpPr>
              <p:nvPr/>
            </p:nvSpPr>
            <p:spPr bwMode="auto">
              <a:xfrm rot="5400000">
                <a:off x="852" y="1015"/>
                <a:ext cx="1" cy="499"/>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42" name="Rectangle 36">
                <a:extLst>
                  <a:ext uri="{FF2B5EF4-FFF2-40B4-BE49-F238E27FC236}">
                    <a16:creationId xmlns:a16="http://schemas.microsoft.com/office/drawing/2014/main" id="{44D8B840-B540-4A73-96E3-43D2A39771AC}"/>
                  </a:ext>
                </a:extLst>
              </p:cNvPr>
              <p:cNvSpPr>
                <a:spLocks noChangeArrowheads="1"/>
              </p:cNvSpPr>
              <p:nvPr/>
            </p:nvSpPr>
            <p:spPr bwMode="auto">
              <a:xfrm>
                <a:off x="711" y="1229"/>
                <a:ext cx="304" cy="2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x</a:t>
                </a:r>
                <a:r>
                  <a:rPr lang="en-US" altLang="zh-CN" sz="2400" baseline="-300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1</a:t>
                </a:r>
                <a:endPar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43" name="Line 37">
                <a:extLst>
                  <a:ext uri="{FF2B5EF4-FFF2-40B4-BE49-F238E27FC236}">
                    <a16:creationId xmlns:a16="http://schemas.microsoft.com/office/drawing/2014/main" id="{B12281A7-C39A-425C-96B5-5EF1F187F277}"/>
                  </a:ext>
                </a:extLst>
              </p:cNvPr>
              <p:cNvSpPr>
                <a:spLocks noChangeShapeType="1"/>
              </p:cNvSpPr>
              <p:nvPr/>
            </p:nvSpPr>
            <p:spPr bwMode="auto">
              <a:xfrm rot="5400000" flipH="1">
                <a:off x="1769" y="334"/>
                <a:ext cx="1" cy="229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44" name="Line 38">
                <a:extLst>
                  <a:ext uri="{FF2B5EF4-FFF2-40B4-BE49-F238E27FC236}">
                    <a16:creationId xmlns:a16="http://schemas.microsoft.com/office/drawing/2014/main" id="{E32356FA-6AA9-437E-88D6-A1F4A50FC03C}"/>
                  </a:ext>
                </a:extLst>
              </p:cNvPr>
              <p:cNvSpPr>
                <a:spLocks noChangeShapeType="1"/>
              </p:cNvSpPr>
              <p:nvPr/>
            </p:nvSpPr>
            <p:spPr bwMode="auto">
              <a:xfrm>
                <a:off x="2914" y="754"/>
                <a:ext cx="1" cy="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45" name="Rectangle 39">
                <a:extLst>
                  <a:ext uri="{FF2B5EF4-FFF2-40B4-BE49-F238E27FC236}">
                    <a16:creationId xmlns:a16="http://schemas.microsoft.com/office/drawing/2014/main" id="{790A4C20-F218-40CC-A371-E863089FA532}"/>
                  </a:ext>
                </a:extLst>
              </p:cNvPr>
              <p:cNvSpPr>
                <a:spLocks noChangeArrowheads="1"/>
              </p:cNvSpPr>
              <p:nvPr/>
            </p:nvSpPr>
            <p:spPr bwMode="auto">
              <a:xfrm>
                <a:off x="1627" y="1392"/>
                <a:ext cx="321" cy="1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λ</a:t>
                </a: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a:p>
                <a:pPr>
                  <a:spcBef>
                    <a:spcPct val="0"/>
                  </a:spcBef>
                  <a:buFont typeface="Arial" panose="020B0604020202020204" pitchFamily="34" charset="0"/>
                  <a:buNone/>
                </a:pPr>
                <a:endPar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21546" name="Rectangle 40">
                <a:extLst>
                  <a:ext uri="{FF2B5EF4-FFF2-40B4-BE49-F238E27FC236}">
                    <a16:creationId xmlns:a16="http://schemas.microsoft.com/office/drawing/2014/main" id="{F6A9C55F-5C81-49E0-825E-0C1F06832761}"/>
                  </a:ext>
                </a:extLst>
              </p:cNvPr>
              <p:cNvSpPr>
                <a:spLocks noChangeArrowheads="1"/>
              </p:cNvSpPr>
              <p:nvPr/>
            </p:nvSpPr>
            <p:spPr bwMode="auto">
              <a:xfrm>
                <a:off x="360" y="0"/>
                <a:ext cx="322" cy="19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400" i="1">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ε</a:t>
                </a:r>
                <a:endParaRPr lang="zh-CN" altLang="en-US" sz="1800">
                  <a:latin typeface="微软雅黑" panose="020B0503020204020204" pitchFamily="34" charset="-122"/>
                  <a:ea typeface="微软雅黑" panose="020B0503020204020204" pitchFamily="34" charset="-122"/>
                </a:endParaRPr>
              </a:p>
            </p:txBody>
          </p:sp>
          <p:sp>
            <p:nvSpPr>
              <p:cNvPr id="21547" name="Line 42">
                <a:extLst>
                  <a:ext uri="{FF2B5EF4-FFF2-40B4-BE49-F238E27FC236}">
                    <a16:creationId xmlns:a16="http://schemas.microsoft.com/office/drawing/2014/main" id="{43518FAC-2400-4EB4-AD5F-F65EDD585353}"/>
                  </a:ext>
                </a:extLst>
              </p:cNvPr>
              <p:cNvSpPr>
                <a:spLocks noChangeShapeType="1"/>
              </p:cNvSpPr>
              <p:nvPr/>
            </p:nvSpPr>
            <p:spPr bwMode="auto">
              <a:xfrm>
                <a:off x="634" y="81"/>
                <a:ext cx="1" cy="1536"/>
              </a:xfrm>
              <a:prstGeom prst="line">
                <a:avLst/>
              </a:prstGeom>
              <a:noFill/>
              <a:ln w="952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1548" name="Line 43">
                <a:extLst>
                  <a:ext uri="{FF2B5EF4-FFF2-40B4-BE49-F238E27FC236}">
                    <a16:creationId xmlns:a16="http://schemas.microsoft.com/office/drawing/2014/main" id="{6E9798EC-D882-4174-B24B-F5F5CAFF36AC}"/>
                  </a:ext>
                </a:extLst>
              </p:cNvPr>
              <p:cNvSpPr>
                <a:spLocks noChangeShapeType="1"/>
              </p:cNvSpPr>
              <p:nvPr/>
            </p:nvSpPr>
            <p:spPr bwMode="auto">
              <a:xfrm>
                <a:off x="1008" y="665"/>
                <a:ext cx="147" cy="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21511" name="Text Box 46">
            <a:extLst>
              <a:ext uri="{FF2B5EF4-FFF2-40B4-BE49-F238E27FC236}">
                <a16:creationId xmlns:a16="http://schemas.microsoft.com/office/drawing/2014/main" id="{7A65EFBA-9E86-4AB3-B303-BBC060BA31A5}"/>
              </a:ext>
            </a:extLst>
          </p:cNvPr>
          <p:cNvSpPr>
            <a:spLocks noChangeArrowheads="1"/>
          </p:cNvSpPr>
          <p:nvPr/>
        </p:nvSpPr>
        <p:spPr bwMode="auto">
          <a:xfrm>
            <a:off x="423863" y="1014413"/>
            <a:ext cx="4051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sz="2400">
                <a:solidFill>
                  <a:srgbClr val="0070C0"/>
                </a:solidFill>
                <a:latin typeface="微软雅黑" panose="020B0503020204020204" pitchFamily="34" charset="-122"/>
                <a:ea typeface="微软雅黑" panose="020B0503020204020204" pitchFamily="34" charset="-122"/>
                <a:sym typeface="楷体_GB2312" pitchFamily="49" charset="-122"/>
              </a:rPr>
              <a:t>(</a:t>
            </a:r>
            <a:r>
              <a:rPr lang="zh-CN" altLang="en-US" sz="2400">
                <a:solidFill>
                  <a:srgbClr val="0070C0"/>
                </a:solidFill>
                <a:latin typeface="微软雅黑" panose="020B0503020204020204" pitchFamily="34" charset="-122"/>
                <a:ea typeface="微软雅黑" panose="020B0503020204020204" pitchFamily="34" charset="-122"/>
                <a:sym typeface="楷体_GB2312" pitchFamily="49" charset="-122"/>
              </a:rPr>
              <a:t>5）动态特性</a:t>
            </a:r>
            <a:endParaRPr lang="zh-CN" altLang="en-US" sz="1800">
              <a:solidFill>
                <a:srgbClr val="0070C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A8139FD-1090-4A1B-87DD-4C2BD04D2526}"/>
                  </a:ext>
                </a:extLst>
              </p:cNvPr>
              <p:cNvSpPr txBox="1"/>
              <p:nvPr/>
            </p:nvSpPr>
            <p:spPr>
              <a:xfrm>
                <a:off x="639384" y="5100321"/>
                <a:ext cx="1597785"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3200" i="0" smtClean="0">
                          <a:solidFill>
                            <a:srgbClr val="0000FF"/>
                          </a:solidFill>
                          <a:latin typeface="Cambria Math" panose="02040503050406030204" pitchFamily="18" charset="0"/>
                        </a:rPr>
                        <m:t>𝜆</m:t>
                      </m:r>
                      <m:r>
                        <a:rPr lang="en-US" altLang="zh-CN" sz="3200" i="1" smtClean="0">
                          <a:solidFill>
                            <a:srgbClr val="0000FF"/>
                          </a:solidFill>
                          <a:latin typeface="Cambria Math" panose="02040503050406030204" pitchFamily="18" charset="0"/>
                        </a:rPr>
                        <m:t>=</m:t>
                      </m:r>
                      <m:r>
                        <a:rPr lang="el-GR" altLang="zh-CN" sz="3200" i="1" smtClean="0">
                          <a:solidFill>
                            <a:srgbClr val="0000FF"/>
                          </a:solidFill>
                          <a:latin typeface="Cambria Math" panose="02040503050406030204" pitchFamily="18" charset="0"/>
                        </a:rPr>
                        <m:t>𝑢</m:t>
                      </m:r>
                      <m:r>
                        <a:rPr lang="en-US" altLang="zh-CN" sz="3200" b="0" i="1" smtClean="0">
                          <a:solidFill>
                            <a:srgbClr val="0000FF"/>
                          </a:solidFill>
                          <a:latin typeface="Cambria Math" panose="02040503050406030204" pitchFamily="18" charset="0"/>
                        </a:rPr>
                        <m:t>𝑇</m:t>
                      </m:r>
                    </m:oMath>
                  </m:oMathPara>
                </a14:m>
                <a:endParaRPr lang="zh-CN" altLang="en-US" sz="3200" dirty="0">
                  <a:solidFill>
                    <a:srgbClr val="0000FF"/>
                  </a:solidFill>
                </a:endParaRPr>
              </a:p>
            </p:txBody>
          </p:sp>
        </mc:Choice>
        <mc:Fallback xmlns="">
          <p:sp>
            <p:nvSpPr>
              <p:cNvPr id="2" name="文本框 1">
                <a:extLst>
                  <a:ext uri="{FF2B5EF4-FFF2-40B4-BE49-F238E27FC236}">
                    <a16:creationId xmlns:a16="http://schemas.microsoft.com/office/drawing/2014/main" id="{0A8139FD-1090-4A1B-87DD-4C2BD04D2526}"/>
                  </a:ext>
                </a:extLst>
              </p:cNvPr>
              <p:cNvSpPr txBox="1">
                <a:spLocks noRot="1" noChangeAspect="1" noMove="1" noResize="1" noEditPoints="1" noAdjustHandles="1" noChangeArrowheads="1" noChangeShapeType="1" noTextEdit="1"/>
              </p:cNvSpPr>
              <p:nvPr/>
            </p:nvSpPr>
            <p:spPr>
              <a:xfrm>
                <a:off x="639384" y="5100321"/>
                <a:ext cx="1597785" cy="492443"/>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矩形 4">
            <a:extLst>
              <a:ext uri="{FF2B5EF4-FFF2-40B4-BE49-F238E27FC236}">
                <a16:creationId xmlns:a16="http://schemas.microsoft.com/office/drawing/2014/main" id="{1D0F3315-F0DD-419A-BA09-D24602AF077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2531" name="灯片编号占位符 3">
            <a:extLst>
              <a:ext uri="{FF2B5EF4-FFF2-40B4-BE49-F238E27FC236}">
                <a16:creationId xmlns:a16="http://schemas.microsoft.com/office/drawing/2014/main" id="{73E8014F-DF8D-4A97-BA71-8F996C23212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01D421B-D4B7-46A0-81EC-8CD4386FD15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20</a:t>
            </a:fld>
            <a:endParaRPr lang="en-US" altLang="zh-CN" sz="1400">
              <a:solidFill>
                <a:srgbClr val="000000"/>
              </a:solidFill>
              <a:latin typeface="Arial" panose="020B0604020202020204" pitchFamily="34" charset="0"/>
            </a:endParaRPr>
          </a:p>
        </p:txBody>
      </p:sp>
      <p:pic>
        <p:nvPicPr>
          <p:cNvPr id="22532" name="Object 5">
            <a:extLst>
              <a:ext uri="{FF2B5EF4-FFF2-40B4-BE49-F238E27FC236}">
                <a16:creationId xmlns:a16="http://schemas.microsoft.com/office/drawing/2014/main" id="{4F717854-2CB8-44EB-B766-E2F54ED68A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1212850"/>
            <a:ext cx="7705725"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TextBox 5">
            <a:extLst>
              <a:ext uri="{FF2B5EF4-FFF2-40B4-BE49-F238E27FC236}">
                <a16:creationId xmlns:a16="http://schemas.microsoft.com/office/drawing/2014/main" id="{DD25C284-43A4-4992-9338-F86AFAC10EA3}"/>
              </a:ext>
            </a:extLst>
          </p:cNvPr>
          <p:cNvSpPr>
            <a:spLocks noChangeArrowheads="1"/>
          </p:cNvSpPr>
          <p:nvPr/>
        </p:nvSpPr>
        <p:spPr bwMode="auto">
          <a:xfrm>
            <a:off x="611188" y="252413"/>
            <a:ext cx="51435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动态特性</a:t>
            </a:r>
            <a:endParaRPr lang="zh-CN" altLang="en-US">
              <a:latin typeface="黑体" panose="02010609060101010101" pitchFamily="49" charset="-122"/>
              <a:ea typeface="黑体" panose="02010609060101010101" pitchFamily="49" charset="-122"/>
            </a:endParaRPr>
          </a:p>
        </p:txBody>
      </p:sp>
      <p:sp>
        <p:nvSpPr>
          <p:cNvPr id="2" name="矩形: 圆角 1">
            <a:extLst>
              <a:ext uri="{FF2B5EF4-FFF2-40B4-BE49-F238E27FC236}">
                <a16:creationId xmlns:a16="http://schemas.microsoft.com/office/drawing/2014/main" id="{D10E0179-F020-4ACE-8F02-7FA60FDC5B42}"/>
              </a:ext>
            </a:extLst>
          </p:cNvPr>
          <p:cNvSpPr/>
          <p:nvPr/>
        </p:nvSpPr>
        <p:spPr bwMode="auto">
          <a:xfrm>
            <a:off x="755735" y="5517145"/>
            <a:ext cx="5256365" cy="504035"/>
          </a:xfrm>
          <a:prstGeom prst="roundRect">
            <a:avLst/>
          </a:prstGeom>
          <a:solidFill>
            <a:schemeClr val="bg2">
              <a:lumMod val="90000"/>
              <a:alpha val="53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itchFamily="34" charset="0"/>
              <a:buNone/>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4">
            <a:extLst>
              <a:ext uri="{FF2B5EF4-FFF2-40B4-BE49-F238E27FC236}">
                <a16:creationId xmlns:a16="http://schemas.microsoft.com/office/drawing/2014/main" id="{D104657D-F6E2-4B19-BF80-1689A98C5F6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3555" name="灯片编号占位符 3">
            <a:extLst>
              <a:ext uri="{FF2B5EF4-FFF2-40B4-BE49-F238E27FC236}">
                <a16:creationId xmlns:a16="http://schemas.microsoft.com/office/drawing/2014/main" id="{6099D377-40F5-4E36-ACCF-458D4FA2017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1E4B66E-A8EC-4268-8ABD-977F2E94A712}"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21</a:t>
            </a:fld>
            <a:endParaRPr lang="en-US" altLang="zh-CN" sz="1400">
              <a:solidFill>
                <a:srgbClr val="000000"/>
              </a:solidFill>
              <a:latin typeface="Arial" panose="020B0604020202020204" pitchFamily="34" charset="0"/>
            </a:endParaRPr>
          </a:p>
        </p:txBody>
      </p:sp>
      <p:sp>
        <p:nvSpPr>
          <p:cNvPr id="23557" name="TextBox 5">
            <a:extLst>
              <a:ext uri="{FF2B5EF4-FFF2-40B4-BE49-F238E27FC236}">
                <a16:creationId xmlns:a16="http://schemas.microsoft.com/office/drawing/2014/main" id="{811AA58A-302E-4FF0-A28D-931154CA4181}"/>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2</a:t>
            </a:r>
            <a:r>
              <a:rPr lang="zh-CN" altLang="en-US" b="1">
                <a:solidFill>
                  <a:srgbClr val="C00000"/>
                </a:solidFill>
                <a:latin typeface="黑体" panose="02010609060101010101" pitchFamily="49" charset="-122"/>
                <a:ea typeface="黑体" panose="02010609060101010101" pitchFamily="49" charset="-122"/>
              </a:rPr>
              <a:t>.3  主要特性</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动态特性</a:t>
            </a:r>
            <a:endParaRPr lang="zh-CN" altLang="en-US">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7263254E-FE65-474C-AC8C-3C2660F7BCF3}"/>
              </a:ext>
            </a:extLst>
          </p:cNvPr>
          <p:cNvPicPr>
            <a:picLocks noChangeAspect="1"/>
          </p:cNvPicPr>
          <p:nvPr/>
        </p:nvPicPr>
        <p:blipFill>
          <a:blip r:embed="rId2"/>
          <a:stretch>
            <a:fillRect/>
          </a:stretch>
        </p:blipFill>
        <p:spPr>
          <a:xfrm>
            <a:off x="391410" y="1181985"/>
            <a:ext cx="8039100" cy="44958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4">
            <a:extLst>
              <a:ext uri="{FF2B5EF4-FFF2-40B4-BE49-F238E27FC236}">
                <a16:creationId xmlns:a16="http://schemas.microsoft.com/office/drawing/2014/main" id="{17BB48E9-B276-4097-A47C-E88A87467C8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4579" name="灯片编号占位符 3">
            <a:extLst>
              <a:ext uri="{FF2B5EF4-FFF2-40B4-BE49-F238E27FC236}">
                <a16:creationId xmlns:a16="http://schemas.microsoft.com/office/drawing/2014/main" id="{9253036B-6AA6-44A2-B240-8C1B3A774A3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2AB489C-1B9A-4F8A-96F8-ABBE4648F833}"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22</a:t>
            </a:fld>
            <a:endParaRPr lang="en-US" altLang="zh-CN" sz="1400">
              <a:solidFill>
                <a:srgbClr val="000000"/>
              </a:solidFill>
              <a:latin typeface="Arial" panose="020B0604020202020204" pitchFamily="34" charset="0"/>
            </a:endParaRPr>
          </a:p>
        </p:txBody>
      </p:sp>
      <p:sp>
        <p:nvSpPr>
          <p:cNvPr id="24580" name="TextBox 5">
            <a:extLst>
              <a:ext uri="{FF2B5EF4-FFF2-40B4-BE49-F238E27FC236}">
                <a16:creationId xmlns:a16="http://schemas.microsoft.com/office/drawing/2014/main" id="{EF5BC254-2842-45B3-9993-58668CDC19B8}"/>
              </a:ext>
            </a:extLst>
          </p:cNvPr>
          <p:cNvSpPr>
            <a:spLocks noChangeArrowheads="1"/>
          </p:cNvSpPr>
          <p:nvPr/>
        </p:nvSpPr>
        <p:spPr bwMode="auto">
          <a:xfrm>
            <a:off x="684213" y="260350"/>
            <a:ext cx="691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压阻式传感器</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半导体应变传感器</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24581" name="Text Box 5">
            <a:extLst>
              <a:ext uri="{FF2B5EF4-FFF2-40B4-BE49-F238E27FC236}">
                <a16:creationId xmlns:a16="http://schemas.microsoft.com/office/drawing/2014/main" id="{4BDFCBE2-96B6-4C71-A98A-45F7CEF73CF0}"/>
              </a:ext>
            </a:extLst>
          </p:cNvPr>
          <p:cNvSpPr>
            <a:spLocks noChangeArrowheads="1"/>
          </p:cNvSpPr>
          <p:nvPr/>
        </p:nvSpPr>
        <p:spPr bwMode="auto">
          <a:xfrm>
            <a:off x="492125" y="2402134"/>
            <a:ext cx="7696200" cy="247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50000"/>
              </a:lnSpc>
              <a:spcBef>
                <a:spcPct val="50000"/>
              </a:spcBef>
            </a:pPr>
            <a:r>
              <a:rPr lang="zh-CN" altLang="en-US" sz="2400" dirty="0">
                <a:latin typeface="微软雅黑" panose="020B0503020204020204" pitchFamily="34" charset="-122"/>
                <a:ea typeface="微软雅黑" panose="020B0503020204020204" pitchFamily="34" charset="-122"/>
              </a:rPr>
              <a:t>压阻式传感器的灵敏度高（</a:t>
            </a:r>
            <a:r>
              <a:rPr lang="zh-CN" altLang="en-US" sz="2400" dirty="0">
                <a:solidFill>
                  <a:srgbClr val="0000FF"/>
                </a:solidFill>
                <a:latin typeface="微软雅黑" panose="020B0503020204020204" pitchFamily="34" charset="-122"/>
                <a:ea typeface="微软雅黑" panose="020B0503020204020204" pitchFamily="34" charset="-122"/>
              </a:rPr>
              <a:t>压阻系数大</a:t>
            </a:r>
            <a:r>
              <a:rPr lang="zh-CN" altLang="en-US" sz="2400" dirty="0">
                <a:latin typeface="微软雅黑" panose="020B0503020204020204" pitchFamily="34" charset="-122"/>
                <a:ea typeface="微软雅黑" panose="020B0503020204020204" pitchFamily="34" charset="-122"/>
              </a:rPr>
              <a:t>）、动态响应好、精度高、易于微型化和集成化（</a:t>
            </a:r>
            <a:r>
              <a:rPr lang="zh-CN" altLang="en-US" sz="2400" dirty="0">
                <a:solidFill>
                  <a:srgbClr val="0000FF"/>
                </a:solidFill>
                <a:latin typeface="微软雅黑" panose="020B0503020204020204" pitchFamily="34" charset="-122"/>
                <a:ea typeface="微软雅黑" panose="020B0503020204020204" pitchFamily="34" charset="-122"/>
              </a:rPr>
              <a:t>硅材料</a:t>
            </a:r>
            <a:r>
              <a:rPr lang="zh-CN" altLang="en-US" sz="2400" dirty="0">
                <a:latin typeface="微软雅黑" panose="020B0503020204020204" pitchFamily="34" charset="-122"/>
                <a:ea typeface="微软雅黑" panose="020B0503020204020204" pitchFamily="34" charset="-122"/>
              </a:rPr>
              <a:t>）。</a:t>
            </a:r>
          </a:p>
          <a:p>
            <a:pPr eaLnBrk="1" hangingPunct="1">
              <a:lnSpc>
                <a:spcPct val="150000"/>
              </a:lnSpc>
              <a:spcBef>
                <a:spcPct val="50000"/>
              </a:spcBef>
            </a:pPr>
            <a:r>
              <a:rPr lang="zh-CN" altLang="en-US" sz="2400" dirty="0">
                <a:latin typeface="微软雅黑" panose="020B0503020204020204" pitchFamily="34" charset="-122"/>
                <a:ea typeface="微软雅黑" panose="020B0503020204020204" pitchFamily="34" charset="-122"/>
              </a:rPr>
              <a:t>因为半导体材料</a:t>
            </a:r>
            <a:r>
              <a:rPr lang="zh-CN" altLang="en-US" sz="2400" dirty="0">
                <a:solidFill>
                  <a:srgbClr val="0000FF"/>
                </a:solidFill>
                <a:latin typeface="微软雅黑" panose="020B0503020204020204" pitchFamily="34" charset="-122"/>
                <a:ea typeface="微软雅黑" panose="020B0503020204020204" pitchFamily="34" charset="-122"/>
              </a:rPr>
              <a:t>对温度很敏感</a:t>
            </a:r>
            <a:r>
              <a:rPr lang="zh-CN" altLang="en-US" sz="2400" dirty="0">
                <a:latin typeface="微软雅黑" panose="020B0503020204020204" pitchFamily="34" charset="-122"/>
                <a:ea typeface="微软雅黑" panose="020B0503020204020204" pitchFamily="34" charset="-122"/>
              </a:rPr>
              <a:t>，因此压阻传感器的温度误差较大，必须要有</a:t>
            </a:r>
            <a:r>
              <a:rPr lang="zh-CN" altLang="en-US" sz="2400" dirty="0">
                <a:solidFill>
                  <a:srgbClr val="0000FF"/>
                </a:solidFill>
                <a:latin typeface="微软雅黑" panose="020B0503020204020204" pitchFamily="34" charset="-122"/>
                <a:ea typeface="微软雅黑" panose="020B0503020204020204" pitchFamily="34" charset="-122"/>
              </a:rPr>
              <a:t>温度补偿</a:t>
            </a:r>
            <a:r>
              <a:rPr lang="zh-CN" altLang="en-US" sz="24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24582" name="Picture 6">
            <a:extLst>
              <a:ext uri="{FF2B5EF4-FFF2-40B4-BE49-F238E27FC236}">
                <a16:creationId xmlns:a16="http://schemas.microsoft.com/office/drawing/2014/main" id="{6ECB3330-A6A1-43B2-854E-D8828E186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0200" y="4872284"/>
            <a:ext cx="34036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3" name="矩形 1">
            <a:extLst>
              <a:ext uri="{FF2B5EF4-FFF2-40B4-BE49-F238E27FC236}">
                <a16:creationId xmlns:a16="http://schemas.microsoft.com/office/drawing/2014/main" id="{5BF6B2D4-850D-4813-895A-59AA1C5C2066}"/>
              </a:ext>
            </a:extLst>
          </p:cNvPr>
          <p:cNvSpPr>
            <a:spLocks noChangeArrowheads="1"/>
          </p:cNvSpPr>
          <p:nvPr/>
        </p:nvSpPr>
        <p:spPr bwMode="auto">
          <a:xfrm>
            <a:off x="666750" y="1684966"/>
            <a:ext cx="14160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dirty="0">
                <a:solidFill>
                  <a:srgbClr val="0000FF"/>
                </a:solidFill>
                <a:latin typeface="微软雅黑" panose="020B0503020204020204" pitchFamily="34" charset="-122"/>
                <a:ea typeface="微软雅黑" panose="020B0503020204020204" pitchFamily="34" charset="-122"/>
              </a:rPr>
              <a:t>特点：</a:t>
            </a:r>
            <a:endParaRPr lang="zh-CN" altLang="en-US" dirty="0">
              <a:solidFill>
                <a:srgbClr val="0000FF"/>
              </a:solidFill>
            </a:endParaRPr>
          </a:p>
        </p:txBody>
      </p:sp>
      <p:grpSp>
        <p:nvGrpSpPr>
          <p:cNvPr id="8" name="组合 7">
            <a:extLst>
              <a:ext uri="{FF2B5EF4-FFF2-40B4-BE49-F238E27FC236}">
                <a16:creationId xmlns:a16="http://schemas.microsoft.com/office/drawing/2014/main" id="{53524219-86C7-4DE2-853E-AF5463CD9F2B}"/>
              </a:ext>
            </a:extLst>
          </p:cNvPr>
          <p:cNvGrpSpPr/>
          <p:nvPr/>
        </p:nvGrpSpPr>
        <p:grpSpPr>
          <a:xfrm>
            <a:off x="5700683" y="844550"/>
            <a:ext cx="2776567" cy="1648385"/>
            <a:chOff x="5847540" y="59919"/>
            <a:chExt cx="2776567" cy="1944135"/>
          </a:xfrm>
          <a:effectLst>
            <a:outerShdw blurRad="50800" dist="38100" dir="2700000" algn="tl" rotWithShape="0">
              <a:prstClr val="black">
                <a:alpha val="40000"/>
              </a:prstClr>
            </a:outerShdw>
          </a:effectLst>
          <a:scene3d>
            <a:camera prst="isometricOffAxis2Left">
              <a:rot lat="600000" lon="1080000" rev="0"/>
            </a:camera>
            <a:lightRig rig="threePt" dir="t"/>
          </a:scene3d>
        </p:grpSpPr>
        <p:sp>
          <p:nvSpPr>
            <p:cNvPr id="9" name="矩形: 圆角 8">
              <a:extLst>
                <a:ext uri="{FF2B5EF4-FFF2-40B4-BE49-F238E27FC236}">
                  <a16:creationId xmlns:a16="http://schemas.microsoft.com/office/drawing/2014/main" id="{33DE045E-D741-452B-889E-C60CA58D84BA}"/>
                </a:ext>
              </a:extLst>
            </p:cNvPr>
            <p:cNvSpPr/>
            <p:nvPr/>
          </p:nvSpPr>
          <p:spPr bwMode="auto">
            <a:xfrm>
              <a:off x="5847540" y="59919"/>
              <a:ext cx="2776567" cy="1944135"/>
            </a:xfrm>
            <a:prstGeom prst="roundRect">
              <a:avLst/>
            </a:prstGeom>
            <a:solidFill>
              <a:schemeClr val="bg2">
                <a:lumMod val="90000"/>
              </a:schemeClr>
            </a:solidFill>
            <a:ln w="952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a:latin typeface="Arial" pitchFamily="34" charset="0"/>
              </a:endParaRPr>
            </a:p>
          </p:txBody>
        </p:sp>
        <p:pic>
          <p:nvPicPr>
            <p:cNvPr id="10" name="Object 11">
              <a:extLst>
                <a:ext uri="{FF2B5EF4-FFF2-40B4-BE49-F238E27FC236}">
                  <a16:creationId xmlns:a16="http://schemas.microsoft.com/office/drawing/2014/main" id="{12F2DC09-E747-43BE-B602-AC77359329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740" y="1031987"/>
              <a:ext cx="2448169" cy="864974"/>
            </a:xfrm>
            <a:prstGeom prst="rect">
              <a:avLst/>
            </a:prstGeom>
            <a:noFill/>
            <a:ln w="9525">
              <a:noFill/>
              <a:miter lim="800000"/>
              <a:headEnd/>
              <a:tailEnd/>
            </a:ln>
            <a:sp3d/>
            <a:extLst>
              <a:ext uri="{909E8E84-426E-40DD-AFC4-6F175D3DCCD1}">
                <a14:hiddenFill xmlns:a14="http://schemas.microsoft.com/office/drawing/2010/main">
                  <a:solidFill>
                    <a:srgbClr val="FFFFFF"/>
                  </a:solidFill>
                </a14:hiddenFill>
              </a:ext>
            </a:extLst>
          </p:spPr>
        </p:pic>
        <p:sp>
          <p:nvSpPr>
            <p:cNvPr id="11" name="右大括号 10">
              <a:extLst>
                <a:ext uri="{FF2B5EF4-FFF2-40B4-BE49-F238E27FC236}">
                  <a16:creationId xmlns:a16="http://schemas.microsoft.com/office/drawing/2014/main" id="{EF2A488B-8AE0-4A02-8990-8E731AB1D8E7}"/>
                </a:ext>
              </a:extLst>
            </p:cNvPr>
            <p:cNvSpPr/>
            <p:nvPr/>
          </p:nvSpPr>
          <p:spPr bwMode="auto">
            <a:xfrm rot="16200000">
              <a:off x="7799684" y="522462"/>
              <a:ext cx="288020" cy="769297"/>
            </a:xfrm>
            <a:prstGeom prst="rightBrace">
              <a:avLst/>
            </a:prstGeom>
            <a:noFill/>
            <a:ln w="1587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dirty="0">
                <a:latin typeface="Arial" pitchFamily="34" charset="0"/>
              </a:endParaRPr>
            </a:p>
          </p:txBody>
        </p:sp>
        <p:sp>
          <p:nvSpPr>
            <p:cNvPr id="12" name="右大括号 11">
              <a:extLst>
                <a:ext uri="{FF2B5EF4-FFF2-40B4-BE49-F238E27FC236}">
                  <a16:creationId xmlns:a16="http://schemas.microsoft.com/office/drawing/2014/main" id="{9A3E859D-0363-477D-B231-01C7849B18D5}"/>
                </a:ext>
              </a:extLst>
            </p:cNvPr>
            <p:cNvSpPr/>
            <p:nvPr/>
          </p:nvSpPr>
          <p:spPr bwMode="auto">
            <a:xfrm rot="16200000">
              <a:off x="6931268" y="676273"/>
              <a:ext cx="288021" cy="465106"/>
            </a:xfrm>
            <a:prstGeom prst="rightBrace">
              <a:avLst/>
            </a:prstGeom>
            <a:noFill/>
            <a:ln w="1587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dirty="0">
                <a:latin typeface="Arial" pitchFamily="34" charset="0"/>
              </a:endParaRPr>
            </a:p>
          </p:txBody>
        </p:sp>
        <p:sp>
          <p:nvSpPr>
            <p:cNvPr id="13" name="矩形 12">
              <a:extLst>
                <a:ext uri="{FF2B5EF4-FFF2-40B4-BE49-F238E27FC236}">
                  <a16:creationId xmlns:a16="http://schemas.microsoft.com/office/drawing/2014/main" id="{4DF36C12-8C02-44F3-A423-1D7B552932C2}"/>
                </a:ext>
              </a:extLst>
            </p:cNvPr>
            <p:cNvSpPr/>
            <p:nvPr/>
          </p:nvSpPr>
          <p:spPr>
            <a:xfrm>
              <a:off x="7567718" y="150200"/>
              <a:ext cx="646331" cy="646331"/>
            </a:xfrm>
            <a:prstGeom prst="rect">
              <a:avLst/>
            </a:prstGeom>
            <a:noFill/>
            <a:ln>
              <a:noFill/>
            </a:ln>
            <a:sp3d/>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应变</a:t>
              </a:r>
              <a:endParaRPr lang="en-US" altLang="zh-CN"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dirty="0"/>
            </a:p>
          </p:txBody>
        </p:sp>
        <p:sp>
          <p:nvSpPr>
            <p:cNvPr id="14" name="矩形 13">
              <a:extLst>
                <a:ext uri="{FF2B5EF4-FFF2-40B4-BE49-F238E27FC236}">
                  <a16:creationId xmlns:a16="http://schemas.microsoft.com/office/drawing/2014/main" id="{FD7F8A5F-DC8B-447C-AADB-3E42BB224053}"/>
                </a:ext>
              </a:extLst>
            </p:cNvPr>
            <p:cNvSpPr/>
            <p:nvPr/>
          </p:nvSpPr>
          <p:spPr>
            <a:xfrm>
              <a:off x="6829061" y="150199"/>
              <a:ext cx="646331" cy="646331"/>
            </a:xfrm>
            <a:prstGeom prst="rect">
              <a:avLst/>
            </a:prstGeom>
            <a:noFill/>
            <a:ln>
              <a:noFill/>
            </a:ln>
            <a:sp3d/>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压阻</a:t>
              </a:r>
              <a:endParaRPr lang="en-US" altLang="zh-CN"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4">
            <a:extLst>
              <a:ext uri="{FF2B5EF4-FFF2-40B4-BE49-F238E27FC236}">
                <a16:creationId xmlns:a16="http://schemas.microsoft.com/office/drawing/2014/main" id="{F9080B20-CA2D-492B-88AB-64E162D8788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5603" name="灯片编号占位符 3">
            <a:extLst>
              <a:ext uri="{FF2B5EF4-FFF2-40B4-BE49-F238E27FC236}">
                <a16:creationId xmlns:a16="http://schemas.microsoft.com/office/drawing/2014/main" id="{01294EFD-93C5-4B17-92DF-F4D87889AF4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BAEF075-E045-4639-9188-922E1484137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23</a:t>
            </a:fld>
            <a:endParaRPr lang="en-US" altLang="zh-CN" sz="1400">
              <a:solidFill>
                <a:srgbClr val="000000"/>
              </a:solidFill>
              <a:latin typeface="Arial" panose="020B0604020202020204" pitchFamily="34" charset="0"/>
            </a:endParaRPr>
          </a:p>
        </p:txBody>
      </p:sp>
      <p:sp>
        <p:nvSpPr>
          <p:cNvPr id="25604" name="TextBox 5">
            <a:extLst>
              <a:ext uri="{FF2B5EF4-FFF2-40B4-BE49-F238E27FC236}">
                <a16:creationId xmlns:a16="http://schemas.microsoft.com/office/drawing/2014/main" id="{AAB6427B-AE48-4CAE-9118-A08C670F2641}"/>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压阻效应</a:t>
            </a:r>
            <a:endParaRPr lang="zh-CN" altLang="en-US" sz="1800">
              <a:latin typeface="黑体" panose="02010609060101010101" pitchFamily="49" charset="-122"/>
              <a:ea typeface="黑体" panose="02010609060101010101" pitchFamily="49" charset="-122"/>
            </a:endParaRPr>
          </a:p>
        </p:txBody>
      </p:sp>
      <p:sp>
        <p:nvSpPr>
          <p:cNvPr id="25605" name="Text Box 5">
            <a:extLst>
              <a:ext uri="{FF2B5EF4-FFF2-40B4-BE49-F238E27FC236}">
                <a16:creationId xmlns:a16="http://schemas.microsoft.com/office/drawing/2014/main" id="{D4CE46BE-64D3-4682-B3C3-278CF8F25D3F}"/>
              </a:ext>
            </a:extLst>
          </p:cNvPr>
          <p:cNvSpPr>
            <a:spLocks noChangeArrowheads="1"/>
          </p:cNvSpPr>
          <p:nvPr/>
        </p:nvSpPr>
        <p:spPr bwMode="auto">
          <a:xfrm>
            <a:off x="828675" y="1189038"/>
            <a:ext cx="7875588" cy="113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50000"/>
              </a:lnSpc>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单晶硅材料</a:t>
            </a:r>
            <a:r>
              <a:rPr lang="zh-CN" altLang="en-US" sz="2400" dirty="0">
                <a:latin typeface="微软雅黑" panose="020B0503020204020204" pitchFamily="34" charset="-122"/>
                <a:ea typeface="微软雅黑" panose="020B0503020204020204" pitchFamily="34" charset="-122"/>
                <a:sym typeface="楷体_GB2312" pitchFamily="49" charset="-122"/>
              </a:rPr>
              <a:t>在受到应力作用后，其</a:t>
            </a:r>
            <a:r>
              <a:rPr lang="zh-CN" altLang="en-US" sz="2400" dirty="0">
                <a:solidFill>
                  <a:srgbClr val="FF0000"/>
                </a:solidFill>
                <a:latin typeface="微软雅黑" panose="020B0503020204020204" pitchFamily="34" charset="-122"/>
                <a:ea typeface="微软雅黑" panose="020B0503020204020204" pitchFamily="34" charset="-122"/>
                <a:sym typeface="楷体_GB2312" pitchFamily="49" charset="-122"/>
              </a:rPr>
              <a:t>电阻率</a:t>
            </a:r>
            <a:r>
              <a:rPr lang="zh-CN" altLang="en-US" sz="2400" dirty="0">
                <a:latin typeface="微软雅黑" panose="020B0503020204020204" pitchFamily="34" charset="-122"/>
                <a:ea typeface="微软雅黑" panose="020B0503020204020204" pitchFamily="34" charset="-122"/>
                <a:sym typeface="楷体_GB2312" pitchFamily="49" charset="-122"/>
              </a:rPr>
              <a:t>发生明显变化，这种现象被称为</a:t>
            </a:r>
            <a:r>
              <a:rPr lang="zh-CN" altLang="en-US" sz="2400" dirty="0">
                <a:solidFill>
                  <a:srgbClr val="C00000"/>
                </a:solidFill>
                <a:latin typeface="微软雅黑" panose="020B0503020204020204" pitchFamily="34" charset="-122"/>
                <a:ea typeface="微软雅黑" panose="020B0503020204020204" pitchFamily="34" charset="-122"/>
                <a:sym typeface="楷体_GB2312" pitchFamily="49" charset="-122"/>
              </a:rPr>
              <a:t>压阻效应</a:t>
            </a:r>
            <a:r>
              <a:rPr lang="zh-CN" altLang="en-US" sz="2400" dirty="0">
                <a:latin typeface="微软雅黑" panose="020B0503020204020204" pitchFamily="34" charset="-122"/>
                <a:ea typeface="微软雅黑" panose="020B0503020204020204" pitchFamily="34" charset="-122"/>
                <a:sym typeface="楷体_GB2312" pitchFamily="49" charset="-122"/>
              </a:rPr>
              <a:t>。</a:t>
            </a:r>
            <a:endParaRPr lang="zh-CN" altLang="en-US" sz="1800" dirty="0">
              <a:latin typeface="微软雅黑" panose="020B0503020204020204" pitchFamily="34" charset="-122"/>
              <a:ea typeface="微软雅黑" panose="020B0503020204020204" pitchFamily="34" charset="-122"/>
            </a:endParaRPr>
          </a:p>
        </p:txBody>
      </p:sp>
      <p:sp>
        <p:nvSpPr>
          <p:cNvPr id="23558" name="Text Box 7">
            <a:extLst>
              <a:ext uri="{FF2B5EF4-FFF2-40B4-BE49-F238E27FC236}">
                <a16:creationId xmlns:a16="http://schemas.microsoft.com/office/drawing/2014/main" id="{BD90558F-9820-4331-BC62-0BE0D917BDC8}"/>
              </a:ext>
            </a:extLst>
          </p:cNvPr>
          <p:cNvSpPr>
            <a:spLocks noChangeArrowheads="1"/>
          </p:cNvSpPr>
          <p:nvPr/>
        </p:nvSpPr>
        <p:spPr bwMode="auto">
          <a:xfrm>
            <a:off x="827088" y="2628900"/>
            <a:ext cx="697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对于一条形半导体材料，其电阻变化量为：</a:t>
            </a:r>
            <a:endParaRPr lang="zh-CN" altLang="en-US" sz="1800">
              <a:latin typeface="微软雅黑" panose="020B0503020204020204" pitchFamily="34" charset="-122"/>
              <a:ea typeface="微软雅黑" panose="020B0503020204020204" pitchFamily="34" charset="-122"/>
            </a:endParaRPr>
          </a:p>
        </p:txBody>
      </p:sp>
      <p:pic>
        <p:nvPicPr>
          <p:cNvPr id="23559" name="Object 7">
            <a:extLst>
              <a:ext uri="{FF2B5EF4-FFF2-40B4-BE49-F238E27FC236}">
                <a16:creationId xmlns:a16="http://schemas.microsoft.com/office/drawing/2014/main" id="{44F94E65-E739-4620-92EE-28FC6EAD3E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3155950"/>
            <a:ext cx="5689600"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Text Box 9">
            <a:extLst>
              <a:ext uri="{FF2B5EF4-FFF2-40B4-BE49-F238E27FC236}">
                <a16:creationId xmlns:a16="http://schemas.microsoft.com/office/drawing/2014/main" id="{5B3C3978-F119-4665-97E8-B8F37A0021AA}"/>
              </a:ext>
            </a:extLst>
          </p:cNvPr>
          <p:cNvSpPr>
            <a:spLocks noChangeArrowheads="1"/>
          </p:cNvSpPr>
          <p:nvPr/>
        </p:nvSpPr>
        <p:spPr bwMode="auto">
          <a:xfrm>
            <a:off x="827088" y="3933825"/>
            <a:ext cx="2016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对金属材料：</a:t>
            </a:r>
            <a:endParaRPr lang="zh-CN" altLang="en-US" sz="1800">
              <a:latin typeface="微软雅黑" panose="020B0503020204020204" pitchFamily="34" charset="-122"/>
              <a:ea typeface="微软雅黑" panose="020B0503020204020204" pitchFamily="34" charset="-122"/>
            </a:endParaRPr>
          </a:p>
        </p:txBody>
      </p:sp>
      <p:sp>
        <p:nvSpPr>
          <p:cNvPr id="23561" name="Text Box 10">
            <a:extLst>
              <a:ext uri="{FF2B5EF4-FFF2-40B4-BE49-F238E27FC236}">
                <a16:creationId xmlns:a16="http://schemas.microsoft.com/office/drawing/2014/main" id="{A43FDD1D-3FCE-42EA-B4BE-558F4551A771}"/>
              </a:ext>
            </a:extLst>
          </p:cNvPr>
          <p:cNvSpPr>
            <a:spLocks noChangeArrowheads="1"/>
          </p:cNvSpPr>
          <p:nvPr/>
        </p:nvSpPr>
        <p:spPr bwMode="auto">
          <a:xfrm>
            <a:off x="827088" y="4743450"/>
            <a:ext cx="7696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对半导体材料：</a:t>
            </a:r>
            <a:endParaRPr lang="zh-CN" altLang="en-US" sz="1800">
              <a:latin typeface="微软雅黑" panose="020B0503020204020204" pitchFamily="34" charset="-122"/>
              <a:ea typeface="微软雅黑" panose="020B0503020204020204" pitchFamily="34" charset="-122"/>
            </a:endParaRPr>
          </a:p>
        </p:txBody>
      </p:sp>
      <p:pic>
        <p:nvPicPr>
          <p:cNvPr id="23562" name="Object 10">
            <a:extLst>
              <a:ext uri="{FF2B5EF4-FFF2-40B4-BE49-F238E27FC236}">
                <a16:creationId xmlns:a16="http://schemas.microsoft.com/office/drawing/2014/main" id="{4A9DBAB1-B027-454E-BEF7-55166860B1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5800" y="4867275"/>
            <a:ext cx="21796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4" name="Object 12">
            <a:extLst>
              <a:ext uri="{FF2B5EF4-FFF2-40B4-BE49-F238E27FC236}">
                <a16:creationId xmlns:a16="http://schemas.microsoft.com/office/drawing/2014/main" id="{BBE1F2C1-611F-4265-B579-12884B89EC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1238" y="5578475"/>
            <a:ext cx="4970462"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2" name="矩形 1">
            <a:extLst>
              <a:ext uri="{FF2B5EF4-FFF2-40B4-BE49-F238E27FC236}">
                <a16:creationId xmlns:a16="http://schemas.microsoft.com/office/drawing/2014/main" id="{61D9B205-B8E5-497C-A696-3D69DBE8C4D5}"/>
              </a:ext>
            </a:extLst>
          </p:cNvPr>
          <p:cNvSpPr>
            <a:spLocks noChangeArrowheads="1"/>
          </p:cNvSpPr>
          <p:nvPr/>
        </p:nvSpPr>
        <p:spPr bwMode="auto">
          <a:xfrm>
            <a:off x="1189038" y="5673725"/>
            <a:ext cx="800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有：</a:t>
            </a:r>
          </a:p>
        </p:txBody>
      </p:sp>
      <p:pic>
        <p:nvPicPr>
          <p:cNvPr id="3" name="图片 2">
            <a:extLst>
              <a:ext uri="{FF2B5EF4-FFF2-40B4-BE49-F238E27FC236}">
                <a16:creationId xmlns:a16="http://schemas.microsoft.com/office/drawing/2014/main" id="{03F071D9-3011-4586-8D07-50E0BDA9F1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9613" y="4041775"/>
            <a:ext cx="30765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D754C3E1-37C2-4E89-942C-899E03B7ED17}"/>
              </a:ext>
            </a:extLst>
          </p:cNvPr>
          <p:cNvGrpSpPr>
            <a:grpSpLocks/>
          </p:cNvGrpSpPr>
          <p:nvPr/>
        </p:nvGrpSpPr>
        <p:grpSpPr bwMode="auto">
          <a:xfrm>
            <a:off x="4286250" y="3789365"/>
            <a:ext cx="2625806" cy="765557"/>
            <a:chOff x="4286250" y="3789025"/>
            <a:chExt cx="2625080" cy="766111"/>
          </a:xfrm>
        </p:grpSpPr>
        <p:cxnSp>
          <p:nvCxnSpPr>
            <p:cNvPr id="25618" name="直接箭头连接符 4">
              <a:extLst>
                <a:ext uri="{FF2B5EF4-FFF2-40B4-BE49-F238E27FC236}">
                  <a16:creationId xmlns:a16="http://schemas.microsoft.com/office/drawing/2014/main" id="{F67EED79-61DC-453F-A242-6EE4DDA15BF9}"/>
                </a:ext>
              </a:extLst>
            </p:cNvPr>
            <p:cNvCxnSpPr>
              <a:cxnSpLocks noChangeShapeType="1"/>
            </p:cNvCxnSpPr>
            <p:nvPr/>
          </p:nvCxnSpPr>
          <p:spPr bwMode="auto">
            <a:xfrm>
              <a:off x="4286250" y="3789025"/>
              <a:ext cx="1005800" cy="37340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19" name="矩形 5">
              <a:extLst>
                <a:ext uri="{FF2B5EF4-FFF2-40B4-BE49-F238E27FC236}">
                  <a16:creationId xmlns:a16="http://schemas.microsoft.com/office/drawing/2014/main" id="{C1F91611-1AE9-4832-9DC2-7CC071023739}"/>
                </a:ext>
              </a:extLst>
            </p:cNvPr>
            <p:cNvSpPr>
              <a:spLocks noChangeArrowheads="1"/>
            </p:cNvSpPr>
            <p:nvPr/>
          </p:nvSpPr>
          <p:spPr bwMode="auto">
            <a:xfrm>
              <a:off x="6264999" y="4185804"/>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1800" dirty="0">
                  <a:solidFill>
                    <a:srgbClr val="0000FF"/>
                  </a:solidFill>
                  <a:latin typeface="微软雅黑" panose="020B0503020204020204" pitchFamily="34" charset="-122"/>
                  <a:ea typeface="微软雅黑" panose="020B0503020204020204" pitchFamily="34" charset="-122"/>
                </a:rPr>
                <a:t>偏小</a:t>
              </a:r>
              <a:endParaRPr lang="zh-CN" altLang="en-US" sz="1800" dirty="0">
                <a:solidFill>
                  <a:srgbClr val="0000FF"/>
                </a:solidFill>
              </a:endParaRPr>
            </a:p>
          </p:txBody>
        </p:sp>
      </p:grpSp>
      <p:grpSp>
        <p:nvGrpSpPr>
          <p:cNvPr id="11" name="组合 10">
            <a:extLst>
              <a:ext uri="{FF2B5EF4-FFF2-40B4-BE49-F238E27FC236}">
                <a16:creationId xmlns:a16="http://schemas.microsoft.com/office/drawing/2014/main" id="{5CECC3B9-8914-460A-BD15-A4D21E7B7359}"/>
              </a:ext>
            </a:extLst>
          </p:cNvPr>
          <p:cNvGrpSpPr>
            <a:grpSpLocks/>
          </p:cNvGrpSpPr>
          <p:nvPr/>
        </p:nvGrpSpPr>
        <p:grpSpPr bwMode="auto">
          <a:xfrm>
            <a:off x="5405438" y="4892615"/>
            <a:ext cx="1511884" cy="369624"/>
            <a:chOff x="5405651" y="4893021"/>
            <a:chExt cx="1511125" cy="369332"/>
          </a:xfrm>
        </p:grpSpPr>
        <p:cxnSp>
          <p:nvCxnSpPr>
            <p:cNvPr id="25616" name="直接箭头连接符 8">
              <a:extLst>
                <a:ext uri="{FF2B5EF4-FFF2-40B4-BE49-F238E27FC236}">
                  <a16:creationId xmlns:a16="http://schemas.microsoft.com/office/drawing/2014/main" id="{D2C354C7-1156-4054-BE3A-318F09D559A1}"/>
                </a:ext>
              </a:extLst>
            </p:cNvPr>
            <p:cNvCxnSpPr>
              <a:cxnSpLocks/>
              <a:stCxn id="25617" idx="1"/>
              <a:endCxn id="23562" idx="3"/>
            </p:cNvCxnSpPr>
            <p:nvPr/>
          </p:nvCxnSpPr>
          <p:spPr bwMode="auto">
            <a:xfrm flipH="1" flipV="1">
              <a:off x="5405651" y="5069948"/>
              <a:ext cx="864794" cy="7739"/>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5617" name="矩形 20">
              <a:extLst>
                <a:ext uri="{FF2B5EF4-FFF2-40B4-BE49-F238E27FC236}">
                  <a16:creationId xmlns:a16="http://schemas.microsoft.com/office/drawing/2014/main" id="{B8ADB909-136F-4126-AE08-16E2B9F87343}"/>
                </a:ext>
              </a:extLst>
            </p:cNvPr>
            <p:cNvSpPr>
              <a:spLocks noChangeArrowheads="1"/>
            </p:cNvSpPr>
            <p:nvPr/>
          </p:nvSpPr>
          <p:spPr bwMode="auto">
            <a:xfrm>
              <a:off x="6270445" y="4893021"/>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1800" dirty="0">
                  <a:solidFill>
                    <a:srgbClr val="0000FF"/>
                  </a:solidFill>
                  <a:latin typeface="微软雅黑" panose="020B0503020204020204" pitchFamily="34" charset="-122"/>
                  <a:ea typeface="微软雅黑" panose="020B0503020204020204" pitchFamily="34" charset="-122"/>
                </a:rPr>
                <a:t>很大</a:t>
              </a:r>
              <a:endParaRPr lang="zh-CN" altLang="en-US" sz="1800" dirty="0">
                <a:solidFill>
                  <a:srgbClr val="0000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559"/>
                                        </p:tgtEl>
                                        <p:attrNameLst>
                                          <p:attrName>style.visibility</p:attrName>
                                        </p:attrNameLst>
                                      </p:cBhvr>
                                      <p:to>
                                        <p:strVal val="visible"/>
                                      </p:to>
                                    </p:set>
                                    <p:animEffect filter="blinds(horizontal)">
                                      <p:cBhvr>
                                        <p:cTn id="7" dur="500"/>
                                        <p:tgtEl>
                                          <p:spTgt spid="2355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558"/>
                                        </p:tgtEl>
                                        <p:attrNameLst>
                                          <p:attrName>style.visibility</p:attrName>
                                        </p:attrNameLst>
                                      </p:cBhvr>
                                      <p:to>
                                        <p:strVal val="visible"/>
                                      </p:to>
                                    </p:set>
                                    <p:animEffect filter="blinds(horizontal)">
                                      <p:cBhvr>
                                        <p:cTn id="10" dur="500"/>
                                        <p:tgtEl>
                                          <p:spTgt spid="2355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23560"/>
                                        </p:tgtEl>
                                        <p:attrNameLst>
                                          <p:attrName>style.visibility</p:attrName>
                                        </p:attrNameLst>
                                      </p:cBhvr>
                                      <p:to>
                                        <p:strVal val="visible"/>
                                      </p:to>
                                    </p:set>
                                    <p:animEffect filter="blinds(horizontal)">
                                      <p:cBhvr>
                                        <p:cTn id="15" dur="500"/>
                                        <p:tgtEl>
                                          <p:spTgt spid="23560"/>
                                        </p:tgtEl>
                                      </p:cBhvr>
                                    </p:animEffect>
                                  </p:childTnLst>
                                </p:cTn>
                              </p:par>
                              <p:par>
                                <p:cTn id="16" presetID="3" presetClass="entr" presetSubtype="1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filter="blinds(horizontal)">
                                      <p:cBhvr>
                                        <p:cTn id="18" dur="500"/>
                                        <p:tgtEl>
                                          <p:spTgt spid="3"/>
                                        </p:tgtEl>
                                      </p:cBhvr>
                                    </p:animEffect>
                                  </p:childTnLst>
                                </p:cTn>
                              </p:par>
                              <p:par>
                                <p:cTn id="19" presetID="3" presetClass="entr" presetSubtype="1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filter="blinds(horizontal)">
                                      <p:cBhvr>
                                        <p:cTn id="21" dur="500"/>
                                        <p:tgtEl>
                                          <p:spTgt spid="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23562"/>
                                        </p:tgtEl>
                                        <p:attrNameLst>
                                          <p:attrName>style.visibility</p:attrName>
                                        </p:attrNameLst>
                                      </p:cBhvr>
                                      <p:to>
                                        <p:strVal val="visible"/>
                                      </p:to>
                                    </p:set>
                                    <p:animEffect filter="blinds(horizontal)">
                                      <p:cBhvr>
                                        <p:cTn id="26" dur="500"/>
                                        <p:tgtEl>
                                          <p:spTgt spid="23562"/>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23561"/>
                                        </p:tgtEl>
                                        <p:attrNameLst>
                                          <p:attrName>style.visibility</p:attrName>
                                        </p:attrNameLst>
                                      </p:cBhvr>
                                      <p:to>
                                        <p:strVal val="visible"/>
                                      </p:to>
                                    </p:set>
                                    <p:animEffect filter="blinds(horizontal)">
                                      <p:cBhvr>
                                        <p:cTn id="29" dur="500"/>
                                        <p:tgtEl>
                                          <p:spTgt spid="23561"/>
                                        </p:tgtEl>
                                      </p:cBhvr>
                                    </p:animEffect>
                                  </p:childTnLst>
                                </p:cTn>
                              </p:par>
                              <p:par>
                                <p:cTn id="30" presetID="3" presetClass="entr" presetSubtype="1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filter="blinds(horizontal)">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bldLvl="0"/>
      <p:bldP spid="23560" grpId="0" bldLvl="0"/>
      <p:bldP spid="23561" grpId="0" bldLvl="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矩形 4">
            <a:extLst>
              <a:ext uri="{FF2B5EF4-FFF2-40B4-BE49-F238E27FC236}">
                <a16:creationId xmlns:a16="http://schemas.microsoft.com/office/drawing/2014/main" id="{084F5B01-4390-4C48-BF97-03AE09A7616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2000">
              <a:solidFill>
                <a:srgbClr val="FFFFFF"/>
              </a:solidFill>
              <a:latin typeface="宋体" panose="02010600030101010101" pitchFamily="2" charset="-122"/>
              <a:sym typeface="宋体" panose="02010600030101010101" pitchFamily="2" charset="-122"/>
            </a:endParaRPr>
          </a:p>
        </p:txBody>
      </p:sp>
      <p:sp>
        <p:nvSpPr>
          <p:cNvPr id="26627" name="灯片编号占位符 3">
            <a:extLst>
              <a:ext uri="{FF2B5EF4-FFF2-40B4-BE49-F238E27FC236}">
                <a16:creationId xmlns:a16="http://schemas.microsoft.com/office/drawing/2014/main" id="{4353E9F1-0E16-41A6-956B-2C9712621B9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4DD19F83-A7FA-4F2F-A819-1AA29B9B1C7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24</a:t>
            </a:fld>
            <a:endParaRPr lang="en-US" altLang="zh-CN" sz="1400">
              <a:solidFill>
                <a:srgbClr val="000000"/>
              </a:solidFill>
              <a:latin typeface="Arial" panose="020B0604020202020204" pitchFamily="34" charset="0"/>
            </a:endParaRPr>
          </a:p>
        </p:txBody>
      </p:sp>
      <p:sp>
        <p:nvSpPr>
          <p:cNvPr id="26628" name="TextBox 5">
            <a:extLst>
              <a:ext uri="{FF2B5EF4-FFF2-40B4-BE49-F238E27FC236}">
                <a16:creationId xmlns:a16="http://schemas.microsoft.com/office/drawing/2014/main" id="{E5A86D7B-F22D-413A-807A-FD410C4B91E9}"/>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压阻效应</a:t>
            </a:r>
            <a:endParaRPr lang="zh-CN" altLang="en-US" sz="1800">
              <a:latin typeface="黑体" panose="02010609060101010101" pitchFamily="49" charset="-122"/>
              <a:ea typeface="黑体" panose="02010609060101010101" pitchFamily="49" charset="-122"/>
            </a:endParaRPr>
          </a:p>
        </p:txBody>
      </p:sp>
      <p:sp>
        <p:nvSpPr>
          <p:cNvPr id="26630" name="Rectangle 8">
            <a:extLst>
              <a:ext uri="{FF2B5EF4-FFF2-40B4-BE49-F238E27FC236}">
                <a16:creationId xmlns:a16="http://schemas.microsoft.com/office/drawing/2014/main" id="{99BCA0C0-E463-41E4-90F8-F9E5F1913D4C}"/>
              </a:ext>
            </a:extLst>
          </p:cNvPr>
          <p:cNvSpPr>
            <a:spLocks noChangeArrowheads="1"/>
          </p:cNvSpPr>
          <p:nvPr/>
        </p:nvSpPr>
        <p:spPr bwMode="auto">
          <a:xfrm>
            <a:off x="179388" y="1494984"/>
            <a:ext cx="8712200" cy="104797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由于</a:t>
            </a:r>
            <a:r>
              <a:rPr lang="en-US" altLang="zh-CN" sz="22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πE</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一般都比（</a:t>
            </a: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1+2</a:t>
            </a:r>
            <a:r>
              <a:rPr lang="en-US" altLang="zh-CN" sz="22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μ</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大几十倍甚至上百倍！</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因此引起半导体材料电阻相对变化的主要原因是压阻效应，所以上式可近似写成</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4583" name="Object 7">
            <a:extLst>
              <a:ext uri="{FF2B5EF4-FFF2-40B4-BE49-F238E27FC236}">
                <a16:creationId xmlns:a16="http://schemas.microsoft.com/office/drawing/2014/main" id="{7AB0B501-55DD-4480-AE75-74A390ABE7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3900" y="2547005"/>
            <a:ext cx="1962063" cy="1151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Rectangle 11">
            <a:extLst>
              <a:ext uri="{FF2B5EF4-FFF2-40B4-BE49-F238E27FC236}">
                <a16:creationId xmlns:a16="http://schemas.microsoft.com/office/drawing/2014/main" id="{339A17A9-2C3D-4BDA-B15B-DA2E04823C4D}"/>
              </a:ext>
            </a:extLst>
          </p:cNvPr>
          <p:cNvSpPr>
            <a:spLocks noChangeArrowheads="1"/>
          </p:cNvSpPr>
          <p:nvPr/>
        </p:nvSpPr>
        <p:spPr bwMode="auto">
          <a:xfrm>
            <a:off x="215900" y="3861030"/>
            <a:ext cx="3204020" cy="15558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式中，</a:t>
            </a: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π—</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压阻系数；</a:t>
            </a:r>
            <a:endPar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a:lnSpc>
                <a:spcPct val="150000"/>
              </a:lnSpc>
              <a:spcBef>
                <a:spcPct val="0"/>
              </a:spcBef>
              <a:buFont typeface="Arial" panose="020B0604020202020204" pitchFamily="34" charset="0"/>
              <a:buNone/>
            </a:pPr>
            <a:r>
              <a:rPr lang="en-US" altLang="zh-CN" sz="22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E</a:t>
            </a: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弹性模量；</a:t>
            </a:r>
            <a:endPar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a:lnSpc>
                <a:spcPct val="150000"/>
              </a:lnSpc>
              <a:spcBef>
                <a:spcPct val="0"/>
              </a:spcBef>
              <a:buFont typeface="Arial" panose="020B0604020202020204" pitchFamily="34" charset="0"/>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ε—</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应变</a:t>
            </a:r>
          </a:p>
        </p:txBody>
      </p:sp>
      <p:pic>
        <p:nvPicPr>
          <p:cNvPr id="3" name="图片 2">
            <a:extLst>
              <a:ext uri="{FF2B5EF4-FFF2-40B4-BE49-F238E27FC236}">
                <a16:creationId xmlns:a16="http://schemas.microsoft.com/office/drawing/2014/main" id="{49C5E1C7-F313-4F2C-A153-BC7DAB516E27}"/>
              </a:ext>
            </a:extLst>
          </p:cNvPr>
          <p:cNvPicPr>
            <a:picLocks noChangeAspect="1"/>
          </p:cNvPicPr>
          <p:nvPr/>
        </p:nvPicPr>
        <p:blipFill>
          <a:blip r:embed="rId3"/>
          <a:stretch>
            <a:fillRect/>
          </a:stretch>
        </p:blipFill>
        <p:spPr>
          <a:xfrm>
            <a:off x="4195471" y="3284990"/>
            <a:ext cx="1979700" cy="1555811"/>
          </a:xfrm>
          <a:prstGeom prst="rect">
            <a:avLst/>
          </a:prstGeom>
        </p:spPr>
      </p:pic>
      <p:pic>
        <p:nvPicPr>
          <p:cNvPr id="4" name="图片 3">
            <a:extLst>
              <a:ext uri="{FF2B5EF4-FFF2-40B4-BE49-F238E27FC236}">
                <a16:creationId xmlns:a16="http://schemas.microsoft.com/office/drawing/2014/main" id="{DD860E9F-3C73-400D-A51C-1109C95D7622}"/>
              </a:ext>
            </a:extLst>
          </p:cNvPr>
          <p:cNvPicPr>
            <a:picLocks noChangeAspect="1"/>
          </p:cNvPicPr>
          <p:nvPr/>
        </p:nvPicPr>
        <p:blipFill>
          <a:blip r:embed="rId4"/>
          <a:stretch>
            <a:fillRect/>
          </a:stretch>
        </p:blipFill>
        <p:spPr>
          <a:xfrm>
            <a:off x="6580402" y="3237867"/>
            <a:ext cx="1838325" cy="1581150"/>
          </a:xfrm>
          <a:prstGeom prst="rect">
            <a:avLst/>
          </a:prstGeom>
        </p:spPr>
      </p:pic>
      <p:sp>
        <p:nvSpPr>
          <p:cNvPr id="5" name="矩形 4">
            <a:extLst>
              <a:ext uri="{FF2B5EF4-FFF2-40B4-BE49-F238E27FC236}">
                <a16:creationId xmlns:a16="http://schemas.microsoft.com/office/drawing/2014/main" id="{AF51D2F3-3AF2-4646-8BB8-1D20047E741F}"/>
              </a:ext>
            </a:extLst>
          </p:cNvPr>
          <p:cNvSpPr/>
          <p:nvPr/>
        </p:nvSpPr>
        <p:spPr>
          <a:xfrm>
            <a:off x="4427990" y="5178350"/>
            <a:ext cx="1107996"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单晶方棒</a:t>
            </a:r>
            <a:endParaRPr lang="zh-CN" altLang="en-US" dirty="0"/>
          </a:p>
        </p:txBody>
      </p:sp>
      <p:sp>
        <p:nvSpPr>
          <p:cNvPr id="13" name="矩形 12">
            <a:extLst>
              <a:ext uri="{FF2B5EF4-FFF2-40B4-BE49-F238E27FC236}">
                <a16:creationId xmlns:a16="http://schemas.microsoft.com/office/drawing/2014/main" id="{1550C2F0-5278-4528-8FCF-DDCF6052F11E}"/>
              </a:ext>
            </a:extLst>
          </p:cNvPr>
          <p:cNvSpPr/>
          <p:nvPr/>
        </p:nvSpPr>
        <p:spPr>
          <a:xfrm>
            <a:off x="6945566" y="5158167"/>
            <a:ext cx="1107996" cy="369332"/>
          </a:xfrm>
          <a:prstGeom prst="rect">
            <a:avLst/>
          </a:prstGeom>
        </p:spPr>
        <p:txBody>
          <a:bodyPr wrap="none">
            <a:spAutoFit/>
          </a:bodyPr>
          <a:lstStyle/>
          <a:p>
            <a:r>
              <a:rPr lang="zh-CN" altLang="en-US" dirty="0"/>
              <a:t>单晶硅片</a:t>
            </a:r>
          </a:p>
        </p:txBody>
      </p:sp>
      <p:sp>
        <p:nvSpPr>
          <p:cNvPr id="6" name="矩形 5">
            <a:extLst>
              <a:ext uri="{FF2B5EF4-FFF2-40B4-BE49-F238E27FC236}">
                <a16:creationId xmlns:a16="http://schemas.microsoft.com/office/drawing/2014/main" id="{F687A2F8-C2FB-454B-84BC-CF57FCB12462}"/>
              </a:ext>
            </a:extLst>
          </p:cNvPr>
          <p:cNvSpPr/>
          <p:nvPr/>
        </p:nvSpPr>
        <p:spPr>
          <a:xfrm>
            <a:off x="4981988" y="5702268"/>
            <a:ext cx="2932213" cy="369332"/>
          </a:xfrm>
          <a:prstGeom prst="rect">
            <a:avLst/>
          </a:prstGeom>
        </p:spPr>
        <p:txBody>
          <a:bodyPr wrap="none">
            <a:spAutoFit/>
          </a:bodyPr>
          <a:lstStyle/>
          <a:p>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单晶硅是一种</a:t>
            </a:r>
            <a:r>
              <a:rPr lang="zh-CN" altLang="en-US"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各向异性材料</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4"/>
                                        </p:tgtEl>
                                        <p:attrNameLst>
                                          <p:attrName>style.visibility</p:attrName>
                                        </p:attrNameLst>
                                      </p:cBhvr>
                                      <p:to>
                                        <p:strVal val="visible"/>
                                      </p:to>
                                    </p:set>
                                    <p:animEffect filter="blinds(horizontal)">
                                      <p:cBhvr>
                                        <p:cTn id="7" dur="500"/>
                                        <p:tgtEl>
                                          <p:spTgt spid="24584"/>
                                        </p:tgtEl>
                                      </p:cBhvr>
                                    </p:animEffect>
                                  </p:childTnLst>
                                </p:cTn>
                              </p:par>
                              <p:par>
                                <p:cTn id="8" presetID="3" presetClass="entr" presetSubtype="10" fill="hold" nodeType="withEffect">
                                  <p:stCondLst>
                                    <p:cond delay="0"/>
                                  </p:stCondLst>
                                  <p:childTnLst>
                                    <p:set>
                                      <p:cBhvr>
                                        <p:cTn id="9" dur="1" fill="hold">
                                          <p:stCondLst>
                                            <p:cond delay="0"/>
                                          </p:stCondLst>
                                        </p:cTn>
                                        <p:tgtEl>
                                          <p:spTgt spid="24583"/>
                                        </p:tgtEl>
                                        <p:attrNameLst>
                                          <p:attrName>style.visibility</p:attrName>
                                        </p:attrNameLst>
                                      </p:cBhvr>
                                      <p:to>
                                        <p:strVal val="visible"/>
                                      </p:to>
                                    </p:set>
                                    <p:animEffect filter="blinds(horizontal)">
                                      <p:cBhvr>
                                        <p:cTn id="10" dur="500"/>
                                        <p:tgtEl>
                                          <p:spTgt spid="2458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fill="hold"/>
                                        <p:tgtEl>
                                          <p:spTgt spid="3"/>
                                        </p:tgtEl>
                                        <p:attrNameLst>
                                          <p:attrName>ppt_x</p:attrName>
                                        </p:attrNameLst>
                                      </p:cBhvr>
                                      <p:tavLst>
                                        <p:tav tm="0">
                                          <p:val>
                                            <p:strVal val="#ppt_x"/>
                                          </p:val>
                                        </p:tav>
                                        <p:tav tm="100000">
                                          <p:val>
                                            <p:strVal val="#ppt_x"/>
                                          </p:val>
                                        </p:tav>
                                      </p:tavLst>
                                    </p:anim>
                                    <p:anim calcmode="lin" valueType="num">
                                      <p:cBhvr additive="base">
                                        <p:cTn id="16" dur="500" fill="hold"/>
                                        <p:tgtEl>
                                          <p:spTgt spid="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5" presetClass="entr" presetSubtype="0" fill="hold" grpId="0" nodeType="clickEffect">
                                  <p:stCondLst>
                                    <p:cond delay="0"/>
                                  </p:stCondLst>
                                  <p:iterate type="lt">
                                    <p:tmPct val="0"/>
                                  </p:iterate>
                                  <p:childTnLst>
                                    <p:set>
                                      <p:cBhvr>
                                        <p:cTn id="32" dur="1" fill="hold">
                                          <p:stCondLst>
                                            <p:cond delay="0"/>
                                          </p:stCondLst>
                                        </p:cTn>
                                        <p:tgtEl>
                                          <p:spTgt spid="6"/>
                                        </p:tgtEl>
                                        <p:attrNameLst>
                                          <p:attrName>style.visibility</p:attrName>
                                        </p:attrNameLst>
                                      </p:cBhvr>
                                      <p:to>
                                        <p:strVal val="visible"/>
                                      </p:to>
                                    </p:set>
                                    <p:animEffect transition="in" filter="fade">
                                      <p:cBhvr>
                                        <p:cTn id="33" dur="2000"/>
                                        <p:tgtEl>
                                          <p:spTgt spid="6"/>
                                        </p:tgtEl>
                                      </p:cBhvr>
                                    </p:animEffect>
                                    <p:anim calcmode="lin" valueType="num">
                                      <p:cBhvr>
                                        <p:cTn id="34" dur="2000" fill="hold"/>
                                        <p:tgtEl>
                                          <p:spTgt spid="6"/>
                                        </p:tgtEl>
                                        <p:attrNameLst>
                                          <p:attrName>ppt_w</p:attrName>
                                        </p:attrNameLst>
                                      </p:cBhvr>
                                      <p:tavLst>
                                        <p:tav tm="0" fmla="#ppt_w*sin(2.5*pi*$)">
                                          <p:val>
                                            <p:fltVal val="0"/>
                                          </p:val>
                                        </p:tav>
                                        <p:tav tm="100000">
                                          <p:val>
                                            <p:fltVal val="1"/>
                                          </p:val>
                                        </p:tav>
                                      </p:tavLst>
                                    </p:anim>
                                    <p:anim calcmode="lin" valueType="num">
                                      <p:cBhvr>
                                        <p:cTn id="35"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34" presetClass="emph" presetSubtype="0" fill="hold" grpId="1" nodeType="clickEffect">
                                  <p:stCondLst>
                                    <p:cond delay="0"/>
                                  </p:stCondLst>
                                  <p:iterate type="lt">
                                    <p:tmPct val="10000"/>
                                  </p:iterate>
                                  <p:childTnLst>
                                    <p:animMotion origin="layout" path="M -4.72222E-6 -3.33333E-6 L -4.72222E-6 -0.07222 " pathEditMode="relative" rAng="0" ptsTypes="AA">
                                      <p:cBhvr>
                                        <p:cTn id="39" dur="250" accel="50000" decel="50000" autoRev="1" fill="hold">
                                          <p:stCondLst>
                                            <p:cond delay="0"/>
                                          </p:stCondLst>
                                        </p:cTn>
                                        <p:tgtEl>
                                          <p:spTgt spid="6"/>
                                        </p:tgtEl>
                                        <p:attrNameLst>
                                          <p:attrName>ppt_x</p:attrName>
                                          <p:attrName>ppt_y</p:attrName>
                                        </p:attrNameLst>
                                      </p:cBhvr>
                                      <p:rCtr x="0" y="-3611"/>
                                    </p:animMotion>
                                    <p:animRot by="1500000">
                                      <p:cBhvr>
                                        <p:cTn id="40" dur="125" fill="hold">
                                          <p:stCondLst>
                                            <p:cond delay="0"/>
                                          </p:stCondLst>
                                        </p:cTn>
                                        <p:tgtEl>
                                          <p:spTgt spid="6"/>
                                        </p:tgtEl>
                                        <p:attrNameLst>
                                          <p:attrName>r</p:attrName>
                                        </p:attrNameLst>
                                      </p:cBhvr>
                                    </p:animRot>
                                    <p:animRot by="-1500000">
                                      <p:cBhvr>
                                        <p:cTn id="41" dur="125" fill="hold">
                                          <p:stCondLst>
                                            <p:cond delay="125"/>
                                          </p:stCondLst>
                                        </p:cTn>
                                        <p:tgtEl>
                                          <p:spTgt spid="6"/>
                                        </p:tgtEl>
                                        <p:attrNameLst>
                                          <p:attrName>r</p:attrName>
                                        </p:attrNameLst>
                                      </p:cBhvr>
                                    </p:animRot>
                                    <p:animRot by="-1500000">
                                      <p:cBhvr>
                                        <p:cTn id="42" dur="125" fill="hold">
                                          <p:stCondLst>
                                            <p:cond delay="250"/>
                                          </p:stCondLst>
                                        </p:cTn>
                                        <p:tgtEl>
                                          <p:spTgt spid="6"/>
                                        </p:tgtEl>
                                        <p:attrNameLst>
                                          <p:attrName>r</p:attrName>
                                        </p:attrNameLst>
                                      </p:cBhvr>
                                    </p:animRot>
                                    <p:animRot by="1500000">
                                      <p:cBhvr>
                                        <p:cTn id="43" dur="125" fill="hold">
                                          <p:stCondLst>
                                            <p:cond delay="375"/>
                                          </p:stCondLst>
                                        </p:cTn>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bldLvl="0" animBg="1"/>
      <p:bldP spid="5" grpId="0"/>
      <p:bldP spid="13" grpId="0"/>
      <p:bldP spid="6" grpId="0"/>
      <p:bldP spid="6"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D6B1FEC-969B-4354-983B-6BB3AB889831}"/>
              </a:ext>
            </a:extLst>
          </p:cNvPr>
          <p:cNvPicPr>
            <a:picLocks noChangeAspect="1"/>
          </p:cNvPicPr>
          <p:nvPr/>
        </p:nvPicPr>
        <p:blipFill>
          <a:blip r:embed="rId2"/>
          <a:stretch>
            <a:fillRect/>
          </a:stretch>
        </p:blipFill>
        <p:spPr>
          <a:xfrm>
            <a:off x="5725314" y="1126599"/>
            <a:ext cx="3413642" cy="3419497"/>
          </a:xfrm>
          <a:prstGeom prst="rect">
            <a:avLst/>
          </a:prstGeom>
        </p:spPr>
      </p:pic>
      <p:sp>
        <p:nvSpPr>
          <p:cNvPr id="27650" name="矩形 4">
            <a:extLst>
              <a:ext uri="{FF2B5EF4-FFF2-40B4-BE49-F238E27FC236}">
                <a16:creationId xmlns:a16="http://schemas.microsoft.com/office/drawing/2014/main" id="{C92A0897-1F77-43BF-BEF9-B902DE730C2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7651" name="灯片编号占位符 3">
            <a:extLst>
              <a:ext uri="{FF2B5EF4-FFF2-40B4-BE49-F238E27FC236}">
                <a16:creationId xmlns:a16="http://schemas.microsoft.com/office/drawing/2014/main" id="{3BC343F9-8D1E-4579-9368-11483CFDB96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BAEB13B-4422-4415-AD51-D282CE3B11B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25</a:t>
            </a:fld>
            <a:endParaRPr lang="en-US" altLang="zh-CN" sz="1400">
              <a:solidFill>
                <a:srgbClr val="000000"/>
              </a:solidFill>
              <a:latin typeface="Arial" panose="020B0604020202020204" pitchFamily="34" charset="0"/>
            </a:endParaRPr>
          </a:p>
        </p:txBody>
      </p:sp>
      <p:sp>
        <p:nvSpPr>
          <p:cNvPr id="27652" name="TextBox 5">
            <a:extLst>
              <a:ext uri="{FF2B5EF4-FFF2-40B4-BE49-F238E27FC236}">
                <a16:creationId xmlns:a16="http://schemas.microsoft.com/office/drawing/2014/main" id="{AE7B83F6-709B-4EF8-9DD1-F95F4507A55A}"/>
              </a:ext>
            </a:extLst>
          </p:cNvPr>
          <p:cNvSpPr>
            <a:spLocks noChangeArrowheads="1"/>
          </p:cNvSpPr>
          <p:nvPr/>
        </p:nvSpPr>
        <p:spPr bwMode="auto">
          <a:xfrm>
            <a:off x="684213" y="260350"/>
            <a:ext cx="5143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latin typeface="黑体" panose="02010609060101010101" pitchFamily="49" charset="-122"/>
                <a:ea typeface="黑体" panose="02010609060101010101" pitchFamily="49" charset="-122"/>
              </a:rPr>
              <a:t>3</a:t>
            </a:r>
            <a:r>
              <a:rPr lang="zh-CN" altLang="en-US" b="1" dirty="0">
                <a:solidFill>
                  <a:srgbClr val="C00000"/>
                </a:solidFill>
                <a:latin typeface="黑体" panose="02010609060101010101" pitchFamily="49" charset="-122"/>
                <a:ea typeface="黑体" panose="02010609060101010101" pitchFamily="49" charset="-122"/>
              </a:rPr>
              <a:t>.2</a:t>
            </a:r>
            <a:r>
              <a:rPr lang="zh-CN" altLang="en-US" b="1" dirty="0">
                <a:solidFill>
                  <a:srgbClr val="CC0000"/>
                </a:solidFill>
                <a:latin typeface="黑体" panose="02010609060101010101" pitchFamily="49" charset="-122"/>
                <a:ea typeface="黑体" panose="02010609060101010101" pitchFamily="49" charset="-122"/>
                <a:sym typeface="楷体_GB2312" pitchFamily="49" charset="-122"/>
              </a:rPr>
              <a:t> 晶面和晶向的表示</a:t>
            </a:r>
            <a:endParaRPr lang="zh-CN" altLang="en-US" sz="1800" dirty="0">
              <a:latin typeface="黑体" panose="02010609060101010101" pitchFamily="49" charset="-122"/>
              <a:ea typeface="黑体" panose="02010609060101010101" pitchFamily="49" charset="-122"/>
            </a:endParaRPr>
          </a:p>
        </p:txBody>
      </p:sp>
      <p:sp>
        <p:nvSpPr>
          <p:cNvPr id="12" name="Rectangle 5">
            <a:extLst>
              <a:ext uri="{FF2B5EF4-FFF2-40B4-BE49-F238E27FC236}">
                <a16:creationId xmlns:a16="http://schemas.microsoft.com/office/drawing/2014/main" id="{CFEE34DF-441C-4A38-87F4-ABF042FA5A23}"/>
              </a:ext>
            </a:extLst>
          </p:cNvPr>
          <p:cNvSpPr>
            <a:spLocks noChangeArrowheads="1"/>
          </p:cNvSpPr>
          <p:nvPr/>
        </p:nvSpPr>
        <p:spPr bwMode="auto">
          <a:xfrm>
            <a:off x="511967" y="1107744"/>
            <a:ext cx="5813439" cy="155581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扩散硅压阻式传感器的</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基片是半导体单晶硅</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。单晶硅是</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各向异性材料</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。结晶学里采用</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晶面</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和</a:t>
            </a:r>
            <a:r>
              <a:rPr lang="zh-CN" altLang="en-US" sz="22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晶向</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表示单晶硅的方向性。</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F9E4FFC9-D88E-43B4-860C-0EAE8FB9FD70}"/>
              </a:ext>
            </a:extLst>
          </p:cNvPr>
          <p:cNvSpPr/>
          <p:nvPr/>
        </p:nvSpPr>
        <p:spPr>
          <a:xfrm>
            <a:off x="684213" y="2725136"/>
            <a:ext cx="2103461" cy="461665"/>
          </a:xfrm>
          <a:prstGeom prst="rect">
            <a:avLst/>
          </a:prstGeom>
        </p:spPr>
        <p:txBody>
          <a:bodyPr wrap="none">
            <a:spAutoFit/>
          </a:bodyPr>
          <a:lstStyle/>
          <a:p>
            <a:pPr marL="285750" indent="-285750">
              <a:buFont typeface="Wingdings" panose="05000000000000000000" pitchFamily="2" charset="2"/>
              <a:buChar char="u"/>
            </a:pPr>
            <a:r>
              <a:rPr lang="zh-CN" altLang="en-US" sz="2400"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晶面的表示</a:t>
            </a:r>
            <a:endParaRPr lang="zh-CN" altLang="en-US" sz="2400" dirty="0">
              <a:solidFill>
                <a:schemeClr val="accent6"/>
              </a:solidFill>
            </a:endParaRPr>
          </a:p>
        </p:txBody>
      </p:sp>
      <p:pic>
        <p:nvPicPr>
          <p:cNvPr id="8" name="图片 7">
            <a:extLst>
              <a:ext uri="{FF2B5EF4-FFF2-40B4-BE49-F238E27FC236}">
                <a16:creationId xmlns:a16="http://schemas.microsoft.com/office/drawing/2014/main" id="{A402BCF0-0FA5-4DD2-AFF7-8D5CF45601E4}"/>
              </a:ext>
            </a:extLst>
          </p:cNvPr>
          <p:cNvPicPr>
            <a:picLocks noChangeAspect="1"/>
          </p:cNvPicPr>
          <p:nvPr/>
        </p:nvPicPr>
        <p:blipFill>
          <a:blip r:embed="rId3"/>
          <a:stretch>
            <a:fillRect/>
          </a:stretch>
        </p:blipFill>
        <p:spPr>
          <a:xfrm>
            <a:off x="493424" y="3128658"/>
            <a:ext cx="4925788" cy="2385402"/>
          </a:xfrm>
          <a:prstGeom prst="rect">
            <a:avLst/>
          </a:prstGeom>
        </p:spPr>
      </p:pic>
      <p:pic>
        <p:nvPicPr>
          <p:cNvPr id="6" name="图片 5">
            <a:extLst>
              <a:ext uri="{FF2B5EF4-FFF2-40B4-BE49-F238E27FC236}">
                <a16:creationId xmlns:a16="http://schemas.microsoft.com/office/drawing/2014/main" id="{D27EB35B-4300-426B-B594-18A5E5120F87}"/>
              </a:ext>
            </a:extLst>
          </p:cNvPr>
          <p:cNvPicPr>
            <a:picLocks noChangeAspect="1"/>
          </p:cNvPicPr>
          <p:nvPr/>
        </p:nvPicPr>
        <p:blipFill>
          <a:blip r:embed="rId4"/>
          <a:stretch>
            <a:fillRect/>
          </a:stretch>
        </p:blipFill>
        <p:spPr>
          <a:xfrm>
            <a:off x="4929870" y="5391294"/>
            <a:ext cx="4236255" cy="933161"/>
          </a:xfrm>
          <a:prstGeom prst="rect">
            <a:avLst/>
          </a:prstGeom>
        </p:spPr>
      </p:pic>
      <p:sp>
        <p:nvSpPr>
          <p:cNvPr id="9" name="矩形 8">
            <a:extLst>
              <a:ext uri="{FF2B5EF4-FFF2-40B4-BE49-F238E27FC236}">
                <a16:creationId xmlns:a16="http://schemas.microsoft.com/office/drawing/2014/main" id="{D1249EC2-B5C4-4DF5-A31F-2D99F2773E2E}"/>
              </a:ext>
            </a:extLst>
          </p:cNvPr>
          <p:cNvSpPr/>
          <p:nvPr/>
        </p:nvSpPr>
        <p:spPr>
          <a:xfrm>
            <a:off x="827740" y="5534812"/>
            <a:ext cx="3571812" cy="769441"/>
          </a:xfrm>
          <a:prstGeom prst="rect">
            <a:avLst/>
          </a:prstGeom>
        </p:spPr>
        <p:txBody>
          <a:bodyPr wrap="none">
            <a:spAutoFit/>
          </a:bodyPr>
          <a:lstStyle/>
          <a:p>
            <a:pPr marL="342900" indent="-342900">
              <a:buFont typeface="Arial" panose="020B0604020202020204" pitchFamily="34" charset="0"/>
              <a:buChar char="•"/>
            </a:pPr>
            <a:r>
              <a:rPr lang="en-US" altLang="zh-CN" sz="2200" b="1" i="1"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h k l </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又称为密勒指数</a:t>
            </a:r>
            <a:endParaRPr lang="en-US" altLang="zh-CN"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marL="342900" indent="-342900">
              <a:buFont typeface="Arial" panose="020B0604020202020204" pitchFamily="34" charset="0"/>
              <a:buChar char="•"/>
            </a:pP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该晶面表示为：</a:t>
            </a:r>
            <a:r>
              <a:rPr lang="zh-CN" altLang="en-US" sz="2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2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h k l</a:t>
            </a:r>
            <a:r>
              <a:rPr lang="zh-CN" altLang="en-US" sz="2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endParaRPr lang="zh-CN" altLang="en-US" sz="2200" b="1" dirty="0">
              <a:solidFill>
                <a:srgbClr val="C00000"/>
              </a:solidFill>
            </a:endParaRPr>
          </a:p>
        </p:txBody>
      </p:sp>
      <p:sp>
        <p:nvSpPr>
          <p:cNvPr id="21" name="矩形 20">
            <a:extLst>
              <a:ext uri="{FF2B5EF4-FFF2-40B4-BE49-F238E27FC236}">
                <a16:creationId xmlns:a16="http://schemas.microsoft.com/office/drawing/2014/main" id="{36E465D7-4C1A-4035-87F1-C6E1B675190C}"/>
              </a:ext>
            </a:extLst>
          </p:cNvPr>
          <p:cNvSpPr/>
          <p:nvPr/>
        </p:nvSpPr>
        <p:spPr>
          <a:xfrm>
            <a:off x="5121828" y="4913231"/>
            <a:ext cx="3413114" cy="430887"/>
          </a:xfrm>
          <a:prstGeom prst="rect">
            <a:avLst/>
          </a:prstGeom>
        </p:spPr>
        <p:txBody>
          <a:bodyPr wrap="none">
            <a:spAutoFit/>
          </a:bodyPr>
          <a:lstStyle/>
          <a:p>
            <a:r>
              <a:rPr lang="zh-CN" altLang="en-US" sz="2200"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例：上图的晶面</a:t>
            </a:r>
            <a:r>
              <a:rPr lang="zh-CN" altLang="en-US" sz="2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指数为：</a:t>
            </a:r>
            <a:endParaRPr lang="zh-CN" alt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8" dur="500" fill="hold"/>
                                        <p:tgtEl>
                                          <p:spTgt spid="8"/>
                                        </p:tgtEl>
                                        <p:attrNameLst>
                                          <p:attrName>ppt_x</p:attrName>
                                        </p:attrNameLst>
                                      </p:cBhvr>
                                      <p:tavLst>
                                        <p:tav tm="0">
                                          <p:val>
                                            <p:strVal val="#ppt_x"/>
                                          </p:val>
                                        </p:tav>
                                        <p:tav tm="100000">
                                          <p:val>
                                            <p:strVal val="#ppt_x"/>
                                          </p:val>
                                        </p:tav>
                                      </p:tavLst>
                                    </p:anim>
                                    <p:anim calcmode="lin" valueType="num">
                                      <p:cBhvr additive="base">
                                        <p:cTn id="19" dur="500" fill="hold"/>
                                        <p:tgtEl>
                                          <p:spTgt spid="8"/>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additive="base">
                                        <p:cTn id="22" dur="500" fill="hold"/>
                                        <p:tgtEl>
                                          <p:spTgt spid="9"/>
                                        </p:tgtEl>
                                        <p:attrNameLst>
                                          <p:attrName>ppt_x</p:attrName>
                                        </p:attrNameLst>
                                      </p:cBhvr>
                                      <p:tavLst>
                                        <p:tav tm="0">
                                          <p:val>
                                            <p:strVal val="#ppt_x"/>
                                          </p:val>
                                        </p:tav>
                                        <p:tav tm="100000">
                                          <p:val>
                                            <p:strVal val="#ppt_x"/>
                                          </p:val>
                                        </p:tav>
                                      </p:tavLst>
                                    </p:anim>
                                    <p:anim calcmode="lin" valueType="num">
                                      <p:cBhvr additive="base">
                                        <p:cTn id="2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 calcmode="lin" valueType="num">
                                      <p:cBhvr additive="base">
                                        <p:cTn id="32" dur="500" fill="hold"/>
                                        <p:tgtEl>
                                          <p:spTgt spid="21"/>
                                        </p:tgtEl>
                                        <p:attrNameLst>
                                          <p:attrName>ppt_x</p:attrName>
                                        </p:attrNameLst>
                                      </p:cBhvr>
                                      <p:tavLst>
                                        <p:tav tm="0">
                                          <p:val>
                                            <p:strVal val="#ppt_x"/>
                                          </p:val>
                                        </p:tav>
                                        <p:tav tm="100000">
                                          <p:val>
                                            <p:strVal val="#ppt_x"/>
                                          </p:val>
                                        </p:tav>
                                      </p:tavLst>
                                    </p:anim>
                                    <p:anim calcmode="lin" valueType="num">
                                      <p:cBhvr additive="base">
                                        <p:cTn id="3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9" grpId="0"/>
      <p:bldP spid="2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4">
            <a:extLst>
              <a:ext uri="{FF2B5EF4-FFF2-40B4-BE49-F238E27FC236}">
                <a16:creationId xmlns:a16="http://schemas.microsoft.com/office/drawing/2014/main" id="{C92A0897-1F77-43BF-BEF9-B902DE730C2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7651" name="灯片编号占位符 3">
            <a:extLst>
              <a:ext uri="{FF2B5EF4-FFF2-40B4-BE49-F238E27FC236}">
                <a16:creationId xmlns:a16="http://schemas.microsoft.com/office/drawing/2014/main" id="{3BC343F9-8D1E-4579-9368-11483CFDB96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BAEB13B-4422-4415-AD51-D282CE3B11B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26</a:t>
            </a:fld>
            <a:endParaRPr lang="en-US" altLang="zh-CN" sz="1400">
              <a:solidFill>
                <a:srgbClr val="000000"/>
              </a:solidFill>
              <a:latin typeface="Arial" panose="020B0604020202020204" pitchFamily="34" charset="0"/>
            </a:endParaRPr>
          </a:p>
        </p:txBody>
      </p:sp>
      <p:sp>
        <p:nvSpPr>
          <p:cNvPr id="27652" name="TextBox 5">
            <a:extLst>
              <a:ext uri="{FF2B5EF4-FFF2-40B4-BE49-F238E27FC236}">
                <a16:creationId xmlns:a16="http://schemas.microsoft.com/office/drawing/2014/main" id="{AE7B83F6-709B-4EF8-9DD1-F95F4507A55A}"/>
              </a:ext>
            </a:extLst>
          </p:cNvPr>
          <p:cNvSpPr>
            <a:spLocks noChangeArrowheads="1"/>
          </p:cNvSpPr>
          <p:nvPr/>
        </p:nvSpPr>
        <p:spPr bwMode="auto">
          <a:xfrm>
            <a:off x="684213" y="260350"/>
            <a:ext cx="5143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latin typeface="黑体" panose="02010609060101010101" pitchFamily="49" charset="-122"/>
                <a:ea typeface="黑体" panose="02010609060101010101" pitchFamily="49" charset="-122"/>
              </a:rPr>
              <a:t>3</a:t>
            </a:r>
            <a:r>
              <a:rPr lang="zh-CN" altLang="en-US" b="1" dirty="0">
                <a:solidFill>
                  <a:srgbClr val="C00000"/>
                </a:solidFill>
                <a:latin typeface="黑体" panose="02010609060101010101" pitchFamily="49" charset="-122"/>
                <a:ea typeface="黑体" panose="02010609060101010101" pitchFamily="49" charset="-122"/>
              </a:rPr>
              <a:t>.2</a:t>
            </a:r>
            <a:r>
              <a:rPr lang="zh-CN" altLang="en-US" b="1" dirty="0">
                <a:solidFill>
                  <a:srgbClr val="CC0000"/>
                </a:solidFill>
                <a:latin typeface="黑体" panose="02010609060101010101" pitchFamily="49" charset="-122"/>
                <a:ea typeface="黑体" panose="02010609060101010101" pitchFamily="49" charset="-122"/>
                <a:sym typeface="楷体_GB2312" pitchFamily="49" charset="-122"/>
              </a:rPr>
              <a:t> 晶面和晶向的表示</a:t>
            </a:r>
            <a:endParaRPr lang="zh-CN" altLang="en-US" sz="1800" dirty="0">
              <a:latin typeface="黑体" panose="02010609060101010101" pitchFamily="49" charset="-122"/>
              <a:ea typeface="黑体" panose="02010609060101010101" pitchFamily="49" charset="-122"/>
            </a:endParaRPr>
          </a:p>
        </p:txBody>
      </p:sp>
      <p:sp>
        <p:nvSpPr>
          <p:cNvPr id="12" name="Rectangle 5">
            <a:extLst>
              <a:ext uri="{FF2B5EF4-FFF2-40B4-BE49-F238E27FC236}">
                <a16:creationId xmlns:a16="http://schemas.microsoft.com/office/drawing/2014/main" id="{CFEE34DF-441C-4A38-87F4-ABF042FA5A23}"/>
              </a:ext>
            </a:extLst>
          </p:cNvPr>
          <p:cNvSpPr>
            <a:spLocks noChangeArrowheads="1"/>
          </p:cNvSpPr>
          <p:nvPr/>
        </p:nvSpPr>
        <p:spPr bwMode="auto">
          <a:xfrm>
            <a:off x="511967" y="1107744"/>
            <a:ext cx="5813439" cy="54014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200" dirty="0">
                <a:solidFill>
                  <a:srgbClr val="008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200" dirty="0">
                <a:solidFill>
                  <a:srgbClr val="008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实践一下：</a:t>
            </a:r>
            <a:r>
              <a:rPr lang="zh-CN" altLang="en-US" sz="2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晶面指数</a:t>
            </a:r>
            <a:endParaRPr lang="zh-CN" altLang="en-US" sz="22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图片 9">
            <a:extLst>
              <a:ext uri="{FF2B5EF4-FFF2-40B4-BE49-F238E27FC236}">
                <a16:creationId xmlns:a16="http://schemas.microsoft.com/office/drawing/2014/main" id="{E27A2161-4D11-4C2F-B792-E74727ADEABF}"/>
              </a:ext>
            </a:extLst>
          </p:cNvPr>
          <p:cNvPicPr>
            <a:picLocks noChangeAspect="1"/>
          </p:cNvPicPr>
          <p:nvPr/>
        </p:nvPicPr>
        <p:blipFill>
          <a:blip r:embed="rId2"/>
          <a:stretch>
            <a:fillRect/>
          </a:stretch>
        </p:blipFill>
        <p:spPr>
          <a:xfrm>
            <a:off x="899745" y="1916895"/>
            <a:ext cx="2472412" cy="1679770"/>
          </a:xfrm>
          <a:prstGeom prst="rect">
            <a:avLst/>
          </a:prstGeom>
        </p:spPr>
      </p:pic>
      <p:pic>
        <p:nvPicPr>
          <p:cNvPr id="3" name="图片 2">
            <a:extLst>
              <a:ext uri="{FF2B5EF4-FFF2-40B4-BE49-F238E27FC236}">
                <a16:creationId xmlns:a16="http://schemas.microsoft.com/office/drawing/2014/main" id="{8D52A579-AD76-49F4-8392-D7009D3AECE0}"/>
              </a:ext>
            </a:extLst>
          </p:cNvPr>
          <p:cNvPicPr>
            <a:picLocks noChangeAspect="1"/>
          </p:cNvPicPr>
          <p:nvPr/>
        </p:nvPicPr>
        <p:blipFill>
          <a:blip r:embed="rId3"/>
          <a:stretch>
            <a:fillRect/>
          </a:stretch>
        </p:blipFill>
        <p:spPr>
          <a:xfrm>
            <a:off x="4067965" y="1643697"/>
            <a:ext cx="2846263" cy="2212406"/>
          </a:xfrm>
          <a:prstGeom prst="rect">
            <a:avLst/>
          </a:prstGeom>
        </p:spPr>
      </p:pic>
      <p:pic>
        <p:nvPicPr>
          <p:cNvPr id="4" name="图片 3">
            <a:extLst>
              <a:ext uri="{FF2B5EF4-FFF2-40B4-BE49-F238E27FC236}">
                <a16:creationId xmlns:a16="http://schemas.microsoft.com/office/drawing/2014/main" id="{F57013E4-7687-4AA5-A1B5-B0E22638B802}"/>
              </a:ext>
            </a:extLst>
          </p:cNvPr>
          <p:cNvPicPr>
            <a:picLocks noChangeAspect="1"/>
          </p:cNvPicPr>
          <p:nvPr/>
        </p:nvPicPr>
        <p:blipFill>
          <a:blip r:embed="rId4"/>
          <a:stretch>
            <a:fillRect/>
          </a:stretch>
        </p:blipFill>
        <p:spPr>
          <a:xfrm>
            <a:off x="874882" y="3856103"/>
            <a:ext cx="5937035" cy="2150064"/>
          </a:xfrm>
          <a:prstGeom prst="rect">
            <a:avLst/>
          </a:prstGeom>
        </p:spPr>
      </p:pic>
      <p:sp>
        <p:nvSpPr>
          <p:cNvPr id="15" name="矩形 14">
            <a:extLst>
              <a:ext uri="{FF2B5EF4-FFF2-40B4-BE49-F238E27FC236}">
                <a16:creationId xmlns:a16="http://schemas.microsoft.com/office/drawing/2014/main" id="{982CD6D9-3F59-4A7B-A8A5-B5A4855FF618}"/>
              </a:ext>
            </a:extLst>
          </p:cNvPr>
          <p:cNvSpPr/>
          <p:nvPr/>
        </p:nvSpPr>
        <p:spPr>
          <a:xfrm>
            <a:off x="6915761" y="4392056"/>
            <a:ext cx="2122082" cy="1569660"/>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rgbClr val="0000FF"/>
                </a:solidFill>
              </a:rPr>
              <a:t>晶面全集</a:t>
            </a:r>
            <a:endParaRPr lang="en-US" altLang="zh-CN" sz="2400" b="1" dirty="0">
              <a:solidFill>
                <a:srgbClr val="0000FF"/>
              </a:solidFill>
            </a:endParaRPr>
          </a:p>
          <a:p>
            <a:r>
              <a:rPr lang="en-US" altLang="zh-CN" sz="2400" b="1" dirty="0">
                <a:solidFill>
                  <a:srgbClr val="0000FF"/>
                </a:solidFill>
              </a:rPr>
              <a:t>      </a:t>
            </a:r>
            <a:r>
              <a:rPr lang="en-US" altLang="zh-CN" sz="2400" b="1" dirty="0">
                <a:solidFill>
                  <a:srgbClr val="C00000"/>
                </a:solidFill>
              </a:rPr>
              <a:t>{</a:t>
            </a:r>
            <a:r>
              <a:rPr lang="en-US" altLang="zh-CN" sz="2400" b="1" i="1" dirty="0">
                <a:solidFill>
                  <a:srgbClr val="C00000"/>
                </a:solidFill>
                <a:latin typeface="Times New Roman" panose="02020603050405020304" pitchFamily="18" charset="0"/>
                <a:cs typeface="Times New Roman" panose="02020603050405020304" pitchFamily="18" charset="0"/>
              </a:rPr>
              <a:t>h k l </a:t>
            </a:r>
            <a:r>
              <a:rPr lang="en-US" altLang="zh-CN" sz="2400" b="1" dirty="0">
                <a:solidFill>
                  <a:srgbClr val="C00000"/>
                </a:solidFill>
              </a:rPr>
              <a:t>}</a:t>
            </a:r>
          </a:p>
          <a:p>
            <a:pPr marL="342900" indent="-342900">
              <a:buFont typeface="Wingdings" panose="05000000000000000000" pitchFamily="2" charset="2"/>
              <a:buChar char="Ø"/>
            </a:pPr>
            <a:r>
              <a:rPr lang="zh-CN" altLang="en-US" sz="2400" b="1" dirty="0">
                <a:solidFill>
                  <a:srgbClr val="0000FF"/>
                </a:solidFill>
              </a:rPr>
              <a:t>注意负号的表示</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sp>
        <p:nvSpPr>
          <p:cNvPr id="5" name="矩形 4">
            <a:extLst>
              <a:ext uri="{FF2B5EF4-FFF2-40B4-BE49-F238E27FC236}">
                <a16:creationId xmlns:a16="http://schemas.microsoft.com/office/drawing/2014/main" id="{3ACD2888-A0E2-42CF-AB22-E4C1DB4204C6}"/>
              </a:ext>
            </a:extLst>
          </p:cNvPr>
          <p:cNvSpPr/>
          <p:nvPr/>
        </p:nvSpPr>
        <p:spPr>
          <a:xfrm>
            <a:off x="1187765" y="6080939"/>
            <a:ext cx="4717958" cy="369332"/>
          </a:xfrm>
          <a:prstGeom prst="rect">
            <a:avLst/>
          </a:prstGeom>
        </p:spPr>
        <p:txBody>
          <a:bodyPr wrap="none">
            <a:spAutoFit/>
          </a:bodyPr>
          <a:lstStyle/>
          <a:p>
            <a:pPr marL="342900" indent="-342900">
              <a:buFont typeface="Wingdings" panose="05000000000000000000" pitchFamily="2" charset="2"/>
              <a:buChar char="Ø"/>
            </a:pPr>
            <a:r>
              <a:rPr lang="en-US" altLang="zh-CN" b="1" dirty="0">
                <a:solidFill>
                  <a:srgbClr val="0000FF"/>
                </a:solidFill>
              </a:rPr>
              <a:t>TIP:  </a:t>
            </a:r>
            <a:r>
              <a:rPr lang="zh-CN" altLang="en-US" b="1" dirty="0">
                <a:solidFill>
                  <a:srgbClr val="0000FF"/>
                </a:solidFill>
              </a:rPr>
              <a:t>哪个坐标为零，则平行于相应坐标轴</a:t>
            </a:r>
            <a:endPar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spTree>
    <p:extLst>
      <p:ext uri="{BB962C8B-B14F-4D97-AF65-F5344CB8AC3E}">
        <p14:creationId xmlns:p14="http://schemas.microsoft.com/office/powerpoint/2010/main" val="85749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filter="blinds(horizontal)">
                                      <p:cBhvr>
                                        <p:cTn id="7" dur="500"/>
                                        <p:tgtEl>
                                          <p:spTgt spid="12"/>
                                        </p:tgtEl>
                                      </p:cBhvr>
                                    </p:animEffect>
                                  </p:childTnLst>
                                </p:cTn>
                              </p:par>
                              <p:par>
                                <p:cTn id="8" presetID="2" presetClass="entr" presetSubtype="4"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500" fill="hold"/>
                                        <p:tgtEl>
                                          <p:spTgt spid="15"/>
                                        </p:tgtEl>
                                        <p:attrNameLst>
                                          <p:attrName>ppt_x</p:attrName>
                                        </p:attrNameLst>
                                      </p:cBhvr>
                                      <p:tavLst>
                                        <p:tav tm="0">
                                          <p:val>
                                            <p:strVal val="#ppt_x"/>
                                          </p:val>
                                        </p:tav>
                                        <p:tav tm="100000">
                                          <p:val>
                                            <p:strVal val="#ppt_x"/>
                                          </p:val>
                                        </p:tav>
                                      </p:tavLst>
                                    </p:anim>
                                    <p:anim calcmode="lin" valueType="num">
                                      <p:cBhvr additive="base">
                                        <p:cTn id="1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4">
            <a:extLst>
              <a:ext uri="{FF2B5EF4-FFF2-40B4-BE49-F238E27FC236}">
                <a16:creationId xmlns:a16="http://schemas.microsoft.com/office/drawing/2014/main" id="{C92A0897-1F77-43BF-BEF9-B902DE730C2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7651" name="灯片编号占位符 3">
            <a:extLst>
              <a:ext uri="{FF2B5EF4-FFF2-40B4-BE49-F238E27FC236}">
                <a16:creationId xmlns:a16="http://schemas.microsoft.com/office/drawing/2014/main" id="{3BC343F9-8D1E-4579-9368-11483CFDB96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BAEB13B-4422-4415-AD51-D282CE3B11B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27</a:t>
            </a:fld>
            <a:endParaRPr lang="en-US" altLang="zh-CN" sz="1400">
              <a:solidFill>
                <a:srgbClr val="000000"/>
              </a:solidFill>
              <a:latin typeface="Arial" panose="020B0604020202020204" pitchFamily="34" charset="0"/>
            </a:endParaRPr>
          </a:p>
        </p:txBody>
      </p:sp>
      <p:sp>
        <p:nvSpPr>
          <p:cNvPr id="27652" name="TextBox 5">
            <a:extLst>
              <a:ext uri="{FF2B5EF4-FFF2-40B4-BE49-F238E27FC236}">
                <a16:creationId xmlns:a16="http://schemas.microsoft.com/office/drawing/2014/main" id="{AE7B83F6-709B-4EF8-9DD1-F95F4507A55A}"/>
              </a:ext>
            </a:extLst>
          </p:cNvPr>
          <p:cNvSpPr>
            <a:spLocks noChangeArrowheads="1"/>
          </p:cNvSpPr>
          <p:nvPr/>
        </p:nvSpPr>
        <p:spPr bwMode="auto">
          <a:xfrm>
            <a:off x="684213" y="260350"/>
            <a:ext cx="51435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latin typeface="黑体" panose="02010609060101010101" pitchFamily="49" charset="-122"/>
                <a:ea typeface="黑体" panose="02010609060101010101" pitchFamily="49" charset="-122"/>
              </a:rPr>
              <a:t>3</a:t>
            </a:r>
            <a:r>
              <a:rPr lang="zh-CN" altLang="en-US" b="1" dirty="0">
                <a:solidFill>
                  <a:srgbClr val="C00000"/>
                </a:solidFill>
                <a:latin typeface="黑体" panose="02010609060101010101" pitchFamily="49" charset="-122"/>
                <a:ea typeface="黑体" panose="02010609060101010101" pitchFamily="49" charset="-122"/>
              </a:rPr>
              <a:t>.2</a:t>
            </a:r>
            <a:r>
              <a:rPr lang="zh-CN" altLang="en-US" b="1" dirty="0">
                <a:solidFill>
                  <a:srgbClr val="CC0000"/>
                </a:solidFill>
                <a:latin typeface="黑体" panose="02010609060101010101" pitchFamily="49" charset="-122"/>
                <a:ea typeface="黑体" panose="02010609060101010101" pitchFamily="49" charset="-122"/>
                <a:sym typeface="楷体_GB2312" pitchFamily="49" charset="-122"/>
              </a:rPr>
              <a:t> 晶面和晶向的表示</a:t>
            </a:r>
            <a:endParaRPr lang="zh-CN" altLang="en-US" sz="1800" dirty="0">
              <a:latin typeface="黑体" panose="02010609060101010101" pitchFamily="49" charset="-122"/>
              <a:ea typeface="黑体" panose="02010609060101010101" pitchFamily="49" charset="-122"/>
            </a:endParaRPr>
          </a:p>
        </p:txBody>
      </p:sp>
      <p:sp>
        <p:nvSpPr>
          <p:cNvPr id="7" name="矩形 6">
            <a:extLst>
              <a:ext uri="{FF2B5EF4-FFF2-40B4-BE49-F238E27FC236}">
                <a16:creationId xmlns:a16="http://schemas.microsoft.com/office/drawing/2014/main" id="{F9E4FFC9-D88E-43B4-860C-0EAE8FB9FD70}"/>
              </a:ext>
            </a:extLst>
          </p:cNvPr>
          <p:cNvSpPr/>
          <p:nvPr/>
        </p:nvSpPr>
        <p:spPr>
          <a:xfrm>
            <a:off x="684213" y="1375200"/>
            <a:ext cx="2103461" cy="461665"/>
          </a:xfrm>
          <a:prstGeom prst="rect">
            <a:avLst/>
          </a:prstGeom>
        </p:spPr>
        <p:txBody>
          <a:bodyPr wrap="none">
            <a:spAutoFit/>
          </a:bodyPr>
          <a:lstStyle/>
          <a:p>
            <a:pPr marL="285750" indent="-285750">
              <a:buFont typeface="Wingdings" panose="05000000000000000000" pitchFamily="2" charset="2"/>
              <a:buChar char="u"/>
            </a:pPr>
            <a:r>
              <a:rPr lang="zh-CN" altLang="en-US" sz="2400" dirty="0">
                <a:solidFill>
                  <a:schemeClr val="accent6"/>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晶向的表示</a:t>
            </a:r>
            <a:endParaRPr lang="zh-CN" altLang="en-US" sz="2400" dirty="0">
              <a:solidFill>
                <a:schemeClr val="accent6"/>
              </a:solidFill>
            </a:endParaRPr>
          </a:p>
        </p:txBody>
      </p:sp>
      <p:sp>
        <p:nvSpPr>
          <p:cNvPr id="9" name="矩形 8">
            <a:extLst>
              <a:ext uri="{FF2B5EF4-FFF2-40B4-BE49-F238E27FC236}">
                <a16:creationId xmlns:a16="http://schemas.microsoft.com/office/drawing/2014/main" id="{D1249EC2-B5C4-4DF5-A31F-2D99F2773E2E}"/>
              </a:ext>
            </a:extLst>
          </p:cNvPr>
          <p:cNvSpPr/>
          <p:nvPr/>
        </p:nvSpPr>
        <p:spPr>
          <a:xfrm>
            <a:off x="690798" y="1985955"/>
            <a:ext cx="4025212" cy="2339102"/>
          </a:xfrm>
          <a:prstGeom prst="rect">
            <a:avLst/>
          </a:prstGeom>
        </p:spPr>
        <p:txBody>
          <a:bodyPr wrap="square">
            <a:spAutoFit/>
          </a:bodyPr>
          <a:lstStyle/>
          <a:p>
            <a:r>
              <a:rPr lang="zh-CN" altLang="en-US" sz="2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晶向</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是经过原点</a:t>
            </a:r>
            <a:r>
              <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O</a:t>
            </a:r>
            <a:r>
              <a:rPr lang="zh-CN" altLang="en-US"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，垂直于晶面的一条向量。</a:t>
            </a:r>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en-US" altLang="zh-CN" sz="2200" b="1" dirty="0">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400" dirty="0"/>
              <a:t>晶向也用一组整数表示：</a:t>
            </a:r>
            <a:endParaRPr lang="en-US" altLang="zh-CN" sz="2400" dirty="0"/>
          </a:p>
          <a:p>
            <a:endParaRPr lang="en-US" altLang="zh-CN" sz="2400" dirty="0"/>
          </a:p>
          <a:p>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3200" b="1" i="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h k l</a:t>
            </a:r>
            <a:r>
              <a:rPr lang="en-US" altLang="zh-CN" sz="320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endParaRPr lang="zh-CN" altLang="en-US" sz="3200" b="1" dirty="0">
              <a:solidFill>
                <a:srgbClr val="C00000"/>
              </a:solidFill>
            </a:endParaRPr>
          </a:p>
        </p:txBody>
      </p:sp>
      <p:sp>
        <p:nvSpPr>
          <p:cNvPr id="23" name="矩形 22">
            <a:extLst>
              <a:ext uri="{FF2B5EF4-FFF2-40B4-BE49-F238E27FC236}">
                <a16:creationId xmlns:a16="http://schemas.microsoft.com/office/drawing/2014/main" id="{014BC885-9B9B-48BF-8091-D3573C0F703E}"/>
              </a:ext>
            </a:extLst>
          </p:cNvPr>
          <p:cNvSpPr/>
          <p:nvPr/>
        </p:nvSpPr>
        <p:spPr>
          <a:xfrm>
            <a:off x="611725" y="4640819"/>
            <a:ext cx="5215988" cy="830997"/>
          </a:xfrm>
          <a:prstGeom prst="rect">
            <a:avLst/>
          </a:prstGeom>
        </p:spPr>
        <p:txBody>
          <a:bodyPr wrap="square">
            <a:spAutoFit/>
          </a:bodyPr>
          <a:lstStyle/>
          <a:p>
            <a:pPr marL="342900" indent="-342900">
              <a:buFont typeface="Wingdings" panose="05000000000000000000" pitchFamily="2" charset="2"/>
              <a:buChar char="Ø"/>
            </a:pPr>
            <a:r>
              <a:rPr lang="zh-CN" altLang="en-US" sz="2400" b="1" dirty="0">
                <a:solidFill>
                  <a:srgbClr val="0000FF"/>
                </a:solidFill>
              </a:rPr>
              <a:t>在立方晶系中，某一晶面</a:t>
            </a:r>
            <a:r>
              <a:rPr lang="en-US" altLang="zh-CN" sz="2400" b="1" dirty="0">
                <a:solidFill>
                  <a:srgbClr val="C00000"/>
                </a:solidFill>
              </a:rPr>
              <a:t>(</a:t>
            </a:r>
            <a:r>
              <a:rPr lang="en-US" altLang="zh-CN" sz="2400" b="1" i="1" dirty="0">
                <a:solidFill>
                  <a:srgbClr val="C00000"/>
                </a:solidFill>
                <a:latin typeface="Times New Roman" panose="02020603050405020304" pitchFamily="18" charset="0"/>
                <a:cs typeface="Times New Roman" panose="02020603050405020304" pitchFamily="18" charset="0"/>
              </a:rPr>
              <a:t>h k l </a:t>
            </a:r>
            <a:r>
              <a:rPr lang="en-US" altLang="zh-CN" sz="2400" b="1" dirty="0">
                <a:solidFill>
                  <a:srgbClr val="C00000"/>
                </a:solidFill>
              </a:rPr>
              <a:t>)</a:t>
            </a:r>
            <a:r>
              <a:rPr lang="zh-CN" altLang="en-US" sz="2400" b="1" dirty="0">
                <a:solidFill>
                  <a:srgbClr val="0000FF"/>
                </a:solidFill>
              </a:rPr>
              <a:t>与指数相同的晶向 </a:t>
            </a:r>
            <a:r>
              <a:rPr lang="en-US" altLang="zh-CN" sz="2400" b="1" dirty="0">
                <a:solidFill>
                  <a:srgbClr val="C00000"/>
                </a:solidFill>
              </a:rPr>
              <a:t>[</a:t>
            </a:r>
            <a:r>
              <a:rPr lang="en-US" altLang="zh-CN" sz="2400" b="1" i="1" dirty="0">
                <a:solidFill>
                  <a:srgbClr val="C00000"/>
                </a:solidFill>
                <a:latin typeface="Times New Roman" panose="02020603050405020304" pitchFamily="18" charset="0"/>
                <a:cs typeface="Times New Roman" panose="02020603050405020304" pitchFamily="18" charset="0"/>
              </a:rPr>
              <a:t>h k l </a:t>
            </a:r>
            <a:r>
              <a:rPr lang="en-US" altLang="zh-CN" sz="2400" b="1" dirty="0">
                <a:solidFill>
                  <a:srgbClr val="C00000"/>
                </a:solidFill>
              </a:rPr>
              <a:t>] </a:t>
            </a:r>
            <a:r>
              <a:rPr lang="zh-CN" altLang="en-US" sz="2400" b="1" dirty="0">
                <a:solidFill>
                  <a:srgbClr val="0000FF"/>
                </a:solidFill>
              </a:rPr>
              <a:t>恰好垂直。</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p:pic>
        <p:nvPicPr>
          <p:cNvPr id="19" name="图片 18">
            <a:extLst>
              <a:ext uri="{FF2B5EF4-FFF2-40B4-BE49-F238E27FC236}">
                <a16:creationId xmlns:a16="http://schemas.microsoft.com/office/drawing/2014/main" id="{0B1E322E-C960-4F0E-A6D0-B5CBD3BF5F8E}"/>
              </a:ext>
            </a:extLst>
          </p:cNvPr>
          <p:cNvPicPr>
            <a:picLocks noChangeAspect="1"/>
          </p:cNvPicPr>
          <p:nvPr/>
        </p:nvPicPr>
        <p:blipFill>
          <a:blip r:embed="rId2"/>
          <a:stretch>
            <a:fillRect/>
          </a:stretch>
        </p:blipFill>
        <p:spPr>
          <a:xfrm>
            <a:off x="5182114" y="1230065"/>
            <a:ext cx="3247235" cy="3252873"/>
          </a:xfrm>
          <a:prstGeom prst="rect">
            <a:avLst/>
          </a:prstGeom>
        </p:spPr>
      </p:pic>
    </p:spTree>
    <p:extLst>
      <p:ext uri="{BB962C8B-B14F-4D97-AF65-F5344CB8AC3E}">
        <p14:creationId xmlns:p14="http://schemas.microsoft.com/office/powerpoint/2010/main" val="1090750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ppt_x"/>
                                          </p:val>
                                        </p:tav>
                                        <p:tav tm="100000">
                                          <p:val>
                                            <p:strVal val="#ppt_x"/>
                                          </p:val>
                                        </p:tav>
                                      </p:tavLst>
                                    </p:anim>
                                    <p:anim calcmode="lin" valueType="num">
                                      <p:cBhvr additive="base">
                                        <p:cTn id="1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矩形 4">
            <a:extLst>
              <a:ext uri="{FF2B5EF4-FFF2-40B4-BE49-F238E27FC236}">
                <a16:creationId xmlns:a16="http://schemas.microsoft.com/office/drawing/2014/main" id="{D3FE23EA-9F19-4902-BBA4-260F0932B31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9699" name="灯片编号占位符 3">
            <a:extLst>
              <a:ext uri="{FF2B5EF4-FFF2-40B4-BE49-F238E27FC236}">
                <a16:creationId xmlns:a16="http://schemas.microsoft.com/office/drawing/2014/main" id="{4D929AC0-6CC8-4CC3-94F6-C095FF03CE9E}"/>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0E6FE38-2446-44AA-BC57-6C7C8AD0396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28</a:t>
            </a:fld>
            <a:endParaRPr lang="en-US" altLang="zh-CN" sz="1400">
              <a:solidFill>
                <a:srgbClr val="000000"/>
              </a:solidFill>
              <a:latin typeface="Arial" panose="020B0604020202020204" pitchFamily="34" charset="0"/>
            </a:endParaRPr>
          </a:p>
        </p:txBody>
      </p:sp>
      <p:sp>
        <p:nvSpPr>
          <p:cNvPr id="29700" name="TextBox 5">
            <a:extLst>
              <a:ext uri="{FF2B5EF4-FFF2-40B4-BE49-F238E27FC236}">
                <a16:creationId xmlns:a16="http://schemas.microsoft.com/office/drawing/2014/main" id="{11AABDBD-E667-42C8-AEE5-610635374A76}"/>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晶向和晶面的表示</a:t>
            </a:r>
            <a:endParaRPr lang="zh-CN" altLang="en-US" sz="1800">
              <a:latin typeface="黑体" panose="02010609060101010101" pitchFamily="49" charset="-122"/>
              <a:ea typeface="黑体" panose="02010609060101010101" pitchFamily="49" charset="-122"/>
            </a:endParaRPr>
          </a:p>
        </p:txBody>
      </p:sp>
      <p:sp>
        <p:nvSpPr>
          <p:cNvPr id="29701" name="Rectangle 2">
            <a:extLst>
              <a:ext uri="{FF2B5EF4-FFF2-40B4-BE49-F238E27FC236}">
                <a16:creationId xmlns:a16="http://schemas.microsoft.com/office/drawing/2014/main" id="{1917F0D6-144A-487C-849F-D5ABB543C6B1}"/>
              </a:ext>
            </a:extLst>
          </p:cNvPr>
          <p:cNvSpPr>
            <a:spLocks noGrp="1" noChangeArrowheads="1"/>
          </p:cNvSpPr>
          <p:nvPr/>
        </p:nvSpPr>
        <p:spPr bwMode="auto">
          <a:xfrm>
            <a:off x="179388" y="1304925"/>
            <a:ext cx="68707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90000"/>
              </a:lnSpc>
              <a:spcBef>
                <a:spcPct val="0"/>
              </a:spcBef>
              <a:buFont typeface="Wingdings" panose="05000000000000000000" pitchFamily="2" charset="2"/>
              <a:buChar char="u"/>
            </a:pPr>
            <a:r>
              <a:rPr lang="zh-CN" altLang="en-US" sz="24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晶向的另一种表示方法：方向余弦</a:t>
            </a:r>
            <a:endParaRPr lang="zh-CN" altLang="en-US" sz="1800"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7654" name="Object 6">
            <a:extLst>
              <a:ext uri="{FF2B5EF4-FFF2-40B4-BE49-F238E27FC236}">
                <a16:creationId xmlns:a16="http://schemas.microsoft.com/office/drawing/2014/main" id="{89574990-31CC-47BD-88FD-A28EB52ECC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97" y="2420938"/>
            <a:ext cx="396081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Object 7">
            <a:extLst>
              <a:ext uri="{FF2B5EF4-FFF2-40B4-BE49-F238E27FC236}">
                <a16:creationId xmlns:a16="http://schemas.microsoft.com/office/drawing/2014/main" id="{7CF6A9A9-B65C-45AC-B329-40F75F6206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172" y="4437063"/>
            <a:ext cx="3960813"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Object 8">
            <a:extLst>
              <a:ext uri="{FF2B5EF4-FFF2-40B4-BE49-F238E27FC236}">
                <a16:creationId xmlns:a16="http://schemas.microsoft.com/office/drawing/2014/main" id="{21840509-BEC7-41CD-9D18-D56A4EC89C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735" y="3429000"/>
            <a:ext cx="4086225"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5" name="Rectangle 6">
            <a:extLst>
              <a:ext uri="{FF2B5EF4-FFF2-40B4-BE49-F238E27FC236}">
                <a16:creationId xmlns:a16="http://schemas.microsoft.com/office/drawing/2014/main" id="{D9779730-7F51-42AA-B571-303DA1A030BE}"/>
              </a:ext>
            </a:extLst>
          </p:cNvPr>
          <p:cNvSpPr>
            <a:spLocks noGrp="1" noChangeArrowheads="1"/>
          </p:cNvSpPr>
          <p:nvPr/>
        </p:nvSpPr>
        <p:spPr bwMode="auto">
          <a:xfrm>
            <a:off x="250825" y="1917700"/>
            <a:ext cx="799343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某晶向</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 b c]</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的方向余弦为：</a:t>
            </a:r>
            <a:r>
              <a:rPr lang="zh-CN" altLang="en-US" sz="1800" dirty="0">
                <a:solidFill>
                  <a:srgbClr val="000000"/>
                </a:solidFill>
              </a:rPr>
              <a:t> （</a:t>
            </a:r>
            <a:r>
              <a:rPr lang="zh-CN" altLang="en-US" sz="1800" dirty="0">
                <a:solidFill>
                  <a:srgbClr val="0000FF"/>
                </a:solidFill>
              </a:rPr>
              <a:t>注：和用 </a:t>
            </a:r>
            <a:r>
              <a:rPr lang="en-US" altLang="zh-CN" sz="1800" i="1" dirty="0">
                <a:solidFill>
                  <a:srgbClr val="FF0000"/>
                </a:solidFill>
                <a:latin typeface="Times New Roman" panose="02020603050405020304" pitchFamily="18" charset="0"/>
                <a:cs typeface="Times New Roman" panose="02020603050405020304" pitchFamily="18" charset="0"/>
              </a:rPr>
              <a:t>h k l </a:t>
            </a:r>
            <a:r>
              <a:rPr lang="zh-CN" altLang="en-US" sz="1800" dirty="0">
                <a:solidFill>
                  <a:srgbClr val="0000FF"/>
                </a:solidFill>
              </a:rPr>
              <a:t>表示是一样的道理</a:t>
            </a:r>
            <a:r>
              <a:rPr lang="zh-CN" altLang="en-US" sz="1800" dirty="0">
                <a:solidFill>
                  <a:srgbClr val="000000"/>
                </a:solidFill>
              </a:rPr>
              <a:t>）</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D5D4A11C-91C2-4FCC-84EB-F227F229A9C7}"/>
                  </a:ext>
                </a:extLst>
              </p:cNvPr>
              <p:cNvSpPr/>
              <p:nvPr/>
            </p:nvSpPr>
            <p:spPr>
              <a:xfrm>
                <a:off x="2887814" y="5840125"/>
                <a:ext cx="6020465" cy="461665"/>
              </a:xfrm>
              <a:prstGeom prst="rect">
                <a:avLst/>
              </a:prstGeom>
            </p:spPr>
            <p:txBody>
              <a:bodyPr wrap="square">
                <a:spAutoFit/>
              </a:bodyPr>
              <a:lstStyle/>
              <a:p>
                <a:pPr marL="342900" indent="-342900">
                  <a:buFont typeface="Wingdings" panose="05000000000000000000" pitchFamily="2" charset="2"/>
                  <a:buChar char="Ø"/>
                </a:pPr>
                <a14:m>
                  <m:oMath xmlns:m="http://schemas.openxmlformats.org/officeDocument/2006/math">
                    <m:r>
                      <a:rPr lang="zh-CN" altLang="en-US" sz="2400" b="1" i="1" dirty="0" smtClean="0">
                        <a:solidFill>
                          <a:srgbClr val="FF0000"/>
                        </a:solidFill>
                        <a:latin typeface="Cambria Math" panose="02040503050406030204" pitchFamily="18" charset="0"/>
                      </a:rPr>
                      <m:t>𝜶</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00FF"/>
                        </a:solidFill>
                        <a:latin typeface="Cambria Math" panose="02040503050406030204" pitchFamily="18" charset="0"/>
                      </a:rPr>
                      <m:t>𝜷</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8000"/>
                        </a:solidFill>
                        <a:latin typeface="Cambria Math" panose="02040503050406030204" pitchFamily="18" charset="0"/>
                      </a:rPr>
                      <m:t>𝜸</m:t>
                    </m:r>
                    <m:r>
                      <a:rPr lang="en-US" altLang="zh-CN" sz="2400" b="1" i="0" dirty="0" smtClean="0">
                        <a:solidFill>
                          <a:srgbClr val="0000FF"/>
                        </a:solidFill>
                        <a:latin typeface="Cambria Math" panose="02040503050406030204" pitchFamily="18" charset="0"/>
                      </a:rPr>
                      <m:t> </m:t>
                    </m:r>
                  </m:oMath>
                </a14:m>
                <a:r>
                  <a:rPr lang="zh-CN" altLang="en-US" sz="2400" b="1" dirty="0"/>
                  <a:t>分别为晶向与对应坐标轴的夹角</a:t>
                </a:r>
                <a:r>
                  <a:rPr lang="zh-CN" altLang="en-US" sz="2400" b="1" dirty="0">
                    <a:solidFill>
                      <a:srgbClr val="0000FF"/>
                    </a:solidFill>
                  </a:rPr>
                  <a:t>。</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mc:Choice>
        <mc:Fallback xmlns="">
          <p:sp>
            <p:nvSpPr>
              <p:cNvPr id="10" name="矩形 9">
                <a:extLst>
                  <a:ext uri="{FF2B5EF4-FFF2-40B4-BE49-F238E27FC236}">
                    <a16:creationId xmlns:a16="http://schemas.microsoft.com/office/drawing/2014/main" id="{D5D4A11C-91C2-4FCC-84EB-F227F229A9C7}"/>
                  </a:ext>
                </a:extLst>
              </p:cNvPr>
              <p:cNvSpPr>
                <a:spLocks noRot="1" noChangeAspect="1" noMove="1" noResize="1" noEditPoints="1" noAdjustHandles="1" noChangeArrowheads="1" noChangeShapeType="1" noTextEdit="1"/>
              </p:cNvSpPr>
              <p:nvPr/>
            </p:nvSpPr>
            <p:spPr>
              <a:xfrm>
                <a:off x="2887814" y="5840125"/>
                <a:ext cx="6020465" cy="461665"/>
              </a:xfrm>
              <a:prstGeom prst="rect">
                <a:avLst/>
              </a:prstGeom>
              <a:blipFill>
                <a:blip r:embed="rId5"/>
                <a:stretch>
                  <a:fillRect l="-1418" t="-14474" r="-101" b="-26316"/>
                </a:stretch>
              </a:blipFill>
            </p:spPr>
            <p:txBody>
              <a:bodyPr/>
              <a:lstStyle/>
              <a:p>
                <a:r>
                  <a:rPr lang="zh-CN" altLang="en-US">
                    <a:noFill/>
                  </a:rPr>
                  <a:t> </a:t>
                </a:r>
              </a:p>
            </p:txBody>
          </p:sp>
        </mc:Fallback>
      </mc:AlternateContent>
      <p:grpSp>
        <p:nvGrpSpPr>
          <p:cNvPr id="6" name="组合 5">
            <a:extLst>
              <a:ext uri="{FF2B5EF4-FFF2-40B4-BE49-F238E27FC236}">
                <a16:creationId xmlns:a16="http://schemas.microsoft.com/office/drawing/2014/main" id="{55B03FB2-3CB4-47EE-A8DD-70E11E5F5053}"/>
              </a:ext>
            </a:extLst>
          </p:cNvPr>
          <p:cNvGrpSpPr/>
          <p:nvPr/>
        </p:nvGrpSpPr>
        <p:grpSpPr>
          <a:xfrm>
            <a:off x="4987925" y="2597210"/>
            <a:ext cx="3200400" cy="3219450"/>
            <a:chOff x="4987925" y="2597210"/>
            <a:chExt cx="3200400" cy="3219450"/>
          </a:xfrm>
        </p:grpSpPr>
        <p:pic>
          <p:nvPicPr>
            <p:cNvPr id="2" name="图片 1">
              <a:extLst>
                <a:ext uri="{FF2B5EF4-FFF2-40B4-BE49-F238E27FC236}">
                  <a16:creationId xmlns:a16="http://schemas.microsoft.com/office/drawing/2014/main" id="{F7C9C741-6310-4710-866D-AC52589C7DE4}"/>
                </a:ext>
              </a:extLst>
            </p:cNvPr>
            <p:cNvPicPr>
              <a:picLocks noChangeAspect="1"/>
            </p:cNvPicPr>
            <p:nvPr/>
          </p:nvPicPr>
          <p:blipFill>
            <a:blip r:embed="rId6"/>
            <a:stretch>
              <a:fillRect/>
            </a:stretch>
          </p:blipFill>
          <p:spPr>
            <a:xfrm>
              <a:off x="4987925" y="2597210"/>
              <a:ext cx="3200400" cy="3219450"/>
            </a:xfrm>
            <a:prstGeom prst="rect">
              <a:avLst/>
            </a:prstGeom>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D243ADD-556C-47A4-978B-70CCD3C89F5A}"/>
                    </a:ext>
                  </a:extLst>
                </p:cNvPr>
                <p:cNvSpPr/>
                <p:nvPr/>
              </p:nvSpPr>
              <p:spPr>
                <a:xfrm>
                  <a:off x="6012100" y="4818717"/>
                  <a:ext cx="4603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dirty="0">
                            <a:solidFill>
                              <a:srgbClr val="FF0000"/>
                            </a:solidFill>
                            <a:latin typeface="Cambria Math" panose="02040503050406030204" pitchFamily="18" charset="0"/>
                          </a:rPr>
                          <m:t>𝜶</m:t>
                        </m:r>
                      </m:oMath>
                    </m:oMathPara>
                  </a14:m>
                  <a:endParaRPr lang="zh-CN" altLang="en-US" sz="2400" dirty="0"/>
                </a:p>
              </p:txBody>
            </p:sp>
          </mc:Choice>
          <mc:Fallback xmlns="">
            <p:sp>
              <p:nvSpPr>
                <p:cNvPr id="3" name="矩形 2">
                  <a:extLst>
                    <a:ext uri="{FF2B5EF4-FFF2-40B4-BE49-F238E27FC236}">
                      <a16:creationId xmlns:a16="http://schemas.microsoft.com/office/drawing/2014/main" id="{AD243ADD-556C-47A4-978B-70CCD3C89F5A}"/>
                    </a:ext>
                  </a:extLst>
                </p:cNvPr>
                <p:cNvSpPr>
                  <a:spLocks noRot="1" noChangeAspect="1" noMove="1" noResize="1" noEditPoints="1" noAdjustHandles="1" noChangeArrowheads="1" noChangeShapeType="1" noTextEdit="1"/>
                </p:cNvSpPr>
                <p:nvPr/>
              </p:nvSpPr>
              <p:spPr>
                <a:xfrm>
                  <a:off x="6012100" y="4818717"/>
                  <a:ext cx="460382" cy="461665"/>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D8DE7E85-5AFF-4493-BE97-8BF71D7CBB83}"/>
                    </a:ext>
                  </a:extLst>
                </p:cNvPr>
                <p:cNvSpPr/>
                <p:nvPr/>
              </p:nvSpPr>
              <p:spPr>
                <a:xfrm>
                  <a:off x="6785432" y="4357052"/>
                  <a:ext cx="52931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dirty="0">
                            <a:solidFill>
                              <a:srgbClr val="0000FF"/>
                            </a:solidFill>
                            <a:latin typeface="Cambria Math" panose="02040503050406030204" pitchFamily="18" charset="0"/>
                          </a:rPr>
                          <m:t>𝜷</m:t>
                        </m:r>
                        <m:r>
                          <a:rPr lang="en-US" altLang="zh-CN" sz="2400" b="1" i="1" dirty="0">
                            <a:solidFill>
                              <a:srgbClr val="0000FF"/>
                            </a:solidFill>
                            <a:latin typeface="Cambria Math" panose="02040503050406030204" pitchFamily="18" charset="0"/>
                          </a:rPr>
                          <m:t> </m:t>
                        </m:r>
                      </m:oMath>
                    </m:oMathPara>
                  </a14:m>
                  <a:endParaRPr lang="zh-CN" altLang="en-US" sz="2400" dirty="0"/>
                </a:p>
              </p:txBody>
            </p:sp>
          </mc:Choice>
          <mc:Fallback xmlns="">
            <p:sp>
              <p:nvSpPr>
                <p:cNvPr id="4" name="矩形 3">
                  <a:extLst>
                    <a:ext uri="{FF2B5EF4-FFF2-40B4-BE49-F238E27FC236}">
                      <a16:creationId xmlns:a16="http://schemas.microsoft.com/office/drawing/2014/main" id="{D8DE7E85-5AFF-4493-BE97-8BF71D7CBB83}"/>
                    </a:ext>
                  </a:extLst>
                </p:cNvPr>
                <p:cNvSpPr>
                  <a:spLocks noRot="1" noChangeAspect="1" noMove="1" noResize="1" noEditPoints="1" noAdjustHandles="1" noChangeArrowheads="1" noChangeShapeType="1" noTextEdit="1"/>
                </p:cNvSpPr>
                <p:nvPr/>
              </p:nvSpPr>
              <p:spPr>
                <a:xfrm>
                  <a:off x="6785432" y="4357052"/>
                  <a:ext cx="529312" cy="461665"/>
                </a:xfrm>
                <a:prstGeom prst="rect">
                  <a:avLst/>
                </a:prstGeom>
                <a:blipFill>
                  <a:blip r:embed="rId8"/>
                  <a:stretch>
                    <a:fillRect l="-2299" b="-18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C4C5021-A1E4-4A6C-A745-F1599BE7C202}"/>
                    </a:ext>
                  </a:extLst>
                </p:cNvPr>
                <p:cNvSpPr/>
                <p:nvPr/>
              </p:nvSpPr>
              <p:spPr>
                <a:xfrm>
                  <a:off x="6368353" y="3589941"/>
                  <a:ext cx="4395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b="1" i="1" dirty="0">
                            <a:solidFill>
                              <a:srgbClr val="008000"/>
                            </a:solidFill>
                            <a:latin typeface="Cambria Math" panose="02040503050406030204" pitchFamily="18" charset="0"/>
                          </a:rPr>
                          <m:t>𝜸</m:t>
                        </m:r>
                      </m:oMath>
                    </m:oMathPara>
                  </a14:m>
                  <a:endParaRPr lang="zh-CN" altLang="en-US" sz="2400" dirty="0"/>
                </a:p>
              </p:txBody>
            </p:sp>
          </mc:Choice>
          <mc:Fallback xmlns="">
            <p:sp>
              <p:nvSpPr>
                <p:cNvPr id="5" name="矩形 4">
                  <a:extLst>
                    <a:ext uri="{FF2B5EF4-FFF2-40B4-BE49-F238E27FC236}">
                      <a16:creationId xmlns:a16="http://schemas.microsoft.com/office/drawing/2014/main" id="{1C4C5021-A1E4-4A6C-A745-F1599BE7C202}"/>
                    </a:ext>
                  </a:extLst>
                </p:cNvPr>
                <p:cNvSpPr>
                  <a:spLocks noRot="1" noChangeAspect="1" noMove="1" noResize="1" noEditPoints="1" noAdjustHandles="1" noChangeArrowheads="1" noChangeShapeType="1" noTextEdit="1"/>
                </p:cNvSpPr>
                <p:nvPr/>
              </p:nvSpPr>
              <p:spPr>
                <a:xfrm>
                  <a:off x="6368353" y="3589941"/>
                  <a:ext cx="439543" cy="461665"/>
                </a:xfrm>
                <a:prstGeom prst="rect">
                  <a:avLst/>
                </a:prstGeom>
                <a:blipFill>
                  <a:blip r:embed="rId9"/>
                  <a:stretch>
                    <a:fillRect b="-7895"/>
                  </a:stretch>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7654"/>
                                        </p:tgtEl>
                                        <p:attrNameLst>
                                          <p:attrName>style.visibility</p:attrName>
                                        </p:attrNameLst>
                                      </p:cBhvr>
                                      <p:to>
                                        <p:strVal val="visible"/>
                                      </p:to>
                                    </p:set>
                                    <p:animEffect filter="checkerboard(across)">
                                      <p:cBhvr>
                                        <p:cTn id="7" dur="500"/>
                                        <p:tgtEl>
                                          <p:spTgt spid="276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7656"/>
                                        </p:tgtEl>
                                        <p:attrNameLst>
                                          <p:attrName>style.visibility</p:attrName>
                                        </p:attrNameLst>
                                      </p:cBhvr>
                                      <p:to>
                                        <p:strVal val="visible"/>
                                      </p:to>
                                    </p:set>
                                    <p:animEffect filter="checkerboard(across)">
                                      <p:cBhvr>
                                        <p:cTn id="12" dur="500"/>
                                        <p:tgtEl>
                                          <p:spTgt spid="276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7655"/>
                                        </p:tgtEl>
                                        <p:attrNameLst>
                                          <p:attrName>style.visibility</p:attrName>
                                        </p:attrNameLst>
                                      </p:cBhvr>
                                      <p:to>
                                        <p:strVal val="visible"/>
                                      </p:to>
                                    </p:set>
                                    <p:animEffect filter="checkerboard(across)">
                                      <p:cBhvr>
                                        <p:cTn id="17" dur="500"/>
                                        <p:tgtEl>
                                          <p:spTgt spid="27655"/>
                                        </p:tgtEl>
                                      </p:cBhvr>
                                    </p:animEffect>
                                  </p:childTnLst>
                                </p:cTn>
                              </p:par>
                              <p:par>
                                <p:cTn id="18" presetID="2" presetClass="entr" presetSubtype="4"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4">
            <a:extLst>
              <a:ext uri="{FF2B5EF4-FFF2-40B4-BE49-F238E27FC236}">
                <a16:creationId xmlns:a16="http://schemas.microsoft.com/office/drawing/2014/main" id="{827DE093-B8ED-43F4-A88C-397E22F8EBC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4819" name="灯片编号占位符 3">
            <a:extLst>
              <a:ext uri="{FF2B5EF4-FFF2-40B4-BE49-F238E27FC236}">
                <a16:creationId xmlns:a16="http://schemas.microsoft.com/office/drawing/2014/main" id="{23F06786-B414-45E9-951B-A6C3695E3E7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E0D3351-B872-4C84-99D5-B953EF2FCC0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29</a:t>
            </a:fld>
            <a:endParaRPr lang="en-US" altLang="zh-CN" sz="1400">
              <a:latin typeface="Arial" panose="020B0604020202020204" pitchFamily="34" charset="0"/>
            </a:endParaRPr>
          </a:p>
        </p:txBody>
      </p:sp>
      <p:sp>
        <p:nvSpPr>
          <p:cNvPr id="34820" name="TextBox 5">
            <a:extLst>
              <a:ext uri="{FF2B5EF4-FFF2-40B4-BE49-F238E27FC236}">
                <a16:creationId xmlns:a16="http://schemas.microsoft.com/office/drawing/2014/main" id="{23A7E6B1-2904-4B91-AE55-7A0318B5E2CC}"/>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solidFill>
                  <a:srgbClr val="C00000"/>
                </a:solidFill>
              </a:rPr>
              <a:t>2.3</a:t>
            </a:r>
            <a:r>
              <a:rPr lang="zh-CN" altLang="en-US" b="1">
                <a:solidFill>
                  <a:srgbClr val="CC0000"/>
                </a:solidFill>
                <a:latin typeface="楷体_GB2312" pitchFamily="49" charset="-122"/>
                <a:ea typeface="楷体_GB2312" pitchFamily="49" charset="-122"/>
                <a:sym typeface="楷体_GB2312" pitchFamily="49" charset="-122"/>
              </a:rPr>
              <a:t> 压阻系数</a:t>
            </a:r>
            <a:endParaRPr lang="zh-CN" altLang="en-US" sz="1800">
              <a:latin typeface="Arial" panose="020B0604020202020204" pitchFamily="34" charset="0"/>
            </a:endParaRPr>
          </a:p>
        </p:txBody>
      </p:sp>
      <p:pic>
        <p:nvPicPr>
          <p:cNvPr id="34821" name="Picture 10" descr="C:\Documents and Settings\yue\桌面\QQ2.jpg">
            <a:extLst>
              <a:ext uri="{FF2B5EF4-FFF2-40B4-BE49-F238E27FC236}">
                <a16:creationId xmlns:a16="http://schemas.microsoft.com/office/drawing/2014/main" id="{7E6ABD25-50D0-4BD2-B4A1-ED1C896E45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6624" y="1524000"/>
            <a:ext cx="4622800" cy="437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6" name="Text Box 5" descr="信纸">
                <a:extLst>
                  <a:ext uri="{FF2B5EF4-FFF2-40B4-BE49-F238E27FC236}">
                    <a16:creationId xmlns:a16="http://schemas.microsoft.com/office/drawing/2014/main" id="{83DC4A5F-83EA-45D3-A4A3-C503628CABA5}"/>
                  </a:ext>
                </a:extLst>
              </p:cNvPr>
              <p:cNvSpPr>
                <a:spLocks noChangeArrowheads="1"/>
              </p:cNvSpPr>
              <p:nvPr/>
            </p:nvSpPr>
            <p:spPr bwMode="auto">
              <a:xfrm>
                <a:off x="176916" y="1336498"/>
                <a:ext cx="4648200" cy="252376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Char char="v"/>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压阻系数：</a:t>
                </a:r>
                <a14:m>
                  <m:oMath xmlns:m="http://schemas.openxmlformats.org/officeDocument/2006/math">
                    <m:r>
                      <a:rPr lang="zh-CN" altLang="en-US" b="1" i="1" smtClean="0">
                        <a:solidFill>
                          <a:srgbClr val="FF0000"/>
                        </a:solidFill>
                        <a:latin typeface="Cambria Math" panose="02040503050406030204" pitchFamily="18" charset="0"/>
                        <a:ea typeface="微软雅黑" panose="020B0503020204020204" pitchFamily="34" charset="-122"/>
                        <a:sym typeface="Times New Roman" panose="02020603050405020304" pitchFamily="18" charset="0"/>
                      </a:rPr>
                      <m:t>𝝅</m:t>
                    </m:r>
                  </m:oMath>
                </a14:m>
                <a:endParaRPr lang="en-US" altLang="zh-CN" b="1" dirty="0">
                  <a:latin typeface="微软雅黑" panose="020B0503020204020204" pitchFamily="34" charset="-122"/>
                  <a:ea typeface="微软雅黑" panose="020B0503020204020204" pitchFamily="34" charset="-122"/>
                  <a:sym typeface="Times New Roman" panose="02020603050405020304" pitchFamily="18" charset="0"/>
                </a:endParaRPr>
              </a:p>
              <a:p>
                <a:pPr eaLnBrk="1" hangingPunct="1">
                  <a:spcBef>
                    <a:spcPct val="50000"/>
                  </a:spcBef>
                  <a:buClr>
                    <a:srgbClr val="D60093"/>
                  </a:buClr>
                  <a:buSzPct val="75000"/>
                  <a:buNone/>
                </a:pPr>
                <a:r>
                  <a:rPr lang="en-US" altLang="zh-CN" sz="2800" dirty="0">
                    <a:latin typeface="微软雅黑" panose="020B0503020204020204" pitchFamily="34" charset="-122"/>
                    <a:ea typeface="微软雅黑" panose="020B0503020204020204" pitchFamily="34" charset="-122"/>
                    <a:sym typeface="Times New Roman" panose="02020603050405020304" pitchFamily="18" charset="0"/>
                  </a:rPr>
                  <a:t>    </a:t>
                </a: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单晶硅半导体的</a:t>
                </a:r>
                <a:endParaRPr lang="en-US" altLang="zh-CN" sz="2800" dirty="0">
                  <a:latin typeface="微软雅黑" panose="020B0503020204020204" pitchFamily="34" charset="-122"/>
                  <a:ea typeface="微软雅黑" panose="020B0503020204020204" pitchFamily="34" charset="-122"/>
                  <a:sym typeface="Times New Roman" panose="02020603050405020304" pitchFamily="18" charset="0"/>
                </a:endParaRPr>
              </a:p>
              <a:p>
                <a:pPr eaLnBrk="1" hangingPunct="1">
                  <a:spcBef>
                    <a:spcPct val="50000"/>
                  </a:spcBef>
                  <a:buClr>
                    <a:srgbClr val="D60093"/>
                  </a:buClr>
                  <a:buSzPct val="75000"/>
                  <a:buNone/>
                </a:pPr>
                <a:r>
                  <a:rPr lang="zh-CN" altLang="en-US" sz="2800" dirty="0">
                    <a:solidFill>
                      <a:srgbClr val="0000FF"/>
                    </a:solidFill>
                    <a:latin typeface="微软雅黑" panose="020B0503020204020204" pitchFamily="34" charset="-122"/>
                    <a:ea typeface="微软雅黑" panose="020B0503020204020204" pitchFamily="34" charset="-122"/>
                    <a:sym typeface="Times New Roman" panose="02020603050405020304" pitchFamily="18" charset="0"/>
                  </a:rPr>
                  <a:t>电阻率相对变化率</a:t>
                </a:r>
                <a:endParaRPr lang="en-US" altLang="zh-CN" sz="2800" dirty="0">
                  <a:solidFill>
                    <a:srgbClr val="0000FF"/>
                  </a:solidFill>
                  <a:latin typeface="微软雅黑" panose="020B0503020204020204" pitchFamily="34" charset="-122"/>
                  <a:ea typeface="微软雅黑" panose="020B0503020204020204" pitchFamily="34" charset="-122"/>
                  <a:sym typeface="Times New Roman" panose="02020603050405020304" pitchFamily="18" charset="0"/>
                </a:endParaRPr>
              </a:p>
              <a:p>
                <a:pPr eaLnBrk="1" hangingPunct="1">
                  <a:spcBef>
                    <a:spcPct val="50000"/>
                  </a:spcBef>
                  <a:buClr>
                    <a:srgbClr val="D60093"/>
                  </a:buClr>
                  <a:buSzPct val="75000"/>
                  <a:buNone/>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与</a:t>
                </a:r>
                <a:r>
                  <a:rPr lang="zh-CN" altLang="en-US" sz="2800"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应力</a:t>
                </a: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成正比。</a:t>
                </a:r>
                <a:r>
                  <a:rPr lang="en-US" altLang="zh-CN" sz="2800" dirty="0">
                    <a:latin typeface="微软雅黑" panose="020B0503020204020204" pitchFamily="34" charset="-122"/>
                    <a:ea typeface="微软雅黑" panose="020B0503020204020204" pitchFamily="34" charset="-122"/>
                    <a:sym typeface="Times New Roman" panose="02020603050405020304" pitchFamily="18" charset="0"/>
                  </a:rPr>
                  <a:t>     </a:t>
                </a:r>
                <a:endParaRPr lang="zh-CN" altLang="en-US" sz="1800" dirty="0">
                  <a:latin typeface="微软雅黑" panose="020B0503020204020204" pitchFamily="34" charset="-122"/>
                  <a:ea typeface="微软雅黑" panose="020B0503020204020204" pitchFamily="34" charset="-122"/>
                </a:endParaRPr>
              </a:p>
            </p:txBody>
          </p:sp>
        </mc:Choice>
        <mc:Fallback xmlns="">
          <p:sp>
            <p:nvSpPr>
              <p:cNvPr id="6" name="Text Box 5" descr="信纸">
                <a:extLst>
                  <a:ext uri="{FF2B5EF4-FFF2-40B4-BE49-F238E27FC236}">
                    <a16:creationId xmlns:a16="http://schemas.microsoft.com/office/drawing/2014/main" id="{83DC4A5F-83EA-45D3-A4A3-C503628CABA5}"/>
                  </a:ext>
                </a:extLst>
              </p:cNvPr>
              <p:cNvSpPr>
                <a:spLocks noRot="1" noChangeAspect="1" noMove="1" noResize="1" noEditPoints="1" noAdjustHandles="1" noChangeArrowheads="1" noChangeShapeType="1" noTextEdit="1"/>
              </p:cNvSpPr>
              <p:nvPr/>
            </p:nvSpPr>
            <p:spPr bwMode="auto">
              <a:xfrm>
                <a:off x="176916" y="1336498"/>
                <a:ext cx="4648200" cy="2523768"/>
              </a:xfrm>
              <a:prstGeom prst="rect">
                <a:avLst/>
              </a:prstGeom>
              <a:blipFill>
                <a:blip r:embed="rId3"/>
                <a:stretch>
                  <a:fillRect l="-2621" t="-483" b="-57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7" name="Object 5" descr="白色大理石">
            <a:extLst>
              <a:ext uri="{FF2B5EF4-FFF2-40B4-BE49-F238E27FC236}">
                <a16:creationId xmlns:a16="http://schemas.microsoft.com/office/drawing/2014/main" id="{5E0E74B5-D9E7-41A8-80DA-9CC7DE5604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700" y="4001025"/>
            <a:ext cx="3082925" cy="88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箭头连接符 4">
            <a:extLst>
              <a:ext uri="{FF2B5EF4-FFF2-40B4-BE49-F238E27FC236}">
                <a16:creationId xmlns:a16="http://schemas.microsoft.com/office/drawing/2014/main" id="{86AA2F15-6F37-4E56-885F-EF7510DE7379}"/>
              </a:ext>
            </a:extLst>
          </p:cNvPr>
          <p:cNvCxnSpPr/>
          <p:nvPr/>
        </p:nvCxnSpPr>
        <p:spPr bwMode="auto">
          <a:xfrm flipV="1">
            <a:off x="1259770" y="4603807"/>
            <a:ext cx="0" cy="278281"/>
          </a:xfrm>
          <a:prstGeom prst="straightConnector1">
            <a:avLst/>
          </a:prstGeom>
          <a:solidFill>
            <a:schemeClr val="accent1"/>
          </a:solidFill>
          <a:ln w="38100" cap="flat" cmpd="sng" algn="ctr">
            <a:solidFill>
              <a:srgbClr val="FF0000"/>
            </a:solidFill>
            <a:prstDash val="solid"/>
            <a:round/>
            <a:headEnd type="none" w="med" len="med"/>
            <a:tailEnd type="triangle"/>
          </a:ln>
        </p:spPr>
      </p:cxnSp>
      <p:sp>
        <p:nvSpPr>
          <p:cNvPr id="8" name="矩形 7">
            <a:extLst>
              <a:ext uri="{FF2B5EF4-FFF2-40B4-BE49-F238E27FC236}">
                <a16:creationId xmlns:a16="http://schemas.microsoft.com/office/drawing/2014/main" id="{67A57936-9B99-47AB-8D3D-366F89B7D00A}"/>
              </a:ext>
            </a:extLst>
          </p:cNvPr>
          <p:cNvSpPr/>
          <p:nvPr/>
        </p:nvSpPr>
        <p:spPr>
          <a:xfrm>
            <a:off x="539720" y="5253729"/>
            <a:ext cx="2448166" cy="1015663"/>
          </a:xfrm>
          <a:prstGeom prst="rect">
            <a:avLst/>
          </a:prstGeom>
        </p:spPr>
        <p:txBody>
          <a:bodyPr wrap="square">
            <a:spAutoFit/>
          </a:bodyPr>
          <a:lstStyle/>
          <a:p>
            <a:pPr eaLnBrk="1" hangingPunct="1">
              <a:spcBef>
                <a:spcPct val="50000"/>
              </a:spcBef>
              <a:buClr>
                <a:srgbClr val="D60093"/>
              </a:buClr>
              <a:buSzPct val="75000"/>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二者的比例系数</a:t>
            </a:r>
            <a:endParaRPr lang="en-US" altLang="zh-CN" sz="2400" dirty="0">
              <a:latin typeface="微软雅黑" panose="020B0503020204020204" pitchFamily="34" charset="-122"/>
              <a:ea typeface="微软雅黑" panose="020B0503020204020204" pitchFamily="34" charset="-122"/>
              <a:sym typeface="Times New Roman" panose="02020603050405020304" pitchFamily="18" charset="0"/>
            </a:endParaRPr>
          </a:p>
          <a:p>
            <a:pPr eaLnBrk="1" hangingPunct="1">
              <a:spcBef>
                <a:spcPct val="50000"/>
              </a:spcBef>
              <a:buClr>
                <a:srgbClr val="D60093"/>
              </a:buClr>
              <a:buSzPct val="75000"/>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即为</a:t>
            </a:r>
            <a:r>
              <a:rPr lang="zh-CN" altLang="en-US" sz="2400" dirty="0">
                <a:solidFill>
                  <a:srgbClr val="C00000"/>
                </a:solidFill>
                <a:latin typeface="微软雅黑" panose="020B0503020204020204" pitchFamily="34" charset="-122"/>
                <a:ea typeface="微软雅黑" panose="020B0503020204020204" pitchFamily="34" charset="-122"/>
                <a:sym typeface="Times New Roman" panose="02020603050405020304" pitchFamily="18" charset="0"/>
              </a:rPr>
              <a:t>压阻系数</a:t>
            </a: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a:t>
            </a:r>
            <a:endParaRPr lang="zh-CN" altLang="en-US" sz="2400"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A42CF976-4564-4E96-8F84-6B15648C9483}"/>
              </a:ext>
            </a:extLst>
          </p:cNvPr>
          <p:cNvSpPr/>
          <p:nvPr/>
        </p:nvSpPr>
        <p:spPr>
          <a:xfrm>
            <a:off x="4172914" y="5944542"/>
            <a:ext cx="3979862" cy="461665"/>
          </a:xfrm>
          <a:prstGeom prst="rect">
            <a:avLst/>
          </a:prstGeom>
        </p:spPr>
        <p:txBody>
          <a:bodyPr wrap="square">
            <a:spAutoFit/>
          </a:bodyPr>
          <a:lstStyle/>
          <a:p>
            <a:pPr eaLnBrk="1" hangingPunct="1">
              <a:spcBef>
                <a:spcPct val="50000"/>
              </a:spcBef>
              <a:buClr>
                <a:srgbClr val="D60093"/>
              </a:buClr>
              <a:buSzPct val="75000"/>
              <a:buNone/>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单晶硅微元素上应力分量图</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filter="checkerboard(across)">
                                      <p:cBhvr>
                                        <p:cTn id="7" dur="500"/>
                                        <p:tgtEl>
                                          <p:spTgt spid="6">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filter="checkerboard(across)">
                                      <p:cBhvr>
                                        <p:cTn id="10" dur="500"/>
                                        <p:tgtEl>
                                          <p:spTgt spid="6">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filter="checkerboard(across)">
                                      <p:cBhvr>
                                        <p:cTn id="13" dur="500"/>
                                        <p:tgtEl>
                                          <p:spTgt spid="6">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filter="checkerboard(across)">
                                      <p:cBhvr>
                                        <p:cTn id="16" dur="500"/>
                                        <p:tgtEl>
                                          <p:spTgt spid="6">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filter="checkerboard(across)">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4821"/>
                                        </p:tgtEl>
                                        <p:attrNameLst>
                                          <p:attrName>style.visibility</p:attrName>
                                        </p:attrNameLst>
                                      </p:cBhvr>
                                      <p:to>
                                        <p:strVal val="visible"/>
                                      </p:to>
                                    </p:set>
                                    <p:anim calcmode="lin" valueType="num">
                                      <p:cBhvr additive="base">
                                        <p:cTn id="26" dur="500" fill="hold"/>
                                        <p:tgtEl>
                                          <p:spTgt spid="34821"/>
                                        </p:tgtEl>
                                        <p:attrNameLst>
                                          <p:attrName>ppt_x</p:attrName>
                                        </p:attrNameLst>
                                      </p:cBhvr>
                                      <p:tavLst>
                                        <p:tav tm="0">
                                          <p:val>
                                            <p:strVal val="#ppt_x"/>
                                          </p:val>
                                        </p:tav>
                                        <p:tav tm="100000">
                                          <p:val>
                                            <p:strVal val="#ppt_x"/>
                                          </p:val>
                                        </p:tav>
                                      </p:tavLst>
                                    </p:anim>
                                    <p:anim calcmode="lin" valueType="num">
                                      <p:cBhvr additive="base">
                                        <p:cTn id="27" dur="500" fill="hold"/>
                                        <p:tgtEl>
                                          <p:spTgt spid="34821"/>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3000" fill="hold"/>
                                        <p:tgtEl>
                                          <p:spTgt spid="5"/>
                                        </p:tgtEl>
                                        <p:attrNameLst>
                                          <p:attrName>ppt_x</p:attrName>
                                        </p:attrNameLst>
                                      </p:cBhvr>
                                      <p:tavLst>
                                        <p:tav tm="0">
                                          <p:val>
                                            <p:strVal val="#ppt_x"/>
                                          </p:val>
                                        </p:tav>
                                        <p:tav tm="100000">
                                          <p:val>
                                            <p:strVal val="#ppt_x"/>
                                          </p:val>
                                        </p:tav>
                                      </p:tavLst>
                                    </p:anim>
                                    <p:anim calcmode="lin" valueType="num">
                                      <p:cBhvr additive="base">
                                        <p:cTn id="33" dur="30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bldLvl="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矩形 4">
            <a:extLst>
              <a:ext uri="{FF2B5EF4-FFF2-40B4-BE49-F238E27FC236}">
                <a16:creationId xmlns:a16="http://schemas.microsoft.com/office/drawing/2014/main" id="{0D118344-0561-4A87-9456-CCFC9A29BA8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1747" name="灯片编号占位符 3">
            <a:extLst>
              <a:ext uri="{FF2B5EF4-FFF2-40B4-BE49-F238E27FC236}">
                <a16:creationId xmlns:a16="http://schemas.microsoft.com/office/drawing/2014/main" id="{537AF6CE-B729-45A9-8A50-1D720CC5B6F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C614AF6-DA82-4582-A5BF-834F9A17126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30</a:t>
            </a:fld>
            <a:endParaRPr lang="en-US" altLang="zh-CN" sz="1400">
              <a:solidFill>
                <a:srgbClr val="000000"/>
              </a:solidFill>
              <a:latin typeface="Arial" panose="020B0604020202020204" pitchFamily="34" charset="0"/>
            </a:endParaRPr>
          </a:p>
        </p:txBody>
      </p:sp>
      <p:sp>
        <p:nvSpPr>
          <p:cNvPr id="31748" name="TextBox 5">
            <a:extLst>
              <a:ext uri="{FF2B5EF4-FFF2-40B4-BE49-F238E27FC236}">
                <a16:creationId xmlns:a16="http://schemas.microsoft.com/office/drawing/2014/main" id="{A3B681F1-4797-4CD1-94E7-FD2905DD02E9}"/>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29702" name="Object 6">
            <a:extLst>
              <a:ext uri="{FF2B5EF4-FFF2-40B4-BE49-F238E27FC236}">
                <a16:creationId xmlns:a16="http://schemas.microsoft.com/office/drawing/2014/main" id="{221A7029-1767-4914-81B2-E53A118902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441" y="3612833"/>
            <a:ext cx="3951288" cy="67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Object 7">
            <a:extLst>
              <a:ext uri="{FF2B5EF4-FFF2-40B4-BE49-F238E27FC236}">
                <a16:creationId xmlns:a16="http://schemas.microsoft.com/office/drawing/2014/main" id="{85CB1826-22E4-47F5-B742-16568A3B5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62" y="5857875"/>
            <a:ext cx="4233863"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Text Box 5" descr="信纸">
            <a:extLst>
              <a:ext uri="{FF2B5EF4-FFF2-40B4-BE49-F238E27FC236}">
                <a16:creationId xmlns:a16="http://schemas.microsoft.com/office/drawing/2014/main" id="{C384DB40-6D48-4BA4-9ED7-CBCF5585AA97}"/>
              </a:ext>
            </a:extLst>
          </p:cNvPr>
          <p:cNvSpPr>
            <a:spLocks noChangeArrowheads="1"/>
          </p:cNvSpPr>
          <p:nvPr/>
        </p:nvSpPr>
        <p:spPr bwMode="auto">
          <a:xfrm>
            <a:off x="387426" y="3071914"/>
            <a:ext cx="4648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Char char="v"/>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六个独立的应力分量：</a:t>
            </a:r>
            <a:endParaRPr lang="zh-CN" altLang="en-US" sz="1800" dirty="0">
              <a:latin typeface="微软雅黑" panose="020B0503020204020204" pitchFamily="34" charset="-122"/>
              <a:ea typeface="微软雅黑" panose="020B0503020204020204" pitchFamily="34" charset="-122"/>
            </a:endParaRPr>
          </a:p>
        </p:txBody>
      </p:sp>
      <p:sp>
        <p:nvSpPr>
          <p:cNvPr id="29705" name="Text Box 6" descr="信纸">
            <a:extLst>
              <a:ext uri="{FF2B5EF4-FFF2-40B4-BE49-F238E27FC236}">
                <a16:creationId xmlns:a16="http://schemas.microsoft.com/office/drawing/2014/main" id="{1C317C11-581B-46B7-8F9C-31F83F4313BB}"/>
              </a:ext>
            </a:extLst>
          </p:cNvPr>
          <p:cNvSpPr>
            <a:spLocks noChangeArrowheads="1"/>
          </p:cNvSpPr>
          <p:nvPr/>
        </p:nvSpPr>
        <p:spPr bwMode="auto">
          <a:xfrm>
            <a:off x="405495" y="5211424"/>
            <a:ext cx="56610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Char char="v"/>
            </a:pPr>
            <a:r>
              <a:rPr lang="zh-CN" altLang="en-US" sz="2800" dirty="0">
                <a:latin typeface="微软雅黑" panose="020B0503020204020204" pitchFamily="34" charset="-122"/>
                <a:ea typeface="微软雅黑" panose="020B0503020204020204" pitchFamily="34" charset="-122"/>
                <a:sym typeface="Times New Roman" panose="02020603050405020304" pitchFamily="18" charset="0"/>
              </a:rPr>
              <a:t>六个独立的电阻率的变化率：</a:t>
            </a:r>
            <a:endParaRPr lang="zh-CN" altLang="en-US" sz="1800" dirty="0">
              <a:latin typeface="微软雅黑" panose="020B0503020204020204" pitchFamily="34" charset="-122"/>
              <a:ea typeface="微软雅黑" panose="020B0503020204020204" pitchFamily="34" charset="-122"/>
            </a:endParaRPr>
          </a:p>
        </p:txBody>
      </p:sp>
      <p:pic>
        <p:nvPicPr>
          <p:cNvPr id="10" name="Picture 10" descr="C:\Documents and Settings\yue\桌面\QQ2.jpg">
            <a:extLst>
              <a:ext uri="{FF2B5EF4-FFF2-40B4-BE49-F238E27FC236}">
                <a16:creationId xmlns:a16="http://schemas.microsoft.com/office/drawing/2014/main" id="{921D472F-F9E9-4E7A-9AA5-19C5706911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20045" y="1556870"/>
            <a:ext cx="3763251" cy="356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左大括号 9">
            <a:extLst>
              <a:ext uri="{FF2B5EF4-FFF2-40B4-BE49-F238E27FC236}">
                <a16:creationId xmlns:a16="http://schemas.microsoft.com/office/drawing/2014/main" id="{96C8C7F9-CECD-4465-84C7-815C19D5A99C}"/>
              </a:ext>
            </a:extLst>
          </p:cNvPr>
          <p:cNvSpPr>
            <a:spLocks/>
          </p:cNvSpPr>
          <p:nvPr/>
        </p:nvSpPr>
        <p:spPr bwMode="auto">
          <a:xfrm rot="16200000">
            <a:off x="1349178" y="3798533"/>
            <a:ext cx="303097" cy="1368281"/>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12" name="左大括号 15">
            <a:extLst>
              <a:ext uri="{FF2B5EF4-FFF2-40B4-BE49-F238E27FC236}">
                <a16:creationId xmlns:a16="http://schemas.microsoft.com/office/drawing/2014/main" id="{E217DA20-97AC-4D87-9B14-55D40E76793C}"/>
              </a:ext>
            </a:extLst>
          </p:cNvPr>
          <p:cNvSpPr>
            <a:spLocks/>
          </p:cNvSpPr>
          <p:nvPr/>
        </p:nvSpPr>
        <p:spPr bwMode="auto">
          <a:xfrm rot="16200000">
            <a:off x="3244118" y="3733893"/>
            <a:ext cx="303097" cy="1368281"/>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13" name="矩形 10">
            <a:extLst>
              <a:ext uri="{FF2B5EF4-FFF2-40B4-BE49-F238E27FC236}">
                <a16:creationId xmlns:a16="http://schemas.microsoft.com/office/drawing/2014/main" id="{CC0B5F6E-00A2-45C6-A5E1-322C1A646E7D}"/>
              </a:ext>
            </a:extLst>
          </p:cNvPr>
          <p:cNvSpPr>
            <a:spLocks noChangeArrowheads="1"/>
          </p:cNvSpPr>
          <p:nvPr/>
        </p:nvSpPr>
        <p:spPr bwMode="auto">
          <a:xfrm>
            <a:off x="946483" y="4732929"/>
            <a:ext cx="1108486" cy="461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00FF"/>
                </a:solidFill>
                <a:latin typeface="微软雅黑" panose="020B0503020204020204" pitchFamily="34" charset="-122"/>
                <a:ea typeface="微软雅黑" panose="020B0503020204020204" pitchFamily="34" charset="-122"/>
              </a:rPr>
              <a:t>正应力</a:t>
            </a:r>
            <a:endParaRPr lang="zh-CN" altLang="en-US" sz="2400" dirty="0">
              <a:solidFill>
                <a:srgbClr val="0000FF"/>
              </a:solidFill>
            </a:endParaRPr>
          </a:p>
        </p:txBody>
      </p:sp>
      <p:sp>
        <p:nvSpPr>
          <p:cNvPr id="14" name="矩形 17">
            <a:extLst>
              <a:ext uri="{FF2B5EF4-FFF2-40B4-BE49-F238E27FC236}">
                <a16:creationId xmlns:a16="http://schemas.microsoft.com/office/drawing/2014/main" id="{096EAD70-6087-4398-9C15-5340B404D16F}"/>
              </a:ext>
            </a:extLst>
          </p:cNvPr>
          <p:cNvSpPr>
            <a:spLocks noChangeArrowheads="1"/>
          </p:cNvSpPr>
          <p:nvPr/>
        </p:nvSpPr>
        <p:spPr bwMode="auto">
          <a:xfrm>
            <a:off x="2841423" y="4767397"/>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00FF"/>
                </a:solidFill>
                <a:latin typeface="微软雅黑" panose="020B0503020204020204" pitchFamily="34" charset="-122"/>
                <a:ea typeface="微软雅黑" panose="020B0503020204020204" pitchFamily="34" charset="-122"/>
              </a:rPr>
              <a:t>剪切应力</a:t>
            </a:r>
            <a:endParaRPr lang="zh-CN" altLang="en-US" sz="2400" dirty="0">
              <a:solidFill>
                <a:srgbClr val="0000FF"/>
              </a:solidFill>
            </a:endParaRPr>
          </a:p>
        </p:txBody>
      </p:sp>
      <p:sp>
        <p:nvSpPr>
          <p:cNvPr id="16" name="矩形 15">
            <a:extLst>
              <a:ext uri="{FF2B5EF4-FFF2-40B4-BE49-F238E27FC236}">
                <a16:creationId xmlns:a16="http://schemas.microsoft.com/office/drawing/2014/main" id="{A17CA0F0-0D3D-4894-9B5D-18002B0EAA4D}"/>
              </a:ext>
            </a:extLst>
          </p:cNvPr>
          <p:cNvSpPr/>
          <p:nvPr/>
        </p:nvSpPr>
        <p:spPr>
          <a:xfrm>
            <a:off x="5640483" y="5299487"/>
            <a:ext cx="3350184" cy="400110"/>
          </a:xfrm>
          <a:prstGeom prst="rect">
            <a:avLst/>
          </a:prstGeom>
        </p:spPr>
        <p:txBody>
          <a:bodyPr wrap="square">
            <a:spAutoFit/>
          </a:bodyPr>
          <a:lstStyle/>
          <a:p>
            <a:pPr eaLnBrk="1" hangingPunct="1">
              <a:spcBef>
                <a:spcPct val="50000"/>
              </a:spcBef>
              <a:buClr>
                <a:srgbClr val="D60093"/>
              </a:buClr>
              <a:buSzPct val="75000"/>
              <a:buNone/>
            </a:pPr>
            <a:r>
              <a:rPr lang="zh-CN" altLang="en-US" sz="2000" dirty="0">
                <a:latin typeface="微软雅黑" panose="020B0503020204020204" pitchFamily="34" charset="-122"/>
                <a:ea typeface="微软雅黑" panose="020B0503020204020204" pitchFamily="34" charset="-122"/>
                <a:sym typeface="Times New Roman" panose="02020603050405020304" pitchFamily="18" charset="0"/>
              </a:rPr>
              <a:t>单晶硅微元素上应力分量图</a:t>
            </a:r>
            <a:endParaRPr lang="zh-CN" altLang="en-US" sz="2000" dirty="0">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5F6B47DA-7DF9-476D-A215-3949B946B9E4}"/>
              </a:ext>
            </a:extLst>
          </p:cNvPr>
          <p:cNvSpPr/>
          <p:nvPr/>
        </p:nvSpPr>
        <p:spPr>
          <a:xfrm>
            <a:off x="603440" y="1178442"/>
            <a:ext cx="4256579" cy="1569660"/>
          </a:xfrm>
          <a:prstGeom prst="rect">
            <a:avLst/>
          </a:prstGeom>
        </p:spPr>
        <p:txBody>
          <a:bodyPr wrap="square">
            <a:spAutoFit/>
          </a:bodyPr>
          <a:lstStyle/>
          <a:p>
            <a:pPr eaLnBrk="1" hangingPunct="1">
              <a:spcBef>
                <a:spcPct val="50000"/>
              </a:spcBef>
              <a:buClr>
                <a:srgbClr val="D60093"/>
              </a:buClr>
              <a:buSzPct val="75000"/>
              <a:buNone/>
            </a:pPr>
            <a:r>
              <a:rPr lang="en-US" altLang="zh-CN" sz="2400" dirty="0">
                <a:latin typeface="微软雅黑" panose="020B0503020204020204" pitchFamily="34" charset="-122"/>
                <a:ea typeface="微软雅黑" panose="020B0503020204020204" pitchFamily="34" charset="-122"/>
                <a:sym typeface="Times New Roman" panose="02020603050405020304" pitchFamily="18" charset="0"/>
              </a:rPr>
              <a:t>*</a:t>
            </a: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单晶硅上，沿晶轴上取微元素，应力分量有</a:t>
            </a:r>
            <a:r>
              <a:rPr lang="en-US" altLang="zh-CN" sz="2400" dirty="0">
                <a:latin typeface="微软雅黑" panose="020B0503020204020204" pitchFamily="34" charset="-122"/>
                <a:ea typeface="微软雅黑" panose="020B0503020204020204" pitchFamily="34" charset="-122"/>
                <a:sym typeface="Times New Roman" panose="02020603050405020304" pitchFamily="18" charset="0"/>
              </a:rPr>
              <a:t>9</a:t>
            </a: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个，但由于剪切力总是两两相等，所以独立的分量为</a:t>
            </a:r>
            <a:r>
              <a:rPr lang="en-US" altLang="zh-CN" sz="2400" dirty="0">
                <a:latin typeface="微软雅黑" panose="020B0503020204020204" pitchFamily="34" charset="-122"/>
                <a:ea typeface="微软雅黑" panose="020B0503020204020204" pitchFamily="34" charset="-122"/>
                <a:sym typeface="Times New Roman" panose="02020603050405020304" pitchFamily="18" charset="0"/>
              </a:rPr>
              <a:t>6</a:t>
            </a: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个。</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704">
                                            <p:txEl>
                                              <p:pRg st="0" end="0"/>
                                            </p:txEl>
                                          </p:spTgt>
                                        </p:tgtEl>
                                        <p:attrNameLst>
                                          <p:attrName>style.visibility</p:attrName>
                                        </p:attrNameLst>
                                      </p:cBhvr>
                                      <p:to>
                                        <p:strVal val="visible"/>
                                      </p:to>
                                    </p:set>
                                    <p:animEffect filter="checkerboard(across)">
                                      <p:cBhvr>
                                        <p:cTn id="7" dur="500"/>
                                        <p:tgtEl>
                                          <p:spTgt spid="2970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9702"/>
                                        </p:tgtEl>
                                        <p:attrNameLst>
                                          <p:attrName>style.visibility</p:attrName>
                                        </p:attrNameLst>
                                      </p:cBhvr>
                                      <p:to>
                                        <p:strVal val="visible"/>
                                      </p:to>
                                    </p:set>
                                    <p:animEffect filter="checkerboard(across)">
                                      <p:cBhvr>
                                        <p:cTn id="12" dur="500"/>
                                        <p:tgtEl>
                                          <p:spTgt spid="297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9705">
                                            <p:txEl>
                                              <p:pRg st="0" end="0"/>
                                            </p:txEl>
                                          </p:spTgt>
                                        </p:tgtEl>
                                        <p:attrNameLst>
                                          <p:attrName>style.visibility</p:attrName>
                                        </p:attrNameLst>
                                      </p:cBhvr>
                                      <p:to>
                                        <p:strVal val="visible"/>
                                      </p:to>
                                    </p:set>
                                    <p:animEffect filter="checkerboard(across)">
                                      <p:cBhvr>
                                        <p:cTn id="17" dur="500"/>
                                        <p:tgtEl>
                                          <p:spTgt spid="29705">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9703"/>
                                        </p:tgtEl>
                                        <p:attrNameLst>
                                          <p:attrName>style.visibility</p:attrName>
                                        </p:attrNameLst>
                                      </p:cBhvr>
                                      <p:to>
                                        <p:strVal val="visible"/>
                                      </p:to>
                                    </p:set>
                                    <p:animEffect filter="wipe(left)">
                                      <p:cBhvr>
                                        <p:cTn id="22" dur="500"/>
                                        <p:tgtEl>
                                          <p:spTgt spid="29703"/>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4" grpId="0" build="p" bldLvl="0"/>
      <p:bldP spid="29705" grpId="0" build="p" bldLvl="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矩形 4">
            <a:extLst>
              <a:ext uri="{FF2B5EF4-FFF2-40B4-BE49-F238E27FC236}">
                <a16:creationId xmlns:a16="http://schemas.microsoft.com/office/drawing/2014/main" id="{CAFE2641-9ED5-41B5-82E4-066AF0B03F4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2771" name="灯片编号占位符 3">
            <a:extLst>
              <a:ext uri="{FF2B5EF4-FFF2-40B4-BE49-F238E27FC236}">
                <a16:creationId xmlns:a16="http://schemas.microsoft.com/office/drawing/2014/main" id="{C374F56E-42B6-4966-B5A1-114B6CB46BD7}"/>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1C4A304-BCA5-47E6-B5BF-9CFD5B3950F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31</a:t>
            </a:fld>
            <a:endParaRPr lang="en-US" altLang="zh-CN" sz="1400">
              <a:solidFill>
                <a:srgbClr val="000000"/>
              </a:solidFill>
              <a:latin typeface="Arial" panose="020B0604020202020204" pitchFamily="34" charset="0"/>
            </a:endParaRPr>
          </a:p>
        </p:txBody>
      </p:sp>
      <p:sp>
        <p:nvSpPr>
          <p:cNvPr id="32772" name="TextBox 5">
            <a:extLst>
              <a:ext uri="{FF2B5EF4-FFF2-40B4-BE49-F238E27FC236}">
                <a16:creationId xmlns:a16="http://schemas.microsoft.com/office/drawing/2014/main" id="{D53C68D0-FC8A-42D9-9274-3BF33D6045BB}"/>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2773" name="Rectangle 2">
            <a:extLst>
              <a:ext uri="{FF2B5EF4-FFF2-40B4-BE49-F238E27FC236}">
                <a16:creationId xmlns:a16="http://schemas.microsoft.com/office/drawing/2014/main" id="{C9641122-7A22-48A7-8E68-B07C1315295E}"/>
              </a:ext>
            </a:extLst>
          </p:cNvPr>
          <p:cNvSpPr>
            <a:spLocks noGrp="1" noChangeArrowheads="1"/>
          </p:cNvSpPr>
          <p:nvPr/>
        </p:nvSpPr>
        <p:spPr bwMode="auto">
          <a:xfrm>
            <a:off x="158436" y="1062038"/>
            <a:ext cx="8851553" cy="6477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rPr>
              <a:t>单晶硅的压阻系数矩阵、和电阻率的变化、应力分量间的关系</a:t>
            </a:r>
            <a:r>
              <a:rPr lang="en-US" altLang="zh-CN" sz="2400" dirty="0">
                <a:solidFill>
                  <a:srgbClr val="000000"/>
                </a:solidFill>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pic>
        <p:nvPicPr>
          <p:cNvPr id="30726" name="Object 6">
            <a:extLst>
              <a:ext uri="{FF2B5EF4-FFF2-40B4-BE49-F238E27FC236}">
                <a16:creationId xmlns:a16="http://schemas.microsoft.com/office/drawing/2014/main" id="{19CF3C95-295E-438F-932C-E4661DFBFA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8" y="2846388"/>
            <a:ext cx="6743700" cy="353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图片 1">
            <a:extLst>
              <a:ext uri="{FF2B5EF4-FFF2-40B4-BE49-F238E27FC236}">
                <a16:creationId xmlns:a16="http://schemas.microsoft.com/office/drawing/2014/main" id="{1CA2D1F5-9882-458A-B389-80E910ECC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709738"/>
            <a:ext cx="2476500"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2776" name="直接箭头连接符 3">
            <a:extLst>
              <a:ext uri="{FF2B5EF4-FFF2-40B4-BE49-F238E27FC236}">
                <a16:creationId xmlns:a16="http://schemas.microsoft.com/office/drawing/2014/main" id="{CB961171-D708-4AF9-8249-7574FE3E1D72}"/>
              </a:ext>
            </a:extLst>
          </p:cNvPr>
          <p:cNvCxnSpPr>
            <a:cxnSpLocks noChangeShapeType="1"/>
          </p:cNvCxnSpPr>
          <p:nvPr/>
        </p:nvCxnSpPr>
        <p:spPr bwMode="auto">
          <a:xfrm flipH="1">
            <a:off x="1403350" y="2420938"/>
            <a:ext cx="2376488" cy="4254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77" name="直接箭头连接符 5">
            <a:extLst>
              <a:ext uri="{FF2B5EF4-FFF2-40B4-BE49-F238E27FC236}">
                <a16:creationId xmlns:a16="http://schemas.microsoft.com/office/drawing/2014/main" id="{F3AFB561-6005-492F-A60A-08FD316317D2}"/>
              </a:ext>
            </a:extLst>
          </p:cNvPr>
          <p:cNvCxnSpPr>
            <a:cxnSpLocks noChangeShapeType="1"/>
          </p:cNvCxnSpPr>
          <p:nvPr/>
        </p:nvCxnSpPr>
        <p:spPr bwMode="auto">
          <a:xfrm>
            <a:off x="4427538" y="2420938"/>
            <a:ext cx="0" cy="4254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2778" name="直接箭头连接符 8">
            <a:extLst>
              <a:ext uri="{FF2B5EF4-FFF2-40B4-BE49-F238E27FC236}">
                <a16:creationId xmlns:a16="http://schemas.microsoft.com/office/drawing/2014/main" id="{379FBEF1-77B5-4EFA-B6C9-6B6E55EC5E06}"/>
              </a:ext>
            </a:extLst>
          </p:cNvPr>
          <p:cNvCxnSpPr>
            <a:cxnSpLocks noChangeShapeType="1"/>
          </p:cNvCxnSpPr>
          <p:nvPr/>
        </p:nvCxnSpPr>
        <p:spPr bwMode="auto">
          <a:xfrm>
            <a:off x="5003800" y="2238375"/>
            <a:ext cx="2160588" cy="608013"/>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32779" name="组合 11">
            <a:extLst>
              <a:ext uri="{FF2B5EF4-FFF2-40B4-BE49-F238E27FC236}">
                <a16:creationId xmlns:a16="http://schemas.microsoft.com/office/drawing/2014/main" id="{E4F0009A-49AF-453A-910A-BF09481E35DF}"/>
              </a:ext>
            </a:extLst>
          </p:cNvPr>
          <p:cNvGrpSpPr>
            <a:grpSpLocks/>
          </p:cNvGrpSpPr>
          <p:nvPr/>
        </p:nvGrpSpPr>
        <p:grpSpPr bwMode="auto">
          <a:xfrm>
            <a:off x="7409449" y="3029744"/>
            <a:ext cx="1735690" cy="3168650"/>
            <a:chOff x="7674625" y="3068975"/>
            <a:chExt cx="1734921" cy="3168220"/>
          </a:xfrm>
        </p:grpSpPr>
        <p:sp>
          <p:nvSpPr>
            <p:cNvPr id="32780" name="左大括号 9">
              <a:extLst>
                <a:ext uri="{FF2B5EF4-FFF2-40B4-BE49-F238E27FC236}">
                  <a16:creationId xmlns:a16="http://schemas.microsoft.com/office/drawing/2014/main" id="{FDED290D-D42D-4BE3-9E44-631BE7AD6B8B}"/>
                </a:ext>
              </a:extLst>
            </p:cNvPr>
            <p:cNvSpPr>
              <a:spLocks/>
            </p:cNvSpPr>
            <p:nvPr/>
          </p:nvSpPr>
          <p:spPr bwMode="auto">
            <a:xfrm rot="10800000">
              <a:off x="7674625" y="3068975"/>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2781" name="左大括号 15">
              <a:extLst>
                <a:ext uri="{FF2B5EF4-FFF2-40B4-BE49-F238E27FC236}">
                  <a16:creationId xmlns:a16="http://schemas.microsoft.com/office/drawing/2014/main" id="{A6E04ABB-C1B3-4F6A-B074-16E9FF118F03}"/>
                </a:ext>
              </a:extLst>
            </p:cNvPr>
            <p:cNvSpPr>
              <a:spLocks/>
            </p:cNvSpPr>
            <p:nvPr/>
          </p:nvSpPr>
          <p:spPr bwMode="auto">
            <a:xfrm rot="10800000">
              <a:off x="7674625" y="4869100"/>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2782" name="矩形 10">
              <a:extLst>
                <a:ext uri="{FF2B5EF4-FFF2-40B4-BE49-F238E27FC236}">
                  <a16:creationId xmlns:a16="http://schemas.microsoft.com/office/drawing/2014/main" id="{4D8079D0-71B7-4947-8102-C3237ABC6CBD}"/>
                </a:ext>
              </a:extLst>
            </p:cNvPr>
            <p:cNvSpPr>
              <a:spLocks noChangeArrowheads="1"/>
            </p:cNvSpPr>
            <p:nvPr/>
          </p:nvSpPr>
          <p:spPr bwMode="auto">
            <a:xfrm>
              <a:off x="8036004" y="352218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00FF"/>
                  </a:solidFill>
                  <a:latin typeface="微软雅黑" panose="020B0503020204020204" pitchFamily="34" charset="-122"/>
                  <a:ea typeface="微软雅黑" panose="020B0503020204020204" pitchFamily="34" charset="-122"/>
                </a:rPr>
                <a:t>正应力</a:t>
              </a:r>
              <a:endParaRPr lang="zh-CN" altLang="en-US" sz="2400" dirty="0">
                <a:solidFill>
                  <a:srgbClr val="0000FF"/>
                </a:solidFill>
              </a:endParaRPr>
            </a:p>
          </p:txBody>
        </p:sp>
        <p:sp>
          <p:nvSpPr>
            <p:cNvPr id="32783" name="矩形 17">
              <a:extLst>
                <a:ext uri="{FF2B5EF4-FFF2-40B4-BE49-F238E27FC236}">
                  <a16:creationId xmlns:a16="http://schemas.microsoft.com/office/drawing/2014/main" id="{949A5D7C-3613-42A3-947F-EAE7D201940D}"/>
                </a:ext>
              </a:extLst>
            </p:cNvPr>
            <p:cNvSpPr>
              <a:spLocks noChangeArrowheads="1"/>
            </p:cNvSpPr>
            <p:nvPr/>
          </p:nvSpPr>
          <p:spPr bwMode="auto">
            <a:xfrm>
              <a:off x="7994401" y="5368482"/>
              <a:ext cx="1415145" cy="461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00FF"/>
                  </a:solidFill>
                  <a:latin typeface="微软雅黑" panose="020B0503020204020204" pitchFamily="34" charset="-122"/>
                  <a:ea typeface="微软雅黑" panose="020B0503020204020204" pitchFamily="34" charset="-122"/>
                </a:rPr>
                <a:t>剪切应力</a:t>
              </a:r>
              <a:endParaRPr lang="zh-CN" altLang="en-US" sz="2400" dirty="0">
                <a:solidFill>
                  <a:srgbClr val="0000FF"/>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726"/>
                                        </p:tgtEl>
                                        <p:attrNameLst>
                                          <p:attrName>style.visibility</p:attrName>
                                        </p:attrNameLst>
                                      </p:cBhvr>
                                      <p:to>
                                        <p:strVal val="visible"/>
                                      </p:to>
                                    </p:set>
                                    <p:animEffect filter="checkerboard(across)">
                                      <p:cBhvr>
                                        <p:cTn id="7" dur="5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矩形 4">
            <a:extLst>
              <a:ext uri="{FF2B5EF4-FFF2-40B4-BE49-F238E27FC236}">
                <a16:creationId xmlns:a16="http://schemas.microsoft.com/office/drawing/2014/main" id="{C45C1808-8A45-475D-977C-3B9D19B3077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3795" name="灯片编号占位符 3">
            <a:extLst>
              <a:ext uri="{FF2B5EF4-FFF2-40B4-BE49-F238E27FC236}">
                <a16:creationId xmlns:a16="http://schemas.microsoft.com/office/drawing/2014/main" id="{78E9D992-65EC-4DB6-95DB-1BD69D78D85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37DC9E6-6E16-4FAC-8F95-D4D1AE7C4BA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32</a:t>
            </a:fld>
            <a:endParaRPr lang="en-US" altLang="zh-CN" sz="1400">
              <a:solidFill>
                <a:srgbClr val="000000"/>
              </a:solidFill>
              <a:latin typeface="Arial" panose="020B0604020202020204" pitchFamily="34" charset="0"/>
            </a:endParaRPr>
          </a:p>
        </p:txBody>
      </p:sp>
      <p:sp>
        <p:nvSpPr>
          <p:cNvPr id="33796" name="TextBox 5">
            <a:extLst>
              <a:ext uri="{FF2B5EF4-FFF2-40B4-BE49-F238E27FC236}">
                <a16:creationId xmlns:a16="http://schemas.microsoft.com/office/drawing/2014/main" id="{598BDB4C-9DF5-459B-91DE-C9575E615042}"/>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3797" name="Rectangle 2">
            <a:extLst>
              <a:ext uri="{FF2B5EF4-FFF2-40B4-BE49-F238E27FC236}">
                <a16:creationId xmlns:a16="http://schemas.microsoft.com/office/drawing/2014/main" id="{8B2BB799-597A-4D2F-A52C-1BA7289498C4}"/>
              </a:ext>
            </a:extLst>
          </p:cNvPr>
          <p:cNvSpPr>
            <a:spLocks noGrp="1" noChangeArrowheads="1"/>
          </p:cNvSpPr>
          <p:nvPr/>
        </p:nvSpPr>
        <p:spPr bwMode="auto">
          <a:xfrm>
            <a:off x="323850" y="1412875"/>
            <a:ext cx="84232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rPr>
              <a:t>相关分析：</a:t>
            </a:r>
            <a:endParaRPr lang="zh-CN" altLang="en-US" sz="1800">
              <a:latin typeface="微软雅黑" panose="020B0503020204020204" pitchFamily="34" charset="-122"/>
              <a:ea typeface="微软雅黑" panose="020B0503020204020204" pitchFamily="34" charset="-122"/>
            </a:endParaRPr>
          </a:p>
        </p:txBody>
      </p:sp>
      <p:sp>
        <p:nvSpPr>
          <p:cNvPr id="33798" name="Rectangle 3">
            <a:extLst>
              <a:ext uri="{FF2B5EF4-FFF2-40B4-BE49-F238E27FC236}">
                <a16:creationId xmlns:a16="http://schemas.microsoft.com/office/drawing/2014/main" id="{120429B9-743A-492B-BC80-F6375A957E91}"/>
              </a:ext>
            </a:extLst>
          </p:cNvPr>
          <p:cNvSpPr>
            <a:spLocks noGrp="1" noChangeArrowheads="1"/>
          </p:cNvSpPr>
          <p:nvPr/>
        </p:nvSpPr>
        <p:spPr bwMode="auto">
          <a:xfrm>
            <a:off x="828675" y="1989138"/>
            <a:ext cx="76962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r>
              <a:rPr lang="zh-CN" altLang="en-US" sz="2400" dirty="0">
                <a:solidFill>
                  <a:srgbClr val="000000"/>
                </a:solidFill>
                <a:latin typeface="微软雅黑" panose="020B0503020204020204" pitchFamily="34" charset="-122"/>
                <a:ea typeface="微软雅黑" panose="020B0503020204020204" pitchFamily="34" charset="-122"/>
              </a:rPr>
              <a:t>正向压阻系数相等</a:t>
            </a:r>
          </a:p>
          <a:p>
            <a:r>
              <a:rPr lang="zh-CN" altLang="en-US" sz="2400" dirty="0">
                <a:solidFill>
                  <a:srgbClr val="000000"/>
                </a:solidFill>
                <a:latin typeface="微软雅黑" panose="020B0503020204020204" pitchFamily="34" charset="-122"/>
                <a:ea typeface="微软雅黑" panose="020B0503020204020204" pitchFamily="34" charset="-122"/>
              </a:rPr>
              <a:t>横向压阻系数相等</a:t>
            </a:r>
          </a:p>
          <a:p>
            <a:r>
              <a:rPr lang="zh-CN" altLang="en-US" sz="2400" dirty="0">
                <a:solidFill>
                  <a:srgbClr val="000000"/>
                </a:solidFill>
                <a:latin typeface="微软雅黑" panose="020B0503020204020204" pitchFamily="34" charset="-122"/>
                <a:ea typeface="微软雅黑" panose="020B0503020204020204" pitchFamily="34" charset="-122"/>
              </a:rPr>
              <a:t>剪切压阻系数相等</a:t>
            </a:r>
          </a:p>
          <a:p>
            <a:r>
              <a:rPr lang="zh-CN" altLang="en-US" sz="2400" dirty="0">
                <a:solidFill>
                  <a:srgbClr val="000000"/>
                </a:solidFill>
                <a:latin typeface="微软雅黑" panose="020B0503020204020204" pitchFamily="34" charset="-122"/>
                <a:ea typeface="微软雅黑" panose="020B0503020204020204" pitchFamily="34" charset="-122"/>
              </a:rPr>
              <a:t>切应力不可能产生正向压阻效应</a:t>
            </a:r>
          </a:p>
          <a:p>
            <a:r>
              <a:rPr lang="zh-CN" altLang="en-US" sz="2400" dirty="0">
                <a:solidFill>
                  <a:srgbClr val="000000"/>
                </a:solidFill>
                <a:latin typeface="微软雅黑" panose="020B0503020204020204" pitchFamily="34" charset="-122"/>
                <a:ea typeface="微软雅黑" panose="020B0503020204020204" pitchFamily="34" charset="-122"/>
              </a:rPr>
              <a:t>正向应力不可能产生剪切压阻效应</a:t>
            </a:r>
          </a:p>
          <a:p>
            <a:r>
              <a:rPr lang="zh-CN" altLang="en-US" sz="2400" dirty="0">
                <a:solidFill>
                  <a:srgbClr val="000000"/>
                </a:solidFill>
                <a:latin typeface="微软雅黑" panose="020B0503020204020204" pitchFamily="34" charset="-122"/>
                <a:ea typeface="微软雅黑" panose="020B0503020204020204" pitchFamily="34" charset="-122"/>
              </a:rPr>
              <a:t>剪切应力只能在剪切应力平面内产生压阻效应</a:t>
            </a:r>
            <a:endParaRPr lang="zh-CN" altLang="en-US" sz="18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82526F00-955B-46B4-96BB-87D980BD0B68}"/>
              </a:ext>
            </a:extLst>
          </p:cNvPr>
          <p:cNvSpPr/>
          <p:nvPr/>
        </p:nvSpPr>
        <p:spPr>
          <a:xfrm>
            <a:off x="694006" y="5494894"/>
            <a:ext cx="7696200" cy="369332"/>
          </a:xfrm>
          <a:prstGeom prst="rect">
            <a:avLst/>
          </a:prstGeom>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感兴趣的同学可查阅相关资料：如豆丁网，搜“</a:t>
            </a:r>
            <a:r>
              <a:rPr lang="zh-CN" altLang="en-US" dirty="0"/>
              <a:t>压阻式压力传感器资料</a:t>
            </a:r>
            <a:r>
              <a:rPr lang="zh-CN" altLang="en-US" dirty="0">
                <a:solidFill>
                  <a:srgbClr val="000000"/>
                </a:solidFill>
                <a:latin typeface="微软雅黑" panose="020B0503020204020204" pitchFamily="34" charset="-122"/>
                <a:ea typeface="微软雅黑" panose="020B0503020204020204" pitchFamily="34" charset="-122"/>
              </a:rPr>
              <a:t>”</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矩形 4">
            <a:extLst>
              <a:ext uri="{FF2B5EF4-FFF2-40B4-BE49-F238E27FC236}">
                <a16:creationId xmlns:a16="http://schemas.microsoft.com/office/drawing/2014/main" id="{5733F8EC-ADBD-4059-A6DA-70F93881F67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4819" name="灯片编号占位符 3">
            <a:extLst>
              <a:ext uri="{FF2B5EF4-FFF2-40B4-BE49-F238E27FC236}">
                <a16:creationId xmlns:a16="http://schemas.microsoft.com/office/drawing/2014/main" id="{FAA5AA23-9205-4F63-A8B7-6BBC3F79A52A}"/>
              </a:ext>
            </a:extLst>
          </p:cNvPr>
          <p:cNvSpPr>
            <a:spLocks noGrp="1" noChangeArrowheads="1"/>
          </p:cNvSpPr>
          <p:nvPr/>
        </p:nvSpPr>
        <p:spPr bwMode="auto">
          <a:xfrm>
            <a:off x="7235825" y="6402388"/>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E7C2D17-E217-48C0-9D03-1CA296F5812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33</a:t>
            </a:fld>
            <a:endParaRPr lang="en-US" altLang="zh-CN" sz="1400">
              <a:solidFill>
                <a:srgbClr val="000000"/>
              </a:solidFill>
              <a:latin typeface="Arial" panose="020B0604020202020204" pitchFamily="34" charset="0"/>
            </a:endParaRPr>
          </a:p>
        </p:txBody>
      </p:sp>
      <p:sp>
        <p:nvSpPr>
          <p:cNvPr id="34820" name="TextBox 5">
            <a:extLst>
              <a:ext uri="{FF2B5EF4-FFF2-40B4-BE49-F238E27FC236}">
                <a16:creationId xmlns:a16="http://schemas.microsoft.com/office/drawing/2014/main" id="{E7B7D5E9-379A-4B7F-B202-41B8905E2B1E}"/>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4821" name="Rectangle 2">
            <a:extLst>
              <a:ext uri="{FF2B5EF4-FFF2-40B4-BE49-F238E27FC236}">
                <a16:creationId xmlns:a16="http://schemas.microsoft.com/office/drawing/2014/main" id="{F5A73CFF-4A7A-4843-8978-0BD5A9FCECED}"/>
              </a:ext>
            </a:extLst>
          </p:cNvPr>
          <p:cNvSpPr>
            <a:spLocks noGrp="1" noChangeArrowheads="1"/>
          </p:cNvSpPr>
          <p:nvPr/>
        </p:nvSpPr>
        <p:spPr bwMode="auto">
          <a:xfrm>
            <a:off x="323850" y="1196975"/>
            <a:ext cx="8496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rPr>
              <a:t>由分析可得压阻系数矩阵 </a:t>
            </a:r>
            <a:r>
              <a:rPr lang="en-US" altLang="zh-CN" sz="2400">
                <a:solidFill>
                  <a:srgbClr val="000000"/>
                </a:solidFill>
                <a:latin typeface="微软雅黑" panose="020B0503020204020204" pitchFamily="34" charset="-122"/>
                <a:ea typeface="微软雅黑" panose="020B0503020204020204" pitchFamily="34" charset="-122"/>
              </a:rPr>
              <a:t>[</a:t>
            </a:r>
            <a:r>
              <a:rPr lang="en-US" altLang="zh-CN"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a:solidFill>
                  <a:srgbClr val="000000"/>
                </a:solidFill>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p:txBody>
      </p:sp>
      <p:pic>
        <p:nvPicPr>
          <p:cNvPr id="34822" name="图片 1">
            <a:extLst>
              <a:ext uri="{FF2B5EF4-FFF2-40B4-BE49-F238E27FC236}">
                <a16:creationId xmlns:a16="http://schemas.microsoft.com/office/drawing/2014/main" id="{1EBE65AB-25C7-4E92-BB62-13B53B7517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793875"/>
            <a:ext cx="6408738" cy="329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Rectangle 2">
            <a:extLst>
              <a:ext uri="{FF2B5EF4-FFF2-40B4-BE49-F238E27FC236}">
                <a16:creationId xmlns:a16="http://schemas.microsoft.com/office/drawing/2014/main" id="{3086F1B9-B748-48EC-AE20-7FA3347F6D1D}"/>
              </a:ext>
            </a:extLst>
          </p:cNvPr>
          <p:cNvSpPr>
            <a:spLocks noGrp="1" noChangeArrowheads="1"/>
          </p:cNvSpPr>
          <p:nvPr/>
        </p:nvSpPr>
        <p:spPr bwMode="auto">
          <a:xfrm>
            <a:off x="2195513" y="4860925"/>
            <a:ext cx="2881312"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en-US" altLang="zh-CN" b="1">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11</a:t>
            </a:r>
            <a:r>
              <a:rPr lang="zh-CN" altLang="en-US"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：纵向压阻系数</a:t>
            </a:r>
            <a:endParaRPr lang="en-US" altLang="zh-CN" sz="240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12</a:t>
            </a:r>
            <a:r>
              <a:rPr lang="zh-CN" altLang="en-US"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：横向压阻系数</a:t>
            </a:r>
            <a:endParaRPr lang="en-US" altLang="zh-CN" sz="240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44</a:t>
            </a:r>
            <a:r>
              <a:rPr lang="zh-CN" altLang="en-US" sz="2400">
                <a:solidFill>
                  <a:srgbClr val="0000FF"/>
                </a:solidFill>
                <a:latin typeface="微软雅黑" panose="020B0503020204020204" pitchFamily="34" charset="-122"/>
                <a:ea typeface="微软雅黑" panose="020B0503020204020204" pitchFamily="34" charset="-122"/>
              </a:rPr>
              <a:t>：剪切压阻系数</a:t>
            </a:r>
          </a:p>
        </p:txBody>
      </p:sp>
      <p:grpSp>
        <p:nvGrpSpPr>
          <p:cNvPr id="34824" name="组合 8">
            <a:extLst>
              <a:ext uri="{FF2B5EF4-FFF2-40B4-BE49-F238E27FC236}">
                <a16:creationId xmlns:a16="http://schemas.microsoft.com/office/drawing/2014/main" id="{A3326892-5922-48F2-B6A7-21E99AE81510}"/>
              </a:ext>
            </a:extLst>
          </p:cNvPr>
          <p:cNvGrpSpPr>
            <a:grpSpLocks/>
          </p:cNvGrpSpPr>
          <p:nvPr/>
        </p:nvGrpSpPr>
        <p:grpSpPr bwMode="auto">
          <a:xfrm>
            <a:off x="7596191" y="1971675"/>
            <a:ext cx="1530160" cy="2940050"/>
            <a:chOff x="7674625" y="3068975"/>
            <a:chExt cx="1531137" cy="3168220"/>
          </a:xfrm>
        </p:grpSpPr>
        <p:sp>
          <p:nvSpPr>
            <p:cNvPr id="34825" name="左大括号 9">
              <a:extLst>
                <a:ext uri="{FF2B5EF4-FFF2-40B4-BE49-F238E27FC236}">
                  <a16:creationId xmlns:a16="http://schemas.microsoft.com/office/drawing/2014/main" id="{967444C3-BC69-4D8C-B244-60741FD19D10}"/>
                </a:ext>
              </a:extLst>
            </p:cNvPr>
            <p:cNvSpPr>
              <a:spLocks/>
            </p:cNvSpPr>
            <p:nvPr/>
          </p:nvSpPr>
          <p:spPr bwMode="auto">
            <a:xfrm rot="10800000">
              <a:off x="7674625" y="3068975"/>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4826" name="左大括号 10">
              <a:extLst>
                <a:ext uri="{FF2B5EF4-FFF2-40B4-BE49-F238E27FC236}">
                  <a16:creationId xmlns:a16="http://schemas.microsoft.com/office/drawing/2014/main" id="{24F146BE-1A3F-4C2B-A344-CE0D7053856F}"/>
                </a:ext>
              </a:extLst>
            </p:cNvPr>
            <p:cNvSpPr>
              <a:spLocks/>
            </p:cNvSpPr>
            <p:nvPr/>
          </p:nvSpPr>
          <p:spPr bwMode="auto">
            <a:xfrm rot="10800000">
              <a:off x="7674625" y="4869100"/>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4827" name="矩形 11">
              <a:extLst>
                <a:ext uri="{FF2B5EF4-FFF2-40B4-BE49-F238E27FC236}">
                  <a16:creationId xmlns:a16="http://schemas.microsoft.com/office/drawing/2014/main" id="{BD6B5939-A46F-452D-A150-0E663271DFB0}"/>
                </a:ext>
              </a:extLst>
            </p:cNvPr>
            <p:cNvSpPr>
              <a:spLocks noChangeArrowheads="1"/>
            </p:cNvSpPr>
            <p:nvPr/>
          </p:nvSpPr>
          <p:spPr bwMode="auto">
            <a:xfrm>
              <a:off x="8036004" y="352218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a:solidFill>
                    <a:srgbClr val="0000FF"/>
                  </a:solidFill>
                  <a:latin typeface="微软雅黑" panose="020B0503020204020204" pitchFamily="34" charset="-122"/>
                  <a:ea typeface="微软雅黑" panose="020B0503020204020204" pitchFamily="34" charset="-122"/>
                </a:rPr>
                <a:t>正应力</a:t>
              </a:r>
              <a:endParaRPr lang="zh-CN" altLang="en-US" sz="2400">
                <a:solidFill>
                  <a:srgbClr val="0000FF"/>
                </a:solidFill>
              </a:endParaRPr>
            </a:p>
          </p:txBody>
        </p:sp>
        <p:sp>
          <p:nvSpPr>
            <p:cNvPr id="34828" name="矩形 12">
              <a:extLst>
                <a:ext uri="{FF2B5EF4-FFF2-40B4-BE49-F238E27FC236}">
                  <a16:creationId xmlns:a16="http://schemas.microsoft.com/office/drawing/2014/main" id="{8BA147F0-3ECA-4731-8BC2-3E01E5991813}"/>
                </a:ext>
              </a:extLst>
            </p:cNvPr>
            <p:cNvSpPr>
              <a:spLocks noChangeArrowheads="1"/>
            </p:cNvSpPr>
            <p:nvPr/>
          </p:nvSpPr>
          <p:spPr bwMode="auto">
            <a:xfrm>
              <a:off x="7994401" y="5368482"/>
              <a:ext cx="1211361" cy="43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000" dirty="0">
                  <a:solidFill>
                    <a:srgbClr val="0000FF"/>
                  </a:solidFill>
                  <a:latin typeface="微软雅黑" panose="020B0503020204020204" pitchFamily="34" charset="-122"/>
                  <a:ea typeface="微软雅黑" panose="020B0503020204020204" pitchFamily="34" charset="-122"/>
                </a:rPr>
                <a:t>剪切应力</a:t>
              </a:r>
              <a:endParaRPr lang="zh-CN" altLang="en-US" sz="2000" dirty="0">
                <a:solidFill>
                  <a:srgbClr val="0000FF"/>
                </a:solidFil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矩形 4">
            <a:extLst>
              <a:ext uri="{FF2B5EF4-FFF2-40B4-BE49-F238E27FC236}">
                <a16:creationId xmlns:a16="http://schemas.microsoft.com/office/drawing/2014/main" id="{AC3334AC-103A-4982-AF0B-D56C0A5955D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5843" name="灯片编号占位符 3">
            <a:extLst>
              <a:ext uri="{FF2B5EF4-FFF2-40B4-BE49-F238E27FC236}">
                <a16:creationId xmlns:a16="http://schemas.microsoft.com/office/drawing/2014/main" id="{45F55AEB-4CF8-4E36-90F4-FC5B19516889}"/>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C5333DA-080E-43F9-A467-346BC9005875}"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34</a:t>
            </a:fld>
            <a:endParaRPr lang="en-US" altLang="zh-CN" sz="1400">
              <a:solidFill>
                <a:srgbClr val="000000"/>
              </a:solidFill>
              <a:latin typeface="Arial" panose="020B0604020202020204" pitchFamily="34" charset="0"/>
            </a:endParaRPr>
          </a:p>
        </p:txBody>
      </p:sp>
      <p:sp>
        <p:nvSpPr>
          <p:cNvPr id="35844" name="TextBox 5">
            <a:extLst>
              <a:ext uri="{FF2B5EF4-FFF2-40B4-BE49-F238E27FC236}">
                <a16:creationId xmlns:a16="http://schemas.microsoft.com/office/drawing/2014/main" id="{9B8679E3-2810-42D3-8178-D211D7F22AF6}"/>
              </a:ext>
            </a:extLst>
          </p:cNvPr>
          <p:cNvSpPr>
            <a:spLocks noChangeArrowheads="1"/>
          </p:cNvSpPr>
          <p:nvPr/>
        </p:nvSpPr>
        <p:spPr bwMode="auto">
          <a:xfrm>
            <a:off x="684213" y="200025"/>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5845" name="Rectangle 2">
            <a:extLst>
              <a:ext uri="{FF2B5EF4-FFF2-40B4-BE49-F238E27FC236}">
                <a16:creationId xmlns:a16="http://schemas.microsoft.com/office/drawing/2014/main" id="{AA529ACF-F663-438A-B4BC-E703FEA0BD1D}"/>
              </a:ext>
            </a:extLst>
          </p:cNvPr>
          <p:cNvSpPr>
            <a:spLocks noGrp="1" noChangeArrowheads="1"/>
          </p:cNvSpPr>
          <p:nvPr/>
        </p:nvSpPr>
        <p:spPr bwMode="auto">
          <a:xfrm>
            <a:off x="323850" y="1196975"/>
            <a:ext cx="8496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rPr>
              <a:t>对于</a:t>
            </a:r>
            <a:r>
              <a:rPr lang="en-US" altLang="zh-CN" sz="2400">
                <a:solidFill>
                  <a:srgbClr val="000000"/>
                </a:solidFill>
                <a:latin typeface="微软雅黑" panose="020B0503020204020204" pitchFamily="34" charset="-122"/>
                <a:ea typeface="微软雅黑" panose="020B0503020204020204" pitchFamily="34" charset="-122"/>
              </a:rPr>
              <a:t>P</a:t>
            </a:r>
            <a:r>
              <a:rPr lang="zh-CN" altLang="en-US" sz="2400">
                <a:solidFill>
                  <a:srgbClr val="000000"/>
                </a:solidFill>
                <a:latin typeface="微软雅黑" panose="020B0503020204020204" pitchFamily="34" charset="-122"/>
                <a:ea typeface="微软雅黑" panose="020B0503020204020204" pitchFamily="34" charset="-122"/>
              </a:rPr>
              <a:t>型硅，</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2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44</a:t>
            </a:r>
            <a:r>
              <a:rPr lang="zh-CN" altLang="en-US" sz="2400">
                <a:solidFill>
                  <a:srgbClr val="000000"/>
                </a:solidFill>
                <a:latin typeface="微软雅黑" panose="020B0503020204020204" pitchFamily="34" charset="-122"/>
                <a:ea typeface="微软雅黑" panose="020B0503020204020204" pitchFamily="34" charset="-122"/>
              </a:rPr>
              <a:t>远大于</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11</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和</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12</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因而其</a:t>
            </a:r>
            <a:r>
              <a:rPr lang="zh-CN" altLang="en-US" sz="2400">
                <a:solidFill>
                  <a:srgbClr val="000000"/>
                </a:solidFill>
                <a:latin typeface="微软雅黑" panose="020B0503020204020204" pitchFamily="34" charset="-122"/>
                <a:ea typeface="微软雅黑" panose="020B0503020204020204" pitchFamily="34" charset="-122"/>
              </a:rPr>
              <a:t>压阻系数矩阵 </a:t>
            </a:r>
            <a:r>
              <a:rPr lang="en-US" altLang="zh-CN" sz="2400">
                <a:solidFill>
                  <a:srgbClr val="000000"/>
                </a:solidFill>
                <a:latin typeface="微软雅黑" panose="020B0503020204020204" pitchFamily="34" charset="-122"/>
                <a:ea typeface="微软雅黑" panose="020B0503020204020204" pitchFamily="34" charset="-122"/>
              </a:rPr>
              <a:t>[</a:t>
            </a:r>
            <a:r>
              <a:rPr lang="en-US" altLang="zh-CN"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为</a:t>
            </a:r>
            <a:r>
              <a:rPr lang="en-US" altLang="zh-CN"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a:solidFill>
                  <a:srgbClr val="000000"/>
                </a:solidFill>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p:txBody>
      </p:sp>
      <p:pic>
        <p:nvPicPr>
          <p:cNvPr id="35846" name="图片 2">
            <a:extLst>
              <a:ext uri="{FF2B5EF4-FFF2-40B4-BE49-F238E27FC236}">
                <a16:creationId xmlns:a16="http://schemas.microsoft.com/office/drawing/2014/main" id="{90A0AC6F-7A30-4C82-9ABA-0A01675D06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727200"/>
            <a:ext cx="6731000"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Rectangle 2">
            <a:extLst>
              <a:ext uri="{FF2B5EF4-FFF2-40B4-BE49-F238E27FC236}">
                <a16:creationId xmlns:a16="http://schemas.microsoft.com/office/drawing/2014/main" id="{6DA0873E-9EF3-40FF-831E-F99E89FB48C8}"/>
              </a:ext>
            </a:extLst>
          </p:cNvPr>
          <p:cNvSpPr>
            <a:spLocks noGrp="1" noChangeArrowheads="1"/>
          </p:cNvSpPr>
          <p:nvPr/>
        </p:nvSpPr>
        <p:spPr bwMode="auto">
          <a:xfrm>
            <a:off x="899745" y="4953239"/>
            <a:ext cx="2881312"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11</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：纵向压阻系数</a:t>
            </a:r>
            <a:endParaRPr lang="en-US" altLang="zh-CN"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12</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：横向压阻系数</a:t>
            </a:r>
            <a:endParaRPr lang="en-US" altLang="zh-CN"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44</a:t>
            </a:r>
            <a:r>
              <a:rPr lang="zh-CN" altLang="en-US" sz="2400" dirty="0">
                <a:solidFill>
                  <a:srgbClr val="0000FF"/>
                </a:solidFill>
                <a:latin typeface="微软雅黑" panose="020B0503020204020204" pitchFamily="34" charset="-122"/>
                <a:ea typeface="微软雅黑" panose="020B0503020204020204" pitchFamily="34" charset="-122"/>
              </a:rPr>
              <a:t>：剪切压阻系数</a:t>
            </a:r>
          </a:p>
        </p:txBody>
      </p:sp>
      <p:grpSp>
        <p:nvGrpSpPr>
          <p:cNvPr id="35848" name="组合 9">
            <a:extLst>
              <a:ext uri="{FF2B5EF4-FFF2-40B4-BE49-F238E27FC236}">
                <a16:creationId xmlns:a16="http://schemas.microsoft.com/office/drawing/2014/main" id="{8BD4B657-8071-4D99-8772-56142013AE51}"/>
              </a:ext>
            </a:extLst>
          </p:cNvPr>
          <p:cNvGrpSpPr>
            <a:grpSpLocks/>
          </p:cNvGrpSpPr>
          <p:nvPr/>
        </p:nvGrpSpPr>
        <p:grpSpPr bwMode="auto">
          <a:xfrm>
            <a:off x="7464425" y="1809750"/>
            <a:ext cx="1468438" cy="3168650"/>
            <a:chOff x="7674625" y="3068975"/>
            <a:chExt cx="1469375" cy="3168220"/>
          </a:xfrm>
        </p:grpSpPr>
        <p:sp>
          <p:nvSpPr>
            <p:cNvPr id="35849" name="左大括号 10">
              <a:extLst>
                <a:ext uri="{FF2B5EF4-FFF2-40B4-BE49-F238E27FC236}">
                  <a16:creationId xmlns:a16="http://schemas.microsoft.com/office/drawing/2014/main" id="{0352654D-9369-4DE5-A99E-659F731C41F1}"/>
                </a:ext>
              </a:extLst>
            </p:cNvPr>
            <p:cNvSpPr>
              <a:spLocks/>
            </p:cNvSpPr>
            <p:nvPr/>
          </p:nvSpPr>
          <p:spPr bwMode="auto">
            <a:xfrm rot="10800000">
              <a:off x="7674625" y="3068975"/>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5850" name="左大括号 11">
              <a:extLst>
                <a:ext uri="{FF2B5EF4-FFF2-40B4-BE49-F238E27FC236}">
                  <a16:creationId xmlns:a16="http://schemas.microsoft.com/office/drawing/2014/main" id="{0C6A056F-7758-4631-A07F-D9275BD09930}"/>
                </a:ext>
              </a:extLst>
            </p:cNvPr>
            <p:cNvSpPr>
              <a:spLocks/>
            </p:cNvSpPr>
            <p:nvPr/>
          </p:nvSpPr>
          <p:spPr bwMode="auto">
            <a:xfrm rot="10800000">
              <a:off x="7674625" y="4869100"/>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5851" name="矩形 12">
              <a:extLst>
                <a:ext uri="{FF2B5EF4-FFF2-40B4-BE49-F238E27FC236}">
                  <a16:creationId xmlns:a16="http://schemas.microsoft.com/office/drawing/2014/main" id="{1FCE840B-8795-457B-B4F3-B1D3A7420497}"/>
                </a:ext>
              </a:extLst>
            </p:cNvPr>
            <p:cNvSpPr>
              <a:spLocks noChangeArrowheads="1"/>
            </p:cNvSpPr>
            <p:nvPr/>
          </p:nvSpPr>
          <p:spPr bwMode="auto">
            <a:xfrm>
              <a:off x="8036004" y="352218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a:solidFill>
                    <a:srgbClr val="0000FF"/>
                  </a:solidFill>
                  <a:latin typeface="微软雅黑" panose="020B0503020204020204" pitchFamily="34" charset="-122"/>
                  <a:ea typeface="微软雅黑" panose="020B0503020204020204" pitchFamily="34" charset="-122"/>
                </a:rPr>
                <a:t>正应力</a:t>
              </a:r>
              <a:endParaRPr lang="zh-CN" altLang="en-US" sz="2400">
                <a:solidFill>
                  <a:srgbClr val="0000FF"/>
                </a:solidFill>
              </a:endParaRPr>
            </a:p>
          </p:txBody>
        </p:sp>
      </p:grpSp>
      <p:sp>
        <p:nvSpPr>
          <p:cNvPr id="13" name="矩形 12">
            <a:extLst>
              <a:ext uri="{FF2B5EF4-FFF2-40B4-BE49-F238E27FC236}">
                <a16:creationId xmlns:a16="http://schemas.microsoft.com/office/drawing/2014/main" id="{B1039E05-D30D-4124-8C40-C1730A2312C5}"/>
              </a:ext>
            </a:extLst>
          </p:cNvPr>
          <p:cNvSpPr>
            <a:spLocks noChangeArrowheads="1"/>
          </p:cNvSpPr>
          <p:nvPr/>
        </p:nvSpPr>
        <p:spPr bwMode="auto">
          <a:xfrm>
            <a:off x="7738089" y="4094205"/>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000" dirty="0">
                <a:solidFill>
                  <a:srgbClr val="0000FF"/>
                </a:solidFill>
                <a:latin typeface="微软雅黑" panose="020B0503020204020204" pitchFamily="34" charset="-122"/>
                <a:ea typeface="微软雅黑" panose="020B0503020204020204" pitchFamily="34" charset="-122"/>
              </a:rPr>
              <a:t>剪切应力</a:t>
            </a:r>
            <a:endParaRPr lang="zh-CN" altLang="en-US" sz="2000" dirty="0">
              <a:solidFill>
                <a:srgbClr val="0000FF"/>
              </a:solidFill>
            </a:endParaRPr>
          </a:p>
        </p:txBody>
      </p:sp>
      <p:sp>
        <p:nvSpPr>
          <p:cNvPr id="14" name="矩形 13">
            <a:extLst>
              <a:ext uri="{FF2B5EF4-FFF2-40B4-BE49-F238E27FC236}">
                <a16:creationId xmlns:a16="http://schemas.microsoft.com/office/drawing/2014/main" id="{D9CFC397-2866-4369-8385-690337CF6F67}"/>
              </a:ext>
            </a:extLst>
          </p:cNvPr>
          <p:cNvSpPr/>
          <p:nvPr/>
        </p:nvSpPr>
        <p:spPr>
          <a:xfrm>
            <a:off x="4658516" y="5716572"/>
            <a:ext cx="3441729" cy="461665"/>
          </a:xfrm>
          <a:prstGeom prst="rect">
            <a:avLst/>
          </a:prstGeom>
        </p:spPr>
        <p:txBody>
          <a:bodyPr wrap="square">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参见教程</a:t>
            </a:r>
            <a:r>
              <a:rPr lang="en-US" altLang="zh-CN" sz="2400" dirty="0">
                <a:solidFill>
                  <a:srgbClr val="C00000"/>
                </a:solidFill>
                <a:latin typeface="微软雅黑" panose="020B0503020204020204" pitchFamily="34" charset="-122"/>
                <a:ea typeface="微软雅黑" panose="020B0503020204020204" pitchFamily="34" charset="-122"/>
              </a:rPr>
              <a:t>p37 </a:t>
            </a:r>
            <a:r>
              <a:rPr lang="zh-CN" altLang="en-US" sz="2400" dirty="0">
                <a:solidFill>
                  <a:srgbClr val="C00000"/>
                </a:solidFill>
                <a:latin typeface="微软雅黑" panose="020B0503020204020204" pitchFamily="34" charset="-122"/>
                <a:ea typeface="微软雅黑" panose="020B0503020204020204" pitchFamily="34" charset="-122"/>
              </a:rPr>
              <a:t>表</a:t>
            </a:r>
            <a:r>
              <a:rPr lang="en-US" altLang="zh-CN" sz="2400" dirty="0">
                <a:solidFill>
                  <a:srgbClr val="C00000"/>
                </a:solidFill>
                <a:latin typeface="微软雅黑" panose="020B0503020204020204" pitchFamily="34" charset="-122"/>
                <a:ea typeface="微软雅黑" panose="020B0503020204020204" pitchFamily="34" charset="-122"/>
              </a:rPr>
              <a:t>3-2-1</a:t>
            </a:r>
            <a:endParaRPr lang="zh-CN" altLang="en-US" sz="2400" dirty="0">
              <a:solidFill>
                <a:srgbClr val="C0000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a:extLst>
              <a:ext uri="{FF2B5EF4-FFF2-40B4-BE49-F238E27FC236}">
                <a16:creationId xmlns:a16="http://schemas.microsoft.com/office/drawing/2014/main" id="{9F286E0F-2EEA-40B1-869D-340DA2A08470}"/>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B17632B-7627-4ADA-8E78-98BD20ACECA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35</a:t>
            </a:fld>
            <a:endParaRPr lang="en-US" altLang="zh-CN" sz="1400">
              <a:solidFill>
                <a:srgbClr val="000000"/>
              </a:solidFill>
              <a:latin typeface="Arial" panose="020B0604020202020204" pitchFamily="34" charset="0"/>
            </a:endParaRPr>
          </a:p>
        </p:txBody>
      </p:sp>
      <p:sp>
        <p:nvSpPr>
          <p:cNvPr id="36867" name="TextBox 5">
            <a:extLst>
              <a:ext uri="{FF2B5EF4-FFF2-40B4-BE49-F238E27FC236}">
                <a16:creationId xmlns:a16="http://schemas.microsoft.com/office/drawing/2014/main" id="{5EC85F29-E767-4FC9-916B-CF6EDB2D551C}"/>
              </a:ext>
            </a:extLst>
          </p:cNvPr>
          <p:cNvSpPr>
            <a:spLocks noChangeArrowheads="1"/>
          </p:cNvSpPr>
          <p:nvPr/>
        </p:nvSpPr>
        <p:spPr bwMode="auto">
          <a:xfrm>
            <a:off x="684213" y="200025"/>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6868" name="Rectangle 2">
            <a:extLst>
              <a:ext uri="{FF2B5EF4-FFF2-40B4-BE49-F238E27FC236}">
                <a16:creationId xmlns:a16="http://schemas.microsoft.com/office/drawing/2014/main" id="{84654683-3225-4EF6-BCAD-9C33CE000175}"/>
              </a:ext>
            </a:extLst>
          </p:cNvPr>
          <p:cNvSpPr>
            <a:spLocks noGrp="1" noChangeArrowheads="1"/>
          </p:cNvSpPr>
          <p:nvPr/>
        </p:nvSpPr>
        <p:spPr bwMode="auto">
          <a:xfrm>
            <a:off x="323850" y="1393825"/>
            <a:ext cx="84963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rPr>
              <a:t>对于</a:t>
            </a:r>
            <a:r>
              <a:rPr lang="en-US" altLang="zh-CN" sz="2400">
                <a:solidFill>
                  <a:srgbClr val="000000"/>
                </a:solidFill>
                <a:latin typeface="微软雅黑" panose="020B0503020204020204" pitchFamily="34" charset="-122"/>
                <a:ea typeface="微软雅黑" panose="020B0503020204020204" pitchFamily="34" charset="-122"/>
              </a:rPr>
              <a:t>N</a:t>
            </a:r>
            <a:r>
              <a:rPr lang="zh-CN" altLang="en-US" sz="2400">
                <a:solidFill>
                  <a:srgbClr val="000000"/>
                </a:solidFill>
                <a:latin typeface="微软雅黑" panose="020B0503020204020204" pitchFamily="34" charset="-122"/>
                <a:ea typeface="微软雅黑" panose="020B0503020204020204" pitchFamily="34" charset="-122"/>
              </a:rPr>
              <a:t>型硅，</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2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44 </a:t>
            </a:r>
            <a:r>
              <a:rPr lang="zh-CN" altLang="en-US" sz="2400">
                <a:solidFill>
                  <a:srgbClr val="000000"/>
                </a:solidFill>
                <a:latin typeface="微软雅黑" panose="020B0503020204020204" pitchFamily="34" charset="-122"/>
                <a:ea typeface="微软雅黑" panose="020B0503020204020204" pitchFamily="34" charset="-122"/>
              </a:rPr>
              <a:t>较小可忽略，</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12 </a:t>
            </a: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1400" b="1">
                <a:solidFill>
                  <a:srgbClr val="000000"/>
                </a:solidFill>
                <a:latin typeface="微软雅黑" panose="020B0503020204020204" pitchFamily="34" charset="-122"/>
                <a:ea typeface="微软雅黑" panose="020B0503020204020204" pitchFamily="34" charset="-122"/>
                <a:sym typeface="Symbol" panose="05050102010706020507" pitchFamily="18" charset="2"/>
              </a:rPr>
              <a:t>11</a:t>
            </a:r>
            <a:r>
              <a:rPr lang="en-US" altLang="zh-CN" sz="2400" b="1">
                <a:solidFill>
                  <a:srgbClr val="0000FF"/>
                </a:solidFill>
                <a:latin typeface="微软雅黑" panose="020B0503020204020204" pitchFamily="34" charset="-122"/>
                <a:ea typeface="微软雅黑" panose="020B0503020204020204" pitchFamily="34" charset="-122"/>
                <a:sym typeface="Symbol" panose="05050102010706020507" pitchFamily="18" charset="2"/>
              </a:rPr>
              <a:t>/2</a:t>
            </a:r>
            <a:r>
              <a:rPr lang="zh-CN" altLang="en-US" b="1">
                <a:solidFill>
                  <a:srgbClr val="000000"/>
                </a:solidFill>
                <a:latin typeface="微软雅黑" panose="020B0503020204020204" pitchFamily="34" charset="-122"/>
                <a:ea typeface="微软雅黑" panose="020B0503020204020204" pitchFamily="34" charset="-122"/>
                <a:sym typeface="Symbol" panose="05050102010706020507" pitchFamily="18" charset="2"/>
              </a:rPr>
              <a:t>，</a:t>
            </a:r>
            <a:endParaRPr lang="en-US" altLang="zh-CN" b="1">
              <a:solidFill>
                <a:srgbClr val="000000"/>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其</a:t>
            </a:r>
            <a:r>
              <a:rPr lang="zh-CN" altLang="en-US" sz="2400">
                <a:solidFill>
                  <a:srgbClr val="000000"/>
                </a:solidFill>
                <a:latin typeface="微软雅黑" panose="020B0503020204020204" pitchFamily="34" charset="-122"/>
                <a:ea typeface="微软雅黑" panose="020B0503020204020204" pitchFamily="34" charset="-122"/>
              </a:rPr>
              <a:t>压阻系数矩阵 </a:t>
            </a:r>
            <a:r>
              <a:rPr lang="en-US" altLang="zh-CN" sz="2400">
                <a:solidFill>
                  <a:srgbClr val="000000"/>
                </a:solidFill>
                <a:latin typeface="微软雅黑" panose="020B0503020204020204" pitchFamily="34" charset="-122"/>
                <a:ea typeface="微软雅黑" panose="020B0503020204020204" pitchFamily="34" charset="-122"/>
              </a:rPr>
              <a:t>[</a:t>
            </a:r>
            <a:r>
              <a:rPr lang="en-US" altLang="zh-CN" sz="2400">
                <a:solidFill>
                  <a:srgbClr val="000000"/>
                </a:solidFill>
                <a:latin typeface="微软雅黑" panose="020B0503020204020204" pitchFamily="34" charset="-122"/>
                <a:ea typeface="微软雅黑" panose="020B0503020204020204" pitchFamily="34" charset="-122"/>
                <a:sym typeface="Symbol" panose="05050102010706020507" pitchFamily="18" charset="2"/>
              </a:rPr>
              <a:t>] </a:t>
            </a:r>
            <a:r>
              <a:rPr lang="en-US" altLang="zh-CN" sz="2400">
                <a:solidFill>
                  <a:srgbClr val="000000"/>
                </a:solidFill>
                <a:latin typeface="微软雅黑" panose="020B0503020204020204" pitchFamily="34" charset="-122"/>
                <a:ea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endParaRPr>
          </a:p>
        </p:txBody>
      </p:sp>
      <p:pic>
        <p:nvPicPr>
          <p:cNvPr id="36869" name="图片 3">
            <a:extLst>
              <a:ext uri="{FF2B5EF4-FFF2-40B4-BE49-F238E27FC236}">
                <a16:creationId xmlns:a16="http://schemas.microsoft.com/office/drawing/2014/main" id="{D65F0108-3120-4405-86FF-EA93DDE32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75" y="2492375"/>
            <a:ext cx="6284913" cy="318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70" name="组合 9">
            <a:extLst>
              <a:ext uri="{FF2B5EF4-FFF2-40B4-BE49-F238E27FC236}">
                <a16:creationId xmlns:a16="http://schemas.microsoft.com/office/drawing/2014/main" id="{00AFFDC4-CB8B-4123-A72E-A6B5A9CF19F5}"/>
              </a:ext>
            </a:extLst>
          </p:cNvPr>
          <p:cNvGrpSpPr>
            <a:grpSpLocks/>
          </p:cNvGrpSpPr>
          <p:nvPr/>
        </p:nvGrpSpPr>
        <p:grpSpPr bwMode="auto">
          <a:xfrm>
            <a:off x="7134225" y="2597150"/>
            <a:ext cx="1470025" cy="2979738"/>
            <a:chOff x="7674625" y="3068975"/>
            <a:chExt cx="1469375" cy="3168220"/>
          </a:xfrm>
        </p:grpSpPr>
        <p:sp>
          <p:nvSpPr>
            <p:cNvPr id="36871" name="左大括号 10">
              <a:extLst>
                <a:ext uri="{FF2B5EF4-FFF2-40B4-BE49-F238E27FC236}">
                  <a16:creationId xmlns:a16="http://schemas.microsoft.com/office/drawing/2014/main" id="{78978A10-C605-4315-A96C-B299CFB09DC6}"/>
                </a:ext>
              </a:extLst>
            </p:cNvPr>
            <p:cNvSpPr>
              <a:spLocks/>
            </p:cNvSpPr>
            <p:nvPr/>
          </p:nvSpPr>
          <p:spPr bwMode="auto">
            <a:xfrm rot="10800000">
              <a:off x="7674625" y="3068975"/>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6872" name="左大括号 11">
              <a:extLst>
                <a:ext uri="{FF2B5EF4-FFF2-40B4-BE49-F238E27FC236}">
                  <a16:creationId xmlns:a16="http://schemas.microsoft.com/office/drawing/2014/main" id="{9D7B3530-BDCC-487F-A2A3-57BCCC237409}"/>
                </a:ext>
              </a:extLst>
            </p:cNvPr>
            <p:cNvSpPr>
              <a:spLocks/>
            </p:cNvSpPr>
            <p:nvPr/>
          </p:nvSpPr>
          <p:spPr bwMode="auto">
            <a:xfrm rot="10800000">
              <a:off x="7674625" y="4869100"/>
              <a:ext cx="302963" cy="1368095"/>
            </a:xfrm>
            <a:prstGeom prst="leftBrace">
              <a:avLst>
                <a:gd name="adj1" fmla="val 8342"/>
                <a:gd name="adj2" fmla="val 50000"/>
              </a:avLst>
            </a:prstGeom>
            <a:noFill/>
            <a:ln w="25400" algn="ctr">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36873" name="矩形 12">
              <a:extLst>
                <a:ext uri="{FF2B5EF4-FFF2-40B4-BE49-F238E27FC236}">
                  <a16:creationId xmlns:a16="http://schemas.microsoft.com/office/drawing/2014/main" id="{56DD54A3-4DEA-425B-B643-AF3FB67D086C}"/>
                </a:ext>
              </a:extLst>
            </p:cNvPr>
            <p:cNvSpPr>
              <a:spLocks noChangeArrowheads="1"/>
            </p:cNvSpPr>
            <p:nvPr/>
          </p:nvSpPr>
          <p:spPr bwMode="auto">
            <a:xfrm>
              <a:off x="8036004" y="352218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a:solidFill>
                    <a:srgbClr val="0000FF"/>
                  </a:solidFill>
                  <a:latin typeface="微软雅黑" panose="020B0503020204020204" pitchFamily="34" charset="-122"/>
                  <a:ea typeface="微软雅黑" panose="020B0503020204020204" pitchFamily="34" charset="-122"/>
                </a:rPr>
                <a:t>正应力</a:t>
              </a:r>
              <a:endParaRPr lang="zh-CN" altLang="en-US" sz="2400">
                <a:solidFill>
                  <a:srgbClr val="0000FF"/>
                </a:solidFill>
              </a:endParaRPr>
            </a:p>
          </p:txBody>
        </p:sp>
      </p:grpSp>
      <p:sp>
        <p:nvSpPr>
          <p:cNvPr id="11" name="矩形 12">
            <a:extLst>
              <a:ext uri="{FF2B5EF4-FFF2-40B4-BE49-F238E27FC236}">
                <a16:creationId xmlns:a16="http://schemas.microsoft.com/office/drawing/2014/main" id="{369D5A32-EC18-4968-A39D-F9CE264364BA}"/>
              </a:ext>
            </a:extLst>
          </p:cNvPr>
          <p:cNvSpPr>
            <a:spLocks noChangeArrowheads="1"/>
          </p:cNvSpPr>
          <p:nvPr/>
        </p:nvSpPr>
        <p:spPr bwMode="auto">
          <a:xfrm>
            <a:off x="7499519" y="4732693"/>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000" dirty="0">
                <a:solidFill>
                  <a:srgbClr val="0000FF"/>
                </a:solidFill>
                <a:latin typeface="微软雅黑" panose="020B0503020204020204" pitchFamily="34" charset="-122"/>
                <a:ea typeface="微软雅黑" panose="020B0503020204020204" pitchFamily="34" charset="-122"/>
              </a:rPr>
              <a:t>剪切应力</a:t>
            </a:r>
            <a:endParaRPr lang="zh-CN" altLang="en-US" sz="2000" dirty="0">
              <a:solidFill>
                <a:srgbClr val="0000FF"/>
              </a:solidFill>
            </a:endParaRPr>
          </a:p>
        </p:txBody>
      </p:sp>
      <p:sp>
        <p:nvSpPr>
          <p:cNvPr id="12" name="矩形 11">
            <a:extLst>
              <a:ext uri="{FF2B5EF4-FFF2-40B4-BE49-F238E27FC236}">
                <a16:creationId xmlns:a16="http://schemas.microsoft.com/office/drawing/2014/main" id="{3C3847FB-F5D8-4EFD-90D0-5C3E4558E709}"/>
              </a:ext>
            </a:extLst>
          </p:cNvPr>
          <p:cNvSpPr/>
          <p:nvPr/>
        </p:nvSpPr>
        <p:spPr>
          <a:xfrm>
            <a:off x="2344958" y="5886748"/>
            <a:ext cx="3456240" cy="461665"/>
          </a:xfrm>
          <a:prstGeom prst="rect">
            <a:avLst/>
          </a:prstGeom>
        </p:spPr>
        <p:txBody>
          <a:bodyPr wrap="square">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参见教程</a:t>
            </a:r>
            <a:r>
              <a:rPr lang="en-US" altLang="zh-CN" sz="2400" dirty="0">
                <a:solidFill>
                  <a:srgbClr val="C00000"/>
                </a:solidFill>
                <a:latin typeface="微软雅黑" panose="020B0503020204020204" pitchFamily="34" charset="-122"/>
                <a:ea typeface="微软雅黑" panose="020B0503020204020204" pitchFamily="34" charset="-122"/>
              </a:rPr>
              <a:t>p37 </a:t>
            </a:r>
            <a:r>
              <a:rPr lang="zh-CN" altLang="en-US" sz="2400" dirty="0">
                <a:solidFill>
                  <a:srgbClr val="C00000"/>
                </a:solidFill>
                <a:latin typeface="微软雅黑" panose="020B0503020204020204" pitchFamily="34" charset="-122"/>
                <a:ea typeface="微软雅黑" panose="020B0503020204020204" pitchFamily="34" charset="-122"/>
              </a:rPr>
              <a:t>表</a:t>
            </a:r>
            <a:r>
              <a:rPr lang="en-US" altLang="zh-CN" sz="2400" dirty="0">
                <a:solidFill>
                  <a:srgbClr val="C00000"/>
                </a:solidFill>
                <a:latin typeface="微软雅黑" panose="020B0503020204020204" pitchFamily="34" charset="-122"/>
                <a:ea typeface="微软雅黑" panose="020B0503020204020204" pitchFamily="34" charset="-122"/>
              </a:rPr>
              <a:t>3-2-1</a:t>
            </a:r>
            <a:endParaRPr lang="zh-CN" altLang="en-US" sz="2400" dirty="0">
              <a:solidFill>
                <a:srgbClr val="C00000"/>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86FB569-483B-4831-A799-F2613EE70CAF}"/>
              </a:ext>
            </a:extLst>
          </p:cNvPr>
          <p:cNvSpPr/>
          <p:nvPr/>
        </p:nvSpPr>
        <p:spPr bwMode="auto">
          <a:xfrm>
            <a:off x="2078218" y="3069680"/>
            <a:ext cx="4416063" cy="3022412"/>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itchFamily="34" charset="0"/>
              <a:buNone/>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
        <p:nvSpPr>
          <p:cNvPr id="37890" name="矩形 4">
            <a:extLst>
              <a:ext uri="{FF2B5EF4-FFF2-40B4-BE49-F238E27FC236}">
                <a16:creationId xmlns:a16="http://schemas.microsoft.com/office/drawing/2014/main" id="{BEA47E10-C225-467C-9FDC-EE784E0F7370}"/>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7891" name="灯片编号占位符 3">
            <a:extLst>
              <a:ext uri="{FF2B5EF4-FFF2-40B4-BE49-F238E27FC236}">
                <a16:creationId xmlns:a16="http://schemas.microsoft.com/office/drawing/2014/main" id="{5076423E-6F58-486D-BB4F-6E8A84AF9B3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84A58526-F708-42B3-9BF9-8E6CD3A3250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36</a:t>
            </a:fld>
            <a:endParaRPr lang="en-US" altLang="zh-CN" sz="1400">
              <a:solidFill>
                <a:srgbClr val="000000"/>
              </a:solidFill>
              <a:latin typeface="Arial" panose="020B0604020202020204" pitchFamily="34" charset="0"/>
            </a:endParaRPr>
          </a:p>
        </p:txBody>
      </p:sp>
      <p:sp>
        <p:nvSpPr>
          <p:cNvPr id="37892" name="TextBox 5">
            <a:extLst>
              <a:ext uri="{FF2B5EF4-FFF2-40B4-BE49-F238E27FC236}">
                <a16:creationId xmlns:a16="http://schemas.microsoft.com/office/drawing/2014/main" id="{CFFD55BA-FFF4-45F0-BCB5-4A490C1CBE91}"/>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7893" name="Rectangle 2">
            <a:extLst>
              <a:ext uri="{FF2B5EF4-FFF2-40B4-BE49-F238E27FC236}">
                <a16:creationId xmlns:a16="http://schemas.microsoft.com/office/drawing/2014/main" id="{29E609E5-84C3-47FC-963B-3372A2BEB3FA}"/>
              </a:ext>
            </a:extLst>
          </p:cNvPr>
          <p:cNvSpPr>
            <a:spLocks noGrp="1" noChangeArrowheads="1"/>
          </p:cNvSpPr>
          <p:nvPr/>
        </p:nvSpPr>
        <p:spPr bwMode="auto">
          <a:xfrm>
            <a:off x="581993" y="2304584"/>
            <a:ext cx="748823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rPr>
              <a:t>以任意方向为例（</a:t>
            </a:r>
            <a:r>
              <a:rPr lang="en-US" altLang="zh-CN" sz="2400" dirty="0">
                <a:solidFill>
                  <a:srgbClr val="000000"/>
                </a:solidFill>
                <a:latin typeface="微软雅黑" panose="020B0503020204020204" pitchFamily="34" charset="-122"/>
                <a:ea typeface="微软雅黑" panose="020B0503020204020204" pitchFamily="34" charset="-122"/>
              </a:rPr>
              <a:t>P</a:t>
            </a:r>
            <a:r>
              <a:rPr lang="zh-CN" altLang="en-US" sz="2400" dirty="0">
                <a:solidFill>
                  <a:srgbClr val="000000"/>
                </a:solidFill>
                <a:latin typeface="微软雅黑" panose="020B0503020204020204" pitchFamily="34" charset="-122"/>
                <a:ea typeface="微软雅黑" panose="020B0503020204020204" pitchFamily="34" charset="-122"/>
              </a:rPr>
              <a:t>方向）推导电阻变化：</a:t>
            </a:r>
            <a:endParaRPr lang="zh-CN" altLang="en-US" sz="1800" dirty="0">
              <a:latin typeface="微软雅黑" panose="020B0503020204020204" pitchFamily="34" charset="-122"/>
              <a:ea typeface="微软雅黑" panose="020B0503020204020204" pitchFamily="34" charset="-122"/>
            </a:endParaRPr>
          </a:p>
        </p:txBody>
      </p:sp>
      <p:grpSp>
        <p:nvGrpSpPr>
          <p:cNvPr id="33798" name="Group 3">
            <a:extLst>
              <a:ext uri="{FF2B5EF4-FFF2-40B4-BE49-F238E27FC236}">
                <a16:creationId xmlns:a16="http://schemas.microsoft.com/office/drawing/2014/main" id="{6F5DFF7F-2D98-4906-9AB9-3988E0D0752E}"/>
              </a:ext>
            </a:extLst>
          </p:cNvPr>
          <p:cNvGrpSpPr>
            <a:grpSpLocks/>
          </p:cNvGrpSpPr>
          <p:nvPr/>
        </p:nvGrpSpPr>
        <p:grpSpPr bwMode="auto">
          <a:xfrm>
            <a:off x="2358101" y="3069680"/>
            <a:ext cx="3942687" cy="2785104"/>
            <a:chOff x="270" y="0"/>
            <a:chExt cx="2366" cy="2148"/>
          </a:xfrm>
        </p:grpSpPr>
        <p:sp>
          <p:nvSpPr>
            <p:cNvPr id="37895" name="Line 4">
              <a:extLst>
                <a:ext uri="{FF2B5EF4-FFF2-40B4-BE49-F238E27FC236}">
                  <a16:creationId xmlns:a16="http://schemas.microsoft.com/office/drawing/2014/main" id="{641E7139-18AE-4845-8D4E-83FFEE9F174B}"/>
                </a:ext>
              </a:extLst>
            </p:cNvPr>
            <p:cNvSpPr>
              <a:spLocks noChangeShapeType="1"/>
            </p:cNvSpPr>
            <p:nvPr/>
          </p:nvSpPr>
          <p:spPr bwMode="auto">
            <a:xfrm>
              <a:off x="816" y="1584"/>
              <a:ext cx="1632"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6" name="Line 5">
              <a:extLst>
                <a:ext uri="{FF2B5EF4-FFF2-40B4-BE49-F238E27FC236}">
                  <a16:creationId xmlns:a16="http://schemas.microsoft.com/office/drawing/2014/main" id="{394D9E84-EA69-4A71-B5D5-0898F50D6B26}"/>
                </a:ext>
              </a:extLst>
            </p:cNvPr>
            <p:cNvSpPr>
              <a:spLocks noChangeShapeType="1"/>
            </p:cNvSpPr>
            <p:nvPr/>
          </p:nvSpPr>
          <p:spPr bwMode="auto">
            <a:xfrm flipV="1">
              <a:off x="816" y="288"/>
              <a:ext cx="1" cy="1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7" name="Line 6">
              <a:extLst>
                <a:ext uri="{FF2B5EF4-FFF2-40B4-BE49-F238E27FC236}">
                  <a16:creationId xmlns:a16="http://schemas.microsoft.com/office/drawing/2014/main" id="{3A66C621-5309-41C6-8AF5-9D9318061D14}"/>
                </a:ext>
              </a:extLst>
            </p:cNvPr>
            <p:cNvSpPr>
              <a:spLocks noChangeShapeType="1"/>
            </p:cNvSpPr>
            <p:nvPr/>
          </p:nvSpPr>
          <p:spPr bwMode="auto">
            <a:xfrm flipH="1">
              <a:off x="270" y="1584"/>
              <a:ext cx="546" cy="5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8" name="Line 7">
              <a:extLst>
                <a:ext uri="{FF2B5EF4-FFF2-40B4-BE49-F238E27FC236}">
                  <a16:creationId xmlns:a16="http://schemas.microsoft.com/office/drawing/2014/main" id="{6B784A71-343C-4CE9-9019-1B1B872FEA4E}"/>
                </a:ext>
              </a:extLst>
            </p:cNvPr>
            <p:cNvSpPr>
              <a:spLocks noChangeShapeType="1"/>
            </p:cNvSpPr>
            <p:nvPr/>
          </p:nvSpPr>
          <p:spPr bwMode="auto">
            <a:xfrm flipV="1">
              <a:off x="816" y="576"/>
              <a:ext cx="1632"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899" name="Rectangle 8">
              <a:extLst>
                <a:ext uri="{FF2B5EF4-FFF2-40B4-BE49-F238E27FC236}">
                  <a16:creationId xmlns:a16="http://schemas.microsoft.com/office/drawing/2014/main" id="{C5B22BFA-5509-48D3-A737-BCA10CFCC8C4}"/>
                </a:ext>
              </a:extLst>
            </p:cNvPr>
            <p:cNvSpPr>
              <a:spLocks noChangeArrowheads="1"/>
            </p:cNvSpPr>
            <p:nvPr/>
          </p:nvSpPr>
          <p:spPr bwMode="auto">
            <a:xfrm rot="-1800000">
              <a:off x="1296" y="1008"/>
              <a:ext cx="624" cy="144"/>
            </a:xfrm>
            <a:prstGeom prst="rect">
              <a:avLst/>
            </a:prstGeom>
            <a:solidFill>
              <a:srgbClr val="00CC9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7900" name="Rectangle 9">
              <a:extLst>
                <a:ext uri="{FF2B5EF4-FFF2-40B4-BE49-F238E27FC236}">
                  <a16:creationId xmlns:a16="http://schemas.microsoft.com/office/drawing/2014/main" id="{FF0F247B-FB71-4B7D-B75D-F8AA900693E4}"/>
                </a:ext>
              </a:extLst>
            </p:cNvPr>
            <p:cNvSpPr>
              <a:spLocks noChangeArrowheads="1"/>
            </p:cNvSpPr>
            <p:nvPr/>
          </p:nvSpPr>
          <p:spPr bwMode="auto">
            <a:xfrm rot="-1800000">
              <a:off x="1872" y="864"/>
              <a:ext cx="48" cy="96"/>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7901" name="Rectangle 10">
              <a:extLst>
                <a:ext uri="{FF2B5EF4-FFF2-40B4-BE49-F238E27FC236}">
                  <a16:creationId xmlns:a16="http://schemas.microsoft.com/office/drawing/2014/main" id="{04BFFA20-A50E-4757-A6C4-91D2C6111233}"/>
                </a:ext>
              </a:extLst>
            </p:cNvPr>
            <p:cNvSpPr>
              <a:spLocks noChangeArrowheads="1"/>
            </p:cNvSpPr>
            <p:nvPr/>
          </p:nvSpPr>
          <p:spPr bwMode="auto">
            <a:xfrm rot="-1800000">
              <a:off x="1296" y="1200"/>
              <a:ext cx="48" cy="96"/>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7902" name="Line 11">
              <a:extLst>
                <a:ext uri="{FF2B5EF4-FFF2-40B4-BE49-F238E27FC236}">
                  <a16:creationId xmlns:a16="http://schemas.microsoft.com/office/drawing/2014/main" id="{A574C15B-B079-4047-8DCA-B0563A56B63D}"/>
                </a:ext>
              </a:extLst>
            </p:cNvPr>
            <p:cNvSpPr>
              <a:spLocks noChangeShapeType="1"/>
            </p:cNvSpPr>
            <p:nvPr/>
          </p:nvSpPr>
          <p:spPr bwMode="auto">
            <a:xfrm flipV="1">
              <a:off x="1536" y="1152"/>
              <a:ext cx="48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3" name="Line 12">
              <a:extLst>
                <a:ext uri="{FF2B5EF4-FFF2-40B4-BE49-F238E27FC236}">
                  <a16:creationId xmlns:a16="http://schemas.microsoft.com/office/drawing/2014/main" id="{16DE100A-9F89-4037-85FA-A9456014CDC4}"/>
                </a:ext>
              </a:extLst>
            </p:cNvPr>
            <p:cNvSpPr>
              <a:spLocks noChangeShapeType="1"/>
            </p:cNvSpPr>
            <p:nvPr/>
          </p:nvSpPr>
          <p:spPr bwMode="auto">
            <a:xfrm flipV="1">
              <a:off x="1440" y="720"/>
              <a:ext cx="384"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4" name="Line 13">
              <a:extLst>
                <a:ext uri="{FF2B5EF4-FFF2-40B4-BE49-F238E27FC236}">
                  <a16:creationId xmlns:a16="http://schemas.microsoft.com/office/drawing/2014/main" id="{3ADF717A-F003-4515-A60A-12B22EE38281}"/>
                </a:ext>
              </a:extLst>
            </p:cNvPr>
            <p:cNvSpPr>
              <a:spLocks noChangeShapeType="1"/>
            </p:cNvSpPr>
            <p:nvPr/>
          </p:nvSpPr>
          <p:spPr bwMode="auto">
            <a:xfrm flipH="1" flipV="1">
              <a:off x="1259" y="672"/>
              <a:ext cx="19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05" name="Rectangle 14">
              <a:extLst>
                <a:ext uri="{FF2B5EF4-FFF2-40B4-BE49-F238E27FC236}">
                  <a16:creationId xmlns:a16="http://schemas.microsoft.com/office/drawing/2014/main" id="{1416AB75-0C9C-47A5-8188-E662186BB627}"/>
                </a:ext>
              </a:extLst>
            </p:cNvPr>
            <p:cNvSpPr>
              <a:spLocks noChangeArrowheads="1"/>
            </p:cNvSpPr>
            <p:nvPr/>
          </p:nvSpPr>
          <p:spPr bwMode="auto">
            <a:xfrm>
              <a:off x="1636" y="38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σ</a:t>
              </a:r>
              <a:r>
                <a:rPr lang="en-US" altLang="zh-CN" sz="2400" b="1" baseline="-25000">
                  <a:solidFill>
                    <a:srgbClr val="000000"/>
                  </a:solidFill>
                  <a:latin typeface="Times New Roman" panose="02020603050405020304" pitchFamily="18" charset="0"/>
                  <a:sym typeface="Times New Roman" panose="02020603050405020304" pitchFamily="18" charset="0"/>
                </a:rPr>
                <a:t>//</a:t>
              </a:r>
              <a:endParaRPr lang="en-US" altLang="zh-CN" sz="2400" baseline="-25000">
                <a:solidFill>
                  <a:srgbClr val="000000"/>
                </a:solidFill>
                <a:latin typeface="Times New Roman" panose="02020603050405020304" pitchFamily="18" charset="0"/>
                <a:sym typeface="Times New Roman" panose="02020603050405020304" pitchFamily="18" charset="0"/>
              </a:endParaRPr>
            </a:p>
          </p:txBody>
        </p:sp>
        <p:sp>
          <p:nvSpPr>
            <p:cNvPr id="37906" name="Rectangle 15">
              <a:extLst>
                <a:ext uri="{FF2B5EF4-FFF2-40B4-BE49-F238E27FC236}">
                  <a16:creationId xmlns:a16="http://schemas.microsoft.com/office/drawing/2014/main" id="{87999ABB-A12C-4D8C-82E5-0BDF66AC6BA8}"/>
                </a:ext>
              </a:extLst>
            </p:cNvPr>
            <p:cNvSpPr>
              <a:spLocks noChangeArrowheads="1"/>
            </p:cNvSpPr>
            <p:nvPr/>
          </p:nvSpPr>
          <p:spPr bwMode="auto">
            <a:xfrm>
              <a:off x="912" y="43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σ</a:t>
              </a:r>
              <a:r>
                <a:rPr lang="en-US" altLang="zh-CN" sz="2400" b="1" baseline="-25000">
                  <a:solidFill>
                    <a:srgbClr val="000000"/>
                  </a:solidFill>
                  <a:latin typeface="Times New Roman" panose="02020603050405020304" pitchFamily="18" charset="0"/>
                  <a:sym typeface="Times New Roman" panose="02020603050405020304" pitchFamily="18" charset="0"/>
                </a:rPr>
                <a:t>⊥</a:t>
              </a:r>
              <a:endParaRPr lang="en-US" altLang="zh-CN" sz="2400" baseline="-25000">
                <a:solidFill>
                  <a:srgbClr val="000000"/>
                </a:solidFill>
                <a:latin typeface="Times New Roman" panose="02020603050405020304" pitchFamily="18" charset="0"/>
                <a:sym typeface="Times New Roman" panose="02020603050405020304" pitchFamily="18" charset="0"/>
              </a:endParaRPr>
            </a:p>
          </p:txBody>
        </p:sp>
        <p:sp>
          <p:nvSpPr>
            <p:cNvPr id="37907" name="Rectangle 16">
              <a:extLst>
                <a:ext uri="{FF2B5EF4-FFF2-40B4-BE49-F238E27FC236}">
                  <a16:creationId xmlns:a16="http://schemas.microsoft.com/office/drawing/2014/main" id="{E3384653-F0C2-43EF-9B9C-4C713D7CB722}"/>
                </a:ext>
              </a:extLst>
            </p:cNvPr>
            <p:cNvSpPr>
              <a:spLocks noChangeArrowheads="1"/>
            </p:cNvSpPr>
            <p:nvPr/>
          </p:nvSpPr>
          <p:spPr bwMode="auto">
            <a:xfrm>
              <a:off x="1968" y="432"/>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p</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37908" name="Rectangle 17">
              <a:extLst>
                <a:ext uri="{FF2B5EF4-FFF2-40B4-BE49-F238E27FC236}">
                  <a16:creationId xmlns:a16="http://schemas.microsoft.com/office/drawing/2014/main" id="{6DEDA4F0-8A78-42D5-B904-BBE44AA03394}"/>
                </a:ext>
              </a:extLst>
            </p:cNvPr>
            <p:cNvSpPr>
              <a:spLocks noChangeArrowheads="1"/>
            </p:cNvSpPr>
            <p:nvPr/>
          </p:nvSpPr>
          <p:spPr bwMode="auto">
            <a:xfrm>
              <a:off x="912" y="72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Q</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37909" name="Rectangle 18">
              <a:extLst>
                <a:ext uri="{FF2B5EF4-FFF2-40B4-BE49-F238E27FC236}">
                  <a16:creationId xmlns:a16="http://schemas.microsoft.com/office/drawing/2014/main" id="{425C5DE4-50F6-4CCF-82AB-A4B9EA0344F2}"/>
                </a:ext>
              </a:extLst>
            </p:cNvPr>
            <p:cNvSpPr>
              <a:spLocks noChangeArrowheads="1"/>
            </p:cNvSpPr>
            <p:nvPr/>
          </p:nvSpPr>
          <p:spPr bwMode="auto">
            <a:xfrm>
              <a:off x="373" y="186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dirty="0">
                  <a:solidFill>
                    <a:srgbClr val="000000"/>
                  </a:solidFill>
                  <a:latin typeface="Times New Roman" panose="02020603050405020304" pitchFamily="18" charset="0"/>
                  <a:sym typeface="Times New Roman" panose="02020603050405020304" pitchFamily="18" charset="0"/>
                </a:rPr>
                <a:t>1</a:t>
              </a:r>
              <a:endParaRPr lang="en-US" altLang="zh-CN" sz="2400" b="1" baseline="-25000" dirty="0">
                <a:solidFill>
                  <a:srgbClr val="000000"/>
                </a:solidFill>
                <a:latin typeface="Times New Roman" panose="02020603050405020304" pitchFamily="18" charset="0"/>
                <a:sym typeface="Times New Roman" panose="02020603050405020304" pitchFamily="18" charset="0"/>
              </a:endParaRPr>
            </a:p>
          </p:txBody>
        </p:sp>
        <p:sp>
          <p:nvSpPr>
            <p:cNvPr id="37910" name="Rectangle 19">
              <a:extLst>
                <a:ext uri="{FF2B5EF4-FFF2-40B4-BE49-F238E27FC236}">
                  <a16:creationId xmlns:a16="http://schemas.microsoft.com/office/drawing/2014/main" id="{5235CCC8-99B7-42CD-802D-8DB7762BD9C1}"/>
                </a:ext>
              </a:extLst>
            </p:cNvPr>
            <p:cNvSpPr>
              <a:spLocks noChangeArrowheads="1"/>
            </p:cNvSpPr>
            <p:nvPr/>
          </p:nvSpPr>
          <p:spPr bwMode="auto">
            <a:xfrm>
              <a:off x="216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2</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37911" name="Rectangle 20">
              <a:extLst>
                <a:ext uri="{FF2B5EF4-FFF2-40B4-BE49-F238E27FC236}">
                  <a16:creationId xmlns:a16="http://schemas.microsoft.com/office/drawing/2014/main" id="{D790519E-5894-4E14-ADB9-9086200D901B}"/>
                </a:ext>
              </a:extLst>
            </p:cNvPr>
            <p:cNvSpPr>
              <a:spLocks noChangeArrowheads="1"/>
            </p:cNvSpPr>
            <p:nvPr/>
          </p:nvSpPr>
          <p:spPr bwMode="auto">
            <a:xfrm>
              <a:off x="480" y="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3</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37912" name="Rectangle 21">
              <a:extLst>
                <a:ext uri="{FF2B5EF4-FFF2-40B4-BE49-F238E27FC236}">
                  <a16:creationId xmlns:a16="http://schemas.microsoft.com/office/drawing/2014/main" id="{E1F72F0A-1449-4CBF-955E-444E6E8AB209}"/>
                </a:ext>
              </a:extLst>
            </p:cNvPr>
            <p:cNvSpPr>
              <a:spLocks noChangeArrowheads="1"/>
            </p:cNvSpPr>
            <p:nvPr/>
          </p:nvSpPr>
          <p:spPr bwMode="auto">
            <a:xfrm>
              <a:off x="168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I</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grpSp>
      <p:sp>
        <p:nvSpPr>
          <p:cNvPr id="25" name="矩形 24">
            <a:extLst>
              <a:ext uri="{FF2B5EF4-FFF2-40B4-BE49-F238E27FC236}">
                <a16:creationId xmlns:a16="http://schemas.microsoft.com/office/drawing/2014/main" id="{8B05CEE7-B06C-458D-B963-ECEF4F765EEC}"/>
              </a:ext>
            </a:extLst>
          </p:cNvPr>
          <p:cNvSpPr/>
          <p:nvPr/>
        </p:nvSpPr>
        <p:spPr>
          <a:xfrm>
            <a:off x="603440" y="1178442"/>
            <a:ext cx="7712820" cy="830997"/>
          </a:xfrm>
          <a:prstGeom prst="rect">
            <a:avLst/>
          </a:prstGeom>
        </p:spPr>
        <p:txBody>
          <a:bodyPr wrap="square">
            <a:spAutoFit/>
          </a:bodyPr>
          <a:lstStyle/>
          <a:p>
            <a:pPr marL="342900" indent="-342900" eaLnBrk="1" hangingPunct="1">
              <a:spcBef>
                <a:spcPct val="50000"/>
              </a:spcBef>
              <a:buClr>
                <a:srgbClr val="D60093"/>
              </a:buClr>
              <a:buSzPct val="75000"/>
              <a:buFont typeface="Wingdings" panose="05000000000000000000" pitchFamily="2" charset="2"/>
              <a:buChar char="u"/>
            </a:pPr>
            <a:r>
              <a:rPr lang="zh-CN" altLang="en-US" sz="2400" dirty="0">
                <a:latin typeface="微软雅黑" panose="020B0503020204020204" pitchFamily="34" charset="-122"/>
                <a:ea typeface="微软雅黑" panose="020B0503020204020204" pitchFamily="34" charset="-122"/>
                <a:sym typeface="Times New Roman" panose="02020603050405020304" pitchFamily="18" charset="0"/>
              </a:rPr>
              <a:t>由于压力传感器膜片，在厚度方向上的长度可以忽略，因而，</a:t>
            </a:r>
            <a:r>
              <a:rPr lang="zh-CN" altLang="en-US" sz="2400" dirty="0">
                <a:solidFill>
                  <a:srgbClr val="FF0000"/>
                </a:solidFill>
                <a:latin typeface="微软雅黑" panose="020B0503020204020204" pitchFamily="34" charset="-122"/>
                <a:ea typeface="微软雅黑" panose="020B0503020204020204" pitchFamily="34" charset="-122"/>
                <a:sym typeface="Times New Roman" panose="02020603050405020304" pitchFamily="18" charset="0"/>
              </a:rPr>
              <a:t>还可以简化</a:t>
            </a:r>
            <a:r>
              <a:rPr lang="en-US" altLang="zh-CN" sz="2400" dirty="0">
                <a:solidFill>
                  <a:srgbClr val="FF0000"/>
                </a:solidFill>
                <a:latin typeface="微软雅黑" panose="020B0503020204020204" pitchFamily="34" charset="-122"/>
                <a:ea typeface="微软雅黑" panose="020B0503020204020204" pitchFamily="34" charset="-122"/>
                <a:sym typeface="Times New Roman" panose="02020603050405020304" pitchFamily="18" charset="0"/>
              </a:rPr>
              <a:t>!</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6CA1F0E-2685-419A-AEEB-98B06A426481}"/>
              </a:ext>
            </a:extLst>
          </p:cNvPr>
          <p:cNvSpPr/>
          <p:nvPr/>
        </p:nvSpPr>
        <p:spPr>
          <a:xfrm>
            <a:off x="6698509" y="4226245"/>
            <a:ext cx="2097049" cy="461665"/>
          </a:xfrm>
          <a:prstGeom prst="rect">
            <a:avLst/>
          </a:prstGeom>
        </p:spPr>
        <p:txBody>
          <a:bodyPr wrap="none">
            <a:sp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σ</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：纵向应力</a:t>
            </a:r>
            <a:endParaRPr lang="zh-CN" altLang="en-US" sz="2400" dirty="0"/>
          </a:p>
        </p:txBody>
      </p:sp>
      <p:sp>
        <p:nvSpPr>
          <p:cNvPr id="3" name="矩形 2">
            <a:extLst>
              <a:ext uri="{FF2B5EF4-FFF2-40B4-BE49-F238E27FC236}">
                <a16:creationId xmlns:a16="http://schemas.microsoft.com/office/drawing/2014/main" id="{85DF88BD-17C1-40DA-9E5C-57775675CEC7}"/>
              </a:ext>
            </a:extLst>
          </p:cNvPr>
          <p:cNvSpPr/>
          <p:nvPr/>
        </p:nvSpPr>
        <p:spPr>
          <a:xfrm>
            <a:off x="6698508" y="3426028"/>
            <a:ext cx="2097049" cy="461665"/>
          </a:xfrm>
          <a:prstGeom prst="rect">
            <a:avLst/>
          </a:prstGeom>
        </p:spPr>
        <p:txBody>
          <a:bodyPr wrap="none">
            <a:spAutoFit/>
          </a:bodyPr>
          <a:lstStyle/>
          <a:p>
            <a:pPr eaLnBrk="1" hangingPunct="1">
              <a:spcBef>
                <a:spcPct val="50000"/>
              </a:spcBef>
              <a:buClr>
                <a:srgbClr val="D60093"/>
              </a:buClr>
              <a:buSzPct val="75000"/>
              <a:buFont typeface="Wingdings" panose="05000000000000000000" pitchFamily="2" charset="2"/>
              <a:buNone/>
            </a:pP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σ</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：横向应力</a:t>
            </a:r>
          </a:p>
        </p:txBody>
      </p:sp>
      <p:sp>
        <p:nvSpPr>
          <p:cNvPr id="28" name="矩形 27">
            <a:extLst>
              <a:ext uri="{FF2B5EF4-FFF2-40B4-BE49-F238E27FC236}">
                <a16:creationId xmlns:a16="http://schemas.microsoft.com/office/drawing/2014/main" id="{64127DED-F238-4A23-9ED3-9DBDCCDF30CE}"/>
              </a:ext>
            </a:extLst>
          </p:cNvPr>
          <p:cNvSpPr/>
          <p:nvPr/>
        </p:nvSpPr>
        <p:spPr>
          <a:xfrm>
            <a:off x="6898143" y="5026462"/>
            <a:ext cx="1843774" cy="461665"/>
          </a:xfrm>
          <a:prstGeom prst="rect">
            <a:avLst/>
          </a:prstGeom>
        </p:spPr>
        <p:txBody>
          <a:bodyPr wrap="none">
            <a:spAutoFit/>
          </a:bodyPr>
          <a:lstStyle/>
          <a:p>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I</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：电流方向</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3798"/>
                                        </p:tgtEl>
                                        <p:attrNameLst>
                                          <p:attrName>style.visibility</p:attrName>
                                        </p:attrNameLst>
                                      </p:cBhvr>
                                      <p:to>
                                        <p:strVal val="visible"/>
                                      </p:to>
                                    </p:set>
                                    <p:animEffect filter="dissolve">
                                      <p:cBhvr>
                                        <p:cTn id="7" dur="500"/>
                                        <p:tgtEl>
                                          <p:spTgt spid="337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矩形 4">
            <a:extLst>
              <a:ext uri="{FF2B5EF4-FFF2-40B4-BE49-F238E27FC236}">
                <a16:creationId xmlns:a16="http://schemas.microsoft.com/office/drawing/2014/main" id="{8AF4B5B4-005D-4EEF-9F36-10DEFFE68FD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8915" name="灯片编号占位符 3">
            <a:extLst>
              <a:ext uri="{FF2B5EF4-FFF2-40B4-BE49-F238E27FC236}">
                <a16:creationId xmlns:a16="http://schemas.microsoft.com/office/drawing/2014/main" id="{F65A0E42-D049-4DED-BA9F-B441218467C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141F086-806F-47B6-B259-19D5B28A0F6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37</a:t>
            </a:fld>
            <a:endParaRPr lang="en-US" altLang="zh-CN" sz="1400">
              <a:solidFill>
                <a:srgbClr val="000000"/>
              </a:solidFill>
              <a:latin typeface="Arial" panose="020B0604020202020204" pitchFamily="34" charset="0"/>
            </a:endParaRPr>
          </a:p>
        </p:txBody>
      </p:sp>
      <p:sp>
        <p:nvSpPr>
          <p:cNvPr id="38916" name="TextBox 5">
            <a:extLst>
              <a:ext uri="{FF2B5EF4-FFF2-40B4-BE49-F238E27FC236}">
                <a16:creationId xmlns:a16="http://schemas.microsoft.com/office/drawing/2014/main" id="{265C99AF-2236-4D96-BF66-F834F09B5D5C}"/>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34821" name="Object 5" descr="白色大理石">
            <a:extLst>
              <a:ext uri="{FF2B5EF4-FFF2-40B4-BE49-F238E27FC236}">
                <a16:creationId xmlns:a16="http://schemas.microsoft.com/office/drawing/2014/main" id="{7E72D564-ECF2-4B62-8359-5D307AE5E8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844675"/>
            <a:ext cx="3328987" cy="1038225"/>
          </a:xfrm>
          <a:prstGeom prst="rect">
            <a:avLst/>
          </a:prstGeom>
          <a:solidFill>
            <a:schemeClr val="bg2">
              <a:lumMod val="75000"/>
            </a:schemeClr>
          </a:solidFill>
          <a:ln>
            <a:noFill/>
          </a:ln>
          <a:effectLst>
            <a:outerShdw blurRad="190500" dist="228600" dir="2700000" algn="ctr">
              <a:srgbClr val="000000">
                <a:alpha val="30000"/>
              </a:srgbClr>
            </a:outerShdw>
          </a:effectLst>
          <a:extLst/>
        </p:spPr>
      </p:pic>
      <p:sp>
        <p:nvSpPr>
          <p:cNvPr id="34822" name="Text Box 3" descr="信纸">
            <a:extLst>
              <a:ext uri="{FF2B5EF4-FFF2-40B4-BE49-F238E27FC236}">
                <a16:creationId xmlns:a16="http://schemas.microsoft.com/office/drawing/2014/main" id="{D93D28C8-9757-41E6-9FEB-1B4EA130A399}"/>
              </a:ext>
            </a:extLst>
          </p:cNvPr>
          <p:cNvSpPr>
            <a:spLocks noChangeArrowheads="1"/>
          </p:cNvSpPr>
          <p:nvPr/>
        </p:nvSpPr>
        <p:spPr bwMode="auto">
          <a:xfrm>
            <a:off x="4356100" y="1412875"/>
            <a:ext cx="403225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其中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σ</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：纵向应力</a:t>
            </a:r>
          </a:p>
          <a:p>
            <a:pPr eaLnBrk="1" hangingPunct="1">
              <a:spcBef>
                <a:spcPct val="50000"/>
              </a:spcBef>
              <a:buClr>
                <a:srgbClr val="D60093"/>
              </a:buClr>
              <a:buSzPct val="75000"/>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σ</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：横向应力</a:t>
            </a:r>
          </a:p>
          <a:p>
            <a:pPr eaLnBrk="1" hangingPunct="1">
              <a:spcBef>
                <a:spcPct val="50000"/>
              </a:spcBef>
              <a:buClr>
                <a:srgbClr val="D60093"/>
              </a:buClr>
              <a:buSzPct val="75000"/>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π</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：纵向压阻系数</a:t>
            </a:r>
          </a:p>
          <a:p>
            <a:pPr eaLnBrk="1" hangingPunct="1">
              <a:spcBef>
                <a:spcPct val="50000"/>
              </a:spcBef>
              <a:buClr>
                <a:srgbClr val="D60093"/>
              </a:buClr>
              <a:buSzPct val="75000"/>
              <a:buFont typeface="Wingdings" panose="05000000000000000000" pitchFamily="2" charset="2"/>
              <a:buNone/>
            </a:pP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a:t>
            </a:r>
            <a:r>
              <a:rPr lang="en-US" altLang="zh-CN"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π</a:t>
            </a:r>
            <a:r>
              <a:rPr lang="en-US" altLang="zh-CN" sz="2400" b="1" baseline="-25000"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：横向压阻系数</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8919" name="Rectangle 2">
            <a:extLst>
              <a:ext uri="{FF2B5EF4-FFF2-40B4-BE49-F238E27FC236}">
                <a16:creationId xmlns:a16="http://schemas.microsoft.com/office/drawing/2014/main" id="{96E20B8A-6571-4E92-B01C-ED6A9D1148BA}"/>
              </a:ext>
            </a:extLst>
          </p:cNvPr>
          <p:cNvSpPr>
            <a:spLocks noGrp="1" noChangeArrowheads="1"/>
          </p:cNvSpPr>
          <p:nvPr/>
        </p:nvSpPr>
        <p:spPr bwMode="auto">
          <a:xfrm>
            <a:off x="179388" y="3717925"/>
            <a:ext cx="68405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将各个压阻系数向</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P</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Q</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方向投影，可得：</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4824" name="Object 8" descr="白色大理石">
            <a:extLst>
              <a:ext uri="{FF2B5EF4-FFF2-40B4-BE49-F238E27FC236}">
                <a16:creationId xmlns:a16="http://schemas.microsoft.com/office/drawing/2014/main" id="{F6DC1747-ED6F-4BB6-B2DB-9C4D3AFEA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338" y="4302125"/>
            <a:ext cx="6353175" cy="612775"/>
          </a:xfrm>
          <a:prstGeom prst="rect">
            <a:avLst/>
          </a:prstGeom>
          <a:solidFill>
            <a:schemeClr val="bg2">
              <a:lumMod val="90000"/>
            </a:schemeClr>
          </a:solidFill>
          <a:ln>
            <a:noFill/>
          </a:ln>
        </p:spPr>
      </p:pic>
      <p:pic>
        <p:nvPicPr>
          <p:cNvPr id="34825" name="Object 9" descr="白色大理石">
            <a:extLst>
              <a:ext uri="{FF2B5EF4-FFF2-40B4-BE49-F238E27FC236}">
                <a16:creationId xmlns:a16="http://schemas.microsoft.com/office/drawing/2014/main" id="{B31F84AA-6344-409F-AAF7-7A33D95422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5014913"/>
            <a:ext cx="6359525" cy="560387"/>
          </a:xfrm>
          <a:prstGeom prst="rect">
            <a:avLst/>
          </a:prstGeom>
          <a:solidFill>
            <a:schemeClr val="bg2">
              <a:lumMod val="90000"/>
            </a:schemeClr>
          </a:solidFill>
          <a:ln>
            <a:noFill/>
          </a:ln>
        </p:spPr>
      </p:pic>
      <p:sp>
        <p:nvSpPr>
          <p:cNvPr id="34826" name="Text Box 5" descr="信纸">
            <a:extLst>
              <a:ext uri="{FF2B5EF4-FFF2-40B4-BE49-F238E27FC236}">
                <a16:creationId xmlns:a16="http://schemas.microsoft.com/office/drawing/2014/main" id="{F6FF7BFF-F079-4F50-B723-87A0BF1E32A8}"/>
              </a:ext>
            </a:extLst>
          </p:cNvPr>
          <p:cNvSpPr>
            <a:spLocks noChangeArrowheads="1"/>
          </p:cNvSpPr>
          <p:nvPr/>
        </p:nvSpPr>
        <p:spPr bwMode="auto">
          <a:xfrm>
            <a:off x="1116013" y="5661025"/>
            <a:ext cx="76311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l</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1</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m</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1</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n</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1</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):P</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方向余弦    </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l</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2</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m</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2</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n</a:t>
            </a:r>
            <a:r>
              <a:rPr lang="en-US" altLang="zh-CN" sz="2400" baseline="-250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2</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):Q</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方向余弦</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 name="组合 1">
            <a:extLst>
              <a:ext uri="{FF2B5EF4-FFF2-40B4-BE49-F238E27FC236}">
                <a16:creationId xmlns:a16="http://schemas.microsoft.com/office/drawing/2014/main" id="{DC1F0645-8FAB-4C3F-98F2-2224E87E6C38}"/>
              </a:ext>
            </a:extLst>
          </p:cNvPr>
          <p:cNvGrpSpPr/>
          <p:nvPr/>
        </p:nvGrpSpPr>
        <p:grpSpPr>
          <a:xfrm>
            <a:off x="4292962" y="555813"/>
            <a:ext cx="4416063" cy="3022412"/>
            <a:chOff x="2078218" y="3069680"/>
            <a:chExt cx="4416063" cy="3022412"/>
          </a:xfrm>
        </p:grpSpPr>
        <p:sp>
          <p:nvSpPr>
            <p:cNvPr id="30" name="矩形 29">
              <a:extLst>
                <a:ext uri="{FF2B5EF4-FFF2-40B4-BE49-F238E27FC236}">
                  <a16:creationId xmlns:a16="http://schemas.microsoft.com/office/drawing/2014/main" id="{797A2D28-2713-45A4-B44B-7435EC4CC4E9}"/>
                </a:ext>
              </a:extLst>
            </p:cNvPr>
            <p:cNvSpPr/>
            <p:nvPr/>
          </p:nvSpPr>
          <p:spPr bwMode="auto">
            <a:xfrm>
              <a:off x="2078218" y="3069680"/>
              <a:ext cx="4416063" cy="3022412"/>
            </a:xfrm>
            <a:prstGeom prst="rect">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itchFamily="34" charset="0"/>
                <a:buNone/>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grpSp>
          <p:nvGrpSpPr>
            <p:cNvPr id="31" name="Group 3">
              <a:extLst>
                <a:ext uri="{FF2B5EF4-FFF2-40B4-BE49-F238E27FC236}">
                  <a16:creationId xmlns:a16="http://schemas.microsoft.com/office/drawing/2014/main" id="{CF153D83-29C0-43A3-9E17-56082101978A}"/>
                </a:ext>
              </a:extLst>
            </p:cNvPr>
            <p:cNvGrpSpPr>
              <a:grpSpLocks/>
            </p:cNvGrpSpPr>
            <p:nvPr/>
          </p:nvGrpSpPr>
          <p:grpSpPr bwMode="auto">
            <a:xfrm>
              <a:off x="2358101" y="3069680"/>
              <a:ext cx="3942687" cy="2785104"/>
              <a:chOff x="270" y="0"/>
              <a:chExt cx="2366" cy="2148"/>
            </a:xfrm>
          </p:grpSpPr>
          <p:sp>
            <p:nvSpPr>
              <p:cNvPr id="32" name="Line 4">
                <a:extLst>
                  <a:ext uri="{FF2B5EF4-FFF2-40B4-BE49-F238E27FC236}">
                    <a16:creationId xmlns:a16="http://schemas.microsoft.com/office/drawing/2014/main" id="{CCB8E2F2-C9A8-4974-A4F4-3B830401C878}"/>
                  </a:ext>
                </a:extLst>
              </p:cNvPr>
              <p:cNvSpPr>
                <a:spLocks noChangeShapeType="1"/>
              </p:cNvSpPr>
              <p:nvPr/>
            </p:nvSpPr>
            <p:spPr bwMode="auto">
              <a:xfrm>
                <a:off x="816" y="1584"/>
                <a:ext cx="1632" cy="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3" name="Line 5">
                <a:extLst>
                  <a:ext uri="{FF2B5EF4-FFF2-40B4-BE49-F238E27FC236}">
                    <a16:creationId xmlns:a16="http://schemas.microsoft.com/office/drawing/2014/main" id="{2DD30FAF-0EAD-449E-A36A-2F1EB5D3E8D4}"/>
                  </a:ext>
                </a:extLst>
              </p:cNvPr>
              <p:cNvSpPr>
                <a:spLocks noChangeShapeType="1"/>
              </p:cNvSpPr>
              <p:nvPr/>
            </p:nvSpPr>
            <p:spPr bwMode="auto">
              <a:xfrm flipV="1">
                <a:off x="816" y="288"/>
                <a:ext cx="1" cy="12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4" name="Line 6">
                <a:extLst>
                  <a:ext uri="{FF2B5EF4-FFF2-40B4-BE49-F238E27FC236}">
                    <a16:creationId xmlns:a16="http://schemas.microsoft.com/office/drawing/2014/main" id="{B5CD65F8-163E-4718-81C5-70FCD3B52C56}"/>
                  </a:ext>
                </a:extLst>
              </p:cNvPr>
              <p:cNvSpPr>
                <a:spLocks noChangeShapeType="1"/>
              </p:cNvSpPr>
              <p:nvPr/>
            </p:nvSpPr>
            <p:spPr bwMode="auto">
              <a:xfrm flipH="1">
                <a:off x="270" y="1584"/>
                <a:ext cx="546" cy="5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7">
                <a:extLst>
                  <a:ext uri="{FF2B5EF4-FFF2-40B4-BE49-F238E27FC236}">
                    <a16:creationId xmlns:a16="http://schemas.microsoft.com/office/drawing/2014/main" id="{C1ABA800-0D9F-4C97-BE23-B9ABA50B0AB6}"/>
                  </a:ext>
                </a:extLst>
              </p:cNvPr>
              <p:cNvSpPr>
                <a:spLocks noChangeShapeType="1"/>
              </p:cNvSpPr>
              <p:nvPr/>
            </p:nvSpPr>
            <p:spPr bwMode="auto">
              <a:xfrm flipV="1">
                <a:off x="816" y="576"/>
                <a:ext cx="1632" cy="10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6" name="Rectangle 8">
                <a:extLst>
                  <a:ext uri="{FF2B5EF4-FFF2-40B4-BE49-F238E27FC236}">
                    <a16:creationId xmlns:a16="http://schemas.microsoft.com/office/drawing/2014/main" id="{12553FAD-6476-49F5-BDAD-7906AECA5C0F}"/>
                  </a:ext>
                </a:extLst>
              </p:cNvPr>
              <p:cNvSpPr>
                <a:spLocks noChangeArrowheads="1"/>
              </p:cNvSpPr>
              <p:nvPr/>
            </p:nvSpPr>
            <p:spPr bwMode="auto">
              <a:xfrm rot="-1800000">
                <a:off x="1296" y="1008"/>
                <a:ext cx="624" cy="144"/>
              </a:xfrm>
              <a:prstGeom prst="rect">
                <a:avLst/>
              </a:prstGeom>
              <a:solidFill>
                <a:srgbClr val="00CC99"/>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7" name="Rectangle 9">
                <a:extLst>
                  <a:ext uri="{FF2B5EF4-FFF2-40B4-BE49-F238E27FC236}">
                    <a16:creationId xmlns:a16="http://schemas.microsoft.com/office/drawing/2014/main" id="{13A08DAB-7992-4773-8D2B-99619BBFEB52}"/>
                  </a:ext>
                </a:extLst>
              </p:cNvPr>
              <p:cNvSpPr>
                <a:spLocks noChangeArrowheads="1"/>
              </p:cNvSpPr>
              <p:nvPr/>
            </p:nvSpPr>
            <p:spPr bwMode="auto">
              <a:xfrm rot="-1800000">
                <a:off x="1872" y="864"/>
                <a:ext cx="48" cy="96"/>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8" name="Rectangle 10">
                <a:extLst>
                  <a:ext uri="{FF2B5EF4-FFF2-40B4-BE49-F238E27FC236}">
                    <a16:creationId xmlns:a16="http://schemas.microsoft.com/office/drawing/2014/main" id="{DB45D0A2-88C1-4E6E-8516-CFA66151CA5A}"/>
                  </a:ext>
                </a:extLst>
              </p:cNvPr>
              <p:cNvSpPr>
                <a:spLocks noChangeArrowheads="1"/>
              </p:cNvSpPr>
              <p:nvPr/>
            </p:nvSpPr>
            <p:spPr bwMode="auto">
              <a:xfrm rot="-1800000">
                <a:off x="1296" y="1200"/>
                <a:ext cx="48" cy="96"/>
              </a:xfrm>
              <a:prstGeom prst="rect">
                <a:avLst/>
              </a:prstGeom>
              <a:solidFill>
                <a:schemeClr val="tx1"/>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2400">
                  <a:solidFill>
                    <a:srgbClr val="000000"/>
                  </a:solidFill>
                  <a:latin typeface="Arial" panose="020B0604020202020204" pitchFamily="34" charset="0"/>
                </a:endParaRPr>
              </a:p>
            </p:txBody>
          </p:sp>
          <p:sp>
            <p:nvSpPr>
              <p:cNvPr id="39" name="Line 11">
                <a:extLst>
                  <a:ext uri="{FF2B5EF4-FFF2-40B4-BE49-F238E27FC236}">
                    <a16:creationId xmlns:a16="http://schemas.microsoft.com/office/drawing/2014/main" id="{FCC453DD-522C-42FE-948D-4C599BE7EEEC}"/>
                  </a:ext>
                </a:extLst>
              </p:cNvPr>
              <p:cNvSpPr>
                <a:spLocks noChangeShapeType="1"/>
              </p:cNvSpPr>
              <p:nvPr/>
            </p:nvSpPr>
            <p:spPr bwMode="auto">
              <a:xfrm flipV="1">
                <a:off x="1536" y="1152"/>
                <a:ext cx="480"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12">
                <a:extLst>
                  <a:ext uri="{FF2B5EF4-FFF2-40B4-BE49-F238E27FC236}">
                    <a16:creationId xmlns:a16="http://schemas.microsoft.com/office/drawing/2014/main" id="{C375EAF6-C435-41A7-9BB7-0C6CAB529A56}"/>
                  </a:ext>
                </a:extLst>
              </p:cNvPr>
              <p:cNvSpPr>
                <a:spLocks noChangeShapeType="1"/>
              </p:cNvSpPr>
              <p:nvPr/>
            </p:nvSpPr>
            <p:spPr bwMode="auto">
              <a:xfrm flipV="1">
                <a:off x="1440" y="720"/>
                <a:ext cx="384"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13">
                <a:extLst>
                  <a:ext uri="{FF2B5EF4-FFF2-40B4-BE49-F238E27FC236}">
                    <a16:creationId xmlns:a16="http://schemas.microsoft.com/office/drawing/2014/main" id="{B1FCED38-9526-45B3-A511-F02D2569050A}"/>
                  </a:ext>
                </a:extLst>
              </p:cNvPr>
              <p:cNvSpPr>
                <a:spLocks noChangeShapeType="1"/>
              </p:cNvSpPr>
              <p:nvPr/>
            </p:nvSpPr>
            <p:spPr bwMode="auto">
              <a:xfrm flipH="1" flipV="1">
                <a:off x="1259" y="672"/>
                <a:ext cx="19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Rectangle 14">
                <a:extLst>
                  <a:ext uri="{FF2B5EF4-FFF2-40B4-BE49-F238E27FC236}">
                    <a16:creationId xmlns:a16="http://schemas.microsoft.com/office/drawing/2014/main" id="{6BE636E6-2EF0-4D7A-802B-2960FFEFC46E}"/>
                  </a:ext>
                </a:extLst>
              </p:cNvPr>
              <p:cNvSpPr>
                <a:spLocks noChangeArrowheads="1"/>
              </p:cNvSpPr>
              <p:nvPr/>
            </p:nvSpPr>
            <p:spPr bwMode="auto">
              <a:xfrm>
                <a:off x="1636" y="384"/>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σ</a:t>
                </a:r>
                <a:r>
                  <a:rPr lang="en-US" altLang="zh-CN" sz="2400" b="1" baseline="-25000">
                    <a:solidFill>
                      <a:srgbClr val="000000"/>
                    </a:solidFill>
                    <a:latin typeface="Times New Roman" panose="02020603050405020304" pitchFamily="18" charset="0"/>
                    <a:sym typeface="Times New Roman" panose="02020603050405020304" pitchFamily="18" charset="0"/>
                  </a:rPr>
                  <a:t>//</a:t>
                </a:r>
                <a:endParaRPr lang="en-US" altLang="zh-CN" sz="2400" baseline="-25000">
                  <a:solidFill>
                    <a:srgbClr val="000000"/>
                  </a:solidFill>
                  <a:latin typeface="Times New Roman" panose="02020603050405020304" pitchFamily="18" charset="0"/>
                  <a:sym typeface="Times New Roman" panose="02020603050405020304" pitchFamily="18" charset="0"/>
                </a:endParaRPr>
              </a:p>
            </p:txBody>
          </p:sp>
          <p:sp>
            <p:nvSpPr>
              <p:cNvPr id="43" name="Rectangle 15">
                <a:extLst>
                  <a:ext uri="{FF2B5EF4-FFF2-40B4-BE49-F238E27FC236}">
                    <a16:creationId xmlns:a16="http://schemas.microsoft.com/office/drawing/2014/main" id="{E536E6C0-A053-4EB3-9107-A9764F3A38AD}"/>
                  </a:ext>
                </a:extLst>
              </p:cNvPr>
              <p:cNvSpPr>
                <a:spLocks noChangeArrowheads="1"/>
              </p:cNvSpPr>
              <p:nvPr/>
            </p:nvSpPr>
            <p:spPr bwMode="auto">
              <a:xfrm>
                <a:off x="912" y="432"/>
                <a:ext cx="4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σ</a:t>
                </a:r>
                <a:r>
                  <a:rPr lang="en-US" altLang="zh-CN" sz="2400" b="1" baseline="-25000">
                    <a:solidFill>
                      <a:srgbClr val="000000"/>
                    </a:solidFill>
                    <a:latin typeface="Times New Roman" panose="02020603050405020304" pitchFamily="18" charset="0"/>
                    <a:sym typeface="Times New Roman" panose="02020603050405020304" pitchFamily="18" charset="0"/>
                  </a:rPr>
                  <a:t>⊥</a:t>
                </a:r>
                <a:endParaRPr lang="en-US" altLang="zh-CN" sz="2400" baseline="-25000">
                  <a:solidFill>
                    <a:srgbClr val="000000"/>
                  </a:solidFill>
                  <a:latin typeface="Times New Roman" panose="02020603050405020304" pitchFamily="18" charset="0"/>
                  <a:sym typeface="Times New Roman" panose="02020603050405020304" pitchFamily="18" charset="0"/>
                </a:endParaRPr>
              </a:p>
            </p:txBody>
          </p:sp>
          <p:sp>
            <p:nvSpPr>
              <p:cNvPr id="44" name="Rectangle 16">
                <a:extLst>
                  <a:ext uri="{FF2B5EF4-FFF2-40B4-BE49-F238E27FC236}">
                    <a16:creationId xmlns:a16="http://schemas.microsoft.com/office/drawing/2014/main" id="{85DBE107-43D7-4840-BDED-96E348D1405D}"/>
                  </a:ext>
                </a:extLst>
              </p:cNvPr>
              <p:cNvSpPr>
                <a:spLocks noChangeArrowheads="1"/>
              </p:cNvSpPr>
              <p:nvPr/>
            </p:nvSpPr>
            <p:spPr bwMode="auto">
              <a:xfrm>
                <a:off x="1968" y="432"/>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p</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45" name="Rectangle 17">
                <a:extLst>
                  <a:ext uri="{FF2B5EF4-FFF2-40B4-BE49-F238E27FC236}">
                    <a16:creationId xmlns:a16="http://schemas.microsoft.com/office/drawing/2014/main" id="{E68A1ADF-F576-4AC1-928B-8C79EA8178EC}"/>
                  </a:ext>
                </a:extLst>
              </p:cNvPr>
              <p:cNvSpPr>
                <a:spLocks noChangeArrowheads="1"/>
              </p:cNvSpPr>
              <p:nvPr/>
            </p:nvSpPr>
            <p:spPr bwMode="auto">
              <a:xfrm>
                <a:off x="912" y="72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Q</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46" name="Rectangle 18">
                <a:extLst>
                  <a:ext uri="{FF2B5EF4-FFF2-40B4-BE49-F238E27FC236}">
                    <a16:creationId xmlns:a16="http://schemas.microsoft.com/office/drawing/2014/main" id="{79EC144C-193C-40B4-AB8B-D8B3DC3E8CFF}"/>
                  </a:ext>
                </a:extLst>
              </p:cNvPr>
              <p:cNvSpPr>
                <a:spLocks noChangeArrowheads="1"/>
              </p:cNvSpPr>
              <p:nvPr/>
            </p:nvSpPr>
            <p:spPr bwMode="auto">
              <a:xfrm>
                <a:off x="373" y="1868"/>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dirty="0">
                    <a:solidFill>
                      <a:srgbClr val="000000"/>
                    </a:solidFill>
                    <a:latin typeface="Times New Roman" panose="02020603050405020304" pitchFamily="18" charset="0"/>
                    <a:sym typeface="Times New Roman" panose="02020603050405020304" pitchFamily="18" charset="0"/>
                  </a:rPr>
                  <a:t>1</a:t>
                </a:r>
                <a:endParaRPr lang="en-US" altLang="zh-CN" sz="2400" b="1" baseline="-25000" dirty="0">
                  <a:solidFill>
                    <a:srgbClr val="000000"/>
                  </a:solidFill>
                  <a:latin typeface="Times New Roman" panose="02020603050405020304" pitchFamily="18" charset="0"/>
                  <a:sym typeface="Times New Roman" panose="02020603050405020304" pitchFamily="18" charset="0"/>
                </a:endParaRPr>
              </a:p>
            </p:txBody>
          </p:sp>
          <p:sp>
            <p:nvSpPr>
              <p:cNvPr id="47" name="Rectangle 19">
                <a:extLst>
                  <a:ext uri="{FF2B5EF4-FFF2-40B4-BE49-F238E27FC236}">
                    <a16:creationId xmlns:a16="http://schemas.microsoft.com/office/drawing/2014/main" id="{03F8BD96-25A8-4641-8071-5A54C511B321}"/>
                  </a:ext>
                </a:extLst>
              </p:cNvPr>
              <p:cNvSpPr>
                <a:spLocks noChangeArrowheads="1"/>
              </p:cNvSpPr>
              <p:nvPr/>
            </p:nvSpPr>
            <p:spPr bwMode="auto">
              <a:xfrm>
                <a:off x="216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2</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48" name="Rectangle 20">
                <a:extLst>
                  <a:ext uri="{FF2B5EF4-FFF2-40B4-BE49-F238E27FC236}">
                    <a16:creationId xmlns:a16="http://schemas.microsoft.com/office/drawing/2014/main" id="{77AB1F67-DA0C-4E69-9348-A0F30AC383E6}"/>
                  </a:ext>
                </a:extLst>
              </p:cNvPr>
              <p:cNvSpPr>
                <a:spLocks noChangeArrowheads="1"/>
              </p:cNvSpPr>
              <p:nvPr/>
            </p:nvSpPr>
            <p:spPr bwMode="auto">
              <a:xfrm>
                <a:off x="480" y="0"/>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3</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sp>
            <p:nvSpPr>
              <p:cNvPr id="49" name="Rectangle 21">
                <a:extLst>
                  <a:ext uri="{FF2B5EF4-FFF2-40B4-BE49-F238E27FC236}">
                    <a16:creationId xmlns:a16="http://schemas.microsoft.com/office/drawing/2014/main" id="{D7E4863D-2C28-46BE-B20C-145E15903F19}"/>
                  </a:ext>
                </a:extLst>
              </p:cNvPr>
              <p:cNvSpPr>
                <a:spLocks noChangeArrowheads="1"/>
              </p:cNvSpPr>
              <p:nvPr/>
            </p:nvSpPr>
            <p:spPr bwMode="auto">
              <a:xfrm>
                <a:off x="1680" y="1296"/>
                <a:ext cx="4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a:solidFill>
                      <a:srgbClr val="000000"/>
                    </a:solidFill>
                    <a:latin typeface="Times New Roman" panose="02020603050405020304" pitchFamily="18" charset="0"/>
                    <a:sym typeface="Times New Roman" panose="02020603050405020304" pitchFamily="18" charset="0"/>
                  </a:rPr>
                  <a:t>I</a:t>
                </a:r>
                <a:endParaRPr lang="en-US" altLang="zh-CN" sz="2400" b="1" baseline="-25000">
                  <a:solidFill>
                    <a:srgbClr val="000000"/>
                  </a:solidFill>
                  <a:latin typeface="Times New Roman" panose="02020603050405020304" pitchFamily="18" charset="0"/>
                  <a:sym typeface="Times New Roman" panose="020206030504050203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821"/>
                                        </p:tgtEl>
                                        <p:attrNameLst>
                                          <p:attrName>style.visibility</p:attrName>
                                        </p:attrNameLst>
                                      </p:cBhvr>
                                      <p:to>
                                        <p:strVal val="visible"/>
                                      </p:to>
                                    </p:set>
                                    <p:animEffect filter="checkerboard(across)">
                                      <p:cBhvr>
                                        <p:cTn id="7" dur="500"/>
                                        <p:tgtEl>
                                          <p:spTgt spid="348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4822">
                                            <p:txEl>
                                              <p:pRg st="0" end="0"/>
                                            </p:txEl>
                                          </p:spTgt>
                                        </p:tgtEl>
                                        <p:attrNameLst>
                                          <p:attrName>style.visibility</p:attrName>
                                        </p:attrNameLst>
                                      </p:cBhvr>
                                      <p:to>
                                        <p:strVal val="visible"/>
                                      </p:to>
                                    </p:set>
                                    <p:animEffect filter="checkerboard(across)">
                                      <p:cBhvr>
                                        <p:cTn id="12" dur="500"/>
                                        <p:tgtEl>
                                          <p:spTgt spid="3482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4822">
                                            <p:txEl>
                                              <p:pRg st="1" end="1"/>
                                            </p:txEl>
                                          </p:spTgt>
                                        </p:tgtEl>
                                        <p:attrNameLst>
                                          <p:attrName>style.visibility</p:attrName>
                                        </p:attrNameLst>
                                      </p:cBhvr>
                                      <p:to>
                                        <p:strVal val="visible"/>
                                      </p:to>
                                    </p:set>
                                    <p:animEffect filter="checkerboard(across)">
                                      <p:cBhvr>
                                        <p:cTn id="17" dur="500"/>
                                        <p:tgtEl>
                                          <p:spTgt spid="3482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4822">
                                            <p:txEl>
                                              <p:pRg st="2" end="2"/>
                                            </p:txEl>
                                          </p:spTgt>
                                        </p:tgtEl>
                                        <p:attrNameLst>
                                          <p:attrName>style.visibility</p:attrName>
                                        </p:attrNameLst>
                                      </p:cBhvr>
                                      <p:to>
                                        <p:strVal val="visible"/>
                                      </p:to>
                                    </p:set>
                                    <p:animEffect filter="checkerboard(across)">
                                      <p:cBhvr>
                                        <p:cTn id="22" dur="500"/>
                                        <p:tgtEl>
                                          <p:spTgt spid="34822">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4822">
                                            <p:txEl>
                                              <p:pRg st="3" end="3"/>
                                            </p:txEl>
                                          </p:spTgt>
                                        </p:tgtEl>
                                        <p:attrNameLst>
                                          <p:attrName>style.visibility</p:attrName>
                                        </p:attrNameLst>
                                      </p:cBhvr>
                                      <p:to>
                                        <p:strVal val="visible"/>
                                      </p:to>
                                    </p:set>
                                    <p:animEffect filter="checkerboard(across)">
                                      <p:cBhvr>
                                        <p:cTn id="27" dur="500"/>
                                        <p:tgtEl>
                                          <p:spTgt spid="34822">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34824"/>
                                        </p:tgtEl>
                                        <p:attrNameLst>
                                          <p:attrName>style.visibility</p:attrName>
                                        </p:attrNameLst>
                                      </p:cBhvr>
                                      <p:to>
                                        <p:strVal val="visible"/>
                                      </p:to>
                                    </p:set>
                                    <p:animEffect filter="checkerboard(across)">
                                      <p:cBhvr>
                                        <p:cTn id="32" dur="500"/>
                                        <p:tgtEl>
                                          <p:spTgt spid="348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34825"/>
                                        </p:tgtEl>
                                        <p:attrNameLst>
                                          <p:attrName>style.visibility</p:attrName>
                                        </p:attrNameLst>
                                      </p:cBhvr>
                                      <p:to>
                                        <p:strVal val="visible"/>
                                      </p:to>
                                    </p:set>
                                    <p:animEffect filter="checkerboard(across)">
                                      <p:cBhvr>
                                        <p:cTn id="37" dur="500"/>
                                        <p:tgtEl>
                                          <p:spTgt spid="3482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34826">
                                            <p:txEl>
                                              <p:pRg st="0" end="0"/>
                                            </p:txEl>
                                          </p:spTgt>
                                        </p:tgtEl>
                                        <p:attrNameLst>
                                          <p:attrName>style.visibility</p:attrName>
                                        </p:attrNameLst>
                                      </p:cBhvr>
                                      <p:to>
                                        <p:strVal val="visible"/>
                                      </p:to>
                                    </p:set>
                                    <p:animEffect filter="checkerboard(across)">
                                      <p:cBhvr>
                                        <p:cTn id="42" dur="500"/>
                                        <p:tgtEl>
                                          <p:spTgt spid="3482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2" grpId="0" build="p" bldLvl="0"/>
      <p:bldP spid="34826" grpId="0" build="p" bldLvl="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矩形 4">
            <a:extLst>
              <a:ext uri="{FF2B5EF4-FFF2-40B4-BE49-F238E27FC236}">
                <a16:creationId xmlns:a16="http://schemas.microsoft.com/office/drawing/2014/main" id="{B13690DB-7B18-4B66-B51D-0013881225A7}"/>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39939" name="灯片编号占位符 3">
            <a:extLst>
              <a:ext uri="{FF2B5EF4-FFF2-40B4-BE49-F238E27FC236}">
                <a16:creationId xmlns:a16="http://schemas.microsoft.com/office/drawing/2014/main" id="{0F87427D-AF28-4B81-8460-704D8D92EBBE}"/>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ADC7C776-8D21-43B9-885A-07102F858AAD}"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38</a:t>
            </a:fld>
            <a:endParaRPr lang="en-US" altLang="zh-CN" sz="1400">
              <a:solidFill>
                <a:srgbClr val="000000"/>
              </a:solidFill>
              <a:latin typeface="Arial" panose="020B0604020202020204" pitchFamily="34" charset="0"/>
            </a:endParaRPr>
          </a:p>
        </p:txBody>
      </p:sp>
      <p:sp>
        <p:nvSpPr>
          <p:cNvPr id="39940" name="TextBox 5">
            <a:extLst>
              <a:ext uri="{FF2B5EF4-FFF2-40B4-BE49-F238E27FC236}">
                <a16:creationId xmlns:a16="http://schemas.microsoft.com/office/drawing/2014/main" id="{DC16837A-E024-4D1C-B28B-B7830F0A552B}"/>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39941" name="Rectangle 2">
            <a:extLst>
              <a:ext uri="{FF2B5EF4-FFF2-40B4-BE49-F238E27FC236}">
                <a16:creationId xmlns:a16="http://schemas.microsoft.com/office/drawing/2014/main" id="{B013B6AA-DFE0-4D80-BE91-CCECFCC0DCE0}"/>
              </a:ext>
            </a:extLst>
          </p:cNvPr>
          <p:cNvSpPr>
            <a:spLocks noGrp="1" noChangeArrowheads="1"/>
          </p:cNvSpPr>
          <p:nvPr/>
        </p:nvSpPr>
        <p:spPr bwMode="auto">
          <a:xfrm>
            <a:off x="685800" y="1196975"/>
            <a:ext cx="5470525"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简化分析</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942" name="Rectangle 3">
            <a:extLst>
              <a:ext uri="{FF2B5EF4-FFF2-40B4-BE49-F238E27FC236}">
                <a16:creationId xmlns:a16="http://schemas.microsoft.com/office/drawing/2014/main" id="{F19A81D1-7B77-43B7-97C9-B50198AF8474}"/>
              </a:ext>
            </a:extLst>
          </p:cNvPr>
          <p:cNvSpPr>
            <a:spLocks noGrp="1" noChangeArrowheads="1"/>
          </p:cNvSpPr>
          <p:nvPr/>
        </p:nvSpPr>
        <p:spPr bwMode="auto">
          <a:xfrm>
            <a:off x="1187450" y="1844675"/>
            <a:ext cx="7242175" cy="357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对</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P</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型硅</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掺杂三价元素，如硼或铟）：</a:t>
            </a:r>
          </a:p>
          <a:p>
            <a:pPr lvl="1"/>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1"/>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，只考虑</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44</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p>
          <a:p>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对</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N</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型硅</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掺杂五价元素，如砷、磷、锑）</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p>
          <a:p>
            <a:pPr lvl="1"/>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lvl="1"/>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44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π</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-1/2π </a:t>
            </a:r>
            <a:r>
              <a:rPr lang="en-US" altLang="zh-CN" sz="2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943" name="Text Box 4">
            <a:extLst>
              <a:ext uri="{FF2B5EF4-FFF2-40B4-BE49-F238E27FC236}">
                <a16:creationId xmlns:a16="http://schemas.microsoft.com/office/drawing/2014/main" id="{95D5D8D4-FF96-4C38-881A-0B8393E1C596}"/>
              </a:ext>
            </a:extLst>
          </p:cNvPr>
          <p:cNvSpPr>
            <a:spLocks noChangeArrowheads="1"/>
          </p:cNvSpPr>
          <p:nvPr/>
        </p:nvSpPr>
        <p:spPr bwMode="auto">
          <a:xfrm>
            <a:off x="1116013" y="5229225"/>
            <a:ext cx="4167187"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通常</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P-Si</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的弹性模量为：</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9944" name="Object 8">
            <a:extLst>
              <a:ext uri="{FF2B5EF4-FFF2-40B4-BE49-F238E27FC236}">
                <a16:creationId xmlns:a16="http://schemas.microsoft.com/office/drawing/2014/main" id="{C83A56C7-D9E5-4C75-851A-FB8E6E0736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8487" y="5443691"/>
            <a:ext cx="244792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a:extLst>
              <a:ext uri="{FF2B5EF4-FFF2-40B4-BE49-F238E27FC236}">
                <a16:creationId xmlns:a16="http://schemas.microsoft.com/office/drawing/2014/main" id="{5DB3F85E-7095-4B3E-9CC4-5D1046AEA833}"/>
              </a:ext>
            </a:extLst>
          </p:cNvPr>
          <p:cNvSpPr/>
          <p:nvPr/>
        </p:nvSpPr>
        <p:spPr>
          <a:xfrm>
            <a:off x="3421062" y="1271277"/>
            <a:ext cx="3237235" cy="400110"/>
          </a:xfrm>
          <a:prstGeom prst="rect">
            <a:avLst/>
          </a:prstGeom>
        </p:spPr>
        <p:txBody>
          <a:bodyPr wrap="square">
            <a:spAutoFit/>
          </a:bodyPr>
          <a:lstStyle/>
          <a:p>
            <a:r>
              <a:rPr lang="zh-CN" altLang="en-US" sz="2000" dirty="0">
                <a:solidFill>
                  <a:srgbClr val="C00000"/>
                </a:solidFill>
                <a:latin typeface="微软雅黑" panose="020B0503020204020204" pitchFamily="34" charset="-122"/>
                <a:ea typeface="微软雅黑" panose="020B0503020204020204" pitchFamily="34" charset="-122"/>
              </a:rPr>
              <a:t>参见教程</a:t>
            </a:r>
            <a:r>
              <a:rPr lang="en-US" altLang="zh-CN" sz="2000" dirty="0">
                <a:solidFill>
                  <a:srgbClr val="C00000"/>
                </a:solidFill>
                <a:latin typeface="微软雅黑" panose="020B0503020204020204" pitchFamily="34" charset="-122"/>
                <a:ea typeface="微软雅黑" panose="020B0503020204020204" pitchFamily="34" charset="-122"/>
              </a:rPr>
              <a:t>p39 </a:t>
            </a:r>
            <a:r>
              <a:rPr lang="zh-CN" altLang="en-US" sz="2000" dirty="0">
                <a:solidFill>
                  <a:srgbClr val="C00000"/>
                </a:solidFill>
                <a:latin typeface="微软雅黑" panose="020B0503020204020204" pitchFamily="34" charset="-122"/>
                <a:ea typeface="微软雅黑" panose="020B0503020204020204" pitchFamily="34" charset="-122"/>
              </a:rPr>
              <a:t>表</a:t>
            </a:r>
            <a:r>
              <a:rPr lang="en-US" altLang="zh-CN" sz="2000" dirty="0">
                <a:solidFill>
                  <a:srgbClr val="C00000"/>
                </a:solidFill>
                <a:latin typeface="微软雅黑" panose="020B0503020204020204" pitchFamily="34" charset="-122"/>
                <a:ea typeface="微软雅黑" panose="020B0503020204020204" pitchFamily="34" charset="-122"/>
              </a:rPr>
              <a:t>33-2-1</a:t>
            </a:r>
            <a:endParaRPr lang="zh-CN" altLang="en-US" sz="2000" dirty="0">
              <a:solidFill>
                <a:srgbClr val="C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3B8D16A-B75C-4DFF-99BF-425EC80321C3}"/>
              </a:ext>
            </a:extLst>
          </p:cNvPr>
          <p:cNvPicPr>
            <a:picLocks noChangeAspect="1"/>
          </p:cNvPicPr>
          <p:nvPr/>
        </p:nvPicPr>
        <p:blipFill>
          <a:blip r:embed="rId2"/>
          <a:stretch>
            <a:fillRect/>
          </a:stretch>
        </p:blipFill>
        <p:spPr>
          <a:xfrm>
            <a:off x="1625917" y="1485581"/>
            <a:ext cx="5648325" cy="3724276"/>
          </a:xfrm>
          <a:prstGeom prst="rect">
            <a:avLst/>
          </a:prstGeom>
        </p:spPr>
      </p:pic>
      <p:sp>
        <p:nvSpPr>
          <p:cNvPr id="40962" name="矩形 4">
            <a:extLst>
              <a:ext uri="{FF2B5EF4-FFF2-40B4-BE49-F238E27FC236}">
                <a16:creationId xmlns:a16="http://schemas.microsoft.com/office/drawing/2014/main" id="{C9D5508B-88D9-4DED-B982-60FA322612A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0963" name="灯片编号占位符 3">
            <a:extLst>
              <a:ext uri="{FF2B5EF4-FFF2-40B4-BE49-F238E27FC236}">
                <a16:creationId xmlns:a16="http://schemas.microsoft.com/office/drawing/2014/main" id="{A5E02938-E97C-4328-960B-992A16BDC8A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6FBEF08-EFF8-427E-B24D-580D2FFBACB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39</a:t>
            </a:fld>
            <a:endParaRPr lang="en-US" altLang="zh-CN" sz="1400">
              <a:solidFill>
                <a:srgbClr val="000000"/>
              </a:solidFill>
              <a:latin typeface="Arial" panose="020B0604020202020204" pitchFamily="34" charset="0"/>
            </a:endParaRPr>
          </a:p>
        </p:txBody>
      </p:sp>
      <p:sp>
        <p:nvSpPr>
          <p:cNvPr id="40964" name="TextBox 5">
            <a:extLst>
              <a:ext uri="{FF2B5EF4-FFF2-40B4-BE49-F238E27FC236}">
                <a16:creationId xmlns:a16="http://schemas.microsoft.com/office/drawing/2014/main" id="{253050E7-F2C4-474D-9B57-08F0172EDBF4}"/>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sp>
        <p:nvSpPr>
          <p:cNvPr id="40965" name="Rectangle 2">
            <a:extLst>
              <a:ext uri="{FF2B5EF4-FFF2-40B4-BE49-F238E27FC236}">
                <a16:creationId xmlns:a16="http://schemas.microsoft.com/office/drawing/2014/main" id="{C9871ACA-DD88-4A65-BEFA-28C5C4AFF78F}"/>
              </a:ext>
            </a:extLst>
          </p:cNvPr>
          <p:cNvSpPr>
            <a:spLocks noGrp="1" noChangeArrowheads="1"/>
          </p:cNvSpPr>
          <p:nvPr/>
        </p:nvSpPr>
        <p:spPr bwMode="auto">
          <a:xfrm>
            <a:off x="468313" y="1054100"/>
            <a:ext cx="7883525" cy="836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rPr>
              <a:t>例</a:t>
            </a:r>
            <a:r>
              <a:rPr lang="en-US" altLang="zh-CN" sz="2400" dirty="0">
                <a:solidFill>
                  <a:srgbClr val="000000"/>
                </a:solidFill>
                <a:latin typeface="微软雅黑" panose="020B0503020204020204" pitchFamily="34" charset="-122"/>
                <a:ea typeface="微软雅黑" panose="020B0503020204020204" pitchFamily="34" charset="-122"/>
              </a:rPr>
              <a:t>1</a:t>
            </a:r>
            <a:r>
              <a:rPr lang="zh-CN" altLang="en-US" sz="2400" dirty="0">
                <a:solidFill>
                  <a:srgbClr val="000000"/>
                </a:solidFill>
                <a:latin typeface="微软雅黑" panose="020B0503020204020204" pitchFamily="34" charset="-122"/>
                <a:ea typeface="微软雅黑" panose="020B0503020204020204" pitchFamily="34" charset="-122"/>
              </a:rPr>
              <a:t>：计算</a:t>
            </a:r>
            <a:r>
              <a:rPr lang="en-US" altLang="zh-CN" sz="2400" dirty="0">
                <a:solidFill>
                  <a:srgbClr val="000000"/>
                </a:solidFill>
                <a:latin typeface="微软雅黑" panose="020B0503020204020204" pitchFamily="34" charset="-122"/>
                <a:ea typeface="微软雅黑" panose="020B0503020204020204" pitchFamily="34" charset="-122"/>
              </a:rPr>
              <a:t>P</a:t>
            </a:r>
            <a:r>
              <a:rPr lang="zh-CN" altLang="en-US" sz="2400" dirty="0">
                <a:solidFill>
                  <a:srgbClr val="000000"/>
                </a:solidFill>
                <a:latin typeface="微软雅黑" panose="020B0503020204020204" pitchFamily="34" charset="-122"/>
                <a:ea typeface="微软雅黑" panose="020B0503020204020204" pitchFamily="34" charset="-122"/>
              </a:rPr>
              <a:t>型硅（</a:t>
            </a:r>
            <a:r>
              <a:rPr lang="en-US" altLang="zh-CN" sz="2400" dirty="0">
                <a:solidFill>
                  <a:srgbClr val="000000"/>
                </a:solidFill>
                <a:latin typeface="微软雅黑" panose="020B0503020204020204" pitchFamily="34" charset="-122"/>
                <a:ea typeface="微软雅黑" panose="020B0503020204020204" pitchFamily="34" charset="-122"/>
              </a:rPr>
              <a:t>100</a:t>
            </a:r>
            <a:r>
              <a:rPr lang="zh-CN" altLang="en-US" sz="2400" dirty="0">
                <a:solidFill>
                  <a:srgbClr val="000000"/>
                </a:solidFill>
                <a:latin typeface="微软雅黑" panose="020B0503020204020204" pitchFamily="34" charset="-122"/>
                <a:ea typeface="微软雅黑" panose="020B0503020204020204" pitchFamily="34" charset="-122"/>
              </a:rPr>
              <a:t>）晶面内</a:t>
            </a:r>
            <a:r>
              <a:rPr lang="en-US" altLang="zh-CN" sz="2400" dirty="0">
                <a:solidFill>
                  <a:srgbClr val="000000"/>
                </a:solidFill>
                <a:latin typeface="微软雅黑" panose="020B0503020204020204" pitchFamily="34" charset="-122"/>
                <a:ea typeface="微软雅黑" panose="020B0503020204020204" pitchFamily="34" charset="-122"/>
              </a:rPr>
              <a:t>[011]  </a:t>
            </a:r>
            <a:r>
              <a:rPr lang="zh-CN" altLang="en-US" sz="2400" dirty="0">
                <a:solidFill>
                  <a:srgbClr val="000000"/>
                </a:solidFill>
                <a:latin typeface="微软雅黑" panose="020B0503020204020204" pitchFamily="34" charset="-122"/>
                <a:ea typeface="微软雅黑" panose="020B0503020204020204" pitchFamily="34" charset="-122"/>
              </a:rPr>
              <a:t>晶向的纵向与横向压阻系数</a:t>
            </a:r>
            <a:endParaRPr lang="zh-CN" altLang="en-US" sz="1800" dirty="0">
              <a:latin typeface="微软雅黑" panose="020B0503020204020204" pitchFamily="34" charset="-122"/>
              <a:ea typeface="微软雅黑" panose="020B0503020204020204" pitchFamily="34" charset="-122"/>
            </a:endParaRPr>
          </a:p>
        </p:txBody>
      </p:sp>
      <p:grpSp>
        <p:nvGrpSpPr>
          <p:cNvPr id="40967" name="Group 26">
            <a:extLst>
              <a:ext uri="{FF2B5EF4-FFF2-40B4-BE49-F238E27FC236}">
                <a16:creationId xmlns:a16="http://schemas.microsoft.com/office/drawing/2014/main" id="{46CAEA2B-2913-4E17-A75F-B19EAF3FBE37}"/>
              </a:ext>
            </a:extLst>
          </p:cNvPr>
          <p:cNvGrpSpPr>
            <a:grpSpLocks/>
          </p:cNvGrpSpPr>
          <p:nvPr/>
        </p:nvGrpSpPr>
        <p:grpSpPr bwMode="auto">
          <a:xfrm>
            <a:off x="539750" y="5157788"/>
            <a:ext cx="8305800" cy="520700"/>
            <a:chOff x="0" y="0"/>
            <a:chExt cx="13080" cy="820"/>
          </a:xfrm>
        </p:grpSpPr>
        <p:sp>
          <p:nvSpPr>
            <p:cNvPr id="40968" name="Text Box 32" descr="信纸">
              <a:extLst>
                <a:ext uri="{FF2B5EF4-FFF2-40B4-BE49-F238E27FC236}">
                  <a16:creationId xmlns:a16="http://schemas.microsoft.com/office/drawing/2014/main" id="{E51C4071-A07E-46DB-9D26-52CCDB175616}"/>
                </a:ext>
              </a:extLst>
            </p:cNvPr>
            <p:cNvSpPr>
              <a:spLocks noChangeArrowheads="1"/>
            </p:cNvSpPr>
            <p:nvPr/>
          </p:nvSpPr>
          <p:spPr bwMode="auto">
            <a:xfrm>
              <a:off x="0" y="0"/>
              <a:ext cx="13080" cy="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pPr>
              <a:r>
                <a:rPr lang="zh-CN" altLang="en-US" sz="2400" b="1">
                  <a:latin typeface="Times New Roman" panose="02020603050405020304" pitchFamily="18" charset="0"/>
                  <a:sym typeface="Times New Roman" panose="02020603050405020304" pitchFamily="18" charset="0"/>
                </a:rPr>
                <a:t>（</a:t>
              </a:r>
              <a:r>
                <a:rPr lang="en-US" altLang="zh-CN" sz="2400" b="1">
                  <a:latin typeface="Times New Roman" panose="02020603050405020304" pitchFamily="18" charset="0"/>
                  <a:sym typeface="Times New Roman" panose="02020603050405020304" pitchFamily="18" charset="0"/>
                </a:rPr>
                <a:t>100</a:t>
              </a:r>
              <a:r>
                <a:rPr lang="zh-CN" altLang="en-US" sz="2400" b="1">
                  <a:latin typeface="Times New Roman" panose="02020603050405020304" pitchFamily="18" charset="0"/>
                  <a:sym typeface="Times New Roman" panose="02020603050405020304" pitchFamily="18" charset="0"/>
                </a:rPr>
                <a:t>）</a:t>
              </a:r>
              <a:r>
                <a:rPr lang="zh-CN" altLang="en-US" sz="2400" b="1">
                  <a:latin typeface="Times New Roman" panose="02020603050405020304" pitchFamily="18" charset="0"/>
                  <a:ea typeface="楷体_GB2312" pitchFamily="49" charset="-122"/>
                  <a:sym typeface="Times New Roman" panose="02020603050405020304" pitchFamily="18" charset="0"/>
                </a:rPr>
                <a:t>晶面内</a:t>
              </a:r>
              <a:r>
                <a:rPr lang="en-US" altLang="zh-CN" sz="2400" b="1">
                  <a:latin typeface="Times New Roman" panose="02020603050405020304" pitchFamily="18" charset="0"/>
                  <a:sym typeface="Times New Roman" panose="02020603050405020304" pitchFamily="18" charset="0"/>
                </a:rPr>
                <a:t>[011]</a:t>
              </a:r>
              <a:r>
                <a:rPr lang="zh-CN" altLang="en-US" sz="2400" b="1">
                  <a:latin typeface="Times New Roman" panose="02020603050405020304" pitchFamily="18" charset="0"/>
                  <a:ea typeface="楷体_GB2312" pitchFamily="49" charset="-122"/>
                  <a:sym typeface="Times New Roman" panose="02020603050405020304" pitchFamily="18" charset="0"/>
                </a:rPr>
                <a:t>晶向的横向为</a:t>
              </a:r>
              <a:r>
                <a:rPr lang="en-US" altLang="zh-CN" sz="2400" b="1">
                  <a:latin typeface="Times New Roman" panose="02020603050405020304" pitchFamily="18" charset="0"/>
                  <a:sym typeface="Times New Roman" panose="02020603050405020304" pitchFamily="18" charset="0"/>
                </a:rPr>
                <a:t>[011]</a:t>
              </a:r>
              <a:r>
                <a:rPr lang="zh-CN" altLang="en-US" sz="2400" b="1">
                  <a:latin typeface="Times New Roman" panose="02020603050405020304" pitchFamily="18" charset="0"/>
                  <a:ea typeface="楷体_GB2312" pitchFamily="49" charset="-122"/>
                  <a:sym typeface="Times New Roman" panose="02020603050405020304" pitchFamily="18" charset="0"/>
                </a:rPr>
                <a:t>晶向</a:t>
              </a:r>
              <a:endParaRPr lang="zh-CN" altLang="en-US" sz="1800">
                <a:latin typeface="Arial" panose="020B0604020202020204" pitchFamily="34" charset="0"/>
              </a:endParaRPr>
            </a:p>
          </p:txBody>
        </p:sp>
        <p:sp>
          <p:nvSpPr>
            <p:cNvPr id="40969" name="Line 33">
              <a:extLst>
                <a:ext uri="{FF2B5EF4-FFF2-40B4-BE49-F238E27FC236}">
                  <a16:creationId xmlns:a16="http://schemas.microsoft.com/office/drawing/2014/main" id="{A77A81E1-8A19-4896-A272-78B7F25AA266}"/>
                </a:ext>
              </a:extLst>
            </p:cNvPr>
            <p:cNvSpPr>
              <a:spLocks noChangeShapeType="1"/>
            </p:cNvSpPr>
            <p:nvPr/>
          </p:nvSpPr>
          <p:spPr bwMode="auto">
            <a:xfrm>
              <a:off x="8127" y="114"/>
              <a:ext cx="240" cy="1"/>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9" name="矩形 28">
            <a:extLst>
              <a:ext uri="{FF2B5EF4-FFF2-40B4-BE49-F238E27FC236}">
                <a16:creationId xmlns:a16="http://schemas.microsoft.com/office/drawing/2014/main" id="{8817F63B-C782-41A2-B4C1-D3A0A0D38D29}"/>
              </a:ext>
            </a:extLst>
          </p:cNvPr>
          <p:cNvSpPr/>
          <p:nvPr/>
        </p:nvSpPr>
        <p:spPr>
          <a:xfrm>
            <a:off x="881227" y="5972731"/>
            <a:ext cx="5346887" cy="461665"/>
          </a:xfrm>
          <a:prstGeom prst="rect">
            <a:avLst/>
          </a:prstGeom>
        </p:spPr>
        <p:txBody>
          <a:bodyPr wrap="square">
            <a:spAutoFit/>
          </a:bodyPr>
          <a:lstStyle/>
          <a:p>
            <a:r>
              <a:rPr lang="zh-CN" altLang="en-US" sz="2400" dirty="0">
                <a:solidFill>
                  <a:srgbClr val="C00000"/>
                </a:solidFill>
                <a:latin typeface="微软雅黑" panose="020B0503020204020204" pitchFamily="34" charset="-122"/>
                <a:ea typeface="微软雅黑" panose="020B0503020204020204" pitchFamily="34" charset="-122"/>
              </a:rPr>
              <a:t>注：这题要会算，有一定考的概率</a:t>
            </a:r>
            <a:endParaRPr lang="zh-CN" altLang="en-US" sz="2400" dirty="0">
              <a:solidFill>
                <a:srgbClr val="C00000"/>
              </a:solidFill>
            </a:endParaRPr>
          </a:p>
        </p:txBody>
      </p:sp>
      <p:pic>
        <p:nvPicPr>
          <p:cNvPr id="3" name="图片 2">
            <a:extLst>
              <a:ext uri="{FF2B5EF4-FFF2-40B4-BE49-F238E27FC236}">
                <a16:creationId xmlns:a16="http://schemas.microsoft.com/office/drawing/2014/main" id="{DB5A07B8-9FB6-43E1-A079-ADF9BE0E4527}"/>
              </a:ext>
            </a:extLst>
          </p:cNvPr>
          <p:cNvPicPr>
            <a:picLocks noChangeAspect="1"/>
          </p:cNvPicPr>
          <p:nvPr/>
        </p:nvPicPr>
        <p:blipFill>
          <a:blip r:embed="rId3"/>
          <a:stretch>
            <a:fillRect/>
          </a:stretch>
        </p:blipFill>
        <p:spPr>
          <a:xfrm>
            <a:off x="3851950" y="3645015"/>
            <a:ext cx="521438" cy="522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矩形 4">
            <a:extLst>
              <a:ext uri="{FF2B5EF4-FFF2-40B4-BE49-F238E27FC236}">
                <a16:creationId xmlns:a16="http://schemas.microsoft.com/office/drawing/2014/main" id="{CCD6952C-795C-4B71-BF08-A4AD47B9FAC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1987" name="灯片编号占位符 3">
            <a:extLst>
              <a:ext uri="{FF2B5EF4-FFF2-40B4-BE49-F238E27FC236}">
                <a16:creationId xmlns:a16="http://schemas.microsoft.com/office/drawing/2014/main" id="{6FE54FC2-376F-4825-A8A2-F1F5223FF3D0}"/>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0C3A2F5-E47A-4A7C-8518-C006D8E4252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40</a:t>
            </a:fld>
            <a:endParaRPr lang="en-US" altLang="zh-CN" sz="1400">
              <a:solidFill>
                <a:srgbClr val="000000"/>
              </a:solidFill>
              <a:latin typeface="Arial" panose="020B0604020202020204" pitchFamily="34" charset="0"/>
            </a:endParaRPr>
          </a:p>
        </p:txBody>
      </p:sp>
      <p:sp>
        <p:nvSpPr>
          <p:cNvPr id="41988" name="TextBox 5">
            <a:extLst>
              <a:ext uri="{FF2B5EF4-FFF2-40B4-BE49-F238E27FC236}">
                <a16:creationId xmlns:a16="http://schemas.microsoft.com/office/drawing/2014/main" id="{F59143F7-B850-47F6-A28C-6CBA94124AF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37893" name="Object 5">
            <a:extLst>
              <a:ext uri="{FF2B5EF4-FFF2-40B4-BE49-F238E27FC236}">
                <a16:creationId xmlns:a16="http://schemas.microsoft.com/office/drawing/2014/main" id="{677C03A9-0FBC-4602-BCCE-3452161606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5520" y="4472781"/>
            <a:ext cx="760413"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Object 6">
            <a:extLst>
              <a:ext uri="{FF2B5EF4-FFF2-40B4-BE49-F238E27FC236}">
                <a16:creationId xmlns:a16="http://schemas.microsoft.com/office/drawing/2014/main" id="{362F32F2-716C-4F48-980E-DEC38AD097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317" y="4228825"/>
            <a:ext cx="2646363"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Object 7">
            <a:extLst>
              <a:ext uri="{FF2B5EF4-FFF2-40B4-BE49-F238E27FC236}">
                <a16:creationId xmlns:a16="http://schemas.microsoft.com/office/drawing/2014/main" id="{551F3CDF-8366-4966-B86C-D897EA94C7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078" y="4255294"/>
            <a:ext cx="2563813"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6" name="Object 8">
            <a:extLst>
              <a:ext uri="{FF2B5EF4-FFF2-40B4-BE49-F238E27FC236}">
                <a16:creationId xmlns:a16="http://schemas.microsoft.com/office/drawing/2014/main" id="{88BC71F9-9CA0-41FD-B348-0BB57C247E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5705" y="5563398"/>
            <a:ext cx="811213"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7" name="Object 9">
            <a:extLst>
              <a:ext uri="{FF2B5EF4-FFF2-40B4-BE49-F238E27FC236}">
                <a16:creationId xmlns:a16="http://schemas.microsoft.com/office/drawing/2014/main" id="{6FD1D95C-F1CE-4F92-B948-4ED10B4004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5205" y="5312573"/>
            <a:ext cx="2784475"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8" name="Object 10">
            <a:extLst>
              <a:ext uri="{FF2B5EF4-FFF2-40B4-BE49-F238E27FC236}">
                <a16:creationId xmlns:a16="http://schemas.microsoft.com/office/drawing/2014/main" id="{C30614F9-B615-419E-A81C-BBDCDB59AF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70118" y="5314160"/>
            <a:ext cx="247491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5" name="Text Box 33">
            <a:extLst>
              <a:ext uri="{FF2B5EF4-FFF2-40B4-BE49-F238E27FC236}">
                <a16:creationId xmlns:a16="http://schemas.microsoft.com/office/drawing/2014/main" id="{8AD04EB4-793E-4CB0-AE31-B23C296DB21A}"/>
              </a:ext>
            </a:extLst>
          </p:cNvPr>
          <p:cNvSpPr>
            <a:spLocks noChangeArrowheads="1"/>
          </p:cNvSpPr>
          <p:nvPr/>
        </p:nvSpPr>
        <p:spPr bwMode="auto">
          <a:xfrm>
            <a:off x="323850" y="1125538"/>
            <a:ext cx="8496300" cy="16144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Clr>
                <a:srgbClr val="D60093"/>
              </a:buClr>
              <a:buSzPct val="75000"/>
              <a:buFont typeface="Wingdings" panose="05000000000000000000" pitchFamily="2" charset="2"/>
              <a:buNone/>
            </a:pPr>
            <a:r>
              <a:rPr lang="zh-CN" altLang="en-US" sz="2400" b="1">
                <a:latin typeface="Times New Roman" panose="02020603050405020304" pitchFamily="18" charset="0"/>
                <a:ea typeface="楷体_GB2312" pitchFamily="49" charset="-122"/>
                <a:sym typeface="Times New Roman" panose="02020603050405020304" pitchFamily="18" charset="0"/>
              </a:rPr>
              <a:t>解：</a:t>
            </a:r>
          </a:p>
          <a:p>
            <a:pPr eaLnBrk="1" hangingPunct="1">
              <a:spcBef>
                <a:spcPct val="50000"/>
              </a:spcBef>
              <a:buClr>
                <a:srgbClr val="D60093"/>
              </a:buClr>
              <a:buSzPct val="75000"/>
              <a:buFont typeface="Wingdings" panose="05000000000000000000" pitchFamily="2" charset="2"/>
              <a:buNone/>
            </a:pPr>
            <a:r>
              <a:rPr lang="zh-CN" altLang="en-US" sz="2400" b="1">
                <a:latin typeface="Times New Roman" panose="02020603050405020304" pitchFamily="18" charset="0"/>
                <a:ea typeface="楷体_GB2312" pitchFamily="49" charset="-122"/>
                <a:sym typeface="Times New Roman" panose="02020603050405020304" pitchFamily="18" charset="0"/>
              </a:rPr>
              <a:t>        设</a:t>
            </a:r>
            <a:r>
              <a:rPr lang="en-US" altLang="zh-CN" sz="2400" b="1">
                <a:latin typeface="Times New Roman" panose="02020603050405020304" pitchFamily="18" charset="0"/>
                <a:sym typeface="Times New Roman" panose="02020603050405020304" pitchFamily="18" charset="0"/>
              </a:rPr>
              <a:t>[011]</a:t>
            </a:r>
            <a:r>
              <a:rPr lang="zh-CN" altLang="en-US" sz="2400" b="1">
                <a:latin typeface="Times New Roman" panose="02020603050405020304" pitchFamily="18" charset="0"/>
                <a:ea typeface="楷体_GB2312" pitchFamily="49" charset="-122"/>
                <a:sym typeface="Times New Roman" panose="02020603050405020304" pitchFamily="18" charset="0"/>
              </a:rPr>
              <a:t>与</a:t>
            </a:r>
            <a:r>
              <a:rPr lang="en-US" altLang="zh-CN" sz="2400" b="1">
                <a:latin typeface="Times New Roman" panose="02020603050405020304" pitchFamily="18" charset="0"/>
                <a:sym typeface="Times New Roman" panose="02020603050405020304" pitchFamily="18" charset="0"/>
              </a:rPr>
              <a:t>[011]</a:t>
            </a:r>
            <a:r>
              <a:rPr lang="zh-CN" altLang="en-US" sz="2400" b="1">
                <a:latin typeface="Times New Roman" panose="02020603050405020304" pitchFamily="18" charset="0"/>
                <a:ea typeface="楷体_GB2312" pitchFamily="49" charset="-122"/>
                <a:sym typeface="Times New Roman" panose="02020603050405020304" pitchFamily="18" charset="0"/>
              </a:rPr>
              <a:t>晶向的方向余弦分别为：</a:t>
            </a:r>
            <a:r>
              <a:rPr lang="en-US" altLang="zh-CN" sz="2400" b="1" i="1">
                <a:latin typeface="Times New Roman" panose="02020603050405020304" pitchFamily="18" charset="0"/>
                <a:sym typeface="Times New Roman" panose="02020603050405020304" pitchFamily="18" charset="0"/>
              </a:rPr>
              <a:t>l</a:t>
            </a:r>
            <a:r>
              <a:rPr lang="en-US" altLang="zh-CN" sz="2400" b="1" baseline="-25000">
                <a:latin typeface="Times New Roman" panose="02020603050405020304" pitchFamily="18" charset="0"/>
                <a:sym typeface="Times New Roman" panose="02020603050405020304" pitchFamily="18" charset="0"/>
              </a:rPr>
              <a:t>1</a:t>
            </a:r>
            <a:r>
              <a:rPr lang="zh-CN" altLang="en-US" sz="2400" b="1">
                <a:latin typeface="Times New Roman" panose="02020603050405020304" pitchFamily="18" charset="0"/>
                <a:sym typeface="Times New Roman" panose="02020603050405020304" pitchFamily="18" charset="0"/>
              </a:rPr>
              <a:t>、</a:t>
            </a:r>
            <a:r>
              <a:rPr lang="en-US" altLang="zh-CN" sz="2400" b="1" i="1">
                <a:latin typeface="Times New Roman" panose="02020603050405020304" pitchFamily="18" charset="0"/>
                <a:sym typeface="Times New Roman" panose="02020603050405020304" pitchFamily="18" charset="0"/>
              </a:rPr>
              <a:t>m</a:t>
            </a:r>
            <a:r>
              <a:rPr lang="en-US" altLang="zh-CN" sz="2400" b="1" baseline="-25000">
                <a:latin typeface="Times New Roman" panose="02020603050405020304" pitchFamily="18" charset="0"/>
                <a:sym typeface="Times New Roman" panose="02020603050405020304" pitchFamily="18" charset="0"/>
              </a:rPr>
              <a:t>1</a:t>
            </a:r>
            <a:r>
              <a:rPr lang="zh-CN" altLang="en-US" sz="2400" b="1">
                <a:latin typeface="Times New Roman" panose="02020603050405020304" pitchFamily="18" charset="0"/>
                <a:sym typeface="Times New Roman" panose="02020603050405020304" pitchFamily="18" charset="0"/>
              </a:rPr>
              <a:t>、</a:t>
            </a:r>
            <a:r>
              <a:rPr lang="en-US" altLang="zh-CN" sz="2400" b="1" i="1">
                <a:latin typeface="Times New Roman" panose="02020603050405020304" pitchFamily="18" charset="0"/>
                <a:sym typeface="Times New Roman" panose="02020603050405020304" pitchFamily="18" charset="0"/>
              </a:rPr>
              <a:t>n</a:t>
            </a:r>
            <a:r>
              <a:rPr lang="en-US" altLang="zh-CN" sz="2400" b="1" baseline="-25000">
                <a:latin typeface="Times New Roman" panose="02020603050405020304" pitchFamily="18" charset="0"/>
                <a:sym typeface="Times New Roman" panose="02020603050405020304" pitchFamily="18" charset="0"/>
              </a:rPr>
              <a:t>1</a:t>
            </a:r>
            <a:r>
              <a:rPr lang="en-US" altLang="zh-CN" sz="2400" b="1">
                <a:latin typeface="Times New Roman" panose="02020603050405020304" pitchFamily="18" charset="0"/>
                <a:sym typeface="Times New Roman" panose="02020603050405020304" pitchFamily="18" charset="0"/>
              </a:rPr>
              <a:t>,  </a:t>
            </a:r>
            <a:r>
              <a:rPr lang="en-US" altLang="zh-CN" sz="2400" b="1" i="1">
                <a:latin typeface="Times New Roman" panose="02020603050405020304" pitchFamily="18" charset="0"/>
                <a:sym typeface="Times New Roman" panose="02020603050405020304" pitchFamily="18" charset="0"/>
              </a:rPr>
              <a:t>l</a:t>
            </a:r>
            <a:r>
              <a:rPr lang="en-US" altLang="zh-CN" sz="2400" b="1" baseline="-25000">
                <a:latin typeface="Times New Roman" panose="02020603050405020304" pitchFamily="18" charset="0"/>
                <a:sym typeface="Times New Roman" panose="02020603050405020304" pitchFamily="18" charset="0"/>
              </a:rPr>
              <a:t>2</a:t>
            </a:r>
            <a:r>
              <a:rPr lang="zh-CN" altLang="en-US" sz="2400" b="1">
                <a:latin typeface="Times New Roman" panose="02020603050405020304" pitchFamily="18" charset="0"/>
                <a:sym typeface="Times New Roman" panose="02020603050405020304" pitchFamily="18" charset="0"/>
              </a:rPr>
              <a:t>、     </a:t>
            </a:r>
          </a:p>
          <a:p>
            <a:pPr eaLnBrk="1" hangingPunct="1">
              <a:spcBef>
                <a:spcPct val="50000"/>
              </a:spcBef>
              <a:buClr>
                <a:srgbClr val="D60093"/>
              </a:buClr>
              <a:buSzPct val="75000"/>
              <a:buFont typeface="Wingdings" panose="05000000000000000000" pitchFamily="2" charset="2"/>
              <a:buNone/>
            </a:pPr>
            <a:r>
              <a:rPr lang="zh-CN" altLang="en-US" sz="2400" b="1">
                <a:latin typeface="Times New Roman" panose="02020603050405020304" pitchFamily="18" charset="0"/>
                <a:sym typeface="Times New Roman" panose="02020603050405020304" pitchFamily="18" charset="0"/>
              </a:rPr>
              <a:t>        </a:t>
            </a:r>
            <a:r>
              <a:rPr lang="en-US" altLang="zh-CN" sz="2400" b="1" i="1">
                <a:latin typeface="Times New Roman" panose="02020603050405020304" pitchFamily="18" charset="0"/>
                <a:sym typeface="Times New Roman" panose="02020603050405020304" pitchFamily="18" charset="0"/>
              </a:rPr>
              <a:t>m</a:t>
            </a:r>
            <a:r>
              <a:rPr lang="en-US" altLang="zh-CN" sz="2400" b="1" baseline="-25000">
                <a:latin typeface="Times New Roman" panose="02020603050405020304" pitchFamily="18" charset="0"/>
                <a:sym typeface="Times New Roman" panose="02020603050405020304" pitchFamily="18" charset="0"/>
              </a:rPr>
              <a:t>2</a:t>
            </a:r>
            <a:r>
              <a:rPr lang="zh-CN" altLang="en-US" sz="2400" b="1">
                <a:latin typeface="Times New Roman" panose="02020603050405020304" pitchFamily="18" charset="0"/>
                <a:sym typeface="Times New Roman" panose="02020603050405020304" pitchFamily="18" charset="0"/>
              </a:rPr>
              <a:t>、</a:t>
            </a:r>
            <a:r>
              <a:rPr lang="en-US" altLang="zh-CN" sz="2400" b="1" i="1">
                <a:latin typeface="Times New Roman" panose="02020603050405020304" pitchFamily="18" charset="0"/>
                <a:sym typeface="Times New Roman" panose="02020603050405020304" pitchFamily="18" charset="0"/>
              </a:rPr>
              <a:t>n</a:t>
            </a:r>
            <a:r>
              <a:rPr lang="en-US" altLang="zh-CN" sz="2400" b="1" baseline="-25000">
                <a:latin typeface="Times New Roman" panose="02020603050405020304" pitchFamily="18" charset="0"/>
                <a:sym typeface="Times New Roman" panose="02020603050405020304" pitchFamily="18" charset="0"/>
              </a:rPr>
              <a:t>2</a:t>
            </a:r>
            <a:endParaRPr lang="zh-CN" altLang="en-US" sz="1800">
              <a:latin typeface="Arial" panose="020B0604020202020204" pitchFamily="34" charset="0"/>
            </a:endParaRPr>
          </a:p>
        </p:txBody>
      </p:sp>
      <p:sp>
        <p:nvSpPr>
          <p:cNvPr id="41996" name="Line 34">
            <a:extLst>
              <a:ext uri="{FF2B5EF4-FFF2-40B4-BE49-F238E27FC236}">
                <a16:creationId xmlns:a16="http://schemas.microsoft.com/office/drawing/2014/main" id="{46BA87D7-1D35-4801-B70D-F621D1A7E3D8}"/>
              </a:ext>
            </a:extLst>
          </p:cNvPr>
          <p:cNvSpPr>
            <a:spLocks noChangeShapeType="1"/>
          </p:cNvSpPr>
          <p:nvPr/>
        </p:nvSpPr>
        <p:spPr bwMode="auto">
          <a:xfrm>
            <a:off x="2543175" y="1736725"/>
            <a:ext cx="15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449ED2BA-D117-4D0B-8644-F636A5DF8062}"/>
                  </a:ext>
                </a:extLst>
              </p:cNvPr>
              <p:cNvSpPr/>
              <p:nvPr/>
            </p:nvSpPr>
            <p:spPr>
              <a:xfrm>
                <a:off x="985521" y="2867727"/>
                <a:ext cx="6020465" cy="461665"/>
              </a:xfrm>
              <a:prstGeom prst="rect">
                <a:avLst/>
              </a:prstGeom>
            </p:spPr>
            <p:txBody>
              <a:bodyPr wrap="square">
                <a:spAutoFit/>
              </a:bodyPr>
              <a:lstStyle/>
              <a:p>
                <a:pPr marL="342900" indent="-342900">
                  <a:buFont typeface="Wingdings" panose="05000000000000000000" pitchFamily="2" charset="2"/>
                  <a:buChar char="Ø"/>
                </a:pPr>
                <a14:m>
                  <m:oMath xmlns:m="http://schemas.openxmlformats.org/officeDocument/2006/math">
                    <m:r>
                      <a:rPr lang="zh-CN" altLang="en-US" sz="2400" b="1" i="1" dirty="0" smtClean="0">
                        <a:solidFill>
                          <a:srgbClr val="FF0000"/>
                        </a:solidFill>
                        <a:latin typeface="Cambria Math" panose="02040503050406030204" pitchFamily="18" charset="0"/>
                      </a:rPr>
                      <m:t>𝜶</m:t>
                    </m:r>
                    <m:r>
                      <a:rPr lang="en-US" altLang="zh-CN" sz="2400" b="1" i="1" dirty="0" smtClean="0">
                        <a:solidFill>
                          <a:srgbClr val="FF0000"/>
                        </a:solidFill>
                        <a:latin typeface="Cambria Math" panose="02040503050406030204" pitchFamily="18" charset="0"/>
                      </a:rPr>
                      <m:t>𝟏</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00FF"/>
                        </a:solidFill>
                        <a:latin typeface="Cambria Math" panose="02040503050406030204" pitchFamily="18" charset="0"/>
                      </a:rPr>
                      <m:t>𝜷</m:t>
                    </m:r>
                    <m:r>
                      <a:rPr lang="en-US" altLang="zh-CN" sz="2400" b="1" i="1" dirty="0" smtClean="0">
                        <a:solidFill>
                          <a:srgbClr val="0000FF"/>
                        </a:solidFill>
                        <a:latin typeface="Cambria Math" panose="02040503050406030204" pitchFamily="18" charset="0"/>
                      </a:rPr>
                      <m:t>𝟏</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8000"/>
                        </a:solidFill>
                        <a:latin typeface="Cambria Math" panose="02040503050406030204" pitchFamily="18" charset="0"/>
                      </a:rPr>
                      <m:t>𝜸</m:t>
                    </m:r>
                    <m:r>
                      <a:rPr lang="en-US" altLang="zh-CN" sz="2400" b="1" i="1" dirty="0" smtClean="0">
                        <a:solidFill>
                          <a:srgbClr val="008000"/>
                        </a:solidFill>
                        <a:latin typeface="Cambria Math" panose="02040503050406030204" pitchFamily="18" charset="0"/>
                      </a:rPr>
                      <m:t>𝟏</m:t>
                    </m:r>
                    <m:r>
                      <a:rPr lang="en-US" altLang="zh-CN" sz="2400" b="1" i="0" dirty="0" smtClean="0">
                        <a:solidFill>
                          <a:srgbClr val="0000FF"/>
                        </a:solidFill>
                        <a:latin typeface="Cambria Math" panose="02040503050406030204" pitchFamily="18" charset="0"/>
                      </a:rPr>
                      <m:t> </m:t>
                    </m:r>
                  </m:oMath>
                </a14:m>
                <a:r>
                  <a:rPr lang="zh-CN" altLang="en-US" sz="2400" b="1" dirty="0"/>
                  <a:t>分别为</a:t>
                </a:r>
                <a:r>
                  <a:rPr lang="en-US" altLang="zh-CN" sz="2400" b="1" dirty="0"/>
                  <a:t>90°45°45°</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mc:Choice>
        <mc:Fallback xmlns="">
          <p:sp>
            <p:nvSpPr>
              <p:cNvPr id="13" name="矩形 12">
                <a:extLst>
                  <a:ext uri="{FF2B5EF4-FFF2-40B4-BE49-F238E27FC236}">
                    <a16:creationId xmlns:a16="http://schemas.microsoft.com/office/drawing/2014/main" id="{449ED2BA-D117-4D0B-8644-F636A5DF8062}"/>
                  </a:ext>
                </a:extLst>
              </p:cNvPr>
              <p:cNvSpPr>
                <a:spLocks noRot="1" noChangeAspect="1" noMove="1" noResize="1" noEditPoints="1" noAdjustHandles="1" noChangeArrowheads="1" noChangeShapeType="1" noTextEdit="1"/>
              </p:cNvSpPr>
              <p:nvPr/>
            </p:nvSpPr>
            <p:spPr>
              <a:xfrm>
                <a:off x="985521" y="2867727"/>
                <a:ext cx="6020465" cy="461665"/>
              </a:xfrm>
              <a:prstGeom prst="rect">
                <a:avLst/>
              </a:prstGeom>
              <a:blipFill>
                <a:blip r:embed="rId8"/>
                <a:stretch>
                  <a:fillRect l="-1418" t="-15789"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4B5684A6-E251-49E3-A734-C963292F8EC9}"/>
                  </a:ext>
                </a:extLst>
              </p:cNvPr>
              <p:cNvSpPr/>
              <p:nvPr/>
            </p:nvSpPr>
            <p:spPr>
              <a:xfrm>
                <a:off x="985520" y="3297776"/>
                <a:ext cx="6020465" cy="461665"/>
              </a:xfrm>
              <a:prstGeom prst="rect">
                <a:avLst/>
              </a:prstGeom>
            </p:spPr>
            <p:txBody>
              <a:bodyPr wrap="square">
                <a:spAutoFit/>
              </a:bodyPr>
              <a:lstStyle/>
              <a:p>
                <a:pPr marL="342900" indent="-342900">
                  <a:buFont typeface="Wingdings" panose="05000000000000000000" pitchFamily="2" charset="2"/>
                  <a:buChar char="Ø"/>
                </a:pPr>
                <a14:m>
                  <m:oMath xmlns:m="http://schemas.openxmlformats.org/officeDocument/2006/math">
                    <m:r>
                      <a:rPr lang="zh-CN" altLang="en-US" sz="2400" b="1" i="1" dirty="0" smtClean="0">
                        <a:solidFill>
                          <a:srgbClr val="FF0000"/>
                        </a:solidFill>
                        <a:latin typeface="Cambria Math" panose="02040503050406030204" pitchFamily="18" charset="0"/>
                      </a:rPr>
                      <m:t>𝜶</m:t>
                    </m:r>
                    <m:r>
                      <a:rPr lang="en-US" altLang="zh-CN" sz="2400" b="1" i="1" dirty="0" smtClean="0">
                        <a:solidFill>
                          <a:srgbClr val="FF0000"/>
                        </a:solidFill>
                        <a:latin typeface="Cambria Math" panose="02040503050406030204" pitchFamily="18" charset="0"/>
                      </a:rPr>
                      <m:t>𝟐</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00FF"/>
                        </a:solidFill>
                        <a:latin typeface="Cambria Math" panose="02040503050406030204" pitchFamily="18" charset="0"/>
                      </a:rPr>
                      <m:t>𝜷</m:t>
                    </m:r>
                    <m:r>
                      <a:rPr lang="en-US" altLang="zh-CN" sz="2400" b="1" i="1" dirty="0" smtClean="0">
                        <a:solidFill>
                          <a:srgbClr val="0000FF"/>
                        </a:solidFill>
                        <a:latin typeface="Cambria Math" panose="02040503050406030204" pitchFamily="18" charset="0"/>
                      </a:rPr>
                      <m:t>𝟐</m:t>
                    </m:r>
                    <m:r>
                      <a:rPr lang="en-US" altLang="zh-CN" sz="2400" b="1" i="1" dirty="0" smtClean="0">
                        <a:solidFill>
                          <a:srgbClr val="0000FF"/>
                        </a:solidFill>
                        <a:latin typeface="Cambria Math" panose="02040503050406030204" pitchFamily="18" charset="0"/>
                      </a:rPr>
                      <m:t> </m:t>
                    </m:r>
                    <m:r>
                      <a:rPr lang="zh-CN" altLang="en-US" sz="2400" b="1" i="1" dirty="0" smtClean="0">
                        <a:solidFill>
                          <a:srgbClr val="008000"/>
                        </a:solidFill>
                        <a:latin typeface="Cambria Math" panose="02040503050406030204" pitchFamily="18" charset="0"/>
                      </a:rPr>
                      <m:t>𝜸</m:t>
                    </m:r>
                    <m:r>
                      <a:rPr lang="en-US" altLang="zh-CN" sz="2400" b="1" i="0" dirty="0" smtClean="0">
                        <a:solidFill>
                          <a:srgbClr val="008000"/>
                        </a:solidFill>
                        <a:latin typeface="Cambria Math" panose="02040503050406030204" pitchFamily="18" charset="0"/>
                      </a:rPr>
                      <m:t>𝟐</m:t>
                    </m:r>
                    <m:r>
                      <a:rPr lang="en-US" altLang="zh-CN" sz="2400" b="1" i="0" dirty="0" smtClean="0">
                        <a:solidFill>
                          <a:srgbClr val="0000FF"/>
                        </a:solidFill>
                        <a:latin typeface="Cambria Math" panose="02040503050406030204" pitchFamily="18" charset="0"/>
                      </a:rPr>
                      <m:t> </m:t>
                    </m:r>
                  </m:oMath>
                </a14:m>
                <a:r>
                  <a:rPr lang="zh-CN" altLang="en-US" sz="2400" b="1" dirty="0"/>
                  <a:t>分别为</a:t>
                </a:r>
                <a:r>
                  <a:rPr lang="en-US" altLang="zh-CN" sz="2400" b="1" dirty="0"/>
                  <a:t>90°135°45°</a:t>
                </a:r>
                <a:endParaRPr lang="en-US" altLang="zh-CN" sz="2200"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p:txBody>
          </p:sp>
        </mc:Choice>
        <mc:Fallback xmlns="">
          <p:sp>
            <p:nvSpPr>
              <p:cNvPr id="14" name="矩形 13">
                <a:extLst>
                  <a:ext uri="{FF2B5EF4-FFF2-40B4-BE49-F238E27FC236}">
                    <a16:creationId xmlns:a16="http://schemas.microsoft.com/office/drawing/2014/main" id="{4B5684A6-E251-49E3-A734-C963292F8EC9}"/>
                  </a:ext>
                </a:extLst>
              </p:cNvPr>
              <p:cNvSpPr>
                <a:spLocks noRot="1" noChangeAspect="1" noMove="1" noResize="1" noEditPoints="1" noAdjustHandles="1" noChangeArrowheads="1" noChangeShapeType="1" noTextEdit="1"/>
              </p:cNvSpPr>
              <p:nvPr/>
            </p:nvSpPr>
            <p:spPr>
              <a:xfrm>
                <a:off x="985520" y="3297776"/>
                <a:ext cx="6020465" cy="461665"/>
              </a:xfrm>
              <a:prstGeom prst="rect">
                <a:avLst/>
              </a:prstGeom>
              <a:blipFill>
                <a:blip r:embed="rId9"/>
                <a:stretch>
                  <a:fillRect l="-1418" t="-15789" b="-30263"/>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7893"/>
                                        </p:tgtEl>
                                        <p:attrNameLst>
                                          <p:attrName>style.visibility</p:attrName>
                                        </p:attrNameLst>
                                      </p:cBhvr>
                                      <p:to>
                                        <p:strVal val="visible"/>
                                      </p:to>
                                    </p:set>
                                    <p:animEffect filter="checkerboard(across)">
                                      <p:cBhvr>
                                        <p:cTn id="17" dur="500"/>
                                        <p:tgtEl>
                                          <p:spTgt spid="37893"/>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7894"/>
                                        </p:tgtEl>
                                        <p:attrNameLst>
                                          <p:attrName>style.visibility</p:attrName>
                                        </p:attrNameLst>
                                      </p:cBhvr>
                                      <p:to>
                                        <p:strVal val="visible"/>
                                      </p:to>
                                    </p:set>
                                    <p:animEffect filter="checkerboard(across)">
                                      <p:cBhvr>
                                        <p:cTn id="22" dur="500"/>
                                        <p:tgtEl>
                                          <p:spTgt spid="37894"/>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7895"/>
                                        </p:tgtEl>
                                        <p:attrNameLst>
                                          <p:attrName>style.visibility</p:attrName>
                                        </p:attrNameLst>
                                      </p:cBhvr>
                                      <p:to>
                                        <p:strVal val="visible"/>
                                      </p:to>
                                    </p:set>
                                    <p:animEffect filter="checkerboard(across)">
                                      <p:cBhvr>
                                        <p:cTn id="27" dur="500"/>
                                        <p:tgtEl>
                                          <p:spTgt spid="37895"/>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7896"/>
                                        </p:tgtEl>
                                        <p:attrNameLst>
                                          <p:attrName>style.visibility</p:attrName>
                                        </p:attrNameLst>
                                      </p:cBhvr>
                                      <p:to>
                                        <p:strVal val="visible"/>
                                      </p:to>
                                    </p:set>
                                    <p:animEffect filter="checkerboard(across)">
                                      <p:cBhvr>
                                        <p:cTn id="32" dur="500"/>
                                        <p:tgtEl>
                                          <p:spTgt spid="37896"/>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7897"/>
                                        </p:tgtEl>
                                        <p:attrNameLst>
                                          <p:attrName>style.visibility</p:attrName>
                                        </p:attrNameLst>
                                      </p:cBhvr>
                                      <p:to>
                                        <p:strVal val="visible"/>
                                      </p:to>
                                    </p:set>
                                    <p:animEffect filter="checkerboard(across)">
                                      <p:cBhvr>
                                        <p:cTn id="37" dur="500"/>
                                        <p:tgtEl>
                                          <p:spTgt spid="37897"/>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7898"/>
                                        </p:tgtEl>
                                        <p:attrNameLst>
                                          <p:attrName>style.visibility</p:attrName>
                                        </p:attrNameLst>
                                      </p:cBhvr>
                                      <p:to>
                                        <p:strVal val="visible"/>
                                      </p:to>
                                    </p:set>
                                    <p:animEffect filter="checkerboard(across)">
                                      <p:cBhvr>
                                        <p:cTn id="42" dur="500"/>
                                        <p:tgtEl>
                                          <p:spTgt spid="37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矩形 4">
            <a:extLst>
              <a:ext uri="{FF2B5EF4-FFF2-40B4-BE49-F238E27FC236}">
                <a16:creationId xmlns:a16="http://schemas.microsoft.com/office/drawing/2014/main" id="{CF8E09A3-7EBE-443E-BB56-E68EDC08AC0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3011" name="灯片编号占位符 3">
            <a:extLst>
              <a:ext uri="{FF2B5EF4-FFF2-40B4-BE49-F238E27FC236}">
                <a16:creationId xmlns:a16="http://schemas.microsoft.com/office/drawing/2014/main" id="{93A0090E-A2B4-41BA-BC20-FDD49E0EEA3D}"/>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53C97055-0648-4FB4-89C5-AAF5164665F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41</a:t>
            </a:fld>
            <a:endParaRPr lang="en-US" altLang="zh-CN" sz="1400">
              <a:solidFill>
                <a:srgbClr val="000000"/>
              </a:solidFill>
              <a:latin typeface="Arial" panose="020B0604020202020204" pitchFamily="34" charset="0"/>
            </a:endParaRPr>
          </a:p>
        </p:txBody>
      </p:sp>
      <p:sp>
        <p:nvSpPr>
          <p:cNvPr id="43012" name="TextBox 5">
            <a:extLst>
              <a:ext uri="{FF2B5EF4-FFF2-40B4-BE49-F238E27FC236}">
                <a16:creationId xmlns:a16="http://schemas.microsoft.com/office/drawing/2014/main" id="{F1D84912-9607-4A9C-855F-BDC934D67CFB}"/>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38917" name="Object 5" descr="白色大理石">
            <a:extLst>
              <a:ext uri="{FF2B5EF4-FFF2-40B4-BE49-F238E27FC236}">
                <a16:creationId xmlns:a16="http://schemas.microsoft.com/office/drawing/2014/main" id="{7143632A-1A29-4A19-97F0-491CD05C09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603375"/>
            <a:ext cx="5472112"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8" name="Object 6" descr="白色大理石">
            <a:extLst>
              <a:ext uri="{FF2B5EF4-FFF2-40B4-BE49-F238E27FC236}">
                <a16:creationId xmlns:a16="http://schemas.microsoft.com/office/drawing/2014/main" id="{23A9C10E-9463-45DF-969F-ABABB3C7DE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3986213"/>
            <a:ext cx="55689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8917"/>
                                        </p:tgtEl>
                                        <p:attrNameLst>
                                          <p:attrName>style.visibility</p:attrName>
                                        </p:attrNameLst>
                                      </p:cBhvr>
                                      <p:to>
                                        <p:strVal val="visible"/>
                                      </p:to>
                                    </p:set>
                                    <p:animEffect filter="checkerboard(across)">
                                      <p:cBhvr>
                                        <p:cTn id="7" dur="500"/>
                                        <p:tgtEl>
                                          <p:spTgt spid="389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8918"/>
                                        </p:tgtEl>
                                        <p:attrNameLst>
                                          <p:attrName>style.visibility</p:attrName>
                                        </p:attrNameLst>
                                      </p:cBhvr>
                                      <p:to>
                                        <p:strVal val="visible"/>
                                      </p:to>
                                    </p:set>
                                    <p:animEffect filter="checkerboard(across)">
                                      <p:cBhvr>
                                        <p:cTn id="12"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4">
            <a:extLst>
              <a:ext uri="{FF2B5EF4-FFF2-40B4-BE49-F238E27FC236}">
                <a16:creationId xmlns:a16="http://schemas.microsoft.com/office/drawing/2014/main" id="{AE68554C-DD81-4750-92C6-1B0061BD446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4035" name="灯片编号占位符 3">
            <a:extLst>
              <a:ext uri="{FF2B5EF4-FFF2-40B4-BE49-F238E27FC236}">
                <a16:creationId xmlns:a16="http://schemas.microsoft.com/office/drawing/2014/main" id="{6E46BD30-75B7-4917-B9FB-272370492AD8}"/>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CF3C21B-80F1-4DE7-BEF6-D33B2695AA6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42</a:t>
            </a:fld>
            <a:endParaRPr lang="en-US" altLang="zh-CN" sz="1400">
              <a:solidFill>
                <a:srgbClr val="000000"/>
              </a:solidFill>
              <a:latin typeface="Arial" panose="020B0604020202020204" pitchFamily="34" charset="0"/>
            </a:endParaRPr>
          </a:p>
        </p:txBody>
      </p:sp>
      <p:sp>
        <p:nvSpPr>
          <p:cNvPr id="44036" name="TextBox 5">
            <a:extLst>
              <a:ext uri="{FF2B5EF4-FFF2-40B4-BE49-F238E27FC236}">
                <a16:creationId xmlns:a16="http://schemas.microsoft.com/office/drawing/2014/main" id="{E0A91DBC-82EF-4FAC-B08E-3728D0BEBE15}"/>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3</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压阻系数</a:t>
            </a:r>
            <a:endParaRPr lang="zh-CN" altLang="en-US" sz="1800">
              <a:latin typeface="黑体" panose="02010609060101010101" pitchFamily="49" charset="-122"/>
              <a:ea typeface="黑体" panose="02010609060101010101" pitchFamily="49" charset="-122"/>
            </a:endParaRPr>
          </a:p>
        </p:txBody>
      </p:sp>
      <p:pic>
        <p:nvPicPr>
          <p:cNvPr id="39941" name="Object 5" descr="白色大理石">
            <a:extLst>
              <a:ext uri="{FF2B5EF4-FFF2-40B4-BE49-F238E27FC236}">
                <a16:creationId xmlns:a16="http://schemas.microsoft.com/office/drawing/2014/main" id="{845D9378-2B79-422E-805D-91944AD74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838" y="1485900"/>
            <a:ext cx="5184775"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Object 6" descr="白色大理石">
            <a:extLst>
              <a:ext uri="{FF2B5EF4-FFF2-40B4-BE49-F238E27FC236}">
                <a16:creationId xmlns:a16="http://schemas.microsoft.com/office/drawing/2014/main" id="{B667737F-A1DD-48DB-B072-AF011C89DE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3502025"/>
            <a:ext cx="5616575"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filter="checkerboard(across)">
                                      <p:cBhvr>
                                        <p:cTn id="7" dur="500"/>
                                        <p:tgtEl>
                                          <p:spTgt spid="399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9942"/>
                                        </p:tgtEl>
                                        <p:attrNameLst>
                                          <p:attrName>style.visibility</p:attrName>
                                        </p:attrNameLst>
                                      </p:cBhvr>
                                      <p:to>
                                        <p:strVal val="visible"/>
                                      </p:to>
                                    </p:set>
                                    <p:animEffect filter="checkerboard(across)">
                                      <p:cBhvr>
                                        <p:cTn id="12"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矩形 4">
            <a:extLst>
              <a:ext uri="{FF2B5EF4-FFF2-40B4-BE49-F238E27FC236}">
                <a16:creationId xmlns:a16="http://schemas.microsoft.com/office/drawing/2014/main" id="{A4141DB2-3682-4640-B567-1CB16D4710C0}"/>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5059" name="灯片编号占位符 3">
            <a:extLst>
              <a:ext uri="{FF2B5EF4-FFF2-40B4-BE49-F238E27FC236}">
                <a16:creationId xmlns:a16="http://schemas.microsoft.com/office/drawing/2014/main" id="{0A2E8E03-A15C-4697-82ED-975B8E4641B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0CDBFEA-E4E2-4BD9-8EE2-0E8266F890E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43</a:t>
            </a:fld>
            <a:endParaRPr lang="en-US" altLang="zh-CN" sz="1400">
              <a:solidFill>
                <a:srgbClr val="000000"/>
              </a:solidFill>
              <a:latin typeface="Arial" panose="020B0604020202020204" pitchFamily="34" charset="0"/>
            </a:endParaRPr>
          </a:p>
        </p:txBody>
      </p:sp>
      <p:sp>
        <p:nvSpPr>
          <p:cNvPr id="45060" name="TextBox 5">
            <a:extLst>
              <a:ext uri="{FF2B5EF4-FFF2-40B4-BE49-F238E27FC236}">
                <a16:creationId xmlns:a16="http://schemas.microsoft.com/office/drawing/2014/main" id="{ACC6E490-9F82-4080-9DBD-E23B4A46FEF5}"/>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b="1">
                <a:solidFill>
                  <a:srgbClr val="C00000"/>
                </a:solidFill>
                <a:latin typeface="黑体" panose="02010609060101010101" pitchFamily="49" charset="-122"/>
                <a:ea typeface="黑体" panose="02010609060101010101" pitchFamily="49" charset="-122"/>
              </a:rPr>
              <a:t>小结（主要特点比较）</a:t>
            </a:r>
            <a:endParaRPr lang="zh-CN" altLang="en-US" sz="1800">
              <a:latin typeface="黑体" panose="02010609060101010101" pitchFamily="49" charset="-122"/>
              <a:ea typeface="黑体" panose="02010609060101010101" pitchFamily="49" charset="-122"/>
            </a:endParaRPr>
          </a:p>
        </p:txBody>
      </p:sp>
      <p:sp>
        <p:nvSpPr>
          <p:cNvPr id="45061" name="Text Box 5">
            <a:extLst>
              <a:ext uri="{FF2B5EF4-FFF2-40B4-BE49-F238E27FC236}">
                <a16:creationId xmlns:a16="http://schemas.microsoft.com/office/drawing/2014/main" id="{7D15D695-C31E-451B-BA09-7EAA30B158C0}"/>
              </a:ext>
            </a:extLst>
          </p:cNvPr>
          <p:cNvSpPr>
            <a:spLocks noChangeArrowheads="1"/>
          </p:cNvSpPr>
          <p:nvPr/>
        </p:nvSpPr>
        <p:spPr bwMode="auto">
          <a:xfrm>
            <a:off x="539750" y="1341438"/>
            <a:ext cx="828675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dirty="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1  传感原理</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ts val="1200"/>
              </a:spcBef>
              <a:buFont typeface="Arial" panose="020B0604020202020204" pitchFamily="34" charset="0"/>
              <a:buNone/>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金属应变片</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传感器：</a:t>
            </a: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主要根据金属发生形变后导致截面积、长度等发生变化引起电阻变化，将形变量转换成电学量。（</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长度L、截面积S</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eaLnBrk="1" hangingPunct="1">
              <a:spcBef>
                <a:spcPct val="0"/>
              </a:spcBef>
              <a:buFont typeface="Arial" panose="020B0604020202020204" pitchFamily="34" charset="0"/>
              <a:buNone/>
            </a:pP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 typeface="Arial" panose="020B0604020202020204" pitchFamily="34" charset="0"/>
              <a:buNone/>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压阻式</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传感器：</a:t>
            </a:r>
          </a:p>
          <a:p>
            <a:pPr eaLnBrk="1" hangingPunct="1">
              <a:spcBef>
                <a:spcPct val="0"/>
              </a:spcBef>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主要根据半导体在受应力作用后，半导体中的空隙或载流子发生迁移导致电阻率变化导致的电阻变化</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电阻率ρ</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Text Box 5">
            <a:extLst>
              <a:ext uri="{FF2B5EF4-FFF2-40B4-BE49-F238E27FC236}">
                <a16:creationId xmlns:a16="http://schemas.microsoft.com/office/drawing/2014/main" id="{BB2E5015-8380-4729-975D-A57C9855343C}"/>
              </a:ext>
            </a:extLst>
          </p:cNvPr>
          <p:cNvSpPr>
            <a:spLocks noChangeArrowheads="1"/>
          </p:cNvSpPr>
          <p:nvPr/>
        </p:nvSpPr>
        <p:spPr bwMode="auto">
          <a:xfrm>
            <a:off x="539750" y="4538663"/>
            <a:ext cx="8286750"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zh-CN" altLang="en-US" sz="2400">
                <a:solidFill>
                  <a:schemeClr val="accent1"/>
                </a:solidFill>
                <a:latin typeface="Times New Roman" panose="02020603050405020304" pitchFamily="18" charset="0"/>
                <a:ea typeface="微软雅黑" panose="020B0503020204020204" pitchFamily="34" charset="-122"/>
                <a:cs typeface="Times New Roman" panose="02020603050405020304" pitchFamily="18" charset="0"/>
              </a:rPr>
              <a:t>2  灵敏度</a:t>
            </a:r>
            <a:endParaRPr lang="zh-CN" altLang="en-US" sz="240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ts val="1200"/>
              </a:spcBef>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金属应变片传感器：</a:t>
            </a:r>
            <a:r>
              <a:rPr lang="zh-CN" altLang="en-US"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灵敏度低</a:t>
            </a:r>
            <a:r>
              <a:rPr lang="en-US" altLang="zh-CN"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  K值一般为</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2-3</a:t>
            </a:r>
          </a:p>
          <a:p>
            <a:pPr eaLnBrk="1" hangingPunct="1">
              <a:spcBef>
                <a:spcPct val="0"/>
              </a:spcBef>
              <a:buFont typeface="Arial" panose="020B0604020202020204" pitchFamily="34" charset="0"/>
              <a:buNone/>
            </a:pPr>
            <a:endParaRPr lang="zh-CN" altLang="en-US" sz="2400">
              <a:latin typeface="Times New Roman" panose="02020603050405020304" pitchFamily="18" charset="0"/>
              <a:ea typeface="微软雅黑" panose="020B0503020204020204" pitchFamily="34" charset="-122"/>
              <a:cs typeface="Times New Roman" panose="02020603050405020304" pitchFamily="18" charset="0"/>
            </a:endParaRPr>
          </a:p>
          <a:p>
            <a:pPr eaLnBrk="1" hangingPunct="1">
              <a:spcBef>
                <a:spcPct val="0"/>
              </a:spcBef>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压阻式传感器：</a:t>
            </a:r>
            <a:r>
              <a:rPr lang="zh-CN" altLang="en-US"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灵敏度高</a:t>
            </a:r>
            <a:r>
              <a:rPr lang="en-US" altLang="zh-CN"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a:latin typeface="Times New Roman" panose="02020603050405020304" pitchFamily="18" charset="0"/>
                <a:ea typeface="微软雅黑" panose="020B0503020204020204" pitchFamily="34" charset="-122"/>
                <a:cs typeface="Times New Roman" panose="02020603050405020304" pitchFamily="18" charset="0"/>
              </a:rPr>
              <a:t>   K值一般为</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100-300</a:t>
            </a:r>
            <a:endParaRPr lang="zh-CN" altLang="en-US" sz="18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 name="组合 3">
            <a:extLst>
              <a:ext uri="{FF2B5EF4-FFF2-40B4-BE49-F238E27FC236}">
                <a16:creationId xmlns:a16="http://schemas.microsoft.com/office/drawing/2014/main" id="{48A332BB-DC67-46A2-A586-F3A33D6647C8}"/>
              </a:ext>
            </a:extLst>
          </p:cNvPr>
          <p:cNvGrpSpPr/>
          <p:nvPr/>
        </p:nvGrpSpPr>
        <p:grpSpPr>
          <a:xfrm>
            <a:off x="6049903" y="170642"/>
            <a:ext cx="2776567" cy="1944135"/>
            <a:chOff x="5847540" y="59919"/>
            <a:chExt cx="2776567" cy="1944135"/>
          </a:xfrm>
          <a:effectLst>
            <a:outerShdw blurRad="50800" dist="38100" dir="2700000" algn="tl" rotWithShape="0">
              <a:prstClr val="black">
                <a:alpha val="40000"/>
              </a:prstClr>
            </a:outerShdw>
          </a:effectLst>
          <a:scene3d>
            <a:camera prst="isometricOffAxis2Left">
              <a:rot lat="600000" lon="1080000" rev="0"/>
            </a:camera>
            <a:lightRig rig="threePt" dir="t"/>
          </a:scene3d>
        </p:grpSpPr>
        <p:sp>
          <p:nvSpPr>
            <p:cNvPr id="3" name="矩形: 圆角 2">
              <a:extLst>
                <a:ext uri="{FF2B5EF4-FFF2-40B4-BE49-F238E27FC236}">
                  <a16:creationId xmlns:a16="http://schemas.microsoft.com/office/drawing/2014/main" id="{2DDDCB50-D49E-4082-BC78-9BA2828CAF8D}"/>
                </a:ext>
              </a:extLst>
            </p:cNvPr>
            <p:cNvSpPr/>
            <p:nvPr/>
          </p:nvSpPr>
          <p:spPr bwMode="auto">
            <a:xfrm>
              <a:off x="5847540" y="59919"/>
              <a:ext cx="2776567" cy="1944135"/>
            </a:xfrm>
            <a:prstGeom prst="roundRect">
              <a:avLst/>
            </a:prstGeom>
            <a:solidFill>
              <a:schemeClr val="bg2">
                <a:lumMod val="90000"/>
              </a:schemeClr>
            </a:solidFill>
            <a:ln w="952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a:latin typeface="Arial" pitchFamily="34" charset="0"/>
              </a:endParaRPr>
            </a:p>
          </p:txBody>
        </p:sp>
        <p:pic>
          <p:nvPicPr>
            <p:cNvPr id="7" name="Object 11">
              <a:extLst>
                <a:ext uri="{FF2B5EF4-FFF2-40B4-BE49-F238E27FC236}">
                  <a16:creationId xmlns:a16="http://schemas.microsoft.com/office/drawing/2014/main" id="{36B14594-CD5E-4D25-8218-49E063DE03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740" y="1031987"/>
              <a:ext cx="2448169" cy="864974"/>
            </a:xfrm>
            <a:prstGeom prst="rect">
              <a:avLst/>
            </a:prstGeom>
            <a:noFill/>
            <a:ln w="9525">
              <a:noFill/>
              <a:miter lim="800000"/>
              <a:headEnd/>
              <a:tailEnd/>
            </a:ln>
            <a:sp3d/>
            <a:extLst>
              <a:ext uri="{909E8E84-426E-40DD-AFC4-6F175D3DCCD1}">
                <a14:hiddenFill xmlns:a14="http://schemas.microsoft.com/office/drawing/2010/main">
                  <a:solidFill>
                    <a:srgbClr val="FFFFFF"/>
                  </a:solidFill>
                </a14:hiddenFill>
              </a:ext>
            </a:extLst>
          </p:spPr>
        </p:pic>
        <p:sp>
          <p:nvSpPr>
            <p:cNvPr id="8" name="右大括号 7">
              <a:extLst>
                <a:ext uri="{FF2B5EF4-FFF2-40B4-BE49-F238E27FC236}">
                  <a16:creationId xmlns:a16="http://schemas.microsoft.com/office/drawing/2014/main" id="{44965809-B821-4C4E-8D53-76DF86FADBF5}"/>
                </a:ext>
              </a:extLst>
            </p:cNvPr>
            <p:cNvSpPr/>
            <p:nvPr/>
          </p:nvSpPr>
          <p:spPr bwMode="auto">
            <a:xfrm rot="16200000">
              <a:off x="7799684" y="522462"/>
              <a:ext cx="288020" cy="769297"/>
            </a:xfrm>
            <a:prstGeom prst="rightBrace">
              <a:avLst/>
            </a:prstGeom>
            <a:noFill/>
            <a:ln w="1587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dirty="0">
                <a:latin typeface="Arial" pitchFamily="34" charset="0"/>
              </a:endParaRPr>
            </a:p>
          </p:txBody>
        </p:sp>
        <p:sp>
          <p:nvSpPr>
            <p:cNvPr id="9" name="右大括号 8">
              <a:extLst>
                <a:ext uri="{FF2B5EF4-FFF2-40B4-BE49-F238E27FC236}">
                  <a16:creationId xmlns:a16="http://schemas.microsoft.com/office/drawing/2014/main" id="{9081BC36-A554-4A59-B384-DC0FE60CAB84}"/>
                </a:ext>
              </a:extLst>
            </p:cNvPr>
            <p:cNvSpPr/>
            <p:nvPr/>
          </p:nvSpPr>
          <p:spPr bwMode="auto">
            <a:xfrm rot="16200000">
              <a:off x="6931268" y="676273"/>
              <a:ext cx="288021" cy="465106"/>
            </a:xfrm>
            <a:prstGeom prst="rightBrace">
              <a:avLst/>
            </a:prstGeom>
            <a:noFill/>
            <a:ln w="15875" cap="flat" cmpd="sng" algn="ctr">
              <a:solidFill>
                <a:schemeClr val="tx1"/>
              </a:solidFill>
              <a:prstDash val="solid"/>
              <a:round/>
              <a:headEnd type="none" w="med" len="med"/>
              <a:tailEnd type="none" w="med" len="med"/>
            </a:ln>
            <a:sp3d/>
          </p:spPr>
          <p:txBody>
            <a:bodyPr/>
            <a:lstStyle/>
            <a:p>
              <a:pPr>
                <a:buFont typeface="Arial" pitchFamily="34" charset="0"/>
                <a:buNone/>
                <a:defRPr/>
              </a:pPr>
              <a:endParaRPr lang="zh-CN" altLang="en-US" dirty="0">
                <a:latin typeface="Arial" pitchFamily="34" charset="0"/>
              </a:endParaRPr>
            </a:p>
          </p:txBody>
        </p:sp>
        <p:sp>
          <p:nvSpPr>
            <p:cNvPr id="10" name="矩形 9">
              <a:extLst>
                <a:ext uri="{FF2B5EF4-FFF2-40B4-BE49-F238E27FC236}">
                  <a16:creationId xmlns:a16="http://schemas.microsoft.com/office/drawing/2014/main" id="{19C978A3-8E7C-46FA-A54A-09641A2A7B94}"/>
                </a:ext>
              </a:extLst>
            </p:cNvPr>
            <p:cNvSpPr/>
            <p:nvPr/>
          </p:nvSpPr>
          <p:spPr>
            <a:xfrm>
              <a:off x="7567718" y="150200"/>
              <a:ext cx="646331" cy="646331"/>
            </a:xfrm>
            <a:prstGeom prst="rect">
              <a:avLst/>
            </a:prstGeom>
            <a:noFill/>
            <a:ln>
              <a:noFill/>
            </a:ln>
            <a:sp3d/>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应变</a:t>
              </a:r>
              <a:endParaRPr lang="en-US" altLang="zh-CN"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dirty="0"/>
            </a:p>
          </p:txBody>
        </p:sp>
        <p:sp>
          <p:nvSpPr>
            <p:cNvPr id="11" name="矩形 10">
              <a:extLst>
                <a:ext uri="{FF2B5EF4-FFF2-40B4-BE49-F238E27FC236}">
                  <a16:creationId xmlns:a16="http://schemas.microsoft.com/office/drawing/2014/main" id="{FF8FCA50-AFDA-4EC1-8253-A89F53295147}"/>
                </a:ext>
              </a:extLst>
            </p:cNvPr>
            <p:cNvSpPr/>
            <p:nvPr/>
          </p:nvSpPr>
          <p:spPr>
            <a:xfrm>
              <a:off x="6829061" y="150199"/>
              <a:ext cx="646331" cy="646331"/>
            </a:xfrm>
            <a:prstGeom prst="rect">
              <a:avLst/>
            </a:prstGeom>
            <a:noFill/>
            <a:ln>
              <a:noFill/>
            </a:ln>
            <a:sp3d/>
          </p:spPr>
          <p:txBody>
            <a:bodyPr wrap="none">
              <a:spAutoFit/>
            </a:bodyPr>
            <a:lstStyle/>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压阻</a:t>
              </a:r>
              <a:endParaRPr lang="en-US" altLang="zh-CN" dirty="0">
                <a:solidFill>
                  <a:srgbClr val="FF0000"/>
                </a:solidFill>
                <a:latin typeface="微软雅黑" panose="020B0503020204020204" pitchFamily="34" charset="-122"/>
                <a:ea typeface="微软雅黑" panose="020B0503020204020204" pitchFamily="34" charset="-122"/>
                <a:sym typeface="宋体" panose="02010600030101010101" pitchFamily="2" charset="-122"/>
              </a:endParaRPr>
            </a:p>
            <a:p>
              <a:pPr>
                <a:defRPr/>
              </a:pPr>
              <a:r>
                <a:rPr lang="zh-CN" altLang="en-US" dirty="0">
                  <a:solidFill>
                    <a:srgbClr val="FF0000"/>
                  </a:solidFill>
                  <a:latin typeface="微软雅黑" panose="020B0503020204020204" pitchFamily="34" charset="-122"/>
                  <a:ea typeface="微软雅黑" panose="020B0503020204020204" pitchFamily="34" charset="-122"/>
                  <a:sym typeface="宋体" panose="02010600030101010101" pitchFamily="2" charset="-122"/>
                </a:rPr>
                <a:t>效应</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3"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2" presetClass="emph" presetSubtype="0" fill="hold" nodeType="clickEffect">
                                  <p:stCondLst>
                                    <p:cond delay="0"/>
                                  </p:stCondLst>
                                  <p:childTnLst>
                                    <p:animRot by="120000">
                                      <p:cBhvr>
                                        <p:cTn id="12" dur="100" fill="hold">
                                          <p:stCondLst>
                                            <p:cond delay="0"/>
                                          </p:stCondLst>
                                        </p:cTn>
                                        <p:tgtEl>
                                          <p:spTgt spid="45061">
                                            <p:txEl>
                                              <p:pRg st="5" end="5"/>
                                            </p:txEl>
                                          </p:spTgt>
                                        </p:tgtEl>
                                        <p:attrNameLst>
                                          <p:attrName>r</p:attrName>
                                        </p:attrNameLst>
                                      </p:cBhvr>
                                    </p:animRot>
                                    <p:animRot by="-240000">
                                      <p:cBhvr>
                                        <p:cTn id="13" dur="200" fill="hold">
                                          <p:stCondLst>
                                            <p:cond delay="200"/>
                                          </p:stCondLst>
                                        </p:cTn>
                                        <p:tgtEl>
                                          <p:spTgt spid="45061">
                                            <p:txEl>
                                              <p:pRg st="5" end="5"/>
                                            </p:txEl>
                                          </p:spTgt>
                                        </p:tgtEl>
                                        <p:attrNameLst>
                                          <p:attrName>r</p:attrName>
                                        </p:attrNameLst>
                                      </p:cBhvr>
                                    </p:animRot>
                                    <p:animRot by="240000">
                                      <p:cBhvr>
                                        <p:cTn id="14" dur="200" fill="hold">
                                          <p:stCondLst>
                                            <p:cond delay="400"/>
                                          </p:stCondLst>
                                        </p:cTn>
                                        <p:tgtEl>
                                          <p:spTgt spid="45061">
                                            <p:txEl>
                                              <p:pRg st="5" end="5"/>
                                            </p:txEl>
                                          </p:spTgt>
                                        </p:tgtEl>
                                        <p:attrNameLst>
                                          <p:attrName>r</p:attrName>
                                        </p:attrNameLst>
                                      </p:cBhvr>
                                    </p:animRot>
                                    <p:animRot by="-240000">
                                      <p:cBhvr>
                                        <p:cTn id="15" dur="200" fill="hold">
                                          <p:stCondLst>
                                            <p:cond delay="600"/>
                                          </p:stCondLst>
                                        </p:cTn>
                                        <p:tgtEl>
                                          <p:spTgt spid="45061">
                                            <p:txEl>
                                              <p:pRg st="5" end="5"/>
                                            </p:txEl>
                                          </p:spTgt>
                                        </p:tgtEl>
                                        <p:attrNameLst>
                                          <p:attrName>r</p:attrName>
                                        </p:attrNameLst>
                                      </p:cBhvr>
                                    </p:animRot>
                                    <p:animRot by="120000">
                                      <p:cBhvr>
                                        <p:cTn id="16" dur="200" fill="hold">
                                          <p:stCondLst>
                                            <p:cond delay="800"/>
                                          </p:stCondLst>
                                        </p:cTn>
                                        <p:tgtEl>
                                          <p:spTgt spid="45061">
                                            <p:txEl>
                                              <p:pRg st="5" end="5"/>
                                            </p:txEl>
                                          </p:spTgt>
                                        </p:tgtEl>
                                        <p:attrNameLst>
                                          <p:attrName>r</p:attrName>
                                        </p:attrNameLst>
                                      </p:cBhvr>
                                    </p:animRo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矩形 4">
            <a:extLst>
              <a:ext uri="{FF2B5EF4-FFF2-40B4-BE49-F238E27FC236}">
                <a16:creationId xmlns:a16="http://schemas.microsoft.com/office/drawing/2014/main" id="{7675C246-7130-4BB6-A37B-B3D0F377972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6083" name="灯片编号占位符 3">
            <a:extLst>
              <a:ext uri="{FF2B5EF4-FFF2-40B4-BE49-F238E27FC236}">
                <a16:creationId xmlns:a16="http://schemas.microsoft.com/office/drawing/2014/main" id="{DF938A54-306A-4F62-8473-5491794C412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DECDA708-6152-49E0-9C12-311E56944DD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44</a:t>
            </a:fld>
            <a:endParaRPr lang="en-US" altLang="zh-CN" sz="1400">
              <a:solidFill>
                <a:srgbClr val="000000"/>
              </a:solidFill>
              <a:latin typeface="Arial" panose="020B0604020202020204" pitchFamily="34" charset="0"/>
            </a:endParaRPr>
          </a:p>
        </p:txBody>
      </p:sp>
      <p:sp>
        <p:nvSpPr>
          <p:cNvPr id="46084" name="TextBox 5">
            <a:extLst>
              <a:ext uri="{FF2B5EF4-FFF2-40B4-BE49-F238E27FC236}">
                <a16:creationId xmlns:a16="http://schemas.microsoft.com/office/drawing/2014/main" id="{7D850118-B0E1-45E5-9C1C-1E8E1199120B}"/>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r>
              <a:rPr lang="en-US" altLang="zh-CN" b="1">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引子</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46085" name="Text Box 54">
            <a:extLst>
              <a:ext uri="{FF2B5EF4-FFF2-40B4-BE49-F238E27FC236}">
                <a16:creationId xmlns:a16="http://schemas.microsoft.com/office/drawing/2014/main" id="{8D2FF2D5-6212-4AD7-9702-F048F7EC5BC7}"/>
              </a:ext>
            </a:extLst>
          </p:cNvPr>
          <p:cNvSpPr>
            <a:spLocks noChangeArrowheads="1"/>
          </p:cNvSpPr>
          <p:nvPr/>
        </p:nvSpPr>
        <p:spPr bwMode="auto">
          <a:xfrm>
            <a:off x="611188" y="4000500"/>
            <a:ext cx="8351837"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下面的问题是：</a:t>
            </a:r>
            <a:r>
              <a:rPr lang="zh-CN" altLang="en-US" sz="2400">
                <a:solidFill>
                  <a:srgbClr val="0000FF"/>
                </a:solidFill>
                <a:latin typeface="微软雅黑" panose="020B0503020204020204" pitchFamily="34" charset="-122"/>
                <a:ea typeface="微软雅黑" panose="020B0503020204020204" pitchFamily="34" charset="-122"/>
              </a:rPr>
              <a:t>怎么测量</a:t>
            </a:r>
            <a:r>
              <a:rPr lang="zh-CN" altLang="en-US"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r>
              <a:rPr lang="en-US" altLang="zh-CN"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R </a:t>
            </a:r>
            <a:r>
              <a:rPr lang="zh-CN" altLang="en-US" sz="2400">
                <a:solidFill>
                  <a:srgbClr val="0000FF"/>
                </a:solidFill>
                <a:latin typeface="微软雅黑" panose="020B0503020204020204" pitchFamily="34" charset="-122"/>
                <a:ea typeface="微软雅黑" panose="020B0503020204020204" pitchFamily="34" charset="-122"/>
                <a:sym typeface="Symbol" panose="05050102010706020507" pitchFamily="18" charset="2"/>
              </a:rPr>
              <a:t>？</a:t>
            </a:r>
            <a:endParaRPr lang="zh-CN" altLang="en-US" sz="1800">
              <a:solidFill>
                <a:srgbClr val="0000FF"/>
              </a:solidFill>
              <a:latin typeface="微软雅黑" panose="020B0503020204020204" pitchFamily="34" charset="-122"/>
              <a:ea typeface="微软雅黑" panose="020B0503020204020204" pitchFamily="34" charset="-122"/>
            </a:endParaRPr>
          </a:p>
        </p:txBody>
      </p:sp>
      <p:sp>
        <p:nvSpPr>
          <p:cNvPr id="46086" name="Text Box 54">
            <a:extLst>
              <a:ext uri="{FF2B5EF4-FFF2-40B4-BE49-F238E27FC236}">
                <a16:creationId xmlns:a16="http://schemas.microsoft.com/office/drawing/2014/main" id="{04577834-00C8-49FE-8A21-802E5C8DDAC3}"/>
              </a:ext>
            </a:extLst>
          </p:cNvPr>
          <p:cNvSpPr>
            <a:spLocks noChangeArrowheads="1"/>
          </p:cNvSpPr>
          <p:nvPr/>
        </p:nvSpPr>
        <p:spPr bwMode="auto">
          <a:xfrm>
            <a:off x="681038" y="1520825"/>
            <a:ext cx="1298575" cy="21240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力</a:t>
            </a:r>
            <a:endParaRPr lang="en-US" altLang="zh-CN" sz="2400" dirty="0">
              <a:latin typeface="微软雅黑" panose="020B0503020204020204" pitchFamily="34" charset="-122"/>
              <a:ea typeface="微软雅黑" panose="020B0503020204020204" pitchFamily="34" charset="-122"/>
            </a:endParaRPr>
          </a:p>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压力    </a:t>
            </a:r>
            <a:endParaRPr lang="en-US" altLang="zh-CN" sz="2400" dirty="0">
              <a:latin typeface="微软雅黑" panose="020B0503020204020204" pitchFamily="34" charset="-122"/>
              <a:ea typeface="微软雅黑" panose="020B0503020204020204" pitchFamily="34" charset="-122"/>
            </a:endParaRPr>
          </a:p>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加速度</a:t>
            </a:r>
            <a:endParaRPr lang="en-US" altLang="zh-CN" sz="2400" dirty="0">
              <a:latin typeface="微软雅黑" panose="020B0503020204020204" pitchFamily="34" charset="-122"/>
              <a:ea typeface="微软雅黑" panose="020B0503020204020204" pitchFamily="34" charset="-122"/>
            </a:endParaRPr>
          </a:p>
          <a:p>
            <a:pPr eaLnBrk="1" hangingPunct="1">
              <a:spcBef>
                <a:spcPct val="500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
        <p:nvSpPr>
          <p:cNvPr id="46087" name="箭头: 右 1">
            <a:extLst>
              <a:ext uri="{FF2B5EF4-FFF2-40B4-BE49-F238E27FC236}">
                <a16:creationId xmlns:a16="http://schemas.microsoft.com/office/drawing/2014/main" id="{87EFCBE6-A92D-4A05-84EA-30C99BF853DA}"/>
              </a:ext>
            </a:extLst>
          </p:cNvPr>
          <p:cNvSpPr>
            <a:spLocks noChangeArrowheads="1"/>
          </p:cNvSpPr>
          <p:nvPr/>
        </p:nvSpPr>
        <p:spPr bwMode="auto">
          <a:xfrm>
            <a:off x="1943100" y="2222500"/>
            <a:ext cx="1008063" cy="358775"/>
          </a:xfrm>
          <a:prstGeom prst="rightArrow">
            <a:avLst>
              <a:gd name="adj1" fmla="val 50000"/>
              <a:gd name="adj2" fmla="val 50172"/>
            </a:avLst>
          </a:prstGeom>
          <a:solidFill>
            <a:schemeClr val="accent1"/>
          </a:solidFill>
          <a:ln w="9525" algn="ctr">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46088" name="Text Box 54">
            <a:extLst>
              <a:ext uri="{FF2B5EF4-FFF2-40B4-BE49-F238E27FC236}">
                <a16:creationId xmlns:a16="http://schemas.microsoft.com/office/drawing/2014/main" id="{A1B283E9-1536-4DE9-803F-BFD34211D794}"/>
              </a:ext>
            </a:extLst>
          </p:cNvPr>
          <p:cNvSpPr>
            <a:spLocks noChangeArrowheads="1"/>
          </p:cNvSpPr>
          <p:nvPr/>
        </p:nvSpPr>
        <p:spPr bwMode="auto">
          <a:xfrm>
            <a:off x="3311188" y="2165350"/>
            <a:ext cx="1620837" cy="46166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应变</a:t>
            </a:r>
            <a:endParaRPr lang="zh-CN" altLang="en-US" sz="1800" dirty="0">
              <a:latin typeface="微软雅黑" panose="020B0503020204020204" pitchFamily="34" charset="-122"/>
              <a:ea typeface="微软雅黑" panose="020B0503020204020204" pitchFamily="34" charset="-122"/>
            </a:endParaRPr>
          </a:p>
        </p:txBody>
      </p:sp>
      <p:sp>
        <p:nvSpPr>
          <p:cNvPr id="46089" name="Text Box 54">
            <a:extLst>
              <a:ext uri="{FF2B5EF4-FFF2-40B4-BE49-F238E27FC236}">
                <a16:creationId xmlns:a16="http://schemas.microsoft.com/office/drawing/2014/main" id="{920666C0-1C5D-4576-B99C-BE4F137F3CF0}"/>
              </a:ext>
            </a:extLst>
          </p:cNvPr>
          <p:cNvSpPr>
            <a:spLocks noChangeArrowheads="1"/>
          </p:cNvSpPr>
          <p:nvPr/>
        </p:nvSpPr>
        <p:spPr bwMode="auto">
          <a:xfrm>
            <a:off x="1835810" y="1703388"/>
            <a:ext cx="1300163"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弹性体</a:t>
            </a:r>
            <a:endParaRPr lang="zh-CN" altLang="en-US" sz="1800" dirty="0">
              <a:latin typeface="微软雅黑" panose="020B0503020204020204" pitchFamily="34" charset="-122"/>
              <a:ea typeface="微软雅黑" panose="020B0503020204020204" pitchFamily="34" charset="-122"/>
            </a:endParaRPr>
          </a:p>
        </p:txBody>
      </p:sp>
      <p:sp>
        <p:nvSpPr>
          <p:cNvPr id="46090" name="Text Box 54">
            <a:extLst>
              <a:ext uri="{FF2B5EF4-FFF2-40B4-BE49-F238E27FC236}">
                <a16:creationId xmlns:a16="http://schemas.microsoft.com/office/drawing/2014/main" id="{4DFBC6BD-9413-493E-A754-F62CE29E82D3}"/>
              </a:ext>
            </a:extLst>
          </p:cNvPr>
          <p:cNvSpPr>
            <a:spLocks noChangeArrowheads="1"/>
          </p:cNvSpPr>
          <p:nvPr/>
        </p:nvSpPr>
        <p:spPr bwMode="auto">
          <a:xfrm>
            <a:off x="5580063" y="2165350"/>
            <a:ext cx="2259012"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电阻变化量</a:t>
            </a:r>
            <a:r>
              <a:rPr lang="zh-CN" altLang="en-US" sz="2400">
                <a:latin typeface="微软雅黑" panose="020B0503020204020204" pitchFamily="34" charset="-122"/>
                <a:ea typeface="微软雅黑" panose="020B0503020204020204" pitchFamily="34" charset="-122"/>
                <a:sym typeface="Symbol" panose="05050102010706020507" pitchFamily="18" charset="2"/>
              </a:rPr>
              <a:t></a:t>
            </a:r>
            <a:r>
              <a:rPr lang="en-US" altLang="zh-CN" sz="2400">
                <a:latin typeface="微软雅黑" panose="020B0503020204020204" pitchFamily="34" charset="-122"/>
                <a:ea typeface="微软雅黑" panose="020B0503020204020204" pitchFamily="34" charset="-122"/>
                <a:sym typeface="Symbol" panose="05050102010706020507" pitchFamily="18" charset="2"/>
              </a:rPr>
              <a:t>R</a:t>
            </a:r>
            <a:endParaRPr lang="zh-CN" altLang="en-US" sz="2400">
              <a:latin typeface="微软雅黑" panose="020B0503020204020204" pitchFamily="34" charset="-122"/>
              <a:ea typeface="微软雅黑" panose="020B0503020204020204" pitchFamily="34" charset="-122"/>
            </a:endParaRPr>
          </a:p>
        </p:txBody>
      </p:sp>
      <p:sp>
        <p:nvSpPr>
          <p:cNvPr id="46091" name="箭头: 右 59">
            <a:extLst>
              <a:ext uri="{FF2B5EF4-FFF2-40B4-BE49-F238E27FC236}">
                <a16:creationId xmlns:a16="http://schemas.microsoft.com/office/drawing/2014/main" id="{D921366F-43DA-4FE5-B832-5DF7F125C9A4}"/>
              </a:ext>
            </a:extLst>
          </p:cNvPr>
          <p:cNvSpPr>
            <a:spLocks noChangeArrowheads="1"/>
          </p:cNvSpPr>
          <p:nvPr/>
        </p:nvSpPr>
        <p:spPr bwMode="auto">
          <a:xfrm>
            <a:off x="4386263" y="2219325"/>
            <a:ext cx="1008062" cy="360363"/>
          </a:xfrm>
          <a:prstGeom prst="rightArrow">
            <a:avLst>
              <a:gd name="adj1" fmla="val 50000"/>
              <a:gd name="adj2" fmla="val 49951"/>
            </a:avLst>
          </a:prstGeom>
          <a:solidFill>
            <a:schemeClr val="accent1"/>
          </a:solidFill>
          <a:ln w="9525" algn="ctr">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46092" name="Text Box 54">
            <a:extLst>
              <a:ext uri="{FF2B5EF4-FFF2-40B4-BE49-F238E27FC236}">
                <a16:creationId xmlns:a16="http://schemas.microsoft.com/office/drawing/2014/main" id="{2A4AA367-09DB-41A5-852A-FB7111C82CC1}"/>
              </a:ext>
            </a:extLst>
          </p:cNvPr>
          <p:cNvSpPr>
            <a:spLocks noChangeArrowheads="1"/>
          </p:cNvSpPr>
          <p:nvPr/>
        </p:nvSpPr>
        <p:spPr bwMode="auto">
          <a:xfrm>
            <a:off x="4424363" y="1700213"/>
            <a:ext cx="1300162"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应变片</a:t>
            </a:r>
            <a:endParaRPr lang="zh-CN" altLang="en-US" sz="1800">
              <a:latin typeface="微软雅黑" panose="020B0503020204020204" pitchFamily="34" charset="-122"/>
              <a:ea typeface="微软雅黑" panose="020B0503020204020204" pitchFamily="34" charset="-122"/>
            </a:endParaRPr>
          </a:p>
        </p:txBody>
      </p:sp>
      <p:sp>
        <p:nvSpPr>
          <p:cNvPr id="46093" name="Text Box 54">
            <a:extLst>
              <a:ext uri="{FF2B5EF4-FFF2-40B4-BE49-F238E27FC236}">
                <a16:creationId xmlns:a16="http://schemas.microsoft.com/office/drawing/2014/main" id="{E27B79B3-853C-4980-A5D9-CA4713902EAE}"/>
              </a:ext>
            </a:extLst>
          </p:cNvPr>
          <p:cNvSpPr>
            <a:spLocks noChangeArrowheads="1"/>
          </p:cNvSpPr>
          <p:nvPr/>
        </p:nvSpPr>
        <p:spPr bwMode="auto">
          <a:xfrm>
            <a:off x="611188" y="4900613"/>
            <a:ext cx="8351837" cy="15696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微软雅黑" panose="020B0503020204020204" pitchFamily="34" charset="-122"/>
                <a:ea typeface="微软雅黑" panose="020B0503020204020204" pitchFamily="34" charset="-122"/>
              </a:rPr>
              <a:t>问题： </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r>
              <a:rPr lang="zh-CN" altLang="en-US" sz="2400" dirty="0">
                <a:solidFill>
                  <a:srgbClr val="0000FF"/>
                </a:solidFill>
                <a:latin typeface="微软雅黑" panose="020B0503020204020204" pitchFamily="34" charset="-122"/>
                <a:ea typeface="微软雅黑" panose="020B0503020204020204" pitchFamily="34" charset="-122"/>
              </a:rPr>
              <a:t>应变很小</a:t>
            </a:r>
            <a:r>
              <a:rPr lang="zh-CN" altLang="en-US" sz="2400" dirty="0">
                <a:latin typeface="微软雅黑" panose="020B0503020204020204" pitchFamily="34" charset="-122"/>
                <a:ea typeface="微软雅黑" panose="020B0503020204020204" pitchFamily="34" charset="-122"/>
              </a:rPr>
              <a:t>，线性区窄</a:t>
            </a:r>
            <a:r>
              <a:rPr lang="en-US" altLang="zh-CN" sz="2400" dirty="0">
                <a:latin typeface="微软雅黑" panose="020B0503020204020204" pitchFamily="34" charset="-122"/>
                <a:ea typeface="微软雅黑" panose="020B0503020204020204" pitchFamily="34" charset="-122"/>
              </a:rPr>
              <a:t>——</a:t>
            </a:r>
            <a:r>
              <a:rPr lang="zh-CN" altLang="en-US" sz="2400" dirty="0">
                <a:highlight>
                  <a:srgbClr val="FFFF00"/>
                </a:highlight>
                <a:latin typeface="微软雅黑" panose="020B0503020204020204" pitchFamily="34" charset="-122"/>
                <a:ea typeface="微软雅黑" panose="020B0503020204020204" pitchFamily="34" charset="-122"/>
              </a:rPr>
              <a:t>克服非线性</a:t>
            </a:r>
            <a:endParaRPr lang="en-US" altLang="zh-CN" sz="2400" dirty="0">
              <a:highlight>
                <a:srgbClr val="FFFF00"/>
              </a:highlight>
              <a:latin typeface="微软雅黑" panose="020B0503020204020204" pitchFamily="34" charset="-122"/>
              <a:ea typeface="微软雅黑" panose="020B0503020204020204" pitchFamily="34" charset="-122"/>
            </a:endParaRPr>
          </a:p>
          <a:p>
            <a:pPr eaLnBrk="1" hangingPunct="1">
              <a:spcBef>
                <a:spcPct val="500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sym typeface="Symbol" panose="05050102010706020507" pitchFamily="18" charset="2"/>
              </a:rPr>
              <a:t>           2</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灵敏度小</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，特别是金属应变片</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highlight>
                  <a:srgbClr val="FFFF00"/>
                </a:highlight>
                <a:latin typeface="微软雅黑" panose="020B0503020204020204" pitchFamily="34" charset="-122"/>
                <a:ea typeface="微软雅黑" panose="020B0503020204020204" pitchFamily="34" charset="-122"/>
                <a:sym typeface="Symbol" panose="05050102010706020507" pitchFamily="18" charset="2"/>
              </a:rPr>
              <a:t>信号放大</a:t>
            </a:r>
            <a:endParaRPr lang="en-US" altLang="zh-CN" sz="2400" dirty="0">
              <a:highlight>
                <a:srgbClr val="FFFF00"/>
              </a:highlight>
              <a:latin typeface="微软雅黑" panose="020B0503020204020204" pitchFamily="34" charset="-122"/>
              <a:ea typeface="微软雅黑" panose="020B0503020204020204" pitchFamily="34" charset="-122"/>
              <a:sym typeface="Symbol" panose="05050102010706020507" pitchFamily="18" charset="2"/>
            </a:endParaRPr>
          </a:p>
          <a:p>
            <a:pPr eaLnBrk="1" hangingPunct="1">
              <a:spcBef>
                <a:spcPct val="50000"/>
              </a:spcBef>
              <a:buFont typeface="Arial" panose="020B0604020202020204" pitchFamily="34" charset="0"/>
              <a:buNone/>
            </a:pPr>
            <a:r>
              <a:rPr lang="en-US" altLang="zh-CN" sz="2400" dirty="0">
                <a:latin typeface="微软雅黑" panose="020B0503020204020204" pitchFamily="34" charset="-122"/>
                <a:ea typeface="微软雅黑" panose="020B0503020204020204" pitchFamily="34" charset="-122"/>
                <a:sym typeface="Symbol" panose="05050102010706020507" pitchFamily="18" charset="2"/>
              </a:rPr>
              <a:t>           3</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受温度影响大</a:t>
            </a:r>
            <a:r>
              <a:rPr lang="zh-CN" altLang="en-US" sz="2400" dirty="0">
                <a:latin typeface="微软雅黑" panose="020B0503020204020204" pitchFamily="34" charset="-122"/>
                <a:ea typeface="微软雅黑" panose="020B0503020204020204" pitchFamily="34" charset="-122"/>
                <a:sym typeface="Symbol" panose="05050102010706020507" pitchFamily="18" charset="2"/>
              </a:rPr>
              <a:t>，特别是压阻元件</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a:t>
            </a:r>
            <a:r>
              <a:rPr lang="zh-CN" altLang="en-US" sz="2400" dirty="0">
                <a:highlight>
                  <a:srgbClr val="FFFF00"/>
                </a:highlight>
                <a:latin typeface="微软雅黑" panose="020B0503020204020204" pitchFamily="34" charset="-122"/>
                <a:ea typeface="微软雅黑" panose="020B0503020204020204" pitchFamily="34" charset="-122"/>
                <a:sym typeface="Symbol" panose="05050102010706020507" pitchFamily="18" charset="2"/>
              </a:rPr>
              <a:t>温度补偿</a:t>
            </a:r>
            <a:r>
              <a:rPr lang="en-US" altLang="zh-CN" sz="2400" dirty="0">
                <a:latin typeface="微软雅黑" panose="020B0503020204020204" pitchFamily="34" charset="-122"/>
                <a:ea typeface="微软雅黑" panose="020B0503020204020204" pitchFamily="34" charset="-122"/>
                <a:sym typeface="Symbol" panose="05050102010706020507" pitchFamily="18" charset="2"/>
              </a:rPr>
              <a:t> </a:t>
            </a:r>
            <a:endParaRPr lang="zh-CN" altLang="en-US" sz="180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0E8F71F2-88E7-4C8F-B570-310A291F767A}"/>
              </a:ext>
            </a:extLst>
          </p:cNvPr>
          <p:cNvSpPr txBox="1">
            <a:spLocks noRot="1" noChangeAspect="1" noMove="1" noResize="1" noEditPoints="1" noAdjustHandles="1" noChangeArrowheads="1" noChangeShapeType="1" noTextEdit="1"/>
          </p:cNvSpPr>
          <p:nvPr/>
        </p:nvSpPr>
        <p:spPr>
          <a:xfrm>
            <a:off x="5104074" y="3881378"/>
            <a:ext cx="1559921" cy="689035"/>
          </a:xfrm>
          <a:prstGeom prst="rect">
            <a:avLst/>
          </a:prstGeom>
          <a:blipFill>
            <a:blip r:embed="rId2"/>
            <a:stretch>
              <a:fillRect/>
            </a:stretch>
          </a:blipFill>
        </p:spPr>
        <p:txBody>
          <a:bodyPr/>
          <a:lstStyle/>
          <a:p>
            <a:r>
              <a:rPr lang="zh-CN" altLang="en-US">
                <a:noFill/>
              </a:rPr>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4">
            <a:extLst>
              <a:ext uri="{FF2B5EF4-FFF2-40B4-BE49-F238E27FC236}">
                <a16:creationId xmlns:a16="http://schemas.microsoft.com/office/drawing/2014/main" id="{34F402D7-00D9-4FE9-A09A-52F0A0F58BD7}"/>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7107" name="灯片编号占位符 3">
            <a:extLst>
              <a:ext uri="{FF2B5EF4-FFF2-40B4-BE49-F238E27FC236}">
                <a16:creationId xmlns:a16="http://schemas.microsoft.com/office/drawing/2014/main" id="{63C48832-75B1-4350-A14B-E70A5C0892E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AF504A99-DBA9-4E10-B7AA-80AA188EADD5}"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45</a:t>
            </a:fld>
            <a:endParaRPr lang="en-US" altLang="zh-CN" sz="1400">
              <a:solidFill>
                <a:srgbClr val="000000"/>
              </a:solidFill>
              <a:latin typeface="Arial" panose="020B0604020202020204" pitchFamily="34" charset="0"/>
            </a:endParaRPr>
          </a:p>
        </p:txBody>
      </p:sp>
      <p:sp>
        <p:nvSpPr>
          <p:cNvPr id="47108" name="TextBox 5">
            <a:extLst>
              <a:ext uri="{FF2B5EF4-FFF2-40B4-BE49-F238E27FC236}">
                <a16:creationId xmlns:a16="http://schemas.microsoft.com/office/drawing/2014/main" id="{C6C27996-71A0-4AC4-9D78-5280E85A02AD}"/>
              </a:ext>
            </a:extLst>
          </p:cNvPr>
          <p:cNvSpPr>
            <a:spLocks noChangeArrowheads="1"/>
          </p:cNvSpPr>
          <p:nvPr/>
        </p:nvSpPr>
        <p:spPr bwMode="auto">
          <a:xfrm>
            <a:off x="684213" y="260350"/>
            <a:ext cx="716756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latin typeface="黑体" panose="02010609060101010101" pitchFamily="49" charset="-122"/>
                <a:ea typeface="黑体" panose="02010609060101010101" pitchFamily="49" charset="-122"/>
              </a:rPr>
              <a:t>4</a:t>
            </a:r>
            <a:r>
              <a:rPr lang="zh-CN" altLang="en-US" b="1" dirty="0">
                <a:solidFill>
                  <a:srgbClr val="CC0000"/>
                </a:solidFill>
                <a:latin typeface="黑体" panose="02010609060101010101" pitchFamily="49" charset="-122"/>
                <a:ea typeface="黑体" panose="02010609060101010101" pitchFamily="49" charset="-122"/>
                <a:sym typeface="楷体_GB2312" pitchFamily="49" charset="-122"/>
              </a:rPr>
              <a:t> 测量电路</a:t>
            </a:r>
            <a:r>
              <a:rPr lang="en-US" altLang="zh-CN" b="1" dirty="0">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dirty="0">
                <a:solidFill>
                  <a:srgbClr val="0000FF"/>
                </a:solidFill>
                <a:latin typeface="黑体" panose="02010609060101010101" pitchFamily="49" charset="-122"/>
                <a:ea typeface="黑体" panose="02010609060101010101" pitchFamily="49" charset="-122"/>
                <a:sym typeface="楷体_GB2312" pitchFamily="49" charset="-122"/>
              </a:rPr>
              <a:t>惠斯通电桥</a:t>
            </a:r>
            <a:r>
              <a:rPr lang="en-US" altLang="zh-CN" b="1" dirty="0">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dirty="0">
                <a:latin typeface="黑体" panose="02010609060101010101" pitchFamily="49" charset="-122"/>
                <a:ea typeface="黑体" panose="02010609060101010101" pitchFamily="49" charset="-122"/>
                <a:sym typeface="楷体_GB2312" pitchFamily="49" charset="-122"/>
              </a:rPr>
              <a:t>必考内容</a:t>
            </a:r>
            <a:endParaRPr lang="zh-CN" altLang="en-US" sz="1800" dirty="0">
              <a:latin typeface="黑体" panose="02010609060101010101" pitchFamily="49" charset="-122"/>
              <a:ea typeface="黑体" panose="02010609060101010101" pitchFamily="49" charset="-122"/>
            </a:endParaRPr>
          </a:p>
        </p:txBody>
      </p:sp>
      <p:sp>
        <p:nvSpPr>
          <p:cNvPr id="47109" name="Text Box 54">
            <a:extLst>
              <a:ext uri="{FF2B5EF4-FFF2-40B4-BE49-F238E27FC236}">
                <a16:creationId xmlns:a16="http://schemas.microsoft.com/office/drawing/2014/main" id="{8B09718B-5C22-4932-9677-DE1FF25811C6}"/>
              </a:ext>
            </a:extLst>
          </p:cNvPr>
          <p:cNvSpPr>
            <a:spLocks noChangeArrowheads="1"/>
          </p:cNvSpPr>
          <p:nvPr/>
        </p:nvSpPr>
        <p:spPr bwMode="auto">
          <a:xfrm>
            <a:off x="528639" y="1396999"/>
            <a:ext cx="8351838"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微软雅黑" panose="020B0503020204020204" pitchFamily="34" charset="-122"/>
                <a:ea typeface="微软雅黑" panose="020B0503020204020204" pitchFamily="34" charset="-122"/>
              </a:rPr>
              <a:t>测量应变式传感器的测量线路多采用</a:t>
            </a:r>
            <a:r>
              <a:rPr lang="zh-CN" altLang="en-US" sz="2400" dirty="0">
                <a:solidFill>
                  <a:srgbClr val="C00000"/>
                </a:solidFill>
                <a:latin typeface="微软雅黑" panose="020B0503020204020204" pitchFamily="34" charset="-122"/>
                <a:ea typeface="微软雅黑" panose="020B0503020204020204" pitchFamily="34" charset="-122"/>
              </a:rPr>
              <a:t>惠斯通电桥</a:t>
            </a:r>
            <a:endParaRPr lang="zh-CN" altLang="en-US" sz="1800" dirty="0">
              <a:solidFill>
                <a:srgbClr val="C00000"/>
              </a:solidFill>
              <a:latin typeface="微软雅黑" panose="020B0503020204020204" pitchFamily="34" charset="-122"/>
              <a:ea typeface="微软雅黑" panose="020B0503020204020204" pitchFamily="34" charset="-122"/>
            </a:endParaRPr>
          </a:p>
        </p:txBody>
      </p:sp>
      <p:sp>
        <p:nvSpPr>
          <p:cNvPr id="47110" name="Rectangle 2">
            <a:extLst>
              <a:ext uri="{FF2B5EF4-FFF2-40B4-BE49-F238E27FC236}">
                <a16:creationId xmlns:a16="http://schemas.microsoft.com/office/drawing/2014/main" id="{5B6260FF-744A-4F16-81BA-214829972F55}"/>
              </a:ext>
            </a:extLst>
          </p:cNvPr>
          <p:cNvSpPr>
            <a:spLocks noGrp="1" noChangeArrowheads="1"/>
          </p:cNvSpPr>
          <p:nvPr/>
        </p:nvSpPr>
        <p:spPr bwMode="auto">
          <a:xfrm>
            <a:off x="5308600" y="2554287"/>
            <a:ext cx="2879725"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E </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：供桥电源</a:t>
            </a:r>
            <a:endParaRPr lang="en-US" altLang="zh-CN"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en-US" altLang="zh-CN" sz="2400" b="1" i="1" dirty="0" err="1">
                <a:solidFill>
                  <a:srgbClr val="0000FF"/>
                </a:solidFill>
                <a:latin typeface="微软雅黑" panose="020B0503020204020204" pitchFamily="34" charset="-122"/>
                <a:ea typeface="微软雅黑" panose="020B0503020204020204" pitchFamily="34" charset="-122"/>
                <a:sym typeface="Symbol" panose="05050102010706020507" pitchFamily="18" charset="2"/>
              </a:rPr>
              <a:t>R</a:t>
            </a:r>
            <a:r>
              <a:rPr lang="en-US" altLang="zh-CN" sz="1800" b="1" i="1" dirty="0" err="1">
                <a:solidFill>
                  <a:srgbClr val="0000FF"/>
                </a:solidFill>
                <a:latin typeface="微软雅黑" panose="020B0503020204020204" pitchFamily="34" charset="-122"/>
                <a:ea typeface="微软雅黑" panose="020B0503020204020204" pitchFamily="34" charset="-122"/>
                <a:sym typeface="Symbol" panose="05050102010706020507" pitchFamily="18" charset="2"/>
              </a:rPr>
              <a:t>g</a:t>
            </a:r>
            <a:r>
              <a:rPr lang="en-US" altLang="zh-CN" sz="18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 </a:t>
            </a:r>
            <a:r>
              <a:rPr lang="zh-CN" altLang="en-US"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：负载电阻</a:t>
            </a:r>
            <a:endParaRPr lang="en-US" altLang="zh-CN" sz="2400"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en-US" altLang="zh-CN" sz="24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I</a:t>
            </a:r>
            <a:r>
              <a:rPr lang="en-US" altLang="zh-CN" sz="18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g </a:t>
            </a:r>
            <a:r>
              <a:rPr lang="zh-CN" altLang="en-US" sz="2400" dirty="0">
                <a:solidFill>
                  <a:srgbClr val="0000FF"/>
                </a:solidFill>
                <a:latin typeface="微软雅黑" panose="020B0503020204020204" pitchFamily="34" charset="-122"/>
                <a:ea typeface="微软雅黑" panose="020B0503020204020204" pitchFamily="34" charset="-122"/>
              </a:rPr>
              <a:t>：负载电流</a:t>
            </a:r>
            <a:endParaRPr lang="en-US" altLang="zh-CN" sz="2400" dirty="0">
              <a:solidFill>
                <a:srgbClr val="0000FF"/>
              </a:solidFill>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en-US" altLang="zh-CN" sz="28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u</a:t>
            </a:r>
            <a:r>
              <a:rPr lang="en-US" altLang="zh-CN" sz="1800" b="1" i="1" dirty="0">
                <a:solidFill>
                  <a:srgbClr val="0000FF"/>
                </a:solidFill>
                <a:latin typeface="微软雅黑" panose="020B0503020204020204" pitchFamily="34" charset="-122"/>
                <a:ea typeface="微软雅黑" panose="020B0503020204020204" pitchFamily="34" charset="-122"/>
                <a:sym typeface="Symbol" panose="05050102010706020507" pitchFamily="18" charset="2"/>
              </a:rPr>
              <a:t>g </a:t>
            </a:r>
            <a:r>
              <a:rPr lang="zh-CN" altLang="en-US" sz="2400" dirty="0">
                <a:solidFill>
                  <a:srgbClr val="0000FF"/>
                </a:solidFill>
                <a:latin typeface="微软雅黑" panose="020B0503020204020204" pitchFamily="34" charset="-122"/>
                <a:ea typeface="微软雅黑" panose="020B0503020204020204" pitchFamily="34" charset="-122"/>
              </a:rPr>
              <a:t>：负载电压</a:t>
            </a:r>
          </a:p>
        </p:txBody>
      </p:sp>
      <p:sp>
        <p:nvSpPr>
          <p:cNvPr id="47111" name="Rectangle 2">
            <a:extLst>
              <a:ext uri="{FF2B5EF4-FFF2-40B4-BE49-F238E27FC236}">
                <a16:creationId xmlns:a16="http://schemas.microsoft.com/office/drawing/2014/main" id="{0998CA36-752D-4E6E-AF11-BC0858A3372D}"/>
              </a:ext>
            </a:extLst>
          </p:cNvPr>
          <p:cNvSpPr>
            <a:spLocks noGrp="1" noChangeArrowheads="1"/>
          </p:cNvSpPr>
          <p:nvPr/>
        </p:nvSpPr>
        <p:spPr bwMode="auto">
          <a:xfrm>
            <a:off x="4356100" y="4631635"/>
            <a:ext cx="3960813"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endParaRPr lang="en-US" altLang="zh-CN" b="1" dirty="0">
              <a:solidFill>
                <a:srgbClr val="0000FF"/>
              </a:solidFill>
              <a:latin typeface="微软雅黑" panose="020B0503020204020204" pitchFamily="34" charset="-122"/>
              <a:ea typeface="微软雅黑" panose="020B0503020204020204" pitchFamily="34" charset="-122"/>
              <a:sym typeface="Symbol" panose="05050102010706020507" pitchFamily="18" charset="2"/>
            </a:endParaRPr>
          </a:p>
          <a:p>
            <a:pPr>
              <a:spcBef>
                <a:spcPct val="0"/>
              </a:spcBef>
              <a:buFont typeface="Arial" panose="020B0604020202020204" pitchFamily="34" charset="0"/>
              <a:buNone/>
            </a:pPr>
            <a:r>
              <a:rPr lang="zh-CN" altLang="en-US" sz="2200" b="1" dirty="0">
                <a:solidFill>
                  <a:srgbClr val="00B0F0"/>
                </a:solidFill>
                <a:latin typeface="微软雅黑" panose="020B0503020204020204" pitchFamily="34" charset="-122"/>
                <a:ea typeface="微软雅黑" panose="020B0503020204020204" pitchFamily="34" charset="-122"/>
                <a:sym typeface="Symbol" panose="05050102010706020507" pitchFamily="18" charset="2"/>
              </a:rPr>
              <a:t>注：这里先分析</a:t>
            </a:r>
            <a:r>
              <a:rPr lang="zh-CN" altLang="en-US" sz="22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直流电桥</a:t>
            </a:r>
            <a:r>
              <a:rPr lang="zh-CN" altLang="en-US" sz="2200" b="1" dirty="0">
                <a:solidFill>
                  <a:srgbClr val="00B0F0"/>
                </a:solidFill>
                <a:latin typeface="微软雅黑" panose="020B0503020204020204" pitchFamily="34" charset="-122"/>
                <a:ea typeface="微软雅黑" panose="020B0503020204020204" pitchFamily="34" charset="-122"/>
                <a:sym typeface="Symbol" panose="05050102010706020507" pitchFamily="18" charset="2"/>
              </a:rPr>
              <a:t>，用</a:t>
            </a:r>
            <a:r>
              <a:rPr lang="zh-CN" altLang="en-US" sz="22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恒压源驱动</a:t>
            </a:r>
            <a:r>
              <a:rPr lang="zh-CN" altLang="en-US" sz="2200" b="1" dirty="0">
                <a:solidFill>
                  <a:srgbClr val="00B0F0"/>
                </a:solidFill>
                <a:latin typeface="微软雅黑" panose="020B0503020204020204" pitchFamily="34" charset="-122"/>
                <a:ea typeface="微软雅黑" panose="020B0503020204020204" pitchFamily="34" charset="-122"/>
                <a:sym typeface="Symbol" panose="05050102010706020507" pitchFamily="18" charset="2"/>
              </a:rPr>
              <a:t>。相应的，还有</a:t>
            </a:r>
            <a:r>
              <a:rPr lang="zh-CN" altLang="en-US" sz="22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电流驱动</a:t>
            </a:r>
            <a:r>
              <a:rPr lang="zh-CN" altLang="en-US" sz="2200" b="1" dirty="0">
                <a:solidFill>
                  <a:srgbClr val="00B0F0"/>
                </a:solidFill>
                <a:latin typeface="微软雅黑" panose="020B0503020204020204" pitchFamily="34" charset="-122"/>
                <a:ea typeface="微软雅黑" panose="020B0503020204020204" pitchFamily="34" charset="-122"/>
                <a:sym typeface="Symbol" panose="05050102010706020507" pitchFamily="18" charset="2"/>
              </a:rPr>
              <a:t>，</a:t>
            </a:r>
            <a:r>
              <a:rPr lang="zh-CN" altLang="en-US" sz="2200" b="1" dirty="0">
                <a:solidFill>
                  <a:srgbClr val="C00000"/>
                </a:solidFill>
                <a:latin typeface="微软雅黑" panose="020B0503020204020204" pitchFamily="34" charset="-122"/>
                <a:ea typeface="微软雅黑" panose="020B0503020204020204" pitchFamily="34" charset="-122"/>
                <a:sym typeface="Symbol" panose="05050102010706020507" pitchFamily="18" charset="2"/>
              </a:rPr>
              <a:t>交流电桥</a:t>
            </a:r>
            <a:endParaRPr lang="en-US" altLang="zh-CN" sz="2200" dirty="0">
              <a:solidFill>
                <a:srgbClr val="C00000"/>
              </a:solidFill>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endParaRPr lang="zh-CN" altLang="en-US" sz="2400" dirty="0">
              <a:solidFill>
                <a:srgbClr val="0000FF"/>
              </a:solidFill>
              <a:latin typeface="微软雅黑" panose="020B0503020204020204" pitchFamily="34" charset="-122"/>
              <a:ea typeface="微软雅黑" panose="020B0503020204020204" pitchFamily="34" charset="-122"/>
            </a:endParaRPr>
          </a:p>
        </p:txBody>
      </p:sp>
      <p:pic>
        <p:nvPicPr>
          <p:cNvPr id="47112" name="图片 1">
            <a:extLst>
              <a:ext uri="{FF2B5EF4-FFF2-40B4-BE49-F238E27FC236}">
                <a16:creationId xmlns:a16="http://schemas.microsoft.com/office/drawing/2014/main" id="{78A371A9-C242-42C0-80D4-8FCF0CE398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65" y="2132910"/>
            <a:ext cx="3629025"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11"/>
                                        </p:tgtEl>
                                        <p:attrNameLst>
                                          <p:attrName>style.visibility</p:attrName>
                                        </p:attrNameLst>
                                      </p:cBhvr>
                                      <p:to>
                                        <p:strVal val="visible"/>
                                      </p:to>
                                    </p:set>
                                    <p:anim calcmode="lin" valueType="num">
                                      <p:cBhvr additive="base">
                                        <p:cTn id="7" dur="500" fill="hold"/>
                                        <p:tgtEl>
                                          <p:spTgt spid="47111"/>
                                        </p:tgtEl>
                                        <p:attrNameLst>
                                          <p:attrName>ppt_x</p:attrName>
                                        </p:attrNameLst>
                                      </p:cBhvr>
                                      <p:tavLst>
                                        <p:tav tm="0">
                                          <p:val>
                                            <p:strVal val="#ppt_x"/>
                                          </p:val>
                                        </p:tav>
                                        <p:tav tm="100000">
                                          <p:val>
                                            <p:strVal val="#ppt_x"/>
                                          </p:val>
                                        </p:tav>
                                      </p:tavLst>
                                    </p:anim>
                                    <p:anim calcmode="lin" valueType="num">
                                      <p:cBhvr additive="base">
                                        <p:cTn id="8" dur="500" fill="hold"/>
                                        <p:tgtEl>
                                          <p:spTgt spid="471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4">
            <a:extLst>
              <a:ext uri="{FF2B5EF4-FFF2-40B4-BE49-F238E27FC236}">
                <a16:creationId xmlns:a16="http://schemas.microsoft.com/office/drawing/2014/main" id="{7373DA5D-755D-4266-93C9-F551ECD8E3C7}"/>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8131" name="灯片编号占位符 3">
            <a:extLst>
              <a:ext uri="{FF2B5EF4-FFF2-40B4-BE49-F238E27FC236}">
                <a16:creationId xmlns:a16="http://schemas.microsoft.com/office/drawing/2014/main" id="{0D232785-8443-4E2B-9036-DBF260A0F66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C49A7DE-DE80-44B6-89E5-61723056CC1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46</a:t>
            </a:fld>
            <a:endParaRPr lang="en-US" altLang="zh-CN" sz="1400">
              <a:solidFill>
                <a:srgbClr val="000000"/>
              </a:solidFill>
              <a:latin typeface="Arial" panose="020B0604020202020204" pitchFamily="34" charset="0"/>
            </a:endParaRPr>
          </a:p>
        </p:txBody>
      </p:sp>
      <p:sp>
        <p:nvSpPr>
          <p:cNvPr id="48132" name="TextBox 5">
            <a:extLst>
              <a:ext uri="{FF2B5EF4-FFF2-40B4-BE49-F238E27FC236}">
                <a16:creationId xmlns:a16="http://schemas.microsoft.com/office/drawing/2014/main" id="{4B5F064B-1158-4A93-B9C2-9FA0610BA0C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8133" name="Text Box 4">
            <a:extLst>
              <a:ext uri="{FF2B5EF4-FFF2-40B4-BE49-F238E27FC236}">
                <a16:creationId xmlns:a16="http://schemas.microsoft.com/office/drawing/2014/main" id="{CC49BF6B-9D6E-498A-B323-3C8E657A361F}"/>
              </a:ext>
            </a:extLst>
          </p:cNvPr>
          <p:cNvSpPr>
            <a:spLocks noChangeArrowheads="1"/>
          </p:cNvSpPr>
          <p:nvPr/>
        </p:nvSpPr>
        <p:spPr bwMode="auto">
          <a:xfrm>
            <a:off x="395710" y="2132910"/>
            <a:ext cx="3887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由桥路图可知，输出电压：</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8134" name="Object 6">
            <a:extLst>
              <a:ext uri="{FF2B5EF4-FFF2-40B4-BE49-F238E27FC236}">
                <a16:creationId xmlns:a16="http://schemas.microsoft.com/office/drawing/2014/main" id="{412EFF77-F126-4DEF-90A5-77B5A5E95F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710" y="2929835"/>
            <a:ext cx="6713537" cy="106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Object 7">
            <a:extLst>
              <a:ext uri="{FF2B5EF4-FFF2-40B4-BE49-F238E27FC236}">
                <a16:creationId xmlns:a16="http://schemas.microsoft.com/office/drawing/2014/main" id="{8A4D8A83-6777-4E68-948F-E21452474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8640" y="4498285"/>
            <a:ext cx="1404937"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7" name="矩形 1">
            <a:extLst>
              <a:ext uri="{FF2B5EF4-FFF2-40B4-BE49-F238E27FC236}">
                <a16:creationId xmlns:a16="http://schemas.microsoft.com/office/drawing/2014/main" id="{05262C57-2A2A-4A8E-B33A-D30EEB904AFC}"/>
              </a:ext>
            </a:extLst>
          </p:cNvPr>
          <p:cNvSpPr>
            <a:spLocks noChangeArrowheads="1"/>
          </p:cNvSpPr>
          <p:nvPr/>
        </p:nvSpPr>
        <p:spPr bwMode="auto">
          <a:xfrm>
            <a:off x="573510" y="4498285"/>
            <a:ext cx="516519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在</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电桥平衡状态</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下：</a:t>
            </a:r>
            <a:r>
              <a:rPr lang="en-US" altLang="zh-CN" sz="240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Ug</a:t>
            </a:r>
            <a:r>
              <a:rPr lang="en-US" altLang="zh-CN" sz="240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 = 0</a:t>
            </a:r>
            <a:r>
              <a:rPr lang="zh-CN" altLang="en-US" sz="240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i="1"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Ig</a:t>
            </a:r>
            <a:r>
              <a:rPr lang="en-US" altLang="zh-CN" sz="2400" dirty="0">
                <a:highlight>
                  <a:srgbClr val="FFFF00"/>
                </a:highlight>
                <a:latin typeface="Times New Roman" panose="02020603050405020304" pitchFamily="18" charset="0"/>
                <a:ea typeface="微软雅黑" panose="020B0503020204020204" pitchFamily="34" charset="-122"/>
                <a:cs typeface="Times New Roman" panose="02020603050405020304" pitchFamily="18" charset="0"/>
              </a:rPr>
              <a:t> = 0</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dirty="0">
              <a:ea typeface="微软雅黑" panose="020B0503020204020204" pitchFamily="34" charset="-122"/>
              <a:cs typeface="Times New Roman" panose="02020603050405020304" pitchFamily="18" charset="0"/>
            </a:endParaRPr>
          </a:p>
        </p:txBody>
      </p:sp>
      <p:pic>
        <p:nvPicPr>
          <p:cNvPr id="48138" name="图片 2">
            <a:extLst>
              <a:ext uri="{FF2B5EF4-FFF2-40B4-BE49-F238E27FC236}">
                <a16:creationId xmlns:a16="http://schemas.microsoft.com/office/drawing/2014/main" id="{6428BCB8-3EEF-4B85-8282-34E43F735F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2650" y="60324"/>
            <a:ext cx="3562350"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组合 4">
            <a:extLst>
              <a:ext uri="{FF2B5EF4-FFF2-40B4-BE49-F238E27FC236}">
                <a16:creationId xmlns:a16="http://schemas.microsoft.com/office/drawing/2014/main" id="{F9B61BDB-06A5-411B-B879-7AD8A396322E}"/>
              </a:ext>
            </a:extLst>
          </p:cNvPr>
          <p:cNvGrpSpPr>
            <a:grpSpLocks/>
          </p:cNvGrpSpPr>
          <p:nvPr/>
        </p:nvGrpSpPr>
        <p:grpSpPr bwMode="auto">
          <a:xfrm>
            <a:off x="4456752" y="4960247"/>
            <a:ext cx="4478338" cy="958850"/>
            <a:chOff x="1907815" y="5403556"/>
            <a:chExt cx="4479111" cy="959887"/>
          </a:xfrm>
        </p:grpSpPr>
        <p:sp>
          <p:nvSpPr>
            <p:cNvPr id="48140" name="矩形 15">
              <a:extLst>
                <a:ext uri="{FF2B5EF4-FFF2-40B4-BE49-F238E27FC236}">
                  <a16:creationId xmlns:a16="http://schemas.microsoft.com/office/drawing/2014/main" id="{69230ECF-A53C-4753-9883-745B3F4CE4C3}"/>
                </a:ext>
              </a:extLst>
            </p:cNvPr>
            <p:cNvSpPr>
              <a:spLocks noChangeArrowheads="1"/>
            </p:cNvSpPr>
            <p:nvPr/>
          </p:nvSpPr>
          <p:spPr bwMode="auto">
            <a:xfrm>
              <a:off x="1907815" y="5901778"/>
              <a:ext cx="4479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记住条件：相对桥臂乘积相等！</a:t>
              </a:r>
              <a:endParaRPr lang="zh-CN" altLang="en-US" sz="2400" dirty="0">
                <a:solidFill>
                  <a:srgbClr val="00B0F0"/>
                </a:solidFill>
                <a:ea typeface="微软雅黑" panose="020B0503020204020204" pitchFamily="34" charset="-122"/>
                <a:cs typeface="Times New Roman" panose="02020603050405020304" pitchFamily="18" charset="0"/>
              </a:endParaRPr>
            </a:p>
          </p:txBody>
        </p:sp>
        <p:sp>
          <p:nvSpPr>
            <p:cNvPr id="48141" name="箭头: 下 3">
              <a:extLst>
                <a:ext uri="{FF2B5EF4-FFF2-40B4-BE49-F238E27FC236}">
                  <a16:creationId xmlns:a16="http://schemas.microsoft.com/office/drawing/2014/main" id="{9D51DE78-A940-40F3-8E69-96E46C867C21}"/>
                </a:ext>
              </a:extLst>
            </p:cNvPr>
            <p:cNvSpPr>
              <a:spLocks noChangeArrowheads="1"/>
            </p:cNvSpPr>
            <p:nvPr/>
          </p:nvSpPr>
          <p:spPr bwMode="auto">
            <a:xfrm>
              <a:off x="3635935" y="5403556"/>
              <a:ext cx="144010" cy="454319"/>
            </a:xfrm>
            <a:prstGeom prst="downArrow">
              <a:avLst>
                <a:gd name="adj1" fmla="val 50000"/>
                <a:gd name="adj2" fmla="val 49994"/>
              </a:avLst>
            </a:prstGeom>
            <a:solidFill>
              <a:schemeClr val="accent1"/>
            </a:solidFill>
            <a:ln w="9525" algn="ctr">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矩形 4">
            <a:extLst>
              <a:ext uri="{FF2B5EF4-FFF2-40B4-BE49-F238E27FC236}">
                <a16:creationId xmlns:a16="http://schemas.microsoft.com/office/drawing/2014/main" id="{8F8BA7E0-AF16-4DE6-9C9E-B35C9726692E}"/>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49155" name="灯片编号占位符 3">
            <a:extLst>
              <a:ext uri="{FF2B5EF4-FFF2-40B4-BE49-F238E27FC236}">
                <a16:creationId xmlns:a16="http://schemas.microsoft.com/office/drawing/2014/main" id="{1024E411-0A1C-4182-A932-D18482606B98}"/>
              </a:ext>
            </a:extLst>
          </p:cNvPr>
          <p:cNvSpPr>
            <a:spLocks noGrp="1" noChangeArrowheads="1"/>
          </p:cNvSpPr>
          <p:nvPr/>
        </p:nvSpPr>
        <p:spPr bwMode="auto">
          <a:xfrm>
            <a:off x="7239000" y="638016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C2834A8-465B-4F62-A168-F2C6D4C66A53}"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47</a:t>
            </a:fld>
            <a:endParaRPr lang="en-US" altLang="zh-CN" sz="1400">
              <a:solidFill>
                <a:srgbClr val="000000"/>
              </a:solidFill>
              <a:latin typeface="Arial" panose="020B0604020202020204" pitchFamily="34" charset="0"/>
            </a:endParaRPr>
          </a:p>
        </p:txBody>
      </p:sp>
      <p:sp>
        <p:nvSpPr>
          <p:cNvPr id="49156" name="TextBox 5">
            <a:extLst>
              <a:ext uri="{FF2B5EF4-FFF2-40B4-BE49-F238E27FC236}">
                <a16:creationId xmlns:a16="http://schemas.microsoft.com/office/drawing/2014/main" id="{D1251672-1F2D-4DCC-82A9-00AB34CF9DE0}"/>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4041" name="Text Box 9">
            <a:extLst>
              <a:ext uri="{FF2B5EF4-FFF2-40B4-BE49-F238E27FC236}">
                <a16:creationId xmlns:a16="http://schemas.microsoft.com/office/drawing/2014/main" id="{F184A87C-839A-485C-B63F-FFD6A00B588C}"/>
              </a:ext>
            </a:extLst>
          </p:cNvPr>
          <p:cNvSpPr>
            <a:spLocks noChangeArrowheads="1"/>
          </p:cNvSpPr>
          <p:nvPr/>
        </p:nvSpPr>
        <p:spPr bwMode="auto">
          <a:xfrm>
            <a:off x="385763" y="1749425"/>
            <a:ext cx="83708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1</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）假定电桥的负载电阻</a:t>
            </a:r>
            <a:r>
              <a:rPr lang="en-US" altLang="zh-CN" sz="2400" i="1">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Rg</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为无穷大时：</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4042" name="Object 10">
            <a:extLst>
              <a:ext uri="{FF2B5EF4-FFF2-40B4-BE49-F238E27FC236}">
                <a16:creationId xmlns:a16="http://schemas.microsoft.com/office/drawing/2014/main" id="{9F9A0F1D-DF0B-49B4-B69F-32E21D73C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075" y="3043238"/>
            <a:ext cx="7551738" cy="86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44" name="Text Box 12">
            <a:extLst>
              <a:ext uri="{FF2B5EF4-FFF2-40B4-BE49-F238E27FC236}">
                <a16:creationId xmlns:a16="http://schemas.microsoft.com/office/drawing/2014/main" id="{3C00746A-9C36-4B82-8634-D4C7DF4F9E9B}"/>
              </a:ext>
            </a:extLst>
          </p:cNvPr>
          <p:cNvSpPr>
            <a:spLocks noChangeArrowheads="1"/>
          </p:cNvSpPr>
          <p:nvPr/>
        </p:nvSpPr>
        <p:spPr bwMode="auto">
          <a:xfrm>
            <a:off x="611188" y="4221163"/>
            <a:ext cx="74263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由于电桥输出端一般接</a:t>
            </a: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高输入阻抗</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的运算放大电路，因而                  的条件是可以满足的</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Box 9">
            <a:extLst>
              <a:ext uri="{FF2B5EF4-FFF2-40B4-BE49-F238E27FC236}">
                <a16:creationId xmlns:a16="http://schemas.microsoft.com/office/drawing/2014/main" id="{704D3240-CC10-429C-B8EA-906238D0144F}"/>
              </a:ext>
            </a:extLst>
          </p:cNvPr>
          <p:cNvSpPr>
            <a:spLocks noChangeArrowheads="1"/>
          </p:cNvSpPr>
          <p:nvPr/>
        </p:nvSpPr>
        <p:spPr bwMode="auto">
          <a:xfrm>
            <a:off x="593725" y="1166813"/>
            <a:ext cx="8370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输出电压的表达式太复杂，需简化：</a:t>
            </a:r>
            <a:endParaRPr lang="zh-CN" altLang="en-US" sz="1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a:extLst>
              <a:ext uri="{FF2B5EF4-FFF2-40B4-BE49-F238E27FC236}">
                <a16:creationId xmlns:a16="http://schemas.microsoft.com/office/drawing/2014/main" id="{B4481A8E-37D9-40A6-825C-EB42DF5519BF}"/>
              </a:ext>
            </a:extLst>
          </p:cNvPr>
          <p:cNvSpPr txBox="1">
            <a:spLocks noRot="1" noChangeAspect="1" noMove="1" noResize="1" noEditPoints="1" noAdjustHandles="1" noChangeArrowheads="1" noChangeShapeType="1" noTextEdit="1"/>
          </p:cNvSpPr>
          <p:nvPr/>
        </p:nvSpPr>
        <p:spPr>
          <a:xfrm>
            <a:off x="980558" y="2352607"/>
            <a:ext cx="1357026" cy="404213"/>
          </a:xfrm>
          <a:prstGeom prst="rect">
            <a:avLst/>
          </a:prstGeom>
          <a:blipFill>
            <a:blip r:embed="rId3"/>
            <a:stretch>
              <a:fillRect b="-19697"/>
            </a:stretch>
          </a:blipFill>
        </p:spPr>
        <p:txBody>
          <a:bodyPr/>
          <a:lstStyle/>
          <a:p>
            <a:pPr>
              <a:defRPr/>
            </a:pPr>
            <a:r>
              <a:rPr lang="zh-CN" altLang="en-US">
                <a:noFill/>
              </a:rPr>
              <a:t> </a:t>
            </a:r>
          </a:p>
        </p:txBody>
      </p:sp>
      <p:sp>
        <p:nvSpPr>
          <p:cNvPr id="19" name="文本框 18">
            <a:extLst>
              <a:ext uri="{FF2B5EF4-FFF2-40B4-BE49-F238E27FC236}">
                <a16:creationId xmlns:a16="http://schemas.microsoft.com/office/drawing/2014/main" id="{0F1A733D-6572-4326-91BD-F1F5904BABD8}"/>
              </a:ext>
            </a:extLst>
          </p:cNvPr>
          <p:cNvSpPr txBox="1">
            <a:spLocks noRot="1" noChangeAspect="1" noMove="1" noResize="1" noEditPoints="1" noAdjustHandles="1" noChangeArrowheads="1" noChangeShapeType="1" noTextEdit="1"/>
          </p:cNvSpPr>
          <p:nvPr/>
        </p:nvSpPr>
        <p:spPr>
          <a:xfrm>
            <a:off x="1259770" y="4647839"/>
            <a:ext cx="1357026" cy="404213"/>
          </a:xfrm>
          <a:prstGeom prst="rect">
            <a:avLst/>
          </a:prstGeom>
          <a:blipFill>
            <a:blip r:embed="rId4"/>
            <a:stretch>
              <a:fillRect b="-19403"/>
            </a:stretch>
          </a:blipFill>
        </p:spPr>
        <p:txBody>
          <a:bodyPr/>
          <a:lstStyle/>
          <a:p>
            <a:pPr>
              <a:defRPr/>
            </a:pPr>
            <a:r>
              <a:rPr lang="zh-CN" altLang="en-US">
                <a:noFill/>
              </a:rPr>
              <a:t> </a:t>
            </a:r>
          </a:p>
        </p:txBody>
      </p:sp>
      <p:sp>
        <p:nvSpPr>
          <p:cNvPr id="20" name="Text Box 9">
            <a:extLst>
              <a:ext uri="{FF2B5EF4-FFF2-40B4-BE49-F238E27FC236}">
                <a16:creationId xmlns:a16="http://schemas.microsoft.com/office/drawing/2014/main" id="{CE3F6326-BD5D-493E-A67B-4DE5E44F8E41}"/>
              </a:ext>
            </a:extLst>
          </p:cNvPr>
          <p:cNvSpPr>
            <a:spLocks noChangeArrowheads="1"/>
          </p:cNvSpPr>
          <p:nvPr/>
        </p:nvSpPr>
        <p:spPr bwMode="auto">
          <a:xfrm>
            <a:off x="742950" y="5346700"/>
            <a:ext cx="74263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下面的推导均基于式（</a:t>
            </a:r>
            <a:r>
              <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2-23</a:t>
            </a: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zh-CN" altLang="en-US" sz="2400" dirty="0">
                <a:solidFill>
                  <a:srgbClr val="00B0F0"/>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此公式是需要掌握的重要公式</a:t>
            </a: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endParaRPr lang="zh-CN" altLang="en-US" sz="1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9165" name="图片 4">
            <a:extLst>
              <a:ext uri="{FF2B5EF4-FFF2-40B4-BE49-F238E27FC236}">
                <a16:creationId xmlns:a16="http://schemas.microsoft.com/office/drawing/2014/main" id="{76EA89C6-21F6-465E-A803-106655C549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5313" y="0"/>
            <a:ext cx="333375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41"/>
                                        </p:tgtEl>
                                        <p:attrNameLst>
                                          <p:attrName>style.visibility</p:attrName>
                                        </p:attrNameLst>
                                      </p:cBhvr>
                                      <p:to>
                                        <p:strVal val="visible"/>
                                      </p:to>
                                    </p:set>
                                    <p:animEffect filter="blinds(horizontal)">
                                      <p:cBhvr>
                                        <p:cTn id="7" dur="500"/>
                                        <p:tgtEl>
                                          <p:spTgt spid="44041"/>
                                        </p:tgtEl>
                                      </p:cBhvr>
                                    </p:animEffect>
                                  </p:childTnLst>
                                </p:cTn>
                              </p:par>
                              <p:par>
                                <p:cTn id="8" presetID="3" presetClass="entr" presetSubtype="10" fill="hold" nodeType="withEffect">
                                  <p:stCondLst>
                                    <p:cond delay="0"/>
                                  </p:stCondLst>
                                  <p:childTnLst>
                                    <p:set>
                                      <p:cBhvr>
                                        <p:cTn id="9" dur="1" fill="hold">
                                          <p:stCondLst>
                                            <p:cond delay="0"/>
                                          </p:stCondLst>
                                        </p:cTn>
                                        <p:tgtEl>
                                          <p:spTgt spid="44042"/>
                                        </p:tgtEl>
                                        <p:attrNameLst>
                                          <p:attrName>style.visibility</p:attrName>
                                        </p:attrNameLst>
                                      </p:cBhvr>
                                      <p:to>
                                        <p:strVal val="visible"/>
                                      </p:to>
                                    </p:set>
                                    <p:animEffect filter="blinds(horizontal)">
                                      <p:cBhvr>
                                        <p:cTn id="10" dur="500"/>
                                        <p:tgtEl>
                                          <p:spTgt spid="4404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44044"/>
                                        </p:tgtEl>
                                        <p:attrNameLst>
                                          <p:attrName>style.visibility</p:attrName>
                                        </p:attrNameLst>
                                      </p:cBhvr>
                                      <p:to>
                                        <p:strVal val="visible"/>
                                      </p:to>
                                    </p:set>
                                    <p:animEffect filter="blinds(horizontal)">
                                      <p:cBhvr>
                                        <p:cTn id="13" dur="500"/>
                                        <p:tgtEl>
                                          <p:spTgt spid="44044"/>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filter="blinds(horizontal)">
                                      <p:cBhvr>
                                        <p:cTn id="16" dur="500"/>
                                        <p:tgtEl>
                                          <p:spTgt spid="1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filter="blinds(horizontal)">
                                      <p:cBhvr>
                                        <p:cTn id="1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bldLvl="0"/>
      <p:bldP spid="44044" grpId="0" bldLvl="0"/>
      <p:bldP spid="16" grpId="0" bldLvl="0"/>
      <p:bldP spid="20" grpId="0" bldLvl="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矩形 4">
            <a:extLst>
              <a:ext uri="{FF2B5EF4-FFF2-40B4-BE49-F238E27FC236}">
                <a16:creationId xmlns:a16="http://schemas.microsoft.com/office/drawing/2014/main" id="{83CE3306-C675-46B8-A6E4-E99A45A2B01A}"/>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0179" name="灯片编号占位符 3">
            <a:extLst>
              <a:ext uri="{FF2B5EF4-FFF2-40B4-BE49-F238E27FC236}">
                <a16:creationId xmlns:a16="http://schemas.microsoft.com/office/drawing/2014/main" id="{7AC20498-BEF3-4AC3-9B6E-982160D68F6A}"/>
              </a:ext>
            </a:extLst>
          </p:cNvPr>
          <p:cNvSpPr>
            <a:spLocks noGrp="1" noChangeArrowheads="1"/>
          </p:cNvSpPr>
          <p:nvPr/>
        </p:nvSpPr>
        <p:spPr bwMode="auto">
          <a:xfrm>
            <a:off x="7239000" y="638016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4CC23553-FE16-454E-A528-53F1AC1A0280}"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48</a:t>
            </a:fld>
            <a:endParaRPr lang="en-US" altLang="zh-CN" sz="1400">
              <a:solidFill>
                <a:srgbClr val="000000"/>
              </a:solidFill>
              <a:latin typeface="Arial" panose="020B0604020202020204" pitchFamily="34" charset="0"/>
            </a:endParaRPr>
          </a:p>
        </p:txBody>
      </p:sp>
      <p:sp>
        <p:nvSpPr>
          <p:cNvPr id="50180" name="TextBox 5">
            <a:extLst>
              <a:ext uri="{FF2B5EF4-FFF2-40B4-BE49-F238E27FC236}">
                <a16:creationId xmlns:a16="http://schemas.microsoft.com/office/drawing/2014/main" id="{A78A8CE3-A6E1-466C-8079-FE2469B6133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4041" name="Text Box 9">
            <a:extLst>
              <a:ext uri="{FF2B5EF4-FFF2-40B4-BE49-F238E27FC236}">
                <a16:creationId xmlns:a16="http://schemas.microsoft.com/office/drawing/2014/main" id="{0BC72546-B8BD-4E03-8682-B9E17E29C738}"/>
              </a:ext>
            </a:extLst>
          </p:cNvPr>
          <p:cNvSpPr>
            <a:spLocks noChangeArrowheads="1"/>
          </p:cNvSpPr>
          <p:nvPr/>
        </p:nvSpPr>
        <p:spPr bwMode="auto">
          <a:xfrm>
            <a:off x="385763" y="1749425"/>
            <a:ext cx="3681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2</a:t>
            </a: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）等臂电桥 </a:t>
            </a:r>
            <a:r>
              <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or </a:t>
            </a: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对称电桥</a:t>
            </a:r>
            <a:endPar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44042" name="Object 10">
            <a:extLst>
              <a:ext uri="{FF2B5EF4-FFF2-40B4-BE49-F238E27FC236}">
                <a16:creationId xmlns:a16="http://schemas.microsoft.com/office/drawing/2014/main" id="{1F10D120-16C0-4161-A4D8-CBD230DA4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888" y="4064000"/>
            <a:ext cx="7551737"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 Box 9">
            <a:extLst>
              <a:ext uri="{FF2B5EF4-FFF2-40B4-BE49-F238E27FC236}">
                <a16:creationId xmlns:a16="http://schemas.microsoft.com/office/drawing/2014/main" id="{1099C0F8-2364-4D08-83B2-C38C289EFD6F}"/>
              </a:ext>
            </a:extLst>
          </p:cNvPr>
          <p:cNvSpPr>
            <a:spLocks noChangeArrowheads="1"/>
          </p:cNvSpPr>
          <p:nvPr/>
        </p:nvSpPr>
        <p:spPr bwMode="auto">
          <a:xfrm>
            <a:off x="593725" y="1166813"/>
            <a:ext cx="83708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能不能再简单一点呢？</a:t>
            </a:r>
            <a:endParaRPr lang="zh-CN" altLang="en-US" sz="1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0184" name="图片 4">
            <a:extLst>
              <a:ext uri="{FF2B5EF4-FFF2-40B4-BE49-F238E27FC236}">
                <a16:creationId xmlns:a16="http://schemas.microsoft.com/office/drawing/2014/main" id="{213CDA9A-213F-4B2F-92C4-9536A7C4F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5313" y="0"/>
            <a:ext cx="3333750" cy="316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9">
            <a:extLst>
              <a:ext uri="{FF2B5EF4-FFF2-40B4-BE49-F238E27FC236}">
                <a16:creationId xmlns:a16="http://schemas.microsoft.com/office/drawing/2014/main" id="{AE8ACF14-FEC1-49EA-A4E7-A5D424369B3D}"/>
              </a:ext>
            </a:extLst>
          </p:cNvPr>
          <p:cNvSpPr>
            <a:spLocks noChangeArrowheads="1"/>
          </p:cNvSpPr>
          <p:nvPr/>
        </p:nvSpPr>
        <p:spPr bwMode="auto">
          <a:xfrm>
            <a:off x="323850" y="2319338"/>
            <a:ext cx="8370888"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等臂电桥</a:t>
            </a: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endPar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第一对称电桥</a:t>
            </a:r>
            <a:endPar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第二对称电桥</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a:extLst>
              <a:ext uri="{FF2B5EF4-FFF2-40B4-BE49-F238E27FC236}">
                <a16:creationId xmlns:a16="http://schemas.microsoft.com/office/drawing/2014/main" id="{25760798-4CA2-4B77-9AC8-CCF7D03E01A6}"/>
              </a:ext>
            </a:extLst>
          </p:cNvPr>
          <p:cNvSpPr txBox="1">
            <a:spLocks noRot="1" noChangeAspect="1" noMove="1" noResize="1" noEditPoints="1" noAdjustHandles="1" noChangeArrowheads="1" noChangeShapeType="1" noTextEdit="1"/>
          </p:cNvSpPr>
          <p:nvPr/>
        </p:nvSpPr>
        <p:spPr>
          <a:xfrm>
            <a:off x="2494924" y="2352607"/>
            <a:ext cx="3181028" cy="369332"/>
          </a:xfrm>
          <a:prstGeom prst="rect">
            <a:avLst/>
          </a:prstGeom>
          <a:blipFill>
            <a:blip r:embed="rId4"/>
            <a:stretch>
              <a:fillRect l="-3257" t="-26230" b="-47541"/>
            </a:stretch>
          </a:blipFill>
        </p:spPr>
        <p:txBody>
          <a:bodyPr/>
          <a:lstStyle/>
          <a:p>
            <a:pPr>
              <a:defRPr/>
            </a:pPr>
            <a:r>
              <a:rPr lang="zh-CN" altLang="en-US">
                <a:noFill/>
              </a:rPr>
              <a:t> </a:t>
            </a:r>
          </a:p>
        </p:txBody>
      </p:sp>
      <p:sp>
        <p:nvSpPr>
          <p:cNvPr id="17" name="文本框 16">
            <a:extLst>
              <a:ext uri="{FF2B5EF4-FFF2-40B4-BE49-F238E27FC236}">
                <a16:creationId xmlns:a16="http://schemas.microsoft.com/office/drawing/2014/main" id="{8ECFF263-BAEE-434C-A103-B9CCAAF717BF}"/>
              </a:ext>
            </a:extLst>
          </p:cNvPr>
          <p:cNvSpPr txBox="1">
            <a:spLocks noRot="1" noChangeAspect="1" noMove="1" noResize="1" noEditPoints="1" noAdjustHandles="1" noChangeArrowheads="1" noChangeShapeType="1" noTextEdit="1"/>
          </p:cNvSpPr>
          <p:nvPr/>
        </p:nvSpPr>
        <p:spPr>
          <a:xfrm>
            <a:off x="2918633" y="2919454"/>
            <a:ext cx="4605571" cy="369332"/>
          </a:xfrm>
          <a:prstGeom prst="rect">
            <a:avLst/>
          </a:prstGeom>
          <a:blipFill>
            <a:blip r:embed="rId5"/>
            <a:stretch>
              <a:fillRect l="-2384" t="-26667" b="-50000"/>
            </a:stretch>
          </a:blipFill>
        </p:spPr>
        <p:txBody>
          <a:bodyPr/>
          <a:lstStyle/>
          <a:p>
            <a:pPr>
              <a:defRPr/>
            </a:pPr>
            <a:r>
              <a:rPr lang="zh-CN" altLang="en-US">
                <a:noFill/>
              </a:rPr>
              <a:t> </a:t>
            </a:r>
          </a:p>
        </p:txBody>
      </p:sp>
      <p:sp>
        <p:nvSpPr>
          <p:cNvPr id="21" name="文本框 20">
            <a:extLst>
              <a:ext uri="{FF2B5EF4-FFF2-40B4-BE49-F238E27FC236}">
                <a16:creationId xmlns:a16="http://schemas.microsoft.com/office/drawing/2014/main" id="{5C3E705C-60AC-4A63-AA7A-9D5901476644}"/>
              </a:ext>
            </a:extLst>
          </p:cNvPr>
          <p:cNvSpPr txBox="1">
            <a:spLocks noRot="1" noChangeAspect="1" noMove="1" noResize="1" noEditPoints="1" noAdjustHandles="1" noChangeArrowheads="1" noChangeShapeType="1" noTextEdit="1"/>
          </p:cNvSpPr>
          <p:nvPr/>
        </p:nvSpPr>
        <p:spPr>
          <a:xfrm>
            <a:off x="2952407" y="3471932"/>
            <a:ext cx="4605571" cy="369332"/>
          </a:xfrm>
          <a:prstGeom prst="rect">
            <a:avLst/>
          </a:prstGeom>
          <a:blipFill>
            <a:blip r:embed="rId6"/>
            <a:stretch>
              <a:fillRect l="-2249" t="-26667" b="-50000"/>
            </a:stretch>
          </a:blipFill>
        </p:spPr>
        <p:txBody>
          <a:bodyPr/>
          <a:lstStyle/>
          <a:p>
            <a:pPr>
              <a:defRPr/>
            </a:pPr>
            <a:r>
              <a:rPr lang="zh-CN" altLang="en-US">
                <a:noFill/>
              </a:rPr>
              <a:t> </a:t>
            </a:r>
          </a:p>
        </p:txBody>
      </p:sp>
      <p:sp>
        <p:nvSpPr>
          <p:cNvPr id="22" name="Text Box 9">
            <a:extLst>
              <a:ext uri="{FF2B5EF4-FFF2-40B4-BE49-F238E27FC236}">
                <a16:creationId xmlns:a16="http://schemas.microsoft.com/office/drawing/2014/main" id="{7D14738E-A923-4F7F-9E8B-16820353D792}"/>
              </a:ext>
            </a:extLst>
          </p:cNvPr>
          <p:cNvSpPr>
            <a:spLocks noChangeArrowheads="1"/>
          </p:cNvSpPr>
          <p:nvPr/>
        </p:nvSpPr>
        <p:spPr bwMode="auto">
          <a:xfrm>
            <a:off x="773113" y="5064125"/>
            <a:ext cx="837088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可以看出：三种电桥都有        </a:t>
            </a:r>
            <a:endParaRPr lang="en-US" altLang="zh-CN"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因而在</a:t>
            </a: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初始状态下</a:t>
            </a:r>
            <a:r>
              <a:rPr lang="zh-CN" altLang="en-US" sz="24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，都为平衡电桥</a:t>
            </a:r>
            <a:endParaRPr lang="zh-CN" altLang="en-US" sz="1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0190" name="图片 2">
            <a:extLst>
              <a:ext uri="{FF2B5EF4-FFF2-40B4-BE49-F238E27FC236}">
                <a16:creationId xmlns:a16="http://schemas.microsoft.com/office/drawing/2014/main" id="{F89A0B82-E6B7-4313-A96E-80EA21D987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95775" y="5064125"/>
            <a:ext cx="242887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41"/>
                                        </p:tgtEl>
                                        <p:attrNameLst>
                                          <p:attrName>style.visibility</p:attrName>
                                        </p:attrNameLst>
                                      </p:cBhvr>
                                      <p:to>
                                        <p:strVal val="visible"/>
                                      </p:to>
                                    </p:set>
                                    <p:animEffect filter="blinds(horizontal)">
                                      <p:cBhvr>
                                        <p:cTn id="7" dur="500"/>
                                        <p:tgtEl>
                                          <p:spTgt spid="44041"/>
                                        </p:tgtEl>
                                      </p:cBhvr>
                                    </p:animEffect>
                                  </p:childTnLst>
                                </p:cTn>
                              </p:par>
                              <p:par>
                                <p:cTn id="8" presetID="3" presetClass="entr" presetSubtype="10" fill="hold" nodeType="withEffect">
                                  <p:stCondLst>
                                    <p:cond delay="0"/>
                                  </p:stCondLst>
                                  <p:childTnLst>
                                    <p:set>
                                      <p:cBhvr>
                                        <p:cTn id="9" dur="1" fill="hold">
                                          <p:stCondLst>
                                            <p:cond delay="0"/>
                                          </p:stCondLst>
                                        </p:cTn>
                                        <p:tgtEl>
                                          <p:spTgt spid="44042"/>
                                        </p:tgtEl>
                                        <p:attrNameLst>
                                          <p:attrName>style.visibility</p:attrName>
                                        </p:attrNameLst>
                                      </p:cBhvr>
                                      <p:to>
                                        <p:strVal val="visible"/>
                                      </p:to>
                                    </p:set>
                                    <p:animEffect filter="blinds(horizontal)">
                                      <p:cBhvr>
                                        <p:cTn id="10" dur="500"/>
                                        <p:tgtEl>
                                          <p:spTgt spid="4404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filter="blinds(horizontal)">
                                      <p:cBhvr>
                                        <p:cTn id="13" dur="500"/>
                                        <p:tgtEl>
                                          <p:spTgt spid="1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filter="blinds(horizontal)">
                                      <p:cBhvr>
                                        <p:cTn id="16" dur="500"/>
                                        <p:tgtEl>
                                          <p:spTgt spid="14"/>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filter="blinds(horizontal)">
                                      <p:cBhvr>
                                        <p:cTn id="1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bldLvl="0"/>
      <p:bldP spid="16" grpId="0" bldLvl="0"/>
      <p:bldP spid="14" grpId="0" bldLvl="0"/>
      <p:bldP spid="22" grpId="0" bldLvl="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矩形 4">
            <a:extLst>
              <a:ext uri="{FF2B5EF4-FFF2-40B4-BE49-F238E27FC236}">
                <a16:creationId xmlns:a16="http://schemas.microsoft.com/office/drawing/2014/main" id="{B02AE74C-7628-4DD9-A4A3-6A29B0C69A0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1203" name="灯片编号占位符 3">
            <a:extLst>
              <a:ext uri="{FF2B5EF4-FFF2-40B4-BE49-F238E27FC236}">
                <a16:creationId xmlns:a16="http://schemas.microsoft.com/office/drawing/2014/main" id="{D4FAD39B-87A7-40DD-A9D8-F1C28075B44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F91D934-AC09-4EE4-86AD-6FAF16BCEAF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49</a:t>
            </a:fld>
            <a:endParaRPr lang="en-US" altLang="zh-CN" sz="1400">
              <a:solidFill>
                <a:srgbClr val="000000"/>
              </a:solidFill>
              <a:latin typeface="Arial" panose="020B0604020202020204" pitchFamily="34" charset="0"/>
            </a:endParaRPr>
          </a:p>
        </p:txBody>
      </p:sp>
      <p:sp>
        <p:nvSpPr>
          <p:cNvPr id="51204" name="TextBox 5">
            <a:extLst>
              <a:ext uri="{FF2B5EF4-FFF2-40B4-BE49-F238E27FC236}">
                <a16:creationId xmlns:a16="http://schemas.microsoft.com/office/drawing/2014/main" id="{18E58FD6-7A13-4E6B-9E53-D899A2B69B19}"/>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4041" name="Text Box 9">
            <a:extLst>
              <a:ext uri="{FF2B5EF4-FFF2-40B4-BE49-F238E27FC236}">
                <a16:creationId xmlns:a16="http://schemas.microsoft.com/office/drawing/2014/main" id="{A4A2D2C5-556E-4DD1-90AC-AFB8C61FFAF9}"/>
              </a:ext>
            </a:extLst>
          </p:cNvPr>
          <p:cNvSpPr>
            <a:spLocks noChangeArrowheads="1"/>
          </p:cNvSpPr>
          <p:nvPr/>
        </p:nvSpPr>
        <p:spPr bwMode="auto">
          <a:xfrm>
            <a:off x="252413" y="2744788"/>
            <a:ext cx="4849812"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我们有多种选择：</a:t>
            </a:r>
            <a:endPar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1</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）单臂应变</a:t>
            </a:r>
            <a:endPar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2</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）双臂应变：半桥，两种组合</a:t>
            </a:r>
            <a:endPar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3</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）四臂应变：全桥</a:t>
            </a:r>
            <a:endParaRPr lang="zh-CN" altLang="en-US" sz="18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Box 9">
            <a:extLst>
              <a:ext uri="{FF2B5EF4-FFF2-40B4-BE49-F238E27FC236}">
                <a16:creationId xmlns:a16="http://schemas.microsoft.com/office/drawing/2014/main" id="{1C8F9AB2-DBDB-4243-B94A-69F6F65EC857}"/>
              </a:ext>
            </a:extLst>
          </p:cNvPr>
          <p:cNvSpPr>
            <a:spLocks noChangeArrowheads="1"/>
          </p:cNvSpPr>
          <p:nvPr/>
        </p:nvSpPr>
        <p:spPr bwMode="auto">
          <a:xfrm>
            <a:off x="593724" y="1431925"/>
            <a:ext cx="599441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应变电阻如何在桥臂上分配更有利测量呢？</a:t>
            </a:r>
            <a:endParaRPr lang="zh-CN" altLang="en-US" sz="1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1207" name="图片 9">
            <a:extLst>
              <a:ext uri="{FF2B5EF4-FFF2-40B4-BE49-F238E27FC236}">
                <a16:creationId xmlns:a16="http://schemas.microsoft.com/office/drawing/2014/main" id="{E55DF02E-55B2-48D1-A116-9DBED6C5D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5238" y="1908175"/>
            <a:ext cx="3438525"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8" name="矩形 10">
            <a:extLst>
              <a:ext uri="{FF2B5EF4-FFF2-40B4-BE49-F238E27FC236}">
                <a16:creationId xmlns:a16="http://schemas.microsoft.com/office/drawing/2014/main" id="{FBE2C5F3-99ED-4BCE-BAAB-F07D0C2A111A}"/>
              </a:ext>
            </a:extLst>
          </p:cNvPr>
          <p:cNvSpPr>
            <a:spLocks noChangeArrowheads="1"/>
          </p:cNvSpPr>
          <p:nvPr/>
        </p:nvSpPr>
        <p:spPr bwMode="auto">
          <a:xfrm>
            <a:off x="6096000" y="4960938"/>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单臂应变桥</a:t>
            </a:r>
            <a:endParaRPr lang="zh-CN" altLang="en-US" sz="2400">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41"/>
                                        </p:tgtEl>
                                        <p:attrNameLst>
                                          <p:attrName>style.visibility</p:attrName>
                                        </p:attrNameLst>
                                      </p:cBhvr>
                                      <p:to>
                                        <p:strVal val="visible"/>
                                      </p:to>
                                    </p:set>
                                    <p:animEffect filter="blinds(horizontal)">
                                      <p:cBhvr>
                                        <p:cTn id="7" dur="500"/>
                                        <p:tgtEl>
                                          <p:spTgt spid="4404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filter="blinds(horizontal)">
                                      <p:cBhvr>
                                        <p:cTn id="1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bldLvl="0"/>
      <p:bldP spid="16" grpId="0" bldLvl="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FFE0D95D-576D-4F49-8DD2-3D88C7744E3F}"/>
              </a:ext>
            </a:extLst>
          </p:cNvPr>
          <p:cNvPicPr>
            <a:picLocks noChangeAspect="1"/>
          </p:cNvPicPr>
          <p:nvPr/>
        </p:nvPicPr>
        <p:blipFill>
          <a:blip r:embed="rId2"/>
          <a:stretch>
            <a:fillRect/>
          </a:stretch>
        </p:blipFill>
        <p:spPr>
          <a:xfrm>
            <a:off x="938644" y="3251200"/>
            <a:ext cx="7410450" cy="1047750"/>
          </a:xfrm>
          <a:prstGeom prst="rect">
            <a:avLst/>
          </a:prstGeom>
        </p:spPr>
      </p:pic>
      <p:sp>
        <p:nvSpPr>
          <p:cNvPr id="52226" name="矩形 4">
            <a:extLst>
              <a:ext uri="{FF2B5EF4-FFF2-40B4-BE49-F238E27FC236}">
                <a16:creationId xmlns:a16="http://schemas.microsoft.com/office/drawing/2014/main" id="{163010BE-0752-4FB8-AAEC-538E547606DA}"/>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2227" name="灯片编号占位符 3">
            <a:extLst>
              <a:ext uri="{FF2B5EF4-FFF2-40B4-BE49-F238E27FC236}">
                <a16:creationId xmlns:a16="http://schemas.microsoft.com/office/drawing/2014/main" id="{D92CD2B1-3D67-4BB0-A689-63ADD343C43C}"/>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F003313-364B-46A9-B800-22A0C59410F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50</a:t>
            </a:fld>
            <a:endParaRPr lang="en-US" altLang="zh-CN" sz="1400">
              <a:solidFill>
                <a:srgbClr val="000000"/>
              </a:solidFill>
              <a:latin typeface="Arial" panose="020B0604020202020204" pitchFamily="34" charset="0"/>
            </a:endParaRPr>
          </a:p>
        </p:txBody>
      </p:sp>
      <p:sp>
        <p:nvSpPr>
          <p:cNvPr id="52228" name="TextBox 5">
            <a:extLst>
              <a:ext uri="{FF2B5EF4-FFF2-40B4-BE49-F238E27FC236}">
                <a16:creationId xmlns:a16="http://schemas.microsoft.com/office/drawing/2014/main" id="{E7AB4219-E54E-4252-80F4-5E2F1A29756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endParaRPr lang="zh-CN" altLang="en-US" sz="1800">
              <a:latin typeface="黑体" panose="02010609060101010101" pitchFamily="49" charset="-122"/>
              <a:ea typeface="黑体" panose="02010609060101010101" pitchFamily="49" charset="-122"/>
            </a:endParaRPr>
          </a:p>
        </p:txBody>
      </p:sp>
      <p:sp>
        <p:nvSpPr>
          <p:cNvPr id="44041" name="Text Box 9">
            <a:extLst>
              <a:ext uri="{FF2B5EF4-FFF2-40B4-BE49-F238E27FC236}">
                <a16:creationId xmlns:a16="http://schemas.microsoft.com/office/drawing/2014/main" id="{D6C0D5EE-6E98-4E05-A70A-3CB38CF2C9DB}"/>
              </a:ext>
            </a:extLst>
          </p:cNvPr>
          <p:cNvSpPr>
            <a:spLocks noChangeArrowheads="1"/>
          </p:cNvSpPr>
          <p:nvPr/>
        </p:nvSpPr>
        <p:spPr bwMode="auto">
          <a:xfrm>
            <a:off x="395288" y="2208213"/>
            <a:ext cx="4176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en-US" altLang="zh-CN"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2</a:t>
            </a:r>
            <a:r>
              <a:rPr lang="zh-CN" altLang="en-US" sz="24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）等臂电桥，全桥应变</a:t>
            </a:r>
            <a:endPar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Text Box 9">
            <a:extLst>
              <a:ext uri="{FF2B5EF4-FFF2-40B4-BE49-F238E27FC236}">
                <a16:creationId xmlns:a16="http://schemas.microsoft.com/office/drawing/2014/main" id="{54AE735D-A3B8-4362-B2A2-16611961A09E}"/>
              </a:ext>
            </a:extLst>
          </p:cNvPr>
          <p:cNvSpPr>
            <a:spLocks noChangeArrowheads="1"/>
          </p:cNvSpPr>
          <p:nvPr/>
        </p:nvSpPr>
        <p:spPr bwMode="auto">
          <a:xfrm>
            <a:off x="539720" y="1196960"/>
            <a:ext cx="403228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先总结全桥情况：</a:t>
            </a:r>
            <a:endPar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pPr eaLnBrk="1" hangingPunct="1">
              <a:spcBef>
                <a:spcPct val="50000"/>
              </a:spcBef>
              <a:buFont typeface="Arial" panose="020B0604020202020204" pitchFamily="34" charset="0"/>
              <a:buNone/>
            </a:pPr>
            <a:r>
              <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a:t>
            </a:r>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假定：电阻变化量相等</a:t>
            </a:r>
            <a:endParaRPr lang="zh-CN" altLang="en-US" sz="1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a:extLst>
              <a:ext uri="{FF2B5EF4-FFF2-40B4-BE49-F238E27FC236}">
                <a16:creationId xmlns:a16="http://schemas.microsoft.com/office/drawing/2014/main" id="{53204BF5-5609-4BD2-81D9-CED035215868}"/>
              </a:ext>
            </a:extLst>
          </p:cNvPr>
          <p:cNvSpPr txBox="1">
            <a:spLocks noRot="1" noChangeAspect="1" noMove="1" noResize="1" noEditPoints="1" noAdjustHandles="1" noChangeArrowheads="1" noChangeShapeType="1" noTextEdit="1"/>
          </p:cNvSpPr>
          <p:nvPr/>
        </p:nvSpPr>
        <p:spPr>
          <a:xfrm>
            <a:off x="1105222" y="2864425"/>
            <a:ext cx="3181028" cy="369332"/>
          </a:xfrm>
          <a:prstGeom prst="rect">
            <a:avLst/>
          </a:prstGeom>
          <a:blipFill>
            <a:blip r:embed="rId3"/>
            <a:stretch>
              <a:fillRect l="-3257" t="-26667" b="-50000"/>
            </a:stretch>
          </a:blipFill>
        </p:spPr>
        <p:txBody>
          <a:bodyPr/>
          <a:lstStyle/>
          <a:p>
            <a:pPr>
              <a:defRPr/>
            </a:pPr>
            <a:r>
              <a:rPr lang="zh-CN" altLang="en-US">
                <a:noFill/>
              </a:rPr>
              <a:t> </a:t>
            </a:r>
          </a:p>
        </p:txBody>
      </p:sp>
      <p:pic>
        <p:nvPicPr>
          <p:cNvPr id="15" name="Object 7">
            <a:extLst>
              <a:ext uri="{FF2B5EF4-FFF2-40B4-BE49-F238E27FC236}">
                <a16:creationId xmlns:a16="http://schemas.microsoft.com/office/drawing/2014/main" id="{0CD1BB94-2247-4BE4-8B57-81FDCAB8F8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7091" y="4331750"/>
            <a:ext cx="1890712"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Object 8">
            <a:extLst>
              <a:ext uri="{FF2B5EF4-FFF2-40B4-BE49-F238E27FC236}">
                <a16:creationId xmlns:a16="http://schemas.microsoft.com/office/drawing/2014/main" id="{B01DE964-D682-4FEB-915D-F973FC342E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53199" y="5174779"/>
            <a:ext cx="3763962" cy="1509712"/>
          </a:xfrm>
          <a:prstGeom prst="rect">
            <a:avLst/>
          </a:prstGeom>
          <a:solidFill>
            <a:schemeClr val="bg2">
              <a:lumMod val="90000"/>
            </a:schemeClr>
          </a:solidFill>
          <a:ln>
            <a:noFill/>
          </a:ln>
        </p:spPr>
      </p:pic>
      <p:sp>
        <p:nvSpPr>
          <p:cNvPr id="18" name="Text Box 9">
            <a:extLst>
              <a:ext uri="{FF2B5EF4-FFF2-40B4-BE49-F238E27FC236}">
                <a16:creationId xmlns:a16="http://schemas.microsoft.com/office/drawing/2014/main" id="{5C452A7B-1D0B-48BD-8484-A277D9255B66}"/>
              </a:ext>
            </a:extLst>
          </p:cNvPr>
          <p:cNvSpPr>
            <a:spLocks noChangeArrowheads="1"/>
          </p:cNvSpPr>
          <p:nvPr/>
        </p:nvSpPr>
        <p:spPr bwMode="auto">
          <a:xfrm>
            <a:off x="7709262" y="5449365"/>
            <a:ext cx="7159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endParaRPr lang="zh-CN" altLang="en-US"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BF607A55-813C-4868-9897-4406278D9D23}"/>
              </a:ext>
            </a:extLst>
          </p:cNvPr>
          <p:cNvSpPr>
            <a:spLocks noChangeArrowheads="1"/>
          </p:cNvSpPr>
          <p:nvPr/>
        </p:nvSpPr>
        <p:spPr bwMode="auto">
          <a:xfrm>
            <a:off x="1104900" y="5441950"/>
            <a:ext cx="22367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Tx/>
              <a:buNone/>
            </a:pPr>
            <a:r>
              <a:rPr lang="zh-CN" altLang="en-US"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重要公式：</a:t>
            </a:r>
            <a:endParaRPr lang="zh-CN" altLang="en-US" b="1" dirty="0">
              <a:ea typeface="微软雅黑" panose="020B0503020204020204" pitchFamily="34" charset="-122"/>
              <a:cs typeface="Times New Roman" panose="02020603050405020304" pitchFamily="18" charset="0"/>
            </a:endParaRPr>
          </a:p>
        </p:txBody>
      </p:sp>
      <p:grpSp>
        <p:nvGrpSpPr>
          <p:cNvPr id="21" name="组合 20">
            <a:extLst>
              <a:ext uri="{FF2B5EF4-FFF2-40B4-BE49-F238E27FC236}">
                <a16:creationId xmlns:a16="http://schemas.microsoft.com/office/drawing/2014/main" id="{A812C743-C773-40FC-B8E0-E83590F19D8E}"/>
              </a:ext>
            </a:extLst>
          </p:cNvPr>
          <p:cNvGrpSpPr>
            <a:grpSpLocks/>
          </p:cNvGrpSpPr>
          <p:nvPr/>
        </p:nvGrpSpPr>
        <p:grpSpPr bwMode="auto">
          <a:xfrm>
            <a:off x="3779838" y="3213100"/>
            <a:ext cx="4248150" cy="1060450"/>
            <a:chOff x="3779945" y="3212985"/>
            <a:chExt cx="4248295" cy="1060174"/>
          </a:xfrm>
        </p:grpSpPr>
        <p:cxnSp>
          <p:nvCxnSpPr>
            <p:cNvPr id="52240" name="直接连接符 10">
              <a:extLst>
                <a:ext uri="{FF2B5EF4-FFF2-40B4-BE49-F238E27FC236}">
                  <a16:creationId xmlns:a16="http://schemas.microsoft.com/office/drawing/2014/main" id="{010AB086-4596-4DC7-B455-C2295C5F585E}"/>
                </a:ext>
              </a:extLst>
            </p:cNvPr>
            <p:cNvCxnSpPr>
              <a:cxnSpLocks noChangeShapeType="1"/>
            </p:cNvCxnSpPr>
            <p:nvPr/>
          </p:nvCxnSpPr>
          <p:spPr bwMode="auto">
            <a:xfrm>
              <a:off x="6228115" y="3233757"/>
              <a:ext cx="432030" cy="590111"/>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1" name="直接连接符 23">
              <a:extLst>
                <a:ext uri="{FF2B5EF4-FFF2-40B4-BE49-F238E27FC236}">
                  <a16:creationId xmlns:a16="http://schemas.microsoft.com/office/drawing/2014/main" id="{96FD5697-82BD-4A66-8DE2-67DEFB31DEFA}"/>
                </a:ext>
              </a:extLst>
            </p:cNvPr>
            <p:cNvCxnSpPr>
              <a:cxnSpLocks noChangeShapeType="1"/>
            </p:cNvCxnSpPr>
            <p:nvPr/>
          </p:nvCxnSpPr>
          <p:spPr bwMode="auto">
            <a:xfrm>
              <a:off x="7596210" y="3212985"/>
              <a:ext cx="432030" cy="590111"/>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2" name="直接连接符 24">
              <a:extLst>
                <a:ext uri="{FF2B5EF4-FFF2-40B4-BE49-F238E27FC236}">
                  <a16:creationId xmlns:a16="http://schemas.microsoft.com/office/drawing/2014/main" id="{8D99F095-F674-4844-8D05-E4AAE721AB31}"/>
                </a:ext>
              </a:extLst>
            </p:cNvPr>
            <p:cNvCxnSpPr>
              <a:cxnSpLocks/>
            </p:cNvCxnSpPr>
            <p:nvPr/>
          </p:nvCxnSpPr>
          <p:spPr bwMode="auto">
            <a:xfrm>
              <a:off x="6084105" y="3774954"/>
              <a:ext cx="360025" cy="412129"/>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3" name="直接连接符 26">
              <a:extLst>
                <a:ext uri="{FF2B5EF4-FFF2-40B4-BE49-F238E27FC236}">
                  <a16:creationId xmlns:a16="http://schemas.microsoft.com/office/drawing/2014/main" id="{A1EB14FC-2A7B-4368-B382-DC9956D792A0}"/>
                </a:ext>
              </a:extLst>
            </p:cNvPr>
            <p:cNvCxnSpPr>
              <a:cxnSpLocks/>
            </p:cNvCxnSpPr>
            <p:nvPr/>
          </p:nvCxnSpPr>
          <p:spPr bwMode="auto">
            <a:xfrm>
              <a:off x="6948165" y="3861030"/>
              <a:ext cx="360025" cy="412129"/>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4" name="直接连接符 27">
              <a:extLst>
                <a:ext uri="{FF2B5EF4-FFF2-40B4-BE49-F238E27FC236}">
                  <a16:creationId xmlns:a16="http://schemas.microsoft.com/office/drawing/2014/main" id="{722ECF68-82B1-4663-8659-C3F1FFE6D0B6}"/>
                </a:ext>
              </a:extLst>
            </p:cNvPr>
            <p:cNvCxnSpPr>
              <a:cxnSpLocks/>
            </p:cNvCxnSpPr>
            <p:nvPr/>
          </p:nvCxnSpPr>
          <p:spPr bwMode="auto">
            <a:xfrm>
              <a:off x="4644005" y="3861030"/>
              <a:ext cx="360025" cy="412129"/>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cxnSp>
          <p:nvCxnSpPr>
            <p:cNvPr id="52245" name="直接连接符 28">
              <a:extLst>
                <a:ext uri="{FF2B5EF4-FFF2-40B4-BE49-F238E27FC236}">
                  <a16:creationId xmlns:a16="http://schemas.microsoft.com/office/drawing/2014/main" id="{0D1279A9-5953-4D2C-B546-8ACA5F4D38EE}"/>
                </a:ext>
              </a:extLst>
            </p:cNvPr>
            <p:cNvCxnSpPr>
              <a:cxnSpLocks/>
            </p:cNvCxnSpPr>
            <p:nvPr/>
          </p:nvCxnSpPr>
          <p:spPr bwMode="auto">
            <a:xfrm>
              <a:off x="3779945" y="3861030"/>
              <a:ext cx="360025" cy="412129"/>
            </a:xfrm>
            <a:prstGeom prst="line">
              <a:avLst/>
            </a:prstGeom>
            <a:noFill/>
            <a:ln w="38100" algn="ctr">
              <a:solidFill>
                <a:srgbClr val="FF0000"/>
              </a:solidFill>
              <a:round/>
              <a:headEnd/>
              <a:tailEnd/>
            </a:ln>
            <a:extLst>
              <a:ext uri="{909E8E84-426E-40DD-AFC4-6F175D3DCCD1}">
                <a14:hiddenFill xmlns:a14="http://schemas.microsoft.com/office/drawing/2010/main">
                  <a:noFill/>
                </a14:hiddenFill>
              </a:ext>
            </a:extLst>
          </p:spPr>
        </p:cxnSp>
      </p:grpSp>
      <p:pic>
        <p:nvPicPr>
          <p:cNvPr id="2" name="图片 1">
            <a:extLst>
              <a:ext uri="{FF2B5EF4-FFF2-40B4-BE49-F238E27FC236}">
                <a16:creationId xmlns:a16="http://schemas.microsoft.com/office/drawing/2014/main" id="{6FCF6063-6D69-407A-B1A0-F812DCD09483}"/>
              </a:ext>
            </a:extLst>
          </p:cNvPr>
          <p:cNvPicPr>
            <a:picLocks noChangeAspect="1"/>
          </p:cNvPicPr>
          <p:nvPr/>
        </p:nvPicPr>
        <p:blipFill>
          <a:blip r:embed="rId6"/>
          <a:stretch>
            <a:fillRect/>
          </a:stretch>
        </p:blipFill>
        <p:spPr>
          <a:xfrm>
            <a:off x="4869541" y="163838"/>
            <a:ext cx="3600450" cy="2790825"/>
          </a:xfrm>
          <a:prstGeom prst="rect">
            <a:avLst/>
          </a:prstGeom>
        </p:spPr>
      </p:pic>
      <p:sp>
        <p:nvSpPr>
          <p:cNvPr id="3" name="矩形 2">
            <a:extLst>
              <a:ext uri="{FF2B5EF4-FFF2-40B4-BE49-F238E27FC236}">
                <a16:creationId xmlns:a16="http://schemas.microsoft.com/office/drawing/2014/main" id="{11E7B6FF-AA58-42EE-AAE7-849BCF71ED9C}"/>
              </a:ext>
            </a:extLst>
          </p:cNvPr>
          <p:cNvSpPr/>
          <p:nvPr/>
        </p:nvSpPr>
        <p:spPr>
          <a:xfrm>
            <a:off x="1094670" y="4351894"/>
            <a:ext cx="7045518" cy="707886"/>
          </a:xfrm>
          <a:prstGeom prst="rect">
            <a:avLst/>
          </a:prstGeom>
        </p:spPr>
        <p:txBody>
          <a:bodyPr wrap="none">
            <a:spAutoFit/>
          </a:bodyPr>
          <a:lstStyle/>
          <a:p>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其中：                               为电阻变化量，如果通过某种设计，</a:t>
            </a:r>
            <a:endParaRPr lang="en-US" altLang="zh-CN"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a:p>
            <a:r>
              <a:rPr lang="zh-CN" altLang="en-US" sz="2000"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使得</a:t>
            </a:r>
            <a:r>
              <a:rPr lang="zh-CN" altLang="en-US" sz="2000"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en-US" altLang="zh-CN" sz="2000" i="1"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R</a:t>
            </a:r>
            <a:r>
              <a:rPr lang="en-US" altLang="zh-CN" sz="2000"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i</a:t>
            </a:r>
            <a:r>
              <a:rPr lang="zh-CN" altLang="en-US" sz="2000" dirty="0">
                <a:solidFill>
                  <a:srgbClr val="0000FF"/>
                </a:solidFill>
                <a:highlight>
                  <a:srgbClr val="FFFF00"/>
                </a:highlight>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  均相等</a:t>
            </a:r>
            <a:r>
              <a:rPr lang="zh-CN" altLang="en-US" sz="2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，则：</a:t>
            </a:r>
            <a:endParaRPr lang="zh-CN" altLang="en-US" sz="2000"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4041"/>
                                        </p:tgtEl>
                                        <p:attrNameLst>
                                          <p:attrName>style.visibility</p:attrName>
                                        </p:attrNameLst>
                                      </p:cBhvr>
                                      <p:to>
                                        <p:strVal val="visible"/>
                                      </p:to>
                                    </p:set>
                                    <p:animEffect filter="blinds(horizontal)">
                                      <p:cBhvr>
                                        <p:cTn id="7" dur="500"/>
                                        <p:tgtEl>
                                          <p:spTgt spid="4404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filter="blinds(horizontal)">
                                      <p:cBhvr>
                                        <p:cTn id="10" dur="500"/>
                                        <p:tgtEl>
                                          <p:spTgt spid="1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anim calcmode="lin" valueType="num">
                                      <p:cBhvr>
                                        <p:cTn id="15" dur="1000" fill="hold"/>
                                        <p:tgtEl>
                                          <p:spTgt spid="21"/>
                                        </p:tgtEl>
                                        <p:attrNameLst>
                                          <p:attrName>ppt_w</p:attrName>
                                        </p:attrNameLst>
                                      </p:cBhvr>
                                      <p:tavLst>
                                        <p:tav tm="0">
                                          <p:val>
                                            <p:fltVal val="0"/>
                                          </p:val>
                                        </p:tav>
                                        <p:tav tm="100000">
                                          <p:val>
                                            <p:strVal val="#ppt_w"/>
                                          </p:val>
                                        </p:tav>
                                      </p:tavLst>
                                    </p:anim>
                                    <p:anim calcmode="lin" valueType="num">
                                      <p:cBhvr>
                                        <p:cTn id="16" dur="1000" fill="hold"/>
                                        <p:tgtEl>
                                          <p:spTgt spid="21"/>
                                        </p:tgtEl>
                                        <p:attrNameLst>
                                          <p:attrName>ppt_h</p:attrName>
                                        </p:attrNameLst>
                                      </p:cBhvr>
                                      <p:tavLst>
                                        <p:tav tm="0">
                                          <p:val>
                                            <p:fltVal val="0"/>
                                          </p:val>
                                        </p:tav>
                                        <p:tav tm="100000">
                                          <p:val>
                                            <p:strVal val="#ppt_h"/>
                                          </p:val>
                                        </p:tav>
                                      </p:tavLst>
                                    </p:anim>
                                    <p:anim calcmode="lin" valueType="num">
                                      <p:cBhvr>
                                        <p:cTn id="17" dur="1000" fill="hold"/>
                                        <p:tgtEl>
                                          <p:spTgt spid="21"/>
                                        </p:tgtEl>
                                        <p:attrNameLst>
                                          <p:attrName>style.rotation</p:attrName>
                                        </p:attrNameLst>
                                      </p:cBhvr>
                                      <p:tavLst>
                                        <p:tav tm="0">
                                          <p:val>
                                            <p:fltVal val="90"/>
                                          </p:val>
                                        </p:tav>
                                        <p:tav tm="100000">
                                          <p:val>
                                            <p:fltVal val="0"/>
                                          </p:val>
                                        </p:tav>
                                      </p:tavLst>
                                    </p:anim>
                                    <p:animEffect transition="in" filter="fade">
                                      <p:cBhvr>
                                        <p:cTn id="18" dur="1000"/>
                                        <p:tgtEl>
                                          <p:spTgt spid="21"/>
                                        </p:tgtEl>
                                      </p:cBhvr>
                                    </p:animEffect>
                                  </p:childTnLst>
                                </p:cTn>
                              </p:par>
                              <p:par>
                                <p:cTn id="19" presetID="3" presetClass="entr" presetSubtype="1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filter="blinds(horizontal)">
                                      <p:cBhvr>
                                        <p:cTn id="21" dur="500"/>
                                        <p:tgtEl>
                                          <p:spTgt spid="15"/>
                                        </p:tgtEl>
                                      </p:cBhvr>
                                    </p:animEffect>
                                  </p:childTnLst>
                                </p:cTn>
                              </p:par>
                              <p:par>
                                <p:cTn id="22" presetID="3" presetClass="entr" presetSubtype="10" fill="hold"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filter="blinds(horizontal)">
                                      <p:cBhvr>
                                        <p:cTn id="24" dur="500"/>
                                        <p:tgtEl>
                                          <p:spTgt spid="1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filter="blinds(horizontal)">
                                      <p:cBhvr>
                                        <p:cTn id="27" dur="500"/>
                                        <p:tgtEl>
                                          <p:spTgt spid="18"/>
                                        </p:tgtEl>
                                      </p:cBhvr>
                                    </p:animEffect>
                                  </p:childTnLst>
                                </p:cTn>
                              </p:par>
                              <p:par>
                                <p:cTn id="28" presetID="2" presetClass="entr" presetSubtype="4"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 calcmode="lin" valueType="num">
                                      <p:cBhvr additive="base">
                                        <p:cTn id="30" dur="500" fill="hold"/>
                                        <p:tgtEl>
                                          <p:spTgt spid="4"/>
                                        </p:tgtEl>
                                        <p:attrNameLst>
                                          <p:attrName>ppt_x</p:attrName>
                                        </p:attrNameLst>
                                      </p:cBhvr>
                                      <p:tavLst>
                                        <p:tav tm="0">
                                          <p:val>
                                            <p:strVal val="#ppt_x"/>
                                          </p:val>
                                        </p:tav>
                                        <p:tav tm="100000">
                                          <p:val>
                                            <p:strVal val="#ppt_x"/>
                                          </p:val>
                                        </p:tav>
                                      </p:tavLst>
                                    </p:anim>
                                    <p:anim calcmode="lin" valueType="num">
                                      <p:cBhvr additive="base">
                                        <p:cTn id="3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1" grpId="0" bldLvl="0"/>
      <p:bldP spid="16" grpId="0" bldLvl="0"/>
      <p:bldP spid="18" grpId="0" bldLvl="0"/>
      <p:bldP spid="4"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4">
            <a:extLst>
              <a:ext uri="{FF2B5EF4-FFF2-40B4-BE49-F238E27FC236}">
                <a16:creationId xmlns:a16="http://schemas.microsoft.com/office/drawing/2014/main" id="{A6170016-13AF-4EB2-9E23-8771A248B69E}"/>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3251" name="灯片编号占位符 3">
            <a:extLst>
              <a:ext uri="{FF2B5EF4-FFF2-40B4-BE49-F238E27FC236}">
                <a16:creationId xmlns:a16="http://schemas.microsoft.com/office/drawing/2014/main" id="{AB8308C0-1592-4436-B077-275A6F547AC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F608CDD-D036-4504-A4F1-B26357AAE9F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51</a:t>
            </a:fld>
            <a:endParaRPr lang="en-US" altLang="zh-CN" sz="1400">
              <a:solidFill>
                <a:srgbClr val="000000"/>
              </a:solidFill>
              <a:latin typeface="Arial" panose="020B0604020202020204" pitchFamily="34" charset="0"/>
            </a:endParaRPr>
          </a:p>
        </p:txBody>
      </p:sp>
      <p:sp>
        <p:nvSpPr>
          <p:cNvPr id="53252" name="TextBox 5">
            <a:extLst>
              <a:ext uri="{FF2B5EF4-FFF2-40B4-BE49-F238E27FC236}">
                <a16:creationId xmlns:a16="http://schemas.microsoft.com/office/drawing/2014/main" id="{1FCA1C79-61D1-4450-A8C5-B95A8E5EFF0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等臂电桥</a:t>
            </a:r>
            <a:endParaRPr lang="zh-CN" altLang="en-US" sz="1800">
              <a:latin typeface="黑体" panose="02010609060101010101" pitchFamily="49" charset="-122"/>
              <a:ea typeface="黑体" panose="02010609060101010101" pitchFamily="49" charset="-122"/>
            </a:endParaRPr>
          </a:p>
        </p:txBody>
      </p:sp>
      <p:sp>
        <p:nvSpPr>
          <p:cNvPr id="53253" name="Rectangle 18">
            <a:extLst>
              <a:ext uri="{FF2B5EF4-FFF2-40B4-BE49-F238E27FC236}">
                <a16:creationId xmlns:a16="http://schemas.microsoft.com/office/drawing/2014/main" id="{940DF03F-9405-45C9-8B97-F05836DB3019}"/>
              </a:ext>
            </a:extLst>
          </p:cNvPr>
          <p:cNvSpPr>
            <a:spLocks noChangeArrowheads="1"/>
          </p:cNvSpPr>
          <p:nvPr/>
        </p:nvSpPr>
        <p:spPr bwMode="auto">
          <a:xfrm>
            <a:off x="395288" y="2844800"/>
            <a:ext cx="8229600" cy="369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12788" indent="-531813">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1" algn="just" fontAlgn="t">
              <a:lnSpc>
                <a:spcPct val="130000"/>
              </a:lnSpc>
              <a:spcBef>
                <a:spcPct val="10000"/>
              </a:spcBef>
              <a:buFont typeface="Arial" panose="020B0604020202020204" pitchFamily="34" charset="0"/>
              <a:buNone/>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由该公式可以得出几个结论：</a:t>
            </a:r>
          </a:p>
          <a:p>
            <a:pPr lvl="1" algn="just" fontAlgn="t">
              <a:lnSpc>
                <a:spcPct val="130000"/>
              </a:lnSpc>
              <a:spcBef>
                <a:spcPct val="10000"/>
              </a:spcBef>
              <a:buFont typeface="Arial" panose="020B0604020202020204" pitchFamily="34" charset="0"/>
              <a:buAutoNum type="circleNumDbPlain"/>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当</a:t>
            </a:r>
            <a:r>
              <a:rPr lang="en-US" altLang="zh-CN" sz="2400" dirty="0">
                <a:solidFill>
                  <a:srgbClr val="00B050"/>
                </a:solidFill>
                <a:latin typeface="微软雅黑" panose="020B0503020204020204" pitchFamily="34" charset="-122"/>
                <a:ea typeface="微软雅黑" panose="020B0503020204020204" pitchFamily="34" charset="-122"/>
                <a:sym typeface="楷体_GB2312" pitchFamily="49" charset="-122"/>
              </a:rPr>
              <a:t>Δ</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R&lt;&lt;R</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时，输出电压与应变呈</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线性关系</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p>
          <a:p>
            <a:pPr lvl="1" algn="just" fontAlgn="t">
              <a:lnSpc>
                <a:spcPct val="130000"/>
              </a:lnSpc>
              <a:spcBef>
                <a:spcPct val="10000"/>
              </a:spcBef>
              <a:buFont typeface="Arial" panose="020B0604020202020204" pitchFamily="34" charset="0"/>
              <a:buAutoNum type="circleNumDbPlain"/>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若</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相邻两桥臂的</a:t>
            </a:r>
            <a:r>
              <a:rPr lang="zh-CN" altLang="en-US" sz="2400" dirty="0">
                <a:solidFill>
                  <a:srgbClr val="FF0000"/>
                </a:solidFill>
                <a:latin typeface="微软雅黑" panose="020B0503020204020204" pitchFamily="34" charset="-122"/>
                <a:ea typeface="微软雅黑" panose="020B0503020204020204" pitchFamily="34" charset="-122"/>
                <a:sym typeface="楷体_GB2312" pitchFamily="49" charset="-122"/>
              </a:rPr>
              <a:t>应变极性</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一致</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，即同为拉应变或压应变时，</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输出电压为两者之差</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；若</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相邻两桥臂的极性不同时</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输出电压为两者之和</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p>
          <a:p>
            <a:pPr lvl="1" algn="just" fontAlgn="t">
              <a:lnSpc>
                <a:spcPct val="130000"/>
              </a:lnSpc>
              <a:spcBef>
                <a:spcPct val="10000"/>
              </a:spcBef>
              <a:buFont typeface="Arial" panose="020B0604020202020204" pitchFamily="34" charset="0"/>
              <a:buAutoNum type="circleNumDbPlain"/>
            </a:pP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若</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相对两桥臂</a:t>
            </a:r>
            <a:r>
              <a:rPr lang="zh-CN" altLang="en-US" sz="2400" dirty="0">
                <a:solidFill>
                  <a:srgbClr val="FF0000"/>
                </a:solidFill>
                <a:latin typeface="微软雅黑" panose="020B0503020204020204" pitchFamily="34" charset="-122"/>
                <a:ea typeface="微软雅黑" panose="020B0503020204020204" pitchFamily="34" charset="-122"/>
                <a:sym typeface="楷体_GB2312" pitchFamily="49" charset="-122"/>
              </a:rPr>
              <a:t>应变极性</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一致时</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输出电压为两者之和</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B050"/>
                </a:solidFill>
                <a:latin typeface="微软雅黑" panose="020B0503020204020204" pitchFamily="34" charset="-122"/>
                <a:ea typeface="微软雅黑" panose="020B0503020204020204" pitchFamily="34" charset="-122"/>
                <a:sym typeface="楷体_GB2312" pitchFamily="49" charset="-122"/>
              </a:rPr>
              <a:t>相对桥臂的应变极性相反时</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输出电压为两者之差</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endParaRPr lang="zh-CN" altLang="en-US" sz="1800" dirty="0">
              <a:latin typeface="微软雅黑" panose="020B0503020204020204" pitchFamily="34" charset="-122"/>
              <a:ea typeface="微软雅黑" panose="020B0503020204020204" pitchFamily="34" charset="-122"/>
            </a:endParaRPr>
          </a:p>
        </p:txBody>
      </p:sp>
      <p:pic>
        <p:nvPicPr>
          <p:cNvPr id="6" name="Object 8">
            <a:extLst>
              <a:ext uri="{FF2B5EF4-FFF2-40B4-BE49-F238E27FC236}">
                <a16:creationId xmlns:a16="http://schemas.microsoft.com/office/drawing/2014/main" id="{12B4371D-3FD2-4E74-A0FD-9DF76F7B1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111250"/>
            <a:ext cx="4319587" cy="1733550"/>
          </a:xfrm>
          <a:prstGeom prst="rect">
            <a:avLst/>
          </a:prstGeom>
          <a:solidFill>
            <a:schemeClr val="bg2">
              <a:lumMod val="90000"/>
            </a:schemeClr>
          </a:solidFill>
          <a:ln>
            <a:noFill/>
          </a:ln>
        </p:spPr>
      </p:pic>
      <p:pic>
        <p:nvPicPr>
          <p:cNvPr id="2" name="图片 1">
            <a:extLst>
              <a:ext uri="{FF2B5EF4-FFF2-40B4-BE49-F238E27FC236}">
                <a16:creationId xmlns:a16="http://schemas.microsoft.com/office/drawing/2014/main" id="{B8C79D30-53E1-48A1-BDCE-EEF990688B21}"/>
              </a:ext>
            </a:extLst>
          </p:cNvPr>
          <p:cNvPicPr>
            <a:picLocks noChangeAspect="1"/>
          </p:cNvPicPr>
          <p:nvPr/>
        </p:nvPicPr>
        <p:blipFill>
          <a:blip r:embed="rId3"/>
          <a:stretch>
            <a:fillRect/>
          </a:stretch>
        </p:blipFill>
        <p:spPr>
          <a:xfrm>
            <a:off x="5226844" y="315912"/>
            <a:ext cx="3600450" cy="27908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矩形 4">
            <a:extLst>
              <a:ext uri="{FF2B5EF4-FFF2-40B4-BE49-F238E27FC236}">
                <a16:creationId xmlns:a16="http://schemas.microsoft.com/office/drawing/2014/main" id="{F4F715E3-F642-4A06-9ABF-40BC31DBF70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4275" name="灯片编号占位符 3">
            <a:extLst>
              <a:ext uri="{FF2B5EF4-FFF2-40B4-BE49-F238E27FC236}">
                <a16:creationId xmlns:a16="http://schemas.microsoft.com/office/drawing/2014/main" id="{0D302825-BD7A-4A3C-A28A-14134DAB6FB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3D2091B-A051-4A2D-B740-FADDDD52FEB2}"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52</a:t>
            </a:fld>
            <a:endParaRPr lang="en-US" altLang="zh-CN" sz="1400">
              <a:solidFill>
                <a:srgbClr val="000000"/>
              </a:solidFill>
              <a:latin typeface="Arial" panose="020B0604020202020204" pitchFamily="34" charset="0"/>
            </a:endParaRPr>
          </a:p>
        </p:txBody>
      </p:sp>
      <p:sp>
        <p:nvSpPr>
          <p:cNvPr id="54276" name="TextBox 5">
            <a:extLst>
              <a:ext uri="{FF2B5EF4-FFF2-40B4-BE49-F238E27FC236}">
                <a16:creationId xmlns:a16="http://schemas.microsoft.com/office/drawing/2014/main" id="{75367A8D-062D-40BC-B201-ED5F3799B569}"/>
              </a:ext>
            </a:extLst>
          </p:cNvPr>
          <p:cNvSpPr>
            <a:spLocks noChangeArrowheads="1"/>
          </p:cNvSpPr>
          <p:nvPr/>
        </p:nvSpPr>
        <p:spPr bwMode="auto">
          <a:xfrm>
            <a:off x="684213" y="260350"/>
            <a:ext cx="73437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单臂测量电路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非线性分析</a:t>
            </a:r>
            <a:endParaRPr lang="zh-CN" altLang="en-US">
              <a:solidFill>
                <a:srgbClr val="0000FF"/>
              </a:solidFill>
              <a:latin typeface="黑体" panose="02010609060101010101" pitchFamily="49" charset="-122"/>
              <a:ea typeface="黑体" panose="02010609060101010101" pitchFamily="49" charset="-122"/>
            </a:endParaRPr>
          </a:p>
        </p:txBody>
      </p:sp>
      <p:sp>
        <p:nvSpPr>
          <p:cNvPr id="54277" name="Rectangle 5">
            <a:extLst>
              <a:ext uri="{FF2B5EF4-FFF2-40B4-BE49-F238E27FC236}">
                <a16:creationId xmlns:a16="http://schemas.microsoft.com/office/drawing/2014/main" id="{28C41286-F279-456E-A7D5-3D4C807D2585}"/>
              </a:ext>
            </a:extLst>
          </p:cNvPr>
          <p:cNvSpPr>
            <a:spLocks noChangeArrowheads="1"/>
          </p:cNvSpPr>
          <p:nvPr/>
        </p:nvSpPr>
        <p:spPr bwMode="auto">
          <a:xfrm>
            <a:off x="466725" y="1270000"/>
            <a:ext cx="5934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当只有单臂工作时，即</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AB</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桥臂变化</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ΔR</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，则</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278" name="Rectangle 7">
            <a:extLst>
              <a:ext uri="{FF2B5EF4-FFF2-40B4-BE49-F238E27FC236}">
                <a16:creationId xmlns:a16="http://schemas.microsoft.com/office/drawing/2014/main" id="{AC3908AC-70D4-4B7A-8526-A80AB896D9B0}"/>
              </a:ext>
            </a:extLst>
          </p:cNvPr>
          <p:cNvSpPr>
            <a:spLocks noChangeArrowheads="1"/>
          </p:cNvSpPr>
          <p:nvPr/>
        </p:nvSpPr>
        <p:spPr bwMode="auto">
          <a:xfrm>
            <a:off x="538163" y="2638425"/>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由上式做级数展开，得</a:t>
            </a:r>
            <a:endParaRPr lang="zh-CN" altLang="en-US" sz="18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279" name="Rectangle 9">
            <a:extLst>
              <a:ext uri="{FF2B5EF4-FFF2-40B4-BE49-F238E27FC236}">
                <a16:creationId xmlns:a16="http://schemas.microsoft.com/office/drawing/2014/main" id="{9A4A7D7C-949E-4BA2-8214-27CD7449C1DD}"/>
              </a:ext>
            </a:extLst>
          </p:cNvPr>
          <p:cNvSpPr>
            <a:spLocks noChangeArrowheads="1"/>
          </p:cNvSpPr>
          <p:nvPr/>
        </p:nvSpPr>
        <p:spPr bwMode="auto">
          <a:xfrm>
            <a:off x="538163" y="3933825"/>
            <a:ext cx="757130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则电桥的相对非线性误差为：（</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注意如何计算非线性）</a:t>
            </a:r>
            <a:endParaRPr lang="zh-CN" altLang="en-US" sz="18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280" name="Rectangle 11">
            <a:extLst>
              <a:ext uri="{FF2B5EF4-FFF2-40B4-BE49-F238E27FC236}">
                <a16:creationId xmlns:a16="http://schemas.microsoft.com/office/drawing/2014/main" id="{BE2D5C32-DB79-4175-91CA-5F1B0C6A5497}"/>
              </a:ext>
            </a:extLst>
          </p:cNvPr>
          <p:cNvSpPr>
            <a:spLocks noChangeArrowheads="1"/>
          </p:cNvSpPr>
          <p:nvPr/>
        </p:nvSpPr>
        <p:spPr bwMode="auto">
          <a:xfrm>
            <a:off x="612306" y="5746964"/>
            <a:ext cx="7705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可见，</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愈大，</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δ</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愈大，通常</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&lt;&lt;1</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a:t>
            </a:r>
            <a:endParaRPr lang="zh-CN" altLang="en-US" sz="1800" i="1"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4281" name="Object 9">
            <a:extLst>
              <a:ext uri="{FF2B5EF4-FFF2-40B4-BE49-F238E27FC236}">
                <a16:creationId xmlns:a16="http://schemas.microsoft.com/office/drawing/2014/main" id="{A56F2CA0-9B9C-4D93-A622-9E470301D95D}"/>
              </a:ext>
            </a:extLst>
          </p:cNvPr>
          <p:cNvGraphicFramePr>
            <a:graphicFrameLocks noChangeAspect="1"/>
          </p:cNvGraphicFramePr>
          <p:nvPr/>
        </p:nvGraphicFramePr>
        <p:xfrm>
          <a:off x="1258888" y="1701800"/>
          <a:ext cx="6931025" cy="904875"/>
        </p:xfrm>
        <a:graphic>
          <a:graphicData uri="http://schemas.openxmlformats.org/presentationml/2006/ole">
            <mc:AlternateContent xmlns:mc="http://schemas.openxmlformats.org/markup-compatibility/2006">
              <mc:Choice xmlns:v="urn:schemas-microsoft-com:vml" Requires="v">
                <p:oleObj spid="_x0000_s54440" r:id="rId3" imgW="3008594" imgH="393529" progId="Equation.DSMT4">
                  <p:embed/>
                </p:oleObj>
              </mc:Choice>
              <mc:Fallback>
                <p:oleObj r:id="rId3" imgW="3008594" imgH="393529" progId="Equation.DSMT4">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701800"/>
                        <a:ext cx="69310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4283" name="Object 11">
            <a:hlinkClick r:id="" action="ppaction://ole?verb=1"/>
            <a:extLst>
              <a:ext uri="{FF2B5EF4-FFF2-40B4-BE49-F238E27FC236}">
                <a16:creationId xmlns:a16="http://schemas.microsoft.com/office/drawing/2014/main" id="{C2E6D7BE-E32F-473F-8990-71AA5C3E98F4}"/>
              </a:ext>
            </a:extLst>
          </p:cNvPr>
          <p:cNvGraphicFramePr>
            <a:graphicFrameLocks noChangeAspect="1"/>
          </p:cNvGraphicFramePr>
          <p:nvPr/>
        </p:nvGraphicFramePr>
        <p:xfrm>
          <a:off x="1260475" y="2997200"/>
          <a:ext cx="6743700" cy="822325"/>
        </p:xfrm>
        <a:graphic>
          <a:graphicData uri="http://schemas.openxmlformats.org/presentationml/2006/ole">
            <mc:AlternateContent xmlns:mc="http://schemas.openxmlformats.org/markup-compatibility/2006">
              <mc:Choice xmlns:v="urn:schemas-microsoft-com:vml" Requires="v">
                <p:oleObj spid="_x0000_s54441" r:id="rId5" imgW="3593880" imgH="457200" progId="Equation.3">
                  <p:embed/>
                </p:oleObj>
              </mc:Choice>
              <mc:Fallback>
                <p:oleObj r:id="rId5" imgW="3593880" imgH="4572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0475" y="2997200"/>
                        <a:ext cx="67437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a:extLst>
              <a:ext uri="{FF2B5EF4-FFF2-40B4-BE49-F238E27FC236}">
                <a16:creationId xmlns:a16="http://schemas.microsoft.com/office/drawing/2014/main" id="{E6518983-893B-40E6-9A51-A04ECB20AA41}"/>
              </a:ext>
            </a:extLst>
          </p:cNvPr>
          <p:cNvPicPr>
            <a:picLocks noChangeAspect="1"/>
          </p:cNvPicPr>
          <p:nvPr/>
        </p:nvPicPr>
        <p:blipFill>
          <a:blip r:embed="rId7"/>
          <a:stretch>
            <a:fillRect/>
          </a:stretch>
        </p:blipFill>
        <p:spPr>
          <a:xfrm>
            <a:off x="344064" y="4427655"/>
            <a:ext cx="8455871" cy="1313428"/>
          </a:xfrm>
          <a:prstGeom prst="rect">
            <a:avLst/>
          </a:prstGeom>
        </p:spPr>
      </p:pic>
      <p:pic>
        <p:nvPicPr>
          <p:cNvPr id="12" name="图片 9">
            <a:extLst>
              <a:ext uri="{FF2B5EF4-FFF2-40B4-BE49-F238E27FC236}">
                <a16:creationId xmlns:a16="http://schemas.microsoft.com/office/drawing/2014/main" id="{2FA3A70E-026A-4934-AB0F-8102B7C492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9565" y="1025776"/>
            <a:ext cx="3438525"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xit" presetSubtype="0" fill="hold" nodeType="clickEffect">
                                  <p:stCondLst>
                                    <p:cond delay="0"/>
                                  </p:stCondLst>
                                  <p:childTnLst>
                                    <p:animEffect transition="out" filter="fade">
                                      <p:cBhvr>
                                        <p:cTn id="12" dur="1000"/>
                                        <p:tgtEl>
                                          <p:spTgt spid="12"/>
                                        </p:tgtEl>
                                      </p:cBhvr>
                                    </p:animEffect>
                                    <p:anim calcmode="lin" valueType="num">
                                      <p:cBhvr>
                                        <p:cTn id="13" dur="1000"/>
                                        <p:tgtEl>
                                          <p:spTgt spid="12"/>
                                        </p:tgtEl>
                                        <p:attrNameLst>
                                          <p:attrName>ppt_x</p:attrName>
                                        </p:attrNameLst>
                                      </p:cBhvr>
                                      <p:tavLst>
                                        <p:tav tm="0">
                                          <p:val>
                                            <p:strVal val="ppt_x"/>
                                          </p:val>
                                        </p:tav>
                                        <p:tav tm="100000">
                                          <p:val>
                                            <p:strVal val="ppt_x"/>
                                          </p:val>
                                        </p:tav>
                                      </p:tavLst>
                                    </p:anim>
                                    <p:anim calcmode="lin" valueType="num">
                                      <p:cBhvr>
                                        <p:cTn id="14" dur="1000"/>
                                        <p:tgtEl>
                                          <p:spTgt spid="12"/>
                                        </p:tgtEl>
                                        <p:attrNameLst>
                                          <p:attrName>ppt_y</p:attrName>
                                        </p:attrNameLst>
                                      </p:cBhvr>
                                      <p:tavLst>
                                        <p:tav tm="0">
                                          <p:val>
                                            <p:strVal val="ppt_y"/>
                                          </p:val>
                                        </p:tav>
                                        <p:tav tm="100000">
                                          <p:val>
                                            <p:strVal val="ppt_y+.1"/>
                                          </p:val>
                                        </p:tav>
                                      </p:tavLst>
                                    </p:anim>
                                    <p:set>
                                      <p:cBhvr>
                                        <p:cTn id="15" dur="1" fill="hold">
                                          <p:stCondLst>
                                            <p:cond delay="9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矩形 4">
            <a:extLst>
              <a:ext uri="{FF2B5EF4-FFF2-40B4-BE49-F238E27FC236}">
                <a16:creationId xmlns:a16="http://schemas.microsoft.com/office/drawing/2014/main" id="{75B19FDA-8955-42E3-9B02-34EA78442BA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5299" name="灯片编号占位符 3">
            <a:extLst>
              <a:ext uri="{FF2B5EF4-FFF2-40B4-BE49-F238E27FC236}">
                <a16:creationId xmlns:a16="http://schemas.microsoft.com/office/drawing/2014/main" id="{710F083A-40AE-4779-AE2D-8D65874829D3}"/>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3DC9BB9-4D18-4A33-8722-56555C36FA6A}"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53</a:t>
            </a:fld>
            <a:endParaRPr lang="en-US" altLang="zh-CN" sz="1400">
              <a:solidFill>
                <a:srgbClr val="000000"/>
              </a:solidFill>
              <a:latin typeface="Arial" panose="020B0604020202020204" pitchFamily="34" charset="0"/>
            </a:endParaRPr>
          </a:p>
        </p:txBody>
      </p:sp>
      <p:sp>
        <p:nvSpPr>
          <p:cNvPr id="55300" name="TextBox 5">
            <a:extLst>
              <a:ext uri="{FF2B5EF4-FFF2-40B4-BE49-F238E27FC236}">
                <a16:creationId xmlns:a16="http://schemas.microsoft.com/office/drawing/2014/main" id="{941A6BD1-7A14-45EC-94CC-6E8A792D3E7B}"/>
              </a:ext>
            </a:extLst>
          </p:cNvPr>
          <p:cNvSpPr>
            <a:spLocks noChangeArrowheads="1"/>
          </p:cNvSpPr>
          <p:nvPr/>
        </p:nvSpPr>
        <p:spPr bwMode="auto">
          <a:xfrm>
            <a:off x="684213" y="260350"/>
            <a:ext cx="69834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.2  </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单臂测量电路</a:t>
            </a:r>
            <a:r>
              <a:rPr lang="en-US" altLang="zh-CN" b="1">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恒压源驱动</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55301" name="Rectangle 16">
            <a:extLst>
              <a:ext uri="{FF2B5EF4-FFF2-40B4-BE49-F238E27FC236}">
                <a16:creationId xmlns:a16="http://schemas.microsoft.com/office/drawing/2014/main" id="{3ACD6BBE-4F34-4430-946E-FE0BCC53FB9C}"/>
              </a:ext>
            </a:extLst>
          </p:cNvPr>
          <p:cNvSpPr>
            <a:spLocks noChangeArrowheads="1"/>
          </p:cNvSpPr>
          <p:nvPr/>
        </p:nvSpPr>
        <p:spPr bwMode="auto">
          <a:xfrm>
            <a:off x="252413" y="2620963"/>
            <a:ext cx="8785225" cy="4351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例题：</a:t>
            </a:r>
          </a:p>
          <a:p>
            <a:pPr>
              <a:lnSpc>
                <a:spcPct val="130000"/>
              </a:lnSpc>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设</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K</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=2</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，要求非线性误差</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δ</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&lt;1%</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，试求测量允许最大应变值</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ε</a:t>
            </a:r>
            <a:r>
              <a:rPr lang="en-US" altLang="zh-CN" sz="2400" baseline="-300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max</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en-US" altLang="zh-CN"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endParaRPr lang="zh-CN" altLang="en-US" sz="2400" b="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pPr>
              <a:lnSpc>
                <a:spcPct val="130000"/>
              </a:lnSpc>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结论：如果被测应变大于</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10000</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μ</a:t>
            </a:r>
            <a:r>
              <a:rPr lang="el-GR"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ε</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，采用等臂电桥时的非线性误差大于</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zh-CN" altLang="en-US" sz="24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注：应变是一个相对变化量，没有单位</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endPar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endParaRPr>
          </a:p>
        </p:txBody>
      </p:sp>
      <p:pic>
        <p:nvPicPr>
          <p:cNvPr id="55302" name="Object 6">
            <a:extLst>
              <a:ext uri="{FF2B5EF4-FFF2-40B4-BE49-F238E27FC236}">
                <a16:creationId xmlns:a16="http://schemas.microsoft.com/office/drawing/2014/main" id="{F07A38C7-80F1-4DCF-B885-D51931EAC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575" y="3657600"/>
            <a:ext cx="1989138" cy="85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80DB6F72-E0C8-468F-8EFE-F4E7916AA1DD}"/>
              </a:ext>
            </a:extLst>
          </p:cNvPr>
          <p:cNvSpPr>
            <a:spLocks noRot="1" noChangeAspect="1" noMove="1" noResize="1" noEditPoints="1" noAdjustHandles="1" noChangeArrowheads="1" noChangeShapeType="1" noTextEdit="1"/>
          </p:cNvSpPr>
          <p:nvPr/>
        </p:nvSpPr>
        <p:spPr>
          <a:xfrm>
            <a:off x="3059895" y="1832070"/>
            <a:ext cx="2232155" cy="1014317"/>
          </a:xfrm>
          <a:prstGeom prst="rect">
            <a:avLst/>
          </a:prstGeom>
          <a:blipFill>
            <a:blip r:embed="rId3"/>
            <a:stretch>
              <a:fillRect/>
            </a:stretch>
          </a:blipFill>
          <a:effectLst>
            <a:outerShdw blurRad="50800" dist="38100" dir="5400000" algn="t" rotWithShape="0">
              <a:prstClr val="black">
                <a:alpha val="40000"/>
              </a:prstClr>
            </a:outerShdw>
          </a:effectLst>
        </p:spPr>
        <p:txBody>
          <a:bodyPr/>
          <a:lstStyle/>
          <a:p>
            <a:r>
              <a:rPr lang="zh-CN" altLang="en-US" dirty="0">
                <a:noFill/>
              </a:rPr>
              <a:t> </a:t>
            </a:r>
          </a:p>
        </p:txBody>
      </p:sp>
      <p:sp>
        <p:nvSpPr>
          <p:cNvPr id="55304" name="矩形 1">
            <a:extLst>
              <a:ext uri="{FF2B5EF4-FFF2-40B4-BE49-F238E27FC236}">
                <a16:creationId xmlns:a16="http://schemas.microsoft.com/office/drawing/2014/main" id="{2BA815A6-DDDF-4C7B-A7F8-22D3C38CD4DB}"/>
              </a:ext>
            </a:extLst>
          </p:cNvPr>
          <p:cNvSpPr>
            <a:spLocks noChangeArrowheads="1"/>
          </p:cNvSpPr>
          <p:nvPr/>
        </p:nvSpPr>
        <p:spPr bwMode="auto">
          <a:xfrm>
            <a:off x="265113" y="1171575"/>
            <a:ext cx="8070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由于</a:t>
            </a:r>
            <a:r>
              <a:rPr lang="en-US" altLang="zh-CN" sz="2400" i="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&lt;&lt;1</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，可</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忽略二次项，相对非线性误差 </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近似为</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p>
        </p:txBody>
      </p:sp>
      <p:pic>
        <p:nvPicPr>
          <p:cNvPr id="55305" name="图片 2">
            <a:extLst>
              <a:ext uri="{FF2B5EF4-FFF2-40B4-BE49-F238E27FC236}">
                <a16:creationId xmlns:a16="http://schemas.microsoft.com/office/drawing/2014/main" id="{2A1C85F5-7863-43EF-8F99-D506330939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500" y="4510088"/>
            <a:ext cx="5905500"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6">
            <a:extLst>
              <a:ext uri="{FF2B5EF4-FFF2-40B4-BE49-F238E27FC236}">
                <a16:creationId xmlns:a16="http://schemas.microsoft.com/office/drawing/2014/main" id="{0CF868CE-C4BB-4696-9E91-F19C9E28602D}"/>
              </a:ext>
            </a:extLst>
          </p:cNvPr>
          <p:cNvGrpSpPr>
            <a:grpSpLocks/>
          </p:cNvGrpSpPr>
          <p:nvPr/>
        </p:nvGrpSpPr>
        <p:grpSpPr bwMode="auto">
          <a:xfrm>
            <a:off x="5843588" y="2047875"/>
            <a:ext cx="2344737" cy="639763"/>
            <a:chOff x="5899751" y="2068775"/>
            <a:chExt cx="2344504" cy="640306"/>
          </a:xfrm>
        </p:grpSpPr>
        <p:pic>
          <p:nvPicPr>
            <p:cNvPr id="5" name="图形 4" descr="灯泡">
              <a:extLst>
                <a:ext uri="{FF2B5EF4-FFF2-40B4-BE49-F238E27FC236}">
                  <a16:creationId xmlns:a16="http://schemas.microsoft.com/office/drawing/2014/main" id="{E2CF1542-4FD1-4354-9D05-F46A40B25C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9751" y="2097374"/>
              <a:ext cx="582554" cy="583107"/>
            </a:xfrm>
            <a:prstGeom prst="rect">
              <a:avLst/>
            </a:prstGeom>
          </p:spPr>
        </p:pic>
        <p:sp>
          <p:nvSpPr>
            <p:cNvPr id="6" name="卷形: 水平 5">
              <a:extLst>
                <a:ext uri="{FF2B5EF4-FFF2-40B4-BE49-F238E27FC236}">
                  <a16:creationId xmlns:a16="http://schemas.microsoft.com/office/drawing/2014/main" id="{32BA6DCD-EFF6-46D4-B8F0-74971B9C85AE}"/>
                </a:ext>
              </a:extLst>
            </p:cNvPr>
            <p:cNvSpPr/>
            <p:nvPr/>
          </p:nvSpPr>
          <p:spPr bwMode="auto">
            <a:xfrm>
              <a:off x="6515640" y="2068775"/>
              <a:ext cx="1728615" cy="640306"/>
            </a:xfrm>
            <a:prstGeom prst="horizontalScroll">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0"/>
            </a:gradFill>
            <a:ln w="9525" cap="flat" cmpd="sng" algn="ctr">
              <a:solidFill>
                <a:schemeClr val="tx1"/>
              </a:solidFill>
              <a:prstDash val="solid"/>
              <a:round/>
              <a:headEnd type="none" w="med" len="med"/>
              <a:tailEnd type="none" w="med" len="med"/>
            </a:ln>
          </p:spPr>
          <p:txBody>
            <a:bodyPr/>
            <a:lstStyle/>
            <a:p>
              <a:pPr>
                <a:buFont typeface="Arial" pitchFamily="34" charset="0"/>
                <a:buNone/>
                <a:defRPr/>
              </a:pPr>
              <a:r>
                <a:rPr lang="zh-CN" altLang="en-US" sz="2000" dirty="0">
                  <a:latin typeface="Arial" pitchFamily="34" charset="0"/>
                </a:rPr>
                <a:t>恒压源驱动</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矩形 4">
            <a:extLst>
              <a:ext uri="{FF2B5EF4-FFF2-40B4-BE49-F238E27FC236}">
                <a16:creationId xmlns:a16="http://schemas.microsoft.com/office/drawing/2014/main" id="{5A7C991E-79C9-4D47-9DD6-ABEC0FCFBB9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6323" name="灯片编号占位符 3">
            <a:extLst>
              <a:ext uri="{FF2B5EF4-FFF2-40B4-BE49-F238E27FC236}">
                <a16:creationId xmlns:a16="http://schemas.microsoft.com/office/drawing/2014/main" id="{4156F63D-0019-4409-AE3B-CE075A74D899}"/>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0D5DA31A-780A-47C9-8631-44ACFC3608B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54</a:t>
            </a:fld>
            <a:endParaRPr lang="en-US" altLang="zh-CN" sz="1400">
              <a:solidFill>
                <a:srgbClr val="000000"/>
              </a:solidFill>
              <a:latin typeface="Arial" panose="020B0604020202020204" pitchFamily="34" charset="0"/>
            </a:endParaRPr>
          </a:p>
        </p:txBody>
      </p:sp>
      <p:sp>
        <p:nvSpPr>
          <p:cNvPr id="56324" name="TextBox 5">
            <a:extLst>
              <a:ext uri="{FF2B5EF4-FFF2-40B4-BE49-F238E27FC236}">
                <a16:creationId xmlns:a16="http://schemas.microsoft.com/office/drawing/2014/main" id="{9596F6F7-97CF-40CE-8257-DCF1DD653341}"/>
              </a:ext>
            </a:extLst>
          </p:cNvPr>
          <p:cNvSpPr>
            <a:spLocks noChangeArrowheads="1"/>
          </p:cNvSpPr>
          <p:nvPr/>
        </p:nvSpPr>
        <p:spPr bwMode="auto">
          <a:xfrm>
            <a:off x="684213" y="260350"/>
            <a:ext cx="828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单臂测量电路</a:t>
            </a:r>
            <a:r>
              <a:rPr lang="en-US" altLang="zh-CN" b="1">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恒流激励分析</a:t>
            </a:r>
            <a:endParaRPr lang="zh-CN" altLang="en-US" sz="1800">
              <a:solidFill>
                <a:srgbClr val="0000FF"/>
              </a:solidFill>
              <a:latin typeface="黑体" panose="02010609060101010101" pitchFamily="49" charset="-122"/>
              <a:ea typeface="黑体" panose="02010609060101010101" pitchFamily="49" charset="-122"/>
            </a:endParaRPr>
          </a:p>
        </p:txBody>
      </p:sp>
      <p:graphicFrame>
        <p:nvGraphicFramePr>
          <p:cNvPr id="56325" name="Object 5">
            <a:extLst>
              <a:ext uri="{FF2B5EF4-FFF2-40B4-BE49-F238E27FC236}">
                <a16:creationId xmlns:a16="http://schemas.microsoft.com/office/drawing/2014/main" id="{346FC9C0-B7A1-4825-8CAE-7DDE9D1C31F4}"/>
              </a:ext>
            </a:extLst>
          </p:cNvPr>
          <p:cNvGraphicFramePr>
            <a:graphicFrameLocks/>
          </p:cNvGraphicFramePr>
          <p:nvPr>
            <p:extLst>
              <p:ext uri="{D42A27DB-BD31-4B8C-83A1-F6EECF244321}">
                <p14:modId xmlns:p14="http://schemas.microsoft.com/office/powerpoint/2010/main" val="628814934"/>
              </p:ext>
            </p:extLst>
          </p:nvPr>
        </p:nvGraphicFramePr>
        <p:xfrm>
          <a:off x="1786582" y="1173020"/>
          <a:ext cx="3664028" cy="2221193"/>
        </p:xfrm>
        <a:graphic>
          <a:graphicData uri="http://schemas.openxmlformats.org/presentationml/2006/ole">
            <mc:AlternateContent xmlns:mc="http://schemas.openxmlformats.org/markup-compatibility/2006">
              <mc:Choice xmlns:v="urn:schemas-microsoft-com:vml" Requires="v">
                <p:oleObj spid="_x0000_s56553" name="Visio" r:id="rId3" imgW="1708064" imgH="1047619" progId="Visio.Drawing.11">
                  <p:embed/>
                </p:oleObj>
              </mc:Choice>
              <mc:Fallback>
                <p:oleObj name="Visio" r:id="rId3" imgW="1708064" imgH="1047619" progId="Visio.Drawing.11">
                  <p:embed/>
                  <p:pic>
                    <p:nvPicPr>
                      <p:cNvPr id="0" name="Object 5"/>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6582" y="1173020"/>
                        <a:ext cx="3664028" cy="2221193"/>
                      </a:xfrm>
                      <a:prstGeom prst="rect">
                        <a:avLst/>
                      </a:prstGeom>
                      <a:noFill/>
                      <a:ln>
                        <a:noFill/>
                      </a:ln>
                      <a:extLst/>
                    </p:spPr>
                  </p:pic>
                </p:oleObj>
              </mc:Fallback>
            </mc:AlternateContent>
          </a:graphicData>
        </a:graphic>
      </p:graphicFrame>
      <p:sp>
        <p:nvSpPr>
          <p:cNvPr id="56326" name="Text Box 6">
            <a:extLst>
              <a:ext uri="{FF2B5EF4-FFF2-40B4-BE49-F238E27FC236}">
                <a16:creationId xmlns:a16="http://schemas.microsoft.com/office/drawing/2014/main" id="{6AE3AE15-9F90-48F4-9455-3F24095838CF}"/>
              </a:ext>
            </a:extLst>
          </p:cNvPr>
          <p:cNvSpPr txBox="1">
            <a:spLocks noChangeArrowheads="1"/>
          </p:cNvSpPr>
          <p:nvPr/>
        </p:nvSpPr>
        <p:spPr bwMode="auto">
          <a:xfrm>
            <a:off x="2267840" y="3253689"/>
            <a:ext cx="354809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000" dirty="0">
                <a:solidFill>
                  <a:srgbClr val="0000FF"/>
                </a:solidFill>
                <a:latin typeface="微软雅黑" panose="020B0503020204020204" pitchFamily="34" charset="-122"/>
                <a:ea typeface="微软雅黑" panose="020B0503020204020204" pitchFamily="34" charset="-122"/>
              </a:rPr>
              <a:t>恒流源激励的单臂测量电路</a:t>
            </a:r>
          </a:p>
        </p:txBody>
      </p:sp>
      <p:sp>
        <p:nvSpPr>
          <p:cNvPr id="56327" name="Rectangle 5">
            <a:extLst>
              <a:ext uri="{FF2B5EF4-FFF2-40B4-BE49-F238E27FC236}">
                <a16:creationId xmlns:a16="http://schemas.microsoft.com/office/drawing/2014/main" id="{11F0D722-A564-4465-B5B9-D5CAD381598A}"/>
              </a:ext>
            </a:extLst>
          </p:cNvPr>
          <p:cNvSpPr>
            <a:spLocks noChangeArrowheads="1"/>
          </p:cNvSpPr>
          <p:nvPr/>
        </p:nvSpPr>
        <p:spPr bwMode="auto">
          <a:xfrm>
            <a:off x="541338" y="3792538"/>
            <a:ext cx="5934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当只有单臂工作时，即</a:t>
            </a:r>
            <a:r>
              <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rPr>
              <a:t>AB</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桥臂变化</a:t>
            </a:r>
            <a:r>
              <a:rPr lang="en-US" altLang="zh-CN" sz="2400">
                <a:solidFill>
                  <a:srgbClr val="000000"/>
                </a:solidFill>
                <a:latin typeface="微软雅黑" panose="020B0503020204020204" pitchFamily="34" charset="-122"/>
                <a:ea typeface="微软雅黑" panose="020B0503020204020204" pitchFamily="34" charset="-122"/>
                <a:sym typeface="楷体_GB2312" pitchFamily="49" charset="-122"/>
              </a:rPr>
              <a:t>ΔR</a:t>
            </a:r>
            <a:r>
              <a:rPr lang="zh-CN" altLang="en-US" sz="2400">
                <a:solidFill>
                  <a:srgbClr val="000000"/>
                </a:solidFill>
                <a:latin typeface="微软雅黑" panose="020B0503020204020204" pitchFamily="34" charset="-122"/>
                <a:ea typeface="微软雅黑" panose="020B0503020204020204" pitchFamily="34" charset="-122"/>
                <a:sym typeface="楷体_GB2312" pitchFamily="49" charset="-122"/>
              </a:rPr>
              <a:t>，则</a:t>
            </a:r>
            <a:endParaRPr lang="zh-CN" altLang="en-US" sz="1800">
              <a:latin typeface="微软雅黑" panose="020B0503020204020204" pitchFamily="34" charset="-122"/>
              <a:ea typeface="微软雅黑" panose="020B0503020204020204" pitchFamily="34" charset="-122"/>
            </a:endParaRPr>
          </a:p>
        </p:txBody>
      </p:sp>
      <p:graphicFrame>
        <p:nvGraphicFramePr>
          <p:cNvPr id="56328" name="Object 8">
            <a:extLst>
              <a:ext uri="{FF2B5EF4-FFF2-40B4-BE49-F238E27FC236}">
                <a16:creationId xmlns:a16="http://schemas.microsoft.com/office/drawing/2014/main" id="{31358882-0ACA-4E89-8C39-73339B07E78D}"/>
              </a:ext>
            </a:extLst>
          </p:cNvPr>
          <p:cNvGraphicFramePr>
            <a:graphicFrameLocks noChangeAspect="1"/>
          </p:cNvGraphicFramePr>
          <p:nvPr/>
        </p:nvGraphicFramePr>
        <p:xfrm>
          <a:off x="2128838" y="4294188"/>
          <a:ext cx="4838700" cy="668337"/>
        </p:xfrm>
        <a:graphic>
          <a:graphicData uri="http://schemas.openxmlformats.org/presentationml/2006/ole">
            <mc:AlternateContent xmlns:mc="http://schemas.openxmlformats.org/markup-compatibility/2006">
              <mc:Choice xmlns:v="urn:schemas-microsoft-com:vml" Requires="v">
                <p:oleObj spid="_x0000_s56554" r:id="rId5" imgW="2933640" imgH="406080" progId="Equation.3">
                  <p:embed/>
                </p:oleObj>
              </mc:Choice>
              <mc:Fallback>
                <p:oleObj r:id="rId5" imgW="2933640" imgH="40608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8838" y="4294188"/>
                        <a:ext cx="483870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6329" name="Rectangle 7">
            <a:extLst>
              <a:ext uri="{FF2B5EF4-FFF2-40B4-BE49-F238E27FC236}">
                <a16:creationId xmlns:a16="http://schemas.microsoft.com/office/drawing/2014/main" id="{1E8EF5C9-4E4C-4EA2-B76C-0E9BC178B15C}"/>
              </a:ext>
            </a:extLst>
          </p:cNvPr>
          <p:cNvSpPr>
            <a:spLocks noChangeArrowheads="1"/>
          </p:cNvSpPr>
          <p:nvPr/>
        </p:nvSpPr>
        <p:spPr bwMode="auto">
          <a:xfrm>
            <a:off x="539750" y="5016500"/>
            <a:ext cx="292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微软雅黑" panose="020B0503020204020204" pitchFamily="34" charset="-122"/>
                <a:ea typeface="微软雅黑" panose="020B0503020204020204" pitchFamily="34" charset="-122"/>
                <a:sym typeface="Times New Roman" panose="02020603050405020304" pitchFamily="18" charset="0"/>
              </a:rPr>
              <a:t>由上式展开级数，得</a:t>
            </a:r>
            <a:endParaRPr lang="zh-CN" altLang="en-US" sz="1800">
              <a:latin typeface="微软雅黑" panose="020B0503020204020204" pitchFamily="34" charset="-122"/>
              <a:ea typeface="微软雅黑" panose="020B0503020204020204" pitchFamily="34" charset="-122"/>
            </a:endParaRPr>
          </a:p>
        </p:txBody>
      </p:sp>
      <p:graphicFrame>
        <p:nvGraphicFramePr>
          <p:cNvPr id="56330" name="Object 10">
            <a:extLst>
              <a:ext uri="{FF2B5EF4-FFF2-40B4-BE49-F238E27FC236}">
                <a16:creationId xmlns:a16="http://schemas.microsoft.com/office/drawing/2014/main" id="{62A05323-B842-4BC8-A79E-D01C13D87708}"/>
              </a:ext>
            </a:extLst>
          </p:cNvPr>
          <p:cNvGraphicFramePr>
            <a:graphicFrameLocks noChangeAspect="1"/>
          </p:cNvGraphicFramePr>
          <p:nvPr/>
        </p:nvGraphicFramePr>
        <p:xfrm>
          <a:off x="1908175" y="5518150"/>
          <a:ext cx="5624513" cy="744538"/>
        </p:xfrm>
        <a:graphic>
          <a:graphicData uri="http://schemas.openxmlformats.org/presentationml/2006/ole">
            <mc:AlternateContent xmlns:mc="http://schemas.openxmlformats.org/markup-compatibility/2006">
              <mc:Choice xmlns:v="urn:schemas-microsoft-com:vml" Requires="v">
                <p:oleObj spid="_x0000_s56555" r:id="rId7" imgW="3454560" imgH="457200" progId="Equation.3">
                  <p:embed/>
                </p:oleObj>
              </mc:Choice>
              <mc:Fallback>
                <p:oleObj r:id="rId7" imgW="3454560" imgH="457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5518150"/>
                        <a:ext cx="5624513" cy="74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 name="组合 4">
            <a:extLst>
              <a:ext uri="{FF2B5EF4-FFF2-40B4-BE49-F238E27FC236}">
                <a16:creationId xmlns:a16="http://schemas.microsoft.com/office/drawing/2014/main" id="{CEC5176B-4623-4F26-A377-14100F7F4341}"/>
              </a:ext>
            </a:extLst>
          </p:cNvPr>
          <p:cNvGrpSpPr>
            <a:grpSpLocks/>
          </p:cNvGrpSpPr>
          <p:nvPr/>
        </p:nvGrpSpPr>
        <p:grpSpPr bwMode="auto">
          <a:xfrm>
            <a:off x="5205335" y="1844890"/>
            <a:ext cx="1778748" cy="682188"/>
            <a:chOff x="6012100" y="1786259"/>
            <a:chExt cx="1749332" cy="664732"/>
          </a:xfrm>
        </p:grpSpPr>
        <p:pic>
          <p:nvPicPr>
            <p:cNvPr id="3" name="图形 2" descr="指向右边的反手食指">
              <a:extLst>
                <a:ext uri="{FF2B5EF4-FFF2-40B4-BE49-F238E27FC236}">
                  <a16:creationId xmlns:a16="http://schemas.microsoft.com/office/drawing/2014/main" id="{69416BD8-72C7-44D3-BD24-C003D3931FF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flipH="1">
              <a:off x="6012100" y="1786259"/>
              <a:ext cx="665127" cy="664732"/>
            </a:xfrm>
            <a:prstGeom prst="rect">
              <a:avLst/>
            </a:prstGeom>
          </p:spPr>
        </p:pic>
        <p:sp>
          <p:nvSpPr>
            <p:cNvPr id="56333" name="矩形: 圆角 3">
              <a:extLst>
                <a:ext uri="{FF2B5EF4-FFF2-40B4-BE49-F238E27FC236}">
                  <a16:creationId xmlns:a16="http://schemas.microsoft.com/office/drawing/2014/main" id="{77AD44D6-FFFE-4C31-AFD8-341DB2DCFD55}"/>
                </a:ext>
              </a:extLst>
            </p:cNvPr>
            <p:cNvSpPr>
              <a:spLocks noChangeArrowheads="1"/>
            </p:cNvSpPr>
            <p:nvPr/>
          </p:nvSpPr>
          <p:spPr bwMode="auto">
            <a:xfrm>
              <a:off x="6731760" y="1971326"/>
              <a:ext cx="1029672" cy="353675"/>
            </a:xfrm>
            <a:prstGeom prst="roundRect">
              <a:avLst>
                <a:gd name="adj" fmla="val 16667"/>
              </a:avLst>
            </a:prstGeom>
            <a:solidFill>
              <a:schemeClr val="bg1"/>
            </a:solidFill>
            <a:ln w="9525" algn="ctr">
              <a:solidFill>
                <a:schemeClr val="tx1"/>
              </a:solidFill>
              <a:round/>
              <a:headEnd/>
              <a:tailEnd/>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dirty="0">
                  <a:solidFill>
                    <a:srgbClr val="FF0000"/>
                  </a:solidFill>
                  <a:latin typeface="Arial" panose="020B0604020202020204" pitchFamily="34" charset="0"/>
                </a:rPr>
                <a:t>恒流源</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1+#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矩形 4">
            <a:extLst>
              <a:ext uri="{FF2B5EF4-FFF2-40B4-BE49-F238E27FC236}">
                <a16:creationId xmlns:a16="http://schemas.microsoft.com/office/drawing/2014/main" id="{9B53CCAF-4375-46BB-A36C-8F30FF3BA94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7347" name="灯片编号占位符 3">
            <a:extLst>
              <a:ext uri="{FF2B5EF4-FFF2-40B4-BE49-F238E27FC236}">
                <a16:creationId xmlns:a16="http://schemas.microsoft.com/office/drawing/2014/main" id="{1D34C16C-08C6-4111-8850-DD79F1E37D7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CEB7DA3-0518-4F2F-A5D0-D160914FC90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55</a:t>
            </a:fld>
            <a:endParaRPr lang="en-US" altLang="zh-CN" sz="1400">
              <a:solidFill>
                <a:srgbClr val="000000"/>
              </a:solidFill>
              <a:latin typeface="Arial" panose="020B0604020202020204" pitchFamily="34" charset="0"/>
            </a:endParaRPr>
          </a:p>
        </p:txBody>
      </p:sp>
      <p:sp>
        <p:nvSpPr>
          <p:cNvPr id="57348" name="TextBox 5">
            <a:extLst>
              <a:ext uri="{FF2B5EF4-FFF2-40B4-BE49-F238E27FC236}">
                <a16:creationId xmlns:a16="http://schemas.microsoft.com/office/drawing/2014/main" id="{745010FC-508A-4905-B35B-B7B97FCF8F25}"/>
              </a:ext>
            </a:extLst>
          </p:cNvPr>
          <p:cNvSpPr>
            <a:spLocks noChangeArrowheads="1"/>
          </p:cNvSpPr>
          <p:nvPr/>
        </p:nvSpPr>
        <p:spPr bwMode="auto">
          <a:xfrm>
            <a:off x="684213" y="260350"/>
            <a:ext cx="828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单臂测量电路</a:t>
            </a:r>
            <a:r>
              <a:rPr lang="en-US" altLang="zh-CN" b="1">
                <a:solidFill>
                  <a:srgbClr val="0000FF"/>
                </a:solidFill>
                <a:latin typeface="黑体" panose="02010609060101010101" pitchFamily="49" charset="-122"/>
                <a:ea typeface="黑体" panose="02010609060101010101" pitchFamily="49" charset="-122"/>
                <a:sym typeface="楷体_GB2312" pitchFamily="49" charset="-122"/>
              </a:rPr>
              <a:t>-</a:t>
            </a:r>
            <a:r>
              <a:rPr lang="zh-CN" altLang="en-US" b="1">
                <a:solidFill>
                  <a:srgbClr val="0000FF"/>
                </a:solidFill>
                <a:latin typeface="黑体" panose="02010609060101010101" pitchFamily="49" charset="-122"/>
                <a:ea typeface="黑体" panose="02010609060101010101" pitchFamily="49" charset="-122"/>
                <a:sym typeface="楷体_GB2312" pitchFamily="49" charset="-122"/>
              </a:rPr>
              <a:t>恒流源激励</a:t>
            </a:r>
            <a:endParaRPr lang="zh-CN" altLang="en-US" sz="1800">
              <a:solidFill>
                <a:srgbClr val="0000FF"/>
              </a:solidFill>
              <a:latin typeface="黑体" panose="02010609060101010101" pitchFamily="49" charset="-122"/>
              <a:ea typeface="黑体" panose="02010609060101010101" pitchFamily="49" charset="-122"/>
            </a:endParaRPr>
          </a:p>
        </p:txBody>
      </p:sp>
      <p:sp>
        <p:nvSpPr>
          <p:cNvPr id="57349" name="Rectangle 9">
            <a:extLst>
              <a:ext uri="{FF2B5EF4-FFF2-40B4-BE49-F238E27FC236}">
                <a16:creationId xmlns:a16="http://schemas.microsoft.com/office/drawing/2014/main" id="{655EE814-B84E-41BE-8ADE-776FD59130BD}"/>
              </a:ext>
            </a:extLst>
          </p:cNvPr>
          <p:cNvSpPr>
            <a:spLocks noChangeArrowheads="1"/>
          </p:cNvSpPr>
          <p:nvPr/>
        </p:nvSpPr>
        <p:spPr bwMode="auto">
          <a:xfrm>
            <a:off x="395288" y="1270000"/>
            <a:ext cx="3841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则电桥的相对非线性误差为</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7350" name="Object 6">
            <a:extLst>
              <a:ext uri="{FF2B5EF4-FFF2-40B4-BE49-F238E27FC236}">
                <a16:creationId xmlns:a16="http://schemas.microsoft.com/office/drawing/2014/main" id="{C0CD62F6-DF04-4F9A-A126-E57A3A9DF0BD}"/>
              </a:ext>
            </a:extLst>
          </p:cNvPr>
          <p:cNvGraphicFramePr>
            <a:graphicFrameLocks noChangeAspect="1"/>
          </p:cNvGraphicFramePr>
          <p:nvPr/>
        </p:nvGraphicFramePr>
        <p:xfrm>
          <a:off x="1189038" y="1700213"/>
          <a:ext cx="6723062" cy="2095500"/>
        </p:xfrm>
        <a:graphic>
          <a:graphicData uri="http://schemas.openxmlformats.org/presentationml/2006/ole">
            <mc:AlternateContent xmlns:mc="http://schemas.openxmlformats.org/markup-compatibility/2006">
              <mc:Choice xmlns:v="urn:schemas-microsoft-com:vml" Requires="v">
                <p:oleObj spid="_x0000_s57431" r:id="rId3" imgW="4074931" imgH="1269449" progId="Equation.3">
                  <p:embed/>
                </p:oleObj>
              </mc:Choice>
              <mc:Fallback>
                <p:oleObj r:id="rId3" imgW="4074931" imgH="126944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9038" y="1700213"/>
                        <a:ext cx="6723062" cy="209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7351" name="Rectangle 11">
            <a:extLst>
              <a:ext uri="{FF2B5EF4-FFF2-40B4-BE49-F238E27FC236}">
                <a16:creationId xmlns:a16="http://schemas.microsoft.com/office/drawing/2014/main" id="{7CA9F350-197D-4FAC-A176-40E57136C18E}"/>
              </a:ext>
            </a:extLst>
          </p:cNvPr>
          <p:cNvSpPr>
            <a:spLocks noChangeArrowheads="1"/>
          </p:cNvSpPr>
          <p:nvPr/>
        </p:nvSpPr>
        <p:spPr bwMode="auto">
          <a:xfrm>
            <a:off x="568325" y="3998913"/>
            <a:ext cx="77057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同样的，</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愈大，</a:t>
            </a:r>
            <a:r>
              <a:rPr lang="en-US" altLang="zh-CN" sz="24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δ</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愈大，通常</a:t>
            </a:r>
            <a:r>
              <a:rPr lang="en-US" altLang="zh-CN" sz="2400" i="1"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Kε</a:t>
            </a:r>
            <a:r>
              <a:rPr lang="en-US" altLang="zh-CN"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&lt;&lt;1</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楷体_GB2312" pitchFamily="49" charset="-122"/>
              </a:rPr>
              <a:t>，可</a:t>
            </a:r>
            <a:r>
              <a:rPr lang="zh-CN" altLang="en-US" sz="2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忽略二次项，</a:t>
            </a:r>
            <a:endParaRPr lang="zh-CN" altLang="en-US" sz="1800" i="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id="{B24F76C6-04D3-436A-9B5A-7071DD34F23C}"/>
              </a:ext>
            </a:extLst>
          </p:cNvPr>
          <p:cNvSpPr>
            <a:spLocks noRot="1" noChangeAspect="1" noMove="1" noResize="1" noEditPoints="1" noAdjustHandles="1" noChangeArrowheads="1" noChangeShapeType="1" noTextEdit="1"/>
          </p:cNvSpPr>
          <p:nvPr/>
        </p:nvSpPr>
        <p:spPr>
          <a:xfrm>
            <a:off x="2560191" y="5367433"/>
            <a:ext cx="2232155" cy="1014317"/>
          </a:xfrm>
          <a:prstGeom prst="rect">
            <a:avLst/>
          </a:prstGeom>
          <a:blipFill>
            <a:blip r:embed="rId5"/>
            <a:stretch>
              <a:fillRect/>
            </a:stretch>
          </a:blipFill>
        </p:spPr>
        <p:txBody>
          <a:bodyPr/>
          <a:lstStyle/>
          <a:p>
            <a:r>
              <a:rPr lang="zh-CN" altLang="en-US" dirty="0">
                <a:noFill/>
              </a:rPr>
              <a:t> </a:t>
            </a:r>
          </a:p>
        </p:txBody>
      </p:sp>
      <p:sp>
        <p:nvSpPr>
          <p:cNvPr id="57353" name="矩形 8">
            <a:extLst>
              <a:ext uri="{FF2B5EF4-FFF2-40B4-BE49-F238E27FC236}">
                <a16:creationId xmlns:a16="http://schemas.microsoft.com/office/drawing/2014/main" id="{B8C044A2-0AA3-479A-9942-12C617AC3C29}"/>
              </a:ext>
            </a:extLst>
          </p:cNvPr>
          <p:cNvSpPr>
            <a:spLocks noChangeArrowheads="1"/>
          </p:cNvSpPr>
          <p:nvPr/>
        </p:nvSpPr>
        <p:spPr bwMode="auto">
          <a:xfrm>
            <a:off x="568325" y="4679950"/>
            <a:ext cx="16446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30000"/>
              </a:lnSpc>
              <a:buFont typeface="Arial" panose="020B0604020202020204" pitchFamily="34" charset="0"/>
              <a:buNone/>
            </a:pP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Symbol" panose="05050102010706020507" pitchFamily="18" charset="2"/>
              </a:rPr>
              <a:t> 近似为</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p>
        </p:txBody>
      </p:sp>
      <p:grpSp>
        <p:nvGrpSpPr>
          <p:cNvPr id="2" name="组合 1">
            <a:extLst>
              <a:ext uri="{FF2B5EF4-FFF2-40B4-BE49-F238E27FC236}">
                <a16:creationId xmlns:a16="http://schemas.microsoft.com/office/drawing/2014/main" id="{2A38FCFA-5490-48D5-97A8-4797FD4B32F9}"/>
              </a:ext>
            </a:extLst>
          </p:cNvPr>
          <p:cNvGrpSpPr>
            <a:grpSpLocks/>
          </p:cNvGrpSpPr>
          <p:nvPr/>
        </p:nvGrpSpPr>
        <p:grpSpPr bwMode="auto">
          <a:xfrm>
            <a:off x="5359400" y="5507038"/>
            <a:ext cx="2020888" cy="658812"/>
            <a:chOff x="5359724" y="5506676"/>
            <a:chExt cx="2020471" cy="658803"/>
          </a:xfrm>
        </p:grpSpPr>
        <p:pic>
          <p:nvPicPr>
            <p:cNvPr id="11" name="图形 10" descr="灯泡">
              <a:extLst>
                <a:ext uri="{FF2B5EF4-FFF2-40B4-BE49-F238E27FC236}">
                  <a16:creationId xmlns:a16="http://schemas.microsoft.com/office/drawing/2014/main" id="{A2D29FDF-7CFF-4A7F-AD58-113DB4ED1E7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59724" y="5584462"/>
              <a:ext cx="582493" cy="581017"/>
            </a:xfrm>
            <a:prstGeom prst="rect">
              <a:avLst/>
            </a:prstGeom>
          </p:spPr>
        </p:pic>
        <p:sp>
          <p:nvSpPr>
            <p:cNvPr id="12" name="卷形: 水平 11">
              <a:extLst>
                <a:ext uri="{FF2B5EF4-FFF2-40B4-BE49-F238E27FC236}">
                  <a16:creationId xmlns:a16="http://schemas.microsoft.com/office/drawing/2014/main" id="{0D547929-70B3-474A-855D-C9B98A75E3CD}"/>
                </a:ext>
              </a:extLst>
            </p:cNvPr>
            <p:cNvSpPr/>
            <p:nvPr/>
          </p:nvSpPr>
          <p:spPr bwMode="auto">
            <a:xfrm>
              <a:off x="5942217" y="5506676"/>
              <a:ext cx="1437978" cy="639753"/>
            </a:xfrm>
            <a:prstGeom prst="horizontalScroll">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0"/>
            </a:gradFill>
            <a:ln w="9525" cap="flat" cmpd="sng" algn="ctr">
              <a:solidFill>
                <a:schemeClr val="tx1"/>
              </a:solidFill>
              <a:prstDash val="solid"/>
              <a:round/>
              <a:headEnd type="none" w="med" len="med"/>
              <a:tailEnd type="none" w="med" len="med"/>
            </a:ln>
          </p:spPr>
          <p:txBody>
            <a:bodyPr/>
            <a:lstStyle/>
            <a:p>
              <a:pPr>
                <a:buFont typeface="Arial" pitchFamily="34" charset="0"/>
                <a:buNone/>
                <a:defRPr/>
              </a:pPr>
              <a:r>
                <a:rPr lang="zh-CN" altLang="en-US" sz="2000" b="1" dirty="0">
                  <a:solidFill>
                    <a:srgbClr val="0000FF"/>
                  </a:solidFill>
                  <a:latin typeface="Arial" pitchFamily="34" charset="0"/>
                </a:rPr>
                <a:t>恒流驱动</a:t>
              </a:r>
            </a:p>
          </p:txBody>
        </p:sp>
      </p:grpSp>
      <p:sp>
        <p:nvSpPr>
          <p:cNvPr id="3" name="矩形 2">
            <a:extLst>
              <a:ext uri="{FF2B5EF4-FFF2-40B4-BE49-F238E27FC236}">
                <a16:creationId xmlns:a16="http://schemas.microsoft.com/office/drawing/2014/main" id="{10F5836A-CDAE-4A76-B8CE-32499DD2B08C}"/>
              </a:ext>
            </a:extLst>
          </p:cNvPr>
          <p:cNvSpPr>
            <a:spLocks noChangeArrowheads="1"/>
          </p:cNvSpPr>
          <p:nvPr/>
        </p:nvSpPr>
        <p:spPr bwMode="auto">
          <a:xfrm>
            <a:off x="2570776" y="4633119"/>
            <a:ext cx="44942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比恒压源驱动的非线性小！</a:t>
            </a:r>
            <a:endParaRPr lang="zh-CN" altLang="en-US" sz="2800" dirty="0">
              <a:solidFill>
                <a:srgbClr val="00B0F0"/>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1+#ppt_w/2"/>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80">
                                          <p:stCondLst>
                                            <p:cond delay="0"/>
                                          </p:stCondLst>
                                        </p:cTn>
                                        <p:tgtEl>
                                          <p:spTgt spid="3"/>
                                        </p:tgtEl>
                                      </p:cBhvr>
                                    </p:animEffect>
                                    <p:anim calcmode="lin" valueType="num">
                                      <p:cBhvr>
                                        <p:cTn id="14"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9" dur="26">
                                          <p:stCondLst>
                                            <p:cond delay="650"/>
                                          </p:stCondLst>
                                        </p:cTn>
                                        <p:tgtEl>
                                          <p:spTgt spid="3"/>
                                        </p:tgtEl>
                                      </p:cBhvr>
                                      <p:to x="100000" y="60000"/>
                                    </p:animScale>
                                    <p:animScale>
                                      <p:cBhvr>
                                        <p:cTn id="20" dur="166" decel="50000">
                                          <p:stCondLst>
                                            <p:cond delay="676"/>
                                          </p:stCondLst>
                                        </p:cTn>
                                        <p:tgtEl>
                                          <p:spTgt spid="3"/>
                                        </p:tgtEl>
                                      </p:cBhvr>
                                      <p:to x="100000" y="100000"/>
                                    </p:animScale>
                                    <p:animScale>
                                      <p:cBhvr>
                                        <p:cTn id="21" dur="26">
                                          <p:stCondLst>
                                            <p:cond delay="1312"/>
                                          </p:stCondLst>
                                        </p:cTn>
                                        <p:tgtEl>
                                          <p:spTgt spid="3"/>
                                        </p:tgtEl>
                                      </p:cBhvr>
                                      <p:to x="100000" y="80000"/>
                                    </p:animScale>
                                    <p:animScale>
                                      <p:cBhvr>
                                        <p:cTn id="22" dur="166" decel="50000">
                                          <p:stCondLst>
                                            <p:cond delay="1338"/>
                                          </p:stCondLst>
                                        </p:cTn>
                                        <p:tgtEl>
                                          <p:spTgt spid="3"/>
                                        </p:tgtEl>
                                      </p:cBhvr>
                                      <p:to x="100000" y="100000"/>
                                    </p:animScale>
                                    <p:animScale>
                                      <p:cBhvr>
                                        <p:cTn id="23" dur="26">
                                          <p:stCondLst>
                                            <p:cond delay="1642"/>
                                          </p:stCondLst>
                                        </p:cTn>
                                        <p:tgtEl>
                                          <p:spTgt spid="3"/>
                                        </p:tgtEl>
                                      </p:cBhvr>
                                      <p:to x="100000" y="90000"/>
                                    </p:animScale>
                                    <p:animScale>
                                      <p:cBhvr>
                                        <p:cTn id="24" dur="166" decel="50000">
                                          <p:stCondLst>
                                            <p:cond delay="1668"/>
                                          </p:stCondLst>
                                        </p:cTn>
                                        <p:tgtEl>
                                          <p:spTgt spid="3"/>
                                        </p:tgtEl>
                                      </p:cBhvr>
                                      <p:to x="100000" y="100000"/>
                                    </p:animScale>
                                    <p:animScale>
                                      <p:cBhvr>
                                        <p:cTn id="25" dur="26">
                                          <p:stCondLst>
                                            <p:cond delay="1808"/>
                                          </p:stCondLst>
                                        </p:cTn>
                                        <p:tgtEl>
                                          <p:spTgt spid="3"/>
                                        </p:tgtEl>
                                      </p:cBhvr>
                                      <p:to x="100000" y="95000"/>
                                    </p:animScale>
                                    <p:animScale>
                                      <p:cBhvr>
                                        <p:cTn id="26"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矩形 4">
            <a:extLst>
              <a:ext uri="{FF2B5EF4-FFF2-40B4-BE49-F238E27FC236}">
                <a16:creationId xmlns:a16="http://schemas.microsoft.com/office/drawing/2014/main" id="{2DA42855-F3A5-41D0-8D14-29890DB10A73}"/>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8371" name="灯片编号占位符 3">
            <a:extLst>
              <a:ext uri="{FF2B5EF4-FFF2-40B4-BE49-F238E27FC236}">
                <a16:creationId xmlns:a16="http://schemas.microsoft.com/office/drawing/2014/main" id="{11943093-E3ED-4094-870E-6E1EA09CA8A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BE107EC-FA44-4925-B918-92A6C627F130}"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56</a:t>
            </a:fld>
            <a:endParaRPr lang="en-US" altLang="zh-CN" sz="1400">
              <a:solidFill>
                <a:srgbClr val="000000"/>
              </a:solidFill>
              <a:latin typeface="Arial" panose="020B0604020202020204" pitchFamily="34" charset="0"/>
            </a:endParaRPr>
          </a:p>
        </p:txBody>
      </p:sp>
      <p:sp>
        <p:nvSpPr>
          <p:cNvPr id="58372" name="TextBox 5">
            <a:extLst>
              <a:ext uri="{FF2B5EF4-FFF2-40B4-BE49-F238E27FC236}">
                <a16:creationId xmlns:a16="http://schemas.microsoft.com/office/drawing/2014/main" id="{DACEF154-2A72-43C9-A3E5-3FD395B25B0D}"/>
              </a:ext>
            </a:extLst>
          </p:cNvPr>
          <p:cNvSpPr>
            <a:spLocks noChangeArrowheads="1"/>
          </p:cNvSpPr>
          <p:nvPr/>
        </p:nvSpPr>
        <p:spPr bwMode="auto">
          <a:xfrm>
            <a:off x="684213" y="260350"/>
            <a:ext cx="8135937"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半桥测量电路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(1)—R1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R3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为应变电阻</a:t>
            </a:r>
          </a:p>
          <a:p>
            <a:pPr eaLnBrk="1" hangingPunct="1">
              <a:spcBef>
                <a:spcPct val="0"/>
              </a:spcBef>
              <a:buFont typeface="Arial" panose="020B0604020202020204" pitchFamily="34" charset="0"/>
              <a:buNone/>
            </a:pPr>
            <a:endParaRPr lang="zh-CN" altLang="en-US" sz="1800">
              <a:latin typeface="Arial" panose="020B0604020202020204" pitchFamily="34" charset="0"/>
            </a:endParaRPr>
          </a:p>
        </p:txBody>
      </p:sp>
      <p:grpSp>
        <p:nvGrpSpPr>
          <p:cNvPr id="58373" name="组合 1">
            <a:extLst>
              <a:ext uri="{FF2B5EF4-FFF2-40B4-BE49-F238E27FC236}">
                <a16:creationId xmlns:a16="http://schemas.microsoft.com/office/drawing/2014/main" id="{A943A5B3-8214-4D1F-88E7-95C08FE93BFB}"/>
              </a:ext>
            </a:extLst>
          </p:cNvPr>
          <p:cNvGrpSpPr>
            <a:grpSpLocks/>
          </p:cNvGrpSpPr>
          <p:nvPr/>
        </p:nvGrpSpPr>
        <p:grpSpPr bwMode="auto">
          <a:xfrm>
            <a:off x="5478463" y="3951288"/>
            <a:ext cx="2978150" cy="2635250"/>
            <a:chOff x="5788772" y="4460508"/>
            <a:chExt cx="2478087" cy="2201069"/>
          </a:xfrm>
        </p:grpSpPr>
        <p:grpSp>
          <p:nvGrpSpPr>
            <p:cNvPr id="58380" name="Group 5">
              <a:extLst>
                <a:ext uri="{FF2B5EF4-FFF2-40B4-BE49-F238E27FC236}">
                  <a16:creationId xmlns:a16="http://schemas.microsoft.com/office/drawing/2014/main" id="{F1906FB6-AF77-4846-88B8-9CD88D310729}"/>
                </a:ext>
              </a:extLst>
            </p:cNvPr>
            <p:cNvGrpSpPr>
              <a:grpSpLocks/>
            </p:cNvGrpSpPr>
            <p:nvPr/>
          </p:nvGrpSpPr>
          <p:grpSpPr bwMode="auto">
            <a:xfrm>
              <a:off x="5788772" y="4460508"/>
              <a:ext cx="2478087" cy="2201069"/>
              <a:chOff x="0" y="0"/>
              <a:chExt cx="2187" cy="2017"/>
            </a:xfrm>
          </p:grpSpPr>
          <p:grpSp>
            <p:nvGrpSpPr>
              <p:cNvPr id="58383" name="Group 6">
                <a:extLst>
                  <a:ext uri="{FF2B5EF4-FFF2-40B4-BE49-F238E27FC236}">
                    <a16:creationId xmlns:a16="http://schemas.microsoft.com/office/drawing/2014/main" id="{046A734D-0DEE-407B-BA4C-2D1661EB0F2E}"/>
                  </a:ext>
                </a:extLst>
              </p:cNvPr>
              <p:cNvGrpSpPr>
                <a:grpSpLocks/>
              </p:cNvGrpSpPr>
              <p:nvPr/>
            </p:nvGrpSpPr>
            <p:grpSpPr bwMode="auto">
              <a:xfrm>
                <a:off x="223" y="243"/>
                <a:ext cx="733" cy="379"/>
                <a:chOff x="0" y="0"/>
                <a:chExt cx="1028" cy="565"/>
              </a:xfrm>
            </p:grpSpPr>
            <p:sp>
              <p:nvSpPr>
                <p:cNvPr id="58428" name="Rectangle 7">
                  <a:extLst>
                    <a:ext uri="{FF2B5EF4-FFF2-40B4-BE49-F238E27FC236}">
                      <a16:creationId xmlns:a16="http://schemas.microsoft.com/office/drawing/2014/main" id="{4144DB29-AB21-4E65-83C3-D46B857AA2F1}"/>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29" name="Line 8">
                  <a:extLst>
                    <a:ext uri="{FF2B5EF4-FFF2-40B4-BE49-F238E27FC236}">
                      <a16:creationId xmlns:a16="http://schemas.microsoft.com/office/drawing/2014/main" id="{7977D4FE-B1BE-4B22-B742-AB07ED7B2783}"/>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30" name="Line 9">
                  <a:extLst>
                    <a:ext uri="{FF2B5EF4-FFF2-40B4-BE49-F238E27FC236}">
                      <a16:creationId xmlns:a16="http://schemas.microsoft.com/office/drawing/2014/main" id="{602F082B-C528-4159-B1B7-87BC0A601002}"/>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384" name="Group 10">
                <a:extLst>
                  <a:ext uri="{FF2B5EF4-FFF2-40B4-BE49-F238E27FC236}">
                    <a16:creationId xmlns:a16="http://schemas.microsoft.com/office/drawing/2014/main" id="{2F711230-9799-4CA7-A4B8-325440436198}"/>
                  </a:ext>
                </a:extLst>
              </p:cNvPr>
              <p:cNvGrpSpPr>
                <a:grpSpLocks/>
              </p:cNvGrpSpPr>
              <p:nvPr/>
            </p:nvGrpSpPr>
            <p:grpSpPr bwMode="auto">
              <a:xfrm flipV="1">
                <a:off x="223" y="833"/>
                <a:ext cx="733" cy="380"/>
                <a:chOff x="0" y="0"/>
                <a:chExt cx="1028" cy="565"/>
              </a:xfrm>
            </p:grpSpPr>
            <p:sp>
              <p:nvSpPr>
                <p:cNvPr id="58425" name="Rectangle 11">
                  <a:extLst>
                    <a:ext uri="{FF2B5EF4-FFF2-40B4-BE49-F238E27FC236}">
                      <a16:creationId xmlns:a16="http://schemas.microsoft.com/office/drawing/2014/main" id="{00318012-30D3-4487-BBD6-57B8A932F85D}"/>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26" name="Line 12">
                  <a:extLst>
                    <a:ext uri="{FF2B5EF4-FFF2-40B4-BE49-F238E27FC236}">
                      <a16:creationId xmlns:a16="http://schemas.microsoft.com/office/drawing/2014/main" id="{EFA4053E-D424-425E-90D6-740C84C66B06}"/>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7" name="Line 13">
                  <a:extLst>
                    <a:ext uri="{FF2B5EF4-FFF2-40B4-BE49-F238E27FC236}">
                      <a16:creationId xmlns:a16="http://schemas.microsoft.com/office/drawing/2014/main" id="{905B3D3E-DD1D-498E-841F-3A7E823DE782}"/>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385" name="Group 14">
                <a:extLst>
                  <a:ext uri="{FF2B5EF4-FFF2-40B4-BE49-F238E27FC236}">
                    <a16:creationId xmlns:a16="http://schemas.microsoft.com/office/drawing/2014/main" id="{60BB8049-D0F9-4C0D-850C-0506E44232C1}"/>
                  </a:ext>
                </a:extLst>
              </p:cNvPr>
              <p:cNvGrpSpPr>
                <a:grpSpLocks/>
              </p:cNvGrpSpPr>
              <p:nvPr/>
            </p:nvGrpSpPr>
            <p:grpSpPr bwMode="auto">
              <a:xfrm>
                <a:off x="870" y="833"/>
                <a:ext cx="733" cy="380"/>
                <a:chOff x="0" y="0"/>
                <a:chExt cx="1028" cy="565"/>
              </a:xfrm>
            </p:grpSpPr>
            <p:sp>
              <p:nvSpPr>
                <p:cNvPr id="58422" name="Rectangle 15">
                  <a:extLst>
                    <a:ext uri="{FF2B5EF4-FFF2-40B4-BE49-F238E27FC236}">
                      <a16:creationId xmlns:a16="http://schemas.microsoft.com/office/drawing/2014/main" id="{2412ED88-C291-4898-9840-EDC4D3CE7997}"/>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23" name="Line 16">
                  <a:extLst>
                    <a:ext uri="{FF2B5EF4-FFF2-40B4-BE49-F238E27FC236}">
                      <a16:creationId xmlns:a16="http://schemas.microsoft.com/office/drawing/2014/main" id="{DB31C5BB-49C0-4C04-B2FE-403628C39E37}"/>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4" name="Line 17">
                  <a:extLst>
                    <a:ext uri="{FF2B5EF4-FFF2-40B4-BE49-F238E27FC236}">
                      <a16:creationId xmlns:a16="http://schemas.microsoft.com/office/drawing/2014/main" id="{FE59DBB1-AFF9-4E59-8FF9-755EC98C147A}"/>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8386" name="Group 18">
                <a:extLst>
                  <a:ext uri="{FF2B5EF4-FFF2-40B4-BE49-F238E27FC236}">
                    <a16:creationId xmlns:a16="http://schemas.microsoft.com/office/drawing/2014/main" id="{A8729D1D-AC68-441A-B3BE-031E9A230F47}"/>
                  </a:ext>
                </a:extLst>
              </p:cNvPr>
              <p:cNvGrpSpPr>
                <a:grpSpLocks/>
              </p:cNvGrpSpPr>
              <p:nvPr/>
            </p:nvGrpSpPr>
            <p:grpSpPr bwMode="auto">
              <a:xfrm flipV="1">
                <a:off x="870" y="243"/>
                <a:ext cx="733" cy="379"/>
                <a:chOff x="0" y="0"/>
                <a:chExt cx="1028" cy="565"/>
              </a:xfrm>
            </p:grpSpPr>
            <p:sp>
              <p:nvSpPr>
                <p:cNvPr id="58419" name="Rectangle 19">
                  <a:extLst>
                    <a:ext uri="{FF2B5EF4-FFF2-40B4-BE49-F238E27FC236}">
                      <a16:creationId xmlns:a16="http://schemas.microsoft.com/office/drawing/2014/main" id="{18C8D37D-16C8-46A3-981E-6C5C0E89F84B}"/>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20" name="Line 20">
                  <a:extLst>
                    <a:ext uri="{FF2B5EF4-FFF2-40B4-BE49-F238E27FC236}">
                      <a16:creationId xmlns:a16="http://schemas.microsoft.com/office/drawing/2014/main" id="{23A782C1-6D3D-416B-99AD-3EBC3703F9DF}"/>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21" name="Line 21">
                  <a:extLst>
                    <a:ext uri="{FF2B5EF4-FFF2-40B4-BE49-F238E27FC236}">
                      <a16:creationId xmlns:a16="http://schemas.microsoft.com/office/drawing/2014/main" id="{75A28ED2-979E-4841-A60B-B712D822422A}"/>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8387" name="Rectangle 22">
                <a:extLst>
                  <a:ext uri="{FF2B5EF4-FFF2-40B4-BE49-F238E27FC236}">
                    <a16:creationId xmlns:a16="http://schemas.microsoft.com/office/drawing/2014/main" id="{B4AF204E-14C0-442E-B264-8873B027D09C}"/>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a:solidFill>
                      <a:srgbClr val="000000"/>
                    </a:solidFill>
                    <a:latin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388" name="Oval 23">
                <a:extLst>
                  <a:ext uri="{FF2B5EF4-FFF2-40B4-BE49-F238E27FC236}">
                    <a16:creationId xmlns:a16="http://schemas.microsoft.com/office/drawing/2014/main" id="{178DD5B9-6002-4C80-94DC-794E52691792}"/>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89" name="Oval 24">
                <a:extLst>
                  <a:ext uri="{FF2B5EF4-FFF2-40B4-BE49-F238E27FC236}">
                    <a16:creationId xmlns:a16="http://schemas.microsoft.com/office/drawing/2014/main" id="{E362E8BE-EF91-43ED-9EC8-98260625BCBD}"/>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0" name="Oval 25">
                <a:extLst>
                  <a:ext uri="{FF2B5EF4-FFF2-40B4-BE49-F238E27FC236}">
                    <a16:creationId xmlns:a16="http://schemas.microsoft.com/office/drawing/2014/main" id="{D5EB730B-9653-451C-97CD-E05885204357}"/>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1" name="Oval 26">
                <a:extLst>
                  <a:ext uri="{FF2B5EF4-FFF2-40B4-BE49-F238E27FC236}">
                    <a16:creationId xmlns:a16="http://schemas.microsoft.com/office/drawing/2014/main" id="{B9D3EFEA-920C-4BF8-AC0D-5FA55C0C48ED}"/>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2" name="Freeform 27">
                <a:extLst>
                  <a:ext uri="{FF2B5EF4-FFF2-40B4-BE49-F238E27FC236}">
                    <a16:creationId xmlns:a16="http://schemas.microsoft.com/office/drawing/2014/main" id="{516E2775-9AAC-48BD-922F-EED76AC1D671}"/>
                  </a:ext>
                </a:extLst>
              </p:cNvPr>
              <p:cNvSpPr>
                <a:spLocks noChangeArrowheads="1"/>
              </p:cNvSpPr>
              <p:nvPr/>
            </p:nvSpPr>
            <p:spPr bwMode="auto">
              <a:xfrm>
                <a:off x="275" y="727"/>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3" name="Oval 28">
                <a:extLst>
                  <a:ext uri="{FF2B5EF4-FFF2-40B4-BE49-F238E27FC236}">
                    <a16:creationId xmlns:a16="http://schemas.microsoft.com/office/drawing/2014/main" id="{9735BB40-637E-443B-879F-1240CE3DB44A}"/>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4" name="Freeform 29">
                <a:extLst>
                  <a:ext uri="{FF2B5EF4-FFF2-40B4-BE49-F238E27FC236}">
                    <a16:creationId xmlns:a16="http://schemas.microsoft.com/office/drawing/2014/main" id="{BDE04FE5-AA5A-4ACC-A4D5-2B8F373153BD}"/>
                  </a:ext>
                </a:extLst>
              </p:cNvPr>
              <p:cNvSpPr>
                <a:spLocks noChangeArrowheads="1"/>
              </p:cNvSpPr>
              <p:nvPr/>
            </p:nvSpPr>
            <p:spPr bwMode="auto">
              <a:xfrm flipH="1">
                <a:off x="1034" y="725"/>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95" name="Oval 30">
                <a:extLst>
                  <a:ext uri="{FF2B5EF4-FFF2-40B4-BE49-F238E27FC236}">
                    <a16:creationId xmlns:a16="http://schemas.microsoft.com/office/drawing/2014/main" id="{3F4A586A-DEE8-4A4D-9654-7D59E33D7D32}"/>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396" name="Rectangle 31">
                <a:extLst>
                  <a:ext uri="{FF2B5EF4-FFF2-40B4-BE49-F238E27FC236}">
                    <a16:creationId xmlns:a16="http://schemas.microsoft.com/office/drawing/2014/main" id="{C16DA9CF-1724-400C-87A4-3257E40F9371}"/>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58397" name="Rectangle 32">
                <a:extLst>
                  <a:ext uri="{FF2B5EF4-FFF2-40B4-BE49-F238E27FC236}">
                    <a16:creationId xmlns:a16="http://schemas.microsoft.com/office/drawing/2014/main" id="{74C0746B-EACF-4F3A-8A43-1496DEAA0EAE}"/>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4</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398" name="Rectangle 33">
                <a:extLst>
                  <a:ext uri="{FF2B5EF4-FFF2-40B4-BE49-F238E27FC236}">
                    <a16:creationId xmlns:a16="http://schemas.microsoft.com/office/drawing/2014/main" id="{4C27958D-489F-450D-BDB0-F64E792746E6}"/>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399" name="Rectangle 34">
                <a:extLst>
                  <a:ext uri="{FF2B5EF4-FFF2-40B4-BE49-F238E27FC236}">
                    <a16:creationId xmlns:a16="http://schemas.microsoft.com/office/drawing/2014/main" id="{2112D415-207C-41B2-A186-4647158CFE8B}"/>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3</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00" name="Rectangle 35">
                <a:extLst>
                  <a:ext uri="{FF2B5EF4-FFF2-40B4-BE49-F238E27FC236}">
                    <a16:creationId xmlns:a16="http://schemas.microsoft.com/office/drawing/2014/main" id="{038A5A76-7700-4CBD-93CA-8B2401D1DA92}"/>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E</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01" name="Rectangle 36">
                <a:extLst>
                  <a:ext uri="{FF2B5EF4-FFF2-40B4-BE49-F238E27FC236}">
                    <a16:creationId xmlns:a16="http://schemas.microsoft.com/office/drawing/2014/main" id="{11623243-AB13-475F-8ED5-AE80B4CAF5BE}"/>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电桥线路原理图</a:t>
                </a: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02" name="Line 37">
                <a:extLst>
                  <a:ext uri="{FF2B5EF4-FFF2-40B4-BE49-F238E27FC236}">
                    <a16:creationId xmlns:a16="http://schemas.microsoft.com/office/drawing/2014/main" id="{83C1D733-E758-42D5-96D7-6804AC865343}"/>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3" name="Line 38">
                <a:extLst>
                  <a:ext uri="{FF2B5EF4-FFF2-40B4-BE49-F238E27FC236}">
                    <a16:creationId xmlns:a16="http://schemas.microsoft.com/office/drawing/2014/main" id="{3B6976D7-F86C-4BA0-91C6-E47A44FC9D60}"/>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4" name="Rectangle 39">
                <a:extLst>
                  <a:ext uri="{FF2B5EF4-FFF2-40B4-BE49-F238E27FC236}">
                    <a16:creationId xmlns:a16="http://schemas.microsoft.com/office/drawing/2014/main" id="{607F1CA0-0AAB-47F2-B4A4-D98F4AC6AD7B}"/>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05" name="Line 40">
                <a:extLst>
                  <a:ext uri="{FF2B5EF4-FFF2-40B4-BE49-F238E27FC236}">
                    <a16:creationId xmlns:a16="http://schemas.microsoft.com/office/drawing/2014/main" id="{5C490382-F6EC-4F95-B773-46360EAB7EA5}"/>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06" name="Line 41">
                <a:extLst>
                  <a:ext uri="{FF2B5EF4-FFF2-40B4-BE49-F238E27FC236}">
                    <a16:creationId xmlns:a16="http://schemas.microsoft.com/office/drawing/2014/main" id="{760FE8BA-9C9A-4864-9CCB-E795B92C6750}"/>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8407" name="Group 42">
                <a:extLst>
                  <a:ext uri="{FF2B5EF4-FFF2-40B4-BE49-F238E27FC236}">
                    <a16:creationId xmlns:a16="http://schemas.microsoft.com/office/drawing/2014/main" id="{1DFAA5CE-24B6-4339-A862-76F4FA863E30}"/>
                  </a:ext>
                </a:extLst>
              </p:cNvPr>
              <p:cNvGrpSpPr>
                <a:grpSpLocks/>
              </p:cNvGrpSpPr>
              <p:nvPr/>
            </p:nvGrpSpPr>
            <p:grpSpPr bwMode="auto">
              <a:xfrm>
                <a:off x="1849" y="617"/>
                <a:ext cx="202" cy="190"/>
                <a:chOff x="0" y="0"/>
                <a:chExt cx="283" cy="283"/>
              </a:xfrm>
            </p:grpSpPr>
            <p:sp>
              <p:nvSpPr>
                <p:cNvPr id="58417" name="Oval 43">
                  <a:extLst>
                    <a:ext uri="{FF2B5EF4-FFF2-40B4-BE49-F238E27FC236}">
                      <a16:creationId xmlns:a16="http://schemas.microsoft.com/office/drawing/2014/main" id="{D10C6A34-7690-4D39-8956-70C5487D1253}"/>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18" name="Line 44">
                  <a:extLst>
                    <a:ext uri="{FF2B5EF4-FFF2-40B4-BE49-F238E27FC236}">
                      <a16:creationId xmlns:a16="http://schemas.microsoft.com/office/drawing/2014/main" id="{E89103DD-1FFD-4361-966E-F289348C2418}"/>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58408" name="Rectangle 45">
                <a:extLst>
                  <a:ext uri="{FF2B5EF4-FFF2-40B4-BE49-F238E27FC236}">
                    <a16:creationId xmlns:a16="http://schemas.microsoft.com/office/drawing/2014/main" id="{6995D45A-506D-4FDF-9833-DD07516D694F}"/>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09" name="Line 46">
                <a:extLst>
                  <a:ext uri="{FF2B5EF4-FFF2-40B4-BE49-F238E27FC236}">
                    <a16:creationId xmlns:a16="http://schemas.microsoft.com/office/drawing/2014/main" id="{0C353E8C-E06F-4B29-BF0D-FAE694D2FE75}"/>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0" name="Rectangle 47">
                <a:extLst>
                  <a:ext uri="{FF2B5EF4-FFF2-40B4-BE49-F238E27FC236}">
                    <a16:creationId xmlns:a16="http://schemas.microsoft.com/office/drawing/2014/main" id="{BDD1F5C7-3CDB-42DD-8D7C-20A42FE49F48}"/>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A</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11" name="Rectangle 48">
                <a:extLst>
                  <a:ext uri="{FF2B5EF4-FFF2-40B4-BE49-F238E27FC236}">
                    <a16:creationId xmlns:a16="http://schemas.microsoft.com/office/drawing/2014/main" id="{E50320EA-5706-49CC-8581-5FE64D994154}"/>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C</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12" name="Rectangle 49">
                <a:extLst>
                  <a:ext uri="{FF2B5EF4-FFF2-40B4-BE49-F238E27FC236}">
                    <a16:creationId xmlns:a16="http://schemas.microsoft.com/office/drawing/2014/main" id="{1783C473-39DD-4858-915D-B1F05AF25793}"/>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D</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13" name="Line 50">
                <a:extLst>
                  <a:ext uri="{FF2B5EF4-FFF2-40B4-BE49-F238E27FC236}">
                    <a16:creationId xmlns:a16="http://schemas.microsoft.com/office/drawing/2014/main" id="{237D677C-03E8-4191-8A31-B863AA81C2E8}"/>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414" name="Rectangle 51">
                <a:extLst>
                  <a:ext uri="{FF2B5EF4-FFF2-40B4-BE49-F238E27FC236}">
                    <a16:creationId xmlns:a16="http://schemas.microsoft.com/office/drawing/2014/main" id="{B92FD2B7-49BC-4FC4-A32F-AA027CB5EF34}"/>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I</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8415" name="AutoShape 52">
                <a:extLst>
                  <a:ext uri="{FF2B5EF4-FFF2-40B4-BE49-F238E27FC236}">
                    <a16:creationId xmlns:a16="http://schemas.microsoft.com/office/drawing/2014/main" id="{72721105-DD32-4395-82D8-A39F74178049}"/>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8416" name="Rectangle 53">
                <a:extLst>
                  <a:ext uri="{FF2B5EF4-FFF2-40B4-BE49-F238E27FC236}">
                    <a16:creationId xmlns:a16="http://schemas.microsoft.com/office/drawing/2014/main" id="{265CB4FF-410A-4586-8375-1EE105DEDF04}"/>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B</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grpSp>
        <p:cxnSp>
          <p:nvCxnSpPr>
            <p:cNvPr id="58381" name="直接箭头连接符 9">
              <a:extLst>
                <a:ext uri="{FF2B5EF4-FFF2-40B4-BE49-F238E27FC236}">
                  <a16:creationId xmlns:a16="http://schemas.microsoft.com/office/drawing/2014/main" id="{5EE5D6CD-3B50-487E-8D4F-83EAED9E4A4F}"/>
                </a:ext>
              </a:extLst>
            </p:cNvPr>
            <p:cNvCxnSpPr>
              <a:cxnSpLocks noChangeShapeType="1"/>
            </p:cNvCxnSpPr>
            <p:nvPr/>
          </p:nvCxnSpPr>
          <p:spPr bwMode="auto">
            <a:xfrm flipV="1">
              <a:off x="6459562" y="4666756"/>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8382" name="直接箭头连接符 10">
              <a:extLst>
                <a:ext uri="{FF2B5EF4-FFF2-40B4-BE49-F238E27FC236}">
                  <a16:creationId xmlns:a16="http://schemas.microsoft.com/office/drawing/2014/main" id="{7AAB0467-7DD3-4CBD-962F-E786E525511F}"/>
                </a:ext>
              </a:extLst>
            </p:cNvPr>
            <p:cNvCxnSpPr>
              <a:cxnSpLocks noChangeShapeType="1"/>
            </p:cNvCxnSpPr>
            <p:nvPr/>
          </p:nvCxnSpPr>
          <p:spPr bwMode="auto">
            <a:xfrm>
              <a:off x="6459562" y="5348325"/>
              <a:ext cx="0" cy="496365"/>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58374" name="Rectangle 5">
            <a:extLst>
              <a:ext uri="{FF2B5EF4-FFF2-40B4-BE49-F238E27FC236}">
                <a16:creationId xmlns:a16="http://schemas.microsoft.com/office/drawing/2014/main" id="{69B31537-8886-408D-B0B2-B55466A027D1}"/>
              </a:ext>
            </a:extLst>
          </p:cNvPr>
          <p:cNvSpPr>
            <a:spLocks noChangeArrowheads="1"/>
          </p:cNvSpPr>
          <p:nvPr/>
        </p:nvSpPr>
        <p:spPr bwMode="auto">
          <a:xfrm>
            <a:off x="417513" y="1144588"/>
            <a:ext cx="828040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18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1</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ΔR</a:t>
            </a:r>
            <a:r>
              <a:rPr lang="zh-CN" altLang="en-US"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18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3</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24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ΔR</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1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2</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en-US" altLang="zh-CN" sz="18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4</a:t>
            </a:r>
            <a:r>
              <a:rPr lang="en-US" altLang="zh-CN"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=R</a:t>
            </a:r>
            <a:r>
              <a:rPr lang="zh-CN" altLang="en-US" sz="240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，计算输出和非线性误差（恒压激励）</a:t>
            </a:r>
            <a:endParaRPr lang="zh-CN" altLang="en-US" sz="180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375" name="AutoShape 8">
            <a:extLst>
              <a:ext uri="{FF2B5EF4-FFF2-40B4-BE49-F238E27FC236}">
                <a16:creationId xmlns:a16="http://schemas.microsoft.com/office/drawing/2014/main" id="{CEE5AB9D-3B39-46BF-BCCF-8A11DDF35925}"/>
              </a:ext>
            </a:extLst>
          </p:cNvPr>
          <p:cNvSpPr>
            <a:spLocks noChangeAspect="1" noChangeArrowheads="1"/>
          </p:cNvSpPr>
          <p:nvPr/>
        </p:nvSpPr>
        <p:spPr bwMode="auto">
          <a:xfrm>
            <a:off x="1042988" y="2060575"/>
            <a:ext cx="609758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p:sp>
        <p:nvSpPr>
          <p:cNvPr id="58376" name="AutoShape 25">
            <a:extLst>
              <a:ext uri="{FF2B5EF4-FFF2-40B4-BE49-F238E27FC236}">
                <a16:creationId xmlns:a16="http://schemas.microsoft.com/office/drawing/2014/main" id="{BE8CCF86-DC6C-4897-B49B-CD7B76B6EE5D}"/>
              </a:ext>
            </a:extLst>
          </p:cNvPr>
          <p:cNvSpPr>
            <a:spLocks noChangeAspect="1" noChangeArrowheads="1"/>
          </p:cNvSpPr>
          <p:nvPr/>
        </p:nvSpPr>
        <p:spPr bwMode="auto">
          <a:xfrm>
            <a:off x="1042988" y="2060575"/>
            <a:ext cx="6097587"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en-US" sz="1800">
              <a:latin typeface="Arial" panose="020B0604020202020204" pitchFamily="34" charset="0"/>
            </a:endParaRPr>
          </a:p>
        </p:txBody>
      </p:sp>
      <mc:AlternateContent xmlns:mc="http://schemas.openxmlformats.org/markup-compatibility/2006" xmlns:a14="http://schemas.microsoft.com/office/drawing/2010/main">
        <mc:Choice Requires="a14">
          <p:sp>
            <p:nvSpPr>
              <p:cNvPr id="58377" name="对象 2">
                <a:hlinkClick r:id="" action="ppaction://ole?verb=1"/>
                <a:extLst>
                  <a:ext uri="{FF2B5EF4-FFF2-40B4-BE49-F238E27FC236}">
                    <a16:creationId xmlns:a16="http://schemas.microsoft.com/office/drawing/2014/main" id="{E64A7D98-6D61-4D52-9FFC-B9E09BCACCC7}"/>
                  </a:ext>
                </a:extLst>
              </p:cNvPr>
              <p:cNvSpPr txBox="1"/>
              <p:nvPr/>
            </p:nvSpPr>
            <p:spPr bwMode="auto">
              <a:xfrm>
                <a:off x="92461" y="1976438"/>
                <a:ext cx="6357937" cy="46101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sz="2000" i="1" smtClean="0">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i="0">
                              <a:solidFill>
                                <a:srgbClr val="000000"/>
                              </a:solidFill>
                              <a:latin typeface="Cambria Math" panose="02040503050406030204" pitchFamily="18" charset="0"/>
                            </a:rPr>
                            <m:t>g</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𝐸</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den>
                      </m:f>
                      <m:r>
                        <m:rPr>
                          <m:nor/>
                        </m:rPr>
                        <a:rPr lang="zh-CN" altLang="en-US" sz="2000" i="0">
                          <a:solidFill>
                            <a:srgbClr val="000000"/>
                          </a:solidFill>
                          <a:latin typeface="Cambria Math" panose="02040503050406030204" pitchFamily="18" charset="0"/>
                        </a:rPr>
                        <m:t>      </m:t>
                      </m:r>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𝐸</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𝑅</m:t>
                          </m:r>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num>
                        <m:den>
                          <m:r>
                            <a:rPr lang="zh-CN" altLang="en-US" sz="2000" i="1">
                              <a:solidFill>
                                <a:srgbClr val="000000"/>
                              </a:solidFill>
                              <a:latin typeface="Cambria Math" panose="02040503050406030204" pitchFamily="18" charset="0"/>
                            </a:rPr>
                            <m:t>4</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𝑅</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m:t>
                          </m:r>
                          <m:r>
                            <m:rPr>
                              <m:sty m:val="p"/>
                            </m:rPr>
                            <a:rPr lang="zh-CN" altLang="en-US" sz="2000" i="1">
                              <a:solidFill>
                                <a:srgbClr val="000000"/>
                              </a:solidFill>
                              <a:latin typeface="Cambria Math" panose="02040503050406030204" pitchFamily="18" charset="0"/>
                            </a:rPr>
                            <m:t>Δ</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𝑅</m:t>
                              </m:r>
                            </m:e>
                            <m:sup>
                              <m:r>
                                <a:rPr lang="zh-CN" altLang="en-US" sz="2000" i="1">
                                  <a:solidFill>
                                    <a:srgbClr val="000000"/>
                                  </a:solidFill>
                                  <a:latin typeface="Cambria Math" panose="02040503050406030204" pitchFamily="18" charset="0"/>
                                </a:rPr>
                                <m:t>2</m:t>
                              </m:r>
                            </m:sup>
                          </m:sSup>
                        </m:den>
                      </m:f>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E</m:t>
                          </m:r>
                        </m:num>
                        <m:den>
                          <m:r>
                            <a:rPr lang="zh-CN" altLang="en-US" sz="2000" i="0">
                              <a:solidFill>
                                <a:srgbClr val="000000"/>
                              </a:solidFill>
                              <a:latin typeface="Cambria Math" panose="02040503050406030204" pitchFamily="18" charset="0"/>
                            </a:rPr>
                            <m:t>2</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f>
                            <m:fPr>
                              <m:type m:val="skw"/>
                              <m:ctrlPr>
                                <a:rPr lang="zh-CN" altLang="en-US" sz="2000" i="1">
                                  <a:solidFill>
                                    <a:srgbClr val="000000"/>
                                  </a:solidFill>
                                  <a:latin typeface="Cambria Math" panose="02040503050406030204" pitchFamily="18" charset="0"/>
                                </a:rPr>
                              </m:ctrlPr>
                            </m:fPr>
                            <m:num>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num>
                            <m:den>
                              <m:r>
                                <a:rPr lang="zh-CN" altLang="en-US" sz="2000" i="1">
                                  <a:solidFill>
                                    <a:srgbClr val="000000"/>
                                  </a:solidFill>
                                  <a:latin typeface="Cambria Math" panose="02040503050406030204" pitchFamily="18" charset="0"/>
                                </a:rPr>
                                <m:t>𝑅</m:t>
                              </m:r>
                            </m:den>
                          </m:f>
                        </m:num>
                        <m:den>
                          <m:r>
                            <a:rPr lang="zh-CN" altLang="en-US" sz="2000" i="1">
                              <a:solidFill>
                                <a:srgbClr val="000000"/>
                              </a:solidFill>
                              <a:latin typeface="Cambria Math" panose="02040503050406030204" pitchFamily="18" charset="0"/>
                            </a:rPr>
                            <m:t>1−(</m:t>
                          </m:r>
                          <m:f>
                            <m:fPr>
                              <m:type m:val="skw"/>
                              <m:ctrlPr>
                                <a:rPr lang="zh-CN" altLang="en-US" sz="2000" i="1">
                                  <a:solidFill>
                                    <a:srgbClr val="000000"/>
                                  </a:solidFill>
                                  <a:latin typeface="Cambria Math" panose="02040503050406030204" pitchFamily="18" charset="0"/>
                                </a:rPr>
                              </m:ctrlPr>
                            </m:fPr>
                            <m:num>
                              <m:r>
                                <m:rPr>
                                  <m:sty m:val="p"/>
                                </m:rPr>
                                <a:rPr lang="zh-CN" altLang="en-US" sz="2000" i="1">
                                  <a:solidFill>
                                    <a:srgbClr val="000000"/>
                                  </a:solidFill>
                                  <a:latin typeface="Cambria Math" panose="02040503050406030204" pitchFamily="18" charset="0"/>
                                </a:rPr>
                                <m:t>Δ</m:t>
                              </m:r>
                              <m:r>
                                <a:rPr lang="zh-CN" altLang="en-US" sz="2000" i="1">
                                  <a:solidFill>
                                    <a:srgbClr val="000000"/>
                                  </a:solidFill>
                                  <a:latin typeface="Cambria Math" panose="02040503050406030204" pitchFamily="18" charset="0"/>
                                </a:rPr>
                                <m:t>𝑅</m:t>
                              </m:r>
                            </m:num>
                            <m:den>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𝑅</m:t>
                              </m:r>
                            </m:den>
                          </m:f>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E</m:t>
                          </m:r>
                        </m:num>
                        <m:den>
                          <m:r>
                            <a:rPr lang="zh-CN" altLang="en-US" sz="2000" i="0">
                              <a:solidFill>
                                <a:srgbClr val="000000"/>
                              </a:solidFill>
                              <a:latin typeface="Cambria Math" panose="02040503050406030204" pitchFamily="18" charset="0"/>
                            </a:rPr>
                            <m:t>2</m:t>
                          </m:r>
                        </m:den>
                      </m:f>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 </m:t>
                      </m:r>
                      <m:f>
                        <m:fPr>
                          <m:ctrlPr>
                            <a:rPr lang="zh-CN" altLang="en-US" sz="2000" i="1">
                              <a:solidFill>
                                <a:srgbClr val="000000"/>
                              </a:solidFill>
                              <a:latin typeface="Cambria Math" panose="02040503050406030204" pitchFamily="18" charset="0"/>
                            </a:rPr>
                          </m:ctrlPr>
                        </m:fPr>
                        <m:num>
                          <m:r>
                            <m:rPr>
                              <m:sty m:val="p"/>
                            </m:rPr>
                            <a:rPr lang="zh-CN" altLang="en-US" sz="2000" i="1">
                              <a:solidFill>
                                <a:srgbClr val="000000"/>
                              </a:solidFill>
                              <a:latin typeface="Cambria Math" panose="02040503050406030204" pitchFamily="18" charset="0"/>
                            </a:rPr>
                            <m:t>Δ</m:t>
                          </m:r>
                          <m:r>
                            <m:rPr>
                              <m:sty m:val="p"/>
                            </m:rPr>
                            <a:rPr lang="zh-CN" altLang="en-US" sz="2000" i="0">
                              <a:solidFill>
                                <a:srgbClr val="000000"/>
                              </a:solidFill>
                              <a:latin typeface="Cambria Math" panose="02040503050406030204" pitchFamily="18" charset="0"/>
                            </a:rPr>
                            <m:t>R</m:t>
                          </m:r>
                        </m:num>
                        <m:den>
                          <m:r>
                            <m:rPr>
                              <m:sty m:val="p"/>
                            </m:rPr>
                            <a:rPr lang="zh-CN" altLang="en-US" sz="2000" i="0">
                              <a:solidFill>
                                <a:srgbClr val="000000"/>
                              </a:solidFill>
                              <a:latin typeface="Cambria Math" panose="02040503050406030204" pitchFamily="18" charset="0"/>
                            </a:rPr>
                            <m:t>R</m:t>
                          </m:r>
                        </m:den>
                      </m:f>
                      <m: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E</m:t>
                          </m:r>
                        </m:num>
                        <m:den>
                          <m:r>
                            <a:rPr lang="zh-CN" altLang="en-US" sz="2000" i="0">
                              <a:solidFill>
                                <a:srgbClr val="000000"/>
                              </a:solidFill>
                              <a:latin typeface="Cambria Math" panose="02040503050406030204" pitchFamily="18" charset="0"/>
                            </a:rPr>
                            <m:t>2</m:t>
                          </m:r>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𝜀</m:t>
                      </m:r>
                      <m:r>
                        <a:rPr lang="en-US" altLang="zh-CN" sz="2000" b="0" i="1" smtClean="0">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a:solidFill>
                                    <a:srgbClr val="000000"/>
                                  </a:solidFill>
                                  <a:latin typeface="Cambria Math" panose="02040503050406030204" pitchFamily="18" charset="0"/>
                                </a:rPr>
                                <m:t>g</m:t>
                              </m:r>
                            </m:sub>
                          </m:sSub>
                        </m:e>
                        <m:sup>
                          <m:r>
                            <a:rPr lang="zh-CN" altLang="en-US" sz="2000" i="1">
                              <a:solidFill>
                                <a:srgbClr val="000000"/>
                              </a:solidFill>
                              <a:latin typeface="Cambria Math" panose="02040503050406030204" pitchFamily="18" charset="0"/>
                            </a:rPr>
                            <m:t>′</m:t>
                          </m:r>
                        </m:sup>
                      </m:sSup>
                    </m:oMath>
                    <m:oMath xmlns:m="http://schemas.openxmlformats.org/officeDocument/2006/math">
                      <m:r>
                        <a:rPr lang="zh-CN" altLang="en-US" sz="2000" i="1">
                          <a:solidFill>
                            <a:srgbClr val="000000"/>
                          </a:solidFill>
                          <a:latin typeface="Cambria Math" panose="02040503050406030204" pitchFamily="18" charset="0"/>
                        </a:rPr>
                        <m:t>𝛿</m:t>
                      </m:r>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i="0">
                                      <a:solidFill>
                                        <a:srgbClr val="000000"/>
                                      </a:solidFill>
                                      <a:latin typeface="Cambria Math" panose="02040503050406030204" pitchFamily="18" charset="0"/>
                                    </a:rPr>
                                    <m:t>g</m:t>
                                  </m:r>
                                </m:sub>
                              </m:sSub>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i="0">
                                          <a:solidFill>
                                            <a:srgbClr val="000000"/>
                                          </a:solidFill>
                                          <a:latin typeface="Cambria Math" panose="02040503050406030204" pitchFamily="18" charset="0"/>
                                        </a:rPr>
                                        <m:t>g</m:t>
                                      </m:r>
                                    </m:sub>
                                  </m:sSub>
                                </m:e>
                                <m:sup>
                                  <m:r>
                                    <a:rPr lang="zh-CN" altLang="en-US" sz="2000" i="1">
                                      <a:solidFill>
                                        <a:srgbClr val="000000"/>
                                      </a:solidFill>
                                      <a:latin typeface="Cambria Math" panose="02040503050406030204" pitchFamily="18" charset="0"/>
                                    </a:rPr>
                                    <m:t>′</m:t>
                                  </m:r>
                                </m:sup>
                              </m:sSup>
                            </m:num>
                            <m:den>
                              <m:sSup>
                                <m:sSupPr>
                                  <m:ctrlPr>
                                    <a:rPr lang="zh-CN" altLang="en-US" sz="2000" i="1">
                                      <a:solidFill>
                                        <a:srgbClr val="000000"/>
                                      </a:solidFill>
                                      <a:latin typeface="Cambria Math" panose="02040503050406030204" pitchFamily="18" charset="0"/>
                                    </a:rPr>
                                  </m:ctrlPr>
                                </m:sSupPr>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𝑈</m:t>
                                      </m:r>
                                    </m:e>
                                    <m:sub>
                                      <m:r>
                                        <m:rPr>
                                          <m:sty m:val="p"/>
                                        </m:rPr>
                                        <a:rPr lang="zh-CN" altLang="en-US" sz="2000" i="0">
                                          <a:solidFill>
                                            <a:srgbClr val="000000"/>
                                          </a:solidFill>
                                          <a:latin typeface="Cambria Math" panose="02040503050406030204" pitchFamily="18" charset="0"/>
                                        </a:rPr>
                                        <m:t>g</m:t>
                                      </m:r>
                                    </m:sub>
                                  </m:sSub>
                                </m:e>
                                <m:sup>
                                  <m:r>
                                    <a:rPr lang="zh-CN" altLang="en-US" sz="2000" i="1">
                                      <a:solidFill>
                                        <a:srgbClr val="000000"/>
                                      </a:solidFill>
                                      <a:latin typeface="Cambria Math" panose="02040503050406030204" pitchFamily="18" charset="0"/>
                                    </a:rPr>
                                    <m:t>′</m:t>
                                  </m:r>
                                </m:sup>
                              </m:sSup>
                            </m:den>
                          </m:f>
                        </m:e>
                      </m:d>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 </m:t>
                      </m:r>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f>
                                <m:fPr>
                                  <m:ctrlPr>
                                    <a:rPr lang="zh-CN" altLang="en-US" sz="2000" i="1">
                                      <a:solidFill>
                                        <a:srgbClr val="000000"/>
                                      </a:solidFill>
                                      <a:latin typeface="Cambria Math" panose="02040503050406030204" pitchFamily="18" charset="0"/>
                                    </a:rPr>
                                  </m:ctrlPr>
                                </m:fPr>
                                <m:num>
                                  <m:r>
                                    <m:rPr>
                                      <m:sty m:val="p"/>
                                    </m:rPr>
                                    <a:rPr lang="zh-CN" altLang="en-US" sz="2000" i="0">
                                      <a:solidFill>
                                        <a:srgbClr val="000000"/>
                                      </a:solidFill>
                                      <a:latin typeface="Cambria Math" panose="02040503050406030204" pitchFamily="18" charset="0"/>
                                    </a:rPr>
                                    <m:t>K</m:t>
                                  </m:r>
                                  <m:r>
                                    <a:rPr lang="zh-CN" altLang="en-US" sz="2000" i="1">
                                      <a:solidFill>
                                        <a:srgbClr val="000000"/>
                                      </a:solidFill>
                                      <a:latin typeface="Cambria Math" panose="02040503050406030204" pitchFamily="18" charset="0"/>
                                    </a:rPr>
                                    <m:t>𝜀</m:t>
                                  </m:r>
                                </m:num>
                                <m:den>
                                  <m:r>
                                    <m:rPr>
                                      <m:nor/>
                                    </m:rPr>
                                    <a:rPr lang="zh-CN" altLang="en-US" sz="2000" i="0">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m:t>
                                  </m:r>
                                  <m:f>
                                    <m:fPr>
                                      <m:type m:val="skw"/>
                                      <m:ctrlPr>
                                        <a:rPr lang="zh-CN" altLang="en-US" sz="2000" i="1">
                                          <a:solidFill>
                                            <a:srgbClr val="000000"/>
                                          </a:solidFill>
                                          <a:latin typeface="Cambria Math" panose="02040503050406030204" pitchFamily="18" charset="0"/>
                                        </a:rPr>
                                      </m:ctrlPr>
                                    </m:fPr>
                                    <m:num>
                                      <m:r>
                                        <a:rPr lang="zh-CN" altLang="en-US" sz="2000" i="0">
                                          <a:solidFill>
                                            <a:srgbClr val="000000"/>
                                          </a:solidFill>
                                          <a:latin typeface="Cambria Math" panose="02040503050406030204" pitchFamily="18" charset="0"/>
                                        </a:rPr>
                                        <m:t>1</m:t>
                                      </m:r>
                                    </m:num>
                                    <m:den>
                                      <m:r>
                                        <a:rPr lang="zh-CN" altLang="en-US" sz="2000" i="0">
                                          <a:solidFill>
                                            <a:srgbClr val="000000"/>
                                          </a:solidFill>
                                          <a:latin typeface="Cambria Math" panose="02040503050406030204" pitchFamily="18" charset="0"/>
                                        </a:rPr>
                                        <m:t>2</m:t>
                                      </m:r>
                                    </m:den>
                                  </m:f>
                                  <m:r>
                                    <m:rPr>
                                      <m:sty m:val="p"/>
                                    </m:rPr>
                                    <a:rPr lang="zh-CN" altLang="en-US" sz="2000" i="0">
                                      <a:solidFill>
                                        <a:srgbClr val="000000"/>
                                      </a:solidFill>
                                      <a:latin typeface="Cambria Math" panose="02040503050406030204" pitchFamily="18" charset="0"/>
                                    </a:rPr>
                                    <m:t>K</m:t>
                                  </m:r>
                                  <m:r>
                                    <a:rPr lang="zh-CN" altLang="en-US" sz="2000" i="1">
                                      <a:solidFill>
                                        <a:srgbClr val="000000"/>
                                      </a:solidFill>
                                      <a:latin typeface="Cambria Math" panose="02040503050406030204" pitchFamily="18" charset="0"/>
                                    </a:rPr>
                                    <m:t>𝜀</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0">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𝜀</m:t>
                              </m:r>
                            </m:num>
                            <m:den>
                              <m:r>
                                <a:rPr lang="zh-CN" altLang="en-US" sz="2000" i="1">
                                  <a:solidFill>
                                    <a:srgbClr val="000000"/>
                                  </a:solidFill>
                                  <a:latin typeface="Cambria Math" panose="02040503050406030204" pitchFamily="18" charset="0"/>
                                </a:rPr>
                                <m:t>𝐾</m:t>
                              </m:r>
                              <m:r>
                                <a:rPr lang="zh-CN" altLang="en-US" sz="2000" i="1">
                                  <a:solidFill>
                                    <a:srgbClr val="000000"/>
                                  </a:solidFill>
                                  <a:latin typeface="Cambria Math" panose="02040503050406030204" pitchFamily="18" charset="0"/>
                                </a:rPr>
                                <m:t>𝜀</m:t>
                              </m:r>
                            </m:den>
                          </m:f>
                        </m:e>
                      </m:d>
                      <m:r>
                        <a:rPr lang="zh-CN" altLang="en-US" sz="2000" i="0">
                          <a:solidFill>
                            <a:srgbClr val="000000"/>
                          </a:solidFill>
                          <a:latin typeface="Cambria Math" panose="02040503050406030204" pitchFamily="18" charset="0"/>
                        </a:rPr>
                        <m:t> </m:t>
                      </m:r>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r>
                            <m:rPr>
                              <m:nor/>
                            </m:rPr>
                            <a:rPr lang="zh-CN" altLang="en-US" sz="2000" i="0">
                              <a:solidFill>
                                <a:srgbClr val="000000"/>
                              </a:solidFill>
                              <a:latin typeface="Cambria Math" panose="02040503050406030204" pitchFamily="18" charset="0"/>
                            </a:rPr>
                            <m:t>1−1</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0">
                                  <a:solidFill>
                                    <a:srgbClr val="000000"/>
                                  </a:solidFill>
                                  <a:latin typeface="Cambria Math" panose="02040503050406030204" pitchFamily="18" charset="0"/>
                                </a:rPr>
                                <m:t>1</m:t>
                              </m:r>
                            </m:num>
                            <m:den>
                              <m:r>
                                <a:rPr lang="zh-CN" altLang="en-US" sz="2000" i="0">
                                  <a:solidFill>
                                    <a:srgbClr val="000000"/>
                                  </a:solidFill>
                                  <a:latin typeface="Cambria Math" panose="02040503050406030204" pitchFamily="18" charset="0"/>
                                </a:rPr>
                                <m:t>2</m:t>
                              </m:r>
                            </m:den>
                          </m:f>
                          <m:r>
                            <m:rPr>
                              <m:sty m:val="p"/>
                            </m:rPr>
                            <a:rPr lang="zh-CN" altLang="en-US" sz="2000" i="0">
                              <a:solidFill>
                                <a:srgbClr val="000000"/>
                              </a:solidFill>
                              <a:latin typeface="Cambria Math" panose="02040503050406030204" pitchFamily="18" charset="0"/>
                            </a:rPr>
                            <m:t>K</m:t>
                          </m:r>
                          <m:r>
                            <a:rPr lang="zh-CN" altLang="en-US" sz="2000" i="1">
                              <a:solidFill>
                                <a:srgbClr val="000000"/>
                              </a:solidFill>
                              <a:latin typeface="Cambria Math" panose="02040503050406030204" pitchFamily="18" charset="0"/>
                            </a:rPr>
                            <m:t>𝜀</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0">
                                  <a:solidFill>
                                    <a:srgbClr val="000000"/>
                                  </a:solidFill>
                                  <a:latin typeface="Cambria Math" panose="02040503050406030204" pitchFamily="18" charset="0"/>
                                </a:rPr>
                                <m:t>2</m:t>
                              </m:r>
                            </m:sup>
                          </m:sSup>
                        </m:e>
                      </m:d>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0">
                              <a:solidFill>
                                <a:srgbClr val="000000"/>
                              </a:solidFill>
                              <a:latin typeface="Cambria Math" panose="02040503050406030204" pitchFamily="18" charset="0"/>
                            </a:rPr>
                            <m:t>1</m:t>
                          </m:r>
                        </m:num>
                        <m:den>
                          <m:r>
                            <a:rPr lang="zh-CN" altLang="en-US" sz="2000" i="0">
                              <a:solidFill>
                                <a:srgbClr val="000000"/>
                              </a:solidFill>
                              <a:latin typeface="Cambria Math" panose="02040503050406030204" pitchFamily="18" charset="0"/>
                            </a:rPr>
                            <m:t>2</m:t>
                          </m:r>
                        </m:den>
                      </m:f>
                      <m:r>
                        <m:rPr>
                          <m:sty m:val="p"/>
                        </m:rPr>
                        <a:rPr lang="zh-CN" altLang="en-US" sz="2000" i="0">
                          <a:solidFill>
                            <a:srgbClr val="000000"/>
                          </a:solidFill>
                          <a:latin typeface="Cambria Math" panose="02040503050406030204" pitchFamily="18" charset="0"/>
                        </a:rPr>
                        <m:t>K</m:t>
                      </m:r>
                      <m:r>
                        <a:rPr lang="zh-CN" altLang="en-US" sz="2000" i="1">
                          <a:solidFill>
                            <a:srgbClr val="000000"/>
                          </a:solidFill>
                          <a:latin typeface="Cambria Math" panose="02040503050406030204" pitchFamily="18" charset="0"/>
                        </a:rPr>
                        <m:t>𝜀</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oMath>
                  </m:oMathPara>
                </a14:m>
                <a:endParaRPr lang="zh-CN" altLang="en-US" sz="2000" dirty="0"/>
              </a:p>
            </p:txBody>
          </p:sp>
        </mc:Choice>
        <mc:Fallback xmlns="">
          <p:sp>
            <p:nvSpPr>
              <p:cNvPr id="58377" name="对象 2">
                <a:hlinkClick r:id="" action="ppaction://ole?verb=1"/>
                <a:extLst>
                  <a:ext uri="{FF2B5EF4-FFF2-40B4-BE49-F238E27FC236}">
                    <a16:creationId xmlns:a16="http://schemas.microsoft.com/office/drawing/2014/main" id="{E64A7D98-6D61-4D52-9FFC-B9E09BCACCC7}"/>
                  </a:ext>
                </a:extLst>
              </p:cNvPr>
              <p:cNvSpPr txBox="1">
                <a:spLocks noRot="1" noChangeAspect="1" noMove="1" noResize="1" noEditPoints="1" noAdjustHandles="1" noChangeArrowheads="1" noChangeShapeType="1" noTextEdit="1"/>
              </p:cNvSpPr>
              <p:nvPr/>
            </p:nvSpPr>
            <p:spPr bwMode="auto">
              <a:xfrm>
                <a:off x="92461" y="1976438"/>
                <a:ext cx="6357937" cy="4610100"/>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2" name="矩形: 圆角 1">
            <a:extLst>
              <a:ext uri="{FF2B5EF4-FFF2-40B4-BE49-F238E27FC236}">
                <a16:creationId xmlns:a16="http://schemas.microsoft.com/office/drawing/2014/main" id="{A42FA4C7-1BE5-4DC6-976C-129CB9C43C75}"/>
              </a:ext>
            </a:extLst>
          </p:cNvPr>
          <p:cNvSpPr/>
          <p:nvPr/>
        </p:nvSpPr>
        <p:spPr bwMode="auto">
          <a:xfrm>
            <a:off x="749931" y="5816391"/>
            <a:ext cx="1650876" cy="606832"/>
          </a:xfrm>
          <a:prstGeom prst="roundRect">
            <a:avLst/>
          </a:prstGeom>
          <a:solidFill>
            <a:schemeClr val="bg2">
              <a:lumMod val="75000"/>
              <a:alpha val="39000"/>
            </a:schemeClr>
          </a:solidFill>
          <a:ln w="9525" cap="flat" cmpd="sng" algn="ctr">
            <a:solidFill>
              <a:schemeClr val="tx1"/>
            </a:solidFill>
            <a:prstDash val="solid"/>
            <a:round/>
            <a:headEnd type="none" w="med" len="med"/>
            <a:tailEnd type="none" w="med" len="med"/>
          </a:ln>
        </p:spPr>
        <p:txBody>
          <a:bodyPr/>
          <a:lstStyle/>
          <a:p>
            <a:pPr>
              <a:buFont typeface="Arial" pitchFamily="34" charset="0"/>
              <a:buNone/>
              <a:defRPr/>
            </a:pPr>
            <a:endParaRPr lang="zh-CN" altLang="en-US" dirty="0">
              <a:latin typeface="Arial" pitchFamily="34" charset="0"/>
            </a:endParaRPr>
          </a:p>
        </p:txBody>
      </p:sp>
      <p:sp>
        <p:nvSpPr>
          <p:cNvPr id="62" name="矩形 61">
            <a:extLst>
              <a:ext uri="{FF2B5EF4-FFF2-40B4-BE49-F238E27FC236}">
                <a16:creationId xmlns:a16="http://schemas.microsoft.com/office/drawing/2014/main" id="{3068B638-D4FB-4746-89C1-1A9F617B25CA}"/>
              </a:ext>
            </a:extLst>
          </p:cNvPr>
          <p:cNvSpPr>
            <a:spLocks noChangeArrowheads="1"/>
          </p:cNvSpPr>
          <p:nvPr/>
        </p:nvSpPr>
        <p:spPr bwMode="auto">
          <a:xfrm>
            <a:off x="2637735" y="5849073"/>
            <a:ext cx="305724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恒压源驱动下，</a:t>
            </a:r>
            <a:endPar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非线性比单臂小！</a:t>
            </a:r>
            <a:endParaRPr lang="zh-CN" altLang="en-US" sz="2800" dirty="0">
              <a:solidFill>
                <a:srgbClr val="00B0F0"/>
              </a:solidFill>
              <a:cs typeface="Times New Roman" panose="02020603050405020304" pitchFamily="18" charset="0"/>
            </a:endParaRPr>
          </a:p>
        </p:txBody>
      </p:sp>
      <p:sp>
        <p:nvSpPr>
          <p:cNvPr id="65" name="矩形: 圆角 64">
            <a:extLst>
              <a:ext uri="{FF2B5EF4-FFF2-40B4-BE49-F238E27FC236}">
                <a16:creationId xmlns:a16="http://schemas.microsoft.com/office/drawing/2014/main" id="{63565CE8-C4AF-48F7-9F31-26385B5FBB05}"/>
              </a:ext>
            </a:extLst>
          </p:cNvPr>
          <p:cNvSpPr/>
          <p:nvPr/>
        </p:nvSpPr>
        <p:spPr bwMode="auto">
          <a:xfrm>
            <a:off x="4462175" y="3304824"/>
            <a:ext cx="848804" cy="654813"/>
          </a:xfrm>
          <a:prstGeom prst="roundRect">
            <a:avLst/>
          </a:prstGeom>
          <a:solidFill>
            <a:schemeClr val="bg2">
              <a:lumMod val="75000"/>
              <a:alpha val="39000"/>
            </a:schemeClr>
          </a:solidFill>
          <a:ln w="9525" cap="flat" cmpd="sng" algn="ctr">
            <a:solidFill>
              <a:schemeClr val="tx1"/>
            </a:solidFill>
            <a:prstDash val="solid"/>
            <a:round/>
            <a:headEnd type="none" w="med" len="med"/>
            <a:tailEnd type="none" w="med" len="med"/>
          </a:ln>
        </p:spPr>
        <p:txBody>
          <a:bodyPr/>
          <a:lstStyle/>
          <a:p>
            <a:pPr>
              <a:buFont typeface="Arial" pitchFamily="34" charset="0"/>
              <a:buNone/>
              <a:defRPr/>
            </a:pPr>
            <a:endParaRPr lang="zh-CN" altLang="en-US" dirty="0">
              <a:latin typeface="Arial" pitchFamily="34" charset="0"/>
            </a:endParaRPr>
          </a:p>
        </p:txBody>
      </p:sp>
      <p:sp>
        <p:nvSpPr>
          <p:cNvPr id="66" name="矩形 65">
            <a:extLst>
              <a:ext uri="{FF2B5EF4-FFF2-40B4-BE49-F238E27FC236}">
                <a16:creationId xmlns:a16="http://schemas.microsoft.com/office/drawing/2014/main" id="{C332360E-820D-4D91-A452-2D515930FB9A}"/>
              </a:ext>
            </a:extLst>
          </p:cNvPr>
          <p:cNvSpPr>
            <a:spLocks noChangeArrowheads="1"/>
          </p:cNvSpPr>
          <p:nvPr/>
        </p:nvSpPr>
        <p:spPr bwMode="auto">
          <a:xfrm>
            <a:off x="5935377" y="2846315"/>
            <a:ext cx="305724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B0F0"/>
                </a:solidFill>
                <a:cs typeface="Times New Roman" panose="02020603050405020304" pitchFamily="18" charset="0"/>
              </a:rPr>
              <a:t>灵敏度比单臂电桥</a:t>
            </a:r>
            <a:endParaRPr lang="en-US" altLang="zh-CN" sz="2800" dirty="0">
              <a:solidFill>
                <a:srgbClr val="00B0F0"/>
              </a:solidFill>
              <a:cs typeface="Times New Roman" panose="02020603050405020304" pitchFamily="18" charset="0"/>
            </a:endParaRPr>
          </a:p>
          <a:p>
            <a:r>
              <a:rPr lang="zh-CN" altLang="en-US" sz="2800" dirty="0">
                <a:solidFill>
                  <a:srgbClr val="00B0F0"/>
                </a:solidFill>
                <a:cs typeface="Times New Roman" panose="02020603050405020304" pitchFamily="18" charset="0"/>
              </a:rPr>
              <a:t>增加一倍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down)">
                                      <p:cBhvr>
                                        <p:cTn id="7" dur="580">
                                          <p:stCondLst>
                                            <p:cond delay="0"/>
                                          </p:stCondLst>
                                        </p:cTn>
                                        <p:tgtEl>
                                          <p:spTgt spid="66"/>
                                        </p:tgtEl>
                                      </p:cBhvr>
                                    </p:animEffect>
                                    <p:anim calcmode="lin" valueType="num">
                                      <p:cBhvr>
                                        <p:cTn id="8" dur="1822" tmFilter="0,0; 0.14,0.36; 0.43,0.73; 0.71,0.91; 1.0,1.0">
                                          <p:stCondLst>
                                            <p:cond delay="0"/>
                                          </p:stCondLst>
                                        </p:cTn>
                                        <p:tgtEl>
                                          <p:spTgt spid="6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6"/>
                                        </p:tgtEl>
                                        <p:attrNameLst>
                                          <p:attrName>ppt_y</p:attrName>
                                        </p:attrNameLst>
                                      </p:cBhvr>
                                      <p:tavLst>
                                        <p:tav tm="0" fmla="#ppt_y-sin(pi*$)/81">
                                          <p:val>
                                            <p:fltVal val="0"/>
                                          </p:val>
                                        </p:tav>
                                        <p:tav tm="100000">
                                          <p:val>
                                            <p:fltVal val="1"/>
                                          </p:val>
                                        </p:tav>
                                      </p:tavLst>
                                    </p:anim>
                                    <p:animScale>
                                      <p:cBhvr>
                                        <p:cTn id="13" dur="26">
                                          <p:stCondLst>
                                            <p:cond delay="650"/>
                                          </p:stCondLst>
                                        </p:cTn>
                                        <p:tgtEl>
                                          <p:spTgt spid="66"/>
                                        </p:tgtEl>
                                      </p:cBhvr>
                                      <p:to x="100000" y="60000"/>
                                    </p:animScale>
                                    <p:animScale>
                                      <p:cBhvr>
                                        <p:cTn id="14" dur="166" decel="50000">
                                          <p:stCondLst>
                                            <p:cond delay="676"/>
                                          </p:stCondLst>
                                        </p:cTn>
                                        <p:tgtEl>
                                          <p:spTgt spid="66"/>
                                        </p:tgtEl>
                                      </p:cBhvr>
                                      <p:to x="100000" y="100000"/>
                                    </p:animScale>
                                    <p:animScale>
                                      <p:cBhvr>
                                        <p:cTn id="15" dur="26">
                                          <p:stCondLst>
                                            <p:cond delay="1312"/>
                                          </p:stCondLst>
                                        </p:cTn>
                                        <p:tgtEl>
                                          <p:spTgt spid="66"/>
                                        </p:tgtEl>
                                      </p:cBhvr>
                                      <p:to x="100000" y="80000"/>
                                    </p:animScale>
                                    <p:animScale>
                                      <p:cBhvr>
                                        <p:cTn id="16" dur="166" decel="50000">
                                          <p:stCondLst>
                                            <p:cond delay="1338"/>
                                          </p:stCondLst>
                                        </p:cTn>
                                        <p:tgtEl>
                                          <p:spTgt spid="66"/>
                                        </p:tgtEl>
                                      </p:cBhvr>
                                      <p:to x="100000" y="100000"/>
                                    </p:animScale>
                                    <p:animScale>
                                      <p:cBhvr>
                                        <p:cTn id="17" dur="26">
                                          <p:stCondLst>
                                            <p:cond delay="1642"/>
                                          </p:stCondLst>
                                        </p:cTn>
                                        <p:tgtEl>
                                          <p:spTgt spid="66"/>
                                        </p:tgtEl>
                                      </p:cBhvr>
                                      <p:to x="100000" y="90000"/>
                                    </p:animScale>
                                    <p:animScale>
                                      <p:cBhvr>
                                        <p:cTn id="18" dur="166" decel="50000">
                                          <p:stCondLst>
                                            <p:cond delay="1668"/>
                                          </p:stCondLst>
                                        </p:cTn>
                                        <p:tgtEl>
                                          <p:spTgt spid="66"/>
                                        </p:tgtEl>
                                      </p:cBhvr>
                                      <p:to x="100000" y="100000"/>
                                    </p:animScale>
                                    <p:animScale>
                                      <p:cBhvr>
                                        <p:cTn id="19" dur="26">
                                          <p:stCondLst>
                                            <p:cond delay="1808"/>
                                          </p:stCondLst>
                                        </p:cTn>
                                        <p:tgtEl>
                                          <p:spTgt spid="66"/>
                                        </p:tgtEl>
                                      </p:cBhvr>
                                      <p:to x="100000" y="95000"/>
                                    </p:animScale>
                                    <p:animScale>
                                      <p:cBhvr>
                                        <p:cTn id="20" dur="166" decel="50000">
                                          <p:stCondLst>
                                            <p:cond delay="1834"/>
                                          </p:stCondLst>
                                        </p:cTn>
                                        <p:tgtEl>
                                          <p:spTgt spid="6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62"/>
                                        </p:tgtEl>
                                        <p:attrNameLst>
                                          <p:attrName>style.visibility</p:attrName>
                                        </p:attrNameLst>
                                      </p:cBhvr>
                                      <p:to>
                                        <p:strVal val="visible"/>
                                      </p:to>
                                    </p:set>
                                    <p:animEffect transition="in" filter="wipe(down)">
                                      <p:cBhvr>
                                        <p:cTn id="25" dur="580">
                                          <p:stCondLst>
                                            <p:cond delay="0"/>
                                          </p:stCondLst>
                                        </p:cTn>
                                        <p:tgtEl>
                                          <p:spTgt spid="62"/>
                                        </p:tgtEl>
                                      </p:cBhvr>
                                    </p:animEffect>
                                    <p:anim calcmode="lin" valueType="num">
                                      <p:cBhvr>
                                        <p:cTn id="26" dur="1822" tmFilter="0,0; 0.14,0.36; 0.43,0.73; 0.71,0.91; 1.0,1.0">
                                          <p:stCondLst>
                                            <p:cond delay="0"/>
                                          </p:stCondLst>
                                        </p:cTn>
                                        <p:tgtEl>
                                          <p:spTgt spid="6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2"/>
                                        </p:tgtEl>
                                        <p:attrNameLst>
                                          <p:attrName>ppt_y</p:attrName>
                                        </p:attrNameLst>
                                      </p:cBhvr>
                                      <p:tavLst>
                                        <p:tav tm="0" fmla="#ppt_y-sin(pi*$)/81">
                                          <p:val>
                                            <p:fltVal val="0"/>
                                          </p:val>
                                        </p:tav>
                                        <p:tav tm="100000">
                                          <p:val>
                                            <p:fltVal val="1"/>
                                          </p:val>
                                        </p:tav>
                                      </p:tavLst>
                                    </p:anim>
                                    <p:animScale>
                                      <p:cBhvr>
                                        <p:cTn id="31" dur="26">
                                          <p:stCondLst>
                                            <p:cond delay="650"/>
                                          </p:stCondLst>
                                        </p:cTn>
                                        <p:tgtEl>
                                          <p:spTgt spid="62"/>
                                        </p:tgtEl>
                                      </p:cBhvr>
                                      <p:to x="100000" y="60000"/>
                                    </p:animScale>
                                    <p:animScale>
                                      <p:cBhvr>
                                        <p:cTn id="32" dur="166" decel="50000">
                                          <p:stCondLst>
                                            <p:cond delay="676"/>
                                          </p:stCondLst>
                                        </p:cTn>
                                        <p:tgtEl>
                                          <p:spTgt spid="62"/>
                                        </p:tgtEl>
                                      </p:cBhvr>
                                      <p:to x="100000" y="100000"/>
                                    </p:animScale>
                                    <p:animScale>
                                      <p:cBhvr>
                                        <p:cTn id="33" dur="26">
                                          <p:stCondLst>
                                            <p:cond delay="1312"/>
                                          </p:stCondLst>
                                        </p:cTn>
                                        <p:tgtEl>
                                          <p:spTgt spid="62"/>
                                        </p:tgtEl>
                                      </p:cBhvr>
                                      <p:to x="100000" y="80000"/>
                                    </p:animScale>
                                    <p:animScale>
                                      <p:cBhvr>
                                        <p:cTn id="34" dur="166" decel="50000">
                                          <p:stCondLst>
                                            <p:cond delay="1338"/>
                                          </p:stCondLst>
                                        </p:cTn>
                                        <p:tgtEl>
                                          <p:spTgt spid="62"/>
                                        </p:tgtEl>
                                      </p:cBhvr>
                                      <p:to x="100000" y="100000"/>
                                    </p:animScale>
                                    <p:animScale>
                                      <p:cBhvr>
                                        <p:cTn id="35" dur="26">
                                          <p:stCondLst>
                                            <p:cond delay="1642"/>
                                          </p:stCondLst>
                                        </p:cTn>
                                        <p:tgtEl>
                                          <p:spTgt spid="62"/>
                                        </p:tgtEl>
                                      </p:cBhvr>
                                      <p:to x="100000" y="90000"/>
                                    </p:animScale>
                                    <p:animScale>
                                      <p:cBhvr>
                                        <p:cTn id="36" dur="166" decel="50000">
                                          <p:stCondLst>
                                            <p:cond delay="1668"/>
                                          </p:stCondLst>
                                        </p:cTn>
                                        <p:tgtEl>
                                          <p:spTgt spid="62"/>
                                        </p:tgtEl>
                                      </p:cBhvr>
                                      <p:to x="100000" y="100000"/>
                                    </p:animScale>
                                    <p:animScale>
                                      <p:cBhvr>
                                        <p:cTn id="37" dur="26">
                                          <p:stCondLst>
                                            <p:cond delay="1808"/>
                                          </p:stCondLst>
                                        </p:cTn>
                                        <p:tgtEl>
                                          <p:spTgt spid="62"/>
                                        </p:tgtEl>
                                      </p:cBhvr>
                                      <p:to x="100000" y="95000"/>
                                    </p:animScale>
                                    <p:animScale>
                                      <p:cBhvr>
                                        <p:cTn id="38" dur="166" decel="50000">
                                          <p:stCondLst>
                                            <p:cond delay="1834"/>
                                          </p:stCondLst>
                                        </p:cTn>
                                        <p:tgtEl>
                                          <p:spTgt spid="6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矩形 4">
            <a:extLst>
              <a:ext uri="{FF2B5EF4-FFF2-40B4-BE49-F238E27FC236}">
                <a16:creationId xmlns:a16="http://schemas.microsoft.com/office/drawing/2014/main" id="{F7BC6320-1B0B-4471-8BC4-497DA828DF8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59395" name="灯片编号占位符 3">
            <a:extLst>
              <a:ext uri="{FF2B5EF4-FFF2-40B4-BE49-F238E27FC236}">
                <a16:creationId xmlns:a16="http://schemas.microsoft.com/office/drawing/2014/main" id="{D9E4E9A5-DA2B-460E-88E9-1FC9732AB4C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2287D0C-1B73-41C0-B126-5CDABDF7671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57</a:t>
            </a:fld>
            <a:endParaRPr lang="en-US" altLang="zh-CN" sz="1400">
              <a:solidFill>
                <a:srgbClr val="000000"/>
              </a:solidFill>
              <a:latin typeface="Arial" panose="020B0604020202020204" pitchFamily="34" charset="0"/>
            </a:endParaRPr>
          </a:p>
        </p:txBody>
      </p:sp>
      <p:sp>
        <p:nvSpPr>
          <p:cNvPr id="59396" name="TextBox 5">
            <a:extLst>
              <a:ext uri="{FF2B5EF4-FFF2-40B4-BE49-F238E27FC236}">
                <a16:creationId xmlns:a16="http://schemas.microsoft.com/office/drawing/2014/main" id="{34A07EC5-5522-4E76-A885-B6A53FEB92AA}"/>
              </a:ext>
            </a:extLst>
          </p:cNvPr>
          <p:cNvSpPr>
            <a:spLocks noChangeArrowheads="1"/>
          </p:cNvSpPr>
          <p:nvPr/>
        </p:nvSpPr>
        <p:spPr bwMode="auto">
          <a:xfrm>
            <a:off x="684213" y="260350"/>
            <a:ext cx="8135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半桥测量电路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(2)—R1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R2</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为应变电阻</a:t>
            </a:r>
            <a:endParaRPr lang="zh-CN" altLang="en-US" sz="1800">
              <a:latin typeface="黑体" panose="02010609060101010101" pitchFamily="49" charset="-122"/>
              <a:ea typeface="黑体" panose="02010609060101010101" pitchFamily="49" charset="-122"/>
            </a:endParaRPr>
          </a:p>
        </p:txBody>
      </p:sp>
      <p:sp>
        <p:nvSpPr>
          <p:cNvPr id="59397" name="Rectangle 5">
            <a:extLst>
              <a:ext uri="{FF2B5EF4-FFF2-40B4-BE49-F238E27FC236}">
                <a16:creationId xmlns:a16="http://schemas.microsoft.com/office/drawing/2014/main" id="{439B94B2-7AC1-4E8F-A428-CA2C79EFA272}"/>
              </a:ext>
            </a:extLst>
          </p:cNvPr>
          <p:cNvSpPr>
            <a:spLocks noChangeArrowheads="1"/>
          </p:cNvSpPr>
          <p:nvPr/>
        </p:nvSpPr>
        <p:spPr bwMode="auto">
          <a:xfrm>
            <a:off x="466725" y="1095375"/>
            <a:ext cx="8280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R1=R</a:t>
            </a:r>
            <a:r>
              <a:rPr lang="en-US" altLang="zh-CN" sz="2400">
                <a:solidFill>
                  <a:srgbClr val="FF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ΔR</a:t>
            </a:r>
            <a:r>
              <a:rPr lang="zh-CN" altLang="en-US"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R2=R</a:t>
            </a:r>
            <a:r>
              <a:rPr lang="en-US" altLang="zh-CN" sz="2400">
                <a:solidFill>
                  <a:srgbClr val="FF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ΔR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R3=R4=R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，计算输出和非线性误差（恒压激励）</a:t>
            </a:r>
            <a:endParaRPr lang="zh-CN" altLang="en-US" sz="1800">
              <a:latin typeface="微软雅黑" panose="020B0503020204020204" pitchFamily="34" charset="-122"/>
              <a:ea typeface="微软雅黑" panose="020B0503020204020204" pitchFamily="34" charset="-122"/>
            </a:endParaRPr>
          </a:p>
        </p:txBody>
      </p:sp>
      <p:grpSp>
        <p:nvGrpSpPr>
          <p:cNvPr id="59398" name="组合 58">
            <a:extLst>
              <a:ext uri="{FF2B5EF4-FFF2-40B4-BE49-F238E27FC236}">
                <a16:creationId xmlns:a16="http://schemas.microsoft.com/office/drawing/2014/main" id="{1CBC8F45-D141-4AD5-998F-D0022CBA3B10}"/>
              </a:ext>
            </a:extLst>
          </p:cNvPr>
          <p:cNvGrpSpPr>
            <a:grpSpLocks/>
          </p:cNvGrpSpPr>
          <p:nvPr/>
        </p:nvGrpSpPr>
        <p:grpSpPr bwMode="auto">
          <a:xfrm>
            <a:off x="4772025" y="3379788"/>
            <a:ext cx="3333750" cy="2943225"/>
            <a:chOff x="5788772" y="4460508"/>
            <a:chExt cx="2478087" cy="2201069"/>
          </a:xfrm>
        </p:grpSpPr>
        <p:grpSp>
          <p:nvGrpSpPr>
            <p:cNvPr id="59402" name="Group 5">
              <a:extLst>
                <a:ext uri="{FF2B5EF4-FFF2-40B4-BE49-F238E27FC236}">
                  <a16:creationId xmlns:a16="http://schemas.microsoft.com/office/drawing/2014/main" id="{2B19A812-4A7F-463D-A60A-1C666FCC2C12}"/>
                </a:ext>
              </a:extLst>
            </p:cNvPr>
            <p:cNvGrpSpPr>
              <a:grpSpLocks/>
            </p:cNvGrpSpPr>
            <p:nvPr/>
          </p:nvGrpSpPr>
          <p:grpSpPr bwMode="auto">
            <a:xfrm>
              <a:off x="5788772" y="4460508"/>
              <a:ext cx="2478087" cy="2201069"/>
              <a:chOff x="0" y="0"/>
              <a:chExt cx="2187" cy="2017"/>
            </a:xfrm>
          </p:grpSpPr>
          <p:grpSp>
            <p:nvGrpSpPr>
              <p:cNvPr id="59405" name="Group 6">
                <a:extLst>
                  <a:ext uri="{FF2B5EF4-FFF2-40B4-BE49-F238E27FC236}">
                    <a16:creationId xmlns:a16="http://schemas.microsoft.com/office/drawing/2014/main" id="{2CB64E24-26E5-41B5-948F-629CD5E16623}"/>
                  </a:ext>
                </a:extLst>
              </p:cNvPr>
              <p:cNvGrpSpPr>
                <a:grpSpLocks/>
              </p:cNvGrpSpPr>
              <p:nvPr/>
            </p:nvGrpSpPr>
            <p:grpSpPr bwMode="auto">
              <a:xfrm>
                <a:off x="223" y="243"/>
                <a:ext cx="733" cy="379"/>
                <a:chOff x="0" y="0"/>
                <a:chExt cx="1028" cy="565"/>
              </a:xfrm>
            </p:grpSpPr>
            <p:sp>
              <p:nvSpPr>
                <p:cNvPr id="59450" name="Rectangle 7">
                  <a:extLst>
                    <a:ext uri="{FF2B5EF4-FFF2-40B4-BE49-F238E27FC236}">
                      <a16:creationId xmlns:a16="http://schemas.microsoft.com/office/drawing/2014/main" id="{B7579B9C-5277-420D-A81E-1FEB36702C83}"/>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51" name="Line 8">
                  <a:extLst>
                    <a:ext uri="{FF2B5EF4-FFF2-40B4-BE49-F238E27FC236}">
                      <a16:creationId xmlns:a16="http://schemas.microsoft.com/office/drawing/2014/main" id="{3B10C00F-AE38-4301-BE73-2ABCC9EBC98E}"/>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52" name="Line 9">
                  <a:extLst>
                    <a:ext uri="{FF2B5EF4-FFF2-40B4-BE49-F238E27FC236}">
                      <a16:creationId xmlns:a16="http://schemas.microsoft.com/office/drawing/2014/main" id="{3B3B3546-6087-4683-8F32-07A249C4A48A}"/>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06" name="Group 10">
                <a:extLst>
                  <a:ext uri="{FF2B5EF4-FFF2-40B4-BE49-F238E27FC236}">
                    <a16:creationId xmlns:a16="http://schemas.microsoft.com/office/drawing/2014/main" id="{668D2531-60C2-4F00-B9D7-54527F784457}"/>
                  </a:ext>
                </a:extLst>
              </p:cNvPr>
              <p:cNvGrpSpPr>
                <a:grpSpLocks/>
              </p:cNvGrpSpPr>
              <p:nvPr/>
            </p:nvGrpSpPr>
            <p:grpSpPr bwMode="auto">
              <a:xfrm flipV="1">
                <a:off x="223" y="833"/>
                <a:ext cx="733" cy="380"/>
                <a:chOff x="0" y="0"/>
                <a:chExt cx="1028" cy="565"/>
              </a:xfrm>
            </p:grpSpPr>
            <p:sp>
              <p:nvSpPr>
                <p:cNvPr id="59447" name="Rectangle 11">
                  <a:extLst>
                    <a:ext uri="{FF2B5EF4-FFF2-40B4-BE49-F238E27FC236}">
                      <a16:creationId xmlns:a16="http://schemas.microsoft.com/office/drawing/2014/main" id="{EA9630DD-BF72-4895-B0A4-6B455F5B9055}"/>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48" name="Line 12">
                  <a:extLst>
                    <a:ext uri="{FF2B5EF4-FFF2-40B4-BE49-F238E27FC236}">
                      <a16:creationId xmlns:a16="http://schemas.microsoft.com/office/drawing/2014/main" id="{02083CDE-08AB-4246-BF9B-E68C432EC5C6}"/>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9" name="Line 13">
                  <a:extLst>
                    <a:ext uri="{FF2B5EF4-FFF2-40B4-BE49-F238E27FC236}">
                      <a16:creationId xmlns:a16="http://schemas.microsoft.com/office/drawing/2014/main" id="{014E56B8-E5E9-494B-BCE2-42BD5E8D0534}"/>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07" name="Group 14">
                <a:extLst>
                  <a:ext uri="{FF2B5EF4-FFF2-40B4-BE49-F238E27FC236}">
                    <a16:creationId xmlns:a16="http://schemas.microsoft.com/office/drawing/2014/main" id="{F163660F-F09B-40DD-B58C-6DEB04724E92}"/>
                  </a:ext>
                </a:extLst>
              </p:cNvPr>
              <p:cNvGrpSpPr>
                <a:grpSpLocks/>
              </p:cNvGrpSpPr>
              <p:nvPr/>
            </p:nvGrpSpPr>
            <p:grpSpPr bwMode="auto">
              <a:xfrm>
                <a:off x="870" y="833"/>
                <a:ext cx="733" cy="380"/>
                <a:chOff x="0" y="0"/>
                <a:chExt cx="1028" cy="565"/>
              </a:xfrm>
            </p:grpSpPr>
            <p:sp>
              <p:nvSpPr>
                <p:cNvPr id="59444" name="Rectangle 15">
                  <a:extLst>
                    <a:ext uri="{FF2B5EF4-FFF2-40B4-BE49-F238E27FC236}">
                      <a16:creationId xmlns:a16="http://schemas.microsoft.com/office/drawing/2014/main" id="{AED6D646-83EF-4A37-9DD9-9BBC6EBE1ABD}"/>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45" name="Line 16">
                  <a:extLst>
                    <a:ext uri="{FF2B5EF4-FFF2-40B4-BE49-F238E27FC236}">
                      <a16:creationId xmlns:a16="http://schemas.microsoft.com/office/drawing/2014/main" id="{56184E7A-2743-43FE-9116-CEECDBDCF9CB}"/>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6" name="Line 17">
                  <a:extLst>
                    <a:ext uri="{FF2B5EF4-FFF2-40B4-BE49-F238E27FC236}">
                      <a16:creationId xmlns:a16="http://schemas.microsoft.com/office/drawing/2014/main" id="{E7764713-9C0C-480A-88CF-89E3B64B78EE}"/>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9408" name="Group 18">
                <a:extLst>
                  <a:ext uri="{FF2B5EF4-FFF2-40B4-BE49-F238E27FC236}">
                    <a16:creationId xmlns:a16="http://schemas.microsoft.com/office/drawing/2014/main" id="{3C2A3051-677D-462F-81E4-582665DC259C}"/>
                  </a:ext>
                </a:extLst>
              </p:cNvPr>
              <p:cNvGrpSpPr>
                <a:grpSpLocks/>
              </p:cNvGrpSpPr>
              <p:nvPr/>
            </p:nvGrpSpPr>
            <p:grpSpPr bwMode="auto">
              <a:xfrm flipV="1">
                <a:off x="870" y="243"/>
                <a:ext cx="733" cy="379"/>
                <a:chOff x="0" y="0"/>
                <a:chExt cx="1028" cy="565"/>
              </a:xfrm>
            </p:grpSpPr>
            <p:sp>
              <p:nvSpPr>
                <p:cNvPr id="59441" name="Rectangle 19">
                  <a:extLst>
                    <a:ext uri="{FF2B5EF4-FFF2-40B4-BE49-F238E27FC236}">
                      <a16:creationId xmlns:a16="http://schemas.microsoft.com/office/drawing/2014/main" id="{6AC470CA-9DFD-42FB-9F23-B827EE7E0313}"/>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42" name="Line 20">
                  <a:extLst>
                    <a:ext uri="{FF2B5EF4-FFF2-40B4-BE49-F238E27FC236}">
                      <a16:creationId xmlns:a16="http://schemas.microsoft.com/office/drawing/2014/main" id="{6009B1C3-AD04-407E-9099-C4DCC2ED93AF}"/>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3" name="Line 21">
                  <a:extLst>
                    <a:ext uri="{FF2B5EF4-FFF2-40B4-BE49-F238E27FC236}">
                      <a16:creationId xmlns:a16="http://schemas.microsoft.com/office/drawing/2014/main" id="{327B11D1-B348-484A-889E-3AB0E2ED0B35}"/>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9409" name="Rectangle 22">
                <a:extLst>
                  <a:ext uri="{FF2B5EF4-FFF2-40B4-BE49-F238E27FC236}">
                    <a16:creationId xmlns:a16="http://schemas.microsoft.com/office/drawing/2014/main" id="{E703FF3C-B84D-49E8-BAF1-117B83B3CFB8}"/>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a:solidFill>
                      <a:srgbClr val="000000"/>
                    </a:solidFill>
                    <a:latin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10" name="Oval 23">
                <a:extLst>
                  <a:ext uri="{FF2B5EF4-FFF2-40B4-BE49-F238E27FC236}">
                    <a16:creationId xmlns:a16="http://schemas.microsoft.com/office/drawing/2014/main" id="{E87799A7-EB0C-4F55-9EF2-A4EAD309FE4B}"/>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1" name="Oval 24">
                <a:extLst>
                  <a:ext uri="{FF2B5EF4-FFF2-40B4-BE49-F238E27FC236}">
                    <a16:creationId xmlns:a16="http://schemas.microsoft.com/office/drawing/2014/main" id="{82E7FF59-C8D1-46C0-A16F-1F5936BF5681}"/>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2" name="Oval 25">
                <a:extLst>
                  <a:ext uri="{FF2B5EF4-FFF2-40B4-BE49-F238E27FC236}">
                    <a16:creationId xmlns:a16="http://schemas.microsoft.com/office/drawing/2014/main" id="{69E51D72-655C-4608-A801-CE7EA990E3D7}"/>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3" name="Oval 26">
                <a:extLst>
                  <a:ext uri="{FF2B5EF4-FFF2-40B4-BE49-F238E27FC236}">
                    <a16:creationId xmlns:a16="http://schemas.microsoft.com/office/drawing/2014/main" id="{7F3F0261-488E-4EC5-97D2-3AB9CE51BE0F}"/>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4" name="Freeform 27">
                <a:extLst>
                  <a:ext uri="{FF2B5EF4-FFF2-40B4-BE49-F238E27FC236}">
                    <a16:creationId xmlns:a16="http://schemas.microsoft.com/office/drawing/2014/main" id="{DA875E3A-AA49-4DE6-BF5F-68CC22681F8C}"/>
                  </a:ext>
                </a:extLst>
              </p:cNvPr>
              <p:cNvSpPr>
                <a:spLocks noChangeArrowheads="1"/>
              </p:cNvSpPr>
              <p:nvPr/>
            </p:nvSpPr>
            <p:spPr bwMode="auto">
              <a:xfrm>
                <a:off x="275" y="727"/>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5" name="Oval 28">
                <a:extLst>
                  <a:ext uri="{FF2B5EF4-FFF2-40B4-BE49-F238E27FC236}">
                    <a16:creationId xmlns:a16="http://schemas.microsoft.com/office/drawing/2014/main" id="{CCE25D06-8E27-45E2-8586-1E961A8D469B}"/>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6" name="Freeform 29">
                <a:extLst>
                  <a:ext uri="{FF2B5EF4-FFF2-40B4-BE49-F238E27FC236}">
                    <a16:creationId xmlns:a16="http://schemas.microsoft.com/office/drawing/2014/main" id="{50680087-BBB6-4CE0-AEAC-3A2F865BBE7F}"/>
                  </a:ext>
                </a:extLst>
              </p:cNvPr>
              <p:cNvSpPr>
                <a:spLocks noChangeArrowheads="1"/>
              </p:cNvSpPr>
              <p:nvPr/>
            </p:nvSpPr>
            <p:spPr bwMode="auto">
              <a:xfrm flipH="1">
                <a:off x="1034" y="725"/>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17" name="Oval 30">
                <a:extLst>
                  <a:ext uri="{FF2B5EF4-FFF2-40B4-BE49-F238E27FC236}">
                    <a16:creationId xmlns:a16="http://schemas.microsoft.com/office/drawing/2014/main" id="{3DD9E8BF-C30A-4553-BE37-45C9581AE024}"/>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18" name="Rectangle 31">
                <a:extLst>
                  <a:ext uri="{FF2B5EF4-FFF2-40B4-BE49-F238E27FC236}">
                    <a16:creationId xmlns:a16="http://schemas.microsoft.com/office/drawing/2014/main" id="{555F4F14-C4F4-4C74-8224-045AB0F416CB}"/>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59419" name="Rectangle 32">
                <a:extLst>
                  <a:ext uri="{FF2B5EF4-FFF2-40B4-BE49-F238E27FC236}">
                    <a16:creationId xmlns:a16="http://schemas.microsoft.com/office/drawing/2014/main" id="{7BFCF905-8D44-41C3-8CA4-FC9C5F6130B3}"/>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4</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0" name="Rectangle 33">
                <a:extLst>
                  <a:ext uri="{FF2B5EF4-FFF2-40B4-BE49-F238E27FC236}">
                    <a16:creationId xmlns:a16="http://schemas.microsoft.com/office/drawing/2014/main" id="{F2A60532-1831-441A-947F-D932CCDD34DB}"/>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1" name="Rectangle 34">
                <a:extLst>
                  <a:ext uri="{FF2B5EF4-FFF2-40B4-BE49-F238E27FC236}">
                    <a16:creationId xmlns:a16="http://schemas.microsoft.com/office/drawing/2014/main" id="{A5308123-DFAC-4A6C-82AD-8F4201B821C5}"/>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3</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2" name="Rectangle 35">
                <a:extLst>
                  <a:ext uri="{FF2B5EF4-FFF2-40B4-BE49-F238E27FC236}">
                    <a16:creationId xmlns:a16="http://schemas.microsoft.com/office/drawing/2014/main" id="{DBA31351-A098-4874-94B4-8ED817EA952B}"/>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E</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3" name="Rectangle 36">
                <a:extLst>
                  <a:ext uri="{FF2B5EF4-FFF2-40B4-BE49-F238E27FC236}">
                    <a16:creationId xmlns:a16="http://schemas.microsoft.com/office/drawing/2014/main" id="{9200E632-F376-474C-9E06-0EB0C3F90772}"/>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电桥线路原理图</a:t>
                </a: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24" name="Line 37">
                <a:extLst>
                  <a:ext uri="{FF2B5EF4-FFF2-40B4-BE49-F238E27FC236}">
                    <a16:creationId xmlns:a16="http://schemas.microsoft.com/office/drawing/2014/main" id="{00949CDC-6B6C-47D7-AE70-76C854E7EDE9}"/>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5" name="Line 38">
                <a:extLst>
                  <a:ext uri="{FF2B5EF4-FFF2-40B4-BE49-F238E27FC236}">
                    <a16:creationId xmlns:a16="http://schemas.microsoft.com/office/drawing/2014/main" id="{80947D81-2DB6-4828-A12E-41FFCECB569A}"/>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6" name="Rectangle 39">
                <a:extLst>
                  <a:ext uri="{FF2B5EF4-FFF2-40B4-BE49-F238E27FC236}">
                    <a16:creationId xmlns:a16="http://schemas.microsoft.com/office/drawing/2014/main" id="{335307D9-62A7-4920-A0C8-3A03EAB0ABC6}"/>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27" name="Line 40">
                <a:extLst>
                  <a:ext uri="{FF2B5EF4-FFF2-40B4-BE49-F238E27FC236}">
                    <a16:creationId xmlns:a16="http://schemas.microsoft.com/office/drawing/2014/main" id="{BC8EA6AF-5686-401B-8C6D-35DDD66CCCA6}"/>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28" name="Line 41">
                <a:extLst>
                  <a:ext uri="{FF2B5EF4-FFF2-40B4-BE49-F238E27FC236}">
                    <a16:creationId xmlns:a16="http://schemas.microsoft.com/office/drawing/2014/main" id="{2853D61F-1B87-4DEF-887D-762E9A69B07C}"/>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59429" name="Group 42">
                <a:extLst>
                  <a:ext uri="{FF2B5EF4-FFF2-40B4-BE49-F238E27FC236}">
                    <a16:creationId xmlns:a16="http://schemas.microsoft.com/office/drawing/2014/main" id="{2B276E05-D001-4355-984C-54D960136B31}"/>
                  </a:ext>
                </a:extLst>
              </p:cNvPr>
              <p:cNvGrpSpPr>
                <a:grpSpLocks/>
              </p:cNvGrpSpPr>
              <p:nvPr/>
            </p:nvGrpSpPr>
            <p:grpSpPr bwMode="auto">
              <a:xfrm>
                <a:off x="1849" y="617"/>
                <a:ext cx="202" cy="190"/>
                <a:chOff x="0" y="0"/>
                <a:chExt cx="283" cy="283"/>
              </a:xfrm>
            </p:grpSpPr>
            <p:sp>
              <p:nvSpPr>
                <p:cNvPr id="59439" name="Oval 43">
                  <a:extLst>
                    <a:ext uri="{FF2B5EF4-FFF2-40B4-BE49-F238E27FC236}">
                      <a16:creationId xmlns:a16="http://schemas.microsoft.com/office/drawing/2014/main" id="{160B17F2-ABB6-4CD4-94A4-2F7FFC43E7B4}"/>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40" name="Line 44">
                  <a:extLst>
                    <a:ext uri="{FF2B5EF4-FFF2-40B4-BE49-F238E27FC236}">
                      <a16:creationId xmlns:a16="http://schemas.microsoft.com/office/drawing/2014/main" id="{CD5F2F02-BDAD-4986-A255-B26A021AEC28}"/>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59430" name="Rectangle 45">
                <a:extLst>
                  <a:ext uri="{FF2B5EF4-FFF2-40B4-BE49-F238E27FC236}">
                    <a16:creationId xmlns:a16="http://schemas.microsoft.com/office/drawing/2014/main" id="{834A74FD-51AA-4040-9709-E048EFA536BB}"/>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1" name="Line 46">
                <a:extLst>
                  <a:ext uri="{FF2B5EF4-FFF2-40B4-BE49-F238E27FC236}">
                    <a16:creationId xmlns:a16="http://schemas.microsoft.com/office/drawing/2014/main" id="{7CF40A0E-85AE-4C72-A9A4-BA9464860C1C}"/>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2" name="Rectangle 47">
                <a:extLst>
                  <a:ext uri="{FF2B5EF4-FFF2-40B4-BE49-F238E27FC236}">
                    <a16:creationId xmlns:a16="http://schemas.microsoft.com/office/drawing/2014/main" id="{567DFA21-42B2-42A5-B147-65CFD7907C6C}"/>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A</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3" name="Rectangle 48">
                <a:extLst>
                  <a:ext uri="{FF2B5EF4-FFF2-40B4-BE49-F238E27FC236}">
                    <a16:creationId xmlns:a16="http://schemas.microsoft.com/office/drawing/2014/main" id="{8067EA40-A479-4DE1-8128-A47116D1134C}"/>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C</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4" name="Rectangle 49">
                <a:extLst>
                  <a:ext uri="{FF2B5EF4-FFF2-40B4-BE49-F238E27FC236}">
                    <a16:creationId xmlns:a16="http://schemas.microsoft.com/office/drawing/2014/main" id="{00966F02-64C0-4768-A58C-333BBDDCA316}"/>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D</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5" name="Line 50">
                <a:extLst>
                  <a:ext uri="{FF2B5EF4-FFF2-40B4-BE49-F238E27FC236}">
                    <a16:creationId xmlns:a16="http://schemas.microsoft.com/office/drawing/2014/main" id="{441D1357-06C6-4D06-9524-9B44875A1F16}"/>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6" name="Rectangle 51">
                <a:extLst>
                  <a:ext uri="{FF2B5EF4-FFF2-40B4-BE49-F238E27FC236}">
                    <a16:creationId xmlns:a16="http://schemas.microsoft.com/office/drawing/2014/main" id="{C1B7D0D0-0A3A-4E22-858D-75D9A27DCAE0}"/>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I</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59437" name="AutoShape 52">
                <a:extLst>
                  <a:ext uri="{FF2B5EF4-FFF2-40B4-BE49-F238E27FC236}">
                    <a16:creationId xmlns:a16="http://schemas.microsoft.com/office/drawing/2014/main" id="{5D57BB4D-3676-4E28-BD96-BBB713B4F2A2}"/>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59438" name="Rectangle 53">
                <a:extLst>
                  <a:ext uri="{FF2B5EF4-FFF2-40B4-BE49-F238E27FC236}">
                    <a16:creationId xmlns:a16="http://schemas.microsoft.com/office/drawing/2014/main" id="{91F5BD25-FE37-4936-8C6B-0CAC6B15B9E9}"/>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B</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grpSp>
        <p:cxnSp>
          <p:nvCxnSpPr>
            <p:cNvPr id="59403" name="直接箭头连接符 5">
              <a:extLst>
                <a:ext uri="{FF2B5EF4-FFF2-40B4-BE49-F238E27FC236}">
                  <a16:creationId xmlns:a16="http://schemas.microsoft.com/office/drawing/2014/main" id="{DBCB329C-81BC-4DE6-B33F-CDCE8717F853}"/>
                </a:ext>
              </a:extLst>
            </p:cNvPr>
            <p:cNvCxnSpPr>
              <a:cxnSpLocks noChangeShapeType="1"/>
            </p:cNvCxnSpPr>
            <p:nvPr/>
          </p:nvCxnSpPr>
          <p:spPr bwMode="auto">
            <a:xfrm flipV="1">
              <a:off x="6459562" y="4666756"/>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9404" name="直接箭头连接符 61">
              <a:extLst>
                <a:ext uri="{FF2B5EF4-FFF2-40B4-BE49-F238E27FC236}">
                  <a16:creationId xmlns:a16="http://schemas.microsoft.com/office/drawing/2014/main" id="{5BF24A8C-1D7C-4658-9B09-C0DC150E5EFB}"/>
                </a:ext>
              </a:extLst>
            </p:cNvPr>
            <p:cNvCxnSpPr>
              <a:cxnSpLocks noChangeShapeType="1"/>
            </p:cNvCxnSpPr>
            <p:nvPr/>
          </p:nvCxnSpPr>
          <p:spPr bwMode="auto">
            <a:xfrm>
              <a:off x="7182750" y="4666756"/>
              <a:ext cx="0" cy="496365"/>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grpSp>
      <p:graphicFrame>
        <p:nvGraphicFramePr>
          <p:cNvPr id="59399" name="对象 1">
            <a:hlinkClick r:id="" action="ppaction://ole?verb=1"/>
            <a:extLst>
              <a:ext uri="{FF2B5EF4-FFF2-40B4-BE49-F238E27FC236}">
                <a16:creationId xmlns:a16="http://schemas.microsoft.com/office/drawing/2014/main" id="{8537572E-E53A-43FB-B29B-44FD4DE4F0B8}"/>
              </a:ext>
            </a:extLst>
          </p:cNvPr>
          <p:cNvGraphicFramePr>
            <a:graphicFrameLocks noChangeAspect="1"/>
          </p:cNvGraphicFramePr>
          <p:nvPr/>
        </p:nvGraphicFramePr>
        <p:xfrm>
          <a:off x="4114800" y="3321050"/>
          <a:ext cx="914400" cy="215900"/>
        </p:xfrm>
        <a:graphic>
          <a:graphicData uri="http://schemas.openxmlformats.org/presentationml/2006/ole">
            <mc:AlternateContent xmlns:mc="http://schemas.openxmlformats.org/markup-compatibility/2006">
              <mc:Choice xmlns:v="urn:schemas-microsoft-com:vml" Requires="v">
                <p:oleObj spid="_x0000_s59599" r:id="rId3" imgW="914760" imgH="215725" progId="Equation.KSEE3">
                  <p:embed/>
                </p:oleObj>
              </mc:Choice>
              <mc:Fallback>
                <p:oleObj r:id="rId3" imgW="914760" imgH="215725" progId="Equation.KSEE3">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321050"/>
                        <a:ext cx="9144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9400" name="对象 2">
            <a:hlinkClick r:id="" action="ppaction://ole?verb=1"/>
            <a:extLst>
              <a:ext uri="{FF2B5EF4-FFF2-40B4-BE49-F238E27FC236}">
                <a16:creationId xmlns:a16="http://schemas.microsoft.com/office/drawing/2014/main" id="{79F6A010-46ED-439E-81EF-5F18DAE22A4C}"/>
              </a:ext>
            </a:extLst>
          </p:cNvPr>
          <p:cNvGraphicFramePr>
            <a:graphicFrameLocks noChangeAspect="1"/>
          </p:cNvGraphicFramePr>
          <p:nvPr/>
        </p:nvGraphicFramePr>
        <p:xfrm>
          <a:off x="1331913" y="2095500"/>
          <a:ext cx="4144962" cy="3062288"/>
        </p:xfrm>
        <a:graphic>
          <a:graphicData uri="http://schemas.openxmlformats.org/presentationml/2006/ole">
            <mc:AlternateContent xmlns:mc="http://schemas.openxmlformats.org/markup-compatibility/2006">
              <mc:Choice xmlns:v="urn:schemas-microsoft-com:vml" Requires="v">
                <p:oleObj spid="_x0000_s59600" r:id="rId5" imgW="2247840" imgH="1904760" progId="Equation.KSEE3">
                  <p:embed/>
                </p:oleObj>
              </mc:Choice>
              <mc:Fallback>
                <p:oleObj r:id="rId5" imgW="2247840" imgH="1904760" progId="Equation.KSEE3">
                  <p:embed/>
                  <p:pic>
                    <p:nvPicPr>
                      <p:cNvPr id="0" name="对象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2095500"/>
                        <a:ext cx="4144962"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0" name="矩形 59">
            <a:extLst>
              <a:ext uri="{FF2B5EF4-FFF2-40B4-BE49-F238E27FC236}">
                <a16:creationId xmlns:a16="http://schemas.microsoft.com/office/drawing/2014/main" id="{B224236D-D376-4897-A56B-CE1B15489AC2}"/>
              </a:ext>
            </a:extLst>
          </p:cNvPr>
          <p:cNvSpPr>
            <a:spLocks noChangeArrowheads="1"/>
          </p:cNvSpPr>
          <p:nvPr/>
        </p:nvSpPr>
        <p:spPr bwMode="auto">
          <a:xfrm>
            <a:off x="1671638" y="5140325"/>
            <a:ext cx="35401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更牛：恒压源驱动</a:t>
            </a:r>
            <a:endParaRPr lang="en-US" altLang="zh-CN" sz="2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但没有非线性误差！</a:t>
            </a:r>
            <a:endParaRPr lang="zh-CN" altLang="en-US" sz="2800">
              <a:solidFill>
                <a:srgbClr val="00B0F0"/>
              </a:solidFill>
              <a:cs typeface="Times New Roman" panose="02020603050405020304" pitchFamily="18" charset="0"/>
            </a:endParaRPr>
          </a:p>
        </p:txBody>
      </p:sp>
      <p:pic>
        <p:nvPicPr>
          <p:cNvPr id="61" name="图形 60" descr="竖起的大拇指手势 ">
            <a:extLst>
              <a:ext uri="{FF2B5EF4-FFF2-40B4-BE49-F238E27FC236}">
                <a16:creationId xmlns:a16="http://schemas.microsoft.com/office/drawing/2014/main" id="{DA3BBF0A-92A7-4F63-8171-78142300328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19416" y="5186290"/>
            <a:ext cx="914400" cy="9144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down)">
                                      <p:cBhvr>
                                        <p:cTn id="7" dur="580">
                                          <p:stCondLst>
                                            <p:cond delay="0"/>
                                          </p:stCondLst>
                                        </p:cTn>
                                        <p:tgtEl>
                                          <p:spTgt spid="60"/>
                                        </p:tgtEl>
                                      </p:cBhvr>
                                    </p:animEffect>
                                    <p:anim calcmode="lin" valueType="num">
                                      <p:cBhvr>
                                        <p:cTn id="8" dur="1822" tmFilter="0,0; 0.14,0.36; 0.43,0.73; 0.71,0.91; 1.0,1.0">
                                          <p:stCondLst>
                                            <p:cond delay="0"/>
                                          </p:stCondLst>
                                        </p:cTn>
                                        <p:tgtEl>
                                          <p:spTgt spid="6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0"/>
                                        </p:tgtEl>
                                        <p:attrNameLst>
                                          <p:attrName>ppt_y</p:attrName>
                                        </p:attrNameLst>
                                      </p:cBhvr>
                                      <p:tavLst>
                                        <p:tav tm="0" fmla="#ppt_y-sin(pi*$)/81">
                                          <p:val>
                                            <p:fltVal val="0"/>
                                          </p:val>
                                        </p:tav>
                                        <p:tav tm="100000">
                                          <p:val>
                                            <p:fltVal val="1"/>
                                          </p:val>
                                        </p:tav>
                                      </p:tavLst>
                                    </p:anim>
                                    <p:animScale>
                                      <p:cBhvr>
                                        <p:cTn id="13" dur="26">
                                          <p:stCondLst>
                                            <p:cond delay="650"/>
                                          </p:stCondLst>
                                        </p:cTn>
                                        <p:tgtEl>
                                          <p:spTgt spid="60"/>
                                        </p:tgtEl>
                                      </p:cBhvr>
                                      <p:to x="100000" y="60000"/>
                                    </p:animScale>
                                    <p:animScale>
                                      <p:cBhvr>
                                        <p:cTn id="14" dur="166" decel="50000">
                                          <p:stCondLst>
                                            <p:cond delay="676"/>
                                          </p:stCondLst>
                                        </p:cTn>
                                        <p:tgtEl>
                                          <p:spTgt spid="60"/>
                                        </p:tgtEl>
                                      </p:cBhvr>
                                      <p:to x="100000" y="100000"/>
                                    </p:animScale>
                                    <p:animScale>
                                      <p:cBhvr>
                                        <p:cTn id="15" dur="26">
                                          <p:stCondLst>
                                            <p:cond delay="1312"/>
                                          </p:stCondLst>
                                        </p:cTn>
                                        <p:tgtEl>
                                          <p:spTgt spid="60"/>
                                        </p:tgtEl>
                                      </p:cBhvr>
                                      <p:to x="100000" y="80000"/>
                                    </p:animScale>
                                    <p:animScale>
                                      <p:cBhvr>
                                        <p:cTn id="16" dur="166" decel="50000">
                                          <p:stCondLst>
                                            <p:cond delay="1338"/>
                                          </p:stCondLst>
                                        </p:cTn>
                                        <p:tgtEl>
                                          <p:spTgt spid="60"/>
                                        </p:tgtEl>
                                      </p:cBhvr>
                                      <p:to x="100000" y="100000"/>
                                    </p:animScale>
                                    <p:animScale>
                                      <p:cBhvr>
                                        <p:cTn id="17" dur="26">
                                          <p:stCondLst>
                                            <p:cond delay="1642"/>
                                          </p:stCondLst>
                                        </p:cTn>
                                        <p:tgtEl>
                                          <p:spTgt spid="60"/>
                                        </p:tgtEl>
                                      </p:cBhvr>
                                      <p:to x="100000" y="90000"/>
                                    </p:animScale>
                                    <p:animScale>
                                      <p:cBhvr>
                                        <p:cTn id="18" dur="166" decel="50000">
                                          <p:stCondLst>
                                            <p:cond delay="1668"/>
                                          </p:stCondLst>
                                        </p:cTn>
                                        <p:tgtEl>
                                          <p:spTgt spid="60"/>
                                        </p:tgtEl>
                                      </p:cBhvr>
                                      <p:to x="100000" y="100000"/>
                                    </p:animScale>
                                    <p:animScale>
                                      <p:cBhvr>
                                        <p:cTn id="19" dur="26">
                                          <p:stCondLst>
                                            <p:cond delay="1808"/>
                                          </p:stCondLst>
                                        </p:cTn>
                                        <p:tgtEl>
                                          <p:spTgt spid="60"/>
                                        </p:tgtEl>
                                      </p:cBhvr>
                                      <p:to x="100000" y="95000"/>
                                    </p:animScale>
                                    <p:animScale>
                                      <p:cBhvr>
                                        <p:cTn id="20" dur="166" decel="50000">
                                          <p:stCondLst>
                                            <p:cond delay="1834"/>
                                          </p:stCondLst>
                                        </p:cTn>
                                        <p:tgtEl>
                                          <p:spTgt spid="60"/>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61"/>
                                        </p:tgtEl>
                                        <p:attrNameLst>
                                          <p:attrName>style.visibility</p:attrName>
                                        </p:attrNameLst>
                                      </p:cBhvr>
                                      <p:to>
                                        <p:strVal val="visible"/>
                                      </p:to>
                                    </p:set>
                                    <p:animEffect transition="in" filter="wipe(down)">
                                      <p:cBhvr>
                                        <p:cTn id="23" dur="580">
                                          <p:stCondLst>
                                            <p:cond delay="0"/>
                                          </p:stCondLst>
                                        </p:cTn>
                                        <p:tgtEl>
                                          <p:spTgt spid="61"/>
                                        </p:tgtEl>
                                      </p:cBhvr>
                                    </p:animEffect>
                                    <p:anim calcmode="lin" valueType="num">
                                      <p:cBhvr>
                                        <p:cTn id="24" dur="1822" tmFilter="0,0; 0.14,0.36; 0.43,0.73; 0.71,0.91; 1.0,1.0">
                                          <p:stCondLst>
                                            <p:cond delay="0"/>
                                          </p:stCondLst>
                                        </p:cTn>
                                        <p:tgtEl>
                                          <p:spTgt spid="61"/>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1"/>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1"/>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1"/>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1"/>
                                        </p:tgtEl>
                                        <p:attrNameLst>
                                          <p:attrName>ppt_y</p:attrName>
                                        </p:attrNameLst>
                                      </p:cBhvr>
                                      <p:tavLst>
                                        <p:tav tm="0" fmla="#ppt_y-sin(pi*$)/81">
                                          <p:val>
                                            <p:fltVal val="0"/>
                                          </p:val>
                                        </p:tav>
                                        <p:tav tm="100000">
                                          <p:val>
                                            <p:fltVal val="1"/>
                                          </p:val>
                                        </p:tav>
                                      </p:tavLst>
                                    </p:anim>
                                    <p:animScale>
                                      <p:cBhvr>
                                        <p:cTn id="29" dur="26">
                                          <p:stCondLst>
                                            <p:cond delay="650"/>
                                          </p:stCondLst>
                                        </p:cTn>
                                        <p:tgtEl>
                                          <p:spTgt spid="61"/>
                                        </p:tgtEl>
                                      </p:cBhvr>
                                      <p:to x="100000" y="60000"/>
                                    </p:animScale>
                                    <p:animScale>
                                      <p:cBhvr>
                                        <p:cTn id="30" dur="166" decel="50000">
                                          <p:stCondLst>
                                            <p:cond delay="676"/>
                                          </p:stCondLst>
                                        </p:cTn>
                                        <p:tgtEl>
                                          <p:spTgt spid="61"/>
                                        </p:tgtEl>
                                      </p:cBhvr>
                                      <p:to x="100000" y="100000"/>
                                    </p:animScale>
                                    <p:animScale>
                                      <p:cBhvr>
                                        <p:cTn id="31" dur="26">
                                          <p:stCondLst>
                                            <p:cond delay="1312"/>
                                          </p:stCondLst>
                                        </p:cTn>
                                        <p:tgtEl>
                                          <p:spTgt spid="61"/>
                                        </p:tgtEl>
                                      </p:cBhvr>
                                      <p:to x="100000" y="80000"/>
                                    </p:animScale>
                                    <p:animScale>
                                      <p:cBhvr>
                                        <p:cTn id="32" dur="166" decel="50000">
                                          <p:stCondLst>
                                            <p:cond delay="1338"/>
                                          </p:stCondLst>
                                        </p:cTn>
                                        <p:tgtEl>
                                          <p:spTgt spid="61"/>
                                        </p:tgtEl>
                                      </p:cBhvr>
                                      <p:to x="100000" y="100000"/>
                                    </p:animScale>
                                    <p:animScale>
                                      <p:cBhvr>
                                        <p:cTn id="33" dur="26">
                                          <p:stCondLst>
                                            <p:cond delay="1642"/>
                                          </p:stCondLst>
                                        </p:cTn>
                                        <p:tgtEl>
                                          <p:spTgt spid="61"/>
                                        </p:tgtEl>
                                      </p:cBhvr>
                                      <p:to x="100000" y="90000"/>
                                    </p:animScale>
                                    <p:animScale>
                                      <p:cBhvr>
                                        <p:cTn id="34" dur="166" decel="50000">
                                          <p:stCondLst>
                                            <p:cond delay="1668"/>
                                          </p:stCondLst>
                                        </p:cTn>
                                        <p:tgtEl>
                                          <p:spTgt spid="61"/>
                                        </p:tgtEl>
                                      </p:cBhvr>
                                      <p:to x="100000" y="100000"/>
                                    </p:animScale>
                                    <p:animScale>
                                      <p:cBhvr>
                                        <p:cTn id="35" dur="26">
                                          <p:stCondLst>
                                            <p:cond delay="1808"/>
                                          </p:stCondLst>
                                        </p:cTn>
                                        <p:tgtEl>
                                          <p:spTgt spid="61"/>
                                        </p:tgtEl>
                                      </p:cBhvr>
                                      <p:to x="100000" y="95000"/>
                                    </p:animScale>
                                    <p:animScale>
                                      <p:cBhvr>
                                        <p:cTn id="36" dur="166" decel="50000">
                                          <p:stCondLst>
                                            <p:cond delay="1834"/>
                                          </p:stCondLst>
                                        </p:cTn>
                                        <p:tgtEl>
                                          <p:spTgt spid="61"/>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4">
            <a:extLst>
              <a:ext uri="{FF2B5EF4-FFF2-40B4-BE49-F238E27FC236}">
                <a16:creationId xmlns:a16="http://schemas.microsoft.com/office/drawing/2014/main" id="{A12055A0-0878-4474-96A0-189FC47FBE0E}"/>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0419" name="灯片编号占位符 3">
            <a:extLst>
              <a:ext uri="{FF2B5EF4-FFF2-40B4-BE49-F238E27FC236}">
                <a16:creationId xmlns:a16="http://schemas.microsoft.com/office/drawing/2014/main" id="{095B3AB7-800E-4E12-B8CE-8C61DE4BF15A}"/>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AE05C0A8-2EE6-4C2D-A384-9894317DC3C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58</a:t>
            </a:fld>
            <a:endParaRPr lang="en-US" altLang="zh-CN" sz="1400">
              <a:solidFill>
                <a:srgbClr val="000000"/>
              </a:solidFill>
              <a:latin typeface="Arial" panose="020B0604020202020204" pitchFamily="34" charset="0"/>
            </a:endParaRPr>
          </a:p>
        </p:txBody>
      </p:sp>
      <p:sp>
        <p:nvSpPr>
          <p:cNvPr id="60420" name="TextBox 5">
            <a:extLst>
              <a:ext uri="{FF2B5EF4-FFF2-40B4-BE49-F238E27FC236}">
                <a16:creationId xmlns:a16="http://schemas.microsoft.com/office/drawing/2014/main" id="{203912AF-DFA8-49A3-9CD4-FFC2F530C27E}"/>
              </a:ext>
            </a:extLst>
          </p:cNvPr>
          <p:cNvSpPr>
            <a:spLocks noChangeArrowheads="1"/>
          </p:cNvSpPr>
          <p:nvPr/>
        </p:nvSpPr>
        <p:spPr bwMode="auto">
          <a:xfrm>
            <a:off x="684213" y="260350"/>
            <a:ext cx="8064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.3</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半桥测量电路</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(3)—R1</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a:t>
            </a:r>
            <a:r>
              <a:rPr lang="en-US" altLang="zh-CN" b="1">
                <a:solidFill>
                  <a:srgbClr val="CC0000"/>
                </a:solidFill>
                <a:latin typeface="黑体" panose="02010609060101010101" pitchFamily="49" charset="-122"/>
                <a:ea typeface="黑体" panose="02010609060101010101" pitchFamily="49" charset="-122"/>
                <a:sym typeface="楷体_GB2312" pitchFamily="49" charset="-122"/>
              </a:rPr>
              <a:t>R4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为应变电阻</a:t>
            </a:r>
            <a:endParaRPr lang="zh-CN" altLang="en-US">
              <a:latin typeface="黑体" panose="02010609060101010101" pitchFamily="49" charset="-122"/>
              <a:ea typeface="黑体" panose="02010609060101010101" pitchFamily="49" charset="-122"/>
            </a:endParaRPr>
          </a:p>
        </p:txBody>
      </p:sp>
      <p:grpSp>
        <p:nvGrpSpPr>
          <p:cNvPr id="60421" name="组合 1">
            <a:extLst>
              <a:ext uri="{FF2B5EF4-FFF2-40B4-BE49-F238E27FC236}">
                <a16:creationId xmlns:a16="http://schemas.microsoft.com/office/drawing/2014/main" id="{8275B40B-B179-4D23-A705-468BB5AA3B89}"/>
              </a:ext>
            </a:extLst>
          </p:cNvPr>
          <p:cNvGrpSpPr>
            <a:grpSpLocks/>
          </p:cNvGrpSpPr>
          <p:nvPr/>
        </p:nvGrpSpPr>
        <p:grpSpPr bwMode="auto">
          <a:xfrm>
            <a:off x="5709895" y="3258680"/>
            <a:ext cx="2820193" cy="2545898"/>
            <a:chOff x="5788772" y="4460508"/>
            <a:chExt cx="2478087" cy="2201069"/>
          </a:xfrm>
        </p:grpSpPr>
        <p:grpSp>
          <p:nvGrpSpPr>
            <p:cNvPr id="60425" name="Group 5">
              <a:extLst>
                <a:ext uri="{FF2B5EF4-FFF2-40B4-BE49-F238E27FC236}">
                  <a16:creationId xmlns:a16="http://schemas.microsoft.com/office/drawing/2014/main" id="{7E7C8A13-D0B5-42FB-84E9-0FFA0F69ADFA}"/>
                </a:ext>
              </a:extLst>
            </p:cNvPr>
            <p:cNvGrpSpPr>
              <a:grpSpLocks/>
            </p:cNvGrpSpPr>
            <p:nvPr/>
          </p:nvGrpSpPr>
          <p:grpSpPr bwMode="auto">
            <a:xfrm>
              <a:off x="5788772" y="4460508"/>
              <a:ext cx="2478087" cy="2201069"/>
              <a:chOff x="0" y="0"/>
              <a:chExt cx="2187" cy="2017"/>
            </a:xfrm>
          </p:grpSpPr>
          <p:grpSp>
            <p:nvGrpSpPr>
              <p:cNvPr id="60428" name="Group 6">
                <a:extLst>
                  <a:ext uri="{FF2B5EF4-FFF2-40B4-BE49-F238E27FC236}">
                    <a16:creationId xmlns:a16="http://schemas.microsoft.com/office/drawing/2014/main" id="{06B6F57E-3C50-475F-845B-4533F234AC40}"/>
                  </a:ext>
                </a:extLst>
              </p:cNvPr>
              <p:cNvGrpSpPr>
                <a:grpSpLocks/>
              </p:cNvGrpSpPr>
              <p:nvPr/>
            </p:nvGrpSpPr>
            <p:grpSpPr bwMode="auto">
              <a:xfrm>
                <a:off x="223" y="243"/>
                <a:ext cx="733" cy="379"/>
                <a:chOff x="0" y="0"/>
                <a:chExt cx="1028" cy="565"/>
              </a:xfrm>
            </p:grpSpPr>
            <p:sp>
              <p:nvSpPr>
                <p:cNvPr id="60473" name="Rectangle 7">
                  <a:extLst>
                    <a:ext uri="{FF2B5EF4-FFF2-40B4-BE49-F238E27FC236}">
                      <a16:creationId xmlns:a16="http://schemas.microsoft.com/office/drawing/2014/main" id="{8B0DA1E9-9372-4052-9528-FB69B9782848}"/>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74" name="Line 8">
                  <a:extLst>
                    <a:ext uri="{FF2B5EF4-FFF2-40B4-BE49-F238E27FC236}">
                      <a16:creationId xmlns:a16="http://schemas.microsoft.com/office/drawing/2014/main" id="{4DB2D5B4-7A13-4FB5-B35B-BE8D2AED263D}"/>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75" name="Line 9">
                  <a:extLst>
                    <a:ext uri="{FF2B5EF4-FFF2-40B4-BE49-F238E27FC236}">
                      <a16:creationId xmlns:a16="http://schemas.microsoft.com/office/drawing/2014/main" id="{4998B313-D625-4584-A73C-27F2480BC5AB}"/>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29" name="Group 10">
                <a:extLst>
                  <a:ext uri="{FF2B5EF4-FFF2-40B4-BE49-F238E27FC236}">
                    <a16:creationId xmlns:a16="http://schemas.microsoft.com/office/drawing/2014/main" id="{4845CAA9-3F1A-4C9A-B7D8-0963248E0887}"/>
                  </a:ext>
                </a:extLst>
              </p:cNvPr>
              <p:cNvGrpSpPr>
                <a:grpSpLocks/>
              </p:cNvGrpSpPr>
              <p:nvPr/>
            </p:nvGrpSpPr>
            <p:grpSpPr bwMode="auto">
              <a:xfrm flipV="1">
                <a:off x="223" y="833"/>
                <a:ext cx="733" cy="380"/>
                <a:chOff x="0" y="0"/>
                <a:chExt cx="1028" cy="565"/>
              </a:xfrm>
            </p:grpSpPr>
            <p:sp>
              <p:nvSpPr>
                <p:cNvPr id="60470" name="Rectangle 11">
                  <a:extLst>
                    <a:ext uri="{FF2B5EF4-FFF2-40B4-BE49-F238E27FC236}">
                      <a16:creationId xmlns:a16="http://schemas.microsoft.com/office/drawing/2014/main" id="{0AB11612-50E7-4338-9A74-02DBB30527D6}"/>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71" name="Line 12">
                  <a:extLst>
                    <a:ext uri="{FF2B5EF4-FFF2-40B4-BE49-F238E27FC236}">
                      <a16:creationId xmlns:a16="http://schemas.microsoft.com/office/drawing/2014/main" id="{845433E1-84FD-4730-B35F-242CECC66726}"/>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72" name="Line 13">
                  <a:extLst>
                    <a:ext uri="{FF2B5EF4-FFF2-40B4-BE49-F238E27FC236}">
                      <a16:creationId xmlns:a16="http://schemas.microsoft.com/office/drawing/2014/main" id="{328C31A2-93C8-433A-B675-A8A2A14708AB}"/>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30" name="Group 14">
                <a:extLst>
                  <a:ext uri="{FF2B5EF4-FFF2-40B4-BE49-F238E27FC236}">
                    <a16:creationId xmlns:a16="http://schemas.microsoft.com/office/drawing/2014/main" id="{E35510FA-717F-4EB1-A634-DDE2289D7AB4}"/>
                  </a:ext>
                </a:extLst>
              </p:cNvPr>
              <p:cNvGrpSpPr>
                <a:grpSpLocks/>
              </p:cNvGrpSpPr>
              <p:nvPr/>
            </p:nvGrpSpPr>
            <p:grpSpPr bwMode="auto">
              <a:xfrm>
                <a:off x="870" y="833"/>
                <a:ext cx="733" cy="380"/>
                <a:chOff x="0" y="0"/>
                <a:chExt cx="1028" cy="565"/>
              </a:xfrm>
            </p:grpSpPr>
            <p:sp>
              <p:nvSpPr>
                <p:cNvPr id="60467" name="Rectangle 15">
                  <a:extLst>
                    <a:ext uri="{FF2B5EF4-FFF2-40B4-BE49-F238E27FC236}">
                      <a16:creationId xmlns:a16="http://schemas.microsoft.com/office/drawing/2014/main" id="{65E824BB-D40E-4EA4-B2B6-04CEF0AA2E84}"/>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68" name="Line 16">
                  <a:extLst>
                    <a:ext uri="{FF2B5EF4-FFF2-40B4-BE49-F238E27FC236}">
                      <a16:creationId xmlns:a16="http://schemas.microsoft.com/office/drawing/2014/main" id="{6D17520C-5380-42CC-98D0-415513D811D8}"/>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69" name="Line 17">
                  <a:extLst>
                    <a:ext uri="{FF2B5EF4-FFF2-40B4-BE49-F238E27FC236}">
                      <a16:creationId xmlns:a16="http://schemas.microsoft.com/office/drawing/2014/main" id="{15259851-98D1-4926-B54B-E3972DB65FBE}"/>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0431" name="Group 18">
                <a:extLst>
                  <a:ext uri="{FF2B5EF4-FFF2-40B4-BE49-F238E27FC236}">
                    <a16:creationId xmlns:a16="http://schemas.microsoft.com/office/drawing/2014/main" id="{659EDF58-98F1-4078-8E9E-04E96D16C311}"/>
                  </a:ext>
                </a:extLst>
              </p:cNvPr>
              <p:cNvGrpSpPr>
                <a:grpSpLocks/>
              </p:cNvGrpSpPr>
              <p:nvPr/>
            </p:nvGrpSpPr>
            <p:grpSpPr bwMode="auto">
              <a:xfrm flipV="1">
                <a:off x="870" y="243"/>
                <a:ext cx="733" cy="379"/>
                <a:chOff x="0" y="0"/>
                <a:chExt cx="1028" cy="565"/>
              </a:xfrm>
            </p:grpSpPr>
            <p:sp>
              <p:nvSpPr>
                <p:cNvPr id="60464" name="Rectangle 19">
                  <a:extLst>
                    <a:ext uri="{FF2B5EF4-FFF2-40B4-BE49-F238E27FC236}">
                      <a16:creationId xmlns:a16="http://schemas.microsoft.com/office/drawing/2014/main" id="{93A9CB42-0E3F-4A18-9FD7-43E989675A1A}"/>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65" name="Line 20">
                  <a:extLst>
                    <a:ext uri="{FF2B5EF4-FFF2-40B4-BE49-F238E27FC236}">
                      <a16:creationId xmlns:a16="http://schemas.microsoft.com/office/drawing/2014/main" id="{C1EA918D-F7D1-4EBA-803B-0C8C1F50F086}"/>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66" name="Line 21">
                  <a:extLst>
                    <a:ext uri="{FF2B5EF4-FFF2-40B4-BE49-F238E27FC236}">
                      <a16:creationId xmlns:a16="http://schemas.microsoft.com/office/drawing/2014/main" id="{90F16C08-7BF7-4C4B-AD34-19E72C56572A}"/>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0432" name="Rectangle 22">
                <a:extLst>
                  <a:ext uri="{FF2B5EF4-FFF2-40B4-BE49-F238E27FC236}">
                    <a16:creationId xmlns:a16="http://schemas.microsoft.com/office/drawing/2014/main" id="{A7E829A7-ECD5-4E77-81C3-20D92AAED543}"/>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a:solidFill>
                      <a:srgbClr val="000000"/>
                    </a:solidFill>
                    <a:latin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33" name="Oval 23">
                <a:extLst>
                  <a:ext uri="{FF2B5EF4-FFF2-40B4-BE49-F238E27FC236}">
                    <a16:creationId xmlns:a16="http://schemas.microsoft.com/office/drawing/2014/main" id="{7ABB4A7D-9D6B-4C82-8784-9AAEA7510332}"/>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4" name="Oval 24">
                <a:extLst>
                  <a:ext uri="{FF2B5EF4-FFF2-40B4-BE49-F238E27FC236}">
                    <a16:creationId xmlns:a16="http://schemas.microsoft.com/office/drawing/2014/main" id="{FBB1403F-BF6D-41D2-AD7A-0C9B26EB672B}"/>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5" name="Oval 25">
                <a:extLst>
                  <a:ext uri="{FF2B5EF4-FFF2-40B4-BE49-F238E27FC236}">
                    <a16:creationId xmlns:a16="http://schemas.microsoft.com/office/drawing/2014/main" id="{47B594EE-ADA5-46A2-B343-9004314A8DB0}"/>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6" name="Oval 26">
                <a:extLst>
                  <a:ext uri="{FF2B5EF4-FFF2-40B4-BE49-F238E27FC236}">
                    <a16:creationId xmlns:a16="http://schemas.microsoft.com/office/drawing/2014/main" id="{C2B52A06-D083-4A53-A5D9-8349BDC3D34B}"/>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7" name="Freeform 27">
                <a:extLst>
                  <a:ext uri="{FF2B5EF4-FFF2-40B4-BE49-F238E27FC236}">
                    <a16:creationId xmlns:a16="http://schemas.microsoft.com/office/drawing/2014/main" id="{F111B293-CB45-47F8-AA6C-F9C327E34A87}"/>
                  </a:ext>
                </a:extLst>
              </p:cNvPr>
              <p:cNvSpPr>
                <a:spLocks noChangeArrowheads="1"/>
              </p:cNvSpPr>
              <p:nvPr/>
            </p:nvSpPr>
            <p:spPr bwMode="auto">
              <a:xfrm>
                <a:off x="275" y="727"/>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38" name="Oval 28">
                <a:extLst>
                  <a:ext uri="{FF2B5EF4-FFF2-40B4-BE49-F238E27FC236}">
                    <a16:creationId xmlns:a16="http://schemas.microsoft.com/office/drawing/2014/main" id="{4BDCF3EF-5D3B-4CD9-8C69-4B0E0DD435E8}"/>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39" name="Freeform 29">
                <a:extLst>
                  <a:ext uri="{FF2B5EF4-FFF2-40B4-BE49-F238E27FC236}">
                    <a16:creationId xmlns:a16="http://schemas.microsoft.com/office/drawing/2014/main" id="{71C8882D-2A82-486F-B44C-937755A3DB36}"/>
                  </a:ext>
                </a:extLst>
              </p:cNvPr>
              <p:cNvSpPr>
                <a:spLocks noChangeArrowheads="1"/>
              </p:cNvSpPr>
              <p:nvPr/>
            </p:nvSpPr>
            <p:spPr bwMode="auto">
              <a:xfrm flipH="1">
                <a:off x="1034" y="725"/>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0" name="Oval 30">
                <a:extLst>
                  <a:ext uri="{FF2B5EF4-FFF2-40B4-BE49-F238E27FC236}">
                    <a16:creationId xmlns:a16="http://schemas.microsoft.com/office/drawing/2014/main" id="{A0F502D3-3F4E-44D7-A3C5-E5B13B184495}"/>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41" name="Rectangle 31">
                <a:extLst>
                  <a:ext uri="{FF2B5EF4-FFF2-40B4-BE49-F238E27FC236}">
                    <a16:creationId xmlns:a16="http://schemas.microsoft.com/office/drawing/2014/main" id="{35CBF51E-5EC7-470B-9CC4-2062BCB0BA99}"/>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60442" name="Rectangle 32">
                <a:extLst>
                  <a:ext uri="{FF2B5EF4-FFF2-40B4-BE49-F238E27FC236}">
                    <a16:creationId xmlns:a16="http://schemas.microsoft.com/office/drawing/2014/main" id="{EF7E11C1-F7AC-459D-9A13-A87DB73B7343}"/>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4</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3" name="Rectangle 33">
                <a:extLst>
                  <a:ext uri="{FF2B5EF4-FFF2-40B4-BE49-F238E27FC236}">
                    <a16:creationId xmlns:a16="http://schemas.microsoft.com/office/drawing/2014/main" id="{BB4AD49D-2F81-42EE-B87C-02E60E7AE146}"/>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4" name="Rectangle 34">
                <a:extLst>
                  <a:ext uri="{FF2B5EF4-FFF2-40B4-BE49-F238E27FC236}">
                    <a16:creationId xmlns:a16="http://schemas.microsoft.com/office/drawing/2014/main" id="{04F445A6-F6CC-470C-82BF-2665C7115480}"/>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3</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5" name="Rectangle 35">
                <a:extLst>
                  <a:ext uri="{FF2B5EF4-FFF2-40B4-BE49-F238E27FC236}">
                    <a16:creationId xmlns:a16="http://schemas.microsoft.com/office/drawing/2014/main" id="{21275909-034E-4126-BF53-7C9FF28FCCB8}"/>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E</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6" name="Rectangle 36">
                <a:extLst>
                  <a:ext uri="{FF2B5EF4-FFF2-40B4-BE49-F238E27FC236}">
                    <a16:creationId xmlns:a16="http://schemas.microsoft.com/office/drawing/2014/main" id="{B1E153FC-16FA-4D7A-A16B-BDF3471570A0}"/>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电桥线路原理图</a:t>
                </a: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47" name="Line 37">
                <a:extLst>
                  <a:ext uri="{FF2B5EF4-FFF2-40B4-BE49-F238E27FC236}">
                    <a16:creationId xmlns:a16="http://schemas.microsoft.com/office/drawing/2014/main" id="{6522566C-25F2-4CA2-ACC2-49E89E24F683}"/>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8" name="Line 38">
                <a:extLst>
                  <a:ext uri="{FF2B5EF4-FFF2-40B4-BE49-F238E27FC236}">
                    <a16:creationId xmlns:a16="http://schemas.microsoft.com/office/drawing/2014/main" id="{C83C3930-3EC1-4A0F-AE4D-05EFC0D9E750}"/>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9" name="Rectangle 39">
                <a:extLst>
                  <a:ext uri="{FF2B5EF4-FFF2-40B4-BE49-F238E27FC236}">
                    <a16:creationId xmlns:a16="http://schemas.microsoft.com/office/drawing/2014/main" id="{A7C03E7E-FB39-41C5-83E2-94DC23D24567}"/>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50" name="Line 40">
                <a:extLst>
                  <a:ext uri="{FF2B5EF4-FFF2-40B4-BE49-F238E27FC236}">
                    <a16:creationId xmlns:a16="http://schemas.microsoft.com/office/drawing/2014/main" id="{C8829D55-7168-4406-BFF7-84EDB058C87C}"/>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1" name="Line 41">
                <a:extLst>
                  <a:ext uri="{FF2B5EF4-FFF2-40B4-BE49-F238E27FC236}">
                    <a16:creationId xmlns:a16="http://schemas.microsoft.com/office/drawing/2014/main" id="{4DF1F5D7-88FF-494E-9894-F102B3355280}"/>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0452" name="Group 42">
                <a:extLst>
                  <a:ext uri="{FF2B5EF4-FFF2-40B4-BE49-F238E27FC236}">
                    <a16:creationId xmlns:a16="http://schemas.microsoft.com/office/drawing/2014/main" id="{6B3A7BEC-1B54-4D00-8F37-A4F3E2FDB9DF}"/>
                  </a:ext>
                </a:extLst>
              </p:cNvPr>
              <p:cNvGrpSpPr>
                <a:grpSpLocks/>
              </p:cNvGrpSpPr>
              <p:nvPr/>
            </p:nvGrpSpPr>
            <p:grpSpPr bwMode="auto">
              <a:xfrm>
                <a:off x="1849" y="617"/>
                <a:ext cx="202" cy="190"/>
                <a:chOff x="0" y="0"/>
                <a:chExt cx="283" cy="283"/>
              </a:xfrm>
            </p:grpSpPr>
            <p:sp>
              <p:nvSpPr>
                <p:cNvPr id="60462" name="Oval 43">
                  <a:extLst>
                    <a:ext uri="{FF2B5EF4-FFF2-40B4-BE49-F238E27FC236}">
                      <a16:creationId xmlns:a16="http://schemas.microsoft.com/office/drawing/2014/main" id="{B9F5C190-D2A1-44DD-974A-18F087CE9920}"/>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63" name="Line 44">
                  <a:extLst>
                    <a:ext uri="{FF2B5EF4-FFF2-40B4-BE49-F238E27FC236}">
                      <a16:creationId xmlns:a16="http://schemas.microsoft.com/office/drawing/2014/main" id="{FBF5E64B-B61B-42EF-8CF3-03FA3332BE84}"/>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60453" name="Rectangle 45">
                <a:extLst>
                  <a:ext uri="{FF2B5EF4-FFF2-40B4-BE49-F238E27FC236}">
                    <a16:creationId xmlns:a16="http://schemas.microsoft.com/office/drawing/2014/main" id="{04D2C930-ED76-4BFF-871D-AE586F100B02}"/>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54" name="Line 46">
                <a:extLst>
                  <a:ext uri="{FF2B5EF4-FFF2-40B4-BE49-F238E27FC236}">
                    <a16:creationId xmlns:a16="http://schemas.microsoft.com/office/drawing/2014/main" id="{6182131A-D218-4D7B-BE24-95EFFE02F997}"/>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5" name="Rectangle 47">
                <a:extLst>
                  <a:ext uri="{FF2B5EF4-FFF2-40B4-BE49-F238E27FC236}">
                    <a16:creationId xmlns:a16="http://schemas.microsoft.com/office/drawing/2014/main" id="{86E57420-425B-47ED-8CBF-0A3CA25BC3AF}"/>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A</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56" name="Rectangle 48">
                <a:extLst>
                  <a:ext uri="{FF2B5EF4-FFF2-40B4-BE49-F238E27FC236}">
                    <a16:creationId xmlns:a16="http://schemas.microsoft.com/office/drawing/2014/main" id="{33E5F389-243A-4503-9858-BFEBB7ED064B}"/>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C</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57" name="Rectangle 49">
                <a:extLst>
                  <a:ext uri="{FF2B5EF4-FFF2-40B4-BE49-F238E27FC236}">
                    <a16:creationId xmlns:a16="http://schemas.microsoft.com/office/drawing/2014/main" id="{BD1CB550-5130-4249-9F5B-CBDAA3D94F75}"/>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D</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58" name="Line 50">
                <a:extLst>
                  <a:ext uri="{FF2B5EF4-FFF2-40B4-BE49-F238E27FC236}">
                    <a16:creationId xmlns:a16="http://schemas.microsoft.com/office/drawing/2014/main" id="{C5B0254C-4319-41DD-B94B-FE0F4EEE06B2}"/>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9" name="Rectangle 51">
                <a:extLst>
                  <a:ext uri="{FF2B5EF4-FFF2-40B4-BE49-F238E27FC236}">
                    <a16:creationId xmlns:a16="http://schemas.microsoft.com/office/drawing/2014/main" id="{F36DFD2B-583E-4A8E-AF67-3BF9499679D1}"/>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I</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0460" name="AutoShape 52">
                <a:extLst>
                  <a:ext uri="{FF2B5EF4-FFF2-40B4-BE49-F238E27FC236}">
                    <a16:creationId xmlns:a16="http://schemas.microsoft.com/office/drawing/2014/main" id="{679BBF30-5E30-405C-B9AE-AD9AC3008A2E}"/>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0461" name="Rectangle 53">
                <a:extLst>
                  <a:ext uri="{FF2B5EF4-FFF2-40B4-BE49-F238E27FC236}">
                    <a16:creationId xmlns:a16="http://schemas.microsoft.com/office/drawing/2014/main" id="{54D2C97C-8DAA-4E4B-8E9D-A9AC4D18AD3A}"/>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B</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grpSp>
        <p:cxnSp>
          <p:nvCxnSpPr>
            <p:cNvPr id="60426" name="直接箭头连接符 9">
              <a:extLst>
                <a:ext uri="{FF2B5EF4-FFF2-40B4-BE49-F238E27FC236}">
                  <a16:creationId xmlns:a16="http://schemas.microsoft.com/office/drawing/2014/main" id="{8D413A4E-497C-4B17-9A0F-EB4DDAEF5971}"/>
                </a:ext>
              </a:extLst>
            </p:cNvPr>
            <p:cNvCxnSpPr>
              <a:cxnSpLocks noChangeShapeType="1"/>
            </p:cNvCxnSpPr>
            <p:nvPr/>
          </p:nvCxnSpPr>
          <p:spPr bwMode="auto">
            <a:xfrm flipV="1">
              <a:off x="6459562" y="4666756"/>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0427" name="直接箭头连接符 59">
              <a:extLst>
                <a:ext uri="{FF2B5EF4-FFF2-40B4-BE49-F238E27FC236}">
                  <a16:creationId xmlns:a16="http://schemas.microsoft.com/office/drawing/2014/main" id="{815CECBD-0291-4087-81E5-09B32238F035}"/>
                </a:ext>
              </a:extLst>
            </p:cNvPr>
            <p:cNvCxnSpPr>
              <a:cxnSpLocks noChangeShapeType="1"/>
            </p:cNvCxnSpPr>
            <p:nvPr/>
          </p:nvCxnSpPr>
          <p:spPr bwMode="auto">
            <a:xfrm flipV="1">
              <a:off x="7235825" y="5334378"/>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60422" name="Rectangle 5">
            <a:extLst>
              <a:ext uri="{FF2B5EF4-FFF2-40B4-BE49-F238E27FC236}">
                <a16:creationId xmlns:a16="http://schemas.microsoft.com/office/drawing/2014/main" id="{875753FE-30D3-4900-A7C6-7F6FAC16626A}"/>
              </a:ext>
            </a:extLst>
          </p:cNvPr>
          <p:cNvSpPr>
            <a:spLocks noChangeArrowheads="1"/>
          </p:cNvSpPr>
          <p:nvPr/>
        </p:nvSpPr>
        <p:spPr bwMode="auto">
          <a:xfrm>
            <a:off x="466725" y="1095375"/>
            <a:ext cx="84248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R1=R4=R</a:t>
            </a:r>
            <a:r>
              <a:rPr lang="en-US" altLang="zh-CN" sz="2400">
                <a:solidFill>
                  <a:srgbClr val="FF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ΔR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R2=R3=R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，计算输出和非线性误差（恒压激励）</a:t>
            </a:r>
            <a:endParaRPr lang="zh-CN" altLang="en-US" sz="1800">
              <a:latin typeface="微软雅黑" panose="020B0503020204020204" pitchFamily="34" charset="-122"/>
              <a:ea typeface="微软雅黑" panose="020B0503020204020204" pitchFamily="34" charset="-122"/>
            </a:endParaRPr>
          </a:p>
        </p:txBody>
      </p:sp>
      <p:graphicFrame>
        <p:nvGraphicFramePr>
          <p:cNvPr id="60423" name="对象 2">
            <a:hlinkClick r:id="" action="ppaction://ole?verb=1"/>
            <a:extLst>
              <a:ext uri="{FF2B5EF4-FFF2-40B4-BE49-F238E27FC236}">
                <a16:creationId xmlns:a16="http://schemas.microsoft.com/office/drawing/2014/main" id="{481B90F8-3BE1-46F0-87F9-8235E62EADCA}"/>
              </a:ext>
            </a:extLst>
          </p:cNvPr>
          <p:cNvGraphicFramePr>
            <a:graphicFrameLocks noChangeAspect="1"/>
          </p:cNvGraphicFramePr>
          <p:nvPr>
            <p:extLst>
              <p:ext uri="{D42A27DB-BD31-4B8C-83A1-F6EECF244321}">
                <p14:modId xmlns:p14="http://schemas.microsoft.com/office/powerpoint/2010/main" val="2149141705"/>
              </p:ext>
            </p:extLst>
          </p:nvPr>
        </p:nvGraphicFramePr>
        <p:xfrm>
          <a:off x="970385" y="1826353"/>
          <a:ext cx="4765675" cy="3949700"/>
        </p:xfrm>
        <a:graphic>
          <a:graphicData uri="http://schemas.openxmlformats.org/presentationml/2006/ole">
            <mc:AlternateContent xmlns:mc="http://schemas.openxmlformats.org/markup-compatibility/2006">
              <mc:Choice xmlns:v="urn:schemas-microsoft-com:vml" Requires="v">
                <p:oleObj spid="_x0000_s60552" r:id="rId3" imgW="2565360" imgH="2920680" progId="Equation.KSEE3">
                  <p:embed/>
                </p:oleObj>
              </mc:Choice>
              <mc:Fallback>
                <p:oleObj r:id="rId3" imgW="2565360" imgH="2920680" progId="Equation.KSEE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0385" y="1826353"/>
                        <a:ext cx="4765675"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9" name="矩形 58">
            <a:extLst>
              <a:ext uri="{FF2B5EF4-FFF2-40B4-BE49-F238E27FC236}">
                <a16:creationId xmlns:a16="http://schemas.microsoft.com/office/drawing/2014/main" id="{E1E37B72-A1A4-487C-A241-A9BAA25D7ED6}"/>
              </a:ext>
            </a:extLst>
          </p:cNvPr>
          <p:cNvSpPr>
            <a:spLocks noChangeArrowheads="1"/>
          </p:cNvSpPr>
          <p:nvPr/>
        </p:nvSpPr>
        <p:spPr bwMode="auto">
          <a:xfrm>
            <a:off x="1935838" y="5838047"/>
            <a:ext cx="634019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半桥恒压源驱动</a:t>
            </a:r>
            <a:endParaRPr lang="en-US" altLang="zh-CN"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4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一夜回到解放前。。非线性误差和单臂一样大</a:t>
            </a:r>
            <a:endParaRPr lang="zh-CN" altLang="en-US" sz="2400" dirty="0">
              <a:solidFill>
                <a:srgbClr val="00B0F0"/>
              </a:solidFill>
              <a:cs typeface="Times New Roman" panose="02020603050405020304" pitchFamily="18" charset="0"/>
            </a:endParaRPr>
          </a:p>
        </p:txBody>
      </p:sp>
      <p:pic>
        <p:nvPicPr>
          <p:cNvPr id="60" name="图形 59" descr="竖起的大拇指手势 ">
            <a:extLst>
              <a:ext uri="{FF2B5EF4-FFF2-40B4-BE49-F238E27FC236}">
                <a16:creationId xmlns:a16="http://schemas.microsoft.com/office/drawing/2014/main" id="{CA0E0F0E-B0D5-46C8-8EEF-045E4037080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10800000">
            <a:off x="1016392" y="5870070"/>
            <a:ext cx="914400" cy="9144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down)">
                                      <p:cBhvr>
                                        <p:cTn id="7" dur="580">
                                          <p:stCondLst>
                                            <p:cond delay="0"/>
                                          </p:stCondLst>
                                        </p:cTn>
                                        <p:tgtEl>
                                          <p:spTgt spid="59"/>
                                        </p:tgtEl>
                                      </p:cBhvr>
                                    </p:animEffect>
                                    <p:anim calcmode="lin" valueType="num">
                                      <p:cBhvr>
                                        <p:cTn id="8" dur="1822" tmFilter="0,0; 0.14,0.36; 0.43,0.73; 0.71,0.91; 1.0,1.0">
                                          <p:stCondLst>
                                            <p:cond delay="0"/>
                                          </p:stCondLst>
                                        </p:cTn>
                                        <p:tgtEl>
                                          <p:spTgt spid="59"/>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9"/>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9"/>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9"/>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9"/>
                                        </p:tgtEl>
                                        <p:attrNameLst>
                                          <p:attrName>ppt_y</p:attrName>
                                        </p:attrNameLst>
                                      </p:cBhvr>
                                      <p:tavLst>
                                        <p:tav tm="0" fmla="#ppt_y-sin(pi*$)/81">
                                          <p:val>
                                            <p:fltVal val="0"/>
                                          </p:val>
                                        </p:tav>
                                        <p:tav tm="100000">
                                          <p:val>
                                            <p:fltVal val="1"/>
                                          </p:val>
                                        </p:tav>
                                      </p:tavLst>
                                    </p:anim>
                                    <p:animScale>
                                      <p:cBhvr>
                                        <p:cTn id="13" dur="26">
                                          <p:stCondLst>
                                            <p:cond delay="650"/>
                                          </p:stCondLst>
                                        </p:cTn>
                                        <p:tgtEl>
                                          <p:spTgt spid="59"/>
                                        </p:tgtEl>
                                      </p:cBhvr>
                                      <p:to x="100000" y="60000"/>
                                    </p:animScale>
                                    <p:animScale>
                                      <p:cBhvr>
                                        <p:cTn id="14" dur="166" decel="50000">
                                          <p:stCondLst>
                                            <p:cond delay="676"/>
                                          </p:stCondLst>
                                        </p:cTn>
                                        <p:tgtEl>
                                          <p:spTgt spid="59"/>
                                        </p:tgtEl>
                                      </p:cBhvr>
                                      <p:to x="100000" y="100000"/>
                                    </p:animScale>
                                    <p:animScale>
                                      <p:cBhvr>
                                        <p:cTn id="15" dur="26">
                                          <p:stCondLst>
                                            <p:cond delay="1312"/>
                                          </p:stCondLst>
                                        </p:cTn>
                                        <p:tgtEl>
                                          <p:spTgt spid="59"/>
                                        </p:tgtEl>
                                      </p:cBhvr>
                                      <p:to x="100000" y="80000"/>
                                    </p:animScale>
                                    <p:animScale>
                                      <p:cBhvr>
                                        <p:cTn id="16" dur="166" decel="50000">
                                          <p:stCondLst>
                                            <p:cond delay="1338"/>
                                          </p:stCondLst>
                                        </p:cTn>
                                        <p:tgtEl>
                                          <p:spTgt spid="59"/>
                                        </p:tgtEl>
                                      </p:cBhvr>
                                      <p:to x="100000" y="100000"/>
                                    </p:animScale>
                                    <p:animScale>
                                      <p:cBhvr>
                                        <p:cTn id="17" dur="26">
                                          <p:stCondLst>
                                            <p:cond delay="1642"/>
                                          </p:stCondLst>
                                        </p:cTn>
                                        <p:tgtEl>
                                          <p:spTgt spid="59"/>
                                        </p:tgtEl>
                                      </p:cBhvr>
                                      <p:to x="100000" y="90000"/>
                                    </p:animScale>
                                    <p:animScale>
                                      <p:cBhvr>
                                        <p:cTn id="18" dur="166" decel="50000">
                                          <p:stCondLst>
                                            <p:cond delay="1668"/>
                                          </p:stCondLst>
                                        </p:cTn>
                                        <p:tgtEl>
                                          <p:spTgt spid="59"/>
                                        </p:tgtEl>
                                      </p:cBhvr>
                                      <p:to x="100000" y="100000"/>
                                    </p:animScale>
                                    <p:animScale>
                                      <p:cBhvr>
                                        <p:cTn id="19" dur="26">
                                          <p:stCondLst>
                                            <p:cond delay="1808"/>
                                          </p:stCondLst>
                                        </p:cTn>
                                        <p:tgtEl>
                                          <p:spTgt spid="59"/>
                                        </p:tgtEl>
                                      </p:cBhvr>
                                      <p:to x="100000" y="95000"/>
                                    </p:animScale>
                                    <p:animScale>
                                      <p:cBhvr>
                                        <p:cTn id="20" dur="166" decel="50000">
                                          <p:stCondLst>
                                            <p:cond delay="1834"/>
                                          </p:stCondLst>
                                        </p:cTn>
                                        <p:tgtEl>
                                          <p:spTgt spid="59"/>
                                        </p:tgtEl>
                                      </p:cBhvr>
                                      <p:to x="100000" y="100000"/>
                                    </p:animScale>
                                  </p:childTnLst>
                                </p:cTn>
                              </p:par>
                              <p:par>
                                <p:cTn id="21" presetID="26" presetClass="entr" presetSubtype="0" fill="hold" nodeType="withEffect">
                                  <p:stCondLst>
                                    <p:cond delay="0"/>
                                  </p:stCondLst>
                                  <p:childTnLst>
                                    <p:set>
                                      <p:cBhvr>
                                        <p:cTn id="22" dur="1" fill="hold">
                                          <p:stCondLst>
                                            <p:cond delay="0"/>
                                          </p:stCondLst>
                                        </p:cTn>
                                        <p:tgtEl>
                                          <p:spTgt spid="60"/>
                                        </p:tgtEl>
                                        <p:attrNameLst>
                                          <p:attrName>style.visibility</p:attrName>
                                        </p:attrNameLst>
                                      </p:cBhvr>
                                      <p:to>
                                        <p:strVal val="visible"/>
                                      </p:to>
                                    </p:set>
                                    <p:animEffect transition="in" filter="wipe(down)">
                                      <p:cBhvr>
                                        <p:cTn id="23" dur="580">
                                          <p:stCondLst>
                                            <p:cond delay="0"/>
                                          </p:stCondLst>
                                        </p:cTn>
                                        <p:tgtEl>
                                          <p:spTgt spid="60"/>
                                        </p:tgtEl>
                                      </p:cBhvr>
                                    </p:animEffect>
                                    <p:anim calcmode="lin" valueType="num">
                                      <p:cBhvr>
                                        <p:cTn id="24" dur="1822" tmFilter="0,0; 0.14,0.36; 0.43,0.73; 0.71,0.91; 1.0,1.0">
                                          <p:stCondLst>
                                            <p:cond delay="0"/>
                                          </p:stCondLst>
                                        </p:cTn>
                                        <p:tgtEl>
                                          <p:spTgt spid="6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0"/>
                                        </p:tgtEl>
                                        <p:attrNameLst>
                                          <p:attrName>ppt_y</p:attrName>
                                        </p:attrNameLst>
                                      </p:cBhvr>
                                      <p:tavLst>
                                        <p:tav tm="0" fmla="#ppt_y-sin(pi*$)/81">
                                          <p:val>
                                            <p:fltVal val="0"/>
                                          </p:val>
                                        </p:tav>
                                        <p:tav tm="100000">
                                          <p:val>
                                            <p:fltVal val="1"/>
                                          </p:val>
                                        </p:tav>
                                      </p:tavLst>
                                    </p:anim>
                                    <p:animScale>
                                      <p:cBhvr>
                                        <p:cTn id="29" dur="26">
                                          <p:stCondLst>
                                            <p:cond delay="650"/>
                                          </p:stCondLst>
                                        </p:cTn>
                                        <p:tgtEl>
                                          <p:spTgt spid="60"/>
                                        </p:tgtEl>
                                      </p:cBhvr>
                                      <p:to x="100000" y="60000"/>
                                    </p:animScale>
                                    <p:animScale>
                                      <p:cBhvr>
                                        <p:cTn id="30" dur="166" decel="50000">
                                          <p:stCondLst>
                                            <p:cond delay="676"/>
                                          </p:stCondLst>
                                        </p:cTn>
                                        <p:tgtEl>
                                          <p:spTgt spid="60"/>
                                        </p:tgtEl>
                                      </p:cBhvr>
                                      <p:to x="100000" y="100000"/>
                                    </p:animScale>
                                    <p:animScale>
                                      <p:cBhvr>
                                        <p:cTn id="31" dur="26">
                                          <p:stCondLst>
                                            <p:cond delay="1312"/>
                                          </p:stCondLst>
                                        </p:cTn>
                                        <p:tgtEl>
                                          <p:spTgt spid="60"/>
                                        </p:tgtEl>
                                      </p:cBhvr>
                                      <p:to x="100000" y="80000"/>
                                    </p:animScale>
                                    <p:animScale>
                                      <p:cBhvr>
                                        <p:cTn id="32" dur="166" decel="50000">
                                          <p:stCondLst>
                                            <p:cond delay="1338"/>
                                          </p:stCondLst>
                                        </p:cTn>
                                        <p:tgtEl>
                                          <p:spTgt spid="60"/>
                                        </p:tgtEl>
                                      </p:cBhvr>
                                      <p:to x="100000" y="100000"/>
                                    </p:animScale>
                                    <p:animScale>
                                      <p:cBhvr>
                                        <p:cTn id="33" dur="26">
                                          <p:stCondLst>
                                            <p:cond delay="1642"/>
                                          </p:stCondLst>
                                        </p:cTn>
                                        <p:tgtEl>
                                          <p:spTgt spid="60"/>
                                        </p:tgtEl>
                                      </p:cBhvr>
                                      <p:to x="100000" y="90000"/>
                                    </p:animScale>
                                    <p:animScale>
                                      <p:cBhvr>
                                        <p:cTn id="34" dur="166" decel="50000">
                                          <p:stCondLst>
                                            <p:cond delay="1668"/>
                                          </p:stCondLst>
                                        </p:cTn>
                                        <p:tgtEl>
                                          <p:spTgt spid="60"/>
                                        </p:tgtEl>
                                      </p:cBhvr>
                                      <p:to x="100000" y="100000"/>
                                    </p:animScale>
                                    <p:animScale>
                                      <p:cBhvr>
                                        <p:cTn id="35" dur="26">
                                          <p:stCondLst>
                                            <p:cond delay="1808"/>
                                          </p:stCondLst>
                                        </p:cTn>
                                        <p:tgtEl>
                                          <p:spTgt spid="60"/>
                                        </p:tgtEl>
                                      </p:cBhvr>
                                      <p:to x="100000" y="95000"/>
                                    </p:animScale>
                                    <p:animScale>
                                      <p:cBhvr>
                                        <p:cTn id="36" dur="166" decel="50000">
                                          <p:stCondLst>
                                            <p:cond delay="1834"/>
                                          </p:stCondLst>
                                        </p:cTn>
                                        <p:tgtEl>
                                          <p:spTgt spid="6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4">
            <a:extLst>
              <a:ext uri="{FF2B5EF4-FFF2-40B4-BE49-F238E27FC236}">
                <a16:creationId xmlns:a16="http://schemas.microsoft.com/office/drawing/2014/main" id="{C871C70F-A8B8-4A97-A969-E9F1610A75B9}"/>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1443" name="灯片编号占位符 3">
            <a:extLst>
              <a:ext uri="{FF2B5EF4-FFF2-40B4-BE49-F238E27FC236}">
                <a16:creationId xmlns:a16="http://schemas.microsoft.com/office/drawing/2014/main" id="{A3301DED-497E-46E1-9060-3F34AD5CDD92}"/>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E4E4136-A4C8-4E6B-9E51-5A403BC30B7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59</a:t>
            </a:fld>
            <a:endParaRPr lang="en-US" altLang="zh-CN" sz="1400">
              <a:solidFill>
                <a:srgbClr val="000000"/>
              </a:solidFill>
              <a:latin typeface="Arial" panose="020B0604020202020204" pitchFamily="34" charset="0"/>
            </a:endParaRPr>
          </a:p>
        </p:txBody>
      </p:sp>
      <p:sp>
        <p:nvSpPr>
          <p:cNvPr id="61444" name="TextBox 5">
            <a:extLst>
              <a:ext uri="{FF2B5EF4-FFF2-40B4-BE49-F238E27FC236}">
                <a16:creationId xmlns:a16="http://schemas.microsoft.com/office/drawing/2014/main" id="{66B91C65-2378-463B-8E87-B93D6183B64C}"/>
              </a:ext>
            </a:extLst>
          </p:cNvPr>
          <p:cNvSpPr>
            <a:spLocks noChangeArrowheads="1"/>
          </p:cNvSpPr>
          <p:nvPr/>
        </p:nvSpPr>
        <p:spPr bwMode="auto">
          <a:xfrm>
            <a:off x="684213" y="260350"/>
            <a:ext cx="6276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.4</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全桥测量电路（恒压激励）</a:t>
            </a:r>
            <a:endParaRPr lang="zh-CN" altLang="en-US" sz="1800">
              <a:latin typeface="黑体" panose="02010609060101010101" pitchFamily="49" charset="-122"/>
              <a:ea typeface="黑体" panose="02010609060101010101" pitchFamily="49" charset="-122"/>
            </a:endParaRPr>
          </a:p>
        </p:txBody>
      </p:sp>
      <p:grpSp>
        <p:nvGrpSpPr>
          <p:cNvPr id="61445" name="组合 1">
            <a:extLst>
              <a:ext uri="{FF2B5EF4-FFF2-40B4-BE49-F238E27FC236}">
                <a16:creationId xmlns:a16="http://schemas.microsoft.com/office/drawing/2014/main" id="{780B2698-2086-41DA-B36C-B6B226AF516E}"/>
              </a:ext>
            </a:extLst>
          </p:cNvPr>
          <p:cNvGrpSpPr>
            <a:grpSpLocks/>
          </p:cNvGrpSpPr>
          <p:nvPr/>
        </p:nvGrpSpPr>
        <p:grpSpPr bwMode="auto">
          <a:xfrm>
            <a:off x="5580070" y="3129760"/>
            <a:ext cx="3102633" cy="2728115"/>
            <a:chOff x="5788772" y="4460508"/>
            <a:chExt cx="2478087" cy="2201069"/>
          </a:xfrm>
        </p:grpSpPr>
        <p:grpSp>
          <p:nvGrpSpPr>
            <p:cNvPr id="61448" name="Group 5">
              <a:extLst>
                <a:ext uri="{FF2B5EF4-FFF2-40B4-BE49-F238E27FC236}">
                  <a16:creationId xmlns:a16="http://schemas.microsoft.com/office/drawing/2014/main" id="{486B5ABC-CD41-4A38-9805-83867F7D59B6}"/>
                </a:ext>
              </a:extLst>
            </p:cNvPr>
            <p:cNvGrpSpPr>
              <a:grpSpLocks/>
            </p:cNvGrpSpPr>
            <p:nvPr/>
          </p:nvGrpSpPr>
          <p:grpSpPr bwMode="auto">
            <a:xfrm>
              <a:off x="5788772" y="4460508"/>
              <a:ext cx="2478087" cy="2201069"/>
              <a:chOff x="0" y="0"/>
              <a:chExt cx="2187" cy="2017"/>
            </a:xfrm>
          </p:grpSpPr>
          <p:grpSp>
            <p:nvGrpSpPr>
              <p:cNvPr id="61453" name="Group 6">
                <a:extLst>
                  <a:ext uri="{FF2B5EF4-FFF2-40B4-BE49-F238E27FC236}">
                    <a16:creationId xmlns:a16="http://schemas.microsoft.com/office/drawing/2014/main" id="{E70F5D32-8E7D-4DCC-AAB3-E1CF60366B84}"/>
                  </a:ext>
                </a:extLst>
              </p:cNvPr>
              <p:cNvGrpSpPr>
                <a:grpSpLocks/>
              </p:cNvGrpSpPr>
              <p:nvPr/>
            </p:nvGrpSpPr>
            <p:grpSpPr bwMode="auto">
              <a:xfrm>
                <a:off x="223" y="243"/>
                <a:ext cx="733" cy="379"/>
                <a:chOff x="0" y="0"/>
                <a:chExt cx="1028" cy="565"/>
              </a:xfrm>
            </p:grpSpPr>
            <p:sp>
              <p:nvSpPr>
                <p:cNvPr id="61498" name="Rectangle 7">
                  <a:extLst>
                    <a:ext uri="{FF2B5EF4-FFF2-40B4-BE49-F238E27FC236}">
                      <a16:creationId xmlns:a16="http://schemas.microsoft.com/office/drawing/2014/main" id="{2693F2A1-6491-468B-9DD5-BCEB5226B623}"/>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99" name="Line 8">
                  <a:extLst>
                    <a:ext uri="{FF2B5EF4-FFF2-40B4-BE49-F238E27FC236}">
                      <a16:creationId xmlns:a16="http://schemas.microsoft.com/office/drawing/2014/main" id="{7425D252-7D70-4B30-AB65-3CF0FF94392D}"/>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500" name="Line 9">
                  <a:extLst>
                    <a:ext uri="{FF2B5EF4-FFF2-40B4-BE49-F238E27FC236}">
                      <a16:creationId xmlns:a16="http://schemas.microsoft.com/office/drawing/2014/main" id="{972897DE-89BA-42EA-9321-6F4A5B152F2E}"/>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1454" name="Group 10">
                <a:extLst>
                  <a:ext uri="{FF2B5EF4-FFF2-40B4-BE49-F238E27FC236}">
                    <a16:creationId xmlns:a16="http://schemas.microsoft.com/office/drawing/2014/main" id="{2DFFC5C4-586F-49A3-861B-B7ED78322427}"/>
                  </a:ext>
                </a:extLst>
              </p:cNvPr>
              <p:cNvGrpSpPr>
                <a:grpSpLocks/>
              </p:cNvGrpSpPr>
              <p:nvPr/>
            </p:nvGrpSpPr>
            <p:grpSpPr bwMode="auto">
              <a:xfrm flipV="1">
                <a:off x="223" y="833"/>
                <a:ext cx="733" cy="380"/>
                <a:chOff x="0" y="0"/>
                <a:chExt cx="1028" cy="565"/>
              </a:xfrm>
            </p:grpSpPr>
            <p:sp>
              <p:nvSpPr>
                <p:cNvPr id="61495" name="Rectangle 11">
                  <a:extLst>
                    <a:ext uri="{FF2B5EF4-FFF2-40B4-BE49-F238E27FC236}">
                      <a16:creationId xmlns:a16="http://schemas.microsoft.com/office/drawing/2014/main" id="{C2D2BA04-BE1A-40C9-A418-73052F799FF9}"/>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96" name="Line 12">
                  <a:extLst>
                    <a:ext uri="{FF2B5EF4-FFF2-40B4-BE49-F238E27FC236}">
                      <a16:creationId xmlns:a16="http://schemas.microsoft.com/office/drawing/2014/main" id="{B47D2660-D8D0-4781-84BB-2D2C5B271199}"/>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7" name="Line 13">
                  <a:extLst>
                    <a:ext uri="{FF2B5EF4-FFF2-40B4-BE49-F238E27FC236}">
                      <a16:creationId xmlns:a16="http://schemas.microsoft.com/office/drawing/2014/main" id="{11112268-49A2-4FED-A529-B9D0CE5ED2D1}"/>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1455" name="Group 14">
                <a:extLst>
                  <a:ext uri="{FF2B5EF4-FFF2-40B4-BE49-F238E27FC236}">
                    <a16:creationId xmlns:a16="http://schemas.microsoft.com/office/drawing/2014/main" id="{C3389753-CA5E-4805-B185-7AB137BA6541}"/>
                  </a:ext>
                </a:extLst>
              </p:cNvPr>
              <p:cNvGrpSpPr>
                <a:grpSpLocks/>
              </p:cNvGrpSpPr>
              <p:nvPr/>
            </p:nvGrpSpPr>
            <p:grpSpPr bwMode="auto">
              <a:xfrm>
                <a:off x="870" y="833"/>
                <a:ext cx="733" cy="380"/>
                <a:chOff x="0" y="0"/>
                <a:chExt cx="1028" cy="565"/>
              </a:xfrm>
            </p:grpSpPr>
            <p:sp>
              <p:nvSpPr>
                <p:cNvPr id="61492" name="Rectangle 15">
                  <a:extLst>
                    <a:ext uri="{FF2B5EF4-FFF2-40B4-BE49-F238E27FC236}">
                      <a16:creationId xmlns:a16="http://schemas.microsoft.com/office/drawing/2014/main" id="{EA7627D1-236A-4FE7-92F0-F69467969A50}"/>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93" name="Line 16">
                  <a:extLst>
                    <a:ext uri="{FF2B5EF4-FFF2-40B4-BE49-F238E27FC236}">
                      <a16:creationId xmlns:a16="http://schemas.microsoft.com/office/drawing/2014/main" id="{0175B592-B16A-4ABD-8EF1-EF148F35BA6D}"/>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4" name="Line 17">
                  <a:extLst>
                    <a:ext uri="{FF2B5EF4-FFF2-40B4-BE49-F238E27FC236}">
                      <a16:creationId xmlns:a16="http://schemas.microsoft.com/office/drawing/2014/main" id="{2A4094A1-F6AD-48DD-B5F2-837914A63746}"/>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61456" name="Group 18">
                <a:extLst>
                  <a:ext uri="{FF2B5EF4-FFF2-40B4-BE49-F238E27FC236}">
                    <a16:creationId xmlns:a16="http://schemas.microsoft.com/office/drawing/2014/main" id="{52A81392-884D-42BF-9770-69C474B12E05}"/>
                  </a:ext>
                </a:extLst>
              </p:cNvPr>
              <p:cNvGrpSpPr>
                <a:grpSpLocks/>
              </p:cNvGrpSpPr>
              <p:nvPr/>
            </p:nvGrpSpPr>
            <p:grpSpPr bwMode="auto">
              <a:xfrm flipV="1">
                <a:off x="870" y="243"/>
                <a:ext cx="733" cy="379"/>
                <a:chOff x="0" y="0"/>
                <a:chExt cx="1028" cy="565"/>
              </a:xfrm>
            </p:grpSpPr>
            <p:sp>
              <p:nvSpPr>
                <p:cNvPr id="61489" name="Rectangle 19">
                  <a:extLst>
                    <a:ext uri="{FF2B5EF4-FFF2-40B4-BE49-F238E27FC236}">
                      <a16:creationId xmlns:a16="http://schemas.microsoft.com/office/drawing/2014/main" id="{3A8E8A1E-B05F-4AE5-8D3E-331A1DF11415}"/>
                    </a:ext>
                  </a:extLst>
                </p:cNvPr>
                <p:cNvSpPr>
                  <a:spLocks noChangeArrowheads="1"/>
                </p:cNvSpPr>
                <p:nvPr/>
              </p:nvSpPr>
              <p:spPr bwMode="auto">
                <a:xfrm rot="13500000" flipV="1">
                  <a:off x="465" y="112"/>
                  <a:ext cx="105" cy="349"/>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90" name="Line 20">
                  <a:extLst>
                    <a:ext uri="{FF2B5EF4-FFF2-40B4-BE49-F238E27FC236}">
                      <a16:creationId xmlns:a16="http://schemas.microsoft.com/office/drawing/2014/main" id="{585B14CC-F0B5-4020-9F85-4E467A467F69}"/>
                    </a:ext>
                  </a:extLst>
                </p:cNvPr>
                <p:cNvSpPr>
                  <a:spLocks noChangeShapeType="1"/>
                </p:cNvSpPr>
                <p:nvPr/>
              </p:nvSpPr>
              <p:spPr bwMode="auto">
                <a:xfrm rot="2700000">
                  <a:off x="222" y="33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91" name="Line 21">
                  <a:extLst>
                    <a:ext uri="{FF2B5EF4-FFF2-40B4-BE49-F238E27FC236}">
                      <a16:creationId xmlns:a16="http://schemas.microsoft.com/office/drawing/2014/main" id="{69303D0E-9254-4144-9BC4-54EF23534289}"/>
                    </a:ext>
                  </a:extLst>
                </p:cNvPr>
                <p:cNvSpPr>
                  <a:spLocks noChangeShapeType="1"/>
                </p:cNvSpPr>
                <p:nvPr/>
              </p:nvSpPr>
              <p:spPr bwMode="auto">
                <a:xfrm rot="2700000">
                  <a:off x="797" y="-223"/>
                  <a:ext cx="1" cy="4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1457" name="Rectangle 22">
                <a:extLst>
                  <a:ext uri="{FF2B5EF4-FFF2-40B4-BE49-F238E27FC236}">
                    <a16:creationId xmlns:a16="http://schemas.microsoft.com/office/drawing/2014/main" id="{540BFE10-CF20-4A94-882A-4DDB614EC890}"/>
                  </a:ext>
                </a:extLst>
              </p:cNvPr>
              <p:cNvSpPr>
                <a:spLocks noChangeArrowheads="1"/>
              </p:cNvSpPr>
              <p:nvPr/>
            </p:nvSpPr>
            <p:spPr bwMode="auto">
              <a:xfrm>
                <a:off x="712" y="645"/>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a:solidFill>
                      <a:srgbClr val="000000"/>
                    </a:solidFill>
                    <a:latin typeface="Times New Roman" panose="02020603050405020304" pitchFamily="18" charset="0"/>
                    <a:sym typeface="Times New Roman" panose="02020603050405020304" pitchFamily="18" charset="0"/>
                  </a:rPr>
                  <a:t> </a:t>
                </a:r>
                <a:endParaRPr lang="zh-CN" altLang="en-US"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58" name="Oval 23">
                <a:extLst>
                  <a:ext uri="{FF2B5EF4-FFF2-40B4-BE49-F238E27FC236}">
                    <a16:creationId xmlns:a16="http://schemas.microsoft.com/office/drawing/2014/main" id="{D73A04E7-7BF6-41FE-BEE4-AFA13D613811}"/>
                  </a:ext>
                </a:extLst>
              </p:cNvPr>
              <p:cNvSpPr>
                <a:spLocks noChangeArrowheads="1"/>
              </p:cNvSpPr>
              <p:nvPr/>
            </p:nvSpPr>
            <p:spPr bwMode="auto">
              <a:xfrm>
                <a:off x="256" y="707"/>
                <a:ext cx="40"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59" name="Oval 24">
                <a:extLst>
                  <a:ext uri="{FF2B5EF4-FFF2-40B4-BE49-F238E27FC236}">
                    <a16:creationId xmlns:a16="http://schemas.microsoft.com/office/drawing/2014/main" id="{0EEE02E0-CF44-4150-89D6-D96965E10BF6}"/>
                  </a:ext>
                </a:extLst>
              </p:cNvPr>
              <p:cNvSpPr>
                <a:spLocks noChangeArrowheads="1"/>
              </p:cNvSpPr>
              <p:nvPr/>
            </p:nvSpPr>
            <p:spPr bwMode="auto">
              <a:xfrm>
                <a:off x="1532" y="707"/>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0" name="Oval 25">
                <a:extLst>
                  <a:ext uri="{FF2B5EF4-FFF2-40B4-BE49-F238E27FC236}">
                    <a16:creationId xmlns:a16="http://schemas.microsoft.com/office/drawing/2014/main" id="{F0ED8DC3-84F9-4E91-83E2-1D1F24AC5F93}"/>
                  </a:ext>
                </a:extLst>
              </p:cNvPr>
              <p:cNvSpPr>
                <a:spLocks noChangeArrowheads="1"/>
              </p:cNvSpPr>
              <p:nvPr/>
            </p:nvSpPr>
            <p:spPr bwMode="auto">
              <a:xfrm>
                <a:off x="889" y="123"/>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1" name="Oval 26">
                <a:extLst>
                  <a:ext uri="{FF2B5EF4-FFF2-40B4-BE49-F238E27FC236}">
                    <a16:creationId xmlns:a16="http://schemas.microsoft.com/office/drawing/2014/main" id="{C3A36622-B30C-4AC3-B8AC-A06F4F9A8BE8}"/>
                  </a:ext>
                </a:extLst>
              </p:cNvPr>
              <p:cNvSpPr>
                <a:spLocks noChangeArrowheads="1"/>
              </p:cNvSpPr>
              <p:nvPr/>
            </p:nvSpPr>
            <p:spPr bwMode="auto">
              <a:xfrm>
                <a:off x="896" y="1309"/>
                <a:ext cx="41" cy="38"/>
              </a:xfrm>
              <a:prstGeom prst="ellipse">
                <a:avLst/>
              </a:prstGeom>
              <a:solidFill>
                <a:srgbClr val="000000"/>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2" name="Freeform 27">
                <a:extLst>
                  <a:ext uri="{FF2B5EF4-FFF2-40B4-BE49-F238E27FC236}">
                    <a16:creationId xmlns:a16="http://schemas.microsoft.com/office/drawing/2014/main" id="{1D494A60-3E85-4DAE-B7A0-D99913A05041}"/>
                  </a:ext>
                </a:extLst>
              </p:cNvPr>
              <p:cNvSpPr>
                <a:spLocks noChangeArrowheads="1"/>
              </p:cNvSpPr>
              <p:nvPr/>
            </p:nvSpPr>
            <p:spPr bwMode="auto">
              <a:xfrm>
                <a:off x="275" y="727"/>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3" name="Oval 28">
                <a:extLst>
                  <a:ext uri="{FF2B5EF4-FFF2-40B4-BE49-F238E27FC236}">
                    <a16:creationId xmlns:a16="http://schemas.microsoft.com/office/drawing/2014/main" id="{A5E0CF9A-825E-4250-AEB7-C92684D2830E}"/>
                  </a:ext>
                </a:extLst>
              </p:cNvPr>
              <p:cNvSpPr>
                <a:spLocks noChangeArrowheads="1"/>
              </p:cNvSpPr>
              <p:nvPr/>
            </p:nvSpPr>
            <p:spPr bwMode="auto">
              <a:xfrm>
                <a:off x="802" y="1590"/>
                <a:ext cx="41"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4" name="Freeform 29">
                <a:extLst>
                  <a:ext uri="{FF2B5EF4-FFF2-40B4-BE49-F238E27FC236}">
                    <a16:creationId xmlns:a16="http://schemas.microsoft.com/office/drawing/2014/main" id="{CBF3064A-D8E9-435A-9874-E8BE49CE6F37}"/>
                  </a:ext>
                </a:extLst>
              </p:cNvPr>
              <p:cNvSpPr>
                <a:spLocks noChangeArrowheads="1"/>
              </p:cNvSpPr>
              <p:nvPr/>
            </p:nvSpPr>
            <p:spPr bwMode="auto">
              <a:xfrm flipH="1">
                <a:off x="1034" y="725"/>
                <a:ext cx="527" cy="883"/>
              </a:xfrm>
              <a:custGeom>
                <a:avLst/>
                <a:gdLst>
                  <a:gd name="T0" fmla="*/ 0 w 739"/>
                  <a:gd name="T1" fmla="*/ 0 h 1317"/>
                  <a:gd name="T2" fmla="*/ 0 w 739"/>
                  <a:gd name="T3" fmla="*/ 24 h 1317"/>
                  <a:gd name="T4" fmla="*/ 25 w 739"/>
                  <a:gd name="T5" fmla="*/ 24 h 1317"/>
                  <a:gd name="T6" fmla="*/ 0 60000 65536"/>
                  <a:gd name="T7" fmla="*/ 0 60000 65536"/>
                  <a:gd name="T8" fmla="*/ 0 60000 65536"/>
                </a:gdLst>
                <a:ahLst/>
                <a:cxnLst>
                  <a:cxn ang="T6">
                    <a:pos x="T0" y="T1"/>
                  </a:cxn>
                  <a:cxn ang="T7">
                    <a:pos x="T2" y="T3"/>
                  </a:cxn>
                  <a:cxn ang="T8">
                    <a:pos x="T4" y="T5"/>
                  </a:cxn>
                </a:cxnLst>
                <a:rect l="0" t="0" r="r" b="b"/>
                <a:pathLst>
                  <a:path w="739" h="1317">
                    <a:moveTo>
                      <a:pt x="0" y="0"/>
                    </a:moveTo>
                    <a:lnTo>
                      <a:pt x="0" y="1317"/>
                    </a:lnTo>
                    <a:lnTo>
                      <a:pt x="739" y="1317"/>
                    </a:lnTo>
                  </a:path>
                </a:pathLst>
              </a:cu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1465" name="Oval 30">
                <a:extLst>
                  <a:ext uri="{FF2B5EF4-FFF2-40B4-BE49-F238E27FC236}">
                    <a16:creationId xmlns:a16="http://schemas.microsoft.com/office/drawing/2014/main" id="{5260238C-A6FB-440F-9FDD-E14B242B6A2C}"/>
                  </a:ext>
                </a:extLst>
              </p:cNvPr>
              <p:cNvSpPr>
                <a:spLocks noChangeArrowheads="1"/>
              </p:cNvSpPr>
              <p:nvPr/>
            </p:nvSpPr>
            <p:spPr bwMode="auto">
              <a:xfrm>
                <a:off x="994" y="1590"/>
                <a:ext cx="40" cy="38"/>
              </a:xfrm>
              <a:prstGeom prst="ellipse">
                <a:avLst/>
              </a:prstGeom>
              <a:solidFill>
                <a:srgbClr val="FFFFFF"/>
              </a:solidFill>
              <a:ln w="9525">
                <a:solidFill>
                  <a:schemeClr val="tx1"/>
                </a:solidFill>
                <a:round/>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66" name="Rectangle 31">
                <a:extLst>
                  <a:ext uri="{FF2B5EF4-FFF2-40B4-BE49-F238E27FC236}">
                    <a16:creationId xmlns:a16="http://schemas.microsoft.com/office/drawing/2014/main" id="{175C0008-A342-4C1F-8E43-3C47B7B41FE1}"/>
                  </a:ext>
                </a:extLst>
              </p:cNvPr>
              <p:cNvSpPr>
                <a:spLocks noChangeArrowheads="1"/>
              </p:cNvSpPr>
              <p:nvPr/>
            </p:nvSpPr>
            <p:spPr bwMode="auto">
              <a:xfrm>
                <a:off x="1165" y="228"/>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61467" name="Rectangle 32">
                <a:extLst>
                  <a:ext uri="{FF2B5EF4-FFF2-40B4-BE49-F238E27FC236}">
                    <a16:creationId xmlns:a16="http://schemas.microsoft.com/office/drawing/2014/main" id="{C9EF1FF5-2EB9-49E4-8D50-826640938166}"/>
                  </a:ext>
                </a:extLst>
              </p:cNvPr>
              <p:cNvSpPr>
                <a:spLocks noChangeArrowheads="1"/>
              </p:cNvSpPr>
              <p:nvPr/>
            </p:nvSpPr>
            <p:spPr bwMode="auto">
              <a:xfrm>
                <a:off x="1160" y="1028"/>
                <a:ext cx="397"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4</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68" name="Rectangle 33">
                <a:extLst>
                  <a:ext uri="{FF2B5EF4-FFF2-40B4-BE49-F238E27FC236}">
                    <a16:creationId xmlns:a16="http://schemas.microsoft.com/office/drawing/2014/main" id="{866ED0AE-C436-4403-88E0-33C9F5A8A8BF}"/>
                  </a:ext>
                </a:extLst>
              </p:cNvPr>
              <p:cNvSpPr>
                <a:spLocks noChangeArrowheads="1"/>
              </p:cNvSpPr>
              <p:nvPr/>
            </p:nvSpPr>
            <p:spPr bwMode="auto">
              <a:xfrm>
                <a:off x="262" y="210"/>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69" name="Rectangle 34">
                <a:extLst>
                  <a:ext uri="{FF2B5EF4-FFF2-40B4-BE49-F238E27FC236}">
                    <a16:creationId xmlns:a16="http://schemas.microsoft.com/office/drawing/2014/main" id="{F090BA83-58FE-4B6C-9C09-28F8F23DB73C}"/>
                  </a:ext>
                </a:extLst>
              </p:cNvPr>
              <p:cNvSpPr>
                <a:spLocks noChangeArrowheads="1"/>
              </p:cNvSpPr>
              <p:nvPr/>
            </p:nvSpPr>
            <p:spPr bwMode="auto">
              <a:xfrm>
                <a:off x="275" y="1041"/>
                <a:ext cx="39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30000">
                    <a:solidFill>
                      <a:srgbClr val="000000"/>
                    </a:solidFill>
                    <a:latin typeface="Times New Roman" panose="02020603050405020304" pitchFamily="18" charset="0"/>
                    <a:sym typeface="Times New Roman" panose="02020603050405020304" pitchFamily="18" charset="0"/>
                  </a:rPr>
                  <a:t>3</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70" name="Rectangle 35">
                <a:extLst>
                  <a:ext uri="{FF2B5EF4-FFF2-40B4-BE49-F238E27FC236}">
                    <a16:creationId xmlns:a16="http://schemas.microsoft.com/office/drawing/2014/main" id="{5F90889E-C969-462E-8752-C57E6A7C9A0D}"/>
                  </a:ext>
                </a:extLst>
              </p:cNvPr>
              <p:cNvSpPr>
                <a:spLocks noChangeArrowheads="1"/>
              </p:cNvSpPr>
              <p:nvPr/>
            </p:nvSpPr>
            <p:spPr bwMode="auto">
              <a:xfrm>
                <a:off x="802" y="1501"/>
                <a:ext cx="226" cy="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E</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71" name="Rectangle 36">
                <a:extLst>
                  <a:ext uri="{FF2B5EF4-FFF2-40B4-BE49-F238E27FC236}">
                    <a16:creationId xmlns:a16="http://schemas.microsoft.com/office/drawing/2014/main" id="{DCC6E732-1725-493B-8491-43AEE3C5220D}"/>
                  </a:ext>
                </a:extLst>
              </p:cNvPr>
              <p:cNvSpPr>
                <a:spLocks noChangeArrowheads="1"/>
              </p:cNvSpPr>
              <p:nvPr/>
            </p:nvSpPr>
            <p:spPr bwMode="auto">
              <a:xfrm>
                <a:off x="0" y="1767"/>
                <a:ext cx="21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电桥线路原理图</a:t>
                </a: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72" name="Line 37">
                <a:extLst>
                  <a:ext uri="{FF2B5EF4-FFF2-40B4-BE49-F238E27FC236}">
                    <a16:creationId xmlns:a16="http://schemas.microsoft.com/office/drawing/2014/main" id="{0587766D-A03E-43CB-85CA-C8A053E4F52A}"/>
                  </a:ext>
                </a:extLst>
              </p:cNvPr>
              <p:cNvSpPr>
                <a:spLocks noChangeShapeType="1"/>
              </p:cNvSpPr>
              <p:nvPr/>
            </p:nvSpPr>
            <p:spPr bwMode="auto">
              <a:xfrm>
                <a:off x="919" y="148"/>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3" name="Line 38">
                <a:extLst>
                  <a:ext uri="{FF2B5EF4-FFF2-40B4-BE49-F238E27FC236}">
                    <a16:creationId xmlns:a16="http://schemas.microsoft.com/office/drawing/2014/main" id="{D1610CA8-E40D-4A18-9720-66BE7F29670A}"/>
                  </a:ext>
                </a:extLst>
              </p:cNvPr>
              <p:cNvSpPr>
                <a:spLocks noChangeShapeType="1"/>
              </p:cNvSpPr>
              <p:nvPr/>
            </p:nvSpPr>
            <p:spPr bwMode="auto">
              <a:xfrm>
                <a:off x="928" y="1325"/>
                <a:ext cx="1031"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4" name="Rectangle 39">
                <a:extLst>
                  <a:ext uri="{FF2B5EF4-FFF2-40B4-BE49-F238E27FC236}">
                    <a16:creationId xmlns:a16="http://schemas.microsoft.com/office/drawing/2014/main" id="{C23E4844-7BE6-4CE7-93C8-4C97F703AF1A}"/>
                  </a:ext>
                </a:extLst>
              </p:cNvPr>
              <p:cNvSpPr>
                <a:spLocks noChangeArrowheads="1"/>
              </p:cNvSpPr>
              <p:nvPr/>
            </p:nvSpPr>
            <p:spPr bwMode="auto">
              <a:xfrm>
                <a:off x="1925" y="318"/>
                <a:ext cx="75" cy="234"/>
              </a:xfrm>
              <a:prstGeom prst="rect">
                <a:avLst/>
              </a:prstGeom>
              <a:solidFill>
                <a:srgbClr val="FFFFFF"/>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75" name="Line 40">
                <a:extLst>
                  <a:ext uri="{FF2B5EF4-FFF2-40B4-BE49-F238E27FC236}">
                    <a16:creationId xmlns:a16="http://schemas.microsoft.com/office/drawing/2014/main" id="{CAB04428-9C61-43C0-9BDC-9915D7D0C967}"/>
                  </a:ext>
                </a:extLst>
              </p:cNvPr>
              <p:cNvSpPr>
                <a:spLocks noChangeShapeType="1"/>
              </p:cNvSpPr>
              <p:nvPr/>
            </p:nvSpPr>
            <p:spPr bwMode="auto">
              <a:xfrm>
                <a:off x="1959" y="148"/>
                <a:ext cx="1" cy="16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76" name="Line 41">
                <a:extLst>
                  <a:ext uri="{FF2B5EF4-FFF2-40B4-BE49-F238E27FC236}">
                    <a16:creationId xmlns:a16="http://schemas.microsoft.com/office/drawing/2014/main" id="{E2A649B2-DA1B-49BA-B55D-58A6CF97A58B}"/>
                  </a:ext>
                </a:extLst>
              </p:cNvPr>
              <p:cNvSpPr>
                <a:spLocks noChangeShapeType="1"/>
              </p:cNvSpPr>
              <p:nvPr/>
            </p:nvSpPr>
            <p:spPr bwMode="auto">
              <a:xfrm>
                <a:off x="1959" y="552"/>
                <a:ext cx="1" cy="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1477" name="Group 42">
                <a:extLst>
                  <a:ext uri="{FF2B5EF4-FFF2-40B4-BE49-F238E27FC236}">
                    <a16:creationId xmlns:a16="http://schemas.microsoft.com/office/drawing/2014/main" id="{03D48C93-370D-4108-BE37-527E04F1ACE1}"/>
                  </a:ext>
                </a:extLst>
              </p:cNvPr>
              <p:cNvGrpSpPr>
                <a:grpSpLocks/>
              </p:cNvGrpSpPr>
              <p:nvPr/>
            </p:nvGrpSpPr>
            <p:grpSpPr bwMode="auto">
              <a:xfrm>
                <a:off x="1849" y="617"/>
                <a:ext cx="202" cy="190"/>
                <a:chOff x="0" y="0"/>
                <a:chExt cx="283" cy="283"/>
              </a:xfrm>
            </p:grpSpPr>
            <p:sp>
              <p:nvSpPr>
                <p:cNvPr id="61487" name="Oval 43">
                  <a:extLst>
                    <a:ext uri="{FF2B5EF4-FFF2-40B4-BE49-F238E27FC236}">
                      <a16:creationId xmlns:a16="http://schemas.microsoft.com/office/drawing/2014/main" id="{DA119E59-11A6-4464-893D-8A55C2F974AE}"/>
                    </a:ext>
                  </a:extLst>
                </p:cNvPr>
                <p:cNvSpPr>
                  <a:spLocks noChangeArrowheads="1"/>
                </p:cNvSpPr>
                <p:nvPr/>
              </p:nvSpPr>
              <p:spPr bwMode="auto">
                <a:xfrm>
                  <a:off x="0" y="0"/>
                  <a:ext cx="283" cy="28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88" name="Line 44">
                  <a:extLst>
                    <a:ext uri="{FF2B5EF4-FFF2-40B4-BE49-F238E27FC236}">
                      <a16:creationId xmlns:a16="http://schemas.microsoft.com/office/drawing/2014/main" id="{7C3ED29F-036C-4612-A361-33271E7687C0}"/>
                    </a:ext>
                  </a:extLst>
                </p:cNvPr>
                <p:cNvSpPr>
                  <a:spLocks noChangeShapeType="1"/>
                </p:cNvSpPr>
                <p:nvPr/>
              </p:nvSpPr>
              <p:spPr bwMode="auto">
                <a:xfrm flipV="1">
                  <a:off x="58" y="40"/>
                  <a:ext cx="170" cy="170"/>
                </a:xfrm>
                <a:prstGeom prst="line">
                  <a:avLst/>
                </a:prstGeom>
                <a:noFill/>
                <a:ln w="9525">
                  <a:solidFill>
                    <a:schemeClr val="tx1"/>
                  </a:solidFill>
                  <a:round/>
                  <a:headEnd/>
                  <a:tailEnd type="stealth" w="sm" len="med"/>
                </a:ln>
                <a:extLst>
                  <a:ext uri="{909E8E84-426E-40DD-AFC4-6F175D3DCCD1}">
                    <a14:hiddenFill xmlns:a14="http://schemas.microsoft.com/office/drawing/2010/main">
                      <a:noFill/>
                    </a14:hiddenFill>
                  </a:ext>
                </a:extLst>
              </p:spPr>
              <p:txBody>
                <a:bodyPr/>
                <a:lstStyle/>
                <a:p>
                  <a:endParaRPr lang="zh-CN" altLang="en-US"/>
                </a:p>
              </p:txBody>
            </p:sp>
          </p:grpSp>
          <p:sp>
            <p:nvSpPr>
              <p:cNvPr id="61478" name="Rectangle 45">
                <a:extLst>
                  <a:ext uri="{FF2B5EF4-FFF2-40B4-BE49-F238E27FC236}">
                    <a16:creationId xmlns:a16="http://schemas.microsoft.com/office/drawing/2014/main" id="{960A9EE2-8670-422A-B386-A1744BDC5B59}"/>
                  </a:ext>
                </a:extLst>
              </p:cNvPr>
              <p:cNvSpPr>
                <a:spLocks noChangeArrowheads="1"/>
              </p:cNvSpPr>
              <p:nvPr/>
            </p:nvSpPr>
            <p:spPr bwMode="auto">
              <a:xfrm>
                <a:off x="1609" y="318"/>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dirty="0" err="1">
                    <a:solidFill>
                      <a:srgbClr val="000000"/>
                    </a:solidFill>
                    <a:latin typeface="Times New Roman" panose="02020603050405020304" pitchFamily="18" charset="0"/>
                    <a:sym typeface="Times New Roman" panose="02020603050405020304" pitchFamily="18" charset="0"/>
                  </a:rPr>
                  <a:t>R</a:t>
                </a:r>
                <a:r>
                  <a:rPr lang="en-US" altLang="zh-CN" sz="2000" baseline="-30000" dirty="0" err="1">
                    <a:solidFill>
                      <a:srgbClr val="000000"/>
                    </a:solidFill>
                    <a:latin typeface="Times New Roman" panose="02020603050405020304" pitchFamily="18" charset="0"/>
                    <a:sym typeface="Times New Roman" panose="02020603050405020304" pitchFamily="18" charset="0"/>
                  </a:rPr>
                  <a:t>g</a:t>
                </a:r>
                <a:endParaRPr lang="en-US" altLang="zh-CN" sz="2000" dirty="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dirty="0">
                  <a:solidFill>
                    <a:srgbClr val="000000"/>
                  </a:solidFill>
                  <a:latin typeface="Times New Roman" panose="02020603050405020304" pitchFamily="18" charset="0"/>
                  <a:sym typeface="Times New Roman" panose="02020603050405020304" pitchFamily="18" charset="0"/>
                </a:endParaRPr>
              </a:p>
            </p:txBody>
          </p:sp>
          <p:sp>
            <p:nvSpPr>
              <p:cNvPr id="61479" name="Line 46">
                <a:extLst>
                  <a:ext uri="{FF2B5EF4-FFF2-40B4-BE49-F238E27FC236}">
                    <a16:creationId xmlns:a16="http://schemas.microsoft.com/office/drawing/2014/main" id="{BF3AE4B7-B851-400D-8BCE-EEC53632B147}"/>
                  </a:ext>
                </a:extLst>
              </p:cNvPr>
              <p:cNvSpPr>
                <a:spLocks noChangeShapeType="1"/>
              </p:cNvSpPr>
              <p:nvPr/>
            </p:nvSpPr>
            <p:spPr bwMode="auto">
              <a:xfrm>
                <a:off x="1966" y="807"/>
                <a:ext cx="1" cy="50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0" name="Rectangle 47">
                <a:extLst>
                  <a:ext uri="{FF2B5EF4-FFF2-40B4-BE49-F238E27FC236}">
                    <a16:creationId xmlns:a16="http://schemas.microsoft.com/office/drawing/2014/main" id="{63308E0F-8C12-4BDF-8A7B-07A5236C481E}"/>
                  </a:ext>
                </a:extLst>
              </p:cNvPr>
              <p:cNvSpPr>
                <a:spLocks noChangeArrowheads="1"/>
              </p:cNvSpPr>
              <p:nvPr/>
            </p:nvSpPr>
            <p:spPr bwMode="auto">
              <a:xfrm>
                <a:off x="131" y="645"/>
                <a:ext cx="255"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A</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81" name="Rectangle 48">
                <a:extLst>
                  <a:ext uri="{FF2B5EF4-FFF2-40B4-BE49-F238E27FC236}">
                    <a16:creationId xmlns:a16="http://schemas.microsoft.com/office/drawing/2014/main" id="{2FA424CA-1080-4B98-9528-E76A6A960BE6}"/>
                  </a:ext>
                </a:extLst>
              </p:cNvPr>
              <p:cNvSpPr>
                <a:spLocks noChangeArrowheads="1"/>
              </p:cNvSpPr>
              <p:nvPr/>
            </p:nvSpPr>
            <p:spPr bwMode="auto">
              <a:xfrm>
                <a:off x="1565" y="569"/>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C</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82" name="Rectangle 49">
                <a:extLst>
                  <a:ext uri="{FF2B5EF4-FFF2-40B4-BE49-F238E27FC236}">
                    <a16:creationId xmlns:a16="http://schemas.microsoft.com/office/drawing/2014/main" id="{E8A37AF9-3D19-4930-BE56-A7CB7E6029F7}"/>
                  </a:ext>
                </a:extLst>
              </p:cNvPr>
              <p:cNvSpPr>
                <a:spLocks noChangeArrowheads="1"/>
              </p:cNvSpPr>
              <p:nvPr/>
            </p:nvSpPr>
            <p:spPr bwMode="auto">
              <a:xfrm>
                <a:off x="757" y="1292"/>
                <a:ext cx="255"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D</a:t>
                </a:r>
                <a:endParaRPr lang="zh-CN" altLang="en-US" sz="2000" i="1">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83" name="Line 50">
                <a:extLst>
                  <a:ext uri="{FF2B5EF4-FFF2-40B4-BE49-F238E27FC236}">
                    <a16:creationId xmlns:a16="http://schemas.microsoft.com/office/drawing/2014/main" id="{0CC977C2-DAE3-44CC-8B64-8D186B7FB2B4}"/>
                  </a:ext>
                </a:extLst>
              </p:cNvPr>
              <p:cNvSpPr>
                <a:spLocks noChangeShapeType="1"/>
              </p:cNvSpPr>
              <p:nvPr/>
            </p:nvSpPr>
            <p:spPr bwMode="auto">
              <a:xfrm>
                <a:off x="1849" y="833"/>
                <a:ext cx="1" cy="3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484" name="Rectangle 51">
                <a:extLst>
                  <a:ext uri="{FF2B5EF4-FFF2-40B4-BE49-F238E27FC236}">
                    <a16:creationId xmlns:a16="http://schemas.microsoft.com/office/drawing/2014/main" id="{6A41CC0F-0F54-47F9-92E1-484FEBA6AFA8}"/>
                  </a:ext>
                </a:extLst>
              </p:cNvPr>
              <p:cNvSpPr>
                <a:spLocks noChangeArrowheads="1"/>
              </p:cNvSpPr>
              <p:nvPr/>
            </p:nvSpPr>
            <p:spPr bwMode="auto">
              <a:xfrm>
                <a:off x="1570" y="852"/>
                <a:ext cx="39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I</a:t>
                </a:r>
                <a:r>
                  <a:rPr lang="en-US" altLang="zh-CN" sz="2000" baseline="-30000">
                    <a:solidFill>
                      <a:srgbClr val="000000"/>
                    </a:solidFill>
                    <a:latin typeface="Times New Roman" panose="02020603050405020304" pitchFamily="18" charset="0"/>
                    <a:sym typeface="Times New Roman" panose="02020603050405020304" pitchFamily="18" charset="0"/>
                  </a:rPr>
                  <a:t>g</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sp>
            <p:nvSpPr>
              <p:cNvPr id="61485" name="AutoShape 52">
                <a:extLst>
                  <a:ext uri="{FF2B5EF4-FFF2-40B4-BE49-F238E27FC236}">
                    <a16:creationId xmlns:a16="http://schemas.microsoft.com/office/drawing/2014/main" id="{BC532D46-B86B-4D9C-A1DD-3C95A980C797}"/>
                  </a:ext>
                </a:extLst>
              </p:cNvPr>
              <p:cNvSpPr>
                <a:spLocks noChangeArrowheads="1"/>
              </p:cNvSpPr>
              <p:nvPr/>
            </p:nvSpPr>
            <p:spPr bwMode="auto">
              <a:xfrm rot="10800000">
                <a:off x="1839" y="1143"/>
                <a:ext cx="24" cy="95"/>
              </a:xfrm>
              <a:prstGeom prst="triangle">
                <a:avLst>
                  <a:gd name="adj" fmla="val 50000"/>
                </a:avLst>
              </a:prstGeom>
              <a:solidFill>
                <a:srgbClr val="000000"/>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1486" name="Rectangle 53">
                <a:extLst>
                  <a:ext uri="{FF2B5EF4-FFF2-40B4-BE49-F238E27FC236}">
                    <a16:creationId xmlns:a16="http://schemas.microsoft.com/office/drawing/2014/main" id="{D649F5B2-7FF8-48FD-89B9-FF6253788A04}"/>
                  </a:ext>
                </a:extLst>
              </p:cNvPr>
              <p:cNvSpPr>
                <a:spLocks noChangeArrowheads="1"/>
              </p:cNvSpPr>
              <p:nvPr/>
            </p:nvSpPr>
            <p:spPr bwMode="auto">
              <a:xfrm>
                <a:off x="720" y="0"/>
                <a:ext cx="25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B</a:t>
                </a:r>
                <a:endParaRPr lang="en-US" altLang="zh-CN" sz="2000">
                  <a:solidFill>
                    <a:srgbClr val="000000"/>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en-US" sz="2000">
                  <a:solidFill>
                    <a:srgbClr val="000000"/>
                  </a:solidFill>
                  <a:latin typeface="Times New Roman" panose="02020603050405020304" pitchFamily="18" charset="0"/>
                  <a:sym typeface="Times New Roman" panose="02020603050405020304" pitchFamily="18" charset="0"/>
                </a:endParaRPr>
              </a:p>
            </p:txBody>
          </p:sp>
        </p:grpSp>
        <p:cxnSp>
          <p:nvCxnSpPr>
            <p:cNvPr id="61449" name="直接箭头连接符 9">
              <a:extLst>
                <a:ext uri="{FF2B5EF4-FFF2-40B4-BE49-F238E27FC236}">
                  <a16:creationId xmlns:a16="http://schemas.microsoft.com/office/drawing/2014/main" id="{FD2F0950-A783-43EC-96D9-A3EDD320EECE}"/>
                </a:ext>
              </a:extLst>
            </p:cNvPr>
            <p:cNvCxnSpPr>
              <a:cxnSpLocks noChangeShapeType="1"/>
            </p:cNvCxnSpPr>
            <p:nvPr/>
          </p:nvCxnSpPr>
          <p:spPr bwMode="auto">
            <a:xfrm flipV="1">
              <a:off x="6459562" y="4666756"/>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1450" name="直接箭头连接符 10">
              <a:extLst>
                <a:ext uri="{FF2B5EF4-FFF2-40B4-BE49-F238E27FC236}">
                  <a16:creationId xmlns:a16="http://schemas.microsoft.com/office/drawing/2014/main" id="{5256A9D5-6B36-4101-B4DF-396B6B486822}"/>
                </a:ext>
              </a:extLst>
            </p:cNvPr>
            <p:cNvCxnSpPr>
              <a:cxnSpLocks noChangeShapeType="1"/>
            </p:cNvCxnSpPr>
            <p:nvPr/>
          </p:nvCxnSpPr>
          <p:spPr bwMode="auto">
            <a:xfrm flipV="1">
              <a:off x="7235825" y="5334378"/>
              <a:ext cx="0" cy="466293"/>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1451" name="直接箭头连接符 59">
              <a:extLst>
                <a:ext uri="{FF2B5EF4-FFF2-40B4-BE49-F238E27FC236}">
                  <a16:creationId xmlns:a16="http://schemas.microsoft.com/office/drawing/2014/main" id="{D66AC7D0-58D8-4E07-9DA3-063884CEBAF6}"/>
                </a:ext>
              </a:extLst>
            </p:cNvPr>
            <p:cNvCxnSpPr>
              <a:cxnSpLocks noChangeShapeType="1"/>
            </p:cNvCxnSpPr>
            <p:nvPr/>
          </p:nvCxnSpPr>
          <p:spPr bwMode="auto">
            <a:xfrm>
              <a:off x="7182750" y="4666756"/>
              <a:ext cx="0" cy="496365"/>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1452" name="直接箭头连接符 60">
              <a:extLst>
                <a:ext uri="{FF2B5EF4-FFF2-40B4-BE49-F238E27FC236}">
                  <a16:creationId xmlns:a16="http://schemas.microsoft.com/office/drawing/2014/main" id="{B161FDE4-69B8-4017-B1DC-F82EB03504BA}"/>
                </a:ext>
              </a:extLst>
            </p:cNvPr>
            <p:cNvCxnSpPr>
              <a:cxnSpLocks noChangeShapeType="1"/>
            </p:cNvCxnSpPr>
            <p:nvPr/>
          </p:nvCxnSpPr>
          <p:spPr bwMode="auto">
            <a:xfrm>
              <a:off x="6444130" y="5380805"/>
              <a:ext cx="0" cy="496365"/>
            </a:xfrm>
            <a:prstGeom prst="straightConnector1">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grpSp>
      <p:sp>
        <p:nvSpPr>
          <p:cNvPr id="61446" name="Rectangle 5">
            <a:extLst>
              <a:ext uri="{FF2B5EF4-FFF2-40B4-BE49-F238E27FC236}">
                <a16:creationId xmlns:a16="http://schemas.microsoft.com/office/drawing/2014/main" id="{61C15DB4-4B37-4B9F-A832-5D8EAF098E34}"/>
              </a:ext>
            </a:extLst>
          </p:cNvPr>
          <p:cNvSpPr>
            <a:spLocks noChangeArrowheads="1"/>
          </p:cNvSpPr>
          <p:nvPr/>
        </p:nvSpPr>
        <p:spPr bwMode="auto">
          <a:xfrm>
            <a:off x="539750" y="1328738"/>
            <a:ext cx="82804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R1=R4=R+ΔR</a:t>
            </a:r>
            <a:r>
              <a:rPr lang="zh-CN" altLang="en-US"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a:t>
            </a:r>
            <a:r>
              <a:rPr lang="en-US" altLang="zh-CN" sz="2400">
                <a:solidFill>
                  <a:srgbClr val="0000FF"/>
                </a:solidFill>
                <a:latin typeface="微软雅黑" panose="020B0503020204020204" pitchFamily="34" charset="-122"/>
                <a:ea typeface="微软雅黑" panose="020B0503020204020204" pitchFamily="34" charset="-122"/>
                <a:sym typeface="宋体" panose="02010600030101010101" pitchFamily="2" charset="-122"/>
              </a:rPr>
              <a:t>R2=R3=R-ΔR</a:t>
            </a:r>
            <a:r>
              <a:rPr lang="zh-CN" altLang="en-US" sz="2400">
                <a:solidFill>
                  <a:srgbClr val="000000"/>
                </a:solidFill>
                <a:latin typeface="微软雅黑" panose="020B0503020204020204" pitchFamily="34" charset="-122"/>
                <a:ea typeface="微软雅黑" panose="020B0503020204020204" pitchFamily="34" charset="-122"/>
                <a:sym typeface="宋体" panose="02010600030101010101" pitchFamily="2" charset="-122"/>
              </a:rPr>
              <a:t>，计算输出和非线性误差</a:t>
            </a:r>
            <a:endParaRPr lang="zh-CN" altLang="en-US" sz="180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61447" name="对象 2">
                <a:hlinkClick r:id="" action="ppaction://ole?verb=1"/>
                <a:extLst>
                  <a:ext uri="{FF2B5EF4-FFF2-40B4-BE49-F238E27FC236}">
                    <a16:creationId xmlns:a16="http://schemas.microsoft.com/office/drawing/2014/main" id="{484B68CC-46CE-4622-8AF1-26488DD6E96B}"/>
                  </a:ext>
                </a:extLst>
              </p:cNvPr>
              <p:cNvSpPr txBox="1"/>
              <p:nvPr/>
            </p:nvSpPr>
            <p:spPr bwMode="auto">
              <a:xfrm>
                <a:off x="561569" y="1989648"/>
                <a:ext cx="6214440" cy="3175000"/>
              </a:xfrm>
              <a:prstGeom prst="rect">
                <a:avLst/>
              </a:prstGeom>
              <a:noFill/>
              <a:ln>
                <a:noFill/>
              </a:ln>
              <a:extLst/>
            </p:spPr>
            <p:txBody>
              <a:bodyPr>
                <a:noAutofit/>
              </a:bodyPr>
              <a:lstStyle/>
              <a:p>
                <a:pPr/>
                <a14:m>
                  <m:oMathPara xmlns:m="http://schemas.openxmlformats.org/officeDocument/2006/math">
                    <m:oMathParaPr>
                      <m:jc m:val="centerGroup"/>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m:rPr>
                              <m:sty m:val="p"/>
                            </m:rPr>
                            <a:rPr lang="zh-CN" altLang="en-US" sz="2400" i="0">
                              <a:solidFill>
                                <a:srgbClr val="000000"/>
                              </a:solidFill>
                              <a:latin typeface="Cambria Math" panose="02040503050406030204" pitchFamily="18" charset="0"/>
                            </a:rPr>
                            <m:t>U</m:t>
                          </m:r>
                        </m:e>
                        <m:sub>
                          <m:r>
                            <m:rPr>
                              <m:sty m:val="p"/>
                            </m:rPr>
                            <a:rPr lang="zh-CN" altLang="en-US" sz="2400" i="0">
                              <a:solidFill>
                                <a:srgbClr val="000000"/>
                              </a:solidFill>
                              <a:latin typeface="Cambria Math" panose="02040503050406030204" pitchFamily="18" charset="0"/>
                            </a:rPr>
                            <m:t>g</m:t>
                          </m:r>
                        </m:sub>
                      </m:sSub>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E</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ΔR</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ΔR</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m:t>
                              </m:r>
                            </m:e>
                            <m:sup>
                              <m:r>
                                <a:rPr lang="zh-CN" altLang="en-US" sz="2400" i="0">
                                  <a:solidFill>
                                    <a:srgbClr val="000000"/>
                                  </a:solidFill>
                                  <a:latin typeface="Cambria Math" panose="02040503050406030204" pitchFamily="18" charset="0"/>
                                </a:rPr>
                                <m:t>2</m:t>
                              </m:r>
                            </m:sup>
                          </m:sSup>
                        </m:num>
                        <m:den>
                          <m:r>
                            <m:rPr>
                              <m:nor/>
                            </m:rPr>
                            <a:rPr lang="zh-CN" altLang="en-US" sz="2400" i="0">
                              <a:solidFill>
                                <a:srgbClr val="000000"/>
                              </a:solidFill>
                              <a:latin typeface="Cambria Math" panose="02040503050406030204" pitchFamily="18" charset="0"/>
                            </a:rPr>
                            <m:t>2</m:t>
                          </m:r>
                          <m:r>
                            <m:rPr>
                              <m:nor/>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2</m:t>
                          </m:r>
                          <m:r>
                            <m:rPr>
                              <m:nor/>
                            </m:rPr>
                            <a:rPr lang="zh-CN" altLang="en-US" sz="2400" i="0">
                              <a:solidFill>
                                <a:srgbClr val="000000"/>
                              </a:solidFill>
                              <a:latin typeface="Cambria Math" panose="02040503050406030204" pitchFamily="18" charset="0"/>
                            </a:rPr>
                            <m:t>R</m:t>
                          </m:r>
                        </m:den>
                      </m:f>
                      <m:r>
                        <m:rPr>
                          <m:nor/>
                        </m:rPr>
                        <a:rPr lang="zh-CN" altLang="en-US" sz="2400" i="0">
                          <a:solidFill>
                            <a:srgbClr val="000000"/>
                          </a:solidFill>
                          <a:latin typeface="Cambria Math" panose="02040503050406030204" pitchFamily="18" charset="0"/>
                        </a:rPr>
                        <m:t>   </m:t>
                      </m:r>
                    </m:oMath>
                    <m:oMath xmlns:m="http://schemas.openxmlformats.org/officeDocument/2006/math">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E</m:t>
                      </m:r>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m:rPr>
                              <m:nor/>
                            </m:rPr>
                            <a:rPr lang="zh-CN" altLang="en-US" sz="2400" i="0">
                              <a:solidFill>
                                <a:srgbClr val="000000"/>
                              </a:solidFill>
                              <a:latin typeface="Cambria Math" panose="02040503050406030204" pitchFamily="18" charset="0"/>
                            </a:rPr>
                            <m:t>2</m:t>
                          </m:r>
                          <m:r>
                            <m:rPr>
                              <m:nor/>
                            </m:rPr>
                            <a:rPr lang="zh-CN" altLang="en-US" sz="2400" i="0">
                              <a:solidFill>
                                <a:srgbClr val="000000"/>
                              </a:solidFill>
                              <a:latin typeface="Cambria Math" panose="02040503050406030204" pitchFamily="18" charset="0"/>
                            </a:rPr>
                            <m:t>R</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2</m:t>
                          </m:r>
                          <m:r>
                            <m:rPr>
                              <m:sty m:val="p"/>
                            </m:rPr>
                            <a:rPr lang="zh-CN" altLang="en-US" sz="2400" i="1">
                              <a:solidFill>
                                <a:srgbClr val="000000"/>
                              </a:solidFill>
                              <a:latin typeface="Cambria Math" panose="02040503050406030204" pitchFamily="18" charset="0"/>
                            </a:rPr>
                            <m:t>Δ</m:t>
                          </m:r>
                          <m:r>
                            <m:rPr>
                              <m:sty m:val="p"/>
                            </m:rPr>
                            <a:rPr lang="zh-CN" altLang="en-US" sz="2400" i="0">
                              <a:solidFill>
                                <a:srgbClr val="000000"/>
                              </a:solidFill>
                              <a:latin typeface="Cambria Math" panose="02040503050406030204" pitchFamily="18" charset="0"/>
                            </a:rPr>
                            <m:t>R</m:t>
                          </m:r>
                        </m:num>
                        <m:den>
                          <m:r>
                            <m:rPr>
                              <m:nor/>
                            </m:rPr>
                            <a:rPr lang="zh-CN" altLang="en-US" sz="2400" i="0">
                              <a:solidFill>
                                <a:srgbClr val="000000"/>
                              </a:solidFill>
                              <a:latin typeface="Cambria Math" panose="02040503050406030204" pitchFamily="18" charset="0"/>
                            </a:rPr>
                            <m:t>4</m:t>
                          </m:r>
                          <m:sSup>
                            <m:sSupPr>
                              <m:ctrlPr>
                                <a:rPr lang="zh-CN" altLang="en-US" sz="2400" i="1">
                                  <a:solidFill>
                                    <a:srgbClr val="000000"/>
                                  </a:solidFill>
                                  <a:latin typeface="Cambria Math" panose="02040503050406030204" pitchFamily="18" charset="0"/>
                                </a:rPr>
                              </m:ctrlPr>
                            </m:sSupPr>
                            <m:e>
                              <m:r>
                                <m:rPr>
                                  <m:nor/>
                                </m:rPr>
                                <a:rPr lang="zh-CN" altLang="en-US" sz="2400" i="0">
                                  <a:solidFill>
                                    <a:srgbClr val="000000"/>
                                  </a:solidFill>
                                  <a:latin typeface="Cambria Math" panose="02040503050406030204" pitchFamily="18" charset="0"/>
                                </a:rPr>
                                <m:t>R</m:t>
                              </m:r>
                            </m:e>
                            <m:sup>
                              <m:r>
                                <a:rPr lang="zh-CN" altLang="en-US" sz="2400" i="0">
                                  <a:solidFill>
                                    <a:srgbClr val="000000"/>
                                  </a:solidFill>
                                  <a:latin typeface="Cambria Math" panose="02040503050406030204" pitchFamily="18" charset="0"/>
                                </a:rPr>
                                <m:t>2</m:t>
                              </m:r>
                            </m:sup>
                          </m:sSup>
                        </m:den>
                      </m:f>
                    </m:oMath>
                    <m:oMath xmlns:m="http://schemas.openxmlformats.org/officeDocument/2006/math">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E</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 </m:t>
                      </m:r>
                      <m:f>
                        <m:fPr>
                          <m:ctrlPr>
                            <a:rPr lang="zh-CN" altLang="en-US" sz="2400" i="1">
                              <a:solidFill>
                                <a:srgbClr val="000000"/>
                              </a:solidFill>
                              <a:latin typeface="Cambria Math" panose="02040503050406030204" pitchFamily="18" charset="0"/>
                            </a:rPr>
                          </m:ctrlPr>
                        </m:fPr>
                        <m:num>
                          <m:r>
                            <m:rPr>
                              <m:nor/>
                            </m:rPr>
                            <a:rPr lang="zh-CN" altLang="en-US" sz="2400" i="0">
                              <a:solidFill>
                                <a:srgbClr val="000000"/>
                              </a:solidFill>
                              <a:latin typeface="Cambria Math" panose="02040503050406030204" pitchFamily="18" charset="0"/>
                            </a:rPr>
                            <m:t>ΔR</m:t>
                          </m:r>
                        </m:num>
                        <m:den>
                          <m:r>
                            <m:rPr>
                              <m:sty m:val="p"/>
                            </m:rPr>
                            <a:rPr lang="zh-CN" altLang="en-US" sz="2400" i="0">
                              <a:solidFill>
                                <a:srgbClr val="000000"/>
                              </a:solidFill>
                              <a:latin typeface="Cambria Math" panose="02040503050406030204" pitchFamily="18" charset="0"/>
                            </a:rPr>
                            <m:t>R</m:t>
                          </m:r>
                        </m:den>
                      </m:f>
                      <m: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m:rPr>
                          <m:sty m:val="p"/>
                        </m:rPr>
                        <a:rPr lang="zh-CN" altLang="en-US" sz="2400" i="0">
                          <a:solidFill>
                            <a:srgbClr val="000000"/>
                          </a:solidFill>
                          <a:latin typeface="Cambria Math" panose="02040503050406030204" pitchFamily="18" charset="0"/>
                        </a:rPr>
                        <m:t>E</m:t>
                      </m:r>
                      <m:r>
                        <a:rPr lang="zh-CN" altLang="en-US" sz="2400" i="1">
                          <a:solidFill>
                            <a:srgbClr val="000000"/>
                          </a:solidFill>
                          <a:latin typeface="Cambria Math" panose="02040503050406030204" pitchFamily="18" charset="0"/>
                        </a:rPr>
                        <m:t>⋅</m:t>
                      </m:r>
                      <m:r>
                        <m:rPr>
                          <m:nor/>
                        </m:rPr>
                        <a:rPr lang="zh-CN" altLang="en-US" sz="2400" i="0">
                          <a:solidFill>
                            <a:srgbClr val="000000"/>
                          </a:solidFill>
                          <a:latin typeface="Cambria Math" panose="02040503050406030204" pitchFamily="18" charset="0"/>
                        </a:rPr>
                        <m:t>Kε</m:t>
                      </m:r>
                    </m:oMath>
                  </m:oMathPara>
                </a14:m>
                <a:endParaRPr lang="en-US" altLang="zh-CN" sz="2400" i="0" dirty="0">
                  <a:solidFill>
                    <a:srgbClr val="000000"/>
                  </a:solidFill>
                  <a:latin typeface="Cambria Math" panose="02040503050406030204" pitchFamily="18" charset="0"/>
                </a:endParaRPr>
              </a:p>
              <a:p>
                <a:pPr/>
                <a:br>
                  <a:rPr lang="zh-CN" altLang="en-US" sz="2400" i="0" dirty="0">
                    <a:solidFill>
                      <a:srgbClr val="000000"/>
                    </a:solidFill>
                    <a:latin typeface="Cambria Math" panose="02040503050406030204" pitchFamily="18" charset="0"/>
                  </a:rPr>
                </a:br>
                <a:r>
                  <a:rPr lang="zh-CN" altLang="en-US" sz="2400" i="0" dirty="0">
                    <a:solidFill>
                      <a:srgbClr val="000000"/>
                    </a:solidFill>
                    <a:latin typeface="Cambria Math" panose="02040503050406030204" pitchFamily="18" charset="0"/>
                  </a:rPr>
                  <a:t>             </a:t>
                </a:r>
                <a14:m>
                  <m:oMath xmlns:m="http://schemas.openxmlformats.org/officeDocument/2006/math">
                    <m:r>
                      <m:rPr>
                        <m:nor/>
                      </m:rPr>
                      <a:rPr lang="zh-CN" altLang="en-US" sz="2400" i="0">
                        <a:solidFill>
                          <a:srgbClr val="000000"/>
                        </a:solidFill>
                        <a:latin typeface="Cambria Math" panose="02040503050406030204" pitchFamily="18" charset="0"/>
                      </a:rPr>
                      <m:t>δ</m:t>
                    </m:r>
                    <m:r>
                      <m:rPr>
                        <m:nor/>
                      </m:rPr>
                      <a:rPr lang="zh-CN" altLang="en-US" sz="2400" i="0">
                        <a:solidFill>
                          <a:srgbClr val="000000"/>
                        </a:solidFill>
                        <a:latin typeface="Cambria Math" panose="02040503050406030204" pitchFamily="18" charset="0"/>
                      </a:rPr>
                      <m:t>  </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0</m:t>
                    </m:r>
                  </m:oMath>
                </a14:m>
                <a:br>
                  <a:rPr lang="zh-CN" altLang="en-US" sz="2400" i="0" dirty="0">
                    <a:solidFill>
                      <a:srgbClr val="000000"/>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r>
                        <m:rPr>
                          <m:nor/>
                        </m:rPr>
                        <a:rPr lang="zh-CN" altLang="en-US" sz="2400" i="0">
                          <a:solidFill>
                            <a:srgbClr val="000000"/>
                          </a:solidFill>
                          <a:latin typeface="Cambria Math" panose="02040503050406030204" pitchFamily="18" charset="0"/>
                        </a:rPr>
                        <m:t>       </m:t>
                      </m:r>
                    </m:oMath>
                  </m:oMathPara>
                </a14:m>
                <a:endParaRPr lang="zh-CN" altLang="en-US" sz="2400" dirty="0"/>
              </a:p>
            </p:txBody>
          </p:sp>
        </mc:Choice>
        <mc:Fallback xmlns="">
          <p:sp>
            <p:nvSpPr>
              <p:cNvPr id="61447" name="对象 2">
                <a:hlinkClick r:id="" action="ppaction://ole?verb=1"/>
                <a:extLst>
                  <a:ext uri="{FF2B5EF4-FFF2-40B4-BE49-F238E27FC236}">
                    <a16:creationId xmlns:a16="http://schemas.microsoft.com/office/drawing/2014/main" id="{484B68CC-46CE-4622-8AF1-26488DD6E96B}"/>
                  </a:ext>
                </a:extLst>
              </p:cNvPr>
              <p:cNvSpPr txBox="1">
                <a:spLocks noRot="1" noChangeAspect="1" noMove="1" noResize="1" noEditPoints="1" noAdjustHandles="1" noChangeArrowheads="1" noChangeShapeType="1" noTextEdit="1"/>
              </p:cNvSpPr>
              <p:nvPr/>
            </p:nvSpPr>
            <p:spPr bwMode="auto">
              <a:xfrm>
                <a:off x="561569" y="1989648"/>
                <a:ext cx="6214440" cy="3175000"/>
              </a:xfrm>
              <a:prstGeom prst="rect">
                <a:avLst/>
              </a:prstGeom>
              <a:blipFill>
                <a:blip r:embed="rId2"/>
                <a:stretch>
                  <a:fillRect b="-192"/>
                </a:stretch>
              </a:blipFill>
              <a:ln>
                <a:noFill/>
              </a:ln>
              <a:extLst/>
            </p:spPr>
            <p:txBody>
              <a:bodyPr/>
              <a:lstStyle/>
              <a:p>
                <a:r>
                  <a:rPr lang="zh-CN" altLang="en-US">
                    <a:noFill/>
                  </a:rPr>
                  <a:t> </a:t>
                </a:r>
              </a:p>
            </p:txBody>
          </p:sp>
        </mc:Fallback>
      </mc:AlternateContent>
      <p:sp>
        <p:nvSpPr>
          <p:cNvPr id="61" name="矩形 60">
            <a:extLst>
              <a:ext uri="{FF2B5EF4-FFF2-40B4-BE49-F238E27FC236}">
                <a16:creationId xmlns:a16="http://schemas.microsoft.com/office/drawing/2014/main" id="{BB54DCEA-2B46-4FD9-A7C3-7C980BE9C9AE}"/>
              </a:ext>
            </a:extLst>
          </p:cNvPr>
          <p:cNvSpPr>
            <a:spLocks noChangeArrowheads="1"/>
          </p:cNvSpPr>
          <p:nvPr/>
        </p:nvSpPr>
        <p:spPr bwMode="auto">
          <a:xfrm>
            <a:off x="1186065" y="4995937"/>
            <a:ext cx="340509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全桥恒压源驱动</a:t>
            </a:r>
            <a:endPar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放大倍数再增加</a:t>
            </a:r>
            <a:endPar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endParaRPr>
          </a:p>
          <a:p>
            <a:r>
              <a:rPr lang="en-US" altLang="zh-CN"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       </a:t>
            </a:r>
            <a:r>
              <a:rPr lang="zh-CN" altLang="en-US" sz="2800"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且无非线性误差</a:t>
            </a:r>
            <a:endParaRPr lang="zh-CN" altLang="en-US" sz="2800" dirty="0">
              <a:solidFill>
                <a:srgbClr val="00B0F0"/>
              </a:solidFill>
              <a:cs typeface="Times New Roman" panose="02020603050405020304" pitchFamily="18" charset="0"/>
            </a:endParaRPr>
          </a:p>
        </p:txBody>
      </p:sp>
      <p:pic>
        <p:nvPicPr>
          <p:cNvPr id="3" name="图形 2" descr="竖起的大拇指手势 ">
            <a:extLst>
              <a:ext uri="{FF2B5EF4-FFF2-40B4-BE49-F238E27FC236}">
                <a16:creationId xmlns:a16="http://schemas.microsoft.com/office/drawing/2014/main" id="{5923DF3E-0E81-4B4E-9415-8B2DB0F933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22375" y="5231234"/>
            <a:ext cx="914400" cy="914400"/>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down)">
                                      <p:cBhvr>
                                        <p:cTn id="7" dur="580">
                                          <p:stCondLst>
                                            <p:cond delay="0"/>
                                          </p:stCondLst>
                                        </p:cTn>
                                        <p:tgtEl>
                                          <p:spTgt spid="61"/>
                                        </p:tgtEl>
                                      </p:cBhvr>
                                    </p:animEffect>
                                    <p:anim calcmode="lin" valueType="num">
                                      <p:cBhvr>
                                        <p:cTn id="8" dur="1822" tmFilter="0,0; 0.14,0.36; 0.43,0.73; 0.71,0.91; 1.0,1.0">
                                          <p:stCondLst>
                                            <p:cond delay="0"/>
                                          </p:stCondLst>
                                        </p:cTn>
                                        <p:tgtEl>
                                          <p:spTgt spid="6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1"/>
                                        </p:tgtEl>
                                        <p:attrNameLst>
                                          <p:attrName>ppt_y</p:attrName>
                                        </p:attrNameLst>
                                      </p:cBhvr>
                                      <p:tavLst>
                                        <p:tav tm="0" fmla="#ppt_y-sin(pi*$)/81">
                                          <p:val>
                                            <p:fltVal val="0"/>
                                          </p:val>
                                        </p:tav>
                                        <p:tav tm="100000">
                                          <p:val>
                                            <p:fltVal val="1"/>
                                          </p:val>
                                        </p:tav>
                                      </p:tavLst>
                                    </p:anim>
                                    <p:animScale>
                                      <p:cBhvr>
                                        <p:cTn id="13" dur="26">
                                          <p:stCondLst>
                                            <p:cond delay="650"/>
                                          </p:stCondLst>
                                        </p:cTn>
                                        <p:tgtEl>
                                          <p:spTgt spid="61"/>
                                        </p:tgtEl>
                                      </p:cBhvr>
                                      <p:to x="100000" y="60000"/>
                                    </p:animScale>
                                    <p:animScale>
                                      <p:cBhvr>
                                        <p:cTn id="14" dur="166" decel="50000">
                                          <p:stCondLst>
                                            <p:cond delay="676"/>
                                          </p:stCondLst>
                                        </p:cTn>
                                        <p:tgtEl>
                                          <p:spTgt spid="61"/>
                                        </p:tgtEl>
                                      </p:cBhvr>
                                      <p:to x="100000" y="100000"/>
                                    </p:animScale>
                                    <p:animScale>
                                      <p:cBhvr>
                                        <p:cTn id="15" dur="26">
                                          <p:stCondLst>
                                            <p:cond delay="1312"/>
                                          </p:stCondLst>
                                        </p:cTn>
                                        <p:tgtEl>
                                          <p:spTgt spid="61"/>
                                        </p:tgtEl>
                                      </p:cBhvr>
                                      <p:to x="100000" y="80000"/>
                                    </p:animScale>
                                    <p:animScale>
                                      <p:cBhvr>
                                        <p:cTn id="16" dur="166" decel="50000">
                                          <p:stCondLst>
                                            <p:cond delay="1338"/>
                                          </p:stCondLst>
                                        </p:cTn>
                                        <p:tgtEl>
                                          <p:spTgt spid="61"/>
                                        </p:tgtEl>
                                      </p:cBhvr>
                                      <p:to x="100000" y="100000"/>
                                    </p:animScale>
                                    <p:animScale>
                                      <p:cBhvr>
                                        <p:cTn id="17" dur="26">
                                          <p:stCondLst>
                                            <p:cond delay="1642"/>
                                          </p:stCondLst>
                                        </p:cTn>
                                        <p:tgtEl>
                                          <p:spTgt spid="61"/>
                                        </p:tgtEl>
                                      </p:cBhvr>
                                      <p:to x="100000" y="90000"/>
                                    </p:animScale>
                                    <p:animScale>
                                      <p:cBhvr>
                                        <p:cTn id="18" dur="166" decel="50000">
                                          <p:stCondLst>
                                            <p:cond delay="1668"/>
                                          </p:stCondLst>
                                        </p:cTn>
                                        <p:tgtEl>
                                          <p:spTgt spid="61"/>
                                        </p:tgtEl>
                                      </p:cBhvr>
                                      <p:to x="100000" y="100000"/>
                                    </p:animScale>
                                    <p:animScale>
                                      <p:cBhvr>
                                        <p:cTn id="19" dur="26">
                                          <p:stCondLst>
                                            <p:cond delay="1808"/>
                                          </p:stCondLst>
                                        </p:cTn>
                                        <p:tgtEl>
                                          <p:spTgt spid="61"/>
                                        </p:tgtEl>
                                      </p:cBhvr>
                                      <p:to x="100000" y="95000"/>
                                    </p:animScale>
                                    <p:animScale>
                                      <p:cBhvr>
                                        <p:cTn id="20" dur="166" decel="50000">
                                          <p:stCondLst>
                                            <p:cond delay="1834"/>
                                          </p:stCondLst>
                                        </p:cTn>
                                        <p:tgtEl>
                                          <p:spTgt spid="61"/>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1000" fill="hold"/>
                                        <p:tgtEl>
                                          <p:spTgt spid="3"/>
                                        </p:tgtEl>
                                        <p:attrNameLst>
                                          <p:attrName>ppt_w</p:attrName>
                                        </p:attrNameLst>
                                      </p:cBhvr>
                                      <p:tavLst>
                                        <p:tav tm="0">
                                          <p:val>
                                            <p:fltVal val="0"/>
                                          </p:val>
                                        </p:tav>
                                        <p:tav tm="100000">
                                          <p:val>
                                            <p:strVal val="#ppt_w"/>
                                          </p:val>
                                        </p:tav>
                                      </p:tavLst>
                                    </p:anim>
                                    <p:anim calcmode="lin" valueType="num">
                                      <p:cBhvr>
                                        <p:cTn id="26" dur="1000" fill="hold"/>
                                        <p:tgtEl>
                                          <p:spTgt spid="3"/>
                                        </p:tgtEl>
                                        <p:attrNameLst>
                                          <p:attrName>ppt_h</p:attrName>
                                        </p:attrNameLst>
                                      </p:cBhvr>
                                      <p:tavLst>
                                        <p:tav tm="0">
                                          <p:val>
                                            <p:fltVal val="0"/>
                                          </p:val>
                                        </p:tav>
                                        <p:tav tm="100000">
                                          <p:val>
                                            <p:strVal val="#ppt_h"/>
                                          </p:val>
                                        </p:tav>
                                      </p:tavLst>
                                    </p:anim>
                                    <p:anim calcmode="lin" valueType="num">
                                      <p:cBhvr>
                                        <p:cTn id="27" dur="1000" fill="hold"/>
                                        <p:tgtEl>
                                          <p:spTgt spid="3"/>
                                        </p:tgtEl>
                                        <p:attrNameLst>
                                          <p:attrName>style.rotation</p:attrName>
                                        </p:attrNameLst>
                                      </p:cBhvr>
                                      <p:tavLst>
                                        <p:tav tm="0">
                                          <p:val>
                                            <p:fltVal val="90"/>
                                          </p:val>
                                        </p:tav>
                                        <p:tav tm="100000">
                                          <p:val>
                                            <p:fltVal val="0"/>
                                          </p:val>
                                        </p:tav>
                                      </p:tavLst>
                                    </p:anim>
                                    <p:animEffect transition="in" filter="fade">
                                      <p:cBhvr>
                                        <p:cTn id="28"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4">
            <a:extLst>
              <a:ext uri="{FF2B5EF4-FFF2-40B4-BE49-F238E27FC236}">
                <a16:creationId xmlns:a16="http://schemas.microsoft.com/office/drawing/2014/main" id="{C006FD8F-8972-400F-9098-AB44047ABFC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2467" name="灯片编号占位符 3">
            <a:extLst>
              <a:ext uri="{FF2B5EF4-FFF2-40B4-BE49-F238E27FC236}">
                <a16:creationId xmlns:a16="http://schemas.microsoft.com/office/drawing/2014/main" id="{A6F94E09-C076-4248-97EF-27C2E8DBBB5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D53A84C-47E8-4D7D-8415-8B94224897F2}"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60</a:t>
            </a:fld>
            <a:endParaRPr lang="en-US" altLang="zh-CN" sz="1400">
              <a:solidFill>
                <a:srgbClr val="000000"/>
              </a:solidFill>
              <a:latin typeface="Arial" panose="020B0604020202020204" pitchFamily="34" charset="0"/>
            </a:endParaRPr>
          </a:p>
        </p:txBody>
      </p:sp>
      <p:sp>
        <p:nvSpPr>
          <p:cNvPr id="62468" name="TextBox 5">
            <a:extLst>
              <a:ext uri="{FF2B5EF4-FFF2-40B4-BE49-F238E27FC236}">
                <a16:creationId xmlns:a16="http://schemas.microsoft.com/office/drawing/2014/main" id="{B91A4589-0816-4932-8B4F-1528307BB9ED}"/>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4</a:t>
            </a:r>
            <a:r>
              <a:rPr lang="zh-CN" altLang="en-US" b="1">
                <a:solidFill>
                  <a:srgbClr val="C00000"/>
                </a:solidFill>
                <a:latin typeface="黑体" panose="02010609060101010101" pitchFamily="49" charset="-122"/>
                <a:ea typeface="黑体" panose="02010609060101010101" pitchFamily="49" charset="-122"/>
              </a:rPr>
              <a:t>.</a:t>
            </a:r>
            <a:r>
              <a:rPr lang="en-US" altLang="zh-CN" b="1">
                <a:solidFill>
                  <a:srgbClr val="C00000"/>
                </a:solidFill>
                <a:latin typeface="黑体" panose="02010609060101010101" pitchFamily="49" charset="-122"/>
                <a:ea typeface="黑体" panose="02010609060101010101" pitchFamily="49" charset="-122"/>
              </a:rPr>
              <a:t>5</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测量电路（小结）</a:t>
            </a:r>
            <a:endParaRPr lang="zh-CN" altLang="en-US" sz="1800">
              <a:latin typeface="黑体" panose="02010609060101010101" pitchFamily="49" charset="-122"/>
              <a:ea typeface="黑体" panose="02010609060101010101" pitchFamily="49" charset="-122"/>
            </a:endParaRPr>
          </a:p>
        </p:txBody>
      </p:sp>
      <p:graphicFrame>
        <p:nvGraphicFramePr>
          <p:cNvPr id="54277" name="Group 5">
            <a:extLst>
              <a:ext uri="{FF2B5EF4-FFF2-40B4-BE49-F238E27FC236}">
                <a16:creationId xmlns:a16="http://schemas.microsoft.com/office/drawing/2014/main" id="{03022A7C-961D-48EB-8535-50934F71A388}"/>
              </a:ext>
            </a:extLst>
          </p:cNvPr>
          <p:cNvGraphicFramePr>
            <a:graphicFrameLocks noGrp="1"/>
          </p:cNvGraphicFramePr>
          <p:nvPr>
            <p:extLst>
              <p:ext uri="{D42A27DB-BD31-4B8C-83A1-F6EECF244321}">
                <p14:modId xmlns:p14="http://schemas.microsoft.com/office/powerpoint/2010/main" val="2361369018"/>
              </p:ext>
            </p:extLst>
          </p:nvPr>
        </p:nvGraphicFramePr>
        <p:xfrm>
          <a:off x="684213" y="2152650"/>
          <a:ext cx="7777162" cy="3411538"/>
        </p:xfrm>
        <a:graphic>
          <a:graphicData uri="http://schemas.openxmlformats.org/drawingml/2006/table">
            <a:tbl>
              <a:tblPr/>
              <a:tblGrid>
                <a:gridCol w="1670050">
                  <a:extLst>
                    <a:ext uri="{9D8B030D-6E8A-4147-A177-3AD203B41FA5}">
                      <a16:colId xmlns:a16="http://schemas.microsoft.com/office/drawing/2014/main" val="20000"/>
                    </a:ext>
                  </a:extLst>
                </a:gridCol>
                <a:gridCol w="3587750">
                  <a:extLst>
                    <a:ext uri="{9D8B030D-6E8A-4147-A177-3AD203B41FA5}">
                      <a16:colId xmlns:a16="http://schemas.microsoft.com/office/drawing/2014/main" val="20001"/>
                    </a:ext>
                  </a:extLst>
                </a:gridCol>
                <a:gridCol w="2519362">
                  <a:extLst>
                    <a:ext uri="{9D8B030D-6E8A-4147-A177-3AD203B41FA5}">
                      <a16:colId xmlns:a16="http://schemas.microsoft.com/office/drawing/2014/main" val="20002"/>
                    </a:ext>
                  </a:extLst>
                </a:gridCol>
              </a:tblGrid>
              <a:tr h="829462">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电路形式</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电路输出</a:t>
                      </a:r>
                      <a:r>
                        <a:rPr kumimoji="0" lang="zh-CN" alt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Ug</a:t>
                      </a: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a:t>
                      </a:r>
                      <a:r>
                        <a:rPr kumimoji="0" lang="zh-CN" alt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K</a:t>
                      </a:r>
                      <a:r>
                        <a:rPr kumimoji="0" lang="zh-CN" alt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宋体" pitchFamily="2" charset="-122"/>
                        </a:rPr>
                        <a:t>ε&lt;&lt;1</a:t>
                      </a: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Calibri" pitchFamily="34" charset="0"/>
                        </a:rPr>
                        <a:t>非线性误差</a:t>
                      </a:r>
                      <a:r>
                        <a:rPr kumimoji="0" lang="zh-CN" altLang="zh-CN" sz="2400" b="1" i="0" u="none" strike="noStrike" cap="none" normalizeH="0" baseline="0" dirty="0">
                          <a:ln>
                            <a:noFill/>
                          </a:ln>
                          <a:solidFill>
                            <a:srgbClr val="FFFFFF"/>
                          </a:solidFill>
                          <a:effectLst/>
                          <a:latin typeface="微软雅黑" panose="020B0503020204020204" pitchFamily="34" charset="-122"/>
                          <a:ea typeface="微软雅黑" panose="020B0503020204020204" pitchFamily="34" charset="-122"/>
                          <a:sym typeface="宋体" pitchFamily="2" charset="-122"/>
                        </a:rPr>
                        <a:t>δ</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640371">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单臂</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Calibri" pitchFamily="34" charset="0"/>
                        </a:rPr>
                        <a:t>Ug=E/4</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a:ln>
                            <a:noFill/>
                          </a:ln>
                          <a:solidFill>
                            <a:srgbClr val="000000"/>
                          </a:solidFill>
                          <a:effectLst/>
                          <a:latin typeface="Calibri" pitchFamily="34" charset="0"/>
                          <a:ea typeface="宋体" pitchFamily="2" charset="-122"/>
                          <a:sym typeface="宋体" pitchFamily="2" charset="-122"/>
                        </a:rPr>
                        <a:t>δ=1/2</a:t>
                      </a:r>
                      <a:r>
                        <a:rPr kumimoji="0" lang="zh-CN" altLang="zh-CN" sz="2400" b="0" i="0" u="none" strike="noStrike" cap="none" normalizeH="0" baseline="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a:ln>
                            <a:noFill/>
                          </a:ln>
                          <a:solidFill>
                            <a:srgbClr val="000000"/>
                          </a:solidFill>
                          <a:effectLs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1336292">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半桥</a:t>
                      </a: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1</a:t>
                      </a: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highlight>
                            <a:srgbClr val="FFFF00"/>
                          </a:highlight>
                          <a:latin typeface="微软雅黑" panose="020B0503020204020204" pitchFamily="34" charset="-122"/>
                          <a:ea typeface="微软雅黑" panose="020B0503020204020204" pitchFamily="34" charset="-122"/>
                          <a:sym typeface="Calibri" pitchFamily="34" charset="0"/>
                        </a:rPr>
                        <a:t>半桥</a:t>
                      </a:r>
                      <a:r>
                        <a:rPr kumimoji="0" lang="en-US" altLang="zh-CN" sz="2400" b="0" i="0" u="none" strike="noStrike" cap="none" normalizeH="0" baseline="0" dirty="0">
                          <a:ln>
                            <a:noFill/>
                          </a:ln>
                          <a:solidFill>
                            <a:srgbClr val="000000"/>
                          </a:solidFill>
                          <a:effectLst/>
                          <a:highlight>
                            <a:srgbClr val="FFFF00"/>
                          </a:highlight>
                          <a:latin typeface="微软雅黑" panose="020B0503020204020204" pitchFamily="34" charset="-122"/>
                          <a:ea typeface="微软雅黑" panose="020B0503020204020204" pitchFamily="34" charset="-122"/>
                          <a:sym typeface="Calibri" pitchFamily="34" charset="0"/>
                        </a:rPr>
                        <a:t>2</a:t>
                      </a:r>
                      <a:endParaRPr kumimoji="0" lang="zh-CN" altLang="zh-CN" sz="2400" b="0" i="0" u="none" strike="noStrike" cap="none" normalizeH="0" baseline="0" dirty="0">
                        <a:ln>
                          <a:noFill/>
                        </a:ln>
                        <a:solidFill>
                          <a:srgbClr val="000000"/>
                        </a:solidFill>
                        <a:effectLst/>
                        <a:highlight>
                          <a:srgbClr val="FFFF00"/>
                        </a:highlight>
                        <a:latin typeface="微软雅黑" panose="020B0503020204020204" pitchFamily="34" charset="-122"/>
                        <a:ea typeface="微软雅黑" panose="020B0503020204020204" pitchFamily="34" charset="-122"/>
                        <a:sym typeface="Calibri" pitchFamily="34" charset="0"/>
                      </a:endParaRP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半桥</a:t>
                      </a:r>
                      <a:r>
                        <a:rPr kumimoji="0" lang="en-US" alt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rPr>
                        <a:t>3</a:t>
                      </a:r>
                      <a:endParaRPr kumimoji="0" lang="zh-CN" sz="2400" b="0"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Calibri" pitchFamily="34" charset="0"/>
                      </a:endParaRP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Calibri" pitchFamily="34" charset="0"/>
                        </a:rPr>
                        <a:t>Ug=E/2</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endParaRPr kumimoji="0" lang="en-US"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endParaRP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Calibri" pitchFamily="34" charset="0"/>
                        </a:rPr>
                        <a:t>Ug=E/2</a:t>
                      </a: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ε</a:t>
                      </a:r>
                      <a:endParaRPr kumimoji="0" lang="en-US"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endParaRP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Calibri" pitchFamily="34" charset="0"/>
                        </a:rPr>
                        <a:t>Ug=E/2</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δ=</a:t>
                      </a:r>
                      <a:r>
                        <a:rPr kumimoji="0" lang="en-US"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1/2</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r>
                        <a:rPr kumimoji="0" lang="en-US"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a:t>
                      </a:r>
                      <a:r>
                        <a:rPr kumimoji="0" lang="en-US" altLang="zh-CN" sz="2400" b="0" i="0" u="none" strike="noStrike" cap="none" normalizeH="0" baseline="30000" dirty="0">
                          <a:ln>
                            <a:noFill/>
                          </a:ln>
                          <a:solidFill>
                            <a:srgbClr val="000000"/>
                          </a:solidFill>
                          <a:effectLst/>
                          <a:latin typeface="Calibri" pitchFamily="34" charset="0"/>
                          <a:ea typeface="宋体" pitchFamily="2" charset="-122"/>
                          <a:sym typeface="宋体" pitchFamily="2" charset="-122"/>
                        </a:rPr>
                        <a:t>2</a:t>
                      </a: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δ=</a:t>
                      </a:r>
                      <a:r>
                        <a:rPr kumimoji="0" lang="en-US"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0</a:t>
                      </a:r>
                    </a:p>
                    <a:p>
                      <a:pPr marL="0" marR="0" lvl="0" indent="0" algn="ctr" defTabSz="0" rtl="0" eaLnBrk="0" fontAlgn="base" latinLnBrk="0" hangingPunct="0">
                        <a:lnSpc>
                          <a:spcPct val="100000"/>
                        </a:lnSpc>
                        <a:spcBef>
                          <a:spcPct val="20000"/>
                        </a:spcBef>
                        <a:spcAft>
                          <a:spcPct val="0"/>
                        </a:spcAft>
                        <a:buClrTx/>
                        <a:buSzTx/>
                        <a:buFont typeface="Arial" pitchFamily="34" charset="0"/>
                        <a:buNone/>
                        <a:defRPr/>
                      </a:pP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δ=1/2</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605413">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sz="2400" b="0" i="0" u="none" strike="noStrike" cap="none" normalizeH="0" baseline="0" dirty="0">
                          <a:ln>
                            <a:noFill/>
                          </a:ln>
                          <a:solidFill>
                            <a:srgbClr val="000000"/>
                          </a:solidFill>
                          <a:effectLst/>
                          <a:highlight>
                            <a:srgbClr val="FFFF00"/>
                          </a:highlight>
                          <a:latin typeface="微软雅黑" panose="020B0503020204020204" pitchFamily="34" charset="-122"/>
                          <a:ea typeface="微软雅黑" panose="020B0503020204020204" pitchFamily="34" charset="-122"/>
                          <a:sym typeface="Calibri" pitchFamily="34" charset="0"/>
                        </a:rPr>
                        <a:t>全桥</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Calibri" pitchFamily="34" charset="0"/>
                        </a:rPr>
                        <a:t>Ug=E</a:t>
                      </a: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Arial" pitchFamily="34" charset="0"/>
                        </a:rPr>
                        <a:t>×K</a:t>
                      </a: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ε</a:t>
                      </a: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0" rtl="0" eaLnBrk="0" fontAlgn="base" latinLnBrk="0" hangingPunct="0">
                        <a:lnSpc>
                          <a:spcPct val="100000"/>
                        </a:lnSpc>
                        <a:spcBef>
                          <a:spcPct val="20000"/>
                        </a:spcBef>
                        <a:spcAft>
                          <a:spcPct val="0"/>
                        </a:spcAft>
                        <a:buClrTx/>
                        <a:buSzTx/>
                        <a:buFont typeface="Arial" pitchFamily="34" charset="0"/>
                        <a:buNone/>
                      </a:pPr>
                      <a:r>
                        <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δ=</a:t>
                      </a:r>
                      <a:r>
                        <a:rPr kumimoji="0" lang="en-US"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rPr>
                        <a:t>0</a:t>
                      </a:r>
                      <a:endParaRPr kumimoji="0" lang="zh-CN" altLang="zh-CN" sz="2400" b="0" i="0" u="none" strike="noStrike" cap="none" normalizeH="0" baseline="0" dirty="0">
                        <a:ln>
                          <a:noFill/>
                        </a:ln>
                        <a:solidFill>
                          <a:srgbClr val="000000"/>
                        </a:solidFill>
                        <a:effectLst/>
                        <a:highlight>
                          <a:srgbClr val="FFFF00"/>
                        </a:highlight>
                        <a:latin typeface="Calibri" pitchFamily="34" charset="0"/>
                        <a:ea typeface="宋体" pitchFamily="2" charset="-122"/>
                        <a:sym typeface="宋体" pitchFamily="2" charset="-122"/>
                      </a:endParaRPr>
                    </a:p>
                  </a:txBody>
                  <a:tcPr marT="45763" marB="45763"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bl>
          </a:graphicData>
        </a:graphic>
      </p:graphicFrame>
      <p:sp>
        <p:nvSpPr>
          <p:cNvPr id="6" name="矩形 5">
            <a:extLst>
              <a:ext uri="{FF2B5EF4-FFF2-40B4-BE49-F238E27FC236}">
                <a16:creationId xmlns:a16="http://schemas.microsoft.com/office/drawing/2014/main" id="{682CA5BC-0B89-45C4-BFA0-FB13794D2497}"/>
              </a:ext>
            </a:extLst>
          </p:cNvPr>
          <p:cNvSpPr>
            <a:spLocks noChangeArrowheads="1"/>
          </p:cNvSpPr>
          <p:nvPr/>
        </p:nvSpPr>
        <p:spPr bwMode="auto">
          <a:xfrm>
            <a:off x="588963" y="1484313"/>
            <a:ext cx="7007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80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sym typeface="宋体" panose="02010600030101010101" pitchFamily="2" charset="-122"/>
              </a:rPr>
              <a:t>恒压源驱动下，不同电桥配置的性能总结：</a:t>
            </a:r>
            <a:endParaRPr lang="zh-CN" altLang="en-US" sz="2800">
              <a:solidFill>
                <a:srgbClr val="00B0F0"/>
              </a:solidFill>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矩形 4">
            <a:extLst>
              <a:ext uri="{FF2B5EF4-FFF2-40B4-BE49-F238E27FC236}">
                <a16:creationId xmlns:a16="http://schemas.microsoft.com/office/drawing/2014/main" id="{2F23C472-D21D-4E33-A891-FCD9E8620632}"/>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1443" name="灯片编号占位符 3">
            <a:extLst>
              <a:ext uri="{FF2B5EF4-FFF2-40B4-BE49-F238E27FC236}">
                <a16:creationId xmlns:a16="http://schemas.microsoft.com/office/drawing/2014/main" id="{3222F51A-CDD9-4FBF-8E6E-DC4422820F28}"/>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E08560A-B20E-4728-8CD6-DBEDBCE30803}"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61</a:t>
            </a:fld>
            <a:endParaRPr lang="en-US" altLang="zh-CN" sz="1400">
              <a:latin typeface="Arial" panose="020B0604020202020204" pitchFamily="34" charset="0"/>
            </a:endParaRPr>
          </a:p>
        </p:txBody>
      </p:sp>
      <p:sp>
        <p:nvSpPr>
          <p:cNvPr id="61444" name="TextBox 5">
            <a:extLst>
              <a:ext uri="{FF2B5EF4-FFF2-40B4-BE49-F238E27FC236}">
                <a16:creationId xmlns:a16="http://schemas.microsoft.com/office/drawing/2014/main" id="{08158603-BF21-4CBB-9996-22FE4F083B60}"/>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rPr>
              <a:t>4  </a:t>
            </a:r>
            <a:r>
              <a:rPr lang="zh-CN" altLang="en-US" b="1" dirty="0">
                <a:solidFill>
                  <a:srgbClr val="CC0000"/>
                </a:solidFill>
                <a:latin typeface="楷体_GB2312" pitchFamily="49" charset="-122"/>
                <a:ea typeface="楷体_GB2312" pitchFamily="49" charset="-122"/>
                <a:sym typeface="楷体_GB2312" pitchFamily="49" charset="-122"/>
              </a:rPr>
              <a:t>温度误差及补偿</a:t>
            </a:r>
            <a:endParaRPr lang="zh-CN" altLang="en-US" sz="1800" dirty="0">
              <a:latin typeface="Arial" panose="020B0604020202020204" pitchFamily="34" charset="0"/>
            </a:endParaRPr>
          </a:p>
        </p:txBody>
      </p:sp>
      <p:sp>
        <p:nvSpPr>
          <p:cNvPr id="61445" name="Rectangle 5">
            <a:extLst>
              <a:ext uri="{FF2B5EF4-FFF2-40B4-BE49-F238E27FC236}">
                <a16:creationId xmlns:a16="http://schemas.microsoft.com/office/drawing/2014/main" id="{9DB0DC3D-4147-4ACF-A061-7407663236CC}"/>
              </a:ext>
            </a:extLst>
          </p:cNvPr>
          <p:cNvSpPr>
            <a:spLocks noChangeArrowheads="1"/>
          </p:cNvSpPr>
          <p:nvPr/>
        </p:nvSpPr>
        <p:spPr bwMode="auto">
          <a:xfrm>
            <a:off x="468313" y="1196975"/>
            <a:ext cx="8010525" cy="9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zh-CN" altLang="en-US" sz="2400" b="1" dirty="0">
                <a:solidFill>
                  <a:srgbClr val="C00000"/>
                </a:solidFill>
                <a:latin typeface="宋体" panose="02010600030101010101" pitchFamily="2" charset="-122"/>
                <a:sym typeface="宋体" panose="02010600030101010101" pitchFamily="2" charset="-122"/>
              </a:rPr>
              <a:t>（</a:t>
            </a:r>
            <a:r>
              <a:rPr lang="en-US" altLang="zh-CN" sz="2400" b="1" dirty="0">
                <a:solidFill>
                  <a:srgbClr val="C00000"/>
                </a:solidFill>
                <a:latin typeface="宋体" panose="02010600030101010101" pitchFamily="2" charset="-122"/>
                <a:sym typeface="宋体" panose="02010600030101010101" pitchFamily="2" charset="-122"/>
              </a:rPr>
              <a:t>1</a:t>
            </a:r>
            <a:r>
              <a:rPr lang="zh-CN" altLang="en-US" sz="2400" b="1" dirty="0">
                <a:solidFill>
                  <a:srgbClr val="C00000"/>
                </a:solidFill>
                <a:latin typeface="宋体" panose="02010600030101010101" pitchFamily="2" charset="-122"/>
                <a:sym typeface="宋体" panose="02010600030101010101" pitchFamily="2" charset="-122"/>
              </a:rPr>
              <a:t>） 温度误差</a:t>
            </a:r>
            <a:r>
              <a:rPr lang="en-US" altLang="zh-CN" sz="2400" b="1" dirty="0">
                <a:solidFill>
                  <a:srgbClr val="C00000"/>
                </a:solidFill>
                <a:latin typeface="宋体" panose="02010600030101010101" pitchFamily="2" charset="-122"/>
                <a:sym typeface="宋体" panose="02010600030101010101" pitchFamily="2" charset="-122"/>
              </a:rPr>
              <a:t>——</a:t>
            </a:r>
            <a:r>
              <a:rPr lang="zh-CN" altLang="en-US" sz="2400" b="1" dirty="0">
                <a:solidFill>
                  <a:srgbClr val="C00000"/>
                </a:solidFill>
                <a:latin typeface="宋体" panose="02010600030101010101" pitchFamily="2" charset="-122"/>
                <a:sym typeface="宋体" panose="02010600030101010101" pitchFamily="2" charset="-122"/>
              </a:rPr>
              <a:t>原因</a:t>
            </a:r>
            <a:r>
              <a:rPr lang="en-US" altLang="zh-CN" sz="2400" b="1" dirty="0">
                <a:solidFill>
                  <a:srgbClr val="C00000"/>
                </a:solidFill>
                <a:latin typeface="宋体" panose="02010600030101010101" pitchFamily="2" charset="-122"/>
                <a:sym typeface="宋体" panose="02010600030101010101" pitchFamily="2" charset="-122"/>
              </a:rPr>
              <a:t>①</a:t>
            </a:r>
            <a:endParaRPr lang="zh-CN" altLang="en-US" sz="2400" b="1" dirty="0">
              <a:solidFill>
                <a:srgbClr val="C00000"/>
              </a:solidFill>
              <a:latin typeface="宋体" panose="02010600030101010101" pitchFamily="2" charset="-122"/>
              <a:sym typeface="宋体" panose="02010600030101010101" pitchFamily="2" charset="-122"/>
            </a:endParaRPr>
          </a:p>
          <a:p>
            <a:pPr>
              <a:lnSpc>
                <a:spcPct val="130000"/>
              </a:lnSpc>
              <a:spcBef>
                <a:spcPct val="0"/>
              </a:spcBef>
              <a:buFont typeface="Arial" panose="020B0604020202020204" pitchFamily="34" charset="0"/>
              <a:buNone/>
            </a:pPr>
            <a:r>
              <a:rPr lang="zh-CN" altLang="en-US" sz="2400" dirty="0">
                <a:solidFill>
                  <a:srgbClr val="000000"/>
                </a:solidFill>
                <a:latin typeface="宋体" panose="02010600030101010101" pitchFamily="2" charset="-122"/>
                <a:sym typeface="宋体" panose="02010600030101010101" pitchFamily="2" charset="-122"/>
              </a:rPr>
              <a:t>因环境温度改变而引起电阻变化的主要因素：</a:t>
            </a:r>
            <a:endParaRPr lang="zh-CN" altLang="en-US" sz="1800" dirty="0">
              <a:latin typeface="Arial" panose="020B0604020202020204" pitchFamily="34" charset="0"/>
            </a:endParaRPr>
          </a:p>
        </p:txBody>
      </p:sp>
      <p:sp>
        <p:nvSpPr>
          <p:cNvPr id="61446" name="Rectangle 7">
            <a:extLst>
              <a:ext uri="{FF2B5EF4-FFF2-40B4-BE49-F238E27FC236}">
                <a16:creationId xmlns:a16="http://schemas.microsoft.com/office/drawing/2014/main" id="{866374A1-9A77-41B9-9987-9250B954AFAC}"/>
              </a:ext>
            </a:extLst>
          </p:cNvPr>
          <p:cNvSpPr>
            <a:spLocks noChangeArrowheads="1"/>
          </p:cNvSpPr>
          <p:nvPr/>
        </p:nvSpPr>
        <p:spPr bwMode="auto">
          <a:xfrm>
            <a:off x="971550" y="2349500"/>
            <a:ext cx="7067550"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50000"/>
              </a:spcBef>
              <a:buFont typeface="Wingdings" panose="05000000000000000000" pitchFamily="2" charset="2"/>
              <a:buChar char="n"/>
            </a:pPr>
            <a:r>
              <a:rPr lang="en-US" altLang="zh-CN" sz="2400">
                <a:solidFill>
                  <a:srgbClr val="000000"/>
                </a:solidFill>
                <a:latin typeface="宋体" panose="02010600030101010101" pitchFamily="2" charset="-122"/>
                <a:sym typeface="宋体" panose="02010600030101010101" pitchFamily="2" charset="-122"/>
              </a:rPr>
              <a:t> </a:t>
            </a:r>
            <a:r>
              <a:rPr lang="zh-CN" altLang="en-US" sz="2400">
                <a:solidFill>
                  <a:srgbClr val="000000"/>
                </a:solidFill>
                <a:latin typeface="宋体" panose="02010600030101010101" pitchFamily="2" charset="-122"/>
                <a:sym typeface="宋体" panose="02010600030101010101" pitchFamily="2" charset="-122"/>
              </a:rPr>
              <a:t>应变片的电阻丝</a:t>
            </a:r>
            <a:r>
              <a:rPr lang="en-US" altLang="zh-CN" sz="2400">
                <a:solidFill>
                  <a:srgbClr val="000000"/>
                </a:solidFill>
                <a:latin typeface="宋体" panose="02010600030101010101" pitchFamily="2" charset="-122"/>
                <a:sym typeface="宋体" panose="02010600030101010101" pitchFamily="2" charset="-122"/>
              </a:rPr>
              <a:t>(</a:t>
            </a:r>
            <a:r>
              <a:rPr lang="zh-CN" altLang="en-US" sz="2400">
                <a:solidFill>
                  <a:srgbClr val="000000"/>
                </a:solidFill>
                <a:latin typeface="宋体" panose="02010600030101010101" pitchFamily="2" charset="-122"/>
                <a:sym typeface="宋体" panose="02010600030101010101" pitchFamily="2" charset="-122"/>
              </a:rPr>
              <a:t>敏感栅</a:t>
            </a:r>
            <a:r>
              <a:rPr lang="en-US" altLang="zh-CN" sz="2400">
                <a:solidFill>
                  <a:srgbClr val="000000"/>
                </a:solidFill>
                <a:latin typeface="宋体" panose="02010600030101010101" pitchFamily="2" charset="-122"/>
                <a:sym typeface="宋体" panose="02010600030101010101" pitchFamily="2" charset="-122"/>
              </a:rPr>
              <a:t>)</a:t>
            </a:r>
            <a:r>
              <a:rPr lang="zh-CN" altLang="en-US" sz="2400">
                <a:solidFill>
                  <a:srgbClr val="000000"/>
                </a:solidFill>
                <a:latin typeface="宋体" panose="02010600030101010101" pitchFamily="2" charset="-122"/>
                <a:sym typeface="宋体" panose="02010600030101010101" pitchFamily="2" charset="-122"/>
              </a:rPr>
              <a:t>具有一定温度系数；</a:t>
            </a:r>
          </a:p>
        </p:txBody>
      </p:sp>
      <p:graphicFrame>
        <p:nvGraphicFramePr>
          <p:cNvPr id="61447" name="Object 5">
            <a:extLst>
              <a:ext uri="{FF2B5EF4-FFF2-40B4-BE49-F238E27FC236}">
                <a16:creationId xmlns:a16="http://schemas.microsoft.com/office/drawing/2014/main" id="{2203EC2E-0C4B-4039-A562-DD3000B6BD09}"/>
              </a:ext>
            </a:extLst>
          </p:cNvPr>
          <p:cNvGraphicFramePr>
            <a:graphicFrameLocks noChangeAspect="1"/>
          </p:cNvGraphicFramePr>
          <p:nvPr>
            <p:extLst>
              <p:ext uri="{D42A27DB-BD31-4B8C-83A1-F6EECF244321}">
                <p14:modId xmlns:p14="http://schemas.microsoft.com/office/powerpoint/2010/main" val="550934238"/>
              </p:ext>
            </p:extLst>
          </p:nvPr>
        </p:nvGraphicFramePr>
        <p:xfrm>
          <a:off x="1979820" y="3068975"/>
          <a:ext cx="5376863" cy="3857625"/>
        </p:xfrm>
        <a:graphic>
          <a:graphicData uri="http://schemas.openxmlformats.org/presentationml/2006/ole">
            <mc:AlternateContent xmlns:mc="http://schemas.openxmlformats.org/markup-compatibility/2006">
              <mc:Choice xmlns:v="urn:schemas-microsoft-com:vml" Requires="v">
                <p:oleObj spid="_x0000_s79924" name="Document" r:id="rId3" imgW="3737799" imgH="2684616" progId="Word.Document.8">
                  <p:embed/>
                </p:oleObj>
              </mc:Choice>
              <mc:Fallback>
                <p:oleObj name="Document" r:id="rId3" imgW="3737799" imgH="2684616" progId="Word.Document.8">
                  <p:embed/>
                  <p:pic>
                    <p:nvPicPr>
                      <p:cNvPr id="61447" name="Object 5">
                        <a:extLst>
                          <a:ext uri="{FF2B5EF4-FFF2-40B4-BE49-F238E27FC236}">
                            <a16:creationId xmlns:a16="http://schemas.microsoft.com/office/drawing/2014/main" id="{2203EC2E-0C4B-4039-A562-DD3000B6BD09}"/>
                          </a:ext>
                        </a:extLst>
                      </p:cNvPr>
                      <p:cNvPicPr>
                        <a:picLocks noChangeAspect="1" noChangeArrowheads="1"/>
                      </p:cNvPicPr>
                      <p:nvPr/>
                    </p:nvPicPr>
                    <p:blipFill>
                      <a:blip r:embed="rId4"/>
                      <a:srcRect/>
                      <a:stretch>
                        <a:fillRect/>
                      </a:stretch>
                    </p:blipFill>
                    <p:spPr bwMode="auto">
                      <a:xfrm>
                        <a:off x="1979820" y="3068975"/>
                        <a:ext cx="5376863" cy="3857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a:extLst>
              <a:ext uri="{FF2B5EF4-FFF2-40B4-BE49-F238E27FC236}">
                <a16:creationId xmlns:a16="http://schemas.microsoft.com/office/drawing/2014/main" id="{675FED2D-56D3-429B-98CF-85318186E852}"/>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F2B915F4-BC13-4A9F-95E8-49EC292B8E5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62</a:t>
            </a:fld>
            <a:endParaRPr lang="en-US" altLang="zh-CN" sz="1400">
              <a:latin typeface="Arial" panose="020B0604020202020204" pitchFamily="34" charset="0"/>
            </a:endParaRPr>
          </a:p>
        </p:txBody>
      </p:sp>
      <p:graphicFrame>
        <p:nvGraphicFramePr>
          <p:cNvPr id="62467" name="Object 4">
            <a:extLst>
              <a:ext uri="{FF2B5EF4-FFF2-40B4-BE49-F238E27FC236}">
                <a16:creationId xmlns:a16="http://schemas.microsoft.com/office/drawing/2014/main" id="{5993ECC4-1462-4C0D-A21D-69C040B3889D}"/>
              </a:ext>
            </a:extLst>
          </p:cNvPr>
          <p:cNvGraphicFramePr>
            <a:graphicFrameLocks noChangeAspect="1"/>
          </p:cNvGraphicFramePr>
          <p:nvPr>
            <p:extLst>
              <p:ext uri="{D42A27DB-BD31-4B8C-83A1-F6EECF244321}">
                <p14:modId xmlns:p14="http://schemas.microsoft.com/office/powerpoint/2010/main" val="2117403669"/>
              </p:ext>
            </p:extLst>
          </p:nvPr>
        </p:nvGraphicFramePr>
        <p:xfrm>
          <a:off x="-1" y="476250"/>
          <a:ext cx="9972375" cy="5112900"/>
        </p:xfrm>
        <a:graphic>
          <a:graphicData uri="http://schemas.openxmlformats.org/presentationml/2006/ole">
            <mc:AlternateContent xmlns:mc="http://schemas.openxmlformats.org/markup-compatibility/2006">
              <mc:Choice xmlns:v="urn:schemas-microsoft-com:vml" Requires="v">
                <p:oleObj spid="_x0000_s80946" name="Document" r:id="rId3" imgW="8702929" imgH="4583242" progId="Word.Document.8">
                  <p:embed/>
                </p:oleObj>
              </mc:Choice>
              <mc:Fallback>
                <p:oleObj name="Document" r:id="rId3" imgW="8702929" imgH="4583242" progId="Word.Document.8">
                  <p:embed/>
                  <p:pic>
                    <p:nvPicPr>
                      <p:cNvPr id="62467" name="Object 4">
                        <a:extLst>
                          <a:ext uri="{FF2B5EF4-FFF2-40B4-BE49-F238E27FC236}">
                            <a16:creationId xmlns:a16="http://schemas.microsoft.com/office/drawing/2014/main" id="{5993ECC4-1462-4C0D-A21D-69C040B3889D}"/>
                          </a:ext>
                        </a:extLst>
                      </p:cNvPr>
                      <p:cNvPicPr>
                        <a:picLocks noChangeAspect="1" noChangeArrowheads="1"/>
                      </p:cNvPicPr>
                      <p:nvPr/>
                    </p:nvPicPr>
                    <p:blipFill>
                      <a:blip r:embed="rId4"/>
                      <a:srcRect/>
                      <a:stretch>
                        <a:fillRect/>
                      </a:stretch>
                    </p:blipFill>
                    <p:spPr bwMode="auto">
                      <a:xfrm>
                        <a:off x="-1" y="476250"/>
                        <a:ext cx="9972375" cy="5112900"/>
                      </a:xfrm>
                      <a:prstGeom prst="rect">
                        <a:avLst/>
                      </a:prstGeom>
                      <a:noFill/>
                      <a:ln>
                        <a:noFill/>
                      </a:ln>
                      <a:effectLst/>
                    </p:spPr>
                  </p:pic>
                </p:oleObj>
              </mc:Fallback>
            </mc:AlternateContent>
          </a:graphicData>
        </a:graphic>
      </p:graphicFrame>
      <p:sp>
        <p:nvSpPr>
          <p:cNvPr id="62468" name="Rectangle 6">
            <a:extLst>
              <a:ext uri="{FF2B5EF4-FFF2-40B4-BE49-F238E27FC236}">
                <a16:creationId xmlns:a16="http://schemas.microsoft.com/office/drawing/2014/main" id="{E217D4DA-147E-4E55-BADD-89ADCD6A42F1}"/>
              </a:ext>
            </a:extLst>
          </p:cNvPr>
          <p:cNvSpPr>
            <a:spLocks noChangeArrowheads="1"/>
          </p:cNvSpPr>
          <p:nvPr/>
        </p:nvSpPr>
        <p:spPr bwMode="auto">
          <a:xfrm>
            <a:off x="467715" y="4437063"/>
            <a:ext cx="8534400" cy="194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en-US" altLang="zh-CN" sz="2400" dirty="0">
                <a:solidFill>
                  <a:schemeClr val="bg2"/>
                </a:solidFill>
                <a:latin typeface="楷体_GB2312" pitchFamily="49" charset="-122"/>
                <a:ea typeface="楷体_GB2312" pitchFamily="49" charset="-122"/>
              </a:rPr>
              <a:t>  </a:t>
            </a:r>
            <a:r>
              <a:rPr lang="zh-CN" altLang="en-US" sz="2400" b="1" i="1" dirty="0">
                <a:latin typeface="华文楷体" panose="02010600040101010101" pitchFamily="2" charset="-122"/>
                <a:ea typeface="华文楷体" panose="02010600040101010101" pitchFamily="2" charset="-122"/>
              </a:rPr>
              <a:t>结论：</a:t>
            </a:r>
            <a:r>
              <a:rPr lang="zh-CN" altLang="en-US" sz="2400" b="1" i="1" dirty="0">
                <a:solidFill>
                  <a:srgbClr val="00B0F0"/>
                </a:solidFill>
                <a:latin typeface="华文楷体" panose="02010600040101010101" pitchFamily="2" charset="-122"/>
                <a:ea typeface="华文楷体" panose="02010600040101010101" pitchFamily="2" charset="-122"/>
              </a:rPr>
              <a:t>电阻应变片由于温度改变所引起的电阻变化与试件应变所造成的电阻变化几乎具有</a:t>
            </a:r>
            <a:r>
              <a:rPr lang="zh-CN" altLang="en-US" sz="2400" b="1" i="1" dirty="0">
                <a:solidFill>
                  <a:srgbClr val="00B0F0"/>
                </a:solidFill>
                <a:highlight>
                  <a:srgbClr val="FFFF00"/>
                </a:highlight>
                <a:latin typeface="华文楷体" panose="02010600040101010101" pitchFamily="2" charset="-122"/>
                <a:ea typeface="华文楷体" panose="02010600040101010101" pitchFamily="2" charset="-122"/>
              </a:rPr>
              <a:t>相同的数量级</a:t>
            </a:r>
            <a:r>
              <a:rPr lang="zh-CN" altLang="en-US" sz="2400" b="1" i="1" dirty="0">
                <a:solidFill>
                  <a:srgbClr val="00B0F0"/>
                </a:solidFill>
                <a:latin typeface="华文楷体" panose="02010600040101010101" pitchFamily="2" charset="-122"/>
                <a:ea typeface="华文楷体" panose="02010600040101010101" pitchFamily="2" charset="-122"/>
              </a:rPr>
              <a:t>。在应变测量中，如果不排除这种影响，势必给测量带来很大误差</a:t>
            </a:r>
            <a:r>
              <a:rPr lang="zh-CN" altLang="en-US" sz="2400" b="1" i="1" dirty="0">
                <a:latin typeface="华文楷体" panose="02010600040101010101" pitchFamily="2" charset="-122"/>
                <a:ea typeface="华文楷体" panose="02010600040101010101" pitchFamily="2" charset="-122"/>
              </a:rPr>
              <a:t>。</a:t>
            </a:r>
            <a:r>
              <a:rPr lang="zh-CN" altLang="en-US" sz="2400" b="1" dirty="0">
                <a:latin typeface="楷体_GB2312" pitchFamily="49" charset="-122"/>
                <a:ea typeface="楷体_GB2312" pitchFamily="49" charset="-122"/>
              </a:rPr>
              <a:t> </a:t>
            </a:r>
          </a:p>
          <a:p>
            <a:pPr algn="just">
              <a:lnSpc>
                <a:spcPct val="150000"/>
              </a:lnSpc>
              <a:spcBef>
                <a:spcPct val="0"/>
              </a:spcBef>
              <a:buFont typeface="Arial" panose="020B0604020202020204" pitchFamily="34" charset="0"/>
              <a:buNone/>
            </a:pPr>
            <a:endParaRPr lang="en-US" altLang="zh-CN" sz="2400" dirty="0">
              <a:solidFill>
                <a:schemeClr val="bg2"/>
              </a:solidFill>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8"/>
                                        </p:tgtEl>
                                        <p:attrNameLst>
                                          <p:attrName>style.visibility</p:attrName>
                                        </p:attrNameLst>
                                      </p:cBhvr>
                                      <p:to>
                                        <p:strVal val="visible"/>
                                      </p:to>
                                    </p:set>
                                    <p:anim calcmode="lin" valueType="num">
                                      <p:cBhvr additive="base">
                                        <p:cTn id="7" dur="500" fill="hold"/>
                                        <p:tgtEl>
                                          <p:spTgt spid="62468"/>
                                        </p:tgtEl>
                                        <p:attrNameLst>
                                          <p:attrName>ppt_x</p:attrName>
                                        </p:attrNameLst>
                                      </p:cBhvr>
                                      <p:tavLst>
                                        <p:tav tm="0">
                                          <p:val>
                                            <p:strVal val="#ppt_x"/>
                                          </p:val>
                                        </p:tav>
                                        <p:tav tm="100000">
                                          <p:val>
                                            <p:strVal val="#ppt_x"/>
                                          </p:val>
                                        </p:tav>
                                      </p:tavLst>
                                    </p:anim>
                                    <p:anim calcmode="lin" valueType="num">
                                      <p:cBhvr additive="base">
                                        <p:cTn id="8" dur="500" fill="hold"/>
                                        <p:tgtEl>
                                          <p:spTgt spid="62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3">
            <a:extLst>
              <a:ext uri="{FF2B5EF4-FFF2-40B4-BE49-F238E27FC236}">
                <a16:creationId xmlns:a16="http://schemas.microsoft.com/office/drawing/2014/main" id="{44524BE8-2BCE-45F3-93AF-4B4B4FFCB82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C24E0B05-D941-4A2E-8391-D43289B5001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63</a:t>
            </a:fld>
            <a:endParaRPr lang="en-US" altLang="zh-CN" sz="1400">
              <a:latin typeface="Arial" panose="020B0604020202020204" pitchFamily="34" charset="0"/>
            </a:endParaRPr>
          </a:p>
        </p:txBody>
      </p:sp>
      <p:sp>
        <p:nvSpPr>
          <p:cNvPr id="63491" name="Rectangle 7">
            <a:extLst>
              <a:ext uri="{FF2B5EF4-FFF2-40B4-BE49-F238E27FC236}">
                <a16:creationId xmlns:a16="http://schemas.microsoft.com/office/drawing/2014/main" id="{B217F867-0408-4FEB-982F-6BC2FFC26920}"/>
              </a:ext>
            </a:extLst>
          </p:cNvPr>
          <p:cNvSpPr>
            <a:spLocks noChangeArrowheads="1"/>
          </p:cNvSpPr>
          <p:nvPr/>
        </p:nvSpPr>
        <p:spPr bwMode="auto">
          <a:xfrm>
            <a:off x="682710" y="1953099"/>
            <a:ext cx="70675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50000"/>
              </a:spcBef>
              <a:buFont typeface="Wingdings" panose="05000000000000000000" pitchFamily="2" charset="2"/>
              <a:buChar char="n"/>
            </a:pPr>
            <a:r>
              <a:rPr lang="zh-CN" altLang="en-US" sz="2400" dirty="0">
                <a:solidFill>
                  <a:srgbClr val="000000"/>
                </a:solidFill>
                <a:latin typeface="宋体" panose="02010600030101010101" pitchFamily="2" charset="-122"/>
                <a:sym typeface="宋体" panose="02010600030101010101" pitchFamily="2" charset="-122"/>
              </a:rPr>
              <a:t>电阻丝材料与测试材料的线膨胀系数不同 </a:t>
            </a:r>
            <a:endParaRPr lang="zh-CN" altLang="en-US" sz="1800" dirty="0">
              <a:latin typeface="Arial" panose="020B0604020202020204" pitchFamily="34" charset="0"/>
            </a:endParaRPr>
          </a:p>
        </p:txBody>
      </p:sp>
      <mc:AlternateContent xmlns:mc="http://schemas.openxmlformats.org/markup-compatibility/2006" xmlns:a14="http://schemas.microsoft.com/office/drawing/2010/main">
        <mc:Choice Requires="a14">
          <p:sp>
            <p:nvSpPr>
              <p:cNvPr id="63492" name="Object 5">
                <a:extLst>
                  <a:ext uri="{FF2B5EF4-FFF2-40B4-BE49-F238E27FC236}">
                    <a16:creationId xmlns:a16="http://schemas.microsoft.com/office/drawing/2014/main" id="{2A476B73-591D-424D-BEA0-E600744796B0}"/>
                  </a:ext>
                </a:extLst>
              </p:cNvPr>
              <p:cNvSpPr txBox="1"/>
              <p:nvPr/>
            </p:nvSpPr>
            <p:spPr bwMode="auto">
              <a:xfrm>
                <a:off x="1702196" y="2644764"/>
                <a:ext cx="6044524" cy="2160587"/>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𝑙</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𝑔</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𝑙</m:t>
                          </m:r>
                        </m:sub>
                      </m:sSub>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𝑙</m:t>
                          </m:r>
                        </m:e>
                        <m:sub>
                          <m:r>
                            <a:rPr lang="zh-CN" altLang="en-US" sz="2400" i="1">
                              <a:solidFill>
                                <a:srgbClr val="000000"/>
                              </a:solidFill>
                              <a:latin typeface="Cambria Math" panose="02040503050406030204" pitchFamily="18" charset="0"/>
                            </a:rPr>
                            <m:t>0</m:t>
                          </m:r>
                        </m:sub>
                      </m:sSub>
                      <m:r>
                        <m:rPr>
                          <m:sty m:val="p"/>
                        </m:rPr>
                        <a:rPr lang="zh-CN" altLang="en-US" sz="2400" i="1">
                          <a:solidFill>
                            <a:srgbClr val="000000"/>
                          </a:solidFill>
                          <a:latin typeface="Cambria Math" panose="02040503050406030204" pitchFamily="18" charset="0"/>
                        </a:rPr>
                        <m:t>Δ</m:t>
                      </m:r>
                      <m:r>
                        <a:rPr lang="zh-CN" altLang="en-US" sz="2400" i="1">
                          <a:solidFill>
                            <a:srgbClr val="000000"/>
                          </a:solidFill>
                          <a:latin typeface="Cambria Math" panose="02040503050406030204" pitchFamily="18" charset="0"/>
                        </a:rPr>
                        <m:t>𝑇</m:t>
                      </m:r>
                    </m:oMath>
                    <m:oMath xmlns:m="http://schemas.openxmlformats.org/officeDocument/2006/math">
                      <m:r>
                        <a:rPr lang="zh-CN" altLang="en-US" sz="2400" i="1">
                          <a:solidFill>
                            <a:srgbClr val="000000"/>
                          </a:solidFill>
                          <a:latin typeface="Cambria Math" panose="02040503050406030204" pitchFamily="18" charset="0"/>
                        </a:rPr>
                        <m:t>其中：</m:t>
                      </m:r>
                    </m:oMath>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𝑔</m:t>
                          </m:r>
                        </m:sub>
                      </m:sSub>
                      <m:r>
                        <a:rPr lang="zh-CN" altLang="en-US" sz="2400" i="1">
                          <a:solidFill>
                            <a:srgbClr val="000000"/>
                          </a:solidFill>
                          <a:latin typeface="Cambria Math" panose="02040503050406030204" pitchFamily="18" charset="0"/>
                        </a:rPr>
                        <m:t>是测试材料（弹性膜片）的膨胀系数</m:t>
                      </m:r>
                    </m:oMath>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𝛼</m:t>
                          </m:r>
                        </m:e>
                        <m:sub>
                          <m:r>
                            <a:rPr lang="zh-CN" altLang="en-US" sz="2400" i="1">
                              <a:solidFill>
                                <a:srgbClr val="000000"/>
                              </a:solidFill>
                              <a:latin typeface="Cambria Math" panose="02040503050406030204" pitchFamily="18" charset="0"/>
                            </a:rPr>
                            <m:t>𝑙</m:t>
                          </m:r>
                        </m:sub>
                      </m:sSub>
                      <m:r>
                        <a:rPr lang="zh-CN" altLang="en-US" sz="2400" i="1">
                          <a:solidFill>
                            <a:srgbClr val="000000"/>
                          </a:solidFill>
                          <a:latin typeface="Cambria Math" panose="02040503050406030204" pitchFamily="18" charset="0"/>
                        </a:rPr>
                        <m:t>是应变丝的线膨胀系数</m:t>
                      </m:r>
                    </m:oMath>
                  </m:oMathPara>
                </a14:m>
                <a:endParaRPr lang="zh-CN" altLang="en-US" sz="2400" dirty="0"/>
              </a:p>
            </p:txBody>
          </p:sp>
        </mc:Choice>
        <mc:Fallback xmlns="">
          <p:sp>
            <p:nvSpPr>
              <p:cNvPr id="63492" name="Object 5">
                <a:extLst>
                  <a:ext uri="{FF2B5EF4-FFF2-40B4-BE49-F238E27FC236}">
                    <a16:creationId xmlns:a16="http://schemas.microsoft.com/office/drawing/2014/main" id="{2A476B73-591D-424D-BEA0-E600744796B0}"/>
                  </a:ext>
                </a:extLst>
              </p:cNvPr>
              <p:cNvSpPr txBox="1">
                <a:spLocks noRot="1" noChangeAspect="1" noMove="1" noResize="1" noEditPoints="1" noAdjustHandles="1" noChangeArrowheads="1" noChangeShapeType="1" noTextEdit="1"/>
              </p:cNvSpPr>
              <p:nvPr/>
            </p:nvSpPr>
            <p:spPr bwMode="auto">
              <a:xfrm>
                <a:off x="1702196" y="2644764"/>
                <a:ext cx="6044524" cy="2160587"/>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6" name="矩形 4">
            <a:extLst>
              <a:ext uri="{FF2B5EF4-FFF2-40B4-BE49-F238E27FC236}">
                <a16:creationId xmlns:a16="http://schemas.microsoft.com/office/drawing/2014/main" id="{272AA37E-BC94-4F96-9156-4DB91AC9C96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2" name="矩形 1">
            <a:extLst>
              <a:ext uri="{FF2B5EF4-FFF2-40B4-BE49-F238E27FC236}">
                <a16:creationId xmlns:a16="http://schemas.microsoft.com/office/drawing/2014/main" id="{4E6A1F1B-C9A9-4811-8536-6EC8EE76A4FC}"/>
              </a:ext>
            </a:extLst>
          </p:cNvPr>
          <p:cNvSpPr/>
          <p:nvPr/>
        </p:nvSpPr>
        <p:spPr>
          <a:xfrm>
            <a:off x="539720" y="359426"/>
            <a:ext cx="3451586" cy="584775"/>
          </a:xfrm>
          <a:prstGeom prst="rect">
            <a:avLst/>
          </a:prstGeom>
        </p:spPr>
        <p:txBody>
          <a:bodyPr wrap="none">
            <a:spAutoFit/>
          </a:bodyPr>
          <a:lstStyle/>
          <a:p>
            <a:pPr eaLnBrk="1" hangingPunct="1"/>
            <a:r>
              <a:rPr lang="en-US" altLang="zh-CN" sz="3200" b="1" dirty="0">
                <a:solidFill>
                  <a:srgbClr val="C00000"/>
                </a:solidFill>
              </a:rPr>
              <a:t>4  </a:t>
            </a:r>
            <a:r>
              <a:rPr lang="zh-CN" altLang="en-US" sz="3200" b="1" dirty="0">
                <a:solidFill>
                  <a:srgbClr val="CC0000"/>
                </a:solidFill>
                <a:latin typeface="楷体_GB2312" pitchFamily="49" charset="-122"/>
                <a:ea typeface="楷体_GB2312" pitchFamily="49" charset="-122"/>
                <a:sym typeface="楷体_GB2312" pitchFamily="49" charset="-122"/>
              </a:rPr>
              <a:t>温度误差及补偿</a:t>
            </a:r>
            <a:endParaRPr lang="zh-CN" altLang="en-US" dirty="0">
              <a:latin typeface="Arial" panose="020B0604020202020204" pitchFamily="34" charset="0"/>
            </a:endParaRPr>
          </a:p>
        </p:txBody>
      </p:sp>
      <p:sp>
        <p:nvSpPr>
          <p:cNvPr id="9" name="Rectangle 5">
            <a:extLst>
              <a:ext uri="{FF2B5EF4-FFF2-40B4-BE49-F238E27FC236}">
                <a16:creationId xmlns:a16="http://schemas.microsoft.com/office/drawing/2014/main" id="{1FBE01C1-BFDF-41E2-B0C4-ACA652B25CFA}"/>
              </a:ext>
            </a:extLst>
          </p:cNvPr>
          <p:cNvSpPr>
            <a:spLocks noChangeArrowheads="1"/>
          </p:cNvSpPr>
          <p:nvPr/>
        </p:nvSpPr>
        <p:spPr bwMode="auto">
          <a:xfrm>
            <a:off x="468313" y="1196975"/>
            <a:ext cx="8010525" cy="51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zh-CN" altLang="en-US" sz="2400" b="1" dirty="0">
                <a:solidFill>
                  <a:srgbClr val="C00000"/>
                </a:solidFill>
                <a:latin typeface="宋体" panose="02010600030101010101" pitchFamily="2" charset="-122"/>
                <a:sym typeface="宋体" panose="02010600030101010101" pitchFamily="2" charset="-122"/>
              </a:rPr>
              <a:t>（</a:t>
            </a:r>
            <a:r>
              <a:rPr lang="en-US" altLang="zh-CN" sz="2400" b="1" dirty="0">
                <a:solidFill>
                  <a:srgbClr val="C00000"/>
                </a:solidFill>
                <a:latin typeface="宋体" panose="02010600030101010101" pitchFamily="2" charset="-122"/>
                <a:sym typeface="宋体" panose="02010600030101010101" pitchFamily="2" charset="-122"/>
              </a:rPr>
              <a:t>1</a:t>
            </a:r>
            <a:r>
              <a:rPr lang="zh-CN" altLang="en-US" sz="2400" b="1" dirty="0">
                <a:solidFill>
                  <a:srgbClr val="C00000"/>
                </a:solidFill>
                <a:latin typeface="宋体" panose="02010600030101010101" pitchFamily="2" charset="-122"/>
                <a:sym typeface="宋体" panose="02010600030101010101" pitchFamily="2" charset="-122"/>
              </a:rPr>
              <a:t>） 温度误差</a:t>
            </a:r>
            <a:r>
              <a:rPr lang="en-US" altLang="zh-CN" sz="2400" b="1" dirty="0">
                <a:solidFill>
                  <a:srgbClr val="C00000"/>
                </a:solidFill>
                <a:latin typeface="宋体" panose="02010600030101010101" pitchFamily="2" charset="-122"/>
                <a:sym typeface="宋体" panose="02010600030101010101" pitchFamily="2" charset="-122"/>
              </a:rPr>
              <a:t>——</a:t>
            </a:r>
            <a:r>
              <a:rPr lang="zh-CN" altLang="en-US" sz="2400" b="1" dirty="0">
                <a:solidFill>
                  <a:srgbClr val="C00000"/>
                </a:solidFill>
                <a:latin typeface="宋体" panose="02010600030101010101" pitchFamily="2" charset="-122"/>
                <a:sym typeface="宋体" panose="02010600030101010101" pitchFamily="2" charset="-122"/>
              </a:rPr>
              <a:t>原因</a:t>
            </a:r>
            <a:r>
              <a:rPr lang="en-US" altLang="zh-CN" sz="2400" b="1" dirty="0">
                <a:solidFill>
                  <a:srgbClr val="C00000"/>
                </a:solidFill>
                <a:latin typeface="宋体" panose="02010600030101010101" pitchFamily="2" charset="-122"/>
                <a:sym typeface="宋体" panose="02010600030101010101" pitchFamily="2" charset="-122"/>
              </a:rPr>
              <a:t>②</a:t>
            </a:r>
            <a:endParaRPr lang="zh-CN" altLang="en-US" sz="1800" dirty="0">
              <a:latin typeface="Arial" panose="020B0604020202020204" pitchFamily="34" charset="0"/>
            </a:endParaRPr>
          </a:p>
        </p:txBody>
      </p:sp>
      <p:sp>
        <p:nvSpPr>
          <p:cNvPr id="4" name="矩形 3">
            <a:extLst>
              <a:ext uri="{FF2B5EF4-FFF2-40B4-BE49-F238E27FC236}">
                <a16:creationId xmlns:a16="http://schemas.microsoft.com/office/drawing/2014/main" id="{C3A951DB-38AA-48D7-AD5F-3930F381F070}"/>
              </a:ext>
            </a:extLst>
          </p:cNvPr>
          <p:cNvSpPr/>
          <p:nvPr/>
        </p:nvSpPr>
        <p:spPr>
          <a:xfrm>
            <a:off x="1085115" y="4416093"/>
            <a:ext cx="7344510" cy="461665"/>
          </a:xfrm>
          <a:prstGeom prst="rect">
            <a:avLst/>
          </a:prstGeom>
        </p:spPr>
        <p:txBody>
          <a:bodyPr wrap="square">
            <a:spAutoFit/>
          </a:bodyPr>
          <a:lstStyle/>
          <a:p>
            <a:pPr marL="342900" indent="-342900">
              <a:buFont typeface="Wingdings" panose="05000000000000000000" pitchFamily="2" charset="2"/>
              <a:buChar char="u"/>
            </a:pPr>
            <a:r>
              <a:rPr lang="zh-CN" altLang="en-US" sz="2400" b="1" i="1">
                <a:solidFill>
                  <a:srgbClr val="00B0F0"/>
                </a:solidFill>
                <a:latin typeface="华文楷体" panose="02010600040101010101" pitchFamily="2" charset="-122"/>
                <a:ea typeface="华文楷体" panose="02010600040101010101" pitchFamily="2" charset="-122"/>
              </a:rPr>
              <a:t>线膨胀系数不同，引起应变片产生</a:t>
            </a:r>
            <a:r>
              <a:rPr lang="zh-CN" altLang="en-US" sz="2400" b="1" i="1">
                <a:solidFill>
                  <a:srgbClr val="FF0000"/>
                </a:solidFill>
                <a:latin typeface="华文楷体" panose="02010600040101010101" pitchFamily="2" charset="-122"/>
                <a:ea typeface="华文楷体" panose="02010600040101010101" pitchFamily="2" charset="-122"/>
              </a:rPr>
              <a:t>附加应变</a:t>
            </a:r>
            <a:endParaRPr lang="zh-CN" altLang="en-US" sz="2400" dirty="0">
              <a:solidFill>
                <a:srgbClr val="FF0000"/>
              </a:solidFill>
            </a:endParaRPr>
          </a:p>
        </p:txBody>
      </p:sp>
      <mc:AlternateContent xmlns:mc="http://schemas.openxmlformats.org/markup-compatibility/2006" xmlns:a14="http://schemas.microsoft.com/office/drawing/2010/main">
        <mc:Choice Requires="a14">
          <p:sp>
            <p:nvSpPr>
              <p:cNvPr id="13" name="Object 5">
                <a:extLst>
                  <a:ext uri="{FF2B5EF4-FFF2-40B4-BE49-F238E27FC236}">
                    <a16:creationId xmlns:a16="http://schemas.microsoft.com/office/drawing/2014/main" id="{92BBE65F-A25D-46E5-A424-2E8FAB11FF5A}"/>
                  </a:ext>
                </a:extLst>
              </p:cNvPr>
              <p:cNvSpPr txBox="1"/>
              <p:nvPr/>
            </p:nvSpPr>
            <p:spPr bwMode="auto">
              <a:xfrm>
                <a:off x="2699870" y="5352343"/>
                <a:ext cx="5184360" cy="151210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d>
                        <m:dPr>
                          <m:ctrlP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ctrlPr>
                        </m:dPr>
                        <m:e>
                          <m:f>
                            <m:fPr>
                              <m:ctrlP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ctrlPr>
                            </m:fPr>
                            <m:num>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m:t>∆</m:t>
                              </m:r>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m:t>𝑅</m:t>
                              </m:r>
                            </m:num>
                            <m:den>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𝑅</m:t>
                              </m:r>
                            </m:den>
                          </m:f>
                        </m:e>
                      </m:d>
                      <m:r>
                        <a:rPr lang="zh-CN" altLang="en-US" sz="2400" i="1">
                          <a:solidFill>
                            <a:srgbClr val="000000"/>
                          </a:solidFill>
                          <a:effectLst>
                            <a:outerShdw blurRad="50800" dist="38100" dir="5400000" algn="t" rotWithShape="0">
                              <a:prstClr val="black">
                                <a:alpha val="40000"/>
                              </a:prstClr>
                            </a:outerShdw>
                          </a:effectLst>
                          <a:latin typeface="Cambria Math" panose="02040503050406030204" pitchFamily="18" charset="0"/>
                        </a:rPr>
                        <m:t>=</m:t>
                      </m:r>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m:t>
                      </m:r>
                      <m:sSub>
                        <m:sSubPr>
                          <m:ctrlPr>
                            <a:rPr lang="zh-CN" altLang="en-US" sz="2400" i="1" smtClean="0">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𝑡</m:t>
                          </m:r>
                        </m:sub>
                      </m:s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m:t>
                      </m:r>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𝐾</m:t>
                      </m:r>
                      <m:d>
                        <m:d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dPr>
                        <m:e>
                          <m:sSub>
                            <m:sSub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𝑔</m:t>
                              </m:r>
                            </m:sub>
                          </m:s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m:t>
                          </m:r>
                          <m:sSub>
                            <m:sSub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𝑙</m:t>
                              </m:r>
                            </m:sub>
                          </m:sSub>
                        </m:e>
                      </m:d>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m:t>
                      </m:r>
                      <m:r>
                        <m:rPr>
                          <m:sty m:val="p"/>
                        </m:rPr>
                        <a:rPr lang="zh-CN" altLang="en-US" sz="2400" i="1">
                          <a:solidFill>
                            <a:srgbClr val="000000"/>
                          </a:solidFill>
                          <a:effectLst>
                            <a:outerShdw blurRad="50800" dist="38100" dir="5400000" algn="t" rotWithShape="0">
                              <a:prstClr val="black">
                                <a:alpha val="40000"/>
                              </a:prstClr>
                            </a:outerShdw>
                          </a:effectLst>
                          <a:latin typeface="Cambria Math" panose="02040503050406030204" pitchFamily="18" charset="0"/>
                        </a:rPr>
                        <m:t>Δ</m:t>
                      </m:r>
                      <m:r>
                        <m:rPr>
                          <m:sty m:val="p"/>
                        </m:rPr>
                        <a:rPr lang="en-US" altLang="zh-CN" sz="2400" i="1">
                          <a:solidFill>
                            <a:srgbClr val="000000"/>
                          </a:solidFill>
                          <a:effectLst>
                            <a:outerShdw blurRad="50800" dist="38100" dir="5400000" algn="t" rotWithShape="0">
                              <a:prstClr val="black">
                                <a:alpha val="40000"/>
                              </a:prstClr>
                            </a:outerShdw>
                          </a:effectLst>
                          <a:latin typeface="Cambria Math" panose="02040503050406030204" pitchFamily="18" charset="0"/>
                        </a:rPr>
                        <m:t>t</m:t>
                      </m:r>
                    </m:oMath>
                  </m:oMathPara>
                </a14:m>
                <a:br>
                  <a:rPr lang="zh-CN" altLang="en-US" sz="2400" i="1" dirty="0">
                    <a:solidFill>
                      <a:srgbClr val="000000"/>
                    </a:solidFill>
                    <a:effectLst>
                      <a:outerShdw blurRad="50800" dist="38100" dir="5400000" algn="t" rotWithShape="0">
                        <a:prstClr val="black">
                          <a:alpha val="40000"/>
                        </a:prstClr>
                      </a:outerShdw>
                    </a:effectLst>
                    <a:latin typeface="Cambria Math" panose="02040503050406030204" pitchFamily="18" charset="0"/>
                  </a:rPr>
                </a:br>
                <a:endParaRPr lang="zh-CN" altLang="en-US" sz="2400" dirty="0">
                  <a:effectLst>
                    <a:outerShdw blurRad="50800" dist="38100" dir="5400000" algn="t" rotWithShape="0">
                      <a:prstClr val="black">
                        <a:alpha val="40000"/>
                      </a:prstClr>
                    </a:outerShdw>
                  </a:effectLst>
                </a:endParaRPr>
              </a:p>
            </p:txBody>
          </p:sp>
        </mc:Choice>
        <mc:Fallback xmlns="">
          <p:sp>
            <p:nvSpPr>
              <p:cNvPr id="13" name="Object 5">
                <a:extLst>
                  <a:ext uri="{FF2B5EF4-FFF2-40B4-BE49-F238E27FC236}">
                    <a16:creationId xmlns:a16="http://schemas.microsoft.com/office/drawing/2014/main" id="{92BBE65F-A25D-46E5-A424-2E8FAB11FF5A}"/>
                  </a:ext>
                </a:extLst>
              </p:cNvPr>
              <p:cNvSpPr txBox="1">
                <a:spLocks noRot="1" noChangeAspect="1" noMove="1" noResize="1" noEditPoints="1" noAdjustHandles="1" noChangeArrowheads="1" noChangeShapeType="1" noTextEdit="1"/>
              </p:cNvSpPr>
              <p:nvPr/>
            </p:nvSpPr>
            <p:spPr bwMode="auto">
              <a:xfrm>
                <a:off x="2699870" y="5352343"/>
                <a:ext cx="5184360" cy="1512105"/>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9A1E4090-AEE8-4E4C-92EA-49442FCFEC35}"/>
              </a:ext>
            </a:extLst>
          </p:cNvPr>
          <p:cNvSpPr/>
          <p:nvPr/>
        </p:nvSpPr>
        <p:spPr>
          <a:xfrm>
            <a:off x="682710" y="5299193"/>
            <a:ext cx="7344510" cy="830997"/>
          </a:xfrm>
          <a:prstGeom prst="rect">
            <a:avLst/>
          </a:prstGeom>
        </p:spPr>
        <p:txBody>
          <a:bodyPr wrap="square">
            <a:spAutoFit/>
          </a:bodyPr>
          <a:lstStyle/>
          <a:p>
            <a:pPr marL="342900" indent="-342900">
              <a:buFont typeface="Wingdings" panose="05000000000000000000" pitchFamily="2" charset="2"/>
              <a:buChar char="p"/>
            </a:pPr>
            <a:r>
              <a:rPr lang="zh-CN" altLang="en-US" sz="2400" b="1" dirty="0">
                <a:solidFill>
                  <a:srgbClr val="0000FF"/>
                </a:solidFill>
                <a:latin typeface="华文楷体" panose="02010600040101010101" pitchFamily="2" charset="-122"/>
                <a:ea typeface="华文楷体" panose="02010600040101010101" pitchFamily="2" charset="-122"/>
              </a:rPr>
              <a:t>两原因引起的</a:t>
            </a:r>
            <a:endParaRPr lang="en-US" altLang="zh-CN" sz="2400" b="1" dirty="0">
              <a:solidFill>
                <a:srgbClr val="0000FF"/>
              </a:solidFill>
              <a:latin typeface="华文楷体" panose="02010600040101010101" pitchFamily="2" charset="-122"/>
              <a:ea typeface="华文楷体" panose="02010600040101010101" pitchFamily="2" charset="-122"/>
            </a:endParaRPr>
          </a:p>
          <a:p>
            <a:r>
              <a:rPr lang="zh-CN" altLang="en-US" sz="2400" b="1" dirty="0">
                <a:solidFill>
                  <a:srgbClr val="0000FF"/>
                </a:solidFill>
                <a:latin typeface="华文楷体" panose="02010600040101010101" pitchFamily="2" charset="-122"/>
                <a:ea typeface="华文楷体" panose="02010600040101010101" pitchFamily="2" charset="-122"/>
              </a:rPr>
              <a:t>    总温度效应：</a:t>
            </a:r>
            <a:endParaRPr lang="zh-CN" altLang="en-US" sz="2400" dirty="0">
              <a:solidFill>
                <a:srgbClr val="0000F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矩形 4">
            <a:extLst>
              <a:ext uri="{FF2B5EF4-FFF2-40B4-BE49-F238E27FC236}">
                <a16:creationId xmlns:a16="http://schemas.microsoft.com/office/drawing/2014/main" id="{EE1CC7A3-9FED-4936-8C85-FDC678AE28DE}"/>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4515" name="灯片编号占位符 3">
            <a:extLst>
              <a:ext uri="{FF2B5EF4-FFF2-40B4-BE49-F238E27FC236}">
                <a16:creationId xmlns:a16="http://schemas.microsoft.com/office/drawing/2014/main" id="{AF2A05C0-CFF9-4A15-BE40-FEC04D757C1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870ACB2E-E3DB-488C-8480-EFB370BAB5E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64</a:t>
            </a:fld>
            <a:endParaRPr lang="en-US" altLang="zh-CN" sz="1400">
              <a:latin typeface="Arial" panose="020B0604020202020204" pitchFamily="34" charset="0"/>
            </a:endParaRPr>
          </a:p>
        </p:txBody>
      </p:sp>
      <p:sp>
        <p:nvSpPr>
          <p:cNvPr id="64516" name="Rectangle 4">
            <a:extLst>
              <a:ext uri="{FF2B5EF4-FFF2-40B4-BE49-F238E27FC236}">
                <a16:creationId xmlns:a16="http://schemas.microsoft.com/office/drawing/2014/main" id="{714CB94B-4FE8-4F32-BE06-4737302610AA}"/>
              </a:ext>
            </a:extLst>
          </p:cNvPr>
          <p:cNvSpPr>
            <a:spLocks noChangeArrowheads="1"/>
          </p:cNvSpPr>
          <p:nvPr/>
        </p:nvSpPr>
        <p:spPr bwMode="auto">
          <a:xfrm>
            <a:off x="376238" y="273050"/>
            <a:ext cx="8343900" cy="585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a:p>
            <a:pPr>
              <a:lnSpc>
                <a:spcPct val="130000"/>
              </a:lnSpc>
              <a:spcBef>
                <a:spcPct val="0"/>
              </a:spcBef>
              <a:buFont typeface="Arial" panose="020B0604020202020204" pitchFamily="34" charset="0"/>
              <a:buNone/>
            </a:pPr>
            <a:endParaRPr lang="zh-CN" altLang="en-US" sz="2400" b="1" dirty="0">
              <a:solidFill>
                <a:srgbClr val="000000"/>
              </a:solidFill>
              <a:latin typeface="宋体" panose="02010600030101010101" pitchFamily="2" charset="-122"/>
              <a:sym typeface="宋体" panose="02010600030101010101" pitchFamily="2" charset="-122"/>
            </a:endParaRPr>
          </a:p>
          <a:p>
            <a:pPr>
              <a:lnSpc>
                <a:spcPct val="130000"/>
              </a:lnSpc>
              <a:spcBef>
                <a:spcPct val="0"/>
              </a:spcBef>
            </a:pPr>
            <a:r>
              <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rPr>
              <a:t>单丝自补偿法</a:t>
            </a:r>
            <a:r>
              <a:rPr lang="en-US" altLang="zh-CN" sz="2000" dirty="0">
                <a:solidFill>
                  <a:srgbClr val="CC0000"/>
                </a:solidFill>
                <a:latin typeface="黑体" panose="02010609060101010101" pitchFamily="49" charset="-122"/>
                <a:ea typeface="黑体" panose="02010609060101010101" pitchFamily="49" charset="-122"/>
                <a:sym typeface="宋体" panose="02010600030101010101" pitchFamily="2" charset="-122"/>
              </a:rPr>
              <a:t>(</a:t>
            </a:r>
            <a:r>
              <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rPr>
              <a:t>对于金属应变片</a:t>
            </a:r>
            <a:r>
              <a:rPr lang="en-US" altLang="zh-CN" sz="2000" dirty="0">
                <a:solidFill>
                  <a:srgbClr val="CC0000"/>
                </a:solidFill>
                <a:latin typeface="黑体" panose="02010609060101010101" pitchFamily="49" charset="-122"/>
                <a:ea typeface="黑体" panose="02010609060101010101" pitchFamily="49" charset="-122"/>
                <a:sym typeface="宋体" panose="02010600030101010101" pitchFamily="2" charset="-122"/>
              </a:rPr>
              <a:t>)</a:t>
            </a:r>
            <a:endPar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	为使应变片在温度变化时的热输出为零，必须使</a:t>
            </a:r>
          </a:p>
          <a:p>
            <a:pPr>
              <a:lnSpc>
                <a:spcPct val="130000"/>
              </a:lnSpc>
              <a:spcBef>
                <a:spcPct val="0"/>
              </a:spcBef>
              <a:buFont typeface="Arial" panose="020B0604020202020204" pitchFamily="34" charset="0"/>
              <a:buNone/>
            </a:pPr>
            <a:endPar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	   若应变片的敏感栅是用单一的合金丝制成，使其电阻温度系数   和线膨胀系数及弹性材料线膨胀系数满足上式条件，即可实现温度自补偿。</a:t>
            </a:r>
            <a:endParaRPr lang="en-US" altLang="zh-CN" sz="2000" dirty="0">
              <a:solidFill>
                <a:srgbClr val="00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buFont typeface="Arial" panose="020B0604020202020204" pitchFamily="34" charset="0"/>
              <a:buNone/>
            </a:pPr>
            <a:endPar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pPr>
            <a:r>
              <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rPr>
              <a:t>双丝组合式自补偿法</a:t>
            </a:r>
            <a:r>
              <a:rPr lang="en-US" altLang="zh-CN" sz="2000" dirty="0">
                <a:solidFill>
                  <a:srgbClr val="CC0000"/>
                </a:solidFill>
                <a:latin typeface="黑体" panose="02010609060101010101" pitchFamily="49" charset="-122"/>
                <a:ea typeface="黑体" panose="02010609060101010101" pitchFamily="49" charset="-122"/>
                <a:sym typeface="宋体" panose="02010600030101010101" pitchFamily="2" charset="-122"/>
              </a:rPr>
              <a:t>(</a:t>
            </a:r>
            <a:r>
              <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rPr>
              <a:t>对于金属应变片</a:t>
            </a:r>
            <a:r>
              <a:rPr lang="en-US" altLang="zh-CN" sz="2000" dirty="0">
                <a:solidFill>
                  <a:srgbClr val="CC0000"/>
                </a:solidFill>
                <a:latin typeface="黑体" panose="02010609060101010101" pitchFamily="49" charset="-122"/>
                <a:ea typeface="黑体" panose="02010609060101010101" pitchFamily="49" charset="-122"/>
                <a:sym typeface="宋体" panose="02010600030101010101" pitchFamily="2" charset="-122"/>
              </a:rPr>
              <a:t>)</a:t>
            </a:r>
            <a:endParaRPr lang="zh-CN" altLang="en-US" sz="2000" dirty="0">
              <a:solidFill>
                <a:srgbClr val="CC0000"/>
              </a:solidFill>
              <a:latin typeface="黑体" panose="02010609060101010101" pitchFamily="49" charset="-122"/>
              <a:ea typeface="黑体" panose="02010609060101010101" pitchFamily="49" charset="-122"/>
              <a:sym typeface="宋体" panose="02010600030101010101" pitchFamily="2" charset="-122"/>
            </a:endParaRP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	这种自补偿的条件是要求粘贴在</a:t>
            </a: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某一试件上的两段敏感栅随温度变化而</a:t>
            </a: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产生的电阻变化量大小相等，符号相反</a:t>
            </a:r>
          </a:p>
          <a:p>
            <a:pPr>
              <a:lnSpc>
                <a:spcPct val="130000"/>
              </a:lnSpc>
              <a:spcBef>
                <a:spcPct val="0"/>
              </a:spcBef>
              <a:buFont typeface="Arial" panose="020B0604020202020204" pitchFamily="34" charset="0"/>
              <a:buNone/>
            </a:pPr>
            <a:r>
              <a:rPr lang="zh-CN" altLang="en-US" sz="2000" dirty="0">
                <a:solidFill>
                  <a:srgbClr val="000000"/>
                </a:solidFill>
                <a:latin typeface="黑体" panose="02010609060101010101" pitchFamily="49" charset="-122"/>
                <a:ea typeface="黑体" panose="02010609060101010101" pitchFamily="49" charset="-122"/>
                <a:sym typeface="宋体" panose="02010600030101010101" pitchFamily="2" charset="-122"/>
              </a:rPr>
              <a:t>即</a:t>
            </a:r>
            <a:endParaRPr lang="zh-CN" altLang="en-US" sz="2000" dirty="0">
              <a:latin typeface="黑体" panose="02010609060101010101" pitchFamily="49" charset="-122"/>
              <a:ea typeface="黑体" panose="02010609060101010101" pitchFamily="49" charset="-122"/>
            </a:endParaRPr>
          </a:p>
        </p:txBody>
      </p:sp>
      <p:pic>
        <p:nvPicPr>
          <p:cNvPr id="64517" name="Object 7">
            <a:extLst>
              <a:ext uri="{FF2B5EF4-FFF2-40B4-BE49-F238E27FC236}">
                <a16:creationId xmlns:a16="http://schemas.microsoft.com/office/drawing/2014/main" id="{CC89810C-BBCA-4427-9752-A4DCDF058E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7513" y="2478088"/>
            <a:ext cx="301625" cy="37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8" name="Text Box 13">
            <a:extLst>
              <a:ext uri="{FF2B5EF4-FFF2-40B4-BE49-F238E27FC236}">
                <a16:creationId xmlns:a16="http://schemas.microsoft.com/office/drawing/2014/main" id="{E496F3EC-098F-4A8E-B318-E431A90EB386}"/>
              </a:ext>
            </a:extLst>
          </p:cNvPr>
          <p:cNvSpPr>
            <a:spLocks noChangeArrowheads="1"/>
          </p:cNvSpPr>
          <p:nvPr/>
        </p:nvSpPr>
        <p:spPr bwMode="auto">
          <a:xfrm>
            <a:off x="1249363" y="5176838"/>
            <a:ext cx="74707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en-US" altLang="zh-CN" sz="2400">
                <a:latin typeface="Arial" panose="020B0604020202020204" pitchFamily="34" charset="0"/>
                <a:ea typeface="楷体_GB2312" pitchFamily="49" charset="-122"/>
              </a:rPr>
              <a:t>     </a:t>
            </a:r>
            <a:endParaRPr lang="zh-CN" altLang="en-US" sz="1800">
              <a:latin typeface="Arial" panose="020B0604020202020204" pitchFamily="34" charset="0"/>
            </a:endParaRPr>
          </a:p>
        </p:txBody>
      </p:sp>
      <p:sp>
        <p:nvSpPr>
          <p:cNvPr id="64519" name="Rectangle 14">
            <a:extLst>
              <a:ext uri="{FF2B5EF4-FFF2-40B4-BE49-F238E27FC236}">
                <a16:creationId xmlns:a16="http://schemas.microsoft.com/office/drawing/2014/main" id="{D7492F03-6683-41EA-886A-878BE9D8D017}"/>
              </a:ext>
            </a:extLst>
          </p:cNvPr>
          <p:cNvSpPr>
            <a:spLocks noChangeArrowheads="1"/>
          </p:cNvSpPr>
          <p:nvPr/>
        </p:nvSpPr>
        <p:spPr bwMode="auto">
          <a:xfrm>
            <a:off x="844550" y="5175250"/>
            <a:ext cx="4860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a:solidFill>
                  <a:srgbClr val="000000"/>
                </a:solidFill>
                <a:latin typeface="Arial" panose="020B0604020202020204" pitchFamily="34" charset="0"/>
                <a:ea typeface="楷体_GB2312" pitchFamily="49" charset="-122"/>
              </a:rPr>
              <a:t>    </a:t>
            </a:r>
            <a:endParaRPr lang="zh-CN" altLang="en-US" sz="2400">
              <a:solidFill>
                <a:srgbClr val="000000"/>
              </a:solidFill>
              <a:latin typeface="Arial" panose="020B0604020202020204" pitchFamily="34" charset="0"/>
              <a:ea typeface="楷体_GB2312" pitchFamily="49" charset="-122"/>
            </a:endParaRPr>
          </a:p>
        </p:txBody>
      </p:sp>
      <p:pic>
        <p:nvPicPr>
          <p:cNvPr id="64520" name="Object 11">
            <a:extLst>
              <a:ext uri="{FF2B5EF4-FFF2-40B4-BE49-F238E27FC236}">
                <a16:creationId xmlns:a16="http://schemas.microsoft.com/office/drawing/2014/main" id="{6D83B098-6726-43B8-A521-A9FE0F1C82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088" y="5649913"/>
            <a:ext cx="2205037"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4521" name="Group 18">
            <a:extLst>
              <a:ext uri="{FF2B5EF4-FFF2-40B4-BE49-F238E27FC236}">
                <a16:creationId xmlns:a16="http://schemas.microsoft.com/office/drawing/2014/main" id="{E6550137-E9F6-459C-8D9D-1ACC5DDF1158}"/>
              </a:ext>
            </a:extLst>
          </p:cNvPr>
          <p:cNvGrpSpPr>
            <a:grpSpLocks/>
          </p:cNvGrpSpPr>
          <p:nvPr/>
        </p:nvGrpSpPr>
        <p:grpSpPr bwMode="auto">
          <a:xfrm>
            <a:off x="5534025" y="3594100"/>
            <a:ext cx="2895600" cy="2030413"/>
            <a:chOff x="0" y="0"/>
            <a:chExt cx="1994" cy="1453"/>
          </a:xfrm>
        </p:grpSpPr>
        <p:pic>
          <p:nvPicPr>
            <p:cNvPr id="64523" name="Picture 15">
              <a:extLst>
                <a:ext uri="{FF2B5EF4-FFF2-40B4-BE49-F238E27FC236}">
                  <a16:creationId xmlns:a16="http://schemas.microsoft.com/office/drawing/2014/main" id="{6EBABE02-CE27-43CE-9850-674A4CF88E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94" cy="1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4" name="Text Box 17">
              <a:extLst>
                <a:ext uri="{FF2B5EF4-FFF2-40B4-BE49-F238E27FC236}">
                  <a16:creationId xmlns:a16="http://schemas.microsoft.com/office/drawing/2014/main" id="{3E1DD14D-44A3-4ED8-B620-F425778E53FA}"/>
                </a:ext>
              </a:extLst>
            </p:cNvPr>
            <p:cNvSpPr>
              <a:spLocks noChangeArrowheads="1"/>
            </p:cNvSpPr>
            <p:nvPr/>
          </p:nvSpPr>
          <p:spPr bwMode="auto">
            <a:xfrm>
              <a:off x="170" y="1049"/>
              <a:ext cx="1758"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eaLnBrk="1" hangingPunct="1">
                <a:spcBef>
                  <a:spcPct val="50000"/>
                </a:spcBef>
                <a:buFont typeface="Arial" panose="020B0604020202020204" pitchFamily="34" charset="0"/>
                <a:buNone/>
              </a:pPr>
              <a:r>
                <a:rPr lang="zh-CN" altLang="en-US" sz="1800">
                  <a:latin typeface="楷体_GB2312" pitchFamily="49" charset="-122"/>
                  <a:ea typeface="楷体_GB2312" pitchFamily="49" charset="-122"/>
                  <a:sym typeface="楷体_GB2312" pitchFamily="49" charset="-122"/>
                </a:rPr>
                <a:t>图 双丝组合式自补偿应变片</a:t>
              </a:r>
              <a:endParaRPr lang="zh-CN" altLang="en-US" sz="1800">
                <a:latin typeface="Arial" panose="020B0604020202020204" pitchFamily="34" charset="0"/>
              </a:endParaRPr>
            </a:p>
          </p:txBody>
        </p:sp>
      </p:grpSp>
      <p:graphicFrame>
        <p:nvGraphicFramePr>
          <p:cNvPr id="64522" name="对象 1">
            <a:extLst>
              <a:ext uri="{FF2B5EF4-FFF2-40B4-BE49-F238E27FC236}">
                <a16:creationId xmlns:a16="http://schemas.microsoft.com/office/drawing/2014/main" id="{289A3A29-4D7F-4265-894E-D027CEEC495C}"/>
              </a:ext>
            </a:extLst>
          </p:cNvPr>
          <p:cNvGraphicFramePr>
            <a:graphicFrameLocks noChangeAspect="1"/>
          </p:cNvGraphicFramePr>
          <p:nvPr>
            <p:extLst>
              <p:ext uri="{D42A27DB-BD31-4B8C-83A1-F6EECF244321}">
                <p14:modId xmlns:p14="http://schemas.microsoft.com/office/powerpoint/2010/main" val="3277282133"/>
              </p:ext>
            </p:extLst>
          </p:nvPr>
        </p:nvGraphicFramePr>
        <p:xfrm>
          <a:off x="3259931" y="2116931"/>
          <a:ext cx="2052638" cy="406400"/>
        </p:xfrm>
        <a:graphic>
          <a:graphicData uri="http://schemas.openxmlformats.org/presentationml/2006/ole">
            <mc:AlternateContent xmlns:mc="http://schemas.openxmlformats.org/markup-compatibility/2006">
              <mc:Choice xmlns:v="urn:schemas-microsoft-com:vml" Requires="v">
                <p:oleObj spid="_x0000_s82994" name="Equation" r:id="rId6" imgW="1218671" imgH="241195" progId="Equation.DSMT4">
                  <p:embed/>
                </p:oleObj>
              </mc:Choice>
              <mc:Fallback>
                <p:oleObj name="Equation" r:id="rId6" imgW="1218671" imgH="241195" progId="Equation.DSMT4">
                  <p:embed/>
                  <p:pic>
                    <p:nvPicPr>
                      <p:cNvPr id="64522" name="对象 1">
                        <a:extLst>
                          <a:ext uri="{FF2B5EF4-FFF2-40B4-BE49-F238E27FC236}">
                            <a16:creationId xmlns:a16="http://schemas.microsoft.com/office/drawing/2014/main" id="{289A3A29-4D7F-4265-894E-D027CEEC495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59931" y="2116931"/>
                        <a:ext cx="20526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xmlns:a14="http://schemas.microsoft.com/office/drawing/2010/main">
        <mc:Choice Requires="a14">
          <p:sp>
            <p:nvSpPr>
              <p:cNvPr id="13" name="Object 5">
                <a:extLst>
                  <a:ext uri="{FF2B5EF4-FFF2-40B4-BE49-F238E27FC236}">
                    <a16:creationId xmlns:a16="http://schemas.microsoft.com/office/drawing/2014/main" id="{35EBE0DD-338F-4405-B020-28A9E018D188}"/>
                  </a:ext>
                </a:extLst>
              </p:cNvPr>
              <p:cNvSpPr txBox="1"/>
              <p:nvPr/>
            </p:nvSpPr>
            <p:spPr bwMode="auto">
              <a:xfrm>
                <a:off x="3993930" y="124593"/>
                <a:ext cx="5184360" cy="151210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d>
                        <m:dPr>
                          <m:ctrlP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ctrlPr>
                        </m:dPr>
                        <m:e>
                          <m:f>
                            <m:fPr>
                              <m:ctrlP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ctrlPr>
                            </m:fPr>
                            <m:num>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m:t>∆</m:t>
                              </m:r>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ea typeface="Cambria Math" panose="02040503050406030204" pitchFamily="18" charset="0"/>
                                </a:rPr>
                                <m:t>𝑅</m:t>
                              </m:r>
                            </m:num>
                            <m:den>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𝑅</m:t>
                              </m:r>
                            </m:den>
                          </m:f>
                        </m:e>
                      </m:d>
                      <m:r>
                        <a:rPr lang="zh-CN" altLang="en-US" sz="2400" i="1">
                          <a:solidFill>
                            <a:srgbClr val="000000"/>
                          </a:solidFill>
                          <a:effectLst>
                            <a:outerShdw blurRad="50800" dist="38100" dir="5400000" algn="t" rotWithShape="0">
                              <a:prstClr val="black">
                                <a:alpha val="40000"/>
                              </a:prstClr>
                            </a:outerShdw>
                          </a:effectLst>
                          <a:latin typeface="Cambria Math" panose="02040503050406030204" pitchFamily="18" charset="0"/>
                        </a:rPr>
                        <m:t>=</m:t>
                      </m:r>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m:t>
                      </m:r>
                      <m:sSub>
                        <m:sSubPr>
                          <m:ctrlPr>
                            <a:rPr lang="zh-CN" altLang="en-US" sz="2400" i="1" smtClean="0">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𝑡</m:t>
                          </m:r>
                        </m:sub>
                      </m:s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m:t>
                      </m:r>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𝐾</m:t>
                      </m:r>
                      <m:d>
                        <m:d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dPr>
                        <m:e>
                          <m:sSub>
                            <m:sSub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𝑔</m:t>
                              </m:r>
                            </m:sub>
                          </m:s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m:t>
                          </m:r>
                          <m:sSub>
                            <m:sSubPr>
                              <m:ctrlP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ctrlPr>
                            </m:sSubPr>
                            <m:e>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𝛼</m:t>
                              </m:r>
                            </m:e>
                            <m:sub>
                              <m:r>
                                <a:rPr lang="zh-CN" altLang="en-US" sz="2400" i="1">
                                  <a:solidFill>
                                    <a:srgbClr val="FF0000"/>
                                  </a:solidFill>
                                  <a:effectLst>
                                    <a:outerShdw blurRad="50800" dist="38100" dir="5400000" algn="t" rotWithShape="0">
                                      <a:prstClr val="black">
                                        <a:alpha val="40000"/>
                                      </a:prstClr>
                                    </a:outerShdw>
                                  </a:effectLst>
                                  <a:latin typeface="Cambria Math" panose="02040503050406030204" pitchFamily="18" charset="0"/>
                                </a:rPr>
                                <m:t>𝑙</m:t>
                              </m:r>
                            </m:sub>
                          </m:sSub>
                        </m:e>
                      </m:d>
                      <m:r>
                        <a:rPr lang="en-US" altLang="zh-CN" sz="2400" b="0" i="1" smtClean="0">
                          <a:solidFill>
                            <a:srgbClr val="000000"/>
                          </a:solidFill>
                          <a:effectLst>
                            <a:outerShdw blurRad="50800" dist="38100" dir="5400000" algn="t" rotWithShape="0">
                              <a:prstClr val="black">
                                <a:alpha val="40000"/>
                              </a:prstClr>
                            </a:outerShdw>
                          </a:effectLst>
                          <a:latin typeface="Cambria Math" panose="02040503050406030204" pitchFamily="18" charset="0"/>
                        </a:rPr>
                        <m:t>]</m:t>
                      </m:r>
                      <m:r>
                        <m:rPr>
                          <m:sty m:val="p"/>
                        </m:rPr>
                        <a:rPr lang="zh-CN" altLang="en-US" sz="2400" i="1">
                          <a:solidFill>
                            <a:srgbClr val="000000"/>
                          </a:solidFill>
                          <a:effectLst>
                            <a:outerShdw blurRad="50800" dist="38100" dir="5400000" algn="t" rotWithShape="0">
                              <a:prstClr val="black">
                                <a:alpha val="40000"/>
                              </a:prstClr>
                            </a:outerShdw>
                          </a:effectLst>
                          <a:latin typeface="Cambria Math" panose="02040503050406030204" pitchFamily="18" charset="0"/>
                        </a:rPr>
                        <m:t>Δ</m:t>
                      </m:r>
                      <m:r>
                        <m:rPr>
                          <m:sty m:val="p"/>
                        </m:rPr>
                        <a:rPr lang="en-US" altLang="zh-CN" sz="2400" i="1">
                          <a:solidFill>
                            <a:srgbClr val="000000"/>
                          </a:solidFill>
                          <a:effectLst>
                            <a:outerShdw blurRad="50800" dist="38100" dir="5400000" algn="t" rotWithShape="0">
                              <a:prstClr val="black">
                                <a:alpha val="40000"/>
                              </a:prstClr>
                            </a:outerShdw>
                          </a:effectLst>
                          <a:latin typeface="Cambria Math" panose="02040503050406030204" pitchFamily="18" charset="0"/>
                        </a:rPr>
                        <m:t>t</m:t>
                      </m:r>
                    </m:oMath>
                  </m:oMathPara>
                </a14:m>
                <a:br>
                  <a:rPr lang="zh-CN" altLang="en-US" sz="2400" i="1" dirty="0">
                    <a:solidFill>
                      <a:srgbClr val="000000"/>
                    </a:solidFill>
                    <a:effectLst>
                      <a:outerShdw blurRad="50800" dist="38100" dir="5400000" algn="t" rotWithShape="0">
                        <a:prstClr val="black">
                          <a:alpha val="40000"/>
                        </a:prstClr>
                      </a:outerShdw>
                    </a:effectLst>
                    <a:latin typeface="Cambria Math" panose="02040503050406030204" pitchFamily="18" charset="0"/>
                  </a:rPr>
                </a:br>
                <a:endParaRPr lang="zh-CN" altLang="en-US" sz="2400" dirty="0">
                  <a:effectLst>
                    <a:outerShdw blurRad="50800" dist="38100" dir="5400000" algn="t" rotWithShape="0">
                      <a:prstClr val="black">
                        <a:alpha val="40000"/>
                      </a:prstClr>
                    </a:outerShdw>
                  </a:effectLst>
                </a:endParaRPr>
              </a:p>
            </p:txBody>
          </p:sp>
        </mc:Choice>
        <mc:Fallback xmlns="">
          <p:sp>
            <p:nvSpPr>
              <p:cNvPr id="13" name="Object 5">
                <a:extLst>
                  <a:ext uri="{FF2B5EF4-FFF2-40B4-BE49-F238E27FC236}">
                    <a16:creationId xmlns:a16="http://schemas.microsoft.com/office/drawing/2014/main" id="{35EBE0DD-338F-4405-B020-28A9E018D188}"/>
                  </a:ext>
                </a:extLst>
              </p:cNvPr>
              <p:cNvSpPr txBox="1">
                <a:spLocks noRot="1" noChangeAspect="1" noMove="1" noResize="1" noEditPoints="1" noAdjustHandles="1" noChangeArrowheads="1" noChangeShapeType="1" noTextEdit="1"/>
              </p:cNvSpPr>
              <p:nvPr/>
            </p:nvSpPr>
            <p:spPr bwMode="auto">
              <a:xfrm>
                <a:off x="3993930" y="124593"/>
                <a:ext cx="5184360" cy="1512105"/>
              </a:xfrm>
              <a:prstGeom prst="rect">
                <a:avLst/>
              </a:prstGeom>
              <a:blipFill>
                <a:blip r:embed="rId8"/>
                <a:stretch>
                  <a:fillRect/>
                </a:stretch>
              </a:blipFill>
              <a:ln>
                <a:noFill/>
              </a:ln>
              <a:extLst/>
            </p:spPr>
            <p:txBody>
              <a:bodyPr/>
              <a:lstStyle/>
              <a:p>
                <a:r>
                  <a:rPr lang="zh-CN" altLang="en-US">
                    <a:noFill/>
                  </a:rPr>
                  <a:t> </a:t>
                </a:r>
              </a:p>
            </p:txBody>
          </p:sp>
        </mc:Fallback>
      </mc:AlternateContent>
      <p:sp>
        <p:nvSpPr>
          <p:cNvPr id="2" name="箭头: 圆角右 1">
            <a:extLst>
              <a:ext uri="{FF2B5EF4-FFF2-40B4-BE49-F238E27FC236}">
                <a16:creationId xmlns:a16="http://schemas.microsoft.com/office/drawing/2014/main" id="{506AECF4-EA6E-49AB-AACF-8BEFB0C2EF6C}"/>
              </a:ext>
            </a:extLst>
          </p:cNvPr>
          <p:cNvSpPr/>
          <p:nvPr/>
        </p:nvSpPr>
        <p:spPr bwMode="auto">
          <a:xfrm rot="10860000">
            <a:off x="6315195" y="1029313"/>
            <a:ext cx="719690" cy="1452405"/>
          </a:xfrm>
          <a:prstGeom prst="bentArrow">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 typeface="Arial" pitchFamily="34" charset="0"/>
              <a:buNone/>
            </a:pPr>
            <a:endParaRPr kumimoji="0" lang="zh-CN" altLang="en-US" sz="1800" b="0" i="0" u="none" strike="noStrike" cap="none" normalizeH="0" baseline="0">
              <a:ln>
                <a:noFill/>
              </a:ln>
              <a:solidFill>
                <a:schemeClr val="tx1"/>
              </a:solidFill>
              <a:effectLst/>
              <a:latin typeface="Arial" pitchFamily="34" charset="0"/>
              <a:ea typeface="宋体"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矩形 4">
            <a:extLst>
              <a:ext uri="{FF2B5EF4-FFF2-40B4-BE49-F238E27FC236}">
                <a16:creationId xmlns:a16="http://schemas.microsoft.com/office/drawing/2014/main" id="{59629C12-6D59-4108-867F-632DE755E63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5539" name="灯片编号占位符 3">
            <a:extLst>
              <a:ext uri="{FF2B5EF4-FFF2-40B4-BE49-F238E27FC236}">
                <a16:creationId xmlns:a16="http://schemas.microsoft.com/office/drawing/2014/main" id="{61457F07-ACDD-482D-830B-9AC508B384E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E9B6411-196E-45B3-8798-08442339FB6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65</a:t>
            </a:fld>
            <a:endParaRPr lang="en-US" altLang="zh-CN" sz="1400">
              <a:latin typeface="Arial" panose="020B0604020202020204" pitchFamily="34" charset="0"/>
            </a:endParaRPr>
          </a:p>
        </p:txBody>
      </p:sp>
      <p:sp>
        <p:nvSpPr>
          <p:cNvPr id="65540" name="Rectangle 5">
            <a:extLst>
              <a:ext uri="{FF2B5EF4-FFF2-40B4-BE49-F238E27FC236}">
                <a16:creationId xmlns:a16="http://schemas.microsoft.com/office/drawing/2014/main" id="{CE6FBF73-0A18-4A6A-BE95-7EADD2B3EC41}"/>
              </a:ext>
            </a:extLst>
          </p:cNvPr>
          <p:cNvSpPr>
            <a:spLocks noChangeArrowheads="1"/>
          </p:cNvSpPr>
          <p:nvPr/>
        </p:nvSpPr>
        <p:spPr bwMode="auto">
          <a:xfrm>
            <a:off x="327815" y="1246187"/>
            <a:ext cx="8458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76200">
              <a:spcBef>
                <a:spcPct val="20000"/>
              </a:spcBef>
              <a:buFont typeface="Arial" panose="020B0604020202020204" pitchFamily="34" charset="0"/>
              <a:buChar char="•"/>
              <a:tabLst>
                <a:tab pos="571500" algn="l"/>
                <a:tab pos="1562100" algn="l"/>
              </a:tabLst>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tabLst>
                <a:tab pos="571500" algn="l"/>
                <a:tab pos="1562100" algn="l"/>
              </a:tabLst>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tabLst>
                <a:tab pos="571500" algn="l"/>
                <a:tab pos="1562100" algn="l"/>
              </a:tabLst>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571500" algn="l"/>
                <a:tab pos="1562100" algn="l"/>
              </a:tabLst>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pPr>
            <a:r>
              <a:rPr lang="zh-CN" altLang="en-US" sz="2400" b="1" dirty="0">
                <a:solidFill>
                  <a:schemeClr val="accent2"/>
                </a:solidFill>
                <a:latin typeface="宋体" panose="02010600030101010101" pitchFamily="2" charset="-122"/>
                <a:sym typeface="宋体" panose="02010600030101010101" pitchFamily="2" charset="-122"/>
              </a:rPr>
              <a:t>灵敏度的温度漂移补偿</a:t>
            </a:r>
          </a:p>
          <a:p>
            <a:pPr algn="just">
              <a:spcBef>
                <a:spcPct val="0"/>
              </a:spcBef>
              <a:buFont typeface="Arial" panose="020B0604020202020204" pitchFamily="34" charset="0"/>
              <a:buNone/>
            </a:pPr>
            <a:r>
              <a:rPr lang="zh-CN" altLang="en-US" sz="2400" b="1" dirty="0">
                <a:solidFill>
                  <a:srgbClr val="000000"/>
                </a:solidFill>
                <a:latin typeface="宋体" panose="02010600030101010101" pitchFamily="2" charset="-122"/>
                <a:sym typeface="宋体" panose="02010600030101010101" pitchFamily="2" charset="-122"/>
              </a:rPr>
              <a:t>	</a:t>
            </a:r>
          </a:p>
        </p:txBody>
      </p:sp>
      <p:sp>
        <p:nvSpPr>
          <p:cNvPr id="65541" name="Rectangle 3">
            <a:extLst>
              <a:ext uri="{FF2B5EF4-FFF2-40B4-BE49-F238E27FC236}">
                <a16:creationId xmlns:a16="http://schemas.microsoft.com/office/drawing/2014/main" id="{86DA2E2E-CD80-440B-953A-0C034993BB74}"/>
              </a:ext>
            </a:extLst>
          </p:cNvPr>
          <p:cNvSpPr>
            <a:spLocks noChangeArrowheads="1"/>
          </p:cNvSpPr>
          <p:nvPr/>
        </p:nvSpPr>
        <p:spPr bwMode="auto">
          <a:xfrm>
            <a:off x="1331913" y="1628775"/>
            <a:ext cx="442753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zh-CN" altLang="en-US" sz="2000">
                <a:latin typeface="楷体_GB2312" pitchFamily="49" charset="-122"/>
                <a:ea typeface="楷体_GB2312" pitchFamily="49" charset="-122"/>
              </a:rPr>
              <a:t>恒压源激励时，串联二极管进行补偿</a:t>
            </a:r>
            <a:r>
              <a:rPr lang="zh-CN" altLang="en-US" sz="2400">
                <a:latin typeface="楷体_GB2312" pitchFamily="49" charset="-122"/>
                <a:ea typeface="楷体_GB2312" pitchFamily="49" charset="-122"/>
              </a:rPr>
              <a:t> </a:t>
            </a:r>
          </a:p>
        </p:txBody>
      </p:sp>
      <p:pic>
        <p:nvPicPr>
          <p:cNvPr id="65542" name="Picture 7">
            <a:extLst>
              <a:ext uri="{FF2B5EF4-FFF2-40B4-BE49-F238E27FC236}">
                <a16:creationId xmlns:a16="http://schemas.microsoft.com/office/drawing/2014/main" id="{D9269640-950B-4E19-AD4C-BD8FE8DF9A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420938"/>
            <a:ext cx="30956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3" name="Rectangle 6">
            <a:extLst>
              <a:ext uri="{FF2B5EF4-FFF2-40B4-BE49-F238E27FC236}">
                <a16:creationId xmlns:a16="http://schemas.microsoft.com/office/drawing/2014/main" id="{28DBCD3C-2D0A-4679-85AF-2D6F4319F223}"/>
              </a:ext>
            </a:extLst>
          </p:cNvPr>
          <p:cNvSpPr>
            <a:spLocks noChangeArrowheads="1"/>
          </p:cNvSpPr>
          <p:nvPr/>
        </p:nvSpPr>
        <p:spPr bwMode="auto">
          <a:xfrm>
            <a:off x="4211638" y="2276475"/>
            <a:ext cx="45370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zh-CN" altLang="en-US" sz="2000" dirty="0">
                <a:latin typeface="楷体_GB2312" pitchFamily="49" charset="-122"/>
                <a:ea typeface="楷体_GB2312" pitchFamily="49" charset="-122"/>
              </a:rPr>
              <a:t>原理</a:t>
            </a:r>
            <a:r>
              <a:rPr lang="en-US" altLang="zh-CN" sz="2000" dirty="0">
                <a:latin typeface="楷体_GB2312" pitchFamily="49" charset="-122"/>
                <a:ea typeface="楷体_GB2312" pitchFamily="49" charset="-122"/>
              </a:rPr>
              <a:t>:</a:t>
            </a:r>
          </a:p>
          <a:p>
            <a:pPr>
              <a:lnSpc>
                <a:spcPct val="150000"/>
              </a:lnSpc>
              <a:spcBef>
                <a:spcPct val="0"/>
              </a:spcBef>
              <a:buFont typeface="Arial" panose="020B0604020202020204" pitchFamily="34" charset="0"/>
              <a:buNone/>
            </a:pPr>
            <a:r>
              <a:rPr lang="en-US" altLang="zh-CN" sz="2000" dirty="0">
                <a:latin typeface="楷体_GB2312" pitchFamily="49" charset="-122"/>
                <a:ea typeface="楷体_GB2312" pitchFamily="49" charset="-122"/>
              </a:rPr>
              <a:t>   </a:t>
            </a:r>
            <a:r>
              <a:rPr lang="zh-CN" altLang="en-US" sz="2000" dirty="0">
                <a:highlight>
                  <a:srgbClr val="FFFF00"/>
                </a:highlight>
                <a:latin typeface="楷体_GB2312" pitchFamily="49" charset="-122"/>
                <a:ea typeface="楷体_GB2312" pitchFamily="49" charset="-122"/>
              </a:rPr>
              <a:t>二极管的温度特性为负</a:t>
            </a:r>
            <a:r>
              <a:rPr lang="zh-CN" altLang="en-US" sz="2000" dirty="0">
                <a:latin typeface="楷体_GB2312" pitchFamily="49" charset="-122"/>
                <a:ea typeface="楷体_GB2312" pitchFamily="49" charset="-122"/>
              </a:rPr>
              <a:t>（温度每升高</a:t>
            </a:r>
            <a:r>
              <a:rPr lang="en-US" altLang="zh-CN" sz="2000" dirty="0">
                <a:latin typeface="楷体_GB2312" pitchFamily="49" charset="-122"/>
                <a:ea typeface="楷体_GB2312" pitchFamily="49" charset="-122"/>
              </a:rPr>
              <a:t>1℃</a:t>
            </a:r>
            <a:r>
              <a:rPr lang="zh-CN" altLang="en-US" sz="2000" dirty="0">
                <a:latin typeface="楷体_GB2312" pitchFamily="49" charset="-122"/>
                <a:ea typeface="楷体_GB2312" pitchFamily="49" charset="-122"/>
              </a:rPr>
              <a:t>，正向压降要减小</a:t>
            </a:r>
            <a:r>
              <a:rPr lang="en-US" altLang="zh-CN" sz="2000" dirty="0">
                <a:latin typeface="楷体_GB2312" pitchFamily="49" charset="-122"/>
                <a:ea typeface="楷体_GB2312" pitchFamily="49" charset="-122"/>
              </a:rPr>
              <a:t>1.9</a:t>
            </a:r>
            <a:r>
              <a:rPr lang="zh-CN" altLang="en-US" sz="2000" dirty="0">
                <a:latin typeface="楷体_GB2312" pitchFamily="49" charset="-122"/>
                <a:ea typeface="楷体_GB2312" pitchFamily="49" charset="-122"/>
              </a:rPr>
              <a:t>至</a:t>
            </a:r>
            <a:r>
              <a:rPr lang="en-US" altLang="zh-CN" sz="2000" dirty="0">
                <a:latin typeface="楷体_GB2312" pitchFamily="49" charset="-122"/>
                <a:ea typeface="楷体_GB2312" pitchFamily="49" charset="-122"/>
              </a:rPr>
              <a:t>2.4mV</a:t>
            </a:r>
            <a:r>
              <a:rPr lang="zh-CN" altLang="en-US" sz="2000" dirty="0">
                <a:latin typeface="楷体_GB2312" pitchFamily="49" charset="-122"/>
                <a:ea typeface="楷体_GB2312" pitchFamily="49" charset="-122"/>
              </a:rPr>
              <a:t>），当温度上升时，电桥两端激励电压提高，使等效灵敏度不变。（通常压阻系数为负温度系数）</a:t>
            </a:r>
          </a:p>
          <a:p>
            <a:pPr>
              <a:lnSpc>
                <a:spcPct val="150000"/>
              </a:lnSpc>
              <a:spcBef>
                <a:spcPct val="0"/>
              </a:spcBef>
              <a:buFont typeface="Arial" panose="020B0604020202020204" pitchFamily="34" charset="0"/>
              <a:buNone/>
            </a:pPr>
            <a:endParaRPr lang="en-US" altLang="zh-CN" sz="2000" dirty="0">
              <a:solidFill>
                <a:schemeClr val="bg2"/>
              </a:solidFill>
              <a:latin typeface="楷体_GB2312" pitchFamily="49" charset="-122"/>
              <a:ea typeface="楷体_GB2312" pitchFamily="49" charset="-122"/>
            </a:endParaRPr>
          </a:p>
        </p:txBody>
      </p:sp>
      <p:sp>
        <p:nvSpPr>
          <p:cNvPr id="65544" name="Rectangle 9">
            <a:extLst>
              <a:ext uri="{FF2B5EF4-FFF2-40B4-BE49-F238E27FC236}">
                <a16:creationId xmlns:a16="http://schemas.microsoft.com/office/drawing/2014/main" id="{B5F9A0BE-75DB-4569-BDC0-5A2651D13C8C}"/>
              </a:ext>
            </a:extLst>
          </p:cNvPr>
          <p:cNvSpPr>
            <a:spLocks noChangeArrowheads="1"/>
          </p:cNvSpPr>
          <p:nvPr/>
        </p:nvSpPr>
        <p:spPr bwMode="auto">
          <a:xfrm>
            <a:off x="468313" y="5300663"/>
            <a:ext cx="8235950" cy="1404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zh-CN" altLang="en-US" sz="2000">
                <a:latin typeface="楷体_GB2312" pitchFamily="49" charset="-122"/>
                <a:ea typeface="楷体_GB2312" pitchFamily="49" charset="-122"/>
              </a:rPr>
              <a:t>优点</a:t>
            </a:r>
            <a:r>
              <a:rPr lang="en-US" altLang="zh-CN" sz="2000">
                <a:latin typeface="楷体_GB2312" pitchFamily="49" charset="-122"/>
                <a:ea typeface="楷体_GB2312" pitchFamily="49" charset="-122"/>
              </a:rPr>
              <a:t>:  </a:t>
            </a:r>
            <a:r>
              <a:rPr lang="zh-CN" altLang="en-US" sz="2000">
                <a:latin typeface="楷体_GB2312" pitchFamily="49" charset="-122"/>
                <a:ea typeface="楷体_GB2312" pitchFamily="49" charset="-122"/>
              </a:rPr>
              <a:t>所用元件少，使用简便，补偿是动态进行的 。</a:t>
            </a:r>
          </a:p>
          <a:p>
            <a:pPr>
              <a:lnSpc>
                <a:spcPct val="150000"/>
              </a:lnSpc>
              <a:spcBef>
                <a:spcPct val="0"/>
              </a:spcBef>
              <a:buFont typeface="Arial" panose="020B0604020202020204" pitchFamily="34" charset="0"/>
              <a:buNone/>
            </a:pPr>
            <a:r>
              <a:rPr lang="zh-CN" altLang="en-US" sz="2000">
                <a:latin typeface="楷体_GB2312" pitchFamily="49" charset="-122"/>
                <a:ea typeface="楷体_GB2312" pitchFamily="49" charset="-122"/>
              </a:rPr>
              <a:t>缺点： 二极管的数量只能是整数，因此补充总是不完全或者是过补偿 </a:t>
            </a:r>
            <a:r>
              <a:rPr lang="zh-CN" altLang="en-US" sz="2000">
                <a:solidFill>
                  <a:schemeClr val="bg2"/>
                </a:solidFill>
                <a:latin typeface="楷体_GB2312" pitchFamily="49" charset="-122"/>
                <a:ea typeface="楷体_GB2312" pitchFamily="49" charset="-122"/>
              </a:rPr>
              <a:t>。</a:t>
            </a:r>
          </a:p>
        </p:txBody>
      </p:sp>
      <p:sp>
        <p:nvSpPr>
          <p:cNvPr id="2" name="矩形 1">
            <a:extLst>
              <a:ext uri="{FF2B5EF4-FFF2-40B4-BE49-F238E27FC236}">
                <a16:creationId xmlns:a16="http://schemas.microsoft.com/office/drawing/2014/main" id="{7E34983D-7FDD-476F-8241-B004D2777408}"/>
              </a:ext>
            </a:extLst>
          </p:cNvPr>
          <p:cNvSpPr/>
          <p:nvPr/>
        </p:nvSpPr>
        <p:spPr>
          <a:xfrm>
            <a:off x="327815" y="384485"/>
            <a:ext cx="3432350" cy="573042"/>
          </a:xfrm>
          <a:prstGeom prst="rect">
            <a:avLst/>
          </a:prstGeom>
        </p:spPr>
        <p:txBody>
          <a:bodyPr wrap="non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矩形 4">
            <a:extLst>
              <a:ext uri="{FF2B5EF4-FFF2-40B4-BE49-F238E27FC236}">
                <a16:creationId xmlns:a16="http://schemas.microsoft.com/office/drawing/2014/main" id="{AE370A64-B800-446B-AF8A-B23C95576C08}"/>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6563" name="灯片编号占位符 3">
            <a:extLst>
              <a:ext uri="{FF2B5EF4-FFF2-40B4-BE49-F238E27FC236}">
                <a16:creationId xmlns:a16="http://schemas.microsoft.com/office/drawing/2014/main" id="{796CA727-FF8A-416E-8614-65CABB8EA661}"/>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141B41A-9A35-48AB-8034-EAF76B9BD98E}"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66</a:t>
            </a:fld>
            <a:endParaRPr lang="en-US" altLang="zh-CN" sz="1400">
              <a:latin typeface="Arial" panose="020B0604020202020204" pitchFamily="34" charset="0"/>
            </a:endParaRPr>
          </a:p>
        </p:txBody>
      </p:sp>
      <p:sp>
        <p:nvSpPr>
          <p:cNvPr id="57348" name="Text Box 4">
            <a:extLst>
              <a:ext uri="{FF2B5EF4-FFF2-40B4-BE49-F238E27FC236}">
                <a16:creationId xmlns:a16="http://schemas.microsoft.com/office/drawing/2014/main" id="{26A4741E-6800-4F71-99C7-593D958B47D1}"/>
              </a:ext>
            </a:extLst>
          </p:cNvPr>
          <p:cNvSpPr>
            <a:spLocks noChangeArrowheads="1"/>
          </p:cNvSpPr>
          <p:nvPr/>
        </p:nvSpPr>
        <p:spPr bwMode="auto">
          <a:xfrm>
            <a:off x="468313" y="1125538"/>
            <a:ext cx="8459787" cy="3822700"/>
          </a:xfrm>
          <a:prstGeom prst="rect">
            <a:avLst/>
          </a:prstGeom>
          <a:solidFill>
            <a:schemeClr val="bg1"/>
          </a:solidFill>
          <a:ln>
            <a:noFill/>
          </a:ln>
          <a:extLst/>
        </p:spPr>
        <p:txBody>
          <a:bodyPr>
            <a:spAutoFit/>
          </a:bodyPr>
          <a:lstStyle/>
          <a:p>
            <a:pPr marL="342900" indent="-342900" algn="just" eaLnBrk="1" hangingPunct="1">
              <a:lnSpc>
                <a:spcPct val="120000"/>
              </a:lnSpc>
              <a:spcBef>
                <a:spcPct val="50000"/>
              </a:spcBef>
              <a:buFont typeface="Arial" panose="020B0604020202020204" pitchFamily="34" charset="0"/>
              <a:buChar char="•"/>
              <a:defRPr/>
            </a:pPr>
            <a:r>
              <a:rPr lang="zh-CN" altLang="en-US" sz="2400" b="1" dirty="0">
                <a:solidFill>
                  <a:schemeClr val="accent2"/>
                </a:solidFill>
                <a:latin typeface="宋体" pitchFamily="2" charset="-122"/>
                <a:sym typeface="宋体" pitchFamily="2" charset="-122"/>
              </a:rPr>
              <a:t>补偿应变片法</a:t>
            </a:r>
          </a:p>
          <a:p>
            <a:pPr algn="just" eaLnBrk="1" hangingPunct="1">
              <a:lnSpc>
                <a:spcPct val="120000"/>
              </a:lnSpc>
              <a:spcBef>
                <a:spcPct val="50000"/>
              </a:spcBef>
              <a:buFont typeface="Arial" charset="0"/>
              <a:buNone/>
              <a:defRPr/>
            </a:pPr>
            <a:r>
              <a:rPr lang="en-US" altLang="zh-CN"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测量应变时，使用两个应变片，一片贴在被测试件的表面，图中</a:t>
            </a:r>
            <a:r>
              <a:rPr lang="en-US" altLang="zh-CN" sz="2400" i="1" dirty="0">
                <a:highlight>
                  <a:srgbClr val="FFFF00"/>
                </a:highlight>
                <a:latin typeface="楷体_GB2312" pitchFamily="49" charset="-122"/>
                <a:ea typeface="楷体_GB2312" pitchFamily="49" charset="-122"/>
                <a:sym typeface="楷体_GB2312" pitchFamily="49" charset="-122"/>
              </a:rPr>
              <a:t>R</a:t>
            </a:r>
            <a:r>
              <a:rPr lang="en-US" altLang="zh-CN" sz="2400" baseline="-30000" dirty="0">
                <a:highlight>
                  <a:srgbClr val="FFFF00"/>
                </a:highlight>
                <a:latin typeface="楷体_GB2312" pitchFamily="49" charset="-122"/>
                <a:ea typeface="楷体_GB2312" pitchFamily="49" charset="-122"/>
                <a:sym typeface="楷体_GB2312" pitchFamily="49" charset="-122"/>
              </a:rPr>
              <a:t>1</a:t>
            </a:r>
            <a:r>
              <a:rPr lang="zh-CN" altLang="en-US" sz="2400" dirty="0">
                <a:highlight>
                  <a:srgbClr val="FFFF00"/>
                </a:highlight>
                <a:latin typeface="楷体_GB2312" pitchFamily="49" charset="-122"/>
                <a:ea typeface="楷体_GB2312" pitchFamily="49" charset="-122"/>
                <a:sym typeface="楷体_GB2312" pitchFamily="49" charset="-122"/>
              </a:rPr>
              <a:t>称为工作应变片</a:t>
            </a:r>
            <a:r>
              <a:rPr lang="zh-CN" altLang="en-US" sz="2400" dirty="0">
                <a:latin typeface="楷体_GB2312" pitchFamily="49" charset="-122"/>
                <a:ea typeface="楷体_GB2312" pitchFamily="49" charset="-122"/>
                <a:sym typeface="楷体_GB2312" pitchFamily="49" charset="-122"/>
              </a:rPr>
              <a:t>。另一片贴在与被测试件材料相同的补偿块上，图中</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，称为</a:t>
            </a:r>
            <a:r>
              <a:rPr lang="zh-CN" altLang="en-US" sz="2400" dirty="0">
                <a:highlight>
                  <a:srgbClr val="FFFF00"/>
                </a:highlight>
                <a:latin typeface="楷体_GB2312" pitchFamily="49" charset="-122"/>
                <a:ea typeface="楷体_GB2312" pitchFamily="49" charset="-122"/>
                <a:sym typeface="楷体_GB2312" pitchFamily="49" charset="-122"/>
              </a:rPr>
              <a:t>补偿应变片</a:t>
            </a:r>
            <a:r>
              <a:rPr lang="zh-CN" altLang="en-US" sz="2400" dirty="0">
                <a:latin typeface="楷体_GB2312" pitchFamily="49" charset="-122"/>
                <a:ea typeface="楷体_GB2312" pitchFamily="49" charset="-122"/>
                <a:sym typeface="楷体_GB2312" pitchFamily="49" charset="-122"/>
              </a:rPr>
              <a:t>。在</a:t>
            </a:r>
            <a:r>
              <a:rPr lang="zh-CN" altLang="en-US" sz="2400" u="sng" dirty="0">
                <a:solidFill>
                  <a:srgbClr val="0000FF"/>
                </a:solidFill>
                <a:latin typeface="楷体_GB2312" pitchFamily="49" charset="-122"/>
                <a:ea typeface="楷体_GB2312" pitchFamily="49" charset="-122"/>
                <a:sym typeface="楷体_GB2312" pitchFamily="49" charset="-122"/>
              </a:rPr>
              <a:t>工作过程中补偿块不承受应变，仅随温度发生变形</a:t>
            </a:r>
            <a:r>
              <a:rPr lang="zh-CN" altLang="en-US" sz="2400" dirty="0">
                <a:latin typeface="楷体_GB2312" pitchFamily="49" charset="-122"/>
                <a:ea typeface="楷体_GB2312" pitchFamily="49" charset="-122"/>
                <a:sym typeface="楷体_GB2312" pitchFamily="49" charset="-122"/>
              </a:rPr>
              <a:t>。由于</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1</a:t>
            </a:r>
            <a:r>
              <a:rPr lang="zh-CN" altLang="en-US" sz="2400" dirty="0">
                <a:latin typeface="楷体_GB2312" pitchFamily="49" charset="-122"/>
                <a:ea typeface="楷体_GB2312" pitchFamily="49" charset="-122"/>
                <a:sym typeface="楷体_GB2312" pitchFamily="49" charset="-122"/>
              </a:rPr>
              <a:t>与</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2</a:t>
            </a:r>
            <a:r>
              <a:rPr lang="zh-CN" altLang="en-US" sz="2400" dirty="0">
                <a:latin typeface="楷体_GB2312" pitchFamily="49" charset="-122"/>
                <a:ea typeface="楷体_GB2312" pitchFamily="49" charset="-122"/>
                <a:sym typeface="楷体_GB2312" pitchFamily="49" charset="-122"/>
              </a:rPr>
              <a:t>接入电桥相邻臂上，造成</a:t>
            </a:r>
            <a:r>
              <a:rPr lang="en-US" altLang="zh-CN" sz="2400" dirty="0">
                <a:latin typeface="楷体_GB2312" pitchFamily="49" charset="-122"/>
                <a:ea typeface="楷体_GB2312" pitchFamily="49" charset="-122"/>
                <a:sym typeface="楷体_GB2312" pitchFamily="49" charset="-122"/>
              </a:rPr>
              <a:t>Δ</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1t</a:t>
            </a:r>
            <a:r>
              <a:rPr lang="zh-CN" altLang="en-US" sz="2400" dirty="0">
                <a:latin typeface="楷体_GB2312" pitchFamily="49" charset="-122"/>
                <a:ea typeface="楷体_GB2312" pitchFamily="49" charset="-122"/>
                <a:sym typeface="楷体_GB2312" pitchFamily="49" charset="-122"/>
              </a:rPr>
              <a:t>与</a:t>
            </a:r>
            <a:r>
              <a:rPr lang="en-US" altLang="zh-CN" sz="2400" dirty="0">
                <a:latin typeface="楷体_GB2312" pitchFamily="49" charset="-122"/>
                <a:ea typeface="楷体_GB2312" pitchFamily="49" charset="-122"/>
                <a:sym typeface="楷体_GB2312" pitchFamily="49" charset="-122"/>
              </a:rPr>
              <a:t>Δ</a:t>
            </a:r>
            <a:r>
              <a:rPr lang="en-US" altLang="zh-CN" sz="2400" i="1" dirty="0">
                <a:latin typeface="楷体_GB2312" pitchFamily="49" charset="-122"/>
                <a:ea typeface="楷体_GB2312" pitchFamily="49" charset="-122"/>
                <a:sym typeface="楷体_GB2312" pitchFamily="49" charset="-122"/>
              </a:rPr>
              <a:t>R</a:t>
            </a:r>
            <a:r>
              <a:rPr lang="en-US" altLang="zh-CN" sz="2400" baseline="-30000" dirty="0">
                <a:latin typeface="楷体_GB2312" pitchFamily="49" charset="-122"/>
                <a:ea typeface="楷体_GB2312" pitchFamily="49" charset="-122"/>
                <a:sym typeface="楷体_GB2312" pitchFamily="49" charset="-122"/>
              </a:rPr>
              <a:t>2t</a:t>
            </a:r>
            <a:r>
              <a:rPr lang="zh-CN" altLang="en-US" sz="2400" dirty="0">
                <a:latin typeface="楷体_GB2312" pitchFamily="49" charset="-122"/>
                <a:ea typeface="楷体_GB2312" pitchFamily="49" charset="-122"/>
                <a:sym typeface="楷体_GB2312" pitchFamily="49" charset="-122"/>
              </a:rPr>
              <a:t>相同，根据电桥理论可知，其输出电压</a:t>
            </a:r>
            <a:r>
              <a:rPr lang="en-US" altLang="zh-CN" sz="2400" i="1" dirty="0">
                <a:latin typeface="楷体_GB2312" pitchFamily="49" charset="-122"/>
                <a:ea typeface="楷体_GB2312" pitchFamily="49" charset="-122"/>
                <a:sym typeface="楷体_GB2312" pitchFamily="49" charset="-122"/>
              </a:rPr>
              <a:t>U</a:t>
            </a:r>
            <a:r>
              <a:rPr lang="en-US" altLang="zh-CN" sz="2400" i="1" baseline="-30000" dirty="0">
                <a:latin typeface="楷体_GB2312" pitchFamily="49" charset="-122"/>
                <a:ea typeface="楷体_GB2312" pitchFamily="49" charset="-122"/>
                <a:sym typeface="楷体_GB2312" pitchFamily="49" charset="-122"/>
              </a:rPr>
              <a:t>SC</a:t>
            </a:r>
            <a:r>
              <a:rPr lang="zh-CN" altLang="en-US" sz="2400" dirty="0">
                <a:latin typeface="楷体_GB2312" pitchFamily="49" charset="-122"/>
                <a:ea typeface="楷体_GB2312" pitchFamily="49" charset="-122"/>
                <a:sym typeface="楷体_GB2312" pitchFamily="49" charset="-122"/>
              </a:rPr>
              <a:t>与温度无关。当工作应变片感受应变时，电桥将产生相应输出电压。</a:t>
            </a:r>
            <a:endParaRPr lang="zh-CN" altLang="en-US" dirty="0">
              <a:latin typeface="Arial" charset="0"/>
            </a:endParaRPr>
          </a:p>
        </p:txBody>
      </p:sp>
      <p:grpSp>
        <p:nvGrpSpPr>
          <p:cNvPr id="66565" name="Group 5">
            <a:extLst>
              <a:ext uri="{FF2B5EF4-FFF2-40B4-BE49-F238E27FC236}">
                <a16:creationId xmlns:a16="http://schemas.microsoft.com/office/drawing/2014/main" id="{5A09D761-FC24-4F14-A518-B5F86E3BDC0A}"/>
              </a:ext>
            </a:extLst>
          </p:cNvPr>
          <p:cNvGrpSpPr>
            <a:grpSpLocks/>
          </p:cNvGrpSpPr>
          <p:nvPr/>
        </p:nvGrpSpPr>
        <p:grpSpPr bwMode="auto">
          <a:xfrm>
            <a:off x="1043755" y="4437070"/>
            <a:ext cx="4518025" cy="1865313"/>
            <a:chOff x="0" y="0"/>
            <a:chExt cx="2846" cy="1175"/>
          </a:xfrm>
        </p:grpSpPr>
        <p:sp>
          <p:nvSpPr>
            <p:cNvPr id="66566" name="Line 6">
              <a:extLst>
                <a:ext uri="{FF2B5EF4-FFF2-40B4-BE49-F238E27FC236}">
                  <a16:creationId xmlns:a16="http://schemas.microsoft.com/office/drawing/2014/main" id="{15B2D437-BEC8-4BC0-BD30-F8CC4ADB7E35}"/>
                </a:ext>
              </a:extLst>
            </p:cNvPr>
            <p:cNvSpPr>
              <a:spLocks noChangeShapeType="1"/>
            </p:cNvSpPr>
            <p:nvPr/>
          </p:nvSpPr>
          <p:spPr bwMode="auto">
            <a:xfrm>
              <a:off x="271" y="615"/>
              <a:ext cx="2184"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67" name="Rectangle 7" descr="浅色上对角线">
              <a:extLst>
                <a:ext uri="{FF2B5EF4-FFF2-40B4-BE49-F238E27FC236}">
                  <a16:creationId xmlns:a16="http://schemas.microsoft.com/office/drawing/2014/main" id="{1396DCCB-822D-4C2A-9D1E-0EF79174C10B}"/>
                </a:ext>
              </a:extLst>
            </p:cNvPr>
            <p:cNvSpPr>
              <a:spLocks noChangeArrowheads="1"/>
            </p:cNvSpPr>
            <p:nvPr/>
          </p:nvSpPr>
          <p:spPr bwMode="auto">
            <a:xfrm>
              <a:off x="271" y="628"/>
              <a:ext cx="2184" cy="139"/>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6568" name="Rectangle 8">
              <a:extLst>
                <a:ext uri="{FF2B5EF4-FFF2-40B4-BE49-F238E27FC236}">
                  <a16:creationId xmlns:a16="http://schemas.microsoft.com/office/drawing/2014/main" id="{5229DB41-F5DD-4B6F-A177-804EE267C2C4}"/>
                </a:ext>
              </a:extLst>
            </p:cNvPr>
            <p:cNvSpPr>
              <a:spLocks noChangeArrowheads="1"/>
            </p:cNvSpPr>
            <p:nvPr/>
          </p:nvSpPr>
          <p:spPr bwMode="auto">
            <a:xfrm>
              <a:off x="537" y="524"/>
              <a:ext cx="504" cy="91"/>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6569" name="Rectangle 9">
              <a:extLst>
                <a:ext uri="{FF2B5EF4-FFF2-40B4-BE49-F238E27FC236}">
                  <a16:creationId xmlns:a16="http://schemas.microsoft.com/office/drawing/2014/main" id="{0BBDDF17-DF14-4093-84C1-924CD41D2E21}"/>
                </a:ext>
              </a:extLst>
            </p:cNvPr>
            <p:cNvSpPr>
              <a:spLocks noChangeArrowheads="1"/>
            </p:cNvSpPr>
            <p:nvPr/>
          </p:nvSpPr>
          <p:spPr bwMode="auto">
            <a:xfrm>
              <a:off x="1531" y="242"/>
              <a:ext cx="504" cy="91"/>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6570" name="Rectangle 10" descr="浅色下对角线">
              <a:extLst>
                <a:ext uri="{FF2B5EF4-FFF2-40B4-BE49-F238E27FC236}">
                  <a16:creationId xmlns:a16="http://schemas.microsoft.com/office/drawing/2014/main" id="{1C129117-54DB-40BD-9367-4D5CB7B82766}"/>
                </a:ext>
              </a:extLst>
            </p:cNvPr>
            <p:cNvSpPr>
              <a:spLocks noChangeArrowheads="1"/>
            </p:cNvSpPr>
            <p:nvPr/>
          </p:nvSpPr>
          <p:spPr bwMode="auto">
            <a:xfrm>
              <a:off x="1447" y="337"/>
              <a:ext cx="672" cy="278"/>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66571" name="Rectangle 11">
              <a:extLst>
                <a:ext uri="{FF2B5EF4-FFF2-40B4-BE49-F238E27FC236}">
                  <a16:creationId xmlns:a16="http://schemas.microsoft.com/office/drawing/2014/main" id="{CA182D63-E484-45B7-ADBD-9A16888CFEDB}"/>
                </a:ext>
              </a:extLst>
            </p:cNvPr>
            <p:cNvSpPr>
              <a:spLocks noChangeArrowheads="1"/>
            </p:cNvSpPr>
            <p:nvPr/>
          </p:nvSpPr>
          <p:spPr bwMode="auto">
            <a:xfrm>
              <a:off x="0" y="897"/>
              <a:ext cx="284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r>
                <a:rPr lang="zh-CN" altLang="en-US" sz="2400">
                  <a:solidFill>
                    <a:srgbClr val="000000"/>
                  </a:solidFill>
                  <a:latin typeface="Times New Roman" panose="02020603050405020304" pitchFamily="18" charset="0"/>
                  <a:sym typeface="Times New Roman" panose="02020603050405020304" pitchFamily="18" charset="0"/>
                </a:rPr>
                <a:t>补偿应变片粘贴示意图</a:t>
              </a:r>
              <a:endParaRPr lang="zh-CN" altLang="en-US" sz="1800">
                <a:latin typeface="Arial" panose="020B0604020202020204" pitchFamily="34" charset="0"/>
              </a:endParaRPr>
            </a:p>
          </p:txBody>
        </p:sp>
        <p:sp>
          <p:nvSpPr>
            <p:cNvPr id="66572" name="Rectangle 12">
              <a:extLst>
                <a:ext uri="{FF2B5EF4-FFF2-40B4-BE49-F238E27FC236}">
                  <a16:creationId xmlns:a16="http://schemas.microsoft.com/office/drawing/2014/main" id="{8361791F-0F3B-4052-B1B3-759355F0410A}"/>
                </a:ext>
              </a:extLst>
            </p:cNvPr>
            <p:cNvSpPr>
              <a:spLocks noChangeArrowheads="1"/>
            </p:cNvSpPr>
            <p:nvPr/>
          </p:nvSpPr>
          <p:spPr bwMode="auto">
            <a:xfrm>
              <a:off x="733" y="301"/>
              <a:ext cx="33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25000">
                  <a:solidFill>
                    <a:srgbClr val="000000"/>
                  </a:solidFill>
                  <a:latin typeface="Times New Roman" panose="02020603050405020304" pitchFamily="18" charset="0"/>
                  <a:sym typeface="Times New Roman" panose="02020603050405020304" pitchFamily="18" charset="0"/>
                </a:rPr>
                <a:t>1</a:t>
              </a:r>
              <a:endParaRPr lang="en-US" altLang="zh-CN" sz="2000">
                <a:solidFill>
                  <a:srgbClr val="000000"/>
                </a:solidFill>
                <a:latin typeface="Times New Roman" panose="02020603050405020304" pitchFamily="18" charset="0"/>
                <a:sym typeface="Times New Roman" panose="02020603050405020304" pitchFamily="18" charset="0"/>
              </a:endParaRPr>
            </a:p>
          </p:txBody>
        </p:sp>
        <p:sp>
          <p:nvSpPr>
            <p:cNvPr id="66573" name="Rectangle 13">
              <a:extLst>
                <a:ext uri="{FF2B5EF4-FFF2-40B4-BE49-F238E27FC236}">
                  <a16:creationId xmlns:a16="http://schemas.microsoft.com/office/drawing/2014/main" id="{70068079-D37E-443D-A962-5E7135543BFE}"/>
                </a:ext>
              </a:extLst>
            </p:cNvPr>
            <p:cNvSpPr>
              <a:spLocks noChangeArrowheads="1"/>
            </p:cNvSpPr>
            <p:nvPr/>
          </p:nvSpPr>
          <p:spPr bwMode="auto">
            <a:xfrm>
              <a:off x="1727" y="0"/>
              <a:ext cx="336"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000" i="1">
                  <a:solidFill>
                    <a:srgbClr val="000000"/>
                  </a:solidFill>
                  <a:latin typeface="Times New Roman" panose="02020603050405020304" pitchFamily="18" charset="0"/>
                  <a:sym typeface="Times New Roman" panose="02020603050405020304" pitchFamily="18" charset="0"/>
                </a:rPr>
                <a:t>R</a:t>
              </a:r>
              <a:r>
                <a:rPr lang="en-US" altLang="zh-CN" sz="2000" baseline="-25000">
                  <a:solidFill>
                    <a:srgbClr val="000000"/>
                  </a:solidFill>
                  <a:latin typeface="Times New Roman" panose="02020603050405020304" pitchFamily="18" charset="0"/>
                  <a:sym typeface="Times New Roman" panose="02020603050405020304" pitchFamily="18" charset="0"/>
                </a:rPr>
                <a:t>2</a:t>
              </a:r>
              <a:endParaRPr lang="en-US" altLang="zh-CN" sz="2000">
                <a:solidFill>
                  <a:srgbClr val="000000"/>
                </a:solidFill>
                <a:latin typeface="Times New Roman" panose="02020603050405020304" pitchFamily="18" charset="0"/>
                <a:sym typeface="Times New Roman" panose="02020603050405020304" pitchFamily="18" charset="0"/>
              </a:endParaRPr>
            </a:p>
          </p:txBody>
        </p:sp>
      </p:grpSp>
      <p:sp>
        <p:nvSpPr>
          <p:cNvPr id="14" name="矩形 13">
            <a:extLst>
              <a:ext uri="{FF2B5EF4-FFF2-40B4-BE49-F238E27FC236}">
                <a16:creationId xmlns:a16="http://schemas.microsoft.com/office/drawing/2014/main" id="{7B913087-B4B4-4FC6-9781-FA6E140A2A6A}"/>
              </a:ext>
            </a:extLst>
          </p:cNvPr>
          <p:cNvSpPr/>
          <p:nvPr/>
        </p:nvSpPr>
        <p:spPr>
          <a:xfrm>
            <a:off x="327815" y="384485"/>
            <a:ext cx="3432350" cy="573042"/>
          </a:xfrm>
          <a:prstGeom prst="rect">
            <a:avLst/>
          </a:prstGeom>
        </p:spPr>
        <p:txBody>
          <a:bodyPr wrap="non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p:txBody>
      </p:sp>
      <p:pic>
        <p:nvPicPr>
          <p:cNvPr id="15" name="图片 9">
            <a:extLst>
              <a:ext uri="{FF2B5EF4-FFF2-40B4-BE49-F238E27FC236}">
                <a16:creationId xmlns:a16="http://schemas.microsoft.com/office/drawing/2014/main" id="{45C619EA-727B-4F19-8C83-2D766839D0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7320" y="3320720"/>
            <a:ext cx="3438525" cy="296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xit" presetSubtype="0" fill="hold" nodeType="clickEffect">
                                  <p:stCondLst>
                                    <p:cond delay="0"/>
                                  </p:stCondLst>
                                  <p:childTnLst>
                                    <p:animEffect transition="out" filter="fade">
                                      <p:cBhvr>
                                        <p:cTn id="10" dur="1000"/>
                                        <p:tgtEl>
                                          <p:spTgt spid="15"/>
                                        </p:tgtEl>
                                      </p:cBhvr>
                                    </p:animEffect>
                                    <p:anim calcmode="lin" valueType="num">
                                      <p:cBhvr>
                                        <p:cTn id="11" dur="1000"/>
                                        <p:tgtEl>
                                          <p:spTgt spid="15"/>
                                        </p:tgtEl>
                                        <p:attrNameLst>
                                          <p:attrName>ppt_x</p:attrName>
                                        </p:attrNameLst>
                                      </p:cBhvr>
                                      <p:tavLst>
                                        <p:tav tm="0">
                                          <p:val>
                                            <p:strVal val="ppt_x"/>
                                          </p:val>
                                        </p:tav>
                                        <p:tav tm="100000">
                                          <p:val>
                                            <p:strVal val="ppt_x"/>
                                          </p:val>
                                        </p:tav>
                                      </p:tavLst>
                                    </p:anim>
                                    <p:anim calcmode="lin" valueType="num">
                                      <p:cBhvr>
                                        <p:cTn id="12" dur="1000"/>
                                        <p:tgtEl>
                                          <p:spTgt spid="15"/>
                                        </p:tgtEl>
                                        <p:attrNameLst>
                                          <p:attrName>ppt_y</p:attrName>
                                        </p:attrNameLst>
                                      </p:cBhvr>
                                      <p:tavLst>
                                        <p:tav tm="0">
                                          <p:val>
                                            <p:strVal val="ppt_y"/>
                                          </p:val>
                                        </p:tav>
                                        <p:tav tm="100000">
                                          <p:val>
                                            <p:strVal val="ppt_y+.1"/>
                                          </p:val>
                                        </p:tav>
                                      </p:tavLst>
                                    </p:anim>
                                    <p:set>
                                      <p:cBhvr>
                                        <p:cTn id="13" dur="1" fill="hold">
                                          <p:stCondLst>
                                            <p:cond delay="9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矩形 4">
            <a:extLst>
              <a:ext uri="{FF2B5EF4-FFF2-40B4-BE49-F238E27FC236}">
                <a16:creationId xmlns:a16="http://schemas.microsoft.com/office/drawing/2014/main" id="{6B490126-9AD0-4C70-8775-C82EFED062C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8611" name="灯片编号占位符 3">
            <a:extLst>
              <a:ext uri="{FF2B5EF4-FFF2-40B4-BE49-F238E27FC236}">
                <a16:creationId xmlns:a16="http://schemas.microsoft.com/office/drawing/2014/main" id="{359CAF36-82C4-420A-9668-C7E53E351C25}"/>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E2B9751B-2A8D-4200-942C-248604B47C76}"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67</a:t>
            </a:fld>
            <a:endParaRPr lang="en-US" altLang="zh-CN" sz="1400">
              <a:latin typeface="Arial" panose="020B0604020202020204" pitchFamily="34" charset="0"/>
            </a:endParaRPr>
          </a:p>
        </p:txBody>
      </p:sp>
      <p:sp>
        <p:nvSpPr>
          <p:cNvPr id="68612" name="Rectangle 4">
            <a:extLst>
              <a:ext uri="{FF2B5EF4-FFF2-40B4-BE49-F238E27FC236}">
                <a16:creationId xmlns:a16="http://schemas.microsoft.com/office/drawing/2014/main" id="{879F7CF0-3D1C-46DF-AA93-0032FB64176E}"/>
              </a:ext>
            </a:extLst>
          </p:cNvPr>
          <p:cNvSpPr>
            <a:spLocks noChangeArrowheads="1"/>
          </p:cNvSpPr>
          <p:nvPr/>
        </p:nvSpPr>
        <p:spPr bwMode="auto">
          <a:xfrm>
            <a:off x="539750" y="1054100"/>
            <a:ext cx="7943850" cy="8223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宋体" panose="02010600030101010101" pitchFamily="2" charset="-122"/>
                <a:sym typeface="宋体" panose="02010600030101010101" pitchFamily="2" charset="-122"/>
              </a:rPr>
              <a:t>若此时有应变作用，只会引起电阻</a:t>
            </a:r>
            <a:r>
              <a:rPr lang="en-US" altLang="zh-CN" sz="2400" i="1">
                <a:solidFill>
                  <a:srgbClr val="000000"/>
                </a:solidFill>
                <a:latin typeface="宋体" panose="02010600030101010101" pitchFamily="2" charset="-122"/>
                <a:sym typeface="宋体" panose="02010600030101010101" pitchFamily="2" charset="-122"/>
              </a:rPr>
              <a:t>R</a:t>
            </a:r>
            <a:r>
              <a:rPr lang="en-US" altLang="zh-CN" sz="2400" baseline="-30000">
                <a:solidFill>
                  <a:srgbClr val="000000"/>
                </a:solidFill>
                <a:latin typeface="宋体" panose="02010600030101010101" pitchFamily="2" charset="-122"/>
                <a:sym typeface="宋体" panose="02010600030101010101" pitchFamily="2" charset="-122"/>
              </a:rPr>
              <a:t>1</a:t>
            </a:r>
            <a:r>
              <a:rPr lang="zh-CN" altLang="en-US" sz="2400">
                <a:solidFill>
                  <a:srgbClr val="000000"/>
                </a:solidFill>
                <a:latin typeface="宋体" panose="02010600030101010101" pitchFamily="2" charset="-122"/>
                <a:sym typeface="宋体" panose="02010600030101010101" pitchFamily="2" charset="-122"/>
              </a:rPr>
              <a:t>发生变化，</a:t>
            </a:r>
            <a:r>
              <a:rPr lang="en-US" altLang="zh-CN" sz="2400" i="1">
                <a:solidFill>
                  <a:srgbClr val="000000"/>
                </a:solidFill>
                <a:latin typeface="宋体" panose="02010600030101010101" pitchFamily="2" charset="-122"/>
                <a:sym typeface="宋体" panose="02010600030101010101" pitchFamily="2" charset="-122"/>
              </a:rPr>
              <a:t>R</a:t>
            </a:r>
            <a:r>
              <a:rPr lang="en-US" altLang="zh-CN" sz="2400" baseline="-30000">
                <a:solidFill>
                  <a:srgbClr val="000000"/>
                </a:solidFill>
                <a:latin typeface="宋体" panose="02010600030101010101" pitchFamily="2" charset="-122"/>
                <a:sym typeface="宋体" panose="02010600030101010101" pitchFamily="2" charset="-122"/>
              </a:rPr>
              <a:t>2</a:t>
            </a:r>
            <a:r>
              <a:rPr lang="zh-CN" altLang="en-US" sz="2400">
                <a:solidFill>
                  <a:srgbClr val="000000"/>
                </a:solidFill>
                <a:latin typeface="宋体" panose="02010600030101010101" pitchFamily="2" charset="-122"/>
                <a:sym typeface="宋体" panose="02010600030101010101" pitchFamily="2" charset="-122"/>
              </a:rPr>
              <a:t>不承受应变。故由前式可得输出电压为</a:t>
            </a:r>
            <a:endParaRPr lang="zh-CN" altLang="en-US" sz="1800">
              <a:latin typeface="Arial" panose="020B0604020202020204" pitchFamily="34" charset="0"/>
            </a:endParaRPr>
          </a:p>
        </p:txBody>
      </p:sp>
      <p:sp>
        <p:nvSpPr>
          <p:cNvPr id="59397" name="Rectangle 5">
            <a:extLst>
              <a:ext uri="{FF2B5EF4-FFF2-40B4-BE49-F238E27FC236}">
                <a16:creationId xmlns:a16="http://schemas.microsoft.com/office/drawing/2014/main" id="{D9E5BB99-92C4-4909-8A42-96CBB960D90B}"/>
              </a:ext>
            </a:extLst>
          </p:cNvPr>
          <p:cNvSpPr>
            <a:spLocks noChangeArrowheads="1"/>
          </p:cNvSpPr>
          <p:nvPr/>
        </p:nvSpPr>
        <p:spPr bwMode="auto">
          <a:xfrm>
            <a:off x="329407" y="2321720"/>
            <a:ext cx="8509794" cy="3021012"/>
          </a:xfrm>
          <a:prstGeom prst="rect">
            <a:avLst/>
          </a:prstGeom>
          <a:solidFill>
            <a:schemeClr val="bg1"/>
          </a:solidFill>
          <a:ln>
            <a:noFill/>
          </a:ln>
          <a:extLst/>
        </p:spPr>
        <p:txBody>
          <a:bodyPr lIns="90170" tIns="46990" rIns="90170" bIns="46990"/>
          <a:lstStyle/>
          <a:p>
            <a:pPr indent="266700" algn="just">
              <a:buFont typeface="Arial" panose="020B0604020202020204" pitchFamily="34" charset="0"/>
              <a:buNone/>
              <a:defRPr/>
            </a:pPr>
            <a:r>
              <a:rPr lang="zh-CN" altLang="en-US" sz="2200" dirty="0">
                <a:solidFill>
                  <a:srgbClr val="000000"/>
                </a:solidFill>
                <a:latin typeface="楷体_GB2312" pitchFamily="49" charset="-122"/>
                <a:ea typeface="楷体_GB2312" pitchFamily="49" charset="-122"/>
                <a:sym typeface="楷体_GB2312" pitchFamily="49" charset="-122"/>
              </a:rPr>
              <a:t>由上式可知，电桥输出电压只与应变</a:t>
            </a:r>
            <a:r>
              <a:rPr lang="en-US" sz="2200" i="1" dirty="0">
                <a:solidFill>
                  <a:srgbClr val="000000"/>
                </a:solidFill>
                <a:latin typeface="楷体_GB2312" pitchFamily="49" charset="-122"/>
                <a:ea typeface="楷体_GB2312" pitchFamily="49" charset="-122"/>
                <a:sym typeface="楷体_GB2312" pitchFamily="49" charset="-122"/>
              </a:rPr>
              <a:t>ε </a:t>
            </a:r>
            <a:r>
              <a:rPr lang="zh-CN" altLang="en-US" sz="2200" dirty="0">
                <a:solidFill>
                  <a:srgbClr val="000000"/>
                </a:solidFill>
                <a:latin typeface="楷体_GB2312" pitchFamily="49" charset="-122"/>
                <a:ea typeface="楷体_GB2312" pitchFamily="49" charset="-122"/>
                <a:sym typeface="楷体_GB2312" pitchFamily="49" charset="-122"/>
              </a:rPr>
              <a:t>有关，与温度无关。</a:t>
            </a:r>
            <a:endParaRPr lang="en-US" altLang="zh-CN" sz="2200" dirty="0">
              <a:solidFill>
                <a:srgbClr val="000000"/>
              </a:solidFill>
              <a:latin typeface="楷体_GB2312" pitchFamily="49" charset="-122"/>
              <a:ea typeface="楷体_GB2312" pitchFamily="49" charset="-122"/>
              <a:sym typeface="楷体_GB2312" pitchFamily="49" charset="-122"/>
            </a:endParaRPr>
          </a:p>
          <a:p>
            <a:pPr indent="266700" algn="just">
              <a:buFont typeface="Arial" panose="020B0604020202020204" pitchFamily="34" charset="0"/>
              <a:buNone/>
              <a:defRPr/>
            </a:pPr>
            <a:endParaRPr lang="zh-CN" altLang="en-US" sz="2200" dirty="0">
              <a:solidFill>
                <a:srgbClr val="000000"/>
              </a:solidFill>
              <a:latin typeface="楷体_GB2312" pitchFamily="49" charset="-122"/>
              <a:ea typeface="楷体_GB2312" pitchFamily="49" charset="-122"/>
              <a:sym typeface="楷体_GB2312" pitchFamily="49" charset="-122"/>
            </a:endParaRPr>
          </a:p>
          <a:p>
            <a:pPr indent="266700" algn="just">
              <a:buFont typeface="Arial" panose="020B0604020202020204" pitchFamily="34" charset="0"/>
              <a:buNone/>
              <a:defRPr/>
            </a:pPr>
            <a:r>
              <a:rPr lang="zh-CN" altLang="en-US" sz="2200" b="1" dirty="0">
                <a:solidFill>
                  <a:srgbClr val="000000"/>
                </a:solidFill>
                <a:latin typeface="楷体_GB2312" pitchFamily="49" charset="-122"/>
                <a:ea typeface="楷体_GB2312" pitchFamily="49" charset="-122"/>
                <a:sym typeface="楷体_GB2312" pitchFamily="49" charset="-122"/>
              </a:rPr>
              <a:t>为达到完全补偿，需满足下列三个条件：</a:t>
            </a:r>
          </a:p>
          <a:p>
            <a:pPr marL="342900" indent="-76200" algn="just">
              <a:buFont typeface="Arial" panose="020B0604020202020204" pitchFamily="34" charset="0"/>
              <a:buChar char="•"/>
              <a:defRPr/>
            </a:pPr>
            <a:r>
              <a:rPr lang="en-US" sz="2200" b="1" dirty="0">
                <a:solidFill>
                  <a:srgbClr val="CC0000"/>
                </a:solidFill>
                <a:latin typeface="新宋体" panose="02010609030101010101" pitchFamily="49" charset="-122"/>
                <a:ea typeface="新宋体" panose="02010609030101010101" pitchFamily="49" charset="-122"/>
                <a:sym typeface="楷体_GB2312" pitchFamily="49" charset="-122"/>
              </a:rPr>
              <a:t> ①</a:t>
            </a:r>
            <a:r>
              <a:rPr lang="en-US" sz="2200" b="1" i="1" dirty="0">
                <a:solidFill>
                  <a:srgbClr val="CC0000"/>
                </a:solidFill>
                <a:latin typeface="楷体_GB2312" pitchFamily="49" charset="-122"/>
                <a:ea typeface="楷体_GB2312" pitchFamily="49" charset="-122"/>
                <a:sym typeface="楷体_GB2312" pitchFamily="49" charset="-122"/>
              </a:rPr>
              <a:t>R</a:t>
            </a:r>
            <a:r>
              <a:rPr lang="en-US" sz="2200" b="1" baseline="-30000" dirty="0">
                <a:solidFill>
                  <a:srgbClr val="CC0000"/>
                </a:solidFill>
                <a:latin typeface="楷体_GB2312" pitchFamily="49" charset="-122"/>
                <a:ea typeface="楷体_GB2312" pitchFamily="49" charset="-122"/>
                <a:sym typeface="楷体_GB2312" pitchFamily="49" charset="-122"/>
              </a:rPr>
              <a:t>1</a:t>
            </a:r>
            <a:r>
              <a:rPr lang="zh-CN" altLang="en-US" sz="2200" b="1" dirty="0">
                <a:solidFill>
                  <a:srgbClr val="CC0000"/>
                </a:solidFill>
                <a:latin typeface="楷体_GB2312" pitchFamily="49" charset="-122"/>
                <a:ea typeface="楷体_GB2312" pitchFamily="49" charset="-122"/>
                <a:sym typeface="楷体_GB2312" pitchFamily="49" charset="-122"/>
              </a:rPr>
              <a:t>和</a:t>
            </a:r>
            <a:r>
              <a:rPr lang="en-US" sz="2200" b="1" i="1" dirty="0">
                <a:solidFill>
                  <a:srgbClr val="CC0000"/>
                </a:solidFill>
                <a:latin typeface="楷体_GB2312" pitchFamily="49" charset="-122"/>
                <a:ea typeface="楷体_GB2312" pitchFamily="49" charset="-122"/>
                <a:sym typeface="楷体_GB2312" pitchFamily="49" charset="-122"/>
              </a:rPr>
              <a:t>R</a:t>
            </a:r>
            <a:r>
              <a:rPr lang="en-US" sz="2200" b="1" baseline="-30000" dirty="0">
                <a:solidFill>
                  <a:srgbClr val="CC0000"/>
                </a:solidFill>
                <a:latin typeface="楷体_GB2312" pitchFamily="49" charset="-122"/>
                <a:ea typeface="楷体_GB2312" pitchFamily="49" charset="-122"/>
                <a:sym typeface="楷体_GB2312" pitchFamily="49" charset="-122"/>
              </a:rPr>
              <a:t>2</a:t>
            </a:r>
            <a:r>
              <a:rPr lang="zh-CN" altLang="en-US" sz="2200" b="1" dirty="0">
                <a:solidFill>
                  <a:srgbClr val="CC0000"/>
                </a:solidFill>
                <a:latin typeface="楷体_GB2312" pitchFamily="49" charset="-122"/>
                <a:ea typeface="楷体_GB2312" pitchFamily="49" charset="-122"/>
                <a:sym typeface="楷体_GB2312" pitchFamily="49" charset="-122"/>
              </a:rPr>
              <a:t>须属于同一批号的，即它们的电阻温度系数</a:t>
            </a:r>
            <a:r>
              <a:rPr lang="en-US" sz="2200" b="1" i="1" dirty="0">
                <a:solidFill>
                  <a:srgbClr val="CC0000"/>
                </a:solidFill>
                <a:latin typeface="楷体_GB2312" pitchFamily="49" charset="-122"/>
                <a:ea typeface="楷体_GB2312" pitchFamily="49" charset="-122"/>
                <a:sym typeface="楷体_GB2312" pitchFamily="49" charset="-122"/>
              </a:rPr>
              <a:t>α</a:t>
            </a:r>
            <a:r>
              <a:rPr lang="zh-CN" altLang="en-US" sz="2200" b="1" dirty="0">
                <a:solidFill>
                  <a:srgbClr val="CC0000"/>
                </a:solidFill>
                <a:latin typeface="楷体_GB2312" pitchFamily="49" charset="-122"/>
                <a:ea typeface="楷体_GB2312" pitchFamily="49" charset="-122"/>
                <a:sym typeface="楷体_GB2312" pitchFamily="49" charset="-122"/>
              </a:rPr>
              <a:t>、线膨胀系数</a:t>
            </a:r>
            <a:r>
              <a:rPr lang="en-US" sz="2200" b="1" i="1" dirty="0">
                <a:solidFill>
                  <a:srgbClr val="CC0000"/>
                </a:solidFill>
                <a:latin typeface="楷体_GB2312" pitchFamily="49" charset="-122"/>
                <a:ea typeface="楷体_GB2312" pitchFamily="49" charset="-122"/>
                <a:sym typeface="楷体_GB2312" pitchFamily="49" charset="-122"/>
              </a:rPr>
              <a:t>β</a:t>
            </a:r>
            <a:r>
              <a:rPr lang="zh-CN" altLang="en-US" sz="2200" b="1" dirty="0">
                <a:solidFill>
                  <a:srgbClr val="CC0000"/>
                </a:solidFill>
                <a:latin typeface="楷体_GB2312" pitchFamily="49" charset="-122"/>
                <a:ea typeface="楷体_GB2312" pitchFamily="49" charset="-122"/>
                <a:sym typeface="楷体_GB2312" pitchFamily="49" charset="-122"/>
              </a:rPr>
              <a:t>、应变灵敏系数</a:t>
            </a:r>
            <a:r>
              <a:rPr lang="en-US" sz="2200" b="1" i="1" dirty="0">
                <a:solidFill>
                  <a:srgbClr val="CC0000"/>
                </a:solidFill>
                <a:latin typeface="楷体_GB2312" pitchFamily="49" charset="-122"/>
                <a:ea typeface="楷体_GB2312" pitchFamily="49" charset="-122"/>
                <a:sym typeface="楷体_GB2312" pitchFamily="49" charset="-122"/>
              </a:rPr>
              <a:t>K </a:t>
            </a:r>
            <a:r>
              <a:rPr lang="zh-CN" altLang="en-US" sz="2200" b="1" dirty="0">
                <a:solidFill>
                  <a:srgbClr val="CC0000"/>
                </a:solidFill>
                <a:latin typeface="楷体_GB2312" pitchFamily="49" charset="-122"/>
                <a:ea typeface="楷体_GB2312" pitchFamily="49" charset="-122"/>
                <a:sym typeface="楷体_GB2312" pitchFamily="49" charset="-122"/>
              </a:rPr>
              <a:t>相同，两片初始电阻值也要求相同；</a:t>
            </a:r>
          </a:p>
          <a:p>
            <a:pPr marL="342900" indent="-76200" algn="just">
              <a:buFont typeface="Arial" panose="020B0604020202020204" pitchFamily="34" charset="0"/>
              <a:buChar char="•"/>
              <a:defRPr/>
            </a:pPr>
            <a:r>
              <a:rPr lang="en-US" altLang="zh-CN" sz="2200" b="1" dirty="0">
                <a:solidFill>
                  <a:srgbClr val="CC0000"/>
                </a:solidFill>
                <a:latin typeface="新宋体" panose="02010609030101010101" pitchFamily="49" charset="-122"/>
                <a:ea typeface="新宋体" panose="02010609030101010101" pitchFamily="49" charset="-122"/>
                <a:sym typeface="楷体_GB2312" pitchFamily="49" charset="-122"/>
              </a:rPr>
              <a:t> ②</a:t>
            </a:r>
            <a:r>
              <a:rPr lang="zh-CN" altLang="en-US" sz="2200" b="1" dirty="0">
                <a:solidFill>
                  <a:srgbClr val="CC0000"/>
                </a:solidFill>
                <a:latin typeface="楷体_GB2312" pitchFamily="49" charset="-122"/>
                <a:ea typeface="楷体_GB2312" pitchFamily="49" charset="-122"/>
                <a:sym typeface="楷体_GB2312" pitchFamily="49" charset="-122"/>
              </a:rPr>
              <a:t>用于粘贴补偿片的构件和粘贴工作片的试件二者材料必须相同，即要求两者温度线膨胀系数相等；</a:t>
            </a:r>
          </a:p>
          <a:p>
            <a:pPr marL="342900" indent="-76200" algn="just">
              <a:buFont typeface="Arial" panose="020B0604020202020204" pitchFamily="34" charset="0"/>
              <a:buChar char="•"/>
              <a:defRPr/>
            </a:pPr>
            <a:r>
              <a:rPr lang="zh-CN" altLang="en-US" sz="2000" b="1" dirty="0">
                <a:solidFill>
                  <a:srgbClr val="FF0000"/>
                </a:solidFill>
                <a:latin typeface="宋体" panose="02010600030101010101" pitchFamily="2" charset="-122"/>
                <a:sym typeface="宋体" panose="02010600030101010101" pitchFamily="2" charset="-122"/>
              </a:rPr>
              <a:t> </a:t>
            </a:r>
            <a:r>
              <a:rPr lang="zh-CN" altLang="en-US" sz="2200" b="1" dirty="0">
                <a:solidFill>
                  <a:srgbClr val="CC0000"/>
                </a:solidFill>
                <a:ea typeface="楷体_GB2312" pitchFamily="49" charset="-122"/>
                <a:sym typeface="宋体" panose="02010600030101010101" pitchFamily="2" charset="-122"/>
              </a:rPr>
              <a:t>③</a:t>
            </a:r>
            <a:r>
              <a:rPr lang="zh-CN" altLang="en-US" sz="2200" b="1" dirty="0">
                <a:solidFill>
                  <a:srgbClr val="CC0000"/>
                </a:solidFill>
                <a:ea typeface="楷体_GB2312" pitchFamily="49" charset="-122"/>
                <a:sym typeface="楷体_GB2312" pitchFamily="49" charset="-122"/>
              </a:rPr>
              <a:t>两应变</a:t>
            </a:r>
            <a:r>
              <a:rPr lang="zh-CN" altLang="en-US" sz="2200" b="1" dirty="0">
                <a:solidFill>
                  <a:srgbClr val="CC0000"/>
                </a:solidFill>
                <a:latin typeface="楷体_GB2312" pitchFamily="49" charset="-122"/>
                <a:ea typeface="楷体_GB2312" pitchFamily="49" charset="-122"/>
                <a:sym typeface="楷体_GB2312" pitchFamily="49" charset="-122"/>
              </a:rPr>
              <a:t>片处于同一温度环境中。</a:t>
            </a:r>
            <a:r>
              <a:rPr lang="zh-CN" altLang="en-US" sz="2200" dirty="0">
                <a:solidFill>
                  <a:srgbClr val="CC0000"/>
                </a:solidFill>
                <a:latin typeface="楷体_GB2312" pitchFamily="49" charset="-122"/>
                <a:ea typeface="楷体_GB2312" pitchFamily="49" charset="-122"/>
                <a:sym typeface="楷体_GB2312" pitchFamily="49" charset="-122"/>
              </a:rPr>
              <a:t> </a:t>
            </a:r>
            <a:endParaRPr lang="zh-CN" altLang="en-US" sz="2200" dirty="0"/>
          </a:p>
        </p:txBody>
      </p:sp>
      <p:sp>
        <p:nvSpPr>
          <p:cNvPr id="68614" name="Rectangle 7">
            <a:extLst>
              <a:ext uri="{FF2B5EF4-FFF2-40B4-BE49-F238E27FC236}">
                <a16:creationId xmlns:a16="http://schemas.microsoft.com/office/drawing/2014/main" id="{84A06D7C-1E72-4A28-B3DF-9CAB11D253E8}"/>
              </a:ext>
            </a:extLst>
          </p:cNvPr>
          <p:cNvSpPr>
            <a:spLocks noChangeArrowheads="1"/>
          </p:cNvSpPr>
          <p:nvPr/>
        </p:nvSpPr>
        <p:spPr bwMode="auto">
          <a:xfrm>
            <a:off x="0" y="5157788"/>
            <a:ext cx="9037638" cy="12652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1">
              <a:spcBef>
                <a:spcPct val="0"/>
              </a:spcBef>
              <a:buFont typeface="Arial" panose="020B0604020202020204" pitchFamily="34" charset="0"/>
              <a:buNone/>
            </a:pPr>
            <a:r>
              <a:rPr lang="zh-CN" altLang="en-US" sz="2400" dirty="0">
                <a:solidFill>
                  <a:srgbClr val="000000"/>
                </a:solidFill>
                <a:latin typeface="宋体" panose="02010600030101010101" pitchFamily="2" charset="-122"/>
                <a:sym typeface="宋体" panose="02010600030101010101" pitchFamily="2" charset="-122"/>
              </a:rPr>
              <a:t>此方法简单易行，能在较大温度范围内进行补偿。缺点是三个条件不易满足，尤其是条件③。在某些测试条件下，温度场梯度较大，</a:t>
            </a:r>
            <a:r>
              <a:rPr lang="en-US" altLang="zh-CN" sz="2400" i="1" dirty="0">
                <a:solidFill>
                  <a:srgbClr val="000000"/>
                </a:solidFill>
                <a:latin typeface="宋体" panose="02010600030101010101" pitchFamily="2" charset="-122"/>
                <a:sym typeface="宋体" panose="02010600030101010101" pitchFamily="2" charset="-122"/>
              </a:rPr>
              <a:t>R</a:t>
            </a:r>
            <a:r>
              <a:rPr lang="en-US" altLang="zh-CN" sz="2400" baseline="-30000" dirty="0">
                <a:solidFill>
                  <a:srgbClr val="000000"/>
                </a:solidFill>
                <a:latin typeface="宋体" panose="02010600030101010101" pitchFamily="2" charset="-122"/>
                <a:sym typeface="宋体" panose="02010600030101010101" pitchFamily="2" charset="-122"/>
              </a:rPr>
              <a:t>1</a:t>
            </a:r>
            <a:r>
              <a:rPr lang="zh-CN" altLang="en-US" sz="2400" dirty="0">
                <a:solidFill>
                  <a:srgbClr val="000000"/>
                </a:solidFill>
                <a:latin typeface="宋体" panose="02010600030101010101" pitchFamily="2" charset="-122"/>
                <a:sym typeface="宋体" panose="02010600030101010101" pitchFamily="2" charset="-122"/>
              </a:rPr>
              <a:t>和</a:t>
            </a:r>
            <a:r>
              <a:rPr lang="en-US" altLang="zh-CN" sz="2400" i="1" dirty="0">
                <a:solidFill>
                  <a:srgbClr val="000000"/>
                </a:solidFill>
                <a:latin typeface="宋体" panose="02010600030101010101" pitchFamily="2" charset="-122"/>
                <a:sym typeface="宋体" panose="02010600030101010101" pitchFamily="2" charset="-122"/>
              </a:rPr>
              <a:t>R</a:t>
            </a:r>
            <a:r>
              <a:rPr lang="en-US" altLang="zh-CN" sz="2400" baseline="-30000" dirty="0">
                <a:solidFill>
                  <a:srgbClr val="000000"/>
                </a:solidFill>
                <a:latin typeface="宋体" panose="02010600030101010101" pitchFamily="2" charset="-122"/>
                <a:sym typeface="宋体" panose="02010600030101010101" pitchFamily="2" charset="-122"/>
              </a:rPr>
              <a:t>2</a:t>
            </a:r>
            <a:r>
              <a:rPr lang="zh-CN" altLang="en-US" sz="2400" dirty="0">
                <a:solidFill>
                  <a:srgbClr val="000000"/>
                </a:solidFill>
                <a:latin typeface="宋体" panose="02010600030101010101" pitchFamily="2" charset="-122"/>
                <a:sym typeface="宋体" panose="02010600030101010101" pitchFamily="2" charset="-122"/>
              </a:rPr>
              <a:t>很难处于相同温度点。</a:t>
            </a:r>
            <a:endParaRPr lang="zh-CN" altLang="en-US" sz="1800" dirty="0">
              <a:latin typeface="Arial" panose="020B0604020202020204" pitchFamily="34" charset="0"/>
            </a:endParaRPr>
          </a:p>
        </p:txBody>
      </p:sp>
      <p:pic>
        <p:nvPicPr>
          <p:cNvPr id="68615" name="Object 7">
            <a:extLst>
              <a:ext uri="{FF2B5EF4-FFF2-40B4-BE49-F238E27FC236}">
                <a16:creationId xmlns:a16="http://schemas.microsoft.com/office/drawing/2014/main" id="{D0500667-5FCF-43EF-9961-1F3DC07D91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773238"/>
            <a:ext cx="76517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F1DA6BFA-A928-465A-B522-D39C295BBC5E}"/>
              </a:ext>
            </a:extLst>
          </p:cNvPr>
          <p:cNvSpPr/>
          <p:nvPr/>
        </p:nvSpPr>
        <p:spPr>
          <a:xfrm>
            <a:off x="327815" y="384485"/>
            <a:ext cx="3432350" cy="573042"/>
          </a:xfrm>
          <a:prstGeom prst="rect">
            <a:avLst/>
          </a:prstGeom>
        </p:spPr>
        <p:txBody>
          <a:bodyPr wrap="non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4">
            <a:extLst>
              <a:ext uri="{FF2B5EF4-FFF2-40B4-BE49-F238E27FC236}">
                <a16:creationId xmlns:a16="http://schemas.microsoft.com/office/drawing/2014/main" id="{FAADF819-4100-4030-AE11-678EB065FA05}"/>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0659" name="灯片编号占位符 3">
            <a:extLst>
              <a:ext uri="{FF2B5EF4-FFF2-40B4-BE49-F238E27FC236}">
                <a16:creationId xmlns:a16="http://schemas.microsoft.com/office/drawing/2014/main" id="{1221F21A-BA6D-4DFF-8519-16035BE3FD19}"/>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6203A1D1-A9B4-465F-95FC-4C1438AE7C7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68</a:t>
            </a:fld>
            <a:endParaRPr lang="en-US" altLang="zh-CN" sz="1400">
              <a:latin typeface="Arial" panose="020B0604020202020204" pitchFamily="34" charset="0"/>
            </a:endParaRPr>
          </a:p>
        </p:txBody>
      </p:sp>
      <p:sp>
        <p:nvSpPr>
          <p:cNvPr id="70660" name="TextBox 5">
            <a:extLst>
              <a:ext uri="{FF2B5EF4-FFF2-40B4-BE49-F238E27FC236}">
                <a16:creationId xmlns:a16="http://schemas.microsoft.com/office/drawing/2014/main" id="{959E987D-3A17-4A43-9BF2-DC70C6071B0E}"/>
              </a:ext>
            </a:extLst>
          </p:cNvPr>
          <p:cNvSpPr>
            <a:spLocks noChangeArrowheads="1"/>
          </p:cNvSpPr>
          <p:nvPr/>
        </p:nvSpPr>
        <p:spPr bwMode="auto">
          <a:xfrm>
            <a:off x="539749" y="333375"/>
            <a:ext cx="6696075"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lnSpc>
                <a:spcPct val="120000"/>
              </a:lnSpc>
              <a:spcBef>
                <a:spcPct val="50000"/>
              </a:spcBef>
            </a:pPr>
            <a:r>
              <a:rPr lang="zh-CN" altLang="en-US" sz="2800" b="1" dirty="0">
                <a:solidFill>
                  <a:schemeClr val="accent2"/>
                </a:solidFill>
                <a:latin typeface="宋体" panose="02010600030101010101" pitchFamily="2" charset="-122"/>
                <a:sym typeface="楷体_GB2312" pitchFamily="49" charset="-122"/>
              </a:rPr>
              <a:t>不同激励方式的温度补偿特性分析</a:t>
            </a:r>
            <a:endParaRPr lang="zh-CN" altLang="en-US" sz="2800" b="1" dirty="0">
              <a:solidFill>
                <a:schemeClr val="accent2"/>
              </a:solidFill>
              <a:latin typeface="宋体" panose="02010600030101010101" pitchFamily="2" charset="-122"/>
              <a:sym typeface="宋体" panose="02010600030101010101" pitchFamily="2" charset="-122"/>
            </a:endParaRPr>
          </a:p>
        </p:txBody>
      </p:sp>
      <p:sp>
        <p:nvSpPr>
          <p:cNvPr id="70661" name="Text Box 5">
            <a:extLst>
              <a:ext uri="{FF2B5EF4-FFF2-40B4-BE49-F238E27FC236}">
                <a16:creationId xmlns:a16="http://schemas.microsoft.com/office/drawing/2014/main" id="{A04F383F-24CA-47FC-A668-21D6D2059E53}"/>
              </a:ext>
            </a:extLst>
          </p:cNvPr>
          <p:cNvSpPr txBox="1">
            <a:spLocks noChangeArrowheads="1"/>
          </p:cNvSpPr>
          <p:nvPr/>
        </p:nvSpPr>
        <p:spPr bwMode="auto">
          <a:xfrm>
            <a:off x="228600" y="1257300"/>
            <a:ext cx="13906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latin typeface="Arial" panose="020B0604020202020204" pitchFamily="34" charset="0"/>
            </a:endParaRPr>
          </a:p>
        </p:txBody>
      </p:sp>
      <p:sp>
        <p:nvSpPr>
          <p:cNvPr id="70662" name="Text Box 6">
            <a:extLst>
              <a:ext uri="{FF2B5EF4-FFF2-40B4-BE49-F238E27FC236}">
                <a16:creationId xmlns:a16="http://schemas.microsoft.com/office/drawing/2014/main" id="{174DFAC3-69EF-4B45-967D-6D68F839C3EA}"/>
              </a:ext>
            </a:extLst>
          </p:cNvPr>
          <p:cNvSpPr txBox="1">
            <a:spLocks noChangeArrowheads="1"/>
          </p:cNvSpPr>
          <p:nvPr/>
        </p:nvSpPr>
        <p:spPr bwMode="auto">
          <a:xfrm>
            <a:off x="495300" y="1135063"/>
            <a:ext cx="80375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000000"/>
                </a:solidFill>
                <a:latin typeface="楷体_GB2312" pitchFamily="49" charset="-122"/>
                <a:ea typeface="楷体_GB2312" pitchFamily="49" charset="-122"/>
                <a:sym typeface="楷体_GB2312" pitchFamily="49" charset="-122"/>
              </a:rPr>
              <a:t>以全桥电路为例，分析恒流源与恒压源两种激励方式对该电路的温度误差影响作用。</a:t>
            </a:r>
          </a:p>
        </p:txBody>
      </p:sp>
      <p:graphicFrame>
        <p:nvGraphicFramePr>
          <p:cNvPr id="70663" name="图片 114">
            <a:extLst>
              <a:ext uri="{FF2B5EF4-FFF2-40B4-BE49-F238E27FC236}">
                <a16:creationId xmlns:a16="http://schemas.microsoft.com/office/drawing/2014/main" id="{A9EED302-FA58-470D-8D0E-F644C94508CA}"/>
              </a:ext>
            </a:extLst>
          </p:cNvPr>
          <p:cNvGraphicFramePr>
            <a:graphicFrameLocks/>
          </p:cNvGraphicFramePr>
          <p:nvPr/>
        </p:nvGraphicFramePr>
        <p:xfrm>
          <a:off x="1187450" y="2133600"/>
          <a:ext cx="2328863" cy="2543175"/>
        </p:xfrm>
        <a:graphic>
          <a:graphicData uri="http://schemas.openxmlformats.org/presentationml/2006/ole">
            <mc:AlternateContent xmlns:mc="http://schemas.openxmlformats.org/markup-compatibility/2006">
              <mc:Choice xmlns:v="urn:schemas-microsoft-com:vml" Requires="v">
                <p:oleObj spid="_x0000_s84066" r:id="rId3" imgW="985320" imgH="1157400" progId="Visio.Drawing.11">
                  <p:embed/>
                </p:oleObj>
              </mc:Choice>
              <mc:Fallback>
                <p:oleObj r:id="rId3" imgW="985320" imgH="1157400" progId="Visio.Drawing.11">
                  <p:embed/>
                  <p:pic>
                    <p:nvPicPr>
                      <p:cNvPr id="70663" name="图片 114">
                        <a:extLst>
                          <a:ext uri="{FF2B5EF4-FFF2-40B4-BE49-F238E27FC236}">
                            <a16:creationId xmlns:a16="http://schemas.microsoft.com/office/drawing/2014/main" id="{A9EED302-FA58-470D-8D0E-F644C94508CA}"/>
                          </a:ext>
                        </a:extLst>
                      </p:cNvPr>
                      <p:cNvPicPr>
                        <a:picLocks noChangeArrowheads="1"/>
                      </p:cNvPicPr>
                      <p:nvPr/>
                    </p:nvPicPr>
                    <p:blipFill>
                      <a:blip r:embed="rId4">
                        <a:extLst>
                          <a:ext uri="{28A0092B-C50C-407E-A947-70E740481C1C}">
                            <a14:useLocalDpi xmlns:a14="http://schemas.microsoft.com/office/drawing/2010/main" val="0"/>
                          </a:ext>
                        </a:extLst>
                      </a:blip>
                      <a:srcRect l="5914" r="3656" b="8676"/>
                      <a:stretch>
                        <a:fillRect/>
                      </a:stretch>
                    </p:blipFill>
                    <p:spPr bwMode="auto">
                      <a:xfrm>
                        <a:off x="1187450" y="2133600"/>
                        <a:ext cx="2328863"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0664" name="图片 115">
            <a:extLst>
              <a:ext uri="{FF2B5EF4-FFF2-40B4-BE49-F238E27FC236}">
                <a16:creationId xmlns:a16="http://schemas.microsoft.com/office/drawing/2014/main" id="{F8B9582C-96B3-4BE6-A970-88A348B4A461}"/>
              </a:ext>
            </a:extLst>
          </p:cNvPr>
          <p:cNvGraphicFramePr>
            <a:graphicFrameLocks/>
          </p:cNvGraphicFramePr>
          <p:nvPr/>
        </p:nvGraphicFramePr>
        <p:xfrm>
          <a:off x="4786313" y="2492375"/>
          <a:ext cx="3230562" cy="2132013"/>
        </p:xfrm>
        <a:graphic>
          <a:graphicData uri="http://schemas.openxmlformats.org/presentationml/2006/ole">
            <mc:AlternateContent xmlns:mc="http://schemas.openxmlformats.org/markup-compatibility/2006">
              <mc:Choice xmlns:v="urn:schemas-microsoft-com:vml" Requires="v">
                <p:oleObj spid="_x0000_s84067" r:id="rId5" imgW="1236600" imgH="957960" progId="Visio.Drawing.11">
                  <p:embed/>
                </p:oleObj>
              </mc:Choice>
              <mc:Fallback>
                <p:oleObj r:id="rId5" imgW="1236600" imgH="957960" progId="Visio.Drawing.11">
                  <p:embed/>
                  <p:pic>
                    <p:nvPicPr>
                      <p:cNvPr id="70664" name="图片 115">
                        <a:extLst>
                          <a:ext uri="{FF2B5EF4-FFF2-40B4-BE49-F238E27FC236}">
                            <a16:creationId xmlns:a16="http://schemas.microsoft.com/office/drawing/2014/main" id="{F8B9582C-96B3-4BE6-A970-88A348B4A461}"/>
                          </a:ext>
                        </a:extLst>
                      </p:cNvPr>
                      <p:cNvPicPr>
                        <a:picLocks noChangeArrowheads="1"/>
                      </p:cNvPicPr>
                      <p:nvPr/>
                    </p:nvPicPr>
                    <p:blipFill>
                      <a:blip r:embed="rId6">
                        <a:extLst>
                          <a:ext uri="{28A0092B-C50C-407E-A947-70E740481C1C}">
                            <a14:useLocalDpi xmlns:a14="http://schemas.microsoft.com/office/drawing/2010/main" val="0"/>
                          </a:ext>
                        </a:extLst>
                      </a:blip>
                      <a:srcRect l="3505" t="3746" r="1111" b="11185"/>
                      <a:stretch>
                        <a:fillRect/>
                      </a:stretch>
                    </p:blipFill>
                    <p:spPr bwMode="auto">
                      <a:xfrm>
                        <a:off x="4786313" y="2492375"/>
                        <a:ext cx="3230562" cy="213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0665" name="Text Box 9">
            <a:extLst>
              <a:ext uri="{FF2B5EF4-FFF2-40B4-BE49-F238E27FC236}">
                <a16:creationId xmlns:a16="http://schemas.microsoft.com/office/drawing/2014/main" id="{C0680857-42C3-4710-86A1-28EC44E0B90C}"/>
              </a:ext>
            </a:extLst>
          </p:cNvPr>
          <p:cNvSpPr txBox="1">
            <a:spLocks noChangeArrowheads="1"/>
          </p:cNvSpPr>
          <p:nvPr/>
        </p:nvSpPr>
        <p:spPr bwMode="auto">
          <a:xfrm>
            <a:off x="1546225" y="4799013"/>
            <a:ext cx="68405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1800">
                <a:latin typeface="宋体" panose="02010600030101010101" pitchFamily="2" charset="-122"/>
                <a:sym typeface="宋体" panose="02010600030101010101" pitchFamily="2" charset="-122"/>
              </a:rPr>
              <a:t>(a)恒流源供电                       (b)恒压源供电</a:t>
            </a:r>
            <a:r>
              <a:rPr lang="zh-CN" altLang="en-US" sz="1200">
                <a:latin typeface="宋体" panose="02010600030101010101" pitchFamily="2" charset="-122"/>
                <a:sym typeface="宋体" panose="02010600030101010101" pitchFamily="2" charset="-122"/>
              </a:rPr>
              <a:t>	</a:t>
            </a:r>
            <a:endParaRPr lang="zh-CN" altLang="en-US" sz="1800">
              <a:latin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矩形 4">
            <a:extLst>
              <a:ext uri="{FF2B5EF4-FFF2-40B4-BE49-F238E27FC236}">
                <a16:creationId xmlns:a16="http://schemas.microsoft.com/office/drawing/2014/main" id="{E05BAC30-ACA8-4D92-9187-9C5610DB63F4}"/>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69635" name="灯片编号占位符 3">
            <a:extLst>
              <a:ext uri="{FF2B5EF4-FFF2-40B4-BE49-F238E27FC236}">
                <a16:creationId xmlns:a16="http://schemas.microsoft.com/office/drawing/2014/main" id="{4EF4CF76-CA01-4C2B-B657-99B35B586605}"/>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935E5EB3-6191-4F5A-97A3-1BD548FA15F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69</a:t>
            </a:fld>
            <a:endParaRPr lang="en-US" altLang="zh-CN" sz="1400">
              <a:solidFill>
                <a:srgbClr val="000000"/>
              </a:solidFill>
              <a:latin typeface="Arial" panose="020B0604020202020204" pitchFamily="34" charset="0"/>
            </a:endParaRPr>
          </a:p>
        </p:txBody>
      </p:sp>
      <p:sp>
        <p:nvSpPr>
          <p:cNvPr id="69637" name="Text Box 5">
            <a:extLst>
              <a:ext uri="{FF2B5EF4-FFF2-40B4-BE49-F238E27FC236}">
                <a16:creationId xmlns:a16="http://schemas.microsoft.com/office/drawing/2014/main" id="{0106049A-561E-4F41-B8E4-020F30BD95F6}"/>
              </a:ext>
            </a:extLst>
          </p:cNvPr>
          <p:cNvSpPr txBox="1">
            <a:spLocks noChangeArrowheads="1"/>
          </p:cNvSpPr>
          <p:nvPr/>
        </p:nvSpPr>
        <p:spPr bwMode="auto">
          <a:xfrm>
            <a:off x="228600" y="1257300"/>
            <a:ext cx="13906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latin typeface="Arial" panose="020B0604020202020204" pitchFamily="34" charset="0"/>
            </a:endParaRPr>
          </a:p>
        </p:txBody>
      </p:sp>
      <p:sp>
        <p:nvSpPr>
          <p:cNvPr id="69638" name="Text Box 6">
            <a:extLst>
              <a:ext uri="{FF2B5EF4-FFF2-40B4-BE49-F238E27FC236}">
                <a16:creationId xmlns:a16="http://schemas.microsoft.com/office/drawing/2014/main" id="{8F1C0CCF-E6D8-4D75-98A7-EA0EEF79C594}"/>
              </a:ext>
            </a:extLst>
          </p:cNvPr>
          <p:cNvSpPr txBox="1">
            <a:spLocks noChangeArrowheads="1"/>
          </p:cNvSpPr>
          <p:nvPr/>
        </p:nvSpPr>
        <p:spPr bwMode="auto">
          <a:xfrm>
            <a:off x="436563" y="1073150"/>
            <a:ext cx="3127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FF0000"/>
                </a:solidFill>
                <a:latin typeface="微软雅黑" panose="020B0503020204020204" pitchFamily="34" charset="-122"/>
                <a:ea typeface="微软雅黑" panose="020B0503020204020204" pitchFamily="34" charset="-122"/>
              </a:rPr>
              <a:t>零点温度漂移：</a:t>
            </a:r>
          </a:p>
        </p:txBody>
      </p:sp>
      <p:sp>
        <p:nvSpPr>
          <p:cNvPr id="69639" name="Text Box 7">
            <a:extLst>
              <a:ext uri="{FF2B5EF4-FFF2-40B4-BE49-F238E27FC236}">
                <a16:creationId xmlns:a16="http://schemas.microsoft.com/office/drawing/2014/main" id="{F4F0BC2D-047D-4BED-B5CC-4F5D63C9D853}"/>
              </a:ext>
            </a:extLst>
          </p:cNvPr>
          <p:cNvSpPr txBox="1">
            <a:spLocks noChangeArrowheads="1"/>
          </p:cNvSpPr>
          <p:nvPr/>
        </p:nvSpPr>
        <p:spPr bwMode="auto">
          <a:xfrm>
            <a:off x="252413" y="1563370"/>
            <a:ext cx="8353425" cy="158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rPr>
              <a:t>（1）恒流源供电： </a:t>
            </a:r>
          </a:p>
          <a:p>
            <a:pPr>
              <a:spcBef>
                <a:spcPct val="0"/>
              </a:spcBef>
              <a:buFont typeface="Arial" panose="020B0604020202020204" pitchFamily="34" charset="0"/>
              <a:buNone/>
            </a:pPr>
            <a:endParaRPr lang="zh-CN" altLang="en-US" sz="2000">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rPr>
              <a:t>         恒压源供电：</a:t>
            </a:r>
          </a:p>
          <a:p>
            <a:pPr>
              <a:spcBef>
                <a:spcPct val="0"/>
              </a:spcBef>
              <a:buFont typeface="Arial" panose="020B0604020202020204" pitchFamily="34" charset="0"/>
              <a:buNone/>
            </a:pPr>
            <a:endParaRPr lang="zh-CN" altLang="en-US" sz="1800">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zh-CN" altLang="en-US" sz="1800">
                <a:latin typeface="微软雅黑" panose="020B0503020204020204" pitchFamily="34" charset="-122"/>
                <a:ea typeface="微软雅黑" panose="020B0503020204020204" pitchFamily="34" charset="-122"/>
              </a:rPr>
              <a:t>         </a:t>
            </a:r>
            <a:r>
              <a:rPr lang="zh-CN" altLang="en-US" sz="2000">
                <a:latin typeface="微软雅黑" panose="020B0503020204020204" pitchFamily="34" charset="-122"/>
                <a:ea typeface="微软雅黑" panose="020B0503020204020204" pitchFamily="34" charset="-122"/>
              </a:rPr>
              <a:t>其中，</a:t>
            </a:r>
            <a:r>
              <a:rPr lang="zh-CN" altLang="en-US" sz="2000">
                <a:solidFill>
                  <a:srgbClr val="FF0000"/>
                </a:solidFill>
                <a:latin typeface="微软雅黑" panose="020B0503020204020204" pitchFamily="34" charset="-122"/>
                <a:ea typeface="微软雅黑" panose="020B0503020204020204" pitchFamily="34" charset="-122"/>
                <a:sym typeface="Arial" panose="020B0604020202020204" pitchFamily="34" charset="0"/>
              </a:rPr>
              <a:t>∆R</a:t>
            </a:r>
            <a:r>
              <a:rPr lang="zh-CN" altLang="en-US" sz="2000">
                <a:latin typeface="微软雅黑" panose="020B0503020204020204" pitchFamily="34" charset="-122"/>
                <a:ea typeface="微软雅黑" panose="020B0503020204020204" pitchFamily="34" charset="-122"/>
                <a:sym typeface="Arial" panose="020B0604020202020204" pitchFamily="34" charset="0"/>
              </a:rPr>
              <a:t>为应变引起的电阻变化，</a:t>
            </a:r>
            <a:r>
              <a:rPr lang="zh-CN" altLang="en-US" sz="2000">
                <a:solidFill>
                  <a:srgbClr val="FF0000"/>
                </a:solidFill>
                <a:latin typeface="微软雅黑" panose="020B0503020204020204" pitchFamily="34" charset="-122"/>
                <a:ea typeface="微软雅黑" panose="020B0503020204020204" pitchFamily="34" charset="-122"/>
                <a:sym typeface="Arial" panose="020B0604020202020204" pitchFamily="34" charset="0"/>
              </a:rPr>
              <a:t>∆Rt</a:t>
            </a:r>
            <a:r>
              <a:rPr lang="zh-CN" altLang="en-US" sz="2000">
                <a:latin typeface="微软雅黑" panose="020B0503020204020204" pitchFamily="34" charset="-122"/>
                <a:ea typeface="微软雅黑" panose="020B0503020204020204" pitchFamily="34" charset="-122"/>
                <a:sym typeface="Arial" panose="020B0604020202020204" pitchFamily="34" charset="0"/>
              </a:rPr>
              <a:t>为温度引起的电阻变化。</a:t>
            </a:r>
          </a:p>
        </p:txBody>
      </p:sp>
      <p:graphicFrame>
        <p:nvGraphicFramePr>
          <p:cNvPr id="69640" name="Object 8">
            <a:extLst>
              <a:ext uri="{FF2B5EF4-FFF2-40B4-BE49-F238E27FC236}">
                <a16:creationId xmlns:a16="http://schemas.microsoft.com/office/drawing/2014/main" id="{4AB98C8D-98E1-4E3D-9BDF-E31602C225F8}"/>
              </a:ext>
            </a:extLst>
          </p:cNvPr>
          <p:cNvGraphicFramePr>
            <a:graphicFrameLocks noChangeAspect="1"/>
          </p:cNvGraphicFramePr>
          <p:nvPr/>
        </p:nvGraphicFramePr>
        <p:xfrm>
          <a:off x="2701925" y="1547813"/>
          <a:ext cx="1585913" cy="396875"/>
        </p:xfrm>
        <a:graphic>
          <a:graphicData uri="http://schemas.openxmlformats.org/presentationml/2006/ole">
            <mc:AlternateContent xmlns:mc="http://schemas.openxmlformats.org/markup-compatibility/2006">
              <mc:Choice xmlns:v="urn:schemas-microsoft-com:vml" Requires="v">
                <p:oleObj spid="_x0000_s85194" r:id="rId3" imgW="915842" imgH="228961" progId="Equation.3">
                  <p:embed/>
                </p:oleObj>
              </mc:Choice>
              <mc:Fallback>
                <p:oleObj r:id="rId3" imgW="915842" imgH="228961" progId="Equation.3">
                  <p:embed/>
                  <p:pic>
                    <p:nvPicPr>
                      <p:cNvPr id="69640" name="Object 8">
                        <a:extLst>
                          <a:ext uri="{FF2B5EF4-FFF2-40B4-BE49-F238E27FC236}">
                            <a16:creationId xmlns:a16="http://schemas.microsoft.com/office/drawing/2014/main" id="{4AB98C8D-98E1-4E3D-9BDF-E31602C225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1925" y="1547813"/>
                        <a:ext cx="15859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9641" name="Object 9">
            <a:extLst>
              <a:ext uri="{FF2B5EF4-FFF2-40B4-BE49-F238E27FC236}">
                <a16:creationId xmlns:a16="http://schemas.microsoft.com/office/drawing/2014/main" id="{BD6158E6-FE10-4035-BD5C-CCB513119F9B}"/>
              </a:ext>
            </a:extLst>
          </p:cNvPr>
          <p:cNvGraphicFramePr>
            <a:graphicFrameLocks noChangeAspect="1"/>
          </p:cNvGraphicFramePr>
          <p:nvPr/>
        </p:nvGraphicFramePr>
        <p:xfrm>
          <a:off x="2720975" y="1990725"/>
          <a:ext cx="1978025" cy="693738"/>
        </p:xfrm>
        <a:graphic>
          <a:graphicData uri="http://schemas.openxmlformats.org/presentationml/2006/ole">
            <mc:AlternateContent xmlns:mc="http://schemas.openxmlformats.org/markup-compatibility/2006">
              <mc:Choice xmlns:v="urn:schemas-microsoft-com:vml" Requires="v">
                <p:oleObj spid="_x0000_s85195" r:id="rId5" imgW="1157423" imgH="406721" progId="Equation.3">
                  <p:embed/>
                </p:oleObj>
              </mc:Choice>
              <mc:Fallback>
                <p:oleObj r:id="rId5" imgW="1157423" imgH="406721" progId="Equation.3">
                  <p:embed/>
                  <p:pic>
                    <p:nvPicPr>
                      <p:cNvPr id="69641" name="Object 9">
                        <a:extLst>
                          <a:ext uri="{FF2B5EF4-FFF2-40B4-BE49-F238E27FC236}">
                            <a16:creationId xmlns:a16="http://schemas.microsoft.com/office/drawing/2014/main" id="{BD6158E6-FE10-4035-BD5C-CCB513119F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20975" y="1990725"/>
                        <a:ext cx="1978025"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42" name="Text Box 10">
            <a:extLst>
              <a:ext uri="{FF2B5EF4-FFF2-40B4-BE49-F238E27FC236}">
                <a16:creationId xmlns:a16="http://schemas.microsoft.com/office/drawing/2014/main" id="{EFD6C178-7F8A-464E-A320-D5F080C10268}"/>
              </a:ext>
            </a:extLst>
          </p:cNvPr>
          <p:cNvSpPr txBox="1">
            <a:spLocks noChangeArrowheads="1"/>
          </p:cNvSpPr>
          <p:nvPr/>
        </p:nvSpPr>
        <p:spPr bwMode="auto">
          <a:xfrm>
            <a:off x="228600" y="3141663"/>
            <a:ext cx="8664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Wingdings" panose="05000000000000000000" pitchFamily="2" charset="2"/>
              <a:buChar char="Ø"/>
            </a:pPr>
            <a:r>
              <a:rPr lang="zh-CN" altLang="en-US" sz="2000" dirty="0">
                <a:solidFill>
                  <a:srgbClr val="0000FF"/>
                </a:solidFill>
                <a:latin typeface="微软雅黑" panose="020B0503020204020204" pitchFamily="34" charset="-122"/>
                <a:ea typeface="微软雅黑" panose="020B0503020204020204" pitchFamily="34" charset="-122"/>
              </a:rPr>
              <a:t>在恒流源供电下，全桥电路的输出与温度无关；在恒压源供电下，全桥电路的输出与温度有关，在相同应变下，随着温度的升高其输出将减小。</a:t>
            </a:r>
          </a:p>
        </p:txBody>
      </p:sp>
      <p:sp>
        <p:nvSpPr>
          <p:cNvPr id="69643" name="Text Box 11">
            <a:extLst>
              <a:ext uri="{FF2B5EF4-FFF2-40B4-BE49-F238E27FC236}">
                <a16:creationId xmlns:a16="http://schemas.microsoft.com/office/drawing/2014/main" id="{C80A48AF-9340-4457-908F-57A04C8D74E7}"/>
              </a:ext>
            </a:extLst>
          </p:cNvPr>
          <p:cNvSpPr txBox="1">
            <a:spLocks noChangeArrowheads="1"/>
          </p:cNvSpPr>
          <p:nvPr/>
        </p:nvSpPr>
        <p:spPr bwMode="auto">
          <a:xfrm>
            <a:off x="252413" y="4044950"/>
            <a:ext cx="312737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170" tIns="46990" rIns="90170" bIns="4699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400">
                <a:solidFill>
                  <a:srgbClr val="FF0000"/>
                </a:solidFill>
                <a:latin typeface="微软雅黑" panose="020B0503020204020204" pitchFamily="34" charset="-122"/>
                <a:ea typeface="微软雅黑" panose="020B0503020204020204" pitchFamily="34" charset="-122"/>
              </a:rPr>
              <a:t>灵敏度温度漂移：</a:t>
            </a:r>
          </a:p>
        </p:txBody>
      </p:sp>
      <p:sp>
        <p:nvSpPr>
          <p:cNvPr id="69644" name="Text Box 12">
            <a:extLst>
              <a:ext uri="{FF2B5EF4-FFF2-40B4-BE49-F238E27FC236}">
                <a16:creationId xmlns:a16="http://schemas.microsoft.com/office/drawing/2014/main" id="{BC7FF9FD-1D3F-4E32-8341-E7131E7845A5}"/>
              </a:ext>
            </a:extLst>
          </p:cNvPr>
          <p:cNvSpPr txBox="1">
            <a:spLocks noChangeArrowheads="1"/>
          </p:cNvSpPr>
          <p:nvPr/>
        </p:nvSpPr>
        <p:spPr bwMode="auto">
          <a:xfrm>
            <a:off x="327025" y="4438650"/>
            <a:ext cx="73025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rPr>
              <a:t>（2）恒流源供电： </a:t>
            </a:r>
          </a:p>
          <a:p>
            <a:pPr>
              <a:spcBef>
                <a:spcPct val="0"/>
              </a:spcBef>
              <a:buFont typeface="Arial" panose="020B0604020202020204" pitchFamily="34" charset="0"/>
              <a:buNone/>
            </a:pPr>
            <a:endParaRPr lang="zh-CN" altLang="en-US" sz="2000">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rPr>
              <a:t>         恒压源供电：</a:t>
            </a:r>
          </a:p>
          <a:p>
            <a:pPr>
              <a:spcBef>
                <a:spcPct val="0"/>
              </a:spcBef>
              <a:buFont typeface="Arial" panose="020B0604020202020204" pitchFamily="34" charset="0"/>
              <a:buNone/>
            </a:pPr>
            <a:endParaRPr lang="zh-CN" altLang="en-US" sz="1800">
              <a:latin typeface="微软雅黑" panose="020B0503020204020204" pitchFamily="34" charset="-122"/>
              <a:ea typeface="微软雅黑" panose="020B0503020204020204" pitchFamily="34" charset="-122"/>
            </a:endParaRPr>
          </a:p>
          <a:p>
            <a:pPr>
              <a:spcBef>
                <a:spcPct val="0"/>
              </a:spcBef>
              <a:buFont typeface="Arial" panose="020B0604020202020204" pitchFamily="34" charset="0"/>
              <a:buNone/>
            </a:pPr>
            <a:r>
              <a:rPr lang="zh-CN" altLang="en-US" sz="1800">
                <a:latin typeface="微软雅黑" panose="020B0503020204020204" pitchFamily="34" charset="-122"/>
                <a:ea typeface="微软雅黑" panose="020B0503020204020204" pitchFamily="34" charset="-122"/>
              </a:rPr>
              <a:t>         </a:t>
            </a:r>
          </a:p>
          <a:p>
            <a:pPr>
              <a:spcBef>
                <a:spcPct val="0"/>
              </a:spcBef>
              <a:buFont typeface="Arial" panose="020B0604020202020204" pitchFamily="34" charset="0"/>
              <a:buNone/>
            </a:pPr>
            <a:r>
              <a:rPr lang="zh-CN" altLang="en-US" sz="1800">
                <a:latin typeface="微软雅黑" panose="020B0503020204020204" pitchFamily="34" charset="-122"/>
                <a:ea typeface="微软雅黑" panose="020B0503020204020204" pitchFamily="34" charset="-122"/>
              </a:rPr>
              <a:t>         </a:t>
            </a:r>
          </a:p>
        </p:txBody>
      </p:sp>
      <p:graphicFrame>
        <p:nvGraphicFramePr>
          <p:cNvPr id="69645" name="Object 13">
            <a:extLst>
              <a:ext uri="{FF2B5EF4-FFF2-40B4-BE49-F238E27FC236}">
                <a16:creationId xmlns:a16="http://schemas.microsoft.com/office/drawing/2014/main" id="{63FB3F6A-7D45-4A43-9444-AEBAAADF0775}"/>
              </a:ext>
            </a:extLst>
          </p:cNvPr>
          <p:cNvGraphicFramePr>
            <a:graphicFrameLocks noChangeAspect="1"/>
          </p:cNvGraphicFramePr>
          <p:nvPr/>
        </p:nvGraphicFramePr>
        <p:xfrm>
          <a:off x="2555875" y="4489450"/>
          <a:ext cx="1303338" cy="390525"/>
        </p:xfrm>
        <a:graphic>
          <a:graphicData uri="http://schemas.openxmlformats.org/presentationml/2006/ole">
            <mc:AlternateContent xmlns:mc="http://schemas.openxmlformats.org/markup-compatibility/2006">
              <mc:Choice xmlns:v="urn:schemas-microsoft-com:vml" Requires="v">
                <p:oleObj spid="_x0000_s85196" r:id="rId7" imgW="763262" imgH="229051" progId="Equation.3">
                  <p:embed/>
                </p:oleObj>
              </mc:Choice>
              <mc:Fallback>
                <p:oleObj r:id="rId7" imgW="763262" imgH="229051" progId="Equation.3">
                  <p:embed/>
                  <p:pic>
                    <p:nvPicPr>
                      <p:cNvPr id="69645" name="Object 13">
                        <a:extLst>
                          <a:ext uri="{FF2B5EF4-FFF2-40B4-BE49-F238E27FC236}">
                            <a16:creationId xmlns:a16="http://schemas.microsoft.com/office/drawing/2014/main" id="{63FB3F6A-7D45-4A43-9444-AEBAAADF07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4489450"/>
                        <a:ext cx="1303338"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9646" name="Object 14">
            <a:extLst>
              <a:ext uri="{FF2B5EF4-FFF2-40B4-BE49-F238E27FC236}">
                <a16:creationId xmlns:a16="http://schemas.microsoft.com/office/drawing/2014/main" id="{296BFC7C-FDA4-4436-BDE2-92A222A8B23B}"/>
              </a:ext>
            </a:extLst>
          </p:cNvPr>
          <p:cNvGraphicFramePr>
            <a:graphicFrameLocks noChangeAspect="1"/>
          </p:cNvGraphicFramePr>
          <p:nvPr/>
        </p:nvGraphicFramePr>
        <p:xfrm>
          <a:off x="2555875" y="4856163"/>
          <a:ext cx="1746250" cy="1033462"/>
        </p:xfrm>
        <a:graphic>
          <a:graphicData uri="http://schemas.openxmlformats.org/presentationml/2006/ole">
            <mc:AlternateContent xmlns:mc="http://schemas.openxmlformats.org/markup-compatibility/2006">
              <mc:Choice xmlns:v="urn:schemas-microsoft-com:vml" Requires="v">
                <p:oleObj spid="_x0000_s85197" r:id="rId9" imgW="1030142" imgH="610441" progId="Equation.3">
                  <p:embed/>
                </p:oleObj>
              </mc:Choice>
              <mc:Fallback>
                <p:oleObj r:id="rId9" imgW="1030142" imgH="610441" progId="Equation.3">
                  <p:embed/>
                  <p:pic>
                    <p:nvPicPr>
                      <p:cNvPr id="69646" name="Object 14">
                        <a:extLst>
                          <a:ext uri="{FF2B5EF4-FFF2-40B4-BE49-F238E27FC236}">
                            <a16:creationId xmlns:a16="http://schemas.microsoft.com/office/drawing/2014/main" id="{296BFC7C-FDA4-4436-BDE2-92A222A8B23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5875" y="4856163"/>
                        <a:ext cx="1746250" cy="103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9647" name="Text Box 15">
            <a:extLst>
              <a:ext uri="{FF2B5EF4-FFF2-40B4-BE49-F238E27FC236}">
                <a16:creationId xmlns:a16="http://schemas.microsoft.com/office/drawing/2014/main" id="{65E40B4D-1017-4074-AD98-505835D4530F}"/>
              </a:ext>
            </a:extLst>
          </p:cNvPr>
          <p:cNvSpPr txBox="1">
            <a:spLocks noChangeArrowheads="1"/>
          </p:cNvSpPr>
          <p:nvPr/>
        </p:nvSpPr>
        <p:spPr bwMode="auto">
          <a:xfrm>
            <a:off x="323850" y="5876925"/>
            <a:ext cx="88566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Wingdings" panose="05000000000000000000" pitchFamily="2" charset="2"/>
              <a:buChar char="Ø"/>
            </a:pPr>
            <a:r>
              <a:rPr lang="zh-CN" altLang="en-US" sz="2000">
                <a:solidFill>
                  <a:schemeClr val="hlink"/>
                </a:solidFill>
                <a:latin typeface="微软雅黑" panose="020B0503020204020204" pitchFamily="34" charset="-122"/>
                <a:ea typeface="微软雅黑" panose="020B0503020204020204" pitchFamily="34" charset="-122"/>
              </a:rPr>
              <a:t>在恒流源供电下，全桥电路的灵敏度系数与温度无关；在恒压源供电下，全桥电路的灵敏度与温度有关，随着温度的升高其灵敏度系数将减小。</a:t>
            </a:r>
          </a:p>
        </p:txBody>
      </p:sp>
      <p:sp>
        <p:nvSpPr>
          <p:cNvPr id="19" name="矩形 18">
            <a:extLst>
              <a:ext uri="{FF2B5EF4-FFF2-40B4-BE49-F238E27FC236}">
                <a16:creationId xmlns:a16="http://schemas.microsoft.com/office/drawing/2014/main" id="{21429651-C515-4A75-9BBC-0146FE7E3107}"/>
              </a:ext>
            </a:extLst>
          </p:cNvPr>
          <p:cNvSpPr/>
          <p:nvPr/>
        </p:nvSpPr>
        <p:spPr>
          <a:xfrm>
            <a:off x="327815" y="384485"/>
            <a:ext cx="7124386" cy="573042"/>
          </a:xfrm>
          <a:prstGeom prst="rect">
            <a:avLst/>
          </a:prstGeom>
        </p:spPr>
        <p:txBody>
          <a:bodyPr wrap="squar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r>
              <a:rPr lang="en-US" altLang="zh-CN" sz="2800" b="1" dirty="0">
                <a:solidFill>
                  <a:srgbClr val="C00000"/>
                </a:solidFill>
                <a:latin typeface="宋体" panose="02010600030101010101" pitchFamily="2" charset="-122"/>
                <a:sym typeface="宋体" panose="02010600030101010101" pitchFamily="2" charset="-122"/>
              </a:rPr>
              <a:t>——</a:t>
            </a:r>
            <a:r>
              <a:rPr lang="zh-CN" altLang="en-US" sz="2800" b="1" dirty="0">
                <a:solidFill>
                  <a:schemeClr val="accent2"/>
                </a:solidFill>
                <a:latin typeface="宋体" panose="02010600030101010101" pitchFamily="2" charset="-122"/>
                <a:sym typeface="楷体_GB2312" pitchFamily="49" charset="-122"/>
              </a:rPr>
              <a:t>激励方式的影响</a:t>
            </a:r>
            <a:endParaRPr lang="en-US" altLang="zh-CN" sz="2800" b="1" dirty="0">
              <a:solidFill>
                <a:srgbClr val="C00000"/>
              </a:solidFill>
              <a:latin typeface="宋体" panose="02010600030101010101" pitchFamily="2" charset="-122"/>
              <a:sym typeface="宋体" panose="02010600030101010101" pitchFamily="2" charset="-122"/>
            </a:endParaRPr>
          </a:p>
        </p:txBody>
      </p:sp>
      <p:sp>
        <p:nvSpPr>
          <p:cNvPr id="16" name="矩形 15">
            <a:extLst>
              <a:ext uri="{FF2B5EF4-FFF2-40B4-BE49-F238E27FC236}">
                <a16:creationId xmlns:a16="http://schemas.microsoft.com/office/drawing/2014/main" id="{21145FBA-BC5F-4728-BCF6-B924AF76A46D}"/>
              </a:ext>
            </a:extLst>
          </p:cNvPr>
          <p:cNvSpPr>
            <a:spLocks noChangeArrowheads="1"/>
          </p:cNvSpPr>
          <p:nvPr/>
        </p:nvSpPr>
        <p:spPr bwMode="auto">
          <a:xfrm>
            <a:off x="5302250" y="4856163"/>
            <a:ext cx="29420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dirty="0">
                <a:solidFill>
                  <a:srgbClr val="00B0F0"/>
                </a:solidFill>
                <a:cs typeface="Times New Roman" panose="02020603050405020304" pitchFamily="18" charset="0"/>
              </a:rPr>
              <a:t>* 恒流源成本高些</a:t>
            </a:r>
          </a:p>
        </p:txBody>
      </p:sp>
    </p:spTree>
    <p:extLst>
      <p:ext uri="{BB962C8B-B14F-4D97-AF65-F5344CB8AC3E}">
        <p14:creationId xmlns:p14="http://schemas.microsoft.com/office/powerpoint/2010/main" val="346676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80">
                                          <p:stCondLst>
                                            <p:cond delay="0"/>
                                          </p:stCondLst>
                                        </p:cTn>
                                        <p:tgtEl>
                                          <p:spTgt spid="16"/>
                                        </p:tgtEl>
                                      </p:cBhvr>
                                    </p:animEffect>
                                    <p:anim calcmode="lin" valueType="num">
                                      <p:cBhvr>
                                        <p:cTn id="8" dur="1822"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gtEl>
                                      </p:cBhvr>
                                      <p:to x="100000" y="60000"/>
                                    </p:animScale>
                                    <p:animScale>
                                      <p:cBhvr>
                                        <p:cTn id="14" dur="166" decel="50000">
                                          <p:stCondLst>
                                            <p:cond delay="676"/>
                                          </p:stCondLst>
                                        </p:cTn>
                                        <p:tgtEl>
                                          <p:spTgt spid="16"/>
                                        </p:tgtEl>
                                      </p:cBhvr>
                                      <p:to x="100000" y="100000"/>
                                    </p:animScale>
                                    <p:animScale>
                                      <p:cBhvr>
                                        <p:cTn id="15" dur="26">
                                          <p:stCondLst>
                                            <p:cond delay="1312"/>
                                          </p:stCondLst>
                                        </p:cTn>
                                        <p:tgtEl>
                                          <p:spTgt spid="16"/>
                                        </p:tgtEl>
                                      </p:cBhvr>
                                      <p:to x="100000" y="80000"/>
                                    </p:animScale>
                                    <p:animScale>
                                      <p:cBhvr>
                                        <p:cTn id="16" dur="166" decel="50000">
                                          <p:stCondLst>
                                            <p:cond delay="1338"/>
                                          </p:stCondLst>
                                        </p:cTn>
                                        <p:tgtEl>
                                          <p:spTgt spid="16"/>
                                        </p:tgtEl>
                                      </p:cBhvr>
                                      <p:to x="100000" y="100000"/>
                                    </p:animScale>
                                    <p:animScale>
                                      <p:cBhvr>
                                        <p:cTn id="17" dur="26">
                                          <p:stCondLst>
                                            <p:cond delay="1642"/>
                                          </p:stCondLst>
                                        </p:cTn>
                                        <p:tgtEl>
                                          <p:spTgt spid="16"/>
                                        </p:tgtEl>
                                      </p:cBhvr>
                                      <p:to x="100000" y="90000"/>
                                    </p:animScale>
                                    <p:animScale>
                                      <p:cBhvr>
                                        <p:cTn id="18" dur="166" decel="50000">
                                          <p:stCondLst>
                                            <p:cond delay="1668"/>
                                          </p:stCondLst>
                                        </p:cTn>
                                        <p:tgtEl>
                                          <p:spTgt spid="16"/>
                                        </p:tgtEl>
                                      </p:cBhvr>
                                      <p:to x="100000" y="100000"/>
                                    </p:animScale>
                                    <p:animScale>
                                      <p:cBhvr>
                                        <p:cTn id="19" dur="26">
                                          <p:stCondLst>
                                            <p:cond delay="1808"/>
                                          </p:stCondLst>
                                        </p:cTn>
                                        <p:tgtEl>
                                          <p:spTgt spid="16"/>
                                        </p:tgtEl>
                                      </p:cBhvr>
                                      <p:to x="100000" y="95000"/>
                                    </p:animScale>
                                    <p:animScale>
                                      <p:cBhvr>
                                        <p:cTn id="20" dur="166" decel="50000">
                                          <p:stCondLst>
                                            <p:cond delay="1834"/>
                                          </p:stCondLst>
                                        </p:cTn>
                                        <p:tgtEl>
                                          <p:spTgt spid="1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4">
            <a:extLst>
              <a:ext uri="{FF2B5EF4-FFF2-40B4-BE49-F238E27FC236}">
                <a16:creationId xmlns:a16="http://schemas.microsoft.com/office/drawing/2014/main" id="{03866FA5-B2C3-412A-9858-606D7273B16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3731" name="灯片编号占位符 3">
            <a:extLst>
              <a:ext uri="{FF2B5EF4-FFF2-40B4-BE49-F238E27FC236}">
                <a16:creationId xmlns:a16="http://schemas.microsoft.com/office/drawing/2014/main" id="{E9706F59-287E-4C1E-9868-99B76AD4CB2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8615D574-1987-4C77-AD02-A5D8BE7910ED}"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70</a:t>
            </a:fld>
            <a:endParaRPr lang="en-US" altLang="zh-CN" sz="1400">
              <a:latin typeface="Arial" panose="020B0604020202020204" pitchFamily="34" charset="0"/>
            </a:endParaRPr>
          </a:p>
        </p:txBody>
      </p:sp>
      <p:sp>
        <p:nvSpPr>
          <p:cNvPr id="73732" name="Text Box 5">
            <a:extLst>
              <a:ext uri="{FF2B5EF4-FFF2-40B4-BE49-F238E27FC236}">
                <a16:creationId xmlns:a16="http://schemas.microsoft.com/office/drawing/2014/main" id="{6C48376B-253A-4D02-8060-9F1A263F306A}"/>
              </a:ext>
            </a:extLst>
          </p:cNvPr>
          <p:cNvSpPr txBox="1">
            <a:spLocks noChangeArrowheads="1"/>
          </p:cNvSpPr>
          <p:nvPr/>
        </p:nvSpPr>
        <p:spPr bwMode="auto">
          <a:xfrm>
            <a:off x="228600" y="1106488"/>
            <a:ext cx="13906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latin typeface="Arial" panose="020B0604020202020204" pitchFamily="34" charset="0"/>
            </a:endParaRPr>
          </a:p>
        </p:txBody>
      </p:sp>
      <p:sp>
        <p:nvSpPr>
          <p:cNvPr id="73733" name="TextBox 5">
            <a:extLst>
              <a:ext uri="{FF2B5EF4-FFF2-40B4-BE49-F238E27FC236}">
                <a16:creationId xmlns:a16="http://schemas.microsoft.com/office/drawing/2014/main" id="{44200461-2740-43F3-BD64-4D0139C63C66}"/>
              </a:ext>
            </a:extLst>
          </p:cNvPr>
          <p:cNvSpPr>
            <a:spLocks noChangeArrowheads="1"/>
          </p:cNvSpPr>
          <p:nvPr/>
        </p:nvSpPr>
        <p:spPr bwMode="auto">
          <a:xfrm>
            <a:off x="1691800" y="1309282"/>
            <a:ext cx="3600450" cy="54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lnSpc>
                <a:spcPct val="120000"/>
              </a:lnSpc>
              <a:spcBef>
                <a:spcPct val="50000"/>
              </a:spcBef>
            </a:pPr>
            <a:r>
              <a:rPr lang="zh-CN" altLang="en-US" sz="2800" b="1" dirty="0">
                <a:solidFill>
                  <a:srgbClr val="FF0000"/>
                </a:solidFill>
                <a:latin typeface="宋体" panose="02010600030101010101" pitchFamily="2" charset="-122"/>
                <a:sym typeface="楷体_GB2312" pitchFamily="49" charset="-122"/>
              </a:rPr>
              <a:t>温度修正法</a:t>
            </a:r>
            <a:endParaRPr lang="zh-CN" altLang="en-US" sz="2800" b="1" dirty="0">
              <a:solidFill>
                <a:srgbClr val="FF0000"/>
              </a:solidFill>
              <a:latin typeface="宋体" panose="02010600030101010101" pitchFamily="2" charset="-122"/>
              <a:sym typeface="宋体" panose="02010600030101010101" pitchFamily="2" charset="-122"/>
            </a:endParaRPr>
          </a:p>
        </p:txBody>
      </p:sp>
      <p:sp>
        <p:nvSpPr>
          <p:cNvPr id="73734" name="矩形 11">
            <a:extLst>
              <a:ext uri="{FF2B5EF4-FFF2-40B4-BE49-F238E27FC236}">
                <a16:creationId xmlns:a16="http://schemas.microsoft.com/office/drawing/2014/main" id="{1E71C0CD-DCAE-4706-A129-FF33E78A89FC}"/>
              </a:ext>
            </a:extLst>
          </p:cNvPr>
          <p:cNvSpPr>
            <a:spLocks noChangeArrowheads="1"/>
          </p:cNvSpPr>
          <p:nvPr/>
        </p:nvSpPr>
        <p:spPr bwMode="auto">
          <a:xfrm>
            <a:off x="1042987" y="1948380"/>
            <a:ext cx="7345362" cy="168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74295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50000"/>
              </a:lnSpc>
              <a:spcBef>
                <a:spcPct val="0"/>
              </a:spcBef>
              <a:buFont typeface="Arial" panose="020B0604020202020204" pitchFamily="34" charset="0"/>
              <a:buNone/>
            </a:pPr>
            <a:r>
              <a:rPr lang="zh-CN" altLang="en-US" sz="2400" dirty="0">
                <a:latin typeface="楷体_GB2312" pitchFamily="49" charset="-122"/>
                <a:ea typeface="楷体_GB2312" pitchFamily="49" charset="-122"/>
              </a:rPr>
              <a:t>通过实验先作出一条准确的温度变化引起输出值大小的特性曲线。工作时，根据此曲线对应变片实际测出的输出值进行修正。</a:t>
            </a:r>
          </a:p>
        </p:txBody>
      </p:sp>
      <p:sp>
        <p:nvSpPr>
          <p:cNvPr id="7" name="矩形 6">
            <a:extLst>
              <a:ext uri="{FF2B5EF4-FFF2-40B4-BE49-F238E27FC236}">
                <a16:creationId xmlns:a16="http://schemas.microsoft.com/office/drawing/2014/main" id="{CE918286-3334-4BCA-8B9F-27AA3361D603}"/>
              </a:ext>
            </a:extLst>
          </p:cNvPr>
          <p:cNvSpPr/>
          <p:nvPr/>
        </p:nvSpPr>
        <p:spPr>
          <a:xfrm>
            <a:off x="327815" y="384485"/>
            <a:ext cx="3432350" cy="573042"/>
          </a:xfrm>
          <a:prstGeom prst="rect">
            <a:avLst/>
          </a:prstGeom>
        </p:spPr>
        <p:txBody>
          <a:bodyPr wrap="none">
            <a:spAutoFit/>
          </a:bodyPr>
          <a:lstStyle/>
          <a:p>
            <a:pPr>
              <a:lnSpc>
                <a:spcPct val="130000"/>
              </a:lnSpc>
            </a:pPr>
            <a:r>
              <a:rPr lang="zh-CN" altLang="en-US" sz="2800" b="1" dirty="0">
                <a:solidFill>
                  <a:srgbClr val="C00000"/>
                </a:solidFill>
                <a:latin typeface="宋体" panose="02010600030101010101" pitchFamily="2" charset="-122"/>
                <a:sym typeface="宋体" panose="02010600030101010101" pitchFamily="2" charset="-122"/>
              </a:rPr>
              <a:t>（</a:t>
            </a:r>
            <a:r>
              <a:rPr lang="en-US" altLang="zh-CN" sz="2800" b="1" dirty="0">
                <a:solidFill>
                  <a:srgbClr val="C00000"/>
                </a:solidFill>
                <a:latin typeface="宋体" panose="02010600030101010101" pitchFamily="2" charset="-122"/>
                <a:sym typeface="宋体" panose="02010600030101010101" pitchFamily="2" charset="-122"/>
              </a:rPr>
              <a:t>2</a:t>
            </a:r>
            <a:r>
              <a:rPr lang="zh-CN" altLang="en-US" sz="2800" b="1" dirty="0">
                <a:solidFill>
                  <a:srgbClr val="C00000"/>
                </a:solidFill>
                <a:latin typeface="宋体" panose="02010600030101010101" pitchFamily="2" charset="-122"/>
                <a:sym typeface="宋体" panose="02010600030101010101" pitchFamily="2" charset="-122"/>
              </a:rPr>
              <a:t>） 温度补偿方法</a:t>
            </a:r>
            <a:endParaRPr lang="en-US" altLang="zh-CN" sz="2800" b="1" dirty="0">
              <a:solidFill>
                <a:srgbClr val="C00000"/>
              </a:solidFill>
              <a:latin typeface="宋体" panose="02010600030101010101" pitchFamily="2" charset="-122"/>
              <a:sym typeface="宋体" panose="02010600030101010101" pitchFamily="2" charset="-122"/>
            </a:endParaRPr>
          </a:p>
        </p:txBody>
      </p:sp>
      <p:sp>
        <p:nvSpPr>
          <p:cNvPr id="9" name="矩形 15">
            <a:extLst>
              <a:ext uri="{FF2B5EF4-FFF2-40B4-BE49-F238E27FC236}">
                <a16:creationId xmlns:a16="http://schemas.microsoft.com/office/drawing/2014/main" id="{E894E11B-4DD3-4ACF-9027-7DBFBFC541A4}"/>
              </a:ext>
            </a:extLst>
          </p:cNvPr>
          <p:cNvSpPr>
            <a:spLocks noChangeArrowheads="1"/>
          </p:cNvSpPr>
          <p:nvPr/>
        </p:nvSpPr>
        <p:spPr bwMode="auto">
          <a:xfrm>
            <a:off x="1691800" y="3949693"/>
            <a:ext cx="692369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在智能化传感器的基础上，这是一种常用的、</a:t>
            </a:r>
            <a:endParaRPr lang="en-US" altLang="zh-CN" sz="2400" dirty="0">
              <a:solidFill>
                <a:srgbClr val="00B0F0"/>
              </a:solidFill>
              <a:cs typeface="Times New Roman" panose="02020603050405020304" pitchFamily="18" charset="0"/>
            </a:endParaRPr>
          </a:p>
          <a:p>
            <a:r>
              <a:rPr lang="zh-CN" altLang="en-US" sz="2400" dirty="0">
                <a:solidFill>
                  <a:srgbClr val="00B0F0"/>
                </a:solidFill>
                <a:cs typeface="Times New Roman" panose="02020603050405020304" pitchFamily="18" charset="0"/>
              </a:rPr>
              <a:t>适合很多传感器的温度补偿方法。</a:t>
            </a:r>
            <a:endParaRPr lang="en-US" altLang="zh-CN" sz="2400" dirty="0">
              <a:solidFill>
                <a:srgbClr val="00B0F0"/>
              </a:solidFill>
              <a:cs typeface="Times New Roman" panose="02020603050405020304" pitchFamily="18" charset="0"/>
            </a:endParaRPr>
          </a:p>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如希望对每个传感器做高精度的补偿，其工作量</a:t>
            </a:r>
            <a:endParaRPr lang="en-US" altLang="zh-CN" sz="2400" dirty="0">
              <a:solidFill>
                <a:srgbClr val="00B0F0"/>
              </a:solidFill>
              <a:cs typeface="Times New Roman" panose="02020603050405020304" pitchFamily="18" charset="0"/>
            </a:endParaRPr>
          </a:p>
          <a:p>
            <a:r>
              <a:rPr lang="zh-CN" altLang="en-US" sz="2400" dirty="0">
                <a:solidFill>
                  <a:srgbClr val="00B0F0"/>
                </a:solidFill>
                <a:cs typeface="Times New Roman" panose="02020603050405020304" pitchFamily="18" charset="0"/>
              </a:rPr>
              <a:t>较大。</a:t>
            </a:r>
            <a:endParaRPr lang="en-US" altLang="zh-CN" sz="2400" dirty="0">
              <a:solidFill>
                <a:srgbClr val="00B0F0"/>
              </a:solidFill>
              <a:cs typeface="Times New Roman" panose="02020603050405020304" pitchFamily="18" charset="0"/>
            </a:endParaRPr>
          </a:p>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需要增加温度传感器，成本也相应增大。</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矩形 4">
            <a:extLst>
              <a:ext uri="{FF2B5EF4-FFF2-40B4-BE49-F238E27FC236}">
                <a16:creationId xmlns:a16="http://schemas.microsoft.com/office/drawing/2014/main" id="{DDB2C687-E586-41B5-B3DE-B8D6CCFD289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0659" name="灯片编号占位符 3">
            <a:extLst>
              <a:ext uri="{FF2B5EF4-FFF2-40B4-BE49-F238E27FC236}">
                <a16:creationId xmlns:a16="http://schemas.microsoft.com/office/drawing/2014/main" id="{C3E4F575-42F9-4130-A919-DD1D3B580790}"/>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91E66A65-D374-4785-8BD8-5B0D9CC34A6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71</a:t>
            </a:fld>
            <a:endParaRPr lang="en-US" altLang="zh-CN" sz="1400">
              <a:solidFill>
                <a:srgbClr val="000000"/>
              </a:solidFill>
              <a:latin typeface="Arial" panose="020B0604020202020204" pitchFamily="34" charset="0"/>
            </a:endParaRPr>
          </a:p>
        </p:txBody>
      </p:sp>
      <p:sp>
        <p:nvSpPr>
          <p:cNvPr id="70660" name="TextBox 5">
            <a:extLst>
              <a:ext uri="{FF2B5EF4-FFF2-40B4-BE49-F238E27FC236}">
                <a16:creationId xmlns:a16="http://schemas.microsoft.com/office/drawing/2014/main" id="{3F5F3EE1-E8BF-467A-82A1-BE6FF10425C4}"/>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latin typeface="黑体" panose="02010609060101010101" pitchFamily="49" charset="-122"/>
                <a:ea typeface="黑体" panose="02010609060101010101" pitchFamily="49" charset="-122"/>
              </a:rPr>
              <a:t>5</a:t>
            </a:r>
            <a:r>
              <a:rPr lang="zh-CN" altLang="en-US" b="1">
                <a:solidFill>
                  <a:srgbClr val="CC0000"/>
                </a:solidFill>
                <a:latin typeface="黑体" panose="02010609060101010101" pitchFamily="49" charset="-122"/>
                <a:ea typeface="黑体" panose="02010609060101010101" pitchFamily="49" charset="-122"/>
                <a:sym typeface="楷体_GB2312" pitchFamily="49" charset="-122"/>
              </a:rPr>
              <a:t> 相关应用</a:t>
            </a:r>
            <a:endParaRPr lang="zh-CN" altLang="en-US" sz="1800">
              <a:latin typeface="黑体" panose="02010609060101010101" pitchFamily="49" charset="-122"/>
              <a:ea typeface="黑体" panose="02010609060101010101" pitchFamily="49" charset="-122"/>
            </a:endParaRPr>
          </a:p>
        </p:txBody>
      </p:sp>
      <p:sp>
        <p:nvSpPr>
          <p:cNvPr id="70661" name="Rectangle 5">
            <a:extLst>
              <a:ext uri="{FF2B5EF4-FFF2-40B4-BE49-F238E27FC236}">
                <a16:creationId xmlns:a16="http://schemas.microsoft.com/office/drawing/2014/main" id="{37C0D991-0CFE-4299-83F0-3F2CEA2EC9A1}"/>
              </a:ext>
            </a:extLst>
          </p:cNvPr>
          <p:cNvSpPr>
            <a:spLocks noChangeArrowheads="1"/>
          </p:cNvSpPr>
          <p:nvPr/>
        </p:nvSpPr>
        <p:spPr bwMode="auto">
          <a:xfrm>
            <a:off x="170240" y="1499345"/>
            <a:ext cx="8796338"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en-US" altLang="zh-CN" sz="2400" dirty="0">
                <a:solidFill>
                  <a:srgbClr val="000000"/>
                </a:solidFill>
                <a:latin typeface="微软雅黑" panose="020B0503020204020204" pitchFamily="34" charset="-122"/>
                <a:ea typeface="微软雅黑" panose="020B0503020204020204" pitchFamily="34" charset="-122"/>
                <a:sym typeface="楷体_GB2312" pitchFamily="49" charset="-122"/>
              </a:rPr>
              <a:t>    </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应变式传感器 除了测定试件</a:t>
            </a:r>
            <a:r>
              <a:rPr lang="zh-CN" altLang="en-US" sz="2400" dirty="0">
                <a:solidFill>
                  <a:srgbClr val="000000"/>
                </a:solidFill>
                <a:highlight>
                  <a:srgbClr val="FFFF00"/>
                </a:highlight>
                <a:latin typeface="微软雅黑" panose="020B0503020204020204" pitchFamily="34" charset="-122"/>
                <a:ea typeface="微软雅黑" panose="020B0503020204020204" pitchFamily="34" charset="-122"/>
                <a:sym typeface="楷体_GB2312" pitchFamily="49" charset="-122"/>
              </a:rPr>
              <a:t>应力</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00"/>
                </a:solidFill>
                <a:highlight>
                  <a:srgbClr val="FFFF00"/>
                </a:highlight>
                <a:latin typeface="微软雅黑" panose="020B0503020204020204" pitchFamily="34" charset="-122"/>
                <a:ea typeface="微软雅黑" panose="020B0503020204020204" pitchFamily="34" charset="-122"/>
                <a:sym typeface="楷体_GB2312" pitchFamily="49" charset="-122"/>
              </a:rPr>
              <a:t>应变</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外，还制造成多种应变式传感器用来测定</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力</a:t>
            </a:r>
            <a:r>
              <a:rPr lang="zh-CN" altLang="en-US" sz="2400" dirty="0">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扭矩</a:t>
            </a:r>
            <a:r>
              <a:rPr lang="zh-CN" altLang="en-US" sz="2400" dirty="0">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加速度</a:t>
            </a:r>
            <a:r>
              <a:rPr lang="zh-CN" altLang="en-US" sz="2400" dirty="0">
                <a:latin typeface="微软雅黑" panose="020B0503020204020204" pitchFamily="34" charset="-122"/>
                <a:ea typeface="微软雅黑" panose="020B0503020204020204" pitchFamily="34" charset="-122"/>
                <a:sym typeface="楷体_GB2312" pitchFamily="49" charset="-122"/>
              </a:rPr>
              <a:t>、</a:t>
            </a:r>
            <a:r>
              <a:rPr lang="zh-CN" altLang="en-US" sz="2400" dirty="0">
                <a:solidFill>
                  <a:srgbClr val="0000FF"/>
                </a:solidFill>
                <a:latin typeface="微软雅黑" panose="020B0503020204020204" pitchFamily="34" charset="-122"/>
                <a:ea typeface="微软雅黑" panose="020B0503020204020204" pitchFamily="34" charset="-122"/>
                <a:sym typeface="楷体_GB2312" pitchFamily="49" charset="-122"/>
              </a:rPr>
              <a:t>压力</a:t>
            </a:r>
            <a:r>
              <a:rPr lang="zh-CN" altLang="en-US" sz="2400" dirty="0">
                <a:solidFill>
                  <a:srgbClr val="000000"/>
                </a:solidFill>
                <a:latin typeface="微软雅黑" panose="020B0503020204020204" pitchFamily="34" charset="-122"/>
                <a:ea typeface="微软雅黑" panose="020B0503020204020204" pitchFamily="34" charset="-122"/>
                <a:sym typeface="楷体_GB2312" pitchFamily="49" charset="-122"/>
              </a:rPr>
              <a:t>等其它物理量。</a:t>
            </a:r>
            <a:endParaRPr lang="zh-CN" altLang="en-US" sz="1800" dirty="0">
              <a:latin typeface="微软雅黑" panose="020B0503020204020204" pitchFamily="34" charset="-122"/>
              <a:ea typeface="微软雅黑" panose="020B0503020204020204" pitchFamily="34" charset="-122"/>
            </a:endParaRPr>
          </a:p>
        </p:txBody>
      </p:sp>
      <p:sp>
        <p:nvSpPr>
          <p:cNvPr id="62470" name="Rectangle 6">
            <a:extLst>
              <a:ext uri="{FF2B5EF4-FFF2-40B4-BE49-F238E27FC236}">
                <a16:creationId xmlns:a16="http://schemas.microsoft.com/office/drawing/2014/main" id="{04821475-0836-49F9-91F1-8EB7C6A98F75}"/>
              </a:ext>
            </a:extLst>
          </p:cNvPr>
          <p:cNvSpPr>
            <a:spLocks noChangeArrowheads="1"/>
          </p:cNvSpPr>
          <p:nvPr/>
        </p:nvSpPr>
        <p:spPr bwMode="auto">
          <a:xfrm>
            <a:off x="1908175" y="2709863"/>
            <a:ext cx="5940425" cy="283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lvl="1">
              <a:lnSpc>
                <a:spcPct val="150000"/>
              </a:lnSpc>
              <a:spcBef>
                <a:spcPct val="0"/>
              </a:spcBef>
              <a:buFont typeface="Wingdings" panose="05000000000000000000" pitchFamily="2" charset="2"/>
              <a:buChar char="u"/>
            </a:pPr>
            <a:r>
              <a:rPr lang="en-US" altLang="zh-CN" sz="2400">
                <a:solidFill>
                  <a:srgbClr val="000000"/>
                </a:solidFill>
                <a:latin typeface="微软雅黑" panose="020B0503020204020204" pitchFamily="34" charset="-122"/>
                <a:ea typeface="微软雅黑" panose="020B0503020204020204" pitchFamily="34" charset="-122"/>
              </a:rPr>
              <a:t>   </a:t>
            </a:r>
            <a:r>
              <a:rPr lang="zh-CN" altLang="en-US" sz="2400" b="1">
                <a:solidFill>
                  <a:srgbClr val="000000"/>
                </a:solidFill>
                <a:latin typeface="微软雅黑" panose="020B0503020204020204" pitchFamily="34" charset="-122"/>
                <a:ea typeface="微软雅黑" panose="020B0503020204020204" pitchFamily="34" charset="-122"/>
              </a:rPr>
              <a:t>柱式力传感器</a:t>
            </a:r>
          </a:p>
          <a:p>
            <a:pPr lvl="1">
              <a:lnSpc>
                <a:spcPct val="150000"/>
              </a:lnSpc>
              <a:spcBef>
                <a:spcPct val="0"/>
              </a:spcBef>
              <a:buFont typeface="Wingdings" panose="05000000000000000000" pitchFamily="2" charset="2"/>
              <a:buChar char="u"/>
            </a:pPr>
            <a:r>
              <a:rPr lang="zh-CN" altLang="en-US" sz="2400" b="1">
                <a:solidFill>
                  <a:srgbClr val="000000"/>
                </a:solidFill>
                <a:latin typeface="微软雅黑" panose="020B0503020204020204" pitchFamily="34" charset="-122"/>
                <a:ea typeface="微软雅黑" panose="020B0503020204020204" pitchFamily="34" charset="-122"/>
              </a:rPr>
              <a:t>   梁式力传感器</a:t>
            </a:r>
          </a:p>
          <a:p>
            <a:pPr lvl="1">
              <a:lnSpc>
                <a:spcPct val="150000"/>
              </a:lnSpc>
              <a:spcBef>
                <a:spcPct val="0"/>
              </a:spcBef>
              <a:buFont typeface="Wingdings" panose="05000000000000000000" pitchFamily="2" charset="2"/>
              <a:buChar char="u"/>
            </a:pPr>
            <a:r>
              <a:rPr lang="zh-CN" altLang="en-US" sz="2400" b="1">
                <a:solidFill>
                  <a:srgbClr val="000000"/>
                </a:solidFill>
                <a:latin typeface="微软雅黑" panose="020B0503020204020204" pitchFamily="34" charset="-122"/>
                <a:ea typeface="微软雅黑" panose="020B0503020204020204" pitchFamily="34" charset="-122"/>
              </a:rPr>
              <a:t>   应变式压力传感器</a:t>
            </a:r>
          </a:p>
          <a:p>
            <a:pPr lvl="1">
              <a:lnSpc>
                <a:spcPct val="150000"/>
              </a:lnSpc>
              <a:spcBef>
                <a:spcPct val="0"/>
              </a:spcBef>
              <a:buFont typeface="Wingdings" panose="05000000000000000000" pitchFamily="2" charset="2"/>
              <a:buChar char="u"/>
            </a:pPr>
            <a:r>
              <a:rPr lang="zh-CN" altLang="en-US" sz="2400" b="1">
                <a:solidFill>
                  <a:srgbClr val="000000"/>
                </a:solidFill>
                <a:latin typeface="微软雅黑" panose="020B0503020204020204" pitchFamily="34" charset="-122"/>
                <a:ea typeface="微软雅黑" panose="020B0503020204020204" pitchFamily="34" charset="-122"/>
              </a:rPr>
              <a:t>   应变式加速度传感器</a:t>
            </a:r>
          </a:p>
          <a:p>
            <a:pPr lvl="1">
              <a:lnSpc>
                <a:spcPct val="150000"/>
              </a:lnSpc>
              <a:spcBef>
                <a:spcPct val="0"/>
              </a:spcBef>
              <a:buFont typeface="Wingdings" panose="05000000000000000000" pitchFamily="2" charset="2"/>
              <a:buChar char="u"/>
            </a:pPr>
            <a:r>
              <a:rPr lang="zh-CN" altLang="en-US" sz="2400" b="1">
                <a:solidFill>
                  <a:srgbClr val="000000"/>
                </a:solidFill>
                <a:latin typeface="微软雅黑" panose="020B0503020204020204" pitchFamily="34" charset="-122"/>
                <a:ea typeface="微软雅黑" panose="020B0503020204020204" pitchFamily="34" charset="-122"/>
              </a:rPr>
              <a:t>   固态压阻器件</a:t>
            </a: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2470"/>
                                        </p:tgtEl>
                                        <p:attrNameLst>
                                          <p:attrName>style.visibility</p:attrName>
                                        </p:attrNameLst>
                                      </p:cBhvr>
                                      <p:to>
                                        <p:strVal val="visible"/>
                                      </p:to>
                                    </p:set>
                                    <p:animEffect filter="blinds(horizontal)">
                                      <p:cBhvr>
                                        <p:cTn id="7" dur="500"/>
                                        <p:tgtEl>
                                          <p:spTgt spid="62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0" grpId="0" bldLvl="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矩形 4">
            <a:extLst>
              <a:ext uri="{FF2B5EF4-FFF2-40B4-BE49-F238E27FC236}">
                <a16:creationId xmlns:a16="http://schemas.microsoft.com/office/drawing/2014/main" id="{622CE3D6-1AC1-400F-8122-F4CB8DE88F8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5779" name="灯片编号占位符 3">
            <a:extLst>
              <a:ext uri="{FF2B5EF4-FFF2-40B4-BE49-F238E27FC236}">
                <a16:creationId xmlns:a16="http://schemas.microsoft.com/office/drawing/2014/main" id="{1DA6642F-60D2-487C-962D-4B452FD2CA77}"/>
              </a:ext>
            </a:extLst>
          </p:cNvPr>
          <p:cNvSpPr>
            <a:spLocks noGrp="1" noChangeArrowheads="1"/>
          </p:cNvSpPr>
          <p:nvPr/>
        </p:nvSpPr>
        <p:spPr bwMode="auto">
          <a:xfrm>
            <a:off x="7235825" y="639191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3B5D0C18-560D-4436-B8CE-375D64B82181}"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72</a:t>
            </a:fld>
            <a:endParaRPr lang="en-US" altLang="zh-CN" sz="1400">
              <a:latin typeface="Arial" panose="020B0604020202020204" pitchFamily="34" charset="0"/>
            </a:endParaRPr>
          </a:p>
        </p:txBody>
      </p:sp>
      <p:sp>
        <p:nvSpPr>
          <p:cNvPr id="75780" name="TextBox 5">
            <a:extLst>
              <a:ext uri="{FF2B5EF4-FFF2-40B4-BE49-F238E27FC236}">
                <a16:creationId xmlns:a16="http://schemas.microsoft.com/office/drawing/2014/main" id="{01426F4E-5CE4-4A0B-83A1-5BD8FC85729C}"/>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.1</a:t>
            </a:r>
            <a:r>
              <a:rPr lang="zh-CN" altLang="en-US" b="1">
                <a:solidFill>
                  <a:srgbClr val="CC0000"/>
                </a:solidFill>
                <a:latin typeface="楷体_GB2312" pitchFamily="49" charset="-122"/>
                <a:ea typeface="楷体_GB2312" pitchFamily="49" charset="-122"/>
                <a:sym typeface="楷体_GB2312" pitchFamily="49" charset="-122"/>
              </a:rPr>
              <a:t> 柱式力传感器</a:t>
            </a:r>
            <a:endParaRPr lang="zh-CN" altLang="en-US" sz="1800">
              <a:latin typeface="Arial" panose="020B0604020202020204" pitchFamily="34" charset="0"/>
            </a:endParaRPr>
          </a:p>
        </p:txBody>
      </p:sp>
      <p:sp>
        <p:nvSpPr>
          <p:cNvPr id="75781" name="Rectangle 4">
            <a:extLst>
              <a:ext uri="{FF2B5EF4-FFF2-40B4-BE49-F238E27FC236}">
                <a16:creationId xmlns:a16="http://schemas.microsoft.com/office/drawing/2014/main" id="{45A24A6F-E867-4760-8466-0411E9CA81EA}"/>
              </a:ext>
            </a:extLst>
          </p:cNvPr>
          <p:cNvSpPr>
            <a:spLocks noChangeArrowheads="1"/>
          </p:cNvSpPr>
          <p:nvPr/>
        </p:nvSpPr>
        <p:spPr bwMode="auto">
          <a:xfrm>
            <a:off x="107950" y="1054100"/>
            <a:ext cx="8915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spcAft>
                <a:spcPct val="50000"/>
              </a:spcAft>
              <a:buFont typeface="Arial" panose="020B0604020202020204" pitchFamily="34" charset="0"/>
              <a:buNone/>
            </a:pPr>
            <a:r>
              <a:rPr lang="zh-CN" altLang="en-US" sz="2400">
                <a:solidFill>
                  <a:srgbClr val="000000"/>
                </a:solidFill>
                <a:latin typeface="Times New Roman" panose="02020603050405020304" pitchFamily="18" charset="0"/>
                <a:ea typeface="楷体_GB2312" pitchFamily="49" charset="-122"/>
                <a:sym typeface="Times New Roman" panose="02020603050405020304" pitchFamily="18" charset="0"/>
              </a:rPr>
              <a:t>       圆柱式力传感器的弹性元件分为实心和空心两种。</a:t>
            </a:r>
            <a:endParaRPr lang="zh-CN" altLang="en-US" sz="1800">
              <a:latin typeface="Arial" panose="020B0604020202020204" pitchFamily="34" charset="0"/>
            </a:endParaRPr>
          </a:p>
        </p:txBody>
      </p:sp>
      <p:sp>
        <p:nvSpPr>
          <p:cNvPr id="75782" name="Text Box 36">
            <a:extLst>
              <a:ext uri="{FF2B5EF4-FFF2-40B4-BE49-F238E27FC236}">
                <a16:creationId xmlns:a16="http://schemas.microsoft.com/office/drawing/2014/main" id="{10021316-E994-43AC-A2F4-D902B962EB75}"/>
              </a:ext>
            </a:extLst>
          </p:cNvPr>
          <p:cNvSpPr>
            <a:spLocks noChangeArrowheads="1"/>
          </p:cNvSpPr>
          <p:nvPr/>
        </p:nvSpPr>
        <p:spPr bwMode="auto">
          <a:xfrm>
            <a:off x="323850" y="1701800"/>
            <a:ext cx="51244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400" dirty="0">
                <a:latin typeface="楷体_GB2312" pitchFamily="49" charset="-122"/>
                <a:ea typeface="楷体_GB2312" pitchFamily="49" charset="-122"/>
                <a:sym typeface="楷体_GB2312" pitchFamily="49" charset="-122"/>
              </a:rPr>
              <a:t>   </a:t>
            </a:r>
            <a:r>
              <a:rPr lang="zh-CN" altLang="en-US" sz="2400" dirty="0">
                <a:latin typeface="楷体_GB2312" pitchFamily="49" charset="-122"/>
                <a:ea typeface="楷体_GB2312" pitchFamily="49" charset="-122"/>
                <a:sym typeface="楷体_GB2312" pitchFamily="49" charset="-122"/>
              </a:rPr>
              <a:t>在</a:t>
            </a:r>
            <a:r>
              <a:rPr lang="zh-CN" altLang="en-US" sz="2400" dirty="0">
                <a:highlight>
                  <a:srgbClr val="FFFF00"/>
                </a:highlight>
                <a:latin typeface="楷体_GB2312" pitchFamily="49" charset="-122"/>
                <a:ea typeface="楷体_GB2312" pitchFamily="49" charset="-122"/>
                <a:sym typeface="楷体_GB2312" pitchFamily="49" charset="-122"/>
              </a:rPr>
              <a:t>轴向布置</a:t>
            </a:r>
            <a:r>
              <a:rPr lang="zh-CN" altLang="en-US" sz="2400" dirty="0">
                <a:latin typeface="楷体_GB2312" pitchFamily="49" charset="-122"/>
                <a:ea typeface="楷体_GB2312" pitchFamily="49" charset="-122"/>
                <a:sym typeface="楷体_GB2312" pitchFamily="49" charset="-122"/>
              </a:rPr>
              <a:t>一个或几个应变片，在</a:t>
            </a:r>
            <a:r>
              <a:rPr lang="zh-CN" altLang="en-US" sz="2400" dirty="0">
                <a:highlight>
                  <a:srgbClr val="FFFF00"/>
                </a:highlight>
                <a:latin typeface="楷体_GB2312" pitchFamily="49" charset="-122"/>
                <a:ea typeface="楷体_GB2312" pitchFamily="49" charset="-122"/>
                <a:sym typeface="楷体_GB2312" pitchFamily="49" charset="-122"/>
              </a:rPr>
              <a:t>圆周方向布置</a:t>
            </a:r>
            <a:r>
              <a:rPr lang="zh-CN" altLang="en-US" sz="2400" dirty="0">
                <a:latin typeface="楷体_GB2312" pitchFamily="49" charset="-122"/>
                <a:ea typeface="楷体_GB2312" pitchFamily="49" charset="-122"/>
                <a:sym typeface="楷体_GB2312" pitchFamily="49" charset="-122"/>
              </a:rPr>
              <a:t>同样数目的应变片，后者取符号相反的横向应变，从而</a:t>
            </a:r>
            <a:r>
              <a:rPr lang="zh-CN" altLang="en-US" sz="2400" dirty="0">
                <a:highlight>
                  <a:srgbClr val="FFFF00"/>
                </a:highlight>
                <a:latin typeface="楷体_GB2312" pitchFamily="49" charset="-122"/>
                <a:ea typeface="楷体_GB2312" pitchFamily="49" charset="-122"/>
                <a:sym typeface="楷体_GB2312" pitchFamily="49" charset="-122"/>
              </a:rPr>
              <a:t>构成了差动对</a:t>
            </a:r>
            <a:r>
              <a:rPr lang="zh-CN" altLang="en-US" sz="2400" dirty="0">
                <a:latin typeface="楷体_GB2312" pitchFamily="49" charset="-122"/>
                <a:ea typeface="楷体_GB2312" pitchFamily="49" charset="-122"/>
                <a:sym typeface="楷体_GB2312" pitchFamily="49" charset="-122"/>
              </a:rPr>
              <a:t>。由于应变片沿圆周方向分布，所以非轴向载荷分量被补偿，在与轴线任意夹角的</a:t>
            </a:r>
            <a:r>
              <a:rPr lang="en-US" altLang="zh-CN" sz="2400" i="1" dirty="0">
                <a:latin typeface="楷体_GB2312" pitchFamily="49" charset="-122"/>
                <a:ea typeface="楷体_GB2312" pitchFamily="49" charset="-122"/>
                <a:sym typeface="楷体_GB2312" pitchFamily="49" charset="-122"/>
              </a:rPr>
              <a:t>α</a:t>
            </a:r>
            <a:r>
              <a:rPr lang="zh-CN" altLang="en-US" sz="2400" dirty="0">
                <a:latin typeface="楷体_GB2312" pitchFamily="49" charset="-122"/>
                <a:ea typeface="楷体_GB2312" pitchFamily="49" charset="-122"/>
                <a:sym typeface="楷体_GB2312" pitchFamily="49" charset="-122"/>
              </a:rPr>
              <a:t>方向，其应变为：</a:t>
            </a:r>
            <a:endParaRPr lang="zh-CN" altLang="en-US" sz="1800" dirty="0">
              <a:latin typeface="Arial" panose="020B0604020202020204" pitchFamily="34" charset="0"/>
            </a:endParaRPr>
          </a:p>
        </p:txBody>
      </p:sp>
      <p:sp>
        <p:nvSpPr>
          <p:cNvPr id="75783" name="Text Box 38">
            <a:extLst>
              <a:ext uri="{FF2B5EF4-FFF2-40B4-BE49-F238E27FC236}">
                <a16:creationId xmlns:a16="http://schemas.microsoft.com/office/drawing/2014/main" id="{24D94A3B-849A-475A-9938-F4D320435828}"/>
              </a:ext>
            </a:extLst>
          </p:cNvPr>
          <p:cNvSpPr>
            <a:spLocks noChangeArrowheads="1"/>
          </p:cNvSpPr>
          <p:nvPr/>
        </p:nvSpPr>
        <p:spPr bwMode="auto">
          <a:xfrm>
            <a:off x="395288" y="4870450"/>
            <a:ext cx="80343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r>
              <a:rPr lang="en-US" altLang="zh-CN" sz="2400" i="1" dirty="0">
                <a:latin typeface="Times New Roman" panose="02020603050405020304" pitchFamily="18" charset="0"/>
                <a:sym typeface="Times New Roman" panose="02020603050405020304" pitchFamily="18" charset="0"/>
              </a:rPr>
              <a:t>ε</a:t>
            </a:r>
            <a:r>
              <a:rPr lang="en-US" altLang="zh-CN" sz="2400" baseline="-30000" dirty="0">
                <a:latin typeface="Times New Roman" panose="02020603050405020304" pitchFamily="18" charset="0"/>
                <a:sym typeface="Times New Roman" panose="02020603050405020304" pitchFamily="18" charset="0"/>
              </a:rPr>
              <a:t>1</a:t>
            </a:r>
            <a:r>
              <a:rPr lang="en-US" altLang="zh-CN" sz="2400" dirty="0">
                <a:latin typeface="Times New Roman" panose="02020603050405020304" pitchFamily="18" charset="0"/>
                <a:sym typeface="Times New Roman" panose="02020603050405020304" pitchFamily="18" charset="0"/>
              </a:rPr>
              <a:t>——</a:t>
            </a:r>
            <a:r>
              <a:rPr lang="zh-CN" altLang="en-US" sz="2400" dirty="0">
                <a:solidFill>
                  <a:srgbClr val="0000FF"/>
                </a:solidFill>
                <a:latin typeface="Times New Roman" panose="02020603050405020304" pitchFamily="18" charset="0"/>
                <a:sym typeface="Times New Roman" panose="02020603050405020304" pitchFamily="18" charset="0"/>
              </a:rPr>
              <a:t>弹性元件</a:t>
            </a:r>
            <a:r>
              <a:rPr lang="zh-CN" altLang="en-US" sz="2400" dirty="0">
                <a:latin typeface="Times New Roman" panose="02020603050405020304" pitchFamily="18" charset="0"/>
                <a:sym typeface="Times New Roman" panose="02020603050405020304" pitchFamily="18" charset="0"/>
              </a:rPr>
              <a:t>沿轴向的应变；</a:t>
            </a:r>
            <a:r>
              <a:rPr lang="en-US" altLang="zh-CN" sz="2400" i="1" dirty="0">
                <a:latin typeface="Times New Roman" panose="02020603050405020304" pitchFamily="18" charset="0"/>
                <a:sym typeface="Times New Roman" panose="02020603050405020304" pitchFamily="18" charset="0"/>
              </a:rPr>
              <a:t>μ</a:t>
            </a:r>
            <a:r>
              <a:rPr lang="en-US" altLang="zh-CN" sz="2400" dirty="0">
                <a:latin typeface="Times New Roman" panose="02020603050405020304" pitchFamily="18" charset="0"/>
                <a:sym typeface="Times New Roman" panose="02020603050405020304" pitchFamily="18" charset="0"/>
              </a:rPr>
              <a:t>——</a:t>
            </a:r>
            <a:r>
              <a:rPr lang="zh-CN" altLang="en-US" sz="2400" dirty="0">
                <a:solidFill>
                  <a:srgbClr val="0000FF"/>
                </a:solidFill>
                <a:latin typeface="Times New Roman" panose="02020603050405020304" pitchFamily="18" charset="0"/>
                <a:sym typeface="Times New Roman" panose="02020603050405020304" pitchFamily="18" charset="0"/>
              </a:rPr>
              <a:t>弹性元件</a:t>
            </a:r>
            <a:r>
              <a:rPr lang="zh-CN" altLang="en-US" sz="2400" dirty="0">
                <a:latin typeface="Times New Roman" panose="02020603050405020304" pitchFamily="18" charset="0"/>
                <a:sym typeface="Times New Roman" panose="02020603050405020304" pitchFamily="18" charset="0"/>
              </a:rPr>
              <a:t>的泊松比。</a:t>
            </a:r>
            <a:endParaRPr lang="zh-CN" altLang="en-US" sz="1800" dirty="0">
              <a:latin typeface="Arial" panose="020B0604020202020204" pitchFamily="34" charset="0"/>
            </a:endParaRPr>
          </a:p>
        </p:txBody>
      </p:sp>
      <p:sp>
        <p:nvSpPr>
          <p:cNvPr id="75784" name="Rectangle 39">
            <a:extLst>
              <a:ext uri="{FF2B5EF4-FFF2-40B4-BE49-F238E27FC236}">
                <a16:creationId xmlns:a16="http://schemas.microsoft.com/office/drawing/2014/main" id="{AC56D62A-4CDF-46B5-BBCE-46058A9044CF}"/>
              </a:ext>
            </a:extLst>
          </p:cNvPr>
          <p:cNvSpPr>
            <a:spLocks noChangeArrowheads="1"/>
          </p:cNvSpPr>
          <p:nvPr/>
        </p:nvSpPr>
        <p:spPr bwMode="auto">
          <a:xfrm>
            <a:off x="179388" y="5518150"/>
            <a:ext cx="1668462" cy="5175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800">
                <a:solidFill>
                  <a:srgbClr val="000000"/>
                </a:solidFill>
                <a:latin typeface="Times New Roman" panose="02020603050405020304" pitchFamily="18" charset="0"/>
                <a:sym typeface="Times New Roman" panose="02020603050405020304" pitchFamily="18" charset="0"/>
              </a:rPr>
              <a:t>当</a:t>
            </a:r>
            <a:r>
              <a:rPr lang="en-US" altLang="zh-CN" sz="2800" i="1">
                <a:solidFill>
                  <a:srgbClr val="000000"/>
                </a:solidFill>
                <a:latin typeface="Times New Roman" panose="02020603050405020304" pitchFamily="18" charset="0"/>
                <a:sym typeface="Times New Roman" panose="02020603050405020304" pitchFamily="18" charset="0"/>
              </a:rPr>
              <a:t>α=</a:t>
            </a:r>
            <a:r>
              <a:rPr lang="en-US" altLang="zh-CN" sz="2800">
                <a:solidFill>
                  <a:srgbClr val="000000"/>
                </a:solidFill>
                <a:latin typeface="Times New Roman" panose="02020603050405020304" pitchFamily="18" charset="0"/>
                <a:sym typeface="Times New Roman" panose="02020603050405020304" pitchFamily="18" charset="0"/>
              </a:rPr>
              <a:t>0</a:t>
            </a:r>
            <a:r>
              <a:rPr lang="zh-CN" altLang="en-US" sz="2800">
                <a:solidFill>
                  <a:srgbClr val="000000"/>
                </a:solidFill>
                <a:latin typeface="Times New Roman" panose="02020603050405020304" pitchFamily="18" charset="0"/>
                <a:sym typeface="Times New Roman" panose="02020603050405020304" pitchFamily="18" charset="0"/>
              </a:rPr>
              <a:t>时</a:t>
            </a:r>
            <a:endParaRPr lang="zh-CN" altLang="en-US" sz="1800">
              <a:latin typeface="Arial" panose="020B0604020202020204" pitchFamily="34" charset="0"/>
            </a:endParaRPr>
          </a:p>
        </p:txBody>
      </p:sp>
      <p:pic>
        <p:nvPicPr>
          <p:cNvPr id="75785" name="Object 9">
            <a:extLst>
              <a:ext uri="{FF2B5EF4-FFF2-40B4-BE49-F238E27FC236}">
                <a16:creationId xmlns:a16="http://schemas.microsoft.com/office/drawing/2014/main" id="{A80EFD83-F940-4510-B45F-817E248744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5445125"/>
            <a:ext cx="15795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6" name="Rectangle 41">
            <a:extLst>
              <a:ext uri="{FF2B5EF4-FFF2-40B4-BE49-F238E27FC236}">
                <a16:creationId xmlns:a16="http://schemas.microsoft.com/office/drawing/2014/main" id="{8CDDF1E7-38F8-4563-B307-5812D4110F4D}"/>
              </a:ext>
            </a:extLst>
          </p:cNvPr>
          <p:cNvSpPr>
            <a:spLocks noChangeArrowheads="1"/>
          </p:cNvSpPr>
          <p:nvPr/>
        </p:nvSpPr>
        <p:spPr bwMode="auto">
          <a:xfrm>
            <a:off x="3708400" y="5518150"/>
            <a:ext cx="19637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2800">
                <a:solidFill>
                  <a:srgbClr val="000000"/>
                </a:solidFill>
                <a:latin typeface="Times New Roman" panose="02020603050405020304" pitchFamily="18" charset="0"/>
                <a:sym typeface="Times New Roman" panose="02020603050405020304" pitchFamily="18" charset="0"/>
              </a:rPr>
              <a:t>当</a:t>
            </a:r>
            <a:r>
              <a:rPr lang="en-US" altLang="zh-CN" sz="2800" i="1">
                <a:solidFill>
                  <a:srgbClr val="000000"/>
                </a:solidFill>
                <a:latin typeface="Times New Roman" panose="02020603050405020304" pitchFamily="18" charset="0"/>
                <a:sym typeface="Times New Roman" panose="02020603050405020304" pitchFamily="18" charset="0"/>
              </a:rPr>
              <a:t>α=</a:t>
            </a:r>
            <a:r>
              <a:rPr lang="en-US" altLang="zh-CN" sz="2800">
                <a:solidFill>
                  <a:srgbClr val="000000"/>
                </a:solidFill>
                <a:latin typeface="Times New Roman" panose="02020603050405020304" pitchFamily="18" charset="0"/>
                <a:sym typeface="Times New Roman" panose="02020603050405020304" pitchFamily="18" charset="0"/>
              </a:rPr>
              <a:t>90˚</a:t>
            </a:r>
            <a:r>
              <a:rPr lang="zh-CN" altLang="en-US" sz="2800">
                <a:solidFill>
                  <a:srgbClr val="000000"/>
                </a:solidFill>
                <a:latin typeface="Times New Roman" panose="02020603050405020304" pitchFamily="18" charset="0"/>
                <a:sym typeface="Times New Roman" panose="02020603050405020304" pitchFamily="18" charset="0"/>
              </a:rPr>
              <a:t>时</a:t>
            </a:r>
            <a:endParaRPr lang="zh-CN" altLang="en-US" sz="1800">
              <a:latin typeface="Arial" panose="020B0604020202020204" pitchFamily="34" charset="0"/>
            </a:endParaRPr>
          </a:p>
        </p:txBody>
      </p:sp>
      <p:pic>
        <p:nvPicPr>
          <p:cNvPr id="75787" name="Object 11">
            <a:extLst>
              <a:ext uri="{FF2B5EF4-FFF2-40B4-BE49-F238E27FC236}">
                <a16:creationId xmlns:a16="http://schemas.microsoft.com/office/drawing/2014/main" id="{1BD6E01F-ED9C-466F-9338-415C08EF8C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5445125"/>
            <a:ext cx="295275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8" name="Picture 44">
            <a:extLst>
              <a:ext uri="{FF2B5EF4-FFF2-40B4-BE49-F238E27FC236}">
                <a16:creationId xmlns:a16="http://schemas.microsoft.com/office/drawing/2014/main" id="{A5A8AEEB-EE43-4352-9F26-C49C49A1CA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1225" y="1905000"/>
            <a:ext cx="294322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9" name="Text Box 45">
            <a:extLst>
              <a:ext uri="{FF2B5EF4-FFF2-40B4-BE49-F238E27FC236}">
                <a16:creationId xmlns:a16="http://schemas.microsoft.com/office/drawing/2014/main" id="{28BDAC08-8E8D-40E8-A79F-8D410C1FD3DB}"/>
              </a:ext>
            </a:extLst>
          </p:cNvPr>
          <p:cNvSpPr>
            <a:spLocks noChangeArrowheads="1"/>
          </p:cNvSpPr>
          <p:nvPr/>
        </p:nvSpPr>
        <p:spPr bwMode="auto">
          <a:xfrm>
            <a:off x="6442075" y="3975100"/>
            <a:ext cx="2520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Arial" panose="020B0604020202020204" pitchFamily="34" charset="0"/>
                <a:ea typeface="楷体_GB2312" pitchFamily="49" charset="-122"/>
              </a:rPr>
              <a:t>柱力式传感器</a:t>
            </a:r>
            <a:endParaRPr lang="zh-CN" altLang="en-US" sz="1800">
              <a:latin typeface="Arial" panose="020B0604020202020204" pitchFamily="34" charset="0"/>
            </a:endParaRPr>
          </a:p>
        </p:txBody>
      </p:sp>
      <p:pic>
        <p:nvPicPr>
          <p:cNvPr id="75790" name="Object 14">
            <a:extLst>
              <a:ext uri="{FF2B5EF4-FFF2-40B4-BE49-F238E27FC236}">
                <a16:creationId xmlns:a16="http://schemas.microsoft.com/office/drawing/2014/main" id="{B170D539-3D06-4155-9C3F-D56D7A7DD6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878" y="3941763"/>
            <a:ext cx="4456113"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4D04DED3-903C-4666-85FB-159245B6D2CF}"/>
              </a:ext>
            </a:extLst>
          </p:cNvPr>
          <p:cNvSpPr/>
          <p:nvPr/>
        </p:nvSpPr>
        <p:spPr>
          <a:xfrm>
            <a:off x="1187765" y="6250087"/>
            <a:ext cx="4830168" cy="400110"/>
          </a:xfrm>
          <a:prstGeom prst="rect">
            <a:avLst/>
          </a:prstGeom>
        </p:spPr>
        <p:txBody>
          <a:bodyPr wrap="none">
            <a:spAutoFit/>
          </a:bodyPr>
          <a:lstStyle/>
          <a:p>
            <a:r>
              <a:rPr lang="zh-CN" altLang="en-US" sz="2000" b="1" dirty="0">
                <a:solidFill>
                  <a:srgbClr val="00B0F0"/>
                </a:solidFill>
              </a:rPr>
              <a:t>思考：如何使电阻变化量的绝对值相同？</a:t>
            </a:r>
          </a:p>
        </p:txBody>
      </p:sp>
      <p:sp>
        <p:nvSpPr>
          <p:cNvPr id="16" name="矩形 15">
            <a:extLst>
              <a:ext uri="{FF2B5EF4-FFF2-40B4-BE49-F238E27FC236}">
                <a16:creationId xmlns:a16="http://schemas.microsoft.com/office/drawing/2014/main" id="{41D06AA1-767A-4907-8478-A41166A47DD3}"/>
              </a:ext>
            </a:extLst>
          </p:cNvPr>
          <p:cNvSpPr/>
          <p:nvPr/>
        </p:nvSpPr>
        <p:spPr>
          <a:xfrm>
            <a:off x="5846763" y="6250087"/>
            <a:ext cx="2323072" cy="400110"/>
          </a:xfrm>
          <a:prstGeom prst="rect">
            <a:avLst/>
          </a:prstGeom>
        </p:spPr>
        <p:txBody>
          <a:bodyPr wrap="none">
            <a:spAutoFit/>
          </a:bodyPr>
          <a:lstStyle/>
          <a:p>
            <a:r>
              <a:rPr lang="en-US" altLang="zh-CN" sz="2000" b="1" dirty="0">
                <a:solidFill>
                  <a:srgbClr val="00B050"/>
                </a:solidFill>
              </a:rPr>
              <a:t>TIP</a:t>
            </a:r>
            <a:r>
              <a:rPr lang="zh-CN" altLang="en-US" sz="2000" b="1" dirty="0">
                <a:solidFill>
                  <a:srgbClr val="00B050"/>
                </a:solidFill>
              </a:rPr>
              <a:t>：应变片灵敏度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6"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矩形 4">
            <a:extLst>
              <a:ext uri="{FF2B5EF4-FFF2-40B4-BE49-F238E27FC236}">
                <a16:creationId xmlns:a16="http://schemas.microsoft.com/office/drawing/2014/main" id="{BFD515D8-C2F7-4FDB-960D-888DCFB1FF70}"/>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6803" name="灯片编号占位符 3">
            <a:extLst>
              <a:ext uri="{FF2B5EF4-FFF2-40B4-BE49-F238E27FC236}">
                <a16:creationId xmlns:a16="http://schemas.microsoft.com/office/drawing/2014/main" id="{4D86E73C-A70E-4CDE-BEF0-73A7218458F4}"/>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42637920-B650-4FFD-93D1-BF26781AD1E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73</a:t>
            </a:fld>
            <a:endParaRPr lang="en-US" altLang="zh-CN" sz="1400">
              <a:latin typeface="Arial" panose="020B0604020202020204" pitchFamily="34" charset="0"/>
            </a:endParaRPr>
          </a:p>
        </p:txBody>
      </p:sp>
      <p:sp>
        <p:nvSpPr>
          <p:cNvPr id="76804" name="TextBox 5">
            <a:extLst>
              <a:ext uri="{FF2B5EF4-FFF2-40B4-BE49-F238E27FC236}">
                <a16:creationId xmlns:a16="http://schemas.microsoft.com/office/drawing/2014/main" id="{247FFC05-E021-4490-A2A2-5467C7031958}"/>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.2</a:t>
            </a:r>
            <a:r>
              <a:rPr lang="zh-CN" altLang="en-US" b="1">
                <a:solidFill>
                  <a:srgbClr val="CC0000"/>
                </a:solidFill>
                <a:latin typeface="楷体_GB2312" pitchFamily="49" charset="-122"/>
                <a:ea typeface="楷体_GB2312" pitchFamily="49" charset="-122"/>
                <a:sym typeface="楷体_GB2312" pitchFamily="49" charset="-122"/>
              </a:rPr>
              <a:t> 梁式力传感器</a:t>
            </a:r>
            <a:endParaRPr lang="zh-CN" altLang="en-US" sz="1800">
              <a:latin typeface="Arial" panose="020B0604020202020204" pitchFamily="34" charset="0"/>
            </a:endParaRPr>
          </a:p>
        </p:txBody>
      </p:sp>
      <p:grpSp>
        <p:nvGrpSpPr>
          <p:cNvPr id="76805" name="Group 7">
            <a:extLst>
              <a:ext uri="{FF2B5EF4-FFF2-40B4-BE49-F238E27FC236}">
                <a16:creationId xmlns:a16="http://schemas.microsoft.com/office/drawing/2014/main" id="{69A33AF1-E93A-4B48-8454-A36ACE7E5083}"/>
              </a:ext>
            </a:extLst>
          </p:cNvPr>
          <p:cNvGrpSpPr>
            <a:grpSpLocks/>
          </p:cNvGrpSpPr>
          <p:nvPr/>
        </p:nvGrpSpPr>
        <p:grpSpPr bwMode="auto">
          <a:xfrm>
            <a:off x="5377790" y="2389187"/>
            <a:ext cx="3554412" cy="3184525"/>
            <a:chOff x="0" y="0"/>
            <a:chExt cx="2239" cy="2007"/>
          </a:xfrm>
        </p:grpSpPr>
        <p:pic>
          <p:nvPicPr>
            <p:cNvPr id="76808" name="Picture 5">
              <a:extLst>
                <a:ext uri="{FF2B5EF4-FFF2-40B4-BE49-F238E27FC236}">
                  <a16:creationId xmlns:a16="http://schemas.microsoft.com/office/drawing/2014/main" id="{2E43D89E-03B6-47B5-80BD-F6F1075414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950" cy="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9" name="Text Box 6">
              <a:extLst>
                <a:ext uri="{FF2B5EF4-FFF2-40B4-BE49-F238E27FC236}">
                  <a16:creationId xmlns:a16="http://schemas.microsoft.com/office/drawing/2014/main" id="{16B2ACE4-5428-4FB1-991E-757016D8DB3E}"/>
                </a:ext>
              </a:extLst>
            </p:cNvPr>
            <p:cNvSpPr>
              <a:spLocks noChangeArrowheads="1"/>
            </p:cNvSpPr>
            <p:nvPr/>
          </p:nvSpPr>
          <p:spPr bwMode="auto">
            <a:xfrm>
              <a:off x="340" y="1757"/>
              <a:ext cx="189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000">
                  <a:latin typeface="Arial" panose="020B0604020202020204" pitchFamily="34" charset="0"/>
                  <a:ea typeface="楷体_GB2312" pitchFamily="49" charset="-122"/>
                </a:rPr>
                <a:t>等强度梁弹性元件</a:t>
              </a:r>
              <a:endParaRPr lang="zh-CN" altLang="en-US" sz="1800">
                <a:latin typeface="Arial" panose="020B0604020202020204" pitchFamily="34" charset="0"/>
              </a:endParaRPr>
            </a:p>
          </p:txBody>
        </p:sp>
      </p:grpSp>
      <p:sp>
        <p:nvSpPr>
          <p:cNvPr id="76806" name="Rectangle 8">
            <a:extLst>
              <a:ext uri="{FF2B5EF4-FFF2-40B4-BE49-F238E27FC236}">
                <a16:creationId xmlns:a16="http://schemas.microsoft.com/office/drawing/2014/main" id="{2DF4109C-030C-4DB3-82E6-C81230BA0392}"/>
              </a:ext>
            </a:extLst>
          </p:cNvPr>
          <p:cNvSpPr>
            <a:spLocks noChangeArrowheads="1"/>
          </p:cNvSpPr>
          <p:nvPr/>
        </p:nvSpPr>
        <p:spPr bwMode="auto">
          <a:xfrm>
            <a:off x="466725" y="1196975"/>
            <a:ext cx="8415338" cy="1041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en-US" altLang="zh-CN" sz="2400" dirty="0">
                <a:solidFill>
                  <a:srgbClr val="000000"/>
                </a:solidFill>
                <a:latin typeface="楷体_GB2312" pitchFamily="49" charset="-122"/>
                <a:ea typeface="楷体_GB2312" pitchFamily="49" charset="-122"/>
                <a:sym typeface="楷体_GB2312" pitchFamily="49" charset="-122"/>
              </a:rPr>
              <a:t>   </a:t>
            </a:r>
            <a:r>
              <a:rPr lang="zh-CN" altLang="en-US" sz="2400" dirty="0">
                <a:solidFill>
                  <a:srgbClr val="0000FF"/>
                </a:solidFill>
                <a:latin typeface="楷体_GB2312" pitchFamily="49" charset="-122"/>
                <a:ea typeface="楷体_GB2312" pitchFamily="49" charset="-122"/>
                <a:sym typeface="楷体_GB2312" pitchFamily="49" charset="-122"/>
              </a:rPr>
              <a:t>等强度梁</a:t>
            </a:r>
            <a:r>
              <a:rPr lang="zh-CN" altLang="en-US" sz="2400" dirty="0">
                <a:solidFill>
                  <a:srgbClr val="000000"/>
                </a:solidFill>
                <a:latin typeface="楷体_GB2312" pitchFamily="49" charset="-122"/>
                <a:ea typeface="楷体_GB2312" pitchFamily="49" charset="-122"/>
                <a:sym typeface="楷体_GB2312" pitchFamily="49" charset="-122"/>
              </a:rPr>
              <a:t>弹性元件是一种特殊形式的</a:t>
            </a:r>
            <a:r>
              <a:rPr lang="zh-CN" altLang="en-US" sz="2400" dirty="0">
                <a:solidFill>
                  <a:srgbClr val="FF0000"/>
                </a:solidFill>
                <a:highlight>
                  <a:srgbClr val="FFFF00"/>
                </a:highlight>
                <a:latin typeface="楷体_GB2312" pitchFamily="49" charset="-122"/>
                <a:ea typeface="楷体_GB2312" pitchFamily="49" charset="-122"/>
                <a:sym typeface="楷体_GB2312" pitchFamily="49" charset="-122"/>
              </a:rPr>
              <a:t>悬臂梁</a:t>
            </a:r>
            <a:r>
              <a:rPr lang="zh-CN" altLang="en-US" sz="2400" dirty="0">
                <a:solidFill>
                  <a:srgbClr val="000000"/>
                </a:solidFill>
                <a:latin typeface="楷体_GB2312" pitchFamily="49" charset="-122"/>
                <a:ea typeface="楷体_GB2312" pitchFamily="49" charset="-122"/>
                <a:sym typeface="楷体_GB2312" pitchFamily="49" charset="-122"/>
              </a:rPr>
              <a:t>，如图所示。梁的固定端宽度为</a:t>
            </a:r>
            <a:r>
              <a:rPr lang="en-US" altLang="zh-CN" sz="2400" i="1" dirty="0">
                <a:solidFill>
                  <a:srgbClr val="000000"/>
                </a:solidFill>
                <a:latin typeface="楷体_GB2312" pitchFamily="49" charset="-122"/>
                <a:ea typeface="楷体_GB2312" pitchFamily="49" charset="-122"/>
                <a:sym typeface="楷体_GB2312" pitchFamily="49" charset="-122"/>
              </a:rPr>
              <a:t>b</a:t>
            </a:r>
            <a:r>
              <a:rPr lang="en-US" altLang="zh-CN" sz="2400" baseline="-25000" dirty="0">
                <a:solidFill>
                  <a:srgbClr val="000000"/>
                </a:solidFill>
                <a:latin typeface="楷体_GB2312" pitchFamily="49" charset="-122"/>
                <a:ea typeface="楷体_GB2312" pitchFamily="49" charset="-122"/>
                <a:sym typeface="楷体_GB2312" pitchFamily="49" charset="-122"/>
              </a:rPr>
              <a:t>0</a:t>
            </a:r>
            <a:r>
              <a:rPr lang="zh-CN" altLang="en-US" sz="2400" dirty="0">
                <a:solidFill>
                  <a:srgbClr val="000000"/>
                </a:solidFill>
                <a:latin typeface="楷体_GB2312" pitchFamily="49" charset="-122"/>
                <a:ea typeface="楷体_GB2312" pitchFamily="49" charset="-122"/>
                <a:sym typeface="楷体_GB2312" pitchFamily="49" charset="-122"/>
              </a:rPr>
              <a:t>，自由端宽度为</a:t>
            </a:r>
            <a:r>
              <a:rPr lang="en-US" altLang="zh-CN" sz="2400" i="1" dirty="0">
                <a:solidFill>
                  <a:srgbClr val="000000"/>
                </a:solidFill>
                <a:latin typeface="楷体_GB2312" pitchFamily="49" charset="-122"/>
                <a:ea typeface="楷体_GB2312" pitchFamily="49" charset="-122"/>
                <a:sym typeface="楷体_GB2312" pitchFamily="49" charset="-122"/>
              </a:rPr>
              <a:t>b</a:t>
            </a:r>
            <a:r>
              <a:rPr lang="zh-CN" altLang="en-US" sz="2400" dirty="0">
                <a:solidFill>
                  <a:srgbClr val="000000"/>
                </a:solidFill>
                <a:latin typeface="楷体_GB2312" pitchFamily="49" charset="-122"/>
                <a:ea typeface="楷体_GB2312" pitchFamily="49" charset="-122"/>
                <a:sym typeface="楷体_GB2312" pitchFamily="49" charset="-122"/>
              </a:rPr>
              <a:t>，梁长为</a:t>
            </a:r>
            <a:r>
              <a:rPr lang="en-US" altLang="zh-CN" sz="2400" i="1" dirty="0">
                <a:solidFill>
                  <a:srgbClr val="000000"/>
                </a:solidFill>
                <a:latin typeface="楷体_GB2312" pitchFamily="49" charset="-122"/>
                <a:ea typeface="楷体_GB2312" pitchFamily="49" charset="-122"/>
                <a:sym typeface="楷体_GB2312" pitchFamily="49" charset="-122"/>
              </a:rPr>
              <a:t>L</a:t>
            </a:r>
            <a:r>
              <a:rPr lang="zh-CN" altLang="en-US" sz="2400" dirty="0">
                <a:solidFill>
                  <a:srgbClr val="000000"/>
                </a:solidFill>
                <a:latin typeface="楷体_GB2312" pitchFamily="49" charset="-122"/>
                <a:ea typeface="楷体_GB2312" pitchFamily="49" charset="-122"/>
                <a:sym typeface="楷体_GB2312" pitchFamily="49" charset="-122"/>
              </a:rPr>
              <a:t>，粱厚为</a:t>
            </a:r>
            <a:r>
              <a:rPr lang="en-US" altLang="zh-CN" sz="2400" i="1" dirty="0">
                <a:solidFill>
                  <a:srgbClr val="000000"/>
                </a:solidFill>
                <a:latin typeface="楷体_GB2312" pitchFamily="49" charset="-122"/>
                <a:ea typeface="楷体_GB2312" pitchFamily="49" charset="-122"/>
                <a:sym typeface="楷体_GB2312" pitchFamily="49" charset="-122"/>
              </a:rPr>
              <a:t>h</a:t>
            </a:r>
            <a:r>
              <a:rPr lang="zh-CN" altLang="en-US" sz="2400" dirty="0">
                <a:solidFill>
                  <a:srgbClr val="000000"/>
                </a:solidFill>
                <a:latin typeface="楷体_GB2312" pitchFamily="49" charset="-122"/>
                <a:ea typeface="楷体_GB2312" pitchFamily="49" charset="-122"/>
                <a:sym typeface="楷体_GB2312" pitchFamily="49" charset="-122"/>
              </a:rPr>
              <a:t>。</a:t>
            </a:r>
            <a:endParaRPr lang="zh-CN" altLang="en-US" sz="1800" dirty="0">
              <a:latin typeface="Arial" panose="020B0604020202020204" pitchFamily="34" charset="0"/>
            </a:endParaRPr>
          </a:p>
        </p:txBody>
      </p:sp>
      <p:sp>
        <p:nvSpPr>
          <p:cNvPr id="76807" name="Rectangle 9">
            <a:extLst>
              <a:ext uri="{FF2B5EF4-FFF2-40B4-BE49-F238E27FC236}">
                <a16:creationId xmlns:a16="http://schemas.microsoft.com/office/drawing/2014/main" id="{4F6C48D4-6EE4-4E92-8A81-3F7869EC67CF}"/>
              </a:ext>
            </a:extLst>
          </p:cNvPr>
          <p:cNvSpPr>
            <a:spLocks noChangeArrowheads="1"/>
          </p:cNvSpPr>
          <p:nvPr/>
        </p:nvSpPr>
        <p:spPr bwMode="auto">
          <a:xfrm>
            <a:off x="466725" y="2398583"/>
            <a:ext cx="4668838" cy="294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50000"/>
              </a:spcBef>
              <a:buFont typeface="Arial" panose="020B0604020202020204" pitchFamily="34" charset="0"/>
              <a:buNone/>
            </a:pPr>
            <a:r>
              <a:rPr lang="zh-CN" altLang="en-US" sz="2400" dirty="0">
                <a:solidFill>
                  <a:srgbClr val="000000"/>
                </a:solidFill>
                <a:latin typeface="楷体_GB2312" pitchFamily="49" charset="-122"/>
                <a:ea typeface="楷体_GB2312" pitchFamily="49" charset="-122"/>
                <a:sym typeface="楷体_GB2312" pitchFamily="49" charset="-122"/>
              </a:rPr>
              <a:t>这种弹性元件的特点是：其截面沿梁长方向按一定规律变化，</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当力</a:t>
            </a:r>
            <a:r>
              <a:rPr lang="en-US" altLang="zh-CN" sz="2400" dirty="0">
                <a:solidFill>
                  <a:srgbClr val="000000"/>
                </a:solidFill>
                <a:highlight>
                  <a:srgbClr val="FFFF00"/>
                </a:highlight>
                <a:latin typeface="楷体_GB2312" pitchFamily="49" charset="-122"/>
                <a:ea typeface="楷体_GB2312" pitchFamily="49" charset="-122"/>
                <a:sym typeface="楷体_GB2312" pitchFamily="49" charset="-122"/>
              </a:rPr>
              <a:t>F</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作用于梁端三角形顶点上，梁内</a:t>
            </a:r>
            <a:r>
              <a:rPr lang="zh-CN" altLang="en-US" sz="2400" dirty="0">
                <a:solidFill>
                  <a:srgbClr val="0000FF"/>
                </a:solidFill>
                <a:highlight>
                  <a:srgbClr val="FFFF00"/>
                </a:highlight>
                <a:latin typeface="楷体_GB2312" pitchFamily="49" charset="-122"/>
                <a:ea typeface="楷体_GB2312" pitchFamily="49" charset="-122"/>
                <a:sym typeface="楷体_GB2312" pitchFamily="49" charset="-122"/>
              </a:rPr>
              <a:t>各断面产生的应力相等</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，故在对</a:t>
            </a:r>
            <a:r>
              <a:rPr lang="en-US" altLang="zh-CN" sz="2400" dirty="0">
                <a:solidFill>
                  <a:srgbClr val="000000"/>
                </a:solidFill>
                <a:highlight>
                  <a:srgbClr val="FFFF00"/>
                </a:highlight>
                <a:latin typeface="楷体_GB2312" pitchFamily="49" charset="-122"/>
                <a:ea typeface="楷体_GB2312" pitchFamily="49" charset="-122"/>
                <a:sym typeface="楷体_GB2312" pitchFamily="49" charset="-122"/>
              </a:rPr>
              <a:t>L</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方向上粘贴应变片位置要求不严。</a:t>
            </a:r>
            <a:endParaRPr lang="zh-CN" altLang="en-US" sz="1800" dirty="0">
              <a:highlight>
                <a:srgbClr val="FFFF00"/>
              </a:highlight>
              <a:latin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E17B6A2-8F0C-424D-9B50-7B7268D70166}"/>
                  </a:ext>
                </a:extLst>
              </p:cNvPr>
              <p:cNvSpPr txBox="1"/>
              <p:nvPr/>
            </p:nvSpPr>
            <p:spPr>
              <a:xfrm>
                <a:off x="1793074" y="5705947"/>
                <a:ext cx="2016140" cy="855362"/>
              </a:xfrm>
              <a:prstGeom prst="rect">
                <a:avLst/>
              </a:prstGeom>
              <a:noFill/>
            </p:spPr>
            <p:txBody>
              <a:bodyPr wrap="square" lIns="0" tIns="0" rIns="0" bIns="0" rtlCol="0">
                <a:spAutoFit/>
              </a:bodyPr>
              <a:lstStyle/>
              <a:p>
                <a14:m>
                  <m:oMath xmlns:m="http://schemas.openxmlformats.org/officeDocument/2006/math">
                    <m:r>
                      <a:rPr lang="zh-CN" altLang="en-US" sz="3600" i="1" smtClean="0">
                        <a:latin typeface="Cambria Math" panose="02040503050406030204" pitchFamily="18" charset="0"/>
                      </a:rPr>
                      <m:t>𝜀</m:t>
                    </m:r>
                  </m:oMath>
                </a14:m>
                <a:r>
                  <a:rPr lang="en-US" altLang="zh-CN" sz="3600" dirty="0"/>
                  <a:t>= </a:t>
                </a:r>
                <a14:m>
                  <m:oMath xmlns:m="http://schemas.openxmlformats.org/officeDocument/2006/math">
                    <m:f>
                      <m:fPr>
                        <m:ctrlPr>
                          <a:rPr lang="en-US" altLang="zh-CN" sz="3600" i="1" smtClean="0">
                            <a:latin typeface="Cambria Math" panose="02040503050406030204" pitchFamily="18" charset="0"/>
                          </a:rPr>
                        </m:ctrlPr>
                      </m:fPr>
                      <m:num>
                        <m:r>
                          <a:rPr lang="en-US" altLang="zh-CN" sz="3600" b="0" i="1" smtClean="0">
                            <a:latin typeface="Cambria Math" panose="02040503050406030204" pitchFamily="18" charset="0"/>
                          </a:rPr>
                          <m:t>6</m:t>
                        </m:r>
                        <m:r>
                          <a:rPr lang="en-US" altLang="zh-CN" sz="3600" b="0" i="1" smtClean="0">
                            <a:latin typeface="Cambria Math" panose="02040503050406030204" pitchFamily="18" charset="0"/>
                          </a:rPr>
                          <m:t>𝐹𝑥</m:t>
                        </m:r>
                      </m:num>
                      <m:den>
                        <m:sSub>
                          <m:sSubPr>
                            <m:ctrlPr>
                              <a:rPr lang="en-US" altLang="zh-CN" sz="3600" i="1" smtClean="0">
                                <a:latin typeface="Cambria Math" panose="02040503050406030204" pitchFamily="18" charset="0"/>
                              </a:rPr>
                            </m:ctrlPr>
                          </m:sSubPr>
                          <m:e>
                            <m:r>
                              <a:rPr lang="en-US" altLang="zh-CN" sz="3600" i="1">
                                <a:latin typeface="Cambria Math" panose="02040503050406030204" pitchFamily="18" charset="0"/>
                              </a:rPr>
                              <m:t>𝑏</m:t>
                            </m:r>
                          </m:e>
                          <m:sub>
                            <m:r>
                              <a:rPr lang="en-US" altLang="zh-CN" sz="3600" b="0" i="1" smtClean="0">
                                <a:latin typeface="Cambria Math" panose="02040503050406030204" pitchFamily="18" charset="0"/>
                              </a:rPr>
                              <m:t>𝑥</m:t>
                            </m:r>
                          </m:sub>
                        </m:sSub>
                        <m:sSup>
                          <m:sSupPr>
                            <m:ctrlPr>
                              <a:rPr lang="en-US" altLang="zh-CN" sz="3600" i="1" smtClean="0">
                                <a:latin typeface="Cambria Math" panose="02040503050406030204" pitchFamily="18" charset="0"/>
                              </a:rPr>
                            </m:ctrlPr>
                          </m:sSupPr>
                          <m:e>
                            <m:r>
                              <a:rPr lang="en-US" altLang="zh-CN" sz="3600" b="0" i="1" smtClean="0">
                                <a:latin typeface="Cambria Math" panose="02040503050406030204" pitchFamily="18" charset="0"/>
                              </a:rPr>
                              <m:t>h</m:t>
                            </m:r>
                          </m:e>
                          <m:sup>
                            <m:r>
                              <a:rPr lang="en-US" altLang="zh-CN" sz="3600" b="0" i="1" smtClean="0">
                                <a:latin typeface="Cambria Math" panose="02040503050406030204" pitchFamily="18" charset="0"/>
                              </a:rPr>
                              <m:t>2</m:t>
                            </m:r>
                          </m:sup>
                        </m:sSup>
                        <m:r>
                          <a:rPr lang="en-US" altLang="zh-CN" sz="3600" b="0" i="1" smtClean="0">
                            <a:latin typeface="Cambria Math" panose="02040503050406030204" pitchFamily="18" charset="0"/>
                          </a:rPr>
                          <m:t>𝐸</m:t>
                        </m:r>
                      </m:den>
                    </m:f>
                  </m:oMath>
                </a14:m>
                <a:endParaRPr lang="zh-CN" altLang="en-US" sz="3600" dirty="0"/>
              </a:p>
            </p:txBody>
          </p:sp>
        </mc:Choice>
        <mc:Fallback xmlns="">
          <p:sp>
            <p:nvSpPr>
              <p:cNvPr id="2" name="文本框 1">
                <a:extLst>
                  <a:ext uri="{FF2B5EF4-FFF2-40B4-BE49-F238E27FC236}">
                    <a16:creationId xmlns:a16="http://schemas.microsoft.com/office/drawing/2014/main" id="{9E17B6A2-8F0C-424D-9B50-7B7268D70166}"/>
                  </a:ext>
                </a:extLst>
              </p:cNvPr>
              <p:cNvSpPr txBox="1">
                <a:spLocks noRot="1" noChangeAspect="1" noMove="1" noResize="1" noEditPoints="1" noAdjustHandles="1" noChangeArrowheads="1" noChangeShapeType="1" noTextEdit="1"/>
              </p:cNvSpPr>
              <p:nvPr/>
            </p:nvSpPr>
            <p:spPr>
              <a:xfrm>
                <a:off x="1793074" y="5705947"/>
                <a:ext cx="2016140" cy="855362"/>
              </a:xfrm>
              <a:prstGeom prst="rect">
                <a:avLst/>
              </a:prstGeom>
              <a:blipFill>
                <a:blip r:embed="rId3"/>
                <a:stretch>
                  <a:fillRect l="-2417" t="-2143" b="-11429"/>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25A77137-0593-4C3C-BCB2-E25240A2EC71}"/>
              </a:ext>
            </a:extLst>
          </p:cNvPr>
          <p:cNvSpPr/>
          <p:nvPr/>
        </p:nvSpPr>
        <p:spPr>
          <a:xfrm>
            <a:off x="1561044" y="5032731"/>
            <a:ext cx="2643672" cy="461665"/>
          </a:xfrm>
          <a:prstGeom prst="rect">
            <a:avLst/>
          </a:prstGeom>
        </p:spPr>
        <p:txBody>
          <a:bodyPr wrap="none">
            <a:spAutoFit/>
          </a:bodyPr>
          <a:lstStyle/>
          <a:p>
            <a:r>
              <a:rPr lang="en-US" altLang="zh-CN" sz="2400" dirty="0">
                <a:solidFill>
                  <a:srgbClr val="000000"/>
                </a:solidFill>
                <a:latin typeface="楷体_GB2312" pitchFamily="49" charset="-122"/>
                <a:ea typeface="楷体_GB2312" pitchFamily="49" charset="-122"/>
                <a:sym typeface="楷体_GB2312" pitchFamily="49" charset="-122"/>
              </a:rPr>
              <a:t> </a:t>
            </a:r>
            <a:r>
              <a:rPr lang="en-US" altLang="zh-CN" sz="2400" i="1" dirty="0">
                <a:solidFill>
                  <a:srgbClr val="0000FF"/>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x </a:t>
            </a:r>
            <a:r>
              <a:rPr lang="zh-CN" altLang="en-US" sz="2400" dirty="0">
                <a:solidFill>
                  <a:srgbClr val="0000FF"/>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长度处应变为</a:t>
            </a:r>
            <a:r>
              <a:rPr lang="zh-CN" altLang="en-US" sz="2400" i="1" dirty="0">
                <a:solidFill>
                  <a:srgbClr val="0000FF"/>
                </a:solidFill>
                <a:latin typeface="Times New Roman" panose="02020603050405020304" pitchFamily="18" charset="0"/>
                <a:ea typeface="楷体_GB2312" pitchFamily="49" charset="-122"/>
                <a:cs typeface="Times New Roman" panose="02020603050405020304" pitchFamily="18" charset="0"/>
                <a:sym typeface="楷体_GB2312" pitchFamily="49" charset="-122"/>
              </a:rPr>
              <a:t>：</a:t>
            </a:r>
            <a:endParaRPr lang="zh-CN" altLang="en-US" sz="2400" dirty="0"/>
          </a:p>
        </p:txBody>
      </p:sp>
      <p:sp>
        <p:nvSpPr>
          <p:cNvPr id="12" name="矩形 11">
            <a:extLst>
              <a:ext uri="{FF2B5EF4-FFF2-40B4-BE49-F238E27FC236}">
                <a16:creationId xmlns:a16="http://schemas.microsoft.com/office/drawing/2014/main" id="{060E71F9-454C-4DB6-A918-BE0389D6451B}"/>
              </a:ext>
            </a:extLst>
          </p:cNvPr>
          <p:cNvSpPr/>
          <p:nvPr/>
        </p:nvSpPr>
        <p:spPr>
          <a:xfrm>
            <a:off x="5917540" y="5779685"/>
            <a:ext cx="2137595" cy="707886"/>
          </a:xfrm>
          <a:prstGeom prst="rect">
            <a:avLst/>
          </a:prstGeom>
        </p:spPr>
        <p:txBody>
          <a:bodyPr wrap="square">
            <a:spAutoFit/>
          </a:bodyPr>
          <a:lstStyle/>
          <a:p>
            <a:r>
              <a:rPr lang="zh-CN" altLang="en-US" sz="2000" b="1" dirty="0">
                <a:solidFill>
                  <a:srgbClr val="00B0F0"/>
                </a:solidFill>
              </a:rPr>
              <a:t>思考：如何构成的差动全桥？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0-#ppt_w/2"/>
                                          </p:val>
                                        </p:tav>
                                        <p:tav tm="100000">
                                          <p:val>
                                            <p:strVal val="#ppt_x"/>
                                          </p:val>
                                        </p:tav>
                                      </p:tavLst>
                                    </p:anim>
                                    <p:anim calcmode="lin" valueType="num">
                                      <p:cBhvr additive="base">
                                        <p:cTn id="8"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矩形 4">
            <a:extLst>
              <a:ext uri="{FF2B5EF4-FFF2-40B4-BE49-F238E27FC236}">
                <a16:creationId xmlns:a16="http://schemas.microsoft.com/office/drawing/2014/main" id="{CD84D916-1EEE-4069-9CB2-D3BB113CD441}"/>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7827" name="灯片编号占位符 3">
            <a:extLst>
              <a:ext uri="{FF2B5EF4-FFF2-40B4-BE49-F238E27FC236}">
                <a16:creationId xmlns:a16="http://schemas.microsoft.com/office/drawing/2014/main" id="{E1631EE8-BF81-405E-818C-6D2C9B50DC2D}"/>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7774AE60-FAD8-4E8B-A9E5-73341C79842A}"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74</a:t>
            </a:fld>
            <a:endParaRPr lang="en-US" altLang="zh-CN" sz="1400">
              <a:latin typeface="Arial" panose="020B0604020202020204" pitchFamily="34" charset="0"/>
            </a:endParaRPr>
          </a:p>
        </p:txBody>
      </p:sp>
      <p:sp>
        <p:nvSpPr>
          <p:cNvPr id="77828" name="TextBox 5">
            <a:extLst>
              <a:ext uri="{FF2B5EF4-FFF2-40B4-BE49-F238E27FC236}">
                <a16:creationId xmlns:a16="http://schemas.microsoft.com/office/drawing/2014/main" id="{B88AFF45-E32A-41AE-B34F-06DEFF024D8A}"/>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.3</a:t>
            </a:r>
            <a:r>
              <a:rPr lang="zh-CN" altLang="en-US" b="1">
                <a:solidFill>
                  <a:srgbClr val="CC0000"/>
                </a:solidFill>
                <a:latin typeface="楷体_GB2312" pitchFamily="49" charset="-122"/>
                <a:ea typeface="楷体_GB2312" pitchFamily="49" charset="-122"/>
                <a:sym typeface="楷体_GB2312" pitchFamily="49" charset="-122"/>
              </a:rPr>
              <a:t> 应变片式压力传感器</a:t>
            </a:r>
            <a:endParaRPr lang="zh-CN" altLang="en-US" sz="1800">
              <a:latin typeface="Arial" panose="020B0604020202020204" pitchFamily="34" charset="0"/>
            </a:endParaRPr>
          </a:p>
        </p:txBody>
      </p:sp>
      <p:sp>
        <p:nvSpPr>
          <p:cNvPr id="77829" name="Rectangle 5">
            <a:extLst>
              <a:ext uri="{FF2B5EF4-FFF2-40B4-BE49-F238E27FC236}">
                <a16:creationId xmlns:a16="http://schemas.microsoft.com/office/drawing/2014/main" id="{6AA237FA-6137-4CF0-B27B-5C224E496F24}"/>
              </a:ext>
            </a:extLst>
          </p:cNvPr>
          <p:cNvSpPr>
            <a:spLocks noChangeArrowheads="1"/>
          </p:cNvSpPr>
          <p:nvPr/>
        </p:nvSpPr>
        <p:spPr bwMode="auto">
          <a:xfrm>
            <a:off x="539750" y="1125538"/>
            <a:ext cx="8326438" cy="1990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en-US" altLang="zh-CN" sz="2400" dirty="0">
                <a:solidFill>
                  <a:srgbClr val="000000"/>
                </a:solidFill>
                <a:latin typeface="楷体_GB2312" pitchFamily="49" charset="-122"/>
                <a:ea typeface="楷体_GB2312" pitchFamily="49" charset="-122"/>
                <a:sym typeface="楷体_GB2312" pitchFamily="49" charset="-122"/>
              </a:rPr>
              <a:t>   </a:t>
            </a:r>
            <a:r>
              <a:rPr lang="zh-CN" altLang="en-US" sz="2400" dirty="0">
                <a:solidFill>
                  <a:srgbClr val="000000"/>
                </a:solidFill>
                <a:latin typeface="楷体_GB2312" pitchFamily="49" charset="-122"/>
                <a:ea typeface="楷体_GB2312" pitchFamily="49" charset="-122"/>
                <a:sym typeface="楷体_GB2312" pitchFamily="49" charset="-122"/>
              </a:rPr>
              <a:t>测量</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气体或液体压力</a:t>
            </a:r>
            <a:r>
              <a:rPr lang="zh-CN" altLang="en-US" sz="2400" dirty="0">
                <a:solidFill>
                  <a:srgbClr val="000000"/>
                </a:solidFill>
                <a:latin typeface="楷体_GB2312" pitchFamily="49" charset="-122"/>
                <a:ea typeface="楷体_GB2312" pitchFamily="49" charset="-122"/>
                <a:sym typeface="楷体_GB2312" pitchFamily="49" charset="-122"/>
              </a:rPr>
              <a:t>的薄板式传感器，如图所示。当气体或液体压力作用在薄板承压面上时，薄板变形，粘贴在另一面的电阻应变片随之变形，并改变阻值。这时测量电路中电桥平衡被破坏，产生输出电压。 </a:t>
            </a:r>
            <a:endParaRPr lang="zh-CN" altLang="en-US" sz="1800" dirty="0">
              <a:latin typeface="Arial" panose="020B0604020202020204" pitchFamily="34" charset="0"/>
            </a:endParaRPr>
          </a:p>
        </p:txBody>
      </p:sp>
      <p:sp>
        <p:nvSpPr>
          <p:cNvPr id="77830" name="Rectangle 8">
            <a:extLst>
              <a:ext uri="{FF2B5EF4-FFF2-40B4-BE49-F238E27FC236}">
                <a16:creationId xmlns:a16="http://schemas.microsoft.com/office/drawing/2014/main" id="{C3FE5FA8-AA2B-437E-A424-B1755598C3A1}"/>
              </a:ext>
            </a:extLst>
          </p:cNvPr>
          <p:cNvSpPr>
            <a:spLocks noChangeArrowheads="1"/>
          </p:cNvSpPr>
          <p:nvPr/>
        </p:nvSpPr>
        <p:spPr bwMode="auto">
          <a:xfrm>
            <a:off x="533400" y="3270250"/>
            <a:ext cx="3465513" cy="1990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   </a:t>
            </a:r>
            <a:r>
              <a:rPr lang="zh-CN" altLang="en-US" sz="2400">
                <a:solidFill>
                  <a:srgbClr val="000000"/>
                </a:solidFill>
                <a:latin typeface="楷体_GB2312" pitchFamily="49" charset="-122"/>
                <a:ea typeface="楷体_GB2312" pitchFamily="49" charset="-122"/>
                <a:sym typeface="楷体_GB2312" pitchFamily="49" charset="-122"/>
              </a:rPr>
              <a:t>圆形薄板固定形式：采用嵌固形式，如图（</a:t>
            </a:r>
            <a:r>
              <a:rPr lang="en-US" altLang="zh-CN" sz="2400" i="1">
                <a:solidFill>
                  <a:srgbClr val="000000"/>
                </a:solidFill>
                <a:latin typeface="楷体_GB2312" pitchFamily="49" charset="-122"/>
                <a:ea typeface="楷体_GB2312" pitchFamily="49" charset="-122"/>
                <a:sym typeface="楷体_GB2312" pitchFamily="49" charset="-122"/>
              </a:rPr>
              <a:t>a</a:t>
            </a:r>
            <a:r>
              <a:rPr lang="zh-CN" altLang="en-US" sz="2400">
                <a:solidFill>
                  <a:srgbClr val="000000"/>
                </a:solidFill>
                <a:latin typeface="楷体_GB2312" pitchFamily="49" charset="-122"/>
                <a:ea typeface="楷体_GB2312" pitchFamily="49" charset="-122"/>
                <a:sym typeface="楷体_GB2312" pitchFamily="49" charset="-122"/>
              </a:rPr>
              <a:t>）或与传感器外壳作成一体，如图 </a:t>
            </a:r>
            <a:r>
              <a:rPr lang="en-US" altLang="zh-CN" sz="2400">
                <a:solidFill>
                  <a:srgbClr val="000000"/>
                </a:solidFill>
                <a:latin typeface="楷体_GB2312" pitchFamily="49" charset="-122"/>
                <a:ea typeface="楷体_GB2312" pitchFamily="49" charset="-122"/>
                <a:sym typeface="楷体_GB2312" pitchFamily="49" charset="-122"/>
              </a:rPr>
              <a:t>(</a:t>
            </a:r>
            <a:r>
              <a:rPr lang="en-US" altLang="zh-CN" sz="2400" i="1">
                <a:solidFill>
                  <a:srgbClr val="000000"/>
                </a:solidFill>
                <a:latin typeface="楷体_GB2312" pitchFamily="49" charset="-122"/>
                <a:ea typeface="楷体_GB2312" pitchFamily="49" charset="-122"/>
                <a:sym typeface="楷体_GB2312" pitchFamily="49" charset="-122"/>
              </a:rPr>
              <a:t>b</a:t>
            </a:r>
            <a:r>
              <a:rPr lang="en-US" altLang="zh-CN" sz="2400">
                <a:solidFill>
                  <a:srgbClr val="000000"/>
                </a:solidFill>
                <a:latin typeface="楷体_GB2312" pitchFamily="49" charset="-122"/>
                <a:ea typeface="楷体_GB2312" pitchFamily="49" charset="-122"/>
                <a:sym typeface="楷体_GB2312" pitchFamily="49" charset="-122"/>
              </a:rPr>
              <a:t>)</a:t>
            </a:r>
            <a:r>
              <a:rPr lang="zh-CN" altLang="en-US" sz="2400">
                <a:solidFill>
                  <a:srgbClr val="000000"/>
                </a:solidFill>
                <a:latin typeface="楷体_GB2312" pitchFamily="49" charset="-122"/>
                <a:ea typeface="楷体_GB2312" pitchFamily="49" charset="-122"/>
                <a:sym typeface="楷体_GB2312" pitchFamily="49" charset="-122"/>
              </a:rPr>
              <a:t>。</a:t>
            </a:r>
            <a:endParaRPr lang="zh-CN" altLang="en-US" sz="1800">
              <a:latin typeface="Arial" panose="020B0604020202020204" pitchFamily="34" charset="0"/>
            </a:endParaRPr>
          </a:p>
        </p:txBody>
      </p:sp>
      <p:pic>
        <p:nvPicPr>
          <p:cNvPr id="77831" name="Picture 30">
            <a:extLst>
              <a:ext uri="{FF2B5EF4-FFF2-40B4-BE49-F238E27FC236}">
                <a16:creationId xmlns:a16="http://schemas.microsoft.com/office/drawing/2014/main" id="{00E31028-8E73-4787-84A7-E06D3C7F1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3850" y="3125788"/>
            <a:ext cx="20034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7832" name="Picture 31">
            <a:extLst>
              <a:ext uri="{FF2B5EF4-FFF2-40B4-BE49-F238E27FC236}">
                <a16:creationId xmlns:a16="http://schemas.microsoft.com/office/drawing/2014/main" id="{67933E42-10C2-487C-91EC-C53E73DBCF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338" y="3486150"/>
            <a:ext cx="2438400" cy="141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3" name="Text Box 32">
            <a:extLst>
              <a:ext uri="{FF2B5EF4-FFF2-40B4-BE49-F238E27FC236}">
                <a16:creationId xmlns:a16="http://schemas.microsoft.com/office/drawing/2014/main" id="{2E74D1DC-8809-4ED3-979C-917FDA236ED3}"/>
              </a:ext>
            </a:extLst>
          </p:cNvPr>
          <p:cNvSpPr>
            <a:spLocks noChangeArrowheads="1"/>
          </p:cNvSpPr>
          <p:nvPr/>
        </p:nvSpPr>
        <p:spPr bwMode="auto">
          <a:xfrm>
            <a:off x="4860925" y="5734050"/>
            <a:ext cx="3781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400">
                <a:latin typeface="Arial" panose="020B0604020202020204" pitchFamily="34" charset="0"/>
                <a:ea typeface="楷体_GB2312" pitchFamily="49" charset="-122"/>
              </a:rPr>
              <a:t>应变式压力传感器</a:t>
            </a:r>
            <a:endParaRPr lang="zh-CN" altLang="en-US" sz="1800">
              <a:latin typeface="Arial" panose="020B060402020202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4">
            <a:extLst>
              <a:ext uri="{FF2B5EF4-FFF2-40B4-BE49-F238E27FC236}">
                <a16:creationId xmlns:a16="http://schemas.microsoft.com/office/drawing/2014/main" id="{F28E4897-0B92-4F6E-8666-669CE4BD10A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8851" name="灯片编号占位符 3">
            <a:extLst>
              <a:ext uri="{FF2B5EF4-FFF2-40B4-BE49-F238E27FC236}">
                <a16:creationId xmlns:a16="http://schemas.microsoft.com/office/drawing/2014/main" id="{9CB72170-15D6-4272-B992-9F5F86118BC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5FF520BD-5EF9-4F50-B597-8F088D14285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75</a:t>
            </a:fld>
            <a:endParaRPr lang="en-US" altLang="zh-CN" sz="1400">
              <a:latin typeface="Arial" panose="020B0604020202020204" pitchFamily="34" charset="0"/>
            </a:endParaRPr>
          </a:p>
        </p:txBody>
      </p:sp>
      <p:sp>
        <p:nvSpPr>
          <p:cNvPr id="78852" name="Rectangle 3">
            <a:extLst>
              <a:ext uri="{FF2B5EF4-FFF2-40B4-BE49-F238E27FC236}">
                <a16:creationId xmlns:a16="http://schemas.microsoft.com/office/drawing/2014/main" id="{EA36FC19-A36E-4817-AD52-D8C81548EFFE}"/>
              </a:ext>
            </a:extLst>
          </p:cNvPr>
          <p:cNvSpPr>
            <a:spLocks noGrp="1" noRot="1" noChangeArrowheads="1"/>
          </p:cNvSpPr>
          <p:nvPr>
            <p:ph type="subTitle" idx="1"/>
          </p:nvPr>
        </p:nvSpPr>
        <p:spPr>
          <a:xfrm>
            <a:off x="611725" y="324689"/>
            <a:ext cx="5328370" cy="685800"/>
          </a:xfrm>
        </p:spPr>
        <p:txBody>
          <a:bodyPr/>
          <a:lstStyle/>
          <a:p>
            <a:pPr algn="l" eaLnBrk="1" hangingPunct="1">
              <a:lnSpc>
                <a:spcPct val="90000"/>
              </a:lnSpc>
            </a:pPr>
            <a:r>
              <a:rPr lang="zh-CN" altLang="en-US">
                <a:solidFill>
                  <a:srgbClr val="C00000"/>
                </a:solidFill>
              </a:rPr>
              <a:t>（金属）膜片式压力传感器</a:t>
            </a:r>
          </a:p>
        </p:txBody>
      </p:sp>
      <p:pic>
        <p:nvPicPr>
          <p:cNvPr id="78854" name="Picture 2" descr="C:\Documents and Settings\Administrator\桌面\QQ截图.png">
            <a:extLst>
              <a:ext uri="{FF2B5EF4-FFF2-40B4-BE49-F238E27FC236}">
                <a16:creationId xmlns:a16="http://schemas.microsoft.com/office/drawing/2014/main" id="{9BEAEF45-17E4-4BB6-A3B9-F196D6A2A1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1357313"/>
            <a:ext cx="729456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15">
            <a:extLst>
              <a:ext uri="{FF2B5EF4-FFF2-40B4-BE49-F238E27FC236}">
                <a16:creationId xmlns:a16="http://schemas.microsoft.com/office/drawing/2014/main" id="{967B2399-9F98-412F-A521-45518A846095}"/>
              </a:ext>
            </a:extLst>
          </p:cNvPr>
          <p:cNvSpPr>
            <a:spLocks noChangeArrowheads="1"/>
          </p:cNvSpPr>
          <p:nvPr/>
        </p:nvSpPr>
        <p:spPr bwMode="auto">
          <a:xfrm>
            <a:off x="1312133" y="5873925"/>
            <a:ext cx="6519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这种结构很重要，看懂径向和切向应变分布图</a:t>
            </a:r>
          </a:p>
        </p:txBody>
      </p:sp>
      <p:sp>
        <p:nvSpPr>
          <p:cNvPr id="8" name="Rectangle 10">
            <a:extLst>
              <a:ext uri="{FF2B5EF4-FFF2-40B4-BE49-F238E27FC236}">
                <a16:creationId xmlns:a16="http://schemas.microsoft.com/office/drawing/2014/main" id="{8E5B1FD7-0AC6-4647-BF68-FBF328D76B8C}"/>
              </a:ext>
            </a:extLst>
          </p:cNvPr>
          <p:cNvSpPr>
            <a:spLocks noChangeArrowheads="1"/>
          </p:cNvSpPr>
          <p:nvPr/>
        </p:nvSpPr>
        <p:spPr bwMode="auto">
          <a:xfrm>
            <a:off x="1331775" y="3515888"/>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solidFill>
                  <a:srgbClr val="FF6600"/>
                </a:solidFill>
              </a:rPr>
              <a:t>切向应变：</a:t>
            </a:r>
          </a:p>
        </p:txBody>
      </p:sp>
      <p:sp>
        <p:nvSpPr>
          <p:cNvPr id="9" name="Rectangle 10">
            <a:extLst>
              <a:ext uri="{FF2B5EF4-FFF2-40B4-BE49-F238E27FC236}">
                <a16:creationId xmlns:a16="http://schemas.microsoft.com/office/drawing/2014/main" id="{067407B2-FEF0-440E-859B-E58A97CD54BD}"/>
              </a:ext>
            </a:extLst>
          </p:cNvPr>
          <p:cNvSpPr>
            <a:spLocks noChangeArrowheads="1"/>
          </p:cNvSpPr>
          <p:nvPr/>
        </p:nvSpPr>
        <p:spPr bwMode="auto">
          <a:xfrm>
            <a:off x="1331775" y="4451983"/>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dirty="0">
                <a:solidFill>
                  <a:srgbClr val="FF6600"/>
                </a:solidFill>
              </a:rPr>
              <a:t>径向应变：</a:t>
            </a:r>
          </a:p>
        </p:txBody>
      </p:sp>
      <p:graphicFrame>
        <p:nvGraphicFramePr>
          <p:cNvPr id="10" name="对象 9">
            <a:extLst>
              <a:ext uri="{FF2B5EF4-FFF2-40B4-BE49-F238E27FC236}">
                <a16:creationId xmlns:a16="http://schemas.microsoft.com/office/drawing/2014/main" id="{87B819DA-5C7A-45D5-83A7-2BADEE91AC25}"/>
              </a:ext>
            </a:extLst>
          </p:cNvPr>
          <p:cNvGraphicFramePr>
            <a:graphicFrameLocks noChangeAspect="1"/>
          </p:cNvGraphicFramePr>
          <p:nvPr>
            <p:extLst>
              <p:ext uri="{D42A27DB-BD31-4B8C-83A1-F6EECF244321}">
                <p14:modId xmlns:p14="http://schemas.microsoft.com/office/powerpoint/2010/main" val="1894601074"/>
              </p:ext>
            </p:extLst>
          </p:nvPr>
        </p:nvGraphicFramePr>
        <p:xfrm>
          <a:off x="3491809" y="4504489"/>
          <a:ext cx="4176713" cy="1008062"/>
        </p:xfrm>
        <a:graphic>
          <a:graphicData uri="http://schemas.openxmlformats.org/presentationml/2006/ole">
            <mc:AlternateContent xmlns:mc="http://schemas.openxmlformats.org/markup-compatibility/2006">
              <mc:Choice xmlns:v="urn:schemas-microsoft-com:vml" Requires="v">
                <p:oleObj spid="_x0000_s87078" r:id="rId4" imgW="1763769" imgH="406048" progId="Equation.3">
                  <p:embed/>
                </p:oleObj>
              </mc:Choice>
              <mc:Fallback>
                <p:oleObj r:id="rId4" imgW="1763769" imgH="406048" progId="Equation.3">
                  <p:embed/>
                  <p:pic>
                    <p:nvPicPr>
                      <p:cNvPr id="19463" name="对象 19462">
                        <a:extLst>
                          <a:ext uri="{FF2B5EF4-FFF2-40B4-BE49-F238E27FC236}">
                            <a16:creationId xmlns:a16="http://schemas.microsoft.com/office/drawing/2014/main" id="{1816878B-0416-4E4F-B6D9-49399361E0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91809" y="4504489"/>
                        <a:ext cx="4176713"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 name="对象 10">
            <a:extLst>
              <a:ext uri="{FF2B5EF4-FFF2-40B4-BE49-F238E27FC236}">
                <a16:creationId xmlns:a16="http://schemas.microsoft.com/office/drawing/2014/main" id="{104F7DCF-19E0-451E-80A1-C7EA2A4D1E19}"/>
              </a:ext>
            </a:extLst>
          </p:cNvPr>
          <p:cNvGraphicFramePr>
            <a:graphicFrameLocks noChangeAspect="1"/>
          </p:cNvGraphicFramePr>
          <p:nvPr>
            <p:extLst>
              <p:ext uri="{D42A27DB-BD31-4B8C-83A1-F6EECF244321}">
                <p14:modId xmlns:p14="http://schemas.microsoft.com/office/powerpoint/2010/main" val="168774638"/>
              </p:ext>
            </p:extLst>
          </p:nvPr>
        </p:nvGraphicFramePr>
        <p:xfrm>
          <a:off x="3276600" y="3241675"/>
          <a:ext cx="4392613" cy="1008063"/>
        </p:xfrm>
        <a:graphic>
          <a:graphicData uri="http://schemas.openxmlformats.org/presentationml/2006/ole">
            <mc:AlternateContent xmlns:mc="http://schemas.openxmlformats.org/markup-compatibility/2006">
              <mc:Choice xmlns:v="urn:schemas-microsoft-com:vml" Requires="v">
                <p:oleObj spid="_x0000_s87079" r:id="rId6" imgW="1687635" imgH="406048" progId="Equation.3">
                  <p:embed/>
                </p:oleObj>
              </mc:Choice>
              <mc:Fallback>
                <p:oleObj r:id="rId6" imgW="1687635" imgH="406048" progId="Equation.3">
                  <p:embed/>
                  <p:pic>
                    <p:nvPicPr>
                      <p:cNvPr id="19464" name="对象 19463">
                        <a:extLst>
                          <a:ext uri="{FF2B5EF4-FFF2-40B4-BE49-F238E27FC236}">
                            <a16:creationId xmlns:a16="http://schemas.microsoft.com/office/drawing/2014/main" id="{77F29375-9E3C-45C4-9764-F071DA7273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3241675"/>
                        <a:ext cx="439261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ircle(in)">
                                      <p:cBhvr>
                                        <p:cTn id="10" dur="2000"/>
                                        <p:tgtEl>
                                          <p:spTgt spid="9"/>
                                        </p:tgtEl>
                                      </p:cBhvr>
                                    </p:animEffect>
                                  </p:childTnLst>
                                </p:cTn>
                              </p:par>
                              <p:par>
                                <p:cTn id="11" presetID="6" presetClass="entr" presetSubtype="16"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circle(in)">
                                      <p:cBhvr>
                                        <p:cTn id="13" dur="2000"/>
                                        <p:tgtEl>
                                          <p:spTgt spid="10"/>
                                        </p:tgtEl>
                                      </p:cBhvr>
                                    </p:animEffect>
                                  </p:childTnLst>
                                </p:cTn>
                              </p:par>
                              <p:par>
                                <p:cTn id="14" presetID="6" presetClass="entr" presetSubtype="16"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circle(in)">
                                      <p:cBhvr>
                                        <p:cTn id="16"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矩形 4">
            <a:extLst>
              <a:ext uri="{FF2B5EF4-FFF2-40B4-BE49-F238E27FC236}">
                <a16:creationId xmlns:a16="http://schemas.microsoft.com/office/drawing/2014/main" id="{F28E4897-0B92-4F6E-8666-669CE4BD10A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8851" name="灯片编号占位符 3">
            <a:extLst>
              <a:ext uri="{FF2B5EF4-FFF2-40B4-BE49-F238E27FC236}">
                <a16:creationId xmlns:a16="http://schemas.microsoft.com/office/drawing/2014/main" id="{9CB72170-15D6-4272-B992-9F5F86118BC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5FF520BD-5EF9-4F50-B597-8F088D14285F}"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76</a:t>
            </a:fld>
            <a:endParaRPr lang="en-US" altLang="zh-CN" sz="1400">
              <a:latin typeface="Arial" panose="020B0604020202020204" pitchFamily="34" charset="0"/>
            </a:endParaRPr>
          </a:p>
        </p:txBody>
      </p:sp>
      <p:sp>
        <p:nvSpPr>
          <p:cNvPr id="78852" name="Rectangle 3">
            <a:extLst>
              <a:ext uri="{FF2B5EF4-FFF2-40B4-BE49-F238E27FC236}">
                <a16:creationId xmlns:a16="http://schemas.microsoft.com/office/drawing/2014/main" id="{EA36FC19-A36E-4817-AD52-D8C81548EFFE}"/>
              </a:ext>
            </a:extLst>
          </p:cNvPr>
          <p:cNvSpPr>
            <a:spLocks noGrp="1" noRot="1" noChangeArrowheads="1"/>
          </p:cNvSpPr>
          <p:nvPr>
            <p:ph type="subTitle" idx="1"/>
          </p:nvPr>
        </p:nvSpPr>
        <p:spPr>
          <a:xfrm>
            <a:off x="611725" y="324689"/>
            <a:ext cx="5328370" cy="685800"/>
          </a:xfrm>
        </p:spPr>
        <p:txBody>
          <a:bodyPr/>
          <a:lstStyle/>
          <a:p>
            <a:pPr algn="l" eaLnBrk="1" hangingPunct="1">
              <a:lnSpc>
                <a:spcPct val="90000"/>
              </a:lnSpc>
            </a:pPr>
            <a:r>
              <a:rPr lang="zh-CN" altLang="en-US">
                <a:solidFill>
                  <a:srgbClr val="C00000"/>
                </a:solidFill>
              </a:rPr>
              <a:t>（金属）膜片式压力传感器</a:t>
            </a:r>
          </a:p>
        </p:txBody>
      </p:sp>
      <p:sp>
        <p:nvSpPr>
          <p:cNvPr id="78853" name="Text Box 2" descr="信纸">
            <a:extLst>
              <a:ext uri="{FF2B5EF4-FFF2-40B4-BE49-F238E27FC236}">
                <a16:creationId xmlns:a16="http://schemas.microsoft.com/office/drawing/2014/main" id="{8DBF479C-A921-4705-AD75-06C91D09A22F}"/>
              </a:ext>
            </a:extLst>
          </p:cNvPr>
          <p:cNvSpPr txBox="1">
            <a:spLocks noChangeArrowheads="1"/>
          </p:cNvSpPr>
          <p:nvPr/>
        </p:nvSpPr>
        <p:spPr bwMode="auto">
          <a:xfrm>
            <a:off x="714375" y="3643313"/>
            <a:ext cx="7467600"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50000"/>
              </a:spcBef>
              <a:buClr>
                <a:srgbClr val="D10D9E"/>
              </a:buClr>
              <a:buSzPct val="75000"/>
              <a:buFont typeface="Wingdings" panose="05000000000000000000" pitchFamily="2" charset="2"/>
              <a:buChar char="v"/>
            </a:pPr>
            <a:r>
              <a:rPr kumimoji="1" lang="zh-CN" altLang="en-US" sz="2400" dirty="0">
                <a:latin typeface="Times New Roman" panose="02020603050405020304" pitchFamily="18" charset="0"/>
                <a:ea typeface="楷体_GB2312" pitchFamily="49" charset="-122"/>
              </a:rPr>
              <a:t>切向应变都是正值，膜片中间最大</a:t>
            </a:r>
          </a:p>
          <a:p>
            <a:pPr>
              <a:spcBef>
                <a:spcPct val="50000"/>
              </a:spcBef>
              <a:buClr>
                <a:srgbClr val="D10D9E"/>
              </a:buClr>
              <a:buSzPct val="75000"/>
              <a:buFont typeface="Wingdings" panose="05000000000000000000" pitchFamily="2" charset="2"/>
              <a:buChar char="v"/>
            </a:pPr>
            <a:r>
              <a:rPr kumimoji="1" lang="zh-CN" altLang="en-US" sz="2400" dirty="0">
                <a:latin typeface="Times New Roman" panose="02020603050405020304" pitchFamily="18" charset="0"/>
                <a:ea typeface="楷体_GB2312" pitchFamily="49" charset="-122"/>
              </a:rPr>
              <a:t>径向应变分布有正有负，在边缘处达到最大</a:t>
            </a:r>
          </a:p>
          <a:p>
            <a:pPr>
              <a:spcBef>
                <a:spcPct val="50000"/>
              </a:spcBef>
              <a:buClr>
                <a:srgbClr val="D10D9E"/>
              </a:buClr>
              <a:buSzPct val="75000"/>
              <a:buFont typeface="Wingdings" panose="05000000000000000000" pitchFamily="2" charset="2"/>
              <a:buChar char="v"/>
            </a:pPr>
            <a:r>
              <a:rPr kumimoji="1" lang="zh-CN" altLang="en-US" sz="2400" dirty="0">
                <a:latin typeface="Times New Roman" panose="02020603050405020304" pitchFamily="18" charset="0"/>
                <a:ea typeface="楷体_GB2312" pitchFamily="49" charset="-122"/>
              </a:rPr>
              <a:t>贴片时应避开径向应变为零的位置</a:t>
            </a:r>
          </a:p>
          <a:p>
            <a:pPr>
              <a:spcBef>
                <a:spcPct val="50000"/>
              </a:spcBef>
              <a:buClr>
                <a:srgbClr val="D10D9E"/>
              </a:buClr>
              <a:buSzPct val="75000"/>
              <a:buFont typeface="Wingdings" panose="05000000000000000000" pitchFamily="2" charset="2"/>
              <a:buChar char="v"/>
            </a:pPr>
            <a:r>
              <a:rPr kumimoji="1" lang="zh-CN" altLang="en-US" sz="2400" dirty="0">
                <a:highlight>
                  <a:srgbClr val="FFFF00"/>
                </a:highlight>
                <a:latin typeface="Times New Roman" panose="02020603050405020304" pitchFamily="18" charset="0"/>
                <a:ea typeface="楷体_GB2312" pitchFamily="49" charset="-122"/>
              </a:rPr>
              <a:t>在中心沿切向贴两片，在边缘沿径向贴两片</a:t>
            </a:r>
            <a:r>
              <a:rPr kumimoji="1" lang="zh-CN" altLang="en-US" sz="2400" dirty="0">
                <a:latin typeface="Times New Roman" panose="02020603050405020304" pitchFamily="18" charset="0"/>
                <a:ea typeface="楷体_GB2312" pitchFamily="49" charset="-122"/>
              </a:rPr>
              <a:t>，接成相邻桥臂以提高灵敏度。</a:t>
            </a:r>
          </a:p>
        </p:txBody>
      </p:sp>
      <p:pic>
        <p:nvPicPr>
          <p:cNvPr id="78854" name="Picture 2" descr="C:\Documents and Settings\Administrator\桌面\QQ截图.png">
            <a:extLst>
              <a:ext uri="{FF2B5EF4-FFF2-40B4-BE49-F238E27FC236}">
                <a16:creationId xmlns:a16="http://schemas.microsoft.com/office/drawing/2014/main" id="{9BEAEF45-17E4-4BB6-A3B9-F196D6A2A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1357313"/>
            <a:ext cx="7294562"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15">
            <a:extLst>
              <a:ext uri="{FF2B5EF4-FFF2-40B4-BE49-F238E27FC236}">
                <a16:creationId xmlns:a16="http://schemas.microsoft.com/office/drawing/2014/main" id="{967B2399-9F98-412F-A521-45518A846095}"/>
              </a:ext>
            </a:extLst>
          </p:cNvPr>
          <p:cNvSpPr>
            <a:spLocks noChangeArrowheads="1"/>
          </p:cNvSpPr>
          <p:nvPr/>
        </p:nvSpPr>
        <p:spPr bwMode="auto">
          <a:xfrm>
            <a:off x="1331775" y="6302478"/>
            <a:ext cx="651973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这种结构很重要，看懂径向和切向应变分布图</a:t>
            </a:r>
          </a:p>
        </p:txBody>
      </p:sp>
    </p:spTree>
    <p:extLst>
      <p:ext uri="{BB962C8B-B14F-4D97-AF65-F5344CB8AC3E}">
        <p14:creationId xmlns:p14="http://schemas.microsoft.com/office/powerpoint/2010/main" val="40248012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矩形 4">
            <a:extLst>
              <a:ext uri="{FF2B5EF4-FFF2-40B4-BE49-F238E27FC236}">
                <a16:creationId xmlns:a16="http://schemas.microsoft.com/office/drawing/2014/main" id="{F88B7C50-2F0F-4A43-917D-EA7F55263E5B}"/>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79875" name="灯片编号占位符 3">
            <a:extLst>
              <a:ext uri="{FF2B5EF4-FFF2-40B4-BE49-F238E27FC236}">
                <a16:creationId xmlns:a16="http://schemas.microsoft.com/office/drawing/2014/main" id="{E63FD151-1DA6-435D-ACA5-91C62B595BB0}"/>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70FFF05-4E89-47CB-958F-905B29DF69FC}"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77</a:t>
            </a:fld>
            <a:endParaRPr lang="en-US" altLang="zh-CN" sz="1400">
              <a:latin typeface="Arial" panose="020B0604020202020204" pitchFamily="34" charset="0"/>
            </a:endParaRPr>
          </a:p>
        </p:txBody>
      </p:sp>
      <p:sp>
        <p:nvSpPr>
          <p:cNvPr id="79876" name="Rectangle 3">
            <a:extLst>
              <a:ext uri="{FF2B5EF4-FFF2-40B4-BE49-F238E27FC236}">
                <a16:creationId xmlns:a16="http://schemas.microsoft.com/office/drawing/2014/main" id="{238A53A0-9502-45E4-97F2-447FBE4DA2C8}"/>
              </a:ext>
            </a:extLst>
          </p:cNvPr>
          <p:cNvSpPr>
            <a:spLocks noGrp="1" noRot="1" noChangeArrowheads="1"/>
          </p:cNvSpPr>
          <p:nvPr>
            <p:ph type="subTitle" idx="1"/>
          </p:nvPr>
        </p:nvSpPr>
        <p:spPr>
          <a:xfrm>
            <a:off x="714375" y="428625"/>
            <a:ext cx="4679950" cy="685800"/>
          </a:xfrm>
        </p:spPr>
        <p:txBody>
          <a:bodyPr/>
          <a:lstStyle/>
          <a:p>
            <a:pPr algn="l" eaLnBrk="1" hangingPunct="1">
              <a:lnSpc>
                <a:spcPct val="90000"/>
              </a:lnSpc>
            </a:pPr>
            <a:r>
              <a:rPr lang="zh-CN" altLang="en-US" sz="2400"/>
              <a:t>（金属）膜片式压力传感器</a:t>
            </a:r>
          </a:p>
        </p:txBody>
      </p:sp>
      <p:pic>
        <p:nvPicPr>
          <p:cNvPr id="79877" name="Picture 2" descr="C:\Documents and Settings\Administrator\桌面\QQ截图.png">
            <a:extLst>
              <a:ext uri="{FF2B5EF4-FFF2-40B4-BE49-F238E27FC236}">
                <a16:creationId xmlns:a16="http://schemas.microsoft.com/office/drawing/2014/main" id="{20B081B3-E64B-4925-85A4-FE2D185DBD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820" y="1224754"/>
            <a:ext cx="4083855" cy="4238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3">
            <a:extLst>
              <a:ext uri="{FF2B5EF4-FFF2-40B4-BE49-F238E27FC236}">
                <a16:creationId xmlns:a16="http://schemas.microsoft.com/office/drawing/2014/main" id="{00DC1C00-A569-4B1A-843A-A223ED5AD65D}"/>
              </a:ext>
            </a:extLst>
          </p:cNvPr>
          <p:cNvSpPr txBox="1">
            <a:spLocks noRot="1" noChangeArrowheads="1"/>
          </p:cNvSpPr>
          <p:nvPr/>
        </p:nvSpPr>
        <p:spPr bwMode="auto">
          <a:xfrm>
            <a:off x="1331775" y="5311263"/>
            <a:ext cx="6072187" cy="588963"/>
          </a:xfrm>
          <a:prstGeom prst="rect">
            <a:avLst/>
          </a:prstGeom>
          <a:noFill/>
          <a:ln w="9525">
            <a:noFill/>
            <a:miter lim="800000"/>
            <a:headEnd/>
            <a:tailEnd/>
          </a:ln>
        </p:spPr>
        <p:txBody>
          <a:bodyPr anchor="ctr"/>
          <a:lstStyle/>
          <a:p>
            <a:pPr algn="ctr" eaLnBrk="1" hangingPunct="1">
              <a:defRPr/>
            </a:pPr>
            <a:r>
              <a:rPr lang="zh-CN" altLang="en-US" sz="2000" kern="0" dirty="0">
                <a:latin typeface="+mj-lt"/>
                <a:ea typeface="+mj-ea"/>
                <a:cs typeface="+mj-cs"/>
                <a:sym typeface="Calibri" pitchFamily="34" charset="0"/>
              </a:rPr>
              <a:t>膜片式压力传感器的另一种敏感元件结构</a:t>
            </a:r>
          </a:p>
        </p:txBody>
      </p:sp>
      <p:sp>
        <p:nvSpPr>
          <p:cNvPr id="7" name="矩形 15">
            <a:extLst>
              <a:ext uri="{FF2B5EF4-FFF2-40B4-BE49-F238E27FC236}">
                <a16:creationId xmlns:a16="http://schemas.microsoft.com/office/drawing/2014/main" id="{08953108-FC3C-473D-8997-B4FCA255C1A0}"/>
              </a:ext>
            </a:extLst>
          </p:cNvPr>
          <p:cNvSpPr>
            <a:spLocks noChangeArrowheads="1"/>
          </p:cNvSpPr>
          <p:nvPr/>
        </p:nvSpPr>
        <p:spPr bwMode="auto">
          <a:xfrm>
            <a:off x="1835810" y="5999830"/>
            <a:ext cx="471635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dirty="0">
                <a:solidFill>
                  <a:srgbClr val="00B0F0"/>
                </a:solidFill>
                <a:cs typeface="Times New Roman" panose="02020603050405020304" pitchFamily="18" charset="0"/>
              </a:rPr>
              <a:t>* </a:t>
            </a:r>
            <a:r>
              <a:rPr lang="zh-CN" altLang="en-US" sz="2400" dirty="0">
                <a:solidFill>
                  <a:srgbClr val="00B0F0"/>
                </a:solidFill>
                <a:cs typeface="Times New Roman" panose="02020603050405020304" pitchFamily="18" charset="0"/>
              </a:rPr>
              <a:t>思考一下，为什么设计成这样？</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矩形 4">
            <a:extLst>
              <a:ext uri="{FF2B5EF4-FFF2-40B4-BE49-F238E27FC236}">
                <a16:creationId xmlns:a16="http://schemas.microsoft.com/office/drawing/2014/main" id="{D2A3FD2B-D2FB-43B9-9377-97AE5C30748D}"/>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0899" name="灯片编号占位符 3">
            <a:extLst>
              <a:ext uri="{FF2B5EF4-FFF2-40B4-BE49-F238E27FC236}">
                <a16:creationId xmlns:a16="http://schemas.microsoft.com/office/drawing/2014/main" id="{B34DD124-778A-4417-8D16-1ED4089709FF}"/>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23FAF86-BB5A-4164-8E6C-38895BD6D674}"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78</a:t>
            </a:fld>
            <a:endParaRPr lang="en-US" altLang="zh-CN" sz="1400">
              <a:latin typeface="Arial" panose="020B0604020202020204" pitchFamily="34" charset="0"/>
            </a:endParaRPr>
          </a:p>
        </p:txBody>
      </p:sp>
      <p:sp>
        <p:nvSpPr>
          <p:cNvPr id="80900" name="TextBox 5">
            <a:extLst>
              <a:ext uri="{FF2B5EF4-FFF2-40B4-BE49-F238E27FC236}">
                <a16:creationId xmlns:a16="http://schemas.microsoft.com/office/drawing/2014/main" id="{4C308DA1-8BC9-4831-B3E8-6C32ADD98113}"/>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.4</a:t>
            </a:r>
            <a:r>
              <a:rPr lang="zh-CN" altLang="en-US" b="1">
                <a:solidFill>
                  <a:srgbClr val="CC0000"/>
                </a:solidFill>
                <a:latin typeface="楷体_GB2312" pitchFamily="49" charset="-122"/>
                <a:ea typeface="楷体_GB2312" pitchFamily="49" charset="-122"/>
                <a:sym typeface="楷体_GB2312" pitchFamily="49" charset="-122"/>
              </a:rPr>
              <a:t> 应变式加速传感器</a:t>
            </a:r>
            <a:endParaRPr lang="zh-CN" altLang="en-US" sz="1800">
              <a:latin typeface="Arial" panose="020B0604020202020204" pitchFamily="34" charset="0"/>
            </a:endParaRPr>
          </a:p>
        </p:txBody>
      </p:sp>
      <p:sp>
        <p:nvSpPr>
          <p:cNvPr id="80901" name="Rectangle 5">
            <a:extLst>
              <a:ext uri="{FF2B5EF4-FFF2-40B4-BE49-F238E27FC236}">
                <a16:creationId xmlns:a16="http://schemas.microsoft.com/office/drawing/2014/main" id="{51189043-B71D-40C7-BC38-702C837FF0D7}"/>
              </a:ext>
            </a:extLst>
          </p:cNvPr>
          <p:cNvSpPr>
            <a:spLocks noChangeArrowheads="1"/>
          </p:cNvSpPr>
          <p:nvPr/>
        </p:nvSpPr>
        <p:spPr bwMode="auto">
          <a:xfrm>
            <a:off x="984250" y="1355725"/>
            <a:ext cx="7418388" cy="16922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30000"/>
              </a:lnSpc>
              <a:spcBef>
                <a:spcPct val="0"/>
              </a:spcBef>
              <a:buFont typeface="Arial" panose="020B0604020202020204" pitchFamily="34" charset="0"/>
              <a:buNone/>
            </a:pPr>
            <a:r>
              <a:rPr lang="en-US" altLang="zh-CN" sz="2000" dirty="0">
                <a:solidFill>
                  <a:srgbClr val="000000"/>
                </a:solidFill>
                <a:latin typeface="宋体" panose="02010600030101010101" pitchFamily="2" charset="-122"/>
                <a:sym typeface="宋体" panose="02010600030101010101" pitchFamily="2" charset="-122"/>
              </a:rPr>
              <a:t>   </a:t>
            </a:r>
            <a:r>
              <a:rPr lang="zh-CN" altLang="en-US" sz="2000" dirty="0">
                <a:solidFill>
                  <a:srgbClr val="000000"/>
                </a:solidFill>
                <a:latin typeface="宋体" panose="02010600030101010101" pitchFamily="2" charset="-122"/>
                <a:sym typeface="宋体" panose="02010600030101010101" pitchFamily="2" charset="-122"/>
              </a:rPr>
              <a:t>由端部固定并带有惯性质量块</a:t>
            </a:r>
            <a:r>
              <a:rPr lang="en-US" altLang="zh-CN" sz="2000" dirty="0">
                <a:solidFill>
                  <a:srgbClr val="000000"/>
                </a:solidFill>
                <a:latin typeface="宋体" panose="02010600030101010101" pitchFamily="2" charset="-122"/>
                <a:sym typeface="宋体" panose="02010600030101010101" pitchFamily="2" charset="-122"/>
              </a:rPr>
              <a:t>m</a:t>
            </a:r>
            <a:r>
              <a:rPr lang="zh-CN" altLang="en-US" sz="2000" dirty="0">
                <a:solidFill>
                  <a:srgbClr val="000000"/>
                </a:solidFill>
                <a:latin typeface="宋体" panose="02010600030101010101" pitchFamily="2" charset="-122"/>
                <a:sym typeface="宋体" panose="02010600030101010101" pitchFamily="2" charset="-122"/>
              </a:rPr>
              <a:t>的悬臂梁及贴在梁根部的应变片、基座及外壳等组成。是一种</a:t>
            </a:r>
            <a:r>
              <a:rPr lang="zh-CN" altLang="en-US" sz="2000" dirty="0">
                <a:solidFill>
                  <a:srgbClr val="000000"/>
                </a:solidFill>
                <a:highlight>
                  <a:srgbClr val="FFFF00"/>
                </a:highlight>
                <a:latin typeface="宋体" panose="02010600030101010101" pitchFamily="2" charset="-122"/>
                <a:sym typeface="宋体" panose="02010600030101010101" pitchFamily="2" charset="-122"/>
              </a:rPr>
              <a:t>惯性式传感器</a:t>
            </a:r>
            <a:r>
              <a:rPr lang="zh-CN" altLang="en-US" sz="2000" dirty="0">
                <a:solidFill>
                  <a:srgbClr val="000000"/>
                </a:solidFill>
                <a:latin typeface="宋体" panose="02010600030101010101" pitchFamily="2" charset="-122"/>
                <a:sym typeface="宋体" panose="02010600030101010101" pitchFamily="2" charset="-122"/>
              </a:rPr>
              <a:t>。</a:t>
            </a:r>
          </a:p>
          <a:p>
            <a:pPr>
              <a:lnSpc>
                <a:spcPct val="130000"/>
              </a:lnSpc>
              <a:spcBef>
                <a:spcPct val="0"/>
              </a:spcBef>
              <a:buFont typeface="Arial" panose="020B0604020202020204" pitchFamily="34" charset="0"/>
              <a:buNone/>
            </a:pPr>
            <a:r>
              <a:rPr lang="zh-CN" altLang="en-US" sz="2000" dirty="0">
                <a:solidFill>
                  <a:srgbClr val="000000"/>
                </a:solidFill>
                <a:latin typeface="宋体" panose="02010600030101010101" pitchFamily="2" charset="-122"/>
                <a:sym typeface="宋体" panose="02010600030101010101" pitchFamily="2" charset="-122"/>
              </a:rPr>
              <a:t>   测量时，根据所测振动体加速度的方向，把传感器固定在被测部位。当被测点的加速度沿图中箭头所示方向时，悬臂梁自由</a:t>
            </a:r>
            <a:endParaRPr lang="zh-CN" altLang="en-US" sz="1800" dirty="0">
              <a:latin typeface="Arial" panose="020B0604020202020204" pitchFamily="34" charset="0"/>
            </a:endParaRPr>
          </a:p>
        </p:txBody>
      </p:sp>
      <p:grpSp>
        <p:nvGrpSpPr>
          <p:cNvPr id="80902" name="Group 8">
            <a:extLst>
              <a:ext uri="{FF2B5EF4-FFF2-40B4-BE49-F238E27FC236}">
                <a16:creationId xmlns:a16="http://schemas.microsoft.com/office/drawing/2014/main" id="{C030ED79-FF0A-488D-9B4D-E15C6FDA8AE2}"/>
              </a:ext>
            </a:extLst>
          </p:cNvPr>
          <p:cNvGrpSpPr>
            <a:grpSpLocks/>
          </p:cNvGrpSpPr>
          <p:nvPr/>
        </p:nvGrpSpPr>
        <p:grpSpPr bwMode="auto">
          <a:xfrm>
            <a:off x="1042988" y="3302000"/>
            <a:ext cx="3554412" cy="3051175"/>
            <a:chOff x="0" y="0"/>
            <a:chExt cx="2239" cy="1922"/>
          </a:xfrm>
        </p:grpSpPr>
        <p:pic>
          <p:nvPicPr>
            <p:cNvPr id="80904" name="Picture 6">
              <a:extLst>
                <a:ext uri="{FF2B5EF4-FFF2-40B4-BE49-F238E27FC236}">
                  <a16:creationId xmlns:a16="http://schemas.microsoft.com/office/drawing/2014/main" id="{557B5EFB-DC49-44D1-A55B-1DA887B76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24" cy="1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5" name="Text Box 7">
              <a:extLst>
                <a:ext uri="{FF2B5EF4-FFF2-40B4-BE49-F238E27FC236}">
                  <a16:creationId xmlns:a16="http://schemas.microsoft.com/office/drawing/2014/main" id="{4A124856-0F38-498F-B02A-DB9787E1DFA9}"/>
                </a:ext>
              </a:extLst>
            </p:cNvPr>
            <p:cNvSpPr>
              <a:spLocks noChangeArrowheads="1"/>
            </p:cNvSpPr>
            <p:nvPr/>
          </p:nvSpPr>
          <p:spPr bwMode="auto">
            <a:xfrm>
              <a:off x="226" y="1672"/>
              <a:ext cx="201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000">
                  <a:latin typeface="Arial" panose="020B0604020202020204" pitchFamily="34" charset="0"/>
                  <a:ea typeface="楷体_GB2312" pitchFamily="49" charset="-122"/>
                </a:rPr>
                <a:t>应变式加速度传感器</a:t>
              </a:r>
              <a:endParaRPr lang="zh-CN" altLang="en-US" sz="1800">
                <a:latin typeface="Arial" panose="020B0604020202020204" pitchFamily="34" charset="0"/>
              </a:endParaRPr>
            </a:p>
          </p:txBody>
        </p:sp>
      </p:grpSp>
      <p:sp>
        <p:nvSpPr>
          <p:cNvPr id="80903" name="Text Box 9">
            <a:extLst>
              <a:ext uri="{FF2B5EF4-FFF2-40B4-BE49-F238E27FC236}">
                <a16:creationId xmlns:a16="http://schemas.microsoft.com/office/drawing/2014/main" id="{E011B30C-150E-4F67-B147-06653314E151}"/>
              </a:ext>
            </a:extLst>
          </p:cNvPr>
          <p:cNvSpPr>
            <a:spLocks noChangeArrowheads="1"/>
          </p:cNvSpPr>
          <p:nvPr/>
        </p:nvSpPr>
        <p:spPr bwMode="auto">
          <a:xfrm>
            <a:off x="4933950" y="3427413"/>
            <a:ext cx="3495675" cy="2954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lnSpc>
                <a:spcPct val="130000"/>
              </a:lnSpc>
              <a:spcBef>
                <a:spcPct val="0"/>
              </a:spcBef>
              <a:buFont typeface="Arial" panose="020B0604020202020204" pitchFamily="34" charset="0"/>
              <a:buNone/>
            </a:pPr>
            <a:r>
              <a:rPr lang="zh-CN" altLang="en-US" sz="2000" dirty="0">
                <a:latin typeface="楷体_GB2312" pitchFamily="49" charset="-122"/>
                <a:ea typeface="楷体_GB2312" pitchFamily="49" charset="-122"/>
                <a:sym typeface="楷体_GB2312" pitchFamily="49" charset="-122"/>
              </a:rPr>
              <a:t>受惯性力</a:t>
            </a:r>
            <a:r>
              <a:rPr lang="en-US" altLang="zh-CN" sz="2000" dirty="0">
                <a:latin typeface="楷体_GB2312" pitchFamily="49" charset="-122"/>
                <a:ea typeface="楷体_GB2312" pitchFamily="49" charset="-122"/>
                <a:sym typeface="楷体_GB2312" pitchFamily="49" charset="-122"/>
              </a:rPr>
              <a:t>F=ma</a:t>
            </a:r>
            <a:r>
              <a:rPr lang="zh-CN" altLang="en-US" sz="2000" dirty="0">
                <a:latin typeface="楷体_GB2312" pitchFamily="49" charset="-122"/>
                <a:ea typeface="楷体_GB2312" pitchFamily="49" charset="-122"/>
                <a:sym typeface="楷体_GB2312" pitchFamily="49" charset="-122"/>
              </a:rPr>
              <a:t>的作用，质量块向箭头</a:t>
            </a:r>
            <a:r>
              <a:rPr lang="en-US" altLang="zh-CN" sz="2000" i="1" dirty="0">
                <a:latin typeface="楷体_GB2312" pitchFamily="49" charset="-122"/>
                <a:ea typeface="楷体_GB2312" pitchFamily="49" charset="-122"/>
                <a:sym typeface="楷体_GB2312" pitchFamily="49" charset="-122"/>
              </a:rPr>
              <a:t>a</a:t>
            </a:r>
            <a:r>
              <a:rPr lang="zh-CN" altLang="en-US" sz="2000" dirty="0">
                <a:latin typeface="楷体_GB2312" pitchFamily="49" charset="-122"/>
                <a:ea typeface="楷体_GB2312" pitchFamily="49" charset="-122"/>
                <a:sym typeface="楷体_GB2312" pitchFamily="49" charset="-122"/>
              </a:rPr>
              <a:t>相反的方向相对于基座运动，使梁发生弯曲变形，应变片电阻也发生变化，产生输出信号，输出信号大小与加速度成正比。 </a:t>
            </a:r>
          </a:p>
          <a:p>
            <a:pPr eaLnBrk="1" hangingPunct="1">
              <a:spcBef>
                <a:spcPct val="50000"/>
              </a:spcBef>
              <a:buFont typeface="Arial" panose="020B0604020202020204" pitchFamily="34" charset="0"/>
              <a:buNone/>
            </a:pPr>
            <a:endParaRPr lang="zh-CN" altLang="en-US" sz="2000" dirty="0">
              <a:latin typeface="Arial" panose="020B0604020202020204" pitchFamily="34"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4">
            <a:extLst>
              <a:ext uri="{FF2B5EF4-FFF2-40B4-BE49-F238E27FC236}">
                <a16:creationId xmlns:a16="http://schemas.microsoft.com/office/drawing/2014/main" id="{B8F3C2A8-E39C-4A2C-870A-82C4E94B2A9A}"/>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1923" name="灯片编号占位符 3">
            <a:extLst>
              <a:ext uri="{FF2B5EF4-FFF2-40B4-BE49-F238E27FC236}">
                <a16:creationId xmlns:a16="http://schemas.microsoft.com/office/drawing/2014/main" id="{7C8762C8-8C2B-429A-8553-BDBF4F3612E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10F64C21-EE71-40E3-82F7-E6FBAD03F64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79</a:t>
            </a:fld>
            <a:endParaRPr lang="en-US" altLang="zh-CN" sz="1400">
              <a:latin typeface="Arial" panose="020B0604020202020204" pitchFamily="34" charset="0"/>
            </a:endParaRPr>
          </a:p>
        </p:txBody>
      </p:sp>
      <p:sp>
        <p:nvSpPr>
          <p:cNvPr id="81924" name="TextBox 5">
            <a:extLst>
              <a:ext uri="{FF2B5EF4-FFF2-40B4-BE49-F238E27FC236}">
                <a16:creationId xmlns:a16="http://schemas.microsoft.com/office/drawing/2014/main" id="{CA3FA8FF-009E-4F5D-9C75-59D17D0BB9D2}"/>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rPr>
              <a:t>5</a:t>
            </a:r>
            <a:r>
              <a:rPr lang="zh-CN" altLang="en-US" b="1" dirty="0">
                <a:solidFill>
                  <a:srgbClr val="C00000"/>
                </a:solidFill>
              </a:rPr>
              <a:t>.5</a:t>
            </a:r>
            <a:r>
              <a:rPr lang="zh-CN" altLang="en-US" b="1" dirty="0">
                <a:solidFill>
                  <a:srgbClr val="CC0000"/>
                </a:solidFill>
                <a:latin typeface="楷体_GB2312" pitchFamily="49" charset="-122"/>
                <a:ea typeface="楷体_GB2312" pitchFamily="49" charset="-122"/>
                <a:sym typeface="楷体_GB2312" pitchFamily="49" charset="-122"/>
              </a:rPr>
              <a:t> 固态压阻器件</a:t>
            </a:r>
            <a:endParaRPr lang="zh-CN" altLang="en-US" sz="1800" dirty="0">
              <a:latin typeface="Arial" panose="020B0604020202020204" pitchFamily="34" charset="0"/>
            </a:endParaRPr>
          </a:p>
        </p:txBody>
      </p:sp>
      <p:sp>
        <p:nvSpPr>
          <p:cNvPr id="81925" name="Rectangle 197">
            <a:extLst>
              <a:ext uri="{FF2B5EF4-FFF2-40B4-BE49-F238E27FC236}">
                <a16:creationId xmlns:a16="http://schemas.microsoft.com/office/drawing/2014/main" id="{7EC42FDD-83B2-44A0-B0CD-DED3C6980DBD}"/>
              </a:ext>
            </a:extLst>
          </p:cNvPr>
          <p:cNvSpPr>
            <a:spLocks noChangeArrowheads="1"/>
          </p:cNvSpPr>
          <p:nvPr/>
        </p:nvSpPr>
        <p:spPr bwMode="auto">
          <a:xfrm>
            <a:off x="466725" y="1125538"/>
            <a:ext cx="8505825"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nSpc>
                <a:spcPct val="140000"/>
              </a:lnSpc>
              <a:spcBef>
                <a:spcPct val="0"/>
              </a:spcBef>
              <a:buFont typeface="Arial" panose="020B0604020202020204" pitchFamily="34" charset="0"/>
              <a:buNone/>
            </a:pPr>
            <a:r>
              <a:rPr lang="en-US" altLang="zh-CN" sz="2400" dirty="0">
                <a:solidFill>
                  <a:srgbClr val="000000"/>
                </a:solidFill>
                <a:latin typeface="楷体_GB2312" pitchFamily="49" charset="-122"/>
                <a:ea typeface="楷体_GB2312" pitchFamily="49" charset="-122"/>
                <a:sym typeface="楷体_GB2312" pitchFamily="49" charset="-122"/>
              </a:rPr>
              <a:t>    </a:t>
            </a:r>
            <a:r>
              <a:rPr lang="zh-CN" altLang="en-US" sz="2400" dirty="0">
                <a:solidFill>
                  <a:srgbClr val="000000"/>
                </a:solidFill>
                <a:latin typeface="楷体_GB2312" pitchFamily="49" charset="-122"/>
                <a:ea typeface="楷体_GB2312" pitchFamily="49" charset="-122"/>
                <a:sym typeface="楷体_GB2312" pitchFamily="49" charset="-122"/>
              </a:rPr>
              <a:t>利用</a:t>
            </a:r>
            <a:r>
              <a:rPr lang="zh-CN" altLang="en-US" sz="2400" dirty="0">
                <a:solidFill>
                  <a:srgbClr val="000000"/>
                </a:solidFill>
                <a:highlight>
                  <a:srgbClr val="FFFF00"/>
                </a:highlight>
                <a:latin typeface="楷体_GB2312" pitchFamily="49" charset="-122"/>
                <a:ea typeface="楷体_GB2312" pitchFamily="49" charset="-122"/>
                <a:sym typeface="楷体_GB2312" pitchFamily="49" charset="-122"/>
              </a:rPr>
              <a:t>固体扩散技术</a:t>
            </a:r>
            <a:r>
              <a:rPr lang="zh-CN" altLang="en-US" sz="2400" dirty="0">
                <a:solidFill>
                  <a:srgbClr val="000000"/>
                </a:solidFill>
                <a:latin typeface="楷体_GB2312" pitchFamily="49" charset="-122"/>
                <a:ea typeface="楷体_GB2312" pitchFamily="49" charset="-122"/>
                <a:sym typeface="楷体_GB2312" pitchFamily="49" charset="-122"/>
              </a:rPr>
              <a:t>，将</a:t>
            </a:r>
            <a:r>
              <a:rPr lang="en-US" altLang="zh-CN" sz="2400" dirty="0">
                <a:solidFill>
                  <a:srgbClr val="000000"/>
                </a:solidFill>
                <a:latin typeface="楷体_GB2312" pitchFamily="49" charset="-122"/>
                <a:ea typeface="楷体_GB2312" pitchFamily="49" charset="-122"/>
                <a:sym typeface="楷体_GB2312" pitchFamily="49" charset="-122"/>
              </a:rPr>
              <a:t>P</a:t>
            </a:r>
            <a:r>
              <a:rPr lang="zh-CN" altLang="en-US" sz="2400" dirty="0">
                <a:solidFill>
                  <a:srgbClr val="000000"/>
                </a:solidFill>
                <a:latin typeface="楷体_GB2312" pitchFamily="49" charset="-122"/>
                <a:ea typeface="楷体_GB2312" pitchFamily="49" charset="-122"/>
                <a:sym typeface="楷体_GB2312" pitchFamily="49" charset="-122"/>
              </a:rPr>
              <a:t>型杂质扩散到一片</a:t>
            </a:r>
            <a:r>
              <a:rPr lang="en-US" altLang="zh-CN" sz="2400" dirty="0">
                <a:solidFill>
                  <a:srgbClr val="000000"/>
                </a:solidFill>
                <a:latin typeface="楷体_GB2312" pitchFamily="49" charset="-122"/>
                <a:ea typeface="楷体_GB2312" pitchFamily="49" charset="-122"/>
                <a:sym typeface="楷体_GB2312" pitchFamily="49" charset="-122"/>
              </a:rPr>
              <a:t>N</a:t>
            </a:r>
            <a:r>
              <a:rPr lang="zh-CN" altLang="en-US" sz="2400" dirty="0">
                <a:solidFill>
                  <a:srgbClr val="000000"/>
                </a:solidFill>
                <a:latin typeface="楷体_GB2312" pitchFamily="49" charset="-122"/>
                <a:ea typeface="楷体_GB2312" pitchFamily="49" charset="-122"/>
                <a:sym typeface="楷体_GB2312" pitchFamily="49" charset="-122"/>
              </a:rPr>
              <a:t>型硅底层上，形成一层极薄的导电</a:t>
            </a:r>
            <a:r>
              <a:rPr lang="en-US" altLang="zh-CN" sz="2400" dirty="0">
                <a:solidFill>
                  <a:srgbClr val="000000"/>
                </a:solidFill>
                <a:latin typeface="楷体_GB2312" pitchFamily="49" charset="-122"/>
                <a:ea typeface="楷体_GB2312" pitchFamily="49" charset="-122"/>
                <a:sym typeface="楷体_GB2312" pitchFamily="49" charset="-122"/>
              </a:rPr>
              <a:t>P</a:t>
            </a:r>
            <a:r>
              <a:rPr lang="zh-CN" altLang="en-US" sz="2400" dirty="0">
                <a:solidFill>
                  <a:srgbClr val="000000"/>
                </a:solidFill>
                <a:latin typeface="楷体_GB2312" pitchFamily="49" charset="-122"/>
                <a:ea typeface="楷体_GB2312" pitchFamily="49" charset="-122"/>
                <a:sym typeface="楷体_GB2312" pitchFamily="49" charset="-122"/>
              </a:rPr>
              <a:t>型层，再装上引线接点。若在圆形硅膜片上扩散出四个</a:t>
            </a:r>
            <a:r>
              <a:rPr lang="en-US" altLang="zh-CN" sz="2400" dirty="0">
                <a:solidFill>
                  <a:srgbClr val="000000"/>
                </a:solidFill>
                <a:latin typeface="楷体_GB2312" pitchFamily="49" charset="-122"/>
                <a:ea typeface="楷体_GB2312" pitchFamily="49" charset="-122"/>
                <a:sym typeface="楷体_GB2312" pitchFamily="49" charset="-122"/>
              </a:rPr>
              <a:t>P</a:t>
            </a:r>
            <a:r>
              <a:rPr lang="zh-CN" altLang="en-US" sz="2400" dirty="0">
                <a:solidFill>
                  <a:srgbClr val="000000"/>
                </a:solidFill>
                <a:latin typeface="楷体_GB2312" pitchFamily="49" charset="-122"/>
                <a:ea typeface="楷体_GB2312" pitchFamily="49" charset="-122"/>
                <a:sym typeface="楷体_GB2312" pitchFamily="49" charset="-122"/>
              </a:rPr>
              <a:t>型电阻，构成惠斯登电桥的四个臂，这样的敏感器件通常称为固态压阻器件。</a:t>
            </a:r>
            <a:endParaRPr lang="zh-CN" altLang="en-US" sz="1800" dirty="0">
              <a:latin typeface="Arial" panose="020B0604020202020204" pitchFamily="34" charset="0"/>
            </a:endParaRPr>
          </a:p>
        </p:txBody>
      </p:sp>
      <p:grpSp>
        <p:nvGrpSpPr>
          <p:cNvPr id="81926" name="Group 4">
            <a:extLst>
              <a:ext uri="{FF2B5EF4-FFF2-40B4-BE49-F238E27FC236}">
                <a16:creationId xmlns:a16="http://schemas.microsoft.com/office/drawing/2014/main" id="{492B1C08-8B1E-450B-9FDF-D48751744A34}"/>
              </a:ext>
            </a:extLst>
          </p:cNvPr>
          <p:cNvGrpSpPr>
            <a:grpSpLocks/>
          </p:cNvGrpSpPr>
          <p:nvPr/>
        </p:nvGrpSpPr>
        <p:grpSpPr bwMode="auto">
          <a:xfrm>
            <a:off x="755650" y="3573463"/>
            <a:ext cx="3673475" cy="2376487"/>
            <a:chOff x="0" y="0"/>
            <a:chExt cx="2903" cy="2115"/>
          </a:xfrm>
        </p:grpSpPr>
        <p:sp>
          <p:nvSpPr>
            <p:cNvPr id="81929" name="Rectangle 5">
              <a:extLst>
                <a:ext uri="{FF2B5EF4-FFF2-40B4-BE49-F238E27FC236}">
                  <a16:creationId xmlns:a16="http://schemas.microsoft.com/office/drawing/2014/main" id="{F736CE57-654F-46CD-BC8D-F3C50DA981E1}"/>
                </a:ext>
              </a:extLst>
            </p:cNvPr>
            <p:cNvSpPr>
              <a:spLocks noChangeArrowheads="1"/>
            </p:cNvSpPr>
            <p:nvPr/>
          </p:nvSpPr>
          <p:spPr bwMode="auto">
            <a:xfrm>
              <a:off x="0" y="0"/>
              <a:ext cx="2903" cy="2115"/>
            </a:xfrm>
            <a:prstGeom prst="rect">
              <a:avLst/>
            </a:prstGeom>
            <a:solidFill>
              <a:srgbClr val="FF9900"/>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0" name="Freeform 6" descr="轮廓式菱形">
              <a:extLst>
                <a:ext uri="{FF2B5EF4-FFF2-40B4-BE49-F238E27FC236}">
                  <a16:creationId xmlns:a16="http://schemas.microsoft.com/office/drawing/2014/main" id="{EBAE1E74-1B57-40D9-888D-552E325813AF}"/>
                </a:ext>
              </a:extLst>
            </p:cNvPr>
            <p:cNvSpPr>
              <a:spLocks noChangeArrowheads="1"/>
            </p:cNvSpPr>
            <p:nvPr/>
          </p:nvSpPr>
          <p:spPr bwMode="auto">
            <a:xfrm>
              <a:off x="466" y="478"/>
              <a:ext cx="1808" cy="475"/>
            </a:xfrm>
            <a:custGeom>
              <a:avLst/>
              <a:gdLst>
                <a:gd name="T0" fmla="*/ 0 w 2168"/>
                <a:gd name="T1" fmla="*/ 2 h 570"/>
                <a:gd name="T2" fmla="*/ 0 w 2168"/>
                <a:gd name="T3" fmla="*/ 6 h 570"/>
                <a:gd name="T4" fmla="*/ 4 w 2168"/>
                <a:gd name="T5" fmla="*/ 6 h 570"/>
                <a:gd name="T6" fmla="*/ 4 w 2168"/>
                <a:gd name="T7" fmla="*/ 3 h 570"/>
                <a:gd name="T8" fmla="*/ 16 w 2168"/>
                <a:gd name="T9" fmla="*/ 3 h 570"/>
                <a:gd name="T10" fmla="*/ 16 w 2168"/>
                <a:gd name="T11" fmla="*/ 6 h 570"/>
                <a:gd name="T12" fmla="*/ 19 w 2168"/>
                <a:gd name="T13" fmla="*/ 6 h 570"/>
                <a:gd name="T14" fmla="*/ 19 w 2168"/>
                <a:gd name="T15" fmla="*/ 0 h 570"/>
                <a:gd name="T16" fmla="*/ 16 w 2168"/>
                <a:gd name="T17" fmla="*/ 0 h 570"/>
                <a:gd name="T18" fmla="*/ 16 w 2168"/>
                <a:gd name="T19" fmla="*/ 3 h 570"/>
                <a:gd name="T20" fmla="*/ 13 w 2168"/>
                <a:gd name="T21" fmla="*/ 3 h 570"/>
                <a:gd name="T22" fmla="*/ 13 w 2168"/>
                <a:gd name="T23" fmla="*/ 2 h 570"/>
                <a:gd name="T24" fmla="*/ 7 w 2168"/>
                <a:gd name="T25" fmla="*/ 2 h 570"/>
                <a:gd name="T26" fmla="*/ 7 w 2168"/>
                <a:gd name="T27" fmla="*/ 3 h 570"/>
                <a:gd name="T28" fmla="*/ 5 w 2168"/>
                <a:gd name="T29" fmla="*/ 3 h 570"/>
                <a:gd name="T30" fmla="*/ 4 w 2168"/>
                <a:gd name="T31" fmla="*/ 2 h 570"/>
                <a:gd name="T32" fmla="*/ 0 w 2168"/>
                <a:gd name="T33" fmla="*/ 2 h 57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168"/>
                <a:gd name="T52" fmla="*/ 0 h 570"/>
                <a:gd name="T53" fmla="*/ 2168 w 2168"/>
                <a:gd name="T54" fmla="*/ 570 h 57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168" h="570">
                  <a:moveTo>
                    <a:pt x="0" y="20"/>
                  </a:moveTo>
                  <a:lnTo>
                    <a:pt x="0" y="570"/>
                  </a:lnTo>
                  <a:lnTo>
                    <a:pt x="382" y="570"/>
                  </a:lnTo>
                  <a:lnTo>
                    <a:pt x="382" y="180"/>
                  </a:lnTo>
                  <a:lnTo>
                    <a:pt x="1800" y="180"/>
                  </a:lnTo>
                  <a:lnTo>
                    <a:pt x="1800" y="570"/>
                  </a:lnTo>
                  <a:lnTo>
                    <a:pt x="2166" y="570"/>
                  </a:lnTo>
                  <a:lnTo>
                    <a:pt x="2168" y="0"/>
                  </a:lnTo>
                  <a:lnTo>
                    <a:pt x="1798" y="0"/>
                  </a:lnTo>
                  <a:lnTo>
                    <a:pt x="1738" y="80"/>
                  </a:lnTo>
                  <a:lnTo>
                    <a:pt x="1492" y="80"/>
                  </a:lnTo>
                  <a:lnTo>
                    <a:pt x="1438" y="10"/>
                  </a:lnTo>
                  <a:lnTo>
                    <a:pt x="732" y="10"/>
                  </a:lnTo>
                  <a:lnTo>
                    <a:pt x="702" y="80"/>
                  </a:lnTo>
                  <a:lnTo>
                    <a:pt x="504" y="80"/>
                  </a:lnTo>
                  <a:lnTo>
                    <a:pt x="432" y="20"/>
                  </a:lnTo>
                  <a:lnTo>
                    <a:pt x="0" y="20"/>
                  </a:lnTo>
                  <a:close/>
                </a:path>
              </a:pathLst>
            </a:custGeom>
            <a:blipFill dpi="0" rotWithShape="0">
              <a:blip r:embed="rId2"/>
              <a:srcRect/>
              <a:tile tx="0" ty="0" sx="100000" sy="100000" flip="none" algn="tl"/>
            </a:blipFill>
            <a:ln w="9525">
              <a:solidFill>
                <a:srgbClr val="000000"/>
              </a:solidFill>
              <a:miter lim="800000"/>
              <a:headEnd/>
              <a:tailEnd/>
            </a:ln>
          </p:spPr>
          <p:txBody>
            <a:bodyPr/>
            <a:lstStyle/>
            <a:p>
              <a:endParaRPr lang="zh-CN" altLang="en-US"/>
            </a:p>
          </p:txBody>
        </p:sp>
        <p:sp>
          <p:nvSpPr>
            <p:cNvPr id="81931" name="Line 7">
              <a:extLst>
                <a:ext uri="{FF2B5EF4-FFF2-40B4-BE49-F238E27FC236}">
                  <a16:creationId xmlns:a16="http://schemas.microsoft.com/office/drawing/2014/main" id="{5959D223-EE0F-4AB6-8A4B-B10A55A3E4A4}"/>
                </a:ext>
              </a:extLst>
            </p:cNvPr>
            <p:cNvSpPr>
              <a:spLocks noChangeShapeType="1"/>
            </p:cNvSpPr>
            <p:nvPr/>
          </p:nvSpPr>
          <p:spPr bwMode="auto">
            <a:xfrm>
              <a:off x="466" y="488"/>
              <a:ext cx="1808"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2" name="Rectangle 8" descr="轮廓式菱形">
              <a:extLst>
                <a:ext uri="{FF2B5EF4-FFF2-40B4-BE49-F238E27FC236}">
                  <a16:creationId xmlns:a16="http://schemas.microsoft.com/office/drawing/2014/main" id="{ECC46563-03BC-4357-BA1F-F22890F4B189}"/>
                </a:ext>
              </a:extLst>
            </p:cNvPr>
            <p:cNvSpPr>
              <a:spLocks noChangeArrowheads="1"/>
            </p:cNvSpPr>
            <p:nvPr/>
          </p:nvSpPr>
          <p:spPr bwMode="auto">
            <a:xfrm>
              <a:off x="1675" y="951"/>
              <a:ext cx="597" cy="167"/>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3" name="Rectangle 9" descr="轮廓式菱形">
              <a:extLst>
                <a:ext uri="{FF2B5EF4-FFF2-40B4-BE49-F238E27FC236}">
                  <a16:creationId xmlns:a16="http://schemas.microsoft.com/office/drawing/2014/main" id="{E904ED1F-B2F2-48A9-BBD8-7693F41BF77D}"/>
                </a:ext>
              </a:extLst>
            </p:cNvPr>
            <p:cNvSpPr>
              <a:spLocks noChangeArrowheads="1"/>
            </p:cNvSpPr>
            <p:nvPr/>
          </p:nvSpPr>
          <p:spPr bwMode="auto">
            <a:xfrm>
              <a:off x="466" y="951"/>
              <a:ext cx="582" cy="167"/>
            </a:xfrm>
            <a:prstGeom prst="rect">
              <a:avLst/>
            </a:prstGeom>
            <a:blipFill dpi="0" rotWithShape="0">
              <a:blip r:embed="rId2"/>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4" name="Rectangle 10" descr="球体">
              <a:extLst>
                <a:ext uri="{FF2B5EF4-FFF2-40B4-BE49-F238E27FC236}">
                  <a16:creationId xmlns:a16="http://schemas.microsoft.com/office/drawing/2014/main" id="{F4908096-53F0-4ED0-80D4-72CD0A886026}"/>
                </a:ext>
              </a:extLst>
            </p:cNvPr>
            <p:cNvSpPr>
              <a:spLocks noChangeArrowheads="1"/>
            </p:cNvSpPr>
            <p:nvPr/>
          </p:nvSpPr>
          <p:spPr bwMode="auto">
            <a:xfrm>
              <a:off x="465" y="431"/>
              <a:ext cx="340" cy="60"/>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5" name="Rectangle 11" descr="球体">
              <a:extLst>
                <a:ext uri="{FF2B5EF4-FFF2-40B4-BE49-F238E27FC236}">
                  <a16:creationId xmlns:a16="http://schemas.microsoft.com/office/drawing/2014/main" id="{7A490E26-8862-47DD-A948-743AA892F063}"/>
                </a:ext>
              </a:extLst>
            </p:cNvPr>
            <p:cNvSpPr>
              <a:spLocks noChangeArrowheads="1"/>
            </p:cNvSpPr>
            <p:nvPr/>
          </p:nvSpPr>
          <p:spPr bwMode="auto">
            <a:xfrm>
              <a:off x="1970" y="425"/>
              <a:ext cx="304" cy="5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6" name="Rectangle 12" descr="球体">
              <a:extLst>
                <a:ext uri="{FF2B5EF4-FFF2-40B4-BE49-F238E27FC236}">
                  <a16:creationId xmlns:a16="http://schemas.microsoft.com/office/drawing/2014/main" id="{0D63905F-9302-4B2F-A267-B3B1F6215FE3}"/>
                </a:ext>
              </a:extLst>
            </p:cNvPr>
            <p:cNvSpPr>
              <a:spLocks noChangeArrowheads="1"/>
            </p:cNvSpPr>
            <p:nvPr/>
          </p:nvSpPr>
          <p:spPr bwMode="auto">
            <a:xfrm>
              <a:off x="1071" y="419"/>
              <a:ext cx="591" cy="79"/>
            </a:xfrm>
            <a:prstGeom prst="rect">
              <a:avLst/>
            </a:prstGeom>
            <a:blipFill dpi="0" rotWithShape="0">
              <a:blip r:embed="rId3"/>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7" name="Rectangle 13">
              <a:extLst>
                <a:ext uri="{FF2B5EF4-FFF2-40B4-BE49-F238E27FC236}">
                  <a16:creationId xmlns:a16="http://schemas.microsoft.com/office/drawing/2014/main" id="{D71207AD-9D86-42B9-8397-684729C3BF75}"/>
                </a:ext>
              </a:extLst>
            </p:cNvPr>
            <p:cNvSpPr>
              <a:spLocks noChangeArrowheads="1"/>
            </p:cNvSpPr>
            <p:nvPr/>
          </p:nvSpPr>
          <p:spPr bwMode="auto">
            <a:xfrm>
              <a:off x="1057" y="951"/>
              <a:ext cx="613" cy="944"/>
            </a:xfrm>
            <a:prstGeom prst="rect">
              <a:avLst/>
            </a:prstGeom>
            <a:solidFill>
              <a:srgbClr val="FFFFFF"/>
            </a:solid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8" name="Rectangle 14" descr="草皮">
              <a:extLst>
                <a:ext uri="{FF2B5EF4-FFF2-40B4-BE49-F238E27FC236}">
                  <a16:creationId xmlns:a16="http://schemas.microsoft.com/office/drawing/2014/main" id="{A575DF63-63B3-4D56-87E3-0DA398480B76}"/>
                </a:ext>
              </a:extLst>
            </p:cNvPr>
            <p:cNvSpPr>
              <a:spLocks noChangeArrowheads="1"/>
            </p:cNvSpPr>
            <p:nvPr/>
          </p:nvSpPr>
          <p:spPr bwMode="auto">
            <a:xfrm>
              <a:off x="1048" y="951"/>
              <a:ext cx="133" cy="945"/>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39" name="Rectangle 15" descr="草皮">
              <a:extLst>
                <a:ext uri="{FF2B5EF4-FFF2-40B4-BE49-F238E27FC236}">
                  <a16:creationId xmlns:a16="http://schemas.microsoft.com/office/drawing/2014/main" id="{20739055-E72C-4E9A-894D-6D7649354A5B}"/>
                </a:ext>
              </a:extLst>
            </p:cNvPr>
            <p:cNvSpPr>
              <a:spLocks noChangeArrowheads="1"/>
            </p:cNvSpPr>
            <p:nvPr/>
          </p:nvSpPr>
          <p:spPr bwMode="auto">
            <a:xfrm>
              <a:off x="1540" y="951"/>
              <a:ext cx="132" cy="946"/>
            </a:xfrm>
            <a:prstGeom prst="rect">
              <a:avLst/>
            </a:prstGeom>
            <a:blipFill dpi="0" rotWithShape="0">
              <a:blip r:embed="rId4"/>
              <a:srcRect/>
              <a:tile tx="0" ty="0" sx="100000" sy="100000" flip="none" algn="tl"/>
            </a:blipFill>
            <a:ln w="9525">
              <a:solidFill>
                <a:srgbClr val="000000"/>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endParaRPr lang="zh-CN" altLang="zh-CN" sz="1800">
                <a:solidFill>
                  <a:srgbClr val="000000"/>
                </a:solidFill>
                <a:latin typeface="Arial" panose="020B0604020202020204" pitchFamily="34" charset="0"/>
              </a:endParaRPr>
            </a:p>
          </p:txBody>
        </p:sp>
        <p:sp>
          <p:nvSpPr>
            <p:cNvPr id="81940" name="Line 16">
              <a:extLst>
                <a:ext uri="{FF2B5EF4-FFF2-40B4-BE49-F238E27FC236}">
                  <a16:creationId xmlns:a16="http://schemas.microsoft.com/office/drawing/2014/main" id="{9C1BF20F-30B1-466E-97BC-BE18827174C2}"/>
                </a:ext>
              </a:extLst>
            </p:cNvPr>
            <p:cNvSpPr>
              <a:spLocks noChangeShapeType="1"/>
            </p:cNvSpPr>
            <p:nvPr/>
          </p:nvSpPr>
          <p:spPr bwMode="auto">
            <a:xfrm>
              <a:off x="1348" y="155"/>
              <a:ext cx="1" cy="1885"/>
            </a:xfrm>
            <a:prstGeom prst="line">
              <a:avLst/>
            </a:prstGeom>
            <a:noFill/>
            <a:ln w="9525">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1" name="Rectangle 17">
              <a:extLst>
                <a:ext uri="{FF2B5EF4-FFF2-40B4-BE49-F238E27FC236}">
                  <a16:creationId xmlns:a16="http://schemas.microsoft.com/office/drawing/2014/main" id="{F9938453-6634-4368-9E87-5E9FC5BDD606}"/>
                </a:ext>
              </a:extLst>
            </p:cNvPr>
            <p:cNvSpPr>
              <a:spLocks noChangeArrowheads="1"/>
            </p:cNvSpPr>
            <p:nvPr/>
          </p:nvSpPr>
          <p:spPr bwMode="auto">
            <a:xfrm>
              <a:off x="2389" y="786"/>
              <a:ext cx="1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lgn="just">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sym typeface="Times New Roman" panose="02020603050405020304" pitchFamily="18" charset="0"/>
              </a:endParaRPr>
            </a:p>
            <a:p>
              <a:pPr>
                <a:spcBef>
                  <a:spcPct val="0"/>
                </a:spcBef>
                <a:buFont typeface="Arial" panose="020B0604020202020204" pitchFamily="34" charset="0"/>
                <a:buNone/>
              </a:pPr>
              <a:endParaRPr lang="zh-CN" altLang="zh-CN" sz="2400" b="1">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42" name="Line 18">
              <a:extLst>
                <a:ext uri="{FF2B5EF4-FFF2-40B4-BE49-F238E27FC236}">
                  <a16:creationId xmlns:a16="http://schemas.microsoft.com/office/drawing/2014/main" id="{E2B2BDAA-9B21-4424-835D-D1E755B16EA2}"/>
                </a:ext>
              </a:extLst>
            </p:cNvPr>
            <p:cNvSpPr>
              <a:spLocks noChangeShapeType="1"/>
            </p:cNvSpPr>
            <p:nvPr/>
          </p:nvSpPr>
          <p:spPr bwMode="auto">
            <a:xfrm>
              <a:off x="807" y="234"/>
              <a:ext cx="92" cy="3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3" name="Line 19">
              <a:extLst>
                <a:ext uri="{FF2B5EF4-FFF2-40B4-BE49-F238E27FC236}">
                  <a16:creationId xmlns:a16="http://schemas.microsoft.com/office/drawing/2014/main" id="{5D81808E-80C9-49B9-95AC-6008DA6175BA}"/>
                </a:ext>
              </a:extLst>
            </p:cNvPr>
            <p:cNvSpPr>
              <a:spLocks noChangeShapeType="1"/>
            </p:cNvSpPr>
            <p:nvPr/>
          </p:nvSpPr>
          <p:spPr bwMode="auto">
            <a:xfrm>
              <a:off x="1646" y="235"/>
              <a:ext cx="91" cy="3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4" name="Line 20">
              <a:extLst>
                <a:ext uri="{FF2B5EF4-FFF2-40B4-BE49-F238E27FC236}">
                  <a16:creationId xmlns:a16="http://schemas.microsoft.com/office/drawing/2014/main" id="{15FD8DB2-1883-4F74-ABFE-2BEDD426841D}"/>
                </a:ext>
              </a:extLst>
            </p:cNvPr>
            <p:cNvSpPr>
              <a:spLocks noChangeShapeType="1"/>
            </p:cNvSpPr>
            <p:nvPr/>
          </p:nvSpPr>
          <p:spPr bwMode="auto">
            <a:xfrm flipH="1">
              <a:off x="1893" y="235"/>
              <a:ext cx="92" cy="3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5" name="Line 21">
              <a:extLst>
                <a:ext uri="{FF2B5EF4-FFF2-40B4-BE49-F238E27FC236}">
                  <a16:creationId xmlns:a16="http://schemas.microsoft.com/office/drawing/2014/main" id="{231D43EA-F9FE-4943-8B61-B220BC76FA8F}"/>
                </a:ext>
              </a:extLst>
            </p:cNvPr>
            <p:cNvSpPr>
              <a:spLocks noChangeShapeType="1"/>
            </p:cNvSpPr>
            <p:nvPr/>
          </p:nvSpPr>
          <p:spPr bwMode="auto">
            <a:xfrm flipH="1">
              <a:off x="1009" y="238"/>
              <a:ext cx="91" cy="30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6" name="Line 22">
              <a:extLst>
                <a:ext uri="{FF2B5EF4-FFF2-40B4-BE49-F238E27FC236}">
                  <a16:creationId xmlns:a16="http://schemas.microsoft.com/office/drawing/2014/main" id="{94D604D8-A8D2-44CC-8F54-50899056C2AB}"/>
                </a:ext>
              </a:extLst>
            </p:cNvPr>
            <p:cNvSpPr>
              <a:spLocks noChangeShapeType="1"/>
            </p:cNvSpPr>
            <p:nvPr/>
          </p:nvSpPr>
          <p:spPr bwMode="auto">
            <a:xfrm>
              <a:off x="584" y="258"/>
              <a:ext cx="242" cy="5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7" name="Line 23">
              <a:extLst>
                <a:ext uri="{FF2B5EF4-FFF2-40B4-BE49-F238E27FC236}">
                  <a16:creationId xmlns:a16="http://schemas.microsoft.com/office/drawing/2014/main" id="{A9AB4FCA-97EC-4C2F-8CEF-9F1AADA582B0}"/>
                </a:ext>
              </a:extLst>
            </p:cNvPr>
            <p:cNvSpPr>
              <a:spLocks noChangeShapeType="1"/>
            </p:cNvSpPr>
            <p:nvPr/>
          </p:nvSpPr>
          <p:spPr bwMode="auto">
            <a:xfrm flipV="1">
              <a:off x="302" y="450"/>
              <a:ext cx="193" cy="6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8" name="Line 24">
              <a:extLst>
                <a:ext uri="{FF2B5EF4-FFF2-40B4-BE49-F238E27FC236}">
                  <a16:creationId xmlns:a16="http://schemas.microsoft.com/office/drawing/2014/main" id="{F97BFD92-A862-49FD-9ED7-A6E5B3F457FD}"/>
                </a:ext>
              </a:extLst>
            </p:cNvPr>
            <p:cNvSpPr>
              <a:spLocks noChangeShapeType="1"/>
            </p:cNvSpPr>
            <p:nvPr/>
          </p:nvSpPr>
          <p:spPr bwMode="auto">
            <a:xfrm flipV="1">
              <a:off x="2207" y="542"/>
              <a:ext cx="144" cy="5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9" name="Line 25">
              <a:extLst>
                <a:ext uri="{FF2B5EF4-FFF2-40B4-BE49-F238E27FC236}">
                  <a16:creationId xmlns:a16="http://schemas.microsoft.com/office/drawing/2014/main" id="{E6045C4C-9353-4726-8268-6296F48B053B}"/>
                </a:ext>
              </a:extLst>
            </p:cNvPr>
            <p:cNvSpPr>
              <a:spLocks noChangeShapeType="1"/>
            </p:cNvSpPr>
            <p:nvPr/>
          </p:nvSpPr>
          <p:spPr bwMode="auto">
            <a:xfrm>
              <a:off x="1817" y="506"/>
              <a:ext cx="652" cy="41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0" name="Line 26">
              <a:extLst>
                <a:ext uri="{FF2B5EF4-FFF2-40B4-BE49-F238E27FC236}">
                  <a16:creationId xmlns:a16="http://schemas.microsoft.com/office/drawing/2014/main" id="{7E7DCD74-FB7D-43C2-97D1-3366B6024074}"/>
                </a:ext>
              </a:extLst>
            </p:cNvPr>
            <p:cNvSpPr>
              <a:spLocks noChangeShapeType="1"/>
            </p:cNvSpPr>
            <p:nvPr/>
          </p:nvSpPr>
          <p:spPr bwMode="auto">
            <a:xfrm>
              <a:off x="1964" y="952"/>
              <a:ext cx="30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1" name="Line 27">
              <a:extLst>
                <a:ext uri="{FF2B5EF4-FFF2-40B4-BE49-F238E27FC236}">
                  <a16:creationId xmlns:a16="http://schemas.microsoft.com/office/drawing/2014/main" id="{DC4742D5-A950-490B-85C8-79754290BD15}"/>
                </a:ext>
              </a:extLst>
            </p:cNvPr>
            <p:cNvSpPr>
              <a:spLocks noChangeShapeType="1"/>
            </p:cNvSpPr>
            <p:nvPr/>
          </p:nvSpPr>
          <p:spPr bwMode="auto">
            <a:xfrm>
              <a:off x="461" y="950"/>
              <a:ext cx="329"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2" name="Line 28">
              <a:extLst>
                <a:ext uri="{FF2B5EF4-FFF2-40B4-BE49-F238E27FC236}">
                  <a16:creationId xmlns:a16="http://schemas.microsoft.com/office/drawing/2014/main" id="{932D49E4-307D-422E-9E95-C4215E4B56F4}"/>
                </a:ext>
              </a:extLst>
            </p:cNvPr>
            <p:cNvSpPr>
              <a:spLocks noChangeShapeType="1"/>
            </p:cNvSpPr>
            <p:nvPr/>
          </p:nvSpPr>
          <p:spPr bwMode="auto">
            <a:xfrm>
              <a:off x="2276" y="947"/>
              <a:ext cx="165" cy="242"/>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3" name="Line 29">
              <a:extLst>
                <a:ext uri="{FF2B5EF4-FFF2-40B4-BE49-F238E27FC236}">
                  <a16:creationId xmlns:a16="http://schemas.microsoft.com/office/drawing/2014/main" id="{3309C101-FE2D-48A1-B560-902F8BF866CE}"/>
                </a:ext>
              </a:extLst>
            </p:cNvPr>
            <p:cNvSpPr>
              <a:spLocks noChangeShapeType="1"/>
            </p:cNvSpPr>
            <p:nvPr/>
          </p:nvSpPr>
          <p:spPr bwMode="auto">
            <a:xfrm>
              <a:off x="1985" y="1047"/>
              <a:ext cx="223" cy="319"/>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4" name="Line 30">
              <a:extLst>
                <a:ext uri="{FF2B5EF4-FFF2-40B4-BE49-F238E27FC236}">
                  <a16:creationId xmlns:a16="http://schemas.microsoft.com/office/drawing/2014/main" id="{3F6E8278-5B6A-404A-AAD0-FFF67605866A}"/>
                </a:ext>
              </a:extLst>
            </p:cNvPr>
            <p:cNvSpPr>
              <a:spLocks noChangeShapeType="1"/>
            </p:cNvSpPr>
            <p:nvPr/>
          </p:nvSpPr>
          <p:spPr bwMode="auto">
            <a:xfrm>
              <a:off x="1540" y="1698"/>
              <a:ext cx="435" cy="7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5" name="Text Box 31">
              <a:extLst>
                <a:ext uri="{FF2B5EF4-FFF2-40B4-BE49-F238E27FC236}">
                  <a16:creationId xmlns:a16="http://schemas.microsoft.com/office/drawing/2014/main" id="{D2B0D90D-5266-4667-9DEA-7F0B1DFE2EE0}"/>
                </a:ext>
              </a:extLst>
            </p:cNvPr>
            <p:cNvSpPr>
              <a:spLocks noChangeArrowheads="1"/>
            </p:cNvSpPr>
            <p:nvPr/>
          </p:nvSpPr>
          <p:spPr bwMode="auto">
            <a:xfrm>
              <a:off x="2315" y="343"/>
              <a:ext cx="32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1</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56" name="Text Box 32">
              <a:extLst>
                <a:ext uri="{FF2B5EF4-FFF2-40B4-BE49-F238E27FC236}">
                  <a16:creationId xmlns:a16="http://schemas.microsoft.com/office/drawing/2014/main" id="{410FBAD3-821B-4019-84B3-246FA8B1EF1F}"/>
                </a:ext>
              </a:extLst>
            </p:cNvPr>
            <p:cNvSpPr>
              <a:spLocks noChangeArrowheads="1"/>
            </p:cNvSpPr>
            <p:nvPr/>
          </p:nvSpPr>
          <p:spPr bwMode="auto">
            <a:xfrm>
              <a:off x="2431" y="769"/>
              <a:ext cx="336"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2</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57" name="Text Box 33">
              <a:extLst>
                <a:ext uri="{FF2B5EF4-FFF2-40B4-BE49-F238E27FC236}">
                  <a16:creationId xmlns:a16="http://schemas.microsoft.com/office/drawing/2014/main" id="{D454027B-A836-4E80-B4FA-E2F07CE3C1E8}"/>
                </a:ext>
              </a:extLst>
            </p:cNvPr>
            <p:cNvSpPr>
              <a:spLocks noChangeArrowheads="1"/>
            </p:cNvSpPr>
            <p:nvPr/>
          </p:nvSpPr>
          <p:spPr bwMode="auto">
            <a:xfrm>
              <a:off x="2379" y="1050"/>
              <a:ext cx="38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3</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58" name="Text Box 34">
              <a:extLst>
                <a:ext uri="{FF2B5EF4-FFF2-40B4-BE49-F238E27FC236}">
                  <a16:creationId xmlns:a16="http://schemas.microsoft.com/office/drawing/2014/main" id="{70C67AA4-639F-4AC0-BD18-4A09B522F6FD}"/>
                </a:ext>
              </a:extLst>
            </p:cNvPr>
            <p:cNvSpPr>
              <a:spLocks noChangeArrowheads="1"/>
            </p:cNvSpPr>
            <p:nvPr/>
          </p:nvSpPr>
          <p:spPr bwMode="auto">
            <a:xfrm>
              <a:off x="2134" y="1277"/>
              <a:ext cx="276"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81959" name="Text Box 35">
              <a:extLst>
                <a:ext uri="{FF2B5EF4-FFF2-40B4-BE49-F238E27FC236}">
                  <a16:creationId xmlns:a16="http://schemas.microsoft.com/office/drawing/2014/main" id="{198973F3-4DDE-4435-AAC8-563CFC60965B}"/>
                </a:ext>
              </a:extLst>
            </p:cNvPr>
            <p:cNvSpPr>
              <a:spLocks noChangeArrowheads="1"/>
            </p:cNvSpPr>
            <p:nvPr/>
          </p:nvSpPr>
          <p:spPr bwMode="auto">
            <a:xfrm>
              <a:off x="1944" y="1601"/>
              <a:ext cx="27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81960" name="Text Box 36">
              <a:extLst>
                <a:ext uri="{FF2B5EF4-FFF2-40B4-BE49-F238E27FC236}">
                  <a16:creationId xmlns:a16="http://schemas.microsoft.com/office/drawing/2014/main" id="{25BC0327-9DA3-4E8C-A580-F17312BA91C0}"/>
                </a:ext>
              </a:extLst>
            </p:cNvPr>
            <p:cNvSpPr>
              <a:spLocks noChangeArrowheads="1"/>
            </p:cNvSpPr>
            <p:nvPr/>
          </p:nvSpPr>
          <p:spPr bwMode="auto">
            <a:xfrm flipH="1" flipV="1">
              <a:off x="132" y="428"/>
              <a:ext cx="255" cy="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81961" name="Text Box 37">
              <a:extLst>
                <a:ext uri="{FF2B5EF4-FFF2-40B4-BE49-F238E27FC236}">
                  <a16:creationId xmlns:a16="http://schemas.microsoft.com/office/drawing/2014/main" id="{85B15DE0-3A83-4822-B430-AE3C5DCDF32E}"/>
                </a:ext>
              </a:extLst>
            </p:cNvPr>
            <p:cNvSpPr>
              <a:spLocks noChangeArrowheads="1"/>
            </p:cNvSpPr>
            <p:nvPr/>
          </p:nvSpPr>
          <p:spPr bwMode="auto">
            <a:xfrm>
              <a:off x="323" y="97"/>
              <a:ext cx="381"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endParaRPr lang="zh-CN" altLang="zh-CN" sz="1800">
                <a:latin typeface="Arial" panose="020B0604020202020204" pitchFamily="34" charset="0"/>
              </a:endParaRPr>
            </a:p>
          </p:txBody>
        </p:sp>
        <p:sp>
          <p:nvSpPr>
            <p:cNvPr id="81962" name="Text Box 38">
              <a:extLst>
                <a:ext uri="{FF2B5EF4-FFF2-40B4-BE49-F238E27FC236}">
                  <a16:creationId xmlns:a16="http://schemas.microsoft.com/office/drawing/2014/main" id="{69E94E07-F760-490D-83CE-FFF62A11C41C}"/>
                </a:ext>
              </a:extLst>
            </p:cNvPr>
            <p:cNvSpPr>
              <a:spLocks noChangeArrowheads="1"/>
            </p:cNvSpPr>
            <p:nvPr/>
          </p:nvSpPr>
          <p:spPr bwMode="auto">
            <a:xfrm>
              <a:off x="2131" y="1252"/>
              <a:ext cx="390"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4</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63" name="Text Box 39">
              <a:extLst>
                <a:ext uri="{FF2B5EF4-FFF2-40B4-BE49-F238E27FC236}">
                  <a16:creationId xmlns:a16="http://schemas.microsoft.com/office/drawing/2014/main" id="{E893E01F-BE26-4208-985B-D10591824691}"/>
                </a:ext>
              </a:extLst>
            </p:cNvPr>
            <p:cNvSpPr>
              <a:spLocks noChangeArrowheads="1"/>
            </p:cNvSpPr>
            <p:nvPr/>
          </p:nvSpPr>
          <p:spPr bwMode="auto">
            <a:xfrm>
              <a:off x="1888" y="1622"/>
              <a:ext cx="391"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5</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64" name="Text Box 40">
              <a:extLst>
                <a:ext uri="{FF2B5EF4-FFF2-40B4-BE49-F238E27FC236}">
                  <a16:creationId xmlns:a16="http://schemas.microsoft.com/office/drawing/2014/main" id="{E26390AB-80DF-46C1-AD28-202852F6761C}"/>
                </a:ext>
              </a:extLst>
            </p:cNvPr>
            <p:cNvSpPr>
              <a:spLocks noChangeArrowheads="1"/>
            </p:cNvSpPr>
            <p:nvPr/>
          </p:nvSpPr>
          <p:spPr bwMode="auto">
            <a:xfrm>
              <a:off x="90" y="380"/>
              <a:ext cx="385"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6</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sp>
          <p:nvSpPr>
            <p:cNvPr id="81965" name="Text Box 41">
              <a:extLst>
                <a:ext uri="{FF2B5EF4-FFF2-40B4-BE49-F238E27FC236}">
                  <a16:creationId xmlns:a16="http://schemas.microsoft.com/office/drawing/2014/main" id="{A1CC90B4-3BBE-418E-BD28-4B8EF4AF2B8B}"/>
                </a:ext>
              </a:extLst>
            </p:cNvPr>
            <p:cNvSpPr>
              <a:spLocks noChangeArrowheads="1"/>
            </p:cNvSpPr>
            <p:nvPr/>
          </p:nvSpPr>
          <p:spPr bwMode="auto">
            <a:xfrm>
              <a:off x="365" y="90"/>
              <a:ext cx="391"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eaLnBrk="1" hangingPunct="1">
                <a:spcBef>
                  <a:spcPct val="0"/>
                </a:spcBef>
                <a:buFont typeface="Arial" panose="020B0604020202020204" pitchFamily="34" charset="0"/>
                <a:buNone/>
              </a:pPr>
              <a:r>
                <a:rPr lang="en-US" altLang="zh-CN" sz="2400">
                  <a:solidFill>
                    <a:srgbClr val="00FFFF"/>
                  </a:solidFill>
                  <a:latin typeface="Times New Roman" panose="02020603050405020304" pitchFamily="18" charset="0"/>
                  <a:sym typeface="Times New Roman" panose="02020603050405020304" pitchFamily="18" charset="0"/>
                </a:rPr>
                <a:t>7</a:t>
              </a:r>
              <a:endParaRPr lang="en-US" altLang="zh-CN" sz="2400">
                <a:solidFill>
                  <a:srgbClr val="00FFFF"/>
                </a:solidFill>
                <a:latin typeface="Times New Roman" panose="02020603050405020304" pitchFamily="18" charset="0"/>
                <a:ea typeface="仿宋_GB2312" pitchFamily="49" charset="-122"/>
                <a:sym typeface="Times New Roman" panose="02020603050405020304" pitchFamily="18" charset="0"/>
              </a:endParaRPr>
            </a:p>
          </p:txBody>
        </p:sp>
      </p:grpSp>
      <p:sp>
        <p:nvSpPr>
          <p:cNvPr id="81927" name="Rectangle 42">
            <a:extLst>
              <a:ext uri="{FF2B5EF4-FFF2-40B4-BE49-F238E27FC236}">
                <a16:creationId xmlns:a16="http://schemas.microsoft.com/office/drawing/2014/main" id="{B902B4EC-95B1-4CC7-8058-594118000E17}"/>
              </a:ext>
            </a:extLst>
          </p:cNvPr>
          <p:cNvSpPr>
            <a:spLocks noChangeArrowheads="1"/>
          </p:cNvSpPr>
          <p:nvPr/>
        </p:nvSpPr>
        <p:spPr bwMode="auto">
          <a:xfrm>
            <a:off x="5435600" y="3213100"/>
            <a:ext cx="283845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457200" indent="-4572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just">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1</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en-US" altLang="zh-CN" sz="2400">
                <a:solidFill>
                  <a:srgbClr val="000000"/>
                </a:solidFill>
                <a:latin typeface="楷体_GB2312" pitchFamily="49" charset="-122"/>
                <a:ea typeface="楷体_GB2312" pitchFamily="49" charset="-122"/>
                <a:sym typeface="楷体_GB2312" pitchFamily="49" charset="-122"/>
              </a:rPr>
              <a:t>N-Si</a:t>
            </a:r>
            <a:r>
              <a:rPr lang="zh-CN" altLang="en-US" sz="2400">
                <a:solidFill>
                  <a:srgbClr val="000000"/>
                </a:solidFill>
                <a:latin typeface="楷体_GB2312" pitchFamily="49" charset="-122"/>
                <a:ea typeface="楷体_GB2312" pitchFamily="49" charset="-122"/>
                <a:sym typeface="楷体_GB2312" pitchFamily="49" charset="-122"/>
              </a:rPr>
              <a:t>膜片  </a:t>
            </a:r>
          </a:p>
          <a:p>
            <a:pPr algn="just">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2</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en-US" altLang="zh-CN" sz="2400">
                <a:solidFill>
                  <a:srgbClr val="000000"/>
                </a:solidFill>
                <a:latin typeface="楷体_GB2312" pitchFamily="49" charset="-122"/>
                <a:ea typeface="楷体_GB2312" pitchFamily="49" charset="-122"/>
                <a:sym typeface="楷体_GB2312" pitchFamily="49" charset="-122"/>
              </a:rPr>
              <a:t>P-Si</a:t>
            </a:r>
            <a:r>
              <a:rPr lang="zh-CN" altLang="en-US" sz="2400">
                <a:solidFill>
                  <a:srgbClr val="000000"/>
                </a:solidFill>
                <a:latin typeface="楷体_GB2312" pitchFamily="49" charset="-122"/>
                <a:ea typeface="楷体_GB2312" pitchFamily="49" charset="-122"/>
                <a:sym typeface="楷体_GB2312" pitchFamily="49" charset="-122"/>
              </a:rPr>
              <a:t>导电层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3</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zh-CN" altLang="en-US" sz="2400">
                <a:solidFill>
                  <a:srgbClr val="000000"/>
                </a:solidFill>
                <a:latin typeface="楷体_GB2312" pitchFamily="49" charset="-122"/>
                <a:ea typeface="楷体_GB2312" pitchFamily="49" charset="-122"/>
                <a:sym typeface="楷体_GB2312" pitchFamily="49" charset="-122"/>
              </a:rPr>
              <a:t>粘贴剂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4</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zh-CN" altLang="en-US" sz="2400">
                <a:solidFill>
                  <a:srgbClr val="000000"/>
                </a:solidFill>
                <a:latin typeface="楷体_GB2312" pitchFamily="49" charset="-122"/>
                <a:ea typeface="楷体_GB2312" pitchFamily="49" charset="-122"/>
                <a:sym typeface="楷体_GB2312" pitchFamily="49" charset="-122"/>
              </a:rPr>
              <a:t>硅底座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5</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zh-CN" altLang="en-US" sz="2400">
                <a:solidFill>
                  <a:srgbClr val="000000"/>
                </a:solidFill>
                <a:latin typeface="楷体_GB2312" pitchFamily="49" charset="-122"/>
                <a:ea typeface="楷体_GB2312" pitchFamily="49" charset="-122"/>
                <a:sym typeface="楷体_GB2312" pitchFamily="49" charset="-122"/>
              </a:rPr>
              <a:t>引压管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6</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en-US" altLang="zh-CN" sz="2400">
                <a:solidFill>
                  <a:srgbClr val="000000"/>
                </a:solidFill>
                <a:latin typeface="楷体_GB2312" pitchFamily="49" charset="-122"/>
                <a:ea typeface="楷体_GB2312" pitchFamily="49" charset="-122"/>
                <a:sym typeface="楷体_GB2312" pitchFamily="49" charset="-122"/>
              </a:rPr>
              <a:t>Si </a:t>
            </a:r>
            <a:r>
              <a:rPr lang="zh-CN" altLang="en-US" sz="2400">
                <a:solidFill>
                  <a:srgbClr val="000000"/>
                </a:solidFill>
                <a:latin typeface="楷体_GB2312" pitchFamily="49" charset="-122"/>
                <a:ea typeface="楷体_GB2312" pitchFamily="49" charset="-122"/>
                <a:sym typeface="楷体_GB2312" pitchFamily="49" charset="-122"/>
              </a:rPr>
              <a:t>保护膜 </a:t>
            </a:r>
          </a:p>
          <a:p>
            <a:pPr>
              <a:lnSpc>
                <a:spcPct val="130000"/>
              </a:lnSpc>
              <a:spcBef>
                <a:spcPct val="0"/>
              </a:spcBef>
              <a:buFont typeface="Arial" panose="020B0604020202020204" pitchFamily="34" charset="0"/>
              <a:buNone/>
            </a:pPr>
            <a:r>
              <a:rPr lang="en-US" altLang="zh-CN" sz="2400">
                <a:solidFill>
                  <a:srgbClr val="000000"/>
                </a:solidFill>
                <a:latin typeface="楷体_GB2312" pitchFamily="49" charset="-122"/>
                <a:ea typeface="楷体_GB2312" pitchFamily="49" charset="-122"/>
                <a:sym typeface="楷体_GB2312" pitchFamily="49" charset="-122"/>
              </a:rPr>
              <a:t>7</a:t>
            </a:r>
            <a:r>
              <a:rPr lang="en-US" altLang="zh-CN" sz="2400">
                <a:solidFill>
                  <a:srgbClr val="000000"/>
                </a:solidFill>
                <a:latin typeface="华文仿宋" panose="02010600040101010101" pitchFamily="2" charset="-122"/>
                <a:ea typeface="楷体_GB2312" pitchFamily="49" charset="-122"/>
                <a:sym typeface="华文仿宋" panose="02010600040101010101" pitchFamily="2" charset="-122"/>
              </a:rPr>
              <a:t>—</a:t>
            </a:r>
            <a:r>
              <a:rPr lang="zh-CN" altLang="en-US" sz="2400">
                <a:solidFill>
                  <a:srgbClr val="000000"/>
                </a:solidFill>
                <a:latin typeface="楷体_GB2312" pitchFamily="49" charset="-122"/>
                <a:ea typeface="楷体_GB2312" pitchFamily="49" charset="-122"/>
                <a:sym typeface="楷体_GB2312" pitchFamily="49" charset="-122"/>
              </a:rPr>
              <a:t>引线</a:t>
            </a:r>
            <a:r>
              <a:rPr lang="zh-CN" altLang="en-US" sz="2400">
                <a:solidFill>
                  <a:srgbClr val="000000"/>
                </a:solidFill>
                <a:latin typeface="华文仿宋" panose="02010600040101010101" pitchFamily="2" charset="-122"/>
                <a:ea typeface="楷体_GB2312" pitchFamily="49" charset="-122"/>
                <a:sym typeface="华文仿宋" panose="02010600040101010101" pitchFamily="2" charset="-122"/>
              </a:rPr>
              <a:t> </a:t>
            </a:r>
            <a:endParaRPr lang="zh-CN" altLang="en-US" sz="2400">
              <a:solidFill>
                <a:srgbClr val="000000"/>
              </a:solidFill>
              <a:latin typeface="楷体_GB2312" pitchFamily="49" charset="-122"/>
              <a:ea typeface="楷体_GB2312" pitchFamily="49" charset="-122"/>
              <a:sym typeface="楷体_GB2312" pitchFamily="49" charset="-122"/>
            </a:endParaRPr>
          </a:p>
        </p:txBody>
      </p:sp>
      <p:sp>
        <p:nvSpPr>
          <p:cNvPr id="81928" name="Text Box 43">
            <a:extLst>
              <a:ext uri="{FF2B5EF4-FFF2-40B4-BE49-F238E27FC236}">
                <a16:creationId xmlns:a16="http://schemas.microsoft.com/office/drawing/2014/main" id="{BE6A59C0-7155-49ED-B509-03D2D57539CD}"/>
              </a:ext>
            </a:extLst>
          </p:cNvPr>
          <p:cNvSpPr>
            <a:spLocks noChangeArrowheads="1"/>
          </p:cNvSpPr>
          <p:nvPr/>
        </p:nvSpPr>
        <p:spPr bwMode="auto">
          <a:xfrm>
            <a:off x="1620838" y="6094413"/>
            <a:ext cx="19431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50000"/>
              </a:spcBef>
              <a:buFont typeface="Arial" panose="020B0604020202020204" pitchFamily="34" charset="0"/>
              <a:buNone/>
            </a:pPr>
            <a:r>
              <a:rPr lang="zh-CN" altLang="en-US" sz="2000">
                <a:latin typeface="Arial" panose="020B0604020202020204" pitchFamily="34" charset="0"/>
                <a:ea typeface="楷体_GB2312" pitchFamily="49" charset="-122"/>
              </a:rPr>
              <a:t>固态压阻器件</a:t>
            </a:r>
            <a:endParaRPr lang="zh-CN" altLang="en-US" sz="1800">
              <a:latin typeface="Arial" panose="020B0604020202020204" pitchFamily="34"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矩形 4">
            <a:extLst>
              <a:ext uri="{FF2B5EF4-FFF2-40B4-BE49-F238E27FC236}">
                <a16:creationId xmlns:a16="http://schemas.microsoft.com/office/drawing/2014/main" id="{B7312A89-1A41-4021-9C86-6150B64E3C4C}"/>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2947" name="灯片编号占位符 3">
            <a:extLst>
              <a:ext uri="{FF2B5EF4-FFF2-40B4-BE49-F238E27FC236}">
                <a16:creationId xmlns:a16="http://schemas.microsoft.com/office/drawing/2014/main" id="{25E0AAE4-3335-4F1B-8592-7C1EEE832FDB}"/>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18FA33F7-0DD4-4070-888A-71710AA8CFA9}"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80</a:t>
            </a:fld>
            <a:endParaRPr lang="en-US" altLang="zh-CN" sz="1400">
              <a:latin typeface="Arial" panose="020B0604020202020204" pitchFamily="34" charset="0"/>
            </a:endParaRPr>
          </a:p>
        </p:txBody>
      </p:sp>
      <p:sp>
        <p:nvSpPr>
          <p:cNvPr id="64" name="Rectangle 2">
            <a:extLst>
              <a:ext uri="{FF2B5EF4-FFF2-40B4-BE49-F238E27FC236}">
                <a16:creationId xmlns:a16="http://schemas.microsoft.com/office/drawing/2014/main" id="{0D6002CD-FF6B-44BE-87D0-7B61C1979B2C}"/>
              </a:ext>
            </a:extLst>
          </p:cNvPr>
          <p:cNvSpPr txBox="1">
            <a:spLocks noRot="1" noChangeArrowheads="1"/>
          </p:cNvSpPr>
          <p:nvPr/>
        </p:nvSpPr>
        <p:spPr bwMode="auto">
          <a:xfrm>
            <a:off x="107690" y="2571600"/>
            <a:ext cx="2952205" cy="782637"/>
          </a:xfrm>
          <a:prstGeom prst="rect">
            <a:avLst/>
          </a:prstGeom>
          <a:noFill/>
          <a:ln w="9525">
            <a:noFill/>
            <a:miter lim="800000"/>
            <a:headEnd/>
            <a:tailEnd/>
          </a:ln>
        </p:spPr>
        <p:txBody>
          <a:bodyPr anchor="ctr"/>
          <a:lstStyle/>
          <a:p>
            <a:pPr eaLnBrk="1" hangingPunct="1">
              <a:defRPr/>
            </a:pPr>
            <a:r>
              <a:rPr lang="zh-CN" altLang="en-US" sz="2400" kern="0" dirty="0">
                <a:highlight>
                  <a:srgbClr val="FFFF00"/>
                </a:highlight>
                <a:latin typeface="+mj-lt"/>
                <a:ea typeface="+mj-ea"/>
                <a:cs typeface="+mj-cs"/>
                <a:sym typeface="Calibri" pitchFamily="34" charset="0"/>
              </a:rPr>
              <a:t>注意：</a:t>
            </a:r>
            <a:r>
              <a:rPr lang="zh-CN" altLang="en-US" sz="2400" kern="0" dirty="0">
                <a:latin typeface="+mj-lt"/>
                <a:ea typeface="+mj-ea"/>
                <a:cs typeface="+mj-cs"/>
                <a:sym typeface="Calibri" pitchFamily="34" charset="0"/>
              </a:rPr>
              <a:t>与前述金属应变片分析有点差别，这里分析的是应力</a:t>
            </a:r>
          </a:p>
        </p:txBody>
      </p:sp>
      <p:pic>
        <p:nvPicPr>
          <p:cNvPr id="6" name="Picture 2" descr="C:\Documents and Settings\Administrator\桌面\QQ截图.png">
            <a:extLst>
              <a:ext uri="{FF2B5EF4-FFF2-40B4-BE49-F238E27FC236}">
                <a16:creationId xmlns:a16="http://schemas.microsoft.com/office/drawing/2014/main" id="{C45DC00F-EF42-43C9-9AA8-3C401D1209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895" y="1196110"/>
            <a:ext cx="5684033" cy="294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5">
            <a:extLst>
              <a:ext uri="{FF2B5EF4-FFF2-40B4-BE49-F238E27FC236}">
                <a16:creationId xmlns:a16="http://schemas.microsoft.com/office/drawing/2014/main" id="{A0E63F4F-4BE6-47B4-8772-DDD030A4C9E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dirty="0">
                <a:solidFill>
                  <a:srgbClr val="C00000"/>
                </a:solidFill>
              </a:rPr>
              <a:t>5</a:t>
            </a:r>
            <a:r>
              <a:rPr lang="zh-CN" altLang="en-US" b="1" dirty="0">
                <a:solidFill>
                  <a:srgbClr val="C00000"/>
                </a:solidFill>
              </a:rPr>
              <a:t>.5</a:t>
            </a:r>
            <a:r>
              <a:rPr lang="zh-CN" altLang="en-US" b="1" dirty="0">
                <a:solidFill>
                  <a:srgbClr val="CC0000"/>
                </a:solidFill>
                <a:latin typeface="楷体_GB2312" pitchFamily="49" charset="-122"/>
                <a:ea typeface="楷体_GB2312" pitchFamily="49" charset="-122"/>
                <a:sym typeface="楷体_GB2312" pitchFamily="49" charset="-122"/>
              </a:rPr>
              <a:t> 固态压阻器件</a:t>
            </a:r>
            <a:endParaRPr lang="zh-CN" altLang="en-US" sz="1800" dirty="0">
              <a:latin typeface="Arial" panose="020B0604020202020204" pitchFamily="34" charset="0"/>
            </a:endParaRPr>
          </a:p>
        </p:txBody>
      </p:sp>
      <p:sp>
        <p:nvSpPr>
          <p:cNvPr id="3" name="矩形 2">
            <a:extLst>
              <a:ext uri="{FF2B5EF4-FFF2-40B4-BE49-F238E27FC236}">
                <a16:creationId xmlns:a16="http://schemas.microsoft.com/office/drawing/2014/main" id="{2D1DD7D6-3531-4B13-A0BC-259DB677F636}"/>
              </a:ext>
            </a:extLst>
          </p:cNvPr>
          <p:cNvSpPr/>
          <p:nvPr/>
        </p:nvSpPr>
        <p:spPr>
          <a:xfrm>
            <a:off x="0" y="1371674"/>
            <a:ext cx="2954655" cy="461665"/>
          </a:xfrm>
          <a:prstGeom prst="rect">
            <a:avLst/>
          </a:prstGeom>
        </p:spPr>
        <p:txBody>
          <a:bodyPr wrap="none">
            <a:spAutoFit/>
          </a:bodyPr>
          <a:lstStyle/>
          <a:p>
            <a:pPr algn="ctr" eaLnBrk="1" hangingPunct="1">
              <a:defRPr/>
            </a:pPr>
            <a:r>
              <a:rPr lang="zh-CN" altLang="en-US" sz="2400" kern="0" dirty="0">
                <a:sym typeface="Calibri" pitchFamily="34" charset="0"/>
              </a:rPr>
              <a:t>圆硅膜片的应力分析</a:t>
            </a:r>
            <a:endParaRPr lang="en-US" altLang="zh-CN" sz="2400" kern="0" dirty="0">
              <a:sym typeface="Calibri" pitchFamily="34" charset="0"/>
            </a:endParaRPr>
          </a:p>
        </p:txBody>
      </p:sp>
      <p:grpSp>
        <p:nvGrpSpPr>
          <p:cNvPr id="9" name="组合 8">
            <a:extLst>
              <a:ext uri="{FF2B5EF4-FFF2-40B4-BE49-F238E27FC236}">
                <a16:creationId xmlns:a16="http://schemas.microsoft.com/office/drawing/2014/main" id="{CE3CD56D-C4C5-4FB4-B008-9462DA08C1F1}"/>
              </a:ext>
            </a:extLst>
          </p:cNvPr>
          <p:cNvGrpSpPr/>
          <p:nvPr/>
        </p:nvGrpSpPr>
        <p:grpSpPr>
          <a:xfrm>
            <a:off x="122700" y="4232617"/>
            <a:ext cx="6552455" cy="716286"/>
            <a:chOff x="122700" y="4513439"/>
            <a:chExt cx="6552455" cy="716286"/>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314EFC5-1AF8-4566-876C-A468E868468F}"/>
                    </a:ext>
                  </a:extLst>
                </p:cNvPr>
                <p:cNvSpPr txBox="1"/>
                <p:nvPr/>
              </p:nvSpPr>
              <p:spPr>
                <a:xfrm>
                  <a:off x="1346785" y="4513439"/>
                  <a:ext cx="5328370" cy="7162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𝜎</m:t>
                            </m:r>
                          </m:e>
                          <m:sub>
                            <m:r>
                              <a:rPr lang="en-US" altLang="zh-CN" sz="2400" b="0" i="1" smtClean="0">
                                <a:latin typeface="Cambria Math" panose="02040503050406030204" pitchFamily="18" charset="0"/>
                              </a:rPr>
                              <m:t>𝑟</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𝑝</m:t>
                            </m:r>
                          </m:num>
                          <m:den>
                            <m:r>
                              <a:rPr lang="en-US" altLang="zh-CN" sz="2400" b="0" i="1" smtClean="0">
                                <a:latin typeface="Cambria Math" panose="02040503050406030204" pitchFamily="18" charset="0"/>
                              </a:rPr>
                              <m:t>8</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h</m:t>
                                </m:r>
                              </m:e>
                              <m:sup>
                                <m:r>
                                  <a:rPr lang="en-US" altLang="zh-CN" sz="2400" b="0" i="1" smtClean="0">
                                    <a:latin typeface="Cambria Math" panose="02040503050406030204" pitchFamily="18" charset="0"/>
                                  </a:rPr>
                                  <m:t>2</m:t>
                                </m:r>
                              </m:sup>
                            </m:sSup>
                          </m:den>
                        </m:f>
                        <m:d>
                          <m:dPr>
                            <m:begChr m:val="["/>
                            <m:endChr m:val="]"/>
                            <m:ctrlPr>
                              <a:rPr lang="en-US" altLang="zh-CN" sz="2400" b="0" i="1" smtClean="0">
                                <a:latin typeface="Cambria Math" panose="02040503050406030204" pitchFamily="18" charset="0"/>
                              </a:rPr>
                            </m:ctrlPr>
                          </m:dPr>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zh-CN" altLang="en-US" sz="2400" b="0" i="1" smtClean="0">
                                    <a:latin typeface="Cambria Math" panose="02040503050406030204" pitchFamily="18" charset="0"/>
                                  </a:rPr>
                                  <m:t>𝜇</m:t>
                                </m:r>
                              </m:e>
                            </m:d>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𝑟</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3</m:t>
                                </m:r>
                                <m:r>
                                  <a:rPr lang="en-US" altLang="zh-CN" sz="2400" i="1">
                                    <a:latin typeface="Cambria Math" panose="02040503050406030204" pitchFamily="18" charset="0"/>
                                  </a:rPr>
                                  <m:t>+</m:t>
                                </m:r>
                                <m:r>
                                  <a:rPr lang="zh-CN" altLang="en-US" sz="2400" i="1">
                                    <a:latin typeface="Cambria Math" panose="02040503050406030204" pitchFamily="18" charset="0"/>
                                  </a:rPr>
                                  <m:t>𝜇</m:t>
                                </m:r>
                              </m:e>
                            </m:d>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i="1">
                                    <a:latin typeface="Cambria Math" panose="02040503050406030204" pitchFamily="18" charset="0"/>
                                  </a:rPr>
                                  <m:t>2</m:t>
                                </m:r>
                              </m:sup>
                            </m:sSup>
                          </m:e>
                        </m:d>
                      </m:oMath>
                    </m:oMathPara>
                  </a14:m>
                  <a:endParaRPr lang="zh-CN" altLang="en-US" sz="2400" dirty="0"/>
                </a:p>
              </p:txBody>
            </p:sp>
          </mc:Choice>
          <mc:Fallback xmlns="">
            <p:sp>
              <p:nvSpPr>
                <p:cNvPr id="4" name="文本框 3">
                  <a:extLst>
                    <a:ext uri="{FF2B5EF4-FFF2-40B4-BE49-F238E27FC236}">
                      <a16:creationId xmlns:a16="http://schemas.microsoft.com/office/drawing/2014/main" id="{3314EFC5-1AF8-4566-876C-A468E868468F}"/>
                    </a:ext>
                  </a:extLst>
                </p:cNvPr>
                <p:cNvSpPr txBox="1">
                  <a:spLocks noRot="1" noChangeAspect="1" noMove="1" noResize="1" noEditPoints="1" noAdjustHandles="1" noChangeArrowheads="1" noChangeShapeType="1" noTextEdit="1"/>
                </p:cNvSpPr>
                <p:nvPr/>
              </p:nvSpPr>
              <p:spPr>
                <a:xfrm>
                  <a:off x="1346785" y="4513439"/>
                  <a:ext cx="5328370" cy="716286"/>
                </a:xfrm>
                <a:prstGeom prst="rect">
                  <a:avLst/>
                </a:prstGeom>
                <a:blipFill>
                  <a:blip r:embed="rId3"/>
                  <a:stretch>
                    <a:fillRect/>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2E4B1E52-C3B5-4D27-BE37-EAB5AEB288CC}"/>
                </a:ext>
              </a:extLst>
            </p:cNvPr>
            <p:cNvSpPr/>
            <p:nvPr/>
          </p:nvSpPr>
          <p:spPr>
            <a:xfrm>
              <a:off x="122700" y="4702950"/>
              <a:ext cx="1723549" cy="461665"/>
            </a:xfrm>
            <a:prstGeom prst="rect">
              <a:avLst/>
            </a:prstGeom>
          </p:spPr>
          <p:txBody>
            <a:bodyPr wrap="none">
              <a:spAutoFit/>
            </a:bodyPr>
            <a:lstStyle/>
            <a:p>
              <a:r>
                <a:rPr lang="zh-CN" altLang="en-US" sz="2400" dirty="0"/>
                <a:t>径向应力：</a:t>
              </a:r>
            </a:p>
          </p:txBody>
        </p:sp>
      </p:grpSp>
      <p:grpSp>
        <p:nvGrpSpPr>
          <p:cNvPr id="12" name="组合 11">
            <a:extLst>
              <a:ext uri="{FF2B5EF4-FFF2-40B4-BE49-F238E27FC236}">
                <a16:creationId xmlns:a16="http://schemas.microsoft.com/office/drawing/2014/main" id="{6FD70312-94DB-484B-893A-8D6AC3E6D99C}"/>
              </a:ext>
            </a:extLst>
          </p:cNvPr>
          <p:cNvGrpSpPr/>
          <p:nvPr/>
        </p:nvGrpSpPr>
        <p:grpSpPr>
          <a:xfrm>
            <a:off x="87725" y="5012290"/>
            <a:ext cx="6572775" cy="716286"/>
            <a:chOff x="122700" y="5685184"/>
            <a:chExt cx="6572775" cy="716286"/>
          </a:xfrm>
        </p:grpSpPr>
        <mc:AlternateContent xmlns:mc="http://schemas.openxmlformats.org/markup-compatibility/2006">
          <mc:Choice xmlns:a14="http://schemas.microsoft.com/office/drawing/2010/main" Requires="a14">
            <p:sp>
              <p:nvSpPr>
                <p:cNvPr id="13" name="文本框 12">
                  <a:extLst>
                    <a:ext uri="{FF2B5EF4-FFF2-40B4-BE49-F238E27FC236}">
                      <a16:creationId xmlns:a16="http://schemas.microsoft.com/office/drawing/2014/main" id="{773AF751-108F-4013-866F-03B7682057C9}"/>
                    </a:ext>
                  </a:extLst>
                </p:cNvPr>
                <p:cNvSpPr txBox="1"/>
                <p:nvPr/>
              </p:nvSpPr>
              <p:spPr>
                <a:xfrm>
                  <a:off x="1367105" y="5685184"/>
                  <a:ext cx="5328370" cy="71628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400" i="1" smtClean="0">
                                <a:latin typeface="Cambria Math" panose="02040503050406030204" pitchFamily="18" charset="0"/>
                              </a:rPr>
                            </m:ctrlPr>
                          </m:sSubPr>
                          <m:e>
                            <m:r>
                              <a:rPr lang="zh-CN" altLang="en-US" sz="2400" i="1" smtClean="0">
                                <a:latin typeface="Cambria Math" panose="02040503050406030204" pitchFamily="18" charset="0"/>
                              </a:rPr>
                              <m:t>𝜎</m:t>
                            </m:r>
                          </m:e>
                          <m:sub>
                            <m:r>
                              <a:rPr lang="en-US" altLang="zh-CN" sz="2400" b="0" i="1" smtClean="0">
                                <a:latin typeface="Cambria Math" panose="02040503050406030204" pitchFamily="18" charset="0"/>
                              </a:rPr>
                              <m:t>𝑡</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3</m:t>
                            </m:r>
                            <m:r>
                              <a:rPr lang="en-US" altLang="zh-CN" sz="2400" b="0" i="1" smtClean="0">
                                <a:latin typeface="Cambria Math" panose="02040503050406030204" pitchFamily="18" charset="0"/>
                              </a:rPr>
                              <m:t>𝑝</m:t>
                            </m:r>
                          </m:num>
                          <m:den>
                            <m:r>
                              <a:rPr lang="en-US" altLang="zh-CN" sz="2400" b="0" i="1" smtClean="0">
                                <a:latin typeface="Cambria Math" panose="02040503050406030204" pitchFamily="18" charset="0"/>
                              </a:rPr>
                              <m:t>8</m:t>
                            </m:r>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h</m:t>
                                </m:r>
                              </m:e>
                              <m:sup>
                                <m:r>
                                  <a:rPr lang="en-US" altLang="zh-CN" sz="2400" b="0" i="1" smtClean="0">
                                    <a:latin typeface="Cambria Math" panose="02040503050406030204" pitchFamily="18" charset="0"/>
                                  </a:rPr>
                                  <m:t>2</m:t>
                                </m:r>
                              </m:sup>
                            </m:sSup>
                          </m:den>
                        </m:f>
                        <m:d>
                          <m:dPr>
                            <m:begChr m:val="["/>
                            <m:endChr m:val="]"/>
                            <m:ctrlPr>
                              <a:rPr lang="en-US" altLang="zh-CN" sz="2400" b="0" i="1" smtClean="0">
                                <a:latin typeface="Cambria Math" panose="02040503050406030204" pitchFamily="18" charset="0"/>
                              </a:rPr>
                            </m:ctrlPr>
                          </m:dPr>
                          <m:e>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zh-CN" altLang="en-US" sz="2400" b="0" i="1" smtClean="0">
                                    <a:latin typeface="Cambria Math" panose="02040503050406030204" pitchFamily="18" charset="0"/>
                                  </a:rPr>
                                  <m:t>𝜇</m:t>
                                </m:r>
                              </m:e>
                            </m:d>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𝑟</m:t>
                                </m:r>
                              </m:e>
                              <m:sup>
                                <m:r>
                                  <a:rPr lang="en-US" altLang="zh-CN" sz="2400" b="0" i="1" smtClean="0">
                                    <a:latin typeface="Cambria Math" panose="02040503050406030204" pitchFamily="18" charset="0"/>
                                  </a:rPr>
                                  <m:t>2</m:t>
                                </m:r>
                              </m:sup>
                            </m:sSup>
                            <m:r>
                              <a:rPr lang="en-US" altLang="zh-CN" sz="2400" b="0" i="1" smtClean="0">
                                <a:latin typeface="Cambria Math" panose="02040503050406030204" pitchFamily="18" charset="0"/>
                              </a:rPr>
                              <m:t>−</m:t>
                            </m:r>
                            <m:d>
                              <m:dPr>
                                <m:ctrlPr>
                                  <a:rPr lang="en-US" altLang="zh-CN" sz="2400" i="1">
                                    <a:latin typeface="Cambria Math" panose="02040503050406030204" pitchFamily="18" charset="0"/>
                                  </a:rPr>
                                </m:ctrlPr>
                              </m:dPr>
                              <m:e>
                                <m:r>
                                  <a:rPr lang="en-US" altLang="zh-CN" sz="2400" b="0" i="1" smtClean="0">
                                    <a:latin typeface="Cambria Math" panose="02040503050406030204" pitchFamily="18" charset="0"/>
                                  </a:rPr>
                                  <m:t>1</m:t>
                                </m:r>
                                <m:r>
                                  <a:rPr lang="en-US" altLang="zh-CN" sz="2400" i="1">
                                    <a:latin typeface="Cambria Math" panose="02040503050406030204" pitchFamily="18" charset="0"/>
                                  </a:rPr>
                                  <m:t>+</m:t>
                                </m:r>
                                <m:r>
                                  <a:rPr lang="en-US" altLang="zh-CN" sz="2400" b="0" i="1" smtClean="0">
                                    <a:latin typeface="Cambria Math" panose="02040503050406030204" pitchFamily="18" charset="0"/>
                                  </a:rPr>
                                  <m:t>3</m:t>
                                </m:r>
                                <m:r>
                                  <a:rPr lang="zh-CN" altLang="en-US" sz="2400" i="1">
                                    <a:latin typeface="Cambria Math" panose="02040503050406030204" pitchFamily="18" charset="0"/>
                                  </a:rPr>
                                  <m:t>𝜇</m:t>
                                </m:r>
                              </m:e>
                            </m:d>
                            <m:sSup>
                              <m:sSupPr>
                                <m:ctrlPr>
                                  <a:rPr lang="en-US" altLang="zh-CN" sz="2400" i="1">
                                    <a:latin typeface="Cambria Math" panose="02040503050406030204" pitchFamily="18" charset="0"/>
                                  </a:rPr>
                                </m:ctrlPr>
                              </m:sSupPr>
                              <m:e>
                                <m:r>
                                  <a:rPr lang="en-US" altLang="zh-CN" sz="2400" b="0" i="1" smtClean="0">
                                    <a:latin typeface="Cambria Math" panose="02040503050406030204" pitchFamily="18" charset="0"/>
                                  </a:rPr>
                                  <m:t>𝑥</m:t>
                                </m:r>
                              </m:e>
                              <m:sup>
                                <m:r>
                                  <a:rPr lang="en-US" altLang="zh-CN" sz="2400" i="1">
                                    <a:latin typeface="Cambria Math" panose="02040503050406030204" pitchFamily="18" charset="0"/>
                                  </a:rPr>
                                  <m:t>2</m:t>
                                </m:r>
                              </m:sup>
                            </m:sSup>
                          </m:e>
                        </m:d>
                      </m:oMath>
                    </m:oMathPara>
                  </a14:m>
                  <a:endParaRPr lang="zh-CN" altLang="en-US" sz="2400" dirty="0"/>
                </a:p>
              </p:txBody>
            </p:sp>
          </mc:Choice>
          <mc:Fallback>
            <p:sp>
              <p:nvSpPr>
                <p:cNvPr id="13" name="文本框 12">
                  <a:extLst>
                    <a:ext uri="{FF2B5EF4-FFF2-40B4-BE49-F238E27FC236}">
                      <a16:creationId xmlns:a16="http://schemas.microsoft.com/office/drawing/2014/main" id="{773AF751-108F-4013-866F-03B7682057C9}"/>
                    </a:ext>
                  </a:extLst>
                </p:cNvPr>
                <p:cNvSpPr txBox="1">
                  <a:spLocks noRot="1" noChangeAspect="1" noMove="1" noResize="1" noEditPoints="1" noAdjustHandles="1" noChangeArrowheads="1" noChangeShapeType="1" noTextEdit="1"/>
                </p:cNvSpPr>
                <p:nvPr/>
              </p:nvSpPr>
              <p:spPr>
                <a:xfrm>
                  <a:off x="1367105" y="5685184"/>
                  <a:ext cx="5328370" cy="716286"/>
                </a:xfrm>
                <a:prstGeom prst="rect">
                  <a:avLst/>
                </a:prstGeom>
                <a:blipFill>
                  <a:blip r:embed="rId4"/>
                  <a:stretch>
                    <a:fillRect/>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89EAF2B5-9A63-4883-94B1-1CC6FEA6DF2B}"/>
                </a:ext>
              </a:extLst>
            </p:cNvPr>
            <p:cNvSpPr/>
            <p:nvPr/>
          </p:nvSpPr>
          <p:spPr>
            <a:xfrm>
              <a:off x="122700" y="5796334"/>
              <a:ext cx="1723549" cy="461665"/>
            </a:xfrm>
            <a:prstGeom prst="rect">
              <a:avLst/>
            </a:prstGeom>
          </p:spPr>
          <p:txBody>
            <a:bodyPr wrap="none">
              <a:spAutoFit/>
            </a:bodyPr>
            <a:lstStyle/>
            <a:p>
              <a:r>
                <a:rPr lang="zh-CN" altLang="en-US" sz="2400" dirty="0"/>
                <a:t>切向应力：</a:t>
              </a:r>
            </a:p>
          </p:txBody>
        </p:sp>
      </p:grpSp>
      <p:grpSp>
        <p:nvGrpSpPr>
          <p:cNvPr id="17" name="组合 16">
            <a:extLst>
              <a:ext uri="{FF2B5EF4-FFF2-40B4-BE49-F238E27FC236}">
                <a16:creationId xmlns:a16="http://schemas.microsoft.com/office/drawing/2014/main" id="{D90A3CEC-7511-46D9-99B6-B22A5BF63436}"/>
              </a:ext>
            </a:extLst>
          </p:cNvPr>
          <p:cNvGrpSpPr/>
          <p:nvPr/>
        </p:nvGrpSpPr>
        <p:grpSpPr>
          <a:xfrm>
            <a:off x="122700" y="5728576"/>
            <a:ext cx="8003845" cy="914443"/>
            <a:chOff x="122700" y="5728576"/>
            <a:chExt cx="8003845" cy="914443"/>
          </a:xfrm>
        </p:grpSpPr>
        <p:pic>
          <p:nvPicPr>
            <p:cNvPr id="16" name="Object 5" descr="白色大理石">
              <a:extLst>
                <a:ext uri="{FF2B5EF4-FFF2-40B4-BE49-F238E27FC236}">
                  <a16:creationId xmlns:a16="http://schemas.microsoft.com/office/drawing/2014/main" id="{CC193173-6510-4081-9918-9B2E7A9AD2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4455" y="5728576"/>
              <a:ext cx="2932090" cy="914443"/>
            </a:xfrm>
            <a:prstGeom prst="rect">
              <a:avLst/>
            </a:prstGeom>
            <a:solidFill>
              <a:schemeClr val="bg2">
                <a:lumMod val="75000"/>
              </a:schemeClr>
            </a:solidFill>
            <a:ln>
              <a:noFill/>
            </a:ln>
            <a:effectLst>
              <a:outerShdw blurRad="190500" dist="228600" dir="2700000" algn="ctr">
                <a:srgbClr val="000000">
                  <a:alpha val="30000"/>
                </a:srgbClr>
              </a:outerShdw>
            </a:effectLst>
            <a:extLst/>
          </p:spPr>
        </p:pic>
        <p:sp>
          <p:nvSpPr>
            <p:cNvPr id="19" name="矩形 18">
              <a:extLst>
                <a:ext uri="{FF2B5EF4-FFF2-40B4-BE49-F238E27FC236}">
                  <a16:creationId xmlns:a16="http://schemas.microsoft.com/office/drawing/2014/main" id="{29C1486C-FDAA-46DC-B82F-5CBC2144F36D}"/>
                </a:ext>
              </a:extLst>
            </p:cNvPr>
            <p:cNvSpPr/>
            <p:nvPr/>
          </p:nvSpPr>
          <p:spPr>
            <a:xfrm>
              <a:off x="122700" y="6016794"/>
              <a:ext cx="4493538" cy="461665"/>
            </a:xfrm>
            <a:prstGeom prst="rect">
              <a:avLst/>
            </a:prstGeom>
          </p:spPr>
          <p:txBody>
            <a:bodyPr wrap="none">
              <a:spAutoFit/>
            </a:bodyPr>
            <a:lstStyle/>
            <a:p>
              <a:r>
                <a:rPr lang="zh-CN" altLang="en-US" sz="2400" dirty="0"/>
                <a:t>然后可计算其半导体扩散电阻：</a:t>
              </a:r>
            </a:p>
          </p:txBody>
        </p:sp>
      </p:grpSp>
      <p:sp>
        <p:nvSpPr>
          <p:cNvPr id="14" name="矩形 13">
            <a:extLst>
              <a:ext uri="{FF2B5EF4-FFF2-40B4-BE49-F238E27FC236}">
                <a16:creationId xmlns:a16="http://schemas.microsoft.com/office/drawing/2014/main" id="{740CE554-0405-4810-A448-E306402771FB}"/>
              </a:ext>
            </a:extLst>
          </p:cNvPr>
          <p:cNvSpPr/>
          <p:nvPr/>
        </p:nvSpPr>
        <p:spPr>
          <a:xfrm>
            <a:off x="6448107" y="4902186"/>
            <a:ext cx="2295821" cy="369332"/>
          </a:xfrm>
          <a:prstGeom prst="rect">
            <a:avLst/>
          </a:prstGeom>
        </p:spPr>
        <p:txBody>
          <a:bodyPr wrap="none">
            <a:spAutoFit/>
          </a:bodyPr>
          <a:lstStyle/>
          <a:p>
            <a:r>
              <a:rPr lang="zh-CN" altLang="en-US" dirty="0">
                <a:solidFill>
                  <a:srgbClr val="FF0000"/>
                </a:solidFill>
              </a:rPr>
              <a:t>参见例</a:t>
            </a:r>
            <a:r>
              <a:rPr lang="en-US" altLang="zh-CN" dirty="0">
                <a:solidFill>
                  <a:srgbClr val="FF0000"/>
                </a:solidFill>
              </a:rPr>
              <a:t>3-6</a:t>
            </a:r>
            <a:r>
              <a:rPr lang="zh-CN" altLang="en-US" dirty="0">
                <a:solidFill>
                  <a:srgbClr val="FF0000"/>
                </a:solidFill>
              </a:rPr>
              <a:t>，作业</a:t>
            </a:r>
            <a:r>
              <a:rPr lang="en-US" altLang="zh-CN" dirty="0">
                <a:solidFill>
                  <a:srgbClr val="FF0000"/>
                </a:solidFill>
              </a:rPr>
              <a:t>3-12</a:t>
            </a:r>
            <a:endParaRPr lang="zh-CN" alt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down)">
                                      <p:cBhvr>
                                        <p:cTn id="13" dur="580">
                                          <p:stCondLst>
                                            <p:cond delay="0"/>
                                          </p:stCondLst>
                                        </p:cTn>
                                        <p:tgtEl>
                                          <p:spTgt spid="14"/>
                                        </p:tgtEl>
                                      </p:cBhvr>
                                    </p:animEffect>
                                    <p:anim calcmode="lin" valueType="num">
                                      <p:cBhvr>
                                        <p:cTn id="14"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19" dur="26">
                                          <p:stCondLst>
                                            <p:cond delay="650"/>
                                          </p:stCondLst>
                                        </p:cTn>
                                        <p:tgtEl>
                                          <p:spTgt spid="14"/>
                                        </p:tgtEl>
                                      </p:cBhvr>
                                      <p:to x="100000" y="60000"/>
                                    </p:animScale>
                                    <p:animScale>
                                      <p:cBhvr>
                                        <p:cTn id="20" dur="166" decel="50000">
                                          <p:stCondLst>
                                            <p:cond delay="676"/>
                                          </p:stCondLst>
                                        </p:cTn>
                                        <p:tgtEl>
                                          <p:spTgt spid="14"/>
                                        </p:tgtEl>
                                      </p:cBhvr>
                                      <p:to x="100000" y="100000"/>
                                    </p:animScale>
                                    <p:animScale>
                                      <p:cBhvr>
                                        <p:cTn id="21" dur="26">
                                          <p:stCondLst>
                                            <p:cond delay="1312"/>
                                          </p:stCondLst>
                                        </p:cTn>
                                        <p:tgtEl>
                                          <p:spTgt spid="14"/>
                                        </p:tgtEl>
                                      </p:cBhvr>
                                      <p:to x="100000" y="80000"/>
                                    </p:animScale>
                                    <p:animScale>
                                      <p:cBhvr>
                                        <p:cTn id="22" dur="166" decel="50000">
                                          <p:stCondLst>
                                            <p:cond delay="1338"/>
                                          </p:stCondLst>
                                        </p:cTn>
                                        <p:tgtEl>
                                          <p:spTgt spid="14"/>
                                        </p:tgtEl>
                                      </p:cBhvr>
                                      <p:to x="100000" y="100000"/>
                                    </p:animScale>
                                    <p:animScale>
                                      <p:cBhvr>
                                        <p:cTn id="23" dur="26">
                                          <p:stCondLst>
                                            <p:cond delay="1642"/>
                                          </p:stCondLst>
                                        </p:cTn>
                                        <p:tgtEl>
                                          <p:spTgt spid="14"/>
                                        </p:tgtEl>
                                      </p:cBhvr>
                                      <p:to x="100000" y="90000"/>
                                    </p:animScale>
                                    <p:animScale>
                                      <p:cBhvr>
                                        <p:cTn id="24" dur="166" decel="50000">
                                          <p:stCondLst>
                                            <p:cond delay="1668"/>
                                          </p:stCondLst>
                                        </p:cTn>
                                        <p:tgtEl>
                                          <p:spTgt spid="14"/>
                                        </p:tgtEl>
                                      </p:cBhvr>
                                      <p:to x="100000" y="100000"/>
                                    </p:animScale>
                                    <p:animScale>
                                      <p:cBhvr>
                                        <p:cTn id="25" dur="26">
                                          <p:stCondLst>
                                            <p:cond delay="1808"/>
                                          </p:stCondLst>
                                        </p:cTn>
                                        <p:tgtEl>
                                          <p:spTgt spid="14"/>
                                        </p:tgtEl>
                                      </p:cBhvr>
                                      <p:to x="100000" y="95000"/>
                                    </p:animScale>
                                    <p:animScale>
                                      <p:cBhvr>
                                        <p:cTn id="26"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矩形 4">
            <a:extLst>
              <a:ext uri="{FF2B5EF4-FFF2-40B4-BE49-F238E27FC236}">
                <a16:creationId xmlns:a16="http://schemas.microsoft.com/office/drawing/2014/main" id="{9BC3F826-5531-4E8C-8CC2-1BD25BFF7D1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3971" name="灯片编号占位符 3">
            <a:extLst>
              <a:ext uri="{FF2B5EF4-FFF2-40B4-BE49-F238E27FC236}">
                <a16:creationId xmlns:a16="http://schemas.microsoft.com/office/drawing/2014/main" id="{ADEF6FD9-5D70-490F-8DFC-DE60571AF56E}"/>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90CDA9DF-4777-4494-ABBD-82291D6CF818}"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81</a:t>
            </a:fld>
            <a:endParaRPr lang="en-US" altLang="zh-CN" sz="1400">
              <a:latin typeface="Arial" panose="020B0604020202020204" pitchFamily="34" charset="0"/>
            </a:endParaRPr>
          </a:p>
        </p:txBody>
      </p:sp>
      <p:sp>
        <p:nvSpPr>
          <p:cNvPr id="83972" name="TextBox 5">
            <a:extLst>
              <a:ext uri="{FF2B5EF4-FFF2-40B4-BE49-F238E27FC236}">
                <a16:creationId xmlns:a16="http://schemas.microsoft.com/office/drawing/2014/main" id="{D8AEAFA6-9418-422E-99C9-A21D1B9E076F}"/>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a:t>
            </a:r>
            <a:r>
              <a:rPr lang="en-US" altLang="zh-CN" b="1">
                <a:solidFill>
                  <a:srgbClr val="C00000"/>
                </a:solidFill>
              </a:rPr>
              <a:t>6</a:t>
            </a:r>
            <a:r>
              <a:rPr lang="zh-CN" altLang="en-US" b="1">
                <a:solidFill>
                  <a:srgbClr val="CC0000"/>
                </a:solidFill>
                <a:latin typeface="楷体_GB2312" pitchFamily="49" charset="-122"/>
                <a:ea typeface="楷体_GB2312" pitchFamily="49" charset="-122"/>
                <a:sym typeface="楷体_GB2312" pitchFamily="49" charset="-122"/>
              </a:rPr>
              <a:t> 其它应用</a:t>
            </a:r>
            <a:endParaRPr lang="zh-CN" altLang="en-US" sz="1800">
              <a:latin typeface="Arial" panose="020B0604020202020204" pitchFamily="34" charset="0"/>
            </a:endParaRPr>
          </a:p>
        </p:txBody>
      </p:sp>
      <p:sp>
        <p:nvSpPr>
          <p:cNvPr id="46" name="Rectangle 2">
            <a:extLst>
              <a:ext uri="{FF2B5EF4-FFF2-40B4-BE49-F238E27FC236}">
                <a16:creationId xmlns:a16="http://schemas.microsoft.com/office/drawing/2014/main" id="{331279EC-FF29-4F86-B5C2-770FB6AFBC41}"/>
              </a:ext>
            </a:extLst>
          </p:cNvPr>
          <p:cNvSpPr txBox="1">
            <a:spLocks noRot="1" noChangeArrowheads="1"/>
          </p:cNvSpPr>
          <p:nvPr/>
        </p:nvSpPr>
        <p:spPr bwMode="auto">
          <a:xfrm>
            <a:off x="1500188" y="4714875"/>
            <a:ext cx="6683375" cy="676275"/>
          </a:xfrm>
          <a:prstGeom prst="rect">
            <a:avLst/>
          </a:prstGeom>
          <a:noFill/>
          <a:ln w="9525">
            <a:noFill/>
            <a:miter lim="800000"/>
            <a:headEnd/>
            <a:tailEnd/>
          </a:ln>
        </p:spPr>
        <p:txBody>
          <a:bodyPr anchor="ctr"/>
          <a:lstStyle/>
          <a:p>
            <a:pPr eaLnBrk="1" hangingPunct="1">
              <a:defRPr/>
            </a:pPr>
            <a:r>
              <a:rPr lang="en-US" altLang="zh-CN" sz="2000" kern="0" dirty="0">
                <a:latin typeface="楷体_GB2312" pitchFamily="49" charset="-122"/>
                <a:ea typeface="楷体_GB2312" pitchFamily="49" charset="-122"/>
                <a:cs typeface="+mj-cs"/>
                <a:sym typeface="Calibri" pitchFamily="34" charset="0"/>
              </a:rPr>
              <a:t>10</a:t>
            </a:r>
            <a:r>
              <a:rPr lang="zh-CN" altLang="en-US" sz="2000" kern="0" dirty="0">
                <a:latin typeface="楷体_GB2312" pitchFamily="49" charset="-122"/>
                <a:ea typeface="楷体_GB2312" pitchFamily="49" charset="-122"/>
                <a:cs typeface="+mj-cs"/>
                <a:sym typeface="Calibri" pitchFamily="34" charset="0"/>
              </a:rPr>
              <a:t>万立方米原油储罐的应力分析</a:t>
            </a:r>
            <a:r>
              <a:rPr lang="en-US" altLang="zh-CN" sz="2000" kern="0" dirty="0">
                <a:latin typeface="楷体_GB2312" pitchFamily="49" charset="-122"/>
                <a:ea typeface="楷体_GB2312" pitchFamily="49" charset="-122"/>
                <a:cs typeface="+mj-cs"/>
                <a:sym typeface="Calibri" pitchFamily="34" charset="0"/>
              </a:rPr>
              <a:t>--</a:t>
            </a:r>
            <a:r>
              <a:rPr lang="zh-CN" altLang="en-US" sz="2000" kern="0" dirty="0">
                <a:latin typeface="楷体_GB2312" pitchFamily="49" charset="-122"/>
                <a:ea typeface="楷体_GB2312" pitchFamily="49" charset="-122"/>
                <a:cs typeface="+mj-cs"/>
                <a:sym typeface="Calibri" pitchFamily="34" charset="0"/>
              </a:rPr>
              <a:t>三维应力云图</a:t>
            </a:r>
          </a:p>
        </p:txBody>
      </p:sp>
      <p:pic>
        <p:nvPicPr>
          <p:cNvPr id="83974" name="Picture 3" descr="三维应力云图">
            <a:extLst>
              <a:ext uri="{FF2B5EF4-FFF2-40B4-BE49-F238E27FC236}">
                <a16:creationId xmlns:a16="http://schemas.microsoft.com/office/drawing/2014/main" id="{CBF8E4CE-A54D-4A93-877B-ABC5A22BFF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6063" y="1785938"/>
            <a:ext cx="3941762"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5" name="Rectangle 4">
            <a:extLst>
              <a:ext uri="{FF2B5EF4-FFF2-40B4-BE49-F238E27FC236}">
                <a16:creationId xmlns:a16="http://schemas.microsoft.com/office/drawing/2014/main" id="{07D868DD-414C-4B9E-899C-E3B93404BC7B}"/>
              </a:ext>
            </a:extLst>
          </p:cNvPr>
          <p:cNvSpPr>
            <a:spLocks noChangeArrowheads="1"/>
          </p:cNvSpPr>
          <p:nvPr/>
        </p:nvSpPr>
        <p:spPr bwMode="auto">
          <a:xfrm>
            <a:off x="566738" y="5365750"/>
            <a:ext cx="78755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0"/>
              </a:spcBef>
              <a:buFont typeface="Arial" panose="020B0604020202020204" pitchFamily="34" charset="0"/>
              <a:buNone/>
            </a:pPr>
            <a:r>
              <a:rPr lang="zh-CN" altLang="en-US" sz="1800">
                <a:latin typeface="楷体_GB2312" pitchFamily="49" charset="-122"/>
                <a:ea typeface="楷体_GB2312" pitchFamily="49" charset="-122"/>
              </a:rPr>
              <a:t>应力最大值约为</a:t>
            </a:r>
            <a:r>
              <a:rPr lang="en-US" altLang="zh-CN" sz="1800">
                <a:latin typeface="楷体_GB2312" pitchFamily="49" charset="-122"/>
                <a:ea typeface="楷体_GB2312" pitchFamily="49" charset="-122"/>
              </a:rPr>
              <a:t>317MPa</a:t>
            </a:r>
            <a:r>
              <a:rPr lang="zh-CN" altLang="en-US" sz="1800">
                <a:latin typeface="楷体_GB2312" pitchFamily="49" charset="-122"/>
                <a:ea typeface="楷体_GB2312" pitchFamily="49" charset="-122"/>
              </a:rPr>
              <a:t>，位置在底层壁板和罐底边缘板相连的部位</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即大角焊缝区域</a:t>
            </a:r>
            <a:r>
              <a:rPr lang="en-US" altLang="zh-CN" sz="1800">
                <a:latin typeface="楷体_GB2312" pitchFamily="49" charset="-122"/>
                <a:ea typeface="楷体_GB2312" pitchFamily="49" charset="-122"/>
              </a:rPr>
              <a:t>)</a:t>
            </a:r>
            <a:r>
              <a:rPr lang="zh-CN" altLang="en-US" sz="1800">
                <a:latin typeface="楷体_GB2312" pitchFamily="49" charset="-122"/>
                <a:ea typeface="楷体_GB2312" pitchFamily="49" charset="-122"/>
              </a:rPr>
              <a:t>，与其距离较近的罐壁区域应力值也比较接近最大值。因此罐壁与罐底板的角焊缝的焊接强度极为重要。</a:t>
            </a:r>
            <a:r>
              <a:rPr lang="zh-CN" altLang="en-US" sz="1800">
                <a:latin typeface="Arial" panose="020B0604020202020204" pitchFamily="34" charset="0"/>
              </a:rPr>
              <a:t> </a:t>
            </a:r>
          </a:p>
        </p:txBody>
      </p:sp>
      <p:sp>
        <p:nvSpPr>
          <p:cNvPr id="83976" name="矩形 48">
            <a:extLst>
              <a:ext uri="{FF2B5EF4-FFF2-40B4-BE49-F238E27FC236}">
                <a16:creationId xmlns:a16="http://schemas.microsoft.com/office/drawing/2014/main" id="{BACC34C3-CA79-4887-97EB-205028F56E9A}"/>
              </a:ext>
            </a:extLst>
          </p:cNvPr>
          <p:cNvSpPr>
            <a:spLocks noChangeArrowheads="1"/>
          </p:cNvSpPr>
          <p:nvPr/>
        </p:nvSpPr>
        <p:spPr bwMode="auto">
          <a:xfrm>
            <a:off x="285750" y="1214438"/>
            <a:ext cx="3595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buClr>
                <a:schemeClr val="folHlink"/>
              </a:buClr>
              <a:buSzPct val="85000"/>
              <a:buFont typeface="Wingdings 2" panose="05020102010507070707" pitchFamily="18" charset="2"/>
              <a:buNone/>
            </a:pPr>
            <a:r>
              <a:rPr lang="zh-CN" altLang="en-US" sz="2800">
                <a:latin typeface="楷体_GB2312" pitchFamily="49" charset="-122"/>
                <a:ea typeface="楷体_GB2312" pitchFamily="49" charset="-122"/>
              </a:rPr>
              <a:t>在结构分析中的应用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矩形 4">
            <a:extLst>
              <a:ext uri="{FF2B5EF4-FFF2-40B4-BE49-F238E27FC236}">
                <a16:creationId xmlns:a16="http://schemas.microsoft.com/office/drawing/2014/main" id="{72BCFE6D-81E9-44A6-99A9-BB5A9454190F}"/>
              </a:ext>
            </a:extLst>
          </p:cNvPr>
          <p:cNvSpPr>
            <a:spLocks noChangeArrowheads="1"/>
          </p:cNvSpPr>
          <p:nvPr/>
        </p:nvSpPr>
        <p:spPr bwMode="auto">
          <a:xfrm>
            <a:off x="142875" y="1000125"/>
            <a:ext cx="8286750" cy="46038"/>
          </a:xfrm>
          <a:prstGeom prst="rect">
            <a:avLst/>
          </a:prstGeom>
          <a:gradFill rotWithShape="1">
            <a:gsLst>
              <a:gs pos="0">
                <a:srgbClr val="5E9EFF"/>
              </a:gs>
              <a:gs pos="39998">
                <a:srgbClr val="85C2FF"/>
              </a:gs>
              <a:gs pos="70000">
                <a:srgbClr val="C4D6EB"/>
              </a:gs>
              <a:gs pos="100000">
                <a:srgbClr val="FFEBFA"/>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0"/>
              </a:spcBef>
              <a:buFont typeface="Arial" panose="020B0604020202020204" pitchFamily="34" charset="0"/>
              <a:buNone/>
            </a:pPr>
            <a:endParaRPr lang="zh-CN" altLang="zh-CN" sz="1800">
              <a:solidFill>
                <a:srgbClr val="FFFFFF"/>
              </a:solidFill>
            </a:endParaRPr>
          </a:p>
        </p:txBody>
      </p:sp>
      <p:sp>
        <p:nvSpPr>
          <p:cNvPr id="84995" name="灯片编号占位符 3">
            <a:extLst>
              <a:ext uri="{FF2B5EF4-FFF2-40B4-BE49-F238E27FC236}">
                <a16:creationId xmlns:a16="http://schemas.microsoft.com/office/drawing/2014/main" id="{1592821F-BB88-4095-A26A-559CA15D3BCD}"/>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B5876D64-A5FD-4CC4-80FA-91EA8DE437F7}"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82</a:t>
            </a:fld>
            <a:endParaRPr lang="en-US" altLang="zh-CN" sz="1400">
              <a:latin typeface="Arial" panose="020B0604020202020204" pitchFamily="34" charset="0"/>
            </a:endParaRPr>
          </a:p>
        </p:txBody>
      </p:sp>
      <p:sp>
        <p:nvSpPr>
          <p:cNvPr id="84996" name="TextBox 5">
            <a:extLst>
              <a:ext uri="{FF2B5EF4-FFF2-40B4-BE49-F238E27FC236}">
                <a16:creationId xmlns:a16="http://schemas.microsoft.com/office/drawing/2014/main" id="{F934B4C2-7332-4AFC-B3A5-B323EBF45427}"/>
              </a:ext>
            </a:extLst>
          </p:cNvPr>
          <p:cNvSpPr>
            <a:spLocks noChangeArrowheads="1"/>
          </p:cNvSpPr>
          <p:nvPr/>
        </p:nvSpPr>
        <p:spPr bwMode="auto">
          <a:xfrm>
            <a:off x="684213" y="260350"/>
            <a:ext cx="51435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eaLnBrk="1" hangingPunct="1">
              <a:spcBef>
                <a:spcPct val="0"/>
              </a:spcBef>
              <a:buFont typeface="Arial" panose="020B0604020202020204" pitchFamily="34" charset="0"/>
              <a:buNone/>
            </a:pPr>
            <a:r>
              <a:rPr lang="en-US" altLang="zh-CN" b="1">
                <a:solidFill>
                  <a:srgbClr val="C00000"/>
                </a:solidFill>
              </a:rPr>
              <a:t>5</a:t>
            </a:r>
            <a:r>
              <a:rPr lang="zh-CN" altLang="en-US" b="1">
                <a:solidFill>
                  <a:srgbClr val="C00000"/>
                </a:solidFill>
              </a:rPr>
              <a:t>.</a:t>
            </a:r>
            <a:r>
              <a:rPr lang="en-US" altLang="zh-CN" b="1">
                <a:solidFill>
                  <a:srgbClr val="C00000"/>
                </a:solidFill>
              </a:rPr>
              <a:t>6</a:t>
            </a:r>
            <a:r>
              <a:rPr lang="zh-CN" altLang="en-US" b="1">
                <a:solidFill>
                  <a:srgbClr val="CC0000"/>
                </a:solidFill>
                <a:latin typeface="楷体_GB2312" pitchFamily="49" charset="-122"/>
                <a:ea typeface="楷体_GB2312" pitchFamily="49" charset="-122"/>
                <a:sym typeface="楷体_GB2312" pitchFamily="49" charset="-122"/>
              </a:rPr>
              <a:t> 其它应用</a:t>
            </a:r>
            <a:endParaRPr lang="zh-CN" altLang="en-US" sz="1800">
              <a:latin typeface="Arial" panose="020B0604020202020204" pitchFamily="34" charset="0"/>
            </a:endParaRPr>
          </a:p>
        </p:txBody>
      </p:sp>
      <p:pic>
        <p:nvPicPr>
          <p:cNvPr id="84997" name="Picture 3">
            <a:extLst>
              <a:ext uri="{FF2B5EF4-FFF2-40B4-BE49-F238E27FC236}">
                <a16:creationId xmlns:a16="http://schemas.microsoft.com/office/drawing/2014/main" id="{E9B1019B-C0F3-4676-A20E-F3922A7CE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0688" y="928688"/>
            <a:ext cx="2659062" cy="213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8" name="Text Box 17">
            <a:extLst>
              <a:ext uri="{FF2B5EF4-FFF2-40B4-BE49-F238E27FC236}">
                <a16:creationId xmlns:a16="http://schemas.microsoft.com/office/drawing/2014/main" id="{5BB3EF95-70A9-46BC-9BCF-387211A2E045}"/>
              </a:ext>
            </a:extLst>
          </p:cNvPr>
          <p:cNvSpPr txBox="1">
            <a:spLocks noChangeArrowheads="1"/>
          </p:cNvSpPr>
          <p:nvPr/>
        </p:nvSpPr>
        <p:spPr bwMode="auto">
          <a:xfrm>
            <a:off x="571500" y="1357313"/>
            <a:ext cx="3733800" cy="1473200"/>
          </a:xfrm>
          <a:prstGeom prst="rect">
            <a:avLst/>
          </a:prstGeom>
          <a:solidFill>
            <a:schemeClr val="accent2"/>
          </a:solidFill>
          <a:ln w="9525">
            <a:solidFill>
              <a:schemeClr val="tx1"/>
            </a:solidFill>
            <a:miter lim="800000"/>
            <a:headEnd/>
            <a:tailEnd/>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ctr">
              <a:spcBef>
                <a:spcPct val="50000"/>
              </a:spcBef>
              <a:buFont typeface="Arial" panose="020B0604020202020204" pitchFamily="34" charset="0"/>
              <a:buNone/>
            </a:pPr>
            <a:r>
              <a:rPr kumimoji="1" lang="zh-CN" altLang="en-US" sz="2000">
                <a:solidFill>
                  <a:schemeClr val="bg1"/>
                </a:solidFill>
                <a:latin typeface="楷体_GB2312" pitchFamily="49" charset="-122"/>
                <a:ea typeface="楷体_GB2312" pitchFamily="49" charset="-122"/>
              </a:rPr>
              <a:t>电子秤原理</a:t>
            </a:r>
          </a:p>
          <a:p>
            <a:pPr>
              <a:spcBef>
                <a:spcPct val="50000"/>
              </a:spcBef>
              <a:buFont typeface="Arial" panose="020B0604020202020204" pitchFamily="34" charset="0"/>
              <a:buNone/>
            </a:pPr>
            <a:r>
              <a:rPr kumimoji="1" lang="zh-CN" altLang="en-US" sz="2000">
                <a:solidFill>
                  <a:schemeClr val="bg1"/>
                </a:solidFill>
                <a:latin typeface="楷体_GB2312" pitchFamily="49" charset="-122"/>
                <a:ea typeface="楷体_GB2312" pitchFamily="49" charset="-122"/>
              </a:rPr>
              <a:t>将物品重量通过悬臂梁转化结构变形再通过应变片转化为电量输出。</a:t>
            </a:r>
            <a:endParaRPr kumimoji="1" lang="zh-CN" altLang="en-US" sz="2400">
              <a:latin typeface="Times New Roman" panose="02020603050405020304" pitchFamily="18" charset="0"/>
            </a:endParaRPr>
          </a:p>
        </p:txBody>
      </p:sp>
      <p:graphicFrame>
        <p:nvGraphicFramePr>
          <p:cNvPr id="84999" name="Object 18">
            <a:extLst>
              <a:ext uri="{FF2B5EF4-FFF2-40B4-BE49-F238E27FC236}">
                <a16:creationId xmlns:a16="http://schemas.microsoft.com/office/drawing/2014/main" id="{618D263C-39FD-4031-A5A4-4D862EA5D622}"/>
              </a:ext>
            </a:extLst>
          </p:cNvPr>
          <p:cNvGraphicFramePr>
            <a:graphicFrameLocks noChangeAspect="1"/>
          </p:cNvGraphicFramePr>
          <p:nvPr/>
        </p:nvGraphicFramePr>
        <p:xfrm>
          <a:off x="285750" y="3214688"/>
          <a:ext cx="8610600" cy="3276600"/>
        </p:xfrm>
        <a:graphic>
          <a:graphicData uri="http://schemas.openxmlformats.org/presentationml/2006/ole">
            <mc:AlternateContent xmlns:mc="http://schemas.openxmlformats.org/markup-compatibility/2006">
              <mc:Choice xmlns:v="urn:schemas-microsoft-com:vml" Requires="v">
                <p:oleObj spid="_x0000_s86061" name="位图图像" r:id="rId4" imgW="5458587" imgH="1933333" progId="Paint.Picture">
                  <p:embed/>
                </p:oleObj>
              </mc:Choice>
              <mc:Fallback>
                <p:oleObj name="位图图像" r:id="rId4" imgW="5458587" imgH="1933333" progId="Paint.Picture">
                  <p:embed/>
                  <p:pic>
                    <p:nvPicPr>
                      <p:cNvPr id="84999" name="Object 18">
                        <a:extLst>
                          <a:ext uri="{FF2B5EF4-FFF2-40B4-BE49-F238E27FC236}">
                            <a16:creationId xmlns:a16="http://schemas.microsoft.com/office/drawing/2014/main" id="{618D263C-39FD-4031-A5A4-4D862EA5D6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 y="3214688"/>
                        <a:ext cx="86106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3">
            <a:extLst>
              <a:ext uri="{FF2B5EF4-FFF2-40B4-BE49-F238E27FC236}">
                <a16:creationId xmlns:a16="http://schemas.microsoft.com/office/drawing/2014/main" id="{4A4B2623-2B17-4DA2-8A1B-ADB173C5EA86}"/>
              </a:ext>
            </a:extLst>
          </p:cNvPr>
          <p:cNvSpPr>
            <a:spLocks noGrp="1" noChangeArrowheads="1"/>
          </p:cNvSpPr>
          <p:nvPr/>
        </p:nvSpPr>
        <p:spPr bwMode="auto">
          <a:xfrm>
            <a:off x="7235825" y="638175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lgn="r" eaLnBrk="1" hangingPunct="1">
              <a:spcBef>
                <a:spcPct val="0"/>
              </a:spcBef>
              <a:buFont typeface="Arial" panose="020B0604020202020204" pitchFamily="34" charset="0"/>
              <a:buNone/>
            </a:pPr>
            <a:fld id="{2A395E14-0B98-4122-8793-182A8F3E9D7A}" type="slidenum">
              <a:rPr lang="en-US" altLang="zh-CN" sz="1400">
                <a:solidFill>
                  <a:srgbClr val="000000"/>
                </a:solidFill>
                <a:latin typeface="Arial" panose="020B0604020202020204" pitchFamily="34" charset="0"/>
              </a:rPr>
              <a:pPr algn="r" eaLnBrk="1" hangingPunct="1">
                <a:spcBef>
                  <a:spcPct val="0"/>
                </a:spcBef>
                <a:buFont typeface="Arial" panose="020B0604020202020204" pitchFamily="34" charset="0"/>
                <a:buNone/>
              </a:pPr>
              <a:t>83</a:t>
            </a:fld>
            <a:endParaRPr lang="en-US" altLang="zh-CN" sz="1400">
              <a:latin typeface="Arial" panose="020B0604020202020204" pitchFamily="34" charset="0"/>
            </a:endParaRPr>
          </a:p>
        </p:txBody>
      </p:sp>
      <p:sp>
        <p:nvSpPr>
          <p:cNvPr id="89093" name="Text Box 19">
            <a:extLst>
              <a:ext uri="{FF2B5EF4-FFF2-40B4-BE49-F238E27FC236}">
                <a16:creationId xmlns:a16="http://schemas.microsoft.com/office/drawing/2014/main" id="{DCF45466-6B06-472D-A8EA-17C0BEF4A300}"/>
              </a:ext>
            </a:extLst>
          </p:cNvPr>
          <p:cNvSpPr txBox="1">
            <a:spLocks noChangeArrowheads="1"/>
          </p:cNvSpPr>
          <p:nvPr/>
        </p:nvSpPr>
        <p:spPr bwMode="auto">
          <a:xfrm>
            <a:off x="467715" y="560800"/>
            <a:ext cx="727233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sym typeface="Calibri" panose="020F0502020204030204" pitchFamily="34" charset="0"/>
              </a:defRPr>
            </a:lvl9pPr>
          </a:lstStyle>
          <a:p>
            <a:pPr>
              <a:spcBef>
                <a:spcPct val="50000"/>
              </a:spcBef>
              <a:buNone/>
            </a:pPr>
            <a:r>
              <a:rPr lang="zh-CN" altLang="en-US" sz="2400" dirty="0">
                <a:latin typeface="Arial" panose="020B0604020202020204" pitchFamily="34" charset="0"/>
              </a:rPr>
              <a:t>大作业要求：参见“课程报告</a:t>
            </a:r>
            <a:r>
              <a:rPr lang="en-US" altLang="zh-CN" sz="2400" dirty="0">
                <a:latin typeface="Arial" panose="020B0604020202020204" pitchFamily="34" charset="0"/>
              </a:rPr>
              <a:t>(</a:t>
            </a:r>
            <a:r>
              <a:rPr lang="zh-CN" altLang="en-US" sz="2400" dirty="0">
                <a:latin typeface="Arial" panose="020B0604020202020204" pitchFamily="34" charset="0"/>
              </a:rPr>
              <a:t>大作业</a:t>
            </a:r>
            <a:r>
              <a:rPr lang="en-US" altLang="zh-CN" sz="2400" dirty="0">
                <a:latin typeface="Arial" panose="020B0604020202020204" pitchFamily="34" charset="0"/>
              </a:rPr>
              <a:t>)</a:t>
            </a:r>
            <a:r>
              <a:rPr lang="zh-CN" altLang="en-US" sz="2400" dirty="0">
                <a:latin typeface="Arial" panose="020B0604020202020204" pitchFamily="34" charset="0"/>
              </a:rPr>
              <a:t>的要求</a:t>
            </a:r>
            <a:r>
              <a:rPr lang="en-US" altLang="zh-CN" sz="2400" dirty="0">
                <a:latin typeface="Arial" panose="020B0604020202020204" pitchFamily="34" charset="0"/>
              </a:rPr>
              <a:t>.docx</a:t>
            </a:r>
            <a:r>
              <a:rPr lang="zh-CN" altLang="en-US" sz="2400" dirty="0">
                <a:latin typeface="Arial" panose="020B0604020202020204" pitchFamily="34" charset="0"/>
              </a:rPr>
              <a:t>”</a:t>
            </a:r>
            <a:endParaRPr lang="en-US" altLang="zh-CN" sz="2400" dirty="0">
              <a:latin typeface="Arial" panose="020B0604020202020204" pitchFamily="34" charset="0"/>
            </a:endParaRPr>
          </a:p>
        </p:txBody>
      </p:sp>
      <p:sp>
        <p:nvSpPr>
          <p:cNvPr id="2" name="矩形 1">
            <a:extLst>
              <a:ext uri="{FF2B5EF4-FFF2-40B4-BE49-F238E27FC236}">
                <a16:creationId xmlns:a16="http://schemas.microsoft.com/office/drawing/2014/main" id="{7511572A-ED14-4C32-A898-9BFCA69180C1}"/>
              </a:ext>
            </a:extLst>
          </p:cNvPr>
          <p:cNvSpPr/>
          <p:nvPr/>
        </p:nvSpPr>
        <p:spPr>
          <a:xfrm>
            <a:off x="547757" y="1376657"/>
            <a:ext cx="8048485" cy="5016758"/>
          </a:xfrm>
          <a:prstGeom prst="rect">
            <a:avLst/>
          </a:prstGeom>
        </p:spPr>
        <p:txBody>
          <a:bodyPr wrap="square">
            <a:spAutoFit/>
          </a:bodyPr>
          <a:lstStyle/>
          <a:p>
            <a:pPr marL="342900" lvl="0" indent="-342900" algn="just">
              <a:spcAft>
                <a:spcPts val="0"/>
              </a:spcAft>
              <a:buFont typeface="Arial" panose="020B0604020202020204" pitchFamily="34" charset="0"/>
              <a:buChar char="•"/>
              <a:tabLst>
                <a:tab pos="457200" algn="l"/>
              </a:tabLst>
            </a:pP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传感器的发展日新月异，要求全面了解传感器发展的最新动态，课程报告需针对特定的需求应用展开论述。</a:t>
            </a:r>
            <a:endParaRPr lang="en-US" altLang="zh-CN" sz="2000" kern="100" dirty="0">
              <a:latin typeface="等线" panose="02010600030101010101" pitchFamily="2" charset="-122"/>
              <a:ea typeface="等线" panose="02010600030101010101" pitchFamily="2" charset="-122"/>
              <a:cs typeface="Times New Roman" panose="02020603050405020304" pitchFamily="18" charset="0"/>
            </a:endParaRPr>
          </a:p>
          <a:p>
            <a:pPr lvl="0" algn="just">
              <a:spcAft>
                <a:spcPts val="0"/>
              </a:spcAft>
              <a:tabLst>
                <a:tab pos="457200" algn="l"/>
              </a:tabLst>
            </a:pPr>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Arial" panose="020B0604020202020204" pitchFamily="34" charset="0"/>
              <a:buChar char="•"/>
              <a:tabLst>
                <a:tab pos="457200" algn="l"/>
              </a:tabLst>
            </a:pP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课程报告内容可以针对某种传感器的</a:t>
            </a:r>
            <a:r>
              <a:rPr lang="en-US" altLang="zh-CN" sz="2000" kern="100" dirty="0">
                <a:solidFill>
                  <a:srgbClr val="FF9900"/>
                </a:solidFill>
                <a:latin typeface="等线" panose="02010600030101010101" pitchFamily="2" charset="-122"/>
                <a:ea typeface="等线" panose="02010600030101010101" pitchFamily="2" charset="-122"/>
                <a:cs typeface="Times New Roman" panose="02020603050405020304" pitchFamily="18" charset="0"/>
              </a:rPr>
              <a:t>Research Paper</a:t>
            </a:r>
            <a:r>
              <a:rPr lang="zh-CN" altLang="zh-CN" sz="2000" kern="100" dirty="0">
                <a:solidFill>
                  <a:srgbClr val="FF9900"/>
                </a:solidFill>
                <a:latin typeface="等线" panose="02010600030101010101" pitchFamily="2" charset="-122"/>
                <a:ea typeface="等线" panose="02010600030101010101" pitchFamily="2" charset="-122"/>
                <a:cs typeface="Times New Roman" panose="02020603050405020304" pitchFamily="18" charset="0"/>
              </a:rPr>
              <a:t>（研究论文）</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，也可以是对某一类传感器的</a:t>
            </a:r>
            <a:r>
              <a:rPr lang="en-US" altLang="zh-CN" sz="2000" kern="100" dirty="0">
                <a:solidFill>
                  <a:srgbClr val="FF9900"/>
                </a:solidFill>
                <a:latin typeface="等线" panose="02010600030101010101" pitchFamily="2" charset="-122"/>
                <a:ea typeface="等线" panose="02010600030101010101" pitchFamily="2" charset="-122"/>
                <a:cs typeface="Times New Roman" panose="02020603050405020304" pitchFamily="18" charset="0"/>
              </a:rPr>
              <a:t>Review Paper</a:t>
            </a:r>
            <a:r>
              <a:rPr lang="zh-CN" altLang="zh-CN" sz="2000" kern="100" dirty="0">
                <a:solidFill>
                  <a:srgbClr val="FF9900"/>
                </a:solidFill>
                <a:latin typeface="等线" panose="02010600030101010101" pitchFamily="2" charset="-122"/>
                <a:ea typeface="等线" panose="02010600030101010101" pitchFamily="2" charset="-122"/>
                <a:cs typeface="Times New Roman" panose="02020603050405020304" pitchFamily="18" charset="0"/>
              </a:rPr>
              <a:t>（综述）</a:t>
            </a:r>
          </a:p>
          <a:p>
            <a:pPr marL="342900" lvl="0" indent="-342900" algn="just">
              <a:spcAft>
                <a:spcPts val="0"/>
              </a:spcAft>
              <a:buFont typeface="Arial" panose="020B0604020202020204" pitchFamily="34" charset="0"/>
              <a:buChar char="•"/>
              <a:tabLst>
                <a:tab pos="457200" algn="l"/>
              </a:tabLst>
            </a:pP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Research Paper</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的论述必须回答</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what/why/how/results</a:t>
            </a:r>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a:p>
            <a:pPr marL="342900" lvl="0" indent="-342900" algn="just">
              <a:spcAft>
                <a:spcPts val="0"/>
              </a:spcAft>
              <a:buFont typeface="Arial" panose="020B0604020202020204" pitchFamily="34" charset="0"/>
              <a:buChar char="•"/>
              <a:tabLst>
                <a:tab pos="457200" algn="l"/>
              </a:tabLst>
            </a:pP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Review Paper</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包括应用（重要性</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&amp;</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解决什么问题）、原理、研究现状、未来的发展趋势</a:t>
            </a:r>
          </a:p>
          <a:p>
            <a:pPr marL="342900" lvl="0" indent="-342900" algn="just">
              <a:spcAft>
                <a:spcPts val="0"/>
              </a:spcAft>
              <a:buFont typeface="Arial" panose="020B0604020202020204" pitchFamily="34" charset="0"/>
              <a:buChar char="•"/>
              <a:tabLst>
                <a:tab pos="457200" algn="l"/>
              </a:tabLst>
            </a:pPr>
            <a:r>
              <a:rPr lang="zh-CN" altLang="zh-CN" sz="2000" kern="100" dirty="0">
                <a:highlight>
                  <a:srgbClr val="FFFF00"/>
                </a:highlight>
                <a:latin typeface="等线" panose="02010600030101010101" pitchFamily="2" charset="-122"/>
                <a:ea typeface="等线" panose="02010600030101010101" pitchFamily="2" charset="-122"/>
                <a:cs typeface="Times New Roman" panose="02020603050405020304" pitchFamily="18" charset="0"/>
              </a:rPr>
              <a:t>两人一组，交一份报告</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，报告最后</a:t>
            </a:r>
            <a:r>
              <a:rPr lang="zh-CN" altLang="zh-CN" sz="2000"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务必说明每人的贡献（</a:t>
            </a:r>
            <a:r>
              <a:rPr lang="en-US" altLang="zh-CN" sz="2000"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contribution</a:t>
            </a:r>
            <a:r>
              <a:rPr lang="zh-CN" altLang="zh-CN" sz="2000"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）和心得体会</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a:t>
            </a:r>
          </a:p>
          <a:p>
            <a:pPr marL="342900" lvl="0" indent="-342900" algn="just">
              <a:spcAft>
                <a:spcPts val="0"/>
              </a:spcAft>
              <a:buFont typeface="Arial" panose="020B0604020202020204" pitchFamily="34" charset="0"/>
              <a:buChar char="•"/>
              <a:tabLst>
                <a:tab pos="457200" algn="l"/>
              </a:tabLst>
            </a:pP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不少于</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3,000</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字，要求交电子版和纸质版（双面打印）</a:t>
            </a:r>
          </a:p>
          <a:p>
            <a:pPr marL="342900" lvl="0" indent="-342900" algn="just">
              <a:spcAft>
                <a:spcPts val="0"/>
              </a:spcAft>
              <a:buFont typeface="Arial" panose="020B0604020202020204" pitchFamily="34" charset="0"/>
              <a:buChar char="•"/>
              <a:tabLst>
                <a:tab pos="457200" algn="l"/>
              </a:tabLst>
            </a:pP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电子版</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(word )</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的文件名：班级</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学号</a:t>
            </a: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姓名，要求</a:t>
            </a:r>
            <a:r>
              <a:rPr lang="zh-CN" altLang="zh-CN" sz="2000" u="sng" kern="100" dirty="0">
                <a:latin typeface="等线" panose="02010600030101010101" pitchFamily="2" charset="-122"/>
                <a:ea typeface="等线" panose="02010600030101010101" pitchFamily="2" charset="-122"/>
                <a:cs typeface="Times New Roman" panose="02020603050405020304" pitchFamily="18" charset="0"/>
              </a:rPr>
              <a:t>框图和流程图用</a:t>
            </a:r>
            <a:r>
              <a:rPr lang="en-US" altLang="zh-CN" sz="2000" u="sng" kern="100" dirty="0">
                <a:latin typeface="等线" panose="02010600030101010101" pitchFamily="2" charset="-122"/>
                <a:ea typeface="等线" panose="02010600030101010101" pitchFamily="2" charset="-122"/>
                <a:cs typeface="Times New Roman" panose="02020603050405020304" pitchFamily="18" charset="0"/>
              </a:rPr>
              <a:t>VISIO</a:t>
            </a:r>
            <a:r>
              <a:rPr lang="zh-CN" altLang="zh-CN" sz="2000" u="sng" kern="100" dirty="0">
                <a:latin typeface="等线" panose="02010600030101010101" pitchFamily="2" charset="-122"/>
                <a:ea typeface="等线" panose="02010600030101010101" pitchFamily="2" charset="-122"/>
                <a:cs typeface="Times New Roman" panose="02020603050405020304" pitchFamily="18" charset="0"/>
              </a:rPr>
              <a:t>画</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，不分栏，其余可参考《仪表技术与传感器》杂志投稿的“论文模板”；</a:t>
            </a:r>
          </a:p>
          <a:p>
            <a:pPr marL="342900" lvl="0" indent="-342900" algn="just">
              <a:spcAft>
                <a:spcPts val="0"/>
              </a:spcAft>
              <a:buFont typeface="Arial" panose="020B0604020202020204" pitchFamily="34" charset="0"/>
              <a:buChar char="•"/>
              <a:tabLst>
                <a:tab pos="457200" algn="l"/>
              </a:tabLst>
            </a:pPr>
            <a:r>
              <a:rPr lang="zh-CN"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挑选</a:t>
            </a:r>
            <a:r>
              <a:rPr lang="en-US"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3~7</a:t>
            </a:r>
            <a:r>
              <a:rPr lang="zh-CN"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组同学准备</a:t>
            </a:r>
            <a:r>
              <a:rPr lang="en-US"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PPT</a:t>
            </a:r>
            <a:r>
              <a:rPr lang="zh-CN" altLang="zh-CN" sz="2000" kern="100" dirty="0">
                <a:solidFill>
                  <a:srgbClr val="C00000"/>
                </a:solidFill>
                <a:latin typeface="等线" panose="02010600030101010101" pitchFamily="2" charset="-122"/>
                <a:ea typeface="等线" panose="02010600030101010101" pitchFamily="2" charset="-122"/>
                <a:cs typeface="Times New Roman" panose="02020603050405020304" pitchFamily="18" charset="0"/>
              </a:rPr>
              <a:t>，做口头报告。</a:t>
            </a:r>
          </a:p>
          <a:p>
            <a:pPr marL="228600" algn="just">
              <a:spcAft>
                <a:spcPts val="0"/>
              </a:spcAft>
            </a:pPr>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itchFamily="34" charset="0"/>
          <a:buNone/>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8907</TotalTime>
  <Pages>0</Pages>
  <Words>5804</Words>
  <Characters>0</Characters>
  <Application>Microsoft Office PowerPoint</Application>
  <PresentationFormat>全屏显示(4:3)</PresentationFormat>
  <Lines>0</Lines>
  <Paragraphs>803</Paragraphs>
  <Slides>83</Slides>
  <Notes>2</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8</vt:i4>
      </vt:variant>
      <vt:variant>
        <vt:lpstr>幻灯片标题</vt:lpstr>
      </vt:variant>
      <vt:variant>
        <vt:i4>83</vt:i4>
      </vt:variant>
    </vt:vector>
  </HeadingPairs>
  <TitlesOfParts>
    <vt:vector size="110" baseType="lpstr">
      <vt:lpstr>等线</vt:lpstr>
      <vt:lpstr>仿宋_GB2312</vt:lpstr>
      <vt:lpstr>黑体</vt:lpstr>
      <vt:lpstr>华文仿宋</vt:lpstr>
      <vt:lpstr>华文琥珀</vt:lpstr>
      <vt:lpstr>华文楷体</vt:lpstr>
      <vt:lpstr>华文新魏</vt:lpstr>
      <vt:lpstr>楷体_GB2312</vt:lpstr>
      <vt:lpstr>宋体</vt:lpstr>
      <vt:lpstr>微软雅黑</vt:lpstr>
      <vt:lpstr>新宋体</vt:lpstr>
      <vt:lpstr>Arial</vt:lpstr>
      <vt:lpstr>Calibri</vt:lpstr>
      <vt:lpstr>Cambria Math</vt:lpstr>
      <vt:lpstr>Symbol</vt:lpstr>
      <vt:lpstr>Times New Roman</vt:lpstr>
      <vt:lpstr>Wingdings</vt:lpstr>
      <vt:lpstr>Wingdings 2</vt:lpstr>
      <vt:lpstr>Office 主题</vt:lpstr>
      <vt:lpstr>Equation.3</vt:lpstr>
      <vt:lpstr>Equation.KSEE3</vt:lpstr>
      <vt:lpstr>Equation.DSMT4</vt:lpstr>
      <vt:lpstr>Visio</vt:lpstr>
      <vt:lpstr>Document</vt:lpstr>
      <vt:lpstr>Equation</vt:lpstr>
      <vt:lpstr>Microsoft Visio 2003-2010 Drawing</vt:lpstr>
      <vt:lpstr>位图图像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HUST</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微软用户</dc:creator>
  <cp:keywords/>
  <dc:description/>
  <cp:lastModifiedBy>Hong Zhang</cp:lastModifiedBy>
  <cp:revision>277</cp:revision>
  <dcterms:created xsi:type="dcterms:W3CDTF">2015-06-15T07:49:00Z</dcterms:created>
  <dcterms:modified xsi:type="dcterms:W3CDTF">2024-09-14T04:12:20Z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2052-10.1.0.5745</vt:lpwstr>
  </property>
</Properties>
</file>
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260" r:id="rId2"/>
    <p:sldId id="261" r:id="rId3"/>
    <p:sldId id="501" r:id="rId4"/>
    <p:sldId id="499" r:id="rId5"/>
    <p:sldId id="271" r:id="rId6"/>
    <p:sldId id="319" r:id="rId7"/>
    <p:sldId id="320" r:id="rId8"/>
    <p:sldId id="323" r:id="rId9"/>
    <p:sldId id="321" r:id="rId10"/>
    <p:sldId id="497" r:id="rId11"/>
    <p:sldId id="324" r:id="rId12"/>
    <p:sldId id="325" r:id="rId13"/>
    <p:sldId id="326" r:id="rId14"/>
    <p:sldId id="327" r:id="rId15"/>
    <p:sldId id="328" r:id="rId16"/>
    <p:sldId id="329" r:id="rId17"/>
    <p:sldId id="322" r:id="rId18"/>
    <p:sldId id="330" r:id="rId19"/>
    <p:sldId id="331" r:id="rId20"/>
    <p:sldId id="332" r:id="rId21"/>
    <p:sldId id="333" r:id="rId22"/>
    <p:sldId id="334" r:id="rId23"/>
    <p:sldId id="335" r:id="rId24"/>
    <p:sldId id="336" r:id="rId25"/>
    <p:sldId id="337" r:id="rId26"/>
    <p:sldId id="338" r:id="rId27"/>
    <p:sldId id="339" r:id="rId28"/>
    <p:sldId id="500" r:id="rId29"/>
    <p:sldId id="340" r:id="rId30"/>
    <p:sldId id="341" r:id="rId31"/>
    <p:sldId id="342" r:id="rId32"/>
    <p:sldId id="472" r:id="rId33"/>
    <p:sldId id="343" r:id="rId34"/>
    <p:sldId id="476" r:id="rId35"/>
    <p:sldId id="270" r:id="rId36"/>
    <p:sldId id="274" r:id="rId37"/>
    <p:sldId id="275" r:id="rId38"/>
    <p:sldId id="345" r:id="rId39"/>
    <p:sldId id="346" r:id="rId40"/>
    <p:sldId id="347" r:id="rId41"/>
    <p:sldId id="348" r:id="rId42"/>
    <p:sldId id="282" r:id="rId43"/>
    <p:sldId id="349" r:id="rId44"/>
    <p:sldId id="351" r:id="rId45"/>
    <p:sldId id="354" r:id="rId46"/>
    <p:sldId id="355" r:id="rId47"/>
    <p:sldId id="357" r:id="rId48"/>
    <p:sldId id="350" r:id="rId49"/>
    <p:sldId id="358" r:id="rId50"/>
    <p:sldId id="359" r:id="rId51"/>
    <p:sldId id="360" r:id="rId52"/>
    <p:sldId id="361" r:id="rId53"/>
    <p:sldId id="362" r:id="rId54"/>
    <p:sldId id="283" r:id="rId55"/>
    <p:sldId id="502" r:id="rId56"/>
    <p:sldId id="279" r:id="rId57"/>
    <p:sldId id="280" r:id="rId58"/>
    <p:sldId id="284" r:id="rId59"/>
    <p:sldId id="285" r:id="rId60"/>
    <p:sldId id="286" r:id="rId61"/>
    <p:sldId id="287" r:id="rId62"/>
    <p:sldId id="288" r:id="rId63"/>
    <p:sldId id="289" r:id="rId64"/>
    <p:sldId id="498" r:id="rId65"/>
    <p:sldId id="290" r:id="rId66"/>
    <p:sldId id="291" r:id="rId67"/>
    <p:sldId id="292" r:id="rId68"/>
    <p:sldId id="293" r:id="rId69"/>
    <p:sldId id="294" r:id="rId70"/>
    <p:sldId id="295" r:id="rId71"/>
    <p:sldId id="296" r:id="rId72"/>
    <p:sldId id="297" r:id="rId73"/>
    <p:sldId id="298" r:id="rId74"/>
    <p:sldId id="299" r:id="rId75"/>
    <p:sldId id="300" r:id="rId76"/>
    <p:sldId id="301" r:id="rId77"/>
    <p:sldId id="302" r:id="rId78"/>
    <p:sldId id="303" r:id="rId79"/>
    <p:sldId id="493" r:id="rId80"/>
    <p:sldId id="478" r:id="rId81"/>
    <p:sldId id="479" r:id="rId82"/>
    <p:sldId id="494" r:id="rId83"/>
    <p:sldId id="481" r:id="rId84"/>
    <p:sldId id="482" r:id="rId85"/>
    <p:sldId id="483" r:id="rId86"/>
    <p:sldId id="484" r:id="rId87"/>
    <p:sldId id="485" r:id="rId88"/>
    <p:sldId id="486" r:id="rId89"/>
    <p:sldId id="495" r:id="rId90"/>
    <p:sldId id="488" r:id="rId91"/>
    <p:sldId id="489" r:id="rId92"/>
    <p:sldId id="490" r:id="rId93"/>
    <p:sldId id="491" r:id="rId94"/>
    <p:sldId id="492" r:id="rId95"/>
    <p:sldId id="496" r:id="rId96"/>
  </p:sldIdLst>
  <p:sldSz cx="9144000" cy="6858000" type="screen4x3"/>
  <p:notesSz cx="6858000" cy="9144000"/>
  <p:defaultTextStyle>
    <a:defPPr>
      <a:defRPr lang="zh-CN"/>
    </a:defPPr>
    <a:lvl1pPr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5">
          <p15:clr>
            <a:srgbClr val="A4A3A4"/>
          </p15:clr>
        </p15:guide>
        <p15:guide id="2" pos="29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0000"/>
    <a:srgbClr val="FFCC99"/>
    <a:srgbClr val="1EA2EE"/>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744" y="-12"/>
      </p:cViewPr>
      <p:guideLst>
        <p:guide orient="horz" pos="2165"/>
        <p:guide pos="2976"/>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5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5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54.wmf"/><Relationship Id="rId1" Type="http://schemas.openxmlformats.org/officeDocument/2006/relationships/image" Target="../media/image5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0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a:lvl1pPr>
          </a:lstStyle>
          <a:p>
            <a:fld id="{428F7E5C-E7B3-4A8E-97F3-3660809C7CF3}" type="datetime1">
              <a:rPr lang="zh-CN" altLang="en-US"/>
              <a:pPr/>
              <a:t>2024/9/23</a:t>
            </a:fld>
            <a:endParaRPr lang="zh-CN" altLang="en-US" sz="1200"/>
          </a:p>
        </p:txBody>
      </p:sp>
      <p:sp>
        <p:nvSpPr>
          <p:cNvPr id="2052"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defTabSz="0">
              <a:spcBef>
                <a:spcPct val="30000"/>
              </a:spcBef>
              <a:buFontTx/>
              <a:buNone/>
            </a:pPr>
            <a:r>
              <a:rPr lang="zh-CN" sz="1200"/>
              <a:t>单击此处编辑母版文本样式</a:t>
            </a:r>
          </a:p>
          <a:p>
            <a:pPr defTabSz="0">
              <a:spcBef>
                <a:spcPct val="30000"/>
              </a:spcBef>
              <a:buFontTx/>
              <a:buNone/>
            </a:pPr>
            <a:r>
              <a:rPr lang="zh-CN" sz="1200"/>
              <a:t>第二级</a:t>
            </a:r>
          </a:p>
          <a:p>
            <a:pPr defTabSz="0">
              <a:spcBef>
                <a:spcPct val="30000"/>
              </a:spcBef>
              <a:buFontTx/>
              <a:buNone/>
            </a:pPr>
            <a:r>
              <a:rPr lang="zh-CN" sz="1200"/>
              <a:t>第三级</a:t>
            </a:r>
          </a:p>
          <a:p>
            <a:pPr defTabSz="0">
              <a:spcBef>
                <a:spcPct val="30000"/>
              </a:spcBef>
              <a:buFontTx/>
              <a:buNone/>
            </a:pPr>
            <a:r>
              <a:rPr lang="zh-CN" sz="1200"/>
              <a:t>第四级</a:t>
            </a:r>
          </a:p>
          <a:p>
            <a:pPr defTabSz="0">
              <a:spcBef>
                <a:spcPct val="30000"/>
              </a:spcBef>
              <a:buFontTx/>
              <a:buNone/>
            </a:pPr>
            <a:r>
              <a:rPr lang="zh-CN" sz="1200"/>
              <a:t>第五级</a:t>
            </a:r>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vl1pPr>
          </a:lstStyle>
          <a:p>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a:lvl1pPr>
          </a:lstStyle>
          <a:p>
            <a:fld id="{234C5AAE-8910-41CE-A03D-796B032A8725}" type="slidenum">
              <a:rPr lang="zh-CN" altLang="en-US"/>
              <a:pPr/>
              <a:t>‹#›</a:t>
            </a:fld>
            <a:endParaRPr lang="zh-CN" altLang="en-US" sz="1200">
              <a:latin typeface="Calibri" pitchFamily="34" charset="0"/>
            </a:endParaRPr>
          </a:p>
        </p:txBody>
      </p:sp>
    </p:spTree>
    <p:extLst>
      <p:ext uri="{BB962C8B-B14F-4D97-AF65-F5344CB8AC3E}">
        <p14:creationId xmlns:p14="http://schemas.microsoft.com/office/powerpoint/2010/main" val="994773322"/>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70E4C5F8-E08A-4384-AB7A-70760614BCCE}"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2696610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3F3E86C9-984E-4F6F-B571-1F81E4CC36CE}"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1667377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AEC28EB0-F69C-4C6D-B786-8DB77857CA26}"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953875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598D18CB-9516-4397-9203-0EB2B260CCCE}"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3806054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8" name="页脚占位符 7"/>
          <p:cNvSpPr>
            <a:spLocks noGrp="1"/>
          </p:cNvSpPr>
          <p:nvPr>
            <p:ph type="ftr" sz="quarter" idx="11"/>
          </p:nvPr>
        </p:nvSpPr>
        <p:spPr/>
        <p:txBody>
          <a:bodyPr/>
          <a:lstStyle>
            <a:lvl1pPr>
              <a:defRPr/>
            </a:lvl1pPr>
          </a:lstStyle>
          <a:p>
            <a:endParaRPr lang="zh-CN" altLang="zh-CN"/>
          </a:p>
        </p:txBody>
      </p:sp>
      <p:sp>
        <p:nvSpPr>
          <p:cNvPr id="9" name="灯片编号占位符 8"/>
          <p:cNvSpPr>
            <a:spLocks noGrp="1"/>
          </p:cNvSpPr>
          <p:nvPr>
            <p:ph type="sldNum" sz="quarter" idx="12"/>
          </p:nvPr>
        </p:nvSpPr>
        <p:spPr/>
        <p:txBody>
          <a:bodyPr/>
          <a:lstStyle>
            <a:lvl1pPr>
              <a:defRPr/>
            </a:lvl1pPr>
          </a:lstStyle>
          <a:p>
            <a:fld id="{F2D5B86E-F457-4496-A3E7-AE9141B4DD2B}"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447140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4" name="页脚占位符 3"/>
          <p:cNvSpPr>
            <a:spLocks noGrp="1"/>
          </p:cNvSpPr>
          <p:nvPr>
            <p:ph type="ftr" sz="quarter" idx="11"/>
          </p:nvPr>
        </p:nvSpPr>
        <p:spPr/>
        <p:txBody>
          <a:bodyPr/>
          <a:lstStyle>
            <a:lvl1pPr>
              <a:defRPr/>
            </a:lvl1pPr>
          </a:lstStyle>
          <a:p>
            <a:endParaRPr lang="zh-CN" altLang="zh-CN"/>
          </a:p>
        </p:txBody>
      </p:sp>
      <p:sp>
        <p:nvSpPr>
          <p:cNvPr id="5" name="灯片编号占位符 4"/>
          <p:cNvSpPr>
            <a:spLocks noGrp="1"/>
          </p:cNvSpPr>
          <p:nvPr>
            <p:ph type="sldNum" sz="quarter" idx="12"/>
          </p:nvPr>
        </p:nvSpPr>
        <p:spPr/>
        <p:txBody>
          <a:bodyPr/>
          <a:lstStyle>
            <a:lvl1pPr>
              <a:defRPr/>
            </a:lvl1pPr>
          </a:lstStyle>
          <a:p>
            <a:fld id="{7A5DC5F4-0EBB-4A0D-BFE5-19191B64385C}"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3413954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3" name="页脚占位符 2"/>
          <p:cNvSpPr>
            <a:spLocks noGrp="1"/>
          </p:cNvSpPr>
          <p:nvPr>
            <p:ph type="ftr" sz="quarter" idx="11"/>
          </p:nvPr>
        </p:nvSpPr>
        <p:spPr/>
        <p:txBody>
          <a:bodyPr/>
          <a:lstStyle>
            <a:lvl1pPr>
              <a:defRPr/>
            </a:lvl1pPr>
          </a:lstStyle>
          <a:p>
            <a:endParaRPr lang="zh-CN" altLang="zh-CN"/>
          </a:p>
        </p:txBody>
      </p:sp>
      <p:sp>
        <p:nvSpPr>
          <p:cNvPr id="4" name="灯片编号占位符 3"/>
          <p:cNvSpPr>
            <a:spLocks noGrp="1"/>
          </p:cNvSpPr>
          <p:nvPr>
            <p:ph type="sldNum" sz="quarter" idx="12"/>
          </p:nvPr>
        </p:nvSpPr>
        <p:spPr/>
        <p:txBody>
          <a:bodyPr/>
          <a:lstStyle>
            <a:lvl1pPr>
              <a:defRPr/>
            </a:lvl1pPr>
          </a:lstStyle>
          <a:p>
            <a:fld id="{6EC465D2-45A4-4E68-BA1B-7504353F9FB8}"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2624618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AB4C356F-7385-46A8-8A85-44FB59C29A2B}"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3588346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F72FBCF4-E5E7-489B-ADF8-1028AB239F9D}"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2649860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B3091DF1-BDCC-45B2-BBD5-3158D5A71C3C}"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3992103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D2774CD0-94ED-476C-97DE-A74313F94913}" type="datetime1">
              <a:rPr lang="zh-CN" altLang="en-US"/>
              <a:pPr/>
              <a:t>2024/9/23</a:t>
            </a:fld>
            <a:endParaRPr lang="zh-CN" altLang="en-US" sz="1800">
              <a:solidFill>
                <a:schemeClr val="tx1"/>
              </a:solidFill>
              <a:latin typeface="Arial" pitchFamily="34" charset="0"/>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B95229C5-F584-4F4E-AED0-7EF00004F28B}"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894763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2"/>
          </p:nvPr>
        </p:nvSpPr>
        <p:spPr>
          <a:xfrm>
            <a:off x="6718300" y="6248400"/>
            <a:ext cx="1905000" cy="457200"/>
          </a:xfrm>
        </p:spPr>
        <p:txBody>
          <a:bodyPr/>
          <a:lstStyle>
            <a:lvl1pPr>
              <a:defRPr/>
            </a:lvl1pPr>
          </a:lstStyle>
          <a:p>
            <a:fld id="{29E69481-2C75-4DA4-82E8-BEE06CFCCB1B}" type="slidenum">
              <a:rPr lang="en-US" altLang="zh-CN"/>
              <a:pPr/>
              <a:t>‹#›</a:t>
            </a:fld>
            <a:endParaRPr lang="en-US" altLang="zh-CN"/>
          </a:p>
        </p:txBody>
      </p:sp>
    </p:spTree>
    <p:extLst>
      <p:ext uri="{BB962C8B-B14F-4D97-AF65-F5344CB8AC3E}">
        <p14:creationId xmlns:p14="http://schemas.microsoft.com/office/powerpoint/2010/main" val="1819479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sym typeface="Calibri" pitchFamily="34" charset="0"/>
              </a:rPr>
              <a:t>单击此处编辑母版标题样式</a:t>
            </a:r>
          </a:p>
        </p:txBody>
      </p:sp>
      <p:sp>
        <p:nvSpPr>
          <p:cNvPr id="1027" name="文本占位符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sym typeface="Calibri" pitchFamily="34" charset="0"/>
              </a:rPr>
              <a:t>单击此处编辑母版文本样式</a:t>
            </a:r>
          </a:p>
          <a:p>
            <a:pPr lvl="1"/>
            <a:r>
              <a:rPr lang="zh-CN">
                <a:sym typeface="Calibri" pitchFamily="34" charset="0"/>
              </a:rPr>
              <a:t>第二级</a:t>
            </a:r>
          </a:p>
          <a:p>
            <a:pPr lvl="2"/>
            <a:r>
              <a:rPr lang="zh-CN">
                <a:sym typeface="Calibri" pitchFamily="34" charset="0"/>
              </a:rPr>
              <a:t>第三级</a:t>
            </a:r>
          </a:p>
          <a:p>
            <a:pPr lvl="3"/>
            <a:r>
              <a:rPr lang="zh-CN">
                <a:sym typeface="Calibri" pitchFamily="34" charset="0"/>
              </a:rPr>
              <a:t>第四级</a:t>
            </a:r>
          </a:p>
          <a:p>
            <a:pPr lvl="4"/>
            <a:r>
              <a:rPr lang="zh-CN">
                <a:sym typeface="Calibri" pitchFamily="34" charset="0"/>
              </a:rPr>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mn-lt"/>
                <a:cs typeface="Calibri" pitchFamily="34" charset="0"/>
                <a:sym typeface="Calibri" pitchFamily="34" charset="0"/>
              </a:defRPr>
            </a:lvl1pPr>
          </a:lstStyle>
          <a:p>
            <a:fld id="{D2774CD0-94ED-476C-97DE-A74313F94913}" type="datetime1">
              <a:rPr lang="zh-CN" altLang="en-US"/>
              <a:pPr/>
              <a:t>2024/9/23</a:t>
            </a:fld>
            <a:endParaRPr lang="zh-CN" altLang="en-US" sz="1800">
              <a:solidFill>
                <a:schemeClr val="tx1"/>
              </a:solidFill>
              <a:latin typeface="Arial" pitchFamily="34" charset="0"/>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mn-lt"/>
                <a:cs typeface="Calibri" pitchFamily="34" charset="0"/>
                <a:sym typeface="Calibri" pitchFamily="34" charset="0"/>
              </a:defRPr>
            </a:lvl1pPr>
          </a:lstStyle>
          <a:p>
            <a:endParaRPr lang="zh-CN" altLang="zh-CN"/>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mn-lt"/>
                <a:sym typeface="Calibri" pitchFamily="34" charset="0"/>
              </a:defRPr>
            </a:lvl1pPr>
          </a:lstStyle>
          <a:p>
            <a:fld id="{EC6AB9D0-E9DA-4DD7-8261-7ED4BBF337C8}" type="slidenum">
              <a:rPr lang="zh-CN" altLang="en-US"/>
              <a:pPr/>
              <a:t>‹#›</a:t>
            </a:fld>
            <a:endParaRPr lang="zh-CN" altLang="en-US" sz="1800">
              <a:solidFill>
                <a:schemeClr val="tx1"/>
              </a:solidFill>
              <a:latin typeface="Arial"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ctr" rtl="0" eaLnBrk="0" fontAlgn="base" hangingPunct="0">
        <a:spcBef>
          <a:spcPct val="0"/>
        </a:spcBef>
        <a:spcAft>
          <a:spcPct val="0"/>
        </a:spcAft>
        <a:defRPr sz="4400">
          <a:solidFill>
            <a:schemeClr val="tx1"/>
          </a:solidFill>
          <a:latin typeface="+mj-lt"/>
          <a:ea typeface="+mj-ea"/>
          <a:cs typeface="+mj-cs"/>
          <a:sym typeface="Calibri"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itchFamily="34"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pitchFamily="34"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pitchFamily="34"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slide" Target="slide54.xml"/><Relationship Id="rId7" Type="http://schemas.openxmlformats.org/officeDocument/2006/relationships/image" Target="../media/image6.jpeg"/><Relationship Id="rId2" Type="http://schemas.openxmlformats.org/officeDocument/2006/relationships/slide" Target="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slide" Target="slide80.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3.png"/><Relationship Id="rId2" Type="http://schemas.openxmlformats.org/officeDocument/2006/relationships/image" Target="../media/image8.emf"/><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wmf"/><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15.emf"/><Relationship Id="rId7" Type="http://schemas.openxmlformats.org/officeDocument/2006/relationships/image" Target="../media/image14.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7.emf"/><Relationship Id="rId4" Type="http://schemas.openxmlformats.org/officeDocument/2006/relationships/image" Target="../media/image16.emf"/><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emf"/><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1.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emf"/><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30.emf"/><Relationship Id="rId7" Type="http://schemas.openxmlformats.org/officeDocument/2006/relationships/image" Target="../media/image33.emf"/><Relationship Id="rId2" Type="http://schemas.openxmlformats.org/officeDocument/2006/relationships/image" Target="../media/image29.emf"/><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32.wmf"/><Relationship Id="rId4" Type="http://schemas.openxmlformats.org/officeDocument/2006/relationships/image" Target="../media/image31.emf"/></Relationships>
</file>

<file path=ppt/slides/_rels/slide1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35.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37.png"/><Relationship Id="rId4" Type="http://schemas.openxmlformats.org/officeDocument/2006/relationships/image" Target="../media/image36.emf"/></Relationships>
</file>

<file path=ppt/slides/_rels/slide18.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43.emf"/><Relationship Id="rId4" Type="http://schemas.openxmlformats.org/officeDocument/2006/relationships/image" Target="../media/image42.wmf"/></Relationships>
</file>

<file path=ppt/slides/_rels/slide20.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47.emf"/><Relationship Id="rId4" Type="http://schemas.openxmlformats.org/officeDocument/2006/relationships/image" Target="../media/image46.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49.wmf"/><Relationship Id="rId5" Type="http://schemas.openxmlformats.org/officeDocument/2006/relationships/oleObject" Target="../embeddings/oleObject4.bin"/><Relationship Id="rId4" Type="http://schemas.openxmlformats.org/officeDocument/2006/relationships/image" Target="../media/image48.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48.emf"/><Relationship Id="rId5" Type="http://schemas.openxmlformats.org/officeDocument/2006/relationships/oleObject" Target="../embeddings/oleObject6.bin"/><Relationship Id="rId4" Type="http://schemas.openxmlformats.org/officeDocument/2006/relationships/image" Target="../media/image50.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48.emf"/><Relationship Id="rId5" Type="http://schemas.openxmlformats.org/officeDocument/2006/relationships/oleObject" Target="../embeddings/oleObject8.bin"/><Relationship Id="rId4" Type="http://schemas.openxmlformats.org/officeDocument/2006/relationships/image" Target="../media/image51.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48.emf"/><Relationship Id="rId5" Type="http://schemas.openxmlformats.org/officeDocument/2006/relationships/oleObject" Target="../embeddings/oleObject10.bin"/><Relationship Id="rId4" Type="http://schemas.openxmlformats.org/officeDocument/2006/relationships/image" Target="../media/image52.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55.png"/><Relationship Id="rId7" Type="http://schemas.openxmlformats.org/officeDocument/2006/relationships/image" Target="../media/image54.wmf"/><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oleObject" Target="../embeddings/oleObject12.bin"/><Relationship Id="rId5" Type="http://schemas.openxmlformats.org/officeDocument/2006/relationships/image" Target="../media/image53.wmf"/><Relationship Id="rId4" Type="http://schemas.openxmlformats.org/officeDocument/2006/relationships/oleObject" Target="../embeddings/oleObject11.bin"/><Relationship Id="rId9" Type="http://schemas.openxmlformats.org/officeDocument/2006/relationships/image" Target="../media/image48.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xml"/><Relationship Id="rId1" Type="http://schemas.openxmlformats.org/officeDocument/2006/relationships/vmlDrawing" Target="../drawings/vmlDrawing8.vml"/><Relationship Id="rId4" Type="http://schemas.openxmlformats.org/officeDocument/2006/relationships/image" Target="../media/image48.emf"/></Relationships>
</file>

<file path=ppt/slides/_rels/slide27.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emf"/></Relationships>
</file>

<file path=ppt/slides/_rels/slide28.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6.png"/><Relationship Id="rId1" Type="http://schemas.openxmlformats.org/officeDocument/2006/relationships/slideLayout" Target="../slideLayouts/slideLayout1.xml"/><Relationship Id="rId5" Type="http://schemas.openxmlformats.org/officeDocument/2006/relationships/image" Target="../media/image62.emf"/><Relationship Id="rId4" Type="http://schemas.openxmlformats.org/officeDocument/2006/relationships/image" Target="../media/image61.emf"/></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63.emf"/><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66.png"/></Relationships>
</file>

<file path=ppt/slides/_rels/slide3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xml"/><Relationship Id="rId1" Type="http://schemas.openxmlformats.org/officeDocument/2006/relationships/vmlDrawing" Target="../drawings/vmlDrawing9.vml"/><Relationship Id="rId5" Type="http://schemas.openxmlformats.org/officeDocument/2006/relationships/image" Target="../media/image68.png"/><Relationship Id="rId4" Type="http://schemas.openxmlformats.org/officeDocument/2006/relationships/image" Target="../media/image69.emf"/></Relationships>
</file>

<file path=ppt/slides/_rels/slide34.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image" Target="../media/image71.wmf"/><Relationship Id="rId5" Type="http://schemas.openxmlformats.org/officeDocument/2006/relationships/oleObject" Target="../embeddings/oleObject17.bin"/><Relationship Id="rId4" Type="http://schemas.openxmlformats.org/officeDocument/2006/relationships/image" Target="../media/image70.wmf"/><Relationship Id="rId9" Type="http://schemas.openxmlformats.org/officeDocument/2006/relationships/image" Target="../media/image68.png"/></Relationships>
</file>

<file path=ppt/slides/_rels/slide35.xml.rels><?xml version="1.0" encoding="UTF-8" standalone="yes"?>
<Relationships xmlns="http://schemas.openxmlformats.org/package/2006/relationships"><Relationship Id="rId2" Type="http://schemas.openxmlformats.org/officeDocument/2006/relationships/image" Target="../media/image73.gif"/><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6.wmf"/><Relationship Id="rId7" Type="http://schemas.openxmlformats.org/officeDocument/2006/relationships/image" Target="../media/image80.png"/><Relationship Id="rId2" Type="http://schemas.openxmlformats.org/officeDocument/2006/relationships/image" Target="../media/image75.wmf"/><Relationship Id="rId1" Type="http://schemas.openxmlformats.org/officeDocument/2006/relationships/slideLayout" Target="../slideLayouts/slideLayout1.xml"/><Relationship Id="rId6" Type="http://schemas.openxmlformats.org/officeDocument/2006/relationships/image" Target="../media/image79.wmf"/><Relationship Id="rId5" Type="http://schemas.openxmlformats.org/officeDocument/2006/relationships/image" Target="../media/image78.wmf"/><Relationship Id="rId4" Type="http://schemas.openxmlformats.org/officeDocument/2006/relationships/image" Target="../media/image77.wmf"/></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85.wmf"/><Relationship Id="rId4" Type="http://schemas.openxmlformats.org/officeDocument/2006/relationships/image" Target="../media/image84.wmf"/></Relationships>
</file>

<file path=ppt/slides/_rels/slide40.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87.wmf"/><Relationship Id="rId7" Type="http://schemas.openxmlformats.org/officeDocument/2006/relationships/image" Target="../media/image83.wmf"/><Relationship Id="rId2" Type="http://schemas.openxmlformats.org/officeDocument/2006/relationships/image" Target="../media/image86.wmf"/><Relationship Id="rId1" Type="http://schemas.openxmlformats.org/officeDocument/2006/relationships/slideLayout" Target="../slideLayouts/slideLayout1.xml"/><Relationship Id="rId6" Type="http://schemas.openxmlformats.org/officeDocument/2006/relationships/image" Target="../media/image90.wmf"/><Relationship Id="rId5" Type="http://schemas.openxmlformats.org/officeDocument/2006/relationships/image" Target="../media/image89.wmf"/><Relationship Id="rId4" Type="http://schemas.openxmlformats.org/officeDocument/2006/relationships/image" Target="../media/image88.wmf"/></Relationships>
</file>

<file path=ppt/slides/_rels/slide41.xml.rels><?xml version="1.0" encoding="UTF-8" standalone="yes"?>
<Relationships xmlns="http://schemas.openxmlformats.org/package/2006/relationships"><Relationship Id="rId8" Type="http://schemas.openxmlformats.org/officeDocument/2006/relationships/image" Target="../media/image83.wmf"/><Relationship Id="rId3" Type="http://schemas.openxmlformats.org/officeDocument/2006/relationships/image" Target="../media/image92.wmf"/><Relationship Id="rId7" Type="http://schemas.openxmlformats.org/officeDocument/2006/relationships/image" Target="../media/image80.png"/><Relationship Id="rId2" Type="http://schemas.openxmlformats.org/officeDocument/2006/relationships/image" Target="../media/image91.wmf"/><Relationship Id="rId1" Type="http://schemas.openxmlformats.org/officeDocument/2006/relationships/slideLayout" Target="../slideLayouts/slideLayout1.xml"/><Relationship Id="rId6" Type="http://schemas.openxmlformats.org/officeDocument/2006/relationships/image" Target="../media/image90.wmf"/><Relationship Id="rId5" Type="http://schemas.openxmlformats.org/officeDocument/2006/relationships/image" Target="../media/image94.wmf"/><Relationship Id="rId4" Type="http://schemas.openxmlformats.org/officeDocument/2006/relationships/image" Target="../media/image93.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xml"/><Relationship Id="rId4" Type="http://schemas.openxmlformats.org/officeDocument/2006/relationships/image" Target="../media/image101.png"/></Relationships>
</file>

<file path=ppt/slides/_rels/slide4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slideLayout" Target="../slideLayouts/slideLayout1.xml"/><Relationship Id="rId1" Type="http://schemas.openxmlformats.org/officeDocument/2006/relationships/vmlDrawing" Target="../drawings/vmlDrawing11.vml"/><Relationship Id="rId5" Type="http://schemas.openxmlformats.org/officeDocument/2006/relationships/image" Target="../media/image104.wmf"/><Relationship Id="rId4" Type="http://schemas.openxmlformats.org/officeDocument/2006/relationships/oleObject" Target="../embeddings/oleObject19.bin"/></Relationships>
</file>

<file path=ppt/slides/_rels/slide51.xml.rels><?xml version="1.0" encoding="UTF-8" standalone="yes"?>
<Relationships xmlns="http://schemas.openxmlformats.org/package/2006/relationships"><Relationship Id="rId3" Type="http://schemas.openxmlformats.org/officeDocument/2006/relationships/image" Target="../media/image107.jpeg"/><Relationship Id="rId7" Type="http://schemas.openxmlformats.org/officeDocument/2006/relationships/image" Target="../media/image111.png"/><Relationship Id="rId2" Type="http://schemas.openxmlformats.org/officeDocument/2006/relationships/image" Target="../media/image106.jpeg"/><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109.emf"/><Relationship Id="rId4" Type="http://schemas.openxmlformats.org/officeDocument/2006/relationships/image" Target="../media/image108.emf"/></Relationships>
</file>

<file path=ppt/slides/_rels/slide52.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image" Target="../media/image110.wmf"/><Relationship Id="rId1" Type="http://schemas.openxmlformats.org/officeDocument/2006/relationships/slideLayout" Target="../slideLayouts/slideLayout1.xml"/><Relationship Id="rId6" Type="http://schemas.openxmlformats.org/officeDocument/2006/relationships/image" Target="../media/image114.wmf"/><Relationship Id="rId11" Type="http://schemas.openxmlformats.org/officeDocument/2006/relationships/image" Target="../media/image114.png"/><Relationship Id="rId5" Type="http://schemas.openxmlformats.org/officeDocument/2006/relationships/image" Target="../media/image113.wmf"/><Relationship Id="rId10" Type="http://schemas.openxmlformats.org/officeDocument/2006/relationships/image" Target="../media/image113.png"/><Relationship Id="rId4" Type="http://schemas.openxmlformats.org/officeDocument/2006/relationships/image" Target="../media/image112.jpeg"/></Relationships>
</file>

<file path=ppt/slides/_rels/slide53.xml.rels><?xml version="1.0" encoding="UTF-8" standalone="yes"?>
<Relationships xmlns="http://schemas.openxmlformats.org/package/2006/relationships"><Relationship Id="rId3" Type="http://schemas.openxmlformats.org/officeDocument/2006/relationships/image" Target="../media/image116.png"/><Relationship Id="rId7" Type="http://schemas.openxmlformats.org/officeDocument/2006/relationships/image" Target="../media/image97.png"/><Relationship Id="rId2" Type="http://schemas.openxmlformats.org/officeDocument/2006/relationships/image" Target="../media/image115.png"/><Relationship Id="rId1" Type="http://schemas.openxmlformats.org/officeDocument/2006/relationships/slideLayout" Target="../slideLayouts/slideLayout1.xml"/><Relationship Id="rId6" Type="http://schemas.openxmlformats.org/officeDocument/2006/relationships/image" Target="../media/image112.jpeg"/><Relationship Id="rId5" Type="http://schemas.openxmlformats.org/officeDocument/2006/relationships/image" Target="../media/image111.jpeg"/><Relationship Id="rId4" Type="http://schemas.openxmlformats.org/officeDocument/2006/relationships/image" Target="../media/image117.wmf"/></Relationships>
</file>

<file path=ppt/slides/_rels/slide54.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image" Target="../media/image118.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22.emf"/><Relationship Id="rId2" Type="http://schemas.openxmlformats.org/officeDocument/2006/relationships/image" Target="../media/image12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25.emf"/><Relationship Id="rId2" Type="http://schemas.openxmlformats.org/officeDocument/2006/relationships/image" Target="../media/image124.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7.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slideLayout" Target="../slideLayouts/slideLayout1.xml"/><Relationship Id="rId5" Type="http://schemas.openxmlformats.org/officeDocument/2006/relationships/image" Target="../media/image131.wmf"/><Relationship Id="rId4" Type="http://schemas.openxmlformats.org/officeDocument/2006/relationships/image" Target="../media/image127.png"/></Relationships>
</file>

<file path=ppt/slides/_rels/slide62.xml.rels><?xml version="1.0" encoding="UTF-8" standalone="yes"?>
<Relationships xmlns="http://schemas.openxmlformats.org/package/2006/relationships"><Relationship Id="rId3" Type="http://schemas.openxmlformats.org/officeDocument/2006/relationships/image" Target="../media/image133.wmf"/><Relationship Id="rId7" Type="http://schemas.openxmlformats.org/officeDocument/2006/relationships/image" Target="../media/image136.png"/><Relationship Id="rId2" Type="http://schemas.openxmlformats.org/officeDocument/2006/relationships/image" Target="../media/image132.wmf"/><Relationship Id="rId1" Type="http://schemas.openxmlformats.org/officeDocument/2006/relationships/slideLayout" Target="../slideLayouts/slideLayout1.xml"/><Relationship Id="rId6" Type="http://schemas.openxmlformats.org/officeDocument/2006/relationships/image" Target="../media/image127.png"/><Relationship Id="rId5" Type="http://schemas.openxmlformats.org/officeDocument/2006/relationships/image" Target="../media/image135.wmf"/><Relationship Id="rId4" Type="http://schemas.openxmlformats.org/officeDocument/2006/relationships/image" Target="../media/image134.wmf"/></Relationships>
</file>

<file path=ppt/slides/_rels/slide63.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27.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27.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37.jpeg"/><Relationship Id="rId1" Type="http://schemas.openxmlformats.org/officeDocument/2006/relationships/slideLayout" Target="../slideLayouts/slideLayout1.xml"/><Relationship Id="rId4" Type="http://schemas.openxmlformats.org/officeDocument/2006/relationships/image" Target="../media/image140.png"/></Relationships>
</file>

<file path=ppt/slides/_rels/slide6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30.wmf"/><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39.gif"/><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41.emf"/><Relationship Id="rId2" Type="http://schemas.openxmlformats.org/officeDocument/2006/relationships/image" Target="../media/image140.emf"/><Relationship Id="rId1" Type="http://schemas.openxmlformats.org/officeDocument/2006/relationships/slideLayout" Target="../slideLayouts/slideLayout1.xml"/><Relationship Id="rId4" Type="http://schemas.openxmlformats.org/officeDocument/2006/relationships/image" Target="../media/image139.gif"/></Relationships>
</file>

<file path=ppt/slides/_rels/slide70.xml.rels><?xml version="1.0" encoding="UTF-8" standalone="yes"?>
<Relationships xmlns="http://schemas.openxmlformats.org/package/2006/relationships"><Relationship Id="rId3" Type="http://schemas.openxmlformats.org/officeDocument/2006/relationships/image" Target="../media/image143.emf"/><Relationship Id="rId2" Type="http://schemas.openxmlformats.org/officeDocument/2006/relationships/image" Target="../media/image142.emf"/><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44.emf"/><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46.emf"/><Relationship Id="rId2" Type="http://schemas.openxmlformats.org/officeDocument/2006/relationships/image" Target="../media/image145.jpeg"/><Relationship Id="rId1" Type="http://schemas.openxmlformats.org/officeDocument/2006/relationships/slideLayout" Target="../slideLayouts/slideLayout1.xml"/><Relationship Id="rId4" Type="http://schemas.openxmlformats.org/officeDocument/2006/relationships/image" Target="../media/image147.emf"/></Relationships>
</file>

<file path=ppt/slides/_rels/slide78.xml.rels><?xml version="1.0" encoding="UTF-8" standalone="yes"?>
<Relationships xmlns="http://schemas.openxmlformats.org/package/2006/relationships"><Relationship Id="rId2" Type="http://schemas.openxmlformats.org/officeDocument/2006/relationships/image" Target="../media/image145.jpe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image" Target="../media/image149.png"/><Relationship Id="rId1" Type="http://schemas.openxmlformats.org/officeDocument/2006/relationships/slideLayout" Target="../slideLayouts/slideLayout1.xml"/><Relationship Id="rId4" Type="http://schemas.openxmlformats.org/officeDocument/2006/relationships/image" Target="../media/image151.jpeg"/></Relationships>
</file>

<file path=ppt/slides/_rels/slide8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jpe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56.jpe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57.jpe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image" Target="../media/image159.jpe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image" Target="../media/image161.jpe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1.xml"/><Relationship Id="rId4" Type="http://schemas.openxmlformats.org/officeDocument/2006/relationships/image" Target="../media/image165.png"/></Relationships>
</file>

<file path=ppt/slides/_rels/slide90.xml.rels><?xml version="1.0" encoding="UTF-8" standalone="yes"?>
<Relationships xmlns="http://schemas.openxmlformats.org/package/2006/relationships"><Relationship Id="rId3" Type="http://schemas.openxmlformats.org/officeDocument/2006/relationships/image" Target="../media/image167.gif"/><Relationship Id="rId2" Type="http://schemas.openxmlformats.org/officeDocument/2006/relationships/image" Target="../media/image166.emf"/><Relationship Id="rId1" Type="http://schemas.openxmlformats.org/officeDocument/2006/relationships/slideLayout" Target="../slideLayouts/slideLayout1.xml"/><Relationship Id="rId4" Type="http://schemas.openxmlformats.org/officeDocument/2006/relationships/image" Target="../media/image168.png"/></Relationships>
</file>

<file path=ppt/slides/_rels/slide91.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image" Target="../media/image169.jpeg"/><Relationship Id="rId1" Type="http://schemas.openxmlformats.org/officeDocument/2006/relationships/slideLayout" Target="../slideLayouts/slideLayout1.xml"/><Relationship Id="rId4" Type="http://schemas.openxmlformats.org/officeDocument/2006/relationships/image" Target="../media/image171.jpeg"/></Relationships>
</file>

<file path=ppt/slides/_rels/slide92.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5"/>
          <p:cNvSpPr>
            <a:spLocks noChangeArrowheads="1"/>
          </p:cNvSpPr>
          <p:nvPr/>
        </p:nvSpPr>
        <p:spPr bwMode="auto">
          <a:xfrm>
            <a:off x="1259770" y="2852960"/>
            <a:ext cx="6407732"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eaLnBrk="1" hangingPunct="1"/>
            <a:r>
              <a:rPr lang="zh-CN" altLang="en-US" sz="5400" dirty="0">
                <a:solidFill>
                  <a:srgbClr val="FF0000"/>
                </a:solidFill>
                <a:latin typeface="华文琥珀" pitchFamily="2" charset="-122"/>
                <a:ea typeface="华文琥珀" pitchFamily="2" charset="-122"/>
                <a:sym typeface="华文琥珀" pitchFamily="2" charset="-122"/>
              </a:rPr>
              <a:t>电感式传感器</a:t>
            </a:r>
            <a:endParaRPr lang="en-US" sz="5400" dirty="0">
              <a:solidFill>
                <a:srgbClr val="FF0000"/>
              </a:solidFill>
              <a:latin typeface="华文琥珀" pitchFamily="2" charset="-122"/>
              <a:ea typeface="华文琥珀" pitchFamily="2" charset="-122"/>
              <a:sym typeface="华文琥珀" pitchFamily="2" charset="-122"/>
            </a:endParaRPr>
          </a:p>
        </p:txBody>
      </p:sp>
      <p:pic>
        <p:nvPicPr>
          <p:cNvPr id="3075" name="Picture 3" descr="b77be11e9ed50e9788d6e8b4011c69c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710" y="4725090"/>
            <a:ext cx="2601912"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92098" y="4638966"/>
            <a:ext cx="2264137" cy="2040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77" name="Picture 5" descr="2df5fccf4ecdcd815ae9a21b2d78fb2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24163" y="168665"/>
            <a:ext cx="3044825"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E159D9F3-0F16-4E5D-9D92-2A989EC960F2}" type="slidenum">
              <a:rPr lang="zh-CN" altLang="en-US"/>
              <a:pPr/>
              <a:t>2</a:t>
            </a:fld>
            <a:endParaRPr lang="zh-CN" altLang="en-US" sz="1800">
              <a:solidFill>
                <a:schemeClr val="tx1"/>
              </a:solidFill>
              <a:latin typeface="Arial" pitchFamily="34" charset="0"/>
            </a:endParaRPr>
          </a:p>
        </p:txBody>
      </p:sp>
      <p:sp>
        <p:nvSpPr>
          <p:cNvPr id="409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4099" name="TextBox 5"/>
          <p:cNvSpPr>
            <a:spLocks noChangeArrowheads="1"/>
          </p:cNvSpPr>
          <p:nvPr/>
        </p:nvSpPr>
        <p:spPr bwMode="auto">
          <a:xfrm>
            <a:off x="611725" y="260780"/>
            <a:ext cx="255983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sz="3200" b="1" dirty="0">
                <a:latin typeface="Calibri" pitchFamily="34" charset="0"/>
              </a:rPr>
              <a:t>目录</a:t>
            </a:r>
            <a:endParaRPr lang="zh-CN" altLang="en-US" dirty="0"/>
          </a:p>
        </p:txBody>
      </p:sp>
      <p:sp>
        <p:nvSpPr>
          <p:cNvPr id="4100" name="TextBox 3"/>
          <p:cNvSpPr>
            <a:spLocks noChangeArrowheads="1"/>
          </p:cNvSpPr>
          <p:nvPr/>
        </p:nvSpPr>
        <p:spPr bwMode="auto">
          <a:xfrm>
            <a:off x="395710" y="1340562"/>
            <a:ext cx="6357938" cy="428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ts val="3000"/>
              </a:lnSpc>
              <a:buFont typeface="Arial" pitchFamily="34" charset="0"/>
              <a:buAutoNum type="arabicPeriod"/>
            </a:pPr>
            <a:endParaRPr lang="zh-CN" altLang="en-US" sz="3200" b="1" dirty="0">
              <a:solidFill>
                <a:srgbClr val="000000"/>
              </a:solidFill>
              <a:latin typeface="华文中宋" pitchFamily="2" charset="-122"/>
              <a:ea typeface="华文中宋" pitchFamily="2" charset="-122"/>
              <a:sym typeface="华文中宋" pitchFamily="2" charset="-122"/>
            </a:endParaRPr>
          </a:p>
          <a:p>
            <a:pPr marL="342900" indent="-342900" eaLnBrk="1" hangingPunct="1">
              <a:lnSpc>
                <a:spcPts val="3000"/>
              </a:lnSpc>
              <a:buFont typeface="Calibri" pitchFamily="34" charset="0"/>
              <a:buAutoNum type="arabicPeriod"/>
            </a:pPr>
            <a:r>
              <a:rPr lang="zh-CN" altLang="en-US" sz="3200" dirty="0">
                <a:ea typeface="华文新魏" pitchFamily="2" charset="-122"/>
                <a:sym typeface="Arial" pitchFamily="34" charset="0"/>
                <a:hlinkClick r:id="rId2" action="ppaction://hlinksldjump"/>
              </a:rPr>
              <a:t>螺管式电感传感器</a:t>
            </a:r>
            <a:endParaRPr lang="zh-CN" altLang="en-US" sz="3200" dirty="0">
              <a:ea typeface="华文新魏" pitchFamily="2" charset="-122"/>
              <a:sym typeface="Arial" pitchFamily="34" charset="0"/>
            </a:endParaRPr>
          </a:p>
          <a:p>
            <a:pPr marL="342900" indent="-342900" eaLnBrk="1" hangingPunct="1">
              <a:lnSpc>
                <a:spcPts val="3000"/>
              </a:lnSpc>
              <a:buFont typeface="Calibri" pitchFamily="34" charset="0"/>
              <a:buNone/>
            </a:pPr>
            <a:endParaRPr lang="en-US" sz="3200" dirty="0">
              <a:ea typeface="华文新魏" pitchFamily="2" charset="-122"/>
              <a:sym typeface="Arial" pitchFamily="34" charset="0"/>
            </a:endParaRPr>
          </a:p>
          <a:p>
            <a:pPr marL="342900" indent="-342900" eaLnBrk="1" hangingPunct="1">
              <a:lnSpc>
                <a:spcPts val="3000"/>
              </a:lnSpc>
              <a:buFont typeface="Calibri" pitchFamily="34" charset="0"/>
              <a:buNone/>
            </a:pPr>
            <a:r>
              <a:rPr lang="zh-CN" altLang="en-US" sz="3200" dirty="0">
                <a:ea typeface="华文新魏" pitchFamily="2" charset="-122"/>
                <a:sym typeface="Arial" pitchFamily="34" charset="0"/>
              </a:rPr>
              <a:t>2.</a:t>
            </a:r>
            <a:r>
              <a:rPr lang="zh-CN" altLang="en-US" sz="3200" dirty="0">
                <a:ea typeface="华文新魏" pitchFamily="2" charset="-122"/>
                <a:sym typeface="Arial" pitchFamily="34" charset="0"/>
                <a:hlinkClick r:id="rId3" action="ppaction://hlinksldjump"/>
              </a:rPr>
              <a:t>电涡流电感传感器</a:t>
            </a:r>
          </a:p>
          <a:p>
            <a:pPr marL="342900" indent="-342900" eaLnBrk="1" hangingPunct="1">
              <a:lnSpc>
                <a:spcPts val="3000"/>
              </a:lnSpc>
              <a:buFont typeface="Calibri" pitchFamily="34" charset="0"/>
              <a:buNone/>
            </a:pPr>
            <a:endParaRPr lang="en-US" sz="3200" b="1" dirty="0">
              <a:solidFill>
                <a:srgbClr val="000000"/>
              </a:solidFill>
              <a:latin typeface="Calibri" pitchFamily="34" charset="0"/>
              <a:ea typeface="华文新魏" pitchFamily="2" charset="-122"/>
              <a:sym typeface="Calibri" pitchFamily="34" charset="0"/>
            </a:endParaRPr>
          </a:p>
          <a:p>
            <a:pPr marL="342900" indent="-342900" eaLnBrk="1" hangingPunct="1">
              <a:lnSpc>
                <a:spcPts val="3000"/>
              </a:lnSpc>
              <a:buFont typeface="Calibri" pitchFamily="34" charset="0"/>
              <a:buNone/>
            </a:pPr>
            <a:r>
              <a:rPr lang="zh-CN" altLang="en-US" sz="3200" dirty="0">
                <a:ea typeface="华文新魏" pitchFamily="2" charset="-122"/>
                <a:sym typeface="Arial" pitchFamily="34" charset="0"/>
              </a:rPr>
              <a:t>3.</a:t>
            </a:r>
            <a:r>
              <a:rPr lang="zh-CN" altLang="en-US" sz="3200" dirty="0">
                <a:ea typeface="华文新魏" pitchFamily="2" charset="-122"/>
                <a:sym typeface="Arial" pitchFamily="34" charset="0"/>
                <a:hlinkClick r:id="rId4" action="ppaction://hlinksldjump"/>
              </a:rPr>
              <a:t>电感传感器的应用</a:t>
            </a:r>
            <a:endParaRPr lang="en-US" sz="3200" dirty="0">
              <a:ea typeface="华文新魏" pitchFamily="2" charset="-122"/>
              <a:sym typeface="Arial" pitchFamily="34" charset="0"/>
            </a:endParaRPr>
          </a:p>
          <a:p>
            <a:pPr marL="342900" indent="-342900" eaLnBrk="1" hangingPunct="1">
              <a:lnSpc>
                <a:spcPts val="3000"/>
              </a:lnSpc>
              <a:buFont typeface="Calibri" pitchFamily="34" charset="0"/>
              <a:buAutoNum type="arabicPeriod"/>
            </a:pPr>
            <a:endParaRPr lang="zh-CN" altLang="en-US" sz="2400" b="1" dirty="0">
              <a:solidFill>
                <a:srgbClr val="000000"/>
              </a:solidFill>
              <a:latin typeface="Calibri" pitchFamily="34" charset="0"/>
              <a:ea typeface="华文新魏" pitchFamily="2" charset="-122"/>
              <a:sym typeface="Calibri" pitchFamily="34" charset="0"/>
            </a:endParaRPr>
          </a:p>
          <a:p>
            <a:pPr marL="342900" indent="-342900" eaLnBrk="1" hangingPunct="1">
              <a:lnSpc>
                <a:spcPts val="3000"/>
              </a:lnSpc>
              <a:buFont typeface="Calibri" pitchFamily="34" charset="0"/>
              <a:buAutoNum type="arabicPeriod"/>
            </a:pPr>
            <a:endParaRPr lang="zh-CN" altLang="en-US" b="1" dirty="0">
              <a:solidFill>
                <a:srgbClr val="000000"/>
              </a:solidFill>
              <a:latin typeface="Calibri" pitchFamily="34" charset="0"/>
              <a:ea typeface="华文新魏" pitchFamily="2" charset="-122"/>
              <a:sym typeface="Calibri" pitchFamily="34" charset="0"/>
            </a:endParaRPr>
          </a:p>
          <a:p>
            <a:pPr marL="342900" indent="-342900" eaLnBrk="1" hangingPunct="1">
              <a:lnSpc>
                <a:spcPts val="3000"/>
              </a:lnSpc>
              <a:buFont typeface="Calibri" pitchFamily="34" charset="0"/>
              <a:buAutoNum type="arabicPeriod"/>
            </a:pPr>
            <a:endParaRPr lang="zh-CN" altLang="en-US" b="1" dirty="0">
              <a:solidFill>
                <a:srgbClr val="000000"/>
              </a:solidFill>
              <a:latin typeface="Calibri" pitchFamily="34" charset="0"/>
              <a:sym typeface="Calibri" pitchFamily="34" charset="0"/>
            </a:endParaRPr>
          </a:p>
          <a:p>
            <a:pPr marL="342900" indent="-342900" eaLnBrk="1" hangingPunct="1">
              <a:lnSpc>
                <a:spcPts val="3000"/>
              </a:lnSpc>
              <a:buFont typeface="Calibri" pitchFamily="34" charset="0"/>
              <a:buAutoNum type="arabicPeriod"/>
            </a:pPr>
            <a:endParaRPr lang="zh-CN" altLang="en-US" b="1" dirty="0">
              <a:solidFill>
                <a:srgbClr val="000000"/>
              </a:solidFill>
              <a:latin typeface="Calibri" pitchFamily="34" charset="0"/>
              <a:sym typeface="Calibri" pitchFamily="34" charset="0"/>
            </a:endParaRPr>
          </a:p>
          <a:p>
            <a:pPr marL="342900" indent="-342900" eaLnBrk="1" hangingPunct="1">
              <a:lnSpc>
                <a:spcPts val="3000"/>
              </a:lnSpc>
            </a:pPr>
            <a:endParaRPr lang="zh-CN" altLang="en-US" b="1" dirty="0">
              <a:solidFill>
                <a:srgbClr val="000000"/>
              </a:solidFill>
              <a:latin typeface="华文中宋" pitchFamily="2" charset="-122"/>
              <a:ea typeface="华文中宋" pitchFamily="2" charset="-122"/>
              <a:sym typeface="华文中宋" pitchFamily="2" charset="-122"/>
            </a:endParaRPr>
          </a:p>
        </p:txBody>
      </p:sp>
      <p:pic>
        <p:nvPicPr>
          <p:cNvPr id="3" name="图片 2">
            <a:extLst>
              <a:ext uri="{FF2B5EF4-FFF2-40B4-BE49-F238E27FC236}">
                <a16:creationId xmlns:a16="http://schemas.microsoft.com/office/drawing/2014/main" id="{E700975A-632C-4BD7-B0DB-90B37D08F6B2}"/>
              </a:ext>
            </a:extLst>
          </p:cNvPr>
          <p:cNvPicPr>
            <a:picLocks noChangeAspect="1"/>
          </p:cNvPicPr>
          <p:nvPr/>
        </p:nvPicPr>
        <p:blipFill>
          <a:blip r:embed="rId5"/>
          <a:stretch>
            <a:fillRect/>
          </a:stretch>
        </p:blipFill>
        <p:spPr>
          <a:xfrm>
            <a:off x="5014912" y="4191000"/>
            <a:ext cx="3076575" cy="2667000"/>
          </a:xfrm>
          <a:prstGeom prst="rect">
            <a:avLst/>
          </a:prstGeom>
        </p:spPr>
      </p:pic>
      <p:pic>
        <p:nvPicPr>
          <p:cNvPr id="168968" name="Picture 8" descr="空心电感图片 的图像结果">
            <a:extLst>
              <a:ext uri="{FF2B5EF4-FFF2-40B4-BE49-F238E27FC236}">
                <a16:creationId xmlns:a16="http://schemas.microsoft.com/office/drawing/2014/main" id="{FB342E2D-15CD-4B86-9926-29F3D38492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684" y="4240568"/>
            <a:ext cx="3508566" cy="256786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bkimg.cdn.bcebos.com/pic/ca1349540923dd5445d613c7df09b3de9d8248f3?x-bce-process=image/watermark,image_d2F0ZXIvYmFpa2U4MA==,g_7,xp_5,yp_5/format,f_auto">
            <a:extLst>
              <a:ext uri="{FF2B5EF4-FFF2-40B4-BE49-F238E27FC236}">
                <a16:creationId xmlns:a16="http://schemas.microsoft.com/office/drawing/2014/main" id="{50B28A74-502E-48AA-BAEA-5A75F646AE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1703" y="1201308"/>
            <a:ext cx="4004302" cy="26868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E159D9F3-0F16-4E5D-9D92-2A989EC960F2}" type="slidenum">
              <a:rPr lang="zh-CN" altLang="en-US"/>
              <a:pPr/>
              <a:t>3</a:t>
            </a:fld>
            <a:endParaRPr lang="zh-CN" altLang="en-US" sz="1800">
              <a:solidFill>
                <a:schemeClr val="tx1"/>
              </a:solidFill>
              <a:latin typeface="Arial" pitchFamily="34" charset="0"/>
            </a:endParaRPr>
          </a:p>
        </p:txBody>
      </p:sp>
      <p:sp>
        <p:nvSpPr>
          <p:cNvPr id="409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4099" name="TextBox 5"/>
          <p:cNvSpPr>
            <a:spLocks noChangeArrowheads="1"/>
          </p:cNvSpPr>
          <p:nvPr/>
        </p:nvSpPr>
        <p:spPr bwMode="auto">
          <a:xfrm>
            <a:off x="611724" y="260780"/>
            <a:ext cx="80750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sz="3200" b="1" dirty="0">
                <a:latin typeface="Calibri" pitchFamily="34" charset="0"/>
              </a:rPr>
              <a:t>*引子：磁感应强度</a:t>
            </a:r>
            <a:r>
              <a:rPr lang="en-US" altLang="zh-CN" sz="3200" b="1" dirty="0">
                <a:latin typeface="Calibri" pitchFamily="34" charset="0"/>
              </a:rPr>
              <a:t>B</a:t>
            </a:r>
            <a:r>
              <a:rPr lang="zh-CN" altLang="en-US" sz="3200" b="1" dirty="0">
                <a:latin typeface="Calibri" pitchFamily="34" charset="0"/>
              </a:rPr>
              <a:t>，磁场强度</a:t>
            </a:r>
            <a:r>
              <a:rPr lang="en-US" altLang="zh-CN" sz="3200" b="1" dirty="0">
                <a:latin typeface="Calibri" pitchFamily="34" charset="0"/>
              </a:rPr>
              <a:t>H</a:t>
            </a:r>
            <a:r>
              <a:rPr lang="zh-CN" altLang="en-US" sz="3200" b="1" dirty="0">
                <a:latin typeface="Calibri" pitchFamily="34" charset="0"/>
              </a:rPr>
              <a:t>和电感</a:t>
            </a:r>
            <a:r>
              <a:rPr lang="en-US" altLang="zh-CN" sz="3200" b="1" dirty="0">
                <a:latin typeface="Calibri" pitchFamily="34" charset="0"/>
              </a:rPr>
              <a:t>L</a:t>
            </a:r>
            <a:endParaRPr lang="zh-CN" altLang="en-US" dirty="0"/>
          </a:p>
        </p:txBody>
      </p:sp>
      <p:pic>
        <p:nvPicPr>
          <p:cNvPr id="8" name="Picture 2" descr="https://bkimg.cdn.bcebos.com/pic/ca1349540923dd5445d613c7df09b3de9d8248f3?x-bce-process=image/watermark,image_d2F0ZXIvYmFpa2U4MA==,g_7,xp_5,yp_5/format,f_auto">
            <a:extLst>
              <a:ext uri="{FF2B5EF4-FFF2-40B4-BE49-F238E27FC236}">
                <a16:creationId xmlns:a16="http://schemas.microsoft.com/office/drawing/2014/main" id="{50B28A74-502E-48AA-BAEA-5A75F646AE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855" y="1200733"/>
            <a:ext cx="3886211" cy="2607590"/>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8">
            <a:extLst>
              <a:ext uri="{FF2B5EF4-FFF2-40B4-BE49-F238E27FC236}">
                <a16:creationId xmlns:a16="http://schemas.microsoft.com/office/drawing/2014/main" id="{17E6AD10-4709-4FD2-BD5C-E61A0C359AC5}"/>
              </a:ext>
            </a:extLst>
          </p:cNvPr>
          <p:cNvSpPr>
            <a:spLocks noChangeArrowheads="1"/>
          </p:cNvSpPr>
          <p:nvPr/>
        </p:nvSpPr>
        <p:spPr bwMode="auto">
          <a:xfrm>
            <a:off x="729064" y="3825401"/>
            <a:ext cx="7639602" cy="2530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50000"/>
              </a:lnSpc>
              <a:buFont typeface="Wingdings" panose="05000000000000000000" pitchFamily="2" charset="2"/>
              <a:buChar char="u"/>
            </a:pPr>
            <a:r>
              <a:rPr lang="zh-CN" altLang="en-US" sz="2000" dirty="0">
                <a:solidFill>
                  <a:srgbClr val="FF0000"/>
                </a:solidFill>
                <a:latin typeface="楷体_GB2312" pitchFamily="49" charset="-122"/>
                <a:ea typeface="楷体_GB2312" pitchFamily="49" charset="-122"/>
                <a:sym typeface="楷体_GB2312" pitchFamily="49" charset="-122"/>
              </a:rPr>
              <a:t>磁感应强度</a:t>
            </a:r>
            <a:r>
              <a:rPr lang="en-US" altLang="zh-CN" sz="2000" dirty="0">
                <a:solidFill>
                  <a:srgbClr val="FF0000"/>
                </a:solidFill>
                <a:latin typeface="楷体_GB2312" pitchFamily="49" charset="-122"/>
                <a:ea typeface="楷体_GB2312" pitchFamily="49" charset="-122"/>
                <a:sym typeface="楷体_GB2312" pitchFamily="49" charset="-122"/>
              </a:rPr>
              <a:t>B</a:t>
            </a:r>
            <a:r>
              <a:rPr lang="zh-CN" altLang="en-US" sz="2000" dirty="0">
                <a:latin typeface="楷体_GB2312" pitchFamily="49" charset="-122"/>
                <a:ea typeface="楷体_GB2312" pitchFamily="49" charset="-122"/>
                <a:sym typeface="楷体_GB2312" pitchFamily="49" charset="-122"/>
              </a:rPr>
              <a:t>：描述磁场强弱和方向的物理量。又称</a:t>
            </a:r>
            <a:r>
              <a:rPr lang="zh-CN" altLang="en-US" sz="2000" b="1" dirty="0">
                <a:latin typeface="楷体_GB2312" pitchFamily="49" charset="-122"/>
                <a:ea typeface="楷体_GB2312" pitchFamily="49" charset="-122"/>
                <a:sym typeface="楷体_GB2312" pitchFamily="49" charset="-122"/>
              </a:rPr>
              <a:t>磁通密度</a:t>
            </a:r>
            <a:r>
              <a:rPr lang="zh-CN" altLang="en-US" sz="2000" dirty="0">
                <a:latin typeface="楷体_GB2312" pitchFamily="49" charset="-122"/>
                <a:ea typeface="楷体_GB2312" pitchFamily="49" charset="-122"/>
                <a:sym typeface="楷体_GB2312" pitchFamily="49" charset="-122"/>
              </a:rPr>
              <a:t>；</a:t>
            </a:r>
            <a:endParaRPr lang="en-US" altLang="zh-CN" sz="2000" dirty="0">
              <a:latin typeface="楷体_GB2312" pitchFamily="49" charset="-122"/>
              <a:ea typeface="楷体_GB2312" pitchFamily="49" charset="-122"/>
              <a:sym typeface="楷体_GB2312" pitchFamily="49" charset="-122"/>
            </a:endParaRPr>
          </a:p>
          <a:p>
            <a:pPr marL="342900" indent="-342900" eaLnBrk="1" hangingPunct="1">
              <a:lnSpc>
                <a:spcPct val="150000"/>
              </a:lnSpc>
              <a:buFont typeface="Wingdings" panose="05000000000000000000" pitchFamily="2" charset="2"/>
              <a:buChar char="u"/>
            </a:pPr>
            <a:r>
              <a:rPr lang="zh-CN" altLang="en-US" sz="2000" dirty="0">
                <a:solidFill>
                  <a:srgbClr val="FF0000"/>
                </a:solidFill>
                <a:latin typeface="楷体_GB2312" pitchFamily="49" charset="-122"/>
                <a:ea typeface="楷体_GB2312" pitchFamily="49" charset="-122"/>
                <a:sym typeface="楷体_GB2312" pitchFamily="49" charset="-122"/>
              </a:rPr>
              <a:t>磁场强度</a:t>
            </a:r>
            <a:r>
              <a:rPr lang="en-US" altLang="zh-CN" sz="2000" dirty="0">
                <a:solidFill>
                  <a:srgbClr val="FF0000"/>
                </a:solidFill>
                <a:latin typeface="楷体_GB2312" pitchFamily="49" charset="-122"/>
                <a:ea typeface="楷体_GB2312" pitchFamily="49" charset="-122"/>
                <a:sym typeface="楷体_GB2312" pitchFamily="49" charset="-122"/>
              </a:rPr>
              <a:t>H</a:t>
            </a:r>
            <a:r>
              <a:rPr lang="zh-CN" altLang="en-US" sz="2000" dirty="0">
                <a:latin typeface="楷体_GB2312" pitchFamily="49" charset="-122"/>
                <a:ea typeface="楷体_GB2312" pitchFamily="49" charset="-122"/>
                <a:sym typeface="楷体_GB2312" pitchFamily="49" charset="-122"/>
              </a:rPr>
              <a:t>：描写磁场性质的物理量，从磁荷观点定义的。</a:t>
            </a:r>
            <a:endParaRPr lang="en-US" altLang="zh-CN" sz="2000" dirty="0">
              <a:latin typeface="楷体_GB2312" pitchFamily="49" charset="-122"/>
              <a:ea typeface="楷体_GB2312" pitchFamily="49" charset="-122"/>
              <a:sym typeface="楷体_GB2312" pitchFamily="49" charset="-122"/>
            </a:endParaRPr>
          </a:p>
          <a:p>
            <a:pPr eaLnBrk="1" hangingPunct="1">
              <a:lnSpc>
                <a:spcPct val="150000"/>
              </a:lnSpc>
            </a:pPr>
            <a:r>
              <a:rPr lang="en-US" altLang="zh-CN" sz="2000" dirty="0">
                <a:latin typeface="楷体_GB2312" pitchFamily="49" charset="-122"/>
                <a:ea typeface="楷体_GB2312" pitchFamily="49" charset="-122"/>
                <a:sym typeface="楷体_GB2312" pitchFamily="49" charset="-122"/>
              </a:rPr>
              <a:t>                           H=B/</a:t>
            </a:r>
            <a:r>
              <a:rPr lang="en-US" altLang="zh-CN" sz="2400" dirty="0">
                <a:latin typeface="楷体_GB2312" pitchFamily="49" charset="-122"/>
                <a:ea typeface="楷体_GB2312" pitchFamily="49" charset="-122"/>
                <a:sym typeface="Symbol" panose="05050102010706020507" pitchFamily="18" charset="2"/>
              </a:rPr>
              <a:t></a:t>
            </a:r>
            <a:r>
              <a:rPr lang="en-US" altLang="zh-CN" sz="1200" dirty="0">
                <a:latin typeface="楷体_GB2312" pitchFamily="49" charset="-122"/>
                <a:ea typeface="楷体_GB2312" pitchFamily="49" charset="-122"/>
                <a:sym typeface="Symbol" panose="05050102010706020507" pitchFamily="18" charset="2"/>
              </a:rPr>
              <a:t>0</a:t>
            </a:r>
            <a:r>
              <a:rPr lang="en-US" altLang="zh-CN" sz="2000" dirty="0">
                <a:latin typeface="楷体_GB2312" pitchFamily="49" charset="-122"/>
                <a:ea typeface="楷体_GB2312" pitchFamily="49" charset="-122"/>
                <a:sym typeface="Symbol" panose="05050102010706020507" pitchFamily="18" charset="2"/>
              </a:rPr>
              <a:t>     </a:t>
            </a:r>
            <a:r>
              <a:rPr lang="en-US" altLang="zh-CN" sz="2800" dirty="0">
                <a:latin typeface="楷体_GB2312" pitchFamily="49" charset="-122"/>
                <a:ea typeface="楷体_GB2312" pitchFamily="49" charset="-122"/>
                <a:sym typeface="Symbol" panose="05050102010706020507" pitchFamily="18" charset="2"/>
              </a:rPr>
              <a:t></a:t>
            </a:r>
            <a:r>
              <a:rPr lang="en-US" altLang="zh-CN" sz="1100" dirty="0">
                <a:latin typeface="楷体_GB2312" pitchFamily="49" charset="-122"/>
                <a:ea typeface="楷体_GB2312" pitchFamily="49" charset="-122"/>
                <a:sym typeface="Symbol" panose="05050102010706020507" pitchFamily="18" charset="2"/>
              </a:rPr>
              <a:t>0</a:t>
            </a:r>
            <a:r>
              <a:rPr lang="zh-CN" altLang="en-US" sz="2000" dirty="0">
                <a:latin typeface="楷体_GB2312" pitchFamily="49" charset="-122"/>
                <a:ea typeface="楷体_GB2312" pitchFamily="49" charset="-122"/>
                <a:sym typeface="Symbol" panose="05050102010706020507" pitchFamily="18" charset="2"/>
              </a:rPr>
              <a:t>为真空磁导率</a:t>
            </a:r>
            <a:endParaRPr lang="en-US" altLang="zh-CN" sz="2000" dirty="0">
              <a:latin typeface="楷体_GB2312" pitchFamily="49" charset="-122"/>
              <a:ea typeface="楷体_GB2312" pitchFamily="49" charset="-122"/>
              <a:sym typeface="楷体_GB2312" pitchFamily="49" charset="-122"/>
            </a:endParaRPr>
          </a:p>
          <a:p>
            <a:pPr marL="342900" indent="-342900" eaLnBrk="1" hangingPunct="1">
              <a:lnSpc>
                <a:spcPct val="150000"/>
              </a:lnSpc>
              <a:buFont typeface="Wingdings" panose="05000000000000000000" pitchFamily="2" charset="2"/>
              <a:buChar char="u"/>
            </a:pPr>
            <a:r>
              <a:rPr lang="zh-CN" altLang="en-US" sz="2000" dirty="0">
                <a:solidFill>
                  <a:srgbClr val="FF0000"/>
                </a:solidFill>
                <a:latin typeface="楷体_GB2312" pitchFamily="49" charset="-122"/>
                <a:ea typeface="楷体_GB2312" pitchFamily="49" charset="-122"/>
                <a:sym typeface="楷体_GB2312" pitchFamily="49" charset="-122"/>
              </a:rPr>
              <a:t>电感量</a:t>
            </a:r>
            <a:r>
              <a:rPr lang="en-US" altLang="zh-CN" sz="2000" dirty="0">
                <a:solidFill>
                  <a:srgbClr val="FF0000"/>
                </a:solidFill>
                <a:latin typeface="楷体_GB2312" pitchFamily="49" charset="-122"/>
                <a:ea typeface="楷体_GB2312" pitchFamily="49" charset="-122"/>
                <a:sym typeface="楷体_GB2312" pitchFamily="49" charset="-122"/>
              </a:rPr>
              <a:t>L</a:t>
            </a:r>
            <a:r>
              <a:rPr lang="zh-CN" altLang="en-US" sz="2000" dirty="0">
                <a:latin typeface="楷体_GB2312" pitchFamily="49" charset="-122"/>
                <a:ea typeface="楷体_GB2312" pitchFamily="49" charset="-122"/>
                <a:sym typeface="楷体_GB2312" pitchFamily="49" charset="-122"/>
              </a:rPr>
              <a:t>：与线圈匝数和磁阻有关，磁阻与磁力线经过的介质磁导率有很大关系，和几何尺寸有关。  </a:t>
            </a:r>
            <a:r>
              <a:rPr lang="en-US" altLang="zh-CN" sz="2000" dirty="0">
                <a:latin typeface="楷体_GB2312" pitchFamily="49" charset="-122"/>
                <a:ea typeface="楷体_GB2312" pitchFamily="49" charset="-122"/>
                <a:sym typeface="楷体_GB2312" pitchFamily="49" charset="-122"/>
              </a:rPr>
              <a:t>L=N</a:t>
            </a:r>
            <a:r>
              <a:rPr lang="en-US" altLang="zh-CN" sz="2000" baseline="30000" dirty="0">
                <a:latin typeface="楷体_GB2312" pitchFamily="49" charset="-122"/>
                <a:ea typeface="楷体_GB2312" pitchFamily="49" charset="-122"/>
                <a:sym typeface="楷体_GB2312" pitchFamily="49" charset="-122"/>
              </a:rPr>
              <a:t>2</a:t>
            </a:r>
            <a:r>
              <a:rPr lang="en-US" altLang="zh-CN" sz="2000" dirty="0">
                <a:latin typeface="楷体_GB2312" pitchFamily="49" charset="-122"/>
                <a:ea typeface="楷体_GB2312" pitchFamily="49" charset="-122"/>
                <a:sym typeface="楷体_GB2312" pitchFamily="49" charset="-122"/>
              </a:rPr>
              <a:t>/R</a:t>
            </a:r>
            <a:r>
              <a:rPr lang="en-US" altLang="zh-CN" sz="2000" baseline="-25000" dirty="0">
                <a:latin typeface="楷体_GB2312" pitchFamily="49" charset="-122"/>
                <a:ea typeface="楷体_GB2312" pitchFamily="49" charset="-122"/>
                <a:sym typeface="楷体_GB2312" pitchFamily="49" charset="-122"/>
              </a:rPr>
              <a:t>m</a:t>
            </a:r>
            <a:r>
              <a:rPr lang="zh-CN" altLang="en-US" sz="2000" dirty="0">
                <a:latin typeface="楷体_GB2312" pitchFamily="49" charset="-122"/>
                <a:ea typeface="楷体_GB2312" pitchFamily="49" charset="-122"/>
                <a:sym typeface="楷体_GB2312" pitchFamily="49" charset="-122"/>
              </a:rPr>
              <a:t>  </a:t>
            </a:r>
          </a:p>
        </p:txBody>
      </p:sp>
    </p:spTree>
    <p:extLst>
      <p:ext uri="{BB962C8B-B14F-4D97-AF65-F5344CB8AC3E}">
        <p14:creationId xmlns:p14="http://schemas.microsoft.com/office/powerpoint/2010/main" val="223014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fld id="{0636648B-8980-405C-9521-84B7C9E4249F}" type="slidenum">
              <a:rPr lang="zh-CN" altLang="en-US"/>
              <a:pPr/>
              <a:t>4</a:t>
            </a:fld>
            <a:endParaRPr lang="zh-CN" altLang="en-US" sz="1800">
              <a:solidFill>
                <a:schemeClr val="tx1"/>
              </a:solidFill>
              <a:latin typeface="Arial" pitchFamily="34" charset="0"/>
            </a:endParaRPr>
          </a:p>
        </p:txBody>
      </p:sp>
      <p:sp>
        <p:nvSpPr>
          <p:cNvPr id="512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5123"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rgbClr val="C00000"/>
                </a:solidFill>
                <a:latin typeface="Calibri" pitchFamily="34" charset="0"/>
              </a:rPr>
              <a:t>1. </a:t>
            </a:r>
            <a:r>
              <a:rPr lang="zh-CN" altLang="en-US" sz="3200" b="1" dirty="0">
                <a:solidFill>
                  <a:srgbClr val="C00000"/>
                </a:solidFill>
                <a:latin typeface="Calibri" pitchFamily="34" charset="0"/>
              </a:rPr>
              <a:t>螺管式电感传感器</a:t>
            </a:r>
            <a:endParaRPr lang="zh-CN" altLang="en-US" dirty="0"/>
          </a:p>
        </p:txBody>
      </p:sp>
      <p:sp>
        <p:nvSpPr>
          <p:cNvPr id="5124" name="Text Box 3"/>
          <p:cNvSpPr>
            <a:spLocks noChangeArrowheads="1"/>
          </p:cNvSpPr>
          <p:nvPr/>
        </p:nvSpPr>
        <p:spPr bwMode="auto">
          <a:xfrm>
            <a:off x="899745" y="1349662"/>
            <a:ext cx="5842369"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fontAlgn="t" hangingPunct="1">
              <a:lnSpc>
                <a:spcPct val="130000"/>
              </a:lnSpc>
              <a:spcBef>
                <a:spcPct val="20000"/>
              </a:spcBef>
              <a:buClr>
                <a:srgbClr val="FFFF00"/>
              </a:buClr>
              <a:buSzPct val="80000"/>
              <a:buFont typeface="Wingdings" pitchFamily="2" charset="2"/>
              <a:buNone/>
            </a:pPr>
            <a:r>
              <a:rPr lang="zh-CN" altLang="en-US" sz="2400" dirty="0">
                <a:latin typeface="楷体_GB2312" pitchFamily="49" charset="-122"/>
                <a:ea typeface="楷体_GB2312" pitchFamily="49" charset="-122"/>
                <a:sym typeface="楷体_GB2312" pitchFamily="49" charset="-122"/>
              </a:rPr>
              <a:t>单线圈、差动式</a:t>
            </a:r>
          </a:p>
        </p:txBody>
      </p:sp>
      <p:sp>
        <p:nvSpPr>
          <p:cNvPr id="5125" name="Text Box 4"/>
          <p:cNvSpPr>
            <a:spLocks noChangeArrowheads="1"/>
          </p:cNvSpPr>
          <p:nvPr/>
        </p:nvSpPr>
        <p:spPr bwMode="auto">
          <a:xfrm>
            <a:off x="1925638" y="6086475"/>
            <a:ext cx="4275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endParaRPr lang="zh-CN" altLang="zh-CN">
              <a:sym typeface="Arial" pitchFamily="34" charset="0"/>
            </a:endParaRPr>
          </a:p>
        </p:txBody>
      </p:sp>
      <p:grpSp>
        <p:nvGrpSpPr>
          <p:cNvPr id="5126" name="Group 5"/>
          <p:cNvGrpSpPr>
            <a:grpSpLocks/>
          </p:cNvGrpSpPr>
          <p:nvPr/>
        </p:nvGrpSpPr>
        <p:grpSpPr bwMode="auto">
          <a:xfrm>
            <a:off x="1925638" y="2170113"/>
            <a:ext cx="5029200" cy="2552700"/>
            <a:chOff x="0" y="0"/>
            <a:chExt cx="3168" cy="1566"/>
          </a:xfrm>
        </p:grpSpPr>
        <p:pic>
          <p:nvPicPr>
            <p:cNvPr id="512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168" cy="1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Text Box 7"/>
            <p:cNvSpPr>
              <a:spLocks noChangeArrowheads="1"/>
            </p:cNvSpPr>
            <p:nvPr/>
          </p:nvSpPr>
          <p:spPr bwMode="auto">
            <a:xfrm>
              <a:off x="171" y="1304"/>
              <a:ext cx="286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200">
                  <a:latin typeface="楷体_GB2312" pitchFamily="49" charset="-122"/>
                  <a:ea typeface="楷体_GB2312" pitchFamily="49" charset="-122"/>
                  <a:sym typeface="楷体_GB2312" pitchFamily="49" charset="-122"/>
                </a:rPr>
                <a:t>图</a:t>
              </a:r>
              <a:r>
                <a:rPr lang="en-US" sz="2200">
                  <a:latin typeface="楷体_GB2312" pitchFamily="49" charset="-122"/>
                  <a:ea typeface="楷体_GB2312" pitchFamily="49" charset="-122"/>
                  <a:sym typeface="楷体_GB2312" pitchFamily="49" charset="-122"/>
                </a:rPr>
                <a:t>4-6 </a:t>
              </a:r>
              <a:r>
                <a:rPr lang="zh-CN" altLang="en-US" sz="2200">
                  <a:latin typeface="楷体_GB2312" pitchFamily="49" charset="-122"/>
                  <a:ea typeface="楷体_GB2312" pitchFamily="49" charset="-122"/>
                  <a:sym typeface="楷体_GB2312" pitchFamily="49" charset="-122"/>
                </a:rPr>
                <a:t>单线圈螺管型传感器结构图</a:t>
              </a:r>
              <a:endParaRPr lang="zh-CN" altLang="en-US"/>
            </a:p>
          </p:txBody>
        </p:sp>
      </p:grpSp>
      <p:sp>
        <p:nvSpPr>
          <p:cNvPr id="5129" name="Text Box 8"/>
          <p:cNvSpPr>
            <a:spLocks noChangeArrowheads="1"/>
          </p:cNvSpPr>
          <p:nvPr/>
        </p:nvSpPr>
        <p:spPr bwMode="auto">
          <a:xfrm>
            <a:off x="755650" y="4870450"/>
            <a:ext cx="72723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sz="2000" dirty="0">
                <a:latin typeface="楷体_GB2312" pitchFamily="49" charset="-122"/>
                <a:ea typeface="楷体_GB2312" pitchFamily="49" charset="-122"/>
                <a:sym typeface="楷体_GB2312" pitchFamily="49" charset="-122"/>
              </a:rPr>
              <a:t>●</a:t>
            </a:r>
            <a:r>
              <a:rPr lang="zh-CN" altLang="en-US" sz="2000" dirty="0">
                <a:latin typeface="楷体_GB2312" pitchFamily="49" charset="-122"/>
                <a:ea typeface="楷体_GB2312" pitchFamily="49" charset="-122"/>
                <a:sym typeface="楷体_GB2312" pitchFamily="49" charset="-122"/>
              </a:rPr>
              <a:t>一个多层的</a:t>
            </a:r>
            <a:r>
              <a:rPr lang="zh-CN" altLang="en-US" sz="2000" dirty="0">
                <a:solidFill>
                  <a:srgbClr val="FF0000"/>
                </a:solidFill>
                <a:latin typeface="楷体_GB2312" pitchFamily="49" charset="-122"/>
                <a:ea typeface="楷体_GB2312" pitchFamily="49" charset="-122"/>
                <a:sym typeface="楷体_GB2312" pitchFamily="49" charset="-122"/>
              </a:rPr>
              <a:t>细长线圈</a:t>
            </a:r>
            <a:r>
              <a:rPr lang="zh-CN" altLang="en-US" sz="2000" dirty="0">
                <a:latin typeface="楷体_GB2312" pitchFamily="49" charset="-122"/>
                <a:ea typeface="楷体_GB2312" pitchFamily="49" charset="-122"/>
                <a:sym typeface="楷体_GB2312" pitchFamily="49" charset="-122"/>
              </a:rPr>
              <a:t>被放置在一个铁磁性的壳体中。</a:t>
            </a:r>
          </a:p>
          <a:p>
            <a:pPr eaLnBrk="1" hangingPunct="1">
              <a:lnSpc>
                <a:spcPct val="150000"/>
              </a:lnSpc>
            </a:pPr>
            <a:r>
              <a:rPr lang="zh-CN" altLang="en-US" sz="2000" dirty="0">
                <a:latin typeface="楷体_GB2312" pitchFamily="49" charset="-122"/>
                <a:ea typeface="楷体_GB2312" pitchFamily="49" charset="-122"/>
                <a:sym typeface="楷体_GB2312" pitchFamily="49" charset="-122"/>
              </a:rPr>
              <a:t>●一个</a:t>
            </a:r>
            <a:r>
              <a:rPr lang="zh-CN" altLang="en-US" sz="2000" dirty="0">
                <a:solidFill>
                  <a:srgbClr val="FF0000"/>
                </a:solidFill>
                <a:latin typeface="楷体_GB2312" pitchFamily="49" charset="-122"/>
                <a:ea typeface="楷体_GB2312" pitchFamily="49" charset="-122"/>
                <a:sym typeface="楷体_GB2312" pitchFamily="49" charset="-122"/>
              </a:rPr>
              <a:t>可动的铁芯</a:t>
            </a:r>
            <a:r>
              <a:rPr lang="zh-CN" altLang="en-US" sz="2000" dirty="0">
                <a:latin typeface="楷体_GB2312" pitchFamily="49" charset="-122"/>
                <a:ea typeface="楷体_GB2312" pitchFamily="49" charset="-122"/>
                <a:sym typeface="楷体_GB2312" pitchFamily="49" charset="-122"/>
              </a:rPr>
              <a:t>，沿线圈的轴向移动，用于</a:t>
            </a:r>
            <a:r>
              <a:rPr lang="zh-CN" altLang="en-US" sz="2000" dirty="0">
                <a:solidFill>
                  <a:srgbClr val="0000FF"/>
                </a:solidFill>
                <a:latin typeface="楷体_GB2312" pitchFamily="49" charset="-122"/>
                <a:ea typeface="楷体_GB2312" pitchFamily="49" charset="-122"/>
                <a:sym typeface="楷体_GB2312" pitchFamily="49" charset="-122"/>
              </a:rPr>
              <a:t>改变线圈的电感</a:t>
            </a:r>
            <a:r>
              <a:rPr lang="zh-CN" altLang="en-US" sz="2000" dirty="0">
                <a:latin typeface="楷体_GB2312" pitchFamily="49" charset="-122"/>
                <a:ea typeface="楷体_GB2312" pitchFamily="49" charset="-122"/>
                <a:sym typeface="楷体_GB2312" pitchFamily="49" charset="-122"/>
              </a:rPr>
              <a:t>。</a:t>
            </a:r>
          </a:p>
          <a:p>
            <a:pPr eaLnBrk="1" hangingPunct="1">
              <a:lnSpc>
                <a:spcPct val="150000"/>
              </a:lnSpc>
            </a:pPr>
            <a:r>
              <a:rPr lang="zh-CN" altLang="en-US" sz="2000" dirty="0">
                <a:latin typeface="楷体_GB2312" pitchFamily="49" charset="-122"/>
                <a:ea typeface="楷体_GB2312" pitchFamily="49" charset="-122"/>
                <a:sym typeface="楷体_GB2312" pitchFamily="49" charset="-122"/>
              </a:rPr>
              <a:t>●螺管的</a:t>
            </a:r>
            <a:r>
              <a:rPr lang="zh-CN" altLang="en-US" sz="2000" dirty="0">
                <a:solidFill>
                  <a:srgbClr val="FF0000"/>
                </a:solidFill>
                <a:latin typeface="楷体_GB2312" pitchFamily="49" charset="-122"/>
                <a:ea typeface="楷体_GB2312" pitchFamily="49" charset="-122"/>
                <a:sym typeface="楷体_GB2312" pitchFamily="49" charset="-122"/>
              </a:rPr>
              <a:t>长径比足够大</a:t>
            </a:r>
            <a:r>
              <a:rPr lang="zh-CN" altLang="en-US" sz="2000" dirty="0">
                <a:latin typeface="楷体_GB2312" pitchFamily="49" charset="-122"/>
                <a:ea typeface="楷体_GB2312" pitchFamily="49" charset="-122"/>
                <a:sym typeface="楷体_GB2312" pitchFamily="49" charset="-122"/>
              </a:rPr>
              <a:t>。 </a:t>
            </a:r>
            <a:endParaRPr lang="zh-CN" altLang="en-US" dirty="0"/>
          </a:p>
        </p:txBody>
      </p:sp>
    </p:spTree>
    <p:extLst>
      <p:ext uri="{BB962C8B-B14F-4D97-AF65-F5344CB8AC3E}">
        <p14:creationId xmlns:p14="http://schemas.microsoft.com/office/powerpoint/2010/main" val="27522535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p:cBhvr>
                                        <p:cTn id="7" dur="500"/>
                                        <p:tgtEl>
                                          <p:spTgt spid="51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5126"/>
                                        </p:tgtEl>
                                        <p:attrNameLst>
                                          <p:attrName>style.visibility</p:attrName>
                                        </p:attrNameLst>
                                      </p:cBhvr>
                                      <p:to>
                                        <p:strVal val="visible"/>
                                      </p:to>
                                    </p:set>
                                    <p:animEffect>
                                      <p:cBhvr>
                                        <p:cTn id="12" dur="500"/>
                                        <p:tgtEl>
                                          <p:spTgt spid="51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5129"/>
                                        </p:tgtEl>
                                        <p:attrNameLst>
                                          <p:attrName>style.visibility</p:attrName>
                                        </p:attrNameLst>
                                      </p:cBhvr>
                                      <p:to>
                                        <p:strVal val="visible"/>
                                      </p:to>
                                    </p:set>
                                    <p:animEffect>
                                      <p:cBhvr>
                                        <p:cTn id="17" dur="2000"/>
                                        <p:tgtEl>
                                          <p:spTgt spid="5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bldLvl="0" autoUpdateAnimBg="0"/>
      <p:bldP spid="5129" grpId="0" bldLvl="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a:spLocks noGrp="1"/>
          </p:cNvSpPr>
          <p:nvPr>
            <p:ph type="sldNum" sz="quarter" idx="12"/>
          </p:nvPr>
        </p:nvSpPr>
        <p:spPr/>
        <p:txBody>
          <a:bodyPr/>
          <a:lstStyle/>
          <a:p>
            <a:fld id="{F29B7B08-1080-4791-8439-41C6259962B6}" type="slidenum">
              <a:rPr lang="zh-CN" altLang="en-US"/>
              <a:pPr/>
              <a:t>5</a:t>
            </a:fld>
            <a:endParaRPr lang="zh-CN" altLang="en-US" sz="1800">
              <a:solidFill>
                <a:schemeClr val="tx1"/>
              </a:solidFill>
              <a:latin typeface="Arial" pitchFamily="34" charset="0"/>
            </a:endParaRPr>
          </a:p>
        </p:txBody>
      </p:sp>
      <p:sp>
        <p:nvSpPr>
          <p:cNvPr id="614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147" name="TextBox 5"/>
          <p:cNvSpPr>
            <a:spLocks noChangeArrowheads="1"/>
          </p:cNvSpPr>
          <p:nvPr/>
        </p:nvSpPr>
        <p:spPr bwMode="auto">
          <a:xfrm>
            <a:off x="785813" y="285750"/>
            <a:ext cx="6954837"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1. 1</a:t>
            </a:r>
            <a:r>
              <a:rPr lang="zh-CN" altLang="en-US" sz="3200" b="1" dirty="0">
                <a:solidFill>
                  <a:schemeClr val="tx2"/>
                </a:solidFill>
                <a:latin typeface="Calibri" pitchFamily="34" charset="0"/>
              </a:rPr>
              <a:t>螺管型电感传感基本原理</a:t>
            </a:r>
          </a:p>
          <a:p>
            <a:pPr eaLnBrk="1" hangingPunct="1"/>
            <a:endParaRPr lang="zh-CN" altLang="en-US" sz="3200" b="1" dirty="0">
              <a:solidFill>
                <a:schemeClr val="tx2"/>
              </a:solidFill>
              <a:latin typeface="Calibri" pitchFamily="34" charset="0"/>
            </a:endParaRPr>
          </a:p>
        </p:txBody>
      </p:sp>
      <p:sp>
        <p:nvSpPr>
          <p:cNvPr id="6148" name="Rectangle 2"/>
          <p:cNvSpPr>
            <a:spLocks noChangeArrowheads="1"/>
          </p:cNvSpPr>
          <p:nvPr/>
        </p:nvSpPr>
        <p:spPr bwMode="auto">
          <a:xfrm>
            <a:off x="179388" y="1143000"/>
            <a:ext cx="8353425" cy="1011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pPr>
            <a:r>
              <a:rPr lang="en-US" sz="2600" dirty="0">
                <a:solidFill>
                  <a:srgbClr val="000000"/>
                </a:solidFill>
                <a:latin typeface="楷体_GB2312" pitchFamily="49" charset="-122"/>
                <a:ea typeface="楷体_GB2312" pitchFamily="49" charset="-122"/>
                <a:sym typeface="楷体_GB2312" pitchFamily="49" charset="-122"/>
              </a:rPr>
              <a:t>   </a:t>
            </a:r>
            <a:r>
              <a:rPr lang="zh-CN" altLang="en-US" sz="2600" dirty="0">
                <a:solidFill>
                  <a:srgbClr val="000000"/>
                </a:solidFill>
                <a:latin typeface="楷体_GB2312" pitchFamily="49" charset="-122"/>
                <a:ea typeface="楷体_GB2312" pitchFamily="49" charset="-122"/>
                <a:sym typeface="楷体_GB2312" pitchFamily="49" charset="-122"/>
              </a:rPr>
              <a:t>螺管线圈在</a:t>
            </a:r>
            <a:r>
              <a:rPr lang="zh-CN" altLang="en-US" sz="2600" dirty="0">
                <a:solidFill>
                  <a:srgbClr val="FF0000"/>
                </a:solidFill>
                <a:latin typeface="楷体_GB2312" pitchFamily="49" charset="-122"/>
                <a:ea typeface="楷体_GB2312" pitchFamily="49" charset="-122"/>
                <a:sym typeface="楷体_GB2312" pitchFamily="49" charset="-122"/>
              </a:rPr>
              <a:t>轴向产生磁场</a:t>
            </a:r>
            <a:r>
              <a:rPr lang="zh-CN" altLang="en-US" sz="2600" dirty="0">
                <a:solidFill>
                  <a:srgbClr val="000000"/>
                </a:solidFill>
                <a:latin typeface="楷体_GB2312" pitchFamily="49" charset="-122"/>
                <a:ea typeface="楷体_GB2312" pitchFamily="49" charset="-122"/>
                <a:sym typeface="楷体_GB2312" pitchFamily="49" charset="-122"/>
              </a:rPr>
              <a:t>，根据图</a:t>
            </a:r>
            <a:r>
              <a:rPr lang="en-US" sz="2600" dirty="0">
                <a:solidFill>
                  <a:srgbClr val="000000"/>
                </a:solidFill>
                <a:latin typeface="楷体_GB2312" pitchFamily="49" charset="-122"/>
                <a:ea typeface="楷体_GB2312" pitchFamily="49" charset="-122"/>
                <a:sym typeface="楷体_GB2312" pitchFamily="49" charset="-122"/>
              </a:rPr>
              <a:t>4-7</a:t>
            </a:r>
            <a:r>
              <a:rPr lang="zh-CN" altLang="en-US" sz="2600" dirty="0">
                <a:solidFill>
                  <a:srgbClr val="000000"/>
                </a:solidFill>
                <a:latin typeface="楷体_GB2312" pitchFamily="49" charset="-122"/>
                <a:ea typeface="楷体_GB2312" pitchFamily="49" charset="-122"/>
                <a:sym typeface="楷体_GB2312" pitchFamily="49" charset="-122"/>
              </a:rPr>
              <a:t>和毕奥</a:t>
            </a:r>
            <a:r>
              <a:rPr lang="en-US" sz="2600" dirty="0">
                <a:solidFill>
                  <a:srgbClr val="000000"/>
                </a:solidFill>
                <a:latin typeface="宋体" pitchFamily="2" charset="-122"/>
                <a:ea typeface="楷体_GB2312" pitchFamily="49" charset="-122"/>
                <a:sym typeface="宋体" pitchFamily="2" charset="-122"/>
              </a:rPr>
              <a:t>—</a:t>
            </a:r>
            <a:r>
              <a:rPr lang="zh-CN" altLang="en-US" sz="2600" dirty="0">
                <a:solidFill>
                  <a:srgbClr val="000000"/>
                </a:solidFill>
                <a:latin typeface="楷体_GB2312" pitchFamily="49" charset="-122"/>
                <a:ea typeface="楷体_GB2312" pitchFamily="49" charset="-122"/>
                <a:sym typeface="楷体_GB2312" pitchFamily="49" charset="-122"/>
              </a:rPr>
              <a:t>沙伐</a:t>
            </a:r>
            <a:r>
              <a:rPr lang="en-US" sz="2600" dirty="0">
                <a:solidFill>
                  <a:srgbClr val="000000"/>
                </a:solidFill>
                <a:latin typeface="宋体" pitchFamily="2" charset="-122"/>
                <a:ea typeface="楷体_GB2312" pitchFamily="49" charset="-122"/>
                <a:sym typeface="宋体" pitchFamily="2" charset="-122"/>
              </a:rPr>
              <a:t>—</a:t>
            </a:r>
            <a:r>
              <a:rPr lang="zh-CN" altLang="en-US" sz="2600" dirty="0">
                <a:solidFill>
                  <a:srgbClr val="000000"/>
                </a:solidFill>
                <a:latin typeface="楷体_GB2312" pitchFamily="49" charset="-122"/>
                <a:ea typeface="楷体_GB2312" pitchFamily="49" charset="-122"/>
                <a:sym typeface="楷体_GB2312" pitchFamily="49" charset="-122"/>
              </a:rPr>
              <a:t>拉普拉斯定律，在轴向上某点处的</a:t>
            </a:r>
            <a:r>
              <a:rPr lang="zh-CN" altLang="en-US" sz="2600" dirty="0">
                <a:solidFill>
                  <a:srgbClr val="000000"/>
                </a:solidFill>
                <a:highlight>
                  <a:srgbClr val="FFFF00"/>
                </a:highlight>
                <a:latin typeface="楷体_GB2312" pitchFamily="49" charset="-122"/>
                <a:ea typeface="楷体_GB2312" pitchFamily="49" charset="-122"/>
                <a:sym typeface="楷体_GB2312" pitchFamily="49" charset="-122"/>
              </a:rPr>
              <a:t>磁感应强度 </a:t>
            </a:r>
            <a:r>
              <a:rPr lang="en-US" altLang="zh-CN" sz="2600" b="1" i="1"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sym typeface="楷体_GB2312" pitchFamily="49" charset="-122"/>
              </a:rPr>
              <a:t>B</a:t>
            </a:r>
            <a:r>
              <a:rPr lang="en-US" altLang="zh-CN" b="1" i="1"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sym typeface="楷体_GB2312" pitchFamily="49" charset="-122"/>
              </a:rPr>
              <a:t>l </a:t>
            </a:r>
            <a:r>
              <a:rPr lang="zh-CN" altLang="en-US" sz="2600" dirty="0">
                <a:solidFill>
                  <a:srgbClr val="000000"/>
                </a:solidFill>
                <a:latin typeface="楷体_GB2312" pitchFamily="49" charset="-122"/>
                <a:ea typeface="楷体_GB2312" pitchFamily="49" charset="-122"/>
                <a:sym typeface="楷体_GB2312" pitchFamily="49" charset="-122"/>
              </a:rPr>
              <a:t>为：</a:t>
            </a:r>
            <a:endParaRPr lang="zh-CN" altLang="en-US" dirty="0"/>
          </a:p>
        </p:txBody>
      </p:sp>
      <p:sp>
        <p:nvSpPr>
          <p:cNvPr id="6149" name="Rectangle 3"/>
          <p:cNvSpPr>
            <a:spLocks noChangeArrowheads="1"/>
          </p:cNvSpPr>
          <p:nvPr/>
        </p:nvSpPr>
        <p:spPr bwMode="auto">
          <a:xfrm>
            <a:off x="395606" y="3838937"/>
            <a:ext cx="5221288" cy="293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pPr>
            <a:r>
              <a:rPr lang="en-US" sz="2400" i="1"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en-US" sz="2200" i="1"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n</a:t>
            </a:r>
            <a:r>
              <a:rPr 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线圈单位长度的匝数      </a:t>
            </a:r>
          </a:p>
          <a:p>
            <a:pPr algn="just">
              <a:lnSpc>
                <a:spcPct val="120000"/>
              </a:lnSpc>
            </a:pPr>
            <a:r>
              <a:rPr lang="zh-CN" altLang="en-US" sz="2200" i="1"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en-US" sz="2200" i="1" dirty="0">
                <a:solidFill>
                  <a:srgbClr val="000000"/>
                </a:solidFill>
                <a:latin typeface="Times New Roman" panose="02020603050405020304" pitchFamily="18" charset="0"/>
                <a:ea typeface="楷体_GB2312" pitchFamily="49" charset="-122"/>
                <a:cs typeface="Times New Roman" panose="02020603050405020304" pitchFamily="18" charset="0"/>
                <a:sym typeface="Times New Roman" pitchFamily="18" charset="0"/>
              </a:rPr>
              <a:t>l</a:t>
            </a:r>
            <a:r>
              <a:rPr 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螺管线圈长度；</a:t>
            </a:r>
          </a:p>
          <a:p>
            <a:pPr algn="just">
              <a:lnSpc>
                <a:spcPct val="120000"/>
              </a:lnSpc>
            </a:pPr>
            <a:r>
              <a:rPr lang="zh-CN" altLang="en-US" sz="2200" i="1"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en-US" sz="2200" i="1"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N</a:t>
            </a:r>
            <a:r>
              <a:rPr 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线圈总匝数；</a:t>
            </a:r>
          </a:p>
          <a:p>
            <a:pPr algn="just">
              <a:lnSpc>
                <a:spcPct val="120000"/>
              </a:lnSpc>
            </a:pP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螺线管中心任意点</a:t>
            </a:r>
          </a:p>
          <a:p>
            <a:pPr algn="just">
              <a:lnSpc>
                <a:spcPct val="120000"/>
              </a:lnSpc>
            </a:pP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至两端点连线与中心线的夹角</a:t>
            </a:r>
            <a:endParaRPr lang="en-US" altLang="zh-CN"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endParaRPr>
          </a:p>
          <a:p>
            <a:pPr algn="just">
              <a:lnSpc>
                <a:spcPct val="120000"/>
              </a:lnSpc>
            </a:pPr>
            <a:r>
              <a:rPr lang="en-US" altLang="zh-CN"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为真空磁导率</a:t>
            </a:r>
            <a:endParaRPr lang="en-US" altLang="zh-CN"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endParaRPr>
          </a:p>
          <a:p>
            <a:pPr algn="just">
              <a:lnSpc>
                <a:spcPct val="120000"/>
              </a:lnSpc>
            </a:pP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I </a:t>
            </a:r>
            <a:r>
              <a:rPr lang="en-US" altLang="zh-CN" sz="2200" dirty="0">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电流</a:t>
            </a:r>
          </a:p>
        </p:txBody>
      </p:sp>
      <p:sp>
        <p:nvSpPr>
          <p:cNvPr id="6150" name="Rectangle 4"/>
          <p:cNvSpPr>
            <a:spLocks noChangeArrowheads="1"/>
          </p:cNvSpPr>
          <p:nvPr/>
        </p:nvSpPr>
        <p:spPr bwMode="auto">
          <a:xfrm>
            <a:off x="395606" y="3107544"/>
            <a:ext cx="1541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600" b="1" dirty="0">
                <a:solidFill>
                  <a:srgbClr val="000000"/>
                </a:solidFill>
                <a:sym typeface="宋体" pitchFamily="2" charset="-122"/>
              </a:rPr>
              <a:t>式中，</a:t>
            </a:r>
            <a:endParaRPr lang="zh-CN" altLang="en-US" dirty="0"/>
          </a:p>
        </p:txBody>
      </p:sp>
      <p:pic>
        <p:nvPicPr>
          <p:cNvPr id="6151" name="Object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1775" y="2060905"/>
            <a:ext cx="3600450"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3" name="Object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6395" y="5157120"/>
            <a:ext cx="3333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54" name="Group 9"/>
          <p:cNvGrpSpPr>
            <a:grpSpLocks/>
          </p:cNvGrpSpPr>
          <p:nvPr/>
        </p:nvGrpSpPr>
        <p:grpSpPr bwMode="auto">
          <a:xfrm>
            <a:off x="4256088" y="3212985"/>
            <a:ext cx="4527550" cy="3289300"/>
            <a:chOff x="0" y="0"/>
            <a:chExt cx="2852" cy="2072"/>
          </a:xfrm>
        </p:grpSpPr>
        <p:sp>
          <p:nvSpPr>
            <p:cNvPr id="6155" name="Rectangle 10"/>
            <p:cNvSpPr>
              <a:spLocks noChangeArrowheads="1"/>
            </p:cNvSpPr>
            <p:nvPr/>
          </p:nvSpPr>
          <p:spPr bwMode="auto">
            <a:xfrm>
              <a:off x="482" y="1664"/>
              <a:ext cx="224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1" hangingPunct="1"/>
              <a:r>
                <a:rPr lang="zh-CN" altLang="en-US" sz="2200">
                  <a:solidFill>
                    <a:srgbClr val="000000"/>
                  </a:solidFill>
                  <a:latin typeface="楷体_GB2312" pitchFamily="49" charset="-122"/>
                  <a:ea typeface="楷体_GB2312" pitchFamily="49" charset="-122"/>
                  <a:sym typeface="楷体_GB2312" pitchFamily="49" charset="-122"/>
                </a:rPr>
                <a:t>图</a:t>
              </a:r>
              <a:r>
                <a:rPr lang="en-US" sz="2200">
                  <a:solidFill>
                    <a:srgbClr val="000000"/>
                  </a:solidFill>
                  <a:latin typeface="楷体_GB2312" pitchFamily="49" charset="-122"/>
                  <a:ea typeface="楷体_GB2312" pitchFamily="49" charset="-122"/>
                  <a:sym typeface="楷体_GB2312" pitchFamily="49" charset="-122"/>
                </a:rPr>
                <a:t>4-7 </a:t>
              </a:r>
              <a:r>
                <a:rPr lang="zh-CN" altLang="en-US" sz="2200">
                  <a:solidFill>
                    <a:srgbClr val="000000"/>
                  </a:solidFill>
                  <a:latin typeface="楷体_GB2312" pitchFamily="49" charset="-122"/>
                  <a:ea typeface="楷体_GB2312" pitchFamily="49" charset="-122"/>
                  <a:sym typeface="楷体_GB2312" pitchFamily="49" charset="-122"/>
                </a:rPr>
                <a:t>螺管线圈轴向磁场</a:t>
              </a:r>
            </a:p>
            <a:p>
              <a:pPr algn="ctr" eaLnBrk="1" hangingPunct="1"/>
              <a:r>
                <a:rPr lang="zh-CN" altLang="en-US" sz="2200">
                  <a:solidFill>
                    <a:srgbClr val="000000"/>
                  </a:solidFill>
                  <a:latin typeface="楷体_GB2312" pitchFamily="49" charset="-122"/>
                  <a:ea typeface="楷体_GB2312" pitchFamily="49" charset="-122"/>
                  <a:sym typeface="楷体_GB2312" pitchFamily="49" charset="-122"/>
                </a:rPr>
                <a:t>分布计算图</a:t>
              </a:r>
              <a:endParaRPr lang="zh-CN" altLang="en-US"/>
            </a:p>
          </p:txBody>
        </p:sp>
        <p:pic>
          <p:nvPicPr>
            <p:cNvPr id="6156" name="Picture 11" descr="DSC0179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52"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157" name="Object 1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5545" y="5157120"/>
            <a:ext cx="3238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92112910-622D-409D-9BAD-35C041DE7881}"/>
              </a:ext>
            </a:extLst>
          </p:cNvPr>
          <p:cNvPicPr>
            <a:picLocks noChangeAspect="1"/>
          </p:cNvPicPr>
          <p:nvPr/>
        </p:nvPicPr>
        <p:blipFill>
          <a:blip r:embed="rId6"/>
          <a:stretch>
            <a:fillRect/>
          </a:stretch>
        </p:blipFill>
        <p:spPr>
          <a:xfrm>
            <a:off x="1579270" y="2924965"/>
            <a:ext cx="982036" cy="903715"/>
          </a:xfrm>
          <a:prstGeom prst="rect">
            <a:avLst/>
          </a:prstGeom>
        </p:spPr>
      </p:pic>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5F251F8C-F8A0-474F-9524-3C9A4B8FB320}"/>
                  </a:ext>
                </a:extLst>
              </p:cNvPr>
              <p:cNvSpPr txBox="1"/>
              <p:nvPr/>
            </p:nvSpPr>
            <p:spPr>
              <a:xfrm>
                <a:off x="539720" y="5744752"/>
                <a:ext cx="430575"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altLang="zh-CN" sz="3200" i="1" smtClean="0">
                              <a:latin typeface="Cambria Math" panose="02040503050406030204" pitchFamily="18" charset="0"/>
                            </a:rPr>
                          </m:ctrlPr>
                        </m:sSubPr>
                        <m:e>
                          <m:r>
                            <a:rPr lang="zh-CN" altLang="el-GR" sz="3200" i="1" smtClean="0">
                              <a:latin typeface="Cambria Math" panose="02040503050406030204" pitchFamily="18" charset="0"/>
                            </a:rPr>
                            <m:t>𝜇</m:t>
                          </m:r>
                        </m:e>
                        <m:sub>
                          <m:r>
                            <a:rPr lang="en-US" altLang="zh-CN" sz="3200" b="0" i="1" smtClean="0">
                              <a:latin typeface="Cambria Math" panose="02040503050406030204" pitchFamily="18" charset="0"/>
                            </a:rPr>
                            <m:t>0</m:t>
                          </m:r>
                        </m:sub>
                      </m:sSub>
                    </m:oMath>
                  </m:oMathPara>
                </a14:m>
                <a:endParaRPr lang="zh-CN" altLang="en-US" sz="3200" dirty="0"/>
              </a:p>
            </p:txBody>
          </p:sp>
        </mc:Choice>
        <mc:Fallback>
          <p:sp>
            <p:nvSpPr>
              <p:cNvPr id="3" name="文本框 2">
                <a:extLst>
                  <a:ext uri="{FF2B5EF4-FFF2-40B4-BE49-F238E27FC236}">
                    <a16:creationId xmlns:a16="http://schemas.microsoft.com/office/drawing/2014/main" id="{5F251F8C-F8A0-474F-9524-3C9A4B8FB320}"/>
                  </a:ext>
                </a:extLst>
              </p:cNvPr>
              <p:cNvSpPr txBox="1">
                <a:spLocks noRot="1" noChangeAspect="1" noMove="1" noResize="1" noEditPoints="1" noAdjustHandles="1" noChangeArrowheads="1" noChangeShapeType="1" noTextEdit="1"/>
              </p:cNvSpPr>
              <p:nvPr/>
            </p:nvSpPr>
            <p:spPr>
              <a:xfrm>
                <a:off x="539720" y="5744752"/>
                <a:ext cx="430575" cy="492443"/>
              </a:xfrm>
              <a:prstGeom prst="rect">
                <a:avLst/>
              </a:prstGeom>
              <a:blipFill>
                <a:blip r:embed="rId7"/>
                <a:stretch>
                  <a:fillRect/>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p:cNvSpPr>
            <a:spLocks noGrp="1"/>
          </p:cNvSpPr>
          <p:nvPr>
            <p:ph type="sldNum" sz="quarter" idx="12"/>
          </p:nvPr>
        </p:nvSpPr>
        <p:spPr/>
        <p:txBody>
          <a:bodyPr/>
          <a:lstStyle/>
          <a:p>
            <a:fld id="{A2E073EF-05E7-443D-A162-5D19B3E984CB}" type="slidenum">
              <a:rPr lang="zh-CN" altLang="en-US"/>
              <a:pPr/>
              <a:t>6</a:t>
            </a:fld>
            <a:endParaRPr lang="zh-CN" altLang="en-US" sz="1800">
              <a:solidFill>
                <a:schemeClr val="tx1"/>
              </a:solidFill>
              <a:latin typeface="Arial" pitchFamily="34" charset="0"/>
            </a:endParaRPr>
          </a:p>
        </p:txBody>
      </p:sp>
      <p:grpSp>
        <p:nvGrpSpPr>
          <p:cNvPr id="7170" name="Group 2"/>
          <p:cNvGrpSpPr>
            <a:grpSpLocks/>
          </p:cNvGrpSpPr>
          <p:nvPr/>
        </p:nvGrpSpPr>
        <p:grpSpPr bwMode="auto">
          <a:xfrm>
            <a:off x="1646460" y="1673225"/>
            <a:ext cx="1800225" cy="765175"/>
            <a:chOff x="0" y="0"/>
            <a:chExt cx="1202" cy="680"/>
          </a:xfrm>
        </p:grpSpPr>
        <p:sp>
          <p:nvSpPr>
            <p:cNvPr id="7171" name="AutoShape 3"/>
            <p:cNvSpPr>
              <a:spLocks/>
            </p:cNvSpPr>
            <p:nvPr/>
          </p:nvSpPr>
          <p:spPr bwMode="auto">
            <a:xfrm rot="16200000">
              <a:off x="465" y="-465"/>
              <a:ext cx="272" cy="1202"/>
            </a:xfrm>
            <a:prstGeom prst="leftBrace">
              <a:avLst>
                <a:gd name="adj1" fmla="val 36826"/>
                <a:gd name="adj2" fmla="val 50000"/>
              </a:avLst>
            </a:prstGeom>
            <a:noFill/>
            <a:ln w="28575" cmpd="sng">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a:solidFill>
                  <a:srgbClr val="990033"/>
                </a:solidFill>
                <a:sym typeface="宋体" pitchFamily="2" charset="-122"/>
              </a:endParaRPr>
            </a:p>
          </p:txBody>
        </p:sp>
        <p:sp>
          <p:nvSpPr>
            <p:cNvPr id="7172" name="AutoShape 4"/>
            <p:cNvSpPr>
              <a:spLocks noChangeArrowheads="1"/>
            </p:cNvSpPr>
            <p:nvPr/>
          </p:nvSpPr>
          <p:spPr bwMode="auto">
            <a:xfrm>
              <a:off x="522" y="317"/>
              <a:ext cx="181" cy="363"/>
            </a:xfrm>
            <a:prstGeom prst="downArrow">
              <a:avLst>
                <a:gd name="adj1" fmla="val 50000"/>
                <a:gd name="adj2" fmla="val 50129"/>
              </a:avLst>
            </a:prstGeom>
            <a:solidFill>
              <a:srgbClr val="66FFCC"/>
            </a:solidFill>
            <a:ln w="9525" cmpd="sng">
              <a:solidFill>
                <a:srgbClr val="000000"/>
              </a:solidFill>
              <a:miter lim="800000"/>
              <a:headEnd/>
              <a:tailEnd/>
            </a:ln>
          </p:spPr>
          <p:txBody>
            <a:bodyPr wrap="none" anchor="ctr"/>
            <a:lstStyle/>
            <a:p>
              <a:pPr eaLnBrk="1" hangingPunct="1"/>
              <a:endParaRPr lang="zh-CN" altLang="zh-CN">
                <a:solidFill>
                  <a:srgbClr val="000000"/>
                </a:solidFill>
                <a:sym typeface="宋体" pitchFamily="2" charset="-122"/>
              </a:endParaRPr>
            </a:p>
          </p:txBody>
        </p:sp>
      </p:grpSp>
      <p:sp>
        <p:nvSpPr>
          <p:cNvPr id="7173" name="Rectangle 5"/>
          <p:cNvSpPr>
            <a:spLocks noChangeArrowheads="1"/>
          </p:cNvSpPr>
          <p:nvPr/>
        </p:nvSpPr>
        <p:spPr bwMode="auto">
          <a:xfrm>
            <a:off x="341313" y="4623450"/>
            <a:ext cx="32946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dirty="0">
                <a:solidFill>
                  <a:srgbClr val="000000"/>
                </a:solidFill>
                <a:ea typeface="楷体_GB2312" pitchFamily="49" charset="-122"/>
              </a:rPr>
              <a:t>则</a:t>
            </a:r>
            <a:r>
              <a:rPr lang="zh-CN" altLang="en-US" sz="2400" dirty="0">
                <a:solidFill>
                  <a:srgbClr val="000000"/>
                </a:solidFill>
                <a:highlight>
                  <a:srgbClr val="FFFF00"/>
                </a:highlight>
                <a:ea typeface="楷体_GB2312" pitchFamily="49" charset="-122"/>
              </a:rPr>
              <a:t>磁场强度 </a:t>
            </a:r>
            <a:r>
              <a:rPr lang="en-US" altLang="zh-CN" sz="2400" i="1"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rPr>
              <a:t>H</a:t>
            </a:r>
            <a:r>
              <a:rPr lang="en-US" altLang="zh-CN" sz="1600" i="1"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rPr>
              <a:t>l </a:t>
            </a:r>
            <a:r>
              <a:rPr lang="zh-CN" altLang="en-US" sz="2400" dirty="0">
                <a:solidFill>
                  <a:srgbClr val="000000"/>
                </a:solidFill>
                <a:latin typeface="Times New Roman" panose="02020603050405020304" pitchFamily="18" charset="0"/>
                <a:ea typeface="楷体_GB2312" pitchFamily="49" charset="-122"/>
                <a:cs typeface="Times New Roman" panose="02020603050405020304" pitchFamily="18" charset="0"/>
              </a:rPr>
              <a:t>为：</a:t>
            </a:r>
            <a:endParaRPr lang="zh-CN" altLang="en-US" dirty="0">
              <a:latin typeface="Times New Roman" panose="02020603050405020304" pitchFamily="18" charset="0"/>
              <a:cs typeface="Times New Roman" panose="02020603050405020304" pitchFamily="18" charset="0"/>
            </a:endParaRPr>
          </a:p>
        </p:txBody>
      </p:sp>
      <p:pic>
        <p:nvPicPr>
          <p:cNvPr id="7176" name="Object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3796" y="631344"/>
            <a:ext cx="2881312"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7" name="Object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7973" y="2459667"/>
            <a:ext cx="4500563"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8" name="Object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8336" y="3448679"/>
            <a:ext cx="40513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 name="对象 13"/>
          <p:cNvGraphicFramePr>
            <a:graphicFrameLocks noChangeAspect="1"/>
          </p:cNvGraphicFramePr>
          <p:nvPr>
            <p:extLst>
              <p:ext uri="{D42A27DB-BD31-4B8C-83A1-F6EECF244321}">
                <p14:modId xmlns:p14="http://schemas.microsoft.com/office/powerpoint/2010/main" val="1882407670"/>
              </p:ext>
            </p:extLst>
          </p:nvPr>
        </p:nvGraphicFramePr>
        <p:xfrm>
          <a:off x="179695" y="620805"/>
          <a:ext cx="2168354" cy="857256"/>
        </p:xfrm>
        <a:graphic>
          <a:graphicData uri="http://schemas.openxmlformats.org/presentationml/2006/ole">
            <mc:AlternateContent xmlns:mc="http://schemas.openxmlformats.org/markup-compatibility/2006">
              <mc:Choice xmlns:v="urn:schemas-microsoft-com:vml" Requires="v">
                <p:oleObj spid="_x0000_s28781" name="Equation" r:id="rId6" imgW="1091880" imgH="431640" progId="Equation.DSMT4">
                  <p:embed/>
                </p:oleObj>
              </mc:Choice>
              <mc:Fallback>
                <p:oleObj name="Equation" r:id="rId6" imgW="1091880" imgH="431640" progId="Equation.DSMT4">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695" y="620805"/>
                        <a:ext cx="2168354" cy="857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 name="Picture 11" descr="DSC0179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44005" y="1582257"/>
            <a:ext cx="452755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57BDF788-1FF5-405A-BACF-53D9638C63BE}"/>
              </a:ext>
            </a:extLst>
          </p:cNvPr>
          <p:cNvPicPr>
            <a:picLocks noChangeAspect="1"/>
          </p:cNvPicPr>
          <p:nvPr/>
        </p:nvPicPr>
        <p:blipFill>
          <a:blip r:embed="rId9"/>
          <a:stretch>
            <a:fillRect/>
          </a:stretch>
        </p:blipFill>
        <p:spPr>
          <a:xfrm>
            <a:off x="1628625" y="5185925"/>
            <a:ext cx="5886749" cy="1230802"/>
          </a:xfrm>
          <a:prstGeom prst="rect">
            <a:avLst/>
          </a:prstGeom>
          <a:ln>
            <a:noFill/>
          </a:ln>
          <a:effectLst>
            <a:outerShdw blurRad="63500" sx="102000" sy="102000" algn="ctr" rotWithShape="0">
              <a:prstClr val="black">
                <a:alpha val="40000"/>
              </a:prstClr>
            </a:outerShdw>
          </a:effectLst>
          <a:scene3d>
            <a:camera prst="orthographicFront">
              <a:rot lat="0" lon="0" rev="0"/>
            </a:camera>
            <a:lightRig rig="brightRoom" dir="t">
              <a:rot lat="0" lon="0" rev="600000"/>
            </a:lightRig>
          </a:scene3d>
          <a:sp3d prstMaterial="metal">
            <a:bevelT w="38100" h="57150" prst="angle"/>
          </a:sp3d>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7176"/>
                                        </p:tgtEl>
                                        <p:attrNameLst>
                                          <p:attrName>style.visibility</p:attrName>
                                        </p:attrNameLst>
                                      </p:cBhvr>
                                      <p:to>
                                        <p:strVal val="visible"/>
                                      </p:to>
                                    </p:set>
                                    <p:animEffect>
                                      <p:cBhvr>
                                        <p:cTn id="7" dur="500"/>
                                        <p:tgtEl>
                                          <p:spTgt spid="7176"/>
                                        </p:tgtEl>
                                      </p:cBhvr>
                                    </p:animEffect>
                                  </p:childTnLst>
                                </p:cTn>
                              </p:par>
                              <p:par>
                                <p:cTn id="8" presetID="5" presetClass="entr" presetSubtype="10" fill="hold" nodeType="withEffect">
                                  <p:stCondLst>
                                    <p:cond delay="0"/>
                                  </p:stCondLst>
                                  <p:childTnLst>
                                    <p:set>
                                      <p:cBhvr>
                                        <p:cTn id="9" dur="1" fill="hold">
                                          <p:stCondLst>
                                            <p:cond delay="0"/>
                                          </p:stCondLst>
                                        </p:cTn>
                                        <p:tgtEl>
                                          <p:spTgt spid="7170"/>
                                        </p:tgtEl>
                                        <p:attrNameLst>
                                          <p:attrName>style.visibility</p:attrName>
                                        </p:attrNameLst>
                                      </p:cBhvr>
                                      <p:to>
                                        <p:strVal val="visible"/>
                                      </p:to>
                                    </p:set>
                                    <p:animEffect>
                                      <p:cBhvr>
                                        <p:cTn id="10" dur="500"/>
                                        <p:tgtEl>
                                          <p:spTgt spid="7170"/>
                                        </p:tgtEl>
                                      </p:cBhvr>
                                    </p:animEffect>
                                  </p:childTnLst>
                                </p:cTn>
                              </p:par>
                              <p:par>
                                <p:cTn id="11" presetID="5" presetClass="entr" presetSubtype="10" fill="hold" nodeType="withEffect">
                                  <p:stCondLst>
                                    <p:cond delay="0"/>
                                  </p:stCondLst>
                                  <p:childTnLst>
                                    <p:set>
                                      <p:cBhvr>
                                        <p:cTn id="12" dur="1" fill="hold">
                                          <p:stCondLst>
                                            <p:cond delay="0"/>
                                          </p:stCondLst>
                                        </p:cTn>
                                        <p:tgtEl>
                                          <p:spTgt spid="7177"/>
                                        </p:tgtEl>
                                        <p:attrNameLst>
                                          <p:attrName>style.visibility</p:attrName>
                                        </p:attrNameLst>
                                      </p:cBhvr>
                                      <p:to>
                                        <p:strVal val="visible"/>
                                      </p:to>
                                    </p:set>
                                    <p:animEffect>
                                      <p:cBhvr>
                                        <p:cTn id="13" dur="500"/>
                                        <p:tgtEl>
                                          <p:spTgt spid="7177"/>
                                        </p:tgtEl>
                                      </p:cBhvr>
                                    </p:animEffect>
                                  </p:childTnLst>
                                </p:cTn>
                              </p:par>
                              <p:par>
                                <p:cTn id="14" presetID="5" presetClass="entr" presetSubtype="10" fill="hold" nodeType="withEffect">
                                  <p:stCondLst>
                                    <p:cond delay="0"/>
                                  </p:stCondLst>
                                  <p:childTnLst>
                                    <p:set>
                                      <p:cBhvr>
                                        <p:cTn id="15" dur="1" fill="hold">
                                          <p:stCondLst>
                                            <p:cond delay="0"/>
                                          </p:stCondLst>
                                        </p:cTn>
                                        <p:tgtEl>
                                          <p:spTgt spid="7178"/>
                                        </p:tgtEl>
                                        <p:attrNameLst>
                                          <p:attrName>style.visibility</p:attrName>
                                        </p:attrNameLst>
                                      </p:cBhvr>
                                      <p:to>
                                        <p:strVal val="visible"/>
                                      </p:to>
                                    </p:set>
                                    <p:animEffect>
                                      <p:cBhvr>
                                        <p:cTn id="16" dur="500"/>
                                        <p:tgtEl>
                                          <p:spTgt spid="7178"/>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7173"/>
                                        </p:tgtEl>
                                        <p:attrNameLst>
                                          <p:attrName>style.visibility</p:attrName>
                                        </p:attrNameLst>
                                      </p:cBhvr>
                                      <p:to>
                                        <p:strVal val="visible"/>
                                      </p:to>
                                    </p:set>
                                    <p:animEffect>
                                      <p:cBhvr>
                                        <p:cTn id="19"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bldLvl="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38050" y="1547818"/>
            <a:ext cx="4186237" cy="933450"/>
          </a:xfrm>
          <a:prstGeom prst="rect">
            <a:avLst/>
          </a:prstGeom>
          <a:solidFill>
            <a:schemeClr val="accent3">
              <a:lumMod val="95000"/>
            </a:schemeClr>
          </a:solidFill>
          <a:ln>
            <a:noFill/>
          </a:ln>
          <a:effectLst>
            <a:outerShdw blurRad="63500" sx="102000" sy="102000" algn="ctr" rotWithShape="0">
              <a:prstClr val="black">
                <a:alpha val="40000"/>
              </a:prstClr>
            </a:outerShdw>
          </a:effectLst>
          <a:scene3d>
            <a:camera prst="orthographicFront">
              <a:rot lat="0" lon="0" rev="0"/>
            </a:camera>
            <a:lightRig rig="contrasting" dir="t">
              <a:rot lat="0" lon="0" rev="1500000"/>
            </a:lightRig>
          </a:scene3d>
          <a:sp3d prstMaterial="metal">
            <a:bevelT w="88900" h="88900"/>
          </a:sp3d>
          <a:extLst/>
        </p:spPr>
      </p:pic>
      <p:sp>
        <p:nvSpPr>
          <p:cNvPr id="8198" name="Rectangle 2"/>
          <p:cNvSpPr>
            <a:spLocks noChangeArrowheads="1"/>
          </p:cNvSpPr>
          <p:nvPr/>
        </p:nvSpPr>
        <p:spPr bwMode="auto">
          <a:xfrm>
            <a:off x="4962379" y="3281374"/>
            <a:ext cx="3977400" cy="227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20000"/>
              </a:lnSpc>
            </a:pPr>
            <a:r>
              <a:rPr lang="zh-CN" altLang="en-US" sz="2400" dirty="0">
                <a:solidFill>
                  <a:srgbClr val="0000FF"/>
                </a:solidFill>
                <a:ea typeface="楷体_GB2312" pitchFamily="49" charset="-122"/>
              </a:rPr>
              <a:t>分析螺管型电感：</a:t>
            </a:r>
            <a:endParaRPr lang="en-US" altLang="zh-CN" sz="2400" dirty="0">
              <a:solidFill>
                <a:srgbClr val="0000FF"/>
              </a:solidFill>
              <a:ea typeface="楷体_GB2312" pitchFamily="49" charset="-122"/>
            </a:endParaRPr>
          </a:p>
          <a:p>
            <a:pPr eaLnBrk="1" hangingPunct="1">
              <a:lnSpc>
                <a:spcPct val="120000"/>
              </a:lnSpc>
            </a:pPr>
            <a:r>
              <a:rPr lang="zh-CN" altLang="en-US" sz="2400" dirty="0">
                <a:solidFill>
                  <a:srgbClr val="0000FF"/>
                </a:solidFill>
                <a:ea typeface="楷体_GB2312" pitchFamily="49" charset="-122"/>
              </a:rPr>
              <a:t>（</a:t>
            </a:r>
            <a:r>
              <a:rPr lang="en-US" altLang="zh-CN" sz="2400" dirty="0">
                <a:solidFill>
                  <a:srgbClr val="0000FF"/>
                </a:solidFill>
                <a:ea typeface="楷体_GB2312" pitchFamily="49" charset="-122"/>
              </a:rPr>
              <a:t>1</a:t>
            </a:r>
            <a:r>
              <a:rPr lang="zh-CN" altLang="en-US" sz="2400" dirty="0">
                <a:solidFill>
                  <a:srgbClr val="0000FF"/>
                </a:solidFill>
                <a:ea typeface="楷体_GB2312" pitchFamily="49" charset="-122"/>
              </a:rPr>
              <a:t>）沿轴向方向对称；</a:t>
            </a:r>
            <a:endParaRPr lang="en-US" altLang="zh-CN" sz="2400" dirty="0">
              <a:solidFill>
                <a:srgbClr val="0000FF"/>
              </a:solidFill>
              <a:ea typeface="楷体_GB2312" pitchFamily="49" charset="-122"/>
            </a:endParaRPr>
          </a:p>
          <a:p>
            <a:pPr eaLnBrk="1" hangingPunct="1">
              <a:lnSpc>
                <a:spcPct val="120000"/>
              </a:lnSpc>
            </a:pPr>
            <a:r>
              <a:rPr lang="zh-CN" altLang="en-US" sz="2400" dirty="0">
                <a:solidFill>
                  <a:srgbClr val="0000FF"/>
                </a:solidFill>
                <a:ea typeface="楷体_GB2312" pitchFamily="49" charset="-122"/>
              </a:rPr>
              <a:t>（</a:t>
            </a:r>
            <a:r>
              <a:rPr lang="en-US" altLang="zh-CN" sz="2400" dirty="0">
                <a:solidFill>
                  <a:srgbClr val="0000FF"/>
                </a:solidFill>
                <a:ea typeface="楷体_GB2312" pitchFamily="49" charset="-122"/>
              </a:rPr>
              <a:t>2</a:t>
            </a:r>
            <a:r>
              <a:rPr lang="zh-CN" altLang="en-US" sz="2400" dirty="0">
                <a:solidFill>
                  <a:srgbClr val="0000FF"/>
                </a:solidFill>
                <a:ea typeface="楷体_GB2312" pitchFamily="49" charset="-122"/>
              </a:rPr>
              <a:t>）中心磁场强度大；</a:t>
            </a:r>
            <a:endParaRPr lang="en-US" altLang="zh-CN" sz="2400" dirty="0">
              <a:solidFill>
                <a:srgbClr val="0000FF"/>
              </a:solidFill>
              <a:ea typeface="楷体_GB2312" pitchFamily="49" charset="-122"/>
            </a:endParaRPr>
          </a:p>
          <a:p>
            <a:pPr eaLnBrk="1" hangingPunct="1">
              <a:lnSpc>
                <a:spcPct val="120000"/>
              </a:lnSpc>
            </a:pPr>
            <a:r>
              <a:rPr lang="zh-CN" altLang="en-US" sz="2400" dirty="0">
                <a:solidFill>
                  <a:srgbClr val="0000FF"/>
                </a:solidFill>
                <a:ea typeface="楷体_GB2312" pitchFamily="49" charset="-122"/>
              </a:rPr>
              <a:t>（</a:t>
            </a:r>
            <a:r>
              <a:rPr lang="en-US" altLang="zh-CN" sz="2400" dirty="0">
                <a:solidFill>
                  <a:srgbClr val="0000FF"/>
                </a:solidFill>
                <a:ea typeface="楷体_GB2312" pitchFamily="49" charset="-122"/>
              </a:rPr>
              <a:t>3</a:t>
            </a:r>
            <a:r>
              <a:rPr lang="zh-CN" altLang="en-US" sz="2400" dirty="0">
                <a:solidFill>
                  <a:srgbClr val="0000FF"/>
                </a:solidFill>
                <a:ea typeface="楷体_GB2312" pitchFamily="49" charset="-122"/>
              </a:rPr>
              <a:t>）边缘磁场强度小，且变化较大（非线性严重）</a:t>
            </a:r>
          </a:p>
        </p:txBody>
      </p:sp>
      <p:pic>
        <p:nvPicPr>
          <p:cNvPr id="2" name="图片 1">
            <a:extLst>
              <a:ext uri="{FF2B5EF4-FFF2-40B4-BE49-F238E27FC236}">
                <a16:creationId xmlns:a16="http://schemas.microsoft.com/office/drawing/2014/main" id="{20B870AC-D641-4EC9-B3AE-F6D489AC4BFC}"/>
              </a:ext>
            </a:extLst>
          </p:cNvPr>
          <p:cNvPicPr>
            <a:picLocks noChangeAspect="1"/>
          </p:cNvPicPr>
          <p:nvPr/>
        </p:nvPicPr>
        <p:blipFill>
          <a:blip r:embed="rId3"/>
          <a:stretch>
            <a:fillRect/>
          </a:stretch>
        </p:blipFill>
        <p:spPr>
          <a:xfrm>
            <a:off x="142875" y="3193524"/>
            <a:ext cx="4851183" cy="2959132"/>
          </a:xfrm>
          <a:prstGeom prst="rect">
            <a:avLst/>
          </a:prstGeom>
        </p:spPr>
      </p:pic>
      <p:sp>
        <p:nvSpPr>
          <p:cNvPr id="9" name="矩形 4">
            <a:extLst>
              <a:ext uri="{FF2B5EF4-FFF2-40B4-BE49-F238E27FC236}">
                <a16:creationId xmlns:a16="http://schemas.microsoft.com/office/drawing/2014/main" id="{08171827-948E-4DE2-9D86-46D35F1354F5}"/>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0" name="TextBox 5">
            <a:extLst>
              <a:ext uri="{FF2B5EF4-FFF2-40B4-BE49-F238E27FC236}">
                <a16:creationId xmlns:a16="http://schemas.microsoft.com/office/drawing/2014/main" id="{BC485FD9-D7F7-4B20-930E-6DCBFD32D0CF}"/>
              </a:ext>
            </a:extLst>
          </p:cNvPr>
          <p:cNvSpPr>
            <a:spLocks noChangeArrowheads="1"/>
          </p:cNvSpPr>
          <p:nvPr/>
        </p:nvSpPr>
        <p:spPr bwMode="auto">
          <a:xfrm>
            <a:off x="785813" y="285750"/>
            <a:ext cx="6954837"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1. 1</a:t>
            </a:r>
            <a:r>
              <a:rPr lang="zh-CN" altLang="en-US" sz="3200" b="1" dirty="0">
                <a:solidFill>
                  <a:schemeClr val="tx2"/>
                </a:solidFill>
                <a:latin typeface="Calibri" pitchFamily="34" charset="0"/>
              </a:rPr>
              <a:t>螺管型电感传感基本原理</a:t>
            </a:r>
          </a:p>
          <a:p>
            <a:pPr eaLnBrk="1" hangingPunct="1"/>
            <a:endParaRPr lang="zh-CN" altLang="en-US" sz="3200" b="1" dirty="0">
              <a:solidFill>
                <a:schemeClr val="tx2"/>
              </a:solidFill>
              <a:latin typeface="Calibri" pitchFamily="34" charset="0"/>
            </a:endParaRPr>
          </a:p>
        </p:txBody>
      </p:sp>
      <p:pic>
        <p:nvPicPr>
          <p:cNvPr id="8" name="Picture 11" descr="DSC01798">
            <a:extLst>
              <a:ext uri="{FF2B5EF4-FFF2-40B4-BE49-F238E27FC236}">
                <a16:creationId xmlns:a16="http://schemas.microsoft.com/office/drawing/2014/main" id="{509623AE-B1AD-43E8-8071-E561373B3A8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2078" y="1090931"/>
            <a:ext cx="3643962" cy="205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a:spLocks noChangeArrowheads="1"/>
          </p:cNvSpPr>
          <p:nvPr/>
        </p:nvSpPr>
        <p:spPr bwMode="auto">
          <a:xfrm>
            <a:off x="693873" y="3450435"/>
            <a:ext cx="469092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200" dirty="0">
                <a:latin typeface="Times New Roman" pitchFamily="18" charset="0"/>
                <a:ea typeface="楷体_GB2312" pitchFamily="49" charset="-122"/>
                <a:sym typeface="Times New Roman" pitchFamily="18" charset="0"/>
              </a:rPr>
              <a:t>如线圈长度</a:t>
            </a:r>
            <a:r>
              <a:rPr lang="en-US" sz="2200" i="1" dirty="0">
                <a:latin typeface="Times New Roman" pitchFamily="18" charset="0"/>
                <a:ea typeface="楷体_GB2312" pitchFamily="49" charset="-122"/>
                <a:sym typeface="Times New Roman" pitchFamily="18" charset="0"/>
              </a:rPr>
              <a:t>l </a:t>
            </a:r>
            <a:r>
              <a:rPr lang="en-US" sz="2200" dirty="0">
                <a:latin typeface="Times New Roman" pitchFamily="18" charset="0"/>
                <a:ea typeface="楷体_GB2312" pitchFamily="49" charset="-122"/>
                <a:sym typeface="Times New Roman" pitchFamily="18" charset="0"/>
              </a:rPr>
              <a:t>&gt;&gt; r</a:t>
            </a:r>
            <a:r>
              <a:rPr lang="zh-CN" altLang="en-US" sz="2200" dirty="0">
                <a:latin typeface="Times New Roman" pitchFamily="18" charset="0"/>
                <a:ea typeface="楷体_GB2312" pitchFamily="49" charset="-122"/>
                <a:sym typeface="Times New Roman" pitchFamily="18" charset="0"/>
              </a:rPr>
              <a:t>，铁芯长度 </a:t>
            </a:r>
            <a:r>
              <a:rPr lang="en-US" sz="2200" i="1" dirty="0" err="1">
                <a:latin typeface="Times New Roman" pitchFamily="18" charset="0"/>
                <a:ea typeface="楷体_GB2312" pitchFamily="49" charset="-122"/>
                <a:sym typeface="Times New Roman" pitchFamily="18" charset="0"/>
              </a:rPr>
              <a:t>l</a:t>
            </a:r>
            <a:r>
              <a:rPr lang="en-US" sz="2200" baseline="-25000" dirty="0" err="1">
                <a:latin typeface="Times New Roman" pitchFamily="18" charset="0"/>
                <a:ea typeface="楷体_GB2312" pitchFamily="49" charset="-122"/>
                <a:sym typeface="Times New Roman" pitchFamily="18" charset="0"/>
              </a:rPr>
              <a:t>c</a:t>
            </a:r>
            <a:r>
              <a:rPr lang="zh-CN" altLang="en-US" sz="2200" dirty="0">
                <a:latin typeface="Times New Roman" pitchFamily="18" charset="0"/>
                <a:ea typeface="楷体_GB2312" pitchFamily="49" charset="-122"/>
                <a:sym typeface="Times New Roman" pitchFamily="18" charset="0"/>
              </a:rPr>
              <a:t>小于</a:t>
            </a:r>
            <a:r>
              <a:rPr lang="en-US" sz="2200" i="1" dirty="0">
                <a:latin typeface="Times New Roman" pitchFamily="18" charset="0"/>
                <a:ea typeface="楷体_GB2312" pitchFamily="49" charset="-122"/>
                <a:sym typeface="Times New Roman" pitchFamily="18" charset="0"/>
              </a:rPr>
              <a:t>l</a:t>
            </a:r>
            <a:r>
              <a:rPr lang="en-US" altLang="zh-CN" sz="2200" dirty="0">
                <a:latin typeface="Times New Roman" pitchFamily="18" charset="0"/>
                <a:ea typeface="楷体_GB2312" pitchFamily="49" charset="-122"/>
                <a:sym typeface="Times New Roman" pitchFamily="18" charset="0"/>
              </a:rPr>
              <a:t>,</a:t>
            </a:r>
            <a:r>
              <a:rPr lang="zh-CN" altLang="en-US" sz="2200" dirty="0">
                <a:latin typeface="Times New Roman" pitchFamily="18" charset="0"/>
                <a:ea typeface="楷体_GB2312" pitchFamily="49" charset="-122"/>
                <a:sym typeface="Times New Roman" pitchFamily="18" charset="0"/>
              </a:rPr>
              <a:t>则</a:t>
            </a:r>
            <a:r>
              <a:rPr lang="zh-CN" altLang="en-US" sz="2200" dirty="0">
                <a:solidFill>
                  <a:srgbClr val="0000FF"/>
                </a:solidFill>
                <a:latin typeface="Times New Roman" pitchFamily="18" charset="0"/>
                <a:ea typeface="楷体_GB2312" pitchFamily="49" charset="-122"/>
                <a:sym typeface="Times New Roman" pitchFamily="18" charset="0"/>
              </a:rPr>
              <a:t>线圈电感的相对变化量</a:t>
            </a:r>
            <a:r>
              <a:rPr lang="zh-CN" altLang="en-US" sz="2200" dirty="0">
                <a:latin typeface="Times New Roman" pitchFamily="18" charset="0"/>
                <a:ea typeface="楷体_GB2312" pitchFamily="49" charset="-122"/>
                <a:sym typeface="Times New Roman" pitchFamily="18" charset="0"/>
              </a:rPr>
              <a:t>为</a:t>
            </a:r>
            <a:endParaRPr lang="zh-CN" altLang="en-US" sz="2200" dirty="0"/>
          </a:p>
        </p:txBody>
      </p:sp>
      <p:pic>
        <p:nvPicPr>
          <p:cNvPr id="9219"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883" y="4389372"/>
            <a:ext cx="3735387" cy="1338262"/>
          </a:xfrm>
          <a:prstGeom prst="rect">
            <a:avLst/>
          </a:prstGeom>
          <a:solidFill>
            <a:schemeClr val="bg2"/>
          </a:solidFill>
          <a:ln>
            <a:noFill/>
          </a:ln>
          <a:extLst/>
        </p:spPr>
      </p:pic>
      <p:sp>
        <p:nvSpPr>
          <p:cNvPr id="9221" name="AutoShape 5"/>
          <p:cNvSpPr>
            <a:spLocks noChangeArrowheads="1"/>
          </p:cNvSpPr>
          <p:nvPr/>
        </p:nvSpPr>
        <p:spPr bwMode="auto">
          <a:xfrm>
            <a:off x="5516929" y="4024466"/>
            <a:ext cx="2773363" cy="2068074"/>
          </a:xfrm>
          <a:prstGeom prst="wedgeRoundRectCallout">
            <a:avLst>
              <a:gd name="adj1" fmla="val -63444"/>
              <a:gd name="adj2" fmla="val 20190"/>
              <a:gd name="adj3" fmla="val 16667"/>
            </a:avLst>
          </a:prstGeom>
          <a:solidFill>
            <a:srgbClr val="FFFFFF"/>
          </a:solidFill>
          <a:ln w="9525" cmpd="sng">
            <a:solidFill>
              <a:srgbClr val="FABF8E"/>
            </a:solidFill>
            <a:miter lim="800000"/>
            <a:headEnd/>
            <a:tailEnd/>
          </a:ln>
        </p:spPr>
        <p:txBody>
          <a:bodyPr/>
          <a:lstStyle/>
          <a:p>
            <a:r>
              <a:rPr lang="en-US" altLang="zh-CN" sz="1600" b="1" dirty="0">
                <a:solidFill>
                  <a:srgbClr val="F79646"/>
                </a:solidFill>
                <a:latin typeface="Times New Roman" pitchFamily="18" charset="0"/>
                <a:sym typeface="Times New Roman" pitchFamily="18" charset="0"/>
              </a:rPr>
              <a:t> </a:t>
            </a:r>
            <a:r>
              <a:rPr lang="zh-CN" altLang="en-US" sz="2000" b="1" dirty="0">
                <a:solidFill>
                  <a:srgbClr val="F79646"/>
                </a:solidFill>
                <a:latin typeface="Times New Roman" pitchFamily="18" charset="0"/>
                <a:ea typeface="楷体_GB2312" pitchFamily="49" charset="-122"/>
                <a:sym typeface="Times New Roman" pitchFamily="18" charset="0"/>
              </a:rPr>
              <a:t>若被测量与</a:t>
            </a:r>
            <a:r>
              <a:rPr lang="zh-CN" altLang="en-US" sz="2000" b="1" i="1" dirty="0">
                <a:solidFill>
                  <a:srgbClr val="F79646"/>
                </a:solidFill>
                <a:latin typeface="Times New Roman" pitchFamily="18" charset="0"/>
                <a:ea typeface="楷体_GB2312" pitchFamily="49" charset="-122"/>
                <a:sym typeface="Times New Roman" pitchFamily="18" charset="0"/>
              </a:rPr>
              <a:t>∆</a:t>
            </a:r>
            <a:r>
              <a:rPr lang="en-US" altLang="zh-CN" sz="2000" b="1" i="1" dirty="0" err="1">
                <a:solidFill>
                  <a:srgbClr val="F79646"/>
                </a:solidFill>
                <a:latin typeface="Times New Roman" pitchFamily="18" charset="0"/>
                <a:ea typeface="楷体_GB2312" pitchFamily="49" charset="-122"/>
                <a:sym typeface="Times New Roman" pitchFamily="18" charset="0"/>
              </a:rPr>
              <a:t>l</a:t>
            </a:r>
            <a:r>
              <a:rPr lang="en-US" altLang="zh-CN" sz="2000" b="1" i="1" baseline="-25000" dirty="0" err="1">
                <a:solidFill>
                  <a:srgbClr val="F79646"/>
                </a:solidFill>
                <a:latin typeface="Times New Roman" pitchFamily="18" charset="0"/>
                <a:ea typeface="楷体_GB2312" pitchFamily="49" charset="-122"/>
                <a:sym typeface="Times New Roman" pitchFamily="18" charset="0"/>
              </a:rPr>
              <a:t>c</a:t>
            </a:r>
            <a:r>
              <a:rPr lang="zh-CN" altLang="en-US" sz="2000" b="1" dirty="0">
                <a:solidFill>
                  <a:srgbClr val="F79646"/>
                </a:solidFill>
                <a:latin typeface="Times New Roman" pitchFamily="18" charset="0"/>
                <a:ea typeface="楷体_GB2312" pitchFamily="49" charset="-122"/>
                <a:sym typeface="Times New Roman" pitchFamily="18" charset="0"/>
              </a:rPr>
              <a:t>成正比，则与</a:t>
            </a:r>
            <a:r>
              <a:rPr lang="zh-CN" altLang="en-US" sz="2000" b="1" i="1" dirty="0">
                <a:solidFill>
                  <a:srgbClr val="F79646"/>
                </a:solidFill>
                <a:latin typeface="Times New Roman" pitchFamily="18" charset="0"/>
                <a:ea typeface="楷体_GB2312" pitchFamily="49" charset="-122"/>
                <a:sym typeface="Times New Roman" pitchFamily="18" charset="0"/>
              </a:rPr>
              <a:t>∆</a:t>
            </a:r>
            <a:r>
              <a:rPr lang="en-US" altLang="zh-CN" sz="2000" b="1" i="1" dirty="0">
                <a:solidFill>
                  <a:srgbClr val="F79646"/>
                </a:solidFill>
                <a:latin typeface="Times New Roman" pitchFamily="18" charset="0"/>
                <a:ea typeface="楷体_GB2312" pitchFamily="49" charset="-122"/>
                <a:sym typeface="Times New Roman" pitchFamily="18" charset="0"/>
              </a:rPr>
              <a:t>L</a:t>
            </a:r>
            <a:r>
              <a:rPr lang="zh-CN" altLang="en-US" sz="2000" b="1" dirty="0">
                <a:solidFill>
                  <a:srgbClr val="F79646"/>
                </a:solidFill>
                <a:latin typeface="Times New Roman" pitchFamily="18" charset="0"/>
                <a:ea typeface="楷体_GB2312" pitchFamily="49" charset="-122"/>
                <a:sym typeface="Times New Roman" pitchFamily="18" charset="0"/>
              </a:rPr>
              <a:t>也成正比。实际上由于磁场强度分布不均匀，输入与输出间的关系是非线性的</a:t>
            </a:r>
            <a:endParaRPr lang="zh-CN" altLang="zh-CN" sz="2000" dirty="0"/>
          </a:p>
        </p:txBody>
      </p:sp>
      <p:pic>
        <p:nvPicPr>
          <p:cNvPr id="14"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9629" y="1149308"/>
            <a:ext cx="5029200" cy="206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3374F66-2F64-407C-B127-1487D2619087}"/>
              </a:ext>
            </a:extLst>
          </p:cNvPr>
          <p:cNvSpPr/>
          <p:nvPr/>
        </p:nvSpPr>
        <p:spPr>
          <a:xfrm>
            <a:off x="1561463" y="5857875"/>
            <a:ext cx="3233514" cy="923330"/>
          </a:xfrm>
          <a:prstGeom prst="rect">
            <a:avLst/>
          </a:prstGeom>
        </p:spPr>
        <p:txBody>
          <a:bodyPr wrap="none">
            <a:spAutoFit/>
          </a:bodyPr>
          <a:lstStyle/>
          <a:p>
            <a:r>
              <a:rPr lang="zh-CN" altLang="en-US" dirty="0">
                <a:solidFill>
                  <a:srgbClr val="0000FF"/>
                </a:solidFill>
                <a:latin typeface="Times New Roman" pitchFamily="18" charset="0"/>
                <a:ea typeface="楷体_GB2312" pitchFamily="49" charset="-122"/>
                <a:sym typeface="Symbol" panose="05050102010706020507" pitchFamily="18" charset="2"/>
              </a:rPr>
              <a:t></a:t>
            </a:r>
            <a:r>
              <a:rPr lang="en-US" altLang="zh-CN" i="1" dirty="0">
                <a:solidFill>
                  <a:srgbClr val="0000FF"/>
                </a:solidFill>
                <a:latin typeface="Times New Roman" pitchFamily="18" charset="0"/>
                <a:ea typeface="楷体_GB2312" pitchFamily="49" charset="-122"/>
                <a:sym typeface="Symbol" panose="05050102010706020507" pitchFamily="18" charset="2"/>
              </a:rPr>
              <a:t>L</a:t>
            </a:r>
            <a:r>
              <a:rPr lang="zh-CN" altLang="en-US" i="1" dirty="0">
                <a:solidFill>
                  <a:srgbClr val="0000FF"/>
                </a:solidFill>
                <a:latin typeface="Times New Roman" pitchFamily="18" charset="0"/>
                <a:ea typeface="楷体_GB2312" pitchFamily="49" charset="-122"/>
                <a:sym typeface="Symbol" panose="05050102010706020507" pitchFamily="18" charset="2"/>
              </a:rPr>
              <a:t>：</a:t>
            </a:r>
            <a:r>
              <a:rPr lang="zh-CN" altLang="en-US" dirty="0">
                <a:solidFill>
                  <a:srgbClr val="0000FF"/>
                </a:solidFill>
                <a:latin typeface="Times New Roman" pitchFamily="18" charset="0"/>
                <a:ea typeface="楷体_GB2312" pitchFamily="49" charset="-122"/>
                <a:sym typeface="Times New Roman" pitchFamily="18" charset="0"/>
              </a:rPr>
              <a:t>线圈电感变化量</a:t>
            </a:r>
            <a:endParaRPr lang="en-US" altLang="zh-CN" dirty="0">
              <a:solidFill>
                <a:srgbClr val="0000FF"/>
              </a:solidFill>
              <a:latin typeface="Times New Roman" pitchFamily="18" charset="0"/>
              <a:ea typeface="楷体_GB2312" pitchFamily="49" charset="-122"/>
              <a:sym typeface="Times New Roman" pitchFamily="18" charset="0"/>
            </a:endParaRPr>
          </a:p>
          <a:p>
            <a:r>
              <a:rPr lang="zh-CN" altLang="en-US" dirty="0">
                <a:solidFill>
                  <a:srgbClr val="0000FF"/>
                </a:solidFill>
                <a:latin typeface="Times New Roman" pitchFamily="18" charset="0"/>
                <a:ea typeface="楷体_GB2312" pitchFamily="49" charset="-122"/>
                <a:sym typeface="Symbol" panose="05050102010706020507" pitchFamily="18" charset="2"/>
              </a:rPr>
              <a:t></a:t>
            </a:r>
            <a:r>
              <a:rPr lang="en-US" altLang="zh-CN" i="1" dirty="0">
                <a:solidFill>
                  <a:srgbClr val="0000FF"/>
                </a:solidFill>
                <a:latin typeface="Times New Roman" pitchFamily="18" charset="0"/>
                <a:ea typeface="楷体_GB2312" pitchFamily="49" charset="-122"/>
                <a:sym typeface="Symbol" panose="05050102010706020507" pitchFamily="18" charset="2"/>
              </a:rPr>
              <a:t>l</a:t>
            </a:r>
            <a:r>
              <a:rPr lang="zh-CN" altLang="en-US" i="1" dirty="0">
                <a:solidFill>
                  <a:srgbClr val="0000FF"/>
                </a:solidFill>
                <a:latin typeface="Times New Roman" pitchFamily="18" charset="0"/>
                <a:ea typeface="楷体_GB2312" pitchFamily="49" charset="-122"/>
                <a:sym typeface="Symbol" panose="05050102010706020507" pitchFamily="18" charset="2"/>
              </a:rPr>
              <a:t>： </a:t>
            </a:r>
            <a:r>
              <a:rPr lang="zh-CN" altLang="en-US" dirty="0">
                <a:solidFill>
                  <a:srgbClr val="0000FF"/>
                </a:solidFill>
                <a:latin typeface="Times New Roman" pitchFamily="18" charset="0"/>
                <a:ea typeface="楷体_GB2312" pitchFamily="49" charset="-122"/>
                <a:sym typeface="Symbol" panose="05050102010706020507" pitchFamily="18" charset="2"/>
              </a:rPr>
              <a:t>铁芯运动变化量</a:t>
            </a:r>
            <a:endParaRPr lang="en-US" altLang="zh-CN" dirty="0">
              <a:solidFill>
                <a:srgbClr val="0000FF"/>
              </a:solidFill>
              <a:latin typeface="Times New Roman" pitchFamily="18" charset="0"/>
              <a:ea typeface="楷体_GB2312" pitchFamily="49" charset="-122"/>
              <a:sym typeface="Symbol" panose="05050102010706020507" pitchFamily="18" charset="2"/>
            </a:endParaRPr>
          </a:p>
          <a:p>
            <a:r>
              <a:rPr lang="zh-CN" altLang="en-US" dirty="0">
                <a:solidFill>
                  <a:srgbClr val="0000FF"/>
                </a:solidFill>
                <a:latin typeface="Times New Roman" pitchFamily="18" charset="0"/>
                <a:ea typeface="楷体_GB2312" pitchFamily="49" charset="-122"/>
                <a:sym typeface="Symbol" panose="05050102010706020507" pitchFamily="18" charset="2"/>
              </a:rPr>
              <a:t>其推导参见：</a:t>
            </a:r>
            <a:r>
              <a:rPr lang="en-US" altLang="zh-CN" dirty="0">
                <a:solidFill>
                  <a:srgbClr val="0000FF"/>
                </a:solidFill>
                <a:latin typeface="Times New Roman" pitchFamily="18" charset="0"/>
                <a:ea typeface="楷体_GB2312" pitchFamily="49" charset="-122"/>
                <a:sym typeface="Symbol" panose="05050102010706020507" pitchFamily="18" charset="2"/>
              </a:rPr>
              <a:t>Textbook Page 70</a:t>
            </a:r>
            <a:endParaRPr lang="zh-CN" altLang="en-US" dirty="0"/>
          </a:p>
        </p:txBody>
      </p:sp>
      <p:sp>
        <p:nvSpPr>
          <p:cNvPr id="3" name="矩形 2">
            <a:extLst>
              <a:ext uri="{FF2B5EF4-FFF2-40B4-BE49-F238E27FC236}">
                <a16:creationId xmlns:a16="http://schemas.microsoft.com/office/drawing/2014/main" id="{87B7DA4F-3C22-469A-B0C0-59D033C79BBD}"/>
              </a:ext>
            </a:extLst>
          </p:cNvPr>
          <p:cNvSpPr/>
          <p:nvPr/>
        </p:nvSpPr>
        <p:spPr>
          <a:xfrm>
            <a:off x="5721630" y="1598818"/>
            <a:ext cx="2954655" cy="830997"/>
          </a:xfrm>
          <a:prstGeom prst="rect">
            <a:avLst/>
          </a:prstGeom>
        </p:spPr>
        <p:txBody>
          <a:bodyPr wrap="none">
            <a:spAutoFit/>
          </a:bodyPr>
          <a:lstStyle/>
          <a:p>
            <a:r>
              <a:rPr lang="zh-CN" altLang="en-US" sz="2400" dirty="0">
                <a:solidFill>
                  <a:srgbClr val="FF0000"/>
                </a:solidFill>
                <a:latin typeface="楷体_GB2312" pitchFamily="49" charset="-122"/>
                <a:ea typeface="楷体_GB2312" pitchFamily="49" charset="-122"/>
                <a:sym typeface="楷体_GB2312" pitchFamily="49" charset="-122"/>
              </a:rPr>
              <a:t>插入铁芯后，将改变</a:t>
            </a:r>
            <a:endParaRPr lang="en-US" altLang="zh-CN" sz="2400" dirty="0">
              <a:solidFill>
                <a:srgbClr val="FF0000"/>
              </a:solidFill>
              <a:latin typeface="楷体_GB2312" pitchFamily="49" charset="-122"/>
              <a:ea typeface="楷体_GB2312" pitchFamily="49" charset="-122"/>
              <a:sym typeface="楷体_GB2312" pitchFamily="49" charset="-122"/>
            </a:endParaRPr>
          </a:p>
          <a:p>
            <a:r>
              <a:rPr lang="zh-CN" altLang="en-US" sz="2400" dirty="0">
                <a:solidFill>
                  <a:srgbClr val="FF0000"/>
                </a:solidFill>
                <a:latin typeface="楷体_GB2312" pitchFamily="49" charset="-122"/>
                <a:ea typeface="楷体_GB2312" pitchFamily="49" charset="-122"/>
                <a:sym typeface="楷体_GB2312" pitchFamily="49" charset="-122"/>
              </a:rPr>
              <a:t>线圈电感</a:t>
            </a:r>
            <a:endParaRPr lang="zh-CN" altLang="en-US" sz="2400" dirty="0"/>
          </a:p>
        </p:txBody>
      </p:sp>
      <p:sp>
        <p:nvSpPr>
          <p:cNvPr id="12" name="矩形 4">
            <a:extLst>
              <a:ext uri="{FF2B5EF4-FFF2-40B4-BE49-F238E27FC236}">
                <a16:creationId xmlns:a16="http://schemas.microsoft.com/office/drawing/2014/main" id="{297ED6AB-0ADB-4119-B1F0-833BEFCD3AE2}"/>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6" name="TextBox 5">
            <a:extLst>
              <a:ext uri="{FF2B5EF4-FFF2-40B4-BE49-F238E27FC236}">
                <a16:creationId xmlns:a16="http://schemas.microsoft.com/office/drawing/2014/main" id="{49435BCB-AD40-4780-B080-31DC34E65190}"/>
              </a:ext>
            </a:extLst>
          </p:cNvPr>
          <p:cNvSpPr>
            <a:spLocks noChangeArrowheads="1"/>
          </p:cNvSpPr>
          <p:nvPr/>
        </p:nvSpPr>
        <p:spPr bwMode="auto">
          <a:xfrm>
            <a:off x="785813" y="285750"/>
            <a:ext cx="6954837"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1. 1</a:t>
            </a:r>
            <a:r>
              <a:rPr lang="zh-CN" altLang="en-US" sz="3200" b="1" dirty="0">
                <a:solidFill>
                  <a:schemeClr val="tx2"/>
                </a:solidFill>
                <a:latin typeface="Calibri" pitchFamily="34" charset="0"/>
              </a:rPr>
              <a:t>螺管型电感传感基本原理</a:t>
            </a:r>
          </a:p>
          <a:p>
            <a:pPr eaLnBrk="1" hangingPunct="1"/>
            <a:endParaRPr lang="zh-CN" altLang="en-US" sz="3200" b="1" dirty="0">
              <a:solidFill>
                <a:schemeClr val="tx2"/>
              </a:solidFill>
              <a:latin typeface="Calibri"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9219"/>
                                        </p:tgtEl>
                                        <p:attrNameLst>
                                          <p:attrName>style.visibility</p:attrName>
                                        </p:attrNameLst>
                                      </p:cBhvr>
                                      <p:to>
                                        <p:strVal val="visible"/>
                                      </p:to>
                                    </p:set>
                                    <p:animEffect>
                                      <p:cBhvr>
                                        <p:cTn id="12" dur="2000"/>
                                        <p:tgtEl>
                                          <p:spTgt spid="921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9221"/>
                                        </p:tgtEl>
                                        <p:attrNameLst>
                                          <p:attrName>style.visibility</p:attrName>
                                        </p:attrNameLst>
                                      </p:cBhvr>
                                      <p:to>
                                        <p:strVal val="visible"/>
                                      </p:to>
                                    </p:set>
                                    <p:anim calcmode="lin" valueType="num">
                                      <p:cBhvr additive="base">
                                        <p:cTn id="23" dur="500" fill="hold"/>
                                        <p:tgtEl>
                                          <p:spTgt spid="9221"/>
                                        </p:tgtEl>
                                        <p:attrNameLst>
                                          <p:attrName>ppt_x</p:attrName>
                                        </p:attrNameLst>
                                      </p:cBhvr>
                                      <p:tavLst>
                                        <p:tav tm="0">
                                          <p:val>
                                            <p:strVal val="1+#ppt_w/2"/>
                                          </p:val>
                                        </p:tav>
                                        <p:tav tm="100000">
                                          <p:val>
                                            <p:strVal val="#ppt_x"/>
                                          </p:val>
                                        </p:tav>
                                      </p:tavLst>
                                    </p:anim>
                                    <p:anim calcmode="lin" valueType="num">
                                      <p:cBhvr additive="base">
                                        <p:cTn id="24" dur="500" fill="hold"/>
                                        <p:tgtEl>
                                          <p:spTgt spid="92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ldLvl="0" autoUpdateAnimBg="0"/>
      <p:bldP spid="9221" grpId="0" animBg="1"/>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0243" name="TextBox 5"/>
          <p:cNvSpPr>
            <a:spLocks noChangeArrowheads="1"/>
          </p:cNvSpPr>
          <p:nvPr/>
        </p:nvSpPr>
        <p:spPr bwMode="auto">
          <a:xfrm>
            <a:off x="785813" y="285750"/>
            <a:ext cx="587375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1. 2</a:t>
            </a:r>
            <a:r>
              <a:rPr lang="zh-CN" altLang="en-US" sz="3200" b="1" dirty="0">
                <a:solidFill>
                  <a:schemeClr val="tx2"/>
                </a:solidFill>
                <a:latin typeface="Calibri" pitchFamily="34" charset="0"/>
              </a:rPr>
              <a:t>差动螺旋管式电感传感器</a:t>
            </a:r>
          </a:p>
          <a:p>
            <a:pPr eaLnBrk="1" hangingPunct="1"/>
            <a:endParaRPr lang="zh-CN" altLang="en-US" sz="3200" b="1" dirty="0">
              <a:solidFill>
                <a:schemeClr val="tx2"/>
              </a:solidFill>
              <a:latin typeface="Calibri" pitchFamily="34" charset="0"/>
            </a:endParaRPr>
          </a:p>
        </p:txBody>
      </p:sp>
      <p:sp>
        <p:nvSpPr>
          <p:cNvPr id="10244" name="Text Box 2"/>
          <p:cNvSpPr>
            <a:spLocks noChangeArrowheads="1"/>
          </p:cNvSpPr>
          <p:nvPr/>
        </p:nvSpPr>
        <p:spPr bwMode="auto">
          <a:xfrm>
            <a:off x="34925" y="1015102"/>
            <a:ext cx="8596313" cy="11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为提高灵敏度与线性度，采用</a:t>
            </a:r>
            <a:r>
              <a:rPr lang="zh-CN" altLang="en-US" sz="2400" dirty="0">
                <a:highlight>
                  <a:srgbClr val="FFFF00"/>
                </a:highlight>
                <a:latin typeface="楷体_GB2312" pitchFamily="49" charset="-122"/>
                <a:ea typeface="楷体_GB2312" pitchFamily="49" charset="-122"/>
                <a:sym typeface="楷体_GB2312" pitchFamily="49" charset="-122"/>
              </a:rPr>
              <a:t>差动螺管式</a:t>
            </a:r>
            <a:r>
              <a:rPr lang="zh-CN" altLang="en-US" sz="2400" dirty="0">
                <a:latin typeface="楷体_GB2312" pitchFamily="49" charset="-122"/>
                <a:ea typeface="楷体_GB2312" pitchFamily="49" charset="-122"/>
                <a:sym typeface="楷体_GB2312" pitchFamily="49" charset="-122"/>
              </a:rPr>
              <a:t>电感传感器</a:t>
            </a:r>
            <a:endParaRPr lang="en-US" altLang="zh-CN" sz="2400" dirty="0">
              <a:latin typeface="楷体_GB2312" pitchFamily="49" charset="-122"/>
              <a:ea typeface="楷体_GB2312" pitchFamily="49" charset="-122"/>
              <a:sym typeface="楷体_GB2312" pitchFamily="49" charset="-122"/>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轴向磁场强度分布</a:t>
            </a:r>
            <a:endParaRPr lang="zh-CN" altLang="en-US" dirty="0"/>
          </a:p>
        </p:txBody>
      </p:sp>
      <p:pic>
        <p:nvPicPr>
          <p:cNvPr id="10245"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3905" y="1591802"/>
            <a:ext cx="558165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5525" y="3468039"/>
            <a:ext cx="4529203" cy="2664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Text Box 6"/>
          <p:cNvSpPr>
            <a:spLocks noChangeArrowheads="1"/>
          </p:cNvSpPr>
          <p:nvPr/>
        </p:nvSpPr>
        <p:spPr bwMode="auto">
          <a:xfrm>
            <a:off x="2620696" y="6369259"/>
            <a:ext cx="3487250" cy="412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latin typeface="楷体_GB2312" pitchFamily="49" charset="-122"/>
                <a:ea typeface="楷体_GB2312" pitchFamily="49" charset="-122"/>
                <a:sym typeface="楷体_GB2312" pitchFamily="49" charset="-122"/>
              </a:rPr>
              <a:t>图</a:t>
            </a:r>
            <a:r>
              <a:rPr lang="en-US" sz="2000">
                <a:latin typeface="楷体_GB2312" pitchFamily="49" charset="-122"/>
                <a:ea typeface="楷体_GB2312" pitchFamily="49" charset="-122"/>
                <a:sym typeface="楷体_GB2312" pitchFamily="49" charset="-122"/>
              </a:rPr>
              <a:t>4-9 </a:t>
            </a:r>
            <a:r>
              <a:rPr lang="zh-CN" altLang="en-US" sz="2000">
                <a:latin typeface="楷体_GB2312" pitchFamily="49" charset="-122"/>
                <a:ea typeface="楷体_GB2312" pitchFamily="49" charset="-122"/>
                <a:sym typeface="楷体_GB2312" pitchFamily="49" charset="-122"/>
              </a:rPr>
              <a:t>差动螺管式电感传感器</a:t>
            </a:r>
            <a:endParaRPr lang="zh-CN" altLang="en-US"/>
          </a:p>
        </p:txBody>
      </p:sp>
      <p:pic>
        <p:nvPicPr>
          <p:cNvPr id="10249"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0149" y="2778345"/>
            <a:ext cx="3842126" cy="353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2C18E769-B87E-4F95-AB22-E9AFE1641F6B}"/>
              </a:ext>
            </a:extLst>
          </p:cNvPr>
          <p:cNvSpPr/>
          <p:nvPr/>
        </p:nvSpPr>
        <p:spPr bwMode="auto">
          <a:xfrm>
            <a:off x="5796085" y="1663807"/>
            <a:ext cx="1656115" cy="973138"/>
          </a:xfrm>
          <a:prstGeom prst="rect">
            <a:avLst/>
          </a:prstGeom>
          <a:noFill/>
          <a:ln w="19050" cap="flat" cmpd="sng" algn="ctr">
            <a:solidFill>
              <a:srgbClr val="FFC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6553200" y="6356350"/>
            <a:ext cx="2133600" cy="365125"/>
          </a:xfrm>
        </p:spPr>
        <p:txBody>
          <a:bodyPr/>
          <a:lstStyle/>
          <a:p>
            <a:fld id="{4AD11E0B-FBF9-4FB5-B60E-1B6AF2B7A55E}" type="slidenum">
              <a:rPr lang="zh-CN" altLang="en-US"/>
              <a:pPr/>
              <a:t>10</a:t>
            </a:fld>
            <a:endParaRPr lang="zh-CN" altLang="en-US" sz="1800">
              <a:solidFill>
                <a:schemeClr val="tx1"/>
              </a:solidFill>
              <a:latin typeface="Arial" pitchFamily="34" charset="0"/>
            </a:endParaRPr>
          </a:p>
        </p:txBody>
      </p:sp>
      <p:sp>
        <p:nvSpPr>
          <p:cNvPr id="11266" name="Text Box 2"/>
          <p:cNvSpPr>
            <a:spLocks noChangeArrowheads="1"/>
          </p:cNvSpPr>
          <p:nvPr/>
        </p:nvSpPr>
        <p:spPr bwMode="auto">
          <a:xfrm>
            <a:off x="4283982" y="1702003"/>
            <a:ext cx="472107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spcBef>
                <a:spcPct val="50000"/>
              </a:spcBef>
              <a:buFont typeface="Arial" panose="020B0604020202020204" pitchFamily="34" charset="0"/>
              <a:buChar char="•"/>
            </a:pPr>
            <a:r>
              <a:rPr lang="zh-CN" altLang="en-US" sz="2400" dirty="0">
                <a:latin typeface="Times New Roman" pitchFamily="18" charset="0"/>
                <a:ea typeface="楷体_GB2312" pitchFamily="49" charset="-122"/>
                <a:sym typeface="Times New Roman" pitchFamily="18" charset="0"/>
              </a:rPr>
              <a:t>为得到较好的线性，</a:t>
            </a:r>
            <a:r>
              <a:rPr lang="zh-CN" altLang="en-US" sz="2400" dirty="0">
                <a:solidFill>
                  <a:srgbClr val="FF0000"/>
                </a:solidFill>
                <a:latin typeface="Times New Roman" pitchFamily="18" charset="0"/>
                <a:ea typeface="楷体_GB2312" pitchFamily="49" charset="-122"/>
                <a:sym typeface="Times New Roman" pitchFamily="18" charset="0"/>
              </a:rPr>
              <a:t>铁芯长度取</a:t>
            </a:r>
            <a:r>
              <a:rPr lang="en-US" sz="2400" dirty="0">
                <a:solidFill>
                  <a:srgbClr val="FF0000"/>
                </a:solidFill>
                <a:latin typeface="Times New Roman" pitchFamily="18" charset="0"/>
                <a:ea typeface="楷体_GB2312" pitchFamily="49" charset="-122"/>
                <a:sym typeface="Times New Roman" pitchFamily="18" charset="0"/>
              </a:rPr>
              <a:t>0.6</a:t>
            </a:r>
            <a:r>
              <a:rPr lang="en-US" sz="2400" i="1" dirty="0">
                <a:solidFill>
                  <a:srgbClr val="FF0000"/>
                </a:solidFill>
                <a:latin typeface="Times New Roman" pitchFamily="18" charset="0"/>
                <a:ea typeface="楷体_GB2312" pitchFamily="49" charset="-122"/>
                <a:sym typeface="Times New Roman" pitchFamily="18" charset="0"/>
              </a:rPr>
              <a:t>l </a:t>
            </a:r>
            <a:r>
              <a:rPr lang="zh-CN" altLang="en-US" sz="2400" dirty="0">
                <a:solidFill>
                  <a:srgbClr val="FF0000"/>
                </a:solidFill>
                <a:latin typeface="Times New Roman" pitchFamily="18" charset="0"/>
                <a:ea typeface="楷体_GB2312" pitchFamily="49" charset="-122"/>
                <a:sym typeface="Times New Roman" pitchFamily="18" charset="0"/>
              </a:rPr>
              <a:t>时</a:t>
            </a:r>
            <a:r>
              <a:rPr lang="zh-CN" altLang="en-US" sz="2400" dirty="0">
                <a:latin typeface="Times New Roman" pitchFamily="18" charset="0"/>
                <a:ea typeface="楷体_GB2312" pitchFamily="49" charset="-122"/>
                <a:sym typeface="Times New Roman" pitchFamily="18" charset="0"/>
              </a:rPr>
              <a:t>，则特性工作在</a:t>
            </a:r>
            <a:r>
              <a:rPr lang="en-US" sz="2400" i="1" dirty="0">
                <a:latin typeface="Times New Roman" pitchFamily="18" charset="0"/>
                <a:ea typeface="楷体_GB2312" pitchFamily="49" charset="-122"/>
                <a:sym typeface="Times New Roman" pitchFamily="18" charset="0"/>
              </a:rPr>
              <a:t>H</a:t>
            </a:r>
            <a:r>
              <a:rPr lang="zh-CN" altLang="en-US" sz="2400" dirty="0">
                <a:latin typeface="Times New Roman" pitchFamily="18" charset="0"/>
                <a:ea typeface="楷体_GB2312" pitchFamily="49" charset="-122"/>
                <a:sym typeface="Times New Roman" pitchFamily="18" charset="0"/>
              </a:rPr>
              <a:t>曲线的拐弯处，此时</a:t>
            </a:r>
            <a:r>
              <a:rPr lang="en-US" sz="2400" i="1" dirty="0">
                <a:latin typeface="Times New Roman" pitchFamily="18" charset="0"/>
                <a:ea typeface="楷体_GB2312" pitchFamily="49" charset="-122"/>
                <a:sym typeface="Times New Roman" pitchFamily="18" charset="0"/>
              </a:rPr>
              <a:t>H</a:t>
            </a:r>
            <a:r>
              <a:rPr lang="zh-CN" altLang="en-US" sz="2400" dirty="0">
                <a:latin typeface="Times New Roman" pitchFamily="18" charset="0"/>
                <a:ea typeface="楷体_GB2312" pitchFamily="49" charset="-122"/>
                <a:sym typeface="Times New Roman" pitchFamily="18" charset="0"/>
              </a:rPr>
              <a:t>变化小。</a:t>
            </a:r>
            <a:endParaRPr lang="zh-CN" altLang="en-US" sz="2400" i="1" dirty="0">
              <a:latin typeface="Times New Roman" pitchFamily="18" charset="0"/>
              <a:ea typeface="楷体_GB2312" pitchFamily="49" charset="-122"/>
              <a:sym typeface="Times New Roman" pitchFamily="18" charset="0"/>
            </a:endParaRPr>
          </a:p>
        </p:txBody>
      </p:sp>
      <p:sp>
        <p:nvSpPr>
          <p:cNvPr id="11267" name="Rectangle 3"/>
          <p:cNvSpPr>
            <a:spLocks noChangeArrowheads="1"/>
          </p:cNvSpPr>
          <p:nvPr/>
        </p:nvSpPr>
        <p:spPr bwMode="auto">
          <a:xfrm>
            <a:off x="4252651" y="3136242"/>
            <a:ext cx="4860020" cy="1826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20000"/>
              </a:lnSpc>
              <a:buFont typeface="Arial" panose="020B0604020202020204" pitchFamily="34" charset="0"/>
              <a:buChar char="•"/>
            </a:pPr>
            <a:r>
              <a:rPr lang="zh-CN" altLang="en-US" sz="2400" dirty="0">
                <a:solidFill>
                  <a:srgbClr val="000000"/>
                </a:solidFill>
                <a:latin typeface="Times New Roman" pitchFamily="18" charset="0"/>
                <a:ea typeface="楷体_GB2312" pitchFamily="49" charset="-122"/>
                <a:sym typeface="Times New Roman" pitchFamily="18" charset="0"/>
              </a:rPr>
              <a:t>当铁芯向线圈</a:t>
            </a:r>
            <a:r>
              <a:rPr lang="en-US" sz="2400" dirty="0">
                <a:solidFill>
                  <a:srgbClr val="000000"/>
                </a:solidFill>
                <a:latin typeface="Times New Roman" pitchFamily="18" charset="0"/>
                <a:ea typeface="楷体_GB2312" pitchFamily="49" charset="-122"/>
                <a:sym typeface="Times New Roman" pitchFamily="18" charset="0"/>
              </a:rPr>
              <a:t>Ⅱ</a:t>
            </a:r>
            <a:r>
              <a:rPr lang="zh-CN" altLang="en-US" sz="2400" dirty="0">
                <a:solidFill>
                  <a:srgbClr val="000000"/>
                </a:solidFill>
                <a:latin typeface="Times New Roman" pitchFamily="18" charset="0"/>
                <a:ea typeface="楷体_GB2312" pitchFamily="49" charset="-122"/>
                <a:sym typeface="Times New Roman" pitchFamily="18" charset="0"/>
              </a:rPr>
              <a:t>移动∆</a:t>
            </a:r>
            <a:r>
              <a:rPr lang="en-US" sz="2400" i="1" dirty="0" err="1">
                <a:solidFill>
                  <a:srgbClr val="000000"/>
                </a:solidFill>
                <a:latin typeface="Times New Roman" pitchFamily="18" charset="0"/>
                <a:ea typeface="楷体_GB2312" pitchFamily="49" charset="-122"/>
                <a:sym typeface="Times New Roman" pitchFamily="18" charset="0"/>
              </a:rPr>
              <a:t>l</a:t>
            </a:r>
            <a:r>
              <a:rPr lang="en-US" sz="2400" dirty="0" err="1">
                <a:solidFill>
                  <a:srgbClr val="000000"/>
                </a:solidFill>
                <a:latin typeface="Times New Roman" pitchFamily="18" charset="0"/>
                <a:ea typeface="楷体_GB2312" pitchFamily="49" charset="-122"/>
                <a:sym typeface="Times New Roman" pitchFamily="18" charset="0"/>
              </a:rPr>
              <a:t>c</a:t>
            </a:r>
            <a:r>
              <a:rPr lang="zh-CN" altLang="en-US" sz="2400" dirty="0">
                <a:solidFill>
                  <a:srgbClr val="000000"/>
                </a:solidFill>
                <a:latin typeface="Times New Roman" pitchFamily="18" charset="0"/>
                <a:ea typeface="楷体_GB2312" pitchFamily="49" charset="-122"/>
                <a:sym typeface="Times New Roman" pitchFamily="18" charset="0"/>
              </a:rPr>
              <a:t>时，线圈</a:t>
            </a:r>
            <a:r>
              <a:rPr lang="en-US" sz="2400" dirty="0">
                <a:solidFill>
                  <a:srgbClr val="000000"/>
                </a:solidFill>
                <a:latin typeface="Times New Roman" pitchFamily="18" charset="0"/>
                <a:ea typeface="楷体_GB2312" pitchFamily="49" charset="-122"/>
                <a:sym typeface="Times New Roman" pitchFamily="18" charset="0"/>
              </a:rPr>
              <a:t>Ⅱ</a:t>
            </a:r>
            <a:r>
              <a:rPr lang="zh-CN" altLang="en-US" sz="2400" dirty="0">
                <a:solidFill>
                  <a:srgbClr val="000000"/>
                </a:solidFill>
                <a:latin typeface="Times New Roman" pitchFamily="18" charset="0"/>
                <a:ea typeface="楷体_GB2312" pitchFamily="49" charset="-122"/>
                <a:sym typeface="Times New Roman" pitchFamily="18" charset="0"/>
              </a:rPr>
              <a:t>电感增加∆</a:t>
            </a:r>
            <a:r>
              <a:rPr lang="en-US" sz="2400" i="1" dirty="0">
                <a:solidFill>
                  <a:srgbClr val="000000"/>
                </a:solidFill>
                <a:latin typeface="Times New Roman" pitchFamily="18" charset="0"/>
                <a:ea typeface="楷体_GB2312" pitchFamily="49" charset="-122"/>
                <a:sym typeface="Times New Roman" pitchFamily="18" charset="0"/>
              </a:rPr>
              <a:t>L</a:t>
            </a:r>
            <a:r>
              <a:rPr lang="en-US" sz="2400" baseline="-25000" dirty="0">
                <a:solidFill>
                  <a:srgbClr val="000000"/>
                </a:solidFill>
                <a:latin typeface="Times New Roman" pitchFamily="18" charset="0"/>
                <a:ea typeface="楷体_GB2312" pitchFamily="49" charset="-122"/>
                <a:sym typeface="Times New Roman" pitchFamily="18" charset="0"/>
              </a:rPr>
              <a:t>2</a:t>
            </a:r>
            <a:r>
              <a:rPr lang="zh-CN" altLang="en-US" sz="2400" dirty="0">
                <a:solidFill>
                  <a:srgbClr val="000000"/>
                </a:solidFill>
                <a:latin typeface="Times New Roman" pitchFamily="18" charset="0"/>
                <a:ea typeface="楷体_GB2312" pitchFamily="49" charset="-122"/>
                <a:sym typeface="Times New Roman" pitchFamily="18" charset="0"/>
              </a:rPr>
              <a:t>，线圈</a:t>
            </a:r>
            <a:r>
              <a:rPr lang="en-US" sz="2400" dirty="0">
                <a:solidFill>
                  <a:srgbClr val="000000"/>
                </a:solidFill>
                <a:latin typeface="Times New Roman" pitchFamily="18" charset="0"/>
                <a:ea typeface="楷体_GB2312" pitchFamily="49" charset="-122"/>
                <a:sym typeface="Times New Roman" pitchFamily="18" charset="0"/>
              </a:rPr>
              <a:t>Ⅰ</a:t>
            </a:r>
            <a:r>
              <a:rPr lang="zh-CN" altLang="en-US" sz="2400" dirty="0">
                <a:solidFill>
                  <a:srgbClr val="000000"/>
                </a:solidFill>
                <a:latin typeface="Times New Roman" pitchFamily="18" charset="0"/>
                <a:ea typeface="楷体_GB2312" pitchFamily="49" charset="-122"/>
                <a:sym typeface="Times New Roman" pitchFamily="18" charset="0"/>
              </a:rPr>
              <a:t>电感变化∆</a:t>
            </a:r>
            <a:r>
              <a:rPr lang="en-US" sz="2400" i="1" dirty="0">
                <a:solidFill>
                  <a:srgbClr val="000000"/>
                </a:solidFill>
                <a:latin typeface="Times New Roman" pitchFamily="18" charset="0"/>
                <a:ea typeface="楷体_GB2312" pitchFamily="49" charset="-122"/>
                <a:sym typeface="Times New Roman" pitchFamily="18" charset="0"/>
              </a:rPr>
              <a:t>L</a:t>
            </a:r>
            <a:r>
              <a:rPr lang="en-US" sz="2400" baseline="-25000" dirty="0">
                <a:solidFill>
                  <a:srgbClr val="000000"/>
                </a:solidFill>
                <a:latin typeface="Times New Roman" pitchFamily="18" charset="0"/>
                <a:ea typeface="楷体_GB2312" pitchFamily="49" charset="-122"/>
                <a:sym typeface="Times New Roman" pitchFamily="18" charset="0"/>
              </a:rPr>
              <a:t>1</a:t>
            </a:r>
            <a:r>
              <a:rPr lang="zh-CN" altLang="en-US" sz="2400" dirty="0">
                <a:solidFill>
                  <a:srgbClr val="000000"/>
                </a:solidFill>
                <a:latin typeface="Times New Roman" pitchFamily="18" charset="0"/>
                <a:ea typeface="楷体_GB2312" pitchFamily="49" charset="-122"/>
                <a:sym typeface="Times New Roman" pitchFamily="18" charset="0"/>
              </a:rPr>
              <a:t>与∆</a:t>
            </a:r>
            <a:r>
              <a:rPr lang="en-US" sz="2400" i="1" dirty="0">
                <a:solidFill>
                  <a:srgbClr val="000000"/>
                </a:solidFill>
                <a:latin typeface="Times New Roman" pitchFamily="18" charset="0"/>
                <a:ea typeface="楷体_GB2312" pitchFamily="49" charset="-122"/>
                <a:sym typeface="Times New Roman" pitchFamily="18" charset="0"/>
              </a:rPr>
              <a:t>L</a:t>
            </a:r>
            <a:r>
              <a:rPr lang="en-US" sz="2400" baseline="-25000" dirty="0">
                <a:solidFill>
                  <a:srgbClr val="000000"/>
                </a:solidFill>
                <a:latin typeface="Times New Roman" pitchFamily="18" charset="0"/>
                <a:ea typeface="楷体_GB2312" pitchFamily="49" charset="-122"/>
                <a:sym typeface="Times New Roman" pitchFamily="18" charset="0"/>
              </a:rPr>
              <a:t>2</a:t>
            </a:r>
            <a:r>
              <a:rPr lang="zh-CN" altLang="en-US" sz="2400" dirty="0">
                <a:solidFill>
                  <a:srgbClr val="000000"/>
                </a:solidFill>
                <a:latin typeface="Times New Roman" pitchFamily="18" charset="0"/>
                <a:ea typeface="楷体_GB2312" pitchFamily="49" charset="-122"/>
                <a:sym typeface="Times New Roman" pitchFamily="18" charset="0"/>
              </a:rPr>
              <a:t>大小相等，符号相反；</a:t>
            </a:r>
            <a:endParaRPr lang="en-US" altLang="zh-CN" sz="2400" dirty="0">
              <a:solidFill>
                <a:srgbClr val="000000"/>
              </a:solidFill>
              <a:latin typeface="Times New Roman" pitchFamily="18" charset="0"/>
              <a:ea typeface="楷体_GB2312" pitchFamily="49" charset="-122"/>
              <a:sym typeface="Times New Roman" pitchFamily="18" charset="0"/>
            </a:endParaRPr>
          </a:p>
          <a:p>
            <a:pPr marL="342900" indent="-342900">
              <a:lnSpc>
                <a:spcPct val="120000"/>
              </a:lnSpc>
              <a:buFont typeface="Arial" panose="020B0604020202020204" pitchFamily="34" charset="0"/>
              <a:buChar char="•"/>
            </a:pPr>
            <a:r>
              <a:rPr lang="zh-CN" altLang="en-US" sz="2400" dirty="0">
                <a:solidFill>
                  <a:srgbClr val="000000"/>
                </a:solidFill>
                <a:highlight>
                  <a:srgbClr val="FFFF00"/>
                </a:highlight>
                <a:latin typeface="Times New Roman" pitchFamily="18" charset="0"/>
                <a:ea typeface="楷体_GB2312" pitchFamily="49" charset="-122"/>
                <a:sym typeface="Times New Roman" pitchFamily="18" charset="0"/>
              </a:rPr>
              <a:t>获得差动输出</a:t>
            </a:r>
            <a:endParaRPr lang="zh-CN" altLang="en-US" dirty="0">
              <a:highlight>
                <a:srgbClr val="FFFF00"/>
              </a:highlight>
            </a:endParaRPr>
          </a:p>
        </p:txBody>
      </p:sp>
      <p:pic>
        <p:nvPicPr>
          <p:cNvPr id="11268" name="Object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0123" y="5181975"/>
            <a:ext cx="5347716" cy="1343240"/>
          </a:xfrm>
          <a:prstGeom prst="rect">
            <a:avLst/>
          </a:prstGeom>
          <a:solidFill>
            <a:schemeClr val="bg2"/>
          </a:solidFill>
          <a:ln>
            <a:noFill/>
          </a:ln>
          <a:extLst/>
        </p:spPr>
      </p:pic>
      <p:pic>
        <p:nvPicPr>
          <p:cNvPr id="1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413" y="1412860"/>
            <a:ext cx="3867150"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4">
            <a:extLst>
              <a:ext uri="{FF2B5EF4-FFF2-40B4-BE49-F238E27FC236}">
                <a16:creationId xmlns:a16="http://schemas.microsoft.com/office/drawing/2014/main" id="{BEDEAF34-34E3-41F7-BF29-966DBB253D4A}"/>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 name="TextBox 5">
            <a:extLst>
              <a:ext uri="{FF2B5EF4-FFF2-40B4-BE49-F238E27FC236}">
                <a16:creationId xmlns:a16="http://schemas.microsoft.com/office/drawing/2014/main" id="{A26E557B-D873-42AE-A5D7-344A516E363D}"/>
              </a:ext>
            </a:extLst>
          </p:cNvPr>
          <p:cNvSpPr>
            <a:spLocks noChangeArrowheads="1"/>
          </p:cNvSpPr>
          <p:nvPr/>
        </p:nvSpPr>
        <p:spPr bwMode="auto">
          <a:xfrm>
            <a:off x="785813" y="285750"/>
            <a:ext cx="587375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1. 2</a:t>
            </a:r>
            <a:r>
              <a:rPr lang="zh-CN" altLang="en-US" sz="3200" b="1" dirty="0">
                <a:solidFill>
                  <a:schemeClr val="tx2"/>
                </a:solidFill>
                <a:latin typeface="Calibri" pitchFamily="34" charset="0"/>
              </a:rPr>
              <a:t>差动螺旋管式电感传感器</a:t>
            </a:r>
          </a:p>
          <a:p>
            <a:pPr eaLnBrk="1" hangingPunct="1"/>
            <a:endParaRPr lang="zh-CN" altLang="en-US" sz="3200" b="1" dirty="0">
              <a:solidFill>
                <a:schemeClr val="tx2"/>
              </a:solidFill>
              <a:latin typeface="Calibri" pitchFamily="34" charset="0"/>
            </a:endParaRPr>
          </a:p>
        </p:txBody>
      </p:sp>
      <p:cxnSp>
        <p:nvCxnSpPr>
          <p:cNvPr id="3" name="连接符: 曲线 2">
            <a:extLst>
              <a:ext uri="{FF2B5EF4-FFF2-40B4-BE49-F238E27FC236}">
                <a16:creationId xmlns:a16="http://schemas.microsoft.com/office/drawing/2014/main" id="{2B44A1EE-ED20-44E5-9F24-09DAE41C00DA}"/>
              </a:ext>
            </a:extLst>
          </p:cNvPr>
          <p:cNvCxnSpPr>
            <a:cxnSpLocks/>
          </p:cNvCxnSpPr>
          <p:nvPr/>
        </p:nvCxnSpPr>
        <p:spPr bwMode="auto">
          <a:xfrm rot="10800000">
            <a:off x="2915885" y="1916895"/>
            <a:ext cx="1728120" cy="385272"/>
          </a:xfrm>
          <a:prstGeom prst="curvedConnector3">
            <a:avLst/>
          </a:prstGeom>
          <a:solidFill>
            <a:schemeClr val="accent1"/>
          </a:solidFill>
          <a:ln w="9525" cap="flat" cmpd="sng" algn="ctr">
            <a:solidFill>
              <a:srgbClr val="FFC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椭圆 9">
            <a:extLst>
              <a:ext uri="{FF2B5EF4-FFF2-40B4-BE49-F238E27FC236}">
                <a16:creationId xmlns:a16="http://schemas.microsoft.com/office/drawing/2014/main" id="{F1C57245-A450-47B5-B730-179ABA388720}"/>
              </a:ext>
            </a:extLst>
          </p:cNvPr>
          <p:cNvSpPr/>
          <p:nvPr/>
        </p:nvSpPr>
        <p:spPr bwMode="auto">
          <a:xfrm>
            <a:off x="2627865" y="1844890"/>
            <a:ext cx="288020" cy="233148"/>
          </a:xfrm>
          <a:prstGeom prst="ellipse">
            <a:avLst/>
          </a:prstGeom>
          <a:noFill/>
          <a:ln w="2222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noFill/>
              <a:effectLst/>
              <a:latin typeface="Arial" pitchFamily="34" charset="0"/>
              <a:ea typeface="宋体" pitchFamily="2" charset="-122"/>
            </a:endParaRPr>
          </a:p>
        </p:txBody>
      </p:sp>
    </p:spTree>
    <p:extLst>
      <p:ext uri="{BB962C8B-B14F-4D97-AF65-F5344CB8AC3E}">
        <p14:creationId xmlns:p14="http://schemas.microsoft.com/office/powerpoint/2010/main" val="324605493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AD11E0B-FBF9-4FB5-B60E-1B6AF2B7A55E}" type="slidenum">
              <a:rPr lang="zh-CN" altLang="en-US"/>
              <a:pPr/>
              <a:t>11</a:t>
            </a:fld>
            <a:endParaRPr lang="zh-CN" altLang="en-US" sz="1800">
              <a:solidFill>
                <a:schemeClr val="tx1"/>
              </a:solidFill>
              <a:latin typeface="Arial" pitchFamily="34" charset="0"/>
            </a:endParaRPr>
          </a:p>
        </p:txBody>
      </p:sp>
      <p:sp>
        <p:nvSpPr>
          <p:cNvPr id="11267" name="Rectangle 3"/>
          <p:cNvSpPr>
            <a:spLocks noChangeArrowheads="1"/>
          </p:cNvSpPr>
          <p:nvPr/>
        </p:nvSpPr>
        <p:spPr bwMode="auto">
          <a:xfrm>
            <a:off x="445030" y="3862914"/>
            <a:ext cx="82359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400" dirty="0">
                <a:solidFill>
                  <a:srgbClr val="000000"/>
                </a:solidFill>
                <a:latin typeface="Times New Roman" pitchFamily="18" charset="0"/>
                <a:ea typeface="楷体_GB2312" pitchFamily="49" charset="-122"/>
                <a:sym typeface="Times New Roman" pitchFamily="18" charset="0"/>
              </a:rPr>
              <a:t>差动输出</a:t>
            </a:r>
            <a:endParaRPr lang="zh-CN" altLang="en-US" dirty="0"/>
          </a:p>
        </p:txBody>
      </p:sp>
      <p:pic>
        <p:nvPicPr>
          <p:cNvPr id="11268" name="Object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4675" y="3748681"/>
            <a:ext cx="4708525" cy="118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5"/>
          <p:cNvSpPr>
            <a:spLocks noChangeArrowheads="1"/>
          </p:cNvSpPr>
          <p:nvPr/>
        </p:nvSpPr>
        <p:spPr bwMode="auto">
          <a:xfrm>
            <a:off x="473075" y="4938383"/>
            <a:ext cx="8248650"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20000"/>
              </a:lnSpc>
              <a:buFont typeface="Arial" panose="020B0604020202020204" pitchFamily="34" charset="0"/>
              <a:buChar char="•"/>
            </a:pPr>
            <a:r>
              <a:rPr lang="zh-CN" altLang="en-US" sz="2400" dirty="0">
                <a:solidFill>
                  <a:srgbClr val="000000"/>
                </a:solidFill>
                <a:latin typeface="Times New Roman" pitchFamily="18" charset="0"/>
                <a:ea typeface="楷体_GB2312" pitchFamily="49" charset="-122"/>
                <a:sym typeface="Times New Roman" pitchFamily="18" charset="0"/>
              </a:rPr>
              <a:t>∆</a:t>
            </a:r>
            <a:r>
              <a:rPr lang="en-US" sz="2400" i="1" dirty="0">
                <a:solidFill>
                  <a:srgbClr val="000000"/>
                </a:solidFill>
                <a:latin typeface="Times New Roman" pitchFamily="18" charset="0"/>
                <a:ea typeface="楷体_GB2312" pitchFamily="49" charset="-122"/>
                <a:sym typeface="Times New Roman" pitchFamily="18" charset="0"/>
              </a:rPr>
              <a:t>L</a:t>
            </a:r>
            <a:r>
              <a:rPr lang="en-US" sz="2400" dirty="0">
                <a:solidFill>
                  <a:srgbClr val="000000"/>
                </a:solidFill>
                <a:latin typeface="Times New Roman" pitchFamily="18" charset="0"/>
                <a:ea typeface="楷体_GB2312" pitchFamily="49" charset="-122"/>
                <a:sym typeface="Times New Roman" pitchFamily="18" charset="0"/>
              </a:rPr>
              <a:t>/</a:t>
            </a:r>
            <a:r>
              <a:rPr lang="en-US" sz="2400" i="1" dirty="0">
                <a:solidFill>
                  <a:srgbClr val="000000"/>
                </a:solidFill>
                <a:latin typeface="Times New Roman" pitchFamily="18" charset="0"/>
                <a:ea typeface="楷体_GB2312" pitchFamily="49" charset="-122"/>
                <a:sym typeface="Times New Roman" pitchFamily="18" charset="0"/>
              </a:rPr>
              <a:t>L</a:t>
            </a:r>
            <a:r>
              <a:rPr lang="zh-CN" altLang="en-US" sz="2400" dirty="0">
                <a:solidFill>
                  <a:srgbClr val="000000"/>
                </a:solidFill>
                <a:latin typeface="Times New Roman" pitchFamily="18" charset="0"/>
                <a:ea typeface="楷体_GB2312" pitchFamily="49" charset="-122"/>
                <a:sym typeface="Times New Roman" pitchFamily="18" charset="0"/>
              </a:rPr>
              <a:t>与铁芯长度相对变化∆</a:t>
            </a:r>
            <a:r>
              <a:rPr lang="en-US" sz="2400" i="1" dirty="0" err="1">
                <a:solidFill>
                  <a:srgbClr val="000000"/>
                </a:solidFill>
                <a:latin typeface="Times New Roman" pitchFamily="18" charset="0"/>
                <a:ea typeface="楷体_GB2312" pitchFamily="49" charset="-122"/>
                <a:sym typeface="Times New Roman" pitchFamily="18" charset="0"/>
              </a:rPr>
              <a:t>l</a:t>
            </a:r>
            <a:r>
              <a:rPr lang="en-US" sz="2400" dirty="0" err="1">
                <a:solidFill>
                  <a:srgbClr val="000000"/>
                </a:solidFill>
                <a:latin typeface="Times New Roman" pitchFamily="18" charset="0"/>
                <a:ea typeface="楷体_GB2312" pitchFamily="49" charset="-122"/>
                <a:sym typeface="Times New Roman" pitchFamily="18" charset="0"/>
              </a:rPr>
              <a:t>c</a:t>
            </a:r>
            <a:r>
              <a:rPr lang="en-US" sz="2400" dirty="0">
                <a:solidFill>
                  <a:srgbClr val="000000"/>
                </a:solidFill>
                <a:latin typeface="Times New Roman" pitchFamily="18" charset="0"/>
                <a:ea typeface="楷体_GB2312" pitchFamily="49" charset="-122"/>
                <a:sym typeface="Times New Roman" pitchFamily="18" charset="0"/>
              </a:rPr>
              <a:t>/</a:t>
            </a:r>
            <a:r>
              <a:rPr lang="en-US" sz="2400" i="1" dirty="0" err="1">
                <a:solidFill>
                  <a:srgbClr val="000000"/>
                </a:solidFill>
                <a:latin typeface="Times New Roman" pitchFamily="18" charset="0"/>
                <a:ea typeface="楷体_GB2312" pitchFamily="49" charset="-122"/>
                <a:sym typeface="Times New Roman" pitchFamily="18" charset="0"/>
              </a:rPr>
              <a:t>l</a:t>
            </a:r>
            <a:r>
              <a:rPr lang="en-US" sz="2400" dirty="0" err="1">
                <a:solidFill>
                  <a:srgbClr val="000000"/>
                </a:solidFill>
                <a:latin typeface="Times New Roman" pitchFamily="18" charset="0"/>
                <a:ea typeface="楷体_GB2312" pitchFamily="49" charset="-122"/>
                <a:sym typeface="Times New Roman" pitchFamily="18" charset="0"/>
              </a:rPr>
              <a:t>c</a:t>
            </a:r>
            <a:r>
              <a:rPr lang="zh-CN" altLang="en-US" sz="2400" dirty="0">
                <a:solidFill>
                  <a:srgbClr val="000000"/>
                </a:solidFill>
                <a:latin typeface="Times New Roman" pitchFamily="18" charset="0"/>
                <a:ea typeface="楷体_GB2312" pitchFamily="49" charset="-122"/>
                <a:sym typeface="Times New Roman" pitchFamily="18" charset="0"/>
              </a:rPr>
              <a:t>成正比，比单螺管式电感传感器</a:t>
            </a:r>
            <a:r>
              <a:rPr lang="zh-CN" altLang="en-US" sz="2400" dirty="0">
                <a:solidFill>
                  <a:srgbClr val="0000FF"/>
                </a:solidFill>
                <a:latin typeface="Times New Roman" pitchFamily="18" charset="0"/>
                <a:ea typeface="楷体_GB2312" pitchFamily="49" charset="-122"/>
                <a:sym typeface="Times New Roman" pitchFamily="18" charset="0"/>
              </a:rPr>
              <a:t>灵敏度高一倍</a:t>
            </a:r>
            <a:r>
              <a:rPr lang="zh-CN" altLang="en-US" sz="2400" dirty="0">
                <a:solidFill>
                  <a:srgbClr val="000000"/>
                </a:solidFill>
                <a:latin typeface="Times New Roman" pitchFamily="18" charset="0"/>
                <a:ea typeface="楷体_GB2312" pitchFamily="49" charset="-122"/>
                <a:sym typeface="Times New Roman" pitchFamily="18" charset="0"/>
              </a:rPr>
              <a:t>。</a:t>
            </a:r>
            <a:endParaRPr lang="en-US" altLang="zh-CN" sz="2400" dirty="0">
              <a:solidFill>
                <a:srgbClr val="000000"/>
              </a:solidFill>
              <a:latin typeface="Times New Roman" pitchFamily="18" charset="0"/>
              <a:ea typeface="楷体_GB2312" pitchFamily="49" charset="-122"/>
              <a:sym typeface="Times New Roman" pitchFamily="18" charset="0"/>
            </a:endParaRPr>
          </a:p>
          <a:p>
            <a:pPr marL="342900" indent="-342900">
              <a:lnSpc>
                <a:spcPct val="120000"/>
              </a:lnSpc>
              <a:buFont typeface="Arial" panose="020B0604020202020204" pitchFamily="34" charset="0"/>
              <a:buChar char="•"/>
            </a:pPr>
            <a:r>
              <a:rPr lang="zh-CN" altLang="en-US" sz="2400" dirty="0">
                <a:solidFill>
                  <a:srgbClr val="000000"/>
                </a:solidFill>
                <a:latin typeface="Times New Roman" pitchFamily="18" charset="0"/>
                <a:ea typeface="楷体_GB2312" pitchFamily="49" charset="-122"/>
                <a:sym typeface="Times New Roman" pitchFamily="18" charset="0"/>
              </a:rPr>
              <a:t>为使灵敏度增大，应使</a:t>
            </a:r>
            <a:r>
              <a:rPr lang="zh-CN" altLang="en-US" sz="2400" dirty="0">
                <a:solidFill>
                  <a:srgbClr val="0070C0"/>
                </a:solidFill>
                <a:latin typeface="Times New Roman" pitchFamily="18" charset="0"/>
                <a:ea typeface="楷体_GB2312" pitchFamily="49" charset="-122"/>
                <a:sym typeface="Times New Roman" pitchFamily="18" charset="0"/>
              </a:rPr>
              <a:t>线圈与铁芯尺寸比值</a:t>
            </a:r>
            <a:r>
              <a:rPr lang="en-US" sz="2400" i="1" dirty="0">
                <a:solidFill>
                  <a:srgbClr val="0070C0"/>
                </a:solidFill>
                <a:latin typeface="Times New Roman" pitchFamily="18" charset="0"/>
                <a:ea typeface="楷体_GB2312" pitchFamily="49" charset="-122"/>
                <a:sym typeface="Times New Roman" pitchFamily="18" charset="0"/>
              </a:rPr>
              <a:t>r</a:t>
            </a:r>
            <a:r>
              <a:rPr lang="en-US" sz="2400" dirty="0">
                <a:solidFill>
                  <a:srgbClr val="0070C0"/>
                </a:solidFill>
                <a:latin typeface="Times New Roman" pitchFamily="18" charset="0"/>
                <a:ea typeface="楷体_GB2312" pitchFamily="49" charset="-122"/>
                <a:sym typeface="Times New Roman" pitchFamily="18" charset="0"/>
              </a:rPr>
              <a:t>/</a:t>
            </a:r>
            <a:r>
              <a:rPr lang="en-US" sz="2400" i="1" dirty="0" err="1">
                <a:solidFill>
                  <a:srgbClr val="0070C0"/>
                </a:solidFill>
                <a:latin typeface="Times New Roman" pitchFamily="18" charset="0"/>
                <a:ea typeface="楷体_GB2312" pitchFamily="49" charset="-122"/>
                <a:sym typeface="Times New Roman" pitchFamily="18" charset="0"/>
              </a:rPr>
              <a:t>r</a:t>
            </a:r>
            <a:r>
              <a:rPr lang="en-US" sz="2400" baseline="-25000" dirty="0" err="1">
                <a:solidFill>
                  <a:srgbClr val="0070C0"/>
                </a:solidFill>
                <a:latin typeface="Times New Roman" pitchFamily="18" charset="0"/>
                <a:ea typeface="楷体_GB2312" pitchFamily="49" charset="-122"/>
                <a:sym typeface="Times New Roman" pitchFamily="18" charset="0"/>
              </a:rPr>
              <a:t>c</a:t>
            </a:r>
            <a:r>
              <a:rPr lang="zh-CN" altLang="en-US" sz="2400" dirty="0">
                <a:solidFill>
                  <a:srgbClr val="0070C0"/>
                </a:solidFill>
                <a:latin typeface="Times New Roman" pitchFamily="18" charset="0"/>
                <a:ea typeface="楷体_GB2312" pitchFamily="49" charset="-122"/>
                <a:sym typeface="Times New Roman" pitchFamily="18" charset="0"/>
              </a:rPr>
              <a:t>趋于</a:t>
            </a:r>
            <a:r>
              <a:rPr lang="en-US" sz="2400" dirty="0">
                <a:solidFill>
                  <a:srgbClr val="0070C0"/>
                </a:solidFill>
                <a:latin typeface="Times New Roman" pitchFamily="18" charset="0"/>
                <a:ea typeface="楷体_GB2312" pitchFamily="49" charset="-122"/>
                <a:sym typeface="Times New Roman" pitchFamily="18" charset="0"/>
              </a:rPr>
              <a:t>1</a:t>
            </a:r>
            <a:r>
              <a:rPr lang="zh-CN" altLang="en-US" sz="2400" dirty="0">
                <a:solidFill>
                  <a:srgbClr val="000000"/>
                </a:solidFill>
                <a:latin typeface="Times New Roman" pitchFamily="18" charset="0"/>
                <a:ea typeface="楷体_GB2312" pitchFamily="49" charset="-122"/>
                <a:sym typeface="Times New Roman" pitchFamily="18" charset="0"/>
              </a:rPr>
              <a:t>，且选用</a:t>
            </a:r>
            <a:r>
              <a:rPr lang="zh-CN" altLang="en-US" sz="2400" dirty="0">
                <a:solidFill>
                  <a:srgbClr val="7030A0"/>
                </a:solidFill>
                <a:latin typeface="Times New Roman" pitchFamily="18" charset="0"/>
                <a:ea typeface="楷体_GB2312" pitchFamily="49" charset="-122"/>
                <a:sym typeface="Times New Roman" pitchFamily="18" charset="0"/>
              </a:rPr>
              <a:t>铁芯磁导率</a:t>
            </a:r>
            <a:r>
              <a:rPr lang="zh-CN" altLang="en-US" sz="2400" i="1" dirty="0">
                <a:solidFill>
                  <a:srgbClr val="7030A0"/>
                </a:solidFill>
                <a:latin typeface="Times New Roman" pitchFamily="18" charset="0"/>
                <a:ea typeface="楷体_GB2312" pitchFamily="49" charset="-122"/>
                <a:sym typeface="Times New Roman" pitchFamily="18" charset="0"/>
              </a:rPr>
              <a:t>μ</a:t>
            </a:r>
            <a:r>
              <a:rPr lang="zh-CN" altLang="en-US" sz="2400" baseline="-25000" dirty="0">
                <a:solidFill>
                  <a:srgbClr val="7030A0"/>
                </a:solidFill>
                <a:latin typeface="Times New Roman" pitchFamily="18" charset="0"/>
                <a:ea typeface="楷体_GB2312" pitchFamily="49" charset="-122"/>
                <a:sym typeface="Times New Roman" pitchFamily="18" charset="0"/>
              </a:rPr>
              <a:t>r</a:t>
            </a:r>
            <a:r>
              <a:rPr lang="zh-CN" altLang="en-US" sz="2400" dirty="0">
                <a:solidFill>
                  <a:srgbClr val="7030A0"/>
                </a:solidFill>
                <a:latin typeface="Times New Roman" pitchFamily="18" charset="0"/>
                <a:ea typeface="楷体_GB2312" pitchFamily="49" charset="-122"/>
                <a:sym typeface="Times New Roman" pitchFamily="18" charset="0"/>
              </a:rPr>
              <a:t>大的材料</a:t>
            </a:r>
            <a:r>
              <a:rPr lang="zh-CN" altLang="en-US" sz="2400" dirty="0">
                <a:solidFill>
                  <a:srgbClr val="000000"/>
                </a:solidFill>
                <a:latin typeface="Times New Roman" pitchFamily="18" charset="0"/>
                <a:ea typeface="楷体_GB2312" pitchFamily="49" charset="-122"/>
                <a:sym typeface="Times New Roman" pitchFamily="18" charset="0"/>
              </a:rPr>
              <a:t>。</a:t>
            </a:r>
            <a:endParaRPr lang="zh-CN" altLang="en-US" dirty="0"/>
          </a:p>
        </p:txBody>
      </p:sp>
      <p:grpSp>
        <p:nvGrpSpPr>
          <p:cNvPr id="7" name="Group 4"/>
          <p:cNvGrpSpPr>
            <a:grpSpLocks/>
          </p:cNvGrpSpPr>
          <p:nvPr/>
        </p:nvGrpSpPr>
        <p:grpSpPr bwMode="auto">
          <a:xfrm>
            <a:off x="673418" y="244707"/>
            <a:ext cx="6850787" cy="3184293"/>
            <a:chOff x="0" y="0"/>
            <a:chExt cx="5185" cy="2142"/>
          </a:xfrm>
        </p:grpSpPr>
        <p:pic>
          <p:nvPicPr>
            <p:cNvPr id="8"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4"/>
              <a:ext cx="2484" cy="1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49" y="0"/>
              <a:ext cx="2436" cy="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a:spLocks noChangeArrowheads="1"/>
          </p:cNvSpPr>
          <p:nvPr/>
        </p:nvSpPr>
        <p:spPr bwMode="auto">
          <a:xfrm>
            <a:off x="142422" y="3039340"/>
            <a:ext cx="45735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spcBef>
                <a:spcPct val="50000"/>
              </a:spcBef>
            </a:pPr>
            <a:r>
              <a:rPr lang="zh-CN" altLang="en-US" sz="2400" b="1" dirty="0">
                <a:latin typeface="Times New Roman" pitchFamily="18" charset="0"/>
                <a:ea typeface="楷体_GB2312" pitchFamily="49" charset="-122"/>
                <a:sym typeface="Times New Roman" pitchFamily="18" charset="0"/>
              </a:rPr>
              <a:t>螺管式自感传感器的特点：</a:t>
            </a:r>
            <a:endParaRPr lang="zh-CN" altLang="en-US" sz="2400" dirty="0"/>
          </a:p>
        </p:txBody>
      </p:sp>
      <p:sp>
        <p:nvSpPr>
          <p:cNvPr id="12291" name="Text Box 3"/>
          <p:cNvSpPr>
            <a:spLocks noChangeArrowheads="1"/>
          </p:cNvSpPr>
          <p:nvPr/>
        </p:nvSpPr>
        <p:spPr bwMode="auto">
          <a:xfrm>
            <a:off x="179695" y="3501765"/>
            <a:ext cx="8235950" cy="2807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lnSpc>
                <a:spcPct val="150000"/>
              </a:lnSpc>
            </a:pPr>
            <a:r>
              <a:rPr lang="en-US" sz="2000" dirty="0">
                <a:latin typeface="楷体_GB2312" pitchFamily="49" charset="-122"/>
                <a:ea typeface="楷体_GB2312" pitchFamily="49" charset="-122"/>
                <a:sym typeface="楷体_GB2312" pitchFamily="49" charset="-122"/>
              </a:rPr>
              <a:t>    ①</a:t>
            </a:r>
            <a:r>
              <a:rPr lang="zh-CN" altLang="en-US" sz="2000" dirty="0">
                <a:latin typeface="楷体_GB2312" pitchFamily="49" charset="-122"/>
                <a:ea typeface="楷体_GB2312" pitchFamily="49" charset="-122"/>
                <a:sym typeface="楷体_GB2312" pitchFamily="49" charset="-122"/>
              </a:rPr>
              <a:t>结构简单，制造装配容易；</a:t>
            </a:r>
          </a:p>
          <a:p>
            <a:pPr algn="just" eaLnBrk="1" hangingPunct="1">
              <a:lnSpc>
                <a:spcPct val="150000"/>
              </a:lnSpc>
            </a:pPr>
            <a:r>
              <a:rPr lang="zh-CN" altLang="en-US" sz="2000" dirty="0">
                <a:latin typeface="楷体_GB2312" pitchFamily="49" charset="-122"/>
                <a:ea typeface="楷体_GB2312" pitchFamily="49" charset="-122"/>
                <a:sym typeface="楷体_GB2312" pitchFamily="49" charset="-122"/>
              </a:rPr>
              <a:t>    ②由于空气间隙大，磁路磁阻高，因此</a:t>
            </a:r>
            <a:r>
              <a:rPr lang="zh-CN" altLang="en-US" sz="2000" dirty="0">
                <a:solidFill>
                  <a:srgbClr val="1EA2EE"/>
                </a:solidFill>
                <a:latin typeface="楷体_GB2312" pitchFamily="49" charset="-122"/>
                <a:ea typeface="楷体_GB2312" pitchFamily="49" charset="-122"/>
                <a:sym typeface="楷体_GB2312" pitchFamily="49" charset="-122"/>
              </a:rPr>
              <a:t>灵敏度低，但线性范围大</a:t>
            </a:r>
            <a:r>
              <a:rPr lang="zh-CN" altLang="en-US" sz="2000" dirty="0">
                <a:latin typeface="楷体_GB2312" pitchFamily="49" charset="-122"/>
                <a:ea typeface="楷体_GB2312" pitchFamily="49" charset="-122"/>
                <a:sym typeface="楷体_GB2312" pitchFamily="49" charset="-122"/>
              </a:rPr>
              <a:t>；</a:t>
            </a:r>
          </a:p>
          <a:p>
            <a:pPr algn="just" eaLnBrk="1" hangingPunct="1">
              <a:lnSpc>
                <a:spcPct val="150000"/>
              </a:lnSpc>
            </a:pPr>
            <a:r>
              <a:rPr lang="zh-CN" altLang="en-US" sz="2000" dirty="0">
                <a:latin typeface="楷体_GB2312" pitchFamily="49" charset="-122"/>
                <a:ea typeface="楷体_GB2312" pitchFamily="49" charset="-122"/>
                <a:sym typeface="楷体_GB2312" pitchFamily="49" charset="-122"/>
              </a:rPr>
              <a:t>    ③由于磁路大部分为空气，</a:t>
            </a:r>
            <a:r>
              <a:rPr lang="zh-CN" altLang="en-US" sz="2000" dirty="0">
                <a:solidFill>
                  <a:srgbClr val="1EA2EE"/>
                </a:solidFill>
                <a:latin typeface="楷体_GB2312" pitchFamily="49" charset="-122"/>
                <a:ea typeface="楷体_GB2312" pitchFamily="49" charset="-122"/>
                <a:sym typeface="楷体_GB2312" pitchFamily="49" charset="-122"/>
              </a:rPr>
              <a:t>易受外部磁场干扰</a:t>
            </a:r>
            <a:r>
              <a:rPr lang="zh-CN" altLang="en-US" sz="2000" dirty="0">
                <a:latin typeface="楷体_GB2312" pitchFamily="49" charset="-122"/>
                <a:ea typeface="楷体_GB2312" pitchFamily="49" charset="-122"/>
                <a:sym typeface="楷体_GB2312" pitchFamily="49" charset="-122"/>
              </a:rPr>
              <a:t>；</a:t>
            </a:r>
          </a:p>
          <a:p>
            <a:pPr algn="just" eaLnBrk="1" hangingPunct="1">
              <a:lnSpc>
                <a:spcPct val="150000"/>
              </a:lnSpc>
            </a:pPr>
            <a:r>
              <a:rPr lang="zh-CN" altLang="en-US" sz="2000" dirty="0">
                <a:latin typeface="楷体_GB2312" pitchFamily="49" charset="-122"/>
                <a:ea typeface="楷体_GB2312" pitchFamily="49" charset="-122"/>
                <a:sym typeface="楷体_GB2312" pitchFamily="49" charset="-122"/>
              </a:rPr>
              <a:t>    ④由于磁阻高，为了达到某一自感量，需要的线圈匝数多，因而</a:t>
            </a:r>
            <a:r>
              <a:rPr lang="zh-CN" altLang="en-US" sz="2000" dirty="0">
                <a:solidFill>
                  <a:srgbClr val="1EA2EE"/>
                </a:solidFill>
                <a:latin typeface="楷体_GB2312" pitchFamily="49" charset="-122"/>
                <a:ea typeface="楷体_GB2312" pitchFamily="49" charset="-122"/>
                <a:sym typeface="楷体_GB2312" pitchFamily="49" charset="-122"/>
              </a:rPr>
              <a:t>线圈分布电容大</a:t>
            </a:r>
            <a:r>
              <a:rPr lang="zh-CN" altLang="en-US" sz="2000" dirty="0">
                <a:latin typeface="楷体_GB2312" pitchFamily="49" charset="-122"/>
                <a:ea typeface="楷体_GB2312" pitchFamily="49" charset="-122"/>
                <a:sym typeface="楷体_GB2312" pitchFamily="49" charset="-122"/>
              </a:rPr>
              <a:t>；</a:t>
            </a:r>
          </a:p>
          <a:p>
            <a:pPr algn="just" eaLnBrk="1" hangingPunct="1">
              <a:lnSpc>
                <a:spcPct val="150000"/>
              </a:lnSpc>
            </a:pPr>
            <a:r>
              <a:rPr lang="zh-CN" altLang="en-US" sz="2000" dirty="0">
                <a:latin typeface="楷体_GB2312" pitchFamily="49" charset="-122"/>
                <a:ea typeface="楷体_GB2312" pitchFamily="49" charset="-122"/>
                <a:sym typeface="楷体_GB2312" pitchFamily="49" charset="-122"/>
              </a:rPr>
              <a:t>  ⑤要求线圈框架尺寸和形状必须稳定，否则影响线性和稳定性。 </a:t>
            </a:r>
            <a:endParaRPr lang="zh-CN" altLang="en-US" sz="2000" dirty="0"/>
          </a:p>
        </p:txBody>
      </p:sp>
      <p:pic>
        <p:nvPicPr>
          <p:cNvPr id="6"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695" y="1324886"/>
            <a:ext cx="3672255" cy="1506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191B30B7-73C6-4DB7-A798-5AA1C43DE7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3509" y="1042261"/>
            <a:ext cx="3966450" cy="233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4">
            <a:extLst>
              <a:ext uri="{FF2B5EF4-FFF2-40B4-BE49-F238E27FC236}">
                <a16:creationId xmlns:a16="http://schemas.microsoft.com/office/drawing/2014/main" id="{E20CBEAB-C2E1-4ACA-80BE-1047B34C55C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 name="TextBox 5">
            <a:extLst>
              <a:ext uri="{FF2B5EF4-FFF2-40B4-BE49-F238E27FC236}">
                <a16:creationId xmlns:a16="http://schemas.microsoft.com/office/drawing/2014/main" id="{CB23FC6D-7AC4-4359-A9F7-D7065EBAA4B1}"/>
              </a:ext>
            </a:extLst>
          </p:cNvPr>
          <p:cNvSpPr>
            <a:spLocks noChangeArrowheads="1"/>
          </p:cNvSpPr>
          <p:nvPr/>
        </p:nvSpPr>
        <p:spPr bwMode="auto">
          <a:xfrm>
            <a:off x="179695" y="265623"/>
            <a:ext cx="58737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3200" b="1" dirty="0">
                <a:solidFill>
                  <a:srgbClr val="C00000"/>
                </a:solidFill>
                <a:latin typeface="Calibri" pitchFamily="34" charset="0"/>
              </a:rPr>
              <a:t>1. </a:t>
            </a:r>
            <a:r>
              <a:rPr lang="zh-CN" altLang="en-US" sz="3200" b="1" dirty="0">
                <a:solidFill>
                  <a:srgbClr val="C00000"/>
                </a:solidFill>
                <a:latin typeface="Calibri" pitchFamily="34" charset="0"/>
              </a:rPr>
              <a:t>螺管式电感传感器：特点</a:t>
            </a:r>
            <a:endParaRPr lang="zh-CN" altLang="en-US" sz="3200" b="1" dirty="0">
              <a:solidFill>
                <a:schemeClr val="tx2"/>
              </a:solidFill>
              <a:latin typeface="Calibri" pitchFamily="3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331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1. 3 </a:t>
            </a:r>
            <a:r>
              <a:rPr lang="zh-CN" altLang="en-US" sz="3200" b="1" dirty="0">
                <a:solidFill>
                  <a:schemeClr val="tx2"/>
                </a:solidFill>
                <a:latin typeface="Calibri" pitchFamily="34" charset="0"/>
              </a:rPr>
              <a:t>电感线圈的等效电路</a:t>
            </a:r>
            <a:endParaRPr lang="zh-CN" altLang="en-US" dirty="0"/>
          </a:p>
        </p:txBody>
      </p:sp>
      <p:sp>
        <p:nvSpPr>
          <p:cNvPr id="13316" name="Text Box 3"/>
          <p:cNvSpPr>
            <a:spLocks noChangeArrowheads="1"/>
          </p:cNvSpPr>
          <p:nvPr/>
        </p:nvSpPr>
        <p:spPr bwMode="auto">
          <a:xfrm>
            <a:off x="250825" y="1285875"/>
            <a:ext cx="8235950" cy="2145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ea typeface="楷体_GB2312" pitchFamily="49" charset="-122"/>
                <a:sym typeface="Arial" pitchFamily="34" charset="0"/>
              </a:rPr>
              <a:t>上述推导假设电感线圈为一理想纯电感，但实际的传感器中，线圈不可能是纯电感；</a:t>
            </a:r>
            <a:endParaRPr lang="en-US" altLang="zh-CN" sz="2400" dirty="0">
              <a:ea typeface="楷体_GB2312" pitchFamily="49" charset="-122"/>
              <a:sym typeface="Arial" pitchFamily="34" charset="0"/>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线圈的</a:t>
            </a:r>
            <a:r>
              <a:rPr lang="zh-CN" altLang="en-US" sz="2400" dirty="0">
                <a:solidFill>
                  <a:srgbClr val="0000FF"/>
                </a:solidFill>
                <a:ea typeface="楷体_GB2312" pitchFamily="49" charset="-122"/>
                <a:sym typeface="Arial" pitchFamily="34" charset="0"/>
              </a:rPr>
              <a:t>铜损电阻（</a:t>
            </a:r>
            <a:r>
              <a:rPr lang="en-US" sz="2400" i="1" dirty="0" err="1">
                <a:solidFill>
                  <a:srgbClr val="FF0000"/>
                </a:solidFill>
                <a:latin typeface="Times New Roman" pitchFamily="18" charset="0"/>
                <a:ea typeface="楷体_GB2312" pitchFamily="49" charset="-122"/>
                <a:sym typeface="Times New Roman" pitchFamily="18" charset="0"/>
              </a:rPr>
              <a:t>R</a:t>
            </a:r>
            <a:r>
              <a:rPr lang="en-US" sz="2400" dirty="0" err="1">
                <a:solidFill>
                  <a:srgbClr val="FF0000"/>
                </a:solidFill>
                <a:latin typeface="Times New Roman" pitchFamily="18" charset="0"/>
                <a:ea typeface="楷体_GB2312" pitchFamily="49" charset="-122"/>
                <a:sym typeface="Times New Roman" pitchFamily="18" charset="0"/>
              </a:rPr>
              <a:t>c</a:t>
            </a:r>
            <a:r>
              <a:rPr lang="zh-CN" altLang="en-US" sz="2400" dirty="0">
                <a:solidFill>
                  <a:srgbClr val="0000FF"/>
                </a:solidFill>
                <a:ea typeface="楷体_GB2312" pitchFamily="49" charset="-122"/>
                <a:sym typeface="Arial" pitchFamily="34" charset="0"/>
              </a:rPr>
              <a:t>）</a:t>
            </a:r>
            <a:r>
              <a:rPr lang="zh-CN" altLang="en-US" sz="2400" dirty="0">
                <a:ea typeface="楷体_GB2312" pitchFamily="49" charset="-122"/>
                <a:sym typeface="Arial" pitchFamily="34" charset="0"/>
              </a:rPr>
              <a:t>、铁芯的</a:t>
            </a:r>
            <a:r>
              <a:rPr lang="zh-CN" altLang="en-US" sz="2400" dirty="0">
                <a:solidFill>
                  <a:srgbClr val="0000FF"/>
                </a:solidFill>
                <a:ea typeface="楷体_GB2312" pitchFamily="49" charset="-122"/>
                <a:sym typeface="Arial" pitchFamily="34" charset="0"/>
              </a:rPr>
              <a:t>涡流损耗电阻（</a:t>
            </a:r>
            <a:r>
              <a:rPr lang="en-US" sz="2400" i="1" dirty="0">
                <a:solidFill>
                  <a:srgbClr val="FF0000"/>
                </a:solidFill>
                <a:latin typeface="Times New Roman" pitchFamily="18" charset="0"/>
                <a:ea typeface="楷体_GB2312" pitchFamily="49" charset="-122"/>
                <a:sym typeface="Times New Roman" pitchFamily="18" charset="0"/>
              </a:rPr>
              <a:t>R</a:t>
            </a:r>
            <a:r>
              <a:rPr lang="en-US" sz="2400" dirty="0">
                <a:solidFill>
                  <a:srgbClr val="FF0000"/>
                </a:solidFill>
                <a:latin typeface="Times New Roman" pitchFamily="18" charset="0"/>
                <a:ea typeface="楷体_GB2312" pitchFamily="49" charset="-122"/>
                <a:sym typeface="Times New Roman" pitchFamily="18" charset="0"/>
              </a:rPr>
              <a:t>e</a:t>
            </a:r>
            <a:r>
              <a:rPr lang="zh-CN" altLang="en-US" sz="2400" dirty="0">
                <a:solidFill>
                  <a:srgbClr val="0000FF"/>
                </a:solidFill>
                <a:ea typeface="楷体_GB2312" pitchFamily="49" charset="-122"/>
                <a:sym typeface="Arial" pitchFamily="34" charset="0"/>
              </a:rPr>
              <a:t>）</a:t>
            </a:r>
            <a:r>
              <a:rPr lang="zh-CN" altLang="en-US" sz="2400" dirty="0">
                <a:ea typeface="楷体_GB2312" pitchFamily="49" charset="-122"/>
                <a:sym typeface="Arial" pitchFamily="34" charset="0"/>
              </a:rPr>
              <a:t>和线圈的</a:t>
            </a:r>
            <a:r>
              <a:rPr lang="zh-CN" altLang="en-US" sz="2400" dirty="0">
                <a:solidFill>
                  <a:srgbClr val="0000FF"/>
                </a:solidFill>
                <a:ea typeface="楷体_GB2312" pitchFamily="49" charset="-122"/>
                <a:sym typeface="Arial" pitchFamily="34" charset="0"/>
              </a:rPr>
              <a:t>寄生电容（</a:t>
            </a:r>
            <a:r>
              <a:rPr lang="en-US" sz="2400" i="1" dirty="0">
                <a:solidFill>
                  <a:srgbClr val="FF0000"/>
                </a:solidFill>
                <a:latin typeface="Times New Roman" pitchFamily="18" charset="0"/>
                <a:ea typeface="楷体_GB2312" pitchFamily="49" charset="-122"/>
                <a:sym typeface="Times New Roman" pitchFamily="18" charset="0"/>
              </a:rPr>
              <a:t>C</a:t>
            </a:r>
            <a:r>
              <a:rPr lang="zh-CN" altLang="en-US" sz="2400" dirty="0">
                <a:solidFill>
                  <a:srgbClr val="0000FF"/>
                </a:solidFill>
                <a:ea typeface="楷体_GB2312" pitchFamily="49" charset="-122"/>
                <a:sym typeface="Arial" pitchFamily="34" charset="0"/>
              </a:rPr>
              <a:t>）</a:t>
            </a:r>
            <a:r>
              <a:rPr lang="zh-CN" altLang="en-US" sz="2400" dirty="0">
                <a:ea typeface="楷体_GB2312" pitchFamily="49" charset="-122"/>
                <a:sym typeface="Arial" pitchFamily="34" charset="0"/>
              </a:rPr>
              <a:t>。</a:t>
            </a:r>
            <a:endParaRPr lang="zh-CN" altLang="en-US" dirty="0"/>
          </a:p>
        </p:txBody>
      </p:sp>
      <p:grpSp>
        <p:nvGrpSpPr>
          <p:cNvPr id="13317" name="Group 4"/>
          <p:cNvGrpSpPr>
            <a:grpSpLocks/>
          </p:cNvGrpSpPr>
          <p:nvPr/>
        </p:nvGrpSpPr>
        <p:grpSpPr bwMode="auto">
          <a:xfrm>
            <a:off x="3950972" y="3302475"/>
            <a:ext cx="4005263" cy="3006725"/>
            <a:chOff x="0" y="0"/>
            <a:chExt cx="2523" cy="1894"/>
          </a:xfrm>
        </p:grpSpPr>
        <p:pic>
          <p:nvPicPr>
            <p:cNvPr id="13318"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0" y="0"/>
              <a:ext cx="1572" cy="1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Text Box 6"/>
            <p:cNvSpPr>
              <a:spLocks noChangeArrowheads="1"/>
            </p:cNvSpPr>
            <p:nvPr/>
          </p:nvSpPr>
          <p:spPr bwMode="auto">
            <a:xfrm>
              <a:off x="0" y="1644"/>
              <a:ext cx="25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latin typeface="楷体_GB2312" pitchFamily="49" charset="-122"/>
                  <a:ea typeface="楷体_GB2312" pitchFamily="49" charset="-122"/>
                  <a:sym typeface="楷体_GB2312" pitchFamily="49" charset="-122"/>
                </a:rPr>
                <a:t>图</a:t>
              </a:r>
              <a:r>
                <a:rPr lang="en-US" sz="2000">
                  <a:latin typeface="楷体_GB2312" pitchFamily="49" charset="-122"/>
                  <a:ea typeface="楷体_GB2312" pitchFamily="49" charset="-122"/>
                  <a:sym typeface="楷体_GB2312" pitchFamily="49" charset="-122"/>
                </a:rPr>
                <a:t>4-10 </a:t>
              </a:r>
              <a:r>
                <a:rPr lang="zh-CN" altLang="en-US" sz="2000">
                  <a:latin typeface="楷体_GB2312" pitchFamily="49" charset="-122"/>
                  <a:ea typeface="楷体_GB2312" pitchFamily="49" charset="-122"/>
                  <a:sym typeface="楷体_GB2312" pitchFamily="49" charset="-122"/>
                </a:rPr>
                <a:t>电感传感器等效电路图</a:t>
              </a:r>
              <a:endParaRPr lang="zh-CN" altLang="en-US"/>
            </a:p>
          </p:txBody>
        </p:sp>
      </p:grpSp>
      <p:sp>
        <p:nvSpPr>
          <p:cNvPr id="2" name="矩形 1">
            <a:extLst>
              <a:ext uri="{FF2B5EF4-FFF2-40B4-BE49-F238E27FC236}">
                <a16:creationId xmlns:a16="http://schemas.microsoft.com/office/drawing/2014/main" id="{B9D7B266-D70D-4494-B664-D8277B48E024}"/>
              </a:ext>
            </a:extLst>
          </p:cNvPr>
          <p:cNvSpPr/>
          <p:nvPr/>
        </p:nvSpPr>
        <p:spPr>
          <a:xfrm>
            <a:off x="539720" y="3874779"/>
            <a:ext cx="4145687" cy="1884106"/>
          </a:xfrm>
          <a:prstGeom prst="rect">
            <a:avLst/>
          </a:prstGeom>
        </p:spPr>
        <p:txBody>
          <a:bodyPr wrap="none">
            <a:spAutoFit/>
          </a:bodyPr>
          <a:lstStyle/>
          <a:p>
            <a:pPr>
              <a:lnSpc>
                <a:spcPct val="150000"/>
              </a:lnSpc>
            </a:pPr>
            <a:r>
              <a:rPr lang="en-US" altLang="zh-CN" sz="2000" dirty="0">
                <a:solidFill>
                  <a:srgbClr val="0000FF"/>
                </a:solidFill>
                <a:ea typeface="楷体_GB2312" pitchFamily="49" charset="-122"/>
                <a:sym typeface="Arial" pitchFamily="34" charset="0"/>
              </a:rPr>
              <a:t>*</a:t>
            </a:r>
            <a:r>
              <a:rPr lang="zh-CN" altLang="en-US" sz="2000" dirty="0">
                <a:solidFill>
                  <a:srgbClr val="0000FF"/>
                </a:solidFill>
                <a:ea typeface="楷体_GB2312" pitchFamily="49" charset="-122"/>
                <a:sym typeface="Arial" pitchFamily="34" charset="0"/>
              </a:rPr>
              <a:t>铜损电阻（</a:t>
            </a:r>
            <a:r>
              <a:rPr lang="en-US" altLang="zh-CN" sz="2000" i="1" dirty="0" err="1">
                <a:solidFill>
                  <a:srgbClr val="FF0000"/>
                </a:solidFill>
                <a:latin typeface="Times New Roman" pitchFamily="18" charset="0"/>
                <a:ea typeface="楷体_GB2312" pitchFamily="49" charset="-122"/>
                <a:sym typeface="Times New Roman" pitchFamily="18" charset="0"/>
              </a:rPr>
              <a:t>R</a:t>
            </a:r>
            <a:r>
              <a:rPr lang="en-US" altLang="zh-CN" sz="2000" dirty="0" err="1">
                <a:solidFill>
                  <a:srgbClr val="FF0000"/>
                </a:solidFill>
                <a:latin typeface="Times New Roman" pitchFamily="18" charset="0"/>
                <a:ea typeface="楷体_GB2312" pitchFamily="49" charset="-122"/>
                <a:sym typeface="Times New Roman" pitchFamily="18" charset="0"/>
              </a:rPr>
              <a:t>c</a:t>
            </a:r>
            <a:r>
              <a:rPr lang="zh-CN" altLang="en-US" sz="2000" dirty="0">
                <a:solidFill>
                  <a:srgbClr val="0000FF"/>
                </a:solidFill>
                <a:ea typeface="楷体_GB2312" pitchFamily="49" charset="-122"/>
                <a:sym typeface="Arial" pitchFamily="34" charset="0"/>
              </a:rPr>
              <a:t>）与线圈有关；</a:t>
            </a:r>
            <a:endParaRPr lang="en-US" altLang="zh-CN" sz="2000" dirty="0">
              <a:solidFill>
                <a:srgbClr val="0000FF"/>
              </a:solidFill>
              <a:ea typeface="楷体_GB2312" pitchFamily="49" charset="-122"/>
              <a:sym typeface="Arial" pitchFamily="34" charset="0"/>
            </a:endParaRPr>
          </a:p>
          <a:p>
            <a:pPr>
              <a:lnSpc>
                <a:spcPct val="150000"/>
              </a:lnSpc>
            </a:pPr>
            <a:r>
              <a:rPr lang="en-US" altLang="zh-CN" sz="2000" dirty="0">
                <a:solidFill>
                  <a:srgbClr val="0000FF"/>
                </a:solidFill>
                <a:ea typeface="楷体_GB2312" pitchFamily="49" charset="-122"/>
                <a:sym typeface="Arial" pitchFamily="34" charset="0"/>
              </a:rPr>
              <a:t>*</a:t>
            </a:r>
            <a:r>
              <a:rPr lang="zh-CN" altLang="en-US" sz="2000" dirty="0">
                <a:solidFill>
                  <a:srgbClr val="0000FF"/>
                </a:solidFill>
                <a:ea typeface="楷体_GB2312" pitchFamily="49" charset="-122"/>
                <a:sym typeface="Arial" pitchFamily="34" charset="0"/>
              </a:rPr>
              <a:t>涡流损耗电阻（</a:t>
            </a:r>
            <a:r>
              <a:rPr lang="en-US" altLang="zh-CN" sz="2000" i="1" dirty="0">
                <a:solidFill>
                  <a:srgbClr val="FF0000"/>
                </a:solidFill>
                <a:latin typeface="Times New Roman" pitchFamily="18" charset="0"/>
                <a:ea typeface="楷体_GB2312" pitchFamily="49" charset="-122"/>
                <a:sym typeface="Times New Roman" pitchFamily="18" charset="0"/>
              </a:rPr>
              <a:t>Re</a:t>
            </a:r>
            <a:r>
              <a:rPr lang="zh-CN" altLang="en-US" sz="2000" dirty="0">
                <a:solidFill>
                  <a:srgbClr val="0000FF"/>
                </a:solidFill>
                <a:ea typeface="楷体_GB2312" pitchFamily="49" charset="-122"/>
                <a:sym typeface="Arial" pitchFamily="34" charset="0"/>
              </a:rPr>
              <a:t>）与铁芯有关；</a:t>
            </a:r>
            <a:endParaRPr lang="en-US" altLang="zh-CN" sz="2000" dirty="0">
              <a:solidFill>
                <a:srgbClr val="0000FF"/>
              </a:solidFill>
              <a:ea typeface="楷体_GB2312" pitchFamily="49" charset="-122"/>
              <a:sym typeface="Arial" pitchFamily="34" charset="0"/>
            </a:endParaRPr>
          </a:p>
          <a:p>
            <a:pPr>
              <a:lnSpc>
                <a:spcPct val="150000"/>
              </a:lnSpc>
            </a:pPr>
            <a:r>
              <a:rPr lang="en-US" altLang="zh-CN" sz="2000" dirty="0">
                <a:solidFill>
                  <a:srgbClr val="0000FF"/>
                </a:solidFill>
                <a:ea typeface="楷体_GB2312" pitchFamily="49" charset="-122"/>
              </a:rPr>
              <a:t>*</a:t>
            </a:r>
            <a:r>
              <a:rPr lang="zh-CN" altLang="en-US" sz="2000" dirty="0">
                <a:solidFill>
                  <a:srgbClr val="0000FF"/>
                </a:solidFill>
                <a:ea typeface="楷体_GB2312" pitchFamily="49" charset="-122"/>
              </a:rPr>
              <a:t>寄生电容则与线圈固有电容和导线</a:t>
            </a:r>
            <a:endParaRPr lang="en-US" altLang="zh-CN" sz="2000" dirty="0">
              <a:solidFill>
                <a:srgbClr val="0000FF"/>
              </a:solidFill>
              <a:ea typeface="楷体_GB2312" pitchFamily="49" charset="-122"/>
            </a:endParaRPr>
          </a:p>
          <a:p>
            <a:pPr>
              <a:lnSpc>
                <a:spcPct val="150000"/>
              </a:lnSpc>
            </a:pPr>
            <a:r>
              <a:rPr lang="en-US" altLang="zh-CN" sz="2000" dirty="0">
                <a:solidFill>
                  <a:srgbClr val="0000FF"/>
                </a:solidFill>
                <a:ea typeface="楷体_GB2312" pitchFamily="49" charset="-122"/>
              </a:rPr>
              <a:t>     </a:t>
            </a:r>
            <a:r>
              <a:rPr lang="zh-CN" altLang="en-US" sz="2000" dirty="0">
                <a:solidFill>
                  <a:srgbClr val="0000FF"/>
                </a:solidFill>
                <a:ea typeface="楷体_GB2312" pitchFamily="49" charset="-122"/>
              </a:rPr>
              <a:t>分布电容有关</a:t>
            </a:r>
          </a:p>
        </p:txBody>
      </p:sp>
      <p:pic>
        <p:nvPicPr>
          <p:cNvPr id="9" name="图片 8">
            <a:extLst>
              <a:ext uri="{FF2B5EF4-FFF2-40B4-BE49-F238E27FC236}">
                <a16:creationId xmlns:a16="http://schemas.microsoft.com/office/drawing/2014/main" id="{43974314-F797-4E79-8DBD-15911EBA1E68}"/>
              </a:ext>
            </a:extLst>
          </p:cNvPr>
          <p:cNvPicPr>
            <a:picLocks noChangeAspect="1"/>
          </p:cNvPicPr>
          <p:nvPr/>
        </p:nvPicPr>
        <p:blipFill>
          <a:blip r:embed="rId3"/>
          <a:stretch>
            <a:fillRect/>
          </a:stretch>
        </p:blipFill>
        <p:spPr>
          <a:xfrm>
            <a:off x="7016723" y="3671495"/>
            <a:ext cx="1879024" cy="1628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p:cBhvr>
                                        <p:cTn id="7" dur="500"/>
                                        <p:tgtEl>
                                          <p:spTgt spid="13316"/>
                                        </p:tgtEl>
                                      </p:cBhvr>
                                    </p:animEffect>
                                  </p:childTnLst>
                                </p:cTn>
                              </p:par>
                              <p:par>
                                <p:cTn id="8" presetID="5" presetClass="entr" presetSubtype="10" fill="hold" nodeType="withEffect">
                                  <p:stCondLst>
                                    <p:cond delay="0"/>
                                  </p:stCondLst>
                                  <p:childTnLst>
                                    <p:set>
                                      <p:cBhvr>
                                        <p:cTn id="9" dur="1" fill="hold">
                                          <p:stCondLst>
                                            <p:cond delay="0"/>
                                          </p:stCondLst>
                                        </p:cTn>
                                        <p:tgtEl>
                                          <p:spTgt spid="13317"/>
                                        </p:tgtEl>
                                        <p:attrNameLst>
                                          <p:attrName>style.visibility</p:attrName>
                                        </p:attrNameLst>
                                      </p:cBhvr>
                                      <p:to>
                                        <p:strVal val="visible"/>
                                      </p:to>
                                    </p:set>
                                    <p:animEffect>
                                      <p:cBhvr>
                                        <p:cTn id="10" dur="500"/>
                                        <p:tgtEl>
                                          <p:spTgt spid="13317"/>
                                        </p:tgtEl>
                                      </p:cBhvr>
                                    </p:animEffect>
                                  </p:childTnLst>
                                </p:cTn>
                              </p:par>
                              <p:par>
                                <p:cTn id="11" presetID="2" presetClass="entr" presetSubtype="4"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bldLvl="0" autoUpdateAnimBg="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DF5D5A11-FBE0-4078-BD15-27B8A196A295}" type="slidenum">
              <a:rPr lang="zh-CN" altLang="en-US"/>
              <a:pPr/>
              <a:t>14</a:t>
            </a:fld>
            <a:endParaRPr lang="zh-CN" altLang="en-US" sz="1800">
              <a:solidFill>
                <a:schemeClr val="tx1"/>
              </a:solidFill>
              <a:latin typeface="Arial" pitchFamily="34" charset="0"/>
            </a:endParaRPr>
          </a:p>
        </p:txBody>
      </p:sp>
      <p:sp>
        <p:nvSpPr>
          <p:cNvPr id="14338" name="Rectangle 2"/>
          <p:cNvSpPr>
            <a:spLocks noChangeArrowheads="1"/>
          </p:cNvSpPr>
          <p:nvPr/>
        </p:nvSpPr>
        <p:spPr bwMode="auto">
          <a:xfrm>
            <a:off x="539720" y="1781728"/>
            <a:ext cx="18774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400" dirty="0">
                <a:solidFill>
                  <a:srgbClr val="000000"/>
                </a:solidFill>
                <a:latin typeface="楷体_GB2312" pitchFamily="49" charset="-122"/>
                <a:ea typeface="楷体_GB2312" pitchFamily="49" charset="-122"/>
                <a:sym typeface="楷体_GB2312" pitchFamily="49" charset="-122"/>
              </a:rPr>
              <a:t>1</a:t>
            </a:r>
            <a:r>
              <a:rPr lang="zh-CN" altLang="en-US" sz="2400" dirty="0">
                <a:solidFill>
                  <a:srgbClr val="000000"/>
                </a:solidFill>
                <a:latin typeface="楷体_GB2312" pitchFamily="49" charset="-122"/>
                <a:ea typeface="楷体_GB2312" pitchFamily="49" charset="-122"/>
                <a:sym typeface="楷体_GB2312" pitchFamily="49" charset="-122"/>
              </a:rPr>
              <a:t>）铜损电阻</a:t>
            </a:r>
            <a:endParaRPr lang="zh-CN" altLang="en-US" dirty="0"/>
          </a:p>
        </p:txBody>
      </p:sp>
      <p:sp>
        <p:nvSpPr>
          <p:cNvPr id="14339" name="Rectangle 3"/>
          <p:cNvSpPr>
            <a:spLocks noChangeArrowheads="1"/>
          </p:cNvSpPr>
          <p:nvPr/>
        </p:nvSpPr>
        <p:spPr bwMode="auto">
          <a:xfrm>
            <a:off x="539720" y="3204128"/>
            <a:ext cx="25843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400" dirty="0">
                <a:solidFill>
                  <a:srgbClr val="000000"/>
                </a:solidFill>
                <a:latin typeface="楷体_GB2312" pitchFamily="49" charset="-122"/>
                <a:ea typeface="楷体_GB2312" pitchFamily="49" charset="-122"/>
                <a:sym typeface="楷体_GB2312" pitchFamily="49" charset="-122"/>
              </a:rPr>
              <a:t>2</a:t>
            </a:r>
            <a:r>
              <a:rPr lang="zh-CN" altLang="en-US" sz="2400" dirty="0">
                <a:solidFill>
                  <a:srgbClr val="000000"/>
                </a:solidFill>
                <a:latin typeface="楷体_GB2312" pitchFamily="49" charset="-122"/>
                <a:ea typeface="楷体_GB2312" pitchFamily="49" charset="-122"/>
                <a:sym typeface="楷体_GB2312" pitchFamily="49" charset="-122"/>
              </a:rPr>
              <a:t>）涡流损耗电阻</a:t>
            </a:r>
            <a:endParaRPr lang="zh-CN" altLang="en-US" dirty="0"/>
          </a:p>
        </p:txBody>
      </p:sp>
      <p:sp>
        <p:nvSpPr>
          <p:cNvPr id="14340" name="Rectangle 4"/>
          <p:cNvSpPr>
            <a:spLocks noChangeArrowheads="1"/>
          </p:cNvSpPr>
          <p:nvPr/>
        </p:nvSpPr>
        <p:spPr bwMode="auto">
          <a:xfrm>
            <a:off x="682961" y="4923380"/>
            <a:ext cx="247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400" dirty="0">
                <a:solidFill>
                  <a:srgbClr val="000000"/>
                </a:solidFill>
                <a:latin typeface="楷体_GB2312" pitchFamily="49" charset="-122"/>
                <a:ea typeface="楷体_GB2312" pitchFamily="49" charset="-122"/>
                <a:sym typeface="楷体_GB2312" pitchFamily="49" charset="-122"/>
              </a:rPr>
              <a:t>3</a:t>
            </a:r>
            <a:r>
              <a:rPr lang="zh-CN" altLang="en-US" sz="2400" dirty="0">
                <a:solidFill>
                  <a:srgbClr val="000000"/>
                </a:solidFill>
                <a:latin typeface="楷体_GB2312" pitchFamily="49" charset="-122"/>
                <a:ea typeface="楷体_GB2312" pitchFamily="49" charset="-122"/>
                <a:sym typeface="楷体_GB2312" pitchFamily="49" charset="-122"/>
              </a:rPr>
              <a:t>）并联寄生电容</a:t>
            </a:r>
            <a:endParaRPr lang="zh-CN" altLang="en-US" sz="2400" i="1" dirty="0">
              <a:solidFill>
                <a:srgbClr val="000000"/>
              </a:solidFill>
              <a:latin typeface="Times New Roman" pitchFamily="18" charset="0"/>
              <a:ea typeface="楷体_GB2312" pitchFamily="49" charset="-122"/>
              <a:sym typeface="Times New Roman" pitchFamily="18" charset="0"/>
            </a:endParaRPr>
          </a:p>
        </p:txBody>
      </p:sp>
      <p:pic>
        <p:nvPicPr>
          <p:cNvPr id="14341" name="Object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6025" y="2006898"/>
            <a:ext cx="180022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Object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0097" y="3865889"/>
            <a:ext cx="24288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Text Box 7"/>
          <p:cNvSpPr>
            <a:spLocks noChangeArrowheads="1"/>
          </p:cNvSpPr>
          <p:nvPr/>
        </p:nvSpPr>
        <p:spPr bwMode="auto">
          <a:xfrm>
            <a:off x="1353854" y="5561250"/>
            <a:ext cx="6730148" cy="52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30000"/>
              </a:lnSpc>
            </a:pPr>
            <a:r>
              <a:rPr lang="zh-CN" altLang="en-US" sz="2400" dirty="0">
                <a:ea typeface="楷体_GB2312" pitchFamily="49" charset="-122"/>
                <a:sym typeface="Arial" pitchFamily="34" charset="0"/>
              </a:rPr>
              <a:t>主要由线圈的固有电容及电缆分布电容组成。</a:t>
            </a:r>
            <a:endParaRPr lang="zh-CN" altLang="en-US" sz="2400" dirty="0"/>
          </a:p>
        </p:txBody>
      </p:sp>
      <p:grpSp>
        <p:nvGrpSpPr>
          <p:cNvPr id="9" name="Group 4"/>
          <p:cNvGrpSpPr>
            <a:grpSpLocks/>
          </p:cNvGrpSpPr>
          <p:nvPr/>
        </p:nvGrpSpPr>
        <p:grpSpPr bwMode="auto">
          <a:xfrm>
            <a:off x="3979690" y="2010780"/>
            <a:ext cx="4005263" cy="3006725"/>
            <a:chOff x="0" y="0"/>
            <a:chExt cx="2523" cy="1894"/>
          </a:xfrm>
        </p:grpSpPr>
        <p:pic>
          <p:nvPicPr>
            <p:cNvPr id="10"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0" y="0"/>
              <a:ext cx="1572" cy="1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6"/>
            <p:cNvSpPr>
              <a:spLocks noChangeArrowheads="1"/>
            </p:cNvSpPr>
            <p:nvPr/>
          </p:nvSpPr>
          <p:spPr bwMode="auto">
            <a:xfrm>
              <a:off x="0" y="1644"/>
              <a:ext cx="25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latin typeface="楷体_GB2312" pitchFamily="49" charset="-122"/>
                  <a:ea typeface="楷体_GB2312" pitchFamily="49" charset="-122"/>
                  <a:sym typeface="楷体_GB2312" pitchFamily="49" charset="-122"/>
                </a:rPr>
                <a:t>图</a:t>
              </a:r>
              <a:r>
                <a:rPr lang="en-US" sz="2000" dirty="0">
                  <a:latin typeface="楷体_GB2312" pitchFamily="49" charset="-122"/>
                  <a:ea typeface="楷体_GB2312" pitchFamily="49" charset="-122"/>
                  <a:sym typeface="楷体_GB2312" pitchFamily="49" charset="-122"/>
                </a:rPr>
                <a:t>4-10 </a:t>
              </a:r>
              <a:r>
                <a:rPr lang="zh-CN" altLang="en-US" sz="2000" dirty="0">
                  <a:latin typeface="楷体_GB2312" pitchFamily="49" charset="-122"/>
                  <a:ea typeface="楷体_GB2312" pitchFamily="49" charset="-122"/>
                  <a:sym typeface="楷体_GB2312" pitchFamily="49" charset="-122"/>
                </a:rPr>
                <a:t>电感传感器等效电路图</a:t>
              </a:r>
              <a:endParaRPr lang="zh-CN" altLang="en-US" dirty="0"/>
            </a:p>
          </p:txBody>
        </p:sp>
      </p:grpSp>
      <p:sp>
        <p:nvSpPr>
          <p:cNvPr id="12" name="矩形 4">
            <a:extLst>
              <a:ext uri="{FF2B5EF4-FFF2-40B4-BE49-F238E27FC236}">
                <a16:creationId xmlns:a16="http://schemas.microsoft.com/office/drawing/2014/main" id="{3A0CE2CB-8B57-4E8E-A208-F019640AF3E6}"/>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3" name="TextBox 5">
            <a:extLst>
              <a:ext uri="{FF2B5EF4-FFF2-40B4-BE49-F238E27FC236}">
                <a16:creationId xmlns:a16="http://schemas.microsoft.com/office/drawing/2014/main" id="{19C53619-D9E4-44A5-810B-2E0EB05EFD4A}"/>
              </a:ext>
            </a:extLst>
          </p:cNvPr>
          <p:cNvSpPr>
            <a:spLocks noChangeArrowheads="1"/>
          </p:cNvSpPr>
          <p:nvPr/>
        </p:nvSpPr>
        <p:spPr bwMode="auto">
          <a:xfrm>
            <a:off x="552332" y="269911"/>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1. 3 </a:t>
            </a:r>
            <a:r>
              <a:rPr lang="zh-CN" altLang="en-US" sz="3200" b="1" dirty="0">
                <a:solidFill>
                  <a:schemeClr val="tx2"/>
                </a:solidFill>
                <a:latin typeface="Calibri" pitchFamily="34" charset="0"/>
              </a:rPr>
              <a:t>电感线圈的等效电路</a:t>
            </a:r>
            <a:endParaRPr lang="zh-CN" altLang="en-US" dirty="0"/>
          </a:p>
        </p:txBody>
      </p:sp>
      <p:pic>
        <p:nvPicPr>
          <p:cNvPr id="14" name="图片 13">
            <a:extLst>
              <a:ext uri="{FF2B5EF4-FFF2-40B4-BE49-F238E27FC236}">
                <a16:creationId xmlns:a16="http://schemas.microsoft.com/office/drawing/2014/main" id="{98CFC005-120C-486A-BBD6-C223270A4E66}"/>
              </a:ext>
            </a:extLst>
          </p:cNvPr>
          <p:cNvPicPr>
            <a:picLocks noChangeAspect="1"/>
          </p:cNvPicPr>
          <p:nvPr/>
        </p:nvPicPr>
        <p:blipFill>
          <a:blip r:embed="rId5"/>
          <a:stretch>
            <a:fillRect/>
          </a:stretch>
        </p:blipFill>
        <p:spPr>
          <a:xfrm>
            <a:off x="6994520" y="1179358"/>
            <a:ext cx="1879024" cy="162887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p:cBhvr>
                                        <p:cTn id="7" dur="500"/>
                                        <p:tgtEl>
                                          <p:spTgt spid="9"/>
                                        </p:tgtEl>
                                      </p:cBhvr>
                                    </p:animEffect>
                                  </p:childTnLst>
                                </p:cTn>
                              </p:par>
                              <p:par>
                                <p:cTn id="8" presetID="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ppt_x"/>
                                          </p:val>
                                        </p:tav>
                                        <p:tav tm="100000">
                                          <p:val>
                                            <p:strVal val="#ppt_x"/>
                                          </p:val>
                                        </p:tav>
                                      </p:tavLst>
                                    </p:anim>
                                    <p:anim calcmode="lin" valueType="num">
                                      <p:cBhvr additive="base">
                                        <p:cTn id="1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grpId="0" nodeType="clickEffect">
                                  <p:stCondLst>
                                    <p:cond delay="0"/>
                                  </p:stCondLst>
                                  <p:childTnLst>
                                    <p:set>
                                      <p:cBhvr>
                                        <p:cTn id="15" dur="1" fill="hold">
                                          <p:stCondLst>
                                            <p:cond delay="0"/>
                                          </p:stCondLst>
                                        </p:cTn>
                                        <p:tgtEl>
                                          <p:spTgt spid="14338"/>
                                        </p:tgtEl>
                                        <p:attrNameLst>
                                          <p:attrName>style.visibility</p:attrName>
                                        </p:attrNameLst>
                                      </p:cBhvr>
                                      <p:to>
                                        <p:strVal val="visible"/>
                                      </p:to>
                                    </p:set>
                                    <p:animEffect>
                                      <p:cBhvr>
                                        <p:cTn id="16" dur="2000"/>
                                        <p:tgtEl>
                                          <p:spTgt spid="14338"/>
                                        </p:tgtEl>
                                      </p:cBhvr>
                                    </p:animEffect>
                                  </p:childTnLst>
                                </p:cTn>
                              </p:par>
                              <p:par>
                                <p:cTn id="17" presetID="8" presetClass="entr" presetSubtype="16" fill="hold" nodeType="withEffect">
                                  <p:stCondLst>
                                    <p:cond delay="0"/>
                                  </p:stCondLst>
                                  <p:childTnLst>
                                    <p:set>
                                      <p:cBhvr>
                                        <p:cTn id="18" dur="1" fill="hold">
                                          <p:stCondLst>
                                            <p:cond delay="0"/>
                                          </p:stCondLst>
                                        </p:cTn>
                                        <p:tgtEl>
                                          <p:spTgt spid="14341"/>
                                        </p:tgtEl>
                                        <p:attrNameLst>
                                          <p:attrName>style.visibility</p:attrName>
                                        </p:attrNameLst>
                                      </p:cBhvr>
                                      <p:to>
                                        <p:strVal val="visible"/>
                                      </p:to>
                                    </p:set>
                                    <p:animEffect>
                                      <p:cBhvr>
                                        <p:cTn id="19" dur="2000"/>
                                        <p:tgtEl>
                                          <p:spTgt spid="14341"/>
                                        </p:tgtEl>
                                      </p:cBhvr>
                                    </p:animEffect>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14339"/>
                                        </p:tgtEl>
                                        <p:attrNameLst>
                                          <p:attrName>style.visibility</p:attrName>
                                        </p:attrNameLst>
                                      </p:cBhvr>
                                      <p:to>
                                        <p:strVal val="visible"/>
                                      </p:to>
                                    </p:set>
                                    <p:animEffect>
                                      <p:cBhvr>
                                        <p:cTn id="24" dur="2000"/>
                                        <p:tgtEl>
                                          <p:spTgt spid="14339"/>
                                        </p:tgtEl>
                                      </p:cBhvr>
                                    </p:animEffect>
                                  </p:childTnLst>
                                </p:cTn>
                              </p:par>
                              <p:par>
                                <p:cTn id="25" presetID="8" presetClass="entr" presetSubtype="16" fill="hold" nodeType="withEffect">
                                  <p:stCondLst>
                                    <p:cond delay="0"/>
                                  </p:stCondLst>
                                  <p:childTnLst>
                                    <p:set>
                                      <p:cBhvr>
                                        <p:cTn id="26" dur="1" fill="hold">
                                          <p:stCondLst>
                                            <p:cond delay="0"/>
                                          </p:stCondLst>
                                        </p:cTn>
                                        <p:tgtEl>
                                          <p:spTgt spid="14342"/>
                                        </p:tgtEl>
                                        <p:attrNameLst>
                                          <p:attrName>style.visibility</p:attrName>
                                        </p:attrNameLst>
                                      </p:cBhvr>
                                      <p:to>
                                        <p:strVal val="visible"/>
                                      </p:to>
                                    </p:set>
                                    <p:animEffect>
                                      <p:cBhvr>
                                        <p:cTn id="27" dur="2000"/>
                                        <p:tgtEl>
                                          <p:spTgt spid="14342"/>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1" nodeType="clickEffect">
                                  <p:stCondLst>
                                    <p:cond delay="0"/>
                                  </p:stCondLst>
                                  <p:childTnLst>
                                    <p:set>
                                      <p:cBhvr>
                                        <p:cTn id="31" dur="1" fill="hold">
                                          <p:stCondLst>
                                            <p:cond delay="0"/>
                                          </p:stCondLst>
                                        </p:cTn>
                                        <p:tgtEl>
                                          <p:spTgt spid="14339"/>
                                        </p:tgtEl>
                                        <p:attrNameLst>
                                          <p:attrName>style.visibility</p:attrName>
                                        </p:attrNameLst>
                                      </p:cBhvr>
                                      <p:to>
                                        <p:strVal val="visible"/>
                                      </p:to>
                                    </p:set>
                                    <p:animEffect>
                                      <p:cBhvr>
                                        <p:cTn id="32" dur="500"/>
                                        <p:tgtEl>
                                          <p:spTgt spid="14339"/>
                                        </p:tgtEl>
                                      </p:cBhvr>
                                    </p:animEffect>
                                  </p:childTnLst>
                                </p:cTn>
                              </p:par>
                              <p:par>
                                <p:cTn id="33" presetID="5" presetClass="entr" presetSubtype="10" fill="hold" nodeType="withEffect">
                                  <p:stCondLst>
                                    <p:cond delay="0"/>
                                  </p:stCondLst>
                                  <p:childTnLst>
                                    <p:set>
                                      <p:cBhvr>
                                        <p:cTn id="34" dur="1" fill="hold">
                                          <p:stCondLst>
                                            <p:cond delay="0"/>
                                          </p:stCondLst>
                                        </p:cTn>
                                        <p:tgtEl>
                                          <p:spTgt spid="14342"/>
                                        </p:tgtEl>
                                        <p:attrNameLst>
                                          <p:attrName>style.visibility</p:attrName>
                                        </p:attrNameLst>
                                      </p:cBhvr>
                                      <p:to>
                                        <p:strVal val="visible"/>
                                      </p:to>
                                    </p:set>
                                    <p:animEffect>
                                      <p:cBhvr>
                                        <p:cTn id="35" dur="500"/>
                                        <p:tgtEl>
                                          <p:spTgt spid="14342"/>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14340"/>
                                        </p:tgtEl>
                                        <p:attrNameLst>
                                          <p:attrName>style.visibility</p:attrName>
                                        </p:attrNameLst>
                                      </p:cBhvr>
                                      <p:to>
                                        <p:strVal val="visible"/>
                                      </p:to>
                                    </p:set>
                                    <p:animEffect>
                                      <p:cBhvr>
                                        <p:cTn id="38" dur="500"/>
                                        <p:tgtEl>
                                          <p:spTgt spid="14340"/>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14343"/>
                                        </p:tgtEl>
                                        <p:attrNameLst>
                                          <p:attrName>style.visibility</p:attrName>
                                        </p:attrNameLst>
                                      </p:cBhvr>
                                      <p:to>
                                        <p:strVal val="visible"/>
                                      </p:to>
                                    </p:set>
                                    <p:animEffect>
                                      <p:cBhvr>
                                        <p:cTn id="41" dur="500"/>
                                        <p:tgtEl>
                                          <p:spTgt spid="14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ldLvl="0" autoUpdateAnimBg="0"/>
      <p:bldP spid="14339" grpId="0" bldLvl="0" autoUpdateAnimBg="0"/>
      <p:bldP spid="14339" grpId="1" bldLvl="0" autoUpdateAnimBg="0"/>
      <p:bldP spid="14340" grpId="0" bldLvl="0" autoUpdateAnimBg="0"/>
      <p:bldP spid="14343" grpId="0" bldLvl="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a:spLocks noChangeArrowheads="1"/>
          </p:cNvSpPr>
          <p:nvPr/>
        </p:nvSpPr>
        <p:spPr bwMode="auto">
          <a:xfrm>
            <a:off x="385763" y="503238"/>
            <a:ext cx="8191500" cy="52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pPr>
            <a:r>
              <a:rPr lang="zh-CN" altLang="en-US" sz="2400" dirty="0">
                <a:ea typeface="楷体_GB2312" pitchFamily="49" charset="-122"/>
                <a:sym typeface="Arial" pitchFamily="34" charset="0"/>
              </a:rPr>
              <a:t>不考虑电容</a:t>
            </a:r>
            <a:r>
              <a:rPr lang="en-US" sz="2400" i="1" dirty="0">
                <a:latin typeface="Times New Roman" pitchFamily="18" charset="0"/>
                <a:ea typeface="楷体_GB2312" pitchFamily="49" charset="-122"/>
                <a:sym typeface="Times New Roman" pitchFamily="18" charset="0"/>
              </a:rPr>
              <a:t>C </a:t>
            </a:r>
            <a:r>
              <a:rPr lang="zh-CN" altLang="en-US" sz="2400" dirty="0">
                <a:ea typeface="楷体_GB2312" pitchFamily="49" charset="-122"/>
                <a:sym typeface="Arial" pitchFamily="34" charset="0"/>
              </a:rPr>
              <a:t>时，串联等效阻抗</a:t>
            </a:r>
            <a:endParaRPr lang="zh-CN" altLang="en-US" dirty="0"/>
          </a:p>
        </p:txBody>
      </p:sp>
      <p:pic>
        <p:nvPicPr>
          <p:cNvPr id="15363"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373" y="1093157"/>
            <a:ext cx="2025650" cy="523875"/>
          </a:xfrm>
          <a:prstGeom prst="rect">
            <a:avLst/>
          </a:prstGeom>
          <a:solidFill>
            <a:srgbClr val="FFFF00"/>
          </a:solidFill>
          <a:ln>
            <a:noFill/>
          </a:ln>
          <a:extLst/>
        </p:spPr>
      </p:pic>
      <p:sp>
        <p:nvSpPr>
          <p:cNvPr id="15364" name="Text Box 4"/>
          <p:cNvSpPr>
            <a:spLocks noChangeArrowheads="1"/>
          </p:cNvSpPr>
          <p:nvPr/>
        </p:nvSpPr>
        <p:spPr bwMode="auto">
          <a:xfrm>
            <a:off x="491091" y="2390971"/>
            <a:ext cx="540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考虑并联电容</a:t>
            </a:r>
            <a:r>
              <a:rPr lang="en-US" sz="2400" i="1" dirty="0">
                <a:latin typeface="Times New Roman" pitchFamily="18" charset="0"/>
                <a:ea typeface="楷体_GB2312" pitchFamily="49" charset="-122"/>
                <a:sym typeface="Times New Roman" pitchFamily="18" charset="0"/>
              </a:rPr>
              <a:t>C </a:t>
            </a:r>
            <a:r>
              <a:rPr lang="zh-CN" altLang="en-US" sz="2400" dirty="0">
                <a:ea typeface="楷体_GB2312" pitchFamily="49" charset="-122"/>
                <a:sym typeface="Arial" pitchFamily="34" charset="0"/>
              </a:rPr>
              <a:t>时，</a:t>
            </a:r>
            <a:r>
              <a:rPr lang="zh-CN" altLang="en-US" sz="2400" dirty="0">
                <a:solidFill>
                  <a:srgbClr val="0000FF"/>
                </a:solidFill>
                <a:ea typeface="楷体_GB2312" pitchFamily="49" charset="-122"/>
                <a:sym typeface="Arial" pitchFamily="34" charset="0"/>
              </a:rPr>
              <a:t>等效阻抗</a:t>
            </a:r>
            <a:r>
              <a:rPr lang="en-US" sz="2400" i="1" dirty="0">
                <a:solidFill>
                  <a:srgbClr val="0000FF"/>
                </a:solidFill>
                <a:latin typeface="Times New Roman" pitchFamily="18" charset="0"/>
                <a:ea typeface="楷体_GB2312" pitchFamily="49" charset="-122"/>
                <a:sym typeface="Times New Roman" pitchFamily="18" charset="0"/>
              </a:rPr>
              <a:t>Z</a:t>
            </a:r>
            <a:r>
              <a:rPr lang="en-US" sz="2400" baseline="-25000" dirty="0">
                <a:solidFill>
                  <a:srgbClr val="0000FF"/>
                </a:solidFill>
                <a:latin typeface="Times New Roman" pitchFamily="18" charset="0"/>
                <a:ea typeface="楷体_GB2312" pitchFamily="49" charset="-122"/>
                <a:sym typeface="Times New Roman" pitchFamily="18" charset="0"/>
              </a:rPr>
              <a:t>P</a:t>
            </a:r>
            <a:endParaRPr lang="zh-CN" altLang="en-US" dirty="0">
              <a:solidFill>
                <a:srgbClr val="0000FF"/>
              </a:solidFill>
            </a:endParaRPr>
          </a:p>
        </p:txBody>
      </p:sp>
      <p:pic>
        <p:nvPicPr>
          <p:cNvPr id="15365" name="Object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756" y="2928314"/>
            <a:ext cx="7064375"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Text Box 6"/>
          <p:cNvSpPr>
            <a:spLocks noChangeArrowheads="1"/>
          </p:cNvSpPr>
          <p:nvPr/>
        </p:nvSpPr>
        <p:spPr bwMode="auto">
          <a:xfrm>
            <a:off x="713701" y="5156200"/>
            <a:ext cx="684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latin typeface="楷体_GB2312" pitchFamily="49" charset="-122"/>
                <a:ea typeface="楷体_GB2312" pitchFamily="49" charset="-122"/>
                <a:sym typeface="楷体_GB2312" pitchFamily="49" charset="-122"/>
              </a:rPr>
              <a:t>式中品质因素：              </a:t>
            </a:r>
            <a:r>
              <a:rPr lang="zh-CN" altLang="en-US" sz="2400" dirty="0">
                <a:latin typeface="Times New Roman" pitchFamily="18" charset="0"/>
                <a:ea typeface="楷体_GB2312" pitchFamily="49" charset="-122"/>
                <a:sym typeface="Times New Roman" pitchFamily="18" charset="0"/>
              </a:rPr>
              <a:t>，</a:t>
            </a:r>
            <a:r>
              <a:rPr lang="zh-CN" altLang="en-US" sz="2400" dirty="0">
                <a:latin typeface="楷体_GB2312" pitchFamily="49" charset="-122"/>
                <a:ea typeface="楷体_GB2312" pitchFamily="49" charset="-122"/>
                <a:sym typeface="楷体_GB2312" pitchFamily="49" charset="-122"/>
              </a:rPr>
              <a:t>当            时 </a:t>
            </a:r>
            <a:endParaRPr lang="zh-CN" altLang="en-US" dirty="0"/>
          </a:p>
        </p:txBody>
      </p:sp>
      <p:pic>
        <p:nvPicPr>
          <p:cNvPr id="15367" name="Object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30955" y="5191125"/>
            <a:ext cx="1263650" cy="387350"/>
          </a:xfrm>
          <a:prstGeom prst="rect">
            <a:avLst/>
          </a:prstGeom>
          <a:solidFill>
            <a:srgbClr val="FFFF00"/>
          </a:solidFill>
          <a:ln>
            <a:noFill/>
          </a:ln>
          <a:extLst/>
        </p:spPr>
      </p:pic>
      <p:pic>
        <p:nvPicPr>
          <p:cNvPr id="15368" name="Object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89525" y="5230812"/>
            <a:ext cx="765175"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4"/>
          <p:cNvGrpSpPr>
            <a:grpSpLocks/>
          </p:cNvGrpSpPr>
          <p:nvPr/>
        </p:nvGrpSpPr>
        <p:grpSpPr bwMode="auto">
          <a:xfrm>
            <a:off x="5089525" y="665162"/>
            <a:ext cx="4005263" cy="3006725"/>
            <a:chOff x="0" y="0"/>
            <a:chExt cx="2523" cy="1894"/>
          </a:xfrm>
        </p:grpSpPr>
        <p:pic>
          <p:nvPicPr>
            <p:cNvPr id="10"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0" y="0"/>
              <a:ext cx="1572" cy="1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6"/>
            <p:cNvSpPr>
              <a:spLocks noChangeArrowheads="1"/>
            </p:cNvSpPr>
            <p:nvPr/>
          </p:nvSpPr>
          <p:spPr bwMode="auto">
            <a:xfrm>
              <a:off x="0" y="1644"/>
              <a:ext cx="25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latin typeface="楷体_GB2312" pitchFamily="49" charset="-122"/>
                  <a:ea typeface="楷体_GB2312" pitchFamily="49" charset="-122"/>
                  <a:sym typeface="楷体_GB2312" pitchFamily="49" charset="-122"/>
                </a:rPr>
                <a:t>图</a:t>
              </a:r>
              <a:r>
                <a:rPr lang="en-US" sz="2000" dirty="0">
                  <a:latin typeface="楷体_GB2312" pitchFamily="49" charset="-122"/>
                  <a:ea typeface="楷体_GB2312" pitchFamily="49" charset="-122"/>
                  <a:sym typeface="楷体_GB2312" pitchFamily="49" charset="-122"/>
                </a:rPr>
                <a:t>4-10 </a:t>
              </a:r>
              <a:r>
                <a:rPr lang="zh-CN" altLang="en-US" sz="2000" dirty="0">
                  <a:latin typeface="楷体_GB2312" pitchFamily="49" charset="-122"/>
                  <a:ea typeface="楷体_GB2312" pitchFamily="49" charset="-122"/>
                  <a:sym typeface="楷体_GB2312" pitchFamily="49" charset="-122"/>
                </a:rPr>
                <a:t>电感传感器等效电路图</a:t>
              </a:r>
              <a:endParaRPr lang="zh-CN" altLang="en-US" dirty="0"/>
            </a:p>
          </p:txBody>
        </p:sp>
      </p:grpSp>
      <p:pic>
        <p:nvPicPr>
          <p:cNvPr id="12" name="Object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03780" y="5693738"/>
            <a:ext cx="5581650" cy="1039813"/>
          </a:xfrm>
          <a:prstGeom prst="rect">
            <a:avLst/>
          </a:prstGeom>
          <a:solidFill>
            <a:schemeClr val="bg2"/>
          </a:solidFill>
          <a:ln>
            <a:noFill/>
          </a:ln>
          <a:extLst/>
        </p:spPr>
      </p:pic>
      <p:sp>
        <p:nvSpPr>
          <p:cNvPr id="14" name="Text Box 2">
            <a:extLst>
              <a:ext uri="{FF2B5EF4-FFF2-40B4-BE49-F238E27FC236}">
                <a16:creationId xmlns:a16="http://schemas.microsoft.com/office/drawing/2014/main" id="{5EB7204B-8AFA-4149-9A7C-21F98D9AB37F}"/>
              </a:ext>
            </a:extLst>
          </p:cNvPr>
          <p:cNvSpPr>
            <a:spLocks noChangeArrowheads="1"/>
          </p:cNvSpPr>
          <p:nvPr/>
        </p:nvSpPr>
        <p:spPr bwMode="auto">
          <a:xfrm>
            <a:off x="1078871" y="1751811"/>
            <a:ext cx="4512939" cy="452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30000"/>
              </a:lnSpc>
            </a:pPr>
            <a:r>
              <a:rPr lang="en-US" altLang="zh-CN" sz="2000" i="1" dirty="0">
                <a:ea typeface="楷体_GB2312" pitchFamily="49" charset="-122"/>
                <a:sym typeface="Arial" pitchFamily="34" charset="0"/>
              </a:rPr>
              <a:t>Rs=</a:t>
            </a:r>
            <a:r>
              <a:rPr lang="en-US" altLang="zh-CN" sz="2000" i="1" dirty="0" err="1">
                <a:ea typeface="楷体_GB2312" pitchFamily="49" charset="-122"/>
                <a:sym typeface="Arial" pitchFamily="34" charset="0"/>
              </a:rPr>
              <a:t>Rc+Re</a:t>
            </a:r>
            <a:r>
              <a:rPr lang="zh-CN" altLang="en-US" sz="2000" i="1" dirty="0">
                <a:ea typeface="楷体_GB2312" pitchFamily="49" charset="-122"/>
                <a:sym typeface="Arial" pitchFamily="34" charset="0"/>
              </a:rPr>
              <a:t>，</a:t>
            </a:r>
            <a:r>
              <a:rPr lang="zh-CN" altLang="en-US" sz="2000" dirty="0">
                <a:ea typeface="楷体_GB2312" pitchFamily="49" charset="-122"/>
                <a:sym typeface="Arial" pitchFamily="34" charset="0"/>
              </a:rPr>
              <a:t>为总等效损耗电阻</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p:cBhvr>
                                        <p:cTn id="7" dur="2000"/>
                                        <p:tgtEl>
                                          <p:spTgt spid="15362"/>
                                        </p:tgtEl>
                                      </p:cBhvr>
                                    </p:animEffect>
                                  </p:childTnLst>
                                </p:cTn>
                              </p:par>
                              <p:par>
                                <p:cTn id="8" presetID="8" presetClass="entr" presetSubtype="16" fill="hold" nodeType="withEffect">
                                  <p:stCondLst>
                                    <p:cond delay="0"/>
                                  </p:stCondLst>
                                  <p:childTnLst>
                                    <p:set>
                                      <p:cBhvr>
                                        <p:cTn id="9" dur="1" fill="hold">
                                          <p:stCondLst>
                                            <p:cond delay="0"/>
                                          </p:stCondLst>
                                        </p:cTn>
                                        <p:tgtEl>
                                          <p:spTgt spid="15363"/>
                                        </p:tgtEl>
                                        <p:attrNameLst>
                                          <p:attrName>style.visibility</p:attrName>
                                        </p:attrNameLst>
                                      </p:cBhvr>
                                      <p:to>
                                        <p:strVal val="visible"/>
                                      </p:to>
                                    </p:set>
                                    <p:animEffect>
                                      <p:cBhvr>
                                        <p:cTn id="10" dur="2000"/>
                                        <p:tgtEl>
                                          <p:spTgt spid="15363"/>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p:cBhvr>
                                        <p:cTn id="13" dur="20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5364"/>
                                        </p:tgtEl>
                                        <p:attrNameLst>
                                          <p:attrName>style.visibility</p:attrName>
                                        </p:attrNameLst>
                                      </p:cBhvr>
                                      <p:to>
                                        <p:strVal val="visible"/>
                                      </p:to>
                                    </p:set>
                                    <p:animEffect>
                                      <p:cBhvr>
                                        <p:cTn id="18" dur="500"/>
                                        <p:tgtEl>
                                          <p:spTgt spid="15364"/>
                                        </p:tgtEl>
                                      </p:cBhvr>
                                    </p:animEffect>
                                  </p:childTnLst>
                                </p:cTn>
                              </p:par>
                              <p:par>
                                <p:cTn id="19" presetID="5" presetClass="entr" presetSubtype="10" fill="hold" nodeType="withEffect">
                                  <p:stCondLst>
                                    <p:cond delay="0"/>
                                  </p:stCondLst>
                                  <p:childTnLst>
                                    <p:set>
                                      <p:cBhvr>
                                        <p:cTn id="20" dur="1" fill="hold">
                                          <p:stCondLst>
                                            <p:cond delay="0"/>
                                          </p:stCondLst>
                                        </p:cTn>
                                        <p:tgtEl>
                                          <p:spTgt spid="15365"/>
                                        </p:tgtEl>
                                        <p:attrNameLst>
                                          <p:attrName>style.visibility</p:attrName>
                                        </p:attrNameLst>
                                      </p:cBhvr>
                                      <p:to>
                                        <p:strVal val="visible"/>
                                      </p:to>
                                    </p:set>
                                    <p:animEffect>
                                      <p:cBhvr>
                                        <p:cTn id="21" dur="500"/>
                                        <p:tgtEl>
                                          <p:spTgt spid="15365"/>
                                        </p:tgtEl>
                                      </p:cBhvr>
                                    </p:animEffect>
                                  </p:childTnLst>
                                </p:cTn>
                              </p:par>
                              <p:par>
                                <p:cTn id="22" presetID="5" presetClass="entr" presetSubtype="10" fill="hold" nodeType="withEffect">
                                  <p:stCondLst>
                                    <p:cond delay="0"/>
                                  </p:stCondLst>
                                  <p:childTnLst>
                                    <p:set>
                                      <p:cBhvr>
                                        <p:cTn id="23" dur="1" fill="hold">
                                          <p:stCondLst>
                                            <p:cond delay="0"/>
                                          </p:stCondLst>
                                        </p:cTn>
                                        <p:tgtEl>
                                          <p:spTgt spid="15367"/>
                                        </p:tgtEl>
                                        <p:attrNameLst>
                                          <p:attrName>style.visibility</p:attrName>
                                        </p:attrNameLst>
                                      </p:cBhvr>
                                      <p:to>
                                        <p:strVal val="visible"/>
                                      </p:to>
                                    </p:set>
                                    <p:animEffect>
                                      <p:cBhvr>
                                        <p:cTn id="24" dur="500"/>
                                        <p:tgtEl>
                                          <p:spTgt spid="15367"/>
                                        </p:tgtEl>
                                      </p:cBhvr>
                                    </p:animEffect>
                                  </p:childTnLst>
                                </p:cTn>
                              </p:par>
                              <p:par>
                                <p:cTn id="25" presetID="5" presetClass="entr" presetSubtype="10" fill="hold" nodeType="withEffect">
                                  <p:stCondLst>
                                    <p:cond delay="0"/>
                                  </p:stCondLst>
                                  <p:childTnLst>
                                    <p:set>
                                      <p:cBhvr>
                                        <p:cTn id="26" dur="1" fill="hold">
                                          <p:stCondLst>
                                            <p:cond delay="0"/>
                                          </p:stCondLst>
                                        </p:cTn>
                                        <p:tgtEl>
                                          <p:spTgt spid="15368"/>
                                        </p:tgtEl>
                                        <p:attrNameLst>
                                          <p:attrName>style.visibility</p:attrName>
                                        </p:attrNameLst>
                                      </p:cBhvr>
                                      <p:to>
                                        <p:strVal val="visible"/>
                                      </p:to>
                                    </p:set>
                                    <p:animEffect>
                                      <p:cBhvr>
                                        <p:cTn id="27" dur="500"/>
                                        <p:tgtEl>
                                          <p:spTgt spid="15368"/>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15366"/>
                                        </p:tgtEl>
                                        <p:attrNameLst>
                                          <p:attrName>style.visibility</p:attrName>
                                        </p:attrNameLst>
                                      </p:cBhvr>
                                      <p:to>
                                        <p:strVal val="visible"/>
                                      </p:to>
                                    </p:set>
                                    <p:animEffect>
                                      <p:cBhvr>
                                        <p:cTn id="30" dur="500"/>
                                        <p:tgtEl>
                                          <p:spTgt spid="15366"/>
                                        </p:tgtEl>
                                      </p:cBhvr>
                                    </p:animEffect>
                                  </p:childTnLst>
                                </p:cTn>
                              </p:par>
                              <p:par>
                                <p:cTn id="31" presetID="5" presetClass="entr" presetSubtype="1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8" presetClass="entr" presetSubtype="16"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p:cBhvr>
                                        <p:cTn id="38"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ldLvl="0" autoUpdateAnimBg="0"/>
      <p:bldP spid="15364" grpId="0" bldLvl="0" autoUpdateAnimBg="0"/>
      <p:bldP spid="15366" grpId="0" bldLvl="0" autoUpdateAnimBg="0"/>
      <p:bldP spid="14" grpId="0" bldLvl="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730" y="205910"/>
            <a:ext cx="5581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Text Box 3"/>
          <p:cNvSpPr>
            <a:spLocks noChangeArrowheads="1"/>
          </p:cNvSpPr>
          <p:nvPr/>
        </p:nvSpPr>
        <p:spPr bwMode="auto">
          <a:xfrm>
            <a:off x="306139" y="1403023"/>
            <a:ext cx="5273931" cy="336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由于并联电容</a:t>
            </a:r>
            <a:r>
              <a:rPr lang="en-US" sz="2400" i="1" dirty="0">
                <a:latin typeface="楷体_GB2312" pitchFamily="49" charset="-122"/>
                <a:ea typeface="楷体_GB2312" pitchFamily="49" charset="-122"/>
                <a:sym typeface="楷体_GB2312" pitchFamily="49" charset="-122"/>
              </a:rPr>
              <a:t>C </a:t>
            </a:r>
            <a:r>
              <a:rPr lang="zh-CN" altLang="en-US" sz="2400" dirty="0">
                <a:latin typeface="楷体_GB2312" pitchFamily="49" charset="-122"/>
                <a:ea typeface="楷体_GB2312" pitchFamily="49" charset="-122"/>
                <a:sym typeface="楷体_GB2312" pitchFamily="49" charset="-122"/>
              </a:rPr>
              <a:t>的存在，</a:t>
            </a:r>
            <a:r>
              <a:rPr lang="zh-CN" altLang="en-US" sz="2400" dirty="0">
                <a:highlight>
                  <a:srgbClr val="FFFF00"/>
                </a:highlight>
                <a:latin typeface="楷体_GB2312" pitchFamily="49" charset="-122"/>
                <a:ea typeface="楷体_GB2312" pitchFamily="49" charset="-122"/>
                <a:sym typeface="楷体_GB2312" pitchFamily="49" charset="-122"/>
              </a:rPr>
              <a:t>等效串联损耗电阻和等效电感增大</a:t>
            </a:r>
            <a:r>
              <a:rPr lang="zh-CN" altLang="en-US" sz="2400" dirty="0">
                <a:latin typeface="楷体_GB2312" pitchFamily="49" charset="-122"/>
                <a:ea typeface="楷体_GB2312" pitchFamily="49" charset="-122"/>
                <a:sym typeface="楷体_GB2312" pitchFamily="49" charset="-122"/>
              </a:rPr>
              <a:t>；</a:t>
            </a:r>
            <a:endParaRPr lang="en-US" altLang="zh-CN" sz="2400" dirty="0">
              <a:latin typeface="楷体_GB2312" pitchFamily="49" charset="-122"/>
              <a:ea typeface="楷体_GB2312" pitchFamily="49" charset="-122"/>
              <a:sym typeface="楷体_GB2312" pitchFamily="49" charset="-122"/>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等效</a:t>
            </a:r>
            <a:r>
              <a:rPr lang="en-US" sz="2400" i="1" dirty="0">
                <a:latin typeface="Times New Roman" pitchFamily="18" charset="0"/>
                <a:ea typeface="楷体_GB2312" pitchFamily="49" charset="-122"/>
                <a:sym typeface="Times New Roman" pitchFamily="18" charset="0"/>
              </a:rPr>
              <a:t>                                         </a:t>
            </a:r>
            <a:r>
              <a:rPr lang="zh-CN" altLang="en-US" sz="2400" dirty="0">
                <a:latin typeface="Times New Roman" pitchFamily="18" charset="0"/>
                <a:ea typeface="楷体_GB2312" pitchFamily="49" charset="-122"/>
                <a:sym typeface="Times New Roman" pitchFamily="18" charset="0"/>
              </a:rPr>
              <a:t>，</a:t>
            </a:r>
            <a:r>
              <a:rPr lang="en-US" altLang="zh-CN" sz="2400" dirty="0">
                <a:latin typeface="Times New Roman" pitchFamily="18" charset="0"/>
                <a:ea typeface="楷体_GB2312" pitchFamily="49" charset="-122"/>
                <a:sym typeface="Times New Roman" pitchFamily="18" charset="0"/>
              </a:rPr>
              <a:t>Q</a:t>
            </a:r>
            <a:r>
              <a:rPr lang="zh-CN" altLang="en-US" sz="2400" dirty="0">
                <a:latin typeface="Times New Roman" pitchFamily="18" charset="0"/>
                <a:ea typeface="楷体_GB2312" pitchFamily="49" charset="-122"/>
                <a:sym typeface="Times New Roman" pitchFamily="18" charset="0"/>
              </a:rPr>
              <a:t>值</a:t>
            </a:r>
            <a:r>
              <a:rPr lang="en-US" sz="2400" i="1" dirty="0">
                <a:latin typeface="Times New Roman" pitchFamily="18" charset="0"/>
                <a:ea typeface="楷体_GB2312" pitchFamily="49" charset="-122"/>
                <a:sym typeface="Times New Roman" pitchFamily="18" charset="0"/>
              </a:rPr>
              <a:t>  </a:t>
            </a:r>
            <a:r>
              <a:rPr lang="zh-CN" altLang="en-US" sz="2400" dirty="0">
                <a:latin typeface="楷体_GB2312" pitchFamily="49" charset="-122"/>
                <a:ea typeface="楷体_GB2312" pitchFamily="49" charset="-122"/>
                <a:sym typeface="楷体_GB2312" pitchFamily="49" charset="-122"/>
              </a:rPr>
              <a:t>减少；</a:t>
            </a:r>
            <a:endParaRPr lang="en-US" altLang="zh-CN" sz="2400" dirty="0">
              <a:latin typeface="楷体_GB2312" pitchFamily="49" charset="-122"/>
              <a:ea typeface="楷体_GB2312" pitchFamily="49" charset="-122"/>
              <a:sym typeface="楷体_GB2312" pitchFamily="49" charset="-122"/>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电感相对变化为：</a:t>
            </a:r>
            <a:endParaRPr lang="zh-CN" altLang="en-US" sz="2400" dirty="0">
              <a:latin typeface="楷体_GB2312" pitchFamily="49" charset="-122"/>
              <a:ea typeface="楷体_GB2312" pitchFamily="49" charset="-122"/>
            </a:endParaRPr>
          </a:p>
          <a:p>
            <a:pPr marL="342900" indent="-342900" eaLnBrk="1" hangingPunct="1">
              <a:lnSpc>
                <a:spcPct val="130000"/>
              </a:lnSpc>
              <a:spcBef>
                <a:spcPct val="50000"/>
              </a:spcBef>
              <a:buFont typeface="Arial" panose="020B0604020202020204" pitchFamily="34" charset="0"/>
              <a:buChar char="•"/>
            </a:pPr>
            <a:endParaRPr lang="zh-CN" altLang="en-US" dirty="0"/>
          </a:p>
        </p:txBody>
      </p:sp>
      <p:pic>
        <p:nvPicPr>
          <p:cNvPr id="16388" name="Object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4979" y="2390031"/>
            <a:ext cx="301625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 Box 5"/>
          <p:cNvSpPr>
            <a:spLocks noChangeArrowheads="1"/>
          </p:cNvSpPr>
          <p:nvPr/>
        </p:nvSpPr>
        <p:spPr bwMode="auto">
          <a:xfrm>
            <a:off x="385763" y="3203575"/>
            <a:ext cx="8326437" cy="51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spcBef>
                <a:spcPct val="50000"/>
              </a:spcBef>
            </a:pPr>
            <a:r>
              <a:rPr lang="en-US" sz="2400" dirty="0">
                <a:latin typeface="楷体_GB2312" pitchFamily="49" charset="-122"/>
                <a:ea typeface="楷体_GB2312" pitchFamily="49" charset="-122"/>
                <a:sym typeface="楷体_GB2312" pitchFamily="49" charset="-122"/>
              </a:rPr>
              <a:t>   </a:t>
            </a:r>
            <a:endParaRPr lang="zh-CN" altLang="en-US" dirty="0"/>
          </a:p>
        </p:txBody>
      </p:sp>
      <p:pic>
        <p:nvPicPr>
          <p:cNvPr id="16390" name="Object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82936" y="3722756"/>
            <a:ext cx="2519363" cy="877887"/>
          </a:xfrm>
          <a:prstGeom prst="rect">
            <a:avLst/>
          </a:prstGeom>
          <a:solidFill>
            <a:schemeClr val="bg2"/>
          </a:solidFill>
          <a:ln>
            <a:noFill/>
          </a:ln>
          <a:extLst/>
        </p:spPr>
      </p:pic>
      <p:sp>
        <p:nvSpPr>
          <p:cNvPr id="16391" name="Text Box 7"/>
          <p:cNvSpPr>
            <a:spLocks noChangeArrowheads="1"/>
          </p:cNvSpPr>
          <p:nvPr/>
        </p:nvSpPr>
        <p:spPr bwMode="auto">
          <a:xfrm>
            <a:off x="534746" y="4949583"/>
            <a:ext cx="8185332" cy="1717393"/>
          </a:xfrm>
          <a:prstGeom prst="rect">
            <a:avLst/>
          </a:prstGeom>
          <a:solidFill>
            <a:schemeClr val="accent2">
              <a:lumMod val="20000"/>
              <a:lumOff val="80000"/>
            </a:schemeClr>
          </a:solidFill>
          <a:ln>
            <a:noFill/>
          </a:ln>
          <a:effectLst>
            <a:glow>
              <a:schemeClr val="accent1">
                <a:alpha val="40000"/>
              </a:schemeClr>
            </a:glow>
            <a:outerShdw blurRad="50800" dist="50800" dir="5400000" sx="104000" sy="104000" algn="ctr" rotWithShape="0">
              <a:srgbClr val="000000">
                <a:alpha val="43137"/>
              </a:srgbClr>
            </a:outerShdw>
          </a:effectLst>
          <a:extLst/>
        </p:spPr>
        <p:txBody>
          <a:bodyPr wrap="square">
            <a:spAutoFit/>
          </a:bodyPr>
          <a:lstStyle/>
          <a:p>
            <a:pPr eaLnBrk="1" hangingPunct="1">
              <a:lnSpc>
                <a:spcPct val="130000"/>
              </a:lnSpc>
              <a:spcBef>
                <a:spcPct val="50000"/>
              </a:spcBef>
            </a:pPr>
            <a:r>
              <a:rPr lang="en-US" sz="2400" dirty="0">
                <a:solidFill>
                  <a:srgbClr val="FF6600"/>
                </a:solidFill>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并联电容后，传感器的</a:t>
            </a:r>
            <a:r>
              <a:rPr lang="zh-CN" altLang="en-US" sz="2400" dirty="0">
                <a:solidFill>
                  <a:srgbClr val="0000FF"/>
                </a:solidFill>
                <a:latin typeface="楷体_GB2312" pitchFamily="49" charset="-122"/>
                <a:ea typeface="楷体_GB2312" pitchFamily="49" charset="-122"/>
                <a:sym typeface="楷体_GB2312" pitchFamily="49" charset="-122"/>
              </a:rPr>
              <a:t>灵敏度提高</a:t>
            </a:r>
            <a:r>
              <a:rPr lang="zh-CN" altLang="en-US" sz="2400" dirty="0">
                <a:latin typeface="楷体_GB2312" pitchFamily="49" charset="-122"/>
                <a:ea typeface="楷体_GB2312" pitchFamily="49" charset="-122"/>
                <a:sym typeface="楷体_GB2312" pitchFamily="49" charset="-122"/>
              </a:rPr>
              <a:t>了，品质因素减小</a:t>
            </a:r>
            <a:endParaRPr lang="en-US" altLang="zh-CN" sz="2400" dirty="0">
              <a:latin typeface="楷体_GB2312" pitchFamily="49" charset="-122"/>
              <a:ea typeface="楷体_GB2312" pitchFamily="49" charset="-122"/>
              <a:sym typeface="楷体_GB2312" pitchFamily="49" charset="-122"/>
            </a:endParaRPr>
          </a:p>
          <a:p>
            <a:pPr eaLnBrk="1" hangingPunct="1">
              <a:lnSpc>
                <a:spcPct val="130000"/>
              </a:lnSpc>
              <a:spcBef>
                <a:spcPct val="50000"/>
              </a:spcBef>
            </a:pPr>
            <a:r>
              <a:rPr lang="en-US" altLang="zh-CN" sz="2400" dirty="0">
                <a:solidFill>
                  <a:srgbClr val="FF6600"/>
                </a:solidFill>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在测量中若如要</a:t>
            </a:r>
            <a:r>
              <a:rPr lang="zh-CN" altLang="en-US" sz="2400" dirty="0">
                <a:solidFill>
                  <a:srgbClr val="0000FF"/>
                </a:solidFill>
                <a:latin typeface="楷体_GB2312" pitchFamily="49" charset="-122"/>
                <a:ea typeface="楷体_GB2312" pitchFamily="49" charset="-122"/>
                <a:sym typeface="楷体_GB2312" pitchFamily="49" charset="-122"/>
              </a:rPr>
              <a:t>改变电缆长度</a:t>
            </a:r>
            <a:r>
              <a:rPr lang="zh-CN" altLang="en-US" sz="2400" dirty="0">
                <a:latin typeface="楷体_GB2312" pitchFamily="49" charset="-122"/>
                <a:ea typeface="楷体_GB2312" pitchFamily="49" charset="-122"/>
                <a:sym typeface="楷体_GB2312" pitchFamily="49" charset="-122"/>
              </a:rPr>
              <a:t>时，分布电容</a:t>
            </a:r>
            <a:r>
              <a:rPr lang="en-US" altLang="zh-CN" sz="2400" dirty="0">
                <a:latin typeface="楷体_GB2312" pitchFamily="49" charset="-122"/>
                <a:ea typeface="楷体_GB2312" pitchFamily="49" charset="-122"/>
                <a:sym typeface="楷体_GB2312" pitchFamily="49" charset="-122"/>
              </a:rPr>
              <a:t>C</a:t>
            </a:r>
            <a:r>
              <a:rPr lang="zh-CN" altLang="en-US" sz="2400" dirty="0">
                <a:latin typeface="楷体_GB2312" pitchFamily="49" charset="-122"/>
                <a:ea typeface="楷体_GB2312" pitchFamily="49" charset="-122"/>
                <a:sym typeface="楷体_GB2312" pitchFamily="49" charset="-122"/>
              </a:rPr>
              <a:t>将发生变化，则应对传感器的灵敏度</a:t>
            </a:r>
            <a:r>
              <a:rPr lang="zh-CN" altLang="en-US" sz="2400" dirty="0">
                <a:solidFill>
                  <a:srgbClr val="0000FF"/>
                </a:solidFill>
                <a:latin typeface="楷体_GB2312" pitchFamily="49" charset="-122"/>
                <a:ea typeface="楷体_GB2312" pitchFamily="49" charset="-122"/>
                <a:sym typeface="楷体_GB2312" pitchFamily="49" charset="-122"/>
              </a:rPr>
              <a:t>重新校准</a:t>
            </a:r>
            <a:r>
              <a:rPr lang="zh-CN" altLang="en-US" sz="2400" dirty="0">
                <a:latin typeface="楷体_GB2312" pitchFamily="49" charset="-122"/>
                <a:ea typeface="楷体_GB2312" pitchFamily="49" charset="-122"/>
                <a:sym typeface="楷体_GB2312" pitchFamily="49" charset="-122"/>
              </a:rPr>
              <a:t>。</a:t>
            </a:r>
            <a:endParaRPr lang="zh-CN" altLang="en-US" sz="2400" dirty="0"/>
          </a:p>
        </p:txBody>
      </p:sp>
      <p:pic>
        <p:nvPicPr>
          <p:cNvPr id="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24528" y="842963"/>
            <a:ext cx="249555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p:cBhvr>
                                        <p:cTn id="7" dur="2000"/>
                                        <p:tgtEl>
                                          <p:spTgt spid="16386"/>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16387"/>
                                        </p:tgtEl>
                                        <p:attrNameLst>
                                          <p:attrName>style.visibility</p:attrName>
                                        </p:attrNameLst>
                                      </p:cBhvr>
                                      <p:to>
                                        <p:strVal val="visible"/>
                                      </p:to>
                                    </p:set>
                                    <p:animEffect>
                                      <p:cBhvr>
                                        <p:cTn id="10" dur="2000"/>
                                        <p:tgtEl>
                                          <p:spTgt spid="16387"/>
                                        </p:tgtEl>
                                      </p:cBhvr>
                                    </p:animEffect>
                                  </p:childTnLst>
                                </p:cTn>
                              </p:par>
                              <p:par>
                                <p:cTn id="11" presetID="8" presetClass="entr" presetSubtype="16" fill="hold" nodeType="withEffect">
                                  <p:stCondLst>
                                    <p:cond delay="0"/>
                                  </p:stCondLst>
                                  <p:childTnLst>
                                    <p:set>
                                      <p:cBhvr>
                                        <p:cTn id="12" dur="1" fill="hold">
                                          <p:stCondLst>
                                            <p:cond delay="0"/>
                                          </p:stCondLst>
                                        </p:cTn>
                                        <p:tgtEl>
                                          <p:spTgt spid="16388"/>
                                        </p:tgtEl>
                                        <p:attrNameLst>
                                          <p:attrName>style.visibility</p:attrName>
                                        </p:attrNameLst>
                                      </p:cBhvr>
                                      <p:to>
                                        <p:strVal val="visible"/>
                                      </p:to>
                                    </p:set>
                                    <p:animEffect>
                                      <p:cBhvr>
                                        <p:cTn id="13" dur="2000"/>
                                        <p:tgtEl>
                                          <p:spTgt spid="16388"/>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16389"/>
                                        </p:tgtEl>
                                        <p:attrNameLst>
                                          <p:attrName>style.visibility</p:attrName>
                                        </p:attrNameLst>
                                      </p:cBhvr>
                                      <p:to>
                                        <p:strVal val="visible"/>
                                      </p:to>
                                    </p:set>
                                    <p:animEffect>
                                      <p:cBhvr>
                                        <p:cTn id="16" dur="2000"/>
                                        <p:tgtEl>
                                          <p:spTgt spid="16389"/>
                                        </p:tgtEl>
                                      </p:cBhvr>
                                    </p:animEffect>
                                  </p:childTnLst>
                                </p:cTn>
                              </p:par>
                              <p:par>
                                <p:cTn id="17" presetID="8" presetClass="entr" presetSubtype="16" fill="hold" nodeType="withEffect">
                                  <p:stCondLst>
                                    <p:cond delay="0"/>
                                  </p:stCondLst>
                                  <p:childTnLst>
                                    <p:set>
                                      <p:cBhvr>
                                        <p:cTn id="18" dur="1" fill="hold">
                                          <p:stCondLst>
                                            <p:cond delay="0"/>
                                          </p:stCondLst>
                                        </p:cTn>
                                        <p:tgtEl>
                                          <p:spTgt spid="16390"/>
                                        </p:tgtEl>
                                        <p:attrNameLst>
                                          <p:attrName>style.visibility</p:attrName>
                                        </p:attrNameLst>
                                      </p:cBhvr>
                                      <p:to>
                                        <p:strVal val="visible"/>
                                      </p:to>
                                    </p:set>
                                    <p:animEffect>
                                      <p:cBhvr>
                                        <p:cTn id="19" dur="2000"/>
                                        <p:tgtEl>
                                          <p:spTgt spid="1639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16391"/>
                                        </p:tgtEl>
                                        <p:attrNameLst>
                                          <p:attrName>style.visibility</p:attrName>
                                        </p:attrNameLst>
                                      </p:cBhvr>
                                      <p:to>
                                        <p:strVal val="visible"/>
                                      </p:to>
                                    </p:set>
                                    <p:animEffect>
                                      <p:cBhvr>
                                        <p:cTn id="24" dur="2000"/>
                                        <p:tgtEl>
                                          <p:spTgt spid="16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ldLvl="0" autoUpdateAnimBg="0"/>
      <p:bldP spid="16389" grpId="0" bldLvl="0" autoUpdateAnimBg="0"/>
      <p:bldP spid="16391" grpId="0" bldLvl="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A3B2753-7120-4F9D-95B0-09E460BEB768}" type="slidenum">
              <a:rPr lang="zh-CN" altLang="en-US"/>
              <a:pPr/>
              <a:t>17</a:t>
            </a:fld>
            <a:endParaRPr lang="zh-CN" altLang="en-US" sz="1800">
              <a:solidFill>
                <a:schemeClr val="tx1"/>
              </a:solidFill>
              <a:latin typeface="Arial" pitchFamily="34" charset="0"/>
            </a:endParaRPr>
          </a:p>
        </p:txBody>
      </p:sp>
      <p:sp>
        <p:nvSpPr>
          <p:cNvPr id="1843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843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1. 4 </a:t>
            </a:r>
            <a:r>
              <a:rPr lang="zh-CN" altLang="en-US" sz="3200" b="1" dirty="0">
                <a:solidFill>
                  <a:schemeClr val="tx2"/>
                </a:solidFill>
                <a:latin typeface="Calibri" pitchFamily="34" charset="0"/>
              </a:rPr>
              <a:t>测量电路</a:t>
            </a:r>
            <a:endParaRPr lang="zh-CN" altLang="en-US" dirty="0"/>
          </a:p>
        </p:txBody>
      </p:sp>
      <p:sp>
        <p:nvSpPr>
          <p:cNvPr id="18436" name="Rectangle 3"/>
          <p:cNvSpPr>
            <a:spLocks noChangeArrowheads="1"/>
          </p:cNvSpPr>
          <p:nvPr/>
        </p:nvSpPr>
        <p:spPr bwMode="auto">
          <a:xfrm>
            <a:off x="323850" y="1299764"/>
            <a:ext cx="42979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dirty="0">
                <a:solidFill>
                  <a:srgbClr val="FF0000"/>
                </a:solidFill>
                <a:latin typeface="楷体_GB2312" pitchFamily="49" charset="-122"/>
                <a:ea typeface="楷体_GB2312" pitchFamily="49" charset="-122"/>
                <a:sym typeface="楷体_GB2312" pitchFamily="49" charset="-122"/>
              </a:rPr>
              <a:t>① </a:t>
            </a:r>
            <a:r>
              <a:rPr lang="zh-CN" altLang="en-US" sz="2800" dirty="0">
                <a:solidFill>
                  <a:srgbClr val="FF0000"/>
                </a:solidFill>
                <a:latin typeface="楷体_GB2312" pitchFamily="49" charset="-122"/>
                <a:ea typeface="楷体_GB2312" pitchFamily="49" charset="-122"/>
                <a:sym typeface="楷体_GB2312" pitchFamily="49" charset="-122"/>
              </a:rPr>
              <a:t>交流电桥</a:t>
            </a:r>
            <a:r>
              <a:rPr lang="en-US" altLang="zh-CN" sz="2800" dirty="0">
                <a:solidFill>
                  <a:srgbClr val="000000"/>
                </a:solidFill>
                <a:latin typeface="楷体_GB2312" pitchFamily="49" charset="-122"/>
                <a:ea typeface="楷体_GB2312" pitchFamily="49" charset="-122"/>
                <a:sym typeface="楷体_GB2312" pitchFamily="49" charset="-122"/>
              </a:rPr>
              <a:t>——</a:t>
            </a:r>
            <a:r>
              <a:rPr lang="zh-CN" altLang="en-US" sz="2800" dirty="0">
                <a:solidFill>
                  <a:srgbClr val="000000"/>
                </a:solidFill>
                <a:latin typeface="楷体_GB2312" pitchFamily="49" charset="-122"/>
                <a:ea typeface="楷体_GB2312" pitchFamily="49" charset="-122"/>
                <a:sym typeface="楷体_GB2312" pitchFamily="49" charset="-122"/>
              </a:rPr>
              <a:t>两种构型</a:t>
            </a:r>
            <a:endParaRPr lang="zh-CN" altLang="en-US" sz="2800" i="1" dirty="0">
              <a:solidFill>
                <a:srgbClr val="000000"/>
              </a:solidFill>
              <a:latin typeface="Times New Roman" pitchFamily="18" charset="0"/>
              <a:ea typeface="楷体_GB2312" pitchFamily="49" charset="-122"/>
              <a:sym typeface="Times New Roman" pitchFamily="18" charset="0"/>
            </a:endParaRPr>
          </a:p>
        </p:txBody>
      </p:sp>
      <p:sp>
        <p:nvSpPr>
          <p:cNvPr id="18437" name="Rectangle 4"/>
          <p:cNvSpPr>
            <a:spLocks noChangeArrowheads="1"/>
          </p:cNvSpPr>
          <p:nvPr/>
        </p:nvSpPr>
        <p:spPr bwMode="auto">
          <a:xfrm>
            <a:off x="326231" y="2310967"/>
            <a:ext cx="7920038" cy="497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pPr>
            <a:r>
              <a:rPr lang="zh-CN" altLang="en-US" sz="2400" dirty="0">
                <a:solidFill>
                  <a:srgbClr val="000000"/>
                </a:solidFill>
                <a:ea typeface="楷体_GB2312" pitchFamily="49" charset="-122"/>
              </a:rPr>
              <a:t>为提高灵敏度，改善线性度，一般设计为差动测量结构。</a:t>
            </a:r>
            <a:endParaRPr lang="zh-CN" altLang="en-US" dirty="0"/>
          </a:p>
        </p:txBody>
      </p:sp>
      <p:sp>
        <p:nvSpPr>
          <p:cNvPr id="18438" name="Text Box 14"/>
          <p:cNvSpPr>
            <a:spLocks noChangeArrowheads="1"/>
          </p:cNvSpPr>
          <p:nvPr/>
        </p:nvSpPr>
        <p:spPr bwMode="auto">
          <a:xfrm>
            <a:off x="543727" y="3641720"/>
            <a:ext cx="4005263"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spcBef>
                <a:spcPct val="50000"/>
              </a:spcBef>
            </a:pPr>
            <a:r>
              <a:rPr lang="zh-CN" altLang="en-US" sz="2400" dirty="0">
                <a:latin typeface="楷体_GB2312" pitchFamily="49" charset="-122"/>
                <a:ea typeface="楷体_GB2312" pitchFamily="49" charset="-122"/>
                <a:sym typeface="楷体_GB2312" pitchFamily="49" charset="-122"/>
              </a:rPr>
              <a:t>串联结构：</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3</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endParaRPr lang="zh-CN" altLang="en-US" sz="2400" baseline="-25000" dirty="0">
              <a:latin typeface="楷体_GB2312" pitchFamily="49" charset="-122"/>
              <a:ea typeface="楷体_GB2312" pitchFamily="49" charset="-122"/>
              <a:sym typeface="楷体_GB2312" pitchFamily="49" charset="-122"/>
            </a:endParaRPr>
          </a:p>
          <a:p>
            <a:pPr eaLnBrk="1" hangingPunct="1">
              <a:lnSpc>
                <a:spcPct val="150000"/>
              </a:lnSpc>
              <a:spcBef>
                <a:spcPct val="50000"/>
              </a:spcBef>
            </a:pPr>
            <a:r>
              <a:rPr lang="zh-CN" altLang="en-US" sz="2400" dirty="0">
                <a:latin typeface="楷体_GB2312" pitchFamily="49" charset="-122"/>
                <a:ea typeface="楷体_GB2312" pitchFamily="49" charset="-122"/>
                <a:sym typeface="楷体_GB2312" pitchFamily="49" charset="-122"/>
              </a:rPr>
              <a:t>并联结构：</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3</a:t>
            </a: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endParaRPr lang="zh-CN" altLang="en-US" dirty="0"/>
          </a:p>
        </p:txBody>
      </p:sp>
      <p:graphicFrame>
        <p:nvGraphicFramePr>
          <p:cNvPr id="18439" name="对象 1"/>
          <p:cNvGraphicFramePr>
            <a:graphicFrameLocks noChangeAspect="1"/>
          </p:cNvGraphicFramePr>
          <p:nvPr>
            <p:extLst>
              <p:ext uri="{D42A27DB-BD31-4B8C-83A1-F6EECF244321}">
                <p14:modId xmlns:p14="http://schemas.microsoft.com/office/powerpoint/2010/main" val="2095424789"/>
              </p:ext>
            </p:extLst>
          </p:nvPr>
        </p:nvGraphicFramePr>
        <p:xfrm>
          <a:off x="5075237" y="3188489"/>
          <a:ext cx="2955925" cy="2339975"/>
        </p:xfrm>
        <a:graphic>
          <a:graphicData uri="http://schemas.openxmlformats.org/presentationml/2006/ole">
            <mc:AlternateContent xmlns:mc="http://schemas.openxmlformats.org/markup-compatibility/2006">
              <mc:Choice xmlns:v="urn:schemas-microsoft-com:vml" Requires="v">
                <p:oleObj spid="_x0000_s18553" name="Visio" r:id="rId3" imgW="1758962" imgH="1390519" progId="Visio.Drawing.11">
                  <p:embed/>
                </p:oleObj>
              </mc:Choice>
              <mc:Fallback>
                <p:oleObj name="Visio" r:id="rId3" imgW="1758962" imgH="1390519" progId="Visio.Drawing.11">
                  <p:embed/>
                  <p:pic>
                    <p:nvPicPr>
                      <p:cNvPr id="0" name="Picture 10"/>
                      <p:cNvPicPr>
                        <a:picLocks noChangeAspect="1" noChangeArrowheads="1"/>
                      </p:cNvPicPr>
                      <p:nvPr/>
                    </p:nvPicPr>
                    <p:blipFill>
                      <a:blip r:embed="rId4"/>
                      <a:srcRect/>
                      <a:stretch>
                        <a:fillRect/>
                      </a:stretch>
                    </p:blipFill>
                    <p:spPr bwMode="auto">
                      <a:xfrm>
                        <a:off x="5075237" y="3188489"/>
                        <a:ext cx="295592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a:extLst>
              <a:ext uri="{FF2B5EF4-FFF2-40B4-BE49-F238E27FC236}">
                <a16:creationId xmlns:a16="http://schemas.microsoft.com/office/drawing/2014/main" id="{AB15B150-0A34-43EA-B9E5-C56B79F2D7DA}"/>
              </a:ext>
            </a:extLst>
          </p:cNvPr>
          <p:cNvPicPr>
            <a:picLocks noChangeAspect="1"/>
          </p:cNvPicPr>
          <p:nvPr/>
        </p:nvPicPr>
        <p:blipFill>
          <a:blip r:embed="rId5"/>
          <a:stretch>
            <a:fillRect/>
          </a:stretch>
        </p:blipFill>
        <p:spPr>
          <a:xfrm>
            <a:off x="1979820" y="5373135"/>
            <a:ext cx="2162175" cy="771525"/>
          </a:xfrm>
          <a:prstGeom prst="rect">
            <a:avLst/>
          </a:prstGeom>
          <a:ln>
            <a:noFill/>
          </a:ln>
          <a:effectLst>
            <a:outerShdw blurRad="63500" sx="102000" sy="102000" algn="ctr"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BAE95C06-2B08-4A80-84E3-F86BCA8F797D}" type="slidenum">
              <a:rPr lang="zh-CN" altLang="en-US"/>
              <a:pPr/>
              <a:t>18</a:t>
            </a:fld>
            <a:endParaRPr lang="zh-CN" altLang="en-US" sz="1800">
              <a:solidFill>
                <a:schemeClr val="tx1"/>
              </a:solidFill>
              <a:latin typeface="Arial" pitchFamily="34" charset="0"/>
            </a:endParaRPr>
          </a:p>
        </p:txBody>
      </p:sp>
      <p:grpSp>
        <p:nvGrpSpPr>
          <p:cNvPr id="19458" name="Group 5"/>
          <p:cNvGrpSpPr>
            <a:grpSpLocks/>
          </p:cNvGrpSpPr>
          <p:nvPr/>
        </p:nvGrpSpPr>
        <p:grpSpPr bwMode="auto">
          <a:xfrm>
            <a:off x="5169798" y="2179952"/>
            <a:ext cx="3133725" cy="3232150"/>
            <a:chOff x="0" y="0"/>
            <a:chExt cx="1974" cy="2036"/>
          </a:xfrm>
        </p:grpSpPr>
        <p:pic>
          <p:nvPicPr>
            <p:cNvPr id="19459"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974" cy="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ext Box 7"/>
            <p:cNvSpPr>
              <a:spLocks noChangeArrowheads="1"/>
            </p:cNvSpPr>
            <p:nvPr/>
          </p:nvSpPr>
          <p:spPr bwMode="auto">
            <a:xfrm>
              <a:off x="28" y="1786"/>
              <a:ext cx="18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latin typeface="楷体_GB2312" pitchFamily="49" charset="-122"/>
                  <a:ea typeface="楷体_GB2312" pitchFamily="49" charset="-122"/>
                  <a:sym typeface="楷体_GB2312" pitchFamily="49" charset="-122"/>
                </a:rPr>
                <a:t>图</a:t>
              </a:r>
              <a:r>
                <a:rPr lang="en-US" sz="2000">
                  <a:latin typeface="楷体_GB2312" pitchFamily="49" charset="-122"/>
                  <a:ea typeface="楷体_GB2312" pitchFamily="49" charset="-122"/>
                  <a:sym typeface="楷体_GB2312" pitchFamily="49" charset="-122"/>
                </a:rPr>
                <a:t>4-11 </a:t>
              </a:r>
              <a:r>
                <a:rPr lang="zh-CN" altLang="en-US" sz="2000">
                  <a:latin typeface="楷体_GB2312" pitchFamily="49" charset="-122"/>
                  <a:ea typeface="楷体_GB2312" pitchFamily="49" charset="-122"/>
                  <a:sym typeface="楷体_GB2312" pitchFamily="49" charset="-122"/>
                </a:rPr>
                <a:t>交流电桥原理图</a:t>
              </a:r>
              <a:endParaRPr lang="zh-CN" altLang="en-US"/>
            </a:p>
          </p:txBody>
        </p:sp>
      </p:grpSp>
      <p:sp>
        <p:nvSpPr>
          <p:cNvPr id="19461" name="Text Box 8"/>
          <p:cNvSpPr>
            <a:spLocks noChangeArrowheads="1"/>
          </p:cNvSpPr>
          <p:nvPr/>
        </p:nvSpPr>
        <p:spPr bwMode="auto">
          <a:xfrm>
            <a:off x="683730" y="1711663"/>
            <a:ext cx="306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采用串联对称时，设</a:t>
            </a:r>
            <a:endParaRPr lang="zh-CN" altLang="en-US" dirty="0"/>
          </a:p>
        </p:txBody>
      </p:sp>
      <p:pic>
        <p:nvPicPr>
          <p:cNvPr id="19462" name="Object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1775" y="2691433"/>
            <a:ext cx="3458838" cy="2074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Text Box 10"/>
          <p:cNvSpPr>
            <a:spLocks noChangeArrowheads="1"/>
          </p:cNvSpPr>
          <p:nvPr/>
        </p:nvSpPr>
        <p:spPr bwMode="auto">
          <a:xfrm>
            <a:off x="534087" y="5288543"/>
            <a:ext cx="4500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latin typeface="楷体_GB2312" pitchFamily="49" charset="-122"/>
                <a:ea typeface="楷体_GB2312" pitchFamily="49" charset="-122"/>
                <a:sym typeface="楷体_GB2312" pitchFamily="49" charset="-122"/>
              </a:rPr>
              <a:t>工作时，</a:t>
            </a:r>
            <a:r>
              <a:rPr lang="en-US" sz="2400" i="1" dirty="0">
                <a:solidFill>
                  <a:srgbClr val="0000FF"/>
                </a:solidFill>
                <a:latin typeface="Times New Roman" pitchFamily="18" charset="0"/>
                <a:ea typeface="楷体_GB2312" pitchFamily="49" charset="-122"/>
                <a:sym typeface="Times New Roman" pitchFamily="18" charset="0"/>
              </a:rPr>
              <a:t>Z</a:t>
            </a:r>
            <a:r>
              <a:rPr lang="en-US" sz="2400" baseline="-25000" dirty="0">
                <a:solidFill>
                  <a:srgbClr val="0000FF"/>
                </a:solidFill>
                <a:latin typeface="楷体_GB2312" pitchFamily="49" charset="-122"/>
                <a:ea typeface="楷体_GB2312" pitchFamily="49" charset="-122"/>
                <a:sym typeface="楷体_GB2312" pitchFamily="49" charset="-122"/>
              </a:rPr>
              <a:t>1</a:t>
            </a:r>
            <a:r>
              <a:rPr lang="en-US" sz="2400" dirty="0">
                <a:solidFill>
                  <a:srgbClr val="0000FF"/>
                </a:solidFill>
                <a:latin typeface="楷体_GB2312" pitchFamily="49" charset="-122"/>
                <a:ea typeface="楷体_GB2312" pitchFamily="49" charset="-122"/>
                <a:sym typeface="楷体_GB2312" pitchFamily="49" charset="-122"/>
              </a:rPr>
              <a:t>=</a:t>
            </a:r>
            <a:r>
              <a:rPr lang="en-US" sz="2400" i="1" dirty="0">
                <a:solidFill>
                  <a:srgbClr val="0000FF"/>
                </a:solidFill>
                <a:latin typeface="Times New Roman" pitchFamily="18" charset="0"/>
                <a:ea typeface="楷体_GB2312" pitchFamily="49" charset="-122"/>
                <a:sym typeface="Times New Roman" pitchFamily="18" charset="0"/>
              </a:rPr>
              <a:t>Z</a:t>
            </a:r>
            <a:r>
              <a:rPr lang="en-US" sz="2400" dirty="0">
                <a:solidFill>
                  <a:srgbClr val="FF0000"/>
                </a:solidFill>
                <a:latin typeface="楷体_GB2312" pitchFamily="49" charset="-122"/>
                <a:ea typeface="楷体_GB2312" pitchFamily="49" charset="-122"/>
                <a:sym typeface="楷体_GB2312" pitchFamily="49" charset="-122"/>
              </a:rPr>
              <a:t>+</a:t>
            </a:r>
            <a:r>
              <a:rPr lang="en-US" sz="2400" dirty="0">
                <a:solidFill>
                  <a:srgbClr val="0000FF"/>
                </a:solidFill>
                <a:latin typeface="楷体_GB2312" pitchFamily="49" charset="-122"/>
                <a:ea typeface="楷体_GB2312" pitchFamily="49" charset="-122"/>
                <a:sym typeface="楷体_GB2312" pitchFamily="49" charset="-122"/>
              </a:rPr>
              <a:t>Δ</a:t>
            </a:r>
            <a:r>
              <a:rPr lang="en-US" sz="2400" i="1" dirty="0">
                <a:solidFill>
                  <a:srgbClr val="0000FF"/>
                </a:solidFill>
                <a:latin typeface="Times New Roman" pitchFamily="18" charset="0"/>
                <a:ea typeface="楷体_GB2312" pitchFamily="49" charset="-122"/>
                <a:sym typeface="Times New Roman" pitchFamily="18" charset="0"/>
              </a:rPr>
              <a:t>Z </a:t>
            </a:r>
            <a:r>
              <a:rPr lang="zh-CN" altLang="en-US" sz="2400" dirty="0">
                <a:solidFill>
                  <a:srgbClr val="0000FF"/>
                </a:solidFill>
                <a:latin typeface="楷体_GB2312" pitchFamily="49" charset="-122"/>
                <a:ea typeface="楷体_GB2312" pitchFamily="49" charset="-122"/>
                <a:sym typeface="楷体_GB2312" pitchFamily="49" charset="-122"/>
              </a:rPr>
              <a:t>和 </a:t>
            </a:r>
            <a:r>
              <a:rPr lang="en-US" sz="2400" i="1" dirty="0">
                <a:solidFill>
                  <a:srgbClr val="0000FF"/>
                </a:solidFill>
                <a:latin typeface="Times New Roman" pitchFamily="18" charset="0"/>
                <a:ea typeface="楷体_GB2312" pitchFamily="49" charset="-122"/>
                <a:sym typeface="Times New Roman" pitchFamily="18" charset="0"/>
              </a:rPr>
              <a:t>Z</a:t>
            </a:r>
            <a:r>
              <a:rPr lang="en-US" sz="2400" baseline="-25000" dirty="0">
                <a:solidFill>
                  <a:srgbClr val="0000FF"/>
                </a:solidFill>
                <a:latin typeface="楷体_GB2312" pitchFamily="49" charset="-122"/>
                <a:ea typeface="楷体_GB2312" pitchFamily="49" charset="-122"/>
                <a:sym typeface="楷体_GB2312" pitchFamily="49" charset="-122"/>
              </a:rPr>
              <a:t>2</a:t>
            </a:r>
            <a:r>
              <a:rPr lang="en-US" sz="2400" dirty="0">
                <a:solidFill>
                  <a:srgbClr val="0000FF"/>
                </a:solidFill>
                <a:latin typeface="楷体_GB2312" pitchFamily="49" charset="-122"/>
                <a:ea typeface="楷体_GB2312" pitchFamily="49" charset="-122"/>
                <a:sym typeface="楷体_GB2312" pitchFamily="49" charset="-122"/>
              </a:rPr>
              <a:t>=</a:t>
            </a:r>
            <a:r>
              <a:rPr lang="en-US" sz="2400" i="1" dirty="0">
                <a:solidFill>
                  <a:srgbClr val="0000FF"/>
                </a:solidFill>
                <a:latin typeface="Times New Roman" pitchFamily="18" charset="0"/>
                <a:ea typeface="楷体_GB2312" pitchFamily="49" charset="-122"/>
                <a:sym typeface="Times New Roman" pitchFamily="18" charset="0"/>
              </a:rPr>
              <a:t>Z</a:t>
            </a:r>
            <a:r>
              <a:rPr lang="en-US" sz="2400" dirty="0">
                <a:solidFill>
                  <a:srgbClr val="FF0000"/>
                </a:solidFill>
                <a:latin typeface="楷体_GB2312" pitchFamily="49" charset="-122"/>
                <a:ea typeface="楷体_GB2312" pitchFamily="49" charset="-122"/>
                <a:sym typeface="楷体_GB2312" pitchFamily="49" charset="-122"/>
              </a:rPr>
              <a:t>-</a:t>
            </a:r>
            <a:r>
              <a:rPr lang="en-US" sz="2400" dirty="0">
                <a:solidFill>
                  <a:srgbClr val="0000FF"/>
                </a:solidFill>
                <a:latin typeface="楷体_GB2312" pitchFamily="49" charset="-122"/>
                <a:ea typeface="楷体_GB2312" pitchFamily="49" charset="-122"/>
                <a:sym typeface="楷体_GB2312" pitchFamily="49" charset="-122"/>
              </a:rPr>
              <a:t>Δ</a:t>
            </a:r>
            <a:r>
              <a:rPr lang="en-US" sz="2400" i="1" dirty="0">
                <a:solidFill>
                  <a:srgbClr val="0000FF"/>
                </a:solidFill>
                <a:latin typeface="Times New Roman" pitchFamily="18" charset="0"/>
                <a:ea typeface="楷体_GB2312" pitchFamily="49" charset="-122"/>
                <a:sym typeface="Times New Roman" pitchFamily="18" charset="0"/>
              </a:rPr>
              <a:t>Z</a:t>
            </a:r>
            <a:endParaRPr lang="zh-CN" altLang="en-US" dirty="0">
              <a:solidFill>
                <a:srgbClr val="0000FF"/>
              </a:solidFill>
            </a:endParaRPr>
          </a:p>
        </p:txBody>
      </p:sp>
      <p:sp>
        <p:nvSpPr>
          <p:cNvPr id="9" name="Rectangle 3"/>
          <p:cNvSpPr>
            <a:spLocks noChangeArrowheads="1"/>
          </p:cNvSpPr>
          <p:nvPr/>
        </p:nvSpPr>
        <p:spPr bwMode="auto">
          <a:xfrm>
            <a:off x="398940" y="465926"/>
            <a:ext cx="47708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 </a:t>
            </a:r>
            <a:r>
              <a:rPr lang="zh-CN" altLang="en-US" sz="3600" dirty="0">
                <a:solidFill>
                  <a:srgbClr val="FF0000"/>
                </a:solidFill>
                <a:latin typeface="楷体_GB2312" pitchFamily="49" charset="-122"/>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串联结构</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bwMode="auto">
          <a:xfrm>
            <a:off x="1633185" y="2132910"/>
            <a:ext cx="693270" cy="1077927"/>
          </a:xfrm>
          <a:prstGeom prst="roundRect">
            <a:avLst/>
          </a:prstGeom>
          <a:solidFill>
            <a:srgbClr val="FFFF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20482" name="Text Box 4"/>
          <p:cNvSpPr>
            <a:spLocks noChangeArrowheads="1"/>
          </p:cNvSpPr>
          <p:nvPr/>
        </p:nvSpPr>
        <p:spPr bwMode="auto">
          <a:xfrm>
            <a:off x="214470" y="1475618"/>
            <a:ext cx="51565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假设负载阻抗</a:t>
            </a:r>
            <a:r>
              <a:rPr lang="en-US" sz="2400" i="1" dirty="0">
                <a:latin typeface="Times New Roman" pitchFamily="18" charset="0"/>
                <a:ea typeface="楷体_GB2312" pitchFamily="49" charset="-122"/>
                <a:sym typeface="Times New Roman" pitchFamily="18" charset="0"/>
              </a:rPr>
              <a:t>Z</a:t>
            </a:r>
            <a:r>
              <a:rPr lang="en-US" sz="2400" baseline="-25000" dirty="0">
                <a:latin typeface="楷体_GB2312" pitchFamily="49" charset="-122"/>
                <a:ea typeface="楷体_GB2312" pitchFamily="49" charset="-122"/>
                <a:sym typeface="楷体_GB2312" pitchFamily="49" charset="-122"/>
              </a:rPr>
              <a:t>L</a:t>
            </a:r>
            <a:r>
              <a:rPr lang="en-US" sz="2400" dirty="0">
                <a:latin typeface="楷体_GB2312" pitchFamily="49" charset="-122"/>
                <a:ea typeface="楷体_GB2312" pitchFamily="49" charset="-122"/>
                <a:sym typeface="楷体_GB2312" pitchFamily="49" charset="-122"/>
              </a:rPr>
              <a:t>→∞</a:t>
            </a:r>
            <a:r>
              <a:rPr lang="zh-CN" altLang="en-US" sz="2400" dirty="0">
                <a:latin typeface="楷体_GB2312" pitchFamily="49" charset="-122"/>
                <a:ea typeface="楷体_GB2312" pitchFamily="49" charset="-122"/>
                <a:sym typeface="楷体_GB2312" pitchFamily="49" charset="-122"/>
              </a:rPr>
              <a:t>（输入阻抗大）</a:t>
            </a:r>
            <a:endParaRPr lang="zh-CN" altLang="en-US" sz="2400" i="1" dirty="0">
              <a:latin typeface="楷体_GB2312" pitchFamily="49" charset="-122"/>
              <a:ea typeface="楷体_GB2312" pitchFamily="49" charset="-122"/>
              <a:sym typeface="楷体_GB2312" pitchFamily="49" charset="-122"/>
            </a:endParaRPr>
          </a:p>
        </p:txBody>
      </p:sp>
      <p:pic>
        <p:nvPicPr>
          <p:cNvPr id="20483"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2979" y="2326573"/>
            <a:ext cx="32861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Text Box 6"/>
          <p:cNvSpPr>
            <a:spLocks noChangeArrowheads="1"/>
          </p:cNvSpPr>
          <p:nvPr/>
        </p:nvSpPr>
        <p:spPr bwMode="auto">
          <a:xfrm>
            <a:off x="636940" y="3536545"/>
            <a:ext cx="279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输出电压幅值</a:t>
            </a:r>
            <a:endParaRPr lang="zh-CN" altLang="en-US" sz="2400" i="1" dirty="0">
              <a:latin typeface="楷体_GB2312" pitchFamily="49" charset="-122"/>
              <a:ea typeface="楷体_GB2312" pitchFamily="49" charset="-122"/>
              <a:sym typeface="楷体_GB2312" pitchFamily="49" charset="-122"/>
            </a:endParaRPr>
          </a:p>
        </p:txBody>
      </p:sp>
      <p:pic>
        <p:nvPicPr>
          <p:cNvPr id="20485" name="Object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260" y="4178986"/>
            <a:ext cx="4591050"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Text Box 8"/>
          <p:cNvSpPr>
            <a:spLocks noChangeArrowheads="1"/>
          </p:cNvSpPr>
          <p:nvPr/>
        </p:nvSpPr>
        <p:spPr bwMode="auto">
          <a:xfrm>
            <a:off x="469904" y="5679257"/>
            <a:ext cx="2116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输出阻抗</a:t>
            </a:r>
            <a:endParaRPr lang="zh-CN" altLang="en-US" sz="2400" i="1" dirty="0">
              <a:latin typeface="楷体_GB2312" pitchFamily="49" charset="-122"/>
              <a:ea typeface="楷体_GB2312" pitchFamily="49" charset="-122"/>
              <a:sym typeface="楷体_GB2312" pitchFamily="49" charset="-122"/>
            </a:endParaRPr>
          </a:p>
        </p:txBody>
      </p:sp>
      <p:pic>
        <p:nvPicPr>
          <p:cNvPr id="20487" name="Object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10220" y="3120350"/>
            <a:ext cx="9144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8" name="Object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79820" y="5388958"/>
            <a:ext cx="274478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89" name="Group 11"/>
          <p:cNvGrpSpPr>
            <a:grpSpLocks/>
          </p:cNvGrpSpPr>
          <p:nvPr/>
        </p:nvGrpSpPr>
        <p:grpSpPr bwMode="auto">
          <a:xfrm>
            <a:off x="5310395" y="1448713"/>
            <a:ext cx="3178175" cy="3024187"/>
            <a:chOff x="0" y="0"/>
            <a:chExt cx="1974" cy="2056"/>
          </a:xfrm>
        </p:grpSpPr>
        <p:pic>
          <p:nvPicPr>
            <p:cNvPr id="20490" name="Picture 1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0"/>
              <a:ext cx="1974" cy="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1" name="Text Box 13"/>
            <p:cNvSpPr>
              <a:spLocks noChangeArrowheads="1"/>
            </p:cNvSpPr>
            <p:nvPr/>
          </p:nvSpPr>
          <p:spPr bwMode="auto">
            <a:xfrm>
              <a:off x="28" y="1786"/>
              <a:ext cx="187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latin typeface="楷体_GB2312" pitchFamily="49" charset="-122"/>
                  <a:ea typeface="楷体_GB2312" pitchFamily="49" charset="-122"/>
                  <a:sym typeface="楷体_GB2312" pitchFamily="49" charset="-122"/>
                </a:rPr>
                <a:t>图</a:t>
              </a:r>
              <a:r>
                <a:rPr lang="en-US" sz="2000">
                  <a:latin typeface="楷体_GB2312" pitchFamily="49" charset="-122"/>
                  <a:ea typeface="楷体_GB2312" pitchFamily="49" charset="-122"/>
                  <a:sym typeface="楷体_GB2312" pitchFamily="49" charset="-122"/>
                </a:rPr>
                <a:t>4-11 </a:t>
              </a:r>
              <a:r>
                <a:rPr lang="zh-CN" altLang="en-US" sz="2000">
                  <a:latin typeface="楷体_GB2312" pitchFamily="49" charset="-122"/>
                  <a:ea typeface="楷体_GB2312" pitchFamily="49" charset="-122"/>
                  <a:sym typeface="楷体_GB2312" pitchFamily="49" charset="-122"/>
                </a:rPr>
                <a:t>交流电桥原理图</a:t>
              </a:r>
              <a:endParaRPr lang="zh-CN" altLang="en-US"/>
            </a:p>
          </p:txBody>
        </p:sp>
      </p:grpSp>
      <p:sp>
        <p:nvSpPr>
          <p:cNvPr id="13" name="Rectangle 3">
            <a:extLst>
              <a:ext uri="{FF2B5EF4-FFF2-40B4-BE49-F238E27FC236}">
                <a16:creationId xmlns:a16="http://schemas.microsoft.com/office/drawing/2014/main" id="{C4069FDE-CD59-4D62-AB7D-B1459706D642}"/>
              </a:ext>
            </a:extLst>
          </p:cNvPr>
          <p:cNvSpPr>
            <a:spLocks noChangeArrowheads="1"/>
          </p:cNvSpPr>
          <p:nvPr/>
        </p:nvSpPr>
        <p:spPr bwMode="auto">
          <a:xfrm>
            <a:off x="398940" y="465926"/>
            <a:ext cx="474399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 </a:t>
            </a:r>
            <a:r>
              <a:rPr lang="zh-CN" altLang="en-US" sz="3600" dirty="0">
                <a:solidFill>
                  <a:srgbClr val="FF0000"/>
                </a:solidFill>
                <a:latin typeface="楷体_GB2312" pitchFamily="49" charset="-122"/>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串联结构</a:t>
            </a:r>
            <a:endParaRPr lang="zh-CN" altLang="en-US" sz="3600" i="1" dirty="0">
              <a:solidFill>
                <a:srgbClr val="0000FF"/>
              </a:solidFill>
              <a:latin typeface="Times New Roman" pitchFamily="18" charset="0"/>
              <a:ea typeface="楷体_GB2312" pitchFamily="49" charset="-122"/>
              <a:sym typeface="Times New Roman" pitchFamily="18"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a:spLocks noChangeArrowheads="1"/>
          </p:cNvSpPr>
          <p:nvPr/>
        </p:nvSpPr>
        <p:spPr bwMode="auto">
          <a:xfrm>
            <a:off x="323705" y="353120"/>
            <a:ext cx="4860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开路输出</a:t>
            </a:r>
            <a:endParaRPr lang="zh-CN" altLang="en-US" dirty="0"/>
          </a:p>
        </p:txBody>
      </p:sp>
      <p:pic>
        <p:nvPicPr>
          <p:cNvPr id="21507"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3495" y="191171"/>
            <a:ext cx="6030913" cy="1254125"/>
          </a:xfrm>
          <a:prstGeom prst="rect">
            <a:avLst/>
          </a:prstGeom>
          <a:solidFill>
            <a:schemeClr val="bg2"/>
          </a:solidFill>
          <a:ln>
            <a:noFill/>
          </a:ln>
          <a:extLst/>
        </p:spPr>
      </p:pic>
      <p:sp>
        <p:nvSpPr>
          <p:cNvPr id="21508" name="Text Box 4"/>
          <p:cNvSpPr>
            <a:spLocks noChangeArrowheads="1"/>
          </p:cNvSpPr>
          <p:nvPr/>
        </p:nvSpPr>
        <p:spPr bwMode="auto">
          <a:xfrm>
            <a:off x="539720" y="1559704"/>
            <a:ext cx="7488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             为电感线圈的品质因数  </a:t>
            </a:r>
            <a:endParaRPr lang="zh-CN" altLang="en-US" dirty="0"/>
          </a:p>
        </p:txBody>
      </p:sp>
      <p:pic>
        <p:nvPicPr>
          <p:cNvPr id="21509" name="Object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4216" y="1412860"/>
            <a:ext cx="901700" cy="750888"/>
          </a:xfrm>
          <a:prstGeom prst="rect">
            <a:avLst/>
          </a:prstGeom>
          <a:solidFill>
            <a:srgbClr val="FFFF00"/>
          </a:solidFill>
          <a:ln>
            <a:noFill/>
          </a:ln>
          <a:extLst/>
        </p:spPr>
      </p:pic>
      <p:sp>
        <p:nvSpPr>
          <p:cNvPr id="21510" name="Text Box 6"/>
          <p:cNvSpPr>
            <a:spLocks noChangeArrowheads="1"/>
          </p:cNvSpPr>
          <p:nvPr/>
        </p:nvSpPr>
        <p:spPr bwMode="auto">
          <a:xfrm>
            <a:off x="539720" y="2217170"/>
            <a:ext cx="1890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i="1" dirty="0">
                <a:solidFill>
                  <a:srgbClr val="FF0000"/>
                </a:solidFill>
                <a:ea typeface="楷体_GB2312" pitchFamily="49" charset="-122"/>
                <a:sym typeface="Arial" pitchFamily="34" charset="0"/>
              </a:rPr>
              <a:t>分析：</a:t>
            </a:r>
          </a:p>
        </p:txBody>
      </p:sp>
      <p:grpSp>
        <p:nvGrpSpPr>
          <p:cNvPr id="4" name="组合 3">
            <a:extLst>
              <a:ext uri="{FF2B5EF4-FFF2-40B4-BE49-F238E27FC236}">
                <a16:creationId xmlns:a16="http://schemas.microsoft.com/office/drawing/2014/main" id="{C8C08E09-E960-4581-9FE4-FFF6D8A5B743}"/>
              </a:ext>
            </a:extLst>
          </p:cNvPr>
          <p:cNvGrpSpPr/>
          <p:nvPr/>
        </p:nvGrpSpPr>
        <p:grpSpPr>
          <a:xfrm>
            <a:off x="377285" y="2698907"/>
            <a:ext cx="5287326" cy="3970318"/>
            <a:chOff x="377285" y="2698907"/>
            <a:chExt cx="5287326" cy="3970318"/>
          </a:xfrm>
        </p:grpSpPr>
        <p:sp>
          <p:nvSpPr>
            <p:cNvPr id="21511" name="Text Box 7"/>
            <p:cNvSpPr>
              <a:spLocks noChangeArrowheads="1"/>
            </p:cNvSpPr>
            <p:nvPr/>
          </p:nvSpPr>
          <p:spPr bwMode="auto">
            <a:xfrm>
              <a:off x="377285" y="2698907"/>
              <a:ext cx="5287326" cy="3970318"/>
            </a:xfrm>
            <a:prstGeom prst="rect">
              <a:avLst/>
            </a:prstGeom>
            <a:solidFill>
              <a:schemeClr val="accent3">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gn="just" eaLnBrk="1" hangingPunct="1">
                <a:lnSpc>
                  <a:spcPct val="150000"/>
                </a:lnSpc>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桥路输出电压</a:t>
              </a:r>
              <a:r>
                <a:rPr lang="en-US" sz="2400" i="1" dirty="0">
                  <a:latin typeface="Times New Roman" pitchFamily="18" charset="0"/>
                  <a:ea typeface="楷体_GB2312" pitchFamily="49" charset="-122"/>
                  <a:sym typeface="Times New Roman" pitchFamily="18" charset="0"/>
                </a:rPr>
                <a:t>U</a:t>
              </a:r>
              <a:r>
                <a:rPr lang="en-US" sz="2400" baseline="-25000" dirty="0">
                  <a:latin typeface="Times New Roman" pitchFamily="18" charset="0"/>
                  <a:ea typeface="楷体_GB2312" pitchFamily="49" charset="-122"/>
                  <a:sym typeface="Times New Roman" pitchFamily="18" charset="0"/>
                </a:rPr>
                <a:t>SC</a:t>
              </a:r>
              <a:r>
                <a:rPr lang="zh-CN" altLang="en-US" sz="2400" dirty="0">
                  <a:latin typeface="楷体_GB2312" pitchFamily="49" charset="-122"/>
                  <a:ea typeface="楷体_GB2312" pitchFamily="49" charset="-122"/>
                  <a:sym typeface="楷体_GB2312" pitchFamily="49" charset="-122"/>
                </a:rPr>
                <a:t>包含与电源</a:t>
              </a:r>
              <a:r>
                <a:rPr lang="en-US" sz="2400" i="1" dirty="0">
                  <a:latin typeface="Times New Roman" pitchFamily="18" charset="0"/>
                  <a:ea typeface="楷体_GB2312" pitchFamily="49" charset="-122"/>
                  <a:sym typeface="Times New Roman" pitchFamily="18" charset="0"/>
                </a:rPr>
                <a:t>E</a:t>
              </a:r>
              <a:r>
                <a:rPr lang="zh-CN" altLang="en-US" sz="2400" dirty="0">
                  <a:solidFill>
                    <a:srgbClr val="0000FF"/>
                  </a:solidFill>
                  <a:latin typeface="楷体_GB2312" pitchFamily="49" charset="-122"/>
                  <a:ea typeface="楷体_GB2312" pitchFamily="49" charset="-122"/>
                  <a:sym typeface="楷体_GB2312" pitchFamily="49" charset="-122"/>
                </a:rPr>
                <a:t>同相和正交</a:t>
              </a:r>
              <a:r>
                <a:rPr lang="zh-CN" altLang="en-US" sz="2400" dirty="0">
                  <a:latin typeface="楷体_GB2312" pitchFamily="49" charset="-122"/>
                  <a:ea typeface="楷体_GB2312" pitchFamily="49" charset="-122"/>
                  <a:sym typeface="楷体_GB2312" pitchFamily="49" charset="-122"/>
                </a:rPr>
                <a:t>两个分量（</a:t>
              </a:r>
              <a:r>
                <a:rPr lang="zh-CN" altLang="en-US" sz="2400" dirty="0">
                  <a:highlight>
                    <a:srgbClr val="FFFF00"/>
                  </a:highlight>
                  <a:latin typeface="楷体_GB2312" pitchFamily="49" charset="-122"/>
                  <a:ea typeface="楷体_GB2312" pitchFamily="49" charset="-122"/>
                  <a:sym typeface="楷体_GB2312" pitchFamily="49" charset="-122"/>
                </a:rPr>
                <a:t>实部</a:t>
              </a:r>
              <a:r>
                <a:rPr lang="en-US" altLang="zh-CN" sz="2400" dirty="0">
                  <a:latin typeface="楷体_GB2312" pitchFamily="49" charset="-122"/>
                  <a:ea typeface="楷体_GB2312" pitchFamily="49" charset="-122"/>
                  <a:sym typeface="楷体_GB2312" pitchFamily="49" charset="-122"/>
                </a:rPr>
                <a:t>+</a:t>
              </a:r>
              <a:r>
                <a:rPr lang="zh-CN" altLang="en-US" sz="2400" dirty="0">
                  <a:highlight>
                    <a:srgbClr val="FFFF00"/>
                  </a:highlight>
                  <a:latin typeface="楷体_GB2312" pitchFamily="49" charset="-122"/>
                  <a:ea typeface="楷体_GB2312" pitchFamily="49" charset="-122"/>
                  <a:sym typeface="楷体_GB2312" pitchFamily="49" charset="-122"/>
                </a:rPr>
                <a:t>虚部</a:t>
              </a:r>
              <a:r>
                <a:rPr lang="zh-CN" altLang="en-US" sz="2400" dirty="0">
                  <a:latin typeface="楷体_GB2312" pitchFamily="49" charset="-122"/>
                  <a:ea typeface="楷体_GB2312" pitchFamily="49" charset="-122"/>
                  <a:sym typeface="楷体_GB2312" pitchFamily="49" charset="-122"/>
                </a:rPr>
                <a:t>）</a:t>
              </a:r>
              <a:endParaRPr lang="en-US" altLang="zh-CN" sz="2400" dirty="0">
                <a:latin typeface="楷体_GB2312" pitchFamily="49" charset="-122"/>
                <a:ea typeface="楷体_GB2312" pitchFamily="49" charset="-122"/>
                <a:sym typeface="楷体_GB2312" pitchFamily="49" charset="-122"/>
              </a:endParaRPr>
            </a:p>
            <a:p>
              <a:pPr marL="342900" indent="-342900" algn="just" eaLnBrk="1" hangingPunct="1">
                <a:lnSpc>
                  <a:spcPct val="150000"/>
                </a:lnSpc>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实际只希望有同相分量：使       </a:t>
              </a:r>
              <a:endParaRPr lang="en-US" altLang="zh-CN" sz="2400" dirty="0">
                <a:latin typeface="楷体_GB2312" pitchFamily="49" charset="-122"/>
                <a:ea typeface="楷体_GB2312" pitchFamily="49" charset="-122"/>
                <a:sym typeface="楷体_GB2312" pitchFamily="49" charset="-122"/>
              </a:endParaRPr>
            </a:p>
            <a:p>
              <a:pPr algn="just" eaLnBrk="1" hangingPunct="1">
                <a:lnSpc>
                  <a:spcPct val="150000"/>
                </a:lnSpc>
              </a:pPr>
              <a:r>
                <a:rPr lang="zh-CN" altLang="en-US" sz="2400" dirty="0">
                  <a:latin typeface="楷体_GB2312" pitchFamily="49" charset="-122"/>
                  <a:ea typeface="楷体_GB2312" pitchFamily="49" charset="-122"/>
                  <a:sym typeface="楷体_GB2312" pitchFamily="49" charset="-122"/>
                </a:rPr>
                <a:t>  或</a:t>
              </a:r>
              <a:r>
                <a:rPr lang="en-US" sz="2400" i="1" dirty="0">
                  <a:latin typeface="Times New Roman" pitchFamily="18" charset="0"/>
                  <a:ea typeface="楷体_GB2312" pitchFamily="49" charset="-122"/>
                  <a:sym typeface="Times New Roman" pitchFamily="18" charset="0"/>
                </a:rPr>
                <a:t>Q</a:t>
              </a:r>
              <a:r>
                <a:rPr lang="zh-CN" altLang="en-US" sz="2400" dirty="0">
                  <a:latin typeface="楷体_GB2312" pitchFamily="49" charset="-122"/>
                  <a:ea typeface="楷体_GB2312" pitchFamily="49" charset="-122"/>
                  <a:sym typeface="楷体_GB2312" pitchFamily="49" charset="-122"/>
                </a:rPr>
                <a:t>值比较大（虚部 </a:t>
              </a:r>
              <a:r>
                <a:rPr lang="zh-CN" altLang="en-US" sz="2400" dirty="0">
                  <a:ea typeface="楷体_GB2312" pitchFamily="49" charset="-122"/>
                  <a:cs typeface="Arial" panose="020B0604020202020204" pitchFamily="34" charset="0"/>
                  <a:sym typeface="楷体_GB2312" pitchFamily="49" charset="-122"/>
                </a:rPr>
                <a:t>≈ </a:t>
              </a:r>
              <a:r>
                <a:rPr lang="en-US" altLang="zh-CN" sz="2400" dirty="0">
                  <a:ea typeface="楷体_GB2312" pitchFamily="49" charset="-122"/>
                  <a:cs typeface="Arial" panose="020B0604020202020204" pitchFamily="34" charset="0"/>
                  <a:sym typeface="楷体_GB2312" pitchFamily="49" charset="-122"/>
                </a:rPr>
                <a:t>0</a:t>
              </a:r>
              <a:r>
                <a:rPr lang="zh-CN" altLang="en-US" sz="2400" dirty="0">
                  <a:latin typeface="楷体_GB2312" pitchFamily="49" charset="-122"/>
                  <a:ea typeface="楷体_GB2312" pitchFamily="49" charset="-122"/>
                  <a:sym typeface="楷体_GB2312" pitchFamily="49" charset="-122"/>
                </a:rPr>
                <a:t>）。</a:t>
              </a:r>
              <a:endParaRPr lang="en-US" altLang="zh-CN" sz="2400" dirty="0">
                <a:latin typeface="楷体_GB2312" pitchFamily="49" charset="-122"/>
                <a:ea typeface="楷体_GB2312" pitchFamily="49" charset="-122"/>
                <a:sym typeface="楷体_GB2312" pitchFamily="49" charset="-122"/>
              </a:endParaRPr>
            </a:p>
            <a:p>
              <a:pPr marL="342900" indent="-342900" algn="just" eaLnBrk="1" hangingPunct="1">
                <a:lnSpc>
                  <a:spcPct val="150000"/>
                </a:lnSpc>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但</a:t>
              </a:r>
              <a:r>
                <a:rPr lang="zh-CN" altLang="en-US" sz="2400" dirty="0">
                  <a:latin typeface="Times New Roman" pitchFamily="18" charset="0"/>
                  <a:ea typeface="楷体_GB2312" pitchFamily="49" charset="-122"/>
                  <a:sym typeface="Times New Roman" pitchFamily="18" charset="0"/>
                </a:rPr>
                <a:t>△</a:t>
              </a:r>
              <a:r>
                <a:rPr lang="en-US" sz="2400" i="1" dirty="0">
                  <a:latin typeface="Times New Roman" pitchFamily="18" charset="0"/>
                  <a:ea typeface="楷体_GB2312" pitchFamily="49" charset="-122"/>
                  <a:sym typeface="Times New Roman" pitchFamily="18" charset="0"/>
                </a:rPr>
                <a:t>R</a:t>
              </a:r>
              <a:r>
                <a:rPr lang="en-US" sz="2400" baseline="-25000" dirty="0">
                  <a:latin typeface="Times New Roman" pitchFamily="18" charset="0"/>
                  <a:ea typeface="楷体_GB2312" pitchFamily="49" charset="-122"/>
                  <a:sym typeface="Times New Roman" pitchFamily="18" charset="0"/>
                </a:rPr>
                <a:t>S</a:t>
              </a:r>
              <a:r>
                <a:rPr lang="en-US" sz="2400" dirty="0">
                  <a:latin typeface="Times New Roman" pitchFamily="18" charset="0"/>
                  <a:ea typeface="楷体_GB2312" pitchFamily="49" charset="-122"/>
                  <a:sym typeface="Times New Roman" pitchFamily="18" charset="0"/>
                </a:rPr>
                <a:t>/</a:t>
              </a:r>
              <a:r>
                <a:rPr lang="en-US" sz="2400" i="1" dirty="0">
                  <a:latin typeface="Times New Roman" pitchFamily="18" charset="0"/>
                  <a:ea typeface="楷体_GB2312" pitchFamily="49" charset="-122"/>
                  <a:sym typeface="Times New Roman" pitchFamily="18" charset="0"/>
                </a:rPr>
                <a:t>R</a:t>
              </a:r>
              <a:r>
                <a:rPr lang="en-US" sz="2400" baseline="-25000" dirty="0">
                  <a:latin typeface="Times New Roman" pitchFamily="18" charset="0"/>
                  <a:ea typeface="楷体_GB2312" pitchFamily="49" charset="-122"/>
                  <a:sym typeface="Times New Roman" pitchFamily="18" charset="0"/>
                </a:rPr>
                <a:t>S</a:t>
              </a:r>
              <a:r>
                <a:rPr lang="zh-CN" altLang="en-US" sz="2400" dirty="0">
                  <a:latin typeface="楷体_GB2312" pitchFamily="49" charset="-122"/>
                  <a:ea typeface="楷体_GB2312" pitchFamily="49" charset="-122"/>
                  <a:sym typeface="楷体_GB2312" pitchFamily="49" charset="-122"/>
                </a:rPr>
                <a:t>一般很小，所以要求线圈有高的品质因数。</a:t>
              </a:r>
              <a:endParaRPr lang="en-US" altLang="zh-CN" sz="2400" dirty="0">
                <a:latin typeface="楷体_GB2312" pitchFamily="49" charset="-122"/>
                <a:ea typeface="楷体_GB2312" pitchFamily="49" charset="-122"/>
                <a:sym typeface="楷体_GB2312" pitchFamily="49" charset="-122"/>
              </a:endParaRPr>
            </a:p>
            <a:p>
              <a:pPr marL="342900" indent="-342900" algn="just" eaLnBrk="1" hangingPunct="1">
                <a:lnSpc>
                  <a:spcPct val="150000"/>
                </a:lnSpc>
                <a:buFont typeface="Arial" panose="020B0604020202020204" pitchFamily="34" charset="0"/>
                <a:buChar char="•"/>
              </a:pPr>
              <a:r>
                <a:rPr lang="zh-CN" altLang="en-US" sz="2400" dirty="0">
                  <a:solidFill>
                    <a:srgbClr val="0000FF"/>
                  </a:solidFill>
                  <a:latin typeface="楷体_GB2312" pitchFamily="49" charset="-122"/>
                  <a:ea typeface="楷体_GB2312" pitchFamily="49" charset="-122"/>
                  <a:sym typeface="楷体_GB2312" pitchFamily="49" charset="-122"/>
                </a:rPr>
                <a:t>当</a:t>
              </a:r>
              <a:r>
                <a:rPr lang="en-US" sz="2400" dirty="0">
                  <a:solidFill>
                    <a:srgbClr val="0000FF"/>
                  </a:solidFill>
                  <a:latin typeface="楷体_GB2312" pitchFamily="49" charset="-122"/>
                  <a:ea typeface="楷体_GB2312" pitchFamily="49" charset="-122"/>
                  <a:sym typeface="楷体_GB2312" pitchFamily="49" charset="-122"/>
                </a:rPr>
                <a:t>Q</a:t>
              </a:r>
              <a:r>
                <a:rPr lang="zh-CN" altLang="en-US" sz="2400" dirty="0">
                  <a:solidFill>
                    <a:srgbClr val="0000FF"/>
                  </a:solidFill>
                  <a:latin typeface="楷体_GB2312" pitchFamily="49" charset="-122"/>
                  <a:ea typeface="楷体_GB2312" pitchFamily="49" charset="-122"/>
                  <a:sym typeface="楷体_GB2312" pitchFamily="49" charset="-122"/>
                </a:rPr>
                <a:t>值很高时</a:t>
              </a:r>
              <a:endParaRPr lang="zh-CN" altLang="en-US" sz="2400" dirty="0">
                <a:solidFill>
                  <a:srgbClr val="0000FF"/>
                </a:solidFill>
              </a:endParaRPr>
            </a:p>
          </p:txBody>
        </p:sp>
        <p:pic>
          <p:nvPicPr>
            <p:cNvPr id="21513" name="Object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1574" y="5910579"/>
              <a:ext cx="1377268" cy="756250"/>
            </a:xfrm>
            <a:prstGeom prst="rect">
              <a:avLst/>
            </a:prstGeom>
            <a:solidFill>
              <a:schemeClr val="accent3">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1512" name="Object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86711" y="3897190"/>
              <a:ext cx="1174859" cy="766496"/>
            </a:xfrm>
            <a:prstGeom prst="rect">
              <a:avLst/>
            </a:prstGeom>
            <a:solidFill>
              <a:schemeClr val="accent3">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0" name="Group 11"/>
          <p:cNvGrpSpPr>
            <a:grpSpLocks/>
          </p:cNvGrpSpPr>
          <p:nvPr/>
        </p:nvGrpSpPr>
        <p:grpSpPr bwMode="auto">
          <a:xfrm>
            <a:off x="5949952" y="3038148"/>
            <a:ext cx="3178175" cy="3024187"/>
            <a:chOff x="0" y="0"/>
            <a:chExt cx="1974" cy="2056"/>
          </a:xfrm>
        </p:grpSpPr>
        <p:pic>
          <p:nvPicPr>
            <p:cNvPr id="11" name="Picture 1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0"/>
              <a:ext cx="1974" cy="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13"/>
            <p:cNvSpPr>
              <a:spLocks noChangeArrowheads="1"/>
            </p:cNvSpPr>
            <p:nvPr/>
          </p:nvSpPr>
          <p:spPr bwMode="auto">
            <a:xfrm>
              <a:off x="28" y="1786"/>
              <a:ext cx="187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latin typeface="楷体_GB2312" pitchFamily="49" charset="-122"/>
                  <a:ea typeface="楷体_GB2312" pitchFamily="49" charset="-122"/>
                  <a:sym typeface="楷体_GB2312" pitchFamily="49" charset="-122"/>
                </a:rPr>
                <a:t>图</a:t>
              </a:r>
              <a:r>
                <a:rPr lang="en-US" sz="2000">
                  <a:latin typeface="楷体_GB2312" pitchFamily="49" charset="-122"/>
                  <a:ea typeface="楷体_GB2312" pitchFamily="49" charset="-122"/>
                  <a:sym typeface="楷体_GB2312" pitchFamily="49" charset="-122"/>
                </a:rPr>
                <a:t>4-11 </a:t>
              </a:r>
              <a:r>
                <a:rPr lang="zh-CN" altLang="en-US" sz="2000">
                  <a:latin typeface="楷体_GB2312" pitchFamily="49" charset="-122"/>
                  <a:ea typeface="楷体_GB2312" pitchFamily="49" charset="-122"/>
                  <a:sym typeface="楷体_GB2312" pitchFamily="49" charset="-122"/>
                </a:rPr>
                <a:t>交流电桥原理图</a:t>
              </a:r>
              <a:endParaRPr lang="zh-CN" altLang="en-US"/>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a:spLocks noChangeArrowheads="1"/>
          </p:cNvSpPr>
          <p:nvPr/>
        </p:nvSpPr>
        <p:spPr bwMode="auto">
          <a:xfrm>
            <a:off x="107950" y="1410207"/>
            <a:ext cx="835342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zh-CN" altLang="en-US" sz="2400" dirty="0">
                <a:latin typeface="楷体_GB2312" pitchFamily="49" charset="-122"/>
                <a:ea typeface="楷体_GB2312" pitchFamily="49" charset="-122"/>
                <a:sym typeface="楷体_GB2312" pitchFamily="49" charset="-122"/>
              </a:rPr>
              <a:t>并联结构：</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3</a:t>
            </a: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en-US" sz="2400" dirty="0">
                <a:latin typeface="楷体_GB2312" pitchFamily="49" charset="-122"/>
                <a:ea typeface="楷体_GB2312" pitchFamily="49" charset="-122"/>
                <a:sym typeface="楷体_GB2312" pitchFamily="49" charset="-122"/>
              </a:rPr>
              <a:t>=Z</a:t>
            </a:r>
            <a:endParaRPr lang="zh-CN" altLang="en-US" sz="2400" dirty="0">
              <a:latin typeface="楷体_GB2312" pitchFamily="49" charset="-122"/>
              <a:ea typeface="楷体_GB2312" pitchFamily="49" charset="-122"/>
              <a:sym typeface="楷体_GB2312" pitchFamily="49" charset="-122"/>
            </a:endParaRPr>
          </a:p>
          <a:p>
            <a:pPr marL="342900" indent="-342900" eaLnBrk="1" hangingPunct="1">
              <a:lnSpc>
                <a:spcPct val="150000"/>
              </a:lnSpc>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平衡电抗的配置决定了并联结构的灵敏度。</a:t>
            </a:r>
          </a:p>
          <a:p>
            <a:pPr eaLnBrk="1" hangingPunct="1">
              <a:lnSpc>
                <a:spcPct val="150000"/>
              </a:lnSpc>
            </a:pPr>
            <a:endParaRPr lang="zh-CN" altLang="en-US" sz="2400" dirty="0">
              <a:latin typeface="楷体_GB2312" pitchFamily="49" charset="-122"/>
              <a:ea typeface="楷体_GB2312" pitchFamily="49" charset="-122"/>
              <a:sym typeface="楷体_GB2312" pitchFamily="49" charset="-122"/>
            </a:endParaRPr>
          </a:p>
        </p:txBody>
      </p:sp>
      <p:sp>
        <p:nvSpPr>
          <p:cNvPr id="22531" name="Rectangle 3"/>
          <p:cNvSpPr>
            <a:spLocks noChangeArrowheads="1"/>
          </p:cNvSpPr>
          <p:nvPr/>
        </p:nvSpPr>
        <p:spPr bwMode="auto">
          <a:xfrm>
            <a:off x="0" y="2980780"/>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2" name="Rectangle 4"/>
          <p:cNvSpPr>
            <a:spLocks noChangeArrowheads="1"/>
          </p:cNvSpPr>
          <p:nvPr/>
        </p:nvSpPr>
        <p:spPr bwMode="auto">
          <a:xfrm>
            <a:off x="0" y="3685630"/>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3" name="Rectangle 5"/>
          <p:cNvSpPr>
            <a:spLocks noChangeArrowheads="1"/>
          </p:cNvSpPr>
          <p:nvPr/>
        </p:nvSpPr>
        <p:spPr bwMode="auto">
          <a:xfrm>
            <a:off x="0" y="3685630"/>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4" name="Rectangle 6"/>
          <p:cNvSpPr>
            <a:spLocks noChangeArrowheads="1"/>
          </p:cNvSpPr>
          <p:nvPr/>
        </p:nvSpPr>
        <p:spPr bwMode="auto">
          <a:xfrm>
            <a:off x="0" y="367134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5" name="Rectangle 7"/>
          <p:cNvSpPr>
            <a:spLocks noChangeArrowheads="1"/>
          </p:cNvSpPr>
          <p:nvPr/>
        </p:nvSpPr>
        <p:spPr bwMode="auto">
          <a:xfrm>
            <a:off x="0" y="3609430"/>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6" name="Rectangle 8"/>
          <p:cNvSpPr>
            <a:spLocks noChangeArrowheads="1"/>
          </p:cNvSpPr>
          <p:nvPr/>
        </p:nvSpPr>
        <p:spPr bwMode="auto">
          <a:xfrm>
            <a:off x="0" y="367134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7" name="Rectangle 9"/>
          <p:cNvSpPr>
            <a:spLocks noChangeArrowheads="1"/>
          </p:cNvSpPr>
          <p:nvPr/>
        </p:nvSpPr>
        <p:spPr bwMode="auto">
          <a:xfrm>
            <a:off x="0" y="296649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8" name="Rectangle 10"/>
          <p:cNvSpPr>
            <a:spLocks noChangeArrowheads="1"/>
          </p:cNvSpPr>
          <p:nvPr/>
        </p:nvSpPr>
        <p:spPr bwMode="auto">
          <a:xfrm>
            <a:off x="0" y="3009355"/>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9" name="Rectangle 11"/>
          <p:cNvSpPr>
            <a:spLocks noChangeArrowheads="1"/>
          </p:cNvSpPr>
          <p:nvPr/>
        </p:nvSpPr>
        <p:spPr bwMode="auto">
          <a:xfrm>
            <a:off x="0" y="3199855"/>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40" name="Rectangle 12"/>
          <p:cNvSpPr>
            <a:spLocks noChangeArrowheads="1"/>
          </p:cNvSpPr>
          <p:nvPr/>
        </p:nvSpPr>
        <p:spPr bwMode="auto">
          <a:xfrm>
            <a:off x="0" y="367134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41" name="Rectangle 13"/>
          <p:cNvSpPr>
            <a:spLocks noChangeArrowheads="1"/>
          </p:cNvSpPr>
          <p:nvPr/>
        </p:nvSpPr>
        <p:spPr bwMode="auto">
          <a:xfrm>
            <a:off x="0" y="3657055"/>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42" name="AutoShape 14"/>
          <p:cNvSpPr>
            <a:spLocks noChangeArrowheads="1"/>
          </p:cNvSpPr>
          <p:nvPr/>
        </p:nvSpPr>
        <p:spPr bwMode="auto">
          <a:xfrm>
            <a:off x="1028528" y="5876380"/>
            <a:ext cx="3527425" cy="504825"/>
          </a:xfrm>
          <a:prstGeom prst="wedgeRectCallout">
            <a:avLst>
              <a:gd name="adj1" fmla="val 21640"/>
              <a:gd name="adj2" fmla="val -190631"/>
            </a:avLst>
          </a:prstGeom>
          <a:noFill/>
          <a:ln w="9525"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1" hangingPunct="1"/>
            <a:r>
              <a:rPr lang="zh-CN" altLang="en-US" sz="2400">
                <a:solidFill>
                  <a:srgbClr val="FF0000"/>
                </a:solidFill>
                <a:sym typeface="宋体" pitchFamily="2" charset="-122"/>
              </a:rPr>
              <a:t>串联结构时的输出电压</a:t>
            </a:r>
          </a:p>
        </p:txBody>
      </p:sp>
      <p:graphicFrame>
        <p:nvGraphicFramePr>
          <p:cNvPr id="22543" name="Object 21"/>
          <p:cNvGraphicFramePr>
            <a:graphicFrameLocks noChangeAspect="1"/>
          </p:cNvGraphicFramePr>
          <p:nvPr>
            <p:extLst>
              <p:ext uri="{D42A27DB-BD31-4B8C-83A1-F6EECF244321}">
                <p14:modId xmlns:p14="http://schemas.microsoft.com/office/powerpoint/2010/main" val="1028671722"/>
              </p:ext>
            </p:extLst>
          </p:nvPr>
        </p:nvGraphicFramePr>
        <p:xfrm>
          <a:off x="6166176" y="1233035"/>
          <a:ext cx="2955925" cy="2339975"/>
        </p:xfrm>
        <a:graphic>
          <a:graphicData uri="http://schemas.openxmlformats.org/presentationml/2006/ole">
            <mc:AlternateContent xmlns:mc="http://schemas.openxmlformats.org/markup-compatibility/2006">
              <mc:Choice xmlns:v="urn:schemas-microsoft-com:vml" Requires="v">
                <p:oleObj spid="_x0000_s22770" r:id="rId3" imgW="1768935" imgH="1402461" progId="Visio.Drawing.11">
                  <p:embed/>
                </p:oleObj>
              </mc:Choice>
              <mc:Fallback>
                <p:oleObj r:id="rId3" imgW="1768935" imgH="1402461" progId="Visio.Drawing.11">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6176" y="1233035"/>
                        <a:ext cx="295592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4" name="Object 16">
            <a:hlinkClick r:id="" action="ppaction://ole?verb=1"/>
          </p:cNvPr>
          <p:cNvGraphicFramePr>
            <a:graphicFrameLocks noChangeAspect="1"/>
          </p:cNvGraphicFramePr>
          <p:nvPr>
            <p:extLst>
              <p:ext uri="{D42A27DB-BD31-4B8C-83A1-F6EECF244321}">
                <p14:modId xmlns:p14="http://schemas.microsoft.com/office/powerpoint/2010/main" val="2021086189"/>
              </p:ext>
            </p:extLst>
          </p:nvPr>
        </p:nvGraphicFramePr>
        <p:xfrm>
          <a:off x="573349" y="2720429"/>
          <a:ext cx="4611688" cy="2719387"/>
        </p:xfrm>
        <a:graphic>
          <a:graphicData uri="http://schemas.openxmlformats.org/presentationml/2006/ole">
            <mc:AlternateContent xmlns:mc="http://schemas.openxmlformats.org/markup-compatibility/2006">
              <mc:Choice xmlns:v="urn:schemas-microsoft-com:vml" Requires="v">
                <p:oleObj spid="_x0000_s22771" name="Equation" r:id="rId5" imgW="2412720" imgH="1422360" progId="Equation.DSMT4">
                  <p:embed/>
                </p:oleObj>
              </mc:Choice>
              <mc:Fallback>
                <p:oleObj name="Equation" r:id="rId5" imgW="2412720" imgH="1422360" progId="Equation.DSMT4">
                  <p:embed/>
                  <p:pic>
                    <p:nvPicPr>
                      <p:cNvPr id="0" name="Picture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349" y="2720429"/>
                        <a:ext cx="4611688" cy="2719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5" name="AutoShape 17"/>
          <p:cNvSpPr>
            <a:spLocks noChangeArrowheads="1"/>
          </p:cNvSpPr>
          <p:nvPr/>
        </p:nvSpPr>
        <p:spPr bwMode="auto">
          <a:xfrm>
            <a:off x="4573588" y="3828505"/>
            <a:ext cx="2663825" cy="503237"/>
          </a:xfrm>
          <a:prstGeom prst="wedgeRectCallout">
            <a:avLst>
              <a:gd name="adj1" fmla="val -65014"/>
              <a:gd name="adj2" fmla="val 10958"/>
            </a:avLst>
          </a:prstGeom>
          <a:noFill/>
          <a:ln w="9525"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solidFill>
                  <a:srgbClr val="FF0000"/>
                </a:solidFill>
              </a:rPr>
              <a:t>非线性输出特性</a:t>
            </a:r>
          </a:p>
        </p:txBody>
      </p:sp>
      <p:sp>
        <p:nvSpPr>
          <p:cNvPr id="18" name="Rectangle 3"/>
          <p:cNvSpPr>
            <a:spLocks noChangeArrowheads="1"/>
          </p:cNvSpPr>
          <p:nvPr/>
        </p:nvSpPr>
        <p:spPr bwMode="auto">
          <a:xfrm>
            <a:off x="323705" y="343192"/>
            <a:ext cx="7279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a:t>
            </a:r>
            <a:r>
              <a:rPr lang="en-US" altLang="zh-CN" sz="3600" dirty="0">
                <a:solidFill>
                  <a:srgbClr val="FF0000"/>
                </a:solidFill>
                <a:latin typeface="宋体" panose="02010600030101010101" pitchFamily="2" charset="-122"/>
                <a:sym typeface="楷体_GB2312" pitchFamily="49" charset="-122"/>
              </a:rPr>
              <a:t>*</a:t>
            </a:r>
            <a:r>
              <a:rPr lang="zh-CN" altLang="en-US" sz="3600" dirty="0">
                <a:solidFill>
                  <a:srgbClr val="FF0000"/>
                </a:solidFill>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并联结构</a:t>
            </a:r>
            <a:r>
              <a:rPr lang="zh-CN" altLang="en-US" sz="3600" dirty="0">
                <a:solidFill>
                  <a:srgbClr val="C00000"/>
                </a:solidFill>
                <a:latin typeface="楷体_GB2312" pitchFamily="49" charset="-122"/>
                <a:ea typeface="楷体_GB2312" pitchFamily="49" charset="-122"/>
                <a:sym typeface="楷体_GB2312" pitchFamily="49" charset="-122"/>
              </a:rPr>
              <a:t>（仅了解）</a:t>
            </a:r>
            <a:endParaRPr lang="zh-CN" altLang="en-US" sz="3600" i="1" dirty="0">
              <a:solidFill>
                <a:srgbClr val="C00000"/>
              </a:solidFill>
              <a:latin typeface="Times New Roman" pitchFamily="18" charset="0"/>
              <a:ea typeface="楷体_GB2312" pitchFamily="49" charset="-122"/>
              <a:sym typeface="Times New Roman" pitchFamily="18"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a:spLocks noChangeArrowheads="1"/>
          </p:cNvSpPr>
          <p:nvPr/>
        </p:nvSpPr>
        <p:spPr bwMode="auto">
          <a:xfrm>
            <a:off x="179695" y="1004490"/>
            <a:ext cx="8353425"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r>
              <a:rPr lang="zh-CN" altLang="en-US" sz="2400" dirty="0">
                <a:latin typeface="楷体_GB2312" pitchFamily="49" charset="-122"/>
                <a:ea typeface="楷体_GB2312" pitchFamily="49" charset="-122"/>
                <a:sym typeface="楷体_GB2312" pitchFamily="49" charset="-122"/>
              </a:rPr>
              <a:t>问题：从灵敏度角度来选择</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zh-CN" altLang="en-US" sz="2400" dirty="0">
                <a:latin typeface="楷体_GB2312" pitchFamily="49" charset="-122"/>
                <a:ea typeface="楷体_GB2312" pitchFamily="49" charset="-122"/>
                <a:sym typeface="楷体_GB2312" pitchFamily="49" charset="-122"/>
              </a:rPr>
              <a:t>的阻抗形式。</a:t>
            </a:r>
          </a:p>
          <a:p>
            <a:pPr eaLnBrk="1" hangingPunct="1">
              <a:lnSpc>
                <a:spcPct val="150000"/>
              </a:lnSpc>
            </a:pPr>
            <a:r>
              <a:rPr lang="zh-CN" altLang="en-US" sz="2400" dirty="0">
                <a:solidFill>
                  <a:srgbClr val="0000FF"/>
                </a:solidFill>
                <a:latin typeface="楷体_GB2312" pitchFamily="49" charset="-122"/>
                <a:ea typeface="楷体_GB2312" pitchFamily="49" charset="-122"/>
                <a:sym typeface="楷体_GB2312" pitchFamily="49" charset="-122"/>
              </a:rPr>
              <a:t>●相同电感：</a:t>
            </a:r>
            <a:endParaRPr lang="zh-CN" altLang="en-US" dirty="0">
              <a:solidFill>
                <a:srgbClr val="0000FF"/>
              </a:solidFill>
            </a:endParaRPr>
          </a:p>
        </p:txBody>
      </p:sp>
      <p:sp>
        <p:nvSpPr>
          <p:cNvPr id="23555"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56"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57"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58"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59"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60"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61" name="Rectangle 9"/>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62" name="Rectangle 10"/>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64"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65" name="Rectangle 13"/>
          <p:cNvSpPr>
            <a:spLocks noChangeArrowheads="1"/>
          </p:cNvSpPr>
          <p:nvPr/>
        </p:nvSpPr>
        <p:spPr bwMode="auto">
          <a:xfrm>
            <a:off x="0" y="31861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graphicFrame>
        <p:nvGraphicFramePr>
          <p:cNvPr id="23567" name="Object 15">
            <a:hlinkClick r:id="" action="ppaction://ole?verb=1"/>
          </p:cNvPr>
          <p:cNvGraphicFramePr>
            <a:graphicFrameLocks noChangeAspect="1"/>
          </p:cNvGraphicFramePr>
          <p:nvPr>
            <p:extLst>
              <p:ext uri="{D42A27DB-BD31-4B8C-83A1-F6EECF244321}">
                <p14:modId xmlns:p14="http://schemas.microsoft.com/office/powerpoint/2010/main" val="863124803"/>
              </p:ext>
            </p:extLst>
          </p:nvPr>
        </p:nvGraphicFramePr>
        <p:xfrm>
          <a:off x="323705" y="2348925"/>
          <a:ext cx="6008687" cy="3386137"/>
        </p:xfrm>
        <a:graphic>
          <a:graphicData uri="http://schemas.openxmlformats.org/presentationml/2006/ole">
            <mc:AlternateContent xmlns:mc="http://schemas.openxmlformats.org/markup-compatibility/2006">
              <mc:Choice xmlns:v="urn:schemas-microsoft-com:vml" Requires="v">
                <p:oleObj spid="_x0000_s23791" r:id="rId3" imgW="2590560" imgH="1460160" progId="Equation.3">
                  <p:embed/>
                </p:oleObj>
              </mc:Choice>
              <mc:Fallback>
                <p:oleObj r:id="rId3" imgW="2590560" imgH="1460160" progId="Equation.3">
                  <p:embed/>
                  <p:pic>
                    <p:nvPicPr>
                      <p:cNvPr id="0"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705" y="2348925"/>
                        <a:ext cx="6008687" cy="3386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8" name="Object 21"/>
          <p:cNvGraphicFramePr>
            <a:graphicFrameLocks noChangeAspect="1"/>
          </p:cNvGraphicFramePr>
          <p:nvPr>
            <p:extLst>
              <p:ext uri="{D42A27DB-BD31-4B8C-83A1-F6EECF244321}">
                <p14:modId xmlns:p14="http://schemas.microsoft.com/office/powerpoint/2010/main" val="3343791888"/>
              </p:ext>
            </p:extLst>
          </p:nvPr>
        </p:nvGraphicFramePr>
        <p:xfrm>
          <a:off x="6116244" y="2016125"/>
          <a:ext cx="2955925" cy="2339975"/>
        </p:xfrm>
        <a:graphic>
          <a:graphicData uri="http://schemas.openxmlformats.org/presentationml/2006/ole">
            <mc:AlternateContent xmlns:mc="http://schemas.openxmlformats.org/markup-compatibility/2006">
              <mc:Choice xmlns:v="urn:schemas-microsoft-com:vml" Requires="v">
                <p:oleObj spid="_x0000_s23792" r:id="rId5" imgW="1768935" imgH="1402461" progId="Visio.Drawing.11">
                  <p:embed/>
                </p:oleObj>
              </mc:Choice>
              <mc:Fallback>
                <p:oleObj r:id="rId5" imgW="1768935" imgH="1402461" progId="Visio.Drawing.11">
                  <p:embed/>
                  <p:pic>
                    <p:nvPicPr>
                      <p:cNvPr id="0"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6244" y="2016125"/>
                        <a:ext cx="295592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3">
            <a:extLst>
              <a:ext uri="{FF2B5EF4-FFF2-40B4-BE49-F238E27FC236}">
                <a16:creationId xmlns:a16="http://schemas.microsoft.com/office/drawing/2014/main" id="{2CD0DF30-6CEB-443A-B6D3-98EDD44361D9}"/>
              </a:ext>
            </a:extLst>
          </p:cNvPr>
          <p:cNvSpPr>
            <a:spLocks noChangeArrowheads="1"/>
          </p:cNvSpPr>
          <p:nvPr/>
        </p:nvSpPr>
        <p:spPr bwMode="auto">
          <a:xfrm>
            <a:off x="323705" y="404152"/>
            <a:ext cx="7279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a:t>
            </a:r>
            <a:r>
              <a:rPr lang="en-US" altLang="zh-CN" sz="3600" dirty="0">
                <a:solidFill>
                  <a:srgbClr val="FF0000"/>
                </a:solidFill>
                <a:latin typeface="宋体" panose="02010600030101010101" pitchFamily="2" charset="-122"/>
                <a:sym typeface="楷体_GB2312" pitchFamily="49" charset="-122"/>
              </a:rPr>
              <a:t>*</a:t>
            </a:r>
            <a:r>
              <a:rPr lang="zh-CN" altLang="en-US" sz="3600" dirty="0">
                <a:solidFill>
                  <a:srgbClr val="FF0000"/>
                </a:solidFill>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并联结构</a:t>
            </a:r>
            <a:r>
              <a:rPr lang="zh-CN" altLang="en-US" sz="3600" dirty="0">
                <a:solidFill>
                  <a:srgbClr val="C00000"/>
                </a:solidFill>
                <a:latin typeface="楷体_GB2312" pitchFamily="49" charset="-122"/>
                <a:ea typeface="楷体_GB2312" pitchFamily="49" charset="-122"/>
                <a:sym typeface="楷体_GB2312" pitchFamily="49" charset="-122"/>
              </a:rPr>
              <a:t>（仅了解）</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a:spLocks noChangeArrowheads="1"/>
          </p:cNvSpPr>
          <p:nvPr/>
        </p:nvSpPr>
        <p:spPr bwMode="auto">
          <a:xfrm>
            <a:off x="395710" y="1646007"/>
            <a:ext cx="8353425"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endParaRPr lang="zh-CN" altLang="en-US" sz="2400" dirty="0">
              <a:latin typeface="楷体_GB2312" pitchFamily="49" charset="-122"/>
              <a:ea typeface="楷体_GB2312" pitchFamily="49" charset="-122"/>
              <a:sym typeface="楷体_GB2312" pitchFamily="49" charset="-122"/>
            </a:endParaRPr>
          </a:p>
          <a:p>
            <a:pPr eaLnBrk="1" hangingPunct="1">
              <a:lnSpc>
                <a:spcPct val="150000"/>
              </a:lnSpc>
            </a:pP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 </a:t>
            </a:r>
            <a:r>
              <a:rPr lang="zh-CN" altLang="en-US" sz="2400" dirty="0">
                <a:latin typeface="楷体_GB2312" pitchFamily="49" charset="-122"/>
                <a:ea typeface="楷体_GB2312" pitchFamily="49" charset="-122"/>
                <a:sym typeface="楷体_GB2312" pitchFamily="49" charset="-122"/>
              </a:rPr>
              <a:t>由</a:t>
            </a:r>
            <a:r>
              <a:rPr lang="zh-CN" altLang="en-US" sz="2400" dirty="0">
                <a:solidFill>
                  <a:srgbClr val="0000FF"/>
                </a:solidFill>
                <a:latin typeface="楷体_GB2312" pitchFamily="49" charset="-122"/>
                <a:ea typeface="楷体_GB2312" pitchFamily="49" charset="-122"/>
                <a:sym typeface="楷体_GB2312" pitchFamily="49" charset="-122"/>
              </a:rPr>
              <a:t>相同电阻</a:t>
            </a:r>
            <a:r>
              <a:rPr lang="zh-CN" altLang="en-US" sz="2400" dirty="0">
                <a:latin typeface="楷体_GB2312" pitchFamily="49" charset="-122"/>
                <a:ea typeface="楷体_GB2312" pitchFamily="49" charset="-122"/>
                <a:sym typeface="楷体_GB2312" pitchFamily="49" charset="-122"/>
              </a:rPr>
              <a:t>构成：</a:t>
            </a:r>
            <a:endParaRPr lang="zh-CN" altLang="en-US" dirty="0"/>
          </a:p>
        </p:txBody>
      </p:sp>
      <p:graphicFrame>
        <p:nvGraphicFramePr>
          <p:cNvPr id="24579" name="Object 3">
            <a:hlinkClick r:id="" action="ppaction://ole?verb=1"/>
          </p:cNvPr>
          <p:cNvGraphicFramePr>
            <a:graphicFrameLocks noChangeAspect="1"/>
          </p:cNvGraphicFramePr>
          <p:nvPr>
            <p:extLst>
              <p:ext uri="{D42A27DB-BD31-4B8C-83A1-F6EECF244321}">
                <p14:modId xmlns:p14="http://schemas.microsoft.com/office/powerpoint/2010/main" val="405412905"/>
              </p:ext>
            </p:extLst>
          </p:nvPr>
        </p:nvGraphicFramePr>
        <p:xfrm>
          <a:off x="467715" y="3269245"/>
          <a:ext cx="7923213" cy="2247900"/>
        </p:xfrm>
        <a:graphic>
          <a:graphicData uri="http://schemas.openxmlformats.org/presentationml/2006/ole">
            <mc:AlternateContent xmlns:mc="http://schemas.openxmlformats.org/markup-compatibility/2006">
              <mc:Choice xmlns:v="urn:schemas-microsoft-com:vml" Requires="v">
                <p:oleObj spid="_x0000_s24805" name="Equation" r:id="rId3" imgW="4165560" imgH="1180800" progId="Equation.DSMT4">
                  <p:embed/>
                </p:oleObj>
              </mc:Choice>
              <mc:Fallback>
                <p:oleObj name="Equation" r:id="rId3" imgW="4165560" imgH="1180800" progId="Equation.DSMT4">
                  <p:embed/>
                  <p:pic>
                    <p:nvPicPr>
                      <p:cNvPr id="0" name="Picture 9"/>
                      <p:cNvPicPr>
                        <a:picLocks noChangeAspect="1" noChangeArrowheads="1"/>
                      </p:cNvPicPr>
                      <p:nvPr/>
                    </p:nvPicPr>
                    <p:blipFill>
                      <a:blip r:embed="rId4"/>
                      <a:srcRect/>
                      <a:stretch>
                        <a:fillRect/>
                      </a:stretch>
                    </p:blipFill>
                    <p:spPr bwMode="auto">
                      <a:xfrm>
                        <a:off x="467715" y="3269245"/>
                        <a:ext cx="7923213" cy="224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0" name="Object 21"/>
          <p:cNvGraphicFramePr>
            <a:graphicFrameLocks noChangeAspect="1"/>
          </p:cNvGraphicFramePr>
          <p:nvPr>
            <p:extLst>
              <p:ext uri="{D42A27DB-BD31-4B8C-83A1-F6EECF244321}">
                <p14:modId xmlns:p14="http://schemas.microsoft.com/office/powerpoint/2010/main" val="1318932812"/>
              </p:ext>
            </p:extLst>
          </p:nvPr>
        </p:nvGraphicFramePr>
        <p:xfrm>
          <a:off x="5867400" y="1502357"/>
          <a:ext cx="2955925" cy="2339975"/>
        </p:xfrm>
        <a:graphic>
          <a:graphicData uri="http://schemas.openxmlformats.org/presentationml/2006/ole">
            <mc:AlternateContent xmlns:mc="http://schemas.openxmlformats.org/markup-compatibility/2006">
              <mc:Choice xmlns:v="urn:schemas-microsoft-com:vml" Requires="v">
                <p:oleObj spid="_x0000_s24806" r:id="rId5" imgW="1768935" imgH="1402461" progId="Visio.Drawing.11">
                  <p:embed/>
                </p:oleObj>
              </mc:Choice>
              <mc:Fallback>
                <p:oleObj r:id="rId5" imgW="1768935" imgH="1402461" progId="Visio.Drawing.11">
                  <p:embed/>
                  <p:pic>
                    <p:nvPicPr>
                      <p:cNvPr id="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1502357"/>
                        <a:ext cx="295592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3">
            <a:extLst>
              <a:ext uri="{FF2B5EF4-FFF2-40B4-BE49-F238E27FC236}">
                <a16:creationId xmlns:a16="http://schemas.microsoft.com/office/drawing/2014/main" id="{E3391B04-00EA-4E22-A90C-E5EC7BB11FFF}"/>
              </a:ext>
            </a:extLst>
          </p:cNvPr>
          <p:cNvSpPr>
            <a:spLocks noChangeArrowheads="1"/>
          </p:cNvSpPr>
          <p:nvPr/>
        </p:nvSpPr>
        <p:spPr bwMode="auto">
          <a:xfrm>
            <a:off x="323705" y="404152"/>
            <a:ext cx="7279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a:t>
            </a:r>
            <a:r>
              <a:rPr lang="en-US" altLang="zh-CN" sz="3600" dirty="0">
                <a:solidFill>
                  <a:srgbClr val="FF0000"/>
                </a:solidFill>
                <a:latin typeface="宋体" panose="02010600030101010101" pitchFamily="2" charset="-122"/>
                <a:sym typeface="楷体_GB2312" pitchFamily="49" charset="-122"/>
              </a:rPr>
              <a:t>*</a:t>
            </a:r>
            <a:r>
              <a:rPr lang="zh-CN" altLang="en-US" sz="3600" dirty="0">
                <a:solidFill>
                  <a:srgbClr val="FF0000"/>
                </a:solidFill>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并联结构</a:t>
            </a:r>
            <a:r>
              <a:rPr lang="zh-CN" altLang="en-US" sz="3600" dirty="0">
                <a:solidFill>
                  <a:srgbClr val="C00000"/>
                </a:solidFill>
                <a:latin typeface="楷体_GB2312" pitchFamily="49" charset="-122"/>
                <a:ea typeface="楷体_GB2312" pitchFamily="49" charset="-122"/>
                <a:sym typeface="楷体_GB2312" pitchFamily="49" charset="-122"/>
              </a:rPr>
              <a:t>（仅了解）</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a:spLocks noChangeArrowheads="1"/>
          </p:cNvSpPr>
          <p:nvPr/>
        </p:nvSpPr>
        <p:spPr bwMode="auto">
          <a:xfrm>
            <a:off x="163747" y="423068"/>
            <a:ext cx="5653324"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ct val="150000"/>
              </a:lnSpc>
              <a:buFont typeface="Arial" panose="020B0604020202020204" pitchFamily="34" charset="0"/>
              <a:buChar char="•"/>
            </a:pPr>
            <a:r>
              <a:rPr lang="en-US" sz="2400" dirty="0">
                <a:solidFill>
                  <a:srgbClr val="0000FF"/>
                </a:solidFill>
                <a:latin typeface="楷体_GB2312" pitchFamily="49" charset="-122"/>
                <a:ea typeface="楷体_GB2312" pitchFamily="49" charset="-122"/>
                <a:sym typeface="楷体_GB2312" pitchFamily="49" charset="-122"/>
              </a:rPr>
              <a:t>Z</a:t>
            </a:r>
            <a:r>
              <a:rPr lang="en-US" sz="2400" baseline="-25000" dirty="0">
                <a:solidFill>
                  <a:srgbClr val="0000FF"/>
                </a:solidFill>
                <a:latin typeface="楷体_GB2312" pitchFamily="49" charset="-122"/>
                <a:ea typeface="楷体_GB2312" pitchFamily="49" charset="-122"/>
                <a:sym typeface="楷体_GB2312" pitchFamily="49" charset="-122"/>
              </a:rPr>
              <a:t>2</a:t>
            </a:r>
            <a:r>
              <a:rPr lang="zh-CN" altLang="en-US" sz="2400" dirty="0">
                <a:solidFill>
                  <a:srgbClr val="0000FF"/>
                </a:solidFill>
                <a:latin typeface="楷体_GB2312" pitchFamily="49" charset="-122"/>
                <a:ea typeface="楷体_GB2312" pitchFamily="49" charset="-122"/>
                <a:sym typeface="楷体_GB2312" pitchFamily="49" charset="-122"/>
              </a:rPr>
              <a:t>、</a:t>
            </a:r>
            <a:r>
              <a:rPr lang="en-US" sz="2400" dirty="0">
                <a:solidFill>
                  <a:srgbClr val="0000FF"/>
                </a:solidFill>
                <a:latin typeface="楷体_GB2312" pitchFamily="49" charset="-122"/>
                <a:ea typeface="楷体_GB2312" pitchFamily="49" charset="-122"/>
                <a:sym typeface="楷体_GB2312" pitchFamily="49" charset="-122"/>
              </a:rPr>
              <a:t>Z</a:t>
            </a:r>
            <a:r>
              <a:rPr lang="en-US" sz="2400" baseline="-25000" dirty="0">
                <a:solidFill>
                  <a:srgbClr val="0000FF"/>
                </a:solidFill>
                <a:latin typeface="楷体_GB2312" pitchFamily="49" charset="-122"/>
                <a:ea typeface="楷体_GB2312" pitchFamily="49" charset="-122"/>
                <a:sym typeface="楷体_GB2312" pitchFamily="49" charset="-122"/>
              </a:rPr>
              <a:t>4</a:t>
            </a:r>
            <a:r>
              <a:rPr lang="zh-CN" altLang="en-US" sz="2400" dirty="0">
                <a:solidFill>
                  <a:srgbClr val="0000FF"/>
                </a:solidFill>
                <a:latin typeface="楷体_GB2312" pitchFamily="49" charset="-122"/>
                <a:ea typeface="楷体_GB2312" pitchFamily="49" charset="-122"/>
                <a:sym typeface="楷体_GB2312" pitchFamily="49" charset="-122"/>
              </a:rPr>
              <a:t>为相同电容</a:t>
            </a:r>
            <a:r>
              <a:rPr lang="zh-CN" altLang="en-US" sz="2400" dirty="0">
                <a:latin typeface="楷体_GB2312" pitchFamily="49" charset="-122"/>
                <a:ea typeface="楷体_GB2312" pitchFamily="49" charset="-122"/>
                <a:sym typeface="楷体_GB2312" pitchFamily="49" charset="-122"/>
              </a:rPr>
              <a:t>：即同一支路同时存在</a:t>
            </a:r>
            <a:r>
              <a:rPr lang="en-US" sz="2400" dirty="0">
                <a:latin typeface="楷体_GB2312" pitchFamily="49" charset="-122"/>
                <a:ea typeface="楷体_GB2312" pitchFamily="49" charset="-122"/>
                <a:sym typeface="楷体_GB2312" pitchFamily="49" charset="-122"/>
              </a:rPr>
              <a:t>C</a:t>
            </a:r>
            <a:r>
              <a:rPr lang="zh-CN" altLang="en-US" sz="2400" dirty="0">
                <a:latin typeface="楷体_GB2312" pitchFamily="49" charset="-122"/>
                <a:ea typeface="楷体_GB2312" pitchFamily="49" charset="-122"/>
                <a:sym typeface="楷体_GB2312" pitchFamily="49" charset="-122"/>
              </a:rPr>
              <a:t>和</a:t>
            </a:r>
            <a:r>
              <a:rPr lang="en-US" sz="2400" dirty="0">
                <a:latin typeface="楷体_GB2312" pitchFamily="49" charset="-122"/>
                <a:ea typeface="楷体_GB2312" pitchFamily="49" charset="-122"/>
                <a:sym typeface="楷体_GB2312" pitchFamily="49" charset="-122"/>
              </a:rPr>
              <a:t>L</a:t>
            </a:r>
          </a:p>
          <a:p>
            <a:pPr marL="342900" indent="-342900" eaLnBrk="1" hangingPunct="1">
              <a:lnSpc>
                <a:spcPct val="150000"/>
              </a:lnSpc>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同一条串联支路存在电感和电容：若激励电源处于</a:t>
            </a:r>
            <a:r>
              <a:rPr lang="en-US" sz="2400" dirty="0">
                <a:latin typeface="楷体_GB2312" pitchFamily="49" charset="-122"/>
                <a:ea typeface="楷体_GB2312" pitchFamily="49" charset="-122"/>
                <a:sym typeface="楷体_GB2312" pitchFamily="49" charset="-122"/>
              </a:rPr>
              <a:t>LC</a:t>
            </a:r>
            <a:r>
              <a:rPr lang="zh-CN" altLang="en-US" sz="2400" dirty="0">
                <a:latin typeface="楷体_GB2312" pitchFamily="49" charset="-122"/>
                <a:ea typeface="楷体_GB2312" pitchFamily="49" charset="-122"/>
                <a:sym typeface="楷体_GB2312" pitchFamily="49" charset="-122"/>
              </a:rPr>
              <a:t>谐振频率，电路电流最大，大小取决于电路中直流电阻。</a:t>
            </a:r>
            <a:endParaRPr lang="zh-CN" altLang="en-US" dirty="0"/>
          </a:p>
        </p:txBody>
      </p:sp>
      <p:sp>
        <p:nvSpPr>
          <p:cNvPr id="25603"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4"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5"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6"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7"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8"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9" name="Rectangle 9"/>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10" name="Rectangle 10"/>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11" name="Rectangle 11"/>
          <p:cNvSpPr>
            <a:spLocks noChangeArrowheads="1"/>
          </p:cNvSpPr>
          <p:nvPr/>
        </p:nvSpPr>
        <p:spPr bwMode="auto">
          <a:xfrm>
            <a:off x="0" y="27289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12"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13" name="Rectangle 13"/>
          <p:cNvSpPr>
            <a:spLocks noChangeArrowheads="1"/>
          </p:cNvSpPr>
          <p:nvPr/>
        </p:nvSpPr>
        <p:spPr bwMode="auto">
          <a:xfrm>
            <a:off x="0" y="31861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14" name="Rectangle 14"/>
          <p:cNvSpPr>
            <a:spLocks noChangeArrowheads="1"/>
          </p:cNvSpPr>
          <p:nvPr/>
        </p:nvSpPr>
        <p:spPr bwMode="auto">
          <a:xfrm>
            <a:off x="0" y="2833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graphicFrame>
        <p:nvGraphicFramePr>
          <p:cNvPr id="25615" name="Object 15">
            <a:hlinkClick r:id="" action="ppaction://ole?verb=1"/>
          </p:cNvPr>
          <p:cNvGraphicFramePr>
            <a:graphicFrameLocks noChangeAspect="1"/>
          </p:cNvGraphicFramePr>
          <p:nvPr>
            <p:extLst>
              <p:ext uri="{D42A27DB-BD31-4B8C-83A1-F6EECF244321}">
                <p14:modId xmlns:p14="http://schemas.microsoft.com/office/powerpoint/2010/main" val="1493523041"/>
              </p:ext>
            </p:extLst>
          </p:nvPr>
        </p:nvGraphicFramePr>
        <p:xfrm>
          <a:off x="395710" y="3233738"/>
          <a:ext cx="8139112" cy="3459163"/>
        </p:xfrm>
        <a:graphic>
          <a:graphicData uri="http://schemas.openxmlformats.org/presentationml/2006/ole">
            <mc:AlternateContent xmlns:mc="http://schemas.openxmlformats.org/markup-compatibility/2006">
              <mc:Choice xmlns:v="urn:schemas-microsoft-com:vml" Requires="v">
                <p:oleObj spid="_x0000_s25797" name="Equation" r:id="rId3" imgW="4305240" imgH="1828800" progId="Equation.DSMT4">
                  <p:embed/>
                </p:oleObj>
              </mc:Choice>
              <mc:Fallback>
                <p:oleObj name="Equation" r:id="rId3" imgW="4305240" imgH="1828800" progId="Equation.DSMT4">
                  <p:embed/>
                  <p:pic>
                    <p:nvPicPr>
                      <p:cNvPr id="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710" y="3233738"/>
                        <a:ext cx="8139112" cy="3459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21"/>
          <p:cNvGraphicFramePr>
            <a:graphicFrameLocks noChangeAspect="1"/>
          </p:cNvGraphicFramePr>
          <p:nvPr>
            <p:extLst>
              <p:ext uri="{D42A27DB-BD31-4B8C-83A1-F6EECF244321}">
                <p14:modId xmlns:p14="http://schemas.microsoft.com/office/powerpoint/2010/main" val="187746087"/>
              </p:ext>
            </p:extLst>
          </p:nvPr>
        </p:nvGraphicFramePr>
        <p:xfrm>
          <a:off x="6012100" y="698500"/>
          <a:ext cx="2955925" cy="2339975"/>
        </p:xfrm>
        <a:graphic>
          <a:graphicData uri="http://schemas.openxmlformats.org/presentationml/2006/ole">
            <mc:AlternateContent xmlns:mc="http://schemas.openxmlformats.org/markup-compatibility/2006">
              <mc:Choice xmlns:v="urn:schemas-microsoft-com:vml" Requires="v">
                <p:oleObj spid="_x0000_s25798" r:id="rId5" imgW="1768935" imgH="1402461" progId="Visio.Drawing.11">
                  <p:embed/>
                </p:oleObj>
              </mc:Choice>
              <mc:Fallback>
                <p:oleObj r:id="rId5" imgW="1768935" imgH="1402461"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2100" y="698500"/>
                        <a:ext cx="295592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27"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28"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29"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0"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1"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2" name="Rectangle 9"/>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3" name="Rectangle 10"/>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4" name="Rectangle 11"/>
          <p:cNvSpPr>
            <a:spLocks noChangeArrowheads="1"/>
          </p:cNvSpPr>
          <p:nvPr/>
        </p:nvSpPr>
        <p:spPr bwMode="auto">
          <a:xfrm>
            <a:off x="0" y="27289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5"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6" name="Rectangle 13"/>
          <p:cNvSpPr>
            <a:spLocks noChangeArrowheads="1"/>
          </p:cNvSpPr>
          <p:nvPr/>
        </p:nvSpPr>
        <p:spPr bwMode="auto">
          <a:xfrm>
            <a:off x="0" y="2833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pic>
        <p:nvPicPr>
          <p:cNvPr id="26637" name="Picture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650" y="3096100"/>
            <a:ext cx="33401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6638" name="Object 14">
            <a:hlinkClick r:id="" action="ppaction://ole?verb=1"/>
          </p:cNvPr>
          <p:cNvGraphicFramePr>
            <a:graphicFrameLocks noChangeAspect="1"/>
          </p:cNvGraphicFramePr>
          <p:nvPr>
            <p:extLst>
              <p:ext uri="{D42A27DB-BD31-4B8C-83A1-F6EECF244321}">
                <p14:modId xmlns:p14="http://schemas.microsoft.com/office/powerpoint/2010/main" val="1423624232"/>
              </p:ext>
            </p:extLst>
          </p:nvPr>
        </p:nvGraphicFramePr>
        <p:xfrm>
          <a:off x="611725" y="1224757"/>
          <a:ext cx="8268837" cy="920750"/>
        </p:xfrm>
        <a:graphic>
          <a:graphicData uri="http://schemas.openxmlformats.org/presentationml/2006/ole">
            <mc:AlternateContent xmlns:mc="http://schemas.openxmlformats.org/markup-compatibility/2006">
              <mc:Choice xmlns:v="urn:schemas-microsoft-com:vml" Requires="v">
                <p:oleObj spid="_x0000_s26974" r:id="rId4" imgW="4101840" imgH="457200" progId="Equation.3">
                  <p:embed/>
                </p:oleObj>
              </mc:Choice>
              <mc:Fallback>
                <p:oleObj r:id="rId4" imgW="4101840" imgH="457200" progId="Equation.3">
                  <p:embed/>
                  <p:pic>
                    <p:nvPicPr>
                      <p:cNvPr id="0"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725" y="1224757"/>
                        <a:ext cx="8268837" cy="920750"/>
                      </a:xfrm>
                      <a:prstGeom prst="rect">
                        <a:avLst/>
                      </a:prstGeom>
                      <a:noFill/>
                      <a:extLst/>
                    </p:spPr>
                  </p:pic>
                </p:oleObj>
              </mc:Fallback>
            </mc:AlternateContent>
          </a:graphicData>
        </a:graphic>
      </p:graphicFrame>
      <p:graphicFrame>
        <p:nvGraphicFramePr>
          <p:cNvPr id="26639" name="Object 15">
            <a:hlinkClick r:id="" action="ppaction://ole?verb=1"/>
          </p:cNvPr>
          <p:cNvGraphicFramePr>
            <a:graphicFrameLocks noChangeAspect="1"/>
          </p:cNvGraphicFramePr>
          <p:nvPr>
            <p:extLst>
              <p:ext uri="{D42A27DB-BD31-4B8C-83A1-F6EECF244321}">
                <p14:modId xmlns:p14="http://schemas.microsoft.com/office/powerpoint/2010/main" val="3044292761"/>
              </p:ext>
            </p:extLst>
          </p:nvPr>
        </p:nvGraphicFramePr>
        <p:xfrm>
          <a:off x="1819275" y="2015013"/>
          <a:ext cx="3772696" cy="892174"/>
        </p:xfrm>
        <a:graphic>
          <a:graphicData uri="http://schemas.openxmlformats.org/presentationml/2006/ole">
            <mc:AlternateContent xmlns:mc="http://schemas.openxmlformats.org/markup-compatibility/2006">
              <mc:Choice xmlns:v="urn:schemas-microsoft-com:vml" Requires="v">
                <p:oleObj spid="_x0000_s26975" r:id="rId6" imgW="1829520" imgH="431810" progId="Equation.3">
                  <p:embed/>
                </p:oleObj>
              </mc:Choice>
              <mc:Fallback>
                <p:oleObj r:id="rId6" imgW="1829520" imgH="431810" progId="Equation.3">
                  <p:embed/>
                  <p:pic>
                    <p:nvPicPr>
                      <p:cNvPr id="0" name="Picture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19275" y="2015013"/>
                        <a:ext cx="3772696" cy="892174"/>
                      </a:xfrm>
                      <a:prstGeom prst="rect">
                        <a:avLst/>
                      </a:prstGeom>
                      <a:noFill/>
                      <a:extLst/>
                    </p:spPr>
                  </p:pic>
                </p:oleObj>
              </mc:Fallback>
            </mc:AlternateContent>
          </a:graphicData>
        </a:graphic>
      </p:graphicFrame>
      <p:graphicFrame>
        <p:nvGraphicFramePr>
          <p:cNvPr id="26640" name="Object 21"/>
          <p:cNvGraphicFramePr>
            <a:graphicFrameLocks noChangeAspect="1"/>
          </p:cNvGraphicFramePr>
          <p:nvPr>
            <p:extLst>
              <p:ext uri="{D42A27DB-BD31-4B8C-83A1-F6EECF244321}">
                <p14:modId xmlns:p14="http://schemas.microsoft.com/office/powerpoint/2010/main" val="3595844865"/>
              </p:ext>
            </p:extLst>
          </p:nvPr>
        </p:nvGraphicFramePr>
        <p:xfrm>
          <a:off x="4951413" y="3599338"/>
          <a:ext cx="3206750" cy="2538412"/>
        </p:xfrm>
        <a:graphic>
          <a:graphicData uri="http://schemas.openxmlformats.org/presentationml/2006/ole">
            <mc:AlternateContent xmlns:mc="http://schemas.openxmlformats.org/markup-compatibility/2006">
              <mc:Choice xmlns:v="urn:schemas-microsoft-com:vml" Requires="v">
                <p:oleObj spid="_x0000_s26976" r:id="rId8" imgW="1768935" imgH="1402461" progId="Visio.Drawing.11">
                  <p:embed/>
                </p:oleObj>
              </mc:Choice>
              <mc:Fallback>
                <p:oleObj r:id="rId8" imgW="1768935" imgH="1402461" progId="Visio.Drawing.11">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51413" y="3599338"/>
                        <a:ext cx="3206750" cy="2538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3">
            <a:extLst>
              <a:ext uri="{FF2B5EF4-FFF2-40B4-BE49-F238E27FC236}">
                <a16:creationId xmlns:a16="http://schemas.microsoft.com/office/drawing/2014/main" id="{721EC2F8-5A47-4B57-9D06-A0DAA42AA6F9}"/>
              </a:ext>
            </a:extLst>
          </p:cNvPr>
          <p:cNvSpPr>
            <a:spLocks noChangeArrowheads="1"/>
          </p:cNvSpPr>
          <p:nvPr/>
        </p:nvSpPr>
        <p:spPr bwMode="auto">
          <a:xfrm>
            <a:off x="323705" y="404152"/>
            <a:ext cx="7279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a:t>
            </a:r>
            <a:r>
              <a:rPr lang="en-US" altLang="zh-CN" sz="3600" dirty="0">
                <a:solidFill>
                  <a:srgbClr val="FF0000"/>
                </a:solidFill>
                <a:latin typeface="宋体" panose="02010600030101010101" pitchFamily="2" charset="-122"/>
                <a:sym typeface="楷体_GB2312" pitchFamily="49" charset="-122"/>
              </a:rPr>
              <a:t>*</a:t>
            </a:r>
            <a:r>
              <a:rPr lang="zh-CN" altLang="en-US" sz="3600" dirty="0">
                <a:solidFill>
                  <a:srgbClr val="FF0000"/>
                </a:solidFill>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并联结构</a:t>
            </a:r>
            <a:r>
              <a:rPr lang="zh-CN" altLang="en-US" sz="3600" dirty="0">
                <a:solidFill>
                  <a:srgbClr val="C00000"/>
                </a:solidFill>
                <a:latin typeface="楷体_GB2312" pitchFamily="49" charset="-122"/>
                <a:ea typeface="楷体_GB2312" pitchFamily="49" charset="-122"/>
                <a:sym typeface="楷体_GB2312" pitchFamily="49" charset="-122"/>
              </a:rPr>
              <a:t>（仅了解）</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a:spLocks noChangeArrowheads="1"/>
          </p:cNvSpPr>
          <p:nvPr/>
        </p:nvSpPr>
        <p:spPr bwMode="auto">
          <a:xfrm>
            <a:off x="539720" y="1340855"/>
            <a:ext cx="7740650" cy="52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zh-CN" altLang="en-US" sz="2400" dirty="0">
                <a:latin typeface="楷体_GB2312" pitchFamily="49" charset="-122"/>
                <a:ea typeface="楷体_GB2312" pitchFamily="49" charset="-122"/>
                <a:sym typeface="楷体_GB2312" pitchFamily="49" charset="-122"/>
              </a:rPr>
              <a:t>由相同电感构成</a:t>
            </a:r>
          </a:p>
          <a:p>
            <a:pPr eaLnBrk="1" hangingPunct="1">
              <a:lnSpc>
                <a:spcPct val="150000"/>
              </a:lnSpc>
            </a:pPr>
            <a:r>
              <a:rPr lang="zh-CN" altLang="en-US" sz="2400" dirty="0">
                <a:latin typeface="楷体_GB2312" pitchFamily="49" charset="-122"/>
                <a:ea typeface="楷体_GB2312" pitchFamily="49" charset="-122"/>
                <a:sym typeface="楷体_GB2312" pitchFamily="49" charset="-122"/>
              </a:rPr>
              <a:t>当</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 Z</a:t>
            </a:r>
            <a:r>
              <a:rPr lang="en-US" sz="2400" baseline="-25000" dirty="0">
                <a:latin typeface="楷体_GB2312" pitchFamily="49" charset="-122"/>
                <a:ea typeface="楷体_GB2312" pitchFamily="49" charset="-122"/>
                <a:sym typeface="楷体_GB2312" pitchFamily="49" charset="-122"/>
              </a:rPr>
              <a:t>3</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en-US" sz="2400" dirty="0">
                <a:latin typeface="楷体_GB2312" pitchFamily="49" charset="-122"/>
                <a:ea typeface="楷体_GB2312" pitchFamily="49" charset="-122"/>
                <a:sym typeface="楷体_GB2312" pitchFamily="49" charset="-122"/>
              </a:rPr>
              <a:t>=L</a:t>
            </a:r>
            <a:r>
              <a:rPr lang="zh-CN" altLang="en-US" sz="2400" dirty="0">
                <a:latin typeface="楷体_GB2312" pitchFamily="49" charset="-122"/>
                <a:ea typeface="楷体_GB2312" pitchFamily="49" charset="-122"/>
                <a:sym typeface="楷体_GB2312" pitchFamily="49" charset="-122"/>
              </a:rPr>
              <a:t>时，</a:t>
            </a:r>
            <a:r>
              <a:rPr lang="en-US" sz="2400" dirty="0" err="1">
                <a:latin typeface="楷体_GB2312" pitchFamily="49" charset="-122"/>
                <a:ea typeface="楷体_GB2312" pitchFamily="49" charset="-122"/>
                <a:sym typeface="楷体_GB2312" pitchFamily="49" charset="-122"/>
              </a:rPr>
              <a:t>U</a:t>
            </a:r>
            <a:r>
              <a:rPr lang="en-US" sz="2400" baseline="-25000" dirty="0" err="1">
                <a:latin typeface="楷体_GB2312" pitchFamily="49" charset="-122"/>
                <a:ea typeface="楷体_GB2312" pitchFamily="49" charset="-122"/>
                <a:sym typeface="楷体_GB2312" pitchFamily="49" charset="-122"/>
              </a:rPr>
              <a:t>POmax</a:t>
            </a:r>
            <a:r>
              <a:rPr lang="en-US" sz="2400" dirty="0">
                <a:latin typeface="楷体_GB2312" pitchFamily="49" charset="-122"/>
                <a:ea typeface="楷体_GB2312" pitchFamily="49" charset="-122"/>
                <a:sym typeface="楷体_GB2312" pitchFamily="49" charset="-122"/>
              </a:rPr>
              <a:t>=U</a:t>
            </a:r>
            <a:r>
              <a:rPr lang="en-US" sz="2400" baseline="-25000" dirty="0">
                <a:latin typeface="楷体_GB2312" pitchFamily="49" charset="-122"/>
                <a:ea typeface="楷体_GB2312" pitchFamily="49" charset="-122"/>
                <a:sym typeface="楷体_GB2312" pitchFamily="49" charset="-122"/>
              </a:rPr>
              <a:t>SO</a:t>
            </a:r>
            <a:endParaRPr lang="zh-CN" altLang="en-US" sz="2400" baseline="-25000" dirty="0">
              <a:latin typeface="楷体_GB2312" pitchFamily="49" charset="-122"/>
              <a:ea typeface="楷体_GB2312" pitchFamily="49" charset="-122"/>
              <a:sym typeface="楷体_GB2312" pitchFamily="49" charset="-122"/>
            </a:endParaRPr>
          </a:p>
          <a:p>
            <a:pPr eaLnBrk="1" hangingPunct="1">
              <a:lnSpc>
                <a:spcPct val="150000"/>
              </a:lnSpc>
            </a:pP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zh-CN" altLang="en-US" sz="2400" dirty="0">
                <a:latin typeface="楷体_GB2312" pitchFamily="49" charset="-122"/>
                <a:ea typeface="楷体_GB2312" pitchFamily="49" charset="-122"/>
                <a:sym typeface="楷体_GB2312" pitchFamily="49" charset="-122"/>
              </a:rPr>
              <a:t>由相同电阻构成</a:t>
            </a:r>
          </a:p>
          <a:p>
            <a:pPr eaLnBrk="1" hangingPunct="1">
              <a:lnSpc>
                <a:spcPct val="150000"/>
              </a:lnSpc>
            </a:pPr>
            <a:r>
              <a:rPr lang="zh-CN" altLang="en-US" sz="2400" dirty="0">
                <a:latin typeface="楷体_GB2312" pitchFamily="49" charset="-122"/>
                <a:ea typeface="楷体_GB2312" pitchFamily="49" charset="-122"/>
                <a:sym typeface="楷体_GB2312" pitchFamily="49" charset="-122"/>
              </a:rPr>
              <a:t>当</a:t>
            </a:r>
            <a:r>
              <a:rPr lang="en-US" sz="2400" dirty="0">
                <a:latin typeface="楷体_GB2312" pitchFamily="49" charset="-122"/>
                <a:ea typeface="楷体_GB2312" pitchFamily="49" charset="-122"/>
                <a:sym typeface="楷体_GB2312" pitchFamily="49" charset="-122"/>
              </a:rPr>
              <a:t>wL</a:t>
            </a:r>
            <a:r>
              <a:rPr lang="en-US" sz="2400" baseline="-25000" dirty="0">
                <a:latin typeface="楷体_GB2312" pitchFamily="49" charset="-122"/>
                <a:ea typeface="楷体_GB2312" pitchFamily="49" charset="-122"/>
                <a:sym typeface="楷体_GB2312" pitchFamily="49" charset="-122"/>
              </a:rPr>
              <a:t>10</a:t>
            </a:r>
            <a:r>
              <a:rPr lang="en-US" sz="2400" dirty="0">
                <a:latin typeface="楷体_GB2312" pitchFamily="49" charset="-122"/>
                <a:ea typeface="楷体_GB2312" pitchFamily="49" charset="-122"/>
                <a:sym typeface="楷体_GB2312" pitchFamily="49" charset="-122"/>
              </a:rPr>
              <a:t>=R</a:t>
            </a:r>
            <a:r>
              <a:rPr lang="zh-CN" altLang="en-US" sz="2400" dirty="0">
                <a:latin typeface="楷体_GB2312" pitchFamily="49" charset="-122"/>
                <a:ea typeface="楷体_GB2312" pitchFamily="49" charset="-122"/>
                <a:sym typeface="楷体_GB2312" pitchFamily="49" charset="-122"/>
              </a:rPr>
              <a:t>时，</a:t>
            </a:r>
            <a:r>
              <a:rPr lang="en-US" sz="2400" dirty="0" err="1">
                <a:latin typeface="楷体_GB2312" pitchFamily="49" charset="-122"/>
                <a:ea typeface="楷体_GB2312" pitchFamily="49" charset="-122"/>
                <a:sym typeface="楷体_GB2312" pitchFamily="49" charset="-122"/>
              </a:rPr>
              <a:t>U</a:t>
            </a:r>
            <a:r>
              <a:rPr lang="en-US" sz="2400" baseline="-25000" dirty="0" err="1">
                <a:latin typeface="楷体_GB2312" pitchFamily="49" charset="-122"/>
                <a:ea typeface="楷体_GB2312" pitchFamily="49" charset="-122"/>
                <a:sym typeface="楷体_GB2312" pitchFamily="49" charset="-122"/>
              </a:rPr>
              <a:t>POmax</a:t>
            </a:r>
            <a:r>
              <a:rPr lang="en-US" sz="2400" dirty="0">
                <a:latin typeface="楷体_GB2312" pitchFamily="49" charset="-122"/>
                <a:ea typeface="楷体_GB2312" pitchFamily="49" charset="-122"/>
                <a:sym typeface="楷体_GB2312" pitchFamily="49" charset="-122"/>
              </a:rPr>
              <a:t>=2U</a:t>
            </a:r>
            <a:r>
              <a:rPr lang="en-US" sz="2400" baseline="-25000" dirty="0">
                <a:latin typeface="楷体_GB2312" pitchFamily="49" charset="-122"/>
                <a:ea typeface="楷体_GB2312" pitchFamily="49" charset="-122"/>
                <a:sym typeface="楷体_GB2312" pitchFamily="49" charset="-122"/>
              </a:rPr>
              <a:t>SO</a:t>
            </a:r>
            <a:endParaRPr lang="zh-CN" altLang="en-US" sz="2400" baseline="-25000" dirty="0">
              <a:latin typeface="楷体_GB2312" pitchFamily="49" charset="-122"/>
              <a:ea typeface="楷体_GB2312" pitchFamily="49" charset="-122"/>
              <a:sym typeface="楷体_GB2312" pitchFamily="49" charset="-122"/>
            </a:endParaRPr>
          </a:p>
          <a:p>
            <a:pPr eaLnBrk="1" hangingPunct="1">
              <a:lnSpc>
                <a:spcPct val="150000"/>
              </a:lnSpc>
            </a:pP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zh-CN" altLang="en-US" sz="2400" dirty="0">
                <a:latin typeface="楷体_GB2312" pitchFamily="49" charset="-122"/>
                <a:ea typeface="楷体_GB2312" pitchFamily="49" charset="-122"/>
                <a:sym typeface="楷体_GB2312" pitchFamily="49" charset="-122"/>
              </a:rPr>
              <a:t>由相同电容构成</a:t>
            </a:r>
          </a:p>
          <a:p>
            <a:pPr eaLnBrk="1" hangingPunct="1">
              <a:lnSpc>
                <a:spcPct val="150000"/>
              </a:lnSpc>
            </a:pPr>
            <a:r>
              <a:rPr lang="zh-CN" altLang="en-US" sz="2400" dirty="0">
                <a:latin typeface="楷体_GB2312" pitchFamily="49" charset="-122"/>
                <a:ea typeface="楷体_GB2312" pitchFamily="49" charset="-122"/>
                <a:sym typeface="楷体_GB2312" pitchFamily="49" charset="-122"/>
              </a:rPr>
              <a:t>当</a:t>
            </a:r>
            <a:r>
              <a:rPr lang="en-US" sz="2400" dirty="0">
                <a:latin typeface="楷体_GB2312" pitchFamily="49" charset="-122"/>
                <a:ea typeface="楷体_GB2312" pitchFamily="49" charset="-122"/>
                <a:sym typeface="楷体_GB2312" pitchFamily="49" charset="-122"/>
              </a:rPr>
              <a:t>wL</a:t>
            </a:r>
            <a:r>
              <a:rPr lang="en-US" sz="2400" baseline="-25000" dirty="0">
                <a:latin typeface="楷体_GB2312" pitchFamily="49" charset="-122"/>
                <a:ea typeface="楷体_GB2312" pitchFamily="49" charset="-122"/>
                <a:sym typeface="楷体_GB2312" pitchFamily="49" charset="-122"/>
              </a:rPr>
              <a:t>10</a:t>
            </a:r>
            <a:r>
              <a:rPr lang="en-US" sz="2400" dirty="0">
                <a:latin typeface="楷体_GB2312" pitchFamily="49" charset="-122"/>
                <a:ea typeface="楷体_GB2312" pitchFamily="49" charset="-122"/>
                <a:sym typeface="楷体_GB2312" pitchFamily="49" charset="-122"/>
              </a:rPr>
              <a:t>=1/</a:t>
            </a:r>
            <a:r>
              <a:rPr lang="en-US" sz="2400" dirty="0" err="1">
                <a:latin typeface="楷体_GB2312" pitchFamily="49" charset="-122"/>
                <a:ea typeface="楷体_GB2312" pitchFamily="49" charset="-122"/>
                <a:sym typeface="楷体_GB2312" pitchFamily="49" charset="-122"/>
              </a:rPr>
              <a:t>jwC</a:t>
            </a:r>
            <a:r>
              <a:rPr lang="zh-CN" altLang="en-US" sz="2400" dirty="0">
                <a:latin typeface="楷体_GB2312" pitchFamily="49" charset="-122"/>
                <a:ea typeface="楷体_GB2312" pitchFamily="49" charset="-122"/>
                <a:sym typeface="楷体_GB2312" pitchFamily="49" charset="-122"/>
              </a:rPr>
              <a:t>时，</a:t>
            </a:r>
            <a:r>
              <a:rPr lang="en-US" sz="2400" dirty="0" err="1">
                <a:latin typeface="楷体_GB2312" pitchFamily="49" charset="-122"/>
                <a:ea typeface="楷体_GB2312" pitchFamily="49" charset="-122"/>
                <a:sym typeface="楷体_GB2312" pitchFamily="49" charset="-122"/>
              </a:rPr>
              <a:t>U</a:t>
            </a:r>
            <a:r>
              <a:rPr lang="en-US" sz="2400" baseline="-25000" dirty="0" err="1">
                <a:latin typeface="楷体_GB2312" pitchFamily="49" charset="-122"/>
                <a:ea typeface="楷体_GB2312" pitchFamily="49" charset="-122"/>
                <a:sym typeface="楷体_GB2312" pitchFamily="49" charset="-122"/>
              </a:rPr>
              <a:t>POmax</a:t>
            </a:r>
            <a:r>
              <a:rPr lang="en-US" sz="2400" dirty="0">
                <a:latin typeface="楷体_GB2312" pitchFamily="49" charset="-122"/>
                <a:ea typeface="楷体_GB2312" pitchFamily="49" charset="-122"/>
                <a:sym typeface="楷体_GB2312" pitchFamily="49" charset="-122"/>
              </a:rPr>
              <a:t>=4Q</a:t>
            </a:r>
            <a:r>
              <a:rPr lang="en-US" sz="2400" baseline="30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U</a:t>
            </a:r>
            <a:r>
              <a:rPr lang="en-US" sz="2400" baseline="-25000" dirty="0">
                <a:latin typeface="楷体_GB2312" pitchFamily="49" charset="-122"/>
                <a:ea typeface="楷体_GB2312" pitchFamily="49" charset="-122"/>
                <a:sym typeface="楷体_GB2312" pitchFamily="49" charset="-122"/>
              </a:rPr>
              <a:t>SO </a:t>
            </a:r>
            <a:r>
              <a:rPr lang="zh-CN" altLang="en-US" sz="2400" dirty="0">
                <a:latin typeface="楷体_GB2312" pitchFamily="49" charset="-122"/>
                <a:ea typeface="楷体_GB2312" pitchFamily="49" charset="-122"/>
                <a:sym typeface="楷体_GB2312" pitchFamily="49" charset="-122"/>
              </a:rPr>
              <a:t>（类似于谐振）</a:t>
            </a:r>
          </a:p>
          <a:p>
            <a:pPr eaLnBrk="1" hangingPunct="1">
              <a:lnSpc>
                <a:spcPct val="150000"/>
              </a:lnSpc>
            </a:pPr>
            <a:r>
              <a:rPr lang="zh-CN" altLang="en-US" sz="2400" dirty="0">
                <a:solidFill>
                  <a:srgbClr val="1EA2EE"/>
                </a:solidFill>
                <a:latin typeface="楷体_GB2312" pitchFamily="49" charset="-122"/>
                <a:ea typeface="楷体_GB2312" pitchFamily="49" charset="-122"/>
                <a:sym typeface="楷体_GB2312" pitchFamily="49" charset="-122"/>
              </a:rPr>
              <a:t>结论：</a:t>
            </a:r>
          </a:p>
          <a:p>
            <a:pPr eaLnBrk="1" hangingPunct="1">
              <a:lnSpc>
                <a:spcPct val="150000"/>
              </a:lnSpc>
            </a:pPr>
            <a:r>
              <a:rPr lang="zh-CN" altLang="en-US" sz="2400" dirty="0">
                <a:solidFill>
                  <a:srgbClr val="FF0000"/>
                </a:solidFill>
                <a:latin typeface="楷体_GB2312" pitchFamily="49" charset="-122"/>
                <a:ea typeface="楷体_GB2312" pitchFamily="49" charset="-122"/>
                <a:sym typeface="楷体_GB2312" pitchFamily="49" charset="-122"/>
              </a:rPr>
              <a:t>由电容构成的并联结构，其灵敏度最大。</a:t>
            </a:r>
          </a:p>
        </p:txBody>
      </p:sp>
      <p:sp>
        <p:nvSpPr>
          <p:cNvPr id="27651"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2"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3"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4"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5"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6"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7" name="Rectangle 9"/>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8" name="Rectangle 10"/>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9" name="Rectangle 11"/>
          <p:cNvSpPr>
            <a:spLocks noChangeArrowheads="1"/>
          </p:cNvSpPr>
          <p:nvPr/>
        </p:nvSpPr>
        <p:spPr bwMode="auto">
          <a:xfrm>
            <a:off x="0" y="27289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60"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61" name="Rectangle 13"/>
          <p:cNvSpPr>
            <a:spLocks noChangeArrowheads="1"/>
          </p:cNvSpPr>
          <p:nvPr/>
        </p:nvSpPr>
        <p:spPr bwMode="auto">
          <a:xfrm>
            <a:off x="0" y="31861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graphicFrame>
        <p:nvGraphicFramePr>
          <p:cNvPr id="15" name="Object 21"/>
          <p:cNvGraphicFramePr>
            <a:graphicFrameLocks noChangeAspect="1"/>
          </p:cNvGraphicFramePr>
          <p:nvPr>
            <p:extLst>
              <p:ext uri="{D42A27DB-BD31-4B8C-83A1-F6EECF244321}">
                <p14:modId xmlns:p14="http://schemas.microsoft.com/office/powerpoint/2010/main" val="1020793257"/>
              </p:ext>
            </p:extLst>
          </p:nvPr>
        </p:nvGraphicFramePr>
        <p:xfrm>
          <a:off x="5613340" y="1475493"/>
          <a:ext cx="3206750" cy="2538412"/>
        </p:xfrm>
        <a:graphic>
          <a:graphicData uri="http://schemas.openxmlformats.org/presentationml/2006/ole">
            <mc:AlternateContent xmlns:mc="http://schemas.openxmlformats.org/markup-compatibility/2006">
              <mc:Choice xmlns:v="urn:schemas-microsoft-com:vml" Requires="v">
                <p:oleObj spid="_x0000_s168012" r:id="rId3" imgW="1768935" imgH="1402461" progId="Visio.Drawing.11">
                  <p:embed/>
                </p:oleObj>
              </mc:Choice>
              <mc:Fallback>
                <p:oleObj r:id="rId3" imgW="1768935" imgH="140246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340" y="1475493"/>
                        <a:ext cx="3206750" cy="2538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3">
            <a:extLst>
              <a:ext uri="{FF2B5EF4-FFF2-40B4-BE49-F238E27FC236}">
                <a16:creationId xmlns:a16="http://schemas.microsoft.com/office/drawing/2014/main" id="{9FF738D0-C1F1-4A82-9651-C559F301FBE3}"/>
              </a:ext>
            </a:extLst>
          </p:cNvPr>
          <p:cNvSpPr>
            <a:spLocks noChangeArrowheads="1"/>
          </p:cNvSpPr>
          <p:nvPr/>
        </p:nvSpPr>
        <p:spPr bwMode="auto">
          <a:xfrm>
            <a:off x="323705" y="404152"/>
            <a:ext cx="7279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a:t>
            </a:r>
            <a:r>
              <a:rPr lang="en-US" altLang="zh-CN" sz="3600" dirty="0">
                <a:solidFill>
                  <a:srgbClr val="FF0000"/>
                </a:solidFill>
                <a:latin typeface="宋体" panose="02010600030101010101" pitchFamily="2" charset="-122"/>
                <a:sym typeface="楷体_GB2312" pitchFamily="49" charset="-122"/>
              </a:rPr>
              <a:t>*</a:t>
            </a:r>
            <a:r>
              <a:rPr lang="zh-CN" altLang="en-US" sz="3600" dirty="0">
                <a:solidFill>
                  <a:srgbClr val="FF0000"/>
                </a:solidFill>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并联结构</a:t>
            </a:r>
            <a:r>
              <a:rPr lang="zh-CN" altLang="en-US" sz="3600" dirty="0">
                <a:solidFill>
                  <a:srgbClr val="C00000"/>
                </a:solidFill>
                <a:latin typeface="楷体_GB2312" pitchFamily="49" charset="-122"/>
                <a:ea typeface="楷体_GB2312" pitchFamily="49" charset="-122"/>
                <a:sym typeface="楷体_GB2312" pitchFamily="49" charset="-122"/>
              </a:rPr>
              <a:t>（仅了解）</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0">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765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65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650">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650">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65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657225" y="1302543"/>
            <a:ext cx="24449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dirty="0">
                <a:solidFill>
                  <a:srgbClr val="FF0000"/>
                </a:solidFill>
                <a:latin typeface="楷体_GB2312" pitchFamily="49" charset="-122"/>
                <a:ea typeface="楷体_GB2312" pitchFamily="49" charset="-122"/>
                <a:sym typeface="楷体_GB2312" pitchFamily="49" charset="-122"/>
              </a:rPr>
              <a:t>② </a:t>
            </a:r>
            <a:r>
              <a:rPr lang="zh-CN" altLang="en-US" sz="2800" dirty="0">
                <a:solidFill>
                  <a:srgbClr val="FF0000"/>
                </a:solidFill>
                <a:latin typeface="楷体_GB2312" pitchFamily="49" charset="-122"/>
                <a:ea typeface="楷体_GB2312" pitchFamily="49" charset="-122"/>
                <a:sym typeface="楷体_GB2312" pitchFamily="49" charset="-122"/>
              </a:rPr>
              <a:t>变压器电桥</a:t>
            </a:r>
            <a:endParaRPr lang="zh-CN" altLang="en-US" sz="2800" i="1" dirty="0">
              <a:solidFill>
                <a:srgbClr val="FF0000"/>
              </a:solidFill>
              <a:latin typeface="Times New Roman" pitchFamily="18" charset="0"/>
              <a:ea typeface="楷体_GB2312" pitchFamily="49" charset="-122"/>
              <a:sym typeface="Times New Roman" pitchFamily="18" charset="0"/>
            </a:endParaRPr>
          </a:p>
        </p:txBody>
      </p:sp>
      <p:grpSp>
        <p:nvGrpSpPr>
          <p:cNvPr id="28675" name="Group 3"/>
          <p:cNvGrpSpPr>
            <a:grpSpLocks/>
          </p:cNvGrpSpPr>
          <p:nvPr/>
        </p:nvGrpSpPr>
        <p:grpSpPr bwMode="auto">
          <a:xfrm>
            <a:off x="5472113" y="3886270"/>
            <a:ext cx="3374735" cy="2854960"/>
            <a:chOff x="0" y="0"/>
            <a:chExt cx="2178" cy="2018"/>
          </a:xfrm>
        </p:grpSpPr>
        <p:pic>
          <p:nvPicPr>
            <p:cNvPr id="2867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178"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ext Box 5"/>
            <p:cNvSpPr>
              <a:spLocks noChangeArrowheads="1"/>
            </p:cNvSpPr>
            <p:nvPr/>
          </p:nvSpPr>
          <p:spPr bwMode="auto">
            <a:xfrm>
              <a:off x="85" y="1758"/>
              <a:ext cx="207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latin typeface="楷体_GB2312" pitchFamily="49" charset="-122"/>
                  <a:ea typeface="楷体_GB2312" pitchFamily="49" charset="-122"/>
                  <a:sym typeface="楷体_GB2312" pitchFamily="49" charset="-122"/>
                </a:rPr>
                <a:t>变压器电桥原理图</a:t>
              </a:r>
              <a:endParaRPr lang="zh-CN" altLang="en-US" sz="2000" dirty="0"/>
            </a:p>
          </p:txBody>
        </p:sp>
      </p:grpSp>
      <p:sp>
        <p:nvSpPr>
          <p:cNvPr id="28678" name="Text Box 6"/>
          <p:cNvSpPr>
            <a:spLocks noChangeArrowheads="1"/>
          </p:cNvSpPr>
          <p:nvPr/>
        </p:nvSpPr>
        <p:spPr bwMode="auto">
          <a:xfrm>
            <a:off x="781253" y="1873388"/>
            <a:ext cx="8101013" cy="1560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000" dirty="0">
                <a:ea typeface="楷体_GB2312" pitchFamily="49" charset="-122"/>
                <a:sym typeface="Arial" pitchFamily="34" charset="0"/>
              </a:rPr>
              <a:t>用变压器副边驱动传感器：</a:t>
            </a:r>
            <a:endParaRPr lang="en-US" altLang="zh-CN" sz="2000" dirty="0">
              <a:ea typeface="楷体_GB2312" pitchFamily="49" charset="-122"/>
              <a:sym typeface="Arial" pitchFamily="34" charset="0"/>
            </a:endParaRPr>
          </a:p>
          <a:p>
            <a:pPr eaLnBrk="1" hangingPunct="1">
              <a:lnSpc>
                <a:spcPct val="130000"/>
              </a:lnSpc>
              <a:spcBef>
                <a:spcPct val="50000"/>
              </a:spcBef>
            </a:pPr>
            <a:r>
              <a:rPr lang="zh-CN" altLang="en-US" sz="2000" dirty="0">
                <a:ea typeface="楷体_GB2312" pitchFamily="49" charset="-122"/>
                <a:sym typeface="Arial" pitchFamily="34" charset="0"/>
              </a:rPr>
              <a:t>          平衡臂为变压器的两个副边；</a:t>
            </a:r>
            <a:endParaRPr lang="en-US" altLang="zh-CN" sz="2000" dirty="0">
              <a:ea typeface="楷体_GB2312" pitchFamily="49" charset="-122"/>
              <a:sym typeface="Arial" pitchFamily="34" charset="0"/>
            </a:endParaRPr>
          </a:p>
          <a:p>
            <a:pPr marL="342900" indent="-342900" eaLnBrk="1" hangingPunct="1">
              <a:lnSpc>
                <a:spcPct val="130000"/>
              </a:lnSpc>
              <a:spcBef>
                <a:spcPct val="50000"/>
              </a:spcBef>
              <a:buFont typeface="Arial" panose="020B0604020202020204" pitchFamily="34" charset="0"/>
              <a:buChar char="•"/>
            </a:pPr>
            <a:r>
              <a:rPr lang="zh-CN" altLang="en-US" sz="2000" dirty="0">
                <a:ea typeface="楷体_GB2312" pitchFamily="49" charset="-122"/>
                <a:sym typeface="Arial" pitchFamily="34" charset="0"/>
              </a:rPr>
              <a:t>当负载阻抗为无穷大时，流入工作臂的电流：</a:t>
            </a:r>
            <a:endParaRPr lang="zh-CN" altLang="en-US" sz="2000" dirty="0"/>
          </a:p>
        </p:txBody>
      </p:sp>
      <p:pic>
        <p:nvPicPr>
          <p:cNvPr id="28679" name="Object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82831" y="2788954"/>
            <a:ext cx="1441450"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0" name="Text Box 8"/>
          <p:cNvSpPr>
            <a:spLocks noChangeArrowheads="1"/>
          </p:cNvSpPr>
          <p:nvPr/>
        </p:nvSpPr>
        <p:spPr bwMode="auto">
          <a:xfrm>
            <a:off x="881224" y="3864635"/>
            <a:ext cx="42751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ea typeface="楷体_GB2312" pitchFamily="49" charset="-122"/>
                <a:sym typeface="Arial" pitchFamily="34" charset="0"/>
              </a:rPr>
              <a:t>输出电压：</a:t>
            </a:r>
            <a:endParaRPr lang="zh-CN" altLang="en-US" sz="2000" dirty="0"/>
          </a:p>
        </p:txBody>
      </p:sp>
      <p:pic>
        <p:nvPicPr>
          <p:cNvPr id="28681" name="Object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4064" y="4126206"/>
            <a:ext cx="4418018" cy="99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ChangeArrowheads="1"/>
          </p:cNvSpPr>
          <p:nvPr/>
        </p:nvSpPr>
        <p:spPr bwMode="auto">
          <a:xfrm>
            <a:off x="926645" y="5381954"/>
            <a:ext cx="4455437" cy="848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buFont typeface="Arial" panose="020B0604020202020204" pitchFamily="34" charset="0"/>
              <a:buChar char="•"/>
            </a:pPr>
            <a:r>
              <a:rPr lang="zh-CN" altLang="en-US" sz="2000" dirty="0">
                <a:solidFill>
                  <a:srgbClr val="000000"/>
                </a:solidFill>
                <a:latin typeface="楷体_GB2312" pitchFamily="49" charset="-122"/>
                <a:ea typeface="楷体_GB2312" pitchFamily="49" charset="-122"/>
                <a:sym typeface="楷体_GB2312" pitchFamily="49" charset="-122"/>
              </a:rPr>
              <a:t>初始：</a:t>
            </a:r>
            <a:r>
              <a:rPr lang="en-US" sz="2000" i="1" dirty="0">
                <a:solidFill>
                  <a:srgbClr val="0000FF"/>
                </a:solidFill>
                <a:latin typeface="Times New Roman" pitchFamily="18" charset="0"/>
                <a:ea typeface="楷体_GB2312" pitchFamily="49" charset="-122"/>
                <a:sym typeface="Times New Roman" pitchFamily="18" charset="0"/>
              </a:rPr>
              <a:t>Z</a:t>
            </a:r>
            <a:r>
              <a:rPr lang="en-US" sz="2000" baseline="-25000" dirty="0">
                <a:solidFill>
                  <a:srgbClr val="0000FF"/>
                </a:solidFill>
                <a:latin typeface="楷体_GB2312" pitchFamily="49" charset="-122"/>
                <a:ea typeface="楷体_GB2312" pitchFamily="49" charset="-122"/>
                <a:sym typeface="楷体_GB2312" pitchFamily="49" charset="-122"/>
              </a:rPr>
              <a:t>1</a:t>
            </a:r>
            <a:r>
              <a:rPr lang="en-US" sz="2000" dirty="0">
                <a:solidFill>
                  <a:srgbClr val="0000FF"/>
                </a:solidFill>
                <a:latin typeface="楷体_GB2312" pitchFamily="49" charset="-122"/>
                <a:ea typeface="楷体_GB2312" pitchFamily="49" charset="-122"/>
                <a:sym typeface="楷体_GB2312" pitchFamily="49" charset="-122"/>
              </a:rPr>
              <a:t>=</a:t>
            </a:r>
            <a:r>
              <a:rPr lang="en-US" sz="2000" i="1" dirty="0">
                <a:solidFill>
                  <a:srgbClr val="0000FF"/>
                </a:solidFill>
                <a:latin typeface="Times New Roman" pitchFamily="18" charset="0"/>
                <a:ea typeface="楷体_GB2312" pitchFamily="49" charset="-122"/>
                <a:sym typeface="Times New Roman" pitchFamily="18" charset="0"/>
              </a:rPr>
              <a:t>Z</a:t>
            </a:r>
            <a:r>
              <a:rPr lang="en-US" sz="2000" baseline="-25000" dirty="0">
                <a:solidFill>
                  <a:srgbClr val="0000FF"/>
                </a:solidFill>
                <a:latin typeface="楷体_GB2312" pitchFamily="49" charset="-122"/>
                <a:ea typeface="楷体_GB2312" pitchFamily="49" charset="-122"/>
                <a:sym typeface="楷体_GB2312" pitchFamily="49" charset="-122"/>
              </a:rPr>
              <a:t>2</a:t>
            </a:r>
            <a:r>
              <a:rPr lang="en-US" sz="2000" dirty="0">
                <a:solidFill>
                  <a:srgbClr val="0000FF"/>
                </a:solidFill>
                <a:latin typeface="楷体_GB2312" pitchFamily="49" charset="-122"/>
                <a:ea typeface="楷体_GB2312" pitchFamily="49" charset="-122"/>
                <a:sym typeface="楷体_GB2312" pitchFamily="49" charset="-122"/>
              </a:rPr>
              <a:t>=</a:t>
            </a:r>
            <a:r>
              <a:rPr lang="en-US" sz="2000" i="1" dirty="0">
                <a:solidFill>
                  <a:srgbClr val="0000FF"/>
                </a:solidFill>
                <a:latin typeface="Times New Roman" pitchFamily="18" charset="0"/>
                <a:ea typeface="楷体_GB2312" pitchFamily="49" charset="-122"/>
                <a:sym typeface="Times New Roman" pitchFamily="18" charset="0"/>
              </a:rPr>
              <a:t>Z</a:t>
            </a:r>
            <a:r>
              <a:rPr lang="en-US" sz="2000" dirty="0">
                <a:solidFill>
                  <a:srgbClr val="0000FF"/>
                </a:solidFill>
                <a:latin typeface="楷体_GB2312" pitchFamily="49" charset="-122"/>
                <a:ea typeface="楷体_GB2312" pitchFamily="49" charset="-122"/>
                <a:sym typeface="楷体_GB2312" pitchFamily="49" charset="-122"/>
              </a:rPr>
              <a:t>=</a:t>
            </a:r>
            <a:r>
              <a:rPr lang="en-US" sz="2000" i="1" dirty="0" err="1">
                <a:solidFill>
                  <a:srgbClr val="0000FF"/>
                </a:solidFill>
                <a:latin typeface="Times New Roman" pitchFamily="18" charset="0"/>
                <a:ea typeface="楷体_GB2312" pitchFamily="49" charset="-122"/>
                <a:sym typeface="Times New Roman" pitchFamily="18" charset="0"/>
              </a:rPr>
              <a:t>R</a:t>
            </a:r>
            <a:r>
              <a:rPr lang="en-US" sz="2000" baseline="-25000" dirty="0" err="1">
                <a:solidFill>
                  <a:srgbClr val="0000FF"/>
                </a:solidFill>
                <a:latin typeface="楷体_GB2312" pitchFamily="49" charset="-122"/>
                <a:ea typeface="楷体_GB2312" pitchFamily="49" charset="-122"/>
                <a:sym typeface="楷体_GB2312" pitchFamily="49" charset="-122"/>
              </a:rPr>
              <a:t>S</a:t>
            </a:r>
            <a:r>
              <a:rPr lang="en-US" sz="2000" dirty="0" err="1">
                <a:solidFill>
                  <a:srgbClr val="0000FF"/>
                </a:solidFill>
                <a:latin typeface="楷体_GB2312" pitchFamily="49" charset="-122"/>
                <a:ea typeface="楷体_GB2312" pitchFamily="49" charset="-122"/>
                <a:sym typeface="楷体_GB2312" pitchFamily="49" charset="-122"/>
              </a:rPr>
              <a:t>+jω</a:t>
            </a:r>
            <a:r>
              <a:rPr lang="en-US" sz="2000" i="1" dirty="0" err="1">
                <a:solidFill>
                  <a:srgbClr val="0000FF"/>
                </a:solidFill>
                <a:latin typeface="Times New Roman" pitchFamily="18" charset="0"/>
                <a:ea typeface="楷体_GB2312" pitchFamily="49" charset="-122"/>
                <a:sym typeface="Times New Roman" pitchFamily="18" charset="0"/>
              </a:rPr>
              <a:t>L</a:t>
            </a:r>
            <a:endParaRPr lang="en-US" altLang="zh-CN" sz="2000" dirty="0">
              <a:solidFill>
                <a:srgbClr val="000000"/>
              </a:solidFill>
              <a:latin typeface="楷体_GB2312" pitchFamily="49" charset="-122"/>
              <a:ea typeface="楷体_GB2312" pitchFamily="49" charset="-122"/>
              <a:sym typeface="楷体_GB2312" pitchFamily="49" charset="-122"/>
            </a:endParaRPr>
          </a:p>
          <a:p>
            <a:pPr marL="342900" indent="-342900" eaLnBrk="1" hangingPunct="1">
              <a:lnSpc>
                <a:spcPct val="130000"/>
              </a:lnSpc>
              <a:buFont typeface="Arial" panose="020B0604020202020204" pitchFamily="34" charset="0"/>
              <a:buChar char="•"/>
            </a:pPr>
            <a:r>
              <a:rPr lang="zh-CN" altLang="en-US" sz="2000" b="1" dirty="0"/>
              <a:t>输出</a:t>
            </a:r>
            <a:r>
              <a:rPr lang="zh-CN" altLang="en-US" sz="2000" dirty="0"/>
              <a:t>：</a:t>
            </a:r>
          </a:p>
        </p:txBody>
      </p:sp>
      <p:pic>
        <p:nvPicPr>
          <p:cNvPr id="2" name="图片 1">
            <a:extLst>
              <a:ext uri="{FF2B5EF4-FFF2-40B4-BE49-F238E27FC236}">
                <a16:creationId xmlns:a16="http://schemas.microsoft.com/office/drawing/2014/main" id="{335AFBD7-E825-41AD-BF81-6C0B84877F71}"/>
              </a:ext>
            </a:extLst>
          </p:cNvPr>
          <p:cNvPicPr>
            <a:picLocks noChangeAspect="1"/>
          </p:cNvPicPr>
          <p:nvPr/>
        </p:nvPicPr>
        <p:blipFill>
          <a:blip r:embed="rId5"/>
          <a:stretch>
            <a:fillRect/>
          </a:stretch>
        </p:blipFill>
        <p:spPr>
          <a:xfrm>
            <a:off x="2051825" y="5975475"/>
            <a:ext cx="1159499" cy="511095"/>
          </a:xfrm>
          <a:prstGeom prst="rect">
            <a:avLst/>
          </a:prstGeom>
        </p:spPr>
      </p:pic>
      <p:pic>
        <p:nvPicPr>
          <p:cNvPr id="3" name="图片 2">
            <a:extLst>
              <a:ext uri="{FF2B5EF4-FFF2-40B4-BE49-F238E27FC236}">
                <a16:creationId xmlns:a16="http://schemas.microsoft.com/office/drawing/2014/main" id="{15743FD8-7819-4644-B71A-FCDC648D1AF6}"/>
              </a:ext>
            </a:extLst>
          </p:cNvPr>
          <p:cNvPicPr>
            <a:picLocks noChangeAspect="1"/>
          </p:cNvPicPr>
          <p:nvPr/>
        </p:nvPicPr>
        <p:blipFill>
          <a:blip r:embed="rId6"/>
          <a:stretch>
            <a:fillRect/>
          </a:stretch>
        </p:blipFill>
        <p:spPr>
          <a:xfrm>
            <a:off x="5318922" y="506044"/>
            <a:ext cx="3682203" cy="2088079"/>
          </a:xfrm>
          <a:prstGeom prst="rect">
            <a:avLst/>
          </a:prstGeom>
        </p:spPr>
      </p:pic>
      <p:sp>
        <p:nvSpPr>
          <p:cNvPr id="4" name="任意多边形: 形状 3">
            <a:extLst>
              <a:ext uri="{FF2B5EF4-FFF2-40B4-BE49-F238E27FC236}">
                <a16:creationId xmlns:a16="http://schemas.microsoft.com/office/drawing/2014/main" id="{101FCA36-1689-458D-B116-3EAAC8DF2609}"/>
              </a:ext>
            </a:extLst>
          </p:cNvPr>
          <p:cNvSpPr/>
          <p:nvPr/>
        </p:nvSpPr>
        <p:spPr bwMode="auto">
          <a:xfrm>
            <a:off x="8428905" y="1726120"/>
            <a:ext cx="429146" cy="2854960"/>
          </a:xfrm>
          <a:custGeom>
            <a:avLst/>
            <a:gdLst>
              <a:gd name="connsiteX0" fmla="*/ 142240 w 429146"/>
              <a:gd name="connsiteY0" fmla="*/ 0 h 2854960"/>
              <a:gd name="connsiteX1" fmla="*/ 426720 w 429146"/>
              <a:gd name="connsiteY1" fmla="*/ 1209040 h 2854960"/>
              <a:gd name="connsiteX2" fmla="*/ 0 w 429146"/>
              <a:gd name="connsiteY2" fmla="*/ 2854960 h 2854960"/>
            </a:gdLst>
            <a:ahLst/>
            <a:cxnLst>
              <a:cxn ang="0">
                <a:pos x="connsiteX0" y="connsiteY0"/>
              </a:cxn>
              <a:cxn ang="0">
                <a:pos x="connsiteX1" y="connsiteY1"/>
              </a:cxn>
              <a:cxn ang="0">
                <a:pos x="connsiteX2" y="connsiteY2"/>
              </a:cxn>
            </a:cxnLst>
            <a:rect l="l" t="t" r="r" b="b"/>
            <a:pathLst>
              <a:path w="429146" h="2854960">
                <a:moveTo>
                  <a:pt x="142240" y="0"/>
                </a:moveTo>
                <a:cubicBezTo>
                  <a:pt x="296333" y="366606"/>
                  <a:pt x="450427" y="733213"/>
                  <a:pt x="426720" y="1209040"/>
                </a:cubicBezTo>
                <a:cubicBezTo>
                  <a:pt x="403013" y="1684867"/>
                  <a:pt x="49107" y="2636520"/>
                  <a:pt x="0" y="2854960"/>
                </a:cubicBezTo>
              </a:path>
            </a:pathLst>
          </a:custGeom>
          <a:noFill/>
          <a:ln w="25400" cap="flat" cmpd="sng" algn="ctr">
            <a:solidFill>
              <a:srgbClr val="FFC000"/>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5" name="任意多边形: 形状 4">
            <a:extLst>
              <a:ext uri="{FF2B5EF4-FFF2-40B4-BE49-F238E27FC236}">
                <a16:creationId xmlns:a16="http://schemas.microsoft.com/office/drawing/2014/main" id="{E5FEDA45-5744-4C96-AEE8-198CD22B3BA0}"/>
              </a:ext>
            </a:extLst>
          </p:cNvPr>
          <p:cNvSpPr/>
          <p:nvPr/>
        </p:nvSpPr>
        <p:spPr bwMode="auto">
          <a:xfrm>
            <a:off x="8388265" y="3374270"/>
            <a:ext cx="434368" cy="2214880"/>
          </a:xfrm>
          <a:custGeom>
            <a:avLst/>
            <a:gdLst>
              <a:gd name="connsiteX0" fmla="*/ 396240 w 434368"/>
              <a:gd name="connsiteY0" fmla="*/ 0 h 2214880"/>
              <a:gd name="connsiteX1" fmla="*/ 396240 w 434368"/>
              <a:gd name="connsiteY1" fmla="*/ 1574800 h 2214880"/>
              <a:gd name="connsiteX2" fmla="*/ 0 w 434368"/>
              <a:gd name="connsiteY2" fmla="*/ 2214880 h 2214880"/>
              <a:gd name="connsiteX3" fmla="*/ 0 w 434368"/>
              <a:gd name="connsiteY3" fmla="*/ 2214880 h 2214880"/>
            </a:gdLst>
            <a:ahLst/>
            <a:cxnLst>
              <a:cxn ang="0">
                <a:pos x="connsiteX0" y="connsiteY0"/>
              </a:cxn>
              <a:cxn ang="0">
                <a:pos x="connsiteX1" y="connsiteY1"/>
              </a:cxn>
              <a:cxn ang="0">
                <a:pos x="connsiteX2" y="connsiteY2"/>
              </a:cxn>
              <a:cxn ang="0">
                <a:pos x="connsiteX3" y="connsiteY3"/>
              </a:cxn>
            </a:cxnLst>
            <a:rect l="l" t="t" r="r" b="b"/>
            <a:pathLst>
              <a:path w="434368" h="2214880">
                <a:moveTo>
                  <a:pt x="396240" y="0"/>
                </a:moveTo>
                <a:cubicBezTo>
                  <a:pt x="429260" y="602826"/>
                  <a:pt x="462280" y="1205653"/>
                  <a:pt x="396240" y="1574800"/>
                </a:cubicBezTo>
                <a:cubicBezTo>
                  <a:pt x="330200" y="1943947"/>
                  <a:pt x="0" y="2214880"/>
                  <a:pt x="0" y="2214880"/>
                </a:cubicBezTo>
                <a:lnTo>
                  <a:pt x="0" y="2214880"/>
                </a:lnTo>
              </a:path>
            </a:pathLst>
          </a:custGeom>
          <a:noFill/>
          <a:ln w="25400"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15" name="矩形 4">
            <a:extLst>
              <a:ext uri="{FF2B5EF4-FFF2-40B4-BE49-F238E27FC236}">
                <a16:creationId xmlns:a16="http://schemas.microsoft.com/office/drawing/2014/main" id="{A52A9186-C88A-48A0-89DD-B3C05AA6530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6" name="TextBox 5">
            <a:extLst>
              <a:ext uri="{FF2B5EF4-FFF2-40B4-BE49-F238E27FC236}">
                <a16:creationId xmlns:a16="http://schemas.microsoft.com/office/drawing/2014/main" id="{F9AB8BCD-79DF-4869-B2B3-4174C7E309DB}"/>
              </a:ext>
            </a:extLst>
          </p:cNvPr>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1. 4 </a:t>
            </a:r>
            <a:r>
              <a:rPr lang="zh-CN" altLang="en-US" sz="3200" b="1" dirty="0">
                <a:solidFill>
                  <a:schemeClr val="tx2"/>
                </a:solidFill>
                <a:latin typeface="Calibri" pitchFamily="34" charset="0"/>
              </a:rPr>
              <a:t>测量电路</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657225" y="365132"/>
            <a:ext cx="318548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dirty="0">
                <a:solidFill>
                  <a:srgbClr val="FF0000"/>
                </a:solidFill>
                <a:latin typeface="楷体_GB2312" pitchFamily="49" charset="-122"/>
                <a:ea typeface="楷体_GB2312" pitchFamily="49" charset="-122"/>
                <a:sym typeface="楷体_GB2312" pitchFamily="49" charset="-122"/>
              </a:rPr>
              <a:t>② </a:t>
            </a:r>
            <a:r>
              <a:rPr lang="zh-CN" altLang="en-US" sz="3600" dirty="0">
                <a:solidFill>
                  <a:srgbClr val="FF0000"/>
                </a:solidFill>
                <a:latin typeface="楷体_GB2312" pitchFamily="49" charset="-122"/>
                <a:ea typeface="楷体_GB2312" pitchFamily="49" charset="-122"/>
                <a:sym typeface="楷体_GB2312" pitchFamily="49" charset="-122"/>
              </a:rPr>
              <a:t>变压器电桥</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grpSp>
        <p:nvGrpSpPr>
          <p:cNvPr id="28675" name="Group 3"/>
          <p:cNvGrpSpPr>
            <a:grpSpLocks/>
          </p:cNvGrpSpPr>
          <p:nvPr/>
        </p:nvGrpSpPr>
        <p:grpSpPr bwMode="auto">
          <a:xfrm>
            <a:off x="5436060" y="1950356"/>
            <a:ext cx="3457575" cy="3203575"/>
            <a:chOff x="0" y="0"/>
            <a:chExt cx="2178" cy="2018"/>
          </a:xfrm>
        </p:grpSpPr>
        <p:pic>
          <p:nvPicPr>
            <p:cNvPr id="2867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178"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ext Box 5"/>
            <p:cNvSpPr>
              <a:spLocks noChangeArrowheads="1"/>
            </p:cNvSpPr>
            <p:nvPr/>
          </p:nvSpPr>
          <p:spPr bwMode="auto">
            <a:xfrm>
              <a:off x="85" y="1758"/>
              <a:ext cx="207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100">
                  <a:latin typeface="楷体_GB2312" pitchFamily="49" charset="-122"/>
                  <a:ea typeface="楷体_GB2312" pitchFamily="49" charset="-122"/>
                  <a:sym typeface="楷体_GB2312" pitchFamily="49" charset="-122"/>
                </a:rPr>
                <a:t>图</a:t>
              </a:r>
              <a:r>
                <a:rPr lang="en-US" sz="2100">
                  <a:latin typeface="楷体_GB2312" pitchFamily="49" charset="-122"/>
                  <a:ea typeface="楷体_GB2312" pitchFamily="49" charset="-122"/>
                  <a:sym typeface="楷体_GB2312" pitchFamily="49" charset="-122"/>
                </a:rPr>
                <a:t>4-12 </a:t>
              </a:r>
              <a:r>
                <a:rPr lang="zh-CN" altLang="en-US" sz="2100">
                  <a:latin typeface="楷体_GB2312" pitchFamily="49" charset="-122"/>
                  <a:ea typeface="楷体_GB2312" pitchFamily="49" charset="-122"/>
                  <a:sym typeface="楷体_GB2312" pitchFamily="49" charset="-122"/>
                </a:rPr>
                <a:t>变压器电桥原理图</a:t>
              </a:r>
              <a:endParaRPr lang="zh-CN" altLang="en-US"/>
            </a:p>
          </p:txBody>
        </p:sp>
      </p:grpSp>
      <p:pic>
        <p:nvPicPr>
          <p:cNvPr id="28681" name="Object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3980" y="305275"/>
            <a:ext cx="4729919" cy="1069862"/>
          </a:xfrm>
          <a:prstGeom prst="rect">
            <a:avLst/>
          </a:prstGeom>
          <a:solidFill>
            <a:srgbClr val="FFFF00"/>
          </a:solidFill>
          <a:ln>
            <a:noFill/>
          </a:ln>
          <a:extLst/>
        </p:spPr>
      </p:pic>
      <p:sp>
        <p:nvSpPr>
          <p:cNvPr id="28682" name="Rectangle 10"/>
          <p:cNvSpPr>
            <a:spLocks noChangeArrowheads="1"/>
          </p:cNvSpPr>
          <p:nvPr/>
        </p:nvSpPr>
        <p:spPr bwMode="auto">
          <a:xfrm>
            <a:off x="812016" y="1748438"/>
            <a:ext cx="4455437" cy="1005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如传感器衔铁离开平衡位置</a:t>
            </a:r>
            <a:endParaRPr lang="en-US" altLang="zh-CN" sz="2400" dirty="0">
              <a:solidFill>
                <a:srgbClr val="000000"/>
              </a:solidFill>
              <a:latin typeface="楷体_GB2312" pitchFamily="49" charset="-122"/>
              <a:ea typeface="楷体_GB2312" pitchFamily="49" charset="-122"/>
              <a:sym typeface="楷体_GB2312" pitchFamily="49" charset="-122"/>
            </a:endParaRPr>
          </a:p>
          <a:p>
            <a:pPr eaLnBrk="1" hangingPunct="1">
              <a:lnSpc>
                <a:spcPct val="130000"/>
              </a:lnSpc>
            </a:pPr>
            <a:r>
              <a:rPr lang="en-US" sz="2400" i="1" dirty="0">
                <a:solidFill>
                  <a:srgbClr val="0000FF"/>
                </a:solidFill>
                <a:latin typeface="Times New Roman" pitchFamily="18" charset="0"/>
                <a:ea typeface="楷体_GB2312" pitchFamily="49" charset="-122"/>
                <a:sym typeface="Times New Roman" pitchFamily="18" charset="0"/>
              </a:rPr>
              <a:t>     </a:t>
            </a:r>
            <a:r>
              <a:rPr lang="zh-CN" altLang="en-US" sz="2400" dirty="0">
                <a:solidFill>
                  <a:srgbClr val="FF0000"/>
                </a:solidFill>
                <a:latin typeface="Times New Roman" pitchFamily="18" charset="0"/>
                <a:ea typeface="楷体_GB2312" pitchFamily="49" charset="-122"/>
                <a:sym typeface="Times New Roman" pitchFamily="18" charset="0"/>
              </a:rPr>
              <a:t>使：</a:t>
            </a:r>
            <a:r>
              <a:rPr lang="en-US" sz="2400" i="1" dirty="0">
                <a:solidFill>
                  <a:srgbClr val="0000FF"/>
                </a:solidFill>
                <a:latin typeface="Times New Roman" pitchFamily="18" charset="0"/>
                <a:ea typeface="楷体_GB2312" pitchFamily="49" charset="-122"/>
                <a:sym typeface="Times New Roman" pitchFamily="18" charset="0"/>
              </a:rPr>
              <a:t>Z</a:t>
            </a:r>
            <a:r>
              <a:rPr lang="en-US" sz="2400" baseline="-25000" dirty="0">
                <a:solidFill>
                  <a:srgbClr val="0000FF"/>
                </a:solidFill>
                <a:latin typeface="楷体_GB2312" pitchFamily="49" charset="-122"/>
                <a:ea typeface="楷体_GB2312" pitchFamily="49" charset="-122"/>
                <a:sym typeface="楷体_GB2312" pitchFamily="49" charset="-122"/>
              </a:rPr>
              <a:t>1</a:t>
            </a:r>
            <a:r>
              <a:rPr lang="en-US" sz="2400" dirty="0">
                <a:solidFill>
                  <a:srgbClr val="0000FF"/>
                </a:solidFill>
                <a:latin typeface="楷体_GB2312" pitchFamily="49" charset="-122"/>
                <a:ea typeface="楷体_GB2312" pitchFamily="49" charset="-122"/>
                <a:sym typeface="楷体_GB2312" pitchFamily="49" charset="-122"/>
              </a:rPr>
              <a:t>=</a:t>
            </a:r>
            <a:r>
              <a:rPr lang="en-US" sz="2400" i="1" dirty="0">
                <a:solidFill>
                  <a:srgbClr val="0000FF"/>
                </a:solidFill>
                <a:latin typeface="Times New Roman" pitchFamily="18" charset="0"/>
                <a:ea typeface="楷体_GB2312" pitchFamily="49" charset="-122"/>
                <a:sym typeface="Times New Roman" pitchFamily="18" charset="0"/>
              </a:rPr>
              <a:t>Z</a:t>
            </a:r>
            <a:r>
              <a:rPr lang="en-US" sz="2400" dirty="0">
                <a:solidFill>
                  <a:srgbClr val="FF0000"/>
                </a:solidFill>
                <a:latin typeface="楷体_GB2312" pitchFamily="49" charset="-122"/>
                <a:ea typeface="楷体_GB2312" pitchFamily="49" charset="-122"/>
                <a:sym typeface="楷体_GB2312" pitchFamily="49" charset="-122"/>
              </a:rPr>
              <a:t>-</a:t>
            </a:r>
            <a:r>
              <a:rPr lang="en-US" sz="2400" dirty="0">
                <a:solidFill>
                  <a:srgbClr val="0000FF"/>
                </a:solidFill>
                <a:latin typeface="楷体_GB2312" pitchFamily="49" charset="-122"/>
                <a:ea typeface="楷体_GB2312" pitchFamily="49" charset="-122"/>
                <a:sym typeface="楷体_GB2312" pitchFamily="49" charset="-122"/>
              </a:rPr>
              <a:t>Δ</a:t>
            </a:r>
            <a:r>
              <a:rPr lang="en-US" sz="2400" i="1" dirty="0">
                <a:solidFill>
                  <a:srgbClr val="0000FF"/>
                </a:solidFill>
                <a:latin typeface="Times New Roman" pitchFamily="18" charset="0"/>
                <a:ea typeface="楷体_GB2312" pitchFamily="49" charset="-122"/>
                <a:sym typeface="Times New Roman" pitchFamily="18" charset="0"/>
              </a:rPr>
              <a:t>Z</a:t>
            </a:r>
            <a:r>
              <a:rPr lang="zh-CN" altLang="en-US" sz="2400" dirty="0">
                <a:solidFill>
                  <a:srgbClr val="0000FF"/>
                </a:solidFill>
                <a:latin typeface="楷体_GB2312" pitchFamily="49" charset="-122"/>
                <a:ea typeface="楷体_GB2312" pitchFamily="49" charset="-122"/>
                <a:sym typeface="楷体_GB2312" pitchFamily="49" charset="-122"/>
              </a:rPr>
              <a:t>，</a:t>
            </a:r>
            <a:r>
              <a:rPr lang="en-US" altLang="zh-CN" sz="2400" i="1" dirty="0">
                <a:solidFill>
                  <a:srgbClr val="0000FF"/>
                </a:solidFill>
                <a:latin typeface="Times New Roman" pitchFamily="18" charset="0"/>
                <a:ea typeface="楷体_GB2312" pitchFamily="49" charset="-122"/>
                <a:sym typeface="Times New Roman" pitchFamily="18" charset="0"/>
              </a:rPr>
              <a:t> Z</a:t>
            </a:r>
            <a:r>
              <a:rPr lang="en-US" altLang="zh-CN" sz="2400" baseline="-25000" dirty="0">
                <a:solidFill>
                  <a:srgbClr val="0000FF"/>
                </a:solidFill>
                <a:latin typeface="楷体_GB2312" pitchFamily="49" charset="-122"/>
                <a:ea typeface="楷体_GB2312" pitchFamily="49" charset="-122"/>
                <a:sym typeface="楷体_GB2312" pitchFamily="49" charset="-122"/>
              </a:rPr>
              <a:t>2</a:t>
            </a:r>
            <a:r>
              <a:rPr lang="en-US" altLang="zh-CN" sz="2400" dirty="0">
                <a:solidFill>
                  <a:srgbClr val="0000FF"/>
                </a:solidFill>
                <a:latin typeface="楷体_GB2312" pitchFamily="49" charset="-122"/>
                <a:ea typeface="楷体_GB2312" pitchFamily="49" charset="-122"/>
                <a:sym typeface="楷体_GB2312" pitchFamily="49" charset="-122"/>
              </a:rPr>
              <a:t>=</a:t>
            </a:r>
            <a:r>
              <a:rPr lang="en-US" altLang="zh-CN" sz="2400" i="1" dirty="0">
                <a:solidFill>
                  <a:srgbClr val="0000FF"/>
                </a:solidFill>
                <a:latin typeface="Times New Roman" pitchFamily="18" charset="0"/>
                <a:ea typeface="楷体_GB2312" pitchFamily="49" charset="-122"/>
                <a:sym typeface="Times New Roman" pitchFamily="18" charset="0"/>
              </a:rPr>
              <a:t>Z</a:t>
            </a:r>
            <a:r>
              <a:rPr lang="en-US" altLang="zh-CN" sz="2400" dirty="0">
                <a:solidFill>
                  <a:srgbClr val="FF0000"/>
                </a:solidFill>
                <a:latin typeface="楷体_GB2312" pitchFamily="49" charset="-122"/>
                <a:ea typeface="楷体_GB2312" pitchFamily="49" charset="-122"/>
                <a:sym typeface="楷体_GB2312" pitchFamily="49" charset="-122"/>
              </a:rPr>
              <a:t>+</a:t>
            </a:r>
            <a:r>
              <a:rPr lang="en-US" altLang="zh-CN" sz="2400" dirty="0">
                <a:solidFill>
                  <a:srgbClr val="0000FF"/>
                </a:solidFill>
                <a:latin typeface="楷体_GB2312" pitchFamily="49" charset="-122"/>
                <a:ea typeface="楷体_GB2312" pitchFamily="49" charset="-122"/>
                <a:sym typeface="楷体_GB2312" pitchFamily="49" charset="-122"/>
              </a:rPr>
              <a:t>Δ</a:t>
            </a:r>
            <a:r>
              <a:rPr lang="en-US" altLang="zh-CN" sz="2400" i="1" dirty="0">
                <a:solidFill>
                  <a:srgbClr val="0000FF"/>
                </a:solidFill>
                <a:latin typeface="Times New Roman" pitchFamily="18" charset="0"/>
                <a:ea typeface="楷体_GB2312" pitchFamily="49" charset="-122"/>
                <a:sym typeface="Times New Roman" pitchFamily="18" charset="0"/>
              </a:rPr>
              <a:t>Z </a:t>
            </a:r>
            <a:endParaRPr lang="zh-CN" altLang="en-US" dirty="0"/>
          </a:p>
        </p:txBody>
      </p:sp>
      <p:pic>
        <p:nvPicPr>
          <p:cNvPr id="28683" name="Object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60179" y="2863193"/>
            <a:ext cx="1747762" cy="90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0">
            <a:extLst>
              <a:ext uri="{FF2B5EF4-FFF2-40B4-BE49-F238E27FC236}">
                <a16:creationId xmlns:a16="http://schemas.microsoft.com/office/drawing/2014/main" id="{441BA5F0-B8E6-4050-B240-B9AF3C0C1661}"/>
              </a:ext>
            </a:extLst>
          </p:cNvPr>
          <p:cNvSpPr>
            <a:spLocks noChangeArrowheads="1"/>
          </p:cNvSpPr>
          <p:nvPr/>
        </p:nvSpPr>
        <p:spPr bwMode="auto">
          <a:xfrm>
            <a:off x="652305" y="4020401"/>
            <a:ext cx="4631238" cy="1005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如传感器衔铁往相反方向运动</a:t>
            </a:r>
            <a:endParaRPr lang="en-US" altLang="zh-CN" sz="2400" dirty="0">
              <a:solidFill>
                <a:srgbClr val="000000"/>
              </a:solidFill>
              <a:latin typeface="楷体_GB2312" pitchFamily="49" charset="-122"/>
              <a:ea typeface="楷体_GB2312" pitchFamily="49" charset="-122"/>
              <a:sym typeface="楷体_GB2312" pitchFamily="49" charset="-122"/>
            </a:endParaRPr>
          </a:p>
          <a:p>
            <a:pPr eaLnBrk="1" hangingPunct="1">
              <a:lnSpc>
                <a:spcPct val="130000"/>
              </a:lnSpc>
            </a:pPr>
            <a:r>
              <a:rPr lang="en-US" sz="2400" i="1" dirty="0">
                <a:solidFill>
                  <a:srgbClr val="0000FF"/>
                </a:solidFill>
                <a:latin typeface="Times New Roman" pitchFamily="18" charset="0"/>
                <a:ea typeface="楷体_GB2312" pitchFamily="49" charset="-122"/>
                <a:sym typeface="Times New Roman" pitchFamily="18" charset="0"/>
              </a:rPr>
              <a:t>     </a:t>
            </a:r>
            <a:r>
              <a:rPr lang="zh-CN" altLang="en-US" sz="2400" dirty="0">
                <a:solidFill>
                  <a:srgbClr val="FF0000"/>
                </a:solidFill>
                <a:latin typeface="Times New Roman" pitchFamily="18" charset="0"/>
                <a:ea typeface="楷体_GB2312" pitchFamily="49" charset="-122"/>
                <a:sym typeface="Times New Roman" pitchFamily="18" charset="0"/>
              </a:rPr>
              <a:t>使得：</a:t>
            </a:r>
            <a:r>
              <a:rPr lang="en-US" sz="2400" i="1" dirty="0">
                <a:solidFill>
                  <a:srgbClr val="0000FF"/>
                </a:solidFill>
                <a:latin typeface="Times New Roman" pitchFamily="18" charset="0"/>
                <a:ea typeface="楷体_GB2312" pitchFamily="49" charset="-122"/>
                <a:sym typeface="Times New Roman" pitchFamily="18" charset="0"/>
              </a:rPr>
              <a:t>Z</a:t>
            </a:r>
            <a:r>
              <a:rPr lang="en-US" sz="2400" baseline="-25000" dirty="0">
                <a:solidFill>
                  <a:srgbClr val="0000FF"/>
                </a:solidFill>
                <a:latin typeface="楷体_GB2312" pitchFamily="49" charset="-122"/>
                <a:ea typeface="楷体_GB2312" pitchFamily="49" charset="-122"/>
                <a:sym typeface="楷体_GB2312" pitchFamily="49" charset="-122"/>
              </a:rPr>
              <a:t>1</a:t>
            </a:r>
            <a:r>
              <a:rPr lang="en-US" sz="2400" dirty="0">
                <a:solidFill>
                  <a:srgbClr val="0000FF"/>
                </a:solidFill>
                <a:latin typeface="楷体_GB2312" pitchFamily="49" charset="-122"/>
                <a:ea typeface="楷体_GB2312" pitchFamily="49" charset="-122"/>
                <a:sym typeface="楷体_GB2312" pitchFamily="49" charset="-122"/>
              </a:rPr>
              <a:t>=</a:t>
            </a:r>
            <a:r>
              <a:rPr lang="en-US" sz="2400" i="1" dirty="0">
                <a:solidFill>
                  <a:srgbClr val="0000FF"/>
                </a:solidFill>
                <a:latin typeface="Times New Roman" pitchFamily="18" charset="0"/>
                <a:ea typeface="楷体_GB2312" pitchFamily="49" charset="-122"/>
                <a:sym typeface="Times New Roman" pitchFamily="18" charset="0"/>
              </a:rPr>
              <a:t>Z</a:t>
            </a:r>
            <a:r>
              <a:rPr lang="en-US" sz="2400" dirty="0">
                <a:solidFill>
                  <a:srgbClr val="FF0000"/>
                </a:solidFill>
                <a:latin typeface="楷体_GB2312" pitchFamily="49" charset="-122"/>
                <a:ea typeface="楷体_GB2312" pitchFamily="49" charset="-122"/>
                <a:sym typeface="楷体_GB2312" pitchFamily="49" charset="-122"/>
              </a:rPr>
              <a:t>+</a:t>
            </a:r>
            <a:r>
              <a:rPr lang="en-US" sz="2400" dirty="0">
                <a:solidFill>
                  <a:srgbClr val="0000FF"/>
                </a:solidFill>
                <a:latin typeface="楷体_GB2312" pitchFamily="49" charset="-122"/>
                <a:ea typeface="楷体_GB2312" pitchFamily="49" charset="-122"/>
                <a:sym typeface="楷体_GB2312" pitchFamily="49" charset="-122"/>
              </a:rPr>
              <a:t>Δ</a:t>
            </a:r>
            <a:r>
              <a:rPr lang="en-US" sz="2400" i="1" dirty="0">
                <a:solidFill>
                  <a:srgbClr val="0000FF"/>
                </a:solidFill>
                <a:latin typeface="Times New Roman" pitchFamily="18" charset="0"/>
                <a:ea typeface="楷体_GB2312" pitchFamily="49" charset="-122"/>
                <a:sym typeface="Times New Roman" pitchFamily="18" charset="0"/>
              </a:rPr>
              <a:t>Z</a:t>
            </a:r>
            <a:r>
              <a:rPr lang="zh-CN" altLang="en-US" sz="2400" dirty="0">
                <a:solidFill>
                  <a:srgbClr val="0000FF"/>
                </a:solidFill>
                <a:latin typeface="楷体_GB2312" pitchFamily="49" charset="-122"/>
                <a:ea typeface="楷体_GB2312" pitchFamily="49" charset="-122"/>
                <a:sym typeface="楷体_GB2312" pitchFamily="49" charset="-122"/>
              </a:rPr>
              <a:t>，</a:t>
            </a:r>
            <a:r>
              <a:rPr lang="en-US" altLang="zh-CN" sz="2400" i="1" dirty="0">
                <a:solidFill>
                  <a:srgbClr val="0000FF"/>
                </a:solidFill>
                <a:latin typeface="Times New Roman" pitchFamily="18" charset="0"/>
                <a:ea typeface="楷体_GB2312" pitchFamily="49" charset="-122"/>
                <a:sym typeface="Times New Roman" pitchFamily="18" charset="0"/>
              </a:rPr>
              <a:t> Z</a:t>
            </a:r>
            <a:r>
              <a:rPr lang="en-US" altLang="zh-CN" sz="2400" baseline="-25000" dirty="0">
                <a:solidFill>
                  <a:srgbClr val="0000FF"/>
                </a:solidFill>
                <a:latin typeface="楷体_GB2312" pitchFamily="49" charset="-122"/>
                <a:ea typeface="楷体_GB2312" pitchFamily="49" charset="-122"/>
                <a:sym typeface="楷体_GB2312" pitchFamily="49" charset="-122"/>
              </a:rPr>
              <a:t>2</a:t>
            </a:r>
            <a:r>
              <a:rPr lang="en-US" altLang="zh-CN" sz="2400" dirty="0">
                <a:solidFill>
                  <a:srgbClr val="0000FF"/>
                </a:solidFill>
                <a:latin typeface="楷体_GB2312" pitchFamily="49" charset="-122"/>
                <a:ea typeface="楷体_GB2312" pitchFamily="49" charset="-122"/>
                <a:sym typeface="楷体_GB2312" pitchFamily="49" charset="-122"/>
              </a:rPr>
              <a:t>=</a:t>
            </a:r>
            <a:r>
              <a:rPr lang="en-US" altLang="zh-CN" sz="2400" i="1" dirty="0">
                <a:solidFill>
                  <a:srgbClr val="0000FF"/>
                </a:solidFill>
                <a:latin typeface="Times New Roman" pitchFamily="18" charset="0"/>
                <a:ea typeface="楷体_GB2312" pitchFamily="49" charset="-122"/>
                <a:sym typeface="Times New Roman" pitchFamily="18" charset="0"/>
              </a:rPr>
              <a:t>Z</a:t>
            </a:r>
            <a:r>
              <a:rPr lang="en-US" altLang="zh-CN" sz="2400" dirty="0">
                <a:solidFill>
                  <a:srgbClr val="FF0000"/>
                </a:solidFill>
                <a:latin typeface="楷体_GB2312" pitchFamily="49" charset="-122"/>
                <a:ea typeface="楷体_GB2312" pitchFamily="49" charset="-122"/>
                <a:sym typeface="楷体_GB2312" pitchFamily="49" charset="-122"/>
              </a:rPr>
              <a:t>-</a:t>
            </a:r>
            <a:r>
              <a:rPr lang="en-US" altLang="zh-CN" sz="2400" dirty="0">
                <a:solidFill>
                  <a:srgbClr val="0000FF"/>
                </a:solidFill>
                <a:latin typeface="楷体_GB2312" pitchFamily="49" charset="-122"/>
                <a:ea typeface="楷体_GB2312" pitchFamily="49" charset="-122"/>
                <a:sym typeface="楷体_GB2312" pitchFamily="49" charset="-122"/>
              </a:rPr>
              <a:t>Δ</a:t>
            </a:r>
            <a:r>
              <a:rPr lang="en-US" altLang="zh-CN" sz="2400" i="1" dirty="0">
                <a:solidFill>
                  <a:srgbClr val="0000FF"/>
                </a:solidFill>
                <a:latin typeface="Times New Roman" pitchFamily="18" charset="0"/>
                <a:ea typeface="楷体_GB2312" pitchFamily="49" charset="-122"/>
                <a:sym typeface="Times New Roman" pitchFamily="18" charset="0"/>
              </a:rPr>
              <a:t>Z </a:t>
            </a:r>
            <a:endParaRPr lang="zh-CN" altLang="en-US" dirty="0"/>
          </a:p>
        </p:txBody>
      </p:sp>
      <p:pic>
        <p:nvPicPr>
          <p:cNvPr id="14" name="Object 6">
            <a:extLst>
              <a:ext uri="{FF2B5EF4-FFF2-40B4-BE49-F238E27FC236}">
                <a16:creationId xmlns:a16="http://schemas.microsoft.com/office/drawing/2014/main" id="{0DB6EBD8-BD0F-428F-A8C2-A199E069952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07550" y="5153931"/>
            <a:ext cx="1935162"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327A3ED-0264-49CB-AA03-71064276B7C3}"/>
              </a:ext>
            </a:extLst>
          </p:cNvPr>
          <p:cNvSpPr/>
          <p:nvPr/>
        </p:nvSpPr>
        <p:spPr>
          <a:xfrm>
            <a:off x="5267453" y="5543437"/>
            <a:ext cx="2954655" cy="461665"/>
          </a:xfrm>
          <a:prstGeom prst="rect">
            <a:avLst/>
          </a:prstGeom>
          <a:solidFill>
            <a:schemeClr val="bg2"/>
          </a:solidFill>
        </p:spPr>
        <p:txBody>
          <a:bodyPr wrap="none">
            <a:spAutoFit/>
          </a:bodyPr>
          <a:lstStyle/>
          <a:p>
            <a:r>
              <a:rPr lang="zh-CN" altLang="en-US" sz="2400" dirty="0">
                <a:solidFill>
                  <a:srgbClr val="1EA2EE"/>
                </a:solidFill>
                <a:latin typeface="Times New Roman" pitchFamily="18" charset="0"/>
                <a:ea typeface="楷体_GB2312" pitchFamily="49" charset="-122"/>
                <a:sym typeface="Times New Roman" pitchFamily="18" charset="0"/>
              </a:rPr>
              <a:t>大小相等，方向相反</a:t>
            </a:r>
            <a:endParaRPr lang="zh-CN" altLang="en-US" sz="2400" dirty="0">
              <a:solidFill>
                <a:srgbClr val="1EA2EE"/>
              </a:solidFill>
            </a:endParaRPr>
          </a:p>
        </p:txBody>
      </p:sp>
    </p:spTree>
    <p:extLst>
      <p:ext uri="{BB962C8B-B14F-4D97-AF65-F5344CB8AC3E}">
        <p14:creationId xmlns:p14="http://schemas.microsoft.com/office/powerpoint/2010/main" val="219446011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4"/>
          <p:cNvSpPr>
            <a:spLocks noChangeArrowheads="1"/>
          </p:cNvSpPr>
          <p:nvPr/>
        </p:nvSpPr>
        <p:spPr bwMode="auto">
          <a:xfrm>
            <a:off x="161926" y="3533329"/>
            <a:ext cx="8415337"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ea typeface="楷体_GB2312" pitchFamily="49" charset="-122"/>
                <a:sym typeface="Arial" pitchFamily="34" charset="0"/>
              </a:rPr>
              <a:t>当衔铁向不同方向移动时，产生的输出电压</a:t>
            </a:r>
            <a:r>
              <a:rPr lang="en-US" sz="2400" dirty="0">
                <a:latin typeface="Times New Roman" pitchFamily="18" charset="0"/>
                <a:ea typeface="楷体_GB2312" pitchFamily="49" charset="-122"/>
                <a:sym typeface="Times New Roman" pitchFamily="18" charset="0"/>
              </a:rPr>
              <a:t>U</a:t>
            </a:r>
            <a:r>
              <a:rPr lang="en-US" sz="2400" baseline="-25000" dirty="0">
                <a:latin typeface="Times New Roman" pitchFamily="18" charset="0"/>
                <a:ea typeface="楷体_GB2312" pitchFamily="49" charset="-122"/>
                <a:sym typeface="Times New Roman" pitchFamily="18" charset="0"/>
              </a:rPr>
              <a:t>SC</a:t>
            </a:r>
            <a:r>
              <a:rPr lang="zh-CN" altLang="en-US" sz="2400" dirty="0">
                <a:latin typeface="Times New Roman" pitchFamily="18" charset="0"/>
                <a:ea typeface="楷体_GB2312" pitchFamily="49" charset="-122"/>
                <a:sym typeface="Times New Roman" pitchFamily="18" charset="0"/>
              </a:rPr>
              <a:t>大小相等、方向相反（</a:t>
            </a:r>
            <a:r>
              <a:rPr lang="zh-CN" altLang="en-US" sz="2400" dirty="0">
                <a:solidFill>
                  <a:srgbClr val="0000FF"/>
                </a:solidFill>
                <a:latin typeface="Times New Roman" pitchFamily="18" charset="0"/>
                <a:ea typeface="楷体_GB2312" pitchFamily="49" charset="-122"/>
                <a:sym typeface="Times New Roman" pitchFamily="18" charset="0"/>
              </a:rPr>
              <a:t>相位互差</a:t>
            </a:r>
            <a:r>
              <a:rPr lang="en-US" altLang="zh-CN" sz="2400" dirty="0">
                <a:solidFill>
                  <a:srgbClr val="0000FF"/>
                </a:solidFill>
                <a:latin typeface="Times New Roman" pitchFamily="18" charset="0"/>
                <a:ea typeface="楷体_GB2312" pitchFamily="49" charset="-122"/>
                <a:sym typeface="Times New Roman" pitchFamily="18" charset="0"/>
              </a:rPr>
              <a:t>180°</a:t>
            </a:r>
            <a:r>
              <a:rPr lang="zh-CN" altLang="en-US" sz="2400" dirty="0">
                <a:latin typeface="Times New Roman" pitchFamily="18" charset="0"/>
                <a:ea typeface="楷体_GB2312" pitchFamily="49" charset="-122"/>
                <a:sym typeface="Times New Roman" pitchFamily="18" charset="0"/>
              </a:rPr>
              <a:t>），</a:t>
            </a:r>
            <a:r>
              <a:rPr lang="zh-CN" altLang="en-US" sz="2400" dirty="0">
                <a:highlight>
                  <a:srgbClr val="FFFF00"/>
                </a:highlight>
                <a:latin typeface="Times New Roman" pitchFamily="18" charset="0"/>
                <a:ea typeface="楷体_GB2312" pitchFamily="49" charset="-122"/>
                <a:sym typeface="Times New Roman" pitchFamily="18" charset="0"/>
              </a:rPr>
              <a:t>可反映衔铁移动的方向</a:t>
            </a:r>
            <a:r>
              <a:rPr lang="zh-CN" altLang="en-US" sz="2400" dirty="0">
                <a:latin typeface="Times New Roman" pitchFamily="18" charset="0"/>
                <a:ea typeface="楷体_GB2312" pitchFamily="49" charset="-122"/>
                <a:sym typeface="Times New Roman" pitchFamily="18" charset="0"/>
              </a:rPr>
              <a:t>。</a:t>
            </a:r>
            <a:endParaRPr lang="en-US" altLang="zh-CN" sz="2400" dirty="0">
              <a:latin typeface="Times New Roman" pitchFamily="18" charset="0"/>
              <a:ea typeface="楷体_GB2312" pitchFamily="49" charset="-122"/>
              <a:sym typeface="Times New Roman" pitchFamily="18" charset="0"/>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Times New Roman" pitchFamily="18" charset="0"/>
                <a:ea typeface="楷体_GB2312" pitchFamily="49" charset="-122"/>
                <a:sym typeface="Times New Roman" pitchFamily="18" charset="0"/>
              </a:rPr>
              <a:t>为判别交流信号的相位，需接入专门的</a:t>
            </a:r>
            <a:r>
              <a:rPr lang="zh-CN" altLang="en-US" sz="2400" dirty="0">
                <a:highlight>
                  <a:srgbClr val="FFFF00"/>
                </a:highlight>
                <a:latin typeface="Times New Roman" pitchFamily="18" charset="0"/>
                <a:ea typeface="楷体_GB2312" pitchFamily="49" charset="-122"/>
                <a:sym typeface="Times New Roman" pitchFamily="18" charset="0"/>
              </a:rPr>
              <a:t>相敏检波电路</a:t>
            </a:r>
            <a:r>
              <a:rPr lang="zh-CN" altLang="en-US" sz="2400" dirty="0">
                <a:latin typeface="Times New Roman" pitchFamily="18" charset="0"/>
                <a:ea typeface="楷体_GB2312" pitchFamily="49" charset="-122"/>
                <a:sym typeface="Times New Roman" pitchFamily="18" charset="0"/>
              </a:rPr>
              <a:t>。</a:t>
            </a:r>
            <a:endParaRPr lang="zh-CN" altLang="en-US" dirty="0"/>
          </a:p>
        </p:txBody>
      </p:sp>
      <p:sp>
        <p:nvSpPr>
          <p:cNvPr id="29701" name="Text Box 5"/>
          <p:cNvSpPr>
            <a:spLocks noChangeArrowheads="1"/>
          </p:cNvSpPr>
          <p:nvPr/>
        </p:nvSpPr>
        <p:spPr bwMode="auto">
          <a:xfrm>
            <a:off x="489418" y="5323048"/>
            <a:ext cx="8101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其输出</a:t>
            </a:r>
            <a:r>
              <a:rPr lang="zh-CN" altLang="en-US" sz="2400" dirty="0">
                <a:solidFill>
                  <a:srgbClr val="0000FF"/>
                </a:solidFill>
                <a:ea typeface="楷体_GB2312" pitchFamily="49" charset="-122"/>
                <a:sym typeface="Arial" pitchFamily="34" charset="0"/>
              </a:rPr>
              <a:t>电压幅值</a:t>
            </a:r>
            <a:r>
              <a:rPr lang="zh-CN" altLang="en-US" sz="2400" dirty="0">
                <a:ea typeface="楷体_GB2312" pitchFamily="49" charset="-122"/>
                <a:sym typeface="Arial" pitchFamily="34" charset="0"/>
              </a:rPr>
              <a:t>：</a:t>
            </a:r>
            <a:endParaRPr lang="zh-CN" altLang="en-US" sz="2400" i="1" dirty="0">
              <a:latin typeface="Times New Roman" pitchFamily="18" charset="0"/>
              <a:ea typeface="楷体_GB2312" pitchFamily="49" charset="-122"/>
              <a:sym typeface="Times New Roman" pitchFamily="18" charset="0"/>
            </a:endParaRPr>
          </a:p>
        </p:txBody>
      </p:sp>
      <p:pic>
        <p:nvPicPr>
          <p:cNvPr id="29702" name="Object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7074" y="5317491"/>
            <a:ext cx="3015641" cy="1069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3"/>
          <p:cNvGrpSpPr>
            <a:grpSpLocks/>
          </p:cNvGrpSpPr>
          <p:nvPr/>
        </p:nvGrpSpPr>
        <p:grpSpPr bwMode="auto">
          <a:xfrm>
            <a:off x="5108253" y="110840"/>
            <a:ext cx="3457575" cy="3203575"/>
            <a:chOff x="0" y="0"/>
            <a:chExt cx="2178" cy="2018"/>
          </a:xfrm>
        </p:grpSpPr>
        <p:pic>
          <p:nvPicPr>
            <p:cNvPr id="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2178"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5"/>
            <p:cNvSpPr>
              <a:spLocks noChangeArrowheads="1"/>
            </p:cNvSpPr>
            <p:nvPr/>
          </p:nvSpPr>
          <p:spPr bwMode="auto">
            <a:xfrm>
              <a:off x="85" y="1758"/>
              <a:ext cx="207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100">
                  <a:latin typeface="楷体_GB2312" pitchFamily="49" charset="-122"/>
                  <a:ea typeface="楷体_GB2312" pitchFamily="49" charset="-122"/>
                  <a:sym typeface="楷体_GB2312" pitchFamily="49" charset="-122"/>
                </a:rPr>
                <a:t>图</a:t>
              </a:r>
              <a:r>
                <a:rPr lang="en-US" sz="2100">
                  <a:latin typeface="楷体_GB2312" pitchFamily="49" charset="-122"/>
                  <a:ea typeface="楷体_GB2312" pitchFamily="49" charset="-122"/>
                  <a:sym typeface="楷体_GB2312" pitchFamily="49" charset="-122"/>
                </a:rPr>
                <a:t>4-12 </a:t>
              </a:r>
              <a:r>
                <a:rPr lang="zh-CN" altLang="en-US" sz="2100">
                  <a:latin typeface="楷体_GB2312" pitchFamily="49" charset="-122"/>
                  <a:ea typeface="楷体_GB2312" pitchFamily="49" charset="-122"/>
                  <a:sym typeface="楷体_GB2312" pitchFamily="49" charset="-122"/>
                </a:rPr>
                <a:t>变压器电桥原理图</a:t>
              </a:r>
              <a:endParaRPr lang="zh-CN" altLang="en-US"/>
            </a:p>
          </p:txBody>
        </p:sp>
      </p:grpSp>
      <p:pic>
        <p:nvPicPr>
          <p:cNvPr id="12" name="图片 11">
            <a:extLst>
              <a:ext uri="{FF2B5EF4-FFF2-40B4-BE49-F238E27FC236}">
                <a16:creationId xmlns:a16="http://schemas.microsoft.com/office/drawing/2014/main" id="{38EF3986-7E4B-43D6-86A5-0D6EBA2647CC}"/>
              </a:ext>
            </a:extLst>
          </p:cNvPr>
          <p:cNvPicPr>
            <a:picLocks noChangeAspect="1"/>
          </p:cNvPicPr>
          <p:nvPr/>
        </p:nvPicPr>
        <p:blipFill>
          <a:blip r:embed="rId4"/>
          <a:stretch>
            <a:fillRect/>
          </a:stretch>
        </p:blipFill>
        <p:spPr>
          <a:xfrm>
            <a:off x="126986" y="92519"/>
            <a:ext cx="5264672" cy="2743199"/>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Text Box 4"/>
          <p:cNvSpPr>
            <a:spLocks noChangeArrowheads="1"/>
          </p:cNvSpPr>
          <p:nvPr/>
        </p:nvSpPr>
        <p:spPr bwMode="auto">
          <a:xfrm>
            <a:off x="657225" y="4268568"/>
            <a:ext cx="8147050"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25000"/>
              </a:lnSpc>
              <a:spcBef>
                <a:spcPts val="0"/>
              </a:spcBef>
              <a:buFont typeface="Arial" panose="020B0604020202020204" pitchFamily="34" charset="0"/>
              <a:buChar char="•"/>
            </a:pPr>
            <a:r>
              <a:rPr lang="zh-CN" altLang="en-US" sz="2400" dirty="0">
                <a:solidFill>
                  <a:srgbClr val="FF6600"/>
                </a:solidFill>
                <a:ea typeface="楷体_GB2312" pitchFamily="49" charset="-122"/>
                <a:sym typeface="Arial" pitchFamily="34" charset="0"/>
              </a:rPr>
              <a:t>优点：</a:t>
            </a:r>
            <a:r>
              <a:rPr lang="zh-CN" altLang="en-US" sz="2400" dirty="0">
                <a:ea typeface="楷体_GB2312" pitchFamily="49" charset="-122"/>
                <a:sym typeface="Arial" pitchFamily="34" charset="0"/>
              </a:rPr>
              <a:t>与电阻平衡电桥相比，元件少，输出阻抗小，桥路开路时电路呈线性；</a:t>
            </a:r>
            <a:endParaRPr lang="en-US" altLang="zh-CN" sz="2400" dirty="0">
              <a:ea typeface="楷体_GB2312" pitchFamily="49" charset="-122"/>
              <a:sym typeface="Arial" pitchFamily="34" charset="0"/>
            </a:endParaRPr>
          </a:p>
          <a:p>
            <a:pPr marL="342900" indent="-342900" eaLnBrk="1" hangingPunct="1">
              <a:lnSpc>
                <a:spcPct val="125000"/>
              </a:lnSpc>
              <a:spcBef>
                <a:spcPts val="0"/>
              </a:spcBef>
              <a:buFont typeface="Arial" panose="020B0604020202020204" pitchFamily="34" charset="0"/>
              <a:buChar char="•"/>
            </a:pPr>
            <a:r>
              <a:rPr lang="zh-CN" altLang="en-US" sz="2400" dirty="0">
                <a:solidFill>
                  <a:srgbClr val="FF6600"/>
                </a:solidFill>
                <a:ea typeface="楷体_GB2312" pitchFamily="49" charset="-122"/>
                <a:sym typeface="Arial" pitchFamily="34" charset="0"/>
              </a:rPr>
              <a:t>缺点：</a:t>
            </a:r>
            <a:r>
              <a:rPr lang="zh-CN" altLang="en-US" sz="2400" dirty="0">
                <a:ea typeface="楷体_GB2312" pitchFamily="49" charset="-122"/>
                <a:sym typeface="Arial" pitchFamily="34" charset="0"/>
              </a:rPr>
              <a:t>变压器副边不接地，容易引起</a:t>
            </a:r>
            <a:endParaRPr lang="en-US" altLang="zh-CN" sz="2400" dirty="0">
              <a:ea typeface="楷体_GB2312" pitchFamily="49" charset="-122"/>
              <a:sym typeface="Arial" pitchFamily="34" charset="0"/>
            </a:endParaRPr>
          </a:p>
          <a:p>
            <a:pPr eaLnBrk="1" hangingPunct="1">
              <a:lnSpc>
                <a:spcPct val="125000"/>
              </a:lnSpc>
              <a:spcBef>
                <a:spcPts val="0"/>
              </a:spcBef>
            </a:pPr>
            <a:r>
              <a:rPr lang="zh-CN" altLang="en-US" sz="2400" dirty="0">
                <a:ea typeface="楷体_GB2312" pitchFamily="49" charset="-122"/>
                <a:sym typeface="Arial" pitchFamily="34" charset="0"/>
              </a:rPr>
              <a:t>    来自原边的静电感应电压，使高增益</a:t>
            </a:r>
            <a:endParaRPr lang="en-US" altLang="zh-CN" sz="2400" dirty="0">
              <a:ea typeface="楷体_GB2312" pitchFamily="49" charset="-122"/>
              <a:sym typeface="Arial" pitchFamily="34" charset="0"/>
            </a:endParaRPr>
          </a:p>
          <a:p>
            <a:pPr eaLnBrk="1" hangingPunct="1">
              <a:lnSpc>
                <a:spcPct val="125000"/>
              </a:lnSpc>
              <a:spcBef>
                <a:spcPts val="0"/>
              </a:spcBef>
            </a:pPr>
            <a:r>
              <a:rPr lang="zh-CN" altLang="en-US" sz="2400" dirty="0">
                <a:ea typeface="楷体_GB2312" pitchFamily="49" charset="-122"/>
                <a:sym typeface="Arial" pitchFamily="34" charset="0"/>
              </a:rPr>
              <a:t>     放大器不能工作。</a:t>
            </a:r>
            <a:endParaRPr lang="zh-CN" altLang="en-US" dirty="0"/>
          </a:p>
        </p:txBody>
      </p:sp>
      <p:sp>
        <p:nvSpPr>
          <p:cNvPr id="10" name="Rectangle 2">
            <a:extLst>
              <a:ext uri="{FF2B5EF4-FFF2-40B4-BE49-F238E27FC236}">
                <a16:creationId xmlns:a16="http://schemas.microsoft.com/office/drawing/2014/main" id="{BCDAFF01-D7CF-4537-A341-BBF545E7D586}"/>
              </a:ext>
            </a:extLst>
          </p:cNvPr>
          <p:cNvSpPr>
            <a:spLocks noChangeArrowheads="1"/>
          </p:cNvSpPr>
          <p:nvPr/>
        </p:nvSpPr>
        <p:spPr bwMode="auto">
          <a:xfrm>
            <a:off x="657225" y="365132"/>
            <a:ext cx="30909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dirty="0">
                <a:solidFill>
                  <a:srgbClr val="FF0000"/>
                </a:solidFill>
                <a:latin typeface="楷体_GB2312" pitchFamily="49" charset="-122"/>
                <a:ea typeface="楷体_GB2312" pitchFamily="49" charset="-122"/>
                <a:sym typeface="楷体_GB2312" pitchFamily="49" charset="-122"/>
              </a:rPr>
              <a:t>② </a:t>
            </a:r>
            <a:r>
              <a:rPr lang="zh-CN" altLang="en-US" sz="3600" dirty="0">
                <a:solidFill>
                  <a:srgbClr val="FF0000"/>
                </a:solidFill>
                <a:latin typeface="楷体_GB2312" pitchFamily="49" charset="-122"/>
                <a:ea typeface="楷体_GB2312" pitchFamily="49" charset="-122"/>
                <a:sym typeface="楷体_GB2312" pitchFamily="49" charset="-122"/>
              </a:rPr>
              <a:t>变压器电桥</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grpSp>
        <p:nvGrpSpPr>
          <p:cNvPr id="11" name="Group 3">
            <a:extLst>
              <a:ext uri="{FF2B5EF4-FFF2-40B4-BE49-F238E27FC236}">
                <a16:creationId xmlns:a16="http://schemas.microsoft.com/office/drawing/2014/main" id="{CAA4B47E-F8CA-48A2-964E-301F5D609FFE}"/>
              </a:ext>
            </a:extLst>
          </p:cNvPr>
          <p:cNvGrpSpPr>
            <a:grpSpLocks/>
          </p:cNvGrpSpPr>
          <p:nvPr/>
        </p:nvGrpSpPr>
        <p:grpSpPr bwMode="auto">
          <a:xfrm>
            <a:off x="5108253" y="945475"/>
            <a:ext cx="3457575" cy="3203575"/>
            <a:chOff x="0" y="0"/>
            <a:chExt cx="2178" cy="2018"/>
          </a:xfrm>
        </p:grpSpPr>
        <p:pic>
          <p:nvPicPr>
            <p:cNvPr id="12" name="Picture 4">
              <a:extLst>
                <a:ext uri="{FF2B5EF4-FFF2-40B4-BE49-F238E27FC236}">
                  <a16:creationId xmlns:a16="http://schemas.microsoft.com/office/drawing/2014/main" id="{798A4363-800F-4445-A179-C16A231054A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178"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5">
              <a:extLst>
                <a:ext uri="{FF2B5EF4-FFF2-40B4-BE49-F238E27FC236}">
                  <a16:creationId xmlns:a16="http://schemas.microsoft.com/office/drawing/2014/main" id="{EB5608E9-46E6-468C-8A01-701FFBFB918B}"/>
                </a:ext>
              </a:extLst>
            </p:cNvPr>
            <p:cNvSpPr>
              <a:spLocks noChangeArrowheads="1"/>
            </p:cNvSpPr>
            <p:nvPr/>
          </p:nvSpPr>
          <p:spPr bwMode="auto">
            <a:xfrm>
              <a:off x="85" y="1758"/>
              <a:ext cx="207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100">
                  <a:latin typeface="楷体_GB2312" pitchFamily="49" charset="-122"/>
                  <a:ea typeface="楷体_GB2312" pitchFamily="49" charset="-122"/>
                  <a:sym typeface="楷体_GB2312" pitchFamily="49" charset="-122"/>
                </a:rPr>
                <a:t>图</a:t>
              </a:r>
              <a:r>
                <a:rPr lang="en-US" sz="2100">
                  <a:latin typeface="楷体_GB2312" pitchFamily="49" charset="-122"/>
                  <a:ea typeface="楷体_GB2312" pitchFamily="49" charset="-122"/>
                  <a:sym typeface="楷体_GB2312" pitchFamily="49" charset="-122"/>
                </a:rPr>
                <a:t>4-12 </a:t>
              </a:r>
              <a:r>
                <a:rPr lang="zh-CN" altLang="en-US" sz="2100">
                  <a:latin typeface="楷体_GB2312" pitchFamily="49" charset="-122"/>
                  <a:ea typeface="楷体_GB2312" pitchFamily="49" charset="-122"/>
                  <a:sym typeface="楷体_GB2312" pitchFamily="49" charset="-122"/>
                </a:rPr>
                <a:t>变压器电桥原理图</a:t>
              </a:r>
              <a:endParaRPr lang="zh-CN" altLang="en-US"/>
            </a:p>
          </p:txBody>
        </p:sp>
      </p:grpSp>
      <p:pic>
        <p:nvPicPr>
          <p:cNvPr id="14" name="图片 13">
            <a:extLst>
              <a:ext uri="{FF2B5EF4-FFF2-40B4-BE49-F238E27FC236}">
                <a16:creationId xmlns:a16="http://schemas.microsoft.com/office/drawing/2014/main" id="{9390502E-9771-4292-815A-F32ADEEB236C}"/>
              </a:ext>
            </a:extLst>
          </p:cNvPr>
          <p:cNvPicPr>
            <a:picLocks noChangeAspect="1"/>
          </p:cNvPicPr>
          <p:nvPr/>
        </p:nvPicPr>
        <p:blipFill>
          <a:blip r:embed="rId3"/>
          <a:stretch>
            <a:fillRect/>
          </a:stretch>
        </p:blipFill>
        <p:spPr>
          <a:xfrm>
            <a:off x="589130" y="1166651"/>
            <a:ext cx="4007190" cy="2272370"/>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48"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49"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50"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51"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55"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57" name="Rectangle 14"/>
          <p:cNvSpPr>
            <a:spLocks noChangeArrowheads="1"/>
          </p:cNvSpPr>
          <p:nvPr/>
        </p:nvSpPr>
        <p:spPr bwMode="auto">
          <a:xfrm>
            <a:off x="0" y="1676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59" name="Rectangle 16"/>
          <p:cNvSpPr>
            <a:spLocks noChangeArrowheads="1"/>
          </p:cNvSpPr>
          <p:nvPr/>
        </p:nvSpPr>
        <p:spPr bwMode="auto">
          <a:xfrm>
            <a:off x="438506" y="334499"/>
            <a:ext cx="74510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dirty="0">
                <a:solidFill>
                  <a:srgbClr val="FF0000"/>
                </a:solidFill>
                <a:latin typeface="楷体_GB2312" pitchFamily="49" charset="-122"/>
                <a:ea typeface="楷体_GB2312" pitchFamily="49" charset="-122"/>
                <a:sym typeface="楷体_GB2312" pitchFamily="49" charset="-122"/>
              </a:rPr>
              <a:t>③ </a:t>
            </a:r>
            <a:r>
              <a:rPr lang="zh-CN" altLang="en-US" sz="3600" dirty="0">
                <a:solidFill>
                  <a:srgbClr val="FF0000"/>
                </a:solidFill>
                <a:latin typeface="楷体_GB2312" pitchFamily="49" charset="-122"/>
                <a:ea typeface="楷体_GB2312" pitchFamily="49" charset="-122"/>
                <a:sym typeface="楷体_GB2312" pitchFamily="49" charset="-122"/>
              </a:rPr>
              <a:t>紧耦合电感电桥（</a:t>
            </a:r>
            <a:r>
              <a:rPr lang="zh-CN" altLang="en-US" sz="2800" dirty="0">
                <a:solidFill>
                  <a:srgbClr val="0000FF"/>
                </a:solidFill>
                <a:latin typeface="楷体_GB2312" pitchFamily="49" charset="-122"/>
                <a:ea typeface="楷体_GB2312" pitchFamily="49" charset="-122"/>
                <a:sym typeface="楷体_GB2312" pitchFamily="49" charset="-122"/>
              </a:rPr>
              <a:t>原变副边有连接</a:t>
            </a:r>
            <a:r>
              <a:rPr lang="zh-CN" altLang="en-US" sz="3600" dirty="0">
                <a:solidFill>
                  <a:srgbClr val="FF0000"/>
                </a:solidFill>
                <a:latin typeface="楷体_GB2312" pitchFamily="49" charset="-122"/>
                <a:ea typeface="楷体_GB2312" pitchFamily="49" charset="-122"/>
                <a:sym typeface="楷体_GB2312" pitchFamily="49" charset="-122"/>
              </a:rPr>
              <a:t>）</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
        <p:nvSpPr>
          <p:cNvPr id="2" name="矩形 1">
            <a:extLst>
              <a:ext uri="{FF2B5EF4-FFF2-40B4-BE49-F238E27FC236}">
                <a16:creationId xmlns:a16="http://schemas.microsoft.com/office/drawing/2014/main" id="{51B34EAC-9AEE-47EF-8742-A99C962E4BA9}"/>
              </a:ext>
            </a:extLst>
          </p:cNvPr>
          <p:cNvSpPr/>
          <p:nvPr/>
        </p:nvSpPr>
        <p:spPr>
          <a:xfrm>
            <a:off x="1013793" y="1239215"/>
            <a:ext cx="4357283" cy="461665"/>
          </a:xfrm>
          <a:prstGeom prst="rect">
            <a:avLst/>
          </a:prstGeom>
        </p:spPr>
        <p:txBody>
          <a:bodyPr wrap="none">
            <a:spAutoFit/>
          </a:bodyPr>
          <a:lstStyle/>
          <a:p>
            <a:r>
              <a:rPr lang="zh-CN" altLang="en-US" sz="2400" dirty="0">
                <a:solidFill>
                  <a:srgbClr val="1EA2EE"/>
                </a:solidFill>
                <a:latin typeface="楷体_GB2312" pitchFamily="49" charset="-122"/>
                <a:ea typeface="楷体_GB2312" pitchFamily="49" charset="-122"/>
                <a:sym typeface="楷体_GB2312" pitchFamily="49" charset="-122"/>
              </a:rPr>
              <a:t>先了解：</a:t>
            </a:r>
            <a:r>
              <a:rPr lang="zh-CN" altLang="en-US" sz="2400" dirty="0">
                <a:latin typeface="楷体_GB2312" pitchFamily="49" charset="-122"/>
                <a:ea typeface="楷体_GB2312" pitchFamily="49" charset="-122"/>
                <a:sym typeface="楷体_GB2312" pitchFamily="49" charset="-122"/>
              </a:rPr>
              <a:t>变压器的</a:t>
            </a:r>
            <a:r>
              <a:rPr lang="en-US" altLang="zh-CN" sz="2400" dirty="0">
                <a:solidFill>
                  <a:srgbClr val="FF6600"/>
                </a:solidFill>
                <a:ea typeface="楷体_GB2312" pitchFamily="49" charset="-122"/>
                <a:sym typeface="Arial" pitchFamily="34" charset="0"/>
              </a:rPr>
              <a:t>3</a:t>
            </a:r>
            <a:r>
              <a:rPr lang="zh-CN" altLang="en-US" sz="2400" dirty="0">
                <a:solidFill>
                  <a:srgbClr val="FF6600"/>
                </a:solidFill>
                <a:ea typeface="楷体_GB2312" pitchFamily="49" charset="-122"/>
                <a:sym typeface="Arial" pitchFamily="34" charset="0"/>
              </a:rPr>
              <a:t>种通电方式</a:t>
            </a:r>
            <a:endParaRPr lang="zh-CN" altLang="en-US" sz="2400" dirty="0"/>
          </a:p>
        </p:txBody>
      </p:sp>
      <p:pic>
        <p:nvPicPr>
          <p:cNvPr id="3" name="图片 2">
            <a:extLst>
              <a:ext uri="{FF2B5EF4-FFF2-40B4-BE49-F238E27FC236}">
                <a16:creationId xmlns:a16="http://schemas.microsoft.com/office/drawing/2014/main" id="{17389A11-2F57-4A65-B546-F3D2B09FD1BD}"/>
              </a:ext>
            </a:extLst>
          </p:cNvPr>
          <p:cNvPicPr>
            <a:picLocks noChangeAspect="1"/>
          </p:cNvPicPr>
          <p:nvPr/>
        </p:nvPicPr>
        <p:blipFill>
          <a:blip r:embed="rId2"/>
          <a:stretch>
            <a:fillRect/>
          </a:stretch>
        </p:blipFill>
        <p:spPr>
          <a:xfrm>
            <a:off x="3419920" y="5227130"/>
            <a:ext cx="1403939" cy="759508"/>
          </a:xfrm>
          <a:prstGeom prst="rect">
            <a:avLst/>
          </a:prstGeom>
        </p:spPr>
      </p:pic>
      <p:pic>
        <p:nvPicPr>
          <p:cNvPr id="4" name="图片 3">
            <a:extLst>
              <a:ext uri="{FF2B5EF4-FFF2-40B4-BE49-F238E27FC236}">
                <a16:creationId xmlns:a16="http://schemas.microsoft.com/office/drawing/2014/main" id="{839428F1-4987-4707-889F-01B5271E4D9A}"/>
              </a:ext>
            </a:extLst>
          </p:cNvPr>
          <p:cNvPicPr>
            <a:picLocks noChangeAspect="1"/>
          </p:cNvPicPr>
          <p:nvPr/>
        </p:nvPicPr>
        <p:blipFill>
          <a:blip r:embed="rId3"/>
          <a:stretch>
            <a:fillRect/>
          </a:stretch>
        </p:blipFill>
        <p:spPr>
          <a:xfrm>
            <a:off x="827740" y="1949105"/>
            <a:ext cx="2895600" cy="2276475"/>
          </a:xfrm>
          <a:prstGeom prst="rect">
            <a:avLst/>
          </a:prstGeom>
        </p:spPr>
      </p:pic>
      <p:pic>
        <p:nvPicPr>
          <p:cNvPr id="5" name="图片 4">
            <a:extLst>
              <a:ext uri="{FF2B5EF4-FFF2-40B4-BE49-F238E27FC236}">
                <a16:creationId xmlns:a16="http://schemas.microsoft.com/office/drawing/2014/main" id="{48676F78-49E6-49CC-BB04-839EF2C0ADD1}"/>
              </a:ext>
            </a:extLst>
          </p:cNvPr>
          <p:cNvPicPr>
            <a:picLocks noChangeAspect="1"/>
          </p:cNvPicPr>
          <p:nvPr/>
        </p:nvPicPr>
        <p:blipFill>
          <a:blip r:embed="rId4"/>
          <a:stretch>
            <a:fillRect/>
          </a:stretch>
        </p:blipFill>
        <p:spPr>
          <a:xfrm>
            <a:off x="4930740" y="1783371"/>
            <a:ext cx="2990850" cy="2466975"/>
          </a:xfrm>
          <a:prstGeom prst="rect">
            <a:avLst/>
          </a:prstGeom>
        </p:spPr>
      </p:pic>
      <p:pic>
        <p:nvPicPr>
          <p:cNvPr id="6" name="图片 5">
            <a:extLst>
              <a:ext uri="{FF2B5EF4-FFF2-40B4-BE49-F238E27FC236}">
                <a16:creationId xmlns:a16="http://schemas.microsoft.com/office/drawing/2014/main" id="{9BA4EF13-CE80-4981-B978-C142872F5C60}"/>
              </a:ext>
            </a:extLst>
          </p:cNvPr>
          <p:cNvPicPr>
            <a:picLocks noChangeAspect="1"/>
          </p:cNvPicPr>
          <p:nvPr/>
        </p:nvPicPr>
        <p:blipFill>
          <a:blip r:embed="rId5"/>
          <a:stretch>
            <a:fillRect/>
          </a:stretch>
        </p:blipFill>
        <p:spPr>
          <a:xfrm>
            <a:off x="647886" y="4275044"/>
            <a:ext cx="3114675" cy="2524125"/>
          </a:xfrm>
          <a:prstGeom prst="rect">
            <a:avLst/>
          </a:prstGeom>
        </p:spPr>
      </p:pic>
      <p:sp>
        <p:nvSpPr>
          <p:cNvPr id="16" name="Text Box 2">
            <a:extLst>
              <a:ext uri="{FF2B5EF4-FFF2-40B4-BE49-F238E27FC236}">
                <a16:creationId xmlns:a16="http://schemas.microsoft.com/office/drawing/2014/main" id="{77FD5B59-629B-4966-A5B5-07AEE93C91E0}"/>
              </a:ext>
            </a:extLst>
          </p:cNvPr>
          <p:cNvSpPr txBox="1">
            <a:spLocks noChangeArrowheads="1"/>
          </p:cNvSpPr>
          <p:nvPr/>
        </p:nvSpPr>
        <p:spPr bwMode="auto">
          <a:xfrm>
            <a:off x="4572000" y="4872202"/>
            <a:ext cx="3168220" cy="1135054"/>
          </a:xfrm>
          <a:prstGeom prst="rect">
            <a:avLst/>
          </a:prstGeom>
          <a:solidFill>
            <a:schemeClr val="bg2"/>
          </a:solidFill>
          <a:ln>
            <a:noFill/>
          </a:ln>
          <a:effectLst/>
          <a:extLst/>
        </p:spPr>
        <p:txBody>
          <a:bodyPr wrap="square">
            <a:spAutoFit/>
          </a:bodyPr>
          <a:lstStyle/>
          <a:p>
            <a:pPr>
              <a:lnSpc>
                <a:spcPct val="150000"/>
              </a:lnSpc>
            </a:pPr>
            <a:r>
              <a:rPr lang="zh-CN" altLang="en-US" sz="2400" dirty="0">
                <a:solidFill>
                  <a:srgbClr val="1EA2EE"/>
                </a:solidFill>
                <a:latin typeface="楷体_GB2312" pitchFamily="49" charset="-122"/>
                <a:ea typeface="楷体_GB2312" pitchFamily="49" charset="-122"/>
              </a:rPr>
              <a:t>中间抽头方式变压器不产生附加电感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4"/>
          <p:cNvSpPr>
            <a:spLocks noGrp="1"/>
          </p:cNvSpPr>
          <p:nvPr>
            <p:ph type="sldNum" sz="quarter" idx="12"/>
          </p:nvPr>
        </p:nvSpPr>
        <p:spPr/>
        <p:txBody>
          <a:bodyPr/>
          <a:lstStyle/>
          <a:p>
            <a:fld id="{D8835C00-C2B7-4175-BF0B-7EA4AE10644B}" type="slidenum">
              <a:rPr lang="en-US" altLang="zh-CN"/>
              <a:pPr/>
              <a:t>32</a:t>
            </a:fld>
            <a:endParaRPr lang="en-US" altLang="zh-CN"/>
          </a:p>
        </p:txBody>
      </p:sp>
      <p:sp>
        <p:nvSpPr>
          <p:cNvPr id="93186" name="Text Box 2"/>
          <p:cNvSpPr txBox="1">
            <a:spLocks noChangeArrowheads="1"/>
          </p:cNvSpPr>
          <p:nvPr/>
        </p:nvSpPr>
        <p:spPr bwMode="auto">
          <a:xfrm>
            <a:off x="2771874" y="6104223"/>
            <a:ext cx="3456237" cy="581057"/>
          </a:xfrm>
          <a:prstGeom prst="rect">
            <a:avLst/>
          </a:prstGeom>
          <a:solidFill>
            <a:schemeClr val="bg2"/>
          </a:solidFill>
          <a:ln>
            <a:noFill/>
          </a:ln>
          <a:effectLst/>
          <a:extLst/>
        </p:spPr>
        <p:txBody>
          <a:bodyPr wrap="square">
            <a:spAutoFit/>
          </a:bodyPr>
          <a:lstStyle/>
          <a:p>
            <a:pPr>
              <a:lnSpc>
                <a:spcPct val="150000"/>
              </a:lnSpc>
            </a:pPr>
            <a:r>
              <a:rPr lang="zh-CN" altLang="en-US" sz="2400" dirty="0">
                <a:solidFill>
                  <a:srgbClr val="1EA2EE"/>
                </a:solidFill>
                <a:latin typeface="楷体_GB2312" pitchFamily="49" charset="-122"/>
                <a:ea typeface="楷体_GB2312" pitchFamily="49" charset="-122"/>
              </a:rPr>
              <a:t>可有效提高桥路灵敏度</a:t>
            </a:r>
          </a:p>
        </p:txBody>
      </p:sp>
      <p:sp>
        <p:nvSpPr>
          <p:cNvPr id="93187" name="Rectangle 3"/>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88" name="Rectangle 4"/>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89" name="Rectangle 5"/>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0" name="Rectangle 6"/>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1" name="Rectangle 7"/>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2" name="Rectangle 8"/>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3" name="Rectangle 9"/>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5" name="Rectangle 11"/>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150000"/>
              </a:lnSpc>
            </a:pPr>
            <a:endParaRPr lang="zh-CN" altLang="zh-CN" sz="2400">
              <a:latin typeface="Arial" pitchFamily="34" charset="0"/>
            </a:endParaRPr>
          </a:p>
        </p:txBody>
      </p:sp>
      <p:sp>
        <p:nvSpPr>
          <p:cNvPr id="93196" name="Rectangle 12"/>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7" name="Rectangle 13"/>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8" name="Rectangle 14"/>
          <p:cNvSpPr>
            <a:spLocks noChangeArrowheads="1"/>
          </p:cNvSpPr>
          <p:nvPr/>
        </p:nvSpPr>
        <p:spPr bwMode="auto">
          <a:xfrm>
            <a:off x="0" y="1676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201"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202" name="Text Box 18"/>
          <p:cNvSpPr txBox="1">
            <a:spLocks noChangeArrowheads="1"/>
          </p:cNvSpPr>
          <p:nvPr/>
        </p:nvSpPr>
        <p:spPr bwMode="auto">
          <a:xfrm>
            <a:off x="1331775" y="1000125"/>
            <a:ext cx="4816475" cy="58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zh-CN" altLang="en-US" sz="2400" dirty="0">
                <a:latin typeface="楷体_GB2312" pitchFamily="49" charset="-122"/>
                <a:ea typeface="楷体_GB2312" pitchFamily="49" charset="-122"/>
              </a:rPr>
              <a:t>桥路电源为恒流源，大小为</a:t>
            </a:r>
            <a:r>
              <a:rPr lang="en-US" altLang="zh-CN" sz="2400" dirty="0">
                <a:latin typeface="Times New Roman" panose="02020603050405020304" pitchFamily="18" charset="0"/>
                <a:ea typeface="楷体_GB2312" pitchFamily="49" charset="-122"/>
                <a:cs typeface="Times New Roman" panose="02020603050405020304" pitchFamily="18" charset="0"/>
              </a:rPr>
              <a:t>2</a:t>
            </a:r>
            <a:r>
              <a:rPr lang="en-US" altLang="zh-CN" sz="2400" i="1" dirty="0">
                <a:latin typeface="Times New Roman" panose="02020603050405020304" pitchFamily="18" charset="0"/>
                <a:ea typeface="楷体_GB2312" pitchFamily="49" charset="-122"/>
                <a:cs typeface="Times New Roman" panose="02020603050405020304" pitchFamily="18" charset="0"/>
              </a:rPr>
              <a:t>I</a:t>
            </a:r>
            <a:r>
              <a:rPr lang="en-US" altLang="zh-CN" sz="2400" i="1" baseline="-25000" dirty="0">
                <a:latin typeface="Times New Roman" panose="02020603050405020304" pitchFamily="18" charset="0"/>
                <a:ea typeface="楷体_GB2312" pitchFamily="49" charset="-122"/>
                <a:cs typeface="Times New Roman" panose="02020603050405020304" pitchFamily="18" charset="0"/>
              </a:rPr>
              <a:t>0</a:t>
            </a:r>
            <a:endParaRPr lang="zh-CN" altLang="en-US" sz="2400" baseline="-25000" dirty="0">
              <a:latin typeface="Times New Roman" panose="02020603050405020304" pitchFamily="18" charset="0"/>
              <a:ea typeface="楷体_GB2312" pitchFamily="49" charset="-122"/>
              <a:cs typeface="Times New Roman" panose="02020603050405020304" pitchFamily="18" charset="0"/>
            </a:endParaRPr>
          </a:p>
        </p:txBody>
      </p:sp>
      <p:sp>
        <p:nvSpPr>
          <p:cNvPr id="19" name="Rectangle 16">
            <a:extLst>
              <a:ext uri="{FF2B5EF4-FFF2-40B4-BE49-F238E27FC236}">
                <a16:creationId xmlns:a16="http://schemas.microsoft.com/office/drawing/2014/main" id="{4430BF16-C80A-4286-804F-AF2ECD98D3EE}"/>
              </a:ext>
            </a:extLst>
          </p:cNvPr>
          <p:cNvSpPr>
            <a:spLocks noChangeArrowheads="1"/>
          </p:cNvSpPr>
          <p:nvPr/>
        </p:nvSpPr>
        <p:spPr bwMode="auto">
          <a:xfrm>
            <a:off x="438506" y="334499"/>
            <a:ext cx="410881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dirty="0">
                <a:solidFill>
                  <a:srgbClr val="FF0000"/>
                </a:solidFill>
                <a:latin typeface="楷体_GB2312" pitchFamily="49" charset="-122"/>
                <a:ea typeface="楷体_GB2312" pitchFamily="49" charset="-122"/>
                <a:sym typeface="楷体_GB2312" pitchFamily="49" charset="-122"/>
              </a:rPr>
              <a:t>③ </a:t>
            </a:r>
            <a:r>
              <a:rPr lang="zh-CN" altLang="en-US" sz="3600" dirty="0">
                <a:solidFill>
                  <a:srgbClr val="FF0000"/>
                </a:solidFill>
                <a:latin typeface="楷体_GB2312" pitchFamily="49" charset="-122"/>
                <a:ea typeface="楷体_GB2312" pitchFamily="49" charset="-122"/>
                <a:sym typeface="楷体_GB2312" pitchFamily="49" charset="-122"/>
              </a:rPr>
              <a:t>紧耦合电感电桥</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pic>
        <p:nvPicPr>
          <p:cNvPr id="2" name="图片 1">
            <a:extLst>
              <a:ext uri="{FF2B5EF4-FFF2-40B4-BE49-F238E27FC236}">
                <a16:creationId xmlns:a16="http://schemas.microsoft.com/office/drawing/2014/main" id="{3E07EBCB-195B-41AB-A13A-ACC6902A267C}"/>
              </a:ext>
            </a:extLst>
          </p:cNvPr>
          <p:cNvPicPr>
            <a:picLocks noChangeAspect="1"/>
          </p:cNvPicPr>
          <p:nvPr/>
        </p:nvPicPr>
        <p:blipFill>
          <a:blip r:embed="rId2"/>
          <a:stretch>
            <a:fillRect/>
          </a:stretch>
        </p:blipFill>
        <p:spPr>
          <a:xfrm>
            <a:off x="2551835" y="1922835"/>
            <a:ext cx="3990975" cy="4248150"/>
          </a:xfrm>
          <a:prstGeom prst="rect">
            <a:avLst/>
          </a:prstGeom>
        </p:spPr>
      </p:pic>
      <p:sp>
        <p:nvSpPr>
          <p:cNvPr id="21" name="Text Box 2">
            <a:extLst>
              <a:ext uri="{FF2B5EF4-FFF2-40B4-BE49-F238E27FC236}">
                <a16:creationId xmlns:a16="http://schemas.microsoft.com/office/drawing/2014/main" id="{1BE3DFDB-A91A-4B15-ACE4-553DFCD2C5FA}"/>
              </a:ext>
            </a:extLst>
          </p:cNvPr>
          <p:cNvSpPr txBox="1">
            <a:spLocks noChangeArrowheads="1"/>
          </p:cNvSpPr>
          <p:nvPr/>
        </p:nvSpPr>
        <p:spPr bwMode="auto">
          <a:xfrm>
            <a:off x="6150940" y="4354639"/>
            <a:ext cx="2160150" cy="581057"/>
          </a:xfrm>
          <a:prstGeom prst="rect">
            <a:avLst/>
          </a:prstGeom>
          <a:solidFill>
            <a:schemeClr val="accent5">
              <a:lumMod val="20000"/>
              <a:lumOff val="80000"/>
            </a:schemeClr>
          </a:solidFill>
          <a:ln>
            <a:noFill/>
          </a:ln>
          <a:effectLst/>
          <a:extLst/>
        </p:spPr>
        <p:txBody>
          <a:bodyPr wrap="square">
            <a:spAutoFit/>
          </a:bodyPr>
          <a:lstStyle/>
          <a:p>
            <a:pPr>
              <a:lnSpc>
                <a:spcPct val="150000"/>
              </a:lnSpc>
            </a:pPr>
            <a:r>
              <a:rPr lang="zh-CN" altLang="en-US" sz="2400" dirty="0">
                <a:solidFill>
                  <a:srgbClr val="1EA2EE"/>
                </a:solidFill>
                <a:latin typeface="楷体_GB2312" pitchFamily="49" charset="-122"/>
                <a:ea typeface="楷体_GB2312" pitchFamily="49" charset="-122"/>
              </a:rPr>
              <a:t>中间抽头方式</a:t>
            </a:r>
          </a:p>
        </p:txBody>
      </p:sp>
      <p:cxnSp>
        <p:nvCxnSpPr>
          <p:cNvPr id="4" name="直接箭头连接符 3">
            <a:extLst>
              <a:ext uri="{FF2B5EF4-FFF2-40B4-BE49-F238E27FC236}">
                <a16:creationId xmlns:a16="http://schemas.microsoft.com/office/drawing/2014/main" id="{6FB724A4-3F6C-4AA0-BDA1-4872FD6BFD39}"/>
              </a:ext>
            </a:extLst>
          </p:cNvPr>
          <p:cNvCxnSpPr>
            <a:cxnSpLocks/>
          </p:cNvCxnSpPr>
          <p:nvPr/>
        </p:nvCxnSpPr>
        <p:spPr bwMode="auto">
          <a:xfrm flipV="1">
            <a:off x="2835940" y="3947327"/>
            <a:ext cx="0" cy="432031"/>
          </a:xfrm>
          <a:prstGeom prst="straightConnector1">
            <a:avLst/>
          </a:prstGeom>
          <a:solidFill>
            <a:schemeClr val="accent1"/>
          </a:solidFill>
          <a:ln w="381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1966261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3186"/>
                                        </p:tgtEl>
                                        <p:attrNameLst>
                                          <p:attrName>style.visibility</p:attrName>
                                        </p:attrNameLst>
                                      </p:cBhvr>
                                      <p:to>
                                        <p:strVal val="visible"/>
                                      </p:to>
                                    </p:set>
                                    <p:anim calcmode="lin" valueType="num">
                                      <p:cBhvr additive="base">
                                        <p:cTn id="13" dur="500" fill="hold"/>
                                        <p:tgtEl>
                                          <p:spTgt spid="93186"/>
                                        </p:tgtEl>
                                        <p:attrNameLst>
                                          <p:attrName>ppt_x</p:attrName>
                                        </p:attrNameLst>
                                      </p:cBhvr>
                                      <p:tavLst>
                                        <p:tav tm="0">
                                          <p:val>
                                            <p:strVal val="#ppt_x"/>
                                          </p:val>
                                        </p:tav>
                                        <p:tav tm="100000">
                                          <p:val>
                                            <p:strVal val="#ppt_x"/>
                                          </p:val>
                                        </p:tav>
                                      </p:tavLst>
                                    </p:anim>
                                    <p:anim calcmode="lin" valueType="num">
                                      <p:cBhvr additive="base">
                                        <p:cTn id="14" dur="500" fill="hold"/>
                                        <p:tgtEl>
                                          <p:spTgt spid="931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nimBg="1"/>
      <p:bldP spid="2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1" name="Rectangle 3"/>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2"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3" name="Rectangle 5"/>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4" name="Rectangle 6"/>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5" name="Rectangle 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6" name="Rectangle 8"/>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7" name="Rectangle 9"/>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9" name="Rectangle 11"/>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80"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83" name="矩形 21"/>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6" name="Text Box 2"/>
          <p:cNvSpPr txBox="1">
            <a:spLocks noChangeArrowheads="1"/>
          </p:cNvSpPr>
          <p:nvPr/>
        </p:nvSpPr>
        <p:spPr bwMode="auto">
          <a:xfrm>
            <a:off x="382587" y="178901"/>
            <a:ext cx="83534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400" dirty="0">
                <a:latin typeface="楷体_GB2312" pitchFamily="49" charset="-122"/>
                <a:ea typeface="楷体_GB2312" pitchFamily="49" charset="-122"/>
              </a:rPr>
              <a:t>③</a:t>
            </a:r>
            <a:r>
              <a:rPr lang="zh-CN" altLang="en-US" sz="2400" dirty="0">
                <a:latin typeface="楷体_GB2312" pitchFamily="49" charset="-122"/>
                <a:ea typeface="楷体_GB2312" pitchFamily="49" charset="-122"/>
              </a:rPr>
              <a:t>紧耦合电感电桥</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有效提高桥路灵敏度的方法</a:t>
            </a:r>
          </a:p>
        </p:txBody>
      </p:sp>
      <p:graphicFrame>
        <p:nvGraphicFramePr>
          <p:cNvPr id="32804" name="Object 18"/>
          <p:cNvGraphicFramePr>
            <a:graphicFrameLocks noChangeAspect="1"/>
          </p:cNvGraphicFramePr>
          <p:nvPr>
            <p:extLst>
              <p:ext uri="{D42A27DB-BD31-4B8C-83A1-F6EECF244321}">
                <p14:modId xmlns:p14="http://schemas.microsoft.com/office/powerpoint/2010/main" val="3706282553"/>
              </p:ext>
            </p:extLst>
          </p:nvPr>
        </p:nvGraphicFramePr>
        <p:xfrm>
          <a:off x="33407" y="1384338"/>
          <a:ext cx="6126477" cy="3632124"/>
        </p:xfrm>
        <a:graphic>
          <a:graphicData uri="http://schemas.openxmlformats.org/presentationml/2006/ole">
            <mc:AlternateContent xmlns:mc="http://schemas.openxmlformats.org/markup-compatibility/2006">
              <mc:Choice xmlns:v="urn:schemas-microsoft-com:vml" Requires="v">
                <p:oleObj spid="_x0000_s32915" name="Document" r:id="rId3" imgW="3422775" imgH="2007072" progId="Word.Document.8">
                  <p:embed/>
                </p:oleObj>
              </mc:Choice>
              <mc:Fallback>
                <p:oleObj name="Document" r:id="rId3" imgW="3422775" imgH="2007072" progId="Word.Document.8">
                  <p:embed/>
                  <p:pic>
                    <p:nvPicPr>
                      <p:cNvPr id="0" name="Object 18"/>
                      <p:cNvPicPr>
                        <a:picLocks noChangeAspect="1" noChangeArrowheads="1"/>
                      </p:cNvPicPr>
                      <p:nvPr/>
                    </p:nvPicPr>
                    <p:blipFill>
                      <a:blip r:embed="rId4"/>
                      <a:srcRect/>
                      <a:stretch>
                        <a:fillRect/>
                      </a:stretch>
                    </p:blipFill>
                    <p:spPr bwMode="auto">
                      <a:xfrm>
                        <a:off x="33407" y="1384338"/>
                        <a:ext cx="6126477" cy="3632124"/>
                      </a:xfrm>
                      <a:prstGeom prst="rect">
                        <a:avLst/>
                      </a:prstGeom>
                      <a:solidFill>
                        <a:schemeClr val="bg1"/>
                      </a:solidFill>
                    </p:spPr>
                  </p:pic>
                </p:oleObj>
              </mc:Fallback>
            </mc:AlternateContent>
          </a:graphicData>
        </a:graphic>
      </p:graphicFrame>
      <p:cxnSp>
        <p:nvCxnSpPr>
          <p:cNvPr id="3" name="直接连接符 2">
            <a:extLst>
              <a:ext uri="{FF2B5EF4-FFF2-40B4-BE49-F238E27FC236}">
                <a16:creationId xmlns:a16="http://schemas.microsoft.com/office/drawing/2014/main" id="{5B4778D5-0B39-4FC1-9336-69DBF7067AB4}"/>
              </a:ext>
            </a:extLst>
          </p:cNvPr>
          <p:cNvCxnSpPr>
            <a:cxnSpLocks/>
          </p:cNvCxnSpPr>
          <p:nvPr/>
        </p:nvCxnSpPr>
        <p:spPr bwMode="auto">
          <a:xfrm>
            <a:off x="683730" y="3717020"/>
            <a:ext cx="3401567"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98DFB2B8-7AFE-49F3-AF24-A60397854652}"/>
              </a:ext>
            </a:extLst>
          </p:cNvPr>
          <p:cNvCxnSpPr>
            <a:cxnSpLocks/>
          </p:cNvCxnSpPr>
          <p:nvPr/>
        </p:nvCxnSpPr>
        <p:spPr bwMode="auto">
          <a:xfrm>
            <a:off x="1611794" y="3032540"/>
            <a:ext cx="3099205"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 name="组合 5">
            <a:extLst>
              <a:ext uri="{FF2B5EF4-FFF2-40B4-BE49-F238E27FC236}">
                <a16:creationId xmlns:a16="http://schemas.microsoft.com/office/drawing/2014/main" id="{285EA832-11F7-480E-8FB3-2E3EAAC6B290}"/>
              </a:ext>
            </a:extLst>
          </p:cNvPr>
          <p:cNvGrpSpPr/>
          <p:nvPr/>
        </p:nvGrpSpPr>
        <p:grpSpPr>
          <a:xfrm>
            <a:off x="5865520" y="1196845"/>
            <a:ext cx="3256460" cy="3466303"/>
            <a:chOff x="5865520" y="1196845"/>
            <a:chExt cx="3256460" cy="3466303"/>
          </a:xfrm>
        </p:grpSpPr>
        <p:pic>
          <p:nvPicPr>
            <p:cNvPr id="17" name="图片 16">
              <a:extLst>
                <a:ext uri="{FF2B5EF4-FFF2-40B4-BE49-F238E27FC236}">
                  <a16:creationId xmlns:a16="http://schemas.microsoft.com/office/drawing/2014/main" id="{0C7E1638-2D69-4C0E-9675-01CE11F5A675}"/>
                </a:ext>
              </a:extLst>
            </p:cNvPr>
            <p:cNvPicPr>
              <a:picLocks noChangeAspect="1"/>
            </p:cNvPicPr>
            <p:nvPr/>
          </p:nvPicPr>
          <p:blipFill>
            <a:blip r:embed="rId5"/>
            <a:stretch>
              <a:fillRect/>
            </a:stretch>
          </p:blipFill>
          <p:spPr>
            <a:xfrm>
              <a:off x="5865520" y="1196845"/>
              <a:ext cx="3256460" cy="3466303"/>
            </a:xfrm>
            <a:prstGeom prst="rect">
              <a:avLst/>
            </a:prstGeom>
          </p:spPr>
        </p:pic>
        <p:cxnSp>
          <p:nvCxnSpPr>
            <p:cNvPr id="21" name="直接箭头连接符 20">
              <a:extLst>
                <a:ext uri="{FF2B5EF4-FFF2-40B4-BE49-F238E27FC236}">
                  <a16:creationId xmlns:a16="http://schemas.microsoft.com/office/drawing/2014/main" id="{B7C59522-C551-4217-A920-FC370D64DE3A}"/>
                </a:ext>
              </a:extLst>
            </p:cNvPr>
            <p:cNvCxnSpPr>
              <a:cxnSpLocks/>
            </p:cNvCxnSpPr>
            <p:nvPr/>
          </p:nvCxnSpPr>
          <p:spPr bwMode="auto">
            <a:xfrm flipV="1">
              <a:off x="6084105" y="2816525"/>
              <a:ext cx="0" cy="432031"/>
            </a:xfrm>
            <a:prstGeom prst="straightConnector1">
              <a:avLst/>
            </a:prstGeom>
            <a:solidFill>
              <a:schemeClr val="accent1"/>
            </a:solidFill>
            <a:ln w="381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1" name="Rectangle 3"/>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2"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3" name="Rectangle 5"/>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4" name="Rectangle 6"/>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5" name="Rectangle 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6" name="Rectangle 8"/>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7" name="Rectangle 9"/>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9" name="Rectangle 11"/>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80"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83" name="矩形 21"/>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graphicFrame>
        <p:nvGraphicFramePr>
          <p:cNvPr id="32786" name="Object 18">
            <a:hlinkClick r:id="" action="ppaction://ole?verb=1"/>
          </p:cNvPr>
          <p:cNvGraphicFramePr>
            <a:graphicFrameLocks noChangeAspect="1"/>
          </p:cNvGraphicFramePr>
          <p:nvPr/>
        </p:nvGraphicFramePr>
        <p:xfrm>
          <a:off x="323705" y="1844890"/>
          <a:ext cx="4837112" cy="3790950"/>
        </p:xfrm>
        <a:graphic>
          <a:graphicData uri="http://schemas.openxmlformats.org/presentationml/2006/ole">
            <mc:AlternateContent xmlns:mc="http://schemas.openxmlformats.org/markup-compatibility/2006">
              <mc:Choice xmlns:v="urn:schemas-microsoft-com:vml" Requires="v">
                <p:oleObj spid="_x0000_s166218" r:id="rId3" imgW="2819160" imgH="2209680" progId="Equation.3">
                  <p:embed/>
                </p:oleObj>
              </mc:Choice>
              <mc:Fallback>
                <p:oleObj r:id="rId3" imgW="2819160" imgH="220968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705" y="1844890"/>
                        <a:ext cx="4837112" cy="3790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87" name="Object 19">
            <a:hlinkClick r:id="" action="ppaction://ole?verb=1"/>
          </p:cNvPr>
          <p:cNvGraphicFramePr>
            <a:graphicFrameLocks noChangeAspect="1"/>
          </p:cNvGraphicFramePr>
          <p:nvPr>
            <p:extLst>
              <p:ext uri="{D42A27DB-BD31-4B8C-83A1-F6EECF244321}">
                <p14:modId xmlns:p14="http://schemas.microsoft.com/office/powerpoint/2010/main" val="4266734590"/>
              </p:ext>
            </p:extLst>
          </p:nvPr>
        </p:nvGraphicFramePr>
        <p:xfrm>
          <a:off x="3509024" y="5519267"/>
          <a:ext cx="1289050" cy="414337"/>
        </p:xfrm>
        <a:graphic>
          <a:graphicData uri="http://schemas.openxmlformats.org/presentationml/2006/ole">
            <mc:AlternateContent xmlns:mc="http://schemas.openxmlformats.org/markup-compatibility/2006">
              <mc:Choice xmlns:v="urn:schemas-microsoft-com:vml" Requires="v">
                <p:oleObj spid="_x0000_s166219" r:id="rId5" imgW="711841" imgH="228870" progId="Equation.3">
                  <p:embed/>
                </p:oleObj>
              </mc:Choice>
              <mc:Fallback>
                <p:oleObj r:id="rId5" imgW="711841" imgH="22887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9024" y="5519267"/>
                        <a:ext cx="1289050" cy="414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88" name="AutoShape 20"/>
          <p:cNvSpPr>
            <a:spLocks noChangeArrowheads="1"/>
          </p:cNvSpPr>
          <p:nvPr/>
        </p:nvSpPr>
        <p:spPr bwMode="auto">
          <a:xfrm>
            <a:off x="3925742" y="3397465"/>
            <a:ext cx="1798638" cy="360362"/>
          </a:xfrm>
          <a:prstGeom prst="wedgeRectCallout">
            <a:avLst>
              <a:gd name="adj1" fmla="val -50361"/>
              <a:gd name="adj2" fmla="val -103259"/>
            </a:avLst>
          </a:prstGeom>
          <a:noFill/>
          <a:ln w="9525"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solidFill>
                  <a:srgbClr val="FF0000"/>
                </a:solidFill>
              </a:rPr>
              <a:t>线性输出</a:t>
            </a:r>
          </a:p>
        </p:txBody>
      </p:sp>
      <p:sp>
        <p:nvSpPr>
          <p:cNvPr id="32789" name="Text Box 21"/>
          <p:cNvSpPr txBox="1">
            <a:spLocks noChangeArrowheads="1"/>
          </p:cNvSpPr>
          <p:nvPr/>
        </p:nvSpPr>
        <p:spPr bwMode="auto">
          <a:xfrm>
            <a:off x="5167560" y="5390571"/>
            <a:ext cx="2219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dirty="0">
                <a:solidFill>
                  <a:srgbClr val="FF0000"/>
                </a:solidFill>
              </a:rPr>
              <a:t>灵敏度</a:t>
            </a:r>
            <a:endParaRPr lang="zh-CN" altLang="en-US" sz="2400" baseline="-25000" dirty="0">
              <a:solidFill>
                <a:srgbClr val="FF0000"/>
              </a:solidFill>
            </a:endParaRPr>
          </a:p>
        </p:txBody>
      </p:sp>
      <p:graphicFrame>
        <p:nvGraphicFramePr>
          <p:cNvPr id="32790" name="Object 22">
            <a:hlinkClick r:id="" action="ppaction://ole?verb=1"/>
          </p:cNvPr>
          <p:cNvGraphicFramePr>
            <a:graphicFrameLocks noChangeAspect="1"/>
          </p:cNvGraphicFramePr>
          <p:nvPr>
            <p:extLst>
              <p:ext uri="{D42A27DB-BD31-4B8C-83A1-F6EECF244321}">
                <p14:modId xmlns:p14="http://schemas.microsoft.com/office/powerpoint/2010/main" val="1785797576"/>
              </p:ext>
            </p:extLst>
          </p:nvPr>
        </p:nvGraphicFramePr>
        <p:xfrm>
          <a:off x="6212440" y="5429464"/>
          <a:ext cx="1076325" cy="441325"/>
        </p:xfrm>
        <a:graphic>
          <a:graphicData uri="http://schemas.openxmlformats.org/presentationml/2006/ole">
            <mc:AlternateContent xmlns:mc="http://schemas.openxmlformats.org/markup-compatibility/2006">
              <mc:Choice xmlns:v="urn:schemas-microsoft-com:vml" Requires="v">
                <p:oleObj spid="_x0000_s166220" r:id="rId7" imgW="559381" imgH="228870" progId="Equation.3">
                  <p:embed/>
                </p:oleObj>
              </mc:Choice>
              <mc:Fallback>
                <p:oleObj r:id="rId7" imgW="559381" imgH="228870"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12440" y="5429464"/>
                        <a:ext cx="1076325"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91" name="AutoShape 23"/>
          <p:cNvSpPr>
            <a:spLocks noChangeArrowheads="1"/>
          </p:cNvSpPr>
          <p:nvPr/>
        </p:nvSpPr>
        <p:spPr bwMode="auto">
          <a:xfrm>
            <a:off x="5139581" y="5326277"/>
            <a:ext cx="2160588" cy="647700"/>
          </a:xfrm>
          <a:prstGeom prst="roundRect">
            <a:avLst>
              <a:gd name="adj" fmla="val 16667"/>
            </a:avLst>
          </a:prstGeom>
          <a:solidFill>
            <a:schemeClr val="bg2">
              <a:alpha val="39000"/>
            </a:schemeClr>
          </a:solidFill>
          <a:ln w="9525" cmpd="sng">
            <a:solidFill>
              <a:srgbClr val="1EA2EE"/>
            </a:solidFill>
            <a:round/>
            <a:headEnd/>
            <a:tailEnd/>
          </a:ln>
          <a:effectLst/>
          <a:extLst/>
        </p:spPr>
        <p:txBody>
          <a:bodyPr anchor="ctr"/>
          <a:lstStyle/>
          <a:p>
            <a:endParaRPr lang="zh-CN" altLang="en-US"/>
          </a:p>
        </p:txBody>
      </p:sp>
      <p:sp>
        <p:nvSpPr>
          <p:cNvPr id="21" name="Text Box 2"/>
          <p:cNvSpPr txBox="1">
            <a:spLocks noChangeArrowheads="1"/>
          </p:cNvSpPr>
          <p:nvPr/>
        </p:nvSpPr>
        <p:spPr bwMode="auto">
          <a:xfrm>
            <a:off x="382587" y="178901"/>
            <a:ext cx="83534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400" dirty="0">
                <a:latin typeface="楷体_GB2312" pitchFamily="49" charset="-122"/>
                <a:ea typeface="楷体_GB2312" pitchFamily="49" charset="-122"/>
              </a:rPr>
              <a:t>③</a:t>
            </a:r>
            <a:r>
              <a:rPr lang="zh-CN" altLang="en-US" sz="2400" dirty="0">
                <a:latin typeface="楷体_GB2312" pitchFamily="49" charset="-122"/>
                <a:ea typeface="楷体_GB2312" pitchFamily="49" charset="-122"/>
              </a:rPr>
              <a:t>紧耦合电感电桥</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有效提高桥路灵敏度的方法</a:t>
            </a:r>
          </a:p>
        </p:txBody>
      </p:sp>
      <p:pic>
        <p:nvPicPr>
          <p:cNvPr id="22" name="图片 21">
            <a:extLst>
              <a:ext uri="{FF2B5EF4-FFF2-40B4-BE49-F238E27FC236}">
                <a16:creationId xmlns:a16="http://schemas.microsoft.com/office/drawing/2014/main" id="{A43B0422-0CFC-44E8-8761-E30F0BBCDADF}"/>
              </a:ext>
            </a:extLst>
          </p:cNvPr>
          <p:cNvPicPr>
            <a:picLocks noChangeAspect="1"/>
          </p:cNvPicPr>
          <p:nvPr/>
        </p:nvPicPr>
        <p:blipFill>
          <a:blip r:embed="rId9"/>
          <a:stretch>
            <a:fillRect/>
          </a:stretch>
        </p:blipFill>
        <p:spPr>
          <a:xfrm>
            <a:off x="5798345" y="1041464"/>
            <a:ext cx="3320095" cy="3534039"/>
          </a:xfrm>
          <a:prstGeom prst="rect">
            <a:avLst/>
          </a:prstGeom>
        </p:spPr>
      </p:pic>
      <p:cxnSp>
        <p:nvCxnSpPr>
          <p:cNvPr id="23" name="直接连接符 22">
            <a:extLst>
              <a:ext uri="{FF2B5EF4-FFF2-40B4-BE49-F238E27FC236}">
                <a16:creationId xmlns:a16="http://schemas.microsoft.com/office/drawing/2014/main" id="{71918455-66C6-4350-A25C-545F5220E514}"/>
              </a:ext>
            </a:extLst>
          </p:cNvPr>
          <p:cNvCxnSpPr>
            <a:cxnSpLocks/>
          </p:cNvCxnSpPr>
          <p:nvPr/>
        </p:nvCxnSpPr>
        <p:spPr bwMode="auto">
          <a:xfrm>
            <a:off x="1187765" y="2411655"/>
            <a:ext cx="792055"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34819" name="TextBox 5"/>
          <p:cNvSpPr>
            <a:spLocks noChangeArrowheads="1"/>
          </p:cNvSpPr>
          <p:nvPr/>
        </p:nvSpPr>
        <p:spPr bwMode="auto">
          <a:xfrm>
            <a:off x="611187" y="333375"/>
            <a:ext cx="72010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sz="3200" b="1" dirty="0">
                <a:solidFill>
                  <a:schemeClr val="tx2"/>
                </a:solidFill>
                <a:latin typeface="Calibri" pitchFamily="34" charset="0"/>
              </a:rPr>
              <a:t>1. 5 </a:t>
            </a:r>
            <a:r>
              <a:rPr lang="zh-CN" altLang="en-US" sz="3200" b="1" dirty="0">
                <a:solidFill>
                  <a:schemeClr val="tx2"/>
                </a:solidFill>
                <a:latin typeface="Calibri" pitchFamily="34" charset="0"/>
              </a:rPr>
              <a:t>差动变压器式力传感器（</a:t>
            </a:r>
            <a:r>
              <a:rPr lang="zh-CN" altLang="en-US" sz="3200" b="1" dirty="0">
                <a:solidFill>
                  <a:srgbClr val="0000FF"/>
                </a:solidFill>
                <a:latin typeface="Calibri" pitchFamily="34" charset="0"/>
              </a:rPr>
              <a:t>重难点</a:t>
            </a:r>
            <a:r>
              <a:rPr lang="zh-CN" altLang="en-US" sz="3200" b="1" dirty="0">
                <a:solidFill>
                  <a:schemeClr val="tx2"/>
                </a:solidFill>
                <a:latin typeface="Calibri" pitchFamily="34" charset="0"/>
              </a:rPr>
              <a:t>）</a:t>
            </a:r>
            <a:endParaRPr lang="zh-CN" altLang="en-US" dirty="0"/>
          </a:p>
        </p:txBody>
      </p:sp>
      <p:pic>
        <p:nvPicPr>
          <p:cNvPr id="34820" name="Picture 2" descr="fig10_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715" y="1297020"/>
            <a:ext cx="3973601" cy="4966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Rectangle 3"/>
          <p:cNvSpPr>
            <a:spLocks noChangeArrowheads="1"/>
          </p:cNvSpPr>
          <p:nvPr/>
        </p:nvSpPr>
        <p:spPr bwMode="auto">
          <a:xfrm>
            <a:off x="4413951" y="2656706"/>
            <a:ext cx="384577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zh-CN" altLang="en-US" sz="2800" dirty="0">
                <a:solidFill>
                  <a:srgbClr val="000000"/>
                </a:solidFill>
                <a:latin typeface="Times New Roman" pitchFamily="18" charset="0"/>
                <a:ea typeface="楷体_GB2312" pitchFamily="49" charset="-122"/>
                <a:sym typeface="Times New Roman" pitchFamily="18" charset="0"/>
              </a:rPr>
              <a:t>外力作用下，弹性部件变形使差动变压器的铁芯微位移，变压器次极产生相应电信号。</a:t>
            </a:r>
          </a:p>
          <a:p>
            <a:endParaRPr lang="zh-CN" altLang="en-US" sz="2800" dirty="0">
              <a:solidFill>
                <a:srgbClr val="000000"/>
              </a:solidFill>
              <a:latin typeface="Times New Roman" pitchFamily="18" charset="0"/>
              <a:ea typeface="楷体_GB2312" pitchFamily="49" charset="-122"/>
              <a:sym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p:cBhvr>
                                        <p:cTn id="7" dur="5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p:cBhvr>
                                        <p:cTn id="12" dur="500"/>
                                        <p:tgtEl>
                                          <p:spTgt spid="34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bldLvl="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5DBC2F80-6E4B-4B8F-84CC-FAEC98A5E1B2}" type="slidenum">
              <a:rPr lang="zh-CN" altLang="en-US"/>
              <a:pPr/>
              <a:t>36</a:t>
            </a:fld>
            <a:endParaRPr lang="zh-CN" altLang="en-US" sz="1800">
              <a:solidFill>
                <a:schemeClr val="tx1"/>
              </a:solidFill>
              <a:latin typeface="Arial" pitchFamily="34" charset="0"/>
            </a:endParaRPr>
          </a:p>
        </p:txBody>
      </p:sp>
      <p:sp>
        <p:nvSpPr>
          <p:cNvPr id="3584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35843" name="TextBox 5"/>
          <p:cNvSpPr>
            <a:spLocks noChangeArrowheads="1"/>
          </p:cNvSpPr>
          <p:nvPr/>
        </p:nvSpPr>
        <p:spPr bwMode="auto">
          <a:xfrm>
            <a:off x="395288" y="382588"/>
            <a:ext cx="5802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差动变压器式传感器工作原理 </a:t>
            </a:r>
            <a:endParaRPr lang="zh-CN" altLang="en-US"/>
          </a:p>
        </p:txBody>
      </p:sp>
      <p:sp>
        <p:nvSpPr>
          <p:cNvPr id="35844" name="Rectangle 3"/>
          <p:cNvSpPr>
            <a:spLocks noChangeArrowheads="1"/>
          </p:cNvSpPr>
          <p:nvPr/>
        </p:nvSpPr>
        <p:spPr bwMode="auto">
          <a:xfrm>
            <a:off x="395288" y="1360171"/>
            <a:ext cx="788423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Font typeface="Wingdings" pitchFamily="2" charset="2"/>
              <a:buNone/>
            </a:pPr>
            <a:r>
              <a:rPr lang="en-US" sz="2400" dirty="0">
                <a:latin typeface="Calibri" pitchFamily="34" charset="0"/>
              </a:rPr>
              <a:t>   </a:t>
            </a:r>
            <a:r>
              <a:rPr lang="zh-CN" altLang="en-US" sz="2400" dirty="0">
                <a:latin typeface="Calibri" pitchFamily="34" charset="0"/>
              </a:rPr>
              <a:t>螺线管式差动变压器由初级线圈，两个次级线圈和插入线圈中央的圆柱形铁芯等组成</a:t>
            </a:r>
            <a:r>
              <a:rPr lang="en-US" sz="2400" dirty="0">
                <a:latin typeface="Calibri" pitchFamily="34" charset="0"/>
              </a:rPr>
              <a:t>.</a:t>
            </a:r>
            <a:endParaRPr lang="zh-CN" altLang="en-US" sz="2400" dirty="0">
              <a:solidFill>
                <a:srgbClr val="898989"/>
              </a:solidFill>
              <a:latin typeface="Calibri" pitchFamily="34" charset="0"/>
            </a:endParaRPr>
          </a:p>
          <a:p>
            <a:pPr algn="ctr">
              <a:spcBef>
                <a:spcPct val="20000"/>
              </a:spcBef>
              <a:buFont typeface="Wingdings" pitchFamily="2" charset="2"/>
              <a:buNone/>
            </a:pPr>
            <a:endParaRPr lang="zh-CN" altLang="en-US" sz="2400" dirty="0">
              <a:solidFill>
                <a:srgbClr val="898989"/>
              </a:solidFill>
              <a:latin typeface="Calibri" pitchFamily="34" charset="0"/>
            </a:endParaRPr>
          </a:p>
          <a:p>
            <a:pPr algn="ctr">
              <a:spcBef>
                <a:spcPct val="20000"/>
              </a:spcBef>
              <a:buFont typeface="Wingdings" pitchFamily="2" charset="2"/>
              <a:buNone/>
            </a:pPr>
            <a:endParaRPr lang="zh-CN" altLang="en-US" sz="2400" dirty="0">
              <a:solidFill>
                <a:srgbClr val="898989"/>
              </a:solidFill>
              <a:latin typeface="Calibri" pitchFamily="34" charset="0"/>
            </a:endParaRPr>
          </a:p>
          <a:p>
            <a:pPr algn="ctr">
              <a:spcBef>
                <a:spcPct val="20000"/>
              </a:spcBef>
              <a:buFont typeface="Wingdings" pitchFamily="2" charset="2"/>
              <a:buNone/>
            </a:pPr>
            <a:endParaRPr lang="zh-CN" altLang="en-US" sz="2400" dirty="0">
              <a:solidFill>
                <a:srgbClr val="898989"/>
              </a:solidFill>
              <a:latin typeface="Calibri" pitchFamily="34" charset="0"/>
            </a:endParaRPr>
          </a:p>
          <a:p>
            <a:pPr algn="ctr">
              <a:spcBef>
                <a:spcPct val="20000"/>
              </a:spcBef>
            </a:pPr>
            <a:endParaRPr lang="zh-CN" altLang="en-US" sz="2400" dirty="0">
              <a:solidFill>
                <a:srgbClr val="898989"/>
              </a:solidFill>
              <a:latin typeface="Calibri" pitchFamily="34" charset="0"/>
            </a:endParaRPr>
          </a:p>
          <a:p>
            <a:pPr algn="ctr">
              <a:spcBef>
                <a:spcPct val="20000"/>
              </a:spcBef>
            </a:pPr>
            <a:endParaRPr lang="zh-CN" altLang="en-US" sz="2400" dirty="0">
              <a:solidFill>
                <a:srgbClr val="898989"/>
              </a:solidFill>
              <a:latin typeface="Calibri" pitchFamily="34" charset="0"/>
            </a:endParaRPr>
          </a:p>
          <a:p>
            <a:pPr algn="ctr">
              <a:spcBef>
                <a:spcPct val="20000"/>
              </a:spcBef>
            </a:pPr>
            <a:endParaRPr lang="zh-CN" altLang="en-US" sz="2400" dirty="0">
              <a:solidFill>
                <a:srgbClr val="898989"/>
              </a:solidFill>
              <a:latin typeface="Calibri" pitchFamily="34" charset="0"/>
            </a:endParaRPr>
          </a:p>
          <a:p>
            <a:pPr>
              <a:spcBef>
                <a:spcPct val="20000"/>
              </a:spcBef>
            </a:pPr>
            <a:r>
              <a:rPr lang="zh-CN" altLang="en-US" sz="2400" dirty="0">
                <a:latin typeface="Calibri" pitchFamily="34" charset="0"/>
              </a:rPr>
              <a:t>螺线管式差动变压器按线圈绕组排列的方式不同可分为二节、三节、四节和五节式等类型（</a:t>
            </a:r>
            <a:r>
              <a:rPr lang="en-US" altLang="zh-CN" sz="2400" dirty="0">
                <a:latin typeface="Calibri" pitchFamily="34" charset="0"/>
              </a:rPr>
              <a:t>textbook page75</a:t>
            </a:r>
            <a:r>
              <a:rPr lang="zh-CN" altLang="en-US" sz="2400" dirty="0">
                <a:latin typeface="Calibri" pitchFamily="34" charset="0"/>
              </a:rPr>
              <a:t>）。</a:t>
            </a:r>
            <a:endParaRPr lang="en-US" altLang="zh-CN" sz="2400" dirty="0">
              <a:latin typeface="Calibri" pitchFamily="34" charset="0"/>
            </a:endParaRPr>
          </a:p>
          <a:p>
            <a:pPr>
              <a:spcBef>
                <a:spcPct val="20000"/>
              </a:spcBef>
            </a:pPr>
            <a:r>
              <a:rPr lang="en-US" altLang="zh-CN" sz="2400" dirty="0">
                <a:solidFill>
                  <a:srgbClr val="1EA2EE"/>
                </a:solidFill>
                <a:latin typeface="Calibri" pitchFamily="34" charset="0"/>
              </a:rPr>
              <a:t>       </a:t>
            </a:r>
            <a:r>
              <a:rPr lang="zh-CN" altLang="en-US" sz="2400" dirty="0">
                <a:solidFill>
                  <a:srgbClr val="1EA2EE"/>
                </a:solidFill>
                <a:latin typeface="Calibri" pitchFamily="34" charset="0"/>
              </a:rPr>
              <a:t>这里主要介绍三节式。</a:t>
            </a:r>
          </a:p>
        </p:txBody>
      </p:sp>
      <p:pic>
        <p:nvPicPr>
          <p:cNvPr id="35845" name="Picture 5" descr="4-10"/>
          <p:cNvPicPr>
            <a:picLocks noChangeAspect="1" noChangeArrowheads="1"/>
          </p:cNvPicPr>
          <p:nvPr/>
        </p:nvPicPr>
        <p:blipFill>
          <a:blip r:embed="rId2" cstate="print">
            <a:extLst>
              <a:ext uri="{28A0092B-C50C-407E-A947-70E740481C1C}">
                <a14:useLocalDpi xmlns:a14="http://schemas.microsoft.com/office/drawing/2010/main" val="0"/>
              </a:ext>
            </a:extLst>
          </a:blip>
          <a:srcRect r="8249" b="35521"/>
          <a:stretch>
            <a:fillRect/>
          </a:stretch>
        </p:blipFill>
        <p:spPr bwMode="auto">
          <a:xfrm>
            <a:off x="5037760" y="1835493"/>
            <a:ext cx="4084648" cy="2808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Rectangle 6"/>
          <p:cNvSpPr>
            <a:spLocks noChangeArrowheads="1"/>
          </p:cNvSpPr>
          <p:nvPr/>
        </p:nvSpPr>
        <p:spPr bwMode="auto">
          <a:xfrm>
            <a:off x="518400" y="2399159"/>
            <a:ext cx="35878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400" dirty="0">
                <a:solidFill>
                  <a:srgbClr val="0000FF"/>
                </a:solidFill>
                <a:sym typeface="Calibri" pitchFamily="34" charset="0"/>
              </a:rPr>
              <a:t>1-</a:t>
            </a:r>
            <a:r>
              <a:rPr lang="zh-CN" altLang="en-US" sz="2400" dirty="0">
                <a:solidFill>
                  <a:srgbClr val="0000FF"/>
                </a:solidFill>
                <a:sym typeface="宋体" pitchFamily="2" charset="-122"/>
              </a:rPr>
              <a:t>活动衔铁；</a:t>
            </a:r>
            <a:r>
              <a:rPr lang="en-US" sz="2400" dirty="0">
                <a:solidFill>
                  <a:srgbClr val="0000FF"/>
                </a:solidFill>
                <a:sym typeface="Calibri" pitchFamily="34" charset="0"/>
              </a:rPr>
              <a:t>2-</a:t>
            </a:r>
            <a:r>
              <a:rPr lang="zh-CN" altLang="en-US" sz="2400" dirty="0">
                <a:solidFill>
                  <a:srgbClr val="0000FF"/>
                </a:solidFill>
                <a:sym typeface="宋体" pitchFamily="2" charset="-122"/>
              </a:rPr>
              <a:t>导磁外壳 </a:t>
            </a:r>
            <a:endParaRPr lang="zh-CN" altLang="en-US" sz="2400" dirty="0">
              <a:solidFill>
                <a:srgbClr val="0000FF"/>
              </a:solidFill>
            </a:endParaRPr>
          </a:p>
        </p:txBody>
      </p:sp>
      <p:sp>
        <p:nvSpPr>
          <p:cNvPr id="35847" name="Rectangle 7"/>
          <p:cNvSpPr>
            <a:spLocks noChangeArrowheads="1"/>
          </p:cNvSpPr>
          <p:nvPr/>
        </p:nvSpPr>
        <p:spPr bwMode="auto">
          <a:xfrm>
            <a:off x="518400" y="3008759"/>
            <a:ext cx="3789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400" dirty="0">
                <a:solidFill>
                  <a:srgbClr val="0000FF"/>
                </a:solidFill>
                <a:sym typeface="Calibri" pitchFamily="34" charset="0"/>
              </a:rPr>
              <a:t>3-</a:t>
            </a:r>
            <a:r>
              <a:rPr lang="zh-CN" altLang="en-US" sz="2400" dirty="0">
                <a:solidFill>
                  <a:srgbClr val="0000FF"/>
                </a:solidFill>
                <a:sym typeface="宋体" pitchFamily="2" charset="-122"/>
              </a:rPr>
              <a:t>骨架；      </a:t>
            </a:r>
            <a:r>
              <a:rPr lang="en-US" sz="2400" dirty="0">
                <a:solidFill>
                  <a:srgbClr val="0000FF"/>
                </a:solidFill>
                <a:sym typeface="Calibri" pitchFamily="34" charset="0"/>
              </a:rPr>
              <a:t>4-</a:t>
            </a:r>
            <a:r>
              <a:rPr lang="zh-CN" altLang="en-US" sz="2400" dirty="0">
                <a:solidFill>
                  <a:srgbClr val="0000FF"/>
                </a:solidFill>
                <a:sym typeface="宋体" pitchFamily="2" charset="-122"/>
              </a:rPr>
              <a:t>初级绕组</a:t>
            </a:r>
            <a:r>
              <a:rPr lang="en-US" sz="2400" dirty="0">
                <a:solidFill>
                  <a:srgbClr val="0000FF"/>
                </a:solidFill>
                <a:sym typeface="Calibri" pitchFamily="34" charset="0"/>
              </a:rPr>
              <a:t>w </a:t>
            </a:r>
            <a:r>
              <a:rPr lang="zh-CN" altLang="en-US" sz="2400" dirty="0">
                <a:solidFill>
                  <a:srgbClr val="0000FF"/>
                </a:solidFill>
                <a:sym typeface="Calibri" pitchFamily="34" charset="0"/>
              </a:rPr>
              <a:t> </a:t>
            </a:r>
            <a:endParaRPr lang="zh-CN" altLang="en-US" sz="2400" dirty="0">
              <a:solidFill>
                <a:srgbClr val="0000FF"/>
              </a:solidFill>
            </a:endParaRPr>
          </a:p>
        </p:txBody>
      </p:sp>
      <p:sp>
        <p:nvSpPr>
          <p:cNvPr id="35848" name="Rectangle 8"/>
          <p:cNvSpPr>
            <a:spLocks noChangeArrowheads="1"/>
          </p:cNvSpPr>
          <p:nvPr/>
        </p:nvSpPr>
        <p:spPr bwMode="auto">
          <a:xfrm>
            <a:off x="523163" y="3618359"/>
            <a:ext cx="4719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400" dirty="0">
                <a:solidFill>
                  <a:srgbClr val="0000FF"/>
                </a:solidFill>
                <a:sym typeface="Calibri" pitchFamily="34" charset="0"/>
              </a:rPr>
              <a:t>5-</a:t>
            </a:r>
            <a:r>
              <a:rPr lang="zh-CN" altLang="en-US" sz="2400" dirty="0">
                <a:solidFill>
                  <a:srgbClr val="0000FF"/>
                </a:solidFill>
                <a:sym typeface="宋体" pitchFamily="2" charset="-122"/>
              </a:rPr>
              <a:t>次级绕组</a:t>
            </a:r>
            <a:r>
              <a:rPr lang="en-US" sz="2400" dirty="0">
                <a:solidFill>
                  <a:srgbClr val="0000FF"/>
                </a:solidFill>
                <a:sym typeface="Calibri" pitchFamily="34" charset="0"/>
              </a:rPr>
              <a:t>w2a</a:t>
            </a:r>
            <a:r>
              <a:rPr lang="zh-CN" altLang="en-US" sz="2400" dirty="0">
                <a:solidFill>
                  <a:srgbClr val="0000FF"/>
                </a:solidFill>
                <a:sym typeface="宋体" pitchFamily="2" charset="-122"/>
              </a:rPr>
              <a:t>；</a:t>
            </a:r>
            <a:r>
              <a:rPr lang="en-US" sz="2400" dirty="0">
                <a:solidFill>
                  <a:srgbClr val="0000FF"/>
                </a:solidFill>
                <a:sym typeface="Calibri" pitchFamily="34" charset="0"/>
              </a:rPr>
              <a:t>6-</a:t>
            </a:r>
            <a:r>
              <a:rPr lang="zh-CN" altLang="en-US" sz="2400" dirty="0">
                <a:solidFill>
                  <a:srgbClr val="0000FF"/>
                </a:solidFill>
                <a:sym typeface="宋体" pitchFamily="2" charset="-122"/>
              </a:rPr>
              <a:t>次级绕组</a:t>
            </a:r>
            <a:r>
              <a:rPr lang="en-US" sz="2400" dirty="0">
                <a:solidFill>
                  <a:srgbClr val="0000FF"/>
                </a:solidFill>
                <a:sym typeface="Calibri" pitchFamily="34" charset="0"/>
              </a:rPr>
              <a:t>w2</a:t>
            </a:r>
            <a:r>
              <a:rPr lang="en-US" altLang="zh-CN" sz="2400" dirty="0">
                <a:solidFill>
                  <a:srgbClr val="0000FF"/>
                </a:solidFill>
                <a:sym typeface="Calibri" pitchFamily="34" charset="0"/>
              </a:rPr>
              <a:t>b</a:t>
            </a:r>
            <a:r>
              <a:rPr lang="en-US" sz="2400" dirty="0">
                <a:solidFill>
                  <a:srgbClr val="0000FF"/>
                </a:solidFill>
                <a:sym typeface="Calibri" pitchFamily="34" charset="0"/>
              </a:rPr>
              <a:t> </a:t>
            </a:r>
            <a:endParaRPr lang="zh-CN" altLang="en-US" sz="2400" dirty="0">
              <a:solidFill>
                <a:srgbClr val="0000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p:cNvSpPr>
            <a:spLocks noGrp="1"/>
          </p:cNvSpPr>
          <p:nvPr>
            <p:ph type="sldNum" sz="quarter" idx="12"/>
          </p:nvPr>
        </p:nvSpPr>
        <p:spPr/>
        <p:txBody>
          <a:bodyPr/>
          <a:lstStyle/>
          <a:p>
            <a:fld id="{DC568F5F-AE70-48C2-8B8D-FBEE1A8838D9}" type="slidenum">
              <a:rPr lang="zh-CN" altLang="en-US"/>
              <a:pPr/>
              <a:t>37</a:t>
            </a:fld>
            <a:endParaRPr lang="zh-CN" altLang="en-US" sz="1800">
              <a:solidFill>
                <a:schemeClr val="tx1"/>
              </a:solidFill>
              <a:latin typeface="Arial" pitchFamily="34" charset="0"/>
            </a:endParaRPr>
          </a:p>
        </p:txBody>
      </p:sp>
      <p:sp>
        <p:nvSpPr>
          <p:cNvPr id="3686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3686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 </a:t>
            </a:r>
            <a:r>
              <a:rPr lang="zh-CN" altLang="en-US" sz="3200" b="1">
                <a:solidFill>
                  <a:schemeClr val="tx2"/>
                </a:solidFill>
                <a:latin typeface="Calibri" pitchFamily="34" charset="0"/>
              </a:rPr>
              <a:t>差动变压器等效电路</a:t>
            </a:r>
            <a:endParaRPr lang="zh-CN" altLang="en-US"/>
          </a:p>
        </p:txBody>
      </p:sp>
      <p:sp>
        <p:nvSpPr>
          <p:cNvPr id="36868" name="矩形 2"/>
          <p:cNvSpPr>
            <a:spLocks noChangeArrowheads="1"/>
          </p:cNvSpPr>
          <p:nvPr/>
        </p:nvSpPr>
        <p:spPr bwMode="auto">
          <a:xfrm>
            <a:off x="468313" y="1176338"/>
            <a:ext cx="7848600"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05000"/>
              </a:lnSpc>
              <a:buFont typeface="Arial" panose="020B0604020202020204" pitchFamily="34" charset="0"/>
              <a:buChar char="•"/>
            </a:pPr>
            <a:r>
              <a:rPr lang="zh-CN" altLang="en-US" sz="2400" dirty="0">
                <a:solidFill>
                  <a:srgbClr val="000000"/>
                </a:solidFill>
                <a:sym typeface="宋体" pitchFamily="2" charset="-122"/>
              </a:rPr>
              <a:t>两个次级线圈反相串联；</a:t>
            </a:r>
            <a:endParaRPr lang="en-US" altLang="zh-CN" sz="2400" dirty="0">
              <a:solidFill>
                <a:srgbClr val="000000"/>
              </a:solidFill>
              <a:sym typeface="宋体" pitchFamily="2" charset="-122"/>
            </a:endParaRPr>
          </a:p>
          <a:p>
            <a:pPr marL="342900" indent="-342900" eaLnBrk="1" hangingPunct="1">
              <a:lnSpc>
                <a:spcPct val="105000"/>
              </a:lnSpc>
              <a:buFont typeface="Arial" panose="020B0604020202020204" pitchFamily="34" charset="0"/>
              <a:buChar char="•"/>
            </a:pPr>
            <a:r>
              <a:rPr lang="zh-CN" altLang="en-US" sz="2400" dirty="0">
                <a:solidFill>
                  <a:srgbClr val="000000"/>
                </a:solidFill>
                <a:sym typeface="宋体" pitchFamily="2" charset="-122"/>
              </a:rPr>
              <a:t>先忽略铁损、导磁体磁阻和线圈分布电容</a:t>
            </a:r>
            <a:endParaRPr lang="zh-CN" altLang="en-US" sz="2400" dirty="0"/>
          </a:p>
        </p:txBody>
      </p:sp>
      <p:pic>
        <p:nvPicPr>
          <p:cNvPr id="36870" name="对象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49813" y="2425700"/>
            <a:ext cx="15938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对象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1238" y="2947988"/>
            <a:ext cx="17668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对象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21238" y="3314700"/>
            <a:ext cx="3995737"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3" name="文本框 8"/>
          <p:cNvSpPr>
            <a:spLocks noChangeArrowheads="1"/>
          </p:cNvSpPr>
          <p:nvPr/>
        </p:nvSpPr>
        <p:spPr bwMode="auto">
          <a:xfrm>
            <a:off x="4610100" y="3938588"/>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ym typeface="Arial" pitchFamily="34" charset="0"/>
              </a:rPr>
              <a:t>幅值为：</a:t>
            </a:r>
            <a:endParaRPr lang="zh-CN" altLang="en-US"/>
          </a:p>
        </p:txBody>
      </p:sp>
      <p:pic>
        <p:nvPicPr>
          <p:cNvPr id="36874" name="对象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24400" y="4303713"/>
            <a:ext cx="1989138"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5" name="文本框 11"/>
          <p:cNvSpPr>
            <a:spLocks noChangeArrowheads="1"/>
          </p:cNvSpPr>
          <p:nvPr/>
        </p:nvSpPr>
        <p:spPr bwMode="auto">
          <a:xfrm>
            <a:off x="4610100" y="5143500"/>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ym typeface="Arial" pitchFamily="34" charset="0"/>
              </a:rPr>
              <a:t>输出阻抗为：</a:t>
            </a:r>
            <a:endParaRPr lang="zh-CN" altLang="en-US"/>
          </a:p>
        </p:txBody>
      </p:sp>
      <p:pic>
        <p:nvPicPr>
          <p:cNvPr id="36876" name="对象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30713" y="5613400"/>
            <a:ext cx="38862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4038" y="2019300"/>
            <a:ext cx="38385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cxnSp>
        <p:nvCxnSpPr>
          <p:cNvPr id="3" name="直接箭头连接符 2">
            <a:extLst>
              <a:ext uri="{FF2B5EF4-FFF2-40B4-BE49-F238E27FC236}">
                <a16:creationId xmlns:a16="http://schemas.microsoft.com/office/drawing/2014/main" id="{C29805C1-23A9-4C18-A7A0-4F954D9D7D10}"/>
              </a:ext>
            </a:extLst>
          </p:cNvPr>
          <p:cNvCxnSpPr/>
          <p:nvPr/>
        </p:nvCxnSpPr>
        <p:spPr bwMode="auto">
          <a:xfrm flipV="1">
            <a:off x="3275910" y="2636945"/>
            <a:ext cx="1448490" cy="311043"/>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箭头连接符 15">
            <a:extLst>
              <a:ext uri="{FF2B5EF4-FFF2-40B4-BE49-F238E27FC236}">
                <a16:creationId xmlns:a16="http://schemas.microsoft.com/office/drawing/2014/main" id="{A82410C3-4571-4A6C-B79C-32AC48DF3899}"/>
              </a:ext>
            </a:extLst>
          </p:cNvPr>
          <p:cNvCxnSpPr>
            <a:cxnSpLocks/>
          </p:cNvCxnSpPr>
          <p:nvPr/>
        </p:nvCxnSpPr>
        <p:spPr bwMode="auto">
          <a:xfrm flipV="1">
            <a:off x="3158436" y="3287766"/>
            <a:ext cx="1565964" cy="1414887"/>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17">
            <a:extLst>
              <a:ext uri="{FF2B5EF4-FFF2-40B4-BE49-F238E27FC236}">
                <a16:creationId xmlns:a16="http://schemas.microsoft.com/office/drawing/2014/main" id="{B9FA9586-2728-4520-9CCD-43ABD9B3C23F}"/>
              </a:ext>
            </a:extLst>
          </p:cNvPr>
          <p:cNvCxnSpPr>
            <a:cxnSpLocks/>
            <a:endCxn id="36872" idx="1"/>
          </p:cNvCxnSpPr>
          <p:nvPr/>
        </p:nvCxnSpPr>
        <p:spPr bwMode="auto">
          <a:xfrm>
            <a:off x="4322763" y="3358728"/>
            <a:ext cx="498475" cy="307604"/>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任意多边形: 形状 9">
            <a:extLst>
              <a:ext uri="{FF2B5EF4-FFF2-40B4-BE49-F238E27FC236}">
                <a16:creationId xmlns:a16="http://schemas.microsoft.com/office/drawing/2014/main" id="{5819DD38-FB2C-4532-A20C-D44053A8FB78}"/>
              </a:ext>
            </a:extLst>
          </p:cNvPr>
          <p:cNvSpPr/>
          <p:nvPr/>
        </p:nvSpPr>
        <p:spPr bwMode="auto">
          <a:xfrm>
            <a:off x="2513730" y="2539301"/>
            <a:ext cx="1675994" cy="2682875"/>
          </a:xfrm>
          <a:custGeom>
            <a:avLst/>
            <a:gdLst>
              <a:gd name="connsiteX0" fmla="*/ 1550270 w 1675994"/>
              <a:gd name="connsiteY0" fmla="*/ 468059 h 2682875"/>
              <a:gd name="connsiteX1" fmla="*/ 1123550 w 1675994"/>
              <a:gd name="connsiteY1" fmla="*/ 699 h 2682875"/>
              <a:gd name="connsiteX2" fmla="*/ 422510 w 1675994"/>
              <a:gd name="connsiteY2" fmla="*/ 376619 h 2682875"/>
              <a:gd name="connsiteX3" fmla="*/ 463150 w 1675994"/>
              <a:gd name="connsiteY3" fmla="*/ 925259 h 2682875"/>
              <a:gd name="connsiteX4" fmla="*/ 869550 w 1675994"/>
              <a:gd name="connsiteY4" fmla="*/ 1179259 h 2682875"/>
              <a:gd name="connsiteX5" fmla="*/ 889870 w 1675994"/>
              <a:gd name="connsiteY5" fmla="*/ 2561019 h 2682875"/>
              <a:gd name="connsiteX6" fmla="*/ 117710 w 1675994"/>
              <a:gd name="connsiteY6" fmla="*/ 2510219 h 2682875"/>
              <a:gd name="connsiteX7" fmla="*/ 117710 w 1675994"/>
              <a:gd name="connsiteY7" fmla="*/ 1646619 h 2682875"/>
              <a:gd name="connsiteX8" fmla="*/ 1214990 w 1675994"/>
              <a:gd name="connsiteY8" fmla="*/ 1514539 h 2682875"/>
              <a:gd name="connsiteX9" fmla="*/ 1651870 w 1675994"/>
              <a:gd name="connsiteY9" fmla="*/ 1514539 h 2682875"/>
              <a:gd name="connsiteX10" fmla="*/ 1580750 w 1675994"/>
              <a:gd name="connsiteY10" fmla="*/ 1067499 h 268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5994" h="2682875">
                <a:moveTo>
                  <a:pt x="1550270" y="468059"/>
                </a:moveTo>
                <a:cubicBezTo>
                  <a:pt x="1430890" y="241999"/>
                  <a:pt x="1311510" y="15939"/>
                  <a:pt x="1123550" y="699"/>
                </a:cubicBezTo>
                <a:cubicBezTo>
                  <a:pt x="935590" y="-14541"/>
                  <a:pt x="532577" y="222526"/>
                  <a:pt x="422510" y="376619"/>
                </a:cubicBezTo>
                <a:cubicBezTo>
                  <a:pt x="312443" y="530712"/>
                  <a:pt x="388643" y="791486"/>
                  <a:pt x="463150" y="925259"/>
                </a:cubicBezTo>
                <a:cubicBezTo>
                  <a:pt x="537657" y="1059032"/>
                  <a:pt x="798430" y="906632"/>
                  <a:pt x="869550" y="1179259"/>
                </a:cubicBezTo>
                <a:cubicBezTo>
                  <a:pt x="940670" y="1451886"/>
                  <a:pt x="1015177" y="2339192"/>
                  <a:pt x="889870" y="2561019"/>
                </a:cubicBezTo>
                <a:cubicBezTo>
                  <a:pt x="764563" y="2782846"/>
                  <a:pt x="246403" y="2662619"/>
                  <a:pt x="117710" y="2510219"/>
                </a:cubicBezTo>
                <a:cubicBezTo>
                  <a:pt x="-10983" y="2357819"/>
                  <a:pt x="-65170" y="1812566"/>
                  <a:pt x="117710" y="1646619"/>
                </a:cubicBezTo>
                <a:cubicBezTo>
                  <a:pt x="300590" y="1480672"/>
                  <a:pt x="959297" y="1536552"/>
                  <a:pt x="1214990" y="1514539"/>
                </a:cubicBezTo>
                <a:cubicBezTo>
                  <a:pt x="1470683" y="1492526"/>
                  <a:pt x="1590910" y="1589046"/>
                  <a:pt x="1651870" y="1514539"/>
                </a:cubicBezTo>
                <a:cubicBezTo>
                  <a:pt x="1712830" y="1440032"/>
                  <a:pt x="1646790" y="1253765"/>
                  <a:pt x="1580750" y="1067499"/>
                </a:cubicBezTo>
              </a:path>
            </a:pathLst>
          </a:custGeom>
          <a:noFill/>
          <a:ln w="25400" cap="flat" cmpd="sng" algn="ctr">
            <a:solidFill>
              <a:srgbClr val="FFC000"/>
            </a:solidFill>
            <a:prstDash val="solid"/>
            <a:round/>
            <a:headEnd type="none" w="lg" len="lg"/>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rgbClr val="0000FF"/>
              </a:solidFill>
              <a:effectLst/>
              <a:latin typeface="Arial" pitchFamily="34" charset="0"/>
              <a:ea typeface="宋体" pitchFamily="2" charset="-122"/>
            </a:endParaRPr>
          </a:p>
        </p:txBody>
      </p:sp>
      <p:cxnSp>
        <p:nvCxnSpPr>
          <p:cNvPr id="25" name="直接箭头连接符 24">
            <a:extLst>
              <a:ext uri="{FF2B5EF4-FFF2-40B4-BE49-F238E27FC236}">
                <a16:creationId xmlns:a16="http://schemas.microsoft.com/office/drawing/2014/main" id="{9A2F6567-8DE5-4E83-8F3A-908EE7FFA717}"/>
              </a:ext>
            </a:extLst>
          </p:cNvPr>
          <p:cNvCxnSpPr>
            <a:cxnSpLocks/>
            <a:endCxn id="36876" idx="1"/>
          </p:cNvCxnSpPr>
          <p:nvPr/>
        </p:nvCxnSpPr>
        <p:spPr bwMode="auto">
          <a:xfrm>
            <a:off x="3419920" y="5070750"/>
            <a:ext cx="1010793" cy="810144"/>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矩形 14">
            <a:extLst>
              <a:ext uri="{FF2B5EF4-FFF2-40B4-BE49-F238E27FC236}">
                <a16:creationId xmlns:a16="http://schemas.microsoft.com/office/drawing/2014/main" id="{42968740-2B2E-409B-ABA7-6D8BF1C28501}"/>
              </a:ext>
            </a:extLst>
          </p:cNvPr>
          <p:cNvSpPr/>
          <p:nvPr/>
        </p:nvSpPr>
        <p:spPr>
          <a:xfrm>
            <a:off x="843427" y="5590273"/>
            <a:ext cx="3134191" cy="923330"/>
          </a:xfrm>
          <a:prstGeom prst="rect">
            <a:avLst/>
          </a:prstGeom>
        </p:spPr>
        <p:txBody>
          <a:bodyPr wrap="none">
            <a:spAutoFit/>
          </a:bodyPr>
          <a:lstStyle/>
          <a:p>
            <a:r>
              <a:rPr lang="zh-CN" altLang="en-US" dirty="0">
                <a:solidFill>
                  <a:srgbClr val="0000FF"/>
                </a:solidFill>
                <a:latin typeface="Calibri" pitchFamily="34" charset="0"/>
              </a:rPr>
              <a:t>本质上，铁芯的运动改变了</a:t>
            </a:r>
            <a:endParaRPr lang="en-US" altLang="zh-CN" dirty="0">
              <a:solidFill>
                <a:srgbClr val="0000FF"/>
              </a:solidFill>
              <a:latin typeface="Calibri" pitchFamily="34" charset="0"/>
            </a:endParaRPr>
          </a:p>
          <a:p>
            <a:r>
              <a:rPr lang="zh-CN" altLang="en-US" dirty="0">
                <a:solidFill>
                  <a:srgbClr val="0000FF"/>
                </a:solidFill>
              </a:rPr>
              <a:t>互感系数</a:t>
            </a:r>
            <a:r>
              <a:rPr lang="en-US" altLang="zh-CN" i="1" dirty="0">
                <a:solidFill>
                  <a:srgbClr val="0000FF"/>
                </a:solidFill>
              </a:rPr>
              <a:t>M</a:t>
            </a:r>
            <a:r>
              <a:rPr lang="en-US" altLang="zh-CN" i="1" baseline="-25000" dirty="0">
                <a:solidFill>
                  <a:srgbClr val="0000FF"/>
                </a:solidFill>
              </a:rPr>
              <a:t>1</a:t>
            </a:r>
            <a:r>
              <a:rPr lang="zh-CN" altLang="en-US" dirty="0">
                <a:solidFill>
                  <a:srgbClr val="0000FF"/>
                </a:solidFill>
              </a:rPr>
              <a:t>和</a:t>
            </a:r>
            <a:r>
              <a:rPr lang="en-US" altLang="zh-CN" i="1" dirty="0">
                <a:solidFill>
                  <a:srgbClr val="0000FF"/>
                </a:solidFill>
              </a:rPr>
              <a:t>M</a:t>
            </a:r>
            <a:r>
              <a:rPr lang="en-US" altLang="zh-CN" i="1" baseline="-25000" dirty="0">
                <a:solidFill>
                  <a:srgbClr val="0000FF"/>
                </a:solidFill>
              </a:rPr>
              <a:t>2</a:t>
            </a:r>
            <a:r>
              <a:rPr lang="zh-CN" altLang="en-US" dirty="0">
                <a:solidFill>
                  <a:srgbClr val="0000FF"/>
                </a:solidFill>
              </a:rPr>
              <a:t>，导致输出</a:t>
            </a:r>
            <a:endParaRPr lang="en-US" altLang="zh-CN" dirty="0">
              <a:solidFill>
                <a:srgbClr val="0000FF"/>
              </a:solidFill>
            </a:endParaRPr>
          </a:p>
          <a:p>
            <a:r>
              <a:rPr lang="zh-CN" altLang="en-US" dirty="0">
                <a:solidFill>
                  <a:srgbClr val="0000FF"/>
                </a:solidFill>
              </a:rPr>
              <a:t>电压</a:t>
            </a:r>
            <a:r>
              <a:rPr lang="en-US" altLang="zh-CN" i="1" dirty="0">
                <a:solidFill>
                  <a:srgbClr val="0000FF"/>
                </a:solidFill>
              </a:rPr>
              <a:t>e</a:t>
            </a:r>
            <a:r>
              <a:rPr lang="en-US" altLang="zh-CN" i="1" baseline="-20000" dirty="0">
                <a:solidFill>
                  <a:srgbClr val="0000FF"/>
                </a:solidFill>
              </a:rPr>
              <a:t>2</a:t>
            </a:r>
            <a:r>
              <a:rPr lang="zh-CN" altLang="en-US" dirty="0">
                <a:solidFill>
                  <a:srgbClr val="0000FF"/>
                </a:solidFill>
              </a:rPr>
              <a:t>发生变化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xit" presetSubtype="0" fill="hold" nodeType="clickEffect">
                                  <p:stCondLst>
                                    <p:cond delay="0"/>
                                  </p:stCondLst>
                                  <p:childTnLst>
                                    <p:animEffect transition="out" filter="fade">
                                      <p:cBhvr>
                                        <p:cTn id="19" dur="1000"/>
                                        <p:tgtEl>
                                          <p:spTgt spid="3"/>
                                        </p:tgtEl>
                                      </p:cBhvr>
                                    </p:animEffect>
                                    <p:anim calcmode="lin" valueType="num">
                                      <p:cBhvr>
                                        <p:cTn id="20" dur="1000"/>
                                        <p:tgtEl>
                                          <p:spTgt spid="3"/>
                                        </p:tgtEl>
                                        <p:attrNameLst>
                                          <p:attrName>ppt_x</p:attrName>
                                        </p:attrNameLst>
                                      </p:cBhvr>
                                      <p:tavLst>
                                        <p:tav tm="0">
                                          <p:val>
                                            <p:strVal val="ppt_x"/>
                                          </p:val>
                                        </p:tav>
                                        <p:tav tm="100000">
                                          <p:val>
                                            <p:strVal val="ppt_x"/>
                                          </p:val>
                                        </p:tav>
                                      </p:tavLst>
                                    </p:anim>
                                    <p:anim calcmode="lin" valueType="num">
                                      <p:cBhvr>
                                        <p:cTn id="21" dur="1000"/>
                                        <p:tgtEl>
                                          <p:spTgt spid="3"/>
                                        </p:tgtEl>
                                        <p:attrNameLst>
                                          <p:attrName>ppt_y</p:attrName>
                                        </p:attrNameLst>
                                      </p:cBhvr>
                                      <p:tavLst>
                                        <p:tav tm="0">
                                          <p:val>
                                            <p:strVal val="ppt_y"/>
                                          </p:val>
                                        </p:tav>
                                        <p:tav tm="100000">
                                          <p:val>
                                            <p:strVal val="ppt_y+.1"/>
                                          </p:val>
                                        </p:tav>
                                      </p:tavLst>
                                    </p:anim>
                                    <p:set>
                                      <p:cBhvr>
                                        <p:cTn id="22" dur="1" fill="hold">
                                          <p:stCondLst>
                                            <p:cond delay="999"/>
                                          </p:stCondLst>
                                        </p:cTn>
                                        <p:tgtEl>
                                          <p:spTgt spid="3"/>
                                        </p:tgtEl>
                                        <p:attrNameLst>
                                          <p:attrName>style.visibility</p:attrName>
                                        </p:attrNameLst>
                                      </p:cBhvr>
                                      <p:to>
                                        <p:strVal val="hidden"/>
                                      </p:to>
                                    </p:set>
                                  </p:childTnLst>
                                </p:cTn>
                              </p:par>
                              <p:par>
                                <p:cTn id="23" presetID="42" presetClass="exit" presetSubtype="0" fill="hold" nodeType="withEffect">
                                  <p:stCondLst>
                                    <p:cond delay="0"/>
                                  </p:stCondLst>
                                  <p:childTnLst>
                                    <p:animEffect transition="out" filter="fade">
                                      <p:cBhvr>
                                        <p:cTn id="24" dur="1000"/>
                                        <p:tgtEl>
                                          <p:spTgt spid="16"/>
                                        </p:tgtEl>
                                      </p:cBhvr>
                                    </p:animEffect>
                                    <p:anim calcmode="lin" valueType="num">
                                      <p:cBhvr>
                                        <p:cTn id="25" dur="1000"/>
                                        <p:tgtEl>
                                          <p:spTgt spid="16"/>
                                        </p:tgtEl>
                                        <p:attrNameLst>
                                          <p:attrName>ppt_x</p:attrName>
                                        </p:attrNameLst>
                                      </p:cBhvr>
                                      <p:tavLst>
                                        <p:tav tm="0">
                                          <p:val>
                                            <p:strVal val="ppt_x"/>
                                          </p:val>
                                        </p:tav>
                                        <p:tav tm="100000">
                                          <p:val>
                                            <p:strVal val="ppt_x"/>
                                          </p:val>
                                        </p:tav>
                                      </p:tavLst>
                                    </p:anim>
                                    <p:anim calcmode="lin" valueType="num">
                                      <p:cBhvr>
                                        <p:cTn id="26" dur="1000"/>
                                        <p:tgtEl>
                                          <p:spTgt spid="16"/>
                                        </p:tgtEl>
                                        <p:attrNameLst>
                                          <p:attrName>ppt_y</p:attrName>
                                        </p:attrNameLst>
                                      </p:cBhvr>
                                      <p:tavLst>
                                        <p:tav tm="0">
                                          <p:val>
                                            <p:strVal val="ppt_y"/>
                                          </p:val>
                                        </p:tav>
                                        <p:tav tm="100000">
                                          <p:val>
                                            <p:strVal val="ppt_y+.1"/>
                                          </p:val>
                                        </p:tav>
                                      </p:tavLst>
                                    </p:anim>
                                    <p:set>
                                      <p:cBhvr>
                                        <p:cTn id="27" dur="1" fill="hold">
                                          <p:stCondLst>
                                            <p:cond delay="999"/>
                                          </p:stCondLst>
                                        </p:cTn>
                                        <p:tgtEl>
                                          <p:spTgt spid="16"/>
                                        </p:tgtEl>
                                        <p:attrNameLst>
                                          <p:attrName>style.visibility</p:attrName>
                                        </p:attrNameLst>
                                      </p:cBhvr>
                                      <p:to>
                                        <p:strVal val="hidden"/>
                                      </p:to>
                                    </p:set>
                                  </p:childTnLst>
                                </p:cTn>
                              </p:par>
                              <p:par>
                                <p:cTn id="28" presetID="42" presetClass="exit" presetSubtype="0" fill="hold" nodeType="withEffect">
                                  <p:stCondLst>
                                    <p:cond delay="0"/>
                                  </p:stCondLst>
                                  <p:childTnLst>
                                    <p:animEffect transition="out" filter="fade">
                                      <p:cBhvr>
                                        <p:cTn id="29" dur="1000"/>
                                        <p:tgtEl>
                                          <p:spTgt spid="18"/>
                                        </p:tgtEl>
                                      </p:cBhvr>
                                    </p:animEffect>
                                    <p:anim calcmode="lin" valueType="num">
                                      <p:cBhvr>
                                        <p:cTn id="30" dur="1000"/>
                                        <p:tgtEl>
                                          <p:spTgt spid="18"/>
                                        </p:tgtEl>
                                        <p:attrNameLst>
                                          <p:attrName>ppt_x</p:attrName>
                                        </p:attrNameLst>
                                      </p:cBhvr>
                                      <p:tavLst>
                                        <p:tav tm="0">
                                          <p:val>
                                            <p:strVal val="ppt_x"/>
                                          </p:val>
                                        </p:tav>
                                        <p:tav tm="100000">
                                          <p:val>
                                            <p:strVal val="ppt_x"/>
                                          </p:val>
                                        </p:tav>
                                      </p:tavLst>
                                    </p:anim>
                                    <p:anim calcmode="lin" valueType="num">
                                      <p:cBhvr>
                                        <p:cTn id="31" dur="1000"/>
                                        <p:tgtEl>
                                          <p:spTgt spid="18"/>
                                        </p:tgtEl>
                                        <p:attrNameLst>
                                          <p:attrName>ppt_y</p:attrName>
                                        </p:attrNameLst>
                                      </p:cBhvr>
                                      <p:tavLst>
                                        <p:tav tm="0">
                                          <p:val>
                                            <p:strVal val="ppt_y"/>
                                          </p:val>
                                        </p:tav>
                                        <p:tav tm="100000">
                                          <p:val>
                                            <p:strVal val="ppt_y+.1"/>
                                          </p:val>
                                        </p:tav>
                                      </p:tavLst>
                                    </p:anim>
                                    <p:set>
                                      <p:cBhvr>
                                        <p:cTn id="32" dur="1" fill="hold">
                                          <p:stCondLst>
                                            <p:cond delay="9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E958B4F9-A932-4C95-B089-2BDD51941C9D}" type="slidenum">
              <a:rPr lang="zh-CN" altLang="en-US"/>
              <a:pPr/>
              <a:t>38</a:t>
            </a:fld>
            <a:endParaRPr lang="zh-CN" altLang="en-US" sz="1800">
              <a:solidFill>
                <a:schemeClr val="tx1"/>
              </a:solidFill>
              <a:latin typeface="Arial" pitchFamily="34" charset="0"/>
            </a:endParaRPr>
          </a:p>
        </p:txBody>
      </p:sp>
      <p:sp>
        <p:nvSpPr>
          <p:cNvPr id="37893" name="Text Box 2"/>
          <p:cNvSpPr>
            <a:spLocks noChangeArrowheads="1"/>
          </p:cNvSpPr>
          <p:nvPr/>
        </p:nvSpPr>
        <p:spPr bwMode="auto">
          <a:xfrm>
            <a:off x="522288" y="368300"/>
            <a:ext cx="8324850"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差动变压器输出电势</a:t>
            </a:r>
            <a:r>
              <a:rPr lang="en-US" sz="2400" i="1" dirty="0">
                <a:latin typeface="Times New Roman" pitchFamily="18" charset="0"/>
                <a:ea typeface="楷体_GB2312" pitchFamily="49" charset="-122"/>
                <a:sym typeface="Times New Roman" pitchFamily="18" charset="0"/>
              </a:rPr>
              <a:t>e</a:t>
            </a:r>
            <a:r>
              <a:rPr lang="en-US" sz="2400" baseline="-25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与衔铁位移</a:t>
            </a:r>
            <a:r>
              <a:rPr lang="en-US" sz="2400" i="1" dirty="0">
                <a:latin typeface="Times New Roman" pitchFamily="18" charset="0"/>
                <a:ea typeface="楷体_GB2312" pitchFamily="49" charset="-122"/>
                <a:sym typeface="Times New Roman" pitchFamily="18" charset="0"/>
              </a:rPr>
              <a:t>x</a:t>
            </a:r>
            <a:r>
              <a:rPr lang="zh-CN" altLang="en-US" sz="2400" dirty="0">
                <a:latin typeface="楷体_GB2312" pitchFamily="49" charset="-122"/>
                <a:ea typeface="楷体_GB2312" pitchFamily="49" charset="-122"/>
                <a:sym typeface="楷体_GB2312" pitchFamily="49" charset="-122"/>
              </a:rPr>
              <a:t>的关系</a:t>
            </a:r>
            <a:endParaRPr lang="zh-CN" altLang="en-US" dirty="0"/>
          </a:p>
        </p:txBody>
      </p:sp>
      <p:grpSp>
        <p:nvGrpSpPr>
          <p:cNvPr id="37894" name="Group 3"/>
          <p:cNvGrpSpPr>
            <a:grpSpLocks/>
          </p:cNvGrpSpPr>
          <p:nvPr/>
        </p:nvGrpSpPr>
        <p:grpSpPr bwMode="auto">
          <a:xfrm>
            <a:off x="3275910" y="1199184"/>
            <a:ext cx="5761038" cy="4524376"/>
            <a:chOff x="0" y="0"/>
            <a:chExt cx="3629" cy="2850"/>
          </a:xfrm>
        </p:grpSpPr>
        <p:pic>
          <p:nvPicPr>
            <p:cNvPr id="3789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629" cy="2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Text Box 5"/>
            <p:cNvSpPr>
              <a:spLocks noChangeArrowheads="1"/>
            </p:cNvSpPr>
            <p:nvPr/>
          </p:nvSpPr>
          <p:spPr bwMode="auto">
            <a:xfrm>
              <a:off x="243" y="2302"/>
              <a:ext cx="3142"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20000"/>
                </a:lnSpc>
              </a:pPr>
              <a:r>
                <a:rPr lang="zh-CN" altLang="en-US" sz="2200" dirty="0">
                  <a:latin typeface="楷体_GB2312" pitchFamily="49" charset="-122"/>
                  <a:ea typeface="楷体_GB2312" pitchFamily="49" charset="-122"/>
                  <a:sym typeface="楷体_GB2312" pitchFamily="49" charset="-122"/>
                </a:rPr>
                <a:t>图</a:t>
              </a:r>
              <a:r>
                <a:rPr lang="en-US" sz="2200" dirty="0">
                  <a:latin typeface="楷体_GB2312" pitchFamily="49" charset="-122"/>
                  <a:ea typeface="楷体_GB2312" pitchFamily="49" charset="-122"/>
                  <a:sym typeface="楷体_GB2312" pitchFamily="49" charset="-122"/>
                </a:rPr>
                <a:t>4-16 </a:t>
              </a:r>
              <a:r>
                <a:rPr lang="zh-CN" altLang="en-US" sz="2200" dirty="0">
                  <a:latin typeface="楷体_GB2312" pitchFamily="49" charset="-122"/>
                  <a:ea typeface="楷体_GB2312" pitchFamily="49" charset="-122"/>
                  <a:sym typeface="楷体_GB2312" pitchFamily="49" charset="-122"/>
                </a:rPr>
                <a:t>差动变压器的输出特征（</a:t>
              </a:r>
              <a:r>
                <a:rPr lang="zh-CN" altLang="en-US" sz="2200" dirty="0">
                  <a:solidFill>
                    <a:srgbClr val="0000FF"/>
                  </a:solidFill>
                  <a:latin typeface="楷体_GB2312" pitchFamily="49" charset="-122"/>
                  <a:ea typeface="楷体_GB2312" pitchFamily="49" charset="-122"/>
                  <a:sym typeface="楷体_GB2312" pitchFamily="49" charset="-122"/>
                </a:rPr>
                <a:t>重要</a:t>
              </a:r>
              <a:r>
                <a:rPr lang="zh-CN" altLang="en-US" sz="2200" dirty="0">
                  <a:latin typeface="楷体_GB2312" pitchFamily="49" charset="-122"/>
                  <a:ea typeface="楷体_GB2312" pitchFamily="49" charset="-122"/>
                  <a:sym typeface="楷体_GB2312" pitchFamily="49" charset="-122"/>
                </a:rPr>
                <a:t>）</a:t>
              </a:r>
            </a:p>
            <a:p>
              <a:pPr algn="ctr" eaLnBrk="1" hangingPunct="1">
                <a:lnSpc>
                  <a:spcPct val="120000"/>
                </a:lnSpc>
              </a:pPr>
              <a:r>
                <a:rPr lang="zh-CN" altLang="en-US" sz="2200" dirty="0">
                  <a:latin typeface="楷体_GB2312" pitchFamily="49" charset="-122"/>
                  <a:ea typeface="楷体_GB2312" pitchFamily="49" charset="-122"/>
                  <a:sym typeface="楷体_GB2312" pitchFamily="49" charset="-122"/>
                </a:rPr>
                <a:t>（</a:t>
              </a:r>
              <a:r>
                <a:rPr lang="en-US" sz="2200" dirty="0">
                  <a:latin typeface="楷体_GB2312" pitchFamily="49" charset="-122"/>
                  <a:ea typeface="楷体_GB2312" pitchFamily="49" charset="-122"/>
                  <a:sym typeface="楷体_GB2312" pitchFamily="49" charset="-122"/>
                </a:rPr>
                <a:t>Ⅰ</a:t>
              </a:r>
              <a:r>
                <a:rPr lang="zh-CN" altLang="en-US" sz="2200" dirty="0">
                  <a:latin typeface="楷体_GB2312" pitchFamily="49" charset="-122"/>
                  <a:ea typeface="楷体_GB2312" pitchFamily="49" charset="-122"/>
                  <a:sym typeface="楷体_GB2312" pitchFamily="49" charset="-122"/>
                </a:rPr>
                <a:t>、</a:t>
              </a:r>
              <a:r>
                <a:rPr lang="en-US" sz="2200" dirty="0">
                  <a:latin typeface="楷体_GB2312" pitchFamily="49" charset="-122"/>
                  <a:ea typeface="楷体_GB2312" pitchFamily="49" charset="-122"/>
                  <a:sym typeface="楷体_GB2312" pitchFamily="49" charset="-122"/>
                </a:rPr>
                <a:t>Ⅱ</a:t>
              </a:r>
              <a:r>
                <a:rPr lang="zh-CN" altLang="en-US" sz="2200" dirty="0">
                  <a:latin typeface="楷体_GB2312" pitchFamily="49" charset="-122"/>
                  <a:ea typeface="楷体_GB2312" pitchFamily="49" charset="-122"/>
                  <a:sym typeface="楷体_GB2312" pitchFamily="49" charset="-122"/>
                </a:rPr>
                <a:t>为次级线圈）</a:t>
              </a:r>
              <a:endParaRPr lang="zh-CN" altLang="en-US" dirty="0"/>
            </a:p>
          </p:txBody>
        </p:sp>
      </p:grpSp>
      <p:sp>
        <p:nvSpPr>
          <p:cNvPr id="7" name="Text Box 2">
            <a:extLst>
              <a:ext uri="{FF2B5EF4-FFF2-40B4-BE49-F238E27FC236}">
                <a16:creationId xmlns:a16="http://schemas.microsoft.com/office/drawing/2014/main" id="{4F3DF01F-4A8D-47C5-BDBB-B17BE2676AAF}"/>
              </a:ext>
            </a:extLst>
          </p:cNvPr>
          <p:cNvSpPr>
            <a:spLocks noChangeArrowheads="1"/>
          </p:cNvSpPr>
          <p:nvPr/>
        </p:nvSpPr>
        <p:spPr bwMode="auto">
          <a:xfrm>
            <a:off x="611725" y="5723587"/>
            <a:ext cx="8324850" cy="113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sz="2400"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zh-CN" altLang="en-US" sz="2400"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由于</a:t>
            </a:r>
            <a:r>
              <a:rPr lang="en-US" altLang="zh-CN" sz="2400" i="1"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e2</a:t>
            </a:r>
            <a:r>
              <a:rPr lang="zh-CN" altLang="en-US" sz="2400"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为交流电压，所以只能反映 </a:t>
            </a:r>
            <a:r>
              <a:rPr lang="en-US" altLang="zh-CN" sz="2400" i="1"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x </a:t>
            </a:r>
            <a:r>
              <a:rPr lang="zh-CN" altLang="en-US" sz="2400"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的大小，而不能反映其方向，如需方向信息，需采用</a:t>
            </a:r>
            <a:r>
              <a:rPr lang="zh-CN" altLang="en-US" sz="2400" dirty="0">
                <a:solidFill>
                  <a:srgbClr val="1EA2EE"/>
                </a:solidFill>
                <a:highlight>
                  <a:srgbClr val="FFFF00"/>
                </a:highlight>
                <a:latin typeface="Times New Roman" panose="02020603050405020304" pitchFamily="18" charset="0"/>
                <a:ea typeface="楷体_GB2312" pitchFamily="49" charset="-122"/>
                <a:cs typeface="Times New Roman" panose="02020603050405020304" pitchFamily="18" charset="0"/>
                <a:sym typeface="楷体_GB2312" pitchFamily="49" charset="-122"/>
              </a:rPr>
              <a:t>相敏检波电路</a:t>
            </a:r>
            <a:r>
              <a:rPr lang="zh-CN" altLang="en-US" sz="2400"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a:t>
            </a:r>
            <a:endParaRPr lang="zh-CN" altLang="en-US" dirty="0">
              <a:solidFill>
                <a:srgbClr val="1EA2EE"/>
              </a:solidFill>
              <a:latin typeface="Times New Roman" panose="02020603050405020304" pitchFamily="18" charset="0"/>
              <a:cs typeface="Times New Roman" panose="02020603050405020304" pitchFamily="18" charset="0"/>
            </a:endParaRPr>
          </a:p>
        </p:txBody>
      </p:sp>
      <p:pic>
        <p:nvPicPr>
          <p:cNvPr id="8" name="Picture 8">
            <a:extLst>
              <a:ext uri="{FF2B5EF4-FFF2-40B4-BE49-F238E27FC236}">
                <a16:creationId xmlns:a16="http://schemas.microsoft.com/office/drawing/2014/main" id="{EAE575C4-5E0E-4864-A5CC-6B18427FD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052" y="1424832"/>
            <a:ext cx="3435603" cy="2796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Text Box 7"/>
          <p:cNvSpPr>
            <a:spLocks noChangeArrowheads="1"/>
          </p:cNvSpPr>
          <p:nvPr/>
        </p:nvSpPr>
        <p:spPr bwMode="auto">
          <a:xfrm>
            <a:off x="385763" y="458788"/>
            <a:ext cx="540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a:sym typeface="Arial" pitchFamily="34" charset="0"/>
              </a:rPr>
              <a:t>差动变压器次级线圈输出有效值为</a:t>
            </a:r>
            <a:endParaRPr lang="zh-CN" altLang="en-US"/>
          </a:p>
        </p:txBody>
      </p:sp>
      <p:pic>
        <p:nvPicPr>
          <p:cNvPr id="38918"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6038" y="1023937"/>
            <a:ext cx="305911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Text Box 9"/>
          <p:cNvSpPr>
            <a:spLocks noChangeArrowheads="1"/>
          </p:cNvSpPr>
          <p:nvPr/>
        </p:nvSpPr>
        <p:spPr bwMode="auto">
          <a:xfrm>
            <a:off x="476250" y="1808163"/>
            <a:ext cx="369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a:sym typeface="Arial" pitchFamily="34" charset="0"/>
              </a:rPr>
              <a:t>根据理论推算可得</a:t>
            </a:r>
            <a:endParaRPr lang="zh-CN" altLang="en-US"/>
          </a:p>
        </p:txBody>
      </p:sp>
      <p:pic>
        <p:nvPicPr>
          <p:cNvPr id="38920" name="Object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6038" y="2252661"/>
            <a:ext cx="3059112" cy="606425"/>
          </a:xfrm>
          <a:prstGeom prst="rect">
            <a:avLst/>
          </a:prstGeom>
          <a:solidFill>
            <a:schemeClr val="bg2"/>
          </a:solidFill>
          <a:ln>
            <a:noFill/>
          </a:ln>
          <a:extLst/>
        </p:spPr>
      </p:pic>
      <p:sp>
        <p:nvSpPr>
          <p:cNvPr id="38921" name="Text Box 11"/>
          <p:cNvSpPr>
            <a:spLocks noChangeArrowheads="1"/>
          </p:cNvSpPr>
          <p:nvPr/>
        </p:nvSpPr>
        <p:spPr bwMode="auto">
          <a:xfrm>
            <a:off x="476250" y="3545680"/>
            <a:ext cx="103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sym typeface="Arial" pitchFamily="34" charset="0"/>
              </a:rPr>
              <a:t>其中</a:t>
            </a:r>
            <a:endParaRPr lang="zh-CN" altLang="en-US" dirty="0"/>
          </a:p>
        </p:txBody>
      </p:sp>
      <p:pic>
        <p:nvPicPr>
          <p:cNvPr id="38922" name="Object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00" y="4689475"/>
            <a:ext cx="6266464" cy="197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3" name="AutoShape 13"/>
          <p:cNvSpPr>
            <a:spLocks noChangeArrowheads="1"/>
          </p:cNvSpPr>
          <p:nvPr/>
        </p:nvSpPr>
        <p:spPr bwMode="auto">
          <a:xfrm rot="10800000">
            <a:off x="1291360" y="3173284"/>
            <a:ext cx="1169987" cy="471617"/>
          </a:xfrm>
          <a:prstGeom prst="wedgeRoundRectCallout">
            <a:avLst>
              <a:gd name="adj1" fmla="val -35218"/>
              <a:gd name="adj2" fmla="val 160588"/>
              <a:gd name="adj3" fmla="val 16667"/>
            </a:avLst>
          </a:prstGeom>
          <a:solidFill>
            <a:srgbClr val="C0C0C0"/>
          </a:solidFill>
          <a:ln w="9525" cmpd="sng">
            <a:solidFill>
              <a:srgbClr val="3366FF"/>
            </a:solidFill>
            <a:miter lim="800000"/>
            <a:headEnd/>
            <a:tailEnd/>
          </a:ln>
        </p:spPr>
        <p:txBody>
          <a:bodyPr rot="10800000"/>
          <a:lstStyle/>
          <a:p>
            <a:pPr algn="ctr" eaLnBrk="1" hangingPunct="1"/>
            <a:r>
              <a:rPr lang="zh-CN" altLang="en-US" sz="2400" dirty="0">
                <a:solidFill>
                  <a:srgbClr val="000000"/>
                </a:solidFill>
                <a:sym typeface="宋体" pitchFamily="2" charset="-122"/>
              </a:rPr>
              <a:t>灵敏度</a:t>
            </a:r>
            <a:endParaRPr lang="zh-CN" altLang="en-US" sz="2400" dirty="0"/>
          </a:p>
        </p:txBody>
      </p:sp>
      <p:sp>
        <p:nvSpPr>
          <p:cNvPr id="38924" name="AutoShape 15"/>
          <p:cNvSpPr>
            <a:spLocks noChangeArrowheads="1"/>
          </p:cNvSpPr>
          <p:nvPr/>
        </p:nvSpPr>
        <p:spPr bwMode="auto">
          <a:xfrm rot="10800000">
            <a:off x="3203904" y="3292446"/>
            <a:ext cx="1800126" cy="457199"/>
          </a:xfrm>
          <a:prstGeom prst="wedgeRoundRectCallout">
            <a:avLst>
              <a:gd name="adj1" fmla="val 37767"/>
              <a:gd name="adj2" fmla="val 180541"/>
              <a:gd name="adj3" fmla="val 16667"/>
            </a:avLst>
          </a:prstGeom>
          <a:solidFill>
            <a:srgbClr val="C0C0C0"/>
          </a:solidFill>
          <a:ln w="9525" cmpd="sng">
            <a:solidFill>
              <a:srgbClr val="3366FF"/>
            </a:solidFill>
            <a:miter lim="800000"/>
            <a:headEnd/>
            <a:tailEnd/>
          </a:ln>
        </p:spPr>
        <p:txBody>
          <a:bodyPr rot="10800000"/>
          <a:lstStyle/>
          <a:p>
            <a:pPr algn="ctr" eaLnBrk="1" hangingPunct="1"/>
            <a:r>
              <a:rPr lang="zh-CN" altLang="en-US" sz="2400" dirty="0">
                <a:solidFill>
                  <a:srgbClr val="000000"/>
                </a:solidFill>
                <a:sym typeface="宋体" pitchFamily="2" charset="-122"/>
              </a:rPr>
              <a:t>非线性误差</a:t>
            </a:r>
            <a:endParaRPr lang="zh-CN" altLang="en-US" sz="2400" dirty="0"/>
          </a:p>
        </p:txBody>
      </p:sp>
      <p:pic>
        <p:nvPicPr>
          <p:cNvPr id="38925" name="Object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6488" y="4042721"/>
            <a:ext cx="2351886" cy="510102"/>
          </a:xfrm>
          <a:prstGeom prst="rect">
            <a:avLst/>
          </a:prstGeom>
          <a:solidFill>
            <a:srgbClr val="FFFF00"/>
          </a:solidFill>
          <a:ln>
            <a:noFill/>
          </a:ln>
          <a:extLst/>
        </p:spPr>
      </p:pic>
      <p:sp>
        <p:nvSpPr>
          <p:cNvPr id="38926" name="Text Box 17"/>
          <p:cNvSpPr>
            <a:spLocks noChangeArrowheads="1"/>
          </p:cNvSpPr>
          <p:nvPr/>
        </p:nvSpPr>
        <p:spPr bwMode="auto">
          <a:xfrm>
            <a:off x="3458374" y="4073552"/>
            <a:ext cx="53619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sym typeface="Arial" pitchFamily="34" charset="0"/>
              </a:rPr>
              <a:t>表示</a:t>
            </a:r>
            <a:r>
              <a:rPr lang="zh-CN" altLang="en-US" sz="2400" dirty="0">
                <a:solidFill>
                  <a:srgbClr val="0000FF"/>
                </a:solidFill>
                <a:sym typeface="Arial" pitchFamily="34" charset="0"/>
              </a:rPr>
              <a:t>铁芯位移量，</a:t>
            </a:r>
            <a:r>
              <a:rPr lang="en-US" altLang="zh-CN" sz="2400" i="1" dirty="0">
                <a:solidFill>
                  <a:srgbClr val="0000FF"/>
                </a:solidFill>
                <a:latin typeface="Times New Roman" panose="02020603050405020304" pitchFamily="18" charset="0"/>
                <a:cs typeface="Times New Roman" panose="02020603050405020304" pitchFamily="18" charset="0"/>
                <a:sym typeface="Arial" pitchFamily="34" charset="0"/>
              </a:rPr>
              <a:t>l</a:t>
            </a:r>
            <a:r>
              <a:rPr lang="en-US" altLang="zh-CN" sz="1600" i="1" dirty="0">
                <a:solidFill>
                  <a:srgbClr val="0000FF"/>
                </a:solidFill>
                <a:latin typeface="Times New Roman" panose="02020603050405020304" pitchFamily="18" charset="0"/>
                <a:cs typeface="Times New Roman" panose="02020603050405020304" pitchFamily="18" charset="0"/>
                <a:sym typeface="Arial" pitchFamily="34" charset="0"/>
              </a:rPr>
              <a:t>1</a:t>
            </a:r>
            <a:r>
              <a:rPr lang="zh-CN" altLang="en-US" sz="2400" dirty="0">
                <a:solidFill>
                  <a:srgbClr val="0000FF"/>
                </a:solidFill>
                <a:sym typeface="Arial" pitchFamily="34" charset="0"/>
              </a:rPr>
              <a:t>和</a:t>
            </a:r>
            <a:r>
              <a:rPr lang="en-US" altLang="zh-CN" sz="2400" i="1" dirty="0">
                <a:solidFill>
                  <a:srgbClr val="0000FF"/>
                </a:solidFill>
                <a:latin typeface="Times New Roman" panose="02020603050405020304" pitchFamily="18" charset="0"/>
                <a:cs typeface="Times New Roman" panose="02020603050405020304" pitchFamily="18" charset="0"/>
                <a:sym typeface="Arial" pitchFamily="34" charset="0"/>
              </a:rPr>
              <a:t>l</a:t>
            </a:r>
            <a:r>
              <a:rPr lang="en-US" altLang="zh-CN" sz="1600" i="1" dirty="0">
                <a:solidFill>
                  <a:srgbClr val="0000FF"/>
                </a:solidFill>
                <a:latin typeface="Times New Roman" panose="02020603050405020304" pitchFamily="18" charset="0"/>
                <a:cs typeface="Times New Roman" panose="02020603050405020304" pitchFamily="18" charset="0"/>
                <a:sym typeface="Arial" pitchFamily="34" charset="0"/>
              </a:rPr>
              <a:t>2</a:t>
            </a:r>
            <a:r>
              <a:rPr lang="zh-CN" altLang="en-US" sz="2400" dirty="0">
                <a:solidFill>
                  <a:srgbClr val="0000FF"/>
                </a:solidFill>
                <a:sym typeface="Arial" pitchFamily="34" charset="0"/>
              </a:rPr>
              <a:t>为插入深度</a:t>
            </a:r>
            <a:endParaRPr lang="zh-CN" altLang="en-US" dirty="0">
              <a:solidFill>
                <a:srgbClr val="0000FF"/>
              </a:solidFill>
            </a:endParaRPr>
          </a:p>
        </p:txBody>
      </p:sp>
      <p:pic>
        <p:nvPicPr>
          <p:cNvPr id="1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5425" y="-42862"/>
            <a:ext cx="38385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矩形 1">
            <a:extLst>
              <a:ext uri="{FF2B5EF4-FFF2-40B4-BE49-F238E27FC236}">
                <a16:creationId xmlns:a16="http://schemas.microsoft.com/office/drawing/2014/main" id="{9FF5A842-A18B-4D28-9B05-E40116812556}"/>
              </a:ext>
            </a:extLst>
          </p:cNvPr>
          <p:cNvSpPr/>
          <p:nvPr/>
        </p:nvSpPr>
        <p:spPr>
          <a:xfrm>
            <a:off x="6444130" y="4552823"/>
            <a:ext cx="1877437" cy="369332"/>
          </a:xfrm>
          <a:prstGeom prst="rect">
            <a:avLst/>
          </a:prstGeom>
          <a:solidFill>
            <a:srgbClr val="FFFF00"/>
          </a:solidFill>
        </p:spPr>
        <p:txBody>
          <a:bodyPr wrap="none">
            <a:spAutoFit/>
          </a:bodyPr>
          <a:lstStyle/>
          <a:p>
            <a:r>
              <a:rPr lang="en-US" altLang="zh-CN" dirty="0">
                <a:solidFill>
                  <a:srgbClr val="0000FF"/>
                </a:solidFill>
                <a:sym typeface="Arial" pitchFamily="34" charset="0"/>
              </a:rPr>
              <a:t>Page 76 </a:t>
            </a:r>
            <a:r>
              <a:rPr lang="zh-CN" altLang="en-US" dirty="0">
                <a:solidFill>
                  <a:srgbClr val="0000FF"/>
                </a:solidFill>
                <a:sym typeface="Arial" pitchFamily="34" charset="0"/>
              </a:rPr>
              <a:t>图</a:t>
            </a:r>
            <a:r>
              <a:rPr lang="en-US" altLang="zh-CN" dirty="0">
                <a:solidFill>
                  <a:srgbClr val="0000FF"/>
                </a:solidFill>
                <a:sym typeface="Arial" pitchFamily="34" charset="0"/>
              </a:rPr>
              <a:t>5-2-4</a:t>
            </a:r>
            <a:endParaRPr lang="zh-CN" alt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20250CB5-66F3-4751-95BC-D98E1CBEC6EB}" type="slidenum">
              <a:rPr lang="en-US" sz="1200">
                <a:solidFill>
                  <a:srgbClr val="000000"/>
                </a:solidFill>
                <a:latin typeface="Arial Black" pitchFamily="34" charset="0"/>
                <a:sym typeface="Arial Black" pitchFamily="34" charset="0"/>
              </a:rPr>
              <a:pPr algn="r" eaLnBrk="1" hangingPunct="1"/>
              <a:t>40</a:t>
            </a:fld>
            <a:endParaRPr lang="en-US" sz="1200">
              <a:latin typeface="Arial Black" pitchFamily="34" charset="0"/>
              <a:sym typeface="Arial Black" pitchFamily="34" charset="0"/>
            </a:endParaRPr>
          </a:p>
        </p:txBody>
      </p:sp>
      <p:sp>
        <p:nvSpPr>
          <p:cNvPr id="39941" name="Text Box 2"/>
          <p:cNvSpPr>
            <a:spLocks noChangeArrowheads="1"/>
          </p:cNvSpPr>
          <p:nvPr/>
        </p:nvSpPr>
        <p:spPr bwMode="auto">
          <a:xfrm>
            <a:off x="239966" y="1620263"/>
            <a:ext cx="2430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sym typeface="Arial" pitchFamily="34" charset="0"/>
              </a:rPr>
              <a:t>灵敏度</a:t>
            </a:r>
            <a:endParaRPr lang="zh-CN" altLang="en-US" dirty="0"/>
          </a:p>
        </p:txBody>
      </p:sp>
      <p:sp>
        <p:nvSpPr>
          <p:cNvPr id="39943" name="Text Box 4"/>
          <p:cNvSpPr>
            <a:spLocks noChangeArrowheads="1"/>
          </p:cNvSpPr>
          <p:nvPr/>
        </p:nvSpPr>
        <p:spPr bwMode="auto">
          <a:xfrm>
            <a:off x="315126" y="3083145"/>
            <a:ext cx="441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dirty="0">
                <a:solidFill>
                  <a:srgbClr val="C00000"/>
                </a:solidFill>
                <a:sym typeface="Arial" pitchFamily="34" charset="0"/>
              </a:rPr>
              <a:t>(1) </a:t>
            </a:r>
            <a:r>
              <a:rPr lang="zh-CN" altLang="en-US" sz="2400" dirty="0">
                <a:solidFill>
                  <a:srgbClr val="C00000"/>
                </a:solidFill>
                <a:sym typeface="Arial" pitchFamily="34" charset="0"/>
              </a:rPr>
              <a:t>次级线圈匝数</a:t>
            </a:r>
            <a:r>
              <a:rPr lang="en-US" sz="2400" dirty="0">
                <a:solidFill>
                  <a:srgbClr val="C00000"/>
                </a:solidFill>
                <a:sym typeface="Arial" pitchFamily="34" charset="0"/>
              </a:rPr>
              <a:t>N</a:t>
            </a:r>
            <a:r>
              <a:rPr lang="en-US" sz="2400" baseline="-25000" dirty="0">
                <a:solidFill>
                  <a:srgbClr val="C00000"/>
                </a:solidFill>
                <a:sym typeface="Arial" pitchFamily="34" charset="0"/>
              </a:rPr>
              <a:t>2</a:t>
            </a:r>
            <a:r>
              <a:rPr lang="zh-CN" altLang="en-US" sz="2400" dirty="0">
                <a:solidFill>
                  <a:srgbClr val="C00000"/>
                </a:solidFill>
                <a:sym typeface="Arial" pitchFamily="34" charset="0"/>
              </a:rPr>
              <a:t>的影响分析</a:t>
            </a:r>
            <a:endParaRPr lang="zh-CN" altLang="en-US" sz="2400" dirty="0">
              <a:solidFill>
                <a:srgbClr val="C00000"/>
              </a:solidFill>
            </a:endParaRPr>
          </a:p>
        </p:txBody>
      </p:sp>
      <p:sp>
        <p:nvSpPr>
          <p:cNvPr id="39944" name="Text Box 5"/>
          <p:cNvSpPr>
            <a:spLocks noChangeArrowheads="1"/>
          </p:cNvSpPr>
          <p:nvPr/>
        </p:nvSpPr>
        <p:spPr bwMode="auto">
          <a:xfrm>
            <a:off x="2879733" y="5897585"/>
            <a:ext cx="35643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000" dirty="0">
                <a:sym typeface="Arial" pitchFamily="34" charset="0"/>
              </a:rPr>
              <a:t>，但会增加</a:t>
            </a:r>
            <a:r>
              <a:rPr lang="zh-CN" altLang="en-US" sz="2000" dirty="0">
                <a:solidFill>
                  <a:srgbClr val="0000FF"/>
                </a:solidFill>
                <a:sym typeface="Arial" pitchFamily="34" charset="0"/>
              </a:rPr>
              <a:t>零点残余电压</a:t>
            </a:r>
            <a:endParaRPr lang="zh-CN" altLang="en-US" dirty="0">
              <a:solidFill>
                <a:srgbClr val="0000FF"/>
              </a:solidFill>
            </a:endParaRPr>
          </a:p>
        </p:txBody>
      </p:sp>
      <p:grpSp>
        <p:nvGrpSpPr>
          <p:cNvPr id="10" name="组合 9">
            <a:extLst>
              <a:ext uri="{FF2B5EF4-FFF2-40B4-BE49-F238E27FC236}">
                <a16:creationId xmlns:a16="http://schemas.microsoft.com/office/drawing/2014/main" id="{02C70E33-C942-4A16-9A0C-19B01CE759D2}"/>
              </a:ext>
            </a:extLst>
          </p:cNvPr>
          <p:cNvGrpSpPr/>
          <p:nvPr/>
        </p:nvGrpSpPr>
        <p:grpSpPr>
          <a:xfrm>
            <a:off x="846787" y="3690095"/>
            <a:ext cx="3581203" cy="461665"/>
            <a:chOff x="1448368" y="3862202"/>
            <a:chExt cx="3581203" cy="461665"/>
          </a:xfrm>
        </p:grpSpPr>
        <p:pic>
          <p:nvPicPr>
            <p:cNvPr id="39942"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1825" y="3870785"/>
              <a:ext cx="4953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5" name="Text Box 6"/>
            <p:cNvSpPr>
              <a:spLocks noChangeArrowheads="1"/>
            </p:cNvSpPr>
            <p:nvPr/>
          </p:nvSpPr>
          <p:spPr bwMode="auto">
            <a:xfrm>
              <a:off x="1448368" y="3862202"/>
              <a:ext cx="3581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b="1" dirty="0">
                  <a:sym typeface="Arial" pitchFamily="34" charset="0"/>
                </a:rPr>
                <a:t>当        </a:t>
              </a:r>
              <a:r>
                <a:rPr lang="en-US" sz="2400" b="1" dirty="0">
                  <a:sym typeface="Arial" pitchFamily="34" charset="0"/>
                </a:rPr>
                <a:t>&gt;&gt;      </a:t>
              </a:r>
              <a:r>
                <a:rPr lang="zh-CN" altLang="en-US" sz="2400" b="1" dirty="0">
                  <a:sym typeface="Arial" pitchFamily="34" charset="0"/>
                </a:rPr>
                <a:t>时，</a:t>
              </a:r>
              <a:r>
                <a:rPr lang="zh-CN" altLang="en-US" sz="2400" b="1" dirty="0">
                  <a:highlight>
                    <a:srgbClr val="FFFF00"/>
                  </a:highlight>
                  <a:sym typeface="Arial" pitchFamily="34" charset="0"/>
                </a:rPr>
                <a:t>高频</a:t>
              </a:r>
              <a:r>
                <a:rPr lang="zh-CN" altLang="en-US" sz="2400" b="1" dirty="0">
                  <a:sym typeface="Arial" pitchFamily="34" charset="0"/>
                </a:rPr>
                <a:t>：</a:t>
              </a:r>
              <a:endParaRPr lang="zh-CN" altLang="en-US" sz="2400" b="1" dirty="0"/>
            </a:p>
          </p:txBody>
        </p:sp>
        <p:pic>
          <p:nvPicPr>
            <p:cNvPr id="39946" name="Object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47297" y="3893010"/>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9948" name="Object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89020" y="5808685"/>
            <a:ext cx="37941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9" name="Object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79620" y="5943622"/>
            <a:ext cx="38258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0" name="AutoShape 13"/>
          <p:cNvSpPr>
            <a:spLocks noChangeArrowheads="1"/>
          </p:cNvSpPr>
          <p:nvPr/>
        </p:nvSpPr>
        <p:spPr bwMode="auto">
          <a:xfrm>
            <a:off x="1528770" y="5897585"/>
            <a:ext cx="90488" cy="404812"/>
          </a:xfrm>
          <a:prstGeom prst="upArrow">
            <a:avLst>
              <a:gd name="adj1" fmla="val 50000"/>
              <a:gd name="adj2" fmla="val 112318"/>
            </a:avLst>
          </a:prstGeom>
          <a:solidFill>
            <a:schemeClr val="accent1"/>
          </a:solidFill>
          <a:ln w="9525" cmpd="sng">
            <a:solidFill>
              <a:schemeClr val="tx1"/>
            </a:solidFill>
            <a:miter lim="800000"/>
            <a:headEnd/>
            <a:tailEnd/>
          </a:ln>
        </p:spPr>
        <p:txBody>
          <a:bodyPr anchor="ctr">
            <a:spAutoFit/>
          </a:bodyPr>
          <a:lstStyle/>
          <a:p>
            <a:pPr eaLnBrk="1" hangingPunct="1"/>
            <a:endParaRPr lang="zh-CN" altLang="zh-CN">
              <a:solidFill>
                <a:srgbClr val="000000"/>
              </a:solidFill>
              <a:sym typeface="宋体" pitchFamily="2" charset="-122"/>
            </a:endParaRPr>
          </a:p>
        </p:txBody>
      </p:sp>
      <p:sp>
        <p:nvSpPr>
          <p:cNvPr id="39951" name="AutoShape 14"/>
          <p:cNvSpPr>
            <a:spLocks noChangeArrowheads="1"/>
          </p:cNvSpPr>
          <p:nvPr/>
        </p:nvSpPr>
        <p:spPr bwMode="auto">
          <a:xfrm>
            <a:off x="2474920" y="5897585"/>
            <a:ext cx="90488" cy="404812"/>
          </a:xfrm>
          <a:prstGeom prst="upArrow">
            <a:avLst>
              <a:gd name="adj1" fmla="val 50000"/>
              <a:gd name="adj2" fmla="val 112318"/>
            </a:avLst>
          </a:prstGeom>
          <a:solidFill>
            <a:schemeClr val="accent1"/>
          </a:solidFill>
          <a:ln w="9525" cmpd="sng">
            <a:solidFill>
              <a:schemeClr val="tx1"/>
            </a:solidFill>
            <a:miter lim="800000"/>
            <a:headEnd/>
            <a:tailEnd/>
          </a:ln>
        </p:spPr>
        <p:txBody>
          <a:bodyPr anchor="ctr">
            <a:spAutoFit/>
          </a:bodyPr>
          <a:lstStyle/>
          <a:p>
            <a:pPr eaLnBrk="1" hangingPunct="1"/>
            <a:endParaRPr lang="zh-CN" altLang="zh-CN">
              <a:solidFill>
                <a:srgbClr val="000000"/>
              </a:solidFill>
              <a:sym typeface="宋体" pitchFamily="2" charset="-122"/>
            </a:endParaRPr>
          </a:p>
        </p:txBody>
      </p:sp>
      <p:sp>
        <p:nvSpPr>
          <p:cNvPr id="39952" name="AutoShape 15"/>
          <p:cNvSpPr>
            <a:spLocks noChangeArrowheads="1"/>
          </p:cNvSpPr>
          <p:nvPr/>
        </p:nvSpPr>
        <p:spPr bwMode="auto">
          <a:xfrm>
            <a:off x="5697538" y="4418013"/>
            <a:ext cx="90487" cy="404812"/>
          </a:xfrm>
          <a:prstGeom prst="upArrow">
            <a:avLst>
              <a:gd name="adj1" fmla="val 50000"/>
              <a:gd name="adj2" fmla="val 111532"/>
            </a:avLst>
          </a:prstGeom>
          <a:solidFill>
            <a:schemeClr val="accent1"/>
          </a:solidFill>
          <a:ln w="9525" cmpd="sng">
            <a:solidFill>
              <a:schemeClr val="tx1"/>
            </a:solidFill>
            <a:miter lim="800000"/>
            <a:headEnd/>
            <a:tailEnd/>
          </a:ln>
        </p:spPr>
        <p:txBody>
          <a:bodyPr anchor="ctr">
            <a:spAutoFit/>
          </a:bodyPr>
          <a:lstStyle/>
          <a:p>
            <a:pPr eaLnBrk="1" hangingPunct="1"/>
            <a:endParaRPr lang="zh-CN" altLang="zh-CN">
              <a:solidFill>
                <a:srgbClr val="000000"/>
              </a:solidFill>
              <a:sym typeface="宋体" pitchFamily="2" charset="-122"/>
            </a:endParaRPr>
          </a:p>
        </p:txBody>
      </p:sp>
      <p:pic>
        <p:nvPicPr>
          <p:cNvPr id="39953" name="Object 1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81524" y="1339275"/>
            <a:ext cx="6211887"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Object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93068" y="573124"/>
            <a:ext cx="3059112"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4005" y="2608960"/>
            <a:ext cx="38385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箭头: 右 6">
            <a:extLst>
              <a:ext uri="{FF2B5EF4-FFF2-40B4-BE49-F238E27FC236}">
                <a16:creationId xmlns:a16="http://schemas.microsoft.com/office/drawing/2014/main" id="{662A259F-EE52-4F3D-B782-105EBFB073AD}"/>
              </a:ext>
            </a:extLst>
          </p:cNvPr>
          <p:cNvSpPr/>
          <p:nvPr/>
        </p:nvSpPr>
        <p:spPr bwMode="auto">
          <a:xfrm rot="18739468">
            <a:off x="7589573" y="1335453"/>
            <a:ext cx="576040" cy="172219"/>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rgbClr val="0000FF"/>
              </a:solidFill>
              <a:effectLst/>
              <a:latin typeface="Arial" pitchFamily="34" charset="0"/>
              <a:ea typeface="宋体" pitchFamily="2" charset="-122"/>
            </a:endParaRPr>
          </a:p>
        </p:txBody>
      </p:sp>
      <p:sp>
        <p:nvSpPr>
          <p:cNvPr id="8" name="文本框 7">
            <a:extLst>
              <a:ext uri="{FF2B5EF4-FFF2-40B4-BE49-F238E27FC236}">
                <a16:creationId xmlns:a16="http://schemas.microsoft.com/office/drawing/2014/main" id="{A556A9A3-AB8F-437B-BB17-BE927F3987EB}"/>
              </a:ext>
            </a:extLst>
          </p:cNvPr>
          <p:cNvSpPr txBox="1"/>
          <p:nvPr/>
        </p:nvSpPr>
        <p:spPr>
          <a:xfrm flipH="1">
            <a:off x="8100243" y="846558"/>
            <a:ext cx="586555" cy="461665"/>
          </a:xfrm>
          <a:prstGeom prst="rect">
            <a:avLst/>
          </a:prstGeom>
          <a:noFill/>
        </p:spPr>
        <p:txBody>
          <a:bodyPr wrap="square" rtlCol="0">
            <a:spAutoFit/>
          </a:bodyPr>
          <a:lstStyle/>
          <a:p>
            <a:r>
              <a:rPr lang="en-US" altLang="zh-CN" sz="2400" b="1" i="1" dirty="0">
                <a:solidFill>
                  <a:srgbClr val="0000FF"/>
                </a:solidFill>
                <a:latin typeface="Times New Roman" panose="02020603050405020304" pitchFamily="18" charset="0"/>
                <a:cs typeface="Times New Roman" panose="02020603050405020304" pitchFamily="18" charset="0"/>
              </a:rPr>
              <a:t>I</a:t>
            </a:r>
            <a:r>
              <a:rPr lang="en-US" altLang="zh-CN" b="1" i="1" dirty="0">
                <a:solidFill>
                  <a:srgbClr val="0000FF"/>
                </a:solidFill>
                <a:latin typeface="Times New Roman" panose="02020603050405020304" pitchFamily="18" charset="0"/>
                <a:cs typeface="Times New Roman" panose="02020603050405020304" pitchFamily="18" charset="0"/>
              </a:rPr>
              <a:t>1</a:t>
            </a:r>
            <a:endParaRPr lang="zh-CN" altLang="en-US" sz="2400" b="1" i="1" dirty="0">
              <a:solidFill>
                <a:srgbClr val="0000FF"/>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F5CA9CE6-A077-4AAD-98F7-C87DAF650AD9}"/>
              </a:ext>
            </a:extLst>
          </p:cNvPr>
          <p:cNvSpPr/>
          <p:nvPr/>
        </p:nvSpPr>
        <p:spPr>
          <a:xfrm>
            <a:off x="239965" y="2535305"/>
            <a:ext cx="5844139" cy="461665"/>
          </a:xfrm>
          <a:prstGeom prst="rect">
            <a:avLst/>
          </a:prstGeom>
        </p:spPr>
        <p:txBody>
          <a:bodyPr wrap="square">
            <a:spAutoFit/>
          </a:bodyPr>
          <a:lstStyle/>
          <a:p>
            <a:pPr eaLnBrk="1" hangingPunct="1">
              <a:spcBef>
                <a:spcPct val="50000"/>
              </a:spcBef>
            </a:pPr>
            <a:r>
              <a:rPr lang="zh-CN" altLang="en-US" sz="2400" dirty="0">
                <a:solidFill>
                  <a:srgbClr val="1EA2EE"/>
                </a:solidFill>
              </a:rPr>
              <a:t>灵敏度表达式复杂，下面做简化分析：</a:t>
            </a:r>
          </a:p>
        </p:txBody>
      </p:sp>
      <p:grpSp>
        <p:nvGrpSpPr>
          <p:cNvPr id="11" name="Group 4">
            <a:extLst>
              <a:ext uri="{FF2B5EF4-FFF2-40B4-BE49-F238E27FC236}">
                <a16:creationId xmlns:a16="http://schemas.microsoft.com/office/drawing/2014/main" id="{7C0796E0-867F-482F-8586-D957A160AD74}"/>
              </a:ext>
            </a:extLst>
          </p:cNvPr>
          <p:cNvGrpSpPr>
            <a:grpSpLocks noChangeAspect="1"/>
          </p:cNvGrpSpPr>
          <p:nvPr/>
        </p:nvGrpSpPr>
        <p:grpSpPr bwMode="auto">
          <a:xfrm>
            <a:off x="825500" y="4357690"/>
            <a:ext cx="3759201" cy="900113"/>
            <a:chOff x="520" y="2745"/>
            <a:chExt cx="2368" cy="567"/>
          </a:xfrm>
        </p:grpSpPr>
        <p:sp>
          <p:nvSpPr>
            <p:cNvPr id="12" name="AutoShape 3">
              <a:extLst>
                <a:ext uri="{FF2B5EF4-FFF2-40B4-BE49-F238E27FC236}">
                  <a16:creationId xmlns:a16="http://schemas.microsoft.com/office/drawing/2014/main" id="{87BA2BC8-7670-4923-9DD9-8E831D7E72E2}"/>
                </a:ext>
              </a:extLst>
            </p:cNvPr>
            <p:cNvSpPr>
              <a:spLocks noChangeAspect="1" noChangeArrowheads="1" noTextEdit="1"/>
            </p:cNvSpPr>
            <p:nvPr/>
          </p:nvSpPr>
          <p:spPr bwMode="auto">
            <a:xfrm>
              <a:off x="520" y="2745"/>
              <a:ext cx="1916"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Line 5">
              <a:extLst>
                <a:ext uri="{FF2B5EF4-FFF2-40B4-BE49-F238E27FC236}">
                  <a16:creationId xmlns:a16="http://schemas.microsoft.com/office/drawing/2014/main" id="{AA0E4254-8298-467D-A85D-6F981DD492F0}"/>
                </a:ext>
              </a:extLst>
            </p:cNvPr>
            <p:cNvSpPr>
              <a:spLocks noChangeShapeType="1"/>
            </p:cNvSpPr>
            <p:nvPr/>
          </p:nvSpPr>
          <p:spPr bwMode="auto">
            <a:xfrm>
              <a:off x="950" y="3003"/>
              <a:ext cx="249" cy="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Rectangle 6">
              <a:extLst>
                <a:ext uri="{FF2B5EF4-FFF2-40B4-BE49-F238E27FC236}">
                  <a16:creationId xmlns:a16="http://schemas.microsoft.com/office/drawing/2014/main" id="{46A55F13-C17F-425D-858B-A39F0E49E1AD}"/>
                </a:ext>
              </a:extLst>
            </p:cNvPr>
            <p:cNvSpPr>
              <a:spLocks noChangeArrowheads="1"/>
            </p:cNvSpPr>
            <p:nvPr/>
          </p:nvSpPr>
          <p:spPr bwMode="auto">
            <a:xfrm>
              <a:off x="1919" y="2885"/>
              <a:ext cx="96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r>
                <a:rPr kumimoji="0" lang="zh-CN" altLang="en-US"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新</a:t>
              </a:r>
              <a:r>
                <a:rPr kumimoji="0" lang="zh-CN"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系数</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8" name="Rectangle 8">
              <a:extLst>
                <a:ext uri="{FF2B5EF4-FFF2-40B4-BE49-F238E27FC236}">
                  <a16:creationId xmlns:a16="http://schemas.microsoft.com/office/drawing/2014/main" id="{43345A4F-31D9-4783-9C5D-6ACFEFE0F2E1}"/>
                </a:ext>
              </a:extLst>
            </p:cNvPr>
            <p:cNvSpPr>
              <a:spLocks noChangeArrowheads="1"/>
            </p:cNvSpPr>
            <p:nvPr/>
          </p:nvSpPr>
          <p:spPr bwMode="auto">
            <a:xfrm>
              <a:off x="796" y="2857"/>
              <a:ext cx="22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Symbol" panose="05050102010706020507" pitchFamily="18" charset="2"/>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9" name="Rectangle 9">
              <a:extLst>
                <a:ext uri="{FF2B5EF4-FFF2-40B4-BE49-F238E27FC236}">
                  <a16:creationId xmlns:a16="http://schemas.microsoft.com/office/drawing/2014/main" id="{D9F68630-EA6C-45AB-A7A3-64DD01ED72E4}"/>
                </a:ext>
              </a:extLst>
            </p:cNvPr>
            <p:cNvSpPr>
              <a:spLocks noChangeArrowheads="1"/>
            </p:cNvSpPr>
            <p:nvPr/>
          </p:nvSpPr>
          <p:spPr bwMode="auto">
            <a:xfrm>
              <a:off x="1752" y="2879"/>
              <a:ext cx="203"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1" u="none" strike="noStrike" cap="none" normalizeH="0" baseline="0" dirty="0">
                  <a:ln>
                    <a:noFill/>
                  </a:ln>
                  <a:solidFill>
                    <a:srgbClr val="000000"/>
                  </a:solidFill>
                  <a:effectLst/>
                  <a:latin typeface="Times New Roman" panose="02020603050405020304" pitchFamily="18" charset="0"/>
                </a:rPr>
                <a:t>A</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0" name="Rectangle 10">
              <a:extLst>
                <a:ext uri="{FF2B5EF4-FFF2-40B4-BE49-F238E27FC236}">
                  <a16:creationId xmlns:a16="http://schemas.microsoft.com/office/drawing/2014/main" id="{BFB56A51-6FBE-4A71-8EBC-6168A9455635}"/>
                </a:ext>
              </a:extLst>
            </p:cNvPr>
            <p:cNvSpPr>
              <a:spLocks noChangeArrowheads="1"/>
            </p:cNvSpPr>
            <p:nvPr/>
          </p:nvSpPr>
          <p:spPr bwMode="auto">
            <a:xfrm>
              <a:off x="1248" y="2879"/>
              <a:ext cx="203"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1" u="none" strike="noStrike" cap="none" normalizeH="0" baseline="0">
                  <a:ln>
                    <a:noFill/>
                  </a:ln>
                  <a:solidFill>
                    <a:srgbClr val="000000"/>
                  </a:solidFill>
                  <a:effectLst/>
                  <a:latin typeface="Times New Roman" panose="02020603050405020304" pitchFamily="18" charset="0"/>
                </a:rPr>
                <a:t>A</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1" name="Rectangle 11">
              <a:extLst>
                <a:ext uri="{FF2B5EF4-FFF2-40B4-BE49-F238E27FC236}">
                  <a16:creationId xmlns:a16="http://schemas.microsoft.com/office/drawing/2014/main" id="{4B85DDB7-E309-4020-A877-0AF58D250354}"/>
                </a:ext>
              </a:extLst>
            </p:cNvPr>
            <p:cNvSpPr>
              <a:spLocks noChangeArrowheads="1"/>
            </p:cNvSpPr>
            <p:nvPr/>
          </p:nvSpPr>
          <p:spPr bwMode="auto">
            <a:xfrm>
              <a:off x="983" y="3030"/>
              <a:ext cx="21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1"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2" name="Rectangle 12">
              <a:extLst>
                <a:ext uri="{FF2B5EF4-FFF2-40B4-BE49-F238E27FC236}">
                  <a16:creationId xmlns:a16="http://schemas.microsoft.com/office/drawing/2014/main" id="{E1604B62-67C0-4F4A-A659-95D11C8DD30B}"/>
                </a:ext>
              </a:extLst>
            </p:cNvPr>
            <p:cNvSpPr>
              <a:spLocks noChangeArrowheads="1"/>
            </p:cNvSpPr>
            <p:nvPr/>
          </p:nvSpPr>
          <p:spPr bwMode="auto">
            <a:xfrm>
              <a:off x="972" y="2757"/>
              <a:ext cx="21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1"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3" name="Rectangle 13">
              <a:extLst>
                <a:ext uri="{FF2B5EF4-FFF2-40B4-BE49-F238E27FC236}">
                  <a16:creationId xmlns:a16="http://schemas.microsoft.com/office/drawing/2014/main" id="{BECF5770-089D-4B3D-9488-07167F7958F0}"/>
                </a:ext>
              </a:extLst>
            </p:cNvPr>
            <p:cNvSpPr>
              <a:spLocks noChangeArrowheads="1"/>
            </p:cNvSpPr>
            <p:nvPr/>
          </p:nvSpPr>
          <p:spPr bwMode="auto">
            <a:xfrm>
              <a:off x="555" y="2879"/>
              <a:ext cx="21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1" u="none" strike="noStrike" cap="none" normalizeH="0" baseline="0">
                  <a:ln>
                    <a:noFill/>
                  </a:ln>
                  <a:solidFill>
                    <a:srgbClr val="000000"/>
                  </a:solidFill>
                  <a:effectLst/>
                  <a:latin typeface="Times New Roman" panose="02020603050405020304" pitchFamily="18" charset="0"/>
                </a:rPr>
                <a:t>K</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14">
              <a:extLst>
                <a:ext uri="{FF2B5EF4-FFF2-40B4-BE49-F238E27FC236}">
                  <a16:creationId xmlns:a16="http://schemas.microsoft.com/office/drawing/2014/main" id="{557776E8-FA32-47F6-AB3D-ED48B05C019C}"/>
                </a:ext>
              </a:extLst>
            </p:cNvPr>
            <p:cNvSpPr>
              <a:spLocks noChangeArrowheads="1"/>
            </p:cNvSpPr>
            <p:nvPr/>
          </p:nvSpPr>
          <p:spPr bwMode="auto">
            <a:xfrm>
              <a:off x="1112" y="3150"/>
              <a:ext cx="10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Times New Roman" panose="02020603050405020304" pitchFamily="18" charset="0"/>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5" name="Rectangle 15">
              <a:extLst>
                <a:ext uri="{FF2B5EF4-FFF2-40B4-BE49-F238E27FC236}">
                  <a16:creationId xmlns:a16="http://schemas.microsoft.com/office/drawing/2014/main" id="{156B675D-16A8-4758-820C-63AA76683E44}"/>
                </a:ext>
              </a:extLst>
            </p:cNvPr>
            <p:cNvSpPr>
              <a:spLocks noChangeArrowheads="1"/>
            </p:cNvSpPr>
            <p:nvPr/>
          </p:nvSpPr>
          <p:spPr bwMode="auto">
            <a:xfrm>
              <a:off x="1114" y="2877"/>
              <a:ext cx="10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Times New Roman" panose="02020603050405020304" pitchFamily="18" charset="0"/>
                </a:rPr>
                <a:t>2</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16">
              <a:extLst>
                <a:ext uri="{FF2B5EF4-FFF2-40B4-BE49-F238E27FC236}">
                  <a16:creationId xmlns:a16="http://schemas.microsoft.com/office/drawing/2014/main" id="{CA9850B5-ADF8-4614-A74B-719F6E9D0B41}"/>
                </a:ext>
              </a:extLst>
            </p:cNvPr>
            <p:cNvSpPr>
              <a:spLocks noChangeArrowheads="1"/>
            </p:cNvSpPr>
            <p:nvPr/>
          </p:nvSpPr>
          <p:spPr bwMode="auto">
            <a:xfrm>
              <a:off x="685" y="2999"/>
              <a:ext cx="10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Times New Roman" panose="02020603050405020304" pitchFamily="18" charset="0"/>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DAA01489-DEBC-4152-9DC8-BBD03574EB75}" type="slidenum">
              <a:rPr lang="en-US" sz="1200">
                <a:solidFill>
                  <a:srgbClr val="000000"/>
                </a:solidFill>
                <a:latin typeface="Arial Black" pitchFamily="34" charset="0"/>
                <a:sym typeface="Arial Black" pitchFamily="34" charset="0"/>
              </a:rPr>
              <a:pPr algn="r" eaLnBrk="1" hangingPunct="1"/>
              <a:t>41</a:t>
            </a:fld>
            <a:endParaRPr lang="en-US" sz="1200">
              <a:latin typeface="Arial Black" pitchFamily="34" charset="0"/>
              <a:sym typeface="Arial Black" pitchFamily="34" charset="0"/>
            </a:endParaRPr>
          </a:p>
        </p:txBody>
      </p:sp>
      <p:sp>
        <p:nvSpPr>
          <p:cNvPr id="40965" name="Text Box 23"/>
          <p:cNvSpPr>
            <a:spLocks noChangeArrowheads="1"/>
          </p:cNvSpPr>
          <p:nvPr/>
        </p:nvSpPr>
        <p:spPr bwMode="auto">
          <a:xfrm>
            <a:off x="1196975" y="4869100"/>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sym typeface="Arial" pitchFamily="34" charset="0"/>
              </a:rPr>
              <a:t>高频时，       </a:t>
            </a:r>
            <a:r>
              <a:rPr lang="en-US" sz="2000" dirty="0">
                <a:sym typeface="Arial" pitchFamily="34" charset="0"/>
              </a:rPr>
              <a:t>&gt;&gt;</a:t>
            </a:r>
            <a:endParaRPr lang="zh-CN" altLang="en-US" dirty="0"/>
          </a:p>
        </p:txBody>
      </p:sp>
      <p:pic>
        <p:nvPicPr>
          <p:cNvPr id="40966"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2025" y="4869100"/>
            <a:ext cx="4953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Text Box 4"/>
          <p:cNvSpPr>
            <a:spLocks noChangeArrowheads="1"/>
          </p:cNvSpPr>
          <p:nvPr/>
        </p:nvSpPr>
        <p:spPr bwMode="auto">
          <a:xfrm>
            <a:off x="611188" y="1878035"/>
            <a:ext cx="3149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dirty="0">
                <a:solidFill>
                  <a:srgbClr val="C00000"/>
                </a:solidFill>
                <a:sym typeface="Arial" pitchFamily="34" charset="0"/>
              </a:rPr>
              <a:t>(2) </a:t>
            </a:r>
            <a:r>
              <a:rPr lang="zh-CN" altLang="en-US" sz="2400" dirty="0">
                <a:solidFill>
                  <a:srgbClr val="C00000"/>
                </a:solidFill>
                <a:sym typeface="Arial" pitchFamily="34" charset="0"/>
              </a:rPr>
              <a:t>初级线圈电压</a:t>
            </a:r>
            <a:r>
              <a:rPr lang="en-US" sz="3200" i="1" dirty="0">
                <a:solidFill>
                  <a:srgbClr val="C00000"/>
                </a:solidFill>
                <a:latin typeface="Times New Roman" panose="02020603050405020304" pitchFamily="18" charset="0"/>
                <a:cs typeface="Times New Roman" panose="02020603050405020304" pitchFamily="18" charset="0"/>
                <a:sym typeface="Arial" pitchFamily="34" charset="0"/>
              </a:rPr>
              <a:t>e</a:t>
            </a:r>
            <a:r>
              <a:rPr lang="en-US" i="1" dirty="0">
                <a:solidFill>
                  <a:srgbClr val="C00000"/>
                </a:solidFill>
                <a:latin typeface="Times New Roman" panose="02020603050405020304" pitchFamily="18" charset="0"/>
                <a:cs typeface="Times New Roman" panose="02020603050405020304" pitchFamily="18" charset="0"/>
                <a:sym typeface="Arial" pitchFamily="34" charset="0"/>
              </a:rPr>
              <a:t>1</a:t>
            </a:r>
            <a:endParaRPr lang="zh-CN" altLang="en-US" i="1" dirty="0">
              <a:solidFill>
                <a:srgbClr val="C00000"/>
              </a:solidFill>
              <a:latin typeface="Times New Roman" panose="02020603050405020304" pitchFamily="18" charset="0"/>
              <a:cs typeface="Times New Roman" panose="02020603050405020304" pitchFamily="18" charset="0"/>
            </a:endParaRPr>
          </a:p>
        </p:txBody>
      </p:sp>
      <p:sp>
        <p:nvSpPr>
          <p:cNvPr id="40968" name="Text Box 6"/>
          <p:cNvSpPr>
            <a:spLocks noChangeArrowheads="1"/>
          </p:cNvSpPr>
          <p:nvPr/>
        </p:nvSpPr>
        <p:spPr bwMode="auto">
          <a:xfrm>
            <a:off x="1062038" y="2643210"/>
            <a:ext cx="76862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000" dirty="0">
                <a:sym typeface="Arial" pitchFamily="34" charset="0"/>
              </a:rPr>
              <a:t>电压</a:t>
            </a:r>
            <a:r>
              <a:rPr lang="en-US" sz="2400" i="1" dirty="0">
                <a:latin typeface="Times New Roman" panose="02020603050405020304" pitchFamily="18" charset="0"/>
                <a:cs typeface="Times New Roman" panose="02020603050405020304" pitchFamily="18" charset="0"/>
                <a:sym typeface="Arial" pitchFamily="34" charset="0"/>
              </a:rPr>
              <a:t>e</a:t>
            </a:r>
            <a:r>
              <a:rPr lang="en-US" sz="2400" i="1" baseline="-25000" dirty="0">
                <a:latin typeface="Times New Roman" panose="02020603050405020304" pitchFamily="18" charset="0"/>
                <a:cs typeface="Times New Roman" panose="02020603050405020304" pitchFamily="18" charset="0"/>
                <a:sym typeface="Arial" pitchFamily="34" charset="0"/>
              </a:rPr>
              <a:t>1</a:t>
            </a:r>
            <a:r>
              <a:rPr lang="en-US" sz="2000" dirty="0">
                <a:sym typeface="Arial" pitchFamily="34" charset="0"/>
              </a:rPr>
              <a:t>   </a:t>
            </a:r>
            <a:r>
              <a:rPr lang="zh-CN" altLang="en-US" sz="2000" dirty="0">
                <a:sym typeface="Arial" pitchFamily="34" charset="0"/>
              </a:rPr>
              <a:t>，</a:t>
            </a:r>
            <a:r>
              <a:rPr lang="en-US" sz="2000" i="1" dirty="0">
                <a:latin typeface="Times New Roman" panose="02020603050405020304" pitchFamily="18" charset="0"/>
                <a:cs typeface="Times New Roman" panose="02020603050405020304" pitchFamily="18" charset="0"/>
                <a:sym typeface="Arial" pitchFamily="34" charset="0"/>
              </a:rPr>
              <a:t>K</a:t>
            </a:r>
            <a:r>
              <a:rPr lang="en-US" sz="2000" i="1" baseline="-25000" dirty="0">
                <a:latin typeface="Times New Roman" panose="02020603050405020304" pitchFamily="18" charset="0"/>
                <a:cs typeface="Times New Roman" panose="02020603050405020304" pitchFamily="18" charset="0"/>
                <a:sym typeface="Arial" pitchFamily="34" charset="0"/>
              </a:rPr>
              <a:t>1</a:t>
            </a:r>
            <a:r>
              <a:rPr lang="en-US" sz="2000" dirty="0">
                <a:sym typeface="Arial" pitchFamily="34" charset="0"/>
              </a:rPr>
              <a:t>      </a:t>
            </a:r>
            <a:r>
              <a:rPr lang="zh-CN" altLang="en-US" sz="2000" dirty="0">
                <a:sym typeface="Arial" pitchFamily="34" charset="0"/>
              </a:rPr>
              <a:t>，但会引起变压器发热变大，而使输出信号漂移。</a:t>
            </a:r>
            <a:endParaRPr lang="zh-CN" altLang="en-US" dirty="0"/>
          </a:p>
        </p:txBody>
      </p:sp>
      <p:pic>
        <p:nvPicPr>
          <p:cNvPr id="40969" name="Object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2625" y="4869100"/>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0" name="Object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16113" y="4437070"/>
            <a:ext cx="32639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1" name="AutoShape 17"/>
          <p:cNvSpPr>
            <a:spLocks noChangeArrowheads="1"/>
          </p:cNvSpPr>
          <p:nvPr/>
        </p:nvSpPr>
        <p:spPr bwMode="auto">
          <a:xfrm>
            <a:off x="2006600" y="2643210"/>
            <a:ext cx="90488" cy="404813"/>
          </a:xfrm>
          <a:prstGeom prst="upArrow">
            <a:avLst>
              <a:gd name="adj1" fmla="val 50000"/>
              <a:gd name="adj2" fmla="val 112132"/>
            </a:avLst>
          </a:prstGeom>
          <a:solidFill>
            <a:schemeClr val="accent1"/>
          </a:solidFill>
          <a:ln w="9525" cmpd="sng">
            <a:solidFill>
              <a:schemeClr val="tx1"/>
            </a:solidFill>
            <a:miter lim="800000"/>
            <a:headEnd/>
            <a:tailEnd/>
          </a:ln>
        </p:spPr>
        <p:txBody>
          <a:bodyPr anchor="ctr">
            <a:spAutoFit/>
          </a:bodyPr>
          <a:lstStyle/>
          <a:p>
            <a:pPr eaLnBrk="1" hangingPunct="1"/>
            <a:endParaRPr lang="zh-CN" altLang="zh-CN">
              <a:solidFill>
                <a:srgbClr val="000000"/>
              </a:solidFill>
              <a:sym typeface="宋体" pitchFamily="2" charset="-122"/>
            </a:endParaRPr>
          </a:p>
        </p:txBody>
      </p:sp>
      <p:sp>
        <p:nvSpPr>
          <p:cNvPr id="40972" name="AutoShape 18"/>
          <p:cNvSpPr>
            <a:spLocks noChangeArrowheads="1"/>
          </p:cNvSpPr>
          <p:nvPr/>
        </p:nvSpPr>
        <p:spPr bwMode="auto">
          <a:xfrm>
            <a:off x="2862263" y="2598760"/>
            <a:ext cx="90487" cy="404813"/>
          </a:xfrm>
          <a:prstGeom prst="upArrow">
            <a:avLst>
              <a:gd name="adj1" fmla="val 50000"/>
              <a:gd name="adj2" fmla="val 111346"/>
            </a:avLst>
          </a:prstGeom>
          <a:solidFill>
            <a:schemeClr val="accent1"/>
          </a:solidFill>
          <a:ln w="9525" cmpd="sng">
            <a:solidFill>
              <a:schemeClr val="tx1"/>
            </a:solidFill>
            <a:miter lim="800000"/>
            <a:headEnd/>
            <a:tailEnd/>
          </a:ln>
        </p:spPr>
        <p:txBody>
          <a:bodyPr anchor="ctr">
            <a:spAutoFit/>
          </a:bodyPr>
          <a:lstStyle/>
          <a:p>
            <a:pPr eaLnBrk="1" hangingPunct="1"/>
            <a:endParaRPr lang="zh-CN" altLang="zh-CN">
              <a:solidFill>
                <a:srgbClr val="000000"/>
              </a:solidFill>
              <a:sym typeface="宋体" pitchFamily="2" charset="-122"/>
            </a:endParaRPr>
          </a:p>
        </p:txBody>
      </p:sp>
      <p:sp>
        <p:nvSpPr>
          <p:cNvPr id="40973" name="Text Box 20"/>
          <p:cNvSpPr>
            <a:spLocks noChangeArrowheads="1"/>
          </p:cNvSpPr>
          <p:nvPr/>
        </p:nvSpPr>
        <p:spPr bwMode="auto">
          <a:xfrm>
            <a:off x="611187" y="3363935"/>
            <a:ext cx="437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dirty="0">
                <a:solidFill>
                  <a:srgbClr val="C00000"/>
                </a:solidFill>
                <a:sym typeface="Arial" pitchFamily="34" charset="0"/>
              </a:rPr>
              <a:t>(3) </a:t>
            </a:r>
            <a:r>
              <a:rPr lang="zh-CN" altLang="en-US" sz="2400" dirty="0">
                <a:solidFill>
                  <a:srgbClr val="C00000"/>
                </a:solidFill>
                <a:sym typeface="Arial" pitchFamily="34" charset="0"/>
              </a:rPr>
              <a:t>激励电压的频率 </a:t>
            </a:r>
            <a:r>
              <a:rPr lang="en-US" altLang="zh-CN" sz="2400" i="1" dirty="0">
                <a:solidFill>
                  <a:srgbClr val="C00000"/>
                </a:solidFill>
                <a:latin typeface="Times New Roman" panose="02020603050405020304" pitchFamily="18" charset="0"/>
                <a:cs typeface="Times New Roman" panose="02020603050405020304" pitchFamily="18" charset="0"/>
                <a:sym typeface="Arial" pitchFamily="34" charset="0"/>
              </a:rPr>
              <a:t>f =2</a:t>
            </a:r>
            <a:r>
              <a:rPr lang="en-US" altLang="zh-CN" sz="24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endParaRPr lang="zh-CN" altLang="en-US" i="1" dirty="0">
              <a:solidFill>
                <a:srgbClr val="C00000"/>
              </a:solidFill>
              <a:latin typeface="Times New Roman" panose="02020603050405020304" pitchFamily="18" charset="0"/>
              <a:cs typeface="Times New Roman" panose="02020603050405020304" pitchFamily="18" charset="0"/>
            </a:endParaRPr>
          </a:p>
        </p:txBody>
      </p:sp>
      <p:sp>
        <p:nvSpPr>
          <p:cNvPr id="40975" name="Text Box 22"/>
          <p:cNvSpPr>
            <a:spLocks noChangeArrowheads="1"/>
          </p:cNvSpPr>
          <p:nvPr/>
        </p:nvSpPr>
        <p:spPr bwMode="auto">
          <a:xfrm>
            <a:off x="1196975" y="3903685"/>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sym typeface="Arial" pitchFamily="34" charset="0"/>
              </a:rPr>
              <a:t>低频时，       </a:t>
            </a:r>
            <a:r>
              <a:rPr lang="en-US" sz="2000" dirty="0">
                <a:sym typeface="Arial" pitchFamily="34" charset="0"/>
              </a:rPr>
              <a:t>&lt;&lt;</a:t>
            </a:r>
            <a:endParaRPr lang="zh-CN" altLang="en-US" dirty="0"/>
          </a:p>
        </p:txBody>
      </p:sp>
      <p:pic>
        <p:nvPicPr>
          <p:cNvPr id="40976" name="Object 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2025" y="3903685"/>
            <a:ext cx="4953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7" name="Object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2625" y="3903685"/>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8" name="Object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51050" y="5408850"/>
            <a:ext cx="293211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9" name="Object 1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05150" y="1056504"/>
            <a:ext cx="5581650"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5425" y="3212985"/>
            <a:ext cx="38385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9" name="Object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62038" y="350507"/>
            <a:ext cx="3059112"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40C8C2D-5002-4F9E-9556-745C6525A297}"/>
              </a:ext>
            </a:extLst>
          </p:cNvPr>
          <p:cNvSpPr/>
          <p:nvPr/>
        </p:nvSpPr>
        <p:spPr>
          <a:xfrm>
            <a:off x="3725250" y="3917456"/>
            <a:ext cx="1733167" cy="400110"/>
          </a:xfrm>
          <a:prstGeom prst="rect">
            <a:avLst/>
          </a:prstGeom>
        </p:spPr>
        <p:txBody>
          <a:bodyPr wrap="none">
            <a:spAutoFit/>
          </a:bodyPr>
          <a:lstStyle/>
          <a:p>
            <a:r>
              <a:rPr lang="zh-CN" altLang="en-US" sz="2000" b="1" dirty="0">
                <a:solidFill>
                  <a:srgbClr val="1EA2EE"/>
                </a:solidFill>
                <a:sym typeface="Arial" pitchFamily="34" charset="0"/>
              </a:rPr>
              <a:t>与频率成正比</a:t>
            </a:r>
            <a:endParaRPr lang="zh-CN" altLang="en-US" sz="2000" b="1" dirty="0">
              <a:solidFill>
                <a:srgbClr val="1EA2EE"/>
              </a:solidFill>
            </a:endParaRPr>
          </a:p>
        </p:txBody>
      </p:sp>
      <p:sp>
        <p:nvSpPr>
          <p:cNvPr id="21" name="矩形 20">
            <a:extLst>
              <a:ext uri="{FF2B5EF4-FFF2-40B4-BE49-F238E27FC236}">
                <a16:creationId xmlns:a16="http://schemas.microsoft.com/office/drawing/2014/main" id="{7DAF5D29-224F-48BF-B738-A98DA0829E45}"/>
              </a:ext>
            </a:extLst>
          </p:cNvPr>
          <p:cNvSpPr/>
          <p:nvPr/>
        </p:nvSpPr>
        <p:spPr>
          <a:xfrm>
            <a:off x="3668147" y="4898828"/>
            <a:ext cx="1475084" cy="400110"/>
          </a:xfrm>
          <a:prstGeom prst="rect">
            <a:avLst/>
          </a:prstGeom>
        </p:spPr>
        <p:txBody>
          <a:bodyPr wrap="none">
            <a:spAutoFit/>
          </a:bodyPr>
          <a:lstStyle/>
          <a:p>
            <a:r>
              <a:rPr lang="zh-CN" altLang="en-US" sz="2000" b="1" dirty="0">
                <a:solidFill>
                  <a:srgbClr val="1EA2EE"/>
                </a:solidFill>
                <a:sym typeface="Arial" pitchFamily="34" charset="0"/>
              </a:rPr>
              <a:t>与频率无关</a:t>
            </a:r>
            <a:endParaRPr lang="zh-CN" altLang="en-US" sz="2000" b="1" dirty="0">
              <a:solidFill>
                <a:srgbClr val="1EA2EE"/>
              </a:solidFill>
            </a:endParaRPr>
          </a:p>
        </p:txBody>
      </p:sp>
      <p:sp>
        <p:nvSpPr>
          <p:cNvPr id="22" name="矩形 21">
            <a:extLst>
              <a:ext uri="{FF2B5EF4-FFF2-40B4-BE49-F238E27FC236}">
                <a16:creationId xmlns:a16="http://schemas.microsoft.com/office/drawing/2014/main" id="{AF8A4894-B765-4C07-B673-E156AA5482A7}"/>
              </a:ext>
            </a:extLst>
          </p:cNvPr>
          <p:cNvSpPr/>
          <p:nvPr/>
        </p:nvSpPr>
        <p:spPr>
          <a:xfrm>
            <a:off x="1217296" y="6076175"/>
            <a:ext cx="3305713" cy="430887"/>
          </a:xfrm>
          <a:prstGeom prst="rect">
            <a:avLst/>
          </a:prstGeom>
        </p:spPr>
        <p:txBody>
          <a:bodyPr wrap="none">
            <a:spAutoFit/>
          </a:bodyPr>
          <a:lstStyle/>
          <a:p>
            <a:r>
              <a:rPr lang="zh-CN" altLang="en-US" sz="2200" b="1" dirty="0">
                <a:solidFill>
                  <a:srgbClr val="0000FF"/>
                </a:solidFill>
              </a:rPr>
              <a:t>传感器表现出高通的特性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41987" name="Text Box 12"/>
          <p:cNvSpPr>
            <a:spLocks noChangeArrowheads="1"/>
          </p:cNvSpPr>
          <p:nvPr/>
        </p:nvSpPr>
        <p:spPr bwMode="auto">
          <a:xfrm>
            <a:off x="12795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endParaRPr lang="zh-CN" altLang="zh-CN" sz="2400">
              <a:latin typeface="Times New Roman" pitchFamily="18" charset="0"/>
              <a:sym typeface="Times New Roman" pitchFamily="18" charset="0"/>
            </a:endParaRPr>
          </a:p>
        </p:txBody>
      </p:sp>
      <p:sp>
        <p:nvSpPr>
          <p:cNvPr id="41988"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误差因素分析</a:t>
            </a:r>
            <a:endParaRPr lang="zh-CN" altLang="en-US"/>
          </a:p>
        </p:txBody>
      </p:sp>
      <p:sp>
        <p:nvSpPr>
          <p:cNvPr id="41989" name="Text Box 4"/>
          <p:cNvSpPr>
            <a:spLocks noChangeArrowheads="1"/>
          </p:cNvSpPr>
          <p:nvPr/>
        </p:nvSpPr>
        <p:spPr bwMode="auto">
          <a:xfrm>
            <a:off x="271693" y="1136000"/>
            <a:ext cx="8280400" cy="2741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① </a:t>
            </a:r>
            <a:r>
              <a:rPr lang="zh-CN" altLang="en-US" sz="2400" dirty="0">
                <a:solidFill>
                  <a:srgbClr val="C00000"/>
                </a:solidFill>
                <a:ea typeface="楷体_GB2312" pitchFamily="49" charset="-122"/>
                <a:sym typeface="Arial" pitchFamily="34" charset="0"/>
              </a:rPr>
              <a:t>激励电压</a:t>
            </a:r>
            <a:r>
              <a:rPr lang="en-US" altLang="zh-CN" sz="3600" b="1" i="1" dirty="0">
                <a:latin typeface="Times New Roman" panose="02020603050405020304" pitchFamily="18" charset="0"/>
                <a:cs typeface="Times New Roman" panose="02020603050405020304" pitchFamily="18" charset="0"/>
                <a:sym typeface="Arial" pitchFamily="34" charset="0"/>
              </a:rPr>
              <a:t>e</a:t>
            </a:r>
            <a:r>
              <a:rPr lang="en-US" altLang="zh-CN" sz="2000" b="1" i="1" dirty="0">
                <a:latin typeface="Times New Roman" panose="02020603050405020304" pitchFamily="18" charset="0"/>
                <a:cs typeface="Times New Roman" panose="02020603050405020304" pitchFamily="18" charset="0"/>
                <a:sym typeface="Arial" pitchFamily="34" charset="0"/>
              </a:rPr>
              <a:t>1</a:t>
            </a:r>
            <a:r>
              <a:rPr lang="zh-CN" altLang="en-US" sz="2400" dirty="0">
                <a:solidFill>
                  <a:srgbClr val="C00000"/>
                </a:solidFill>
                <a:ea typeface="楷体_GB2312" pitchFamily="49" charset="-122"/>
                <a:sym typeface="Arial" pitchFamily="34" charset="0"/>
              </a:rPr>
              <a:t>的幅值与频率的影响</a:t>
            </a:r>
          </a:p>
          <a:p>
            <a:pPr lvl="1" eaLnBrk="1" hangingPunct="1">
              <a:lnSpc>
                <a:spcPct val="130000"/>
              </a:lnSpc>
              <a:spcBef>
                <a:spcPct val="30000"/>
              </a:spcBef>
              <a:buFont typeface="Wingdings" pitchFamily="2" charset="2"/>
              <a:buChar char="u"/>
            </a:pPr>
            <a:r>
              <a:rPr lang="zh-CN" altLang="en-US" sz="2400" dirty="0">
                <a:solidFill>
                  <a:srgbClr val="0000FF"/>
                </a:solidFill>
                <a:latin typeface="楷体_GB2312" pitchFamily="49" charset="-122"/>
                <a:ea typeface="楷体_GB2312" pitchFamily="49" charset="-122"/>
                <a:sym typeface="楷体_GB2312" pitchFamily="49" charset="-122"/>
              </a:rPr>
              <a:t>幅值波动</a:t>
            </a:r>
            <a:r>
              <a:rPr lang="zh-CN" altLang="en-US" sz="2400" dirty="0">
                <a:latin typeface="楷体_GB2312" pitchFamily="49" charset="-122"/>
                <a:ea typeface="楷体_GB2312" pitchFamily="49" charset="-122"/>
                <a:sym typeface="楷体_GB2312" pitchFamily="49" charset="-122"/>
              </a:rPr>
              <a:t>：</a:t>
            </a:r>
          </a:p>
          <a:p>
            <a:pPr lvl="1" eaLnBrk="1" hangingPunct="1">
              <a:lnSpc>
                <a:spcPct val="130000"/>
              </a:lnSpc>
              <a:spcBef>
                <a:spcPct val="30000"/>
              </a:spcBef>
              <a:buFont typeface="Wingdings" pitchFamily="2" charset="2"/>
              <a:buNone/>
            </a:pPr>
            <a:r>
              <a:rPr lang="zh-CN" altLang="en-US" sz="2400" dirty="0">
                <a:latin typeface="楷体_GB2312" pitchFamily="49" charset="-122"/>
                <a:ea typeface="楷体_GB2312" pitchFamily="49" charset="-122"/>
                <a:sym typeface="楷体_GB2312" pitchFamily="49" charset="-122"/>
              </a:rPr>
              <a:t>会使线圈激励磁场的磁通发生变化，直接影响输出电势。</a:t>
            </a:r>
          </a:p>
          <a:p>
            <a:pPr lvl="1" eaLnBrk="1" hangingPunct="1">
              <a:lnSpc>
                <a:spcPct val="130000"/>
              </a:lnSpc>
              <a:buFont typeface="Wingdings" pitchFamily="2" charset="2"/>
              <a:buChar char="u"/>
            </a:pPr>
            <a:r>
              <a:rPr lang="zh-CN" altLang="en-US" sz="2400" dirty="0">
                <a:solidFill>
                  <a:srgbClr val="0000FF"/>
                </a:solidFill>
                <a:latin typeface="楷体_GB2312" pitchFamily="49" charset="-122"/>
                <a:ea typeface="楷体_GB2312" pitchFamily="49" charset="-122"/>
                <a:sym typeface="楷体_GB2312" pitchFamily="49" charset="-122"/>
              </a:rPr>
              <a:t>频率波动</a:t>
            </a:r>
            <a:r>
              <a:rPr lang="zh-CN" altLang="en-US" sz="2400" dirty="0">
                <a:latin typeface="楷体_GB2312" pitchFamily="49" charset="-122"/>
                <a:ea typeface="楷体_GB2312" pitchFamily="49" charset="-122"/>
                <a:sym typeface="楷体_GB2312" pitchFamily="49" charset="-122"/>
              </a:rPr>
              <a:t>：</a:t>
            </a:r>
          </a:p>
          <a:p>
            <a:pPr lvl="1" eaLnBrk="1" hangingPunct="1">
              <a:lnSpc>
                <a:spcPct val="130000"/>
              </a:lnSpc>
              <a:buFont typeface="Wingdings" pitchFamily="2" charset="2"/>
              <a:buNone/>
            </a:pPr>
            <a:r>
              <a:rPr lang="zh-CN" altLang="en-US" sz="2400" dirty="0">
                <a:latin typeface="楷体_GB2312" pitchFamily="49" charset="-122"/>
                <a:ea typeface="楷体_GB2312" pitchFamily="49" charset="-122"/>
                <a:sym typeface="楷体_GB2312" pitchFamily="49" charset="-122"/>
              </a:rPr>
              <a:t>只要适当地选择较高频率，频率的波动影响不大。</a:t>
            </a:r>
            <a:endParaRPr lang="zh-CN" altLang="en-US" dirty="0"/>
          </a:p>
        </p:txBody>
      </p:sp>
      <p:sp>
        <p:nvSpPr>
          <p:cNvPr id="41990" name="Text Box 5"/>
          <p:cNvSpPr>
            <a:spLocks noChangeArrowheads="1"/>
          </p:cNvSpPr>
          <p:nvPr/>
        </p:nvSpPr>
        <p:spPr bwMode="auto">
          <a:xfrm>
            <a:off x="296863" y="4257675"/>
            <a:ext cx="8686800"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solidFill>
                  <a:srgbClr val="C00000"/>
                </a:solidFill>
                <a:ea typeface="楷体_GB2312" pitchFamily="49" charset="-122"/>
                <a:sym typeface="Arial" pitchFamily="34" charset="0"/>
              </a:rPr>
              <a:t>② 环境温度变化的影响</a:t>
            </a:r>
          </a:p>
          <a:p>
            <a:pPr lvl="1" eaLnBrk="1" hangingPunct="1">
              <a:lnSpc>
                <a:spcPct val="120000"/>
              </a:lnSpc>
              <a:spcBef>
                <a:spcPct val="30000"/>
              </a:spcBef>
              <a:buFont typeface="Wingdings" pitchFamily="2" charset="2"/>
              <a:buNone/>
            </a:pPr>
            <a:r>
              <a:rPr lang="zh-CN" altLang="en-US" sz="2400" dirty="0">
                <a:latin typeface="楷体_GB2312" pitchFamily="49" charset="-122"/>
                <a:ea typeface="楷体_GB2312" pitchFamily="49" charset="-122"/>
                <a:sym typeface="楷体_GB2312" pitchFamily="49" charset="-122"/>
              </a:rPr>
              <a:t>周围环境温度的变化，引起</a:t>
            </a:r>
            <a:r>
              <a:rPr lang="zh-CN" altLang="en-US" sz="2400" dirty="0">
                <a:solidFill>
                  <a:srgbClr val="0000FF"/>
                </a:solidFill>
                <a:latin typeface="楷体_GB2312" pitchFamily="49" charset="-122"/>
                <a:ea typeface="楷体_GB2312" pitchFamily="49" charset="-122"/>
                <a:sym typeface="楷体_GB2312" pitchFamily="49" charset="-122"/>
              </a:rPr>
              <a:t>线圈及导磁体磁导率的变化</a:t>
            </a:r>
            <a:r>
              <a:rPr lang="zh-CN" altLang="en-US" sz="2400" dirty="0">
                <a:latin typeface="楷体_GB2312" pitchFamily="49" charset="-122"/>
                <a:ea typeface="楷体_GB2312" pitchFamily="49" charset="-122"/>
                <a:sym typeface="楷体_GB2312" pitchFamily="49" charset="-122"/>
              </a:rPr>
              <a:t>，从而使线圈磁场发生变化产生温度漂移。</a:t>
            </a:r>
          </a:p>
          <a:p>
            <a:pPr lvl="1" eaLnBrk="1" hangingPunct="1">
              <a:lnSpc>
                <a:spcPct val="120000"/>
              </a:lnSpc>
              <a:spcBef>
                <a:spcPct val="30000"/>
              </a:spcBef>
              <a:buFont typeface="Wingdings" pitchFamily="2" charset="2"/>
              <a:buNone/>
            </a:pPr>
            <a:r>
              <a:rPr lang="zh-CN" altLang="en-US" sz="2400" dirty="0">
                <a:latin typeface="楷体_GB2312" pitchFamily="49" charset="-122"/>
                <a:ea typeface="楷体_GB2312" pitchFamily="49" charset="-122"/>
                <a:sym typeface="楷体_GB2312" pitchFamily="49" charset="-122"/>
              </a:rPr>
              <a:t>方法：</a:t>
            </a:r>
            <a:r>
              <a:rPr lang="zh-CN" altLang="en-US" sz="2400" dirty="0">
                <a:solidFill>
                  <a:srgbClr val="FF0000"/>
                </a:solidFill>
                <a:latin typeface="楷体_GB2312" pitchFamily="49" charset="-122"/>
                <a:ea typeface="楷体_GB2312" pitchFamily="49" charset="-122"/>
                <a:sym typeface="楷体_GB2312" pitchFamily="49" charset="-122"/>
              </a:rPr>
              <a:t>提高线圈品质因数</a:t>
            </a:r>
            <a:r>
              <a:rPr lang="zh-CN" altLang="en-US" sz="2400" dirty="0">
                <a:latin typeface="楷体_GB2312" pitchFamily="49" charset="-122"/>
                <a:ea typeface="楷体_GB2312" pitchFamily="49" charset="-122"/>
                <a:sym typeface="楷体_GB2312" pitchFamily="49" charset="-122"/>
              </a:rPr>
              <a:t>、</a:t>
            </a:r>
            <a:r>
              <a:rPr lang="zh-CN" altLang="en-US" sz="2400" dirty="0">
                <a:solidFill>
                  <a:srgbClr val="FF0000"/>
                </a:solidFill>
                <a:latin typeface="楷体_GB2312" pitchFamily="49" charset="-122"/>
                <a:ea typeface="楷体_GB2312" pitchFamily="49" charset="-122"/>
                <a:sym typeface="楷体_GB2312" pitchFamily="49" charset="-122"/>
              </a:rPr>
              <a:t>采用差动电桥</a:t>
            </a:r>
            <a:r>
              <a:rPr lang="zh-CN" altLang="en-US" sz="2400" dirty="0">
                <a:latin typeface="楷体_GB2312" pitchFamily="49" charset="-122"/>
                <a:ea typeface="楷体_GB2312" pitchFamily="49" charset="-122"/>
                <a:sym typeface="楷体_GB2312" pitchFamily="49" charset="-122"/>
              </a:rPr>
              <a:t>、</a:t>
            </a:r>
            <a:r>
              <a:rPr lang="zh-CN" altLang="en-US" sz="2400" dirty="0">
                <a:solidFill>
                  <a:srgbClr val="FF0000"/>
                </a:solidFill>
                <a:latin typeface="楷体_GB2312" pitchFamily="49" charset="-122"/>
                <a:ea typeface="楷体_GB2312" pitchFamily="49" charset="-122"/>
                <a:sym typeface="楷体_GB2312" pitchFamily="49" charset="-122"/>
              </a:rPr>
              <a:t>恒流源激励</a:t>
            </a:r>
          </a:p>
        </p:txBody>
      </p:sp>
      <p:sp>
        <p:nvSpPr>
          <p:cNvPr id="7" name="矩形 6">
            <a:extLst>
              <a:ext uri="{FF2B5EF4-FFF2-40B4-BE49-F238E27FC236}">
                <a16:creationId xmlns:a16="http://schemas.microsoft.com/office/drawing/2014/main" id="{C1628DBD-2A30-4A18-947E-B386D1EDB67F}"/>
              </a:ext>
            </a:extLst>
          </p:cNvPr>
          <p:cNvSpPr/>
          <p:nvPr/>
        </p:nvSpPr>
        <p:spPr>
          <a:xfrm>
            <a:off x="4409273" y="3829020"/>
            <a:ext cx="3281668" cy="400110"/>
          </a:xfrm>
          <a:prstGeom prst="rect">
            <a:avLst/>
          </a:prstGeom>
        </p:spPr>
        <p:txBody>
          <a:bodyPr wrap="none">
            <a:spAutoFit/>
          </a:bodyPr>
          <a:lstStyle/>
          <a:p>
            <a:r>
              <a:rPr lang="zh-CN" altLang="en-US" sz="2000" b="1" dirty="0">
                <a:solidFill>
                  <a:srgbClr val="1EA2EE"/>
                </a:solidFill>
                <a:sym typeface="Arial" pitchFamily="34" charset="0"/>
              </a:rPr>
              <a:t>高频下，灵敏度与频率无关</a:t>
            </a:r>
            <a:endParaRPr lang="zh-CN" altLang="en-US" sz="2000" b="1" dirty="0">
              <a:solidFill>
                <a:srgbClr val="1EA2EE"/>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fld id="{BD05980E-60CC-4C90-A0B3-3E863E9F3BDA}" type="slidenum">
              <a:rPr lang="zh-CN" altLang="en-US"/>
              <a:pPr/>
              <a:t>43</a:t>
            </a:fld>
            <a:endParaRPr lang="zh-CN" altLang="en-US" sz="1800">
              <a:solidFill>
                <a:schemeClr val="tx1"/>
              </a:solidFill>
              <a:latin typeface="Arial" pitchFamily="34" charset="0"/>
            </a:endParaRPr>
          </a:p>
        </p:txBody>
      </p:sp>
      <p:sp>
        <p:nvSpPr>
          <p:cNvPr id="4301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43011" name="Text Box 12"/>
          <p:cNvSpPr>
            <a:spLocks noChangeArrowheads="1"/>
          </p:cNvSpPr>
          <p:nvPr/>
        </p:nvSpPr>
        <p:spPr bwMode="auto">
          <a:xfrm>
            <a:off x="12795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endParaRPr lang="zh-CN" altLang="zh-CN" sz="2400">
              <a:latin typeface="Times New Roman" pitchFamily="18" charset="0"/>
              <a:sym typeface="Times New Roman" pitchFamily="18" charset="0"/>
            </a:endParaRPr>
          </a:p>
        </p:txBody>
      </p:sp>
      <p:sp>
        <p:nvSpPr>
          <p:cNvPr id="43012"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误差因素分析</a:t>
            </a:r>
            <a:endParaRPr lang="zh-CN" altLang="en-US"/>
          </a:p>
        </p:txBody>
      </p:sp>
      <p:sp>
        <p:nvSpPr>
          <p:cNvPr id="43013" name="Rectangle 2"/>
          <p:cNvSpPr>
            <a:spLocks noChangeArrowheads="1"/>
          </p:cNvSpPr>
          <p:nvPr/>
        </p:nvSpPr>
        <p:spPr bwMode="auto">
          <a:xfrm>
            <a:off x="385763" y="1177660"/>
            <a:ext cx="36359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2800" dirty="0">
                <a:solidFill>
                  <a:srgbClr val="C00000"/>
                </a:solidFill>
                <a:ea typeface="楷体_GB2312" pitchFamily="49" charset="-122"/>
              </a:rPr>
              <a:t>③ 零点残余电压</a:t>
            </a:r>
            <a:r>
              <a:rPr lang="en-US" altLang="zh-CN" sz="2800" dirty="0">
                <a:solidFill>
                  <a:srgbClr val="C00000"/>
                </a:solidFill>
                <a:ea typeface="楷体_GB2312" pitchFamily="49" charset="-122"/>
              </a:rPr>
              <a:t>-</a:t>
            </a:r>
            <a:r>
              <a:rPr lang="zh-CN" altLang="en-US" sz="2800" dirty="0">
                <a:solidFill>
                  <a:srgbClr val="C00000"/>
                </a:solidFill>
                <a:ea typeface="楷体_GB2312" pitchFamily="49" charset="-122"/>
              </a:rPr>
              <a:t>定义</a:t>
            </a:r>
            <a:endParaRPr lang="zh-CN" altLang="en-US" sz="2800" dirty="0">
              <a:solidFill>
                <a:srgbClr val="C00000"/>
              </a:solidFill>
            </a:endParaRPr>
          </a:p>
        </p:txBody>
      </p:sp>
      <p:sp>
        <p:nvSpPr>
          <p:cNvPr id="43014" name="Text Box 3"/>
          <p:cNvSpPr>
            <a:spLocks noChangeArrowheads="1"/>
          </p:cNvSpPr>
          <p:nvPr/>
        </p:nvSpPr>
        <p:spPr bwMode="auto">
          <a:xfrm>
            <a:off x="785813" y="1753771"/>
            <a:ext cx="8010525"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spcBef>
                <a:spcPct val="50000"/>
              </a:spcBef>
              <a:buFont typeface="Wingdings" pitchFamily="2" charset="2"/>
              <a:buChar char="u"/>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当差动变压器衔铁处于中间位置时，理想条件下其输出电压为零。但实际上仍有一微小的电压值</a:t>
            </a:r>
            <a:r>
              <a:rPr lang="en-US" sz="2400" dirty="0">
                <a:latin typeface="楷体_GB2312" pitchFamily="49" charset="-122"/>
                <a:ea typeface="楷体_GB2312" pitchFamily="49" charset="-122"/>
                <a:sym typeface="楷体_GB2312" pitchFamily="49" charset="-122"/>
              </a:rPr>
              <a:t>(</a:t>
            </a:r>
            <a:r>
              <a:rPr lang="zh-CN" altLang="en-US" sz="2400" dirty="0">
                <a:latin typeface="楷体_GB2312" pitchFamily="49" charset="-122"/>
                <a:ea typeface="楷体_GB2312" pitchFamily="49" charset="-122"/>
                <a:sym typeface="楷体_GB2312" pitchFamily="49" charset="-122"/>
              </a:rPr>
              <a:t>从</a:t>
            </a:r>
            <a:r>
              <a:rPr lang="zh-CN" altLang="en-US" sz="2400" dirty="0">
                <a:ea typeface="楷体_GB2312" pitchFamily="49" charset="-122"/>
                <a:sym typeface="楷体_GB2312" pitchFamily="49" charset="-122"/>
              </a:rPr>
              <a:t>零点几</a:t>
            </a:r>
            <a:r>
              <a:rPr lang="en-US" sz="2400" i="1" dirty="0">
                <a:ea typeface="楷体_GB2312" pitchFamily="49" charset="-122"/>
                <a:sym typeface="楷体_GB2312" pitchFamily="49" charset="-122"/>
              </a:rPr>
              <a:t>mV </a:t>
            </a:r>
            <a:r>
              <a:rPr lang="zh-CN" altLang="en-US" sz="2400" dirty="0">
                <a:ea typeface="楷体_GB2312" pitchFamily="49" charset="-122"/>
                <a:sym typeface="楷体_GB2312" pitchFamily="49" charset="-122"/>
              </a:rPr>
              <a:t>到</a:t>
            </a:r>
            <a:r>
              <a:rPr lang="zh-CN" altLang="en-US" sz="2400" dirty="0">
                <a:latin typeface="楷体_GB2312" pitchFamily="49" charset="-122"/>
                <a:ea typeface="楷体_GB2312" pitchFamily="49" charset="-122"/>
                <a:sym typeface="楷体_GB2312" pitchFamily="49" charset="-122"/>
              </a:rPr>
              <a:t>数十</a:t>
            </a:r>
            <a:r>
              <a:rPr lang="en-US" sz="2400" i="1" dirty="0">
                <a:latin typeface="楷体_GB2312" pitchFamily="49" charset="-122"/>
                <a:ea typeface="楷体_GB2312" pitchFamily="49" charset="-122"/>
                <a:sym typeface="楷体_GB2312" pitchFamily="49" charset="-122"/>
              </a:rPr>
              <a:t>mV </a:t>
            </a:r>
            <a:r>
              <a:rPr lang="en-US" sz="2400" dirty="0">
                <a:latin typeface="楷体_GB2312" pitchFamily="49" charset="-122"/>
                <a:ea typeface="楷体_GB2312" pitchFamily="49" charset="-122"/>
                <a:sym typeface="楷体_GB2312" pitchFamily="49" charset="-122"/>
              </a:rPr>
              <a:t>)</a:t>
            </a:r>
            <a:r>
              <a:rPr lang="zh-CN" altLang="en-US" sz="2400" dirty="0">
                <a:latin typeface="楷体_GB2312" pitchFamily="49" charset="-122"/>
                <a:ea typeface="楷体_GB2312" pitchFamily="49" charset="-122"/>
                <a:sym typeface="楷体_GB2312" pitchFamily="49" charset="-122"/>
              </a:rPr>
              <a:t>存在，称为</a:t>
            </a:r>
            <a:r>
              <a:rPr lang="zh-CN" altLang="en-US" sz="2400" dirty="0">
                <a:solidFill>
                  <a:srgbClr val="CC0000"/>
                </a:solidFill>
                <a:latin typeface="楷体_GB2312" pitchFamily="49" charset="-122"/>
                <a:ea typeface="楷体_GB2312" pitchFamily="49" charset="-122"/>
                <a:sym typeface="楷体_GB2312" pitchFamily="49" charset="-122"/>
              </a:rPr>
              <a:t>零点残余电压</a:t>
            </a:r>
            <a:r>
              <a:rPr lang="zh-CN" altLang="en-US" sz="2400" dirty="0">
                <a:latin typeface="楷体_GB2312" pitchFamily="49" charset="-122"/>
                <a:ea typeface="楷体_GB2312" pitchFamily="49" charset="-122"/>
                <a:sym typeface="楷体_GB2312" pitchFamily="49" charset="-122"/>
              </a:rPr>
              <a:t>。</a:t>
            </a:r>
            <a:endParaRPr lang="zh-CN" altLang="en-US" dirty="0"/>
          </a:p>
        </p:txBody>
      </p:sp>
      <p:grpSp>
        <p:nvGrpSpPr>
          <p:cNvPr id="43015" name="Group 4"/>
          <p:cNvGrpSpPr>
            <a:grpSpLocks/>
          </p:cNvGrpSpPr>
          <p:nvPr/>
        </p:nvGrpSpPr>
        <p:grpSpPr bwMode="auto">
          <a:xfrm>
            <a:off x="4410554" y="3228181"/>
            <a:ext cx="4095750" cy="2828925"/>
            <a:chOff x="0" y="0"/>
            <a:chExt cx="2580" cy="1782"/>
          </a:xfrm>
        </p:grpSpPr>
        <p:pic>
          <p:nvPicPr>
            <p:cNvPr id="4301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 y="0"/>
              <a:ext cx="2322"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7" name="Text Box 6"/>
            <p:cNvSpPr>
              <a:spLocks noChangeArrowheads="1"/>
            </p:cNvSpPr>
            <p:nvPr/>
          </p:nvSpPr>
          <p:spPr bwMode="auto">
            <a:xfrm>
              <a:off x="0" y="1324"/>
              <a:ext cx="2580"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ea typeface="楷体_GB2312" pitchFamily="49" charset="-122"/>
                  <a:sym typeface="Arial" pitchFamily="34" charset="0"/>
                </a:rPr>
                <a:t>图</a:t>
              </a:r>
              <a:r>
                <a:rPr lang="en-US" sz="2000">
                  <a:latin typeface="Times New Roman" pitchFamily="18" charset="0"/>
                  <a:ea typeface="楷体_GB2312" pitchFamily="49" charset="-122"/>
                  <a:sym typeface="Times New Roman" pitchFamily="18" charset="0"/>
                </a:rPr>
                <a:t>4-21 </a:t>
              </a:r>
              <a:r>
                <a:rPr lang="zh-CN" altLang="en-US" sz="2000">
                  <a:ea typeface="楷体_GB2312" pitchFamily="49" charset="-122"/>
                  <a:sym typeface="Arial" pitchFamily="34" charset="0"/>
                </a:rPr>
                <a:t>差动变压器的零点残余电压</a:t>
              </a:r>
            </a:p>
            <a:p>
              <a:pPr algn="ctr" eaLnBrk="1" hangingPunct="1">
                <a:spcBef>
                  <a:spcPct val="20000"/>
                </a:spcBef>
              </a:pPr>
              <a:r>
                <a:rPr lang="en-US">
                  <a:latin typeface="Times New Roman" pitchFamily="18" charset="0"/>
                  <a:ea typeface="楷体_GB2312" pitchFamily="49" charset="-122"/>
                  <a:sym typeface="Times New Roman" pitchFamily="18" charset="0"/>
                </a:rPr>
                <a:t>1——</a:t>
              </a:r>
              <a:r>
                <a:rPr lang="zh-CN" altLang="en-US">
                  <a:ea typeface="楷体_GB2312" pitchFamily="49" charset="-122"/>
                  <a:sym typeface="Arial" pitchFamily="34" charset="0"/>
                </a:rPr>
                <a:t>实际</a:t>
              </a:r>
              <a:r>
                <a:rPr lang="zh-CN" altLang="en-US">
                  <a:latin typeface="Times New Roman" pitchFamily="18" charset="0"/>
                  <a:ea typeface="楷体_GB2312" pitchFamily="49" charset="-122"/>
                  <a:sym typeface="Times New Roman" pitchFamily="18" charset="0"/>
                </a:rPr>
                <a:t>特性    </a:t>
              </a:r>
              <a:r>
                <a:rPr lang="en-US">
                  <a:latin typeface="Times New Roman" pitchFamily="18" charset="0"/>
                  <a:ea typeface="楷体_GB2312" pitchFamily="49" charset="-122"/>
                  <a:sym typeface="Times New Roman" pitchFamily="18" charset="0"/>
                </a:rPr>
                <a:t>2——</a:t>
              </a:r>
              <a:r>
                <a:rPr lang="zh-CN" altLang="en-US">
                  <a:ea typeface="楷体_GB2312" pitchFamily="49" charset="-122"/>
                  <a:sym typeface="Arial" pitchFamily="34" charset="0"/>
                </a:rPr>
                <a:t>理想特性</a:t>
              </a:r>
              <a:endParaRPr lang="zh-CN" altLang="en-US"/>
            </a:p>
          </p:txBody>
        </p:sp>
      </p:grpSp>
      <p:sp>
        <p:nvSpPr>
          <p:cNvPr id="43018" name="Text Box 7"/>
          <p:cNvSpPr>
            <a:spLocks noChangeArrowheads="1"/>
          </p:cNvSpPr>
          <p:nvPr/>
        </p:nvSpPr>
        <p:spPr bwMode="auto">
          <a:xfrm>
            <a:off x="637696" y="3588166"/>
            <a:ext cx="3519334"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200" b="1" dirty="0">
                <a:sym typeface="Arial" pitchFamily="34" charset="0"/>
              </a:rPr>
              <a:t>后果：</a:t>
            </a:r>
            <a:r>
              <a:rPr lang="zh-CN" altLang="en-US" sz="2200" dirty="0">
                <a:sym typeface="Arial" pitchFamily="34" charset="0"/>
              </a:rPr>
              <a:t>零点残余电压的存在造成零点附近的不灵敏区；零点残余电压输入放大器内会使放大器末级趋向饱和，影响电路正常工作。</a:t>
            </a:r>
            <a:r>
              <a:rPr lang="zh-CN" altLang="en-US" sz="2200" b="1" dirty="0">
                <a:sym typeface="Arial" pitchFamily="34" charset="0"/>
              </a:rPr>
              <a:t> </a:t>
            </a:r>
            <a:endParaRPr lang="zh-CN" altLang="en-US"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DF75A1AD-F004-4721-B2A3-852BD5D3F2E9}" type="slidenum">
              <a:rPr lang="en-US" sz="1200">
                <a:solidFill>
                  <a:srgbClr val="000000"/>
                </a:solidFill>
                <a:latin typeface="Arial Black" pitchFamily="34" charset="0"/>
                <a:sym typeface="Arial Black" pitchFamily="34" charset="0"/>
              </a:rPr>
              <a:pPr algn="r" eaLnBrk="1" hangingPunct="1"/>
              <a:t>44</a:t>
            </a:fld>
            <a:endParaRPr lang="en-US" sz="1200" dirty="0">
              <a:latin typeface="Arial Black" pitchFamily="34" charset="0"/>
              <a:sym typeface="Arial Black" pitchFamily="34" charset="0"/>
            </a:endParaRPr>
          </a:p>
        </p:txBody>
      </p:sp>
      <p:pic>
        <p:nvPicPr>
          <p:cNvPr id="4403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7990" y="0"/>
            <a:ext cx="4476750"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8" name="Rectangle 4"/>
          <p:cNvSpPr>
            <a:spLocks noChangeArrowheads="1"/>
          </p:cNvSpPr>
          <p:nvPr/>
        </p:nvSpPr>
        <p:spPr bwMode="auto">
          <a:xfrm>
            <a:off x="5023302" y="4373553"/>
            <a:ext cx="3286125" cy="212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dirty="0">
                <a:solidFill>
                  <a:srgbClr val="0033CC"/>
                </a:solidFill>
                <a:latin typeface="楷体_GB2312" pitchFamily="49" charset="-122"/>
                <a:ea typeface="楷体_GB2312" pitchFamily="49" charset="-122"/>
                <a:sym typeface="楷体_GB2312" pitchFamily="49" charset="-122"/>
              </a:rPr>
              <a:t>1</a:t>
            </a:r>
            <a:r>
              <a:rPr lang="en-US" dirty="0">
                <a:solidFill>
                  <a:srgbClr val="0033CC"/>
                </a:solidFill>
                <a:latin typeface="Times New Roman" pitchFamily="18" charset="0"/>
                <a:ea typeface="楷体_GB2312" pitchFamily="49" charset="-122"/>
                <a:sym typeface="Times New Roman" pitchFamily="18" charset="0"/>
              </a:rPr>
              <a:t>——</a:t>
            </a:r>
            <a:r>
              <a:rPr lang="zh-CN" altLang="en-US" dirty="0">
                <a:solidFill>
                  <a:srgbClr val="0033CC"/>
                </a:solidFill>
                <a:latin typeface="楷体_GB2312" pitchFamily="49" charset="-122"/>
                <a:ea typeface="楷体_GB2312" pitchFamily="49" charset="-122"/>
                <a:sym typeface="楷体_GB2312" pitchFamily="49" charset="-122"/>
              </a:rPr>
              <a:t>基波正交分量；</a:t>
            </a:r>
          </a:p>
          <a:p>
            <a:pPr eaLnBrk="1" hangingPunct="1">
              <a:lnSpc>
                <a:spcPct val="150000"/>
              </a:lnSpc>
            </a:pPr>
            <a:r>
              <a:rPr lang="en-US" dirty="0">
                <a:solidFill>
                  <a:srgbClr val="0033CC"/>
                </a:solidFill>
                <a:latin typeface="楷体_GB2312" pitchFamily="49" charset="-122"/>
                <a:ea typeface="楷体_GB2312" pitchFamily="49" charset="-122"/>
                <a:sym typeface="楷体_GB2312" pitchFamily="49" charset="-122"/>
              </a:rPr>
              <a:t>2</a:t>
            </a:r>
            <a:r>
              <a:rPr lang="en-US" dirty="0">
                <a:solidFill>
                  <a:srgbClr val="0033CC"/>
                </a:solidFill>
                <a:latin typeface="Times New Roman" pitchFamily="18" charset="0"/>
                <a:ea typeface="楷体_GB2312" pitchFamily="49" charset="-122"/>
                <a:sym typeface="Times New Roman" pitchFamily="18" charset="0"/>
              </a:rPr>
              <a:t>——</a:t>
            </a:r>
            <a:r>
              <a:rPr lang="zh-CN" altLang="en-US" dirty="0">
                <a:solidFill>
                  <a:srgbClr val="0033CC"/>
                </a:solidFill>
                <a:latin typeface="楷体_GB2312" pitchFamily="49" charset="-122"/>
                <a:ea typeface="楷体_GB2312" pitchFamily="49" charset="-122"/>
                <a:sym typeface="楷体_GB2312" pitchFamily="49" charset="-122"/>
              </a:rPr>
              <a:t>基波同相分量；</a:t>
            </a:r>
          </a:p>
          <a:p>
            <a:pPr eaLnBrk="1" hangingPunct="1">
              <a:lnSpc>
                <a:spcPct val="150000"/>
              </a:lnSpc>
            </a:pPr>
            <a:r>
              <a:rPr lang="en-US" dirty="0">
                <a:solidFill>
                  <a:srgbClr val="0033CC"/>
                </a:solidFill>
                <a:latin typeface="楷体_GB2312" pitchFamily="49" charset="-122"/>
                <a:ea typeface="楷体_GB2312" pitchFamily="49" charset="-122"/>
                <a:sym typeface="楷体_GB2312" pitchFamily="49" charset="-122"/>
              </a:rPr>
              <a:t>3</a:t>
            </a:r>
            <a:r>
              <a:rPr lang="en-US" dirty="0">
                <a:solidFill>
                  <a:srgbClr val="0033CC"/>
                </a:solidFill>
                <a:latin typeface="Times New Roman" pitchFamily="18" charset="0"/>
                <a:ea typeface="楷体_GB2312" pitchFamily="49" charset="-122"/>
                <a:sym typeface="Times New Roman" pitchFamily="18" charset="0"/>
              </a:rPr>
              <a:t>——</a:t>
            </a:r>
            <a:r>
              <a:rPr lang="zh-CN" altLang="en-US" dirty="0">
                <a:solidFill>
                  <a:srgbClr val="0033CC"/>
                </a:solidFill>
                <a:latin typeface="楷体_GB2312" pitchFamily="49" charset="-122"/>
                <a:ea typeface="楷体_GB2312" pitchFamily="49" charset="-122"/>
                <a:sym typeface="楷体_GB2312" pitchFamily="49" charset="-122"/>
              </a:rPr>
              <a:t>二次谐波；</a:t>
            </a:r>
          </a:p>
          <a:p>
            <a:pPr eaLnBrk="1" hangingPunct="1">
              <a:lnSpc>
                <a:spcPct val="150000"/>
              </a:lnSpc>
            </a:pPr>
            <a:r>
              <a:rPr lang="en-US" dirty="0">
                <a:solidFill>
                  <a:srgbClr val="0033CC"/>
                </a:solidFill>
                <a:latin typeface="楷体_GB2312" pitchFamily="49" charset="-122"/>
                <a:ea typeface="楷体_GB2312" pitchFamily="49" charset="-122"/>
                <a:sym typeface="楷体_GB2312" pitchFamily="49" charset="-122"/>
              </a:rPr>
              <a:t>4</a:t>
            </a:r>
            <a:r>
              <a:rPr lang="en-US" dirty="0">
                <a:solidFill>
                  <a:srgbClr val="0033CC"/>
                </a:solidFill>
                <a:latin typeface="Times New Roman" pitchFamily="18" charset="0"/>
                <a:ea typeface="楷体_GB2312" pitchFamily="49" charset="-122"/>
                <a:sym typeface="Times New Roman" pitchFamily="18" charset="0"/>
              </a:rPr>
              <a:t>——</a:t>
            </a:r>
            <a:r>
              <a:rPr lang="zh-CN" altLang="en-US" dirty="0">
                <a:solidFill>
                  <a:srgbClr val="0033CC"/>
                </a:solidFill>
                <a:latin typeface="楷体_GB2312" pitchFamily="49" charset="-122"/>
                <a:ea typeface="楷体_GB2312" pitchFamily="49" charset="-122"/>
                <a:sym typeface="楷体_GB2312" pitchFamily="49" charset="-122"/>
              </a:rPr>
              <a:t>三次谐波；</a:t>
            </a:r>
          </a:p>
          <a:p>
            <a:pPr eaLnBrk="1" hangingPunct="1">
              <a:lnSpc>
                <a:spcPct val="150000"/>
              </a:lnSpc>
            </a:pPr>
            <a:r>
              <a:rPr lang="en-US" dirty="0">
                <a:solidFill>
                  <a:srgbClr val="0033CC"/>
                </a:solidFill>
                <a:latin typeface="楷体_GB2312" pitchFamily="49" charset="-122"/>
                <a:ea typeface="楷体_GB2312" pitchFamily="49" charset="-122"/>
                <a:sym typeface="楷体_GB2312" pitchFamily="49" charset="-122"/>
              </a:rPr>
              <a:t>5</a:t>
            </a:r>
            <a:r>
              <a:rPr lang="en-US" dirty="0">
                <a:solidFill>
                  <a:srgbClr val="0033CC"/>
                </a:solidFill>
                <a:latin typeface="Times New Roman" pitchFamily="18" charset="0"/>
                <a:ea typeface="楷体_GB2312" pitchFamily="49" charset="-122"/>
                <a:sym typeface="Times New Roman" pitchFamily="18" charset="0"/>
              </a:rPr>
              <a:t>——</a:t>
            </a:r>
            <a:r>
              <a:rPr lang="zh-CN" altLang="en-US" dirty="0">
                <a:solidFill>
                  <a:srgbClr val="0033CC"/>
                </a:solidFill>
                <a:latin typeface="楷体_GB2312" pitchFamily="49" charset="-122"/>
                <a:ea typeface="楷体_GB2312" pitchFamily="49" charset="-122"/>
                <a:sym typeface="楷体_GB2312" pitchFamily="49" charset="-122"/>
              </a:rPr>
              <a:t>电磁干扰。</a:t>
            </a:r>
            <a:endParaRPr lang="zh-CN" altLang="en-US" dirty="0"/>
          </a:p>
        </p:txBody>
      </p:sp>
      <p:sp>
        <p:nvSpPr>
          <p:cNvPr id="5" name="Rectangle 2"/>
          <p:cNvSpPr>
            <a:spLocks noChangeArrowheads="1"/>
          </p:cNvSpPr>
          <p:nvPr/>
        </p:nvSpPr>
        <p:spPr bwMode="auto">
          <a:xfrm>
            <a:off x="395710" y="673755"/>
            <a:ext cx="36359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2800" dirty="0">
                <a:solidFill>
                  <a:srgbClr val="C00000"/>
                </a:solidFill>
                <a:ea typeface="楷体_GB2312" pitchFamily="49" charset="-122"/>
              </a:rPr>
              <a:t>③ 零点残余电压</a:t>
            </a:r>
            <a:r>
              <a:rPr lang="en-US" altLang="zh-CN" sz="2800" dirty="0">
                <a:solidFill>
                  <a:srgbClr val="C00000"/>
                </a:solidFill>
                <a:ea typeface="楷体_GB2312" pitchFamily="49" charset="-122"/>
              </a:rPr>
              <a:t>-</a:t>
            </a:r>
            <a:r>
              <a:rPr lang="zh-CN" altLang="en-US" sz="2800" dirty="0">
                <a:solidFill>
                  <a:srgbClr val="C00000"/>
                </a:solidFill>
                <a:ea typeface="楷体_GB2312" pitchFamily="49" charset="-122"/>
              </a:rPr>
              <a:t>原因</a:t>
            </a:r>
            <a:endParaRPr lang="zh-CN" altLang="en-US" sz="2800" dirty="0">
              <a:solidFill>
                <a:srgbClr val="C00000"/>
              </a:solidFill>
            </a:endParaRPr>
          </a:p>
        </p:txBody>
      </p:sp>
      <p:sp>
        <p:nvSpPr>
          <p:cNvPr id="6" name="Rectangle 2">
            <a:extLst>
              <a:ext uri="{FF2B5EF4-FFF2-40B4-BE49-F238E27FC236}">
                <a16:creationId xmlns:a16="http://schemas.microsoft.com/office/drawing/2014/main" id="{0654A422-DFB5-4779-AF59-F4C529A56443}"/>
              </a:ext>
            </a:extLst>
          </p:cNvPr>
          <p:cNvSpPr>
            <a:spLocks noChangeArrowheads="1"/>
          </p:cNvSpPr>
          <p:nvPr/>
        </p:nvSpPr>
        <p:spPr bwMode="auto">
          <a:xfrm>
            <a:off x="414337" y="1314310"/>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fontAlgn="t" hangingPunct="1">
              <a:spcBef>
                <a:spcPct val="20000"/>
              </a:spcBef>
              <a:buClr>
                <a:srgbClr val="FFFF00"/>
              </a:buClr>
              <a:buSzPct val="80000"/>
              <a:buFont typeface="Wingdings" pitchFamily="2" charset="2"/>
              <a:buNone/>
            </a:pPr>
            <a:r>
              <a:rPr lang="zh-CN" altLang="en-US" sz="2400" b="1" dirty="0">
                <a:solidFill>
                  <a:srgbClr val="000000"/>
                </a:solidFill>
                <a:ea typeface="楷体_GB2312" pitchFamily="49" charset="-122"/>
              </a:rPr>
              <a:t>零点残余电压产生的原因：</a:t>
            </a:r>
            <a:endParaRPr lang="zh-CN" altLang="en-US" dirty="0"/>
          </a:p>
        </p:txBody>
      </p:sp>
      <p:sp>
        <p:nvSpPr>
          <p:cNvPr id="7" name="Text Box 3">
            <a:extLst>
              <a:ext uri="{FF2B5EF4-FFF2-40B4-BE49-F238E27FC236}">
                <a16:creationId xmlns:a16="http://schemas.microsoft.com/office/drawing/2014/main" id="{EEF415AB-D799-441D-91EF-FD2C0F192CC6}"/>
              </a:ext>
            </a:extLst>
          </p:cNvPr>
          <p:cNvSpPr>
            <a:spLocks noChangeArrowheads="1"/>
          </p:cNvSpPr>
          <p:nvPr/>
        </p:nvSpPr>
        <p:spPr bwMode="auto">
          <a:xfrm>
            <a:off x="693075" y="1845810"/>
            <a:ext cx="3734915" cy="2428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fontAlgn="t" hangingPunct="1">
              <a:lnSpc>
                <a:spcPct val="130000"/>
              </a:lnSpc>
              <a:spcBef>
                <a:spcPts val="0"/>
              </a:spcBef>
              <a:buClr>
                <a:srgbClr val="FFFF00"/>
              </a:buClr>
              <a:buSzPct val="80000"/>
              <a:buFont typeface="Wingdings" pitchFamily="2" charset="2"/>
              <a:buNone/>
            </a:pPr>
            <a:r>
              <a:rPr lang="en-US" altLang="zh-CN" sz="2200" dirty="0">
                <a:solidFill>
                  <a:srgbClr val="0000FF"/>
                </a:solidFill>
                <a:ea typeface="楷体_GB2312" pitchFamily="49" charset="-122"/>
                <a:sym typeface="Arial" pitchFamily="34" charset="0"/>
              </a:rPr>
              <a:t>1</a:t>
            </a:r>
            <a:r>
              <a:rPr lang="zh-CN" altLang="en-US" sz="2200" dirty="0">
                <a:solidFill>
                  <a:srgbClr val="0000FF"/>
                </a:solidFill>
                <a:ea typeface="楷体_GB2312" pitchFamily="49" charset="-122"/>
                <a:sym typeface="Arial" pitchFamily="34" charset="0"/>
              </a:rPr>
              <a:t>）</a:t>
            </a:r>
            <a:r>
              <a:rPr lang="zh-CN" altLang="en-US" sz="2200" dirty="0">
                <a:solidFill>
                  <a:srgbClr val="0033CC"/>
                </a:solidFill>
                <a:ea typeface="楷体_GB2312" pitchFamily="49" charset="-122"/>
                <a:sym typeface="Arial" pitchFamily="34" charset="0"/>
              </a:rPr>
              <a:t>基波分量</a:t>
            </a:r>
            <a:endParaRPr lang="zh-CN" altLang="en-US" sz="2200" dirty="0">
              <a:ea typeface="楷体_GB2312" pitchFamily="49" charset="-122"/>
              <a:sym typeface="Arial" pitchFamily="34" charset="0"/>
            </a:endParaRPr>
          </a:p>
          <a:p>
            <a:pPr eaLnBrk="1" fontAlgn="t" hangingPunct="1">
              <a:lnSpc>
                <a:spcPct val="130000"/>
              </a:lnSpc>
              <a:spcBef>
                <a:spcPct val="20000"/>
              </a:spcBef>
              <a:buClr>
                <a:srgbClr val="FFFF00"/>
              </a:buClr>
              <a:buSzPct val="80000"/>
              <a:buFont typeface="Wingdings" pitchFamily="2" charset="2"/>
              <a:buNone/>
            </a:pPr>
            <a:r>
              <a:rPr lang="zh-CN" altLang="en-US" sz="2200" dirty="0">
                <a:ea typeface="楷体_GB2312" pitchFamily="49" charset="-122"/>
                <a:sym typeface="Arial" pitchFamily="34" charset="0"/>
              </a:rPr>
              <a:t>次级两个绕组不一致，导致输出电压</a:t>
            </a:r>
            <a:r>
              <a:rPr lang="zh-CN" altLang="en-US" sz="2200" dirty="0">
                <a:highlight>
                  <a:srgbClr val="FFFF00"/>
                </a:highlight>
                <a:ea typeface="楷体_GB2312" pitchFamily="49" charset="-122"/>
                <a:sym typeface="Arial" pitchFamily="34" charset="0"/>
              </a:rPr>
              <a:t>幅值不等</a:t>
            </a:r>
            <a:r>
              <a:rPr lang="zh-CN" altLang="en-US" sz="2200" dirty="0">
                <a:ea typeface="楷体_GB2312" pitchFamily="49" charset="-122"/>
                <a:sym typeface="Arial" pitchFamily="34" charset="0"/>
              </a:rPr>
              <a:t>；</a:t>
            </a:r>
          </a:p>
          <a:p>
            <a:pPr eaLnBrk="1" fontAlgn="t" hangingPunct="1">
              <a:lnSpc>
                <a:spcPct val="130000"/>
              </a:lnSpc>
              <a:spcBef>
                <a:spcPct val="20000"/>
              </a:spcBef>
              <a:buClr>
                <a:srgbClr val="FFFF00"/>
              </a:buClr>
              <a:buSzPct val="80000"/>
              <a:buFont typeface="Wingdings" pitchFamily="2" charset="2"/>
              <a:buNone/>
            </a:pPr>
            <a:r>
              <a:rPr lang="zh-CN" altLang="en-US" sz="2200" dirty="0">
                <a:ea typeface="楷体_GB2312" pitchFamily="49" charset="-122"/>
                <a:sym typeface="Arial" pitchFamily="34" charset="0"/>
              </a:rPr>
              <a:t>线圈损耗以及分布电容的不同，导致输出电压</a:t>
            </a:r>
            <a:r>
              <a:rPr lang="zh-CN" altLang="en-US" sz="2200" dirty="0">
                <a:highlight>
                  <a:srgbClr val="FFFF00"/>
                </a:highlight>
                <a:ea typeface="楷体_GB2312" pitchFamily="49" charset="-122"/>
                <a:sym typeface="Arial" pitchFamily="34" charset="0"/>
              </a:rPr>
              <a:t>相位不同</a:t>
            </a:r>
            <a:r>
              <a:rPr lang="zh-CN" altLang="en-US" sz="2200" dirty="0">
                <a:ea typeface="楷体_GB2312" pitchFamily="49" charset="-122"/>
                <a:sym typeface="Arial" pitchFamily="34" charset="0"/>
              </a:rPr>
              <a:t>。</a:t>
            </a:r>
            <a:endParaRPr lang="zh-CN" altLang="en-US" sz="2200" dirty="0"/>
          </a:p>
        </p:txBody>
      </p:sp>
      <p:sp>
        <p:nvSpPr>
          <p:cNvPr id="8" name="Text Box 2">
            <a:extLst>
              <a:ext uri="{FF2B5EF4-FFF2-40B4-BE49-F238E27FC236}">
                <a16:creationId xmlns:a16="http://schemas.microsoft.com/office/drawing/2014/main" id="{534E5735-8203-496C-8E77-83A01386CE79}"/>
              </a:ext>
            </a:extLst>
          </p:cNvPr>
          <p:cNvSpPr>
            <a:spLocks noChangeArrowheads="1"/>
          </p:cNvSpPr>
          <p:nvPr/>
        </p:nvSpPr>
        <p:spPr bwMode="auto">
          <a:xfrm>
            <a:off x="693075" y="4483546"/>
            <a:ext cx="4094940" cy="1480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fontAlgn="t" hangingPunct="1">
              <a:lnSpc>
                <a:spcPct val="130000"/>
              </a:lnSpc>
              <a:spcBef>
                <a:spcPct val="20000"/>
              </a:spcBef>
              <a:buClr>
                <a:srgbClr val="FFFF00"/>
              </a:buClr>
              <a:buSzPct val="80000"/>
              <a:buFont typeface="Wingdings" pitchFamily="2" charset="2"/>
              <a:buNone/>
            </a:pPr>
            <a:r>
              <a:rPr lang="en-US" altLang="zh-CN" sz="2200" dirty="0">
                <a:solidFill>
                  <a:srgbClr val="0033CC"/>
                </a:solidFill>
                <a:ea typeface="楷体_GB2312" pitchFamily="49" charset="-122"/>
                <a:sym typeface="Arial" pitchFamily="34" charset="0"/>
              </a:rPr>
              <a:t>2</a:t>
            </a:r>
            <a:r>
              <a:rPr lang="zh-CN" altLang="en-US" sz="2200" dirty="0">
                <a:solidFill>
                  <a:srgbClr val="0033CC"/>
                </a:solidFill>
                <a:ea typeface="楷体_GB2312" pitchFamily="49" charset="-122"/>
                <a:sym typeface="Arial" pitchFamily="34" charset="0"/>
              </a:rPr>
              <a:t>）高次谐波</a:t>
            </a:r>
          </a:p>
          <a:p>
            <a:pPr eaLnBrk="1" fontAlgn="t" hangingPunct="1">
              <a:lnSpc>
                <a:spcPct val="130000"/>
              </a:lnSpc>
              <a:spcBef>
                <a:spcPct val="20000"/>
              </a:spcBef>
              <a:buClr>
                <a:srgbClr val="FFFF00"/>
              </a:buClr>
              <a:buSzPct val="80000"/>
              <a:buFont typeface="Wingdings" pitchFamily="2" charset="2"/>
              <a:buNone/>
            </a:pPr>
            <a:r>
              <a:rPr lang="zh-CN" altLang="en-US" sz="2200" dirty="0">
                <a:ea typeface="楷体_GB2312" pitchFamily="49" charset="-122"/>
                <a:sym typeface="Arial" pitchFamily="34" charset="0"/>
              </a:rPr>
              <a:t>主要由导磁材料磁化曲线的</a:t>
            </a:r>
            <a:r>
              <a:rPr lang="zh-CN" altLang="en-US" sz="2200" dirty="0">
                <a:solidFill>
                  <a:srgbClr val="CC0000"/>
                </a:solidFill>
                <a:ea typeface="楷体_GB2312" pitchFamily="49" charset="-122"/>
                <a:sym typeface="Arial" pitchFamily="34" charset="0"/>
              </a:rPr>
              <a:t>非线性</a:t>
            </a:r>
            <a:r>
              <a:rPr lang="zh-CN" altLang="en-US" sz="2200" dirty="0">
                <a:ea typeface="楷体_GB2312" pitchFamily="49" charset="-122"/>
                <a:sym typeface="Arial" pitchFamily="34" charset="0"/>
              </a:rPr>
              <a:t>引起。</a:t>
            </a:r>
            <a:endParaRPr lang="zh-CN" altLang="en-US" sz="2200"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235AADD8-C389-4644-AF3F-330D8B10370D}" type="slidenum">
              <a:rPr lang="en-US" sz="1200">
                <a:solidFill>
                  <a:srgbClr val="000000"/>
                </a:solidFill>
                <a:latin typeface="Arial Black" pitchFamily="34" charset="0"/>
                <a:sym typeface="Arial Black" pitchFamily="34" charset="0"/>
              </a:rPr>
              <a:pPr algn="r" eaLnBrk="1" hangingPunct="1"/>
              <a:t>45</a:t>
            </a:fld>
            <a:endParaRPr lang="en-US" sz="1200">
              <a:latin typeface="Arial Black" pitchFamily="34" charset="0"/>
              <a:sym typeface="Arial Black" pitchFamily="34" charset="0"/>
            </a:endParaRPr>
          </a:p>
        </p:txBody>
      </p:sp>
      <p:sp>
        <p:nvSpPr>
          <p:cNvPr id="47109" name="Text Box 2"/>
          <p:cNvSpPr>
            <a:spLocks noChangeArrowheads="1"/>
          </p:cNvSpPr>
          <p:nvPr/>
        </p:nvSpPr>
        <p:spPr bwMode="auto">
          <a:xfrm>
            <a:off x="746125" y="3814643"/>
            <a:ext cx="4545013" cy="107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altLang="zh-CN" sz="2400" dirty="0">
                <a:solidFill>
                  <a:srgbClr val="0000FF"/>
                </a:solidFill>
                <a:ea typeface="楷体_GB2312" pitchFamily="49" charset="-122"/>
                <a:sym typeface="Arial" pitchFamily="34" charset="0"/>
              </a:rPr>
              <a:t>2</a:t>
            </a:r>
            <a:r>
              <a:rPr lang="zh-CN" altLang="en-US" sz="2400" dirty="0">
                <a:solidFill>
                  <a:srgbClr val="0000FF"/>
                </a:solidFill>
                <a:ea typeface="楷体_GB2312" pitchFamily="49" charset="-122"/>
                <a:sym typeface="Arial" pitchFamily="34" charset="0"/>
              </a:rPr>
              <a:t>）选用合适的测量电路</a:t>
            </a:r>
          </a:p>
          <a:p>
            <a:pPr eaLnBrk="1" hangingPunct="1">
              <a:lnSpc>
                <a:spcPct val="130000"/>
              </a:lnSpc>
              <a:spcBef>
                <a:spcPct val="50000"/>
              </a:spcBef>
            </a:pPr>
            <a:r>
              <a:rPr lang="zh-CN" altLang="en-US" sz="2400" dirty="0">
                <a:latin typeface="Times New Roman" pitchFamily="18" charset="0"/>
                <a:ea typeface="楷体_GB2312" pitchFamily="49" charset="-122"/>
                <a:sym typeface="Times New Roman" pitchFamily="18" charset="0"/>
              </a:rPr>
              <a:t>      </a:t>
            </a:r>
            <a:r>
              <a:rPr lang="zh-CN" altLang="en-US" sz="2400" b="1" dirty="0">
                <a:solidFill>
                  <a:srgbClr val="FF0000"/>
                </a:solidFill>
                <a:latin typeface="Times New Roman" pitchFamily="18" charset="0"/>
                <a:ea typeface="楷体_GB2312" pitchFamily="49" charset="-122"/>
                <a:sym typeface="Times New Roman" pitchFamily="18" charset="0"/>
              </a:rPr>
              <a:t>相敏检波电路</a:t>
            </a:r>
            <a:endParaRPr lang="zh-CN" altLang="en-US" b="1" dirty="0">
              <a:solidFill>
                <a:srgbClr val="FF0000"/>
              </a:solidFill>
            </a:endParaRPr>
          </a:p>
        </p:txBody>
      </p:sp>
      <p:pic>
        <p:nvPicPr>
          <p:cNvPr id="47111"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63464" y="2417124"/>
            <a:ext cx="3398838"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2" name="Text Box 6"/>
          <p:cNvSpPr>
            <a:spLocks noChangeArrowheads="1"/>
          </p:cNvSpPr>
          <p:nvPr/>
        </p:nvSpPr>
        <p:spPr bwMode="auto">
          <a:xfrm>
            <a:off x="4481512" y="6005509"/>
            <a:ext cx="37627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dirty="0">
                <a:latin typeface="楷体_GB2312" pitchFamily="49" charset="-122"/>
                <a:ea typeface="楷体_GB2312" pitchFamily="49" charset="-122"/>
                <a:sym typeface="楷体_GB2312" pitchFamily="49" charset="-122"/>
              </a:rPr>
              <a:t>图</a:t>
            </a:r>
            <a:r>
              <a:rPr lang="en-US" dirty="0">
                <a:latin typeface="楷体_GB2312" pitchFamily="49" charset="-122"/>
                <a:ea typeface="楷体_GB2312" pitchFamily="49" charset="-122"/>
                <a:sym typeface="楷体_GB2312" pitchFamily="49" charset="-122"/>
              </a:rPr>
              <a:t>4-25 </a:t>
            </a:r>
            <a:r>
              <a:rPr lang="zh-CN" altLang="en-US" dirty="0">
                <a:latin typeface="楷体_GB2312" pitchFamily="49" charset="-122"/>
                <a:ea typeface="楷体_GB2312" pitchFamily="49" charset="-122"/>
                <a:sym typeface="楷体_GB2312" pitchFamily="49" charset="-122"/>
              </a:rPr>
              <a:t>采用相敏检波后的输出特性</a:t>
            </a:r>
            <a:endParaRPr lang="zh-CN" altLang="en-US" dirty="0"/>
          </a:p>
        </p:txBody>
      </p:sp>
      <p:sp>
        <p:nvSpPr>
          <p:cNvPr id="47113" name="Text Box 7"/>
          <p:cNvSpPr>
            <a:spLocks noChangeArrowheads="1"/>
          </p:cNvSpPr>
          <p:nvPr/>
        </p:nvSpPr>
        <p:spPr bwMode="auto">
          <a:xfrm>
            <a:off x="476250" y="1519118"/>
            <a:ext cx="39163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600" b="1" dirty="0">
                <a:ea typeface="楷体_GB2312" pitchFamily="49" charset="-122"/>
                <a:sym typeface="Arial" pitchFamily="34" charset="0"/>
              </a:rPr>
              <a:t>消除零点残余电压方法</a:t>
            </a:r>
            <a:r>
              <a:rPr lang="zh-CN" altLang="en-US" sz="2600" dirty="0">
                <a:ea typeface="楷体_GB2312" pitchFamily="49" charset="-122"/>
                <a:sym typeface="Arial" pitchFamily="34" charset="0"/>
              </a:rPr>
              <a:t>：</a:t>
            </a:r>
            <a:endParaRPr lang="zh-CN" altLang="en-US" dirty="0"/>
          </a:p>
        </p:txBody>
      </p:sp>
      <p:sp>
        <p:nvSpPr>
          <p:cNvPr id="47114" name="Text Box 8"/>
          <p:cNvSpPr>
            <a:spLocks noChangeArrowheads="1"/>
          </p:cNvSpPr>
          <p:nvPr/>
        </p:nvSpPr>
        <p:spPr bwMode="auto">
          <a:xfrm>
            <a:off x="701675" y="2463681"/>
            <a:ext cx="7785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altLang="zh-CN" sz="2400" dirty="0">
                <a:solidFill>
                  <a:srgbClr val="0000FF"/>
                </a:solidFill>
                <a:ea typeface="楷体_GB2312" pitchFamily="49" charset="-122"/>
                <a:sym typeface="Arial" pitchFamily="34" charset="0"/>
              </a:rPr>
              <a:t>1</a:t>
            </a:r>
            <a:r>
              <a:rPr lang="zh-CN" altLang="en-US" sz="2400" dirty="0">
                <a:solidFill>
                  <a:srgbClr val="0000FF"/>
                </a:solidFill>
                <a:ea typeface="楷体_GB2312" pitchFamily="49" charset="-122"/>
                <a:sym typeface="Arial" pitchFamily="34" charset="0"/>
              </a:rPr>
              <a:t>）从设计和工艺上保证结构对称性</a:t>
            </a:r>
            <a:endParaRPr lang="zh-CN" altLang="en-US" dirty="0">
              <a:solidFill>
                <a:srgbClr val="0000FF"/>
              </a:solidFill>
            </a:endParaRPr>
          </a:p>
        </p:txBody>
      </p:sp>
      <p:sp>
        <p:nvSpPr>
          <p:cNvPr id="9" name="Rectangle 2">
            <a:extLst>
              <a:ext uri="{FF2B5EF4-FFF2-40B4-BE49-F238E27FC236}">
                <a16:creationId xmlns:a16="http://schemas.microsoft.com/office/drawing/2014/main" id="{B08DA721-CD6F-418B-B90D-660B5087868C}"/>
              </a:ext>
            </a:extLst>
          </p:cNvPr>
          <p:cNvSpPr>
            <a:spLocks noChangeArrowheads="1"/>
          </p:cNvSpPr>
          <p:nvPr/>
        </p:nvSpPr>
        <p:spPr bwMode="auto">
          <a:xfrm>
            <a:off x="395710" y="673755"/>
            <a:ext cx="43540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2800" dirty="0">
                <a:solidFill>
                  <a:srgbClr val="C00000"/>
                </a:solidFill>
                <a:ea typeface="楷体_GB2312" pitchFamily="49" charset="-122"/>
              </a:rPr>
              <a:t>③ 零点残余电压</a:t>
            </a:r>
            <a:r>
              <a:rPr lang="en-US" altLang="zh-CN" sz="2800" dirty="0">
                <a:solidFill>
                  <a:srgbClr val="C00000"/>
                </a:solidFill>
                <a:ea typeface="楷体_GB2312" pitchFamily="49" charset="-122"/>
              </a:rPr>
              <a:t>-</a:t>
            </a:r>
            <a:r>
              <a:rPr lang="zh-CN" altLang="en-US" sz="2800" dirty="0">
                <a:solidFill>
                  <a:srgbClr val="C00000"/>
                </a:solidFill>
                <a:ea typeface="楷体_GB2312" pitchFamily="49" charset="-122"/>
              </a:rPr>
              <a:t>消除方法</a:t>
            </a:r>
            <a:endParaRPr lang="zh-CN" altLang="en-US" sz="2800" dirty="0">
              <a:solidFill>
                <a:srgbClr val="C00000"/>
              </a:solidFill>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2C7B03E9-5D0C-4CE3-A78C-0F98AE229B1B}" type="slidenum">
              <a:rPr lang="en-US" sz="1200">
                <a:solidFill>
                  <a:srgbClr val="000000"/>
                </a:solidFill>
                <a:latin typeface="Arial Black" pitchFamily="34" charset="0"/>
                <a:sym typeface="Arial Black" pitchFamily="34" charset="0"/>
              </a:rPr>
              <a:pPr algn="r" eaLnBrk="1" hangingPunct="1"/>
              <a:t>46</a:t>
            </a:fld>
            <a:endParaRPr lang="en-US" sz="1200">
              <a:latin typeface="Arial Black" pitchFamily="34" charset="0"/>
              <a:sym typeface="Arial Black" pitchFamily="34" charset="0"/>
            </a:endParaRPr>
          </a:p>
        </p:txBody>
      </p:sp>
      <p:sp>
        <p:nvSpPr>
          <p:cNvPr id="48133" name="Text Box 2"/>
          <p:cNvSpPr>
            <a:spLocks noChangeArrowheads="1"/>
          </p:cNvSpPr>
          <p:nvPr/>
        </p:nvSpPr>
        <p:spPr bwMode="auto">
          <a:xfrm>
            <a:off x="566738" y="1694463"/>
            <a:ext cx="378924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dirty="0">
                <a:solidFill>
                  <a:srgbClr val="0000FF"/>
                </a:solidFill>
                <a:ea typeface="楷体_GB2312" pitchFamily="49" charset="-122"/>
                <a:sym typeface="Arial" pitchFamily="34" charset="0"/>
              </a:rPr>
              <a:t>3</a:t>
            </a:r>
            <a:r>
              <a:rPr lang="zh-CN" altLang="en-US" sz="2400" dirty="0">
                <a:solidFill>
                  <a:srgbClr val="0000FF"/>
                </a:solidFill>
                <a:ea typeface="楷体_GB2312" pitchFamily="49" charset="-122"/>
                <a:sym typeface="Arial" pitchFamily="34" charset="0"/>
              </a:rPr>
              <a:t>）</a:t>
            </a:r>
            <a:r>
              <a:rPr lang="zh-CN" altLang="en-US" sz="2400" dirty="0">
                <a:solidFill>
                  <a:srgbClr val="0000FF"/>
                </a:solidFill>
                <a:latin typeface="楷体_GB2312" pitchFamily="49" charset="-122"/>
                <a:ea typeface="楷体_GB2312" pitchFamily="49" charset="-122"/>
                <a:sym typeface="楷体_GB2312" pitchFamily="49" charset="-122"/>
              </a:rPr>
              <a:t>采用补偿线路</a:t>
            </a:r>
            <a:endParaRPr lang="zh-CN" altLang="en-US" dirty="0">
              <a:solidFill>
                <a:srgbClr val="0000FF"/>
              </a:solidFill>
            </a:endParaRPr>
          </a:p>
        </p:txBody>
      </p:sp>
      <p:sp>
        <p:nvSpPr>
          <p:cNvPr id="48134" name="Rectangle 3"/>
          <p:cNvSpPr>
            <a:spLocks noChangeArrowheads="1"/>
          </p:cNvSpPr>
          <p:nvPr/>
        </p:nvSpPr>
        <p:spPr bwMode="auto">
          <a:xfrm>
            <a:off x="4639469" y="1412668"/>
            <a:ext cx="4006850" cy="123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调整相位</a:t>
            </a:r>
          </a:p>
          <a:p>
            <a:pPr marL="342900" indent="-342900" eaLnBrk="1" hangingPunct="1">
              <a:lnSpc>
                <a:spcPct val="130000"/>
              </a:lnSpc>
              <a:spcBef>
                <a:spcPct val="50000"/>
              </a:spcBef>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调整磁化曲线的工作点</a:t>
            </a:r>
            <a:endParaRPr lang="zh-CN" altLang="en-US" dirty="0"/>
          </a:p>
        </p:txBody>
      </p:sp>
      <p:grpSp>
        <p:nvGrpSpPr>
          <p:cNvPr id="48135" name="Group 4"/>
          <p:cNvGrpSpPr>
            <a:grpSpLocks/>
          </p:cNvGrpSpPr>
          <p:nvPr/>
        </p:nvGrpSpPr>
        <p:grpSpPr bwMode="auto">
          <a:xfrm>
            <a:off x="748467" y="2825021"/>
            <a:ext cx="7416515" cy="3628189"/>
            <a:chOff x="-4" y="0"/>
            <a:chExt cx="4082" cy="1938"/>
          </a:xfrm>
        </p:grpSpPr>
        <p:pic>
          <p:nvPicPr>
            <p:cNvPr id="4813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 y="0"/>
              <a:ext cx="4050" cy="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7" name="Text Box 6"/>
            <p:cNvSpPr>
              <a:spLocks noChangeArrowheads="1"/>
            </p:cNvSpPr>
            <p:nvPr/>
          </p:nvSpPr>
          <p:spPr bwMode="auto">
            <a:xfrm>
              <a:off x="-4" y="1688"/>
              <a:ext cx="40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spcBef>
                  <a:spcPct val="50000"/>
                </a:spcBef>
              </a:pPr>
              <a:r>
                <a:rPr lang="zh-CN" altLang="en-US" sz="2000" dirty="0">
                  <a:latin typeface="楷体_GB2312" pitchFamily="49" charset="-122"/>
                  <a:ea typeface="楷体_GB2312" pitchFamily="49" charset="-122"/>
                  <a:sym typeface="楷体_GB2312" pitchFamily="49" charset="-122"/>
                </a:rPr>
                <a:t>图</a:t>
              </a:r>
              <a:r>
                <a:rPr lang="en-US" sz="2000" dirty="0">
                  <a:latin typeface="楷体_GB2312" pitchFamily="49" charset="-122"/>
                  <a:ea typeface="楷体_GB2312" pitchFamily="49" charset="-122"/>
                  <a:sym typeface="楷体_GB2312" pitchFamily="49" charset="-122"/>
                </a:rPr>
                <a:t>4-26 </a:t>
              </a:r>
              <a:r>
                <a:rPr lang="zh-CN" altLang="en-US" sz="2000" dirty="0">
                  <a:latin typeface="楷体_GB2312" pitchFamily="49" charset="-122"/>
                  <a:ea typeface="楷体_GB2312" pitchFamily="49" charset="-122"/>
                  <a:sym typeface="楷体_GB2312" pitchFamily="49" charset="-122"/>
                </a:rPr>
                <a:t>调相位式残余电压补偿电路</a:t>
              </a:r>
              <a:endParaRPr lang="zh-CN" altLang="en-US" dirty="0"/>
            </a:p>
          </p:txBody>
        </p:sp>
      </p:grpSp>
      <p:sp>
        <p:nvSpPr>
          <p:cNvPr id="8" name="Rectangle 2">
            <a:extLst>
              <a:ext uri="{FF2B5EF4-FFF2-40B4-BE49-F238E27FC236}">
                <a16:creationId xmlns:a16="http://schemas.microsoft.com/office/drawing/2014/main" id="{B0826DA1-B16C-4531-90ED-8E78F5FED018}"/>
              </a:ext>
            </a:extLst>
          </p:cNvPr>
          <p:cNvSpPr>
            <a:spLocks noChangeArrowheads="1"/>
          </p:cNvSpPr>
          <p:nvPr/>
        </p:nvSpPr>
        <p:spPr bwMode="auto">
          <a:xfrm>
            <a:off x="467715" y="520505"/>
            <a:ext cx="43540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2800" dirty="0">
                <a:solidFill>
                  <a:srgbClr val="C00000"/>
                </a:solidFill>
                <a:ea typeface="楷体_GB2312" pitchFamily="49" charset="-122"/>
              </a:rPr>
              <a:t>③ 零点残余电压</a:t>
            </a:r>
            <a:r>
              <a:rPr lang="en-US" altLang="zh-CN" sz="2800" dirty="0">
                <a:solidFill>
                  <a:srgbClr val="C00000"/>
                </a:solidFill>
                <a:ea typeface="楷体_GB2312" pitchFamily="49" charset="-122"/>
              </a:rPr>
              <a:t>-</a:t>
            </a:r>
            <a:r>
              <a:rPr lang="zh-CN" altLang="en-US" sz="2800" dirty="0">
                <a:solidFill>
                  <a:srgbClr val="C00000"/>
                </a:solidFill>
                <a:ea typeface="楷体_GB2312" pitchFamily="49" charset="-122"/>
              </a:rPr>
              <a:t>消除方法</a:t>
            </a:r>
            <a:endParaRPr lang="zh-CN" altLang="en-US" sz="2800" dirty="0">
              <a:solidFill>
                <a:srgbClr val="C00000"/>
              </a:solidFill>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8DD6F321-95CA-4859-B1D1-87CE71F5E94B}" type="slidenum">
              <a:rPr lang="en-US" sz="1200">
                <a:solidFill>
                  <a:srgbClr val="000000"/>
                </a:solidFill>
                <a:latin typeface="Arial Black" pitchFamily="34" charset="0"/>
                <a:sym typeface="Arial Black" pitchFamily="34" charset="0"/>
              </a:rPr>
              <a:pPr algn="r" eaLnBrk="1" hangingPunct="1"/>
              <a:t>47</a:t>
            </a:fld>
            <a:endParaRPr lang="en-US" sz="1200">
              <a:latin typeface="Arial Black" pitchFamily="34" charset="0"/>
              <a:sym typeface="Arial Black" pitchFamily="34" charset="0"/>
            </a:endParaRPr>
          </a:p>
        </p:txBody>
      </p:sp>
      <p:grpSp>
        <p:nvGrpSpPr>
          <p:cNvPr id="50181" name="Group 3"/>
          <p:cNvGrpSpPr>
            <a:grpSpLocks/>
          </p:cNvGrpSpPr>
          <p:nvPr/>
        </p:nvGrpSpPr>
        <p:grpSpPr bwMode="auto">
          <a:xfrm>
            <a:off x="611725" y="3681441"/>
            <a:ext cx="7345047" cy="2935263"/>
            <a:chOff x="0" y="0"/>
            <a:chExt cx="4861" cy="2079"/>
          </a:xfrm>
        </p:grpSpPr>
        <p:pic>
          <p:nvPicPr>
            <p:cNvPr id="5018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 y="0"/>
              <a:ext cx="2358" cy="1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3" y="0"/>
              <a:ext cx="2268"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4" name="Text Box 6"/>
            <p:cNvSpPr>
              <a:spLocks noChangeArrowheads="1"/>
            </p:cNvSpPr>
            <p:nvPr/>
          </p:nvSpPr>
          <p:spPr bwMode="auto">
            <a:xfrm>
              <a:off x="0" y="1752"/>
              <a:ext cx="48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spcBef>
                  <a:spcPct val="50000"/>
                </a:spcBef>
              </a:pPr>
              <a:r>
                <a:rPr lang="zh-CN" altLang="en-US" sz="2400" dirty="0">
                  <a:latin typeface="楷体_GB2312" pitchFamily="49" charset="-122"/>
                  <a:ea typeface="楷体_GB2312" pitchFamily="49" charset="-122"/>
                  <a:sym typeface="楷体_GB2312" pitchFamily="49" charset="-122"/>
                </a:rPr>
                <a:t>图</a:t>
              </a:r>
              <a:r>
                <a:rPr lang="en-US" sz="2400" dirty="0">
                  <a:latin typeface="楷体_GB2312" pitchFamily="49" charset="-122"/>
                  <a:ea typeface="楷体_GB2312" pitchFamily="49" charset="-122"/>
                  <a:sym typeface="楷体_GB2312" pitchFamily="49" charset="-122"/>
                </a:rPr>
                <a:t>4-28 </a:t>
              </a:r>
              <a:r>
                <a:rPr lang="en-US" sz="2400" i="1" dirty="0">
                  <a:latin typeface="Times New Roman" pitchFamily="18" charset="0"/>
                  <a:ea typeface="楷体_GB2312" pitchFamily="49" charset="-122"/>
                  <a:sym typeface="Times New Roman" pitchFamily="18" charset="0"/>
                </a:rPr>
                <a:t>R </a:t>
              </a:r>
              <a:r>
                <a:rPr lang="zh-CN" altLang="en-US" sz="2400" dirty="0">
                  <a:latin typeface="楷体_GB2312" pitchFamily="49" charset="-122"/>
                  <a:ea typeface="楷体_GB2312" pitchFamily="49" charset="-122"/>
                  <a:sym typeface="楷体_GB2312" pitchFamily="49" charset="-122"/>
                </a:rPr>
                <a:t>或 </a:t>
              </a:r>
              <a:r>
                <a:rPr lang="en-US" sz="2400" i="1" dirty="0">
                  <a:latin typeface="Times New Roman" pitchFamily="18" charset="0"/>
                  <a:ea typeface="楷体_GB2312" pitchFamily="49" charset="-122"/>
                  <a:sym typeface="Times New Roman" pitchFamily="18" charset="0"/>
                </a:rPr>
                <a:t>L </a:t>
              </a:r>
              <a:r>
                <a:rPr lang="zh-CN" altLang="en-US" sz="2400" dirty="0">
                  <a:latin typeface="楷体_GB2312" pitchFamily="49" charset="-122"/>
                  <a:ea typeface="楷体_GB2312" pitchFamily="49" charset="-122"/>
                  <a:sym typeface="楷体_GB2312" pitchFamily="49" charset="-122"/>
                </a:rPr>
                <a:t>补偿电路</a:t>
              </a:r>
              <a:endParaRPr lang="zh-CN" altLang="en-US" dirty="0"/>
            </a:p>
          </p:txBody>
        </p:sp>
      </p:grpSp>
      <p:pic>
        <p:nvPicPr>
          <p:cNvPr id="7" name="Picture 3">
            <a:extLst>
              <a:ext uri="{FF2B5EF4-FFF2-40B4-BE49-F238E27FC236}">
                <a16:creationId xmlns:a16="http://schemas.microsoft.com/office/drawing/2014/main" id="{6E1394EC-3DD8-4B1A-B608-3BDA1AD074C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59794" y="345468"/>
            <a:ext cx="3771677" cy="256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4">
            <a:extLst>
              <a:ext uri="{FF2B5EF4-FFF2-40B4-BE49-F238E27FC236}">
                <a16:creationId xmlns:a16="http://schemas.microsoft.com/office/drawing/2014/main" id="{2728C071-B116-4C0E-B192-23D2E18D8951}"/>
              </a:ext>
            </a:extLst>
          </p:cNvPr>
          <p:cNvSpPr>
            <a:spLocks noChangeArrowheads="1"/>
          </p:cNvSpPr>
          <p:nvPr/>
        </p:nvSpPr>
        <p:spPr bwMode="auto">
          <a:xfrm>
            <a:off x="2615884" y="2879875"/>
            <a:ext cx="57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1" hangingPunct="1">
              <a:spcBef>
                <a:spcPct val="50000"/>
              </a:spcBef>
            </a:pPr>
            <a:r>
              <a:rPr lang="zh-CN" altLang="en-US" sz="2200" dirty="0">
                <a:latin typeface="楷体_GB2312" pitchFamily="49" charset="-122"/>
                <a:ea typeface="楷体_GB2312" pitchFamily="49" charset="-122"/>
                <a:sym typeface="楷体_GB2312" pitchFamily="49" charset="-122"/>
              </a:rPr>
              <a:t>图</a:t>
            </a:r>
            <a:r>
              <a:rPr lang="en-US" sz="2200" dirty="0">
                <a:latin typeface="楷体_GB2312" pitchFamily="49" charset="-122"/>
                <a:ea typeface="楷体_GB2312" pitchFamily="49" charset="-122"/>
                <a:sym typeface="楷体_GB2312" pitchFamily="49" charset="-122"/>
              </a:rPr>
              <a:t>4-27 </a:t>
            </a:r>
            <a:r>
              <a:rPr lang="zh-CN" altLang="en-US" sz="2200" dirty="0">
                <a:latin typeface="楷体_GB2312" pitchFamily="49" charset="-122"/>
                <a:ea typeface="楷体_GB2312" pitchFamily="49" charset="-122"/>
                <a:sym typeface="楷体_GB2312" pitchFamily="49" charset="-122"/>
              </a:rPr>
              <a:t>电位器调零点残余电压补偿电路</a:t>
            </a:r>
            <a:endParaRPr lang="zh-CN" altLang="en-US" sz="2200" dirty="0"/>
          </a:p>
        </p:txBody>
      </p:sp>
      <p:sp>
        <p:nvSpPr>
          <p:cNvPr id="9" name="Text Box 2">
            <a:extLst>
              <a:ext uri="{FF2B5EF4-FFF2-40B4-BE49-F238E27FC236}">
                <a16:creationId xmlns:a16="http://schemas.microsoft.com/office/drawing/2014/main" id="{3663D610-54C1-40B1-879F-78AD484F4D9D}"/>
              </a:ext>
            </a:extLst>
          </p:cNvPr>
          <p:cNvSpPr>
            <a:spLocks noChangeArrowheads="1"/>
          </p:cNvSpPr>
          <p:nvPr/>
        </p:nvSpPr>
        <p:spPr bwMode="auto">
          <a:xfrm>
            <a:off x="675188" y="2052966"/>
            <a:ext cx="814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dirty="0">
                <a:solidFill>
                  <a:srgbClr val="0000FF"/>
                </a:solidFill>
                <a:ea typeface="楷体_GB2312" pitchFamily="49" charset="-122"/>
                <a:sym typeface="Arial" pitchFamily="34" charset="0"/>
              </a:rPr>
              <a:t>3</a:t>
            </a:r>
            <a:r>
              <a:rPr lang="zh-CN" altLang="en-US" sz="2400" dirty="0">
                <a:solidFill>
                  <a:srgbClr val="0000FF"/>
                </a:solidFill>
                <a:ea typeface="楷体_GB2312" pitchFamily="49" charset="-122"/>
                <a:sym typeface="Arial" pitchFamily="34" charset="0"/>
              </a:rPr>
              <a:t>）</a:t>
            </a:r>
            <a:r>
              <a:rPr lang="zh-CN" altLang="en-US" sz="2400" dirty="0">
                <a:solidFill>
                  <a:srgbClr val="0000FF"/>
                </a:solidFill>
                <a:latin typeface="楷体_GB2312" pitchFamily="49" charset="-122"/>
                <a:ea typeface="楷体_GB2312" pitchFamily="49" charset="-122"/>
                <a:sym typeface="楷体_GB2312" pitchFamily="49" charset="-122"/>
              </a:rPr>
              <a:t>采用补偿线路</a:t>
            </a:r>
            <a:endParaRPr lang="zh-CN" altLang="en-US" dirty="0">
              <a:solidFill>
                <a:srgbClr val="0000FF"/>
              </a:solidFill>
            </a:endParaRPr>
          </a:p>
        </p:txBody>
      </p:sp>
      <p:sp>
        <p:nvSpPr>
          <p:cNvPr id="10" name="Text Box 7">
            <a:extLst>
              <a:ext uri="{FF2B5EF4-FFF2-40B4-BE49-F238E27FC236}">
                <a16:creationId xmlns:a16="http://schemas.microsoft.com/office/drawing/2014/main" id="{B34A70E0-14D5-4D33-B0F6-149183B33A6C}"/>
              </a:ext>
            </a:extLst>
          </p:cNvPr>
          <p:cNvSpPr>
            <a:spLocks noChangeArrowheads="1"/>
          </p:cNvSpPr>
          <p:nvPr/>
        </p:nvSpPr>
        <p:spPr bwMode="auto">
          <a:xfrm>
            <a:off x="481348" y="1360707"/>
            <a:ext cx="39163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600" b="1" dirty="0">
                <a:ea typeface="楷体_GB2312" pitchFamily="49" charset="-122"/>
                <a:sym typeface="Arial" pitchFamily="34" charset="0"/>
              </a:rPr>
              <a:t>消除零点残余电压方法</a:t>
            </a:r>
            <a:r>
              <a:rPr lang="zh-CN" altLang="en-US" sz="2600" dirty="0">
                <a:ea typeface="楷体_GB2312" pitchFamily="49" charset="-122"/>
                <a:sym typeface="Arial" pitchFamily="34" charset="0"/>
              </a:rPr>
              <a:t>：</a:t>
            </a:r>
            <a:endParaRPr lang="zh-CN" altLang="en-US" dirty="0"/>
          </a:p>
        </p:txBody>
      </p:sp>
      <p:sp>
        <p:nvSpPr>
          <p:cNvPr id="11" name="Rectangle 2">
            <a:extLst>
              <a:ext uri="{FF2B5EF4-FFF2-40B4-BE49-F238E27FC236}">
                <a16:creationId xmlns:a16="http://schemas.microsoft.com/office/drawing/2014/main" id="{5A5A8B8E-39BC-49B9-82D4-F14B7109BECF}"/>
              </a:ext>
            </a:extLst>
          </p:cNvPr>
          <p:cNvSpPr>
            <a:spLocks noChangeArrowheads="1"/>
          </p:cNvSpPr>
          <p:nvPr/>
        </p:nvSpPr>
        <p:spPr bwMode="auto">
          <a:xfrm>
            <a:off x="400808" y="515344"/>
            <a:ext cx="36359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2800" dirty="0">
                <a:solidFill>
                  <a:srgbClr val="C00000"/>
                </a:solidFill>
                <a:ea typeface="楷体_GB2312" pitchFamily="49" charset="-122"/>
              </a:rPr>
              <a:t>③ 零点残余电压</a:t>
            </a:r>
            <a:r>
              <a:rPr lang="en-US" altLang="zh-CN" sz="2800" dirty="0">
                <a:solidFill>
                  <a:srgbClr val="C00000"/>
                </a:solidFill>
                <a:ea typeface="楷体_GB2312" pitchFamily="49" charset="-122"/>
              </a:rPr>
              <a:t>-</a:t>
            </a:r>
            <a:r>
              <a:rPr lang="zh-CN" altLang="en-US" sz="2800" dirty="0">
                <a:solidFill>
                  <a:srgbClr val="C00000"/>
                </a:solidFill>
                <a:ea typeface="楷体_GB2312" pitchFamily="49" charset="-122"/>
              </a:rPr>
              <a:t>消除</a:t>
            </a:r>
            <a:endParaRPr lang="zh-CN" altLang="en-US" sz="2800" dirty="0">
              <a:solidFill>
                <a:srgbClr val="C00000"/>
              </a:solidFill>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51203" name="Text Box 12"/>
          <p:cNvSpPr>
            <a:spLocks noChangeArrowheads="1"/>
          </p:cNvSpPr>
          <p:nvPr/>
        </p:nvSpPr>
        <p:spPr bwMode="auto">
          <a:xfrm>
            <a:off x="12795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endParaRPr lang="zh-CN" altLang="zh-CN" sz="2400">
              <a:latin typeface="Times New Roman" pitchFamily="18" charset="0"/>
              <a:sym typeface="Times New Roman" pitchFamily="18" charset="0"/>
            </a:endParaRPr>
          </a:p>
        </p:txBody>
      </p:sp>
      <p:sp>
        <p:nvSpPr>
          <p:cNvPr id="51204" name="TextBox 5"/>
          <p:cNvSpPr>
            <a:spLocks noChangeArrowheads="1"/>
          </p:cNvSpPr>
          <p:nvPr/>
        </p:nvSpPr>
        <p:spPr bwMode="auto">
          <a:xfrm>
            <a:off x="785812" y="285750"/>
            <a:ext cx="652237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sz="3200" b="1" dirty="0">
                <a:solidFill>
                  <a:schemeClr val="tx2"/>
                </a:solidFill>
                <a:latin typeface="Calibri" pitchFamily="34" charset="0"/>
              </a:rPr>
              <a:t>差动变压器测量电路</a:t>
            </a:r>
            <a:r>
              <a:rPr lang="en-US" altLang="zh-CN" sz="3200" b="1" dirty="0">
                <a:solidFill>
                  <a:schemeClr val="tx2"/>
                </a:solidFill>
                <a:latin typeface="Calibri" pitchFamily="34" charset="0"/>
              </a:rPr>
              <a:t>—</a:t>
            </a:r>
            <a:r>
              <a:rPr lang="zh-CN" altLang="en-US" sz="3200" b="1" dirty="0">
                <a:solidFill>
                  <a:schemeClr val="tx2"/>
                </a:solidFill>
                <a:latin typeface="Calibri" pitchFamily="34" charset="0"/>
              </a:rPr>
              <a:t>差动整流</a:t>
            </a:r>
            <a:endParaRPr lang="zh-CN" altLang="en-US" dirty="0"/>
          </a:p>
        </p:txBody>
      </p:sp>
      <p:sp>
        <p:nvSpPr>
          <p:cNvPr id="51205" name="Rectangle 13"/>
          <p:cNvSpPr>
            <a:spLocks noChangeArrowheads="1"/>
          </p:cNvSpPr>
          <p:nvPr/>
        </p:nvSpPr>
        <p:spPr bwMode="auto">
          <a:xfrm>
            <a:off x="-323850" y="44307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06" name="Rectangle 3"/>
          <p:cNvSpPr>
            <a:spLocks noChangeArrowheads="1"/>
          </p:cNvSpPr>
          <p:nvPr/>
        </p:nvSpPr>
        <p:spPr bwMode="auto">
          <a:xfrm>
            <a:off x="-323850" y="37544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07" name="Rectangle 4"/>
          <p:cNvSpPr>
            <a:spLocks noChangeArrowheads="1"/>
          </p:cNvSpPr>
          <p:nvPr/>
        </p:nvSpPr>
        <p:spPr bwMode="auto">
          <a:xfrm>
            <a:off x="-323850" y="44592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08" name="Rectangle 5"/>
          <p:cNvSpPr>
            <a:spLocks noChangeArrowheads="1"/>
          </p:cNvSpPr>
          <p:nvPr/>
        </p:nvSpPr>
        <p:spPr bwMode="auto">
          <a:xfrm>
            <a:off x="-323850" y="44592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09" name="Rectangle 6"/>
          <p:cNvSpPr>
            <a:spLocks noChangeArrowheads="1"/>
          </p:cNvSpPr>
          <p:nvPr/>
        </p:nvSpPr>
        <p:spPr bwMode="auto">
          <a:xfrm>
            <a:off x="-323850" y="4445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0" name="Rectangle 7"/>
          <p:cNvSpPr>
            <a:spLocks noChangeArrowheads="1"/>
          </p:cNvSpPr>
          <p:nvPr/>
        </p:nvSpPr>
        <p:spPr bwMode="auto">
          <a:xfrm>
            <a:off x="-323850" y="43830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1" name="Rectangle 8"/>
          <p:cNvSpPr>
            <a:spLocks noChangeArrowheads="1"/>
          </p:cNvSpPr>
          <p:nvPr/>
        </p:nvSpPr>
        <p:spPr bwMode="auto">
          <a:xfrm>
            <a:off x="-323850" y="4445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2" name="Rectangle 9"/>
          <p:cNvSpPr>
            <a:spLocks noChangeArrowheads="1"/>
          </p:cNvSpPr>
          <p:nvPr/>
        </p:nvSpPr>
        <p:spPr bwMode="auto">
          <a:xfrm>
            <a:off x="-323850" y="3740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3" name="Rectangle 10"/>
          <p:cNvSpPr>
            <a:spLocks noChangeArrowheads="1"/>
          </p:cNvSpPr>
          <p:nvPr/>
        </p:nvSpPr>
        <p:spPr bwMode="auto">
          <a:xfrm>
            <a:off x="-323850" y="37830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4" name="Rectangle 11"/>
          <p:cNvSpPr>
            <a:spLocks noChangeArrowheads="1"/>
          </p:cNvSpPr>
          <p:nvPr/>
        </p:nvSpPr>
        <p:spPr bwMode="auto">
          <a:xfrm>
            <a:off x="-323850" y="39735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5" name="Rectangle 15"/>
          <p:cNvSpPr>
            <a:spLocks noChangeArrowheads="1"/>
          </p:cNvSpPr>
          <p:nvPr/>
        </p:nvSpPr>
        <p:spPr bwMode="auto">
          <a:xfrm>
            <a:off x="-323850" y="3911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6" name="Text Box 2"/>
          <p:cNvSpPr>
            <a:spLocks noChangeArrowheads="1"/>
          </p:cNvSpPr>
          <p:nvPr/>
        </p:nvSpPr>
        <p:spPr bwMode="auto">
          <a:xfrm>
            <a:off x="142875" y="1069975"/>
            <a:ext cx="8353425" cy="110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sz="2400" b="1" dirty="0">
                <a:solidFill>
                  <a:srgbClr val="C00000"/>
                </a:solidFill>
                <a:latin typeface="宋体" pitchFamily="2" charset="-122"/>
                <a:sym typeface="宋体" pitchFamily="2" charset="-122"/>
              </a:rPr>
              <a:t>①</a:t>
            </a:r>
            <a:r>
              <a:rPr lang="zh-CN" altLang="en-US" sz="2400" b="1" dirty="0">
                <a:solidFill>
                  <a:srgbClr val="C00000"/>
                </a:solidFill>
                <a:latin typeface="宋体" pitchFamily="2" charset="-122"/>
                <a:sym typeface="宋体" pitchFamily="2" charset="-122"/>
              </a:rPr>
              <a:t> 差动整流电路：</a:t>
            </a:r>
            <a:r>
              <a:rPr lang="zh-CN" altLang="en-US" sz="2400" dirty="0">
                <a:latin typeface="楷体_GB2312" pitchFamily="49" charset="-122"/>
                <a:ea typeface="楷体_GB2312" pitchFamily="49" charset="-122"/>
                <a:sym typeface="楷体_GB2312" pitchFamily="49" charset="-122"/>
              </a:rPr>
              <a:t>将差动变压器两输出分别接至两整流电路</a:t>
            </a:r>
          </a:p>
          <a:p>
            <a:pPr eaLnBrk="1" hangingPunct="1">
              <a:lnSpc>
                <a:spcPct val="140000"/>
              </a:lnSpc>
            </a:pPr>
            <a:r>
              <a:rPr lang="zh-CN" altLang="en-US" sz="2400" dirty="0">
                <a:latin typeface="楷体_GB2312" pitchFamily="49" charset="-122"/>
                <a:ea typeface="楷体_GB2312" pitchFamily="49" charset="-122"/>
                <a:sym typeface="楷体_GB2312" pitchFamily="49" charset="-122"/>
              </a:rPr>
              <a:t>特点：根据二极管单向导通原理进行解调的。</a:t>
            </a:r>
            <a:endParaRPr lang="zh-CN" altLang="en-US" dirty="0"/>
          </a:p>
        </p:txBody>
      </p:sp>
      <p:pic>
        <p:nvPicPr>
          <p:cNvPr id="51217" name="Picture 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1088" y="2179638"/>
            <a:ext cx="7772400"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18" name="Group 22"/>
          <p:cNvGrpSpPr>
            <a:grpSpLocks/>
          </p:cNvGrpSpPr>
          <p:nvPr/>
        </p:nvGrpSpPr>
        <p:grpSpPr bwMode="auto">
          <a:xfrm>
            <a:off x="317417" y="2274888"/>
            <a:ext cx="3205162" cy="1338262"/>
            <a:chOff x="0" y="0"/>
            <a:chExt cx="2291" cy="1134"/>
          </a:xfrm>
        </p:grpSpPr>
        <p:sp>
          <p:nvSpPr>
            <p:cNvPr id="51219" name="AutoShape 23"/>
            <p:cNvSpPr>
              <a:spLocks noChangeArrowheads="1"/>
            </p:cNvSpPr>
            <p:nvPr/>
          </p:nvSpPr>
          <p:spPr bwMode="auto">
            <a:xfrm>
              <a:off x="0" y="0"/>
              <a:ext cx="2291" cy="1134"/>
            </a:xfrm>
            <a:prstGeom prst="wedgeRoundRectCallout">
              <a:avLst>
                <a:gd name="adj1" fmla="val 52143"/>
                <a:gd name="adj2" fmla="val 63128"/>
                <a:gd name="adj3" fmla="val 16667"/>
              </a:avLst>
            </a:prstGeom>
            <a:solidFill>
              <a:schemeClr val="bg1"/>
            </a:solidFill>
            <a:ln w="9525" cmpd="sng">
              <a:solidFill>
                <a:schemeClr val="tx2"/>
              </a:solidFill>
              <a:miter lim="800000"/>
              <a:headEnd/>
              <a:tailEnd/>
            </a:ln>
          </p:spPr>
          <p:txBody>
            <a:bodyPr/>
            <a:lstStyle/>
            <a:p>
              <a:pPr algn="ctr"/>
              <a:endParaRPr lang="zh-CN" altLang="zh-CN" sz="2400">
                <a:solidFill>
                  <a:srgbClr val="000000"/>
                </a:solidFill>
                <a:latin typeface="Times New Roman" pitchFamily="18" charset="0"/>
                <a:sym typeface="Times New Roman" pitchFamily="18" charset="0"/>
              </a:endParaRPr>
            </a:p>
          </p:txBody>
        </p:sp>
        <p:sp>
          <p:nvSpPr>
            <p:cNvPr id="51220" name="Rectangle 24"/>
            <p:cNvSpPr>
              <a:spLocks noChangeArrowheads="1"/>
            </p:cNvSpPr>
            <p:nvPr/>
          </p:nvSpPr>
          <p:spPr bwMode="auto">
            <a:xfrm>
              <a:off x="69" y="45"/>
              <a:ext cx="2199"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zh-CN" altLang="en-US" sz="2000" b="1" dirty="0">
                  <a:solidFill>
                    <a:srgbClr val="000000"/>
                  </a:solidFill>
                  <a:latin typeface="Times New Roman" pitchFamily="18" charset="0"/>
                  <a:ea typeface="楷体_GB2312" pitchFamily="49" charset="-122"/>
                  <a:sym typeface="Times New Roman" pitchFamily="18" charset="0"/>
                </a:rPr>
                <a:t>在</a:t>
              </a:r>
              <a:r>
                <a:rPr lang="en-US" sz="2000" b="1" i="1" dirty="0">
                  <a:solidFill>
                    <a:srgbClr val="0000FF"/>
                  </a:solidFill>
                  <a:latin typeface="Times New Roman" pitchFamily="18" charset="0"/>
                  <a:ea typeface="楷体_GB2312" pitchFamily="49" charset="-122"/>
                  <a:sym typeface="Times New Roman" pitchFamily="18" charset="0"/>
                </a:rPr>
                <a:t>f</a:t>
              </a:r>
              <a:r>
                <a:rPr lang="zh-CN" altLang="en-US" sz="2000" b="1" dirty="0">
                  <a:solidFill>
                    <a:srgbClr val="000000"/>
                  </a:solidFill>
                  <a:latin typeface="Times New Roman" pitchFamily="18" charset="0"/>
                  <a:ea typeface="楷体_GB2312" pitchFamily="49" charset="-122"/>
                  <a:sym typeface="Times New Roman" pitchFamily="18" charset="0"/>
                </a:rPr>
                <a:t>点为</a:t>
              </a:r>
              <a:r>
                <a:rPr lang="zh-CN" altLang="en-US" sz="2000" b="1" dirty="0">
                  <a:solidFill>
                    <a:srgbClr val="FF0000"/>
                  </a:solidFill>
                  <a:latin typeface="Times New Roman" pitchFamily="18" charset="0"/>
                  <a:ea typeface="楷体_GB2312" pitchFamily="49" charset="-122"/>
                  <a:sym typeface="Times New Roman" pitchFamily="18" charset="0"/>
                </a:rPr>
                <a:t>“</a:t>
              </a:r>
              <a:r>
                <a:rPr lang="en-US" sz="2000" b="1" dirty="0">
                  <a:solidFill>
                    <a:srgbClr val="FF0000"/>
                  </a:solidFill>
                  <a:latin typeface="Times New Roman" pitchFamily="18" charset="0"/>
                  <a:ea typeface="楷体_GB2312" pitchFamily="49" charset="-122"/>
                  <a:sym typeface="Times New Roman" pitchFamily="18" charset="0"/>
                </a:rPr>
                <a:t>+”</a:t>
              </a:r>
              <a:r>
                <a:rPr lang="en-US" sz="2000" b="1" dirty="0">
                  <a:solidFill>
                    <a:srgbClr val="FF3300"/>
                  </a:solidFill>
                  <a:latin typeface="Times New Roman" pitchFamily="18" charset="0"/>
                  <a:ea typeface="楷体_GB2312" pitchFamily="49" charset="-122"/>
                  <a:sym typeface="Times New Roman" pitchFamily="18" charset="0"/>
                </a:rPr>
                <a:t> </a:t>
              </a:r>
              <a:r>
                <a:rPr lang="zh-CN" altLang="en-US" sz="2000" b="1" dirty="0">
                  <a:solidFill>
                    <a:srgbClr val="000000"/>
                  </a:solidFill>
                  <a:latin typeface="Times New Roman" pitchFamily="18" charset="0"/>
                  <a:ea typeface="楷体_GB2312" pitchFamily="49" charset="-122"/>
                  <a:sym typeface="Times New Roman" pitchFamily="18" charset="0"/>
                </a:rPr>
                <a:t>，则电流路径是</a:t>
              </a:r>
              <a:r>
                <a:rPr lang="en-US" sz="2000" b="1" i="1" dirty="0" err="1">
                  <a:solidFill>
                    <a:srgbClr val="0000FF"/>
                  </a:solidFill>
                  <a:latin typeface="Times New Roman" pitchFamily="18" charset="0"/>
                  <a:ea typeface="楷体_GB2312" pitchFamily="49" charset="-122"/>
                  <a:sym typeface="Times New Roman" pitchFamily="18" charset="0"/>
                </a:rPr>
                <a:t>fgdche</a:t>
              </a:r>
              <a:r>
                <a:rPr lang="zh-CN" altLang="en-US" sz="2000" b="1" i="1" dirty="0">
                  <a:solidFill>
                    <a:srgbClr val="000000"/>
                  </a:solidFill>
                  <a:latin typeface="Times New Roman" pitchFamily="18" charset="0"/>
                  <a:ea typeface="楷体_GB2312" pitchFamily="49" charset="-122"/>
                  <a:sym typeface="Times New Roman" pitchFamily="18" charset="0"/>
                </a:rPr>
                <a:t>。</a:t>
              </a:r>
              <a:r>
                <a:rPr lang="zh-CN" altLang="en-US" sz="2000" b="1" dirty="0">
                  <a:solidFill>
                    <a:srgbClr val="000000"/>
                  </a:solidFill>
                  <a:latin typeface="Times New Roman" pitchFamily="18" charset="0"/>
                  <a:ea typeface="楷体_GB2312" pitchFamily="49" charset="-122"/>
                  <a:sym typeface="Times New Roman" pitchFamily="18" charset="0"/>
                </a:rPr>
                <a:t>反之，如</a:t>
              </a:r>
              <a:r>
                <a:rPr lang="en-US" sz="2000" b="1" i="1" dirty="0">
                  <a:solidFill>
                    <a:srgbClr val="0000FF"/>
                  </a:solidFill>
                  <a:latin typeface="Times New Roman" pitchFamily="18" charset="0"/>
                  <a:ea typeface="楷体_GB2312" pitchFamily="49" charset="-122"/>
                  <a:sym typeface="Times New Roman" pitchFamily="18" charset="0"/>
                </a:rPr>
                <a:t>f</a:t>
              </a:r>
              <a:r>
                <a:rPr lang="zh-CN" altLang="en-US" sz="2000" b="1" dirty="0">
                  <a:solidFill>
                    <a:srgbClr val="000000"/>
                  </a:solidFill>
                  <a:latin typeface="Times New Roman" pitchFamily="18" charset="0"/>
                  <a:ea typeface="楷体_GB2312" pitchFamily="49" charset="-122"/>
                  <a:sym typeface="Times New Roman" pitchFamily="18" charset="0"/>
                </a:rPr>
                <a:t>点为</a:t>
              </a:r>
              <a:r>
                <a:rPr lang="zh-CN" altLang="en-US" sz="2000" b="1" dirty="0">
                  <a:solidFill>
                    <a:srgbClr val="FF0000"/>
                  </a:solidFill>
                  <a:latin typeface="Times New Roman" pitchFamily="18" charset="0"/>
                  <a:ea typeface="楷体_GB2312" pitchFamily="49" charset="-122"/>
                  <a:sym typeface="Times New Roman" pitchFamily="18" charset="0"/>
                </a:rPr>
                <a:t>“</a:t>
              </a:r>
              <a:r>
                <a:rPr lang="en-US" sz="2000" b="1" dirty="0">
                  <a:solidFill>
                    <a:srgbClr val="FF0000"/>
                  </a:solidFill>
                  <a:latin typeface="Times New Roman" pitchFamily="18" charset="0"/>
                  <a:ea typeface="楷体_GB2312" pitchFamily="49" charset="-122"/>
                  <a:sym typeface="Times New Roman" pitchFamily="18" charset="0"/>
                </a:rPr>
                <a:t>-”</a:t>
              </a:r>
              <a:r>
                <a:rPr lang="zh-CN" altLang="en-US" sz="2000" b="1" dirty="0">
                  <a:solidFill>
                    <a:srgbClr val="000000"/>
                  </a:solidFill>
                  <a:latin typeface="Times New Roman" pitchFamily="18" charset="0"/>
                  <a:ea typeface="楷体_GB2312" pitchFamily="49" charset="-122"/>
                  <a:sym typeface="Times New Roman" pitchFamily="18" charset="0"/>
                </a:rPr>
                <a:t>，则电流路径是</a:t>
              </a:r>
              <a:r>
                <a:rPr lang="en-US" sz="2000" b="1" i="1" dirty="0" err="1">
                  <a:solidFill>
                    <a:srgbClr val="0000FF"/>
                  </a:solidFill>
                  <a:latin typeface="Times New Roman" pitchFamily="18" charset="0"/>
                  <a:ea typeface="楷体_GB2312" pitchFamily="49" charset="-122"/>
                  <a:sym typeface="Times New Roman" pitchFamily="18" charset="0"/>
                </a:rPr>
                <a:t>ehdcgf</a:t>
              </a:r>
              <a:r>
                <a:rPr lang="zh-CN" altLang="en-US" sz="2000" b="1" dirty="0">
                  <a:solidFill>
                    <a:srgbClr val="000000"/>
                  </a:solidFill>
                  <a:latin typeface="Times New Roman" pitchFamily="18" charset="0"/>
                  <a:ea typeface="楷体_GB2312" pitchFamily="49" charset="-122"/>
                  <a:sym typeface="Times New Roman" pitchFamily="18" charset="0"/>
                </a:rPr>
                <a:t>。</a:t>
              </a:r>
              <a:endParaRPr lang="zh-CN" altLang="en-US" dirty="0"/>
            </a:p>
          </p:txBody>
        </p:sp>
      </p:grpSp>
      <p:grpSp>
        <p:nvGrpSpPr>
          <p:cNvPr id="3" name="组合 2">
            <a:extLst>
              <a:ext uri="{FF2B5EF4-FFF2-40B4-BE49-F238E27FC236}">
                <a16:creationId xmlns:a16="http://schemas.microsoft.com/office/drawing/2014/main" id="{ADA92384-1ED8-4B3A-B565-C75947E3AE7E}"/>
              </a:ext>
            </a:extLst>
          </p:cNvPr>
          <p:cNvGrpSpPr/>
          <p:nvPr/>
        </p:nvGrpSpPr>
        <p:grpSpPr>
          <a:xfrm>
            <a:off x="4661652" y="6086549"/>
            <a:ext cx="1942034" cy="657151"/>
            <a:chOff x="4661652" y="6086549"/>
            <a:chExt cx="1942034" cy="657151"/>
          </a:xfrm>
        </p:grpSpPr>
        <p:sp>
          <p:nvSpPr>
            <p:cNvPr id="24" name="AutoShape 23">
              <a:extLst>
                <a:ext uri="{FF2B5EF4-FFF2-40B4-BE49-F238E27FC236}">
                  <a16:creationId xmlns:a16="http://schemas.microsoft.com/office/drawing/2014/main" id="{84985580-3DCB-4D23-86E7-3778062236AC}"/>
                </a:ext>
              </a:extLst>
            </p:cNvPr>
            <p:cNvSpPr>
              <a:spLocks noChangeArrowheads="1"/>
            </p:cNvSpPr>
            <p:nvPr/>
          </p:nvSpPr>
          <p:spPr bwMode="auto">
            <a:xfrm>
              <a:off x="4661652" y="6162749"/>
              <a:ext cx="1942034" cy="580951"/>
            </a:xfrm>
            <a:prstGeom prst="wedgeRoundRectCallout">
              <a:avLst>
                <a:gd name="adj1" fmla="val 74116"/>
                <a:gd name="adj2" fmla="val -57543"/>
                <a:gd name="adj3" fmla="val 16667"/>
              </a:avLst>
            </a:prstGeom>
            <a:solidFill>
              <a:schemeClr val="bg1"/>
            </a:solidFill>
            <a:ln w="9525" cmpd="sng">
              <a:solidFill>
                <a:schemeClr val="tx2"/>
              </a:solidFill>
              <a:miter lim="800000"/>
              <a:headEnd/>
              <a:tailEnd/>
            </a:ln>
          </p:spPr>
          <p:txBody>
            <a:bodyPr/>
            <a:lstStyle/>
            <a:p>
              <a:pPr algn="ctr"/>
              <a:endParaRPr lang="zh-CN" altLang="zh-CN" sz="2400" u="sng">
                <a:solidFill>
                  <a:srgbClr val="000000"/>
                </a:solidFill>
                <a:latin typeface="Times New Roman" pitchFamily="18" charset="0"/>
                <a:sym typeface="Times New Roman" pitchFamily="18" charset="0"/>
              </a:endParaRPr>
            </a:p>
          </p:txBody>
        </p:sp>
        <p:sp>
          <p:nvSpPr>
            <p:cNvPr id="25" name="Rectangle 24">
              <a:extLst>
                <a:ext uri="{FF2B5EF4-FFF2-40B4-BE49-F238E27FC236}">
                  <a16:creationId xmlns:a16="http://schemas.microsoft.com/office/drawing/2014/main" id="{D5485D01-27C9-4B7A-8147-D89599F0AED4}"/>
                </a:ext>
              </a:extLst>
            </p:cNvPr>
            <p:cNvSpPr>
              <a:spLocks noChangeArrowheads="1"/>
            </p:cNvSpPr>
            <p:nvPr/>
          </p:nvSpPr>
          <p:spPr bwMode="auto">
            <a:xfrm>
              <a:off x="4685465" y="6086549"/>
              <a:ext cx="1800126" cy="604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altLang="zh-CN" sz="2000" b="1" u="sng" dirty="0" err="1">
                  <a:solidFill>
                    <a:srgbClr val="000000"/>
                  </a:solidFill>
                  <a:latin typeface="Times New Roman" pitchFamily="18" charset="0"/>
                  <a:ea typeface="楷体_GB2312" pitchFamily="49" charset="-122"/>
                  <a:sym typeface="Times New Roman" pitchFamily="18" charset="0"/>
                </a:rPr>
                <a:t>Usc</a:t>
              </a:r>
              <a:r>
                <a:rPr lang="en-US" altLang="zh-CN" sz="2000" b="1" u="sng" dirty="0">
                  <a:solidFill>
                    <a:srgbClr val="000000"/>
                  </a:solidFill>
                  <a:latin typeface="Times New Roman" pitchFamily="18" charset="0"/>
                  <a:ea typeface="楷体_GB2312" pitchFamily="49" charset="-122"/>
                  <a:sym typeface="Times New Roman" pitchFamily="18" charset="0"/>
                </a:rPr>
                <a:t> = </a:t>
              </a:r>
              <a:r>
                <a:rPr lang="en-US" altLang="zh-CN" sz="3200" b="1" u="sng" dirty="0" err="1">
                  <a:solidFill>
                    <a:srgbClr val="000000"/>
                  </a:solidFill>
                  <a:latin typeface="Times New Roman" pitchFamily="18" charset="0"/>
                  <a:ea typeface="楷体_GB2312" pitchFamily="49" charset="-122"/>
                  <a:sym typeface="Times New Roman" pitchFamily="18" charset="0"/>
                </a:rPr>
                <a:t>e</a:t>
              </a:r>
              <a:r>
                <a:rPr lang="en-US" altLang="zh-CN" sz="1600" b="1" u="sng" dirty="0" err="1">
                  <a:solidFill>
                    <a:srgbClr val="000000"/>
                  </a:solidFill>
                  <a:latin typeface="Times New Roman" pitchFamily="18" charset="0"/>
                  <a:ea typeface="楷体_GB2312" pitchFamily="49" charset="-122"/>
                  <a:sym typeface="Times New Roman" pitchFamily="18" charset="0"/>
                </a:rPr>
                <a:t>ab</a:t>
              </a:r>
              <a:r>
                <a:rPr lang="en-US" altLang="zh-CN" sz="2000" b="1" u="sng" dirty="0" err="1">
                  <a:solidFill>
                    <a:srgbClr val="000000"/>
                  </a:solidFill>
                  <a:latin typeface="Times New Roman" pitchFamily="18" charset="0"/>
                  <a:ea typeface="楷体_GB2312" pitchFamily="49" charset="-122"/>
                  <a:sym typeface="Times New Roman" pitchFamily="18" charset="0"/>
                </a:rPr>
                <a:t>+</a:t>
              </a:r>
              <a:r>
                <a:rPr lang="en-US" altLang="zh-CN" sz="3200" b="1" u="sng" dirty="0" err="1">
                  <a:solidFill>
                    <a:srgbClr val="000000"/>
                  </a:solidFill>
                  <a:latin typeface="Times New Roman" pitchFamily="18" charset="0"/>
                  <a:ea typeface="楷体_GB2312" pitchFamily="49" charset="-122"/>
                  <a:sym typeface="Times New Roman" pitchFamily="18" charset="0"/>
                </a:rPr>
                <a:t>e</a:t>
              </a:r>
              <a:r>
                <a:rPr lang="en-US" altLang="zh-CN" sz="1600" b="1" u="sng" dirty="0" err="1">
                  <a:solidFill>
                    <a:srgbClr val="000000"/>
                  </a:solidFill>
                  <a:latin typeface="Times New Roman" pitchFamily="18" charset="0"/>
                  <a:ea typeface="楷体_GB2312" pitchFamily="49" charset="-122"/>
                  <a:sym typeface="Times New Roman" pitchFamily="18" charset="0"/>
                </a:rPr>
                <a:t>cd</a:t>
              </a:r>
              <a:endParaRPr lang="zh-CN" altLang="en-US" u="sng"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1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51218"/>
                                        </p:tgtEl>
                                        <p:attrNameLst>
                                          <p:attrName>style.visibility</p:attrName>
                                        </p:attrNameLst>
                                      </p:cBhvr>
                                      <p:to>
                                        <p:strVal val="visible"/>
                                      </p:to>
                                    </p:set>
                                    <p:anim calcmode="lin" valueType="num">
                                      <p:cBhvr>
                                        <p:cTn id="11" dur="500" fill="hold"/>
                                        <p:tgtEl>
                                          <p:spTgt spid="51218"/>
                                        </p:tgtEl>
                                        <p:attrNameLst>
                                          <p:attrName>ppt_x</p:attrName>
                                        </p:attrNameLst>
                                      </p:cBhvr>
                                      <p:tavLst>
                                        <p:tav tm="0">
                                          <p:val>
                                            <p:strVal val="#ppt_x"/>
                                          </p:val>
                                        </p:tav>
                                        <p:tav tm="100000">
                                          <p:val>
                                            <p:strVal val="#ppt_x"/>
                                          </p:val>
                                        </p:tav>
                                      </p:tavLst>
                                    </p:anim>
                                    <p:anim calcmode="lin" valueType="num">
                                      <p:cBhvr>
                                        <p:cTn id="12" dur="500" fill="hold"/>
                                        <p:tgtEl>
                                          <p:spTgt spid="512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5"/>
          <p:cNvSpPr>
            <a:spLocks noGrp="1"/>
          </p:cNvSpPr>
          <p:nvPr>
            <p:ph type="sldNum" sz="quarter" idx="12"/>
          </p:nvPr>
        </p:nvSpPr>
        <p:spPr/>
        <p:txBody>
          <a:bodyPr/>
          <a:lstStyle/>
          <a:p>
            <a:fld id="{030B8143-002F-4460-8B22-26E97EACF921}" type="slidenum">
              <a:rPr lang="zh-CN" altLang="en-US"/>
              <a:pPr/>
              <a:t>49</a:t>
            </a:fld>
            <a:endParaRPr lang="zh-CN" altLang="en-US" sz="1800">
              <a:solidFill>
                <a:schemeClr val="tx1"/>
              </a:solidFill>
              <a:latin typeface="Arial" pitchFamily="34" charset="0"/>
            </a:endParaRPr>
          </a:p>
        </p:txBody>
      </p:sp>
      <p:sp>
        <p:nvSpPr>
          <p:cNvPr id="52229" name="Text Box 2"/>
          <p:cNvSpPr>
            <a:spLocks noChangeArrowheads="1"/>
          </p:cNvSpPr>
          <p:nvPr/>
        </p:nvSpPr>
        <p:spPr bwMode="auto">
          <a:xfrm>
            <a:off x="538875" y="3877265"/>
            <a:ext cx="835342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40000"/>
              </a:lnSpc>
            </a:pPr>
            <a:r>
              <a:rPr lang="zh-CN" altLang="en-US" sz="2400" dirty="0">
                <a:latin typeface="楷体_GB2312" pitchFamily="49" charset="-122"/>
                <a:ea typeface="楷体_GB2312" pitchFamily="49" charset="-122"/>
                <a:sym typeface="楷体_GB2312" pitchFamily="49" charset="-122"/>
              </a:rPr>
              <a:t>电流总是</a:t>
            </a:r>
            <a:r>
              <a:rPr lang="en-US" sz="2400" dirty="0" err="1">
                <a:latin typeface="楷体_GB2312" pitchFamily="49" charset="-122"/>
                <a:ea typeface="楷体_GB2312" pitchFamily="49" charset="-122"/>
                <a:sym typeface="楷体_GB2312" pitchFamily="49" charset="-122"/>
              </a:rPr>
              <a:t>d→c</a:t>
            </a:r>
            <a:r>
              <a:rPr lang="zh-CN" altLang="en-US" sz="2400" dirty="0">
                <a:latin typeface="楷体_GB2312" pitchFamily="49" charset="-122"/>
                <a:ea typeface="楷体_GB2312" pitchFamily="49" charset="-122"/>
                <a:sym typeface="楷体_GB2312" pitchFamily="49" charset="-122"/>
              </a:rPr>
              <a:t>，</a:t>
            </a:r>
            <a:r>
              <a:rPr lang="en-US" sz="2400" dirty="0" err="1">
                <a:latin typeface="楷体_GB2312" pitchFamily="49" charset="-122"/>
                <a:ea typeface="楷体_GB2312" pitchFamily="49" charset="-122"/>
                <a:sym typeface="楷体_GB2312" pitchFamily="49" charset="-122"/>
              </a:rPr>
              <a:t>a→b</a:t>
            </a:r>
            <a:r>
              <a:rPr lang="zh-CN" altLang="en-US" sz="2400" dirty="0">
                <a:latin typeface="楷体_GB2312" pitchFamily="49" charset="-122"/>
                <a:ea typeface="楷体_GB2312" pitchFamily="49" charset="-122"/>
                <a:sym typeface="楷体_GB2312" pitchFamily="49" charset="-122"/>
              </a:rPr>
              <a:t>，所以 </a:t>
            </a:r>
            <a:r>
              <a:rPr lang="en-US" sz="2400" dirty="0">
                <a:latin typeface="楷体_GB2312" pitchFamily="49" charset="-122"/>
                <a:ea typeface="楷体_GB2312" pitchFamily="49" charset="-122"/>
                <a:sym typeface="楷体_GB2312" pitchFamily="49" charset="-122"/>
              </a:rPr>
              <a:t>U</a:t>
            </a:r>
            <a:r>
              <a:rPr lang="en-US" sz="2400" baseline="-25000" dirty="0">
                <a:latin typeface="楷体_GB2312" pitchFamily="49" charset="-122"/>
                <a:ea typeface="楷体_GB2312" pitchFamily="49" charset="-122"/>
                <a:sym typeface="楷体_GB2312" pitchFamily="49" charset="-122"/>
              </a:rPr>
              <a:t>SC</a:t>
            </a:r>
            <a:r>
              <a:rPr lang="zh-CN" altLang="en-US" sz="2400" dirty="0">
                <a:latin typeface="楷体_GB2312" pitchFamily="49" charset="-122"/>
                <a:ea typeface="楷体_GB2312" pitchFamily="49" charset="-122"/>
                <a:sym typeface="楷体_GB2312" pitchFamily="49" charset="-122"/>
              </a:rPr>
              <a:t>的符号表明了方向。</a:t>
            </a:r>
            <a:endParaRPr lang="zh-CN" altLang="en-US" sz="2400" baseline="-25000" dirty="0">
              <a:latin typeface="楷体_GB2312" pitchFamily="49" charset="-122"/>
              <a:ea typeface="楷体_GB2312" pitchFamily="49" charset="-122"/>
              <a:sym typeface="楷体_GB2312" pitchFamily="49" charset="-122"/>
            </a:endParaRPr>
          </a:p>
          <a:p>
            <a:pPr eaLnBrk="1" hangingPunct="1">
              <a:lnSpc>
                <a:spcPct val="140000"/>
              </a:lnSpc>
            </a:pPr>
            <a:r>
              <a:rPr lang="zh-CN" altLang="en-US" sz="2400" dirty="0">
                <a:latin typeface="楷体_GB2312" pitchFamily="49" charset="-122"/>
                <a:ea typeface="楷体_GB2312" pitchFamily="49" charset="-122"/>
                <a:sym typeface="楷体_GB2312" pitchFamily="49" charset="-122"/>
              </a:rPr>
              <a:t>特点：包含以下三个环节</a:t>
            </a:r>
          </a:p>
          <a:p>
            <a:pPr eaLnBrk="1" hangingPunct="1">
              <a:lnSpc>
                <a:spcPct val="140000"/>
              </a:lnSpc>
            </a:pPr>
            <a:r>
              <a:rPr lang="zh-CN" altLang="en-US" sz="2400" dirty="0">
                <a:latin typeface="楷体_GB2312" pitchFamily="49" charset="-122"/>
                <a:ea typeface="楷体_GB2312" pitchFamily="49" charset="-122"/>
                <a:sym typeface="楷体_GB2312" pitchFamily="49" charset="-122"/>
              </a:rPr>
              <a:t>● 相位鉴别功能（通过二极管桥路判断电压的符号）；</a:t>
            </a:r>
          </a:p>
          <a:p>
            <a:pPr eaLnBrk="1" hangingPunct="1">
              <a:lnSpc>
                <a:spcPct val="140000"/>
              </a:lnSpc>
            </a:pPr>
            <a:r>
              <a:rPr lang="zh-CN" altLang="en-US" sz="2400" dirty="0">
                <a:latin typeface="楷体_GB2312" pitchFamily="49" charset="-122"/>
                <a:ea typeface="楷体_GB2312" pitchFamily="49" charset="-122"/>
                <a:sym typeface="楷体_GB2312" pitchFamily="49" charset="-122"/>
              </a:rPr>
              <a:t>●  同频率的参考输入；</a:t>
            </a:r>
          </a:p>
          <a:p>
            <a:pPr eaLnBrk="1" hangingPunct="1">
              <a:lnSpc>
                <a:spcPct val="140000"/>
              </a:lnSpc>
            </a:pPr>
            <a:r>
              <a:rPr lang="zh-CN" altLang="en-US" sz="2400" dirty="0">
                <a:latin typeface="楷体_GB2312" pitchFamily="49" charset="-122"/>
                <a:ea typeface="楷体_GB2312" pitchFamily="49" charset="-122"/>
                <a:sym typeface="楷体_GB2312" pitchFamily="49" charset="-122"/>
              </a:rPr>
              <a:t>● 输出接低通滤波器，转变为直流信号。</a:t>
            </a:r>
            <a:endParaRPr lang="zh-CN" altLang="en-US" dirty="0"/>
          </a:p>
        </p:txBody>
      </p:sp>
      <p:sp>
        <p:nvSpPr>
          <p:cNvPr id="52230"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1"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2"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3"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4"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5"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6" name="Rectangle 9"/>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7" name="Rectangle 10"/>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8" name="Rectangle 11"/>
          <p:cNvSpPr>
            <a:spLocks noChangeArrowheads="1"/>
          </p:cNvSpPr>
          <p:nvPr/>
        </p:nvSpPr>
        <p:spPr bwMode="auto">
          <a:xfrm>
            <a:off x="0" y="27289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9"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40" name="Rectangle 13"/>
          <p:cNvSpPr>
            <a:spLocks noChangeArrowheads="1"/>
          </p:cNvSpPr>
          <p:nvPr/>
        </p:nvSpPr>
        <p:spPr bwMode="auto">
          <a:xfrm>
            <a:off x="0" y="31861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41" name="Rectangle 14"/>
          <p:cNvSpPr>
            <a:spLocks noChangeArrowheads="1"/>
          </p:cNvSpPr>
          <p:nvPr/>
        </p:nvSpPr>
        <p:spPr bwMode="auto">
          <a:xfrm>
            <a:off x="0" y="2667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grpSp>
        <p:nvGrpSpPr>
          <p:cNvPr id="52242" name="Group 18"/>
          <p:cNvGrpSpPr>
            <a:grpSpLocks/>
          </p:cNvGrpSpPr>
          <p:nvPr/>
        </p:nvGrpSpPr>
        <p:grpSpPr bwMode="auto">
          <a:xfrm>
            <a:off x="764300" y="907051"/>
            <a:ext cx="7561062" cy="3090863"/>
            <a:chOff x="0" y="0"/>
            <a:chExt cx="5630" cy="2266"/>
          </a:xfrm>
        </p:grpSpPr>
        <p:pic>
          <p:nvPicPr>
            <p:cNvPr id="52243" name="Picture 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5630" cy="2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44" name="Line 20"/>
            <p:cNvSpPr>
              <a:spLocks noChangeShapeType="1"/>
            </p:cNvSpPr>
            <p:nvPr/>
          </p:nvSpPr>
          <p:spPr bwMode="auto">
            <a:xfrm>
              <a:off x="1843" y="737"/>
              <a:ext cx="1" cy="908"/>
            </a:xfrm>
            <a:prstGeom prst="line">
              <a:avLst/>
            </a:prstGeom>
            <a:noFill/>
            <a:ln w="9525" cmpd="sng">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zh-CN" altLang="zh-CN">
                <a:solidFill>
                  <a:srgbClr val="000000"/>
                </a:solidFill>
                <a:sym typeface="宋体" pitchFamily="2" charset="-122"/>
              </a:endParaRPr>
            </a:p>
          </p:txBody>
        </p:sp>
      </p:grpSp>
      <p:sp>
        <p:nvSpPr>
          <p:cNvPr id="19" name="Text Box 2"/>
          <p:cNvSpPr>
            <a:spLocks noChangeArrowheads="1"/>
          </p:cNvSpPr>
          <p:nvPr/>
        </p:nvSpPr>
        <p:spPr bwMode="auto">
          <a:xfrm>
            <a:off x="332808" y="515587"/>
            <a:ext cx="4455208" cy="57458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sz="2400" b="1" dirty="0">
                <a:solidFill>
                  <a:srgbClr val="C00000"/>
                </a:solidFill>
                <a:latin typeface="宋体" pitchFamily="2" charset="-122"/>
                <a:sym typeface="宋体" pitchFamily="2" charset="-122"/>
              </a:rPr>
              <a:t>①</a:t>
            </a:r>
            <a:r>
              <a:rPr lang="zh-CN" altLang="en-US" sz="2400" b="1" dirty="0">
                <a:solidFill>
                  <a:srgbClr val="C00000"/>
                </a:solidFill>
                <a:latin typeface="宋体" pitchFamily="2" charset="-122"/>
                <a:sym typeface="宋体" pitchFamily="2" charset="-122"/>
              </a:rPr>
              <a:t> 差动整流电路（续）</a:t>
            </a:r>
            <a:endParaRPr lang="zh-CN" altLang="en-US" b="1"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2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29">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2229">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222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E52BA113-5E6C-412A-B4D3-8A585D597287}" type="slidenum">
              <a:rPr lang="en-US" sz="1200">
                <a:solidFill>
                  <a:srgbClr val="000000"/>
                </a:solidFill>
                <a:latin typeface="Arial Black" pitchFamily="34" charset="0"/>
                <a:sym typeface="Arial Black" pitchFamily="34" charset="0"/>
              </a:rPr>
              <a:pPr algn="r" eaLnBrk="1" hangingPunct="1"/>
              <a:t>50</a:t>
            </a:fld>
            <a:endParaRPr lang="en-US" sz="1200">
              <a:latin typeface="Arial Black" pitchFamily="34" charset="0"/>
              <a:sym typeface="Arial Black" pitchFamily="34" charset="0"/>
            </a:endParaRPr>
          </a:p>
        </p:txBody>
      </p:sp>
      <p:sp>
        <p:nvSpPr>
          <p:cNvPr id="53253" name="Rectangle 2"/>
          <p:cNvSpPr>
            <a:spLocks noChangeArrowheads="1"/>
          </p:cNvSpPr>
          <p:nvPr/>
        </p:nvSpPr>
        <p:spPr bwMode="auto">
          <a:xfrm>
            <a:off x="280853" y="192188"/>
            <a:ext cx="28905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800" b="1" dirty="0">
                <a:solidFill>
                  <a:srgbClr val="C00000"/>
                </a:solidFill>
                <a:latin typeface="宋体" pitchFamily="2" charset="-122"/>
                <a:sym typeface="宋体" pitchFamily="2" charset="-122"/>
              </a:rPr>
              <a:t>② </a:t>
            </a:r>
            <a:r>
              <a:rPr lang="zh-CN" altLang="en-US" sz="2800" b="1" dirty="0">
                <a:solidFill>
                  <a:srgbClr val="C00000"/>
                </a:solidFill>
                <a:latin typeface="宋体" pitchFamily="2" charset="-122"/>
                <a:sym typeface="宋体" pitchFamily="2" charset="-122"/>
              </a:rPr>
              <a:t>相敏检波电路</a:t>
            </a:r>
            <a:endParaRPr lang="zh-CN" altLang="en-US" sz="2800" b="1" dirty="0">
              <a:solidFill>
                <a:srgbClr val="C00000"/>
              </a:solidFill>
            </a:endParaRPr>
          </a:p>
        </p:txBody>
      </p:sp>
      <p:sp>
        <p:nvSpPr>
          <p:cNvPr id="53254" name="Text Box 3"/>
          <p:cNvSpPr>
            <a:spLocks noChangeArrowheads="1"/>
          </p:cNvSpPr>
          <p:nvPr/>
        </p:nvSpPr>
        <p:spPr bwMode="auto">
          <a:xfrm>
            <a:off x="566738" y="728663"/>
            <a:ext cx="8191500" cy="219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这种电路容易做到输出平衡，而且便于阻抗平衡。</a:t>
            </a:r>
            <a:endParaRPr lang="en-US" altLang="zh-CN" sz="2400" dirty="0">
              <a:latin typeface="楷体_GB2312" pitchFamily="49" charset="-122"/>
              <a:ea typeface="楷体_GB2312" pitchFamily="49" charset="-122"/>
              <a:sym typeface="楷体_GB2312" pitchFamily="49" charset="-122"/>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调制电压</a:t>
            </a:r>
            <a:r>
              <a:rPr lang="en-US" sz="2400" i="1" dirty="0" err="1">
                <a:latin typeface="Times New Roman" pitchFamily="18" charset="0"/>
                <a:ea typeface="楷体_GB2312" pitchFamily="49" charset="-122"/>
                <a:sym typeface="Times New Roman" pitchFamily="18" charset="0"/>
              </a:rPr>
              <a:t>e</a:t>
            </a:r>
            <a:r>
              <a:rPr lang="en-US" sz="2400" baseline="-25000" dirty="0" err="1">
                <a:latin typeface="Times New Roman" pitchFamily="18" charset="0"/>
                <a:ea typeface="楷体_GB2312" pitchFamily="49" charset="-122"/>
                <a:sym typeface="Times New Roman" pitchFamily="18" charset="0"/>
              </a:rPr>
              <a:t>r</a:t>
            </a:r>
            <a:r>
              <a:rPr lang="en-US" sz="2400" baseline="-25000" dirty="0">
                <a:latin typeface="Times New Roman" pitchFamily="18" charset="0"/>
                <a:ea typeface="楷体_GB2312" pitchFamily="49" charset="-122"/>
                <a:sym typeface="Times New Roman" pitchFamily="18" charset="0"/>
              </a:rPr>
              <a:t> </a:t>
            </a:r>
            <a:r>
              <a:rPr lang="zh-CN" altLang="en-US" sz="2400" dirty="0">
                <a:latin typeface="楷体_GB2312" pitchFamily="49" charset="-122"/>
                <a:ea typeface="楷体_GB2312" pitchFamily="49" charset="-122"/>
                <a:sym typeface="楷体_GB2312" pitchFamily="49" charset="-122"/>
              </a:rPr>
              <a:t>和</a:t>
            </a:r>
            <a:r>
              <a:rPr lang="en-US" sz="2400" i="1" dirty="0">
                <a:latin typeface="Times New Roman" pitchFamily="18" charset="0"/>
                <a:ea typeface="楷体_GB2312" pitchFamily="49" charset="-122"/>
                <a:sym typeface="Times New Roman" pitchFamily="18" charset="0"/>
              </a:rPr>
              <a:t>e </a:t>
            </a:r>
            <a:r>
              <a:rPr lang="zh-CN" altLang="en-US" sz="2400" dirty="0">
                <a:solidFill>
                  <a:srgbClr val="0070C0"/>
                </a:solidFill>
                <a:latin typeface="楷体_GB2312" pitchFamily="49" charset="-122"/>
                <a:ea typeface="楷体_GB2312" pitchFamily="49" charset="-122"/>
                <a:sym typeface="楷体_GB2312" pitchFamily="49" charset="-122"/>
              </a:rPr>
              <a:t>同频</a:t>
            </a:r>
            <a:r>
              <a:rPr lang="zh-CN" altLang="en-US" sz="2400" dirty="0">
                <a:latin typeface="楷体_GB2312" pitchFamily="49" charset="-122"/>
                <a:ea typeface="楷体_GB2312" pitchFamily="49" charset="-122"/>
                <a:sym typeface="楷体_GB2312" pitchFamily="49" charset="-122"/>
              </a:rPr>
              <a:t>，经过</a:t>
            </a:r>
            <a:r>
              <a:rPr lang="zh-CN" altLang="en-US" sz="2400" dirty="0">
                <a:highlight>
                  <a:srgbClr val="FFFF00"/>
                </a:highlight>
                <a:latin typeface="楷体_GB2312" pitchFamily="49" charset="-122"/>
                <a:ea typeface="楷体_GB2312" pitchFamily="49" charset="-122"/>
                <a:sym typeface="楷体_GB2312" pitchFamily="49" charset="-122"/>
              </a:rPr>
              <a:t>移相器</a:t>
            </a:r>
            <a:r>
              <a:rPr lang="zh-CN" altLang="en-US" sz="2400" dirty="0">
                <a:latin typeface="楷体_GB2312" pitchFamily="49" charset="-122"/>
                <a:ea typeface="楷体_GB2312" pitchFamily="49" charset="-122"/>
                <a:sym typeface="楷体_GB2312" pitchFamily="49" charset="-122"/>
              </a:rPr>
              <a:t>使</a:t>
            </a:r>
            <a:r>
              <a:rPr lang="en-US" sz="2400" i="1" dirty="0" err="1">
                <a:latin typeface="Times New Roman" pitchFamily="18" charset="0"/>
                <a:ea typeface="楷体_GB2312" pitchFamily="49" charset="-122"/>
                <a:sym typeface="Times New Roman" pitchFamily="18" charset="0"/>
              </a:rPr>
              <a:t>e</a:t>
            </a:r>
            <a:r>
              <a:rPr lang="en-US" sz="2400" baseline="-25000" dirty="0" err="1">
                <a:latin typeface="Times New Roman" pitchFamily="18" charset="0"/>
                <a:ea typeface="楷体_GB2312" pitchFamily="49" charset="-122"/>
                <a:sym typeface="Times New Roman" pitchFamily="18" charset="0"/>
              </a:rPr>
              <a:t>r</a:t>
            </a:r>
            <a:r>
              <a:rPr lang="zh-CN" altLang="en-US" sz="2400" dirty="0">
                <a:latin typeface="楷体_GB2312" pitchFamily="49" charset="-122"/>
                <a:ea typeface="楷体_GB2312" pitchFamily="49" charset="-122"/>
                <a:sym typeface="楷体_GB2312" pitchFamily="49" charset="-122"/>
              </a:rPr>
              <a:t>和</a:t>
            </a:r>
            <a:r>
              <a:rPr lang="en-US" sz="2400" i="1" dirty="0">
                <a:latin typeface="Times New Roman" pitchFamily="18" charset="0"/>
                <a:ea typeface="楷体_GB2312" pitchFamily="49" charset="-122"/>
                <a:sym typeface="Times New Roman" pitchFamily="18" charset="0"/>
              </a:rPr>
              <a:t>e</a:t>
            </a:r>
            <a:r>
              <a:rPr lang="zh-CN" altLang="en-US" sz="2400" dirty="0">
                <a:latin typeface="楷体_GB2312" pitchFamily="49" charset="-122"/>
                <a:ea typeface="楷体_GB2312" pitchFamily="49" charset="-122"/>
                <a:sym typeface="楷体_GB2312" pitchFamily="49" charset="-122"/>
              </a:rPr>
              <a:t>保持</a:t>
            </a:r>
            <a:r>
              <a:rPr lang="zh-CN" altLang="en-US" sz="2400" dirty="0">
                <a:solidFill>
                  <a:srgbClr val="0070C0"/>
                </a:solidFill>
                <a:latin typeface="楷体_GB2312" pitchFamily="49" charset="-122"/>
                <a:ea typeface="楷体_GB2312" pitchFamily="49" charset="-122"/>
                <a:sym typeface="楷体_GB2312" pitchFamily="49" charset="-122"/>
              </a:rPr>
              <a:t>同相或反相</a:t>
            </a:r>
            <a:r>
              <a:rPr lang="zh-CN" altLang="en-US" sz="2400" dirty="0">
                <a:latin typeface="楷体_GB2312" pitchFamily="49" charset="-122"/>
                <a:ea typeface="楷体_GB2312" pitchFamily="49" charset="-122"/>
                <a:sym typeface="楷体_GB2312" pitchFamily="49" charset="-122"/>
              </a:rPr>
              <a:t>，且满足            。调节电位器</a:t>
            </a:r>
            <a:r>
              <a:rPr lang="en-US" sz="2400" i="1" dirty="0">
                <a:latin typeface="Times New Roman" pitchFamily="18" charset="0"/>
                <a:ea typeface="楷体_GB2312" pitchFamily="49" charset="-122"/>
                <a:sym typeface="Times New Roman" pitchFamily="18" charset="0"/>
              </a:rPr>
              <a:t>R</a:t>
            </a:r>
            <a:r>
              <a:rPr lang="zh-CN" altLang="en-US" sz="2400" dirty="0">
                <a:latin typeface="楷体_GB2312" pitchFamily="49" charset="-122"/>
                <a:ea typeface="楷体_GB2312" pitchFamily="49" charset="-122"/>
                <a:sym typeface="楷体_GB2312" pitchFamily="49" charset="-122"/>
              </a:rPr>
              <a:t>可调平衡，图中电阻</a:t>
            </a:r>
            <a:r>
              <a:rPr lang="en-US" sz="2400" i="1" dirty="0">
                <a:latin typeface="Times New Roman" pitchFamily="18" charset="0"/>
                <a:ea typeface="楷体_GB2312" pitchFamily="49" charset="-122"/>
                <a:sym typeface="Times New Roman" pitchFamily="18" charset="0"/>
              </a:rPr>
              <a:t>R</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a:t>
            </a:r>
            <a:r>
              <a:rPr lang="en-US" sz="2400" i="1" dirty="0">
                <a:latin typeface="Times New Roman" pitchFamily="18" charset="0"/>
                <a:ea typeface="楷体_GB2312" pitchFamily="49" charset="-122"/>
                <a:sym typeface="Times New Roman" pitchFamily="18" charset="0"/>
              </a:rPr>
              <a:t>R</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a:t>
            </a:r>
            <a:r>
              <a:rPr lang="en-US" sz="2400" i="1" dirty="0">
                <a:latin typeface="Times New Roman" pitchFamily="18" charset="0"/>
                <a:ea typeface="楷体_GB2312" pitchFamily="49" charset="-122"/>
                <a:sym typeface="Times New Roman" pitchFamily="18" charset="0"/>
              </a:rPr>
              <a:t>R</a:t>
            </a:r>
            <a:r>
              <a:rPr lang="en-US" sz="2400" baseline="-25000" dirty="0">
                <a:latin typeface="楷体_GB2312" pitchFamily="49" charset="-122"/>
                <a:ea typeface="楷体_GB2312" pitchFamily="49" charset="-122"/>
                <a:sym typeface="楷体_GB2312" pitchFamily="49" charset="-122"/>
              </a:rPr>
              <a:t>0</a:t>
            </a:r>
            <a:r>
              <a:rPr lang="zh-CN" altLang="en-US" sz="2400" dirty="0">
                <a:latin typeface="楷体_GB2312" pitchFamily="49" charset="-122"/>
                <a:ea typeface="楷体_GB2312" pitchFamily="49" charset="-122"/>
                <a:sym typeface="楷体_GB2312" pitchFamily="49" charset="-122"/>
              </a:rPr>
              <a:t>，电容</a:t>
            </a:r>
            <a:r>
              <a:rPr lang="en-US" sz="2400" i="1" dirty="0">
                <a:latin typeface="Times New Roman" pitchFamily="18" charset="0"/>
                <a:ea typeface="楷体_GB2312" pitchFamily="49" charset="-122"/>
                <a:sym typeface="Times New Roman" pitchFamily="18" charset="0"/>
              </a:rPr>
              <a:t>C</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a:t>
            </a:r>
            <a:r>
              <a:rPr lang="en-US" sz="2400" i="1" dirty="0">
                <a:latin typeface="Times New Roman" pitchFamily="18" charset="0"/>
                <a:ea typeface="楷体_GB2312" pitchFamily="49" charset="-122"/>
                <a:sym typeface="Times New Roman" pitchFamily="18" charset="0"/>
              </a:rPr>
              <a:t>C</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a:t>
            </a:r>
            <a:r>
              <a:rPr lang="en-US" sz="2400" i="1" dirty="0">
                <a:latin typeface="Times New Roman" pitchFamily="18" charset="0"/>
                <a:ea typeface="楷体_GB2312" pitchFamily="49" charset="-122"/>
                <a:sym typeface="Times New Roman" pitchFamily="18" charset="0"/>
              </a:rPr>
              <a:t>C</a:t>
            </a:r>
            <a:r>
              <a:rPr lang="en-US" sz="2400" baseline="-25000" dirty="0">
                <a:latin typeface="楷体_GB2312" pitchFamily="49" charset="-122"/>
                <a:ea typeface="楷体_GB2312" pitchFamily="49" charset="-122"/>
                <a:sym typeface="楷体_GB2312" pitchFamily="49" charset="-122"/>
              </a:rPr>
              <a:t>0</a:t>
            </a:r>
            <a:r>
              <a:rPr lang="zh-CN" altLang="en-US" sz="2400" dirty="0">
                <a:latin typeface="楷体_GB2312" pitchFamily="49" charset="-122"/>
                <a:ea typeface="楷体_GB2312" pitchFamily="49" charset="-122"/>
                <a:sym typeface="楷体_GB2312" pitchFamily="49" charset="-122"/>
              </a:rPr>
              <a:t>，输出电压为</a:t>
            </a:r>
            <a:r>
              <a:rPr lang="en-US" sz="2400" dirty="0">
                <a:latin typeface="Times New Roman" pitchFamily="18" charset="0"/>
                <a:ea typeface="楷体_GB2312" pitchFamily="49" charset="-122"/>
                <a:sym typeface="Times New Roman" pitchFamily="18" charset="0"/>
              </a:rPr>
              <a:t>U</a:t>
            </a:r>
            <a:r>
              <a:rPr lang="en-US" sz="2400" baseline="-25000" dirty="0">
                <a:latin typeface="Times New Roman" pitchFamily="18" charset="0"/>
                <a:ea typeface="楷体_GB2312" pitchFamily="49" charset="-122"/>
                <a:sym typeface="Times New Roman" pitchFamily="18" charset="0"/>
              </a:rPr>
              <a:t>CD</a:t>
            </a:r>
            <a:r>
              <a:rPr lang="zh-CN" altLang="en-US" sz="2400" dirty="0">
                <a:latin typeface="楷体_GB2312" pitchFamily="49" charset="-122"/>
                <a:ea typeface="楷体_GB2312" pitchFamily="49" charset="-122"/>
                <a:sym typeface="楷体_GB2312" pitchFamily="49" charset="-122"/>
              </a:rPr>
              <a:t>。</a:t>
            </a:r>
            <a:endParaRPr lang="zh-CN" altLang="en-US" dirty="0">
              <a:sym typeface="Arial" pitchFamily="34" charset="0"/>
            </a:endParaRPr>
          </a:p>
        </p:txBody>
      </p:sp>
      <p:pic>
        <p:nvPicPr>
          <p:cNvPr id="53257"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6121" y="2926188"/>
            <a:ext cx="5899150" cy="3282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8" name="Text Box 7"/>
          <p:cNvSpPr>
            <a:spLocks noChangeArrowheads="1"/>
          </p:cNvSpPr>
          <p:nvPr/>
        </p:nvSpPr>
        <p:spPr bwMode="auto">
          <a:xfrm>
            <a:off x="2640006" y="6237436"/>
            <a:ext cx="4387291" cy="366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a:latin typeface="楷体_GB2312" pitchFamily="49" charset="-122"/>
                <a:ea typeface="楷体_GB2312" pitchFamily="49" charset="-122"/>
                <a:sym typeface="楷体_GB2312" pitchFamily="49" charset="-122"/>
              </a:rPr>
              <a:t>图</a:t>
            </a:r>
            <a:r>
              <a:rPr lang="en-US">
                <a:latin typeface="楷体_GB2312" pitchFamily="49" charset="-122"/>
                <a:ea typeface="楷体_GB2312" pitchFamily="49" charset="-122"/>
                <a:sym typeface="楷体_GB2312" pitchFamily="49" charset="-122"/>
              </a:rPr>
              <a:t>4-30 </a:t>
            </a:r>
            <a:r>
              <a:rPr lang="zh-CN" altLang="en-US">
                <a:latin typeface="楷体_GB2312" pitchFamily="49" charset="-122"/>
                <a:ea typeface="楷体_GB2312" pitchFamily="49" charset="-122"/>
                <a:sym typeface="楷体_GB2312" pitchFamily="49" charset="-122"/>
              </a:rPr>
              <a:t>二极管相敏检波电路图</a:t>
            </a:r>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3612139601"/>
              </p:ext>
            </p:extLst>
          </p:nvPr>
        </p:nvGraphicFramePr>
        <p:xfrm>
          <a:off x="1907815" y="1915077"/>
          <a:ext cx="1058174" cy="514787"/>
        </p:xfrm>
        <a:graphic>
          <a:graphicData uri="http://schemas.openxmlformats.org/presentationml/2006/ole">
            <mc:AlternateContent xmlns:mc="http://schemas.openxmlformats.org/markup-compatibility/2006">
              <mc:Choice xmlns:v="urn:schemas-microsoft-com:vml" Requires="v">
                <p:oleObj spid="_x0000_s167001" name="Equation" r:id="rId4" imgW="469800" imgH="228600" progId="Equation.DSMT4">
                  <p:embed/>
                </p:oleObj>
              </mc:Choice>
              <mc:Fallback>
                <p:oleObj name="Equation" r:id="rId4" imgW="469800" imgH="228600" progId="Equation.DSMT4">
                  <p:embed/>
                  <p:pic>
                    <p:nvPicPr>
                      <p:cNvPr id="0" name=""/>
                      <p:cNvPicPr/>
                      <p:nvPr/>
                    </p:nvPicPr>
                    <p:blipFill>
                      <a:blip r:embed="rId5"/>
                      <a:stretch>
                        <a:fillRect/>
                      </a:stretch>
                    </p:blipFill>
                    <p:spPr>
                      <a:xfrm>
                        <a:off x="1907815" y="1915077"/>
                        <a:ext cx="1058174" cy="514787"/>
                      </a:xfrm>
                      <a:prstGeom prst="rect">
                        <a:avLst/>
                      </a:prstGeom>
                    </p:spPr>
                  </p:pic>
                </p:oleObj>
              </mc:Fallback>
            </mc:AlternateContent>
          </a:graphicData>
        </a:graphic>
      </p:graphicFrame>
      <p:grpSp>
        <p:nvGrpSpPr>
          <p:cNvPr id="5" name="组合 4">
            <a:extLst>
              <a:ext uri="{FF2B5EF4-FFF2-40B4-BE49-F238E27FC236}">
                <a16:creationId xmlns:a16="http://schemas.microsoft.com/office/drawing/2014/main" id="{D6B8DC3E-0FB5-419A-8B73-56CEAFAEEBC2}"/>
              </a:ext>
            </a:extLst>
          </p:cNvPr>
          <p:cNvGrpSpPr/>
          <p:nvPr/>
        </p:nvGrpSpPr>
        <p:grpSpPr>
          <a:xfrm>
            <a:off x="3995960" y="3717020"/>
            <a:ext cx="1152080" cy="1080075"/>
            <a:chOff x="3995960" y="3717020"/>
            <a:chExt cx="1152080" cy="1080075"/>
          </a:xfrm>
        </p:grpSpPr>
        <p:sp>
          <p:nvSpPr>
            <p:cNvPr id="4" name="椭圆 3">
              <a:extLst>
                <a:ext uri="{FF2B5EF4-FFF2-40B4-BE49-F238E27FC236}">
                  <a16:creationId xmlns:a16="http://schemas.microsoft.com/office/drawing/2014/main" id="{071B8327-10D4-4DD7-B3BE-E014B9523CD8}"/>
                </a:ext>
              </a:extLst>
            </p:cNvPr>
            <p:cNvSpPr/>
            <p:nvPr/>
          </p:nvSpPr>
          <p:spPr bwMode="auto">
            <a:xfrm>
              <a:off x="3995960" y="3717020"/>
              <a:ext cx="216015" cy="288020"/>
            </a:xfrm>
            <a:prstGeom prst="ellipse">
              <a:avLst/>
            </a:prstGeom>
            <a:noFill/>
            <a:ln w="952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10" name="椭圆 9">
              <a:extLst>
                <a:ext uri="{FF2B5EF4-FFF2-40B4-BE49-F238E27FC236}">
                  <a16:creationId xmlns:a16="http://schemas.microsoft.com/office/drawing/2014/main" id="{16D9DBE6-0EA7-4838-AA96-1FB090135481}"/>
                </a:ext>
              </a:extLst>
            </p:cNvPr>
            <p:cNvSpPr/>
            <p:nvPr/>
          </p:nvSpPr>
          <p:spPr bwMode="auto">
            <a:xfrm>
              <a:off x="4932025" y="4509075"/>
              <a:ext cx="216015" cy="288020"/>
            </a:xfrm>
            <a:prstGeom prst="ellipse">
              <a:avLst/>
            </a:prstGeom>
            <a:noFill/>
            <a:ln w="952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628FEB91-89E5-451E-BD57-01579ABD49CF}" type="slidenum">
              <a:rPr lang="en-US" sz="1200">
                <a:solidFill>
                  <a:srgbClr val="000000"/>
                </a:solidFill>
                <a:latin typeface="Arial Black" pitchFamily="34" charset="0"/>
                <a:sym typeface="Arial Black" pitchFamily="34" charset="0"/>
              </a:rPr>
              <a:pPr algn="r" eaLnBrk="1" hangingPunct="1"/>
              <a:t>51</a:t>
            </a:fld>
            <a:endParaRPr lang="en-US" sz="1200">
              <a:latin typeface="Arial Black" pitchFamily="34" charset="0"/>
              <a:sym typeface="Arial Black" pitchFamily="34" charset="0"/>
            </a:endParaRPr>
          </a:p>
        </p:txBody>
      </p:sp>
      <p:sp>
        <p:nvSpPr>
          <p:cNvPr id="54278" name="Text Box 3"/>
          <p:cNvSpPr>
            <a:spLocks noChangeArrowheads="1"/>
          </p:cNvSpPr>
          <p:nvPr/>
        </p:nvSpPr>
        <p:spPr bwMode="auto">
          <a:xfrm>
            <a:off x="927099" y="863600"/>
            <a:ext cx="717314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eaLnBrk="1" hangingPunct="1">
              <a:spcBef>
                <a:spcPct val="50000"/>
              </a:spcBef>
              <a:buAutoNum type="alphaLcPeriod"/>
            </a:pPr>
            <a:r>
              <a:rPr lang="zh-CN" altLang="en-US" sz="2400" dirty="0">
                <a:latin typeface="楷体_GB2312" pitchFamily="49" charset="-122"/>
                <a:ea typeface="楷体_GB2312" pitchFamily="49" charset="-122"/>
                <a:sym typeface="楷体_GB2312" pitchFamily="49" charset="-122"/>
              </a:rPr>
              <a:t>差动变压器铁芯在中间位置时，其输出：</a:t>
            </a:r>
            <a:r>
              <a:rPr lang="en-US" sz="2400" b="1" i="1" dirty="0">
                <a:solidFill>
                  <a:srgbClr val="FF0000"/>
                </a:solidFill>
                <a:latin typeface="Times New Roman" pitchFamily="18" charset="0"/>
                <a:ea typeface="楷体_GB2312" pitchFamily="49" charset="-122"/>
                <a:sym typeface="Times New Roman" pitchFamily="18" charset="0"/>
              </a:rPr>
              <a:t>e </a:t>
            </a:r>
            <a:r>
              <a:rPr lang="en-US" sz="2400" b="1" dirty="0">
                <a:solidFill>
                  <a:srgbClr val="0000FF"/>
                </a:solidFill>
                <a:latin typeface="楷体_GB2312" pitchFamily="49" charset="-122"/>
                <a:ea typeface="楷体_GB2312" pitchFamily="49" charset="-122"/>
                <a:sym typeface="楷体_GB2312" pitchFamily="49" charset="-122"/>
              </a:rPr>
              <a:t>=0</a:t>
            </a:r>
          </a:p>
          <a:p>
            <a:pPr eaLnBrk="1" hangingPunct="1">
              <a:spcBef>
                <a:spcPct val="50000"/>
              </a:spcBef>
            </a:pPr>
            <a:r>
              <a:rPr lang="zh-CN" altLang="en-US" sz="2400" b="1" dirty="0">
                <a:solidFill>
                  <a:srgbClr val="0000FF"/>
                </a:solidFill>
              </a:rPr>
              <a:t>     电压</a:t>
            </a:r>
            <a:r>
              <a:rPr lang="en-US" altLang="zh-CN" sz="2800" i="1" dirty="0" err="1">
                <a:solidFill>
                  <a:srgbClr val="FF0000"/>
                </a:solidFill>
                <a:latin typeface="Times New Roman" pitchFamily="18" charset="0"/>
                <a:ea typeface="楷体_GB2312" pitchFamily="49" charset="-122"/>
                <a:sym typeface="Times New Roman" pitchFamily="18" charset="0"/>
              </a:rPr>
              <a:t>e</a:t>
            </a:r>
            <a:r>
              <a:rPr lang="en-US" altLang="zh-CN" sz="2800" baseline="-25000" dirty="0" err="1">
                <a:solidFill>
                  <a:srgbClr val="FF0000"/>
                </a:solidFill>
                <a:latin typeface="Times New Roman" pitchFamily="18" charset="0"/>
                <a:ea typeface="楷体_GB2312" pitchFamily="49" charset="-122"/>
                <a:sym typeface="Times New Roman" pitchFamily="18" charset="0"/>
              </a:rPr>
              <a:t>r</a:t>
            </a:r>
            <a:r>
              <a:rPr lang="zh-CN" altLang="en-US" sz="2400" b="1" dirty="0">
                <a:solidFill>
                  <a:srgbClr val="0000FF"/>
                </a:solidFill>
              </a:rPr>
              <a:t>产生的电流在</a:t>
            </a:r>
            <a:r>
              <a:rPr lang="en-US" altLang="zh-CN" sz="2400" b="1" i="1" dirty="0">
                <a:solidFill>
                  <a:srgbClr val="FF0000"/>
                </a:solidFill>
              </a:rPr>
              <a:t>R</a:t>
            </a:r>
            <a:r>
              <a:rPr lang="en-US" altLang="zh-CN" sz="2400" b="1" i="1" baseline="-25000" dirty="0">
                <a:solidFill>
                  <a:srgbClr val="FF0000"/>
                </a:solidFill>
              </a:rPr>
              <a:t>1</a:t>
            </a:r>
            <a:r>
              <a:rPr lang="zh-CN" altLang="en-US" sz="2400" b="1" dirty="0">
                <a:solidFill>
                  <a:srgbClr val="0000FF"/>
                </a:solidFill>
              </a:rPr>
              <a:t>和</a:t>
            </a:r>
            <a:r>
              <a:rPr lang="en-US" altLang="zh-CN" sz="2400" b="1" i="1" dirty="0">
                <a:solidFill>
                  <a:srgbClr val="FF0000"/>
                </a:solidFill>
              </a:rPr>
              <a:t>R</a:t>
            </a:r>
            <a:r>
              <a:rPr lang="en-US" altLang="zh-CN" sz="2400" b="1" i="1" baseline="-25000" dirty="0">
                <a:solidFill>
                  <a:srgbClr val="FF0000"/>
                </a:solidFill>
              </a:rPr>
              <a:t>2</a:t>
            </a:r>
            <a:r>
              <a:rPr lang="zh-CN" altLang="en-US" sz="2400" b="1" dirty="0">
                <a:solidFill>
                  <a:srgbClr val="0000FF"/>
                </a:solidFill>
              </a:rPr>
              <a:t>上抵消，故：</a:t>
            </a:r>
            <a:r>
              <a:rPr lang="en-US" altLang="zh-CN" sz="2400" b="1" i="1" dirty="0">
                <a:solidFill>
                  <a:srgbClr val="FF0000"/>
                </a:solidFill>
              </a:rPr>
              <a:t>U</a:t>
            </a:r>
            <a:r>
              <a:rPr lang="en-US" altLang="zh-CN" sz="2400" b="1" i="1" baseline="-25000" dirty="0">
                <a:solidFill>
                  <a:srgbClr val="FF0000"/>
                </a:solidFill>
              </a:rPr>
              <a:t>CD</a:t>
            </a:r>
            <a:r>
              <a:rPr lang="en-US" altLang="zh-CN" sz="2400" b="1" dirty="0">
                <a:solidFill>
                  <a:srgbClr val="0000FF"/>
                </a:solidFill>
              </a:rPr>
              <a:t>=0</a:t>
            </a:r>
            <a:endParaRPr lang="zh-CN" altLang="en-US" sz="2400" b="1" dirty="0">
              <a:solidFill>
                <a:srgbClr val="0000FF"/>
              </a:solidFill>
            </a:endParaRPr>
          </a:p>
        </p:txBody>
      </p:sp>
      <p:grpSp>
        <p:nvGrpSpPr>
          <p:cNvPr id="54279" name="Group 4"/>
          <p:cNvGrpSpPr>
            <a:grpSpLocks/>
          </p:cNvGrpSpPr>
          <p:nvPr/>
        </p:nvGrpSpPr>
        <p:grpSpPr bwMode="auto">
          <a:xfrm>
            <a:off x="1906737" y="1982164"/>
            <a:ext cx="5040312" cy="4725987"/>
            <a:chOff x="0" y="0"/>
            <a:chExt cx="3351" cy="3289"/>
          </a:xfrm>
        </p:grpSpPr>
        <p:pic>
          <p:nvPicPr>
            <p:cNvPr id="54280" name="Picture 5" descr="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351" cy="1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1" name="Picture 6" descr="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678"/>
              <a:ext cx="3351" cy="1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2" name="Text Box 7"/>
            <p:cNvSpPr>
              <a:spLocks noChangeArrowheads="1"/>
            </p:cNvSpPr>
            <p:nvPr/>
          </p:nvSpPr>
          <p:spPr bwMode="auto">
            <a:xfrm>
              <a:off x="1711" y="2865"/>
              <a:ext cx="36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4283" name="Text Box 8"/>
            <p:cNvSpPr>
              <a:spLocks noChangeArrowheads="1"/>
            </p:cNvSpPr>
            <p:nvPr/>
          </p:nvSpPr>
          <p:spPr bwMode="auto">
            <a:xfrm>
              <a:off x="726" y="1179"/>
              <a:ext cx="36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4284" name="Text Box 9"/>
            <p:cNvSpPr>
              <a:spLocks noChangeArrowheads="1"/>
            </p:cNvSpPr>
            <p:nvPr/>
          </p:nvSpPr>
          <p:spPr bwMode="auto">
            <a:xfrm>
              <a:off x="701" y="2858"/>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4285" name="Text Box 10"/>
            <p:cNvSpPr>
              <a:spLocks noChangeArrowheads="1"/>
            </p:cNvSpPr>
            <p:nvPr/>
          </p:nvSpPr>
          <p:spPr bwMode="auto">
            <a:xfrm>
              <a:off x="1724" y="1134"/>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pic>
          <p:nvPicPr>
            <p:cNvPr id="54286" name="Object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5" y="1270"/>
              <a:ext cx="589"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7" name="Object 1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95" y="2994"/>
              <a:ext cx="589"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 name="Rectangle 2"/>
          <p:cNvSpPr>
            <a:spLocks noChangeArrowheads="1"/>
          </p:cNvSpPr>
          <p:nvPr/>
        </p:nvSpPr>
        <p:spPr bwMode="auto">
          <a:xfrm>
            <a:off x="250825" y="285750"/>
            <a:ext cx="24929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b="1" dirty="0">
                <a:solidFill>
                  <a:srgbClr val="C00000"/>
                </a:solidFill>
                <a:latin typeface="宋体" pitchFamily="2" charset="-122"/>
                <a:sym typeface="宋体" pitchFamily="2" charset="-122"/>
              </a:rPr>
              <a:t>② </a:t>
            </a:r>
            <a:r>
              <a:rPr lang="zh-CN" altLang="en-US" sz="2400" b="1" dirty="0">
                <a:solidFill>
                  <a:srgbClr val="C00000"/>
                </a:solidFill>
                <a:latin typeface="宋体" pitchFamily="2" charset="-122"/>
                <a:sym typeface="宋体" pitchFamily="2" charset="-122"/>
              </a:rPr>
              <a:t>相敏检波电路</a:t>
            </a:r>
            <a:endParaRPr lang="zh-CN" altLang="en-US" b="1" dirty="0">
              <a:solidFill>
                <a:srgbClr val="C00000"/>
              </a:solidFill>
            </a:endParaRPr>
          </a:p>
        </p:txBody>
      </p:sp>
      <p:grpSp>
        <p:nvGrpSpPr>
          <p:cNvPr id="12" name="组合 11">
            <a:extLst>
              <a:ext uri="{FF2B5EF4-FFF2-40B4-BE49-F238E27FC236}">
                <a16:creationId xmlns:a16="http://schemas.microsoft.com/office/drawing/2014/main" id="{9B1C1876-58C8-4F4E-8F66-211D60FF191A}"/>
              </a:ext>
            </a:extLst>
          </p:cNvPr>
          <p:cNvGrpSpPr/>
          <p:nvPr/>
        </p:nvGrpSpPr>
        <p:grpSpPr>
          <a:xfrm>
            <a:off x="4091799" y="2634068"/>
            <a:ext cx="279404" cy="288020"/>
            <a:chOff x="4067965" y="2127043"/>
            <a:chExt cx="279404" cy="288020"/>
          </a:xfrm>
        </p:grpSpPr>
        <p:cxnSp>
          <p:nvCxnSpPr>
            <p:cNvPr id="3" name="直接连接符 2">
              <a:extLst>
                <a:ext uri="{FF2B5EF4-FFF2-40B4-BE49-F238E27FC236}">
                  <a16:creationId xmlns:a16="http://schemas.microsoft.com/office/drawing/2014/main" id="{C8FDC092-7405-41B8-BE27-CAACA8B9F57A}"/>
                </a:ext>
              </a:extLst>
            </p:cNvPr>
            <p:cNvCxnSpPr/>
            <p:nvPr/>
          </p:nvCxnSpPr>
          <p:spPr bwMode="auto">
            <a:xfrm rot="911523">
              <a:off x="4212757" y="2127043"/>
              <a:ext cx="0" cy="28802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a:extLst>
                <a:ext uri="{FF2B5EF4-FFF2-40B4-BE49-F238E27FC236}">
                  <a16:creationId xmlns:a16="http://schemas.microsoft.com/office/drawing/2014/main" id="{A60E47A4-079D-4F02-A1FC-193B2E138F1B}"/>
                </a:ext>
              </a:extLst>
            </p:cNvPr>
            <p:cNvCxnSpPr>
              <a:cxnSpLocks/>
            </p:cNvCxnSpPr>
            <p:nvPr/>
          </p:nvCxnSpPr>
          <p:spPr bwMode="auto">
            <a:xfrm>
              <a:off x="4067965" y="2132075"/>
              <a:ext cx="279404" cy="24340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6" name="组合 25">
            <a:extLst>
              <a:ext uri="{FF2B5EF4-FFF2-40B4-BE49-F238E27FC236}">
                <a16:creationId xmlns:a16="http://schemas.microsoft.com/office/drawing/2014/main" id="{7DD56773-0E0C-44C9-AE59-AE7060742B31}"/>
              </a:ext>
            </a:extLst>
          </p:cNvPr>
          <p:cNvGrpSpPr/>
          <p:nvPr/>
        </p:nvGrpSpPr>
        <p:grpSpPr>
          <a:xfrm rot="2795485">
            <a:off x="4139963" y="3041375"/>
            <a:ext cx="279404" cy="288020"/>
            <a:chOff x="4067965" y="2127043"/>
            <a:chExt cx="279404" cy="288020"/>
          </a:xfrm>
        </p:grpSpPr>
        <p:cxnSp>
          <p:nvCxnSpPr>
            <p:cNvPr id="27" name="直接连接符 26">
              <a:extLst>
                <a:ext uri="{FF2B5EF4-FFF2-40B4-BE49-F238E27FC236}">
                  <a16:creationId xmlns:a16="http://schemas.microsoft.com/office/drawing/2014/main" id="{58A37DA9-FE4D-42B5-A602-DCEE175E718F}"/>
                </a:ext>
              </a:extLst>
            </p:cNvPr>
            <p:cNvCxnSpPr/>
            <p:nvPr/>
          </p:nvCxnSpPr>
          <p:spPr bwMode="auto">
            <a:xfrm rot="911523">
              <a:off x="4212757" y="2127043"/>
              <a:ext cx="0" cy="28802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B9964C4D-5F85-42EF-83D1-78D6F14D22CE}"/>
                </a:ext>
              </a:extLst>
            </p:cNvPr>
            <p:cNvCxnSpPr>
              <a:cxnSpLocks/>
            </p:cNvCxnSpPr>
            <p:nvPr/>
          </p:nvCxnSpPr>
          <p:spPr bwMode="auto">
            <a:xfrm>
              <a:off x="4067965" y="2132075"/>
              <a:ext cx="279404" cy="24340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9" name="组合 28">
            <a:extLst>
              <a:ext uri="{FF2B5EF4-FFF2-40B4-BE49-F238E27FC236}">
                <a16:creationId xmlns:a16="http://schemas.microsoft.com/office/drawing/2014/main" id="{CB215502-4F8D-4DC9-926B-33B05AB9D5B3}"/>
              </a:ext>
            </a:extLst>
          </p:cNvPr>
          <p:cNvGrpSpPr/>
          <p:nvPr/>
        </p:nvGrpSpPr>
        <p:grpSpPr>
          <a:xfrm>
            <a:off x="3956930" y="4666580"/>
            <a:ext cx="279404" cy="288020"/>
            <a:chOff x="4067965" y="2127043"/>
            <a:chExt cx="279404" cy="288020"/>
          </a:xfrm>
        </p:grpSpPr>
        <p:cxnSp>
          <p:nvCxnSpPr>
            <p:cNvPr id="30" name="直接连接符 29">
              <a:extLst>
                <a:ext uri="{FF2B5EF4-FFF2-40B4-BE49-F238E27FC236}">
                  <a16:creationId xmlns:a16="http://schemas.microsoft.com/office/drawing/2014/main" id="{71188268-A802-4E40-8954-19BE1395EDD7}"/>
                </a:ext>
              </a:extLst>
            </p:cNvPr>
            <p:cNvCxnSpPr/>
            <p:nvPr/>
          </p:nvCxnSpPr>
          <p:spPr bwMode="auto">
            <a:xfrm rot="911523">
              <a:off x="4212757" y="2127043"/>
              <a:ext cx="0" cy="28802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a:extLst>
                <a:ext uri="{FF2B5EF4-FFF2-40B4-BE49-F238E27FC236}">
                  <a16:creationId xmlns:a16="http://schemas.microsoft.com/office/drawing/2014/main" id="{C6A68411-92BE-4557-830B-8D03BF9CD3C3}"/>
                </a:ext>
              </a:extLst>
            </p:cNvPr>
            <p:cNvCxnSpPr>
              <a:cxnSpLocks/>
            </p:cNvCxnSpPr>
            <p:nvPr/>
          </p:nvCxnSpPr>
          <p:spPr bwMode="auto">
            <a:xfrm>
              <a:off x="4067965" y="2132075"/>
              <a:ext cx="279404" cy="24340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2" name="组合 31">
            <a:extLst>
              <a:ext uri="{FF2B5EF4-FFF2-40B4-BE49-F238E27FC236}">
                <a16:creationId xmlns:a16="http://schemas.microsoft.com/office/drawing/2014/main" id="{F4C39818-53D2-4C7C-9A87-915B23117B2E}"/>
              </a:ext>
            </a:extLst>
          </p:cNvPr>
          <p:cNvGrpSpPr/>
          <p:nvPr/>
        </p:nvGrpSpPr>
        <p:grpSpPr>
          <a:xfrm>
            <a:off x="3919448" y="5850390"/>
            <a:ext cx="279404" cy="288020"/>
            <a:chOff x="4067965" y="2127043"/>
            <a:chExt cx="279404" cy="288020"/>
          </a:xfrm>
        </p:grpSpPr>
        <p:cxnSp>
          <p:nvCxnSpPr>
            <p:cNvPr id="33" name="直接连接符 32">
              <a:extLst>
                <a:ext uri="{FF2B5EF4-FFF2-40B4-BE49-F238E27FC236}">
                  <a16:creationId xmlns:a16="http://schemas.microsoft.com/office/drawing/2014/main" id="{AE7919FA-0862-4CC5-8C06-FB58F063E1A0}"/>
                </a:ext>
              </a:extLst>
            </p:cNvPr>
            <p:cNvCxnSpPr/>
            <p:nvPr/>
          </p:nvCxnSpPr>
          <p:spPr bwMode="auto">
            <a:xfrm rot="911523">
              <a:off x="4212757" y="2127043"/>
              <a:ext cx="0" cy="28802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a:extLst>
                <a:ext uri="{FF2B5EF4-FFF2-40B4-BE49-F238E27FC236}">
                  <a16:creationId xmlns:a16="http://schemas.microsoft.com/office/drawing/2014/main" id="{9EC3463D-0A9F-4297-B706-E2EB7ADB1190}"/>
                </a:ext>
              </a:extLst>
            </p:cNvPr>
            <p:cNvCxnSpPr>
              <a:cxnSpLocks/>
            </p:cNvCxnSpPr>
            <p:nvPr/>
          </p:nvCxnSpPr>
          <p:spPr bwMode="auto">
            <a:xfrm>
              <a:off x="4067965" y="2132075"/>
              <a:ext cx="279404" cy="24340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mc:AlternateContent xmlns:mc="http://schemas.openxmlformats.org/markup-compatibility/2006" xmlns:a14="http://schemas.microsoft.com/office/drawing/2010/main">
        <mc:Choice Requires="a14">
          <p:sp>
            <p:nvSpPr>
              <p:cNvPr id="36" name="对象 35">
                <a:extLst>
                  <a:ext uri="{FF2B5EF4-FFF2-40B4-BE49-F238E27FC236}">
                    <a16:creationId xmlns:a16="http://schemas.microsoft.com/office/drawing/2014/main" id="{175FF5C3-D41C-42ED-8559-7D617EDC8FA8}"/>
                  </a:ext>
                </a:extLst>
              </p:cNvPr>
              <p:cNvSpPr txBox="1"/>
              <p:nvPr/>
            </p:nvSpPr>
            <p:spPr>
              <a:xfrm>
                <a:off x="510340" y="5322181"/>
                <a:ext cx="1485916" cy="514350"/>
              </a:xfrm>
              <a:prstGeom prst="rect">
                <a:avLst/>
              </a:prstGeom>
            </p:spPr>
            <p:txBody>
              <a:bodyPr>
                <a:normAutofit/>
              </a:bodyPr>
              <a:lstStyle/>
              <a:p>
                <a14:m>
                  <m:oMath xmlns:m="http://schemas.openxmlformats.org/officeDocument/2006/math">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𝑒</m:t>
                        </m:r>
                      </m:e>
                      <m:sub>
                        <m:r>
                          <a:rPr lang="zh-CN" altLang="en-US" sz="2400" i="1">
                            <a:solidFill>
                              <a:srgbClr val="FF0000"/>
                            </a:solidFill>
                            <a:latin typeface="Cambria Math" panose="02040503050406030204" pitchFamily="18" charset="0"/>
                          </a:rPr>
                          <m:t>𝑟</m:t>
                        </m:r>
                      </m:sub>
                    </m:sSub>
                  </m:oMath>
                </a14:m>
                <a:r>
                  <a:rPr lang="zh-CN" altLang="en-US" sz="2400" dirty="0">
                    <a:solidFill>
                      <a:srgbClr val="0000FF"/>
                    </a:solidFill>
                  </a:rPr>
                  <a:t>负半周</a:t>
                </a:r>
              </a:p>
            </p:txBody>
          </p:sp>
        </mc:Choice>
        <mc:Fallback xmlns="">
          <p:sp>
            <p:nvSpPr>
              <p:cNvPr id="36" name="对象 35">
                <a:extLst>
                  <a:ext uri="{FF2B5EF4-FFF2-40B4-BE49-F238E27FC236}">
                    <a16:creationId xmlns:a16="http://schemas.microsoft.com/office/drawing/2014/main" id="{175FF5C3-D41C-42ED-8559-7D617EDC8FA8}"/>
                  </a:ext>
                </a:extLst>
              </p:cNvPr>
              <p:cNvSpPr txBox="1">
                <a:spLocks noRot="1" noChangeAspect="1" noMove="1" noResize="1" noEditPoints="1" noAdjustHandles="1" noChangeArrowheads="1" noChangeShapeType="1" noTextEdit="1"/>
              </p:cNvSpPr>
              <p:nvPr/>
            </p:nvSpPr>
            <p:spPr>
              <a:xfrm>
                <a:off x="510340" y="5322181"/>
                <a:ext cx="1485916" cy="514350"/>
              </a:xfrm>
              <a:prstGeom prst="rect">
                <a:avLst/>
              </a:prstGeom>
              <a:blipFill>
                <a:blip r:embed="rId6"/>
                <a:stretch>
                  <a:fillRect t="-13095" b="-130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对象 35">
                <a:extLst>
                  <a:ext uri="{FF2B5EF4-FFF2-40B4-BE49-F238E27FC236}">
                    <a16:creationId xmlns:a16="http://schemas.microsoft.com/office/drawing/2014/main" id="{9BD999C6-FDE5-43FC-99E4-D5FC5E642D75}"/>
                  </a:ext>
                </a:extLst>
              </p:cNvPr>
              <p:cNvSpPr txBox="1"/>
              <p:nvPr/>
            </p:nvSpPr>
            <p:spPr>
              <a:xfrm>
                <a:off x="438335" y="2765477"/>
                <a:ext cx="1639142" cy="514350"/>
              </a:xfrm>
              <a:prstGeom prst="rect">
                <a:avLst/>
              </a:prstGeom>
            </p:spPr>
            <p:txBody>
              <a:bodyPr>
                <a:normAutofit fontScale="92500"/>
              </a:bodyPr>
              <a:lstStyle/>
              <a:p>
                <a14:m>
                  <m:oMath xmlns:m="http://schemas.openxmlformats.org/officeDocument/2006/math">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𝑒</m:t>
                        </m:r>
                      </m:e>
                      <m:sub>
                        <m:r>
                          <a:rPr lang="zh-CN" altLang="en-US" sz="2400" i="1">
                            <a:solidFill>
                              <a:srgbClr val="FF0000"/>
                            </a:solidFill>
                            <a:latin typeface="Cambria Math" panose="02040503050406030204" pitchFamily="18" charset="0"/>
                          </a:rPr>
                          <m:t>𝑟</m:t>
                        </m:r>
                      </m:sub>
                    </m:sSub>
                  </m:oMath>
                </a14:m>
                <a:r>
                  <a:rPr lang="zh-CN" altLang="en-US" sz="2400" dirty="0">
                    <a:solidFill>
                      <a:srgbClr val="0000FF"/>
                    </a:solidFill>
                  </a:rPr>
                  <a:t>的正半周</a:t>
                </a:r>
              </a:p>
            </p:txBody>
          </p:sp>
        </mc:Choice>
        <mc:Fallback xmlns="">
          <p:sp>
            <p:nvSpPr>
              <p:cNvPr id="37" name="对象 35">
                <a:extLst>
                  <a:ext uri="{FF2B5EF4-FFF2-40B4-BE49-F238E27FC236}">
                    <a16:creationId xmlns:a16="http://schemas.microsoft.com/office/drawing/2014/main" id="{9BD999C6-FDE5-43FC-99E4-D5FC5E642D75}"/>
                  </a:ext>
                </a:extLst>
              </p:cNvPr>
              <p:cNvSpPr txBox="1">
                <a:spLocks noRot="1" noChangeAspect="1" noMove="1" noResize="1" noEditPoints="1" noAdjustHandles="1" noChangeArrowheads="1" noChangeShapeType="1" noTextEdit="1"/>
              </p:cNvSpPr>
              <p:nvPr/>
            </p:nvSpPr>
            <p:spPr>
              <a:xfrm>
                <a:off x="438335" y="2765477"/>
                <a:ext cx="1639142" cy="514350"/>
              </a:xfrm>
              <a:prstGeom prst="rect">
                <a:avLst/>
              </a:prstGeom>
              <a:blipFill>
                <a:blip r:embed="rId7"/>
                <a:stretch>
                  <a:fillRect t="-11905" b="-3571"/>
                </a:stretch>
              </a:blipFill>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5710015D-2862-4636-9CE6-73EDDCC0CC9C}" type="slidenum">
              <a:rPr lang="en-US" sz="1200">
                <a:solidFill>
                  <a:srgbClr val="000000"/>
                </a:solidFill>
                <a:latin typeface="Arial Black" pitchFamily="34" charset="0"/>
                <a:sym typeface="Arial Black" pitchFamily="34" charset="0"/>
              </a:rPr>
              <a:pPr algn="r" eaLnBrk="1" hangingPunct="1"/>
              <a:t>52</a:t>
            </a:fld>
            <a:endParaRPr lang="en-US" sz="1200">
              <a:latin typeface="Arial Black" pitchFamily="34" charset="0"/>
              <a:sym typeface="Arial Black" pitchFamily="34" charset="0"/>
            </a:endParaRPr>
          </a:p>
        </p:txBody>
      </p:sp>
      <p:sp>
        <p:nvSpPr>
          <p:cNvPr id="55301" name="Text Box 2"/>
          <p:cNvSpPr>
            <a:spLocks noChangeArrowheads="1"/>
          </p:cNvSpPr>
          <p:nvPr/>
        </p:nvSpPr>
        <p:spPr bwMode="auto">
          <a:xfrm>
            <a:off x="881063" y="323850"/>
            <a:ext cx="79660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latin typeface="楷体_GB2312" pitchFamily="49" charset="-122"/>
                <a:ea typeface="楷体_GB2312" pitchFamily="49" charset="-122"/>
                <a:sym typeface="楷体_GB2312" pitchFamily="49" charset="-122"/>
              </a:rPr>
              <a:t>b. 若差动变压器铁芯上移，</a:t>
            </a:r>
            <a:r>
              <a:rPr lang="en-US" sz="2400" i="1" dirty="0">
                <a:solidFill>
                  <a:srgbClr val="FF0000"/>
                </a:solidFill>
                <a:latin typeface="Times New Roman" pitchFamily="18" charset="0"/>
                <a:ea typeface="楷体_GB2312" pitchFamily="49" charset="-122"/>
                <a:sym typeface="Times New Roman" pitchFamily="18" charset="0"/>
              </a:rPr>
              <a:t>e </a:t>
            </a:r>
            <a:r>
              <a:rPr lang="en-US" sz="2400" dirty="0">
                <a:solidFill>
                  <a:srgbClr val="0000FF"/>
                </a:solidFill>
                <a:latin typeface="Times New Roman" pitchFamily="18" charset="0"/>
                <a:ea typeface="楷体_GB2312" pitchFamily="49" charset="-122"/>
                <a:sym typeface="Times New Roman" pitchFamily="18" charset="0"/>
              </a:rPr>
              <a:t>&gt;</a:t>
            </a:r>
            <a:r>
              <a:rPr lang="en-US" sz="2400" dirty="0">
                <a:solidFill>
                  <a:srgbClr val="0000FF"/>
                </a:solidFill>
                <a:latin typeface="楷体_GB2312" pitchFamily="49" charset="-122"/>
                <a:ea typeface="楷体_GB2312" pitchFamily="49" charset="-122"/>
                <a:sym typeface="楷体_GB2312" pitchFamily="49" charset="-122"/>
              </a:rPr>
              <a:t>0</a:t>
            </a:r>
            <a:endParaRPr lang="zh-CN" altLang="en-US" sz="2400" dirty="0">
              <a:solidFill>
                <a:srgbClr val="0000FF"/>
              </a:solidFill>
              <a:latin typeface="楷体_GB2312" pitchFamily="49" charset="-122"/>
              <a:ea typeface="楷体_GB2312" pitchFamily="49" charset="-122"/>
              <a:sym typeface="楷体_GB2312" pitchFamily="49" charset="-122"/>
            </a:endParaRPr>
          </a:p>
          <a:p>
            <a:pPr eaLnBrk="1" hangingPunct="1">
              <a:spcBef>
                <a:spcPct val="50000"/>
              </a:spcBef>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设</a:t>
            </a:r>
            <a:r>
              <a:rPr lang="en-US" sz="2400" i="1" dirty="0">
                <a:solidFill>
                  <a:srgbClr val="FF0000"/>
                </a:solidFill>
                <a:latin typeface="Times New Roman" pitchFamily="18" charset="0"/>
                <a:ea typeface="楷体_GB2312" pitchFamily="49" charset="-122"/>
                <a:sym typeface="Times New Roman" pitchFamily="18" charset="0"/>
              </a:rPr>
              <a:t>e</a:t>
            </a:r>
            <a:r>
              <a:rPr lang="zh-CN" altLang="en-US" sz="2400" dirty="0">
                <a:solidFill>
                  <a:srgbClr val="FF0000"/>
                </a:solidFill>
                <a:latin typeface="楷体_GB2312" pitchFamily="49" charset="-122"/>
                <a:ea typeface="楷体_GB2312" pitchFamily="49" charset="-122"/>
                <a:sym typeface="楷体_GB2312" pitchFamily="49" charset="-122"/>
              </a:rPr>
              <a:t>和</a:t>
            </a:r>
            <a:r>
              <a:rPr lang="en-US" sz="2400" i="1" dirty="0" err="1">
                <a:solidFill>
                  <a:srgbClr val="FF0000"/>
                </a:solidFill>
                <a:latin typeface="Times New Roman" pitchFamily="18" charset="0"/>
                <a:ea typeface="楷体_GB2312" pitchFamily="49" charset="-122"/>
                <a:sym typeface="Times New Roman" pitchFamily="18" charset="0"/>
              </a:rPr>
              <a:t>e</a:t>
            </a:r>
            <a:r>
              <a:rPr lang="en-US" sz="2400" baseline="-25000" dirty="0" err="1">
                <a:solidFill>
                  <a:srgbClr val="FF0000"/>
                </a:solidFill>
                <a:latin typeface="Times New Roman" pitchFamily="18" charset="0"/>
                <a:ea typeface="楷体_GB2312" pitchFamily="49" charset="-122"/>
                <a:sym typeface="Times New Roman" pitchFamily="18" charset="0"/>
              </a:rPr>
              <a:t>r</a:t>
            </a:r>
            <a:r>
              <a:rPr lang="zh-CN" altLang="en-US" sz="2400" dirty="0">
                <a:solidFill>
                  <a:srgbClr val="FF0000"/>
                </a:solidFill>
                <a:latin typeface="楷体_GB2312" pitchFamily="49" charset="-122"/>
                <a:ea typeface="楷体_GB2312" pitchFamily="49" charset="-122"/>
                <a:sym typeface="楷体_GB2312" pitchFamily="49" charset="-122"/>
              </a:rPr>
              <a:t>同相位</a:t>
            </a:r>
            <a:r>
              <a:rPr lang="zh-CN" altLang="en-US" sz="2400" dirty="0">
                <a:latin typeface="楷体_GB2312" pitchFamily="49" charset="-122"/>
                <a:ea typeface="楷体_GB2312" pitchFamily="49" charset="-122"/>
                <a:sym typeface="楷体_GB2312" pitchFamily="49" charset="-122"/>
              </a:rPr>
              <a:t>，</a:t>
            </a:r>
            <a:r>
              <a:rPr lang="zh-CN" altLang="en-US" sz="2400" dirty="0">
                <a:highlight>
                  <a:srgbClr val="FFFF00"/>
                </a:highlight>
                <a:latin typeface="楷体_GB2312" pitchFamily="49" charset="-122"/>
                <a:ea typeface="楷体_GB2312" pitchFamily="49" charset="-122"/>
                <a:sym typeface="楷体_GB2312" pitchFamily="49" charset="-122"/>
              </a:rPr>
              <a:t>由于           ，</a:t>
            </a:r>
            <a:r>
              <a:rPr lang="en-US" sz="2400" i="1" dirty="0">
                <a:highlight>
                  <a:srgbClr val="FFFF00"/>
                </a:highlight>
                <a:latin typeface="Times New Roman" pitchFamily="18" charset="0"/>
                <a:ea typeface="楷体_GB2312" pitchFamily="49" charset="-122"/>
                <a:sym typeface="Times New Roman" pitchFamily="18" charset="0"/>
              </a:rPr>
              <a:t>e</a:t>
            </a:r>
            <a:r>
              <a:rPr lang="zh-CN" altLang="en-US" sz="2400" dirty="0">
                <a:highlight>
                  <a:srgbClr val="FFFF00"/>
                </a:highlight>
                <a:latin typeface="楷体_GB2312" pitchFamily="49" charset="-122"/>
                <a:ea typeface="楷体_GB2312" pitchFamily="49" charset="-122"/>
                <a:sym typeface="楷体_GB2312" pitchFamily="49" charset="-122"/>
              </a:rPr>
              <a:t>不影响二极管的导通</a:t>
            </a:r>
            <a:r>
              <a:rPr lang="zh-CN" altLang="en-US" sz="2400" dirty="0">
                <a:latin typeface="楷体_GB2312" pitchFamily="49" charset="-122"/>
                <a:ea typeface="楷体_GB2312" pitchFamily="49" charset="-122"/>
                <a:sym typeface="楷体_GB2312" pitchFamily="49" charset="-122"/>
              </a:rPr>
              <a:t>。</a:t>
            </a:r>
            <a:endParaRPr lang="zh-CN" altLang="en-US" dirty="0"/>
          </a:p>
        </p:txBody>
      </p:sp>
      <p:pic>
        <p:nvPicPr>
          <p:cNvPr id="55302"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7825" y="876300"/>
            <a:ext cx="8556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3" name="Picture 6" descr="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788" y="3860800"/>
            <a:ext cx="4465637" cy="214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5304" name="Picture 7" descr="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9788" y="1628775"/>
            <a:ext cx="4467225" cy="2147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5305" name="Text Box 8"/>
          <p:cNvSpPr>
            <a:spLocks noChangeArrowheads="1"/>
          </p:cNvSpPr>
          <p:nvPr/>
        </p:nvSpPr>
        <p:spPr bwMode="auto">
          <a:xfrm>
            <a:off x="3051175" y="5410200"/>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5306" name="Text Box 9"/>
          <p:cNvSpPr>
            <a:spLocks noChangeArrowheads="1"/>
          </p:cNvSpPr>
          <p:nvPr/>
        </p:nvSpPr>
        <p:spPr bwMode="auto">
          <a:xfrm>
            <a:off x="1793875" y="3173413"/>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5307" name="Text Box 10"/>
          <p:cNvSpPr>
            <a:spLocks noChangeArrowheads="1"/>
          </p:cNvSpPr>
          <p:nvPr/>
        </p:nvSpPr>
        <p:spPr bwMode="auto">
          <a:xfrm>
            <a:off x="1779588" y="5386388"/>
            <a:ext cx="576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5308" name="Text Box 11"/>
          <p:cNvSpPr>
            <a:spLocks noChangeArrowheads="1"/>
          </p:cNvSpPr>
          <p:nvPr/>
        </p:nvSpPr>
        <p:spPr bwMode="auto">
          <a:xfrm>
            <a:off x="3071813" y="3140075"/>
            <a:ext cx="576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5309" name="Text Box 12"/>
          <p:cNvSpPr>
            <a:spLocks noChangeArrowheads="1"/>
          </p:cNvSpPr>
          <p:nvPr/>
        </p:nvSpPr>
        <p:spPr bwMode="auto">
          <a:xfrm>
            <a:off x="682625" y="2033588"/>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5310" name="Text Box 13"/>
          <p:cNvSpPr>
            <a:spLocks noChangeArrowheads="1"/>
          </p:cNvSpPr>
          <p:nvPr/>
        </p:nvSpPr>
        <p:spPr bwMode="auto">
          <a:xfrm>
            <a:off x="698500" y="2541588"/>
            <a:ext cx="5762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5311" name="Text Box 14"/>
          <p:cNvSpPr>
            <a:spLocks noChangeArrowheads="1"/>
          </p:cNvSpPr>
          <p:nvPr/>
        </p:nvSpPr>
        <p:spPr bwMode="auto">
          <a:xfrm>
            <a:off x="669925" y="4883150"/>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5312" name="Text Box 15"/>
          <p:cNvSpPr>
            <a:spLocks noChangeArrowheads="1"/>
          </p:cNvSpPr>
          <p:nvPr/>
        </p:nvSpPr>
        <p:spPr bwMode="auto">
          <a:xfrm>
            <a:off x="657225" y="4292600"/>
            <a:ext cx="5762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pic>
        <p:nvPicPr>
          <p:cNvPr id="55313" name="Object 1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91200" y="1303338"/>
            <a:ext cx="25908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4" name="Object 1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45163" y="3849688"/>
            <a:ext cx="25908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2"/>
          <p:cNvSpPr>
            <a:spLocks noChangeArrowheads="1"/>
          </p:cNvSpPr>
          <p:nvPr/>
        </p:nvSpPr>
        <p:spPr bwMode="auto">
          <a:xfrm>
            <a:off x="84955" y="1979047"/>
            <a:ext cx="73894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b="1" dirty="0">
                <a:solidFill>
                  <a:srgbClr val="C00000"/>
                </a:solidFill>
                <a:latin typeface="宋体" pitchFamily="2" charset="-122"/>
                <a:sym typeface="宋体" pitchFamily="2" charset="-122"/>
              </a:rPr>
              <a:t>② </a:t>
            </a:r>
            <a:r>
              <a:rPr lang="zh-CN" altLang="en-US" sz="2400" b="1" dirty="0">
                <a:solidFill>
                  <a:srgbClr val="C00000"/>
                </a:solidFill>
                <a:latin typeface="宋体" pitchFamily="2" charset="-122"/>
                <a:sym typeface="宋体" pitchFamily="2" charset="-122"/>
              </a:rPr>
              <a:t>相敏检波电路</a:t>
            </a:r>
            <a:endParaRPr lang="zh-CN" altLang="en-US" b="1" dirty="0">
              <a:solidFill>
                <a:srgbClr val="C00000"/>
              </a:solidFill>
            </a:endParaRPr>
          </a:p>
        </p:txBody>
      </p:sp>
      <p:cxnSp>
        <p:nvCxnSpPr>
          <p:cNvPr id="3" name="直接连接符 2">
            <a:extLst>
              <a:ext uri="{FF2B5EF4-FFF2-40B4-BE49-F238E27FC236}">
                <a16:creationId xmlns:a16="http://schemas.microsoft.com/office/drawing/2014/main" id="{AA38D642-C076-4567-B80D-E3481C3D2CEA}"/>
              </a:ext>
            </a:extLst>
          </p:cNvPr>
          <p:cNvCxnSpPr/>
          <p:nvPr/>
        </p:nvCxnSpPr>
        <p:spPr bwMode="auto">
          <a:xfrm>
            <a:off x="6084105" y="3627438"/>
            <a:ext cx="2160150" cy="0"/>
          </a:xfrm>
          <a:prstGeom prst="line">
            <a:avLst/>
          </a:prstGeom>
          <a:solidFill>
            <a:schemeClr val="accent1"/>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6F3F9316-1A3A-47DE-A75C-CB501745CE61}"/>
              </a:ext>
            </a:extLst>
          </p:cNvPr>
          <p:cNvCxnSpPr/>
          <p:nvPr/>
        </p:nvCxnSpPr>
        <p:spPr bwMode="auto">
          <a:xfrm>
            <a:off x="6012100" y="6165190"/>
            <a:ext cx="2160150" cy="0"/>
          </a:xfrm>
          <a:prstGeom prst="line">
            <a:avLst/>
          </a:prstGeom>
          <a:solidFill>
            <a:schemeClr val="accent1"/>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22" name="对象 35">
                <a:extLst>
                  <a:ext uri="{FF2B5EF4-FFF2-40B4-BE49-F238E27FC236}">
                    <a16:creationId xmlns:a16="http://schemas.microsoft.com/office/drawing/2014/main" id="{05F1129A-F8C0-4BE9-A154-610E1EE87097}"/>
                  </a:ext>
                </a:extLst>
              </p:cNvPr>
              <p:cNvSpPr txBox="1"/>
              <p:nvPr/>
            </p:nvSpPr>
            <p:spPr>
              <a:xfrm>
                <a:off x="726972" y="3745935"/>
                <a:ext cx="1485916" cy="514350"/>
              </a:xfrm>
              <a:prstGeom prst="rect">
                <a:avLst/>
              </a:prstGeom>
            </p:spPr>
            <p:txBody>
              <a:bodyPr>
                <a:normAutofit/>
              </a:bodyPr>
              <a:lstStyle/>
              <a:p>
                <a14:m>
                  <m:oMath xmlns:m="http://schemas.openxmlformats.org/officeDocument/2006/math">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𝑒</m:t>
                        </m:r>
                      </m:e>
                      <m:sub>
                        <m:r>
                          <a:rPr lang="zh-CN" altLang="en-US" sz="2400" i="1">
                            <a:solidFill>
                              <a:srgbClr val="FF0000"/>
                            </a:solidFill>
                            <a:latin typeface="Cambria Math" panose="02040503050406030204" pitchFamily="18" charset="0"/>
                          </a:rPr>
                          <m:t>𝑟</m:t>
                        </m:r>
                      </m:sub>
                    </m:sSub>
                  </m:oMath>
                </a14:m>
                <a:r>
                  <a:rPr lang="zh-CN" altLang="en-US" sz="2400" dirty="0">
                    <a:solidFill>
                      <a:srgbClr val="0000FF"/>
                    </a:solidFill>
                  </a:rPr>
                  <a:t>负半周</a:t>
                </a:r>
              </a:p>
            </p:txBody>
          </p:sp>
        </mc:Choice>
        <mc:Fallback xmlns="">
          <p:sp>
            <p:nvSpPr>
              <p:cNvPr id="22" name="对象 35">
                <a:extLst>
                  <a:ext uri="{FF2B5EF4-FFF2-40B4-BE49-F238E27FC236}">
                    <a16:creationId xmlns:a16="http://schemas.microsoft.com/office/drawing/2014/main" id="{05F1129A-F8C0-4BE9-A154-610E1EE87097}"/>
                  </a:ext>
                </a:extLst>
              </p:cNvPr>
              <p:cNvSpPr txBox="1">
                <a:spLocks noRot="1" noChangeAspect="1" noMove="1" noResize="1" noEditPoints="1" noAdjustHandles="1" noChangeArrowheads="1" noChangeShapeType="1" noTextEdit="1"/>
              </p:cNvSpPr>
              <p:nvPr/>
            </p:nvSpPr>
            <p:spPr>
              <a:xfrm>
                <a:off x="726972" y="3745935"/>
                <a:ext cx="1485916" cy="514350"/>
              </a:xfrm>
              <a:prstGeom prst="rect">
                <a:avLst/>
              </a:prstGeom>
              <a:blipFill>
                <a:blip r:embed="rId10"/>
                <a:stretch>
                  <a:fillRect t="-12941" b="-117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对象 35">
                <a:extLst>
                  <a:ext uri="{FF2B5EF4-FFF2-40B4-BE49-F238E27FC236}">
                    <a16:creationId xmlns:a16="http://schemas.microsoft.com/office/drawing/2014/main" id="{5D7E7A20-39E6-412A-A079-7EA0A42BFD3B}"/>
                  </a:ext>
                </a:extLst>
              </p:cNvPr>
              <p:cNvSpPr txBox="1"/>
              <p:nvPr/>
            </p:nvSpPr>
            <p:spPr>
              <a:xfrm>
                <a:off x="700516" y="1462053"/>
                <a:ext cx="1639142" cy="514350"/>
              </a:xfrm>
              <a:prstGeom prst="rect">
                <a:avLst/>
              </a:prstGeom>
            </p:spPr>
            <p:txBody>
              <a:bodyPr>
                <a:normAutofit fontScale="92500"/>
              </a:bodyPr>
              <a:lstStyle/>
              <a:p>
                <a14:m>
                  <m:oMath xmlns:m="http://schemas.openxmlformats.org/officeDocument/2006/math">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𝑒</m:t>
                        </m:r>
                      </m:e>
                      <m:sub>
                        <m:r>
                          <a:rPr lang="zh-CN" altLang="en-US" sz="2400" i="1">
                            <a:solidFill>
                              <a:srgbClr val="FF0000"/>
                            </a:solidFill>
                            <a:latin typeface="Cambria Math" panose="02040503050406030204" pitchFamily="18" charset="0"/>
                          </a:rPr>
                          <m:t>𝑟</m:t>
                        </m:r>
                      </m:sub>
                    </m:sSub>
                  </m:oMath>
                </a14:m>
                <a:r>
                  <a:rPr lang="zh-CN" altLang="en-US" sz="2400" dirty="0">
                    <a:solidFill>
                      <a:srgbClr val="0000FF"/>
                    </a:solidFill>
                  </a:rPr>
                  <a:t>的正半周</a:t>
                </a:r>
              </a:p>
            </p:txBody>
          </p:sp>
        </mc:Choice>
        <mc:Fallback xmlns="">
          <p:sp>
            <p:nvSpPr>
              <p:cNvPr id="23" name="对象 35">
                <a:extLst>
                  <a:ext uri="{FF2B5EF4-FFF2-40B4-BE49-F238E27FC236}">
                    <a16:creationId xmlns:a16="http://schemas.microsoft.com/office/drawing/2014/main" id="{5D7E7A20-39E6-412A-A079-7EA0A42BFD3B}"/>
                  </a:ext>
                </a:extLst>
              </p:cNvPr>
              <p:cNvSpPr txBox="1">
                <a:spLocks noRot="1" noChangeAspect="1" noMove="1" noResize="1" noEditPoints="1" noAdjustHandles="1" noChangeArrowheads="1" noChangeShapeType="1" noTextEdit="1"/>
              </p:cNvSpPr>
              <p:nvPr/>
            </p:nvSpPr>
            <p:spPr>
              <a:xfrm>
                <a:off x="700516" y="1462053"/>
                <a:ext cx="1639142" cy="514350"/>
              </a:xfrm>
              <a:prstGeom prst="rect">
                <a:avLst/>
              </a:prstGeom>
              <a:blipFill>
                <a:blip r:embed="rId11"/>
                <a:stretch>
                  <a:fillRect t="-11905" b="-3571"/>
                </a:stretch>
              </a:blipFill>
            </p:spPr>
            <p:txBody>
              <a:bodyPr/>
              <a:lstStyle/>
              <a:p>
                <a:r>
                  <a:rPr lang="zh-CN" altLang="en-US">
                    <a:noFill/>
                  </a:rPr>
                  <a:t> </a:t>
                </a:r>
              </a:p>
            </p:txBody>
          </p:sp>
        </mc:Fallback>
      </mc:AlternateContent>
      <p:sp>
        <p:nvSpPr>
          <p:cNvPr id="24" name="对象 35">
            <a:extLst>
              <a:ext uri="{FF2B5EF4-FFF2-40B4-BE49-F238E27FC236}">
                <a16:creationId xmlns:a16="http://schemas.microsoft.com/office/drawing/2014/main" id="{D6032390-FC24-4FB3-ABB3-06BE7DFD8044}"/>
              </a:ext>
            </a:extLst>
          </p:cNvPr>
          <p:cNvSpPr txBox="1"/>
          <p:nvPr/>
        </p:nvSpPr>
        <p:spPr>
          <a:xfrm>
            <a:off x="716777" y="6291987"/>
            <a:ext cx="6696465" cy="514350"/>
          </a:xfrm>
          <a:prstGeom prst="rect">
            <a:avLst/>
          </a:prstGeom>
          <a:solidFill>
            <a:schemeClr val="accent3">
              <a:lumMod val="9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ormAutofit/>
          </a:bodyPr>
          <a:lstStyle/>
          <a:p>
            <a:r>
              <a:rPr lang="zh-CN" altLang="en-US" sz="2400" dirty="0">
                <a:solidFill>
                  <a:srgbClr val="0000FF"/>
                </a:solidFill>
              </a:rPr>
              <a:t>在</a:t>
            </a:r>
            <a:r>
              <a:rPr lang="zh-CN" altLang="en-US" sz="2400" dirty="0">
                <a:solidFill>
                  <a:srgbClr val="0000FF"/>
                </a:solidFill>
                <a:highlight>
                  <a:srgbClr val="FFFF00"/>
                </a:highlight>
              </a:rPr>
              <a:t>铁芯上移</a:t>
            </a:r>
            <a:r>
              <a:rPr lang="zh-CN" altLang="en-US" sz="2400" dirty="0">
                <a:solidFill>
                  <a:srgbClr val="0000FF"/>
                </a:solidFill>
              </a:rPr>
              <a:t>时，正负半周下，输出都表现为</a:t>
            </a:r>
            <a:r>
              <a:rPr lang="zh-CN" altLang="en-US" sz="2400" dirty="0">
                <a:solidFill>
                  <a:srgbClr val="0000FF"/>
                </a:solidFill>
                <a:highlight>
                  <a:srgbClr val="FFFF00"/>
                </a:highlight>
              </a:rPr>
              <a:t>正值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4A4807C-4CFC-4D58-9C5B-A134869D5C56}"/>
              </a:ext>
            </a:extLst>
          </p:cNvPr>
          <p:cNvPicPr>
            <a:picLocks noChangeAspect="1"/>
          </p:cNvPicPr>
          <p:nvPr/>
        </p:nvPicPr>
        <p:blipFill>
          <a:blip r:embed="rId2"/>
          <a:stretch>
            <a:fillRect/>
          </a:stretch>
        </p:blipFill>
        <p:spPr>
          <a:xfrm>
            <a:off x="5916612" y="1323975"/>
            <a:ext cx="2390775" cy="2105025"/>
          </a:xfrm>
          <a:prstGeom prst="rect">
            <a:avLst/>
          </a:prstGeom>
        </p:spPr>
      </p:pic>
      <p:pic>
        <p:nvPicPr>
          <p:cNvPr id="3" name="图片 2">
            <a:extLst>
              <a:ext uri="{FF2B5EF4-FFF2-40B4-BE49-F238E27FC236}">
                <a16:creationId xmlns:a16="http://schemas.microsoft.com/office/drawing/2014/main" id="{018B4316-AEE0-425F-803E-3B74611635E9}"/>
              </a:ext>
            </a:extLst>
          </p:cNvPr>
          <p:cNvPicPr>
            <a:picLocks noChangeAspect="1"/>
          </p:cNvPicPr>
          <p:nvPr/>
        </p:nvPicPr>
        <p:blipFill>
          <a:blip r:embed="rId3"/>
          <a:stretch>
            <a:fillRect/>
          </a:stretch>
        </p:blipFill>
        <p:spPr>
          <a:xfrm>
            <a:off x="6052920" y="3686420"/>
            <a:ext cx="2476500" cy="2190750"/>
          </a:xfrm>
          <a:prstGeom prst="rect">
            <a:avLst/>
          </a:prstGeom>
        </p:spPr>
      </p:pic>
      <p:sp>
        <p:nvSpPr>
          <p:cNvPr id="56323"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62218FB7-BA52-4E72-9F4D-38BCBF8ACD7D}" type="slidenum">
              <a:rPr lang="en-US" sz="1200">
                <a:solidFill>
                  <a:srgbClr val="000000"/>
                </a:solidFill>
                <a:latin typeface="Arial Black" pitchFamily="34" charset="0"/>
                <a:sym typeface="Arial Black" pitchFamily="34" charset="0"/>
              </a:rPr>
              <a:pPr algn="r" eaLnBrk="1" hangingPunct="1"/>
              <a:t>53</a:t>
            </a:fld>
            <a:endParaRPr lang="en-US" sz="1200">
              <a:latin typeface="Arial Black" pitchFamily="34" charset="0"/>
              <a:sym typeface="Arial Black" pitchFamily="34" charset="0"/>
            </a:endParaRPr>
          </a:p>
        </p:txBody>
      </p:sp>
      <p:sp>
        <p:nvSpPr>
          <p:cNvPr id="56325" name="Text Box 2"/>
          <p:cNvSpPr>
            <a:spLocks noChangeArrowheads="1"/>
          </p:cNvSpPr>
          <p:nvPr/>
        </p:nvSpPr>
        <p:spPr bwMode="auto">
          <a:xfrm>
            <a:off x="881063" y="323850"/>
            <a:ext cx="7966075" cy="931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latin typeface="楷体_GB2312" pitchFamily="49" charset="-122"/>
                <a:ea typeface="楷体_GB2312" pitchFamily="49" charset="-122"/>
                <a:sym typeface="楷体_GB2312" pitchFamily="49" charset="-122"/>
              </a:rPr>
              <a:t>c. 若差动变压器铁芯下移，</a:t>
            </a:r>
            <a:r>
              <a:rPr lang="en-US" sz="2400" i="1" dirty="0">
                <a:solidFill>
                  <a:srgbClr val="FF0000"/>
                </a:solidFill>
                <a:latin typeface="Times New Roman" pitchFamily="18" charset="0"/>
                <a:ea typeface="楷体_GB2312" pitchFamily="49" charset="-122"/>
                <a:sym typeface="Times New Roman" pitchFamily="18" charset="0"/>
              </a:rPr>
              <a:t>e </a:t>
            </a:r>
            <a:r>
              <a:rPr lang="en-US" sz="2400" dirty="0">
                <a:solidFill>
                  <a:srgbClr val="0000FF"/>
                </a:solidFill>
                <a:latin typeface="Times New Roman" pitchFamily="18" charset="0"/>
                <a:ea typeface="楷体_GB2312" pitchFamily="49" charset="-122"/>
                <a:sym typeface="Times New Roman" pitchFamily="18" charset="0"/>
              </a:rPr>
              <a:t>&lt;</a:t>
            </a:r>
            <a:r>
              <a:rPr lang="en-US" sz="2400" dirty="0">
                <a:solidFill>
                  <a:srgbClr val="0000FF"/>
                </a:solidFill>
                <a:latin typeface="楷体_GB2312" pitchFamily="49" charset="-122"/>
                <a:ea typeface="楷体_GB2312" pitchFamily="49" charset="-122"/>
                <a:sym typeface="楷体_GB2312" pitchFamily="49" charset="-122"/>
              </a:rPr>
              <a:t>0</a:t>
            </a:r>
            <a:endParaRPr lang="zh-CN" altLang="en-US" sz="2400" dirty="0">
              <a:solidFill>
                <a:srgbClr val="0000FF"/>
              </a:solidFill>
              <a:latin typeface="楷体_GB2312" pitchFamily="49" charset="-122"/>
              <a:ea typeface="楷体_GB2312" pitchFamily="49" charset="-122"/>
              <a:sym typeface="楷体_GB2312" pitchFamily="49" charset="-122"/>
            </a:endParaRPr>
          </a:p>
          <a:p>
            <a:pPr eaLnBrk="1" hangingPunct="1">
              <a:lnSpc>
                <a:spcPct val="130000"/>
              </a:lnSpc>
              <a:spcBef>
                <a:spcPct val="10000"/>
              </a:spcBef>
            </a:pPr>
            <a:r>
              <a:rPr lang="en-US" sz="2400" dirty="0">
                <a:latin typeface="楷体_GB2312" pitchFamily="49" charset="-122"/>
                <a:ea typeface="楷体_GB2312" pitchFamily="49" charset="-122"/>
                <a:sym typeface="楷体_GB2312" pitchFamily="49" charset="-122"/>
              </a:rPr>
              <a:t>   </a:t>
            </a:r>
            <a:r>
              <a:rPr lang="zh-CN" altLang="en-US" sz="2400" dirty="0">
                <a:solidFill>
                  <a:srgbClr val="FF0000"/>
                </a:solidFill>
                <a:latin typeface="楷体_GB2312" pitchFamily="49" charset="-122"/>
                <a:ea typeface="楷体_GB2312" pitchFamily="49" charset="-122"/>
                <a:sym typeface="楷体_GB2312" pitchFamily="49" charset="-122"/>
              </a:rPr>
              <a:t>则</a:t>
            </a:r>
            <a:r>
              <a:rPr lang="en-US" sz="2400" i="1" dirty="0">
                <a:solidFill>
                  <a:srgbClr val="FF0000"/>
                </a:solidFill>
                <a:latin typeface="Times New Roman" pitchFamily="18" charset="0"/>
                <a:ea typeface="楷体_GB2312" pitchFamily="49" charset="-122"/>
                <a:sym typeface="Times New Roman" pitchFamily="18" charset="0"/>
              </a:rPr>
              <a:t>e</a:t>
            </a:r>
            <a:r>
              <a:rPr lang="zh-CN" altLang="en-US" sz="2400" dirty="0">
                <a:solidFill>
                  <a:srgbClr val="FF0000"/>
                </a:solidFill>
                <a:latin typeface="楷体_GB2312" pitchFamily="49" charset="-122"/>
                <a:ea typeface="楷体_GB2312" pitchFamily="49" charset="-122"/>
                <a:sym typeface="楷体_GB2312" pitchFamily="49" charset="-122"/>
              </a:rPr>
              <a:t>和</a:t>
            </a:r>
            <a:r>
              <a:rPr lang="en-US" sz="2400" i="1" dirty="0" err="1">
                <a:solidFill>
                  <a:srgbClr val="FF0000"/>
                </a:solidFill>
                <a:latin typeface="Times New Roman" pitchFamily="18" charset="0"/>
                <a:ea typeface="楷体_GB2312" pitchFamily="49" charset="-122"/>
                <a:sym typeface="Times New Roman" pitchFamily="18" charset="0"/>
              </a:rPr>
              <a:t>e</a:t>
            </a:r>
            <a:r>
              <a:rPr lang="en-US" sz="2400" baseline="-25000" dirty="0" err="1">
                <a:solidFill>
                  <a:srgbClr val="FF0000"/>
                </a:solidFill>
                <a:latin typeface="Times New Roman" pitchFamily="18" charset="0"/>
                <a:ea typeface="楷体_GB2312" pitchFamily="49" charset="-122"/>
                <a:sym typeface="Times New Roman" pitchFamily="18" charset="0"/>
              </a:rPr>
              <a:t>r</a:t>
            </a:r>
            <a:r>
              <a:rPr lang="zh-CN" altLang="en-US" sz="2400" dirty="0">
                <a:solidFill>
                  <a:srgbClr val="FF0000"/>
                </a:solidFill>
                <a:latin typeface="楷体_GB2312" pitchFamily="49" charset="-122"/>
                <a:ea typeface="楷体_GB2312" pitchFamily="49" charset="-122"/>
                <a:sym typeface="楷体_GB2312" pitchFamily="49" charset="-122"/>
              </a:rPr>
              <a:t>反相</a:t>
            </a:r>
            <a:r>
              <a:rPr lang="zh-CN" altLang="en-US" sz="2400" dirty="0">
                <a:latin typeface="楷体_GB2312" pitchFamily="49" charset="-122"/>
                <a:ea typeface="楷体_GB2312" pitchFamily="49" charset="-122"/>
                <a:sym typeface="楷体_GB2312" pitchFamily="49" charset="-122"/>
              </a:rPr>
              <a:t>，</a:t>
            </a:r>
            <a:r>
              <a:rPr lang="zh-CN" altLang="en-US" sz="2400" dirty="0">
                <a:highlight>
                  <a:srgbClr val="FFFF00"/>
                </a:highlight>
                <a:latin typeface="楷体_GB2312" pitchFamily="49" charset="-122"/>
                <a:ea typeface="楷体_GB2312" pitchFamily="49" charset="-122"/>
                <a:sym typeface="楷体_GB2312" pitchFamily="49" charset="-122"/>
              </a:rPr>
              <a:t>由于有            ，</a:t>
            </a:r>
            <a:r>
              <a:rPr lang="en-US" sz="2400" i="1" dirty="0">
                <a:highlight>
                  <a:srgbClr val="FFFF00"/>
                </a:highlight>
                <a:latin typeface="Times New Roman" pitchFamily="18" charset="0"/>
                <a:ea typeface="楷体_GB2312" pitchFamily="49" charset="-122"/>
                <a:sym typeface="Times New Roman" pitchFamily="18" charset="0"/>
              </a:rPr>
              <a:t>e </a:t>
            </a:r>
            <a:r>
              <a:rPr lang="zh-CN" altLang="en-US" sz="2400" dirty="0">
                <a:highlight>
                  <a:srgbClr val="FFFF00"/>
                </a:highlight>
                <a:latin typeface="楷体_GB2312" pitchFamily="49" charset="-122"/>
                <a:ea typeface="楷体_GB2312" pitchFamily="49" charset="-122"/>
                <a:sym typeface="楷体_GB2312" pitchFamily="49" charset="-122"/>
              </a:rPr>
              <a:t>不影响二极管的导通</a:t>
            </a:r>
            <a:r>
              <a:rPr lang="zh-CN" altLang="en-US" sz="2400" dirty="0">
                <a:latin typeface="楷体_GB2312" pitchFamily="49" charset="-122"/>
                <a:ea typeface="楷体_GB2312" pitchFamily="49" charset="-122"/>
                <a:sym typeface="楷体_GB2312" pitchFamily="49" charset="-122"/>
              </a:rPr>
              <a:t>。</a:t>
            </a:r>
            <a:endParaRPr lang="zh-CN" altLang="en-US" dirty="0"/>
          </a:p>
        </p:txBody>
      </p:sp>
      <p:pic>
        <p:nvPicPr>
          <p:cNvPr id="56326" name="Object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87825" y="836820"/>
            <a:ext cx="8556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7" name="Picture 6" descr="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77913" y="3546475"/>
            <a:ext cx="4465637"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8" name="Picture 7" descr="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77913" y="1314450"/>
            <a:ext cx="4467225" cy="214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9" name="Text Box 8"/>
          <p:cNvSpPr>
            <a:spLocks noChangeArrowheads="1"/>
          </p:cNvSpPr>
          <p:nvPr/>
        </p:nvSpPr>
        <p:spPr bwMode="auto">
          <a:xfrm>
            <a:off x="3289300" y="5095875"/>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6330" name="Text Box 9"/>
          <p:cNvSpPr>
            <a:spLocks noChangeArrowheads="1"/>
          </p:cNvSpPr>
          <p:nvPr/>
        </p:nvSpPr>
        <p:spPr bwMode="auto">
          <a:xfrm>
            <a:off x="2032000" y="2859088"/>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6331" name="Text Box 10"/>
          <p:cNvSpPr>
            <a:spLocks noChangeArrowheads="1"/>
          </p:cNvSpPr>
          <p:nvPr/>
        </p:nvSpPr>
        <p:spPr bwMode="auto">
          <a:xfrm>
            <a:off x="2017713" y="5072063"/>
            <a:ext cx="576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6332" name="Text Box 11"/>
          <p:cNvSpPr>
            <a:spLocks noChangeArrowheads="1"/>
          </p:cNvSpPr>
          <p:nvPr/>
        </p:nvSpPr>
        <p:spPr bwMode="auto">
          <a:xfrm>
            <a:off x="3309938" y="2825750"/>
            <a:ext cx="576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6333" name="Text Box 12"/>
          <p:cNvSpPr>
            <a:spLocks noChangeArrowheads="1"/>
          </p:cNvSpPr>
          <p:nvPr/>
        </p:nvSpPr>
        <p:spPr bwMode="auto">
          <a:xfrm>
            <a:off x="927100" y="2338388"/>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6334" name="Text Box 13"/>
          <p:cNvSpPr>
            <a:spLocks noChangeArrowheads="1"/>
          </p:cNvSpPr>
          <p:nvPr/>
        </p:nvSpPr>
        <p:spPr bwMode="auto">
          <a:xfrm>
            <a:off x="939800" y="1679575"/>
            <a:ext cx="5762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6335" name="Text Box 14"/>
          <p:cNvSpPr>
            <a:spLocks noChangeArrowheads="1"/>
          </p:cNvSpPr>
          <p:nvPr/>
        </p:nvSpPr>
        <p:spPr bwMode="auto">
          <a:xfrm>
            <a:off x="881063" y="4011613"/>
            <a:ext cx="5762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6336" name="Text Box 15"/>
          <p:cNvSpPr>
            <a:spLocks noChangeArrowheads="1"/>
          </p:cNvSpPr>
          <p:nvPr/>
        </p:nvSpPr>
        <p:spPr bwMode="auto">
          <a:xfrm>
            <a:off x="896938" y="4522788"/>
            <a:ext cx="576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6337" name="Text Box 23"/>
          <p:cNvSpPr>
            <a:spLocks noChangeArrowheads="1"/>
          </p:cNvSpPr>
          <p:nvPr/>
        </p:nvSpPr>
        <p:spPr bwMode="auto">
          <a:xfrm>
            <a:off x="818675" y="6379534"/>
            <a:ext cx="692154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solidFill>
                  <a:srgbClr val="1EA2EE"/>
                </a:solidFill>
                <a:ea typeface="楷体_GB2312" pitchFamily="49" charset="-122"/>
                <a:sym typeface="Arial" pitchFamily="34" charset="0"/>
              </a:rPr>
              <a:t>由此可见，该相敏检波电路能判别铁芯移动的方向</a:t>
            </a:r>
            <a:endParaRPr lang="zh-CN" altLang="en-US" dirty="0">
              <a:solidFill>
                <a:srgbClr val="1EA2EE"/>
              </a:solidFill>
            </a:endParaRPr>
          </a:p>
        </p:txBody>
      </p:sp>
      <p:sp>
        <p:nvSpPr>
          <p:cNvPr id="18" name="Rectangle 2"/>
          <p:cNvSpPr>
            <a:spLocks noChangeArrowheads="1"/>
          </p:cNvSpPr>
          <p:nvPr/>
        </p:nvSpPr>
        <p:spPr bwMode="auto">
          <a:xfrm>
            <a:off x="84955" y="1979047"/>
            <a:ext cx="73894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b="1" dirty="0">
                <a:solidFill>
                  <a:srgbClr val="C00000"/>
                </a:solidFill>
                <a:latin typeface="宋体" pitchFamily="2" charset="-122"/>
                <a:sym typeface="宋体" pitchFamily="2" charset="-122"/>
              </a:rPr>
              <a:t>② </a:t>
            </a:r>
            <a:r>
              <a:rPr lang="zh-CN" altLang="en-US" sz="2400" b="1" dirty="0">
                <a:solidFill>
                  <a:srgbClr val="C00000"/>
                </a:solidFill>
                <a:latin typeface="宋体" pitchFamily="2" charset="-122"/>
                <a:sym typeface="宋体" pitchFamily="2" charset="-122"/>
              </a:rPr>
              <a:t>相敏检波电路</a:t>
            </a:r>
            <a:endParaRPr lang="zh-CN" altLang="en-US" b="1" dirty="0">
              <a:solidFill>
                <a:srgbClr val="C00000"/>
              </a:solidFill>
            </a:endParaRPr>
          </a:p>
        </p:txBody>
      </p:sp>
      <p:cxnSp>
        <p:nvCxnSpPr>
          <p:cNvPr id="19" name="直接连接符 18">
            <a:extLst>
              <a:ext uri="{FF2B5EF4-FFF2-40B4-BE49-F238E27FC236}">
                <a16:creationId xmlns:a16="http://schemas.microsoft.com/office/drawing/2014/main" id="{AD49B1D6-39A1-4586-B6DA-237B95B85B25}"/>
              </a:ext>
            </a:extLst>
          </p:cNvPr>
          <p:cNvCxnSpPr/>
          <p:nvPr/>
        </p:nvCxnSpPr>
        <p:spPr bwMode="auto">
          <a:xfrm>
            <a:off x="6078975" y="3373438"/>
            <a:ext cx="2160150" cy="0"/>
          </a:xfrm>
          <a:prstGeom prst="line">
            <a:avLst/>
          </a:prstGeom>
          <a:solidFill>
            <a:schemeClr val="accent1"/>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51927776-0D62-4CBF-968B-B04567291848}"/>
              </a:ext>
            </a:extLst>
          </p:cNvPr>
          <p:cNvCxnSpPr/>
          <p:nvPr/>
        </p:nvCxnSpPr>
        <p:spPr bwMode="auto">
          <a:xfrm>
            <a:off x="6078975" y="5692775"/>
            <a:ext cx="2160150" cy="0"/>
          </a:xfrm>
          <a:prstGeom prst="line">
            <a:avLst/>
          </a:prstGeom>
          <a:solidFill>
            <a:schemeClr val="accent1"/>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对象 35">
            <a:extLst>
              <a:ext uri="{FF2B5EF4-FFF2-40B4-BE49-F238E27FC236}">
                <a16:creationId xmlns:a16="http://schemas.microsoft.com/office/drawing/2014/main" id="{6D6712E0-38DF-421C-9C9B-01DBB505AF81}"/>
              </a:ext>
            </a:extLst>
          </p:cNvPr>
          <p:cNvSpPr txBox="1"/>
          <p:nvPr/>
        </p:nvSpPr>
        <p:spPr>
          <a:xfrm>
            <a:off x="818674" y="5804929"/>
            <a:ext cx="6696465" cy="514350"/>
          </a:xfrm>
          <a:prstGeom prst="rect">
            <a:avLst/>
          </a:prstGeom>
          <a:solidFill>
            <a:schemeClr val="accent3">
              <a:lumMod val="9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ormAutofit/>
          </a:bodyPr>
          <a:lstStyle/>
          <a:p>
            <a:r>
              <a:rPr lang="zh-CN" altLang="en-US" sz="2400" dirty="0">
                <a:solidFill>
                  <a:srgbClr val="0000FF"/>
                </a:solidFill>
              </a:rPr>
              <a:t>在</a:t>
            </a:r>
            <a:r>
              <a:rPr lang="zh-CN" altLang="en-US" sz="2400" dirty="0">
                <a:solidFill>
                  <a:srgbClr val="0000FF"/>
                </a:solidFill>
                <a:highlight>
                  <a:srgbClr val="FFFF00"/>
                </a:highlight>
              </a:rPr>
              <a:t>铁芯下移</a:t>
            </a:r>
            <a:r>
              <a:rPr lang="zh-CN" altLang="en-US" sz="2400" dirty="0">
                <a:solidFill>
                  <a:srgbClr val="0000FF"/>
                </a:solidFill>
              </a:rPr>
              <a:t>时，正负半周下，输出都表现为负</a:t>
            </a:r>
            <a:r>
              <a:rPr lang="zh-CN" altLang="en-US" sz="2400" dirty="0">
                <a:solidFill>
                  <a:srgbClr val="0000FF"/>
                </a:solidFill>
                <a:highlight>
                  <a:srgbClr val="FFFF00"/>
                </a:highlight>
              </a:rPr>
              <a:t>值</a:t>
            </a:r>
          </a:p>
        </p:txBody>
      </p:sp>
      <p:pic>
        <p:nvPicPr>
          <p:cNvPr id="25" name="Picture 5">
            <a:extLst>
              <a:ext uri="{FF2B5EF4-FFF2-40B4-BE49-F238E27FC236}">
                <a16:creationId xmlns:a16="http://schemas.microsoft.com/office/drawing/2014/main" id="{5D6A97AB-8D8A-46EB-9620-117F17C8932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48300" y="1559954"/>
            <a:ext cx="3398838" cy="3421063"/>
          </a:xfrm>
          <a:prstGeom prst="rect">
            <a:avLst/>
          </a:prstGeom>
          <a:noFill/>
          <a:ln w="9525">
            <a:solidFill>
              <a:srgbClr val="003399">
                <a:alpha val="98039"/>
              </a:srgbClr>
            </a:solidFill>
            <a:miter lim="800000"/>
            <a:headEnd/>
            <a:tailEnd/>
          </a:ln>
          <a:effectLst>
            <a:outerShdw blurRad="190500" dist="228600" dir="2700000" algn="ctr">
              <a:srgbClr val="000000">
                <a:alpha val="30000"/>
              </a:srgbClr>
            </a:outerShdw>
            <a:softEdge rad="584200"/>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337"/>
                                        </p:tgtEl>
                                        <p:attrNameLst>
                                          <p:attrName>style.visibility</p:attrName>
                                        </p:attrNameLst>
                                      </p:cBhvr>
                                      <p:to>
                                        <p:strVal val="visible"/>
                                      </p:to>
                                    </p:set>
                                    <p:anim calcmode="lin" valueType="num">
                                      <p:cBhvr additive="base">
                                        <p:cTn id="13" dur="500" fill="hold"/>
                                        <p:tgtEl>
                                          <p:spTgt spid="56337"/>
                                        </p:tgtEl>
                                        <p:attrNameLst>
                                          <p:attrName>ppt_x</p:attrName>
                                        </p:attrNameLst>
                                      </p:cBhvr>
                                      <p:tavLst>
                                        <p:tav tm="0">
                                          <p:val>
                                            <p:strVal val="#ppt_x"/>
                                          </p:val>
                                        </p:tav>
                                        <p:tav tm="100000">
                                          <p:val>
                                            <p:strVal val="#ppt_x"/>
                                          </p:val>
                                        </p:tav>
                                      </p:tavLst>
                                    </p:anim>
                                    <p:anim calcmode="lin" valueType="num">
                                      <p:cBhvr additive="base">
                                        <p:cTn id="14" dur="500" fill="hold"/>
                                        <p:tgtEl>
                                          <p:spTgt spid="5633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1+#ppt_w/2"/>
                                          </p:val>
                                        </p:tav>
                                        <p:tav tm="100000">
                                          <p:val>
                                            <p:strVal val="#ppt_x"/>
                                          </p:val>
                                        </p:tav>
                                      </p:tavLst>
                                    </p:anim>
                                    <p:anim calcmode="lin" valueType="num">
                                      <p:cBhvr additive="base">
                                        <p:cTn id="20"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7" grpId="0"/>
      <p:bldP spid="2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57347" name="TextBox 5"/>
          <p:cNvSpPr>
            <a:spLocks noChangeArrowheads="1"/>
          </p:cNvSpPr>
          <p:nvPr/>
        </p:nvSpPr>
        <p:spPr bwMode="auto">
          <a:xfrm>
            <a:off x="785813" y="285750"/>
            <a:ext cx="51435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rgbClr val="C00000"/>
                </a:solidFill>
                <a:latin typeface="Calibri" pitchFamily="34" charset="0"/>
              </a:rPr>
              <a:t>2. </a:t>
            </a:r>
            <a:r>
              <a:rPr lang="zh-CN" altLang="en-US" sz="3200" b="1" dirty="0">
                <a:solidFill>
                  <a:srgbClr val="C00000"/>
                </a:solidFill>
                <a:latin typeface="Calibri" pitchFamily="34" charset="0"/>
              </a:rPr>
              <a:t>电涡流电感传感器</a:t>
            </a:r>
          </a:p>
          <a:p>
            <a:pPr eaLnBrk="1" hangingPunct="1"/>
            <a:endParaRPr lang="zh-CN" altLang="en-US" sz="3200" b="1" dirty="0">
              <a:solidFill>
                <a:srgbClr val="C00000"/>
              </a:solidFill>
              <a:latin typeface="Calibri" pitchFamily="34" charset="0"/>
            </a:endParaRPr>
          </a:p>
        </p:txBody>
      </p:sp>
      <p:sp>
        <p:nvSpPr>
          <p:cNvPr id="2" name="矩形 1">
            <a:extLst>
              <a:ext uri="{FF2B5EF4-FFF2-40B4-BE49-F238E27FC236}">
                <a16:creationId xmlns:a16="http://schemas.microsoft.com/office/drawing/2014/main" id="{CEE058C4-7B4B-4C35-88E4-9FC70C82E5FC}"/>
              </a:ext>
            </a:extLst>
          </p:cNvPr>
          <p:cNvSpPr/>
          <p:nvPr/>
        </p:nvSpPr>
        <p:spPr>
          <a:xfrm>
            <a:off x="467714" y="4797095"/>
            <a:ext cx="8424586" cy="1569660"/>
          </a:xfrm>
          <a:prstGeom prst="rect">
            <a:avLst/>
          </a:prstGeom>
        </p:spPr>
        <p:txBody>
          <a:bodyPr wrap="square">
            <a:spAutoFit/>
          </a:bodyPr>
          <a:lstStyle/>
          <a:p>
            <a:r>
              <a:rPr lang="zh-CN" altLang="en-US" sz="2400" b="1" dirty="0">
                <a:solidFill>
                  <a:srgbClr val="0000FF"/>
                </a:solidFill>
                <a:latin typeface="Times New Roman" pitchFamily="18" charset="0"/>
                <a:ea typeface="楷体_GB2312" pitchFamily="49" charset="-122"/>
                <a:sym typeface="Times New Roman" pitchFamily="18" charset="0"/>
              </a:rPr>
              <a:t>涡流：</a:t>
            </a:r>
            <a:r>
              <a:rPr lang="zh-CN" altLang="en-US" sz="2400" b="1" dirty="0">
                <a:latin typeface="Times New Roman" pitchFamily="18" charset="0"/>
                <a:ea typeface="楷体_GB2312" pitchFamily="49" charset="-122"/>
                <a:sym typeface="Times New Roman" pitchFamily="18" charset="0"/>
              </a:rPr>
              <a:t>导体置于交变磁场，或在磁场中运动时，导体上产生感应电流，该电流在导体内部闭合，称为涡流。</a:t>
            </a:r>
            <a:endParaRPr lang="en-US" altLang="zh-CN" sz="2400" b="1" dirty="0">
              <a:latin typeface="Times New Roman" pitchFamily="18" charset="0"/>
              <a:ea typeface="楷体_GB2312" pitchFamily="49" charset="-122"/>
              <a:sym typeface="Times New Roman" pitchFamily="18" charset="0"/>
            </a:endParaRPr>
          </a:p>
          <a:p>
            <a:endParaRPr lang="en-US" altLang="zh-CN" sz="2400" b="1" dirty="0">
              <a:latin typeface="Times New Roman" pitchFamily="18" charset="0"/>
              <a:ea typeface="楷体_GB2312" pitchFamily="49" charset="-122"/>
              <a:sym typeface="Times New Roman" pitchFamily="18" charset="0"/>
            </a:endParaRPr>
          </a:p>
          <a:p>
            <a:r>
              <a:rPr lang="zh-CN" altLang="en-US" sz="2400" b="1" dirty="0">
                <a:solidFill>
                  <a:srgbClr val="1EA2EE"/>
                </a:solidFill>
                <a:latin typeface="Times New Roman" pitchFamily="18" charset="0"/>
                <a:ea typeface="楷体_GB2312" pitchFamily="49" charset="-122"/>
                <a:sym typeface="Times New Roman" pitchFamily="18" charset="0"/>
              </a:rPr>
              <a:t>电磁炉就是利用电涡流加热的。感应加热在工业上也有应用。</a:t>
            </a:r>
            <a:endParaRPr lang="zh-CN" altLang="en-US" sz="2400" b="1" dirty="0">
              <a:solidFill>
                <a:srgbClr val="1EA2EE"/>
              </a:solidFill>
            </a:endParaRPr>
          </a:p>
        </p:txBody>
      </p:sp>
      <p:pic>
        <p:nvPicPr>
          <p:cNvPr id="171010" name="Picture 2" descr="查看源图像">
            <a:extLst>
              <a:ext uri="{FF2B5EF4-FFF2-40B4-BE49-F238E27FC236}">
                <a16:creationId xmlns:a16="http://schemas.microsoft.com/office/drawing/2014/main" id="{D81545EC-F466-40FC-8791-66B3D9425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699" y="1490365"/>
            <a:ext cx="4766384" cy="301871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https://file.youboy.com/a/98/45/93/5/9660125s.jpg">
            <a:extLst>
              <a:ext uri="{FF2B5EF4-FFF2-40B4-BE49-F238E27FC236}">
                <a16:creationId xmlns:a16="http://schemas.microsoft.com/office/drawing/2014/main" id="{7376211F-C197-4A5B-A37F-DF768DFF7B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0083" y="1651683"/>
            <a:ext cx="3800474" cy="25584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6A9A9DFD-53FD-43FF-AED1-F6F74252C25D}" type="slidenum">
              <a:rPr lang="zh-CN" altLang="en-US"/>
              <a:pPr/>
              <a:t>55</a:t>
            </a:fld>
            <a:endParaRPr lang="zh-CN" altLang="en-US" sz="1800">
              <a:solidFill>
                <a:schemeClr val="tx1"/>
              </a:solidFill>
              <a:latin typeface="Arial" pitchFamily="34" charset="0"/>
            </a:endParaRPr>
          </a:p>
        </p:txBody>
      </p:sp>
      <p:sp>
        <p:nvSpPr>
          <p:cNvPr id="9318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318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大直径电涡流探雷器 </a:t>
            </a:r>
            <a:endParaRPr lang="zh-CN" altLang="en-US"/>
          </a:p>
        </p:txBody>
      </p:sp>
      <p:pic>
        <p:nvPicPr>
          <p:cNvPr id="93188" name="Picture 14" descr="电涡流探累器"/>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295400"/>
            <a:ext cx="7239000" cy="50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49348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C5329DD6-EB5D-43C0-96D0-52ECACF6F400}" type="slidenum">
              <a:rPr lang="zh-CN" altLang="en-US"/>
              <a:pPr/>
              <a:t>56</a:t>
            </a:fld>
            <a:endParaRPr lang="zh-CN" altLang="en-US" sz="1800">
              <a:solidFill>
                <a:schemeClr val="tx1"/>
              </a:solidFill>
              <a:latin typeface="Arial" pitchFamily="34" charset="0"/>
            </a:endParaRPr>
          </a:p>
        </p:txBody>
      </p:sp>
      <p:sp>
        <p:nvSpPr>
          <p:cNvPr id="5939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59395" name="TextBox 5"/>
          <p:cNvSpPr>
            <a:spLocks noChangeArrowheads="1"/>
          </p:cNvSpPr>
          <p:nvPr/>
        </p:nvSpPr>
        <p:spPr bwMode="auto">
          <a:xfrm>
            <a:off x="785813" y="285750"/>
            <a:ext cx="5802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2.1</a:t>
            </a:r>
            <a:r>
              <a:rPr lang="zh-CN" altLang="en-US" sz="3200" b="1">
                <a:solidFill>
                  <a:schemeClr val="tx2"/>
                </a:solidFill>
                <a:latin typeface="Calibri" pitchFamily="34" charset="0"/>
              </a:rPr>
              <a:t>电涡流效应及电涡流的分布</a:t>
            </a:r>
            <a:endParaRPr lang="zh-CN" altLang="en-US"/>
          </a:p>
        </p:txBody>
      </p:sp>
      <p:sp>
        <p:nvSpPr>
          <p:cNvPr id="59396" name="Text Box 5"/>
          <p:cNvSpPr>
            <a:spLocks noChangeArrowheads="1"/>
          </p:cNvSpPr>
          <p:nvPr/>
        </p:nvSpPr>
        <p:spPr bwMode="auto">
          <a:xfrm>
            <a:off x="142875" y="1176338"/>
            <a:ext cx="4770438"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20000"/>
              </a:lnSpc>
              <a:spcBef>
                <a:spcPct val="50000"/>
              </a:spcBef>
              <a:buFont typeface="Arial" panose="020B0604020202020204" pitchFamily="34" charset="0"/>
              <a:buChar char="•"/>
            </a:pPr>
            <a:r>
              <a:rPr lang="en-US" sz="2400" dirty="0">
                <a:latin typeface="Times New Roman" pitchFamily="18" charset="0"/>
                <a:ea typeface="楷体_GB2312" pitchFamily="49" charset="-122"/>
                <a:sym typeface="Times New Roman" pitchFamily="18" charset="0"/>
              </a:rPr>
              <a:t> </a:t>
            </a:r>
            <a:r>
              <a:rPr lang="zh-CN" altLang="en-US" sz="2400" dirty="0">
                <a:latin typeface="Times New Roman" pitchFamily="18" charset="0"/>
                <a:ea typeface="楷体_GB2312" pitchFamily="49" charset="-122"/>
                <a:sym typeface="Times New Roman" pitchFamily="18" charset="0"/>
              </a:rPr>
              <a:t>涡流大小与导体</a:t>
            </a:r>
            <a:r>
              <a:rPr lang="zh-CN" altLang="en-US" sz="2400" dirty="0">
                <a:solidFill>
                  <a:srgbClr val="0000FF"/>
                </a:solidFill>
                <a:latin typeface="Times New Roman" pitchFamily="18" charset="0"/>
                <a:ea typeface="楷体_GB2312" pitchFamily="49" charset="-122"/>
                <a:sym typeface="Times New Roman" pitchFamily="18" charset="0"/>
              </a:rPr>
              <a:t>电阻率</a:t>
            </a:r>
            <a:r>
              <a:rPr lang="en-US" sz="2400" i="1" dirty="0">
                <a:solidFill>
                  <a:srgbClr val="0000FF"/>
                </a:solidFill>
                <a:latin typeface="Times New Roman" pitchFamily="18" charset="0"/>
                <a:ea typeface="楷体_GB2312" pitchFamily="49" charset="-122"/>
                <a:sym typeface="Times New Roman" pitchFamily="18" charset="0"/>
              </a:rPr>
              <a:t>ρ</a:t>
            </a:r>
            <a:r>
              <a:rPr lang="zh-CN" altLang="en-US" sz="2400" dirty="0">
                <a:latin typeface="Times New Roman" pitchFamily="18" charset="0"/>
                <a:ea typeface="楷体_GB2312" pitchFamily="49" charset="-122"/>
                <a:sym typeface="Times New Roman" pitchFamily="18" charset="0"/>
              </a:rPr>
              <a:t>、</a:t>
            </a:r>
            <a:r>
              <a:rPr lang="zh-CN" altLang="en-US" sz="2400" dirty="0">
                <a:solidFill>
                  <a:srgbClr val="0000FF"/>
                </a:solidFill>
                <a:latin typeface="Times New Roman" pitchFamily="18" charset="0"/>
                <a:ea typeface="楷体_GB2312" pitchFamily="49" charset="-122"/>
                <a:sym typeface="Times New Roman" pitchFamily="18" charset="0"/>
              </a:rPr>
              <a:t>磁导率</a:t>
            </a:r>
            <a:r>
              <a:rPr lang="en-US" sz="2400" i="1" dirty="0">
                <a:solidFill>
                  <a:srgbClr val="0000FF"/>
                </a:solidFill>
                <a:latin typeface="Times New Roman" pitchFamily="18" charset="0"/>
                <a:ea typeface="楷体_GB2312" pitchFamily="49" charset="-122"/>
                <a:sym typeface="Times New Roman" pitchFamily="18" charset="0"/>
              </a:rPr>
              <a:t>μ</a:t>
            </a:r>
            <a:r>
              <a:rPr lang="zh-CN" altLang="en-US" sz="2400" dirty="0">
                <a:latin typeface="Times New Roman" pitchFamily="18" charset="0"/>
                <a:ea typeface="楷体_GB2312" pitchFamily="49" charset="-122"/>
                <a:sym typeface="Times New Roman" pitchFamily="18" charset="0"/>
              </a:rPr>
              <a:t>以及产生交变磁场的线圈与被测体之间</a:t>
            </a:r>
            <a:r>
              <a:rPr lang="zh-CN" altLang="en-US" sz="2400" dirty="0">
                <a:solidFill>
                  <a:srgbClr val="0000FF"/>
                </a:solidFill>
                <a:latin typeface="Times New Roman" pitchFamily="18" charset="0"/>
                <a:ea typeface="楷体_GB2312" pitchFamily="49" charset="-122"/>
                <a:sym typeface="Times New Roman" pitchFamily="18" charset="0"/>
              </a:rPr>
              <a:t>距离</a:t>
            </a:r>
            <a:r>
              <a:rPr lang="en-US" sz="2400" i="1" dirty="0">
                <a:solidFill>
                  <a:srgbClr val="0000FF"/>
                </a:solidFill>
                <a:latin typeface="Times New Roman" pitchFamily="18" charset="0"/>
                <a:ea typeface="楷体_GB2312" pitchFamily="49" charset="-122"/>
                <a:sym typeface="Times New Roman" pitchFamily="18" charset="0"/>
              </a:rPr>
              <a:t>d</a:t>
            </a:r>
            <a:r>
              <a:rPr lang="zh-CN" altLang="en-US" sz="2400" dirty="0">
                <a:latin typeface="Times New Roman" pitchFamily="18" charset="0"/>
                <a:ea typeface="楷体_GB2312" pitchFamily="49" charset="-122"/>
                <a:sym typeface="Times New Roman" pitchFamily="18" charset="0"/>
              </a:rPr>
              <a:t>，线圈激励电流的</a:t>
            </a:r>
            <a:r>
              <a:rPr lang="zh-CN" altLang="en-US" sz="2400" dirty="0">
                <a:solidFill>
                  <a:srgbClr val="0000FF"/>
                </a:solidFill>
                <a:latin typeface="Times New Roman" pitchFamily="18" charset="0"/>
                <a:ea typeface="楷体_GB2312" pitchFamily="49" charset="-122"/>
                <a:sym typeface="Times New Roman" pitchFamily="18" charset="0"/>
              </a:rPr>
              <a:t>频率</a:t>
            </a:r>
            <a:r>
              <a:rPr lang="en-US" sz="2400" i="1" dirty="0">
                <a:solidFill>
                  <a:srgbClr val="0000FF"/>
                </a:solidFill>
                <a:latin typeface="Times New Roman" pitchFamily="18" charset="0"/>
                <a:ea typeface="楷体_GB2312" pitchFamily="49" charset="-122"/>
                <a:sym typeface="Times New Roman" pitchFamily="18" charset="0"/>
              </a:rPr>
              <a:t>f</a:t>
            </a:r>
            <a:r>
              <a:rPr lang="zh-CN" altLang="en-US" sz="2400" dirty="0">
                <a:latin typeface="Times New Roman" pitchFamily="18" charset="0"/>
                <a:ea typeface="楷体_GB2312" pitchFamily="49" charset="-122"/>
                <a:sym typeface="Times New Roman" pitchFamily="18" charset="0"/>
              </a:rPr>
              <a:t>有关。</a:t>
            </a:r>
          </a:p>
        </p:txBody>
      </p:sp>
      <p:pic>
        <p:nvPicPr>
          <p:cNvPr id="5939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2725" y="1176338"/>
            <a:ext cx="3636963" cy="551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8" name="Text Box 6"/>
          <p:cNvSpPr>
            <a:spLocks noChangeArrowheads="1"/>
          </p:cNvSpPr>
          <p:nvPr/>
        </p:nvSpPr>
        <p:spPr bwMode="auto">
          <a:xfrm>
            <a:off x="232569" y="3379788"/>
            <a:ext cx="4591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涡流穿透深度</a:t>
            </a:r>
            <a:endParaRPr lang="zh-CN" altLang="en-US" dirty="0"/>
          </a:p>
        </p:txBody>
      </p:sp>
      <p:pic>
        <p:nvPicPr>
          <p:cNvPr id="59399" name="Object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750" y="4099238"/>
            <a:ext cx="2448170" cy="102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0" name="Text Box 8"/>
          <p:cNvSpPr>
            <a:spLocks noChangeArrowheads="1"/>
          </p:cNvSpPr>
          <p:nvPr/>
        </p:nvSpPr>
        <p:spPr bwMode="auto">
          <a:xfrm>
            <a:off x="420688" y="5322888"/>
            <a:ext cx="46815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涡流穿透深度</a:t>
            </a:r>
            <a:r>
              <a:rPr lang="en-US" sz="2400" i="1" dirty="0">
                <a:latin typeface="Times New Roman" pitchFamily="18" charset="0"/>
                <a:ea typeface="楷体_GB2312" pitchFamily="49" charset="-122"/>
                <a:sym typeface="Times New Roman" pitchFamily="18" charset="0"/>
              </a:rPr>
              <a:t>h</a:t>
            </a:r>
            <a:r>
              <a:rPr lang="zh-CN" altLang="en-US" sz="2400" dirty="0">
                <a:latin typeface="楷体_GB2312" pitchFamily="49" charset="-122"/>
                <a:ea typeface="楷体_GB2312" pitchFamily="49" charset="-122"/>
                <a:sym typeface="楷体_GB2312" pitchFamily="49" charset="-122"/>
              </a:rPr>
              <a:t>和激励电流频率</a:t>
            </a:r>
            <a:r>
              <a:rPr lang="en-US" sz="2400" i="1" dirty="0">
                <a:latin typeface="Times New Roman" pitchFamily="18" charset="0"/>
                <a:ea typeface="楷体_GB2312" pitchFamily="49" charset="-122"/>
                <a:sym typeface="Times New Roman" pitchFamily="18" charset="0"/>
              </a:rPr>
              <a:t>f </a:t>
            </a:r>
            <a:r>
              <a:rPr lang="zh-CN" altLang="en-US" sz="2400" dirty="0">
                <a:latin typeface="楷体_GB2312" pitchFamily="49" charset="-122"/>
                <a:ea typeface="楷体_GB2312" pitchFamily="49" charset="-122"/>
                <a:sym typeface="楷体_GB2312" pitchFamily="49" charset="-122"/>
              </a:rPr>
              <a:t>有关。</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fld id="{C22A2DAC-F05B-4181-BD38-FB30666F5B5F}" type="slidenum">
              <a:rPr lang="zh-CN" altLang="en-US"/>
              <a:pPr/>
              <a:t>57</a:t>
            </a:fld>
            <a:endParaRPr lang="zh-CN" altLang="en-US" sz="1800">
              <a:solidFill>
                <a:schemeClr val="tx1"/>
              </a:solidFill>
              <a:latin typeface="Arial" pitchFamily="34" charset="0"/>
            </a:endParaRPr>
          </a:p>
        </p:txBody>
      </p:sp>
      <p:sp>
        <p:nvSpPr>
          <p:cNvPr id="6041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0419" name="TextBox 5"/>
          <p:cNvSpPr>
            <a:spLocks noChangeArrowheads="1"/>
          </p:cNvSpPr>
          <p:nvPr/>
        </p:nvSpPr>
        <p:spPr bwMode="auto">
          <a:xfrm>
            <a:off x="785813" y="285750"/>
            <a:ext cx="5802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2.1</a:t>
            </a:r>
            <a:r>
              <a:rPr lang="zh-CN" altLang="en-US" sz="3200" b="1">
                <a:solidFill>
                  <a:schemeClr val="tx2"/>
                </a:solidFill>
                <a:latin typeface="Calibri" pitchFamily="34" charset="0"/>
              </a:rPr>
              <a:t>电涡流效应及电涡流的分布</a:t>
            </a:r>
            <a:endParaRPr lang="zh-CN" altLang="en-US"/>
          </a:p>
        </p:txBody>
      </p:sp>
      <p:sp>
        <p:nvSpPr>
          <p:cNvPr id="60420" name="Text Box 39"/>
          <p:cNvSpPr>
            <a:spLocks noChangeArrowheads="1"/>
          </p:cNvSpPr>
          <p:nvPr/>
        </p:nvSpPr>
        <p:spPr bwMode="auto">
          <a:xfrm>
            <a:off x="142875" y="1046163"/>
            <a:ext cx="4257675" cy="1163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40000"/>
              </a:lnSpc>
              <a:spcBef>
                <a:spcPct val="10000"/>
              </a:spcBef>
            </a:pPr>
            <a:r>
              <a:rPr lang="zh-CN" altLang="en-US" sz="2400" dirty="0">
                <a:solidFill>
                  <a:schemeClr val="tx2"/>
                </a:solidFill>
                <a:latin typeface="楷体_GB2312" pitchFamily="49" charset="-122"/>
                <a:ea typeface="楷体_GB2312" pitchFamily="49" charset="-122"/>
                <a:sym typeface="楷体_GB2312" pitchFamily="49" charset="-122"/>
              </a:rPr>
              <a:t>（</a:t>
            </a:r>
            <a:r>
              <a:rPr lang="en-US" sz="2400" dirty="0">
                <a:solidFill>
                  <a:schemeClr val="tx2"/>
                </a:solidFill>
                <a:latin typeface="楷体_GB2312" pitchFamily="49" charset="-122"/>
                <a:ea typeface="楷体_GB2312" pitchFamily="49" charset="-122"/>
                <a:sym typeface="楷体_GB2312" pitchFamily="49" charset="-122"/>
              </a:rPr>
              <a:t>2</a:t>
            </a:r>
            <a:r>
              <a:rPr lang="zh-CN" altLang="en-US" sz="2400" dirty="0">
                <a:solidFill>
                  <a:schemeClr val="tx2"/>
                </a:solidFill>
                <a:latin typeface="楷体_GB2312" pitchFamily="49" charset="-122"/>
                <a:ea typeface="楷体_GB2312" pitchFamily="49" charset="-122"/>
                <a:sym typeface="楷体_GB2312" pitchFamily="49" charset="-122"/>
              </a:rPr>
              <a:t>）电涡流的分布</a:t>
            </a:r>
          </a:p>
          <a:p>
            <a:pPr eaLnBrk="1" hangingPunct="1">
              <a:lnSpc>
                <a:spcPct val="140000"/>
              </a:lnSpc>
              <a:spcBef>
                <a:spcPct val="10000"/>
              </a:spcBef>
            </a:pPr>
            <a:r>
              <a:rPr lang="zh-CN" altLang="en-US" sz="2400" dirty="0">
                <a:latin typeface="楷体_GB2312" pitchFamily="49" charset="-122"/>
                <a:ea typeface="楷体_GB2312" pitchFamily="49" charset="-122"/>
                <a:sym typeface="楷体_GB2312" pitchFamily="49" charset="-122"/>
              </a:rPr>
              <a:t>径向分布：</a:t>
            </a:r>
            <a:endParaRPr lang="zh-CN" altLang="en-US" dirty="0"/>
          </a:p>
        </p:txBody>
      </p:sp>
      <p:grpSp>
        <p:nvGrpSpPr>
          <p:cNvPr id="60421" name="Group 34"/>
          <p:cNvGrpSpPr>
            <a:grpSpLocks/>
          </p:cNvGrpSpPr>
          <p:nvPr/>
        </p:nvGrpSpPr>
        <p:grpSpPr bwMode="auto">
          <a:xfrm>
            <a:off x="2916238" y="1341438"/>
            <a:ext cx="5624512" cy="4184650"/>
            <a:chOff x="0" y="0"/>
            <a:chExt cx="3924" cy="3372"/>
          </a:xfrm>
        </p:grpSpPr>
        <p:pic>
          <p:nvPicPr>
            <p:cNvPr id="60422" name="Picture 35" descr="未标题-1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924" cy="3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3" name="Text Box 36"/>
            <p:cNvSpPr>
              <a:spLocks noChangeArrowheads="1"/>
            </p:cNvSpPr>
            <p:nvPr/>
          </p:nvSpPr>
          <p:spPr bwMode="auto">
            <a:xfrm>
              <a:off x="2390" y="1144"/>
              <a:ext cx="19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sz="1600" b="1">
                  <a:latin typeface="Times New Roman" pitchFamily="18" charset="0"/>
                  <a:sym typeface="Times New Roman" pitchFamily="18" charset="0"/>
                </a:rPr>
                <a:t>1</a:t>
              </a:r>
              <a:endParaRPr lang="zh-CN" altLang="en-US"/>
            </a:p>
          </p:txBody>
        </p:sp>
        <p:sp>
          <p:nvSpPr>
            <p:cNvPr id="60424" name="Text Box 37"/>
            <p:cNvSpPr>
              <a:spLocks noChangeArrowheads="1"/>
            </p:cNvSpPr>
            <p:nvPr/>
          </p:nvSpPr>
          <p:spPr bwMode="auto">
            <a:xfrm>
              <a:off x="1392" y="1144"/>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sz="1600" b="1">
                  <a:latin typeface="Times New Roman" pitchFamily="18" charset="0"/>
                  <a:sym typeface="Times New Roman" pitchFamily="18" charset="0"/>
                </a:rPr>
                <a:t>1</a:t>
              </a:r>
              <a:endParaRPr lang="zh-CN" altLang="en-US"/>
            </a:p>
          </p:txBody>
        </p:sp>
      </p:grpSp>
      <p:sp>
        <p:nvSpPr>
          <p:cNvPr id="60425" name="Rectangle 38"/>
          <p:cNvSpPr>
            <a:spLocks noChangeArrowheads="1"/>
          </p:cNvSpPr>
          <p:nvPr/>
        </p:nvSpPr>
        <p:spPr bwMode="auto">
          <a:xfrm>
            <a:off x="2149475" y="5591175"/>
            <a:ext cx="443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400" b="1">
                <a:solidFill>
                  <a:srgbClr val="000000"/>
                </a:solidFill>
                <a:latin typeface="Times New Roman" pitchFamily="18" charset="0"/>
                <a:sym typeface="Times New Roman" pitchFamily="18" charset="0"/>
              </a:rPr>
              <a:t>电涡流密度</a:t>
            </a:r>
            <a:r>
              <a:rPr lang="en-US" sz="2400" b="1" i="1">
                <a:solidFill>
                  <a:srgbClr val="000000"/>
                </a:solidFill>
                <a:latin typeface="Times New Roman" pitchFamily="18" charset="0"/>
                <a:sym typeface="Times New Roman" pitchFamily="18" charset="0"/>
              </a:rPr>
              <a:t>J</a:t>
            </a:r>
            <a:r>
              <a:rPr lang="zh-CN" altLang="en-US" sz="2400" b="1">
                <a:solidFill>
                  <a:srgbClr val="000000"/>
                </a:solidFill>
                <a:latin typeface="Times New Roman" pitchFamily="18" charset="0"/>
                <a:sym typeface="Times New Roman" pitchFamily="18" charset="0"/>
              </a:rPr>
              <a:t>与半径</a:t>
            </a:r>
            <a:r>
              <a:rPr lang="en-US" sz="2400" b="1" i="1">
                <a:solidFill>
                  <a:srgbClr val="000000"/>
                </a:solidFill>
                <a:latin typeface="Times New Roman" pitchFamily="18" charset="0"/>
                <a:sym typeface="Times New Roman" pitchFamily="18" charset="0"/>
              </a:rPr>
              <a:t>r</a:t>
            </a:r>
            <a:r>
              <a:rPr lang="zh-CN" altLang="en-US" sz="2400" b="1">
                <a:solidFill>
                  <a:srgbClr val="000000"/>
                </a:solidFill>
                <a:latin typeface="Times New Roman" pitchFamily="18" charset="0"/>
                <a:sym typeface="Times New Roman" pitchFamily="18" charset="0"/>
              </a:rPr>
              <a:t>的关系曲线</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0421"/>
                                        </p:tgtEl>
                                        <p:attrNameLst>
                                          <p:attrName>style.visibility</p:attrName>
                                        </p:attrNameLst>
                                      </p:cBhvr>
                                      <p:to>
                                        <p:strVal val="visible"/>
                                      </p:to>
                                    </p:set>
                                    <p:animEffect>
                                      <p:cBhvr>
                                        <p:cTn id="7" dur="500"/>
                                        <p:tgtEl>
                                          <p:spTgt spid="60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0425"/>
                                        </p:tgtEl>
                                        <p:attrNameLst>
                                          <p:attrName>style.visibility</p:attrName>
                                        </p:attrNameLst>
                                      </p:cBhvr>
                                      <p:to>
                                        <p:strVal val="visible"/>
                                      </p:to>
                                    </p:set>
                                    <p:animEffect>
                                      <p:cBhvr>
                                        <p:cTn id="12" dur="500"/>
                                        <p:tgtEl>
                                          <p:spTgt spid="60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bldLvl="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A7CD1C1B-70C6-41AE-8788-AFBE70CF3BD5}" type="slidenum">
              <a:rPr lang="zh-CN" altLang="en-US"/>
              <a:pPr/>
              <a:t>58</a:t>
            </a:fld>
            <a:endParaRPr lang="zh-CN" altLang="en-US" sz="1800">
              <a:solidFill>
                <a:schemeClr val="tx1"/>
              </a:solidFill>
              <a:latin typeface="Arial" pitchFamily="34" charset="0"/>
            </a:endParaRPr>
          </a:p>
        </p:txBody>
      </p:sp>
      <p:sp>
        <p:nvSpPr>
          <p:cNvPr id="6144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1443" name="Rectangle 2"/>
          <p:cNvSpPr>
            <a:spLocks noChangeArrowheads="1"/>
          </p:cNvSpPr>
          <p:nvPr/>
        </p:nvSpPr>
        <p:spPr bwMode="auto">
          <a:xfrm>
            <a:off x="0" y="346075"/>
            <a:ext cx="485140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r>
              <a:rPr lang="zh-CN" altLang="en-US" sz="3200" dirty="0">
                <a:latin typeface="Calibri" pitchFamily="34" charset="0"/>
              </a:rPr>
              <a:t>电涡流的轴向分布：</a:t>
            </a:r>
            <a:endParaRPr lang="zh-CN" altLang="en-US" dirty="0"/>
          </a:p>
        </p:txBody>
      </p:sp>
      <p:grpSp>
        <p:nvGrpSpPr>
          <p:cNvPr id="61444" name="Group 5"/>
          <p:cNvGrpSpPr>
            <a:grpSpLocks/>
          </p:cNvGrpSpPr>
          <p:nvPr/>
        </p:nvGrpSpPr>
        <p:grpSpPr bwMode="auto">
          <a:xfrm>
            <a:off x="3944960" y="1341438"/>
            <a:ext cx="3651250" cy="3403600"/>
            <a:chOff x="0" y="0"/>
            <a:chExt cx="2300" cy="2144"/>
          </a:xfrm>
        </p:grpSpPr>
        <p:pic>
          <p:nvPicPr>
            <p:cNvPr id="61445" name="Picture 6" descr="未标题-1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300" cy="2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6" name="Rectangle 7"/>
            <p:cNvSpPr>
              <a:spLocks noChangeArrowheads="1"/>
            </p:cNvSpPr>
            <p:nvPr/>
          </p:nvSpPr>
          <p:spPr bwMode="auto">
            <a:xfrm>
              <a:off x="2007" y="1824"/>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sz="2400">
                  <a:solidFill>
                    <a:srgbClr val="000000"/>
                  </a:solidFill>
                  <a:latin typeface="Times New Roman" pitchFamily="18" charset="0"/>
                  <a:sym typeface="Times New Roman" pitchFamily="18" charset="0"/>
                </a:rPr>
                <a:t>z</a:t>
              </a:r>
              <a:endParaRPr lang="zh-CN" altLang="en-US"/>
            </a:p>
          </p:txBody>
        </p:sp>
      </p:grpSp>
      <p:pic>
        <p:nvPicPr>
          <p:cNvPr id="61447" name="Object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4574494"/>
            <a:ext cx="2706120" cy="749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8" name="Rectangle 9"/>
          <p:cNvSpPr>
            <a:spLocks noChangeArrowheads="1"/>
          </p:cNvSpPr>
          <p:nvPr/>
        </p:nvSpPr>
        <p:spPr bwMode="auto">
          <a:xfrm>
            <a:off x="1160463" y="5516563"/>
            <a:ext cx="738187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r>
              <a:rPr lang="en-US" sz="2800" i="1" dirty="0">
                <a:solidFill>
                  <a:srgbClr val="000000"/>
                </a:solidFill>
                <a:sym typeface="Calibri" pitchFamily="34" charset="0"/>
              </a:rPr>
              <a:t>h</a:t>
            </a:r>
            <a:r>
              <a:rPr lang="zh-CN" altLang="en-US" sz="2800" dirty="0">
                <a:solidFill>
                  <a:srgbClr val="000000"/>
                </a:solidFill>
                <a:sym typeface="宋体" pitchFamily="2" charset="-122"/>
              </a:rPr>
              <a:t>：趋肤深度；</a:t>
            </a:r>
            <a:r>
              <a:rPr lang="en-US" sz="2800" i="1" dirty="0">
                <a:solidFill>
                  <a:srgbClr val="000000"/>
                </a:solidFill>
                <a:sym typeface="Calibri" pitchFamily="34" charset="0"/>
              </a:rPr>
              <a:t>z</a:t>
            </a:r>
            <a:r>
              <a:rPr lang="en-US" sz="2800" dirty="0">
                <a:solidFill>
                  <a:srgbClr val="000000"/>
                </a:solidFill>
                <a:sym typeface="Calibri" pitchFamily="34" charset="0"/>
              </a:rPr>
              <a:t>: </a:t>
            </a:r>
            <a:r>
              <a:rPr lang="zh-CN" altLang="en-US" sz="2800" dirty="0">
                <a:solidFill>
                  <a:srgbClr val="000000"/>
                </a:solidFill>
                <a:sym typeface="宋体" pitchFamily="2" charset="-122"/>
              </a:rPr>
              <a:t>金属中某点与表面的距离</a:t>
            </a:r>
            <a:endParaRPr lang="zh-CN" altLang="en-US" dirty="0"/>
          </a:p>
        </p:txBody>
      </p:sp>
      <p:sp>
        <p:nvSpPr>
          <p:cNvPr id="2" name="矩形 1">
            <a:extLst>
              <a:ext uri="{FF2B5EF4-FFF2-40B4-BE49-F238E27FC236}">
                <a16:creationId xmlns:a16="http://schemas.microsoft.com/office/drawing/2014/main" id="{1B2CE594-4C5A-41BF-B9DF-387CC0E7ABCC}"/>
              </a:ext>
            </a:extLst>
          </p:cNvPr>
          <p:cNvSpPr/>
          <p:nvPr/>
        </p:nvSpPr>
        <p:spPr>
          <a:xfrm>
            <a:off x="6180438" y="2277707"/>
            <a:ext cx="1415772" cy="461665"/>
          </a:xfrm>
          <a:prstGeom prst="rect">
            <a:avLst/>
          </a:prstGeom>
        </p:spPr>
        <p:txBody>
          <a:bodyPr wrap="none">
            <a:spAutoFit/>
          </a:bodyPr>
          <a:lstStyle/>
          <a:p>
            <a:r>
              <a:rPr lang="zh-CN" altLang="en-US" sz="2400" dirty="0">
                <a:solidFill>
                  <a:srgbClr val="1EA2EE"/>
                </a:solidFill>
                <a:sym typeface="宋体" pitchFamily="2" charset="-122"/>
              </a:rPr>
              <a:t>趋肤效应</a:t>
            </a:r>
            <a:endParaRPr lang="zh-CN" altLang="en-US" sz="2400" dirty="0">
              <a:solidFill>
                <a:srgbClr val="1EA2EE"/>
              </a:solidFill>
            </a:endParaRPr>
          </a:p>
        </p:txBody>
      </p:sp>
      <p:sp>
        <p:nvSpPr>
          <p:cNvPr id="12" name="Text Box 39">
            <a:extLst>
              <a:ext uri="{FF2B5EF4-FFF2-40B4-BE49-F238E27FC236}">
                <a16:creationId xmlns:a16="http://schemas.microsoft.com/office/drawing/2014/main" id="{AEF36CBD-B417-4FC4-BCA3-C3740135B022}"/>
              </a:ext>
            </a:extLst>
          </p:cNvPr>
          <p:cNvSpPr>
            <a:spLocks noChangeArrowheads="1"/>
          </p:cNvSpPr>
          <p:nvPr/>
        </p:nvSpPr>
        <p:spPr bwMode="auto">
          <a:xfrm>
            <a:off x="467715" y="1297897"/>
            <a:ext cx="4257675" cy="110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40000"/>
              </a:lnSpc>
              <a:spcBef>
                <a:spcPct val="10000"/>
              </a:spcBef>
            </a:pPr>
            <a:r>
              <a:rPr lang="zh-CN" altLang="en-US" sz="2400" dirty="0">
                <a:solidFill>
                  <a:schemeClr val="tx2"/>
                </a:solidFill>
                <a:latin typeface="楷体_GB2312" pitchFamily="49" charset="-122"/>
                <a:ea typeface="楷体_GB2312" pitchFamily="49" charset="-122"/>
                <a:sym typeface="楷体_GB2312" pitchFamily="49" charset="-122"/>
              </a:rPr>
              <a:t>（</a:t>
            </a:r>
            <a:r>
              <a:rPr lang="en-US" sz="2400" dirty="0">
                <a:solidFill>
                  <a:schemeClr val="tx2"/>
                </a:solidFill>
                <a:latin typeface="楷体_GB2312" pitchFamily="49" charset="-122"/>
                <a:ea typeface="楷体_GB2312" pitchFamily="49" charset="-122"/>
                <a:sym typeface="楷体_GB2312" pitchFamily="49" charset="-122"/>
              </a:rPr>
              <a:t>2</a:t>
            </a:r>
            <a:r>
              <a:rPr lang="zh-CN" altLang="en-US" sz="2400" dirty="0">
                <a:solidFill>
                  <a:schemeClr val="tx2"/>
                </a:solidFill>
                <a:latin typeface="楷体_GB2312" pitchFamily="49" charset="-122"/>
                <a:ea typeface="楷体_GB2312" pitchFamily="49" charset="-122"/>
                <a:sym typeface="楷体_GB2312" pitchFamily="49" charset="-122"/>
              </a:rPr>
              <a:t>）电涡流的分布</a:t>
            </a:r>
          </a:p>
          <a:p>
            <a:pPr eaLnBrk="1" hangingPunct="1">
              <a:lnSpc>
                <a:spcPct val="140000"/>
              </a:lnSpc>
              <a:spcBef>
                <a:spcPct val="10000"/>
              </a:spcBef>
            </a:pPr>
            <a:r>
              <a:rPr lang="zh-CN" altLang="en-US" sz="2400" dirty="0">
                <a:latin typeface="楷体_GB2312" pitchFamily="49" charset="-122"/>
                <a:ea typeface="楷体_GB2312" pitchFamily="49" charset="-122"/>
                <a:sym typeface="楷体_GB2312" pitchFamily="49" charset="-122"/>
              </a:rPr>
              <a:t>轴向分布：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444"/>
                                        </p:tgtEl>
                                        <p:attrNameLst>
                                          <p:attrName>style.visibility</p:attrName>
                                        </p:attrNameLst>
                                      </p:cBhvr>
                                      <p:to>
                                        <p:strVal val="visible"/>
                                      </p:to>
                                    </p:set>
                                    <p:animEffect>
                                      <p:cBhvr>
                                        <p:cTn id="7" dur="500"/>
                                        <p:tgtEl>
                                          <p:spTgt spid="614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61447"/>
                                        </p:tgtEl>
                                        <p:attrNameLst>
                                          <p:attrName>style.visibility</p:attrName>
                                        </p:attrNameLst>
                                      </p:cBhvr>
                                      <p:to>
                                        <p:strVal val="visible"/>
                                      </p:to>
                                    </p:set>
                                    <p:animEffect>
                                      <p:cBhvr>
                                        <p:cTn id="12" dur="500"/>
                                        <p:tgtEl>
                                          <p:spTgt spid="61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9A81AA36-DAA6-4518-97F7-BB572A75690F}" type="slidenum">
              <a:rPr lang="zh-CN" altLang="en-US"/>
              <a:pPr/>
              <a:t>59</a:t>
            </a:fld>
            <a:endParaRPr lang="zh-CN" altLang="en-US" sz="1800">
              <a:solidFill>
                <a:schemeClr val="tx1"/>
              </a:solidFill>
              <a:latin typeface="Arial" pitchFamily="34" charset="0"/>
            </a:endParaRPr>
          </a:p>
        </p:txBody>
      </p:sp>
      <p:sp>
        <p:nvSpPr>
          <p:cNvPr id="6246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2467" name="Text Box 2"/>
          <p:cNvSpPr>
            <a:spLocks noChangeArrowheads="1"/>
          </p:cNvSpPr>
          <p:nvPr/>
        </p:nvSpPr>
        <p:spPr bwMode="auto">
          <a:xfrm>
            <a:off x="395288" y="2060575"/>
            <a:ext cx="3627437"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zh-CN" altLang="en-US" sz="2400" dirty="0">
                <a:latin typeface="楷体_GB2312" pitchFamily="49" charset="-122"/>
                <a:ea typeface="楷体_GB2312" pitchFamily="49" charset="-122"/>
                <a:sym typeface="楷体_GB2312" pitchFamily="49" charset="-122"/>
              </a:rPr>
              <a:t>涡流的分布特性可以化为</a:t>
            </a:r>
          </a:p>
          <a:p>
            <a:pPr eaLnBrk="1" hangingPunct="1">
              <a:lnSpc>
                <a:spcPct val="150000"/>
              </a:lnSpc>
            </a:pPr>
            <a:r>
              <a:rPr lang="zh-CN" altLang="en-US" sz="2400" dirty="0">
                <a:latin typeface="楷体_GB2312" pitchFamily="49" charset="-122"/>
                <a:ea typeface="楷体_GB2312" pitchFamily="49" charset="-122"/>
                <a:sym typeface="楷体_GB2312" pitchFamily="49" charset="-122"/>
              </a:rPr>
              <a:t>一个</a:t>
            </a:r>
            <a:r>
              <a:rPr lang="zh-CN" altLang="en-US" sz="2400" dirty="0">
                <a:solidFill>
                  <a:srgbClr val="0000FF"/>
                </a:solidFill>
                <a:latin typeface="楷体_GB2312" pitchFamily="49" charset="-122"/>
                <a:ea typeface="楷体_GB2312" pitchFamily="49" charset="-122"/>
                <a:sym typeface="楷体_GB2312" pitchFamily="49" charset="-122"/>
              </a:rPr>
              <a:t>平均半径和厚度均一</a:t>
            </a:r>
          </a:p>
          <a:p>
            <a:pPr eaLnBrk="1" hangingPunct="1">
              <a:lnSpc>
                <a:spcPct val="150000"/>
              </a:lnSpc>
            </a:pPr>
            <a:r>
              <a:rPr lang="zh-CN" altLang="en-US" sz="2400" dirty="0">
                <a:solidFill>
                  <a:srgbClr val="0000FF"/>
                </a:solidFill>
                <a:latin typeface="楷体_GB2312" pitchFamily="49" charset="-122"/>
                <a:ea typeface="楷体_GB2312" pitchFamily="49" charset="-122"/>
                <a:sym typeface="楷体_GB2312" pitchFamily="49" charset="-122"/>
              </a:rPr>
              <a:t>定的矩形截面圆环</a:t>
            </a:r>
            <a:r>
              <a:rPr lang="zh-CN" altLang="en-US" sz="2400" dirty="0">
                <a:latin typeface="楷体_GB2312" pitchFamily="49" charset="-122"/>
                <a:ea typeface="楷体_GB2312" pitchFamily="49" charset="-122"/>
                <a:sym typeface="楷体_GB2312" pitchFamily="49" charset="-122"/>
              </a:rPr>
              <a:t>。此圆</a:t>
            </a:r>
          </a:p>
          <a:p>
            <a:pPr eaLnBrk="1" hangingPunct="1">
              <a:lnSpc>
                <a:spcPct val="150000"/>
              </a:lnSpc>
            </a:pPr>
            <a:r>
              <a:rPr lang="zh-CN" altLang="en-US" sz="2400" dirty="0">
                <a:latin typeface="楷体_GB2312" pitchFamily="49" charset="-122"/>
                <a:ea typeface="楷体_GB2312" pitchFamily="49" charset="-122"/>
                <a:sym typeface="楷体_GB2312" pitchFamily="49" charset="-122"/>
              </a:rPr>
              <a:t>环相当于一匝短路环，其</a:t>
            </a:r>
          </a:p>
          <a:p>
            <a:pPr eaLnBrk="1" hangingPunct="1">
              <a:lnSpc>
                <a:spcPct val="150000"/>
              </a:lnSpc>
            </a:pPr>
            <a:r>
              <a:rPr lang="zh-CN" altLang="en-US" sz="2400" dirty="0">
                <a:latin typeface="楷体_GB2312" pitchFamily="49" charset="-122"/>
                <a:ea typeface="楷体_GB2312" pitchFamily="49" charset="-122"/>
                <a:sym typeface="楷体_GB2312" pitchFamily="49" charset="-122"/>
              </a:rPr>
              <a:t>电阻等于</a:t>
            </a:r>
            <a:r>
              <a:rPr lang="en-US" sz="2400" dirty="0">
                <a:solidFill>
                  <a:srgbClr val="FF0000"/>
                </a:solidFill>
                <a:latin typeface="楷体_GB2312" pitchFamily="49" charset="-122"/>
                <a:ea typeface="楷体_GB2312" pitchFamily="49" charset="-122"/>
                <a:sym typeface="楷体_GB2312" pitchFamily="49" charset="-122"/>
              </a:rPr>
              <a:t>R</a:t>
            </a:r>
            <a:r>
              <a:rPr lang="en-US" sz="2400" baseline="-25000" dirty="0">
                <a:solidFill>
                  <a:srgbClr val="FF0000"/>
                </a:solidFill>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，电感等于</a:t>
            </a:r>
            <a:r>
              <a:rPr lang="en-US" sz="2400" dirty="0">
                <a:solidFill>
                  <a:srgbClr val="FF0000"/>
                </a:solidFill>
                <a:latin typeface="楷体_GB2312" pitchFamily="49" charset="-122"/>
                <a:ea typeface="楷体_GB2312" pitchFamily="49" charset="-122"/>
                <a:sym typeface="楷体_GB2312" pitchFamily="49" charset="-122"/>
              </a:rPr>
              <a:t>L</a:t>
            </a:r>
            <a:r>
              <a:rPr lang="en-US" sz="2400" baseline="-25000" dirty="0">
                <a:solidFill>
                  <a:srgbClr val="FF0000"/>
                </a:solidFill>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，互感为</a:t>
            </a:r>
            <a:r>
              <a:rPr lang="en-US" sz="2400" dirty="0">
                <a:solidFill>
                  <a:srgbClr val="FF0000"/>
                </a:solidFill>
                <a:latin typeface="楷体_GB2312" pitchFamily="49" charset="-122"/>
                <a:ea typeface="楷体_GB2312" pitchFamily="49" charset="-122"/>
                <a:sym typeface="楷体_GB2312" pitchFamily="49" charset="-122"/>
              </a:rPr>
              <a:t>M</a:t>
            </a:r>
            <a:r>
              <a:rPr lang="zh-CN" altLang="en-US" sz="2400" dirty="0">
                <a:latin typeface="楷体_GB2312" pitchFamily="49" charset="-122"/>
                <a:ea typeface="楷体_GB2312" pitchFamily="49" charset="-122"/>
                <a:sym typeface="楷体_GB2312" pitchFamily="49" charset="-122"/>
              </a:rPr>
              <a:t>。</a:t>
            </a:r>
            <a:endParaRPr lang="zh-CN" altLang="en-US" dirty="0"/>
          </a:p>
        </p:txBody>
      </p:sp>
      <p:pic>
        <p:nvPicPr>
          <p:cNvPr id="62468" name="Picture 16" descr="4-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6100" y="1341438"/>
            <a:ext cx="4225925" cy="426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fld id="{7970462F-2215-43C8-A798-0FB01B46FFAB}" type="slidenum">
              <a:rPr lang="zh-CN" altLang="en-US"/>
              <a:pPr/>
              <a:t>60</a:t>
            </a:fld>
            <a:endParaRPr lang="zh-CN" altLang="en-US" sz="1800">
              <a:solidFill>
                <a:schemeClr val="tx1"/>
              </a:solidFill>
              <a:latin typeface="Arial" pitchFamily="34" charset="0"/>
            </a:endParaRPr>
          </a:p>
        </p:txBody>
      </p:sp>
      <p:sp>
        <p:nvSpPr>
          <p:cNvPr id="6349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3491"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2. 2 </a:t>
            </a:r>
            <a:r>
              <a:rPr lang="zh-CN" altLang="en-US" sz="3200" b="1">
                <a:solidFill>
                  <a:schemeClr val="tx2"/>
                </a:solidFill>
                <a:latin typeface="Calibri" pitchFamily="34" charset="0"/>
              </a:rPr>
              <a:t>等效电路</a:t>
            </a:r>
            <a:endParaRPr lang="zh-CN" altLang="en-US"/>
          </a:p>
        </p:txBody>
      </p:sp>
      <p:grpSp>
        <p:nvGrpSpPr>
          <p:cNvPr id="63492" name="Group 25"/>
          <p:cNvGrpSpPr>
            <a:grpSpLocks/>
          </p:cNvGrpSpPr>
          <p:nvPr/>
        </p:nvGrpSpPr>
        <p:grpSpPr bwMode="auto">
          <a:xfrm>
            <a:off x="5292050" y="1046163"/>
            <a:ext cx="3627437" cy="2797175"/>
            <a:chOff x="0" y="0"/>
            <a:chExt cx="2285" cy="1762"/>
          </a:xfrm>
        </p:grpSpPr>
        <p:pic>
          <p:nvPicPr>
            <p:cNvPr id="63493" name="Picture 2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 y="0"/>
              <a:ext cx="2052"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4" name="Text Box 27"/>
            <p:cNvSpPr>
              <a:spLocks noChangeArrowheads="1"/>
            </p:cNvSpPr>
            <p:nvPr/>
          </p:nvSpPr>
          <p:spPr bwMode="auto">
            <a:xfrm>
              <a:off x="0" y="1531"/>
              <a:ext cx="22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a:latin typeface="楷体_GB2312" pitchFamily="49" charset="-122"/>
                  <a:ea typeface="楷体_GB2312" pitchFamily="49" charset="-122"/>
                  <a:sym typeface="楷体_GB2312" pitchFamily="49" charset="-122"/>
                </a:rPr>
                <a:t>图</a:t>
              </a:r>
              <a:r>
                <a:rPr lang="en-US">
                  <a:latin typeface="楷体_GB2312" pitchFamily="49" charset="-122"/>
                  <a:ea typeface="楷体_GB2312" pitchFamily="49" charset="-122"/>
                  <a:sym typeface="楷体_GB2312" pitchFamily="49" charset="-122"/>
                </a:rPr>
                <a:t>4-35 </a:t>
              </a:r>
              <a:r>
                <a:rPr lang="zh-CN" altLang="en-US">
                  <a:latin typeface="楷体_GB2312" pitchFamily="49" charset="-122"/>
                  <a:ea typeface="楷体_GB2312" pitchFamily="49" charset="-122"/>
                  <a:sym typeface="楷体_GB2312" pitchFamily="49" charset="-122"/>
                </a:rPr>
                <a:t>电涡流传感器的等效电路</a:t>
              </a:r>
              <a:endParaRPr lang="zh-CN" altLang="en-US"/>
            </a:p>
          </p:txBody>
        </p:sp>
      </p:grpSp>
      <p:sp>
        <p:nvSpPr>
          <p:cNvPr id="63495" name="Text Box 29"/>
          <p:cNvSpPr>
            <a:spLocks noChangeArrowheads="1"/>
          </p:cNvSpPr>
          <p:nvPr/>
        </p:nvSpPr>
        <p:spPr bwMode="auto">
          <a:xfrm>
            <a:off x="214314" y="1279525"/>
            <a:ext cx="4591050" cy="166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spcBef>
                <a:spcPct val="50000"/>
              </a:spcBef>
              <a:buFont typeface="Arial" panose="020B0604020202020204" pitchFamily="34" charset="0"/>
              <a:buChar char="•"/>
            </a:pPr>
            <a:r>
              <a:rPr lang="en-US" sz="2400" dirty="0">
                <a:latin typeface="Times New Roman" pitchFamily="18" charset="0"/>
                <a:ea typeface="楷体_GB2312" pitchFamily="49" charset="-122"/>
                <a:sym typeface="Times New Roman" pitchFamily="18" charset="0"/>
              </a:rPr>
              <a:t> </a:t>
            </a:r>
            <a:r>
              <a:rPr lang="zh-CN" altLang="en-US" sz="2400" dirty="0">
                <a:latin typeface="Times New Roman" pitchFamily="18" charset="0"/>
                <a:ea typeface="楷体_GB2312" pitchFamily="49" charset="-122"/>
                <a:sym typeface="Times New Roman" pitchFamily="18" charset="0"/>
              </a:rPr>
              <a:t>金属导体形象地看做一个短路线圈，与传感器线圈有磁耦合。</a:t>
            </a:r>
            <a:endParaRPr lang="en-US" altLang="zh-CN" sz="2400" dirty="0">
              <a:latin typeface="Times New Roman" pitchFamily="18" charset="0"/>
              <a:ea typeface="楷体_GB2312" pitchFamily="49" charset="-122"/>
              <a:sym typeface="Times New Roman" pitchFamily="18" charset="0"/>
            </a:endParaRPr>
          </a:p>
          <a:p>
            <a:pPr marL="342900" indent="-342900" eaLnBrk="1" hangingPunct="1">
              <a:lnSpc>
                <a:spcPct val="130000"/>
              </a:lnSpc>
              <a:spcBef>
                <a:spcPct val="50000"/>
              </a:spcBef>
              <a:buFont typeface="Arial" panose="020B0604020202020204" pitchFamily="34" charset="0"/>
              <a:buChar char="•"/>
            </a:pPr>
            <a:r>
              <a:rPr lang="zh-CN" altLang="en-US" sz="2400" dirty="0">
                <a:solidFill>
                  <a:srgbClr val="0000FF"/>
                </a:solidFill>
                <a:latin typeface="Times New Roman" pitchFamily="18" charset="0"/>
                <a:ea typeface="楷体_GB2312" pitchFamily="49" charset="-122"/>
                <a:sym typeface="Times New Roman" pitchFamily="18" charset="0"/>
              </a:rPr>
              <a:t>（变压器？）</a:t>
            </a:r>
            <a:endParaRPr lang="zh-CN" altLang="en-US" dirty="0">
              <a:solidFill>
                <a:srgbClr val="0000FF"/>
              </a:solidFill>
            </a:endParaRPr>
          </a:p>
        </p:txBody>
      </p:sp>
      <p:sp>
        <p:nvSpPr>
          <p:cNvPr id="63496" name="Rectangle 30"/>
          <p:cNvSpPr>
            <a:spLocks noChangeArrowheads="1"/>
          </p:cNvSpPr>
          <p:nvPr/>
        </p:nvSpPr>
        <p:spPr bwMode="auto">
          <a:xfrm>
            <a:off x="5292050" y="4093415"/>
            <a:ext cx="3752512"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30000"/>
              </a:lnSpc>
            </a:pPr>
            <a:r>
              <a:rPr lang="en-US" sz="2400" dirty="0">
                <a:solidFill>
                  <a:srgbClr val="000000"/>
                </a:solidFill>
                <a:latin typeface="Times New Roman" pitchFamily="18" charset="0"/>
                <a:ea typeface="楷体_GB2312" pitchFamily="49" charset="-122"/>
                <a:sym typeface="Times New Roman" pitchFamily="18" charset="0"/>
              </a:rPr>
              <a:t> </a:t>
            </a:r>
            <a:r>
              <a:rPr lang="en-US" sz="2400" i="1" dirty="0">
                <a:solidFill>
                  <a:srgbClr val="000000"/>
                </a:solidFill>
                <a:latin typeface="Times New Roman" pitchFamily="18" charset="0"/>
                <a:ea typeface="楷体_GB2312" pitchFamily="49" charset="-122"/>
                <a:sym typeface="Times New Roman" pitchFamily="18" charset="0"/>
              </a:rPr>
              <a:t>R</a:t>
            </a:r>
            <a:r>
              <a:rPr lang="en-US" sz="2400" baseline="-25000" dirty="0">
                <a:solidFill>
                  <a:srgbClr val="000000"/>
                </a:solidFill>
                <a:latin typeface="Times New Roman" pitchFamily="18" charset="0"/>
                <a:ea typeface="楷体_GB2312" pitchFamily="49" charset="-122"/>
                <a:sym typeface="Times New Roman" pitchFamily="18" charset="0"/>
              </a:rPr>
              <a:t>1</a:t>
            </a:r>
            <a:r>
              <a:rPr lang="zh-CN" altLang="en-US" sz="2400" dirty="0">
                <a:solidFill>
                  <a:srgbClr val="000000"/>
                </a:solidFill>
                <a:latin typeface="Times New Roman" pitchFamily="18" charset="0"/>
                <a:ea typeface="楷体_GB2312" pitchFamily="49" charset="-122"/>
                <a:sym typeface="Times New Roman" pitchFamily="18" charset="0"/>
              </a:rPr>
              <a:t>和</a:t>
            </a:r>
            <a:r>
              <a:rPr lang="en-US" sz="2400" i="1" dirty="0">
                <a:solidFill>
                  <a:srgbClr val="000000"/>
                </a:solidFill>
                <a:latin typeface="Times New Roman" pitchFamily="18" charset="0"/>
                <a:ea typeface="楷体_GB2312" pitchFamily="49" charset="-122"/>
                <a:sym typeface="Times New Roman" pitchFamily="18" charset="0"/>
              </a:rPr>
              <a:t>L</a:t>
            </a:r>
            <a:r>
              <a:rPr lang="en-US" sz="2400" baseline="-25000" dirty="0">
                <a:solidFill>
                  <a:srgbClr val="000000"/>
                </a:solidFill>
                <a:latin typeface="Times New Roman" pitchFamily="18" charset="0"/>
                <a:ea typeface="楷体_GB2312" pitchFamily="49" charset="-122"/>
                <a:sym typeface="Times New Roman" pitchFamily="18" charset="0"/>
              </a:rPr>
              <a:t>1</a:t>
            </a:r>
            <a:r>
              <a:rPr lang="zh-CN" altLang="en-US" sz="2400" dirty="0">
                <a:solidFill>
                  <a:srgbClr val="000000"/>
                </a:solidFill>
                <a:latin typeface="Times New Roman" pitchFamily="18" charset="0"/>
                <a:ea typeface="楷体_GB2312" pitchFamily="49" charset="-122"/>
                <a:sym typeface="Times New Roman" pitchFamily="18" charset="0"/>
              </a:rPr>
              <a:t>为传感器线圈的电阻和电感，</a:t>
            </a:r>
            <a:r>
              <a:rPr lang="en-US" sz="2400" i="1" dirty="0">
                <a:solidFill>
                  <a:srgbClr val="000000"/>
                </a:solidFill>
                <a:latin typeface="Times New Roman" pitchFamily="18" charset="0"/>
                <a:ea typeface="楷体_GB2312" pitchFamily="49" charset="-122"/>
                <a:sym typeface="Times New Roman" pitchFamily="18" charset="0"/>
              </a:rPr>
              <a:t>R</a:t>
            </a:r>
            <a:r>
              <a:rPr lang="en-US" sz="2400" baseline="-25000" dirty="0">
                <a:solidFill>
                  <a:srgbClr val="000000"/>
                </a:solidFill>
                <a:latin typeface="Times New Roman" pitchFamily="18" charset="0"/>
                <a:ea typeface="楷体_GB2312" pitchFamily="49" charset="-122"/>
                <a:sym typeface="Times New Roman" pitchFamily="18" charset="0"/>
              </a:rPr>
              <a:t>2</a:t>
            </a:r>
            <a:r>
              <a:rPr lang="zh-CN" altLang="en-US" sz="2400" dirty="0">
                <a:solidFill>
                  <a:srgbClr val="000000"/>
                </a:solidFill>
                <a:latin typeface="Times New Roman" pitchFamily="18" charset="0"/>
                <a:ea typeface="楷体_GB2312" pitchFamily="49" charset="-122"/>
                <a:sym typeface="Times New Roman" pitchFamily="18" charset="0"/>
              </a:rPr>
              <a:t>和</a:t>
            </a:r>
            <a:r>
              <a:rPr lang="en-US" sz="2400" i="1" dirty="0">
                <a:solidFill>
                  <a:srgbClr val="000000"/>
                </a:solidFill>
                <a:latin typeface="Times New Roman" pitchFamily="18" charset="0"/>
                <a:ea typeface="楷体_GB2312" pitchFamily="49" charset="-122"/>
                <a:sym typeface="Times New Roman" pitchFamily="18" charset="0"/>
              </a:rPr>
              <a:t>L</a:t>
            </a:r>
            <a:r>
              <a:rPr lang="en-US" sz="2400" baseline="-25000" dirty="0">
                <a:solidFill>
                  <a:srgbClr val="000000"/>
                </a:solidFill>
                <a:latin typeface="Times New Roman" pitchFamily="18" charset="0"/>
                <a:ea typeface="楷体_GB2312" pitchFamily="49" charset="-122"/>
                <a:sym typeface="Times New Roman" pitchFamily="18" charset="0"/>
              </a:rPr>
              <a:t>2</a:t>
            </a:r>
            <a:r>
              <a:rPr lang="zh-CN" altLang="en-US" sz="2400" dirty="0">
                <a:solidFill>
                  <a:srgbClr val="000000"/>
                </a:solidFill>
                <a:latin typeface="Times New Roman" pitchFamily="18" charset="0"/>
                <a:ea typeface="楷体_GB2312" pitchFamily="49" charset="-122"/>
                <a:sym typeface="Times New Roman" pitchFamily="18" charset="0"/>
              </a:rPr>
              <a:t>为金属导体的电阻和电感，</a:t>
            </a:r>
            <a:r>
              <a:rPr lang="en-US" sz="2400" i="1" dirty="0">
                <a:solidFill>
                  <a:srgbClr val="000000"/>
                </a:solidFill>
                <a:latin typeface="Times New Roman" pitchFamily="18" charset="0"/>
                <a:ea typeface="楷体_GB2312" pitchFamily="49" charset="-122"/>
                <a:sym typeface="Times New Roman" pitchFamily="18" charset="0"/>
              </a:rPr>
              <a:t>E</a:t>
            </a:r>
            <a:r>
              <a:rPr lang="zh-CN" altLang="en-US" sz="2400" dirty="0">
                <a:solidFill>
                  <a:srgbClr val="000000"/>
                </a:solidFill>
                <a:latin typeface="Times New Roman" pitchFamily="18" charset="0"/>
                <a:ea typeface="楷体_GB2312" pitchFamily="49" charset="-122"/>
                <a:sym typeface="Times New Roman" pitchFamily="18" charset="0"/>
              </a:rPr>
              <a:t>为激励电压。</a:t>
            </a:r>
            <a:endParaRPr lang="zh-CN" altLang="en-US" dirty="0"/>
          </a:p>
        </p:txBody>
      </p:sp>
      <p:sp>
        <p:nvSpPr>
          <p:cNvPr id="63497" name="Text Box 31"/>
          <p:cNvSpPr>
            <a:spLocks noChangeArrowheads="1"/>
          </p:cNvSpPr>
          <p:nvPr/>
        </p:nvSpPr>
        <p:spPr bwMode="auto">
          <a:xfrm>
            <a:off x="283671" y="3474453"/>
            <a:ext cx="45910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spcBef>
                <a:spcPct val="50000"/>
              </a:spcBef>
            </a:pPr>
            <a:r>
              <a:rPr lang="en-US" sz="2400" dirty="0">
                <a:ea typeface="楷体_GB2312" pitchFamily="49" charset="-122"/>
                <a:sym typeface="Arial" pitchFamily="34" charset="0"/>
              </a:rPr>
              <a:t>     </a:t>
            </a:r>
            <a:r>
              <a:rPr lang="zh-CN" altLang="en-US" sz="2400" dirty="0">
                <a:ea typeface="楷体_GB2312" pitchFamily="49" charset="-122"/>
                <a:sym typeface="Arial" pitchFamily="34" charset="0"/>
              </a:rPr>
              <a:t>根据克希荷夫定律及所设电流正方向，写出方程</a:t>
            </a:r>
            <a:endParaRPr lang="zh-CN" altLang="en-US" dirty="0"/>
          </a:p>
        </p:txBody>
      </p:sp>
      <p:pic>
        <p:nvPicPr>
          <p:cNvPr id="63498" name="Object 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087" y="4753335"/>
            <a:ext cx="4706938"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 4">
            <a:extLst>
              <a:ext uri="{FF2B5EF4-FFF2-40B4-BE49-F238E27FC236}">
                <a16:creationId xmlns:a16="http://schemas.microsoft.com/office/drawing/2014/main" id="{71B27286-77C6-479E-A63B-EDB670A6FBD0}"/>
              </a:ext>
            </a:extLst>
          </p:cNvPr>
          <p:cNvSpPr/>
          <p:nvPr/>
        </p:nvSpPr>
        <p:spPr bwMode="auto">
          <a:xfrm>
            <a:off x="2267840" y="4753335"/>
            <a:ext cx="1584110" cy="745827"/>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3495">
                                            <p:txEl>
                                              <p:pRg st="1" end="1"/>
                                            </p:txEl>
                                          </p:spTgt>
                                        </p:tgtEl>
                                        <p:attrNameLst>
                                          <p:attrName>style.visibility</p:attrName>
                                        </p:attrNameLst>
                                      </p:cBhvr>
                                      <p:to>
                                        <p:strVal val="visible"/>
                                      </p:to>
                                    </p:set>
                                    <p:animEffect transition="in" filter="fade">
                                      <p:cBhvr>
                                        <p:cTn id="7" dur="1000"/>
                                        <p:tgtEl>
                                          <p:spTgt spid="63495">
                                            <p:txEl>
                                              <p:pRg st="1" end="1"/>
                                            </p:txEl>
                                          </p:spTgt>
                                        </p:tgtEl>
                                      </p:cBhvr>
                                    </p:animEffect>
                                    <p:anim calcmode="lin" valueType="num">
                                      <p:cBhvr>
                                        <p:cTn id="8" dur="1000" fill="hold"/>
                                        <p:tgtEl>
                                          <p:spTgt spid="6349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34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63498"/>
                                        </p:tgtEl>
                                        <p:attrNameLst>
                                          <p:attrName>style.visibility</p:attrName>
                                        </p:attrNameLst>
                                      </p:cBhvr>
                                      <p:to>
                                        <p:strVal val="visible"/>
                                      </p:to>
                                    </p:set>
                                    <p:animEffect>
                                      <p:cBhvr>
                                        <p:cTn id="14" dur="500"/>
                                        <p:tgtEl>
                                          <p:spTgt spid="63498"/>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63497"/>
                                        </p:tgtEl>
                                        <p:attrNameLst>
                                          <p:attrName>style.visibility</p:attrName>
                                        </p:attrNameLst>
                                      </p:cBhvr>
                                      <p:to>
                                        <p:strVal val="visible"/>
                                      </p:to>
                                    </p:set>
                                    <p:animEffect>
                                      <p:cBhvr>
                                        <p:cTn id="17" dur="500"/>
                                        <p:tgtEl>
                                          <p:spTgt spid="6349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7" grpId="0" bldLvl="0" autoUpdateAnimBg="0"/>
      <p:bldP spid="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23718776-F2F2-4A97-9779-012CCF062915}" type="slidenum">
              <a:rPr lang="zh-CN" altLang="en-US"/>
              <a:pPr/>
              <a:t>61</a:t>
            </a:fld>
            <a:endParaRPr lang="zh-CN" altLang="en-US" sz="1800">
              <a:solidFill>
                <a:schemeClr val="tx1"/>
              </a:solidFill>
              <a:latin typeface="Arial" pitchFamily="34" charset="0"/>
            </a:endParaRPr>
          </a:p>
        </p:txBody>
      </p:sp>
      <p:sp>
        <p:nvSpPr>
          <p:cNvPr id="6451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pic>
        <p:nvPicPr>
          <p:cNvPr id="64515" name="Object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875" y="1044328"/>
            <a:ext cx="6208713"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Text Box 4"/>
          <p:cNvSpPr>
            <a:spLocks noChangeArrowheads="1"/>
          </p:cNvSpPr>
          <p:nvPr/>
        </p:nvSpPr>
        <p:spPr bwMode="auto">
          <a:xfrm>
            <a:off x="467715" y="3450200"/>
            <a:ext cx="252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ea typeface="楷体_GB2312" pitchFamily="49" charset="-122"/>
                <a:sym typeface="Arial" pitchFamily="34" charset="0"/>
              </a:rPr>
              <a:t>线圈的等效阻抗：</a:t>
            </a:r>
            <a:endParaRPr lang="zh-CN" altLang="en-US" dirty="0"/>
          </a:p>
        </p:txBody>
      </p:sp>
      <p:pic>
        <p:nvPicPr>
          <p:cNvPr id="64517" name="Object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3805" y="4077045"/>
            <a:ext cx="5491162"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Text Box 6"/>
          <p:cNvSpPr>
            <a:spLocks noChangeArrowheads="1"/>
          </p:cNvSpPr>
          <p:nvPr/>
        </p:nvSpPr>
        <p:spPr bwMode="auto">
          <a:xfrm>
            <a:off x="2168517" y="4996842"/>
            <a:ext cx="23400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ea typeface="楷体_GB2312" pitchFamily="49" charset="-122"/>
                <a:sym typeface="Arial" pitchFamily="34" charset="0"/>
              </a:rPr>
              <a:t>线圈的等效电阻</a:t>
            </a:r>
            <a:endParaRPr lang="zh-CN" altLang="en-US" dirty="0"/>
          </a:p>
        </p:txBody>
      </p:sp>
      <p:sp>
        <p:nvSpPr>
          <p:cNvPr id="64520"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2. 2 </a:t>
            </a:r>
            <a:r>
              <a:rPr lang="zh-CN" altLang="en-US" sz="3200" b="1">
                <a:solidFill>
                  <a:schemeClr val="tx2"/>
                </a:solidFill>
                <a:latin typeface="Calibri" pitchFamily="34" charset="0"/>
              </a:rPr>
              <a:t>等效电路</a:t>
            </a:r>
            <a:endParaRPr lang="zh-CN" altLang="en-US"/>
          </a:p>
        </p:txBody>
      </p:sp>
      <p:pic>
        <p:nvPicPr>
          <p:cNvPr id="10" name="Picture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83549" y="1240342"/>
            <a:ext cx="2672847" cy="1985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6">
            <a:extLst>
              <a:ext uri="{FF2B5EF4-FFF2-40B4-BE49-F238E27FC236}">
                <a16:creationId xmlns:a16="http://schemas.microsoft.com/office/drawing/2014/main" id="{AC7EDC40-ACCA-4FED-A820-64C66C5A8518}"/>
              </a:ext>
            </a:extLst>
          </p:cNvPr>
          <p:cNvSpPr>
            <a:spLocks noChangeArrowheads="1"/>
          </p:cNvSpPr>
          <p:nvPr/>
        </p:nvSpPr>
        <p:spPr bwMode="auto">
          <a:xfrm>
            <a:off x="4897617" y="5049547"/>
            <a:ext cx="234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ea typeface="楷体_GB2312" pitchFamily="49" charset="-122"/>
                <a:sym typeface="Arial" pitchFamily="34" charset="0"/>
              </a:rPr>
              <a:t>线圈的等效电感：</a:t>
            </a:r>
            <a:endParaRPr lang="zh-CN" altLang="en-US" dirty="0"/>
          </a:p>
        </p:txBody>
      </p:sp>
      <p:cxnSp>
        <p:nvCxnSpPr>
          <p:cNvPr id="3" name="直接连接符 2">
            <a:extLst>
              <a:ext uri="{FF2B5EF4-FFF2-40B4-BE49-F238E27FC236}">
                <a16:creationId xmlns:a16="http://schemas.microsoft.com/office/drawing/2014/main" id="{C9FA35F5-480D-41CB-B234-A4B23BBE10B9}"/>
              </a:ext>
            </a:extLst>
          </p:cNvPr>
          <p:cNvCxnSpPr/>
          <p:nvPr/>
        </p:nvCxnSpPr>
        <p:spPr bwMode="auto">
          <a:xfrm>
            <a:off x="2276437" y="4923872"/>
            <a:ext cx="1946405"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04FB1ACA-511F-47BF-BE34-38E6104BA3F1}"/>
              </a:ext>
            </a:extLst>
          </p:cNvPr>
          <p:cNvCxnSpPr/>
          <p:nvPr/>
        </p:nvCxnSpPr>
        <p:spPr bwMode="auto">
          <a:xfrm>
            <a:off x="5010357" y="4923872"/>
            <a:ext cx="1946405"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5" name="Object 7">
            <a:extLst>
              <a:ext uri="{FF2B5EF4-FFF2-40B4-BE49-F238E27FC236}">
                <a16:creationId xmlns:a16="http://schemas.microsoft.com/office/drawing/2014/main" id="{AC373CA8-2CAF-495D-98C3-CBF9A42ECF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03043" y="5632421"/>
            <a:ext cx="2729222" cy="863960"/>
          </a:xfrm>
          <a:prstGeom prst="rect">
            <a:avLst/>
          </a:prstGeom>
          <a:solidFill>
            <a:schemeClr val="accent5">
              <a:lumMod val="20000"/>
              <a:lumOff val="80000"/>
            </a:schemeClr>
          </a:solidFill>
          <a:ln>
            <a:noFill/>
          </a:ln>
          <a:extLst/>
        </p:spPr>
      </p:pic>
      <p:sp>
        <p:nvSpPr>
          <p:cNvPr id="16" name="Text Box 6">
            <a:extLst>
              <a:ext uri="{FF2B5EF4-FFF2-40B4-BE49-F238E27FC236}">
                <a16:creationId xmlns:a16="http://schemas.microsoft.com/office/drawing/2014/main" id="{006A4CD7-690D-4330-AAE7-D37F974DC9CA}"/>
              </a:ext>
            </a:extLst>
          </p:cNvPr>
          <p:cNvSpPr>
            <a:spLocks noChangeArrowheads="1"/>
          </p:cNvSpPr>
          <p:nvPr/>
        </p:nvSpPr>
        <p:spPr bwMode="auto">
          <a:xfrm>
            <a:off x="557764" y="5813672"/>
            <a:ext cx="272922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solidFill>
                  <a:srgbClr val="1EA2EE"/>
                </a:solidFill>
                <a:ea typeface="楷体_GB2312" pitchFamily="49" charset="-122"/>
                <a:sym typeface="Arial" pitchFamily="34" charset="0"/>
              </a:rPr>
              <a:t>线圈的等效电阻增加，等效电感减小</a:t>
            </a:r>
            <a:endParaRPr lang="zh-CN" altLang="en-US" dirty="0">
              <a:solidFill>
                <a:srgbClr val="1EA2E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4518"/>
                                        </p:tgtEl>
                                        <p:attrNameLst>
                                          <p:attrName>style.visibility</p:attrName>
                                        </p:attrNameLst>
                                      </p:cBhvr>
                                      <p:to>
                                        <p:strVal val="visible"/>
                                      </p:to>
                                    </p:set>
                                    <p:animEffect transition="in" filter="fade">
                                      <p:cBhvr>
                                        <p:cTn id="12" dur="1000"/>
                                        <p:tgtEl>
                                          <p:spTgt spid="64518"/>
                                        </p:tgtEl>
                                      </p:cBhvr>
                                    </p:animEffect>
                                    <p:anim calcmode="lin" valueType="num">
                                      <p:cBhvr>
                                        <p:cTn id="13" dur="1000" fill="hold"/>
                                        <p:tgtEl>
                                          <p:spTgt spid="64518"/>
                                        </p:tgtEl>
                                        <p:attrNameLst>
                                          <p:attrName>ppt_x</p:attrName>
                                        </p:attrNameLst>
                                      </p:cBhvr>
                                      <p:tavLst>
                                        <p:tav tm="0">
                                          <p:val>
                                            <p:strVal val="#ppt_x"/>
                                          </p:val>
                                        </p:tav>
                                        <p:tav tm="100000">
                                          <p:val>
                                            <p:strVal val="#ppt_x"/>
                                          </p:val>
                                        </p:tav>
                                      </p:tavLst>
                                    </p:anim>
                                    <p:anim calcmode="lin" valueType="num">
                                      <p:cBhvr>
                                        <p:cTn id="14" dur="1000" fill="hold"/>
                                        <p:tgtEl>
                                          <p:spTgt spid="6451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1000"/>
                                        <p:tgtEl>
                                          <p:spTgt spid="16"/>
                                        </p:tgtEl>
                                      </p:cBhvr>
                                    </p:animEffect>
                                    <p:anim calcmode="lin" valueType="num">
                                      <p:cBhvr>
                                        <p:cTn id="34" dur="1000" fill="hold"/>
                                        <p:tgtEl>
                                          <p:spTgt spid="16"/>
                                        </p:tgtEl>
                                        <p:attrNameLst>
                                          <p:attrName>ppt_x</p:attrName>
                                        </p:attrNameLst>
                                      </p:cBhvr>
                                      <p:tavLst>
                                        <p:tav tm="0">
                                          <p:val>
                                            <p:strVal val="#ppt_x"/>
                                          </p:val>
                                        </p:tav>
                                        <p:tav tm="100000">
                                          <p:val>
                                            <p:strVal val="#ppt_x"/>
                                          </p:val>
                                        </p:tav>
                                      </p:tavLst>
                                    </p:anim>
                                    <p:anim calcmode="lin" valueType="num">
                                      <p:cBhvr>
                                        <p:cTn id="3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8" grpId="0"/>
      <p:bldP spid="11" grpId="0"/>
      <p:bldP spid="1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p:cNvSpPr>
            <a:spLocks noGrp="1"/>
          </p:cNvSpPr>
          <p:nvPr>
            <p:ph type="sldNum" sz="quarter" idx="12"/>
          </p:nvPr>
        </p:nvSpPr>
        <p:spPr/>
        <p:txBody>
          <a:bodyPr/>
          <a:lstStyle/>
          <a:p>
            <a:fld id="{356B610F-D856-43C8-8976-74BFEF29AFDE}" type="slidenum">
              <a:rPr lang="zh-CN" altLang="en-US"/>
              <a:pPr/>
              <a:t>62</a:t>
            </a:fld>
            <a:endParaRPr lang="zh-CN" altLang="en-US" sz="1800">
              <a:solidFill>
                <a:schemeClr val="tx1"/>
              </a:solidFill>
              <a:latin typeface="Arial" pitchFamily="34" charset="0"/>
            </a:endParaRPr>
          </a:p>
        </p:txBody>
      </p:sp>
      <p:sp>
        <p:nvSpPr>
          <p:cNvPr id="6553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5539" name="Text Box 2"/>
          <p:cNvSpPr>
            <a:spLocks noChangeArrowheads="1"/>
          </p:cNvSpPr>
          <p:nvPr/>
        </p:nvSpPr>
        <p:spPr bwMode="auto">
          <a:xfrm>
            <a:off x="250825" y="1125538"/>
            <a:ext cx="8370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线圈的</a:t>
            </a:r>
            <a:r>
              <a:rPr lang="zh-CN" altLang="en-US" sz="2400" dirty="0">
                <a:solidFill>
                  <a:srgbClr val="0000FF"/>
                </a:solidFill>
                <a:ea typeface="楷体_GB2312" pitchFamily="49" charset="-122"/>
                <a:sym typeface="Arial" pitchFamily="34" charset="0"/>
              </a:rPr>
              <a:t>等效</a:t>
            </a:r>
            <a:r>
              <a:rPr lang="en-US" sz="2400" i="1" dirty="0">
                <a:solidFill>
                  <a:srgbClr val="0000FF"/>
                </a:solidFill>
                <a:latin typeface="Times New Roman" pitchFamily="18" charset="0"/>
                <a:ea typeface="楷体_GB2312" pitchFamily="49" charset="-122"/>
                <a:sym typeface="Times New Roman" pitchFamily="18" charset="0"/>
              </a:rPr>
              <a:t>Q</a:t>
            </a:r>
            <a:r>
              <a:rPr lang="zh-CN" altLang="en-US" sz="2400" dirty="0">
                <a:solidFill>
                  <a:srgbClr val="0000FF"/>
                </a:solidFill>
                <a:ea typeface="楷体_GB2312" pitchFamily="49" charset="-122"/>
                <a:sym typeface="Arial" pitchFamily="34" charset="0"/>
              </a:rPr>
              <a:t>值</a:t>
            </a:r>
            <a:r>
              <a:rPr lang="zh-CN" altLang="en-US" sz="2400" dirty="0">
                <a:ea typeface="楷体_GB2312" pitchFamily="49" charset="-122"/>
                <a:sym typeface="Arial" pitchFamily="34" charset="0"/>
              </a:rPr>
              <a:t>为</a:t>
            </a:r>
            <a:endParaRPr lang="zh-CN" altLang="en-US" dirty="0"/>
          </a:p>
        </p:txBody>
      </p:sp>
      <p:pic>
        <p:nvPicPr>
          <p:cNvPr id="65540" name="Object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3260" y="1390337"/>
            <a:ext cx="283527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Text Box 4"/>
          <p:cNvSpPr>
            <a:spLocks noChangeArrowheads="1"/>
          </p:cNvSpPr>
          <p:nvPr/>
        </p:nvSpPr>
        <p:spPr bwMode="auto">
          <a:xfrm>
            <a:off x="282615" y="3057007"/>
            <a:ext cx="751522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i="1" dirty="0">
                <a:latin typeface="Times New Roman" pitchFamily="18" charset="0"/>
                <a:ea typeface="楷体_GB2312" pitchFamily="49" charset="-122"/>
                <a:sym typeface="Times New Roman" pitchFamily="18" charset="0"/>
              </a:rPr>
              <a:t>Q</a:t>
            </a:r>
            <a:r>
              <a:rPr lang="en-US" sz="2400" baseline="-25000" dirty="0">
                <a:latin typeface="Times New Roman" pitchFamily="18" charset="0"/>
                <a:ea typeface="楷体_GB2312" pitchFamily="49" charset="-122"/>
                <a:sym typeface="Times New Roman" pitchFamily="18" charset="0"/>
              </a:rPr>
              <a:t>0</a:t>
            </a:r>
            <a:r>
              <a:rPr lang="en-US" sz="2400" dirty="0">
                <a:latin typeface="Times New Roman" pitchFamily="18" charset="0"/>
                <a:ea typeface="楷体_GB2312" pitchFamily="49" charset="-122"/>
                <a:sym typeface="Times New Roman" pitchFamily="18" charset="0"/>
              </a:rPr>
              <a:t>——</a:t>
            </a:r>
            <a:r>
              <a:rPr lang="zh-CN" altLang="en-US" sz="2400" dirty="0">
                <a:solidFill>
                  <a:srgbClr val="0000FF"/>
                </a:solidFill>
                <a:latin typeface="Times New Roman" pitchFamily="18" charset="0"/>
                <a:ea typeface="楷体_GB2312" pitchFamily="49" charset="-122"/>
                <a:sym typeface="Times New Roman" pitchFamily="18" charset="0"/>
              </a:rPr>
              <a:t>无涡流影响下的线圈的</a:t>
            </a:r>
            <a:r>
              <a:rPr lang="en-US" sz="2400" i="1" dirty="0">
                <a:solidFill>
                  <a:srgbClr val="0000FF"/>
                </a:solidFill>
                <a:latin typeface="Times New Roman" pitchFamily="18" charset="0"/>
                <a:ea typeface="楷体_GB2312" pitchFamily="49" charset="-122"/>
                <a:sym typeface="Times New Roman" pitchFamily="18" charset="0"/>
              </a:rPr>
              <a:t>Q</a:t>
            </a:r>
            <a:r>
              <a:rPr lang="zh-CN" altLang="en-US" sz="2400" dirty="0">
                <a:solidFill>
                  <a:srgbClr val="0000FF"/>
                </a:solidFill>
                <a:latin typeface="Times New Roman" pitchFamily="18" charset="0"/>
                <a:ea typeface="楷体_GB2312" pitchFamily="49" charset="-122"/>
                <a:sym typeface="Times New Roman" pitchFamily="18" charset="0"/>
              </a:rPr>
              <a:t>值</a:t>
            </a:r>
            <a:r>
              <a:rPr lang="zh-CN" altLang="en-US" sz="2400" dirty="0">
                <a:latin typeface="Times New Roman" pitchFamily="18" charset="0"/>
                <a:ea typeface="楷体_GB2312" pitchFamily="49" charset="-122"/>
                <a:sym typeface="Times New Roman" pitchFamily="18" charset="0"/>
              </a:rPr>
              <a:t>，</a:t>
            </a:r>
          </a:p>
          <a:p>
            <a:pPr eaLnBrk="1" hangingPunct="1">
              <a:spcBef>
                <a:spcPct val="50000"/>
              </a:spcBef>
            </a:pPr>
            <a:r>
              <a:rPr lang="zh-CN" altLang="en-US" sz="2400" dirty="0">
                <a:latin typeface="Times New Roman" pitchFamily="18" charset="0"/>
                <a:ea typeface="楷体_GB2312" pitchFamily="49" charset="-122"/>
                <a:sym typeface="Times New Roman" pitchFamily="18" charset="0"/>
              </a:rPr>
              <a:t>      </a:t>
            </a:r>
            <a:r>
              <a:rPr lang="en-US" sz="2400" dirty="0">
                <a:latin typeface="Times New Roman" pitchFamily="18" charset="0"/>
                <a:ea typeface="楷体_GB2312" pitchFamily="49" charset="-122"/>
                <a:sym typeface="Times New Roman" pitchFamily="18" charset="0"/>
              </a:rPr>
              <a:t>——</a:t>
            </a:r>
            <a:r>
              <a:rPr lang="zh-CN" altLang="en-US" sz="2400" dirty="0">
                <a:latin typeface="Times New Roman" pitchFamily="18" charset="0"/>
                <a:ea typeface="楷体_GB2312" pitchFamily="49" charset="-122"/>
                <a:sym typeface="Times New Roman" pitchFamily="18" charset="0"/>
              </a:rPr>
              <a:t>金属导体中</a:t>
            </a:r>
            <a:r>
              <a:rPr lang="zh-CN" altLang="en-US" sz="2400" dirty="0">
                <a:solidFill>
                  <a:srgbClr val="0000FF"/>
                </a:solidFill>
                <a:latin typeface="Times New Roman" pitchFamily="18" charset="0"/>
                <a:ea typeface="楷体_GB2312" pitchFamily="49" charset="-122"/>
                <a:sym typeface="Times New Roman" pitchFamily="18" charset="0"/>
              </a:rPr>
              <a:t>产生电涡流部分的阻抗</a:t>
            </a:r>
            <a:r>
              <a:rPr lang="zh-CN" altLang="en-US" sz="2400" dirty="0">
                <a:latin typeface="Times New Roman" pitchFamily="18" charset="0"/>
                <a:ea typeface="楷体_GB2312" pitchFamily="49" charset="-122"/>
                <a:sym typeface="Times New Roman" pitchFamily="18" charset="0"/>
              </a:rPr>
              <a:t>，</a:t>
            </a:r>
            <a:endParaRPr lang="zh-CN" altLang="en-US" sz="2200" dirty="0">
              <a:latin typeface="楷体_GB2312" pitchFamily="49" charset="-122"/>
              <a:ea typeface="楷体_GB2312" pitchFamily="49" charset="-122"/>
              <a:sym typeface="楷体_GB2312" pitchFamily="49" charset="-122"/>
            </a:endParaRPr>
          </a:p>
        </p:txBody>
      </p:sp>
      <p:pic>
        <p:nvPicPr>
          <p:cNvPr id="65542" name="Object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1917" y="2874423"/>
            <a:ext cx="1398075" cy="7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3" name="Object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426" y="3577370"/>
            <a:ext cx="43338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5" name="Text Box 8"/>
          <p:cNvSpPr>
            <a:spLocks noChangeArrowheads="1"/>
          </p:cNvSpPr>
          <p:nvPr/>
        </p:nvSpPr>
        <p:spPr bwMode="auto">
          <a:xfrm>
            <a:off x="142875" y="4133747"/>
            <a:ext cx="8854879" cy="2646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spcBef>
                <a:spcPts val="600"/>
              </a:spcBef>
              <a:buFont typeface="Arial" panose="020B0604020202020204" pitchFamily="34" charset="0"/>
              <a:buChar char="•"/>
            </a:pPr>
            <a:r>
              <a:rPr lang="zh-CN" altLang="en-US" sz="2400" dirty="0">
                <a:latin typeface="Times New Roman" pitchFamily="18" charset="0"/>
                <a:ea typeface="楷体_GB2312" pitchFamily="49" charset="-122"/>
                <a:sym typeface="Times New Roman" pitchFamily="18" charset="0"/>
              </a:rPr>
              <a:t>线圈与金属导体系统的</a:t>
            </a:r>
            <a:r>
              <a:rPr lang="en-US" sz="2400" i="1" dirty="0">
                <a:latin typeface="Times New Roman" pitchFamily="18" charset="0"/>
                <a:ea typeface="楷体_GB2312" pitchFamily="49" charset="-122"/>
                <a:sym typeface="Times New Roman" pitchFamily="18" charset="0"/>
              </a:rPr>
              <a:t>Z</a:t>
            </a:r>
            <a:r>
              <a:rPr lang="zh-CN" altLang="en-US" sz="2400" dirty="0">
                <a:latin typeface="Times New Roman" pitchFamily="18" charset="0"/>
                <a:ea typeface="楷体_GB2312" pitchFamily="49" charset="-122"/>
                <a:sym typeface="Times New Roman" pitchFamily="18" charset="0"/>
              </a:rPr>
              <a:t>、</a:t>
            </a:r>
            <a:r>
              <a:rPr lang="en-US" sz="2400" i="1" dirty="0">
                <a:latin typeface="Times New Roman" pitchFamily="18" charset="0"/>
                <a:ea typeface="楷体_GB2312" pitchFamily="49" charset="-122"/>
                <a:sym typeface="Times New Roman" pitchFamily="18" charset="0"/>
              </a:rPr>
              <a:t>L</a:t>
            </a:r>
            <a:r>
              <a:rPr lang="zh-CN" altLang="en-US" sz="2400" dirty="0">
                <a:latin typeface="Times New Roman" pitchFamily="18" charset="0"/>
                <a:ea typeface="楷体_GB2312" pitchFamily="49" charset="-122"/>
                <a:sym typeface="Times New Roman" pitchFamily="18" charset="0"/>
              </a:rPr>
              <a:t>、</a:t>
            </a:r>
            <a:r>
              <a:rPr lang="en-US" sz="2400" i="1" dirty="0">
                <a:latin typeface="Times New Roman" pitchFamily="18" charset="0"/>
                <a:ea typeface="楷体_GB2312" pitchFamily="49" charset="-122"/>
                <a:sym typeface="Times New Roman" pitchFamily="18" charset="0"/>
              </a:rPr>
              <a:t>Q</a:t>
            </a:r>
            <a:r>
              <a:rPr lang="zh-CN" altLang="en-US" sz="2400" dirty="0">
                <a:latin typeface="Times New Roman" pitchFamily="18" charset="0"/>
                <a:ea typeface="楷体_GB2312" pitchFamily="49" charset="-122"/>
                <a:sym typeface="Times New Roman" pitchFamily="18" charset="0"/>
              </a:rPr>
              <a:t>都是</a:t>
            </a:r>
            <a:r>
              <a:rPr lang="zh-CN" altLang="en-US" sz="2400" dirty="0">
                <a:solidFill>
                  <a:srgbClr val="0000FF"/>
                </a:solidFill>
                <a:latin typeface="Times New Roman" pitchFamily="18" charset="0"/>
                <a:ea typeface="楷体_GB2312" pitchFamily="49" charset="-122"/>
                <a:sym typeface="Times New Roman" pitchFamily="18" charset="0"/>
              </a:rPr>
              <a:t>互感系数</a:t>
            </a:r>
            <a:r>
              <a:rPr lang="en-US" sz="2400" dirty="0">
                <a:solidFill>
                  <a:srgbClr val="0000FF"/>
                </a:solidFill>
                <a:latin typeface="Times New Roman" pitchFamily="18" charset="0"/>
                <a:ea typeface="楷体_GB2312" pitchFamily="49" charset="-122"/>
                <a:sym typeface="Times New Roman" pitchFamily="18" charset="0"/>
              </a:rPr>
              <a:t>M</a:t>
            </a:r>
            <a:r>
              <a:rPr lang="zh-CN" altLang="en-US" sz="2400" dirty="0">
                <a:solidFill>
                  <a:srgbClr val="0000FF"/>
                </a:solidFill>
                <a:latin typeface="Times New Roman" pitchFamily="18" charset="0"/>
                <a:ea typeface="楷体_GB2312" pitchFamily="49" charset="-122"/>
                <a:sym typeface="Times New Roman" pitchFamily="18" charset="0"/>
              </a:rPr>
              <a:t>的平方的函数</a:t>
            </a:r>
            <a:r>
              <a:rPr lang="zh-CN" altLang="en-US" sz="2400" dirty="0">
                <a:latin typeface="Times New Roman" pitchFamily="18" charset="0"/>
                <a:ea typeface="楷体_GB2312" pitchFamily="49" charset="-122"/>
                <a:sym typeface="Times New Roman" pitchFamily="18" charset="0"/>
              </a:rPr>
              <a:t>；</a:t>
            </a:r>
            <a:endParaRPr lang="en-US" altLang="zh-CN" sz="2400" dirty="0">
              <a:latin typeface="Times New Roman" pitchFamily="18" charset="0"/>
              <a:ea typeface="楷体_GB2312" pitchFamily="49" charset="-122"/>
              <a:sym typeface="Times New Roman" pitchFamily="18" charset="0"/>
            </a:endParaRPr>
          </a:p>
          <a:p>
            <a:pPr marL="342900" indent="-342900" eaLnBrk="1" hangingPunct="1">
              <a:lnSpc>
                <a:spcPct val="130000"/>
              </a:lnSpc>
              <a:spcBef>
                <a:spcPts val="600"/>
              </a:spcBef>
              <a:buFont typeface="Arial" panose="020B0604020202020204" pitchFamily="34" charset="0"/>
              <a:buChar char="•"/>
            </a:pPr>
            <a:r>
              <a:rPr lang="zh-CN" altLang="en-US" sz="2400" dirty="0">
                <a:latin typeface="Times New Roman" pitchFamily="18" charset="0"/>
                <a:ea typeface="楷体_GB2312" pitchFamily="49" charset="-122"/>
                <a:sym typeface="Times New Roman" pitchFamily="18" charset="0"/>
              </a:rPr>
              <a:t>根据麦克斯韦互感函数的基本公式：</a:t>
            </a:r>
            <a:r>
              <a:rPr lang="zh-CN" altLang="en-US" sz="2400" dirty="0">
                <a:solidFill>
                  <a:srgbClr val="FF0000"/>
                </a:solidFill>
                <a:latin typeface="Times New Roman" pitchFamily="18" charset="0"/>
                <a:ea typeface="楷体_GB2312" pitchFamily="49" charset="-122"/>
                <a:sym typeface="Times New Roman" pitchFamily="18" charset="0"/>
              </a:rPr>
              <a:t>互感系数</a:t>
            </a:r>
            <a:r>
              <a:rPr lang="zh-CN" altLang="en-US" sz="2400" dirty="0">
                <a:latin typeface="Times New Roman" pitchFamily="18" charset="0"/>
                <a:ea typeface="楷体_GB2312" pitchFamily="49" charset="-122"/>
                <a:sym typeface="Times New Roman" pitchFamily="18" charset="0"/>
              </a:rPr>
              <a:t>是两个磁性相联线圈</a:t>
            </a:r>
            <a:r>
              <a:rPr lang="zh-CN" altLang="en-US" sz="2400" dirty="0">
                <a:highlight>
                  <a:srgbClr val="FFFF00"/>
                </a:highlight>
                <a:latin typeface="Times New Roman" pitchFamily="18" charset="0"/>
                <a:ea typeface="楷体_GB2312" pitchFamily="49" charset="-122"/>
                <a:sym typeface="Times New Roman" pitchFamily="18" charset="0"/>
              </a:rPr>
              <a:t>距离</a:t>
            </a:r>
            <a:r>
              <a:rPr lang="en-US" sz="2400" i="1" dirty="0">
                <a:highlight>
                  <a:srgbClr val="FFFF00"/>
                </a:highlight>
                <a:latin typeface="Times New Roman" pitchFamily="18" charset="0"/>
                <a:ea typeface="楷体_GB2312" pitchFamily="49" charset="-122"/>
                <a:sym typeface="Times New Roman" pitchFamily="18" charset="0"/>
              </a:rPr>
              <a:t>x</a:t>
            </a:r>
            <a:r>
              <a:rPr lang="zh-CN" altLang="en-US" sz="2400" dirty="0">
                <a:highlight>
                  <a:srgbClr val="FFFF00"/>
                </a:highlight>
                <a:latin typeface="Times New Roman" pitchFamily="18" charset="0"/>
                <a:ea typeface="楷体_GB2312" pitchFamily="49" charset="-122"/>
                <a:sym typeface="Times New Roman" pitchFamily="18" charset="0"/>
              </a:rPr>
              <a:t>的非线性函数</a:t>
            </a:r>
            <a:r>
              <a:rPr lang="zh-CN" altLang="en-US" sz="2400" dirty="0">
                <a:latin typeface="Times New Roman" pitchFamily="18" charset="0"/>
                <a:ea typeface="楷体_GB2312" pitchFamily="49" charset="-122"/>
                <a:sym typeface="Times New Roman" pitchFamily="18" charset="0"/>
              </a:rPr>
              <a:t>。因此                                              均是</a:t>
            </a:r>
            <a:r>
              <a:rPr lang="zh-CN" altLang="en-US" sz="2400" dirty="0">
                <a:solidFill>
                  <a:srgbClr val="1EA2EE"/>
                </a:solidFill>
                <a:latin typeface="Times New Roman" pitchFamily="18" charset="0"/>
                <a:ea typeface="楷体_GB2312" pitchFamily="49" charset="-122"/>
                <a:sym typeface="Times New Roman" pitchFamily="18" charset="0"/>
              </a:rPr>
              <a:t>非线性</a:t>
            </a:r>
            <a:r>
              <a:rPr lang="zh-CN" altLang="en-US" sz="2400" dirty="0">
                <a:latin typeface="Times New Roman" pitchFamily="18" charset="0"/>
                <a:ea typeface="楷体_GB2312" pitchFamily="49" charset="-122"/>
                <a:sym typeface="Times New Roman" pitchFamily="18" charset="0"/>
              </a:rPr>
              <a:t>函数。</a:t>
            </a:r>
            <a:endParaRPr lang="en-US" altLang="zh-CN" sz="2400" dirty="0">
              <a:latin typeface="Times New Roman" pitchFamily="18" charset="0"/>
              <a:ea typeface="楷体_GB2312" pitchFamily="49" charset="-122"/>
              <a:sym typeface="Times New Roman" pitchFamily="18" charset="0"/>
            </a:endParaRPr>
          </a:p>
          <a:p>
            <a:pPr marL="342900" indent="-342900" eaLnBrk="1" hangingPunct="1">
              <a:lnSpc>
                <a:spcPct val="130000"/>
              </a:lnSpc>
              <a:spcBef>
                <a:spcPts val="600"/>
              </a:spcBef>
              <a:buFont typeface="Arial" panose="020B0604020202020204" pitchFamily="34" charset="0"/>
              <a:buChar char="•"/>
            </a:pPr>
            <a:r>
              <a:rPr lang="zh-CN" altLang="en-US" sz="2400" dirty="0">
                <a:latin typeface="Times New Roman" pitchFamily="18" charset="0"/>
                <a:ea typeface="楷体_GB2312" pitchFamily="49" charset="-122"/>
                <a:sym typeface="Times New Roman" pitchFamily="18" charset="0"/>
              </a:rPr>
              <a:t>但在某一范围内，可将这些函数近似看作线性。</a:t>
            </a:r>
            <a:endParaRPr lang="zh-CN" altLang="en-US" dirty="0"/>
          </a:p>
        </p:txBody>
      </p:sp>
      <p:pic>
        <p:nvPicPr>
          <p:cNvPr id="65546" name="Object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16010" y="5267006"/>
            <a:ext cx="34194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2. 2 </a:t>
            </a:r>
            <a:r>
              <a:rPr lang="zh-CN" altLang="en-US" sz="3200" b="1">
                <a:solidFill>
                  <a:schemeClr val="tx2"/>
                </a:solidFill>
                <a:latin typeface="Calibri" pitchFamily="34" charset="0"/>
              </a:rPr>
              <a:t>等效电路</a:t>
            </a:r>
            <a:endParaRPr lang="zh-CN" altLang="en-US"/>
          </a:p>
        </p:txBody>
      </p:sp>
      <p:pic>
        <p:nvPicPr>
          <p:cNvPr id="13" name="Picture 2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05475" y="531812"/>
            <a:ext cx="3257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F5FC6E9D-1596-4475-BD18-70170263BF13}"/>
              </a:ext>
            </a:extLst>
          </p:cNvPr>
          <p:cNvPicPr>
            <a:picLocks noChangeAspect="1"/>
          </p:cNvPicPr>
          <p:nvPr/>
        </p:nvPicPr>
        <p:blipFill>
          <a:blip r:embed="rId7"/>
          <a:stretch>
            <a:fillRect/>
          </a:stretch>
        </p:blipFill>
        <p:spPr>
          <a:xfrm>
            <a:off x="6343650" y="3573010"/>
            <a:ext cx="2085975" cy="50482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6C567113-33AF-46E9-A612-B1069D440C03}" type="slidenum">
              <a:rPr lang="zh-CN" altLang="en-US"/>
              <a:pPr/>
              <a:t>63</a:t>
            </a:fld>
            <a:endParaRPr lang="zh-CN" altLang="en-US" sz="1800">
              <a:solidFill>
                <a:schemeClr val="tx1"/>
              </a:solidFill>
              <a:latin typeface="Arial" pitchFamily="34" charset="0"/>
            </a:endParaRPr>
          </a:p>
        </p:txBody>
      </p:sp>
      <p:sp>
        <p:nvSpPr>
          <p:cNvPr id="6656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6563" name="Rectangle 2"/>
          <p:cNvSpPr>
            <a:spLocks noChangeArrowheads="1"/>
          </p:cNvSpPr>
          <p:nvPr/>
        </p:nvSpPr>
        <p:spPr bwMode="auto">
          <a:xfrm>
            <a:off x="233290" y="3719690"/>
            <a:ext cx="867742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gn="just">
              <a:lnSpc>
                <a:spcPct val="150000"/>
              </a:lnSpc>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等效电感</a:t>
            </a:r>
            <a:r>
              <a:rPr lang="en-US" sz="2400" i="1" dirty="0">
                <a:solidFill>
                  <a:srgbClr val="000000"/>
                </a:solidFill>
                <a:latin typeface="楷体_GB2312" pitchFamily="49" charset="-122"/>
                <a:ea typeface="楷体_GB2312" pitchFamily="49" charset="-122"/>
                <a:sym typeface="楷体_GB2312" pitchFamily="49" charset="-122"/>
              </a:rPr>
              <a:t>L</a:t>
            </a:r>
            <a:r>
              <a:rPr lang="zh-CN" altLang="en-US" sz="2400" dirty="0">
                <a:solidFill>
                  <a:srgbClr val="000000"/>
                </a:solidFill>
                <a:latin typeface="楷体_GB2312" pitchFamily="49" charset="-122"/>
                <a:ea typeface="楷体_GB2312" pitchFamily="49" charset="-122"/>
                <a:sym typeface="楷体_GB2312" pitchFamily="49" charset="-122"/>
              </a:rPr>
              <a:t>：</a:t>
            </a:r>
            <a:r>
              <a:rPr lang="en-US" sz="2400" i="1" dirty="0">
                <a:solidFill>
                  <a:srgbClr val="000000"/>
                </a:solidFill>
                <a:latin typeface="楷体_GB2312" pitchFamily="49" charset="-122"/>
                <a:ea typeface="楷体_GB2312" pitchFamily="49" charset="-122"/>
                <a:sym typeface="楷体_GB2312" pitchFamily="49" charset="-122"/>
              </a:rPr>
              <a:t>L</a:t>
            </a:r>
            <a:r>
              <a:rPr lang="en-US" sz="2400" baseline="-25000" dirty="0">
                <a:solidFill>
                  <a:srgbClr val="000000"/>
                </a:solidFill>
                <a:latin typeface="楷体_GB2312" pitchFamily="49" charset="-122"/>
                <a:ea typeface="楷体_GB2312" pitchFamily="49" charset="-122"/>
                <a:sym typeface="楷体_GB2312" pitchFamily="49" charset="-122"/>
              </a:rPr>
              <a:t>1</a:t>
            </a:r>
            <a:r>
              <a:rPr lang="zh-CN" altLang="en-US" sz="2400" dirty="0">
                <a:solidFill>
                  <a:srgbClr val="000000"/>
                </a:solidFill>
                <a:latin typeface="楷体_GB2312" pitchFamily="49" charset="-122"/>
                <a:ea typeface="楷体_GB2312" pitchFamily="49" charset="-122"/>
                <a:sym typeface="楷体_GB2312" pitchFamily="49" charset="-122"/>
              </a:rPr>
              <a:t>与</a:t>
            </a:r>
            <a:r>
              <a:rPr lang="zh-CN" altLang="en-US" sz="2400" u="sng" dirty="0">
                <a:solidFill>
                  <a:srgbClr val="CC0000"/>
                </a:solidFill>
                <a:latin typeface="楷体_GB2312" pitchFamily="49" charset="-122"/>
                <a:ea typeface="楷体_GB2312" pitchFamily="49" charset="-122"/>
                <a:sym typeface="楷体_GB2312" pitchFamily="49" charset="-122"/>
              </a:rPr>
              <a:t>静磁效应</a:t>
            </a:r>
            <a:r>
              <a:rPr lang="zh-CN" altLang="en-US" sz="2400" dirty="0">
                <a:solidFill>
                  <a:srgbClr val="000000"/>
                </a:solidFill>
                <a:latin typeface="楷体_GB2312" pitchFamily="49" charset="-122"/>
                <a:ea typeface="楷体_GB2312" pitchFamily="49" charset="-122"/>
                <a:sym typeface="楷体_GB2312" pitchFamily="49" charset="-122"/>
              </a:rPr>
              <a:t>有关，线圈与金属导体构成一个磁路，其有效磁导率</a:t>
            </a:r>
            <a:r>
              <a:rPr lang="zh-CN" altLang="en-US" sz="2400" i="1" dirty="0">
                <a:solidFill>
                  <a:srgbClr val="000000"/>
                </a:solidFill>
                <a:latin typeface="楷体_GB2312" pitchFamily="49" charset="-122"/>
                <a:ea typeface="楷体_GB2312" pitchFamily="49" charset="-122"/>
                <a:sym typeface="楷体_GB2312" pitchFamily="49" charset="-122"/>
              </a:rPr>
              <a:t>μ</a:t>
            </a:r>
            <a:r>
              <a:rPr lang="en-US" sz="2400" i="1" baseline="-25000" dirty="0">
                <a:solidFill>
                  <a:srgbClr val="000000"/>
                </a:solidFill>
                <a:latin typeface="楷体_GB2312" pitchFamily="49" charset="-122"/>
                <a:ea typeface="楷体_GB2312" pitchFamily="49" charset="-122"/>
                <a:sym typeface="楷体_GB2312" pitchFamily="49" charset="-122"/>
              </a:rPr>
              <a:t>r</a:t>
            </a:r>
            <a:r>
              <a:rPr lang="zh-CN" altLang="en-US" sz="2400" dirty="0">
                <a:solidFill>
                  <a:srgbClr val="000000"/>
                </a:solidFill>
                <a:latin typeface="楷体_GB2312" pitchFamily="49" charset="-122"/>
                <a:ea typeface="楷体_GB2312" pitchFamily="49" charset="-122"/>
                <a:sym typeface="楷体_GB2312" pitchFamily="49" charset="-122"/>
              </a:rPr>
              <a:t>取决于此磁路的性质。</a:t>
            </a:r>
            <a:endParaRPr lang="en-US" altLang="zh-CN" sz="2400" dirty="0">
              <a:solidFill>
                <a:srgbClr val="000000"/>
              </a:solidFill>
              <a:latin typeface="楷体_GB2312" pitchFamily="49" charset="-122"/>
              <a:ea typeface="楷体_GB2312" pitchFamily="49" charset="-122"/>
              <a:sym typeface="楷体_GB2312" pitchFamily="49" charset="-122"/>
            </a:endParaRPr>
          </a:p>
          <a:p>
            <a:pPr marL="342900" indent="-342900" algn="just">
              <a:lnSpc>
                <a:spcPct val="150000"/>
              </a:lnSpc>
              <a:buFont typeface="Arial" panose="020B0604020202020204" pitchFamily="34" charset="0"/>
              <a:buChar char="•"/>
            </a:pP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当导体为磁性材料时，</a:t>
            </a:r>
            <a:r>
              <a:rPr lang="zh-CN" altLang="en-US" sz="2400" i="1" dirty="0">
                <a:solidFill>
                  <a:srgbClr val="000000"/>
                </a:solidFill>
                <a:highlight>
                  <a:srgbClr val="FFFF00"/>
                </a:highlight>
                <a:latin typeface="楷体_GB2312" pitchFamily="49" charset="-122"/>
                <a:ea typeface="楷体_GB2312" pitchFamily="49" charset="-122"/>
                <a:sym typeface="楷体_GB2312" pitchFamily="49" charset="-122"/>
              </a:rPr>
              <a:t>μ</a:t>
            </a:r>
            <a:r>
              <a:rPr lang="en-US" sz="2400" i="1" baseline="-25000" dirty="0">
                <a:solidFill>
                  <a:srgbClr val="000000"/>
                </a:solidFill>
                <a:highlight>
                  <a:srgbClr val="FFFF00"/>
                </a:highlight>
                <a:latin typeface="楷体_GB2312" pitchFamily="49" charset="-122"/>
                <a:ea typeface="楷体_GB2312" pitchFamily="49" charset="-122"/>
                <a:sym typeface="楷体_GB2312" pitchFamily="49" charset="-122"/>
              </a:rPr>
              <a:t>r</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随导体与线圈距离</a:t>
            </a:r>
            <a:r>
              <a:rPr lang="en-US" sz="2400" i="1" dirty="0">
                <a:solidFill>
                  <a:srgbClr val="000000"/>
                </a:solidFill>
                <a:highlight>
                  <a:srgbClr val="FFFF00"/>
                </a:highlight>
                <a:latin typeface="楷体_GB2312" pitchFamily="49" charset="-122"/>
                <a:ea typeface="楷体_GB2312" pitchFamily="49" charset="-122"/>
                <a:sym typeface="楷体_GB2312" pitchFamily="49" charset="-122"/>
              </a:rPr>
              <a:t>d </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的减小而增大，于是</a:t>
            </a:r>
            <a:r>
              <a:rPr lang="en-US" sz="2400" i="1" dirty="0">
                <a:solidFill>
                  <a:srgbClr val="000000"/>
                </a:solidFill>
                <a:highlight>
                  <a:srgbClr val="FFFF00"/>
                </a:highlight>
                <a:latin typeface="楷体_GB2312" pitchFamily="49" charset="-122"/>
                <a:ea typeface="楷体_GB2312" pitchFamily="49" charset="-122"/>
                <a:sym typeface="楷体_GB2312" pitchFamily="49" charset="-122"/>
              </a:rPr>
              <a:t>L</a:t>
            </a:r>
            <a:r>
              <a:rPr lang="en-US" sz="2400" baseline="-25000" dirty="0">
                <a:solidFill>
                  <a:srgbClr val="000000"/>
                </a:solidFill>
                <a:highlight>
                  <a:srgbClr val="FFFF00"/>
                </a:highlight>
                <a:latin typeface="楷体_GB2312" pitchFamily="49" charset="-122"/>
                <a:ea typeface="楷体_GB2312" pitchFamily="49" charset="-122"/>
                <a:sym typeface="楷体_GB2312" pitchFamily="49" charset="-122"/>
              </a:rPr>
              <a:t>1</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增大</a:t>
            </a:r>
            <a:r>
              <a:rPr lang="zh-CN" alt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FF0000"/>
                </a:solidFill>
                <a:latin typeface="楷体_GB2312" pitchFamily="49" charset="-122"/>
                <a:ea typeface="楷体_GB2312" pitchFamily="49" charset="-122"/>
                <a:sym typeface="楷体_GB2312" pitchFamily="49" charset="-122"/>
              </a:rPr>
              <a:t>若导体为非磁性材料，则</a:t>
            </a:r>
            <a:r>
              <a:rPr lang="zh-CN" altLang="en-US" sz="2400" i="1" dirty="0">
                <a:solidFill>
                  <a:srgbClr val="FF0000"/>
                </a:solidFill>
                <a:latin typeface="楷体_GB2312" pitchFamily="49" charset="-122"/>
                <a:ea typeface="楷体_GB2312" pitchFamily="49" charset="-122"/>
                <a:sym typeface="楷体_GB2312" pitchFamily="49" charset="-122"/>
              </a:rPr>
              <a:t>μ</a:t>
            </a:r>
            <a:r>
              <a:rPr lang="en-US" sz="2400" i="1" baseline="-25000" dirty="0">
                <a:solidFill>
                  <a:srgbClr val="FF0000"/>
                </a:solidFill>
                <a:latin typeface="楷体_GB2312" pitchFamily="49" charset="-122"/>
                <a:ea typeface="楷体_GB2312" pitchFamily="49" charset="-122"/>
                <a:sym typeface="楷体_GB2312" pitchFamily="49" charset="-122"/>
              </a:rPr>
              <a:t>r</a:t>
            </a:r>
            <a:r>
              <a:rPr lang="zh-CN" altLang="en-US" sz="2400" dirty="0">
                <a:solidFill>
                  <a:srgbClr val="FF0000"/>
                </a:solidFill>
                <a:latin typeface="楷体_GB2312" pitchFamily="49" charset="-122"/>
                <a:ea typeface="楷体_GB2312" pitchFamily="49" charset="-122"/>
                <a:sym typeface="楷体_GB2312" pitchFamily="49" charset="-122"/>
              </a:rPr>
              <a:t>和</a:t>
            </a:r>
            <a:r>
              <a:rPr lang="en-US" sz="2400" i="1" dirty="0">
                <a:solidFill>
                  <a:srgbClr val="FF0000"/>
                </a:solidFill>
                <a:latin typeface="楷体_GB2312" pitchFamily="49" charset="-122"/>
                <a:ea typeface="楷体_GB2312" pitchFamily="49" charset="-122"/>
                <a:sym typeface="楷体_GB2312" pitchFamily="49" charset="-122"/>
              </a:rPr>
              <a:t>d</a:t>
            </a:r>
            <a:r>
              <a:rPr lang="zh-CN" altLang="en-US" sz="2400" dirty="0">
                <a:solidFill>
                  <a:srgbClr val="FF0000"/>
                </a:solidFill>
                <a:latin typeface="楷体_GB2312" pitchFamily="49" charset="-122"/>
                <a:ea typeface="楷体_GB2312" pitchFamily="49" charset="-122"/>
                <a:sym typeface="楷体_GB2312" pitchFamily="49" charset="-122"/>
              </a:rPr>
              <a:t>无关，即</a:t>
            </a:r>
            <a:r>
              <a:rPr lang="en-US" sz="2400" i="1" dirty="0">
                <a:solidFill>
                  <a:srgbClr val="FF0000"/>
                </a:solidFill>
                <a:latin typeface="楷体_GB2312" pitchFamily="49" charset="-122"/>
                <a:ea typeface="楷体_GB2312" pitchFamily="49" charset="-122"/>
                <a:sym typeface="楷体_GB2312" pitchFamily="49" charset="-122"/>
              </a:rPr>
              <a:t>L</a:t>
            </a:r>
            <a:r>
              <a:rPr lang="en-US" sz="2400" baseline="-25000" dirty="0">
                <a:solidFill>
                  <a:srgbClr val="FF0000"/>
                </a:solidFill>
                <a:latin typeface="楷体_GB2312" pitchFamily="49" charset="-122"/>
                <a:ea typeface="楷体_GB2312" pitchFamily="49" charset="-122"/>
                <a:sym typeface="楷体_GB2312" pitchFamily="49" charset="-122"/>
              </a:rPr>
              <a:t>1</a:t>
            </a:r>
            <a:r>
              <a:rPr lang="zh-CN" altLang="en-US" sz="2400" dirty="0">
                <a:solidFill>
                  <a:srgbClr val="FF0000"/>
                </a:solidFill>
                <a:latin typeface="楷体_GB2312" pitchFamily="49" charset="-122"/>
                <a:ea typeface="楷体_GB2312" pitchFamily="49" charset="-122"/>
                <a:sym typeface="楷体_GB2312" pitchFamily="49" charset="-122"/>
              </a:rPr>
              <a:t>不变</a:t>
            </a:r>
            <a:r>
              <a:rPr lang="zh-CN" altLang="en-US" sz="2400" dirty="0">
                <a:solidFill>
                  <a:srgbClr val="000000"/>
                </a:solidFill>
                <a:latin typeface="楷体_GB2312" pitchFamily="49" charset="-122"/>
                <a:ea typeface="楷体_GB2312" pitchFamily="49" charset="-122"/>
                <a:sym typeface="楷体_GB2312" pitchFamily="49" charset="-122"/>
              </a:rPr>
              <a:t>。</a:t>
            </a:r>
            <a:endParaRPr lang="zh-CN" altLang="en-US" dirty="0"/>
          </a:p>
        </p:txBody>
      </p:sp>
      <p:sp>
        <p:nvSpPr>
          <p:cNvPr id="6656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2. 2 </a:t>
            </a:r>
            <a:r>
              <a:rPr lang="zh-CN" altLang="en-US" sz="3200" b="1">
                <a:solidFill>
                  <a:schemeClr val="tx2"/>
                </a:solidFill>
                <a:latin typeface="Calibri" pitchFamily="34" charset="0"/>
              </a:rPr>
              <a:t>等效电路</a:t>
            </a:r>
            <a:endParaRPr lang="zh-CN" altLang="en-US"/>
          </a:p>
        </p:txBody>
      </p:sp>
      <p:pic>
        <p:nvPicPr>
          <p:cNvPr id="7" name="Picture 2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875" y="1157729"/>
            <a:ext cx="3257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Object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2059953"/>
            <a:ext cx="3690938"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6563"/>
                                        </p:tgtEl>
                                        <p:attrNameLst>
                                          <p:attrName>style.visibility</p:attrName>
                                        </p:attrNameLst>
                                      </p:cBhvr>
                                      <p:to>
                                        <p:strVal val="visible"/>
                                      </p:to>
                                    </p:set>
                                    <p:animEffect>
                                      <p:cBhvr>
                                        <p:cTn id="7" dur="500"/>
                                        <p:tgtEl>
                                          <p:spTgt spid="66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ldLvl="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6C567113-33AF-46E9-A612-B1069D440C03}" type="slidenum">
              <a:rPr lang="zh-CN" altLang="en-US"/>
              <a:pPr/>
              <a:t>64</a:t>
            </a:fld>
            <a:endParaRPr lang="zh-CN" altLang="en-US" sz="1800">
              <a:solidFill>
                <a:schemeClr val="tx1"/>
              </a:solidFill>
              <a:latin typeface="Arial" pitchFamily="34" charset="0"/>
            </a:endParaRPr>
          </a:p>
        </p:txBody>
      </p:sp>
      <p:sp>
        <p:nvSpPr>
          <p:cNvPr id="6656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6564" name="Rectangle 3"/>
          <p:cNvSpPr>
            <a:spLocks noChangeArrowheads="1"/>
          </p:cNvSpPr>
          <p:nvPr/>
        </p:nvSpPr>
        <p:spPr bwMode="auto">
          <a:xfrm>
            <a:off x="476250" y="3622675"/>
            <a:ext cx="7993063"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lnSpc>
                <a:spcPct val="150000"/>
              </a:lnSpc>
              <a:buFont typeface="Arial" panose="020B0604020202020204" pitchFamily="34" charset="0"/>
              <a:buChar char="•"/>
            </a:pPr>
            <a:r>
              <a:rPr lang="zh-CN" altLang="en-US" sz="2400" dirty="0">
                <a:solidFill>
                  <a:srgbClr val="000000"/>
                </a:solidFill>
                <a:latin typeface="Times New Roman" pitchFamily="18" charset="0"/>
                <a:ea typeface="楷体_GB2312" pitchFamily="49" charset="-122"/>
                <a:sym typeface="Times New Roman" pitchFamily="18" charset="0"/>
              </a:rPr>
              <a:t>电涡流回路的</a:t>
            </a:r>
            <a:r>
              <a:rPr lang="zh-CN" altLang="en-US" sz="2400" dirty="0">
                <a:solidFill>
                  <a:srgbClr val="CC0000"/>
                </a:solidFill>
                <a:latin typeface="Times New Roman" pitchFamily="18" charset="0"/>
                <a:ea typeface="楷体_GB2312" pitchFamily="49" charset="-122"/>
                <a:sym typeface="Times New Roman" pitchFamily="18" charset="0"/>
              </a:rPr>
              <a:t>反射电感：</a:t>
            </a:r>
            <a:r>
              <a:rPr lang="zh-CN" altLang="en-US" sz="2400" dirty="0">
                <a:solidFill>
                  <a:srgbClr val="000000"/>
                </a:solidFill>
                <a:latin typeface="Times New Roman" pitchFamily="18" charset="0"/>
                <a:ea typeface="楷体_GB2312" pitchFamily="49" charset="-122"/>
                <a:sym typeface="Times New Roman" pitchFamily="18" charset="0"/>
              </a:rPr>
              <a:t>使传感器的等效电感减小。</a:t>
            </a:r>
            <a:endParaRPr lang="en-US" altLang="zh-CN" sz="2400" dirty="0">
              <a:solidFill>
                <a:srgbClr val="000000"/>
              </a:solidFill>
              <a:latin typeface="Times New Roman" pitchFamily="18" charset="0"/>
              <a:ea typeface="楷体_GB2312" pitchFamily="49" charset="-122"/>
              <a:sym typeface="Times New Roman" pitchFamily="18" charset="0"/>
            </a:endParaRPr>
          </a:p>
          <a:p>
            <a:pPr marL="342900" indent="-342900" algn="just">
              <a:lnSpc>
                <a:spcPct val="150000"/>
              </a:lnSpc>
              <a:buFont typeface="Arial" panose="020B0604020202020204" pitchFamily="34" charset="0"/>
              <a:buChar char="•"/>
            </a:pPr>
            <a:r>
              <a:rPr lang="zh-CN" altLang="en-US" sz="2400" u="sng" dirty="0">
                <a:solidFill>
                  <a:srgbClr val="000000"/>
                </a:solidFill>
                <a:uFill>
                  <a:solidFill>
                    <a:srgbClr val="FF0000"/>
                  </a:solidFill>
                </a:uFill>
                <a:latin typeface="Times New Roman" pitchFamily="18" charset="0"/>
                <a:ea typeface="楷体_GB2312" pitchFamily="49" charset="-122"/>
                <a:sym typeface="Times New Roman" pitchFamily="18" charset="0"/>
              </a:rPr>
              <a:t>当被测物导体为</a:t>
            </a:r>
            <a:r>
              <a:rPr lang="zh-CN" altLang="en-US" sz="2400" u="sng" dirty="0">
                <a:solidFill>
                  <a:srgbClr val="0000FF"/>
                </a:solidFill>
                <a:uFill>
                  <a:solidFill>
                    <a:srgbClr val="FF0000"/>
                  </a:solidFill>
                </a:uFill>
                <a:latin typeface="Times New Roman" pitchFamily="18" charset="0"/>
                <a:ea typeface="楷体_GB2312" pitchFamily="49" charset="-122"/>
                <a:sym typeface="Times New Roman" pitchFamily="18" charset="0"/>
              </a:rPr>
              <a:t>非磁性材料或硬磁材料</a:t>
            </a:r>
            <a:r>
              <a:rPr lang="zh-CN" altLang="en-US" sz="2400" u="sng" dirty="0">
                <a:solidFill>
                  <a:srgbClr val="000000"/>
                </a:solidFill>
                <a:uFill>
                  <a:solidFill>
                    <a:srgbClr val="FF0000"/>
                  </a:solidFill>
                </a:uFill>
                <a:latin typeface="Times New Roman" pitchFamily="18" charset="0"/>
                <a:ea typeface="楷体_GB2312" pitchFamily="49" charset="-122"/>
                <a:sym typeface="Times New Roman" pitchFamily="18" charset="0"/>
              </a:rPr>
              <a:t>时，传感器线圈的等效电感</a:t>
            </a:r>
            <a:r>
              <a:rPr lang="en-US" sz="2400" i="1" u="sng" dirty="0">
                <a:solidFill>
                  <a:srgbClr val="000000"/>
                </a:solidFill>
                <a:uFill>
                  <a:solidFill>
                    <a:srgbClr val="FF0000"/>
                  </a:solidFill>
                </a:uFill>
                <a:latin typeface="Times New Roman" pitchFamily="18" charset="0"/>
                <a:ea typeface="楷体_GB2312" pitchFamily="49" charset="-122"/>
                <a:sym typeface="Times New Roman" pitchFamily="18" charset="0"/>
              </a:rPr>
              <a:t>L</a:t>
            </a:r>
            <a:r>
              <a:rPr lang="zh-CN" altLang="en-US" sz="2400" u="sng" dirty="0">
                <a:solidFill>
                  <a:srgbClr val="000000"/>
                </a:solidFill>
                <a:uFill>
                  <a:solidFill>
                    <a:srgbClr val="FF0000"/>
                  </a:solidFill>
                </a:uFill>
                <a:latin typeface="Times New Roman" pitchFamily="18" charset="0"/>
                <a:ea typeface="楷体_GB2312" pitchFamily="49" charset="-122"/>
                <a:sym typeface="Times New Roman" pitchFamily="18" charset="0"/>
              </a:rPr>
              <a:t>随导体与线圈距离</a:t>
            </a:r>
            <a:r>
              <a:rPr lang="en-US" sz="2400" i="1" u="sng" dirty="0">
                <a:solidFill>
                  <a:srgbClr val="000000"/>
                </a:solidFill>
                <a:uFill>
                  <a:solidFill>
                    <a:srgbClr val="FF0000"/>
                  </a:solidFill>
                </a:uFill>
                <a:latin typeface="Times New Roman" pitchFamily="18" charset="0"/>
                <a:ea typeface="楷体_GB2312" pitchFamily="49" charset="-122"/>
                <a:sym typeface="Times New Roman" pitchFamily="18" charset="0"/>
              </a:rPr>
              <a:t>d</a:t>
            </a:r>
            <a:r>
              <a:rPr lang="zh-CN" altLang="en-US" sz="2400" u="sng" dirty="0">
                <a:solidFill>
                  <a:srgbClr val="000000"/>
                </a:solidFill>
                <a:uFill>
                  <a:solidFill>
                    <a:srgbClr val="FF0000"/>
                  </a:solidFill>
                </a:uFill>
                <a:latin typeface="Times New Roman" pitchFamily="18" charset="0"/>
                <a:ea typeface="楷体_GB2312" pitchFamily="49" charset="-122"/>
                <a:sym typeface="Times New Roman" pitchFamily="18" charset="0"/>
              </a:rPr>
              <a:t>的减小而减小</a:t>
            </a:r>
            <a:r>
              <a:rPr lang="zh-CN" altLang="en-US" sz="2400" dirty="0">
                <a:solidFill>
                  <a:srgbClr val="000000"/>
                </a:solidFill>
                <a:latin typeface="Times New Roman" pitchFamily="18" charset="0"/>
                <a:ea typeface="楷体_GB2312" pitchFamily="49" charset="-122"/>
                <a:sym typeface="Times New Roman" pitchFamily="18" charset="0"/>
              </a:rPr>
              <a:t>；</a:t>
            </a:r>
            <a:endParaRPr lang="en-US" altLang="zh-CN" sz="2400" dirty="0">
              <a:solidFill>
                <a:srgbClr val="000000"/>
              </a:solidFill>
              <a:latin typeface="Times New Roman" pitchFamily="18" charset="0"/>
              <a:ea typeface="楷体_GB2312" pitchFamily="49" charset="-122"/>
              <a:sym typeface="Times New Roman" pitchFamily="18" charset="0"/>
            </a:endParaRPr>
          </a:p>
          <a:p>
            <a:pPr marL="342900" indent="-342900" algn="just">
              <a:lnSpc>
                <a:spcPct val="150000"/>
              </a:lnSpc>
              <a:buFont typeface="Arial" panose="020B0604020202020204" pitchFamily="34" charset="0"/>
              <a:buChar char="•"/>
            </a:pPr>
            <a:r>
              <a:rPr lang="zh-CN" altLang="en-US" sz="2400" dirty="0">
                <a:solidFill>
                  <a:srgbClr val="000000"/>
                </a:solidFill>
                <a:latin typeface="Times New Roman" pitchFamily="18" charset="0"/>
                <a:ea typeface="楷体_GB2312" pitchFamily="49" charset="-122"/>
                <a:sym typeface="Times New Roman" pitchFamily="18" charset="0"/>
              </a:rPr>
              <a:t>被测导体为</a:t>
            </a:r>
            <a:r>
              <a:rPr lang="zh-CN" altLang="en-US" sz="2400" dirty="0">
                <a:solidFill>
                  <a:srgbClr val="0000FF"/>
                </a:solidFill>
                <a:latin typeface="Times New Roman" pitchFamily="18" charset="0"/>
                <a:ea typeface="楷体_GB2312" pitchFamily="49" charset="-122"/>
                <a:sym typeface="Times New Roman" pitchFamily="18" charset="0"/>
              </a:rPr>
              <a:t>软磁材料</a:t>
            </a:r>
            <a:r>
              <a:rPr lang="zh-CN" altLang="en-US" sz="2400" dirty="0">
                <a:solidFill>
                  <a:srgbClr val="000000"/>
                </a:solidFill>
                <a:latin typeface="Times New Roman" pitchFamily="18" charset="0"/>
                <a:ea typeface="楷体_GB2312" pitchFamily="49" charset="-122"/>
                <a:sym typeface="Times New Roman" pitchFamily="18" charset="0"/>
              </a:rPr>
              <a:t>时，则由于</a:t>
            </a:r>
            <a:r>
              <a:rPr lang="zh-CN" altLang="en-US" sz="2400" dirty="0">
                <a:solidFill>
                  <a:srgbClr val="CC0000"/>
                </a:solidFill>
                <a:latin typeface="Times New Roman" pitchFamily="18" charset="0"/>
                <a:ea typeface="楷体_GB2312" pitchFamily="49" charset="-122"/>
                <a:sym typeface="Times New Roman" pitchFamily="18" charset="0"/>
              </a:rPr>
              <a:t>静磁效应</a:t>
            </a:r>
            <a:r>
              <a:rPr lang="zh-CN" altLang="en-US" sz="2400" dirty="0">
                <a:solidFill>
                  <a:srgbClr val="000000"/>
                </a:solidFill>
                <a:latin typeface="Times New Roman" pitchFamily="18" charset="0"/>
                <a:ea typeface="楷体_GB2312" pitchFamily="49" charset="-122"/>
                <a:sym typeface="Times New Roman" pitchFamily="18" charset="0"/>
              </a:rPr>
              <a:t>使传感器线圈的等效电感</a:t>
            </a:r>
            <a:r>
              <a:rPr lang="en-US" sz="2400" i="1" dirty="0">
                <a:solidFill>
                  <a:srgbClr val="000000"/>
                </a:solidFill>
                <a:latin typeface="Times New Roman" pitchFamily="18" charset="0"/>
                <a:ea typeface="楷体_GB2312" pitchFamily="49" charset="-122"/>
                <a:sym typeface="Times New Roman" pitchFamily="18" charset="0"/>
              </a:rPr>
              <a:t>L</a:t>
            </a:r>
            <a:r>
              <a:rPr lang="zh-CN" altLang="en-US" sz="2400" dirty="0">
                <a:solidFill>
                  <a:srgbClr val="000000"/>
                </a:solidFill>
                <a:latin typeface="Times New Roman" pitchFamily="18" charset="0"/>
                <a:ea typeface="楷体_GB2312" pitchFamily="49" charset="-122"/>
                <a:sym typeface="Times New Roman" pitchFamily="18" charset="0"/>
              </a:rPr>
              <a:t>反而增大（</a:t>
            </a:r>
            <a:r>
              <a:rPr lang="zh-CN" altLang="en-US" sz="2400" u="sng" dirty="0">
                <a:solidFill>
                  <a:srgbClr val="1EA2EE"/>
                </a:solidFill>
                <a:latin typeface="Times New Roman" pitchFamily="18" charset="0"/>
                <a:ea typeface="楷体_GB2312" pitchFamily="49" charset="-122"/>
                <a:sym typeface="Times New Roman" pitchFamily="18" charset="0"/>
              </a:rPr>
              <a:t>因为</a:t>
            </a:r>
            <a:r>
              <a:rPr lang="en-US" altLang="zh-CN" sz="2400" i="1" u="sng" dirty="0">
                <a:solidFill>
                  <a:srgbClr val="1EA2EE"/>
                </a:solidFill>
                <a:latin typeface="Times New Roman" pitchFamily="18" charset="0"/>
                <a:ea typeface="楷体_GB2312" pitchFamily="49" charset="-122"/>
                <a:sym typeface="Times New Roman" pitchFamily="18" charset="0"/>
              </a:rPr>
              <a:t>L1</a:t>
            </a:r>
            <a:r>
              <a:rPr lang="zh-CN" altLang="en-US" sz="2400" u="sng" dirty="0">
                <a:solidFill>
                  <a:srgbClr val="1EA2EE"/>
                </a:solidFill>
                <a:latin typeface="Times New Roman" pitchFamily="18" charset="0"/>
                <a:ea typeface="楷体_GB2312" pitchFamily="49" charset="-122"/>
                <a:sym typeface="Times New Roman" pitchFamily="18" charset="0"/>
              </a:rPr>
              <a:t>变大</a:t>
            </a:r>
            <a:r>
              <a:rPr lang="zh-CN" altLang="en-US" sz="2400" dirty="0">
                <a:solidFill>
                  <a:srgbClr val="000000"/>
                </a:solidFill>
                <a:latin typeface="Times New Roman" pitchFamily="18" charset="0"/>
                <a:ea typeface="楷体_GB2312" pitchFamily="49" charset="-122"/>
                <a:sym typeface="Times New Roman" pitchFamily="18" charset="0"/>
              </a:rPr>
              <a:t>）。</a:t>
            </a:r>
            <a:endParaRPr lang="zh-CN" altLang="en-US" dirty="0"/>
          </a:p>
        </p:txBody>
      </p:sp>
      <p:sp>
        <p:nvSpPr>
          <p:cNvPr id="6656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2. 2 </a:t>
            </a:r>
            <a:r>
              <a:rPr lang="zh-CN" altLang="en-US" sz="3200" b="1" dirty="0">
                <a:solidFill>
                  <a:schemeClr val="tx2"/>
                </a:solidFill>
                <a:latin typeface="Calibri" pitchFamily="34" charset="0"/>
              </a:rPr>
              <a:t>等效电路</a:t>
            </a:r>
            <a:endParaRPr lang="zh-CN" altLang="en-US" dirty="0"/>
          </a:p>
        </p:txBody>
      </p:sp>
      <p:pic>
        <p:nvPicPr>
          <p:cNvPr id="7" name="Picture 2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875" y="1157729"/>
            <a:ext cx="3257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Object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6250" y="1850127"/>
            <a:ext cx="3690938"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9B0B901-BF3A-4BCC-B6EC-390846939412}"/>
              </a:ext>
            </a:extLst>
          </p:cNvPr>
          <p:cNvSpPr/>
          <p:nvPr/>
        </p:nvSpPr>
        <p:spPr>
          <a:xfrm>
            <a:off x="3203905" y="1112133"/>
            <a:ext cx="6192430" cy="646331"/>
          </a:xfrm>
          <a:prstGeom prst="rect">
            <a:avLst/>
          </a:prstGeom>
        </p:spPr>
        <p:txBody>
          <a:bodyPr wrap="square">
            <a:spAutoFit/>
          </a:bodyPr>
          <a:lstStyle/>
          <a:p>
            <a:r>
              <a:rPr lang="zh-CN" altLang="en-US" dirty="0">
                <a:solidFill>
                  <a:srgbClr val="333333"/>
                </a:solidFill>
                <a:latin typeface="PingFang SC"/>
              </a:rPr>
              <a:t>铁棒被磁化后，磁性很容易消失，这种磁体称为软磁体。</a:t>
            </a:r>
            <a:br>
              <a:rPr lang="zh-CN" altLang="en-US" dirty="0"/>
            </a:br>
            <a:r>
              <a:rPr lang="zh-CN" altLang="en-US" dirty="0">
                <a:solidFill>
                  <a:srgbClr val="333333"/>
                </a:solidFill>
                <a:latin typeface="PingFang SC"/>
              </a:rPr>
              <a:t>钢棒被磁化后，磁性能够长期保持，称为硬磁体或永磁体。</a:t>
            </a:r>
            <a:endParaRPr lang="zh-CN" altLang="en-US" dirty="0"/>
          </a:p>
        </p:txBody>
      </p:sp>
    </p:spTree>
    <p:extLst>
      <p:ext uri="{BB962C8B-B14F-4D97-AF65-F5344CB8AC3E}">
        <p14:creationId xmlns:p14="http://schemas.microsoft.com/office/powerpoint/2010/main" val="904283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p:cBhvr>
                                        <p:cTn id="7" dur="500"/>
                                        <p:tgtEl>
                                          <p:spTgt spid="6656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bldLvl="0" autoUpdateAnimBg="0"/>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97DC4A03-8752-4149-9D2C-1DDD67267D1A}" type="slidenum">
              <a:rPr lang="zh-CN" altLang="en-US"/>
              <a:pPr/>
              <a:t>65</a:t>
            </a:fld>
            <a:endParaRPr lang="zh-CN" altLang="en-US" sz="1800">
              <a:solidFill>
                <a:schemeClr val="tx1"/>
              </a:solidFill>
              <a:latin typeface="Arial" pitchFamily="34" charset="0"/>
            </a:endParaRPr>
          </a:p>
        </p:txBody>
      </p:sp>
      <p:sp>
        <p:nvSpPr>
          <p:cNvPr id="6758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grpSp>
        <p:nvGrpSpPr>
          <p:cNvPr id="67587" name="Group 2"/>
          <p:cNvGrpSpPr>
            <a:grpSpLocks/>
          </p:cNvGrpSpPr>
          <p:nvPr/>
        </p:nvGrpSpPr>
        <p:grpSpPr bwMode="auto">
          <a:xfrm>
            <a:off x="4706938" y="2676525"/>
            <a:ext cx="4230687" cy="4208463"/>
            <a:chOff x="0" y="0"/>
            <a:chExt cx="2665" cy="2651"/>
          </a:xfrm>
        </p:grpSpPr>
        <p:pic>
          <p:nvPicPr>
            <p:cNvPr id="67588" name="Picture 3" descr="DSC0183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 y="0"/>
              <a:ext cx="2631" cy="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Text Box 4"/>
            <p:cNvSpPr>
              <a:spLocks noChangeArrowheads="1"/>
            </p:cNvSpPr>
            <p:nvPr/>
          </p:nvSpPr>
          <p:spPr bwMode="auto">
            <a:xfrm>
              <a:off x="0" y="2382"/>
              <a:ext cx="266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spcBef>
                  <a:spcPct val="50000"/>
                </a:spcBef>
              </a:pPr>
              <a:r>
                <a:rPr lang="zh-CN" altLang="en-US" sz="2200">
                  <a:latin typeface="楷体_GB2312" pitchFamily="49" charset="-122"/>
                  <a:ea typeface="楷体_GB2312" pitchFamily="49" charset="-122"/>
                  <a:sym typeface="楷体_GB2312" pitchFamily="49" charset="-122"/>
                </a:rPr>
                <a:t>图</a:t>
              </a:r>
              <a:r>
                <a:rPr lang="en-US" sz="2200">
                  <a:latin typeface="楷体_GB2312" pitchFamily="49" charset="-122"/>
                  <a:ea typeface="楷体_GB2312" pitchFamily="49" charset="-122"/>
                  <a:sym typeface="楷体_GB2312" pitchFamily="49" charset="-122"/>
                </a:rPr>
                <a:t>4-36 </a:t>
              </a:r>
              <a:r>
                <a:rPr lang="zh-CN" altLang="en-US" sz="2200">
                  <a:latin typeface="楷体_GB2312" pitchFamily="49" charset="-122"/>
                  <a:ea typeface="楷体_GB2312" pitchFamily="49" charset="-122"/>
                  <a:sym typeface="楷体_GB2312" pitchFamily="49" charset="-122"/>
                </a:rPr>
                <a:t>固定频率调幅谐振曲线</a:t>
              </a:r>
              <a:endParaRPr lang="zh-CN" altLang="en-US"/>
            </a:p>
          </p:txBody>
        </p:sp>
      </p:grpSp>
      <p:sp>
        <p:nvSpPr>
          <p:cNvPr id="67590" name="Rectangle 5"/>
          <p:cNvSpPr>
            <a:spLocks noChangeArrowheads="1"/>
          </p:cNvSpPr>
          <p:nvPr/>
        </p:nvSpPr>
        <p:spPr bwMode="auto">
          <a:xfrm>
            <a:off x="27641" y="974828"/>
            <a:ext cx="5912453"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30000"/>
              </a:lnSpc>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为提高传感器灵敏度，常用一个电容与电涡流线圈并联，构成</a:t>
            </a:r>
            <a:r>
              <a:rPr lang="zh-CN" altLang="en-US" sz="2400" dirty="0">
                <a:solidFill>
                  <a:srgbClr val="CC0000"/>
                </a:solidFill>
                <a:latin typeface="楷体_GB2312" pitchFamily="49" charset="-122"/>
                <a:ea typeface="楷体_GB2312" pitchFamily="49" charset="-122"/>
                <a:sym typeface="楷体_GB2312" pitchFamily="49" charset="-122"/>
              </a:rPr>
              <a:t>并联谐振回路</a:t>
            </a:r>
            <a:r>
              <a:rPr lang="zh-CN" altLang="en-US" sz="2400" dirty="0">
                <a:solidFill>
                  <a:srgbClr val="000000"/>
                </a:solidFill>
                <a:latin typeface="楷体_GB2312" pitchFamily="49" charset="-122"/>
                <a:ea typeface="楷体_GB2312" pitchFamily="49" charset="-122"/>
                <a:sym typeface="楷体_GB2312" pitchFamily="49" charset="-122"/>
              </a:rPr>
              <a:t>。</a:t>
            </a:r>
            <a:endParaRPr lang="zh-CN" altLang="en-US" dirty="0"/>
          </a:p>
        </p:txBody>
      </p:sp>
      <p:sp>
        <p:nvSpPr>
          <p:cNvPr id="67591" name="Text Box 6"/>
          <p:cNvSpPr>
            <a:spLocks noChangeArrowheads="1"/>
          </p:cNvSpPr>
          <p:nvPr/>
        </p:nvSpPr>
        <p:spPr bwMode="auto">
          <a:xfrm>
            <a:off x="269875" y="2001838"/>
            <a:ext cx="8667750" cy="436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在不接被测导体时，传感器调谐到某一谐振频率</a:t>
            </a:r>
            <a:r>
              <a:rPr lang="en-US" sz="2400" i="1" dirty="0">
                <a:latin typeface="楷体_GB2312" pitchFamily="49" charset="-122"/>
                <a:ea typeface="楷体_GB2312" pitchFamily="49" charset="-122"/>
                <a:sym typeface="楷体_GB2312" pitchFamily="49" charset="-122"/>
              </a:rPr>
              <a:t>f</a:t>
            </a:r>
            <a:r>
              <a:rPr lang="en-US" sz="2400" baseline="-25000" dirty="0">
                <a:latin typeface="楷体_GB2312" pitchFamily="49" charset="-122"/>
                <a:ea typeface="楷体_GB2312" pitchFamily="49" charset="-122"/>
                <a:sym typeface="楷体_GB2312" pitchFamily="49" charset="-122"/>
              </a:rPr>
              <a:t>0</a:t>
            </a:r>
            <a:r>
              <a:rPr lang="zh-CN" altLang="en-US" sz="2400" dirty="0">
                <a:latin typeface="楷体_GB2312" pitchFamily="49" charset="-122"/>
                <a:ea typeface="楷体_GB2312" pitchFamily="49" charset="-122"/>
                <a:sym typeface="楷体_GB2312" pitchFamily="49" charset="-122"/>
              </a:rPr>
              <a:t>。当有被测导体时，回路将</a:t>
            </a:r>
            <a:r>
              <a:rPr lang="zh-CN" altLang="en-US" sz="2400" dirty="0">
                <a:solidFill>
                  <a:srgbClr val="CC0000"/>
                </a:solidFill>
                <a:latin typeface="楷体_GB2312" pitchFamily="49" charset="-122"/>
                <a:ea typeface="楷体_GB2312" pitchFamily="49" charset="-122"/>
                <a:sym typeface="楷体_GB2312" pitchFamily="49" charset="-122"/>
              </a:rPr>
              <a:t>失谐</a:t>
            </a:r>
            <a:r>
              <a:rPr lang="zh-CN" altLang="en-US" sz="2400" dirty="0">
                <a:latin typeface="楷体_GB2312" pitchFamily="49" charset="-122"/>
                <a:ea typeface="楷体_GB2312" pitchFamily="49" charset="-122"/>
                <a:sym typeface="楷体_GB2312" pitchFamily="49" charset="-122"/>
              </a:rPr>
              <a:t>。被测体</a:t>
            </a:r>
          </a:p>
          <a:p>
            <a:pPr eaLnBrk="1" hangingPunct="1">
              <a:lnSpc>
                <a:spcPct val="130000"/>
              </a:lnSpc>
            </a:pPr>
            <a:r>
              <a:rPr lang="zh-CN" altLang="en-US" sz="2400" dirty="0">
                <a:latin typeface="楷体_GB2312" pitchFamily="49" charset="-122"/>
                <a:ea typeface="楷体_GB2312" pitchFamily="49" charset="-122"/>
                <a:sym typeface="楷体_GB2312" pitchFamily="49" charset="-122"/>
              </a:rPr>
              <a:t>为</a:t>
            </a:r>
            <a:r>
              <a:rPr lang="zh-CN" altLang="en-US" sz="2400" dirty="0">
                <a:solidFill>
                  <a:srgbClr val="CC0000"/>
                </a:solidFill>
                <a:latin typeface="楷体_GB2312" pitchFamily="49" charset="-122"/>
                <a:ea typeface="楷体_GB2312" pitchFamily="49" charset="-122"/>
                <a:sym typeface="楷体_GB2312" pitchFamily="49" charset="-122"/>
              </a:rPr>
              <a:t>非铁磁材料或硬磁材料</a:t>
            </a:r>
            <a:r>
              <a:rPr lang="zh-CN" altLang="en-US" sz="2400" dirty="0">
                <a:latin typeface="楷体_GB2312" pitchFamily="49" charset="-122"/>
                <a:ea typeface="楷体_GB2312" pitchFamily="49" charset="-122"/>
                <a:sym typeface="楷体_GB2312" pitchFamily="49" charset="-122"/>
              </a:rPr>
              <a:t>时，因</a:t>
            </a:r>
          </a:p>
          <a:p>
            <a:pPr eaLnBrk="1" hangingPunct="1">
              <a:lnSpc>
                <a:spcPct val="130000"/>
              </a:lnSpc>
            </a:pPr>
            <a:r>
              <a:rPr lang="zh-CN" altLang="en-US" sz="2400" dirty="0">
                <a:latin typeface="楷体_GB2312" pitchFamily="49" charset="-122"/>
                <a:ea typeface="楷体_GB2312" pitchFamily="49" charset="-122"/>
                <a:sym typeface="楷体_GB2312" pitchFamily="49" charset="-122"/>
              </a:rPr>
              <a:t>传感器线圈等效电感减小，谐振</a:t>
            </a:r>
          </a:p>
          <a:p>
            <a:pPr eaLnBrk="1" hangingPunct="1">
              <a:lnSpc>
                <a:spcPct val="130000"/>
              </a:lnSpc>
            </a:pPr>
            <a:r>
              <a:rPr lang="zh-CN" altLang="en-US" sz="2400" dirty="0">
                <a:latin typeface="楷体_GB2312" pitchFamily="49" charset="-122"/>
                <a:ea typeface="楷体_GB2312" pitchFamily="49" charset="-122"/>
                <a:sym typeface="楷体_GB2312" pitchFamily="49" charset="-122"/>
              </a:rPr>
              <a:t>曲线</a:t>
            </a:r>
            <a:r>
              <a:rPr lang="zh-CN" altLang="en-US" sz="2400" dirty="0">
                <a:solidFill>
                  <a:srgbClr val="FF6600"/>
                </a:solidFill>
                <a:latin typeface="楷体_GB2312" pitchFamily="49" charset="-122"/>
                <a:ea typeface="楷体_GB2312" pitchFamily="49" charset="-122"/>
                <a:sym typeface="楷体_GB2312" pitchFamily="49" charset="-122"/>
              </a:rPr>
              <a:t>右移</a:t>
            </a:r>
            <a:r>
              <a:rPr lang="zh-CN" altLang="en-US" sz="2400" dirty="0">
                <a:latin typeface="楷体_GB2312" pitchFamily="49" charset="-122"/>
                <a:ea typeface="楷体_GB2312" pitchFamily="49" charset="-122"/>
                <a:sym typeface="楷体_GB2312" pitchFamily="49" charset="-122"/>
              </a:rPr>
              <a:t>；当被测体为</a:t>
            </a:r>
            <a:r>
              <a:rPr lang="zh-CN" altLang="en-US" sz="2400" dirty="0">
                <a:solidFill>
                  <a:srgbClr val="CC0000"/>
                </a:solidFill>
                <a:latin typeface="楷体_GB2312" pitchFamily="49" charset="-122"/>
                <a:ea typeface="楷体_GB2312" pitchFamily="49" charset="-122"/>
                <a:sym typeface="楷体_GB2312" pitchFamily="49" charset="-122"/>
              </a:rPr>
              <a:t>软磁材料</a:t>
            </a:r>
          </a:p>
          <a:p>
            <a:pPr eaLnBrk="1" hangingPunct="1">
              <a:lnSpc>
                <a:spcPct val="130000"/>
              </a:lnSpc>
            </a:pPr>
            <a:r>
              <a:rPr lang="zh-CN" altLang="en-US" sz="2400" dirty="0">
                <a:latin typeface="楷体_GB2312" pitchFamily="49" charset="-122"/>
                <a:ea typeface="楷体_GB2312" pitchFamily="49" charset="-122"/>
                <a:sym typeface="楷体_GB2312" pitchFamily="49" charset="-122"/>
              </a:rPr>
              <a:t>时，其电感量增大，谐振曲线</a:t>
            </a:r>
            <a:r>
              <a:rPr lang="zh-CN" altLang="en-US" sz="2400" dirty="0">
                <a:solidFill>
                  <a:srgbClr val="FF6600"/>
                </a:solidFill>
                <a:latin typeface="楷体_GB2312" pitchFamily="49" charset="-122"/>
                <a:ea typeface="楷体_GB2312" pitchFamily="49" charset="-122"/>
                <a:sym typeface="楷体_GB2312" pitchFamily="49" charset="-122"/>
              </a:rPr>
              <a:t>左</a:t>
            </a:r>
          </a:p>
          <a:p>
            <a:pPr eaLnBrk="1" hangingPunct="1">
              <a:lnSpc>
                <a:spcPct val="130000"/>
              </a:lnSpc>
            </a:pPr>
            <a:r>
              <a:rPr lang="zh-CN" altLang="en-US" sz="2400" dirty="0">
                <a:solidFill>
                  <a:srgbClr val="FF6600"/>
                </a:solidFill>
                <a:latin typeface="楷体_GB2312" pitchFamily="49" charset="-122"/>
                <a:ea typeface="楷体_GB2312" pitchFamily="49" charset="-122"/>
                <a:sym typeface="楷体_GB2312" pitchFamily="49" charset="-122"/>
              </a:rPr>
              <a:t>移</a:t>
            </a:r>
            <a:r>
              <a:rPr lang="zh-CN" altLang="en-US" sz="2400" dirty="0">
                <a:latin typeface="楷体_GB2312" pitchFamily="49" charset="-122"/>
                <a:ea typeface="楷体_GB2312" pitchFamily="49" charset="-122"/>
                <a:sym typeface="楷体_GB2312" pitchFamily="49" charset="-122"/>
              </a:rPr>
              <a:t>。传感器</a:t>
            </a:r>
            <a:r>
              <a:rPr lang="en-US" sz="2400" i="1" dirty="0">
                <a:latin typeface="楷体_GB2312" pitchFamily="49" charset="-122"/>
                <a:ea typeface="楷体_GB2312" pitchFamily="49" charset="-122"/>
                <a:sym typeface="楷体_GB2312" pitchFamily="49" charset="-122"/>
              </a:rPr>
              <a:t>LC </a:t>
            </a:r>
            <a:r>
              <a:rPr lang="zh-CN" altLang="en-US" sz="2400" dirty="0">
                <a:latin typeface="楷体_GB2312" pitchFamily="49" charset="-122"/>
                <a:ea typeface="楷体_GB2312" pitchFamily="49" charset="-122"/>
                <a:sym typeface="楷体_GB2312" pitchFamily="49" charset="-122"/>
              </a:rPr>
              <a:t>回路的阻抗变化既</a:t>
            </a:r>
          </a:p>
          <a:p>
            <a:pPr eaLnBrk="1" hangingPunct="1">
              <a:lnSpc>
                <a:spcPct val="130000"/>
              </a:lnSpc>
            </a:pPr>
            <a:r>
              <a:rPr lang="zh-CN" altLang="en-US" sz="2400" dirty="0">
                <a:latin typeface="楷体_GB2312" pitchFamily="49" charset="-122"/>
                <a:ea typeface="楷体_GB2312" pitchFamily="49" charset="-122"/>
                <a:sym typeface="楷体_GB2312" pitchFamily="49" charset="-122"/>
              </a:rPr>
              <a:t>反映了电感的变化，又反映了</a:t>
            </a:r>
            <a:r>
              <a:rPr lang="en-US" sz="2400" i="1" dirty="0">
                <a:solidFill>
                  <a:srgbClr val="0000FF"/>
                </a:solidFill>
                <a:latin typeface="楷体_GB2312" pitchFamily="49" charset="-122"/>
                <a:ea typeface="楷体_GB2312" pitchFamily="49" charset="-122"/>
                <a:sym typeface="楷体_GB2312" pitchFamily="49" charset="-122"/>
              </a:rPr>
              <a:t>Q</a:t>
            </a:r>
            <a:endParaRPr lang="zh-CN" altLang="en-US" sz="2400" i="1" dirty="0">
              <a:solidFill>
                <a:srgbClr val="0000FF"/>
              </a:solidFill>
              <a:latin typeface="楷体_GB2312" pitchFamily="49" charset="-122"/>
              <a:ea typeface="楷体_GB2312" pitchFamily="49" charset="-122"/>
              <a:sym typeface="楷体_GB2312" pitchFamily="49" charset="-122"/>
            </a:endParaRPr>
          </a:p>
          <a:p>
            <a:pPr eaLnBrk="1" hangingPunct="1">
              <a:lnSpc>
                <a:spcPct val="130000"/>
              </a:lnSpc>
            </a:pPr>
            <a:r>
              <a:rPr lang="zh-CN" altLang="en-US" sz="2400" dirty="0">
                <a:solidFill>
                  <a:srgbClr val="0000FF"/>
                </a:solidFill>
                <a:latin typeface="楷体_GB2312" pitchFamily="49" charset="-122"/>
                <a:ea typeface="楷体_GB2312" pitchFamily="49" charset="-122"/>
                <a:sym typeface="楷体_GB2312" pitchFamily="49" charset="-122"/>
              </a:rPr>
              <a:t>值变化</a:t>
            </a:r>
            <a:r>
              <a:rPr lang="zh-CN" altLang="en-US" sz="2400" dirty="0">
                <a:latin typeface="楷体_GB2312" pitchFamily="49" charset="-122"/>
                <a:ea typeface="楷体_GB2312" pitchFamily="49" charset="-122"/>
                <a:sym typeface="楷体_GB2312" pitchFamily="49" charset="-122"/>
              </a:rPr>
              <a:t>。</a:t>
            </a:r>
            <a:endParaRPr lang="zh-CN" altLang="en-US" dirty="0"/>
          </a:p>
        </p:txBody>
      </p:sp>
      <p:pic>
        <p:nvPicPr>
          <p:cNvPr id="9" name="Picture 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3575" y="136525"/>
            <a:ext cx="313055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2. 2 </a:t>
            </a:r>
            <a:r>
              <a:rPr lang="zh-CN" altLang="en-US" sz="3200" b="1" dirty="0">
                <a:solidFill>
                  <a:schemeClr val="tx2"/>
                </a:solidFill>
                <a:latin typeface="Calibri" pitchFamily="34" charset="0"/>
              </a:rPr>
              <a:t>等效电路</a:t>
            </a:r>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84D56EF-61E8-4B07-B505-421F199842FD}"/>
                  </a:ext>
                </a:extLst>
              </p:cNvPr>
              <p:cNvSpPr txBox="1"/>
              <p:nvPr/>
            </p:nvSpPr>
            <p:spPr>
              <a:xfrm>
                <a:off x="2590801" y="5936593"/>
                <a:ext cx="1500860" cy="762966"/>
              </a:xfrm>
              <a:prstGeom prst="rect">
                <a:avLst/>
              </a:prstGeom>
              <a:solidFill>
                <a:schemeClr val="bg2">
                  <a:lumMod val="9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i="1" smtClean="0">
                          <a:solidFill>
                            <a:srgbClr val="0000FF"/>
                          </a:solidFill>
                          <a:latin typeface="Cambria Math" panose="02040503050406030204" pitchFamily="18" charset="0"/>
                        </a:rPr>
                        <m:t>f</m:t>
                      </m:r>
                      <m:r>
                        <a:rPr lang="en-US" altLang="zh-CN" sz="2400" i="1" smtClean="0">
                          <a:solidFill>
                            <a:srgbClr val="0000FF"/>
                          </a:solidFill>
                          <a:latin typeface="Cambria Math" panose="02040503050406030204" pitchFamily="18" charset="0"/>
                        </a:rPr>
                        <m:t>=</m:t>
                      </m:r>
                      <m:f>
                        <m:fPr>
                          <m:ctrlPr>
                            <a:rPr lang="en-US" altLang="zh-CN" sz="2400" i="1" smtClean="0">
                              <a:solidFill>
                                <a:srgbClr val="0000FF"/>
                              </a:solidFill>
                              <a:latin typeface="Cambria Math" panose="02040503050406030204" pitchFamily="18" charset="0"/>
                            </a:rPr>
                          </m:ctrlPr>
                        </m:fPr>
                        <m:num>
                          <m:r>
                            <a:rPr lang="en-US" altLang="zh-CN" sz="2400" b="0" i="1" smtClean="0">
                              <a:solidFill>
                                <a:srgbClr val="0000FF"/>
                              </a:solidFill>
                              <a:latin typeface="Cambria Math" panose="02040503050406030204" pitchFamily="18" charset="0"/>
                            </a:rPr>
                            <m:t>1</m:t>
                          </m:r>
                        </m:num>
                        <m:den>
                          <m:r>
                            <a:rPr lang="en-US" altLang="zh-CN" sz="2400" b="0" i="1" smtClean="0">
                              <a:solidFill>
                                <a:srgbClr val="0000FF"/>
                              </a:solidFill>
                              <a:latin typeface="Cambria Math" panose="02040503050406030204" pitchFamily="18" charset="0"/>
                            </a:rPr>
                            <m:t>2</m:t>
                          </m:r>
                          <m:r>
                            <a:rPr lang="zh-CN" altLang="en-US" sz="2400" b="0" i="1" smtClean="0">
                              <a:solidFill>
                                <a:srgbClr val="0000FF"/>
                              </a:solidFill>
                              <a:latin typeface="Cambria Math" panose="02040503050406030204" pitchFamily="18" charset="0"/>
                            </a:rPr>
                            <m:t>𝜋</m:t>
                          </m:r>
                          <m:rad>
                            <m:radPr>
                              <m:degHide m:val="on"/>
                              <m:ctrlPr>
                                <a:rPr lang="zh-CN" altLang="en-US" sz="2400" b="0" i="1" smtClean="0">
                                  <a:solidFill>
                                    <a:srgbClr val="0000FF"/>
                                  </a:solidFill>
                                  <a:latin typeface="Cambria Math" panose="02040503050406030204" pitchFamily="18" charset="0"/>
                                </a:rPr>
                              </m:ctrlPr>
                            </m:radPr>
                            <m:deg/>
                            <m:e>
                              <m:r>
                                <a:rPr lang="en-US" altLang="zh-CN" sz="2400" b="0" i="1" smtClean="0">
                                  <a:solidFill>
                                    <a:srgbClr val="0000FF"/>
                                  </a:solidFill>
                                  <a:latin typeface="Cambria Math" panose="02040503050406030204" pitchFamily="18" charset="0"/>
                                </a:rPr>
                                <m:t>𝐿𝐶</m:t>
                              </m:r>
                            </m:e>
                          </m:rad>
                        </m:den>
                      </m:f>
                    </m:oMath>
                  </m:oMathPara>
                </a14:m>
                <a:endParaRPr lang="zh-CN" altLang="en-US" sz="2400" dirty="0">
                  <a:solidFill>
                    <a:srgbClr val="0000FF"/>
                  </a:solidFill>
                </a:endParaRPr>
              </a:p>
            </p:txBody>
          </p:sp>
        </mc:Choice>
        <mc:Fallback xmlns="">
          <p:sp>
            <p:nvSpPr>
              <p:cNvPr id="3" name="文本框 2">
                <a:extLst>
                  <a:ext uri="{FF2B5EF4-FFF2-40B4-BE49-F238E27FC236}">
                    <a16:creationId xmlns:a16="http://schemas.microsoft.com/office/drawing/2014/main" id="{184D56EF-61E8-4B07-B505-421F199842FD}"/>
                  </a:ext>
                </a:extLst>
              </p:cNvPr>
              <p:cNvSpPr txBox="1">
                <a:spLocks noRot="1" noChangeAspect="1" noMove="1" noResize="1" noEditPoints="1" noAdjustHandles="1" noChangeArrowheads="1" noChangeShapeType="1" noTextEdit="1"/>
              </p:cNvSpPr>
              <p:nvPr/>
            </p:nvSpPr>
            <p:spPr>
              <a:xfrm>
                <a:off x="2590801" y="5936593"/>
                <a:ext cx="1500860" cy="762966"/>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249635DE-B0AD-452A-9221-4882BBA910C1}" type="slidenum">
              <a:rPr lang="zh-CN" altLang="en-US"/>
              <a:pPr/>
              <a:t>66</a:t>
            </a:fld>
            <a:endParaRPr lang="zh-CN" altLang="en-US" sz="1800">
              <a:solidFill>
                <a:schemeClr val="tx1"/>
              </a:solidFill>
              <a:latin typeface="Arial" pitchFamily="34" charset="0"/>
            </a:endParaRPr>
          </a:p>
        </p:txBody>
      </p:sp>
      <p:sp>
        <p:nvSpPr>
          <p:cNvPr id="6861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8611" name="Rectangle 2"/>
          <p:cNvSpPr>
            <a:spLocks noChangeArrowheads="1"/>
          </p:cNvSpPr>
          <p:nvPr/>
        </p:nvSpPr>
        <p:spPr bwMode="auto">
          <a:xfrm>
            <a:off x="643065" y="32047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r>
              <a:rPr lang="zh-CN" altLang="en-US" sz="4000" dirty="0">
                <a:latin typeface="Calibri" pitchFamily="34" charset="0"/>
                <a:ea typeface="华文新魏" pitchFamily="2" charset="-122"/>
                <a:sym typeface="Calibri" pitchFamily="34" charset="0"/>
              </a:rPr>
              <a:t>讨论：</a:t>
            </a:r>
            <a:endParaRPr lang="zh-CN" altLang="en-US" dirty="0"/>
          </a:p>
        </p:txBody>
      </p:sp>
      <p:sp>
        <p:nvSpPr>
          <p:cNvPr id="68612" name="Rectangle 3"/>
          <p:cNvSpPr>
            <a:spLocks noChangeArrowheads="1"/>
          </p:cNvSpPr>
          <p:nvPr/>
        </p:nvSpPr>
        <p:spPr bwMode="auto">
          <a:xfrm>
            <a:off x="323204" y="2955508"/>
            <a:ext cx="8153400" cy="364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eaLnBrk="1" hangingPunct="1">
              <a:spcBef>
                <a:spcPct val="20000"/>
              </a:spcBef>
              <a:buFont typeface="Wingdings" pitchFamily="2" charset="2"/>
              <a:buChar char="n"/>
            </a:pPr>
            <a:r>
              <a:rPr lang="zh-CN" altLang="en-US" sz="2800" dirty="0">
                <a:solidFill>
                  <a:schemeClr val="tx2"/>
                </a:solidFill>
                <a:latin typeface="楷体_GB2312" pitchFamily="49" charset="-122"/>
                <a:ea typeface="楷体_GB2312" pitchFamily="49" charset="-122"/>
                <a:sym typeface="楷体_GB2312" pitchFamily="49" charset="-122"/>
              </a:rPr>
              <a:t>电涡流效应使得等效电阻增大、等效电感减小，品质因素减小。</a:t>
            </a:r>
          </a:p>
          <a:p>
            <a:pPr marL="457200" indent="-457200" eaLnBrk="1" hangingPunct="1">
              <a:spcBef>
                <a:spcPct val="20000"/>
              </a:spcBef>
              <a:buFont typeface="Wingdings" pitchFamily="2" charset="2"/>
              <a:buChar char="n"/>
            </a:pPr>
            <a:r>
              <a:rPr lang="zh-CN" altLang="en-US" sz="2800" dirty="0">
                <a:solidFill>
                  <a:schemeClr val="tx2"/>
                </a:solidFill>
                <a:latin typeface="楷体_GB2312" pitchFamily="49" charset="-122"/>
                <a:ea typeface="楷体_GB2312" pitchFamily="49" charset="-122"/>
                <a:sym typeface="楷体_GB2312" pitchFamily="49" charset="-122"/>
              </a:rPr>
              <a:t>电涡流效应必然消耗能量→等效电阻↑</a:t>
            </a:r>
          </a:p>
          <a:p>
            <a:pPr marL="457200" indent="-457200" eaLnBrk="1" hangingPunct="1">
              <a:spcBef>
                <a:spcPct val="20000"/>
              </a:spcBef>
              <a:buFont typeface="Wingdings" pitchFamily="2" charset="2"/>
              <a:buChar char="n"/>
            </a:pPr>
            <a:r>
              <a:rPr lang="zh-CN" altLang="en-US" sz="2800" dirty="0">
                <a:solidFill>
                  <a:schemeClr val="tx2"/>
                </a:solidFill>
                <a:latin typeface="楷体_GB2312" pitchFamily="49" charset="-122"/>
                <a:ea typeface="楷体_GB2312" pitchFamily="49" charset="-122"/>
                <a:sym typeface="楷体_GB2312" pitchFamily="49" charset="-122"/>
              </a:rPr>
              <a:t>等效电感、等效阻抗、品质因素与</a:t>
            </a:r>
            <a:r>
              <a:rPr lang="en-US" sz="2800" dirty="0">
                <a:solidFill>
                  <a:schemeClr val="tx2"/>
                </a:solidFill>
                <a:latin typeface="楷体_GB2312" pitchFamily="49" charset="-122"/>
                <a:ea typeface="楷体_GB2312" pitchFamily="49" charset="-122"/>
                <a:sym typeface="楷体_GB2312" pitchFamily="49" charset="-122"/>
              </a:rPr>
              <a:t>M</a:t>
            </a:r>
            <a:r>
              <a:rPr lang="zh-CN" altLang="en-US" sz="2800" dirty="0">
                <a:solidFill>
                  <a:schemeClr val="tx2"/>
                </a:solidFill>
                <a:latin typeface="楷体_GB2312" pitchFamily="49" charset="-122"/>
                <a:ea typeface="楷体_GB2312" pitchFamily="49" charset="-122"/>
                <a:sym typeface="楷体_GB2312" pitchFamily="49" charset="-122"/>
              </a:rPr>
              <a:t>平方有关，是距离</a:t>
            </a:r>
            <a:r>
              <a:rPr lang="en-US" sz="2800" dirty="0">
                <a:solidFill>
                  <a:schemeClr val="tx2"/>
                </a:solidFill>
                <a:latin typeface="楷体_GB2312" pitchFamily="49" charset="-122"/>
                <a:ea typeface="楷体_GB2312" pitchFamily="49" charset="-122"/>
                <a:sym typeface="楷体_GB2312" pitchFamily="49" charset="-122"/>
              </a:rPr>
              <a:t>x</a:t>
            </a:r>
            <a:r>
              <a:rPr lang="zh-CN" altLang="en-US" sz="2800" dirty="0">
                <a:solidFill>
                  <a:schemeClr val="tx2"/>
                </a:solidFill>
                <a:latin typeface="楷体_GB2312" pitchFamily="49" charset="-122"/>
                <a:ea typeface="楷体_GB2312" pitchFamily="49" charset="-122"/>
                <a:sym typeface="楷体_GB2312" pitchFamily="49" charset="-122"/>
              </a:rPr>
              <a:t>的非线性函数。</a:t>
            </a:r>
          </a:p>
          <a:p>
            <a:pPr marL="457200" indent="-457200" eaLnBrk="1" hangingPunct="1">
              <a:spcBef>
                <a:spcPct val="20000"/>
              </a:spcBef>
              <a:buFont typeface="Wingdings" pitchFamily="2" charset="2"/>
              <a:buChar char="n"/>
            </a:pPr>
            <a:r>
              <a:rPr lang="zh-CN" altLang="en-US" sz="2800" dirty="0">
                <a:solidFill>
                  <a:schemeClr val="tx2"/>
                </a:solidFill>
                <a:latin typeface="楷体_GB2312" pitchFamily="49" charset="-122"/>
                <a:ea typeface="楷体_GB2312" pitchFamily="49" charset="-122"/>
                <a:sym typeface="楷体_GB2312" pitchFamily="49" charset="-122"/>
              </a:rPr>
              <a:t>电涡流效应与距离的关系：</a:t>
            </a:r>
          </a:p>
          <a:p>
            <a:pPr lvl="1" eaLnBrk="1" hangingPunct="1">
              <a:spcBef>
                <a:spcPct val="20000"/>
              </a:spcBef>
            </a:pPr>
            <a:r>
              <a:rPr lang="en-US" sz="2800" dirty="0">
                <a:solidFill>
                  <a:schemeClr val="tx2"/>
                </a:solidFill>
                <a:latin typeface="+mj-lt"/>
                <a:ea typeface="楷体_GB2312" pitchFamily="49" charset="-122"/>
                <a:cs typeface="Times New Roman" panose="02020603050405020304" pitchFamily="18" charset="0"/>
                <a:sym typeface="楷体_GB2312" pitchFamily="49" charset="-122"/>
              </a:rPr>
              <a:t>x</a:t>
            </a:r>
            <a:r>
              <a:rPr lang="en-US" sz="2800" dirty="0">
                <a:solidFill>
                  <a:schemeClr val="tx2"/>
                </a:solidFill>
                <a:latin typeface="楷体_GB2312" pitchFamily="49" charset="-122"/>
                <a:ea typeface="楷体_GB2312" pitchFamily="49" charset="-122"/>
                <a:sym typeface="楷体_GB2312" pitchFamily="49" charset="-122"/>
              </a:rPr>
              <a:t>↓→</a:t>
            </a:r>
            <a:r>
              <a:rPr lang="zh-CN" altLang="en-US" sz="2800" dirty="0">
                <a:solidFill>
                  <a:schemeClr val="tx2"/>
                </a:solidFill>
                <a:latin typeface="楷体_GB2312" pitchFamily="49" charset="-122"/>
                <a:ea typeface="楷体_GB2312" pitchFamily="49" charset="-122"/>
                <a:sym typeface="楷体_GB2312" pitchFamily="49" charset="-122"/>
              </a:rPr>
              <a:t>电涡流效应↑→△</a:t>
            </a:r>
            <a:r>
              <a:rPr lang="en-US" sz="2800" dirty="0">
                <a:solidFill>
                  <a:schemeClr val="tx2"/>
                </a:solidFill>
                <a:latin typeface="楷体_GB2312" pitchFamily="49" charset="-122"/>
                <a:ea typeface="楷体_GB2312" pitchFamily="49" charset="-122"/>
                <a:sym typeface="楷体_GB2312" pitchFamily="49" charset="-122"/>
              </a:rPr>
              <a:t>L↑,</a:t>
            </a:r>
            <a:r>
              <a:rPr lang="en-US" altLang="zh-CN" sz="2800" dirty="0">
                <a:solidFill>
                  <a:schemeClr val="tx2"/>
                </a:solidFill>
                <a:latin typeface="楷体_GB2312" pitchFamily="49" charset="-122"/>
                <a:ea typeface="楷体_GB2312" pitchFamily="49" charset="-122"/>
                <a:sym typeface="楷体_GB2312" pitchFamily="49" charset="-122"/>
              </a:rPr>
              <a:t> Q↓</a:t>
            </a:r>
            <a:endParaRPr lang="zh-CN" altLang="en-US" sz="2800" dirty="0">
              <a:solidFill>
                <a:schemeClr val="tx2"/>
              </a:solidFill>
              <a:latin typeface="楷体_GB2312" pitchFamily="49" charset="-122"/>
              <a:ea typeface="楷体_GB2312" pitchFamily="49" charset="-122"/>
              <a:sym typeface="楷体_GB2312" pitchFamily="49" charset="-122"/>
            </a:endParaRPr>
          </a:p>
        </p:txBody>
      </p:sp>
      <p:pic>
        <p:nvPicPr>
          <p:cNvPr id="6"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309" y="1745833"/>
            <a:ext cx="5491162"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0631" y="296294"/>
            <a:ext cx="3257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68612">
                                            <p:txEl>
                                              <p:pRg st="0" end="0"/>
                                            </p:txEl>
                                          </p:spTgt>
                                        </p:tgtEl>
                                        <p:attrNameLst>
                                          <p:attrName>style.visibility</p:attrName>
                                        </p:attrNameLst>
                                      </p:cBhvr>
                                      <p:to>
                                        <p:strVal val="visible"/>
                                      </p:to>
                                    </p:set>
                                    <p:animEffect>
                                      <p:cBhvr>
                                        <p:cTn id="7" dur="500"/>
                                        <p:tgtEl>
                                          <p:spTgt spid="686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68612">
                                            <p:txEl>
                                              <p:pRg st="1" end="1"/>
                                            </p:txEl>
                                          </p:spTgt>
                                        </p:tgtEl>
                                        <p:attrNameLst>
                                          <p:attrName>style.visibility</p:attrName>
                                        </p:attrNameLst>
                                      </p:cBhvr>
                                      <p:to>
                                        <p:strVal val="visible"/>
                                      </p:to>
                                    </p:set>
                                    <p:animEffect>
                                      <p:cBhvr>
                                        <p:cTn id="12" dur="500"/>
                                        <p:tgtEl>
                                          <p:spTgt spid="6861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68612">
                                            <p:txEl>
                                              <p:pRg st="2" end="2"/>
                                            </p:txEl>
                                          </p:spTgt>
                                        </p:tgtEl>
                                        <p:attrNameLst>
                                          <p:attrName>style.visibility</p:attrName>
                                        </p:attrNameLst>
                                      </p:cBhvr>
                                      <p:to>
                                        <p:strVal val="visible"/>
                                      </p:to>
                                    </p:set>
                                    <p:animEffect>
                                      <p:cBhvr>
                                        <p:cTn id="17" dur="500"/>
                                        <p:tgtEl>
                                          <p:spTgt spid="6861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68612">
                                            <p:txEl>
                                              <p:pRg st="3" end="3"/>
                                            </p:txEl>
                                          </p:spTgt>
                                        </p:tgtEl>
                                        <p:attrNameLst>
                                          <p:attrName>style.visibility</p:attrName>
                                        </p:attrNameLst>
                                      </p:cBhvr>
                                      <p:to>
                                        <p:strVal val="visible"/>
                                      </p:to>
                                    </p:set>
                                    <p:animEffect>
                                      <p:cBhvr>
                                        <p:cTn id="22" dur="500"/>
                                        <p:tgtEl>
                                          <p:spTgt spid="6861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68612">
                                            <p:txEl>
                                              <p:pRg st="4" end="4"/>
                                            </p:txEl>
                                          </p:spTgt>
                                        </p:tgtEl>
                                        <p:attrNameLst>
                                          <p:attrName>style.visibility</p:attrName>
                                        </p:attrNameLst>
                                      </p:cBhvr>
                                      <p:to>
                                        <p:strVal val="visible"/>
                                      </p:to>
                                    </p:set>
                                    <p:animEffect>
                                      <p:cBhvr>
                                        <p:cTn id="27" dur="500"/>
                                        <p:tgtEl>
                                          <p:spTgt spid="686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build="p" bldLvl="2"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A99263AF-9557-4EC9-AFB6-4474FD804F39}" type="slidenum">
              <a:rPr lang="zh-CN" altLang="en-US"/>
              <a:pPr/>
              <a:t>67</a:t>
            </a:fld>
            <a:endParaRPr lang="zh-CN" altLang="en-US" sz="1800">
              <a:solidFill>
                <a:schemeClr val="tx1"/>
              </a:solidFill>
              <a:latin typeface="Arial" pitchFamily="34" charset="0"/>
            </a:endParaRPr>
          </a:p>
        </p:txBody>
      </p:sp>
      <p:sp>
        <p:nvSpPr>
          <p:cNvPr id="6963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9635" name="TextBox 5"/>
          <p:cNvSpPr>
            <a:spLocks noChangeArrowheads="1"/>
          </p:cNvSpPr>
          <p:nvPr/>
        </p:nvSpPr>
        <p:spPr bwMode="auto">
          <a:xfrm>
            <a:off x="761778" y="188775"/>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2. 3 </a:t>
            </a:r>
            <a:r>
              <a:rPr lang="zh-CN" altLang="en-US" sz="3200" b="1" dirty="0">
                <a:solidFill>
                  <a:schemeClr val="tx2"/>
                </a:solidFill>
                <a:latin typeface="Calibri" pitchFamily="34" charset="0"/>
              </a:rPr>
              <a:t>电涡流传感器分类</a:t>
            </a:r>
            <a:endParaRPr lang="zh-CN" altLang="en-US" dirty="0"/>
          </a:p>
        </p:txBody>
      </p:sp>
      <p:sp>
        <p:nvSpPr>
          <p:cNvPr id="69636" name="Text Box 13"/>
          <p:cNvSpPr>
            <a:spLocks noChangeArrowheads="1"/>
          </p:cNvSpPr>
          <p:nvPr/>
        </p:nvSpPr>
        <p:spPr bwMode="auto">
          <a:xfrm>
            <a:off x="744538" y="1273175"/>
            <a:ext cx="18827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3200">
                <a:sym typeface="Arial" pitchFamily="34" charset="0"/>
              </a:rPr>
              <a:t>反射式</a:t>
            </a:r>
            <a:r>
              <a:rPr lang="zh-CN" altLang="en-US" sz="2400">
                <a:sym typeface="Arial" pitchFamily="34" charset="0"/>
              </a:rPr>
              <a:t>：</a:t>
            </a:r>
            <a:endParaRPr lang="zh-CN" altLang="en-US"/>
          </a:p>
        </p:txBody>
      </p:sp>
      <p:pic>
        <p:nvPicPr>
          <p:cNvPr id="69637" name="Picture 2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0292" y="1196845"/>
            <a:ext cx="4463888" cy="555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04853C80-3264-46F1-89B1-754E65E775F8}" type="slidenum">
              <a:rPr lang="zh-CN" altLang="en-US"/>
              <a:pPr/>
              <a:t>68</a:t>
            </a:fld>
            <a:endParaRPr lang="zh-CN" altLang="en-US" sz="1800">
              <a:solidFill>
                <a:schemeClr val="tx1"/>
              </a:solidFill>
              <a:latin typeface="Arial" pitchFamily="34" charset="0"/>
            </a:endParaRPr>
          </a:p>
        </p:txBody>
      </p:sp>
      <p:sp>
        <p:nvSpPr>
          <p:cNvPr id="7065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pic>
        <p:nvPicPr>
          <p:cNvPr id="70659" name="Picture 2" descr="dh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8750" y="148384"/>
            <a:ext cx="4920607" cy="3403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Rectangle 3"/>
          <p:cNvSpPr>
            <a:spLocks noChangeArrowheads="1"/>
          </p:cNvSpPr>
          <p:nvPr/>
        </p:nvSpPr>
        <p:spPr bwMode="auto">
          <a:xfrm>
            <a:off x="574675" y="3763963"/>
            <a:ext cx="8153400" cy="23083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rgbClr val="FF0000"/>
              </a:buClr>
              <a:buFont typeface="Wingdings" pitchFamily="2" charset="2"/>
              <a:buChar char="ü"/>
            </a:pP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低频</a:t>
            </a:r>
            <a:r>
              <a:rPr lang="en-US" sz="2400" dirty="0">
                <a:solidFill>
                  <a:srgbClr val="000000"/>
                </a:solidFill>
                <a:highlight>
                  <a:srgbClr val="FFFF00"/>
                </a:highlight>
                <a:latin typeface="楷体_GB2312" pitchFamily="49" charset="-122"/>
                <a:ea typeface="楷体_GB2312" pitchFamily="49" charset="-122"/>
                <a:sym typeface="楷体_GB2312" pitchFamily="49" charset="-122"/>
              </a:rPr>
              <a:t>(</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音频范围</a:t>
            </a:r>
            <a:r>
              <a:rPr lang="en-US" sz="2400" dirty="0">
                <a:solidFill>
                  <a:srgbClr val="000000"/>
                </a:solidFill>
                <a:highlight>
                  <a:srgbClr val="FFFF00"/>
                </a:highlight>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电压</a:t>
            </a:r>
            <a:r>
              <a:rPr lang="en-US" sz="2400" dirty="0">
                <a:solidFill>
                  <a:srgbClr val="000000"/>
                </a:solidFill>
                <a:latin typeface="Times New Roman" pitchFamily="18" charset="0"/>
                <a:ea typeface="楷体_GB2312" pitchFamily="49" charset="-122"/>
                <a:sym typeface="Times New Roman" pitchFamily="18" charset="0"/>
              </a:rPr>
              <a:t>e1 </a:t>
            </a:r>
            <a:r>
              <a:rPr lang="zh-CN" altLang="en-US" sz="2400" dirty="0">
                <a:solidFill>
                  <a:srgbClr val="000000"/>
                </a:solidFill>
                <a:latin typeface="楷体_GB2312" pitchFamily="49" charset="-122"/>
                <a:ea typeface="楷体_GB2312" pitchFamily="49" charset="-122"/>
                <a:sym typeface="楷体_GB2312" pitchFamily="49" charset="-122"/>
              </a:rPr>
              <a:t>加到线圈</a:t>
            </a:r>
            <a:r>
              <a:rPr lang="en-US" sz="2400" dirty="0">
                <a:solidFill>
                  <a:srgbClr val="000000"/>
                </a:solidFill>
                <a:latin typeface="Times New Roman" pitchFamily="18" charset="0"/>
                <a:ea typeface="楷体_GB2312" pitchFamily="49" charset="-122"/>
                <a:sym typeface="Times New Roman" pitchFamily="18" charset="0"/>
              </a:rPr>
              <a:t>ω1 </a:t>
            </a:r>
            <a:r>
              <a:rPr lang="zh-CN" altLang="en-US" sz="2400" dirty="0">
                <a:solidFill>
                  <a:srgbClr val="000000"/>
                </a:solidFill>
                <a:latin typeface="楷体_GB2312" pitchFamily="49" charset="-122"/>
                <a:ea typeface="楷体_GB2312" pitchFamily="49" charset="-122"/>
                <a:sym typeface="楷体_GB2312" pitchFamily="49" charset="-122"/>
              </a:rPr>
              <a:t>的两端后</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在周围空间产生一交变磁场</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并在被测材料</a:t>
            </a:r>
            <a:r>
              <a:rPr lang="en-US" sz="2400" dirty="0">
                <a:solidFill>
                  <a:srgbClr val="000000"/>
                </a:solidFill>
                <a:latin typeface="Times New Roman" pitchFamily="18" charset="0"/>
                <a:ea typeface="楷体_GB2312" pitchFamily="49" charset="-122"/>
                <a:sym typeface="Times New Roman" pitchFamily="18" charset="0"/>
              </a:rPr>
              <a:t>G</a:t>
            </a:r>
            <a:r>
              <a:rPr lang="zh-CN" altLang="en-US" sz="2400" dirty="0">
                <a:solidFill>
                  <a:srgbClr val="000000"/>
                </a:solidFill>
                <a:latin typeface="楷体_GB2312" pitchFamily="49" charset="-122"/>
                <a:ea typeface="楷体_GB2312" pitchFamily="49" charset="-122"/>
                <a:sym typeface="楷体_GB2312" pitchFamily="49" charset="-122"/>
              </a:rPr>
              <a:t>中产生涡流</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此涡流损耗了部分能量</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使贯穿</a:t>
            </a:r>
            <a:r>
              <a:rPr lang="en-US" sz="2400" dirty="0">
                <a:solidFill>
                  <a:srgbClr val="000000"/>
                </a:solidFill>
                <a:latin typeface="Times New Roman" pitchFamily="18" charset="0"/>
                <a:ea typeface="楷体_GB2312" pitchFamily="49" charset="-122"/>
                <a:sym typeface="Times New Roman" pitchFamily="18" charset="0"/>
              </a:rPr>
              <a:t>ω2</a:t>
            </a:r>
            <a:r>
              <a:rPr lang="zh-CN" altLang="en-US" sz="2400" dirty="0">
                <a:solidFill>
                  <a:srgbClr val="000000"/>
                </a:solidFill>
                <a:latin typeface="楷体_GB2312" pitchFamily="49" charset="-122"/>
                <a:ea typeface="楷体_GB2312" pitchFamily="49" charset="-122"/>
                <a:sym typeface="楷体_GB2312" pitchFamily="49" charset="-122"/>
              </a:rPr>
              <a:t>的磁力线减少</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从而</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使</a:t>
            </a:r>
            <a:r>
              <a:rPr lang="en-US" sz="2400" dirty="0">
                <a:solidFill>
                  <a:srgbClr val="000000"/>
                </a:solidFill>
                <a:highlight>
                  <a:srgbClr val="FFFF00"/>
                </a:highlight>
                <a:latin typeface="Times New Roman" pitchFamily="18" charset="0"/>
                <a:ea typeface="楷体_GB2312" pitchFamily="49" charset="-122"/>
                <a:sym typeface="Times New Roman" pitchFamily="18" charset="0"/>
              </a:rPr>
              <a:t>ω2</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产生的感应电势</a:t>
            </a:r>
            <a:r>
              <a:rPr lang="en-US" sz="2400" dirty="0">
                <a:solidFill>
                  <a:srgbClr val="000000"/>
                </a:solidFill>
                <a:highlight>
                  <a:srgbClr val="FFFF00"/>
                </a:highlight>
                <a:latin typeface="Times New Roman" pitchFamily="18" charset="0"/>
                <a:ea typeface="楷体_GB2312" pitchFamily="49" charset="-122"/>
                <a:sym typeface="Times New Roman" pitchFamily="18" charset="0"/>
              </a:rPr>
              <a:t>e2 </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减小</a:t>
            </a:r>
            <a:r>
              <a:rPr lang="zh-CN" altLang="en-US" sz="2400" dirty="0">
                <a:solidFill>
                  <a:srgbClr val="000000"/>
                </a:solidFill>
                <a:latin typeface="楷体_GB2312" pitchFamily="49" charset="-122"/>
                <a:ea typeface="楷体_GB2312" pitchFamily="49" charset="-122"/>
                <a:sym typeface="楷体_GB2312" pitchFamily="49" charset="-122"/>
              </a:rPr>
              <a:t>。</a:t>
            </a:r>
          </a:p>
          <a:p>
            <a:pPr>
              <a:buClr>
                <a:srgbClr val="FF0000"/>
              </a:buClr>
              <a:buFont typeface="Wingdings" pitchFamily="2" charset="2"/>
              <a:buChar char="ü"/>
            </a:pPr>
            <a:r>
              <a:rPr lang="en-US" sz="2400" dirty="0">
                <a:solidFill>
                  <a:srgbClr val="000000"/>
                </a:solidFill>
                <a:latin typeface="Times New Roman" pitchFamily="18" charset="0"/>
                <a:ea typeface="楷体_GB2312" pitchFamily="49" charset="-122"/>
                <a:sym typeface="Times New Roman" pitchFamily="18" charset="0"/>
              </a:rPr>
              <a:t>e2 </a:t>
            </a:r>
            <a:r>
              <a:rPr lang="zh-CN" altLang="en-US" sz="2400" dirty="0">
                <a:solidFill>
                  <a:srgbClr val="000000"/>
                </a:solidFill>
                <a:latin typeface="楷体_GB2312" pitchFamily="49" charset="-122"/>
                <a:ea typeface="楷体_GB2312" pitchFamily="49" charset="-122"/>
                <a:sym typeface="楷体_GB2312" pitchFamily="49" charset="-122"/>
              </a:rPr>
              <a:t>的大小与</a:t>
            </a:r>
            <a:r>
              <a:rPr lang="en-US" sz="2400" dirty="0">
                <a:solidFill>
                  <a:srgbClr val="000000"/>
                </a:solidFill>
                <a:latin typeface="楷体_GB2312" pitchFamily="49" charset="-122"/>
                <a:ea typeface="楷体_GB2312" pitchFamily="49" charset="-122"/>
                <a:sym typeface="楷体_GB2312" pitchFamily="49" charset="-122"/>
              </a:rPr>
              <a:t>G</a:t>
            </a:r>
            <a:r>
              <a:rPr lang="zh-CN" altLang="en-US" sz="2400" dirty="0">
                <a:solidFill>
                  <a:srgbClr val="000000"/>
                </a:solidFill>
                <a:latin typeface="楷体_GB2312" pitchFamily="49" charset="-122"/>
                <a:ea typeface="楷体_GB2312" pitchFamily="49" charset="-122"/>
                <a:sym typeface="楷体_GB2312" pitchFamily="49" charset="-122"/>
              </a:rPr>
              <a:t>的厚度及材料性质有关</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实验与理论证明</a:t>
            </a:r>
            <a:r>
              <a:rPr lang="en-US" sz="2400" dirty="0">
                <a:solidFill>
                  <a:srgbClr val="000000"/>
                </a:solidFill>
                <a:latin typeface="楷体_GB2312" pitchFamily="49" charset="-122"/>
                <a:ea typeface="楷体_GB2312" pitchFamily="49" charset="-122"/>
                <a:sym typeface="楷体_GB2312" pitchFamily="49" charset="-122"/>
              </a:rPr>
              <a:t>,</a:t>
            </a:r>
            <a:r>
              <a:rPr lang="en-US" sz="2400" dirty="0">
                <a:solidFill>
                  <a:srgbClr val="0000FF"/>
                </a:solidFill>
                <a:latin typeface="Times New Roman" pitchFamily="18" charset="0"/>
                <a:ea typeface="楷体_GB2312" pitchFamily="49" charset="-122"/>
                <a:sym typeface="Times New Roman" pitchFamily="18" charset="0"/>
              </a:rPr>
              <a:t>e2 </a:t>
            </a:r>
            <a:r>
              <a:rPr lang="zh-CN" altLang="en-US" sz="2400" dirty="0">
                <a:solidFill>
                  <a:srgbClr val="0000FF"/>
                </a:solidFill>
                <a:latin typeface="楷体_GB2312" pitchFamily="49" charset="-122"/>
                <a:ea typeface="楷体_GB2312" pitchFamily="49" charset="-122"/>
                <a:sym typeface="楷体_GB2312" pitchFamily="49" charset="-122"/>
              </a:rPr>
              <a:t>随材料厚度</a:t>
            </a:r>
            <a:r>
              <a:rPr lang="en-US" sz="2400" dirty="0">
                <a:solidFill>
                  <a:srgbClr val="0000FF"/>
                </a:solidFill>
                <a:latin typeface="楷体_GB2312" pitchFamily="49" charset="-122"/>
                <a:ea typeface="楷体_GB2312" pitchFamily="49" charset="-122"/>
                <a:sym typeface="楷体_GB2312" pitchFamily="49" charset="-122"/>
              </a:rPr>
              <a:t>h</a:t>
            </a:r>
            <a:r>
              <a:rPr lang="zh-CN" altLang="en-US" sz="2400" dirty="0">
                <a:solidFill>
                  <a:srgbClr val="0000FF"/>
                </a:solidFill>
                <a:latin typeface="楷体_GB2312" pitchFamily="49" charset="-122"/>
                <a:ea typeface="楷体_GB2312" pitchFamily="49" charset="-122"/>
                <a:sym typeface="楷体_GB2312" pitchFamily="49" charset="-122"/>
              </a:rPr>
              <a:t>增加按负指数规律减小</a:t>
            </a:r>
            <a:r>
              <a:rPr lang="zh-CN" altLang="en-US" sz="2400" dirty="0">
                <a:solidFill>
                  <a:srgbClr val="000000"/>
                </a:solidFill>
                <a:latin typeface="楷体_GB2312" pitchFamily="49" charset="-122"/>
                <a:ea typeface="楷体_GB2312" pitchFamily="49" charset="-122"/>
                <a:sym typeface="楷体_GB2312" pitchFamily="49" charset="-122"/>
              </a:rPr>
              <a:t>。</a:t>
            </a:r>
            <a:endParaRPr lang="zh-CN" altLang="en-US" dirty="0"/>
          </a:p>
        </p:txBody>
      </p:sp>
      <p:sp>
        <p:nvSpPr>
          <p:cNvPr id="70661" name="Rectangle 4"/>
          <p:cNvSpPr>
            <a:spLocks noChangeArrowheads="1"/>
          </p:cNvSpPr>
          <p:nvPr/>
        </p:nvSpPr>
        <p:spPr bwMode="auto">
          <a:xfrm>
            <a:off x="900113" y="1200150"/>
            <a:ext cx="1514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3200">
                <a:solidFill>
                  <a:srgbClr val="000000"/>
                </a:solidFill>
              </a:rPr>
              <a:t>透射式</a:t>
            </a:r>
            <a:r>
              <a:rPr lang="en-US" sz="2400">
                <a:solidFill>
                  <a:srgbClr val="000000"/>
                </a:solidFill>
              </a:rPr>
              <a:t>:</a:t>
            </a:r>
            <a:endParaRPr lang="zh-CN" altLang="en-US"/>
          </a:p>
        </p:txBody>
      </p:sp>
      <p:sp>
        <p:nvSpPr>
          <p:cNvPr id="7" name="TextBox 5">
            <a:extLst>
              <a:ext uri="{FF2B5EF4-FFF2-40B4-BE49-F238E27FC236}">
                <a16:creationId xmlns:a16="http://schemas.microsoft.com/office/drawing/2014/main" id="{BBEDBF19-2125-4578-AE99-DCDE25571FAC}"/>
              </a:ext>
            </a:extLst>
          </p:cNvPr>
          <p:cNvSpPr>
            <a:spLocks noChangeArrowheads="1"/>
          </p:cNvSpPr>
          <p:nvPr/>
        </p:nvSpPr>
        <p:spPr bwMode="auto">
          <a:xfrm>
            <a:off x="172860" y="261938"/>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2. 3 </a:t>
            </a:r>
            <a:r>
              <a:rPr lang="zh-CN" altLang="en-US" sz="3200" b="1" dirty="0">
                <a:solidFill>
                  <a:schemeClr val="tx2"/>
                </a:solidFill>
                <a:latin typeface="Calibri" pitchFamily="34" charset="0"/>
              </a:rPr>
              <a:t>传感器分类</a:t>
            </a:r>
            <a:endParaRPr lang="zh-CN" altLang="en-US" dirty="0"/>
          </a:p>
        </p:txBody>
      </p:sp>
      <p:sp>
        <p:nvSpPr>
          <p:cNvPr id="2" name="矩形 1">
            <a:extLst>
              <a:ext uri="{FF2B5EF4-FFF2-40B4-BE49-F238E27FC236}">
                <a16:creationId xmlns:a16="http://schemas.microsoft.com/office/drawing/2014/main" id="{2F5CE3F9-41C6-41A4-8F07-9BB5B9D9D879}"/>
              </a:ext>
            </a:extLst>
          </p:cNvPr>
          <p:cNvSpPr/>
          <p:nvPr/>
        </p:nvSpPr>
        <p:spPr>
          <a:xfrm>
            <a:off x="2803263" y="6161067"/>
            <a:ext cx="3570208" cy="46166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a:spAutoFit/>
          </a:bodyPr>
          <a:lstStyle/>
          <a:p>
            <a:r>
              <a:rPr lang="zh-CN" altLang="en-US" sz="2400" dirty="0">
                <a:solidFill>
                  <a:srgbClr val="1EA2EE"/>
                </a:solidFill>
                <a:latin typeface="楷体_GB2312" pitchFamily="49" charset="-122"/>
                <a:ea typeface="楷体_GB2312" pitchFamily="49" charset="-122"/>
                <a:sym typeface="楷体_GB2312" pitchFamily="49" charset="-122"/>
              </a:rPr>
              <a:t>问：为什么工作在低频？</a:t>
            </a:r>
            <a:endParaRPr lang="zh-CN" altLang="en-US" sz="2400" dirty="0">
              <a:solidFill>
                <a:srgbClr val="1EA2EE"/>
              </a:solidFill>
            </a:endParaRPr>
          </a:p>
        </p:txBody>
      </p:sp>
      <p:sp>
        <p:nvSpPr>
          <p:cNvPr id="3" name="矩形 2">
            <a:extLst>
              <a:ext uri="{FF2B5EF4-FFF2-40B4-BE49-F238E27FC236}">
                <a16:creationId xmlns:a16="http://schemas.microsoft.com/office/drawing/2014/main" id="{35C5D770-DA32-4444-B7CD-E5F3EB1342AF}"/>
              </a:ext>
            </a:extLst>
          </p:cNvPr>
          <p:cNvSpPr/>
          <p:nvPr/>
        </p:nvSpPr>
        <p:spPr>
          <a:xfrm>
            <a:off x="574675" y="2363609"/>
            <a:ext cx="2709872" cy="1200329"/>
          </a:xfrm>
          <a:prstGeom prst="rect">
            <a:avLst/>
          </a:prstGeom>
        </p:spPr>
        <p:txBody>
          <a:bodyPr wrap="square">
            <a:spAutoFit/>
          </a:bodyPr>
          <a:lstStyle/>
          <a:p>
            <a:pPr eaLnBrk="1" hangingPunct="1">
              <a:buClr>
                <a:srgbClr val="FF0000"/>
              </a:buClr>
              <a:buFont typeface="Wingdings" pitchFamily="2" charset="2"/>
              <a:buChar char="ü"/>
            </a:pPr>
            <a:r>
              <a:rPr lang="zh-CN" altLang="en-US" sz="2400" dirty="0">
                <a:solidFill>
                  <a:srgbClr val="000000"/>
                </a:solidFill>
                <a:latin typeface="楷体_GB2312" pitchFamily="49" charset="-122"/>
                <a:ea typeface="楷体_GB2312" pitchFamily="49" charset="-122"/>
                <a:sym typeface="楷体_GB2312" pitchFamily="49" charset="-122"/>
              </a:rPr>
              <a:t>发射线圈</a:t>
            </a:r>
            <a:r>
              <a:rPr lang="en-US" altLang="zh-CN" sz="2400" dirty="0">
                <a:solidFill>
                  <a:srgbClr val="000000"/>
                </a:solidFill>
                <a:latin typeface="Times New Roman" pitchFamily="18" charset="0"/>
                <a:ea typeface="楷体_GB2312" pitchFamily="49" charset="-122"/>
                <a:sym typeface="Times New Roman" pitchFamily="18" charset="0"/>
              </a:rPr>
              <a:t>ω1 </a:t>
            </a:r>
            <a:r>
              <a:rPr lang="zh-CN" altLang="en-US" sz="2400" dirty="0">
                <a:solidFill>
                  <a:srgbClr val="000000"/>
                </a:solidFill>
                <a:latin typeface="楷体_GB2312" pitchFamily="49" charset="-122"/>
                <a:ea typeface="楷体_GB2312" pitchFamily="49" charset="-122"/>
                <a:sym typeface="楷体_GB2312" pitchFamily="49" charset="-122"/>
              </a:rPr>
              <a:t>和接收线圈</a:t>
            </a:r>
            <a:r>
              <a:rPr lang="en-US" altLang="zh-CN" sz="2400" dirty="0">
                <a:solidFill>
                  <a:srgbClr val="000000"/>
                </a:solidFill>
                <a:latin typeface="Times New Roman" pitchFamily="18" charset="0"/>
                <a:ea typeface="楷体_GB2312" pitchFamily="49" charset="-122"/>
                <a:sym typeface="Times New Roman" pitchFamily="18" charset="0"/>
              </a:rPr>
              <a:t>ω2</a:t>
            </a:r>
            <a:r>
              <a:rPr lang="zh-CN" altLang="en-US" sz="2400" dirty="0">
                <a:solidFill>
                  <a:srgbClr val="000000"/>
                </a:solidFill>
                <a:latin typeface="楷体_GB2312" pitchFamily="49" charset="-122"/>
                <a:ea typeface="楷体_GB2312" pitchFamily="49" charset="-122"/>
                <a:sym typeface="楷体_GB2312" pitchFamily="49" charset="-122"/>
              </a:rPr>
              <a:t>分别放在被测材料</a:t>
            </a:r>
            <a:r>
              <a:rPr lang="en-US" altLang="zh-CN" sz="2400" dirty="0">
                <a:solidFill>
                  <a:srgbClr val="000000"/>
                </a:solidFill>
                <a:latin typeface="Times New Roman" pitchFamily="18" charset="0"/>
                <a:ea typeface="楷体_GB2312" pitchFamily="49" charset="-122"/>
                <a:sym typeface="Times New Roman" pitchFamily="18" charset="0"/>
              </a:rPr>
              <a:t>G</a:t>
            </a:r>
            <a:r>
              <a:rPr lang="zh-CN" altLang="en-US" sz="2400" dirty="0">
                <a:solidFill>
                  <a:srgbClr val="000000"/>
                </a:solidFill>
                <a:latin typeface="楷体_GB2312" pitchFamily="49" charset="-122"/>
                <a:ea typeface="楷体_GB2312" pitchFamily="49" charset="-122"/>
                <a:sym typeface="楷体_GB2312" pitchFamily="49" charset="-122"/>
              </a:rPr>
              <a:t>的上下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20B1AD5-83CB-467D-B8BD-8F810D4AE86D}" type="slidenum">
              <a:rPr lang="zh-CN" altLang="en-US"/>
              <a:pPr/>
              <a:t>69</a:t>
            </a:fld>
            <a:endParaRPr lang="zh-CN" altLang="en-US" sz="1800">
              <a:solidFill>
                <a:schemeClr val="tx1"/>
              </a:solidFill>
              <a:latin typeface="Arial" pitchFamily="34" charset="0"/>
            </a:endParaRPr>
          </a:p>
        </p:txBody>
      </p:sp>
      <p:sp>
        <p:nvSpPr>
          <p:cNvPr id="7168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1683" name="Text Box 12"/>
          <p:cNvSpPr>
            <a:spLocks noChangeArrowheads="1"/>
          </p:cNvSpPr>
          <p:nvPr/>
        </p:nvSpPr>
        <p:spPr bwMode="auto">
          <a:xfrm>
            <a:off x="152400" y="1784350"/>
            <a:ext cx="3286125"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a:sym typeface="Arial" pitchFamily="34" charset="0"/>
              </a:rPr>
              <a:t>透射式</a:t>
            </a:r>
            <a:r>
              <a:rPr lang="en-US" sz="2400">
                <a:sym typeface="Arial" pitchFamily="34" charset="0"/>
              </a:rPr>
              <a:t>:</a:t>
            </a:r>
            <a:endParaRPr lang="zh-CN" altLang="en-US" sz="2400">
              <a:sym typeface="Arial" pitchFamily="34" charset="0"/>
            </a:endParaRPr>
          </a:p>
          <a:p>
            <a:pPr eaLnBrk="1" hangingPunct="1">
              <a:spcBef>
                <a:spcPct val="50000"/>
              </a:spcBef>
            </a:pPr>
            <a:r>
              <a:rPr lang="zh-CN" altLang="en-US" sz="2400">
                <a:sym typeface="Arial" pitchFamily="34" charset="0"/>
              </a:rPr>
              <a:t>实验和理论证明：</a:t>
            </a:r>
            <a:endParaRPr lang="zh-CN" altLang="en-US"/>
          </a:p>
        </p:txBody>
      </p:sp>
      <p:pic>
        <p:nvPicPr>
          <p:cNvPr id="71684" name="Object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8313" y="3324225"/>
            <a:ext cx="2001837"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5" name="Object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85938" y="4394200"/>
            <a:ext cx="1316037"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6" name="Text Box 15"/>
          <p:cNvSpPr>
            <a:spLocks noChangeArrowheads="1"/>
          </p:cNvSpPr>
          <p:nvPr/>
        </p:nvSpPr>
        <p:spPr bwMode="auto">
          <a:xfrm>
            <a:off x="107950" y="4529138"/>
            <a:ext cx="175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a:sym typeface="Arial" pitchFamily="34" charset="0"/>
              </a:rPr>
              <a:t>穿透深度：</a:t>
            </a:r>
            <a:endParaRPr lang="zh-CN" altLang="en-US"/>
          </a:p>
        </p:txBody>
      </p:sp>
      <p:pic>
        <p:nvPicPr>
          <p:cNvPr id="71687" name="Picture 16" descr="dh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7858" y="1295860"/>
            <a:ext cx="5421796" cy="439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5">
            <a:extLst>
              <a:ext uri="{FF2B5EF4-FFF2-40B4-BE49-F238E27FC236}">
                <a16:creationId xmlns:a16="http://schemas.microsoft.com/office/drawing/2014/main" id="{28CC5410-25CA-42C7-A5FE-95E31F6136BA}"/>
              </a:ext>
            </a:extLst>
          </p:cNvPr>
          <p:cNvSpPr>
            <a:spLocks noChangeArrowheads="1"/>
          </p:cNvSpPr>
          <p:nvPr/>
        </p:nvSpPr>
        <p:spPr bwMode="auto">
          <a:xfrm>
            <a:off x="323705" y="286544"/>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2. 3 </a:t>
            </a:r>
            <a:r>
              <a:rPr lang="zh-CN" altLang="en-US" sz="3200" b="1" dirty="0">
                <a:solidFill>
                  <a:schemeClr val="tx2"/>
                </a:solidFill>
                <a:latin typeface="Calibri" pitchFamily="34" charset="0"/>
              </a:rPr>
              <a:t>电涡流传感器分类</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523B5A76-5741-427A-A0DD-F1693B34D51B}" type="slidenum">
              <a:rPr lang="zh-CN" altLang="en-US"/>
              <a:pPr/>
              <a:t>70</a:t>
            </a:fld>
            <a:endParaRPr lang="zh-CN" altLang="en-US" sz="1800">
              <a:solidFill>
                <a:schemeClr val="tx1"/>
              </a:solidFill>
              <a:latin typeface="Arial" pitchFamily="34" charset="0"/>
            </a:endParaRPr>
          </a:p>
        </p:txBody>
      </p:sp>
      <p:sp>
        <p:nvSpPr>
          <p:cNvPr id="7270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270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2. 4 </a:t>
            </a:r>
            <a:r>
              <a:rPr lang="zh-CN" altLang="en-US" sz="3200" b="1">
                <a:solidFill>
                  <a:schemeClr val="tx2"/>
                </a:solidFill>
                <a:latin typeface="Calibri" pitchFamily="34" charset="0"/>
              </a:rPr>
              <a:t>灵敏度与线性度</a:t>
            </a:r>
            <a:endParaRPr lang="zh-CN" altLang="en-US"/>
          </a:p>
        </p:txBody>
      </p:sp>
      <p:sp>
        <p:nvSpPr>
          <p:cNvPr id="72708" name="Text Box 14"/>
          <p:cNvSpPr>
            <a:spLocks noChangeArrowheads="1"/>
          </p:cNvSpPr>
          <p:nvPr/>
        </p:nvSpPr>
        <p:spPr bwMode="auto">
          <a:xfrm>
            <a:off x="792163" y="1314450"/>
            <a:ext cx="77406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sym typeface="Arial" pitchFamily="34" charset="0"/>
              </a:rPr>
              <a:t>       </a:t>
            </a:r>
            <a:r>
              <a:rPr lang="zh-CN" altLang="en-US" sz="2400">
                <a:sym typeface="Arial" pitchFamily="34" charset="0"/>
              </a:rPr>
              <a:t>以反射式测距传感器为例，通常将传感器当作电感接入振荡器的振荡回路</a:t>
            </a:r>
            <a:endParaRPr lang="zh-CN" altLang="en-US"/>
          </a:p>
        </p:txBody>
      </p:sp>
      <p:pic>
        <p:nvPicPr>
          <p:cNvPr id="72709" name="Object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3880" y="2285385"/>
            <a:ext cx="19050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0" name="Object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9870" y="3436918"/>
            <a:ext cx="2555875"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1" name="Text Box 20"/>
          <p:cNvSpPr>
            <a:spLocks noChangeArrowheads="1"/>
          </p:cNvSpPr>
          <p:nvPr/>
        </p:nvSpPr>
        <p:spPr bwMode="auto">
          <a:xfrm>
            <a:off x="657225" y="4373563"/>
            <a:ext cx="77406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sym typeface="Arial" pitchFamily="34" charset="0"/>
              </a:rPr>
              <a:t>x: </a:t>
            </a:r>
            <a:r>
              <a:rPr lang="zh-CN" altLang="en-US" sz="2400">
                <a:sym typeface="Arial" pitchFamily="34" charset="0"/>
              </a:rPr>
              <a:t>传感器端面到被测物体的距离</a:t>
            </a:r>
          </a:p>
          <a:p>
            <a:pPr eaLnBrk="1" hangingPunct="1">
              <a:spcBef>
                <a:spcPct val="50000"/>
              </a:spcBef>
            </a:pPr>
            <a:r>
              <a:rPr lang="en-US" sz="2400">
                <a:sym typeface="Arial" pitchFamily="34" charset="0"/>
              </a:rPr>
              <a:t>a: </a:t>
            </a:r>
            <a:r>
              <a:rPr lang="zh-CN" altLang="en-US" sz="2400">
                <a:sym typeface="Arial" pitchFamily="34" charset="0"/>
              </a:rPr>
              <a:t>与线圈几何尺寸及被测金属材料有关</a:t>
            </a:r>
          </a:p>
          <a:p>
            <a:pPr eaLnBrk="1" hangingPunct="1">
              <a:spcBef>
                <a:spcPct val="50000"/>
              </a:spcBef>
            </a:pPr>
            <a:r>
              <a:rPr lang="en-US" sz="2400">
                <a:sym typeface="Arial" pitchFamily="34" charset="0"/>
              </a:rPr>
              <a:t>b:</a:t>
            </a:r>
            <a:r>
              <a:rPr lang="zh-CN" altLang="en-US" sz="2400">
                <a:sym typeface="Arial" pitchFamily="34" charset="0"/>
              </a:rPr>
              <a:t>与线圈几何尺寸有关</a:t>
            </a: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03510D78-1784-495A-A15F-AEB911F8B5B4}" type="slidenum">
              <a:rPr lang="zh-CN" altLang="en-US"/>
              <a:pPr/>
              <a:t>71</a:t>
            </a:fld>
            <a:endParaRPr lang="zh-CN" altLang="en-US" sz="1800">
              <a:solidFill>
                <a:schemeClr val="tx1"/>
              </a:solidFill>
              <a:latin typeface="Arial" pitchFamily="34" charset="0"/>
            </a:endParaRPr>
          </a:p>
        </p:txBody>
      </p:sp>
      <p:sp>
        <p:nvSpPr>
          <p:cNvPr id="7373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3731" name="Text Box 14"/>
          <p:cNvSpPr>
            <a:spLocks noChangeArrowheads="1"/>
          </p:cNvSpPr>
          <p:nvPr/>
        </p:nvSpPr>
        <p:spPr bwMode="auto">
          <a:xfrm>
            <a:off x="566738" y="1550988"/>
            <a:ext cx="7875587"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25000"/>
              </a:spcBef>
            </a:pPr>
            <a:r>
              <a:rPr lang="zh-CN" altLang="en-US" sz="2800">
                <a:solidFill>
                  <a:schemeClr val="tx2"/>
                </a:solidFill>
                <a:sym typeface="Arial" pitchFamily="34" charset="0"/>
              </a:rPr>
              <a:t>灵敏度</a:t>
            </a:r>
            <a:r>
              <a:rPr lang="en-US" sz="2800">
                <a:solidFill>
                  <a:schemeClr val="tx2"/>
                </a:solidFill>
                <a:sym typeface="Arial" pitchFamily="34" charset="0"/>
              </a:rPr>
              <a:t>:</a:t>
            </a:r>
            <a:endParaRPr lang="zh-CN" altLang="en-US" sz="2800">
              <a:solidFill>
                <a:schemeClr val="tx2"/>
              </a:solidFill>
              <a:sym typeface="Arial" pitchFamily="34" charset="0"/>
            </a:endParaRPr>
          </a:p>
          <a:p>
            <a:pPr eaLnBrk="1" hangingPunct="1">
              <a:spcBef>
                <a:spcPct val="25000"/>
              </a:spcBef>
            </a:pPr>
            <a:endParaRPr lang="zh-CN" altLang="en-US" sz="2800">
              <a:sym typeface="Arial" pitchFamily="34" charset="0"/>
            </a:endParaRPr>
          </a:p>
          <a:p>
            <a:pPr eaLnBrk="1" hangingPunct="1">
              <a:spcBef>
                <a:spcPct val="25000"/>
              </a:spcBef>
            </a:pPr>
            <a:endParaRPr lang="zh-CN" altLang="en-US" sz="2800">
              <a:sym typeface="Arial" pitchFamily="34" charset="0"/>
            </a:endParaRPr>
          </a:p>
          <a:p>
            <a:pPr eaLnBrk="1" hangingPunct="1">
              <a:spcBef>
                <a:spcPct val="25000"/>
              </a:spcBef>
            </a:pPr>
            <a:r>
              <a:rPr lang="zh-CN" altLang="en-US" sz="2800">
                <a:sym typeface="Arial" pitchFamily="34" charset="0"/>
              </a:rPr>
              <a:t>分析：</a:t>
            </a:r>
          </a:p>
          <a:p>
            <a:pPr eaLnBrk="1" hangingPunct="1">
              <a:spcBef>
                <a:spcPct val="25000"/>
              </a:spcBef>
            </a:pPr>
            <a:r>
              <a:rPr lang="zh-CN" altLang="en-US" sz="2400">
                <a:sym typeface="Arial" pitchFamily="34" charset="0"/>
              </a:rPr>
              <a:t>（</a:t>
            </a:r>
            <a:r>
              <a:rPr lang="en-US" sz="2400">
                <a:sym typeface="Arial" pitchFamily="34" charset="0"/>
              </a:rPr>
              <a:t>1</a:t>
            </a:r>
            <a:r>
              <a:rPr lang="zh-CN" altLang="en-US" sz="2400">
                <a:sym typeface="Arial" pitchFamily="34" charset="0"/>
              </a:rPr>
              <a:t>）灵敏度为非线性；</a:t>
            </a:r>
          </a:p>
          <a:p>
            <a:pPr eaLnBrk="1" hangingPunct="1">
              <a:spcBef>
                <a:spcPct val="25000"/>
              </a:spcBef>
            </a:pPr>
            <a:r>
              <a:rPr lang="zh-CN" altLang="en-US" sz="2400">
                <a:sym typeface="Arial" pitchFamily="34" charset="0"/>
              </a:rPr>
              <a:t>（</a:t>
            </a:r>
            <a:r>
              <a:rPr lang="en-US" sz="2400">
                <a:sym typeface="Arial" pitchFamily="34" charset="0"/>
              </a:rPr>
              <a:t>2</a:t>
            </a:r>
            <a:r>
              <a:rPr lang="zh-CN" altLang="en-US" sz="2400">
                <a:sym typeface="Arial" pitchFamily="34" charset="0"/>
              </a:rPr>
              <a:t>）灵敏度决定于传感器的几何尺寸和被测对象材料；</a:t>
            </a:r>
          </a:p>
          <a:p>
            <a:pPr eaLnBrk="1" hangingPunct="1">
              <a:spcBef>
                <a:spcPct val="25000"/>
              </a:spcBef>
            </a:pPr>
            <a:r>
              <a:rPr lang="zh-CN" altLang="en-US" sz="2400">
                <a:sym typeface="Arial" pitchFamily="34" charset="0"/>
              </a:rPr>
              <a:t>  系数</a:t>
            </a:r>
            <a:r>
              <a:rPr lang="en-US" sz="2400">
                <a:sym typeface="Arial" pitchFamily="34" charset="0"/>
              </a:rPr>
              <a:t>a</a:t>
            </a:r>
            <a:r>
              <a:rPr lang="zh-CN" altLang="en-US" sz="2400">
                <a:sym typeface="Arial" pitchFamily="34" charset="0"/>
              </a:rPr>
              <a:t>、</a:t>
            </a:r>
            <a:r>
              <a:rPr lang="en-US" sz="2400">
                <a:sym typeface="Arial" pitchFamily="34" charset="0"/>
              </a:rPr>
              <a:t>b</a:t>
            </a:r>
            <a:r>
              <a:rPr lang="zh-CN" altLang="en-US" sz="2400">
                <a:sym typeface="Arial" pitchFamily="34" charset="0"/>
              </a:rPr>
              <a:t>由实验确定</a:t>
            </a:r>
          </a:p>
          <a:p>
            <a:pPr eaLnBrk="1" hangingPunct="1">
              <a:spcBef>
                <a:spcPct val="50000"/>
              </a:spcBef>
            </a:pPr>
            <a:endParaRPr lang="zh-CN" altLang="en-US" sz="2400">
              <a:sym typeface="Arial" pitchFamily="34" charset="0"/>
            </a:endParaRPr>
          </a:p>
        </p:txBody>
      </p:sp>
      <p:pic>
        <p:nvPicPr>
          <p:cNvPr id="73732" name="Object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1413" y="2001838"/>
            <a:ext cx="2970212"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C406F3CB-4915-4D8C-9544-B5B2B46E76B6}" type="slidenum">
              <a:rPr lang="zh-CN" altLang="en-US"/>
              <a:pPr/>
              <a:t>72</a:t>
            </a:fld>
            <a:endParaRPr lang="zh-CN" altLang="en-US" sz="1800">
              <a:solidFill>
                <a:schemeClr val="tx1"/>
              </a:solidFill>
              <a:latin typeface="Arial" pitchFamily="34" charset="0"/>
            </a:endParaRPr>
          </a:p>
        </p:txBody>
      </p:sp>
      <p:sp>
        <p:nvSpPr>
          <p:cNvPr id="7475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4755" name="TextBox 5"/>
          <p:cNvSpPr>
            <a:spLocks noChangeArrowheads="1"/>
          </p:cNvSpPr>
          <p:nvPr/>
        </p:nvSpPr>
        <p:spPr bwMode="auto">
          <a:xfrm>
            <a:off x="142875" y="333375"/>
            <a:ext cx="101234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800" b="1">
                <a:solidFill>
                  <a:schemeClr val="tx2"/>
                </a:solidFill>
                <a:latin typeface="Calibri" pitchFamily="34" charset="0"/>
              </a:rPr>
              <a:t>2.5</a:t>
            </a:r>
            <a:r>
              <a:rPr lang="zh-CN" altLang="en-US" sz="2800" b="1">
                <a:solidFill>
                  <a:schemeClr val="tx2"/>
                </a:solidFill>
                <a:latin typeface="Calibri" pitchFamily="34" charset="0"/>
              </a:rPr>
              <a:t>传感器及被测物体的几何尺寸对传感器灵敏度的影响</a:t>
            </a:r>
            <a:endParaRPr lang="zh-CN" altLang="en-US"/>
          </a:p>
        </p:txBody>
      </p:sp>
      <p:grpSp>
        <p:nvGrpSpPr>
          <p:cNvPr id="74756" name="Group 16"/>
          <p:cNvGrpSpPr>
            <a:grpSpLocks/>
          </p:cNvGrpSpPr>
          <p:nvPr/>
        </p:nvGrpSpPr>
        <p:grpSpPr bwMode="auto">
          <a:xfrm>
            <a:off x="4903788" y="1517650"/>
            <a:ext cx="3762375" cy="3465513"/>
            <a:chOff x="0" y="0"/>
            <a:chExt cx="3924" cy="3372"/>
          </a:xfrm>
        </p:grpSpPr>
        <p:pic>
          <p:nvPicPr>
            <p:cNvPr id="74757" name="Picture 17" descr="未标题-1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924" cy="3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8" name="Text Box 18"/>
            <p:cNvSpPr>
              <a:spLocks noChangeArrowheads="1"/>
            </p:cNvSpPr>
            <p:nvPr/>
          </p:nvSpPr>
          <p:spPr bwMode="auto">
            <a:xfrm>
              <a:off x="2383" y="1145"/>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sz="1600" b="1">
                  <a:latin typeface="Times New Roman" pitchFamily="18" charset="0"/>
                  <a:sym typeface="Times New Roman" pitchFamily="18" charset="0"/>
                </a:rPr>
                <a:t>1</a:t>
              </a:r>
              <a:endParaRPr lang="zh-CN" altLang="en-US"/>
            </a:p>
          </p:txBody>
        </p:sp>
        <p:sp>
          <p:nvSpPr>
            <p:cNvPr id="74759" name="Text Box 19"/>
            <p:cNvSpPr>
              <a:spLocks noChangeArrowheads="1"/>
            </p:cNvSpPr>
            <p:nvPr/>
          </p:nvSpPr>
          <p:spPr bwMode="auto">
            <a:xfrm>
              <a:off x="1384" y="1145"/>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sz="1600" b="1">
                  <a:latin typeface="Times New Roman" pitchFamily="18" charset="0"/>
                  <a:sym typeface="Times New Roman" pitchFamily="18" charset="0"/>
                </a:rPr>
                <a:t>1</a:t>
              </a:r>
              <a:endParaRPr lang="zh-CN" altLang="en-US"/>
            </a:p>
          </p:txBody>
        </p:sp>
      </p:grpSp>
      <p:sp>
        <p:nvSpPr>
          <p:cNvPr id="74760" name="Text Box 20"/>
          <p:cNvSpPr>
            <a:spLocks noChangeArrowheads="1"/>
          </p:cNvSpPr>
          <p:nvPr/>
        </p:nvSpPr>
        <p:spPr bwMode="auto">
          <a:xfrm>
            <a:off x="179388" y="2057400"/>
            <a:ext cx="47244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dirty="0">
                <a:sym typeface="Arial" pitchFamily="34" charset="0"/>
              </a:rPr>
              <a:t>●</a:t>
            </a:r>
            <a:r>
              <a:rPr lang="zh-CN" altLang="en-US" sz="2400" dirty="0">
                <a:sym typeface="Arial" pitchFamily="34" charset="0"/>
              </a:rPr>
              <a:t>线圈内径对传感器参数影响较小</a:t>
            </a:r>
          </a:p>
          <a:p>
            <a:pPr eaLnBrk="1" hangingPunct="1">
              <a:spcBef>
                <a:spcPct val="50000"/>
              </a:spcBef>
            </a:pPr>
            <a:r>
              <a:rPr lang="zh-CN" altLang="en-US" dirty="0">
                <a:sym typeface="Arial" pitchFamily="34" charset="0"/>
              </a:rPr>
              <a:t>●</a:t>
            </a:r>
            <a:r>
              <a:rPr lang="zh-CN" altLang="en-US" sz="2400" dirty="0">
                <a:sym typeface="Arial" pitchFamily="34" charset="0"/>
              </a:rPr>
              <a:t>线圈外径对传感器参数影响较大。匝数一定时，减小外径可提高灵敏度，但敏感范围减小。</a:t>
            </a:r>
          </a:p>
          <a:p>
            <a:pPr eaLnBrk="1" hangingPunct="1">
              <a:spcBef>
                <a:spcPct val="50000"/>
              </a:spcBef>
            </a:pPr>
            <a:r>
              <a:rPr lang="zh-CN" altLang="en-US" dirty="0">
                <a:sym typeface="Arial" pitchFamily="34" charset="0"/>
              </a:rPr>
              <a:t>●</a:t>
            </a:r>
            <a:r>
              <a:rPr lang="zh-CN" altLang="en-US" sz="2400" dirty="0">
                <a:sym typeface="Arial" pitchFamily="34" charset="0"/>
              </a:rPr>
              <a:t>被测导体厚度大于</a:t>
            </a:r>
            <a:r>
              <a:rPr lang="en-US" sz="2400" dirty="0">
                <a:sym typeface="Arial" pitchFamily="34" charset="0"/>
              </a:rPr>
              <a:t>2t</a:t>
            </a:r>
            <a:r>
              <a:rPr lang="zh-CN" altLang="en-US" sz="2400" dirty="0">
                <a:sym typeface="Arial" pitchFamily="34" charset="0"/>
              </a:rPr>
              <a:t>时，可认为对灵敏度无影响。</a:t>
            </a:r>
          </a:p>
          <a:p>
            <a:pPr eaLnBrk="1" hangingPunct="1">
              <a:spcBef>
                <a:spcPct val="50000"/>
              </a:spcBef>
            </a:pPr>
            <a:r>
              <a:rPr lang="zh-CN" altLang="en-US" sz="2400" dirty="0">
                <a:sym typeface="Arial" pitchFamily="34" charset="0"/>
              </a:rPr>
              <a:t>对钢材：</a:t>
            </a:r>
            <a:r>
              <a:rPr lang="en-US" sz="2400" dirty="0">
                <a:sym typeface="Arial" pitchFamily="34" charset="0"/>
              </a:rPr>
              <a:t>f=50 Hz, t=1~2mm</a:t>
            </a:r>
            <a:endParaRPr lang="zh-CN" altLang="en-US" sz="2400" dirty="0">
              <a:sym typeface="Arial" pitchFamily="34" charset="0"/>
            </a:endParaRPr>
          </a:p>
          <a:p>
            <a:pPr eaLnBrk="1" hangingPunct="1">
              <a:spcBef>
                <a:spcPct val="50000"/>
              </a:spcBef>
            </a:pPr>
            <a:r>
              <a:rPr lang="en-US" sz="2400" dirty="0">
                <a:sym typeface="Arial" pitchFamily="34" charset="0"/>
              </a:rPr>
              <a:t>              f=5 kHz, t=0.1~0.2mm</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4756"/>
                                        </p:tgtEl>
                                        <p:attrNameLst>
                                          <p:attrName>style.visibility</p:attrName>
                                        </p:attrNameLst>
                                      </p:cBhvr>
                                      <p:to>
                                        <p:strVal val="visible"/>
                                      </p:to>
                                    </p:set>
                                    <p:animEffect>
                                      <p:cBhvr>
                                        <p:cTn id="7" dur="500"/>
                                        <p:tgtEl>
                                          <p:spTgt spid="74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B9E2B593-FECA-412A-9971-200FEC5F5025}" type="slidenum">
              <a:rPr lang="zh-CN" altLang="en-US"/>
              <a:pPr/>
              <a:t>73</a:t>
            </a:fld>
            <a:endParaRPr lang="zh-CN" altLang="en-US" sz="1800">
              <a:solidFill>
                <a:schemeClr val="tx1"/>
              </a:solidFill>
              <a:latin typeface="Arial" pitchFamily="34" charset="0"/>
            </a:endParaRPr>
          </a:p>
        </p:txBody>
      </p:sp>
      <p:sp>
        <p:nvSpPr>
          <p:cNvPr id="7577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5779" name="TextBox 5"/>
          <p:cNvSpPr>
            <a:spLocks noChangeArrowheads="1"/>
          </p:cNvSpPr>
          <p:nvPr/>
        </p:nvSpPr>
        <p:spPr bwMode="auto">
          <a:xfrm>
            <a:off x="785813" y="285750"/>
            <a:ext cx="5730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被测体对电涡流测量的影响</a:t>
            </a:r>
            <a:endParaRPr lang="zh-CN" altLang="en-US"/>
          </a:p>
        </p:txBody>
      </p:sp>
      <p:sp>
        <p:nvSpPr>
          <p:cNvPr id="75780" name="Rectangle 3"/>
          <p:cNvSpPr>
            <a:spLocks noChangeArrowheads="1"/>
          </p:cNvSpPr>
          <p:nvPr/>
        </p:nvSpPr>
        <p:spPr bwMode="auto">
          <a:xfrm>
            <a:off x="717550" y="1746250"/>
            <a:ext cx="7239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ct val="90000"/>
              </a:lnSpc>
              <a:spcBef>
                <a:spcPct val="20000"/>
              </a:spcBef>
              <a:buClr>
                <a:srgbClr val="00007D"/>
              </a:buClr>
              <a:buSzPct val="75000"/>
              <a:buFont typeface="Wingdings" pitchFamily="2" charset="2"/>
              <a:buChar char="n"/>
            </a:pPr>
            <a:r>
              <a:rPr lang="zh-CN" altLang="en-US" sz="2800">
                <a:solidFill>
                  <a:srgbClr val="000000"/>
                </a:solidFill>
                <a:sym typeface="Arial" pitchFamily="34" charset="0"/>
              </a:rPr>
              <a:t>被测体是传感器的组成部分</a:t>
            </a:r>
          </a:p>
          <a:p>
            <a:pPr marL="342900" indent="-342900" eaLnBrk="1" hangingPunct="1">
              <a:lnSpc>
                <a:spcPct val="90000"/>
              </a:lnSpc>
              <a:spcBef>
                <a:spcPct val="20000"/>
              </a:spcBef>
              <a:buClr>
                <a:srgbClr val="00007D"/>
              </a:buClr>
              <a:buSzPct val="75000"/>
              <a:buFont typeface="Wingdings" pitchFamily="2" charset="2"/>
              <a:buChar char="n"/>
            </a:pPr>
            <a:r>
              <a:rPr lang="zh-CN" altLang="en-US" sz="2800">
                <a:solidFill>
                  <a:srgbClr val="000000"/>
                </a:solidFill>
                <a:sym typeface="Arial" pitchFamily="34" charset="0"/>
              </a:rPr>
              <a:t>被测导体的电导率越高，灵敏度越高</a:t>
            </a:r>
          </a:p>
          <a:p>
            <a:pPr marL="342900" indent="-342900" eaLnBrk="1" hangingPunct="1">
              <a:lnSpc>
                <a:spcPct val="90000"/>
              </a:lnSpc>
              <a:spcBef>
                <a:spcPct val="20000"/>
              </a:spcBef>
              <a:buClr>
                <a:srgbClr val="00007D"/>
              </a:buClr>
              <a:buSzPct val="75000"/>
              <a:buFont typeface="Wingdings" pitchFamily="2" charset="2"/>
              <a:buChar char="n"/>
            </a:pPr>
            <a:r>
              <a:rPr lang="zh-CN" altLang="en-US" sz="2800">
                <a:solidFill>
                  <a:srgbClr val="000000"/>
                </a:solidFill>
                <a:sym typeface="Arial" pitchFamily="34" charset="0"/>
              </a:rPr>
              <a:t>磁性体的灵敏度比非磁性体降低</a:t>
            </a:r>
          </a:p>
          <a:p>
            <a:pPr marL="742950" lvl="1" indent="-285750" eaLnBrk="1" hangingPunct="1">
              <a:lnSpc>
                <a:spcPct val="90000"/>
              </a:lnSpc>
              <a:spcBef>
                <a:spcPct val="20000"/>
              </a:spcBef>
              <a:buClr>
                <a:srgbClr val="9999CC"/>
              </a:buClr>
              <a:buSzPct val="80000"/>
              <a:buFont typeface="Wingdings" pitchFamily="2" charset="2"/>
              <a:buChar char="¨"/>
            </a:pPr>
            <a:r>
              <a:rPr lang="zh-CN" altLang="en-US" sz="2400">
                <a:solidFill>
                  <a:srgbClr val="000000"/>
                </a:solidFill>
                <a:sym typeface="Arial" pitchFamily="34" charset="0"/>
              </a:rPr>
              <a:t>对</a:t>
            </a:r>
            <a:r>
              <a:rPr lang="en-US" sz="2400">
                <a:solidFill>
                  <a:srgbClr val="000000"/>
                </a:solidFill>
                <a:sym typeface="Arial" pitchFamily="34" charset="0"/>
              </a:rPr>
              <a:t>L</a:t>
            </a:r>
            <a:r>
              <a:rPr lang="en-US" sz="2400" baseline="-25000">
                <a:solidFill>
                  <a:srgbClr val="000000"/>
                </a:solidFill>
                <a:sym typeface="Arial" pitchFamily="34" charset="0"/>
              </a:rPr>
              <a:t>1</a:t>
            </a:r>
            <a:r>
              <a:rPr lang="zh-CN" altLang="en-US" sz="2400">
                <a:solidFill>
                  <a:srgbClr val="000000"/>
                </a:solidFill>
                <a:sym typeface="Arial" pitchFamily="34" charset="0"/>
              </a:rPr>
              <a:t>（线圈电感）：电涡流效应使其减小</a:t>
            </a:r>
          </a:p>
          <a:p>
            <a:pPr marL="742950" lvl="1" indent="-285750" eaLnBrk="1" hangingPunct="1">
              <a:lnSpc>
                <a:spcPct val="90000"/>
              </a:lnSpc>
              <a:spcBef>
                <a:spcPct val="20000"/>
              </a:spcBef>
              <a:buClr>
                <a:srgbClr val="9999CC"/>
              </a:buClr>
              <a:buSzPct val="80000"/>
              <a:buFont typeface="Wingdings" pitchFamily="2" charset="2"/>
              <a:buChar char="¨"/>
            </a:pPr>
            <a:r>
              <a:rPr lang="zh-CN" altLang="en-US" sz="2400">
                <a:solidFill>
                  <a:srgbClr val="000000"/>
                </a:solidFill>
                <a:sym typeface="Arial" pitchFamily="34" charset="0"/>
              </a:rPr>
              <a:t>被测物为导磁体，导磁体的作用使得</a:t>
            </a:r>
            <a:r>
              <a:rPr lang="en-US" sz="2400">
                <a:solidFill>
                  <a:srgbClr val="000000"/>
                </a:solidFill>
                <a:sym typeface="Arial" pitchFamily="34" charset="0"/>
              </a:rPr>
              <a:t>L</a:t>
            </a:r>
            <a:r>
              <a:rPr lang="en-US" sz="2400" baseline="-25000">
                <a:solidFill>
                  <a:srgbClr val="000000"/>
                </a:solidFill>
                <a:sym typeface="Arial" pitchFamily="34" charset="0"/>
              </a:rPr>
              <a:t>1</a:t>
            </a:r>
            <a:r>
              <a:rPr lang="en-US" sz="2400">
                <a:solidFill>
                  <a:srgbClr val="000000"/>
                </a:solidFill>
                <a:sym typeface="Arial" pitchFamily="34" charset="0"/>
              </a:rPr>
              <a:t>↑</a:t>
            </a:r>
            <a:r>
              <a:rPr lang="zh-CN" altLang="en-US" sz="2400">
                <a:solidFill>
                  <a:srgbClr val="000000"/>
                </a:solidFill>
                <a:sym typeface="Arial" pitchFamily="34" charset="0"/>
              </a:rPr>
              <a:t>，磁效应抵消电涡流效应。所以，被测物是磁性体，灵敏度较非磁性体低。</a:t>
            </a:r>
          </a:p>
          <a:p>
            <a:pPr marL="742950" lvl="1" indent="-285750" eaLnBrk="1" hangingPunct="1">
              <a:lnSpc>
                <a:spcPct val="90000"/>
              </a:lnSpc>
              <a:spcBef>
                <a:spcPct val="20000"/>
              </a:spcBef>
              <a:buClr>
                <a:srgbClr val="9999CC"/>
              </a:buClr>
              <a:buSzPct val="80000"/>
              <a:buFont typeface="Wingdings" pitchFamily="2" charset="2"/>
              <a:buChar char="¨"/>
            </a:pPr>
            <a:r>
              <a:rPr lang="zh-CN" altLang="en-US" sz="2400">
                <a:solidFill>
                  <a:srgbClr val="000000"/>
                </a:solidFill>
                <a:sym typeface="Arial" pitchFamily="34" charset="0"/>
              </a:rPr>
              <a:t>一般采用较高的激励频率。</a:t>
            </a:r>
          </a:p>
          <a:p>
            <a:pPr marL="342900" indent="-342900" eaLnBrk="1" hangingPunct="1">
              <a:lnSpc>
                <a:spcPct val="90000"/>
              </a:lnSpc>
              <a:spcBef>
                <a:spcPct val="20000"/>
              </a:spcBef>
              <a:buClr>
                <a:srgbClr val="00007D"/>
              </a:buClr>
              <a:buSzPct val="75000"/>
              <a:buFont typeface="Wingdings" pitchFamily="2" charset="2"/>
              <a:buChar char="n"/>
            </a:pPr>
            <a:r>
              <a:rPr lang="zh-CN" altLang="en-US" sz="2800">
                <a:solidFill>
                  <a:srgbClr val="000000"/>
                </a:solidFill>
                <a:sym typeface="Arial" pitchFamily="34" charset="0"/>
              </a:rPr>
              <a:t>镀层对测量有影响。</a:t>
            </a:r>
          </a:p>
          <a:p>
            <a:pPr marL="342900" indent="-342900" eaLnBrk="1" hangingPunct="1">
              <a:lnSpc>
                <a:spcPct val="90000"/>
              </a:lnSpc>
              <a:spcBef>
                <a:spcPct val="20000"/>
              </a:spcBef>
              <a:buClr>
                <a:srgbClr val="00007D"/>
              </a:buClr>
              <a:buSzPct val="75000"/>
              <a:buFont typeface="Wingdings" pitchFamily="2" charset="2"/>
              <a:buChar char="n"/>
            </a:pPr>
            <a:r>
              <a:rPr lang="zh-CN" altLang="en-US" sz="2800">
                <a:solidFill>
                  <a:srgbClr val="000000"/>
                </a:solidFill>
                <a:sym typeface="Arial" pitchFamily="34" charset="0"/>
              </a:rPr>
              <a:t>对被测体的大小有要求。</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75780">
                                            <p:txEl>
                                              <p:pRg st="0" end="0"/>
                                            </p:txEl>
                                          </p:spTgt>
                                        </p:tgtEl>
                                        <p:attrNameLst>
                                          <p:attrName>style.visibility</p:attrName>
                                        </p:attrNameLst>
                                      </p:cBhvr>
                                      <p:to>
                                        <p:strVal val="visible"/>
                                      </p:to>
                                    </p:set>
                                    <p:animEffect>
                                      <p:cBhvr>
                                        <p:cTn id="7" dur="500"/>
                                        <p:tgtEl>
                                          <p:spTgt spid="7578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75780">
                                            <p:txEl>
                                              <p:pRg st="1" end="1"/>
                                            </p:txEl>
                                          </p:spTgt>
                                        </p:tgtEl>
                                        <p:attrNameLst>
                                          <p:attrName>style.visibility</p:attrName>
                                        </p:attrNameLst>
                                      </p:cBhvr>
                                      <p:to>
                                        <p:strVal val="visible"/>
                                      </p:to>
                                    </p:set>
                                    <p:animEffect>
                                      <p:cBhvr>
                                        <p:cTn id="12" dur="500"/>
                                        <p:tgtEl>
                                          <p:spTgt spid="7578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75780">
                                            <p:txEl>
                                              <p:pRg st="2" end="2"/>
                                            </p:txEl>
                                          </p:spTgt>
                                        </p:tgtEl>
                                        <p:attrNameLst>
                                          <p:attrName>style.visibility</p:attrName>
                                        </p:attrNameLst>
                                      </p:cBhvr>
                                      <p:to>
                                        <p:strVal val="visible"/>
                                      </p:to>
                                    </p:set>
                                    <p:animEffect>
                                      <p:cBhvr>
                                        <p:cTn id="17" dur="500"/>
                                        <p:tgtEl>
                                          <p:spTgt spid="7578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75780">
                                            <p:txEl>
                                              <p:pRg st="3" end="3"/>
                                            </p:txEl>
                                          </p:spTgt>
                                        </p:tgtEl>
                                        <p:attrNameLst>
                                          <p:attrName>style.visibility</p:attrName>
                                        </p:attrNameLst>
                                      </p:cBhvr>
                                      <p:to>
                                        <p:strVal val="visible"/>
                                      </p:to>
                                    </p:set>
                                    <p:animEffect>
                                      <p:cBhvr>
                                        <p:cTn id="22" dur="500"/>
                                        <p:tgtEl>
                                          <p:spTgt spid="7578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75780">
                                            <p:txEl>
                                              <p:pRg st="4" end="4"/>
                                            </p:txEl>
                                          </p:spTgt>
                                        </p:tgtEl>
                                        <p:attrNameLst>
                                          <p:attrName>style.visibility</p:attrName>
                                        </p:attrNameLst>
                                      </p:cBhvr>
                                      <p:to>
                                        <p:strVal val="visible"/>
                                      </p:to>
                                    </p:set>
                                    <p:animEffect>
                                      <p:cBhvr>
                                        <p:cTn id="27" dur="500"/>
                                        <p:tgtEl>
                                          <p:spTgt spid="7578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75780">
                                            <p:txEl>
                                              <p:pRg st="5" end="5"/>
                                            </p:txEl>
                                          </p:spTgt>
                                        </p:tgtEl>
                                        <p:attrNameLst>
                                          <p:attrName>style.visibility</p:attrName>
                                        </p:attrNameLst>
                                      </p:cBhvr>
                                      <p:to>
                                        <p:strVal val="visible"/>
                                      </p:to>
                                    </p:set>
                                    <p:animEffect>
                                      <p:cBhvr>
                                        <p:cTn id="32" dur="500"/>
                                        <p:tgtEl>
                                          <p:spTgt spid="7578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75780">
                                            <p:txEl>
                                              <p:pRg st="6" end="6"/>
                                            </p:txEl>
                                          </p:spTgt>
                                        </p:tgtEl>
                                        <p:attrNameLst>
                                          <p:attrName>style.visibility</p:attrName>
                                        </p:attrNameLst>
                                      </p:cBhvr>
                                      <p:to>
                                        <p:strVal val="visible"/>
                                      </p:to>
                                    </p:set>
                                    <p:animEffect>
                                      <p:cBhvr>
                                        <p:cTn id="37" dur="500"/>
                                        <p:tgtEl>
                                          <p:spTgt spid="7578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75780">
                                            <p:txEl>
                                              <p:pRg st="7" end="7"/>
                                            </p:txEl>
                                          </p:spTgt>
                                        </p:tgtEl>
                                        <p:attrNameLst>
                                          <p:attrName>style.visibility</p:attrName>
                                        </p:attrNameLst>
                                      </p:cBhvr>
                                      <p:to>
                                        <p:strVal val="visible"/>
                                      </p:to>
                                    </p:set>
                                    <p:animEffect>
                                      <p:cBhvr>
                                        <p:cTn id="42" dur="500"/>
                                        <p:tgtEl>
                                          <p:spTgt spid="7578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build="p" bldLvl="2"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FCD8ABC5-1835-487A-ADB4-AADE78B5640A}" type="slidenum">
              <a:rPr lang="zh-CN" altLang="en-US"/>
              <a:pPr/>
              <a:t>74</a:t>
            </a:fld>
            <a:endParaRPr lang="zh-CN" altLang="en-US" sz="1800">
              <a:solidFill>
                <a:schemeClr val="tx1"/>
              </a:solidFill>
              <a:latin typeface="Arial" pitchFamily="34" charset="0"/>
            </a:endParaRPr>
          </a:p>
        </p:txBody>
      </p:sp>
      <p:sp>
        <p:nvSpPr>
          <p:cNvPr id="7680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6803"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2. 6 </a:t>
            </a:r>
            <a:r>
              <a:rPr lang="zh-CN" altLang="en-US" sz="3200" b="1">
                <a:solidFill>
                  <a:schemeClr val="tx2"/>
                </a:solidFill>
                <a:latin typeface="Calibri" pitchFamily="34" charset="0"/>
              </a:rPr>
              <a:t>测量线路</a:t>
            </a:r>
            <a:endParaRPr lang="zh-CN" altLang="en-US"/>
          </a:p>
        </p:txBody>
      </p:sp>
      <p:sp>
        <p:nvSpPr>
          <p:cNvPr id="76804" name="矩形 2"/>
          <p:cNvSpPr>
            <a:spLocks noChangeArrowheads="1"/>
          </p:cNvSpPr>
          <p:nvPr/>
        </p:nvSpPr>
        <p:spPr bwMode="auto">
          <a:xfrm>
            <a:off x="395288" y="1628775"/>
            <a:ext cx="8407400" cy="36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spcBef>
                <a:spcPct val="50000"/>
              </a:spcBef>
            </a:pPr>
            <a:r>
              <a:rPr lang="en-US" sz="2400">
                <a:solidFill>
                  <a:srgbClr val="000000"/>
                </a:solidFill>
                <a:latin typeface="楷体_GB2312" pitchFamily="49" charset="-122"/>
                <a:ea typeface="楷体_GB2312" pitchFamily="49" charset="-122"/>
                <a:sym typeface="楷体_GB2312" pitchFamily="49" charset="-122"/>
              </a:rPr>
              <a:t>●</a:t>
            </a:r>
            <a:r>
              <a:rPr lang="zh-CN" altLang="en-US" sz="2400">
                <a:solidFill>
                  <a:srgbClr val="000000"/>
                </a:solidFill>
                <a:latin typeface="楷体_GB2312" pitchFamily="49" charset="-122"/>
                <a:ea typeface="楷体_GB2312" pitchFamily="49" charset="-122"/>
                <a:sym typeface="楷体_GB2312" pitchFamily="49" charset="-122"/>
              </a:rPr>
              <a:t>根据电涡流传感器的原理，被测参量可以由传感器转换为传感器的</a:t>
            </a:r>
            <a:r>
              <a:rPr lang="en-US" sz="2400">
                <a:solidFill>
                  <a:srgbClr val="000000"/>
                </a:solidFill>
                <a:latin typeface="楷体_GB2312" pitchFamily="49" charset="-122"/>
                <a:ea typeface="楷体_GB2312" pitchFamily="49" charset="-122"/>
                <a:sym typeface="楷体_GB2312" pitchFamily="49" charset="-122"/>
              </a:rPr>
              <a:t>Q</a:t>
            </a:r>
            <a:r>
              <a:rPr lang="zh-CN" altLang="en-US" sz="2400">
                <a:solidFill>
                  <a:srgbClr val="000000"/>
                </a:solidFill>
                <a:latin typeface="楷体_GB2312" pitchFamily="49" charset="-122"/>
                <a:ea typeface="楷体_GB2312" pitchFamily="49" charset="-122"/>
                <a:sym typeface="楷体_GB2312" pitchFamily="49" charset="-122"/>
              </a:rPr>
              <a:t>值（电感与电阻的比值）、等效阻抗</a:t>
            </a:r>
            <a:r>
              <a:rPr lang="en-US" sz="2400">
                <a:solidFill>
                  <a:srgbClr val="000000"/>
                </a:solidFill>
                <a:latin typeface="楷体_GB2312" pitchFamily="49" charset="-122"/>
                <a:ea typeface="楷体_GB2312" pitchFamily="49" charset="-122"/>
                <a:sym typeface="楷体_GB2312" pitchFamily="49" charset="-122"/>
              </a:rPr>
              <a:t>Z</a:t>
            </a:r>
            <a:r>
              <a:rPr lang="zh-CN" altLang="en-US" sz="2400">
                <a:solidFill>
                  <a:srgbClr val="000000"/>
                </a:solidFill>
                <a:latin typeface="楷体_GB2312" pitchFamily="49" charset="-122"/>
                <a:ea typeface="楷体_GB2312" pitchFamily="49" charset="-122"/>
                <a:sym typeface="楷体_GB2312" pitchFamily="49" charset="-122"/>
              </a:rPr>
              <a:t>和等效电感</a:t>
            </a:r>
            <a:r>
              <a:rPr lang="en-US" sz="2400">
                <a:solidFill>
                  <a:srgbClr val="000000"/>
                </a:solidFill>
                <a:latin typeface="楷体_GB2312" pitchFamily="49" charset="-122"/>
                <a:ea typeface="楷体_GB2312" pitchFamily="49" charset="-122"/>
                <a:sym typeface="楷体_GB2312" pitchFamily="49" charset="-122"/>
              </a:rPr>
              <a:t>L</a:t>
            </a:r>
            <a:r>
              <a:rPr lang="zh-CN" altLang="en-US" sz="2400">
                <a:solidFill>
                  <a:srgbClr val="000000"/>
                </a:solidFill>
                <a:latin typeface="楷体_GB2312" pitchFamily="49" charset="-122"/>
                <a:ea typeface="楷体_GB2312" pitchFamily="49" charset="-122"/>
                <a:sym typeface="楷体_GB2312" pitchFamily="49" charset="-122"/>
              </a:rPr>
              <a:t>三个参数。</a:t>
            </a:r>
          </a:p>
          <a:p>
            <a:pPr eaLnBrk="1" hangingPunct="1">
              <a:lnSpc>
                <a:spcPct val="150000"/>
              </a:lnSpc>
              <a:spcBef>
                <a:spcPct val="50000"/>
              </a:spcBef>
            </a:pPr>
            <a:r>
              <a:rPr lang="zh-CN" altLang="en-US" sz="2400">
                <a:solidFill>
                  <a:srgbClr val="000000"/>
                </a:solidFill>
                <a:latin typeface="楷体_GB2312" pitchFamily="49" charset="-122"/>
                <a:ea typeface="楷体_GB2312" pitchFamily="49" charset="-122"/>
                <a:sym typeface="楷体_GB2312" pitchFamily="49" charset="-122"/>
              </a:rPr>
              <a:t>●若是差动式结构，可采用电桥电路。</a:t>
            </a:r>
          </a:p>
          <a:p>
            <a:pPr eaLnBrk="1" hangingPunct="1">
              <a:lnSpc>
                <a:spcPct val="150000"/>
              </a:lnSpc>
              <a:spcBef>
                <a:spcPct val="50000"/>
              </a:spcBef>
            </a:pPr>
            <a:r>
              <a:rPr lang="zh-CN" altLang="en-US" sz="2400">
                <a:solidFill>
                  <a:srgbClr val="000000"/>
                </a:solidFill>
                <a:latin typeface="楷体_GB2312" pitchFamily="49" charset="-122"/>
                <a:ea typeface="楷体_GB2312" pitchFamily="49" charset="-122"/>
                <a:sym typeface="楷体_GB2312" pitchFamily="49" charset="-122"/>
              </a:rPr>
              <a:t>●但是在测量导体物理性质时常不能采用差动形式，所以电涡流传感器常用以下测量电路：</a:t>
            </a:r>
            <a:r>
              <a:rPr lang="zh-CN" altLang="en-US" sz="2400">
                <a:solidFill>
                  <a:srgbClr val="FF0000"/>
                </a:solidFill>
                <a:latin typeface="楷体_GB2312" pitchFamily="49" charset="-122"/>
                <a:ea typeface="楷体_GB2312" pitchFamily="49" charset="-122"/>
                <a:sym typeface="楷体_GB2312" pitchFamily="49" charset="-122"/>
              </a:rPr>
              <a:t>定频调幅电路和调频电路</a:t>
            </a:r>
            <a:r>
              <a:rPr lang="zh-CN" altLang="en-US" sz="2400">
                <a:solidFill>
                  <a:srgbClr val="000000"/>
                </a:solidFill>
                <a:latin typeface="楷体_GB2312" pitchFamily="49" charset="-122"/>
                <a:ea typeface="楷体_GB2312" pitchFamily="49" charset="-122"/>
                <a:sym typeface="楷体_GB2312" pitchFamily="49" charset="-122"/>
              </a:rPr>
              <a:t>。</a:t>
            </a: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5"/>
          <p:cNvSpPr>
            <a:spLocks noGrp="1"/>
          </p:cNvSpPr>
          <p:nvPr>
            <p:ph type="sldNum" sz="quarter" idx="12"/>
          </p:nvPr>
        </p:nvSpPr>
        <p:spPr/>
        <p:txBody>
          <a:bodyPr/>
          <a:lstStyle/>
          <a:p>
            <a:fld id="{ECF2AE8A-B6B8-4701-A377-FACE122452BC}" type="slidenum">
              <a:rPr lang="zh-CN" altLang="en-US"/>
              <a:pPr/>
              <a:t>75</a:t>
            </a:fld>
            <a:endParaRPr lang="zh-CN" altLang="en-US" sz="1800">
              <a:solidFill>
                <a:schemeClr val="tx1"/>
              </a:solidFill>
              <a:latin typeface="Arial" pitchFamily="34" charset="0"/>
            </a:endParaRPr>
          </a:p>
        </p:txBody>
      </p:sp>
      <p:sp>
        <p:nvSpPr>
          <p:cNvPr id="7782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782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(1)</a:t>
            </a:r>
            <a:r>
              <a:rPr lang="zh-CN" altLang="en-US" sz="3200" b="1">
                <a:solidFill>
                  <a:schemeClr val="tx2"/>
                </a:solidFill>
                <a:latin typeface="Calibri" pitchFamily="34" charset="0"/>
              </a:rPr>
              <a:t>调幅式测量线路</a:t>
            </a:r>
            <a:endParaRPr lang="zh-CN" altLang="en-US"/>
          </a:p>
        </p:txBody>
      </p:sp>
      <p:grpSp>
        <p:nvGrpSpPr>
          <p:cNvPr id="77828" name="Group 3"/>
          <p:cNvGrpSpPr>
            <a:grpSpLocks/>
          </p:cNvGrpSpPr>
          <p:nvPr/>
        </p:nvGrpSpPr>
        <p:grpSpPr bwMode="auto">
          <a:xfrm>
            <a:off x="1447800" y="1773238"/>
            <a:ext cx="6443663" cy="2590800"/>
            <a:chOff x="0" y="0"/>
            <a:chExt cx="4059" cy="1632"/>
          </a:xfrm>
        </p:grpSpPr>
        <p:grpSp>
          <p:nvGrpSpPr>
            <p:cNvPr id="77829" name="Group 4"/>
            <p:cNvGrpSpPr>
              <a:grpSpLocks/>
            </p:cNvGrpSpPr>
            <p:nvPr/>
          </p:nvGrpSpPr>
          <p:grpSpPr bwMode="auto">
            <a:xfrm>
              <a:off x="0" y="0"/>
              <a:ext cx="3936" cy="1632"/>
              <a:chOff x="0" y="0"/>
              <a:chExt cx="3936" cy="1632"/>
            </a:xfrm>
          </p:grpSpPr>
          <p:sp>
            <p:nvSpPr>
              <p:cNvPr id="77830" name="Rectangle 5"/>
              <p:cNvSpPr>
                <a:spLocks noChangeArrowheads="1"/>
              </p:cNvSpPr>
              <p:nvPr/>
            </p:nvSpPr>
            <p:spPr bwMode="auto">
              <a:xfrm>
                <a:off x="0" y="48"/>
                <a:ext cx="432"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振荡</a:t>
                </a:r>
              </a:p>
              <a:p>
                <a:pPr algn="ctr" eaLnBrk="1" hangingPunct="1"/>
                <a:r>
                  <a:rPr lang="zh-CN" altLang="en-US" sz="2400">
                    <a:solidFill>
                      <a:srgbClr val="000000"/>
                    </a:solidFill>
                    <a:latin typeface="Times New Roman" pitchFamily="18" charset="0"/>
                    <a:sym typeface="Times New Roman" pitchFamily="18" charset="0"/>
                  </a:rPr>
                  <a:t>器</a:t>
                </a:r>
                <a:r>
                  <a:rPr lang="en-US" sz="2400">
                    <a:solidFill>
                      <a:srgbClr val="000000"/>
                    </a:solidFill>
                    <a:latin typeface="Times New Roman" pitchFamily="18" charset="0"/>
                    <a:sym typeface="Times New Roman" pitchFamily="18" charset="0"/>
                  </a:rPr>
                  <a:t>f</a:t>
                </a:r>
                <a:r>
                  <a:rPr lang="en-US" sz="2400" baseline="-25000">
                    <a:solidFill>
                      <a:srgbClr val="000000"/>
                    </a:solidFill>
                    <a:latin typeface="Times New Roman" pitchFamily="18" charset="0"/>
                    <a:sym typeface="Times New Roman" pitchFamily="18" charset="0"/>
                  </a:rPr>
                  <a:t>0</a:t>
                </a:r>
                <a:endParaRPr lang="zh-CN" altLang="en-US"/>
              </a:p>
            </p:txBody>
          </p:sp>
          <p:sp>
            <p:nvSpPr>
              <p:cNvPr id="77831" name="Rectangle 6"/>
              <p:cNvSpPr>
                <a:spLocks noChangeArrowheads="1"/>
              </p:cNvSpPr>
              <p:nvPr/>
            </p:nvSpPr>
            <p:spPr bwMode="auto">
              <a:xfrm>
                <a:off x="624" y="336"/>
                <a:ext cx="384" cy="96"/>
              </a:xfrm>
              <a:prstGeom prst="rect">
                <a:avLst/>
              </a:prstGeom>
              <a:solidFill>
                <a:schemeClr val="accent1"/>
              </a:solidFill>
              <a:ln w="9525"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77832" name="Line 7"/>
              <p:cNvSpPr>
                <a:spLocks noChangeShapeType="1"/>
              </p:cNvSpPr>
              <p:nvPr/>
            </p:nvSpPr>
            <p:spPr bwMode="auto">
              <a:xfrm>
                <a:off x="432" y="384"/>
                <a:ext cx="192"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33" name="Line 8"/>
              <p:cNvSpPr>
                <a:spLocks noChangeShapeType="1"/>
              </p:cNvSpPr>
              <p:nvPr/>
            </p:nvSpPr>
            <p:spPr bwMode="auto">
              <a:xfrm>
                <a:off x="1008" y="384"/>
                <a:ext cx="1152"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34" name="Rectangle 9"/>
              <p:cNvSpPr>
                <a:spLocks noChangeArrowheads="1"/>
              </p:cNvSpPr>
              <p:nvPr/>
            </p:nvSpPr>
            <p:spPr bwMode="auto">
              <a:xfrm>
                <a:off x="2160" y="96"/>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放</a:t>
                </a:r>
              </a:p>
              <a:p>
                <a:pPr algn="ctr" eaLnBrk="1" hangingPunct="1"/>
                <a:r>
                  <a:rPr lang="zh-CN" altLang="en-US" sz="2400">
                    <a:solidFill>
                      <a:srgbClr val="000000"/>
                    </a:solidFill>
                    <a:latin typeface="Times New Roman" pitchFamily="18" charset="0"/>
                    <a:sym typeface="Times New Roman" pitchFamily="18" charset="0"/>
                  </a:rPr>
                  <a:t>大</a:t>
                </a:r>
                <a:endParaRPr lang="zh-CN" altLang="en-US"/>
              </a:p>
            </p:txBody>
          </p:sp>
          <p:sp>
            <p:nvSpPr>
              <p:cNvPr id="77835" name="Rectangle 10"/>
              <p:cNvSpPr>
                <a:spLocks noChangeArrowheads="1"/>
              </p:cNvSpPr>
              <p:nvPr/>
            </p:nvSpPr>
            <p:spPr bwMode="auto">
              <a:xfrm>
                <a:off x="2736" y="96"/>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检</a:t>
                </a:r>
              </a:p>
              <a:p>
                <a:pPr algn="ctr" eaLnBrk="1" hangingPunct="1"/>
                <a:r>
                  <a:rPr lang="zh-CN" altLang="en-US" sz="2400">
                    <a:solidFill>
                      <a:srgbClr val="000000"/>
                    </a:solidFill>
                    <a:latin typeface="Times New Roman" pitchFamily="18" charset="0"/>
                    <a:sym typeface="Times New Roman" pitchFamily="18" charset="0"/>
                  </a:rPr>
                  <a:t>波</a:t>
                </a:r>
                <a:endParaRPr lang="zh-CN" altLang="en-US"/>
              </a:p>
            </p:txBody>
          </p:sp>
          <p:sp>
            <p:nvSpPr>
              <p:cNvPr id="77836" name="Rectangle 11"/>
              <p:cNvSpPr>
                <a:spLocks noChangeArrowheads="1"/>
              </p:cNvSpPr>
              <p:nvPr/>
            </p:nvSpPr>
            <p:spPr bwMode="auto">
              <a:xfrm>
                <a:off x="3264" y="96"/>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滤</a:t>
                </a:r>
              </a:p>
              <a:p>
                <a:pPr algn="ctr" eaLnBrk="1" hangingPunct="1"/>
                <a:r>
                  <a:rPr lang="zh-CN" altLang="en-US" sz="2400">
                    <a:solidFill>
                      <a:srgbClr val="000000"/>
                    </a:solidFill>
                    <a:latin typeface="Times New Roman" pitchFamily="18" charset="0"/>
                    <a:sym typeface="Times New Roman" pitchFamily="18" charset="0"/>
                  </a:rPr>
                  <a:t>波</a:t>
                </a:r>
                <a:endParaRPr lang="zh-CN" altLang="en-US"/>
              </a:p>
            </p:txBody>
          </p:sp>
          <p:sp>
            <p:nvSpPr>
              <p:cNvPr id="77837" name="Line 12"/>
              <p:cNvSpPr>
                <a:spLocks noChangeShapeType="1"/>
              </p:cNvSpPr>
              <p:nvPr/>
            </p:nvSpPr>
            <p:spPr bwMode="auto">
              <a:xfrm>
                <a:off x="2496" y="384"/>
                <a:ext cx="240"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38" name="Line 13"/>
              <p:cNvSpPr>
                <a:spLocks noChangeShapeType="1"/>
              </p:cNvSpPr>
              <p:nvPr/>
            </p:nvSpPr>
            <p:spPr bwMode="auto">
              <a:xfrm>
                <a:off x="3072" y="384"/>
                <a:ext cx="192"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39" name="Line 14"/>
              <p:cNvSpPr>
                <a:spLocks noChangeShapeType="1"/>
              </p:cNvSpPr>
              <p:nvPr/>
            </p:nvSpPr>
            <p:spPr bwMode="auto">
              <a:xfrm>
                <a:off x="3600" y="384"/>
                <a:ext cx="336" cy="1"/>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40" name="Line 15"/>
              <p:cNvSpPr>
                <a:spLocks noChangeShapeType="1"/>
              </p:cNvSpPr>
              <p:nvPr/>
            </p:nvSpPr>
            <p:spPr bwMode="auto">
              <a:xfrm>
                <a:off x="1680" y="864"/>
                <a:ext cx="336" cy="1"/>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41" name="Line 16"/>
              <p:cNvSpPr>
                <a:spLocks noChangeShapeType="1"/>
              </p:cNvSpPr>
              <p:nvPr/>
            </p:nvSpPr>
            <p:spPr bwMode="auto">
              <a:xfrm>
                <a:off x="1680" y="960"/>
                <a:ext cx="336" cy="1"/>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grpSp>
            <p:nvGrpSpPr>
              <p:cNvPr id="77842" name="Group 17"/>
              <p:cNvGrpSpPr>
                <a:grpSpLocks/>
              </p:cNvGrpSpPr>
              <p:nvPr/>
            </p:nvGrpSpPr>
            <p:grpSpPr bwMode="auto">
              <a:xfrm>
                <a:off x="1152" y="816"/>
                <a:ext cx="141" cy="215"/>
                <a:chOff x="0" y="0"/>
                <a:chExt cx="96" cy="540"/>
              </a:xfrm>
            </p:grpSpPr>
            <p:sp>
              <p:nvSpPr>
                <p:cNvPr id="77843" name="AutoShape 18"/>
                <p:cNvSpPr>
                  <a:spLocks noChangeArrowheads="1"/>
                </p:cNvSpPr>
                <p:nvPr/>
              </p:nvSpPr>
              <p:spPr bwMode="auto">
                <a:xfrm>
                  <a:off x="0" y="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77844" name="AutoShape 19"/>
                <p:cNvSpPr>
                  <a:spLocks noChangeArrowheads="1"/>
                </p:cNvSpPr>
                <p:nvPr/>
              </p:nvSpPr>
              <p:spPr bwMode="auto">
                <a:xfrm>
                  <a:off x="0" y="18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77845" name="AutoShape 20"/>
                <p:cNvSpPr>
                  <a:spLocks noChangeArrowheads="1"/>
                </p:cNvSpPr>
                <p:nvPr/>
              </p:nvSpPr>
              <p:spPr bwMode="auto">
                <a:xfrm>
                  <a:off x="0" y="36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grpSp>
          <p:sp>
            <p:nvSpPr>
              <p:cNvPr id="77846" name="Line 21"/>
              <p:cNvSpPr>
                <a:spLocks noChangeShapeType="1"/>
              </p:cNvSpPr>
              <p:nvPr/>
            </p:nvSpPr>
            <p:spPr bwMode="auto">
              <a:xfrm>
                <a:off x="1824" y="384"/>
                <a:ext cx="1" cy="48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47" name="Line 22"/>
              <p:cNvSpPr>
                <a:spLocks noChangeShapeType="1"/>
              </p:cNvSpPr>
              <p:nvPr/>
            </p:nvSpPr>
            <p:spPr bwMode="auto">
              <a:xfrm>
                <a:off x="1824" y="960"/>
                <a:ext cx="1" cy="48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48" name="Line 23"/>
              <p:cNvSpPr>
                <a:spLocks noChangeShapeType="1"/>
              </p:cNvSpPr>
              <p:nvPr/>
            </p:nvSpPr>
            <p:spPr bwMode="auto">
              <a:xfrm>
                <a:off x="1296" y="1044"/>
                <a:ext cx="1" cy="43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49" name="Line 24"/>
              <p:cNvSpPr>
                <a:spLocks noChangeShapeType="1"/>
              </p:cNvSpPr>
              <p:nvPr/>
            </p:nvSpPr>
            <p:spPr bwMode="auto">
              <a:xfrm>
                <a:off x="1296" y="384"/>
                <a:ext cx="1" cy="43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50" name="Line 25"/>
              <p:cNvSpPr>
                <a:spLocks noChangeShapeType="1"/>
              </p:cNvSpPr>
              <p:nvPr/>
            </p:nvSpPr>
            <p:spPr bwMode="auto">
              <a:xfrm>
                <a:off x="1296" y="1440"/>
                <a:ext cx="528"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51" name="Line 26"/>
              <p:cNvSpPr>
                <a:spLocks noChangeShapeType="1"/>
              </p:cNvSpPr>
              <p:nvPr/>
            </p:nvSpPr>
            <p:spPr bwMode="auto">
              <a:xfrm>
                <a:off x="1536" y="1440"/>
                <a:ext cx="1" cy="19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52" name="Line 27"/>
              <p:cNvSpPr>
                <a:spLocks noChangeShapeType="1"/>
              </p:cNvSpPr>
              <p:nvPr/>
            </p:nvSpPr>
            <p:spPr bwMode="auto">
              <a:xfrm>
                <a:off x="1440" y="1632"/>
                <a:ext cx="240"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53" name="Rectangle 28"/>
              <p:cNvSpPr>
                <a:spLocks noChangeArrowheads="1"/>
              </p:cNvSpPr>
              <p:nvPr/>
            </p:nvSpPr>
            <p:spPr bwMode="auto">
              <a:xfrm>
                <a:off x="816" y="76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L</a:t>
                </a:r>
                <a:endParaRPr lang="en-US" sz="2400" baseline="-25000">
                  <a:solidFill>
                    <a:srgbClr val="000000"/>
                  </a:solidFill>
                  <a:latin typeface="Times New Roman" pitchFamily="18" charset="0"/>
                  <a:sym typeface="Times New Roman" pitchFamily="18" charset="0"/>
                </a:endParaRPr>
              </a:p>
            </p:txBody>
          </p:sp>
          <p:sp>
            <p:nvSpPr>
              <p:cNvPr id="77854" name="Rectangle 29"/>
              <p:cNvSpPr>
                <a:spLocks noChangeArrowheads="1"/>
              </p:cNvSpPr>
              <p:nvPr/>
            </p:nvSpPr>
            <p:spPr bwMode="auto">
              <a:xfrm>
                <a:off x="720" y="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R</a:t>
                </a:r>
                <a:endParaRPr lang="en-US" sz="2400" baseline="-25000">
                  <a:solidFill>
                    <a:srgbClr val="000000"/>
                  </a:solidFill>
                  <a:latin typeface="Times New Roman" pitchFamily="18" charset="0"/>
                  <a:sym typeface="Times New Roman" pitchFamily="18" charset="0"/>
                </a:endParaRPr>
              </a:p>
            </p:txBody>
          </p:sp>
          <p:sp>
            <p:nvSpPr>
              <p:cNvPr id="77855" name="Rectangle 30"/>
              <p:cNvSpPr>
                <a:spLocks noChangeArrowheads="1"/>
              </p:cNvSpPr>
              <p:nvPr/>
            </p:nvSpPr>
            <p:spPr bwMode="auto">
              <a:xfrm>
                <a:off x="2064" y="81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C</a:t>
                </a:r>
                <a:endParaRPr lang="en-US" sz="2400" baseline="-25000">
                  <a:solidFill>
                    <a:srgbClr val="000000"/>
                  </a:solidFill>
                  <a:latin typeface="Times New Roman" pitchFamily="18" charset="0"/>
                  <a:sym typeface="Times New Roman" pitchFamily="18" charset="0"/>
                </a:endParaRPr>
              </a:p>
            </p:txBody>
          </p:sp>
        </p:grpSp>
        <p:sp>
          <p:nvSpPr>
            <p:cNvPr id="77856" name="Rectangle 31"/>
            <p:cNvSpPr>
              <a:spLocks noChangeArrowheads="1"/>
            </p:cNvSpPr>
            <p:nvPr/>
          </p:nvSpPr>
          <p:spPr bwMode="auto">
            <a:xfrm>
              <a:off x="3648" y="48"/>
              <a:ext cx="4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U</a:t>
              </a:r>
              <a:r>
                <a:rPr lang="en-US" sz="2400" baseline="-25000">
                  <a:solidFill>
                    <a:srgbClr val="000000"/>
                  </a:solidFill>
                  <a:latin typeface="Times New Roman" pitchFamily="18" charset="0"/>
                  <a:sym typeface="Times New Roman" pitchFamily="18" charset="0"/>
                </a:rPr>
                <a:t>SC</a:t>
              </a:r>
              <a:endParaRPr lang="zh-CN" altLang="en-US"/>
            </a:p>
          </p:txBody>
        </p:sp>
      </p:grpSp>
      <p:sp>
        <p:nvSpPr>
          <p:cNvPr id="77857" name="Text Box 32" descr="永恒"/>
          <p:cNvSpPr>
            <a:spLocks noChangeArrowheads="1"/>
          </p:cNvSpPr>
          <p:nvPr/>
        </p:nvSpPr>
        <p:spPr bwMode="auto">
          <a:xfrm>
            <a:off x="762000" y="5064125"/>
            <a:ext cx="746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800">
                <a:latin typeface="楷体_GB2312" pitchFamily="49" charset="-122"/>
                <a:ea typeface="楷体_GB2312" pitchFamily="49" charset="-122"/>
                <a:sym typeface="楷体_GB2312" pitchFamily="49" charset="-122"/>
              </a:rPr>
              <a:t>输出电压的频率</a:t>
            </a:r>
            <a:r>
              <a:rPr lang="en-US" sz="2800">
                <a:latin typeface="Times New Roman" pitchFamily="18" charset="0"/>
                <a:ea typeface="楷体_GB2312" pitchFamily="49" charset="-122"/>
                <a:sym typeface="Times New Roman" pitchFamily="18" charset="0"/>
              </a:rPr>
              <a:t>f</a:t>
            </a:r>
            <a:r>
              <a:rPr lang="zh-CN" altLang="en-US" sz="2800">
                <a:latin typeface="楷体_GB2312" pitchFamily="49" charset="-122"/>
                <a:ea typeface="楷体_GB2312" pitchFamily="49" charset="-122"/>
                <a:sym typeface="楷体_GB2312" pitchFamily="49" charset="-122"/>
              </a:rPr>
              <a:t>始终恒定，称为定频调幅式</a:t>
            </a:r>
            <a:endParaRPr lang="zh-CN" altLang="en-US"/>
          </a:p>
        </p:txBody>
      </p:sp>
      <p:sp>
        <p:nvSpPr>
          <p:cNvPr id="77858" name="Line 33"/>
          <p:cNvSpPr>
            <a:spLocks noChangeShapeType="1"/>
          </p:cNvSpPr>
          <p:nvPr/>
        </p:nvSpPr>
        <p:spPr bwMode="auto">
          <a:xfrm flipV="1">
            <a:off x="3124200" y="2992438"/>
            <a:ext cx="609600" cy="533400"/>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7857"/>
                                        </p:tgtEl>
                                        <p:attrNameLst>
                                          <p:attrName>style.visibility</p:attrName>
                                        </p:attrNameLst>
                                      </p:cBhvr>
                                      <p:to>
                                        <p:strVal val="visible"/>
                                      </p:to>
                                    </p:set>
                                    <p:animEffect>
                                      <p:cBhvr>
                                        <p:cTn id="7" dur="500"/>
                                        <p:tgtEl>
                                          <p:spTgt spid="77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57" grpId="0" bldLvl="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5"/>
          <p:cNvSpPr>
            <a:spLocks noGrp="1"/>
          </p:cNvSpPr>
          <p:nvPr>
            <p:ph type="sldNum" sz="quarter" idx="12"/>
          </p:nvPr>
        </p:nvSpPr>
        <p:spPr/>
        <p:txBody>
          <a:bodyPr/>
          <a:lstStyle/>
          <a:p>
            <a:fld id="{7FC51710-D4B0-418D-AE6D-85D3796C9FDB}" type="slidenum">
              <a:rPr lang="zh-CN" altLang="en-US"/>
              <a:pPr/>
              <a:t>76</a:t>
            </a:fld>
            <a:endParaRPr lang="zh-CN" altLang="en-US" sz="1800">
              <a:solidFill>
                <a:schemeClr val="tx1"/>
              </a:solidFill>
              <a:latin typeface="Arial" pitchFamily="34" charset="0"/>
            </a:endParaRPr>
          </a:p>
        </p:txBody>
      </p:sp>
      <p:sp>
        <p:nvSpPr>
          <p:cNvPr id="7885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8851" name="TextBox 5"/>
          <p:cNvSpPr>
            <a:spLocks noChangeArrowheads="1"/>
          </p:cNvSpPr>
          <p:nvPr/>
        </p:nvSpPr>
        <p:spPr bwMode="auto">
          <a:xfrm>
            <a:off x="755650" y="2603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(1)</a:t>
            </a:r>
            <a:r>
              <a:rPr lang="zh-CN" altLang="en-US" sz="3200" b="1">
                <a:solidFill>
                  <a:schemeClr val="tx2"/>
                </a:solidFill>
                <a:latin typeface="Calibri" pitchFamily="34" charset="0"/>
              </a:rPr>
              <a:t>调幅式测量线路</a:t>
            </a:r>
            <a:endParaRPr lang="zh-CN" altLang="en-US"/>
          </a:p>
        </p:txBody>
      </p:sp>
      <p:grpSp>
        <p:nvGrpSpPr>
          <p:cNvPr id="78852" name="Group 2"/>
          <p:cNvGrpSpPr>
            <a:grpSpLocks/>
          </p:cNvGrpSpPr>
          <p:nvPr/>
        </p:nvGrpSpPr>
        <p:grpSpPr bwMode="auto">
          <a:xfrm>
            <a:off x="746125" y="1116013"/>
            <a:ext cx="7426325" cy="2744787"/>
            <a:chOff x="0" y="0"/>
            <a:chExt cx="4704" cy="2832"/>
          </a:xfrm>
        </p:grpSpPr>
        <p:grpSp>
          <p:nvGrpSpPr>
            <p:cNvPr id="78853" name="Group 3"/>
            <p:cNvGrpSpPr>
              <a:grpSpLocks/>
            </p:cNvGrpSpPr>
            <p:nvPr/>
          </p:nvGrpSpPr>
          <p:grpSpPr bwMode="auto">
            <a:xfrm>
              <a:off x="144" y="336"/>
              <a:ext cx="4560" cy="2400"/>
              <a:chOff x="0" y="0"/>
              <a:chExt cx="4560" cy="2400"/>
            </a:xfrm>
          </p:grpSpPr>
          <p:sp>
            <p:nvSpPr>
              <p:cNvPr id="78854" name="Line 4"/>
              <p:cNvSpPr>
                <a:spLocks noChangeShapeType="1"/>
              </p:cNvSpPr>
              <p:nvPr/>
            </p:nvSpPr>
            <p:spPr bwMode="auto">
              <a:xfrm>
                <a:off x="240" y="2160"/>
                <a:ext cx="4032" cy="1"/>
              </a:xfrm>
              <a:prstGeom prst="line">
                <a:avLst/>
              </a:prstGeom>
              <a:noFill/>
              <a:ln w="38100"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55" name="Line 5"/>
              <p:cNvSpPr>
                <a:spLocks noChangeShapeType="1"/>
              </p:cNvSpPr>
              <p:nvPr/>
            </p:nvSpPr>
            <p:spPr bwMode="auto">
              <a:xfrm flipV="1">
                <a:off x="240" y="144"/>
                <a:ext cx="1" cy="2016"/>
              </a:xfrm>
              <a:prstGeom prst="line">
                <a:avLst/>
              </a:prstGeom>
              <a:noFill/>
              <a:ln w="38100"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56" name="Text Box 6"/>
              <p:cNvSpPr>
                <a:spLocks noChangeArrowheads="1"/>
              </p:cNvSpPr>
              <p:nvPr/>
            </p:nvSpPr>
            <p:spPr bwMode="auto">
              <a:xfrm>
                <a:off x="4272" y="211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endParaRPr lang="zh-CN" altLang="en-US"/>
              </a:p>
            </p:txBody>
          </p:sp>
          <p:sp>
            <p:nvSpPr>
              <p:cNvPr id="78857" name="Text Box 7"/>
              <p:cNvSpPr>
                <a:spLocks noChangeArrowheads="1"/>
              </p:cNvSpPr>
              <p:nvPr/>
            </p:nvSpPr>
            <p:spPr bwMode="auto">
              <a:xfrm>
                <a:off x="0" y="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Z</a:t>
                </a:r>
                <a:endParaRPr lang="zh-CN" altLang="en-US"/>
              </a:p>
            </p:txBody>
          </p:sp>
        </p:grpSp>
        <p:sp>
          <p:nvSpPr>
            <p:cNvPr id="78858" name="Text Box 8"/>
            <p:cNvSpPr>
              <a:spLocks noChangeArrowheads="1"/>
            </p:cNvSpPr>
            <p:nvPr/>
          </p:nvSpPr>
          <p:spPr bwMode="auto">
            <a:xfrm>
              <a:off x="2736" y="0"/>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R</a:t>
              </a:r>
              <a:r>
                <a:rPr lang="en-US" sz="2400" baseline="-25000">
                  <a:latin typeface="Times New Roman" pitchFamily="18" charset="0"/>
                  <a:sym typeface="Times New Roman" pitchFamily="18" charset="0"/>
                </a:rPr>
                <a:t>0</a:t>
              </a:r>
              <a:r>
                <a:rPr lang="en-US" sz="2400">
                  <a:latin typeface="Times New Roman" pitchFamily="18" charset="0"/>
                  <a:sym typeface="Times New Roman" pitchFamily="18" charset="0"/>
                </a:rPr>
                <a:t>&lt;R</a:t>
              </a:r>
              <a:r>
                <a:rPr lang="en-US" sz="2400" baseline="-25000">
                  <a:latin typeface="Times New Roman" pitchFamily="18" charset="0"/>
                  <a:sym typeface="Times New Roman" pitchFamily="18" charset="0"/>
                </a:rPr>
                <a:t>1</a:t>
              </a:r>
              <a:r>
                <a:rPr lang="en-US" sz="2400">
                  <a:latin typeface="Times New Roman" pitchFamily="18" charset="0"/>
                  <a:sym typeface="Times New Roman" pitchFamily="18" charset="0"/>
                </a:rPr>
                <a:t>&lt;R</a:t>
              </a:r>
              <a:r>
                <a:rPr lang="en-US" sz="2400" baseline="-25000">
                  <a:latin typeface="Times New Roman" pitchFamily="18" charset="0"/>
                  <a:sym typeface="Times New Roman" pitchFamily="18" charset="0"/>
                </a:rPr>
                <a:t>2</a:t>
              </a:r>
              <a:r>
                <a:rPr lang="en-US" sz="2400">
                  <a:latin typeface="Times New Roman" pitchFamily="18" charset="0"/>
                  <a:sym typeface="Times New Roman" pitchFamily="18" charset="0"/>
                </a:rPr>
                <a:t>&lt;R</a:t>
              </a:r>
              <a:r>
                <a:rPr lang="en-US" sz="2400" baseline="-25000">
                  <a:latin typeface="Times New Roman" pitchFamily="18" charset="0"/>
                  <a:sym typeface="Times New Roman" pitchFamily="18" charset="0"/>
                </a:rPr>
                <a:t>3</a:t>
              </a:r>
              <a:endParaRPr lang="zh-CN" altLang="en-US"/>
            </a:p>
          </p:txBody>
        </p:sp>
        <p:sp>
          <p:nvSpPr>
            <p:cNvPr id="78859" name="Freeform 9"/>
            <p:cNvSpPr>
              <a:spLocks noChangeArrowheads="1"/>
            </p:cNvSpPr>
            <p:nvPr/>
          </p:nvSpPr>
          <p:spPr bwMode="auto">
            <a:xfrm>
              <a:off x="576" y="696"/>
              <a:ext cx="3264" cy="1584"/>
            </a:xfrm>
            <a:custGeom>
              <a:avLst/>
              <a:gdLst>
                <a:gd name="T0" fmla="*/ 0 w 3264"/>
                <a:gd name="T1" fmla="*/ 1560 h 1584"/>
                <a:gd name="T2" fmla="*/ 96 w 3264"/>
                <a:gd name="T3" fmla="*/ 1560 h 1584"/>
                <a:gd name="T4" fmla="*/ 288 w 3264"/>
                <a:gd name="T5" fmla="*/ 1416 h 1584"/>
                <a:gd name="T6" fmla="*/ 624 w 3264"/>
                <a:gd name="T7" fmla="*/ 648 h 1584"/>
                <a:gd name="T8" fmla="*/ 816 w 3264"/>
                <a:gd name="T9" fmla="*/ 120 h 1584"/>
                <a:gd name="T10" fmla="*/ 912 w 3264"/>
                <a:gd name="T11" fmla="*/ 24 h 1584"/>
                <a:gd name="T12" fmla="*/ 1008 w 3264"/>
                <a:gd name="T13" fmla="*/ 264 h 1584"/>
                <a:gd name="T14" fmla="*/ 1200 w 3264"/>
                <a:gd name="T15" fmla="*/ 984 h 1584"/>
                <a:gd name="T16" fmla="*/ 1344 w 3264"/>
                <a:gd name="T17" fmla="*/ 1224 h 1584"/>
                <a:gd name="T18" fmla="*/ 1920 w 3264"/>
                <a:gd name="T19" fmla="*/ 1368 h 1584"/>
                <a:gd name="T20" fmla="*/ 2592 w 3264"/>
                <a:gd name="T21" fmla="*/ 1464 h 1584"/>
                <a:gd name="T22" fmla="*/ 3264 w 3264"/>
                <a:gd name="T23" fmla="*/ 1560 h 15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4"/>
                <a:gd name="T37" fmla="*/ 0 h 1584"/>
                <a:gd name="T38" fmla="*/ 3264 w 3264"/>
                <a:gd name="T39" fmla="*/ 1584 h 15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4" h="1584">
                  <a:moveTo>
                    <a:pt x="0" y="1560"/>
                  </a:moveTo>
                  <a:cubicBezTo>
                    <a:pt x="24" y="1572"/>
                    <a:pt x="48" y="1584"/>
                    <a:pt x="96" y="1560"/>
                  </a:cubicBezTo>
                  <a:cubicBezTo>
                    <a:pt x="144" y="1536"/>
                    <a:pt x="200" y="1568"/>
                    <a:pt x="288" y="1416"/>
                  </a:cubicBezTo>
                  <a:cubicBezTo>
                    <a:pt x="376" y="1264"/>
                    <a:pt x="536" y="864"/>
                    <a:pt x="624" y="648"/>
                  </a:cubicBezTo>
                  <a:cubicBezTo>
                    <a:pt x="712" y="432"/>
                    <a:pt x="768" y="224"/>
                    <a:pt x="816" y="120"/>
                  </a:cubicBezTo>
                  <a:cubicBezTo>
                    <a:pt x="864" y="16"/>
                    <a:pt x="880" y="0"/>
                    <a:pt x="912" y="24"/>
                  </a:cubicBezTo>
                  <a:cubicBezTo>
                    <a:pt x="944" y="48"/>
                    <a:pt x="960" y="104"/>
                    <a:pt x="1008" y="264"/>
                  </a:cubicBezTo>
                  <a:cubicBezTo>
                    <a:pt x="1056" y="424"/>
                    <a:pt x="1144" y="824"/>
                    <a:pt x="1200" y="984"/>
                  </a:cubicBezTo>
                  <a:cubicBezTo>
                    <a:pt x="1256" y="1144"/>
                    <a:pt x="1224" y="1160"/>
                    <a:pt x="1344" y="1224"/>
                  </a:cubicBezTo>
                  <a:cubicBezTo>
                    <a:pt x="1464" y="1288"/>
                    <a:pt x="1712" y="1328"/>
                    <a:pt x="1920" y="1368"/>
                  </a:cubicBezTo>
                  <a:cubicBezTo>
                    <a:pt x="2128" y="1408"/>
                    <a:pt x="2368" y="1432"/>
                    <a:pt x="2592" y="1464"/>
                  </a:cubicBezTo>
                  <a:cubicBezTo>
                    <a:pt x="2816" y="1496"/>
                    <a:pt x="3040" y="1528"/>
                    <a:pt x="3264" y="1560"/>
                  </a:cubicBezTo>
                </a:path>
              </a:pathLst>
            </a:custGeom>
            <a:noFill/>
            <a:ln w="38100" cmpd="sng">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8860" name="Freeform 10"/>
            <p:cNvSpPr>
              <a:spLocks noChangeArrowheads="1"/>
            </p:cNvSpPr>
            <p:nvPr/>
          </p:nvSpPr>
          <p:spPr bwMode="auto">
            <a:xfrm>
              <a:off x="720" y="960"/>
              <a:ext cx="3504" cy="1296"/>
            </a:xfrm>
            <a:custGeom>
              <a:avLst/>
              <a:gdLst>
                <a:gd name="T0" fmla="*/ 0 w 3504"/>
                <a:gd name="T1" fmla="*/ 1152 h 1296"/>
                <a:gd name="T2" fmla="*/ 144 w 3504"/>
                <a:gd name="T3" fmla="*/ 1152 h 1296"/>
                <a:gd name="T4" fmla="*/ 384 w 3504"/>
                <a:gd name="T5" fmla="*/ 1056 h 1296"/>
                <a:gd name="T6" fmla="*/ 816 w 3504"/>
                <a:gd name="T7" fmla="*/ 528 h 1296"/>
                <a:gd name="T8" fmla="*/ 1104 w 3504"/>
                <a:gd name="T9" fmla="*/ 144 h 1296"/>
                <a:gd name="T10" fmla="*/ 1296 w 3504"/>
                <a:gd name="T11" fmla="*/ 0 h 1296"/>
                <a:gd name="T12" fmla="*/ 1488 w 3504"/>
                <a:gd name="T13" fmla="*/ 144 h 1296"/>
                <a:gd name="T14" fmla="*/ 1776 w 3504"/>
                <a:gd name="T15" fmla="*/ 528 h 1296"/>
                <a:gd name="T16" fmla="*/ 2160 w 3504"/>
                <a:gd name="T17" fmla="*/ 864 h 1296"/>
                <a:gd name="T18" fmla="*/ 2640 w 3504"/>
                <a:gd name="T19" fmla="*/ 1056 h 1296"/>
                <a:gd name="T20" fmla="*/ 3504 w 3504"/>
                <a:gd name="T21" fmla="*/ 1296 h 12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04"/>
                <a:gd name="T34" fmla="*/ 0 h 1296"/>
                <a:gd name="T35" fmla="*/ 3504 w 3504"/>
                <a:gd name="T36" fmla="*/ 1296 h 12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04" h="1296">
                  <a:moveTo>
                    <a:pt x="0" y="1152"/>
                  </a:moveTo>
                  <a:cubicBezTo>
                    <a:pt x="40" y="1160"/>
                    <a:pt x="80" y="1168"/>
                    <a:pt x="144" y="1152"/>
                  </a:cubicBezTo>
                  <a:cubicBezTo>
                    <a:pt x="208" y="1136"/>
                    <a:pt x="272" y="1160"/>
                    <a:pt x="384" y="1056"/>
                  </a:cubicBezTo>
                  <a:cubicBezTo>
                    <a:pt x="496" y="952"/>
                    <a:pt x="696" y="680"/>
                    <a:pt x="816" y="528"/>
                  </a:cubicBezTo>
                  <a:cubicBezTo>
                    <a:pt x="936" y="376"/>
                    <a:pt x="1024" y="232"/>
                    <a:pt x="1104" y="144"/>
                  </a:cubicBezTo>
                  <a:cubicBezTo>
                    <a:pt x="1184" y="56"/>
                    <a:pt x="1232" y="0"/>
                    <a:pt x="1296" y="0"/>
                  </a:cubicBezTo>
                  <a:cubicBezTo>
                    <a:pt x="1360" y="0"/>
                    <a:pt x="1408" y="56"/>
                    <a:pt x="1488" y="144"/>
                  </a:cubicBezTo>
                  <a:cubicBezTo>
                    <a:pt x="1568" y="232"/>
                    <a:pt x="1664" y="408"/>
                    <a:pt x="1776" y="528"/>
                  </a:cubicBezTo>
                  <a:cubicBezTo>
                    <a:pt x="1888" y="648"/>
                    <a:pt x="2016" y="776"/>
                    <a:pt x="2160" y="864"/>
                  </a:cubicBezTo>
                  <a:cubicBezTo>
                    <a:pt x="2304" y="952"/>
                    <a:pt x="2416" y="984"/>
                    <a:pt x="2640" y="1056"/>
                  </a:cubicBezTo>
                  <a:cubicBezTo>
                    <a:pt x="2864" y="1128"/>
                    <a:pt x="3184" y="1212"/>
                    <a:pt x="3504" y="1296"/>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8861" name="Freeform 11"/>
            <p:cNvSpPr>
              <a:spLocks noChangeArrowheads="1"/>
            </p:cNvSpPr>
            <p:nvPr/>
          </p:nvSpPr>
          <p:spPr bwMode="auto">
            <a:xfrm>
              <a:off x="960" y="1120"/>
              <a:ext cx="3264" cy="1088"/>
            </a:xfrm>
            <a:custGeom>
              <a:avLst/>
              <a:gdLst>
                <a:gd name="T0" fmla="*/ 0 w 3264"/>
                <a:gd name="T1" fmla="*/ 1088 h 1088"/>
                <a:gd name="T2" fmla="*/ 192 w 3264"/>
                <a:gd name="T3" fmla="*/ 992 h 1088"/>
                <a:gd name="T4" fmla="*/ 576 w 3264"/>
                <a:gd name="T5" fmla="*/ 704 h 1088"/>
                <a:gd name="T6" fmla="*/ 912 w 3264"/>
                <a:gd name="T7" fmla="*/ 416 h 1088"/>
                <a:gd name="T8" fmla="*/ 1392 w 3264"/>
                <a:gd name="T9" fmla="*/ 128 h 1088"/>
                <a:gd name="T10" fmla="*/ 1680 w 3264"/>
                <a:gd name="T11" fmla="*/ 32 h 1088"/>
                <a:gd name="T12" fmla="*/ 2064 w 3264"/>
                <a:gd name="T13" fmla="*/ 320 h 1088"/>
                <a:gd name="T14" fmla="*/ 2400 w 3264"/>
                <a:gd name="T15" fmla="*/ 608 h 1088"/>
                <a:gd name="T16" fmla="*/ 2880 w 3264"/>
                <a:gd name="T17" fmla="*/ 896 h 1088"/>
                <a:gd name="T18" fmla="*/ 3264 w 3264"/>
                <a:gd name="T19" fmla="*/ 1040 h 10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64"/>
                <a:gd name="T31" fmla="*/ 0 h 1088"/>
                <a:gd name="T32" fmla="*/ 3264 w 3264"/>
                <a:gd name="T33" fmla="*/ 1088 h 10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64" h="1088">
                  <a:moveTo>
                    <a:pt x="0" y="1088"/>
                  </a:moveTo>
                  <a:cubicBezTo>
                    <a:pt x="48" y="1072"/>
                    <a:pt x="96" y="1056"/>
                    <a:pt x="192" y="992"/>
                  </a:cubicBezTo>
                  <a:cubicBezTo>
                    <a:pt x="288" y="928"/>
                    <a:pt x="456" y="800"/>
                    <a:pt x="576" y="704"/>
                  </a:cubicBezTo>
                  <a:cubicBezTo>
                    <a:pt x="696" y="608"/>
                    <a:pt x="776" y="512"/>
                    <a:pt x="912" y="416"/>
                  </a:cubicBezTo>
                  <a:cubicBezTo>
                    <a:pt x="1048" y="320"/>
                    <a:pt x="1264" y="192"/>
                    <a:pt x="1392" y="128"/>
                  </a:cubicBezTo>
                  <a:cubicBezTo>
                    <a:pt x="1520" y="64"/>
                    <a:pt x="1568" y="0"/>
                    <a:pt x="1680" y="32"/>
                  </a:cubicBezTo>
                  <a:cubicBezTo>
                    <a:pt x="1792" y="64"/>
                    <a:pt x="1944" y="224"/>
                    <a:pt x="2064" y="320"/>
                  </a:cubicBezTo>
                  <a:cubicBezTo>
                    <a:pt x="2184" y="416"/>
                    <a:pt x="2264" y="512"/>
                    <a:pt x="2400" y="608"/>
                  </a:cubicBezTo>
                  <a:cubicBezTo>
                    <a:pt x="2536" y="704"/>
                    <a:pt x="2736" y="824"/>
                    <a:pt x="2880" y="896"/>
                  </a:cubicBezTo>
                  <a:cubicBezTo>
                    <a:pt x="3024" y="968"/>
                    <a:pt x="3144" y="1004"/>
                    <a:pt x="3264" y="1040"/>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8862" name="Freeform 12"/>
            <p:cNvSpPr>
              <a:spLocks noChangeArrowheads="1"/>
            </p:cNvSpPr>
            <p:nvPr/>
          </p:nvSpPr>
          <p:spPr bwMode="auto">
            <a:xfrm>
              <a:off x="1056" y="1608"/>
              <a:ext cx="3216" cy="600"/>
            </a:xfrm>
            <a:custGeom>
              <a:avLst/>
              <a:gdLst>
                <a:gd name="T0" fmla="*/ 0 w 3216"/>
                <a:gd name="T1" fmla="*/ 600 h 600"/>
                <a:gd name="T2" fmla="*/ 384 w 3216"/>
                <a:gd name="T3" fmla="*/ 552 h 600"/>
                <a:gd name="T4" fmla="*/ 528 w 3216"/>
                <a:gd name="T5" fmla="*/ 456 h 600"/>
                <a:gd name="T6" fmla="*/ 912 w 3216"/>
                <a:gd name="T7" fmla="*/ 264 h 600"/>
                <a:gd name="T8" fmla="*/ 1536 w 3216"/>
                <a:gd name="T9" fmla="*/ 72 h 600"/>
                <a:gd name="T10" fmla="*/ 1968 w 3216"/>
                <a:gd name="T11" fmla="*/ 72 h 600"/>
                <a:gd name="T12" fmla="*/ 2928 w 3216"/>
                <a:gd name="T13" fmla="*/ 504 h 600"/>
                <a:gd name="T14" fmla="*/ 3216 w 3216"/>
                <a:gd name="T15" fmla="*/ 552 h 600"/>
                <a:gd name="T16" fmla="*/ 0 60000 65536"/>
                <a:gd name="T17" fmla="*/ 0 60000 65536"/>
                <a:gd name="T18" fmla="*/ 0 60000 65536"/>
                <a:gd name="T19" fmla="*/ 0 60000 65536"/>
                <a:gd name="T20" fmla="*/ 0 60000 65536"/>
                <a:gd name="T21" fmla="*/ 0 60000 65536"/>
                <a:gd name="T22" fmla="*/ 0 60000 65536"/>
                <a:gd name="T23" fmla="*/ 0 60000 65536"/>
                <a:gd name="T24" fmla="*/ 0 w 3216"/>
                <a:gd name="T25" fmla="*/ 0 h 600"/>
                <a:gd name="T26" fmla="*/ 3216 w 3216"/>
                <a:gd name="T27" fmla="*/ 600 h 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16" h="600">
                  <a:moveTo>
                    <a:pt x="0" y="600"/>
                  </a:moveTo>
                  <a:cubicBezTo>
                    <a:pt x="148" y="588"/>
                    <a:pt x="296" y="576"/>
                    <a:pt x="384" y="552"/>
                  </a:cubicBezTo>
                  <a:cubicBezTo>
                    <a:pt x="472" y="528"/>
                    <a:pt x="440" y="504"/>
                    <a:pt x="528" y="456"/>
                  </a:cubicBezTo>
                  <a:cubicBezTo>
                    <a:pt x="616" y="408"/>
                    <a:pt x="744" y="328"/>
                    <a:pt x="912" y="264"/>
                  </a:cubicBezTo>
                  <a:cubicBezTo>
                    <a:pt x="1080" y="200"/>
                    <a:pt x="1360" y="104"/>
                    <a:pt x="1536" y="72"/>
                  </a:cubicBezTo>
                  <a:cubicBezTo>
                    <a:pt x="1712" y="40"/>
                    <a:pt x="1736" y="0"/>
                    <a:pt x="1968" y="72"/>
                  </a:cubicBezTo>
                  <a:cubicBezTo>
                    <a:pt x="2200" y="144"/>
                    <a:pt x="2720" y="424"/>
                    <a:pt x="2928" y="504"/>
                  </a:cubicBezTo>
                  <a:cubicBezTo>
                    <a:pt x="3136" y="584"/>
                    <a:pt x="3176" y="568"/>
                    <a:pt x="3216" y="552"/>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grpSp>
          <p:nvGrpSpPr>
            <p:cNvPr id="78863" name="Group 13"/>
            <p:cNvGrpSpPr>
              <a:grpSpLocks/>
            </p:cNvGrpSpPr>
            <p:nvPr/>
          </p:nvGrpSpPr>
          <p:grpSpPr bwMode="auto">
            <a:xfrm>
              <a:off x="1392" y="720"/>
              <a:ext cx="288" cy="2112"/>
              <a:chOff x="0" y="0"/>
              <a:chExt cx="288" cy="2112"/>
            </a:xfrm>
          </p:grpSpPr>
          <p:sp>
            <p:nvSpPr>
              <p:cNvPr id="78864" name="Line 14"/>
              <p:cNvSpPr>
                <a:spLocks noChangeShapeType="1"/>
              </p:cNvSpPr>
              <p:nvPr/>
            </p:nvSpPr>
            <p:spPr bwMode="auto">
              <a:xfrm>
                <a:off x="84" y="0"/>
                <a:ext cx="1" cy="1776"/>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65" name="Text Box 15"/>
              <p:cNvSpPr>
                <a:spLocks noChangeArrowheads="1"/>
              </p:cNvSpPr>
              <p:nvPr/>
            </p:nvSpPr>
            <p:spPr bwMode="auto">
              <a:xfrm>
                <a:off x="0" y="18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0</a:t>
                </a:r>
                <a:endParaRPr lang="en-US" sz="2400">
                  <a:latin typeface="Times New Roman" pitchFamily="18" charset="0"/>
                  <a:sym typeface="Times New Roman" pitchFamily="18" charset="0"/>
                </a:endParaRPr>
              </a:p>
            </p:txBody>
          </p:sp>
        </p:grpSp>
        <p:grpSp>
          <p:nvGrpSpPr>
            <p:cNvPr id="78866" name="Group 16"/>
            <p:cNvGrpSpPr>
              <a:grpSpLocks/>
            </p:cNvGrpSpPr>
            <p:nvPr/>
          </p:nvGrpSpPr>
          <p:grpSpPr bwMode="auto">
            <a:xfrm>
              <a:off x="1824" y="960"/>
              <a:ext cx="288" cy="1872"/>
              <a:chOff x="0" y="0"/>
              <a:chExt cx="288" cy="1872"/>
            </a:xfrm>
          </p:grpSpPr>
          <p:sp>
            <p:nvSpPr>
              <p:cNvPr id="78867" name="Line 17"/>
              <p:cNvSpPr>
                <a:spLocks noChangeShapeType="1"/>
              </p:cNvSpPr>
              <p:nvPr/>
            </p:nvSpPr>
            <p:spPr bwMode="auto">
              <a:xfrm>
                <a:off x="192" y="0"/>
                <a:ext cx="1" cy="1536"/>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68" name="Text Box 18"/>
              <p:cNvSpPr>
                <a:spLocks noChangeArrowheads="1"/>
              </p:cNvSpPr>
              <p:nvPr/>
            </p:nvSpPr>
            <p:spPr bwMode="auto">
              <a:xfrm>
                <a:off x="0" y="158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1</a:t>
                </a:r>
                <a:endParaRPr lang="en-US" sz="2400">
                  <a:latin typeface="Times New Roman" pitchFamily="18" charset="0"/>
                  <a:sym typeface="Times New Roman" pitchFamily="18" charset="0"/>
                </a:endParaRPr>
              </a:p>
            </p:txBody>
          </p:sp>
        </p:grpSp>
        <p:grpSp>
          <p:nvGrpSpPr>
            <p:cNvPr id="78869" name="Group 19"/>
            <p:cNvGrpSpPr>
              <a:grpSpLocks/>
            </p:cNvGrpSpPr>
            <p:nvPr/>
          </p:nvGrpSpPr>
          <p:grpSpPr bwMode="auto">
            <a:xfrm>
              <a:off x="2352" y="1152"/>
              <a:ext cx="288" cy="1680"/>
              <a:chOff x="0" y="0"/>
              <a:chExt cx="288" cy="1680"/>
            </a:xfrm>
          </p:grpSpPr>
          <p:sp>
            <p:nvSpPr>
              <p:cNvPr id="78870" name="Line 20"/>
              <p:cNvSpPr>
                <a:spLocks noChangeShapeType="1"/>
              </p:cNvSpPr>
              <p:nvPr/>
            </p:nvSpPr>
            <p:spPr bwMode="auto">
              <a:xfrm>
                <a:off x="240" y="0"/>
                <a:ext cx="1" cy="1344"/>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71" name="Text Box 21"/>
              <p:cNvSpPr>
                <a:spLocks noChangeArrowheads="1"/>
              </p:cNvSpPr>
              <p:nvPr/>
            </p:nvSpPr>
            <p:spPr bwMode="auto">
              <a:xfrm>
                <a:off x="0" y="13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2</a:t>
                </a:r>
                <a:endParaRPr lang="en-US" sz="2400">
                  <a:latin typeface="Times New Roman" pitchFamily="18" charset="0"/>
                  <a:sym typeface="Times New Roman" pitchFamily="18" charset="0"/>
                </a:endParaRPr>
              </a:p>
            </p:txBody>
          </p:sp>
        </p:grpSp>
        <p:grpSp>
          <p:nvGrpSpPr>
            <p:cNvPr id="78872" name="Group 22"/>
            <p:cNvGrpSpPr>
              <a:grpSpLocks/>
            </p:cNvGrpSpPr>
            <p:nvPr/>
          </p:nvGrpSpPr>
          <p:grpSpPr bwMode="auto">
            <a:xfrm>
              <a:off x="2784" y="1632"/>
              <a:ext cx="288" cy="1200"/>
              <a:chOff x="0" y="0"/>
              <a:chExt cx="288" cy="1200"/>
            </a:xfrm>
          </p:grpSpPr>
          <p:sp>
            <p:nvSpPr>
              <p:cNvPr id="78873" name="Line 23"/>
              <p:cNvSpPr>
                <a:spLocks noChangeShapeType="1"/>
              </p:cNvSpPr>
              <p:nvPr/>
            </p:nvSpPr>
            <p:spPr bwMode="auto">
              <a:xfrm>
                <a:off x="96" y="0"/>
                <a:ext cx="1" cy="864"/>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74" name="Text Box 24"/>
              <p:cNvSpPr>
                <a:spLocks noChangeArrowheads="1"/>
              </p:cNvSpPr>
              <p:nvPr/>
            </p:nvSpPr>
            <p:spPr bwMode="auto">
              <a:xfrm>
                <a:off x="0" y="91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3</a:t>
                </a:r>
                <a:endParaRPr lang="en-US" sz="2400">
                  <a:latin typeface="Times New Roman" pitchFamily="18" charset="0"/>
                  <a:sym typeface="Times New Roman" pitchFamily="18" charset="0"/>
                </a:endParaRPr>
              </a:p>
            </p:txBody>
          </p:sp>
        </p:grpSp>
        <p:grpSp>
          <p:nvGrpSpPr>
            <p:cNvPr id="78875" name="Group 25"/>
            <p:cNvGrpSpPr>
              <a:grpSpLocks/>
            </p:cNvGrpSpPr>
            <p:nvPr/>
          </p:nvGrpSpPr>
          <p:grpSpPr bwMode="auto">
            <a:xfrm>
              <a:off x="96" y="576"/>
              <a:ext cx="1392" cy="288"/>
              <a:chOff x="0" y="0"/>
              <a:chExt cx="1392" cy="288"/>
            </a:xfrm>
          </p:grpSpPr>
          <p:sp>
            <p:nvSpPr>
              <p:cNvPr id="78876" name="Line 26"/>
              <p:cNvSpPr>
                <a:spLocks noChangeShapeType="1"/>
              </p:cNvSpPr>
              <p:nvPr/>
            </p:nvSpPr>
            <p:spPr bwMode="auto">
              <a:xfrm>
                <a:off x="288" y="144"/>
                <a:ext cx="1104" cy="1"/>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77" name="Text Box 27"/>
              <p:cNvSpPr>
                <a:spLocks noChangeArrowheads="1"/>
              </p:cNvSpPr>
              <p:nvPr/>
            </p:nvSpPr>
            <p:spPr bwMode="auto">
              <a:xfrm>
                <a:off x="0" y="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Z</a:t>
                </a:r>
                <a:r>
                  <a:rPr lang="en-US" sz="2400" baseline="-25000">
                    <a:latin typeface="Times New Roman" pitchFamily="18" charset="0"/>
                    <a:sym typeface="Times New Roman" pitchFamily="18" charset="0"/>
                  </a:rPr>
                  <a:t>0</a:t>
                </a:r>
                <a:endParaRPr lang="en-US" sz="2400">
                  <a:latin typeface="Times New Roman" pitchFamily="18" charset="0"/>
                  <a:sym typeface="Times New Roman" pitchFamily="18" charset="0"/>
                </a:endParaRPr>
              </a:p>
            </p:txBody>
          </p:sp>
        </p:grpSp>
        <p:grpSp>
          <p:nvGrpSpPr>
            <p:cNvPr id="78878" name="Group 28"/>
            <p:cNvGrpSpPr>
              <a:grpSpLocks/>
            </p:cNvGrpSpPr>
            <p:nvPr/>
          </p:nvGrpSpPr>
          <p:grpSpPr bwMode="auto">
            <a:xfrm>
              <a:off x="0" y="1344"/>
              <a:ext cx="1440" cy="288"/>
              <a:chOff x="0" y="0"/>
              <a:chExt cx="1440" cy="288"/>
            </a:xfrm>
          </p:grpSpPr>
          <p:sp>
            <p:nvSpPr>
              <p:cNvPr id="78879" name="Line 29"/>
              <p:cNvSpPr>
                <a:spLocks noChangeShapeType="1"/>
              </p:cNvSpPr>
              <p:nvPr/>
            </p:nvSpPr>
            <p:spPr bwMode="auto">
              <a:xfrm>
                <a:off x="384" y="240"/>
                <a:ext cx="1056" cy="1"/>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80" name="Text Box 30"/>
              <p:cNvSpPr>
                <a:spLocks noChangeArrowheads="1"/>
              </p:cNvSpPr>
              <p:nvPr/>
            </p:nvSpPr>
            <p:spPr bwMode="auto">
              <a:xfrm>
                <a:off x="0" y="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Z</a:t>
                </a:r>
                <a:r>
                  <a:rPr lang="en-US" sz="2400" baseline="-25000">
                    <a:latin typeface="Times New Roman" pitchFamily="18" charset="0"/>
                    <a:sym typeface="Times New Roman" pitchFamily="18" charset="0"/>
                  </a:rPr>
                  <a:t>1</a:t>
                </a:r>
                <a:endParaRPr lang="en-US" sz="2400">
                  <a:latin typeface="Times New Roman" pitchFamily="18" charset="0"/>
                  <a:sym typeface="Times New Roman" pitchFamily="18" charset="0"/>
                </a:endParaRPr>
              </a:p>
            </p:txBody>
          </p:sp>
        </p:grpSp>
        <p:grpSp>
          <p:nvGrpSpPr>
            <p:cNvPr id="78881" name="Group 31"/>
            <p:cNvGrpSpPr>
              <a:grpSpLocks/>
            </p:cNvGrpSpPr>
            <p:nvPr/>
          </p:nvGrpSpPr>
          <p:grpSpPr bwMode="auto">
            <a:xfrm>
              <a:off x="0" y="1680"/>
              <a:ext cx="1440" cy="288"/>
              <a:chOff x="0" y="0"/>
              <a:chExt cx="1440" cy="288"/>
            </a:xfrm>
          </p:grpSpPr>
          <p:sp>
            <p:nvSpPr>
              <p:cNvPr id="78882" name="Line 32"/>
              <p:cNvSpPr>
                <a:spLocks noChangeShapeType="1"/>
              </p:cNvSpPr>
              <p:nvPr/>
            </p:nvSpPr>
            <p:spPr bwMode="auto">
              <a:xfrm>
                <a:off x="384" y="192"/>
                <a:ext cx="1056" cy="1"/>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83" name="Text Box 33"/>
              <p:cNvSpPr>
                <a:spLocks noChangeArrowheads="1"/>
              </p:cNvSpPr>
              <p:nvPr/>
            </p:nvSpPr>
            <p:spPr bwMode="auto">
              <a:xfrm>
                <a:off x="0" y="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Z</a:t>
                </a:r>
                <a:r>
                  <a:rPr lang="en-US" sz="2400" baseline="-25000">
                    <a:latin typeface="Times New Roman" pitchFamily="18" charset="0"/>
                    <a:sym typeface="Times New Roman" pitchFamily="18" charset="0"/>
                  </a:rPr>
                  <a:t>2</a:t>
                </a:r>
                <a:endParaRPr lang="en-US" sz="2400">
                  <a:latin typeface="Times New Roman" pitchFamily="18" charset="0"/>
                  <a:sym typeface="Times New Roman" pitchFamily="18" charset="0"/>
                </a:endParaRPr>
              </a:p>
            </p:txBody>
          </p:sp>
        </p:grpSp>
        <p:grpSp>
          <p:nvGrpSpPr>
            <p:cNvPr id="78884" name="Group 34"/>
            <p:cNvGrpSpPr>
              <a:grpSpLocks/>
            </p:cNvGrpSpPr>
            <p:nvPr/>
          </p:nvGrpSpPr>
          <p:grpSpPr bwMode="auto">
            <a:xfrm>
              <a:off x="0" y="1968"/>
              <a:ext cx="1488" cy="288"/>
              <a:chOff x="0" y="0"/>
              <a:chExt cx="1488" cy="288"/>
            </a:xfrm>
          </p:grpSpPr>
          <p:sp>
            <p:nvSpPr>
              <p:cNvPr id="78885" name="Line 35"/>
              <p:cNvSpPr>
                <a:spLocks noChangeShapeType="1"/>
              </p:cNvSpPr>
              <p:nvPr/>
            </p:nvSpPr>
            <p:spPr bwMode="auto">
              <a:xfrm>
                <a:off x="432" y="192"/>
                <a:ext cx="1056" cy="1"/>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86" name="Text Box 36"/>
              <p:cNvSpPr>
                <a:spLocks noChangeArrowheads="1"/>
              </p:cNvSpPr>
              <p:nvPr/>
            </p:nvSpPr>
            <p:spPr bwMode="auto">
              <a:xfrm>
                <a:off x="0" y="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Z</a:t>
                </a:r>
                <a:r>
                  <a:rPr lang="en-US" sz="2400" baseline="-25000">
                    <a:latin typeface="Times New Roman" pitchFamily="18" charset="0"/>
                    <a:sym typeface="Times New Roman" pitchFamily="18" charset="0"/>
                  </a:rPr>
                  <a:t>3</a:t>
                </a:r>
                <a:endParaRPr lang="en-US" sz="2400">
                  <a:latin typeface="Times New Roman" pitchFamily="18" charset="0"/>
                  <a:sym typeface="Times New Roman" pitchFamily="18" charset="0"/>
                </a:endParaRPr>
              </a:p>
            </p:txBody>
          </p:sp>
        </p:grpSp>
        <p:sp>
          <p:nvSpPr>
            <p:cNvPr id="78887" name="Text Box 37"/>
            <p:cNvSpPr>
              <a:spLocks noChangeArrowheads="1"/>
            </p:cNvSpPr>
            <p:nvPr/>
          </p:nvSpPr>
          <p:spPr bwMode="auto">
            <a:xfrm>
              <a:off x="2736" y="240"/>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L</a:t>
              </a:r>
              <a:r>
                <a:rPr lang="en-US" sz="2400" baseline="-25000">
                  <a:latin typeface="Times New Roman" pitchFamily="18" charset="0"/>
                  <a:sym typeface="Times New Roman" pitchFamily="18" charset="0"/>
                </a:rPr>
                <a:t>0</a:t>
              </a:r>
              <a:r>
                <a:rPr lang="en-US" sz="2400">
                  <a:latin typeface="Times New Roman" pitchFamily="18" charset="0"/>
                  <a:sym typeface="Times New Roman" pitchFamily="18" charset="0"/>
                </a:rPr>
                <a:t>&gt;L</a:t>
              </a:r>
              <a:r>
                <a:rPr lang="en-US" sz="2400" baseline="-25000">
                  <a:latin typeface="Times New Roman" pitchFamily="18" charset="0"/>
                  <a:sym typeface="Times New Roman" pitchFamily="18" charset="0"/>
                </a:rPr>
                <a:t>1</a:t>
              </a:r>
              <a:r>
                <a:rPr lang="en-US" sz="2400">
                  <a:latin typeface="Times New Roman" pitchFamily="18" charset="0"/>
                  <a:sym typeface="Times New Roman" pitchFamily="18" charset="0"/>
                </a:rPr>
                <a:t>&gt;L</a:t>
              </a:r>
              <a:r>
                <a:rPr lang="en-US" sz="2400" baseline="-25000">
                  <a:latin typeface="Times New Roman" pitchFamily="18" charset="0"/>
                  <a:sym typeface="Times New Roman" pitchFamily="18" charset="0"/>
                </a:rPr>
                <a:t>2</a:t>
              </a:r>
              <a:r>
                <a:rPr lang="en-US" sz="2400">
                  <a:latin typeface="Times New Roman" pitchFamily="18" charset="0"/>
                  <a:sym typeface="Times New Roman" pitchFamily="18" charset="0"/>
                </a:rPr>
                <a:t>&gt;L</a:t>
              </a:r>
              <a:r>
                <a:rPr lang="en-US" sz="2400" baseline="-25000">
                  <a:latin typeface="Times New Roman" pitchFamily="18" charset="0"/>
                  <a:sym typeface="Times New Roman" pitchFamily="18" charset="0"/>
                </a:rPr>
                <a:t>3</a:t>
              </a:r>
              <a:endParaRPr lang="zh-CN" altLang="en-US"/>
            </a:p>
          </p:txBody>
        </p:sp>
        <p:sp>
          <p:nvSpPr>
            <p:cNvPr id="78888" name="Text Box 38"/>
            <p:cNvSpPr>
              <a:spLocks noChangeArrowheads="1"/>
            </p:cNvSpPr>
            <p:nvPr/>
          </p:nvSpPr>
          <p:spPr bwMode="auto">
            <a:xfrm>
              <a:off x="2736" y="480"/>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Q</a:t>
              </a:r>
              <a:r>
                <a:rPr lang="en-US" sz="2400" baseline="-25000">
                  <a:latin typeface="Times New Roman" pitchFamily="18" charset="0"/>
                  <a:sym typeface="Times New Roman" pitchFamily="18" charset="0"/>
                </a:rPr>
                <a:t>0</a:t>
              </a:r>
              <a:r>
                <a:rPr lang="en-US" sz="2400">
                  <a:latin typeface="Times New Roman" pitchFamily="18" charset="0"/>
                  <a:sym typeface="Times New Roman" pitchFamily="18" charset="0"/>
                </a:rPr>
                <a:t>&gt;Q</a:t>
              </a:r>
              <a:r>
                <a:rPr lang="en-US" sz="2400" baseline="-25000">
                  <a:latin typeface="Times New Roman" pitchFamily="18" charset="0"/>
                  <a:sym typeface="Times New Roman" pitchFamily="18" charset="0"/>
                </a:rPr>
                <a:t>1</a:t>
              </a:r>
              <a:r>
                <a:rPr lang="en-US" sz="2400">
                  <a:latin typeface="Times New Roman" pitchFamily="18" charset="0"/>
                  <a:sym typeface="Times New Roman" pitchFamily="18" charset="0"/>
                </a:rPr>
                <a:t>&gt;Q</a:t>
              </a:r>
              <a:r>
                <a:rPr lang="en-US" sz="2400" baseline="-25000">
                  <a:latin typeface="Times New Roman" pitchFamily="18" charset="0"/>
                  <a:sym typeface="Times New Roman" pitchFamily="18" charset="0"/>
                </a:rPr>
                <a:t>2</a:t>
              </a:r>
              <a:r>
                <a:rPr lang="en-US" sz="2400">
                  <a:latin typeface="Times New Roman" pitchFamily="18" charset="0"/>
                  <a:sym typeface="Times New Roman" pitchFamily="18" charset="0"/>
                </a:rPr>
                <a:t>&gt;Q</a:t>
              </a:r>
              <a:r>
                <a:rPr lang="en-US" sz="2400" baseline="-25000">
                  <a:latin typeface="Times New Roman" pitchFamily="18" charset="0"/>
                  <a:sym typeface="Times New Roman" pitchFamily="18" charset="0"/>
                </a:rPr>
                <a:t>3</a:t>
              </a:r>
              <a:endParaRPr lang="zh-CN" altLang="en-US"/>
            </a:p>
          </p:txBody>
        </p:sp>
        <p:sp>
          <p:nvSpPr>
            <p:cNvPr id="78889" name="Text Box 39"/>
            <p:cNvSpPr>
              <a:spLocks noChangeArrowheads="1"/>
            </p:cNvSpPr>
            <p:nvPr/>
          </p:nvSpPr>
          <p:spPr bwMode="auto">
            <a:xfrm>
              <a:off x="2784" y="720"/>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0</a:t>
              </a:r>
              <a:r>
                <a:rPr lang="en-US" sz="2400">
                  <a:latin typeface="Times New Roman" pitchFamily="18" charset="0"/>
                  <a:sym typeface="Times New Roman" pitchFamily="18" charset="0"/>
                </a:rPr>
                <a:t>&lt;f</a:t>
              </a:r>
              <a:r>
                <a:rPr lang="en-US" sz="2400" baseline="-25000">
                  <a:latin typeface="Times New Roman" pitchFamily="18" charset="0"/>
                  <a:sym typeface="Times New Roman" pitchFamily="18" charset="0"/>
                </a:rPr>
                <a:t>1</a:t>
              </a:r>
              <a:r>
                <a:rPr lang="en-US" sz="2400">
                  <a:latin typeface="Times New Roman" pitchFamily="18" charset="0"/>
                  <a:sym typeface="Times New Roman" pitchFamily="18" charset="0"/>
                </a:rPr>
                <a:t>&lt;f</a:t>
              </a:r>
              <a:r>
                <a:rPr lang="en-US" sz="2400" baseline="-25000">
                  <a:latin typeface="Times New Roman" pitchFamily="18" charset="0"/>
                  <a:sym typeface="Times New Roman" pitchFamily="18" charset="0"/>
                </a:rPr>
                <a:t>2</a:t>
              </a:r>
              <a:r>
                <a:rPr lang="en-US" sz="2400">
                  <a:latin typeface="Times New Roman" pitchFamily="18" charset="0"/>
                  <a:sym typeface="Times New Roman" pitchFamily="18" charset="0"/>
                </a:rPr>
                <a:t>&lt;f</a:t>
              </a:r>
              <a:r>
                <a:rPr lang="en-US" sz="2400" baseline="-25000">
                  <a:latin typeface="Times New Roman" pitchFamily="18" charset="0"/>
                  <a:sym typeface="Times New Roman" pitchFamily="18" charset="0"/>
                </a:rPr>
                <a:t>3</a:t>
              </a:r>
              <a:endParaRPr lang="zh-CN" altLang="en-US"/>
            </a:p>
          </p:txBody>
        </p:sp>
      </p:grpSp>
      <p:sp>
        <p:nvSpPr>
          <p:cNvPr id="78890" name="矩形 81"/>
          <p:cNvSpPr>
            <a:spLocks noChangeArrowheads="1"/>
          </p:cNvSpPr>
          <p:nvPr/>
        </p:nvSpPr>
        <p:spPr bwMode="auto">
          <a:xfrm>
            <a:off x="611188" y="4008438"/>
            <a:ext cx="7745412"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20000"/>
              </a:spcBef>
              <a:buClr>
                <a:srgbClr val="00007D"/>
              </a:buClr>
              <a:buSzPct val="75000"/>
              <a:buFont typeface="Wingdings" pitchFamily="2" charset="2"/>
              <a:buChar char="n"/>
            </a:pPr>
            <a:r>
              <a:rPr lang="zh-CN" altLang="en-US" sz="2800">
                <a:solidFill>
                  <a:srgbClr val="000000"/>
                </a:solidFill>
                <a:sym typeface="Arial" pitchFamily="34" charset="0"/>
              </a:rPr>
              <a:t>当</a:t>
            </a:r>
            <a:r>
              <a:rPr lang="en-US" sz="2800">
                <a:solidFill>
                  <a:srgbClr val="000000"/>
                </a:solidFill>
                <a:sym typeface="Arial" pitchFamily="34" charset="0"/>
              </a:rPr>
              <a:t>w=w</a:t>
            </a:r>
            <a:r>
              <a:rPr lang="en-US" sz="2800" baseline="-25000">
                <a:solidFill>
                  <a:srgbClr val="000000"/>
                </a:solidFill>
                <a:sym typeface="Arial" pitchFamily="34" charset="0"/>
              </a:rPr>
              <a:t>0</a:t>
            </a:r>
            <a:r>
              <a:rPr lang="zh-CN" altLang="en-US" sz="2800">
                <a:solidFill>
                  <a:srgbClr val="000000"/>
                </a:solidFill>
                <a:sym typeface="Arial" pitchFamily="34" charset="0"/>
              </a:rPr>
              <a:t>时，输出最大</a:t>
            </a:r>
          </a:p>
          <a:p>
            <a:pPr marL="342900" indent="-342900" eaLnBrk="1" hangingPunct="1">
              <a:spcBef>
                <a:spcPct val="20000"/>
              </a:spcBef>
              <a:buClr>
                <a:srgbClr val="00007D"/>
              </a:buClr>
              <a:buSzPct val="75000"/>
              <a:buFont typeface="Wingdings" pitchFamily="2" charset="2"/>
              <a:buChar char="n"/>
            </a:pPr>
            <a:r>
              <a:rPr lang="zh-CN" altLang="en-US" sz="2800">
                <a:solidFill>
                  <a:srgbClr val="000000"/>
                </a:solidFill>
                <a:sym typeface="Arial" pitchFamily="34" charset="0"/>
              </a:rPr>
              <a:t>对非导磁体，涡流增大使得</a:t>
            </a:r>
            <a:r>
              <a:rPr lang="en-US" sz="2800">
                <a:solidFill>
                  <a:srgbClr val="000000"/>
                </a:solidFill>
                <a:sym typeface="Arial" pitchFamily="34" charset="0"/>
              </a:rPr>
              <a:t>L1</a:t>
            </a:r>
            <a:r>
              <a:rPr lang="zh-CN" altLang="en-US" sz="2800">
                <a:solidFill>
                  <a:srgbClr val="000000"/>
                </a:solidFill>
                <a:sym typeface="Arial" pitchFamily="34" charset="0"/>
              </a:rPr>
              <a:t>减小、</a:t>
            </a:r>
            <a:r>
              <a:rPr lang="en-US" sz="2800">
                <a:solidFill>
                  <a:srgbClr val="000000"/>
                </a:solidFill>
                <a:sym typeface="Arial" pitchFamily="34" charset="0"/>
              </a:rPr>
              <a:t>R1</a:t>
            </a:r>
            <a:r>
              <a:rPr lang="zh-CN" altLang="en-US" sz="2800">
                <a:solidFill>
                  <a:srgbClr val="000000"/>
                </a:solidFill>
                <a:sym typeface="Arial" pitchFamily="34" charset="0"/>
              </a:rPr>
              <a:t>增大、</a:t>
            </a:r>
            <a:r>
              <a:rPr lang="en-US" sz="2800">
                <a:solidFill>
                  <a:srgbClr val="000000"/>
                </a:solidFill>
                <a:sym typeface="Arial" pitchFamily="34" charset="0"/>
              </a:rPr>
              <a:t>w</a:t>
            </a:r>
            <a:r>
              <a:rPr lang="en-US" sz="2800" baseline="-25000">
                <a:solidFill>
                  <a:srgbClr val="000000"/>
                </a:solidFill>
                <a:sym typeface="Arial" pitchFamily="34" charset="0"/>
              </a:rPr>
              <a:t>0</a:t>
            </a:r>
            <a:r>
              <a:rPr lang="zh-CN" altLang="en-US" sz="2800">
                <a:solidFill>
                  <a:srgbClr val="000000"/>
                </a:solidFill>
                <a:sym typeface="Arial" pitchFamily="34" charset="0"/>
              </a:rPr>
              <a:t>增高</a:t>
            </a:r>
          </a:p>
          <a:p>
            <a:pPr marL="742950" lvl="1" indent="-285750" eaLnBrk="1" hangingPunct="1">
              <a:spcBef>
                <a:spcPct val="20000"/>
              </a:spcBef>
              <a:buClr>
                <a:srgbClr val="9999CC"/>
              </a:buClr>
              <a:buSzPct val="80000"/>
              <a:buFont typeface="Wingdings" pitchFamily="2" charset="2"/>
              <a:buChar char="¨"/>
            </a:pPr>
            <a:r>
              <a:rPr lang="zh-CN" altLang="en-US" sz="2400">
                <a:solidFill>
                  <a:srgbClr val="000000"/>
                </a:solidFill>
                <a:sym typeface="Arial" pitchFamily="34" charset="0"/>
              </a:rPr>
              <a:t>输出电压减小</a:t>
            </a:r>
          </a:p>
          <a:p>
            <a:pPr marL="742950" lvl="1" indent="-285750" eaLnBrk="1" hangingPunct="1">
              <a:spcBef>
                <a:spcPct val="20000"/>
              </a:spcBef>
              <a:buClr>
                <a:srgbClr val="9999CC"/>
              </a:buClr>
              <a:buSzPct val="80000"/>
              <a:buFont typeface="Wingdings" pitchFamily="2" charset="2"/>
              <a:buChar char="¨"/>
            </a:pPr>
            <a:r>
              <a:rPr lang="zh-CN" altLang="en-US" sz="2400">
                <a:solidFill>
                  <a:srgbClr val="000000"/>
                </a:solidFill>
                <a:sym typeface="Arial" pitchFamily="34" charset="0"/>
              </a:rPr>
              <a:t>谐振频率、谐振曲线向高频方向移动</a:t>
            </a:r>
          </a:p>
          <a:p>
            <a:pPr marL="342900" indent="-342900" eaLnBrk="1" hangingPunct="1">
              <a:spcBef>
                <a:spcPct val="20000"/>
              </a:spcBef>
              <a:buClr>
                <a:srgbClr val="00007D"/>
              </a:buClr>
              <a:buSzPct val="75000"/>
              <a:buFont typeface="Wingdings" pitchFamily="2" charset="2"/>
              <a:buChar char="n"/>
            </a:pPr>
            <a:r>
              <a:rPr lang="zh-CN" altLang="en-US" sz="2800">
                <a:solidFill>
                  <a:srgbClr val="000000"/>
                </a:solidFill>
                <a:sym typeface="Arial" pitchFamily="34" charset="0"/>
              </a:rPr>
              <a:t>输出</a:t>
            </a:r>
            <a:r>
              <a:rPr lang="en-US" sz="2800">
                <a:solidFill>
                  <a:srgbClr val="000000"/>
                </a:solidFill>
                <a:sym typeface="Arial" pitchFamily="34" charset="0"/>
              </a:rPr>
              <a:t>U</a:t>
            </a:r>
            <a:r>
              <a:rPr lang="zh-CN" altLang="en-US" sz="2800">
                <a:solidFill>
                  <a:srgbClr val="000000"/>
                </a:solidFill>
                <a:sym typeface="Arial" pitchFamily="34" charset="0"/>
              </a:rPr>
              <a:t>与涡流参数之间呈单调非线性关系</a:t>
            </a:r>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5"/>
          <p:cNvSpPr>
            <a:spLocks noGrp="1"/>
          </p:cNvSpPr>
          <p:nvPr>
            <p:ph type="sldNum" sz="quarter" idx="12"/>
          </p:nvPr>
        </p:nvSpPr>
        <p:spPr/>
        <p:txBody>
          <a:bodyPr/>
          <a:lstStyle/>
          <a:p>
            <a:fld id="{132D26F4-9440-4AAC-961C-55339B8E12A4}" type="slidenum">
              <a:rPr lang="zh-CN" altLang="en-US"/>
              <a:pPr/>
              <a:t>77</a:t>
            </a:fld>
            <a:endParaRPr lang="zh-CN" altLang="en-US" sz="1800">
              <a:solidFill>
                <a:schemeClr val="tx1"/>
              </a:solidFill>
              <a:latin typeface="Arial" pitchFamily="34" charset="0"/>
            </a:endParaRPr>
          </a:p>
        </p:txBody>
      </p:sp>
      <p:sp>
        <p:nvSpPr>
          <p:cNvPr id="7987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9875" name="TextBox 5"/>
          <p:cNvSpPr>
            <a:spLocks noChangeArrowheads="1"/>
          </p:cNvSpPr>
          <p:nvPr/>
        </p:nvSpPr>
        <p:spPr bwMode="auto">
          <a:xfrm>
            <a:off x="785813" y="285750"/>
            <a:ext cx="5657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a:t>
            </a:r>
            <a:r>
              <a:rPr lang="zh-CN" altLang="en-US" sz="3200" b="1">
                <a:solidFill>
                  <a:schemeClr val="tx2"/>
                </a:solidFill>
                <a:latin typeface="Calibri" pitchFamily="34" charset="0"/>
              </a:rPr>
              <a:t>调频测量电路</a:t>
            </a:r>
            <a:r>
              <a:rPr lang="en-US" sz="3200" b="1">
                <a:solidFill>
                  <a:schemeClr val="tx2"/>
                </a:solidFill>
                <a:latin typeface="Calibri" pitchFamily="34" charset="0"/>
              </a:rPr>
              <a:t>-</a:t>
            </a:r>
            <a:r>
              <a:rPr lang="zh-CN" altLang="en-US" sz="3200" b="1">
                <a:solidFill>
                  <a:schemeClr val="tx2"/>
                </a:solidFill>
                <a:latin typeface="Calibri" pitchFamily="34" charset="0"/>
              </a:rPr>
              <a:t>调频鉴幅式</a:t>
            </a:r>
            <a:endParaRPr lang="zh-CN" altLang="en-US"/>
          </a:p>
        </p:txBody>
      </p:sp>
      <p:sp>
        <p:nvSpPr>
          <p:cNvPr id="79876" name="Freeform 2"/>
          <p:cNvSpPr>
            <a:spLocks noChangeArrowheads="1"/>
          </p:cNvSpPr>
          <p:nvPr/>
        </p:nvSpPr>
        <p:spPr bwMode="auto">
          <a:xfrm>
            <a:off x="3397250" y="2173288"/>
            <a:ext cx="3124200" cy="2654300"/>
          </a:xfrm>
          <a:custGeom>
            <a:avLst/>
            <a:gdLst>
              <a:gd name="T0" fmla="*/ 0 w 1968"/>
              <a:gd name="T1" fmla="*/ 2147483646 h 1672"/>
              <a:gd name="T2" fmla="*/ 2147483646 w 1968"/>
              <a:gd name="T3" fmla="*/ 2147483646 h 1672"/>
              <a:gd name="T4" fmla="*/ 2147483646 w 1968"/>
              <a:gd name="T5" fmla="*/ 2147483646 h 1672"/>
              <a:gd name="T6" fmla="*/ 2147483646 w 1968"/>
              <a:gd name="T7" fmla="*/ 2147483646 h 1672"/>
              <a:gd name="T8" fmla="*/ 2147483646 w 1968"/>
              <a:gd name="T9" fmla="*/ 2147483646 h 1672"/>
              <a:gd name="T10" fmla="*/ 2147483646 w 1968"/>
              <a:gd name="T11" fmla="*/ 2147483646 h 1672"/>
              <a:gd name="T12" fmla="*/ 2147483646 w 1968"/>
              <a:gd name="T13" fmla="*/ 2147483646 h 1672"/>
              <a:gd name="T14" fmla="*/ 2147483646 w 1968"/>
              <a:gd name="T15" fmla="*/ 2147483646 h 1672"/>
              <a:gd name="T16" fmla="*/ 0 60000 65536"/>
              <a:gd name="T17" fmla="*/ 0 60000 65536"/>
              <a:gd name="T18" fmla="*/ 0 60000 65536"/>
              <a:gd name="T19" fmla="*/ 0 60000 65536"/>
              <a:gd name="T20" fmla="*/ 0 60000 65536"/>
              <a:gd name="T21" fmla="*/ 0 60000 65536"/>
              <a:gd name="T22" fmla="*/ 0 60000 65536"/>
              <a:gd name="T23" fmla="*/ 0 60000 65536"/>
              <a:gd name="T24" fmla="*/ 0 w 1968"/>
              <a:gd name="T25" fmla="*/ 0 h 1672"/>
              <a:gd name="T26" fmla="*/ 1968 w 1968"/>
              <a:gd name="T27" fmla="*/ 1672 h 1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8" h="1672">
                <a:moveTo>
                  <a:pt x="0" y="1592"/>
                </a:moveTo>
                <a:cubicBezTo>
                  <a:pt x="36" y="1632"/>
                  <a:pt x="72" y="1672"/>
                  <a:pt x="144" y="1496"/>
                </a:cubicBezTo>
                <a:cubicBezTo>
                  <a:pt x="216" y="1320"/>
                  <a:pt x="352" y="776"/>
                  <a:pt x="432" y="536"/>
                </a:cubicBezTo>
                <a:cubicBezTo>
                  <a:pt x="512" y="296"/>
                  <a:pt x="568" y="112"/>
                  <a:pt x="624" y="56"/>
                </a:cubicBezTo>
                <a:cubicBezTo>
                  <a:pt x="680" y="0"/>
                  <a:pt x="720" y="8"/>
                  <a:pt x="768" y="200"/>
                </a:cubicBezTo>
                <a:cubicBezTo>
                  <a:pt x="816" y="392"/>
                  <a:pt x="800" y="992"/>
                  <a:pt x="912" y="1208"/>
                </a:cubicBezTo>
                <a:cubicBezTo>
                  <a:pt x="1024" y="1424"/>
                  <a:pt x="1264" y="1432"/>
                  <a:pt x="1440" y="1496"/>
                </a:cubicBezTo>
                <a:cubicBezTo>
                  <a:pt x="1616" y="1560"/>
                  <a:pt x="1792" y="1576"/>
                  <a:pt x="1968" y="1592"/>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9877" name="Freeform 3"/>
          <p:cNvSpPr>
            <a:spLocks noChangeArrowheads="1"/>
          </p:cNvSpPr>
          <p:nvPr/>
        </p:nvSpPr>
        <p:spPr bwMode="auto">
          <a:xfrm>
            <a:off x="4540250" y="2744788"/>
            <a:ext cx="2514600" cy="1727200"/>
          </a:xfrm>
          <a:custGeom>
            <a:avLst/>
            <a:gdLst>
              <a:gd name="T0" fmla="*/ 0 w 1584"/>
              <a:gd name="T1" fmla="*/ 2147483646 h 1088"/>
              <a:gd name="T2" fmla="*/ 2147483646 w 1584"/>
              <a:gd name="T3" fmla="*/ 2147483646 h 1088"/>
              <a:gd name="T4" fmla="*/ 2147483646 w 1584"/>
              <a:gd name="T5" fmla="*/ 2147483646 h 1088"/>
              <a:gd name="T6" fmla="*/ 2147483646 w 1584"/>
              <a:gd name="T7" fmla="*/ 2147483646 h 1088"/>
              <a:gd name="T8" fmla="*/ 2147483646 w 1584"/>
              <a:gd name="T9" fmla="*/ 2147483646 h 1088"/>
              <a:gd name="T10" fmla="*/ 2147483646 w 1584"/>
              <a:gd name="T11" fmla="*/ 2147483646 h 1088"/>
              <a:gd name="T12" fmla="*/ 2147483646 w 1584"/>
              <a:gd name="T13" fmla="*/ 2147483646 h 1088"/>
              <a:gd name="T14" fmla="*/ 2147483646 w 1584"/>
              <a:gd name="T15" fmla="*/ 2147483646 h 1088"/>
              <a:gd name="T16" fmla="*/ 0 60000 65536"/>
              <a:gd name="T17" fmla="*/ 0 60000 65536"/>
              <a:gd name="T18" fmla="*/ 0 60000 65536"/>
              <a:gd name="T19" fmla="*/ 0 60000 65536"/>
              <a:gd name="T20" fmla="*/ 0 60000 65536"/>
              <a:gd name="T21" fmla="*/ 0 60000 65536"/>
              <a:gd name="T22" fmla="*/ 0 60000 65536"/>
              <a:gd name="T23" fmla="*/ 0 60000 65536"/>
              <a:gd name="T24" fmla="*/ 0 w 1584"/>
              <a:gd name="T25" fmla="*/ 0 h 1088"/>
              <a:gd name="T26" fmla="*/ 1584 w 1584"/>
              <a:gd name="T27" fmla="*/ 1088 h 10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4" h="1088">
                <a:moveTo>
                  <a:pt x="0" y="1040"/>
                </a:moveTo>
                <a:cubicBezTo>
                  <a:pt x="104" y="1044"/>
                  <a:pt x="208" y="1048"/>
                  <a:pt x="288" y="992"/>
                </a:cubicBezTo>
                <a:cubicBezTo>
                  <a:pt x="368" y="936"/>
                  <a:pt x="416" y="856"/>
                  <a:pt x="480" y="704"/>
                </a:cubicBezTo>
                <a:cubicBezTo>
                  <a:pt x="544" y="552"/>
                  <a:pt x="608" y="160"/>
                  <a:pt x="672" y="80"/>
                </a:cubicBezTo>
                <a:cubicBezTo>
                  <a:pt x="736" y="0"/>
                  <a:pt x="792" y="104"/>
                  <a:pt x="864" y="224"/>
                </a:cubicBezTo>
                <a:cubicBezTo>
                  <a:pt x="936" y="344"/>
                  <a:pt x="1008" y="664"/>
                  <a:pt x="1104" y="800"/>
                </a:cubicBezTo>
                <a:cubicBezTo>
                  <a:pt x="1200" y="936"/>
                  <a:pt x="1360" y="992"/>
                  <a:pt x="1440" y="1040"/>
                </a:cubicBezTo>
                <a:cubicBezTo>
                  <a:pt x="1520" y="1088"/>
                  <a:pt x="1552" y="1088"/>
                  <a:pt x="1584" y="1088"/>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9878" name="Freeform 4"/>
          <p:cNvSpPr>
            <a:spLocks noChangeArrowheads="1"/>
          </p:cNvSpPr>
          <p:nvPr/>
        </p:nvSpPr>
        <p:spPr bwMode="auto">
          <a:xfrm>
            <a:off x="6292850" y="3240088"/>
            <a:ext cx="1676400" cy="1384300"/>
          </a:xfrm>
          <a:custGeom>
            <a:avLst/>
            <a:gdLst>
              <a:gd name="T0" fmla="*/ 0 w 1056"/>
              <a:gd name="T1" fmla="*/ 2147483646 h 872"/>
              <a:gd name="T2" fmla="*/ 2147483646 w 1056"/>
              <a:gd name="T3" fmla="*/ 2147483646 h 872"/>
              <a:gd name="T4" fmla="*/ 2147483646 w 1056"/>
              <a:gd name="T5" fmla="*/ 2147483646 h 872"/>
              <a:gd name="T6" fmla="*/ 2147483646 w 1056"/>
              <a:gd name="T7" fmla="*/ 2147483646 h 872"/>
              <a:gd name="T8" fmla="*/ 2147483646 w 1056"/>
              <a:gd name="T9" fmla="*/ 2147483646 h 872"/>
              <a:gd name="T10" fmla="*/ 2147483646 w 1056"/>
              <a:gd name="T11" fmla="*/ 2147483646 h 872"/>
              <a:gd name="T12" fmla="*/ 2147483646 w 1056"/>
              <a:gd name="T13" fmla="*/ 2147483646 h 872"/>
              <a:gd name="T14" fmla="*/ 0 60000 65536"/>
              <a:gd name="T15" fmla="*/ 0 60000 65536"/>
              <a:gd name="T16" fmla="*/ 0 60000 65536"/>
              <a:gd name="T17" fmla="*/ 0 60000 65536"/>
              <a:gd name="T18" fmla="*/ 0 60000 65536"/>
              <a:gd name="T19" fmla="*/ 0 60000 65536"/>
              <a:gd name="T20" fmla="*/ 0 60000 65536"/>
              <a:gd name="T21" fmla="*/ 0 w 1056"/>
              <a:gd name="T22" fmla="*/ 0 h 872"/>
              <a:gd name="T23" fmla="*/ 1056 w 1056"/>
              <a:gd name="T24" fmla="*/ 872 h 8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56" h="872">
                <a:moveTo>
                  <a:pt x="0" y="776"/>
                </a:moveTo>
                <a:cubicBezTo>
                  <a:pt x="64" y="800"/>
                  <a:pt x="128" y="824"/>
                  <a:pt x="192" y="728"/>
                </a:cubicBezTo>
                <a:cubicBezTo>
                  <a:pt x="256" y="632"/>
                  <a:pt x="336" y="320"/>
                  <a:pt x="384" y="200"/>
                </a:cubicBezTo>
                <a:cubicBezTo>
                  <a:pt x="432" y="80"/>
                  <a:pt x="440" y="16"/>
                  <a:pt x="480" y="8"/>
                </a:cubicBezTo>
                <a:cubicBezTo>
                  <a:pt x="520" y="0"/>
                  <a:pt x="568" y="32"/>
                  <a:pt x="624" y="152"/>
                </a:cubicBezTo>
                <a:cubicBezTo>
                  <a:pt x="680" y="272"/>
                  <a:pt x="744" y="608"/>
                  <a:pt x="816" y="728"/>
                </a:cubicBezTo>
                <a:cubicBezTo>
                  <a:pt x="888" y="848"/>
                  <a:pt x="972" y="860"/>
                  <a:pt x="1056" y="872"/>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9879" name="Freeform 5"/>
          <p:cNvSpPr>
            <a:spLocks noChangeArrowheads="1"/>
          </p:cNvSpPr>
          <p:nvPr/>
        </p:nvSpPr>
        <p:spPr bwMode="auto">
          <a:xfrm>
            <a:off x="4445000" y="2147888"/>
            <a:ext cx="3048000" cy="1143000"/>
          </a:xfrm>
          <a:custGeom>
            <a:avLst/>
            <a:gdLst>
              <a:gd name="T0" fmla="*/ 0 w 1920"/>
              <a:gd name="T1" fmla="*/ 0 h 720"/>
              <a:gd name="T2" fmla="*/ 2147483646 w 1920"/>
              <a:gd name="T3" fmla="*/ 2147483646 h 720"/>
              <a:gd name="T4" fmla="*/ 2147483646 w 1920"/>
              <a:gd name="T5" fmla="*/ 2147483646 h 720"/>
              <a:gd name="T6" fmla="*/ 2147483646 w 1920"/>
              <a:gd name="T7" fmla="*/ 2147483646 h 720"/>
              <a:gd name="T8" fmla="*/ 2147483646 w 1920"/>
              <a:gd name="T9" fmla="*/ 2147483646 h 720"/>
              <a:gd name="T10" fmla="*/ 2147483646 w 1920"/>
              <a:gd name="T11" fmla="*/ 2147483646 h 720"/>
              <a:gd name="T12" fmla="*/ 0 60000 65536"/>
              <a:gd name="T13" fmla="*/ 0 60000 65536"/>
              <a:gd name="T14" fmla="*/ 0 60000 65536"/>
              <a:gd name="T15" fmla="*/ 0 60000 65536"/>
              <a:gd name="T16" fmla="*/ 0 60000 65536"/>
              <a:gd name="T17" fmla="*/ 0 60000 65536"/>
              <a:gd name="T18" fmla="*/ 0 w 1920"/>
              <a:gd name="T19" fmla="*/ 0 h 720"/>
              <a:gd name="T20" fmla="*/ 1920 w 1920"/>
              <a:gd name="T21" fmla="*/ 720 h 720"/>
            </a:gdLst>
            <a:ahLst/>
            <a:cxnLst>
              <a:cxn ang="T12">
                <a:pos x="T0" y="T1"/>
              </a:cxn>
              <a:cxn ang="T13">
                <a:pos x="T2" y="T3"/>
              </a:cxn>
              <a:cxn ang="T14">
                <a:pos x="T4" y="T5"/>
              </a:cxn>
              <a:cxn ang="T15">
                <a:pos x="T6" y="T7"/>
              </a:cxn>
              <a:cxn ang="T16">
                <a:pos x="T8" y="T9"/>
              </a:cxn>
              <a:cxn ang="T17">
                <a:pos x="T10" y="T11"/>
              </a:cxn>
            </a:cxnLst>
            <a:rect l="T18" t="T19" r="T20" b="T21"/>
            <a:pathLst>
              <a:path w="1920" h="720">
                <a:moveTo>
                  <a:pt x="0" y="0"/>
                </a:moveTo>
                <a:cubicBezTo>
                  <a:pt x="128" y="108"/>
                  <a:pt x="256" y="216"/>
                  <a:pt x="384" y="288"/>
                </a:cubicBezTo>
                <a:cubicBezTo>
                  <a:pt x="512" y="360"/>
                  <a:pt x="616" y="376"/>
                  <a:pt x="768" y="432"/>
                </a:cubicBezTo>
                <a:cubicBezTo>
                  <a:pt x="920" y="488"/>
                  <a:pt x="1152" y="584"/>
                  <a:pt x="1296" y="624"/>
                </a:cubicBezTo>
                <a:cubicBezTo>
                  <a:pt x="1440" y="664"/>
                  <a:pt x="1528" y="656"/>
                  <a:pt x="1632" y="672"/>
                </a:cubicBezTo>
                <a:cubicBezTo>
                  <a:pt x="1736" y="688"/>
                  <a:pt x="1828" y="704"/>
                  <a:pt x="1920" y="720"/>
                </a:cubicBezTo>
              </a:path>
            </a:pathLst>
          </a:custGeom>
          <a:noFill/>
          <a:ln w="38100" cmpd="sng">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grpSp>
        <p:nvGrpSpPr>
          <p:cNvPr id="79880" name="Group 6"/>
          <p:cNvGrpSpPr>
            <a:grpSpLocks/>
          </p:cNvGrpSpPr>
          <p:nvPr/>
        </p:nvGrpSpPr>
        <p:grpSpPr bwMode="auto">
          <a:xfrm>
            <a:off x="2559050" y="1690688"/>
            <a:ext cx="6477000" cy="3352800"/>
            <a:chOff x="0" y="0"/>
            <a:chExt cx="4080" cy="2112"/>
          </a:xfrm>
        </p:grpSpPr>
        <p:sp>
          <p:nvSpPr>
            <p:cNvPr id="79881" name="Line 7"/>
            <p:cNvSpPr>
              <a:spLocks noChangeShapeType="1"/>
            </p:cNvSpPr>
            <p:nvPr/>
          </p:nvSpPr>
          <p:spPr bwMode="auto">
            <a:xfrm>
              <a:off x="336" y="2064"/>
              <a:ext cx="3408" cy="1"/>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9882" name="Line 8"/>
            <p:cNvSpPr>
              <a:spLocks noChangeShapeType="1"/>
            </p:cNvSpPr>
            <p:nvPr/>
          </p:nvSpPr>
          <p:spPr bwMode="auto">
            <a:xfrm flipV="1">
              <a:off x="336" y="48"/>
              <a:ext cx="1" cy="2016"/>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9883" name="Text Box 9"/>
            <p:cNvSpPr>
              <a:spLocks noChangeArrowheads="1"/>
            </p:cNvSpPr>
            <p:nvPr/>
          </p:nvSpPr>
          <p:spPr bwMode="auto">
            <a:xfrm>
              <a:off x="3792" y="18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endParaRPr lang="zh-CN" altLang="en-US"/>
            </a:p>
          </p:txBody>
        </p:sp>
        <p:sp>
          <p:nvSpPr>
            <p:cNvPr id="79884" name="Text Box 10"/>
            <p:cNvSpPr>
              <a:spLocks noChangeArrowheads="1"/>
            </p:cNvSpPr>
            <p:nvPr/>
          </p:nvSpPr>
          <p:spPr bwMode="auto">
            <a:xfrm>
              <a:off x="0" y="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U</a:t>
              </a:r>
              <a:endParaRPr lang="zh-CN" altLang="en-US"/>
            </a:p>
          </p:txBody>
        </p:sp>
      </p:grpSp>
      <p:grpSp>
        <p:nvGrpSpPr>
          <p:cNvPr id="79885" name="Group 11"/>
          <p:cNvGrpSpPr>
            <a:grpSpLocks/>
          </p:cNvGrpSpPr>
          <p:nvPr/>
        </p:nvGrpSpPr>
        <p:grpSpPr bwMode="auto">
          <a:xfrm>
            <a:off x="4311650" y="2185988"/>
            <a:ext cx="457200" cy="3352800"/>
            <a:chOff x="0" y="0"/>
            <a:chExt cx="288" cy="2112"/>
          </a:xfrm>
        </p:grpSpPr>
        <p:sp>
          <p:nvSpPr>
            <p:cNvPr id="79886" name="Line 12"/>
            <p:cNvSpPr>
              <a:spLocks noChangeShapeType="1"/>
            </p:cNvSpPr>
            <p:nvPr/>
          </p:nvSpPr>
          <p:spPr bwMode="auto">
            <a:xfrm>
              <a:off x="96" y="0"/>
              <a:ext cx="1" cy="1776"/>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9887" name="Text Box 13"/>
            <p:cNvSpPr>
              <a:spLocks noChangeArrowheads="1"/>
            </p:cNvSpPr>
            <p:nvPr/>
          </p:nvSpPr>
          <p:spPr bwMode="auto">
            <a:xfrm>
              <a:off x="0" y="18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0</a:t>
              </a:r>
              <a:endParaRPr lang="en-US" sz="2400">
                <a:latin typeface="Times New Roman" pitchFamily="18" charset="0"/>
                <a:sym typeface="Times New Roman" pitchFamily="18" charset="0"/>
              </a:endParaRPr>
            </a:p>
          </p:txBody>
        </p:sp>
      </p:grpSp>
      <p:grpSp>
        <p:nvGrpSpPr>
          <p:cNvPr id="79888" name="Group 14"/>
          <p:cNvGrpSpPr>
            <a:grpSpLocks/>
          </p:cNvGrpSpPr>
          <p:nvPr/>
        </p:nvGrpSpPr>
        <p:grpSpPr bwMode="auto">
          <a:xfrm>
            <a:off x="5530850" y="2871788"/>
            <a:ext cx="457200" cy="2667000"/>
            <a:chOff x="0" y="0"/>
            <a:chExt cx="288" cy="1680"/>
          </a:xfrm>
        </p:grpSpPr>
        <p:sp>
          <p:nvSpPr>
            <p:cNvPr id="79889" name="Line 15"/>
            <p:cNvSpPr>
              <a:spLocks noChangeShapeType="1"/>
            </p:cNvSpPr>
            <p:nvPr/>
          </p:nvSpPr>
          <p:spPr bwMode="auto">
            <a:xfrm>
              <a:off x="96" y="0"/>
              <a:ext cx="1" cy="1344"/>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9890" name="Text Box 16"/>
            <p:cNvSpPr>
              <a:spLocks noChangeArrowheads="1"/>
            </p:cNvSpPr>
            <p:nvPr/>
          </p:nvSpPr>
          <p:spPr bwMode="auto">
            <a:xfrm>
              <a:off x="0" y="13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1</a:t>
              </a:r>
              <a:endParaRPr lang="en-US" sz="2400">
                <a:latin typeface="Times New Roman" pitchFamily="18" charset="0"/>
                <a:sym typeface="Times New Roman" pitchFamily="18" charset="0"/>
              </a:endParaRPr>
            </a:p>
          </p:txBody>
        </p:sp>
      </p:grpSp>
      <p:grpSp>
        <p:nvGrpSpPr>
          <p:cNvPr id="79891" name="Group 17"/>
          <p:cNvGrpSpPr>
            <a:grpSpLocks/>
          </p:cNvGrpSpPr>
          <p:nvPr/>
        </p:nvGrpSpPr>
        <p:grpSpPr bwMode="auto">
          <a:xfrm>
            <a:off x="6978650" y="3252788"/>
            <a:ext cx="457200" cy="2286000"/>
            <a:chOff x="0" y="0"/>
            <a:chExt cx="288" cy="1440"/>
          </a:xfrm>
        </p:grpSpPr>
        <p:sp>
          <p:nvSpPr>
            <p:cNvPr id="79892" name="Line 18"/>
            <p:cNvSpPr>
              <a:spLocks noChangeShapeType="1"/>
            </p:cNvSpPr>
            <p:nvPr/>
          </p:nvSpPr>
          <p:spPr bwMode="auto">
            <a:xfrm>
              <a:off x="72" y="0"/>
              <a:ext cx="1" cy="1104"/>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9893" name="Text Box 19"/>
            <p:cNvSpPr>
              <a:spLocks noChangeArrowheads="1"/>
            </p:cNvSpPr>
            <p:nvPr/>
          </p:nvSpPr>
          <p:spPr bwMode="auto">
            <a:xfrm>
              <a:off x="0" y="11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2</a:t>
              </a:r>
              <a:endParaRPr lang="en-US" sz="2400">
                <a:latin typeface="Times New Roman" pitchFamily="18" charset="0"/>
                <a:sym typeface="Times New Roman" pitchFamily="18" charset="0"/>
              </a:endParaRPr>
            </a:p>
          </p:txBody>
        </p:sp>
      </p:grpSp>
      <p:sp>
        <p:nvSpPr>
          <p:cNvPr id="79894" name="Text Box 20" descr="永恒"/>
          <p:cNvSpPr>
            <a:spLocks noChangeArrowheads="1"/>
          </p:cNvSpPr>
          <p:nvPr/>
        </p:nvSpPr>
        <p:spPr bwMode="auto">
          <a:xfrm>
            <a:off x="893763" y="5789613"/>
            <a:ext cx="8077200" cy="519112"/>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800">
                <a:solidFill>
                  <a:srgbClr val="000000"/>
                </a:solidFill>
                <a:latin typeface="Times New Roman" pitchFamily="18" charset="0"/>
                <a:ea typeface="楷体_GB2312" pitchFamily="49" charset="-122"/>
                <a:sym typeface="Times New Roman" pitchFamily="18" charset="0"/>
              </a:rPr>
              <a:t>频率始终等于谐振频率，幅值始终为谐振曲线峰值</a:t>
            </a:r>
            <a:endParaRPr lang="zh-CN" altLang="en-US"/>
          </a:p>
        </p:txBody>
      </p:sp>
      <p:pic>
        <p:nvPicPr>
          <p:cNvPr id="79895" name="Object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7850" y="2185988"/>
            <a:ext cx="2209800"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96" name="Object 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9438" y="3557588"/>
            <a:ext cx="21336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98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8" presetClass="entr" presetSubtype="6" fill="hold" grpId="0" nodeType="clickEffect">
                                  <p:stCondLst>
                                    <p:cond delay="0"/>
                                  </p:stCondLst>
                                  <p:childTnLst>
                                    <p:set>
                                      <p:cBhvr>
                                        <p:cTn id="10" dur="1" fill="hold">
                                          <p:stCondLst>
                                            <p:cond delay="0"/>
                                          </p:stCondLst>
                                        </p:cTn>
                                        <p:tgtEl>
                                          <p:spTgt spid="79876"/>
                                        </p:tgtEl>
                                        <p:attrNameLst>
                                          <p:attrName>style.visibility</p:attrName>
                                        </p:attrNameLst>
                                      </p:cBhvr>
                                      <p:to>
                                        <p:strVal val="visible"/>
                                      </p:to>
                                    </p:set>
                                    <p:animEffect>
                                      <p:cBhvr>
                                        <p:cTn id="11" dur="500"/>
                                        <p:tgtEl>
                                          <p:spTgt spid="7987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9" fill="hold" nodeType="clickEffect">
                                  <p:stCondLst>
                                    <p:cond delay="0"/>
                                  </p:stCondLst>
                                  <p:childTnLst>
                                    <p:set>
                                      <p:cBhvr>
                                        <p:cTn id="15" dur="1" fill="hold">
                                          <p:stCondLst>
                                            <p:cond delay="0"/>
                                          </p:stCondLst>
                                        </p:cTn>
                                        <p:tgtEl>
                                          <p:spTgt spid="79885"/>
                                        </p:tgtEl>
                                        <p:attrNameLst>
                                          <p:attrName>style.visibility</p:attrName>
                                        </p:attrNameLst>
                                      </p:cBhvr>
                                      <p:to>
                                        <p:strVal val="visible"/>
                                      </p:to>
                                    </p:set>
                                    <p:animEffect>
                                      <p:cBhvr>
                                        <p:cTn id="16" dur="500"/>
                                        <p:tgtEl>
                                          <p:spTgt spid="7988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79877"/>
                                        </p:tgtEl>
                                        <p:attrNameLst>
                                          <p:attrName>style.visibility</p:attrName>
                                        </p:attrNameLst>
                                      </p:cBhvr>
                                      <p:to>
                                        <p:strVal val="visible"/>
                                      </p:to>
                                    </p:set>
                                    <p:animEffect>
                                      <p:cBhvr>
                                        <p:cTn id="21" dur="500"/>
                                        <p:tgtEl>
                                          <p:spTgt spid="798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nodeType="clickEffect">
                                  <p:stCondLst>
                                    <p:cond delay="0"/>
                                  </p:stCondLst>
                                  <p:childTnLst>
                                    <p:set>
                                      <p:cBhvr>
                                        <p:cTn id="25" dur="1" fill="hold">
                                          <p:stCondLst>
                                            <p:cond delay="0"/>
                                          </p:stCondLst>
                                        </p:cTn>
                                        <p:tgtEl>
                                          <p:spTgt spid="79895"/>
                                        </p:tgtEl>
                                        <p:attrNameLst>
                                          <p:attrName>style.visibility</p:attrName>
                                        </p:attrNameLst>
                                      </p:cBhvr>
                                      <p:to>
                                        <p:strVal val="visible"/>
                                      </p:to>
                                    </p:set>
                                    <p:animEffect>
                                      <p:cBhvr>
                                        <p:cTn id="26" dur="500"/>
                                        <p:tgtEl>
                                          <p:spTgt spid="7989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nodeType="clickEffect">
                                  <p:stCondLst>
                                    <p:cond delay="0"/>
                                  </p:stCondLst>
                                  <p:childTnLst>
                                    <p:set>
                                      <p:cBhvr>
                                        <p:cTn id="30" dur="1" fill="hold">
                                          <p:stCondLst>
                                            <p:cond delay="0"/>
                                          </p:stCondLst>
                                        </p:cTn>
                                        <p:tgtEl>
                                          <p:spTgt spid="79896"/>
                                        </p:tgtEl>
                                        <p:attrNameLst>
                                          <p:attrName>style.visibility</p:attrName>
                                        </p:attrNameLst>
                                      </p:cBhvr>
                                      <p:to>
                                        <p:strVal val="visible"/>
                                      </p:to>
                                    </p:set>
                                    <p:animEffect>
                                      <p:cBhvr>
                                        <p:cTn id="31" dur="500"/>
                                        <p:tgtEl>
                                          <p:spTgt spid="7989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9" fill="hold" nodeType="clickEffect">
                                  <p:stCondLst>
                                    <p:cond delay="0"/>
                                  </p:stCondLst>
                                  <p:childTnLst>
                                    <p:set>
                                      <p:cBhvr>
                                        <p:cTn id="35" dur="1" fill="hold">
                                          <p:stCondLst>
                                            <p:cond delay="0"/>
                                          </p:stCondLst>
                                        </p:cTn>
                                        <p:tgtEl>
                                          <p:spTgt spid="79888"/>
                                        </p:tgtEl>
                                        <p:attrNameLst>
                                          <p:attrName>style.visibility</p:attrName>
                                        </p:attrNameLst>
                                      </p:cBhvr>
                                      <p:to>
                                        <p:strVal val="visible"/>
                                      </p:to>
                                    </p:set>
                                    <p:animEffect>
                                      <p:cBhvr>
                                        <p:cTn id="36" dur="500"/>
                                        <p:tgtEl>
                                          <p:spTgt spid="7988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79878"/>
                                        </p:tgtEl>
                                        <p:attrNameLst>
                                          <p:attrName>style.visibility</p:attrName>
                                        </p:attrNameLst>
                                      </p:cBhvr>
                                      <p:to>
                                        <p:strVal val="visible"/>
                                      </p:to>
                                    </p:set>
                                    <p:animEffect>
                                      <p:cBhvr>
                                        <p:cTn id="41" dur="500"/>
                                        <p:tgtEl>
                                          <p:spTgt spid="7987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8" presetClass="entr" presetSubtype="9" fill="hold" nodeType="clickEffect">
                                  <p:stCondLst>
                                    <p:cond delay="0"/>
                                  </p:stCondLst>
                                  <p:childTnLst>
                                    <p:set>
                                      <p:cBhvr>
                                        <p:cTn id="45" dur="1" fill="hold">
                                          <p:stCondLst>
                                            <p:cond delay="0"/>
                                          </p:stCondLst>
                                        </p:cTn>
                                        <p:tgtEl>
                                          <p:spTgt spid="79891"/>
                                        </p:tgtEl>
                                        <p:attrNameLst>
                                          <p:attrName>style.visibility</p:attrName>
                                        </p:attrNameLst>
                                      </p:cBhvr>
                                      <p:to>
                                        <p:strVal val="visible"/>
                                      </p:to>
                                    </p:set>
                                    <p:animEffect>
                                      <p:cBhvr>
                                        <p:cTn id="46" dur="500"/>
                                        <p:tgtEl>
                                          <p:spTgt spid="7989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6" fill="hold" grpId="0" nodeType="clickEffect">
                                  <p:stCondLst>
                                    <p:cond delay="0"/>
                                  </p:stCondLst>
                                  <p:childTnLst>
                                    <p:set>
                                      <p:cBhvr>
                                        <p:cTn id="50" dur="1" fill="hold">
                                          <p:stCondLst>
                                            <p:cond delay="0"/>
                                          </p:stCondLst>
                                        </p:cTn>
                                        <p:tgtEl>
                                          <p:spTgt spid="79879"/>
                                        </p:tgtEl>
                                        <p:attrNameLst>
                                          <p:attrName>style.visibility</p:attrName>
                                        </p:attrNameLst>
                                      </p:cBhvr>
                                      <p:to>
                                        <p:strVal val="visible"/>
                                      </p:to>
                                    </p:set>
                                    <p:animEffect>
                                      <p:cBhvr>
                                        <p:cTn id="51" dur="500"/>
                                        <p:tgtEl>
                                          <p:spTgt spid="7987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 presetClass="entr" presetSubtype="10" fill="hold" grpId="0" nodeType="clickEffect">
                                  <p:stCondLst>
                                    <p:cond delay="0"/>
                                  </p:stCondLst>
                                  <p:childTnLst>
                                    <p:set>
                                      <p:cBhvr>
                                        <p:cTn id="55" dur="1" fill="hold">
                                          <p:stCondLst>
                                            <p:cond delay="0"/>
                                          </p:stCondLst>
                                        </p:cTn>
                                        <p:tgtEl>
                                          <p:spTgt spid="79894"/>
                                        </p:tgtEl>
                                        <p:attrNameLst>
                                          <p:attrName>style.visibility</p:attrName>
                                        </p:attrNameLst>
                                      </p:cBhvr>
                                      <p:to>
                                        <p:strVal val="visible"/>
                                      </p:to>
                                    </p:set>
                                    <p:animEffect>
                                      <p:cBhvr>
                                        <p:cTn id="56" dur="500"/>
                                        <p:tgtEl>
                                          <p:spTgt spid="79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bldLvl="0" animBg="1" autoUpdateAnimBg="0"/>
      <p:bldP spid="79877" grpId="0" bldLvl="0" animBg="1" autoUpdateAnimBg="0"/>
      <p:bldP spid="79878" grpId="0" bldLvl="0" animBg="1" autoUpdateAnimBg="0"/>
      <p:bldP spid="79879" grpId="0" bldLvl="0" animBg="1" autoUpdateAnimBg="0"/>
      <p:bldP spid="79894" grpId="0" bldLvl="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5"/>
          <p:cNvSpPr>
            <a:spLocks noGrp="1"/>
          </p:cNvSpPr>
          <p:nvPr>
            <p:ph type="sldNum" sz="quarter" idx="12"/>
          </p:nvPr>
        </p:nvSpPr>
        <p:spPr/>
        <p:txBody>
          <a:bodyPr/>
          <a:lstStyle/>
          <a:p>
            <a:fld id="{064A73DD-0493-4F10-B27A-2F9349C9BE93}" type="slidenum">
              <a:rPr lang="zh-CN" altLang="en-US"/>
              <a:pPr/>
              <a:t>78</a:t>
            </a:fld>
            <a:endParaRPr lang="zh-CN" altLang="en-US" sz="1800">
              <a:solidFill>
                <a:schemeClr val="tx1"/>
              </a:solidFill>
              <a:latin typeface="Arial" pitchFamily="34" charset="0"/>
            </a:endParaRPr>
          </a:p>
        </p:txBody>
      </p:sp>
      <p:sp>
        <p:nvSpPr>
          <p:cNvPr id="8089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0899" name="TextBox 5"/>
          <p:cNvSpPr>
            <a:spLocks noChangeArrowheads="1"/>
          </p:cNvSpPr>
          <p:nvPr/>
        </p:nvSpPr>
        <p:spPr bwMode="auto">
          <a:xfrm>
            <a:off x="755650" y="260350"/>
            <a:ext cx="59769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a:t>
            </a:r>
            <a:r>
              <a:rPr lang="zh-CN" altLang="en-US" sz="3200" b="1">
                <a:solidFill>
                  <a:schemeClr val="tx2"/>
                </a:solidFill>
                <a:latin typeface="Calibri" pitchFamily="34" charset="0"/>
              </a:rPr>
              <a:t>调频测量电路</a:t>
            </a:r>
            <a:r>
              <a:rPr lang="en-US" sz="3200" b="1">
                <a:solidFill>
                  <a:schemeClr val="tx2"/>
                </a:solidFill>
                <a:latin typeface="Calibri" pitchFamily="34" charset="0"/>
              </a:rPr>
              <a:t>-</a:t>
            </a:r>
            <a:r>
              <a:rPr lang="zh-CN" altLang="en-US" sz="3200" b="1">
                <a:solidFill>
                  <a:schemeClr val="tx2"/>
                </a:solidFill>
                <a:latin typeface="Calibri" pitchFamily="34" charset="0"/>
              </a:rPr>
              <a:t>直接频率输出</a:t>
            </a:r>
            <a:endParaRPr lang="zh-CN" altLang="en-US"/>
          </a:p>
        </p:txBody>
      </p:sp>
      <p:grpSp>
        <p:nvGrpSpPr>
          <p:cNvPr id="80900" name="Group 2"/>
          <p:cNvGrpSpPr>
            <a:grpSpLocks/>
          </p:cNvGrpSpPr>
          <p:nvPr/>
        </p:nvGrpSpPr>
        <p:grpSpPr bwMode="auto">
          <a:xfrm>
            <a:off x="1052513" y="1752600"/>
            <a:ext cx="6805612" cy="2438400"/>
            <a:chOff x="0" y="0"/>
            <a:chExt cx="4287" cy="1536"/>
          </a:xfrm>
        </p:grpSpPr>
        <p:sp>
          <p:nvSpPr>
            <p:cNvPr id="80901" name="Rectangle 3"/>
            <p:cNvSpPr>
              <a:spLocks noChangeArrowheads="1"/>
            </p:cNvSpPr>
            <p:nvPr/>
          </p:nvSpPr>
          <p:spPr bwMode="auto">
            <a:xfrm>
              <a:off x="624" y="336"/>
              <a:ext cx="1056" cy="1200"/>
            </a:xfrm>
            <a:prstGeom prst="rect">
              <a:avLst/>
            </a:prstGeom>
            <a:solidFill>
              <a:schemeClr val="accent1"/>
            </a:solidFill>
            <a:ln w="9525"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80902" name="Rectangle 4"/>
            <p:cNvSpPr>
              <a:spLocks noChangeArrowheads="1"/>
            </p:cNvSpPr>
            <p:nvPr/>
          </p:nvSpPr>
          <p:spPr bwMode="auto">
            <a:xfrm>
              <a:off x="1968" y="528"/>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放</a:t>
              </a:r>
            </a:p>
            <a:p>
              <a:pPr algn="ctr" eaLnBrk="1" hangingPunct="1"/>
              <a:r>
                <a:rPr lang="zh-CN" altLang="en-US" sz="2400">
                  <a:solidFill>
                    <a:srgbClr val="000000"/>
                  </a:solidFill>
                  <a:latin typeface="Times New Roman" pitchFamily="18" charset="0"/>
                  <a:sym typeface="Times New Roman" pitchFamily="18" charset="0"/>
                </a:rPr>
                <a:t>大</a:t>
              </a:r>
              <a:endParaRPr lang="zh-CN" altLang="en-US"/>
            </a:p>
          </p:txBody>
        </p:sp>
        <p:sp>
          <p:nvSpPr>
            <p:cNvPr id="80903" name="Rectangle 5"/>
            <p:cNvSpPr>
              <a:spLocks noChangeArrowheads="1"/>
            </p:cNvSpPr>
            <p:nvPr/>
          </p:nvSpPr>
          <p:spPr bwMode="auto">
            <a:xfrm>
              <a:off x="2544" y="528"/>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限</a:t>
              </a:r>
            </a:p>
            <a:p>
              <a:pPr algn="ctr" eaLnBrk="1" hangingPunct="1"/>
              <a:r>
                <a:rPr lang="zh-CN" altLang="en-US" sz="2400">
                  <a:solidFill>
                    <a:srgbClr val="000000"/>
                  </a:solidFill>
                  <a:latin typeface="Times New Roman" pitchFamily="18" charset="0"/>
                  <a:sym typeface="Times New Roman" pitchFamily="18" charset="0"/>
                </a:rPr>
                <a:t>幅</a:t>
              </a:r>
              <a:endParaRPr lang="zh-CN" altLang="en-US"/>
            </a:p>
          </p:txBody>
        </p:sp>
        <p:sp>
          <p:nvSpPr>
            <p:cNvPr id="80904" name="Rectangle 6"/>
            <p:cNvSpPr>
              <a:spLocks noChangeArrowheads="1"/>
            </p:cNvSpPr>
            <p:nvPr/>
          </p:nvSpPr>
          <p:spPr bwMode="auto">
            <a:xfrm>
              <a:off x="3072" y="528"/>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鉴</a:t>
              </a:r>
            </a:p>
            <a:p>
              <a:pPr algn="ctr" eaLnBrk="1" hangingPunct="1"/>
              <a:r>
                <a:rPr lang="zh-CN" altLang="en-US" sz="2400">
                  <a:solidFill>
                    <a:srgbClr val="000000"/>
                  </a:solidFill>
                  <a:latin typeface="Times New Roman" pitchFamily="18" charset="0"/>
                  <a:sym typeface="Times New Roman" pitchFamily="18" charset="0"/>
                </a:rPr>
                <a:t>频</a:t>
              </a:r>
              <a:endParaRPr lang="zh-CN" altLang="en-US"/>
            </a:p>
          </p:txBody>
        </p:sp>
        <p:sp>
          <p:nvSpPr>
            <p:cNvPr id="80905" name="Rectangle 7"/>
            <p:cNvSpPr>
              <a:spLocks noChangeArrowheads="1"/>
            </p:cNvSpPr>
            <p:nvPr/>
          </p:nvSpPr>
          <p:spPr bwMode="auto">
            <a:xfrm>
              <a:off x="3600" y="528"/>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滤</a:t>
              </a:r>
            </a:p>
            <a:p>
              <a:pPr algn="ctr" eaLnBrk="1" hangingPunct="1"/>
              <a:r>
                <a:rPr lang="zh-CN" altLang="en-US" sz="2400">
                  <a:solidFill>
                    <a:srgbClr val="000000"/>
                  </a:solidFill>
                  <a:latin typeface="Times New Roman" pitchFamily="18" charset="0"/>
                  <a:sym typeface="Times New Roman" pitchFamily="18" charset="0"/>
                </a:rPr>
                <a:t>波</a:t>
              </a:r>
              <a:endParaRPr lang="zh-CN" altLang="en-US"/>
            </a:p>
          </p:txBody>
        </p:sp>
        <p:sp>
          <p:nvSpPr>
            <p:cNvPr id="80906" name="Line 8"/>
            <p:cNvSpPr>
              <a:spLocks noChangeShapeType="1"/>
            </p:cNvSpPr>
            <p:nvPr/>
          </p:nvSpPr>
          <p:spPr bwMode="auto">
            <a:xfrm>
              <a:off x="2304" y="816"/>
              <a:ext cx="240"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07" name="Line 9"/>
            <p:cNvSpPr>
              <a:spLocks noChangeShapeType="1"/>
            </p:cNvSpPr>
            <p:nvPr/>
          </p:nvSpPr>
          <p:spPr bwMode="auto">
            <a:xfrm>
              <a:off x="2880" y="816"/>
              <a:ext cx="192"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08" name="Line 10"/>
            <p:cNvSpPr>
              <a:spLocks noChangeShapeType="1"/>
            </p:cNvSpPr>
            <p:nvPr/>
          </p:nvSpPr>
          <p:spPr bwMode="auto">
            <a:xfrm>
              <a:off x="3408" y="816"/>
              <a:ext cx="192"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09" name="Line 11"/>
            <p:cNvSpPr>
              <a:spLocks noChangeShapeType="1"/>
            </p:cNvSpPr>
            <p:nvPr/>
          </p:nvSpPr>
          <p:spPr bwMode="auto">
            <a:xfrm>
              <a:off x="3936" y="816"/>
              <a:ext cx="336" cy="1"/>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grpSp>
          <p:nvGrpSpPr>
            <p:cNvPr id="80910" name="Group 12"/>
            <p:cNvGrpSpPr>
              <a:grpSpLocks/>
            </p:cNvGrpSpPr>
            <p:nvPr/>
          </p:nvGrpSpPr>
          <p:grpSpPr bwMode="auto">
            <a:xfrm>
              <a:off x="768" y="480"/>
              <a:ext cx="864" cy="960"/>
              <a:chOff x="0" y="0"/>
              <a:chExt cx="864" cy="1104"/>
            </a:xfrm>
          </p:grpSpPr>
          <p:grpSp>
            <p:nvGrpSpPr>
              <p:cNvPr id="80911" name="Group 13"/>
              <p:cNvGrpSpPr>
                <a:grpSpLocks/>
              </p:cNvGrpSpPr>
              <p:nvPr/>
            </p:nvGrpSpPr>
            <p:grpSpPr bwMode="auto">
              <a:xfrm>
                <a:off x="0" y="12"/>
                <a:ext cx="864" cy="1092"/>
                <a:chOff x="0" y="0"/>
                <a:chExt cx="864" cy="1092"/>
              </a:xfrm>
            </p:grpSpPr>
            <p:sp>
              <p:nvSpPr>
                <p:cNvPr id="80912" name="Line 14"/>
                <p:cNvSpPr>
                  <a:spLocks noChangeShapeType="1"/>
                </p:cNvSpPr>
                <p:nvPr/>
              </p:nvSpPr>
              <p:spPr bwMode="auto">
                <a:xfrm>
                  <a:off x="528" y="480"/>
                  <a:ext cx="336" cy="1"/>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13" name="Line 15"/>
                <p:cNvSpPr>
                  <a:spLocks noChangeShapeType="1"/>
                </p:cNvSpPr>
                <p:nvPr/>
              </p:nvSpPr>
              <p:spPr bwMode="auto">
                <a:xfrm>
                  <a:off x="528" y="576"/>
                  <a:ext cx="336" cy="1"/>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grpSp>
              <p:nvGrpSpPr>
                <p:cNvPr id="80914" name="Group 16"/>
                <p:cNvGrpSpPr>
                  <a:grpSpLocks/>
                </p:cNvGrpSpPr>
                <p:nvPr/>
              </p:nvGrpSpPr>
              <p:grpSpPr bwMode="auto">
                <a:xfrm>
                  <a:off x="0" y="432"/>
                  <a:ext cx="141" cy="215"/>
                  <a:chOff x="0" y="0"/>
                  <a:chExt cx="96" cy="540"/>
                </a:xfrm>
              </p:grpSpPr>
              <p:sp>
                <p:nvSpPr>
                  <p:cNvPr id="80915" name="AutoShape 17"/>
                  <p:cNvSpPr>
                    <a:spLocks noChangeArrowheads="1"/>
                  </p:cNvSpPr>
                  <p:nvPr/>
                </p:nvSpPr>
                <p:spPr bwMode="auto">
                  <a:xfrm>
                    <a:off x="0" y="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80916" name="AutoShape 18"/>
                  <p:cNvSpPr>
                    <a:spLocks noChangeArrowheads="1"/>
                  </p:cNvSpPr>
                  <p:nvPr/>
                </p:nvSpPr>
                <p:spPr bwMode="auto">
                  <a:xfrm>
                    <a:off x="0" y="18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80917" name="AutoShape 19"/>
                  <p:cNvSpPr>
                    <a:spLocks noChangeArrowheads="1"/>
                  </p:cNvSpPr>
                  <p:nvPr/>
                </p:nvSpPr>
                <p:spPr bwMode="auto">
                  <a:xfrm>
                    <a:off x="0" y="36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grpSp>
            <p:sp>
              <p:nvSpPr>
                <p:cNvPr id="80918" name="Line 20"/>
                <p:cNvSpPr>
                  <a:spLocks noChangeShapeType="1"/>
                </p:cNvSpPr>
                <p:nvPr/>
              </p:nvSpPr>
              <p:spPr bwMode="auto">
                <a:xfrm>
                  <a:off x="672" y="0"/>
                  <a:ext cx="1" cy="48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19" name="Line 21"/>
                <p:cNvSpPr>
                  <a:spLocks noChangeShapeType="1"/>
                </p:cNvSpPr>
                <p:nvPr/>
              </p:nvSpPr>
              <p:spPr bwMode="auto">
                <a:xfrm>
                  <a:off x="672" y="576"/>
                  <a:ext cx="1" cy="48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0" name="Line 22"/>
                <p:cNvSpPr>
                  <a:spLocks noChangeShapeType="1"/>
                </p:cNvSpPr>
                <p:nvPr/>
              </p:nvSpPr>
              <p:spPr bwMode="auto">
                <a:xfrm>
                  <a:off x="144" y="660"/>
                  <a:ext cx="1" cy="43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1" name="Line 23"/>
                <p:cNvSpPr>
                  <a:spLocks noChangeShapeType="1"/>
                </p:cNvSpPr>
                <p:nvPr/>
              </p:nvSpPr>
              <p:spPr bwMode="auto">
                <a:xfrm>
                  <a:off x="144" y="0"/>
                  <a:ext cx="1" cy="43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2" name="Line 24"/>
                <p:cNvSpPr>
                  <a:spLocks noChangeShapeType="1"/>
                </p:cNvSpPr>
                <p:nvPr/>
              </p:nvSpPr>
              <p:spPr bwMode="auto">
                <a:xfrm>
                  <a:off x="144" y="1056"/>
                  <a:ext cx="528"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grpSp>
          <p:sp>
            <p:nvSpPr>
              <p:cNvPr id="80923" name="Line 25"/>
              <p:cNvSpPr>
                <a:spLocks noChangeShapeType="1"/>
              </p:cNvSpPr>
              <p:nvPr/>
            </p:nvSpPr>
            <p:spPr bwMode="auto">
              <a:xfrm>
                <a:off x="144" y="0"/>
                <a:ext cx="528"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grpSp>
        <p:sp>
          <p:nvSpPr>
            <p:cNvPr id="80924" name="Line 26"/>
            <p:cNvSpPr>
              <a:spLocks noChangeShapeType="1"/>
            </p:cNvSpPr>
            <p:nvPr/>
          </p:nvSpPr>
          <p:spPr bwMode="auto">
            <a:xfrm>
              <a:off x="48" y="912"/>
              <a:ext cx="576" cy="1"/>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5" name="Line 27"/>
            <p:cNvSpPr>
              <a:spLocks noChangeShapeType="1"/>
            </p:cNvSpPr>
            <p:nvPr/>
          </p:nvSpPr>
          <p:spPr bwMode="auto">
            <a:xfrm>
              <a:off x="1680" y="864"/>
              <a:ext cx="288"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6" name="Line 28"/>
            <p:cNvSpPr>
              <a:spLocks noChangeShapeType="1"/>
            </p:cNvSpPr>
            <p:nvPr/>
          </p:nvSpPr>
          <p:spPr bwMode="auto">
            <a:xfrm flipV="1">
              <a:off x="2424" y="0"/>
              <a:ext cx="1" cy="81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7" name="Line 29"/>
            <p:cNvSpPr>
              <a:spLocks noChangeShapeType="1"/>
            </p:cNvSpPr>
            <p:nvPr/>
          </p:nvSpPr>
          <p:spPr bwMode="auto">
            <a:xfrm>
              <a:off x="1128" y="24"/>
              <a:ext cx="1296"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8" name="Line 30"/>
            <p:cNvSpPr>
              <a:spLocks noChangeShapeType="1"/>
            </p:cNvSpPr>
            <p:nvPr/>
          </p:nvSpPr>
          <p:spPr bwMode="auto">
            <a:xfrm>
              <a:off x="1140" y="36"/>
              <a:ext cx="1" cy="288"/>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9" name="Rectangle 31"/>
            <p:cNvSpPr>
              <a:spLocks noChangeArrowheads="1"/>
            </p:cNvSpPr>
            <p:nvPr/>
          </p:nvSpPr>
          <p:spPr bwMode="auto">
            <a:xfrm>
              <a:off x="0" y="624"/>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X</a:t>
              </a:r>
              <a:endParaRPr lang="en-US" sz="2400" baseline="-25000">
                <a:solidFill>
                  <a:srgbClr val="000000"/>
                </a:solidFill>
                <a:latin typeface="Times New Roman" pitchFamily="18" charset="0"/>
                <a:sym typeface="Times New Roman" pitchFamily="18" charset="0"/>
              </a:endParaRPr>
            </a:p>
          </p:txBody>
        </p:sp>
        <p:sp>
          <p:nvSpPr>
            <p:cNvPr id="80930" name="Rectangle 32"/>
            <p:cNvSpPr>
              <a:spLocks noChangeArrowheads="1"/>
            </p:cNvSpPr>
            <p:nvPr/>
          </p:nvSpPr>
          <p:spPr bwMode="auto">
            <a:xfrm>
              <a:off x="4032" y="48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U</a:t>
              </a:r>
              <a:endParaRPr lang="en-US" sz="2400" baseline="-25000">
                <a:solidFill>
                  <a:srgbClr val="000000"/>
                </a:solidFill>
                <a:latin typeface="Times New Roman" pitchFamily="18" charset="0"/>
                <a:sym typeface="Times New Roman" pitchFamily="18" charset="0"/>
              </a:endParaRPr>
            </a:p>
          </p:txBody>
        </p:sp>
      </p:grpSp>
      <p:sp>
        <p:nvSpPr>
          <p:cNvPr id="80931" name="Text Box 33" descr="永恒"/>
          <p:cNvSpPr>
            <a:spLocks noChangeArrowheads="1"/>
          </p:cNvSpPr>
          <p:nvPr/>
        </p:nvSpPr>
        <p:spPr bwMode="auto">
          <a:xfrm>
            <a:off x="900113" y="5119688"/>
            <a:ext cx="5943600" cy="519112"/>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800">
                <a:solidFill>
                  <a:srgbClr val="000000"/>
                </a:solidFill>
                <a:latin typeface="Times New Roman" pitchFamily="18" charset="0"/>
                <a:ea typeface="楷体_GB2312" pitchFamily="49" charset="-122"/>
                <a:sym typeface="Times New Roman" pitchFamily="18" charset="0"/>
              </a:rPr>
              <a:t>鉴频器将调频信号转换为电压输出。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0900"/>
                                        </p:tgtEl>
                                        <p:attrNameLst>
                                          <p:attrName>style.visibility</p:attrName>
                                        </p:attrNameLst>
                                      </p:cBhvr>
                                      <p:to>
                                        <p:strVal val="visible"/>
                                      </p:to>
                                    </p:set>
                                    <p:animEffect>
                                      <p:cBhvr>
                                        <p:cTn id="7" dur="500"/>
                                        <p:tgtEl>
                                          <p:spTgt spid="809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0931"/>
                                        </p:tgtEl>
                                        <p:attrNameLst>
                                          <p:attrName>style.visibility</p:attrName>
                                        </p:attrNameLst>
                                      </p:cBhvr>
                                      <p:to>
                                        <p:strVal val="visible"/>
                                      </p:to>
                                    </p:set>
                                    <p:animEffect>
                                      <p:cBhvr>
                                        <p:cTn id="12" dur="500"/>
                                        <p:tgtEl>
                                          <p:spTgt spid="80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31" grpId="0" bldLvl="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5"/>
          <p:cNvSpPr>
            <a:spLocks noGrp="1"/>
          </p:cNvSpPr>
          <p:nvPr>
            <p:ph type="sldNum" sz="quarter" idx="12"/>
          </p:nvPr>
        </p:nvSpPr>
        <p:spPr/>
        <p:txBody>
          <a:bodyPr/>
          <a:lstStyle/>
          <a:p>
            <a:fld id="{064A73DD-0493-4F10-B27A-2F9349C9BE93}" type="slidenum">
              <a:rPr lang="zh-CN" altLang="en-US"/>
              <a:pPr/>
              <a:t>79</a:t>
            </a:fld>
            <a:endParaRPr lang="zh-CN" altLang="en-US" sz="1800">
              <a:solidFill>
                <a:schemeClr val="tx1"/>
              </a:solidFill>
              <a:latin typeface="Arial" pitchFamily="34" charset="0"/>
            </a:endParaRPr>
          </a:p>
        </p:txBody>
      </p:sp>
      <p:sp>
        <p:nvSpPr>
          <p:cNvPr id="8089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37" name="TextBox 5"/>
          <p:cNvSpPr txBox="1">
            <a:spLocks noChangeArrowheads="1"/>
          </p:cNvSpPr>
          <p:nvPr/>
        </p:nvSpPr>
        <p:spPr bwMode="auto">
          <a:xfrm>
            <a:off x="785813" y="285750"/>
            <a:ext cx="5143500" cy="584200"/>
          </a:xfrm>
          <a:prstGeom prst="rect">
            <a:avLst/>
          </a:prstGeom>
          <a:noFill/>
          <a:ln w="9525">
            <a:noFill/>
            <a:miter lim="800000"/>
            <a:headEnd/>
            <a:tailEnd/>
          </a:ln>
        </p:spPr>
        <p:txBody>
          <a:bodyPr>
            <a:spAutoFit/>
          </a:bodyPr>
          <a:lstStyle/>
          <a:p>
            <a:pPr eaLnBrk="1" hangingPunct="1"/>
            <a:r>
              <a:rPr lang="en-US" altLang="zh-CN" sz="3200" b="1" dirty="0">
                <a:solidFill>
                  <a:srgbClr val="C00000"/>
                </a:solidFill>
                <a:latin typeface="Calibri" pitchFamily="34" charset="0"/>
              </a:rPr>
              <a:t>3.  </a:t>
            </a:r>
            <a:r>
              <a:rPr lang="zh-CN" altLang="en-US" sz="3200" b="1" dirty="0">
                <a:solidFill>
                  <a:srgbClr val="C00000"/>
                </a:solidFill>
                <a:latin typeface="Calibri" pitchFamily="34" charset="0"/>
              </a:rPr>
              <a:t>电感传感器的应用</a:t>
            </a:r>
          </a:p>
        </p:txBody>
      </p:sp>
      <p:sp>
        <p:nvSpPr>
          <p:cNvPr id="38" name="Rectangle 3"/>
          <p:cNvSpPr>
            <a:spLocks noChangeArrowheads="1"/>
          </p:cNvSpPr>
          <p:nvPr/>
        </p:nvSpPr>
        <p:spPr bwMode="auto">
          <a:xfrm>
            <a:off x="280988" y="1176338"/>
            <a:ext cx="8153400" cy="1200329"/>
          </a:xfrm>
          <a:prstGeom prst="rect">
            <a:avLst/>
          </a:prstGeom>
          <a:noFill/>
          <a:ln w="9525">
            <a:noFill/>
            <a:miter lim="800000"/>
            <a:headEnd/>
            <a:tailEnd/>
          </a:ln>
          <a:effectLst/>
        </p:spPr>
        <p:txBody>
          <a:bodyPr>
            <a:spAutoFit/>
          </a:bodyPr>
          <a:lstStyle/>
          <a:p>
            <a:pPr eaLnBrk="1" hangingPunct="1">
              <a:spcBef>
                <a:spcPct val="50000"/>
              </a:spcBef>
            </a:pPr>
            <a:r>
              <a:rPr kumimoji="1" lang="en-US" altLang="zh-CN" sz="2400" b="1" dirty="0">
                <a:latin typeface="楷体_GB2312" pitchFamily="49" charset="-122"/>
                <a:ea typeface="楷体_GB2312" pitchFamily="49" charset="-122"/>
              </a:rPr>
              <a:t>    </a:t>
            </a:r>
            <a:r>
              <a:rPr kumimoji="1" lang="zh-CN" altLang="en-US" sz="2400" dirty="0">
                <a:latin typeface="楷体_GB2312" pitchFamily="49" charset="-122"/>
                <a:ea typeface="楷体_GB2312" pitchFamily="49" charset="-122"/>
              </a:rPr>
              <a:t>电感式传感器主要用于测量</a:t>
            </a:r>
            <a:r>
              <a:rPr kumimoji="1" lang="zh-CN" altLang="en-US" sz="2400" dirty="0">
                <a:solidFill>
                  <a:srgbClr val="0000FF"/>
                </a:solidFill>
                <a:latin typeface="楷体_GB2312" pitchFamily="49" charset="-122"/>
                <a:ea typeface="楷体_GB2312" pitchFamily="49" charset="-122"/>
              </a:rPr>
              <a:t>微位移</a:t>
            </a:r>
            <a:r>
              <a:rPr kumimoji="1" lang="zh-CN" altLang="en-US" sz="2400" dirty="0">
                <a:latin typeface="楷体_GB2312" pitchFamily="49" charset="-122"/>
                <a:ea typeface="楷体_GB2312" pitchFamily="49" charset="-122"/>
              </a:rPr>
              <a:t>，凡是能转换成位移量变化的参数，如压力、力、压差、加速度、</a:t>
            </a:r>
            <a:r>
              <a:rPr kumimoji="1" lang="zh-CN" altLang="en-US" sz="2400" dirty="0">
                <a:solidFill>
                  <a:srgbClr val="C00000"/>
                </a:solidFill>
                <a:latin typeface="楷体_GB2312" pitchFamily="49" charset="-122"/>
                <a:ea typeface="楷体_GB2312" pitchFamily="49" charset="-122"/>
              </a:rPr>
              <a:t>振动</a:t>
            </a:r>
            <a:r>
              <a:rPr kumimoji="1" lang="zh-CN" altLang="en-US" sz="2400" dirty="0">
                <a:latin typeface="楷体_GB2312" pitchFamily="49" charset="-122"/>
                <a:ea typeface="楷体_GB2312" pitchFamily="49" charset="-122"/>
              </a:rPr>
              <a:t>、应变、流量、</a:t>
            </a:r>
            <a:r>
              <a:rPr kumimoji="1" lang="zh-CN" altLang="en-US" sz="2400" dirty="0">
                <a:solidFill>
                  <a:srgbClr val="C00000"/>
                </a:solidFill>
                <a:latin typeface="楷体_GB2312" pitchFamily="49" charset="-122"/>
                <a:ea typeface="楷体_GB2312" pitchFamily="49" charset="-122"/>
              </a:rPr>
              <a:t>厚度</a:t>
            </a:r>
            <a:r>
              <a:rPr kumimoji="1" lang="zh-CN" altLang="en-US" sz="2400" dirty="0">
                <a:latin typeface="楷体_GB2312" pitchFamily="49" charset="-122"/>
                <a:ea typeface="楷体_GB2312" pitchFamily="49" charset="-122"/>
              </a:rPr>
              <a:t>、液位等都可以用电感式传感器来进行测量。</a:t>
            </a:r>
          </a:p>
        </p:txBody>
      </p:sp>
      <p:pic>
        <p:nvPicPr>
          <p:cNvPr id="293890" name="Picture 2" descr="C:\Documents and Settings\Administrator\桌面\QQ截图.png"/>
          <p:cNvPicPr>
            <a:picLocks noChangeAspect="1" noChangeArrowheads="1"/>
          </p:cNvPicPr>
          <p:nvPr/>
        </p:nvPicPr>
        <p:blipFill>
          <a:blip r:embed="rId2"/>
          <a:srcRect/>
          <a:stretch>
            <a:fillRect/>
          </a:stretch>
        </p:blipFill>
        <p:spPr bwMode="auto">
          <a:xfrm>
            <a:off x="714348" y="2357430"/>
            <a:ext cx="7572428" cy="4216150"/>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A167E885-7107-46C4-8691-8DB9232A7A84}" type="slidenum">
              <a:rPr lang="zh-CN" altLang="en-US"/>
              <a:pPr/>
              <a:t>80</a:t>
            </a:fld>
            <a:endParaRPr lang="zh-CN" altLang="en-US" sz="1800">
              <a:solidFill>
                <a:schemeClr val="tx1"/>
              </a:solidFill>
              <a:latin typeface="Arial" pitchFamily="34" charset="0"/>
            </a:endParaRPr>
          </a:p>
        </p:txBody>
      </p:sp>
      <p:sp>
        <p:nvSpPr>
          <p:cNvPr id="8294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294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3. 1 </a:t>
            </a:r>
            <a:r>
              <a:rPr lang="zh-CN" altLang="en-US" sz="3200" b="1">
                <a:solidFill>
                  <a:schemeClr val="tx2"/>
                </a:solidFill>
                <a:latin typeface="Calibri" pitchFamily="34" charset="0"/>
              </a:rPr>
              <a:t>位移传感器</a:t>
            </a:r>
            <a:endParaRPr lang="zh-CN" altLang="en-US"/>
          </a:p>
        </p:txBody>
      </p:sp>
      <p:sp>
        <p:nvSpPr>
          <p:cNvPr id="82948" name="Rectangle 3"/>
          <p:cNvSpPr>
            <a:spLocks noChangeArrowheads="1"/>
          </p:cNvSpPr>
          <p:nvPr/>
        </p:nvSpPr>
        <p:spPr bwMode="auto">
          <a:xfrm>
            <a:off x="611188" y="1149350"/>
            <a:ext cx="79930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000" dirty="0">
                <a:solidFill>
                  <a:srgbClr val="000000"/>
                </a:solidFill>
                <a:latin typeface="宋体" pitchFamily="2" charset="-122"/>
                <a:sym typeface="宋体" pitchFamily="2" charset="-122"/>
              </a:rPr>
              <a:t>它主要用于</a:t>
            </a:r>
            <a:r>
              <a:rPr lang="zh-CN" altLang="en-US" sz="2000" dirty="0">
                <a:solidFill>
                  <a:srgbClr val="C00000"/>
                </a:solidFill>
                <a:latin typeface="宋体" pitchFamily="2" charset="-122"/>
                <a:sym typeface="宋体" pitchFamily="2" charset="-122"/>
              </a:rPr>
              <a:t>位移</a:t>
            </a:r>
            <a:r>
              <a:rPr lang="zh-CN" altLang="en-US" sz="2000" dirty="0">
                <a:solidFill>
                  <a:srgbClr val="000000"/>
                </a:solidFill>
                <a:latin typeface="宋体" pitchFamily="2" charset="-122"/>
                <a:sym typeface="宋体" pitchFamily="2" charset="-122"/>
              </a:rPr>
              <a:t>，</a:t>
            </a:r>
            <a:r>
              <a:rPr lang="zh-CN" altLang="en-US" sz="2000" dirty="0">
                <a:solidFill>
                  <a:srgbClr val="C00000"/>
                </a:solidFill>
                <a:latin typeface="宋体" pitchFamily="2" charset="-122"/>
                <a:sym typeface="宋体" pitchFamily="2" charset="-122"/>
              </a:rPr>
              <a:t>振动</a:t>
            </a:r>
            <a:r>
              <a:rPr lang="zh-CN" altLang="en-US" sz="2000" dirty="0">
                <a:solidFill>
                  <a:srgbClr val="000000"/>
                </a:solidFill>
                <a:latin typeface="宋体" pitchFamily="2" charset="-122"/>
                <a:sym typeface="宋体" pitchFamily="2" charset="-122"/>
              </a:rPr>
              <a:t>，</a:t>
            </a:r>
            <a:r>
              <a:rPr lang="zh-CN" altLang="en-US" sz="2000" dirty="0">
                <a:solidFill>
                  <a:srgbClr val="C00000"/>
                </a:solidFill>
                <a:latin typeface="宋体" pitchFamily="2" charset="-122"/>
                <a:sym typeface="宋体" pitchFamily="2" charset="-122"/>
              </a:rPr>
              <a:t>转速</a:t>
            </a:r>
            <a:r>
              <a:rPr lang="zh-CN" altLang="en-US" sz="2000" dirty="0">
                <a:solidFill>
                  <a:srgbClr val="000000"/>
                </a:solidFill>
                <a:latin typeface="宋体" pitchFamily="2" charset="-122"/>
                <a:sym typeface="宋体" pitchFamily="2" charset="-122"/>
              </a:rPr>
              <a:t>测量。传感器的前置放大器被集成安装在传感器壳体里，其输出信号与测量位移成正比。在传感器测量量程内线性精度优于</a:t>
            </a:r>
            <a:r>
              <a:rPr lang="en-US" sz="2000" dirty="0">
                <a:solidFill>
                  <a:srgbClr val="000000"/>
                </a:solidFill>
                <a:latin typeface="Times New Roman" pitchFamily="18" charset="0"/>
                <a:sym typeface="Times New Roman" pitchFamily="18" charset="0"/>
              </a:rPr>
              <a:t>±2%</a:t>
            </a:r>
            <a:r>
              <a:rPr lang="zh-CN" altLang="en-US" sz="2000" dirty="0">
                <a:solidFill>
                  <a:srgbClr val="000000"/>
                </a:solidFill>
                <a:latin typeface="宋体" pitchFamily="2" charset="-122"/>
                <a:sym typeface="宋体" pitchFamily="2" charset="-122"/>
              </a:rPr>
              <a:t>。</a:t>
            </a:r>
            <a:endParaRPr lang="zh-CN" altLang="en-US" dirty="0"/>
          </a:p>
        </p:txBody>
      </p:sp>
      <p:pic>
        <p:nvPicPr>
          <p:cNvPr id="82949" name="Picture 2" descr="欠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 y="2155825"/>
            <a:ext cx="2862263"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0" name="Picture 4" descr="电感传感器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4525" y="1916113"/>
            <a:ext cx="417830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1" name="Picture 5" descr="电感传感器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7450" y="4316413"/>
            <a:ext cx="3470275"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949"/>
                                        </p:tgtEl>
                                        <p:attrNameLst>
                                          <p:attrName>style.visibility</p:attrName>
                                        </p:attrNameLst>
                                      </p:cBhvr>
                                      <p:to>
                                        <p:strVal val="visible"/>
                                      </p:to>
                                    </p:set>
                                    <p:animEffect>
                                      <p:cBhvr>
                                        <p:cTn id="7" dur="500"/>
                                        <p:tgtEl>
                                          <p:spTgt spid="829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2950"/>
                                        </p:tgtEl>
                                        <p:attrNameLst>
                                          <p:attrName>style.visibility</p:attrName>
                                        </p:attrNameLst>
                                      </p:cBhvr>
                                      <p:to>
                                        <p:strVal val="visible"/>
                                      </p:to>
                                    </p:set>
                                    <p:animEffect>
                                      <p:cBhvr>
                                        <p:cTn id="12" dur="500"/>
                                        <p:tgtEl>
                                          <p:spTgt spid="829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2951"/>
                                        </p:tgtEl>
                                        <p:attrNameLst>
                                          <p:attrName>style.visibility</p:attrName>
                                        </p:attrNameLst>
                                      </p:cBhvr>
                                      <p:to>
                                        <p:strVal val="visible"/>
                                      </p:to>
                                    </p:set>
                                    <p:animEffect>
                                      <p:cBhvr>
                                        <p:cTn id="17" dur="500"/>
                                        <p:tgtEl>
                                          <p:spTgt spid="82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40A94FB-63BC-4F34-BBEA-7ED64137ED2A}" type="slidenum">
              <a:rPr lang="zh-CN" altLang="en-US"/>
              <a:pPr/>
              <a:t>81</a:t>
            </a:fld>
            <a:endParaRPr lang="zh-CN" altLang="en-US" sz="1800">
              <a:solidFill>
                <a:schemeClr val="tx1"/>
              </a:solidFill>
              <a:latin typeface="Arial" pitchFamily="34" charset="0"/>
            </a:endParaRPr>
          </a:p>
        </p:txBody>
      </p:sp>
      <p:sp>
        <p:nvSpPr>
          <p:cNvPr id="8397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3971" name="TextBox 5"/>
          <p:cNvSpPr>
            <a:spLocks noChangeArrowheads="1"/>
          </p:cNvSpPr>
          <p:nvPr/>
        </p:nvSpPr>
        <p:spPr bwMode="auto">
          <a:xfrm>
            <a:off x="785813" y="285750"/>
            <a:ext cx="5873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3.2</a:t>
            </a:r>
            <a:r>
              <a:rPr lang="zh-CN" altLang="en-US" sz="3200" b="1">
                <a:solidFill>
                  <a:schemeClr val="tx2"/>
                </a:solidFill>
                <a:latin typeface="Calibri" pitchFamily="34" charset="0"/>
              </a:rPr>
              <a:t>螺管式电感传感器测量位移</a:t>
            </a:r>
            <a:endParaRPr lang="zh-CN" altLang="en-US"/>
          </a:p>
        </p:txBody>
      </p:sp>
      <p:pic>
        <p:nvPicPr>
          <p:cNvPr id="83972" name="Picture 3" descr="LV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163638"/>
            <a:ext cx="5018087" cy="267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3" name="Rectangle 5"/>
          <p:cNvSpPr>
            <a:spLocks noChangeArrowheads="1"/>
          </p:cNvSpPr>
          <p:nvPr/>
        </p:nvSpPr>
        <p:spPr bwMode="auto">
          <a:xfrm>
            <a:off x="201613" y="3505200"/>
            <a:ext cx="5400675"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eaLnBrk="1" hangingPunct="1"/>
            <a:r>
              <a:rPr lang="zh-CN" altLang="en-US" sz="2200">
                <a:solidFill>
                  <a:srgbClr val="FF0000"/>
                </a:solidFill>
                <a:latin typeface="Times New Roman" pitchFamily="18" charset="0"/>
                <a:ea typeface="楷体_GB2312" pitchFamily="49" charset="-122"/>
                <a:sym typeface="Times New Roman" pitchFamily="18" charset="0"/>
              </a:rPr>
              <a:t>测量原理：</a:t>
            </a:r>
            <a:endParaRPr lang="zh-CN" altLang="en-US" sz="2200">
              <a:solidFill>
                <a:srgbClr val="000000"/>
              </a:solidFill>
              <a:latin typeface="Times New Roman" pitchFamily="18" charset="0"/>
              <a:ea typeface="楷体_GB2312" pitchFamily="49" charset="-122"/>
              <a:sym typeface="Times New Roman" pitchFamily="18" charset="0"/>
            </a:endParaRPr>
          </a:p>
          <a:p>
            <a:pPr indent="266700" algn="just"/>
            <a:r>
              <a:rPr lang="zh-CN" altLang="en-US" sz="2200">
                <a:solidFill>
                  <a:srgbClr val="000000"/>
                </a:solidFill>
                <a:latin typeface="Times New Roman" pitchFamily="18" charset="0"/>
                <a:ea typeface="楷体_GB2312" pitchFamily="49" charset="-122"/>
                <a:sym typeface="Times New Roman" pitchFamily="18" charset="0"/>
              </a:rPr>
              <a:t>这是一根推杆插入测量传感器棒的内孔里的机械位移。在这棒里有一个电桥线圈，线圈被交流激励。推杆端部一段磁敏感材料位置变化引起中心抽头之间电桥线圈阻抗发生变化。电桥电压变化被放大。这样输出电压与推杆位置之间有一线性关系。由于是非接触测量，所以工作寿命长。而推杆与传感器棒内孔同心度没有要求。</a:t>
            </a:r>
          </a:p>
          <a:p>
            <a:pPr indent="266700"/>
            <a:endParaRPr lang="zh-CN" altLang="en-US" sz="2200">
              <a:solidFill>
                <a:srgbClr val="000000"/>
              </a:solidFill>
              <a:latin typeface="Times New Roman" pitchFamily="18" charset="0"/>
              <a:ea typeface="楷体_GB2312" pitchFamily="49" charset="-122"/>
              <a:sym typeface="Times New Roman" pitchFamily="18" charset="0"/>
            </a:endParaRPr>
          </a:p>
        </p:txBody>
      </p:sp>
      <p:pic>
        <p:nvPicPr>
          <p:cNvPr id="83974" name="Picture 4" descr="vipLVP-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143000"/>
            <a:ext cx="28829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3972"/>
                                        </p:tgtEl>
                                        <p:attrNameLst>
                                          <p:attrName>style.visibility</p:attrName>
                                        </p:attrNameLst>
                                      </p:cBhvr>
                                      <p:to>
                                        <p:strVal val="visible"/>
                                      </p:to>
                                    </p:set>
                                    <p:animEffect>
                                      <p:cBhvr>
                                        <p:cTn id="7" dur="500"/>
                                        <p:tgtEl>
                                          <p:spTgt spid="839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3973"/>
                                        </p:tgtEl>
                                        <p:attrNameLst>
                                          <p:attrName>style.visibility</p:attrName>
                                        </p:attrNameLst>
                                      </p:cBhvr>
                                      <p:to>
                                        <p:strVal val="visible"/>
                                      </p:to>
                                    </p:set>
                                    <p:animEffect>
                                      <p:cBhvr>
                                        <p:cTn id="12" dur="500"/>
                                        <p:tgtEl>
                                          <p:spTgt spid="839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3974"/>
                                        </p:tgtEl>
                                        <p:attrNameLst>
                                          <p:attrName>style.visibility</p:attrName>
                                        </p:attrNameLst>
                                      </p:cBhvr>
                                      <p:to>
                                        <p:strVal val="visible"/>
                                      </p:to>
                                    </p:set>
                                    <p:animEffect>
                                      <p:cBhvr>
                                        <p:cTn id="17" dur="500"/>
                                        <p:tgtEl>
                                          <p:spTgt spid="83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3" grpId="0" bldLvl="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40A94FB-63BC-4F34-BBEA-7ED64137ED2A}" type="slidenum">
              <a:rPr lang="zh-CN" altLang="en-US"/>
              <a:pPr/>
              <a:t>82</a:t>
            </a:fld>
            <a:endParaRPr lang="zh-CN" altLang="en-US" sz="1800">
              <a:solidFill>
                <a:schemeClr val="tx1"/>
              </a:solidFill>
              <a:latin typeface="Arial" pitchFamily="34" charset="0"/>
            </a:endParaRPr>
          </a:p>
        </p:txBody>
      </p:sp>
      <p:pic>
        <p:nvPicPr>
          <p:cNvPr id="166914" name="Picture 2" descr="C:\Documents and Settings\Administrator\桌面\QQ截图.png"/>
          <p:cNvPicPr>
            <a:picLocks noChangeAspect="1" noChangeArrowheads="1"/>
          </p:cNvPicPr>
          <p:nvPr/>
        </p:nvPicPr>
        <p:blipFill>
          <a:blip r:embed="rId2"/>
          <a:srcRect/>
          <a:stretch>
            <a:fillRect/>
          </a:stretch>
        </p:blipFill>
        <p:spPr bwMode="auto">
          <a:xfrm>
            <a:off x="1095375" y="733425"/>
            <a:ext cx="6951663" cy="5391150"/>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A819B04C-D1E0-453A-9E1C-BD3D1190AD27}" type="slidenum">
              <a:rPr lang="zh-CN" altLang="en-US"/>
              <a:pPr/>
              <a:t>83</a:t>
            </a:fld>
            <a:endParaRPr lang="zh-CN" altLang="en-US" sz="1800">
              <a:solidFill>
                <a:schemeClr val="tx1"/>
              </a:solidFill>
              <a:latin typeface="Arial" pitchFamily="34" charset="0"/>
            </a:endParaRPr>
          </a:p>
        </p:txBody>
      </p:sp>
      <p:sp>
        <p:nvSpPr>
          <p:cNvPr id="8499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499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3.3</a:t>
            </a:r>
            <a:r>
              <a:rPr lang="zh-CN" altLang="en-US" sz="3200" b="1">
                <a:solidFill>
                  <a:schemeClr val="tx2"/>
                </a:solidFill>
                <a:latin typeface="Calibri" pitchFamily="34" charset="0"/>
              </a:rPr>
              <a:t>电感式传感器测液位</a:t>
            </a:r>
            <a:endParaRPr lang="zh-CN" altLang="en-US"/>
          </a:p>
        </p:txBody>
      </p:sp>
      <p:pic>
        <p:nvPicPr>
          <p:cNvPr id="84996" name="Picture 4"/>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143000"/>
            <a:ext cx="6553200" cy="50292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B151D90C-54B5-44CA-9D61-149A4B78485B}" type="slidenum">
              <a:rPr lang="zh-CN" altLang="en-US"/>
              <a:pPr/>
              <a:t>84</a:t>
            </a:fld>
            <a:endParaRPr lang="zh-CN" altLang="en-US" sz="1800">
              <a:solidFill>
                <a:schemeClr val="tx1"/>
              </a:solidFill>
              <a:latin typeface="Arial" pitchFamily="34" charset="0"/>
            </a:endParaRPr>
          </a:p>
        </p:txBody>
      </p:sp>
      <p:sp>
        <p:nvSpPr>
          <p:cNvPr id="8601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6019"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3. 4 </a:t>
            </a:r>
            <a:r>
              <a:rPr lang="zh-CN" altLang="en-US" sz="3200" b="1">
                <a:solidFill>
                  <a:schemeClr val="tx2"/>
                </a:solidFill>
                <a:latin typeface="Calibri" pitchFamily="34" charset="0"/>
              </a:rPr>
              <a:t>差动变压器应用</a:t>
            </a:r>
            <a:endParaRPr lang="zh-CN" altLang="en-US"/>
          </a:p>
        </p:txBody>
      </p:sp>
      <p:sp>
        <p:nvSpPr>
          <p:cNvPr id="86020" name="Rectangle 3"/>
          <p:cNvSpPr>
            <a:spLocks noChangeArrowheads="1"/>
          </p:cNvSpPr>
          <p:nvPr/>
        </p:nvSpPr>
        <p:spPr bwMode="auto">
          <a:xfrm>
            <a:off x="107950" y="1116013"/>
            <a:ext cx="8540750" cy="533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pPr>
            <a:r>
              <a:rPr lang="zh-CN" altLang="en-US" sz="2400" dirty="0">
                <a:latin typeface="Calibri" pitchFamily="34" charset="0"/>
              </a:rPr>
              <a:t>差动变压器式传感器可以直接用于位移测量，也可以测量与位移有关的任何机械量，如振动、加速度、应变、比重、张力和厚度等。 </a:t>
            </a:r>
          </a:p>
          <a:p>
            <a:pPr algn="ctr">
              <a:spcBef>
                <a:spcPct val="20000"/>
              </a:spcBef>
              <a:buFont typeface="Wingdings" pitchFamily="2" charset="2"/>
              <a:buNone/>
            </a:pPr>
            <a:r>
              <a:rPr lang="en-US" sz="2400" b="1" dirty="0">
                <a:latin typeface="Calibri" pitchFamily="34" charset="0"/>
              </a:rPr>
              <a:t>1</a:t>
            </a:r>
            <a:r>
              <a:rPr lang="zh-CN" altLang="en-US" sz="2400" b="1" dirty="0">
                <a:latin typeface="Calibri" pitchFamily="34" charset="0"/>
              </a:rPr>
              <a:t>．差动变压器式加速度传感器</a:t>
            </a: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r>
              <a:rPr lang="zh-CN" altLang="en-US" sz="2400" dirty="0">
                <a:latin typeface="Calibri" pitchFamily="34" charset="0"/>
              </a:rPr>
              <a:t>   用于测定振动物体的频率和振幅时其激磁频率必须是振动频率的十倍以上，才能得到精确的测量结果。可测量的振幅为</a:t>
            </a:r>
            <a:r>
              <a:rPr lang="en-US" sz="2400" dirty="0">
                <a:latin typeface="Calibri" pitchFamily="34" charset="0"/>
              </a:rPr>
              <a:t>0.1</a:t>
            </a:r>
            <a:r>
              <a:rPr lang="zh-CN" altLang="en-US" sz="2400" dirty="0">
                <a:latin typeface="Calibri" pitchFamily="34" charset="0"/>
              </a:rPr>
              <a:t>～</a:t>
            </a:r>
            <a:r>
              <a:rPr lang="en-US" sz="2400" dirty="0">
                <a:latin typeface="Calibri" pitchFamily="34" charset="0"/>
              </a:rPr>
              <a:t>5mm</a:t>
            </a:r>
            <a:r>
              <a:rPr lang="zh-CN" altLang="en-US" sz="2400" dirty="0">
                <a:latin typeface="Calibri" pitchFamily="34" charset="0"/>
              </a:rPr>
              <a:t>，振动频率为</a:t>
            </a:r>
            <a:r>
              <a:rPr lang="en-US" sz="2400" dirty="0">
                <a:latin typeface="Calibri" pitchFamily="34" charset="0"/>
              </a:rPr>
              <a:t>0</a:t>
            </a:r>
            <a:r>
              <a:rPr lang="zh-CN" altLang="en-US" sz="2400" dirty="0">
                <a:latin typeface="Calibri" pitchFamily="34" charset="0"/>
              </a:rPr>
              <a:t>～</a:t>
            </a:r>
            <a:r>
              <a:rPr lang="en-US" sz="2400" dirty="0">
                <a:latin typeface="Calibri" pitchFamily="34" charset="0"/>
              </a:rPr>
              <a:t>150Hz</a:t>
            </a:r>
            <a:r>
              <a:rPr lang="zh-CN" altLang="en-US" sz="2400" dirty="0">
                <a:latin typeface="Calibri" pitchFamily="34" charset="0"/>
              </a:rPr>
              <a:t>。 </a:t>
            </a:r>
            <a:endParaRPr lang="zh-CN" altLang="en-US" dirty="0"/>
          </a:p>
        </p:txBody>
      </p:sp>
      <p:sp>
        <p:nvSpPr>
          <p:cNvPr id="86021" name="Rectangle 5"/>
          <p:cNvSpPr>
            <a:spLocks noChangeArrowheads="1"/>
          </p:cNvSpPr>
          <p:nvPr/>
        </p:nvSpPr>
        <p:spPr bwMode="auto">
          <a:xfrm>
            <a:off x="5545670" y="3236741"/>
            <a:ext cx="334663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400" dirty="0">
                <a:solidFill>
                  <a:srgbClr val="000000"/>
                </a:solidFill>
                <a:sym typeface="宋体" pitchFamily="2" charset="-122"/>
              </a:rPr>
              <a:t>由悬臂梁和差动变压器构成差动变压器式加速度传感器及其线路 </a:t>
            </a:r>
            <a:endParaRPr lang="zh-CN" altLang="en-US" sz="2400" dirty="0"/>
          </a:p>
          <a:p>
            <a:r>
              <a:rPr lang="zh-CN" altLang="en-US" sz="2400" dirty="0">
                <a:solidFill>
                  <a:srgbClr val="000000"/>
                </a:solidFill>
                <a:sym typeface="宋体" pitchFamily="2" charset="-122"/>
              </a:rPr>
              <a:t> </a:t>
            </a:r>
            <a:endParaRPr lang="zh-CN" altLang="en-US" dirty="0"/>
          </a:p>
        </p:txBody>
      </p:sp>
      <p:pic>
        <p:nvPicPr>
          <p:cNvPr id="86022" name="Picture 8" descr="4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25" y="2716213"/>
            <a:ext cx="5181600" cy="255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A1D576E5-E931-41F8-A634-4C455373445D}" type="slidenum">
              <a:rPr lang="zh-CN" altLang="en-US"/>
              <a:pPr/>
              <a:t>85</a:t>
            </a:fld>
            <a:endParaRPr lang="zh-CN" altLang="en-US" sz="1800">
              <a:solidFill>
                <a:schemeClr val="tx1"/>
              </a:solidFill>
              <a:latin typeface="Arial" pitchFamily="34" charset="0"/>
            </a:endParaRPr>
          </a:p>
        </p:txBody>
      </p:sp>
      <p:sp>
        <p:nvSpPr>
          <p:cNvPr id="8704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7043"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3.5</a:t>
            </a:r>
            <a:r>
              <a:rPr lang="zh-CN" altLang="en-US" sz="3200" b="1">
                <a:solidFill>
                  <a:schemeClr val="tx2"/>
                </a:solidFill>
                <a:latin typeface="Calibri" pitchFamily="34" charset="0"/>
              </a:rPr>
              <a:t>差动变压器应用</a:t>
            </a:r>
            <a:endParaRPr lang="zh-CN" altLang="en-US"/>
          </a:p>
        </p:txBody>
      </p:sp>
      <p:sp>
        <p:nvSpPr>
          <p:cNvPr id="87044" name="Rectangle 2"/>
          <p:cNvSpPr>
            <a:spLocks noChangeArrowheads="1"/>
          </p:cNvSpPr>
          <p:nvPr/>
        </p:nvSpPr>
        <p:spPr bwMode="auto">
          <a:xfrm>
            <a:off x="457200" y="1050925"/>
            <a:ext cx="35274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2400" b="1">
                <a:latin typeface="Calibri" pitchFamily="34" charset="0"/>
              </a:rPr>
              <a:t>2.</a:t>
            </a:r>
            <a:r>
              <a:rPr lang="zh-CN" altLang="en-US" sz="2400" b="1">
                <a:latin typeface="Calibri" pitchFamily="34" charset="0"/>
              </a:rPr>
              <a:t>微压力变送器</a:t>
            </a:r>
            <a:endParaRPr lang="zh-CN" altLang="en-US"/>
          </a:p>
        </p:txBody>
      </p:sp>
      <p:pic>
        <p:nvPicPr>
          <p:cNvPr id="87045" name="Picture 4" descr="425"/>
          <p:cNvPicPr>
            <a:picLocks noChangeAspect="1" noChangeArrowheads="1"/>
          </p:cNvPicPr>
          <p:nvPr/>
        </p:nvPicPr>
        <p:blipFill>
          <a:blip r:embed="rId2">
            <a:extLst>
              <a:ext uri="{28A0092B-C50C-407E-A947-70E740481C1C}">
                <a14:useLocalDpi xmlns:a14="http://schemas.microsoft.com/office/drawing/2010/main" val="0"/>
              </a:ext>
            </a:extLst>
          </a:blip>
          <a:srcRect t="9845" r="4688" b="9102"/>
          <a:stretch>
            <a:fillRect/>
          </a:stretch>
        </p:blipFill>
        <p:spPr bwMode="auto">
          <a:xfrm>
            <a:off x="304800" y="1736725"/>
            <a:ext cx="7315200" cy="291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Rectangle 5"/>
          <p:cNvSpPr>
            <a:spLocks noChangeArrowheads="1"/>
          </p:cNvSpPr>
          <p:nvPr/>
        </p:nvSpPr>
        <p:spPr bwMode="auto">
          <a:xfrm>
            <a:off x="192088" y="5008563"/>
            <a:ext cx="881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a:solidFill>
                  <a:srgbClr val="000000"/>
                </a:solidFill>
                <a:sym typeface="宋体" pitchFamily="2" charset="-122"/>
              </a:rPr>
              <a:t>由差动变压器和弹性敏感元件（膜片、膜盒和弹簧管等）相结合 </a:t>
            </a:r>
            <a:endParaRPr lang="zh-CN" altLang="en-US"/>
          </a:p>
        </p:txBody>
      </p:sp>
      <p:sp>
        <p:nvSpPr>
          <p:cNvPr id="87047" name="Rectangle 6"/>
          <p:cNvSpPr>
            <a:spLocks noChangeArrowheads="1"/>
          </p:cNvSpPr>
          <p:nvPr/>
        </p:nvSpPr>
        <p:spPr bwMode="auto">
          <a:xfrm>
            <a:off x="304800" y="5775325"/>
            <a:ext cx="8458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a:solidFill>
                  <a:srgbClr val="000000"/>
                </a:solidFill>
                <a:sym typeface="宋体" pitchFamily="2" charset="-122"/>
              </a:rPr>
              <a:t>这种变送器可分档测量</a:t>
            </a:r>
            <a:r>
              <a:rPr lang="zh-CN" altLang="en-US" sz="2400" b="1">
                <a:solidFill>
                  <a:srgbClr val="000000"/>
                </a:solidFill>
                <a:sym typeface="宋体" pitchFamily="2" charset="-122"/>
              </a:rPr>
              <a:t>（</a:t>
            </a:r>
            <a:r>
              <a:rPr lang="en-US" sz="2400" b="1">
                <a:solidFill>
                  <a:srgbClr val="000000"/>
                </a:solidFill>
                <a:sym typeface="Calibri" pitchFamily="34" charset="0"/>
              </a:rPr>
              <a:t>–5×10-5</a:t>
            </a:r>
            <a:r>
              <a:rPr lang="zh-CN" altLang="en-US" sz="2400" b="1">
                <a:solidFill>
                  <a:srgbClr val="000000"/>
                </a:solidFill>
                <a:sym typeface="宋体" pitchFamily="2" charset="-122"/>
              </a:rPr>
              <a:t>～</a:t>
            </a:r>
            <a:r>
              <a:rPr lang="en-US" sz="2400" b="1">
                <a:solidFill>
                  <a:srgbClr val="000000"/>
                </a:solidFill>
                <a:sym typeface="Calibri" pitchFamily="34" charset="0"/>
              </a:rPr>
              <a:t>6×105</a:t>
            </a:r>
            <a:r>
              <a:rPr lang="zh-CN" altLang="en-US" sz="2400" b="1">
                <a:solidFill>
                  <a:srgbClr val="000000"/>
                </a:solidFill>
                <a:sym typeface="宋体" pitchFamily="2" charset="-122"/>
              </a:rPr>
              <a:t>）</a:t>
            </a:r>
            <a:r>
              <a:rPr lang="en-US" sz="2400" b="1">
                <a:solidFill>
                  <a:srgbClr val="000000"/>
                </a:solidFill>
                <a:sym typeface="Calibri" pitchFamily="34" charset="0"/>
              </a:rPr>
              <a:t>N/m2</a:t>
            </a:r>
            <a:r>
              <a:rPr lang="zh-CN" altLang="en-US" sz="2400">
                <a:solidFill>
                  <a:srgbClr val="000000"/>
                </a:solidFill>
                <a:sym typeface="宋体" pitchFamily="2" charset="-122"/>
              </a:rPr>
              <a:t>压力，输出信号电压为</a:t>
            </a:r>
            <a:r>
              <a:rPr lang="en-US" sz="2400" b="1">
                <a:solidFill>
                  <a:srgbClr val="000000"/>
                </a:solidFill>
                <a:sym typeface="Calibri" pitchFamily="34" charset="0"/>
              </a:rPr>
              <a:t>(0</a:t>
            </a:r>
            <a:r>
              <a:rPr lang="zh-CN" altLang="en-US" sz="2400" b="1">
                <a:solidFill>
                  <a:srgbClr val="000000"/>
                </a:solidFill>
                <a:sym typeface="宋体" pitchFamily="2" charset="-122"/>
              </a:rPr>
              <a:t>～</a:t>
            </a:r>
            <a:r>
              <a:rPr lang="en-US" sz="2400" b="1">
                <a:solidFill>
                  <a:srgbClr val="000000"/>
                </a:solidFill>
                <a:sym typeface="Calibri" pitchFamily="34" charset="0"/>
              </a:rPr>
              <a:t>50)mV</a:t>
            </a:r>
            <a:r>
              <a:rPr lang="zh-CN" altLang="en-US" sz="2400">
                <a:solidFill>
                  <a:srgbClr val="000000"/>
                </a:solidFill>
                <a:sym typeface="宋体" pitchFamily="2" charset="-122"/>
              </a:rPr>
              <a:t>，精度为</a:t>
            </a:r>
            <a:r>
              <a:rPr lang="en-US" sz="2400">
                <a:solidFill>
                  <a:srgbClr val="000000"/>
                </a:solidFill>
                <a:sym typeface="Calibri" pitchFamily="34" charset="0"/>
              </a:rPr>
              <a:t>1.5</a:t>
            </a:r>
            <a:r>
              <a:rPr lang="zh-CN" altLang="en-US" sz="2400">
                <a:solidFill>
                  <a:srgbClr val="000000"/>
                </a:solidFill>
                <a:sym typeface="宋体" pitchFamily="2" charset="-122"/>
              </a:rPr>
              <a:t>级。</a:t>
            </a:r>
            <a:r>
              <a:rPr lang="zh-CN" altLang="en-US">
                <a:solidFill>
                  <a:srgbClr val="000000"/>
                </a:solidFill>
                <a:sym typeface="宋体" pitchFamily="2" charset="-122"/>
              </a:rPr>
              <a:t> </a:t>
            </a:r>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6FBD06D-B7B8-4341-8B9C-8A31DB241E0D}" type="slidenum">
              <a:rPr lang="zh-CN" altLang="en-US"/>
              <a:pPr/>
              <a:t>86</a:t>
            </a:fld>
            <a:endParaRPr lang="zh-CN" altLang="en-US" sz="1800">
              <a:solidFill>
                <a:schemeClr val="tx1"/>
              </a:solidFill>
              <a:latin typeface="Arial" pitchFamily="34" charset="0"/>
            </a:endParaRPr>
          </a:p>
        </p:txBody>
      </p:sp>
      <p:sp>
        <p:nvSpPr>
          <p:cNvPr id="8806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806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3.6 </a:t>
            </a:r>
            <a:r>
              <a:rPr lang="zh-CN" altLang="en-US" sz="3200" b="1">
                <a:solidFill>
                  <a:schemeClr val="tx2"/>
                </a:solidFill>
                <a:latin typeface="Calibri" pitchFamily="34" charset="0"/>
              </a:rPr>
              <a:t>电涡流传感器的应用</a:t>
            </a:r>
            <a:endParaRPr lang="zh-CN" altLang="en-US"/>
          </a:p>
        </p:txBody>
      </p:sp>
      <p:sp>
        <p:nvSpPr>
          <p:cNvPr id="88068" name="矩形 1"/>
          <p:cNvSpPr>
            <a:spLocks noChangeArrowheads="1"/>
          </p:cNvSpPr>
          <p:nvPr/>
        </p:nvSpPr>
        <p:spPr bwMode="auto">
          <a:xfrm>
            <a:off x="539750" y="1268413"/>
            <a:ext cx="26987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150000"/>
              </a:lnSpc>
            </a:pPr>
            <a:r>
              <a:rPr lang="zh-CN" altLang="en-US" sz="2800">
                <a:solidFill>
                  <a:srgbClr val="000000"/>
                </a:solidFill>
                <a:latin typeface="楷体_GB2312" pitchFamily="49" charset="-122"/>
                <a:ea typeface="楷体_GB2312" pitchFamily="49" charset="-122"/>
                <a:sym typeface="楷体_GB2312" pitchFamily="49" charset="-122"/>
              </a:rPr>
              <a:t>测量冷轧板厚度</a:t>
            </a:r>
            <a:endParaRPr lang="zh-CN" altLang="en-US"/>
          </a:p>
        </p:txBody>
      </p:sp>
      <p:pic>
        <p:nvPicPr>
          <p:cNvPr id="88069" name="Picture 16" descr="测量板厚"/>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2146300"/>
            <a:ext cx="3810000"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nodeType="afterEffect">
                                  <p:stCondLst>
                                    <p:cond delay="1000"/>
                                  </p:stCondLst>
                                  <p:childTnLst>
                                    <p:set>
                                      <p:cBhvr>
                                        <p:cTn id="6" dur="1" fill="hold">
                                          <p:stCondLst>
                                            <p:cond delay="0"/>
                                          </p:stCondLst>
                                        </p:cTn>
                                        <p:tgtEl>
                                          <p:spTgt spid="88069"/>
                                        </p:tgtEl>
                                        <p:attrNameLst>
                                          <p:attrName>style.visibility</p:attrName>
                                        </p:attrNameLst>
                                      </p:cBhvr>
                                      <p:to>
                                        <p:strVal val="visible"/>
                                      </p:to>
                                    </p:set>
                                    <p:animEffect>
                                      <p:cBhvr>
                                        <p:cTn id="7" dur="500"/>
                                        <p:tgtEl>
                                          <p:spTgt spid="88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60ED7D1F-A5D3-4939-80C1-91C03E88996A}" type="slidenum">
              <a:rPr lang="zh-CN" altLang="en-US"/>
              <a:pPr/>
              <a:t>87</a:t>
            </a:fld>
            <a:endParaRPr lang="zh-CN" altLang="en-US" sz="1800">
              <a:solidFill>
                <a:schemeClr val="tx1"/>
              </a:solidFill>
              <a:latin typeface="Arial" pitchFamily="34" charset="0"/>
            </a:endParaRPr>
          </a:p>
        </p:txBody>
      </p:sp>
      <p:sp>
        <p:nvSpPr>
          <p:cNvPr id="8909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9091" name="Text Box 2"/>
          <p:cNvSpPr>
            <a:spLocks noChangeArrowheads="1"/>
          </p:cNvSpPr>
          <p:nvPr/>
        </p:nvSpPr>
        <p:spPr bwMode="auto">
          <a:xfrm>
            <a:off x="755650" y="146050"/>
            <a:ext cx="8785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zh-CN" altLang="en-US" sz="3200" b="1">
                <a:solidFill>
                  <a:schemeClr val="tx2"/>
                </a:solidFill>
                <a:latin typeface="Calibri" pitchFamily="34" charset="0"/>
              </a:rPr>
              <a:t>测量尺寸、公差及零件识别</a:t>
            </a:r>
            <a:endParaRPr lang="zh-CN" altLang="en-US"/>
          </a:p>
        </p:txBody>
      </p:sp>
      <p:sp>
        <p:nvSpPr>
          <p:cNvPr id="89092" name="Rectangle 16"/>
          <p:cNvSpPr>
            <a:spLocks noChangeArrowheads="1"/>
          </p:cNvSpPr>
          <p:nvPr/>
        </p:nvSpPr>
        <p:spPr bwMode="auto">
          <a:xfrm>
            <a:off x="4643438" y="5180013"/>
            <a:ext cx="3924300"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spcBef>
                <a:spcPct val="20000"/>
              </a:spcBef>
              <a:buClr>
                <a:schemeClr val="bg2"/>
              </a:buClr>
              <a:buSzPct val="75000"/>
              <a:buFont typeface="Wingdings" pitchFamily="2" charset="2"/>
              <a:buNone/>
            </a:pPr>
            <a:r>
              <a:rPr lang="zh-CN" altLang="en-US" sz="2800" b="1">
                <a:solidFill>
                  <a:srgbClr val="000000"/>
                </a:solidFill>
                <a:latin typeface="黑体" pitchFamily="2" charset="-122"/>
                <a:sym typeface="黑体" pitchFamily="2" charset="-122"/>
              </a:rPr>
              <a:t>通过测量间隙来</a:t>
            </a:r>
            <a:r>
              <a:rPr lang="zh-CN" altLang="en-US" sz="2800" b="1">
                <a:solidFill>
                  <a:srgbClr val="000000"/>
                </a:solidFill>
                <a:latin typeface="宋体" pitchFamily="2" charset="-122"/>
                <a:sym typeface="宋体" pitchFamily="2" charset="-122"/>
              </a:rPr>
              <a:t>测定热膨胀引上下平移</a:t>
            </a:r>
            <a:endParaRPr lang="zh-CN" altLang="en-US"/>
          </a:p>
        </p:txBody>
      </p:sp>
      <p:pic>
        <p:nvPicPr>
          <p:cNvPr id="89093" name="Picture 17" descr="测量尺寸、公差、零件识别"/>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763" y="1555750"/>
            <a:ext cx="3459162"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4" name="Picture 18" descr="测量位移、位置、膨胀"/>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1557338"/>
            <a:ext cx="3465513" cy="346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5" name="Rectangle 19"/>
          <p:cNvSpPr>
            <a:spLocks noChangeArrowheads="1"/>
          </p:cNvSpPr>
          <p:nvPr/>
        </p:nvSpPr>
        <p:spPr bwMode="auto">
          <a:xfrm>
            <a:off x="1042988" y="5130800"/>
            <a:ext cx="25019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zh-CN" altLang="en-US" sz="2800" b="1">
                <a:solidFill>
                  <a:srgbClr val="000000"/>
                </a:solidFill>
                <a:latin typeface="黑体" pitchFamily="2" charset="-122"/>
                <a:sym typeface="黑体" pitchFamily="2" charset="-122"/>
              </a:rPr>
              <a:t>零件尺寸识别</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5" fill="hold" nodeType="afterEffect">
                                  <p:stCondLst>
                                    <p:cond delay="1000"/>
                                  </p:stCondLst>
                                  <p:childTnLst>
                                    <p:set>
                                      <p:cBhvr>
                                        <p:cTn id="6" dur="1" fill="hold">
                                          <p:stCondLst>
                                            <p:cond delay="0"/>
                                          </p:stCondLst>
                                        </p:cTn>
                                        <p:tgtEl>
                                          <p:spTgt spid="89093"/>
                                        </p:tgtEl>
                                        <p:attrNameLst>
                                          <p:attrName>style.visibility</p:attrName>
                                        </p:attrNameLst>
                                      </p:cBhvr>
                                      <p:to>
                                        <p:strVal val="visible"/>
                                      </p:to>
                                    </p:set>
                                    <p:animEffect>
                                      <p:cBhvr>
                                        <p:cTn id="7" dur="500"/>
                                        <p:tgtEl>
                                          <p:spTgt spid="89093"/>
                                        </p:tgtEl>
                                      </p:cBhvr>
                                    </p:animEffect>
                                  </p:childTnLst>
                                </p:cTn>
                              </p:par>
                            </p:childTnLst>
                          </p:cTn>
                        </p:par>
                        <p:par>
                          <p:cTn id="8" fill="hold" nodeType="afterGroup">
                            <p:stCondLst>
                              <p:cond delay="1500"/>
                            </p:stCondLst>
                            <p:childTnLst>
                              <p:par>
                                <p:cTn id="9" presetID="3" presetClass="entr" presetSubtype="5" fill="hold" nodeType="afterEffect">
                                  <p:stCondLst>
                                    <p:cond delay="1000"/>
                                  </p:stCondLst>
                                  <p:childTnLst>
                                    <p:set>
                                      <p:cBhvr>
                                        <p:cTn id="10" dur="1" fill="hold">
                                          <p:stCondLst>
                                            <p:cond delay="0"/>
                                          </p:stCondLst>
                                        </p:cTn>
                                        <p:tgtEl>
                                          <p:spTgt spid="89094"/>
                                        </p:tgtEl>
                                        <p:attrNameLst>
                                          <p:attrName>style.visibility</p:attrName>
                                        </p:attrNameLst>
                                      </p:cBhvr>
                                      <p:to>
                                        <p:strVal val="visible"/>
                                      </p:to>
                                    </p:set>
                                    <p:animEffect>
                                      <p:cBhvr>
                                        <p:cTn id="11" dur="500"/>
                                        <p:tgtEl>
                                          <p:spTgt spid="89094"/>
                                        </p:tgtEl>
                                      </p:cBhvr>
                                    </p:animEffect>
                                  </p:childTnLst>
                                </p:cTn>
                              </p:par>
                            </p:childTnLst>
                          </p:cTn>
                        </p:par>
                        <p:par>
                          <p:cTn id="12" fill="hold" nodeType="afterGroup">
                            <p:stCondLst>
                              <p:cond delay="3000"/>
                            </p:stCondLst>
                            <p:childTnLst>
                              <p:par>
                                <p:cTn id="13" presetID="2" presetClass="entr" presetSubtype="4" fill="hold" grpId="0" nodeType="afterEffect">
                                  <p:stCondLst>
                                    <p:cond delay="1000"/>
                                  </p:stCondLst>
                                  <p:childTnLst>
                                    <p:set>
                                      <p:cBhvr>
                                        <p:cTn id="14" dur="1" fill="hold">
                                          <p:stCondLst>
                                            <p:cond delay="0"/>
                                          </p:stCondLst>
                                        </p:cTn>
                                        <p:tgtEl>
                                          <p:spTgt spid="89092">
                                            <p:txEl>
                                              <p:pRg st="0" end="0"/>
                                            </p:txEl>
                                          </p:spTgt>
                                        </p:tgtEl>
                                        <p:attrNameLst>
                                          <p:attrName>style.visibility</p:attrName>
                                        </p:attrNameLst>
                                      </p:cBhvr>
                                      <p:to>
                                        <p:strVal val="visible"/>
                                      </p:to>
                                    </p:set>
                                    <p:anim calcmode="lin" valueType="num">
                                      <p:cBhvr>
                                        <p:cTn id="15" dur="500" fill="hold"/>
                                        <p:tgtEl>
                                          <p:spTgt spid="89092">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8909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build="p" bldLvl="0" autoUpdateAnimBg="0" advAuto="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22ECFDA-DCBE-4F66-8C05-C6ACA960AA01}" type="slidenum">
              <a:rPr lang="zh-CN" altLang="en-US"/>
              <a:pPr/>
              <a:t>88</a:t>
            </a:fld>
            <a:endParaRPr lang="zh-CN" altLang="en-US" sz="1800">
              <a:solidFill>
                <a:schemeClr val="tx1"/>
              </a:solidFill>
              <a:latin typeface="Arial" pitchFamily="34" charset="0"/>
            </a:endParaRPr>
          </a:p>
        </p:txBody>
      </p:sp>
      <p:sp>
        <p:nvSpPr>
          <p:cNvPr id="9011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011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振动测量</a:t>
            </a:r>
            <a:endParaRPr lang="zh-CN" altLang="en-US"/>
          </a:p>
        </p:txBody>
      </p:sp>
      <p:sp>
        <p:nvSpPr>
          <p:cNvPr id="90116" name="Rectangle 16"/>
          <p:cNvSpPr>
            <a:spLocks noChangeArrowheads="1"/>
          </p:cNvSpPr>
          <p:nvPr/>
        </p:nvSpPr>
        <p:spPr bwMode="auto">
          <a:xfrm>
            <a:off x="4706938" y="5319713"/>
            <a:ext cx="38973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spcBef>
                <a:spcPct val="20000"/>
              </a:spcBef>
              <a:buClr>
                <a:schemeClr val="bg2"/>
              </a:buClr>
              <a:buSzPct val="75000"/>
              <a:buFont typeface="Wingdings" pitchFamily="2" charset="2"/>
              <a:buNone/>
            </a:pPr>
            <a:r>
              <a:rPr lang="en-US" sz="2800" b="1">
                <a:solidFill>
                  <a:srgbClr val="000000"/>
                </a:solidFill>
                <a:latin typeface="宋体" pitchFamily="2" charset="-122"/>
                <a:sym typeface="宋体" pitchFamily="2" charset="-122"/>
              </a:rPr>
              <a:t> </a:t>
            </a:r>
            <a:r>
              <a:rPr lang="en-US" sz="4000" b="1">
                <a:solidFill>
                  <a:srgbClr val="000000"/>
                </a:solidFill>
                <a:latin typeface="宋体" pitchFamily="2" charset="-122"/>
                <a:sym typeface="宋体" pitchFamily="2" charset="-122"/>
              </a:rPr>
              <a:t> </a:t>
            </a:r>
            <a:r>
              <a:rPr lang="zh-CN" altLang="en-US" sz="3200" b="1">
                <a:solidFill>
                  <a:srgbClr val="000000"/>
                </a:solidFill>
                <a:latin typeface="宋体" pitchFamily="2" charset="-122"/>
                <a:sym typeface="宋体" pitchFamily="2" charset="-122"/>
              </a:rPr>
              <a:t>汽轮机叶片测试</a:t>
            </a:r>
            <a:endParaRPr lang="zh-CN" altLang="en-US"/>
          </a:p>
        </p:txBody>
      </p:sp>
      <p:pic>
        <p:nvPicPr>
          <p:cNvPr id="90117" name="Picture 17" descr="测量振动、偏心、间隙"/>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976563"/>
            <a:ext cx="3276600"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8" name="Picture 18" descr="汽轮机叶片"/>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7313" y="1493838"/>
            <a:ext cx="49530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9" name="Text Box 19"/>
          <p:cNvSpPr>
            <a:spLocks noChangeArrowheads="1"/>
          </p:cNvSpPr>
          <p:nvPr/>
        </p:nvSpPr>
        <p:spPr bwMode="auto">
          <a:xfrm>
            <a:off x="457200" y="1757363"/>
            <a:ext cx="2971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spcBef>
                <a:spcPct val="50000"/>
              </a:spcBef>
            </a:pPr>
            <a:r>
              <a:rPr lang="en-US" sz="3200">
                <a:latin typeface="Times New Roman" pitchFamily="18" charset="0"/>
                <a:sym typeface="Times New Roman" pitchFamily="18" charset="0"/>
              </a:rPr>
              <a:t> </a:t>
            </a:r>
            <a:r>
              <a:rPr lang="zh-CN" altLang="en-US" sz="3200" b="1">
                <a:latin typeface="Times New Roman" pitchFamily="18" charset="0"/>
                <a:sym typeface="Times New Roman" pitchFamily="18" charset="0"/>
              </a:rPr>
              <a:t>测量悬臂梁的振幅及频率</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nodeType="afterEffect">
                                  <p:stCondLst>
                                    <p:cond delay="0"/>
                                  </p:stCondLst>
                                  <p:childTnLst>
                                    <p:set>
                                      <p:cBhvr>
                                        <p:cTn id="6" dur="1" fill="hold">
                                          <p:stCondLst>
                                            <p:cond delay="0"/>
                                          </p:stCondLst>
                                        </p:cTn>
                                        <p:tgtEl>
                                          <p:spTgt spid="90118"/>
                                        </p:tgtEl>
                                        <p:attrNameLst>
                                          <p:attrName>style.visibility</p:attrName>
                                        </p:attrNameLst>
                                      </p:cBhvr>
                                      <p:to>
                                        <p:strVal val="visible"/>
                                      </p:to>
                                    </p:set>
                                    <p:animEffect>
                                      <p:cBhvr>
                                        <p:cTn id="7" dur="500"/>
                                        <p:tgtEl>
                                          <p:spTgt spid="90118"/>
                                        </p:tgtEl>
                                      </p:cBhvr>
                                    </p:animEffect>
                                  </p:childTnLst>
                                </p:cTn>
                              </p:par>
                            </p:childTnLst>
                          </p:cTn>
                        </p:par>
                        <p:par>
                          <p:cTn id="8" fill="hold" nodeType="afterGroup">
                            <p:stCondLst>
                              <p:cond delay="500"/>
                            </p:stCondLst>
                            <p:childTnLst>
                              <p:par>
                                <p:cTn id="9" presetID="2" presetClass="entr" presetSubtype="4" fill="hold" grpId="0" nodeType="afterEffect">
                                  <p:stCondLst>
                                    <p:cond delay="1000"/>
                                  </p:stCondLst>
                                  <p:childTnLst>
                                    <p:set>
                                      <p:cBhvr>
                                        <p:cTn id="10" dur="1" fill="hold">
                                          <p:stCondLst>
                                            <p:cond delay="0"/>
                                          </p:stCondLst>
                                        </p:cTn>
                                        <p:tgtEl>
                                          <p:spTgt spid="90116">
                                            <p:txEl>
                                              <p:pRg st="0" end="0"/>
                                            </p:txEl>
                                          </p:spTgt>
                                        </p:tgtEl>
                                        <p:attrNameLst>
                                          <p:attrName>style.visibility</p:attrName>
                                        </p:attrNameLst>
                                      </p:cBhvr>
                                      <p:to>
                                        <p:strVal val="visible"/>
                                      </p:to>
                                    </p:set>
                                    <p:anim calcmode="lin" valueType="num">
                                      <p:cBhvr>
                                        <p:cTn id="11" dur="500" fill="hold"/>
                                        <p:tgtEl>
                                          <p:spTgt spid="90116">
                                            <p:txEl>
                                              <p:pRg st="0" end="0"/>
                                            </p:txEl>
                                          </p:spTgt>
                                        </p:tgtEl>
                                        <p:attrNameLst>
                                          <p:attrName>ppt_x</p:attrName>
                                        </p:attrNameLst>
                                      </p:cBhvr>
                                      <p:tavLst>
                                        <p:tav tm="0">
                                          <p:val>
                                            <p:strVal val="#ppt_x"/>
                                          </p:val>
                                        </p:tav>
                                        <p:tav tm="100000">
                                          <p:val>
                                            <p:strVal val="#ppt_x"/>
                                          </p:val>
                                        </p:tav>
                                      </p:tavLst>
                                    </p:anim>
                                    <p:anim calcmode="lin" valueType="num">
                                      <p:cBhvr>
                                        <p:cTn id="12" dur="500" fill="hold"/>
                                        <p:tgtEl>
                                          <p:spTgt spid="90116">
                                            <p:txEl>
                                              <p:pRg st="0" end="0"/>
                                            </p:txEl>
                                          </p:spTgt>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2000"/>
                            </p:stCondLst>
                            <p:childTnLst>
                              <p:par>
                                <p:cTn id="14" presetID="2" presetClass="entr" presetSubtype="12" fill="hold" nodeType="afterEffect">
                                  <p:stCondLst>
                                    <p:cond delay="1000"/>
                                  </p:stCondLst>
                                  <p:childTnLst>
                                    <p:set>
                                      <p:cBhvr>
                                        <p:cTn id="15" dur="1" fill="hold">
                                          <p:stCondLst>
                                            <p:cond delay="0"/>
                                          </p:stCondLst>
                                        </p:cTn>
                                        <p:tgtEl>
                                          <p:spTgt spid="90117"/>
                                        </p:tgtEl>
                                        <p:attrNameLst>
                                          <p:attrName>style.visibility</p:attrName>
                                        </p:attrNameLst>
                                      </p:cBhvr>
                                      <p:to>
                                        <p:strVal val="visible"/>
                                      </p:to>
                                    </p:set>
                                    <p:anim calcmode="lin" valueType="num">
                                      <p:cBhvr>
                                        <p:cTn id="16" dur="500" fill="hold"/>
                                        <p:tgtEl>
                                          <p:spTgt spid="90117"/>
                                        </p:tgtEl>
                                        <p:attrNameLst>
                                          <p:attrName>ppt_x</p:attrName>
                                        </p:attrNameLst>
                                      </p:cBhvr>
                                      <p:tavLst>
                                        <p:tav tm="0">
                                          <p:val>
                                            <p:strVal val="0-#ppt_w/2"/>
                                          </p:val>
                                        </p:tav>
                                        <p:tav tm="100000">
                                          <p:val>
                                            <p:strVal val="#ppt_x"/>
                                          </p:val>
                                        </p:tav>
                                      </p:tavLst>
                                    </p:anim>
                                    <p:anim calcmode="lin" valueType="num">
                                      <p:cBhvr>
                                        <p:cTn id="17" dur="500" fill="hold"/>
                                        <p:tgtEl>
                                          <p:spTgt spid="90117"/>
                                        </p:tgtEl>
                                        <p:attrNameLst>
                                          <p:attrName>ppt_y</p:attrName>
                                        </p:attrNameLst>
                                      </p:cBhvr>
                                      <p:tavLst>
                                        <p:tav tm="0">
                                          <p:val>
                                            <p:strVal val="1+#ppt_h/2"/>
                                          </p:val>
                                        </p:tav>
                                        <p:tav tm="100000">
                                          <p:val>
                                            <p:strVal val="#ppt_y"/>
                                          </p:val>
                                        </p:tav>
                                      </p:tavLst>
                                    </p:anim>
                                  </p:childTnLst>
                                </p:cTn>
                              </p:par>
                            </p:childTnLst>
                          </p:cTn>
                        </p:par>
                        <p:par>
                          <p:cTn id="18" fill="hold" nodeType="afterGroup">
                            <p:stCondLst>
                              <p:cond delay="3500"/>
                            </p:stCondLst>
                            <p:childTnLst>
                              <p:par>
                                <p:cTn id="19" presetID="2" presetClass="entr" presetSubtype="8" fill="hold" grpId="0" nodeType="afterEffect">
                                  <p:stCondLst>
                                    <p:cond delay="1000"/>
                                  </p:stCondLst>
                                  <p:childTnLst>
                                    <p:set>
                                      <p:cBhvr>
                                        <p:cTn id="20" dur="1" fill="hold">
                                          <p:stCondLst>
                                            <p:cond delay="0"/>
                                          </p:stCondLst>
                                        </p:cTn>
                                        <p:tgtEl>
                                          <p:spTgt spid="90119"/>
                                        </p:tgtEl>
                                        <p:attrNameLst>
                                          <p:attrName>style.visibility</p:attrName>
                                        </p:attrNameLst>
                                      </p:cBhvr>
                                      <p:to>
                                        <p:strVal val="visible"/>
                                      </p:to>
                                    </p:set>
                                    <p:anim calcmode="lin" valueType="num">
                                      <p:cBhvr>
                                        <p:cTn id="21" dur="500" fill="hold"/>
                                        <p:tgtEl>
                                          <p:spTgt spid="90119"/>
                                        </p:tgtEl>
                                        <p:attrNameLst>
                                          <p:attrName>ppt_x</p:attrName>
                                        </p:attrNameLst>
                                      </p:cBhvr>
                                      <p:tavLst>
                                        <p:tav tm="0">
                                          <p:val>
                                            <p:strVal val="0-#ppt_w/2"/>
                                          </p:val>
                                        </p:tav>
                                        <p:tav tm="100000">
                                          <p:val>
                                            <p:strVal val="#ppt_x"/>
                                          </p:val>
                                        </p:tav>
                                      </p:tavLst>
                                    </p:anim>
                                    <p:anim calcmode="lin" valueType="num">
                                      <p:cBhvr>
                                        <p:cTn id="22" dur="500" fill="hold"/>
                                        <p:tgtEl>
                                          <p:spTgt spid="901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build="p" bldLvl="0" autoUpdateAnimBg="0" advAuto="0"/>
      <p:bldP spid="90119" grpId="0" bldLvl="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22ECFDA-DCBE-4F66-8C05-C6ACA960AA01}" type="slidenum">
              <a:rPr lang="zh-CN" altLang="en-US"/>
              <a:pPr/>
              <a:t>89</a:t>
            </a:fld>
            <a:endParaRPr lang="zh-CN" altLang="en-US" sz="1800">
              <a:solidFill>
                <a:schemeClr val="tx1"/>
              </a:solidFill>
              <a:latin typeface="Arial" pitchFamily="34" charset="0"/>
            </a:endParaRPr>
          </a:p>
        </p:txBody>
      </p:sp>
      <p:pic>
        <p:nvPicPr>
          <p:cNvPr id="167938" name="Picture 2" descr="C:\Documents and Settings\Administrator\桌面\QQ截图.png"/>
          <p:cNvPicPr>
            <a:picLocks noChangeAspect="1" noChangeArrowheads="1"/>
          </p:cNvPicPr>
          <p:nvPr/>
        </p:nvPicPr>
        <p:blipFill>
          <a:blip r:embed="rId2"/>
          <a:srcRect/>
          <a:stretch>
            <a:fillRect/>
          </a:stretch>
        </p:blipFill>
        <p:spPr bwMode="auto">
          <a:xfrm>
            <a:off x="285720" y="285728"/>
            <a:ext cx="4830469" cy="2714644"/>
          </a:xfrm>
          <a:prstGeom prst="rect">
            <a:avLst/>
          </a:prstGeom>
          <a:noFill/>
        </p:spPr>
      </p:pic>
      <p:pic>
        <p:nvPicPr>
          <p:cNvPr id="167939" name="Picture 3" descr="C:\Documents and Settings\Administrator\桌面\QQ截图.png"/>
          <p:cNvPicPr>
            <a:picLocks noChangeAspect="1" noChangeArrowheads="1"/>
          </p:cNvPicPr>
          <p:nvPr/>
        </p:nvPicPr>
        <p:blipFill>
          <a:blip r:embed="rId3"/>
          <a:srcRect/>
          <a:stretch>
            <a:fillRect/>
          </a:stretch>
        </p:blipFill>
        <p:spPr bwMode="auto">
          <a:xfrm>
            <a:off x="2285984" y="3114645"/>
            <a:ext cx="4906860" cy="3224240"/>
          </a:xfrm>
          <a:prstGeom prst="rect">
            <a:avLst/>
          </a:prstGeom>
          <a:noFill/>
        </p:spPr>
      </p:pic>
      <p:pic>
        <p:nvPicPr>
          <p:cNvPr id="167940" name="Picture 4" descr="C:\Documents and Settings\Administrator\桌面\QQ截图.png"/>
          <p:cNvPicPr>
            <a:picLocks noChangeAspect="1" noChangeArrowheads="1"/>
          </p:cNvPicPr>
          <p:nvPr/>
        </p:nvPicPr>
        <p:blipFill>
          <a:blip r:embed="rId4"/>
          <a:srcRect/>
          <a:stretch>
            <a:fillRect/>
          </a:stretch>
        </p:blipFill>
        <p:spPr bwMode="auto">
          <a:xfrm>
            <a:off x="5143504" y="357166"/>
            <a:ext cx="3828048" cy="2158947"/>
          </a:xfrm>
          <a:prstGeom prst="rect">
            <a:avLst/>
          </a:prstGeom>
          <a:noFill/>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5"/>
          <p:cNvSpPr>
            <a:spLocks noGrp="1"/>
          </p:cNvSpPr>
          <p:nvPr>
            <p:ph type="sldNum" sz="quarter" idx="12"/>
          </p:nvPr>
        </p:nvSpPr>
        <p:spPr/>
        <p:txBody>
          <a:bodyPr/>
          <a:lstStyle/>
          <a:p>
            <a:fld id="{9722DD81-5223-4224-8B09-E1BA6920B1B2}" type="slidenum">
              <a:rPr lang="zh-CN" altLang="en-US"/>
              <a:pPr/>
              <a:t>90</a:t>
            </a:fld>
            <a:endParaRPr lang="zh-CN" altLang="en-US" sz="1800">
              <a:solidFill>
                <a:schemeClr val="tx1"/>
              </a:solidFill>
              <a:latin typeface="Arial" pitchFamily="34" charset="0"/>
            </a:endParaRPr>
          </a:p>
        </p:txBody>
      </p:sp>
      <p:sp>
        <p:nvSpPr>
          <p:cNvPr id="9113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1139"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转速测量</a:t>
            </a:r>
            <a:endParaRPr lang="zh-CN" altLang="en-US"/>
          </a:p>
        </p:txBody>
      </p:sp>
      <p:sp>
        <p:nvSpPr>
          <p:cNvPr id="91140"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1"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2"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3"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4"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5"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6" name="Rectangle 9"/>
          <p:cNvSpPr>
            <a:spLocks noChangeArrowheads="1"/>
          </p:cNvSpPr>
          <p:nvPr/>
        </p:nvSpPr>
        <p:spPr bwMode="auto">
          <a:xfrm>
            <a:off x="0" y="27289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7" name="Rectangle 10"/>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8" name="Rectangle 11"/>
          <p:cNvSpPr>
            <a:spLocks noChangeArrowheads="1"/>
          </p:cNvSpPr>
          <p:nvPr/>
        </p:nvSpPr>
        <p:spPr bwMode="auto">
          <a:xfrm>
            <a:off x="0" y="2667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9" name="Rectangle 15"/>
          <p:cNvSpPr>
            <a:spLocks noChangeArrowheads="1"/>
          </p:cNvSpPr>
          <p:nvPr/>
        </p:nvSpPr>
        <p:spPr bwMode="auto">
          <a:xfrm>
            <a:off x="0" y="1089025"/>
            <a:ext cx="8686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lnSpc>
                <a:spcPct val="90000"/>
              </a:lnSpc>
              <a:spcBef>
                <a:spcPct val="20000"/>
              </a:spcBef>
              <a:buClr>
                <a:schemeClr val="bg2"/>
              </a:buClr>
              <a:buSzPct val="75000"/>
              <a:buFont typeface="Wingdings" pitchFamily="2" charset="2"/>
              <a:buNone/>
            </a:pPr>
            <a:r>
              <a:rPr lang="en-US" sz="3200" b="1">
                <a:solidFill>
                  <a:srgbClr val="000000"/>
                </a:solidFill>
                <a:latin typeface="Times New Roman" pitchFamily="18" charset="0"/>
                <a:sym typeface="Times New Roman" pitchFamily="18" charset="0"/>
              </a:rPr>
              <a:t>               </a:t>
            </a:r>
            <a:r>
              <a:rPr lang="zh-CN" altLang="en-US" sz="2800">
                <a:solidFill>
                  <a:srgbClr val="000000"/>
                </a:solidFill>
                <a:latin typeface="楷体_GB2312" pitchFamily="49" charset="-122"/>
                <a:ea typeface="楷体_GB2312" pitchFamily="49" charset="-122"/>
                <a:sym typeface="楷体_GB2312" pitchFamily="49" charset="-122"/>
              </a:rPr>
              <a:t>若转轴上开</a:t>
            </a:r>
            <a:r>
              <a:rPr lang="en-US" sz="2800">
                <a:solidFill>
                  <a:srgbClr val="000000"/>
                </a:solidFill>
                <a:latin typeface="楷体_GB2312" pitchFamily="49" charset="-122"/>
                <a:ea typeface="楷体_GB2312" pitchFamily="49" charset="-122"/>
                <a:sym typeface="楷体_GB2312" pitchFamily="49" charset="-122"/>
              </a:rPr>
              <a:t>z </a:t>
            </a:r>
            <a:r>
              <a:rPr lang="zh-CN" altLang="en-US" sz="2800">
                <a:solidFill>
                  <a:srgbClr val="000000"/>
                </a:solidFill>
                <a:latin typeface="楷体_GB2312" pitchFamily="49" charset="-122"/>
                <a:ea typeface="楷体_GB2312" pitchFamily="49" charset="-122"/>
                <a:sym typeface="楷体_GB2312" pitchFamily="49" charset="-122"/>
              </a:rPr>
              <a:t>个槽</a:t>
            </a:r>
            <a:r>
              <a:rPr lang="en-US" sz="2800">
                <a:solidFill>
                  <a:srgbClr val="000000"/>
                </a:solidFill>
                <a:latin typeface="楷体_GB2312" pitchFamily="49" charset="-122"/>
                <a:ea typeface="楷体_GB2312" pitchFamily="49" charset="-122"/>
                <a:sym typeface="楷体_GB2312" pitchFamily="49" charset="-122"/>
              </a:rPr>
              <a:t>(</a:t>
            </a:r>
            <a:r>
              <a:rPr lang="zh-CN" altLang="en-US" sz="2800">
                <a:solidFill>
                  <a:srgbClr val="000000"/>
                </a:solidFill>
                <a:latin typeface="楷体_GB2312" pitchFamily="49" charset="-122"/>
                <a:ea typeface="楷体_GB2312" pitchFamily="49" charset="-122"/>
                <a:sym typeface="楷体_GB2312" pitchFamily="49" charset="-122"/>
              </a:rPr>
              <a:t>或齿</a:t>
            </a:r>
            <a:r>
              <a:rPr lang="en-US" sz="2800">
                <a:solidFill>
                  <a:srgbClr val="000000"/>
                </a:solidFill>
                <a:latin typeface="楷体_GB2312" pitchFamily="49" charset="-122"/>
                <a:ea typeface="楷体_GB2312" pitchFamily="49" charset="-122"/>
                <a:sym typeface="楷体_GB2312" pitchFamily="49" charset="-122"/>
              </a:rPr>
              <a:t>)</a:t>
            </a:r>
            <a:r>
              <a:rPr lang="zh-CN" altLang="en-US" sz="2800">
                <a:solidFill>
                  <a:srgbClr val="000000"/>
                </a:solidFill>
                <a:latin typeface="楷体_GB2312" pitchFamily="49" charset="-122"/>
                <a:ea typeface="楷体_GB2312" pitchFamily="49" charset="-122"/>
                <a:sym typeface="楷体_GB2312" pitchFamily="49" charset="-122"/>
              </a:rPr>
              <a:t>，频率计的读数为</a:t>
            </a:r>
            <a:r>
              <a:rPr lang="en-US" sz="2800">
                <a:solidFill>
                  <a:srgbClr val="000000"/>
                </a:solidFill>
                <a:latin typeface="楷体_GB2312" pitchFamily="49" charset="-122"/>
                <a:ea typeface="楷体_GB2312" pitchFamily="49" charset="-122"/>
                <a:sym typeface="楷体_GB2312" pitchFamily="49" charset="-122"/>
              </a:rPr>
              <a:t>f</a:t>
            </a:r>
            <a:r>
              <a:rPr lang="zh-CN" altLang="en-US" sz="2800">
                <a:solidFill>
                  <a:srgbClr val="000000"/>
                </a:solidFill>
                <a:latin typeface="楷体_GB2312" pitchFamily="49" charset="-122"/>
                <a:ea typeface="楷体_GB2312" pitchFamily="49" charset="-122"/>
                <a:sym typeface="楷体_GB2312" pitchFamily="49" charset="-122"/>
              </a:rPr>
              <a:t>（单位为</a:t>
            </a:r>
            <a:r>
              <a:rPr lang="en-US" sz="2800">
                <a:solidFill>
                  <a:srgbClr val="000000"/>
                </a:solidFill>
                <a:latin typeface="楷体_GB2312" pitchFamily="49" charset="-122"/>
                <a:ea typeface="楷体_GB2312" pitchFamily="49" charset="-122"/>
                <a:sym typeface="楷体_GB2312" pitchFamily="49" charset="-122"/>
              </a:rPr>
              <a:t>Hz</a:t>
            </a:r>
            <a:r>
              <a:rPr lang="zh-CN" altLang="en-US" sz="2800">
                <a:solidFill>
                  <a:srgbClr val="000000"/>
                </a:solidFill>
                <a:latin typeface="楷体_GB2312" pitchFamily="49" charset="-122"/>
                <a:ea typeface="楷体_GB2312" pitchFamily="49" charset="-122"/>
                <a:sym typeface="楷体_GB2312" pitchFamily="49" charset="-122"/>
              </a:rPr>
              <a:t>），则转轴的转速</a:t>
            </a:r>
            <a:r>
              <a:rPr lang="en-US" sz="2800">
                <a:solidFill>
                  <a:srgbClr val="000000"/>
                </a:solidFill>
                <a:latin typeface="楷体_GB2312" pitchFamily="49" charset="-122"/>
                <a:ea typeface="楷体_GB2312" pitchFamily="49" charset="-122"/>
                <a:sym typeface="楷体_GB2312" pitchFamily="49" charset="-122"/>
              </a:rPr>
              <a:t>n</a:t>
            </a:r>
            <a:r>
              <a:rPr lang="zh-CN" altLang="en-US" sz="2800">
                <a:solidFill>
                  <a:srgbClr val="000000"/>
                </a:solidFill>
                <a:latin typeface="楷体_GB2312" pitchFamily="49" charset="-122"/>
                <a:ea typeface="楷体_GB2312" pitchFamily="49" charset="-122"/>
                <a:sym typeface="楷体_GB2312" pitchFamily="49" charset="-122"/>
              </a:rPr>
              <a:t>（单位为</a:t>
            </a:r>
            <a:r>
              <a:rPr lang="en-US" sz="2800">
                <a:solidFill>
                  <a:srgbClr val="000000"/>
                </a:solidFill>
                <a:latin typeface="楷体_GB2312" pitchFamily="49" charset="-122"/>
                <a:ea typeface="楷体_GB2312" pitchFamily="49" charset="-122"/>
                <a:sym typeface="楷体_GB2312" pitchFamily="49" charset="-122"/>
              </a:rPr>
              <a:t>r/min</a:t>
            </a:r>
            <a:r>
              <a:rPr lang="zh-CN" altLang="en-US" sz="2800">
                <a:solidFill>
                  <a:srgbClr val="000000"/>
                </a:solidFill>
                <a:latin typeface="楷体_GB2312" pitchFamily="49" charset="-122"/>
                <a:ea typeface="楷体_GB2312" pitchFamily="49" charset="-122"/>
                <a:sym typeface="楷体_GB2312" pitchFamily="49" charset="-122"/>
              </a:rPr>
              <a:t>）的计算公式为 </a:t>
            </a:r>
            <a:endParaRPr lang="zh-CN" altLang="en-US"/>
          </a:p>
        </p:txBody>
      </p:sp>
      <p:pic>
        <p:nvPicPr>
          <p:cNvPr id="9115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7063" y="1808163"/>
            <a:ext cx="2667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51" name="Picture 17" descr="转动齿轮"/>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43200"/>
            <a:ext cx="2667000"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52" name="Picture 18" descr="电涡流式接近开关非齐平式2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114800"/>
            <a:ext cx="19812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3" name="Freeform 19"/>
          <p:cNvSpPr>
            <a:spLocks noChangeArrowheads="1"/>
          </p:cNvSpPr>
          <p:nvPr/>
        </p:nvSpPr>
        <p:spPr bwMode="auto">
          <a:xfrm>
            <a:off x="5410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4" name="Freeform 20"/>
          <p:cNvSpPr>
            <a:spLocks noChangeArrowheads="1"/>
          </p:cNvSpPr>
          <p:nvPr/>
        </p:nvSpPr>
        <p:spPr bwMode="auto">
          <a:xfrm>
            <a:off x="5029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5" name="Freeform 21"/>
          <p:cNvSpPr>
            <a:spLocks noChangeArrowheads="1"/>
          </p:cNvSpPr>
          <p:nvPr/>
        </p:nvSpPr>
        <p:spPr bwMode="auto">
          <a:xfrm>
            <a:off x="4649788" y="3575050"/>
            <a:ext cx="379412"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6" name="Freeform 22"/>
          <p:cNvSpPr>
            <a:spLocks noChangeArrowheads="1"/>
          </p:cNvSpPr>
          <p:nvPr/>
        </p:nvSpPr>
        <p:spPr bwMode="auto">
          <a:xfrm>
            <a:off x="5791200" y="35052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7" name="Freeform 23"/>
          <p:cNvSpPr>
            <a:spLocks noChangeArrowheads="1"/>
          </p:cNvSpPr>
          <p:nvPr/>
        </p:nvSpPr>
        <p:spPr bwMode="auto">
          <a:xfrm>
            <a:off x="6172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8" name="Freeform 24"/>
          <p:cNvSpPr>
            <a:spLocks noChangeArrowheads="1"/>
          </p:cNvSpPr>
          <p:nvPr/>
        </p:nvSpPr>
        <p:spPr bwMode="auto">
          <a:xfrm>
            <a:off x="6553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9" name="Freeform 25"/>
          <p:cNvSpPr>
            <a:spLocks noChangeArrowheads="1"/>
          </p:cNvSpPr>
          <p:nvPr/>
        </p:nvSpPr>
        <p:spPr bwMode="auto">
          <a:xfrm>
            <a:off x="6934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60" name="Freeform 26"/>
          <p:cNvSpPr>
            <a:spLocks noChangeArrowheads="1"/>
          </p:cNvSpPr>
          <p:nvPr/>
        </p:nvSpPr>
        <p:spPr bwMode="auto">
          <a:xfrm>
            <a:off x="7315200" y="35052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61" name="Freeform 27"/>
          <p:cNvSpPr>
            <a:spLocks noChangeArrowheads="1"/>
          </p:cNvSpPr>
          <p:nvPr/>
        </p:nvSpPr>
        <p:spPr bwMode="auto">
          <a:xfrm>
            <a:off x="7696200" y="35052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62" name="Freeform 28"/>
          <p:cNvSpPr>
            <a:spLocks noChangeArrowheads="1"/>
          </p:cNvSpPr>
          <p:nvPr/>
        </p:nvSpPr>
        <p:spPr bwMode="auto">
          <a:xfrm>
            <a:off x="8077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63" name="Freeform 29"/>
          <p:cNvSpPr>
            <a:spLocks noChangeArrowheads="1"/>
          </p:cNvSpPr>
          <p:nvPr/>
        </p:nvSpPr>
        <p:spPr bwMode="auto">
          <a:xfrm>
            <a:off x="8458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64" name="Freeform 30"/>
          <p:cNvSpPr>
            <a:spLocks noChangeArrowheads="1"/>
          </p:cNvSpPr>
          <p:nvPr/>
        </p:nvSpPr>
        <p:spPr bwMode="auto">
          <a:xfrm>
            <a:off x="8839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2000"/>
                                  </p:stCondLst>
                                  <p:childTnLst>
                                    <p:set>
                                      <p:cBhvr>
                                        <p:cTn id="6" dur="1" fill="hold">
                                          <p:stCondLst>
                                            <p:cond delay="0"/>
                                          </p:stCondLst>
                                        </p:cTn>
                                        <p:tgtEl>
                                          <p:spTgt spid="91150"/>
                                        </p:tgtEl>
                                        <p:attrNameLst>
                                          <p:attrName>style.visibility</p:attrName>
                                        </p:attrNameLst>
                                      </p:cBhvr>
                                      <p:to>
                                        <p:strVal val="visible"/>
                                      </p:to>
                                    </p:set>
                                    <p:animEffect>
                                      <p:cBhvr>
                                        <p:cTn id="7" dur="500"/>
                                        <p:tgtEl>
                                          <p:spTgt spid="91150"/>
                                        </p:tgtEl>
                                      </p:cBhvr>
                                    </p:animEffect>
                                  </p:childTnLst>
                                </p:cTn>
                              </p:par>
                            </p:childTnLst>
                          </p:cTn>
                        </p:par>
                        <p:par>
                          <p:cTn id="8" fill="hold" nodeType="afterGroup">
                            <p:stCondLst>
                              <p:cond delay="2500"/>
                            </p:stCondLst>
                            <p:childTnLst>
                              <p:par>
                                <p:cTn id="9" presetID="22" presetClass="entr" presetSubtype="8" fill="hold" grpId="0" nodeType="afterEffect">
                                  <p:stCondLst>
                                    <p:cond delay="4000"/>
                                  </p:stCondLst>
                                  <p:childTnLst>
                                    <p:set>
                                      <p:cBhvr>
                                        <p:cTn id="10" dur="1" fill="hold">
                                          <p:stCondLst>
                                            <p:cond delay="0"/>
                                          </p:stCondLst>
                                        </p:cTn>
                                        <p:tgtEl>
                                          <p:spTgt spid="91155"/>
                                        </p:tgtEl>
                                        <p:attrNameLst>
                                          <p:attrName>style.visibility</p:attrName>
                                        </p:attrNameLst>
                                      </p:cBhvr>
                                      <p:to>
                                        <p:strVal val="visible"/>
                                      </p:to>
                                    </p:set>
                                    <p:animEffect>
                                      <p:cBhvr>
                                        <p:cTn id="11" dur="500"/>
                                        <p:tgtEl>
                                          <p:spTgt spid="91155"/>
                                        </p:tgtEl>
                                      </p:cBhvr>
                                    </p:animEffect>
                                  </p:childTnLst>
                                </p:cTn>
                              </p:par>
                            </p:childTnLst>
                          </p:cTn>
                        </p:par>
                        <p:par>
                          <p:cTn id="12" fill="hold" nodeType="afterGroup">
                            <p:stCondLst>
                              <p:cond delay="7000"/>
                            </p:stCondLst>
                            <p:childTnLst>
                              <p:par>
                                <p:cTn id="13" presetID="22" presetClass="entr" presetSubtype="8" fill="hold" grpId="0" nodeType="afterEffect">
                                  <p:stCondLst>
                                    <p:cond delay="1000"/>
                                  </p:stCondLst>
                                  <p:childTnLst>
                                    <p:set>
                                      <p:cBhvr>
                                        <p:cTn id="14" dur="1" fill="hold">
                                          <p:stCondLst>
                                            <p:cond delay="0"/>
                                          </p:stCondLst>
                                        </p:cTn>
                                        <p:tgtEl>
                                          <p:spTgt spid="91154"/>
                                        </p:tgtEl>
                                        <p:attrNameLst>
                                          <p:attrName>style.visibility</p:attrName>
                                        </p:attrNameLst>
                                      </p:cBhvr>
                                      <p:to>
                                        <p:strVal val="visible"/>
                                      </p:to>
                                    </p:set>
                                    <p:animEffect>
                                      <p:cBhvr>
                                        <p:cTn id="15" dur="500"/>
                                        <p:tgtEl>
                                          <p:spTgt spid="91154"/>
                                        </p:tgtEl>
                                      </p:cBhvr>
                                    </p:animEffect>
                                  </p:childTnLst>
                                </p:cTn>
                              </p:par>
                            </p:childTnLst>
                          </p:cTn>
                        </p:par>
                        <p:par>
                          <p:cTn id="16" fill="hold" nodeType="afterGroup">
                            <p:stCondLst>
                              <p:cond delay="8500"/>
                            </p:stCondLst>
                            <p:childTnLst>
                              <p:par>
                                <p:cTn id="17" presetID="22" presetClass="entr" presetSubtype="8" fill="hold" grpId="0" nodeType="afterEffect">
                                  <p:stCondLst>
                                    <p:cond delay="1000"/>
                                  </p:stCondLst>
                                  <p:childTnLst>
                                    <p:set>
                                      <p:cBhvr>
                                        <p:cTn id="18" dur="1" fill="hold">
                                          <p:stCondLst>
                                            <p:cond delay="0"/>
                                          </p:stCondLst>
                                        </p:cTn>
                                        <p:tgtEl>
                                          <p:spTgt spid="91153"/>
                                        </p:tgtEl>
                                        <p:attrNameLst>
                                          <p:attrName>style.visibility</p:attrName>
                                        </p:attrNameLst>
                                      </p:cBhvr>
                                      <p:to>
                                        <p:strVal val="visible"/>
                                      </p:to>
                                    </p:set>
                                    <p:animEffect>
                                      <p:cBhvr>
                                        <p:cTn id="19" dur="500"/>
                                        <p:tgtEl>
                                          <p:spTgt spid="91153"/>
                                        </p:tgtEl>
                                      </p:cBhvr>
                                    </p:animEffect>
                                  </p:childTnLst>
                                </p:cTn>
                              </p:par>
                            </p:childTnLst>
                          </p:cTn>
                        </p:par>
                        <p:par>
                          <p:cTn id="20" fill="hold" nodeType="afterGroup">
                            <p:stCondLst>
                              <p:cond delay="10000"/>
                            </p:stCondLst>
                            <p:childTnLst>
                              <p:par>
                                <p:cTn id="21" presetID="22" presetClass="entr" presetSubtype="8" fill="hold" grpId="0" nodeType="afterEffect">
                                  <p:stCondLst>
                                    <p:cond delay="1000"/>
                                  </p:stCondLst>
                                  <p:childTnLst>
                                    <p:set>
                                      <p:cBhvr>
                                        <p:cTn id="22" dur="1" fill="hold">
                                          <p:stCondLst>
                                            <p:cond delay="0"/>
                                          </p:stCondLst>
                                        </p:cTn>
                                        <p:tgtEl>
                                          <p:spTgt spid="91156"/>
                                        </p:tgtEl>
                                        <p:attrNameLst>
                                          <p:attrName>style.visibility</p:attrName>
                                        </p:attrNameLst>
                                      </p:cBhvr>
                                      <p:to>
                                        <p:strVal val="visible"/>
                                      </p:to>
                                    </p:set>
                                    <p:animEffect>
                                      <p:cBhvr>
                                        <p:cTn id="23" dur="500"/>
                                        <p:tgtEl>
                                          <p:spTgt spid="91156"/>
                                        </p:tgtEl>
                                      </p:cBhvr>
                                    </p:animEffect>
                                  </p:childTnLst>
                                </p:cTn>
                              </p:par>
                            </p:childTnLst>
                          </p:cTn>
                        </p:par>
                        <p:par>
                          <p:cTn id="24" fill="hold" nodeType="afterGroup">
                            <p:stCondLst>
                              <p:cond delay="11500"/>
                            </p:stCondLst>
                            <p:childTnLst>
                              <p:par>
                                <p:cTn id="25" presetID="22" presetClass="entr" presetSubtype="8" fill="hold" grpId="0" nodeType="afterEffect">
                                  <p:stCondLst>
                                    <p:cond delay="1000"/>
                                  </p:stCondLst>
                                  <p:childTnLst>
                                    <p:set>
                                      <p:cBhvr>
                                        <p:cTn id="26" dur="1" fill="hold">
                                          <p:stCondLst>
                                            <p:cond delay="0"/>
                                          </p:stCondLst>
                                        </p:cTn>
                                        <p:tgtEl>
                                          <p:spTgt spid="91157"/>
                                        </p:tgtEl>
                                        <p:attrNameLst>
                                          <p:attrName>style.visibility</p:attrName>
                                        </p:attrNameLst>
                                      </p:cBhvr>
                                      <p:to>
                                        <p:strVal val="visible"/>
                                      </p:to>
                                    </p:set>
                                    <p:animEffect>
                                      <p:cBhvr>
                                        <p:cTn id="27" dur="500"/>
                                        <p:tgtEl>
                                          <p:spTgt spid="91157"/>
                                        </p:tgtEl>
                                      </p:cBhvr>
                                    </p:animEffect>
                                  </p:childTnLst>
                                </p:cTn>
                              </p:par>
                            </p:childTnLst>
                          </p:cTn>
                        </p:par>
                        <p:par>
                          <p:cTn id="28" fill="hold" nodeType="afterGroup">
                            <p:stCondLst>
                              <p:cond delay="13000"/>
                            </p:stCondLst>
                            <p:childTnLst>
                              <p:par>
                                <p:cTn id="29" presetID="22" presetClass="entr" presetSubtype="8" fill="hold" grpId="0" nodeType="afterEffect">
                                  <p:stCondLst>
                                    <p:cond delay="1000"/>
                                  </p:stCondLst>
                                  <p:childTnLst>
                                    <p:set>
                                      <p:cBhvr>
                                        <p:cTn id="30" dur="1" fill="hold">
                                          <p:stCondLst>
                                            <p:cond delay="0"/>
                                          </p:stCondLst>
                                        </p:cTn>
                                        <p:tgtEl>
                                          <p:spTgt spid="91158"/>
                                        </p:tgtEl>
                                        <p:attrNameLst>
                                          <p:attrName>style.visibility</p:attrName>
                                        </p:attrNameLst>
                                      </p:cBhvr>
                                      <p:to>
                                        <p:strVal val="visible"/>
                                      </p:to>
                                    </p:set>
                                    <p:animEffect>
                                      <p:cBhvr>
                                        <p:cTn id="31" dur="500"/>
                                        <p:tgtEl>
                                          <p:spTgt spid="91158"/>
                                        </p:tgtEl>
                                      </p:cBhvr>
                                    </p:animEffect>
                                  </p:childTnLst>
                                </p:cTn>
                              </p:par>
                            </p:childTnLst>
                          </p:cTn>
                        </p:par>
                        <p:par>
                          <p:cTn id="32" fill="hold" nodeType="afterGroup">
                            <p:stCondLst>
                              <p:cond delay="14500"/>
                            </p:stCondLst>
                            <p:childTnLst>
                              <p:par>
                                <p:cTn id="33" presetID="22" presetClass="entr" presetSubtype="8" fill="hold" grpId="0" nodeType="afterEffect">
                                  <p:stCondLst>
                                    <p:cond delay="1000"/>
                                  </p:stCondLst>
                                  <p:childTnLst>
                                    <p:set>
                                      <p:cBhvr>
                                        <p:cTn id="34" dur="1" fill="hold">
                                          <p:stCondLst>
                                            <p:cond delay="0"/>
                                          </p:stCondLst>
                                        </p:cTn>
                                        <p:tgtEl>
                                          <p:spTgt spid="91159"/>
                                        </p:tgtEl>
                                        <p:attrNameLst>
                                          <p:attrName>style.visibility</p:attrName>
                                        </p:attrNameLst>
                                      </p:cBhvr>
                                      <p:to>
                                        <p:strVal val="visible"/>
                                      </p:to>
                                    </p:set>
                                    <p:animEffect>
                                      <p:cBhvr>
                                        <p:cTn id="35" dur="500"/>
                                        <p:tgtEl>
                                          <p:spTgt spid="91159"/>
                                        </p:tgtEl>
                                      </p:cBhvr>
                                    </p:animEffect>
                                  </p:childTnLst>
                                </p:cTn>
                              </p:par>
                            </p:childTnLst>
                          </p:cTn>
                        </p:par>
                        <p:par>
                          <p:cTn id="36" fill="hold" nodeType="afterGroup">
                            <p:stCondLst>
                              <p:cond delay="16000"/>
                            </p:stCondLst>
                            <p:childTnLst>
                              <p:par>
                                <p:cTn id="37" presetID="22" presetClass="entr" presetSubtype="8" fill="hold" grpId="0" nodeType="afterEffect">
                                  <p:stCondLst>
                                    <p:cond delay="1000"/>
                                  </p:stCondLst>
                                  <p:childTnLst>
                                    <p:set>
                                      <p:cBhvr>
                                        <p:cTn id="38" dur="1" fill="hold">
                                          <p:stCondLst>
                                            <p:cond delay="0"/>
                                          </p:stCondLst>
                                        </p:cTn>
                                        <p:tgtEl>
                                          <p:spTgt spid="91160"/>
                                        </p:tgtEl>
                                        <p:attrNameLst>
                                          <p:attrName>style.visibility</p:attrName>
                                        </p:attrNameLst>
                                      </p:cBhvr>
                                      <p:to>
                                        <p:strVal val="visible"/>
                                      </p:to>
                                    </p:set>
                                    <p:animEffect>
                                      <p:cBhvr>
                                        <p:cTn id="39" dur="500"/>
                                        <p:tgtEl>
                                          <p:spTgt spid="91160"/>
                                        </p:tgtEl>
                                      </p:cBhvr>
                                    </p:animEffect>
                                  </p:childTnLst>
                                </p:cTn>
                              </p:par>
                            </p:childTnLst>
                          </p:cTn>
                        </p:par>
                        <p:par>
                          <p:cTn id="40" fill="hold" nodeType="afterGroup">
                            <p:stCondLst>
                              <p:cond delay="17500"/>
                            </p:stCondLst>
                            <p:childTnLst>
                              <p:par>
                                <p:cTn id="41" presetID="22" presetClass="entr" presetSubtype="8" fill="hold" grpId="0" nodeType="afterEffect">
                                  <p:stCondLst>
                                    <p:cond delay="1000"/>
                                  </p:stCondLst>
                                  <p:childTnLst>
                                    <p:set>
                                      <p:cBhvr>
                                        <p:cTn id="42" dur="1" fill="hold">
                                          <p:stCondLst>
                                            <p:cond delay="0"/>
                                          </p:stCondLst>
                                        </p:cTn>
                                        <p:tgtEl>
                                          <p:spTgt spid="91161"/>
                                        </p:tgtEl>
                                        <p:attrNameLst>
                                          <p:attrName>style.visibility</p:attrName>
                                        </p:attrNameLst>
                                      </p:cBhvr>
                                      <p:to>
                                        <p:strVal val="visible"/>
                                      </p:to>
                                    </p:set>
                                    <p:animEffect>
                                      <p:cBhvr>
                                        <p:cTn id="43" dur="500"/>
                                        <p:tgtEl>
                                          <p:spTgt spid="91161"/>
                                        </p:tgtEl>
                                      </p:cBhvr>
                                    </p:animEffect>
                                  </p:childTnLst>
                                </p:cTn>
                              </p:par>
                            </p:childTnLst>
                          </p:cTn>
                        </p:par>
                        <p:par>
                          <p:cTn id="44" fill="hold" nodeType="afterGroup">
                            <p:stCondLst>
                              <p:cond delay="19000"/>
                            </p:stCondLst>
                            <p:childTnLst>
                              <p:par>
                                <p:cTn id="45" presetID="22" presetClass="entr" presetSubtype="8" fill="hold" grpId="0" nodeType="afterEffect">
                                  <p:stCondLst>
                                    <p:cond delay="1000"/>
                                  </p:stCondLst>
                                  <p:childTnLst>
                                    <p:set>
                                      <p:cBhvr>
                                        <p:cTn id="46" dur="1" fill="hold">
                                          <p:stCondLst>
                                            <p:cond delay="0"/>
                                          </p:stCondLst>
                                        </p:cTn>
                                        <p:tgtEl>
                                          <p:spTgt spid="91162"/>
                                        </p:tgtEl>
                                        <p:attrNameLst>
                                          <p:attrName>style.visibility</p:attrName>
                                        </p:attrNameLst>
                                      </p:cBhvr>
                                      <p:to>
                                        <p:strVal val="visible"/>
                                      </p:to>
                                    </p:set>
                                    <p:animEffect>
                                      <p:cBhvr>
                                        <p:cTn id="47" dur="500"/>
                                        <p:tgtEl>
                                          <p:spTgt spid="91162"/>
                                        </p:tgtEl>
                                      </p:cBhvr>
                                    </p:animEffect>
                                  </p:childTnLst>
                                </p:cTn>
                              </p:par>
                            </p:childTnLst>
                          </p:cTn>
                        </p:par>
                        <p:par>
                          <p:cTn id="48" fill="hold" nodeType="afterGroup">
                            <p:stCondLst>
                              <p:cond delay="20500"/>
                            </p:stCondLst>
                            <p:childTnLst>
                              <p:par>
                                <p:cTn id="49" presetID="22" presetClass="entr" presetSubtype="8" fill="hold" grpId="0" nodeType="afterEffect">
                                  <p:stCondLst>
                                    <p:cond delay="1000"/>
                                  </p:stCondLst>
                                  <p:childTnLst>
                                    <p:set>
                                      <p:cBhvr>
                                        <p:cTn id="50" dur="1" fill="hold">
                                          <p:stCondLst>
                                            <p:cond delay="0"/>
                                          </p:stCondLst>
                                        </p:cTn>
                                        <p:tgtEl>
                                          <p:spTgt spid="91163"/>
                                        </p:tgtEl>
                                        <p:attrNameLst>
                                          <p:attrName>style.visibility</p:attrName>
                                        </p:attrNameLst>
                                      </p:cBhvr>
                                      <p:to>
                                        <p:strVal val="visible"/>
                                      </p:to>
                                    </p:set>
                                    <p:animEffect>
                                      <p:cBhvr>
                                        <p:cTn id="51" dur="500"/>
                                        <p:tgtEl>
                                          <p:spTgt spid="91163"/>
                                        </p:tgtEl>
                                      </p:cBhvr>
                                    </p:animEffect>
                                  </p:childTnLst>
                                </p:cTn>
                              </p:par>
                            </p:childTnLst>
                          </p:cTn>
                        </p:par>
                        <p:par>
                          <p:cTn id="52" fill="hold" nodeType="afterGroup">
                            <p:stCondLst>
                              <p:cond delay="22000"/>
                            </p:stCondLst>
                            <p:childTnLst>
                              <p:par>
                                <p:cTn id="53" presetID="22" presetClass="entr" presetSubtype="8" fill="hold" grpId="0" nodeType="afterEffect">
                                  <p:stCondLst>
                                    <p:cond delay="1000"/>
                                  </p:stCondLst>
                                  <p:childTnLst>
                                    <p:set>
                                      <p:cBhvr>
                                        <p:cTn id="54" dur="1" fill="hold">
                                          <p:stCondLst>
                                            <p:cond delay="0"/>
                                          </p:stCondLst>
                                        </p:cTn>
                                        <p:tgtEl>
                                          <p:spTgt spid="91164"/>
                                        </p:tgtEl>
                                        <p:attrNameLst>
                                          <p:attrName>style.visibility</p:attrName>
                                        </p:attrNameLst>
                                      </p:cBhvr>
                                      <p:to>
                                        <p:strVal val="visible"/>
                                      </p:to>
                                    </p:set>
                                    <p:animEffect>
                                      <p:cBhvr>
                                        <p:cTn id="55" dur="500"/>
                                        <p:tgtEl>
                                          <p:spTgt spid="91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3" grpId="0" bldLvl="0" animBg="1" autoUpdateAnimBg="0"/>
      <p:bldP spid="91154" grpId="0" bldLvl="0" animBg="1" autoUpdateAnimBg="0"/>
      <p:bldP spid="91155" grpId="0" bldLvl="0" animBg="1" autoUpdateAnimBg="0"/>
      <p:bldP spid="91156" grpId="0" bldLvl="0" animBg="1" autoUpdateAnimBg="0"/>
      <p:bldP spid="91157" grpId="0" bldLvl="0" animBg="1" autoUpdateAnimBg="0"/>
      <p:bldP spid="91158" grpId="0" bldLvl="0" animBg="1" autoUpdateAnimBg="0"/>
      <p:bldP spid="91159" grpId="0" bldLvl="0" animBg="1" autoUpdateAnimBg="0"/>
      <p:bldP spid="91160" grpId="0" bldLvl="0" animBg="1" autoUpdateAnimBg="0"/>
      <p:bldP spid="91161" grpId="0" bldLvl="0" animBg="1" autoUpdateAnimBg="0"/>
      <p:bldP spid="91162" grpId="0" bldLvl="0" animBg="1" autoUpdateAnimBg="0"/>
      <p:bldP spid="91163" grpId="0" bldLvl="0" animBg="1" autoUpdateAnimBg="0"/>
      <p:bldP spid="91164" grpId="0" bldLvl="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5"/>
          <p:cNvSpPr>
            <a:spLocks noGrp="1"/>
          </p:cNvSpPr>
          <p:nvPr>
            <p:ph type="sldNum" sz="quarter" idx="12"/>
          </p:nvPr>
        </p:nvSpPr>
        <p:spPr/>
        <p:txBody>
          <a:bodyPr/>
          <a:lstStyle/>
          <a:p>
            <a:fld id="{35191C98-5AB0-4FEE-BA3D-8ACA1F3CEC0D}" type="slidenum">
              <a:rPr lang="zh-CN" altLang="en-US"/>
              <a:pPr/>
              <a:t>91</a:t>
            </a:fld>
            <a:endParaRPr lang="zh-CN" altLang="en-US" sz="1800" dirty="0">
              <a:solidFill>
                <a:schemeClr val="tx1"/>
              </a:solidFill>
              <a:latin typeface="Arial" pitchFamily="34" charset="0"/>
            </a:endParaRPr>
          </a:p>
        </p:txBody>
      </p:sp>
      <p:sp>
        <p:nvSpPr>
          <p:cNvPr id="9216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2163"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电涡流表面探伤 </a:t>
            </a:r>
            <a:endParaRPr lang="zh-CN" altLang="en-US"/>
          </a:p>
        </p:txBody>
      </p:sp>
      <p:sp>
        <p:nvSpPr>
          <p:cNvPr id="92164" name="Rectangle 3"/>
          <p:cNvSpPr>
            <a:spLocks noChangeArrowheads="1"/>
          </p:cNvSpPr>
          <p:nvPr/>
        </p:nvSpPr>
        <p:spPr bwMode="auto">
          <a:xfrm>
            <a:off x="0" y="28146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65" name="Rectangle 4"/>
          <p:cNvSpPr>
            <a:spLocks noChangeArrowheads="1"/>
          </p:cNvSpPr>
          <p:nvPr/>
        </p:nvSpPr>
        <p:spPr bwMode="auto">
          <a:xfrm>
            <a:off x="0" y="3519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66" name="Rectangle 5"/>
          <p:cNvSpPr>
            <a:spLocks noChangeArrowheads="1"/>
          </p:cNvSpPr>
          <p:nvPr/>
        </p:nvSpPr>
        <p:spPr bwMode="auto">
          <a:xfrm>
            <a:off x="0" y="3519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67" name="Rectangle 6"/>
          <p:cNvSpPr>
            <a:spLocks noChangeArrowheads="1"/>
          </p:cNvSpPr>
          <p:nvPr/>
        </p:nvSpPr>
        <p:spPr bwMode="auto">
          <a:xfrm>
            <a:off x="0" y="3505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68" name="Rectangle 7"/>
          <p:cNvSpPr>
            <a:spLocks noChangeArrowheads="1"/>
          </p:cNvSpPr>
          <p:nvPr/>
        </p:nvSpPr>
        <p:spPr bwMode="auto">
          <a:xfrm>
            <a:off x="0" y="34432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69" name="Rectangle 8"/>
          <p:cNvSpPr>
            <a:spLocks noChangeArrowheads="1"/>
          </p:cNvSpPr>
          <p:nvPr/>
        </p:nvSpPr>
        <p:spPr bwMode="auto">
          <a:xfrm>
            <a:off x="0" y="3505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70" name="Rectangle 9"/>
          <p:cNvSpPr>
            <a:spLocks noChangeArrowheads="1"/>
          </p:cNvSpPr>
          <p:nvPr/>
        </p:nvSpPr>
        <p:spPr bwMode="auto">
          <a:xfrm>
            <a:off x="0" y="30337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71" name="Rectangle 10"/>
          <p:cNvSpPr>
            <a:spLocks noChangeArrowheads="1"/>
          </p:cNvSpPr>
          <p:nvPr/>
        </p:nvSpPr>
        <p:spPr bwMode="auto">
          <a:xfrm>
            <a:off x="0" y="3505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72" name="Rectangle 11"/>
          <p:cNvSpPr>
            <a:spLocks noChangeArrowheads="1"/>
          </p:cNvSpPr>
          <p:nvPr/>
        </p:nvSpPr>
        <p:spPr bwMode="auto">
          <a:xfrm>
            <a:off x="0" y="2971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73" name="Rectangle 14"/>
          <p:cNvSpPr>
            <a:spLocks noChangeArrowheads="1"/>
          </p:cNvSpPr>
          <p:nvPr/>
        </p:nvSpPr>
        <p:spPr bwMode="auto">
          <a:xfrm>
            <a:off x="206375" y="2247900"/>
            <a:ext cx="4114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spcBef>
                <a:spcPct val="20000"/>
              </a:spcBef>
              <a:buClr>
                <a:schemeClr val="bg2"/>
              </a:buClr>
              <a:buSzPct val="75000"/>
              <a:buFont typeface="Wingdings" pitchFamily="2" charset="2"/>
              <a:buNone/>
            </a:pPr>
            <a:r>
              <a:rPr lang="zh-CN" altLang="en-US" sz="3600" b="1">
                <a:solidFill>
                  <a:srgbClr val="000000"/>
                </a:solidFill>
                <a:latin typeface="宋体" pitchFamily="2" charset="-122"/>
                <a:sym typeface="宋体" pitchFamily="2" charset="-122"/>
              </a:rPr>
              <a:t>手持式裂纹测量仪</a:t>
            </a:r>
            <a:endParaRPr lang="zh-CN" altLang="en-US"/>
          </a:p>
        </p:txBody>
      </p:sp>
      <p:sp>
        <p:nvSpPr>
          <p:cNvPr id="92174" name="Text Box 15"/>
          <p:cNvSpPr>
            <a:spLocks noChangeArrowheads="1"/>
          </p:cNvSpPr>
          <p:nvPr/>
        </p:nvSpPr>
        <p:spPr bwMode="auto">
          <a:xfrm>
            <a:off x="6551613" y="4813300"/>
            <a:ext cx="1905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3200" b="1">
                <a:latin typeface="Times New Roman" pitchFamily="18" charset="0"/>
                <a:sym typeface="Times New Roman" pitchFamily="18" charset="0"/>
              </a:rPr>
              <a:t>油管探伤</a:t>
            </a:r>
            <a:endParaRPr lang="zh-CN" altLang="en-US"/>
          </a:p>
        </p:txBody>
      </p:sp>
      <p:pic>
        <p:nvPicPr>
          <p:cNvPr id="92175" name="Picture 16" descr="电涡流油管探伤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371600"/>
            <a:ext cx="43434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76" name="Picture 17" descr="手持式裂纹深度测量仪"/>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276600"/>
            <a:ext cx="4191000"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77" name="Picture 18" descr="油管探伤"/>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4648200"/>
            <a:ext cx="19812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1000"/>
                                  </p:stCondLst>
                                  <p:childTnLst>
                                    <p:set>
                                      <p:cBhvr>
                                        <p:cTn id="6" dur="1" fill="hold">
                                          <p:stCondLst>
                                            <p:cond delay="0"/>
                                          </p:stCondLst>
                                        </p:cTn>
                                        <p:tgtEl>
                                          <p:spTgt spid="92176"/>
                                        </p:tgtEl>
                                        <p:attrNameLst>
                                          <p:attrName>style.visibility</p:attrName>
                                        </p:attrNameLst>
                                      </p:cBhvr>
                                      <p:to>
                                        <p:strVal val="visible"/>
                                      </p:to>
                                    </p:set>
                                    <p:animEffect>
                                      <p:cBhvr>
                                        <p:cTn id="7" dur="500"/>
                                        <p:tgtEl>
                                          <p:spTgt spid="92176"/>
                                        </p:tgtEl>
                                      </p:cBhvr>
                                    </p:animEffect>
                                  </p:childTnLst>
                                </p:cTn>
                              </p:par>
                            </p:childTnLst>
                          </p:cTn>
                        </p:par>
                        <p:par>
                          <p:cTn id="8" fill="hold" nodeType="afterGroup">
                            <p:stCondLst>
                              <p:cond delay="1500"/>
                            </p:stCondLst>
                            <p:childTnLst>
                              <p:par>
                                <p:cTn id="9" presetID="18" presetClass="entr" presetSubtype="12" fill="hold" nodeType="afterEffect">
                                  <p:stCondLst>
                                    <p:cond delay="1000"/>
                                  </p:stCondLst>
                                  <p:childTnLst>
                                    <p:set>
                                      <p:cBhvr>
                                        <p:cTn id="10" dur="1" fill="hold">
                                          <p:stCondLst>
                                            <p:cond delay="0"/>
                                          </p:stCondLst>
                                        </p:cTn>
                                        <p:tgtEl>
                                          <p:spTgt spid="92175"/>
                                        </p:tgtEl>
                                        <p:attrNameLst>
                                          <p:attrName>style.visibility</p:attrName>
                                        </p:attrNameLst>
                                      </p:cBhvr>
                                      <p:to>
                                        <p:strVal val="visible"/>
                                      </p:to>
                                    </p:set>
                                    <p:animEffect>
                                      <p:cBhvr>
                                        <p:cTn id="11" dur="500"/>
                                        <p:tgtEl>
                                          <p:spTgt spid="92175"/>
                                        </p:tgtEl>
                                      </p:cBhvr>
                                    </p:animEffect>
                                  </p:childTnLst>
                                </p:cTn>
                              </p:par>
                            </p:childTnLst>
                          </p:cTn>
                        </p:par>
                        <p:par>
                          <p:cTn id="12" fill="hold" nodeType="afterGroup">
                            <p:stCondLst>
                              <p:cond delay="3000"/>
                            </p:stCondLst>
                            <p:childTnLst>
                              <p:par>
                                <p:cTn id="13" presetID="1" presetClass="entr" presetSubtype="0" fill="hold" grpId="0" nodeType="afterEffect">
                                  <p:stCondLst>
                                    <p:cond delay="1000"/>
                                  </p:stCondLst>
                                  <p:childTnLst>
                                    <p:set>
                                      <p:cBhvr>
                                        <p:cTn id="14" dur="1" fill="hold">
                                          <p:stCondLst>
                                            <p:cond delay="499"/>
                                          </p:stCondLst>
                                        </p:cTn>
                                        <p:tgtEl>
                                          <p:spTgt spid="92174"/>
                                        </p:tgtEl>
                                        <p:attrNameLst>
                                          <p:attrName>style.visibility</p:attrName>
                                        </p:attrNameLst>
                                      </p:cBhvr>
                                      <p:to>
                                        <p:strVal val="visible"/>
                                      </p:to>
                                    </p:set>
                                  </p:childTnLst>
                                </p:cTn>
                              </p:par>
                            </p:childTnLst>
                          </p:cTn>
                        </p:par>
                        <p:par>
                          <p:cTn id="15" fill="hold" nodeType="afterGroup">
                            <p:stCondLst>
                              <p:cond delay="4500"/>
                            </p:stCondLst>
                            <p:childTnLst>
                              <p:par>
                                <p:cTn id="16" presetID="2" presetClass="entr" presetSubtype="4" fill="hold" nodeType="afterEffect">
                                  <p:stCondLst>
                                    <p:cond delay="1000"/>
                                  </p:stCondLst>
                                  <p:childTnLst>
                                    <p:set>
                                      <p:cBhvr>
                                        <p:cTn id="17" dur="1" fill="hold">
                                          <p:stCondLst>
                                            <p:cond delay="0"/>
                                          </p:stCondLst>
                                        </p:cTn>
                                        <p:tgtEl>
                                          <p:spTgt spid="92177"/>
                                        </p:tgtEl>
                                        <p:attrNameLst>
                                          <p:attrName>style.visibility</p:attrName>
                                        </p:attrNameLst>
                                      </p:cBhvr>
                                      <p:to>
                                        <p:strVal val="visible"/>
                                      </p:to>
                                    </p:set>
                                    <p:anim calcmode="lin" valueType="num">
                                      <p:cBhvr>
                                        <p:cTn id="18" dur="500" fill="hold"/>
                                        <p:tgtEl>
                                          <p:spTgt spid="92177"/>
                                        </p:tgtEl>
                                        <p:attrNameLst>
                                          <p:attrName>ppt_x</p:attrName>
                                        </p:attrNameLst>
                                      </p:cBhvr>
                                      <p:tavLst>
                                        <p:tav tm="0">
                                          <p:val>
                                            <p:strVal val="#ppt_x"/>
                                          </p:val>
                                        </p:tav>
                                        <p:tav tm="100000">
                                          <p:val>
                                            <p:strVal val="#ppt_x"/>
                                          </p:val>
                                        </p:tav>
                                      </p:tavLst>
                                    </p:anim>
                                    <p:anim calcmode="lin" valueType="num">
                                      <p:cBhvr>
                                        <p:cTn id="19" dur="500" fill="hold"/>
                                        <p:tgtEl>
                                          <p:spTgt spid="921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4" grpId="0" bldLvl="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descr="C:\Documents and Settings\Administrator\桌面\QQ截图.png"/>
          <p:cNvPicPr>
            <a:picLocks noChangeAspect="1" noChangeArrowheads="1"/>
          </p:cNvPicPr>
          <p:nvPr/>
        </p:nvPicPr>
        <p:blipFill>
          <a:blip r:embed="rId2"/>
          <a:srcRect/>
          <a:stretch>
            <a:fillRect/>
          </a:stretch>
        </p:blipFill>
        <p:spPr bwMode="auto">
          <a:xfrm>
            <a:off x="785786" y="285728"/>
            <a:ext cx="7712259" cy="5915047"/>
          </a:xfrm>
          <a:prstGeom prst="rect">
            <a:avLst/>
          </a:prstGeom>
          <a:noFill/>
        </p:spPr>
      </p:pic>
      <p:sp>
        <p:nvSpPr>
          <p:cNvPr id="6" name="灯片编号占位符 5"/>
          <p:cNvSpPr>
            <a:spLocks noGrp="1"/>
          </p:cNvSpPr>
          <p:nvPr>
            <p:ph type="sldNum" sz="quarter" idx="12"/>
          </p:nvPr>
        </p:nvSpPr>
        <p:spPr>
          <a:xfrm>
            <a:off x="6553200" y="6356350"/>
            <a:ext cx="2133600" cy="365125"/>
          </a:xfrm>
        </p:spPr>
        <p:txBody>
          <a:bodyPr/>
          <a:lstStyle/>
          <a:p>
            <a:fld id="{35191C98-5AB0-4FEE-BA3D-8ACA1F3CEC0D}" type="slidenum">
              <a:rPr lang="zh-CN" altLang="en-US"/>
              <a:pPr/>
              <a:t>92</a:t>
            </a:fld>
            <a:endParaRPr lang="zh-CN" altLang="en-US" sz="1800" dirty="0">
              <a:solidFill>
                <a:schemeClr val="tx1"/>
              </a:solidFill>
              <a:latin typeface="Arial"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6A9A9DFD-53FD-43FF-AED1-F6F74252C25D}" type="slidenum">
              <a:rPr lang="zh-CN" altLang="en-US"/>
              <a:pPr/>
              <a:t>93</a:t>
            </a:fld>
            <a:endParaRPr lang="zh-CN" altLang="en-US" sz="1800">
              <a:solidFill>
                <a:schemeClr val="tx1"/>
              </a:solidFill>
              <a:latin typeface="Arial" pitchFamily="34" charset="0"/>
            </a:endParaRPr>
          </a:p>
        </p:txBody>
      </p:sp>
      <p:sp>
        <p:nvSpPr>
          <p:cNvPr id="9318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318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大直径电涡流探雷器 </a:t>
            </a:r>
            <a:endParaRPr lang="zh-CN" altLang="en-US"/>
          </a:p>
        </p:txBody>
      </p:sp>
      <p:pic>
        <p:nvPicPr>
          <p:cNvPr id="93188" name="Picture 14" descr="电涡流探累器"/>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295400"/>
            <a:ext cx="7239000" cy="50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5FFB0BB-E4C9-4B36-AABA-14162F32F8CC}" type="slidenum">
              <a:rPr lang="zh-CN" altLang="en-US"/>
              <a:pPr/>
              <a:t>94</a:t>
            </a:fld>
            <a:endParaRPr lang="zh-CN" altLang="en-US" sz="1800">
              <a:solidFill>
                <a:schemeClr val="tx1"/>
              </a:solidFill>
              <a:latin typeface="Arial" pitchFamily="34" charset="0"/>
            </a:endParaRPr>
          </a:p>
        </p:txBody>
      </p:sp>
      <p:sp>
        <p:nvSpPr>
          <p:cNvPr id="9421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4211"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机械结构的几何参数检测</a:t>
            </a:r>
            <a:endParaRPr lang="zh-CN" altLang="en-US"/>
          </a:p>
        </p:txBody>
      </p:sp>
      <p:sp>
        <p:nvSpPr>
          <p:cNvPr id="94212" name="文本框 1"/>
          <p:cNvSpPr>
            <a:spLocks noChangeArrowheads="1"/>
          </p:cNvSpPr>
          <p:nvPr/>
        </p:nvSpPr>
        <p:spPr bwMode="auto">
          <a:xfrm>
            <a:off x="550863" y="1341438"/>
            <a:ext cx="747077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400">
                <a:latin typeface="楷体_GB2312" pitchFamily="49" charset="-122"/>
                <a:ea typeface="楷体_GB2312" pitchFamily="49" charset="-122"/>
                <a:sym typeface="楷体_GB2312" pitchFamily="49" charset="-122"/>
              </a:rPr>
              <a:t>例如可以测出用手动螺纹量规可测的所有几何参数</a:t>
            </a:r>
            <a:r>
              <a:rPr lang="en-US" sz="2400">
                <a:latin typeface="楷体_GB2312" pitchFamily="49" charset="-122"/>
                <a:ea typeface="楷体_GB2312" pitchFamily="49" charset="-122"/>
                <a:sym typeface="楷体_GB2312" pitchFamily="49" charset="-122"/>
              </a:rPr>
              <a:t>(</a:t>
            </a:r>
            <a:r>
              <a:rPr lang="zh-CN" altLang="en-US" sz="2400">
                <a:latin typeface="楷体_GB2312" pitchFamily="49" charset="-122"/>
                <a:ea typeface="楷体_GB2312" pitchFamily="49" charset="-122"/>
                <a:sym typeface="楷体_GB2312" pitchFamily="49" charset="-122"/>
              </a:rPr>
              <a:t>如螺纹的大径、小径和中径等</a:t>
            </a:r>
            <a:r>
              <a:rPr lang="en-US" sz="2400">
                <a:latin typeface="楷体_GB2312" pitchFamily="49" charset="-122"/>
                <a:ea typeface="楷体_GB2312" pitchFamily="49" charset="-122"/>
                <a:sym typeface="楷体_GB2312" pitchFamily="49" charset="-122"/>
              </a:rPr>
              <a:t>)</a:t>
            </a:r>
            <a:r>
              <a:rPr lang="zh-CN" altLang="en-US" sz="2400">
                <a:latin typeface="楷体_GB2312" pitchFamily="49" charset="-122"/>
                <a:ea typeface="楷体_GB2312" pitchFamily="49" charset="-122"/>
                <a:sym typeface="楷体_GB2312" pitchFamily="49" charset="-122"/>
              </a:rPr>
              <a:t>，还可以检测螺纹表面粗糙度和螺纹深度。</a:t>
            </a:r>
          </a:p>
          <a:p>
            <a:pPr eaLnBrk="1" hangingPunct="1"/>
            <a:endParaRPr lang="zh-CN" altLang="en-US">
              <a:sym typeface="Arial" pitchFamily="34" charset="0"/>
            </a:endParaRPr>
          </a:p>
        </p:txBody>
      </p:sp>
      <p:pic>
        <p:nvPicPr>
          <p:cNvPr id="94213"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2565400"/>
            <a:ext cx="4359275" cy="387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5FFB0BB-E4C9-4B36-AABA-14162F32F8CC}" type="slidenum">
              <a:rPr lang="zh-CN" altLang="en-US"/>
              <a:pPr/>
              <a:t>95</a:t>
            </a:fld>
            <a:endParaRPr lang="zh-CN" altLang="en-US" sz="1800">
              <a:solidFill>
                <a:schemeClr val="tx1"/>
              </a:solidFill>
              <a:latin typeface="Arial" pitchFamily="34" charset="0"/>
            </a:endParaRPr>
          </a:p>
        </p:txBody>
      </p:sp>
      <p:sp>
        <p:nvSpPr>
          <p:cNvPr id="94211" name="TextBox 5"/>
          <p:cNvSpPr>
            <a:spLocks noChangeArrowheads="1"/>
          </p:cNvSpPr>
          <p:nvPr/>
        </p:nvSpPr>
        <p:spPr bwMode="auto">
          <a:xfrm>
            <a:off x="1673267" y="4077045"/>
            <a:ext cx="5797465" cy="1384995"/>
          </a:xfrm>
          <a:prstGeom prst="rect">
            <a:avLst/>
          </a:prstGeom>
          <a:solidFill>
            <a:schemeClr val="bg1">
              <a:lumMod val="95000"/>
            </a:schemeClr>
          </a:solidFill>
          <a:ln>
            <a:noFill/>
          </a:ln>
          <a:extLst/>
        </p:spPr>
        <p:txBody>
          <a:bodyPr wrap="square">
            <a:spAutoFit/>
          </a:bodyPr>
          <a:lstStyle/>
          <a:p>
            <a:pPr eaLnBrk="1" hangingPunct="1"/>
            <a:r>
              <a:rPr lang="zh-CN" altLang="en-US" sz="2800" b="1" dirty="0">
                <a:solidFill>
                  <a:schemeClr val="bg1">
                    <a:lumMod val="85000"/>
                  </a:schemeClr>
                </a:solidFill>
                <a:latin typeface="Calibri" pitchFamily="34" charset="0"/>
              </a:rPr>
              <a:t>作业</a:t>
            </a:r>
            <a:r>
              <a:rPr lang="en-US" altLang="zh-CN" sz="2800" b="1" dirty="0">
                <a:solidFill>
                  <a:schemeClr val="bg1">
                    <a:lumMod val="85000"/>
                  </a:schemeClr>
                </a:solidFill>
                <a:latin typeface="Calibri" pitchFamily="34" charset="0"/>
              </a:rPr>
              <a:t>2</a:t>
            </a:r>
            <a:r>
              <a:rPr lang="zh-CN" altLang="en-US" sz="2800" b="1" dirty="0">
                <a:solidFill>
                  <a:schemeClr val="bg1">
                    <a:lumMod val="85000"/>
                  </a:schemeClr>
                </a:solidFill>
                <a:latin typeface="Calibri" pitchFamily="34" charset="0"/>
              </a:rPr>
              <a:t>：</a:t>
            </a:r>
            <a:endParaRPr lang="en-US" altLang="zh-CN" sz="2800" b="1" dirty="0">
              <a:solidFill>
                <a:schemeClr val="bg1">
                  <a:lumMod val="85000"/>
                </a:schemeClr>
              </a:solidFill>
              <a:latin typeface="Calibri" pitchFamily="34" charset="0"/>
            </a:endParaRPr>
          </a:p>
          <a:p>
            <a:pPr eaLnBrk="1" hangingPunct="1"/>
            <a:r>
              <a:rPr lang="en-US" altLang="zh-CN" sz="2800" b="1" dirty="0">
                <a:solidFill>
                  <a:schemeClr val="bg1">
                    <a:lumMod val="85000"/>
                  </a:schemeClr>
                </a:solidFill>
                <a:latin typeface="Calibri" pitchFamily="34" charset="0"/>
              </a:rPr>
              <a:t>4-6</a:t>
            </a:r>
            <a:r>
              <a:rPr lang="zh-CN" altLang="en-US" sz="2800" b="1" dirty="0">
                <a:solidFill>
                  <a:schemeClr val="bg1">
                    <a:lumMod val="85000"/>
                  </a:schemeClr>
                </a:solidFill>
                <a:latin typeface="Calibri" pitchFamily="34" charset="0"/>
              </a:rPr>
              <a:t>（</a:t>
            </a:r>
            <a:r>
              <a:rPr lang="en-US" altLang="zh-CN" sz="2800" b="1" dirty="0">
                <a:solidFill>
                  <a:schemeClr val="bg1">
                    <a:lumMod val="85000"/>
                  </a:schemeClr>
                </a:solidFill>
                <a:latin typeface="Calibri" pitchFamily="34" charset="0"/>
              </a:rPr>
              <a:t>(1)</a:t>
            </a:r>
            <a:r>
              <a:rPr lang="zh-CN" altLang="en-US" sz="2800" b="1" dirty="0">
                <a:solidFill>
                  <a:schemeClr val="bg1">
                    <a:lumMod val="85000"/>
                  </a:schemeClr>
                </a:solidFill>
                <a:latin typeface="Calibri" pitchFamily="34" charset="0"/>
              </a:rPr>
              <a:t>电压频率</a:t>
            </a:r>
            <a:r>
              <a:rPr lang="en-US" altLang="zh-CN" sz="2800" b="1" dirty="0">
                <a:solidFill>
                  <a:schemeClr val="bg1">
                    <a:lumMod val="85000"/>
                  </a:schemeClr>
                </a:solidFill>
                <a:latin typeface="Calibri" pitchFamily="34" charset="0"/>
              </a:rPr>
              <a:t>f=400Hz</a:t>
            </a:r>
            <a:r>
              <a:rPr lang="zh-CN" altLang="en-US" sz="2800" b="1" dirty="0">
                <a:solidFill>
                  <a:schemeClr val="bg1">
                    <a:lumMod val="85000"/>
                  </a:schemeClr>
                </a:solidFill>
                <a:latin typeface="Calibri" pitchFamily="34" charset="0"/>
              </a:rPr>
              <a:t>）</a:t>
            </a:r>
            <a:r>
              <a:rPr lang="en-US" altLang="zh-CN" sz="2800" b="1" dirty="0">
                <a:solidFill>
                  <a:schemeClr val="bg1">
                    <a:lumMod val="85000"/>
                  </a:schemeClr>
                </a:solidFill>
                <a:latin typeface="Calibri" pitchFamily="34" charset="0"/>
              </a:rPr>
              <a:t>,</a:t>
            </a:r>
          </a:p>
          <a:p>
            <a:pPr eaLnBrk="1" hangingPunct="1"/>
            <a:r>
              <a:rPr lang="en-US" altLang="zh-CN" sz="2800" b="1" dirty="0">
                <a:solidFill>
                  <a:schemeClr val="bg1">
                    <a:lumMod val="85000"/>
                  </a:schemeClr>
                </a:solidFill>
                <a:latin typeface="Calibri" pitchFamily="34" charset="0"/>
              </a:rPr>
              <a:t>4-11, 4-12</a:t>
            </a:r>
            <a:endParaRPr lang="zh-CN" altLang="en-US" sz="2800" dirty="0">
              <a:solidFill>
                <a:schemeClr val="bg1">
                  <a:lumMod val="85000"/>
                </a:schemeClr>
              </a:solidFill>
            </a:endParaRPr>
          </a:p>
        </p:txBody>
      </p:sp>
      <p:sp>
        <p:nvSpPr>
          <p:cNvPr id="4" name="Text Box 19"/>
          <p:cNvSpPr txBox="1">
            <a:spLocks noChangeArrowheads="1"/>
          </p:cNvSpPr>
          <p:nvPr/>
        </p:nvSpPr>
        <p:spPr bwMode="auto">
          <a:xfrm>
            <a:off x="1414462" y="1988900"/>
            <a:ext cx="72723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50000"/>
              </a:spcBef>
              <a:buFont typeface="Arial" panose="020B0604020202020204" pitchFamily="34" charset="0"/>
              <a:buNone/>
            </a:pPr>
            <a:r>
              <a:rPr lang="zh-CN" altLang="en-US" sz="2800" dirty="0">
                <a:latin typeface="Arial" panose="020B0604020202020204" pitchFamily="34" charset="0"/>
              </a:rPr>
              <a:t>作业：</a:t>
            </a:r>
            <a:r>
              <a:rPr lang="en-US" altLang="zh-CN" sz="2800" dirty="0">
                <a:solidFill>
                  <a:srgbClr val="002060"/>
                </a:solidFill>
                <a:latin typeface="Arial" panose="020B0604020202020204" pitchFamily="34" charset="0"/>
              </a:rPr>
              <a:t>5-2</a:t>
            </a:r>
            <a:r>
              <a:rPr lang="zh-CN" altLang="en-US" sz="2800" dirty="0">
                <a:solidFill>
                  <a:srgbClr val="002060"/>
                </a:solidFill>
                <a:latin typeface="Arial" panose="020B0604020202020204" pitchFamily="34" charset="0"/>
              </a:rPr>
              <a:t>，</a:t>
            </a:r>
            <a:r>
              <a:rPr lang="en-US" altLang="zh-CN" sz="2800" dirty="0">
                <a:solidFill>
                  <a:srgbClr val="002060"/>
                </a:solidFill>
                <a:latin typeface="Arial" panose="020B0604020202020204" pitchFamily="34" charset="0"/>
              </a:rPr>
              <a:t>5-3</a:t>
            </a:r>
            <a:r>
              <a:rPr lang="zh-CN" altLang="en-US" sz="2800" dirty="0">
                <a:solidFill>
                  <a:srgbClr val="002060"/>
                </a:solidFill>
                <a:latin typeface="Arial" panose="020B0604020202020204" pitchFamily="34" charset="0"/>
              </a:rPr>
              <a:t>，</a:t>
            </a:r>
            <a:r>
              <a:rPr lang="en-US" altLang="zh-CN" sz="2800" dirty="0">
                <a:solidFill>
                  <a:srgbClr val="002060"/>
                </a:solidFill>
                <a:latin typeface="Arial" panose="020B0604020202020204" pitchFamily="34" charset="0"/>
              </a:rPr>
              <a:t>5-9</a:t>
            </a:r>
            <a:r>
              <a:rPr lang="zh-CN" altLang="en-US" sz="2800" dirty="0">
                <a:solidFill>
                  <a:srgbClr val="002060"/>
                </a:solidFill>
                <a:latin typeface="Arial" panose="020B0604020202020204" pitchFamily="34" charset="0"/>
              </a:rPr>
              <a:t>，</a:t>
            </a:r>
            <a:r>
              <a:rPr lang="en-US" altLang="zh-CN" sz="2800" dirty="0">
                <a:solidFill>
                  <a:srgbClr val="002060"/>
                </a:solidFill>
                <a:latin typeface="Arial" panose="020B0604020202020204" pitchFamily="34" charset="0"/>
              </a:rPr>
              <a:t>5-10</a:t>
            </a:r>
          </a:p>
        </p:txBody>
      </p:sp>
    </p:spTree>
    <p:extLst>
      <p:ext uri="{BB962C8B-B14F-4D97-AF65-F5344CB8AC3E}">
        <p14:creationId xmlns:p14="http://schemas.microsoft.com/office/powerpoint/2010/main" val="1167518713"/>
      </p:ext>
    </p:extLst>
  </p:cSld>
  <p:clrMapOvr>
    <a:masterClrMapping/>
  </p:clrMapOvr>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8874</TotalTime>
  <Pages>0</Pages>
  <Words>4856</Words>
  <Characters>0</Characters>
  <Application>Microsoft Office PowerPoint</Application>
  <DocSecurity>0</DocSecurity>
  <PresentationFormat>全屏显示(4:3)</PresentationFormat>
  <Lines>0</Lines>
  <Paragraphs>607</Paragraphs>
  <Slides>95</Slides>
  <Notes>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95</vt:i4>
      </vt:variant>
    </vt:vector>
  </HeadingPairs>
  <TitlesOfParts>
    <vt:vector size="116" baseType="lpstr">
      <vt:lpstr>PingFang SC</vt:lpstr>
      <vt:lpstr>黑体</vt:lpstr>
      <vt:lpstr>华文琥珀</vt:lpstr>
      <vt:lpstr>华文新魏</vt:lpstr>
      <vt:lpstr>华文中宋</vt:lpstr>
      <vt:lpstr>楷体_GB2312</vt:lpstr>
      <vt:lpstr>宋体</vt:lpstr>
      <vt:lpstr>幼圆</vt:lpstr>
      <vt:lpstr>Arial</vt:lpstr>
      <vt:lpstr>Arial Black</vt:lpstr>
      <vt:lpstr>Calibri</vt:lpstr>
      <vt:lpstr>Cambria Math</vt:lpstr>
      <vt:lpstr>Symbol</vt:lpstr>
      <vt:lpstr>Times New Roman</vt:lpstr>
      <vt:lpstr>Wingdings</vt:lpstr>
      <vt:lpstr>Office 主题</vt:lpstr>
      <vt:lpstr>Equation</vt:lpstr>
      <vt:lpstr>Visio</vt:lpstr>
      <vt:lpstr>Microsoft Visio 2003-2010 Drawing</vt:lpstr>
      <vt:lpstr>Equation.3</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HUST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微软用户</dc:creator>
  <cp:keywords/>
  <dc:description/>
  <cp:lastModifiedBy>Hong Zhang</cp:lastModifiedBy>
  <cp:revision>229</cp:revision>
  <dcterms:created xsi:type="dcterms:W3CDTF">2015-06-15T07:49:00Z</dcterms:created>
  <dcterms:modified xsi:type="dcterms:W3CDTF">2024-09-23T05:01:23Z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2052-9.1.0.5184</vt:lpwstr>
  </property>
</Properties>
</file>
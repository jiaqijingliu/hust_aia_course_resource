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4660"/>
  </p:normalViewPr>
  <p:slideViewPr>
    <p:cSldViewPr snapToGrid="0">
      <p:cViewPr varScale="1">
        <p:scale>
          <a:sx n="92" d="100"/>
          <a:sy n="92" d="100"/>
        </p:scale>
        <p:origin x="66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73A6-474B-47A6-A49E-2C5DE4EED4B3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34C19-029A-47D1-93CC-031CCD3C91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831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07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880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70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285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8792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1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932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9719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78A372-478D-40C1-BEE5-69F4F796371D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18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125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4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04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50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965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1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479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20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596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932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477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C2F7A-2A7F-4601-9DB3-5F9D3AF9F48A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A3DC5-B324-4946-A7E6-06BC89A4E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59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4627" y="1035029"/>
            <a:ext cx="11009167" cy="6309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3200" b="1" dirty="0" smtClean="0">
                <a:solidFill>
                  <a:srgbClr val="0000FF"/>
                </a:solidFill>
              </a:rPr>
              <a:t>第一次课：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电阻类</a:t>
            </a:r>
            <a:r>
              <a:rPr lang="zh-CN" altLang="en-US" sz="3200" b="1" dirty="0" smtClean="0">
                <a:solidFill>
                  <a:srgbClr val="0000FF"/>
                </a:solidFill>
              </a:rPr>
              <a:t>传感器</a:t>
            </a:r>
            <a:r>
              <a:rPr lang="en-US" altLang="zh-CN" sz="3200" b="1" dirty="0" smtClean="0">
                <a:solidFill>
                  <a:srgbClr val="0000FF"/>
                </a:solidFill>
              </a:rPr>
              <a:t>-</a:t>
            </a:r>
            <a:r>
              <a:rPr lang="zh-CN" altLang="zh-CN" sz="3200" b="1" dirty="0" smtClean="0">
                <a:solidFill>
                  <a:srgbClr val="0000FF"/>
                </a:solidFill>
              </a:rPr>
              <a:t>金属</a:t>
            </a:r>
            <a:r>
              <a:rPr lang="zh-CN" altLang="zh-CN" sz="3200" b="1" dirty="0">
                <a:solidFill>
                  <a:srgbClr val="0000FF"/>
                </a:solidFill>
              </a:rPr>
              <a:t>箔式</a:t>
            </a:r>
            <a:r>
              <a:rPr lang="zh-CN" altLang="zh-CN" sz="3200" b="1" dirty="0">
                <a:solidFill>
                  <a:srgbClr val="FF0000"/>
                </a:solidFill>
              </a:rPr>
              <a:t>应变</a:t>
            </a:r>
            <a:r>
              <a:rPr lang="zh-CN" altLang="zh-CN" sz="3200" b="1" dirty="0" smtClean="0">
                <a:solidFill>
                  <a:srgbClr val="FF0000"/>
                </a:solidFill>
              </a:rPr>
              <a:t>片</a:t>
            </a:r>
            <a:r>
              <a:rPr lang="zh-CN" altLang="zh-CN" sz="3200" b="1" u="sng" dirty="0" smtClean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</a:rPr>
              <a:t>重量</a:t>
            </a:r>
            <a:r>
              <a:rPr lang="zh-CN" altLang="zh-CN" sz="3200" b="1" u="sng" dirty="0">
                <a:solidFill>
                  <a:srgbClr val="0000FF"/>
                </a:solidFill>
                <a:uFill>
                  <a:solidFill>
                    <a:srgbClr val="FF0000"/>
                  </a:solidFill>
                </a:uFill>
              </a:rPr>
              <a:t>测量</a:t>
            </a:r>
            <a:r>
              <a:rPr lang="zh-CN" altLang="zh-CN" sz="3200" b="1" dirty="0">
                <a:solidFill>
                  <a:srgbClr val="0000FF"/>
                </a:solidFill>
              </a:rPr>
              <a:t>实验</a:t>
            </a:r>
            <a:endParaRPr lang="en-US" altLang="zh-CN" sz="3200" dirty="0">
              <a:solidFill>
                <a:srgbClr val="0000FF"/>
              </a:solidFill>
            </a:endParaRPr>
          </a:p>
          <a:p>
            <a:endParaRPr lang="en-US" altLang="zh-CN" sz="2400" b="1" dirty="0" smtClean="0"/>
          </a:p>
          <a:p>
            <a:endParaRPr lang="en-US" altLang="zh-CN" sz="2400" b="1" dirty="0" smtClean="0"/>
          </a:p>
          <a:p>
            <a:r>
              <a:rPr lang="zh-CN" altLang="en-US" sz="2400" b="1" dirty="0"/>
              <a:t>实验</a:t>
            </a:r>
            <a:r>
              <a:rPr lang="zh-CN" altLang="zh-CN" sz="2400" b="1" dirty="0"/>
              <a:t>目的：</a:t>
            </a:r>
            <a:endParaRPr lang="en-US" altLang="zh-CN" sz="2400" b="1" dirty="0"/>
          </a:p>
          <a:p>
            <a:endParaRPr lang="en-US" altLang="zh-CN" sz="2000" dirty="0" smtClean="0"/>
          </a:p>
          <a:p>
            <a:r>
              <a:rPr lang="en-US" altLang="zh-CN" sz="2000" dirty="0" smtClean="0"/>
              <a:t>1-</a:t>
            </a:r>
            <a:r>
              <a:rPr lang="zh-CN" altLang="zh-CN" sz="2000" dirty="0"/>
              <a:t>了解金属箔式应变片的</a:t>
            </a:r>
            <a:r>
              <a:rPr lang="zh-CN" altLang="zh-CN" sz="2000" b="1" dirty="0">
                <a:solidFill>
                  <a:srgbClr val="FF0000"/>
                </a:solidFill>
              </a:rPr>
              <a:t>结构</a:t>
            </a:r>
            <a:r>
              <a:rPr lang="zh-CN" altLang="zh-CN" sz="2000" dirty="0"/>
              <a:t>  </a:t>
            </a:r>
            <a:r>
              <a:rPr lang="zh-CN" altLang="zh-CN" sz="2000" dirty="0" smtClean="0"/>
              <a:t>（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观察</a:t>
            </a:r>
            <a:r>
              <a:rPr lang="zh-CN" altLang="zh-CN" sz="2000" dirty="0"/>
              <a:t>）</a:t>
            </a:r>
            <a:endParaRPr lang="en-US" altLang="zh-CN" sz="2000" dirty="0"/>
          </a:p>
          <a:p>
            <a:r>
              <a:rPr lang="en-US" altLang="zh-CN" sz="2000" dirty="0"/>
              <a:t>2- </a:t>
            </a:r>
            <a:r>
              <a:rPr lang="zh-CN" altLang="zh-CN" sz="2000" dirty="0"/>
              <a:t>掌握电阻类传感器（如金属箔式应变片）的</a:t>
            </a:r>
            <a:r>
              <a:rPr lang="zh-CN" altLang="zh-CN" sz="2000" b="1" dirty="0">
                <a:solidFill>
                  <a:srgbClr val="FF0000"/>
                </a:solidFill>
              </a:rPr>
              <a:t>工作原理</a:t>
            </a:r>
            <a:r>
              <a:rPr lang="zh-CN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  </a:t>
            </a:r>
            <a:r>
              <a:rPr lang="zh-CN" altLang="zh-CN" sz="2000" dirty="0"/>
              <a:t>（</a:t>
            </a:r>
            <a:r>
              <a:rPr lang="en-US" altLang="zh-CN" sz="2000" dirty="0"/>
              <a:t>-</a:t>
            </a:r>
            <a:r>
              <a:rPr lang="zh-CN" altLang="zh-CN" sz="2000" dirty="0"/>
              <a:t>电阻应变效应）</a:t>
            </a:r>
            <a:endParaRPr lang="en-US" altLang="zh-CN" sz="2000" dirty="0"/>
          </a:p>
          <a:p>
            <a:r>
              <a:rPr lang="en-US" altLang="zh-CN" sz="2000" dirty="0"/>
              <a:t>3- </a:t>
            </a:r>
            <a:r>
              <a:rPr lang="zh-CN" altLang="zh-CN" sz="2000" dirty="0"/>
              <a:t>掌握应变片单臂、半桥及全桥的</a:t>
            </a:r>
            <a:r>
              <a:rPr lang="zh-CN" altLang="zh-CN" sz="2000" b="1" dirty="0">
                <a:solidFill>
                  <a:srgbClr val="FF0000"/>
                </a:solidFill>
              </a:rPr>
              <a:t>接法</a:t>
            </a:r>
            <a:r>
              <a:rPr lang="zh-CN" altLang="zh-CN" sz="2000" dirty="0"/>
              <a:t>和各自</a:t>
            </a:r>
            <a:r>
              <a:rPr lang="zh-CN" altLang="zh-CN" sz="2000" b="1" dirty="0">
                <a:solidFill>
                  <a:srgbClr val="FF0000"/>
                </a:solidFill>
              </a:rPr>
              <a:t>性能特征</a:t>
            </a:r>
            <a:r>
              <a:rPr lang="zh-CN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  </a:t>
            </a:r>
            <a:r>
              <a:rPr lang="zh-CN" altLang="zh-CN" sz="2000" dirty="0" smtClean="0"/>
              <a:t>（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三</a:t>
            </a:r>
            <a:r>
              <a:rPr lang="zh-CN" altLang="zh-CN" sz="2000" dirty="0"/>
              <a:t>组数据，课后数据分析）</a:t>
            </a:r>
            <a:endParaRPr lang="en-US" altLang="zh-CN" sz="2000" dirty="0"/>
          </a:p>
          <a:p>
            <a:r>
              <a:rPr lang="en-US" altLang="zh-CN" sz="2000" dirty="0"/>
              <a:t>4- </a:t>
            </a:r>
            <a:r>
              <a:rPr lang="zh-CN" altLang="zh-CN" sz="2000" dirty="0"/>
              <a:t>了解箔式应变片传感器的</a:t>
            </a:r>
            <a:r>
              <a:rPr lang="zh-CN" altLang="zh-CN" sz="2000" b="1" dirty="0">
                <a:solidFill>
                  <a:srgbClr val="FF0000"/>
                </a:solidFill>
              </a:rPr>
              <a:t>标定过程</a:t>
            </a:r>
            <a:r>
              <a:rPr lang="zh-CN" altLang="zh-CN" sz="2000" dirty="0">
                <a:solidFill>
                  <a:srgbClr val="FF0000"/>
                </a:solidFill>
              </a:rPr>
              <a:t>  </a:t>
            </a:r>
            <a:r>
              <a:rPr lang="zh-CN" altLang="zh-CN" sz="2000" dirty="0" smtClean="0"/>
              <a:t>（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三次</a:t>
            </a:r>
            <a:r>
              <a:rPr lang="zh-CN" altLang="en-US" sz="2000" dirty="0" smtClean="0"/>
              <a:t>正反行程</a:t>
            </a:r>
            <a:r>
              <a:rPr lang="zh-CN" altLang="zh-CN" sz="2000" dirty="0" smtClean="0"/>
              <a:t>数据</a:t>
            </a:r>
            <a:r>
              <a:rPr lang="zh-CN" altLang="zh-CN" sz="2000" dirty="0"/>
              <a:t>）</a:t>
            </a:r>
            <a:endParaRPr lang="en-US" altLang="zh-CN" sz="2000" dirty="0"/>
          </a:p>
          <a:p>
            <a:r>
              <a:rPr lang="en-US" altLang="zh-CN" sz="2000" dirty="0"/>
              <a:t>5- </a:t>
            </a:r>
            <a:r>
              <a:rPr lang="zh-CN" altLang="zh-CN" sz="2000" b="1" dirty="0">
                <a:solidFill>
                  <a:srgbClr val="0000FF"/>
                </a:solidFill>
              </a:rPr>
              <a:t>测量手机重量</a:t>
            </a:r>
            <a:r>
              <a:rPr lang="zh-CN" altLang="zh-CN" sz="2000" dirty="0">
                <a:solidFill>
                  <a:srgbClr val="0000FF"/>
                </a:solidFill>
              </a:rPr>
              <a:t>  </a:t>
            </a:r>
            <a:r>
              <a:rPr lang="zh-CN" altLang="zh-CN" sz="2000" dirty="0" smtClean="0"/>
              <a:t>（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得到</a:t>
            </a:r>
            <a:r>
              <a:rPr lang="zh-CN" altLang="zh-CN" sz="2000" dirty="0"/>
              <a:t>手机重量数据）</a:t>
            </a:r>
            <a:endParaRPr lang="en-US" altLang="zh-CN" sz="2000" b="1" dirty="0"/>
          </a:p>
          <a:p>
            <a:endParaRPr lang="en-US" altLang="zh-CN" sz="2400" b="1" dirty="0" smtClean="0"/>
          </a:p>
          <a:p>
            <a:r>
              <a:rPr lang="zh-CN" altLang="zh-CN" sz="2400" b="1" dirty="0" smtClean="0"/>
              <a:t>实验</a:t>
            </a:r>
            <a:r>
              <a:rPr lang="zh-CN" altLang="zh-CN" sz="2400" b="1" dirty="0"/>
              <a:t>操作步骤：</a:t>
            </a:r>
            <a:endParaRPr lang="en-US" altLang="zh-CN" sz="2400" dirty="0"/>
          </a:p>
          <a:p>
            <a:r>
              <a:rPr lang="zh-CN" altLang="zh-CN" sz="2000" dirty="0"/>
              <a:t>参照《传感技术实验指导书》</a:t>
            </a:r>
          </a:p>
          <a:p>
            <a:pPr>
              <a:lnSpc>
                <a:spcPct val="150000"/>
              </a:lnSpc>
            </a:pPr>
            <a:endParaRPr lang="en-US" altLang="zh-CN" sz="24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4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9823" y="1383124"/>
            <a:ext cx="11009167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 smtClean="0">
                <a:solidFill>
                  <a:srgbClr val="0000FF"/>
                </a:solidFill>
              </a:rPr>
              <a:t>实验</a:t>
            </a:r>
            <a:r>
              <a:rPr lang="zh-CN" altLang="zh-CN" sz="2400" b="1" dirty="0">
                <a:solidFill>
                  <a:srgbClr val="0000FF"/>
                </a:solidFill>
              </a:rPr>
              <a:t>具体要做的事情：五组数据（现场完成）及数据分析和实验报告（课后完成）</a:t>
            </a:r>
          </a:p>
          <a:p>
            <a:endParaRPr lang="en-US" altLang="zh-CN" sz="2000" dirty="0" smtClean="0"/>
          </a:p>
          <a:p>
            <a:endParaRPr lang="en-US" altLang="zh-CN" sz="2000" dirty="0" smtClean="0"/>
          </a:p>
          <a:p>
            <a:r>
              <a:rPr lang="en-US" altLang="zh-CN" sz="2000" b="1" dirty="0" smtClean="0"/>
              <a:t>1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金属</a:t>
            </a:r>
            <a:r>
              <a:rPr lang="zh-CN" altLang="zh-CN" sz="2000" dirty="0"/>
              <a:t>箔式应变片——</a:t>
            </a:r>
            <a:r>
              <a:rPr lang="zh-CN" altLang="zh-CN" sz="2000" b="1" dirty="0">
                <a:solidFill>
                  <a:srgbClr val="FF0000"/>
                </a:solidFill>
              </a:rPr>
              <a:t>单臂电桥</a:t>
            </a:r>
            <a:r>
              <a:rPr lang="zh-CN" altLang="zh-CN" sz="2000" dirty="0"/>
              <a:t>性能实验  </a:t>
            </a:r>
            <a:r>
              <a:rPr lang="en-US" altLang="zh-CN" sz="2000" dirty="0"/>
              <a:t>      </a:t>
            </a:r>
            <a:r>
              <a:rPr lang="en-US" altLang="zh-CN" sz="2000" dirty="0" smtClean="0"/>
              <a:t>          </a:t>
            </a:r>
          </a:p>
          <a:p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en-US" altLang="zh-CN" sz="2000" dirty="0" smtClean="0">
                <a:sym typeface="Wingdings" panose="05000000000000000000" pitchFamily="2" charset="2"/>
              </a:rPr>
              <a:t>                                    </a:t>
            </a:r>
            <a:r>
              <a:rPr lang="en-US" altLang="zh-CN" sz="2000" dirty="0" smtClean="0"/>
              <a:t>  </a:t>
            </a:r>
            <a:r>
              <a:rPr lang="zh-CN" altLang="zh-CN" sz="2000" dirty="0"/>
              <a:t>（应变片单臂电桥）一组数据 </a:t>
            </a:r>
          </a:p>
          <a:p>
            <a:r>
              <a:rPr lang="en-US" altLang="zh-CN" sz="2000" b="1" dirty="0" smtClean="0"/>
              <a:t>2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金属</a:t>
            </a:r>
            <a:r>
              <a:rPr lang="zh-CN" altLang="zh-CN" sz="2000" dirty="0"/>
              <a:t>箔式应变片——</a:t>
            </a:r>
            <a:r>
              <a:rPr lang="zh-CN" altLang="zh-CN" sz="2000" b="1" dirty="0">
                <a:solidFill>
                  <a:srgbClr val="FF0000"/>
                </a:solidFill>
              </a:rPr>
              <a:t>半桥</a:t>
            </a:r>
            <a:r>
              <a:rPr lang="zh-CN" altLang="zh-CN" sz="2000" dirty="0"/>
              <a:t>性能实验</a:t>
            </a:r>
            <a:r>
              <a:rPr lang="zh-CN" altLang="zh-CN" sz="2000" b="1" dirty="0"/>
              <a:t> </a:t>
            </a:r>
            <a:r>
              <a:rPr lang="en-US" altLang="zh-CN" sz="2000" dirty="0"/>
              <a:t>              </a:t>
            </a:r>
            <a:r>
              <a:rPr lang="en-US" altLang="zh-CN" sz="2000" dirty="0" smtClean="0"/>
              <a:t>          </a:t>
            </a:r>
          </a:p>
          <a:p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en-US" altLang="zh-CN" sz="2000" dirty="0" smtClean="0">
                <a:sym typeface="Wingdings" panose="05000000000000000000" pitchFamily="2" charset="2"/>
              </a:rPr>
              <a:t>                                    </a:t>
            </a:r>
            <a:r>
              <a:rPr lang="en-US" altLang="zh-CN" sz="2000" dirty="0" smtClean="0"/>
              <a:t>  </a:t>
            </a:r>
            <a:r>
              <a:rPr lang="zh-CN" altLang="zh-CN" sz="2000" dirty="0"/>
              <a:t>（应变片半桥）一组数据</a:t>
            </a:r>
          </a:p>
          <a:p>
            <a:r>
              <a:rPr lang="en-US" altLang="zh-CN" sz="2000" b="1" dirty="0" smtClean="0"/>
              <a:t>3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金属</a:t>
            </a:r>
            <a:r>
              <a:rPr lang="zh-CN" altLang="zh-CN" sz="2000" dirty="0"/>
              <a:t>箔式应变片——</a:t>
            </a:r>
            <a:r>
              <a:rPr lang="zh-CN" altLang="zh-CN" sz="2000" b="1" dirty="0">
                <a:solidFill>
                  <a:srgbClr val="FF0000"/>
                </a:solidFill>
              </a:rPr>
              <a:t>全桥</a:t>
            </a:r>
            <a:r>
              <a:rPr lang="zh-CN" altLang="zh-CN" sz="2000" dirty="0"/>
              <a:t>性能实验 </a:t>
            </a:r>
            <a:r>
              <a:rPr lang="en-US" altLang="zh-CN" sz="2000" dirty="0"/>
              <a:t>               </a:t>
            </a:r>
            <a:r>
              <a:rPr lang="en-US" altLang="zh-CN" sz="2000" dirty="0" smtClean="0"/>
              <a:t>         </a:t>
            </a:r>
          </a:p>
          <a:p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en-US" altLang="zh-CN" sz="2000" dirty="0" smtClean="0">
                <a:sym typeface="Wingdings" panose="05000000000000000000" pitchFamily="2" charset="2"/>
              </a:rPr>
              <a:t>                                    </a:t>
            </a:r>
            <a:r>
              <a:rPr lang="en-US" altLang="zh-CN" sz="2000" dirty="0" smtClean="0"/>
              <a:t>  </a:t>
            </a:r>
            <a:r>
              <a:rPr lang="zh-CN" altLang="zh-CN" sz="2000" dirty="0"/>
              <a:t>（应变片全桥）一组数据</a:t>
            </a:r>
          </a:p>
          <a:p>
            <a:r>
              <a:rPr lang="en-US" altLang="zh-CN" sz="2000" b="1" dirty="0" smtClean="0"/>
              <a:t>4-</a:t>
            </a:r>
            <a:r>
              <a:rPr lang="zh-CN" altLang="zh-CN" sz="2000" dirty="0" smtClean="0"/>
              <a:t>金属</a:t>
            </a:r>
            <a:r>
              <a:rPr lang="zh-CN" altLang="zh-CN" sz="2000" dirty="0"/>
              <a:t>箔式应变片</a:t>
            </a:r>
            <a:r>
              <a:rPr lang="zh-CN" altLang="zh-CN" sz="2000" b="1" dirty="0">
                <a:solidFill>
                  <a:srgbClr val="FF0000"/>
                </a:solidFill>
              </a:rPr>
              <a:t>单臂、半桥、全桥性能比较</a:t>
            </a:r>
            <a:r>
              <a:rPr lang="zh-CN" altLang="zh-CN" sz="2000" dirty="0"/>
              <a:t>实验   </a:t>
            </a:r>
            <a:endParaRPr lang="en-US" altLang="zh-CN" sz="2000" dirty="0" smtClean="0"/>
          </a:p>
          <a:p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en-US" altLang="zh-CN" sz="2000" dirty="0" smtClean="0">
                <a:sym typeface="Wingdings" panose="05000000000000000000" pitchFamily="2" charset="2"/>
              </a:rPr>
              <a:t>                                    </a:t>
            </a:r>
            <a:r>
              <a:rPr lang="en-US" altLang="zh-CN" sz="2000" dirty="0" smtClean="0"/>
              <a:t>  </a:t>
            </a:r>
            <a:r>
              <a:rPr lang="zh-CN" altLang="zh-CN" sz="2000" dirty="0"/>
              <a:t>（以上三组）数据分析 （课后</a:t>
            </a:r>
            <a:r>
              <a:rPr lang="en-US" altLang="zh-CN" sz="2000" dirty="0"/>
              <a:t>-</a:t>
            </a:r>
            <a:r>
              <a:rPr lang="zh-CN" altLang="zh-CN" sz="2000" dirty="0"/>
              <a:t>灵敏度及线性度）</a:t>
            </a:r>
          </a:p>
          <a:p>
            <a:r>
              <a:rPr lang="en-US" altLang="zh-CN" sz="2000" b="1" dirty="0" smtClean="0"/>
              <a:t>5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直流</a:t>
            </a:r>
            <a:r>
              <a:rPr lang="zh-CN" altLang="zh-CN" sz="2000" dirty="0"/>
              <a:t>全桥的应用——</a:t>
            </a:r>
            <a:r>
              <a:rPr lang="zh-CN" altLang="zh-CN" sz="2000" b="1" dirty="0">
                <a:solidFill>
                  <a:srgbClr val="FF0000"/>
                </a:solidFill>
              </a:rPr>
              <a:t>电子秤</a:t>
            </a:r>
            <a:r>
              <a:rPr lang="zh-CN" altLang="zh-CN" sz="2000" dirty="0"/>
              <a:t>实验 </a:t>
            </a:r>
            <a:r>
              <a:rPr lang="en-US" altLang="zh-CN" sz="2000" dirty="0"/>
              <a:t>                 </a:t>
            </a:r>
            <a:endParaRPr lang="en-US" altLang="zh-CN" sz="2000" dirty="0" smtClean="0"/>
          </a:p>
          <a:p>
            <a:r>
              <a:rPr lang="en-US" altLang="zh-CN" sz="2000" dirty="0">
                <a:sym typeface="Wingdings" panose="05000000000000000000" pitchFamily="2" charset="2"/>
              </a:rPr>
              <a:t> </a:t>
            </a:r>
            <a:r>
              <a:rPr lang="en-US" altLang="zh-CN" sz="2000" dirty="0" smtClean="0">
                <a:sym typeface="Wingdings" panose="05000000000000000000" pitchFamily="2" charset="2"/>
              </a:rPr>
              <a:t>                                    </a:t>
            </a:r>
            <a:r>
              <a:rPr lang="en-US" altLang="zh-CN" sz="2000" dirty="0" smtClean="0"/>
              <a:t>  </a:t>
            </a:r>
            <a:r>
              <a:rPr lang="zh-CN" altLang="zh-CN" sz="2000" dirty="0"/>
              <a:t>一组标定数据（</a:t>
            </a:r>
            <a:r>
              <a:rPr lang="zh-CN" altLang="zh-CN" sz="2000" b="1" dirty="0">
                <a:solidFill>
                  <a:srgbClr val="FF0000"/>
                </a:solidFill>
              </a:rPr>
              <a:t>正反行程三次</a:t>
            </a:r>
            <a:r>
              <a:rPr lang="en-US" altLang="zh-CN" sz="2000" dirty="0"/>
              <a:t>-</a:t>
            </a:r>
            <a:r>
              <a:rPr lang="zh-CN" altLang="zh-CN" sz="2000" dirty="0"/>
              <a:t>课后数据分析）、</a:t>
            </a:r>
            <a:r>
              <a:rPr lang="zh-CN" altLang="zh-CN" sz="2000" b="1" dirty="0">
                <a:solidFill>
                  <a:srgbClr val="FF0000"/>
                </a:solidFill>
              </a:rPr>
              <a:t>手机称重</a:t>
            </a: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9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9823" y="1383124"/>
            <a:ext cx="11009167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0000FF"/>
                </a:solidFill>
              </a:rPr>
              <a:t>数据：</a:t>
            </a:r>
            <a:r>
              <a:rPr lang="zh-CN" altLang="zh-CN" sz="2400" b="1" dirty="0" smtClean="0">
                <a:solidFill>
                  <a:srgbClr val="0000FF"/>
                </a:solidFill>
              </a:rPr>
              <a:t>客观准确，</a:t>
            </a:r>
            <a:r>
              <a:rPr lang="zh-CN" altLang="zh-CN" sz="2400" b="1" dirty="0">
                <a:solidFill>
                  <a:srgbClr val="0000FF"/>
                </a:solidFill>
              </a:rPr>
              <a:t>签字。</a:t>
            </a:r>
          </a:p>
          <a:p>
            <a:endParaRPr lang="en-US" altLang="zh-CN" dirty="0" smtClean="0"/>
          </a:p>
          <a:p>
            <a:pPr>
              <a:lnSpc>
                <a:spcPts val="3600"/>
              </a:lnSpc>
            </a:pPr>
            <a:r>
              <a:rPr lang="en-US" altLang="zh-CN" sz="2000" b="1" dirty="0"/>
              <a:t>1</a:t>
            </a:r>
            <a:r>
              <a:rPr lang="en-US" altLang="zh-CN" sz="2000" dirty="0"/>
              <a:t> -</a:t>
            </a:r>
            <a:r>
              <a:rPr lang="zh-CN" altLang="zh-CN" sz="2000" dirty="0">
                <a:solidFill>
                  <a:srgbClr val="0000FF"/>
                </a:solidFill>
              </a:rPr>
              <a:t>五组实验数据</a:t>
            </a:r>
            <a:r>
              <a:rPr lang="zh-CN" altLang="zh-CN" sz="2000" dirty="0"/>
              <a:t>（单臂、半桥、全桥、标定、手机重量）</a:t>
            </a:r>
          </a:p>
          <a:p>
            <a:pPr>
              <a:lnSpc>
                <a:spcPts val="3600"/>
              </a:lnSpc>
            </a:pPr>
            <a:r>
              <a:rPr lang="en-US" altLang="zh-CN" sz="2000" b="1" dirty="0"/>
              <a:t>2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-</a:t>
            </a:r>
            <a:r>
              <a:rPr lang="zh-CN" altLang="zh-CN" sz="2000" dirty="0" smtClean="0"/>
              <a:t>读数</a:t>
            </a:r>
            <a:r>
              <a:rPr lang="zh-CN" altLang="zh-CN" sz="2000" dirty="0"/>
              <a:t>要</a:t>
            </a:r>
            <a:r>
              <a:rPr lang="zh-CN" altLang="zh-CN" sz="2000" dirty="0" smtClean="0">
                <a:solidFill>
                  <a:srgbClr val="0000FF"/>
                </a:solidFill>
              </a:rPr>
              <a:t>客观</a:t>
            </a:r>
            <a:r>
              <a:rPr lang="zh-CN" altLang="zh-CN" sz="2000" dirty="0" smtClean="0"/>
              <a:t>。</a:t>
            </a:r>
            <a:endParaRPr lang="zh-CN" altLang="zh-CN" sz="2000" dirty="0"/>
          </a:p>
          <a:p>
            <a:pPr>
              <a:lnSpc>
                <a:spcPts val="3600"/>
              </a:lnSpc>
            </a:pPr>
            <a:r>
              <a:rPr lang="en-US" altLang="zh-CN" sz="2000" b="1" dirty="0"/>
              <a:t>3</a:t>
            </a:r>
            <a:r>
              <a:rPr lang="en-US" altLang="zh-CN" sz="2000" dirty="0"/>
              <a:t> -</a:t>
            </a:r>
            <a:r>
              <a:rPr lang="zh-CN" altLang="zh-CN" sz="2000" dirty="0"/>
              <a:t>实验完成后，</a:t>
            </a:r>
            <a:r>
              <a:rPr lang="zh-CN" altLang="zh-CN" sz="2000" dirty="0">
                <a:solidFill>
                  <a:srgbClr val="0000FF"/>
                </a:solidFill>
              </a:rPr>
              <a:t>原始数据</a:t>
            </a:r>
            <a:r>
              <a:rPr lang="zh-CN" altLang="zh-CN" sz="2000" dirty="0"/>
              <a:t>要老师</a:t>
            </a:r>
            <a:r>
              <a:rPr lang="zh-CN" altLang="zh-CN" sz="2000" dirty="0">
                <a:solidFill>
                  <a:srgbClr val="0000FF"/>
                </a:solidFill>
              </a:rPr>
              <a:t>签字确认</a:t>
            </a:r>
            <a:r>
              <a:rPr lang="zh-CN" altLang="zh-CN" sz="2000" dirty="0"/>
              <a:t>，并要求实验报告中要附上老师签字的原始数据页。</a:t>
            </a:r>
          </a:p>
          <a:p>
            <a:pPr>
              <a:lnSpc>
                <a:spcPts val="3600"/>
              </a:lnSpc>
            </a:pPr>
            <a:endParaRPr lang="en-US" altLang="zh-CN" sz="2000" b="1" dirty="0"/>
          </a:p>
          <a:p>
            <a:pPr>
              <a:lnSpc>
                <a:spcPts val="3600"/>
              </a:lnSpc>
            </a:pPr>
            <a:r>
              <a:rPr lang="zh-CN" altLang="en-US" sz="2000" b="1" dirty="0" smtClean="0">
                <a:solidFill>
                  <a:srgbClr val="FF0000"/>
                </a:solidFill>
              </a:rPr>
              <a:t>特别提醒：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pPr>
              <a:lnSpc>
                <a:spcPts val="3600"/>
              </a:lnSpc>
            </a:pPr>
            <a:r>
              <a:rPr lang="zh-CN" altLang="zh-CN" sz="2000" dirty="0"/>
              <a:t>组桥要正确，操作要仔细</a:t>
            </a:r>
            <a:r>
              <a:rPr lang="zh-CN" altLang="zh-CN" sz="2000" dirty="0" smtClean="0"/>
              <a:t>规范</a:t>
            </a:r>
            <a:r>
              <a:rPr lang="zh-CN" altLang="en-US" sz="2000" dirty="0" smtClean="0"/>
              <a:t>。</a:t>
            </a:r>
            <a:r>
              <a:rPr lang="zh-CN" altLang="zh-CN" sz="2000" dirty="0" smtClean="0"/>
              <a:t>应变</a:t>
            </a:r>
            <a:r>
              <a:rPr lang="zh-CN" altLang="zh-CN" sz="2000" dirty="0"/>
              <a:t>片三组桥路实验，放大电路的增益电位器</a:t>
            </a:r>
            <a:r>
              <a:rPr lang="zh-CN" altLang="zh-CN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</a:rPr>
              <a:t>Rw3</a:t>
            </a:r>
            <a:r>
              <a:rPr lang="zh-CN" altLang="zh-CN" sz="2000" dirty="0">
                <a:solidFill>
                  <a:srgbClr val="FF0000"/>
                </a:solidFill>
              </a:rPr>
              <a:t>）保持不变</a:t>
            </a:r>
            <a:r>
              <a:rPr lang="zh-CN" altLang="zh-CN" sz="2000" dirty="0"/>
              <a:t>。</a:t>
            </a:r>
            <a:r>
              <a:rPr lang="zh-CN" altLang="zh-CN" sz="2000" dirty="0">
                <a:solidFill>
                  <a:srgbClr val="FF0000"/>
                </a:solidFill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</a:rPr>
              <a:t>Rw4</a:t>
            </a:r>
            <a:r>
              <a:rPr lang="zh-CN" altLang="en-US" sz="2000" dirty="0" smtClean="0">
                <a:solidFill>
                  <a:srgbClr val="FF0000"/>
                </a:solidFill>
              </a:rPr>
              <a:t>调整好后</a:t>
            </a:r>
            <a:r>
              <a:rPr lang="zh-CN" altLang="zh-CN" sz="2000" dirty="0" smtClean="0">
                <a:solidFill>
                  <a:srgbClr val="FF0000"/>
                </a:solidFill>
              </a:rPr>
              <a:t>也</a:t>
            </a:r>
            <a:r>
              <a:rPr lang="zh-CN" altLang="zh-CN" sz="2000" dirty="0">
                <a:solidFill>
                  <a:srgbClr val="FF0000"/>
                </a:solidFill>
              </a:rPr>
              <a:t>是保持不变的，重新组桥时只是要调整</a:t>
            </a:r>
            <a:r>
              <a:rPr lang="en-US" altLang="zh-CN" sz="2000" dirty="0" smtClean="0">
                <a:solidFill>
                  <a:srgbClr val="FF0000"/>
                </a:solidFill>
              </a:rPr>
              <a:t>Rw1</a:t>
            </a:r>
            <a:r>
              <a:rPr lang="zh-CN" altLang="en-US" sz="2000" dirty="0" smtClean="0">
                <a:solidFill>
                  <a:srgbClr val="FF0000"/>
                </a:solidFill>
              </a:rPr>
              <a:t>）</a:t>
            </a:r>
            <a:r>
              <a:rPr lang="zh-CN" altLang="zh-CN" sz="2000" dirty="0" smtClean="0">
                <a:solidFill>
                  <a:srgbClr val="0000FF"/>
                </a:solidFill>
              </a:rPr>
              <a:t>。</a:t>
            </a:r>
            <a:r>
              <a:rPr lang="en-US" altLang="zh-CN" sz="2000" dirty="0"/>
              <a:t>Rw1</a:t>
            </a:r>
            <a:r>
              <a:rPr lang="zh-CN" altLang="zh-CN" sz="2000" dirty="0"/>
              <a:t>是直流电桥的调零电位器，</a:t>
            </a:r>
            <a:r>
              <a:rPr lang="en-US" altLang="zh-CN" sz="2000" dirty="0"/>
              <a:t>Rw2</a:t>
            </a:r>
            <a:r>
              <a:rPr lang="zh-CN" altLang="zh-CN" sz="2000" dirty="0"/>
              <a:t>是交流电桥的调零电位器。）</a:t>
            </a: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22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9823" y="1383124"/>
            <a:ext cx="11009167" cy="5827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◆</a:t>
            </a:r>
            <a:r>
              <a:rPr lang="zh-CN" altLang="zh-CN" sz="2400" b="1" dirty="0" smtClean="0">
                <a:solidFill>
                  <a:srgbClr val="0000FF"/>
                </a:solidFill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</a:rPr>
              <a:t>实验安全及操作规范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人身安全、设备安全</a:t>
            </a:r>
          </a:p>
          <a:p>
            <a:pPr>
              <a:lnSpc>
                <a:spcPts val="2800"/>
              </a:lnSpc>
            </a:pPr>
            <a:r>
              <a:rPr lang="zh-CN" altLang="zh-CN" dirty="0">
                <a:solidFill>
                  <a:srgbClr val="FF0000"/>
                </a:solidFill>
              </a:rPr>
              <a:t>不要误把电源正、负级短接</a:t>
            </a:r>
            <a:r>
              <a:rPr lang="zh-CN" altLang="zh-CN" dirty="0"/>
              <a:t>（要求：</a:t>
            </a:r>
            <a:r>
              <a:rPr lang="zh-CN" altLang="zh-CN" dirty="0">
                <a:solidFill>
                  <a:srgbClr val="FF0000"/>
                </a:solidFill>
              </a:rPr>
              <a:t>重新接线时要关闭主控台电源</a:t>
            </a:r>
            <a:r>
              <a:rPr lang="zh-CN" altLang="zh-CN" dirty="0"/>
              <a:t>）。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实验台发出报警声时要立刻关闭主控台电源。</a:t>
            </a:r>
          </a:p>
          <a:p>
            <a:r>
              <a:rPr lang="en-US" altLang="zh-CN" sz="2400" b="1" dirty="0">
                <a:solidFill>
                  <a:srgbClr val="0000FF"/>
                </a:solidFill>
              </a:rPr>
              <a:t>◆</a:t>
            </a:r>
            <a:r>
              <a:rPr lang="zh-CN" altLang="zh-CN" sz="2400" b="1" dirty="0" smtClean="0">
                <a:solidFill>
                  <a:srgbClr val="0000FF"/>
                </a:solidFill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</a:rPr>
              <a:t>实验装置的介绍</a:t>
            </a:r>
          </a:p>
          <a:p>
            <a:r>
              <a:rPr lang="en-US" altLang="zh-CN" sz="2400" b="1" dirty="0">
                <a:solidFill>
                  <a:srgbClr val="0000FF"/>
                </a:solidFill>
              </a:rPr>
              <a:t>◆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</a:rPr>
              <a:t>实验要求</a:t>
            </a:r>
          </a:p>
          <a:p>
            <a:pPr>
              <a:lnSpc>
                <a:spcPts val="2800"/>
              </a:lnSpc>
            </a:pPr>
            <a:r>
              <a:rPr lang="zh-CN" altLang="zh-CN" dirty="0">
                <a:solidFill>
                  <a:srgbClr val="FF0000"/>
                </a:solidFill>
              </a:rPr>
              <a:t>认真仔细</a:t>
            </a:r>
            <a:r>
              <a:rPr lang="zh-CN" altLang="zh-CN" dirty="0"/>
              <a:t>操作，</a:t>
            </a:r>
            <a:r>
              <a:rPr lang="zh-CN" altLang="zh-CN" dirty="0">
                <a:solidFill>
                  <a:srgbClr val="FF0000"/>
                </a:solidFill>
              </a:rPr>
              <a:t>客观记录</a:t>
            </a:r>
            <a:r>
              <a:rPr lang="zh-CN" altLang="zh-CN" dirty="0"/>
              <a:t>数据，原始数据要</a:t>
            </a:r>
            <a:r>
              <a:rPr lang="zh-CN" altLang="zh-CN" dirty="0">
                <a:solidFill>
                  <a:srgbClr val="FF0000"/>
                </a:solidFill>
              </a:rPr>
              <a:t>签字</a:t>
            </a:r>
            <a:r>
              <a:rPr lang="zh-CN" altLang="zh-CN" dirty="0"/>
              <a:t>确认，实验完成后</a:t>
            </a:r>
            <a:r>
              <a:rPr lang="zh-CN" altLang="zh-CN" dirty="0">
                <a:solidFill>
                  <a:srgbClr val="FF0000"/>
                </a:solidFill>
              </a:rPr>
              <a:t>清理好现场</a:t>
            </a:r>
            <a:r>
              <a:rPr lang="zh-CN" altLang="zh-CN" dirty="0"/>
              <a:t>。 </a:t>
            </a:r>
          </a:p>
          <a:p>
            <a:r>
              <a:rPr lang="en-US" altLang="zh-CN" sz="2400" b="1" dirty="0">
                <a:solidFill>
                  <a:srgbClr val="0000FF"/>
                </a:solidFill>
              </a:rPr>
              <a:t>◆</a:t>
            </a:r>
            <a:r>
              <a:rPr lang="en-US" altLang="zh-CN" sz="2400" b="1" dirty="0" smtClean="0">
                <a:solidFill>
                  <a:srgbClr val="0000FF"/>
                </a:solidFill>
              </a:rPr>
              <a:t> </a:t>
            </a:r>
            <a:r>
              <a:rPr lang="zh-CN" altLang="zh-CN" sz="2400" b="1" dirty="0">
                <a:solidFill>
                  <a:srgbClr val="0000FF"/>
                </a:solidFill>
              </a:rPr>
              <a:t>实验报告：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只交</a:t>
            </a:r>
            <a:r>
              <a:rPr lang="zh-CN" altLang="zh-CN" dirty="0">
                <a:solidFill>
                  <a:srgbClr val="FF0000"/>
                </a:solidFill>
              </a:rPr>
              <a:t>电子</a:t>
            </a:r>
            <a:r>
              <a:rPr lang="en-US" altLang="zh-CN" dirty="0">
                <a:solidFill>
                  <a:srgbClr val="FF0000"/>
                </a:solidFill>
              </a:rPr>
              <a:t>Word</a:t>
            </a:r>
            <a:r>
              <a:rPr lang="zh-CN" altLang="zh-CN" dirty="0">
                <a:solidFill>
                  <a:srgbClr val="FF0000"/>
                </a:solidFill>
              </a:rPr>
              <a:t>文档</a:t>
            </a:r>
            <a:r>
              <a:rPr lang="zh-CN" altLang="zh-CN" dirty="0"/>
              <a:t>。由</a:t>
            </a:r>
            <a:r>
              <a:rPr lang="zh-CN" altLang="zh-CN" dirty="0">
                <a:solidFill>
                  <a:srgbClr val="FF0000"/>
                </a:solidFill>
              </a:rPr>
              <a:t>各班学委收齐打包</a:t>
            </a:r>
            <a:r>
              <a:rPr lang="zh-CN" altLang="zh-CN" dirty="0"/>
              <a:t>（命名：班级</a:t>
            </a:r>
            <a:r>
              <a:rPr lang="en-US" altLang="zh-CN" dirty="0"/>
              <a:t>-</a:t>
            </a:r>
            <a:r>
              <a:rPr lang="zh-CN" altLang="zh-CN" dirty="0"/>
              <a:t>传感技术实验报告）发到此邮箱：</a:t>
            </a:r>
            <a:r>
              <a:rPr lang="en-US" altLang="zh-CN" b="1" dirty="0">
                <a:solidFill>
                  <a:srgbClr val="0000FF"/>
                </a:solidFill>
              </a:rPr>
              <a:t>wh0626@hust.edu.cn</a:t>
            </a:r>
            <a:endParaRPr lang="zh-CN" altLang="zh-CN" b="1" dirty="0">
              <a:solidFill>
                <a:srgbClr val="0000FF"/>
              </a:solidFill>
            </a:endParaRPr>
          </a:p>
          <a:p>
            <a:pPr>
              <a:lnSpc>
                <a:spcPts val="2800"/>
              </a:lnSpc>
            </a:pPr>
            <a:r>
              <a:rPr lang="zh-CN" altLang="zh-CN" dirty="0"/>
              <a:t>每人的文档命名：</a:t>
            </a:r>
            <a:r>
              <a:rPr lang="zh-CN" altLang="zh-CN" dirty="0">
                <a:solidFill>
                  <a:srgbClr val="FF0000"/>
                </a:solidFill>
              </a:rPr>
              <a:t>班级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zh-CN" dirty="0">
                <a:solidFill>
                  <a:srgbClr val="FF0000"/>
                </a:solidFill>
              </a:rPr>
              <a:t>学号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zh-CN" dirty="0">
                <a:solidFill>
                  <a:srgbClr val="FF0000"/>
                </a:solidFill>
              </a:rPr>
              <a:t>姓名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zh-CN" dirty="0">
                <a:solidFill>
                  <a:srgbClr val="FF0000"/>
                </a:solidFill>
              </a:rPr>
              <a:t>传感技术实验报告</a:t>
            </a:r>
            <a:r>
              <a:rPr lang="zh-CN" altLang="zh-CN" dirty="0"/>
              <a:t>。</a:t>
            </a:r>
          </a:p>
          <a:p>
            <a:pPr>
              <a:lnSpc>
                <a:spcPts val="2800"/>
              </a:lnSpc>
            </a:pPr>
            <a:r>
              <a:rPr lang="zh-CN" altLang="zh-CN" dirty="0"/>
              <a:t>如：自动化</a:t>
            </a:r>
            <a:r>
              <a:rPr lang="en-US" altLang="zh-CN" dirty="0"/>
              <a:t>2101-U2021</a:t>
            </a:r>
            <a:r>
              <a:rPr lang="en-US" altLang="zh-CN" dirty="0" smtClean="0"/>
              <a:t>****-</a:t>
            </a:r>
            <a:r>
              <a:rPr lang="zh-CN" altLang="zh-CN" dirty="0"/>
              <a:t>刘力</a:t>
            </a:r>
            <a:r>
              <a:rPr lang="en-US" altLang="zh-CN" dirty="0"/>
              <a:t>-</a:t>
            </a:r>
            <a:r>
              <a:rPr lang="zh-CN" altLang="zh-CN" dirty="0"/>
              <a:t>传感技术实验报告</a:t>
            </a:r>
          </a:p>
          <a:p>
            <a:pPr>
              <a:lnSpc>
                <a:spcPct val="150000"/>
              </a:lnSpc>
            </a:pPr>
            <a:endParaRPr lang="en-US" altLang="zh-CN" sz="2000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21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59823" y="1383124"/>
                <a:ext cx="11009167" cy="39497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>
                    <a:solidFill>
                      <a:srgbClr val="0000FF"/>
                    </a:solidFill>
                  </a:rPr>
                  <a:t>◆1-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金属箔式应变片的结构</a:t>
                </a:r>
                <a:endParaRPr lang="en-US" altLang="zh-CN" sz="2400" b="1" dirty="0">
                  <a:solidFill>
                    <a:srgbClr val="0000FF"/>
                  </a:solidFill>
                </a:endParaRPr>
              </a:p>
              <a:p>
                <a:pPr>
                  <a:lnSpc>
                    <a:spcPts val="2800"/>
                  </a:lnSpc>
                </a:pPr>
                <a:r>
                  <a:rPr lang="zh-CN" altLang="zh-CN" dirty="0"/>
                  <a:t>金属箔式应变片是在用苯酚、环氧树脂等绝缘材料的基板上，粘贴直径为</a:t>
                </a:r>
                <a:r>
                  <a:rPr lang="en-US" altLang="zh-CN" dirty="0"/>
                  <a:t>0.025mm</a:t>
                </a:r>
                <a:r>
                  <a:rPr lang="zh-CN" altLang="zh-CN" dirty="0"/>
                  <a:t>左右的金属丝或金属箔片。是通过光刻、腐蚀等工艺制成的应变敏感元件。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应变片是有受力方向的</a:t>
                </a:r>
                <a:r>
                  <a:rPr lang="zh-CN" altLang="zh-CN" dirty="0"/>
                  <a:t>。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β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</m:oMath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/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                                                             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/>
                  <a:t>                                                                         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/>
                  <a:t>  </a:t>
                </a:r>
                <a:endParaRPr lang="en-US" altLang="zh-CN" sz="2000" dirty="0"/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n"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23" y="1383124"/>
                <a:ext cx="11009167" cy="3949799"/>
              </a:xfrm>
              <a:prstGeom prst="rect">
                <a:avLst/>
              </a:prstGeom>
              <a:blipFill>
                <a:blip r:embed="rId3"/>
                <a:stretch>
                  <a:fillRect l="-831" r="-18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44" y="2625581"/>
            <a:ext cx="7836772" cy="327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412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59823" y="1383124"/>
                <a:ext cx="11009167" cy="66325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b="1" dirty="0" smtClean="0">
                    <a:solidFill>
                      <a:srgbClr val="0000FF"/>
                    </a:solidFill>
                  </a:rPr>
                  <a:t>◆</a:t>
                </a:r>
                <a:r>
                  <a:rPr lang="en-US" altLang="zh-CN" sz="2400" b="1" dirty="0">
                    <a:solidFill>
                      <a:srgbClr val="0000FF"/>
                    </a:solidFill>
                  </a:rPr>
                  <a:t>2-</a:t>
                </a:r>
                <a:r>
                  <a:rPr lang="zh-CN" altLang="zh-CN" sz="2400" b="1" dirty="0">
                    <a:solidFill>
                      <a:srgbClr val="0000FF"/>
                    </a:solidFill>
                  </a:rPr>
                  <a:t>电阻类传感器（如金属箔式应变片）的工作原理  </a:t>
                </a:r>
              </a:p>
              <a:p>
                <a:pPr>
                  <a:lnSpc>
                    <a:spcPts val="2800"/>
                  </a:lnSpc>
                </a:pPr>
                <a:endParaRPr lang="en-US" altLang="zh-CN" dirty="0" smtClean="0"/>
              </a:p>
              <a:p>
                <a:pPr>
                  <a:lnSpc>
                    <a:spcPts val="2800"/>
                  </a:lnSpc>
                </a:pPr>
                <a:r>
                  <a:rPr lang="zh-CN" altLang="zh-CN" dirty="0" smtClean="0"/>
                  <a:t>电阻</a:t>
                </a:r>
                <a:r>
                  <a:rPr lang="zh-CN" altLang="zh-CN" dirty="0"/>
                  <a:t>丝在外力作用下发生机械变形时，其电阻值发生变化，这就是电阻应变效应。描述电阻应变效应的关系式为： </a:t>
                </a:r>
                <a:r>
                  <a:rPr lang="en-US" altLang="zh-CN" dirty="0"/>
                  <a:t>ΔR</a:t>
                </a:r>
                <a:r>
                  <a:rPr lang="zh-CN" altLang="zh-CN" dirty="0"/>
                  <a:t>／</a:t>
                </a:r>
                <a:r>
                  <a:rPr lang="en-US" altLang="zh-CN" dirty="0"/>
                  <a:t>R</a:t>
                </a:r>
                <a:r>
                  <a:rPr lang="zh-CN" altLang="zh-CN" dirty="0"/>
                  <a:t>＝</a:t>
                </a:r>
                <a:r>
                  <a:rPr lang="en-US" altLang="zh-CN" dirty="0" err="1"/>
                  <a:t>Kε</a:t>
                </a:r>
                <a:r>
                  <a:rPr lang="en-US" altLang="zh-CN" dirty="0"/>
                  <a:t>  </a:t>
                </a:r>
                <a:r>
                  <a:rPr lang="zh-CN" altLang="zh-CN" dirty="0"/>
                  <a:t>式中：</a:t>
                </a:r>
                <a:r>
                  <a:rPr lang="en-US" altLang="zh-CN" dirty="0"/>
                  <a:t>ΔR</a:t>
                </a:r>
                <a:r>
                  <a:rPr lang="zh-CN" altLang="zh-CN" dirty="0"/>
                  <a:t>／</a:t>
                </a:r>
                <a:r>
                  <a:rPr lang="en-US" altLang="zh-CN" dirty="0"/>
                  <a:t>R</a:t>
                </a:r>
                <a:r>
                  <a:rPr lang="zh-CN" altLang="zh-CN" dirty="0"/>
                  <a:t>为电阻丝电阻相对变化，</a:t>
                </a:r>
                <a:r>
                  <a:rPr lang="en-US" altLang="zh-CN" dirty="0"/>
                  <a:t>K</a:t>
                </a:r>
                <a:r>
                  <a:rPr lang="zh-CN" altLang="zh-CN" dirty="0"/>
                  <a:t>为应变灵敏系数</a:t>
                </a:r>
                <a:r>
                  <a:rPr lang="en-US" altLang="zh-CN" dirty="0"/>
                  <a:t>,ε=ΔL/L</a:t>
                </a:r>
                <a:r>
                  <a:rPr lang="zh-CN" altLang="zh-CN" dirty="0"/>
                  <a:t>为电阻丝长度相对变化。</a:t>
                </a:r>
              </a:p>
              <a:p>
                <a:pPr>
                  <a:lnSpc>
                    <a:spcPts val="2800"/>
                  </a:lnSpc>
                </a:pPr>
                <a:r>
                  <a:rPr lang="zh-CN" altLang="zh-CN" dirty="0"/>
                  <a:t>单臂电桥输出电压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01</a:t>
                </a:r>
                <a:r>
                  <a:rPr lang="en-US" altLang="zh-CN" dirty="0"/>
                  <a:t>=</a:t>
                </a:r>
                <a:r>
                  <a:rPr lang="en-US" altLang="zh-CN" dirty="0" err="1"/>
                  <a:t>EKε</a:t>
                </a:r>
                <a:r>
                  <a:rPr lang="en-US" altLang="zh-CN" dirty="0"/>
                  <a:t>/4</a:t>
                </a:r>
                <a:r>
                  <a:rPr lang="zh-CN" altLang="zh-CN" dirty="0"/>
                  <a:t>。半桥：</a:t>
                </a:r>
                <a:r>
                  <a:rPr lang="en-US" altLang="zh-CN" dirty="0"/>
                  <a:t>U</a:t>
                </a:r>
                <a:r>
                  <a:rPr lang="en-US" altLang="zh-CN" baseline="-25000" dirty="0"/>
                  <a:t>01</a:t>
                </a:r>
                <a:r>
                  <a:rPr lang="en-US" altLang="zh-CN" dirty="0"/>
                  <a:t>=</a:t>
                </a:r>
                <a:r>
                  <a:rPr lang="en-US" altLang="zh-CN" dirty="0" err="1"/>
                  <a:t>EKε</a:t>
                </a:r>
                <a:r>
                  <a:rPr lang="en-US" altLang="zh-CN" dirty="0"/>
                  <a:t>/2</a:t>
                </a:r>
                <a:r>
                  <a:rPr lang="zh-CN" altLang="zh-CN" dirty="0"/>
                  <a:t>。全桥：</a:t>
                </a:r>
                <a:r>
                  <a:rPr lang="en-US" altLang="zh-CN" dirty="0" smtClean="0"/>
                  <a:t>U</a:t>
                </a:r>
                <a:r>
                  <a:rPr lang="en-US" altLang="zh-CN" baseline="-25000" dirty="0" smtClean="0"/>
                  <a:t>01</a:t>
                </a:r>
                <a:r>
                  <a:rPr lang="en-US" altLang="zh-CN" dirty="0" smtClean="0"/>
                  <a:t>=</a:t>
                </a:r>
                <a:r>
                  <a:rPr lang="en-US" altLang="zh-CN" dirty="0" err="1" smtClean="0"/>
                  <a:t>Ekε</a:t>
                </a:r>
                <a:r>
                  <a:rPr lang="en-US" altLang="zh-CN" dirty="0" smtClean="0"/>
                  <a:t>       </a:t>
                </a:r>
              </a:p>
              <a:p>
                <a:pPr>
                  <a:lnSpc>
                    <a:spcPts val="2800"/>
                  </a:lnSpc>
                </a:pPr>
                <a:endParaRPr lang="en-US" altLang="zh-CN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ts val="28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β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altLang="zh-CN" dirty="0" smtClean="0"/>
              </a:p>
              <a:p>
                <a:r>
                  <a:rPr lang="en-US" altLang="zh-CN" dirty="0"/>
                  <a:t/>
                </a:r>
                <a:br>
                  <a:rPr lang="en-US" altLang="zh-CN" dirty="0"/>
                </a:br>
                <a:endParaRPr lang="en-US" altLang="zh-CN" dirty="0" smtClean="0"/>
              </a:p>
              <a:p>
                <a:r>
                  <a:rPr lang="en-US" altLang="zh-CN" dirty="0" smtClean="0">
                    <a:solidFill>
                      <a:srgbClr val="0000FF"/>
                    </a:solidFill>
                  </a:rPr>
                  <a:t>W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（被测物理量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g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）</a:t>
                </a:r>
                <a:r>
                  <a:rPr lang="en-US" altLang="zh-CN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 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电阻类传感器</a:t>
                </a:r>
                <a:r>
                  <a:rPr lang="zh-CN" altLang="zh-CN" dirty="0" smtClean="0">
                    <a:solidFill>
                      <a:srgbClr val="0000FF"/>
                    </a:solidFill>
                  </a:rPr>
                  <a:t>（箔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式应变片）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--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感受形变 </a:t>
                </a:r>
                <a:r>
                  <a:rPr lang="en-US" altLang="zh-CN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 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电阻的变化（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△R</a:t>
                </a:r>
                <a:r>
                  <a:rPr lang="zh-CN" altLang="zh-CN" dirty="0" smtClean="0">
                    <a:solidFill>
                      <a:srgbClr val="0000FF"/>
                    </a:solidFill>
                  </a:rPr>
                  <a:t>）</a:t>
                </a:r>
                <a:r>
                  <a:rPr lang="en-US" altLang="zh-CN" dirty="0" smtClean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altLang="zh-CN" dirty="0" smtClean="0">
                    <a:solidFill>
                      <a:srgbClr val="0000FF"/>
                    </a:solidFill>
                  </a:rPr>
                  <a:t> 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电桥 </a:t>
                </a:r>
                <a:r>
                  <a:rPr lang="en-US" altLang="zh-CN" dirty="0">
                    <a:solidFill>
                      <a:srgbClr val="0000FF"/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 △U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mv</a:t>
                </a:r>
                <a:r>
                  <a:rPr lang="zh-CN" altLang="zh-CN" dirty="0">
                    <a:solidFill>
                      <a:srgbClr val="0000FF"/>
                    </a:solidFill>
                  </a:rPr>
                  <a:t>）</a:t>
                </a:r>
              </a:p>
              <a:p>
                <a:pPr>
                  <a:lnSpc>
                    <a:spcPct val="150000"/>
                  </a:lnSpc>
                </a:pPr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/>
                  <a:t>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                                                               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/>
                  <a:t>                                                                          </a:t>
                </a:r>
                <a:endParaRPr lang="zh-CN" altLang="zh-CN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 smtClean="0"/>
                  <a:t>  </a:t>
                </a:r>
                <a:endParaRPr lang="en-US" altLang="zh-CN" sz="2000" dirty="0"/>
              </a:p>
              <a:p>
                <a:pPr marL="285750" indent="-285750">
                  <a:lnSpc>
                    <a:spcPct val="150000"/>
                  </a:lnSpc>
                  <a:buFont typeface="Wingdings" pitchFamily="2" charset="2"/>
                  <a:buChar char="n"/>
                </a:pPr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823" y="1383124"/>
                <a:ext cx="11009167" cy="6632585"/>
              </a:xfrm>
              <a:prstGeom prst="rect">
                <a:avLst/>
              </a:prstGeom>
              <a:blipFill>
                <a:blip r:embed="rId3"/>
                <a:stretch>
                  <a:fillRect l="-831" r="-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1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9823" y="1383124"/>
            <a:ext cx="1100916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◆3-</a:t>
            </a:r>
            <a:r>
              <a:rPr lang="zh-CN" altLang="zh-CN" sz="2400" b="1" dirty="0">
                <a:solidFill>
                  <a:srgbClr val="0000FF"/>
                </a:solidFill>
              </a:rPr>
              <a:t>应变片单臂、半桥及全桥的接法和各自性能特征 </a:t>
            </a:r>
            <a:r>
              <a:rPr lang="zh-CN" altLang="zh-CN" sz="2400" dirty="0">
                <a:solidFill>
                  <a:srgbClr val="0000FF"/>
                </a:solidFill>
              </a:rPr>
              <a:t>（</a:t>
            </a:r>
            <a:r>
              <a:rPr lang="zh-CN" altLang="zh-CN" sz="2400" dirty="0">
                <a:solidFill>
                  <a:srgbClr val="FF0000"/>
                </a:solidFill>
              </a:rPr>
              <a:t>难点</a:t>
            </a:r>
            <a:r>
              <a:rPr lang="zh-CN" altLang="zh-CN" sz="2400" dirty="0">
                <a:solidFill>
                  <a:srgbClr val="0000FF"/>
                </a:solidFill>
              </a:rPr>
              <a:t>）</a:t>
            </a:r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       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                                                                  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  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565" y="2149792"/>
            <a:ext cx="5890895" cy="37014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8324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59823" y="1383124"/>
            <a:ext cx="11009167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</a:rPr>
              <a:t>◆3-</a:t>
            </a:r>
            <a:r>
              <a:rPr lang="zh-CN" altLang="zh-CN" sz="2400" b="1" dirty="0">
                <a:solidFill>
                  <a:srgbClr val="0000FF"/>
                </a:solidFill>
              </a:rPr>
              <a:t>应变片单臂、半桥及全桥的接法和各自性能特征 </a:t>
            </a:r>
            <a:r>
              <a:rPr lang="zh-CN" altLang="zh-CN" sz="2400" dirty="0">
                <a:solidFill>
                  <a:srgbClr val="0000FF"/>
                </a:solidFill>
              </a:rPr>
              <a:t>（难点）</a:t>
            </a:r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       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                                                                      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  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endParaRPr lang="zh-CN" altLang="en-US" sz="20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757" y="2129443"/>
            <a:ext cx="6981825" cy="4282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5208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348090" y="102386"/>
            <a:ext cx="7280275" cy="847725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rmAutofit/>
          </a:bodyPr>
          <a:lstStyle/>
          <a:p>
            <a:r>
              <a:rPr lang="zh-CN" altLang="en-US" sz="1800" b="1" dirty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 b="1" dirty="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传感技术实验</a:t>
            </a:r>
            <a:endParaRPr lang="zh-CN" altLang="en-US" sz="1800" b="1" dirty="0">
              <a:solidFill>
                <a:srgbClr val="03539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606094" y="374238"/>
            <a:ext cx="621498" cy="304022"/>
            <a:chOff x="1905802" y="2252312"/>
            <a:chExt cx="979102" cy="442762"/>
          </a:xfrm>
          <a:solidFill>
            <a:srgbClr val="03539C"/>
          </a:solidFill>
        </p:grpSpPr>
        <p:sp>
          <p:nvSpPr>
            <p:cNvPr id="46" name="燕尾形 45"/>
            <p:cNvSpPr/>
            <p:nvPr/>
          </p:nvSpPr>
          <p:spPr>
            <a:xfrm>
              <a:off x="1905802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燕尾形 46"/>
            <p:cNvSpPr/>
            <p:nvPr/>
          </p:nvSpPr>
          <p:spPr>
            <a:xfrm>
              <a:off x="2198035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燕尾形 47"/>
            <p:cNvSpPr/>
            <p:nvPr/>
          </p:nvSpPr>
          <p:spPr>
            <a:xfrm>
              <a:off x="2490268" y="2252312"/>
              <a:ext cx="394636" cy="442762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28760" y="925490"/>
            <a:ext cx="11009167" cy="5883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</a:rPr>
              <a:t>◆4-</a:t>
            </a:r>
            <a:r>
              <a:rPr lang="zh-CN" altLang="zh-CN" sz="2400" b="1" dirty="0">
                <a:solidFill>
                  <a:srgbClr val="0000FF"/>
                </a:solidFill>
              </a:rPr>
              <a:t>了解标定过程 </a:t>
            </a:r>
            <a:r>
              <a:rPr lang="en-US" altLang="zh-CN" sz="2400" b="1" dirty="0">
                <a:solidFill>
                  <a:srgbClr val="0000FF"/>
                </a:solidFill>
              </a:rPr>
              <a:t>–</a:t>
            </a:r>
            <a:r>
              <a:rPr lang="zh-CN" altLang="zh-CN" sz="2400" b="1" dirty="0">
                <a:solidFill>
                  <a:srgbClr val="0000FF"/>
                </a:solidFill>
              </a:rPr>
              <a:t>实现手机称重</a:t>
            </a:r>
          </a:p>
          <a:p>
            <a:pPr>
              <a:lnSpc>
                <a:spcPts val="2800"/>
              </a:lnSpc>
            </a:pPr>
            <a:endParaRPr lang="en-US" altLang="zh-CN" dirty="0" smtClean="0"/>
          </a:p>
          <a:p>
            <a:pPr>
              <a:lnSpc>
                <a:spcPts val="2800"/>
              </a:lnSpc>
            </a:pPr>
            <a:r>
              <a:rPr lang="zh-CN" altLang="zh-CN" dirty="0" smtClean="0"/>
              <a:t>两</a:t>
            </a:r>
            <a:r>
              <a:rPr lang="zh-CN" altLang="zh-CN" dirty="0"/>
              <a:t>点（零点和最高点）标定法。全桥接法，</a:t>
            </a:r>
            <a:r>
              <a:rPr lang="en-US" altLang="zh-CN" dirty="0"/>
              <a:t>Rw3</a:t>
            </a:r>
            <a:r>
              <a:rPr lang="zh-CN" altLang="zh-CN" dirty="0"/>
              <a:t>增益电位器，</a:t>
            </a:r>
            <a:r>
              <a:rPr lang="en-US" altLang="zh-CN" dirty="0"/>
              <a:t>Rw4</a:t>
            </a:r>
            <a:r>
              <a:rPr lang="zh-CN" altLang="zh-CN" dirty="0"/>
              <a:t>调零电位器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>
              <a:lnSpc>
                <a:spcPts val="2800"/>
              </a:lnSpc>
            </a:pPr>
            <a:r>
              <a:rPr lang="zh-CN" altLang="zh-CN" b="1" dirty="0" smtClean="0">
                <a:solidFill>
                  <a:srgbClr val="0000FF"/>
                </a:solidFill>
              </a:rPr>
              <a:t>标定</a:t>
            </a:r>
            <a:r>
              <a:rPr lang="zh-CN" altLang="zh-CN" b="1" dirty="0">
                <a:solidFill>
                  <a:srgbClr val="0000FF"/>
                </a:solidFill>
              </a:rPr>
              <a:t>好后，手机称重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>
              <a:lnSpc>
                <a:spcPts val="2800"/>
              </a:lnSpc>
            </a:pPr>
            <a:r>
              <a:rPr lang="zh-CN" altLang="en-US" dirty="0" smtClean="0"/>
              <a:t>正反行程</a:t>
            </a:r>
            <a:r>
              <a:rPr lang="zh-CN" altLang="zh-CN" dirty="0" smtClean="0"/>
              <a:t>数据</a:t>
            </a:r>
            <a:r>
              <a:rPr lang="zh-CN" altLang="zh-CN" dirty="0"/>
              <a:t>（三次正反）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pPr>
              <a:lnSpc>
                <a:spcPts val="2800"/>
              </a:lnSpc>
            </a:pPr>
            <a:r>
              <a:rPr lang="en-US" altLang="zh-CN" dirty="0"/>
              <a:t> </a:t>
            </a:r>
            <a:r>
              <a:rPr lang="zh-CN" altLang="zh-CN" dirty="0" smtClean="0">
                <a:solidFill>
                  <a:srgbClr val="00B0F0"/>
                </a:solidFill>
              </a:rPr>
              <a:t>被</a:t>
            </a:r>
            <a:r>
              <a:rPr lang="zh-CN" altLang="zh-CN" dirty="0">
                <a:solidFill>
                  <a:srgbClr val="00B0F0"/>
                </a:solidFill>
              </a:rPr>
              <a:t>测物理量</a:t>
            </a:r>
            <a:r>
              <a:rPr lang="en-US" altLang="zh-CN" dirty="0">
                <a:solidFill>
                  <a:srgbClr val="00B0F0"/>
                </a:solidFill>
              </a:rPr>
              <a:t>W</a:t>
            </a:r>
            <a:r>
              <a:rPr lang="zh-CN" altLang="zh-CN" dirty="0">
                <a:solidFill>
                  <a:srgbClr val="00B0F0"/>
                </a:solidFill>
              </a:rPr>
              <a:t>（</a:t>
            </a:r>
            <a:r>
              <a:rPr lang="en-US" altLang="zh-CN" dirty="0">
                <a:solidFill>
                  <a:srgbClr val="00B0F0"/>
                </a:solidFill>
              </a:rPr>
              <a:t>g</a:t>
            </a:r>
            <a:r>
              <a:rPr lang="zh-CN" altLang="zh-CN" dirty="0">
                <a:solidFill>
                  <a:srgbClr val="00B0F0"/>
                </a:solidFill>
              </a:rPr>
              <a:t>）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n-US" altLang="zh-CN" dirty="0">
                <a:solidFill>
                  <a:srgbClr val="00B0F0"/>
                </a:solidFill>
              </a:rPr>
              <a:t> </a:t>
            </a:r>
            <a:r>
              <a:rPr lang="zh-CN" altLang="zh-CN" dirty="0">
                <a:solidFill>
                  <a:srgbClr val="00B0F0"/>
                </a:solidFill>
              </a:rPr>
              <a:t>电阻类传感器（金属箔式应变片）</a:t>
            </a:r>
            <a:r>
              <a:rPr lang="en-US" altLang="zh-CN" dirty="0">
                <a:solidFill>
                  <a:srgbClr val="00B0F0"/>
                </a:solidFill>
              </a:rPr>
              <a:t>--</a:t>
            </a:r>
            <a:r>
              <a:rPr lang="zh-CN" altLang="zh-CN" dirty="0">
                <a:solidFill>
                  <a:srgbClr val="00B0F0"/>
                </a:solidFill>
              </a:rPr>
              <a:t>感受形变 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n-US" altLang="zh-CN" dirty="0">
                <a:solidFill>
                  <a:srgbClr val="00B0F0"/>
                </a:solidFill>
              </a:rPr>
              <a:t> </a:t>
            </a:r>
            <a:r>
              <a:rPr lang="zh-CN" altLang="zh-CN" dirty="0">
                <a:solidFill>
                  <a:srgbClr val="00B0F0"/>
                </a:solidFill>
              </a:rPr>
              <a:t>电阻的变化</a:t>
            </a:r>
            <a:r>
              <a:rPr lang="en-US" altLang="zh-CN" dirty="0">
                <a:solidFill>
                  <a:srgbClr val="00B0F0"/>
                </a:solidFill>
              </a:rPr>
              <a:t>△R</a:t>
            </a:r>
            <a:r>
              <a:rPr lang="zh-CN" altLang="zh-CN" dirty="0">
                <a:solidFill>
                  <a:srgbClr val="00B0F0"/>
                </a:solidFill>
              </a:rPr>
              <a:t>（Ω）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à"/>
            </a:pPr>
            <a:r>
              <a:rPr lang="zh-CN" altLang="zh-CN" dirty="0" smtClean="0">
                <a:solidFill>
                  <a:srgbClr val="00B0F0"/>
                </a:solidFill>
              </a:rPr>
              <a:t>电桥 </a:t>
            </a:r>
            <a:r>
              <a:rPr lang="en-US" altLang="zh-CN" dirty="0">
                <a:solidFill>
                  <a:srgbClr val="00B0F0"/>
                </a:solidFill>
                <a:sym typeface="Wingdings" panose="05000000000000000000" pitchFamily="2" charset="2"/>
              </a:rPr>
              <a:t></a:t>
            </a:r>
            <a:r>
              <a:rPr lang="en-US" altLang="zh-CN" dirty="0">
                <a:solidFill>
                  <a:srgbClr val="00B0F0"/>
                </a:solidFill>
              </a:rPr>
              <a:t> △U</a:t>
            </a:r>
            <a:r>
              <a:rPr lang="zh-CN" altLang="zh-CN" dirty="0">
                <a:solidFill>
                  <a:srgbClr val="00B0F0"/>
                </a:solidFill>
              </a:rPr>
              <a:t>（</a:t>
            </a:r>
            <a:r>
              <a:rPr lang="en-US" altLang="zh-CN" dirty="0">
                <a:solidFill>
                  <a:srgbClr val="00B0F0"/>
                </a:solidFill>
              </a:rPr>
              <a:t>mv</a:t>
            </a:r>
            <a:r>
              <a:rPr lang="zh-CN" altLang="zh-CN" dirty="0">
                <a:solidFill>
                  <a:srgbClr val="00B0F0"/>
                </a:solidFill>
              </a:rPr>
              <a:t>） </a:t>
            </a:r>
            <a:endParaRPr lang="en-US" altLang="zh-CN" dirty="0" smtClean="0">
              <a:solidFill>
                <a:srgbClr val="00B0F0"/>
              </a:solidFill>
            </a:endParaRPr>
          </a:p>
          <a:p>
            <a:pPr>
              <a:lnSpc>
                <a:spcPts val="2800"/>
              </a:lnSpc>
            </a:pPr>
            <a:endParaRPr lang="zh-CN" altLang="zh-CN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dirty="0" smtClean="0"/>
              <a:t>  </a:t>
            </a:r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 smtClean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582" y="5895600"/>
            <a:ext cx="4361829" cy="82378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957" y="218340"/>
            <a:ext cx="1212807" cy="922048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114349"/>
              </p:ext>
            </p:extLst>
          </p:nvPr>
        </p:nvGraphicFramePr>
        <p:xfrm>
          <a:off x="1042093" y="3786986"/>
          <a:ext cx="8643771" cy="2044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9025">
                  <a:extLst>
                    <a:ext uri="{9D8B030D-6E8A-4147-A177-3AD203B41FA5}">
                      <a16:colId xmlns:a16="http://schemas.microsoft.com/office/drawing/2014/main" val="302514332"/>
                    </a:ext>
                  </a:extLst>
                </a:gridCol>
                <a:gridCol w="1018309">
                  <a:extLst>
                    <a:ext uri="{9D8B030D-6E8A-4147-A177-3AD203B41FA5}">
                      <a16:colId xmlns:a16="http://schemas.microsoft.com/office/drawing/2014/main" val="2674691513"/>
                    </a:ext>
                  </a:extLst>
                </a:gridCol>
                <a:gridCol w="654628">
                  <a:extLst>
                    <a:ext uri="{9D8B030D-6E8A-4147-A177-3AD203B41FA5}">
                      <a16:colId xmlns:a16="http://schemas.microsoft.com/office/drawing/2014/main" val="3344890249"/>
                    </a:ext>
                  </a:extLst>
                </a:gridCol>
                <a:gridCol w="644236">
                  <a:extLst>
                    <a:ext uri="{9D8B030D-6E8A-4147-A177-3AD203B41FA5}">
                      <a16:colId xmlns:a16="http://schemas.microsoft.com/office/drawing/2014/main" val="3860043569"/>
                    </a:ext>
                  </a:extLst>
                </a:gridCol>
                <a:gridCol w="633845">
                  <a:extLst>
                    <a:ext uri="{9D8B030D-6E8A-4147-A177-3AD203B41FA5}">
                      <a16:colId xmlns:a16="http://schemas.microsoft.com/office/drawing/2014/main" val="1772730923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554331261"/>
                    </a:ext>
                  </a:extLst>
                </a:gridCol>
                <a:gridCol w="644237">
                  <a:extLst>
                    <a:ext uri="{9D8B030D-6E8A-4147-A177-3AD203B41FA5}">
                      <a16:colId xmlns:a16="http://schemas.microsoft.com/office/drawing/2014/main" val="2893072940"/>
                    </a:ext>
                  </a:extLst>
                </a:gridCol>
                <a:gridCol w="639041">
                  <a:extLst>
                    <a:ext uri="{9D8B030D-6E8A-4147-A177-3AD203B41FA5}">
                      <a16:colId xmlns:a16="http://schemas.microsoft.com/office/drawing/2014/main" val="377887633"/>
                    </a:ext>
                  </a:extLst>
                </a:gridCol>
                <a:gridCol w="597477">
                  <a:extLst>
                    <a:ext uri="{9D8B030D-6E8A-4147-A177-3AD203B41FA5}">
                      <a16:colId xmlns:a16="http://schemas.microsoft.com/office/drawing/2014/main" val="2962710127"/>
                    </a:ext>
                  </a:extLst>
                </a:gridCol>
                <a:gridCol w="597477">
                  <a:extLst>
                    <a:ext uri="{9D8B030D-6E8A-4147-A177-3AD203B41FA5}">
                      <a16:colId xmlns:a16="http://schemas.microsoft.com/office/drawing/2014/main" val="4067316187"/>
                    </a:ext>
                  </a:extLst>
                </a:gridCol>
                <a:gridCol w="587087">
                  <a:extLst>
                    <a:ext uri="{9D8B030D-6E8A-4147-A177-3AD203B41FA5}">
                      <a16:colId xmlns:a16="http://schemas.microsoft.com/office/drawing/2014/main" val="2728356984"/>
                    </a:ext>
                  </a:extLst>
                </a:gridCol>
                <a:gridCol w="587086">
                  <a:extLst>
                    <a:ext uri="{9D8B030D-6E8A-4147-A177-3AD203B41FA5}">
                      <a16:colId xmlns:a16="http://schemas.microsoft.com/office/drawing/2014/main" val="2455867092"/>
                    </a:ext>
                  </a:extLst>
                </a:gridCol>
                <a:gridCol w="602673">
                  <a:extLst>
                    <a:ext uri="{9D8B030D-6E8A-4147-A177-3AD203B41FA5}">
                      <a16:colId xmlns:a16="http://schemas.microsoft.com/office/drawing/2014/main" val="153282285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zh-CN" sz="1400" b="1" kern="100" dirty="0">
                          <a:effectLst/>
                        </a:rPr>
                        <a:t>重量</a:t>
                      </a:r>
                      <a:r>
                        <a:rPr lang="en-US" sz="1400" b="1" kern="100" dirty="0">
                          <a:effectLst/>
                        </a:rPr>
                        <a:t>(g)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20g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40g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60g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80g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100g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120g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140g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160g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180g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200g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6752719"/>
                  </a:ext>
                </a:extLst>
              </a:tr>
              <a:tr h="0">
                <a:tc rowSpan="6"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</a:endParaRPr>
                    </a:p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altLang="zh-CN" sz="1400" b="1" kern="100" dirty="0" smtClean="0">
                          <a:effectLst/>
                        </a:rPr>
                        <a:t>    </a:t>
                      </a:r>
                      <a:r>
                        <a:rPr lang="zh-CN" sz="1400" b="1" kern="100" dirty="0" smtClean="0">
                          <a:effectLst/>
                        </a:rPr>
                        <a:t>电</a:t>
                      </a:r>
                      <a:endParaRPr lang="zh-CN" sz="1050" b="1" kern="100" dirty="0">
                        <a:effectLst/>
                      </a:endParaRPr>
                    </a:p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</a:endParaRPr>
                    </a:p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altLang="zh-CN" sz="1400" b="1" kern="100" dirty="0" smtClean="0">
                          <a:effectLst/>
                        </a:rPr>
                        <a:t>    </a:t>
                      </a:r>
                      <a:r>
                        <a:rPr lang="zh-CN" sz="1400" b="1" kern="100" dirty="0" smtClean="0">
                          <a:effectLst/>
                        </a:rPr>
                        <a:t>压</a:t>
                      </a:r>
                      <a:endParaRPr lang="zh-CN" sz="1050" b="1" kern="100" dirty="0">
                        <a:effectLst/>
                      </a:endParaRPr>
                    </a:p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effectLst/>
                        </a:rPr>
                        <a:t>  (</a:t>
                      </a:r>
                      <a:r>
                        <a:rPr lang="en-US" sz="1400" b="1" kern="100" dirty="0">
                          <a:effectLst/>
                        </a:rPr>
                        <a:t>mv)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zh-CN" sz="1400" b="1" kern="100" dirty="0">
                          <a:effectLst/>
                        </a:rPr>
                        <a:t>正</a:t>
                      </a:r>
                      <a:r>
                        <a:rPr lang="en-US" sz="1400" b="1" kern="100" dirty="0">
                          <a:effectLst/>
                        </a:rPr>
                        <a:t>1-</a:t>
                      </a:r>
                      <a:r>
                        <a:rPr lang="zh-CN" sz="1400" b="1" kern="100" dirty="0">
                          <a:effectLst/>
                        </a:rPr>
                        <a:t>标定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solidFill>
                            <a:srgbClr val="0000FF"/>
                          </a:solidFill>
                          <a:effectLst/>
                        </a:rPr>
                        <a:t>0</a:t>
                      </a:r>
                      <a:endParaRPr lang="zh-CN" sz="1050" b="1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solidFill>
                            <a:srgbClr val="0000FF"/>
                          </a:solidFill>
                          <a:effectLst/>
                        </a:rPr>
                        <a:t>200</a:t>
                      </a:r>
                      <a:endParaRPr lang="zh-CN" sz="1050" b="1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2155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zh-CN" sz="1400" b="1" kern="100" dirty="0">
                          <a:effectLst/>
                        </a:rPr>
                        <a:t>反</a:t>
                      </a:r>
                      <a:r>
                        <a:rPr lang="en-US" sz="1400" b="1" kern="100" dirty="0">
                          <a:effectLst/>
                        </a:rPr>
                        <a:t>1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A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 smtClean="0">
                          <a:solidFill>
                            <a:srgbClr val="0000FF"/>
                          </a:solidFill>
                          <a:effectLst/>
                        </a:rPr>
                        <a:t>200</a:t>
                      </a:r>
                      <a:endParaRPr lang="zh-CN" sz="1050" b="1" kern="100" dirty="0">
                        <a:solidFill>
                          <a:srgbClr val="0000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98576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zh-CN" sz="1400" b="1" kern="100" dirty="0">
                          <a:effectLst/>
                        </a:rPr>
                        <a:t>正</a:t>
                      </a:r>
                      <a:r>
                        <a:rPr lang="en-US" sz="1400" b="1" kern="100" dirty="0">
                          <a:effectLst/>
                        </a:rPr>
                        <a:t>2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A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B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972911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zh-CN" sz="1400" b="1" kern="100" dirty="0">
                          <a:effectLst/>
                        </a:rPr>
                        <a:t>反</a:t>
                      </a:r>
                      <a:r>
                        <a:rPr lang="en-US" sz="1400" b="1" kern="100" dirty="0">
                          <a:effectLst/>
                        </a:rPr>
                        <a:t>2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C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B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87556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zh-CN" sz="1400" b="1" kern="100" dirty="0">
                          <a:effectLst/>
                        </a:rPr>
                        <a:t>正</a:t>
                      </a:r>
                      <a:r>
                        <a:rPr lang="en-US" sz="1400" b="1" kern="100" dirty="0">
                          <a:effectLst/>
                        </a:rPr>
                        <a:t>3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C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D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9591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zh-CN" sz="1400" b="1" kern="100" dirty="0">
                          <a:effectLst/>
                        </a:rPr>
                        <a:t>反</a:t>
                      </a:r>
                      <a:r>
                        <a:rPr lang="en-US" sz="1400" b="1" kern="100" dirty="0">
                          <a:effectLst/>
                        </a:rPr>
                        <a:t>3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endParaRPr lang="zh-CN" sz="105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>
                          <a:effectLst/>
                        </a:rPr>
                        <a:t> </a:t>
                      </a:r>
                      <a:endParaRPr lang="zh-CN" sz="105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300"/>
                        </a:lnSpc>
                        <a:spcAft>
                          <a:spcPts val="0"/>
                        </a:spcAft>
                        <a:tabLst>
                          <a:tab pos="5600700" algn="l"/>
                        </a:tabLst>
                      </a:pPr>
                      <a:r>
                        <a:rPr lang="en-US" sz="1400" b="1" kern="100" dirty="0">
                          <a:effectLst/>
                        </a:rPr>
                        <a:t> </a:t>
                      </a:r>
                      <a:r>
                        <a:rPr lang="en-US" sz="1400" b="1" kern="100" dirty="0" smtClean="0">
                          <a:solidFill>
                            <a:srgbClr val="0070C0"/>
                          </a:solidFill>
                          <a:effectLst/>
                        </a:rPr>
                        <a:t>D</a:t>
                      </a:r>
                      <a:endParaRPr lang="zh-CN" sz="1050" b="1" kern="100" dirty="0">
                        <a:solidFill>
                          <a:srgbClr val="0070C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6287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7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855</Words>
  <Application>Microsoft Office PowerPoint</Application>
  <PresentationFormat>宽屏</PresentationFormat>
  <Paragraphs>204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Cambria Math</vt:lpstr>
      <vt:lpstr>Times New Roman</vt:lpstr>
      <vt:lpstr>Wingdings</vt:lpstr>
      <vt:lpstr>Office 主题​​</vt:lpstr>
      <vt:lpstr> 传感技术实验</vt:lpstr>
      <vt:lpstr> 传感技术实验</vt:lpstr>
      <vt:lpstr> 传感技术实验</vt:lpstr>
      <vt:lpstr> 传感技术实验</vt:lpstr>
      <vt:lpstr> 传感技术实验</vt:lpstr>
      <vt:lpstr> 传感技术实验</vt:lpstr>
      <vt:lpstr> 传感技术实验</vt:lpstr>
      <vt:lpstr> 传感技术实验</vt:lpstr>
      <vt:lpstr> 传感技术实验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hw</dc:creator>
  <cp:lastModifiedBy>hw</cp:lastModifiedBy>
  <cp:revision>46</cp:revision>
  <dcterms:created xsi:type="dcterms:W3CDTF">2023-10-08T02:42:35Z</dcterms:created>
  <dcterms:modified xsi:type="dcterms:W3CDTF">2024-10-08T00:12:20Z</dcterms:modified>
</cp:coreProperties>
</file>
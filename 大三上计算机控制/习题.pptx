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635" r:id="rId3"/>
    <p:sldId id="408" r:id="rId4"/>
    <p:sldId id="519" r:id="rId5"/>
    <p:sldId id="636" r:id="rId6"/>
    <p:sldId id="637" r:id="rId7"/>
    <p:sldId id="412" r:id="rId8"/>
    <p:sldId id="447" r:id="rId9"/>
    <p:sldId id="640" r:id="rId10"/>
    <p:sldId id="518" r:id="rId11"/>
    <p:sldId id="442" r:id="rId12"/>
    <p:sldId id="443" r:id="rId13"/>
    <p:sldId id="638" r:id="rId14"/>
    <p:sldId id="639" r:id="rId15"/>
  </p:sldIdLst>
  <p:sldSz cx="9144000" cy="6858000" type="screen4x3"/>
  <p:notesSz cx="6858000" cy="9144000"/>
  <p:custDataLst>
    <p:tags r:id="rId20"/>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80"/>
    <a:srgbClr val="3333FF"/>
    <a:srgbClr val="009900"/>
    <a:srgbClr val="008000"/>
    <a:srgbClr val="DB011B"/>
    <a:srgbClr val="E701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5269"/>
    <p:restoredTop sz="94712"/>
  </p:normalViewPr>
  <p:slideViewPr>
    <p:cSldViewPr showGuides="1">
      <p:cViewPr varScale="1">
        <p:scale>
          <a:sx n="108" d="100"/>
          <a:sy n="108" d="100"/>
        </p:scale>
        <p:origin x="1296" y="102"/>
      </p:cViewPr>
      <p:guideLst>
        <p:guide orient="horz" pos="2180"/>
        <p:guide pos="288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9.emf"/><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7154C9C3-7BEF-4434-A910-3BB0AB91CDF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933E149A-199E-42DC-9E00-4C4284C86859}"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5" name="Rectangle 6"/>
          <p:cNvSpPr>
            <a:spLocks noGrp="1" noChangeArrowheads="1"/>
          </p:cNvSpPr>
          <p:nvPr>
            <p:ph type="dt" sz="half" idx="2"/>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3"/>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EEE657C0-6D53-4D70-BE9B-3A37C96C051D}" type="slidenum">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5" name="Rectangle 6"/>
          <p:cNvSpPr>
            <a:spLocks noGrp="1" noChangeArrowheads="1"/>
          </p:cNvSpPr>
          <p:nvPr>
            <p:ph type="dt" sz="half" idx="12"/>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3"/>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443443F9-2487-4635-93B8-42B9D1DDAAC3}" type="slidenum">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4648200" y="4114800"/>
            <a:ext cx="3810000"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5" name="Rectangle 6"/>
          <p:cNvSpPr>
            <a:spLocks noGrp="1" noChangeArrowheads="1"/>
          </p:cNvSpPr>
          <p:nvPr>
            <p:ph type="dt" sz="half" idx="12"/>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13"/>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0491F328-3D25-4030-8E59-470E4207863A}" type="slidenum">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5" name="Rectangle 6"/>
          <p:cNvSpPr>
            <a:spLocks noGrp="1" noChangeArrowheads="1"/>
          </p:cNvSpPr>
          <p:nvPr>
            <p:ph type="dt" sz="half" idx="12"/>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13"/>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14"/>
          </p:nvPr>
        </p:nvSpPr>
        <p:spPr>
          <a:xfrm>
            <a:off x="0" y="0"/>
            <a:ext cx="0" cy="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F5A9D7B7-60EC-45AD-8419-010A31DF54BD}" type="slidenum">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13"/>
          <p:cNvGrpSpPr/>
          <p:nvPr userDrawn="1"/>
        </p:nvGrpSpPr>
        <p:grpSpPr>
          <a:xfrm>
            <a:off x="76200" y="152400"/>
            <a:ext cx="8839200" cy="6324600"/>
            <a:chOff x="48" y="96"/>
            <a:chExt cx="5568" cy="3984"/>
          </a:xfrm>
        </p:grpSpPr>
        <p:grpSp>
          <p:nvGrpSpPr>
            <p:cNvPr id="1027" name="Group 14"/>
            <p:cNvGrpSpPr/>
            <p:nvPr userDrawn="1"/>
          </p:nvGrpSpPr>
          <p:grpSpPr>
            <a:xfrm>
              <a:off x="48" y="96"/>
              <a:ext cx="432" cy="336"/>
              <a:chOff x="370" y="482"/>
              <a:chExt cx="726" cy="663"/>
            </a:xfrm>
          </p:grpSpPr>
          <p:sp>
            <p:nvSpPr>
              <p:cNvPr id="1033" name="Rectangle 15"/>
              <p:cNvSpPr>
                <a:spLocks noChangeArrowheads="1"/>
              </p:cNvSpPr>
              <p:nvPr/>
            </p:nvSpPr>
            <p:spPr bwMode="ltGray">
              <a:xfrm>
                <a:off x="553" y="549"/>
                <a:ext cx="276" cy="300"/>
              </a:xfrm>
              <a:prstGeom prst="rect">
                <a:avLst/>
              </a:prstGeom>
              <a:solidFill>
                <a:schemeClr val="accent2"/>
              </a:soli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4" name="Rectangle 16"/>
              <p:cNvSpPr>
                <a:spLocks noChangeArrowheads="1"/>
              </p:cNvSpPr>
              <p:nvPr/>
            </p:nvSpPr>
            <p:spPr bwMode="ltGray">
              <a:xfrm>
                <a:off x="794" y="549"/>
                <a:ext cx="207" cy="300"/>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5" name="Rectangle 17"/>
              <p:cNvSpPr>
                <a:spLocks noChangeArrowheads="1"/>
              </p:cNvSpPr>
              <p:nvPr/>
            </p:nvSpPr>
            <p:spPr bwMode="ltGray">
              <a:xfrm>
                <a:off x="630" y="815"/>
                <a:ext cx="267" cy="300"/>
              </a:xfrm>
              <a:prstGeom prst="rect">
                <a:avLst/>
              </a:prstGeom>
              <a:solidFill>
                <a:schemeClr val="folHlink"/>
              </a:soli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6" name="Rectangle 18"/>
              <p:cNvSpPr>
                <a:spLocks noChangeArrowheads="1"/>
              </p:cNvSpPr>
              <p:nvPr/>
            </p:nvSpPr>
            <p:spPr bwMode="ltGray">
              <a:xfrm>
                <a:off x="864" y="815"/>
                <a:ext cx="232" cy="300"/>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7" name="Rectangle 19"/>
              <p:cNvSpPr>
                <a:spLocks noChangeArrowheads="1"/>
              </p:cNvSpPr>
              <p:nvPr/>
            </p:nvSpPr>
            <p:spPr bwMode="ltGray">
              <a:xfrm>
                <a:off x="370" y="770"/>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8" name="Rectangle 20"/>
              <p:cNvSpPr>
                <a:spLocks noChangeArrowheads="1"/>
              </p:cNvSpPr>
              <p:nvPr/>
            </p:nvSpPr>
            <p:spPr bwMode="gray">
              <a:xfrm>
                <a:off x="770" y="482"/>
                <a:ext cx="20" cy="663"/>
              </a:xfrm>
              <a:prstGeom prst="rect">
                <a:avLst/>
              </a:prstGeom>
              <a:solidFill>
                <a:schemeClr val="bg2"/>
              </a:solidFill>
              <a:ln>
                <a:noFill/>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 name="Line 21"/>
            <p:cNvSpPr/>
            <p:nvPr userDrawn="1"/>
          </p:nvSpPr>
          <p:spPr>
            <a:xfrm>
              <a:off x="1728" y="336"/>
              <a:ext cx="3888" cy="0"/>
            </a:xfrm>
            <a:prstGeom prst="line">
              <a:avLst/>
            </a:prstGeom>
            <a:ln w="38100" cap="flat" cmpd="sng">
              <a:solidFill>
                <a:srgbClr val="3333FF"/>
              </a:solidFill>
              <a:prstDash val="solid"/>
              <a:round/>
              <a:headEnd type="none" w="med" len="med"/>
              <a:tailEnd type="none" w="med" len="med"/>
            </a:ln>
          </p:spPr>
        </p:sp>
        <p:sp>
          <p:nvSpPr>
            <p:cNvPr id="3" name="Line 22"/>
            <p:cNvSpPr/>
            <p:nvPr userDrawn="1"/>
          </p:nvSpPr>
          <p:spPr>
            <a:xfrm>
              <a:off x="192" y="4080"/>
              <a:ext cx="5424" cy="0"/>
            </a:xfrm>
            <a:prstGeom prst="line">
              <a:avLst/>
            </a:prstGeom>
            <a:ln w="38100" cap="flat" cmpd="sng">
              <a:solidFill>
                <a:srgbClr val="3333FF"/>
              </a:solidFill>
              <a:prstDash val="solid"/>
              <a:round/>
              <a:headEnd type="none" w="med" len="med"/>
              <a:tailEnd type="none" w="med" len="med"/>
            </a:ln>
          </p:spPr>
        </p:sp>
        <p:sp>
          <p:nvSpPr>
            <p:cNvPr id="1030" name="Rectangle 23"/>
            <p:cNvSpPr>
              <a:spLocks noChangeArrowheads="1"/>
            </p:cNvSpPr>
            <p:nvPr/>
          </p:nvSpPr>
          <p:spPr bwMode="auto">
            <a:xfrm>
              <a:off x="3120" y="144"/>
              <a:ext cx="2400" cy="194"/>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1400" b="1" i="1" u="none" strike="noStrike" kern="1200" cap="none" spc="0" normalizeH="0" baseline="0" noProof="0" dirty="0">
                  <a:ln>
                    <a:noFill/>
                  </a:ln>
                  <a:solidFill>
                    <a:srgbClr val="3333FF"/>
                  </a:solidFill>
                  <a:effectLst/>
                  <a:uLnTx/>
                  <a:uFillTx/>
                  <a:latin typeface="Times New Roman" panose="02020603050405020304" pitchFamily="18" charset="0"/>
                  <a:ea typeface="宋体" panose="02010600030101010101" pitchFamily="2" charset="-122"/>
                  <a:cs typeface="Times New Roman" panose="02020603050405020304" pitchFamily="18" charset="0"/>
                </a:rPr>
                <a:t>课程复习</a:t>
              </a:r>
              <a:endParaRPr kumimoji="1" lang="zh-CN" altLang="en-US" sz="1400" b="1" i="1" u="none" strike="noStrike" kern="1200" cap="none" spc="0" normalizeH="0" baseline="0" noProof="0" dirty="0">
                <a:ln>
                  <a:noFill/>
                </a:ln>
                <a:solidFill>
                  <a:srgbClr val="3333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31" name="Text Box 24"/>
            <p:cNvSpPr txBox="1">
              <a:spLocks noChangeArrowheads="1"/>
            </p:cNvSpPr>
            <p:nvPr/>
          </p:nvSpPr>
          <p:spPr bwMode="auto">
            <a:xfrm>
              <a:off x="480" y="192"/>
              <a:ext cx="1392" cy="250"/>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1" i="1"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rPr>
                <a:t>计算机控制技术</a:t>
              </a:r>
              <a:endParaRPr kumimoji="1" lang="zh-CN" altLang="en-US" sz="2000" b="1" i="1" u="none" strike="noStrike" kern="1200" cap="none" spc="0" normalizeH="0" baseline="0" noProof="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4" name="Line 25"/>
            <p:cNvSpPr/>
            <p:nvPr userDrawn="1"/>
          </p:nvSpPr>
          <p:spPr>
            <a:xfrm flipV="1">
              <a:off x="192" y="336"/>
              <a:ext cx="336" cy="0"/>
            </a:xfrm>
            <a:prstGeom prst="line">
              <a:avLst/>
            </a:prstGeom>
            <a:ln w="38100" cap="flat" cmpd="sng">
              <a:solidFill>
                <a:srgbClr val="3333FF"/>
              </a:solidFill>
              <a:prstDash val="solid"/>
              <a:roun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4.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 Id="rId3" Type="http://schemas.openxmlformats.org/officeDocument/2006/relationships/oleObject" Target="../embeddings/oleObject3.bin"/><Relationship Id="rId2" Type="http://schemas.openxmlformats.org/officeDocument/2006/relationships/image" Target="../media/image3.wmf"/><Relationship Id="rId1"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emf"/><Relationship Id="rId7" Type="http://schemas.openxmlformats.org/officeDocument/2006/relationships/oleObject" Target="../embeddings/oleObject8.bin"/><Relationship Id="rId6" Type="http://schemas.openxmlformats.org/officeDocument/2006/relationships/image" Target="../media/image8.emf"/><Relationship Id="rId5" Type="http://schemas.openxmlformats.org/officeDocument/2006/relationships/oleObject" Target="../embeddings/oleObject7.bin"/><Relationship Id="rId4" Type="http://schemas.openxmlformats.org/officeDocument/2006/relationships/image" Target="../media/image7.emf"/><Relationship Id="rId3" Type="http://schemas.openxmlformats.org/officeDocument/2006/relationships/oleObject" Target="../embeddings/oleObject6.bin"/><Relationship Id="rId2" Type="http://schemas.openxmlformats.org/officeDocument/2006/relationships/image" Target="../media/image6.emf"/><Relationship Id="rId10" Type="http://schemas.openxmlformats.org/officeDocument/2006/relationships/vmlDrawing" Target="../drawings/vmlDrawing3.vml"/><Relationship Id="rId1"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p:nvPr/>
        </p:nvSpPr>
        <p:spPr>
          <a:xfrm>
            <a:off x="468313" y="602139"/>
            <a:ext cx="8334375" cy="2306955"/>
          </a:xfrm>
          <a:prstGeom prst="rect">
            <a:avLst/>
          </a:prstGeom>
          <a:noFill/>
          <a:ln w="9525">
            <a:noFill/>
          </a:ln>
        </p:spPr>
        <p:txBody>
          <a:bodyPr anchor="ctr" anchorCtr="0">
            <a:spAutoFit/>
          </a:bodyPr>
          <a:p>
            <a:pPr defTabSz="914400" eaLnBrk="0" hangingPunct="0">
              <a:tabLst>
                <a:tab pos="228600" algn="l"/>
                <a:tab pos="342900" algn="l"/>
              </a:tabLst>
            </a:pPr>
            <a:r>
              <a:rPr lang="zh-CN" altLang="en-US" sz="2400" b="1" dirty="0">
                <a:latin typeface="Arial" panose="020B0604020202020204" pitchFamily="34" charset="0"/>
                <a:ea typeface="宋体" panose="02010600030101010101" pitchFamily="2" charset="-122"/>
              </a:rPr>
              <a:t>习题</a:t>
            </a:r>
            <a:r>
              <a:rPr lang="en-US" altLang="zh-CN" sz="2400" b="1" dirty="0">
                <a:latin typeface="Arial" panose="020B0604020202020204" pitchFamily="34" charset="0"/>
                <a:ea typeface="宋体" panose="02010600030101010101" pitchFamily="2" charset="-122"/>
              </a:rPr>
              <a:t>1</a:t>
            </a:r>
            <a:endParaRPr lang="en-US" altLang="zh-CN" sz="2400" b="1" dirty="0">
              <a:latin typeface="Arial" panose="020B0604020202020204" pitchFamily="34" charset="0"/>
              <a:ea typeface="宋体" panose="02010600030101010101" pitchFamily="2" charset="-122"/>
            </a:endParaRPr>
          </a:p>
          <a:p>
            <a:pPr defTabSz="914400" eaLnBrk="0" hangingPunct="0">
              <a:tabLst>
                <a:tab pos="228600" algn="l"/>
                <a:tab pos="342900" algn="l"/>
              </a:tabLst>
            </a:pPr>
            <a:r>
              <a:rPr lang="en-US" altLang="zh-CN" sz="2000" dirty="0">
                <a:solidFill>
                  <a:srgbClr val="000000"/>
                </a:solidFill>
                <a:latin typeface="Times New Roman" panose="02020603050405020304" pitchFamily="18" charset="0"/>
                <a:ea typeface="宋体" panose="02010600030101010101" pitchFamily="2" charset="-122"/>
              </a:rPr>
              <a:t>1</a:t>
            </a:r>
            <a:r>
              <a:rPr lang="zh-CN" altLang="en-US" sz="2000" dirty="0">
                <a:solidFill>
                  <a:srgbClr val="000000"/>
                </a:solidFill>
                <a:latin typeface="Times New Roman" panose="02020603050405020304" pitchFamily="18" charset="0"/>
                <a:ea typeface="宋体" panose="02010600030101010101" pitchFamily="2" charset="-122"/>
              </a:rPr>
              <a:t>、逐次逼近式</a:t>
            </a:r>
            <a:r>
              <a:rPr lang="en-US" altLang="zh-CN" sz="2000" dirty="0">
                <a:solidFill>
                  <a:srgbClr val="000000"/>
                </a:solidFill>
                <a:latin typeface="Times New Roman" panose="02020603050405020304" pitchFamily="18" charset="0"/>
                <a:ea typeface="宋体" panose="02010600030101010101" pitchFamily="2" charset="-122"/>
              </a:rPr>
              <a:t>A/D</a:t>
            </a:r>
            <a:r>
              <a:rPr lang="zh-CN" altLang="en-US" sz="2000" dirty="0">
                <a:solidFill>
                  <a:srgbClr val="000000"/>
                </a:solidFill>
                <a:latin typeface="Times New Roman" panose="02020603050405020304" pitchFamily="18" charset="0"/>
                <a:ea typeface="宋体" panose="02010600030101010101" pitchFamily="2" charset="-122"/>
              </a:rPr>
              <a:t>转换器和双积分式</a:t>
            </a:r>
            <a:r>
              <a:rPr lang="en-US" altLang="zh-CN" sz="2000" dirty="0">
                <a:solidFill>
                  <a:srgbClr val="000000"/>
                </a:solidFill>
                <a:latin typeface="Times New Roman" panose="02020603050405020304" pitchFamily="18" charset="0"/>
                <a:ea typeface="宋体" panose="02010600030101010101" pitchFamily="2" charset="-122"/>
              </a:rPr>
              <a:t>A/D</a:t>
            </a:r>
            <a:r>
              <a:rPr lang="zh-CN" altLang="en-US" sz="2000" dirty="0">
                <a:solidFill>
                  <a:srgbClr val="000000"/>
                </a:solidFill>
                <a:latin typeface="Times New Roman" panose="02020603050405020304" pitchFamily="18" charset="0"/>
                <a:ea typeface="宋体" panose="02010600030101010101" pitchFamily="2" charset="-122"/>
              </a:rPr>
              <a:t>转换器的转换时间，与输入的模拟电压的关系分别为（</a:t>
            </a:r>
            <a:r>
              <a:rPr lang="zh-CN" altLang="en-US" sz="2000" dirty="0">
                <a:solidFill>
                  <a:srgbClr val="FF0000"/>
                </a:solidFill>
                <a:latin typeface="Times New Roman" panose="02020603050405020304" pitchFamily="18" charset="0"/>
                <a:ea typeface="宋体" panose="02010600030101010101" pitchFamily="2" charset="-122"/>
              </a:rPr>
              <a:t>  </a:t>
            </a:r>
            <a:r>
              <a:rPr lang="zh-CN" altLang="en-US" sz="2000" dirty="0">
                <a:solidFill>
                  <a:srgbClr val="000000"/>
                </a:solidFill>
                <a:latin typeface="Times New Roman" panose="02020603050405020304" pitchFamily="18" charset="0"/>
                <a:ea typeface="宋体" panose="02010600030101010101" pitchFamily="2" charset="-122"/>
              </a:rPr>
              <a:t>）</a:t>
            </a:r>
            <a:endParaRPr lang="en-US" altLang="zh-CN" sz="2000" dirty="0">
              <a:solidFill>
                <a:srgbClr val="000000"/>
              </a:solidFill>
              <a:latin typeface="Times New Roman" panose="02020603050405020304" pitchFamily="18" charset="0"/>
              <a:ea typeface="宋体" panose="02010600030101010101" pitchFamily="2" charset="-122"/>
            </a:endParaRPr>
          </a:p>
          <a:p>
            <a:pPr defTabSz="914400" eaLnBrk="0" hangingPunct="0">
              <a:tabLst>
                <a:tab pos="228600" algn="l"/>
                <a:tab pos="342900" algn="l"/>
              </a:tabLst>
            </a:pPr>
            <a:r>
              <a:rPr lang="en-US" altLang="zh-CN" sz="2000" dirty="0">
                <a:solidFill>
                  <a:srgbClr val="000000"/>
                </a:solidFill>
                <a:latin typeface="Times New Roman" panose="02020603050405020304" pitchFamily="18" charset="0"/>
                <a:ea typeface="宋体" panose="02010600030101010101" pitchFamily="2" charset="-122"/>
              </a:rPr>
              <a:t>A</a:t>
            </a:r>
            <a:r>
              <a:rPr lang="zh-CN" altLang="en-US" sz="2000" dirty="0">
                <a:solidFill>
                  <a:srgbClr val="000000"/>
                </a:solidFill>
                <a:latin typeface="Times New Roman" panose="02020603050405020304" pitchFamily="18" charset="0"/>
                <a:ea typeface="宋体" panose="02010600030101010101" pitchFamily="2" charset="-122"/>
              </a:rPr>
              <a:t>、有关、有关    </a:t>
            </a:r>
            <a:r>
              <a:rPr lang="en-US" altLang="zh-CN" sz="2000" dirty="0">
                <a:solidFill>
                  <a:srgbClr val="000000"/>
                </a:solidFill>
                <a:latin typeface="Times New Roman" panose="02020603050405020304" pitchFamily="18" charset="0"/>
                <a:ea typeface="宋体" panose="02010600030101010101" pitchFamily="2" charset="-122"/>
              </a:rPr>
              <a:t>B</a:t>
            </a:r>
            <a:r>
              <a:rPr lang="zh-CN" altLang="en-US" sz="2000" dirty="0">
                <a:solidFill>
                  <a:srgbClr val="000000"/>
                </a:solidFill>
                <a:latin typeface="Times New Roman" panose="02020603050405020304" pitchFamily="18" charset="0"/>
                <a:ea typeface="宋体" panose="02010600030101010101" pitchFamily="2" charset="-122"/>
              </a:rPr>
              <a:t>、无关、无关    </a:t>
            </a:r>
            <a:r>
              <a:rPr lang="en-US" altLang="zh-CN" sz="2000" dirty="0">
                <a:solidFill>
                  <a:srgbClr val="000000"/>
                </a:solidFill>
                <a:latin typeface="Times New Roman" panose="02020603050405020304" pitchFamily="18" charset="0"/>
                <a:ea typeface="宋体" panose="02010600030101010101" pitchFamily="2" charset="-122"/>
              </a:rPr>
              <a:t>C</a:t>
            </a:r>
            <a:r>
              <a:rPr lang="zh-CN" altLang="en-US" sz="2000" dirty="0">
                <a:solidFill>
                  <a:srgbClr val="000000"/>
                </a:solidFill>
                <a:latin typeface="Times New Roman" panose="02020603050405020304" pitchFamily="18" charset="0"/>
                <a:ea typeface="宋体" panose="02010600030101010101" pitchFamily="2" charset="-122"/>
              </a:rPr>
              <a:t>、有关、无关   </a:t>
            </a:r>
            <a:r>
              <a:rPr lang="en-US" altLang="zh-CN" sz="2000" dirty="0">
                <a:solidFill>
                  <a:srgbClr val="000000"/>
                </a:solidFill>
                <a:latin typeface="Times New Roman" panose="02020603050405020304" pitchFamily="18" charset="0"/>
                <a:ea typeface="宋体" panose="02010600030101010101" pitchFamily="2" charset="-122"/>
              </a:rPr>
              <a:t>D</a:t>
            </a:r>
            <a:r>
              <a:rPr lang="zh-CN" altLang="en-US" sz="2000" dirty="0">
                <a:solidFill>
                  <a:srgbClr val="000000"/>
                </a:solidFill>
                <a:latin typeface="Times New Roman" panose="02020603050405020304" pitchFamily="18" charset="0"/>
                <a:ea typeface="宋体" panose="02010600030101010101" pitchFamily="2" charset="-122"/>
              </a:rPr>
              <a:t>、无关、有关</a:t>
            </a:r>
            <a:endParaRPr lang="en-US" altLang="zh-CN" sz="2000" dirty="0">
              <a:solidFill>
                <a:srgbClr val="000000"/>
              </a:solidFill>
              <a:latin typeface="Times New Roman" panose="02020603050405020304" pitchFamily="18" charset="0"/>
              <a:ea typeface="宋体" panose="02010600030101010101" pitchFamily="2" charset="-122"/>
            </a:endParaRPr>
          </a:p>
          <a:p>
            <a:pPr defTabSz="914400" eaLnBrk="0" hangingPunct="0">
              <a:tabLst>
                <a:tab pos="228600" algn="l"/>
                <a:tab pos="342900" algn="l"/>
              </a:tabLst>
            </a:pPr>
            <a:endParaRPr lang="zh-CN" altLang="en-US" sz="2000" dirty="0">
              <a:latin typeface="Arial" panose="020B0604020202020204" pitchFamily="34" charset="0"/>
              <a:ea typeface="宋体" panose="02010600030101010101" pitchFamily="2" charset="-122"/>
            </a:endParaRPr>
          </a:p>
          <a:p>
            <a:pPr defTabSz="914400" eaLnBrk="0" hangingPunct="0">
              <a:tabLst>
                <a:tab pos="228600" algn="l"/>
                <a:tab pos="342900" algn="l"/>
              </a:tabLst>
            </a:pPr>
            <a:r>
              <a:rPr lang="en-US" altLang="zh-CN" sz="2000" dirty="0">
                <a:solidFill>
                  <a:srgbClr val="000000"/>
                </a:solidFill>
                <a:latin typeface="Times New Roman" panose="02020603050405020304" pitchFamily="18" charset="0"/>
                <a:ea typeface="宋体" panose="02010600030101010101" pitchFamily="2" charset="-122"/>
              </a:rPr>
              <a:t>2</a:t>
            </a:r>
            <a:r>
              <a:rPr lang="zh-CN" altLang="en-US" sz="2000" dirty="0">
                <a:solidFill>
                  <a:srgbClr val="000000"/>
                </a:solidFill>
                <a:latin typeface="Times New Roman" panose="02020603050405020304" pitchFamily="18" charset="0"/>
                <a:ea typeface="宋体" panose="02010600030101010101" pitchFamily="2" charset="-122"/>
              </a:rPr>
              <a:t>、采集下图所示的系统输出信号，应采用下面哪种数字滤波形式 （</a:t>
            </a:r>
            <a:r>
              <a:rPr lang="zh-CN" altLang="en-US" sz="2000" dirty="0">
                <a:solidFill>
                  <a:srgbClr val="FF0000"/>
                </a:solidFill>
                <a:latin typeface="Times New Roman" panose="02020603050405020304" pitchFamily="18" charset="0"/>
                <a:ea typeface="宋体" panose="02010600030101010101" pitchFamily="2" charset="-122"/>
              </a:rPr>
              <a:t>  </a:t>
            </a:r>
            <a:r>
              <a:rPr lang="zh-CN" altLang="en-US" sz="2000" dirty="0">
                <a:solidFill>
                  <a:srgbClr val="000000"/>
                </a:solidFill>
                <a:latin typeface="Times New Roman" panose="02020603050405020304" pitchFamily="18"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pPr defTabSz="914400" eaLnBrk="0" hangingPunct="0">
              <a:tabLst>
                <a:tab pos="228600" algn="l"/>
                <a:tab pos="342900" algn="l"/>
              </a:tabLst>
            </a:pPr>
            <a:endParaRPr lang="zh-CN" altLang="en-US" sz="2000" dirty="0">
              <a:latin typeface="Arial" panose="020B0604020202020204" pitchFamily="34" charset="0"/>
              <a:ea typeface="宋体" panose="02010600030101010101" pitchFamily="2" charset="-122"/>
            </a:endParaRPr>
          </a:p>
        </p:txBody>
      </p:sp>
      <p:graphicFrame>
        <p:nvGraphicFramePr>
          <p:cNvPr id="35842" name="对象 4"/>
          <p:cNvGraphicFramePr>
            <a:graphicFrameLocks noChangeAspect="1"/>
          </p:cNvGraphicFramePr>
          <p:nvPr/>
        </p:nvGraphicFramePr>
        <p:xfrm>
          <a:off x="971233" y="2707481"/>
          <a:ext cx="2943860" cy="2087245"/>
        </p:xfrm>
        <a:graphic>
          <a:graphicData uri="http://schemas.openxmlformats.org/presentationml/2006/ole">
            <mc:AlternateContent xmlns:mc="http://schemas.openxmlformats.org/markup-compatibility/2006">
              <mc:Choice xmlns:v="urn:schemas-microsoft-com:vml" Requires="v">
                <p:oleObj spid="_x0000_s3100" name="" r:id="rId1" imgW="3523615" imgH="2498090" progId="Visio.Drawing.11">
                  <p:embed/>
                </p:oleObj>
              </mc:Choice>
              <mc:Fallback>
                <p:oleObj name="" r:id="rId1" imgW="3523615" imgH="2498090" progId="Visio.Drawing.11">
                  <p:embed/>
                  <p:pic>
                    <p:nvPicPr>
                      <p:cNvPr id="0" name="图片 3099"/>
                      <p:cNvPicPr/>
                      <p:nvPr/>
                    </p:nvPicPr>
                    <p:blipFill>
                      <a:blip r:embed="rId2"/>
                      <a:stretch>
                        <a:fillRect/>
                      </a:stretch>
                    </p:blipFill>
                    <p:spPr>
                      <a:xfrm>
                        <a:off x="971233" y="2707481"/>
                        <a:ext cx="2943860" cy="2087245"/>
                      </a:xfrm>
                      <a:prstGeom prst="rect">
                        <a:avLst/>
                      </a:prstGeom>
                      <a:noFill/>
                      <a:ln w="38100">
                        <a:noFill/>
                        <a:miter/>
                      </a:ln>
                    </p:spPr>
                  </p:pic>
                </p:oleObj>
              </mc:Fallback>
            </mc:AlternateContent>
          </a:graphicData>
        </a:graphic>
      </p:graphicFrame>
      <p:sp>
        <p:nvSpPr>
          <p:cNvPr id="35843" name="Rectangle 3"/>
          <p:cNvSpPr/>
          <p:nvPr/>
        </p:nvSpPr>
        <p:spPr>
          <a:xfrm>
            <a:off x="347663" y="4794885"/>
            <a:ext cx="8462962" cy="400050"/>
          </a:xfrm>
          <a:prstGeom prst="rect">
            <a:avLst/>
          </a:prstGeom>
          <a:noFill/>
          <a:ln w="9525">
            <a:noFill/>
          </a:ln>
        </p:spPr>
        <p:txBody>
          <a:bodyPr wrap="none" anchor="ctr" anchorCtr="0">
            <a:spAutoFit/>
          </a:bodyPr>
          <a:p>
            <a:pPr eaLnBrk="0" hangingPunct="0"/>
            <a:r>
              <a:rPr lang="en-US" altLang="zh-CN" sz="2000" dirty="0">
                <a:solidFill>
                  <a:srgbClr val="000000"/>
                </a:solidFill>
                <a:latin typeface="宋体" panose="02010600030101010101" pitchFamily="2" charset="-122"/>
                <a:ea typeface="宋体" panose="02010600030101010101" pitchFamily="2" charset="-122"/>
              </a:rPr>
              <a:t>A</a:t>
            </a:r>
            <a:r>
              <a:rPr lang="zh-CN" altLang="en-US" sz="2000" dirty="0">
                <a:solidFill>
                  <a:srgbClr val="000000"/>
                </a:solidFill>
                <a:latin typeface="宋体" panose="02010600030101010101" pitchFamily="2" charset="-122"/>
                <a:ea typeface="宋体" panose="02010600030101010101" pitchFamily="2" charset="-122"/>
              </a:rPr>
              <a:t>、加权平均值滤波    </a:t>
            </a:r>
            <a:r>
              <a:rPr lang="en-US" altLang="zh-CN" sz="2000" dirty="0">
                <a:solidFill>
                  <a:srgbClr val="000000"/>
                </a:solidFill>
                <a:latin typeface="宋体" panose="02010600030101010101" pitchFamily="2" charset="-122"/>
                <a:ea typeface="宋体" panose="02010600030101010101" pitchFamily="2" charset="-122"/>
              </a:rPr>
              <a:t>B</a:t>
            </a:r>
            <a:r>
              <a:rPr lang="zh-CN" altLang="en-US" sz="2000" dirty="0">
                <a:solidFill>
                  <a:srgbClr val="000000"/>
                </a:solidFill>
                <a:latin typeface="宋体" panose="02010600030101010101" pitchFamily="2" charset="-122"/>
                <a:ea typeface="宋体" panose="02010600030101010101" pitchFamily="2" charset="-122"/>
              </a:rPr>
              <a:t>、中值滤波     </a:t>
            </a:r>
            <a:r>
              <a:rPr lang="en-US" altLang="zh-CN" sz="2000" dirty="0">
                <a:solidFill>
                  <a:srgbClr val="000000"/>
                </a:solidFill>
                <a:latin typeface="宋体" panose="02010600030101010101" pitchFamily="2" charset="-122"/>
                <a:ea typeface="宋体" panose="02010600030101010101" pitchFamily="2" charset="-122"/>
              </a:rPr>
              <a:t>C</a:t>
            </a:r>
            <a:r>
              <a:rPr lang="zh-CN" altLang="en-US" sz="2000" dirty="0">
                <a:solidFill>
                  <a:srgbClr val="000000"/>
                </a:solidFill>
                <a:latin typeface="宋体" panose="02010600030101010101" pitchFamily="2" charset="-122"/>
                <a:ea typeface="宋体" panose="02010600030101010101" pitchFamily="2" charset="-122"/>
              </a:rPr>
              <a:t>、限幅滤波     </a:t>
            </a:r>
            <a:r>
              <a:rPr lang="en-US" altLang="zh-CN" sz="2000" dirty="0">
                <a:solidFill>
                  <a:srgbClr val="000000"/>
                </a:solidFill>
                <a:latin typeface="宋体" panose="02010600030101010101" pitchFamily="2" charset="-122"/>
                <a:ea typeface="宋体" panose="02010600030101010101" pitchFamily="2" charset="-122"/>
              </a:rPr>
              <a:t>D</a:t>
            </a:r>
            <a:r>
              <a:rPr lang="zh-CN" altLang="en-US" sz="2000" dirty="0">
                <a:solidFill>
                  <a:srgbClr val="000000"/>
                </a:solidFill>
                <a:latin typeface="宋体" panose="02010600030101010101" pitchFamily="2" charset="-122"/>
                <a:ea typeface="宋体" panose="02010600030101010101" pitchFamily="2" charset="-122"/>
              </a:rPr>
              <a:t>、惯性滤波</a:t>
            </a:r>
            <a:r>
              <a:rPr lang="zh-CN" altLang="en-US" sz="2000" dirty="0">
                <a:latin typeface="Arial" panose="020B0604020202020204" pitchFamily="34" charset="0"/>
                <a:ea typeface="宋体" panose="02010600030101010101" pitchFamily="2" charset="-122"/>
              </a:rPr>
              <a:t> </a:t>
            </a:r>
            <a:endParaRPr lang="zh-CN" altLang="en-US" sz="2000" dirty="0">
              <a:latin typeface="Arial" panose="020B0604020202020204" pitchFamily="34" charset="0"/>
              <a:ea typeface="宋体" panose="02010600030101010101" pitchFamily="2" charset="-122"/>
            </a:endParaRPr>
          </a:p>
        </p:txBody>
      </p:sp>
      <p:sp>
        <p:nvSpPr>
          <p:cNvPr id="2" name="Rectangle 3"/>
          <p:cNvSpPr/>
          <p:nvPr/>
        </p:nvSpPr>
        <p:spPr>
          <a:xfrm>
            <a:off x="347980" y="5185728"/>
            <a:ext cx="8289925" cy="1322070"/>
          </a:xfrm>
          <a:prstGeom prst="rect">
            <a:avLst/>
          </a:prstGeom>
          <a:noFill/>
          <a:ln w="9525">
            <a:noFill/>
          </a:ln>
        </p:spPr>
        <p:txBody>
          <a:bodyPr wrap="square" anchor="ctr" anchorCtr="0">
            <a:spAutoFit/>
          </a:bodyPr>
          <a:p>
            <a:pPr eaLnBrk="0" hangingPunct="0"/>
            <a:r>
              <a:rPr lang="zh-CN" altLang="en-US" sz="2000" dirty="0">
                <a:solidFill>
                  <a:srgbClr val="000000"/>
                </a:solidFill>
                <a:latin typeface="宋体" panose="02010600030101010101" pitchFamily="2" charset="-122"/>
                <a:ea typeface="宋体" panose="02010600030101010101" pitchFamily="2" charset="-122"/>
              </a:rPr>
              <a:t>答案：   </a:t>
            </a:r>
            <a:r>
              <a:rPr lang="en-US" altLang="zh-CN" sz="2000" dirty="0">
                <a:solidFill>
                  <a:srgbClr val="000000"/>
                </a:solidFill>
                <a:latin typeface="宋体" panose="02010600030101010101" pitchFamily="2" charset="-122"/>
                <a:ea typeface="宋体" panose="02010600030101010101" pitchFamily="2" charset="-122"/>
              </a:rPr>
              <a:t>1</a:t>
            </a:r>
            <a:r>
              <a:rPr lang="zh-CN" altLang="en-US" sz="2000" dirty="0">
                <a:solidFill>
                  <a:srgbClr val="000000"/>
                </a:solidFill>
                <a:latin typeface="宋体" panose="02010600030101010101" pitchFamily="2" charset="-122"/>
                <a:ea typeface="宋体" panose="02010600030101010101" pitchFamily="2" charset="-122"/>
              </a:rPr>
              <a:t>、</a:t>
            </a:r>
            <a:r>
              <a:rPr lang="en-US" altLang="zh-CN" sz="2000" dirty="0">
                <a:solidFill>
                  <a:srgbClr val="000000"/>
                </a:solidFill>
                <a:latin typeface="宋体" panose="02010600030101010101" pitchFamily="2" charset="-122"/>
                <a:ea typeface="宋体" panose="02010600030101010101" pitchFamily="2" charset="-122"/>
              </a:rPr>
              <a:t>D</a:t>
            </a:r>
            <a:r>
              <a:rPr lang="zh-CN" altLang="en-US" sz="2000" dirty="0">
                <a:solidFill>
                  <a:srgbClr val="000000"/>
                </a:solidFill>
                <a:latin typeface="宋体" panose="02010600030101010101" pitchFamily="2" charset="-122"/>
                <a:ea typeface="宋体" panose="02010600030101010101" pitchFamily="2" charset="-122"/>
              </a:rPr>
              <a:t>     </a:t>
            </a:r>
            <a:r>
              <a:rPr lang="en-US" altLang="zh-CN" sz="2000" dirty="0">
                <a:solidFill>
                  <a:srgbClr val="000000"/>
                </a:solidFill>
                <a:latin typeface="宋体" panose="02010600030101010101" pitchFamily="2" charset="-122"/>
                <a:ea typeface="宋体" panose="02010600030101010101" pitchFamily="2" charset="-122"/>
              </a:rPr>
              <a:t>2</a:t>
            </a:r>
            <a:r>
              <a:rPr lang="zh-CN" altLang="en-US" sz="2000" dirty="0">
                <a:solidFill>
                  <a:srgbClr val="000000"/>
                </a:solidFill>
                <a:latin typeface="宋体" panose="02010600030101010101" pitchFamily="2" charset="-122"/>
                <a:ea typeface="宋体" panose="02010600030101010101" pitchFamily="2" charset="-122"/>
              </a:rPr>
              <a:t>、</a:t>
            </a:r>
            <a:r>
              <a:rPr lang="en-US" altLang="zh-CN" sz="2000" dirty="0">
                <a:solidFill>
                  <a:srgbClr val="000000"/>
                </a:solidFill>
                <a:latin typeface="宋体" panose="02010600030101010101" pitchFamily="2" charset="-122"/>
                <a:ea typeface="宋体" panose="02010600030101010101" pitchFamily="2" charset="-122"/>
              </a:rPr>
              <a:t>C     </a:t>
            </a:r>
            <a:endParaRPr lang="en-US" altLang="zh-CN" sz="2000" dirty="0">
              <a:solidFill>
                <a:srgbClr val="000000"/>
              </a:solidFill>
              <a:latin typeface="宋体" panose="02010600030101010101" pitchFamily="2" charset="-122"/>
              <a:ea typeface="宋体" panose="02010600030101010101" pitchFamily="2" charset="-122"/>
            </a:endParaRPr>
          </a:p>
          <a:p>
            <a:pPr eaLnBrk="0" hangingPunct="0"/>
            <a:r>
              <a:rPr lang="zh-CN" altLang="en-US" sz="2000" dirty="0">
                <a:solidFill>
                  <a:srgbClr val="000000"/>
                </a:solidFill>
                <a:latin typeface="宋体" panose="02010600030101010101" pitchFamily="2" charset="-122"/>
                <a:ea typeface="宋体" panose="02010600030101010101" pitchFamily="2" charset="-122"/>
              </a:rPr>
              <a:t>中值滤波对缓变过程中的偶然因素引起的波动或采样器不稳定造成的误差所引起的脉动干扰比较有效。</a:t>
            </a:r>
            <a:endParaRPr lang="zh-CN" altLang="en-US" sz="2000" dirty="0">
              <a:solidFill>
                <a:srgbClr val="000000"/>
              </a:solidFill>
              <a:latin typeface="宋体" panose="02010600030101010101" pitchFamily="2" charset="-122"/>
              <a:ea typeface="宋体" panose="02010600030101010101" pitchFamily="2" charset="-122"/>
            </a:endParaRPr>
          </a:p>
          <a:p>
            <a:pPr eaLnBrk="0" hangingPunct="0"/>
            <a:r>
              <a:rPr lang="zh-CN" altLang="en-US" sz="2000" dirty="0">
                <a:solidFill>
                  <a:srgbClr val="000000"/>
                </a:solidFill>
                <a:latin typeface="宋体" panose="02010600030101010101" pitchFamily="2" charset="-122"/>
                <a:ea typeface="宋体" panose="02010600030101010101" pitchFamily="2" charset="-122"/>
              </a:rPr>
              <a:t>限幅滤波对随机干扰或采样器不稳定引起的失真有良好的滤波效果。  </a:t>
            </a:r>
            <a:endParaRPr lang="zh-CN" altLang="en-US" sz="2000" dirty="0">
              <a:latin typeface="Arial" panose="020B0604020202020204" pitchFamily="34" charset="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4284345" y="2564765"/>
            <a:ext cx="2920365" cy="2108835"/>
          </a:xfrm>
          <a:prstGeom prst="rect">
            <a:avLst/>
          </a:prstGeom>
        </p:spPr>
      </p:pic>
      <p:sp>
        <p:nvSpPr>
          <p:cNvPr id="5" name="Rectangle 3"/>
          <p:cNvSpPr/>
          <p:nvPr/>
        </p:nvSpPr>
        <p:spPr>
          <a:xfrm>
            <a:off x="7380605" y="2872740"/>
            <a:ext cx="1734820" cy="1322070"/>
          </a:xfrm>
          <a:prstGeom prst="rect">
            <a:avLst/>
          </a:prstGeom>
          <a:noFill/>
          <a:ln w="9525">
            <a:noFill/>
          </a:ln>
        </p:spPr>
        <p:txBody>
          <a:bodyPr wrap="square" anchor="ctr" anchorCtr="0">
            <a:spAutoFit/>
          </a:bodyPr>
          <a:p>
            <a:pPr eaLnBrk="0" hangingPunct="0"/>
            <a:r>
              <a:rPr lang="zh-CN" altLang="en-US" sz="2000" dirty="0">
                <a:solidFill>
                  <a:srgbClr val="000000"/>
                </a:solidFill>
                <a:latin typeface="宋体" panose="02010600030101010101" pitchFamily="2" charset="-122"/>
                <a:ea typeface="宋体" panose="02010600030101010101" pitchFamily="2" charset="-122"/>
              </a:rPr>
              <a:t>中值滤波滤除小幅值干扰，</a:t>
            </a:r>
            <a:endParaRPr lang="zh-CN" altLang="en-US" sz="2000" dirty="0">
              <a:solidFill>
                <a:srgbClr val="000000"/>
              </a:solidFill>
              <a:latin typeface="宋体" panose="02010600030101010101" pitchFamily="2" charset="-122"/>
              <a:ea typeface="宋体" panose="02010600030101010101" pitchFamily="2" charset="-122"/>
            </a:endParaRPr>
          </a:p>
          <a:p>
            <a:pPr eaLnBrk="0" hangingPunct="0"/>
            <a:r>
              <a:rPr lang="zh-CN" altLang="en-US" sz="2000" dirty="0">
                <a:solidFill>
                  <a:srgbClr val="000000"/>
                </a:solidFill>
                <a:latin typeface="宋体" panose="02010600030101010101" pitchFamily="2" charset="-122"/>
                <a:ea typeface="宋体" panose="02010600030101010101" pitchFamily="2" charset="-122"/>
              </a:rPr>
              <a:t>限幅滤波滤除大幅值</a:t>
            </a:r>
            <a:r>
              <a:rPr lang="zh-CN" altLang="en-US" sz="2000" dirty="0">
                <a:solidFill>
                  <a:srgbClr val="000000"/>
                </a:solidFill>
                <a:latin typeface="宋体" panose="02010600030101010101" pitchFamily="2" charset="-122"/>
                <a:ea typeface="宋体" panose="02010600030101010101" pitchFamily="2" charset="-122"/>
              </a:rPr>
              <a:t>扰动</a:t>
            </a:r>
            <a:endParaRPr lang="zh-CN" altLang="en-US" sz="20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7889" name="Object 2"/>
          <p:cNvGraphicFramePr>
            <a:graphicFrameLocks noGrp="1" noChangeAspect="1"/>
          </p:cNvGraphicFramePr>
          <p:nvPr>
            <p:ph sz="quarter" idx="1"/>
          </p:nvPr>
        </p:nvGraphicFramePr>
        <p:xfrm>
          <a:off x="2767013" y="2901315"/>
          <a:ext cx="1554162" cy="384175"/>
        </p:xfrm>
        <a:graphic>
          <a:graphicData uri="http://schemas.openxmlformats.org/presentationml/2006/ole">
            <mc:AlternateContent xmlns:mc="http://schemas.openxmlformats.org/markup-compatibility/2006">
              <mc:Choice xmlns:v="urn:schemas-microsoft-com:vml" Requires="v">
                <p:oleObj spid="_x0000_s3097" name="" r:id="rId1" imgW="977900" imgH="241300" progId="Equation.DSMT4">
                  <p:embed/>
                </p:oleObj>
              </mc:Choice>
              <mc:Fallback>
                <p:oleObj name="" r:id="rId1" imgW="977900" imgH="241300" progId="Equation.DSMT4">
                  <p:embed/>
                  <p:pic>
                    <p:nvPicPr>
                      <p:cNvPr id="0" name="图片 3096"/>
                      <p:cNvPicPr/>
                      <p:nvPr/>
                    </p:nvPicPr>
                    <p:blipFill>
                      <a:blip r:embed="rId2"/>
                      <a:stretch>
                        <a:fillRect/>
                      </a:stretch>
                    </p:blipFill>
                    <p:spPr>
                      <a:xfrm>
                        <a:off x="2767013" y="2901315"/>
                        <a:ext cx="1554162" cy="384175"/>
                      </a:xfrm>
                      <a:prstGeom prst="rect">
                        <a:avLst/>
                      </a:prstGeom>
                      <a:solidFill>
                        <a:srgbClr val="CCFFFF"/>
                      </a:solidFill>
                      <a:ln w="38100">
                        <a:noFill/>
                        <a:miter/>
                      </a:ln>
                    </p:spPr>
                  </p:pic>
                </p:oleObj>
              </mc:Fallback>
            </mc:AlternateContent>
          </a:graphicData>
        </a:graphic>
      </p:graphicFrame>
      <p:graphicFrame>
        <p:nvGraphicFramePr>
          <p:cNvPr id="37890" name="Object 3"/>
          <p:cNvGraphicFramePr>
            <a:graphicFrameLocks noGrp="1" noChangeAspect="1"/>
          </p:cNvGraphicFramePr>
          <p:nvPr>
            <p:ph sz="quarter" idx="2"/>
          </p:nvPr>
        </p:nvGraphicFramePr>
        <p:xfrm>
          <a:off x="1907540" y="4437698"/>
          <a:ext cx="4752975" cy="1568450"/>
        </p:xfrm>
        <a:graphic>
          <a:graphicData uri="http://schemas.openxmlformats.org/presentationml/2006/ole">
            <mc:AlternateContent xmlns:mc="http://schemas.openxmlformats.org/markup-compatibility/2006">
              <mc:Choice xmlns:v="urn:schemas-microsoft-com:vml" Requires="v">
                <p:oleObj spid="_x0000_s3096" name="" r:id="rId3" imgW="2540000" imgH="838200" progId="Equation.DSMT4">
                  <p:embed/>
                </p:oleObj>
              </mc:Choice>
              <mc:Fallback>
                <p:oleObj name="" r:id="rId3" imgW="2540000" imgH="838200" progId="Equation.DSMT4">
                  <p:embed/>
                  <p:pic>
                    <p:nvPicPr>
                      <p:cNvPr id="0" name="图片 3095"/>
                      <p:cNvPicPr/>
                      <p:nvPr/>
                    </p:nvPicPr>
                    <p:blipFill>
                      <a:blip r:embed="rId4"/>
                      <a:stretch>
                        <a:fillRect/>
                      </a:stretch>
                    </p:blipFill>
                    <p:spPr>
                      <a:xfrm>
                        <a:off x="1907540" y="4437698"/>
                        <a:ext cx="4752975" cy="1568450"/>
                      </a:xfrm>
                      <a:prstGeom prst="rect">
                        <a:avLst/>
                      </a:prstGeom>
                      <a:solidFill>
                        <a:srgbClr val="CCFFFF"/>
                      </a:solidFill>
                      <a:ln w="38100">
                        <a:noFill/>
                        <a:miter/>
                      </a:ln>
                    </p:spPr>
                  </p:pic>
                </p:oleObj>
              </mc:Fallback>
            </mc:AlternateContent>
          </a:graphicData>
        </a:graphic>
      </p:graphicFrame>
      <p:graphicFrame>
        <p:nvGraphicFramePr>
          <p:cNvPr id="37891" name="Object 4"/>
          <p:cNvGraphicFramePr>
            <a:graphicFrameLocks noGrp="1" noChangeAspect="1"/>
          </p:cNvGraphicFramePr>
          <p:nvPr>
            <p:ph sz="quarter" idx="3"/>
          </p:nvPr>
        </p:nvGraphicFramePr>
        <p:xfrm>
          <a:off x="2459038" y="3640455"/>
          <a:ext cx="2720975" cy="438150"/>
        </p:xfrm>
        <a:graphic>
          <a:graphicData uri="http://schemas.openxmlformats.org/presentationml/2006/ole">
            <mc:AlternateContent xmlns:mc="http://schemas.openxmlformats.org/markup-compatibility/2006">
              <mc:Choice xmlns:v="urn:schemas-microsoft-com:vml" Requires="v">
                <p:oleObj spid="_x0000_s3098" name="" r:id="rId5" imgW="1497965" imgH="241300" progId="Equation.DSMT4">
                  <p:embed/>
                </p:oleObj>
              </mc:Choice>
              <mc:Fallback>
                <p:oleObj name="" r:id="rId5" imgW="1497965" imgH="241300" progId="Equation.DSMT4">
                  <p:embed/>
                  <p:pic>
                    <p:nvPicPr>
                      <p:cNvPr id="0" name="图片 3097"/>
                      <p:cNvPicPr/>
                      <p:nvPr/>
                    </p:nvPicPr>
                    <p:blipFill>
                      <a:blip r:embed="rId6"/>
                      <a:stretch>
                        <a:fillRect/>
                      </a:stretch>
                    </p:blipFill>
                    <p:spPr>
                      <a:xfrm>
                        <a:off x="2459038" y="3640455"/>
                        <a:ext cx="2720975" cy="438150"/>
                      </a:xfrm>
                      <a:prstGeom prst="rect">
                        <a:avLst/>
                      </a:prstGeom>
                      <a:solidFill>
                        <a:srgbClr val="CCFFFF"/>
                      </a:solidFill>
                      <a:ln w="38100">
                        <a:noFill/>
                        <a:miter/>
                      </a:ln>
                    </p:spPr>
                  </p:pic>
                </p:oleObj>
              </mc:Fallback>
            </mc:AlternateContent>
          </a:graphicData>
        </a:graphic>
      </p:graphicFrame>
      <p:sp>
        <p:nvSpPr>
          <p:cNvPr id="37892" name="Rectangle 5"/>
          <p:cNvSpPr/>
          <p:nvPr/>
        </p:nvSpPr>
        <p:spPr>
          <a:xfrm>
            <a:off x="323850" y="688975"/>
            <a:ext cx="8640763" cy="1383665"/>
          </a:xfrm>
          <a:prstGeom prst="rect">
            <a:avLst/>
          </a:prstGeom>
          <a:noFill/>
          <a:ln w="9525">
            <a:noFill/>
          </a:ln>
        </p:spPr>
        <p:txBody>
          <a:bodyPr anchor="t" anchorCtr="0">
            <a:spAutoFit/>
          </a:bodyPr>
          <a:p>
            <a:pPr eaLnBrk="0" hangingPunct="0"/>
            <a:r>
              <a:rPr lang="zh-CN" altLang="en-US" sz="2400" b="1" dirty="0">
                <a:latin typeface="Times New Roman" panose="02020603050405020304" pitchFamily="18" charset="0"/>
                <a:ea typeface="宋体" panose="02010600030101010101" pitchFamily="2" charset="-122"/>
              </a:rPr>
              <a:t>习题</a:t>
            </a:r>
            <a:r>
              <a:rPr lang="en-US" altLang="zh-CN" sz="2400" b="1"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：什么是孔径时间</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采样保持器的作用是什么</a:t>
            </a: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一个</a:t>
            </a:r>
            <a:r>
              <a:rPr lang="en-US" altLang="zh-CN" sz="2000" dirty="0">
                <a:latin typeface="Times New Roman" panose="02020603050405020304" pitchFamily="18" charset="0"/>
                <a:ea typeface="宋体" panose="02010600030101010101" pitchFamily="2" charset="-122"/>
              </a:rPr>
              <a:t>8</a:t>
            </a:r>
            <a:r>
              <a:rPr lang="zh-CN" altLang="en-US" sz="2000" dirty="0">
                <a:latin typeface="Times New Roman" panose="02020603050405020304" pitchFamily="18" charset="0"/>
                <a:ea typeface="宋体" panose="02010600030101010101" pitchFamily="2" charset="-122"/>
              </a:rPr>
              <a:t>位</a:t>
            </a:r>
            <a:r>
              <a:rPr lang="en-US" altLang="zh-CN" sz="2000" dirty="0">
                <a:latin typeface="Times New Roman" panose="02020603050405020304" pitchFamily="18" charset="0"/>
                <a:ea typeface="宋体" panose="02010600030101010101" pitchFamily="2" charset="-122"/>
              </a:rPr>
              <a:t>A/D</a:t>
            </a:r>
            <a:r>
              <a:rPr lang="zh-CN" altLang="en-US" sz="2000" dirty="0">
                <a:latin typeface="Times New Roman" panose="02020603050405020304" pitchFamily="18" charset="0"/>
                <a:ea typeface="宋体" panose="02010600030101010101" pitchFamily="2" charset="-122"/>
              </a:rPr>
              <a:t>转换器的转换精度为</a:t>
            </a:r>
            <a:r>
              <a:rPr lang="en-US" altLang="zh-CN" sz="2000" dirty="0">
                <a:latin typeface="Times New Roman" panose="02020603050405020304" pitchFamily="18" charset="0"/>
                <a:ea typeface="宋体" panose="02010600030101010101" pitchFamily="2" charset="-122"/>
              </a:rPr>
              <a:t>0.4%</a:t>
            </a:r>
            <a:r>
              <a:rPr lang="zh-CN" altLang="en-US" sz="2000" dirty="0">
                <a:latin typeface="Times New Roman" panose="02020603050405020304" pitchFamily="18" charset="0"/>
                <a:ea typeface="宋体" panose="02010600030101010101" pitchFamily="2" charset="-122"/>
              </a:rPr>
              <a:t>，孔径时间为</a:t>
            </a:r>
            <a:r>
              <a:rPr lang="en-US" altLang="zh-CN" sz="2000" dirty="0">
                <a:latin typeface="Times New Roman" panose="02020603050405020304" pitchFamily="18" charset="0"/>
                <a:ea typeface="宋体" panose="02010600030101010101" pitchFamily="2" charset="-122"/>
              </a:rPr>
              <a:t>100μS</a:t>
            </a:r>
            <a:r>
              <a:rPr lang="zh-CN" altLang="en-US" sz="2000" dirty="0">
                <a:latin typeface="Times New Roman" panose="02020603050405020304" pitchFamily="18" charset="0"/>
                <a:ea typeface="宋体" panose="02010600030101010101" pitchFamily="2" charset="-122"/>
              </a:rPr>
              <a:t>，如果要求孔径误差在</a:t>
            </a:r>
            <a:r>
              <a:rPr lang="en-US" altLang="zh-CN" sz="2000" dirty="0">
                <a:latin typeface="Times New Roman" panose="02020603050405020304" pitchFamily="18" charset="0"/>
                <a:ea typeface="宋体" panose="02010600030101010101" pitchFamily="2" charset="-122"/>
              </a:rPr>
              <a:t>A/D</a:t>
            </a:r>
            <a:r>
              <a:rPr lang="zh-CN" altLang="en-US" sz="2000" dirty="0">
                <a:latin typeface="Times New Roman" panose="02020603050405020304" pitchFamily="18" charset="0"/>
                <a:ea typeface="宋体" panose="02010600030101010101" pitchFamily="2" charset="-122"/>
              </a:rPr>
              <a:t>转换器的精度范围内，计算允许转换的正弦波模拟信号的最大频率。若</a:t>
            </a:r>
            <a:r>
              <a:rPr lang="en-US" altLang="zh-CN" sz="2000" dirty="0">
                <a:latin typeface="Times New Roman" panose="02020603050405020304" pitchFamily="18" charset="0"/>
                <a:ea typeface="宋体" panose="02010600030101010101" pitchFamily="2" charset="-122"/>
              </a:rPr>
              <a:t>A/D</a:t>
            </a:r>
            <a:r>
              <a:rPr lang="zh-CN" altLang="en-US" sz="2000" dirty="0">
                <a:latin typeface="Times New Roman" panose="02020603050405020304" pitchFamily="18" charset="0"/>
                <a:ea typeface="宋体" panose="02010600030101010101" pitchFamily="2" charset="-122"/>
              </a:rPr>
              <a:t>转换器为</a:t>
            </a:r>
            <a:r>
              <a:rPr lang="en-US" altLang="zh-CN" sz="2000" dirty="0">
                <a:latin typeface="Times New Roman" panose="02020603050405020304" pitchFamily="18" charset="0"/>
                <a:ea typeface="宋体" panose="02010600030101010101" pitchFamily="2" charset="-122"/>
              </a:rPr>
              <a:t>10</a:t>
            </a:r>
            <a:r>
              <a:rPr lang="zh-CN" altLang="en-US" sz="2000" dirty="0">
                <a:latin typeface="Times New Roman" panose="02020603050405020304" pitchFamily="18" charset="0"/>
                <a:ea typeface="宋体" panose="02010600030101010101" pitchFamily="2" charset="-122"/>
              </a:rPr>
              <a:t>位，计算此时的</a:t>
            </a:r>
            <a:r>
              <a:rPr lang="zh-CN" altLang="en-US" sz="2000" dirty="0">
                <a:latin typeface="Times New Roman" panose="02020603050405020304" pitchFamily="18" charset="0"/>
                <a:ea typeface="宋体" panose="02010600030101010101" pitchFamily="2" charset="-122"/>
              </a:rPr>
              <a:t>最大频率。</a:t>
            </a:r>
            <a:endParaRPr lang="zh-CN" altLang="en-US" sz="2000" dirty="0">
              <a:latin typeface="Times New Roman" panose="02020603050405020304" pitchFamily="18" charset="0"/>
              <a:ea typeface="宋体" panose="02010600030101010101" pitchFamily="2" charset="-122"/>
            </a:endParaRPr>
          </a:p>
        </p:txBody>
      </p:sp>
      <p:sp>
        <p:nvSpPr>
          <p:cNvPr id="37893" name="Text Box 6"/>
          <p:cNvSpPr txBox="1"/>
          <p:nvPr/>
        </p:nvSpPr>
        <p:spPr>
          <a:xfrm>
            <a:off x="725488" y="3317240"/>
            <a:ext cx="4752975" cy="400050"/>
          </a:xfrm>
          <a:prstGeom prst="rect">
            <a:avLst/>
          </a:prstGeom>
          <a:noFill/>
          <a:ln w="9525">
            <a:noFill/>
          </a:ln>
        </p:spPr>
        <p:txBody>
          <a:bodyPr anchor="t" anchorCtr="0">
            <a:spAutoFit/>
          </a:bodyPr>
          <a:p>
            <a:pPr eaLnBrk="0" hangingPunct="0">
              <a:spcBef>
                <a:spcPct val="50000"/>
              </a:spcBef>
            </a:pPr>
            <a:r>
              <a:rPr lang="zh-CN" altLang="en-US" sz="2000" dirty="0">
                <a:latin typeface="Times New Roman" panose="02020603050405020304" pitchFamily="18" charset="0"/>
                <a:ea typeface="宋体" panose="02010600030101010101" pitchFamily="2" charset="-122"/>
              </a:rPr>
              <a:t>则在</a:t>
            </a:r>
            <a:r>
              <a:rPr lang="el-GR" altLang="zh-CN" sz="2000" i="1" dirty="0">
                <a:latin typeface="Times New Roman" panose="02020603050405020304" pitchFamily="18" charset="0"/>
                <a:ea typeface="宋体" panose="02010600030101010101" pitchFamily="2" charset="-122"/>
              </a:rPr>
              <a:t>Δ</a:t>
            </a:r>
            <a:r>
              <a:rPr lang="en-US" altLang="zh-CN" sz="2000" i="1" dirty="0">
                <a:latin typeface="Times New Roman" panose="02020603050405020304" pitchFamily="18" charset="0"/>
                <a:ea typeface="宋体" panose="02010600030101010101" pitchFamily="2" charset="-122"/>
              </a:rPr>
              <a:t>t</a:t>
            </a:r>
            <a:r>
              <a:rPr lang="zh-CN" altLang="en-US" sz="2000" dirty="0">
                <a:latin typeface="Times New Roman" panose="02020603050405020304" pitchFamily="18" charset="0"/>
                <a:ea typeface="宋体" panose="02010600030101010101" pitchFamily="2" charset="-122"/>
              </a:rPr>
              <a:t>时间内电压变化值</a:t>
            </a:r>
            <a:r>
              <a:rPr lang="el-GR" altLang="zh-CN" sz="2000" i="1" dirty="0">
                <a:latin typeface="Times New Roman" panose="02020603050405020304" pitchFamily="18" charset="0"/>
                <a:ea typeface="宋体" panose="02010600030101010101" pitchFamily="2" charset="-122"/>
              </a:rPr>
              <a:t>Δ</a:t>
            </a:r>
            <a:r>
              <a:rPr lang="en-US" altLang="zh-CN" sz="2000" i="1" dirty="0">
                <a:latin typeface="Times New Roman" panose="02020603050405020304" pitchFamily="18" charset="0"/>
                <a:ea typeface="宋体" panose="02010600030101010101" pitchFamily="2" charset="-122"/>
              </a:rPr>
              <a:t>V</a:t>
            </a:r>
            <a:r>
              <a:rPr lang="zh-CN" altLang="en-US" sz="2000" dirty="0">
                <a:latin typeface="Times New Roman" panose="02020603050405020304" pitchFamily="18" charset="0"/>
                <a:ea typeface="宋体" panose="02010600030101010101" pitchFamily="2" charset="-122"/>
              </a:rPr>
              <a:t>为</a:t>
            </a:r>
            <a:endParaRPr lang="zh-CN" altLang="en-US" sz="2000" dirty="0">
              <a:latin typeface="Times New Roman" panose="02020603050405020304" pitchFamily="18" charset="0"/>
              <a:ea typeface="Times New Roman" panose="02020603050405020304" pitchFamily="18" charset="0"/>
            </a:endParaRPr>
          </a:p>
        </p:txBody>
      </p:sp>
      <p:sp>
        <p:nvSpPr>
          <p:cNvPr id="37894" name="Text Box 7"/>
          <p:cNvSpPr txBox="1"/>
          <p:nvPr/>
        </p:nvSpPr>
        <p:spPr>
          <a:xfrm>
            <a:off x="822325" y="4110355"/>
            <a:ext cx="4392613" cy="400050"/>
          </a:xfrm>
          <a:prstGeom prst="rect">
            <a:avLst/>
          </a:prstGeom>
          <a:noFill/>
          <a:ln w="9525">
            <a:noFill/>
          </a:ln>
        </p:spPr>
        <p:txBody>
          <a:bodyPr anchor="t" anchorCtr="0">
            <a:spAutoFit/>
          </a:bodyPr>
          <a:p>
            <a:pPr eaLnBrk="0" hangingPunct="0">
              <a:spcBef>
                <a:spcPct val="50000"/>
              </a:spcBef>
            </a:pPr>
            <a:r>
              <a:rPr lang="zh-CN" altLang="en-US" sz="2000" dirty="0">
                <a:latin typeface="Arial" panose="020B0604020202020204" pitchFamily="34" charset="0"/>
                <a:ea typeface="宋体" panose="02010600030101010101" pitchFamily="2" charset="-122"/>
              </a:rPr>
              <a:t>根据转换精度要求得到</a:t>
            </a:r>
            <a:r>
              <a:rPr lang="en-US" altLang="zh-CN"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原点处</a:t>
            </a:r>
            <a:r>
              <a:rPr lang="en-US" altLang="zh-CN" sz="2000" dirty="0">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Arial" panose="020B0604020202020204" pitchFamily="34" charset="0"/>
            </a:endParaRPr>
          </a:p>
        </p:txBody>
      </p:sp>
      <p:sp>
        <p:nvSpPr>
          <p:cNvPr id="2" name="Rectangle 5"/>
          <p:cNvSpPr/>
          <p:nvPr/>
        </p:nvSpPr>
        <p:spPr>
          <a:xfrm>
            <a:off x="323850" y="1916430"/>
            <a:ext cx="8640763" cy="1014730"/>
          </a:xfrm>
          <a:prstGeom prst="rect">
            <a:avLst/>
          </a:prstGeom>
          <a:noFill/>
          <a:ln w="9525">
            <a:noFill/>
          </a:ln>
        </p:spPr>
        <p:txBody>
          <a:bodyPr anchor="t" anchorCtr="0">
            <a:spAutoFit/>
          </a:bodyPr>
          <a:p>
            <a:pPr eaLnBrk="0" hangingPunct="0"/>
            <a:r>
              <a:rPr lang="zh-CN" altLang="en-US" sz="2000" dirty="0">
                <a:latin typeface="Times New Roman" panose="02020603050405020304" pitchFamily="18" charset="0"/>
                <a:ea typeface="宋体" panose="02010600030101010101" pitchFamily="2" charset="-122"/>
              </a:rPr>
              <a:t>解：</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孔径时间是指</a:t>
            </a:r>
            <a:r>
              <a:rPr lang="en-US" altLang="zh-CN" sz="2000" dirty="0">
                <a:latin typeface="Times New Roman" panose="02020603050405020304" pitchFamily="18" charset="0"/>
                <a:ea typeface="宋体" panose="02010600030101010101" pitchFamily="2" charset="-122"/>
              </a:rPr>
              <a:t>A/D</a:t>
            </a:r>
            <a:r>
              <a:rPr lang="zh-CN" altLang="en-US" sz="2000" dirty="0">
                <a:latin typeface="Times New Roman" panose="02020603050405020304" pitchFamily="18" charset="0"/>
                <a:ea typeface="宋体" panose="02010600030101010101" pitchFamily="2" charset="-122"/>
              </a:rPr>
              <a:t>转换器完成</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次完整转换所需的时间</a:t>
            </a:r>
            <a:endParaRPr lang="zh-CN" altLang="en-US" sz="2000" dirty="0">
              <a:latin typeface="Times New Roman" panose="02020603050405020304" pitchFamily="18" charset="0"/>
              <a:ea typeface="宋体" panose="02010600030101010101" pitchFamily="2" charset="-122"/>
            </a:endParaRPr>
          </a:p>
          <a:p>
            <a:pPr eaLnBrk="0" hangingPunct="0"/>
            <a:r>
              <a:rPr lang="en-US" altLang="zh-CN" sz="2000" dirty="0">
                <a:latin typeface="Times New Roman" panose="02020603050405020304" pitchFamily="18" charset="0"/>
                <a:ea typeface="宋体" panose="02010600030101010101" pitchFamily="2" charset="-122"/>
              </a:rPr>
              <a:t>        2)</a:t>
            </a:r>
            <a:r>
              <a:rPr lang="zh-CN" altLang="en-US" sz="2000" dirty="0">
                <a:latin typeface="Times New Roman" panose="02020603050405020304" pitchFamily="18" charset="0"/>
                <a:ea typeface="宋体" panose="02010600030101010101" pitchFamily="2" charset="-122"/>
              </a:rPr>
              <a:t>采样保持器</a:t>
            </a:r>
            <a:r>
              <a:rPr lang="en-US" altLang="en-US" sz="2000" dirty="0">
                <a:latin typeface="Times New Roman" panose="02020603050405020304" pitchFamily="18" charset="0"/>
                <a:ea typeface="宋体" panose="02010600030101010101" pitchFamily="2" charset="-122"/>
              </a:rPr>
              <a:t>对变化的模拟信号快速采样并保持</a:t>
            </a:r>
            <a:r>
              <a:rPr lang="zh-CN" altLang="en-US" sz="2000" dirty="0">
                <a:latin typeface="Times New Roman" panose="02020603050405020304" pitchFamily="18" charset="0"/>
                <a:ea typeface="宋体" panose="02010600030101010101" pitchFamily="2" charset="-122"/>
              </a:rPr>
              <a:t>模拟信号</a:t>
            </a:r>
            <a:r>
              <a:rPr lang="en-US" altLang="en-US" sz="2000" dirty="0">
                <a:latin typeface="Times New Roman" panose="02020603050405020304" pitchFamily="18" charset="0"/>
                <a:ea typeface="宋体" panose="02010600030101010101" pitchFamily="2" charset="-122"/>
              </a:rPr>
              <a:t>。</a:t>
            </a:r>
            <a:endParaRPr lang="zh-CN" altLang="en-US" sz="2000" dirty="0">
              <a:latin typeface="Times New Roman" panose="02020603050405020304" pitchFamily="18" charset="0"/>
              <a:ea typeface="宋体" panose="02010600030101010101" pitchFamily="2" charset="-122"/>
            </a:endParaRPr>
          </a:p>
          <a:p>
            <a:pPr eaLnBrk="0" hangingPunct="0"/>
            <a:r>
              <a:rPr lang="en-US" altLang="zh-CN" sz="2000" dirty="0">
                <a:latin typeface="Times New Roman" panose="02020603050405020304" pitchFamily="18" charset="0"/>
                <a:ea typeface="宋体" panose="02010600030101010101" pitchFamily="2" charset="-122"/>
              </a:rPr>
              <a:t>        3)</a:t>
            </a:r>
            <a:r>
              <a:rPr lang="zh-CN" altLang="en-US" sz="2000" dirty="0">
                <a:latin typeface="Times New Roman" panose="02020603050405020304" pitchFamily="18" charset="0"/>
                <a:ea typeface="宋体" panose="02010600030101010101" pitchFamily="2" charset="-122"/>
              </a:rPr>
              <a:t>正弦模拟信号的表达式为：</a:t>
            </a:r>
            <a:endParaRPr lang="zh-CN" altLang="en-US" sz="2000" dirty="0">
              <a:latin typeface="Times New Roman" panose="02020603050405020304" pitchFamily="18" charset="0"/>
              <a:ea typeface="Times New Roman" panose="02020603050405020304" pitchFamily="18" charset="0"/>
            </a:endParaRPr>
          </a:p>
        </p:txBody>
      </p:sp>
      <p:sp>
        <p:nvSpPr>
          <p:cNvPr id="4" name="文本框 3"/>
          <p:cNvSpPr txBox="1"/>
          <p:nvPr/>
        </p:nvSpPr>
        <p:spPr>
          <a:xfrm>
            <a:off x="827405" y="6047740"/>
            <a:ext cx="2233930" cy="398780"/>
          </a:xfrm>
          <a:prstGeom prst="rect">
            <a:avLst/>
          </a:prstGeom>
          <a:noFill/>
        </p:spPr>
        <p:txBody>
          <a:bodyPr wrap="square" rtlCol="0" anchor="t">
            <a:spAutoFit/>
          </a:bodyPr>
          <a:p>
            <a:r>
              <a:rPr lang="en-US" altLang="zh-CN" sz="2000" dirty="0">
                <a:latin typeface="Times New Roman" panose="02020603050405020304" pitchFamily="18" charset="0"/>
                <a:sym typeface="+mn-ea"/>
              </a:rPr>
              <a:t>4)</a:t>
            </a:r>
            <a:r>
              <a:rPr lang="zh-CN" altLang="en-US" sz="2000" dirty="0">
                <a:latin typeface="Times New Roman" panose="02020603050405020304" pitchFamily="18" charset="0"/>
                <a:sym typeface="+mn-ea"/>
              </a:rPr>
              <a:t>最大频率</a:t>
            </a:r>
            <a:r>
              <a:rPr lang="zh-CN" altLang="en-US" sz="2000" dirty="0">
                <a:latin typeface="Times New Roman" panose="02020603050405020304" pitchFamily="18" charset="0"/>
                <a:sym typeface="+mn-ea"/>
              </a:rPr>
              <a:t>不变。</a:t>
            </a:r>
            <a:endParaRPr lang="zh-CN" altLang="en-US" sz="2000" dirty="0">
              <a:latin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8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8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7893" grpId="0"/>
      <p:bldP spid="37893" grpId="1"/>
      <p:bldP spid="37894" grpId="0"/>
      <p:bldP spid="37894" grpId="1"/>
      <p:bldP spid="4" grpId="0"/>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323533" y="621665"/>
            <a:ext cx="8462963" cy="1383665"/>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kumimoji="0" lang="zh-CN" altLang="en-US" sz="2400" b="1" i="0" u="none" strike="noStrike" kern="1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Arial" panose="020B0604020202020204" pitchFamily="34" charset="0"/>
              </a:rPr>
              <a:t>习题</a:t>
            </a:r>
            <a:r>
              <a:rPr kumimoji="0" lang="en-US" altLang="zh-CN" sz="2400" b="1" i="0" u="none" strike="noStrike" kern="1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Arial" panose="020B0604020202020204" pitchFamily="34" charset="0"/>
              </a:rPr>
              <a:t>3</a:t>
            </a:r>
            <a:r>
              <a:rPr kumimoji="0" lang="en-US" altLang="zh-CN" sz="24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 </a:t>
            </a:r>
            <a:endParaRPr kumimoji="0" lang="en-US" altLang="zh-CN" sz="24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多选）</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采用扩充响应曲线法整定</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PID</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参数时，通过记录被控量在阶跃输入作用下的变化过程曲线，获得被控对象的参数包括（</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          </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a:t>
            </a:r>
            <a:endParaRPr kumimoji="0" lang="zh-CN"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13335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kumimoji="0" lang="en-US" altLang="zh-CN" sz="2000" b="0" i="0" u="none" strike="noStrike" kern="1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Arial" panose="020B0604020202020204" pitchFamily="34" charset="0"/>
              </a:rPr>
              <a:t>A</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、时间常数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 B</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、滞后时间</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 C</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、临界比例度</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 D</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Arial" panose="020B0604020202020204" pitchFamily="34" charset="0"/>
              </a:rPr>
              <a:t>、控制度</a:t>
            </a:r>
            <a:endParaRPr kumimoji="0" lang="zh-CN"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249" name="Rectangle 2"/>
          <p:cNvSpPr/>
          <p:nvPr/>
        </p:nvSpPr>
        <p:spPr>
          <a:xfrm>
            <a:off x="292735" y="2132965"/>
            <a:ext cx="8472170" cy="1168400"/>
          </a:xfrm>
          <a:prstGeom prst="rect">
            <a:avLst/>
          </a:prstGeom>
          <a:noFill/>
          <a:ln w="9525">
            <a:noFill/>
          </a:ln>
        </p:spPr>
        <p:txBody>
          <a:bodyPr wrap="square" anchor="t" anchorCtr="0">
            <a:spAutoFit/>
          </a:bodyPr>
          <a:p>
            <a:pPr eaLnBrk="0" hangingPunct="0"/>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、已知模拟</a:t>
            </a:r>
            <a:r>
              <a:rPr lang="en-US" altLang="zh-CN" sz="2000" dirty="0">
                <a:latin typeface="Times New Roman" panose="02020603050405020304" pitchFamily="18" charset="0"/>
                <a:ea typeface="宋体" panose="02010600030101010101" pitchFamily="2" charset="-122"/>
              </a:rPr>
              <a:t>PID</a:t>
            </a:r>
            <a:r>
              <a:rPr lang="zh-CN" altLang="en-US" sz="2000" dirty="0">
                <a:latin typeface="Times New Roman" panose="02020603050405020304" pitchFamily="18" charset="0"/>
                <a:ea typeface="宋体" panose="02010600030101010101" pitchFamily="2" charset="-122"/>
              </a:rPr>
              <a:t>调节器的传递函数为</a:t>
            </a:r>
            <a:endParaRPr lang="zh-CN" altLang="en-US" sz="2000" dirty="0">
              <a:latin typeface="Times New Roman" panose="02020603050405020304" pitchFamily="18" charset="0"/>
              <a:ea typeface="宋体" panose="02010600030101010101" pitchFamily="2" charset="-122"/>
            </a:endParaRPr>
          </a:p>
          <a:p>
            <a:pPr eaLnBrk="0" hangingPunct="0">
              <a:spcBef>
                <a:spcPts val="1200"/>
              </a:spcBef>
            </a:pPr>
            <a:r>
              <a:rPr lang="zh-CN" altLang="en-US" sz="2000" dirty="0">
                <a:latin typeface="Times New Roman" panose="02020603050405020304" pitchFamily="18" charset="0"/>
                <a:ea typeface="宋体" panose="02010600030101010101" pitchFamily="2" charset="-122"/>
              </a:rPr>
              <a:t>试用双线性法写出相应数字控制器的位置型和增量型控制算式，设采样周期</a:t>
            </a:r>
            <a:r>
              <a:rPr lang="en-US" altLang="zh-CN" sz="2000" dirty="0">
                <a:latin typeface="Times New Roman" panose="02020603050405020304" pitchFamily="18" charset="0"/>
                <a:ea typeface="宋体" panose="02010600030101010101" pitchFamily="2" charset="-122"/>
              </a:rPr>
              <a:t>T=0.2s</a:t>
            </a:r>
            <a:r>
              <a:rPr lang="zh-CN" altLang="en-US" sz="2000" dirty="0">
                <a:latin typeface="Times New Roman" panose="02020603050405020304" pitchFamily="18" charset="0"/>
                <a:ea typeface="宋体" panose="02010600030101010101" pitchFamily="2" charset="-122"/>
              </a:rPr>
              <a:t>。并画出程序框图。</a:t>
            </a:r>
            <a:r>
              <a:rPr lang="zh-CN" altLang="en-US" sz="2000" dirty="0">
                <a:solidFill>
                  <a:srgbClr val="FF0000"/>
                </a:solidFill>
                <a:latin typeface="Times New Roman" panose="02020603050405020304" pitchFamily="18" charset="0"/>
                <a:ea typeface="宋体" panose="02010600030101010101" pitchFamily="2" charset="-122"/>
              </a:rPr>
              <a:t>能否用前向差分法进行离散化，如何</a:t>
            </a:r>
            <a:r>
              <a:rPr lang="zh-CN" altLang="en-US" sz="2000" dirty="0">
                <a:solidFill>
                  <a:srgbClr val="FF0000"/>
                </a:solidFill>
                <a:latin typeface="Times New Roman" panose="02020603050405020304" pitchFamily="18" charset="0"/>
                <a:ea typeface="宋体" panose="02010600030101010101" pitchFamily="2" charset="-122"/>
              </a:rPr>
              <a:t>改进？</a:t>
            </a:r>
            <a:endParaRPr lang="zh-CN" altLang="en-US" sz="2000" dirty="0">
              <a:solidFill>
                <a:srgbClr val="FF0000"/>
              </a:solidFill>
              <a:latin typeface="Times New Roman" panose="02020603050405020304" pitchFamily="18" charset="0"/>
              <a:ea typeface="Times New Roman" panose="02020603050405020304" pitchFamily="18" charset="0"/>
            </a:endParaRPr>
          </a:p>
        </p:txBody>
      </p:sp>
      <p:graphicFrame>
        <p:nvGraphicFramePr>
          <p:cNvPr id="53250" name="Object 3"/>
          <p:cNvGraphicFramePr>
            <a:graphicFrameLocks noGrp="1" noChangeAspect="1"/>
          </p:cNvGraphicFramePr>
          <p:nvPr/>
        </p:nvGraphicFramePr>
        <p:xfrm>
          <a:off x="4644073" y="2086928"/>
          <a:ext cx="2241550" cy="534987"/>
        </p:xfrm>
        <a:graphic>
          <a:graphicData uri="http://schemas.openxmlformats.org/presentationml/2006/ole">
            <mc:AlternateContent xmlns:mc="http://schemas.openxmlformats.org/markup-compatibility/2006">
              <mc:Choice xmlns:v="urn:schemas-microsoft-com:vml" Requires="v">
                <p:oleObj spid="_x0000_s3109" name="" r:id="rId1" imgW="2032000" imgH="495300" progId="Equation.3">
                  <p:embed/>
                </p:oleObj>
              </mc:Choice>
              <mc:Fallback>
                <p:oleObj name="" r:id="rId1" imgW="2032000" imgH="495300" progId="Equation.3">
                  <p:embed/>
                  <p:pic>
                    <p:nvPicPr>
                      <p:cNvPr id="0" name="图片 3108"/>
                      <p:cNvPicPr/>
                      <p:nvPr/>
                    </p:nvPicPr>
                    <p:blipFill>
                      <a:blip r:embed="rId2"/>
                      <a:stretch>
                        <a:fillRect/>
                      </a:stretch>
                    </p:blipFill>
                    <p:spPr>
                      <a:xfrm>
                        <a:off x="4644073" y="2086928"/>
                        <a:ext cx="2241550" cy="534987"/>
                      </a:xfrm>
                      <a:prstGeom prst="rect">
                        <a:avLst/>
                      </a:prstGeom>
                      <a:solidFill>
                        <a:srgbClr val="CCCCCC"/>
                      </a:solidFill>
                      <a:ln w="38100">
                        <a:noFill/>
                        <a:miter/>
                      </a:ln>
                    </p:spPr>
                  </p:pic>
                </p:oleObj>
              </mc:Fallback>
            </mc:AlternateContent>
          </a:graphicData>
        </a:graphic>
      </p:graphicFrame>
      <p:sp>
        <p:nvSpPr>
          <p:cNvPr id="2" name="文本框 1"/>
          <p:cNvSpPr txBox="1"/>
          <p:nvPr/>
        </p:nvSpPr>
        <p:spPr>
          <a:xfrm>
            <a:off x="395605" y="3303270"/>
            <a:ext cx="8467090" cy="3322955"/>
          </a:xfrm>
          <a:prstGeom prst="rect">
            <a:avLst/>
          </a:prstGeom>
          <a:noFill/>
        </p:spPr>
        <p:txBody>
          <a:bodyPr wrap="square" rtlCol="0" anchor="t">
            <a:spAutoFit/>
          </a:bodyPr>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zh-CN" altLang="en-US"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答案：</a:t>
            </a:r>
            <a:endParaRPr lang="zh-CN" altLang="en-US"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en-US" altLang="zh-CN"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1</a:t>
            </a:r>
            <a:r>
              <a:rPr lang="zh-CN" altLang="en-US"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a:t>
            </a:r>
            <a:r>
              <a:rPr lang="en-US" altLang="zh-CN"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A</a:t>
            </a:r>
            <a:r>
              <a:rPr lang="zh-CN" altLang="en-US"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a:t>
            </a:r>
            <a:r>
              <a:rPr lang="en-US" altLang="zh-CN"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B</a:t>
            </a:r>
            <a:endParaRPr lang="en-US" altLang="zh-CN"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endParaRPr>
          </a:p>
          <a:p>
            <a:pPr eaLnBrk="0" hangingPunct="0"/>
            <a:r>
              <a:rPr lang="en-US" altLang="zh-CN"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2</a:t>
            </a:r>
            <a:r>
              <a:rPr lang="zh-CN" altLang="en-US"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a:t>
            </a:r>
            <a:r>
              <a:rPr lang="zh-CN" altLang="en-US" sz="2000" dirty="0">
                <a:latin typeface="Times New Roman" panose="02020603050405020304" pitchFamily="18" charset="0"/>
                <a:sym typeface="+mn-ea"/>
              </a:rPr>
              <a:t>解法一</a:t>
            </a:r>
            <a:r>
              <a:rPr lang="en-US" altLang="zh-CN" sz="2000" dirty="0">
                <a:latin typeface="Times New Roman" panose="02020603050405020304" pitchFamily="18" charset="0"/>
                <a:sym typeface="+mn-ea"/>
              </a:rPr>
              <a:t>(</a:t>
            </a:r>
            <a:r>
              <a:rPr lang="zh-CN" altLang="en-US" sz="2000" dirty="0">
                <a:latin typeface="Times New Roman" panose="02020603050405020304" pitchFamily="18" charset="0"/>
                <a:sym typeface="+mn-ea"/>
              </a:rPr>
              <a:t>采用双线性变换</a:t>
            </a:r>
            <a:r>
              <a:rPr lang="en-US" altLang="zh-CN" sz="2000" dirty="0">
                <a:latin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endParaRPr>
          </a:p>
          <a:p>
            <a:pPr eaLnBrk="0" hangingPunct="0"/>
            <a:endParaRPr lang="en-US" altLang="zh-CN" sz="2000" dirty="0">
              <a:latin typeface="Times New Roman" panose="02020603050405020304" pitchFamily="18" charset="0"/>
              <a:ea typeface="宋体" panose="02010600030101010101" pitchFamily="2" charset="-122"/>
            </a:endParaRPr>
          </a:p>
          <a:p>
            <a:pPr eaLnBrk="0" hangingPunct="0"/>
            <a:endParaRPr lang="en-US" altLang="zh-CN" sz="2000" dirty="0">
              <a:latin typeface="Times New Roman" panose="02020603050405020304" pitchFamily="18" charset="0"/>
              <a:ea typeface="宋体" panose="02010600030101010101" pitchFamily="2" charset="-122"/>
            </a:endParaRPr>
          </a:p>
          <a:p>
            <a:pPr eaLnBrk="0" hangingPunct="0"/>
            <a:endParaRPr lang="en-US" altLang="zh-CN" sz="2000" dirty="0">
              <a:latin typeface="Times New Roman" panose="02020603050405020304" pitchFamily="18" charset="0"/>
              <a:ea typeface="宋体" panose="02010600030101010101" pitchFamily="2" charset="-122"/>
            </a:endParaRPr>
          </a:p>
          <a:p>
            <a:pPr eaLnBrk="0" hangingPunct="0"/>
            <a:endParaRPr lang="zh-CN" altLang="en-US" sz="2000" dirty="0">
              <a:latin typeface="Times New Roman" panose="02020603050405020304" pitchFamily="18" charset="0"/>
              <a:sym typeface="+mn-ea"/>
            </a:endParaRPr>
          </a:p>
          <a:p>
            <a:pPr eaLnBrk="0" hangingPunct="0"/>
            <a:r>
              <a:rPr lang="zh-CN" altLang="en-US" sz="2000" dirty="0">
                <a:latin typeface="Times New Roman" panose="02020603050405020304" pitchFamily="18" charset="0"/>
                <a:sym typeface="+mn-ea"/>
              </a:rPr>
              <a:t>位置式：</a:t>
            </a:r>
            <a:endParaRPr lang="zh-CN" altLang="en-US" sz="2000" dirty="0">
              <a:latin typeface="Times New Roman" panose="02020603050405020304" pitchFamily="18" charset="0"/>
              <a:ea typeface="宋体" panose="02010600030101010101" pitchFamily="2" charset="-122"/>
            </a:endParaRPr>
          </a:p>
          <a:p>
            <a:pPr eaLnBrk="0" hangingPunct="0">
              <a:spcBef>
                <a:spcPts val="600"/>
              </a:spcBef>
              <a:spcAft>
                <a:spcPts val="600"/>
              </a:spcAft>
            </a:pPr>
            <a:r>
              <a:rPr lang="zh-CN" altLang="en-US" sz="2000" dirty="0">
                <a:latin typeface="Times New Roman" panose="02020603050405020304" pitchFamily="18" charset="0"/>
                <a:sym typeface="+mn-ea"/>
              </a:rPr>
              <a:t>增量式：</a:t>
            </a:r>
            <a:endParaRPr lang="zh-CN" altLang="en-US" sz="2000" dirty="0">
              <a:latin typeface="Times New Roman" panose="02020603050405020304" pitchFamily="18"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en-US" altLang="zh-CN"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rPr>
              <a:t> </a:t>
            </a:r>
            <a:endParaRPr lang="en-US" altLang="zh-CN" sz="2000" kern="100" noProof="0" dirty="0">
              <a:ln>
                <a:noFill/>
              </a:ln>
              <a:solidFill>
                <a:srgbClr val="000000"/>
              </a:solidFill>
              <a:effectLst/>
              <a:uLnTx/>
              <a:uFillTx/>
              <a:latin typeface="Times New Roman" panose="02020603050405020304" pitchFamily="18" charset="0"/>
              <a:cs typeface="Arial" panose="020B0604020202020204" pitchFamily="34" charset="0"/>
              <a:sym typeface="+mn-ea"/>
            </a:endParaRPr>
          </a:p>
        </p:txBody>
      </p:sp>
      <p:graphicFrame>
        <p:nvGraphicFramePr>
          <p:cNvPr id="53252" name="Object 5"/>
          <p:cNvGraphicFramePr>
            <a:graphicFrameLocks noChangeAspect="1"/>
          </p:cNvGraphicFramePr>
          <p:nvPr/>
        </p:nvGraphicFramePr>
        <p:xfrm>
          <a:off x="2123758" y="4238943"/>
          <a:ext cx="4852987" cy="1065212"/>
        </p:xfrm>
        <a:graphic>
          <a:graphicData uri="http://schemas.openxmlformats.org/presentationml/2006/ole">
            <mc:AlternateContent xmlns:mc="http://schemas.openxmlformats.org/markup-compatibility/2006">
              <mc:Choice xmlns:v="urn:schemas-microsoft-com:vml" Requires="v">
                <p:oleObj spid="_x0000_s3113" name="" r:id="rId3" imgW="4559300" imgH="952500" progId="Equation.DSMT4">
                  <p:embed/>
                </p:oleObj>
              </mc:Choice>
              <mc:Fallback>
                <p:oleObj name="" r:id="rId3" imgW="4559300" imgH="952500" progId="Equation.DSMT4">
                  <p:embed/>
                  <p:pic>
                    <p:nvPicPr>
                      <p:cNvPr id="0" name="图片 3112"/>
                      <p:cNvPicPr/>
                      <p:nvPr/>
                    </p:nvPicPr>
                    <p:blipFill>
                      <a:blip r:embed="rId4"/>
                      <a:stretch>
                        <a:fillRect/>
                      </a:stretch>
                    </p:blipFill>
                    <p:spPr>
                      <a:xfrm>
                        <a:off x="2123758" y="4238943"/>
                        <a:ext cx="4852987" cy="1065212"/>
                      </a:xfrm>
                      <a:prstGeom prst="rect">
                        <a:avLst/>
                      </a:prstGeom>
                      <a:noFill/>
                      <a:ln w="38100">
                        <a:noFill/>
                        <a:miter/>
                      </a:ln>
                    </p:spPr>
                  </p:pic>
                </p:oleObj>
              </mc:Fallback>
            </mc:AlternateContent>
          </a:graphicData>
        </a:graphic>
      </p:graphicFrame>
      <p:graphicFrame>
        <p:nvGraphicFramePr>
          <p:cNvPr id="53253" name="Object 6"/>
          <p:cNvGraphicFramePr>
            <a:graphicFrameLocks noChangeAspect="1"/>
          </p:cNvGraphicFramePr>
          <p:nvPr/>
        </p:nvGraphicFramePr>
        <p:xfrm>
          <a:off x="1506538" y="5475288"/>
          <a:ext cx="5367337" cy="366712"/>
        </p:xfrm>
        <a:graphic>
          <a:graphicData uri="http://schemas.openxmlformats.org/presentationml/2006/ole">
            <mc:AlternateContent xmlns:mc="http://schemas.openxmlformats.org/markup-compatibility/2006">
              <mc:Choice xmlns:v="urn:schemas-microsoft-com:vml" Requires="v">
                <p:oleObj spid="_x0000_s3114" name="" r:id="rId5" imgW="3886200" imgH="203200" progId="Equation.DSMT4">
                  <p:embed/>
                </p:oleObj>
              </mc:Choice>
              <mc:Fallback>
                <p:oleObj name="" r:id="rId5" imgW="3886200" imgH="203200" progId="Equation.DSMT4">
                  <p:embed/>
                  <p:pic>
                    <p:nvPicPr>
                      <p:cNvPr id="0" name="图片 3113"/>
                      <p:cNvPicPr/>
                      <p:nvPr/>
                    </p:nvPicPr>
                    <p:blipFill>
                      <a:blip r:embed="rId6"/>
                      <a:stretch>
                        <a:fillRect/>
                      </a:stretch>
                    </p:blipFill>
                    <p:spPr>
                      <a:xfrm>
                        <a:off x="1506538" y="5475288"/>
                        <a:ext cx="5367337" cy="366712"/>
                      </a:xfrm>
                      <a:prstGeom prst="rect">
                        <a:avLst/>
                      </a:prstGeom>
                      <a:solidFill>
                        <a:srgbClr val="CCCCCC"/>
                      </a:solidFill>
                      <a:ln w="38100">
                        <a:noFill/>
                        <a:miter/>
                      </a:ln>
                    </p:spPr>
                  </p:pic>
                </p:oleObj>
              </mc:Fallback>
            </mc:AlternateContent>
          </a:graphicData>
        </a:graphic>
      </p:graphicFrame>
      <p:graphicFrame>
        <p:nvGraphicFramePr>
          <p:cNvPr id="53254" name="Object 7"/>
          <p:cNvGraphicFramePr>
            <a:graphicFrameLocks noChangeAspect="1"/>
          </p:cNvGraphicFramePr>
          <p:nvPr/>
        </p:nvGraphicFramePr>
        <p:xfrm>
          <a:off x="1490663" y="5883593"/>
          <a:ext cx="7292975" cy="363537"/>
        </p:xfrm>
        <a:graphic>
          <a:graphicData uri="http://schemas.openxmlformats.org/presentationml/2006/ole">
            <mc:AlternateContent xmlns:mc="http://schemas.openxmlformats.org/markup-compatibility/2006">
              <mc:Choice xmlns:v="urn:schemas-microsoft-com:vml" Requires="v">
                <p:oleObj spid="_x0000_s3112" name="" r:id="rId7" imgW="5384800" imgH="203200" progId="Equation.DSMT4">
                  <p:embed/>
                </p:oleObj>
              </mc:Choice>
              <mc:Fallback>
                <p:oleObj name="" r:id="rId7" imgW="5384800" imgH="203200" progId="Equation.DSMT4">
                  <p:embed/>
                  <p:pic>
                    <p:nvPicPr>
                      <p:cNvPr id="0" name="图片 3111"/>
                      <p:cNvPicPr/>
                      <p:nvPr/>
                    </p:nvPicPr>
                    <p:blipFill>
                      <a:blip r:embed="rId8"/>
                      <a:stretch>
                        <a:fillRect/>
                      </a:stretch>
                    </p:blipFill>
                    <p:spPr>
                      <a:xfrm>
                        <a:off x="1490663" y="5883593"/>
                        <a:ext cx="7292975" cy="363537"/>
                      </a:xfrm>
                      <a:prstGeom prst="rect">
                        <a:avLst/>
                      </a:prstGeom>
                      <a:solidFill>
                        <a:srgbClr val="CCCCCC"/>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2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2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9" grpId="0"/>
      <p:bldP spid="53249" grpId="1"/>
      <p:bldP spid="2" grpId="0"/>
      <p:bldP spid="2"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323533" y="621665"/>
            <a:ext cx="8462963" cy="2245360"/>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kumimoji="0" lang="zh-CN" altLang="en-US"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解法</a:t>
            </a:r>
            <a:r>
              <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0" lang="zh-CN" altLang="en-US"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（采用后向差分）</a:t>
            </a:r>
            <a:endParaRPr kumimoji="0" lang="zh-CN" altLang="en-US"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4" name="图片 3"/>
          <p:cNvPicPr/>
          <p:nvPr/>
        </p:nvPicPr>
        <p:blipFill>
          <a:blip r:embed="rId1"/>
          <a:stretch>
            <a:fillRect/>
          </a:stretch>
        </p:blipFill>
        <p:spPr>
          <a:xfrm>
            <a:off x="2987675" y="476250"/>
            <a:ext cx="4384675" cy="1055370"/>
          </a:xfrm>
          <a:prstGeom prst="rect">
            <a:avLst/>
          </a:prstGeom>
        </p:spPr>
      </p:pic>
      <p:pic>
        <p:nvPicPr>
          <p:cNvPr id="5" name="图片 4"/>
          <p:cNvPicPr/>
          <p:nvPr/>
        </p:nvPicPr>
        <p:blipFill>
          <a:blip r:embed="rId2"/>
          <a:stretch>
            <a:fillRect/>
          </a:stretch>
        </p:blipFill>
        <p:spPr>
          <a:xfrm>
            <a:off x="2700020" y="1531620"/>
            <a:ext cx="4818380" cy="890270"/>
          </a:xfrm>
          <a:prstGeom prst="rect">
            <a:avLst/>
          </a:prstGeom>
        </p:spPr>
      </p:pic>
      <p:pic>
        <p:nvPicPr>
          <p:cNvPr id="6" name="图片 5"/>
          <p:cNvPicPr/>
          <p:nvPr/>
        </p:nvPicPr>
        <p:blipFill>
          <a:blip r:embed="rId3"/>
          <a:stretch>
            <a:fillRect/>
          </a:stretch>
        </p:blipFill>
        <p:spPr>
          <a:xfrm>
            <a:off x="3161665" y="2636520"/>
            <a:ext cx="3833495" cy="1291590"/>
          </a:xfrm>
          <a:prstGeom prst="rect">
            <a:avLst/>
          </a:prstGeom>
        </p:spPr>
      </p:pic>
      <p:pic>
        <p:nvPicPr>
          <p:cNvPr id="8" name="图片 7"/>
          <p:cNvPicPr/>
          <p:nvPr/>
        </p:nvPicPr>
        <p:blipFill>
          <a:blip r:embed="rId4"/>
          <a:stretch>
            <a:fillRect/>
          </a:stretch>
        </p:blipFill>
        <p:spPr>
          <a:xfrm>
            <a:off x="1835785" y="4040505"/>
            <a:ext cx="4813935" cy="1306830"/>
          </a:xfrm>
          <a:prstGeom prst="rect">
            <a:avLst/>
          </a:prstGeom>
        </p:spPr>
      </p:pic>
      <p:pic>
        <p:nvPicPr>
          <p:cNvPr id="9" name="图片 8"/>
          <p:cNvPicPr/>
          <p:nvPr/>
        </p:nvPicPr>
        <p:blipFill>
          <a:blip r:embed="rId5"/>
          <a:stretch>
            <a:fillRect/>
          </a:stretch>
        </p:blipFill>
        <p:spPr>
          <a:xfrm>
            <a:off x="1835785" y="5516880"/>
            <a:ext cx="4787265" cy="954405"/>
          </a:xfrm>
          <a:prstGeom prst="rect">
            <a:avLst/>
          </a:prstGeom>
        </p:spPr>
      </p:pic>
      <p:sp>
        <p:nvSpPr>
          <p:cNvPr id="10" name="文本框 9"/>
          <p:cNvSpPr txBox="1"/>
          <p:nvPr/>
        </p:nvSpPr>
        <p:spPr>
          <a:xfrm>
            <a:off x="252730" y="2637155"/>
            <a:ext cx="4572000" cy="3169285"/>
          </a:xfrm>
          <a:prstGeom prst="rect">
            <a:avLst/>
          </a:prstGeom>
          <a:noFill/>
        </p:spPr>
        <p:txBody>
          <a:bodyPr wrap="square" rtlCol="0" anchor="t">
            <a:spAutoFit/>
          </a:bodyPr>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zh-CN" altLang="en-US" sz="2000" kern="100" noProof="0" dirty="0">
                <a:ln>
                  <a:noFill/>
                </a:ln>
                <a:effectLst/>
                <a:uLnTx/>
                <a:uFillTx/>
                <a:latin typeface="Times New Roman" panose="02020603050405020304" pitchFamily="18" charset="0"/>
                <a:sym typeface="+mn-ea"/>
              </a:rPr>
              <a:t>解法</a:t>
            </a:r>
            <a:r>
              <a:rPr lang="en-US" altLang="zh-CN" sz="2000" kern="100" noProof="0" dirty="0">
                <a:ln>
                  <a:noFill/>
                </a:ln>
                <a:effectLst/>
                <a:uLnTx/>
                <a:uFillTx/>
                <a:latin typeface="Times New Roman" panose="02020603050405020304" pitchFamily="18" charset="0"/>
                <a:sym typeface="+mn-ea"/>
              </a:rPr>
              <a:t>3</a:t>
            </a:r>
            <a:r>
              <a:rPr lang="zh-CN" altLang="en-US" sz="2000" kern="100" noProof="0" dirty="0">
                <a:ln>
                  <a:noFill/>
                </a:ln>
                <a:effectLst/>
                <a:uLnTx/>
                <a:uFillTx/>
                <a:latin typeface="Times New Roman" panose="02020603050405020304" pitchFamily="18" charset="0"/>
                <a:sym typeface="+mn-ea"/>
              </a:rPr>
              <a:t>（不完全微分</a:t>
            </a:r>
            <a:r>
              <a:rPr lang="en-US" altLang="zh-CN" sz="2000" kern="100" noProof="0" dirty="0">
                <a:ln>
                  <a:noFill/>
                </a:ln>
                <a:effectLst/>
                <a:uLnTx/>
                <a:uFillTx/>
                <a:latin typeface="Times New Roman" panose="02020603050405020304" pitchFamily="18" charset="0"/>
                <a:sym typeface="+mn-ea"/>
              </a:rPr>
              <a:t>PID</a:t>
            </a:r>
            <a:r>
              <a:rPr lang="zh-CN" altLang="en-US" sz="2000" kern="100" noProof="0" dirty="0">
                <a:ln>
                  <a:noFill/>
                </a:ln>
                <a:effectLst/>
                <a:uLnTx/>
                <a:uFillTx/>
                <a:latin typeface="Times New Roman" panose="02020603050405020304" pitchFamily="18" charset="0"/>
                <a:sym typeface="+mn-ea"/>
              </a:rPr>
              <a:t>）</a:t>
            </a:r>
            <a:endParaRPr kumimoji="0" lang="zh-CN" altLang="en-US"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en-US" altLang="zh-CN" sz="2000" kern="100" noProof="0" dirty="0">
                <a:ln>
                  <a:noFill/>
                </a:ln>
                <a:effectLst/>
                <a:uLnTx/>
                <a:uFillTx/>
                <a:latin typeface="Times New Roman" panose="02020603050405020304" pitchFamily="18" charset="0"/>
                <a:sym typeface="+mn-ea"/>
              </a:rPr>
              <a:t>  </a:t>
            </a:r>
            <a:r>
              <a:rPr lang="zh-CN" altLang="en-US" sz="2000" kern="100" noProof="0" dirty="0">
                <a:ln>
                  <a:noFill/>
                </a:ln>
                <a:effectLst/>
                <a:uLnTx/>
                <a:uFillTx/>
                <a:latin typeface="Times New Roman" panose="02020603050405020304" pitchFamily="18" charset="0"/>
                <a:sym typeface="+mn-ea"/>
              </a:rPr>
              <a:t>控制器可整理为：</a:t>
            </a:r>
            <a:endParaRPr kumimoji="0" lang="zh-CN" altLang="en-US"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zh-CN" altLang="en-US" sz="2000" kern="100" noProof="0" dirty="0">
                <a:ln>
                  <a:noFill/>
                </a:ln>
                <a:effectLst/>
                <a:uLnTx/>
                <a:uFillTx/>
                <a:latin typeface="Times New Roman" panose="02020603050405020304" pitchFamily="18" charset="0"/>
                <a:sym typeface="+mn-ea"/>
              </a:rPr>
              <a:t>则有：</a:t>
            </a:r>
            <a:endParaRPr kumimoji="0" lang="zh-CN" altLang="en-US"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zh-CN" altLang="en-US" sz="2000" kern="100" noProof="0" dirty="0">
                <a:ln>
                  <a:noFill/>
                </a:ln>
                <a:effectLst/>
                <a:uLnTx/>
                <a:uFillTx/>
                <a:latin typeface="Times New Roman" panose="02020603050405020304" pitchFamily="18" charset="0"/>
                <a:sym typeface="+mn-ea"/>
              </a:rPr>
              <a:t>得到：</a:t>
            </a:r>
            <a:endParaRPr lang="zh-CN" altLang="en-US" sz="2000" kern="100" noProof="0" dirty="0">
              <a:ln>
                <a:noFill/>
              </a:ln>
              <a:effectLst/>
              <a:uLnTx/>
              <a:uFillTx/>
              <a:latin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323533" y="621665"/>
            <a:ext cx="8462963" cy="398780"/>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zh-CN" altLang="en-US" sz="2000" kern="100" noProof="0" dirty="0">
                <a:ln>
                  <a:noFill/>
                </a:ln>
                <a:effectLst/>
                <a:uLnTx/>
                <a:uFillTx/>
                <a:latin typeface="Times New Roman" panose="02020603050405020304" pitchFamily="18" charset="0"/>
                <a:sym typeface="+mn-ea"/>
              </a:rPr>
              <a:t>（</a:t>
            </a:r>
            <a:r>
              <a:rPr lang="en-US" altLang="zh-CN" sz="2000" kern="100" noProof="0" dirty="0">
                <a:ln>
                  <a:noFill/>
                </a:ln>
                <a:effectLst/>
                <a:uLnTx/>
                <a:uFillTx/>
                <a:latin typeface="Times New Roman" panose="02020603050405020304" pitchFamily="18" charset="0"/>
                <a:sym typeface="+mn-ea"/>
              </a:rPr>
              <a:t>2</a:t>
            </a:r>
            <a:r>
              <a:rPr lang="zh-CN" altLang="en-US" sz="2000" kern="100" noProof="0" dirty="0">
                <a:ln>
                  <a:noFill/>
                </a:ln>
                <a:effectLst/>
                <a:uLnTx/>
                <a:uFillTx/>
                <a:latin typeface="Times New Roman" panose="02020603050405020304" pitchFamily="18" charset="0"/>
                <a:sym typeface="+mn-ea"/>
              </a:rPr>
              <a:t>）控制算法参考流程图如下：</a:t>
            </a:r>
            <a:endParaRPr kumimoji="0" lang="en-US" altLang="zh-CN" sz="20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2" name="图片 1"/>
          <p:cNvPicPr/>
          <p:nvPr/>
        </p:nvPicPr>
        <p:blipFill>
          <a:blip r:embed="rId1"/>
          <a:stretch>
            <a:fillRect/>
          </a:stretch>
        </p:blipFill>
        <p:spPr>
          <a:xfrm>
            <a:off x="2771616" y="1020286"/>
            <a:ext cx="3334067" cy="4705667"/>
          </a:xfrm>
          <a:prstGeom prst="rect">
            <a:avLst/>
          </a:prstGeom>
        </p:spPr>
      </p:pic>
      <p:sp>
        <p:nvSpPr>
          <p:cNvPr id="3" name="矩形 2"/>
          <p:cNvSpPr/>
          <p:nvPr/>
        </p:nvSpPr>
        <p:spPr>
          <a:xfrm>
            <a:off x="323533" y="6021070"/>
            <a:ext cx="8462963" cy="398780"/>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ts val="0"/>
              </a:spcAft>
              <a:buClrTx/>
              <a:buSzTx/>
              <a:buFontTx/>
              <a:buNone/>
              <a:tabLst>
                <a:tab pos="228600" algn="l"/>
                <a:tab pos="342900" algn="l"/>
              </a:tabLst>
              <a:defRPr/>
            </a:pPr>
            <a:r>
              <a:rPr lang="zh-CN" altLang="en-US" sz="2000" kern="100" noProof="0" dirty="0">
                <a:ln>
                  <a:noFill/>
                </a:ln>
                <a:effectLst/>
                <a:uLnTx/>
                <a:uFillTx/>
                <a:latin typeface="Times New Roman" panose="02020603050405020304" pitchFamily="18" charset="0"/>
                <a:sym typeface="+mn-ea"/>
              </a:rPr>
              <a:t>（</a:t>
            </a:r>
            <a:r>
              <a:rPr lang="en-US" altLang="zh-CN" sz="2000" kern="100" noProof="0" dirty="0">
                <a:ln>
                  <a:noFill/>
                </a:ln>
                <a:effectLst/>
                <a:uLnTx/>
                <a:uFillTx/>
                <a:latin typeface="Times New Roman" panose="02020603050405020304" pitchFamily="18" charset="0"/>
                <a:sym typeface="+mn-ea"/>
              </a:rPr>
              <a:t>3</a:t>
            </a:r>
            <a:r>
              <a:rPr lang="zh-CN" altLang="en-US" sz="2000" kern="100" noProof="0" dirty="0">
                <a:ln>
                  <a:noFill/>
                </a:ln>
                <a:effectLst/>
                <a:uLnTx/>
                <a:uFillTx/>
                <a:latin typeface="Times New Roman" panose="02020603050405020304" pitchFamily="18" charset="0"/>
                <a:sym typeface="+mn-ea"/>
              </a:rPr>
              <a:t>）</a:t>
            </a:r>
            <a:r>
              <a:rPr lang="zh-CN" altLang="en-US" sz="2000" kern="100" noProof="0" dirty="0">
                <a:ln>
                  <a:noFill/>
                </a:ln>
                <a:effectLst/>
                <a:uLnTx/>
                <a:uFillTx/>
                <a:latin typeface="Times New Roman" panose="02020603050405020304" pitchFamily="18" charset="0"/>
                <a:sym typeface="+mn-ea"/>
              </a:rPr>
              <a:t>略</a:t>
            </a:r>
            <a:endParaRPr lang="zh-CN" altLang="en-US" sz="2000" kern="100" noProof="0" dirty="0">
              <a:ln>
                <a:noFill/>
              </a:ln>
              <a:effectLst/>
              <a:uLnTx/>
              <a:uFillTx/>
              <a:latin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5"/>
          <p:cNvSpPr/>
          <p:nvPr/>
        </p:nvSpPr>
        <p:spPr>
          <a:xfrm>
            <a:off x="209550" y="589756"/>
            <a:ext cx="8724900" cy="2614930"/>
          </a:xfrm>
          <a:prstGeom prst="rect">
            <a:avLst/>
          </a:prstGeom>
          <a:noFill/>
          <a:ln w="12700">
            <a:noFill/>
          </a:ln>
        </p:spPr>
        <p:txBody>
          <a:bodyPr anchor="ctr" anchorCtr="0">
            <a:spAutoFit/>
          </a:bodyPr>
          <a:p>
            <a:pPr defTabSz="914400" eaLnBrk="0" hangingPunct="0">
              <a:tabLst>
                <a:tab pos="228600" algn="l"/>
                <a:tab pos="342900" algn="l"/>
              </a:tabLst>
            </a:pPr>
            <a:r>
              <a:rPr lang="zh-CN" altLang="en-US" sz="2400" b="1" dirty="0">
                <a:latin typeface="Times New Roman" panose="02020603050405020304" pitchFamily="18" charset="0"/>
                <a:ea typeface="宋体" panose="02010600030101010101" pitchFamily="2" charset="-122"/>
              </a:rPr>
              <a:t>习题</a:t>
            </a:r>
            <a:r>
              <a:rPr lang="en-US" altLang="zh-CN" sz="2400" b="1" dirty="0">
                <a:latin typeface="Times New Roman" panose="02020603050405020304" pitchFamily="18" charset="0"/>
                <a:ea typeface="宋体" panose="02010600030101010101" pitchFamily="2" charset="-122"/>
              </a:rPr>
              <a:t>4</a:t>
            </a:r>
            <a:endParaRPr lang="en-US" altLang="zh-CN" sz="2400" b="1" dirty="0">
              <a:latin typeface="Times New Roman" panose="02020603050405020304" pitchFamily="18" charset="0"/>
              <a:ea typeface="宋体" panose="02010600030101010101" pitchFamily="2" charset="-122"/>
            </a:endParaRPr>
          </a:p>
          <a:p>
            <a:pPr defTabSz="914400" eaLnBrk="0" hangingPunct="0">
              <a:tabLst>
                <a:tab pos="228600" algn="l"/>
                <a:tab pos="342900" algn="l"/>
              </a:tabLst>
            </a:pP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、简述模拟量输入通道的主要组成及功能。</a:t>
            </a:r>
            <a:endParaRPr lang="zh-CN" altLang="en-US" sz="2000" dirty="0">
              <a:latin typeface="Times New Roman" panose="02020603050405020304" pitchFamily="18" charset="0"/>
              <a:ea typeface="宋体" panose="02010600030101010101" pitchFamily="2" charset="-122"/>
            </a:endParaRPr>
          </a:p>
          <a:p>
            <a:pPr defTabSz="914400" eaLnBrk="0" hangingPunct="0">
              <a:tabLst>
                <a:tab pos="228600" algn="l"/>
                <a:tab pos="342900" algn="l"/>
              </a:tabLst>
            </a:pP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、某多路温度采集系统原理图如下，</a:t>
            </a:r>
            <a:r>
              <a:rPr lang="zh-CN" altLang="zh-CN" sz="2000" dirty="0">
                <a:latin typeface="Times New Roman" panose="02020603050405020304" pitchFamily="18" charset="0"/>
                <a:ea typeface="宋体" panose="02010600030101010101" pitchFamily="2" charset="-122"/>
              </a:rPr>
              <a:t>给出采集</a:t>
            </a:r>
            <a:r>
              <a:rPr lang="en-US" altLang="zh-CN" sz="2000" dirty="0">
                <a:latin typeface="Times New Roman" panose="02020603050405020304" pitchFamily="18" charset="0"/>
                <a:ea typeface="宋体" panose="02010600030101010101" pitchFamily="2" charset="-122"/>
              </a:rPr>
              <a:t>8</a:t>
            </a:r>
            <a:r>
              <a:rPr lang="zh-CN" altLang="zh-CN" sz="2000" dirty="0">
                <a:latin typeface="Times New Roman" panose="02020603050405020304" pitchFamily="18" charset="0"/>
                <a:ea typeface="宋体" panose="02010600030101010101" pitchFamily="2" charset="-122"/>
              </a:rPr>
              <a:t>路模拟量的端口地址</a:t>
            </a:r>
            <a:r>
              <a:rPr lang="zh-CN" altLang="en-US"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结合电路图简要说明采集模拟量</a:t>
            </a:r>
            <a:r>
              <a:rPr lang="en-US" altLang="zh-CN" sz="2000" dirty="0">
                <a:latin typeface="Times New Roman" panose="02020603050405020304" pitchFamily="18" charset="0"/>
                <a:ea typeface="宋体" panose="02010600030101010101" pitchFamily="2" charset="-122"/>
              </a:rPr>
              <a:t>AI3</a:t>
            </a:r>
            <a:r>
              <a:rPr lang="zh-CN" altLang="zh-CN" sz="2000" dirty="0">
                <a:latin typeface="Times New Roman" panose="02020603050405020304" pitchFamily="18" charset="0"/>
                <a:ea typeface="宋体" panose="02010600030101010101" pitchFamily="2" charset="-122"/>
              </a:rPr>
              <a:t>计算机</a:t>
            </a:r>
            <a:r>
              <a:rPr lang="zh-CN" altLang="en-US" sz="2000" dirty="0">
                <a:latin typeface="Times New Roman" panose="02020603050405020304" pitchFamily="18" charset="0"/>
                <a:ea typeface="宋体" panose="02010600030101010101" pitchFamily="2" charset="-122"/>
              </a:rPr>
              <a:t>采集</a:t>
            </a:r>
            <a:r>
              <a:rPr lang="zh-CN" altLang="zh-CN" sz="2000" dirty="0">
                <a:latin typeface="Times New Roman" panose="02020603050405020304" pitchFamily="18" charset="0"/>
                <a:ea typeface="宋体" panose="02010600030101010101" pitchFamily="2" charset="-122"/>
              </a:rPr>
              <a:t>工作过程</a:t>
            </a:r>
            <a:r>
              <a:rPr lang="zh-CN" altLang="en-US" sz="2000" dirty="0">
                <a:latin typeface="Times New Roman" panose="02020603050405020304" pitchFamily="18" charset="0"/>
                <a:ea typeface="宋体" panose="02010600030101010101" pitchFamily="2" charset="-122"/>
              </a:rPr>
              <a:t>。编写采集控制程序</a:t>
            </a:r>
            <a:endParaRPr lang="zh-CN" altLang="en-US" sz="2000" dirty="0">
              <a:latin typeface="Times New Roman" panose="02020603050405020304" pitchFamily="18" charset="0"/>
              <a:ea typeface="宋体" panose="02010600030101010101" pitchFamily="2" charset="-122"/>
            </a:endParaRPr>
          </a:p>
          <a:p>
            <a:pPr defTabSz="914400" eaLnBrk="0" hangingPunct="0">
              <a:tabLst>
                <a:tab pos="228600" algn="l"/>
                <a:tab pos="342900" algn="l"/>
              </a:tabLst>
            </a:pP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、某通道的温度变化范围为</a:t>
            </a:r>
            <a:r>
              <a:rPr lang="en-US" altLang="zh-CN" sz="2000" dirty="0">
                <a:latin typeface="Times New Roman" panose="02020603050405020304" pitchFamily="18" charset="0"/>
                <a:ea typeface="宋体" panose="02010600030101010101" pitchFamily="2" charset="-122"/>
              </a:rPr>
              <a:t>1000℃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2000℃</a:t>
            </a:r>
            <a:r>
              <a:rPr lang="zh-CN" altLang="en-US" sz="2000" dirty="0">
                <a:latin typeface="Times New Roman" panose="02020603050405020304" pitchFamily="18" charset="0"/>
                <a:ea typeface="宋体" panose="02010600030101010101" pitchFamily="2" charset="-122"/>
              </a:rPr>
              <a:t>，经温度变送器变换为</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5V</a:t>
            </a:r>
            <a:r>
              <a:rPr lang="zh-CN" altLang="en-US" sz="2000" dirty="0">
                <a:latin typeface="Times New Roman" panose="02020603050405020304" pitchFamily="18" charset="0"/>
                <a:ea typeface="宋体" panose="02010600030101010101" pitchFamily="2" charset="-122"/>
              </a:rPr>
              <a:t>电压送至</a:t>
            </a:r>
            <a:r>
              <a:rPr lang="en-US" altLang="zh-CN" sz="2000" dirty="0">
                <a:latin typeface="Times New Roman" panose="02020603050405020304" pitchFamily="18" charset="0"/>
                <a:ea typeface="宋体" panose="02010600030101010101" pitchFamily="2" charset="-122"/>
              </a:rPr>
              <a:t>ADC0809</a:t>
            </a:r>
            <a:r>
              <a:rPr lang="zh-CN" altLang="en-US" sz="2000" dirty="0">
                <a:latin typeface="Times New Roman" panose="02020603050405020304" pitchFamily="18" charset="0"/>
                <a:ea typeface="宋体" panose="02010600030101010101" pitchFamily="2" charset="-122"/>
              </a:rPr>
              <a:t>的输入范围为</a:t>
            </a:r>
            <a:r>
              <a:rPr lang="en-US" altLang="zh-CN" sz="2000" dirty="0">
                <a:latin typeface="Times New Roman" panose="02020603050405020304" pitchFamily="18" charset="0"/>
                <a:ea typeface="宋体" panose="02010600030101010101" pitchFamily="2" charset="-122"/>
              </a:rPr>
              <a:t>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5V</a:t>
            </a:r>
            <a:r>
              <a:rPr lang="zh-CN" altLang="en-US" sz="2000" dirty="0">
                <a:latin typeface="Times New Roman" panose="02020603050405020304" pitchFamily="18" charset="0"/>
                <a:ea typeface="宋体" panose="02010600030101010101" pitchFamily="2" charset="-122"/>
              </a:rPr>
              <a:t>。当</a:t>
            </a:r>
            <a:r>
              <a:rPr lang="en-US" altLang="zh-CN" sz="2000" dirty="0">
                <a:latin typeface="Times New Roman" panose="02020603050405020304" pitchFamily="18" charset="0"/>
                <a:ea typeface="宋体" panose="02010600030101010101" pitchFamily="2" charset="-122"/>
              </a:rPr>
              <a:t>AD</a:t>
            </a:r>
            <a:r>
              <a:rPr lang="zh-CN" altLang="en-US" sz="2000" dirty="0">
                <a:latin typeface="Times New Roman" panose="02020603050405020304" pitchFamily="18" charset="0"/>
                <a:ea typeface="宋体" panose="02010600030101010101" pitchFamily="2" charset="-122"/>
              </a:rPr>
              <a:t>转换结果为</a:t>
            </a:r>
            <a:r>
              <a:rPr lang="en-US" altLang="zh-CN" sz="2000" dirty="0">
                <a:latin typeface="Times New Roman" panose="02020603050405020304" pitchFamily="18" charset="0"/>
                <a:ea typeface="宋体" panose="02010600030101010101" pitchFamily="2" charset="-122"/>
              </a:rPr>
              <a:t>80H</a:t>
            </a:r>
            <a:r>
              <a:rPr lang="zh-CN" altLang="en-US" sz="2000" dirty="0">
                <a:latin typeface="Times New Roman" panose="02020603050405020304" pitchFamily="18" charset="0"/>
                <a:ea typeface="宋体" panose="02010600030101010101" pitchFamily="2" charset="-122"/>
              </a:rPr>
              <a:t>，此时温度为多少度</a:t>
            </a:r>
            <a:r>
              <a:rPr lang="en-US" altLang="zh-CN" sz="20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 </a:t>
            </a:r>
            <a:endParaRPr lang="en-US" altLang="zh-CN" sz="2200" dirty="0">
              <a:latin typeface="Times New Roman" panose="02020603050405020304" pitchFamily="18" charset="0"/>
              <a:ea typeface="宋体" panose="02010600030101010101" pitchFamily="2" charset="-122"/>
            </a:endParaRPr>
          </a:p>
          <a:p>
            <a:pPr defTabSz="914400" eaLnBrk="0" hangingPunct="0">
              <a:tabLst>
                <a:tab pos="228600" algn="l"/>
                <a:tab pos="342900" algn="l"/>
              </a:tabLst>
            </a:pPr>
            <a:endParaRPr lang="en-US" altLang="zh-CN" dirty="0">
              <a:latin typeface="Arial" panose="020B0604020202020204" pitchFamily="34" charset="0"/>
              <a:ea typeface="宋体" panose="02010600030101010101" pitchFamily="2" charset="-122"/>
            </a:endParaRPr>
          </a:p>
        </p:txBody>
      </p:sp>
      <p:sp>
        <p:nvSpPr>
          <p:cNvPr id="46082" name="Rectangle 6"/>
          <p:cNvSpPr/>
          <p:nvPr/>
        </p:nvSpPr>
        <p:spPr>
          <a:xfrm>
            <a:off x="-209550" y="2714625"/>
            <a:ext cx="9144000" cy="0"/>
          </a:xfrm>
          <a:prstGeom prst="rect">
            <a:avLst/>
          </a:prstGeom>
          <a:noFill/>
          <a:ln w="12700">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sp>
        <p:nvSpPr>
          <p:cNvPr id="46083" name="Rectangle 4"/>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46084" name="Object 3"/>
          <p:cNvGraphicFramePr>
            <a:graphicFrameLocks noChangeAspect="1"/>
          </p:cNvGraphicFramePr>
          <p:nvPr/>
        </p:nvGraphicFramePr>
        <p:xfrm>
          <a:off x="1835468" y="2708910"/>
          <a:ext cx="5759450" cy="3586163"/>
        </p:xfrm>
        <a:graphic>
          <a:graphicData uri="http://schemas.openxmlformats.org/presentationml/2006/ole">
            <mc:AlternateContent xmlns:mc="http://schemas.openxmlformats.org/markup-compatibility/2006">
              <mc:Choice xmlns:v="urn:schemas-microsoft-com:vml" Requires="v">
                <p:oleObj spid="_x0000_s3103" name="" r:id="rId1" imgW="8470900" imgH="5880100" progId="Visio.Drawing.11">
                  <p:embed/>
                </p:oleObj>
              </mc:Choice>
              <mc:Fallback>
                <p:oleObj name="" r:id="rId1" imgW="8470900" imgH="5880100" progId="Visio.Drawing.11">
                  <p:embed/>
                  <p:pic>
                    <p:nvPicPr>
                      <p:cNvPr id="0" name="图片 3102"/>
                      <p:cNvPicPr/>
                      <p:nvPr/>
                    </p:nvPicPr>
                    <p:blipFill>
                      <a:blip r:embed="rId2"/>
                      <a:stretch>
                        <a:fillRect/>
                      </a:stretch>
                    </p:blipFill>
                    <p:spPr>
                      <a:xfrm>
                        <a:off x="1835468" y="2708910"/>
                        <a:ext cx="5759450" cy="3586163"/>
                      </a:xfrm>
                      <a:prstGeom prst="rect">
                        <a:avLst/>
                      </a:prstGeom>
                      <a:solidFill>
                        <a:schemeClr val="accent1"/>
                      </a:solid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p:nvPr/>
        </p:nvSpPr>
        <p:spPr>
          <a:xfrm>
            <a:off x="358775" y="646113"/>
            <a:ext cx="8426450" cy="3816350"/>
          </a:xfrm>
          <a:prstGeom prst="rect">
            <a:avLst/>
          </a:prstGeom>
          <a:noFill/>
          <a:ln w="9525">
            <a:noFill/>
          </a:ln>
        </p:spPr>
        <p:txBody>
          <a:bodyPr anchor="ctr" anchorCtr="0">
            <a:spAutoFit/>
          </a:bodyPr>
          <a:p>
            <a:pPr eaLnBrk="0" hangingPunct="0"/>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、（略）</a:t>
            </a:r>
            <a:endParaRPr lang="en-US" altLang="zh-CN" sz="2200" dirty="0">
              <a:latin typeface="Times New Roman" panose="02020603050405020304" pitchFamily="18"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/Y0</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11,00 00,0xxx</a:t>
            </a:r>
            <a:endParaRPr lang="en-US" altLang="zh-CN" sz="2200" dirty="0">
              <a:latin typeface="Times New Roman" panose="02020603050405020304" pitchFamily="18"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            AI0~AI7</a:t>
            </a:r>
            <a:r>
              <a:rPr lang="zh-CN" altLang="en-US" sz="2200" dirty="0">
                <a:latin typeface="Times New Roman" panose="02020603050405020304" pitchFamily="18" charset="0"/>
                <a:ea typeface="宋体" panose="02010600030101010101" pitchFamily="2" charset="-122"/>
              </a:rPr>
              <a:t>（写）</a:t>
            </a:r>
            <a:r>
              <a:rPr lang="en-US" altLang="zh-CN" sz="2200" dirty="0">
                <a:latin typeface="Times New Roman" panose="02020603050405020304" pitchFamily="18" charset="0"/>
                <a:ea typeface="宋体" panose="02010600030101010101" pitchFamily="2" charset="-122"/>
              </a:rPr>
              <a:t>/AD</a:t>
            </a:r>
            <a:r>
              <a:rPr lang="zh-CN" altLang="en-US" sz="2200" dirty="0">
                <a:latin typeface="Times New Roman" panose="02020603050405020304" pitchFamily="18" charset="0"/>
                <a:ea typeface="宋体" panose="02010600030101010101" pitchFamily="2" charset="-122"/>
              </a:rPr>
              <a:t>启动端口地址为：</a:t>
            </a:r>
            <a:r>
              <a:rPr lang="en-US" altLang="zh-CN" sz="2200" dirty="0">
                <a:latin typeface="Times New Roman" panose="02020603050405020304" pitchFamily="18" charset="0"/>
                <a:ea typeface="宋体" panose="02010600030101010101" pitchFamily="2" charset="-122"/>
              </a:rPr>
              <a:t>300H~307H</a:t>
            </a:r>
            <a:endParaRPr lang="en-US" altLang="zh-CN" sz="2200" dirty="0">
              <a:latin typeface="Times New Roman" panose="02020603050405020304" pitchFamily="18"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           </a:t>
            </a:r>
            <a:r>
              <a:rPr lang="zh-CN" altLang="en-US" sz="2200" dirty="0">
                <a:latin typeface="Times New Roman" panose="02020603050405020304" pitchFamily="18" charset="0"/>
                <a:ea typeface="宋体" panose="02010600030101010101" pitchFamily="2" charset="-122"/>
              </a:rPr>
              <a:t>数据端口（读）地址为：</a:t>
            </a:r>
            <a:r>
              <a:rPr lang="en-US" altLang="zh-CN" sz="2200" dirty="0">
                <a:latin typeface="Times New Roman" panose="02020603050405020304" pitchFamily="18" charset="0"/>
                <a:ea typeface="宋体" panose="02010600030101010101" pitchFamily="2" charset="-122"/>
              </a:rPr>
              <a:t>300H~307H</a:t>
            </a:r>
            <a:r>
              <a:rPr lang="zh-CN" altLang="en-US" sz="2200" dirty="0">
                <a:latin typeface="Times New Roman" panose="02020603050405020304" pitchFamily="18" charset="0"/>
                <a:ea typeface="宋体" panose="02010600030101010101" pitchFamily="2" charset="-122"/>
              </a:rPr>
              <a:t>（任一）</a:t>
            </a:r>
            <a:r>
              <a:rPr lang="en-US" altLang="zh-CN" sz="2200" dirty="0">
                <a:latin typeface="Times New Roman" panose="02020603050405020304" pitchFamily="18" charset="0"/>
                <a:ea typeface="宋体" panose="02010600030101010101" pitchFamily="2" charset="-122"/>
              </a:rPr>
              <a:t>              </a:t>
            </a:r>
            <a:endParaRPr lang="en-US" altLang="zh-CN" sz="2200" dirty="0">
              <a:latin typeface="Times New Roman" panose="02020603050405020304" pitchFamily="18"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     / Y1</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 11,00 00,1xxx </a:t>
            </a:r>
            <a:endParaRPr lang="en-US" altLang="zh-CN" sz="2200" dirty="0">
              <a:latin typeface="Times New Roman" panose="02020603050405020304" pitchFamily="18"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          /EOC</a:t>
            </a:r>
            <a:r>
              <a:rPr lang="zh-CN" altLang="en-US" sz="2200" dirty="0">
                <a:latin typeface="Times New Roman" panose="02020603050405020304" pitchFamily="18" charset="0"/>
                <a:ea typeface="宋体" panose="02010600030101010101" pitchFamily="2" charset="-122"/>
              </a:rPr>
              <a:t>状态端口（读）地址为：</a:t>
            </a:r>
            <a:r>
              <a:rPr lang="en-US" altLang="zh-CN" sz="2200" dirty="0">
                <a:latin typeface="Times New Roman" panose="02020603050405020304" pitchFamily="18" charset="0"/>
                <a:ea typeface="宋体" panose="02010600030101010101" pitchFamily="2" charset="-122"/>
              </a:rPr>
              <a:t>308H~30FH</a:t>
            </a:r>
            <a:r>
              <a:rPr lang="zh-CN" altLang="en-US" sz="2200" dirty="0">
                <a:latin typeface="Times New Roman" panose="02020603050405020304" pitchFamily="18" charset="0"/>
                <a:ea typeface="宋体" panose="02010600030101010101" pitchFamily="2" charset="-122"/>
              </a:rPr>
              <a:t>（任一）</a:t>
            </a:r>
            <a:r>
              <a:rPr lang="en-US" altLang="zh-CN" sz="2200" dirty="0">
                <a:latin typeface="Times New Roman" panose="02020603050405020304" pitchFamily="18" charset="0"/>
                <a:ea typeface="宋体" panose="02010600030101010101" pitchFamily="2" charset="-122"/>
              </a:rPr>
              <a:t>     </a:t>
            </a:r>
            <a:endParaRPr lang="en-US" altLang="zh-CN" sz="2200" dirty="0">
              <a:latin typeface="Times New Roman" panose="02020603050405020304" pitchFamily="18"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(1)CPU</a:t>
            </a:r>
            <a:r>
              <a:rPr lang="zh-CN" altLang="en-US" sz="2200" dirty="0">
                <a:latin typeface="Times New Roman" panose="02020603050405020304" pitchFamily="18" charset="0"/>
                <a:ea typeface="宋体" panose="02010600030101010101" pitchFamily="2" charset="-122"/>
              </a:rPr>
              <a:t>对端口</a:t>
            </a:r>
            <a:r>
              <a:rPr lang="en-US" altLang="zh-CN" sz="2200" dirty="0">
                <a:latin typeface="Times New Roman" panose="02020603050405020304" pitchFamily="18" charset="0"/>
                <a:ea typeface="宋体" panose="02010600030101010101" pitchFamily="2" charset="-122"/>
              </a:rPr>
              <a:t>AI3</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303H</a:t>
            </a:r>
            <a:r>
              <a:rPr lang="zh-CN" altLang="en-US" sz="2200" dirty="0">
                <a:latin typeface="Times New Roman" panose="02020603050405020304" pitchFamily="18" charset="0"/>
                <a:ea typeface="宋体" panose="02010600030101010101" pitchFamily="2" charset="-122"/>
              </a:rPr>
              <a:t>）写入随机数启动</a:t>
            </a:r>
            <a:r>
              <a:rPr lang="en-US" altLang="zh-CN" sz="2200" dirty="0">
                <a:latin typeface="Times New Roman" panose="02020603050405020304" pitchFamily="18" charset="0"/>
                <a:ea typeface="宋体" panose="02010600030101010101" pitchFamily="2" charset="-122"/>
              </a:rPr>
              <a:t>A/D</a:t>
            </a:r>
            <a:r>
              <a:rPr lang="zh-CN" altLang="en-US" sz="2200" dirty="0">
                <a:latin typeface="Times New Roman" panose="02020603050405020304" pitchFamily="18" charset="0"/>
                <a:ea typeface="宋体" panose="02010600030101010101" pitchFamily="2" charset="-122"/>
              </a:rPr>
              <a:t>转换</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同时地位地址写入</a:t>
            </a:r>
            <a:r>
              <a:rPr lang="en-US" altLang="zh-CN" sz="2200" dirty="0">
                <a:latin typeface="Times New Roman" panose="02020603050405020304" pitchFamily="18" charset="0"/>
                <a:ea typeface="宋体" panose="02010600030101010101" pitchFamily="2" charset="-122"/>
              </a:rPr>
              <a:t>ADC0809</a:t>
            </a:r>
            <a:r>
              <a:rPr lang="zh-CN" altLang="en-US" sz="2200" dirty="0">
                <a:latin typeface="Times New Roman" panose="02020603050405020304" pitchFamily="18" charset="0"/>
                <a:ea typeface="宋体" panose="02010600030101010101" pitchFamily="2" charset="-122"/>
              </a:rPr>
              <a:t>，选通</a:t>
            </a:r>
            <a:r>
              <a:rPr lang="en-US" altLang="zh-CN" sz="2200" dirty="0">
                <a:latin typeface="Times New Roman" panose="02020603050405020304" pitchFamily="18" charset="0"/>
                <a:ea typeface="宋体" panose="02010600030101010101" pitchFamily="2" charset="-122"/>
              </a:rPr>
              <a:t>IN3</a:t>
            </a:r>
            <a:r>
              <a:rPr lang="zh-CN" altLang="en-US" sz="2200" dirty="0">
                <a:latin typeface="Times New Roman" panose="02020603050405020304" pitchFamily="18" charset="0"/>
                <a:ea typeface="宋体" panose="02010600030101010101" pitchFamily="2" charset="-122"/>
              </a:rPr>
              <a:t>通道。   	</a:t>
            </a:r>
            <a:endParaRPr lang="en-US" altLang="zh-CN" sz="2200" dirty="0">
              <a:latin typeface="Times New Roman" panose="02020603050405020304" pitchFamily="18"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查询</a:t>
            </a:r>
            <a:r>
              <a:rPr lang="en-US" altLang="zh-CN" sz="2200" dirty="0">
                <a:latin typeface="Times New Roman" panose="02020603050405020304" pitchFamily="18" charset="0"/>
                <a:ea typeface="宋体" panose="02010600030101010101" pitchFamily="2" charset="-122"/>
              </a:rPr>
              <a:t>A/D</a:t>
            </a:r>
            <a:r>
              <a:rPr lang="zh-CN" altLang="en-US" sz="2200" dirty="0">
                <a:latin typeface="Times New Roman" panose="02020603050405020304" pitchFamily="18" charset="0"/>
                <a:ea typeface="宋体" panose="02010600030101010101" pitchFamily="2" charset="-122"/>
              </a:rPr>
              <a:t>转换结束通过</a:t>
            </a:r>
            <a:r>
              <a:rPr lang="en-US" altLang="zh-CN" sz="2200" dirty="0">
                <a:latin typeface="Times New Roman" panose="02020603050405020304" pitchFamily="18" charset="0"/>
                <a:ea typeface="宋体" panose="02010600030101010101" pitchFamily="2" charset="-122"/>
              </a:rPr>
              <a:t>EOC</a:t>
            </a:r>
            <a:r>
              <a:rPr lang="zh-CN" altLang="en-US" sz="2200" dirty="0">
                <a:latin typeface="Times New Roman" panose="02020603050405020304" pitchFamily="18" charset="0"/>
                <a:ea typeface="宋体" panose="02010600030101010101" pitchFamily="2" charset="-122"/>
              </a:rPr>
              <a:t>引脚状态</a:t>
            </a:r>
            <a:endParaRPr lang="zh-CN" altLang="en-US" sz="2200" dirty="0">
              <a:latin typeface="Arial" panose="020B0604020202020204" pitchFamily="34" charset="0"/>
              <a:ea typeface="宋体" panose="02010600030101010101" pitchFamily="2" charset="-122"/>
            </a:endParaRPr>
          </a:p>
          <a:p>
            <a:pPr eaLnBrk="0" hangingPunct="0"/>
            <a:r>
              <a:rPr lang="en-US" altLang="zh-CN" sz="2200" dirty="0">
                <a:latin typeface="Times New Roman" panose="02020603050405020304" pitchFamily="18" charset="0"/>
                <a:ea typeface="宋体" panose="02010600030101010101" pitchFamily="2" charset="-122"/>
              </a:rPr>
              <a:t>(3)</a:t>
            </a:r>
            <a:r>
              <a:rPr lang="zh-CN" altLang="en-US" sz="2200" dirty="0">
                <a:latin typeface="Times New Roman" panose="02020603050405020304" pitchFamily="18" charset="0"/>
                <a:ea typeface="宋体" panose="02010600030101010101" pitchFamily="2" charset="-122"/>
              </a:rPr>
              <a:t>当检测到</a:t>
            </a:r>
            <a:r>
              <a:rPr lang="en-US" altLang="zh-CN" sz="2200" dirty="0">
                <a:latin typeface="Times New Roman" panose="02020603050405020304" pitchFamily="18" charset="0"/>
                <a:ea typeface="宋体" panose="02010600030101010101" pitchFamily="2" charset="-122"/>
              </a:rPr>
              <a:t>EOC</a:t>
            </a:r>
            <a:r>
              <a:rPr lang="zh-CN" altLang="en-US" sz="2200" dirty="0">
                <a:latin typeface="Times New Roman" panose="02020603050405020304" pitchFamily="18" charset="0"/>
                <a:ea typeface="宋体" panose="02010600030101010101" pitchFamily="2" charset="-122"/>
              </a:rPr>
              <a:t>由低到高后，读数据端口（</a:t>
            </a:r>
            <a:r>
              <a:rPr lang="en-US" altLang="zh-CN" sz="2200" dirty="0">
                <a:latin typeface="Times New Roman" panose="02020603050405020304" pitchFamily="18" charset="0"/>
                <a:ea typeface="宋体" panose="02010600030101010101" pitchFamily="2" charset="-122"/>
              </a:rPr>
              <a:t>300H~307H</a:t>
            </a:r>
            <a:r>
              <a:rPr lang="zh-CN" altLang="en-US" sz="2200" dirty="0">
                <a:latin typeface="Times New Roman" panose="02020603050405020304" pitchFamily="18" charset="0"/>
                <a:ea typeface="宋体" panose="02010600030101010101" pitchFamily="2" charset="-122"/>
              </a:rPr>
              <a:t>）读入</a:t>
            </a:r>
            <a:r>
              <a:rPr lang="en-US" altLang="zh-CN" sz="2200" dirty="0">
                <a:latin typeface="Times New Roman" panose="02020603050405020304" pitchFamily="18" charset="0"/>
                <a:ea typeface="宋体" panose="02010600030101010101" pitchFamily="2" charset="-122"/>
              </a:rPr>
              <a:t>A/D</a:t>
            </a:r>
            <a:r>
              <a:rPr lang="zh-CN" altLang="en-US" sz="2200" dirty="0">
                <a:latin typeface="Times New Roman" panose="02020603050405020304" pitchFamily="18" charset="0"/>
                <a:ea typeface="宋体" panose="02010600030101010101" pitchFamily="2" charset="-122"/>
              </a:rPr>
              <a:t>转换值。</a:t>
            </a:r>
            <a:endParaRPr lang="zh-CN" altLang="en-US" sz="2200" dirty="0">
              <a:latin typeface="Arial" panose="020B0604020202020204" pitchFamily="34" charset="0"/>
              <a:ea typeface="宋体" panose="02010600030101010101" pitchFamily="2" charset="-122"/>
            </a:endParaRPr>
          </a:p>
        </p:txBody>
      </p:sp>
      <p:graphicFrame>
        <p:nvGraphicFramePr>
          <p:cNvPr id="47106" name="对象 4"/>
          <p:cNvGraphicFramePr>
            <a:graphicFrameLocks noChangeAspect="1"/>
          </p:cNvGraphicFramePr>
          <p:nvPr/>
        </p:nvGraphicFramePr>
        <p:xfrm>
          <a:off x="2411413" y="4445000"/>
          <a:ext cx="2824162" cy="695325"/>
        </p:xfrm>
        <a:graphic>
          <a:graphicData uri="http://schemas.openxmlformats.org/presentationml/2006/ole">
            <mc:AlternateContent xmlns:mc="http://schemas.openxmlformats.org/markup-compatibility/2006">
              <mc:Choice xmlns:v="urn:schemas-microsoft-com:vml" Requires="v">
                <p:oleObj spid="_x0000_s3111" name="" r:id="rId1" imgW="1752600" imgH="431800" progId="Equation.DSMT4">
                  <p:embed/>
                </p:oleObj>
              </mc:Choice>
              <mc:Fallback>
                <p:oleObj name="" r:id="rId1" imgW="1752600" imgH="431800" progId="Equation.DSMT4">
                  <p:embed/>
                  <p:pic>
                    <p:nvPicPr>
                      <p:cNvPr id="0" name="图片 3110"/>
                      <p:cNvPicPr/>
                      <p:nvPr/>
                    </p:nvPicPr>
                    <p:blipFill>
                      <a:blip r:embed="rId2"/>
                      <a:stretch>
                        <a:fillRect/>
                      </a:stretch>
                    </p:blipFill>
                    <p:spPr>
                      <a:xfrm>
                        <a:off x="2411413" y="4445000"/>
                        <a:ext cx="2824162" cy="695325"/>
                      </a:xfrm>
                      <a:prstGeom prst="rect">
                        <a:avLst/>
                      </a:prstGeom>
                      <a:solidFill>
                        <a:srgbClr val="FFFFFF"/>
                      </a:solidFill>
                      <a:ln w="38100">
                        <a:noFill/>
                        <a:miter/>
                      </a:ln>
                    </p:spPr>
                  </p:pic>
                </p:oleObj>
              </mc:Fallback>
            </mc:AlternateContent>
          </a:graphicData>
        </a:graphic>
      </p:graphicFrame>
      <p:sp>
        <p:nvSpPr>
          <p:cNvPr id="47107" name="Rectangle 3"/>
          <p:cNvSpPr/>
          <p:nvPr/>
        </p:nvSpPr>
        <p:spPr>
          <a:xfrm>
            <a:off x="468313" y="4462463"/>
            <a:ext cx="8424862" cy="2062162"/>
          </a:xfrm>
          <a:prstGeom prst="rect">
            <a:avLst/>
          </a:prstGeom>
          <a:noFill/>
          <a:ln w="9525">
            <a:noFill/>
          </a:ln>
        </p:spPr>
        <p:txBody>
          <a:bodyPr anchor="ctr" anchorCtr="0">
            <a:spAutoFit/>
          </a:bodyPr>
          <a:p>
            <a:pPr eaLnBrk="0" hangingPunct="0"/>
            <a:r>
              <a:rPr lang="en-US" altLang="zh-CN" sz="2200" dirty="0">
                <a:latin typeface="Times New Roman" panose="02020603050405020304" pitchFamily="18" charset="0"/>
                <a:ea typeface="宋体" panose="02010600030101010101" pitchFamily="2" charset="-122"/>
              </a:rPr>
              <a:t>3</a:t>
            </a:r>
            <a:r>
              <a:rPr lang="zh-CN" altLang="en-US" sz="2200" dirty="0">
                <a:latin typeface="Times New Roman" panose="02020603050405020304" pitchFamily="18" charset="0"/>
                <a:ea typeface="宋体" panose="02010600030101010101" pitchFamily="2" charset="-122"/>
              </a:rPr>
              <a:t>、</a:t>
            </a:r>
            <a:endParaRPr lang="en-US" altLang="zh-CN" sz="2200" dirty="0">
              <a:latin typeface="Times New Roman" panose="02020603050405020304" pitchFamily="18" charset="0"/>
              <a:ea typeface="宋体" panose="02010600030101010101" pitchFamily="2" charset="-122"/>
            </a:endParaRPr>
          </a:p>
          <a:p>
            <a:pPr eaLnBrk="0" hangingPunct="0"/>
            <a:r>
              <a:rPr lang="zh-CN" altLang="en-US" sz="2200" b="1" dirty="0">
                <a:latin typeface="Times New Roman" panose="02020603050405020304" pitchFamily="18" charset="0"/>
                <a:ea typeface="宋体" panose="02010600030101010101" pitchFamily="2" charset="-122"/>
              </a:rPr>
              <a:t>									</a:t>
            </a:r>
            <a:endParaRPr lang="en-US" altLang="zh-CN" sz="2200" b="1" dirty="0">
              <a:latin typeface="Times New Roman" panose="02020603050405020304" pitchFamily="18" charset="0"/>
              <a:ea typeface="宋体" panose="02010600030101010101" pitchFamily="2" charset="-122"/>
            </a:endParaRPr>
          </a:p>
          <a:p>
            <a:pPr eaLnBrk="0" hangingPunct="0"/>
            <a:r>
              <a:rPr lang="zh-CN" altLang="en-US" sz="2200" dirty="0">
                <a:latin typeface="Arial" panose="020B0604020202020204" pitchFamily="34" charset="0"/>
                <a:ea typeface="宋体" panose="02010600030101010101" pitchFamily="2" charset="-122"/>
              </a:rPr>
              <a:t> 根据已知条件有：</a:t>
            </a:r>
            <a:r>
              <a:rPr lang="en-US" altLang="zh-CN" sz="2200" dirty="0">
                <a:latin typeface="Times New Roman" panose="02020603050405020304" pitchFamily="18" charset="0"/>
                <a:ea typeface="Arial Unicode MS"/>
              </a:rPr>
              <a:t>A</a:t>
            </a:r>
            <a:r>
              <a:rPr lang="en-US" altLang="zh-CN" sz="2200" baseline="-25000" dirty="0">
                <a:latin typeface="Times New Roman" panose="02020603050405020304" pitchFamily="18" charset="0"/>
                <a:ea typeface="Arial Unicode MS"/>
              </a:rPr>
              <a:t>m</a:t>
            </a:r>
            <a:r>
              <a:rPr lang="en-US" altLang="zh-CN" sz="2200" dirty="0">
                <a:latin typeface="Times New Roman" panose="02020603050405020304" pitchFamily="18" charset="0"/>
                <a:ea typeface="Arial Unicode MS"/>
              </a:rPr>
              <a:t>=2000</a:t>
            </a:r>
            <a:r>
              <a:rPr lang="en-US" altLang="zh-CN" sz="2200" dirty="0">
                <a:latin typeface="Arial" panose="020B0604020202020204" pitchFamily="34" charset="0"/>
                <a:ea typeface="宋体" panose="02010600030101010101" pitchFamily="2" charset="-122"/>
              </a:rPr>
              <a:t>, A</a:t>
            </a:r>
            <a:r>
              <a:rPr lang="en-US" altLang="zh-CN" sz="2200" baseline="-25000" dirty="0">
                <a:latin typeface="Arial" panose="020B0604020202020204" pitchFamily="34" charset="0"/>
                <a:ea typeface="宋体" panose="02010600030101010101" pitchFamily="2" charset="-122"/>
              </a:rPr>
              <a:t>0</a:t>
            </a:r>
            <a:r>
              <a:rPr lang="en-US" altLang="zh-CN" sz="2200" dirty="0">
                <a:latin typeface="Arial" panose="020B0604020202020204" pitchFamily="34" charset="0"/>
                <a:ea typeface="宋体" panose="02010600030101010101" pitchFamily="2" charset="-122"/>
              </a:rPr>
              <a:t>=1000, N</a:t>
            </a:r>
            <a:r>
              <a:rPr lang="en-US" altLang="zh-CN" sz="2200" baseline="-25000" dirty="0">
                <a:latin typeface="Arial" panose="020B0604020202020204" pitchFamily="34" charset="0"/>
                <a:ea typeface="宋体" panose="02010600030101010101" pitchFamily="2" charset="-122"/>
              </a:rPr>
              <a:t>m</a:t>
            </a:r>
            <a:r>
              <a:rPr lang="en-US" altLang="zh-CN" sz="2200" dirty="0">
                <a:latin typeface="Arial" panose="020B0604020202020204" pitchFamily="34" charset="0"/>
                <a:ea typeface="宋体" panose="02010600030101010101" pitchFamily="2" charset="-122"/>
              </a:rPr>
              <a:t>=255</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5V</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 N</a:t>
            </a:r>
            <a:r>
              <a:rPr lang="en-US" altLang="zh-CN" sz="2200" baseline="-25000" dirty="0">
                <a:latin typeface="Arial" panose="020B0604020202020204" pitchFamily="34" charset="0"/>
                <a:ea typeface="宋体" panose="02010600030101010101" pitchFamily="2" charset="-122"/>
              </a:rPr>
              <a:t>0</a:t>
            </a:r>
            <a:r>
              <a:rPr lang="en-US" altLang="zh-CN" sz="2200" dirty="0">
                <a:latin typeface="Arial" panose="020B0604020202020204" pitchFamily="34" charset="0"/>
                <a:ea typeface="宋体" panose="02010600030101010101" pitchFamily="2" charset="-122"/>
              </a:rPr>
              <a:t>=51</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1V</a:t>
            </a:r>
            <a:r>
              <a:rPr lang="zh-CN" altLang="en-US" sz="2200" dirty="0">
                <a:latin typeface="Arial" panose="020B0604020202020204" pitchFamily="34" charset="0"/>
                <a:ea typeface="宋体" panose="02010600030101010101" pitchFamily="2" charset="-122"/>
              </a:rPr>
              <a:t>）</a:t>
            </a:r>
            <a:r>
              <a:rPr lang="en-US" altLang="zh-CN" sz="2200" dirty="0">
                <a:latin typeface="Arial" panose="020B0604020202020204" pitchFamily="34" charset="0"/>
                <a:ea typeface="宋体" panose="02010600030101010101" pitchFamily="2" charset="-122"/>
              </a:rPr>
              <a:t> </a:t>
            </a:r>
            <a:endParaRPr lang="en-US" altLang="zh-CN" sz="2200" dirty="0">
              <a:latin typeface="Arial" panose="020B0604020202020204" pitchFamily="34" charset="0"/>
              <a:ea typeface="宋体" panose="02010600030101010101" pitchFamily="2" charset="-122"/>
            </a:endParaRPr>
          </a:p>
          <a:p>
            <a:pPr eaLnBrk="0" hangingPunct="0"/>
            <a:r>
              <a:rPr lang="zh-CN" altLang="en-US" sz="2200" dirty="0">
                <a:latin typeface="Arial" panose="020B0604020202020204" pitchFamily="34" charset="0"/>
                <a:ea typeface="宋体" panose="02010600030101010101" pitchFamily="2" charset="-122"/>
              </a:rPr>
              <a:t>当</a:t>
            </a:r>
            <a:r>
              <a:rPr lang="en-US" altLang="zh-CN" sz="2200" dirty="0">
                <a:latin typeface="Arial" panose="020B0604020202020204" pitchFamily="34" charset="0"/>
                <a:ea typeface="宋体" panose="02010600030101010101" pitchFamily="2" charset="-122"/>
              </a:rPr>
              <a:t> N</a:t>
            </a:r>
            <a:r>
              <a:rPr lang="en-US" altLang="zh-CN" sz="2200" baseline="-25000" dirty="0">
                <a:latin typeface="Arial" panose="020B0604020202020204" pitchFamily="34" charset="0"/>
                <a:ea typeface="宋体" panose="02010600030101010101" pitchFamily="2" charset="-122"/>
              </a:rPr>
              <a:t>x</a:t>
            </a:r>
            <a:r>
              <a:rPr lang="en-US" altLang="zh-CN" sz="2200" dirty="0">
                <a:latin typeface="Arial" panose="020B0604020202020204" pitchFamily="34" charset="0"/>
                <a:ea typeface="宋体" panose="02010600030101010101" pitchFamily="2" charset="-122"/>
              </a:rPr>
              <a:t>=80H=128, A</a:t>
            </a:r>
            <a:r>
              <a:rPr lang="en-US" altLang="zh-CN" sz="2200" baseline="-25000" dirty="0">
                <a:latin typeface="Arial" panose="020B0604020202020204" pitchFamily="34" charset="0"/>
                <a:ea typeface="宋体" panose="02010600030101010101" pitchFamily="2" charset="-122"/>
              </a:rPr>
              <a:t>x</a:t>
            </a:r>
            <a:r>
              <a:rPr lang="en-US" altLang="zh-CN" sz="2200" dirty="0">
                <a:latin typeface="Arial" panose="020B0604020202020204" pitchFamily="34" charset="0"/>
                <a:ea typeface="宋体" panose="02010600030101010101" pitchFamily="2" charset="-122"/>
              </a:rPr>
              <a:t>=1377.5˚</a:t>
            </a:r>
            <a:r>
              <a:rPr lang="zh-CN" altLang="en-US" sz="2200" dirty="0">
                <a:latin typeface="Arial" panose="020B0604020202020204" pitchFamily="34" charset="0"/>
                <a:ea typeface="宋体" panose="02010600030101010101" pitchFamily="2" charset="-122"/>
              </a:rPr>
              <a:t>。</a:t>
            </a:r>
            <a:endParaRPr lang="en-US" altLang="zh-CN" sz="2200" dirty="0">
              <a:latin typeface="Arial" panose="020B0604020202020204" pitchFamily="34" charset="0"/>
              <a:ea typeface="宋体" panose="02010600030101010101" pitchFamily="2" charset="-122"/>
            </a:endParaRPr>
          </a:p>
          <a:p>
            <a:pPr eaLnBrk="0" hangingPunct="0"/>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p:nvPr/>
        </p:nvSpPr>
        <p:spPr>
          <a:xfrm>
            <a:off x="395288" y="580231"/>
            <a:ext cx="8497887" cy="2306955"/>
          </a:xfrm>
          <a:prstGeom prst="rect">
            <a:avLst/>
          </a:prstGeom>
          <a:noFill/>
          <a:ln w="9525">
            <a:noFill/>
          </a:ln>
        </p:spPr>
        <p:txBody>
          <a:bodyPr anchor="ctr" anchorCtr="0">
            <a:spAutoFit/>
          </a:bodyPr>
          <a:p>
            <a:pPr defTabSz="914400" eaLnBrk="0" hangingPunct="0">
              <a:tabLst>
                <a:tab pos="304800" algn="l"/>
              </a:tabLst>
            </a:pPr>
            <a:r>
              <a:rPr lang="zh-CN" altLang="en-US" sz="2400" b="1" dirty="0">
                <a:solidFill>
                  <a:schemeClr val="tx1"/>
                </a:solidFill>
                <a:latin typeface="Times New Roman" panose="02020603050405020304" pitchFamily="18" charset="0"/>
                <a:ea typeface="宋体" panose="02010600030101010101" pitchFamily="2" charset="-122"/>
              </a:rPr>
              <a:t>习题</a:t>
            </a:r>
            <a:r>
              <a:rPr lang="en-US" altLang="zh-CN" sz="2400" b="1" dirty="0">
                <a:solidFill>
                  <a:schemeClr val="tx1"/>
                </a:solidFill>
                <a:latin typeface="Times New Roman" panose="02020603050405020304" pitchFamily="18" charset="0"/>
                <a:ea typeface="宋体" panose="02010600030101010101" pitchFamily="2" charset="-122"/>
              </a:rPr>
              <a:t>5</a:t>
            </a:r>
            <a:endParaRPr lang="zh-CN" altLang="en-US" sz="2400" b="1" dirty="0">
              <a:solidFill>
                <a:schemeClr val="tx1"/>
              </a:solidFill>
              <a:latin typeface="Times New Roman" panose="02020603050405020304" pitchFamily="18" charset="0"/>
              <a:ea typeface="宋体" panose="02010600030101010101" pitchFamily="2" charset="-122"/>
            </a:endParaRPr>
          </a:p>
          <a:p>
            <a:pPr defTabSz="914400" eaLnBrk="0" hangingPunct="0">
              <a:tabLst>
                <a:tab pos="304800" algn="l"/>
              </a:tabLst>
            </a:pPr>
            <a:r>
              <a:rPr lang="zh-CN" altLang="zh-CN" sz="2000" dirty="0">
                <a:solidFill>
                  <a:srgbClr val="000000"/>
                </a:solidFill>
                <a:latin typeface="Times New Roman" panose="02020603050405020304" pitchFamily="18" charset="0"/>
                <a:ea typeface="宋体" panose="02010600030101010101" pitchFamily="2" charset="-122"/>
              </a:rPr>
              <a:t>基于</a:t>
            </a:r>
            <a:r>
              <a:rPr lang="en-US" altLang="zh-CN" sz="2000" dirty="0">
                <a:solidFill>
                  <a:srgbClr val="000000"/>
                </a:solidFill>
                <a:latin typeface="Times New Roman" panose="02020603050405020304" pitchFamily="18" charset="0"/>
                <a:ea typeface="宋体" panose="02010600030101010101" pitchFamily="2" charset="-122"/>
              </a:rPr>
              <a:t>PC</a:t>
            </a:r>
            <a:r>
              <a:rPr lang="zh-CN" altLang="en-US" sz="2000" dirty="0">
                <a:solidFill>
                  <a:srgbClr val="000000"/>
                </a:solidFill>
                <a:latin typeface="Times New Roman" panose="02020603050405020304" pitchFamily="18" charset="0"/>
                <a:ea typeface="宋体" panose="02010600030101010101" pitchFamily="2" charset="-122"/>
              </a:rPr>
              <a:t>总线，采用</a:t>
            </a:r>
            <a:r>
              <a:rPr lang="en-US" altLang="zh-CN" sz="2000" dirty="0">
                <a:solidFill>
                  <a:srgbClr val="000000"/>
                </a:solidFill>
                <a:latin typeface="Times New Roman" panose="02020603050405020304" pitchFamily="18" charset="0"/>
                <a:ea typeface="宋体" panose="02010600030101010101" pitchFamily="2" charset="-122"/>
              </a:rPr>
              <a:t>DAC0832</a:t>
            </a:r>
            <a:r>
              <a:rPr lang="zh-CN" altLang="en-US" sz="2000" dirty="0">
                <a:solidFill>
                  <a:srgbClr val="000000"/>
                </a:solidFill>
                <a:latin typeface="Times New Roman" panose="02020603050405020304" pitchFamily="18" charset="0"/>
                <a:ea typeface="宋体" panose="02010600030101010101" pitchFamily="2" charset="-122"/>
              </a:rPr>
              <a:t>、运算放大器、译码器、</a:t>
            </a:r>
            <a:r>
              <a:rPr lang="en-US" altLang="zh-CN" sz="2000" dirty="0">
                <a:solidFill>
                  <a:srgbClr val="000000"/>
                </a:solidFill>
                <a:latin typeface="Times New Roman" panose="02020603050405020304" pitchFamily="18" charset="0"/>
                <a:ea typeface="宋体" panose="02010600030101010101" pitchFamily="2" charset="-122"/>
              </a:rPr>
              <a:t>CD4051</a:t>
            </a:r>
            <a:r>
              <a:rPr lang="zh-CN" altLang="en-US" sz="2000" dirty="0">
                <a:solidFill>
                  <a:srgbClr val="000000"/>
                </a:solidFill>
                <a:latin typeface="Times New Roman" panose="02020603050405020304" pitchFamily="18" charset="0"/>
                <a:ea typeface="宋体" panose="02010600030101010101" pitchFamily="2" charset="-122"/>
              </a:rPr>
              <a:t>设计模拟量输出通道如图所示，</a:t>
            </a:r>
            <a:r>
              <a:rPr lang="en-US" altLang="zh-CN" sz="2000" dirty="0">
                <a:solidFill>
                  <a:srgbClr val="000000"/>
                </a:solidFill>
                <a:latin typeface="Times New Roman" panose="02020603050405020304" pitchFamily="18" charset="0"/>
                <a:ea typeface="宋体" panose="02010600030101010101" pitchFamily="2" charset="-122"/>
              </a:rPr>
              <a:t>/Y0~/Y2</a:t>
            </a:r>
            <a:r>
              <a:rPr lang="zh-CN" altLang="en-US" sz="2000" dirty="0">
                <a:solidFill>
                  <a:srgbClr val="000000"/>
                </a:solidFill>
                <a:latin typeface="Times New Roman" panose="02020603050405020304" pitchFamily="18" charset="0"/>
                <a:ea typeface="宋体" panose="02010600030101010101" pitchFamily="2" charset="-122"/>
              </a:rPr>
              <a:t>地址为</a:t>
            </a:r>
            <a:r>
              <a:rPr lang="en-US" altLang="zh-CN" sz="2000" dirty="0">
                <a:solidFill>
                  <a:srgbClr val="000000"/>
                </a:solidFill>
                <a:latin typeface="Times New Roman" panose="02020603050405020304" pitchFamily="18" charset="0"/>
                <a:ea typeface="宋体" panose="02010600030101010101" pitchFamily="2" charset="-122"/>
              </a:rPr>
              <a:t>300H~302H</a:t>
            </a:r>
            <a:r>
              <a:rPr lang="zh-CN" altLang="en-US" sz="2000" dirty="0">
                <a:solidFill>
                  <a:srgbClr val="000000"/>
                </a:solidFill>
                <a:latin typeface="Times New Roman" panose="02020603050405020304" pitchFamily="18"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pPr defTabSz="914400" eaLnBrk="0" hangingPunct="0">
              <a:tabLst>
                <a:tab pos="304800" algn="l"/>
              </a:tabLst>
            </a:pP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、将图补充完整，实现</a:t>
            </a:r>
            <a:r>
              <a:rPr lang="en-US" altLang="zh-CN" sz="2000" dirty="0">
                <a:latin typeface="Times New Roman" panose="02020603050405020304" pitchFamily="18" charset="0"/>
                <a:ea typeface="宋体" panose="02010600030101010101" pitchFamily="2" charset="-122"/>
              </a:rPr>
              <a:t>D/A</a:t>
            </a:r>
            <a:r>
              <a:rPr lang="zh-CN" altLang="en-US" sz="2000" dirty="0">
                <a:latin typeface="Times New Roman" panose="02020603050405020304" pitchFamily="18" charset="0"/>
                <a:ea typeface="宋体" panose="02010600030101010101" pitchFamily="2" charset="-122"/>
              </a:rPr>
              <a:t>转换器的双缓冲</a:t>
            </a:r>
            <a:r>
              <a:rPr lang="en-US" altLang="zh-CN" sz="2000" dirty="0">
                <a:latin typeface="Times New Roman" panose="02020603050405020304" pitchFamily="18" charset="0"/>
                <a:ea typeface="宋体" panose="02010600030101010101" pitchFamily="2" charset="-122"/>
              </a:rPr>
              <a:t>8</a:t>
            </a:r>
            <a:r>
              <a:rPr lang="zh-CN" altLang="en-US" sz="2000" dirty="0">
                <a:latin typeface="Times New Roman" panose="02020603050405020304" pitchFamily="18" charset="0"/>
                <a:ea typeface="宋体" panose="02010600030101010101" pitchFamily="2" charset="-122"/>
              </a:rPr>
              <a:t>路模拟量输出</a:t>
            </a:r>
            <a:endParaRPr lang="zh-CN" altLang="en-US" sz="2000" dirty="0">
              <a:latin typeface="Arial" panose="020B0604020202020204" pitchFamily="34" charset="0"/>
              <a:ea typeface="宋体" panose="02010600030101010101" pitchFamily="2" charset="-122"/>
            </a:endParaRPr>
          </a:p>
          <a:p>
            <a:pPr defTabSz="914400" eaLnBrk="0" hangingPunct="0">
              <a:tabLst>
                <a:tab pos="304800" algn="l"/>
              </a:tabLst>
            </a:pP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、编写一段从</a:t>
            </a:r>
            <a:r>
              <a:rPr lang="en-US" altLang="zh-CN" sz="2000" dirty="0">
                <a:latin typeface="Times New Roman" panose="02020603050405020304" pitchFamily="18" charset="0"/>
                <a:ea typeface="宋体" panose="02010600030101010101" pitchFamily="2" charset="-122"/>
              </a:rPr>
              <a:t>AO5</a:t>
            </a:r>
            <a:r>
              <a:rPr lang="zh-CN" altLang="en-US" sz="2000" dirty="0">
                <a:latin typeface="Times New Roman" panose="02020603050405020304" pitchFamily="18" charset="0"/>
                <a:ea typeface="宋体" panose="02010600030101010101" pitchFamily="2" charset="-122"/>
              </a:rPr>
              <a:t>端口输出模拟量（数字量为</a:t>
            </a:r>
            <a:r>
              <a:rPr lang="en-US" altLang="zh-CN" sz="2000" dirty="0">
                <a:latin typeface="Times New Roman" panose="02020603050405020304" pitchFamily="18" charset="0"/>
                <a:ea typeface="宋体" panose="02010600030101010101" pitchFamily="2" charset="-122"/>
              </a:rPr>
              <a:t>COUNT</a:t>
            </a:r>
            <a:r>
              <a:rPr lang="zh-CN" altLang="en-US" sz="2000" dirty="0">
                <a:latin typeface="Times New Roman" panose="02020603050405020304" pitchFamily="18" charset="0"/>
                <a:ea typeface="宋体" panose="02010600030101010101" pitchFamily="2" charset="-122"/>
              </a:rPr>
              <a:t>）的软件程序，并简要注释说明过程</a:t>
            </a:r>
            <a:endParaRPr lang="zh-CN" altLang="en-US" sz="2000" dirty="0">
              <a:latin typeface="Arial" panose="020B0604020202020204" pitchFamily="34" charset="0"/>
              <a:ea typeface="宋体" panose="02010600030101010101" pitchFamily="2" charset="-122"/>
            </a:endParaRPr>
          </a:p>
          <a:p>
            <a:pPr defTabSz="914400" eaLnBrk="0" hangingPunct="0">
              <a:tabLst>
                <a:tab pos="304800" algn="l"/>
              </a:tabLst>
            </a:pPr>
            <a:r>
              <a:rPr lang="en-US" altLang="zh-CN" sz="2000" dirty="0">
                <a:solidFill>
                  <a:srgbClr val="000000"/>
                </a:solidFill>
                <a:latin typeface="Times New Roman" panose="02020603050405020304" pitchFamily="18" charset="0"/>
                <a:ea typeface="宋体" panose="02010600030101010101" pitchFamily="2" charset="-122"/>
              </a:rPr>
              <a:t>3</a:t>
            </a:r>
            <a:r>
              <a:rPr lang="zh-CN" altLang="en-US" sz="2000" dirty="0">
                <a:solidFill>
                  <a:srgbClr val="000000"/>
                </a:solidFill>
                <a:latin typeface="Times New Roman" panose="02020603050405020304" pitchFamily="18" charset="0"/>
                <a:ea typeface="宋体" panose="02010600030101010101" pitchFamily="2" charset="-122"/>
              </a:rPr>
              <a:t>、推导</a:t>
            </a:r>
            <a:r>
              <a:rPr lang="en-US" altLang="zh-CN" sz="2000" dirty="0">
                <a:solidFill>
                  <a:srgbClr val="000000"/>
                </a:solidFill>
                <a:latin typeface="Times New Roman" panose="02020603050405020304" pitchFamily="18" charset="0"/>
                <a:ea typeface="宋体" panose="02010600030101010101" pitchFamily="2" charset="-122"/>
              </a:rPr>
              <a:t>Vout</a:t>
            </a:r>
            <a:r>
              <a:rPr lang="zh-CN" altLang="en-US" sz="2000" dirty="0">
                <a:solidFill>
                  <a:srgbClr val="000000"/>
                </a:solidFill>
                <a:latin typeface="Times New Roman" panose="02020603050405020304" pitchFamily="18" charset="0"/>
                <a:ea typeface="宋体" panose="02010600030101010101" pitchFamily="2" charset="-122"/>
              </a:rPr>
              <a:t>的表达式（假定数字量为</a:t>
            </a:r>
            <a:r>
              <a:rPr lang="en-US" altLang="zh-CN" sz="2000" dirty="0">
                <a:solidFill>
                  <a:srgbClr val="000000"/>
                </a:solidFill>
                <a:latin typeface="Times New Roman" panose="02020603050405020304" pitchFamily="18" charset="0"/>
                <a:ea typeface="宋体" panose="02010600030101010101" pitchFamily="2" charset="-122"/>
              </a:rPr>
              <a:t>D</a:t>
            </a:r>
            <a:r>
              <a:rPr lang="zh-CN" altLang="en-US" sz="2000" dirty="0">
                <a:solidFill>
                  <a:srgbClr val="000000"/>
                </a:solidFill>
                <a:latin typeface="Times New Roman" panose="02020603050405020304" pitchFamily="18" charset="0"/>
                <a:ea typeface="宋体" panose="02010600030101010101" pitchFamily="2" charset="-122"/>
              </a:rPr>
              <a:t>），写出输出电压的范围。</a:t>
            </a:r>
            <a:endParaRPr lang="zh-CN" altLang="en-US" sz="2000" dirty="0">
              <a:latin typeface="Arial" panose="020B0604020202020204" pitchFamily="34" charset="0"/>
              <a:ea typeface="宋体" panose="02010600030101010101" pitchFamily="2" charset="-122"/>
            </a:endParaRPr>
          </a:p>
        </p:txBody>
      </p:sp>
      <p:sp>
        <p:nvSpPr>
          <p:cNvPr id="48130" name="Rectangle 3"/>
          <p:cNvSpPr/>
          <p:nvPr/>
        </p:nvSpPr>
        <p:spPr>
          <a:xfrm>
            <a:off x="0" y="2886075"/>
            <a:ext cx="9144000" cy="0"/>
          </a:xfrm>
          <a:prstGeom prst="rect">
            <a:avLst/>
          </a:prstGeom>
          <a:noFill/>
          <a:ln w="9525">
            <a:noFill/>
          </a:ln>
        </p:spPr>
        <p:txBody>
          <a:bodyPr wrap="none" anchor="ctr" anchorCtr="0">
            <a:spAutoFit/>
          </a:bodyPr>
          <a:p>
            <a:pPr eaLnBrk="0" hangingPunct="0"/>
            <a:endParaRPr lang="zh-CN" altLang="en-US" sz="1800" dirty="0">
              <a:latin typeface="Arial" panose="020B0604020202020204" pitchFamily="34" charset="0"/>
              <a:ea typeface="宋体" panose="02010600030101010101" pitchFamily="2" charset="-122"/>
            </a:endParaRPr>
          </a:p>
        </p:txBody>
      </p:sp>
      <p:pic>
        <p:nvPicPr>
          <p:cNvPr id="48131" name="图片 1024"/>
          <p:cNvPicPr>
            <a:picLocks noChangeAspect="1"/>
          </p:cNvPicPr>
          <p:nvPr/>
        </p:nvPicPr>
        <p:blipFill>
          <a:blip r:embed="rId1"/>
          <a:stretch>
            <a:fillRect/>
          </a:stretch>
        </p:blipFill>
        <p:spPr>
          <a:xfrm>
            <a:off x="760413" y="2708910"/>
            <a:ext cx="7623175" cy="3719513"/>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9"/>
          <p:cNvSpPr/>
          <p:nvPr/>
        </p:nvSpPr>
        <p:spPr>
          <a:xfrm>
            <a:off x="2916238" y="5949950"/>
            <a:ext cx="2544762" cy="400050"/>
          </a:xfrm>
          <a:prstGeom prst="rect">
            <a:avLst/>
          </a:prstGeom>
          <a:noFill/>
          <a:ln w="12700">
            <a:noFill/>
          </a:ln>
        </p:spPr>
        <p:txBody>
          <a:bodyPr wrap="none" anchor="t" anchorCtr="0">
            <a:spAutoFit/>
          </a:bodyPr>
          <a:p>
            <a:pPr eaLnBrk="0" hangingPunct="0"/>
            <a:r>
              <a:rPr lang="en-US" altLang="zh-CN" sz="2000" b="1" dirty="0">
                <a:solidFill>
                  <a:srgbClr val="FF0000"/>
                </a:solidFill>
                <a:latin typeface="Times New Roman" panose="02020603050405020304" pitchFamily="18" charset="0"/>
                <a:ea typeface="宋体" panose="02010600030101010101" pitchFamily="2" charset="-122"/>
              </a:rPr>
              <a:t>DAC0832</a:t>
            </a:r>
            <a:r>
              <a:rPr lang="zh-CN" altLang="en-US" sz="2000" b="1" dirty="0">
                <a:solidFill>
                  <a:srgbClr val="FF0000"/>
                </a:solidFill>
                <a:latin typeface="Times New Roman" panose="02020603050405020304" pitchFamily="18" charset="0"/>
                <a:ea typeface="宋体" panose="02010600030101010101" pitchFamily="2" charset="-122"/>
              </a:rPr>
              <a:t>内部结构图</a:t>
            </a:r>
            <a:endParaRPr lang="en-US" altLang="zh-CN" sz="2000" b="1" dirty="0">
              <a:solidFill>
                <a:srgbClr val="FF0000"/>
              </a:solidFill>
              <a:latin typeface="Times New Roman" panose="02020603050405020304" pitchFamily="18" charset="0"/>
              <a:ea typeface="Times New Roman" panose="02020603050405020304" pitchFamily="18" charset="0"/>
            </a:endParaRPr>
          </a:p>
        </p:txBody>
      </p:sp>
      <p:pic>
        <p:nvPicPr>
          <p:cNvPr id="49154" name="Picture 63"/>
          <p:cNvPicPr>
            <a:picLocks noChangeAspect="1"/>
          </p:cNvPicPr>
          <p:nvPr/>
        </p:nvPicPr>
        <p:blipFill>
          <a:blip r:embed="rId1"/>
          <a:stretch>
            <a:fillRect/>
          </a:stretch>
        </p:blipFill>
        <p:spPr>
          <a:xfrm>
            <a:off x="900113" y="333375"/>
            <a:ext cx="7127875" cy="551497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3"/>
          <p:cNvSpPr/>
          <p:nvPr/>
        </p:nvSpPr>
        <p:spPr>
          <a:xfrm>
            <a:off x="0" y="0"/>
            <a:ext cx="9144000" cy="45720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sp>
        <p:nvSpPr>
          <p:cNvPr id="50179" name="Rectangle 4"/>
          <p:cNvSpPr/>
          <p:nvPr/>
        </p:nvSpPr>
        <p:spPr>
          <a:xfrm>
            <a:off x="323850" y="3573463"/>
            <a:ext cx="6545263" cy="2708275"/>
          </a:xfrm>
          <a:prstGeom prst="rect">
            <a:avLst/>
          </a:prstGeom>
          <a:noFill/>
          <a:ln w="9525">
            <a:noFill/>
          </a:ln>
        </p:spPr>
        <p:txBody>
          <a:bodyPr wrap="none" anchor="ctr" anchorCtr="0">
            <a:spAutoFit/>
          </a:bodyPr>
          <a:p>
            <a:pPr eaLnBrk="0" hangingPunct="0"/>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MOV   DX</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0300H    </a:t>
            </a:r>
            <a:r>
              <a:rPr lang="zh-CN" altLang="en-US" sz="2000" dirty="0">
                <a:latin typeface="Times New Roman" panose="02020603050405020304" pitchFamily="18" charset="0"/>
                <a:ea typeface="宋体" panose="02010600030101010101" pitchFamily="2" charset="-122"/>
              </a:rPr>
              <a:t>；输入寄存器地址</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AL</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COUNT  	 </a:t>
            </a:r>
            <a:endParaRPr lang="en-US" altLang="zh-CN" sz="2000" dirty="0">
              <a:latin typeface="Times New Roman" panose="02020603050405020304" pitchFamily="18" charset="0"/>
              <a:ea typeface="宋体" panose="02010600030101010101" pitchFamily="2" charset="-122"/>
            </a:endParaRPr>
          </a:p>
          <a:p>
            <a:pPr eaLnBrk="0" hangingPunct="0"/>
            <a:r>
              <a:rPr lang="en-US" altLang="zh-CN" sz="2000" dirty="0">
                <a:latin typeface="Times New Roman" panose="02020603050405020304" pitchFamily="18" charset="0"/>
                <a:ea typeface="宋体" panose="02010600030101010101" pitchFamily="2" charset="-122"/>
              </a:rPr>
              <a:t>     OUT   DX,  AL      	    </a:t>
            </a:r>
            <a:r>
              <a:rPr lang="zh-CN" altLang="en-US" sz="2000" dirty="0">
                <a:latin typeface="Times New Roman" panose="02020603050405020304" pitchFamily="18" charset="0"/>
                <a:ea typeface="宋体" panose="02010600030101010101" pitchFamily="2" charset="-122"/>
              </a:rPr>
              <a:t>；转换的数据送到输入寄存器</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INC   DX		    </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DAC</a:t>
            </a:r>
            <a:r>
              <a:rPr lang="zh-CN" altLang="en-US" sz="2000" dirty="0">
                <a:latin typeface="Times New Roman" panose="02020603050405020304" pitchFamily="18" charset="0"/>
                <a:ea typeface="宋体" panose="02010600030101010101" pitchFamily="2" charset="-122"/>
              </a:rPr>
              <a:t>寄存器地址</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OUT   DX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AL               </a:t>
            </a:r>
            <a:r>
              <a:rPr lang="zh-CN" altLang="en-US" sz="2000" dirty="0">
                <a:latin typeface="Times New Roman" panose="02020603050405020304" pitchFamily="18" charset="0"/>
                <a:ea typeface="宋体" panose="02010600030101010101" pitchFamily="2" charset="-122"/>
              </a:rPr>
              <a:t>；启动</a:t>
            </a:r>
            <a:r>
              <a:rPr lang="en-US" altLang="zh-CN" sz="2000" dirty="0">
                <a:latin typeface="Times New Roman" panose="02020603050405020304" pitchFamily="18" charset="0"/>
                <a:ea typeface="宋体" panose="02010600030101010101" pitchFamily="2" charset="-122"/>
              </a:rPr>
              <a:t>D/A</a:t>
            </a:r>
            <a:r>
              <a:rPr lang="zh-CN" altLang="en-US" sz="2000" dirty="0">
                <a:latin typeface="Times New Roman" panose="02020603050405020304" pitchFamily="18" charset="0"/>
                <a:ea typeface="宋体" panose="02010600030101010101" pitchFamily="2" charset="-122"/>
              </a:rPr>
              <a:t>转换</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INC   DX		    </a:t>
            </a:r>
            <a:r>
              <a:rPr lang="zh-CN" altLang="en-US" sz="2000" dirty="0">
                <a:latin typeface="Times New Roman" panose="02020603050405020304" pitchFamily="18" charset="0"/>
                <a:ea typeface="宋体" panose="02010600030101010101" pitchFamily="2" charset="-122"/>
              </a:rPr>
              <a:t>；多路开关地址</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AL</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05H     </a:t>
            </a:r>
            <a:endParaRPr lang="en-US" altLang="zh-CN" sz="2000" dirty="0">
              <a:latin typeface="Times New Roman" panose="02020603050405020304" pitchFamily="18" charset="0"/>
              <a:ea typeface="宋体" panose="02010600030101010101" pitchFamily="2" charset="-122"/>
            </a:endParaRPr>
          </a:p>
          <a:p>
            <a:pPr eaLnBrk="0" hangingPunct="0"/>
            <a:r>
              <a:rPr lang="en-US" altLang="zh-CN" sz="2000" dirty="0">
                <a:latin typeface="Times New Roman" panose="02020603050405020304" pitchFamily="18" charset="0"/>
                <a:ea typeface="宋体" panose="02010600030101010101" pitchFamily="2" charset="-122"/>
              </a:rPr>
              <a:t>     OUT   DX, AL                   </a:t>
            </a:r>
            <a:r>
              <a:rPr lang="zh-CN" altLang="en-US" sz="2000" dirty="0">
                <a:latin typeface="Times New Roman" panose="02020603050405020304" pitchFamily="18" charset="0"/>
                <a:ea typeface="宋体" panose="02010600030101010101" pitchFamily="2" charset="-122"/>
              </a:rPr>
              <a:t>；从</a:t>
            </a:r>
            <a:r>
              <a:rPr lang="en-US" altLang="zh-CN" sz="2000" dirty="0">
                <a:latin typeface="Times New Roman" panose="02020603050405020304" pitchFamily="18" charset="0"/>
                <a:ea typeface="宋体" panose="02010600030101010101" pitchFamily="2" charset="-122"/>
              </a:rPr>
              <a:t>AO5</a:t>
            </a:r>
            <a:r>
              <a:rPr lang="zh-CN" altLang="en-US" sz="2000" dirty="0">
                <a:latin typeface="Times New Roman" panose="02020603050405020304" pitchFamily="18" charset="0"/>
                <a:ea typeface="宋体" panose="02010600030101010101" pitchFamily="2" charset="-122"/>
              </a:rPr>
              <a:t>输出模拟量</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1000" dirty="0">
                <a:latin typeface="Times New Roman" panose="02020603050405020304" pitchFamily="18"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50180" name="矩形 6"/>
          <p:cNvSpPr/>
          <p:nvPr/>
        </p:nvSpPr>
        <p:spPr>
          <a:xfrm>
            <a:off x="228600" y="311150"/>
            <a:ext cx="838200" cy="368300"/>
          </a:xfrm>
          <a:prstGeom prst="rect">
            <a:avLst/>
          </a:prstGeom>
          <a:noFill/>
          <a:ln w="9525">
            <a:noFill/>
          </a:ln>
        </p:spPr>
        <p:txBody>
          <a:bodyPr wrap="none" anchor="t" anchorCtr="0">
            <a:spAutoFit/>
          </a:bodyPr>
          <a:p>
            <a:pPr eaLnBrk="0" hangingPunct="0"/>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graphicFrame>
        <p:nvGraphicFramePr>
          <p:cNvPr id="50177" name="对象 1"/>
          <p:cNvGraphicFramePr>
            <a:graphicFrameLocks noChangeAspect="1"/>
          </p:cNvGraphicFramePr>
          <p:nvPr/>
        </p:nvGraphicFramePr>
        <p:xfrm>
          <a:off x="1403350" y="398780"/>
          <a:ext cx="6985000" cy="3385820"/>
        </p:xfrm>
        <a:graphic>
          <a:graphicData uri="http://schemas.openxmlformats.org/presentationml/2006/ole">
            <mc:AlternateContent xmlns:mc="http://schemas.openxmlformats.org/markup-compatibility/2006">
              <mc:Choice xmlns:v="urn:schemas-microsoft-com:vml" Requires="v">
                <p:oleObj spid="_x0000_s3110" name="" r:id="rId1" imgW="8274050" imgH="4036695" progId="Visio.Drawing.11">
                  <p:embed/>
                </p:oleObj>
              </mc:Choice>
              <mc:Fallback>
                <p:oleObj name="" r:id="rId1" imgW="8274050" imgH="4036695" progId="Visio.Drawing.11">
                  <p:embed/>
                  <p:pic>
                    <p:nvPicPr>
                      <p:cNvPr id="0" name="图片 3109"/>
                      <p:cNvPicPr/>
                      <p:nvPr/>
                    </p:nvPicPr>
                    <p:blipFill>
                      <a:blip r:embed="rId2"/>
                      <a:stretch>
                        <a:fillRect/>
                      </a:stretch>
                    </p:blipFill>
                    <p:spPr>
                      <a:xfrm>
                        <a:off x="1403350" y="398780"/>
                        <a:ext cx="6985000" cy="3385820"/>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对象 2"/>
          <p:cNvSpPr txBox="1">
            <a:spLocks noRot="1" noChangeAspect="1" noEditPoints="1" noTextEdit="1"/>
          </p:cNvSpPr>
          <p:nvPr/>
        </p:nvSpPr>
        <p:spPr>
          <a:xfrm>
            <a:off x="1331913" y="858838"/>
            <a:ext cx="3811587" cy="3262312"/>
          </a:xfrm>
          <a:prstGeom prst="rect">
            <a:avLst/>
          </a:prstGeom>
          <a:blipFill rotWithShape="1">
            <a:blip r:embed="rId1"/>
            <a:stretch>
              <a:fillRect/>
            </a:stretch>
          </a:blipFill>
          <a:ln w="9525">
            <a:noFill/>
          </a:ln>
        </p:spPr>
        <p:txBody>
          <a:bodyPr anchor="t" anchorCtr="0"/>
          <a:p>
            <a:pPr eaLnBrk="0" hangingPunct="0"/>
            <a:endParaRPr>
              <a:latin typeface="Arial" panose="020B0604020202020204" pitchFamily="34" charset="0"/>
              <a:ea typeface="宋体" panose="02010600030101010101" pitchFamily="2" charset="-122"/>
            </a:endParaRPr>
          </a:p>
        </p:txBody>
      </p:sp>
      <p:sp>
        <p:nvSpPr>
          <p:cNvPr id="51202" name="Rectangle 3"/>
          <p:cNvSpPr/>
          <p:nvPr/>
        </p:nvSpPr>
        <p:spPr>
          <a:xfrm>
            <a:off x="0" y="0"/>
            <a:ext cx="9144000" cy="45720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sp>
        <p:nvSpPr>
          <p:cNvPr id="51203" name="Rectangle 5"/>
          <p:cNvSpPr/>
          <p:nvPr/>
        </p:nvSpPr>
        <p:spPr>
          <a:xfrm>
            <a:off x="827088" y="4408488"/>
            <a:ext cx="3792537" cy="460375"/>
          </a:xfrm>
          <a:prstGeom prst="rect">
            <a:avLst/>
          </a:prstGeom>
          <a:noFill/>
          <a:ln w="9525">
            <a:noFill/>
          </a:ln>
        </p:spPr>
        <p:txBody>
          <a:bodyPr wrap="none" anchor="ctr" anchorCtr="0">
            <a:spAutoFit/>
          </a:bodyPr>
          <a:p>
            <a:pPr eaLnBrk="0" hangingPunct="0"/>
            <a:r>
              <a:rPr lang="en-US" altLang="zh-CN" sz="1000" dirty="0">
                <a:latin typeface="Times New Roman" panose="02020603050405020304" pitchFamily="18" charset="0"/>
                <a:ea typeface="宋体" panose="02010600030101010101" pitchFamily="2" charset="-122"/>
              </a:rPr>
              <a:t>    </a:t>
            </a:r>
            <a:r>
              <a:rPr lang="zh-CN" altLang="en-US" sz="10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输出电压范围：</a:t>
            </a:r>
            <a:r>
              <a:rPr lang="en-US" altLang="zh-CN" sz="2400" dirty="0">
                <a:latin typeface="Times New Roman" panose="02020603050405020304" pitchFamily="18" charset="0"/>
                <a:ea typeface="宋体" panose="02010600030101010101" pitchFamily="2" charset="-122"/>
              </a:rPr>
              <a:t>-10V~10V</a:t>
            </a:r>
            <a:endParaRPr lang="zh-CN" altLang="en-US" sz="2400" dirty="0">
              <a:latin typeface="Arial" panose="020B0604020202020204" pitchFamily="34" charset="0"/>
              <a:ea typeface="宋体" panose="02010600030101010101" pitchFamily="2" charset="-122"/>
            </a:endParaRPr>
          </a:p>
        </p:txBody>
      </p:sp>
      <p:sp>
        <p:nvSpPr>
          <p:cNvPr id="51204" name="矩形 6"/>
          <p:cNvSpPr/>
          <p:nvPr/>
        </p:nvSpPr>
        <p:spPr>
          <a:xfrm>
            <a:off x="228600" y="311150"/>
            <a:ext cx="838200" cy="368300"/>
          </a:xfrm>
          <a:prstGeom prst="rect">
            <a:avLst/>
          </a:prstGeom>
          <a:noFill/>
          <a:ln w="9525">
            <a:noFill/>
          </a:ln>
        </p:spPr>
        <p:txBody>
          <a:bodyPr wrap="none" anchor="t" anchorCtr="0">
            <a:spAutoFit/>
          </a:bodyPr>
          <a:p>
            <a:pPr eaLnBrk="0" hangingPunct="0"/>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3</a:t>
            </a:r>
            <a:r>
              <a:rPr lang="zh-CN" altLang="en-US"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20700" y="1340485"/>
            <a:ext cx="7985125" cy="3239135"/>
          </a:xfrm>
          <a:prstGeom prst="rect">
            <a:avLst/>
          </a:prstGeom>
        </p:spPr>
      </p:pic>
      <p:sp>
        <p:nvSpPr>
          <p:cNvPr id="3" name="文本框 2"/>
          <p:cNvSpPr txBox="1"/>
          <p:nvPr/>
        </p:nvSpPr>
        <p:spPr>
          <a:xfrm>
            <a:off x="611505" y="836295"/>
            <a:ext cx="4572000" cy="460375"/>
          </a:xfrm>
          <a:prstGeom prst="rect">
            <a:avLst/>
          </a:prstGeom>
          <a:noFill/>
        </p:spPr>
        <p:txBody>
          <a:bodyPr wrap="square" rtlCol="0" anchor="t">
            <a:spAutoFit/>
          </a:bodyPr>
          <a:p>
            <a:r>
              <a:rPr lang="zh-CN" altLang="en-US" sz="2400" b="1"/>
              <a:t>习题</a:t>
            </a:r>
            <a:r>
              <a:rPr lang="en-US" altLang="zh-CN" sz="2400" b="1"/>
              <a:t>6</a:t>
            </a:r>
            <a:endParaRPr lang="zh-CN" altLang="en-US" sz="24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23850" y="692150"/>
            <a:ext cx="8471535" cy="5833745"/>
          </a:xfrm>
          <a:prstGeom prst="rect">
            <a:avLst/>
          </a:prstGeom>
        </p:spPr>
      </p:pic>
    </p:spTree>
  </p:cSld>
  <p:clrMapOvr>
    <a:masterClrMapping/>
  </p:clrMapOvr>
</p:sld>
</file>

<file path=ppt/tags/tag1.xml><?xml version="1.0" encoding="utf-8"?>
<p:tagLst xmlns:p="http://schemas.openxmlformats.org/presentationml/2006/main">
  <p:tag name="commondata" val="eyJoZGlkIjoiYjZjYmJhOTM5YmU4MWUwY2IxOWI3YzI3MjFkYjFkN2YifQ=="/>
</p:tagLst>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1851</Words>
  <Application>WPS 演示</Application>
  <PresentationFormat>全屏显示(4:3)</PresentationFormat>
  <Paragraphs>117</Paragraphs>
  <Slides>13</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11</vt:i4>
      </vt:variant>
      <vt:variant>
        <vt:lpstr>幻灯片标题</vt:lpstr>
      </vt:variant>
      <vt:variant>
        <vt:i4>13</vt:i4>
      </vt:variant>
    </vt:vector>
  </HeadingPairs>
  <TitlesOfParts>
    <vt:vector size="34" baseType="lpstr">
      <vt:lpstr>Arial</vt:lpstr>
      <vt:lpstr>宋体</vt:lpstr>
      <vt:lpstr>Wingdings</vt:lpstr>
      <vt:lpstr>Tahoma</vt:lpstr>
      <vt:lpstr>Times New Roman</vt:lpstr>
      <vt:lpstr>Arial Unicode MS</vt:lpstr>
      <vt:lpstr>微软雅黑</vt:lpstr>
      <vt:lpstr>Arial Unicode MS</vt:lpstr>
      <vt:lpstr>等线</vt:lpstr>
      <vt:lpstr>1_默认设计模板</vt:lpstr>
      <vt:lpstr>Visio.Drawing.11</vt:lpstr>
      <vt:lpstr>Equation.DSMT4</vt:lpstr>
      <vt:lpstr>Visio.Drawing.11</vt:lpstr>
      <vt:lpstr>Equation.DSMT4</vt:lpstr>
      <vt:lpstr>Equation.DSMT4</vt:lpstr>
      <vt:lpstr>Equation.DSMT4</vt:lpstr>
      <vt:lpstr>Equation.3</vt:lpstr>
      <vt:lpstr>Equation.DSMT4</vt:lpstr>
      <vt:lpstr>Equation.DSMT4</vt:lpstr>
      <vt:lpstr>Equation.DSMT4</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雨薇在线</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WJH</dc:creator>
  <cp:lastModifiedBy>肖力</cp:lastModifiedBy>
  <cp:revision>199</cp:revision>
  <dcterms:created xsi:type="dcterms:W3CDTF">2005-04-02T07:52:00Z</dcterms:created>
  <dcterms:modified xsi:type="dcterms:W3CDTF">2026-01-03T15:18:31Z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2E06AE1ACAB24D35B52AF2C8A4BED797_13</vt:lpwstr>
  </property>
  <property fmtid="{D5CDD505-2E9C-101B-9397-08002B2CF9AE}" pid="3" name="KSOProductBuildVer">
    <vt:lpwstr>2052-12.1.0.24034</vt:lpwstr>
  </property>
</Properties>
</file>
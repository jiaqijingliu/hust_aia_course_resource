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6"/>
  </p:notesMasterIdLst>
  <p:sldIdLst>
    <p:sldId id="267" r:id="rId2"/>
    <p:sldId id="260" r:id="rId3"/>
    <p:sldId id="450" r:id="rId4"/>
    <p:sldId id="436" r:id="rId5"/>
    <p:sldId id="262" r:id="rId6"/>
    <p:sldId id="406" r:id="rId7"/>
    <p:sldId id="407" r:id="rId8"/>
    <p:sldId id="456" r:id="rId9"/>
    <p:sldId id="452" r:id="rId10"/>
    <p:sldId id="437" r:id="rId11"/>
    <p:sldId id="411" r:id="rId12"/>
    <p:sldId id="412" r:id="rId13"/>
    <p:sldId id="414" r:id="rId14"/>
    <p:sldId id="1046" r:id="rId15"/>
    <p:sldId id="416" r:id="rId16"/>
    <p:sldId id="423" r:id="rId17"/>
    <p:sldId id="431" r:id="rId18"/>
    <p:sldId id="656" r:id="rId19"/>
    <p:sldId id="459" r:id="rId20"/>
    <p:sldId id="460" r:id="rId21"/>
    <p:sldId id="461" r:id="rId22"/>
    <p:sldId id="462" r:id="rId23"/>
    <p:sldId id="659" r:id="rId24"/>
    <p:sldId id="660" r:id="rId25"/>
    <p:sldId id="472" r:id="rId26"/>
    <p:sldId id="473" r:id="rId27"/>
    <p:sldId id="474" r:id="rId28"/>
    <p:sldId id="399" r:id="rId29"/>
    <p:sldId id="476" r:id="rId30"/>
    <p:sldId id="561" r:id="rId31"/>
    <p:sldId id="562" r:id="rId32"/>
    <p:sldId id="493" r:id="rId33"/>
    <p:sldId id="494" r:id="rId34"/>
    <p:sldId id="495" r:id="rId35"/>
    <p:sldId id="1047" r:id="rId36"/>
    <p:sldId id="1049" r:id="rId37"/>
    <p:sldId id="1048" r:id="rId38"/>
    <p:sldId id="449" r:id="rId39"/>
    <p:sldId id="563" r:id="rId40"/>
    <p:sldId id="451" r:id="rId41"/>
    <p:sldId id="564" r:id="rId42"/>
    <p:sldId id="565" r:id="rId43"/>
    <p:sldId id="433" r:id="rId44"/>
    <p:sldId id="434" r:id="rId45"/>
    <p:sldId id="567" r:id="rId46"/>
    <p:sldId id="568" r:id="rId47"/>
    <p:sldId id="569" r:id="rId48"/>
    <p:sldId id="507" r:id="rId49"/>
    <p:sldId id="509" r:id="rId50"/>
    <p:sldId id="570" r:id="rId51"/>
    <p:sldId id="1050" r:id="rId52"/>
    <p:sldId id="572" r:id="rId53"/>
    <p:sldId id="573" r:id="rId54"/>
    <p:sldId id="574" r:id="rId55"/>
    <p:sldId id="575" r:id="rId56"/>
    <p:sldId id="576" r:id="rId57"/>
    <p:sldId id="577" r:id="rId58"/>
    <p:sldId id="579" r:id="rId59"/>
    <p:sldId id="510" r:id="rId60"/>
    <p:sldId id="511" r:id="rId61"/>
    <p:sldId id="512" r:id="rId62"/>
    <p:sldId id="513" r:id="rId63"/>
    <p:sldId id="514" r:id="rId64"/>
    <p:sldId id="515" r:id="rId65"/>
    <p:sldId id="516" r:id="rId66"/>
    <p:sldId id="517" r:id="rId67"/>
    <p:sldId id="518" r:id="rId68"/>
    <p:sldId id="581" r:id="rId69"/>
    <p:sldId id="582" r:id="rId70"/>
    <p:sldId id="663" r:id="rId71"/>
    <p:sldId id="664" r:id="rId72"/>
    <p:sldId id="665" r:id="rId73"/>
    <p:sldId id="478" r:id="rId74"/>
    <p:sldId id="1051" r:id="rId75"/>
    <p:sldId id="609" r:id="rId76"/>
    <p:sldId id="611" r:id="rId77"/>
    <p:sldId id="259" r:id="rId78"/>
    <p:sldId id="624" r:id="rId79"/>
    <p:sldId id="261" r:id="rId80"/>
    <p:sldId id="263" r:id="rId81"/>
    <p:sldId id="264" r:id="rId82"/>
    <p:sldId id="265" r:id="rId83"/>
    <p:sldId id="266" r:id="rId84"/>
    <p:sldId id="625" r:id="rId85"/>
    <p:sldId id="619" r:id="rId86"/>
    <p:sldId id="620" r:id="rId87"/>
    <p:sldId id="621" r:id="rId88"/>
    <p:sldId id="622" r:id="rId89"/>
    <p:sldId id="623" r:id="rId90"/>
    <p:sldId id="268" r:id="rId91"/>
    <p:sldId id="269" r:id="rId92"/>
    <p:sldId id="270" r:id="rId93"/>
    <p:sldId id="655" r:id="rId94"/>
    <p:sldId id="1052" r:id="rId95"/>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99"/>
    <a:srgbClr val="CCFF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8" autoAdjust="0"/>
    <p:restoredTop sz="94674" autoAdjust="0"/>
  </p:normalViewPr>
  <p:slideViewPr>
    <p:cSldViewPr>
      <p:cViewPr varScale="1">
        <p:scale>
          <a:sx n="119" d="100"/>
          <a:sy n="119" d="100"/>
        </p:scale>
        <p:origin x="820" y="7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D6CC18-13BF-443D-A490-339EDA650D39}" type="datetimeFigureOut">
              <a:rPr lang="zh-CN" altLang="en-US" smtClean="0"/>
              <a:t>2025/5/19</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9A7AF9-C1DB-4E76-887B-13B29E1261BE}" type="slidenum">
              <a:rPr lang="zh-CN" altLang="en-US" smtClean="0"/>
              <a:t>‹#›</a:t>
            </a:fld>
            <a:endParaRPr lang="zh-CN" altLang="en-US"/>
          </a:p>
        </p:txBody>
      </p:sp>
    </p:spTree>
    <p:extLst>
      <p:ext uri="{BB962C8B-B14F-4D97-AF65-F5344CB8AC3E}">
        <p14:creationId xmlns:p14="http://schemas.microsoft.com/office/powerpoint/2010/main" val="3638480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70671E19-4D25-69F7-68AB-CAD4D199061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108A514-511E-4C20-B9F2-FC65CE9E638B}" type="slidenum">
              <a:rPr lang="en-US" altLang="zh-CN" smtClean="0"/>
              <a:pPr/>
              <a:t>73</a:t>
            </a:fld>
            <a:endParaRPr lang="en-US" altLang="zh-CN"/>
          </a:p>
        </p:txBody>
      </p:sp>
      <p:sp>
        <p:nvSpPr>
          <p:cNvPr id="126979" name="Rectangle 2">
            <a:extLst>
              <a:ext uri="{FF2B5EF4-FFF2-40B4-BE49-F238E27FC236}">
                <a16:creationId xmlns:a16="http://schemas.microsoft.com/office/drawing/2014/main" id="{4212AA41-DEFD-2232-9DA7-059741B03AA9}"/>
              </a:ext>
            </a:extLst>
          </p:cNvPr>
          <p:cNvSpPr>
            <a:spLocks noGrp="1" noRot="1" noChangeAspect="1" noChangeArrowheads="1" noTextEdit="1"/>
          </p:cNvSpPr>
          <p:nvPr>
            <p:ph type="sldImg"/>
          </p:nvPr>
        </p:nvSpPr>
        <p:spPr>
          <a:ln/>
        </p:spPr>
      </p:sp>
      <p:sp>
        <p:nvSpPr>
          <p:cNvPr id="126980" name="Rectangle 3">
            <a:extLst>
              <a:ext uri="{FF2B5EF4-FFF2-40B4-BE49-F238E27FC236}">
                <a16:creationId xmlns:a16="http://schemas.microsoft.com/office/drawing/2014/main" id="{F9C2096B-7E6B-0B96-C7D1-9C1D9EC5390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de-DE"/>
              <a:t>过程映像   	</a:t>
            </a:r>
            <a:r>
              <a:rPr lang="de-DE" altLang="zh-CN"/>
              <a:t>DP </a:t>
            </a:r>
            <a:r>
              <a:rPr lang="zh-CN" altLang="de-DE"/>
              <a:t>主站（</a:t>
            </a:r>
            <a:r>
              <a:rPr lang="de-DE" altLang="zh-CN"/>
              <a:t>CP</a:t>
            </a:r>
            <a:r>
              <a:rPr lang="zh-CN" altLang="de-DE"/>
              <a:t>或</a:t>
            </a:r>
            <a:r>
              <a:rPr lang="de-DE" altLang="zh-CN"/>
              <a:t>CPU</a:t>
            </a:r>
            <a:r>
              <a:rPr lang="zh-CN" altLang="de-DE"/>
              <a:t>上的集成</a:t>
            </a:r>
            <a:r>
              <a:rPr lang="de-DE" altLang="zh-CN"/>
              <a:t>DP</a:t>
            </a:r>
            <a:r>
              <a:rPr lang="zh-CN" altLang="de-DE"/>
              <a:t>接口）循环扫描</a:t>
            </a:r>
            <a:r>
              <a:rPr lang="de-DE" altLang="zh-CN"/>
              <a:t>PROFIBUS DP </a:t>
            </a:r>
            <a:r>
              <a:rPr lang="zh-CN" altLang="de-DE"/>
              <a:t>组件（幻灯片中环形箭头</a:t>
            </a:r>
            <a:r>
              <a:rPr lang="de-DE" altLang="zh-CN"/>
              <a:t>1</a:t>
            </a:r>
            <a:r>
              <a:rPr lang="zh-CN" altLang="de-DE"/>
              <a:t>）。这个过程中它把数据传送给从站（例如</a:t>
            </a:r>
            <a:r>
              <a:rPr lang="de-DE" altLang="zh-CN"/>
              <a:t>ET200M</a:t>
            </a:r>
            <a:r>
              <a:rPr lang="zh-CN" altLang="de-DE"/>
              <a:t>用于传送到输出模块）并从从站中回读数据（那些从输入模块中获得的）。数据传输通过一个</a:t>
            </a:r>
            <a:r>
              <a:rPr lang="de-DE" altLang="zh-CN"/>
              <a:t>IM </a:t>
            </a:r>
            <a:r>
              <a:rPr lang="zh-CN" altLang="de-DE"/>
              <a:t>内部缓冲器。</a:t>
            </a:r>
          </a:p>
          <a:p>
            <a:pPr eaLnBrk="1" hangingPunct="1"/>
            <a:endParaRPr lang="de-DE" altLang="zh-CN"/>
          </a:p>
          <a:p>
            <a:pPr eaLnBrk="1" hangingPunct="1"/>
            <a:r>
              <a:rPr lang="de-DE" altLang="zh-CN"/>
              <a:t>Trt    	</a:t>
            </a:r>
            <a:r>
              <a:rPr lang="zh-CN" altLang="de-DE"/>
              <a:t>目标旋转时间</a:t>
            </a:r>
          </a:p>
          <a:p>
            <a:pPr eaLnBrk="1" hangingPunct="1"/>
            <a:r>
              <a:rPr lang="zh-CN" altLang="de-DE"/>
              <a:t>	在每一个循环中 </a:t>
            </a:r>
            <a:r>
              <a:rPr lang="de-DE" altLang="zh-CN"/>
              <a:t>DP </a:t>
            </a:r>
            <a:r>
              <a:rPr lang="zh-CN" altLang="de-DE"/>
              <a:t>主站向它所有的从站写入数值</a:t>
            </a:r>
            <a:r>
              <a:rPr lang="de-DE" altLang="zh-CN"/>
              <a:t>/</a:t>
            </a:r>
            <a:r>
              <a:rPr lang="zh-CN" altLang="de-DE"/>
              <a:t>从从站中读取。缓冲器内容形成了一个输入和输出模块的映像。循环时期称为 </a:t>
            </a:r>
            <a:r>
              <a:rPr lang="de-DE" altLang="zh-CN"/>
              <a:t>TRT </a:t>
            </a:r>
            <a:r>
              <a:rPr lang="zh-CN" altLang="de-DE" b="1"/>
              <a:t>目标旋转时间（</a:t>
            </a:r>
            <a:r>
              <a:rPr lang="de-DE" altLang="zh-CN" b="1"/>
              <a:t>target rotation time</a:t>
            </a:r>
            <a:r>
              <a:rPr lang="zh-CN" altLang="de-DE" b="1"/>
              <a:t>）</a:t>
            </a:r>
            <a:r>
              <a:rPr lang="zh-CN" altLang="de-DE"/>
              <a:t>，显示在 </a:t>
            </a:r>
            <a:r>
              <a:rPr lang="de-DE" altLang="zh-CN"/>
              <a:t>Cir </a:t>
            </a:r>
            <a:r>
              <a:rPr lang="zh-CN" altLang="de-DE"/>
              <a:t>的对象或 </a:t>
            </a:r>
            <a:r>
              <a:rPr lang="de-DE" altLang="zh-CN"/>
              <a:t>IM153 </a:t>
            </a:r>
            <a:r>
              <a:rPr lang="zh-CN" altLang="de-DE"/>
              <a:t>的属性中。</a:t>
            </a:r>
            <a:r>
              <a:rPr lang="de-DE" altLang="zh-CN"/>
              <a:t>DP </a:t>
            </a:r>
            <a:r>
              <a:rPr lang="zh-CN" altLang="de-DE"/>
              <a:t>的更新循环独立于 </a:t>
            </a:r>
            <a:r>
              <a:rPr lang="de-DE" altLang="zh-CN"/>
              <a:t>CPU </a:t>
            </a:r>
            <a:r>
              <a:rPr lang="zh-CN" altLang="de-DE"/>
              <a:t>程序而运行，但是速度必须至少同处理过程值的最快的程序的速度一样快。</a:t>
            </a:r>
          </a:p>
          <a:p>
            <a:pPr eaLnBrk="1" hangingPunct="1"/>
            <a:r>
              <a:rPr lang="zh-CN" altLang="de-DE"/>
              <a:t>      	为了评价用户程序，来自操作系统的临时储存输入数据在定义点处及时复制，从缓冲器复制到 </a:t>
            </a:r>
            <a:r>
              <a:rPr lang="de-DE" altLang="zh-CN"/>
              <a:t>CPU </a:t>
            </a:r>
            <a:r>
              <a:rPr lang="zh-CN" altLang="de-DE"/>
              <a:t>存储区</a:t>
            </a:r>
            <a:r>
              <a:rPr lang="de-DE" altLang="zh-CN"/>
              <a:t>/</a:t>
            </a:r>
            <a:r>
              <a:rPr lang="zh-CN" altLang="de-DE"/>
              <a:t>输出数据从存储区回写到缓冲器。通过访问 “</a:t>
            </a:r>
            <a:r>
              <a:rPr lang="de-DE" altLang="zh-CN" b="1"/>
              <a:t>process image“ </a:t>
            </a:r>
            <a:r>
              <a:rPr lang="zh-CN" altLang="de-DE" b="1"/>
              <a:t>过程映像的存储区，</a:t>
            </a:r>
            <a:r>
              <a:rPr lang="zh-CN" altLang="de-DE"/>
              <a:t>程序可以进行读（</a:t>
            </a:r>
            <a:r>
              <a:rPr lang="de-DE" altLang="zh-CN"/>
              <a:t>i</a:t>
            </a:r>
            <a:r>
              <a:rPr lang="zh-CN" altLang="de-DE"/>
              <a:t>）和写（</a:t>
            </a:r>
            <a:r>
              <a:rPr lang="de-DE" altLang="zh-CN"/>
              <a:t>o</a:t>
            </a:r>
            <a:r>
              <a:rPr lang="zh-CN" altLang="de-DE"/>
              <a:t>）。</a:t>
            </a:r>
          </a:p>
          <a:p>
            <a:pPr eaLnBrk="1" hangingPunct="1"/>
            <a:r>
              <a:rPr lang="zh-CN" altLang="de-DE"/>
              <a:t>同步 	这可以确保程序和处理数据的工作一致性 ，这意味着操作系统必须更新输入过程映像并在开始程序进行冻结。在程序执行完和命令写入输出过程映像之后，输出映像要传送到 </a:t>
            </a:r>
            <a:r>
              <a:rPr lang="de-DE" altLang="zh-CN"/>
              <a:t>DP </a:t>
            </a:r>
            <a:r>
              <a:rPr lang="zh-CN" altLang="de-DE"/>
              <a:t>主站。然而，因为过程信号和他们相关的处理操作时伴随着可选重复时期（慢</a:t>
            </a:r>
            <a:r>
              <a:rPr lang="de-DE" altLang="zh-CN"/>
              <a:t>/</a:t>
            </a:r>
            <a:r>
              <a:rPr lang="zh-CN" altLang="de-DE"/>
              <a:t>快进程），这也需要进行同步来匹配。</a:t>
            </a:r>
          </a:p>
          <a:p>
            <a:pPr eaLnBrk="1" hangingPunct="1"/>
            <a:r>
              <a:rPr lang="zh-CN" altLang="de-DE"/>
              <a:t>过程映像区段</a:t>
            </a:r>
            <a:r>
              <a:rPr lang="zh-CN" altLang="de-DE" b="1"/>
              <a:t> 	</a:t>
            </a:r>
            <a:r>
              <a:rPr lang="de-DE" altLang="zh-CN"/>
              <a:t>CPU </a:t>
            </a:r>
            <a:r>
              <a:rPr lang="zh-CN" altLang="de-DE"/>
              <a:t>提供给对象不同的速度来执行程序，用户可以在 </a:t>
            </a:r>
            <a:r>
              <a:rPr lang="de-DE" altLang="zh-CN" b="1"/>
              <a:t>CPU </a:t>
            </a:r>
            <a:r>
              <a:rPr lang="zh-CN" altLang="de-DE" b="1"/>
              <a:t>属性</a:t>
            </a:r>
            <a:r>
              <a:rPr lang="de-DE" altLang="zh-CN" b="1"/>
              <a:t>- PIPn </a:t>
            </a:r>
            <a:r>
              <a:rPr lang="zh-CN" altLang="de-DE" b="1"/>
              <a:t>中给 </a:t>
            </a:r>
            <a:r>
              <a:rPr lang="de-DE" altLang="zh-CN" b="1"/>
              <a:t>OB </a:t>
            </a:r>
            <a:r>
              <a:rPr lang="zh-CN" altLang="de-DE" b="1"/>
              <a:t>指定过程映像区段 </a:t>
            </a:r>
            <a:r>
              <a:rPr lang="zh-CN" altLang="de-DE"/>
              <a:t>（例如</a:t>
            </a:r>
            <a:r>
              <a:rPr lang="de-DE" altLang="zh-CN"/>
              <a:t> OB32&lt;-&gt;PIP1, OB35&lt;-&gt;PIP2, OBxx&lt;-&gt;PIPn n=1...16 </a:t>
            </a:r>
            <a:r>
              <a:rPr lang="zh-CN" altLang="de-DE"/>
              <a:t>取决于</a:t>
            </a:r>
            <a:r>
              <a:rPr lang="de-DE" altLang="zh-CN"/>
              <a:t>CPU</a:t>
            </a:r>
            <a:r>
              <a:rPr lang="zh-CN" altLang="de-DE"/>
              <a:t>），</a:t>
            </a:r>
            <a:r>
              <a:rPr lang="zh-CN" altLang="de-DE" b="1"/>
              <a:t>同时在单独 </a:t>
            </a:r>
            <a:r>
              <a:rPr lang="de-DE" altLang="zh-CN" b="1"/>
              <a:t>I/O </a:t>
            </a:r>
            <a:r>
              <a:rPr lang="zh-CN" altLang="de-DE" b="1"/>
              <a:t>模块的属性中要指定一个合适的 </a:t>
            </a:r>
            <a:r>
              <a:rPr lang="de-DE" altLang="zh-CN" b="1"/>
              <a:t>PIP </a:t>
            </a:r>
            <a:r>
              <a:rPr lang="zh-CN" altLang="de-DE" b="1"/>
              <a:t>。</a:t>
            </a:r>
          </a:p>
          <a:p>
            <a:pPr eaLnBrk="1" hangingPunct="1"/>
            <a:r>
              <a:rPr lang="zh-CN" altLang="de-DE" b="1"/>
              <a:t>	驱动元件</a:t>
            </a:r>
            <a:r>
              <a:rPr lang="zh-CN" altLang="de-DE"/>
              <a:t>  </a:t>
            </a:r>
            <a:r>
              <a:rPr lang="zh-CN" altLang="de-DE" b="1"/>
              <a:t>在 </a:t>
            </a:r>
            <a:r>
              <a:rPr lang="de-DE" altLang="zh-CN" b="1"/>
              <a:t>PCS 7 </a:t>
            </a:r>
            <a:r>
              <a:rPr lang="zh-CN" altLang="de-DE" b="1"/>
              <a:t>软件中用驱动元件 </a:t>
            </a:r>
            <a:r>
              <a:rPr lang="de-DE" altLang="zh-CN"/>
              <a:t>Driver blocks </a:t>
            </a:r>
            <a:r>
              <a:rPr lang="zh-CN" altLang="de-DE"/>
              <a:t>来读取过程数据输入</a:t>
            </a:r>
            <a:r>
              <a:rPr lang="de-DE" altLang="zh-CN"/>
              <a:t>/</a:t>
            </a:r>
            <a:r>
              <a:rPr lang="zh-CN" altLang="de-DE"/>
              <a:t>输出。</a:t>
            </a:r>
          </a:p>
          <a:p>
            <a:pPr eaLnBrk="1" hangingPunct="1"/>
            <a:r>
              <a:rPr lang="zh-CN" altLang="de-DE" b="1"/>
              <a:t>	这些驱动元件必须在同一个 </a:t>
            </a:r>
            <a:r>
              <a:rPr lang="de-DE" altLang="zh-CN" b="1"/>
              <a:t>OB </a:t>
            </a:r>
            <a:r>
              <a:rPr lang="zh-CN" altLang="de-DE" b="1"/>
              <a:t>中运行 ，同时该 </a:t>
            </a:r>
            <a:r>
              <a:rPr lang="de-DE" altLang="zh-CN" b="1"/>
              <a:t>OB </a:t>
            </a:r>
            <a:r>
              <a:rPr lang="zh-CN" altLang="de-DE" b="1"/>
              <a:t>也更新扫描  </a:t>
            </a:r>
            <a:r>
              <a:rPr lang="de-DE" altLang="zh-CN" b="1"/>
              <a:t>I/O </a:t>
            </a:r>
            <a:r>
              <a:rPr lang="zh-CN" altLang="de-DE" b="1"/>
              <a:t>模块的 </a:t>
            </a:r>
            <a:r>
              <a:rPr lang="de-DE" altLang="zh-CN" b="1"/>
              <a:t>PIP</a:t>
            </a:r>
            <a:r>
              <a:rPr lang="zh-CN" altLang="de-DE" b="1"/>
              <a:t>。</a:t>
            </a:r>
          </a:p>
          <a:p>
            <a:pPr eaLnBrk="1" hangingPunct="1"/>
            <a:r>
              <a:rPr lang="zh-CN" altLang="de-DE"/>
              <a:t>注意 	在模块间信号配线对于区分慢信号和快信号十分有用。一个指定 </a:t>
            </a:r>
            <a:r>
              <a:rPr lang="de-DE" altLang="zh-CN"/>
              <a:t>PIP </a:t>
            </a:r>
            <a:r>
              <a:rPr lang="zh-CN" altLang="de-DE"/>
              <a:t>的模块能够为软件足够快的传送信号，使其保持最快连接信号的过程更新。如果在模块上信号混合，会导致快速地读取慢信号，这样计算时间就被浪费了。</a:t>
            </a:r>
          </a:p>
          <a:p>
            <a:pPr eaLnBrk="1" hangingPunct="1"/>
            <a:r>
              <a:rPr lang="zh-CN" altLang="de-DE" b="1"/>
              <a:t>记住	如果数据量大，速度就不会快。</a:t>
            </a:r>
          </a:p>
          <a:p>
            <a:pPr eaLnBrk="1" hangingPunct="1"/>
            <a:r>
              <a:rPr lang="zh-CN" altLang="de-DE" b="1"/>
              <a:t>	速度要快，数据量就不能大。</a:t>
            </a:r>
          </a:p>
          <a:p>
            <a:pPr eaLnBrk="1" hangingPunct="1"/>
            <a:r>
              <a:rPr lang="de-DE" altLang="zh-CN" b="1"/>
              <a:t>	CPU </a:t>
            </a:r>
            <a:r>
              <a:rPr lang="zh-CN" altLang="de-DE" b="1"/>
              <a:t>不能一直处于过载的工作状态。</a:t>
            </a:r>
          </a:p>
          <a:p>
            <a:pPr eaLnBrk="1" hangingPunct="1"/>
            <a:r>
              <a:rPr lang="de-DE" altLang="zh-CN" b="1"/>
              <a:t>	</a:t>
            </a:r>
            <a:r>
              <a:rPr lang="zh-CN" altLang="de-DE" b="1"/>
              <a:t>一段有限的，编程的时间以后 </a:t>
            </a:r>
            <a:r>
              <a:rPr lang="de-DE" altLang="zh-CN" b="1"/>
              <a:t>CPU </a:t>
            </a:r>
            <a:r>
              <a:rPr lang="zh-CN" altLang="de-DE" b="1"/>
              <a:t>停止</a:t>
            </a:r>
            <a:r>
              <a:rPr lang="de-DE" altLang="zh-CN" b="1"/>
              <a:t>！</a:t>
            </a:r>
          </a:p>
          <a:p>
            <a:pPr eaLnBrk="1" hangingPunct="1"/>
            <a:endParaRPr lang="de-DE" altLang="zh-CN"/>
          </a:p>
          <a:p>
            <a:pPr eaLnBrk="1" hangingPunct="1"/>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70671E19-4D25-69F7-68AB-CAD4D199061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108A514-511E-4C20-B9F2-FC65CE9E638B}" type="slidenum">
              <a:rPr lang="en-US" altLang="zh-CN" smtClean="0"/>
              <a:pPr/>
              <a:t>74</a:t>
            </a:fld>
            <a:endParaRPr lang="en-US" altLang="zh-CN"/>
          </a:p>
        </p:txBody>
      </p:sp>
      <p:sp>
        <p:nvSpPr>
          <p:cNvPr id="126979" name="Rectangle 2">
            <a:extLst>
              <a:ext uri="{FF2B5EF4-FFF2-40B4-BE49-F238E27FC236}">
                <a16:creationId xmlns:a16="http://schemas.microsoft.com/office/drawing/2014/main" id="{4212AA41-DEFD-2232-9DA7-059741B03AA9}"/>
              </a:ext>
            </a:extLst>
          </p:cNvPr>
          <p:cNvSpPr>
            <a:spLocks noGrp="1" noRot="1" noChangeAspect="1" noChangeArrowheads="1" noTextEdit="1"/>
          </p:cNvSpPr>
          <p:nvPr>
            <p:ph type="sldImg"/>
          </p:nvPr>
        </p:nvSpPr>
        <p:spPr>
          <a:ln/>
        </p:spPr>
      </p:sp>
      <p:sp>
        <p:nvSpPr>
          <p:cNvPr id="126980" name="Rectangle 3">
            <a:extLst>
              <a:ext uri="{FF2B5EF4-FFF2-40B4-BE49-F238E27FC236}">
                <a16:creationId xmlns:a16="http://schemas.microsoft.com/office/drawing/2014/main" id="{F9C2096B-7E6B-0B96-C7D1-9C1D9EC5390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de-DE"/>
              <a:t>过程映像   	</a:t>
            </a:r>
            <a:r>
              <a:rPr lang="de-DE" altLang="zh-CN"/>
              <a:t>DP </a:t>
            </a:r>
            <a:r>
              <a:rPr lang="zh-CN" altLang="de-DE"/>
              <a:t>主站（</a:t>
            </a:r>
            <a:r>
              <a:rPr lang="de-DE" altLang="zh-CN"/>
              <a:t>CP</a:t>
            </a:r>
            <a:r>
              <a:rPr lang="zh-CN" altLang="de-DE"/>
              <a:t>或</a:t>
            </a:r>
            <a:r>
              <a:rPr lang="de-DE" altLang="zh-CN"/>
              <a:t>CPU</a:t>
            </a:r>
            <a:r>
              <a:rPr lang="zh-CN" altLang="de-DE"/>
              <a:t>上的集成</a:t>
            </a:r>
            <a:r>
              <a:rPr lang="de-DE" altLang="zh-CN"/>
              <a:t>DP</a:t>
            </a:r>
            <a:r>
              <a:rPr lang="zh-CN" altLang="de-DE"/>
              <a:t>接口）循环扫描</a:t>
            </a:r>
            <a:r>
              <a:rPr lang="de-DE" altLang="zh-CN"/>
              <a:t>PROFIBUS DP </a:t>
            </a:r>
            <a:r>
              <a:rPr lang="zh-CN" altLang="de-DE"/>
              <a:t>组件（幻灯片中环形箭头</a:t>
            </a:r>
            <a:r>
              <a:rPr lang="de-DE" altLang="zh-CN"/>
              <a:t>1</a:t>
            </a:r>
            <a:r>
              <a:rPr lang="zh-CN" altLang="de-DE"/>
              <a:t>）。这个过程中它把数据传送给从站（例如</a:t>
            </a:r>
            <a:r>
              <a:rPr lang="de-DE" altLang="zh-CN"/>
              <a:t>ET200M</a:t>
            </a:r>
            <a:r>
              <a:rPr lang="zh-CN" altLang="de-DE"/>
              <a:t>用于传送到输出模块）并从从站中回读数据（那些从输入模块中获得的）。数据传输通过一个</a:t>
            </a:r>
            <a:r>
              <a:rPr lang="de-DE" altLang="zh-CN"/>
              <a:t>IM </a:t>
            </a:r>
            <a:r>
              <a:rPr lang="zh-CN" altLang="de-DE"/>
              <a:t>内部缓冲器。</a:t>
            </a:r>
          </a:p>
          <a:p>
            <a:pPr eaLnBrk="1" hangingPunct="1"/>
            <a:endParaRPr lang="de-DE" altLang="zh-CN"/>
          </a:p>
          <a:p>
            <a:pPr eaLnBrk="1" hangingPunct="1"/>
            <a:r>
              <a:rPr lang="de-DE" altLang="zh-CN"/>
              <a:t>Trt    	</a:t>
            </a:r>
            <a:r>
              <a:rPr lang="zh-CN" altLang="de-DE"/>
              <a:t>目标旋转时间</a:t>
            </a:r>
          </a:p>
          <a:p>
            <a:pPr eaLnBrk="1" hangingPunct="1"/>
            <a:r>
              <a:rPr lang="zh-CN" altLang="de-DE"/>
              <a:t>	在每一个循环中 </a:t>
            </a:r>
            <a:r>
              <a:rPr lang="de-DE" altLang="zh-CN"/>
              <a:t>DP </a:t>
            </a:r>
            <a:r>
              <a:rPr lang="zh-CN" altLang="de-DE"/>
              <a:t>主站向它所有的从站写入数值</a:t>
            </a:r>
            <a:r>
              <a:rPr lang="de-DE" altLang="zh-CN"/>
              <a:t>/</a:t>
            </a:r>
            <a:r>
              <a:rPr lang="zh-CN" altLang="de-DE"/>
              <a:t>从从站中读取。缓冲器内容形成了一个输入和输出模块的映像。循环时期称为 </a:t>
            </a:r>
            <a:r>
              <a:rPr lang="de-DE" altLang="zh-CN"/>
              <a:t>TRT </a:t>
            </a:r>
            <a:r>
              <a:rPr lang="zh-CN" altLang="de-DE" b="1"/>
              <a:t>目标旋转时间（</a:t>
            </a:r>
            <a:r>
              <a:rPr lang="de-DE" altLang="zh-CN" b="1"/>
              <a:t>target rotation time</a:t>
            </a:r>
            <a:r>
              <a:rPr lang="zh-CN" altLang="de-DE" b="1"/>
              <a:t>）</a:t>
            </a:r>
            <a:r>
              <a:rPr lang="zh-CN" altLang="de-DE"/>
              <a:t>，显示在 </a:t>
            </a:r>
            <a:r>
              <a:rPr lang="de-DE" altLang="zh-CN"/>
              <a:t>Cir </a:t>
            </a:r>
            <a:r>
              <a:rPr lang="zh-CN" altLang="de-DE"/>
              <a:t>的对象或 </a:t>
            </a:r>
            <a:r>
              <a:rPr lang="de-DE" altLang="zh-CN"/>
              <a:t>IM153 </a:t>
            </a:r>
            <a:r>
              <a:rPr lang="zh-CN" altLang="de-DE"/>
              <a:t>的属性中。</a:t>
            </a:r>
            <a:r>
              <a:rPr lang="de-DE" altLang="zh-CN"/>
              <a:t>DP </a:t>
            </a:r>
            <a:r>
              <a:rPr lang="zh-CN" altLang="de-DE"/>
              <a:t>的更新循环独立于 </a:t>
            </a:r>
            <a:r>
              <a:rPr lang="de-DE" altLang="zh-CN"/>
              <a:t>CPU </a:t>
            </a:r>
            <a:r>
              <a:rPr lang="zh-CN" altLang="de-DE"/>
              <a:t>程序而运行，但是速度必须至少同处理过程值的最快的程序的速度一样快。</a:t>
            </a:r>
          </a:p>
          <a:p>
            <a:pPr eaLnBrk="1" hangingPunct="1"/>
            <a:r>
              <a:rPr lang="zh-CN" altLang="de-DE"/>
              <a:t>      	为了评价用户程序，来自操作系统的临时储存输入数据在定义点处及时复制，从缓冲器复制到 </a:t>
            </a:r>
            <a:r>
              <a:rPr lang="de-DE" altLang="zh-CN"/>
              <a:t>CPU </a:t>
            </a:r>
            <a:r>
              <a:rPr lang="zh-CN" altLang="de-DE"/>
              <a:t>存储区</a:t>
            </a:r>
            <a:r>
              <a:rPr lang="de-DE" altLang="zh-CN"/>
              <a:t>/</a:t>
            </a:r>
            <a:r>
              <a:rPr lang="zh-CN" altLang="de-DE"/>
              <a:t>输出数据从存储区回写到缓冲器。通过访问 “</a:t>
            </a:r>
            <a:r>
              <a:rPr lang="de-DE" altLang="zh-CN" b="1"/>
              <a:t>process image“ </a:t>
            </a:r>
            <a:r>
              <a:rPr lang="zh-CN" altLang="de-DE" b="1"/>
              <a:t>过程映像的存储区，</a:t>
            </a:r>
            <a:r>
              <a:rPr lang="zh-CN" altLang="de-DE"/>
              <a:t>程序可以进行读（</a:t>
            </a:r>
            <a:r>
              <a:rPr lang="de-DE" altLang="zh-CN"/>
              <a:t>i</a:t>
            </a:r>
            <a:r>
              <a:rPr lang="zh-CN" altLang="de-DE"/>
              <a:t>）和写（</a:t>
            </a:r>
            <a:r>
              <a:rPr lang="de-DE" altLang="zh-CN"/>
              <a:t>o</a:t>
            </a:r>
            <a:r>
              <a:rPr lang="zh-CN" altLang="de-DE"/>
              <a:t>）。</a:t>
            </a:r>
          </a:p>
          <a:p>
            <a:pPr eaLnBrk="1" hangingPunct="1"/>
            <a:r>
              <a:rPr lang="zh-CN" altLang="de-DE"/>
              <a:t>同步 	这可以确保程序和处理数据的工作一致性 ，这意味着操作系统必须更新输入过程映像并在开始程序进行冻结。在程序执行完和命令写入输出过程映像之后，输出映像要传送到 </a:t>
            </a:r>
            <a:r>
              <a:rPr lang="de-DE" altLang="zh-CN"/>
              <a:t>DP </a:t>
            </a:r>
            <a:r>
              <a:rPr lang="zh-CN" altLang="de-DE"/>
              <a:t>主站。然而，因为过程信号和他们相关的处理操作时伴随着可选重复时期（慢</a:t>
            </a:r>
            <a:r>
              <a:rPr lang="de-DE" altLang="zh-CN"/>
              <a:t>/</a:t>
            </a:r>
            <a:r>
              <a:rPr lang="zh-CN" altLang="de-DE"/>
              <a:t>快进程），这也需要进行同步来匹配。</a:t>
            </a:r>
          </a:p>
          <a:p>
            <a:pPr eaLnBrk="1" hangingPunct="1"/>
            <a:r>
              <a:rPr lang="zh-CN" altLang="de-DE"/>
              <a:t>过程映像区段</a:t>
            </a:r>
            <a:r>
              <a:rPr lang="zh-CN" altLang="de-DE" b="1"/>
              <a:t> 	</a:t>
            </a:r>
            <a:r>
              <a:rPr lang="de-DE" altLang="zh-CN"/>
              <a:t>CPU </a:t>
            </a:r>
            <a:r>
              <a:rPr lang="zh-CN" altLang="de-DE"/>
              <a:t>提供给对象不同的速度来执行程序，用户可以在 </a:t>
            </a:r>
            <a:r>
              <a:rPr lang="de-DE" altLang="zh-CN" b="1"/>
              <a:t>CPU </a:t>
            </a:r>
            <a:r>
              <a:rPr lang="zh-CN" altLang="de-DE" b="1"/>
              <a:t>属性</a:t>
            </a:r>
            <a:r>
              <a:rPr lang="de-DE" altLang="zh-CN" b="1"/>
              <a:t>- PIPn </a:t>
            </a:r>
            <a:r>
              <a:rPr lang="zh-CN" altLang="de-DE" b="1"/>
              <a:t>中给 </a:t>
            </a:r>
            <a:r>
              <a:rPr lang="de-DE" altLang="zh-CN" b="1"/>
              <a:t>OB </a:t>
            </a:r>
            <a:r>
              <a:rPr lang="zh-CN" altLang="de-DE" b="1"/>
              <a:t>指定过程映像区段 </a:t>
            </a:r>
            <a:r>
              <a:rPr lang="zh-CN" altLang="de-DE"/>
              <a:t>（例如</a:t>
            </a:r>
            <a:r>
              <a:rPr lang="de-DE" altLang="zh-CN"/>
              <a:t> OB32&lt;-&gt;PIP1, OB35&lt;-&gt;PIP2, OBxx&lt;-&gt;PIPn n=1...16 </a:t>
            </a:r>
            <a:r>
              <a:rPr lang="zh-CN" altLang="de-DE"/>
              <a:t>取决于</a:t>
            </a:r>
            <a:r>
              <a:rPr lang="de-DE" altLang="zh-CN"/>
              <a:t>CPU</a:t>
            </a:r>
            <a:r>
              <a:rPr lang="zh-CN" altLang="de-DE"/>
              <a:t>），</a:t>
            </a:r>
            <a:r>
              <a:rPr lang="zh-CN" altLang="de-DE" b="1"/>
              <a:t>同时在单独 </a:t>
            </a:r>
            <a:r>
              <a:rPr lang="de-DE" altLang="zh-CN" b="1"/>
              <a:t>I/O </a:t>
            </a:r>
            <a:r>
              <a:rPr lang="zh-CN" altLang="de-DE" b="1"/>
              <a:t>模块的属性中要指定一个合适的 </a:t>
            </a:r>
            <a:r>
              <a:rPr lang="de-DE" altLang="zh-CN" b="1"/>
              <a:t>PIP </a:t>
            </a:r>
            <a:r>
              <a:rPr lang="zh-CN" altLang="de-DE" b="1"/>
              <a:t>。</a:t>
            </a:r>
          </a:p>
          <a:p>
            <a:pPr eaLnBrk="1" hangingPunct="1"/>
            <a:r>
              <a:rPr lang="zh-CN" altLang="de-DE" b="1"/>
              <a:t>	驱动元件</a:t>
            </a:r>
            <a:r>
              <a:rPr lang="zh-CN" altLang="de-DE"/>
              <a:t>  </a:t>
            </a:r>
            <a:r>
              <a:rPr lang="zh-CN" altLang="de-DE" b="1"/>
              <a:t>在 </a:t>
            </a:r>
            <a:r>
              <a:rPr lang="de-DE" altLang="zh-CN" b="1"/>
              <a:t>PCS 7 </a:t>
            </a:r>
            <a:r>
              <a:rPr lang="zh-CN" altLang="de-DE" b="1"/>
              <a:t>软件中用驱动元件 </a:t>
            </a:r>
            <a:r>
              <a:rPr lang="de-DE" altLang="zh-CN"/>
              <a:t>Driver blocks </a:t>
            </a:r>
            <a:r>
              <a:rPr lang="zh-CN" altLang="de-DE"/>
              <a:t>来读取过程数据输入</a:t>
            </a:r>
            <a:r>
              <a:rPr lang="de-DE" altLang="zh-CN"/>
              <a:t>/</a:t>
            </a:r>
            <a:r>
              <a:rPr lang="zh-CN" altLang="de-DE"/>
              <a:t>输出。</a:t>
            </a:r>
          </a:p>
          <a:p>
            <a:pPr eaLnBrk="1" hangingPunct="1"/>
            <a:r>
              <a:rPr lang="zh-CN" altLang="de-DE" b="1"/>
              <a:t>	这些驱动元件必须在同一个 </a:t>
            </a:r>
            <a:r>
              <a:rPr lang="de-DE" altLang="zh-CN" b="1"/>
              <a:t>OB </a:t>
            </a:r>
            <a:r>
              <a:rPr lang="zh-CN" altLang="de-DE" b="1"/>
              <a:t>中运行 ，同时该 </a:t>
            </a:r>
            <a:r>
              <a:rPr lang="de-DE" altLang="zh-CN" b="1"/>
              <a:t>OB </a:t>
            </a:r>
            <a:r>
              <a:rPr lang="zh-CN" altLang="de-DE" b="1"/>
              <a:t>也更新扫描  </a:t>
            </a:r>
            <a:r>
              <a:rPr lang="de-DE" altLang="zh-CN" b="1"/>
              <a:t>I/O </a:t>
            </a:r>
            <a:r>
              <a:rPr lang="zh-CN" altLang="de-DE" b="1"/>
              <a:t>模块的 </a:t>
            </a:r>
            <a:r>
              <a:rPr lang="de-DE" altLang="zh-CN" b="1"/>
              <a:t>PIP</a:t>
            </a:r>
            <a:r>
              <a:rPr lang="zh-CN" altLang="de-DE" b="1"/>
              <a:t>。</a:t>
            </a:r>
          </a:p>
          <a:p>
            <a:pPr eaLnBrk="1" hangingPunct="1"/>
            <a:r>
              <a:rPr lang="zh-CN" altLang="de-DE"/>
              <a:t>注意 	在模块间信号配线对于区分慢信号和快信号十分有用。一个指定 </a:t>
            </a:r>
            <a:r>
              <a:rPr lang="de-DE" altLang="zh-CN"/>
              <a:t>PIP </a:t>
            </a:r>
            <a:r>
              <a:rPr lang="zh-CN" altLang="de-DE"/>
              <a:t>的模块能够为软件足够快的传送信号，使其保持最快连接信号的过程更新。如果在模块上信号混合，会导致快速地读取慢信号，这样计算时间就被浪费了。</a:t>
            </a:r>
          </a:p>
          <a:p>
            <a:pPr eaLnBrk="1" hangingPunct="1"/>
            <a:r>
              <a:rPr lang="zh-CN" altLang="de-DE" b="1"/>
              <a:t>记住	如果数据量大，速度就不会快。</a:t>
            </a:r>
          </a:p>
          <a:p>
            <a:pPr eaLnBrk="1" hangingPunct="1"/>
            <a:r>
              <a:rPr lang="zh-CN" altLang="de-DE" b="1"/>
              <a:t>	速度要快，数据量就不能大。</a:t>
            </a:r>
          </a:p>
          <a:p>
            <a:pPr eaLnBrk="1" hangingPunct="1"/>
            <a:r>
              <a:rPr lang="de-DE" altLang="zh-CN" b="1"/>
              <a:t>	CPU </a:t>
            </a:r>
            <a:r>
              <a:rPr lang="zh-CN" altLang="de-DE" b="1"/>
              <a:t>不能一直处于过载的工作状态。</a:t>
            </a:r>
          </a:p>
          <a:p>
            <a:pPr eaLnBrk="1" hangingPunct="1"/>
            <a:r>
              <a:rPr lang="de-DE" altLang="zh-CN" b="1"/>
              <a:t>	</a:t>
            </a:r>
            <a:r>
              <a:rPr lang="zh-CN" altLang="de-DE" b="1"/>
              <a:t>一段有限的，编程的时间以后 </a:t>
            </a:r>
            <a:r>
              <a:rPr lang="de-DE" altLang="zh-CN" b="1"/>
              <a:t>CPU </a:t>
            </a:r>
            <a:r>
              <a:rPr lang="zh-CN" altLang="de-DE" b="1"/>
              <a:t>停止</a:t>
            </a:r>
            <a:r>
              <a:rPr lang="de-DE" altLang="zh-CN" b="1"/>
              <a:t>！</a:t>
            </a:r>
          </a:p>
          <a:p>
            <a:pPr eaLnBrk="1" hangingPunct="1"/>
            <a:endParaRPr lang="de-DE" altLang="zh-CN"/>
          </a:p>
          <a:p>
            <a:pPr eaLnBrk="1" hangingPunct="1"/>
            <a:endParaRPr lang="en-US" altLang="zh-CN"/>
          </a:p>
        </p:txBody>
      </p:sp>
    </p:spTree>
    <p:extLst>
      <p:ext uri="{BB962C8B-B14F-4D97-AF65-F5344CB8AC3E}">
        <p14:creationId xmlns:p14="http://schemas.microsoft.com/office/powerpoint/2010/main" val="3641323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endParaRPr lang="zh-CN" altLang="zh-CN"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grpSp>
      </p:grpSp>
      <p:sp>
        <p:nvSpPr>
          <p:cNvPr id="27667"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zh-CN" altLang="en-US" noProof="0"/>
              <a:t>单击此处编辑母版标题样式</a:t>
            </a:r>
          </a:p>
        </p:txBody>
      </p:sp>
      <p:sp>
        <p:nvSpPr>
          <p:cNvPr id="27668"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zh-CN" altLang="en-US" noProof="0"/>
              <a:t>单击此处编辑母版副标题样式</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p>
        </p:txBody>
      </p:sp>
      <p:sp>
        <p:nvSpPr>
          <p:cNvPr id="19" name="Rectangle 17"/>
          <p:cNvSpPr>
            <a:spLocks noGrp="1" noChangeArrowheads="1"/>
          </p:cNvSpPr>
          <p:nvPr>
            <p:ph type="ftr" sz="quarter" idx="11"/>
          </p:nvPr>
        </p:nvSpPr>
        <p:spPr/>
        <p:txBody>
          <a:bodyPr/>
          <a:lstStyle>
            <a:lvl1pPr>
              <a:defRPr/>
            </a:lvl1pPr>
          </a:lstStyle>
          <a:p>
            <a:pPr>
              <a:defRPr/>
            </a:pPr>
            <a:endParaRPr lang="en-US" altLang="zh-CN"/>
          </a:p>
        </p:txBody>
      </p:sp>
      <p:sp>
        <p:nvSpPr>
          <p:cNvPr id="20" name="Rectangle 18"/>
          <p:cNvSpPr>
            <a:spLocks noGrp="1" noChangeArrowheads="1"/>
          </p:cNvSpPr>
          <p:nvPr>
            <p:ph type="sldNum" sz="quarter" idx="12"/>
          </p:nvPr>
        </p:nvSpPr>
        <p:spPr/>
        <p:txBody>
          <a:bodyPr/>
          <a:lstStyle>
            <a:lvl1pPr>
              <a:defRPr/>
            </a:lvl1pPr>
          </a:lstStyle>
          <a:p>
            <a:pPr>
              <a:defRPr/>
            </a:pPr>
            <a:fld id="{7A903762-9D27-4839-9889-B0631774EB60}" type="slidenum">
              <a:rPr lang="en-US" altLang="zh-CN"/>
              <a:pPr>
                <a:defRPr/>
              </a:pPr>
              <a:t>‹#›</a:t>
            </a:fld>
            <a:endParaRPr lang="en-US" altLang="zh-CN"/>
          </a:p>
        </p:txBody>
      </p:sp>
    </p:spTree>
    <p:extLst>
      <p:ext uri="{BB962C8B-B14F-4D97-AF65-F5344CB8AC3E}">
        <p14:creationId xmlns:p14="http://schemas.microsoft.com/office/powerpoint/2010/main" val="285213228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738000"/>
          </a:xfrm>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18714E88-3826-4BA2-9B11-F0A359B5A701}" type="slidenum">
              <a:rPr lang="en-US" altLang="zh-CN"/>
              <a:pPr>
                <a:defRPr/>
              </a:pPr>
              <a:t>‹#›</a:t>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04688314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663B02E4-E9B9-4DD3-A203-913BB1394AEA}" type="slidenum">
              <a:rPr lang="en-US" altLang="zh-CN"/>
              <a:pPr>
                <a:defRPr/>
              </a:pPr>
              <a:t>‹#›</a:t>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262801879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738000"/>
          </a:xfrm>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F7A09E50-C70E-4D39-B40C-CB2454FE4FF2}" type="slidenum">
              <a:rPr lang="en-US" altLang="zh-CN"/>
              <a:pPr>
                <a:defRPr/>
              </a:pPr>
              <a:t>‹#›</a:t>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13144207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38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p:txBody>
          <a:bodyPr/>
          <a:lstStyle>
            <a:lvl1pPr>
              <a:defRPr/>
            </a:lvl1pPr>
          </a:lstStyle>
          <a:p>
            <a:pPr>
              <a:defRPr/>
            </a:pPr>
            <a:fld id="{6CE92B5B-F02F-4B87-99E5-58DC7E9207B1}" type="slidenum">
              <a:rPr lang="en-US" altLang="zh-CN"/>
              <a:pPr>
                <a:defRPr/>
              </a:pPr>
              <a:t>‹#›</a:t>
            </a:fld>
            <a:endParaRPr lang="en-US" altLang="zh-CN"/>
          </a:p>
        </p:txBody>
      </p:sp>
      <p:sp>
        <p:nvSpPr>
          <p:cNvPr id="9"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02428086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738000"/>
          </a:xfrm>
        </p:spPr>
        <p:txBody>
          <a:bodyPr/>
          <a:lstStyle/>
          <a:p>
            <a:r>
              <a:rPr lang="zh-CN" altLang="en-US"/>
              <a:t>单击此处编辑母版标题样式</a:t>
            </a:r>
          </a:p>
        </p:txBody>
      </p:sp>
      <p:sp>
        <p:nvSpPr>
          <p:cNvPr id="3" name="Rectangle 2"/>
          <p:cNvSpPr>
            <a:spLocks noGrp="1" noChangeArrowheads="1"/>
          </p:cNvSpPr>
          <p:nvPr>
            <p:ph type="ftr" sz="quarter" idx="10"/>
          </p:nvPr>
        </p:nvSpPr>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p:txBody>
          <a:bodyPr/>
          <a:lstStyle>
            <a:lvl1pPr>
              <a:defRPr/>
            </a:lvl1pPr>
          </a:lstStyle>
          <a:p>
            <a:pPr>
              <a:defRPr/>
            </a:pPr>
            <a:fld id="{D2EAD7FA-84D7-4F4B-8433-48DB21063946}" type="slidenum">
              <a:rPr lang="en-US" altLang="zh-CN"/>
              <a:pPr>
                <a:defRPr/>
              </a:pPr>
              <a:t>‹#›</a:t>
            </a:fld>
            <a:endParaRPr lang="en-US" altLang="zh-CN"/>
          </a:p>
        </p:txBody>
      </p:sp>
      <p:sp>
        <p:nvSpPr>
          <p:cNvPr id="5"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189662196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p:txBody>
          <a:bodyPr/>
          <a:lstStyle>
            <a:lvl1pPr>
              <a:defRPr/>
            </a:lvl1pPr>
          </a:lstStyle>
          <a:p>
            <a:pPr>
              <a:defRPr/>
            </a:pPr>
            <a:fld id="{382CF834-C62A-4A46-A27D-DE5AF7396277}" type="slidenum">
              <a:rPr lang="en-US" altLang="zh-CN"/>
              <a:pPr>
                <a:defRPr/>
              </a:pPr>
              <a:t>‹#›</a:t>
            </a:fld>
            <a:endParaRPr lang="en-US" altLang="zh-CN"/>
          </a:p>
        </p:txBody>
      </p:sp>
      <p:sp>
        <p:nvSpPr>
          <p:cNvPr id="4"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258282033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E90B1C60-04EC-4E52-9C87-2B1AEAA117A7}" type="slidenum">
              <a:rPr lang="en-US" altLang="zh-CN"/>
              <a:pPr>
                <a:defRPr/>
              </a:pPr>
              <a:t>‹#›</a:t>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97949170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0CFFD6E8-03A9-4B46-B6D9-65D85165DAF6}" type="slidenum">
              <a:rPr lang="en-US" altLang="zh-CN"/>
              <a:pPr>
                <a:defRPr/>
              </a:pPr>
              <a:t>‹#›</a:t>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296765246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C3E9F67A-EF72-4578-81F7-74281051C972}" type="slidenum">
              <a:rPr lang="en-US" altLang="zh-CN"/>
              <a:pPr>
                <a:defRPr/>
              </a:pPr>
              <a:t>‹#›</a:t>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98240828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47A34DBE-2CE5-4A82-8657-8140BBA6BDDB}" type="slidenum">
              <a:rPr lang="en-US" altLang="zh-CN"/>
              <a:pPr>
                <a:defRPr/>
              </a:pPr>
              <a:t>‹#›</a:t>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1754094254"/>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39750" y="0"/>
            <a:ext cx="6408738" cy="981075"/>
          </a:xfrm>
        </p:spPr>
        <p:txBody>
          <a:bodyPr/>
          <a:lstStyle/>
          <a:p>
            <a:r>
              <a:rPr lang="zh-CN" altLang="en-US"/>
              <a:t>单击此处编辑母版标题样式</a:t>
            </a:r>
          </a:p>
        </p:txBody>
      </p:sp>
      <p:sp>
        <p:nvSpPr>
          <p:cNvPr id="3" name="文本占位符 2"/>
          <p:cNvSpPr>
            <a:spLocks noGrp="1"/>
          </p:cNvSpPr>
          <p:nvPr>
            <p:ph type="body" sz="half" idx="1"/>
          </p:nvPr>
        </p:nvSpPr>
        <p:spPr>
          <a:xfrm>
            <a:off x="539750" y="1196975"/>
            <a:ext cx="4027488" cy="51847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19638" y="1196975"/>
            <a:ext cx="4029075" cy="51847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5E0DF71-60ED-906F-8726-D3D0F00B98C1}"/>
              </a:ext>
            </a:extLst>
          </p:cNvPr>
          <p:cNvSpPr>
            <a:spLocks noGrp="1"/>
          </p:cNvSpPr>
          <p:nvPr>
            <p:ph type="dt" sz="half" idx="10"/>
          </p:nvPr>
        </p:nvSpPr>
        <p:spPr>
          <a:xfrm>
            <a:off x="900113" y="6530975"/>
            <a:ext cx="1981200" cy="327025"/>
          </a:xfrm>
        </p:spPr>
        <p:txBody>
          <a:bodyPr/>
          <a:lstStyle>
            <a:lvl1pPr>
              <a:defRPr/>
            </a:lvl1pPr>
          </a:lstStyle>
          <a:p>
            <a:pPr>
              <a:defRPr/>
            </a:pPr>
            <a:fld id="{03C8A7B4-4FA6-4614-8D9F-47D630FF746C}" type="datetime1">
              <a:rPr lang="zh-CN" altLang="en-US"/>
              <a:pPr>
                <a:defRPr/>
              </a:pPr>
              <a:t>2025/5/19</a:t>
            </a:fld>
            <a:endParaRPr lang="en-US" altLang="zh-CN"/>
          </a:p>
        </p:txBody>
      </p:sp>
      <p:sp>
        <p:nvSpPr>
          <p:cNvPr id="6" name="页脚占位符 5">
            <a:extLst>
              <a:ext uri="{FF2B5EF4-FFF2-40B4-BE49-F238E27FC236}">
                <a16:creationId xmlns:a16="http://schemas.microsoft.com/office/drawing/2014/main" id="{B2E085D2-437B-D88F-96FD-AF974E903C6D}"/>
              </a:ext>
            </a:extLst>
          </p:cNvPr>
          <p:cNvSpPr>
            <a:spLocks noGrp="1"/>
          </p:cNvSpPr>
          <p:nvPr>
            <p:ph type="ftr" sz="quarter" idx="11"/>
          </p:nvPr>
        </p:nvSpPr>
        <p:spPr>
          <a:xfrm>
            <a:off x="3276600" y="6534150"/>
            <a:ext cx="2971800" cy="323850"/>
          </a:xfrm>
        </p:spPr>
        <p:txBody>
          <a:bodyPr/>
          <a:lstStyle>
            <a:lvl1pPr>
              <a:defRPr/>
            </a:lvl1pPr>
          </a:lstStyle>
          <a:p>
            <a:pPr>
              <a:defRPr/>
            </a:pPr>
            <a:r>
              <a:rPr lang="en-US" altLang="zh-CN"/>
              <a:t>SIAS TRANING</a:t>
            </a:r>
          </a:p>
        </p:txBody>
      </p:sp>
      <p:sp>
        <p:nvSpPr>
          <p:cNvPr id="7" name="灯片编号占位符 6">
            <a:extLst>
              <a:ext uri="{FF2B5EF4-FFF2-40B4-BE49-F238E27FC236}">
                <a16:creationId xmlns:a16="http://schemas.microsoft.com/office/drawing/2014/main" id="{D0A4C3FC-212C-03E5-015F-4F7585B0A3FE}"/>
              </a:ext>
            </a:extLst>
          </p:cNvPr>
          <p:cNvSpPr>
            <a:spLocks noGrp="1"/>
          </p:cNvSpPr>
          <p:nvPr>
            <p:ph type="sldNum" sz="quarter" idx="12"/>
          </p:nvPr>
        </p:nvSpPr>
        <p:spPr>
          <a:xfrm>
            <a:off x="6877050" y="6534150"/>
            <a:ext cx="1905000" cy="323850"/>
          </a:xfrm>
        </p:spPr>
        <p:txBody>
          <a:bodyPr/>
          <a:lstStyle>
            <a:lvl1pPr>
              <a:defRPr/>
            </a:lvl1pPr>
          </a:lstStyle>
          <a:p>
            <a:pPr>
              <a:defRPr/>
            </a:pPr>
            <a:fld id="{90EF7520-91C1-4C0C-BD5A-A31B4DB1180A}" type="slidenum">
              <a:rPr lang="zh-CN" altLang="en-US"/>
              <a:pPr>
                <a:defRPr/>
              </a:pPr>
              <a:t>‹#›</a:t>
            </a:fld>
            <a:endParaRPr lang="en-US" altLang="zh-CN"/>
          </a:p>
        </p:txBody>
      </p:sp>
    </p:spTree>
    <p:extLst>
      <p:ext uri="{BB962C8B-B14F-4D97-AF65-F5344CB8AC3E}">
        <p14:creationId xmlns:p14="http://schemas.microsoft.com/office/powerpoint/2010/main" val="1484433300"/>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ltLang="zh-CN"/>
          </a:p>
        </p:txBody>
      </p:sp>
      <p:sp>
        <p:nvSpPr>
          <p:cNvPr id="26627"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pPr>
              <a:defRPr/>
            </a:pPr>
            <a:fld id="{199821A5-FC25-4A3D-ABB3-E9378ACD5C22}" type="slidenum">
              <a:rPr lang="en-US" altLang="zh-CN"/>
              <a:pPr>
                <a:defRPr/>
              </a:pPr>
              <a:t>‹#›</a:t>
            </a:fld>
            <a:endParaRPr lang="en-US" altLang="zh-CN"/>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endParaRPr lang="zh-CN" altLang="zh-CN" sz="240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6640"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 id="2147483862" r:id="rId12"/>
  </p:sldLayoutIdLst>
  <p:transition/>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xyhust@mail.hust.edu.cn" TargetMode="External"/><Relationship Id="rId2" Type="http://schemas.openxmlformats.org/officeDocument/2006/relationships/hyperlink" Target="mailto:wangzhuo@mail.hust"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7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5" Type="http://schemas.openxmlformats.org/officeDocument/2006/relationships/image" Target="../media/image63.jpeg"/><Relationship Id="rId4" Type="http://schemas.openxmlformats.org/officeDocument/2006/relationships/image" Target="../media/image62.jpe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64.emf"/></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65.e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66.emf"/></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67.emf"/></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68.emf"/></Relationships>
</file>

<file path=ppt/slides/_rels/slide8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a:xfrm>
            <a:off x="2555875" y="1828800"/>
            <a:ext cx="6435725" cy="2209800"/>
          </a:xfrm>
        </p:spPr>
        <p:txBody>
          <a:bodyPr/>
          <a:lstStyle/>
          <a:p>
            <a:pPr algn="ctr" eaLnBrk="1" hangingPunct="1"/>
            <a:r>
              <a:rPr lang="en-US" altLang="zh-CN" sz="5400" b="1" dirty="0">
                <a:ea typeface="华文新魏" panose="02010800040101010101" pitchFamily="2" charset="-122"/>
              </a:rPr>
              <a:t>09 DCS</a:t>
            </a:r>
            <a:r>
              <a:rPr lang="zh-CN" altLang="en-US" sz="5400" b="1" dirty="0">
                <a:ea typeface="华文新魏" panose="02010800040101010101" pitchFamily="2" charset="-122"/>
              </a:rPr>
              <a:t>硬件和软件</a:t>
            </a:r>
            <a:endParaRPr lang="zh-CN" altLang="en-US" sz="4400" b="1" dirty="0">
              <a:latin typeface="Brush Script MT" panose="03060802040406070304" pitchFamily="66" charset="0"/>
              <a:ea typeface="华文新魏" panose="02010800040101010101" pitchFamily="2" charset="-122"/>
            </a:endParaRPr>
          </a:p>
        </p:txBody>
      </p:sp>
      <p:sp>
        <p:nvSpPr>
          <p:cNvPr id="4" name="Text Box 4">
            <a:extLst>
              <a:ext uri="{FF2B5EF4-FFF2-40B4-BE49-F238E27FC236}">
                <a16:creationId xmlns:a16="http://schemas.microsoft.com/office/drawing/2014/main" id="{3F962ADE-4456-C448-8E03-D7B4101F0E10}"/>
              </a:ext>
            </a:extLst>
          </p:cNvPr>
          <p:cNvSpPr txBox="1">
            <a:spLocks noChangeArrowheads="1"/>
          </p:cNvSpPr>
          <p:nvPr/>
        </p:nvSpPr>
        <p:spPr bwMode="auto">
          <a:xfrm>
            <a:off x="152400" y="5292725"/>
            <a:ext cx="7731968" cy="1388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Tx/>
              <a:buNone/>
            </a:pPr>
            <a:r>
              <a:rPr lang="zh-CN" altLang="en-US" sz="1800" b="1" dirty="0"/>
              <a:t>主讲教师：刘振元  蒋建华</a:t>
            </a:r>
            <a:endParaRPr lang="en-US" altLang="zh-CN" sz="1800" b="1" dirty="0"/>
          </a:p>
          <a:p>
            <a:pPr eaLnBrk="1" hangingPunct="1">
              <a:lnSpc>
                <a:spcPct val="120000"/>
              </a:lnSpc>
              <a:spcBef>
                <a:spcPct val="0"/>
              </a:spcBef>
              <a:buClrTx/>
              <a:buSzTx/>
              <a:buFontTx/>
              <a:buNone/>
            </a:pPr>
            <a:r>
              <a:rPr lang="zh-CN" altLang="en-US" sz="1800" dirty="0"/>
              <a:t>联系电话：</a:t>
            </a:r>
            <a:r>
              <a:rPr lang="en-US" altLang="zh-CN" sz="1800" dirty="0"/>
              <a:t>13995552449</a:t>
            </a:r>
            <a:r>
              <a:rPr lang="zh-CN" altLang="en-US" sz="1800" dirty="0"/>
              <a:t>，</a:t>
            </a:r>
            <a:r>
              <a:rPr lang="en-US" altLang="zh-CN" sz="1800" dirty="0"/>
              <a:t>15827271233</a:t>
            </a:r>
          </a:p>
          <a:p>
            <a:pPr eaLnBrk="1" hangingPunct="1">
              <a:lnSpc>
                <a:spcPct val="120000"/>
              </a:lnSpc>
              <a:spcBef>
                <a:spcPct val="0"/>
              </a:spcBef>
              <a:buClrTx/>
              <a:buSzTx/>
              <a:buFontTx/>
              <a:buNone/>
            </a:pPr>
            <a:r>
              <a:rPr lang="zh-CN" altLang="en-US" sz="1800" dirty="0"/>
              <a:t>电子邮箱：</a:t>
            </a:r>
            <a:r>
              <a:rPr lang="en-US" altLang="zh-CN" sz="1800" u="sng" dirty="0" err="1"/>
              <a:t>jiangjh</a:t>
            </a:r>
            <a:r>
              <a:rPr lang="en-US" altLang="zh-CN" sz="1800" u="sng" dirty="0" err="1">
                <a:hlinkClick r:id="rId2"/>
              </a:rPr>
              <a:t>@</a:t>
            </a:r>
            <a:r>
              <a:rPr lang="en-US" altLang="zh-CN" sz="1800" dirty="0" err="1">
                <a:hlinkClick r:id="rId2"/>
              </a:rPr>
              <a:t>mail.hust</a:t>
            </a:r>
            <a:r>
              <a:rPr lang="en-US" altLang="zh-CN" sz="1800" dirty="0" err="1">
                <a:hlinkClick r:id="rId3"/>
              </a:rPr>
              <a:t>.edu.cn</a:t>
            </a:r>
            <a:r>
              <a:rPr lang="en-US" altLang="zh-CN" sz="1800" dirty="0"/>
              <a:t>   QQ</a:t>
            </a:r>
            <a:r>
              <a:rPr lang="zh-CN" altLang="en-US" sz="1800" dirty="0"/>
              <a:t>：</a:t>
            </a:r>
            <a:r>
              <a:rPr lang="en-US" altLang="zh-CN" sz="1800" dirty="0"/>
              <a:t>270281173</a:t>
            </a:r>
          </a:p>
          <a:p>
            <a:pPr eaLnBrk="1" hangingPunct="1">
              <a:lnSpc>
                <a:spcPct val="120000"/>
              </a:lnSpc>
              <a:spcBef>
                <a:spcPct val="0"/>
              </a:spcBef>
              <a:buClrTx/>
              <a:buSzTx/>
              <a:buFontTx/>
              <a:buNone/>
            </a:pPr>
            <a:r>
              <a:rPr lang="zh-CN" altLang="en-US" sz="1800" dirty="0"/>
              <a:t>办公地点：华中科技大学东二楼</a:t>
            </a:r>
            <a:r>
              <a:rPr lang="en-US" altLang="zh-CN" sz="1800" dirty="0"/>
              <a:t>309</a:t>
            </a:r>
            <a:r>
              <a:rPr lang="zh-CN" altLang="en-US" sz="1800" dirty="0"/>
              <a:t>室</a:t>
            </a:r>
            <a:endParaRPr lang="en-US" altLang="zh-CN" sz="18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DF77B812-1FA1-6740-958C-E72F7ADB05E7}"/>
              </a:ext>
            </a:extLst>
          </p:cNvPr>
          <p:cNvSpPr>
            <a:spLocks noGrp="1" noChangeArrowheads="1"/>
          </p:cNvSpPr>
          <p:nvPr>
            <p:ph type="title"/>
          </p:nvPr>
        </p:nvSpPr>
        <p:spPr/>
        <p:txBody>
          <a:bodyPr/>
          <a:lstStyle/>
          <a:p>
            <a:pPr eaLnBrk="1" hangingPunct="1"/>
            <a:r>
              <a:rPr lang="en-US" altLang="zh-CN" sz="3600" dirty="0"/>
              <a:t>09 DCS</a:t>
            </a:r>
            <a:r>
              <a:rPr lang="zh-CN" altLang="en-US" sz="3600" dirty="0"/>
              <a:t>硬件和软件</a:t>
            </a:r>
          </a:p>
        </p:txBody>
      </p:sp>
      <p:sp>
        <p:nvSpPr>
          <p:cNvPr id="4099" name="Rectangle 4">
            <a:extLst>
              <a:ext uri="{FF2B5EF4-FFF2-40B4-BE49-F238E27FC236}">
                <a16:creationId xmlns:a16="http://schemas.microsoft.com/office/drawing/2014/main" id="{7ABAD38F-5B7B-ECF9-4874-126C62FE091C}"/>
              </a:ext>
            </a:extLst>
          </p:cNvPr>
          <p:cNvSpPr>
            <a:spLocks noChangeArrowheads="1"/>
          </p:cNvSpPr>
          <p:nvPr/>
        </p:nvSpPr>
        <p:spPr bwMode="auto">
          <a:xfrm>
            <a:off x="381000" y="1600200"/>
            <a:ext cx="85344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t>1</a:t>
            </a:r>
            <a:r>
              <a:rPr lang="zh-CN" altLang="en-US" dirty="0"/>
              <a:t>、</a:t>
            </a:r>
            <a:r>
              <a:rPr lang="en-US" altLang="zh-CN" dirty="0"/>
              <a:t>DCS</a:t>
            </a:r>
            <a:r>
              <a:rPr lang="zh-CN" altLang="en-US" dirty="0"/>
              <a:t>的体系结构</a:t>
            </a:r>
          </a:p>
          <a:p>
            <a:pPr eaLnBrk="1" hangingPunct="1">
              <a:spcBef>
                <a:spcPct val="50000"/>
              </a:spcBef>
            </a:pPr>
            <a:r>
              <a:rPr lang="en-US" altLang="zh-CN" dirty="0"/>
              <a:t>2</a:t>
            </a:r>
            <a:r>
              <a:rPr lang="zh-CN" altLang="en-US" dirty="0"/>
              <a:t>、</a:t>
            </a:r>
            <a:r>
              <a:rPr lang="en-US" altLang="zh-CN" dirty="0"/>
              <a:t>DCS</a:t>
            </a:r>
            <a:r>
              <a:rPr lang="zh-CN" altLang="en-US" dirty="0"/>
              <a:t>的硬件</a:t>
            </a:r>
            <a:endParaRPr lang="en-US" altLang="zh-CN" dirty="0"/>
          </a:p>
          <a:p>
            <a:pPr eaLnBrk="1" hangingPunct="1">
              <a:spcBef>
                <a:spcPct val="50000"/>
              </a:spcBef>
            </a:pPr>
            <a:r>
              <a:rPr lang="en-US" altLang="zh-CN" dirty="0"/>
              <a:t>3</a:t>
            </a:r>
            <a:r>
              <a:rPr lang="zh-CN" altLang="en-US" dirty="0"/>
              <a:t>、</a:t>
            </a:r>
            <a:r>
              <a:rPr lang="en-US" altLang="zh-CN" dirty="0"/>
              <a:t>DCS</a:t>
            </a:r>
            <a:r>
              <a:rPr lang="zh-CN" altLang="en-US" dirty="0"/>
              <a:t>的软件</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a:extLst>
              <a:ext uri="{FF2B5EF4-FFF2-40B4-BE49-F238E27FC236}">
                <a16:creationId xmlns:a16="http://schemas.microsoft.com/office/drawing/2014/main" id="{AA18E872-CA30-6D2E-CB98-ED86D0783F79}"/>
              </a:ext>
            </a:extLst>
          </p:cNvPr>
          <p:cNvSpPr>
            <a:spLocks noChangeArrowheads="1"/>
          </p:cNvSpPr>
          <p:nvPr/>
        </p:nvSpPr>
        <p:spPr bwMode="auto">
          <a:xfrm>
            <a:off x="381000" y="457200"/>
            <a:ext cx="85344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en-US" altLang="zh-CN"/>
          </a:p>
          <a:p>
            <a:pPr eaLnBrk="1" hangingPunct="1">
              <a:spcBef>
                <a:spcPct val="50000"/>
              </a:spcBef>
            </a:pPr>
            <a:r>
              <a:rPr lang="en-US" altLang="zh-CN"/>
              <a:t>1</a:t>
            </a:r>
            <a:r>
              <a:rPr lang="zh-CN" altLang="en-US"/>
              <a:t>、体系结构有什么好处？→我们要用这个</a:t>
            </a:r>
            <a:r>
              <a:rPr lang="en-US" altLang="zh-CN"/>
              <a:t>DCS</a:t>
            </a:r>
            <a:r>
              <a:rPr lang="zh-CN" altLang="en-US"/>
              <a:t>。</a:t>
            </a:r>
            <a:endParaRPr lang="en-US" altLang="zh-CN"/>
          </a:p>
          <a:p>
            <a:pPr eaLnBrk="1" hangingPunct="1">
              <a:spcBef>
                <a:spcPct val="50000"/>
              </a:spcBef>
            </a:pPr>
            <a:endParaRPr lang="en-US" altLang="zh-CN"/>
          </a:p>
          <a:p>
            <a:pPr eaLnBrk="1" hangingPunct="1">
              <a:spcBef>
                <a:spcPct val="50000"/>
              </a:spcBef>
            </a:pPr>
            <a:r>
              <a:rPr lang="en-US" altLang="zh-CN"/>
              <a:t>2</a:t>
            </a:r>
            <a:r>
              <a:rPr lang="zh-CN" altLang="en-US"/>
              <a:t>、反过来说  问题引导、需求引导。。。</a:t>
            </a:r>
            <a:endParaRPr lang="en-US" altLang="zh-CN"/>
          </a:p>
          <a:p>
            <a:pPr eaLnBrk="1" hangingPunct="1">
              <a:spcBef>
                <a:spcPct val="50000"/>
              </a:spcBef>
            </a:pPr>
            <a:r>
              <a:rPr lang="en-US" altLang="zh-CN"/>
              <a:t>	 </a:t>
            </a:r>
            <a:r>
              <a:rPr lang="zh-CN" altLang="en-US"/>
              <a:t>我们的系统存在什么问题？有什么需求？</a:t>
            </a:r>
            <a:endParaRPr lang="en-US" altLang="zh-CN"/>
          </a:p>
          <a:p>
            <a:pPr eaLnBrk="1" hangingPunct="1">
              <a:spcBef>
                <a:spcPct val="50000"/>
              </a:spcBef>
            </a:pPr>
            <a:r>
              <a:rPr lang="en-US" altLang="zh-CN"/>
              <a:t>           </a:t>
            </a:r>
            <a:r>
              <a:rPr lang="zh-CN" altLang="en-US"/>
              <a:t>怎么解决这些问题？用什么方法？</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a:extLst>
              <a:ext uri="{FF2B5EF4-FFF2-40B4-BE49-F238E27FC236}">
                <a16:creationId xmlns:a16="http://schemas.microsoft.com/office/drawing/2014/main" id="{67229D20-73A5-AC31-54BA-44918BF95F6C}"/>
              </a:ext>
            </a:extLst>
          </p:cNvPr>
          <p:cNvSpPr>
            <a:spLocks noChangeArrowheads="1"/>
          </p:cNvSpPr>
          <p:nvPr/>
        </p:nvSpPr>
        <p:spPr bwMode="auto">
          <a:xfrm>
            <a:off x="381000" y="457200"/>
            <a:ext cx="85344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dirty="0"/>
              <a:t>问题是什么？需求是什么？</a:t>
            </a:r>
            <a:endParaRPr lang="en-US" altLang="zh-CN" dirty="0"/>
          </a:p>
          <a:p>
            <a:pPr eaLnBrk="1" hangingPunct="1">
              <a:spcBef>
                <a:spcPct val="50000"/>
              </a:spcBef>
            </a:pPr>
            <a:r>
              <a:rPr lang="en-US" altLang="zh-CN" dirty="0"/>
              <a:t>1</a:t>
            </a:r>
            <a:r>
              <a:rPr lang="zh-CN" altLang="en-US" dirty="0"/>
              <a:t>、稳定、可靠；成本低；</a:t>
            </a:r>
            <a:endParaRPr lang="en-US" altLang="zh-CN" dirty="0"/>
          </a:p>
          <a:p>
            <a:pPr eaLnBrk="1" hangingPunct="1">
              <a:spcBef>
                <a:spcPct val="50000"/>
              </a:spcBef>
            </a:pPr>
            <a:endParaRPr lang="en-US" altLang="zh-CN" dirty="0"/>
          </a:p>
          <a:p>
            <a:pPr eaLnBrk="1" hangingPunct="1">
              <a:spcBef>
                <a:spcPct val="50000"/>
              </a:spcBef>
            </a:pPr>
            <a:r>
              <a:rPr lang="en-US" altLang="zh-CN" dirty="0"/>
              <a:t>2</a:t>
            </a:r>
            <a:r>
              <a:rPr lang="zh-CN" altLang="en-US" dirty="0"/>
              <a:t>、控制分散、管理集中；</a:t>
            </a:r>
            <a:endParaRPr lang="en-US" altLang="zh-CN" dirty="0"/>
          </a:p>
          <a:p>
            <a:pPr eaLnBrk="1" hangingPunct="1">
              <a:spcBef>
                <a:spcPct val="50000"/>
              </a:spcBef>
            </a:pPr>
            <a:endParaRPr lang="en-US" altLang="zh-CN" dirty="0"/>
          </a:p>
          <a:p>
            <a:pPr eaLnBrk="1" hangingPunct="1">
              <a:spcBef>
                <a:spcPct val="50000"/>
              </a:spcBef>
            </a:pPr>
            <a:r>
              <a:rPr lang="en-US" altLang="zh-CN" dirty="0"/>
              <a:t>3</a:t>
            </a:r>
            <a:r>
              <a:rPr lang="zh-CN" altLang="en-US" dirty="0"/>
              <a:t>、控制需求多样、</a:t>
            </a:r>
            <a:r>
              <a:rPr lang="en-US" altLang="zh-CN" dirty="0"/>
              <a:t>IO</a:t>
            </a:r>
            <a:r>
              <a:rPr lang="zh-CN" altLang="en-US" dirty="0"/>
              <a:t>多样化；</a:t>
            </a:r>
            <a:endParaRPr lang="en-US" altLang="zh-CN" dirty="0"/>
          </a:p>
          <a:p>
            <a:pPr eaLnBrk="1" hangingPunct="1">
              <a:spcBef>
                <a:spcPct val="50000"/>
              </a:spcBef>
            </a:pPr>
            <a:endParaRPr lang="en-US" altLang="zh-CN" dirty="0"/>
          </a:p>
          <a:p>
            <a:pPr eaLnBrk="1" hangingPunct="1">
              <a:spcBef>
                <a:spcPct val="50000"/>
              </a:spcBef>
            </a:pPr>
            <a:r>
              <a:rPr lang="en-US" altLang="zh-CN" dirty="0"/>
              <a:t>4</a:t>
            </a:r>
            <a:r>
              <a:rPr lang="zh-CN" altLang="en-US" dirty="0"/>
              <a:t>、软件开发工作量很小；软件系统要稳定可靠；</a:t>
            </a:r>
            <a:endParaRPr lang="en-US" altLang="zh-CN" dirty="0"/>
          </a:p>
          <a:p>
            <a:pPr eaLnBrk="1" hangingPunct="1">
              <a:spcBef>
                <a:spcPct val="50000"/>
              </a:spcBef>
            </a:pPr>
            <a:endParaRPr lang="en-US" altLang="zh-CN" dirty="0"/>
          </a:p>
          <a:p>
            <a:pPr eaLnBrk="1" hangingPunct="1">
              <a:spcBef>
                <a:spcPct val="50000"/>
              </a:spcBef>
            </a:pPr>
            <a:endParaRPr lang="zh-CN" altLang="en-US" dirty="0"/>
          </a:p>
        </p:txBody>
      </p:sp>
      <p:sp>
        <p:nvSpPr>
          <p:cNvPr id="6147" name="矩形 1">
            <a:extLst>
              <a:ext uri="{FF2B5EF4-FFF2-40B4-BE49-F238E27FC236}">
                <a16:creationId xmlns:a16="http://schemas.microsoft.com/office/drawing/2014/main" id="{42F0F641-C311-EF9E-B0A2-3DF0E843974E}"/>
              </a:ext>
            </a:extLst>
          </p:cNvPr>
          <p:cNvSpPr>
            <a:spLocks noChangeArrowheads="1"/>
          </p:cNvSpPr>
          <p:nvPr/>
        </p:nvSpPr>
        <p:spPr bwMode="auto">
          <a:xfrm>
            <a:off x="6248400" y="2973388"/>
            <a:ext cx="15700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600">
                <a:solidFill>
                  <a:srgbClr val="FF0000"/>
                </a:solidFill>
              </a:rPr>
              <a:t>模块化</a:t>
            </a:r>
            <a:endParaRPr lang="en-US" altLang="zh-CN" sz="3600">
              <a:solidFill>
                <a:srgbClr val="FF0000"/>
              </a:solidFill>
            </a:endParaRPr>
          </a:p>
        </p:txBody>
      </p:sp>
      <p:sp>
        <p:nvSpPr>
          <p:cNvPr id="6148" name="矩形 3">
            <a:extLst>
              <a:ext uri="{FF2B5EF4-FFF2-40B4-BE49-F238E27FC236}">
                <a16:creationId xmlns:a16="http://schemas.microsoft.com/office/drawing/2014/main" id="{F4677630-9535-3CAC-DE81-D6059A012531}"/>
              </a:ext>
            </a:extLst>
          </p:cNvPr>
          <p:cNvSpPr>
            <a:spLocks noChangeArrowheads="1"/>
          </p:cNvSpPr>
          <p:nvPr/>
        </p:nvSpPr>
        <p:spPr bwMode="auto">
          <a:xfrm>
            <a:off x="6478588" y="1209675"/>
            <a:ext cx="11080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600">
                <a:solidFill>
                  <a:srgbClr val="FF0000"/>
                </a:solidFill>
              </a:rPr>
              <a:t>分层</a:t>
            </a:r>
            <a:endParaRPr lang="en-US" altLang="zh-CN" sz="3600">
              <a:solidFill>
                <a:srgbClr val="FF0000"/>
              </a:solidFill>
            </a:endParaRPr>
          </a:p>
        </p:txBody>
      </p:sp>
      <p:sp>
        <p:nvSpPr>
          <p:cNvPr id="3" name="右箭头 2">
            <a:extLst>
              <a:ext uri="{FF2B5EF4-FFF2-40B4-BE49-F238E27FC236}">
                <a16:creationId xmlns:a16="http://schemas.microsoft.com/office/drawing/2014/main" id="{931F4F2A-895B-1753-3FDC-FBED1CD3624D}"/>
              </a:ext>
            </a:extLst>
          </p:cNvPr>
          <p:cNvSpPr/>
          <p:nvPr/>
        </p:nvSpPr>
        <p:spPr>
          <a:xfrm rot="20247624">
            <a:off x="5067300" y="3390900"/>
            <a:ext cx="1143000" cy="457200"/>
          </a:xfrm>
          <a:prstGeom prst="rightArrow">
            <a:avLst>
              <a:gd name="adj1" fmla="val 53540"/>
              <a:gd name="adj2" fmla="val 1048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6" name="右箭头 5">
            <a:extLst>
              <a:ext uri="{FF2B5EF4-FFF2-40B4-BE49-F238E27FC236}">
                <a16:creationId xmlns:a16="http://schemas.microsoft.com/office/drawing/2014/main" id="{8C9BB1E3-D4F7-C14A-C54E-8A58DE705214}"/>
              </a:ext>
            </a:extLst>
          </p:cNvPr>
          <p:cNvSpPr/>
          <p:nvPr/>
        </p:nvSpPr>
        <p:spPr>
          <a:xfrm rot="16200000">
            <a:off x="6461125" y="2184400"/>
            <a:ext cx="1143000" cy="457200"/>
          </a:xfrm>
          <a:prstGeom prst="rightArrow">
            <a:avLst>
              <a:gd name="adj1" fmla="val 53540"/>
              <a:gd name="adj2" fmla="val 1048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 name="右箭头 6">
            <a:extLst>
              <a:ext uri="{FF2B5EF4-FFF2-40B4-BE49-F238E27FC236}">
                <a16:creationId xmlns:a16="http://schemas.microsoft.com/office/drawing/2014/main" id="{12BFFE01-8EE6-1F3A-B966-86204C114441}"/>
              </a:ext>
            </a:extLst>
          </p:cNvPr>
          <p:cNvSpPr/>
          <p:nvPr/>
        </p:nvSpPr>
        <p:spPr>
          <a:xfrm rot="20247624">
            <a:off x="5670550" y="4392613"/>
            <a:ext cx="1143000" cy="457200"/>
          </a:xfrm>
          <a:prstGeom prst="rightArrow">
            <a:avLst>
              <a:gd name="adj1" fmla="val 53540"/>
              <a:gd name="adj2" fmla="val 1048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6152" name="矩形 1">
            <a:extLst>
              <a:ext uri="{FF2B5EF4-FFF2-40B4-BE49-F238E27FC236}">
                <a16:creationId xmlns:a16="http://schemas.microsoft.com/office/drawing/2014/main" id="{AFC86B62-AB1F-CD6E-6CA6-1C6F6E7D5AC1}"/>
              </a:ext>
            </a:extLst>
          </p:cNvPr>
          <p:cNvSpPr>
            <a:spLocks noChangeArrowheads="1"/>
          </p:cNvSpPr>
          <p:nvPr/>
        </p:nvSpPr>
        <p:spPr bwMode="auto">
          <a:xfrm>
            <a:off x="6819900" y="4049713"/>
            <a:ext cx="2032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600">
                <a:solidFill>
                  <a:srgbClr val="FF0000"/>
                </a:solidFill>
              </a:rPr>
              <a:t>二次开发</a:t>
            </a:r>
            <a:endParaRPr lang="en-US" altLang="zh-CN" sz="3600">
              <a:solidFill>
                <a:srgbClr val="FF0000"/>
              </a:solidFill>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0AC0360-A5E5-B3A5-A480-614FC5F81FE2}"/>
              </a:ext>
            </a:extLst>
          </p:cNvPr>
          <p:cNvSpPr>
            <a:spLocks noGrp="1" noChangeArrowheads="1"/>
          </p:cNvSpPr>
          <p:nvPr>
            <p:ph type="title"/>
          </p:nvPr>
        </p:nvSpPr>
        <p:spPr/>
        <p:txBody>
          <a:bodyPr/>
          <a:lstStyle/>
          <a:p>
            <a:pPr eaLnBrk="1" hangingPunct="1"/>
            <a:r>
              <a:rPr lang="en-US" altLang="zh-CN" sz="2800" dirty="0"/>
              <a:t>DCS </a:t>
            </a:r>
            <a:r>
              <a:rPr lang="zh-CN" altLang="en-US" sz="2800" dirty="0"/>
              <a:t>分层结构中各层的功能</a:t>
            </a:r>
          </a:p>
        </p:txBody>
      </p:sp>
      <p:sp>
        <p:nvSpPr>
          <p:cNvPr id="21507" name="Rectangle 3">
            <a:extLst>
              <a:ext uri="{FF2B5EF4-FFF2-40B4-BE49-F238E27FC236}">
                <a16:creationId xmlns:a16="http://schemas.microsoft.com/office/drawing/2014/main" id="{B837E563-F66C-3EF2-CC2F-32E73B64D13E}"/>
              </a:ext>
            </a:extLst>
          </p:cNvPr>
          <p:cNvSpPr>
            <a:spLocks noChangeArrowheads="1"/>
          </p:cNvSpPr>
          <p:nvPr/>
        </p:nvSpPr>
        <p:spPr bwMode="auto">
          <a:xfrm>
            <a:off x="228600" y="1484784"/>
            <a:ext cx="3581400" cy="4763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latin typeface="TT17E3o00" charset="-122"/>
              </a:rPr>
              <a:t>计算机控制系统的发展谈及到集散控制系统的结构分层模式，并归纳出集散控制系统的四级典型功能层次，下面将着重阐述各层的功能。</a:t>
            </a:r>
          </a:p>
        </p:txBody>
      </p:sp>
      <p:pic>
        <p:nvPicPr>
          <p:cNvPr id="21509" name="Picture 7">
            <a:extLst>
              <a:ext uri="{FF2B5EF4-FFF2-40B4-BE49-F238E27FC236}">
                <a16:creationId xmlns:a16="http://schemas.microsoft.com/office/drawing/2014/main" id="{2EA2DB40-EF26-E499-6CCF-1FFA6EFD63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6750" y="1195200"/>
            <a:ext cx="4552950" cy="528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510" name="Rectangle 8">
            <a:extLst>
              <a:ext uri="{FF2B5EF4-FFF2-40B4-BE49-F238E27FC236}">
                <a16:creationId xmlns:a16="http://schemas.microsoft.com/office/drawing/2014/main" id="{27027E53-A6CD-BBEA-727E-72410277551E}"/>
              </a:ext>
            </a:extLst>
          </p:cNvPr>
          <p:cNvSpPr>
            <a:spLocks noChangeArrowheads="1"/>
          </p:cNvSpPr>
          <p:nvPr/>
        </p:nvSpPr>
        <p:spPr bwMode="auto">
          <a:xfrm>
            <a:off x="0" y="5880468"/>
            <a:ext cx="4476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1800" dirty="0"/>
              <a:t>图 </a:t>
            </a:r>
            <a:r>
              <a:rPr lang="en-US" altLang="zh-CN" sz="1800" dirty="0"/>
              <a:t>2.6    </a:t>
            </a:r>
            <a:r>
              <a:rPr lang="zh-CN" altLang="en-US" sz="1800" dirty="0"/>
              <a:t>集散控制系统体系结构的各层功能</a:t>
            </a:r>
          </a:p>
        </p:txBody>
      </p:sp>
      <p:sp>
        <p:nvSpPr>
          <p:cNvPr id="2" name="文本框 1">
            <a:extLst>
              <a:ext uri="{FF2B5EF4-FFF2-40B4-BE49-F238E27FC236}">
                <a16:creationId xmlns:a16="http://schemas.microsoft.com/office/drawing/2014/main" id="{1AE43478-FD12-1E0A-F2F5-600066ACF60C}"/>
              </a:ext>
            </a:extLst>
          </p:cNvPr>
          <p:cNvSpPr txBox="1"/>
          <p:nvPr/>
        </p:nvSpPr>
        <p:spPr>
          <a:xfrm rot="420000">
            <a:off x="7288995" y="356322"/>
            <a:ext cx="1440160" cy="584775"/>
          </a:xfrm>
          <a:prstGeom prst="rect">
            <a:avLst/>
          </a:prstGeom>
          <a:noFill/>
          <a:ln w="19050">
            <a:solidFill>
              <a:srgbClr val="FF0000"/>
            </a:solidFill>
          </a:ln>
        </p:spPr>
        <p:txBody>
          <a:bodyPr wrap="square" rtlCol="0">
            <a:spAutoFit/>
          </a:body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BA0F8ECA-A051-CDC1-200B-8B5C38E88BEF}"/>
              </a:ext>
            </a:extLst>
          </p:cNvPr>
          <p:cNvSpPr>
            <a:spLocks noGrp="1" noChangeArrowheads="1"/>
          </p:cNvSpPr>
          <p:nvPr>
            <p:ph type="title"/>
          </p:nvPr>
        </p:nvSpPr>
        <p:spPr/>
        <p:txBody>
          <a:bodyPr/>
          <a:lstStyle/>
          <a:p>
            <a:pPr eaLnBrk="1" hangingPunct="1"/>
            <a:r>
              <a:rPr lang="zh-CN" altLang="en-US" sz="3600" dirty="0"/>
              <a:t>直接控制级</a:t>
            </a:r>
          </a:p>
        </p:txBody>
      </p:sp>
      <p:sp>
        <p:nvSpPr>
          <p:cNvPr id="26627" name="Rectangle 3">
            <a:extLst>
              <a:ext uri="{FF2B5EF4-FFF2-40B4-BE49-F238E27FC236}">
                <a16:creationId xmlns:a16="http://schemas.microsoft.com/office/drawing/2014/main" id="{E9CA8196-BFE7-ED88-67BE-B361441F01A8}"/>
              </a:ext>
            </a:extLst>
          </p:cNvPr>
          <p:cNvSpPr>
            <a:spLocks noChangeArrowheads="1"/>
          </p:cNvSpPr>
          <p:nvPr/>
        </p:nvSpPr>
        <p:spPr bwMode="auto">
          <a:xfrm>
            <a:off x="0" y="1219200"/>
            <a:ext cx="91440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latin typeface="TT17E3o00" charset="-122"/>
              </a:rPr>
              <a:t>直接控制层是集散型控制系统的基础，其主要任务有。</a:t>
            </a:r>
          </a:p>
          <a:p>
            <a:pPr eaLnBrk="1" hangingPunct="1">
              <a:spcBef>
                <a:spcPct val="50000"/>
              </a:spcBef>
            </a:pPr>
            <a:r>
              <a:rPr lang="en-US" altLang="zh-CN" sz="2400" dirty="0">
                <a:latin typeface="TT17E3o00" charset="-122"/>
              </a:rPr>
              <a:t>(1)  </a:t>
            </a:r>
            <a:r>
              <a:rPr lang="zh-CN" altLang="en-US" sz="2400" dirty="0">
                <a:latin typeface="TT17E3o00" charset="-122"/>
              </a:rPr>
              <a:t>进行过程</a:t>
            </a:r>
            <a:r>
              <a:rPr lang="zh-CN" altLang="en-US" sz="2400" dirty="0">
                <a:solidFill>
                  <a:srgbClr val="FF0000"/>
                </a:solidFill>
                <a:latin typeface="TT17E3o00" charset="-122"/>
              </a:rPr>
              <a:t>数据采集</a:t>
            </a:r>
            <a:r>
              <a:rPr lang="zh-CN" altLang="en-US" sz="2400" dirty="0">
                <a:latin typeface="TT17E3o00" charset="-122"/>
              </a:rPr>
              <a:t>：即对被控设备中的每个过程量和状态信息进行快速采集，使进行数字控制、开环控制、设备监测、状态报告的过程等获得所需要的输入的信息。</a:t>
            </a:r>
          </a:p>
          <a:p>
            <a:pPr eaLnBrk="1" hangingPunct="1">
              <a:spcBef>
                <a:spcPct val="50000"/>
              </a:spcBef>
            </a:pPr>
            <a:r>
              <a:rPr lang="en-US" altLang="zh-CN" sz="2400" dirty="0">
                <a:latin typeface="TT17E3o00" charset="-122"/>
              </a:rPr>
              <a:t>(2)  </a:t>
            </a:r>
            <a:r>
              <a:rPr lang="zh-CN" altLang="en-US" sz="2400" dirty="0">
                <a:latin typeface="TT17E3o00" charset="-122"/>
              </a:rPr>
              <a:t>进行直接数字的</a:t>
            </a:r>
            <a:r>
              <a:rPr lang="zh-CN" altLang="en-US" sz="2400" dirty="0">
                <a:solidFill>
                  <a:srgbClr val="FF0000"/>
                </a:solidFill>
                <a:latin typeface="TT17E3o00" charset="-122"/>
              </a:rPr>
              <a:t>过程控制</a:t>
            </a:r>
            <a:r>
              <a:rPr lang="zh-CN" altLang="en-US" sz="2400" dirty="0">
                <a:latin typeface="TT17E3o00" charset="-122"/>
              </a:rPr>
              <a:t>：根据控制组态数据库、控制算法模块来实施实时的过程量 </a:t>
            </a:r>
            <a:r>
              <a:rPr lang="en-US" altLang="zh-CN" sz="2400" dirty="0">
                <a:latin typeface="TT17E3o00" charset="-122"/>
              </a:rPr>
              <a:t>( </a:t>
            </a:r>
            <a:r>
              <a:rPr lang="zh-CN" altLang="en-US" sz="2400" dirty="0">
                <a:latin typeface="TT17E3o00" charset="-122"/>
              </a:rPr>
              <a:t>如开关量、模拟量等 </a:t>
            </a:r>
            <a:r>
              <a:rPr lang="en-US" altLang="zh-CN" sz="2400" dirty="0">
                <a:latin typeface="TT17E3o00" charset="-122"/>
              </a:rPr>
              <a:t>) </a:t>
            </a:r>
            <a:r>
              <a:rPr lang="zh-CN" altLang="en-US" sz="2400" dirty="0">
                <a:latin typeface="TT17E3o00" charset="-122"/>
              </a:rPr>
              <a:t>的控制。</a:t>
            </a:r>
          </a:p>
          <a:p>
            <a:pPr eaLnBrk="1" hangingPunct="1">
              <a:spcBef>
                <a:spcPct val="50000"/>
              </a:spcBef>
            </a:pPr>
            <a:r>
              <a:rPr lang="en-US" altLang="zh-CN" sz="2400" dirty="0">
                <a:latin typeface="TT17E3o00" charset="-122"/>
              </a:rPr>
              <a:t>(3)  </a:t>
            </a:r>
            <a:r>
              <a:rPr lang="zh-CN" altLang="en-US" sz="2400" dirty="0">
                <a:latin typeface="TT17E3o00" charset="-122"/>
              </a:rPr>
              <a:t>进行</a:t>
            </a:r>
            <a:r>
              <a:rPr lang="zh-CN" altLang="en-US" sz="2400" dirty="0">
                <a:solidFill>
                  <a:srgbClr val="FF0000"/>
                </a:solidFill>
                <a:latin typeface="TT17E3o00" charset="-122"/>
              </a:rPr>
              <a:t>设备监测和系统的测试、诊断</a:t>
            </a:r>
            <a:r>
              <a:rPr lang="zh-CN" altLang="en-US" sz="2400" dirty="0">
                <a:latin typeface="TT17E3o00" charset="-122"/>
              </a:rPr>
              <a:t>：把过程变量和状态信息取出后，分析是否可以接受以及是否可以允许向高层传输。</a:t>
            </a:r>
          </a:p>
          <a:p>
            <a:pPr eaLnBrk="1" hangingPunct="1">
              <a:spcBef>
                <a:spcPct val="50000"/>
              </a:spcBef>
            </a:pPr>
            <a:r>
              <a:rPr lang="en-US" altLang="zh-CN" sz="2400" dirty="0">
                <a:latin typeface="TT17E3o00" charset="-122"/>
              </a:rPr>
              <a:t>(4)  </a:t>
            </a:r>
            <a:r>
              <a:rPr lang="zh-CN" altLang="en-US" sz="2400" dirty="0">
                <a:latin typeface="TT17E3o00" charset="-122"/>
              </a:rPr>
              <a:t>实施</a:t>
            </a:r>
            <a:r>
              <a:rPr lang="zh-CN" altLang="en-US" sz="2400" dirty="0">
                <a:solidFill>
                  <a:srgbClr val="FF0000"/>
                </a:solidFill>
                <a:latin typeface="TT17E3o00" charset="-122"/>
              </a:rPr>
              <a:t>安全性、冗余化</a:t>
            </a:r>
            <a:r>
              <a:rPr lang="zh-CN" altLang="en-US" sz="2400" dirty="0">
                <a:latin typeface="TT17E3o00" charset="-122"/>
              </a:rPr>
              <a:t>方面的措施：一旦发现计算机系统硬件或控制板有故障，就立即实施备用件的切换，保证整个系统安全运行。</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8F85A379-F8ED-13D7-FE98-68B6FA03139D}"/>
              </a:ext>
            </a:extLst>
          </p:cNvPr>
          <p:cNvSpPr>
            <a:spLocks noGrp="1" noChangeArrowheads="1"/>
          </p:cNvSpPr>
          <p:nvPr>
            <p:ph type="title"/>
          </p:nvPr>
        </p:nvSpPr>
        <p:spPr/>
        <p:txBody>
          <a:bodyPr/>
          <a:lstStyle/>
          <a:p>
            <a:pPr eaLnBrk="1" hangingPunct="1"/>
            <a:r>
              <a:rPr lang="en-US" altLang="en-US" sz="3600" dirty="0" err="1"/>
              <a:t>过程管理级</a:t>
            </a:r>
            <a:endParaRPr lang="zh-CN" altLang="en-US" sz="3600" dirty="0"/>
          </a:p>
        </p:txBody>
      </p:sp>
      <p:sp>
        <p:nvSpPr>
          <p:cNvPr id="27651" name="Rectangle 3">
            <a:extLst>
              <a:ext uri="{FF2B5EF4-FFF2-40B4-BE49-F238E27FC236}">
                <a16:creationId xmlns:a16="http://schemas.microsoft.com/office/drawing/2014/main" id="{DD32DF4B-4DD4-2AC6-AC52-EA09B8BB0509}"/>
              </a:ext>
            </a:extLst>
          </p:cNvPr>
          <p:cNvSpPr>
            <a:spLocks noChangeArrowheads="1"/>
          </p:cNvSpPr>
          <p:nvPr/>
        </p:nvSpPr>
        <p:spPr bwMode="auto">
          <a:xfrm>
            <a:off x="0" y="1143000"/>
            <a:ext cx="9144000" cy="5382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latin typeface="TT17E3o00" charset="-122"/>
              </a:rPr>
              <a:t>在过程管理级主要是应付单元内的整体优化，并对其下层产生确切的命令，在这一层可完成的功能有。</a:t>
            </a:r>
          </a:p>
          <a:p>
            <a:pPr eaLnBrk="1" hangingPunct="1">
              <a:spcBef>
                <a:spcPct val="50000"/>
              </a:spcBef>
            </a:pPr>
            <a:r>
              <a:rPr lang="en-US" altLang="zh-CN" sz="2400" dirty="0">
                <a:latin typeface="TT17E3o00" charset="-122"/>
              </a:rPr>
              <a:t>(1)  </a:t>
            </a:r>
            <a:r>
              <a:rPr lang="zh-CN" altLang="en-US" sz="2400" dirty="0">
                <a:latin typeface="TT17E3o00" charset="-122"/>
              </a:rPr>
              <a:t>优化过程控制：这可以根据过程的数学模型以及所给定的控制对象来进行，</a:t>
            </a:r>
            <a:r>
              <a:rPr lang="zh-CN" altLang="en-US" sz="2400" dirty="0">
                <a:solidFill>
                  <a:srgbClr val="FF0000"/>
                </a:solidFill>
                <a:latin typeface="TT17E3o00" charset="-122"/>
              </a:rPr>
              <a:t>优化控制只有在优化执行条件</a:t>
            </a:r>
            <a:r>
              <a:rPr lang="zh-CN" altLang="en-US" sz="2400" dirty="0">
                <a:latin typeface="TT17E3o00" charset="-122"/>
              </a:rPr>
              <a:t>确保的条件达到。</a:t>
            </a:r>
          </a:p>
          <a:p>
            <a:pPr eaLnBrk="1" hangingPunct="1">
              <a:spcBef>
                <a:spcPct val="50000"/>
              </a:spcBef>
            </a:pPr>
            <a:r>
              <a:rPr lang="en-US" altLang="zh-CN" sz="2400" dirty="0">
                <a:latin typeface="TT17E3o00" charset="-122"/>
              </a:rPr>
              <a:t>(2)  </a:t>
            </a:r>
            <a:r>
              <a:rPr lang="zh-CN" altLang="en-US" sz="2400" dirty="0">
                <a:latin typeface="TT17E3o00" charset="-122"/>
              </a:rPr>
              <a:t>自适应回路控制：在过程参数希望值的基础上，通过数字控制的优化策略。当现场条件发生改变时，经过过程管理级计算机的运算处理就得到新的</a:t>
            </a:r>
            <a:r>
              <a:rPr lang="zh-CN" altLang="en-US" sz="2400" dirty="0">
                <a:solidFill>
                  <a:srgbClr val="FF0000"/>
                </a:solidFill>
                <a:latin typeface="TT17E3o00" charset="-122"/>
              </a:rPr>
              <a:t>设定值和调节值</a:t>
            </a:r>
            <a:r>
              <a:rPr lang="zh-CN" altLang="en-US" sz="2400" dirty="0">
                <a:latin typeface="TT17E3o00" charset="-122"/>
              </a:rPr>
              <a:t>，并把调节值传送到直接过程控制层。</a:t>
            </a:r>
          </a:p>
          <a:p>
            <a:pPr eaLnBrk="1" hangingPunct="1">
              <a:spcBef>
                <a:spcPct val="50000"/>
              </a:spcBef>
            </a:pPr>
            <a:r>
              <a:rPr lang="en-US" altLang="zh-CN" sz="2400" dirty="0">
                <a:latin typeface="TT17E3o00" charset="-122"/>
              </a:rPr>
              <a:t>(3)  </a:t>
            </a:r>
            <a:r>
              <a:rPr lang="zh-CN" altLang="en-US" sz="2400" dirty="0">
                <a:latin typeface="TT17E3o00" charset="-122"/>
              </a:rPr>
              <a:t>优化单元内各装置，使它们密切配合：这主要是根据单元内的产品、原材料、库存以及能源的使用情况，优化相互的关系。</a:t>
            </a:r>
          </a:p>
          <a:p>
            <a:pPr eaLnBrk="1" hangingPunct="1">
              <a:spcBef>
                <a:spcPct val="50000"/>
              </a:spcBef>
            </a:pPr>
            <a:r>
              <a:rPr lang="en-US" altLang="zh-CN" sz="2400" dirty="0">
                <a:latin typeface="TT17E3o00" charset="-122"/>
              </a:rPr>
              <a:t>(4)  </a:t>
            </a:r>
            <a:r>
              <a:rPr lang="zh-CN" altLang="en-US" sz="2400" dirty="0">
                <a:latin typeface="TT17E3o00" charset="-122"/>
              </a:rPr>
              <a:t>通过获取直接控制层的实时数据以进行单元内的活动监视、故障检测存档、历史数据的存档、状态报告和备用。</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a:extLst>
              <a:ext uri="{FF2B5EF4-FFF2-40B4-BE49-F238E27FC236}">
                <a16:creationId xmlns:a16="http://schemas.microsoft.com/office/drawing/2014/main" id="{70F2E657-EEC2-776E-D823-A1D1A1642391}"/>
              </a:ext>
            </a:extLst>
          </p:cNvPr>
          <p:cNvSpPr>
            <a:spLocks noChangeArrowheads="1"/>
          </p:cNvSpPr>
          <p:nvPr/>
        </p:nvSpPr>
        <p:spPr bwMode="auto">
          <a:xfrm>
            <a:off x="381000" y="457200"/>
            <a:ext cx="8534400"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3200" dirty="0">
                <a:solidFill>
                  <a:srgbClr val="333333"/>
                </a:solidFill>
                <a:latin typeface="微软雅黑" panose="020B0503020204020204" pitchFamily="34" charset="-122"/>
                <a:ea typeface="微软雅黑" panose="020B0503020204020204" pitchFamily="34" charset="-122"/>
              </a:rPr>
              <a:t>分层架构的优点</a:t>
            </a:r>
          </a:p>
          <a:p>
            <a:r>
              <a:rPr lang="zh-CN" altLang="en-US" sz="2000" dirty="0">
                <a:solidFill>
                  <a:srgbClr val="333333"/>
                </a:solidFill>
              </a:rPr>
              <a:t>（</a:t>
            </a:r>
            <a:r>
              <a:rPr lang="en-US" altLang="zh-CN" sz="2000" dirty="0">
                <a:solidFill>
                  <a:srgbClr val="333333"/>
                </a:solidFill>
              </a:rPr>
              <a:t>1</a:t>
            </a:r>
            <a:r>
              <a:rPr lang="zh-CN" altLang="en-US" sz="2000" dirty="0">
                <a:solidFill>
                  <a:srgbClr val="333333"/>
                </a:solidFill>
              </a:rPr>
              <a:t>）</a:t>
            </a:r>
            <a:r>
              <a:rPr lang="zh-CN" altLang="en-US" sz="2000" b="1" dirty="0">
                <a:solidFill>
                  <a:srgbClr val="FF0000"/>
                </a:solidFill>
              </a:rPr>
              <a:t>开发人员的专业分工，专注理解某一层</a:t>
            </a:r>
            <a:r>
              <a:rPr lang="zh-CN" altLang="en-US" sz="2000" dirty="0">
                <a:solidFill>
                  <a:srgbClr val="333333"/>
                </a:solidFill>
              </a:rPr>
              <a:t>。 由于某一层仅仅调用其相邻下一层所提供的程序接口，只需要本层的接口和相邻下一层的接口定义清晰完整，</a:t>
            </a:r>
            <a:r>
              <a:rPr lang="zh-CN" altLang="en-US" sz="2000" dirty="0">
                <a:solidFill>
                  <a:schemeClr val="tx1">
                    <a:lumMod val="95000"/>
                    <a:lumOff val="5000"/>
                  </a:schemeClr>
                </a:solidFill>
              </a:rPr>
              <a:t>开发人员在开发某一层时就可以像关注集中于这一层所用的功能和技术。</a:t>
            </a:r>
            <a:r>
              <a:rPr lang="zh-CN" altLang="en-US" sz="2000" baseline="30000" dirty="0">
                <a:solidFill>
                  <a:schemeClr val="tx1">
                    <a:lumMod val="95000"/>
                    <a:lumOff val="5000"/>
                  </a:schemeClr>
                </a:solidFill>
              </a:rPr>
              <a:t> </a:t>
            </a:r>
            <a:r>
              <a:rPr lang="zh-CN" altLang="en-US" sz="2000" dirty="0">
                <a:solidFill>
                  <a:schemeClr val="tx1">
                    <a:lumMod val="95000"/>
                    <a:lumOff val="5000"/>
                  </a:schemeClr>
                </a:solidFill>
              </a:rPr>
              <a:t> </a:t>
            </a:r>
          </a:p>
          <a:p>
            <a:r>
              <a:rPr lang="zh-CN" altLang="en-US" sz="2000" dirty="0">
                <a:solidFill>
                  <a:srgbClr val="333333"/>
                </a:solidFill>
              </a:rPr>
              <a:t>（</a:t>
            </a:r>
            <a:r>
              <a:rPr lang="en-US" altLang="zh-CN" sz="2000" dirty="0">
                <a:solidFill>
                  <a:srgbClr val="333333"/>
                </a:solidFill>
              </a:rPr>
              <a:t>2</a:t>
            </a:r>
            <a:r>
              <a:rPr lang="zh-CN" altLang="en-US" sz="2000" dirty="0">
                <a:solidFill>
                  <a:srgbClr val="333333"/>
                </a:solidFill>
              </a:rPr>
              <a:t>） 可以很容易</a:t>
            </a:r>
            <a:r>
              <a:rPr lang="zh-CN" altLang="en-US" sz="2000" b="1" dirty="0">
                <a:solidFill>
                  <a:srgbClr val="FF0000"/>
                </a:solidFill>
              </a:rPr>
              <a:t>用新的实现来替换原有层次的实现</a:t>
            </a:r>
            <a:r>
              <a:rPr lang="zh-CN" altLang="en-US" sz="2000" dirty="0">
                <a:solidFill>
                  <a:srgbClr val="333333"/>
                </a:solidFill>
              </a:rPr>
              <a:t>。 只要前后提供的服务（接口）相同，即可替换。 系统开发过程中，功能需求不断变化，我们可以替换现有的层次以满足新的需求变化。</a:t>
            </a:r>
            <a:r>
              <a:rPr lang="zh-CN" altLang="en-US" sz="2000" dirty="0">
                <a:solidFill>
                  <a:srgbClr val="136EC2"/>
                </a:solidFill>
              </a:rPr>
              <a:t> </a:t>
            </a:r>
            <a:endParaRPr lang="zh-CN" altLang="en-US" sz="2000" dirty="0">
              <a:solidFill>
                <a:srgbClr val="333333"/>
              </a:solidFill>
            </a:endParaRPr>
          </a:p>
          <a:p>
            <a:r>
              <a:rPr lang="zh-CN" altLang="en-US" sz="2000" dirty="0">
                <a:solidFill>
                  <a:srgbClr val="333333"/>
                </a:solidFill>
              </a:rPr>
              <a:t>（</a:t>
            </a:r>
            <a:r>
              <a:rPr lang="en-US" altLang="zh-CN" sz="2000" dirty="0">
                <a:solidFill>
                  <a:srgbClr val="333333"/>
                </a:solidFill>
              </a:rPr>
              <a:t>3</a:t>
            </a:r>
            <a:r>
              <a:rPr lang="zh-CN" altLang="en-US" sz="2000" dirty="0">
                <a:solidFill>
                  <a:srgbClr val="333333"/>
                </a:solidFill>
              </a:rPr>
              <a:t>）</a:t>
            </a:r>
            <a:r>
              <a:rPr lang="zh-CN" altLang="en-US" sz="2000" b="1" dirty="0">
                <a:solidFill>
                  <a:srgbClr val="FF0000"/>
                </a:solidFill>
              </a:rPr>
              <a:t>降低了系统间的依赖</a:t>
            </a:r>
            <a:r>
              <a:rPr lang="zh-CN" altLang="en-US" sz="2000" dirty="0">
                <a:solidFill>
                  <a:srgbClr val="333333"/>
                </a:solidFill>
              </a:rPr>
              <a:t>。 比如业务逻辑层中的业务发生变化， 其他两层即表现层以及数据访问层程序也不需要变化。 这大大降低了系统各层之间的依赖。</a:t>
            </a:r>
            <a:r>
              <a:rPr lang="zh-CN" altLang="en-US" sz="2000" dirty="0">
                <a:solidFill>
                  <a:srgbClr val="136EC2"/>
                </a:solidFill>
              </a:rPr>
              <a:t> </a:t>
            </a:r>
            <a:endParaRPr lang="zh-CN" altLang="en-US" sz="2000" dirty="0">
              <a:solidFill>
                <a:srgbClr val="333333"/>
              </a:solidFill>
            </a:endParaRPr>
          </a:p>
          <a:p>
            <a:r>
              <a:rPr lang="zh-CN" altLang="en-US" sz="2000" dirty="0">
                <a:solidFill>
                  <a:srgbClr val="333333"/>
                </a:solidFill>
              </a:rPr>
              <a:t>（</a:t>
            </a:r>
            <a:r>
              <a:rPr lang="en-US" altLang="zh-CN" sz="2000" dirty="0">
                <a:solidFill>
                  <a:srgbClr val="333333"/>
                </a:solidFill>
              </a:rPr>
              <a:t>4</a:t>
            </a:r>
            <a:r>
              <a:rPr lang="zh-CN" altLang="en-US" sz="2000" dirty="0">
                <a:solidFill>
                  <a:srgbClr val="333333"/>
                </a:solidFill>
              </a:rPr>
              <a:t>）</a:t>
            </a:r>
            <a:r>
              <a:rPr lang="zh-CN" altLang="en-US" sz="2000" b="1" dirty="0">
                <a:solidFill>
                  <a:srgbClr val="FF0000"/>
                </a:solidFill>
              </a:rPr>
              <a:t>有利于复用</a:t>
            </a:r>
            <a:r>
              <a:rPr lang="zh-CN" altLang="en-US" sz="2000" dirty="0">
                <a:solidFill>
                  <a:srgbClr val="333333"/>
                </a:solidFill>
              </a:rPr>
              <a:t>。 充分利用现有的功能程序组件，将已经辨识的具有相对独立功能的层应用于新系统的开发，保证新系统开发的过程中，能够将重点集中于辨识和实现应用系统特有的业务功能， 最终缩短系统开发周期，提高系统的质量。</a:t>
            </a:r>
          </a:p>
          <a:p>
            <a:pPr eaLnBrk="1" hangingPunct="1">
              <a:spcBef>
                <a:spcPct val="50000"/>
              </a:spcBef>
            </a:pPr>
            <a:endParaRPr lang="en-US" altLang="zh-CN" dirty="0"/>
          </a:p>
          <a:p>
            <a:pPr eaLnBrk="1" hangingPunct="1">
              <a:spcBef>
                <a:spcPct val="50000"/>
              </a:spcBef>
            </a:pPr>
            <a:endParaRPr lang="en-US" altLang="zh-CN" dirty="0"/>
          </a:p>
          <a:p>
            <a:pPr eaLnBrk="1" hangingPunct="1">
              <a:spcBef>
                <a:spcPct val="50000"/>
              </a:spcBef>
            </a:pPr>
            <a:endParaRPr lang="en-US" altLang="zh-CN" dirty="0"/>
          </a:p>
          <a:p>
            <a:pPr eaLnBrk="1" hangingPunct="1">
              <a:spcBef>
                <a:spcPct val="50000"/>
              </a:spcBef>
            </a:pPr>
            <a:endParaRPr lang="en-US" altLang="zh-CN" dirty="0"/>
          </a:p>
          <a:p>
            <a:pPr eaLnBrk="1" hangingPunct="1">
              <a:spcBef>
                <a:spcPct val="50000"/>
              </a:spcBef>
            </a:pPr>
            <a:endParaRPr lang="en-US" altLang="zh-CN" dirty="0"/>
          </a:p>
          <a:p>
            <a:pPr eaLnBrk="1" hangingPunct="1">
              <a:spcBef>
                <a:spcPct val="50000"/>
              </a:spcBef>
            </a:pPr>
            <a:endParaRPr lang="en-US" altLang="zh-CN" dirty="0"/>
          </a:p>
        </p:txBody>
      </p:sp>
      <p:pic>
        <p:nvPicPr>
          <p:cNvPr id="9219" name="图片 1">
            <a:extLst>
              <a:ext uri="{FF2B5EF4-FFF2-40B4-BE49-F238E27FC236}">
                <a16:creationId xmlns:a16="http://schemas.microsoft.com/office/drawing/2014/main" id="{5C1062BB-1AB5-690B-AAD3-CAB32336FE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5781675"/>
            <a:ext cx="7389813"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6473556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a:extLst>
              <a:ext uri="{FF2B5EF4-FFF2-40B4-BE49-F238E27FC236}">
                <a16:creationId xmlns:a16="http://schemas.microsoft.com/office/drawing/2014/main" id="{359779FA-2A58-1F0B-010A-4E2BDEAAF5DD}"/>
              </a:ext>
            </a:extLst>
          </p:cNvPr>
          <p:cNvSpPr>
            <a:spLocks noChangeArrowheads="1"/>
          </p:cNvSpPr>
          <p:nvPr/>
        </p:nvSpPr>
        <p:spPr bwMode="auto">
          <a:xfrm>
            <a:off x="381000" y="457200"/>
            <a:ext cx="8534400"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3200" dirty="0">
                <a:solidFill>
                  <a:srgbClr val="333333"/>
                </a:solidFill>
                <a:latin typeface="微软雅黑" panose="020B0503020204020204" pitchFamily="34" charset="-122"/>
                <a:ea typeface="微软雅黑" panose="020B0503020204020204" pitchFamily="34" charset="-122"/>
              </a:rPr>
              <a:t>分层架构的弊端</a:t>
            </a:r>
          </a:p>
          <a:p>
            <a:r>
              <a:rPr lang="zh-CN" altLang="en-US" sz="2400" dirty="0">
                <a:solidFill>
                  <a:srgbClr val="333333"/>
                </a:solidFill>
              </a:rPr>
              <a:t>（</a:t>
            </a:r>
            <a:r>
              <a:rPr lang="en-US" altLang="zh-CN" sz="2400" dirty="0">
                <a:solidFill>
                  <a:srgbClr val="333333"/>
                </a:solidFill>
              </a:rPr>
              <a:t>1</a:t>
            </a:r>
            <a:r>
              <a:rPr lang="zh-CN" altLang="en-US" sz="2400" dirty="0">
                <a:solidFill>
                  <a:srgbClr val="333333"/>
                </a:solidFill>
              </a:rPr>
              <a:t>）</a:t>
            </a:r>
            <a:r>
              <a:rPr lang="zh-CN" altLang="en-US" sz="2400" b="1" dirty="0">
                <a:solidFill>
                  <a:srgbClr val="FF0000"/>
                </a:solidFill>
              </a:rPr>
              <a:t>级联修改问题</a:t>
            </a:r>
            <a:r>
              <a:rPr lang="zh-CN" altLang="en-US" sz="2400" dirty="0">
                <a:solidFill>
                  <a:srgbClr val="333333"/>
                </a:solidFill>
              </a:rPr>
              <a:t>。 一些复杂的业务中，由于业务流程发生变化，为了这个变化所有层都需要修改。</a:t>
            </a:r>
            <a:r>
              <a:rPr lang="zh-CN" altLang="en-US" sz="2400" dirty="0">
                <a:solidFill>
                  <a:srgbClr val="136EC2"/>
                </a:solidFill>
              </a:rPr>
              <a:t> </a:t>
            </a:r>
            <a:endParaRPr lang="zh-CN" altLang="en-US" sz="2400" dirty="0">
              <a:solidFill>
                <a:srgbClr val="333333"/>
              </a:solidFill>
            </a:endParaRPr>
          </a:p>
          <a:p>
            <a:r>
              <a:rPr lang="zh-CN" altLang="en-US" sz="2400" dirty="0">
                <a:solidFill>
                  <a:srgbClr val="333333"/>
                </a:solidFill>
              </a:rPr>
              <a:t>（</a:t>
            </a:r>
            <a:r>
              <a:rPr lang="en-US" altLang="zh-CN" sz="2400" dirty="0">
                <a:solidFill>
                  <a:srgbClr val="333333"/>
                </a:solidFill>
              </a:rPr>
              <a:t>2</a:t>
            </a:r>
            <a:r>
              <a:rPr lang="zh-CN" altLang="en-US" sz="2400" dirty="0">
                <a:solidFill>
                  <a:srgbClr val="333333"/>
                </a:solidFill>
              </a:rPr>
              <a:t>）</a:t>
            </a:r>
            <a:r>
              <a:rPr lang="zh-CN" altLang="en-US" sz="2400" b="1" dirty="0">
                <a:solidFill>
                  <a:srgbClr val="FF0000"/>
                </a:solidFill>
              </a:rPr>
              <a:t>性能问题</a:t>
            </a:r>
            <a:r>
              <a:rPr lang="zh-CN" altLang="en-US" sz="2400" dirty="0">
                <a:solidFill>
                  <a:srgbClr val="333333"/>
                </a:solidFill>
              </a:rPr>
              <a:t>。 本来是直接简单的操作，需要在整个系统中层层传递，势必造成性能的下降，同时也加大的开发的复杂度。</a:t>
            </a:r>
            <a:r>
              <a:rPr lang="zh-CN" altLang="en-US" sz="2400" dirty="0">
                <a:solidFill>
                  <a:srgbClr val="136EC2"/>
                </a:solidFill>
              </a:rPr>
              <a:t> </a:t>
            </a:r>
            <a:endParaRPr lang="zh-CN" altLang="en-US" sz="2400" dirty="0">
              <a:solidFill>
                <a:srgbClr val="333333"/>
              </a:solidFill>
            </a:endParaRPr>
          </a:p>
          <a:p>
            <a:endParaRPr lang="en-US" altLang="zh-CN" sz="2400" dirty="0">
              <a:solidFill>
                <a:srgbClr val="333333"/>
              </a:solidFill>
            </a:endParaRPr>
          </a:p>
          <a:p>
            <a:endParaRPr lang="en-US" altLang="zh-CN" sz="2400" dirty="0">
              <a:solidFill>
                <a:srgbClr val="333333"/>
              </a:solidFill>
            </a:endParaRPr>
          </a:p>
          <a:p>
            <a:pPr eaLnBrk="1" hangingPunct="1">
              <a:spcBef>
                <a:spcPct val="50000"/>
              </a:spcBef>
            </a:pPr>
            <a:endParaRPr lang="en-US" altLang="zh-CN" dirty="0"/>
          </a:p>
          <a:p>
            <a:pPr eaLnBrk="1" hangingPunct="1">
              <a:spcBef>
                <a:spcPct val="50000"/>
              </a:spcBef>
            </a:pPr>
            <a:endParaRPr lang="en-US" altLang="zh-CN" dirty="0"/>
          </a:p>
          <a:p>
            <a:pPr eaLnBrk="1" hangingPunct="1">
              <a:spcBef>
                <a:spcPct val="50000"/>
              </a:spcBef>
            </a:pPr>
            <a:endParaRPr lang="en-US" altLang="zh-CN" dirty="0"/>
          </a:p>
          <a:p>
            <a:pPr eaLnBrk="1" hangingPunct="1">
              <a:spcBef>
                <a:spcPct val="50000"/>
              </a:spcBef>
            </a:pPr>
            <a:endParaRPr lang="en-US" altLang="zh-CN" dirty="0"/>
          </a:p>
          <a:p>
            <a:pPr eaLnBrk="1" hangingPunct="1">
              <a:spcBef>
                <a:spcPct val="50000"/>
              </a:spcBef>
            </a:pPr>
            <a:endParaRPr lang="en-US" altLang="zh-CN" dirty="0"/>
          </a:p>
        </p:txBody>
      </p:sp>
      <p:pic>
        <p:nvPicPr>
          <p:cNvPr id="10243" name="图片 1">
            <a:extLst>
              <a:ext uri="{FF2B5EF4-FFF2-40B4-BE49-F238E27FC236}">
                <a16:creationId xmlns:a16="http://schemas.microsoft.com/office/drawing/2014/main" id="{76B64C18-54EA-7F3B-39C9-2CE931A7A5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5781675"/>
            <a:ext cx="7389813"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6486813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77142A97-102C-BCC3-EA86-FEF9F03FDF5C}"/>
              </a:ext>
            </a:extLst>
          </p:cNvPr>
          <p:cNvSpPr>
            <a:spLocks noGrp="1" noChangeArrowheads="1"/>
          </p:cNvSpPr>
          <p:nvPr>
            <p:ph type="title"/>
          </p:nvPr>
        </p:nvSpPr>
        <p:spPr/>
        <p:txBody>
          <a:bodyPr/>
          <a:lstStyle/>
          <a:p>
            <a:pPr eaLnBrk="1" hangingPunct="1"/>
            <a:r>
              <a:rPr lang="en-US" altLang="en-US" sz="3600" dirty="0"/>
              <a:t>DCS </a:t>
            </a:r>
            <a:r>
              <a:rPr lang="en-US" altLang="en-US" sz="3600" dirty="0" err="1"/>
              <a:t>的构成与联系</a:t>
            </a:r>
            <a:endParaRPr lang="zh-CN" altLang="en-US" sz="3600" dirty="0"/>
          </a:p>
        </p:txBody>
      </p:sp>
      <p:sp>
        <p:nvSpPr>
          <p:cNvPr id="48131" name="Rectangle 3">
            <a:extLst>
              <a:ext uri="{FF2B5EF4-FFF2-40B4-BE49-F238E27FC236}">
                <a16:creationId xmlns:a16="http://schemas.microsoft.com/office/drawing/2014/main" id="{15969925-A3E2-D7A3-24EF-F760650B85BC}"/>
              </a:ext>
            </a:extLst>
          </p:cNvPr>
          <p:cNvSpPr>
            <a:spLocks noChangeArrowheads="1"/>
          </p:cNvSpPr>
          <p:nvPr/>
        </p:nvSpPr>
        <p:spPr bwMode="auto">
          <a:xfrm>
            <a:off x="0" y="1447800"/>
            <a:ext cx="38100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latin typeface="TT17E3o00" charset="-122"/>
              </a:rPr>
              <a:t>一个最基本的 </a:t>
            </a:r>
            <a:r>
              <a:rPr lang="en-US" altLang="zh-CN" sz="2400" dirty="0">
                <a:latin typeface="TT17E3o00" charset="-122"/>
              </a:rPr>
              <a:t>DCS </a:t>
            </a:r>
            <a:r>
              <a:rPr lang="zh-CN" altLang="en-US" sz="2400" dirty="0">
                <a:latin typeface="TT17E3o00" charset="-122"/>
              </a:rPr>
              <a:t>应包括四个大的组成部分：至少一台</a:t>
            </a:r>
            <a:r>
              <a:rPr lang="zh-CN" altLang="en-US" sz="2400" b="1" dirty="0">
                <a:solidFill>
                  <a:srgbClr val="FF0000"/>
                </a:solidFill>
                <a:latin typeface="TT17E3o00" charset="-122"/>
              </a:rPr>
              <a:t>现场控制站</a:t>
            </a:r>
            <a:r>
              <a:rPr lang="zh-CN" altLang="en-US" sz="2400" dirty="0">
                <a:latin typeface="TT17E3o00" charset="-122"/>
              </a:rPr>
              <a:t>，至少一台</a:t>
            </a:r>
            <a:r>
              <a:rPr lang="zh-CN" altLang="en-US" sz="2400" b="1" dirty="0">
                <a:solidFill>
                  <a:srgbClr val="FF0000"/>
                </a:solidFill>
                <a:latin typeface="TT17E3o00" charset="-122"/>
              </a:rPr>
              <a:t>操作员站</a:t>
            </a:r>
            <a:r>
              <a:rPr lang="zh-CN" altLang="en-US" sz="2400" dirty="0">
                <a:latin typeface="TT17E3o00" charset="-122"/>
              </a:rPr>
              <a:t>一台</a:t>
            </a:r>
            <a:r>
              <a:rPr lang="zh-CN" altLang="en-US" sz="2400" b="1" dirty="0">
                <a:solidFill>
                  <a:srgbClr val="FF0000"/>
                </a:solidFill>
                <a:latin typeface="TT17E3o00" charset="-122"/>
              </a:rPr>
              <a:t>工程师站</a:t>
            </a:r>
            <a:r>
              <a:rPr lang="zh-CN" altLang="en-US" sz="2400" dirty="0">
                <a:latin typeface="TT17E3o00" charset="-122"/>
              </a:rPr>
              <a:t> </a:t>
            </a:r>
            <a:r>
              <a:rPr lang="en-US" altLang="zh-CN" sz="2400" dirty="0">
                <a:latin typeface="TT17E3o00" charset="-122"/>
              </a:rPr>
              <a:t>( </a:t>
            </a:r>
            <a:r>
              <a:rPr lang="zh-CN" altLang="en-US" sz="2400" dirty="0">
                <a:latin typeface="TT17E3o00" charset="-122"/>
              </a:rPr>
              <a:t>也可利用一台操作员站兼做工程师站 </a:t>
            </a:r>
            <a:r>
              <a:rPr lang="en-US" altLang="zh-CN" sz="2400" dirty="0">
                <a:latin typeface="TT17E3o00" charset="-122"/>
              </a:rPr>
              <a:t>) </a:t>
            </a:r>
            <a:r>
              <a:rPr lang="zh-CN" altLang="en-US" sz="2400" dirty="0">
                <a:latin typeface="TT17E3o00" charset="-122"/>
              </a:rPr>
              <a:t>，一条</a:t>
            </a:r>
            <a:r>
              <a:rPr lang="zh-CN" altLang="en-US" sz="2400" b="1" dirty="0">
                <a:solidFill>
                  <a:srgbClr val="FF0000"/>
                </a:solidFill>
                <a:latin typeface="TT17E3o00" charset="-122"/>
              </a:rPr>
              <a:t>系统网络</a:t>
            </a:r>
            <a:r>
              <a:rPr lang="zh-CN" altLang="en-US" sz="2400" dirty="0">
                <a:latin typeface="TT17E3o00" charset="-122"/>
              </a:rPr>
              <a:t>。一个典型的 </a:t>
            </a:r>
            <a:r>
              <a:rPr lang="en-US" altLang="zh-CN" sz="2400" dirty="0">
                <a:latin typeface="TT17E3o00" charset="-122"/>
              </a:rPr>
              <a:t>DCS</a:t>
            </a:r>
            <a:r>
              <a:rPr lang="zh-CN" altLang="en-US" sz="2400" dirty="0">
                <a:latin typeface="TT17E3o00" charset="-122"/>
              </a:rPr>
              <a:t>体结构如图 </a:t>
            </a:r>
            <a:r>
              <a:rPr lang="en-US" altLang="zh-CN" sz="2400" dirty="0">
                <a:latin typeface="TT17E3o00" charset="-122"/>
              </a:rPr>
              <a:t>2.7 </a:t>
            </a:r>
            <a:r>
              <a:rPr lang="zh-CN" altLang="en-US" sz="2400" dirty="0">
                <a:latin typeface="TT17E3o00" charset="-122"/>
              </a:rPr>
              <a:t>所示，图中表明了 </a:t>
            </a:r>
            <a:r>
              <a:rPr lang="en-US" altLang="zh-CN" sz="2400" dirty="0">
                <a:latin typeface="TT17E3o00" charset="-122"/>
              </a:rPr>
              <a:t>DCS </a:t>
            </a:r>
            <a:r>
              <a:rPr lang="zh-CN" altLang="en-US" sz="2400" dirty="0">
                <a:latin typeface="TT17E3o00" charset="-122"/>
              </a:rPr>
              <a:t>各主要组成部分和各部分之间的连接关系。</a:t>
            </a:r>
          </a:p>
        </p:txBody>
      </p:sp>
      <p:pic>
        <p:nvPicPr>
          <p:cNvPr id="48133" name="Picture 7">
            <a:extLst>
              <a:ext uri="{FF2B5EF4-FFF2-40B4-BE49-F238E27FC236}">
                <a16:creationId xmlns:a16="http://schemas.microsoft.com/office/drawing/2014/main" id="{5825EA31-01A1-6436-AC11-D5D0CC5E54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1371600"/>
            <a:ext cx="5486400" cy="3757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8134" name="Rectangle 8">
            <a:extLst>
              <a:ext uri="{FF2B5EF4-FFF2-40B4-BE49-F238E27FC236}">
                <a16:creationId xmlns:a16="http://schemas.microsoft.com/office/drawing/2014/main" id="{71E0CC3D-D8F1-9D8C-1478-A5A8D396C8F4}"/>
              </a:ext>
            </a:extLst>
          </p:cNvPr>
          <p:cNvSpPr>
            <a:spLocks noChangeArrowheads="1"/>
          </p:cNvSpPr>
          <p:nvPr/>
        </p:nvSpPr>
        <p:spPr bwMode="auto">
          <a:xfrm>
            <a:off x="4876800" y="5562600"/>
            <a:ext cx="3257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1800"/>
              <a:t>图 </a:t>
            </a:r>
            <a:r>
              <a:rPr lang="en-US" altLang="zh-CN" sz="1800"/>
              <a:t>2.7    </a:t>
            </a:r>
            <a:r>
              <a:rPr lang="zh-CN" altLang="en-US" sz="1800"/>
              <a:t>典型的 </a:t>
            </a:r>
            <a:r>
              <a:rPr lang="en-US" altLang="zh-CN" sz="1800"/>
              <a:t>DCS </a:t>
            </a:r>
            <a:r>
              <a:rPr lang="zh-CN" altLang="en-US" sz="1800"/>
              <a:t>体系结构</a:t>
            </a:r>
          </a:p>
        </p:txBody>
      </p:sp>
      <p:sp>
        <p:nvSpPr>
          <p:cNvPr id="2" name="文本框 1">
            <a:extLst>
              <a:ext uri="{FF2B5EF4-FFF2-40B4-BE49-F238E27FC236}">
                <a16:creationId xmlns:a16="http://schemas.microsoft.com/office/drawing/2014/main" id="{26A235E3-7B84-8FF9-5417-47D466ADB4AD}"/>
              </a:ext>
            </a:extLst>
          </p:cNvPr>
          <p:cNvSpPr txBox="1"/>
          <p:nvPr/>
        </p:nvSpPr>
        <p:spPr>
          <a:xfrm rot="420000">
            <a:off x="7288995" y="356322"/>
            <a:ext cx="1440160" cy="584775"/>
          </a:xfrm>
          <a:prstGeom prst="rect">
            <a:avLst/>
          </a:prstGeom>
          <a:noFill/>
          <a:ln w="19050">
            <a:solidFill>
              <a:srgbClr val="FF0000"/>
            </a:solidFill>
          </a:ln>
        </p:spPr>
        <p:txBody>
          <a:bodyPr wrap="square" rtlCol="0">
            <a:spAutoFit/>
          </a:body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48A39EA5-A0A9-FF99-D0E6-9E6AF1B4C6DC}"/>
              </a:ext>
            </a:extLst>
          </p:cNvPr>
          <p:cNvSpPr>
            <a:spLocks noGrp="1" noChangeArrowheads="1"/>
          </p:cNvSpPr>
          <p:nvPr>
            <p:ph type="title"/>
          </p:nvPr>
        </p:nvSpPr>
        <p:spPr/>
        <p:txBody>
          <a:bodyPr/>
          <a:lstStyle/>
          <a:p>
            <a:pPr eaLnBrk="1" hangingPunct="1"/>
            <a:r>
              <a:rPr lang="en-US" altLang="en-US" sz="3600"/>
              <a:t>1.  操作员站</a:t>
            </a:r>
            <a:endParaRPr lang="zh-CN" altLang="en-US" sz="3600"/>
          </a:p>
        </p:txBody>
      </p:sp>
      <p:sp>
        <p:nvSpPr>
          <p:cNvPr id="49155" name="Rectangle 3">
            <a:extLst>
              <a:ext uri="{FF2B5EF4-FFF2-40B4-BE49-F238E27FC236}">
                <a16:creationId xmlns:a16="http://schemas.microsoft.com/office/drawing/2014/main" id="{DE9A4D6F-7C97-0843-FD0B-88258B5C755B}"/>
              </a:ext>
            </a:extLst>
          </p:cNvPr>
          <p:cNvSpPr>
            <a:spLocks noChangeArrowheads="1"/>
          </p:cNvSpPr>
          <p:nvPr/>
        </p:nvSpPr>
        <p:spPr bwMode="auto">
          <a:xfrm>
            <a:off x="228600" y="1066800"/>
            <a:ext cx="87630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latin typeface="TT17E3o00" charset="-122"/>
              </a:rPr>
              <a:t>操作员站主要完成人机界面的功能，一般采用桌面型通用计算机系统，如图形工作站或个人计算机等。其配置与常规的桌面系统相同，但要求有大尺寸的显示器 </a:t>
            </a:r>
            <a:r>
              <a:rPr lang="en-US" altLang="zh-CN" sz="2400" dirty="0">
                <a:latin typeface="TT17E3o00" charset="-122"/>
              </a:rPr>
              <a:t>(CRT </a:t>
            </a:r>
            <a:r>
              <a:rPr lang="zh-CN" altLang="en-US" sz="2400" dirty="0">
                <a:latin typeface="TT17E3o00" charset="-122"/>
              </a:rPr>
              <a:t>或液晶屏 </a:t>
            </a:r>
            <a:r>
              <a:rPr lang="en-US" altLang="zh-CN" sz="2400" dirty="0">
                <a:latin typeface="TT17E3o00" charset="-122"/>
              </a:rPr>
              <a:t>)</a:t>
            </a:r>
            <a:r>
              <a:rPr lang="zh-CN" altLang="en-US" sz="2400" dirty="0">
                <a:latin typeface="TT17E3o00" charset="-122"/>
              </a:rPr>
              <a:t>和性能好的图形处理器，有些系统还要求每台操作员站使用多屏幕，以拓宽操作员的观察范围。</a:t>
            </a:r>
          </a:p>
        </p:txBody>
      </p:sp>
      <p:pic>
        <p:nvPicPr>
          <p:cNvPr id="2" name="图片 1">
            <a:extLst>
              <a:ext uri="{FF2B5EF4-FFF2-40B4-BE49-F238E27FC236}">
                <a16:creationId xmlns:a16="http://schemas.microsoft.com/office/drawing/2014/main" id="{CEC6E135-B734-9407-93C5-A9FE0E012FE3}"/>
              </a:ext>
            </a:extLst>
          </p:cNvPr>
          <p:cNvPicPr>
            <a:picLocks noChangeAspect="1"/>
          </p:cNvPicPr>
          <p:nvPr/>
        </p:nvPicPr>
        <p:blipFill rotWithShape="1">
          <a:blip r:embed="rId2"/>
          <a:srcRect l="4209" r="5148"/>
          <a:stretch/>
        </p:blipFill>
        <p:spPr>
          <a:xfrm>
            <a:off x="148057" y="3422520"/>
            <a:ext cx="4010710" cy="2952328"/>
          </a:xfrm>
          <a:prstGeom prst="rect">
            <a:avLst/>
          </a:prstGeom>
        </p:spPr>
      </p:pic>
      <p:pic>
        <p:nvPicPr>
          <p:cNvPr id="1026" name="Picture 2" descr="PCS7系统上位机组态3">
            <a:extLst>
              <a:ext uri="{FF2B5EF4-FFF2-40B4-BE49-F238E27FC236}">
                <a16:creationId xmlns:a16="http://schemas.microsoft.com/office/drawing/2014/main" id="{3FD537C0-5898-A6AF-3E9D-2FE53E21937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38123" y="3416086"/>
            <a:ext cx="4734020" cy="29587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6422510F-54BE-7E20-C83C-DCD93755D6B2}"/>
              </a:ext>
            </a:extLst>
          </p:cNvPr>
          <p:cNvSpPr>
            <a:spLocks noGrp="1" noChangeArrowheads="1"/>
          </p:cNvSpPr>
          <p:nvPr>
            <p:ph type="title"/>
          </p:nvPr>
        </p:nvSpPr>
        <p:spPr/>
        <p:txBody>
          <a:bodyPr/>
          <a:lstStyle/>
          <a:p>
            <a:pPr eaLnBrk="1" hangingPunct="1"/>
            <a:r>
              <a:rPr lang="en-US" altLang="en-US" sz="3600"/>
              <a:t>2.  现场控制站</a:t>
            </a:r>
            <a:endParaRPr lang="zh-CN" altLang="en-US" sz="3600"/>
          </a:p>
        </p:txBody>
      </p:sp>
      <p:sp>
        <p:nvSpPr>
          <p:cNvPr id="50179" name="Rectangle 3">
            <a:extLst>
              <a:ext uri="{FF2B5EF4-FFF2-40B4-BE49-F238E27FC236}">
                <a16:creationId xmlns:a16="http://schemas.microsoft.com/office/drawing/2014/main" id="{10AE072C-0CC1-4888-736E-A8055666CB26}"/>
              </a:ext>
            </a:extLst>
          </p:cNvPr>
          <p:cNvSpPr>
            <a:spLocks noChangeArrowheads="1"/>
          </p:cNvSpPr>
          <p:nvPr/>
        </p:nvSpPr>
        <p:spPr bwMode="auto">
          <a:xfrm>
            <a:off x="228600" y="1066800"/>
            <a:ext cx="87630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latin typeface="TT17E3o00" charset="-122"/>
              </a:rPr>
              <a:t>现场控制站是 </a:t>
            </a:r>
            <a:r>
              <a:rPr lang="en-US" altLang="zh-CN" sz="2400" dirty="0">
                <a:latin typeface="TT17E3o00" charset="-122"/>
              </a:rPr>
              <a:t>DCS </a:t>
            </a:r>
            <a:r>
              <a:rPr lang="zh-CN" altLang="en-US" sz="2400" dirty="0">
                <a:latin typeface="TT17E3o00" charset="-122"/>
              </a:rPr>
              <a:t>的核心，系统</a:t>
            </a:r>
            <a:r>
              <a:rPr lang="zh-CN" altLang="en-US" sz="2400" dirty="0">
                <a:solidFill>
                  <a:srgbClr val="FF0000"/>
                </a:solidFill>
                <a:latin typeface="TT17E3o00" charset="-122"/>
              </a:rPr>
              <a:t>主要的控制功能由它来完成</a:t>
            </a:r>
            <a:r>
              <a:rPr lang="zh-CN" altLang="en-US" sz="2400" dirty="0">
                <a:latin typeface="TT17E3o00" charset="-122"/>
              </a:rPr>
              <a:t>。系统的性能、可靠性等重要指标也都要依靠现场控制站保证，因此对它的设计、生产及安装都有很高的要求。现场控制站的硬件一般都采用专门的工业级计算机系统，其中除了计算机系统所必需的运算器 </a:t>
            </a:r>
            <a:r>
              <a:rPr lang="en-US" altLang="zh-CN" sz="2400" dirty="0">
                <a:latin typeface="TT17E3o00" charset="-122"/>
              </a:rPr>
              <a:t>( </a:t>
            </a:r>
            <a:r>
              <a:rPr lang="zh-CN" altLang="en-US" sz="2400" dirty="0">
                <a:latin typeface="TT17E3o00" charset="-122"/>
              </a:rPr>
              <a:t>即主 </a:t>
            </a:r>
            <a:r>
              <a:rPr lang="en-US" altLang="zh-CN" sz="2400" dirty="0">
                <a:latin typeface="TT17E3o00" charset="-122"/>
              </a:rPr>
              <a:t>CPU) </a:t>
            </a:r>
            <a:r>
              <a:rPr lang="zh-CN" altLang="en-US" sz="2400" dirty="0">
                <a:latin typeface="TT17E3o00" charset="-122"/>
              </a:rPr>
              <a:t>、存储器外，还包括了现场测量单元、执行单元的输入 </a:t>
            </a:r>
            <a:r>
              <a:rPr lang="en-US" altLang="zh-CN" sz="2400" dirty="0">
                <a:latin typeface="TT17E3o00" charset="-122"/>
              </a:rPr>
              <a:t>/ </a:t>
            </a:r>
            <a:r>
              <a:rPr lang="zh-CN" altLang="en-US" sz="2400" dirty="0">
                <a:latin typeface="TT17E3o00" charset="-122"/>
              </a:rPr>
              <a:t>输出设备，即过程量</a:t>
            </a:r>
            <a:r>
              <a:rPr lang="en-US" altLang="zh-CN" sz="2400" dirty="0">
                <a:latin typeface="TT17E3o00" charset="-122"/>
              </a:rPr>
              <a:t>I/O </a:t>
            </a:r>
            <a:r>
              <a:rPr lang="zh-CN" altLang="en-US" sz="2400" dirty="0">
                <a:latin typeface="TT17E3o00" charset="-122"/>
              </a:rPr>
              <a:t>或现场 </a:t>
            </a:r>
            <a:r>
              <a:rPr lang="en-US" altLang="zh-CN" sz="2400" dirty="0">
                <a:latin typeface="TT17E3o00" charset="-122"/>
              </a:rPr>
              <a:t>I/O </a:t>
            </a:r>
            <a:r>
              <a:rPr lang="zh-CN" altLang="en-US" sz="2400" dirty="0">
                <a:latin typeface="TT17E3o00" charset="-122"/>
              </a:rPr>
              <a:t>。</a:t>
            </a:r>
          </a:p>
        </p:txBody>
      </p:sp>
      <p:pic>
        <p:nvPicPr>
          <p:cNvPr id="3" name="图片 2">
            <a:extLst>
              <a:ext uri="{FF2B5EF4-FFF2-40B4-BE49-F238E27FC236}">
                <a16:creationId xmlns:a16="http://schemas.microsoft.com/office/drawing/2014/main" id="{ECB4C9F7-BD25-72C4-BD0D-6A67F2951883}"/>
              </a:ext>
            </a:extLst>
          </p:cNvPr>
          <p:cNvPicPr>
            <a:picLocks noChangeAspect="1"/>
          </p:cNvPicPr>
          <p:nvPr/>
        </p:nvPicPr>
        <p:blipFill>
          <a:blip r:embed="rId2"/>
          <a:stretch>
            <a:fillRect/>
          </a:stretch>
        </p:blipFill>
        <p:spPr>
          <a:xfrm>
            <a:off x="760331" y="4048270"/>
            <a:ext cx="7623338" cy="2232248"/>
          </a:xfrm>
          <a:prstGeom prst="rect">
            <a:avLst/>
          </a:prstGeom>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F3E22F73-8AF7-2A6D-D1E4-ED618FDBA8B5}"/>
              </a:ext>
            </a:extLst>
          </p:cNvPr>
          <p:cNvSpPr>
            <a:spLocks noGrp="1" noChangeArrowheads="1"/>
          </p:cNvSpPr>
          <p:nvPr>
            <p:ph type="title"/>
          </p:nvPr>
        </p:nvSpPr>
        <p:spPr/>
        <p:txBody>
          <a:bodyPr/>
          <a:lstStyle/>
          <a:p>
            <a:pPr eaLnBrk="1" hangingPunct="1"/>
            <a:r>
              <a:rPr lang="en-US" altLang="en-US" sz="3600"/>
              <a:t>3.  工程师站</a:t>
            </a:r>
            <a:endParaRPr lang="zh-CN" altLang="en-US" sz="3600"/>
          </a:p>
        </p:txBody>
      </p:sp>
      <p:sp>
        <p:nvSpPr>
          <p:cNvPr id="52227" name="Rectangle 3">
            <a:extLst>
              <a:ext uri="{FF2B5EF4-FFF2-40B4-BE49-F238E27FC236}">
                <a16:creationId xmlns:a16="http://schemas.microsoft.com/office/drawing/2014/main" id="{EB8DC8D0-C761-D7CE-5C46-6456793C9F8E}"/>
              </a:ext>
            </a:extLst>
          </p:cNvPr>
          <p:cNvSpPr>
            <a:spLocks noChangeArrowheads="1"/>
          </p:cNvSpPr>
          <p:nvPr/>
        </p:nvSpPr>
        <p:spPr bwMode="auto">
          <a:xfrm>
            <a:off x="190500" y="1219200"/>
            <a:ext cx="87630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latin typeface="TT17E3o00" charset="-122"/>
              </a:rPr>
              <a:t>工程师站是 </a:t>
            </a:r>
            <a:r>
              <a:rPr lang="en-US" altLang="zh-CN" sz="2400" dirty="0">
                <a:latin typeface="TT17E3o00" charset="-122"/>
              </a:rPr>
              <a:t>DCS </a:t>
            </a:r>
            <a:r>
              <a:rPr lang="zh-CN" altLang="en-US" sz="2400" dirty="0">
                <a:latin typeface="TT17E3o00" charset="-122"/>
              </a:rPr>
              <a:t>中的一个特殊功能站，</a:t>
            </a:r>
            <a:r>
              <a:rPr lang="zh-CN" altLang="en-US" sz="2400" dirty="0">
                <a:solidFill>
                  <a:srgbClr val="FF0000"/>
                </a:solidFill>
                <a:latin typeface="TT17E3o00" charset="-122"/>
              </a:rPr>
              <a:t>其主要作用是对 </a:t>
            </a:r>
            <a:r>
              <a:rPr lang="en-US" altLang="zh-CN" sz="2400" dirty="0">
                <a:solidFill>
                  <a:srgbClr val="FF0000"/>
                </a:solidFill>
                <a:latin typeface="TT17E3o00" charset="-122"/>
              </a:rPr>
              <a:t>DCS </a:t>
            </a:r>
            <a:r>
              <a:rPr lang="zh-CN" altLang="en-US" sz="2400" dirty="0">
                <a:solidFill>
                  <a:srgbClr val="FF0000"/>
                </a:solidFill>
                <a:latin typeface="TT17E3o00" charset="-122"/>
              </a:rPr>
              <a:t>进行应用组态</a:t>
            </a:r>
            <a:r>
              <a:rPr lang="zh-CN" altLang="en-US" sz="2400" dirty="0">
                <a:latin typeface="TT17E3o00" charset="-122"/>
              </a:rPr>
              <a:t>。应用组态是 </a:t>
            </a:r>
            <a:r>
              <a:rPr lang="en-US" altLang="zh-CN" sz="2400" dirty="0">
                <a:latin typeface="TT17E3o00" charset="-122"/>
              </a:rPr>
              <a:t>DCS </a:t>
            </a:r>
            <a:r>
              <a:rPr lang="zh-CN" altLang="en-US" sz="2400" dirty="0">
                <a:latin typeface="TT17E3o00" charset="-122"/>
              </a:rPr>
              <a:t>应用过程当中必不可少的一个环节，因为 </a:t>
            </a:r>
            <a:r>
              <a:rPr lang="en-US" altLang="zh-CN" sz="2400" dirty="0">
                <a:latin typeface="TT17E3o00" charset="-122"/>
              </a:rPr>
              <a:t>DCS </a:t>
            </a:r>
            <a:r>
              <a:rPr lang="zh-CN" altLang="en-US" sz="2400" dirty="0">
                <a:latin typeface="TT17E3o00" charset="-122"/>
              </a:rPr>
              <a:t>是一个通用的控制系统，在其上可实现各种各样的应用。</a:t>
            </a:r>
            <a:endParaRPr lang="en-US" altLang="zh-CN" sz="2400" dirty="0">
              <a:latin typeface="TT17E3o00" charset="-122"/>
            </a:endParaRPr>
          </a:p>
          <a:p>
            <a:pPr marL="342900" indent="-342900" eaLnBrk="1" hangingPunct="1">
              <a:spcBef>
                <a:spcPct val="50000"/>
              </a:spcBef>
              <a:buFont typeface="Arial" panose="020B0604020202020204" pitchFamily="34" charset="0"/>
              <a:buChar char="•"/>
            </a:pPr>
            <a:r>
              <a:rPr lang="zh-CN" altLang="en-US" sz="2400" dirty="0">
                <a:latin typeface="TT17E3o00" charset="-122"/>
              </a:rPr>
              <a:t>控制的输入</a:t>
            </a:r>
            <a:r>
              <a:rPr lang="en-US" altLang="zh-CN" sz="2400" dirty="0">
                <a:latin typeface="TT17E3o00" charset="-122"/>
              </a:rPr>
              <a:t>/</a:t>
            </a:r>
            <a:r>
              <a:rPr lang="zh-CN" altLang="en-US" sz="2400" dirty="0">
                <a:latin typeface="TT17E3o00" charset="-122"/>
              </a:rPr>
              <a:t>输出量是什么，</a:t>
            </a:r>
            <a:endParaRPr lang="en-US" altLang="zh-CN" sz="2400" dirty="0">
              <a:latin typeface="TT17E3o00" charset="-122"/>
            </a:endParaRPr>
          </a:p>
          <a:p>
            <a:pPr marL="342900" indent="-342900" eaLnBrk="1" hangingPunct="1">
              <a:spcBef>
                <a:spcPct val="50000"/>
              </a:spcBef>
              <a:buFont typeface="Arial" panose="020B0604020202020204" pitchFamily="34" charset="0"/>
              <a:buChar char="•"/>
            </a:pPr>
            <a:r>
              <a:rPr lang="zh-CN" altLang="en-US" sz="2400" dirty="0">
                <a:latin typeface="TT17E3o00" charset="-122"/>
              </a:rPr>
              <a:t>控制回路的算法如何，</a:t>
            </a:r>
            <a:endParaRPr lang="en-US" altLang="zh-CN" sz="2400" dirty="0">
              <a:latin typeface="TT17E3o00" charset="-122"/>
            </a:endParaRPr>
          </a:p>
          <a:p>
            <a:pPr marL="342900" indent="-342900" eaLnBrk="1" hangingPunct="1">
              <a:spcBef>
                <a:spcPct val="50000"/>
              </a:spcBef>
              <a:buFont typeface="Arial" panose="020B0604020202020204" pitchFamily="34" charset="0"/>
              <a:buChar char="•"/>
            </a:pPr>
            <a:r>
              <a:rPr lang="zh-CN" altLang="en-US" sz="2400" dirty="0">
                <a:latin typeface="TT17E3o00" charset="-122"/>
              </a:rPr>
              <a:t>在控制计算中选取什么样的参数，</a:t>
            </a:r>
            <a:endParaRPr lang="en-US" altLang="zh-CN" sz="2400" dirty="0">
              <a:latin typeface="TT17E3o00" charset="-122"/>
            </a:endParaRPr>
          </a:p>
          <a:p>
            <a:pPr marL="342900" indent="-342900" eaLnBrk="1" hangingPunct="1">
              <a:spcBef>
                <a:spcPct val="50000"/>
              </a:spcBef>
              <a:buFont typeface="Arial" panose="020B0604020202020204" pitchFamily="34" charset="0"/>
              <a:buChar char="•"/>
            </a:pPr>
            <a:r>
              <a:rPr lang="zh-CN" altLang="en-US" sz="2400" dirty="0">
                <a:latin typeface="TT17E3o00" charset="-122"/>
              </a:rPr>
              <a:t>人机界面来实现人对系统的管理与监控</a:t>
            </a:r>
            <a:endParaRPr lang="en-US" altLang="zh-CN" sz="2400" dirty="0">
              <a:latin typeface="TT17E3o00" charset="-122"/>
            </a:endParaRPr>
          </a:p>
          <a:p>
            <a:pPr marL="342900" indent="-342900" eaLnBrk="1" hangingPunct="1">
              <a:spcBef>
                <a:spcPct val="50000"/>
              </a:spcBef>
              <a:buFont typeface="Arial" panose="020B0604020202020204" pitchFamily="34" charset="0"/>
              <a:buChar char="•"/>
            </a:pPr>
            <a:r>
              <a:rPr lang="zh-CN" altLang="en-US" sz="2400" dirty="0">
                <a:latin typeface="TT17E3o00" charset="-122"/>
              </a:rPr>
              <a:t>报警、报表及历史数据记录等各个方面功能的定义，</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F3E22F73-8AF7-2A6D-D1E4-ED618FDBA8B5}"/>
              </a:ext>
            </a:extLst>
          </p:cNvPr>
          <p:cNvSpPr>
            <a:spLocks noGrp="1" noChangeArrowheads="1"/>
          </p:cNvSpPr>
          <p:nvPr>
            <p:ph type="title"/>
          </p:nvPr>
        </p:nvSpPr>
        <p:spPr/>
        <p:txBody>
          <a:bodyPr/>
          <a:lstStyle/>
          <a:p>
            <a:pPr eaLnBrk="1" hangingPunct="1"/>
            <a:r>
              <a:rPr lang="en-US" altLang="en-US" sz="3600" dirty="0"/>
              <a:t>3.  </a:t>
            </a:r>
            <a:r>
              <a:rPr lang="en-US" altLang="en-US" sz="3600" dirty="0" err="1"/>
              <a:t>工程师站</a:t>
            </a:r>
            <a:endParaRPr lang="zh-CN" altLang="en-US" sz="3600" dirty="0"/>
          </a:p>
        </p:txBody>
      </p:sp>
      <p:pic>
        <p:nvPicPr>
          <p:cNvPr id="2" name="图片 1">
            <a:extLst>
              <a:ext uri="{FF2B5EF4-FFF2-40B4-BE49-F238E27FC236}">
                <a16:creationId xmlns:a16="http://schemas.microsoft.com/office/drawing/2014/main" id="{21C397BE-6D79-B0C7-40E1-B16E6BC4D158}"/>
              </a:ext>
            </a:extLst>
          </p:cNvPr>
          <p:cNvPicPr>
            <a:picLocks noChangeAspect="1"/>
          </p:cNvPicPr>
          <p:nvPr/>
        </p:nvPicPr>
        <p:blipFill>
          <a:blip r:embed="rId2"/>
          <a:stretch>
            <a:fillRect/>
          </a:stretch>
        </p:blipFill>
        <p:spPr>
          <a:xfrm>
            <a:off x="630620" y="1129913"/>
            <a:ext cx="3982216" cy="2430988"/>
          </a:xfrm>
          <a:prstGeom prst="rect">
            <a:avLst/>
          </a:prstGeom>
        </p:spPr>
      </p:pic>
      <p:sp>
        <p:nvSpPr>
          <p:cNvPr id="4" name="文本框 3">
            <a:extLst>
              <a:ext uri="{FF2B5EF4-FFF2-40B4-BE49-F238E27FC236}">
                <a16:creationId xmlns:a16="http://schemas.microsoft.com/office/drawing/2014/main" id="{5A31933F-52BB-15C2-1474-5B0E4BF2DBA8}"/>
              </a:ext>
            </a:extLst>
          </p:cNvPr>
          <p:cNvSpPr txBox="1"/>
          <p:nvPr/>
        </p:nvSpPr>
        <p:spPr>
          <a:xfrm>
            <a:off x="1169714" y="3563724"/>
            <a:ext cx="2444824" cy="369332"/>
          </a:xfrm>
          <a:prstGeom prst="rect">
            <a:avLst/>
          </a:prstGeom>
          <a:noFill/>
        </p:spPr>
        <p:txBody>
          <a:bodyPr wrap="square">
            <a:spAutoFit/>
          </a:bodyPr>
          <a:lstStyle/>
          <a:p>
            <a:pPr algn="ctr"/>
            <a:r>
              <a:rPr lang="zh-CN" altLang="en-US" sz="1800" dirty="0">
                <a:latin typeface="TT17E3o00" charset="-122"/>
              </a:rPr>
              <a:t>控制回路的算法</a:t>
            </a:r>
            <a:endParaRPr lang="zh-CN" altLang="en-US" dirty="0"/>
          </a:p>
        </p:txBody>
      </p:sp>
      <p:pic>
        <p:nvPicPr>
          <p:cNvPr id="5" name="图片 4">
            <a:extLst>
              <a:ext uri="{FF2B5EF4-FFF2-40B4-BE49-F238E27FC236}">
                <a16:creationId xmlns:a16="http://schemas.microsoft.com/office/drawing/2014/main" id="{11C3CE2E-595A-F771-F8B9-85B3BA7F702F}"/>
              </a:ext>
            </a:extLst>
          </p:cNvPr>
          <p:cNvPicPr>
            <a:picLocks noChangeAspect="1"/>
          </p:cNvPicPr>
          <p:nvPr/>
        </p:nvPicPr>
        <p:blipFill>
          <a:blip r:embed="rId3"/>
          <a:stretch>
            <a:fillRect/>
          </a:stretch>
        </p:blipFill>
        <p:spPr>
          <a:xfrm>
            <a:off x="5202162" y="1178284"/>
            <a:ext cx="3114254" cy="2386492"/>
          </a:xfrm>
          <a:prstGeom prst="rect">
            <a:avLst/>
          </a:prstGeom>
        </p:spPr>
      </p:pic>
      <p:sp>
        <p:nvSpPr>
          <p:cNvPr id="6" name="文本框 5">
            <a:extLst>
              <a:ext uri="{FF2B5EF4-FFF2-40B4-BE49-F238E27FC236}">
                <a16:creationId xmlns:a16="http://schemas.microsoft.com/office/drawing/2014/main" id="{18AD883B-9EAB-11DF-C2A4-8C60C215553E}"/>
              </a:ext>
            </a:extLst>
          </p:cNvPr>
          <p:cNvSpPr txBox="1"/>
          <p:nvPr/>
        </p:nvSpPr>
        <p:spPr>
          <a:xfrm>
            <a:off x="5536877" y="3515093"/>
            <a:ext cx="2444824" cy="369332"/>
          </a:xfrm>
          <a:prstGeom prst="rect">
            <a:avLst/>
          </a:prstGeom>
          <a:noFill/>
        </p:spPr>
        <p:txBody>
          <a:bodyPr wrap="square">
            <a:spAutoFit/>
          </a:bodyPr>
          <a:lstStyle/>
          <a:p>
            <a:pPr algn="ctr"/>
            <a:r>
              <a:rPr lang="zh-CN" altLang="en-US" dirty="0"/>
              <a:t>符号表定义</a:t>
            </a:r>
          </a:p>
        </p:txBody>
      </p:sp>
      <p:pic>
        <p:nvPicPr>
          <p:cNvPr id="7" name="图片 6">
            <a:extLst>
              <a:ext uri="{FF2B5EF4-FFF2-40B4-BE49-F238E27FC236}">
                <a16:creationId xmlns:a16="http://schemas.microsoft.com/office/drawing/2014/main" id="{6DC03595-898F-618B-8830-DBB258929290}"/>
              </a:ext>
            </a:extLst>
          </p:cNvPr>
          <p:cNvPicPr>
            <a:picLocks noChangeAspect="1"/>
          </p:cNvPicPr>
          <p:nvPr/>
        </p:nvPicPr>
        <p:blipFill>
          <a:blip r:embed="rId4"/>
          <a:stretch>
            <a:fillRect/>
          </a:stretch>
        </p:blipFill>
        <p:spPr>
          <a:xfrm>
            <a:off x="539552" y="3933056"/>
            <a:ext cx="4104688" cy="2304256"/>
          </a:xfrm>
          <a:prstGeom prst="rect">
            <a:avLst/>
          </a:prstGeom>
        </p:spPr>
      </p:pic>
      <p:sp>
        <p:nvSpPr>
          <p:cNvPr id="8" name="文本框 7">
            <a:extLst>
              <a:ext uri="{FF2B5EF4-FFF2-40B4-BE49-F238E27FC236}">
                <a16:creationId xmlns:a16="http://schemas.microsoft.com/office/drawing/2014/main" id="{B3E842F0-7F0E-E6AF-3768-9CD9014A1784}"/>
              </a:ext>
            </a:extLst>
          </p:cNvPr>
          <p:cNvSpPr txBox="1"/>
          <p:nvPr/>
        </p:nvSpPr>
        <p:spPr>
          <a:xfrm>
            <a:off x="5727195" y="6332459"/>
            <a:ext cx="2444824" cy="369332"/>
          </a:xfrm>
          <a:prstGeom prst="rect">
            <a:avLst/>
          </a:prstGeom>
          <a:noFill/>
        </p:spPr>
        <p:txBody>
          <a:bodyPr wrap="square">
            <a:spAutoFit/>
          </a:bodyPr>
          <a:lstStyle/>
          <a:p>
            <a:pPr algn="ctr"/>
            <a:r>
              <a:rPr lang="en-US" altLang="zh-CN" sz="1800" dirty="0">
                <a:latin typeface="TT17E3o00" charset="-122"/>
              </a:rPr>
              <a:t>HMI</a:t>
            </a:r>
            <a:r>
              <a:rPr lang="zh-CN" altLang="en-US" sz="1800" dirty="0">
                <a:latin typeface="TT17E3o00" charset="-122"/>
              </a:rPr>
              <a:t>界面组态</a:t>
            </a:r>
            <a:endParaRPr lang="zh-CN" altLang="en-US" dirty="0"/>
          </a:p>
        </p:txBody>
      </p:sp>
      <p:pic>
        <p:nvPicPr>
          <p:cNvPr id="10" name="图片 9">
            <a:extLst>
              <a:ext uri="{FF2B5EF4-FFF2-40B4-BE49-F238E27FC236}">
                <a16:creationId xmlns:a16="http://schemas.microsoft.com/office/drawing/2014/main" id="{8C2C3D1F-8F8F-CDCF-8B8C-1D6A0E458BBB}"/>
              </a:ext>
            </a:extLst>
          </p:cNvPr>
          <p:cNvPicPr>
            <a:picLocks noChangeAspect="1"/>
          </p:cNvPicPr>
          <p:nvPr/>
        </p:nvPicPr>
        <p:blipFill>
          <a:blip r:embed="rId5"/>
          <a:stretch>
            <a:fillRect/>
          </a:stretch>
        </p:blipFill>
        <p:spPr>
          <a:xfrm>
            <a:off x="4860032" y="3933056"/>
            <a:ext cx="4179150" cy="2350772"/>
          </a:xfrm>
          <a:prstGeom prst="rect">
            <a:avLst/>
          </a:prstGeom>
        </p:spPr>
      </p:pic>
      <p:sp>
        <p:nvSpPr>
          <p:cNvPr id="11" name="文本框 10">
            <a:extLst>
              <a:ext uri="{FF2B5EF4-FFF2-40B4-BE49-F238E27FC236}">
                <a16:creationId xmlns:a16="http://schemas.microsoft.com/office/drawing/2014/main" id="{B40A994F-A2F9-EAE8-7513-E429E2122EB5}"/>
              </a:ext>
            </a:extLst>
          </p:cNvPr>
          <p:cNvSpPr txBox="1"/>
          <p:nvPr/>
        </p:nvSpPr>
        <p:spPr>
          <a:xfrm>
            <a:off x="1185005" y="6332308"/>
            <a:ext cx="2444824" cy="369332"/>
          </a:xfrm>
          <a:prstGeom prst="rect">
            <a:avLst/>
          </a:prstGeom>
          <a:noFill/>
        </p:spPr>
        <p:txBody>
          <a:bodyPr wrap="square">
            <a:spAutoFit/>
          </a:bodyPr>
          <a:lstStyle/>
          <a:p>
            <a:pPr algn="ctr"/>
            <a:r>
              <a:rPr lang="zh-CN" altLang="en-US" sz="1800" dirty="0">
                <a:latin typeface="TT17E3o00" charset="-122"/>
              </a:rPr>
              <a:t>工业网络组态</a:t>
            </a:r>
            <a:endParaRPr lang="zh-CN" altLang="en-US" dirty="0"/>
          </a:p>
        </p:txBody>
      </p:sp>
    </p:spTree>
    <p:extLst>
      <p:ext uri="{BB962C8B-B14F-4D97-AF65-F5344CB8AC3E}">
        <p14:creationId xmlns:p14="http://schemas.microsoft.com/office/powerpoint/2010/main" val="179346558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FF71580E-799F-BC7C-7450-F6E72A0A9BC5}"/>
              </a:ext>
            </a:extLst>
          </p:cNvPr>
          <p:cNvSpPr>
            <a:spLocks noGrp="1" noChangeArrowheads="1"/>
          </p:cNvSpPr>
          <p:nvPr>
            <p:ph type="title"/>
          </p:nvPr>
        </p:nvSpPr>
        <p:spPr/>
        <p:txBody>
          <a:bodyPr/>
          <a:lstStyle/>
          <a:p>
            <a:pPr eaLnBrk="1" hangingPunct="1"/>
            <a:r>
              <a:rPr lang="en-US" altLang="en-US" sz="3600" dirty="0"/>
              <a:t>4.  </a:t>
            </a:r>
            <a:r>
              <a:rPr lang="en-US" altLang="en-US" sz="3600" dirty="0" err="1"/>
              <a:t>系统网络</a:t>
            </a:r>
            <a:endParaRPr lang="zh-CN" altLang="en-US" sz="3600" dirty="0"/>
          </a:p>
        </p:txBody>
      </p:sp>
      <p:sp>
        <p:nvSpPr>
          <p:cNvPr id="54275" name="Rectangle 3">
            <a:extLst>
              <a:ext uri="{FF2B5EF4-FFF2-40B4-BE49-F238E27FC236}">
                <a16:creationId xmlns:a16="http://schemas.microsoft.com/office/drawing/2014/main" id="{26A1CBC9-2296-2B14-AB3D-5569EA6D22C5}"/>
              </a:ext>
            </a:extLst>
          </p:cNvPr>
          <p:cNvSpPr>
            <a:spLocks noChangeArrowheads="1"/>
          </p:cNvSpPr>
          <p:nvPr/>
        </p:nvSpPr>
        <p:spPr bwMode="auto">
          <a:xfrm>
            <a:off x="228600" y="1066800"/>
            <a:ext cx="87630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dirty="0">
                <a:latin typeface="TT17E3o00" charset="-122"/>
              </a:rPr>
              <a:t>DCS </a:t>
            </a:r>
            <a:r>
              <a:rPr lang="zh-CN" altLang="en-US" sz="2400" dirty="0">
                <a:latin typeface="TT17E3o00" charset="-122"/>
              </a:rPr>
              <a:t>的另一个重要的组成部分是系统网络，它是连接系统各个站的桥梁。由于 </a:t>
            </a:r>
            <a:r>
              <a:rPr lang="en-US" altLang="zh-CN" sz="2400" dirty="0">
                <a:latin typeface="TT17E3o00" charset="-122"/>
              </a:rPr>
              <a:t>DCS</a:t>
            </a:r>
            <a:r>
              <a:rPr lang="zh-CN" altLang="en-US" sz="2400" dirty="0">
                <a:latin typeface="TT17E3o00" charset="-122"/>
              </a:rPr>
              <a:t>是由各种不同功能的站组成的，这些站之间必须实现有效的数据传输，以实现系统总体的功能，因此系统网络的实时性、可靠性和数据通信能力关系到整个系统的性能，特别是网络的通信规约，关系到网络通信的效率和系统功能的实现。</a:t>
            </a:r>
          </a:p>
        </p:txBody>
      </p:sp>
      <p:pic>
        <p:nvPicPr>
          <p:cNvPr id="2" name="图片 1">
            <a:extLst>
              <a:ext uri="{FF2B5EF4-FFF2-40B4-BE49-F238E27FC236}">
                <a16:creationId xmlns:a16="http://schemas.microsoft.com/office/drawing/2014/main" id="{69EF88A2-8C8D-DBB0-03B3-AFC2438CD008}"/>
              </a:ext>
            </a:extLst>
          </p:cNvPr>
          <p:cNvPicPr>
            <a:picLocks noChangeAspect="1"/>
          </p:cNvPicPr>
          <p:nvPr/>
        </p:nvPicPr>
        <p:blipFill>
          <a:blip r:embed="rId2"/>
          <a:stretch>
            <a:fillRect/>
          </a:stretch>
        </p:blipFill>
        <p:spPr>
          <a:xfrm>
            <a:off x="2339752" y="2913260"/>
            <a:ext cx="5688632" cy="3925058"/>
          </a:xfrm>
          <a:prstGeom prst="rect">
            <a:avLst/>
          </a:prstGeom>
        </p:spPr>
      </p:pic>
      <p:sp>
        <p:nvSpPr>
          <p:cNvPr id="4" name="文本框 3">
            <a:extLst>
              <a:ext uri="{FF2B5EF4-FFF2-40B4-BE49-F238E27FC236}">
                <a16:creationId xmlns:a16="http://schemas.microsoft.com/office/drawing/2014/main" id="{67788646-2D41-2057-06FB-F0082C6D5F76}"/>
              </a:ext>
            </a:extLst>
          </p:cNvPr>
          <p:cNvSpPr txBox="1"/>
          <p:nvPr/>
        </p:nvSpPr>
        <p:spPr>
          <a:xfrm>
            <a:off x="457200" y="4149080"/>
            <a:ext cx="1131675" cy="369332"/>
          </a:xfrm>
          <a:prstGeom prst="rect">
            <a:avLst/>
          </a:prstGeom>
          <a:noFill/>
        </p:spPr>
        <p:txBody>
          <a:bodyPr wrap="square">
            <a:spAutoFit/>
          </a:bodyPr>
          <a:lstStyle/>
          <a:p>
            <a:r>
              <a:rPr lang="zh-CN" altLang="en-US" sz="1800" b="1" dirty="0">
                <a:solidFill>
                  <a:srgbClr val="FF0000"/>
                </a:solidFill>
                <a:latin typeface="TT17E3o00" charset="-122"/>
              </a:rPr>
              <a:t>光纤环网</a:t>
            </a:r>
            <a:endParaRPr lang="zh-CN" altLang="en-US" b="1" dirty="0">
              <a:solidFill>
                <a:srgbClr val="FF0000"/>
              </a:solidFill>
            </a:endParaRPr>
          </a:p>
        </p:txBody>
      </p:sp>
      <p:cxnSp>
        <p:nvCxnSpPr>
          <p:cNvPr id="6" name="直接箭头连接符 5">
            <a:extLst>
              <a:ext uri="{FF2B5EF4-FFF2-40B4-BE49-F238E27FC236}">
                <a16:creationId xmlns:a16="http://schemas.microsoft.com/office/drawing/2014/main" id="{EB1C465F-8516-0890-ECB4-D8A3BFEC706E}"/>
              </a:ext>
            </a:extLst>
          </p:cNvPr>
          <p:cNvCxnSpPr>
            <a:cxnSpLocks/>
          </p:cNvCxnSpPr>
          <p:nvPr/>
        </p:nvCxnSpPr>
        <p:spPr>
          <a:xfrm>
            <a:off x="1403648" y="4867256"/>
            <a:ext cx="2448272"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9373E53D-26D2-BBC5-9E9D-F7B77495111C}"/>
              </a:ext>
            </a:extLst>
          </p:cNvPr>
          <p:cNvSpPr txBox="1"/>
          <p:nvPr/>
        </p:nvSpPr>
        <p:spPr>
          <a:xfrm>
            <a:off x="457200" y="4682590"/>
            <a:ext cx="1131675" cy="369332"/>
          </a:xfrm>
          <a:prstGeom prst="rect">
            <a:avLst/>
          </a:prstGeom>
          <a:noFill/>
        </p:spPr>
        <p:txBody>
          <a:bodyPr wrap="square">
            <a:spAutoFit/>
          </a:bodyPr>
          <a:lstStyle/>
          <a:p>
            <a:pPr algn="ctr"/>
            <a:r>
              <a:rPr lang="zh-CN" altLang="en-US" sz="1800" b="1" dirty="0">
                <a:solidFill>
                  <a:srgbClr val="FF0000"/>
                </a:solidFill>
                <a:latin typeface="TT17E3o00" charset="-122"/>
              </a:rPr>
              <a:t>以太网</a:t>
            </a:r>
            <a:endParaRPr lang="zh-CN" altLang="en-US" b="1" dirty="0">
              <a:solidFill>
                <a:srgbClr val="FF0000"/>
              </a:solidFill>
            </a:endParaRPr>
          </a:p>
        </p:txBody>
      </p:sp>
      <p:sp>
        <p:nvSpPr>
          <p:cNvPr id="9" name="文本框 8">
            <a:extLst>
              <a:ext uri="{FF2B5EF4-FFF2-40B4-BE49-F238E27FC236}">
                <a16:creationId xmlns:a16="http://schemas.microsoft.com/office/drawing/2014/main" id="{C93C8607-6865-890E-4EEC-5116D7207974}"/>
              </a:ext>
            </a:extLst>
          </p:cNvPr>
          <p:cNvSpPr txBox="1"/>
          <p:nvPr/>
        </p:nvSpPr>
        <p:spPr>
          <a:xfrm>
            <a:off x="395536" y="5557827"/>
            <a:ext cx="1193339" cy="369332"/>
          </a:xfrm>
          <a:prstGeom prst="rect">
            <a:avLst/>
          </a:prstGeom>
          <a:noFill/>
        </p:spPr>
        <p:txBody>
          <a:bodyPr wrap="square">
            <a:spAutoFit/>
          </a:bodyPr>
          <a:lstStyle/>
          <a:p>
            <a:pPr algn="ctr"/>
            <a:r>
              <a:rPr lang="en-US" altLang="zh-CN" sz="1800" b="1" dirty="0">
                <a:solidFill>
                  <a:srgbClr val="FF0000"/>
                </a:solidFill>
                <a:latin typeface="TT17E3o00" charset="-122"/>
              </a:rPr>
              <a:t>Profibus</a:t>
            </a:r>
            <a:endParaRPr lang="zh-CN" altLang="en-US" b="1" dirty="0">
              <a:solidFill>
                <a:srgbClr val="FF0000"/>
              </a:solidFill>
            </a:endParaRPr>
          </a:p>
        </p:txBody>
      </p:sp>
      <p:cxnSp>
        <p:nvCxnSpPr>
          <p:cNvPr id="10" name="直接箭头连接符 9">
            <a:extLst>
              <a:ext uri="{FF2B5EF4-FFF2-40B4-BE49-F238E27FC236}">
                <a16:creationId xmlns:a16="http://schemas.microsoft.com/office/drawing/2014/main" id="{EF8CAF50-3B9E-436D-AB00-8F206889C037}"/>
              </a:ext>
            </a:extLst>
          </p:cNvPr>
          <p:cNvCxnSpPr>
            <a:cxnSpLocks/>
            <a:stCxn id="9" idx="3"/>
          </p:cNvCxnSpPr>
          <p:nvPr/>
        </p:nvCxnSpPr>
        <p:spPr>
          <a:xfrm>
            <a:off x="1588875" y="5742493"/>
            <a:ext cx="2161564" cy="264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FAF0473B-2DE0-289F-EC96-DC382B8FC9A4}"/>
              </a:ext>
            </a:extLst>
          </p:cNvPr>
          <p:cNvCxnSpPr>
            <a:cxnSpLocks/>
            <a:stCxn id="4" idx="3"/>
          </p:cNvCxnSpPr>
          <p:nvPr/>
        </p:nvCxnSpPr>
        <p:spPr>
          <a:xfrm>
            <a:off x="1588875" y="4333746"/>
            <a:ext cx="988168"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E30160F5-FD66-8296-DF79-496C01852DD9}"/>
              </a:ext>
            </a:extLst>
          </p:cNvPr>
          <p:cNvSpPr>
            <a:spLocks noGrp="1" noChangeArrowheads="1"/>
          </p:cNvSpPr>
          <p:nvPr>
            <p:ph type="title"/>
          </p:nvPr>
        </p:nvSpPr>
        <p:spPr/>
        <p:txBody>
          <a:bodyPr/>
          <a:lstStyle/>
          <a:p>
            <a:pPr algn="ctr" eaLnBrk="1" hangingPunct="1"/>
            <a:r>
              <a:rPr lang="en-US" altLang="en-US" sz="3600" dirty="0"/>
              <a:t>DCS </a:t>
            </a:r>
            <a:r>
              <a:rPr lang="en-US" altLang="en-US" sz="3600" dirty="0" err="1"/>
              <a:t>体系结构典型示例</a:t>
            </a:r>
            <a:endParaRPr lang="zh-CN" altLang="en-US" sz="3600" dirty="0"/>
          </a:p>
        </p:txBody>
      </p:sp>
      <p:pic>
        <p:nvPicPr>
          <p:cNvPr id="74756" name="Picture 5">
            <a:extLst>
              <a:ext uri="{FF2B5EF4-FFF2-40B4-BE49-F238E27FC236}">
                <a16:creationId xmlns:a16="http://schemas.microsoft.com/office/drawing/2014/main" id="{124DE116-7754-2D23-5B4B-4651E4C1EF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89025"/>
            <a:ext cx="9144000" cy="500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E68B7CE1-B019-A388-88C4-E20FFA822B64}"/>
              </a:ext>
            </a:extLst>
          </p:cNvPr>
          <p:cNvSpPr>
            <a:spLocks noGrp="1" noChangeArrowheads="1"/>
          </p:cNvSpPr>
          <p:nvPr>
            <p:ph type="title"/>
          </p:nvPr>
        </p:nvSpPr>
        <p:spPr/>
        <p:txBody>
          <a:bodyPr/>
          <a:lstStyle/>
          <a:p>
            <a:pPr algn="ctr" eaLnBrk="1" hangingPunct="1"/>
            <a:r>
              <a:rPr lang="en-US" altLang="en-US" sz="3600" dirty="0"/>
              <a:t>DCS </a:t>
            </a:r>
            <a:r>
              <a:rPr lang="en-US" altLang="en-US" sz="3600" dirty="0" err="1"/>
              <a:t>体系结构典型示例</a:t>
            </a:r>
            <a:endParaRPr lang="zh-CN" altLang="en-US" sz="3600" dirty="0"/>
          </a:p>
        </p:txBody>
      </p:sp>
      <p:pic>
        <p:nvPicPr>
          <p:cNvPr id="75780" name="Picture 5">
            <a:extLst>
              <a:ext uri="{FF2B5EF4-FFF2-40B4-BE49-F238E27FC236}">
                <a16:creationId xmlns:a16="http://schemas.microsoft.com/office/drawing/2014/main" id="{4622F6DB-0EED-2C0F-594B-85F6DBD7EB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143000"/>
            <a:ext cx="8172450" cy="505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B1D8A9A9-8419-0783-B37E-13EBE7218A4C}"/>
              </a:ext>
            </a:extLst>
          </p:cNvPr>
          <p:cNvSpPr>
            <a:spLocks noGrp="1" noChangeArrowheads="1"/>
          </p:cNvSpPr>
          <p:nvPr>
            <p:ph type="title"/>
          </p:nvPr>
        </p:nvSpPr>
        <p:spPr/>
        <p:txBody>
          <a:bodyPr/>
          <a:lstStyle/>
          <a:p>
            <a:pPr eaLnBrk="1" hangingPunct="1"/>
            <a:r>
              <a:rPr lang="en-US" altLang="zh-CN" sz="3600" dirty="0"/>
              <a:t>DCS</a:t>
            </a:r>
            <a:r>
              <a:rPr lang="zh-CN" altLang="en-US" sz="3600" dirty="0"/>
              <a:t>行业市场现状分析</a:t>
            </a:r>
          </a:p>
        </p:txBody>
      </p:sp>
      <p:sp>
        <p:nvSpPr>
          <p:cNvPr id="3075" name="Rectangle 3">
            <a:extLst>
              <a:ext uri="{FF2B5EF4-FFF2-40B4-BE49-F238E27FC236}">
                <a16:creationId xmlns:a16="http://schemas.microsoft.com/office/drawing/2014/main" id="{8047123C-339B-447F-4144-D4414AE1CF24}"/>
              </a:ext>
            </a:extLst>
          </p:cNvPr>
          <p:cNvSpPr>
            <a:spLocks noChangeArrowheads="1"/>
          </p:cNvSpPr>
          <p:nvPr/>
        </p:nvSpPr>
        <p:spPr bwMode="auto">
          <a:xfrm>
            <a:off x="304800" y="1285687"/>
            <a:ext cx="85344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1800" dirty="0"/>
              <a:t>2019</a:t>
            </a:r>
            <a:r>
              <a:rPr lang="zh-CN" altLang="en-US" sz="1800" dirty="0"/>
              <a:t>年我国</a:t>
            </a:r>
            <a:r>
              <a:rPr lang="en-US" altLang="zh-CN" sz="1800" dirty="0"/>
              <a:t>DCS</a:t>
            </a:r>
            <a:r>
              <a:rPr lang="zh-CN" altLang="en-US" sz="1800" dirty="0"/>
              <a:t>市场规模为</a:t>
            </a:r>
            <a:r>
              <a:rPr lang="en-US" altLang="zh-CN" sz="1800" dirty="0"/>
              <a:t>87.43</a:t>
            </a:r>
            <a:r>
              <a:rPr lang="zh-CN" altLang="en-US" sz="1800" dirty="0"/>
              <a:t>亿元，同比增长</a:t>
            </a:r>
            <a:r>
              <a:rPr lang="en-US" altLang="zh-CN" sz="1800" dirty="0"/>
              <a:t>7.2%</a:t>
            </a:r>
            <a:r>
              <a:rPr lang="zh-CN" altLang="en-US" sz="1800" dirty="0"/>
              <a:t>，</a:t>
            </a:r>
            <a:r>
              <a:rPr lang="en-US" altLang="zh-CN" sz="1800" dirty="0"/>
              <a:t>19</a:t>
            </a:r>
            <a:r>
              <a:rPr lang="zh-CN" altLang="en-US" sz="1800" dirty="0"/>
              <a:t>年主要受到贸易战阴霾下经济环境下行影响，</a:t>
            </a:r>
            <a:r>
              <a:rPr lang="en-US" altLang="zh-CN" sz="1800" dirty="0"/>
              <a:t>DCS</a:t>
            </a:r>
            <a:r>
              <a:rPr lang="zh-CN" altLang="en-US" sz="1800" dirty="0"/>
              <a:t>市场受项目型市场驱动力下降（尤其电力、建材项目减少）而增速下滑，</a:t>
            </a:r>
            <a:r>
              <a:rPr lang="en-US" altLang="zh-CN" sz="1800" dirty="0"/>
              <a:t>2020</a:t>
            </a:r>
            <a:r>
              <a:rPr lang="zh-CN" altLang="en-US" sz="1800" dirty="0"/>
              <a:t>年受疫情和石油价格暴跌影响，</a:t>
            </a:r>
            <a:r>
              <a:rPr lang="en-US" altLang="zh-CN" sz="1800" dirty="0"/>
              <a:t>DCS</a:t>
            </a:r>
            <a:r>
              <a:rPr lang="zh-CN" altLang="en-US" sz="1800" dirty="0"/>
              <a:t>市场规模或短期下降，预计下降至</a:t>
            </a:r>
            <a:r>
              <a:rPr lang="en-US" altLang="zh-CN" sz="1800" dirty="0"/>
              <a:t>84.48</a:t>
            </a:r>
            <a:r>
              <a:rPr lang="zh-CN" altLang="en-US" sz="1800" dirty="0"/>
              <a:t>亿元，预计到</a:t>
            </a:r>
            <a:r>
              <a:rPr lang="en-US" altLang="zh-CN" sz="1800" dirty="0"/>
              <a:t>2022</a:t>
            </a:r>
            <a:r>
              <a:rPr lang="zh-CN" altLang="en-US" sz="1800" dirty="0"/>
              <a:t>年我国</a:t>
            </a:r>
            <a:r>
              <a:rPr lang="en-US" altLang="zh-CN" sz="1800" dirty="0"/>
              <a:t>DCS</a:t>
            </a:r>
            <a:r>
              <a:rPr lang="zh-CN" altLang="en-US" sz="1800" dirty="0"/>
              <a:t>市场规模将达到</a:t>
            </a:r>
            <a:r>
              <a:rPr lang="en-US" altLang="zh-CN" sz="1800" dirty="0"/>
              <a:t>92.69</a:t>
            </a:r>
            <a:r>
              <a:rPr lang="zh-CN" altLang="en-US" sz="1800" dirty="0"/>
              <a:t>亿元。</a:t>
            </a:r>
            <a:endParaRPr lang="zh-CN" altLang="en-US" sz="1600" dirty="0"/>
          </a:p>
        </p:txBody>
      </p:sp>
      <p:sp>
        <p:nvSpPr>
          <p:cNvPr id="3076" name="Text Box 4">
            <a:extLst>
              <a:ext uri="{FF2B5EF4-FFF2-40B4-BE49-F238E27FC236}">
                <a16:creationId xmlns:a16="http://schemas.microsoft.com/office/drawing/2014/main" id="{110BFC53-239B-AFEF-F55B-4DE7B5C9B883}"/>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pic>
        <p:nvPicPr>
          <p:cNvPr id="3077" name="图片 1">
            <a:extLst>
              <a:ext uri="{FF2B5EF4-FFF2-40B4-BE49-F238E27FC236}">
                <a16:creationId xmlns:a16="http://schemas.microsoft.com/office/drawing/2014/main" id="{D5CDD592-CD04-04FF-00C2-3D7E2133D9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2780928"/>
            <a:ext cx="6324600" cy="396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76F36C01-E374-57ED-6915-F48283F197A5}"/>
              </a:ext>
            </a:extLst>
          </p:cNvPr>
          <p:cNvSpPr>
            <a:spLocks noGrp="1" noChangeArrowheads="1"/>
          </p:cNvSpPr>
          <p:nvPr>
            <p:ph type="title"/>
          </p:nvPr>
        </p:nvSpPr>
        <p:spPr/>
        <p:txBody>
          <a:bodyPr/>
          <a:lstStyle/>
          <a:p>
            <a:pPr eaLnBrk="1" hangingPunct="1"/>
            <a:r>
              <a:rPr lang="en-US" altLang="zh-CN" sz="3600"/>
              <a:t>DCS</a:t>
            </a:r>
            <a:r>
              <a:rPr lang="zh-CN" altLang="en-US" sz="3600"/>
              <a:t>市场细分情况分析</a:t>
            </a:r>
          </a:p>
        </p:txBody>
      </p:sp>
      <p:sp>
        <p:nvSpPr>
          <p:cNvPr id="4099" name="Rectangle 3">
            <a:extLst>
              <a:ext uri="{FF2B5EF4-FFF2-40B4-BE49-F238E27FC236}">
                <a16:creationId xmlns:a16="http://schemas.microsoft.com/office/drawing/2014/main" id="{64C12450-D9EE-91E9-044B-866BF1D939CC}"/>
              </a:ext>
            </a:extLst>
          </p:cNvPr>
          <p:cNvSpPr>
            <a:spLocks noChangeArrowheads="1"/>
          </p:cNvSpPr>
          <p:nvPr/>
        </p:nvSpPr>
        <p:spPr bwMode="auto">
          <a:xfrm>
            <a:off x="304800" y="1285687"/>
            <a:ext cx="85344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sz="1800" dirty="0"/>
              <a:t>从下游用户的行业属性分析，化工、石化和电力是主要应用行业，三者合计市场份额达到</a:t>
            </a:r>
            <a:r>
              <a:rPr lang="en-US" altLang="zh-CN" sz="1800" dirty="0"/>
              <a:t>80.7%</a:t>
            </a:r>
            <a:r>
              <a:rPr lang="zh-CN" altLang="en-US" sz="1800" dirty="0"/>
              <a:t>。其中化工行业为</a:t>
            </a:r>
            <a:r>
              <a:rPr lang="en-US" altLang="zh-CN" sz="1800" dirty="0"/>
              <a:t>2019</a:t>
            </a:r>
            <a:r>
              <a:rPr lang="zh-CN" altLang="en-US" sz="1800" dirty="0"/>
              <a:t>年</a:t>
            </a:r>
            <a:r>
              <a:rPr lang="en-US" altLang="zh-CN" sz="1800" dirty="0"/>
              <a:t>DCS</a:t>
            </a:r>
            <a:r>
              <a:rPr lang="zh-CN" altLang="en-US" sz="1800" dirty="0"/>
              <a:t>第一大市场，市场规模</a:t>
            </a:r>
            <a:r>
              <a:rPr lang="en-US" altLang="zh-CN" sz="1800" dirty="0"/>
              <a:t>32.3</a:t>
            </a:r>
            <a:r>
              <a:rPr lang="zh-CN" altLang="en-US" sz="1800" dirty="0"/>
              <a:t>亿元，较</a:t>
            </a:r>
            <a:r>
              <a:rPr lang="en-US" altLang="zh-CN" sz="1800" dirty="0"/>
              <a:t>2018</a:t>
            </a:r>
            <a:r>
              <a:rPr lang="zh-CN" altLang="en-US" sz="1800" dirty="0"/>
              <a:t>年同比增长</a:t>
            </a:r>
            <a:r>
              <a:rPr lang="en-US" altLang="zh-CN" sz="1800" dirty="0"/>
              <a:t>17.4%</a:t>
            </a:r>
            <a:r>
              <a:rPr lang="zh-CN" altLang="en-US" sz="1800" dirty="0"/>
              <a:t>；石化行业的</a:t>
            </a:r>
            <a:r>
              <a:rPr lang="en-US" altLang="zh-CN" sz="1800" dirty="0"/>
              <a:t>DCS</a:t>
            </a:r>
            <a:r>
              <a:rPr lang="zh-CN" altLang="en-US" sz="1800" dirty="0"/>
              <a:t>市场规模</a:t>
            </a:r>
            <a:r>
              <a:rPr lang="en-US" altLang="zh-CN" sz="1800" dirty="0"/>
              <a:t>17.0</a:t>
            </a:r>
            <a:r>
              <a:rPr lang="zh-CN" altLang="en-US" sz="1800" dirty="0"/>
              <a:t>亿元，较</a:t>
            </a:r>
            <a:r>
              <a:rPr lang="en-US" altLang="zh-CN" sz="1800" dirty="0"/>
              <a:t>2018</a:t>
            </a:r>
            <a:r>
              <a:rPr lang="zh-CN" altLang="en-US" sz="1800" dirty="0"/>
              <a:t>年同比增长</a:t>
            </a:r>
            <a:r>
              <a:rPr lang="en-US" altLang="zh-CN" sz="1800" dirty="0"/>
              <a:t>14.3%</a:t>
            </a:r>
            <a:r>
              <a:rPr lang="zh-CN" altLang="en-US" sz="1800" dirty="0"/>
              <a:t>；电力行业的</a:t>
            </a:r>
            <a:r>
              <a:rPr lang="en-US" altLang="zh-CN" sz="1800" dirty="0"/>
              <a:t>DCS</a:t>
            </a:r>
            <a:r>
              <a:rPr lang="zh-CN" altLang="en-US" sz="1800" dirty="0"/>
              <a:t>市场规模</a:t>
            </a:r>
            <a:r>
              <a:rPr lang="en-US" altLang="zh-CN" sz="1800" dirty="0"/>
              <a:t>21.3</a:t>
            </a:r>
            <a:r>
              <a:rPr lang="zh-CN" altLang="en-US" sz="1800" dirty="0"/>
              <a:t>亿元，较</a:t>
            </a:r>
            <a:r>
              <a:rPr lang="en-US" altLang="zh-CN" sz="1800" dirty="0"/>
              <a:t>2018</a:t>
            </a:r>
            <a:r>
              <a:rPr lang="zh-CN" altLang="en-US" sz="1800" dirty="0"/>
              <a:t>年同比降低</a:t>
            </a:r>
            <a:r>
              <a:rPr lang="en-US" altLang="zh-CN" sz="1800" dirty="0"/>
              <a:t>4.6%</a:t>
            </a:r>
            <a:r>
              <a:rPr lang="zh-CN" altLang="en-US" sz="1800" dirty="0"/>
              <a:t>。</a:t>
            </a:r>
            <a:endParaRPr lang="zh-CN" altLang="en-US" sz="1600" dirty="0"/>
          </a:p>
        </p:txBody>
      </p:sp>
      <p:sp>
        <p:nvSpPr>
          <p:cNvPr id="4100" name="Text Box 4">
            <a:extLst>
              <a:ext uri="{FF2B5EF4-FFF2-40B4-BE49-F238E27FC236}">
                <a16:creationId xmlns:a16="http://schemas.microsoft.com/office/drawing/2014/main" id="{53098D6D-E4C3-AD30-A402-6D0AB2C0F5ED}"/>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pic>
        <p:nvPicPr>
          <p:cNvPr id="4101" name="图片 2">
            <a:extLst>
              <a:ext uri="{FF2B5EF4-FFF2-40B4-BE49-F238E27FC236}">
                <a16:creationId xmlns:a16="http://schemas.microsoft.com/office/drawing/2014/main" id="{8AF60E19-5B8E-F5EA-CB8D-CB6FF84B08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5900" y="2672408"/>
            <a:ext cx="6172200"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146E314B-4E2E-E247-5D28-820CED3C7BB5}"/>
              </a:ext>
            </a:extLst>
          </p:cNvPr>
          <p:cNvSpPr>
            <a:spLocks noGrp="1" noChangeArrowheads="1"/>
          </p:cNvSpPr>
          <p:nvPr>
            <p:ph type="title"/>
          </p:nvPr>
        </p:nvSpPr>
        <p:spPr/>
        <p:txBody>
          <a:bodyPr/>
          <a:lstStyle/>
          <a:p>
            <a:pPr eaLnBrk="1" hangingPunct="1"/>
            <a:r>
              <a:rPr lang="en-US" altLang="zh-CN" sz="3600"/>
              <a:t>DCS</a:t>
            </a:r>
            <a:r>
              <a:rPr lang="zh-CN" altLang="en-US" sz="3600"/>
              <a:t>行业竞争格局分析</a:t>
            </a:r>
          </a:p>
        </p:txBody>
      </p:sp>
      <p:sp>
        <p:nvSpPr>
          <p:cNvPr id="5123" name="Rectangle 3">
            <a:extLst>
              <a:ext uri="{FF2B5EF4-FFF2-40B4-BE49-F238E27FC236}">
                <a16:creationId xmlns:a16="http://schemas.microsoft.com/office/drawing/2014/main" id="{AFE50DD3-633E-9C04-ACB6-8B0D85F2820A}"/>
              </a:ext>
            </a:extLst>
          </p:cNvPr>
          <p:cNvSpPr>
            <a:spLocks noChangeArrowheads="1"/>
          </p:cNvSpPr>
          <p:nvPr/>
        </p:nvSpPr>
        <p:spPr bwMode="auto">
          <a:xfrm>
            <a:off x="304800" y="1195200"/>
            <a:ext cx="85344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sz="1800" dirty="0"/>
              <a:t>我国流程工业</a:t>
            </a:r>
            <a:r>
              <a:rPr lang="en-US" altLang="zh-CN" sz="1800" dirty="0"/>
              <a:t>DCS</a:t>
            </a:r>
            <a:r>
              <a:rPr lang="zh-CN" altLang="en-US" sz="1800" dirty="0"/>
              <a:t>国产率还未超过</a:t>
            </a:r>
            <a:r>
              <a:rPr lang="en-US" altLang="zh-CN" sz="1800" dirty="0"/>
              <a:t>50%</a:t>
            </a:r>
            <a:r>
              <a:rPr lang="zh-CN" altLang="en-US" sz="1800" dirty="0"/>
              <a:t>，国产替代仍有较大提升空间。</a:t>
            </a:r>
            <a:r>
              <a:rPr lang="en-US" altLang="zh-CN" sz="1800" dirty="0"/>
              <a:t>2019</a:t>
            </a:r>
            <a:r>
              <a:rPr lang="zh-CN" altLang="en-US" sz="1800" dirty="0"/>
              <a:t>年国内</a:t>
            </a:r>
            <a:r>
              <a:rPr lang="en-US" altLang="zh-CN" sz="1800" dirty="0"/>
              <a:t>DCS</a:t>
            </a:r>
            <a:r>
              <a:rPr lang="zh-CN" altLang="en-US" sz="1800" dirty="0"/>
              <a:t>份额向龙头集中，内资以中控技术（</a:t>
            </a:r>
            <a:r>
              <a:rPr lang="en-US" altLang="zh-CN" sz="1800" dirty="0"/>
              <a:t>27%</a:t>
            </a:r>
            <a:r>
              <a:rPr lang="zh-CN" altLang="en-US" sz="1800" dirty="0"/>
              <a:t>）、和利时（</a:t>
            </a:r>
            <a:r>
              <a:rPr lang="en-US" altLang="zh-CN" sz="1800" dirty="0"/>
              <a:t>15%</a:t>
            </a:r>
            <a:r>
              <a:rPr lang="zh-CN" altLang="en-US" sz="1800" dirty="0"/>
              <a:t>）两家龙头为主，外资以艾默生（</a:t>
            </a:r>
            <a:r>
              <a:rPr lang="en-US" altLang="zh-CN" sz="1800" dirty="0"/>
              <a:t>16%</a:t>
            </a:r>
            <a:r>
              <a:rPr lang="zh-CN" altLang="en-US" sz="1800" dirty="0"/>
              <a:t>）、霍尼韦尔（</a:t>
            </a:r>
            <a:r>
              <a:rPr lang="en-US" altLang="zh-CN" sz="1800" dirty="0"/>
              <a:t>10%</a:t>
            </a:r>
            <a:r>
              <a:rPr lang="zh-CN" altLang="en-US" sz="1800" dirty="0"/>
              <a:t>）、</a:t>
            </a:r>
            <a:r>
              <a:rPr lang="en-US" altLang="zh-CN" sz="1800" dirty="0"/>
              <a:t>ABB</a:t>
            </a:r>
            <a:r>
              <a:rPr lang="zh-CN" altLang="en-US" sz="1800" dirty="0"/>
              <a:t>（</a:t>
            </a:r>
            <a:r>
              <a:rPr lang="en-US" altLang="zh-CN" sz="1800" dirty="0"/>
              <a:t>6%</a:t>
            </a:r>
            <a:r>
              <a:rPr lang="zh-CN" altLang="en-US" sz="1800" dirty="0"/>
              <a:t>）、西门子（</a:t>
            </a:r>
            <a:r>
              <a:rPr lang="en-US" altLang="zh-CN" sz="1800" dirty="0"/>
              <a:t>7%</a:t>
            </a:r>
            <a:r>
              <a:rPr lang="zh-CN" altLang="en-US" sz="1800" dirty="0"/>
              <a:t>）、横河电机（</a:t>
            </a:r>
            <a:r>
              <a:rPr lang="en-US" altLang="zh-CN" sz="1800" dirty="0"/>
              <a:t>6%</a:t>
            </a:r>
            <a:r>
              <a:rPr lang="zh-CN" altLang="en-US" sz="1800" dirty="0"/>
              <a:t>）等外资巨头为主，外资累计市占率过半，进口替代仍会是未来主旋律。</a:t>
            </a:r>
            <a:endParaRPr lang="zh-CN" altLang="en-US" sz="1600" dirty="0"/>
          </a:p>
        </p:txBody>
      </p:sp>
      <p:sp>
        <p:nvSpPr>
          <p:cNvPr id="5124" name="Text Box 4">
            <a:extLst>
              <a:ext uri="{FF2B5EF4-FFF2-40B4-BE49-F238E27FC236}">
                <a16:creationId xmlns:a16="http://schemas.microsoft.com/office/drawing/2014/main" id="{409802E0-F81F-9D4B-990F-56515B644AB2}"/>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pic>
        <p:nvPicPr>
          <p:cNvPr id="5125" name="图片 1">
            <a:extLst>
              <a:ext uri="{FF2B5EF4-FFF2-40B4-BE49-F238E27FC236}">
                <a16:creationId xmlns:a16="http://schemas.microsoft.com/office/drawing/2014/main" id="{401CFD48-7D2F-AC93-E1A5-967AE8412B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5900" y="2564904"/>
            <a:ext cx="6172200" cy="389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F4F4FAF8-484D-C3B8-2CB6-4017FCACC7F6}"/>
              </a:ext>
            </a:extLst>
          </p:cNvPr>
          <p:cNvSpPr>
            <a:spLocks noGrp="1" noChangeArrowheads="1"/>
          </p:cNvSpPr>
          <p:nvPr>
            <p:ph type="title"/>
          </p:nvPr>
        </p:nvSpPr>
        <p:spPr/>
        <p:txBody>
          <a:bodyPr/>
          <a:lstStyle/>
          <a:p>
            <a:pPr eaLnBrk="1" hangingPunct="1"/>
            <a:r>
              <a:rPr lang="zh-CN" altLang="en-US" sz="3600"/>
              <a:t>中控技术</a:t>
            </a:r>
            <a:r>
              <a:rPr lang="en-US" altLang="zh-CN" sz="3600"/>
              <a:t>—</a:t>
            </a:r>
            <a:r>
              <a:rPr lang="zh-CN" altLang="en-US" sz="3600"/>
              <a:t>浙大中控</a:t>
            </a:r>
          </a:p>
        </p:txBody>
      </p:sp>
      <p:sp>
        <p:nvSpPr>
          <p:cNvPr id="6147" name="Rectangle 3">
            <a:extLst>
              <a:ext uri="{FF2B5EF4-FFF2-40B4-BE49-F238E27FC236}">
                <a16:creationId xmlns:a16="http://schemas.microsoft.com/office/drawing/2014/main" id="{ED71B7C5-E1EC-1864-A008-1BB201AFE0AA}"/>
              </a:ext>
            </a:extLst>
          </p:cNvPr>
          <p:cNvSpPr>
            <a:spLocks noChangeArrowheads="1"/>
          </p:cNvSpPr>
          <p:nvPr/>
        </p:nvSpPr>
        <p:spPr bwMode="auto">
          <a:xfrm>
            <a:off x="304800" y="1195691"/>
            <a:ext cx="85344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sz="1800" dirty="0"/>
              <a:t>中控技术致力于面向流程工业为主的工业企业提供以自动化控制系统为核心，涵盖工业软件、自动化仪表及运维服务的智能制造产品及解决方案，赋能用户提升自动化、数字化、智能化水平，实现工业生产自动化控制和智能化管理。近年来中控技术营业收入与净利润不断增长，据统计，截至</a:t>
            </a:r>
            <a:r>
              <a:rPr lang="en-US" altLang="zh-CN" sz="1800" dirty="0"/>
              <a:t>2020</a:t>
            </a:r>
            <a:r>
              <a:rPr lang="zh-CN" altLang="en-US" sz="1800" dirty="0"/>
              <a:t>年前三季度，中控技术营业收入达到</a:t>
            </a:r>
            <a:r>
              <a:rPr lang="en-US" altLang="zh-CN" sz="1800" dirty="0"/>
              <a:t>20.69</a:t>
            </a:r>
            <a:r>
              <a:rPr lang="zh-CN" altLang="en-US" sz="1800" dirty="0"/>
              <a:t>亿元，同比增长</a:t>
            </a:r>
            <a:r>
              <a:rPr lang="en-US" altLang="zh-CN" sz="1800" dirty="0"/>
              <a:t>22.54%</a:t>
            </a:r>
            <a:r>
              <a:rPr lang="zh-CN" altLang="en-US" sz="1800" dirty="0"/>
              <a:t>，净利润为</a:t>
            </a:r>
            <a:r>
              <a:rPr lang="en-US" altLang="zh-CN" sz="1800" dirty="0"/>
              <a:t>2.42</a:t>
            </a:r>
            <a:r>
              <a:rPr lang="zh-CN" altLang="en-US" sz="1800" dirty="0"/>
              <a:t>亿元，同比增长</a:t>
            </a:r>
            <a:r>
              <a:rPr lang="en-US" altLang="zh-CN" sz="1800" dirty="0"/>
              <a:t>10.98%</a:t>
            </a:r>
            <a:r>
              <a:rPr lang="zh-CN" altLang="en-US" sz="1800" dirty="0"/>
              <a:t>。</a:t>
            </a:r>
            <a:endParaRPr lang="zh-CN" altLang="en-US" sz="1600" dirty="0"/>
          </a:p>
        </p:txBody>
      </p:sp>
      <p:sp>
        <p:nvSpPr>
          <p:cNvPr id="6148" name="Text Box 4">
            <a:extLst>
              <a:ext uri="{FF2B5EF4-FFF2-40B4-BE49-F238E27FC236}">
                <a16:creationId xmlns:a16="http://schemas.microsoft.com/office/drawing/2014/main" id="{83B1A178-1155-0EA7-E2D9-495661F66529}"/>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pic>
        <p:nvPicPr>
          <p:cNvPr id="6149" name="图片 1">
            <a:extLst>
              <a:ext uri="{FF2B5EF4-FFF2-40B4-BE49-F238E27FC236}">
                <a16:creationId xmlns:a16="http://schemas.microsoft.com/office/drawing/2014/main" id="{E3C794FF-70A0-3544-0F92-69EC9EB08B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3001962"/>
            <a:ext cx="5638800" cy="355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3D1170-17DF-18F1-79B7-24970C4F765E}"/>
              </a:ext>
            </a:extLst>
          </p:cNvPr>
          <p:cNvSpPr>
            <a:spLocks noGrp="1" noChangeArrowheads="1"/>
          </p:cNvSpPr>
          <p:nvPr>
            <p:ph type="title"/>
          </p:nvPr>
        </p:nvSpPr>
        <p:spPr/>
        <p:txBody>
          <a:bodyPr/>
          <a:lstStyle/>
          <a:p>
            <a:pPr eaLnBrk="1" hangingPunct="1"/>
            <a:r>
              <a:rPr lang="zh-CN" altLang="en-US" sz="3600"/>
              <a:t>中控技术市场分析</a:t>
            </a:r>
          </a:p>
        </p:txBody>
      </p:sp>
      <p:sp>
        <p:nvSpPr>
          <p:cNvPr id="7171" name="Rectangle 3">
            <a:extLst>
              <a:ext uri="{FF2B5EF4-FFF2-40B4-BE49-F238E27FC236}">
                <a16:creationId xmlns:a16="http://schemas.microsoft.com/office/drawing/2014/main" id="{44E40502-A73F-FACE-316B-54F2ACE98A94}"/>
              </a:ext>
            </a:extLst>
          </p:cNvPr>
          <p:cNvSpPr>
            <a:spLocks noChangeArrowheads="1"/>
          </p:cNvSpPr>
          <p:nvPr/>
        </p:nvSpPr>
        <p:spPr bwMode="auto">
          <a:xfrm>
            <a:off x="304800" y="1293493"/>
            <a:ext cx="85344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1800" dirty="0"/>
              <a:t>2011-2019</a:t>
            </a:r>
            <a:r>
              <a:rPr lang="zh-CN" altLang="en-US" sz="1800" dirty="0"/>
              <a:t>年，中控技术连续九年蝉联国内</a:t>
            </a:r>
            <a:r>
              <a:rPr lang="en-US" altLang="zh-CN" sz="1800" dirty="0"/>
              <a:t>DCS</a:t>
            </a:r>
            <a:r>
              <a:rPr lang="zh-CN" altLang="en-US" sz="1800" dirty="0"/>
              <a:t>市场整体占有率第一名。中控技术市场份额从</a:t>
            </a:r>
            <a:r>
              <a:rPr lang="en-US" altLang="zh-CN" sz="1800" dirty="0"/>
              <a:t>2011</a:t>
            </a:r>
            <a:r>
              <a:rPr lang="zh-CN" altLang="en-US" sz="1800" dirty="0"/>
              <a:t>年的</a:t>
            </a:r>
            <a:r>
              <a:rPr lang="en-US" altLang="zh-CN" sz="1800" dirty="0"/>
              <a:t>13.0%</a:t>
            </a:r>
            <a:r>
              <a:rPr lang="zh-CN" altLang="en-US" sz="1800" dirty="0"/>
              <a:t>，领先第二名的市场份额不足</a:t>
            </a:r>
            <a:r>
              <a:rPr lang="en-US" altLang="zh-CN" sz="1800" dirty="0"/>
              <a:t>1</a:t>
            </a:r>
            <a:r>
              <a:rPr lang="zh-CN" altLang="en-US" sz="1800" dirty="0"/>
              <a:t>个百分点；成长至</a:t>
            </a:r>
            <a:r>
              <a:rPr lang="en-US" altLang="zh-CN" sz="1800" dirty="0"/>
              <a:t>2019</a:t>
            </a:r>
            <a:r>
              <a:rPr lang="zh-CN" altLang="en-US" sz="1800" dirty="0"/>
              <a:t>年的</a:t>
            </a:r>
            <a:r>
              <a:rPr lang="en-US" altLang="zh-CN" sz="1800" dirty="0"/>
              <a:t>27.0%</a:t>
            </a:r>
            <a:r>
              <a:rPr lang="zh-CN" altLang="en-US" sz="1800" dirty="0"/>
              <a:t>，领先第二名超过</a:t>
            </a:r>
            <a:r>
              <a:rPr lang="en-US" altLang="zh-CN" sz="1800" dirty="0"/>
              <a:t>11</a:t>
            </a:r>
            <a:r>
              <a:rPr lang="zh-CN" altLang="en-US" sz="1800" dirty="0"/>
              <a:t>个百分点。</a:t>
            </a:r>
            <a:endParaRPr lang="zh-CN" altLang="en-US" sz="1600" dirty="0"/>
          </a:p>
        </p:txBody>
      </p:sp>
      <p:sp>
        <p:nvSpPr>
          <p:cNvPr id="7172" name="Text Box 4">
            <a:extLst>
              <a:ext uri="{FF2B5EF4-FFF2-40B4-BE49-F238E27FC236}">
                <a16:creationId xmlns:a16="http://schemas.microsoft.com/office/drawing/2014/main" id="{5C3E56A8-3572-BF54-A524-8CACCE4F6F78}"/>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pic>
        <p:nvPicPr>
          <p:cNvPr id="7173" name="图片 2">
            <a:extLst>
              <a:ext uri="{FF2B5EF4-FFF2-40B4-BE49-F238E27FC236}">
                <a16:creationId xmlns:a16="http://schemas.microsoft.com/office/drawing/2014/main" id="{E9D2BAAD-7358-12FC-8509-0047136901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2380744"/>
            <a:ext cx="6400800" cy="404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ED4C76F2-FC46-42CC-D2DC-86FAEC4C0F6B}"/>
              </a:ext>
            </a:extLst>
          </p:cNvPr>
          <p:cNvSpPr>
            <a:spLocks noGrp="1" noChangeArrowheads="1"/>
          </p:cNvSpPr>
          <p:nvPr>
            <p:ph type="title"/>
          </p:nvPr>
        </p:nvSpPr>
        <p:spPr/>
        <p:txBody>
          <a:bodyPr/>
          <a:lstStyle/>
          <a:p>
            <a:pPr eaLnBrk="1" hangingPunct="1"/>
            <a:r>
              <a:rPr lang="zh-CN" altLang="en-US" sz="3600"/>
              <a:t>中国</a:t>
            </a:r>
            <a:r>
              <a:rPr lang="en-US" altLang="zh-CN" sz="3600"/>
              <a:t>PLC</a:t>
            </a:r>
            <a:r>
              <a:rPr lang="zh-CN" altLang="en-US" sz="3600"/>
              <a:t>行业市场现状分析</a:t>
            </a:r>
          </a:p>
        </p:txBody>
      </p:sp>
      <p:sp>
        <p:nvSpPr>
          <p:cNvPr id="10243" name="Text Box 4">
            <a:extLst>
              <a:ext uri="{FF2B5EF4-FFF2-40B4-BE49-F238E27FC236}">
                <a16:creationId xmlns:a16="http://schemas.microsoft.com/office/drawing/2014/main" id="{21561B4A-16CA-DA23-233A-90C44C9B8DF2}"/>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pic>
        <p:nvPicPr>
          <p:cNvPr id="10244" name="图片 1">
            <a:extLst>
              <a:ext uri="{FF2B5EF4-FFF2-40B4-BE49-F238E27FC236}">
                <a16:creationId xmlns:a16="http://schemas.microsoft.com/office/drawing/2014/main" id="{01C6ED4E-9481-4BD2-0CEB-5BDCF57632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371600"/>
            <a:ext cx="7086600" cy="446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AAD33E81-9430-BE37-5F2B-EF10669E32F6}"/>
              </a:ext>
            </a:extLst>
          </p:cNvPr>
          <p:cNvSpPr>
            <a:spLocks noGrp="1" noChangeArrowheads="1"/>
          </p:cNvSpPr>
          <p:nvPr>
            <p:ph type="title"/>
          </p:nvPr>
        </p:nvSpPr>
        <p:spPr/>
        <p:txBody>
          <a:bodyPr/>
          <a:lstStyle/>
          <a:p>
            <a:pPr eaLnBrk="1" hangingPunct="1"/>
            <a:r>
              <a:rPr lang="zh-CN" altLang="en-US" sz="3600"/>
              <a:t>应用领域</a:t>
            </a:r>
          </a:p>
        </p:txBody>
      </p:sp>
      <p:sp>
        <p:nvSpPr>
          <p:cNvPr id="11267" name="Text Box 4">
            <a:extLst>
              <a:ext uri="{FF2B5EF4-FFF2-40B4-BE49-F238E27FC236}">
                <a16:creationId xmlns:a16="http://schemas.microsoft.com/office/drawing/2014/main" id="{110DA949-E11E-F5BA-FA54-18A7EEAF13F5}"/>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11268" name="文本框 7">
            <a:extLst>
              <a:ext uri="{FF2B5EF4-FFF2-40B4-BE49-F238E27FC236}">
                <a16:creationId xmlns:a16="http://schemas.microsoft.com/office/drawing/2014/main" id="{3122662D-BF85-7A64-5802-678679C28E1D}"/>
              </a:ext>
            </a:extLst>
          </p:cNvPr>
          <p:cNvSpPr txBox="1">
            <a:spLocks noChangeArrowheads="1"/>
          </p:cNvSpPr>
          <p:nvPr/>
        </p:nvSpPr>
        <p:spPr bwMode="auto">
          <a:xfrm>
            <a:off x="342900" y="1066800"/>
            <a:ext cx="8458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从应用领域来看，中国小型</a:t>
            </a:r>
            <a:r>
              <a:rPr lang="en-US" altLang="zh-CN"/>
              <a:t>PLC</a:t>
            </a:r>
            <a:r>
              <a:rPr lang="zh-CN" altLang="en-US"/>
              <a:t>主要应用于纺织机械、电子、包装机械、食品饮料、动力电池、塑胶机械、制药、</a:t>
            </a:r>
            <a:r>
              <a:rPr lang="en-US" altLang="zh-CN"/>
              <a:t>3C</a:t>
            </a:r>
            <a:r>
              <a:rPr lang="zh-CN" altLang="en-US"/>
              <a:t>等细分行业；</a:t>
            </a:r>
          </a:p>
        </p:txBody>
      </p:sp>
      <p:pic>
        <p:nvPicPr>
          <p:cNvPr id="11269" name="图片 1">
            <a:extLst>
              <a:ext uri="{FF2B5EF4-FFF2-40B4-BE49-F238E27FC236}">
                <a16:creationId xmlns:a16="http://schemas.microsoft.com/office/drawing/2014/main" id="{86507CBD-0DD3-D7DB-CADA-2BC6641962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900" y="1733550"/>
            <a:ext cx="6934200" cy="437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4B86877C-6331-3552-7151-25AC53A8420D}"/>
              </a:ext>
            </a:extLst>
          </p:cNvPr>
          <p:cNvSpPr>
            <a:spLocks noGrp="1" noChangeArrowheads="1"/>
          </p:cNvSpPr>
          <p:nvPr>
            <p:ph type="title"/>
          </p:nvPr>
        </p:nvSpPr>
        <p:spPr/>
        <p:txBody>
          <a:bodyPr/>
          <a:lstStyle/>
          <a:p>
            <a:pPr eaLnBrk="1" hangingPunct="1"/>
            <a:r>
              <a:rPr lang="zh-CN" altLang="en-US" sz="3600"/>
              <a:t>应用领域</a:t>
            </a:r>
          </a:p>
        </p:txBody>
      </p:sp>
      <p:sp>
        <p:nvSpPr>
          <p:cNvPr id="12291" name="Text Box 4">
            <a:extLst>
              <a:ext uri="{FF2B5EF4-FFF2-40B4-BE49-F238E27FC236}">
                <a16:creationId xmlns:a16="http://schemas.microsoft.com/office/drawing/2014/main" id="{CF69DE9D-6F26-A875-7BF8-F558A6494580}"/>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12292" name="文本框 7">
            <a:extLst>
              <a:ext uri="{FF2B5EF4-FFF2-40B4-BE49-F238E27FC236}">
                <a16:creationId xmlns:a16="http://schemas.microsoft.com/office/drawing/2014/main" id="{639F1F65-64ED-802E-A7DA-F8FF51CA77ED}"/>
              </a:ext>
            </a:extLst>
          </p:cNvPr>
          <p:cNvSpPr txBox="1">
            <a:spLocks noChangeArrowheads="1"/>
          </p:cNvSpPr>
          <p:nvPr/>
        </p:nvSpPr>
        <p:spPr bwMode="auto">
          <a:xfrm>
            <a:off x="342900" y="1066800"/>
            <a:ext cx="8458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中国大型</a:t>
            </a:r>
            <a:r>
              <a:rPr lang="en-US" altLang="zh-CN"/>
              <a:t>PLC</a:t>
            </a:r>
            <a:r>
              <a:rPr lang="zh-CN" altLang="en-US"/>
              <a:t>主要应用于动力电池、物流、汽车、冶金、纺织机械等行业。</a:t>
            </a:r>
          </a:p>
        </p:txBody>
      </p:sp>
      <p:pic>
        <p:nvPicPr>
          <p:cNvPr id="12293" name="图片 2">
            <a:extLst>
              <a:ext uri="{FF2B5EF4-FFF2-40B4-BE49-F238E27FC236}">
                <a16:creationId xmlns:a16="http://schemas.microsoft.com/office/drawing/2014/main" id="{3C4C38C0-531C-BDED-0E0E-02F9FA9452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725" y="1600200"/>
            <a:ext cx="6940550"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A830BA1-638A-5FD6-4BE5-7B48B8AD1484}"/>
              </a:ext>
            </a:extLst>
          </p:cNvPr>
          <p:cNvSpPr>
            <a:spLocks noGrp="1" noChangeArrowheads="1"/>
          </p:cNvSpPr>
          <p:nvPr>
            <p:ph type="title"/>
          </p:nvPr>
        </p:nvSpPr>
        <p:spPr/>
        <p:txBody>
          <a:bodyPr/>
          <a:lstStyle/>
          <a:p>
            <a:pPr eaLnBrk="1" hangingPunct="1"/>
            <a:r>
              <a:rPr lang="zh-CN" altLang="en-US" sz="3600"/>
              <a:t>应用领域</a:t>
            </a:r>
          </a:p>
        </p:txBody>
      </p:sp>
      <p:sp>
        <p:nvSpPr>
          <p:cNvPr id="13315" name="Text Box 4">
            <a:extLst>
              <a:ext uri="{FF2B5EF4-FFF2-40B4-BE49-F238E27FC236}">
                <a16:creationId xmlns:a16="http://schemas.microsoft.com/office/drawing/2014/main" id="{F1BBEF18-A061-C075-BBE0-22C8E1AA479B}"/>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13316" name="文本框 7">
            <a:extLst>
              <a:ext uri="{FF2B5EF4-FFF2-40B4-BE49-F238E27FC236}">
                <a16:creationId xmlns:a16="http://schemas.microsoft.com/office/drawing/2014/main" id="{B7D0EEFA-DBDF-5FC2-2F6F-29CB18BCF092}"/>
              </a:ext>
            </a:extLst>
          </p:cNvPr>
          <p:cNvSpPr txBox="1">
            <a:spLocks noChangeArrowheads="1"/>
          </p:cNvSpPr>
          <p:nvPr/>
        </p:nvSpPr>
        <p:spPr bwMode="auto">
          <a:xfrm>
            <a:off x="342900" y="1066800"/>
            <a:ext cx="84582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西门子在大型</a:t>
            </a:r>
            <a:r>
              <a:rPr lang="en-US" altLang="zh-CN"/>
              <a:t>PLC</a:t>
            </a:r>
            <a:r>
              <a:rPr lang="zh-CN" altLang="en-US"/>
              <a:t>市场一家独大、地位稳固，</a:t>
            </a:r>
            <a:r>
              <a:rPr lang="en-US" altLang="zh-CN"/>
              <a:t>2018</a:t>
            </a:r>
            <a:r>
              <a:rPr lang="zh-CN" altLang="en-US"/>
              <a:t>年占据了</a:t>
            </a:r>
            <a:r>
              <a:rPr lang="en-US" altLang="zh-CN"/>
              <a:t>59%</a:t>
            </a:r>
            <a:r>
              <a:rPr lang="zh-CN" altLang="en-US"/>
              <a:t>的大型</a:t>
            </a:r>
            <a:r>
              <a:rPr lang="en-US" altLang="zh-CN"/>
              <a:t>PLC</a:t>
            </a:r>
            <a:r>
              <a:rPr lang="zh-CN" altLang="en-US"/>
              <a:t>市场与</a:t>
            </a:r>
            <a:r>
              <a:rPr lang="en-US" altLang="zh-CN"/>
              <a:t>39%</a:t>
            </a:r>
            <a:r>
              <a:rPr lang="zh-CN" altLang="en-US"/>
              <a:t>的小型</a:t>
            </a:r>
            <a:r>
              <a:rPr lang="en-US" altLang="zh-CN"/>
              <a:t>PLC</a:t>
            </a:r>
            <a:r>
              <a:rPr lang="zh-CN" altLang="en-US"/>
              <a:t>市场。三菱产品更多应用于小型</a:t>
            </a:r>
            <a:r>
              <a:rPr lang="en-US" altLang="zh-CN"/>
              <a:t>PLC</a:t>
            </a:r>
            <a:r>
              <a:rPr lang="zh-CN" altLang="en-US"/>
              <a:t>市场，</a:t>
            </a:r>
            <a:r>
              <a:rPr lang="en-US" altLang="zh-CN"/>
              <a:t>2018</a:t>
            </a:r>
            <a:r>
              <a:rPr lang="zh-CN" altLang="en-US"/>
              <a:t>年在中国小型、大型</a:t>
            </a:r>
            <a:r>
              <a:rPr lang="en-US" altLang="zh-CN"/>
              <a:t>PLC</a:t>
            </a:r>
            <a:r>
              <a:rPr lang="zh-CN" altLang="en-US"/>
              <a:t>市场市占率分别约</a:t>
            </a:r>
            <a:r>
              <a:rPr lang="en-US" altLang="zh-CN"/>
              <a:t>15%</a:t>
            </a:r>
            <a:r>
              <a:rPr lang="zh-CN" altLang="en-US"/>
              <a:t>、</a:t>
            </a:r>
            <a:r>
              <a:rPr lang="en-US" altLang="zh-CN"/>
              <a:t>13%</a:t>
            </a:r>
            <a:r>
              <a:rPr lang="zh-CN" altLang="en-US"/>
              <a:t>。</a:t>
            </a:r>
          </a:p>
        </p:txBody>
      </p:sp>
      <p:pic>
        <p:nvPicPr>
          <p:cNvPr id="13317" name="图片 1">
            <a:extLst>
              <a:ext uri="{FF2B5EF4-FFF2-40B4-BE49-F238E27FC236}">
                <a16:creationId xmlns:a16="http://schemas.microsoft.com/office/drawing/2014/main" id="{8A2DE215-24F5-8BC6-CD6A-1548791BF3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8100" y="2057400"/>
            <a:ext cx="65278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79F64ABE-6905-569B-FDAB-39435231DC56}"/>
              </a:ext>
            </a:extLst>
          </p:cNvPr>
          <p:cNvSpPr>
            <a:spLocks noGrp="1" noChangeArrowheads="1"/>
          </p:cNvSpPr>
          <p:nvPr>
            <p:ph type="title"/>
          </p:nvPr>
        </p:nvSpPr>
        <p:spPr/>
        <p:txBody>
          <a:bodyPr/>
          <a:lstStyle/>
          <a:p>
            <a:pPr eaLnBrk="1" hangingPunct="1"/>
            <a:r>
              <a:rPr lang="zh-CN" altLang="en-US" sz="3600"/>
              <a:t>傲拓科技自主可控</a:t>
            </a:r>
          </a:p>
        </p:txBody>
      </p:sp>
      <p:sp>
        <p:nvSpPr>
          <p:cNvPr id="14339" name="Text Box 4">
            <a:extLst>
              <a:ext uri="{FF2B5EF4-FFF2-40B4-BE49-F238E27FC236}">
                <a16:creationId xmlns:a16="http://schemas.microsoft.com/office/drawing/2014/main" id="{5EBB77FC-5FB3-13DC-249D-5FB955E4DB05}"/>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14340" name="文本框 7">
            <a:extLst>
              <a:ext uri="{FF2B5EF4-FFF2-40B4-BE49-F238E27FC236}">
                <a16:creationId xmlns:a16="http://schemas.microsoft.com/office/drawing/2014/main" id="{807933D0-3DBE-9BB2-8FC6-BC478FBC9915}"/>
              </a:ext>
            </a:extLst>
          </p:cNvPr>
          <p:cNvSpPr txBox="1">
            <a:spLocks noChangeArrowheads="1"/>
          </p:cNvSpPr>
          <p:nvPr/>
        </p:nvSpPr>
        <p:spPr bwMode="auto">
          <a:xfrm>
            <a:off x="342900" y="1066800"/>
            <a:ext cx="8458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产品简介：</a:t>
            </a:r>
          </a:p>
          <a:p>
            <a:r>
              <a:rPr lang="en-US" altLang="zh-CN"/>
              <a:t>NJ400</a:t>
            </a:r>
            <a:r>
              <a:rPr lang="zh-CN" altLang="en-US"/>
              <a:t>系列</a:t>
            </a:r>
            <a:r>
              <a:rPr lang="en-US" altLang="zh-CN"/>
              <a:t>PLC</a:t>
            </a:r>
            <a:r>
              <a:rPr lang="zh-CN" altLang="en-US"/>
              <a:t>是公司自主研发的全国产可编程控制器，采用国产龙芯处理器，处理速度快；开源</a:t>
            </a:r>
            <a:r>
              <a:rPr lang="en-US" altLang="zh-CN"/>
              <a:t>linux</a:t>
            </a:r>
            <a:r>
              <a:rPr lang="zh-CN" altLang="en-US"/>
              <a:t>操作系统，安全可控。产品支持电源冗余、</a:t>
            </a:r>
            <a:r>
              <a:rPr lang="en-US" altLang="zh-CN"/>
              <a:t>CPU</a:t>
            </a:r>
            <a:r>
              <a:rPr lang="zh-CN" altLang="en-US"/>
              <a:t>冗余、以太网冗余、总线冗余等多种冗余架构，性能稳定，安全可靠。</a:t>
            </a:r>
          </a:p>
        </p:txBody>
      </p:sp>
      <p:pic>
        <p:nvPicPr>
          <p:cNvPr id="14341" name="图片 1">
            <a:extLst>
              <a:ext uri="{FF2B5EF4-FFF2-40B4-BE49-F238E27FC236}">
                <a16:creationId xmlns:a16="http://schemas.microsoft.com/office/drawing/2014/main" id="{3199BBF4-73AA-E932-287C-20804D57C5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590800"/>
            <a:ext cx="5715000" cy="356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9696F355-62BD-6727-BBE4-C99ED648B528}"/>
              </a:ext>
            </a:extLst>
          </p:cNvPr>
          <p:cNvSpPr>
            <a:spLocks noGrp="1" noChangeArrowheads="1"/>
          </p:cNvSpPr>
          <p:nvPr>
            <p:ph type="title"/>
          </p:nvPr>
        </p:nvSpPr>
        <p:spPr/>
        <p:txBody>
          <a:bodyPr/>
          <a:lstStyle/>
          <a:p>
            <a:pPr eaLnBrk="1" hangingPunct="1"/>
            <a:r>
              <a:rPr lang="zh-CN" altLang="en-US" sz="3600"/>
              <a:t>小问题？</a:t>
            </a:r>
          </a:p>
        </p:txBody>
      </p:sp>
      <p:sp>
        <p:nvSpPr>
          <p:cNvPr id="76803" name="Rectangle 3">
            <a:extLst>
              <a:ext uri="{FF2B5EF4-FFF2-40B4-BE49-F238E27FC236}">
                <a16:creationId xmlns:a16="http://schemas.microsoft.com/office/drawing/2014/main" id="{2AA2B7E7-9D08-AA24-EF32-F8101C9ACE03}"/>
              </a:ext>
            </a:extLst>
          </p:cNvPr>
          <p:cNvSpPr>
            <a:spLocks noChangeArrowheads="1"/>
          </p:cNvSpPr>
          <p:nvPr/>
        </p:nvSpPr>
        <p:spPr bwMode="auto">
          <a:xfrm>
            <a:off x="381000" y="1143000"/>
            <a:ext cx="85344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dirty="0"/>
              <a:t>1</a:t>
            </a:r>
            <a:r>
              <a:rPr lang="zh-CN" altLang="en-US" sz="2400" dirty="0"/>
              <a:t>、</a:t>
            </a:r>
            <a:r>
              <a:rPr lang="en-US" altLang="zh-CN" sz="2400" dirty="0"/>
              <a:t>DCS </a:t>
            </a:r>
            <a:r>
              <a:rPr lang="zh-CN" altLang="en-US" sz="2400" dirty="0"/>
              <a:t>的层次结构一般分为几层？并概述每层的功能。如果要实现一个最小化的集散控制系统，应该包括哪几个部分？</a:t>
            </a:r>
            <a:endParaRPr lang="en-US" altLang="zh-CN" sz="2400" dirty="0"/>
          </a:p>
          <a:p>
            <a:pPr eaLnBrk="1" hangingPunct="1">
              <a:spcBef>
                <a:spcPct val="50000"/>
              </a:spcBef>
            </a:pPr>
            <a:endParaRPr lang="en-US" altLang="zh-CN" sz="2400" dirty="0"/>
          </a:p>
          <a:p>
            <a:pPr eaLnBrk="1" hangingPunct="1">
              <a:spcBef>
                <a:spcPct val="50000"/>
              </a:spcBef>
            </a:pPr>
            <a:endParaRPr lang="en-US" altLang="zh-CN" sz="2400" dirty="0"/>
          </a:p>
          <a:p>
            <a:pPr eaLnBrk="1" hangingPunct="1">
              <a:spcBef>
                <a:spcPct val="50000"/>
              </a:spcBef>
            </a:pPr>
            <a:r>
              <a:rPr lang="en-US" altLang="zh-CN" sz="2400" dirty="0"/>
              <a:t>2</a:t>
            </a:r>
            <a:r>
              <a:rPr lang="zh-CN" altLang="en-US" sz="2400" dirty="0"/>
              <a:t>、我国目前</a:t>
            </a:r>
            <a:r>
              <a:rPr lang="en-US" altLang="zh-CN" sz="2400" dirty="0"/>
              <a:t>DCS</a:t>
            </a:r>
            <a:r>
              <a:rPr lang="zh-CN" altLang="en-US" sz="2400" dirty="0"/>
              <a:t>自主可控的品牌有哪些？请列举</a:t>
            </a:r>
            <a:r>
              <a:rPr lang="en-US" altLang="zh-CN" sz="2400" dirty="0"/>
              <a:t>3</a:t>
            </a:r>
            <a:r>
              <a:rPr lang="zh-CN" altLang="en-US" sz="2400" dirty="0"/>
              <a:t>个。如果</a:t>
            </a:r>
            <a:r>
              <a:rPr lang="en-US" altLang="zh-CN" sz="2400" dirty="0"/>
              <a:t>DCS</a:t>
            </a:r>
            <a:r>
              <a:rPr lang="zh-CN" altLang="en-US" sz="2400" dirty="0"/>
              <a:t>系统要自主可控，我国需要掌握哪些技术？（大家上网搜索一下）</a:t>
            </a:r>
          </a:p>
          <a:p>
            <a:pPr eaLnBrk="1" hangingPunct="1">
              <a:spcBef>
                <a:spcPct val="50000"/>
              </a:spcBef>
            </a:pPr>
            <a:endParaRPr lang="en-US" altLang="zh-CN" sz="2400"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E75848DD-AF77-DBFB-697D-93FDF430D70A}"/>
              </a:ext>
            </a:extLst>
          </p:cNvPr>
          <p:cNvSpPr>
            <a:spLocks noGrp="1" noChangeArrowheads="1"/>
          </p:cNvSpPr>
          <p:nvPr>
            <p:ph type="title"/>
          </p:nvPr>
        </p:nvSpPr>
        <p:spPr/>
        <p:txBody>
          <a:bodyPr/>
          <a:lstStyle/>
          <a:p>
            <a:pPr eaLnBrk="1" hangingPunct="1"/>
            <a:r>
              <a:rPr lang="en-US" altLang="zh-CN" sz="3600" dirty="0"/>
              <a:t>2</a:t>
            </a:r>
            <a:r>
              <a:rPr lang="zh-CN" altLang="en-US" sz="3600" dirty="0"/>
              <a:t>、</a:t>
            </a:r>
            <a:r>
              <a:rPr lang="en-US" altLang="zh-CN" sz="3600" dirty="0"/>
              <a:t>DCS</a:t>
            </a:r>
            <a:r>
              <a:rPr lang="zh-CN" altLang="en-US" sz="3600" dirty="0"/>
              <a:t>的硬件</a:t>
            </a:r>
          </a:p>
        </p:txBody>
      </p:sp>
      <p:sp>
        <p:nvSpPr>
          <p:cNvPr id="5123" name="Rectangle 4">
            <a:extLst>
              <a:ext uri="{FF2B5EF4-FFF2-40B4-BE49-F238E27FC236}">
                <a16:creationId xmlns:a16="http://schemas.microsoft.com/office/drawing/2014/main" id="{005D26DA-36F6-FAE3-17C3-46F956B8A65B}"/>
              </a:ext>
            </a:extLst>
          </p:cNvPr>
          <p:cNvSpPr>
            <a:spLocks noChangeArrowheads="1"/>
          </p:cNvSpPr>
          <p:nvPr/>
        </p:nvSpPr>
        <p:spPr bwMode="auto">
          <a:xfrm>
            <a:off x="381000" y="1143000"/>
            <a:ext cx="85344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dirty="0"/>
          </a:p>
        </p:txBody>
      </p:sp>
      <p:sp>
        <p:nvSpPr>
          <p:cNvPr id="2" name="Rectangle 3">
            <a:extLst>
              <a:ext uri="{FF2B5EF4-FFF2-40B4-BE49-F238E27FC236}">
                <a16:creationId xmlns:a16="http://schemas.microsoft.com/office/drawing/2014/main" id="{1B07FC4C-CEC9-4175-C01A-6396A96C0069}"/>
              </a:ext>
            </a:extLst>
          </p:cNvPr>
          <p:cNvSpPr>
            <a:spLocks noChangeArrowheads="1"/>
          </p:cNvSpPr>
          <p:nvPr/>
        </p:nvSpPr>
        <p:spPr bwMode="auto">
          <a:xfrm>
            <a:off x="304800" y="1412776"/>
            <a:ext cx="85344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dirty="0"/>
              <a:t>集散控制系统的一个突出优点是系统的硬件和软件都具有灵活的组态和配置能力。</a:t>
            </a:r>
          </a:p>
          <a:p>
            <a:pPr eaLnBrk="1" hangingPunct="1">
              <a:spcBef>
                <a:spcPct val="50000"/>
              </a:spcBef>
            </a:pPr>
            <a:r>
              <a:rPr lang="en-US" altLang="zh-CN" dirty="0"/>
              <a:t>DCS</a:t>
            </a:r>
            <a:r>
              <a:rPr lang="zh-CN" altLang="en-US" dirty="0"/>
              <a:t>的硬件系统采用</a:t>
            </a:r>
            <a:r>
              <a:rPr lang="zh-CN" altLang="en-US" dirty="0">
                <a:solidFill>
                  <a:srgbClr val="FF0000"/>
                </a:solidFill>
              </a:rPr>
              <a:t>积木式结构</a:t>
            </a:r>
            <a:r>
              <a:rPr lang="zh-CN" altLang="en-US" dirty="0"/>
              <a:t>，通过网络系统将不同数量的现场控制站、操作员站和工程师站连接起来，共同完成各种采集、控制、显示、操作和管理功能。</a:t>
            </a:r>
          </a:p>
          <a:p>
            <a:pPr eaLnBrk="1" hangingPunct="1">
              <a:spcBef>
                <a:spcPct val="50000"/>
              </a:spcBef>
            </a:pPr>
            <a:r>
              <a:rPr lang="zh-CN" altLang="en-US" dirty="0"/>
              <a:t>集散控制系统不仅可以灵活地配置成大、中、小型系统，还可以根据用户财力和生产要求逐步进行系统扩展和功能增强。</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5E67A12F-6FD2-24A7-BAF7-6FE979817039}"/>
              </a:ext>
            </a:extLst>
          </p:cNvPr>
          <p:cNvSpPr>
            <a:spLocks noGrp="1" noChangeArrowheads="1"/>
          </p:cNvSpPr>
          <p:nvPr>
            <p:ph type="title"/>
          </p:nvPr>
        </p:nvSpPr>
        <p:spPr/>
        <p:txBody>
          <a:bodyPr/>
          <a:lstStyle/>
          <a:p>
            <a:pPr eaLnBrk="1" hangingPunct="1"/>
            <a:r>
              <a:rPr lang="en-US" altLang="zh-CN" dirty="0"/>
              <a:t>2.1 DCS</a:t>
            </a:r>
            <a:r>
              <a:rPr lang="zh-CN" altLang="en-US" dirty="0"/>
              <a:t>的现场控制站</a:t>
            </a:r>
          </a:p>
        </p:txBody>
      </p:sp>
      <p:sp>
        <p:nvSpPr>
          <p:cNvPr id="21507" name="Text Box 3">
            <a:extLst>
              <a:ext uri="{FF2B5EF4-FFF2-40B4-BE49-F238E27FC236}">
                <a16:creationId xmlns:a16="http://schemas.microsoft.com/office/drawing/2014/main" id="{9E201F16-07D5-9CED-4961-4339FD6FD8B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3.</a:t>
            </a:r>
            <a:r>
              <a:rPr lang="en-US" altLang="zh-CN" sz="1800">
                <a:solidFill>
                  <a:schemeClr val="bg1"/>
                </a:solidFill>
              </a:rPr>
              <a:t>2</a:t>
            </a:r>
            <a:r>
              <a:rPr lang="en-US" altLang="en-US" sz="1800">
                <a:solidFill>
                  <a:schemeClr val="bg1"/>
                </a:solidFill>
              </a:rPr>
              <a:t> DCS的现场控制站</a:t>
            </a:r>
            <a:endParaRPr lang="zh-CN" altLang="en-US" sz="1800">
              <a:solidFill>
                <a:schemeClr val="bg1"/>
              </a:solidFill>
            </a:endParaRPr>
          </a:p>
        </p:txBody>
      </p:sp>
      <p:sp>
        <p:nvSpPr>
          <p:cNvPr id="21508" name="Rectangle 4">
            <a:extLst>
              <a:ext uri="{FF2B5EF4-FFF2-40B4-BE49-F238E27FC236}">
                <a16:creationId xmlns:a16="http://schemas.microsoft.com/office/drawing/2014/main" id="{EF18167C-0358-4C88-CD34-A50F8A93EEDC}"/>
              </a:ext>
            </a:extLst>
          </p:cNvPr>
          <p:cNvSpPr>
            <a:spLocks noChangeArrowheads="1"/>
          </p:cNvSpPr>
          <p:nvPr/>
        </p:nvSpPr>
        <p:spPr bwMode="auto">
          <a:xfrm>
            <a:off x="457200" y="1447800"/>
            <a:ext cx="8305800"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2400"/>
              <a:t>      </a:t>
            </a:r>
            <a:r>
              <a:rPr lang="zh-CN" altLang="en-US" sz="2400">
                <a:solidFill>
                  <a:srgbClr val="FF0000"/>
                </a:solidFill>
              </a:rPr>
              <a:t>现场控制站是整个集散控制系统的核心部件</a:t>
            </a:r>
            <a:r>
              <a:rPr lang="zh-CN" altLang="en-US" sz="2400"/>
              <a:t>，现场</a:t>
            </a:r>
            <a:r>
              <a:rPr lang="zh-CN" altLang="en-US" sz="2400">
                <a:solidFill>
                  <a:srgbClr val="FF0000"/>
                </a:solidFill>
              </a:rPr>
              <a:t>信息的采集</a:t>
            </a:r>
            <a:r>
              <a:rPr lang="zh-CN" altLang="en-US" sz="2400"/>
              <a:t>、各种</a:t>
            </a:r>
            <a:r>
              <a:rPr lang="zh-CN" altLang="en-US" sz="2400">
                <a:solidFill>
                  <a:srgbClr val="FF0000"/>
                </a:solidFill>
              </a:rPr>
              <a:t>控制策略的实现</a:t>
            </a:r>
            <a:r>
              <a:rPr lang="zh-CN" altLang="en-US" sz="2400"/>
              <a:t>都在现场控制站上完成。为保证现场控制站的可靠运行，除了在硬件上采取一系列的保障措施以外，在软件上也开发了相应的保障功能，如主控制器及 </a:t>
            </a:r>
            <a:r>
              <a:rPr lang="en-US" altLang="zh-CN" sz="2400"/>
              <a:t>I/O </a:t>
            </a:r>
            <a:r>
              <a:rPr lang="zh-CN" altLang="en-US" sz="2400"/>
              <a:t>通道插件的故障诊断、冗余配置下的板级切换、故障恢复、定时数据保存等。</a:t>
            </a:r>
          </a:p>
          <a:p>
            <a:pPr eaLnBrk="1" hangingPunct="1">
              <a:spcBef>
                <a:spcPct val="0"/>
              </a:spcBef>
            </a:pPr>
            <a:r>
              <a:rPr lang="zh-CN" altLang="en-US" sz="2400"/>
              <a:t>       各种采集、运算和控制策略程序代码都固化在控制器插件或 </a:t>
            </a:r>
            <a:r>
              <a:rPr lang="en-US" altLang="zh-CN" sz="2400"/>
              <a:t>I/O </a:t>
            </a:r>
            <a:r>
              <a:rPr lang="zh-CN" altLang="en-US" sz="2400"/>
              <a:t>智能插件上的 </a:t>
            </a:r>
            <a:r>
              <a:rPr lang="en-US" altLang="zh-CN" sz="2400"/>
              <a:t>EPROM</a:t>
            </a:r>
            <a:r>
              <a:rPr lang="zh-CN" altLang="en-US" sz="2400"/>
              <a:t>中，中间数据则保留在带电保护的 </a:t>
            </a:r>
            <a:r>
              <a:rPr lang="en-US" altLang="zh-CN" sz="2400"/>
              <a:t>RAM </a:t>
            </a:r>
            <a:r>
              <a:rPr lang="zh-CN" altLang="en-US" sz="2400"/>
              <a:t>中，从而保证软件的可靠运行及现场数据的保护。</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D699C151-0557-F536-E43E-7B8342F28935}"/>
              </a:ext>
            </a:extLst>
          </p:cNvPr>
          <p:cNvSpPr>
            <a:spLocks noGrp="1" noChangeArrowheads="1"/>
          </p:cNvSpPr>
          <p:nvPr>
            <p:ph type="title"/>
          </p:nvPr>
        </p:nvSpPr>
        <p:spPr/>
        <p:txBody>
          <a:bodyPr/>
          <a:lstStyle/>
          <a:p>
            <a:pPr eaLnBrk="1" hangingPunct="1"/>
            <a:r>
              <a:rPr lang="zh-CN" altLang="en-US"/>
              <a:t>现场控制站的功能</a:t>
            </a:r>
          </a:p>
        </p:txBody>
      </p:sp>
      <p:sp>
        <p:nvSpPr>
          <p:cNvPr id="22531" name="Text Box 3">
            <a:extLst>
              <a:ext uri="{FF2B5EF4-FFF2-40B4-BE49-F238E27FC236}">
                <a16:creationId xmlns:a16="http://schemas.microsoft.com/office/drawing/2014/main" id="{338D4E94-9586-0960-7702-E057961C4B5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3.</a:t>
            </a:r>
            <a:r>
              <a:rPr lang="en-US" altLang="zh-CN" sz="1800">
                <a:solidFill>
                  <a:schemeClr val="bg1"/>
                </a:solidFill>
              </a:rPr>
              <a:t>2</a:t>
            </a:r>
            <a:r>
              <a:rPr lang="en-US" altLang="en-US" sz="1800">
                <a:solidFill>
                  <a:schemeClr val="bg1"/>
                </a:solidFill>
              </a:rPr>
              <a:t> DCS的现场控制站</a:t>
            </a:r>
            <a:endParaRPr lang="zh-CN" altLang="en-US" sz="1800">
              <a:solidFill>
                <a:schemeClr val="bg1"/>
              </a:solidFill>
            </a:endParaRPr>
          </a:p>
        </p:txBody>
      </p:sp>
      <p:sp>
        <p:nvSpPr>
          <p:cNvPr id="22532" name="Rectangle 4">
            <a:extLst>
              <a:ext uri="{FF2B5EF4-FFF2-40B4-BE49-F238E27FC236}">
                <a16:creationId xmlns:a16="http://schemas.microsoft.com/office/drawing/2014/main" id="{6A8ECA7A-D041-D017-D191-2D87238A87A6}"/>
              </a:ext>
            </a:extLst>
          </p:cNvPr>
          <p:cNvSpPr>
            <a:spLocks noChangeArrowheads="1"/>
          </p:cNvSpPr>
          <p:nvPr/>
        </p:nvSpPr>
        <p:spPr bwMode="auto">
          <a:xfrm>
            <a:off x="152400" y="1066800"/>
            <a:ext cx="8991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2400" dirty="0"/>
              <a:t>1)  </a:t>
            </a:r>
            <a:r>
              <a:rPr lang="zh-CN" altLang="en-US" sz="2400" b="1" dirty="0">
                <a:solidFill>
                  <a:srgbClr val="FF0000"/>
                </a:solidFill>
              </a:rPr>
              <a:t>采集、控制功能</a:t>
            </a:r>
          </a:p>
          <a:p>
            <a:pPr eaLnBrk="1" hangingPunct="1">
              <a:spcBef>
                <a:spcPct val="0"/>
              </a:spcBef>
            </a:pPr>
            <a:r>
              <a:rPr lang="zh-CN" altLang="en-US" sz="2400" dirty="0"/>
              <a:t>       组态时生成的各种控制策略、数据库等，经网络实时下装到各现场控制站及现场控制站内的各 </a:t>
            </a:r>
            <a:r>
              <a:rPr lang="en-US" altLang="zh-CN" sz="2400" dirty="0"/>
              <a:t>I/O </a:t>
            </a:r>
            <a:r>
              <a:rPr lang="zh-CN" altLang="en-US" sz="2400" dirty="0"/>
              <a:t>智能插件中，进行信号采集、工程量转换、控制运算、控制信号的输出等。</a:t>
            </a:r>
          </a:p>
          <a:p>
            <a:pPr eaLnBrk="1" hangingPunct="1">
              <a:spcBef>
                <a:spcPct val="0"/>
              </a:spcBef>
            </a:pPr>
            <a:r>
              <a:rPr lang="en-US" altLang="zh-CN" sz="2400" dirty="0"/>
              <a:t>2)  </a:t>
            </a:r>
            <a:r>
              <a:rPr lang="zh-CN" altLang="en-US" sz="2400" b="1" dirty="0">
                <a:solidFill>
                  <a:srgbClr val="FF0000"/>
                </a:solidFill>
              </a:rPr>
              <a:t>信号的采集、转换功能</a:t>
            </a:r>
          </a:p>
          <a:p>
            <a:pPr eaLnBrk="1" hangingPunct="1">
              <a:spcBef>
                <a:spcPct val="0"/>
              </a:spcBef>
            </a:pPr>
            <a:r>
              <a:rPr lang="en-US" altLang="zh-CN" sz="2400" dirty="0"/>
              <a:t>(1)  </a:t>
            </a:r>
            <a:r>
              <a:rPr lang="zh-CN" altLang="en-US" sz="2400" dirty="0"/>
              <a:t>各种现场物理信号 </a:t>
            </a:r>
            <a:r>
              <a:rPr lang="en-US" altLang="zh-CN" sz="2400" dirty="0"/>
              <a:t>( </a:t>
            </a:r>
            <a:r>
              <a:rPr lang="zh-CN" altLang="en-US" sz="2400" dirty="0"/>
              <a:t>如 </a:t>
            </a:r>
            <a:r>
              <a:rPr lang="en-US" altLang="zh-CN" sz="2400" dirty="0"/>
              <a:t>4mA </a:t>
            </a:r>
            <a:r>
              <a:rPr lang="zh-CN" altLang="en-US" sz="2400" dirty="0"/>
              <a:t>～ </a:t>
            </a:r>
            <a:r>
              <a:rPr lang="en-US" altLang="zh-CN" sz="2400" dirty="0"/>
              <a:t>20mA </a:t>
            </a:r>
            <a:r>
              <a:rPr lang="zh-CN" altLang="en-US" sz="2400" dirty="0"/>
              <a:t>、 </a:t>
            </a:r>
            <a:r>
              <a:rPr lang="en-US" altLang="zh-CN" sz="2400" dirty="0"/>
              <a:t>0mA </a:t>
            </a:r>
            <a:r>
              <a:rPr lang="zh-CN" altLang="en-US" sz="2400" dirty="0"/>
              <a:t>～ </a:t>
            </a:r>
            <a:r>
              <a:rPr lang="en-US" altLang="zh-CN" sz="2400" dirty="0"/>
              <a:t>10mA </a:t>
            </a:r>
            <a:r>
              <a:rPr lang="zh-CN" altLang="en-US" sz="2400" dirty="0"/>
              <a:t>、 </a:t>
            </a:r>
            <a:r>
              <a:rPr lang="en-US" altLang="zh-CN" sz="2400" dirty="0"/>
              <a:t>1 V </a:t>
            </a:r>
            <a:r>
              <a:rPr lang="zh-CN" altLang="en-US" sz="2400" dirty="0"/>
              <a:t>～ </a:t>
            </a:r>
            <a:r>
              <a:rPr lang="en-US" altLang="zh-CN" sz="2400" dirty="0"/>
              <a:t>5V </a:t>
            </a:r>
            <a:r>
              <a:rPr lang="zh-CN" altLang="en-US" sz="2400" dirty="0"/>
              <a:t>、 </a:t>
            </a:r>
            <a:r>
              <a:rPr lang="en-US" altLang="zh-CN" sz="2400" dirty="0"/>
              <a:t>0 V </a:t>
            </a:r>
            <a:r>
              <a:rPr lang="zh-CN" altLang="en-US" sz="2400" dirty="0"/>
              <a:t>～ </a:t>
            </a:r>
            <a:r>
              <a:rPr lang="en-US" altLang="zh-CN" sz="2400" dirty="0"/>
              <a:t>10V) </a:t>
            </a:r>
            <a:r>
              <a:rPr lang="zh-CN" altLang="en-US" sz="2400" dirty="0"/>
              <a:t>、各种热电偶、热电阻、开关信号、中断信号、频率信号、电动机转速信号等的采集输入功能。</a:t>
            </a:r>
          </a:p>
          <a:p>
            <a:pPr eaLnBrk="1" hangingPunct="1">
              <a:spcBef>
                <a:spcPct val="0"/>
              </a:spcBef>
            </a:pPr>
            <a:r>
              <a:rPr lang="en-US" altLang="zh-CN" sz="2400" dirty="0"/>
              <a:t>(2)  </a:t>
            </a:r>
            <a:r>
              <a:rPr lang="zh-CN" altLang="en-US" sz="2400" dirty="0"/>
              <a:t>线性物理量的工程单位转换。</a:t>
            </a:r>
          </a:p>
          <a:p>
            <a:pPr eaLnBrk="1" hangingPunct="1">
              <a:spcBef>
                <a:spcPct val="0"/>
              </a:spcBef>
            </a:pPr>
            <a:r>
              <a:rPr lang="en-US" altLang="zh-CN" sz="2400" dirty="0"/>
              <a:t>(3)  </a:t>
            </a:r>
            <a:r>
              <a:rPr lang="zh-CN" altLang="en-US" sz="2400" dirty="0"/>
              <a:t>流量信号的温度压力非线性补偿。</a:t>
            </a:r>
          </a:p>
          <a:p>
            <a:pPr eaLnBrk="1" hangingPunct="1">
              <a:spcBef>
                <a:spcPct val="0"/>
              </a:spcBef>
            </a:pPr>
            <a:r>
              <a:rPr lang="en-US" altLang="zh-CN" sz="2400" dirty="0"/>
              <a:t>(4)  </a:t>
            </a:r>
            <a:r>
              <a:rPr lang="zh-CN" altLang="en-US" sz="2400" dirty="0"/>
              <a:t>热电偶信号的冷端补偿，热电偶、热电阻信号的线性化换算。</a:t>
            </a:r>
          </a:p>
          <a:p>
            <a:pPr eaLnBrk="1" hangingPunct="1">
              <a:spcBef>
                <a:spcPct val="0"/>
              </a:spcBef>
            </a:pPr>
            <a:r>
              <a:rPr lang="en-US" altLang="zh-CN" sz="2400" dirty="0"/>
              <a:t>(5)  </a:t>
            </a:r>
            <a:r>
              <a:rPr lang="zh-CN" altLang="en-US" sz="2400" dirty="0"/>
              <a:t>输入信号的报警极限检测。</a:t>
            </a:r>
          </a:p>
          <a:p>
            <a:pPr eaLnBrk="1" hangingPunct="1">
              <a:spcBef>
                <a:spcPct val="0"/>
              </a:spcBef>
            </a:pPr>
            <a:r>
              <a:rPr lang="en-US" altLang="zh-CN" sz="2400" dirty="0"/>
              <a:t>(6)  </a:t>
            </a:r>
            <a:r>
              <a:rPr lang="zh-CN" altLang="en-US" sz="2400" dirty="0"/>
              <a:t>模拟量扫描的基本周期。</a:t>
            </a:r>
          </a:p>
          <a:p>
            <a:pPr eaLnBrk="1" hangingPunct="1">
              <a:spcBef>
                <a:spcPct val="0"/>
              </a:spcBef>
            </a:pPr>
            <a:r>
              <a:rPr lang="en-US" altLang="zh-CN" sz="2400" dirty="0"/>
              <a:t>(7) </a:t>
            </a:r>
            <a:r>
              <a:rPr lang="zh-CN" altLang="en-US" sz="2400" dirty="0"/>
              <a:t>软件滤波功能，包括平均滤波、中值滤波、加权滤波等。</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9DAA6597-FCB3-D4FB-CBDD-4A2DFAB91F93}"/>
              </a:ext>
            </a:extLst>
          </p:cNvPr>
          <p:cNvSpPr>
            <a:spLocks noGrp="1" noChangeArrowheads="1"/>
          </p:cNvSpPr>
          <p:nvPr>
            <p:ph type="title"/>
          </p:nvPr>
        </p:nvSpPr>
        <p:spPr/>
        <p:txBody>
          <a:bodyPr/>
          <a:lstStyle/>
          <a:p>
            <a:pPr eaLnBrk="1" hangingPunct="1"/>
            <a:r>
              <a:rPr lang="zh-CN" altLang="en-US"/>
              <a:t>现场控制站的功能</a:t>
            </a:r>
            <a:r>
              <a:rPr lang="en-US" altLang="zh-CN"/>
              <a:t>DI</a:t>
            </a:r>
            <a:endParaRPr lang="zh-CN" altLang="en-US"/>
          </a:p>
        </p:txBody>
      </p:sp>
      <p:sp>
        <p:nvSpPr>
          <p:cNvPr id="23555" name="Text Box 3">
            <a:extLst>
              <a:ext uri="{FF2B5EF4-FFF2-40B4-BE49-F238E27FC236}">
                <a16:creationId xmlns:a16="http://schemas.microsoft.com/office/drawing/2014/main" id="{A62F19E9-E85D-82A2-2AD5-1C663513476D}"/>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3.</a:t>
            </a:r>
            <a:r>
              <a:rPr lang="en-US" altLang="zh-CN" sz="1800">
                <a:solidFill>
                  <a:schemeClr val="bg1"/>
                </a:solidFill>
              </a:rPr>
              <a:t>2</a:t>
            </a:r>
            <a:r>
              <a:rPr lang="en-US" altLang="en-US" sz="1800">
                <a:solidFill>
                  <a:schemeClr val="bg1"/>
                </a:solidFill>
              </a:rPr>
              <a:t> DCS的现场控制站</a:t>
            </a:r>
            <a:endParaRPr lang="zh-CN" altLang="en-US" sz="1800">
              <a:solidFill>
                <a:schemeClr val="bg1"/>
              </a:solidFill>
            </a:endParaRPr>
          </a:p>
        </p:txBody>
      </p:sp>
      <p:pic>
        <p:nvPicPr>
          <p:cNvPr id="23556" name="图片 1">
            <a:extLst>
              <a:ext uri="{FF2B5EF4-FFF2-40B4-BE49-F238E27FC236}">
                <a16:creationId xmlns:a16="http://schemas.microsoft.com/office/drawing/2014/main" id="{5C18ACFB-3D3B-015A-5687-1D242A73A8B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4900" y="1127125"/>
            <a:ext cx="6934200" cy="489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FEAB395C-5825-FE4A-AD5E-9D9809A4FB29}"/>
              </a:ext>
            </a:extLst>
          </p:cNvPr>
          <p:cNvSpPr/>
          <p:nvPr/>
        </p:nvSpPr>
        <p:spPr>
          <a:xfrm>
            <a:off x="4724400" y="1752600"/>
            <a:ext cx="990600" cy="152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6" name="矩形 5">
            <a:extLst>
              <a:ext uri="{FF2B5EF4-FFF2-40B4-BE49-F238E27FC236}">
                <a16:creationId xmlns:a16="http://schemas.microsoft.com/office/drawing/2014/main" id="{D88281CF-05A0-97F9-4776-AB8F78922FED}"/>
              </a:ext>
            </a:extLst>
          </p:cNvPr>
          <p:cNvSpPr/>
          <p:nvPr/>
        </p:nvSpPr>
        <p:spPr>
          <a:xfrm>
            <a:off x="4724400" y="2209800"/>
            <a:ext cx="990600" cy="152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7" name="矩形 6">
            <a:extLst>
              <a:ext uri="{FF2B5EF4-FFF2-40B4-BE49-F238E27FC236}">
                <a16:creationId xmlns:a16="http://schemas.microsoft.com/office/drawing/2014/main" id="{98DAD518-6B80-DBC7-AA26-45EC9EB463D3}"/>
              </a:ext>
            </a:extLst>
          </p:cNvPr>
          <p:cNvSpPr/>
          <p:nvPr/>
        </p:nvSpPr>
        <p:spPr>
          <a:xfrm>
            <a:off x="4724400" y="2670175"/>
            <a:ext cx="990600" cy="152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23560" name="文本框 2">
            <a:extLst>
              <a:ext uri="{FF2B5EF4-FFF2-40B4-BE49-F238E27FC236}">
                <a16:creationId xmlns:a16="http://schemas.microsoft.com/office/drawing/2014/main" id="{5CF7A9CD-A99D-DA23-FCD2-6F943CE73951}"/>
              </a:ext>
            </a:extLst>
          </p:cNvPr>
          <p:cNvSpPr txBox="1">
            <a:spLocks noChangeArrowheads="1"/>
          </p:cNvSpPr>
          <p:nvPr/>
        </p:nvSpPr>
        <p:spPr bwMode="auto">
          <a:xfrm>
            <a:off x="1981200" y="5880100"/>
            <a:ext cx="2492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lang="zh-CN" altLang="en-US" sz="2000" b="1">
                <a:solidFill>
                  <a:srgbClr val="FF0000"/>
                </a:solidFill>
              </a:rPr>
              <a:t>电气隔离，电源隔离</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3BA921C4-036B-F1CF-B132-B483F5599209}"/>
              </a:ext>
            </a:extLst>
          </p:cNvPr>
          <p:cNvSpPr>
            <a:spLocks noGrp="1" noChangeArrowheads="1"/>
          </p:cNvSpPr>
          <p:nvPr>
            <p:ph type="title"/>
          </p:nvPr>
        </p:nvSpPr>
        <p:spPr/>
        <p:txBody>
          <a:bodyPr/>
          <a:lstStyle/>
          <a:p>
            <a:pPr eaLnBrk="1" hangingPunct="1"/>
            <a:r>
              <a:rPr lang="zh-CN" altLang="en-US"/>
              <a:t>现场控制站的功能</a:t>
            </a:r>
            <a:r>
              <a:rPr lang="en-US" altLang="zh-CN"/>
              <a:t>AI</a:t>
            </a:r>
            <a:endParaRPr lang="zh-CN" altLang="en-US"/>
          </a:p>
        </p:txBody>
      </p:sp>
      <p:sp>
        <p:nvSpPr>
          <p:cNvPr id="24579" name="Text Box 3">
            <a:extLst>
              <a:ext uri="{FF2B5EF4-FFF2-40B4-BE49-F238E27FC236}">
                <a16:creationId xmlns:a16="http://schemas.microsoft.com/office/drawing/2014/main" id="{94CF8F93-980D-469F-964C-E33189AB1028}"/>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3.</a:t>
            </a:r>
            <a:r>
              <a:rPr lang="en-US" altLang="zh-CN" sz="1800">
                <a:solidFill>
                  <a:schemeClr val="bg1"/>
                </a:solidFill>
              </a:rPr>
              <a:t>2</a:t>
            </a:r>
            <a:r>
              <a:rPr lang="en-US" altLang="en-US" sz="1800">
                <a:solidFill>
                  <a:schemeClr val="bg1"/>
                </a:solidFill>
              </a:rPr>
              <a:t> DCS的现场控制站</a:t>
            </a:r>
            <a:endParaRPr lang="zh-CN" altLang="en-US" sz="1800">
              <a:solidFill>
                <a:schemeClr val="bg1"/>
              </a:solidFill>
            </a:endParaRPr>
          </a:p>
        </p:txBody>
      </p:sp>
      <p:pic>
        <p:nvPicPr>
          <p:cNvPr id="24580" name="图片 2">
            <a:extLst>
              <a:ext uri="{FF2B5EF4-FFF2-40B4-BE49-F238E27FC236}">
                <a16:creationId xmlns:a16="http://schemas.microsoft.com/office/drawing/2014/main" id="{EE845E75-1D8D-81BD-673D-7E50231C7AD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066800"/>
            <a:ext cx="7239000" cy="505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D2D2A655-E794-810B-64A3-89065057DBA7}"/>
              </a:ext>
            </a:extLst>
          </p:cNvPr>
          <p:cNvSpPr/>
          <p:nvPr/>
        </p:nvSpPr>
        <p:spPr>
          <a:xfrm>
            <a:off x="5029200" y="1828800"/>
            <a:ext cx="1066800" cy="152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6" name="矩形 5">
            <a:extLst>
              <a:ext uri="{FF2B5EF4-FFF2-40B4-BE49-F238E27FC236}">
                <a16:creationId xmlns:a16="http://schemas.microsoft.com/office/drawing/2014/main" id="{EC52BF62-FF08-11DA-23C2-80F514C3B708}"/>
              </a:ext>
            </a:extLst>
          </p:cNvPr>
          <p:cNvSpPr/>
          <p:nvPr/>
        </p:nvSpPr>
        <p:spPr>
          <a:xfrm>
            <a:off x="4876800" y="2362200"/>
            <a:ext cx="1752600" cy="381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7" name="矩形 6">
            <a:extLst>
              <a:ext uri="{FF2B5EF4-FFF2-40B4-BE49-F238E27FC236}">
                <a16:creationId xmlns:a16="http://schemas.microsoft.com/office/drawing/2014/main" id="{D4EAA1E7-AAAA-FE2B-B803-F16566B3EC1F}"/>
              </a:ext>
            </a:extLst>
          </p:cNvPr>
          <p:cNvSpPr/>
          <p:nvPr/>
        </p:nvSpPr>
        <p:spPr>
          <a:xfrm>
            <a:off x="1371600" y="5181600"/>
            <a:ext cx="2362200" cy="381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5CE63967-27C5-4349-2F46-6947C21E1A18}"/>
              </a:ext>
            </a:extLst>
          </p:cNvPr>
          <p:cNvSpPr>
            <a:spLocks noGrp="1" noChangeArrowheads="1"/>
          </p:cNvSpPr>
          <p:nvPr>
            <p:ph type="title"/>
          </p:nvPr>
        </p:nvSpPr>
        <p:spPr/>
        <p:txBody>
          <a:bodyPr/>
          <a:lstStyle/>
          <a:p>
            <a:pPr eaLnBrk="1" hangingPunct="1"/>
            <a:r>
              <a:rPr lang="zh-CN" altLang="en-US" sz="2800" dirty="0"/>
              <a:t>现场控制站的功能</a:t>
            </a:r>
            <a:r>
              <a:rPr lang="en-US" altLang="zh-CN" sz="2800" dirty="0"/>
              <a:t>AI (F)</a:t>
            </a:r>
            <a:endParaRPr lang="zh-CN" altLang="en-US" sz="2800" dirty="0"/>
          </a:p>
        </p:txBody>
      </p:sp>
      <p:sp>
        <p:nvSpPr>
          <p:cNvPr id="25603" name="Text Box 3">
            <a:extLst>
              <a:ext uri="{FF2B5EF4-FFF2-40B4-BE49-F238E27FC236}">
                <a16:creationId xmlns:a16="http://schemas.microsoft.com/office/drawing/2014/main" id="{A838447D-9125-155C-AE74-7281C445A2EA}"/>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3.</a:t>
            </a:r>
            <a:r>
              <a:rPr lang="en-US" altLang="zh-CN" sz="1800">
                <a:solidFill>
                  <a:schemeClr val="bg1"/>
                </a:solidFill>
              </a:rPr>
              <a:t>2</a:t>
            </a:r>
            <a:r>
              <a:rPr lang="en-US" altLang="en-US" sz="1800">
                <a:solidFill>
                  <a:schemeClr val="bg1"/>
                </a:solidFill>
              </a:rPr>
              <a:t> DCS的现场控制站</a:t>
            </a:r>
            <a:endParaRPr lang="zh-CN" altLang="en-US" sz="1800">
              <a:solidFill>
                <a:schemeClr val="bg1"/>
              </a:solidFill>
            </a:endParaRPr>
          </a:p>
        </p:txBody>
      </p:sp>
      <p:pic>
        <p:nvPicPr>
          <p:cNvPr id="25604" name="图片 1">
            <a:extLst>
              <a:ext uri="{FF2B5EF4-FFF2-40B4-BE49-F238E27FC236}">
                <a16:creationId xmlns:a16="http://schemas.microsoft.com/office/drawing/2014/main" id="{B738FB55-F521-FC7F-DC0A-4D085CDC8D1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027113"/>
            <a:ext cx="6438900" cy="581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D9E96167-ECDB-A8BA-CBFD-70B261933012}"/>
              </a:ext>
            </a:extLst>
          </p:cNvPr>
          <p:cNvSpPr/>
          <p:nvPr/>
        </p:nvSpPr>
        <p:spPr>
          <a:xfrm>
            <a:off x="1481138" y="4267200"/>
            <a:ext cx="3090862" cy="381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6" name="矩形 5">
            <a:extLst>
              <a:ext uri="{FF2B5EF4-FFF2-40B4-BE49-F238E27FC236}">
                <a16:creationId xmlns:a16="http://schemas.microsoft.com/office/drawing/2014/main" id="{8FF5F993-69A8-90E9-A397-AD3F0D43F9CE}"/>
              </a:ext>
            </a:extLst>
          </p:cNvPr>
          <p:cNvSpPr/>
          <p:nvPr/>
        </p:nvSpPr>
        <p:spPr>
          <a:xfrm>
            <a:off x="4659313" y="2286000"/>
            <a:ext cx="1589087" cy="4572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5CE63967-27C5-4349-2F46-6947C21E1A18}"/>
              </a:ext>
            </a:extLst>
          </p:cNvPr>
          <p:cNvSpPr>
            <a:spLocks noGrp="1" noChangeArrowheads="1"/>
          </p:cNvSpPr>
          <p:nvPr>
            <p:ph type="title"/>
          </p:nvPr>
        </p:nvSpPr>
        <p:spPr/>
        <p:txBody>
          <a:bodyPr/>
          <a:lstStyle/>
          <a:p>
            <a:pPr eaLnBrk="1" hangingPunct="1"/>
            <a:r>
              <a:rPr lang="zh-CN" altLang="en-US" sz="2800" dirty="0"/>
              <a:t>电气隔离</a:t>
            </a:r>
          </a:p>
        </p:txBody>
      </p:sp>
      <p:pic>
        <p:nvPicPr>
          <p:cNvPr id="2" name="图片 1">
            <a:extLst>
              <a:ext uri="{FF2B5EF4-FFF2-40B4-BE49-F238E27FC236}">
                <a16:creationId xmlns:a16="http://schemas.microsoft.com/office/drawing/2014/main" id="{923DD583-D767-F8F4-AB04-9F375BE2EE07}"/>
              </a:ext>
            </a:extLst>
          </p:cNvPr>
          <p:cNvPicPr>
            <a:picLocks noChangeAspect="1"/>
          </p:cNvPicPr>
          <p:nvPr/>
        </p:nvPicPr>
        <p:blipFill>
          <a:blip r:embed="rId2"/>
          <a:stretch>
            <a:fillRect/>
          </a:stretch>
        </p:blipFill>
        <p:spPr>
          <a:xfrm>
            <a:off x="23573" y="1340768"/>
            <a:ext cx="3305733" cy="3960440"/>
          </a:xfrm>
          <a:prstGeom prst="rect">
            <a:avLst/>
          </a:prstGeom>
        </p:spPr>
      </p:pic>
      <p:sp>
        <p:nvSpPr>
          <p:cNvPr id="4" name="文本框 3">
            <a:extLst>
              <a:ext uri="{FF2B5EF4-FFF2-40B4-BE49-F238E27FC236}">
                <a16:creationId xmlns:a16="http://schemas.microsoft.com/office/drawing/2014/main" id="{2B726853-7DE4-1CDC-FA73-19249A293E88}"/>
              </a:ext>
            </a:extLst>
          </p:cNvPr>
          <p:cNvSpPr txBox="1"/>
          <p:nvPr/>
        </p:nvSpPr>
        <p:spPr>
          <a:xfrm>
            <a:off x="3203848" y="1412776"/>
            <a:ext cx="5688632" cy="4247317"/>
          </a:xfrm>
          <a:prstGeom prst="rect">
            <a:avLst/>
          </a:prstGeom>
          <a:noFill/>
        </p:spPr>
        <p:txBody>
          <a:bodyPr wrap="square">
            <a:spAutoFit/>
          </a:bodyPr>
          <a:lstStyle/>
          <a:p>
            <a:r>
              <a:rPr lang="zh-CN" altLang="en-US" dirty="0">
                <a:solidFill>
                  <a:srgbClr val="FF0000"/>
                </a:solidFill>
              </a:rPr>
              <a:t>       光电隔离</a:t>
            </a:r>
            <a:r>
              <a:rPr lang="zh-CN" altLang="en-US" dirty="0"/>
              <a:t>是由光电耦合器件来完成的。其输入端配置发光源，输出端配置受光器，因而输入和输出在</a:t>
            </a:r>
            <a:r>
              <a:rPr lang="zh-CN" altLang="en-US" dirty="0">
                <a:solidFill>
                  <a:srgbClr val="FF0000"/>
                </a:solidFill>
              </a:rPr>
              <a:t>电气上是完全隔离的</a:t>
            </a:r>
            <a:r>
              <a:rPr lang="zh-CN" altLang="en-US" dirty="0"/>
              <a:t>。</a:t>
            </a:r>
          </a:p>
          <a:p>
            <a:r>
              <a:rPr lang="zh-CN" altLang="en-US" dirty="0"/>
              <a:t>       光电耦合器把输入信号与内部电路隔离开来，或者是把内部输出信号与外部电路隔离开来，如图</a:t>
            </a:r>
            <a:r>
              <a:rPr lang="en-US" altLang="zh-CN" dirty="0"/>
              <a:t>1</a:t>
            </a:r>
            <a:r>
              <a:rPr lang="zh-CN" altLang="en-US" dirty="0"/>
              <a:t>所示。开关量输入电路接入光电耦合器后，由于光电耦合器的隔离作用，使夹杂在输入开关量中的各种干扰脉冲都被挡在输入回路的一侧。由于光电耦合器不是将输入侧和输出侧的电信号进行直接耦合，而是以光为媒介进行耦合，具有较高的电气隔离和抗干扰能力。</a:t>
            </a:r>
            <a:endParaRPr lang="en-US" altLang="zh-CN" dirty="0"/>
          </a:p>
          <a:p>
            <a:endParaRPr lang="en-US" altLang="zh-CN" dirty="0"/>
          </a:p>
          <a:p>
            <a:endParaRPr lang="en-US" altLang="zh-CN" dirty="0"/>
          </a:p>
          <a:p>
            <a:r>
              <a:rPr lang="en-US" altLang="zh-CN" dirty="0"/>
              <a:t>         </a:t>
            </a:r>
            <a:r>
              <a:rPr lang="zh-CN" altLang="en-US" dirty="0"/>
              <a:t>缺点：高频下存在相位差</a:t>
            </a:r>
            <a:endParaRPr lang="en-US" altLang="zh-CN" dirty="0"/>
          </a:p>
          <a:p>
            <a:endParaRPr lang="en-US" altLang="zh-CN" dirty="0"/>
          </a:p>
          <a:p>
            <a:r>
              <a:rPr lang="zh-CN" altLang="en-US" dirty="0"/>
              <a:t>适用于低频信号传递</a:t>
            </a:r>
          </a:p>
        </p:txBody>
      </p:sp>
      <p:sp>
        <p:nvSpPr>
          <p:cNvPr id="7" name="文本框 6">
            <a:extLst>
              <a:ext uri="{FF2B5EF4-FFF2-40B4-BE49-F238E27FC236}">
                <a16:creationId xmlns:a16="http://schemas.microsoft.com/office/drawing/2014/main" id="{E561A65C-BF3B-0233-A79E-F643E621C5B6}"/>
              </a:ext>
            </a:extLst>
          </p:cNvPr>
          <p:cNvSpPr txBox="1"/>
          <p:nvPr/>
        </p:nvSpPr>
        <p:spPr>
          <a:xfrm rot="420000">
            <a:off x="7288995" y="356322"/>
            <a:ext cx="1440160" cy="584775"/>
          </a:xfrm>
          <a:prstGeom prst="rect">
            <a:avLst/>
          </a:prstGeom>
          <a:noFill/>
          <a:ln w="19050">
            <a:solidFill>
              <a:srgbClr val="FF0000"/>
            </a:solidFill>
          </a:ln>
        </p:spPr>
        <p:txBody>
          <a:bodyPr wrap="square" rtlCol="0">
            <a:spAutoFit/>
          </a:body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Tree>
    <p:extLst>
      <p:ext uri="{BB962C8B-B14F-4D97-AF65-F5344CB8AC3E}">
        <p14:creationId xmlns:p14="http://schemas.microsoft.com/office/powerpoint/2010/main" val="3658050948"/>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5CE63967-27C5-4349-2F46-6947C21E1A18}"/>
              </a:ext>
            </a:extLst>
          </p:cNvPr>
          <p:cNvSpPr>
            <a:spLocks noGrp="1" noChangeArrowheads="1"/>
          </p:cNvSpPr>
          <p:nvPr>
            <p:ph type="title"/>
          </p:nvPr>
        </p:nvSpPr>
        <p:spPr/>
        <p:txBody>
          <a:bodyPr/>
          <a:lstStyle/>
          <a:p>
            <a:pPr eaLnBrk="1" hangingPunct="1"/>
            <a:r>
              <a:rPr lang="zh-CN" altLang="en-US" sz="2800" dirty="0"/>
              <a:t>电气隔离</a:t>
            </a:r>
          </a:p>
        </p:txBody>
      </p:sp>
      <p:sp>
        <p:nvSpPr>
          <p:cNvPr id="7" name="文本框 6">
            <a:extLst>
              <a:ext uri="{FF2B5EF4-FFF2-40B4-BE49-F238E27FC236}">
                <a16:creationId xmlns:a16="http://schemas.microsoft.com/office/drawing/2014/main" id="{E561A65C-BF3B-0233-A79E-F643E621C5B6}"/>
              </a:ext>
            </a:extLst>
          </p:cNvPr>
          <p:cNvSpPr txBox="1"/>
          <p:nvPr/>
        </p:nvSpPr>
        <p:spPr>
          <a:xfrm rot="420000">
            <a:off x="7288995" y="356322"/>
            <a:ext cx="1440160" cy="584775"/>
          </a:xfrm>
          <a:prstGeom prst="rect">
            <a:avLst/>
          </a:prstGeom>
          <a:noFill/>
          <a:ln w="19050">
            <a:solidFill>
              <a:srgbClr val="FF0000"/>
            </a:solidFill>
          </a:ln>
        </p:spPr>
        <p:txBody>
          <a:bodyPr wrap="square" rtlCol="0">
            <a:spAutoFit/>
          </a:body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pic>
        <p:nvPicPr>
          <p:cNvPr id="1026" name="Picture 2">
            <a:extLst>
              <a:ext uri="{FF2B5EF4-FFF2-40B4-BE49-F238E27FC236}">
                <a16:creationId xmlns:a16="http://schemas.microsoft.com/office/drawing/2014/main" id="{CACC54CA-A130-76C2-B969-3229A8AE0E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4672608"/>
            <a:ext cx="5746924" cy="1728192"/>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FA3862E3-E569-8A91-D42F-5F0697A31A48}"/>
              </a:ext>
            </a:extLst>
          </p:cNvPr>
          <p:cNvSpPr txBox="1"/>
          <p:nvPr/>
        </p:nvSpPr>
        <p:spPr>
          <a:xfrm>
            <a:off x="457199" y="1381655"/>
            <a:ext cx="8302221" cy="3693319"/>
          </a:xfrm>
          <a:prstGeom prst="rect">
            <a:avLst/>
          </a:prstGeom>
          <a:noFill/>
        </p:spPr>
        <p:txBody>
          <a:bodyPr wrap="square">
            <a:spAutoFit/>
          </a:bodyPr>
          <a:lstStyle/>
          <a:p>
            <a:r>
              <a:rPr lang="zh-CN" altLang="en-US" dirty="0"/>
              <a:t>         </a:t>
            </a:r>
            <a:r>
              <a:rPr lang="zh-CN" altLang="en-US" b="1" dirty="0">
                <a:solidFill>
                  <a:srgbClr val="FF0000"/>
                </a:solidFill>
              </a:rPr>
              <a:t>脉冲变压器隔离</a:t>
            </a:r>
            <a:r>
              <a:rPr lang="zh-CN" altLang="en-US" dirty="0"/>
              <a:t>脉冲变压器的匝数较少，而且一次绕组和二次绕组分别绕于铁氧体磁芯的两侧，这种工艺使得它的分布电容特小，仅为几个</a:t>
            </a:r>
            <a:r>
              <a:rPr lang="en-US" altLang="zh-CN" dirty="0"/>
              <a:t>pF</a:t>
            </a:r>
            <a:r>
              <a:rPr lang="zh-CN" altLang="en-US" dirty="0"/>
              <a:t>，所以可作为脉冲信号的隔离元件。脉冲变压器传递输入、输出脉冲信号时，不传递直流分量，</a:t>
            </a:r>
            <a:r>
              <a:rPr lang="zh-CN" altLang="en-US" dirty="0">
                <a:solidFill>
                  <a:srgbClr val="FF0000"/>
                </a:solidFill>
              </a:rPr>
              <a:t>使用的数字量信号输入／输出的控制设备不要求传递直流分量</a:t>
            </a:r>
            <a:r>
              <a:rPr lang="zh-CN" altLang="en-US" dirty="0"/>
              <a:t>，因而在工控系统中得到了广泛的应用。</a:t>
            </a:r>
            <a:endParaRPr lang="en-US" altLang="zh-CN" dirty="0"/>
          </a:p>
          <a:p>
            <a:endParaRPr lang="en-US" altLang="zh-CN" dirty="0"/>
          </a:p>
          <a:p>
            <a:r>
              <a:rPr lang="zh-CN" altLang="en-US" dirty="0"/>
              <a:t>          电路的外部信号经</a:t>
            </a:r>
            <a:r>
              <a:rPr lang="en-US" altLang="zh-CN" dirty="0"/>
              <a:t>RC</a:t>
            </a:r>
            <a:r>
              <a:rPr lang="zh-CN" altLang="en-US" dirty="0"/>
              <a:t>滤波电路和双向稳压管抑制常模噪声干扰，然后输入脉冲变压器的一次侧。为了防止过高的对称信号击穿电路元件，脉冲变压器的二次侧</a:t>
            </a:r>
            <a:r>
              <a:rPr lang="zh-CN" altLang="en-US" dirty="0">
                <a:solidFill>
                  <a:srgbClr val="FF0000"/>
                </a:solidFill>
              </a:rPr>
              <a:t>输出电压被稳压管限幅后进入测控系统内部</a:t>
            </a:r>
            <a:r>
              <a:rPr lang="zh-CN" altLang="en-US" dirty="0"/>
              <a:t>。一般地说，脉冲变压器的信号传递频率在</a:t>
            </a:r>
            <a:r>
              <a:rPr lang="en-US" altLang="zh-CN" dirty="0"/>
              <a:t>1kHz</a:t>
            </a:r>
            <a:r>
              <a:rPr lang="zh-CN" altLang="en-US" dirty="0"/>
              <a:t>～</a:t>
            </a:r>
            <a:r>
              <a:rPr lang="en-US" altLang="zh-CN" dirty="0"/>
              <a:t>1MHz</a:t>
            </a:r>
            <a:r>
              <a:rPr lang="zh-CN" altLang="en-US" dirty="0"/>
              <a:t>之间，新型的高频脉冲变压器的传递频率可达到</a:t>
            </a:r>
            <a:r>
              <a:rPr lang="en-US" altLang="zh-CN" dirty="0"/>
              <a:t>10MHz</a:t>
            </a:r>
            <a:r>
              <a:rPr lang="zh-CN" altLang="en-US" dirty="0"/>
              <a:t>。</a:t>
            </a:r>
            <a:endParaRPr lang="en-US" altLang="zh-CN" dirty="0"/>
          </a:p>
          <a:p>
            <a:endParaRPr lang="en-US" altLang="zh-CN" dirty="0"/>
          </a:p>
          <a:p>
            <a:r>
              <a:rPr lang="zh-CN" altLang="en-US" dirty="0"/>
              <a:t>适用于脉冲信号传递</a:t>
            </a:r>
          </a:p>
          <a:p>
            <a:endParaRPr lang="zh-CN" altLang="en-US" dirty="0"/>
          </a:p>
        </p:txBody>
      </p:sp>
    </p:spTree>
    <p:extLst>
      <p:ext uri="{BB962C8B-B14F-4D97-AF65-F5344CB8AC3E}">
        <p14:creationId xmlns:p14="http://schemas.microsoft.com/office/powerpoint/2010/main" val="1167893103"/>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5CE63967-27C5-4349-2F46-6947C21E1A18}"/>
              </a:ext>
            </a:extLst>
          </p:cNvPr>
          <p:cNvSpPr>
            <a:spLocks noGrp="1" noChangeArrowheads="1"/>
          </p:cNvSpPr>
          <p:nvPr>
            <p:ph type="title"/>
          </p:nvPr>
        </p:nvSpPr>
        <p:spPr/>
        <p:txBody>
          <a:bodyPr/>
          <a:lstStyle/>
          <a:p>
            <a:pPr eaLnBrk="1" hangingPunct="1"/>
            <a:r>
              <a:rPr lang="zh-CN" altLang="en-US" sz="2800" dirty="0"/>
              <a:t>电气隔离</a:t>
            </a:r>
          </a:p>
        </p:txBody>
      </p:sp>
      <p:sp>
        <p:nvSpPr>
          <p:cNvPr id="7" name="文本框 6">
            <a:extLst>
              <a:ext uri="{FF2B5EF4-FFF2-40B4-BE49-F238E27FC236}">
                <a16:creationId xmlns:a16="http://schemas.microsoft.com/office/drawing/2014/main" id="{E561A65C-BF3B-0233-A79E-F643E621C5B6}"/>
              </a:ext>
            </a:extLst>
          </p:cNvPr>
          <p:cNvSpPr txBox="1"/>
          <p:nvPr/>
        </p:nvSpPr>
        <p:spPr>
          <a:xfrm rot="420000">
            <a:off x="7288995" y="356322"/>
            <a:ext cx="1440160" cy="584775"/>
          </a:xfrm>
          <a:prstGeom prst="rect">
            <a:avLst/>
          </a:prstGeom>
          <a:noFill/>
          <a:ln w="19050">
            <a:solidFill>
              <a:srgbClr val="FF0000"/>
            </a:solidFill>
          </a:ln>
        </p:spPr>
        <p:txBody>
          <a:bodyPr wrap="square" rtlCol="0">
            <a:spAutoFit/>
          </a:body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
        <p:nvSpPr>
          <p:cNvPr id="5" name="文本框 4">
            <a:extLst>
              <a:ext uri="{FF2B5EF4-FFF2-40B4-BE49-F238E27FC236}">
                <a16:creationId xmlns:a16="http://schemas.microsoft.com/office/drawing/2014/main" id="{FA3862E3-E569-8A91-D42F-5F0697A31A48}"/>
              </a:ext>
            </a:extLst>
          </p:cNvPr>
          <p:cNvSpPr txBox="1"/>
          <p:nvPr/>
        </p:nvSpPr>
        <p:spPr>
          <a:xfrm>
            <a:off x="457199" y="1381655"/>
            <a:ext cx="8302221" cy="2308324"/>
          </a:xfrm>
          <a:prstGeom prst="rect">
            <a:avLst/>
          </a:prstGeom>
          <a:noFill/>
        </p:spPr>
        <p:txBody>
          <a:bodyPr wrap="square">
            <a:spAutoFit/>
          </a:bodyPr>
          <a:lstStyle/>
          <a:p>
            <a:r>
              <a:rPr lang="zh-CN" altLang="en-US" dirty="0"/>
              <a:t>        继电器的线圈和触点没有电气上的联系，因此，可利用继电器的线圈接受信号，利用触点发送和输出控制信号，从而避免强电和弱电信号之间的直接接触，实现了抗干扰隔离。</a:t>
            </a:r>
            <a:endParaRPr lang="en-US" altLang="zh-CN" dirty="0"/>
          </a:p>
          <a:p>
            <a:r>
              <a:rPr lang="zh-CN" altLang="en-US" dirty="0"/>
              <a:t>        在该电路中，通过继电器把</a:t>
            </a:r>
            <a:r>
              <a:rPr lang="zh-CN" altLang="en-US" dirty="0">
                <a:solidFill>
                  <a:srgbClr val="FF0000"/>
                </a:solidFill>
              </a:rPr>
              <a:t>低压直流与高压交流</a:t>
            </a:r>
            <a:r>
              <a:rPr lang="zh-CN" altLang="en-US" dirty="0"/>
              <a:t>隔离开来，使高压交流侧的干扰无法进入低压直流侧。</a:t>
            </a:r>
            <a:endParaRPr lang="en-US" altLang="zh-CN" dirty="0"/>
          </a:p>
          <a:p>
            <a:endParaRPr lang="en-US" altLang="zh-CN" dirty="0"/>
          </a:p>
          <a:p>
            <a:r>
              <a:rPr lang="zh-CN" altLang="en-US" dirty="0"/>
              <a:t>适用于低压和高压信号转换</a:t>
            </a:r>
          </a:p>
          <a:p>
            <a:endParaRPr lang="zh-CN" altLang="en-US" dirty="0"/>
          </a:p>
        </p:txBody>
      </p:sp>
      <p:pic>
        <p:nvPicPr>
          <p:cNvPr id="6" name="图片 5">
            <a:extLst>
              <a:ext uri="{FF2B5EF4-FFF2-40B4-BE49-F238E27FC236}">
                <a16:creationId xmlns:a16="http://schemas.microsoft.com/office/drawing/2014/main" id="{11C1EAC2-C453-75AF-7949-FE53FE1134C7}"/>
              </a:ext>
            </a:extLst>
          </p:cNvPr>
          <p:cNvPicPr>
            <a:picLocks noChangeAspect="1"/>
          </p:cNvPicPr>
          <p:nvPr/>
        </p:nvPicPr>
        <p:blipFill>
          <a:blip r:embed="rId2"/>
          <a:stretch>
            <a:fillRect/>
          </a:stretch>
        </p:blipFill>
        <p:spPr>
          <a:xfrm>
            <a:off x="2401342" y="3501008"/>
            <a:ext cx="4341315" cy="2664296"/>
          </a:xfrm>
          <a:prstGeom prst="rect">
            <a:avLst/>
          </a:prstGeom>
        </p:spPr>
      </p:pic>
    </p:spTree>
    <p:extLst>
      <p:ext uri="{BB962C8B-B14F-4D97-AF65-F5344CB8AC3E}">
        <p14:creationId xmlns:p14="http://schemas.microsoft.com/office/powerpoint/2010/main" val="836331596"/>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B831A3F-83C6-446D-2579-AC16E9F49747}"/>
              </a:ext>
            </a:extLst>
          </p:cNvPr>
          <p:cNvSpPr>
            <a:spLocks noGrp="1" noChangeArrowheads="1"/>
          </p:cNvSpPr>
          <p:nvPr>
            <p:ph type="title"/>
          </p:nvPr>
        </p:nvSpPr>
        <p:spPr/>
        <p:txBody>
          <a:bodyPr/>
          <a:lstStyle/>
          <a:p>
            <a:pPr eaLnBrk="1" hangingPunct="1"/>
            <a:r>
              <a:rPr lang="zh-CN" altLang="en-US"/>
              <a:t>现场控制站的功能</a:t>
            </a:r>
          </a:p>
        </p:txBody>
      </p:sp>
      <p:sp>
        <p:nvSpPr>
          <p:cNvPr id="26628" name="Rectangle 4">
            <a:extLst>
              <a:ext uri="{FF2B5EF4-FFF2-40B4-BE49-F238E27FC236}">
                <a16:creationId xmlns:a16="http://schemas.microsoft.com/office/drawing/2014/main" id="{170C6D61-0DCA-13D8-DB24-567897F3F934}"/>
              </a:ext>
            </a:extLst>
          </p:cNvPr>
          <p:cNvSpPr>
            <a:spLocks noChangeArrowheads="1"/>
          </p:cNvSpPr>
          <p:nvPr/>
        </p:nvSpPr>
        <p:spPr bwMode="auto">
          <a:xfrm>
            <a:off x="152400" y="1066800"/>
            <a:ext cx="8991600" cy="4894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2400" dirty="0"/>
              <a:t>3)  </a:t>
            </a:r>
            <a:r>
              <a:rPr lang="zh-CN" altLang="en-US" sz="2400" b="1" dirty="0">
                <a:solidFill>
                  <a:srgbClr val="FF0000"/>
                </a:solidFill>
              </a:rPr>
              <a:t>控制策略的实现</a:t>
            </a:r>
          </a:p>
          <a:p>
            <a:pPr eaLnBrk="1" hangingPunct="1">
              <a:spcBef>
                <a:spcPct val="0"/>
              </a:spcBef>
            </a:pPr>
            <a:r>
              <a:rPr lang="zh-CN" altLang="en-US" sz="2400" dirty="0"/>
              <a:t>各种在组态中定义的回路控制算法、顺序控制算法、计算功能均在现场控制站中实现。</a:t>
            </a:r>
          </a:p>
          <a:p>
            <a:pPr eaLnBrk="1" hangingPunct="1">
              <a:spcBef>
                <a:spcPct val="0"/>
              </a:spcBef>
            </a:pPr>
            <a:r>
              <a:rPr lang="en-US" altLang="zh-CN" sz="2400" dirty="0"/>
              <a:t>(1)  </a:t>
            </a:r>
            <a:r>
              <a:rPr lang="zh-CN" altLang="en-US" sz="2400" dirty="0"/>
              <a:t>单回路、串级 </a:t>
            </a:r>
            <a:r>
              <a:rPr lang="en-US" altLang="zh-CN" sz="2400" dirty="0"/>
              <a:t>PID </a:t>
            </a:r>
            <a:r>
              <a:rPr lang="zh-CN" altLang="en-US" sz="2400" dirty="0"/>
              <a:t>调节、复杂 </a:t>
            </a:r>
            <a:r>
              <a:rPr lang="en-US" altLang="zh-CN" sz="2400" dirty="0"/>
              <a:t>PID </a:t>
            </a:r>
            <a:r>
              <a:rPr lang="zh-CN" altLang="en-US" sz="2400" dirty="0"/>
              <a:t>调节 </a:t>
            </a:r>
            <a:r>
              <a:rPr lang="en-US" altLang="zh-CN" sz="2400" dirty="0"/>
              <a:t>( </a:t>
            </a:r>
            <a:r>
              <a:rPr lang="zh-CN" altLang="en-US" sz="2400" dirty="0"/>
              <a:t>如前馈、滞后补偿等 </a:t>
            </a:r>
            <a:r>
              <a:rPr lang="en-US" altLang="zh-CN" sz="2400" dirty="0"/>
              <a:t>) </a:t>
            </a:r>
            <a:r>
              <a:rPr lang="zh-CN" altLang="en-US" sz="2400" dirty="0"/>
              <a:t>、 </a:t>
            </a:r>
            <a:r>
              <a:rPr lang="en-US" altLang="zh-CN" sz="2400" dirty="0"/>
              <a:t>Smith </a:t>
            </a:r>
            <a:r>
              <a:rPr lang="zh-CN" altLang="en-US" sz="2400" dirty="0"/>
              <a:t>预估器。</a:t>
            </a:r>
          </a:p>
          <a:p>
            <a:pPr eaLnBrk="1" hangingPunct="1">
              <a:spcBef>
                <a:spcPct val="0"/>
              </a:spcBef>
            </a:pPr>
            <a:r>
              <a:rPr lang="en-US" altLang="zh-CN" sz="2400" dirty="0"/>
              <a:t>(2)  </a:t>
            </a:r>
            <a:r>
              <a:rPr lang="zh-CN" altLang="en-US" sz="2400" dirty="0"/>
              <a:t>比值控制、解耦控制。</a:t>
            </a:r>
          </a:p>
          <a:p>
            <a:pPr eaLnBrk="1" hangingPunct="1">
              <a:spcBef>
                <a:spcPct val="0"/>
              </a:spcBef>
            </a:pPr>
            <a:r>
              <a:rPr lang="en-US" altLang="zh-CN" sz="2400" dirty="0"/>
              <a:t>(3)  </a:t>
            </a:r>
            <a:r>
              <a:rPr lang="zh-CN" altLang="en-US" sz="2400" dirty="0"/>
              <a:t>抗积分饱和、不完全微分、积分分离、微分先行等算法。</a:t>
            </a:r>
          </a:p>
          <a:p>
            <a:pPr eaLnBrk="1" hangingPunct="1">
              <a:spcBef>
                <a:spcPct val="0"/>
              </a:spcBef>
            </a:pPr>
            <a:r>
              <a:rPr lang="en-US" altLang="zh-CN" sz="2400" dirty="0"/>
              <a:t>(4)  </a:t>
            </a:r>
            <a:r>
              <a:rPr lang="zh-CN" altLang="en-US" sz="2400" dirty="0"/>
              <a:t>智能控制算法，包括智能 </a:t>
            </a:r>
            <a:r>
              <a:rPr lang="en-US" altLang="zh-CN" sz="2400" dirty="0"/>
              <a:t>PID </a:t>
            </a:r>
            <a:r>
              <a:rPr lang="zh-CN" altLang="en-US" sz="2400" dirty="0"/>
              <a:t>、模糊 </a:t>
            </a:r>
            <a:r>
              <a:rPr lang="en-US" altLang="zh-CN" sz="2400" dirty="0"/>
              <a:t>PID </a:t>
            </a:r>
            <a:r>
              <a:rPr lang="zh-CN" altLang="en-US" sz="2400" dirty="0"/>
              <a:t>、自整定 </a:t>
            </a:r>
            <a:r>
              <a:rPr lang="en-US" altLang="zh-CN" sz="2400" dirty="0"/>
              <a:t>PID </a:t>
            </a:r>
            <a:r>
              <a:rPr lang="zh-CN" altLang="en-US" sz="2400" dirty="0"/>
              <a:t>、预估控制等。</a:t>
            </a:r>
          </a:p>
          <a:p>
            <a:pPr eaLnBrk="1" hangingPunct="1">
              <a:spcBef>
                <a:spcPct val="0"/>
              </a:spcBef>
            </a:pPr>
            <a:r>
              <a:rPr lang="en-US" altLang="zh-CN" sz="2400" dirty="0"/>
              <a:t>(5)  </a:t>
            </a:r>
            <a:r>
              <a:rPr lang="zh-CN" altLang="en-US" sz="2400" dirty="0"/>
              <a:t>四则运算 </a:t>
            </a:r>
            <a:r>
              <a:rPr lang="en-US" altLang="zh-CN" sz="2400" dirty="0"/>
              <a:t>, </a:t>
            </a:r>
            <a:r>
              <a:rPr lang="zh-CN" altLang="en-US" sz="2400" dirty="0"/>
              <a:t>乘方、开方运算 </a:t>
            </a:r>
            <a:r>
              <a:rPr lang="en-US" altLang="zh-CN" sz="2400" dirty="0"/>
              <a:t>, </a:t>
            </a:r>
            <a:r>
              <a:rPr lang="zh-CN" altLang="en-US" sz="2400" dirty="0"/>
              <a:t>指数、对数运算。</a:t>
            </a:r>
          </a:p>
          <a:p>
            <a:pPr eaLnBrk="1" hangingPunct="1">
              <a:spcBef>
                <a:spcPct val="0"/>
              </a:spcBef>
            </a:pPr>
            <a:r>
              <a:rPr lang="en-US" altLang="zh-CN" sz="2400" dirty="0"/>
              <a:t>(6)  </a:t>
            </a:r>
            <a:r>
              <a:rPr lang="zh-CN" altLang="en-US" sz="2400" dirty="0"/>
              <a:t>一阶、二阶过程的模拟，各种辅助运算模块如选择器、比较器、定时器、计数器、限幅与限速、布尔运算、算术运算、积算器等。</a:t>
            </a:r>
          </a:p>
          <a:p>
            <a:pPr eaLnBrk="1" hangingPunct="1">
              <a:spcBef>
                <a:spcPct val="0"/>
              </a:spcBef>
            </a:pPr>
            <a:r>
              <a:rPr lang="en-US" altLang="zh-CN" sz="2400" dirty="0"/>
              <a:t>(7)  </a:t>
            </a:r>
            <a:r>
              <a:rPr lang="zh-CN" altLang="en-US" sz="2400" dirty="0"/>
              <a:t>梯形图算法，用于联锁与顺控。</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0518554A-3B3B-C1C5-7284-54B1D0EB7D15}"/>
              </a:ext>
            </a:extLst>
          </p:cNvPr>
          <p:cNvSpPr>
            <a:spLocks noGrp="1" noChangeArrowheads="1"/>
          </p:cNvSpPr>
          <p:nvPr>
            <p:ph type="title"/>
          </p:nvPr>
        </p:nvSpPr>
        <p:spPr/>
        <p:txBody>
          <a:bodyPr/>
          <a:lstStyle/>
          <a:p>
            <a:pPr eaLnBrk="1" hangingPunct="1"/>
            <a:r>
              <a:rPr lang="zh-CN" altLang="en-US"/>
              <a:t>现场控制站的功能</a:t>
            </a:r>
          </a:p>
        </p:txBody>
      </p:sp>
      <p:sp>
        <p:nvSpPr>
          <p:cNvPr id="27651" name="Text Box 3">
            <a:extLst>
              <a:ext uri="{FF2B5EF4-FFF2-40B4-BE49-F238E27FC236}">
                <a16:creationId xmlns:a16="http://schemas.microsoft.com/office/drawing/2014/main" id="{7A5EEF6B-5880-FD12-598B-E7E91874FC0E}"/>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3.</a:t>
            </a:r>
            <a:r>
              <a:rPr lang="en-US" altLang="zh-CN" sz="1800">
                <a:solidFill>
                  <a:schemeClr val="bg1"/>
                </a:solidFill>
              </a:rPr>
              <a:t>2</a:t>
            </a:r>
            <a:r>
              <a:rPr lang="en-US" altLang="en-US" sz="1800">
                <a:solidFill>
                  <a:schemeClr val="bg1"/>
                </a:solidFill>
              </a:rPr>
              <a:t> DCS的现场控制站</a:t>
            </a:r>
            <a:endParaRPr lang="zh-CN" altLang="en-US" sz="1800">
              <a:solidFill>
                <a:schemeClr val="bg1"/>
              </a:solidFill>
            </a:endParaRPr>
          </a:p>
        </p:txBody>
      </p:sp>
      <p:sp>
        <p:nvSpPr>
          <p:cNvPr id="27652" name="Rectangle 4">
            <a:extLst>
              <a:ext uri="{FF2B5EF4-FFF2-40B4-BE49-F238E27FC236}">
                <a16:creationId xmlns:a16="http://schemas.microsoft.com/office/drawing/2014/main" id="{9E140265-1D87-22C1-C40F-AD1E6C3FD6E0}"/>
              </a:ext>
            </a:extLst>
          </p:cNvPr>
          <p:cNvSpPr>
            <a:spLocks noChangeArrowheads="1"/>
          </p:cNvSpPr>
          <p:nvPr/>
        </p:nvSpPr>
        <p:spPr bwMode="auto">
          <a:xfrm>
            <a:off x="152400" y="1066800"/>
            <a:ext cx="8991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2400" dirty="0"/>
              <a:t>4)  </a:t>
            </a:r>
            <a:r>
              <a:rPr lang="zh-CN" altLang="en-US" sz="2400" b="1" dirty="0">
                <a:solidFill>
                  <a:srgbClr val="FF0000"/>
                </a:solidFill>
              </a:rPr>
              <a:t>通信功能</a:t>
            </a:r>
          </a:p>
          <a:p>
            <a:pPr eaLnBrk="1" hangingPunct="1">
              <a:spcBef>
                <a:spcPct val="0"/>
              </a:spcBef>
            </a:pPr>
            <a:r>
              <a:rPr lang="zh-CN" altLang="en-US" sz="2400" dirty="0"/>
              <a:t>现场控制站的通信功能分为三部分：一是经由系统网络与上位操作站及工程师组态站的通信，将各种现场采集信息发给操作站，同时操作站针对现场的操作指令由操作站发向控制站；二是控制站内部的通信功能，完成 </a:t>
            </a:r>
            <a:r>
              <a:rPr lang="en-US" altLang="zh-CN" sz="2400" dirty="0"/>
              <a:t>CPU </a:t>
            </a:r>
            <a:r>
              <a:rPr lang="zh-CN" altLang="en-US" sz="2400" dirty="0"/>
              <a:t>主控制器与各过程通道板间的信息交换；三是控制站与其他智能设备的通信。</a:t>
            </a:r>
          </a:p>
          <a:p>
            <a:pPr eaLnBrk="1" hangingPunct="1">
              <a:spcBef>
                <a:spcPct val="0"/>
              </a:spcBef>
            </a:pPr>
            <a:r>
              <a:rPr lang="en-US" altLang="zh-CN" sz="2400" dirty="0"/>
              <a:t>(1)  </a:t>
            </a:r>
            <a:r>
              <a:rPr lang="zh-CN" altLang="en-US" sz="2400" dirty="0"/>
              <a:t>系统级通信。指经由系统网络与上位操作站及工程师站的信息交换。</a:t>
            </a:r>
          </a:p>
          <a:p>
            <a:pPr eaLnBrk="1" hangingPunct="1">
              <a:spcBef>
                <a:spcPct val="0"/>
              </a:spcBef>
            </a:pPr>
            <a:r>
              <a:rPr lang="en-US" altLang="zh-CN" sz="2400" dirty="0"/>
              <a:t>(2)  </a:t>
            </a:r>
            <a:r>
              <a:rPr lang="zh-CN" altLang="en-US" sz="2400" dirty="0"/>
              <a:t>站内通信。指 </a:t>
            </a:r>
            <a:r>
              <a:rPr lang="en-US" altLang="zh-CN" sz="2400" dirty="0"/>
              <a:t>CPU </a:t>
            </a:r>
            <a:r>
              <a:rPr lang="zh-CN" altLang="en-US" sz="2400" dirty="0"/>
              <a:t>主控制器与站内各过程通道板间的信息交换。</a:t>
            </a:r>
          </a:p>
          <a:p>
            <a:pPr eaLnBrk="1" hangingPunct="1">
              <a:spcBef>
                <a:spcPct val="0"/>
              </a:spcBef>
            </a:pPr>
            <a:r>
              <a:rPr lang="en-US" altLang="zh-CN" sz="2400" dirty="0"/>
              <a:t>(3)  </a:t>
            </a:r>
            <a:r>
              <a:rPr lang="zh-CN" altLang="en-US" sz="2400" dirty="0"/>
              <a:t>提供与多种 </a:t>
            </a:r>
            <a:r>
              <a:rPr lang="en-US" altLang="zh-CN" sz="2400" dirty="0"/>
              <a:t>PLC </a:t>
            </a:r>
            <a:r>
              <a:rPr lang="zh-CN" altLang="en-US" sz="2400" dirty="0"/>
              <a:t>的软件接口。如 </a:t>
            </a:r>
            <a:r>
              <a:rPr lang="en-US" altLang="zh-CN" sz="2400" dirty="0"/>
              <a:t>A-B </a:t>
            </a:r>
            <a:r>
              <a:rPr lang="zh-CN" altLang="en-US" sz="2400" dirty="0"/>
              <a:t>、西门子、三菱、 </a:t>
            </a:r>
            <a:r>
              <a:rPr lang="en-US" altLang="zh-CN" sz="2400" dirty="0"/>
              <a:t>OMRON </a:t>
            </a:r>
            <a:r>
              <a:rPr lang="zh-CN" altLang="en-US" sz="2400" dirty="0"/>
              <a:t>等，均可通过串行接口通信。</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6DE80231-F238-054E-8067-26083208C60C}"/>
              </a:ext>
            </a:extLst>
          </p:cNvPr>
          <p:cNvSpPr>
            <a:spLocks noGrp="1" noChangeArrowheads="1"/>
          </p:cNvSpPr>
          <p:nvPr>
            <p:ph type="title"/>
          </p:nvPr>
        </p:nvSpPr>
        <p:spPr/>
        <p:txBody>
          <a:bodyPr/>
          <a:lstStyle/>
          <a:p>
            <a:pPr eaLnBrk="1" hangingPunct="1"/>
            <a:r>
              <a:rPr lang="zh-CN" altLang="en-US"/>
              <a:t>现场控制站技术性能</a:t>
            </a:r>
          </a:p>
        </p:txBody>
      </p:sp>
      <p:sp>
        <p:nvSpPr>
          <p:cNvPr id="28675" name="Text Box 3">
            <a:extLst>
              <a:ext uri="{FF2B5EF4-FFF2-40B4-BE49-F238E27FC236}">
                <a16:creationId xmlns:a16="http://schemas.microsoft.com/office/drawing/2014/main" id="{1927401F-EAE3-BEE6-7B33-DC328D22CE85}"/>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3.</a:t>
            </a:r>
            <a:r>
              <a:rPr lang="en-US" altLang="zh-CN" sz="1800">
                <a:solidFill>
                  <a:schemeClr val="bg1"/>
                </a:solidFill>
              </a:rPr>
              <a:t>2</a:t>
            </a:r>
            <a:r>
              <a:rPr lang="en-US" altLang="en-US" sz="1800">
                <a:solidFill>
                  <a:schemeClr val="bg1"/>
                </a:solidFill>
              </a:rPr>
              <a:t> DCS的现场控制站</a:t>
            </a:r>
            <a:endParaRPr lang="zh-CN" altLang="en-US" sz="1800">
              <a:solidFill>
                <a:schemeClr val="bg1"/>
              </a:solidFill>
            </a:endParaRPr>
          </a:p>
        </p:txBody>
      </p:sp>
      <p:sp>
        <p:nvSpPr>
          <p:cNvPr id="28676" name="Rectangle 4">
            <a:extLst>
              <a:ext uri="{FF2B5EF4-FFF2-40B4-BE49-F238E27FC236}">
                <a16:creationId xmlns:a16="http://schemas.microsoft.com/office/drawing/2014/main" id="{E8685308-75A0-AAC4-2C35-023621015653}"/>
              </a:ext>
            </a:extLst>
          </p:cNvPr>
          <p:cNvSpPr>
            <a:spLocks noChangeArrowheads="1"/>
          </p:cNvSpPr>
          <p:nvPr/>
        </p:nvSpPr>
        <p:spPr bwMode="auto">
          <a:xfrm>
            <a:off x="152400" y="1066800"/>
            <a:ext cx="89916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2400" b="1" dirty="0">
                <a:solidFill>
                  <a:srgbClr val="FF0000"/>
                </a:solidFill>
              </a:rPr>
              <a:t>1)  </a:t>
            </a:r>
            <a:r>
              <a:rPr lang="zh-CN" altLang="en-US" sz="2400" b="1" dirty="0">
                <a:solidFill>
                  <a:srgbClr val="FF0000"/>
                </a:solidFill>
              </a:rPr>
              <a:t>系统的信号处理技术指标</a:t>
            </a:r>
          </a:p>
          <a:p>
            <a:pPr eaLnBrk="1" hangingPunct="1">
              <a:spcBef>
                <a:spcPct val="0"/>
              </a:spcBef>
            </a:pPr>
            <a:r>
              <a:rPr lang="en-US" altLang="zh-CN" sz="2400" dirty="0"/>
              <a:t>(1)  </a:t>
            </a:r>
            <a:r>
              <a:rPr lang="zh-CN" altLang="en-US" sz="2400" dirty="0"/>
              <a:t>输入信号处理精度热电阻、热电偶无需变送器，可直接处理，最大误差 </a:t>
            </a:r>
            <a:r>
              <a:rPr lang="en-US" altLang="zh-CN" sz="2400" dirty="0"/>
              <a:t>0.2% </a:t>
            </a:r>
            <a:r>
              <a:rPr lang="zh-CN" altLang="en-US" sz="2400" dirty="0"/>
              <a:t>；其他变送器输入信号处理误差为电流</a:t>
            </a:r>
            <a:r>
              <a:rPr lang="en-US" altLang="zh-CN" sz="2400" dirty="0"/>
              <a:t>± 0.1% </a:t>
            </a:r>
            <a:r>
              <a:rPr lang="zh-CN" altLang="en-US" sz="2400" dirty="0"/>
              <a:t>，电压为</a:t>
            </a:r>
            <a:r>
              <a:rPr lang="en-US" altLang="zh-CN" sz="2400" dirty="0"/>
              <a:t>± 0.2% </a:t>
            </a:r>
            <a:r>
              <a:rPr lang="zh-CN" altLang="en-US" sz="2400" dirty="0"/>
              <a:t>。</a:t>
            </a:r>
          </a:p>
          <a:p>
            <a:pPr eaLnBrk="1" hangingPunct="1">
              <a:spcBef>
                <a:spcPct val="0"/>
              </a:spcBef>
            </a:pPr>
            <a:r>
              <a:rPr lang="en-US" altLang="zh-CN" sz="2400" dirty="0"/>
              <a:t>(2)  </a:t>
            </a:r>
            <a:r>
              <a:rPr lang="zh-CN" altLang="en-US" sz="2400" dirty="0"/>
              <a:t>中断开关量输入分辨率≤ </a:t>
            </a:r>
            <a:r>
              <a:rPr lang="en-US" altLang="zh-CN" sz="2400" dirty="0"/>
              <a:t>1ms </a:t>
            </a:r>
            <a:r>
              <a:rPr lang="zh-CN" altLang="en-US" sz="2400" dirty="0"/>
              <a:t>。</a:t>
            </a:r>
          </a:p>
          <a:p>
            <a:pPr eaLnBrk="1" hangingPunct="1">
              <a:spcBef>
                <a:spcPct val="0"/>
              </a:spcBef>
            </a:pPr>
            <a:r>
              <a:rPr lang="en-US" altLang="zh-CN" sz="2400" dirty="0"/>
              <a:t>(3)  </a:t>
            </a:r>
            <a:r>
              <a:rPr lang="zh-CN" altLang="en-US" sz="2400" dirty="0"/>
              <a:t>输入信号的隔离电压≥ </a:t>
            </a:r>
            <a:r>
              <a:rPr lang="en-US" altLang="zh-CN" sz="2400" dirty="0"/>
              <a:t>1500V </a:t>
            </a:r>
            <a:r>
              <a:rPr lang="zh-CN" altLang="en-US" sz="2400" dirty="0"/>
              <a:t>。</a:t>
            </a:r>
          </a:p>
          <a:p>
            <a:pPr eaLnBrk="1" hangingPunct="1">
              <a:spcBef>
                <a:spcPct val="0"/>
              </a:spcBef>
            </a:pPr>
            <a:r>
              <a:rPr lang="en-US" altLang="zh-CN" sz="2400" dirty="0"/>
              <a:t>(4)  </a:t>
            </a:r>
            <a:r>
              <a:rPr lang="zh-CN" altLang="en-US" sz="2400" dirty="0"/>
              <a:t>回路控制周期： </a:t>
            </a:r>
            <a:r>
              <a:rPr lang="en-US" altLang="zh-CN" sz="2400" dirty="0"/>
              <a:t>0.2 </a:t>
            </a:r>
            <a:r>
              <a:rPr lang="zh-CN" altLang="en-US" sz="2400" dirty="0"/>
              <a:t>、 </a:t>
            </a:r>
            <a:r>
              <a:rPr lang="en-US" altLang="zh-CN" sz="2400" dirty="0"/>
              <a:t>0.5 </a:t>
            </a:r>
            <a:r>
              <a:rPr lang="zh-CN" altLang="en-US" sz="2400" dirty="0"/>
              <a:t>、 </a:t>
            </a:r>
            <a:r>
              <a:rPr lang="en-US" altLang="zh-CN" sz="2400" dirty="0"/>
              <a:t>1 </a:t>
            </a:r>
            <a:r>
              <a:rPr lang="zh-CN" altLang="en-US" sz="2400" dirty="0"/>
              <a:t>、 </a:t>
            </a:r>
            <a:r>
              <a:rPr lang="en-US" altLang="zh-CN" sz="2400" dirty="0"/>
              <a:t>2s </a:t>
            </a:r>
            <a:r>
              <a:rPr lang="zh-CN" altLang="en-US" sz="2400" dirty="0"/>
              <a:t>任选。</a:t>
            </a:r>
          </a:p>
          <a:p>
            <a:pPr eaLnBrk="1" hangingPunct="1">
              <a:spcBef>
                <a:spcPct val="0"/>
              </a:spcBef>
            </a:pPr>
            <a:r>
              <a:rPr lang="en-US" altLang="zh-CN" sz="2400" dirty="0"/>
              <a:t>(5)  </a:t>
            </a:r>
            <a:r>
              <a:rPr lang="zh-CN" altLang="en-US" sz="2400" dirty="0"/>
              <a:t>系统的平均无故障时间 </a:t>
            </a:r>
            <a:r>
              <a:rPr lang="en-US" altLang="zh-CN" sz="2400" dirty="0"/>
              <a:t>(MTBF) ≥ 10</a:t>
            </a:r>
            <a:r>
              <a:rPr lang="en-US" altLang="zh-CN" sz="2400" baseline="30000" dirty="0"/>
              <a:t>6</a:t>
            </a:r>
            <a:r>
              <a:rPr lang="en-US" altLang="zh-CN" sz="2400" dirty="0"/>
              <a:t>h </a:t>
            </a:r>
            <a:r>
              <a:rPr lang="zh-CN" altLang="en-US" sz="2400" dirty="0"/>
              <a:t>。</a:t>
            </a:r>
          </a:p>
          <a:p>
            <a:pPr eaLnBrk="1" hangingPunct="1">
              <a:spcBef>
                <a:spcPct val="0"/>
              </a:spcBef>
            </a:pPr>
            <a:r>
              <a:rPr lang="en-US" altLang="zh-CN" sz="2400" dirty="0"/>
              <a:t>(6)  </a:t>
            </a:r>
            <a:r>
              <a:rPr lang="zh-CN" altLang="en-US" sz="2400" dirty="0"/>
              <a:t>系统的平均修复时间 </a:t>
            </a:r>
            <a:r>
              <a:rPr lang="en-US" altLang="zh-CN" sz="2400" dirty="0"/>
              <a:t>(MTTR) ≤ 5min </a:t>
            </a:r>
            <a:r>
              <a:rPr lang="zh-CN" altLang="en-US" sz="2400" dirty="0"/>
              <a:t>。</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F546C8A-52C8-DEE6-29DA-B0E715E7AB65}"/>
              </a:ext>
            </a:extLst>
          </p:cNvPr>
          <p:cNvSpPr>
            <a:spLocks noGrp="1" noChangeArrowheads="1"/>
          </p:cNvSpPr>
          <p:nvPr>
            <p:ph type="title"/>
          </p:nvPr>
        </p:nvSpPr>
        <p:spPr/>
        <p:txBody>
          <a:bodyPr/>
          <a:lstStyle/>
          <a:p>
            <a:pPr eaLnBrk="1" hangingPunct="1"/>
            <a:r>
              <a:rPr lang="zh-CN" altLang="en-US"/>
              <a:t>现场控制站技术性能</a:t>
            </a:r>
          </a:p>
        </p:txBody>
      </p:sp>
      <p:sp>
        <p:nvSpPr>
          <p:cNvPr id="29699" name="Text Box 3">
            <a:extLst>
              <a:ext uri="{FF2B5EF4-FFF2-40B4-BE49-F238E27FC236}">
                <a16:creationId xmlns:a16="http://schemas.microsoft.com/office/drawing/2014/main" id="{6875083F-F037-DD66-6026-7C08E9A38765}"/>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3.</a:t>
            </a:r>
            <a:r>
              <a:rPr lang="en-US" altLang="zh-CN" sz="1800">
                <a:solidFill>
                  <a:schemeClr val="bg1"/>
                </a:solidFill>
              </a:rPr>
              <a:t>2</a:t>
            </a:r>
            <a:r>
              <a:rPr lang="en-US" altLang="en-US" sz="1800">
                <a:solidFill>
                  <a:schemeClr val="bg1"/>
                </a:solidFill>
              </a:rPr>
              <a:t> DCS的现场控制站</a:t>
            </a:r>
            <a:endParaRPr lang="zh-CN" altLang="en-US" sz="1800">
              <a:solidFill>
                <a:schemeClr val="bg1"/>
              </a:solidFill>
            </a:endParaRPr>
          </a:p>
        </p:txBody>
      </p:sp>
      <p:sp>
        <p:nvSpPr>
          <p:cNvPr id="29700" name="Rectangle 4">
            <a:extLst>
              <a:ext uri="{FF2B5EF4-FFF2-40B4-BE49-F238E27FC236}">
                <a16:creationId xmlns:a16="http://schemas.microsoft.com/office/drawing/2014/main" id="{0B6BD15F-55B4-965D-498B-FB43CE1DD360}"/>
              </a:ext>
            </a:extLst>
          </p:cNvPr>
          <p:cNvSpPr>
            <a:spLocks noChangeArrowheads="1"/>
          </p:cNvSpPr>
          <p:nvPr/>
        </p:nvSpPr>
        <p:spPr bwMode="auto">
          <a:xfrm>
            <a:off x="152400" y="1066800"/>
            <a:ext cx="89916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2400" b="1" dirty="0">
                <a:solidFill>
                  <a:srgbClr val="FF0000"/>
                </a:solidFill>
              </a:rPr>
              <a:t>2)  </a:t>
            </a:r>
            <a:r>
              <a:rPr lang="zh-CN" altLang="en-US" sz="2400" b="1" dirty="0">
                <a:solidFill>
                  <a:srgbClr val="FF0000"/>
                </a:solidFill>
              </a:rPr>
              <a:t>现场控制站运行环境</a:t>
            </a:r>
          </a:p>
          <a:p>
            <a:pPr eaLnBrk="1" hangingPunct="1">
              <a:spcBef>
                <a:spcPct val="0"/>
              </a:spcBef>
            </a:pPr>
            <a:r>
              <a:rPr lang="en-US" altLang="zh-CN" sz="2400" dirty="0"/>
              <a:t>(1)  </a:t>
            </a:r>
            <a:r>
              <a:rPr lang="zh-CN" altLang="en-US" sz="2400" dirty="0"/>
              <a:t>工作环境温度： </a:t>
            </a:r>
            <a:r>
              <a:rPr lang="en-US" altLang="zh-CN" sz="2400" dirty="0"/>
              <a:t>0 ℃</a:t>
            </a:r>
            <a:r>
              <a:rPr lang="zh-CN" altLang="en-US" sz="2400" dirty="0"/>
              <a:t>～ </a:t>
            </a:r>
            <a:r>
              <a:rPr lang="en-US" altLang="zh-CN" sz="2400" dirty="0"/>
              <a:t>50 ℃</a:t>
            </a:r>
            <a:r>
              <a:rPr lang="zh-CN" altLang="en-US" sz="2400" dirty="0"/>
              <a:t>。</a:t>
            </a:r>
          </a:p>
          <a:p>
            <a:pPr eaLnBrk="1" hangingPunct="1">
              <a:spcBef>
                <a:spcPct val="0"/>
              </a:spcBef>
            </a:pPr>
            <a:r>
              <a:rPr lang="en-US" altLang="zh-CN" sz="2400" dirty="0"/>
              <a:t>(2)  </a:t>
            </a:r>
            <a:r>
              <a:rPr lang="zh-CN" altLang="en-US" sz="2400" dirty="0"/>
              <a:t>工作环境湿度： </a:t>
            </a:r>
            <a:r>
              <a:rPr lang="en-US" altLang="zh-CN" sz="2400" dirty="0"/>
              <a:t>10% </a:t>
            </a:r>
            <a:r>
              <a:rPr lang="zh-CN" altLang="en-US" sz="2400" dirty="0"/>
              <a:t>～ </a:t>
            </a:r>
            <a:r>
              <a:rPr lang="en-US" altLang="zh-CN" sz="2400" dirty="0"/>
              <a:t>90%( </a:t>
            </a:r>
            <a:r>
              <a:rPr lang="zh-CN" altLang="en-US" sz="2400" dirty="0"/>
              <a:t>无冷凝 </a:t>
            </a:r>
            <a:r>
              <a:rPr lang="en-US" altLang="zh-CN" sz="2400" dirty="0"/>
              <a:t>) </a:t>
            </a:r>
            <a:r>
              <a:rPr lang="zh-CN" altLang="en-US" sz="2400" dirty="0"/>
              <a:t>。</a:t>
            </a:r>
          </a:p>
          <a:p>
            <a:pPr eaLnBrk="1" hangingPunct="1">
              <a:spcBef>
                <a:spcPct val="0"/>
              </a:spcBef>
            </a:pPr>
            <a:r>
              <a:rPr lang="en-US" altLang="zh-CN" sz="2400" dirty="0"/>
              <a:t>(3)  </a:t>
            </a:r>
            <a:r>
              <a:rPr lang="zh-CN" altLang="en-US" sz="2400" dirty="0"/>
              <a:t>储存环境温度：－</a:t>
            </a:r>
            <a:r>
              <a:rPr lang="en-US" altLang="zh-CN" sz="2400" dirty="0"/>
              <a:t>20 ℃</a:t>
            </a:r>
            <a:r>
              <a:rPr lang="zh-CN" altLang="en-US" sz="2400" dirty="0"/>
              <a:t>～ </a:t>
            </a:r>
            <a:r>
              <a:rPr lang="en-US" altLang="zh-CN" sz="2400" dirty="0"/>
              <a:t>85 ℃</a:t>
            </a:r>
            <a:r>
              <a:rPr lang="zh-CN" altLang="en-US" sz="2400" dirty="0"/>
              <a:t>。</a:t>
            </a:r>
          </a:p>
          <a:p>
            <a:pPr eaLnBrk="1" hangingPunct="1">
              <a:spcBef>
                <a:spcPct val="0"/>
              </a:spcBef>
            </a:pPr>
            <a:r>
              <a:rPr lang="en-US" altLang="zh-CN" sz="2400" dirty="0"/>
              <a:t>(4)  </a:t>
            </a:r>
            <a:r>
              <a:rPr lang="zh-CN" altLang="en-US" sz="2400" dirty="0"/>
              <a:t>储存环境湿度： </a:t>
            </a:r>
            <a:r>
              <a:rPr lang="en-US" altLang="zh-CN" sz="2400" dirty="0"/>
              <a:t>5% </a:t>
            </a:r>
            <a:r>
              <a:rPr lang="zh-CN" altLang="en-US" sz="2400" dirty="0"/>
              <a:t>～ </a:t>
            </a:r>
            <a:r>
              <a:rPr lang="en-US" altLang="zh-CN" sz="2400" dirty="0"/>
              <a:t>90%( </a:t>
            </a:r>
            <a:r>
              <a:rPr lang="zh-CN" altLang="en-US" sz="2400" dirty="0"/>
              <a:t>无冷凝 </a:t>
            </a:r>
            <a:r>
              <a:rPr lang="en-US" altLang="zh-CN" sz="2400" dirty="0"/>
              <a:t>) </a:t>
            </a:r>
            <a:r>
              <a:rPr lang="zh-CN" altLang="en-US" sz="2400" dirty="0"/>
              <a:t>。</a:t>
            </a:r>
          </a:p>
          <a:p>
            <a:pPr eaLnBrk="1" hangingPunct="1">
              <a:spcBef>
                <a:spcPct val="0"/>
              </a:spcBef>
            </a:pPr>
            <a:r>
              <a:rPr lang="en-US" altLang="zh-CN" sz="2400" dirty="0"/>
              <a:t>(5)  </a:t>
            </a:r>
            <a:r>
              <a:rPr lang="zh-CN" altLang="en-US" sz="2400" dirty="0"/>
              <a:t>输入电压： </a:t>
            </a:r>
            <a:r>
              <a:rPr lang="en-US" altLang="zh-CN" sz="2400" dirty="0"/>
              <a:t>(90V </a:t>
            </a:r>
            <a:r>
              <a:rPr lang="zh-CN" altLang="en-US" sz="2400" dirty="0"/>
              <a:t>～ </a:t>
            </a:r>
            <a:r>
              <a:rPr lang="en-US" altLang="zh-CN" sz="2400" dirty="0"/>
              <a:t>135V)/(180V </a:t>
            </a:r>
            <a:r>
              <a:rPr lang="zh-CN" altLang="en-US" sz="2400" dirty="0"/>
              <a:t>～ </a:t>
            </a:r>
            <a:r>
              <a:rPr lang="en-US" altLang="zh-CN" sz="2400" dirty="0"/>
              <a:t>270V) </a:t>
            </a:r>
            <a:r>
              <a:rPr lang="zh-CN" altLang="en-US" sz="2400" dirty="0"/>
              <a:t>可选。</a:t>
            </a:r>
          </a:p>
          <a:p>
            <a:pPr eaLnBrk="1" hangingPunct="1">
              <a:spcBef>
                <a:spcPct val="0"/>
              </a:spcBef>
            </a:pPr>
            <a:r>
              <a:rPr lang="en-US" altLang="zh-CN" sz="2400" dirty="0"/>
              <a:t>(6)  </a:t>
            </a:r>
            <a:r>
              <a:rPr lang="zh-CN" altLang="en-US" sz="2400" dirty="0"/>
              <a:t>电压频率： </a:t>
            </a:r>
            <a:r>
              <a:rPr lang="en-US" altLang="zh-CN" sz="2400" dirty="0"/>
              <a:t>50 ± 5Hz </a:t>
            </a:r>
            <a:r>
              <a:rPr lang="zh-CN" altLang="en-US" sz="2400" dirty="0"/>
              <a:t>。</a:t>
            </a:r>
          </a:p>
          <a:p>
            <a:pPr eaLnBrk="1" hangingPunct="1">
              <a:spcBef>
                <a:spcPct val="0"/>
              </a:spcBef>
            </a:pPr>
            <a:r>
              <a:rPr lang="en-US" altLang="zh-CN" sz="2400" dirty="0"/>
              <a:t>(7)  </a:t>
            </a:r>
            <a:r>
              <a:rPr lang="zh-CN" altLang="en-US" sz="2400" dirty="0"/>
              <a:t>接地要求：安全地和屏蔽地分别一点接地，接地电阻分别小于 </a:t>
            </a:r>
            <a:r>
              <a:rPr lang="en-US" altLang="zh-CN" sz="2400" dirty="0"/>
              <a:t>10 Ω</a:t>
            </a:r>
            <a:r>
              <a:rPr lang="zh-CN" altLang="en-US" sz="2400" dirty="0"/>
              <a:t>和 </a:t>
            </a:r>
            <a:r>
              <a:rPr lang="en-US" altLang="zh-CN" sz="2400" dirty="0"/>
              <a:t>1 Ω</a:t>
            </a:r>
            <a:r>
              <a:rPr lang="zh-CN" altLang="en-US" sz="2400" dirty="0"/>
              <a:t>。</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A74414CA-7271-9708-64E0-2A98A313A18F}"/>
              </a:ext>
            </a:extLst>
          </p:cNvPr>
          <p:cNvSpPr>
            <a:spLocks noGrp="1" noChangeArrowheads="1"/>
          </p:cNvSpPr>
          <p:nvPr>
            <p:ph type="title"/>
          </p:nvPr>
        </p:nvSpPr>
        <p:spPr/>
        <p:txBody>
          <a:bodyPr/>
          <a:lstStyle/>
          <a:p>
            <a:pPr eaLnBrk="1" hangingPunct="1"/>
            <a:r>
              <a:rPr lang="zh-CN" altLang="en-US"/>
              <a:t>现场控制站可靠性</a:t>
            </a:r>
          </a:p>
        </p:txBody>
      </p:sp>
      <p:sp>
        <p:nvSpPr>
          <p:cNvPr id="30723" name="Text Box 3">
            <a:extLst>
              <a:ext uri="{FF2B5EF4-FFF2-40B4-BE49-F238E27FC236}">
                <a16:creationId xmlns:a16="http://schemas.microsoft.com/office/drawing/2014/main" id="{E0969B0A-BAE5-15DD-88EC-20B20F7A64B7}"/>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3.</a:t>
            </a:r>
            <a:r>
              <a:rPr lang="en-US" altLang="zh-CN" sz="1800">
                <a:solidFill>
                  <a:schemeClr val="bg1"/>
                </a:solidFill>
              </a:rPr>
              <a:t>2</a:t>
            </a:r>
            <a:r>
              <a:rPr lang="en-US" altLang="en-US" sz="1800">
                <a:solidFill>
                  <a:schemeClr val="bg1"/>
                </a:solidFill>
              </a:rPr>
              <a:t> DCS的现场控制站</a:t>
            </a:r>
            <a:endParaRPr lang="zh-CN" altLang="en-US" sz="1800">
              <a:solidFill>
                <a:schemeClr val="bg1"/>
              </a:solidFill>
            </a:endParaRPr>
          </a:p>
        </p:txBody>
      </p:sp>
      <p:sp>
        <p:nvSpPr>
          <p:cNvPr id="30724" name="Rectangle 4">
            <a:extLst>
              <a:ext uri="{FF2B5EF4-FFF2-40B4-BE49-F238E27FC236}">
                <a16:creationId xmlns:a16="http://schemas.microsoft.com/office/drawing/2014/main" id="{622646F1-40E5-912C-6702-8C4EFBBDFF2E}"/>
              </a:ext>
            </a:extLst>
          </p:cNvPr>
          <p:cNvSpPr>
            <a:spLocks noChangeArrowheads="1"/>
          </p:cNvSpPr>
          <p:nvPr/>
        </p:nvSpPr>
        <p:spPr bwMode="auto">
          <a:xfrm>
            <a:off x="152400" y="1241425"/>
            <a:ext cx="8991600" cy="447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2400" dirty="0"/>
              <a:t>        DCS </a:t>
            </a:r>
            <a:r>
              <a:rPr lang="zh-CN" altLang="en-US" sz="2400" dirty="0"/>
              <a:t>的固有可靠性是在设计系统时就产生的，设计时将系统的可靠性指标分解到各个单元 </a:t>
            </a:r>
            <a:r>
              <a:rPr lang="en-US" altLang="zh-CN" sz="2400" dirty="0"/>
              <a:t>( </a:t>
            </a:r>
            <a:r>
              <a:rPr lang="zh-CN" altLang="en-US" sz="2400" dirty="0"/>
              <a:t>操作员站、工程师站、网络、各 </a:t>
            </a:r>
            <a:r>
              <a:rPr lang="en-US" altLang="zh-CN" sz="2400" dirty="0"/>
              <a:t>I/O </a:t>
            </a:r>
            <a:r>
              <a:rPr lang="zh-CN" altLang="en-US" sz="2400" dirty="0"/>
              <a:t>站 </a:t>
            </a:r>
            <a:r>
              <a:rPr lang="en-US" altLang="zh-CN" sz="2400" dirty="0"/>
              <a:t>) </a:t>
            </a:r>
            <a:r>
              <a:rPr lang="zh-CN" altLang="en-US" sz="2400" dirty="0"/>
              <a:t>，再将各可靠性指标从单元分解到板级。从单元级和板级设计中，分析出最重要部件或单元，采用严格的方法进行设计，并采取冗余措施。</a:t>
            </a:r>
          </a:p>
          <a:p>
            <a:pPr eaLnBrk="1" hangingPunct="1">
              <a:spcBef>
                <a:spcPct val="0"/>
              </a:spcBef>
            </a:pPr>
            <a:endParaRPr lang="zh-CN" altLang="en-US" sz="2400" dirty="0"/>
          </a:p>
          <a:p>
            <a:pPr eaLnBrk="1" hangingPunct="1">
              <a:spcBef>
                <a:spcPct val="0"/>
              </a:spcBef>
            </a:pPr>
            <a:r>
              <a:rPr lang="en-US" altLang="zh-CN" sz="2400" dirty="0"/>
              <a:t>(1)  </a:t>
            </a:r>
            <a:r>
              <a:rPr lang="zh-CN" altLang="en-US" sz="2400" dirty="0"/>
              <a:t>系统元器件。</a:t>
            </a:r>
          </a:p>
          <a:p>
            <a:pPr eaLnBrk="1" hangingPunct="1">
              <a:spcBef>
                <a:spcPct val="0"/>
              </a:spcBef>
            </a:pPr>
            <a:r>
              <a:rPr lang="en-US" altLang="zh-CN" sz="2400" dirty="0"/>
              <a:t>(2)  </a:t>
            </a:r>
            <a:r>
              <a:rPr lang="zh-CN" altLang="en-US" sz="2400" dirty="0"/>
              <a:t>系统单元级的可靠性设计。</a:t>
            </a:r>
          </a:p>
          <a:p>
            <a:pPr eaLnBrk="1" hangingPunct="1">
              <a:spcBef>
                <a:spcPct val="0"/>
              </a:spcBef>
            </a:pPr>
            <a:r>
              <a:rPr lang="en-US" altLang="zh-CN" sz="2400" dirty="0"/>
              <a:t>(3)  </a:t>
            </a:r>
            <a:r>
              <a:rPr lang="zh-CN" altLang="en-US" sz="2400" dirty="0"/>
              <a:t>系统的冗余措施。</a:t>
            </a:r>
          </a:p>
          <a:p>
            <a:pPr eaLnBrk="1" hangingPunct="1">
              <a:spcBef>
                <a:spcPct val="0"/>
              </a:spcBef>
            </a:pPr>
            <a:r>
              <a:rPr lang="en-US" altLang="zh-CN" sz="2400" dirty="0"/>
              <a:t>(4)  </a:t>
            </a:r>
            <a:r>
              <a:rPr lang="zh-CN" altLang="en-US" sz="2400" dirty="0"/>
              <a:t>系统故障隔离措施。</a:t>
            </a:r>
          </a:p>
          <a:p>
            <a:pPr eaLnBrk="1" hangingPunct="1">
              <a:spcBef>
                <a:spcPct val="0"/>
              </a:spcBef>
            </a:pPr>
            <a:r>
              <a:rPr lang="en-US" altLang="zh-CN" sz="2400" dirty="0"/>
              <a:t>(5)  </a:t>
            </a:r>
            <a:r>
              <a:rPr lang="zh-CN" altLang="en-US" sz="2400" dirty="0"/>
              <a:t>系统迅速排除故障措施。</a:t>
            </a:r>
          </a:p>
          <a:p>
            <a:pPr eaLnBrk="1" hangingPunct="1">
              <a:spcBef>
                <a:spcPct val="0"/>
              </a:spcBef>
            </a:pPr>
            <a:endParaRPr lang="en-US" altLang="zh-CN" sz="2400" dirty="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BE283FCB-D164-7CCB-DC2F-1FA020553C23}"/>
              </a:ext>
            </a:extLst>
          </p:cNvPr>
          <p:cNvSpPr>
            <a:spLocks noGrp="1" noChangeArrowheads="1"/>
          </p:cNvSpPr>
          <p:nvPr>
            <p:ph type="title"/>
          </p:nvPr>
        </p:nvSpPr>
        <p:spPr/>
        <p:txBody>
          <a:bodyPr/>
          <a:lstStyle/>
          <a:p>
            <a:pPr eaLnBrk="1" hangingPunct="1"/>
            <a:r>
              <a:rPr lang="en-US" altLang="zh-CN" sz="3600"/>
              <a:t>3.2 DCS</a:t>
            </a:r>
            <a:r>
              <a:rPr lang="zh-CN" altLang="en-US" sz="3600"/>
              <a:t>的现场控制站</a:t>
            </a:r>
          </a:p>
        </p:txBody>
      </p:sp>
      <p:pic>
        <p:nvPicPr>
          <p:cNvPr id="32771" name="Picture 5">
            <a:extLst>
              <a:ext uri="{FF2B5EF4-FFF2-40B4-BE49-F238E27FC236}">
                <a16:creationId xmlns:a16="http://schemas.microsoft.com/office/drawing/2014/main" id="{9ACEB191-E2B3-8ED5-87A3-39A8E1379F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066800"/>
            <a:ext cx="7391400" cy="5053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8118" name="Rectangle 6">
            <a:extLst>
              <a:ext uri="{FF2B5EF4-FFF2-40B4-BE49-F238E27FC236}">
                <a16:creationId xmlns:a16="http://schemas.microsoft.com/office/drawing/2014/main" id="{90EDBD08-0AB3-E6FA-C145-CE0A471CB0D2}"/>
              </a:ext>
            </a:extLst>
          </p:cNvPr>
          <p:cNvSpPr>
            <a:spLocks noChangeArrowheads="1"/>
          </p:cNvSpPr>
          <p:nvPr/>
        </p:nvSpPr>
        <p:spPr bwMode="auto">
          <a:xfrm>
            <a:off x="4724400" y="3657600"/>
            <a:ext cx="11049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1800" b="1">
                <a:solidFill>
                  <a:srgbClr val="FF0000"/>
                </a:solidFill>
              </a:rPr>
              <a:t>电源</a:t>
            </a:r>
          </a:p>
          <a:p>
            <a:pPr eaLnBrk="1" hangingPunct="1">
              <a:spcBef>
                <a:spcPct val="0"/>
              </a:spcBef>
            </a:pPr>
            <a:r>
              <a:rPr lang="zh-CN" altLang="en-US" sz="1800" b="1">
                <a:solidFill>
                  <a:srgbClr val="FF0000"/>
                </a:solidFill>
              </a:rPr>
              <a:t>接地</a:t>
            </a:r>
          </a:p>
          <a:p>
            <a:pPr eaLnBrk="1" hangingPunct="1">
              <a:spcBef>
                <a:spcPct val="0"/>
              </a:spcBef>
            </a:pPr>
            <a:r>
              <a:rPr lang="zh-CN" altLang="en-US" sz="1800" b="1">
                <a:solidFill>
                  <a:srgbClr val="FF0000"/>
                </a:solidFill>
              </a:rPr>
              <a:t>通风散热</a:t>
            </a:r>
          </a:p>
        </p:txBody>
      </p:sp>
      <p:sp>
        <p:nvSpPr>
          <p:cNvPr id="32773" name="Text Box 8">
            <a:extLst>
              <a:ext uri="{FF2B5EF4-FFF2-40B4-BE49-F238E27FC236}">
                <a16:creationId xmlns:a16="http://schemas.microsoft.com/office/drawing/2014/main" id="{7F6C8BA7-6F7F-8462-D1BE-42B281622969}"/>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3.</a:t>
            </a:r>
            <a:r>
              <a:rPr lang="en-US" altLang="zh-CN" sz="1800">
                <a:solidFill>
                  <a:schemeClr val="bg1"/>
                </a:solidFill>
              </a:rPr>
              <a:t>2</a:t>
            </a:r>
            <a:r>
              <a:rPr lang="en-US" altLang="en-US" sz="1800">
                <a:solidFill>
                  <a:schemeClr val="bg1"/>
                </a:solidFill>
              </a:rPr>
              <a:t> DCS的现场控制站</a:t>
            </a:r>
            <a:endParaRPr lang="zh-CN" altLang="en-US" sz="1800">
              <a:solidFill>
                <a:schemeClr val="bg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8118"/>
                                        </p:tgtEl>
                                        <p:attrNameLst>
                                          <p:attrName>style.visibility</p:attrName>
                                        </p:attrNameLst>
                                      </p:cBhvr>
                                      <p:to>
                                        <p:strVal val="visible"/>
                                      </p:to>
                                    </p:set>
                                    <p:anim calcmode="lin" valueType="num">
                                      <p:cBhvr additive="base">
                                        <p:cTn id="7" dur="500" fill="hold"/>
                                        <p:tgtEl>
                                          <p:spTgt spid="218118"/>
                                        </p:tgtEl>
                                        <p:attrNameLst>
                                          <p:attrName>ppt_x</p:attrName>
                                        </p:attrNameLst>
                                      </p:cBhvr>
                                      <p:tavLst>
                                        <p:tav tm="0">
                                          <p:val>
                                            <p:strVal val="#ppt_x"/>
                                          </p:val>
                                        </p:tav>
                                        <p:tav tm="100000">
                                          <p:val>
                                            <p:strVal val="#ppt_x"/>
                                          </p:val>
                                        </p:tav>
                                      </p:tavLst>
                                    </p:anim>
                                    <p:anim calcmode="lin" valueType="num">
                                      <p:cBhvr additive="base">
                                        <p:cTn id="8" dur="500" fill="hold"/>
                                        <p:tgtEl>
                                          <p:spTgt spid="2181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1ECE0B56-BDD3-DF33-5A6F-568EF9B609AD}"/>
              </a:ext>
            </a:extLst>
          </p:cNvPr>
          <p:cNvSpPr>
            <a:spLocks noGrp="1" noChangeArrowheads="1"/>
          </p:cNvSpPr>
          <p:nvPr>
            <p:ph type="title"/>
          </p:nvPr>
        </p:nvSpPr>
        <p:spPr/>
        <p:txBody>
          <a:bodyPr/>
          <a:lstStyle/>
          <a:p>
            <a:pPr eaLnBrk="1" hangingPunct="1"/>
            <a:r>
              <a:rPr lang="en-US" altLang="zh-CN" sz="3600"/>
              <a:t>3.1 DCS</a:t>
            </a:r>
            <a:r>
              <a:rPr lang="zh-CN" altLang="en-US" sz="3600"/>
              <a:t>的现场控制站</a:t>
            </a:r>
          </a:p>
        </p:txBody>
      </p:sp>
      <p:pic>
        <p:nvPicPr>
          <p:cNvPr id="33795" name="Picture 5">
            <a:extLst>
              <a:ext uri="{FF2B5EF4-FFF2-40B4-BE49-F238E27FC236}">
                <a16:creationId xmlns:a16="http://schemas.microsoft.com/office/drawing/2014/main" id="{897DC9C5-4127-79AF-8AAF-FAB0738761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533400"/>
            <a:ext cx="8039100" cy="531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796" name="Text Box 7">
            <a:extLst>
              <a:ext uri="{FF2B5EF4-FFF2-40B4-BE49-F238E27FC236}">
                <a16:creationId xmlns:a16="http://schemas.microsoft.com/office/drawing/2014/main" id="{BB972641-2A4B-8337-9761-CDA579E0D272}"/>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3.</a:t>
            </a:r>
            <a:r>
              <a:rPr lang="en-US" altLang="zh-CN" sz="1800">
                <a:solidFill>
                  <a:schemeClr val="bg1"/>
                </a:solidFill>
              </a:rPr>
              <a:t>2</a:t>
            </a:r>
            <a:r>
              <a:rPr lang="en-US" altLang="en-US" sz="1800">
                <a:solidFill>
                  <a:schemeClr val="bg1"/>
                </a:solidFill>
              </a:rPr>
              <a:t> DCS的现场控制站</a:t>
            </a:r>
            <a:endParaRPr lang="zh-CN" altLang="en-US" sz="1800">
              <a:solidFill>
                <a:schemeClr val="bg1"/>
              </a:solidFill>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21614A01-24E1-D86B-4F47-D61796D50A17}"/>
              </a:ext>
            </a:extLst>
          </p:cNvPr>
          <p:cNvSpPr>
            <a:spLocks noGrp="1" noChangeArrowheads="1"/>
          </p:cNvSpPr>
          <p:nvPr>
            <p:ph type="title"/>
          </p:nvPr>
        </p:nvSpPr>
        <p:spPr/>
        <p:txBody>
          <a:bodyPr/>
          <a:lstStyle/>
          <a:p>
            <a:pPr eaLnBrk="1" hangingPunct="1"/>
            <a:r>
              <a:rPr lang="en-US" altLang="zh-CN" sz="3600"/>
              <a:t>3.1 DCS</a:t>
            </a:r>
            <a:r>
              <a:rPr lang="zh-CN" altLang="en-US" sz="3600"/>
              <a:t>的现场控制站</a:t>
            </a:r>
          </a:p>
        </p:txBody>
      </p:sp>
      <p:pic>
        <p:nvPicPr>
          <p:cNvPr id="34819" name="Picture 5">
            <a:extLst>
              <a:ext uri="{FF2B5EF4-FFF2-40B4-BE49-F238E27FC236}">
                <a16:creationId xmlns:a16="http://schemas.microsoft.com/office/drawing/2014/main" id="{7F137DAA-2101-EA66-EF2F-9BA9BD3B4C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275" y="533400"/>
            <a:ext cx="7858125" cy="570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820" name="Text Box 7">
            <a:extLst>
              <a:ext uri="{FF2B5EF4-FFF2-40B4-BE49-F238E27FC236}">
                <a16:creationId xmlns:a16="http://schemas.microsoft.com/office/drawing/2014/main" id="{7778461D-19C1-7E15-CABA-852D1FF05E2B}"/>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3.</a:t>
            </a:r>
            <a:r>
              <a:rPr lang="en-US" altLang="zh-CN" sz="1800">
                <a:solidFill>
                  <a:schemeClr val="bg1"/>
                </a:solidFill>
              </a:rPr>
              <a:t>2</a:t>
            </a:r>
            <a:r>
              <a:rPr lang="en-US" altLang="en-US" sz="1800">
                <a:solidFill>
                  <a:schemeClr val="bg1"/>
                </a:solidFill>
              </a:rPr>
              <a:t> DCS的现场控制站</a:t>
            </a:r>
            <a:endParaRPr lang="zh-CN" altLang="en-US" sz="1800">
              <a:solidFill>
                <a:schemeClr val="bg1"/>
              </a:solidFill>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7A663349-D4FD-FE95-75A6-D218A6055469}"/>
              </a:ext>
            </a:extLst>
          </p:cNvPr>
          <p:cNvSpPr>
            <a:spLocks noGrp="1" noChangeArrowheads="1"/>
          </p:cNvSpPr>
          <p:nvPr>
            <p:ph type="title"/>
          </p:nvPr>
        </p:nvSpPr>
        <p:spPr/>
        <p:txBody>
          <a:bodyPr/>
          <a:lstStyle/>
          <a:p>
            <a:pPr eaLnBrk="1" hangingPunct="1"/>
            <a:r>
              <a:rPr lang="en-US" altLang="en-US"/>
              <a:t>选择 AS 的标准是什么？</a:t>
            </a:r>
            <a:endParaRPr lang="zh-CN" altLang="en-US"/>
          </a:p>
        </p:txBody>
      </p:sp>
      <p:sp>
        <p:nvSpPr>
          <p:cNvPr id="35843" name="Text Box 4">
            <a:extLst>
              <a:ext uri="{FF2B5EF4-FFF2-40B4-BE49-F238E27FC236}">
                <a16:creationId xmlns:a16="http://schemas.microsoft.com/office/drawing/2014/main" id="{6A89739F-DAB8-0048-673F-7103E88A5416}"/>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3.</a:t>
            </a:r>
            <a:r>
              <a:rPr lang="en-US" altLang="zh-CN" sz="1800">
                <a:solidFill>
                  <a:schemeClr val="bg1"/>
                </a:solidFill>
              </a:rPr>
              <a:t>2</a:t>
            </a:r>
            <a:r>
              <a:rPr lang="en-US" altLang="en-US" sz="1800">
                <a:solidFill>
                  <a:schemeClr val="bg1"/>
                </a:solidFill>
              </a:rPr>
              <a:t> DCS的现场控制站</a:t>
            </a:r>
            <a:endParaRPr lang="zh-CN" altLang="en-US" sz="1800">
              <a:solidFill>
                <a:schemeClr val="bg1"/>
              </a:solidFill>
            </a:endParaRPr>
          </a:p>
        </p:txBody>
      </p:sp>
      <p:sp>
        <p:nvSpPr>
          <p:cNvPr id="35844" name="Rectangle 5">
            <a:extLst>
              <a:ext uri="{FF2B5EF4-FFF2-40B4-BE49-F238E27FC236}">
                <a16:creationId xmlns:a16="http://schemas.microsoft.com/office/drawing/2014/main" id="{BACFD019-1C4B-6ACB-97F6-CA45E7C907DD}"/>
              </a:ext>
            </a:extLst>
          </p:cNvPr>
          <p:cNvSpPr>
            <a:spLocks noChangeArrowheads="1"/>
          </p:cNvSpPr>
          <p:nvPr/>
        </p:nvSpPr>
        <p:spPr bwMode="auto">
          <a:xfrm>
            <a:off x="457200" y="1447800"/>
            <a:ext cx="83058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2400"/>
              <a:t>PCS 7 </a:t>
            </a:r>
            <a:r>
              <a:rPr lang="zh-CN" altLang="en-US" sz="2400"/>
              <a:t>过程控制系统基于从 </a:t>
            </a:r>
            <a:r>
              <a:rPr lang="en-US" altLang="zh-CN" sz="2400"/>
              <a:t>SIMATIC S7-400 </a:t>
            </a:r>
            <a:r>
              <a:rPr lang="zh-CN" altLang="en-US" sz="2400"/>
              <a:t>中选择的组件。可使用硬件和匹配的软件组态以下自动化系统：</a:t>
            </a:r>
          </a:p>
          <a:p>
            <a:pPr eaLnBrk="1" hangingPunct="1">
              <a:spcBef>
                <a:spcPct val="0"/>
              </a:spcBef>
            </a:pPr>
            <a:r>
              <a:rPr lang="zh-CN" altLang="en-US" sz="2400"/>
              <a:t>●   标准自动化系统</a:t>
            </a:r>
          </a:p>
          <a:p>
            <a:pPr eaLnBrk="1" hangingPunct="1">
              <a:spcBef>
                <a:spcPct val="0"/>
              </a:spcBef>
            </a:pPr>
            <a:r>
              <a:rPr lang="zh-CN" altLang="en-US" sz="2400"/>
              <a:t>●   容错自动化系统（</a:t>
            </a:r>
            <a:r>
              <a:rPr lang="en-US" altLang="zh-CN" sz="2400"/>
              <a:t>H </a:t>
            </a:r>
            <a:r>
              <a:rPr lang="zh-CN" altLang="en-US" sz="2400"/>
              <a:t>系统）</a:t>
            </a:r>
          </a:p>
          <a:p>
            <a:pPr eaLnBrk="1" hangingPunct="1">
              <a:spcBef>
                <a:spcPct val="0"/>
              </a:spcBef>
            </a:pPr>
            <a:r>
              <a:rPr lang="zh-CN" altLang="en-US" sz="2400"/>
              <a:t>●   故障安全自动化系统（</a:t>
            </a:r>
            <a:r>
              <a:rPr lang="en-US" altLang="zh-CN" sz="2400"/>
              <a:t>F </a:t>
            </a:r>
            <a:r>
              <a:rPr lang="zh-CN" altLang="en-US" sz="2400"/>
              <a:t>系统）</a:t>
            </a:r>
          </a:p>
          <a:p>
            <a:pPr eaLnBrk="1" hangingPunct="1">
              <a:spcBef>
                <a:spcPct val="0"/>
              </a:spcBef>
            </a:pPr>
            <a:r>
              <a:rPr lang="zh-CN" altLang="en-US" sz="2400"/>
              <a:t>●   故障安全和容错自动化系统（</a:t>
            </a:r>
            <a:r>
              <a:rPr lang="en-US" altLang="zh-CN" sz="2400"/>
              <a:t>FH </a:t>
            </a:r>
            <a:r>
              <a:rPr lang="zh-CN" altLang="en-US" sz="2400"/>
              <a:t>系统）</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7" name="Picture 6">
            <a:extLst>
              <a:ext uri="{FF2B5EF4-FFF2-40B4-BE49-F238E27FC236}">
                <a16:creationId xmlns:a16="http://schemas.microsoft.com/office/drawing/2014/main" id="{E449A5D6-5289-BBD6-D769-16ED71FEDB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762000"/>
            <a:ext cx="51054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6868" name="Rectangle 4">
            <a:extLst>
              <a:ext uri="{FF2B5EF4-FFF2-40B4-BE49-F238E27FC236}">
                <a16:creationId xmlns:a16="http://schemas.microsoft.com/office/drawing/2014/main" id="{A451CCC0-E766-144D-6F9C-9D56BC497CB9}"/>
              </a:ext>
            </a:extLst>
          </p:cNvPr>
          <p:cNvSpPr>
            <a:spLocks noChangeArrowheads="1"/>
          </p:cNvSpPr>
          <p:nvPr/>
        </p:nvSpPr>
        <p:spPr bwMode="auto">
          <a:xfrm>
            <a:off x="5257800" y="650875"/>
            <a:ext cx="3581400" cy="563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2000"/>
              <a:t>H </a:t>
            </a:r>
            <a:r>
              <a:rPr lang="zh-CN" altLang="en-US" sz="2000"/>
              <a:t>系统的工作原理</a:t>
            </a:r>
          </a:p>
          <a:p>
            <a:pPr eaLnBrk="1" hangingPunct="1">
              <a:spcBef>
                <a:spcPct val="0"/>
              </a:spcBef>
            </a:pPr>
            <a:endParaRPr lang="zh-CN" altLang="en-US" sz="2000"/>
          </a:p>
          <a:p>
            <a:pPr eaLnBrk="1" hangingPunct="1">
              <a:spcBef>
                <a:spcPct val="0"/>
              </a:spcBef>
            </a:pPr>
            <a:r>
              <a:rPr lang="zh-CN" altLang="en-US" sz="2000"/>
              <a:t>自动化系统由两个冗余组态的子系统组成，它们通过光纤电缆同步。 两个子系统构成了按照活动冗余原则运行的容错自动化系统。</a:t>
            </a:r>
          </a:p>
          <a:p>
            <a:pPr eaLnBrk="1" hangingPunct="1">
              <a:spcBef>
                <a:spcPct val="0"/>
              </a:spcBef>
            </a:pPr>
            <a:r>
              <a:rPr lang="zh-CN" altLang="en-US" sz="2000"/>
              <a:t>当前冗余是指所有冗余设备都一直在运行，并且也参与过程数据的采集。 当前冗余伙伴负责执行控制任务。 装载在两个 </a:t>
            </a:r>
            <a:r>
              <a:rPr lang="en-US" altLang="zh-CN" sz="2000"/>
              <a:t>CPU </a:t>
            </a:r>
            <a:r>
              <a:rPr lang="zh-CN" altLang="en-US" sz="2000"/>
              <a:t>中的用户程序完全相同，并且由两个 </a:t>
            </a:r>
            <a:r>
              <a:rPr lang="en-US" altLang="zh-CN" sz="2000"/>
              <a:t>CPU </a:t>
            </a:r>
            <a:r>
              <a:rPr lang="zh-CN" altLang="en-US" sz="2000"/>
              <a:t>同步运</a:t>
            </a:r>
          </a:p>
          <a:p>
            <a:pPr eaLnBrk="1" hangingPunct="1">
              <a:spcBef>
                <a:spcPct val="0"/>
              </a:spcBef>
            </a:pPr>
            <a:r>
              <a:rPr lang="zh-CN" altLang="en-US" sz="2000"/>
              <a:t>行。</a:t>
            </a:r>
          </a:p>
          <a:p>
            <a:pPr eaLnBrk="1" hangingPunct="1">
              <a:spcBef>
                <a:spcPct val="0"/>
              </a:spcBef>
            </a:pPr>
            <a:r>
              <a:rPr lang="zh-CN" altLang="en-US" sz="2000"/>
              <a:t>如果活动 </a:t>
            </a:r>
            <a:r>
              <a:rPr lang="en-US" altLang="zh-CN" sz="2000"/>
              <a:t>CPU </a:t>
            </a:r>
            <a:r>
              <a:rPr lang="zh-CN" altLang="en-US" sz="2000"/>
              <a:t>失败，自动化系统会自动切换到冗余 </a:t>
            </a:r>
            <a:r>
              <a:rPr lang="en-US" altLang="zh-CN" sz="2000"/>
              <a:t>CPU</a:t>
            </a:r>
            <a:r>
              <a:rPr lang="zh-CN" altLang="en-US" sz="2000"/>
              <a:t>。 该切换对于正在进行的过程无影响，因其进行的是平稳切换。</a:t>
            </a:r>
          </a:p>
        </p:txBody>
      </p:sp>
      <p:sp>
        <p:nvSpPr>
          <p:cNvPr id="2" name="文本框 1">
            <a:extLst>
              <a:ext uri="{FF2B5EF4-FFF2-40B4-BE49-F238E27FC236}">
                <a16:creationId xmlns:a16="http://schemas.microsoft.com/office/drawing/2014/main" id="{CA94239E-88A0-6F45-223D-27AC4CA4B55B}"/>
              </a:ext>
            </a:extLst>
          </p:cNvPr>
          <p:cNvSpPr txBox="1"/>
          <p:nvPr/>
        </p:nvSpPr>
        <p:spPr>
          <a:xfrm rot="420000">
            <a:off x="7288995" y="356322"/>
            <a:ext cx="1440160" cy="584775"/>
          </a:xfrm>
          <a:prstGeom prst="rect">
            <a:avLst/>
          </a:prstGeom>
          <a:noFill/>
          <a:ln w="19050">
            <a:solidFill>
              <a:srgbClr val="FF0000"/>
            </a:solidFill>
          </a:ln>
        </p:spPr>
        <p:txBody>
          <a:bodyPr wrap="square" rtlCol="0">
            <a:spAutoFit/>
          </a:body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4">
            <a:extLst>
              <a:ext uri="{FF2B5EF4-FFF2-40B4-BE49-F238E27FC236}">
                <a16:creationId xmlns:a16="http://schemas.microsoft.com/office/drawing/2014/main" id="{83E23B81-7632-BE8A-B50B-98618B2394A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3.</a:t>
            </a:r>
            <a:r>
              <a:rPr lang="en-US" altLang="zh-CN" sz="1800">
                <a:solidFill>
                  <a:schemeClr val="bg1"/>
                </a:solidFill>
              </a:rPr>
              <a:t>2</a:t>
            </a:r>
            <a:r>
              <a:rPr lang="en-US" altLang="en-US" sz="1800">
                <a:solidFill>
                  <a:schemeClr val="bg1"/>
                </a:solidFill>
              </a:rPr>
              <a:t> DCS的现场控制站</a:t>
            </a:r>
            <a:endParaRPr lang="zh-CN" altLang="en-US" sz="1800">
              <a:solidFill>
                <a:schemeClr val="bg1"/>
              </a:solidFill>
            </a:endParaRPr>
          </a:p>
        </p:txBody>
      </p:sp>
      <p:pic>
        <p:nvPicPr>
          <p:cNvPr id="37891" name="图片 1">
            <a:extLst>
              <a:ext uri="{FF2B5EF4-FFF2-40B4-BE49-F238E27FC236}">
                <a16:creationId xmlns:a16="http://schemas.microsoft.com/office/drawing/2014/main" id="{B03C348F-FAFD-12C1-B828-71A576F7142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685800"/>
            <a:ext cx="4495800" cy="552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2" name="图片 2">
            <a:extLst>
              <a:ext uri="{FF2B5EF4-FFF2-40B4-BE49-F238E27FC236}">
                <a16:creationId xmlns:a16="http://schemas.microsoft.com/office/drawing/2014/main" id="{70C821B9-FDDB-2A63-B172-CA5CB86969E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1447800"/>
            <a:ext cx="4876800" cy="456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4">
            <a:extLst>
              <a:ext uri="{FF2B5EF4-FFF2-40B4-BE49-F238E27FC236}">
                <a16:creationId xmlns:a16="http://schemas.microsoft.com/office/drawing/2014/main" id="{42A43A7F-EFFD-6167-FC4A-B60AB25C3955}"/>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3.</a:t>
            </a:r>
            <a:r>
              <a:rPr lang="en-US" altLang="zh-CN" sz="1800">
                <a:solidFill>
                  <a:schemeClr val="bg1"/>
                </a:solidFill>
              </a:rPr>
              <a:t>2</a:t>
            </a:r>
            <a:r>
              <a:rPr lang="en-US" altLang="en-US" sz="1800">
                <a:solidFill>
                  <a:schemeClr val="bg1"/>
                </a:solidFill>
              </a:rPr>
              <a:t> DCS的现场控制站</a:t>
            </a:r>
            <a:endParaRPr lang="zh-CN" altLang="en-US" sz="1800">
              <a:solidFill>
                <a:schemeClr val="bg1"/>
              </a:solidFill>
            </a:endParaRPr>
          </a:p>
        </p:txBody>
      </p:sp>
      <p:pic>
        <p:nvPicPr>
          <p:cNvPr id="39939" name="图片 1">
            <a:extLst>
              <a:ext uri="{FF2B5EF4-FFF2-40B4-BE49-F238E27FC236}">
                <a16:creationId xmlns:a16="http://schemas.microsoft.com/office/drawing/2014/main" id="{AA6545A6-91C2-00A9-2864-0447E491B75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828800"/>
            <a:ext cx="8970963"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45E5AE9C-B42B-BF06-067E-2E3A51898441}"/>
              </a:ext>
            </a:extLst>
          </p:cNvPr>
          <p:cNvSpPr>
            <a:spLocks noGrp="1" noChangeArrowheads="1"/>
          </p:cNvSpPr>
          <p:nvPr>
            <p:ph type="title"/>
          </p:nvPr>
        </p:nvSpPr>
        <p:spPr/>
        <p:txBody>
          <a:bodyPr/>
          <a:lstStyle/>
          <a:p>
            <a:pPr eaLnBrk="1" hangingPunct="1"/>
            <a:r>
              <a:rPr lang="zh-CN" altLang="en-US"/>
              <a:t>故障安全自动化系统的组件</a:t>
            </a:r>
          </a:p>
        </p:txBody>
      </p:sp>
      <p:sp>
        <p:nvSpPr>
          <p:cNvPr id="45059" name="Text Box 3">
            <a:extLst>
              <a:ext uri="{FF2B5EF4-FFF2-40B4-BE49-F238E27FC236}">
                <a16:creationId xmlns:a16="http://schemas.microsoft.com/office/drawing/2014/main" id="{E8F2223D-2CD6-A960-3BDB-031AE918A0AC}"/>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3.</a:t>
            </a:r>
            <a:r>
              <a:rPr lang="en-US" altLang="zh-CN" sz="1800">
                <a:solidFill>
                  <a:schemeClr val="bg1"/>
                </a:solidFill>
              </a:rPr>
              <a:t>2</a:t>
            </a:r>
            <a:r>
              <a:rPr lang="en-US" altLang="en-US" sz="1800">
                <a:solidFill>
                  <a:schemeClr val="bg1"/>
                </a:solidFill>
              </a:rPr>
              <a:t> DCS的现场控制站</a:t>
            </a:r>
            <a:endParaRPr lang="zh-CN" altLang="en-US" sz="1800">
              <a:solidFill>
                <a:schemeClr val="bg1"/>
              </a:solidFill>
            </a:endParaRPr>
          </a:p>
        </p:txBody>
      </p:sp>
      <p:sp>
        <p:nvSpPr>
          <p:cNvPr id="45060" name="Rectangle 4">
            <a:extLst>
              <a:ext uri="{FF2B5EF4-FFF2-40B4-BE49-F238E27FC236}">
                <a16:creationId xmlns:a16="http://schemas.microsoft.com/office/drawing/2014/main" id="{29E9975D-99EF-DA6A-439B-85B074140E97}"/>
              </a:ext>
            </a:extLst>
          </p:cNvPr>
          <p:cNvSpPr>
            <a:spLocks noChangeArrowheads="1"/>
          </p:cNvSpPr>
          <p:nvPr/>
        </p:nvSpPr>
        <p:spPr bwMode="auto">
          <a:xfrm>
            <a:off x="457200" y="1285687"/>
            <a:ext cx="83058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2400" dirty="0"/>
              <a:t>F </a:t>
            </a:r>
            <a:r>
              <a:rPr lang="zh-CN" altLang="en-US" sz="2400" dirty="0"/>
              <a:t>系统的工作原理</a:t>
            </a:r>
          </a:p>
          <a:p>
            <a:pPr eaLnBrk="1" hangingPunct="1">
              <a:spcBef>
                <a:spcPct val="0"/>
              </a:spcBef>
            </a:pPr>
            <a:endParaRPr lang="zh-CN" altLang="en-US" sz="2400" dirty="0"/>
          </a:p>
          <a:p>
            <a:pPr eaLnBrk="1" hangingPunct="1">
              <a:spcBef>
                <a:spcPct val="0"/>
              </a:spcBef>
            </a:pPr>
            <a:r>
              <a:rPr lang="zh-CN" altLang="en-US" sz="2400" dirty="0"/>
              <a:t>故障安全自动化系统使用各种安全功能</a:t>
            </a:r>
            <a:r>
              <a:rPr lang="zh-CN" altLang="en-US" sz="2400" dirty="0">
                <a:solidFill>
                  <a:srgbClr val="FF0000"/>
                </a:solidFill>
              </a:rPr>
              <a:t>既检测过程错误又检测自身的内部错误</a:t>
            </a:r>
            <a:r>
              <a:rPr lang="zh-CN" altLang="en-US" sz="2400" dirty="0"/>
              <a:t>。 如果发生错误，则故障安全自动化系统会自动将工厂受影响的部分切换到安全状态。</a:t>
            </a:r>
          </a:p>
          <a:p>
            <a:pPr eaLnBrk="1" hangingPunct="1">
              <a:spcBef>
                <a:spcPct val="0"/>
              </a:spcBef>
            </a:pPr>
            <a:endParaRPr lang="en-US" altLang="zh-CN" sz="2400" dirty="0"/>
          </a:p>
        </p:txBody>
      </p:sp>
      <p:pic>
        <p:nvPicPr>
          <p:cNvPr id="3" name="图片 2" descr="图表&#10;&#10;描述已自动生成">
            <a:extLst>
              <a:ext uri="{FF2B5EF4-FFF2-40B4-BE49-F238E27FC236}">
                <a16:creationId xmlns:a16="http://schemas.microsoft.com/office/drawing/2014/main" id="{A369B8AC-815B-4F63-F4E3-8F1E504D6D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588" y="3212976"/>
            <a:ext cx="8241412" cy="3384376"/>
          </a:xfrm>
          <a:prstGeom prst="rect">
            <a:avLst/>
          </a:prstGeom>
        </p:spPr>
      </p:pic>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45E5AE9C-B42B-BF06-067E-2E3A51898441}"/>
              </a:ext>
            </a:extLst>
          </p:cNvPr>
          <p:cNvSpPr>
            <a:spLocks noGrp="1" noChangeArrowheads="1"/>
          </p:cNvSpPr>
          <p:nvPr>
            <p:ph type="title"/>
          </p:nvPr>
        </p:nvSpPr>
        <p:spPr/>
        <p:txBody>
          <a:bodyPr/>
          <a:lstStyle/>
          <a:p>
            <a:pPr eaLnBrk="1" hangingPunct="1"/>
            <a:r>
              <a:rPr lang="zh-CN" altLang="en-US"/>
              <a:t>故障安全自动化系统的组件</a:t>
            </a:r>
          </a:p>
        </p:txBody>
      </p:sp>
      <p:sp>
        <p:nvSpPr>
          <p:cNvPr id="45059" name="Text Box 3">
            <a:extLst>
              <a:ext uri="{FF2B5EF4-FFF2-40B4-BE49-F238E27FC236}">
                <a16:creationId xmlns:a16="http://schemas.microsoft.com/office/drawing/2014/main" id="{E8F2223D-2CD6-A960-3BDB-031AE918A0AC}"/>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3.</a:t>
            </a:r>
            <a:r>
              <a:rPr lang="en-US" altLang="zh-CN" sz="1800">
                <a:solidFill>
                  <a:schemeClr val="bg1"/>
                </a:solidFill>
              </a:rPr>
              <a:t>2</a:t>
            </a:r>
            <a:r>
              <a:rPr lang="en-US" altLang="en-US" sz="1800">
                <a:solidFill>
                  <a:schemeClr val="bg1"/>
                </a:solidFill>
              </a:rPr>
              <a:t> DCS的现场控制站</a:t>
            </a:r>
            <a:endParaRPr lang="zh-CN" altLang="en-US" sz="1800">
              <a:solidFill>
                <a:schemeClr val="bg1"/>
              </a:solidFill>
            </a:endParaRPr>
          </a:p>
        </p:txBody>
      </p:sp>
      <p:sp>
        <p:nvSpPr>
          <p:cNvPr id="45060" name="Rectangle 4">
            <a:extLst>
              <a:ext uri="{FF2B5EF4-FFF2-40B4-BE49-F238E27FC236}">
                <a16:creationId xmlns:a16="http://schemas.microsoft.com/office/drawing/2014/main" id="{29E9975D-99EF-DA6A-439B-85B074140E97}"/>
              </a:ext>
            </a:extLst>
          </p:cNvPr>
          <p:cNvSpPr>
            <a:spLocks noChangeArrowheads="1"/>
          </p:cNvSpPr>
          <p:nvPr/>
        </p:nvSpPr>
        <p:spPr bwMode="auto">
          <a:xfrm>
            <a:off x="457200" y="1285687"/>
            <a:ext cx="83058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2400" dirty="0"/>
              <a:t>F </a:t>
            </a:r>
            <a:r>
              <a:rPr lang="zh-CN" altLang="en-US" sz="2400" dirty="0"/>
              <a:t>系统的工作原理</a:t>
            </a:r>
          </a:p>
          <a:p>
            <a:pPr eaLnBrk="1" hangingPunct="1">
              <a:spcBef>
                <a:spcPct val="0"/>
              </a:spcBef>
            </a:pPr>
            <a:endParaRPr lang="zh-CN" altLang="en-US" sz="2400" dirty="0"/>
          </a:p>
          <a:p>
            <a:pPr eaLnBrk="1" hangingPunct="1">
              <a:spcBef>
                <a:spcPct val="0"/>
              </a:spcBef>
            </a:pPr>
            <a:endParaRPr lang="en-US" altLang="zh-CN" sz="2400" dirty="0"/>
          </a:p>
        </p:txBody>
      </p:sp>
      <p:pic>
        <p:nvPicPr>
          <p:cNvPr id="4" name="图片 3" descr="图示&#10;&#10;描述已自动生成">
            <a:extLst>
              <a:ext uri="{FF2B5EF4-FFF2-40B4-BE49-F238E27FC236}">
                <a16:creationId xmlns:a16="http://schemas.microsoft.com/office/drawing/2014/main" id="{1502FB96-98D0-9F79-4384-87718733E2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073" y="1907712"/>
            <a:ext cx="8398054" cy="4464496"/>
          </a:xfrm>
          <a:prstGeom prst="rect">
            <a:avLst/>
          </a:prstGeom>
        </p:spPr>
      </p:pic>
    </p:spTree>
    <p:extLst>
      <p:ext uri="{BB962C8B-B14F-4D97-AF65-F5344CB8AC3E}">
        <p14:creationId xmlns:p14="http://schemas.microsoft.com/office/powerpoint/2010/main" val="1185247637"/>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文本框 6">
            <a:extLst>
              <a:ext uri="{FF2B5EF4-FFF2-40B4-BE49-F238E27FC236}">
                <a16:creationId xmlns:a16="http://schemas.microsoft.com/office/drawing/2014/main" id="{DA4FA9F4-91FF-4C2C-624D-8094B98DA3B2}"/>
              </a:ext>
            </a:extLst>
          </p:cNvPr>
          <p:cNvSpPr txBox="1">
            <a:spLocks noChangeArrowheads="1"/>
          </p:cNvSpPr>
          <p:nvPr/>
        </p:nvSpPr>
        <p:spPr bwMode="auto">
          <a:xfrm>
            <a:off x="457200" y="533400"/>
            <a:ext cx="8229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lang="zh-CN" altLang="en-US" sz="1800" dirty="0"/>
              <a:t>在设计故障安全等级或者配置故障安全模块的时候，有时候会遇到</a:t>
            </a:r>
            <a:r>
              <a:rPr lang="en-US" altLang="zh-CN" sz="1800" dirty="0"/>
              <a:t>1oo1</a:t>
            </a:r>
            <a:r>
              <a:rPr lang="zh-CN" altLang="en-US" sz="1800" dirty="0"/>
              <a:t>评估（</a:t>
            </a:r>
            <a:r>
              <a:rPr lang="en-US" altLang="zh-CN" sz="1800" dirty="0"/>
              <a:t>1oo1 evaluation</a:t>
            </a:r>
            <a:r>
              <a:rPr lang="zh-CN" altLang="en-US" sz="1800" dirty="0"/>
              <a:t>）或者</a:t>
            </a:r>
            <a:r>
              <a:rPr lang="en-US" altLang="zh-CN" sz="1800" dirty="0"/>
              <a:t>1oo2</a:t>
            </a:r>
            <a:r>
              <a:rPr lang="zh-CN" altLang="en-US" sz="1800" dirty="0"/>
              <a:t>评估（</a:t>
            </a:r>
            <a:r>
              <a:rPr lang="en-US" altLang="zh-CN" sz="1800" dirty="0"/>
              <a:t>1oo2 evaluation</a:t>
            </a:r>
            <a:r>
              <a:rPr lang="zh-CN" altLang="en-US" sz="1800" dirty="0"/>
              <a:t>）。比如下面这张图是西门子</a:t>
            </a:r>
            <a:r>
              <a:rPr lang="en-US" altLang="zh-CN" sz="1800" dirty="0"/>
              <a:t>ET200S</a:t>
            </a:r>
            <a:r>
              <a:rPr lang="zh-CN" altLang="en-US" sz="1800" dirty="0"/>
              <a:t>的</a:t>
            </a:r>
            <a:r>
              <a:rPr lang="en-US" altLang="zh-CN" sz="1800" dirty="0"/>
              <a:t>4/8 F-DI</a:t>
            </a:r>
            <a:r>
              <a:rPr lang="zh-CN" altLang="en-US" sz="1800" dirty="0"/>
              <a:t>模块的参数，里面就有关于传感器评估的选择，可选项包括：</a:t>
            </a:r>
            <a:r>
              <a:rPr lang="en-US" altLang="zh-CN" sz="1800" dirty="0"/>
              <a:t>1oo1 evaluation</a:t>
            </a:r>
            <a:r>
              <a:rPr lang="zh-CN" altLang="en-US" sz="1800" dirty="0"/>
              <a:t>和</a:t>
            </a:r>
            <a:r>
              <a:rPr lang="en-US" altLang="zh-CN" sz="1800" dirty="0"/>
              <a:t>1oo2 evaluation</a:t>
            </a:r>
            <a:r>
              <a:rPr lang="zh-CN" altLang="en-US" sz="1800" dirty="0"/>
              <a:t>：</a:t>
            </a:r>
          </a:p>
        </p:txBody>
      </p:sp>
      <p:pic>
        <p:nvPicPr>
          <p:cNvPr id="47108" name="Picture 2" descr="preview">
            <a:extLst>
              <a:ext uri="{FF2B5EF4-FFF2-40B4-BE49-F238E27FC236}">
                <a16:creationId xmlns:a16="http://schemas.microsoft.com/office/drawing/2014/main" id="{3052CEA8-A89D-5A1C-5815-056D61B196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060848"/>
            <a:ext cx="5486400" cy="443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文本框 6">
            <a:extLst>
              <a:ext uri="{FF2B5EF4-FFF2-40B4-BE49-F238E27FC236}">
                <a16:creationId xmlns:a16="http://schemas.microsoft.com/office/drawing/2014/main" id="{3778524E-5BC4-CB94-108B-51C7DB28EF1A}"/>
              </a:ext>
            </a:extLst>
          </p:cNvPr>
          <p:cNvSpPr txBox="1">
            <a:spLocks noChangeArrowheads="1"/>
          </p:cNvSpPr>
          <p:nvPr/>
        </p:nvSpPr>
        <p:spPr bwMode="auto">
          <a:xfrm>
            <a:off x="457200" y="609600"/>
            <a:ext cx="82296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sz="1800">
                <a:solidFill>
                  <a:srgbClr val="121212"/>
                </a:solidFill>
                <a:latin typeface="-apple-system"/>
              </a:rPr>
              <a:t>1oo1</a:t>
            </a:r>
            <a:r>
              <a:rPr lang="zh-CN" altLang="en-US" sz="1800">
                <a:solidFill>
                  <a:srgbClr val="121212"/>
                </a:solidFill>
                <a:latin typeface="-apple-system"/>
              </a:rPr>
              <a:t>名称中的“</a:t>
            </a:r>
            <a:r>
              <a:rPr lang="en-US" altLang="zh-CN" sz="1800">
                <a:solidFill>
                  <a:srgbClr val="121212"/>
                </a:solidFill>
                <a:latin typeface="-apple-system"/>
              </a:rPr>
              <a:t>oo”</a:t>
            </a:r>
            <a:r>
              <a:rPr lang="zh-CN" altLang="en-US" sz="1800">
                <a:solidFill>
                  <a:srgbClr val="121212"/>
                </a:solidFill>
                <a:latin typeface="-apple-system"/>
              </a:rPr>
              <a:t>是“</a:t>
            </a:r>
            <a:r>
              <a:rPr lang="en-US" altLang="zh-CN" sz="1800">
                <a:solidFill>
                  <a:srgbClr val="121212"/>
                </a:solidFill>
                <a:latin typeface="-apple-system"/>
              </a:rPr>
              <a:t>out of”</a:t>
            </a:r>
            <a:r>
              <a:rPr lang="zh-CN" altLang="en-US" sz="1800">
                <a:solidFill>
                  <a:srgbClr val="121212"/>
                </a:solidFill>
                <a:latin typeface="-apple-system"/>
              </a:rPr>
              <a:t>的缩写，</a:t>
            </a:r>
            <a:r>
              <a:rPr lang="en-US" altLang="zh-CN" sz="1800">
                <a:solidFill>
                  <a:srgbClr val="121212"/>
                </a:solidFill>
                <a:latin typeface="-apple-system"/>
              </a:rPr>
              <a:t>1oo1</a:t>
            </a:r>
            <a:r>
              <a:rPr lang="zh-CN" altLang="en-US" sz="1800">
                <a:solidFill>
                  <a:srgbClr val="121212"/>
                </a:solidFill>
                <a:latin typeface="-apple-system"/>
              </a:rPr>
              <a:t>即“</a:t>
            </a:r>
            <a:r>
              <a:rPr lang="en-US" altLang="zh-CN" sz="1800">
                <a:solidFill>
                  <a:srgbClr val="121212"/>
                </a:solidFill>
                <a:latin typeface="-apple-system"/>
              </a:rPr>
              <a:t>1 out of 1”</a:t>
            </a:r>
            <a:r>
              <a:rPr lang="zh-CN" altLang="en-US" sz="1800">
                <a:solidFill>
                  <a:srgbClr val="121212"/>
                </a:solidFill>
                <a:latin typeface="-apple-system"/>
              </a:rPr>
              <a:t>，也就是一对一的意思。它是指将</a:t>
            </a:r>
            <a:r>
              <a:rPr lang="en-US" altLang="zh-CN" sz="1800">
                <a:solidFill>
                  <a:srgbClr val="121212"/>
                </a:solidFill>
                <a:latin typeface="-apple-system"/>
              </a:rPr>
              <a:t>1</a:t>
            </a:r>
            <a:r>
              <a:rPr lang="zh-CN" altLang="en-US" sz="1800">
                <a:solidFill>
                  <a:srgbClr val="121212"/>
                </a:solidFill>
                <a:latin typeface="-apple-system"/>
              </a:rPr>
              <a:t>个传感器，或者开关的一对触点，连接到安全模块的一个通道里，并且内部程序也只使用该单通道进行运算的设计方案。比如下面这张图：</a:t>
            </a:r>
            <a:endParaRPr lang="zh-CN" altLang="en-US" sz="1800"/>
          </a:p>
        </p:txBody>
      </p:sp>
      <p:pic>
        <p:nvPicPr>
          <p:cNvPr id="48132" name="Picture 2">
            <a:extLst>
              <a:ext uri="{FF2B5EF4-FFF2-40B4-BE49-F238E27FC236}">
                <a16:creationId xmlns:a16="http://schemas.microsoft.com/office/drawing/2014/main" id="{CFC318E6-E7AA-3734-E60E-21DF011FC3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828800"/>
            <a:ext cx="7780338"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文本框 6">
            <a:extLst>
              <a:ext uri="{FF2B5EF4-FFF2-40B4-BE49-F238E27FC236}">
                <a16:creationId xmlns:a16="http://schemas.microsoft.com/office/drawing/2014/main" id="{5C3114DE-7A60-18D2-B8C3-EE8714306F01}"/>
              </a:ext>
            </a:extLst>
          </p:cNvPr>
          <p:cNvSpPr txBox="1">
            <a:spLocks noChangeArrowheads="1"/>
          </p:cNvSpPr>
          <p:nvPr/>
        </p:nvSpPr>
        <p:spPr bwMode="auto">
          <a:xfrm>
            <a:off x="457200" y="533400"/>
            <a:ext cx="8229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sz="1800">
                <a:solidFill>
                  <a:srgbClr val="121212"/>
                </a:solidFill>
                <a:latin typeface="-apple-system"/>
              </a:rPr>
              <a:t>1oo1</a:t>
            </a:r>
            <a:r>
              <a:rPr lang="zh-CN" altLang="en-US" sz="1800">
                <a:solidFill>
                  <a:srgbClr val="121212"/>
                </a:solidFill>
                <a:latin typeface="-apple-system"/>
              </a:rPr>
              <a:t>的设计方案最高能达到</a:t>
            </a:r>
            <a:r>
              <a:rPr lang="en-US" altLang="zh-CN" sz="1800">
                <a:solidFill>
                  <a:srgbClr val="121212"/>
                </a:solidFill>
                <a:latin typeface="-apple-system"/>
              </a:rPr>
              <a:t>SIL2</a:t>
            </a:r>
            <a:r>
              <a:rPr lang="zh-CN" altLang="en-US" sz="1800">
                <a:solidFill>
                  <a:srgbClr val="121212"/>
                </a:solidFill>
                <a:latin typeface="-apple-system"/>
              </a:rPr>
              <a:t>的安全等级。</a:t>
            </a:r>
          </a:p>
          <a:p>
            <a:pPr>
              <a:spcBef>
                <a:spcPct val="0"/>
              </a:spcBef>
            </a:pPr>
            <a:r>
              <a:rPr lang="zh-CN" altLang="en-US" sz="1800">
                <a:solidFill>
                  <a:srgbClr val="121212"/>
                </a:solidFill>
                <a:latin typeface="-apple-system"/>
              </a:rPr>
              <a:t>在</a:t>
            </a:r>
            <a:r>
              <a:rPr lang="en-US" altLang="zh-CN" sz="1800">
                <a:solidFill>
                  <a:srgbClr val="121212"/>
                </a:solidFill>
                <a:latin typeface="-apple-system"/>
              </a:rPr>
              <a:t>1oo1</a:t>
            </a:r>
            <a:r>
              <a:rPr lang="zh-CN" altLang="en-US" sz="1800">
                <a:solidFill>
                  <a:srgbClr val="121212"/>
                </a:solidFill>
                <a:latin typeface="-apple-system"/>
              </a:rPr>
              <a:t>的基础上，可以设计冗余方案，即</a:t>
            </a:r>
            <a:r>
              <a:rPr lang="en-US" altLang="zh-CN" sz="1800">
                <a:solidFill>
                  <a:srgbClr val="121212"/>
                </a:solidFill>
                <a:latin typeface="-apple-system"/>
              </a:rPr>
              <a:t>1oo2</a:t>
            </a:r>
            <a:r>
              <a:rPr lang="zh-CN" altLang="en-US" sz="1800">
                <a:solidFill>
                  <a:srgbClr val="121212"/>
                </a:solidFill>
                <a:latin typeface="-apple-system"/>
              </a:rPr>
              <a:t>，原理如下图：</a:t>
            </a:r>
          </a:p>
        </p:txBody>
      </p:sp>
      <p:pic>
        <p:nvPicPr>
          <p:cNvPr id="49156" name="Picture 2">
            <a:extLst>
              <a:ext uri="{FF2B5EF4-FFF2-40B4-BE49-F238E27FC236}">
                <a16:creationId xmlns:a16="http://schemas.microsoft.com/office/drawing/2014/main" id="{B40787F4-4C8F-828D-4EED-8D9FA6613F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24000"/>
            <a:ext cx="6291263" cy="445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文本框 6">
            <a:extLst>
              <a:ext uri="{FF2B5EF4-FFF2-40B4-BE49-F238E27FC236}">
                <a16:creationId xmlns:a16="http://schemas.microsoft.com/office/drawing/2014/main" id="{C87E52C1-EBCC-A96C-58F7-2610DC6AAD0E}"/>
              </a:ext>
            </a:extLst>
          </p:cNvPr>
          <p:cNvSpPr txBox="1">
            <a:spLocks noChangeArrowheads="1"/>
          </p:cNvSpPr>
          <p:nvPr/>
        </p:nvSpPr>
        <p:spPr bwMode="auto">
          <a:xfrm>
            <a:off x="457200" y="533400"/>
            <a:ext cx="82296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sz="1800">
                <a:solidFill>
                  <a:srgbClr val="121212"/>
                </a:solidFill>
                <a:latin typeface="-apple-system"/>
              </a:rPr>
              <a:t>1oo2</a:t>
            </a:r>
            <a:r>
              <a:rPr lang="zh-CN" altLang="en-US" sz="1800">
                <a:solidFill>
                  <a:srgbClr val="121212"/>
                </a:solidFill>
                <a:latin typeface="-apple-system"/>
              </a:rPr>
              <a:t>有两种实现方案。</a:t>
            </a:r>
          </a:p>
          <a:p>
            <a:pPr>
              <a:spcBef>
                <a:spcPct val="0"/>
              </a:spcBef>
            </a:pPr>
            <a:r>
              <a:rPr lang="zh-CN" altLang="en-US" sz="1800">
                <a:solidFill>
                  <a:srgbClr val="121212"/>
                </a:solidFill>
                <a:latin typeface="-apple-system"/>
              </a:rPr>
              <a:t>第一种使用两个传感器或者两对触点连接到安全模块的左右输入通道，在安全模块的内部实现评估，然后送到</a:t>
            </a:r>
            <a:r>
              <a:rPr lang="en-US" altLang="zh-CN" sz="1800">
                <a:solidFill>
                  <a:srgbClr val="121212"/>
                </a:solidFill>
                <a:latin typeface="-apple-system"/>
              </a:rPr>
              <a:t>CPU</a:t>
            </a:r>
            <a:r>
              <a:rPr lang="zh-CN" altLang="en-US" sz="1800">
                <a:solidFill>
                  <a:srgbClr val="121212"/>
                </a:solidFill>
                <a:latin typeface="-apple-system"/>
              </a:rPr>
              <a:t>内部的一个通道里，如下图：</a:t>
            </a:r>
          </a:p>
        </p:txBody>
      </p:sp>
      <p:pic>
        <p:nvPicPr>
          <p:cNvPr id="50180" name="Picture 2">
            <a:extLst>
              <a:ext uri="{FF2B5EF4-FFF2-40B4-BE49-F238E27FC236}">
                <a16:creationId xmlns:a16="http://schemas.microsoft.com/office/drawing/2014/main" id="{B426E1DA-5EC3-2ADC-6CB1-D4A1D931B4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209800"/>
            <a:ext cx="7620000" cy="329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文本框 6">
            <a:extLst>
              <a:ext uri="{FF2B5EF4-FFF2-40B4-BE49-F238E27FC236}">
                <a16:creationId xmlns:a16="http://schemas.microsoft.com/office/drawing/2014/main" id="{9C189BFE-68A8-FE77-A23D-2050E92964FC}"/>
              </a:ext>
            </a:extLst>
          </p:cNvPr>
          <p:cNvSpPr txBox="1">
            <a:spLocks noChangeArrowheads="1"/>
          </p:cNvSpPr>
          <p:nvPr/>
        </p:nvSpPr>
        <p:spPr bwMode="auto">
          <a:xfrm>
            <a:off x="457200" y="533400"/>
            <a:ext cx="82296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lang="zh-CN" altLang="en-US" sz="1800" dirty="0">
                <a:solidFill>
                  <a:srgbClr val="121212"/>
                </a:solidFill>
                <a:latin typeface="-apple-system"/>
              </a:rPr>
              <a:t>第二种使用两个传感器连接到安全模块的左右输入通道，但不在安全模块内部进行评估，而是分别送到</a:t>
            </a:r>
            <a:r>
              <a:rPr lang="en-US" altLang="zh-CN" sz="1800" dirty="0">
                <a:solidFill>
                  <a:srgbClr val="121212"/>
                </a:solidFill>
                <a:latin typeface="-apple-system"/>
              </a:rPr>
              <a:t>CPU</a:t>
            </a:r>
            <a:r>
              <a:rPr lang="zh-CN" altLang="en-US" sz="1800" dirty="0">
                <a:solidFill>
                  <a:srgbClr val="121212"/>
                </a:solidFill>
                <a:latin typeface="-apple-system"/>
              </a:rPr>
              <a:t>内部的两个通道，在</a:t>
            </a:r>
            <a:r>
              <a:rPr lang="en-US" altLang="zh-CN" sz="1800" dirty="0">
                <a:solidFill>
                  <a:srgbClr val="121212"/>
                </a:solidFill>
                <a:latin typeface="-apple-system"/>
              </a:rPr>
              <a:t>CPU</a:t>
            </a:r>
            <a:r>
              <a:rPr lang="zh-CN" altLang="en-US" sz="1800" dirty="0">
                <a:solidFill>
                  <a:srgbClr val="121212"/>
                </a:solidFill>
                <a:latin typeface="-apple-system"/>
              </a:rPr>
              <a:t>内部进行安全评估。如下图所示：</a:t>
            </a:r>
          </a:p>
        </p:txBody>
      </p:sp>
      <p:pic>
        <p:nvPicPr>
          <p:cNvPr id="51204" name="Picture 2">
            <a:extLst>
              <a:ext uri="{FF2B5EF4-FFF2-40B4-BE49-F238E27FC236}">
                <a16:creationId xmlns:a16="http://schemas.microsoft.com/office/drawing/2014/main" id="{9A2919A4-DE14-D00A-68F5-543B5F6865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474788"/>
            <a:ext cx="6553200" cy="464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文本框 6">
            <a:extLst>
              <a:ext uri="{FF2B5EF4-FFF2-40B4-BE49-F238E27FC236}">
                <a16:creationId xmlns:a16="http://schemas.microsoft.com/office/drawing/2014/main" id="{C9B7D404-2D7F-4AF1-47B2-915AA9998ABF}"/>
              </a:ext>
            </a:extLst>
          </p:cNvPr>
          <p:cNvSpPr txBox="1">
            <a:spLocks noChangeArrowheads="1"/>
          </p:cNvSpPr>
          <p:nvPr/>
        </p:nvSpPr>
        <p:spPr bwMode="auto">
          <a:xfrm>
            <a:off x="457200" y="533400"/>
            <a:ext cx="8229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sz="1800">
                <a:solidFill>
                  <a:srgbClr val="121212"/>
                </a:solidFill>
                <a:latin typeface="-apple-system"/>
              </a:rPr>
              <a:t>1oo2</a:t>
            </a:r>
            <a:r>
              <a:rPr lang="zh-CN" altLang="en-US" sz="1800">
                <a:solidFill>
                  <a:srgbClr val="121212"/>
                </a:solidFill>
                <a:latin typeface="-apple-system"/>
              </a:rPr>
              <a:t>设计方案最高能达到</a:t>
            </a:r>
            <a:r>
              <a:rPr lang="en-US" altLang="zh-CN" sz="1800">
                <a:solidFill>
                  <a:srgbClr val="121212"/>
                </a:solidFill>
                <a:latin typeface="-apple-system"/>
              </a:rPr>
              <a:t>SIL3</a:t>
            </a:r>
            <a:r>
              <a:rPr lang="zh-CN" altLang="en-US" sz="1800">
                <a:solidFill>
                  <a:srgbClr val="121212"/>
                </a:solidFill>
                <a:latin typeface="-apple-system"/>
              </a:rPr>
              <a:t>的安全等级。</a:t>
            </a:r>
          </a:p>
          <a:p>
            <a:pPr>
              <a:spcBef>
                <a:spcPct val="0"/>
              </a:spcBef>
            </a:pPr>
            <a:r>
              <a:rPr lang="en-US" altLang="zh-CN" sz="1800">
                <a:solidFill>
                  <a:srgbClr val="121212"/>
                </a:solidFill>
                <a:latin typeface="-apple-system"/>
              </a:rPr>
              <a:t>1oo2</a:t>
            </a:r>
            <a:r>
              <a:rPr lang="zh-CN" altLang="en-US" sz="1800">
                <a:solidFill>
                  <a:srgbClr val="121212"/>
                </a:solidFill>
                <a:latin typeface="-apple-system"/>
              </a:rPr>
              <a:t>也可以通过再增加一个安全模块实现冗余的</a:t>
            </a:r>
            <a:r>
              <a:rPr lang="en-US" altLang="zh-CN" sz="1800">
                <a:solidFill>
                  <a:srgbClr val="121212"/>
                </a:solidFill>
                <a:latin typeface="-apple-system"/>
              </a:rPr>
              <a:t>2oo2</a:t>
            </a:r>
            <a:r>
              <a:rPr lang="zh-CN" altLang="en-US" sz="1800">
                <a:solidFill>
                  <a:srgbClr val="121212"/>
                </a:solidFill>
                <a:latin typeface="-apple-system"/>
              </a:rPr>
              <a:t>方案，如下图：</a:t>
            </a:r>
          </a:p>
        </p:txBody>
      </p:sp>
      <p:pic>
        <p:nvPicPr>
          <p:cNvPr id="52228" name="Picture 2">
            <a:extLst>
              <a:ext uri="{FF2B5EF4-FFF2-40B4-BE49-F238E27FC236}">
                <a16:creationId xmlns:a16="http://schemas.microsoft.com/office/drawing/2014/main" id="{08ABC932-74B9-68C1-ADFF-EFC9EEB049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900" y="1295400"/>
            <a:ext cx="6934200" cy="484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9" name="文本框 4">
            <a:extLst>
              <a:ext uri="{FF2B5EF4-FFF2-40B4-BE49-F238E27FC236}">
                <a16:creationId xmlns:a16="http://schemas.microsoft.com/office/drawing/2014/main" id="{C985E838-D7BD-D651-A66C-A9274F038B2E}"/>
              </a:ext>
            </a:extLst>
          </p:cNvPr>
          <p:cNvSpPr txBox="1">
            <a:spLocks noChangeArrowheads="1"/>
          </p:cNvSpPr>
          <p:nvPr/>
        </p:nvSpPr>
        <p:spPr bwMode="auto">
          <a:xfrm>
            <a:off x="5867400" y="5638800"/>
            <a:ext cx="27654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lang="zh-CN" altLang="en-US" sz="2000" b="1">
                <a:solidFill>
                  <a:srgbClr val="FF0000"/>
                </a:solidFill>
              </a:rPr>
              <a:t>西安航天发动机的例子</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5" name="图片 1">
            <a:extLst>
              <a:ext uri="{FF2B5EF4-FFF2-40B4-BE49-F238E27FC236}">
                <a16:creationId xmlns:a16="http://schemas.microsoft.com/office/drawing/2014/main" id="{7B067787-69DD-740A-B5BC-A3E0FA663E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292" y="500451"/>
            <a:ext cx="8153400" cy="574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D085C998-5B78-DC70-0552-19A0AC7EBA4B}"/>
              </a:ext>
            </a:extLst>
          </p:cNvPr>
          <p:cNvSpPr txBox="1"/>
          <p:nvPr/>
        </p:nvSpPr>
        <p:spPr>
          <a:xfrm>
            <a:off x="611560" y="6229677"/>
            <a:ext cx="8109148" cy="523220"/>
          </a:xfrm>
          <a:prstGeom prst="rect">
            <a:avLst/>
          </a:prstGeom>
          <a:noFill/>
        </p:spPr>
        <p:txBody>
          <a:bodyPr wrap="square">
            <a:spAutoFit/>
          </a:bodyPr>
          <a:lstStyle/>
          <a:p>
            <a:r>
              <a:rPr lang="zh-CN" altLang="en-US" sz="1400" dirty="0">
                <a:effectLst>
                  <a:outerShdw blurRad="38100" dist="38100" dir="2700000" algn="tl">
                    <a:srgbClr val="000000">
                      <a:alpha val="43137"/>
                    </a:srgbClr>
                  </a:outerShdw>
                </a:effectLst>
              </a:rPr>
              <a:t>拒动：主要是指在保护或需要跳闸的时候发出跳闸或合闸信号后，断路器没有动作，跳闸或分闸。</a:t>
            </a:r>
          </a:p>
          <a:p>
            <a:r>
              <a:rPr lang="zh-CN" altLang="en-US" sz="1400" dirty="0">
                <a:effectLst>
                  <a:outerShdw blurRad="38100" dist="38100" dir="2700000" algn="tl">
                    <a:srgbClr val="000000">
                      <a:alpha val="43137"/>
                    </a:srgbClr>
                  </a:outerShdw>
                </a:effectLst>
              </a:rPr>
              <a:t>误动：主要是指没有让短路器跳闸或是合闸的时候断路器自行进行了跳闸和分闸动作。</a:t>
            </a:r>
          </a:p>
        </p:txBody>
      </p:sp>
      <p:sp>
        <p:nvSpPr>
          <p:cNvPr id="2" name="文本框 1">
            <a:extLst>
              <a:ext uri="{FF2B5EF4-FFF2-40B4-BE49-F238E27FC236}">
                <a16:creationId xmlns:a16="http://schemas.microsoft.com/office/drawing/2014/main" id="{7FDC5FF6-B35A-FCDB-C6C9-E71356D7A8D8}"/>
              </a:ext>
            </a:extLst>
          </p:cNvPr>
          <p:cNvSpPr txBox="1"/>
          <p:nvPr/>
        </p:nvSpPr>
        <p:spPr>
          <a:xfrm rot="420000">
            <a:off x="7288995" y="356322"/>
            <a:ext cx="1440160" cy="584775"/>
          </a:xfrm>
          <a:prstGeom prst="rect">
            <a:avLst/>
          </a:prstGeom>
          <a:noFill/>
          <a:ln w="19050">
            <a:solidFill>
              <a:srgbClr val="FF0000"/>
            </a:solidFill>
          </a:ln>
        </p:spPr>
        <p:txBody>
          <a:bodyPr wrap="square" rtlCol="0">
            <a:spAutoFit/>
          </a:body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9" name="图片 2">
            <a:extLst>
              <a:ext uri="{FF2B5EF4-FFF2-40B4-BE49-F238E27FC236}">
                <a16:creationId xmlns:a16="http://schemas.microsoft.com/office/drawing/2014/main" id="{D8F7AD4C-57BC-2F1C-8583-4676CED66AF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138" y="685800"/>
            <a:ext cx="4183062"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0" name="矩形 3">
            <a:extLst>
              <a:ext uri="{FF2B5EF4-FFF2-40B4-BE49-F238E27FC236}">
                <a16:creationId xmlns:a16="http://schemas.microsoft.com/office/drawing/2014/main" id="{9D2C3855-D715-692E-DA31-7C5700BBF595}"/>
              </a:ext>
            </a:extLst>
          </p:cNvPr>
          <p:cNvSpPr>
            <a:spLocks noChangeArrowheads="1"/>
          </p:cNvSpPr>
          <p:nvPr/>
        </p:nvSpPr>
        <p:spPr bwMode="auto">
          <a:xfrm>
            <a:off x="4335463" y="585788"/>
            <a:ext cx="4960937" cy="566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Production cell with access protection</a:t>
            </a:r>
          </a:p>
          <a:p>
            <a:pPr>
              <a:spcBef>
                <a:spcPct val="0"/>
              </a:spcBef>
            </a:pPr>
            <a:r>
              <a:rPr lang="en-US" altLang="zh-CN" sz="1800"/>
              <a:t>The walk-in production area is monitored with a laser scanner. The service area is secured by a safety door.</a:t>
            </a:r>
          </a:p>
          <a:p>
            <a:pPr>
              <a:spcBef>
                <a:spcPct val="0"/>
              </a:spcBef>
            </a:pPr>
            <a:endParaRPr lang="en-US" altLang="zh-CN" sz="1800"/>
          </a:p>
          <a:p>
            <a:pPr>
              <a:spcBef>
                <a:spcPct val="0"/>
              </a:spcBef>
            </a:pPr>
            <a:r>
              <a:rPr lang="en-US" altLang="zh-CN" sz="1800"/>
              <a:t>Entering the production area or opening the safety door results in a stop or shutdown of</a:t>
            </a:r>
          </a:p>
          <a:p>
            <a:pPr>
              <a:spcBef>
                <a:spcPct val="0"/>
              </a:spcBef>
            </a:pPr>
            <a:r>
              <a:rPr lang="en-US" altLang="zh-CN" sz="1800"/>
              <a:t>the production cell similar to an emergency stop.</a:t>
            </a:r>
          </a:p>
          <a:p>
            <a:pPr>
              <a:spcBef>
                <a:spcPct val="0"/>
              </a:spcBef>
            </a:pPr>
            <a:endParaRPr lang="en-US" altLang="zh-CN" sz="1800"/>
          </a:p>
          <a:p>
            <a:pPr>
              <a:spcBef>
                <a:spcPct val="0"/>
              </a:spcBef>
            </a:pPr>
            <a:r>
              <a:rPr lang="en-US" altLang="zh-CN" sz="1800"/>
              <a:t>The system can only be started when the emergency stop is interlock deactivated, the</a:t>
            </a:r>
          </a:p>
          <a:p>
            <a:pPr>
              <a:spcBef>
                <a:spcPct val="0"/>
              </a:spcBef>
            </a:pPr>
            <a:r>
              <a:rPr lang="en-US" altLang="zh-CN" sz="1800"/>
              <a:t>safety door is closed and the laser scanner detects no one in the protected area. User</a:t>
            </a:r>
          </a:p>
          <a:p>
            <a:pPr>
              <a:spcBef>
                <a:spcPct val="0"/>
              </a:spcBef>
            </a:pPr>
            <a:r>
              <a:rPr lang="en-US" altLang="zh-CN" sz="1800"/>
              <a:t>acknowledgment is required on site to restart production after the emergency stop has</a:t>
            </a:r>
          </a:p>
          <a:p>
            <a:pPr>
              <a:spcBef>
                <a:spcPct val="0"/>
              </a:spcBef>
            </a:pPr>
            <a:r>
              <a:rPr lang="en-US" altLang="zh-CN" sz="1800"/>
              <a:t>been activated or the safety door has been opened. </a:t>
            </a:r>
            <a:endParaRPr lang="zh-CN" altLang="en-US" sz="1800"/>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图片 2">
            <a:extLst>
              <a:ext uri="{FF2B5EF4-FFF2-40B4-BE49-F238E27FC236}">
                <a16:creationId xmlns:a16="http://schemas.microsoft.com/office/drawing/2014/main" id="{BA7A3366-B067-6CF2-E0AB-12DE5CEFA2B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609600"/>
            <a:ext cx="7010400" cy="543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图片 2">
            <a:extLst>
              <a:ext uri="{FF2B5EF4-FFF2-40B4-BE49-F238E27FC236}">
                <a16:creationId xmlns:a16="http://schemas.microsoft.com/office/drawing/2014/main" id="{155A1775-3C3C-9CBE-91A5-027B1E8CB83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933450"/>
            <a:ext cx="6048375"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6">
            <a:extLst>
              <a:ext uri="{FF2B5EF4-FFF2-40B4-BE49-F238E27FC236}">
                <a16:creationId xmlns:a16="http://schemas.microsoft.com/office/drawing/2014/main" id="{332D1B5D-8523-7A4F-BB0B-05CFC96AE5E0}"/>
              </a:ext>
            </a:extLst>
          </p:cNvPr>
          <p:cNvSpPr txBox="1">
            <a:spLocks noChangeArrowheads="1"/>
          </p:cNvSpPr>
          <p:nvPr/>
        </p:nvSpPr>
        <p:spPr bwMode="auto">
          <a:xfrm>
            <a:off x="2483768" y="6165304"/>
            <a:ext cx="37547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lang="zh-CN" altLang="en-US" sz="1800" dirty="0">
                <a:solidFill>
                  <a:srgbClr val="121212"/>
                </a:solidFill>
                <a:latin typeface="-apple-system"/>
              </a:rPr>
              <a:t>急停开关为什么要选择常闭形式？</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图片 2">
            <a:extLst>
              <a:ext uri="{FF2B5EF4-FFF2-40B4-BE49-F238E27FC236}">
                <a16:creationId xmlns:a16="http://schemas.microsoft.com/office/drawing/2014/main" id="{D1FF52A6-38F8-FD29-7387-BBD12697CBF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8200" y="685800"/>
            <a:ext cx="7453313" cy="529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图片 2">
            <a:extLst>
              <a:ext uri="{FF2B5EF4-FFF2-40B4-BE49-F238E27FC236}">
                <a16:creationId xmlns:a16="http://schemas.microsoft.com/office/drawing/2014/main" id="{49425D76-DB7A-39E5-3701-DE480281250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5800" y="685800"/>
            <a:ext cx="8085138" cy="556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图片 1">
            <a:extLst>
              <a:ext uri="{FF2B5EF4-FFF2-40B4-BE49-F238E27FC236}">
                <a16:creationId xmlns:a16="http://schemas.microsoft.com/office/drawing/2014/main" id="{8BE382E5-CE2D-7343-48CE-FBC8276A996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762000"/>
            <a:ext cx="8086725" cy="525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图片 2">
            <a:extLst>
              <a:ext uri="{FF2B5EF4-FFF2-40B4-BE49-F238E27FC236}">
                <a16:creationId xmlns:a16="http://schemas.microsoft.com/office/drawing/2014/main" id="{2534895E-0F19-ABF1-1003-774295E9488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4800" y="685800"/>
            <a:ext cx="8583613" cy="547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图片 1">
            <a:extLst>
              <a:ext uri="{FF2B5EF4-FFF2-40B4-BE49-F238E27FC236}">
                <a16:creationId xmlns:a16="http://schemas.microsoft.com/office/drawing/2014/main" id="{A3D4BCB5-ED12-8EC3-55BF-B1DB84215FB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381125"/>
            <a:ext cx="6858000" cy="463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7" name="矩形 2">
            <a:extLst>
              <a:ext uri="{FF2B5EF4-FFF2-40B4-BE49-F238E27FC236}">
                <a16:creationId xmlns:a16="http://schemas.microsoft.com/office/drawing/2014/main" id="{9F83E8A6-7D31-5706-8572-AD5D11CB6A5B}"/>
              </a:ext>
            </a:extLst>
          </p:cNvPr>
          <p:cNvSpPr>
            <a:spLocks noChangeArrowheads="1"/>
          </p:cNvSpPr>
          <p:nvPr/>
        </p:nvSpPr>
        <p:spPr bwMode="auto">
          <a:xfrm>
            <a:off x="152400" y="457200"/>
            <a:ext cx="88392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sz="1800"/>
              <a:t>In our example, channels 0 and 4 should be connected to a two-channel emergency stop switch (emergency stop). Make the following settings (as highlighted in the figure):</a:t>
            </a:r>
            <a:endParaRPr lang="zh-CN" altLang="en-US" sz="1800"/>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图片 1">
            <a:extLst>
              <a:ext uri="{FF2B5EF4-FFF2-40B4-BE49-F238E27FC236}">
                <a16:creationId xmlns:a16="http://schemas.microsoft.com/office/drawing/2014/main" id="{D9AB284B-D5B5-5088-612F-8E60B2B73DA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981200"/>
            <a:ext cx="6992938" cy="473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1" name="矩形 2">
            <a:extLst>
              <a:ext uri="{FF2B5EF4-FFF2-40B4-BE49-F238E27FC236}">
                <a16:creationId xmlns:a16="http://schemas.microsoft.com/office/drawing/2014/main" id="{E22CDA17-C243-55C8-1C74-33A25C4749D8}"/>
              </a:ext>
            </a:extLst>
          </p:cNvPr>
          <p:cNvSpPr>
            <a:spLocks noChangeArrowheads="1"/>
          </p:cNvSpPr>
          <p:nvPr/>
        </p:nvSpPr>
        <p:spPr bwMode="auto">
          <a:xfrm>
            <a:off x="304800" y="457200"/>
            <a:ext cx="85344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sz="1800"/>
              <a:t>In our example, channels 1 and 5 should be connected to the position switches for monitoring a two-channel safety door. Make the following settings (as highlighted in the figure):</a:t>
            </a:r>
          </a:p>
          <a:p>
            <a:pPr>
              <a:spcBef>
                <a:spcPct val="0"/>
              </a:spcBef>
            </a:pPr>
            <a:r>
              <a:rPr lang="en-US" altLang="zh-CN" sz="1800"/>
              <a:t>6 Deactivate the unused channels 2, 6 and 3, 7 by unmarking the "Activated" check boxes and confirm your changes with "OK".</a:t>
            </a:r>
            <a:endParaRPr lang="zh-CN" altLang="en-US" sz="1800"/>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3" name="Picture 4">
            <a:extLst>
              <a:ext uri="{FF2B5EF4-FFF2-40B4-BE49-F238E27FC236}">
                <a16:creationId xmlns:a16="http://schemas.microsoft.com/office/drawing/2014/main" id="{7190AAC2-D8FC-8C55-E217-493D52E3FE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513" y="614363"/>
            <a:ext cx="7038975" cy="562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7F9716EF-A804-8576-A642-CFB825BAF013}"/>
              </a:ext>
            </a:extLst>
          </p:cNvPr>
          <p:cNvSpPr>
            <a:spLocks noGrp="1" noChangeArrowheads="1"/>
          </p:cNvSpPr>
          <p:nvPr>
            <p:ph type="title"/>
          </p:nvPr>
        </p:nvSpPr>
        <p:spPr/>
        <p:txBody>
          <a:bodyPr/>
          <a:lstStyle/>
          <a:p>
            <a:pPr eaLnBrk="1" hangingPunct="1"/>
            <a:r>
              <a:rPr lang="zh-CN" altLang="en-US" dirty="0"/>
              <a:t>实现自动化需要选择什么 </a:t>
            </a:r>
            <a:r>
              <a:rPr lang="en-US" altLang="zh-CN" dirty="0"/>
              <a:t>CPU</a:t>
            </a:r>
            <a:r>
              <a:rPr lang="zh-CN" altLang="en-US" dirty="0"/>
              <a:t>？</a:t>
            </a:r>
          </a:p>
        </p:txBody>
      </p:sp>
      <p:sp>
        <p:nvSpPr>
          <p:cNvPr id="228358" name="Text Box 6">
            <a:extLst>
              <a:ext uri="{FF2B5EF4-FFF2-40B4-BE49-F238E27FC236}">
                <a16:creationId xmlns:a16="http://schemas.microsoft.com/office/drawing/2014/main" id="{3BDEEE2A-B5BA-9061-8D82-C12D7CEA1A39}"/>
              </a:ext>
            </a:extLst>
          </p:cNvPr>
          <p:cNvSpPr txBox="1">
            <a:spLocks noChangeArrowheads="1"/>
          </p:cNvSpPr>
          <p:nvPr/>
        </p:nvSpPr>
        <p:spPr bwMode="auto">
          <a:xfrm>
            <a:off x="1331640" y="5373216"/>
            <a:ext cx="60676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1800" b="1" dirty="0">
                <a:solidFill>
                  <a:srgbClr val="FF0000"/>
                </a:solidFill>
              </a:rPr>
              <a:t>小问题：</a:t>
            </a:r>
            <a:r>
              <a:rPr lang="en-US" altLang="zh-CN" sz="1800" b="1" dirty="0">
                <a:solidFill>
                  <a:srgbClr val="FF0000"/>
                </a:solidFill>
              </a:rPr>
              <a:t>300</a:t>
            </a:r>
            <a:r>
              <a:rPr lang="zh-CN" altLang="en-US" sz="1800" b="1" dirty="0">
                <a:solidFill>
                  <a:srgbClr val="FF0000"/>
                </a:solidFill>
              </a:rPr>
              <a:t>个模拟测量值，</a:t>
            </a:r>
            <a:r>
              <a:rPr lang="en-US" altLang="zh-CN" sz="1800" b="1" dirty="0">
                <a:solidFill>
                  <a:srgbClr val="FF0000"/>
                </a:solidFill>
              </a:rPr>
              <a:t>800</a:t>
            </a:r>
            <a:r>
              <a:rPr lang="zh-CN" altLang="en-US" sz="1800" b="1" dirty="0">
                <a:solidFill>
                  <a:srgbClr val="FF0000"/>
                </a:solidFill>
              </a:rPr>
              <a:t>个数字测量值，怎么选？</a:t>
            </a:r>
            <a:endParaRPr lang="en-US" altLang="zh-CN" sz="1800" b="1" dirty="0">
              <a:solidFill>
                <a:srgbClr val="FF0000"/>
              </a:solidFill>
            </a:endParaRPr>
          </a:p>
        </p:txBody>
      </p:sp>
      <p:pic>
        <p:nvPicPr>
          <p:cNvPr id="3" name="图片 2">
            <a:extLst>
              <a:ext uri="{FF2B5EF4-FFF2-40B4-BE49-F238E27FC236}">
                <a16:creationId xmlns:a16="http://schemas.microsoft.com/office/drawing/2014/main" id="{993552D9-A78B-90E7-1D91-192D790BBE09}"/>
              </a:ext>
            </a:extLst>
          </p:cNvPr>
          <p:cNvPicPr>
            <a:picLocks noChangeAspect="1"/>
          </p:cNvPicPr>
          <p:nvPr/>
        </p:nvPicPr>
        <p:blipFill>
          <a:blip r:embed="rId2"/>
          <a:stretch>
            <a:fillRect/>
          </a:stretch>
        </p:blipFill>
        <p:spPr>
          <a:xfrm>
            <a:off x="251520" y="1484784"/>
            <a:ext cx="8529162" cy="3600400"/>
          </a:xfrm>
          <a:prstGeom prst="rect">
            <a:avLst/>
          </a:prstGeom>
        </p:spPr>
      </p:pic>
      <p:sp>
        <p:nvSpPr>
          <p:cNvPr id="4" name="文本框 3">
            <a:extLst>
              <a:ext uri="{FF2B5EF4-FFF2-40B4-BE49-F238E27FC236}">
                <a16:creationId xmlns:a16="http://schemas.microsoft.com/office/drawing/2014/main" id="{1F3CB158-8AA1-2947-CF59-F53854190545}"/>
              </a:ext>
            </a:extLst>
          </p:cNvPr>
          <p:cNvSpPr txBox="1"/>
          <p:nvPr/>
        </p:nvSpPr>
        <p:spPr>
          <a:xfrm rot="420000">
            <a:off x="7288995" y="356322"/>
            <a:ext cx="1440160" cy="584775"/>
          </a:xfrm>
          <a:prstGeom prst="rect">
            <a:avLst/>
          </a:prstGeom>
          <a:noFill/>
          <a:ln w="19050">
            <a:solidFill>
              <a:srgbClr val="FF0000"/>
            </a:solidFill>
          </a:ln>
        </p:spPr>
        <p:txBody>
          <a:bodyPr wrap="square" rtlCol="0">
            <a:spAutoFit/>
          </a:body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8358"/>
                                        </p:tgtEl>
                                        <p:attrNameLst>
                                          <p:attrName>style.visibility</p:attrName>
                                        </p:attrNameLst>
                                      </p:cBhvr>
                                      <p:to>
                                        <p:strVal val="visible"/>
                                      </p:to>
                                    </p:set>
                                    <p:anim calcmode="lin" valueType="num">
                                      <p:cBhvr additive="base">
                                        <p:cTn id="7" dur="500" fill="hold"/>
                                        <p:tgtEl>
                                          <p:spTgt spid="228358"/>
                                        </p:tgtEl>
                                        <p:attrNameLst>
                                          <p:attrName>ppt_x</p:attrName>
                                        </p:attrNameLst>
                                      </p:cBhvr>
                                      <p:tavLst>
                                        <p:tav tm="0">
                                          <p:val>
                                            <p:strVal val="#ppt_x"/>
                                          </p:val>
                                        </p:tav>
                                        <p:tav tm="100000">
                                          <p:val>
                                            <p:strVal val="#ppt_x"/>
                                          </p:val>
                                        </p:tav>
                                      </p:tavLst>
                                    </p:anim>
                                    <p:anim calcmode="lin" valueType="num">
                                      <p:cBhvr additive="base">
                                        <p:cTn id="8" dur="500" fill="hold"/>
                                        <p:tgtEl>
                                          <p:spTgt spid="2283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1F9CADD4-8D33-7FAF-9E8B-F7647DEB67F8}"/>
              </a:ext>
            </a:extLst>
          </p:cNvPr>
          <p:cNvSpPr>
            <a:spLocks noGrp="1" noChangeArrowheads="1"/>
          </p:cNvSpPr>
          <p:nvPr>
            <p:ph type="title"/>
          </p:nvPr>
        </p:nvSpPr>
        <p:spPr/>
        <p:txBody>
          <a:bodyPr/>
          <a:lstStyle/>
          <a:p>
            <a:pPr eaLnBrk="1" hangingPunct="1"/>
            <a:r>
              <a:rPr lang="en-US" altLang="zh-CN" dirty="0"/>
              <a:t>PLC</a:t>
            </a:r>
            <a:r>
              <a:rPr lang="zh-CN" altLang="en-US" dirty="0"/>
              <a:t>和</a:t>
            </a:r>
            <a:r>
              <a:rPr lang="en-US" altLang="zh-CN" dirty="0"/>
              <a:t>DCS</a:t>
            </a:r>
            <a:r>
              <a:rPr lang="zh-CN" altLang="en-US" dirty="0"/>
              <a:t>的扩展构成</a:t>
            </a:r>
          </a:p>
        </p:txBody>
      </p:sp>
      <p:sp>
        <p:nvSpPr>
          <p:cNvPr id="6" name="文本框 5">
            <a:extLst>
              <a:ext uri="{FF2B5EF4-FFF2-40B4-BE49-F238E27FC236}">
                <a16:creationId xmlns:a16="http://schemas.microsoft.com/office/drawing/2014/main" id="{63D65BC8-2B5B-82E5-1E5E-BBF40F15E039}"/>
              </a:ext>
            </a:extLst>
          </p:cNvPr>
          <p:cNvSpPr txBox="1"/>
          <p:nvPr/>
        </p:nvSpPr>
        <p:spPr>
          <a:xfrm>
            <a:off x="539552" y="1145872"/>
            <a:ext cx="7704856" cy="369332"/>
          </a:xfrm>
          <a:prstGeom prst="rect">
            <a:avLst/>
          </a:prstGeom>
          <a:noFill/>
        </p:spPr>
        <p:txBody>
          <a:bodyPr wrap="square">
            <a:spAutoFit/>
          </a:bodyPr>
          <a:lstStyle/>
          <a:p>
            <a:r>
              <a:rPr lang="en-US" altLang="zh-CN" dirty="0"/>
              <a:t>A</a:t>
            </a:r>
            <a:r>
              <a:rPr lang="zh-CN" altLang="en-US" dirty="0"/>
              <a:t>）近程扩展方式。通过背板来进行扩展。</a:t>
            </a:r>
          </a:p>
        </p:txBody>
      </p:sp>
      <p:sp>
        <p:nvSpPr>
          <p:cNvPr id="8" name="文本框 7">
            <a:extLst>
              <a:ext uri="{FF2B5EF4-FFF2-40B4-BE49-F238E27FC236}">
                <a16:creationId xmlns:a16="http://schemas.microsoft.com/office/drawing/2014/main" id="{368295F9-1576-46ED-FB2C-77846724BF5F}"/>
              </a:ext>
            </a:extLst>
          </p:cNvPr>
          <p:cNvSpPr txBox="1"/>
          <p:nvPr/>
        </p:nvSpPr>
        <p:spPr>
          <a:xfrm>
            <a:off x="464571" y="1663493"/>
            <a:ext cx="8064896" cy="923330"/>
          </a:xfrm>
          <a:prstGeom prst="rect">
            <a:avLst/>
          </a:prstGeom>
          <a:noFill/>
        </p:spPr>
        <p:txBody>
          <a:bodyPr wrap="square">
            <a:spAutoFit/>
          </a:bodyPr>
          <a:lstStyle/>
          <a:p>
            <a:r>
              <a:rPr lang="en-US" altLang="zh-CN" dirty="0"/>
              <a:t>S7-1200</a:t>
            </a:r>
            <a:r>
              <a:rPr lang="zh-CN" altLang="en-US" dirty="0"/>
              <a:t>系列</a:t>
            </a:r>
            <a:r>
              <a:rPr lang="en-US" altLang="zh-CN" dirty="0"/>
              <a:t>PLC</a:t>
            </a:r>
            <a:r>
              <a:rPr lang="zh-CN" altLang="en-US" dirty="0"/>
              <a:t>的扩展模块包括三类，信号模块、信号板和通信模块。信号模块是扩展在</a:t>
            </a:r>
            <a:r>
              <a:rPr lang="en-US" altLang="zh-CN" dirty="0"/>
              <a:t>CPU</a:t>
            </a:r>
            <a:r>
              <a:rPr lang="zh-CN" altLang="en-US" dirty="0"/>
              <a:t>的右侧，信号板扩展在</a:t>
            </a:r>
            <a:r>
              <a:rPr lang="en-US" altLang="zh-CN" dirty="0"/>
              <a:t>CPU</a:t>
            </a:r>
            <a:r>
              <a:rPr lang="zh-CN" altLang="en-US" dirty="0"/>
              <a:t>的正上方，通信模块扩展在</a:t>
            </a:r>
            <a:r>
              <a:rPr lang="en-US" altLang="zh-CN" dirty="0"/>
              <a:t>CPU</a:t>
            </a:r>
            <a:r>
              <a:rPr lang="zh-CN" altLang="en-US" dirty="0"/>
              <a:t>的左侧。下面来简单的介绍一下</a:t>
            </a:r>
            <a:r>
              <a:rPr lang="en-US" altLang="zh-CN" dirty="0"/>
              <a:t>S7-1200</a:t>
            </a:r>
            <a:r>
              <a:rPr lang="zh-CN" altLang="en-US" dirty="0"/>
              <a:t>系列的模块。</a:t>
            </a:r>
          </a:p>
        </p:txBody>
      </p:sp>
      <p:pic>
        <p:nvPicPr>
          <p:cNvPr id="4" name="图片 3">
            <a:extLst>
              <a:ext uri="{FF2B5EF4-FFF2-40B4-BE49-F238E27FC236}">
                <a16:creationId xmlns:a16="http://schemas.microsoft.com/office/drawing/2014/main" id="{06F82A3C-CF29-B9B9-1C26-A571A2ECD274}"/>
              </a:ext>
            </a:extLst>
          </p:cNvPr>
          <p:cNvPicPr>
            <a:picLocks noChangeAspect="1"/>
          </p:cNvPicPr>
          <p:nvPr/>
        </p:nvPicPr>
        <p:blipFill>
          <a:blip r:embed="rId2"/>
          <a:stretch>
            <a:fillRect/>
          </a:stretch>
        </p:blipFill>
        <p:spPr>
          <a:xfrm>
            <a:off x="1763688" y="2852936"/>
            <a:ext cx="5267325" cy="3124200"/>
          </a:xfrm>
          <a:prstGeom prst="rect">
            <a:avLst/>
          </a:prstGeom>
        </p:spPr>
      </p:pic>
      <p:sp>
        <p:nvSpPr>
          <p:cNvPr id="2" name="文本框 1">
            <a:extLst>
              <a:ext uri="{FF2B5EF4-FFF2-40B4-BE49-F238E27FC236}">
                <a16:creationId xmlns:a16="http://schemas.microsoft.com/office/drawing/2014/main" id="{FA83CC1C-C014-FDA9-FE2B-4A5E94DE95F7}"/>
              </a:ext>
            </a:extLst>
          </p:cNvPr>
          <p:cNvSpPr txBox="1"/>
          <p:nvPr/>
        </p:nvSpPr>
        <p:spPr>
          <a:xfrm rot="420000">
            <a:off x="7288995" y="356322"/>
            <a:ext cx="1440160" cy="584775"/>
          </a:xfrm>
          <a:prstGeom prst="rect">
            <a:avLst/>
          </a:prstGeom>
          <a:noFill/>
          <a:ln w="19050">
            <a:solidFill>
              <a:srgbClr val="FF0000"/>
            </a:solidFill>
          </a:ln>
        </p:spPr>
        <p:txBody>
          <a:bodyPr wrap="square" rtlCol="0">
            <a:spAutoFit/>
          </a:body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Tree>
    <p:extLst>
      <p:ext uri="{BB962C8B-B14F-4D97-AF65-F5344CB8AC3E}">
        <p14:creationId xmlns:p14="http://schemas.microsoft.com/office/powerpoint/2010/main" val="1350463008"/>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1F9CADD4-8D33-7FAF-9E8B-F7647DEB67F8}"/>
              </a:ext>
            </a:extLst>
          </p:cNvPr>
          <p:cNvSpPr>
            <a:spLocks noGrp="1" noChangeArrowheads="1"/>
          </p:cNvSpPr>
          <p:nvPr>
            <p:ph type="title"/>
          </p:nvPr>
        </p:nvSpPr>
        <p:spPr/>
        <p:txBody>
          <a:bodyPr/>
          <a:lstStyle/>
          <a:p>
            <a:pPr eaLnBrk="1" hangingPunct="1"/>
            <a:r>
              <a:rPr lang="en-US" altLang="zh-CN" dirty="0"/>
              <a:t>PLC</a:t>
            </a:r>
            <a:r>
              <a:rPr lang="zh-CN" altLang="en-US" dirty="0"/>
              <a:t>和</a:t>
            </a:r>
            <a:r>
              <a:rPr lang="en-US" altLang="zh-CN" dirty="0"/>
              <a:t>DCS</a:t>
            </a:r>
            <a:r>
              <a:rPr lang="zh-CN" altLang="en-US" dirty="0"/>
              <a:t>的扩展构成</a:t>
            </a:r>
          </a:p>
        </p:txBody>
      </p:sp>
      <p:sp>
        <p:nvSpPr>
          <p:cNvPr id="6" name="文本框 5">
            <a:extLst>
              <a:ext uri="{FF2B5EF4-FFF2-40B4-BE49-F238E27FC236}">
                <a16:creationId xmlns:a16="http://schemas.microsoft.com/office/drawing/2014/main" id="{63D65BC8-2B5B-82E5-1E5E-BBF40F15E039}"/>
              </a:ext>
            </a:extLst>
          </p:cNvPr>
          <p:cNvSpPr txBox="1"/>
          <p:nvPr/>
        </p:nvSpPr>
        <p:spPr>
          <a:xfrm>
            <a:off x="457200" y="1178416"/>
            <a:ext cx="7931224" cy="369332"/>
          </a:xfrm>
          <a:prstGeom prst="rect">
            <a:avLst/>
          </a:prstGeom>
          <a:noFill/>
        </p:spPr>
        <p:txBody>
          <a:bodyPr wrap="square">
            <a:spAutoFit/>
          </a:bodyPr>
          <a:lstStyle/>
          <a:p>
            <a:r>
              <a:rPr lang="en-US" altLang="zh-CN" dirty="0"/>
              <a:t>B</a:t>
            </a:r>
            <a:r>
              <a:rPr lang="zh-CN" altLang="en-US" dirty="0"/>
              <a:t>）远程扩展方式。通过网络和远程模块进行扩展。</a:t>
            </a:r>
          </a:p>
        </p:txBody>
      </p:sp>
      <p:pic>
        <p:nvPicPr>
          <p:cNvPr id="2" name="图片 1">
            <a:extLst>
              <a:ext uri="{FF2B5EF4-FFF2-40B4-BE49-F238E27FC236}">
                <a16:creationId xmlns:a16="http://schemas.microsoft.com/office/drawing/2014/main" id="{93C36C8D-6FDA-DD5B-008F-107CCFE43F25}"/>
              </a:ext>
            </a:extLst>
          </p:cNvPr>
          <p:cNvPicPr>
            <a:picLocks noChangeAspect="1"/>
          </p:cNvPicPr>
          <p:nvPr/>
        </p:nvPicPr>
        <p:blipFill>
          <a:blip r:embed="rId2"/>
          <a:stretch>
            <a:fillRect/>
          </a:stretch>
        </p:blipFill>
        <p:spPr>
          <a:xfrm>
            <a:off x="-21909" y="1910357"/>
            <a:ext cx="3797024" cy="2358757"/>
          </a:xfrm>
          <a:prstGeom prst="rect">
            <a:avLst/>
          </a:prstGeom>
        </p:spPr>
      </p:pic>
      <p:pic>
        <p:nvPicPr>
          <p:cNvPr id="3" name="图片 2">
            <a:extLst>
              <a:ext uri="{FF2B5EF4-FFF2-40B4-BE49-F238E27FC236}">
                <a16:creationId xmlns:a16="http://schemas.microsoft.com/office/drawing/2014/main" id="{85B44155-D91B-79D3-6D67-544F7007A24C}"/>
              </a:ext>
            </a:extLst>
          </p:cNvPr>
          <p:cNvPicPr>
            <a:picLocks noChangeAspect="1"/>
          </p:cNvPicPr>
          <p:nvPr/>
        </p:nvPicPr>
        <p:blipFill>
          <a:blip r:embed="rId3"/>
          <a:stretch>
            <a:fillRect/>
          </a:stretch>
        </p:blipFill>
        <p:spPr>
          <a:xfrm>
            <a:off x="0" y="4160431"/>
            <a:ext cx="4691925" cy="2697857"/>
          </a:xfrm>
          <a:prstGeom prst="rect">
            <a:avLst/>
          </a:prstGeom>
        </p:spPr>
      </p:pic>
      <p:pic>
        <p:nvPicPr>
          <p:cNvPr id="5" name="图片 4">
            <a:extLst>
              <a:ext uri="{FF2B5EF4-FFF2-40B4-BE49-F238E27FC236}">
                <a16:creationId xmlns:a16="http://schemas.microsoft.com/office/drawing/2014/main" id="{014BD171-44B6-6C45-7980-EE1825274436}"/>
              </a:ext>
            </a:extLst>
          </p:cNvPr>
          <p:cNvPicPr>
            <a:picLocks noChangeAspect="1"/>
          </p:cNvPicPr>
          <p:nvPr/>
        </p:nvPicPr>
        <p:blipFill>
          <a:blip r:embed="rId4"/>
          <a:stretch>
            <a:fillRect/>
          </a:stretch>
        </p:blipFill>
        <p:spPr>
          <a:xfrm>
            <a:off x="3851920" y="1920419"/>
            <a:ext cx="5403592" cy="4052694"/>
          </a:xfrm>
          <a:prstGeom prst="rect">
            <a:avLst/>
          </a:prstGeom>
        </p:spPr>
      </p:pic>
    </p:spTree>
    <p:extLst>
      <p:ext uri="{BB962C8B-B14F-4D97-AF65-F5344CB8AC3E}">
        <p14:creationId xmlns:p14="http://schemas.microsoft.com/office/powerpoint/2010/main" val="2514424213"/>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1F9CADD4-8D33-7FAF-9E8B-F7647DEB67F8}"/>
              </a:ext>
            </a:extLst>
          </p:cNvPr>
          <p:cNvSpPr>
            <a:spLocks noGrp="1" noChangeArrowheads="1"/>
          </p:cNvSpPr>
          <p:nvPr>
            <p:ph type="title"/>
          </p:nvPr>
        </p:nvSpPr>
        <p:spPr/>
        <p:txBody>
          <a:bodyPr/>
          <a:lstStyle/>
          <a:p>
            <a:pPr eaLnBrk="1" hangingPunct="1"/>
            <a:r>
              <a:rPr lang="en-US" altLang="zh-CN" dirty="0"/>
              <a:t>PLC</a:t>
            </a:r>
            <a:r>
              <a:rPr lang="zh-CN" altLang="en-US" dirty="0"/>
              <a:t>和</a:t>
            </a:r>
            <a:r>
              <a:rPr lang="en-US" altLang="zh-CN" dirty="0"/>
              <a:t>DCS</a:t>
            </a:r>
            <a:r>
              <a:rPr lang="zh-CN" altLang="en-US" dirty="0"/>
              <a:t>的扩展构成</a:t>
            </a:r>
          </a:p>
        </p:txBody>
      </p:sp>
      <p:sp>
        <p:nvSpPr>
          <p:cNvPr id="6" name="文本框 5">
            <a:extLst>
              <a:ext uri="{FF2B5EF4-FFF2-40B4-BE49-F238E27FC236}">
                <a16:creationId xmlns:a16="http://schemas.microsoft.com/office/drawing/2014/main" id="{63D65BC8-2B5B-82E5-1E5E-BBF40F15E039}"/>
              </a:ext>
            </a:extLst>
          </p:cNvPr>
          <p:cNvSpPr txBox="1"/>
          <p:nvPr/>
        </p:nvSpPr>
        <p:spPr>
          <a:xfrm>
            <a:off x="449466" y="1101021"/>
            <a:ext cx="8298998" cy="369332"/>
          </a:xfrm>
          <a:prstGeom prst="rect">
            <a:avLst/>
          </a:prstGeom>
          <a:noFill/>
        </p:spPr>
        <p:txBody>
          <a:bodyPr wrap="square">
            <a:spAutoFit/>
          </a:bodyPr>
          <a:lstStyle/>
          <a:p>
            <a:r>
              <a:rPr lang="en-US" altLang="zh-CN" dirty="0"/>
              <a:t>C</a:t>
            </a:r>
            <a:r>
              <a:rPr lang="zh-CN" altLang="en-US" dirty="0"/>
              <a:t>）连网方式。通过网络和其他控制器进行扩展。</a:t>
            </a:r>
          </a:p>
        </p:txBody>
      </p:sp>
      <p:sp>
        <p:nvSpPr>
          <p:cNvPr id="9" name="文本框 8">
            <a:extLst>
              <a:ext uri="{FF2B5EF4-FFF2-40B4-BE49-F238E27FC236}">
                <a16:creationId xmlns:a16="http://schemas.microsoft.com/office/drawing/2014/main" id="{E7C6B84E-FD13-4873-ACB9-C7A18702078D}"/>
              </a:ext>
            </a:extLst>
          </p:cNvPr>
          <p:cNvSpPr txBox="1"/>
          <p:nvPr/>
        </p:nvSpPr>
        <p:spPr>
          <a:xfrm>
            <a:off x="251520" y="6559055"/>
            <a:ext cx="8136904" cy="276999"/>
          </a:xfrm>
          <a:prstGeom prst="rect">
            <a:avLst/>
          </a:prstGeom>
          <a:noFill/>
        </p:spPr>
        <p:txBody>
          <a:bodyPr wrap="square">
            <a:spAutoFit/>
          </a:bodyPr>
          <a:lstStyle/>
          <a:p>
            <a:r>
              <a:rPr lang="en-US" altLang="zh-CN" sz="1200" dirty="0"/>
              <a:t>https://blog.csdn.net/ba_wang_mao/article/details/118391339</a:t>
            </a:r>
            <a:endParaRPr lang="zh-CN" altLang="en-US" sz="1200" dirty="0"/>
          </a:p>
        </p:txBody>
      </p:sp>
      <p:pic>
        <p:nvPicPr>
          <p:cNvPr id="7" name="图片 6">
            <a:extLst>
              <a:ext uri="{FF2B5EF4-FFF2-40B4-BE49-F238E27FC236}">
                <a16:creationId xmlns:a16="http://schemas.microsoft.com/office/drawing/2014/main" id="{109975CF-2DBA-92B6-B52D-EFF78E96CBF9}"/>
              </a:ext>
            </a:extLst>
          </p:cNvPr>
          <p:cNvPicPr>
            <a:picLocks noChangeAspect="1"/>
          </p:cNvPicPr>
          <p:nvPr/>
        </p:nvPicPr>
        <p:blipFill>
          <a:blip r:embed="rId2"/>
          <a:stretch>
            <a:fillRect/>
          </a:stretch>
        </p:blipFill>
        <p:spPr>
          <a:xfrm>
            <a:off x="424539" y="1801652"/>
            <a:ext cx="2915347" cy="1300545"/>
          </a:xfrm>
          <a:prstGeom prst="rect">
            <a:avLst/>
          </a:prstGeom>
        </p:spPr>
      </p:pic>
      <p:pic>
        <p:nvPicPr>
          <p:cNvPr id="8" name="图片 7">
            <a:extLst>
              <a:ext uri="{FF2B5EF4-FFF2-40B4-BE49-F238E27FC236}">
                <a16:creationId xmlns:a16="http://schemas.microsoft.com/office/drawing/2014/main" id="{2FE4B9E9-0174-42BF-F95F-083C71A124EE}"/>
              </a:ext>
            </a:extLst>
          </p:cNvPr>
          <p:cNvPicPr>
            <a:picLocks noChangeAspect="1"/>
          </p:cNvPicPr>
          <p:nvPr/>
        </p:nvPicPr>
        <p:blipFill>
          <a:blip r:embed="rId3"/>
          <a:stretch>
            <a:fillRect/>
          </a:stretch>
        </p:blipFill>
        <p:spPr>
          <a:xfrm>
            <a:off x="201295" y="3470809"/>
            <a:ext cx="3361834" cy="2473474"/>
          </a:xfrm>
          <a:prstGeom prst="rect">
            <a:avLst/>
          </a:prstGeom>
        </p:spPr>
      </p:pic>
      <p:pic>
        <p:nvPicPr>
          <p:cNvPr id="2050" name="Picture 2">
            <a:extLst>
              <a:ext uri="{FF2B5EF4-FFF2-40B4-BE49-F238E27FC236}">
                <a16:creationId xmlns:a16="http://schemas.microsoft.com/office/drawing/2014/main" id="{9E0C415D-9EF7-976C-E15C-03EA41049D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6818" y="1628800"/>
            <a:ext cx="5050910" cy="324889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1EE97E2D-F4E0-063F-B9BE-6B1AB47979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9992" y="5229200"/>
            <a:ext cx="4344541" cy="1418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3320434"/>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3F916C07-7793-5906-A824-5FA779FA86E2}"/>
              </a:ext>
            </a:extLst>
          </p:cNvPr>
          <p:cNvSpPr>
            <a:spLocks noGrp="1" noChangeArrowheads="1"/>
          </p:cNvSpPr>
          <p:nvPr>
            <p:ph type="title"/>
          </p:nvPr>
        </p:nvSpPr>
        <p:spPr>
          <a:noFill/>
        </p:spPr>
        <p:txBody>
          <a:bodyPr/>
          <a:lstStyle/>
          <a:p>
            <a:pPr eaLnBrk="1" hangingPunct="1"/>
            <a:r>
              <a:rPr lang="zh-CN" altLang="en-US" sz="4400"/>
              <a:t>课堂作业</a:t>
            </a:r>
          </a:p>
        </p:txBody>
      </p:sp>
      <p:sp>
        <p:nvSpPr>
          <p:cNvPr id="125955" name="Text Box 3">
            <a:extLst>
              <a:ext uri="{FF2B5EF4-FFF2-40B4-BE49-F238E27FC236}">
                <a16:creationId xmlns:a16="http://schemas.microsoft.com/office/drawing/2014/main" id="{00D834B6-0745-B00C-6AE0-8539AD66B0DA}"/>
              </a:ext>
            </a:extLst>
          </p:cNvPr>
          <p:cNvSpPr txBox="1">
            <a:spLocks noChangeArrowheads="1"/>
          </p:cNvSpPr>
          <p:nvPr/>
        </p:nvSpPr>
        <p:spPr bwMode="auto">
          <a:xfrm>
            <a:off x="4876800" y="0"/>
            <a:ext cx="426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3.6  硬件组态</a:t>
            </a:r>
            <a:endParaRPr lang="zh-CN" altLang="en-US" sz="1800">
              <a:solidFill>
                <a:schemeClr val="bg1"/>
              </a:solidFill>
            </a:endParaRPr>
          </a:p>
        </p:txBody>
      </p:sp>
      <p:sp>
        <p:nvSpPr>
          <p:cNvPr id="125956" name="文本框 2">
            <a:extLst>
              <a:ext uri="{FF2B5EF4-FFF2-40B4-BE49-F238E27FC236}">
                <a16:creationId xmlns:a16="http://schemas.microsoft.com/office/drawing/2014/main" id="{79E2DD61-2997-6DD5-EC9B-C3F6EFBF2442}"/>
              </a:ext>
            </a:extLst>
          </p:cNvPr>
          <p:cNvSpPr txBox="1">
            <a:spLocks noChangeArrowheads="1"/>
          </p:cNvSpPr>
          <p:nvPr/>
        </p:nvSpPr>
        <p:spPr bwMode="auto">
          <a:xfrm>
            <a:off x="381000" y="1371600"/>
            <a:ext cx="8534400"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dirty="0"/>
              <a:t>1</a:t>
            </a:r>
            <a:r>
              <a:rPr lang="zh-CN" altLang="en-US" dirty="0"/>
              <a:t>、如果开发一个集散控制系统，有</a:t>
            </a:r>
            <a:r>
              <a:rPr lang="en-US" altLang="zh-CN" dirty="0"/>
              <a:t>100</a:t>
            </a:r>
            <a:r>
              <a:rPr lang="zh-CN" altLang="en-US" dirty="0"/>
              <a:t>个模拟测量值，</a:t>
            </a:r>
            <a:r>
              <a:rPr lang="en-US" altLang="zh-CN" dirty="0"/>
              <a:t>500</a:t>
            </a:r>
            <a:r>
              <a:rPr lang="zh-CN" altLang="en-US" dirty="0"/>
              <a:t>个数字测量值，如何选择</a:t>
            </a:r>
            <a:r>
              <a:rPr lang="en-US" altLang="zh-CN" dirty="0"/>
              <a:t>PCS7</a:t>
            </a:r>
            <a:r>
              <a:rPr lang="zh-CN" altLang="en-US" dirty="0"/>
              <a:t>系统的</a:t>
            </a:r>
            <a:r>
              <a:rPr lang="en-US" altLang="zh-CN" dirty="0"/>
              <a:t>CPU</a:t>
            </a:r>
            <a:r>
              <a:rPr lang="zh-CN" altLang="en-US" dirty="0"/>
              <a:t>单元？</a:t>
            </a:r>
            <a:endParaRPr lang="en-US" altLang="zh-CN" dirty="0"/>
          </a:p>
          <a:p>
            <a:pPr eaLnBrk="1" hangingPunct="1">
              <a:spcBef>
                <a:spcPct val="0"/>
              </a:spcBef>
            </a:pPr>
            <a:endParaRPr lang="en-US" altLang="zh-CN" dirty="0"/>
          </a:p>
          <a:p>
            <a:pPr eaLnBrk="1" hangingPunct="1">
              <a:spcBef>
                <a:spcPct val="0"/>
              </a:spcBef>
            </a:pPr>
            <a:r>
              <a:rPr lang="en-US" altLang="zh-CN" dirty="0"/>
              <a:t>2</a:t>
            </a:r>
            <a:r>
              <a:rPr lang="zh-CN" altLang="en-US" dirty="0"/>
              <a:t>、在故障安全系统设计中，急停按钮的冗余表决方案应该如何选择比较好？</a:t>
            </a:r>
            <a:endParaRPr lang="en-US" altLang="zh-CN" dirty="0"/>
          </a:p>
          <a:p>
            <a:pPr eaLnBrk="1" hangingPunct="1">
              <a:spcBef>
                <a:spcPct val="0"/>
              </a:spcBef>
            </a:pPr>
            <a:endParaRPr lang="en-US" altLang="zh-CN" dirty="0"/>
          </a:p>
          <a:p>
            <a:pPr eaLnBrk="1" hangingPunct="1">
              <a:spcBef>
                <a:spcPct val="0"/>
              </a:spcBef>
            </a:pPr>
            <a:r>
              <a:rPr lang="en-US" altLang="zh-CN" dirty="0"/>
              <a:t>3</a:t>
            </a:r>
            <a:r>
              <a:rPr lang="zh-CN" altLang="en-US" dirty="0"/>
              <a:t>、 </a:t>
            </a:r>
            <a:r>
              <a:rPr lang="en-US" altLang="zh-CN" dirty="0"/>
              <a:t>PLC</a:t>
            </a:r>
            <a:r>
              <a:rPr lang="zh-CN" altLang="en-US" dirty="0"/>
              <a:t>的扩展构成方式有哪些，分别有什么特点？</a:t>
            </a:r>
            <a:endParaRPr lang="en-US" altLang="zh-CN" dirty="0"/>
          </a:p>
          <a:p>
            <a:pPr eaLnBrk="1" hangingPunct="1">
              <a:spcBef>
                <a:spcPct val="0"/>
              </a:spcBef>
            </a:pPr>
            <a:endParaRPr lang="en-US" altLang="zh-CN" dirty="0"/>
          </a:p>
          <a:p>
            <a:pPr eaLnBrk="1" hangingPunct="1">
              <a:spcBef>
                <a:spcPct val="0"/>
              </a:spcBef>
            </a:pPr>
            <a:r>
              <a:rPr lang="en-US" altLang="zh-CN" dirty="0"/>
              <a:t>4</a:t>
            </a:r>
            <a:r>
              <a:rPr lang="zh-CN" altLang="en-US" dirty="0"/>
              <a:t>、</a:t>
            </a:r>
            <a:r>
              <a:rPr lang="en-US" altLang="zh-CN" dirty="0"/>
              <a:t>DCS</a:t>
            </a:r>
            <a:r>
              <a:rPr lang="zh-CN" altLang="en-US" dirty="0"/>
              <a:t>的逻辑输入信号有哪些隔离方式？</a:t>
            </a:r>
            <a:endParaRPr lang="en-US" altLang="zh-CN" dirty="0"/>
          </a:p>
          <a:p>
            <a:pPr eaLnBrk="1" hangingPunct="1">
              <a:spcBef>
                <a:spcPct val="0"/>
              </a:spcBef>
            </a:pPr>
            <a:endParaRPr lang="en-US" altLang="zh-CN" dirty="0"/>
          </a:p>
          <a:p>
            <a:pPr eaLnBrk="1" hangingPunct="1">
              <a:spcBef>
                <a:spcPct val="0"/>
              </a:spcBef>
            </a:pPr>
            <a:endParaRPr lang="en-US" altLang="zh-CN" dirty="0"/>
          </a:p>
          <a:p>
            <a:pPr eaLnBrk="1" hangingPunct="1">
              <a:spcBef>
                <a:spcPct val="0"/>
              </a:spcBef>
            </a:pPr>
            <a:endParaRPr lang="zh-CN" altLang="en-US" dirty="0"/>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3F916C07-7793-5906-A824-5FA779FA86E2}"/>
              </a:ext>
            </a:extLst>
          </p:cNvPr>
          <p:cNvSpPr>
            <a:spLocks noGrp="1" noChangeArrowheads="1"/>
          </p:cNvSpPr>
          <p:nvPr>
            <p:ph type="title"/>
          </p:nvPr>
        </p:nvSpPr>
        <p:spPr>
          <a:noFill/>
        </p:spPr>
        <p:txBody>
          <a:bodyPr/>
          <a:lstStyle/>
          <a:p>
            <a:pPr eaLnBrk="1" hangingPunct="1"/>
            <a:r>
              <a:rPr lang="zh-CN" altLang="en-US" sz="4400" dirty="0"/>
              <a:t>课堂作业</a:t>
            </a:r>
            <a:r>
              <a:rPr lang="en-US" altLang="zh-CN" sz="4400" dirty="0"/>
              <a:t>-</a:t>
            </a:r>
            <a:r>
              <a:rPr lang="zh-CN" altLang="en-US" sz="4400" dirty="0"/>
              <a:t>答案</a:t>
            </a:r>
          </a:p>
        </p:txBody>
      </p:sp>
      <p:sp>
        <p:nvSpPr>
          <p:cNvPr id="125955" name="Text Box 3">
            <a:extLst>
              <a:ext uri="{FF2B5EF4-FFF2-40B4-BE49-F238E27FC236}">
                <a16:creationId xmlns:a16="http://schemas.microsoft.com/office/drawing/2014/main" id="{00D834B6-0745-B00C-6AE0-8539AD66B0DA}"/>
              </a:ext>
            </a:extLst>
          </p:cNvPr>
          <p:cNvSpPr txBox="1">
            <a:spLocks noChangeArrowheads="1"/>
          </p:cNvSpPr>
          <p:nvPr/>
        </p:nvSpPr>
        <p:spPr bwMode="auto">
          <a:xfrm>
            <a:off x="4876800" y="0"/>
            <a:ext cx="426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3.6  硬件组态</a:t>
            </a:r>
            <a:endParaRPr lang="zh-CN" altLang="en-US" sz="1800">
              <a:solidFill>
                <a:schemeClr val="bg1"/>
              </a:solidFill>
            </a:endParaRPr>
          </a:p>
        </p:txBody>
      </p:sp>
      <p:sp>
        <p:nvSpPr>
          <p:cNvPr id="125956" name="文本框 2">
            <a:extLst>
              <a:ext uri="{FF2B5EF4-FFF2-40B4-BE49-F238E27FC236}">
                <a16:creationId xmlns:a16="http://schemas.microsoft.com/office/drawing/2014/main" id="{79E2DD61-2997-6DD5-EC9B-C3F6EFBF2442}"/>
              </a:ext>
            </a:extLst>
          </p:cNvPr>
          <p:cNvSpPr txBox="1">
            <a:spLocks noChangeArrowheads="1"/>
          </p:cNvSpPr>
          <p:nvPr/>
        </p:nvSpPr>
        <p:spPr bwMode="auto">
          <a:xfrm>
            <a:off x="381000" y="1371600"/>
            <a:ext cx="8534400"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dirty="0"/>
              <a:t>1</a:t>
            </a:r>
            <a:r>
              <a:rPr lang="zh-CN" altLang="en-US" dirty="0"/>
              <a:t>、如果开发一个集散控制系统，有</a:t>
            </a:r>
            <a:r>
              <a:rPr lang="en-US" altLang="zh-CN" dirty="0"/>
              <a:t>100</a:t>
            </a:r>
            <a:r>
              <a:rPr lang="zh-CN" altLang="en-US" dirty="0"/>
              <a:t>个模拟测量值，</a:t>
            </a:r>
            <a:r>
              <a:rPr lang="en-US" altLang="zh-CN" dirty="0"/>
              <a:t>500</a:t>
            </a:r>
            <a:r>
              <a:rPr lang="zh-CN" altLang="en-US" dirty="0"/>
              <a:t>个数字测量值，如何选择</a:t>
            </a:r>
            <a:r>
              <a:rPr lang="en-US" altLang="zh-CN" dirty="0"/>
              <a:t>PCS7</a:t>
            </a:r>
            <a:r>
              <a:rPr lang="zh-CN" altLang="en-US" dirty="0"/>
              <a:t>系统的</a:t>
            </a:r>
            <a:r>
              <a:rPr lang="en-US" altLang="zh-CN" dirty="0"/>
              <a:t>CPU</a:t>
            </a:r>
            <a:r>
              <a:rPr lang="zh-CN" altLang="en-US" dirty="0"/>
              <a:t>单元？</a:t>
            </a:r>
            <a:endParaRPr lang="en-US" altLang="zh-CN" dirty="0"/>
          </a:p>
          <a:p>
            <a:pPr eaLnBrk="1" hangingPunct="1">
              <a:spcBef>
                <a:spcPct val="0"/>
              </a:spcBef>
            </a:pPr>
            <a:r>
              <a:rPr lang="en-US" altLang="zh-CN" dirty="0"/>
              <a:t>         AS 416-2</a:t>
            </a:r>
          </a:p>
          <a:p>
            <a:pPr eaLnBrk="1" hangingPunct="1">
              <a:spcBef>
                <a:spcPct val="0"/>
              </a:spcBef>
            </a:pPr>
            <a:r>
              <a:rPr lang="en-US" altLang="zh-CN" dirty="0"/>
              <a:t>2</a:t>
            </a:r>
            <a:r>
              <a:rPr lang="zh-CN" altLang="en-US" dirty="0"/>
              <a:t>、在故障安全系统设计中，急停按钮的冗余表决方案应该如何选择比较好？</a:t>
            </a:r>
            <a:endParaRPr lang="en-US" altLang="zh-CN" dirty="0"/>
          </a:p>
          <a:p>
            <a:pPr eaLnBrk="1" hangingPunct="1">
              <a:spcBef>
                <a:spcPct val="0"/>
              </a:spcBef>
            </a:pPr>
            <a:r>
              <a:rPr lang="en-US" altLang="zh-CN" dirty="0"/>
              <a:t>          </a:t>
            </a:r>
            <a:r>
              <a:rPr lang="zh-CN" altLang="en-US" dirty="0"/>
              <a:t>常闭，</a:t>
            </a:r>
            <a:r>
              <a:rPr lang="en-US" altLang="zh-CN" dirty="0"/>
              <a:t>1oo2</a:t>
            </a:r>
          </a:p>
          <a:p>
            <a:pPr eaLnBrk="1" hangingPunct="1">
              <a:spcBef>
                <a:spcPct val="0"/>
              </a:spcBef>
            </a:pPr>
            <a:r>
              <a:rPr lang="en-US" altLang="zh-CN" dirty="0"/>
              <a:t>3</a:t>
            </a:r>
            <a:r>
              <a:rPr lang="zh-CN" altLang="en-US" dirty="0"/>
              <a:t>、 </a:t>
            </a:r>
            <a:r>
              <a:rPr lang="en-US" altLang="zh-CN" dirty="0"/>
              <a:t>PLC</a:t>
            </a:r>
            <a:r>
              <a:rPr lang="zh-CN" altLang="en-US" dirty="0"/>
              <a:t>的扩展构成方式有哪些，分别有什么特点？</a:t>
            </a:r>
            <a:endParaRPr lang="en-US" altLang="zh-CN" dirty="0"/>
          </a:p>
          <a:p>
            <a:pPr eaLnBrk="1" hangingPunct="1">
              <a:spcBef>
                <a:spcPct val="0"/>
              </a:spcBef>
            </a:pPr>
            <a:r>
              <a:rPr lang="zh-CN" altLang="en-US" dirty="0"/>
              <a:t>     近程扩展；远程扩展；连网</a:t>
            </a:r>
            <a:endParaRPr lang="en-US" altLang="zh-CN" dirty="0"/>
          </a:p>
          <a:p>
            <a:pPr eaLnBrk="1" hangingPunct="1">
              <a:spcBef>
                <a:spcPct val="0"/>
              </a:spcBef>
            </a:pPr>
            <a:r>
              <a:rPr lang="en-US" altLang="zh-CN" dirty="0"/>
              <a:t>4</a:t>
            </a:r>
            <a:r>
              <a:rPr lang="zh-CN" altLang="en-US" dirty="0"/>
              <a:t>、</a:t>
            </a:r>
            <a:r>
              <a:rPr lang="en-US" altLang="zh-CN" dirty="0"/>
              <a:t>DCS</a:t>
            </a:r>
            <a:r>
              <a:rPr lang="zh-CN" altLang="en-US" dirty="0"/>
              <a:t>的逻辑输入信号有哪些隔离方式？</a:t>
            </a:r>
            <a:endParaRPr lang="en-US" altLang="zh-CN" dirty="0"/>
          </a:p>
          <a:p>
            <a:pPr eaLnBrk="1" hangingPunct="1">
              <a:spcBef>
                <a:spcPct val="0"/>
              </a:spcBef>
            </a:pPr>
            <a:r>
              <a:rPr lang="en-US" altLang="zh-CN" dirty="0"/>
              <a:t>     </a:t>
            </a:r>
            <a:r>
              <a:rPr lang="zh-CN" altLang="en-US" dirty="0"/>
              <a:t>光电隔离、变压器隔离、继电器隔离</a:t>
            </a:r>
            <a:endParaRPr lang="en-US" altLang="zh-CN" dirty="0"/>
          </a:p>
          <a:p>
            <a:pPr eaLnBrk="1" hangingPunct="1">
              <a:spcBef>
                <a:spcPct val="0"/>
              </a:spcBef>
            </a:pPr>
            <a:endParaRPr lang="zh-CN" altLang="en-US" dirty="0"/>
          </a:p>
        </p:txBody>
      </p:sp>
    </p:spTree>
    <p:extLst>
      <p:ext uri="{BB962C8B-B14F-4D97-AF65-F5344CB8AC3E}">
        <p14:creationId xmlns:p14="http://schemas.microsoft.com/office/powerpoint/2010/main" val="48695664"/>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18FE828-E696-5751-1B46-96AB078D88DF}"/>
              </a:ext>
            </a:extLst>
          </p:cNvPr>
          <p:cNvSpPr>
            <a:spLocks noGrp="1" noChangeArrowheads="1"/>
          </p:cNvSpPr>
          <p:nvPr>
            <p:ph type="title"/>
          </p:nvPr>
        </p:nvSpPr>
        <p:spPr/>
        <p:txBody>
          <a:bodyPr/>
          <a:lstStyle/>
          <a:p>
            <a:pPr eaLnBrk="1" hangingPunct="1"/>
            <a:r>
              <a:rPr lang="en-US" altLang="zh-CN" sz="3600" dirty="0"/>
              <a:t>3</a:t>
            </a:r>
            <a:r>
              <a:rPr lang="zh-CN" altLang="en-US" sz="3600" dirty="0"/>
              <a:t>、</a:t>
            </a:r>
            <a:r>
              <a:rPr lang="en-US" altLang="zh-CN" sz="3600" dirty="0"/>
              <a:t>DCS</a:t>
            </a:r>
            <a:r>
              <a:rPr lang="zh-CN" altLang="en-US" sz="3600" dirty="0"/>
              <a:t>软件</a:t>
            </a:r>
          </a:p>
        </p:txBody>
      </p:sp>
      <p:sp>
        <p:nvSpPr>
          <p:cNvPr id="2" name="Rectangle 3">
            <a:extLst>
              <a:ext uri="{FF2B5EF4-FFF2-40B4-BE49-F238E27FC236}">
                <a16:creationId xmlns:a16="http://schemas.microsoft.com/office/drawing/2014/main" id="{D140556C-05BE-254D-F0F3-8BAC4B0CC082}"/>
              </a:ext>
            </a:extLst>
          </p:cNvPr>
          <p:cNvSpPr>
            <a:spLocks noChangeArrowheads="1"/>
          </p:cNvSpPr>
          <p:nvPr/>
        </p:nvSpPr>
        <p:spPr bwMode="auto">
          <a:xfrm>
            <a:off x="304800" y="1556792"/>
            <a:ext cx="85344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t>        DCS </a:t>
            </a:r>
            <a:r>
              <a:rPr lang="zh-CN" altLang="en-US" dirty="0"/>
              <a:t>的硬件基本构成已如前面所述，而 </a:t>
            </a:r>
            <a:r>
              <a:rPr lang="en-US" altLang="zh-CN" dirty="0"/>
              <a:t>DCS </a:t>
            </a:r>
            <a:r>
              <a:rPr lang="zh-CN" altLang="en-US" dirty="0"/>
              <a:t>软件的基本构成也是按照硬件的划分形成的，这是由于软件是依附于硬件的，对于 </a:t>
            </a:r>
            <a:r>
              <a:rPr lang="en-US" altLang="zh-CN" dirty="0"/>
              <a:t>DCS </a:t>
            </a:r>
            <a:r>
              <a:rPr lang="zh-CN" altLang="en-US" dirty="0"/>
              <a:t>的发展也是如此。</a:t>
            </a:r>
          </a:p>
          <a:p>
            <a:pPr eaLnBrk="1" hangingPunct="1">
              <a:spcBef>
                <a:spcPct val="50000"/>
              </a:spcBef>
            </a:pPr>
            <a:r>
              <a:rPr lang="zh-CN" altLang="en-US" dirty="0"/>
              <a:t>        本章将对 </a:t>
            </a:r>
            <a:r>
              <a:rPr lang="en-US" altLang="zh-CN" dirty="0"/>
              <a:t>DCS </a:t>
            </a:r>
            <a:r>
              <a:rPr lang="zh-CN" altLang="en-US" dirty="0"/>
              <a:t>的软件系统进行详细的介绍。当 </a:t>
            </a:r>
            <a:r>
              <a:rPr lang="en-US" altLang="zh-CN" dirty="0"/>
              <a:t>DDC</a:t>
            </a:r>
            <a:r>
              <a:rPr lang="zh-CN" altLang="en-US" dirty="0"/>
              <a:t>系统的数字处理技术与单元式组合仪表的分散化控制、集中化监视的体系结构相结合产生 </a:t>
            </a:r>
            <a:r>
              <a:rPr lang="en-US" altLang="zh-CN" dirty="0"/>
              <a:t>DCS </a:t>
            </a:r>
            <a:r>
              <a:rPr lang="zh-CN" altLang="en-US" dirty="0"/>
              <a:t>时，软件就跟随硬件被分成</a:t>
            </a:r>
            <a:r>
              <a:rPr lang="zh-CN" altLang="en-US" dirty="0">
                <a:solidFill>
                  <a:srgbClr val="FF0000"/>
                </a:solidFill>
              </a:rPr>
              <a:t>控制层软件</a:t>
            </a:r>
            <a:r>
              <a:rPr lang="zh-CN" altLang="en-US" dirty="0"/>
              <a:t>、</a:t>
            </a:r>
            <a:r>
              <a:rPr lang="zh-CN" altLang="en-US" dirty="0">
                <a:solidFill>
                  <a:srgbClr val="FF0000"/>
                </a:solidFill>
              </a:rPr>
              <a:t>监控软件</a:t>
            </a:r>
            <a:r>
              <a:rPr lang="zh-CN" altLang="en-US" dirty="0"/>
              <a:t>和</a:t>
            </a:r>
            <a:r>
              <a:rPr lang="zh-CN" altLang="en-US" dirty="0">
                <a:solidFill>
                  <a:srgbClr val="FF0000"/>
                </a:solidFill>
              </a:rPr>
              <a:t>组态软件</a:t>
            </a:r>
            <a:r>
              <a:rPr lang="zh-CN" altLang="en-US" dirty="0"/>
              <a:t>，同时，还有运行于各个站的网络软件，作为各个站上功能软件之间的桥梁。</a:t>
            </a: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5BDBD0A3-2639-4316-B71F-AF9D9753897B}"/>
              </a:ext>
            </a:extLst>
          </p:cNvPr>
          <p:cNvSpPr>
            <a:spLocks noChangeArrowheads="1"/>
          </p:cNvSpPr>
          <p:nvPr/>
        </p:nvSpPr>
        <p:spPr bwMode="auto">
          <a:xfrm>
            <a:off x="395536" y="764704"/>
            <a:ext cx="85344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t>       </a:t>
            </a:r>
            <a:r>
              <a:rPr lang="zh-CN" altLang="en-US" dirty="0"/>
              <a:t>在软件功能方面，</a:t>
            </a:r>
            <a:r>
              <a:rPr lang="zh-CN" altLang="en-US" dirty="0">
                <a:solidFill>
                  <a:srgbClr val="FF0000"/>
                </a:solidFill>
              </a:rPr>
              <a:t>控制层软件</a:t>
            </a:r>
            <a:r>
              <a:rPr lang="zh-CN" altLang="en-US" dirty="0"/>
              <a:t>是运行在现场控制站上的软件，主要完成各种控制功能，包括 </a:t>
            </a:r>
            <a:r>
              <a:rPr lang="en-US" altLang="zh-CN" dirty="0"/>
              <a:t>PID </a:t>
            </a:r>
            <a:r>
              <a:rPr lang="zh-CN" altLang="en-US" dirty="0"/>
              <a:t>回路控制、逻辑控制、顺序控制，以及这些控制所必须针对现场设备连接的</a:t>
            </a:r>
            <a:r>
              <a:rPr lang="en-US" altLang="zh-CN" dirty="0"/>
              <a:t>I/O</a:t>
            </a:r>
            <a:r>
              <a:rPr lang="zh-CN" altLang="en-US" dirty="0"/>
              <a:t>处理；</a:t>
            </a:r>
          </a:p>
          <a:p>
            <a:pPr eaLnBrk="1" hangingPunct="1">
              <a:spcBef>
                <a:spcPct val="50000"/>
              </a:spcBef>
            </a:pPr>
            <a:r>
              <a:rPr lang="zh-CN" altLang="en-US" dirty="0"/>
              <a:t>       </a:t>
            </a:r>
            <a:r>
              <a:rPr lang="zh-CN" altLang="en-US" dirty="0">
                <a:solidFill>
                  <a:srgbClr val="FF0000"/>
                </a:solidFill>
              </a:rPr>
              <a:t>监控软件</a:t>
            </a:r>
            <a:r>
              <a:rPr lang="zh-CN" altLang="en-US" dirty="0"/>
              <a:t>是运行于操作员站或工程师站上的软件，主要完成运行操作人员所发出的各个命令的执行、图形与画面的显示、报警信息的显示处理、对现场各类检测数据的集中处理等；</a:t>
            </a:r>
          </a:p>
          <a:p>
            <a:pPr eaLnBrk="1" hangingPunct="1">
              <a:spcBef>
                <a:spcPct val="50000"/>
              </a:spcBef>
            </a:pPr>
            <a:r>
              <a:rPr lang="zh-CN" altLang="en-US" dirty="0"/>
              <a:t>       </a:t>
            </a:r>
            <a:r>
              <a:rPr lang="zh-CN" altLang="en-US" dirty="0">
                <a:solidFill>
                  <a:srgbClr val="FF0000"/>
                </a:solidFill>
              </a:rPr>
              <a:t>组态软件</a:t>
            </a:r>
            <a:r>
              <a:rPr lang="zh-CN" altLang="en-US" dirty="0"/>
              <a:t>则主要完成系统的控制层软件和监控软件的组态功能，安装在工程师站中。</a:t>
            </a:r>
          </a:p>
        </p:txBody>
      </p:sp>
      <p:sp>
        <p:nvSpPr>
          <p:cNvPr id="7171" name="Text Box 3">
            <a:extLst>
              <a:ext uri="{FF2B5EF4-FFF2-40B4-BE49-F238E27FC236}">
                <a16:creationId xmlns:a16="http://schemas.microsoft.com/office/drawing/2014/main" id="{33293985-2E5B-EC89-9FFC-127D8B500457}"/>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4.1</a:t>
            </a:r>
            <a:r>
              <a:rPr lang="en-US" altLang="zh-CN" sz="1800">
                <a:solidFill>
                  <a:schemeClr val="bg1"/>
                </a:solidFill>
              </a:rPr>
              <a:t> </a:t>
            </a:r>
            <a:r>
              <a:rPr lang="en-US" altLang="en-US" sz="1800">
                <a:solidFill>
                  <a:schemeClr val="bg1"/>
                </a:solidFill>
              </a:rPr>
              <a:t>DCS 软件系统概述</a:t>
            </a:r>
            <a:endParaRPr lang="zh-CN" altLang="en-US" sz="1800">
              <a:solidFill>
                <a:schemeClr val="bg1"/>
              </a:solidFill>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2">
            <a:extLst>
              <a:ext uri="{FF2B5EF4-FFF2-40B4-BE49-F238E27FC236}">
                <a16:creationId xmlns:a16="http://schemas.microsoft.com/office/drawing/2014/main" id="{D058C351-0797-0567-8BF3-2F5F235C9EDF}"/>
              </a:ext>
            </a:extLst>
          </p:cNvPr>
          <p:cNvSpPr>
            <a:spLocks noGrp="1" noChangeArrowheads="1"/>
          </p:cNvSpPr>
          <p:nvPr>
            <p:ph type="title"/>
          </p:nvPr>
        </p:nvSpPr>
        <p:spPr/>
        <p:txBody>
          <a:bodyPr/>
          <a:lstStyle/>
          <a:p>
            <a:r>
              <a:rPr lang="en-US" altLang="zh-CN" dirty="0"/>
              <a:t>DCS</a:t>
            </a:r>
            <a:r>
              <a:rPr lang="zh-CN" altLang="en-US" dirty="0"/>
              <a:t>控制层软件</a:t>
            </a:r>
            <a:endParaRPr lang="en-US" altLang="zh-CN" dirty="0"/>
          </a:p>
        </p:txBody>
      </p:sp>
      <p:sp>
        <p:nvSpPr>
          <p:cNvPr id="20486" name="Rectangle 3">
            <a:extLst>
              <a:ext uri="{FF2B5EF4-FFF2-40B4-BE49-F238E27FC236}">
                <a16:creationId xmlns:a16="http://schemas.microsoft.com/office/drawing/2014/main" id="{760E056C-4007-DCDE-6E20-EED988CD7DB7}"/>
              </a:ext>
            </a:extLst>
          </p:cNvPr>
          <p:cNvSpPr>
            <a:spLocks noGrp="1" noChangeArrowheads="1"/>
          </p:cNvSpPr>
          <p:nvPr>
            <p:ph type="body" idx="1"/>
          </p:nvPr>
        </p:nvSpPr>
        <p:spPr>
          <a:xfrm>
            <a:off x="457925" y="1485900"/>
            <a:ext cx="8291264" cy="3886200"/>
          </a:xfrm>
        </p:spPr>
        <p:txBody>
          <a:bodyPr/>
          <a:lstStyle/>
          <a:p>
            <a:r>
              <a:rPr lang="en-US" altLang="zh-CN" dirty="0">
                <a:solidFill>
                  <a:srgbClr val="0000FF"/>
                </a:solidFill>
              </a:rPr>
              <a:t>CPU</a:t>
            </a:r>
            <a:r>
              <a:rPr lang="zh-CN" altLang="en-US" dirty="0">
                <a:solidFill>
                  <a:srgbClr val="0000FF"/>
                </a:solidFill>
              </a:rPr>
              <a:t>： </a:t>
            </a:r>
            <a:r>
              <a:rPr lang="zh-CN" altLang="en-US" dirty="0"/>
              <a:t>中央处理器；</a:t>
            </a:r>
          </a:p>
          <a:p>
            <a:r>
              <a:rPr lang="zh-CN" altLang="en-US" dirty="0">
                <a:solidFill>
                  <a:srgbClr val="0000FF"/>
                </a:solidFill>
              </a:rPr>
              <a:t>程序存储区：</a:t>
            </a:r>
            <a:r>
              <a:rPr lang="zh-CN" altLang="en-US" dirty="0"/>
              <a:t>存放主程序；</a:t>
            </a:r>
          </a:p>
          <a:p>
            <a:r>
              <a:rPr lang="zh-CN" altLang="en-US" dirty="0">
                <a:solidFill>
                  <a:srgbClr val="0000FF"/>
                </a:solidFill>
              </a:rPr>
              <a:t>数据存储区：</a:t>
            </a:r>
            <a:r>
              <a:rPr lang="zh-CN" altLang="en-US" dirty="0"/>
              <a:t>存放执行过程中使用的数据；</a:t>
            </a:r>
          </a:p>
          <a:p>
            <a:r>
              <a:rPr lang="zh-CN" altLang="en-US" dirty="0">
                <a:solidFill>
                  <a:srgbClr val="0000FF"/>
                </a:solidFill>
              </a:rPr>
              <a:t>输入通道：</a:t>
            </a:r>
            <a:r>
              <a:rPr lang="zh-CN" altLang="en-US" dirty="0"/>
              <a:t>从现场仪表获取过程信号；</a:t>
            </a:r>
          </a:p>
          <a:p>
            <a:r>
              <a:rPr lang="zh-CN" altLang="en-US" dirty="0">
                <a:solidFill>
                  <a:srgbClr val="0000FF"/>
                </a:solidFill>
              </a:rPr>
              <a:t>输出通道：</a:t>
            </a:r>
            <a:r>
              <a:rPr lang="zh-CN" altLang="en-US" dirty="0"/>
              <a:t>运算结果输出到执行器；</a:t>
            </a:r>
          </a:p>
          <a:p>
            <a:r>
              <a:rPr lang="en-US" altLang="zh-CN" dirty="0">
                <a:solidFill>
                  <a:srgbClr val="0000FF"/>
                </a:solidFill>
              </a:rPr>
              <a:t>I/O</a:t>
            </a:r>
            <a:r>
              <a:rPr lang="zh-CN" altLang="en-US" dirty="0">
                <a:solidFill>
                  <a:srgbClr val="0000FF"/>
                </a:solidFill>
              </a:rPr>
              <a:t>扩展端口：</a:t>
            </a:r>
            <a:r>
              <a:rPr lang="zh-CN" altLang="en-US" dirty="0"/>
              <a:t>连接更多</a:t>
            </a:r>
            <a:r>
              <a:rPr lang="en-US" altLang="zh-CN" dirty="0"/>
              <a:t>I/O</a:t>
            </a:r>
            <a:r>
              <a:rPr lang="zh-CN" altLang="en-US" dirty="0"/>
              <a:t>模块；</a:t>
            </a:r>
          </a:p>
          <a:p>
            <a:r>
              <a:rPr lang="zh-CN" altLang="en-US" dirty="0">
                <a:solidFill>
                  <a:srgbClr val="0000FF"/>
                </a:solidFill>
              </a:rPr>
              <a:t>通讯端口：</a:t>
            </a:r>
            <a:r>
              <a:rPr lang="zh-CN" altLang="en-US" dirty="0"/>
              <a:t>与上位机或其它</a:t>
            </a:r>
            <a:r>
              <a:rPr lang="en-US" altLang="zh-CN" dirty="0"/>
              <a:t>DCS</a:t>
            </a:r>
            <a:r>
              <a:rPr lang="zh-CN" altLang="en-US" dirty="0"/>
              <a:t>相连。</a:t>
            </a:r>
          </a:p>
          <a:p>
            <a:endParaRPr lang="zh-CN" altLang="en-US" dirty="0"/>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Rectangle 2">
            <a:extLst>
              <a:ext uri="{FF2B5EF4-FFF2-40B4-BE49-F238E27FC236}">
                <a16:creationId xmlns:a16="http://schemas.microsoft.com/office/drawing/2014/main" id="{1548D1F6-CD7A-60C8-8725-939EF5675CB6}"/>
              </a:ext>
            </a:extLst>
          </p:cNvPr>
          <p:cNvSpPr>
            <a:spLocks noGrp="1" noChangeArrowheads="1"/>
          </p:cNvSpPr>
          <p:nvPr>
            <p:ph type="title"/>
          </p:nvPr>
        </p:nvSpPr>
        <p:spPr/>
        <p:txBody>
          <a:bodyPr/>
          <a:lstStyle/>
          <a:p>
            <a:r>
              <a:rPr lang="en-US" altLang="zh-CN"/>
              <a:t>DCS </a:t>
            </a:r>
            <a:r>
              <a:rPr lang="zh-CN" altLang="en-US"/>
              <a:t>的工作原理图</a:t>
            </a:r>
          </a:p>
        </p:txBody>
      </p:sp>
      <p:graphicFrame>
        <p:nvGraphicFramePr>
          <p:cNvPr id="21510" name="Object 3">
            <a:extLst>
              <a:ext uri="{FF2B5EF4-FFF2-40B4-BE49-F238E27FC236}">
                <a16:creationId xmlns:a16="http://schemas.microsoft.com/office/drawing/2014/main" id="{AB613E75-5E59-BB36-BF5F-806C0E00A4DD}"/>
              </a:ext>
            </a:extLst>
          </p:cNvPr>
          <p:cNvGraphicFramePr>
            <a:graphicFrameLocks noGrp="1" noChangeAspect="1"/>
          </p:cNvGraphicFramePr>
          <p:nvPr>
            <p:ph idx="1"/>
          </p:nvPr>
        </p:nvGraphicFramePr>
        <p:xfrm>
          <a:off x="622300" y="1341438"/>
          <a:ext cx="7929563" cy="4799012"/>
        </p:xfrm>
        <a:graphic>
          <a:graphicData uri="http://schemas.openxmlformats.org/presentationml/2006/ole">
            <mc:AlternateContent xmlns:mc="http://schemas.openxmlformats.org/markup-compatibility/2006">
              <mc:Choice xmlns:v="urn:schemas-microsoft-com:vml" Requires="v">
                <p:oleObj spid="_x0000_s1027" name="Visio" r:id="rId3" imgW="7234733" imgH="4379062" progId="Visio.Drawing.11">
                  <p:embed/>
                </p:oleObj>
              </mc:Choice>
              <mc:Fallback>
                <p:oleObj name="Visio" r:id="rId3" imgW="7234733" imgH="4379062" progId="Visio.Drawing.11">
                  <p:embed/>
                  <p:pic>
                    <p:nvPicPr>
                      <p:cNvPr id="21510" name="Object 3">
                        <a:extLst>
                          <a:ext uri="{FF2B5EF4-FFF2-40B4-BE49-F238E27FC236}">
                            <a16:creationId xmlns:a16="http://schemas.microsoft.com/office/drawing/2014/main" id="{AB613E75-5E59-BB36-BF5F-806C0E00A4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300" y="1341438"/>
                        <a:ext cx="7929563" cy="4799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2">
            <a:extLst>
              <a:ext uri="{FF2B5EF4-FFF2-40B4-BE49-F238E27FC236}">
                <a16:creationId xmlns:a16="http://schemas.microsoft.com/office/drawing/2014/main" id="{964B3089-7324-8343-BF56-39D5DCA7F728}"/>
              </a:ext>
            </a:extLst>
          </p:cNvPr>
          <p:cNvSpPr>
            <a:spLocks noGrp="1" noChangeArrowheads="1"/>
          </p:cNvSpPr>
          <p:nvPr>
            <p:ph type="title"/>
          </p:nvPr>
        </p:nvSpPr>
        <p:spPr>
          <a:xfrm>
            <a:off x="539750" y="215900"/>
            <a:ext cx="7920682" cy="981075"/>
          </a:xfrm>
        </p:spPr>
        <p:txBody>
          <a:bodyPr/>
          <a:lstStyle/>
          <a:p>
            <a:r>
              <a:rPr lang="en-US" altLang="zh-CN" dirty="0"/>
              <a:t>PCS7 </a:t>
            </a:r>
            <a:r>
              <a:rPr lang="zh-CN" altLang="en-US" dirty="0"/>
              <a:t>的循环扫描工作方式</a:t>
            </a:r>
          </a:p>
        </p:txBody>
      </p:sp>
      <p:sp>
        <p:nvSpPr>
          <p:cNvPr id="22534" name="Rectangle 3">
            <a:extLst>
              <a:ext uri="{FF2B5EF4-FFF2-40B4-BE49-F238E27FC236}">
                <a16:creationId xmlns:a16="http://schemas.microsoft.com/office/drawing/2014/main" id="{D22B8157-9C8E-361D-1106-E29BC2FDBAAF}"/>
              </a:ext>
            </a:extLst>
          </p:cNvPr>
          <p:cNvSpPr>
            <a:spLocks noGrp="1" noChangeArrowheads="1"/>
          </p:cNvSpPr>
          <p:nvPr>
            <p:ph type="body" sz="half" idx="1"/>
          </p:nvPr>
        </p:nvSpPr>
        <p:spPr>
          <a:xfrm>
            <a:off x="539750" y="1196975"/>
            <a:ext cx="4608513" cy="5184775"/>
          </a:xfrm>
        </p:spPr>
        <p:txBody>
          <a:bodyPr/>
          <a:lstStyle/>
          <a:p>
            <a:pPr marL="0" indent="0"/>
            <a:r>
              <a:rPr lang="zh-CN" altLang="en-US"/>
              <a:t>各种</a:t>
            </a:r>
            <a:r>
              <a:rPr lang="en-US" altLang="zh-CN"/>
              <a:t>PCS7</a:t>
            </a:r>
            <a:r>
              <a:rPr lang="zh-CN" altLang="en-US"/>
              <a:t>均采用循环扫描工作方式：</a:t>
            </a:r>
          </a:p>
          <a:p>
            <a:pPr marL="457200" lvl="1" indent="0"/>
            <a:r>
              <a:rPr lang="en-US" altLang="zh-CN"/>
              <a:t>PCS7</a:t>
            </a:r>
            <a:r>
              <a:rPr lang="zh-CN" altLang="en-US"/>
              <a:t>上电初始化；</a:t>
            </a:r>
          </a:p>
          <a:p>
            <a:pPr marL="457200" lvl="1" indent="0"/>
            <a:r>
              <a:rPr lang="zh-CN" altLang="en-US"/>
              <a:t>主程序周期运行；</a:t>
            </a:r>
          </a:p>
          <a:p>
            <a:pPr marL="457200" lvl="1" indent="0"/>
            <a:r>
              <a:rPr lang="zh-CN" altLang="en-US"/>
              <a:t>输入输出端口周期刷新；</a:t>
            </a:r>
          </a:p>
          <a:p>
            <a:pPr marL="0" indent="0"/>
            <a:endParaRPr lang="zh-CN" altLang="en-US"/>
          </a:p>
          <a:p>
            <a:pPr marL="0" indent="0"/>
            <a:r>
              <a:rPr lang="zh-CN" altLang="en-US"/>
              <a:t>程序扫描周期与程序量有关，并受</a:t>
            </a:r>
            <a:r>
              <a:rPr lang="en-US" altLang="zh-CN"/>
              <a:t>PCS7</a:t>
            </a:r>
            <a:r>
              <a:rPr lang="zh-CN" altLang="en-US"/>
              <a:t>允许的最大扫描时间限制。</a:t>
            </a:r>
          </a:p>
        </p:txBody>
      </p:sp>
      <p:graphicFrame>
        <p:nvGraphicFramePr>
          <p:cNvPr id="22535" name="Object 4">
            <a:extLst>
              <a:ext uri="{FF2B5EF4-FFF2-40B4-BE49-F238E27FC236}">
                <a16:creationId xmlns:a16="http://schemas.microsoft.com/office/drawing/2014/main" id="{E7AC2A5D-9229-09DA-985A-EDD990613B67}"/>
              </a:ext>
            </a:extLst>
          </p:cNvPr>
          <p:cNvGraphicFramePr>
            <a:graphicFrameLocks noGrp="1" noChangeAspect="1"/>
          </p:cNvGraphicFramePr>
          <p:nvPr>
            <p:ph sz="half" idx="2"/>
          </p:nvPr>
        </p:nvGraphicFramePr>
        <p:xfrm>
          <a:off x="5867400" y="1484313"/>
          <a:ext cx="2016125" cy="4360862"/>
        </p:xfrm>
        <a:graphic>
          <a:graphicData uri="http://schemas.openxmlformats.org/presentationml/2006/ole">
            <mc:AlternateContent xmlns:mc="http://schemas.openxmlformats.org/markup-compatibility/2006">
              <mc:Choice xmlns:v="urn:schemas-microsoft-com:vml" Requires="v">
                <p:oleObj spid="_x0000_s2051" name="Visio" r:id="rId3" imgW="2014728" imgH="4357726" progId="Visio.Drawing.11">
                  <p:embed/>
                </p:oleObj>
              </mc:Choice>
              <mc:Fallback>
                <p:oleObj name="Visio" r:id="rId3" imgW="2014728" imgH="4357726" progId="Visio.Drawing.11">
                  <p:embed/>
                  <p:pic>
                    <p:nvPicPr>
                      <p:cNvPr id="22535" name="Object 4">
                        <a:extLst>
                          <a:ext uri="{FF2B5EF4-FFF2-40B4-BE49-F238E27FC236}">
                            <a16:creationId xmlns:a16="http://schemas.microsoft.com/office/drawing/2014/main" id="{E7AC2A5D-9229-09DA-985A-EDD990613B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1484313"/>
                        <a:ext cx="2016125" cy="4360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
            <a:extLst>
              <a:ext uri="{FF2B5EF4-FFF2-40B4-BE49-F238E27FC236}">
                <a16:creationId xmlns:a16="http://schemas.microsoft.com/office/drawing/2014/main" id="{30B5C381-CB36-4C6B-C05D-D328CC4D332C}"/>
              </a:ext>
            </a:extLst>
          </p:cNvPr>
          <p:cNvSpPr>
            <a:spLocks noGrp="1" noChangeArrowheads="1"/>
          </p:cNvSpPr>
          <p:nvPr>
            <p:ph type="title"/>
          </p:nvPr>
        </p:nvSpPr>
        <p:spPr/>
        <p:txBody>
          <a:bodyPr/>
          <a:lstStyle/>
          <a:p>
            <a:r>
              <a:rPr lang="zh-CN" altLang="en-US" dirty="0"/>
              <a:t>程序块结构</a:t>
            </a:r>
          </a:p>
        </p:txBody>
      </p:sp>
      <p:sp>
        <p:nvSpPr>
          <p:cNvPr id="23558" name="Rectangle 3">
            <a:extLst>
              <a:ext uri="{FF2B5EF4-FFF2-40B4-BE49-F238E27FC236}">
                <a16:creationId xmlns:a16="http://schemas.microsoft.com/office/drawing/2014/main" id="{407092DA-9E74-C2FE-89A6-895185D30464}"/>
              </a:ext>
            </a:extLst>
          </p:cNvPr>
          <p:cNvSpPr>
            <a:spLocks noGrp="1" noChangeArrowheads="1"/>
          </p:cNvSpPr>
          <p:nvPr>
            <p:ph type="body" idx="1"/>
          </p:nvPr>
        </p:nvSpPr>
        <p:spPr>
          <a:xfrm>
            <a:off x="323528" y="1412776"/>
            <a:ext cx="8229600" cy="3886200"/>
          </a:xfrm>
        </p:spPr>
        <p:txBody>
          <a:bodyPr/>
          <a:lstStyle/>
          <a:p>
            <a:r>
              <a:rPr lang="en-US" altLang="zh-CN" dirty="0"/>
              <a:t>SIEMENS S7 PLC</a:t>
            </a:r>
            <a:r>
              <a:rPr lang="zh-CN" altLang="en-US" dirty="0"/>
              <a:t>的程序由不同的程序块构成：</a:t>
            </a:r>
          </a:p>
          <a:p>
            <a:pPr lvl="1"/>
            <a:r>
              <a:rPr lang="en-US" altLang="zh-CN" dirty="0"/>
              <a:t>OB</a:t>
            </a:r>
            <a:r>
              <a:rPr lang="zh-CN" altLang="en-US" dirty="0"/>
              <a:t>：组织块</a:t>
            </a:r>
          </a:p>
          <a:p>
            <a:pPr lvl="1"/>
            <a:r>
              <a:rPr lang="en-US" altLang="zh-CN" dirty="0"/>
              <a:t>FB</a:t>
            </a:r>
            <a:r>
              <a:rPr lang="zh-CN" altLang="en-US" dirty="0"/>
              <a:t>：功能块</a:t>
            </a:r>
          </a:p>
          <a:p>
            <a:pPr lvl="1"/>
            <a:r>
              <a:rPr lang="en-US" altLang="zh-CN" dirty="0"/>
              <a:t>FC</a:t>
            </a:r>
            <a:r>
              <a:rPr lang="zh-CN" altLang="en-US" dirty="0"/>
              <a:t>：功能</a:t>
            </a:r>
          </a:p>
          <a:p>
            <a:pPr lvl="1"/>
            <a:r>
              <a:rPr lang="en-US" altLang="zh-CN" dirty="0"/>
              <a:t>DB</a:t>
            </a:r>
            <a:r>
              <a:rPr lang="zh-CN" altLang="en-US" dirty="0"/>
              <a:t>：数据块</a:t>
            </a:r>
          </a:p>
          <a:p>
            <a:r>
              <a:rPr lang="en-US" altLang="zh-CN" dirty="0"/>
              <a:t>S7 PLC</a:t>
            </a:r>
            <a:r>
              <a:rPr lang="zh-CN" altLang="en-US" dirty="0"/>
              <a:t>的编程主要是对不同的功能块的编程；</a:t>
            </a:r>
          </a:p>
          <a:p>
            <a:r>
              <a:rPr lang="zh-CN" altLang="en-US" dirty="0"/>
              <a:t>整个程序经程序块的相互调用实现。</a:t>
            </a: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2">
            <a:extLst>
              <a:ext uri="{FF2B5EF4-FFF2-40B4-BE49-F238E27FC236}">
                <a16:creationId xmlns:a16="http://schemas.microsoft.com/office/drawing/2014/main" id="{7197080C-4C70-0678-C443-A62ADECD2D98}"/>
              </a:ext>
            </a:extLst>
          </p:cNvPr>
          <p:cNvSpPr>
            <a:spLocks noGrp="1" noChangeArrowheads="1"/>
          </p:cNvSpPr>
          <p:nvPr>
            <p:ph type="title"/>
          </p:nvPr>
        </p:nvSpPr>
        <p:spPr/>
        <p:txBody>
          <a:bodyPr/>
          <a:lstStyle/>
          <a:p>
            <a:r>
              <a:rPr lang="zh-CN" altLang="en-US"/>
              <a:t>程序块分类</a:t>
            </a:r>
          </a:p>
        </p:txBody>
      </p:sp>
      <p:graphicFrame>
        <p:nvGraphicFramePr>
          <p:cNvPr id="24582" name="Object 3">
            <a:extLst>
              <a:ext uri="{FF2B5EF4-FFF2-40B4-BE49-F238E27FC236}">
                <a16:creationId xmlns:a16="http://schemas.microsoft.com/office/drawing/2014/main" id="{6B7910E5-56A7-9205-0A63-A545DD5AC7C9}"/>
              </a:ext>
            </a:extLst>
          </p:cNvPr>
          <p:cNvGraphicFramePr>
            <a:graphicFrameLocks noGrp="1" noChangeAspect="1"/>
          </p:cNvGraphicFramePr>
          <p:nvPr>
            <p:ph idx="1"/>
          </p:nvPr>
        </p:nvGraphicFramePr>
        <p:xfrm>
          <a:off x="330200" y="1341438"/>
          <a:ext cx="8447088" cy="4878387"/>
        </p:xfrm>
        <a:graphic>
          <a:graphicData uri="http://schemas.openxmlformats.org/presentationml/2006/ole">
            <mc:AlternateContent xmlns:mc="http://schemas.openxmlformats.org/markup-compatibility/2006">
              <mc:Choice xmlns:v="urn:schemas-microsoft-com:vml" Requires="v">
                <p:oleObj spid="_x0000_s3075" name="Visio" r:id="rId3" imgW="8519160" imgH="4919167" progId="Visio.Drawing.11">
                  <p:embed/>
                </p:oleObj>
              </mc:Choice>
              <mc:Fallback>
                <p:oleObj name="Visio" r:id="rId3" imgW="8519160" imgH="4919167" progId="Visio.Drawing.11">
                  <p:embed/>
                  <p:pic>
                    <p:nvPicPr>
                      <p:cNvPr id="24582" name="Object 3">
                        <a:extLst>
                          <a:ext uri="{FF2B5EF4-FFF2-40B4-BE49-F238E27FC236}">
                            <a16:creationId xmlns:a16="http://schemas.microsoft.com/office/drawing/2014/main" id="{6B7910E5-56A7-9205-0A63-A545DD5AC7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200" y="1341438"/>
                        <a:ext cx="8447088" cy="4878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2">
            <a:extLst>
              <a:ext uri="{FF2B5EF4-FFF2-40B4-BE49-F238E27FC236}">
                <a16:creationId xmlns:a16="http://schemas.microsoft.com/office/drawing/2014/main" id="{1F5D02E8-E4E0-08E3-8C0A-55A60CB8274B}"/>
              </a:ext>
            </a:extLst>
          </p:cNvPr>
          <p:cNvSpPr>
            <a:spLocks noGrp="1" noChangeArrowheads="1"/>
          </p:cNvSpPr>
          <p:nvPr>
            <p:ph type="title"/>
          </p:nvPr>
        </p:nvSpPr>
        <p:spPr/>
        <p:txBody>
          <a:bodyPr/>
          <a:lstStyle/>
          <a:p>
            <a:r>
              <a:rPr lang="en-US" altLang="zh-CN"/>
              <a:t>OB </a:t>
            </a:r>
            <a:r>
              <a:rPr lang="zh-CN" altLang="en-US"/>
              <a:t>组织块</a:t>
            </a:r>
          </a:p>
        </p:txBody>
      </p:sp>
      <p:sp>
        <p:nvSpPr>
          <p:cNvPr id="25606" name="Rectangle 3">
            <a:extLst>
              <a:ext uri="{FF2B5EF4-FFF2-40B4-BE49-F238E27FC236}">
                <a16:creationId xmlns:a16="http://schemas.microsoft.com/office/drawing/2014/main" id="{76AAB013-5118-75C5-40A8-115EC92A9381}"/>
              </a:ext>
            </a:extLst>
          </p:cNvPr>
          <p:cNvSpPr>
            <a:spLocks noGrp="1" noChangeArrowheads="1"/>
          </p:cNvSpPr>
          <p:nvPr>
            <p:ph type="body" idx="1"/>
          </p:nvPr>
        </p:nvSpPr>
        <p:spPr>
          <a:xfrm>
            <a:off x="457200" y="1485900"/>
            <a:ext cx="8229600" cy="3886200"/>
          </a:xfrm>
        </p:spPr>
        <p:txBody>
          <a:bodyPr/>
          <a:lstStyle/>
          <a:p>
            <a:r>
              <a:rPr kumimoji="1" lang="en-US" altLang="zh-CN"/>
              <a:t>OB </a:t>
            </a:r>
            <a:r>
              <a:rPr kumimoji="1" lang="zh-CN" altLang="en-US"/>
              <a:t>组织块的作用：</a:t>
            </a:r>
          </a:p>
          <a:p>
            <a:pPr lvl="1"/>
            <a:r>
              <a:rPr kumimoji="1" lang="zh-CN" altLang="en-US"/>
              <a:t>操作系统和用户程序之间的一个接口</a:t>
            </a:r>
            <a:endParaRPr kumimoji="1" lang="zh-CN" altLang="en-US">
              <a:solidFill>
                <a:srgbClr val="000066"/>
              </a:solidFill>
            </a:endParaRPr>
          </a:p>
          <a:p>
            <a:pPr lvl="1"/>
            <a:r>
              <a:rPr kumimoji="1" lang="zh-CN" altLang="en-US"/>
              <a:t>控制循环和中断程序的执行</a:t>
            </a:r>
          </a:p>
          <a:p>
            <a:pPr lvl="1"/>
            <a:r>
              <a:rPr kumimoji="1" lang="zh-CN" altLang="en-US"/>
              <a:t>控制</a:t>
            </a:r>
            <a:r>
              <a:rPr kumimoji="1" lang="en-US" altLang="zh-CN"/>
              <a:t>CPU</a:t>
            </a:r>
            <a:r>
              <a:rPr kumimoji="1" lang="zh-CN" altLang="en-US"/>
              <a:t>如何启动</a:t>
            </a:r>
          </a:p>
          <a:p>
            <a:pPr lvl="1"/>
            <a:r>
              <a:rPr kumimoji="1" lang="zh-CN" altLang="en-US"/>
              <a:t>处理错误响应，通过编程指定</a:t>
            </a:r>
            <a:r>
              <a:rPr kumimoji="1" lang="en-US" altLang="zh-CN"/>
              <a:t>CPU</a:t>
            </a:r>
            <a:r>
              <a:rPr kumimoji="1" lang="zh-CN" altLang="en-US"/>
              <a:t>对错误反应</a:t>
            </a:r>
          </a:p>
          <a:p>
            <a:r>
              <a:rPr lang="en-US" altLang="zh-CN"/>
              <a:t>OB</a:t>
            </a:r>
            <a:r>
              <a:rPr lang="zh-CN" altLang="en-US"/>
              <a:t>块的分类：</a:t>
            </a:r>
          </a:p>
          <a:p>
            <a:pPr lvl="1"/>
            <a:r>
              <a:rPr lang="zh-CN" altLang="en-US"/>
              <a:t>循环扫描、故障中断、事件处理等</a:t>
            </a:r>
          </a:p>
          <a:p>
            <a:r>
              <a:rPr lang="en-US" altLang="zh-CN"/>
              <a:t>OB</a:t>
            </a:r>
            <a:r>
              <a:rPr lang="zh-CN" altLang="en-US"/>
              <a:t>块具有优先级</a:t>
            </a: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日期占位符 3">
            <a:extLst>
              <a:ext uri="{FF2B5EF4-FFF2-40B4-BE49-F238E27FC236}">
                <a16:creationId xmlns:a16="http://schemas.microsoft.com/office/drawing/2014/main" id="{03EAA072-978A-BAE8-BE79-39D56C053056}"/>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376D558-0340-43D3-8354-45CFA6C725CC}" type="datetime1">
              <a:rPr lang="zh-CN" altLang="en-US" smtClean="0"/>
              <a:pPr/>
              <a:t>2025/5/19</a:t>
            </a:fld>
            <a:endParaRPr lang="en-US" altLang="zh-CN"/>
          </a:p>
        </p:txBody>
      </p:sp>
      <p:sp>
        <p:nvSpPr>
          <p:cNvPr id="26627" name="页脚占位符 4">
            <a:extLst>
              <a:ext uri="{FF2B5EF4-FFF2-40B4-BE49-F238E27FC236}">
                <a16:creationId xmlns:a16="http://schemas.microsoft.com/office/drawing/2014/main" id="{8D8C5FBF-843A-1E71-560E-B1F8822746DD}"/>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Sciample Training -- SIMATIC PCS7</a:t>
            </a:r>
            <a:endParaRPr lang="en-US" altLang="zh-CN"/>
          </a:p>
        </p:txBody>
      </p:sp>
      <p:sp>
        <p:nvSpPr>
          <p:cNvPr id="26628" name="灯片编号占位符 5">
            <a:extLst>
              <a:ext uri="{FF2B5EF4-FFF2-40B4-BE49-F238E27FC236}">
                <a16:creationId xmlns:a16="http://schemas.microsoft.com/office/drawing/2014/main" id="{1E97BEEC-027F-60DB-2FB2-EF9729D9B98F}"/>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CCC9570-980B-4345-BC92-7D6800F019F2}" type="slidenum">
              <a:rPr lang="zh-CN" altLang="en-US" smtClean="0"/>
              <a:pPr/>
              <a:t>83</a:t>
            </a:fld>
            <a:endParaRPr lang="en-US" altLang="zh-CN"/>
          </a:p>
        </p:txBody>
      </p:sp>
      <p:sp>
        <p:nvSpPr>
          <p:cNvPr id="26629" name="Rectangle 2">
            <a:extLst>
              <a:ext uri="{FF2B5EF4-FFF2-40B4-BE49-F238E27FC236}">
                <a16:creationId xmlns:a16="http://schemas.microsoft.com/office/drawing/2014/main" id="{EFA5E9B9-0846-694F-24D6-4DCE41C2C749}"/>
              </a:ext>
            </a:extLst>
          </p:cNvPr>
          <p:cNvSpPr>
            <a:spLocks noGrp="1" noChangeArrowheads="1"/>
          </p:cNvSpPr>
          <p:nvPr>
            <p:ph type="title"/>
          </p:nvPr>
        </p:nvSpPr>
        <p:spPr/>
        <p:txBody>
          <a:bodyPr/>
          <a:lstStyle/>
          <a:p>
            <a:r>
              <a:rPr lang="en-US" altLang="zh-CN" dirty="0"/>
              <a:t>OB </a:t>
            </a:r>
            <a:r>
              <a:rPr lang="zh-CN" altLang="en-US" dirty="0"/>
              <a:t>组织块分类（</a:t>
            </a:r>
            <a:r>
              <a:rPr lang="en-US" altLang="zh-CN" dirty="0"/>
              <a:t>1</a:t>
            </a:r>
            <a:r>
              <a:rPr lang="zh-CN" altLang="en-US" dirty="0"/>
              <a:t>）</a:t>
            </a:r>
          </a:p>
        </p:txBody>
      </p:sp>
      <p:graphicFrame>
        <p:nvGraphicFramePr>
          <p:cNvPr id="26630" name="Object 3">
            <a:extLst>
              <a:ext uri="{FF2B5EF4-FFF2-40B4-BE49-F238E27FC236}">
                <a16:creationId xmlns:a16="http://schemas.microsoft.com/office/drawing/2014/main" id="{63F71C6F-CE25-83BD-CDFA-E41E1D527648}"/>
              </a:ext>
            </a:extLst>
          </p:cNvPr>
          <p:cNvGraphicFramePr>
            <a:graphicFrameLocks noGrp="1" noChangeAspect="1"/>
          </p:cNvGraphicFramePr>
          <p:nvPr>
            <p:ph idx="1"/>
            <p:extLst>
              <p:ext uri="{D42A27DB-BD31-4B8C-83A1-F6EECF244321}">
                <p14:modId xmlns:p14="http://schemas.microsoft.com/office/powerpoint/2010/main" val="273906258"/>
              </p:ext>
            </p:extLst>
          </p:nvPr>
        </p:nvGraphicFramePr>
        <p:xfrm>
          <a:off x="395536" y="1216493"/>
          <a:ext cx="8529638" cy="5461000"/>
        </p:xfrm>
        <a:graphic>
          <a:graphicData uri="http://schemas.openxmlformats.org/presentationml/2006/ole">
            <mc:AlternateContent xmlns:mc="http://schemas.openxmlformats.org/markup-compatibility/2006">
              <mc:Choice xmlns:v="urn:schemas-microsoft-com:vml" Requires="v">
                <p:oleObj spid="_x0000_s4099" name="Visio" r:id="rId3" imgW="8503920" imgH="5443728" progId="Visio.Drawing.11">
                  <p:embed/>
                </p:oleObj>
              </mc:Choice>
              <mc:Fallback>
                <p:oleObj name="Visio" r:id="rId3" imgW="8503920" imgH="5443728" progId="Visio.Drawing.11">
                  <p:embed/>
                  <p:pic>
                    <p:nvPicPr>
                      <p:cNvPr id="26630" name="Object 3">
                        <a:extLst>
                          <a:ext uri="{FF2B5EF4-FFF2-40B4-BE49-F238E27FC236}">
                            <a16:creationId xmlns:a16="http://schemas.microsoft.com/office/drawing/2014/main" id="{63F71C6F-CE25-83BD-CDFA-E41E1D5276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1216493"/>
                        <a:ext cx="8529638" cy="546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日期占位符 3">
            <a:extLst>
              <a:ext uri="{FF2B5EF4-FFF2-40B4-BE49-F238E27FC236}">
                <a16:creationId xmlns:a16="http://schemas.microsoft.com/office/drawing/2014/main" id="{0B4EDF66-7147-065A-436F-0A71813C6546}"/>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C7550A9-620E-4860-9AD8-04752F9B0CCD}" type="datetime1">
              <a:rPr lang="zh-CN" altLang="en-US" smtClean="0"/>
              <a:pPr/>
              <a:t>2025/5/19</a:t>
            </a:fld>
            <a:endParaRPr lang="en-US" altLang="zh-CN"/>
          </a:p>
        </p:txBody>
      </p:sp>
      <p:sp>
        <p:nvSpPr>
          <p:cNvPr id="27651" name="页脚占位符 4">
            <a:extLst>
              <a:ext uri="{FF2B5EF4-FFF2-40B4-BE49-F238E27FC236}">
                <a16:creationId xmlns:a16="http://schemas.microsoft.com/office/drawing/2014/main" id="{97EF8777-710F-3158-4FD6-993822D93449}"/>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Sciample Training -- SIMATIC PCS7</a:t>
            </a:r>
            <a:endParaRPr lang="en-US" altLang="zh-CN"/>
          </a:p>
        </p:txBody>
      </p:sp>
      <p:sp>
        <p:nvSpPr>
          <p:cNvPr id="27652" name="灯片编号占位符 5">
            <a:extLst>
              <a:ext uri="{FF2B5EF4-FFF2-40B4-BE49-F238E27FC236}">
                <a16:creationId xmlns:a16="http://schemas.microsoft.com/office/drawing/2014/main" id="{061536F4-1D98-2BA2-2DED-DB0042C2583D}"/>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35DAA95-DE77-429B-B11C-E068573C2938}" type="slidenum">
              <a:rPr lang="zh-CN" altLang="en-US" smtClean="0"/>
              <a:pPr/>
              <a:t>84</a:t>
            </a:fld>
            <a:endParaRPr lang="en-US" altLang="zh-CN"/>
          </a:p>
        </p:txBody>
      </p:sp>
      <p:sp>
        <p:nvSpPr>
          <p:cNvPr id="27653" name="Rectangle 2">
            <a:extLst>
              <a:ext uri="{FF2B5EF4-FFF2-40B4-BE49-F238E27FC236}">
                <a16:creationId xmlns:a16="http://schemas.microsoft.com/office/drawing/2014/main" id="{ABECEA62-524F-256B-1B91-055959E51923}"/>
              </a:ext>
            </a:extLst>
          </p:cNvPr>
          <p:cNvSpPr>
            <a:spLocks noGrp="1" noChangeArrowheads="1"/>
          </p:cNvSpPr>
          <p:nvPr>
            <p:ph type="title"/>
          </p:nvPr>
        </p:nvSpPr>
        <p:spPr/>
        <p:txBody>
          <a:bodyPr/>
          <a:lstStyle/>
          <a:p>
            <a:r>
              <a:rPr lang="en-US" altLang="zh-CN"/>
              <a:t>OB </a:t>
            </a:r>
            <a:r>
              <a:rPr lang="zh-CN" altLang="en-US"/>
              <a:t>组织块分类（</a:t>
            </a:r>
            <a:r>
              <a:rPr lang="en-US" altLang="zh-CN"/>
              <a:t>2</a:t>
            </a:r>
            <a:r>
              <a:rPr lang="zh-CN" altLang="en-US"/>
              <a:t>）</a:t>
            </a:r>
          </a:p>
        </p:txBody>
      </p:sp>
      <p:graphicFrame>
        <p:nvGraphicFramePr>
          <p:cNvPr id="27654" name="Object 3">
            <a:extLst>
              <a:ext uri="{FF2B5EF4-FFF2-40B4-BE49-F238E27FC236}">
                <a16:creationId xmlns:a16="http://schemas.microsoft.com/office/drawing/2014/main" id="{026EF244-C937-160C-4AD6-47738BE5352C}"/>
              </a:ext>
            </a:extLst>
          </p:cNvPr>
          <p:cNvGraphicFramePr>
            <a:graphicFrameLocks noGrp="1" noChangeAspect="1"/>
          </p:cNvGraphicFramePr>
          <p:nvPr>
            <p:ph idx="1"/>
            <p:extLst>
              <p:ext uri="{D42A27DB-BD31-4B8C-83A1-F6EECF244321}">
                <p14:modId xmlns:p14="http://schemas.microsoft.com/office/powerpoint/2010/main" val="3829638251"/>
              </p:ext>
            </p:extLst>
          </p:nvPr>
        </p:nvGraphicFramePr>
        <p:xfrm>
          <a:off x="307181" y="1209178"/>
          <a:ext cx="8529638" cy="5461000"/>
        </p:xfrm>
        <a:graphic>
          <a:graphicData uri="http://schemas.openxmlformats.org/presentationml/2006/ole">
            <mc:AlternateContent xmlns:mc="http://schemas.openxmlformats.org/markup-compatibility/2006">
              <mc:Choice xmlns:v="urn:schemas-microsoft-com:vml" Requires="v">
                <p:oleObj spid="_x0000_s5123" name="Visio" r:id="rId3" imgW="8503920" imgH="5443728" progId="Visio.Drawing.11">
                  <p:embed/>
                </p:oleObj>
              </mc:Choice>
              <mc:Fallback>
                <p:oleObj name="Visio" r:id="rId3" imgW="8503920" imgH="5443728" progId="Visio.Drawing.11">
                  <p:embed/>
                  <p:pic>
                    <p:nvPicPr>
                      <p:cNvPr id="27654" name="Object 3">
                        <a:extLst>
                          <a:ext uri="{FF2B5EF4-FFF2-40B4-BE49-F238E27FC236}">
                            <a16:creationId xmlns:a16="http://schemas.microsoft.com/office/drawing/2014/main" id="{026EF244-C937-160C-4AD6-47738BE535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181" y="1209178"/>
                        <a:ext cx="8529638" cy="546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F0197C2B-FA3E-FF7D-6187-CA95D9D3404C}"/>
              </a:ext>
            </a:extLst>
          </p:cNvPr>
          <p:cNvSpPr>
            <a:spLocks noGrp="1" noChangeArrowheads="1"/>
          </p:cNvSpPr>
          <p:nvPr>
            <p:ph type="title"/>
          </p:nvPr>
        </p:nvSpPr>
        <p:spPr/>
        <p:txBody>
          <a:bodyPr/>
          <a:lstStyle/>
          <a:p>
            <a:pPr eaLnBrk="1" hangingPunct="1"/>
            <a:r>
              <a:rPr lang="en-US" altLang="en-US" sz="3600" dirty="0"/>
              <a:t>DCS </a:t>
            </a:r>
            <a:r>
              <a:rPr lang="en-US" altLang="en-US" sz="3600" dirty="0" err="1"/>
              <a:t>的控制层软件</a:t>
            </a:r>
            <a:endParaRPr lang="zh-CN" altLang="en-US" sz="3600" dirty="0"/>
          </a:p>
        </p:txBody>
      </p:sp>
      <p:sp>
        <p:nvSpPr>
          <p:cNvPr id="15363" name="Text Box 3">
            <a:extLst>
              <a:ext uri="{FF2B5EF4-FFF2-40B4-BE49-F238E27FC236}">
                <a16:creationId xmlns:a16="http://schemas.microsoft.com/office/drawing/2014/main" id="{E2DBD559-D058-91F6-2577-882486B5CC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4.2 DCS 的控制层软件</a:t>
            </a:r>
            <a:endParaRPr lang="zh-CN" altLang="en-US" sz="1800">
              <a:solidFill>
                <a:schemeClr val="bg1"/>
              </a:solidFill>
            </a:endParaRPr>
          </a:p>
        </p:txBody>
      </p:sp>
      <p:pic>
        <p:nvPicPr>
          <p:cNvPr id="15364" name="图片 1">
            <a:extLst>
              <a:ext uri="{FF2B5EF4-FFF2-40B4-BE49-F238E27FC236}">
                <a16:creationId xmlns:a16="http://schemas.microsoft.com/office/drawing/2014/main" id="{5AC86C2E-41F9-51C8-60E3-1C6CA246151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71600"/>
            <a:ext cx="7629525" cy="459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24975648"/>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DD2AF7FE-3510-5666-A56C-24CAD63E1DB8}"/>
              </a:ext>
            </a:extLst>
          </p:cNvPr>
          <p:cNvSpPr>
            <a:spLocks noGrp="1" noChangeArrowheads="1"/>
          </p:cNvSpPr>
          <p:nvPr>
            <p:ph type="title"/>
          </p:nvPr>
        </p:nvSpPr>
        <p:spPr/>
        <p:txBody>
          <a:bodyPr/>
          <a:lstStyle/>
          <a:p>
            <a:pPr eaLnBrk="1" hangingPunct="1"/>
            <a:r>
              <a:rPr lang="en-US" altLang="en-US" sz="3600" dirty="0"/>
              <a:t>DCS </a:t>
            </a:r>
            <a:r>
              <a:rPr lang="en-US" altLang="en-US" sz="3600" dirty="0" err="1"/>
              <a:t>的控制层软件</a:t>
            </a:r>
            <a:endParaRPr lang="zh-CN" altLang="en-US" sz="3600" dirty="0"/>
          </a:p>
        </p:txBody>
      </p:sp>
      <p:sp>
        <p:nvSpPr>
          <p:cNvPr id="16387" name="Text Box 3">
            <a:extLst>
              <a:ext uri="{FF2B5EF4-FFF2-40B4-BE49-F238E27FC236}">
                <a16:creationId xmlns:a16="http://schemas.microsoft.com/office/drawing/2014/main" id="{5A0EDC7A-A7D3-53B1-8FBA-103ADCB104E1}"/>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4.2 DCS 的控制层软件</a:t>
            </a:r>
            <a:endParaRPr lang="zh-CN" altLang="en-US" sz="1800">
              <a:solidFill>
                <a:schemeClr val="bg1"/>
              </a:solidFill>
            </a:endParaRPr>
          </a:p>
        </p:txBody>
      </p:sp>
      <p:pic>
        <p:nvPicPr>
          <p:cNvPr id="16388" name="图片 2">
            <a:extLst>
              <a:ext uri="{FF2B5EF4-FFF2-40B4-BE49-F238E27FC236}">
                <a16:creationId xmlns:a16="http://schemas.microsoft.com/office/drawing/2014/main" id="{BAA87C96-2A5D-7B8F-88CF-388D1F66CB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447800"/>
            <a:ext cx="7418388" cy="447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0947154"/>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1CDF600A-51CB-1996-4E82-077B6C298F59}"/>
              </a:ext>
            </a:extLst>
          </p:cNvPr>
          <p:cNvSpPr>
            <a:spLocks noGrp="1" noChangeArrowheads="1"/>
          </p:cNvSpPr>
          <p:nvPr>
            <p:ph type="title"/>
          </p:nvPr>
        </p:nvSpPr>
        <p:spPr/>
        <p:txBody>
          <a:bodyPr/>
          <a:lstStyle/>
          <a:p>
            <a:pPr eaLnBrk="1" hangingPunct="1"/>
            <a:r>
              <a:rPr lang="en-US" altLang="en-US" sz="3600" dirty="0"/>
              <a:t>DCS </a:t>
            </a:r>
            <a:r>
              <a:rPr lang="en-US" altLang="en-US" sz="3600" dirty="0" err="1"/>
              <a:t>的控制层软件</a:t>
            </a:r>
            <a:endParaRPr lang="zh-CN" altLang="en-US" sz="3600" dirty="0"/>
          </a:p>
        </p:txBody>
      </p:sp>
      <p:sp>
        <p:nvSpPr>
          <p:cNvPr id="17411" name="Text Box 3">
            <a:extLst>
              <a:ext uri="{FF2B5EF4-FFF2-40B4-BE49-F238E27FC236}">
                <a16:creationId xmlns:a16="http://schemas.microsoft.com/office/drawing/2014/main" id="{2CECA529-7CB0-D2B4-5C5E-F2548DFC619D}"/>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4.2 DCS 的控制层软件</a:t>
            </a:r>
            <a:endParaRPr lang="zh-CN" altLang="en-US" sz="1800">
              <a:solidFill>
                <a:schemeClr val="bg1"/>
              </a:solidFill>
            </a:endParaRPr>
          </a:p>
        </p:txBody>
      </p:sp>
      <p:pic>
        <p:nvPicPr>
          <p:cNvPr id="17412" name="图片 3">
            <a:extLst>
              <a:ext uri="{FF2B5EF4-FFF2-40B4-BE49-F238E27FC236}">
                <a16:creationId xmlns:a16="http://schemas.microsoft.com/office/drawing/2014/main" id="{76D1ADBF-0789-C6E8-B0EB-21E1EFD1145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189038"/>
            <a:ext cx="74168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80882769"/>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DE2243B7-6D7D-EE27-4480-62F5AF7E7210}"/>
              </a:ext>
            </a:extLst>
          </p:cNvPr>
          <p:cNvSpPr>
            <a:spLocks noGrp="1" noChangeArrowheads="1"/>
          </p:cNvSpPr>
          <p:nvPr>
            <p:ph type="title"/>
          </p:nvPr>
        </p:nvSpPr>
        <p:spPr/>
        <p:txBody>
          <a:bodyPr/>
          <a:lstStyle/>
          <a:p>
            <a:pPr eaLnBrk="1" hangingPunct="1"/>
            <a:r>
              <a:rPr lang="en-US" altLang="en-US" sz="3600" dirty="0"/>
              <a:t>DCS </a:t>
            </a:r>
            <a:r>
              <a:rPr lang="en-US" altLang="en-US" sz="3600" dirty="0" err="1"/>
              <a:t>的控制层软件</a:t>
            </a:r>
            <a:endParaRPr lang="zh-CN" altLang="en-US" sz="3600" dirty="0"/>
          </a:p>
        </p:txBody>
      </p:sp>
      <p:sp>
        <p:nvSpPr>
          <p:cNvPr id="18435" name="Text Box 3">
            <a:extLst>
              <a:ext uri="{FF2B5EF4-FFF2-40B4-BE49-F238E27FC236}">
                <a16:creationId xmlns:a16="http://schemas.microsoft.com/office/drawing/2014/main" id="{CE89D274-25B5-CC53-9290-BC18BCB2D8FD}"/>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4.2 DCS 的控制层软件</a:t>
            </a:r>
            <a:endParaRPr lang="zh-CN" altLang="en-US" sz="1800">
              <a:solidFill>
                <a:schemeClr val="bg1"/>
              </a:solidFill>
            </a:endParaRPr>
          </a:p>
        </p:txBody>
      </p:sp>
      <p:pic>
        <p:nvPicPr>
          <p:cNvPr id="18436" name="图片 1">
            <a:extLst>
              <a:ext uri="{FF2B5EF4-FFF2-40B4-BE49-F238E27FC236}">
                <a16:creationId xmlns:a16="http://schemas.microsoft.com/office/drawing/2014/main" id="{21B02B0F-A99D-F71D-CBCB-56209B877C4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524000"/>
            <a:ext cx="7658100" cy="428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11824487"/>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9C139BCA-1739-B052-6AFA-A4747C528431}"/>
              </a:ext>
            </a:extLst>
          </p:cNvPr>
          <p:cNvSpPr>
            <a:spLocks noGrp="1" noChangeArrowheads="1"/>
          </p:cNvSpPr>
          <p:nvPr>
            <p:ph type="title"/>
          </p:nvPr>
        </p:nvSpPr>
        <p:spPr/>
        <p:txBody>
          <a:bodyPr/>
          <a:lstStyle/>
          <a:p>
            <a:pPr eaLnBrk="1" hangingPunct="1"/>
            <a:r>
              <a:rPr lang="en-US" altLang="en-US" sz="3600" dirty="0"/>
              <a:t>DCS </a:t>
            </a:r>
            <a:r>
              <a:rPr lang="en-US" altLang="en-US" sz="3600" dirty="0" err="1"/>
              <a:t>的控制层软件</a:t>
            </a:r>
            <a:endParaRPr lang="zh-CN" altLang="en-US" sz="3600" dirty="0"/>
          </a:p>
        </p:txBody>
      </p:sp>
      <p:sp>
        <p:nvSpPr>
          <p:cNvPr id="19459" name="Text Box 3">
            <a:extLst>
              <a:ext uri="{FF2B5EF4-FFF2-40B4-BE49-F238E27FC236}">
                <a16:creationId xmlns:a16="http://schemas.microsoft.com/office/drawing/2014/main" id="{ABFCDCDE-A5E1-8E7C-AA29-25DF881CD8EC}"/>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4.2 DCS 的控制层软件</a:t>
            </a:r>
            <a:endParaRPr lang="zh-CN" altLang="en-US" sz="1800">
              <a:solidFill>
                <a:schemeClr val="bg1"/>
              </a:solidFill>
            </a:endParaRPr>
          </a:p>
        </p:txBody>
      </p:sp>
      <p:pic>
        <p:nvPicPr>
          <p:cNvPr id="19460" name="图片 2">
            <a:extLst>
              <a:ext uri="{FF2B5EF4-FFF2-40B4-BE49-F238E27FC236}">
                <a16:creationId xmlns:a16="http://schemas.microsoft.com/office/drawing/2014/main" id="{FC483AEB-A94B-E7F0-EABD-074C435EF28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103313"/>
            <a:ext cx="7924800" cy="511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4824269"/>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2">
            <a:extLst>
              <a:ext uri="{FF2B5EF4-FFF2-40B4-BE49-F238E27FC236}">
                <a16:creationId xmlns:a16="http://schemas.microsoft.com/office/drawing/2014/main" id="{8784C913-59C1-16BD-FDB1-2A99050D6B0F}"/>
              </a:ext>
            </a:extLst>
          </p:cNvPr>
          <p:cNvSpPr>
            <a:spLocks noGrp="1" noChangeArrowheads="1"/>
          </p:cNvSpPr>
          <p:nvPr>
            <p:ph type="title"/>
          </p:nvPr>
        </p:nvSpPr>
        <p:spPr/>
        <p:txBody>
          <a:bodyPr/>
          <a:lstStyle/>
          <a:p>
            <a:r>
              <a:rPr lang="en-US" altLang="zh-CN"/>
              <a:t>OB1 </a:t>
            </a:r>
            <a:r>
              <a:rPr lang="zh-CN" altLang="en-US"/>
              <a:t>主扫描</a:t>
            </a:r>
          </a:p>
        </p:txBody>
      </p:sp>
      <p:pic>
        <p:nvPicPr>
          <p:cNvPr id="28678" name="Picture 3">
            <a:extLst>
              <a:ext uri="{FF2B5EF4-FFF2-40B4-BE49-F238E27FC236}">
                <a16:creationId xmlns:a16="http://schemas.microsoft.com/office/drawing/2014/main" id="{8AAB3BB2-D77C-5FB5-B075-9FCA1C155F0E}"/>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195513" y="1268413"/>
            <a:ext cx="4703762" cy="4810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01" name="Picture 2">
            <a:extLst>
              <a:ext uri="{FF2B5EF4-FFF2-40B4-BE49-F238E27FC236}">
                <a16:creationId xmlns:a16="http://schemas.microsoft.com/office/drawing/2014/main" id="{35867099-7D88-3B9D-1EDD-A7E3A96A499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192338" y="1398588"/>
            <a:ext cx="4903787" cy="4781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9702" name="Rectangle 3">
            <a:extLst>
              <a:ext uri="{FF2B5EF4-FFF2-40B4-BE49-F238E27FC236}">
                <a16:creationId xmlns:a16="http://schemas.microsoft.com/office/drawing/2014/main" id="{8C0C18C1-6556-2C75-7E78-5A443EB8C3F0}"/>
              </a:ext>
            </a:extLst>
          </p:cNvPr>
          <p:cNvSpPr>
            <a:spLocks noGrp="1" noChangeArrowheads="1"/>
          </p:cNvSpPr>
          <p:nvPr>
            <p:ph type="title"/>
          </p:nvPr>
        </p:nvSpPr>
        <p:spPr/>
        <p:txBody>
          <a:bodyPr/>
          <a:lstStyle/>
          <a:p>
            <a:r>
              <a:rPr lang="zh-CN" altLang="en-US"/>
              <a:t>块的调用</a:t>
            </a: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2">
            <a:extLst>
              <a:ext uri="{FF2B5EF4-FFF2-40B4-BE49-F238E27FC236}">
                <a16:creationId xmlns:a16="http://schemas.microsoft.com/office/drawing/2014/main" id="{94C76E66-D105-BCED-FB96-5C505B5335E2}"/>
              </a:ext>
            </a:extLst>
          </p:cNvPr>
          <p:cNvSpPr>
            <a:spLocks noGrp="1" noChangeArrowheads="1"/>
          </p:cNvSpPr>
          <p:nvPr>
            <p:ph type="title"/>
          </p:nvPr>
        </p:nvSpPr>
        <p:spPr/>
        <p:txBody>
          <a:bodyPr/>
          <a:lstStyle/>
          <a:p>
            <a:r>
              <a:rPr lang="en-US" altLang="zh-CN" dirty="0"/>
              <a:t>PCS7</a:t>
            </a:r>
            <a:r>
              <a:rPr lang="zh-CN" altLang="en-US" dirty="0"/>
              <a:t>的运行周期</a:t>
            </a:r>
          </a:p>
        </p:txBody>
      </p:sp>
      <p:pic>
        <p:nvPicPr>
          <p:cNvPr id="3" name="图片 2">
            <a:extLst>
              <a:ext uri="{FF2B5EF4-FFF2-40B4-BE49-F238E27FC236}">
                <a16:creationId xmlns:a16="http://schemas.microsoft.com/office/drawing/2014/main" id="{C0824079-09AA-4003-9EE7-8A3D52583FD5}"/>
              </a:ext>
            </a:extLst>
          </p:cNvPr>
          <p:cNvPicPr>
            <a:picLocks noChangeAspect="1"/>
          </p:cNvPicPr>
          <p:nvPr/>
        </p:nvPicPr>
        <p:blipFill rotWithShape="1">
          <a:blip r:embed="rId2"/>
          <a:srcRect t="13803"/>
          <a:stretch/>
        </p:blipFill>
        <p:spPr>
          <a:xfrm>
            <a:off x="774058" y="2708920"/>
            <a:ext cx="7846421" cy="3475856"/>
          </a:xfrm>
          <a:prstGeom prst="rect">
            <a:avLst/>
          </a:prstGeom>
        </p:spPr>
      </p:pic>
      <p:sp>
        <p:nvSpPr>
          <p:cNvPr id="4" name="文本框 3">
            <a:extLst>
              <a:ext uri="{FF2B5EF4-FFF2-40B4-BE49-F238E27FC236}">
                <a16:creationId xmlns:a16="http://schemas.microsoft.com/office/drawing/2014/main" id="{30F6D722-88B0-80F0-22A9-495F9C9390BB}"/>
              </a:ext>
            </a:extLst>
          </p:cNvPr>
          <p:cNvSpPr txBox="1"/>
          <p:nvPr/>
        </p:nvSpPr>
        <p:spPr>
          <a:xfrm>
            <a:off x="2076508" y="1536656"/>
            <a:ext cx="2160240" cy="369332"/>
          </a:xfrm>
          <a:prstGeom prst="rect">
            <a:avLst/>
          </a:prstGeom>
          <a:noFill/>
        </p:spPr>
        <p:txBody>
          <a:bodyPr wrap="square">
            <a:spAutoFit/>
          </a:bodyPr>
          <a:lstStyle/>
          <a:p>
            <a:pPr algn="ctr"/>
            <a:r>
              <a:rPr lang="zh-CN" altLang="en-US" sz="1800" b="1" dirty="0">
                <a:latin typeface="宋体" panose="02010600030101010101" pitchFamily="2" charset="-122"/>
              </a:rPr>
              <a:t>公共处理和</a:t>
            </a:r>
            <a:r>
              <a:rPr lang="en-US" altLang="zh-CN" sz="1800" b="1" dirty="0">
                <a:latin typeface="宋体" panose="02010600030101010101" pitchFamily="2" charset="-122"/>
              </a:rPr>
              <a:t>I/O</a:t>
            </a:r>
            <a:r>
              <a:rPr lang="zh-CN" altLang="en-US" sz="1800" b="1" dirty="0">
                <a:latin typeface="宋体" panose="02010600030101010101" pitchFamily="2" charset="-122"/>
              </a:rPr>
              <a:t>刷新</a:t>
            </a:r>
            <a:endParaRPr lang="zh-CN" altLang="en-US" dirty="0"/>
          </a:p>
        </p:txBody>
      </p:sp>
      <p:sp>
        <p:nvSpPr>
          <p:cNvPr id="6" name="文本框 5">
            <a:extLst>
              <a:ext uri="{FF2B5EF4-FFF2-40B4-BE49-F238E27FC236}">
                <a16:creationId xmlns:a16="http://schemas.microsoft.com/office/drawing/2014/main" id="{A5BE2966-1B28-C98E-F51B-4C1934B3E6A8}"/>
              </a:ext>
            </a:extLst>
          </p:cNvPr>
          <p:cNvSpPr txBox="1"/>
          <p:nvPr/>
        </p:nvSpPr>
        <p:spPr>
          <a:xfrm>
            <a:off x="4374458" y="1536656"/>
            <a:ext cx="1603150" cy="369332"/>
          </a:xfrm>
          <a:prstGeom prst="rect">
            <a:avLst/>
          </a:prstGeom>
          <a:noFill/>
        </p:spPr>
        <p:txBody>
          <a:bodyPr wrap="square">
            <a:spAutoFit/>
          </a:bodyPr>
          <a:lstStyle/>
          <a:p>
            <a:pPr algn="ctr"/>
            <a:r>
              <a:rPr lang="zh-CN" altLang="en-US" b="1" dirty="0"/>
              <a:t>执行用户程序</a:t>
            </a:r>
          </a:p>
        </p:txBody>
      </p:sp>
      <p:sp>
        <p:nvSpPr>
          <p:cNvPr id="8" name="文本框 7">
            <a:extLst>
              <a:ext uri="{FF2B5EF4-FFF2-40B4-BE49-F238E27FC236}">
                <a16:creationId xmlns:a16="http://schemas.microsoft.com/office/drawing/2014/main" id="{061889D5-64EC-21AA-FC5C-5539CDD11D8C}"/>
              </a:ext>
            </a:extLst>
          </p:cNvPr>
          <p:cNvSpPr txBox="1"/>
          <p:nvPr/>
        </p:nvSpPr>
        <p:spPr>
          <a:xfrm>
            <a:off x="475682" y="1536656"/>
            <a:ext cx="1493912" cy="369332"/>
          </a:xfrm>
          <a:prstGeom prst="rect">
            <a:avLst/>
          </a:prstGeom>
          <a:noFill/>
        </p:spPr>
        <p:txBody>
          <a:bodyPr wrap="square">
            <a:spAutoFit/>
          </a:bodyPr>
          <a:lstStyle/>
          <a:p>
            <a:pPr algn="ctr"/>
            <a:r>
              <a:rPr lang="zh-CN" altLang="en-US" b="1" dirty="0"/>
              <a:t>输入</a:t>
            </a:r>
            <a:r>
              <a:rPr lang="en-US" altLang="zh-CN" b="1" dirty="0"/>
              <a:t>ON</a:t>
            </a:r>
            <a:r>
              <a:rPr lang="zh-CN" altLang="en-US" b="1" dirty="0"/>
              <a:t>延时</a:t>
            </a:r>
          </a:p>
        </p:txBody>
      </p:sp>
      <p:sp>
        <p:nvSpPr>
          <p:cNvPr id="10" name="文本框 9">
            <a:extLst>
              <a:ext uri="{FF2B5EF4-FFF2-40B4-BE49-F238E27FC236}">
                <a16:creationId xmlns:a16="http://schemas.microsoft.com/office/drawing/2014/main" id="{D6BFA37F-250C-486E-F198-287FBCC665EE}"/>
              </a:ext>
            </a:extLst>
          </p:cNvPr>
          <p:cNvSpPr txBox="1"/>
          <p:nvPr/>
        </p:nvSpPr>
        <p:spPr>
          <a:xfrm>
            <a:off x="6102650" y="1536656"/>
            <a:ext cx="1349896" cy="369332"/>
          </a:xfrm>
          <a:prstGeom prst="rect">
            <a:avLst/>
          </a:prstGeom>
          <a:noFill/>
        </p:spPr>
        <p:txBody>
          <a:bodyPr wrap="square">
            <a:spAutoFit/>
          </a:bodyPr>
          <a:lstStyle/>
          <a:p>
            <a:r>
              <a:rPr lang="zh-CN" altLang="en-US" sz="1800" b="1" dirty="0">
                <a:latin typeface="宋体" panose="02010600030101010101" pitchFamily="2" charset="-122"/>
              </a:rPr>
              <a:t>输出</a:t>
            </a:r>
            <a:r>
              <a:rPr lang="en-US" altLang="zh-CN" sz="1800" b="1" dirty="0">
                <a:latin typeface="宋体" panose="02010600030101010101" pitchFamily="2" charset="-122"/>
              </a:rPr>
              <a:t>ON</a:t>
            </a:r>
            <a:r>
              <a:rPr lang="zh-CN" altLang="en-US" sz="1800" b="1" dirty="0">
                <a:latin typeface="宋体" panose="02010600030101010101" pitchFamily="2" charset="-122"/>
              </a:rPr>
              <a:t>延时</a:t>
            </a:r>
            <a:endParaRPr lang="zh-CN" altLang="en-US" dirty="0"/>
          </a:p>
        </p:txBody>
      </p:sp>
      <p:cxnSp>
        <p:nvCxnSpPr>
          <p:cNvPr id="12" name="直接箭头连接符 11">
            <a:extLst>
              <a:ext uri="{FF2B5EF4-FFF2-40B4-BE49-F238E27FC236}">
                <a16:creationId xmlns:a16="http://schemas.microsoft.com/office/drawing/2014/main" id="{912738B3-7197-ABF1-566A-3D857C225751}"/>
              </a:ext>
            </a:extLst>
          </p:cNvPr>
          <p:cNvCxnSpPr>
            <a:stCxn id="8" idx="2"/>
          </p:cNvCxnSpPr>
          <p:nvPr/>
        </p:nvCxnSpPr>
        <p:spPr>
          <a:xfrm>
            <a:off x="1222638" y="1905988"/>
            <a:ext cx="631540" cy="159502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024271F9-155A-DB36-8A61-5F92C2130432}"/>
              </a:ext>
            </a:extLst>
          </p:cNvPr>
          <p:cNvCxnSpPr>
            <a:cxnSpLocks/>
          </p:cNvCxnSpPr>
          <p:nvPr/>
        </p:nvCxnSpPr>
        <p:spPr>
          <a:xfrm flipH="1">
            <a:off x="2913964" y="1892510"/>
            <a:ext cx="154587" cy="160849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2689F89C-55BD-FF33-B97B-69BC0D8ECB30}"/>
              </a:ext>
            </a:extLst>
          </p:cNvPr>
          <p:cNvCxnSpPr>
            <a:cxnSpLocks/>
          </p:cNvCxnSpPr>
          <p:nvPr/>
        </p:nvCxnSpPr>
        <p:spPr>
          <a:xfrm flipH="1">
            <a:off x="4374458" y="1892510"/>
            <a:ext cx="699746" cy="160849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5CEC9213-AAAF-9AE3-447F-82A8449EA269}"/>
              </a:ext>
            </a:extLst>
          </p:cNvPr>
          <p:cNvCxnSpPr>
            <a:cxnSpLocks/>
          </p:cNvCxnSpPr>
          <p:nvPr/>
        </p:nvCxnSpPr>
        <p:spPr>
          <a:xfrm flipH="1">
            <a:off x="5977608" y="1887324"/>
            <a:ext cx="773114" cy="161368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C70EE712-693F-3CAB-9F89-23BBD8EE89F3}"/>
              </a:ext>
            </a:extLst>
          </p:cNvPr>
          <p:cNvSpPr>
            <a:spLocks noGrp="1" noChangeArrowheads="1"/>
          </p:cNvSpPr>
          <p:nvPr>
            <p:ph type="title"/>
          </p:nvPr>
        </p:nvSpPr>
        <p:spPr/>
        <p:txBody>
          <a:bodyPr/>
          <a:lstStyle/>
          <a:p>
            <a:pPr eaLnBrk="1" hangingPunct="1"/>
            <a:r>
              <a:rPr lang="zh-CN" altLang="en-US"/>
              <a:t>课堂练习</a:t>
            </a:r>
            <a:endParaRPr lang="zh-CN" altLang="zh-CN"/>
          </a:p>
        </p:txBody>
      </p:sp>
      <p:sp>
        <p:nvSpPr>
          <p:cNvPr id="81923" name="Rectangle 3">
            <a:extLst>
              <a:ext uri="{FF2B5EF4-FFF2-40B4-BE49-F238E27FC236}">
                <a16:creationId xmlns:a16="http://schemas.microsoft.com/office/drawing/2014/main" id="{732E4DDA-F34D-BD78-BAF8-D27C3EC1B15F}"/>
              </a:ext>
            </a:extLst>
          </p:cNvPr>
          <p:cNvSpPr>
            <a:spLocks noGrp="1" noChangeArrowheads="1"/>
          </p:cNvSpPr>
          <p:nvPr>
            <p:ph type="body" idx="1"/>
          </p:nvPr>
        </p:nvSpPr>
        <p:spPr>
          <a:xfrm>
            <a:off x="457200" y="1268760"/>
            <a:ext cx="8229600" cy="5184576"/>
          </a:xfrm>
        </p:spPr>
        <p:txBody>
          <a:bodyPr/>
          <a:lstStyle/>
          <a:p>
            <a:pPr eaLnBrk="1" hangingPunct="1"/>
            <a:r>
              <a:rPr lang="en-US" altLang="zh-CN" sz="2800" dirty="0"/>
              <a:t>1</a:t>
            </a:r>
            <a:r>
              <a:rPr lang="zh-CN" altLang="en-US" sz="2800" dirty="0"/>
              <a:t>、控制层软件如何是保证自动化控制过程的实时性？</a:t>
            </a:r>
            <a:endParaRPr lang="en-US" altLang="zh-CN" sz="2800" dirty="0"/>
          </a:p>
          <a:p>
            <a:pPr eaLnBrk="1" hangingPunct="1"/>
            <a:r>
              <a:rPr lang="en-US" altLang="zh-CN" sz="2800" dirty="0"/>
              <a:t>2</a:t>
            </a:r>
            <a:r>
              <a:rPr lang="zh-CN" altLang="en-US" sz="2800" dirty="0"/>
              <a:t>、用户如何开发程序，能够最大限度的实现代码重用？</a:t>
            </a:r>
            <a:endParaRPr lang="en-US" altLang="zh-CN" sz="2800" dirty="0"/>
          </a:p>
          <a:p>
            <a:pPr eaLnBrk="1" hangingPunct="1"/>
            <a:endParaRPr lang="en-US" altLang="zh-CN" sz="2800" dirty="0"/>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C70EE712-693F-3CAB-9F89-23BBD8EE89F3}"/>
              </a:ext>
            </a:extLst>
          </p:cNvPr>
          <p:cNvSpPr>
            <a:spLocks noGrp="1" noChangeArrowheads="1"/>
          </p:cNvSpPr>
          <p:nvPr>
            <p:ph type="title"/>
          </p:nvPr>
        </p:nvSpPr>
        <p:spPr/>
        <p:txBody>
          <a:bodyPr/>
          <a:lstStyle/>
          <a:p>
            <a:pPr eaLnBrk="1" hangingPunct="1"/>
            <a:r>
              <a:rPr lang="zh-CN" altLang="en-US"/>
              <a:t>课堂练习</a:t>
            </a:r>
            <a:endParaRPr lang="zh-CN" altLang="zh-CN"/>
          </a:p>
        </p:txBody>
      </p:sp>
      <p:sp>
        <p:nvSpPr>
          <p:cNvPr id="81923" name="Rectangle 3">
            <a:extLst>
              <a:ext uri="{FF2B5EF4-FFF2-40B4-BE49-F238E27FC236}">
                <a16:creationId xmlns:a16="http://schemas.microsoft.com/office/drawing/2014/main" id="{732E4DDA-F34D-BD78-BAF8-D27C3EC1B15F}"/>
              </a:ext>
            </a:extLst>
          </p:cNvPr>
          <p:cNvSpPr>
            <a:spLocks noGrp="1" noChangeArrowheads="1"/>
          </p:cNvSpPr>
          <p:nvPr>
            <p:ph type="body" idx="1"/>
          </p:nvPr>
        </p:nvSpPr>
        <p:spPr>
          <a:xfrm>
            <a:off x="457200" y="1268760"/>
            <a:ext cx="8229600" cy="5184576"/>
          </a:xfrm>
        </p:spPr>
        <p:txBody>
          <a:bodyPr/>
          <a:lstStyle/>
          <a:p>
            <a:pPr eaLnBrk="1" hangingPunct="1"/>
            <a:r>
              <a:rPr lang="en-US" altLang="zh-CN" sz="2800" dirty="0"/>
              <a:t>1</a:t>
            </a:r>
            <a:r>
              <a:rPr lang="zh-CN" altLang="en-US" sz="2800" dirty="0"/>
              <a:t>、控制层软件如何是保证自动化控制过程的实时性？</a:t>
            </a:r>
            <a:endParaRPr lang="en-US" altLang="zh-CN" sz="2800" dirty="0"/>
          </a:p>
          <a:p>
            <a:pPr marL="0" indent="0" eaLnBrk="1" hangingPunct="1">
              <a:buNone/>
            </a:pPr>
            <a:r>
              <a:rPr lang="zh-CN" altLang="en-US" sz="2800" dirty="0"/>
              <a:t>通过定时扫描</a:t>
            </a:r>
            <a:r>
              <a:rPr lang="en-US" altLang="zh-CN" sz="2800" dirty="0"/>
              <a:t>OB</a:t>
            </a:r>
            <a:r>
              <a:rPr lang="zh-CN" altLang="en-US" sz="2800" dirty="0"/>
              <a:t>来实现；</a:t>
            </a:r>
            <a:endParaRPr lang="en-US" altLang="zh-CN" sz="2800" dirty="0"/>
          </a:p>
          <a:p>
            <a:pPr eaLnBrk="1" hangingPunct="1"/>
            <a:r>
              <a:rPr lang="en-US" altLang="zh-CN" sz="2800" dirty="0"/>
              <a:t>2</a:t>
            </a:r>
            <a:r>
              <a:rPr lang="zh-CN" altLang="en-US" sz="2800" dirty="0"/>
              <a:t>、用户如何开发程序，能够最大限度的实现代码重用？</a:t>
            </a:r>
            <a:endParaRPr lang="en-US" altLang="zh-CN" sz="2800" dirty="0"/>
          </a:p>
          <a:p>
            <a:pPr marL="0" indent="0" eaLnBrk="1" hangingPunct="1">
              <a:buNone/>
            </a:pPr>
            <a:r>
              <a:rPr lang="zh-CN" altLang="en-US" sz="2800" dirty="0"/>
              <a:t>通过</a:t>
            </a:r>
            <a:r>
              <a:rPr lang="en-US" altLang="zh-CN" sz="2800" dirty="0"/>
              <a:t>FB</a:t>
            </a:r>
            <a:r>
              <a:rPr lang="zh-CN" altLang="en-US" sz="2800" dirty="0"/>
              <a:t>和</a:t>
            </a:r>
            <a:r>
              <a:rPr lang="en-US" altLang="zh-CN" sz="2800" dirty="0"/>
              <a:t>FC</a:t>
            </a:r>
            <a:r>
              <a:rPr lang="zh-CN" altLang="en-US" sz="2800" dirty="0"/>
              <a:t>来实现代码重用；</a:t>
            </a:r>
            <a:endParaRPr lang="en-US" altLang="zh-CN" sz="2800" dirty="0"/>
          </a:p>
        </p:txBody>
      </p:sp>
    </p:spTree>
    <p:extLst>
      <p:ext uri="{BB962C8B-B14F-4D97-AF65-F5344CB8AC3E}">
        <p14:creationId xmlns:p14="http://schemas.microsoft.com/office/powerpoint/2010/main" val="4132780539"/>
      </p:ext>
    </p:extLst>
  </p:cSld>
  <p:clrMapOvr>
    <a:masterClrMapping/>
  </p:clrMapOvr>
  <p:transition/>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3840</TotalTime>
  <Words>6487</Words>
  <Application>Microsoft Office PowerPoint</Application>
  <PresentationFormat>全屏显示(4:3)</PresentationFormat>
  <Paragraphs>411</Paragraphs>
  <Slides>94</Slides>
  <Notes>2</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94</vt:i4>
      </vt:variant>
    </vt:vector>
  </HeadingPairs>
  <TitlesOfParts>
    <vt:vector size="108" baseType="lpstr">
      <vt:lpstr>-apple-system</vt:lpstr>
      <vt:lpstr>TT17E3o00</vt:lpstr>
      <vt:lpstr>等线</vt:lpstr>
      <vt:lpstr>华文楷体</vt:lpstr>
      <vt:lpstr>宋体</vt:lpstr>
      <vt:lpstr>微软雅黑</vt:lpstr>
      <vt:lpstr>Arial</vt:lpstr>
      <vt:lpstr>Arial Black</vt:lpstr>
      <vt:lpstr>Brush Script MT</vt:lpstr>
      <vt:lpstr>Calibri</vt:lpstr>
      <vt:lpstr>Times New Roman</vt:lpstr>
      <vt:lpstr>Wingdings</vt:lpstr>
      <vt:lpstr>Pixel</vt:lpstr>
      <vt:lpstr>Visio</vt:lpstr>
      <vt:lpstr>09 DCS硬件和软件</vt:lpstr>
      <vt:lpstr>09 DCS硬件和软件</vt:lpstr>
      <vt:lpstr>PowerPoint 演示文稿</vt:lpstr>
      <vt:lpstr>PowerPoint 演示文稿</vt:lpstr>
      <vt:lpstr>DCS 分层结构中各层的功能</vt:lpstr>
      <vt:lpstr>直接控制级</vt:lpstr>
      <vt:lpstr>过程管理级</vt:lpstr>
      <vt:lpstr>PowerPoint 演示文稿</vt:lpstr>
      <vt:lpstr>PowerPoint 演示文稿</vt:lpstr>
      <vt:lpstr>DCS 的构成与联系</vt:lpstr>
      <vt:lpstr>1.  操作员站</vt:lpstr>
      <vt:lpstr>2.  现场控制站</vt:lpstr>
      <vt:lpstr>3.  工程师站</vt:lpstr>
      <vt:lpstr>3.  工程师站</vt:lpstr>
      <vt:lpstr>4.  系统网络</vt:lpstr>
      <vt:lpstr>DCS 体系结构典型示例</vt:lpstr>
      <vt:lpstr>DCS 体系结构典型示例</vt:lpstr>
      <vt:lpstr>DCS行业市场现状分析</vt:lpstr>
      <vt:lpstr>DCS市场细分情况分析</vt:lpstr>
      <vt:lpstr>DCS行业竞争格局分析</vt:lpstr>
      <vt:lpstr>中控技术—浙大中控</vt:lpstr>
      <vt:lpstr>中控技术市场分析</vt:lpstr>
      <vt:lpstr>中国PLC行业市场现状分析</vt:lpstr>
      <vt:lpstr>应用领域</vt:lpstr>
      <vt:lpstr>应用领域</vt:lpstr>
      <vt:lpstr>应用领域</vt:lpstr>
      <vt:lpstr>傲拓科技自主可控</vt:lpstr>
      <vt:lpstr>小问题？</vt:lpstr>
      <vt:lpstr>2、DCS的硬件</vt:lpstr>
      <vt:lpstr>2.1 DCS的现场控制站</vt:lpstr>
      <vt:lpstr>现场控制站的功能</vt:lpstr>
      <vt:lpstr>现场控制站的功能DI</vt:lpstr>
      <vt:lpstr>现场控制站的功能AI</vt:lpstr>
      <vt:lpstr>现场控制站的功能AI (F)</vt:lpstr>
      <vt:lpstr>电气隔离</vt:lpstr>
      <vt:lpstr>电气隔离</vt:lpstr>
      <vt:lpstr>电气隔离</vt:lpstr>
      <vt:lpstr>现场控制站的功能</vt:lpstr>
      <vt:lpstr>现场控制站的功能</vt:lpstr>
      <vt:lpstr>现场控制站技术性能</vt:lpstr>
      <vt:lpstr>现场控制站技术性能</vt:lpstr>
      <vt:lpstr>现场控制站可靠性</vt:lpstr>
      <vt:lpstr>3.2 DCS的现场控制站</vt:lpstr>
      <vt:lpstr>3.1 DCS的现场控制站</vt:lpstr>
      <vt:lpstr>3.1 DCS的现场控制站</vt:lpstr>
      <vt:lpstr>选择 AS 的标准是什么？</vt:lpstr>
      <vt:lpstr>PowerPoint 演示文稿</vt:lpstr>
      <vt:lpstr>PowerPoint 演示文稿</vt:lpstr>
      <vt:lpstr>PowerPoint 演示文稿</vt:lpstr>
      <vt:lpstr>故障安全自动化系统的组件</vt:lpstr>
      <vt:lpstr>故障安全自动化系统的组件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实现自动化需要选择什么 CPU？</vt:lpstr>
      <vt:lpstr>PLC和DCS的扩展构成</vt:lpstr>
      <vt:lpstr>PLC和DCS的扩展构成</vt:lpstr>
      <vt:lpstr>PLC和DCS的扩展构成</vt:lpstr>
      <vt:lpstr>课堂作业</vt:lpstr>
      <vt:lpstr>课堂作业-答案</vt:lpstr>
      <vt:lpstr>3、DCS软件</vt:lpstr>
      <vt:lpstr>PowerPoint 演示文稿</vt:lpstr>
      <vt:lpstr>DCS控制层软件</vt:lpstr>
      <vt:lpstr>DCS 的工作原理图</vt:lpstr>
      <vt:lpstr>PCS7 的循环扫描工作方式</vt:lpstr>
      <vt:lpstr>程序块结构</vt:lpstr>
      <vt:lpstr>程序块分类</vt:lpstr>
      <vt:lpstr>OB 组织块</vt:lpstr>
      <vt:lpstr>OB 组织块分类（1）</vt:lpstr>
      <vt:lpstr>OB 组织块分类（2）</vt:lpstr>
      <vt:lpstr>DCS 的控制层软件</vt:lpstr>
      <vt:lpstr>DCS 的控制层软件</vt:lpstr>
      <vt:lpstr>DCS 的控制层软件</vt:lpstr>
      <vt:lpstr>DCS 的控制层软件</vt:lpstr>
      <vt:lpstr>DCS 的控制层软件</vt:lpstr>
      <vt:lpstr>OB1 主扫描</vt:lpstr>
      <vt:lpstr>块的调用</vt:lpstr>
      <vt:lpstr>PCS7的运行周期</vt:lpstr>
      <vt:lpstr>课堂练习</vt:lpstr>
      <vt:lpstr>课堂练习</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引子——思考几个问题</dc:title>
  <dc:creator>zy</dc:creator>
  <cp:lastModifiedBy>Jiang</cp:lastModifiedBy>
  <cp:revision>139</cp:revision>
  <dcterms:created xsi:type="dcterms:W3CDTF">2012-11-09T08:12:16Z</dcterms:created>
  <dcterms:modified xsi:type="dcterms:W3CDTF">2025-05-20T07:16:30Z</dcterms:modified>
</cp:coreProperties>
</file>
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9"/>
  </p:notesMasterIdLst>
  <p:handoutMasterIdLst>
    <p:handoutMasterId r:id="rId20"/>
  </p:handoutMasterIdLst>
  <p:sldIdLst>
    <p:sldId id="335" r:id="rId2"/>
    <p:sldId id="319" r:id="rId3"/>
    <p:sldId id="326" r:id="rId4"/>
    <p:sldId id="334" r:id="rId5"/>
    <p:sldId id="329" r:id="rId6"/>
    <p:sldId id="320" r:id="rId7"/>
    <p:sldId id="324" r:id="rId8"/>
    <p:sldId id="325" r:id="rId9"/>
    <p:sldId id="332" r:id="rId10"/>
    <p:sldId id="321" r:id="rId11"/>
    <p:sldId id="327" r:id="rId12"/>
    <p:sldId id="333" r:id="rId13"/>
    <p:sldId id="331" r:id="rId14"/>
    <p:sldId id="330" r:id="rId15"/>
    <p:sldId id="328" r:id="rId16"/>
    <p:sldId id="323" r:id="rId17"/>
    <p:sldId id="287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FFCC"/>
    <a:srgbClr val="CCECFF"/>
    <a:srgbClr val="FFFF00"/>
    <a:srgbClr val="FFCCCC"/>
    <a:srgbClr val="FF0000"/>
    <a:srgbClr val="FFCCFF"/>
    <a:srgbClr val="339933"/>
    <a:srgbClr val="00CC66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93255" autoAdjust="0"/>
  </p:normalViewPr>
  <p:slideViewPr>
    <p:cSldViewPr showGuides="1">
      <p:cViewPr varScale="1">
        <p:scale>
          <a:sx n="70" d="100"/>
          <a:sy n="70" d="100"/>
        </p:scale>
        <p:origin x="134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506B29-AEC9-437C-8056-7AA8EBB31A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5F691F-6A01-4645-BE1D-DC466D2F8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5F691F-6A01-4645-BE1D-DC466D2F803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058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</p:grpSp>
      </p:grpSp>
      <p:sp>
        <p:nvSpPr>
          <p:cNvPr id="276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76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F0345-B619-46C3-8EBF-BED6AE465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27702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254DB-5CDE-4936-B561-23B9A54E4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455918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CB03D-648D-4306-BAFC-1067AC59FC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71113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66E51-B905-4762-B806-8C7465CA96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567123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4383A-F186-4B3F-881E-ED20FB78DA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83333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F2802-8C2E-4912-80CB-E481CF9214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1345223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59884-EF41-4D28-8E4B-A92515077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000328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A0197-7919-4AEC-81AC-D59CF31401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705721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7EEE4-B47B-4834-8686-67F1D52FDC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5083459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C180B-C4E1-486F-88B6-13910C5D1D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0031130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B18EE-9169-41C1-A043-7DF8D18895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49271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5C964-216E-4FD0-8096-316840874C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528978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3B94EC9-5CF6-472D-9E93-D2643A38A9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生产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计划体系  </a:t>
            </a:r>
          </a:p>
        </p:txBody>
      </p:sp>
      <p:graphicFrame>
        <p:nvGraphicFramePr>
          <p:cNvPr id="63491" name="Object 1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037138"/>
              </p:ext>
            </p:extLst>
          </p:nvPr>
        </p:nvGraphicFramePr>
        <p:xfrm>
          <a:off x="1163731" y="1143000"/>
          <a:ext cx="6816538" cy="563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5991441" imgH="4952836" progId="Visio.Drawing.11">
                  <p:embed/>
                </p:oleObj>
              </mc:Choice>
              <mc:Fallback>
                <p:oleObj name="Visio" r:id="rId3" imgW="5991441" imgH="4952836" progId="Visio.Drawing.11">
                  <p:embed/>
                  <p:pic>
                    <p:nvPicPr>
                      <p:cNvPr id="63491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731" y="1143000"/>
                        <a:ext cx="6816538" cy="563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166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生产计划的优化模型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8300" y="1752600"/>
            <a:ext cx="5867400" cy="4648200"/>
          </a:xfrm>
        </p:spPr>
        <p:txBody>
          <a:bodyPr/>
          <a:lstStyle/>
          <a:p>
            <a:pPr eaLnBrk="1" hangingPunct="1">
              <a:lnSpc>
                <a:spcPct val="2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7.1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问题建模要素分析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eaLnBrk="1" hangingPunct="1">
              <a:lnSpc>
                <a:spcPct val="2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7.2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基本生产规划优化模型</a:t>
            </a:r>
          </a:p>
          <a:p>
            <a:pPr eaLnBrk="1" hangingPunct="1">
              <a:lnSpc>
                <a:spcPct val="2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7.3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单级能力约束的生产计划优化模型</a:t>
            </a:r>
          </a:p>
          <a:p>
            <a:pPr eaLnBrk="1" hangingPunct="1">
              <a:lnSpc>
                <a:spcPct val="2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多级能力约束的生产计划优化模型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R_NE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utoUpdateAnimBg="0"/>
      <p:bldP spid="104451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7.1 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问题建模要素分析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6200" y="2935288"/>
            <a:ext cx="2819400" cy="739775"/>
            <a:chOff x="76200" y="2935288"/>
            <a:chExt cx="2819400" cy="739775"/>
          </a:xfrm>
        </p:grpSpPr>
        <p:sp>
          <p:nvSpPr>
            <p:cNvPr id="58" name="文本框 57"/>
            <p:cNvSpPr txBox="1"/>
            <p:nvPr/>
          </p:nvSpPr>
          <p:spPr>
            <a:xfrm>
              <a:off x="76200" y="2935288"/>
              <a:ext cx="2416175" cy="73977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能力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</a:rPr>
                <a:t>(Capacity constraints)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右箭头 53"/>
            <p:cNvSpPr/>
            <p:nvPr/>
          </p:nvSpPr>
          <p:spPr bwMode="auto">
            <a:xfrm>
              <a:off x="2595563" y="2957513"/>
              <a:ext cx="300037" cy="695325"/>
            </a:xfrm>
            <a:prstGeom prst="rightArrow">
              <a:avLst/>
            </a:prstGeom>
            <a:solidFill>
              <a:schemeClr val="accent5"/>
            </a:solidFill>
            <a:ln w="6350" cap="rnd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eaVert" wrap="none" lIns="90000" rIns="1890000" anchor="ctr"/>
            <a:lstStyle/>
            <a:p>
              <a:pPr algn="ctr"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154633" name="文本框 154632"/>
          <p:cNvSpPr txBox="1"/>
          <p:nvPr/>
        </p:nvSpPr>
        <p:spPr>
          <a:xfrm>
            <a:off x="7856538" y="2935288"/>
            <a:ext cx="1211262" cy="739775"/>
          </a:xfrm>
          <a:prstGeom prst="rect">
            <a:avLst/>
          </a:prstGeom>
          <a:solidFill>
            <a:schemeClr val="accent1">
              <a:lumMod val="90000"/>
            </a:schemeClr>
          </a:solidFill>
          <a:ln w="28575"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en-US" altLang="zh-CN" dirty="0">
                <a:solidFill>
                  <a:schemeClr val="bg1"/>
                </a:solidFill>
              </a:rPr>
              <a:t>(Demand)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00200" y="5334000"/>
            <a:ext cx="6781800" cy="777875"/>
            <a:chOff x="1600200" y="5334000"/>
            <a:chExt cx="6781800" cy="777875"/>
          </a:xfrm>
        </p:grpSpPr>
        <p:cxnSp>
          <p:nvCxnSpPr>
            <p:cNvPr id="6153" name="直接箭头连接符 154634"/>
            <p:cNvCxnSpPr>
              <a:cxnSpLocks noChangeShapeType="1"/>
            </p:cNvCxnSpPr>
            <p:nvPr/>
          </p:nvCxnSpPr>
          <p:spPr bwMode="auto">
            <a:xfrm>
              <a:off x="1600200" y="5715000"/>
              <a:ext cx="6781800" cy="0"/>
            </a:xfrm>
            <a:prstGeom prst="straightConnector1">
              <a:avLst/>
            </a:prstGeom>
            <a:noFill/>
            <a:ln w="28575" cap="rnd" algn="ctr">
              <a:solidFill>
                <a:srgbClr val="003399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54" name="文本框 62"/>
            <p:cNvSpPr txBox="1">
              <a:spLocks noChangeArrowheads="1"/>
            </p:cNvSpPr>
            <p:nvPr/>
          </p:nvSpPr>
          <p:spPr bwMode="auto">
            <a:xfrm>
              <a:off x="8077200" y="5743575"/>
              <a:ext cx="249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t</a:t>
              </a:r>
              <a:endParaRPr lang="zh-CN" altLang="en-US" sz="1800" i="1"/>
            </a:p>
          </p:txBody>
        </p:sp>
        <p:sp>
          <p:nvSpPr>
            <p:cNvPr id="6155" name="文本框 65"/>
            <p:cNvSpPr txBox="1">
              <a:spLocks noChangeArrowheads="1"/>
            </p:cNvSpPr>
            <p:nvPr/>
          </p:nvSpPr>
          <p:spPr bwMode="auto">
            <a:xfrm>
              <a:off x="3990975" y="5334000"/>
              <a:ext cx="2390775" cy="738188"/>
            </a:xfrm>
            <a:prstGeom prst="rect">
              <a:avLst/>
            </a:prstGeom>
            <a:solidFill>
              <a:srgbClr val="CCFFCC">
                <a:alpha val="69804"/>
              </a:srgbClr>
            </a:solidFill>
            <a:ln w="6350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/>
                <a:t>计划展望期</a:t>
              </a:r>
              <a:endParaRPr lang="en-US" altLang="zh-CN" sz="2400" b="1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(Planning Horizon)</a:t>
              </a:r>
              <a:endParaRPr lang="zh-CN" altLang="en-US" sz="1800"/>
            </a:p>
          </p:txBody>
        </p:sp>
      </p:grpSp>
      <p:sp>
        <p:nvSpPr>
          <p:cNvPr id="6156" name="文本框 66"/>
          <p:cNvSpPr txBox="1">
            <a:spLocks noChangeArrowheads="1"/>
          </p:cNvSpPr>
          <p:nvPr/>
        </p:nvSpPr>
        <p:spPr bwMode="auto">
          <a:xfrm>
            <a:off x="3979863" y="1787525"/>
            <a:ext cx="2413000" cy="738188"/>
          </a:xfrm>
          <a:prstGeom prst="rect">
            <a:avLst/>
          </a:prstGeom>
          <a:solidFill>
            <a:srgbClr val="FFFF00">
              <a:alpha val="69804"/>
            </a:srgbClr>
          </a:solidFill>
          <a:ln w="6350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计划层级</a:t>
            </a:r>
            <a:endParaRPr lang="en-US" altLang="zh-CN" sz="2400"/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(Number of Levels)</a:t>
            </a:r>
            <a:endParaRPr lang="zh-CN" altLang="en-US" sz="1800"/>
          </a:p>
        </p:txBody>
      </p:sp>
      <p:sp>
        <p:nvSpPr>
          <p:cNvPr id="6157" name="文本框 67"/>
          <p:cNvSpPr txBox="1">
            <a:spLocks noChangeArrowheads="1"/>
          </p:cNvSpPr>
          <p:nvPr/>
        </p:nvSpPr>
        <p:spPr bwMode="auto">
          <a:xfrm>
            <a:off x="3990975" y="4114800"/>
            <a:ext cx="2390775" cy="738188"/>
          </a:xfrm>
          <a:prstGeom prst="rect">
            <a:avLst/>
          </a:prstGeom>
          <a:solidFill>
            <a:srgbClr val="FFFF00">
              <a:alpha val="69804"/>
            </a:srgbClr>
          </a:solidFill>
          <a:ln w="6350">
            <a:solidFill>
              <a:srgbClr val="FFC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对象数量</a:t>
            </a:r>
            <a:endParaRPr lang="en-US" altLang="zh-CN" sz="2400" dirty="0"/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(Number of Products)</a:t>
            </a:r>
            <a:endParaRPr lang="zh-CN" altLang="en-US" sz="1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2976563" y="2133600"/>
            <a:ext cx="4824412" cy="2438400"/>
            <a:chOff x="2976563" y="2133600"/>
            <a:chExt cx="4824412" cy="2438400"/>
          </a:xfrm>
        </p:grpSpPr>
        <p:grpSp>
          <p:nvGrpSpPr>
            <p:cNvPr id="6150" name="组合 154639"/>
            <p:cNvGrpSpPr>
              <a:grpSpLocks/>
            </p:cNvGrpSpPr>
            <p:nvPr/>
          </p:nvGrpSpPr>
          <p:grpSpPr bwMode="auto">
            <a:xfrm>
              <a:off x="3844925" y="2667000"/>
              <a:ext cx="2682875" cy="1276350"/>
              <a:chOff x="3185046" y="2971800"/>
              <a:chExt cx="2682354" cy="1276350"/>
            </a:xfrm>
          </p:grpSpPr>
          <p:sp>
            <p:nvSpPr>
              <p:cNvPr id="6163" name="椭圆 2"/>
              <p:cNvSpPr>
                <a:spLocks noChangeArrowheads="1"/>
              </p:cNvSpPr>
              <p:nvPr/>
            </p:nvSpPr>
            <p:spPr bwMode="auto">
              <a:xfrm>
                <a:off x="5562600" y="3126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4" name="椭圆 18"/>
              <p:cNvSpPr>
                <a:spLocks noChangeArrowheads="1"/>
              </p:cNvSpPr>
              <p:nvPr/>
            </p:nvSpPr>
            <p:spPr bwMode="auto">
              <a:xfrm>
                <a:off x="4785246" y="29718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5" name="椭圆 19"/>
              <p:cNvSpPr>
                <a:spLocks noChangeArrowheads="1"/>
              </p:cNvSpPr>
              <p:nvPr/>
            </p:nvSpPr>
            <p:spPr bwMode="auto">
              <a:xfrm>
                <a:off x="4785246" y="34671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6" name="椭圆 20"/>
              <p:cNvSpPr>
                <a:spLocks noChangeArrowheads="1"/>
              </p:cNvSpPr>
              <p:nvPr/>
            </p:nvSpPr>
            <p:spPr bwMode="auto">
              <a:xfrm>
                <a:off x="5562600" y="3936241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7" name="椭圆 21"/>
              <p:cNvSpPr>
                <a:spLocks noChangeArrowheads="1"/>
              </p:cNvSpPr>
              <p:nvPr/>
            </p:nvSpPr>
            <p:spPr bwMode="auto">
              <a:xfrm>
                <a:off x="4785246" y="401955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8" name="椭圆 22"/>
              <p:cNvSpPr>
                <a:spLocks noChangeArrowheads="1"/>
              </p:cNvSpPr>
              <p:nvPr/>
            </p:nvSpPr>
            <p:spPr bwMode="auto">
              <a:xfrm>
                <a:off x="3965243" y="30121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9" name="椭圆 23"/>
              <p:cNvSpPr>
                <a:spLocks noChangeArrowheads="1"/>
              </p:cNvSpPr>
              <p:nvPr/>
            </p:nvSpPr>
            <p:spPr bwMode="auto">
              <a:xfrm>
                <a:off x="3185046" y="3515436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70" name="椭圆 24"/>
              <p:cNvSpPr>
                <a:spLocks noChangeArrowheads="1"/>
              </p:cNvSpPr>
              <p:nvPr/>
            </p:nvSpPr>
            <p:spPr bwMode="auto">
              <a:xfrm>
                <a:off x="3970930" y="3507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6171" name="直接箭头连接符 4"/>
              <p:cNvCxnSpPr>
                <a:cxnSpLocks noChangeShapeType="1"/>
                <a:stCxn id="6164" idx="6"/>
                <a:endCxn id="6163" idx="2"/>
              </p:cNvCxnSpPr>
              <p:nvPr/>
            </p:nvCxnSpPr>
            <p:spPr bwMode="auto">
              <a:xfrm>
                <a:off x="5090046" y="3086100"/>
                <a:ext cx="472554" cy="1546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2" name="直接箭头连接符 6"/>
              <p:cNvCxnSpPr>
                <a:cxnSpLocks noChangeShapeType="1"/>
                <a:stCxn id="6165" idx="6"/>
                <a:endCxn id="6163" idx="3"/>
              </p:cNvCxnSpPr>
              <p:nvPr/>
            </p:nvCxnSpPr>
            <p:spPr bwMode="auto">
              <a:xfrm flipV="1">
                <a:off x="5090046" y="3321597"/>
                <a:ext cx="517191" cy="25980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3" name="直接箭头连接符 9"/>
              <p:cNvCxnSpPr>
                <a:cxnSpLocks noChangeShapeType="1"/>
                <a:stCxn id="6168" idx="6"/>
                <a:endCxn id="6165" idx="2"/>
              </p:cNvCxnSpPr>
              <p:nvPr/>
            </p:nvCxnSpPr>
            <p:spPr bwMode="auto">
              <a:xfrm>
                <a:off x="4270043" y="3126475"/>
                <a:ext cx="515203" cy="45492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4" name="直接箭头连接符 11"/>
              <p:cNvCxnSpPr>
                <a:cxnSpLocks noChangeShapeType="1"/>
                <a:stCxn id="6170" idx="6"/>
                <a:endCxn id="6164" idx="3"/>
              </p:cNvCxnSpPr>
              <p:nvPr/>
            </p:nvCxnSpPr>
            <p:spPr bwMode="auto">
              <a:xfrm flipV="1">
                <a:off x="4275730" y="3166922"/>
                <a:ext cx="554153" cy="4548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5" name="直接箭头连接符 13"/>
              <p:cNvCxnSpPr>
                <a:cxnSpLocks noChangeShapeType="1"/>
                <a:stCxn id="6167" idx="6"/>
                <a:endCxn id="6166" idx="2"/>
              </p:cNvCxnSpPr>
              <p:nvPr/>
            </p:nvCxnSpPr>
            <p:spPr bwMode="auto">
              <a:xfrm flipV="1">
                <a:off x="5090046" y="4050541"/>
                <a:ext cx="472554" cy="8330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6" name="直接箭头连接符 15"/>
              <p:cNvCxnSpPr>
                <a:cxnSpLocks noChangeShapeType="1"/>
                <a:stCxn id="6165" idx="5"/>
                <a:endCxn id="6166" idx="2"/>
              </p:cNvCxnSpPr>
              <p:nvPr/>
            </p:nvCxnSpPr>
            <p:spPr bwMode="auto">
              <a:xfrm>
                <a:off x="5045409" y="3662222"/>
                <a:ext cx="517191" cy="3883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7" name="直接箭头连接符 17"/>
              <p:cNvCxnSpPr>
                <a:cxnSpLocks noChangeShapeType="1"/>
                <a:stCxn id="6164" idx="5"/>
                <a:endCxn id="6166" idx="2"/>
              </p:cNvCxnSpPr>
              <p:nvPr/>
            </p:nvCxnSpPr>
            <p:spPr bwMode="auto">
              <a:xfrm>
                <a:off x="5045409" y="3166922"/>
                <a:ext cx="517191" cy="8836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8" name="直接箭头连接符 26"/>
              <p:cNvCxnSpPr>
                <a:cxnSpLocks noChangeShapeType="1"/>
                <a:stCxn id="6170" idx="5"/>
                <a:endCxn id="6167" idx="2"/>
              </p:cNvCxnSpPr>
              <p:nvPr/>
            </p:nvCxnSpPr>
            <p:spPr bwMode="auto">
              <a:xfrm>
                <a:off x="4231093" y="3702597"/>
                <a:ext cx="554153" cy="4312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79" name="直接箭头连接符 28"/>
              <p:cNvCxnSpPr>
                <a:cxnSpLocks noChangeShapeType="1"/>
                <a:stCxn id="6169" idx="6"/>
                <a:endCxn id="6170" idx="2"/>
              </p:cNvCxnSpPr>
              <p:nvPr/>
            </p:nvCxnSpPr>
            <p:spPr bwMode="auto">
              <a:xfrm flipV="1">
                <a:off x="3489846" y="3621775"/>
                <a:ext cx="481084" cy="796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80" name="直接箭头连接符 30"/>
              <p:cNvCxnSpPr>
                <a:cxnSpLocks noChangeShapeType="1"/>
                <a:stCxn id="6168" idx="6"/>
                <a:endCxn id="6164" idx="2"/>
              </p:cNvCxnSpPr>
              <p:nvPr/>
            </p:nvCxnSpPr>
            <p:spPr bwMode="auto">
              <a:xfrm flipV="1">
                <a:off x="4270043" y="3086100"/>
                <a:ext cx="515203" cy="403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181" name="椭圆 49"/>
              <p:cNvSpPr>
                <a:spLocks noChangeArrowheads="1"/>
              </p:cNvSpPr>
              <p:nvPr/>
            </p:nvSpPr>
            <p:spPr bwMode="auto">
              <a:xfrm>
                <a:off x="3965243" y="4001069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6182" name="直接箭头连接符 154628"/>
              <p:cNvCxnSpPr>
                <a:cxnSpLocks noChangeShapeType="1"/>
                <a:stCxn id="6181" idx="6"/>
                <a:endCxn id="6167" idx="2"/>
              </p:cNvCxnSpPr>
              <p:nvPr/>
            </p:nvCxnSpPr>
            <p:spPr bwMode="auto">
              <a:xfrm>
                <a:off x="4270043" y="4115369"/>
                <a:ext cx="515203" cy="1848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2976563" y="2133600"/>
              <a:ext cx="4824412" cy="2438400"/>
              <a:chOff x="2976563" y="2133600"/>
              <a:chExt cx="4824412" cy="2438400"/>
            </a:xfrm>
          </p:grpSpPr>
          <p:sp>
            <p:nvSpPr>
              <p:cNvPr id="6149" name="椭圆 1"/>
              <p:cNvSpPr>
                <a:spLocks noChangeArrowheads="1"/>
              </p:cNvSpPr>
              <p:nvPr/>
            </p:nvSpPr>
            <p:spPr bwMode="auto">
              <a:xfrm>
                <a:off x="2976563" y="2133600"/>
                <a:ext cx="4419600" cy="2438400"/>
              </a:xfrm>
              <a:prstGeom prst="ellipse">
                <a:avLst/>
              </a:prstGeom>
              <a:noFill/>
              <a:ln w="38100" cap="rnd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3" name="右箭头 72"/>
              <p:cNvSpPr/>
              <p:nvPr/>
            </p:nvSpPr>
            <p:spPr bwMode="auto">
              <a:xfrm>
                <a:off x="7500938" y="2986088"/>
                <a:ext cx="300037" cy="695325"/>
              </a:xfrm>
              <a:prstGeom prst="rightArrow">
                <a:avLst/>
              </a:prstGeom>
              <a:solidFill>
                <a:schemeClr val="accent5"/>
              </a:solidFill>
              <a:ln w="6350" cap="rnd" cmpd="sng" algn="ctr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eaVert" wrap="none" lIns="90000" rIns="1890000" anchor="ctr"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1154113" y="1787525"/>
            <a:ext cx="3189287" cy="1414463"/>
            <a:chOff x="1154113" y="1787525"/>
            <a:chExt cx="3189287" cy="1414463"/>
          </a:xfrm>
        </p:grpSpPr>
        <p:sp>
          <p:nvSpPr>
            <p:cNvPr id="6160" name="文本框 74"/>
            <p:cNvSpPr txBox="1">
              <a:spLocks noChangeArrowheads="1"/>
            </p:cNvSpPr>
            <p:nvPr/>
          </p:nvSpPr>
          <p:spPr bwMode="auto">
            <a:xfrm>
              <a:off x="1154113" y="1787525"/>
              <a:ext cx="2032000" cy="738188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bg1"/>
                  </a:solidFill>
                </a:rPr>
                <a:t>生产启动结构</a:t>
              </a:r>
              <a:endParaRPr lang="en-US" altLang="zh-CN" sz="2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bg1"/>
                  </a:solidFill>
                </a:rPr>
                <a:t>(Setup Structure)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  <p:cxnSp>
          <p:nvCxnSpPr>
            <p:cNvPr id="6161" name="直接箭头连接符 154644"/>
            <p:cNvCxnSpPr>
              <a:cxnSpLocks noChangeShapeType="1"/>
              <a:stCxn id="6160" idx="3"/>
            </p:cNvCxnSpPr>
            <p:nvPr/>
          </p:nvCxnSpPr>
          <p:spPr bwMode="auto">
            <a:xfrm>
              <a:off x="3186113" y="2157413"/>
              <a:ext cx="1157287" cy="1044575"/>
            </a:xfrm>
            <a:prstGeom prst="straightConnector1">
              <a:avLst/>
            </a:prstGeom>
            <a:noFill/>
            <a:ln w="38100" cap="rnd" algn="ctr">
              <a:solidFill>
                <a:srgbClr val="3399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527800" y="1787525"/>
            <a:ext cx="2411413" cy="1147763"/>
            <a:chOff x="6527800" y="1787525"/>
            <a:chExt cx="2411413" cy="1147763"/>
          </a:xfrm>
        </p:grpSpPr>
        <p:sp>
          <p:nvSpPr>
            <p:cNvPr id="6159" name="文本框 73"/>
            <p:cNvSpPr txBox="1">
              <a:spLocks noChangeArrowheads="1"/>
            </p:cNvSpPr>
            <p:nvPr/>
          </p:nvSpPr>
          <p:spPr bwMode="auto">
            <a:xfrm>
              <a:off x="7215188" y="1787525"/>
              <a:ext cx="1724025" cy="738188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bg1"/>
                  </a:solidFill>
                </a:rPr>
                <a:t>物料衰退性</a:t>
              </a:r>
              <a:endParaRPr lang="en-US" altLang="zh-CN" sz="2400">
                <a:solidFill>
                  <a:schemeClr val="bg1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(Deterioration)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cxnSp>
          <p:nvCxnSpPr>
            <p:cNvPr id="6162" name="直接箭头连接符 154646"/>
            <p:cNvCxnSpPr>
              <a:cxnSpLocks noChangeShapeType="1"/>
              <a:stCxn id="6159" idx="1"/>
              <a:endCxn id="6163" idx="6"/>
            </p:cNvCxnSpPr>
            <p:nvPr/>
          </p:nvCxnSpPr>
          <p:spPr bwMode="auto">
            <a:xfrm flipH="1">
              <a:off x="6527800" y="2157413"/>
              <a:ext cx="687388" cy="777875"/>
            </a:xfrm>
            <a:prstGeom prst="straightConnector1">
              <a:avLst/>
            </a:prstGeom>
            <a:noFill/>
            <a:ln w="38100" cap="rnd" algn="ctr">
              <a:solidFill>
                <a:srgbClr val="3399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 animBg="1"/>
      <p:bldP spid="6156" grpId="0" animBg="1"/>
      <p:bldP spid="61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7.1 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问题建模要素分析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731013"/>
              </p:ext>
            </p:extLst>
          </p:nvPr>
        </p:nvGraphicFramePr>
        <p:xfrm>
          <a:off x="647700" y="1524000"/>
          <a:ext cx="7848600" cy="517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9155961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957588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建模要素</a:t>
                      </a:r>
                      <a:endParaRPr lang="zh-CN" altLang="en-US" sz="2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要素分类</a:t>
                      </a:r>
                      <a:endParaRPr lang="zh-CN" altLang="en-US" sz="2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计划展望期</a:t>
                      </a:r>
                      <a:endParaRPr lang="zh-CN" altLang="en-US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smtClean="0">
                          <a:solidFill>
                            <a:srgbClr val="002060"/>
                          </a:solidFill>
                        </a:rPr>
                        <a:t>Finite / Infinite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00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计划层级</a:t>
                      </a:r>
                      <a:endParaRPr lang="zh-CN" altLang="en-US" sz="2400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Single-level / Multi-level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6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对象数量</a:t>
                      </a:r>
                      <a:endParaRPr lang="zh-CN" altLang="en-US" sz="2400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Single-item / Multi-item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2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需求</a:t>
                      </a:r>
                      <a:endParaRPr lang="zh-CN" altLang="en-US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smtClean="0">
                          <a:solidFill>
                            <a:srgbClr val="002060"/>
                          </a:solidFill>
                        </a:rPr>
                        <a:t>Static demand / Dynamic</a:t>
                      </a:r>
                      <a:r>
                        <a:rPr lang="en-US" altLang="zh-CN" sz="2400" baseline="0" dirty="0" smtClean="0">
                          <a:solidFill>
                            <a:srgbClr val="002060"/>
                          </a:solidFill>
                        </a:rPr>
                        <a:t> demand</a:t>
                      </a:r>
                    </a:p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aseline="0" dirty="0" smtClean="0">
                          <a:solidFill>
                            <a:srgbClr val="002060"/>
                          </a:solidFill>
                        </a:rPr>
                        <a:t>Deterministic / Probabilistic</a:t>
                      </a:r>
                    </a:p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aseline="0" dirty="0" smtClean="0">
                          <a:solidFill>
                            <a:srgbClr val="002060"/>
                          </a:solidFill>
                        </a:rPr>
                        <a:t>Independent / Dependent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6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能力</a:t>
                      </a:r>
                      <a:endParaRPr lang="zh-CN" altLang="en-US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err="1" smtClean="0">
                          <a:solidFill>
                            <a:srgbClr val="002060"/>
                          </a:solidFill>
                        </a:rPr>
                        <a:t>Uncapacitated</a:t>
                      </a:r>
                      <a:r>
                        <a:rPr lang="en-US" altLang="zh-CN" sz="2400" dirty="0" smtClean="0">
                          <a:solidFill>
                            <a:srgbClr val="002060"/>
                          </a:solidFill>
                        </a:rPr>
                        <a:t> / Capacitated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918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物料衰退性</a:t>
                      </a:r>
                      <a:endParaRPr lang="zh-CN" altLang="en-US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smtClean="0">
                          <a:solidFill>
                            <a:srgbClr val="002060"/>
                          </a:solidFill>
                        </a:rPr>
                        <a:t>No</a:t>
                      </a:r>
                      <a:r>
                        <a:rPr lang="en-US" altLang="zh-CN" sz="2400" baseline="0" dirty="0" smtClean="0">
                          <a:solidFill>
                            <a:srgbClr val="002060"/>
                          </a:solidFill>
                        </a:rPr>
                        <a:t> / Yes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983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生产启动结构</a:t>
                      </a:r>
                      <a:endParaRPr lang="zh-CN" altLang="en-US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smtClean="0">
                          <a:solidFill>
                            <a:srgbClr val="002060"/>
                          </a:solidFill>
                        </a:rPr>
                        <a:t>Simple setup / Complex</a:t>
                      </a:r>
                      <a:r>
                        <a:rPr lang="en-US" altLang="zh-CN" sz="2400" baseline="0" dirty="0" smtClean="0">
                          <a:solidFill>
                            <a:srgbClr val="002060"/>
                          </a:solidFill>
                        </a:rPr>
                        <a:t> setup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925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73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7.2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基本生产规划优化模型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dirty="0" smtClean="0">
                <a:solidFill>
                  <a:srgbClr val="003366"/>
                </a:solidFill>
              </a:rPr>
              <a:t>回顾：扩展的生产规划模型</a:t>
            </a:r>
            <a:r>
              <a:rPr lang="zh-CN" altLang="en-US" sz="2400" dirty="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dirty="0" smtClean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04800" y="2244725"/>
          <a:ext cx="4386263" cy="430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506">
                  <a:extLst>
                    <a:ext uri="{9D8B030D-6E8A-4147-A177-3AD203B41FA5}">
                      <a16:colId xmlns:a16="http://schemas.microsoft.com/office/drawing/2014/main" val="2609189477"/>
                    </a:ext>
                  </a:extLst>
                </a:gridCol>
                <a:gridCol w="3124757">
                  <a:extLst>
                    <a:ext uri="{9D8B030D-6E8A-4147-A177-3AD203B41FA5}">
                      <a16:colId xmlns:a16="http://schemas.microsoft.com/office/drawing/2014/main" val="2533180741"/>
                    </a:ext>
                  </a:extLst>
                </a:gridCol>
              </a:tblGrid>
              <a:tr h="37089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输入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26171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rgbClr val="002060"/>
                          </a:solidFill>
                        </a:rPr>
                        <a:t>资源</a:t>
                      </a:r>
                      <a:endParaRPr lang="en-US" altLang="zh-CN" sz="1600" b="0" dirty="0" smtClean="0">
                        <a:solidFill>
                          <a:srgbClr val="002060"/>
                        </a:solidFill>
                      </a:endParaRPr>
                    </a:p>
                    <a:p>
                      <a:r>
                        <a:rPr lang="en-US" altLang="zh-CN" sz="1600" b="0" dirty="0" smtClean="0">
                          <a:solidFill>
                            <a:srgbClr val="002060"/>
                          </a:solidFill>
                        </a:rPr>
                        <a:t>(Resources)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56" marR="91456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劳力</a:t>
                      </a:r>
                      <a:r>
                        <a:rPr lang="en-US" altLang="zh-CN" sz="1800" dirty="0" smtClean="0"/>
                        <a:t>(Workforce)</a:t>
                      </a:r>
                    </a:p>
                    <a:p>
                      <a:r>
                        <a:rPr lang="zh-CN" altLang="en-US" sz="1800" dirty="0" smtClean="0"/>
                        <a:t>设施</a:t>
                      </a:r>
                      <a:r>
                        <a:rPr lang="en-US" altLang="zh-CN" sz="1800" dirty="0" smtClean="0"/>
                        <a:t>(Facilities)</a:t>
                      </a:r>
                      <a:endParaRPr lang="zh-CN" altLang="en-US" sz="1800" dirty="0"/>
                    </a:p>
                  </a:txBody>
                  <a:tcPr marL="91456" marR="91456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605021"/>
                  </a:ext>
                </a:extLst>
              </a:tr>
              <a:tr h="370895">
                <a:tc gridSpan="2"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rgbClr val="002060"/>
                          </a:solidFill>
                        </a:rPr>
                        <a:t>需求预测</a:t>
                      </a:r>
                      <a:r>
                        <a:rPr lang="en-US" altLang="zh-CN" sz="1800" b="0" dirty="0" smtClean="0">
                          <a:solidFill>
                            <a:srgbClr val="002060"/>
                          </a:solidFill>
                        </a:rPr>
                        <a:t>(Demand Forecast)</a:t>
                      </a:r>
                      <a:endParaRPr lang="zh-CN" altLang="en-US" sz="18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56" marR="91456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098699"/>
                  </a:ext>
                </a:extLst>
              </a:tr>
              <a:tr h="1188895"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rgbClr val="002060"/>
                          </a:solidFill>
                        </a:rPr>
                        <a:t>政策</a:t>
                      </a:r>
                      <a:endParaRPr lang="en-US" altLang="zh-CN" sz="1600" b="0" dirty="0" smtClean="0">
                        <a:solidFill>
                          <a:srgbClr val="002060"/>
                        </a:solidFill>
                      </a:endParaRPr>
                    </a:p>
                    <a:p>
                      <a:r>
                        <a:rPr lang="en-US" altLang="zh-CN" sz="1600" b="0" dirty="0" smtClean="0">
                          <a:solidFill>
                            <a:srgbClr val="002060"/>
                          </a:solidFill>
                        </a:rPr>
                        <a:t>(Policy Statement)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56" marR="91456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外包</a:t>
                      </a:r>
                      <a:r>
                        <a:rPr lang="en-US" altLang="zh-CN" sz="1800" dirty="0" smtClean="0"/>
                        <a:t>(Outsourcing)</a:t>
                      </a:r>
                    </a:p>
                    <a:p>
                      <a:r>
                        <a:rPr lang="zh-CN" altLang="en-US" sz="1800" dirty="0" smtClean="0"/>
                        <a:t>加班</a:t>
                      </a:r>
                      <a:r>
                        <a:rPr lang="en-US" altLang="zh-CN" sz="1800" dirty="0" smtClean="0"/>
                        <a:t>(Overtime)</a:t>
                      </a:r>
                    </a:p>
                    <a:p>
                      <a:r>
                        <a:rPr lang="zh-CN" altLang="en-US" sz="1800" dirty="0" smtClean="0"/>
                        <a:t>退货</a:t>
                      </a:r>
                      <a:r>
                        <a:rPr lang="en-US" altLang="zh-CN" sz="1800" dirty="0" smtClean="0"/>
                        <a:t>(Back orders)</a:t>
                      </a:r>
                    </a:p>
                    <a:p>
                      <a:r>
                        <a:rPr lang="zh-CN" altLang="en-US" sz="1800" dirty="0" smtClean="0"/>
                        <a:t>库存水平</a:t>
                      </a:r>
                      <a:r>
                        <a:rPr lang="en-US" altLang="zh-CN" sz="1800" dirty="0" smtClean="0"/>
                        <a:t>(Inventory Levels)</a:t>
                      </a:r>
                      <a:endParaRPr lang="zh-CN" altLang="en-US" sz="1800" dirty="0"/>
                    </a:p>
                  </a:txBody>
                  <a:tcPr marL="91456" marR="91456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039733"/>
                  </a:ext>
                </a:extLst>
              </a:tr>
              <a:tr h="1737616"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rgbClr val="002060"/>
                          </a:solidFill>
                        </a:rPr>
                        <a:t>成本</a:t>
                      </a:r>
                      <a:endParaRPr lang="en-US" altLang="zh-CN" sz="1600" b="0" dirty="0" smtClean="0">
                        <a:solidFill>
                          <a:srgbClr val="002060"/>
                        </a:solidFill>
                      </a:endParaRPr>
                    </a:p>
                    <a:p>
                      <a:r>
                        <a:rPr lang="en-US" altLang="zh-CN" sz="1600" b="0" dirty="0" smtClean="0">
                          <a:solidFill>
                            <a:srgbClr val="002060"/>
                          </a:solidFill>
                        </a:rPr>
                        <a:t>(Costs)</a:t>
                      </a:r>
                      <a:endParaRPr lang="zh-CN" altLang="en-US" sz="16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56" marR="91456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持有成本</a:t>
                      </a:r>
                      <a:r>
                        <a:rPr lang="en-US" altLang="zh-CN" sz="1800" dirty="0" smtClean="0"/>
                        <a:t>(Inventory carrying)</a:t>
                      </a:r>
                    </a:p>
                    <a:p>
                      <a:r>
                        <a:rPr lang="zh-CN" altLang="en-US" sz="1800" dirty="0" smtClean="0"/>
                        <a:t>退货成本</a:t>
                      </a:r>
                      <a:r>
                        <a:rPr lang="en-US" altLang="zh-CN" sz="1800" dirty="0" smtClean="0"/>
                        <a:t>(Back orders)</a:t>
                      </a:r>
                    </a:p>
                    <a:p>
                      <a:r>
                        <a:rPr lang="zh-CN" altLang="en-US" sz="1800" dirty="0" smtClean="0"/>
                        <a:t>聘用</a:t>
                      </a:r>
                      <a:r>
                        <a:rPr lang="en-US" altLang="zh-CN" sz="1800" dirty="0" smtClean="0"/>
                        <a:t>/</a:t>
                      </a:r>
                      <a:r>
                        <a:rPr lang="zh-CN" altLang="en-US" sz="1800" dirty="0" smtClean="0"/>
                        <a:t>解聘成本</a:t>
                      </a:r>
                      <a:r>
                        <a:rPr lang="en-US" altLang="zh-CN" sz="1800" dirty="0" smtClean="0"/>
                        <a:t>(Hiring/firing)</a:t>
                      </a:r>
                    </a:p>
                    <a:p>
                      <a:r>
                        <a:rPr lang="zh-CN" altLang="en-US" sz="1800" dirty="0" smtClean="0"/>
                        <a:t>加班费用</a:t>
                      </a:r>
                      <a:r>
                        <a:rPr lang="en-US" altLang="zh-CN" sz="1800" dirty="0" smtClean="0"/>
                        <a:t>(Overtime)</a:t>
                      </a:r>
                    </a:p>
                    <a:p>
                      <a:r>
                        <a:rPr lang="zh-CN" altLang="en-US" sz="1800" dirty="0" smtClean="0"/>
                        <a:t>库存变化</a:t>
                      </a:r>
                      <a:r>
                        <a:rPr lang="en-US" altLang="zh-CN" sz="1800" dirty="0" smtClean="0"/>
                        <a:t>(Inventory  changes)</a:t>
                      </a:r>
                    </a:p>
                    <a:p>
                      <a:r>
                        <a:rPr lang="zh-CN" altLang="en-US" sz="1800" dirty="0" smtClean="0"/>
                        <a:t>分包成本</a:t>
                      </a:r>
                      <a:r>
                        <a:rPr lang="en-US" altLang="zh-CN" sz="1800" dirty="0" smtClean="0"/>
                        <a:t>(Subcontracting)</a:t>
                      </a:r>
                      <a:endParaRPr lang="zh-CN" altLang="en-US" sz="1800" dirty="0"/>
                    </a:p>
                  </a:txBody>
                  <a:tcPr marL="91456" marR="91456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96860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184775" y="3446463"/>
            <a:ext cx="492125" cy="190500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vert="eaVert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生产规划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172200" y="3251200"/>
          <a:ext cx="2743200" cy="2297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140">
                  <a:extLst>
                    <a:ext uri="{9D8B030D-6E8A-4147-A177-3AD203B41FA5}">
                      <a16:colId xmlns:a16="http://schemas.microsoft.com/office/drawing/2014/main" val="3448018317"/>
                    </a:ext>
                  </a:extLst>
                </a:gridCol>
                <a:gridCol w="2303060">
                  <a:extLst>
                    <a:ext uri="{9D8B030D-6E8A-4147-A177-3AD203B41FA5}">
                      <a16:colId xmlns:a16="http://schemas.microsoft.com/office/drawing/2014/main" val="2007712034"/>
                    </a:ext>
                  </a:extLst>
                </a:gridCol>
              </a:tblGrid>
              <a:tr h="37078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输出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30"/>
                  </a:ext>
                </a:extLst>
              </a:tr>
              <a:tr h="37078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ea typeface="宋体" panose="02010600030101010101" pitchFamily="2" charset="-122"/>
                        </a:rPr>
                        <a:t>总成本</a:t>
                      </a:r>
                      <a:endParaRPr lang="zh-CN" altLang="en-US" sz="1800" b="1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957053"/>
                  </a:ext>
                </a:extLst>
              </a:tr>
              <a:tr h="1555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预期水平</a:t>
                      </a:r>
                    </a:p>
                    <a:p>
                      <a:endParaRPr lang="zh-CN" altLang="en-US" sz="1800" dirty="0"/>
                    </a:p>
                  </a:txBody>
                  <a:tcPr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库存</a:t>
                      </a:r>
                      <a:r>
                        <a:rPr lang="en-US" altLang="zh-CN" sz="1800" dirty="0" smtClean="0"/>
                        <a:t>(Inventory)</a:t>
                      </a:r>
                    </a:p>
                    <a:p>
                      <a:r>
                        <a:rPr lang="zh-CN" altLang="en-US" sz="1800" dirty="0" smtClean="0"/>
                        <a:t>产出</a:t>
                      </a:r>
                      <a:r>
                        <a:rPr lang="en-US" altLang="zh-CN" sz="1800" dirty="0" smtClean="0"/>
                        <a:t>(Output)</a:t>
                      </a:r>
                    </a:p>
                    <a:p>
                      <a:r>
                        <a:rPr lang="zh-CN" altLang="en-US" sz="1800" dirty="0" smtClean="0"/>
                        <a:t>雇佣</a:t>
                      </a:r>
                      <a:r>
                        <a:rPr lang="en-US" altLang="zh-CN" sz="1800" dirty="0" smtClean="0"/>
                        <a:t>(Employment)</a:t>
                      </a:r>
                    </a:p>
                    <a:p>
                      <a:r>
                        <a:rPr lang="zh-CN" altLang="en-US" sz="1800" dirty="0" smtClean="0"/>
                        <a:t>分包</a:t>
                      </a:r>
                      <a:r>
                        <a:rPr lang="en-US" altLang="zh-CN" sz="1800" dirty="0" smtClean="0"/>
                        <a:t>(Subcontracting)</a:t>
                      </a:r>
                    </a:p>
                    <a:p>
                      <a:r>
                        <a:rPr lang="zh-CN" altLang="en-US" sz="1800" dirty="0" smtClean="0"/>
                        <a:t>退货</a:t>
                      </a:r>
                      <a:r>
                        <a:rPr lang="en-US" altLang="zh-CN" sz="1800" dirty="0" smtClean="0"/>
                        <a:t>(Backordering)</a:t>
                      </a:r>
                      <a:endParaRPr lang="zh-CN" alt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50296"/>
                  </a:ext>
                </a:extLst>
              </a:tr>
            </a:tbl>
          </a:graphicData>
        </a:graphic>
      </p:graphicFrame>
      <p:sp>
        <p:nvSpPr>
          <p:cNvPr id="9" name="右箭头 5"/>
          <p:cNvSpPr>
            <a:spLocks noChangeArrowheads="1"/>
          </p:cNvSpPr>
          <p:nvPr/>
        </p:nvSpPr>
        <p:spPr bwMode="auto">
          <a:xfrm>
            <a:off x="4784725" y="3903663"/>
            <a:ext cx="304800" cy="99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</p:spPr>
        <p:txBody>
          <a:bodyPr vert="eaVert" wrap="none" lIns="90000" rIns="18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" name="右箭头 10"/>
          <p:cNvSpPr>
            <a:spLocks noChangeArrowheads="1"/>
          </p:cNvSpPr>
          <p:nvPr/>
        </p:nvSpPr>
        <p:spPr bwMode="auto">
          <a:xfrm>
            <a:off x="5772150" y="3903663"/>
            <a:ext cx="304800" cy="99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</p:spPr>
        <p:txBody>
          <a:bodyPr vert="eaVert" wrap="none" lIns="90000" rIns="18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2" name="组合 11"/>
          <p:cNvGrpSpPr/>
          <p:nvPr/>
        </p:nvGrpSpPr>
        <p:grpSpPr>
          <a:xfrm>
            <a:off x="1724947" y="3124200"/>
            <a:ext cx="1595309" cy="2667000"/>
            <a:chOff x="1724947" y="3124200"/>
            <a:chExt cx="1595309" cy="2667000"/>
          </a:xfrm>
        </p:grpSpPr>
        <p:sp>
          <p:nvSpPr>
            <p:cNvPr id="3" name="椭圆 2"/>
            <p:cNvSpPr/>
            <p:nvPr/>
          </p:nvSpPr>
          <p:spPr bwMode="auto">
            <a:xfrm>
              <a:off x="1798702" y="3124200"/>
              <a:ext cx="1447800" cy="2667000"/>
            </a:xfrm>
            <a:prstGeom prst="ellipse">
              <a:avLst/>
            </a:prstGeom>
            <a:solidFill>
              <a:srgbClr val="7030A0">
                <a:alpha val="50196"/>
              </a:srgbClr>
            </a:solidFill>
            <a:ln w="28575" cap="rnd" cmpd="sng" algn="ctr">
              <a:solidFill>
                <a:srgbClr val="003399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5720" rIns="1890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724947" y="4000381"/>
              <a:ext cx="1595309" cy="80021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参数</a:t>
              </a:r>
              <a:endParaRPr lang="en-US" altLang="zh-CN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altLang="zh-CN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(Parameters)</a:t>
              </a:r>
              <a:endPara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834187" y="3428999"/>
            <a:ext cx="1447800" cy="1905001"/>
            <a:chOff x="6834187" y="3428999"/>
            <a:chExt cx="1447800" cy="1905001"/>
          </a:xfrm>
        </p:grpSpPr>
        <p:sp>
          <p:nvSpPr>
            <p:cNvPr id="14" name="椭圆 13"/>
            <p:cNvSpPr/>
            <p:nvPr/>
          </p:nvSpPr>
          <p:spPr bwMode="auto">
            <a:xfrm>
              <a:off x="6834187" y="3428999"/>
              <a:ext cx="1447800" cy="1905001"/>
            </a:xfrm>
            <a:prstGeom prst="ellipse">
              <a:avLst/>
            </a:prstGeom>
            <a:solidFill>
              <a:srgbClr val="FFCCCC">
                <a:alpha val="60000"/>
              </a:srgbClr>
            </a:solidFill>
            <a:ln w="28575" cap="rnd" cmpd="sng" algn="ctr">
              <a:solidFill>
                <a:srgbClr val="003399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5720" rIns="1890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843789" y="3962400"/>
              <a:ext cx="1428596" cy="80021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决策</a:t>
              </a:r>
              <a:endPara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(Decisions)</a:t>
              </a:r>
              <a:endPara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396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7.2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基本生产规划优化模型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00100" y="1458010"/>
                <a:ext cx="7734300" cy="5247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800" b="1" u="sng" dirty="0" smtClean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已知各项参数：</a:t>
                </a:r>
                <a:endParaRPr lang="en-US" altLang="zh-CN" sz="2800" b="1" u="sng" dirty="0" smtClean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hiring one worker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firing one worker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holding one unit of stock for one period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producing one unit on regular time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Incremental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of producing one unit on overtime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Idle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per unit of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production (</a:t>
                </a:r>
                <a:r>
                  <a:rPr lang="en-US" altLang="zh-CN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undertime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subcontract one unit of production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production days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aggregate units produced by one worker in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day 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Initial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inventory on hand at the start of the planning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</a:t>
                </a: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Initial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workforce at the start of the planning horizon 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Forecast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demand in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458010"/>
                <a:ext cx="7734300" cy="5247590"/>
              </a:xfrm>
              <a:prstGeom prst="rect">
                <a:avLst/>
              </a:prstGeom>
              <a:blipFill>
                <a:blip r:embed="rId2"/>
                <a:stretch>
                  <a:fillRect l="-1655" t="-581" b="-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7.2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基本生产规划优化模型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00100" y="1382554"/>
                <a:ext cx="6972300" cy="4431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u="sng" dirty="0" smtClean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决策变量：</a:t>
                </a:r>
                <a:endParaRPr lang="en-US" altLang="zh-CN" sz="2800" b="1" u="sng" dirty="0" smtClean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Workforce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in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Production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Inventory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workers hired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workers fired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Overtime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production in units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Worker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idle time in units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units subcontracted from outside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382554"/>
                <a:ext cx="6972300" cy="4431983"/>
              </a:xfrm>
              <a:prstGeom prst="rect">
                <a:avLst/>
              </a:prstGeom>
              <a:blipFill>
                <a:blip r:embed="rId2"/>
                <a:stretch>
                  <a:fillRect l="-1836" b="-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7.2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基本生产规划优化模型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8313" y="1447800"/>
            <a:ext cx="41036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u="sng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问题数学模型：</a:t>
            </a:r>
            <a:endParaRPr lang="en-US" altLang="zh-CN" sz="2800" b="1" u="sng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min</a:t>
            </a:r>
          </a:p>
          <a:p>
            <a:endParaRPr lang="en-US" altLang="zh-CN" sz="2800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i="1" dirty="0" err="1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 err="1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 err="1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err="1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14400" y="2120996"/>
                <a:ext cx="7315200" cy="95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20996"/>
                <a:ext cx="7315200" cy="957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600200" y="3166408"/>
                <a:ext cx="6858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1≤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000" dirty="0" smtClean="0"/>
                  <a:t>      </a:t>
                </a:r>
                <a:endParaRPr lang="en-US" altLang="zh-CN" sz="2000" dirty="0" smtClean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1≤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000" dirty="0"/>
                  <a:t> </a:t>
                </a:r>
                <a:endParaRPr lang="en-US" altLang="zh-CN" sz="2000" dirty="0" smtClean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1≤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000" dirty="0"/>
                  <a:t> 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1≤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166408"/>
                <a:ext cx="6858000" cy="1938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29540" y="6135469"/>
            <a:ext cx="8884919" cy="646331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Reference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en-US" altLang="zh-CN" dirty="0" err="1">
                <a:solidFill>
                  <a:srgbClr val="C00000"/>
                </a:solidFill>
              </a:rPr>
              <a:t>Nahmias</a:t>
            </a:r>
            <a:r>
              <a:rPr lang="en-US" altLang="zh-CN" dirty="0">
                <a:solidFill>
                  <a:srgbClr val="C00000"/>
                </a:solidFill>
              </a:rPr>
              <a:t> S</a:t>
            </a:r>
            <a:r>
              <a:rPr lang="en-US" altLang="zh-CN" dirty="0" smtClean="0">
                <a:solidFill>
                  <a:srgbClr val="C00000"/>
                </a:solidFill>
              </a:rPr>
              <a:t>. </a:t>
            </a:r>
            <a:r>
              <a:rPr lang="en-US" altLang="zh-CN" dirty="0">
                <a:solidFill>
                  <a:srgbClr val="C00000"/>
                </a:solidFill>
              </a:rPr>
              <a:t>Production and Operations </a:t>
            </a:r>
            <a:r>
              <a:rPr lang="en-US" altLang="zh-CN" dirty="0" smtClean="0">
                <a:solidFill>
                  <a:srgbClr val="C00000"/>
                </a:solidFill>
              </a:rPr>
              <a:t>Analysis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(7th Edition). </a:t>
            </a:r>
            <a:r>
              <a:rPr lang="zh-CN" altLang="en-US" dirty="0">
                <a:solidFill>
                  <a:srgbClr val="C00000"/>
                </a:solidFill>
              </a:rPr>
              <a:t>北京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清华大学出版社</a:t>
            </a:r>
            <a:r>
              <a:rPr lang="en-US" altLang="zh-CN" dirty="0">
                <a:solidFill>
                  <a:srgbClr val="C00000"/>
                </a:solidFill>
              </a:rPr>
              <a:t>, 2018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7.3 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单级能力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的生产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计划优化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10244" name="Rectangle 2"/>
          <p:cNvSpPr txBox="1">
            <a:spLocks noChangeArrowheads="1"/>
          </p:cNvSpPr>
          <p:nvPr/>
        </p:nvSpPr>
        <p:spPr bwMode="auto">
          <a:xfrm>
            <a:off x="468313" y="1447800"/>
            <a:ext cx="8294687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1825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Capacitated Lot Sizing Problem (CLSP)</a:t>
            </a:r>
          </a:p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能力约束批量优化问题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6200" y="3773488"/>
            <a:ext cx="2819400" cy="739775"/>
            <a:chOff x="76200" y="2935288"/>
            <a:chExt cx="2819400" cy="739775"/>
          </a:xfrm>
        </p:grpSpPr>
        <p:sp>
          <p:nvSpPr>
            <p:cNvPr id="7" name="文本框 6"/>
            <p:cNvSpPr txBox="1"/>
            <p:nvPr/>
          </p:nvSpPr>
          <p:spPr>
            <a:xfrm>
              <a:off x="76200" y="2935288"/>
              <a:ext cx="2416175" cy="73977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能力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</a:rPr>
                <a:t>(Capacity constraints)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右箭头 7"/>
            <p:cNvSpPr/>
            <p:nvPr/>
          </p:nvSpPr>
          <p:spPr bwMode="auto">
            <a:xfrm>
              <a:off x="2595563" y="2957513"/>
              <a:ext cx="300037" cy="695325"/>
            </a:xfrm>
            <a:prstGeom prst="rightArrow">
              <a:avLst/>
            </a:prstGeom>
            <a:solidFill>
              <a:schemeClr val="accent5"/>
            </a:solidFill>
            <a:ln w="6350" cap="rnd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eaVert" wrap="none" lIns="90000" rIns="1890000" anchor="ctr"/>
            <a:lstStyle/>
            <a:p>
              <a:pPr algn="ctr"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856538" y="3773488"/>
            <a:ext cx="1211262" cy="739775"/>
          </a:xfrm>
          <a:prstGeom prst="rect">
            <a:avLst/>
          </a:prstGeom>
          <a:solidFill>
            <a:schemeClr val="accent1">
              <a:lumMod val="90000"/>
            </a:schemeClr>
          </a:solidFill>
          <a:ln w="28575"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en-US" altLang="zh-CN" dirty="0">
                <a:solidFill>
                  <a:schemeClr val="bg1"/>
                </a:solidFill>
              </a:rPr>
              <a:t>(Demand)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00200" y="5851525"/>
            <a:ext cx="6781800" cy="777875"/>
            <a:chOff x="1600200" y="5334000"/>
            <a:chExt cx="6781800" cy="777875"/>
          </a:xfrm>
        </p:grpSpPr>
        <p:cxnSp>
          <p:nvCxnSpPr>
            <p:cNvPr id="11" name="直接箭头连接符 154634"/>
            <p:cNvCxnSpPr>
              <a:cxnSpLocks noChangeShapeType="1"/>
            </p:cNvCxnSpPr>
            <p:nvPr/>
          </p:nvCxnSpPr>
          <p:spPr bwMode="auto">
            <a:xfrm>
              <a:off x="1600200" y="5715000"/>
              <a:ext cx="6781800" cy="0"/>
            </a:xfrm>
            <a:prstGeom prst="straightConnector1">
              <a:avLst/>
            </a:prstGeom>
            <a:noFill/>
            <a:ln w="28575" cap="rnd" algn="ctr">
              <a:solidFill>
                <a:srgbClr val="003399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文本框 62"/>
            <p:cNvSpPr txBox="1">
              <a:spLocks noChangeArrowheads="1"/>
            </p:cNvSpPr>
            <p:nvPr/>
          </p:nvSpPr>
          <p:spPr bwMode="auto">
            <a:xfrm>
              <a:off x="8077200" y="5743575"/>
              <a:ext cx="249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t</a:t>
              </a:r>
              <a:endParaRPr lang="zh-CN" altLang="en-US" sz="1800" i="1"/>
            </a:p>
          </p:txBody>
        </p:sp>
        <p:sp>
          <p:nvSpPr>
            <p:cNvPr id="13" name="文本框 65"/>
            <p:cNvSpPr txBox="1">
              <a:spLocks noChangeArrowheads="1"/>
            </p:cNvSpPr>
            <p:nvPr/>
          </p:nvSpPr>
          <p:spPr bwMode="auto">
            <a:xfrm>
              <a:off x="3990975" y="5334000"/>
              <a:ext cx="2390775" cy="738188"/>
            </a:xfrm>
            <a:prstGeom prst="rect">
              <a:avLst/>
            </a:prstGeom>
            <a:solidFill>
              <a:srgbClr val="CCFFCC">
                <a:alpha val="69804"/>
              </a:srgbClr>
            </a:solidFill>
            <a:ln w="6350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计划展望期</a:t>
              </a:r>
              <a:endParaRPr lang="en-US" altLang="zh-CN" sz="2400" b="1" dirty="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(Planning Horizon)</a:t>
              </a:r>
              <a:endParaRPr lang="zh-CN" altLang="en-US" sz="18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976563" y="2971800"/>
            <a:ext cx="4824412" cy="2438400"/>
            <a:chOff x="2976563" y="2133600"/>
            <a:chExt cx="4824412" cy="2438400"/>
          </a:xfrm>
        </p:grpSpPr>
        <p:grpSp>
          <p:nvGrpSpPr>
            <p:cNvPr id="15" name="组合 154639"/>
            <p:cNvGrpSpPr>
              <a:grpSpLocks/>
            </p:cNvGrpSpPr>
            <p:nvPr/>
          </p:nvGrpSpPr>
          <p:grpSpPr bwMode="auto">
            <a:xfrm>
              <a:off x="3844925" y="2667000"/>
              <a:ext cx="2682875" cy="1276350"/>
              <a:chOff x="3185046" y="2971800"/>
              <a:chExt cx="2682354" cy="1276350"/>
            </a:xfrm>
          </p:grpSpPr>
          <p:sp>
            <p:nvSpPr>
              <p:cNvPr id="19" name="椭圆 2"/>
              <p:cNvSpPr>
                <a:spLocks noChangeArrowheads="1"/>
              </p:cNvSpPr>
              <p:nvPr/>
            </p:nvSpPr>
            <p:spPr bwMode="auto">
              <a:xfrm>
                <a:off x="5562600" y="3126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" name="椭圆 18"/>
              <p:cNvSpPr>
                <a:spLocks noChangeArrowheads="1"/>
              </p:cNvSpPr>
              <p:nvPr/>
            </p:nvSpPr>
            <p:spPr bwMode="auto">
              <a:xfrm>
                <a:off x="4785246" y="29718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1" name="椭圆 19"/>
              <p:cNvSpPr>
                <a:spLocks noChangeArrowheads="1"/>
              </p:cNvSpPr>
              <p:nvPr/>
            </p:nvSpPr>
            <p:spPr bwMode="auto">
              <a:xfrm>
                <a:off x="4785246" y="34671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" name="椭圆 20"/>
              <p:cNvSpPr>
                <a:spLocks noChangeArrowheads="1"/>
              </p:cNvSpPr>
              <p:nvPr/>
            </p:nvSpPr>
            <p:spPr bwMode="auto">
              <a:xfrm>
                <a:off x="5562600" y="3936241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3" name="椭圆 21"/>
              <p:cNvSpPr>
                <a:spLocks noChangeArrowheads="1"/>
              </p:cNvSpPr>
              <p:nvPr/>
            </p:nvSpPr>
            <p:spPr bwMode="auto">
              <a:xfrm>
                <a:off x="4785246" y="401955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4" name="椭圆 22"/>
              <p:cNvSpPr>
                <a:spLocks noChangeArrowheads="1"/>
              </p:cNvSpPr>
              <p:nvPr/>
            </p:nvSpPr>
            <p:spPr bwMode="auto">
              <a:xfrm>
                <a:off x="3965243" y="30121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5" name="椭圆 23"/>
              <p:cNvSpPr>
                <a:spLocks noChangeArrowheads="1"/>
              </p:cNvSpPr>
              <p:nvPr/>
            </p:nvSpPr>
            <p:spPr bwMode="auto">
              <a:xfrm>
                <a:off x="3185046" y="3515436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" name="椭圆 24"/>
              <p:cNvSpPr>
                <a:spLocks noChangeArrowheads="1"/>
              </p:cNvSpPr>
              <p:nvPr/>
            </p:nvSpPr>
            <p:spPr bwMode="auto">
              <a:xfrm>
                <a:off x="3970930" y="3507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7" name="椭圆 49"/>
              <p:cNvSpPr>
                <a:spLocks noChangeArrowheads="1"/>
              </p:cNvSpPr>
              <p:nvPr/>
            </p:nvSpPr>
            <p:spPr bwMode="auto">
              <a:xfrm>
                <a:off x="3965243" y="4001069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976563" y="2133600"/>
              <a:ext cx="4824412" cy="2438400"/>
              <a:chOff x="2976563" y="2133600"/>
              <a:chExt cx="4824412" cy="2438400"/>
            </a:xfrm>
          </p:grpSpPr>
          <p:sp>
            <p:nvSpPr>
              <p:cNvPr id="17" name="椭圆 1"/>
              <p:cNvSpPr>
                <a:spLocks noChangeArrowheads="1"/>
              </p:cNvSpPr>
              <p:nvPr/>
            </p:nvSpPr>
            <p:spPr bwMode="auto">
              <a:xfrm>
                <a:off x="2976563" y="2133600"/>
                <a:ext cx="4419600" cy="2438400"/>
              </a:xfrm>
              <a:prstGeom prst="ellipse">
                <a:avLst/>
              </a:prstGeom>
              <a:noFill/>
              <a:ln w="38100" cap="rnd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8" name="右箭头 17"/>
              <p:cNvSpPr/>
              <p:nvPr/>
            </p:nvSpPr>
            <p:spPr bwMode="auto">
              <a:xfrm>
                <a:off x="7500938" y="2986088"/>
                <a:ext cx="300037" cy="695325"/>
              </a:xfrm>
              <a:prstGeom prst="rightArrow">
                <a:avLst/>
              </a:prstGeom>
              <a:solidFill>
                <a:schemeClr val="accent5"/>
              </a:solidFill>
              <a:ln w="6350" cap="rnd" cmpd="sng" algn="ctr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eaVert" wrap="none" lIns="90000" rIns="1890000" anchor="ctr"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13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7.3 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单级能力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的生产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计划优化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10244" name="Rectangle 2"/>
          <p:cNvSpPr txBox="1">
            <a:spLocks noChangeArrowheads="1"/>
          </p:cNvSpPr>
          <p:nvPr/>
        </p:nvSpPr>
        <p:spPr bwMode="auto">
          <a:xfrm>
            <a:off x="468313" y="1431925"/>
            <a:ext cx="8294687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1825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问题符号（参数与变量）：</a:t>
            </a:r>
            <a:endParaRPr lang="en-US" altLang="zh-CN" sz="2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09600" y="2057400"/>
                <a:ext cx="8229600" cy="4728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 smtClean="0"/>
                  <a:t>	number of periods in the planning horizon</a:t>
                </a:r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dirty="0" smtClean="0"/>
                  <a:t>	production </a:t>
                </a:r>
                <a:r>
                  <a:rPr lang="en-US" altLang="zh-CN" sz="2000" dirty="0"/>
                  <a:t>(lot size) of item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inventory </a:t>
                </a:r>
                <a:r>
                  <a:rPr lang="en-US" altLang="zh-CN" sz="2000" dirty="0"/>
                  <a:t>of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at the end of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:r>
                  <a:rPr lang="en-US" altLang="zh-CN" sz="2000" dirty="0" smtClean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CN" sz="2000" dirty="0" smtClean="0"/>
                  <a:t>,without </a:t>
                </a:r>
                <a:r>
                  <a:rPr lang="en-US" altLang="zh-CN" sz="2000" dirty="0"/>
                  <a:t>loss of </a:t>
                </a:r>
                <a:r>
                  <a:rPr lang="en-US" altLang="zh-CN" sz="2000" dirty="0" smtClean="0"/>
                  <a:t>generality)</a:t>
                </a:r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a </a:t>
                </a:r>
                <a:r>
                  <a:rPr lang="en-US" altLang="zh-CN" sz="2000" dirty="0"/>
                  <a:t>binary variable that assumes value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altLang="zh-CN" sz="2000" b="0" dirty="0" smtClean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2800"/>
                  </a:lnSpc>
                </a:pPr>
                <a:r>
                  <a:rPr lang="en-US" altLang="zh-CN" sz="2000" dirty="0" smtClean="0"/>
                  <a:t>	if </a:t>
                </a:r>
                <a:r>
                  <a:rPr lang="en-US" altLang="zh-CN" sz="2000" dirty="0"/>
                  <a:t>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is produced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2000" dirty="0"/>
                  <a:t>, otherwise</a:t>
                </a:r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available </a:t>
                </a:r>
                <a:r>
                  <a:rPr lang="en-US" altLang="zh-CN" sz="2000" dirty="0"/>
                  <a:t>capacity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demand </a:t>
                </a:r>
                <a:r>
                  <a:rPr lang="en-US" altLang="zh-CN" sz="2000" dirty="0"/>
                  <a:t>for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unit </a:t>
                </a:r>
                <a:r>
                  <a:rPr lang="en-US" altLang="zh-CN" sz="2000" dirty="0"/>
                  <a:t>production cost of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produced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setup </a:t>
                </a:r>
                <a:r>
                  <a:rPr lang="en-US" altLang="zh-CN" sz="2000" dirty="0"/>
                  <a:t>cost incurred if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is produced 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000" dirty="0" smtClean="0"/>
                  <a:t>	upper </a:t>
                </a:r>
                <a:r>
                  <a:rPr lang="en-US" altLang="zh-CN" sz="2000" dirty="0"/>
                  <a:t>bound on the production of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in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unit </a:t>
                </a:r>
                <a:r>
                  <a:rPr lang="en-US" altLang="zh-CN" sz="2000" dirty="0"/>
                  <a:t>resource consumption for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 dirty="0" smtClean="0"/>
                  <a:t>	unit </a:t>
                </a:r>
                <a:r>
                  <a:rPr lang="en-US" altLang="zh-CN" sz="2000" dirty="0"/>
                  <a:t>holding cost of item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en-US" altLang="zh-CN" sz="2000" dirty="0"/>
                  <a:t>at the end of period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57400"/>
                <a:ext cx="8229600" cy="4728923"/>
              </a:xfrm>
              <a:prstGeom prst="rect">
                <a:avLst/>
              </a:prstGeom>
              <a:blipFill>
                <a:blip r:embed="rId2"/>
                <a:stretch>
                  <a:fillRect t="-258" b="-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7.3 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单级能力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的生产</a:t>
            </a:r>
            <a:r>
              <a:rPr lang="zh-CN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计划优化</a:t>
            </a:r>
            <a:r>
              <a:rPr lang="zh-CN" alt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8313" y="1371600"/>
            <a:ext cx="6618287" cy="23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  <a:spcAft>
                <a:spcPts val="600"/>
              </a:spcAft>
            </a:pPr>
            <a:r>
              <a:rPr lang="zh-CN" altLang="en-US" sz="2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问题数学模型：</a:t>
            </a:r>
            <a:endParaRPr lang="en-US" altLang="zh-CN" sz="2400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min</a:t>
            </a:r>
          </a:p>
          <a:p>
            <a:pPr>
              <a:lnSpc>
                <a:spcPct val="250000"/>
              </a:lnSpc>
            </a:pPr>
            <a:r>
              <a:rPr lang="en-US" altLang="zh-CN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endParaRPr lang="zh-CN" altLang="en-US" sz="2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43000" y="1898573"/>
                <a:ext cx="5573713" cy="90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898573"/>
                <a:ext cx="5573713" cy="900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209800" y="2573471"/>
                <a:ext cx="5410200" cy="3196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0                                     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0                                      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=1,…,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573471"/>
                <a:ext cx="5410200" cy="3196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9540" y="6135469"/>
            <a:ext cx="8884919" cy="646331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Reference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en-US" altLang="zh-CN" dirty="0" err="1">
                <a:solidFill>
                  <a:srgbClr val="C00000"/>
                </a:solidFill>
              </a:rPr>
              <a:t>Karimi</a:t>
            </a:r>
            <a:r>
              <a:rPr lang="en-US" altLang="zh-CN" dirty="0">
                <a:solidFill>
                  <a:srgbClr val="C00000"/>
                </a:solidFill>
              </a:rPr>
              <a:t> B., </a:t>
            </a:r>
            <a:r>
              <a:rPr lang="en-US" altLang="zh-CN" dirty="0" err="1">
                <a:solidFill>
                  <a:srgbClr val="C00000"/>
                </a:solidFill>
              </a:rPr>
              <a:t>Fatemi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Ghomi</a:t>
            </a:r>
            <a:r>
              <a:rPr lang="en-US" altLang="zh-CN" dirty="0">
                <a:solidFill>
                  <a:srgbClr val="C00000"/>
                </a:solidFill>
              </a:rPr>
              <a:t>  S.M.T., Wilson J.M. The capacitated lot sizing problem: a review of models and algorithms. Omega, 2003, </a:t>
            </a:r>
            <a:r>
              <a:rPr lang="en-US" altLang="zh-CN" dirty="0" smtClean="0">
                <a:solidFill>
                  <a:srgbClr val="C00000"/>
                </a:solidFill>
              </a:rPr>
              <a:t>31(5): </a:t>
            </a:r>
            <a:r>
              <a:rPr lang="en-US" altLang="zh-CN" dirty="0">
                <a:solidFill>
                  <a:srgbClr val="C00000"/>
                </a:solidFill>
              </a:rPr>
              <a:t>365-378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级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能力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约束的生产计划优化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1447801"/>
            <a:ext cx="82946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1825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Multi-level Capacitated Lot Sizing Problem (MLCLSP)</a:t>
            </a:r>
          </a:p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多级</a:t>
            </a:r>
            <a:r>
              <a:rPr lang="zh-CN" altLang="en-US" sz="24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能力约束批量优化问题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6200" y="3773488"/>
            <a:ext cx="2819400" cy="739775"/>
            <a:chOff x="76200" y="2935288"/>
            <a:chExt cx="2819400" cy="739775"/>
          </a:xfrm>
        </p:grpSpPr>
        <p:sp>
          <p:nvSpPr>
            <p:cNvPr id="7" name="文本框 6"/>
            <p:cNvSpPr txBox="1"/>
            <p:nvPr/>
          </p:nvSpPr>
          <p:spPr>
            <a:xfrm>
              <a:off x="76200" y="2935288"/>
              <a:ext cx="2416175" cy="73977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能力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altLang="zh-CN" dirty="0">
                  <a:solidFill>
                    <a:schemeClr val="bg1"/>
                  </a:solidFill>
                </a:rPr>
                <a:t>(Capacity constraints)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右箭头 7"/>
            <p:cNvSpPr/>
            <p:nvPr/>
          </p:nvSpPr>
          <p:spPr bwMode="auto">
            <a:xfrm>
              <a:off x="2595563" y="2957513"/>
              <a:ext cx="300037" cy="695325"/>
            </a:xfrm>
            <a:prstGeom prst="rightArrow">
              <a:avLst/>
            </a:prstGeom>
            <a:solidFill>
              <a:schemeClr val="accent5"/>
            </a:solidFill>
            <a:ln w="6350" cap="rnd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eaVert" wrap="none" lIns="90000" rIns="1890000" anchor="ctr"/>
            <a:lstStyle/>
            <a:p>
              <a:pPr algn="ctr"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856538" y="3773488"/>
            <a:ext cx="1211262" cy="739775"/>
          </a:xfrm>
          <a:prstGeom prst="rect">
            <a:avLst/>
          </a:prstGeom>
          <a:solidFill>
            <a:schemeClr val="accent1">
              <a:lumMod val="90000"/>
            </a:schemeClr>
          </a:solidFill>
          <a:ln w="28575">
            <a:noFill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en-US" altLang="zh-CN" dirty="0">
                <a:solidFill>
                  <a:schemeClr val="bg1"/>
                </a:solidFill>
              </a:rPr>
              <a:t>(Demand)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976563" y="2971800"/>
            <a:ext cx="4824412" cy="2438400"/>
            <a:chOff x="2976563" y="2133600"/>
            <a:chExt cx="4824412" cy="2438400"/>
          </a:xfrm>
        </p:grpSpPr>
        <p:grpSp>
          <p:nvGrpSpPr>
            <p:cNvPr id="11" name="组合 154639"/>
            <p:cNvGrpSpPr>
              <a:grpSpLocks/>
            </p:cNvGrpSpPr>
            <p:nvPr/>
          </p:nvGrpSpPr>
          <p:grpSpPr bwMode="auto">
            <a:xfrm>
              <a:off x="3844925" y="2667000"/>
              <a:ext cx="2682875" cy="1276350"/>
              <a:chOff x="3185046" y="2971800"/>
              <a:chExt cx="2682354" cy="1276350"/>
            </a:xfrm>
          </p:grpSpPr>
          <p:sp>
            <p:nvSpPr>
              <p:cNvPr id="15" name="椭圆 2"/>
              <p:cNvSpPr>
                <a:spLocks noChangeArrowheads="1"/>
              </p:cNvSpPr>
              <p:nvPr/>
            </p:nvSpPr>
            <p:spPr bwMode="auto">
              <a:xfrm>
                <a:off x="5562600" y="3126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6" name="椭圆 18"/>
              <p:cNvSpPr>
                <a:spLocks noChangeArrowheads="1"/>
              </p:cNvSpPr>
              <p:nvPr/>
            </p:nvSpPr>
            <p:spPr bwMode="auto">
              <a:xfrm>
                <a:off x="4785246" y="29718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" name="椭圆 19"/>
              <p:cNvSpPr>
                <a:spLocks noChangeArrowheads="1"/>
              </p:cNvSpPr>
              <p:nvPr/>
            </p:nvSpPr>
            <p:spPr bwMode="auto">
              <a:xfrm>
                <a:off x="4785246" y="34671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8" name="椭圆 20"/>
              <p:cNvSpPr>
                <a:spLocks noChangeArrowheads="1"/>
              </p:cNvSpPr>
              <p:nvPr/>
            </p:nvSpPr>
            <p:spPr bwMode="auto">
              <a:xfrm>
                <a:off x="5562600" y="3936241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9" name="椭圆 21"/>
              <p:cNvSpPr>
                <a:spLocks noChangeArrowheads="1"/>
              </p:cNvSpPr>
              <p:nvPr/>
            </p:nvSpPr>
            <p:spPr bwMode="auto">
              <a:xfrm>
                <a:off x="4785246" y="401955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" name="椭圆 22"/>
              <p:cNvSpPr>
                <a:spLocks noChangeArrowheads="1"/>
              </p:cNvSpPr>
              <p:nvPr/>
            </p:nvSpPr>
            <p:spPr bwMode="auto">
              <a:xfrm>
                <a:off x="3965243" y="30121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1" name="椭圆 23"/>
              <p:cNvSpPr>
                <a:spLocks noChangeArrowheads="1"/>
              </p:cNvSpPr>
              <p:nvPr/>
            </p:nvSpPr>
            <p:spPr bwMode="auto">
              <a:xfrm>
                <a:off x="3185046" y="3515436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" name="椭圆 24"/>
              <p:cNvSpPr>
                <a:spLocks noChangeArrowheads="1"/>
              </p:cNvSpPr>
              <p:nvPr/>
            </p:nvSpPr>
            <p:spPr bwMode="auto">
              <a:xfrm>
                <a:off x="3970930" y="3507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3" name="直接箭头连接符 4"/>
              <p:cNvCxnSpPr>
                <a:cxnSpLocks noChangeShapeType="1"/>
                <a:stCxn id="16" idx="6"/>
                <a:endCxn id="15" idx="2"/>
              </p:cNvCxnSpPr>
              <p:nvPr/>
            </p:nvCxnSpPr>
            <p:spPr bwMode="auto">
              <a:xfrm>
                <a:off x="5090046" y="3086100"/>
                <a:ext cx="472554" cy="1546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4" name="直接箭头连接符 6"/>
              <p:cNvCxnSpPr>
                <a:cxnSpLocks noChangeShapeType="1"/>
                <a:stCxn id="17" idx="6"/>
                <a:endCxn id="15" idx="3"/>
              </p:cNvCxnSpPr>
              <p:nvPr/>
            </p:nvCxnSpPr>
            <p:spPr bwMode="auto">
              <a:xfrm flipV="1">
                <a:off x="5090046" y="3321597"/>
                <a:ext cx="517191" cy="25980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" name="直接箭头连接符 9"/>
              <p:cNvCxnSpPr>
                <a:cxnSpLocks noChangeShapeType="1"/>
                <a:stCxn id="20" idx="6"/>
                <a:endCxn id="17" idx="2"/>
              </p:cNvCxnSpPr>
              <p:nvPr/>
            </p:nvCxnSpPr>
            <p:spPr bwMode="auto">
              <a:xfrm>
                <a:off x="4270043" y="3126475"/>
                <a:ext cx="515203" cy="45492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直接箭头连接符 11"/>
              <p:cNvCxnSpPr>
                <a:cxnSpLocks noChangeShapeType="1"/>
                <a:stCxn id="22" idx="6"/>
                <a:endCxn id="16" idx="3"/>
              </p:cNvCxnSpPr>
              <p:nvPr/>
            </p:nvCxnSpPr>
            <p:spPr bwMode="auto">
              <a:xfrm flipV="1">
                <a:off x="4275730" y="3166922"/>
                <a:ext cx="554153" cy="4548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直接箭头连接符 13"/>
              <p:cNvCxnSpPr>
                <a:cxnSpLocks noChangeShapeType="1"/>
                <a:stCxn id="19" idx="6"/>
                <a:endCxn id="18" idx="2"/>
              </p:cNvCxnSpPr>
              <p:nvPr/>
            </p:nvCxnSpPr>
            <p:spPr bwMode="auto">
              <a:xfrm flipV="1">
                <a:off x="5090046" y="4050541"/>
                <a:ext cx="472554" cy="8330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接箭头连接符 15"/>
              <p:cNvCxnSpPr>
                <a:cxnSpLocks noChangeShapeType="1"/>
                <a:stCxn id="17" idx="5"/>
                <a:endCxn id="18" idx="2"/>
              </p:cNvCxnSpPr>
              <p:nvPr/>
            </p:nvCxnSpPr>
            <p:spPr bwMode="auto">
              <a:xfrm>
                <a:off x="5045409" y="3662222"/>
                <a:ext cx="517191" cy="3883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直接箭头连接符 17"/>
              <p:cNvCxnSpPr>
                <a:cxnSpLocks noChangeShapeType="1"/>
                <a:stCxn id="16" idx="5"/>
                <a:endCxn id="18" idx="2"/>
              </p:cNvCxnSpPr>
              <p:nvPr/>
            </p:nvCxnSpPr>
            <p:spPr bwMode="auto">
              <a:xfrm>
                <a:off x="5045409" y="3166922"/>
                <a:ext cx="517191" cy="8836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直接箭头连接符 26"/>
              <p:cNvCxnSpPr>
                <a:cxnSpLocks noChangeShapeType="1"/>
                <a:stCxn id="22" idx="5"/>
                <a:endCxn id="19" idx="2"/>
              </p:cNvCxnSpPr>
              <p:nvPr/>
            </p:nvCxnSpPr>
            <p:spPr bwMode="auto">
              <a:xfrm>
                <a:off x="4231093" y="3702597"/>
                <a:ext cx="554153" cy="4312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直接箭头连接符 28"/>
              <p:cNvCxnSpPr>
                <a:cxnSpLocks noChangeShapeType="1"/>
                <a:stCxn id="21" idx="6"/>
                <a:endCxn id="22" idx="2"/>
              </p:cNvCxnSpPr>
              <p:nvPr/>
            </p:nvCxnSpPr>
            <p:spPr bwMode="auto">
              <a:xfrm flipV="1">
                <a:off x="3489846" y="3621775"/>
                <a:ext cx="481084" cy="796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直接箭头连接符 30"/>
              <p:cNvCxnSpPr>
                <a:cxnSpLocks noChangeShapeType="1"/>
                <a:stCxn id="20" idx="6"/>
                <a:endCxn id="16" idx="2"/>
              </p:cNvCxnSpPr>
              <p:nvPr/>
            </p:nvCxnSpPr>
            <p:spPr bwMode="auto">
              <a:xfrm flipV="1">
                <a:off x="4270043" y="3086100"/>
                <a:ext cx="515203" cy="403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3" name="椭圆 49"/>
              <p:cNvSpPr>
                <a:spLocks noChangeArrowheads="1"/>
              </p:cNvSpPr>
              <p:nvPr/>
            </p:nvSpPr>
            <p:spPr bwMode="auto">
              <a:xfrm>
                <a:off x="3965243" y="4001069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34" name="直接箭头连接符 154628"/>
              <p:cNvCxnSpPr>
                <a:cxnSpLocks noChangeShapeType="1"/>
                <a:stCxn id="33" idx="6"/>
                <a:endCxn id="19" idx="2"/>
              </p:cNvCxnSpPr>
              <p:nvPr/>
            </p:nvCxnSpPr>
            <p:spPr bwMode="auto">
              <a:xfrm>
                <a:off x="4270043" y="4115369"/>
                <a:ext cx="515203" cy="1848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" name="组合 11"/>
            <p:cNvGrpSpPr/>
            <p:nvPr/>
          </p:nvGrpSpPr>
          <p:grpSpPr>
            <a:xfrm>
              <a:off x="2976563" y="2133600"/>
              <a:ext cx="4824412" cy="2438400"/>
              <a:chOff x="2976563" y="2133600"/>
              <a:chExt cx="4824412" cy="2438400"/>
            </a:xfrm>
          </p:grpSpPr>
          <p:sp>
            <p:nvSpPr>
              <p:cNvPr id="13" name="椭圆 1"/>
              <p:cNvSpPr>
                <a:spLocks noChangeArrowheads="1"/>
              </p:cNvSpPr>
              <p:nvPr/>
            </p:nvSpPr>
            <p:spPr bwMode="auto">
              <a:xfrm>
                <a:off x="2976563" y="2133600"/>
                <a:ext cx="4419600" cy="2438400"/>
              </a:xfrm>
              <a:prstGeom prst="ellipse">
                <a:avLst/>
              </a:prstGeom>
              <a:noFill/>
              <a:ln w="38100" cap="rnd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" name="右箭头 13"/>
              <p:cNvSpPr/>
              <p:nvPr/>
            </p:nvSpPr>
            <p:spPr bwMode="auto">
              <a:xfrm>
                <a:off x="7500938" y="2986088"/>
                <a:ext cx="300037" cy="695325"/>
              </a:xfrm>
              <a:prstGeom prst="rightArrow">
                <a:avLst/>
              </a:prstGeom>
              <a:solidFill>
                <a:schemeClr val="accent5"/>
              </a:solidFill>
              <a:ln w="6350" cap="rnd" cmpd="sng" algn="ctr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eaVert" wrap="none" lIns="90000" rIns="1890000" anchor="ctr"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600200" y="5851525"/>
            <a:ext cx="6781800" cy="777875"/>
            <a:chOff x="1600200" y="5334000"/>
            <a:chExt cx="6781800" cy="777875"/>
          </a:xfrm>
        </p:grpSpPr>
        <p:cxnSp>
          <p:nvCxnSpPr>
            <p:cNvPr id="36" name="直接箭头连接符 154634"/>
            <p:cNvCxnSpPr>
              <a:cxnSpLocks noChangeShapeType="1"/>
            </p:cNvCxnSpPr>
            <p:nvPr/>
          </p:nvCxnSpPr>
          <p:spPr bwMode="auto">
            <a:xfrm>
              <a:off x="1600200" y="5715000"/>
              <a:ext cx="6781800" cy="0"/>
            </a:xfrm>
            <a:prstGeom prst="straightConnector1">
              <a:avLst/>
            </a:prstGeom>
            <a:noFill/>
            <a:ln w="28575" cap="rnd" algn="ctr">
              <a:solidFill>
                <a:srgbClr val="003399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文本框 62"/>
            <p:cNvSpPr txBox="1">
              <a:spLocks noChangeArrowheads="1"/>
            </p:cNvSpPr>
            <p:nvPr/>
          </p:nvSpPr>
          <p:spPr bwMode="auto">
            <a:xfrm>
              <a:off x="8077200" y="5743575"/>
              <a:ext cx="249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t</a:t>
              </a:r>
              <a:endParaRPr lang="zh-CN" altLang="en-US" sz="1800" i="1"/>
            </a:p>
          </p:txBody>
        </p:sp>
        <p:sp>
          <p:nvSpPr>
            <p:cNvPr id="38" name="文本框 65"/>
            <p:cNvSpPr txBox="1">
              <a:spLocks noChangeArrowheads="1"/>
            </p:cNvSpPr>
            <p:nvPr/>
          </p:nvSpPr>
          <p:spPr bwMode="auto">
            <a:xfrm>
              <a:off x="3990975" y="5334000"/>
              <a:ext cx="2390775" cy="738188"/>
            </a:xfrm>
            <a:prstGeom prst="rect">
              <a:avLst/>
            </a:prstGeom>
            <a:solidFill>
              <a:srgbClr val="CCFFCC">
                <a:alpha val="69804"/>
              </a:srgbClr>
            </a:solidFill>
            <a:ln w="6350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计划展望期</a:t>
              </a:r>
              <a:endParaRPr lang="en-US" altLang="zh-CN" sz="2400" b="1" dirty="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(Planning Horizon)</a:t>
              </a:r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6005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级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能力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约束的生产计划优化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81000" y="3048000"/>
                <a:ext cx="8398183" cy="343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2400" b="1" u="sng" dirty="0" smtClean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集合：</a:t>
                </a:r>
                <a:endParaRPr lang="en-US" altLang="zh-CN" sz="2400" b="1" u="sng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Products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Periods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Resources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Set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products requiring resource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Set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immediate successors of product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48000"/>
                <a:ext cx="8398183" cy="3430170"/>
              </a:xfrm>
              <a:prstGeom prst="rect">
                <a:avLst/>
              </a:prstGeom>
              <a:blipFill>
                <a:blip r:embed="rId2"/>
                <a:stretch>
                  <a:fillRect l="-1235" t="-2131" b="-1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1447801"/>
            <a:ext cx="82946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1825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Multi-level Capacitated Lot Sizing Problem (MLCLSP)</a:t>
            </a:r>
          </a:p>
          <a:p>
            <a:pPr eaLnBrk="1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多级</a:t>
            </a:r>
            <a:r>
              <a:rPr lang="zh-CN" altLang="en-US" sz="24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能力约束批量优化问题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95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级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能力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约束的生产计划优化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81000" y="1905000"/>
                <a:ext cx="8305800" cy="47377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2400" b="1" u="sng" dirty="0" smtClean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问题参数：</a:t>
                </a:r>
                <a:endParaRPr lang="en-US" altLang="zh-CN" sz="2400" b="1" u="sng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Number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units of product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 to produce one unit 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of product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Available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capacity of resource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period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	Big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External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demand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period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Holding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of product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 unit and 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𝑜𝑐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Overtime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per unit of overtime at resource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Setup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Production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per unit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Setup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Planned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lead time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05000"/>
                <a:ext cx="8305800" cy="4737707"/>
              </a:xfrm>
              <a:prstGeom prst="rect">
                <a:avLst/>
              </a:prstGeom>
              <a:blipFill>
                <a:blip r:embed="rId2"/>
                <a:stretch>
                  <a:fillRect l="-1248" t="-1544" r="-881" b="-1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57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级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能力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约束的生产计划优化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81000" y="2438400"/>
                <a:ext cx="8610600" cy="3629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2400" b="1" u="sng" dirty="0" smtClean="0">
                    <a:solidFill>
                      <a:schemeClr val="accent5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决策变量：</a:t>
                </a:r>
                <a:endParaRPr lang="en-US" altLang="zh-CN" sz="2400" b="1" u="sng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Overtime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resource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period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Production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quantity (lot size)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period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Planned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end-of-period inventory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  <a:r>
                  <a:rPr lang="en-US" altLang="zh-CN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𝑘𝑡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Binary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setup variable of product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  <a:r>
                  <a:rPr lang="en-US" altLang="zh-CN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438400"/>
                <a:ext cx="8610600" cy="3629712"/>
              </a:xfrm>
              <a:prstGeom prst="rect">
                <a:avLst/>
              </a:prstGeom>
              <a:blipFill>
                <a:blip r:embed="rId2"/>
                <a:stretch>
                  <a:fillRect l="-1204" t="-2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多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级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能力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约束的生产计划优化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模型</a:t>
            </a: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5401" y="1389566"/>
            <a:ext cx="4103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问题数学模型：</a:t>
            </a:r>
            <a:endParaRPr lang="en-US" altLang="zh-CN" sz="2800" b="1" u="sng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min</a:t>
            </a:r>
          </a:p>
          <a:p>
            <a:endParaRPr lang="en-US" altLang="zh-CN" sz="700" b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b="1" i="1" dirty="0" err="1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endParaRPr lang="zh-CN" altLang="en-US" sz="2800" b="1" i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752600" y="1905000"/>
                <a:ext cx="5943600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𝑗𝑡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𝑗𝑡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05000"/>
                <a:ext cx="5943600" cy="795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209800" y="2846725"/>
                <a:ext cx="6324600" cy="2964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ts val="2800"/>
                  </a:lnSpc>
                </a:pPr>
                <a:endParaRPr lang="en-US" altLang="zh-CN" sz="900" dirty="0" smtClean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           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46725"/>
                <a:ext cx="6324600" cy="2964914"/>
              </a:xfrm>
              <a:prstGeom prst="rect">
                <a:avLst/>
              </a:prstGeom>
              <a:blipFill>
                <a:blip r:embed="rId3"/>
                <a:stretch>
                  <a:fillRect l="-11765" t="-41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9540" y="6135469"/>
            <a:ext cx="8884919" cy="615553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Reference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en-US" altLang="zh-CN" sz="1600" dirty="0" err="1">
                <a:solidFill>
                  <a:srgbClr val="C00000"/>
                </a:solidFill>
              </a:rPr>
              <a:t>Helber</a:t>
            </a:r>
            <a:r>
              <a:rPr lang="en-US" altLang="zh-CN" sz="1600" dirty="0">
                <a:solidFill>
                  <a:srgbClr val="C00000"/>
                </a:solidFill>
              </a:rPr>
              <a:t> S., </a:t>
            </a:r>
            <a:r>
              <a:rPr lang="en-US" altLang="zh-CN" sz="1600" dirty="0" err="1">
                <a:solidFill>
                  <a:srgbClr val="C00000"/>
                </a:solidFill>
              </a:rPr>
              <a:t>Sahling</a:t>
            </a:r>
            <a:r>
              <a:rPr lang="en-US" altLang="zh-CN" sz="1600" dirty="0">
                <a:solidFill>
                  <a:srgbClr val="C00000"/>
                </a:solidFill>
              </a:rPr>
              <a:t> F. A fix-and-optimize approach for the multi-level capacitated lot sizing problem. International Journal of Production Economics, 2010, 123(2): 247-256 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533400"/>
          </a:xfrm>
        </p:spPr>
        <p:txBody>
          <a:bodyPr/>
          <a:lstStyle/>
          <a:p>
            <a:pPr eaLnBrk="1" hangingPunct="1"/>
            <a:r>
              <a:rPr lang="zh-CN" altLang="en-US" sz="1600" b="1" smtClean="0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7635</TotalTime>
  <Words>2248</Words>
  <Application>Microsoft Office PowerPoint</Application>
  <PresentationFormat>全屏显示(4:3)</PresentationFormat>
  <Paragraphs>219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宋体</vt:lpstr>
      <vt:lpstr>Arial</vt:lpstr>
      <vt:lpstr>Arial Black</vt:lpstr>
      <vt:lpstr>Cambria Math</vt:lpstr>
      <vt:lpstr>Marlett</vt:lpstr>
      <vt:lpstr>Times New Roman</vt:lpstr>
      <vt:lpstr>Wingdings</vt:lpstr>
      <vt:lpstr>Pixel</vt:lpstr>
      <vt:lpstr>Visio</vt:lpstr>
      <vt:lpstr>生产计划体系  </vt:lpstr>
      <vt:lpstr>7. 生产计划的优化模型</vt:lpstr>
      <vt:lpstr>7.1 问题建模要素分析</vt:lpstr>
      <vt:lpstr>7.1 问题建模要素分析</vt:lpstr>
      <vt:lpstr>7.2 基本生产规划优化模型</vt:lpstr>
      <vt:lpstr>7.2 基本生产规划优化模型</vt:lpstr>
      <vt:lpstr>7.2 基本生产规划优化模型</vt:lpstr>
      <vt:lpstr>7.2 基本生产规划优化模型</vt:lpstr>
      <vt:lpstr>7.3 单级能力约束的生产计划优化模型</vt:lpstr>
      <vt:lpstr>7.3 单级能力约束的生产计划优化模型</vt:lpstr>
      <vt:lpstr>7.3 单级能力约束的生产计划优化模型</vt:lpstr>
      <vt:lpstr>7.4 多级能力约束的生产计划优化模型</vt:lpstr>
      <vt:lpstr>7.4 多级能力约束的生产计划优化模型</vt:lpstr>
      <vt:lpstr>7.4 多级能力约束的生产计划优化模型</vt:lpstr>
      <vt:lpstr>7.4 多级能力约束的生产计划优化模型</vt:lpstr>
      <vt:lpstr>7.4 多级能力约束的生产计划优化模型</vt:lpstr>
      <vt:lpstr>生产计划体系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kang</dc:creator>
  <cp:lastModifiedBy>hustzyliu</cp:lastModifiedBy>
  <cp:revision>249</cp:revision>
  <cp:lastPrinted>1601-01-01T00:00:00Z</cp:lastPrinted>
  <dcterms:created xsi:type="dcterms:W3CDTF">1601-01-01T00:00:00Z</dcterms:created>
  <dcterms:modified xsi:type="dcterms:W3CDTF">2022-04-16T09:42:11Z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
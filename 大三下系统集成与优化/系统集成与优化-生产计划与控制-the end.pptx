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7" r:id="rId1"/>
    <p:sldMasterId id="2147484077" r:id="rId2"/>
  </p:sldMasterIdLst>
  <p:notesMasterIdLst>
    <p:notesMasterId r:id="rId57"/>
  </p:notesMasterIdLst>
  <p:sldIdLst>
    <p:sldId id="457" r:id="rId3"/>
    <p:sldId id="458" r:id="rId4"/>
    <p:sldId id="459" r:id="rId5"/>
    <p:sldId id="469" r:id="rId6"/>
    <p:sldId id="467" r:id="rId7"/>
    <p:sldId id="468" r:id="rId8"/>
    <p:sldId id="464" r:id="rId9"/>
    <p:sldId id="465" r:id="rId10"/>
    <p:sldId id="466" r:id="rId11"/>
    <p:sldId id="455" r:id="rId12"/>
    <p:sldId id="398" r:id="rId13"/>
    <p:sldId id="399" r:id="rId14"/>
    <p:sldId id="400" r:id="rId15"/>
    <p:sldId id="401" r:id="rId16"/>
    <p:sldId id="402" r:id="rId17"/>
    <p:sldId id="404" r:id="rId18"/>
    <p:sldId id="403" r:id="rId19"/>
    <p:sldId id="405" r:id="rId20"/>
    <p:sldId id="406" r:id="rId21"/>
    <p:sldId id="407" r:id="rId22"/>
    <p:sldId id="408" r:id="rId23"/>
    <p:sldId id="409" r:id="rId24"/>
    <p:sldId id="410" r:id="rId25"/>
    <p:sldId id="412" r:id="rId26"/>
    <p:sldId id="411" r:id="rId27"/>
    <p:sldId id="413" r:id="rId28"/>
    <p:sldId id="414" r:id="rId29"/>
    <p:sldId id="415" r:id="rId30"/>
    <p:sldId id="417" r:id="rId31"/>
    <p:sldId id="462" r:id="rId32"/>
    <p:sldId id="463" r:id="rId33"/>
    <p:sldId id="418" r:id="rId34"/>
    <p:sldId id="416" r:id="rId35"/>
    <p:sldId id="419" r:id="rId36"/>
    <p:sldId id="420" r:id="rId37"/>
    <p:sldId id="421" r:id="rId38"/>
    <p:sldId id="422" r:id="rId39"/>
    <p:sldId id="423" r:id="rId40"/>
    <p:sldId id="424" r:id="rId41"/>
    <p:sldId id="470" r:id="rId42"/>
    <p:sldId id="425" r:id="rId43"/>
    <p:sldId id="426" r:id="rId44"/>
    <p:sldId id="453" r:id="rId45"/>
    <p:sldId id="454" r:id="rId46"/>
    <p:sldId id="427" r:id="rId47"/>
    <p:sldId id="472" r:id="rId48"/>
    <p:sldId id="430" r:id="rId49"/>
    <p:sldId id="431" r:id="rId50"/>
    <p:sldId id="433" r:id="rId51"/>
    <p:sldId id="434" r:id="rId52"/>
    <p:sldId id="456" r:id="rId53"/>
    <p:sldId id="443" r:id="rId54"/>
    <p:sldId id="444" r:id="rId55"/>
    <p:sldId id="445" r:id="rId5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FF0000"/>
    <a:srgbClr val="F14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>
      <p:cViewPr varScale="1">
        <p:scale>
          <a:sx n="75" d="100"/>
          <a:sy n="75" d="100"/>
        </p:scale>
        <p:origin x="855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7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18ADEEC-CFEF-4948-8503-2AEE085BB5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46772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CBB64E-E435-4D06-97E6-998B1BDC9627}" type="slidenum">
              <a:rPr kumimoji="0" lang="en-AU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997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CBB64E-E435-4D06-97E6-998B1BDC9627}" type="slidenum">
              <a:rPr kumimoji="0" lang="en-AU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009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CBB64E-E435-4D06-97E6-998B1BDC9627}" type="slidenum">
              <a:rPr kumimoji="0" lang="en-AU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4867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10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8534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11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14818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12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9766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13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9341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14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0680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15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21681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16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6209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17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049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18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6342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19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9040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20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87915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21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3014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22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9990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23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1419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24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58079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25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06360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26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14385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27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43366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28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06815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29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29474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32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38331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33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74328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34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98599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35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2495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36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65083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CBB64E-E435-4D06-97E6-998B1BDC9627}" type="slidenum">
              <a:rPr lang="en-AU" altLang="zh-CN"/>
              <a:pPr/>
              <a:t>37</a:t>
            </a:fld>
            <a:endParaRPr lang="en-AU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216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/>
          <p:nvPr/>
        </p:nvSpPr>
        <p:spPr>
          <a:xfrm>
            <a:off x="9001125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2B26F55-3644-4C8C-ACE5-6CBC1C23D0D2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  <a:endParaRPr lang="en-US" altLang="zh-CN">
              <a:cs typeface="Arial" charset="0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3284609-55A4-45FC-9CAB-2F1C000645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14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 userDrawn="1"/>
        </p:nvCxnSpPr>
        <p:spPr>
          <a:xfrm>
            <a:off x="0" y="685800"/>
            <a:ext cx="55626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0422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711A7F22-DAC4-4F3D-B9E1-4B730C27E423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40BB71E-82FF-48EC-A025-D1DF5183E5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2731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F2C79706-4CB2-4803-8278-01E251684327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BA9369D3-A70C-4C52-AFB8-42815A2678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0444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147973D-8F26-4167-BA1C-7A4C3B96A9B7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DCD6194-56A4-45E1-8E55-76AF13CBB3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180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F29E44FB-92F1-436B-88B6-82725F368299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585D0AF-AA6E-4348-92BB-0CEB7EB2D7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177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D115A410-424C-405E-8849-535AE19F5187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4AA83A3A-082C-41AD-ABA0-6EC3376FFC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683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9572BED9-E64F-4B24-9FCF-A3BE4C3A1060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44BAB59-9405-4AC6-A34A-26C9B2F150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433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/>
          <p:nvPr/>
        </p:nvSpPr>
        <p:spPr>
          <a:xfrm>
            <a:off x="9001125" y="4846638"/>
            <a:ext cx="142875" cy="20113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9"/>
          <p:cNvSpPr/>
          <p:nvPr/>
        </p:nvSpPr>
        <p:spPr>
          <a:xfrm>
            <a:off x="9001125" y="0"/>
            <a:ext cx="142875" cy="484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3E161648-4EB4-469B-A927-88682013F684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7A019E6-7F3C-468C-9FE1-5D8D6D7DD1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35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B14DDDDC-C76B-469C-8C6F-5E2FA6093934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505E873-4A0B-4034-B126-A2F14A676B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2185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172200"/>
            <a:ext cx="3429000" cy="3048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2D0C6EE7-9121-499F-9C78-95989632D4E7}" type="datetime1">
              <a:rPr lang="zh-CN" altLang="en-US"/>
              <a:pPr>
                <a:defRPr/>
              </a:pPr>
              <a:t>2026/5/26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16200000">
            <a:off x="8227219" y="5885656"/>
            <a:ext cx="131603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7ACAAD81-BE7E-4068-A99D-A80D459F64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8694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10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10400" y="6604000"/>
            <a:ext cx="2133600" cy="2540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45332E3-3D84-454E-90A3-AA5EF0319C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163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766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766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03762-9D27-4839-9889-B0631774EB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107404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14E88-3826-4BA2-9B11-F0A359B5A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203402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B02E4-E9B9-4DD3-A203-913BB1394A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1742068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09E50-C70E-4D39-B40C-CB2454FE4FF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558187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92B5B-F02F-4B87-99E5-58DC7E9207B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79860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AD7FA-84D7-4F4B-8433-48DB210639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155956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2CF834-C62A-4A46-A27D-DE5AF73962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27166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B1C60-04EC-4E52-9C87-2B1AEAA117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350524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FD6E8-03A9-4B46-B6D9-65D85165DA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803050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E9F67A-EF72-4578-81F7-74281051C9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9610581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34DBE-2CE5-4A82-8657-8140BBA6BD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54621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5791200" cy="533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914400"/>
            <a:ext cx="83058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416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hangingPunct="1">
              <a:defRPr sz="1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r>
              <a:rPr lang="en-US" altLang="zh-CN"/>
              <a:t>Copyright ©2016 Qi Chao.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1125" y="0"/>
            <a:ext cx="142875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5" y="1371600"/>
            <a:ext cx="142875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5" r:id="rId1"/>
    <p:sldLayoutId id="2147484066" r:id="rId2"/>
    <p:sldLayoutId id="2147484067" r:id="rId3"/>
    <p:sldLayoutId id="2147484068" r:id="rId4"/>
    <p:sldLayoutId id="2147484069" r:id="rId5"/>
    <p:sldLayoutId id="2147484070" r:id="rId6"/>
    <p:sldLayoutId id="2147484071" r:id="rId7"/>
    <p:sldLayoutId id="2147484072" r:id="rId8"/>
    <p:sldLayoutId id="2147484073" r:id="rId9"/>
    <p:sldLayoutId id="2147484074" r:id="rId10"/>
    <p:sldLayoutId id="2147484075" r:id="rId11"/>
    <p:sldLayoutId id="2147484076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 cap="all" spc="-6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 Black" pitchFamily="34" charset="0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ts val="600"/>
        </a:spcAft>
        <a:buFont typeface="Arial" panose="020B0604020202020204" pitchFamily="34" charset="0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199821A5-FC25-4A3D-ABB3-E9378ACD5C2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66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1085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  <p:sldLayoutId id="2147484086" r:id="rId9"/>
    <p:sldLayoutId id="2147484087" r:id="rId10"/>
    <p:sldLayoutId id="2147484088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5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8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9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1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2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9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55875" y="1828800"/>
            <a:ext cx="6435725" cy="2209800"/>
          </a:xfrm>
        </p:spPr>
        <p:txBody>
          <a:bodyPr/>
          <a:lstStyle/>
          <a:p>
            <a:pPr algn="ctr" eaLnBrk="1" hangingPunct="1"/>
            <a:r>
              <a:rPr lang="zh-CN" altLang="en-US" sz="5400" b="1" dirty="0">
                <a:ea typeface="华文新魏" panose="02010800040101010101" pitchFamily="2" charset="-122"/>
              </a:rPr>
              <a:t>系统集成与优化</a:t>
            </a:r>
            <a:r>
              <a:rPr lang="en-US" altLang="zh-CN" sz="5400" b="1" dirty="0">
                <a:ea typeface="华文新魏" panose="02010800040101010101" pitchFamily="2" charset="-122"/>
              </a:rPr>
              <a:t/>
            </a:r>
            <a:br>
              <a:rPr lang="en-US" altLang="zh-CN" sz="5400" b="1" dirty="0">
                <a:ea typeface="华文新魏" panose="02010800040101010101" pitchFamily="2" charset="-122"/>
              </a:rPr>
            </a:br>
            <a:r>
              <a:rPr lang="zh-CN" altLang="en-US" sz="2400" b="1" dirty="0">
                <a:latin typeface="Brush Script MT" panose="03060802040406070304" pitchFamily="66" charset="0"/>
                <a:ea typeface="华文新魏" panose="02010800040101010101" pitchFamily="2" charset="-122"/>
              </a:rPr>
              <a:t>（</a:t>
            </a:r>
            <a:r>
              <a:rPr lang="en-US" altLang="zh-CN" sz="2400" b="1" dirty="0">
                <a:latin typeface="Brush Script MT" panose="03060802040406070304" pitchFamily="66" charset="0"/>
                <a:ea typeface="华文新魏" panose="02010800040101010101" pitchFamily="2" charset="-122"/>
              </a:rPr>
              <a:t>System Integration and Optimization</a:t>
            </a:r>
            <a:r>
              <a:rPr lang="zh-CN" altLang="en-US" sz="2400" b="1" dirty="0">
                <a:latin typeface="Brush Script MT" panose="03060802040406070304" pitchFamily="66" charset="0"/>
                <a:ea typeface="华文新魏" panose="02010800040101010101" pitchFamily="2" charset="-122"/>
              </a:rPr>
              <a:t>）</a:t>
            </a:r>
            <a:endParaRPr lang="zh-CN" altLang="en-US" sz="4400" b="1" dirty="0">
              <a:latin typeface="Brush Script MT" panose="03060802040406070304" pitchFamily="66" charset="0"/>
              <a:ea typeface="华文新魏" panose="02010800040101010101" pitchFamily="2" charset="-122"/>
            </a:endParaRPr>
          </a:p>
        </p:txBody>
      </p:sp>
      <p:sp>
        <p:nvSpPr>
          <p:cNvPr id="13315" name="Text Box 4"/>
          <p:cNvSpPr txBox="1">
            <a:spLocks noChangeArrowheads="1"/>
          </p:cNvSpPr>
          <p:nvPr/>
        </p:nvSpPr>
        <p:spPr bwMode="auto">
          <a:xfrm>
            <a:off x="152400" y="5292725"/>
            <a:ext cx="6096000" cy="141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主讲教师：刘振元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联系电话：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13995552449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027-87559490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电子邮箱：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zyliu@mail.hust.edu.cn	QQ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834789494</a:t>
            </a: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办公地点：华中科技大学南一楼西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308 </a:t>
            </a:r>
            <a:r>
              <a:rPr lang="en-US" altLang="zh-CN" sz="1800" dirty="0" smtClean="0">
                <a:solidFill>
                  <a:srgbClr val="000000"/>
                </a:solidFill>
              </a:rPr>
              <a:t>/ </a:t>
            </a:r>
            <a:r>
              <a:rPr lang="zh-CN" altLang="en-US" sz="1800" dirty="0" smtClean="0">
                <a:solidFill>
                  <a:srgbClr val="000000"/>
                </a:solidFill>
              </a:rPr>
              <a:t>新大楼</a:t>
            </a:r>
            <a:r>
              <a:rPr lang="en-US" altLang="zh-CN" sz="1800" dirty="0" smtClean="0">
                <a:solidFill>
                  <a:srgbClr val="000000"/>
                </a:solidFill>
              </a:rPr>
              <a:t>S605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6688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ChangeArrowheads="1"/>
          </p:cNvSpPr>
          <p:nvPr/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32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提出问题</a:t>
            </a:r>
          </a:p>
        </p:txBody>
      </p:sp>
      <p:sp>
        <p:nvSpPr>
          <p:cNvPr id="4" name="内容占位符 2"/>
          <p:cNvSpPr txBox="1">
            <a:spLocks noChangeArrowheads="1"/>
          </p:cNvSpPr>
          <p:nvPr/>
        </p:nvSpPr>
        <p:spPr bwMode="auto">
          <a:xfrm>
            <a:off x="457200" y="1836738"/>
            <a:ext cx="8229600" cy="4471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b="1" kern="0" dirty="0"/>
              <a:t>如何组织实现一个生产</a:t>
            </a:r>
            <a:r>
              <a:rPr lang="en-US" altLang="zh-CN" b="1" kern="0" dirty="0"/>
              <a:t>/</a:t>
            </a:r>
            <a:r>
              <a:rPr lang="zh-CN" altLang="en-US" b="1" kern="0" dirty="0"/>
              <a:t>服务系统的运行？</a:t>
            </a:r>
            <a:endParaRPr lang="en-US" altLang="zh-CN" b="1" kern="0" dirty="0"/>
          </a:p>
          <a:p>
            <a:pPr marL="400050" lvl="1" indent="0" eaLnBrk="1" hangingPunct="1">
              <a:lnSpc>
                <a:spcPct val="150000"/>
              </a:lnSpc>
              <a:defRPr/>
            </a:pPr>
            <a:r>
              <a:rPr lang="zh-CN" altLang="en-US" kern="0" dirty="0"/>
              <a:t>要向谁提供哪些产品</a:t>
            </a:r>
            <a:r>
              <a:rPr lang="en-US" altLang="zh-CN" kern="0" dirty="0"/>
              <a:t>/</a:t>
            </a:r>
            <a:r>
              <a:rPr lang="zh-CN" altLang="en-US" kern="0" dirty="0"/>
              <a:t>服务？多少量？</a:t>
            </a:r>
            <a:endParaRPr lang="en-US" altLang="zh-CN" kern="0" dirty="0"/>
          </a:p>
          <a:p>
            <a:pPr marL="400050" lvl="1" indent="0" eaLnBrk="1" hangingPunct="1">
              <a:lnSpc>
                <a:spcPct val="150000"/>
              </a:lnSpc>
              <a:defRPr/>
            </a:pPr>
            <a:r>
              <a:rPr lang="zh-CN" altLang="en-US" kern="0" dirty="0"/>
              <a:t>自己有什么？</a:t>
            </a:r>
            <a:endParaRPr lang="en-US" altLang="zh-CN" kern="0" dirty="0"/>
          </a:p>
          <a:p>
            <a:pPr marL="400050" lvl="1" indent="0" eaLnBrk="1" hangingPunct="1">
              <a:lnSpc>
                <a:spcPct val="150000"/>
              </a:lnSpc>
              <a:defRPr/>
            </a:pPr>
            <a:r>
              <a:rPr lang="zh-CN" altLang="en-US" kern="0" dirty="0"/>
              <a:t>为了生产产品</a:t>
            </a:r>
            <a:r>
              <a:rPr lang="en-US" altLang="zh-CN" kern="0" dirty="0"/>
              <a:t>/</a:t>
            </a:r>
            <a:r>
              <a:rPr lang="zh-CN" altLang="en-US" kern="0" dirty="0"/>
              <a:t>提供服务需要什么？</a:t>
            </a:r>
            <a:endParaRPr lang="en-US" altLang="zh-CN" kern="0" dirty="0"/>
          </a:p>
          <a:p>
            <a:pPr marL="400050" lvl="1" indent="0" eaLnBrk="1" hangingPunct="1">
              <a:lnSpc>
                <a:spcPct val="150000"/>
              </a:lnSpc>
              <a:defRPr/>
            </a:pPr>
            <a:r>
              <a:rPr lang="zh-CN" altLang="en-US" kern="0" dirty="0"/>
              <a:t>如何完成产品的生产</a:t>
            </a:r>
            <a:r>
              <a:rPr lang="en-US" altLang="zh-CN" kern="0" dirty="0"/>
              <a:t>/</a:t>
            </a:r>
            <a:r>
              <a:rPr lang="zh-CN" altLang="en-US" kern="0" dirty="0"/>
              <a:t>服务的交付？</a:t>
            </a:r>
            <a:endParaRPr lang="en-US" altLang="zh-CN" kern="0" dirty="0"/>
          </a:p>
        </p:txBody>
      </p:sp>
    </p:spTree>
    <p:extLst>
      <p:ext uri="{BB962C8B-B14F-4D97-AF65-F5344CB8AC3E}">
        <p14:creationId xmlns:p14="http://schemas.microsoft.com/office/powerpoint/2010/main" val="36143326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教学目标</a:t>
            </a:r>
          </a:p>
        </p:txBody>
      </p:sp>
      <p:sp>
        <p:nvSpPr>
          <p:cNvPr id="4" name="内容占位符 2"/>
          <p:cNvSpPr txBox="1">
            <a:spLocks noChangeArrowheads="1"/>
          </p:cNvSpPr>
          <p:nvPr/>
        </p:nvSpPr>
        <p:spPr bwMode="auto">
          <a:xfrm>
            <a:off x="457200" y="1700213"/>
            <a:ext cx="8229600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</a:pPr>
            <a:r>
              <a:rPr lang="zh-CN" altLang="en-US" sz="2800" kern="0"/>
              <a:t>帮助学生理解生产计划与控制中涉及到的重要概念和决策问题。</a:t>
            </a:r>
          </a:p>
          <a:p>
            <a:pPr marL="0" indent="0" eaLnBrk="1" hangingPunct="1">
              <a:lnSpc>
                <a:spcPct val="150000"/>
              </a:lnSpc>
            </a:pPr>
            <a:r>
              <a:rPr lang="zh-CN" altLang="en-US" sz="2800" kern="0"/>
              <a:t>掌握生产计划与控制的主要模式和策略，以及解决重要决策问题（包括生产计划与调度等）的基本原理和方法。</a:t>
            </a:r>
          </a:p>
          <a:p>
            <a:pPr marL="0" indent="0" eaLnBrk="1" hangingPunct="1">
              <a:lnSpc>
                <a:spcPct val="150000"/>
              </a:lnSpc>
            </a:pPr>
            <a:r>
              <a:rPr lang="zh-CN" altLang="en-US" sz="2800" kern="0"/>
              <a:t>了解学科发展方向和基本的科学研究方法，为今后相关的学习和工作奠定良好的基础。</a:t>
            </a:r>
            <a:endParaRPr lang="en-US" altLang="zh-CN" sz="2800" kern="0" dirty="0"/>
          </a:p>
        </p:txBody>
      </p:sp>
    </p:spTree>
    <p:extLst>
      <p:ext uri="{BB962C8B-B14F-4D97-AF65-F5344CB8AC3E}">
        <p14:creationId xmlns:p14="http://schemas.microsoft.com/office/powerpoint/2010/main" val="429104047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229600" cy="42491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课程内容体系</a:t>
            </a:r>
          </a:p>
        </p:txBody>
      </p:sp>
      <p:sp>
        <p:nvSpPr>
          <p:cNvPr id="18435" name="文本框 1"/>
          <p:cNvSpPr txBox="1">
            <a:spLocks noChangeArrowheads="1"/>
          </p:cNvSpPr>
          <p:nvPr/>
        </p:nvSpPr>
        <p:spPr bwMode="auto">
          <a:xfrm>
            <a:off x="3005944" y="1778348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企业生产与运作系统</a:t>
            </a:r>
          </a:p>
        </p:txBody>
      </p:sp>
      <p:sp>
        <p:nvSpPr>
          <p:cNvPr id="18436" name="文本框 4"/>
          <p:cNvSpPr txBox="1">
            <a:spLocks noChangeArrowheads="1"/>
          </p:cNvSpPr>
          <p:nvPr/>
        </p:nvSpPr>
        <p:spPr bwMode="auto">
          <a:xfrm>
            <a:off x="3005944" y="2514746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生产规划</a:t>
            </a:r>
          </a:p>
        </p:txBody>
      </p:sp>
      <p:sp>
        <p:nvSpPr>
          <p:cNvPr id="18437" name="文本框 6"/>
          <p:cNvSpPr txBox="1">
            <a:spLocks noChangeArrowheads="1"/>
          </p:cNvSpPr>
          <p:nvPr/>
        </p:nvSpPr>
        <p:spPr bwMode="auto">
          <a:xfrm>
            <a:off x="3005944" y="3294833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主生产计划</a:t>
            </a:r>
          </a:p>
        </p:txBody>
      </p:sp>
      <p:sp>
        <p:nvSpPr>
          <p:cNvPr id="18438" name="文本框 7"/>
          <p:cNvSpPr txBox="1">
            <a:spLocks noChangeArrowheads="1"/>
          </p:cNvSpPr>
          <p:nvPr/>
        </p:nvSpPr>
        <p:spPr bwMode="auto">
          <a:xfrm>
            <a:off x="3005944" y="4074920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物料需求计划</a:t>
            </a:r>
          </a:p>
        </p:txBody>
      </p:sp>
      <p:sp>
        <p:nvSpPr>
          <p:cNvPr id="18439" name="文本框 8"/>
          <p:cNvSpPr txBox="1">
            <a:spLocks noChangeArrowheads="1"/>
          </p:cNvSpPr>
          <p:nvPr/>
        </p:nvSpPr>
        <p:spPr bwMode="auto">
          <a:xfrm>
            <a:off x="3005944" y="4855007"/>
            <a:ext cx="3132112" cy="369887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>
                <a:latin typeface="Calibri" panose="020F0502020204030204" pitchFamily="34" charset="0"/>
              </a:rPr>
              <a:t>能力需求计划</a:t>
            </a:r>
          </a:p>
        </p:txBody>
      </p:sp>
      <p:sp>
        <p:nvSpPr>
          <p:cNvPr id="18440" name="文本框 9"/>
          <p:cNvSpPr txBox="1">
            <a:spLocks noChangeArrowheads="1"/>
          </p:cNvSpPr>
          <p:nvPr/>
        </p:nvSpPr>
        <p:spPr bwMode="auto">
          <a:xfrm>
            <a:off x="3005944" y="5613799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生产调度</a:t>
            </a:r>
          </a:p>
        </p:txBody>
      </p:sp>
      <p:sp>
        <p:nvSpPr>
          <p:cNvPr id="3" name="下箭头 2"/>
          <p:cNvSpPr/>
          <p:nvPr/>
        </p:nvSpPr>
        <p:spPr>
          <a:xfrm>
            <a:off x="4107223" y="2201696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下箭头 11"/>
          <p:cNvSpPr/>
          <p:nvPr/>
        </p:nvSpPr>
        <p:spPr>
          <a:xfrm>
            <a:off x="4107223" y="2981783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4107223" y="3761870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4107223" y="4541957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下箭头 16"/>
          <p:cNvSpPr/>
          <p:nvPr/>
        </p:nvSpPr>
        <p:spPr>
          <a:xfrm>
            <a:off x="4107223" y="5322044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文本框 1"/>
          <p:cNvSpPr txBox="1">
            <a:spLocks noChangeArrowheads="1"/>
          </p:cNvSpPr>
          <p:nvPr/>
        </p:nvSpPr>
        <p:spPr bwMode="auto">
          <a:xfrm>
            <a:off x="3005944" y="1086587"/>
            <a:ext cx="3132112" cy="36933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1800" dirty="0">
                <a:solidFill>
                  <a:schemeClr val="tx2"/>
                </a:solidFill>
                <a:latin typeface="宋体" panose="02010600030101010101" pitchFamily="2" charset="-122"/>
              </a:rPr>
              <a:t>系统集成体系框架</a:t>
            </a:r>
            <a:endParaRPr lang="zh-CN" altLang="en-US" sz="1800" b="1" dirty="0">
              <a:latin typeface="Calibri" panose="020F0502020204030204" pitchFamily="34" charset="0"/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4107223" y="1470184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文本框 9"/>
          <p:cNvSpPr txBox="1">
            <a:spLocks noChangeArrowheads="1"/>
          </p:cNvSpPr>
          <p:nvPr/>
        </p:nvSpPr>
        <p:spPr bwMode="auto">
          <a:xfrm>
            <a:off x="3005944" y="6372036"/>
            <a:ext cx="3132112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Calibri" panose="020F0502020204030204" pitchFamily="34" charset="0"/>
              </a:rPr>
              <a:t>集散控制系统</a:t>
            </a:r>
          </a:p>
        </p:txBody>
      </p:sp>
      <p:sp>
        <p:nvSpPr>
          <p:cNvPr id="20" name="下箭头 19"/>
          <p:cNvSpPr/>
          <p:nvPr/>
        </p:nvSpPr>
        <p:spPr>
          <a:xfrm>
            <a:off x="4081462" y="6069633"/>
            <a:ext cx="929554" cy="215900"/>
          </a:xfrm>
          <a:prstGeom prst="downArrow">
            <a:avLst/>
          </a:prstGeom>
          <a:solidFill>
            <a:srgbClr val="92D050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699792" y="1701984"/>
            <a:ext cx="4104456" cy="4367649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zh-CN" alt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生产计划与控制</a:t>
            </a:r>
          </a:p>
        </p:txBody>
      </p:sp>
    </p:spTree>
    <p:extLst>
      <p:ext uri="{BB962C8B-B14F-4D97-AF65-F5344CB8AC3E}">
        <p14:creationId xmlns:p14="http://schemas.microsoft.com/office/powerpoint/2010/main" val="413651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1- </a:t>
            </a:r>
            <a:r>
              <a:rPr kumimoji="0" lang="zh-CN" altLang="en-US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系统集成体系框架</a:t>
            </a:r>
            <a:endParaRPr kumimoji="0" lang="en-US" altLang="zh-CN" sz="2800" b="1" i="0" u="none" strike="noStrike" kern="1200" cap="all" spc="-6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/>
              <a:ea typeface="宋体" charset="-122"/>
              <a:cs typeface="+mj-cs"/>
            </a:endParaRPr>
          </a:p>
        </p:txBody>
      </p:sp>
      <p:sp>
        <p:nvSpPr>
          <p:cNvPr id="75" name="矩形 74"/>
          <p:cNvSpPr/>
          <p:nvPr/>
        </p:nvSpPr>
        <p:spPr bwMode="auto">
          <a:xfrm>
            <a:off x="937460" y="1459355"/>
            <a:ext cx="7277100" cy="1524000"/>
          </a:xfrm>
          <a:prstGeom prst="rect">
            <a:avLst/>
          </a:prstGeom>
          <a:noFill/>
          <a:ln w="28575" cap="rnd" cmpd="sng" algn="ctr">
            <a:solidFill>
              <a:srgbClr val="0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eaVert" wrap="none" lIns="90000" tIns="45720" rIns="1890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929439" y="3240467"/>
            <a:ext cx="7285121" cy="1524000"/>
          </a:xfrm>
          <a:prstGeom prst="rect">
            <a:avLst/>
          </a:prstGeom>
          <a:noFill/>
          <a:ln w="28575" cap="rnd" cmpd="sng" algn="ctr">
            <a:solidFill>
              <a:srgbClr val="0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eaVert" wrap="none" lIns="90000" tIns="45720" rIns="1890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7" name="矩形 76"/>
          <p:cNvSpPr/>
          <p:nvPr/>
        </p:nvSpPr>
        <p:spPr bwMode="auto">
          <a:xfrm>
            <a:off x="929440" y="5029200"/>
            <a:ext cx="7285120" cy="1524000"/>
          </a:xfrm>
          <a:prstGeom prst="rect">
            <a:avLst/>
          </a:prstGeom>
          <a:noFill/>
          <a:ln w="28575" cap="rnd" cmpd="sng" algn="ctr">
            <a:solidFill>
              <a:srgbClr val="00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eaVert" wrap="none" lIns="90000" tIns="45720" rIns="1890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78" name="直接连接符 77"/>
          <p:cNvCxnSpPr/>
          <p:nvPr/>
        </p:nvCxnSpPr>
        <p:spPr bwMode="auto">
          <a:xfrm>
            <a:off x="1447800" y="3090053"/>
            <a:ext cx="3048000" cy="0"/>
          </a:xfrm>
          <a:prstGeom prst="line">
            <a:avLst/>
          </a:prstGeom>
          <a:solidFill>
            <a:srgbClr val="99CCFF"/>
          </a:solidFill>
          <a:ln w="38100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直接连接符 78"/>
          <p:cNvCxnSpPr/>
          <p:nvPr/>
        </p:nvCxnSpPr>
        <p:spPr bwMode="auto">
          <a:xfrm>
            <a:off x="1447800" y="4918853"/>
            <a:ext cx="3048000" cy="0"/>
          </a:xfrm>
          <a:prstGeom prst="line">
            <a:avLst/>
          </a:prstGeom>
          <a:solidFill>
            <a:srgbClr val="99CCFF"/>
          </a:solidFill>
          <a:ln w="38100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0" name="椭圆 79"/>
          <p:cNvSpPr/>
          <p:nvPr/>
        </p:nvSpPr>
        <p:spPr bwMode="auto">
          <a:xfrm>
            <a:off x="1295400" y="1605108"/>
            <a:ext cx="3352800" cy="1220212"/>
          </a:xfrm>
          <a:prstGeom prst="ellipse">
            <a:avLst/>
          </a:prstGeom>
          <a:solidFill>
            <a:srgbClr val="CCFFCC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90000" tIns="45720" rIns="1890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" name="椭圆 80"/>
          <p:cNvSpPr/>
          <p:nvPr/>
        </p:nvSpPr>
        <p:spPr bwMode="auto">
          <a:xfrm>
            <a:off x="1299411" y="3392361"/>
            <a:ext cx="3352800" cy="1220212"/>
          </a:xfrm>
          <a:prstGeom prst="ellipse">
            <a:avLst/>
          </a:prstGeom>
          <a:solidFill>
            <a:srgbClr val="CCEC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90000" tIns="45720" rIns="1890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2" name="直接箭头连接符 81"/>
          <p:cNvCxnSpPr>
            <a:stCxn id="80" idx="4"/>
            <a:endCxn id="81" idx="0"/>
          </p:cNvCxnSpPr>
          <p:nvPr/>
        </p:nvCxnSpPr>
        <p:spPr bwMode="auto">
          <a:xfrm>
            <a:off x="2971800" y="2825320"/>
            <a:ext cx="4011" cy="567041"/>
          </a:xfrm>
          <a:prstGeom prst="straightConnector1">
            <a:avLst/>
          </a:prstGeom>
          <a:solidFill>
            <a:srgbClr val="99CCFF"/>
          </a:solidFill>
          <a:ln w="28575" cap="rnd" cmpd="sng" algn="ctr">
            <a:solidFill>
              <a:srgbClr val="000000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" name="椭圆 82"/>
          <p:cNvSpPr/>
          <p:nvPr/>
        </p:nvSpPr>
        <p:spPr bwMode="auto">
          <a:xfrm>
            <a:off x="3723774" y="5143500"/>
            <a:ext cx="914400" cy="1295400"/>
          </a:xfrm>
          <a:prstGeom prst="ellipse">
            <a:avLst/>
          </a:prstGeom>
          <a:solidFill>
            <a:srgbClr val="9999CC">
              <a:lumMod val="20000"/>
              <a:lumOff val="80000"/>
            </a:srgbClr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90000" tIns="45720" rIns="1890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" name="椭圆 83"/>
          <p:cNvSpPr/>
          <p:nvPr/>
        </p:nvSpPr>
        <p:spPr bwMode="auto">
          <a:xfrm>
            <a:off x="1305426" y="5143500"/>
            <a:ext cx="914400" cy="1295400"/>
          </a:xfrm>
          <a:prstGeom prst="ellipse">
            <a:avLst/>
          </a:prstGeom>
          <a:solidFill>
            <a:srgbClr val="9999CC">
              <a:lumMod val="20000"/>
              <a:lumOff val="80000"/>
            </a:srgbClr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90000" tIns="45720" rIns="1890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5" name="直接箭头连接符 84"/>
          <p:cNvCxnSpPr>
            <a:stCxn id="81" idx="4"/>
          </p:cNvCxnSpPr>
          <p:nvPr/>
        </p:nvCxnSpPr>
        <p:spPr bwMode="auto">
          <a:xfrm flipH="1">
            <a:off x="2971800" y="4612573"/>
            <a:ext cx="4011" cy="520919"/>
          </a:xfrm>
          <a:prstGeom prst="straightConnector1">
            <a:avLst/>
          </a:prstGeom>
          <a:solidFill>
            <a:srgbClr val="99CCFF"/>
          </a:solidFill>
          <a:ln w="28575" cap="rnd" cmpd="sng" algn="ctr">
            <a:solidFill>
              <a:srgbClr val="000000"/>
            </a:solidFill>
            <a:prstDash val="solid"/>
            <a:round/>
            <a:headEnd type="triangl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" name="椭圆 85"/>
          <p:cNvSpPr/>
          <p:nvPr/>
        </p:nvSpPr>
        <p:spPr bwMode="auto">
          <a:xfrm>
            <a:off x="2522621" y="5133492"/>
            <a:ext cx="914400" cy="1295400"/>
          </a:xfrm>
          <a:prstGeom prst="ellipse">
            <a:avLst/>
          </a:prstGeom>
          <a:solidFill>
            <a:srgbClr val="9999CC">
              <a:lumMod val="20000"/>
              <a:lumOff val="80000"/>
            </a:srgbClr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eaVert" wrap="none" lIns="90000" tIns="45720" rIns="189000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7" name="直接箭头连接符 86"/>
          <p:cNvCxnSpPr/>
          <p:nvPr/>
        </p:nvCxnSpPr>
        <p:spPr bwMode="auto">
          <a:xfrm>
            <a:off x="1758616" y="4914880"/>
            <a:ext cx="1" cy="242413"/>
          </a:xfrm>
          <a:prstGeom prst="straightConnector1">
            <a:avLst/>
          </a:prstGeom>
          <a:solidFill>
            <a:srgbClr val="99CC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直接箭头连接符 87"/>
          <p:cNvCxnSpPr/>
          <p:nvPr/>
        </p:nvCxnSpPr>
        <p:spPr bwMode="auto">
          <a:xfrm>
            <a:off x="4178968" y="4918853"/>
            <a:ext cx="1" cy="242413"/>
          </a:xfrm>
          <a:prstGeom prst="straightConnector1">
            <a:avLst/>
          </a:prstGeom>
          <a:solidFill>
            <a:srgbClr val="99CCFF"/>
          </a:solidFill>
          <a:ln w="28575" cap="rnd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9" name="文本框 88"/>
          <p:cNvSpPr txBox="1"/>
          <p:nvPr/>
        </p:nvSpPr>
        <p:spPr>
          <a:xfrm>
            <a:off x="2306400" y="2061326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7D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业务计划层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2306400" y="3848578"/>
            <a:ext cx="1346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制造执行层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1205422" y="5627303"/>
            <a:ext cx="111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连续控制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3638922" y="5641458"/>
            <a:ext cx="111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离散控制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2538835" y="5641458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批控制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4953000" y="1845882"/>
            <a:ext cx="30307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制定生产计划；确定原材料使用、配送和运输；决定库存水平。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时限：季度、月、旬、周、日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4953000" y="3529987"/>
            <a:ext cx="30307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工作流调度控制：分派生产；设备管理；质量管理；物料跟踪；库存管理；档案维护；生产过程优化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工作时限：日、轮班、小时、分钟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4953000" y="5304137"/>
            <a:ext cx="30307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感知、操控、检测实际物理生产过程；生产过程的监督控制和自动控制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时限：小时、分钟、秒、几分几秒</a:t>
            </a:r>
          </a:p>
        </p:txBody>
      </p:sp>
    </p:spTree>
    <p:extLst>
      <p:ext uri="{BB962C8B-B14F-4D97-AF65-F5344CB8AC3E}">
        <p14:creationId xmlns:p14="http://schemas.microsoft.com/office/powerpoint/2010/main" val="2946965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30"/>
          <p:cNvGrpSpPr>
            <a:grpSpLocks/>
          </p:cNvGrpSpPr>
          <p:nvPr/>
        </p:nvGrpSpPr>
        <p:grpSpPr bwMode="auto">
          <a:xfrm>
            <a:off x="1295400" y="1524000"/>
            <a:ext cx="7543800" cy="5105400"/>
            <a:chOff x="912" y="624"/>
            <a:chExt cx="4752" cy="3216"/>
          </a:xfrm>
        </p:grpSpPr>
        <p:sp>
          <p:nvSpPr>
            <p:cNvPr id="6" name="Rectangle 1128"/>
            <p:cNvSpPr>
              <a:spLocks noChangeArrowheads="1"/>
            </p:cNvSpPr>
            <p:nvPr/>
          </p:nvSpPr>
          <p:spPr bwMode="auto">
            <a:xfrm>
              <a:off x="912" y="624"/>
              <a:ext cx="4752" cy="3216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spcBef>
                  <a:spcPct val="40000"/>
                </a:spcBef>
              </a:pPr>
              <a:endParaRPr lang="zh-CN" altLang="en-US"/>
            </a:p>
          </p:txBody>
        </p:sp>
        <p:sp>
          <p:nvSpPr>
            <p:cNvPr id="7" name="Text Box 1129"/>
            <p:cNvSpPr txBox="1">
              <a:spLocks noChangeArrowheads="1"/>
            </p:cNvSpPr>
            <p:nvPr/>
          </p:nvSpPr>
          <p:spPr bwMode="auto">
            <a:xfrm>
              <a:off x="1112" y="3454"/>
              <a:ext cx="5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0" hangingPunct="0">
                <a:spcBef>
                  <a:spcPct val="40000"/>
                </a:spcBef>
              </a:pPr>
              <a:r>
                <a:rPr lang="zh-CN" altLang="en-US" dirty="0">
                  <a:solidFill>
                    <a:srgbClr val="FF3300"/>
                  </a:solidFill>
                </a:rPr>
                <a:t>车间</a:t>
              </a:r>
            </a:p>
          </p:txBody>
        </p:sp>
      </p:grpSp>
      <p:sp>
        <p:nvSpPr>
          <p:cNvPr id="8" name="Rectangle 1098"/>
          <p:cNvSpPr>
            <a:spLocks noChangeArrowheads="1"/>
          </p:cNvSpPr>
          <p:nvPr/>
        </p:nvSpPr>
        <p:spPr bwMode="auto">
          <a:xfrm>
            <a:off x="152400" y="3200400"/>
            <a:ext cx="2057400" cy="9906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en-US" altLang="zh-CN" dirty="0">
                <a:solidFill>
                  <a:schemeClr val="bg1"/>
                </a:solidFill>
              </a:rPr>
              <a:t>ERP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2000" dirty="0">
                <a:solidFill>
                  <a:schemeClr val="bg1"/>
                </a:solidFill>
              </a:rPr>
              <a:t>时间尺度：100</a:t>
            </a:r>
            <a:r>
              <a:rPr lang="en-US" altLang="zh-CN" sz="20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9" name="Rectangle 1099"/>
          <p:cNvSpPr>
            <a:spLocks noChangeArrowheads="1"/>
          </p:cNvSpPr>
          <p:nvPr/>
        </p:nvSpPr>
        <p:spPr bwMode="auto">
          <a:xfrm>
            <a:off x="3505200" y="3200400"/>
            <a:ext cx="1828800" cy="99060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en-US" altLang="zh-CN" dirty="0">
                <a:solidFill>
                  <a:srgbClr val="FF3300"/>
                </a:solidFill>
              </a:rPr>
              <a:t>MES</a:t>
            </a: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2000" dirty="0">
                <a:solidFill>
                  <a:srgbClr val="FF3300"/>
                </a:solidFill>
              </a:rPr>
              <a:t>时间尺度：10</a:t>
            </a:r>
            <a:r>
              <a:rPr lang="en-US" altLang="zh-CN" sz="2000" dirty="0">
                <a:solidFill>
                  <a:srgbClr val="FF3300"/>
                </a:solidFill>
              </a:rPr>
              <a:t>X</a:t>
            </a:r>
          </a:p>
        </p:txBody>
      </p:sp>
      <p:sp>
        <p:nvSpPr>
          <p:cNvPr id="10" name="Rectangle 1100"/>
          <p:cNvSpPr>
            <a:spLocks noChangeArrowheads="1"/>
          </p:cNvSpPr>
          <p:nvPr/>
        </p:nvSpPr>
        <p:spPr bwMode="auto">
          <a:xfrm>
            <a:off x="6629400" y="3200400"/>
            <a:ext cx="1828800" cy="9906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控制层</a:t>
            </a:r>
            <a:r>
              <a:rPr lang="en-US" altLang="zh-CN" dirty="0">
                <a:solidFill>
                  <a:schemeClr val="bg1"/>
                </a:solidFill>
              </a:rPr>
              <a:t>PCS</a:t>
            </a:r>
            <a:endParaRPr lang="zh-CN" altLang="en-US" dirty="0">
              <a:solidFill>
                <a:schemeClr val="bg1"/>
              </a:solidFill>
            </a:endParaRPr>
          </a:p>
          <a:p>
            <a:pPr algn="ctr" eaLnBrk="0" hangingPunct="0">
              <a:spcBef>
                <a:spcPct val="40000"/>
              </a:spcBef>
            </a:pPr>
            <a:r>
              <a:rPr lang="zh-CN" altLang="en-US" sz="2000" dirty="0">
                <a:solidFill>
                  <a:schemeClr val="bg1"/>
                </a:solidFill>
              </a:rPr>
              <a:t>时间尺度：1</a:t>
            </a:r>
            <a:r>
              <a:rPr lang="en-US" altLang="zh-CN" sz="2000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1" name="Rectangle 1101"/>
          <p:cNvSpPr>
            <a:spLocks noChangeArrowheads="1"/>
          </p:cNvSpPr>
          <p:nvPr/>
        </p:nvSpPr>
        <p:spPr bwMode="auto">
          <a:xfrm>
            <a:off x="3505200" y="5486400"/>
            <a:ext cx="1828800" cy="8382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>
                <a:solidFill>
                  <a:schemeClr val="bg1"/>
                </a:solidFill>
              </a:rPr>
              <a:t>人员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12" name="Rectangle 1102"/>
          <p:cNvSpPr>
            <a:spLocks noChangeArrowheads="1"/>
          </p:cNvSpPr>
          <p:nvPr/>
        </p:nvSpPr>
        <p:spPr bwMode="auto">
          <a:xfrm>
            <a:off x="6629400" y="5486400"/>
            <a:ext cx="1828800" cy="8382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>
                <a:solidFill>
                  <a:schemeClr val="bg1"/>
                </a:solidFill>
              </a:rPr>
              <a:t>设备</a:t>
            </a:r>
            <a:endParaRPr lang="en-US" altLang="zh-CN" sz="2000">
              <a:solidFill>
                <a:schemeClr val="bg1"/>
              </a:solidFill>
            </a:endParaRPr>
          </a:p>
        </p:txBody>
      </p:sp>
      <p:sp>
        <p:nvSpPr>
          <p:cNvPr id="13" name="Line 1103"/>
          <p:cNvSpPr>
            <a:spLocks noChangeShapeType="1"/>
          </p:cNvSpPr>
          <p:nvPr/>
        </p:nvSpPr>
        <p:spPr bwMode="auto">
          <a:xfrm>
            <a:off x="2209800" y="3733800"/>
            <a:ext cx="1295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104"/>
          <p:cNvSpPr>
            <a:spLocks noChangeShapeType="1"/>
          </p:cNvSpPr>
          <p:nvPr/>
        </p:nvSpPr>
        <p:spPr bwMode="auto">
          <a:xfrm>
            <a:off x="5334000" y="3733800"/>
            <a:ext cx="12954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105"/>
          <p:cNvSpPr>
            <a:spLocks noChangeShapeType="1"/>
          </p:cNvSpPr>
          <p:nvPr/>
        </p:nvSpPr>
        <p:spPr bwMode="auto">
          <a:xfrm>
            <a:off x="4038600" y="41910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106"/>
          <p:cNvSpPr>
            <a:spLocks noChangeShapeType="1"/>
          </p:cNvSpPr>
          <p:nvPr/>
        </p:nvSpPr>
        <p:spPr bwMode="auto">
          <a:xfrm flipV="1">
            <a:off x="4724400" y="41910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107"/>
          <p:cNvSpPr>
            <a:spLocks noChangeShapeType="1"/>
          </p:cNvSpPr>
          <p:nvPr/>
        </p:nvSpPr>
        <p:spPr bwMode="auto">
          <a:xfrm>
            <a:off x="7315200" y="41910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1108"/>
          <p:cNvSpPr>
            <a:spLocks noChangeShapeType="1"/>
          </p:cNvSpPr>
          <p:nvPr/>
        </p:nvSpPr>
        <p:spPr bwMode="auto">
          <a:xfrm flipV="1">
            <a:off x="7848600" y="41910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109"/>
          <p:cNvSpPr>
            <a:spLocks noChangeShapeType="1"/>
          </p:cNvSpPr>
          <p:nvPr/>
        </p:nvSpPr>
        <p:spPr bwMode="auto">
          <a:xfrm>
            <a:off x="1143000" y="2438400"/>
            <a:ext cx="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1110"/>
          <p:cNvSpPr>
            <a:spLocks noChangeShapeType="1"/>
          </p:cNvSpPr>
          <p:nvPr/>
        </p:nvSpPr>
        <p:spPr bwMode="auto">
          <a:xfrm>
            <a:off x="1143000" y="2438400"/>
            <a:ext cx="2895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1111"/>
          <p:cNvSpPr>
            <a:spLocks noChangeShapeType="1"/>
          </p:cNvSpPr>
          <p:nvPr/>
        </p:nvSpPr>
        <p:spPr bwMode="auto">
          <a:xfrm>
            <a:off x="4419600" y="1905000"/>
            <a:ext cx="34290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Line 1112"/>
          <p:cNvSpPr>
            <a:spLocks noChangeShapeType="1"/>
          </p:cNvSpPr>
          <p:nvPr/>
        </p:nvSpPr>
        <p:spPr bwMode="auto">
          <a:xfrm>
            <a:off x="4419600" y="19050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1113"/>
          <p:cNvSpPr>
            <a:spLocks noChangeShapeType="1"/>
          </p:cNvSpPr>
          <p:nvPr/>
        </p:nvSpPr>
        <p:spPr bwMode="auto">
          <a:xfrm>
            <a:off x="7848600" y="1905000"/>
            <a:ext cx="0" cy="1295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1114"/>
          <p:cNvSpPr>
            <a:spLocks noChangeShapeType="1"/>
          </p:cNvSpPr>
          <p:nvPr/>
        </p:nvSpPr>
        <p:spPr bwMode="auto">
          <a:xfrm>
            <a:off x="4038600" y="2438400"/>
            <a:ext cx="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1115"/>
          <p:cNvSpPr>
            <a:spLocks noChangeShapeType="1"/>
          </p:cNvSpPr>
          <p:nvPr/>
        </p:nvSpPr>
        <p:spPr bwMode="auto">
          <a:xfrm>
            <a:off x="4800600" y="2438400"/>
            <a:ext cx="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1116"/>
          <p:cNvSpPr>
            <a:spLocks noChangeShapeType="1"/>
          </p:cNvSpPr>
          <p:nvPr/>
        </p:nvSpPr>
        <p:spPr bwMode="auto">
          <a:xfrm>
            <a:off x="4800600" y="2438400"/>
            <a:ext cx="2514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1117"/>
          <p:cNvSpPr>
            <a:spLocks noChangeShapeType="1"/>
          </p:cNvSpPr>
          <p:nvPr/>
        </p:nvSpPr>
        <p:spPr bwMode="auto">
          <a:xfrm>
            <a:off x="7315200" y="2438400"/>
            <a:ext cx="0" cy="762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Text Box 1118"/>
          <p:cNvSpPr txBox="1">
            <a:spLocks noChangeArrowheads="1"/>
          </p:cNvSpPr>
          <p:nvPr/>
        </p:nvSpPr>
        <p:spPr bwMode="auto">
          <a:xfrm>
            <a:off x="2209800" y="3378200"/>
            <a:ext cx="1397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要生产什么？</a:t>
            </a:r>
          </a:p>
        </p:txBody>
      </p:sp>
      <p:sp>
        <p:nvSpPr>
          <p:cNvPr id="30" name="Text Box 1119"/>
          <p:cNvSpPr txBox="1">
            <a:spLocks noChangeArrowheads="1"/>
          </p:cNvSpPr>
          <p:nvPr/>
        </p:nvSpPr>
        <p:spPr bwMode="auto">
          <a:xfrm>
            <a:off x="5257800" y="3352800"/>
            <a:ext cx="1397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生产方法指令</a:t>
            </a:r>
          </a:p>
        </p:txBody>
      </p:sp>
      <p:sp>
        <p:nvSpPr>
          <p:cNvPr id="31" name="Text Box 1120"/>
          <p:cNvSpPr txBox="1">
            <a:spLocks noChangeArrowheads="1"/>
          </p:cNvSpPr>
          <p:nvPr/>
        </p:nvSpPr>
        <p:spPr bwMode="auto">
          <a:xfrm>
            <a:off x="2008188" y="2101850"/>
            <a:ext cx="11906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生产了什么</a:t>
            </a:r>
          </a:p>
        </p:txBody>
      </p:sp>
      <p:sp>
        <p:nvSpPr>
          <p:cNvPr id="32" name="Text Box 1121"/>
          <p:cNvSpPr txBox="1">
            <a:spLocks noChangeArrowheads="1"/>
          </p:cNvSpPr>
          <p:nvPr/>
        </p:nvSpPr>
        <p:spPr bwMode="auto">
          <a:xfrm>
            <a:off x="5610225" y="1568450"/>
            <a:ext cx="996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操作结果</a:t>
            </a:r>
          </a:p>
        </p:txBody>
      </p:sp>
      <p:sp>
        <p:nvSpPr>
          <p:cNvPr id="33" name="Text Box 1122"/>
          <p:cNvSpPr txBox="1">
            <a:spLocks noChangeArrowheads="1"/>
          </p:cNvSpPr>
          <p:nvPr/>
        </p:nvSpPr>
        <p:spPr bwMode="auto">
          <a:xfrm>
            <a:off x="5610225" y="2133600"/>
            <a:ext cx="996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操作状态</a:t>
            </a:r>
          </a:p>
        </p:txBody>
      </p:sp>
      <p:sp>
        <p:nvSpPr>
          <p:cNvPr id="34" name="Text Box 1123"/>
          <p:cNvSpPr txBox="1">
            <a:spLocks noChangeArrowheads="1"/>
          </p:cNvSpPr>
          <p:nvPr/>
        </p:nvSpPr>
        <p:spPr bwMode="auto">
          <a:xfrm>
            <a:off x="4700588" y="2438400"/>
            <a:ext cx="2806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生产了什么？是如何生产的？</a:t>
            </a:r>
          </a:p>
        </p:txBody>
      </p:sp>
      <p:sp>
        <p:nvSpPr>
          <p:cNvPr id="35" name="Text Box 1124"/>
          <p:cNvSpPr txBox="1">
            <a:spLocks noChangeArrowheads="1"/>
          </p:cNvSpPr>
          <p:nvPr/>
        </p:nvSpPr>
        <p:spPr bwMode="auto">
          <a:xfrm>
            <a:off x="2514600" y="4572000"/>
            <a:ext cx="1524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     生产方法及人员指令</a:t>
            </a:r>
          </a:p>
        </p:txBody>
      </p:sp>
      <p:sp>
        <p:nvSpPr>
          <p:cNvPr id="36" name="Text Box 1125"/>
          <p:cNvSpPr txBox="1">
            <a:spLocks noChangeArrowheads="1"/>
          </p:cNvSpPr>
          <p:nvPr/>
        </p:nvSpPr>
        <p:spPr bwMode="auto">
          <a:xfrm>
            <a:off x="4724400" y="4572000"/>
            <a:ext cx="1295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40000"/>
              </a:spcBef>
            </a:pPr>
            <a:r>
              <a:rPr lang="zh-CN" altLang="en-US" sz="1600" dirty="0">
                <a:latin typeface="华文中宋" panose="02010600040101010101" pitchFamily="2" charset="-122"/>
                <a:ea typeface="华文中宋" panose="02010600040101010101" pitchFamily="2" charset="-122"/>
              </a:rPr>
              <a:t>生产结果及人员反馈</a:t>
            </a:r>
          </a:p>
        </p:txBody>
      </p:sp>
      <p:sp>
        <p:nvSpPr>
          <p:cNvPr id="37" name="Text Box 1126"/>
          <p:cNvSpPr txBox="1">
            <a:spLocks noChangeArrowheads="1"/>
          </p:cNvSpPr>
          <p:nvPr/>
        </p:nvSpPr>
        <p:spPr bwMode="auto">
          <a:xfrm>
            <a:off x="6096000" y="4495800"/>
            <a:ext cx="1219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r"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     设备操纵控制</a:t>
            </a:r>
          </a:p>
        </p:txBody>
      </p:sp>
      <p:sp>
        <p:nvSpPr>
          <p:cNvPr id="38" name="Text Box 1127"/>
          <p:cNvSpPr txBox="1">
            <a:spLocks noChangeArrowheads="1"/>
          </p:cNvSpPr>
          <p:nvPr/>
        </p:nvSpPr>
        <p:spPr bwMode="auto">
          <a:xfrm>
            <a:off x="7772400" y="4495800"/>
            <a:ext cx="990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>
            <a:spAutoFit/>
          </a:bodyPr>
          <a:lstStyle>
            <a:lvl1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defTabSz="190500" eaLnBrk="0" hangingPunct="0"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defTabSz="1905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defRPr sz="2800" b="1">
                <a:solidFill>
                  <a:srgbClr val="3333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>
              <a:spcBef>
                <a:spcPct val="40000"/>
              </a:spcBef>
            </a:pPr>
            <a:r>
              <a:rPr lang="zh-CN" altLang="en-US" sz="1600">
                <a:latin typeface="华文中宋" panose="02010600040101010101" pitchFamily="2" charset="-122"/>
                <a:ea typeface="华文中宋" panose="02010600040101010101" pitchFamily="2" charset="-122"/>
              </a:rPr>
              <a:t>输入/输出传感器值</a:t>
            </a:r>
          </a:p>
        </p:txBody>
      </p:sp>
      <p:sp>
        <p:nvSpPr>
          <p:cNvPr id="39" name="Rectangle 1101"/>
          <p:cNvSpPr>
            <a:spLocks noChangeArrowheads="1"/>
          </p:cNvSpPr>
          <p:nvPr/>
        </p:nvSpPr>
        <p:spPr bwMode="auto">
          <a:xfrm>
            <a:off x="381000" y="4963832"/>
            <a:ext cx="1828800" cy="838200"/>
          </a:xfrm>
          <a:prstGeom prst="rect">
            <a:avLst/>
          </a:prstGeom>
          <a:solidFill>
            <a:srgbClr val="3333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40000"/>
              </a:spcBef>
            </a:pPr>
            <a:r>
              <a:rPr lang="zh-CN" altLang="en-US" sz="2000" dirty="0">
                <a:solidFill>
                  <a:schemeClr val="bg1"/>
                </a:solidFill>
              </a:rPr>
              <a:t>物料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4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" y="881343"/>
            <a:ext cx="8229600" cy="36325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kumimoji="1" lang="zh-CN" altLang="en-US" sz="2400" dirty="0">
                <a:latin typeface="华文中宋" panose="02010600040101010101" pitchFamily="2" charset="-122"/>
              </a:rPr>
              <a:t>计划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-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执行</a:t>
            </a:r>
            <a:r>
              <a:rPr kumimoji="1" lang="en-US" altLang="zh-CN" sz="2400" dirty="0">
                <a:latin typeface="华文中宋" panose="02010600040101010101" pitchFamily="2" charset="-122"/>
              </a:rPr>
              <a:t>-</a:t>
            </a:r>
            <a:r>
              <a:rPr kumimoji="1" lang="zh-CN" altLang="en-US" sz="2400" dirty="0">
                <a:latin typeface="华文中宋" panose="02010600040101010101" pitchFamily="2" charset="-122"/>
              </a:rPr>
              <a:t>控制三层之间的信息集成</a:t>
            </a:r>
          </a:p>
        </p:txBody>
      </p:sp>
      <p:sp>
        <p:nvSpPr>
          <p:cNvPr id="41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1- </a:t>
            </a:r>
            <a:r>
              <a:rPr kumimoji="0" lang="zh-CN" altLang="en-US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系统集成体系框架</a:t>
            </a:r>
            <a:endParaRPr kumimoji="0" lang="en-US" altLang="zh-CN" sz="2800" b="1" i="0" u="none" strike="noStrike" kern="1200" cap="all" spc="-6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/>
              <a:ea typeface="宋体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692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2-</a:t>
            </a:r>
            <a:r>
              <a:rPr kumimoji="0" lang="zh-CN" altLang="en-US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企业生产与运作系统</a:t>
            </a:r>
            <a:endParaRPr kumimoji="0" lang="en-US" altLang="zh-CN" sz="2800" b="1" i="0" u="none" strike="noStrike" kern="1200" cap="all" spc="-6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/>
              <a:ea typeface="宋体" charset="-122"/>
              <a:cs typeface="+mj-cs"/>
            </a:endParaRPr>
          </a:p>
        </p:txBody>
      </p:sp>
      <p:sp>
        <p:nvSpPr>
          <p:cNvPr id="5" name="内容占位符 8"/>
          <p:cNvSpPr>
            <a:spLocks/>
          </p:cNvSpPr>
          <p:nvPr/>
        </p:nvSpPr>
        <p:spPr bwMode="auto">
          <a:xfrm>
            <a:off x="381000" y="908050"/>
            <a:ext cx="830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2C3F71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</a:rPr>
              <a:t>基本定义</a:t>
            </a:r>
          </a:p>
          <a:p>
            <a:pPr marL="342900" marR="0" lvl="0" indent="-342900" defTabSz="91440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2C3F71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“企业（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Enterprise</a:t>
            </a: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）”一词的两种用法：</a:t>
            </a:r>
          </a:p>
          <a:p>
            <a:pPr marL="342900" marR="0" lvl="0" indent="-342900" defTabSz="91440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2C3F71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企业是从事生产、流通、服务等经济活动，以生产或服务满足社会需要，实行自主经营、独立核算、依法设立的一种盈利性的经济组织。企业主要指独立的盈利性组织，并可进一步分为公司和非公司企业，后者如合伙制企业、个人独资企业等。</a:t>
            </a:r>
          </a:p>
          <a:p>
            <a:pPr marL="342900" marR="0" lvl="0" indent="-342900" defTabSz="91440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2C3F71"/>
              </a:buClr>
              <a:buSzPct val="75000"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另一种用法与社会组织接近，可以用来泛指公司、学校、社会团体乃至政府机构等。主要出现在信息技术应用领域的一些专有名词中，如</a:t>
            </a:r>
          </a:p>
          <a:p>
            <a:pPr marL="742950" marR="0" lvl="1" indent="-285750" defTabSz="91440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2C3F71"/>
              </a:buClr>
              <a:buSzPct val="80000"/>
              <a:buFont typeface="Wingdings" panose="05000000000000000000" pitchFamily="2" charset="2"/>
              <a:buChar char="¨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企业应用（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enterprise applications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）、企业计算（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enterprise computing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  <a:p>
            <a:pPr marL="742950" marR="0" lvl="1" indent="-285750" defTabSz="91440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2C3F71"/>
              </a:buClr>
              <a:buSzPct val="80000"/>
              <a:buFont typeface="Wingdings" panose="05000000000000000000" pitchFamily="2" charset="2"/>
              <a:buChar char="¨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企业集成（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enterprise integration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）、企业工程（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enterprise engineering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  <a:p>
            <a:pPr marL="742950" marR="0" lvl="1" indent="-285750" defTabSz="914400" eaLnBrk="1" fontAlgn="auto" latinLnBrk="1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rgbClr val="2C3F71"/>
              </a:buClr>
              <a:buSzPct val="80000"/>
              <a:buFont typeface="Wingdings" panose="05000000000000000000" pitchFamily="2" charset="2"/>
              <a:buChar char="¨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企业架构（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enterprise architecture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）、企业建模（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enterprise modeling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597355245"/>
      </p:ext>
    </p:extLst>
  </p:cSld>
  <p:clrMapOvr>
    <a:masterClrMapping/>
  </p:clrMapOvr>
  <p:transition>
    <p:strip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2-</a:t>
            </a:r>
            <a:r>
              <a:rPr kumimoji="0" lang="zh-CN" altLang="en-US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企业生产与运作系统</a:t>
            </a:r>
            <a:endParaRPr kumimoji="0" lang="en-US" altLang="zh-CN" sz="2800" b="1" i="0" u="none" strike="noStrike" kern="1200" cap="all" spc="-6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/>
              <a:ea typeface="宋体" charset="-122"/>
              <a:cs typeface="+mj-cs"/>
            </a:endParaRPr>
          </a:p>
        </p:txBody>
      </p:sp>
      <p:sp>
        <p:nvSpPr>
          <p:cNvPr id="4" name="内容占位符 8"/>
          <p:cNvSpPr>
            <a:spLocks/>
          </p:cNvSpPr>
          <p:nvPr/>
        </p:nvSpPr>
        <p:spPr bwMode="auto">
          <a:xfrm>
            <a:off x="419100" y="1066800"/>
            <a:ext cx="8305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lnSpc>
                <a:spcPct val="150000"/>
              </a:lnSpc>
              <a:buClr>
                <a:srgbClr val="2C3F71"/>
              </a:buClr>
            </a:pPr>
            <a:r>
              <a:rPr lang="zh-CN" altLang="en-US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生产运作系统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</a:rPr>
              <a:t>-Production and Operations System</a:t>
            </a:r>
            <a:endParaRPr lang="zh-CN" altLang="en-US" sz="28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381000" y="2286000"/>
            <a:ext cx="8305800" cy="4114800"/>
            <a:chOff x="0" y="0"/>
            <a:chExt cx="7920" cy="3415"/>
          </a:xfrm>
        </p:grpSpPr>
        <p:sp>
          <p:nvSpPr>
            <p:cNvPr id="8" name="AutoShape 5"/>
            <p:cNvSpPr>
              <a:spLocks noChangeAspect="1" noChangeArrowheads="1"/>
            </p:cNvSpPr>
            <p:nvPr/>
          </p:nvSpPr>
          <p:spPr bwMode="auto">
            <a:xfrm>
              <a:off x="0" y="0"/>
              <a:ext cx="7920" cy="3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253" y="1205"/>
              <a:ext cx="1220" cy="45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转换过程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272" y="1205"/>
              <a:ext cx="914" cy="45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投入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5539" y="1205"/>
              <a:ext cx="915" cy="45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产出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cxnSp>
          <p:nvCxnSpPr>
            <p:cNvPr id="12" name="AutoShape 9"/>
            <p:cNvCxnSpPr>
              <a:cxnSpLocks noChangeShapeType="1"/>
              <a:stCxn id="10" idx="3"/>
              <a:endCxn id="9" idx="1"/>
            </p:cNvCxnSpPr>
            <p:nvPr/>
          </p:nvCxnSpPr>
          <p:spPr bwMode="auto">
            <a:xfrm>
              <a:off x="2186" y="1434"/>
              <a:ext cx="106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0"/>
            <p:cNvCxnSpPr>
              <a:cxnSpLocks noChangeShapeType="1"/>
            </p:cNvCxnSpPr>
            <p:nvPr/>
          </p:nvCxnSpPr>
          <p:spPr bwMode="auto">
            <a:xfrm>
              <a:off x="4473" y="1434"/>
              <a:ext cx="106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</p:cxn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3913" y="1739"/>
              <a:ext cx="642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反馈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1043" y="1624"/>
              <a:ext cx="591" cy="16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土地</a:t>
              </a:r>
              <a:endPara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劳动</a:t>
              </a:r>
              <a:endPara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资本</a:t>
              </a:r>
              <a:endPara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信息</a:t>
              </a:r>
              <a:endParaRPr lang="zh-CN" altLang="en-US" sz="1800" dirty="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5997" y="1624"/>
              <a:ext cx="590" cy="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产品</a:t>
              </a:r>
              <a:endParaRPr lang="zh-CN" altLang="en-US" sz="1800">
                <a:solidFill>
                  <a:srgbClr val="000000"/>
                </a:solidFill>
                <a:latin typeface="宋体" panose="02010600030101010101" pitchFamily="2" charset="-122"/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服务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7" name="AutoShape 14"/>
            <p:cNvSpPr>
              <a:spLocks noChangeArrowheads="1"/>
            </p:cNvSpPr>
            <p:nvPr/>
          </p:nvSpPr>
          <p:spPr bwMode="auto">
            <a:xfrm>
              <a:off x="0" y="1016"/>
              <a:ext cx="815" cy="823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各类供应商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AutoShape 15"/>
            <p:cNvSpPr>
              <a:spLocks noChangeArrowheads="1"/>
            </p:cNvSpPr>
            <p:nvPr/>
          </p:nvSpPr>
          <p:spPr bwMode="auto">
            <a:xfrm>
              <a:off x="7139" y="1016"/>
              <a:ext cx="781" cy="823"/>
            </a:xfrm>
            <a:prstGeom prst="roundRect">
              <a:avLst>
                <a:gd name="adj" fmla="val 16667"/>
              </a:avLst>
            </a:prstGeom>
            <a:solidFill>
              <a:srgbClr val="00B0F0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客户</a:t>
              </a:r>
              <a:r>
                <a:rPr lang="en-US" altLang="zh-CN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市场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815" y="1434"/>
              <a:ext cx="45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6454" y="1434"/>
              <a:ext cx="68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3025" y="382"/>
              <a:ext cx="1219" cy="45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随机干扰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1440" y="323"/>
              <a:ext cx="1556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生产系统环境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4167" y="323"/>
              <a:ext cx="3156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（政治、经济、社会、技术）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3431" y="2196"/>
              <a:ext cx="915" cy="457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控制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5" name="Line 23"/>
            <p:cNvSpPr>
              <a:spLocks noChangeShapeType="1"/>
            </p:cNvSpPr>
            <p:nvPr/>
          </p:nvSpPr>
          <p:spPr bwMode="auto">
            <a:xfrm flipH="1">
              <a:off x="4320" y="2424"/>
              <a:ext cx="16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 flipV="1">
              <a:off x="1729" y="1662"/>
              <a:ext cx="0" cy="7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V="1">
              <a:off x="1729" y="2423"/>
              <a:ext cx="170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5997" y="1662"/>
              <a:ext cx="0" cy="7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3710" y="1662"/>
              <a:ext cx="0" cy="5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V="1">
              <a:off x="3939" y="1662"/>
              <a:ext cx="0" cy="53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1" name="Text Box 29"/>
            <p:cNvSpPr txBox="1">
              <a:spLocks noChangeArrowheads="1"/>
            </p:cNvSpPr>
            <p:nvPr/>
          </p:nvSpPr>
          <p:spPr bwMode="auto">
            <a:xfrm>
              <a:off x="3101" y="1739"/>
              <a:ext cx="64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反馈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2" name="Text Box 30"/>
            <p:cNvSpPr txBox="1">
              <a:spLocks noChangeArrowheads="1"/>
            </p:cNvSpPr>
            <p:nvPr/>
          </p:nvSpPr>
          <p:spPr bwMode="auto">
            <a:xfrm>
              <a:off x="4822" y="2056"/>
              <a:ext cx="641" cy="3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反馈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3" name="Text Box 31"/>
            <p:cNvSpPr txBox="1">
              <a:spLocks noChangeArrowheads="1"/>
            </p:cNvSpPr>
            <p:nvPr/>
          </p:nvSpPr>
          <p:spPr bwMode="auto">
            <a:xfrm>
              <a:off x="2263" y="2044"/>
              <a:ext cx="641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99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00007D"/>
                    </a:outerShdw>
                  </a:effectLst>
                </a14:hiddenEffects>
              </a:ext>
            </a:extLst>
          </p:spPr>
          <p:txBody>
            <a:bodyPr lIns="58522" tIns="29261" rIns="58522" bIns="29261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Times New Roman" panose="02020603050405020304" pitchFamily="18" charset="0"/>
                </a:rPr>
                <a:t>反馈</a:t>
              </a:r>
              <a:endParaRPr lang="zh-CN" altLang="en-US" sz="1800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4" name="AutoShape 32"/>
          <p:cNvSpPr>
            <a:spLocks noChangeArrowheads="1"/>
          </p:cNvSpPr>
          <p:nvPr/>
        </p:nvSpPr>
        <p:spPr bwMode="auto">
          <a:xfrm>
            <a:off x="1438275" y="2286000"/>
            <a:ext cx="6248400" cy="3948112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7D"/>
                  </a:outerShdw>
                </a:effectLst>
              </a14:hiddenEffects>
            </a:ext>
          </a:extLst>
        </p:spPr>
        <p:txBody>
          <a:bodyPr lIns="58522" tIns="29261" rIns="58522" bIns="29261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715938"/>
      </p:ext>
    </p:extLst>
  </p:cSld>
  <p:clrMapOvr>
    <a:masterClrMapping/>
  </p:clrMapOvr>
  <p:transition>
    <p:strip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2-</a:t>
            </a:r>
            <a:r>
              <a:rPr kumimoji="0" lang="zh-CN" altLang="en-US" sz="2800" b="1" i="0" u="none" strike="noStrike" kern="1200" cap="all" spc="-6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 Black"/>
                <a:ea typeface="宋体" charset="-122"/>
                <a:cs typeface="+mj-cs"/>
              </a:rPr>
              <a:t>企业生产与运作系统</a:t>
            </a:r>
            <a:endParaRPr kumimoji="0" lang="en-US" altLang="zh-CN" sz="2800" b="1" i="0" u="none" strike="noStrike" kern="1200" cap="all" spc="-6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/>
              <a:ea typeface="宋体" charset="-122"/>
              <a:cs typeface="+mj-cs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04800" y="1033462"/>
            <a:ext cx="8229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n"/>
              <a:defRPr/>
            </a:pPr>
            <a:r>
              <a:rPr lang="zh-CN" altLang="en-US" sz="2800" b="1" ker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+mn-cs"/>
              </a:rPr>
              <a:t>制造的组织模式</a:t>
            </a:r>
            <a:endParaRPr lang="zh-CN" altLang="en-US" sz="2800" b="1" kern="0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4278276"/>
              </p:ext>
            </p:extLst>
          </p:nvPr>
        </p:nvGraphicFramePr>
        <p:xfrm>
          <a:off x="533400" y="1905000"/>
          <a:ext cx="80772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3" name="Visio" r:id="rId4" imgW="6490789" imgH="3646753" progId="Visio.Drawing.11">
                  <p:embed/>
                </p:oleObj>
              </mc:Choice>
              <mc:Fallback>
                <p:oleObj name="Visio" r:id="rId4" imgW="6490789" imgH="3646753" progId="Visio.Drawing.11">
                  <p:embed/>
                  <p:pic>
                    <p:nvPicPr>
                      <p:cNvPr id="7168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905000"/>
                        <a:ext cx="8077200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1358973"/>
      </p:ext>
    </p:extLst>
  </p:cSld>
  <p:clrMapOvr>
    <a:masterClrMapping/>
  </p:clrMapOvr>
  <p:transition>
    <p:strips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2060"/>
                </a:solidFill>
                <a:ea typeface="宋体" charset="-122"/>
              </a:rPr>
              <a:t>3- </a:t>
            </a:r>
            <a:r>
              <a:rPr lang="zh-CN" altLang="en-US" sz="2800" b="1" dirty="0">
                <a:solidFill>
                  <a:srgbClr val="002060"/>
                </a:solidFill>
                <a:ea typeface="宋体" charset="-122"/>
              </a:rPr>
              <a:t>生产规划</a:t>
            </a:r>
            <a:endParaRPr lang="en-US" altLang="zh-CN" sz="2800" b="1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1447800"/>
            <a:ext cx="82296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生产规划：</a:t>
            </a:r>
            <a:r>
              <a:rPr lang="en-US" altLang="zh-CN" sz="2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Aggregate Planning, Macro Production Planning</a:t>
            </a:r>
            <a:endParaRPr lang="en-US" altLang="zh-CN" sz="2000" kern="0" dirty="0"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kern="0" dirty="0">
                <a:latin typeface="Times New Roman" pitchFamily="18" charset="0"/>
              </a:rPr>
              <a:t>是为了体现企业经营规划（</a:t>
            </a:r>
            <a:r>
              <a:rPr lang="en-US" altLang="zh-CN" sz="2000" kern="0" dirty="0">
                <a:latin typeface="Times New Roman" pitchFamily="18" charset="0"/>
              </a:rPr>
              <a:t>Business Planning</a:t>
            </a:r>
            <a:r>
              <a:rPr lang="zh-CN" altLang="en-US" sz="2000" kern="0" dirty="0">
                <a:latin typeface="Times New Roman" pitchFamily="18" charset="0"/>
              </a:rPr>
              <a:t>）而制定的产品系列生产计划大纲（</a:t>
            </a:r>
            <a:r>
              <a:rPr lang="en-US" altLang="zh-CN" sz="2000" kern="0" dirty="0">
                <a:latin typeface="Times New Roman" pitchFamily="18" charset="0"/>
              </a:rPr>
              <a:t>Production Plan Schema</a:t>
            </a:r>
            <a:r>
              <a:rPr lang="zh-CN" altLang="en-US" sz="2000" kern="0" dirty="0">
                <a:latin typeface="Times New Roman" pitchFamily="18" charset="0"/>
              </a:rPr>
              <a:t>），它用以协调满足经营规划所需求的产量与可用资源之间的差距。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kern="0" dirty="0">
                <a:latin typeface="Times New Roman" pitchFamily="18" charset="0"/>
              </a:rPr>
              <a:t>在可用资源条件下，企业在计划展望期内每一个产品类的月生产量、所有产品类的月汇总量、所有产品的年度汇总量。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000" b="1" kern="0" dirty="0">
                <a:latin typeface="Times New Roman" pitchFamily="18" charset="0"/>
              </a:rPr>
              <a:t>生产计划大纲将回答如下问题：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1800" kern="0" dirty="0">
                <a:solidFill>
                  <a:srgbClr val="FF0000"/>
                </a:solidFill>
                <a:latin typeface="Times New Roman" pitchFamily="18" charset="0"/>
              </a:rPr>
              <a:t>每类产品</a:t>
            </a:r>
            <a:r>
              <a:rPr lang="zh-CN" altLang="en-US" sz="1800" kern="0" dirty="0">
                <a:latin typeface="Times New Roman" pitchFamily="18" charset="0"/>
              </a:rPr>
              <a:t>在未来一段时间内需要制造多少？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1800" kern="0" dirty="0">
                <a:latin typeface="Times New Roman" pitchFamily="18" charset="0"/>
              </a:rPr>
              <a:t>需要</a:t>
            </a:r>
            <a:r>
              <a:rPr lang="zh-CN" altLang="en-US" sz="1800" kern="0" dirty="0">
                <a:solidFill>
                  <a:srgbClr val="FF0000"/>
                </a:solidFill>
                <a:latin typeface="Times New Roman" pitchFamily="18" charset="0"/>
              </a:rPr>
              <a:t>何种资源</a:t>
            </a:r>
            <a:r>
              <a:rPr lang="zh-CN" altLang="en-US" sz="1800" kern="0" dirty="0">
                <a:latin typeface="Times New Roman" pitchFamily="18" charset="0"/>
              </a:rPr>
              <a:t>的多少数量来制造上述产品？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1800" kern="0" dirty="0">
                <a:latin typeface="Times New Roman" pitchFamily="18" charset="0"/>
              </a:rPr>
              <a:t>采取</a:t>
            </a:r>
            <a:r>
              <a:rPr lang="zh-CN" altLang="en-US" sz="1800" kern="0" dirty="0">
                <a:solidFill>
                  <a:srgbClr val="FF0000"/>
                </a:solidFill>
                <a:latin typeface="Times New Roman" pitchFamily="18" charset="0"/>
              </a:rPr>
              <a:t>哪些措施来协调</a:t>
            </a:r>
            <a:r>
              <a:rPr lang="zh-CN" altLang="en-US" sz="1800" kern="0" dirty="0">
                <a:latin typeface="Times New Roman" pitchFamily="18" charset="0"/>
              </a:rPr>
              <a:t>总生产需求与可用资源之间的差距？</a:t>
            </a:r>
          </a:p>
        </p:txBody>
      </p:sp>
    </p:spTree>
    <p:extLst>
      <p:ext uri="{BB962C8B-B14F-4D97-AF65-F5344CB8AC3E}">
        <p14:creationId xmlns:p14="http://schemas.microsoft.com/office/powerpoint/2010/main" val="1431421259"/>
      </p:ext>
    </p:extLst>
  </p:cSld>
  <p:clrMapOvr>
    <a:masterClrMapping/>
  </p:clrMapOvr>
  <p:transition>
    <p:strips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2060"/>
                </a:solidFill>
                <a:ea typeface="宋体" charset="-122"/>
              </a:rPr>
              <a:t>3- </a:t>
            </a:r>
            <a:r>
              <a:rPr lang="zh-CN" altLang="en-US" sz="2800" b="1" dirty="0">
                <a:solidFill>
                  <a:srgbClr val="002060"/>
                </a:solidFill>
                <a:ea typeface="宋体" charset="-122"/>
              </a:rPr>
              <a:t>生产规划</a:t>
            </a:r>
            <a:endParaRPr lang="en-US" altLang="zh-CN" sz="2800" b="1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992187"/>
            <a:ext cx="8534400" cy="477838"/>
          </a:xfrm>
        </p:spPr>
        <p:txBody>
          <a:bodyPr lIns="90488" tIns="44450" rIns="90488" bIns="44450">
            <a:no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a typeface="宋体" charset="-122"/>
              </a:rPr>
              <a:t>生产规划的制定</a:t>
            </a:r>
            <a:r>
              <a:rPr lang="en-US" altLang="zh-CN" sz="2400" b="1" dirty="0">
                <a:ea typeface="宋体" charset="-122"/>
              </a:rPr>
              <a:t>: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381000" y="1524000"/>
            <a:ext cx="8534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/>
              <a:t>Step1. </a:t>
            </a:r>
            <a:r>
              <a:rPr lang="zh-CN" altLang="en-US" sz="2400"/>
              <a:t>从各个来源收集资料：在制定生产规划之前，首先需要收集计划、市场、工程、生产以及财务等各方面的信息。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/>
              <a:t>计划部门</a:t>
            </a:r>
            <a:r>
              <a:rPr lang="zh-CN" altLang="en-US"/>
              <a:t>：销售目标和库存目标，均以金额表示。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/>
              <a:t>市场部门</a:t>
            </a:r>
            <a:r>
              <a:rPr lang="zh-CN" altLang="en-US"/>
              <a:t>：各时区产品的销售预测（以产品数量表示）和分销与运输的要求。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/>
              <a:t>工程部门</a:t>
            </a:r>
            <a:r>
              <a:rPr lang="zh-CN" altLang="en-US"/>
              <a:t>：资源清单和专用设备需求。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/>
              <a:t>生产部门</a:t>
            </a:r>
            <a:r>
              <a:rPr lang="zh-CN" altLang="en-US"/>
              <a:t>：主要是资源可用性，如可用劳动力、可用机时或工作中心小时、当前库存水平、当前未完成订单的数量等。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/>
              <a:t>财务部门</a:t>
            </a:r>
            <a:r>
              <a:rPr lang="zh-CN" altLang="en-US"/>
              <a:t>：包括单位产品的成本和收入、资金可用性和增加资源的财务能力等。</a:t>
            </a:r>
          </a:p>
        </p:txBody>
      </p:sp>
      <p:sp>
        <p:nvSpPr>
          <p:cNvPr id="24" name="AutoShape 7"/>
          <p:cNvSpPr>
            <a:spLocks noChangeArrowheads="1"/>
          </p:cNvSpPr>
          <p:nvPr/>
        </p:nvSpPr>
        <p:spPr bwMode="auto">
          <a:xfrm>
            <a:off x="609600" y="2743200"/>
            <a:ext cx="8001000" cy="1828800"/>
          </a:xfrm>
          <a:prstGeom prst="roundRect">
            <a:avLst>
              <a:gd name="adj" fmla="val 16667"/>
            </a:avLst>
          </a:prstGeom>
          <a:solidFill>
            <a:srgbClr val="99CCFF">
              <a:alpha val="50000"/>
            </a:srgbClr>
          </a:solidFill>
          <a:ln w="28575" cap="rnd" algn="ctr">
            <a:solidFill>
              <a:srgbClr val="003399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0" rIns="90000" bIns="0" anchor="ctr"/>
          <a:lstStyle/>
          <a:p>
            <a:pPr algn="r" eaLnBrk="1" hangingPunct="1">
              <a:defRPr/>
            </a:pPr>
            <a:r>
              <a:rPr lang="zh-CN" altLang="en-US" sz="6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黑体" pitchFamily="2" charset="-122"/>
              </a:rPr>
              <a:t>需求</a:t>
            </a:r>
          </a:p>
        </p:txBody>
      </p:sp>
      <p:sp>
        <p:nvSpPr>
          <p:cNvPr id="25" name="AutoShape 8"/>
          <p:cNvSpPr>
            <a:spLocks noChangeArrowheads="1"/>
          </p:cNvSpPr>
          <p:nvPr/>
        </p:nvSpPr>
        <p:spPr bwMode="auto">
          <a:xfrm>
            <a:off x="609600" y="4724400"/>
            <a:ext cx="8001000" cy="1828800"/>
          </a:xfrm>
          <a:prstGeom prst="roundRect">
            <a:avLst>
              <a:gd name="adj" fmla="val 16667"/>
            </a:avLst>
          </a:prstGeom>
          <a:solidFill>
            <a:srgbClr val="99CCFF">
              <a:alpha val="50000"/>
            </a:srgbClr>
          </a:solidFill>
          <a:ln w="28575" cap="rnd" algn="ctr">
            <a:solidFill>
              <a:srgbClr val="003399"/>
            </a:solidFill>
            <a:prstDash val="sys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0" rIns="90000" bIns="0" anchor="ctr"/>
          <a:lstStyle/>
          <a:p>
            <a:pPr algn="r" eaLnBrk="1" hangingPunct="1">
              <a:defRPr/>
            </a:pPr>
            <a:r>
              <a:rPr lang="zh-CN" altLang="en-US" sz="6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黑体" pitchFamily="2" charset="-122"/>
              </a:rPr>
              <a:t>能力</a:t>
            </a:r>
          </a:p>
        </p:txBody>
      </p:sp>
    </p:spTree>
    <p:extLst>
      <p:ext uri="{BB962C8B-B14F-4D97-AF65-F5344CB8AC3E}">
        <p14:creationId xmlns:p14="http://schemas.microsoft.com/office/powerpoint/2010/main" val="104949269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2060"/>
                </a:solidFill>
                <a:ea typeface="宋体" charset="-122"/>
              </a:rPr>
              <a:t>3- </a:t>
            </a:r>
            <a:r>
              <a:rPr lang="zh-CN" altLang="en-US" sz="2800" b="1" dirty="0">
                <a:solidFill>
                  <a:srgbClr val="002060"/>
                </a:solidFill>
                <a:ea typeface="宋体" charset="-122"/>
              </a:rPr>
              <a:t>生产规划</a:t>
            </a:r>
            <a:endParaRPr lang="en-US" altLang="zh-CN" sz="2800" b="1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81000" y="1447800"/>
            <a:ext cx="8534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dirty="0"/>
              <a:t>Step2. </a:t>
            </a:r>
            <a:r>
              <a:rPr lang="zh-CN" altLang="en-US" sz="2400" dirty="0"/>
              <a:t>制定生产计划大纲初稿：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/>
              <a:t>生产计划大纲与制造环境有关。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/>
              <a:t>对</a:t>
            </a:r>
            <a:r>
              <a:rPr lang="en-US" altLang="zh-CN" dirty="0"/>
              <a:t>MTS</a:t>
            </a:r>
            <a:r>
              <a:rPr lang="zh-CN" altLang="en-US" dirty="0"/>
              <a:t>：在确定生产率时，要控制年末预期的库存水平，如果库存水平目标比上一年低，那么每月的生产率就应该比每月的销售预测量低。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/>
              <a:t>对</a:t>
            </a:r>
            <a:r>
              <a:rPr lang="en-US" altLang="zh-CN" dirty="0"/>
              <a:t>MTO</a:t>
            </a:r>
            <a:r>
              <a:rPr lang="zh-CN" altLang="en-US" dirty="0"/>
              <a:t>：在确定生产率时，要控制未完成订单的水平。如果计划本年末要减少未完成订单数量，那么每月的生产率就应该比每月的销售预测量高一些。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381000" y="4495800"/>
            <a:ext cx="8534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dirty="0"/>
              <a:t>Step3. </a:t>
            </a:r>
            <a:r>
              <a:rPr lang="zh-CN" altLang="en-US" sz="2400" dirty="0"/>
              <a:t>确定资源需求计划：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/>
              <a:t>分析资源清单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/>
              <a:t>计算资源需求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/>
              <a:t>比较可用资源和需求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/>
              <a:t>协调可用资源和资源需求之间的差距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992187"/>
            <a:ext cx="8534400" cy="477838"/>
          </a:xfrm>
        </p:spPr>
        <p:txBody>
          <a:bodyPr lIns="90488" tIns="44450" rIns="90488" bIns="44450">
            <a:noAutofit/>
          </a:bodyPr>
          <a:lstStyle/>
          <a:p>
            <a:pPr eaLnBrk="1" hangingPunct="1">
              <a:defRPr/>
            </a:pPr>
            <a:r>
              <a:rPr lang="zh-CN" altLang="en-US" sz="2400" b="1" dirty="0">
                <a:ea typeface="宋体" charset="-122"/>
              </a:rPr>
              <a:t>生产规划的制定</a:t>
            </a:r>
            <a:r>
              <a:rPr lang="en-US" altLang="zh-CN" sz="2400" b="1" dirty="0">
                <a:ea typeface="宋体" charset="-122"/>
              </a:rPr>
              <a:t>:</a:t>
            </a:r>
            <a:endParaRPr lang="en-US" altLang="zh-CN" sz="24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6296118"/>
      </p:ext>
    </p:extLst>
  </p:cSld>
  <p:clrMapOvr>
    <a:masterClrMapping/>
  </p:clrMapOvr>
  <p:transition>
    <p:strips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2060"/>
                </a:solidFill>
                <a:ea typeface="宋体" charset="-122"/>
              </a:rPr>
              <a:t>4- </a:t>
            </a:r>
            <a:r>
              <a:rPr lang="zh-CN" altLang="en-US" sz="2800" b="1" dirty="0">
                <a:solidFill>
                  <a:srgbClr val="002060"/>
                </a:solidFill>
                <a:ea typeface="宋体" charset="-122"/>
              </a:rPr>
              <a:t>主生产计划</a:t>
            </a:r>
            <a:endParaRPr lang="en-US" altLang="zh-CN" sz="2800" b="1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7239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dirty="0">
                <a:latin typeface="Times New Roman" panose="02020603050405020304" pitchFamily="18" charset="0"/>
              </a:rPr>
              <a:t>MPS</a:t>
            </a:r>
            <a:r>
              <a:rPr lang="zh-CN" altLang="en-US" sz="2400" dirty="0">
                <a:latin typeface="Times New Roman" panose="02020603050405020304" pitchFamily="18" charset="0"/>
              </a:rPr>
              <a:t>的输入输出逻辑</a:t>
            </a:r>
          </a:p>
        </p:txBody>
      </p:sp>
      <p:graphicFrame>
        <p:nvGraphicFramePr>
          <p:cNvPr id="11" name="Object 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790700" y="2590800"/>
          <a:ext cx="5561013" cy="326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Visio" r:id="rId4" imgW="4354678" imgH="2554529" progId="Visio.Drawing.11">
                  <p:embed/>
                </p:oleObj>
              </mc:Choice>
              <mc:Fallback>
                <p:oleObj name="Visio" r:id="rId4" imgW="4354678" imgH="255452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2590800"/>
                        <a:ext cx="5561013" cy="326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cap="rnd" cmpd="sng" algn="ctr">
                            <a:solidFill>
                              <a:srgbClr val="003399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26188427"/>
      </p:ext>
    </p:extLst>
  </p:cSld>
  <p:clrMapOvr>
    <a:masterClrMapping/>
  </p:clrMapOvr>
  <p:transition>
    <p:strips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2060"/>
                </a:solidFill>
                <a:ea typeface="宋体" charset="-122"/>
              </a:rPr>
              <a:t>4- </a:t>
            </a:r>
            <a:r>
              <a:rPr lang="zh-CN" altLang="en-US" sz="2800" b="1" dirty="0">
                <a:solidFill>
                  <a:srgbClr val="002060"/>
                </a:solidFill>
                <a:ea typeface="宋体" charset="-122"/>
              </a:rPr>
              <a:t>主生产计划</a:t>
            </a:r>
            <a:endParaRPr lang="en-US" altLang="zh-CN" sz="2800" b="1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5" name="Rectangle 7"/>
          <p:cNvSpPr txBox="1">
            <a:spLocks noChangeArrowheads="1"/>
          </p:cNvSpPr>
          <p:nvPr/>
        </p:nvSpPr>
        <p:spPr bwMode="auto">
          <a:xfrm>
            <a:off x="457200" y="1447800"/>
            <a:ext cx="82296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/>
              <a:t>不同制造环境下的</a:t>
            </a:r>
            <a:r>
              <a:rPr lang="en-US" altLang="zh-CN" sz="2400"/>
              <a:t>MPS</a:t>
            </a:r>
            <a:r>
              <a:rPr lang="zh-CN" altLang="en-US" sz="2400"/>
              <a:t>计划对象：</a:t>
            </a:r>
          </a:p>
        </p:txBody>
      </p: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990600" y="2819400"/>
            <a:ext cx="7162800" cy="2819400"/>
            <a:chOff x="768" y="1776"/>
            <a:chExt cx="4512" cy="1776"/>
          </a:xfrm>
        </p:grpSpPr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768" y="1776"/>
              <a:ext cx="4512" cy="1776"/>
            </a:xfrm>
            <a:prstGeom prst="rect">
              <a:avLst/>
            </a:prstGeom>
            <a:solidFill>
              <a:srgbClr val="CCECFF"/>
            </a:solidFill>
            <a:ln w="6350" algn="ctr">
              <a:solidFill>
                <a:schemeClr val="tx1"/>
              </a:solidFill>
              <a:prstDash val="dashDot"/>
              <a:miter lim="800000"/>
              <a:headEnd/>
              <a:tailEnd/>
            </a:ln>
          </p:spPr>
          <p:txBody>
            <a:bodyPr vert="eaVert" wrap="none" lIns="90000" rIns="1890000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9" name="AutoShape 13"/>
            <p:cNvSpPr>
              <a:spLocks noChangeArrowheads="1"/>
            </p:cNvSpPr>
            <p:nvPr/>
          </p:nvSpPr>
          <p:spPr bwMode="auto">
            <a:xfrm rot="10800000">
              <a:off x="1964" y="2017"/>
              <a:ext cx="672" cy="90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979 w 21600"/>
                <a:gd name="T13" fmla="*/ 5954 h 21600"/>
                <a:gd name="T14" fmla="*/ 15621 w 21600"/>
                <a:gd name="T15" fmla="*/ 156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8325" y="21600"/>
                  </a:lnTo>
                  <a:lnTo>
                    <a:pt x="1327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8575" cap="rnd" algn="ctr">
              <a:solidFill>
                <a:srgbClr val="003399"/>
              </a:solidFill>
              <a:prstDash val="sysDot"/>
              <a:miter lim="800000"/>
              <a:headEnd/>
              <a:tailEnd/>
            </a:ln>
          </p:spPr>
          <p:txBody>
            <a:bodyPr vert="eaVert" wrap="none" lIns="90000" rIns="1890000" anchor="ctr"/>
            <a:lstStyle/>
            <a:p>
              <a:endParaRPr lang="zh-CN" altLang="en-US"/>
            </a:p>
          </p:txBody>
        </p:sp>
        <p:sp>
          <p:nvSpPr>
            <p:cNvPr id="12" name="AutoShape 14"/>
            <p:cNvSpPr>
              <a:spLocks noChangeArrowheads="1"/>
            </p:cNvSpPr>
            <p:nvPr/>
          </p:nvSpPr>
          <p:spPr bwMode="auto">
            <a:xfrm>
              <a:off x="4326" y="2017"/>
              <a:ext cx="672" cy="90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5979 w 21600"/>
                <a:gd name="T13" fmla="*/ 5954 h 21600"/>
                <a:gd name="T14" fmla="*/ 15621 w 21600"/>
                <a:gd name="T15" fmla="*/ 156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8325" y="21600"/>
                  </a:lnTo>
                  <a:lnTo>
                    <a:pt x="1327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8575" cap="rnd" algn="ctr">
              <a:solidFill>
                <a:srgbClr val="003399"/>
              </a:solidFill>
              <a:prstDash val="sysDot"/>
              <a:miter lim="800000"/>
              <a:headEnd/>
              <a:tailEnd/>
            </a:ln>
          </p:spPr>
          <p:txBody>
            <a:bodyPr vert="eaVert" wrap="none" lIns="90000" rIns="1890000" anchor="ctr"/>
            <a:lstStyle/>
            <a:p>
              <a:endParaRPr lang="zh-CN" altLang="en-US"/>
            </a:p>
          </p:txBody>
        </p:sp>
        <p:grpSp>
          <p:nvGrpSpPr>
            <p:cNvPr id="13" name="Group 15"/>
            <p:cNvGrpSpPr>
              <a:grpSpLocks/>
            </p:cNvGrpSpPr>
            <p:nvPr/>
          </p:nvGrpSpPr>
          <p:grpSpPr bwMode="auto">
            <a:xfrm>
              <a:off x="3146" y="2016"/>
              <a:ext cx="673" cy="907"/>
              <a:chOff x="2447" y="3072"/>
              <a:chExt cx="673" cy="907"/>
            </a:xfrm>
          </p:grpSpPr>
          <p:sp>
            <p:nvSpPr>
              <p:cNvPr id="28" name="AutoShape 16"/>
              <p:cNvSpPr>
                <a:spLocks noChangeArrowheads="1"/>
              </p:cNvSpPr>
              <p:nvPr/>
            </p:nvSpPr>
            <p:spPr bwMode="auto">
              <a:xfrm>
                <a:off x="2448" y="3072"/>
                <a:ext cx="672" cy="45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5979 w 21600"/>
                  <a:gd name="T13" fmla="*/ 5960 h 21600"/>
                  <a:gd name="T14" fmla="*/ 15621 w 21600"/>
                  <a:gd name="T15" fmla="*/ 1564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8325" y="21600"/>
                    </a:lnTo>
                    <a:lnTo>
                      <a:pt x="13275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 w="28575" cap="rnd" algn="ctr">
                <a:solidFill>
                  <a:srgbClr val="003399"/>
                </a:solidFill>
                <a:prstDash val="sysDot"/>
                <a:miter lim="800000"/>
                <a:headEnd/>
                <a:tailEnd/>
              </a:ln>
            </p:spPr>
            <p:txBody>
              <a:bodyPr vert="eaVert" wrap="none" lIns="90000" rIns="1890000" anchor="ctr"/>
              <a:lstStyle/>
              <a:p>
                <a:endParaRPr lang="zh-CN" altLang="en-US"/>
              </a:p>
            </p:txBody>
          </p:sp>
          <p:sp>
            <p:nvSpPr>
              <p:cNvPr id="29" name="AutoShape 17"/>
              <p:cNvSpPr>
                <a:spLocks noChangeArrowheads="1"/>
              </p:cNvSpPr>
              <p:nvPr/>
            </p:nvSpPr>
            <p:spPr bwMode="auto">
              <a:xfrm rot="10800000">
                <a:off x="2447" y="3526"/>
                <a:ext cx="672" cy="45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5979 w 21600"/>
                  <a:gd name="T13" fmla="*/ 5960 h 21600"/>
                  <a:gd name="T14" fmla="*/ 15621 w 21600"/>
                  <a:gd name="T15" fmla="*/ 1564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8325" y="21600"/>
                    </a:lnTo>
                    <a:lnTo>
                      <a:pt x="13275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 w="28575" cap="rnd" algn="ctr">
                <a:solidFill>
                  <a:srgbClr val="003399"/>
                </a:solidFill>
                <a:prstDash val="sysDot"/>
                <a:miter lim="800000"/>
                <a:headEnd/>
                <a:tailEnd/>
              </a:ln>
            </p:spPr>
            <p:txBody>
              <a:bodyPr vert="eaVert" wrap="none" lIns="90000" rIns="1890000" anchor="ctr"/>
              <a:lstStyle/>
              <a:p>
                <a:endParaRPr lang="zh-CN" altLang="en-US"/>
              </a:p>
            </p:txBody>
          </p:sp>
        </p:grpSp>
        <p:sp>
          <p:nvSpPr>
            <p:cNvPr id="14" name="Line 18"/>
            <p:cNvSpPr>
              <a:spLocks noChangeShapeType="1"/>
            </p:cNvSpPr>
            <p:nvPr/>
          </p:nvSpPr>
          <p:spPr bwMode="auto">
            <a:xfrm flipV="1">
              <a:off x="1963" y="2013"/>
              <a:ext cx="67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lIns="90000" rIns="1890000" anchor="ctr"/>
            <a:lstStyle/>
            <a:p>
              <a:endParaRPr lang="zh-CN" altLang="en-US"/>
            </a:p>
          </p:txBody>
        </p:sp>
        <p:sp>
          <p:nvSpPr>
            <p:cNvPr id="15" name="Line 19"/>
            <p:cNvSpPr>
              <a:spLocks noChangeShapeType="1"/>
            </p:cNvSpPr>
            <p:nvPr/>
          </p:nvSpPr>
          <p:spPr bwMode="auto">
            <a:xfrm flipV="1">
              <a:off x="3147" y="2466"/>
              <a:ext cx="67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lIns="90000" rIns="1890000" anchor="ctr"/>
            <a:lstStyle/>
            <a:p>
              <a:endParaRPr lang="zh-CN" altLang="en-US"/>
            </a:p>
          </p:txBody>
        </p:sp>
        <p:sp>
          <p:nvSpPr>
            <p:cNvPr id="16" name="Line 20"/>
            <p:cNvSpPr>
              <a:spLocks noChangeShapeType="1"/>
            </p:cNvSpPr>
            <p:nvPr/>
          </p:nvSpPr>
          <p:spPr bwMode="auto">
            <a:xfrm flipV="1">
              <a:off x="4326" y="2928"/>
              <a:ext cx="672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lIns="90000" rIns="1890000" anchor="ctr"/>
            <a:lstStyle/>
            <a:p>
              <a:endParaRPr lang="zh-CN" altLang="en-US"/>
            </a:p>
          </p:txBody>
        </p:sp>
        <p:sp>
          <p:nvSpPr>
            <p:cNvPr id="17" name="Line 21"/>
            <p:cNvSpPr>
              <a:spLocks noChangeShapeType="1"/>
            </p:cNvSpPr>
            <p:nvPr/>
          </p:nvSpPr>
          <p:spPr bwMode="auto">
            <a:xfrm>
              <a:off x="2619" y="2007"/>
              <a:ext cx="553" cy="458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lIns="90000" rIns="1890000" anchor="ctr"/>
            <a:lstStyle/>
            <a:p>
              <a:endParaRPr lang="zh-CN" altLang="en-US"/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>
              <a:off x="3801" y="2466"/>
              <a:ext cx="553" cy="458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lIns="90000" rIns="1890000" anchor="ctr"/>
            <a:lstStyle/>
            <a:p>
              <a:endParaRPr lang="zh-CN" altLang="en-US"/>
            </a:p>
          </p:txBody>
        </p:sp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912" y="1890"/>
              <a:ext cx="907" cy="231"/>
            </a:xfrm>
            <a:prstGeom prst="rect">
              <a:avLst/>
            </a:prstGeom>
            <a:solidFill>
              <a:srgbClr val="CCECFF"/>
            </a:solidFill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lIns="90000" rIns="90000"/>
            <a:lstStyle/>
            <a:p>
              <a:pPr algn="ctr"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最终产品</a:t>
              </a:r>
            </a:p>
          </p:txBody>
        </p:sp>
        <p:sp>
          <p:nvSpPr>
            <p:cNvPr id="20" name="Text Box 24"/>
            <p:cNvSpPr txBox="1">
              <a:spLocks noChangeArrowheads="1"/>
            </p:cNvSpPr>
            <p:nvPr/>
          </p:nvSpPr>
          <p:spPr bwMode="auto">
            <a:xfrm>
              <a:off x="912" y="2811"/>
              <a:ext cx="907" cy="231"/>
            </a:xfrm>
            <a:prstGeom prst="rect">
              <a:avLst/>
            </a:prstGeom>
            <a:solidFill>
              <a:srgbClr val="CCECFF"/>
            </a:solidFill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lIns="90000" rIns="90000"/>
            <a:lstStyle/>
            <a:p>
              <a:pPr algn="ctr"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原材料</a:t>
              </a:r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912" y="2358"/>
              <a:ext cx="907" cy="231"/>
            </a:xfrm>
            <a:prstGeom prst="rect">
              <a:avLst/>
            </a:prstGeom>
            <a:solidFill>
              <a:srgbClr val="CCECFF"/>
            </a:solidFill>
            <a:ln w="6350" algn="ctr">
              <a:noFill/>
              <a:miter lim="800000"/>
              <a:headEnd/>
              <a:tailEnd/>
            </a:ln>
            <a:effectLst/>
          </p:spPr>
          <p:txBody>
            <a:bodyPr wrap="none" lIns="90000" rIns="90000"/>
            <a:lstStyle/>
            <a:p>
              <a:pPr algn="ctr" eaLnBrk="1" hangingPunct="1">
                <a:defRPr/>
              </a:pPr>
              <a:r>
                <a:rPr lang="zh-CN" altLang="en-US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部件、组件</a:t>
              </a:r>
            </a:p>
          </p:txBody>
        </p:sp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2496" y="3216"/>
              <a:ext cx="1818" cy="231"/>
              <a:chOff x="1488" y="3858"/>
              <a:chExt cx="1818" cy="231"/>
            </a:xfrm>
          </p:grpSpPr>
          <p:sp>
            <p:nvSpPr>
              <p:cNvPr id="26" name="Line 27"/>
              <p:cNvSpPr>
                <a:spLocks noChangeShapeType="1"/>
              </p:cNvSpPr>
              <p:nvPr/>
            </p:nvSpPr>
            <p:spPr bwMode="auto">
              <a:xfrm flipV="1">
                <a:off x="1488" y="3984"/>
                <a:ext cx="672" cy="0"/>
              </a:xfrm>
              <a:prstGeom prst="line">
                <a:avLst/>
              </a:prstGeom>
              <a:noFill/>
              <a:ln w="571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 wrap="none" lIns="90000" rIns="1890000" anchor="ctr"/>
              <a:lstStyle/>
              <a:p>
                <a:endParaRPr lang="zh-CN" altLang="en-US"/>
              </a:p>
            </p:txBody>
          </p:sp>
          <p:sp>
            <p:nvSpPr>
              <p:cNvPr id="27" name="Text Box 28"/>
              <p:cNvSpPr txBox="1">
                <a:spLocks noChangeArrowheads="1"/>
              </p:cNvSpPr>
              <p:nvPr/>
            </p:nvSpPr>
            <p:spPr bwMode="auto">
              <a:xfrm>
                <a:off x="2010" y="3858"/>
                <a:ext cx="12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rIns="9000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 b="0">
                    <a:latin typeface="Times New Roman" panose="02020603050405020304" pitchFamily="18" charset="0"/>
                  </a:rPr>
                  <a:t>MPS</a:t>
                </a:r>
                <a:r>
                  <a:rPr lang="zh-CN" altLang="en-US" sz="1800" b="0">
                    <a:latin typeface="Times New Roman" panose="02020603050405020304" pitchFamily="18" charset="0"/>
                  </a:rPr>
                  <a:t>计划对象</a:t>
                </a:r>
              </a:p>
            </p:txBody>
          </p:sp>
        </p:grpSp>
        <p:sp>
          <p:nvSpPr>
            <p:cNvPr id="23" name="Text Box 8"/>
            <p:cNvSpPr txBox="1">
              <a:spLocks noChangeArrowheads="1"/>
            </p:cNvSpPr>
            <p:nvPr/>
          </p:nvSpPr>
          <p:spPr bwMode="auto">
            <a:xfrm>
              <a:off x="2092" y="2982"/>
              <a:ext cx="3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rnd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66"/>
                  </a:solidFill>
                </a:rPr>
                <a:t>MTS</a:t>
              </a:r>
            </a:p>
          </p:txBody>
        </p:sp>
        <p:sp>
          <p:nvSpPr>
            <p:cNvPr id="24" name="Text Box 9"/>
            <p:cNvSpPr txBox="1">
              <a:spLocks noChangeArrowheads="1"/>
            </p:cNvSpPr>
            <p:nvPr/>
          </p:nvSpPr>
          <p:spPr bwMode="auto">
            <a:xfrm>
              <a:off x="3280" y="2982"/>
              <a:ext cx="3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rnd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66"/>
                  </a:solidFill>
                </a:rPr>
                <a:t>ATO</a:t>
              </a:r>
            </a:p>
          </p:txBody>
        </p:sp>
        <p:sp>
          <p:nvSpPr>
            <p:cNvPr id="25" name="Text Box 10"/>
            <p:cNvSpPr txBox="1">
              <a:spLocks noChangeArrowheads="1"/>
            </p:cNvSpPr>
            <p:nvPr/>
          </p:nvSpPr>
          <p:spPr bwMode="auto">
            <a:xfrm>
              <a:off x="4462" y="2982"/>
              <a:ext cx="3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cap="rnd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wrap="none" lIns="90000" rIns="900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000066"/>
                  </a:solidFill>
                </a:rPr>
                <a:t>MTO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2609158"/>
      </p:ext>
    </p:extLst>
  </p:cSld>
  <p:clrMapOvr>
    <a:masterClrMapping/>
  </p:clrMapOvr>
  <p:transition>
    <p:strips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2060"/>
                </a:solidFill>
                <a:ea typeface="宋体" charset="-122"/>
              </a:rPr>
              <a:t>4- </a:t>
            </a:r>
            <a:r>
              <a:rPr lang="zh-CN" altLang="en-US" sz="2800" b="1" dirty="0">
                <a:solidFill>
                  <a:srgbClr val="002060"/>
                </a:solidFill>
                <a:ea typeface="宋体" charset="-122"/>
              </a:rPr>
              <a:t>主生产计划</a:t>
            </a:r>
            <a:endParaRPr lang="en-US" altLang="zh-CN" sz="2800" b="1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457200" y="14478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/>
              <a:t>MPS</a:t>
            </a:r>
            <a:r>
              <a:rPr lang="zh-CN" altLang="en-US" sz="2400"/>
              <a:t>时间基准：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/>
              <a:t>时界（</a:t>
            </a:r>
            <a:r>
              <a:rPr lang="en-US" altLang="zh-CN"/>
              <a:t>Time Fence</a:t>
            </a:r>
            <a:r>
              <a:rPr lang="zh-CN" altLang="en-US"/>
              <a:t>）和时区（</a:t>
            </a:r>
            <a:r>
              <a:rPr lang="en-US" altLang="zh-CN"/>
              <a:t>Time Zone</a:t>
            </a:r>
            <a:r>
              <a:rPr lang="zh-CN" altLang="en-US"/>
              <a:t>）：</a:t>
            </a:r>
            <a:endParaRPr lang="zh-CN" altLang="en-US" dirty="0"/>
          </a:p>
        </p:txBody>
      </p:sp>
      <p:grpSp>
        <p:nvGrpSpPr>
          <p:cNvPr id="31" name="Group 6"/>
          <p:cNvGrpSpPr>
            <a:grpSpLocks/>
          </p:cNvGrpSpPr>
          <p:nvPr/>
        </p:nvGrpSpPr>
        <p:grpSpPr bwMode="auto">
          <a:xfrm>
            <a:off x="381000" y="2895600"/>
            <a:ext cx="8382000" cy="3276600"/>
            <a:chOff x="2491" y="3638"/>
            <a:chExt cx="8775" cy="3472"/>
          </a:xfrm>
        </p:grpSpPr>
        <p:sp>
          <p:nvSpPr>
            <p:cNvPr id="32" name="Text Box 7"/>
            <p:cNvSpPr txBox="1">
              <a:spLocks noChangeArrowheads="1"/>
            </p:cNvSpPr>
            <p:nvPr/>
          </p:nvSpPr>
          <p:spPr bwMode="auto">
            <a:xfrm>
              <a:off x="2491" y="6487"/>
              <a:ext cx="8775" cy="6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6000" tIns="18000" rIns="36000" bIns="10800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1400" b="0" dirty="0">
                  <a:latin typeface="Times New Roman" panose="02020603050405020304" pitchFamily="18" charset="0"/>
                </a:rPr>
                <a:t>时段：</a:t>
              </a:r>
              <a:r>
                <a:rPr kumimoji="1" lang="en-US" altLang="zh-CN" sz="1400" dirty="0">
                  <a:latin typeface="Times New Roman" panose="02020603050405020304" pitchFamily="18" charset="0"/>
                </a:rPr>
                <a:t>1    2    3   4   5   6   </a:t>
              </a:r>
              <a:r>
                <a:rPr kumimoji="1" lang="en-US" altLang="zh-CN" sz="1400" b="0" dirty="0">
                  <a:latin typeface="Times New Roman" panose="02020603050405020304" pitchFamily="18" charset="0"/>
                </a:rPr>
                <a:t>7   8   9  10  11  12   13  </a:t>
              </a:r>
              <a:r>
                <a:rPr kumimoji="1" lang="en-US" altLang="zh-CN" sz="1400" dirty="0">
                  <a:latin typeface="Times New Roman" panose="02020603050405020304" pitchFamily="18" charset="0"/>
                </a:rPr>
                <a:t>14  15  16  17  18  19  20  21 </a:t>
              </a:r>
            </a:p>
            <a:p>
              <a:pPr algn="just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1400" b="0" dirty="0">
                  <a:latin typeface="Times New Roman" panose="02020603050405020304" pitchFamily="18" charset="0"/>
                </a:rPr>
                <a:t>          </a:t>
              </a:r>
              <a:r>
                <a:rPr kumimoji="1" lang="en-US" altLang="zh-CN" sz="1400" dirty="0">
                  <a:latin typeface="Times New Roman" panose="02020603050405020304" pitchFamily="18" charset="0"/>
                </a:rPr>
                <a:t>50</a:t>
              </a:r>
              <a:r>
                <a:rPr kumimoji="1" lang="zh-CN" altLang="en-US" sz="1400" dirty="0">
                  <a:latin typeface="Times New Roman" panose="02020603050405020304" pitchFamily="18" charset="0"/>
                </a:rPr>
                <a:t>台     </a:t>
              </a:r>
              <a:r>
                <a:rPr kumimoji="1" lang="en-US" altLang="zh-CN" sz="1400" dirty="0">
                  <a:latin typeface="Times New Roman" panose="02020603050405020304" pitchFamily="18" charset="0"/>
                </a:rPr>
                <a:t>60</a:t>
              </a:r>
              <a:r>
                <a:rPr kumimoji="1" lang="zh-CN" altLang="en-US" sz="1400" dirty="0">
                  <a:latin typeface="Times New Roman" panose="02020603050405020304" pitchFamily="18" charset="0"/>
                </a:rPr>
                <a:t>台</a:t>
              </a:r>
              <a:r>
                <a:rPr kumimoji="1" lang="zh-CN" altLang="en-US" sz="1400" b="0" dirty="0">
                  <a:latin typeface="Times New Roman" panose="02020603050405020304" pitchFamily="18" charset="0"/>
                </a:rPr>
                <a:t>           </a:t>
              </a:r>
              <a:r>
                <a:rPr kumimoji="1" lang="en-US" altLang="zh-CN" sz="1400" b="0" dirty="0">
                  <a:latin typeface="Times New Roman" panose="02020603050405020304" pitchFamily="18" charset="0"/>
                </a:rPr>
                <a:t>30</a:t>
              </a:r>
              <a:r>
                <a:rPr kumimoji="1" lang="zh-CN" altLang="en-US" sz="1400" b="0" dirty="0">
                  <a:latin typeface="Times New Roman" panose="02020603050405020304" pitchFamily="18" charset="0"/>
                </a:rPr>
                <a:t>台       </a:t>
              </a:r>
              <a:r>
                <a:rPr kumimoji="1" lang="en-US" altLang="zh-CN" sz="1400" b="0" dirty="0">
                  <a:latin typeface="Times New Roman" panose="02020603050405020304" pitchFamily="18" charset="0"/>
                </a:rPr>
                <a:t>40</a:t>
              </a:r>
              <a:r>
                <a:rPr kumimoji="1" lang="zh-CN" altLang="en-US" sz="1400" b="0" dirty="0">
                  <a:latin typeface="Times New Roman" panose="02020603050405020304" pitchFamily="18" charset="0"/>
                </a:rPr>
                <a:t>台             </a:t>
              </a:r>
              <a:r>
                <a:rPr kumimoji="1" lang="en-US" altLang="zh-CN" sz="1400" dirty="0">
                  <a:latin typeface="Times New Roman" panose="02020603050405020304" pitchFamily="18" charset="0"/>
                </a:rPr>
                <a:t>15</a:t>
              </a:r>
              <a:r>
                <a:rPr kumimoji="1" lang="zh-CN" altLang="en-US" sz="1400" dirty="0">
                  <a:latin typeface="Times New Roman" panose="02020603050405020304" pitchFamily="18" charset="0"/>
                </a:rPr>
                <a:t>台       </a:t>
              </a:r>
              <a:r>
                <a:rPr kumimoji="1" lang="en-US" altLang="zh-CN" sz="1400" dirty="0">
                  <a:latin typeface="Times New Roman" panose="02020603050405020304" pitchFamily="18" charset="0"/>
                </a:rPr>
                <a:t>35</a:t>
              </a:r>
              <a:r>
                <a:rPr kumimoji="1" lang="zh-CN" altLang="en-US" sz="1400" dirty="0">
                  <a:latin typeface="Times New Roman" panose="02020603050405020304" pitchFamily="18" charset="0"/>
                </a:rPr>
                <a:t>台</a:t>
              </a:r>
              <a:r>
                <a:rPr kumimoji="1" lang="zh-CN" altLang="en-US" sz="1400" b="0" dirty="0">
                  <a:latin typeface="Times New Roman" panose="02020603050405020304" pitchFamily="18" charset="0"/>
                </a:rPr>
                <a:t>      </a:t>
              </a:r>
            </a:p>
            <a:p>
              <a:pPr algn="just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1" lang="en-US" altLang="zh-CN" sz="1400" b="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" name="Group 8"/>
            <p:cNvGrpSpPr>
              <a:grpSpLocks/>
            </p:cNvGrpSpPr>
            <p:nvPr/>
          </p:nvGrpSpPr>
          <p:grpSpPr bwMode="auto">
            <a:xfrm>
              <a:off x="2641" y="3638"/>
              <a:ext cx="8220" cy="2576"/>
              <a:chOff x="2686" y="3708"/>
              <a:chExt cx="8220" cy="2576"/>
            </a:xfrm>
          </p:grpSpPr>
          <p:sp>
            <p:nvSpPr>
              <p:cNvPr id="34" name="Text Box 9"/>
              <p:cNvSpPr txBox="1">
                <a:spLocks noChangeArrowheads="1"/>
              </p:cNvSpPr>
              <p:nvPr/>
            </p:nvSpPr>
            <p:spPr bwMode="auto">
              <a:xfrm>
                <a:off x="10021" y="5773"/>
                <a:ext cx="885" cy="343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36000" tIns="18000" rIns="36000" bIns="10800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400" b="0">
                    <a:latin typeface="Times New Roman" panose="02020603050405020304" pitchFamily="18" charset="0"/>
                  </a:rPr>
                  <a:t>时间顺序</a:t>
                </a:r>
              </a:p>
            </p:txBody>
          </p:sp>
          <p:grpSp>
            <p:nvGrpSpPr>
              <p:cNvPr id="35" name="Group 10"/>
              <p:cNvGrpSpPr>
                <a:grpSpLocks/>
              </p:cNvGrpSpPr>
              <p:nvPr/>
            </p:nvGrpSpPr>
            <p:grpSpPr bwMode="auto">
              <a:xfrm>
                <a:off x="3166" y="3708"/>
                <a:ext cx="7140" cy="357"/>
                <a:chOff x="3061" y="10547"/>
                <a:chExt cx="7170" cy="343"/>
              </a:xfrm>
            </p:grpSpPr>
            <p:sp>
              <p:nvSpPr>
                <p:cNvPr id="61" name="Line 11"/>
                <p:cNvSpPr>
                  <a:spLocks noChangeShapeType="1"/>
                </p:cNvSpPr>
                <p:nvPr/>
              </p:nvSpPr>
              <p:spPr bwMode="auto">
                <a:xfrm>
                  <a:off x="3061" y="10890"/>
                  <a:ext cx="717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356" y="10547"/>
                  <a:ext cx="2025" cy="34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6000" tIns="18000" rIns="36000" bIns="10800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96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1400" b="0">
                      <a:latin typeface="Times New Roman" panose="02020603050405020304" pitchFamily="18" charset="0"/>
                    </a:rPr>
                    <a:t>总提前期 或 计划跨度</a:t>
                  </a:r>
                </a:p>
              </p:txBody>
            </p:sp>
          </p:grpSp>
          <p:sp>
            <p:nvSpPr>
              <p:cNvPr id="36" name="Line 13"/>
              <p:cNvSpPr>
                <a:spLocks noChangeShapeType="1"/>
              </p:cNvSpPr>
              <p:nvPr/>
            </p:nvSpPr>
            <p:spPr bwMode="auto">
              <a:xfrm>
                <a:off x="2836" y="5597"/>
                <a:ext cx="784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7" name="Group 14"/>
              <p:cNvGrpSpPr>
                <a:grpSpLocks/>
              </p:cNvGrpSpPr>
              <p:nvPr/>
            </p:nvGrpSpPr>
            <p:grpSpPr bwMode="auto">
              <a:xfrm>
                <a:off x="3121" y="4464"/>
                <a:ext cx="2025" cy="763"/>
                <a:chOff x="8086" y="1314"/>
                <a:chExt cx="2025" cy="763"/>
              </a:xfrm>
            </p:grpSpPr>
            <p:sp>
              <p:nvSpPr>
                <p:cNvPr id="57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8746" y="1734"/>
                  <a:ext cx="645" cy="34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6000" tIns="18000" rIns="36000" bIns="10800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96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1400" b="0">
                      <a:latin typeface="Times New Roman" panose="02020603050405020304" pitchFamily="18" charset="0"/>
                    </a:rPr>
                    <a:t>时区</a:t>
                  </a:r>
                  <a:r>
                    <a:rPr kumimoji="1" lang="en-US" altLang="zh-CN" sz="1400" b="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58" name="Line 16"/>
                <p:cNvSpPr>
                  <a:spLocks noChangeShapeType="1"/>
                </p:cNvSpPr>
                <p:nvPr/>
              </p:nvSpPr>
              <p:spPr bwMode="auto">
                <a:xfrm>
                  <a:off x="8116" y="1678"/>
                  <a:ext cx="199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8491" y="1314"/>
                  <a:ext cx="1260" cy="34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6000" tIns="18000" rIns="36000" bIns="10800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96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1400" b="0">
                      <a:latin typeface="Times New Roman" panose="02020603050405020304" pitchFamily="18" charset="0"/>
                    </a:rPr>
                    <a:t>总装提前期</a:t>
                  </a:r>
                </a:p>
              </p:txBody>
            </p:sp>
            <p:sp>
              <p:nvSpPr>
                <p:cNvPr id="60" name="Line 18"/>
                <p:cNvSpPr>
                  <a:spLocks noChangeShapeType="1"/>
                </p:cNvSpPr>
                <p:nvPr/>
              </p:nvSpPr>
              <p:spPr bwMode="auto">
                <a:xfrm>
                  <a:off x="8086" y="2042"/>
                  <a:ext cx="202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Line 19"/>
              <p:cNvSpPr>
                <a:spLocks noChangeShapeType="1"/>
              </p:cNvSpPr>
              <p:nvPr/>
            </p:nvSpPr>
            <p:spPr bwMode="auto">
              <a:xfrm>
                <a:off x="5161" y="4555"/>
                <a:ext cx="0" cy="127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20"/>
              <p:cNvSpPr>
                <a:spLocks noChangeShapeType="1"/>
              </p:cNvSpPr>
              <p:nvPr/>
            </p:nvSpPr>
            <p:spPr bwMode="auto">
              <a:xfrm>
                <a:off x="10321" y="3952"/>
                <a:ext cx="0" cy="184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AutoShape 21"/>
              <p:cNvSpPr>
                <a:spLocks noChangeArrowheads="1"/>
              </p:cNvSpPr>
              <p:nvPr/>
            </p:nvSpPr>
            <p:spPr bwMode="auto">
              <a:xfrm>
                <a:off x="10126" y="5503"/>
                <a:ext cx="359" cy="210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41" name="Line 22"/>
              <p:cNvSpPr>
                <a:spLocks noChangeShapeType="1"/>
              </p:cNvSpPr>
              <p:nvPr/>
            </p:nvSpPr>
            <p:spPr bwMode="auto">
              <a:xfrm>
                <a:off x="3136" y="3883"/>
                <a:ext cx="0" cy="2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AutoShape 23"/>
              <p:cNvSpPr>
                <a:spLocks noChangeArrowheads="1"/>
              </p:cNvSpPr>
              <p:nvPr/>
            </p:nvSpPr>
            <p:spPr bwMode="auto">
              <a:xfrm>
                <a:off x="2970" y="5488"/>
                <a:ext cx="361" cy="210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43" name="AutoShape 24"/>
              <p:cNvSpPr>
                <a:spLocks noChangeArrowheads="1"/>
              </p:cNvSpPr>
              <p:nvPr/>
            </p:nvSpPr>
            <p:spPr bwMode="auto">
              <a:xfrm>
                <a:off x="4981" y="5486"/>
                <a:ext cx="361" cy="210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44" name="AutoShape 25"/>
              <p:cNvSpPr>
                <a:spLocks noChangeArrowheads="1"/>
              </p:cNvSpPr>
              <p:nvPr/>
            </p:nvSpPr>
            <p:spPr bwMode="auto">
              <a:xfrm>
                <a:off x="7560" y="5486"/>
                <a:ext cx="361" cy="210"/>
              </a:xfrm>
              <a:prstGeom prst="star5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grpSp>
            <p:nvGrpSpPr>
              <p:cNvPr id="45" name="Group 26"/>
              <p:cNvGrpSpPr>
                <a:grpSpLocks/>
              </p:cNvGrpSpPr>
              <p:nvPr/>
            </p:nvGrpSpPr>
            <p:grpSpPr bwMode="auto">
              <a:xfrm>
                <a:off x="5161" y="4926"/>
                <a:ext cx="2595" cy="343"/>
                <a:chOff x="5596" y="11779"/>
                <a:chExt cx="2595" cy="343"/>
              </a:xfrm>
            </p:grpSpPr>
            <p:sp>
              <p:nvSpPr>
                <p:cNvPr id="55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6616" y="11779"/>
                  <a:ext cx="645" cy="34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6000" tIns="18000" rIns="36000" bIns="10800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96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1400" b="0">
                      <a:latin typeface="Times New Roman" panose="02020603050405020304" pitchFamily="18" charset="0"/>
                    </a:rPr>
                    <a:t>时区</a:t>
                  </a:r>
                  <a:r>
                    <a:rPr kumimoji="1" lang="en-US" altLang="zh-CN" sz="1400" b="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56" name="Line 28"/>
                <p:cNvSpPr>
                  <a:spLocks noChangeShapeType="1"/>
                </p:cNvSpPr>
                <p:nvPr/>
              </p:nvSpPr>
              <p:spPr bwMode="auto">
                <a:xfrm>
                  <a:off x="5596" y="12045"/>
                  <a:ext cx="259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6" name="Group 29"/>
              <p:cNvGrpSpPr>
                <a:grpSpLocks/>
              </p:cNvGrpSpPr>
              <p:nvPr/>
            </p:nvGrpSpPr>
            <p:grpSpPr bwMode="auto">
              <a:xfrm>
                <a:off x="7771" y="4912"/>
                <a:ext cx="2565" cy="343"/>
                <a:chOff x="3016" y="11765"/>
                <a:chExt cx="2565" cy="343"/>
              </a:xfrm>
            </p:grpSpPr>
            <p:sp>
              <p:nvSpPr>
                <p:cNvPr id="53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3931" y="11765"/>
                  <a:ext cx="645" cy="34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6000" tIns="18000" rIns="36000" bIns="10800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96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1400" b="0">
                      <a:latin typeface="Times New Roman" panose="02020603050405020304" pitchFamily="18" charset="0"/>
                    </a:rPr>
                    <a:t>时区</a:t>
                  </a:r>
                  <a:r>
                    <a:rPr kumimoji="1" lang="en-US" altLang="zh-CN" sz="1400" b="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54" name="Line 31"/>
                <p:cNvSpPr>
                  <a:spLocks noChangeShapeType="1"/>
                </p:cNvSpPr>
                <p:nvPr/>
              </p:nvSpPr>
              <p:spPr bwMode="auto">
                <a:xfrm>
                  <a:off x="3016" y="12046"/>
                  <a:ext cx="2565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7" name="Group 32"/>
              <p:cNvGrpSpPr>
                <a:grpSpLocks/>
              </p:cNvGrpSpPr>
              <p:nvPr/>
            </p:nvGrpSpPr>
            <p:grpSpPr bwMode="auto">
              <a:xfrm>
                <a:off x="3166" y="4142"/>
                <a:ext cx="4590" cy="343"/>
                <a:chOff x="3031" y="10925"/>
                <a:chExt cx="4590" cy="343"/>
              </a:xfrm>
            </p:grpSpPr>
            <p:sp>
              <p:nvSpPr>
                <p:cNvPr id="51" name="Line 33"/>
                <p:cNvSpPr>
                  <a:spLocks noChangeShapeType="1"/>
                </p:cNvSpPr>
                <p:nvPr/>
              </p:nvSpPr>
              <p:spPr bwMode="auto">
                <a:xfrm>
                  <a:off x="3031" y="11268"/>
                  <a:ext cx="459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4201" y="10925"/>
                  <a:ext cx="2235" cy="343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36000" tIns="18000" rIns="36000" bIns="10800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96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kumimoji="1" lang="zh-CN" altLang="en-US" sz="1400" b="0">
                      <a:latin typeface="Times New Roman" panose="02020603050405020304" pitchFamily="18" charset="0"/>
                    </a:rPr>
                    <a:t>累计提前期（采购</a:t>
                  </a:r>
                  <a:r>
                    <a:rPr kumimoji="1" lang="en-US" altLang="zh-CN" sz="1400" b="0">
                      <a:latin typeface="Times New Roman" panose="02020603050405020304" pitchFamily="18" charset="0"/>
                    </a:rPr>
                    <a:t>+</a:t>
                  </a:r>
                  <a:r>
                    <a:rPr kumimoji="1" lang="zh-CN" altLang="en-US" sz="1400" b="0">
                      <a:latin typeface="Times New Roman" panose="02020603050405020304" pitchFamily="18" charset="0"/>
                    </a:rPr>
                    <a:t>加工）</a:t>
                  </a:r>
                </a:p>
              </p:txBody>
            </p:sp>
          </p:grpSp>
          <p:sp>
            <p:nvSpPr>
              <p:cNvPr id="48" name="AutoShape 35"/>
              <p:cNvSpPr>
                <a:spLocks noChangeArrowheads="1"/>
              </p:cNvSpPr>
              <p:nvPr/>
            </p:nvSpPr>
            <p:spPr bwMode="auto">
              <a:xfrm>
                <a:off x="5146" y="5836"/>
                <a:ext cx="1110" cy="371"/>
              </a:xfrm>
              <a:prstGeom prst="wedgeRectCallout">
                <a:avLst>
                  <a:gd name="adj1" fmla="val -48991"/>
                  <a:gd name="adj2" fmla="val -116977"/>
                </a:avLst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400" b="0">
                    <a:latin typeface="Times New Roman" panose="02020603050405020304" pitchFamily="18" charset="0"/>
                  </a:rPr>
                  <a:t>需求时界</a:t>
                </a:r>
              </a:p>
            </p:txBody>
          </p:sp>
          <p:sp>
            <p:nvSpPr>
              <p:cNvPr id="49" name="AutoShape 36"/>
              <p:cNvSpPr>
                <a:spLocks noChangeArrowheads="1"/>
              </p:cNvSpPr>
              <p:nvPr/>
            </p:nvSpPr>
            <p:spPr bwMode="auto">
              <a:xfrm>
                <a:off x="7648" y="5836"/>
                <a:ext cx="1110" cy="371"/>
              </a:xfrm>
              <a:prstGeom prst="wedgeRectCallout">
                <a:avLst>
                  <a:gd name="adj1" fmla="val -39620"/>
                  <a:gd name="adj2" fmla="val -113037"/>
                </a:avLst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400" b="0">
                    <a:latin typeface="Times New Roman" panose="02020603050405020304" pitchFamily="18" charset="0"/>
                  </a:rPr>
                  <a:t>计划时界</a:t>
                </a:r>
              </a:p>
            </p:txBody>
          </p:sp>
          <p:sp>
            <p:nvSpPr>
              <p:cNvPr id="50" name="AutoShape 37"/>
              <p:cNvSpPr>
                <a:spLocks noChangeArrowheads="1"/>
              </p:cNvSpPr>
              <p:nvPr/>
            </p:nvSpPr>
            <p:spPr bwMode="auto">
              <a:xfrm>
                <a:off x="2686" y="5836"/>
                <a:ext cx="1110" cy="371"/>
              </a:xfrm>
              <a:prstGeom prst="wedgeRectCallout">
                <a:avLst>
                  <a:gd name="adj1" fmla="val -9819"/>
                  <a:gd name="adj2" fmla="val -109028"/>
                </a:avLst>
              </a:prstGeom>
              <a:solidFill>
                <a:srgbClr val="FFCC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96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zh-CN" altLang="en-US" sz="1400" b="0">
                    <a:latin typeface="Times New Roman" panose="02020603050405020304" pitchFamily="18" charset="0"/>
                  </a:rPr>
                  <a:t>某时刻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3661355"/>
      </p:ext>
    </p:extLst>
  </p:cSld>
  <p:clrMapOvr>
    <a:masterClrMapping/>
  </p:clrMapOvr>
  <p:transition>
    <p:strip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2060"/>
                </a:solidFill>
                <a:ea typeface="宋体" charset="-122"/>
              </a:rPr>
              <a:t>4- </a:t>
            </a:r>
            <a:r>
              <a:rPr lang="zh-CN" altLang="en-US" sz="2800" b="1" dirty="0">
                <a:solidFill>
                  <a:srgbClr val="002060"/>
                </a:solidFill>
                <a:ea typeface="宋体" charset="-122"/>
              </a:rPr>
              <a:t>主生产计划</a:t>
            </a:r>
            <a:endParaRPr lang="en-US" altLang="zh-CN" sz="2800" b="1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63" name="Rectangle 3"/>
          <p:cNvSpPr txBox="1">
            <a:spLocks noChangeArrowheads="1"/>
          </p:cNvSpPr>
          <p:nvPr/>
        </p:nvSpPr>
        <p:spPr bwMode="auto">
          <a:xfrm>
            <a:off x="457200" y="12192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800" dirty="0"/>
              <a:t>基本数量概念：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AutoNum type="arabicPeriod"/>
            </a:pPr>
            <a:r>
              <a:rPr lang="zh-CN" altLang="en-US" sz="1600" b="1" dirty="0">
                <a:solidFill>
                  <a:srgbClr val="003366"/>
                </a:solidFill>
              </a:rPr>
              <a:t>预测量 </a:t>
            </a:r>
            <a:r>
              <a:rPr lang="en-US" altLang="zh-CN" sz="1600" b="1" dirty="0">
                <a:solidFill>
                  <a:srgbClr val="003366"/>
                </a:solidFill>
              </a:rPr>
              <a:t>(Demand Forecast)</a:t>
            </a:r>
            <a:endParaRPr lang="zh-CN" altLang="en-US" sz="1600" b="1" dirty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AutoNum type="arabicPeriod"/>
            </a:pPr>
            <a:r>
              <a:rPr lang="zh-CN" altLang="en-US" sz="1600" b="1" dirty="0">
                <a:solidFill>
                  <a:srgbClr val="003366"/>
                </a:solidFill>
              </a:rPr>
              <a:t>订单量 </a:t>
            </a:r>
            <a:r>
              <a:rPr lang="en-US" altLang="zh-CN" sz="1600" b="1" dirty="0">
                <a:solidFill>
                  <a:srgbClr val="003366"/>
                </a:solidFill>
              </a:rPr>
              <a:t>(Order)</a:t>
            </a:r>
            <a:endParaRPr lang="zh-CN" altLang="en-US" sz="1600" b="1" dirty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AutoNum type="arabicPeriod"/>
            </a:pPr>
            <a:r>
              <a:rPr lang="zh-CN" altLang="en-US" sz="1600" b="1" dirty="0">
                <a:solidFill>
                  <a:srgbClr val="003366"/>
                </a:solidFill>
              </a:rPr>
              <a:t>毛需求量 </a:t>
            </a:r>
            <a:r>
              <a:rPr lang="en-US" altLang="zh-CN" sz="1600" b="1" dirty="0">
                <a:solidFill>
                  <a:srgbClr val="003366"/>
                </a:solidFill>
              </a:rPr>
              <a:t>(Gross Requirement)</a:t>
            </a:r>
            <a:endParaRPr lang="zh-CN" altLang="en-US" sz="1600" b="1" dirty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AutoNum type="arabicPeriod"/>
            </a:pPr>
            <a:r>
              <a:rPr lang="zh-CN" altLang="en-US" sz="1600" b="1" dirty="0">
                <a:solidFill>
                  <a:srgbClr val="003366"/>
                </a:solidFill>
              </a:rPr>
              <a:t>计划接收量（</a:t>
            </a:r>
            <a:r>
              <a:rPr lang="en-US" altLang="zh-CN" sz="1600" b="1" dirty="0">
                <a:solidFill>
                  <a:srgbClr val="003366"/>
                </a:solidFill>
              </a:rPr>
              <a:t>Scheduled Receipts</a:t>
            </a:r>
            <a:r>
              <a:rPr lang="zh-CN" altLang="en-US" sz="1600" b="1" dirty="0">
                <a:solidFill>
                  <a:srgbClr val="003366"/>
                </a:solidFill>
              </a:rPr>
              <a:t>）</a:t>
            </a:r>
            <a:endParaRPr lang="zh-CN" altLang="en-US" sz="1600" b="1" dirty="0"/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AutoNum type="arabicPeriod"/>
            </a:pPr>
            <a:r>
              <a:rPr lang="zh-CN" altLang="en-US" sz="1600" b="1" dirty="0">
                <a:solidFill>
                  <a:srgbClr val="003366"/>
                </a:solidFill>
              </a:rPr>
              <a:t>预计可用库存量（</a:t>
            </a:r>
            <a:r>
              <a:rPr lang="en-US" altLang="zh-CN" sz="1600" b="1" dirty="0">
                <a:solidFill>
                  <a:srgbClr val="003366"/>
                </a:solidFill>
              </a:rPr>
              <a:t>Projected Available Balance</a:t>
            </a:r>
            <a:r>
              <a:rPr lang="zh-CN" altLang="en-US" sz="1600" b="1" dirty="0">
                <a:solidFill>
                  <a:srgbClr val="003366"/>
                </a:solidFill>
              </a:rPr>
              <a:t>，</a:t>
            </a:r>
            <a:r>
              <a:rPr lang="en-US" altLang="zh-CN" sz="1600" b="1" dirty="0">
                <a:solidFill>
                  <a:srgbClr val="003366"/>
                </a:solidFill>
              </a:rPr>
              <a:t>PAB</a:t>
            </a:r>
            <a:r>
              <a:rPr lang="zh-CN" altLang="en-US" sz="1600" b="1" dirty="0">
                <a:solidFill>
                  <a:srgbClr val="003366"/>
                </a:solidFill>
              </a:rPr>
              <a:t>）</a:t>
            </a:r>
            <a:r>
              <a:rPr lang="en-US" altLang="zh-CN" sz="1600" b="1" dirty="0">
                <a:solidFill>
                  <a:srgbClr val="003366"/>
                </a:solidFill>
              </a:rPr>
              <a:t>= </a:t>
            </a:r>
            <a:r>
              <a:rPr lang="zh-CN" altLang="en-US" sz="1600" b="1" dirty="0">
                <a:solidFill>
                  <a:srgbClr val="003366"/>
                </a:solidFill>
              </a:rPr>
              <a:t>前一时段末的</a:t>
            </a:r>
            <a:r>
              <a:rPr lang="en-US" altLang="zh-CN" sz="1600" b="1" dirty="0">
                <a:solidFill>
                  <a:srgbClr val="003366"/>
                </a:solidFill>
              </a:rPr>
              <a:t>PAB + </a:t>
            </a:r>
            <a:r>
              <a:rPr lang="zh-CN" altLang="en-US" sz="1600" b="1" dirty="0">
                <a:solidFill>
                  <a:srgbClr val="003366"/>
                </a:solidFill>
              </a:rPr>
              <a:t>本时段计划接收量 </a:t>
            </a:r>
            <a:r>
              <a:rPr lang="en-US" altLang="zh-CN" sz="1600" b="1" dirty="0">
                <a:solidFill>
                  <a:srgbClr val="003366"/>
                </a:solidFill>
              </a:rPr>
              <a:t>- </a:t>
            </a:r>
            <a:r>
              <a:rPr lang="zh-CN" altLang="en-US" sz="1600" b="1" dirty="0">
                <a:solidFill>
                  <a:srgbClr val="003366"/>
                </a:solidFill>
              </a:rPr>
              <a:t>本时段毛需求量 </a:t>
            </a:r>
            <a:r>
              <a:rPr lang="en-US" altLang="zh-CN" sz="1600" b="1" dirty="0">
                <a:solidFill>
                  <a:srgbClr val="003366"/>
                </a:solidFill>
              </a:rPr>
              <a:t>+ </a:t>
            </a:r>
            <a:r>
              <a:rPr lang="zh-CN" altLang="en-US" sz="1600" b="1" dirty="0">
                <a:solidFill>
                  <a:srgbClr val="003366"/>
                </a:solidFill>
              </a:rPr>
              <a:t>本时段计划产出量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AutoNum type="arabicPeriod"/>
            </a:pPr>
            <a:r>
              <a:rPr lang="zh-CN" altLang="en-US" sz="1600" b="1" dirty="0">
                <a:solidFill>
                  <a:srgbClr val="003366"/>
                </a:solidFill>
              </a:rPr>
              <a:t>净需求量（</a:t>
            </a:r>
            <a:r>
              <a:rPr lang="en-US" altLang="zh-CN" sz="1600" b="1" dirty="0">
                <a:solidFill>
                  <a:srgbClr val="003366"/>
                </a:solidFill>
              </a:rPr>
              <a:t>Net Requirement, NR</a:t>
            </a:r>
            <a:r>
              <a:rPr lang="zh-CN" altLang="en-US" sz="1600" b="1" dirty="0">
                <a:solidFill>
                  <a:srgbClr val="003366"/>
                </a:solidFill>
              </a:rPr>
              <a:t>）</a:t>
            </a:r>
            <a:r>
              <a:rPr lang="en-US" altLang="zh-CN" sz="1600" b="1" dirty="0">
                <a:solidFill>
                  <a:srgbClr val="003366"/>
                </a:solidFill>
              </a:rPr>
              <a:t>=</a:t>
            </a:r>
            <a:r>
              <a:rPr lang="zh-CN" altLang="en-US" sz="1600" b="1" dirty="0">
                <a:solidFill>
                  <a:srgbClr val="003366"/>
                </a:solidFill>
              </a:rPr>
              <a:t>净需求量（</a:t>
            </a:r>
            <a:r>
              <a:rPr lang="en-US" altLang="zh-CN" sz="1600" b="1" dirty="0">
                <a:solidFill>
                  <a:srgbClr val="003366"/>
                </a:solidFill>
              </a:rPr>
              <a:t>Net Requirement, NR</a:t>
            </a:r>
            <a:r>
              <a:rPr lang="zh-CN" altLang="en-US" sz="1600" b="1" dirty="0">
                <a:solidFill>
                  <a:srgbClr val="003366"/>
                </a:solidFill>
              </a:rPr>
              <a:t>）</a:t>
            </a:r>
            <a:r>
              <a:rPr lang="en-US" altLang="zh-CN" sz="1600" b="1" dirty="0">
                <a:solidFill>
                  <a:srgbClr val="003366"/>
                </a:solidFill>
              </a:rPr>
              <a:t>= (</a:t>
            </a:r>
            <a:r>
              <a:rPr lang="zh-CN" altLang="en-US" sz="1600" b="1" dirty="0">
                <a:solidFill>
                  <a:srgbClr val="003366"/>
                </a:solidFill>
              </a:rPr>
              <a:t>本时段毛需求量 </a:t>
            </a:r>
            <a:r>
              <a:rPr lang="en-US" altLang="zh-CN" sz="1600" b="1" dirty="0">
                <a:solidFill>
                  <a:srgbClr val="003366"/>
                </a:solidFill>
              </a:rPr>
              <a:t>- </a:t>
            </a:r>
            <a:r>
              <a:rPr lang="zh-CN" altLang="en-US" sz="1600" b="1" dirty="0">
                <a:solidFill>
                  <a:srgbClr val="003366"/>
                </a:solidFill>
              </a:rPr>
              <a:t>前时段末的</a:t>
            </a:r>
            <a:r>
              <a:rPr lang="en-US" altLang="zh-CN" sz="1600" b="1" dirty="0">
                <a:solidFill>
                  <a:srgbClr val="003366"/>
                </a:solidFill>
              </a:rPr>
              <a:t>PAB - </a:t>
            </a:r>
            <a:r>
              <a:rPr lang="zh-CN" altLang="en-US" sz="1600" b="1" dirty="0">
                <a:solidFill>
                  <a:srgbClr val="003366"/>
                </a:solidFill>
              </a:rPr>
              <a:t>本时段的计划接收量 </a:t>
            </a:r>
            <a:r>
              <a:rPr lang="en-US" altLang="zh-CN" sz="1600" b="1" dirty="0">
                <a:solidFill>
                  <a:srgbClr val="003366"/>
                </a:solidFill>
              </a:rPr>
              <a:t>+ </a:t>
            </a:r>
            <a:r>
              <a:rPr lang="zh-CN" altLang="en-US" sz="1600" b="1" dirty="0">
                <a:solidFill>
                  <a:srgbClr val="003366"/>
                </a:solidFill>
              </a:rPr>
              <a:t>安全库存量</a:t>
            </a:r>
            <a:r>
              <a:rPr lang="en-US" altLang="zh-CN" sz="1600" b="1" dirty="0">
                <a:solidFill>
                  <a:srgbClr val="003366"/>
                </a:solidFill>
              </a:rPr>
              <a:t>)</a:t>
            </a:r>
            <a:r>
              <a:rPr lang="en-US" altLang="zh-CN" sz="1600" b="1" baseline="30000" dirty="0">
                <a:solidFill>
                  <a:srgbClr val="003366"/>
                </a:solidFill>
              </a:rPr>
              <a:t>+</a:t>
            </a:r>
            <a:endParaRPr lang="zh-CN" altLang="en-US" sz="1600" b="1" baseline="30000" dirty="0">
              <a:solidFill>
                <a:srgbClr val="003366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AutoNum type="arabicPeriod"/>
            </a:pPr>
            <a:r>
              <a:rPr lang="zh-CN" altLang="en-US" sz="1600" b="1" dirty="0">
                <a:solidFill>
                  <a:srgbClr val="003366"/>
                </a:solidFill>
              </a:rPr>
              <a:t>计划产出量（</a:t>
            </a:r>
            <a:r>
              <a:rPr lang="en-US" altLang="zh-CN" sz="1600" b="1" dirty="0">
                <a:solidFill>
                  <a:srgbClr val="003366"/>
                </a:solidFill>
              </a:rPr>
              <a:t>Planned Order Receipts</a:t>
            </a:r>
            <a:r>
              <a:rPr lang="zh-CN" altLang="en-US" sz="1600" b="1" dirty="0">
                <a:solidFill>
                  <a:srgbClr val="003366"/>
                </a:solidFill>
              </a:rPr>
              <a:t>）</a:t>
            </a:r>
            <a:r>
              <a:rPr lang="zh-CN" altLang="en-US" sz="1600" b="1" dirty="0"/>
              <a:t>：</a:t>
            </a:r>
            <a:r>
              <a:rPr lang="zh-CN" altLang="en-US" sz="1600" b="1" dirty="0">
                <a:solidFill>
                  <a:srgbClr val="003366"/>
                </a:solidFill>
              </a:rPr>
              <a:t>计划产出量 </a:t>
            </a:r>
            <a:r>
              <a:rPr lang="en-US" altLang="zh-CN" sz="1600" b="1" dirty="0">
                <a:solidFill>
                  <a:srgbClr val="003366"/>
                </a:solidFill>
              </a:rPr>
              <a:t>= </a:t>
            </a:r>
            <a:r>
              <a:rPr lang="en-US" altLang="zh-CN" sz="1600" b="1" i="1" dirty="0">
                <a:solidFill>
                  <a:srgbClr val="003366"/>
                </a:solidFill>
              </a:rPr>
              <a:t>N</a:t>
            </a:r>
            <a:r>
              <a:rPr lang="en-US" altLang="zh-CN" sz="1600" b="1" dirty="0">
                <a:solidFill>
                  <a:srgbClr val="003366"/>
                </a:solidFill>
              </a:rPr>
              <a:t> * </a:t>
            </a:r>
            <a:r>
              <a:rPr lang="zh-CN" altLang="en-US" sz="1600" b="1" dirty="0">
                <a:solidFill>
                  <a:srgbClr val="003366"/>
                </a:solidFill>
              </a:rPr>
              <a:t>批量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1400" b="1" dirty="0">
                <a:solidFill>
                  <a:srgbClr val="003366"/>
                </a:solidFill>
              </a:rPr>
              <a:t>满足：</a:t>
            </a:r>
            <a:r>
              <a:rPr lang="en-US" altLang="zh-CN" sz="1400" b="1" i="1" dirty="0">
                <a:solidFill>
                  <a:srgbClr val="003366"/>
                </a:solidFill>
              </a:rPr>
              <a:t>N</a:t>
            </a:r>
            <a:r>
              <a:rPr lang="en-US" altLang="zh-CN" sz="1400" b="1" dirty="0">
                <a:solidFill>
                  <a:srgbClr val="003366"/>
                </a:solidFill>
              </a:rPr>
              <a:t> * </a:t>
            </a:r>
            <a:r>
              <a:rPr lang="zh-CN" altLang="en-US" sz="1400" b="1" dirty="0">
                <a:solidFill>
                  <a:srgbClr val="003366"/>
                </a:solidFill>
              </a:rPr>
              <a:t>批量 </a:t>
            </a:r>
            <a:r>
              <a:rPr lang="zh-CN" altLang="en-US" sz="1400" b="1" dirty="0">
                <a:solidFill>
                  <a:srgbClr val="003366"/>
                </a:solidFill>
                <a:latin typeface="宋体" panose="02010600030101010101" pitchFamily="2" charset="-122"/>
              </a:rPr>
              <a:t>≥ 净需求 </a:t>
            </a:r>
            <a:r>
              <a:rPr lang="en-US" altLang="zh-CN" sz="1400" b="1" dirty="0">
                <a:solidFill>
                  <a:srgbClr val="003366"/>
                </a:solidFill>
                <a:latin typeface="宋体" panose="02010600030101010101" pitchFamily="2" charset="-122"/>
              </a:rPr>
              <a:t>&gt; (</a:t>
            </a:r>
            <a:r>
              <a:rPr lang="en-US" altLang="zh-CN" sz="1400" b="1" i="1" dirty="0">
                <a:solidFill>
                  <a:srgbClr val="003366"/>
                </a:solidFill>
              </a:rPr>
              <a:t>N</a:t>
            </a:r>
            <a:r>
              <a:rPr lang="en-US" altLang="zh-CN" sz="1400" b="1" dirty="0">
                <a:solidFill>
                  <a:srgbClr val="003366"/>
                </a:solidFill>
              </a:rPr>
              <a:t> - 1) * </a:t>
            </a:r>
            <a:r>
              <a:rPr lang="zh-CN" altLang="en-US" sz="1400" b="1" dirty="0">
                <a:solidFill>
                  <a:srgbClr val="003366"/>
                </a:solidFill>
              </a:rPr>
              <a:t>批量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AutoNum type="arabicPeriod"/>
            </a:pPr>
            <a:r>
              <a:rPr lang="zh-CN" altLang="en-US" sz="1600" b="1" dirty="0">
                <a:solidFill>
                  <a:srgbClr val="003366"/>
                </a:solidFill>
              </a:rPr>
              <a:t>计划投入量（</a:t>
            </a:r>
            <a:r>
              <a:rPr lang="en-US" altLang="zh-CN" sz="1600" b="1" dirty="0">
                <a:solidFill>
                  <a:srgbClr val="003366"/>
                </a:solidFill>
              </a:rPr>
              <a:t>Planned Order Releases</a:t>
            </a:r>
            <a:r>
              <a:rPr lang="zh-CN" altLang="en-US" sz="1600" b="1" dirty="0">
                <a:solidFill>
                  <a:srgbClr val="003366"/>
                </a:solidFill>
              </a:rPr>
              <a:t>）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AutoNum type="arabicPeriod"/>
            </a:pPr>
            <a:r>
              <a:rPr lang="zh-CN" altLang="en-US" sz="1600" b="1" dirty="0">
                <a:solidFill>
                  <a:srgbClr val="003366"/>
                </a:solidFill>
              </a:rPr>
              <a:t>可供销售量（</a:t>
            </a:r>
            <a:r>
              <a:rPr lang="en-US" altLang="zh-CN" sz="1600" b="1" dirty="0">
                <a:solidFill>
                  <a:srgbClr val="003366"/>
                </a:solidFill>
              </a:rPr>
              <a:t>Available to Promise</a:t>
            </a:r>
            <a:r>
              <a:rPr lang="zh-CN" altLang="en-US" sz="1600" b="1" dirty="0">
                <a:solidFill>
                  <a:srgbClr val="003366"/>
                </a:solidFill>
              </a:rPr>
              <a:t>，</a:t>
            </a:r>
            <a:r>
              <a:rPr lang="en-US" altLang="zh-CN" sz="1600" b="1" dirty="0">
                <a:solidFill>
                  <a:srgbClr val="003366"/>
                </a:solidFill>
              </a:rPr>
              <a:t>ATP</a:t>
            </a:r>
            <a:r>
              <a:rPr lang="zh-CN" altLang="en-US" sz="1600" b="1" dirty="0">
                <a:solidFill>
                  <a:srgbClr val="003366"/>
                </a:solidFill>
              </a:rPr>
              <a:t>）</a:t>
            </a:r>
            <a:r>
              <a:rPr lang="en-US" altLang="zh-CN" sz="1600" b="1" dirty="0">
                <a:solidFill>
                  <a:srgbClr val="003366"/>
                </a:solidFill>
              </a:rPr>
              <a:t>= </a:t>
            </a:r>
            <a:r>
              <a:rPr lang="zh-CN" altLang="en-US" sz="1600" b="1" dirty="0">
                <a:solidFill>
                  <a:srgbClr val="003366"/>
                </a:solidFill>
              </a:rPr>
              <a:t>本时段计划产出量 </a:t>
            </a:r>
            <a:r>
              <a:rPr lang="en-US" altLang="zh-CN" sz="1600" b="1" dirty="0">
                <a:solidFill>
                  <a:srgbClr val="003366"/>
                </a:solidFill>
              </a:rPr>
              <a:t>+ </a:t>
            </a:r>
            <a:r>
              <a:rPr lang="zh-CN" altLang="en-US" sz="1600" b="1" dirty="0">
                <a:solidFill>
                  <a:srgbClr val="003366"/>
                </a:solidFill>
              </a:rPr>
              <a:t>本时段计划接收量 </a:t>
            </a:r>
            <a:r>
              <a:rPr lang="en-US" altLang="zh-CN" sz="1600" b="1" dirty="0">
                <a:solidFill>
                  <a:srgbClr val="003366"/>
                </a:solidFill>
              </a:rPr>
              <a:t>– </a:t>
            </a:r>
            <a:r>
              <a:rPr lang="zh-CN" altLang="en-US" sz="1600" b="1" dirty="0">
                <a:solidFill>
                  <a:srgbClr val="003366"/>
                </a:solidFill>
              </a:rPr>
              <a:t>下一次出现计划产出量之前各时段订单量之和</a:t>
            </a:r>
          </a:p>
        </p:txBody>
      </p:sp>
    </p:spTree>
    <p:extLst>
      <p:ext uri="{BB962C8B-B14F-4D97-AF65-F5344CB8AC3E}">
        <p14:creationId xmlns:p14="http://schemas.microsoft.com/office/powerpoint/2010/main" val="2576477188"/>
      </p:ext>
    </p:extLst>
  </p:cSld>
  <p:clrMapOvr>
    <a:masterClrMapping/>
  </p:clrMapOvr>
  <p:transition>
    <p:strips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2060"/>
                </a:solidFill>
                <a:ea typeface="宋体" charset="-122"/>
              </a:rPr>
              <a:t>5- </a:t>
            </a:r>
            <a:r>
              <a:rPr lang="zh-CN" altLang="en-US" sz="2800" b="1" dirty="0">
                <a:solidFill>
                  <a:srgbClr val="002060"/>
                </a:solidFill>
                <a:ea typeface="宋体" charset="-122"/>
              </a:rPr>
              <a:t>物料需求计划</a:t>
            </a:r>
            <a:endParaRPr lang="en-US" altLang="zh-CN" sz="2800" b="1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6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7239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dirty="0">
                <a:latin typeface="Times New Roman" panose="02020603050405020304" pitchFamily="18" charset="0"/>
              </a:rPr>
              <a:t>MRP</a:t>
            </a:r>
            <a:r>
              <a:rPr lang="zh-CN" altLang="en-US" sz="2400" dirty="0">
                <a:latin typeface="Times New Roman" panose="02020603050405020304" pitchFamily="18" charset="0"/>
              </a:rPr>
              <a:t>的输入输出逻辑</a:t>
            </a:r>
          </a:p>
        </p:txBody>
      </p:sp>
      <p:sp>
        <p:nvSpPr>
          <p:cNvPr id="66" name="Freeform 26"/>
          <p:cNvSpPr>
            <a:spLocks/>
          </p:cNvSpPr>
          <p:nvPr/>
        </p:nvSpPr>
        <p:spPr bwMode="auto">
          <a:xfrm>
            <a:off x="1681163" y="5160962"/>
            <a:ext cx="5734050" cy="1173163"/>
          </a:xfrm>
          <a:custGeom>
            <a:avLst/>
            <a:gdLst>
              <a:gd name="T0" fmla="*/ 2147483646 w 3612"/>
              <a:gd name="T1" fmla="*/ 2147483646 h 739"/>
              <a:gd name="T2" fmla="*/ 2147483646 w 3612"/>
              <a:gd name="T3" fmla="*/ 2147483646 h 739"/>
              <a:gd name="T4" fmla="*/ 2147483646 w 3612"/>
              <a:gd name="T5" fmla="*/ 2147483646 h 739"/>
              <a:gd name="T6" fmla="*/ 2147483646 w 3612"/>
              <a:gd name="T7" fmla="*/ 2147483646 h 739"/>
              <a:gd name="T8" fmla="*/ 2147483646 w 3612"/>
              <a:gd name="T9" fmla="*/ 2147483646 h 739"/>
              <a:gd name="T10" fmla="*/ 2147483646 w 3612"/>
              <a:gd name="T11" fmla="*/ 2147483646 h 739"/>
              <a:gd name="T12" fmla="*/ 2147483646 w 3612"/>
              <a:gd name="T13" fmla="*/ 2147483646 h 739"/>
              <a:gd name="T14" fmla="*/ 2147483646 w 3612"/>
              <a:gd name="T15" fmla="*/ 2147483646 h 739"/>
              <a:gd name="T16" fmla="*/ 2147483646 w 3612"/>
              <a:gd name="T17" fmla="*/ 2147483646 h 739"/>
              <a:gd name="T18" fmla="*/ 2147483646 w 3612"/>
              <a:gd name="T19" fmla="*/ 2147483646 h 739"/>
              <a:gd name="T20" fmla="*/ 2147483646 w 3612"/>
              <a:gd name="T21" fmla="*/ 2147483646 h 739"/>
              <a:gd name="T22" fmla="*/ 2147483646 w 3612"/>
              <a:gd name="T23" fmla="*/ 2147483646 h 739"/>
              <a:gd name="T24" fmla="*/ 2147483646 w 3612"/>
              <a:gd name="T25" fmla="*/ 2147483646 h 739"/>
              <a:gd name="T26" fmla="*/ 2147483646 w 3612"/>
              <a:gd name="T27" fmla="*/ 2147483646 h 739"/>
              <a:gd name="T28" fmla="*/ 2147483646 w 3612"/>
              <a:gd name="T29" fmla="*/ 2147483646 h 739"/>
              <a:gd name="T30" fmla="*/ 2147483646 w 3612"/>
              <a:gd name="T31" fmla="*/ 2147483646 h 739"/>
              <a:gd name="T32" fmla="*/ 2147483646 w 3612"/>
              <a:gd name="T33" fmla="*/ 2147483646 h 739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3612"/>
              <a:gd name="T52" fmla="*/ 0 h 739"/>
              <a:gd name="T53" fmla="*/ 3612 w 3612"/>
              <a:gd name="T54" fmla="*/ 739 h 739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3612" h="739">
                <a:moveTo>
                  <a:pt x="93" y="549"/>
                </a:moveTo>
                <a:cubicBezTo>
                  <a:pt x="58" y="496"/>
                  <a:pt x="0" y="309"/>
                  <a:pt x="66" y="265"/>
                </a:cubicBezTo>
                <a:cubicBezTo>
                  <a:pt x="90" y="229"/>
                  <a:pt x="152" y="157"/>
                  <a:pt x="194" y="146"/>
                </a:cubicBezTo>
                <a:cubicBezTo>
                  <a:pt x="299" y="105"/>
                  <a:pt x="282" y="60"/>
                  <a:pt x="724" y="46"/>
                </a:cubicBezTo>
                <a:cubicBezTo>
                  <a:pt x="1419" y="0"/>
                  <a:pt x="2094" y="34"/>
                  <a:pt x="2790" y="27"/>
                </a:cubicBezTo>
                <a:cubicBezTo>
                  <a:pt x="3056" y="33"/>
                  <a:pt x="3046" y="40"/>
                  <a:pt x="3238" y="64"/>
                </a:cubicBezTo>
                <a:cubicBezTo>
                  <a:pt x="3335" y="76"/>
                  <a:pt x="3461" y="119"/>
                  <a:pt x="3494" y="137"/>
                </a:cubicBezTo>
                <a:cubicBezTo>
                  <a:pt x="3552" y="168"/>
                  <a:pt x="3571" y="194"/>
                  <a:pt x="3586" y="247"/>
                </a:cubicBezTo>
                <a:cubicBezTo>
                  <a:pt x="3612" y="326"/>
                  <a:pt x="3608" y="301"/>
                  <a:pt x="3586" y="457"/>
                </a:cubicBezTo>
                <a:cubicBezTo>
                  <a:pt x="3585" y="466"/>
                  <a:pt x="3573" y="469"/>
                  <a:pt x="3567" y="475"/>
                </a:cubicBezTo>
                <a:cubicBezTo>
                  <a:pt x="3543" y="495"/>
                  <a:pt x="3483" y="547"/>
                  <a:pt x="3439" y="576"/>
                </a:cubicBezTo>
                <a:cubicBezTo>
                  <a:pt x="3406" y="592"/>
                  <a:pt x="3357" y="649"/>
                  <a:pt x="3302" y="649"/>
                </a:cubicBezTo>
                <a:cubicBezTo>
                  <a:pt x="3240" y="707"/>
                  <a:pt x="2893" y="695"/>
                  <a:pt x="2863" y="695"/>
                </a:cubicBezTo>
                <a:cubicBezTo>
                  <a:pt x="2336" y="703"/>
                  <a:pt x="2412" y="705"/>
                  <a:pt x="1885" y="713"/>
                </a:cubicBezTo>
                <a:cubicBezTo>
                  <a:pt x="1743" y="739"/>
                  <a:pt x="1180" y="708"/>
                  <a:pt x="1035" y="713"/>
                </a:cubicBezTo>
                <a:cubicBezTo>
                  <a:pt x="843" y="710"/>
                  <a:pt x="642" y="691"/>
                  <a:pt x="450" y="686"/>
                </a:cubicBezTo>
                <a:cubicBezTo>
                  <a:pt x="287" y="660"/>
                  <a:pt x="152" y="619"/>
                  <a:pt x="93" y="549"/>
                </a:cubicBezTo>
                <a:close/>
              </a:path>
            </a:pathLst>
          </a:custGeom>
          <a:solidFill>
            <a:srgbClr val="CCFFFF"/>
          </a:solidFill>
          <a:ln w="28575" cap="rnd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vert="eaVert" wrap="none" lIns="90000" rIns="1890000" anchor="ctr"/>
          <a:lstStyle/>
          <a:p>
            <a:endParaRPr lang="zh-CN" altLang="en-US"/>
          </a:p>
        </p:txBody>
      </p:sp>
      <p:sp>
        <p:nvSpPr>
          <p:cNvPr id="67" name="Freeform 24"/>
          <p:cNvSpPr>
            <a:spLocks/>
          </p:cNvSpPr>
          <p:nvPr/>
        </p:nvSpPr>
        <p:spPr bwMode="auto">
          <a:xfrm>
            <a:off x="652463" y="2667000"/>
            <a:ext cx="7739062" cy="2076450"/>
          </a:xfrm>
          <a:custGeom>
            <a:avLst/>
            <a:gdLst>
              <a:gd name="T0" fmla="*/ 2147483646 w 4875"/>
              <a:gd name="T1" fmla="*/ 2147483646 h 1308"/>
              <a:gd name="T2" fmla="*/ 2147483646 w 4875"/>
              <a:gd name="T3" fmla="*/ 2147483646 h 1308"/>
              <a:gd name="T4" fmla="*/ 2147483646 w 4875"/>
              <a:gd name="T5" fmla="*/ 2147483646 h 1308"/>
              <a:gd name="T6" fmla="*/ 2147483646 w 4875"/>
              <a:gd name="T7" fmla="*/ 2147483646 h 1308"/>
              <a:gd name="T8" fmla="*/ 2147483646 w 4875"/>
              <a:gd name="T9" fmla="*/ 2147483646 h 1308"/>
              <a:gd name="T10" fmla="*/ 2147483646 w 4875"/>
              <a:gd name="T11" fmla="*/ 2147483646 h 1308"/>
              <a:gd name="T12" fmla="*/ 2147483646 w 4875"/>
              <a:gd name="T13" fmla="*/ 2147483646 h 1308"/>
              <a:gd name="T14" fmla="*/ 2147483646 w 4875"/>
              <a:gd name="T15" fmla="*/ 2147483646 h 1308"/>
              <a:gd name="T16" fmla="*/ 2147483646 w 4875"/>
              <a:gd name="T17" fmla="*/ 2147483646 h 1308"/>
              <a:gd name="T18" fmla="*/ 2147483646 w 4875"/>
              <a:gd name="T19" fmla="*/ 2147483646 h 1308"/>
              <a:gd name="T20" fmla="*/ 2147483646 w 4875"/>
              <a:gd name="T21" fmla="*/ 2147483646 h 1308"/>
              <a:gd name="T22" fmla="*/ 2147483646 w 4875"/>
              <a:gd name="T23" fmla="*/ 2147483646 h 1308"/>
              <a:gd name="T24" fmla="*/ 2147483646 w 4875"/>
              <a:gd name="T25" fmla="*/ 2147483646 h 1308"/>
              <a:gd name="T26" fmla="*/ 2147483646 w 4875"/>
              <a:gd name="T27" fmla="*/ 2147483646 h 1308"/>
              <a:gd name="T28" fmla="*/ 2147483646 w 4875"/>
              <a:gd name="T29" fmla="*/ 2147483646 h 1308"/>
              <a:gd name="T30" fmla="*/ 2147483646 w 4875"/>
              <a:gd name="T31" fmla="*/ 2147483646 h 1308"/>
              <a:gd name="T32" fmla="*/ 2147483646 w 4875"/>
              <a:gd name="T33" fmla="*/ 2147483646 h 1308"/>
              <a:gd name="T34" fmla="*/ 2147483646 w 4875"/>
              <a:gd name="T35" fmla="*/ 2147483646 h 1308"/>
              <a:gd name="T36" fmla="*/ 2147483646 w 4875"/>
              <a:gd name="T37" fmla="*/ 2147483646 h 1308"/>
              <a:gd name="T38" fmla="*/ 2147483646 w 4875"/>
              <a:gd name="T39" fmla="*/ 2147483646 h 1308"/>
              <a:gd name="T40" fmla="*/ 2147483646 w 4875"/>
              <a:gd name="T41" fmla="*/ 2147483646 h 1308"/>
              <a:gd name="T42" fmla="*/ 2147483646 w 4875"/>
              <a:gd name="T43" fmla="*/ 2147483646 h 1308"/>
              <a:gd name="T44" fmla="*/ 2147483646 w 4875"/>
              <a:gd name="T45" fmla="*/ 2147483646 h 1308"/>
              <a:gd name="T46" fmla="*/ 2147483646 w 4875"/>
              <a:gd name="T47" fmla="*/ 2147483646 h 1308"/>
              <a:gd name="T48" fmla="*/ 2147483646 w 4875"/>
              <a:gd name="T49" fmla="*/ 2147483646 h 1308"/>
              <a:gd name="T50" fmla="*/ 2147483646 w 4875"/>
              <a:gd name="T51" fmla="*/ 2147483646 h 1308"/>
              <a:gd name="T52" fmla="*/ 2147483646 w 4875"/>
              <a:gd name="T53" fmla="*/ 2147483646 h 1308"/>
              <a:gd name="T54" fmla="*/ 2147483646 w 4875"/>
              <a:gd name="T55" fmla="*/ 2147483646 h 1308"/>
              <a:gd name="T56" fmla="*/ 2147483646 w 4875"/>
              <a:gd name="T57" fmla="*/ 2147483646 h 1308"/>
              <a:gd name="T58" fmla="*/ 2147483646 w 4875"/>
              <a:gd name="T59" fmla="*/ 2147483646 h 1308"/>
              <a:gd name="T60" fmla="*/ 2147483646 w 4875"/>
              <a:gd name="T61" fmla="*/ 2147483646 h 1308"/>
              <a:gd name="T62" fmla="*/ 2147483646 w 4875"/>
              <a:gd name="T63" fmla="*/ 2147483646 h 1308"/>
              <a:gd name="T64" fmla="*/ 2147483646 w 4875"/>
              <a:gd name="T65" fmla="*/ 2147483646 h 1308"/>
              <a:gd name="T66" fmla="*/ 2147483646 w 4875"/>
              <a:gd name="T67" fmla="*/ 2147483646 h 1308"/>
              <a:gd name="T68" fmla="*/ 2147483646 w 4875"/>
              <a:gd name="T69" fmla="*/ 2147483646 h 1308"/>
              <a:gd name="T70" fmla="*/ 2147483646 w 4875"/>
              <a:gd name="T71" fmla="*/ 2147483646 h 1308"/>
              <a:gd name="T72" fmla="*/ 2147483646 w 4875"/>
              <a:gd name="T73" fmla="*/ 2147483646 h 1308"/>
              <a:gd name="T74" fmla="*/ 2147483646 w 4875"/>
              <a:gd name="T75" fmla="*/ 2147483646 h 1308"/>
              <a:gd name="T76" fmla="*/ 2147483646 w 4875"/>
              <a:gd name="T77" fmla="*/ 2147483646 h 1308"/>
              <a:gd name="T78" fmla="*/ 2147483646 w 4875"/>
              <a:gd name="T79" fmla="*/ 2147483646 h 1308"/>
              <a:gd name="T80" fmla="*/ 2147483646 w 4875"/>
              <a:gd name="T81" fmla="*/ 2147483646 h 1308"/>
              <a:gd name="T82" fmla="*/ 2147483646 w 4875"/>
              <a:gd name="T83" fmla="*/ 2147483646 h 1308"/>
              <a:gd name="T84" fmla="*/ 2147483646 w 4875"/>
              <a:gd name="T85" fmla="*/ 2147483646 h 1308"/>
              <a:gd name="T86" fmla="*/ 2147483646 w 4875"/>
              <a:gd name="T87" fmla="*/ 2147483646 h 1308"/>
              <a:gd name="T88" fmla="*/ 2147483646 w 4875"/>
              <a:gd name="T89" fmla="*/ 2147483646 h 1308"/>
              <a:gd name="T90" fmla="*/ 2147483646 w 4875"/>
              <a:gd name="T91" fmla="*/ 2147483646 h 1308"/>
              <a:gd name="T92" fmla="*/ 2147483646 w 4875"/>
              <a:gd name="T93" fmla="*/ 2147483646 h 1308"/>
              <a:gd name="T94" fmla="*/ 2147483646 w 4875"/>
              <a:gd name="T95" fmla="*/ 2147483646 h 1308"/>
              <a:gd name="T96" fmla="*/ 2147483646 w 4875"/>
              <a:gd name="T97" fmla="*/ 2147483646 h 1308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875"/>
              <a:gd name="T148" fmla="*/ 0 h 1308"/>
              <a:gd name="T149" fmla="*/ 4875 w 4875"/>
              <a:gd name="T150" fmla="*/ 1308 h 1308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875" h="1308">
                <a:moveTo>
                  <a:pt x="3255" y="949"/>
                </a:moveTo>
                <a:cubicBezTo>
                  <a:pt x="3231" y="892"/>
                  <a:pt x="3180" y="851"/>
                  <a:pt x="3136" y="812"/>
                </a:cubicBezTo>
                <a:cubicBezTo>
                  <a:pt x="3101" y="781"/>
                  <a:pt x="3083" y="755"/>
                  <a:pt x="3045" y="730"/>
                </a:cubicBezTo>
                <a:cubicBezTo>
                  <a:pt x="3023" y="695"/>
                  <a:pt x="2984" y="679"/>
                  <a:pt x="2944" y="666"/>
                </a:cubicBezTo>
                <a:cubicBezTo>
                  <a:pt x="2892" y="631"/>
                  <a:pt x="2839" y="625"/>
                  <a:pt x="2780" y="611"/>
                </a:cubicBezTo>
                <a:cubicBezTo>
                  <a:pt x="2721" y="596"/>
                  <a:pt x="2665" y="570"/>
                  <a:pt x="2606" y="556"/>
                </a:cubicBezTo>
                <a:cubicBezTo>
                  <a:pt x="2350" y="559"/>
                  <a:pt x="2241" y="547"/>
                  <a:pt x="2021" y="602"/>
                </a:cubicBezTo>
                <a:cubicBezTo>
                  <a:pt x="1829" y="638"/>
                  <a:pt x="1687" y="765"/>
                  <a:pt x="1628" y="840"/>
                </a:cubicBezTo>
                <a:cubicBezTo>
                  <a:pt x="1625" y="910"/>
                  <a:pt x="1560" y="943"/>
                  <a:pt x="1555" y="1013"/>
                </a:cubicBezTo>
                <a:cubicBezTo>
                  <a:pt x="1549" y="1086"/>
                  <a:pt x="1447" y="1159"/>
                  <a:pt x="1390" y="1196"/>
                </a:cubicBezTo>
                <a:cubicBezTo>
                  <a:pt x="1378" y="1231"/>
                  <a:pt x="1041" y="1276"/>
                  <a:pt x="1006" y="1288"/>
                </a:cubicBezTo>
                <a:cubicBezTo>
                  <a:pt x="805" y="1308"/>
                  <a:pt x="358" y="1288"/>
                  <a:pt x="174" y="1288"/>
                </a:cubicBezTo>
                <a:cubicBezTo>
                  <a:pt x="156" y="1285"/>
                  <a:pt x="137" y="1284"/>
                  <a:pt x="119" y="1278"/>
                </a:cubicBezTo>
                <a:cubicBezTo>
                  <a:pt x="92" y="1269"/>
                  <a:pt x="59" y="1217"/>
                  <a:pt x="28" y="1196"/>
                </a:cubicBezTo>
                <a:cubicBezTo>
                  <a:pt x="0" y="1112"/>
                  <a:pt x="9" y="1078"/>
                  <a:pt x="19" y="968"/>
                </a:cubicBezTo>
                <a:cubicBezTo>
                  <a:pt x="22" y="937"/>
                  <a:pt x="74" y="894"/>
                  <a:pt x="74" y="894"/>
                </a:cubicBezTo>
                <a:cubicBezTo>
                  <a:pt x="87" y="854"/>
                  <a:pt x="118" y="831"/>
                  <a:pt x="147" y="803"/>
                </a:cubicBezTo>
                <a:cubicBezTo>
                  <a:pt x="166" y="747"/>
                  <a:pt x="203" y="722"/>
                  <a:pt x="256" y="702"/>
                </a:cubicBezTo>
                <a:cubicBezTo>
                  <a:pt x="297" y="663"/>
                  <a:pt x="255" y="697"/>
                  <a:pt x="348" y="666"/>
                </a:cubicBezTo>
                <a:cubicBezTo>
                  <a:pt x="428" y="639"/>
                  <a:pt x="502" y="620"/>
                  <a:pt x="586" y="611"/>
                </a:cubicBezTo>
                <a:cubicBezTo>
                  <a:pt x="654" y="588"/>
                  <a:pt x="570" y="614"/>
                  <a:pt x="714" y="593"/>
                </a:cubicBezTo>
                <a:cubicBezTo>
                  <a:pt x="751" y="588"/>
                  <a:pt x="802" y="575"/>
                  <a:pt x="842" y="565"/>
                </a:cubicBezTo>
                <a:cubicBezTo>
                  <a:pt x="878" y="541"/>
                  <a:pt x="919" y="515"/>
                  <a:pt x="960" y="501"/>
                </a:cubicBezTo>
                <a:cubicBezTo>
                  <a:pt x="993" y="470"/>
                  <a:pt x="1072" y="433"/>
                  <a:pt x="1116" y="419"/>
                </a:cubicBezTo>
                <a:cubicBezTo>
                  <a:pt x="1165" y="387"/>
                  <a:pt x="1225" y="373"/>
                  <a:pt x="1280" y="355"/>
                </a:cubicBezTo>
                <a:cubicBezTo>
                  <a:pt x="1313" y="344"/>
                  <a:pt x="1318" y="321"/>
                  <a:pt x="1354" y="309"/>
                </a:cubicBezTo>
                <a:cubicBezTo>
                  <a:pt x="1425" y="238"/>
                  <a:pt x="1341" y="314"/>
                  <a:pt x="1408" y="273"/>
                </a:cubicBezTo>
                <a:cubicBezTo>
                  <a:pt x="1433" y="258"/>
                  <a:pt x="1456" y="231"/>
                  <a:pt x="1482" y="218"/>
                </a:cubicBezTo>
                <a:cubicBezTo>
                  <a:pt x="1499" y="210"/>
                  <a:pt x="1536" y="200"/>
                  <a:pt x="1536" y="200"/>
                </a:cubicBezTo>
                <a:cubicBezTo>
                  <a:pt x="1576" y="160"/>
                  <a:pt x="1537" y="193"/>
                  <a:pt x="1628" y="163"/>
                </a:cubicBezTo>
                <a:cubicBezTo>
                  <a:pt x="1665" y="151"/>
                  <a:pt x="1702" y="139"/>
                  <a:pt x="1738" y="126"/>
                </a:cubicBezTo>
                <a:cubicBezTo>
                  <a:pt x="1758" y="119"/>
                  <a:pt x="1771" y="97"/>
                  <a:pt x="1792" y="90"/>
                </a:cubicBezTo>
                <a:cubicBezTo>
                  <a:pt x="1801" y="87"/>
                  <a:pt x="1811" y="84"/>
                  <a:pt x="1820" y="81"/>
                </a:cubicBezTo>
                <a:cubicBezTo>
                  <a:pt x="1855" y="45"/>
                  <a:pt x="1966" y="44"/>
                  <a:pt x="1966" y="44"/>
                </a:cubicBezTo>
                <a:cubicBezTo>
                  <a:pt x="2103" y="0"/>
                  <a:pt x="2752" y="17"/>
                  <a:pt x="2771" y="17"/>
                </a:cubicBezTo>
                <a:cubicBezTo>
                  <a:pt x="3000" y="32"/>
                  <a:pt x="3123" y="97"/>
                  <a:pt x="3228" y="126"/>
                </a:cubicBezTo>
                <a:cubicBezTo>
                  <a:pt x="3348" y="173"/>
                  <a:pt x="3417" y="253"/>
                  <a:pt x="3493" y="300"/>
                </a:cubicBezTo>
                <a:cubicBezTo>
                  <a:pt x="3526" y="351"/>
                  <a:pt x="3627" y="403"/>
                  <a:pt x="3685" y="410"/>
                </a:cubicBezTo>
                <a:cubicBezTo>
                  <a:pt x="3825" y="455"/>
                  <a:pt x="3919" y="500"/>
                  <a:pt x="3950" y="501"/>
                </a:cubicBezTo>
                <a:cubicBezTo>
                  <a:pt x="4018" y="524"/>
                  <a:pt x="4465" y="648"/>
                  <a:pt x="4535" y="666"/>
                </a:cubicBezTo>
                <a:cubicBezTo>
                  <a:pt x="4643" y="681"/>
                  <a:pt x="4728" y="737"/>
                  <a:pt x="4800" y="776"/>
                </a:cubicBezTo>
                <a:cubicBezTo>
                  <a:pt x="4822" y="820"/>
                  <a:pt x="4866" y="886"/>
                  <a:pt x="4874" y="931"/>
                </a:cubicBezTo>
                <a:cubicBezTo>
                  <a:pt x="4863" y="1001"/>
                  <a:pt x="4875" y="1029"/>
                  <a:pt x="4846" y="1096"/>
                </a:cubicBezTo>
                <a:cubicBezTo>
                  <a:pt x="4813" y="1145"/>
                  <a:pt x="4779" y="1188"/>
                  <a:pt x="4764" y="1224"/>
                </a:cubicBezTo>
                <a:cubicBezTo>
                  <a:pt x="4718" y="1257"/>
                  <a:pt x="4744" y="1293"/>
                  <a:pt x="4572" y="1297"/>
                </a:cubicBezTo>
                <a:cubicBezTo>
                  <a:pt x="4132" y="1287"/>
                  <a:pt x="4113" y="1291"/>
                  <a:pt x="3749" y="1269"/>
                </a:cubicBezTo>
                <a:cubicBezTo>
                  <a:pt x="3702" y="1261"/>
                  <a:pt x="3540" y="1232"/>
                  <a:pt x="3493" y="1224"/>
                </a:cubicBezTo>
                <a:cubicBezTo>
                  <a:pt x="3418" y="1191"/>
                  <a:pt x="3382" y="1157"/>
                  <a:pt x="3347" y="1114"/>
                </a:cubicBezTo>
                <a:lnTo>
                  <a:pt x="3285" y="995"/>
                </a:lnTo>
              </a:path>
            </a:pathLst>
          </a:custGeom>
          <a:solidFill>
            <a:srgbClr val="CCFFFF"/>
          </a:solidFill>
          <a:ln w="28575" cap="rnd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vert="eaVert" wrap="none" lIns="90000" rIns="1890000" anchor="ctr"/>
          <a:lstStyle/>
          <a:p>
            <a:endParaRPr lang="zh-CN" altLang="en-US"/>
          </a:p>
        </p:txBody>
      </p:sp>
      <p:grpSp>
        <p:nvGrpSpPr>
          <p:cNvPr id="68" name="Group 6"/>
          <p:cNvGrpSpPr>
            <a:grpSpLocks/>
          </p:cNvGrpSpPr>
          <p:nvPr/>
        </p:nvGrpSpPr>
        <p:grpSpPr bwMode="auto">
          <a:xfrm>
            <a:off x="990600" y="2868612"/>
            <a:ext cx="7086600" cy="3130550"/>
            <a:chOff x="3060" y="10020"/>
            <a:chExt cx="6300" cy="2964"/>
          </a:xfrm>
        </p:grpSpPr>
        <p:sp>
          <p:nvSpPr>
            <p:cNvPr id="69" name="Text Box 7"/>
            <p:cNvSpPr txBox="1">
              <a:spLocks noChangeArrowheads="1"/>
            </p:cNvSpPr>
            <p:nvPr/>
          </p:nvSpPr>
          <p:spPr bwMode="auto">
            <a:xfrm>
              <a:off x="5400" y="10020"/>
              <a:ext cx="1620" cy="46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1" lang="zh-CN" altLang="en-US" sz="200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主生产计划</a:t>
              </a:r>
            </a:p>
          </p:txBody>
        </p:sp>
        <p:sp>
          <p:nvSpPr>
            <p:cNvPr id="70" name="Text Box 8"/>
            <p:cNvSpPr txBox="1">
              <a:spLocks noChangeArrowheads="1"/>
            </p:cNvSpPr>
            <p:nvPr/>
          </p:nvSpPr>
          <p:spPr bwMode="auto">
            <a:xfrm>
              <a:off x="5400" y="11113"/>
              <a:ext cx="1620" cy="467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1" lang="zh-CN" altLang="en-US" sz="2000" b="1">
                  <a:solidFill>
                    <a:srgbClr val="CC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18" charset="0"/>
                </a:rPr>
                <a:t>物料需求计划</a:t>
              </a:r>
            </a:p>
          </p:txBody>
        </p:sp>
        <p:sp>
          <p:nvSpPr>
            <p:cNvPr id="71" name="Text Box 9"/>
            <p:cNvSpPr txBox="1">
              <a:spLocks noChangeArrowheads="1"/>
            </p:cNvSpPr>
            <p:nvPr/>
          </p:nvSpPr>
          <p:spPr bwMode="auto">
            <a:xfrm>
              <a:off x="7740" y="11113"/>
              <a:ext cx="1620" cy="46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1" lang="zh-CN" altLang="en-US" sz="200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产品结构信息</a:t>
              </a:r>
            </a:p>
          </p:txBody>
        </p:sp>
        <p:sp>
          <p:nvSpPr>
            <p:cNvPr id="72" name="Text Box 10"/>
            <p:cNvSpPr txBox="1">
              <a:spLocks noChangeArrowheads="1"/>
            </p:cNvSpPr>
            <p:nvPr/>
          </p:nvSpPr>
          <p:spPr bwMode="auto">
            <a:xfrm>
              <a:off x="3060" y="11113"/>
              <a:ext cx="1620" cy="46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1" lang="zh-CN" altLang="en-US" sz="200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物品库存信息</a:t>
              </a:r>
            </a:p>
          </p:txBody>
        </p:sp>
        <p:sp>
          <p:nvSpPr>
            <p:cNvPr id="73" name="Text Box 11"/>
            <p:cNvSpPr txBox="1">
              <a:spLocks noChangeArrowheads="1"/>
            </p:cNvSpPr>
            <p:nvPr/>
          </p:nvSpPr>
          <p:spPr bwMode="auto">
            <a:xfrm>
              <a:off x="4065" y="12517"/>
              <a:ext cx="1620" cy="46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1" lang="zh-CN" altLang="en-US" sz="200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物料采购计划</a:t>
              </a:r>
            </a:p>
          </p:txBody>
        </p:sp>
        <p:sp>
          <p:nvSpPr>
            <p:cNvPr id="74" name="Text Box 12"/>
            <p:cNvSpPr txBox="1">
              <a:spLocks noChangeArrowheads="1"/>
            </p:cNvSpPr>
            <p:nvPr/>
          </p:nvSpPr>
          <p:spPr bwMode="auto">
            <a:xfrm>
              <a:off x="6735" y="12517"/>
              <a:ext cx="1620" cy="467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defRPr/>
              </a:pPr>
              <a:r>
                <a:rPr kumimoji="1" lang="zh-CN" altLang="en-US" sz="2000">
                  <a:effectLst>
                    <a:outerShdw blurRad="38100" dist="38100" dir="2700000" algn="tl">
                      <a:srgbClr val="FFFFFF"/>
                    </a:outerShdw>
                  </a:effectLst>
                  <a:latin typeface="Times New Roman" pitchFamily="18" charset="0"/>
                </a:rPr>
                <a:t>安排加工计划</a:t>
              </a:r>
            </a:p>
          </p:txBody>
        </p:sp>
        <p:sp>
          <p:nvSpPr>
            <p:cNvPr id="75" name="Line 13"/>
            <p:cNvSpPr>
              <a:spLocks noChangeShapeType="1"/>
            </p:cNvSpPr>
            <p:nvPr/>
          </p:nvSpPr>
          <p:spPr bwMode="auto">
            <a:xfrm>
              <a:off x="6210" y="10488"/>
              <a:ext cx="0" cy="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14"/>
            <p:cNvSpPr>
              <a:spLocks noChangeShapeType="1"/>
            </p:cNvSpPr>
            <p:nvPr/>
          </p:nvSpPr>
          <p:spPr bwMode="auto">
            <a:xfrm>
              <a:off x="4680" y="1133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15"/>
            <p:cNvSpPr>
              <a:spLocks noChangeShapeType="1"/>
            </p:cNvSpPr>
            <p:nvPr/>
          </p:nvSpPr>
          <p:spPr bwMode="auto">
            <a:xfrm flipH="1">
              <a:off x="7020" y="1133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8" name="Group 16"/>
            <p:cNvGrpSpPr>
              <a:grpSpLocks/>
            </p:cNvGrpSpPr>
            <p:nvPr/>
          </p:nvGrpSpPr>
          <p:grpSpPr bwMode="auto">
            <a:xfrm>
              <a:off x="4860" y="11580"/>
              <a:ext cx="2700" cy="936"/>
              <a:chOff x="4860" y="11580"/>
              <a:chExt cx="2700" cy="936"/>
            </a:xfrm>
          </p:grpSpPr>
          <p:sp>
            <p:nvSpPr>
              <p:cNvPr id="79" name="Line 17"/>
              <p:cNvSpPr>
                <a:spLocks noChangeShapeType="1"/>
              </p:cNvSpPr>
              <p:nvPr/>
            </p:nvSpPr>
            <p:spPr bwMode="auto">
              <a:xfrm>
                <a:off x="6210" y="11580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0" name="Group 18"/>
              <p:cNvGrpSpPr>
                <a:grpSpLocks/>
              </p:cNvGrpSpPr>
              <p:nvPr/>
            </p:nvGrpSpPr>
            <p:grpSpPr bwMode="auto">
              <a:xfrm>
                <a:off x="4860" y="12048"/>
                <a:ext cx="2700" cy="468"/>
                <a:chOff x="4860" y="12048"/>
                <a:chExt cx="2700" cy="468"/>
              </a:xfrm>
            </p:grpSpPr>
            <p:sp>
              <p:nvSpPr>
                <p:cNvPr id="81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860" y="12048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" name="Line 20"/>
                <p:cNvSpPr>
                  <a:spLocks noChangeShapeType="1"/>
                </p:cNvSpPr>
                <p:nvPr/>
              </p:nvSpPr>
              <p:spPr bwMode="auto">
                <a:xfrm>
                  <a:off x="4860" y="12048"/>
                  <a:ext cx="270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" name="Line 21"/>
                <p:cNvSpPr>
                  <a:spLocks noChangeShapeType="1"/>
                </p:cNvSpPr>
                <p:nvPr/>
              </p:nvSpPr>
              <p:spPr bwMode="auto">
                <a:xfrm>
                  <a:off x="7560" y="12048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84" name="AutoShape 25"/>
          <p:cNvSpPr>
            <a:spLocks noChangeArrowheads="1"/>
          </p:cNvSpPr>
          <p:nvPr/>
        </p:nvSpPr>
        <p:spPr bwMode="auto">
          <a:xfrm>
            <a:off x="7467600" y="3027362"/>
            <a:ext cx="1143000" cy="457200"/>
          </a:xfrm>
          <a:prstGeom prst="wedgeRoundRectCallout">
            <a:avLst>
              <a:gd name="adj1" fmla="val -68611"/>
              <a:gd name="adj2" fmla="val 95833"/>
              <a:gd name="adj3" fmla="val 16667"/>
            </a:avLst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ap="rnd" algn="ctr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0000" rIns="900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/>
              <a:t>输入</a:t>
            </a:r>
          </a:p>
        </p:txBody>
      </p:sp>
      <p:sp>
        <p:nvSpPr>
          <p:cNvPr id="85" name="AutoShape 27"/>
          <p:cNvSpPr>
            <a:spLocks noChangeArrowheads="1"/>
          </p:cNvSpPr>
          <p:nvPr/>
        </p:nvSpPr>
        <p:spPr bwMode="auto">
          <a:xfrm>
            <a:off x="7543800" y="5999162"/>
            <a:ext cx="1143000" cy="457200"/>
          </a:xfrm>
          <a:prstGeom prst="wedgeRoundRectCallout">
            <a:avLst>
              <a:gd name="adj1" fmla="val -79722"/>
              <a:gd name="adj2" fmla="val -117708"/>
              <a:gd name="adj3" fmla="val 16667"/>
            </a:avLst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ap="rnd" algn="ctr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0000" rIns="900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/>
              <a:t>输出</a:t>
            </a:r>
          </a:p>
        </p:txBody>
      </p:sp>
    </p:spTree>
    <p:extLst>
      <p:ext uri="{BB962C8B-B14F-4D97-AF65-F5344CB8AC3E}">
        <p14:creationId xmlns:p14="http://schemas.microsoft.com/office/powerpoint/2010/main" val="3688607453"/>
      </p:ext>
    </p:extLst>
  </p:cSld>
  <p:clrMapOvr>
    <a:masterClrMapping/>
  </p:clrMapOvr>
  <p:transition>
    <p:strips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02060"/>
                </a:solidFill>
                <a:ea typeface="宋体" charset="-122"/>
              </a:rPr>
              <a:t>5- </a:t>
            </a:r>
            <a:r>
              <a:rPr lang="zh-CN" altLang="en-US" sz="2800" b="1" dirty="0">
                <a:solidFill>
                  <a:srgbClr val="002060"/>
                </a:solidFill>
                <a:ea typeface="宋体" charset="-122"/>
              </a:rPr>
              <a:t>物料需求计划</a:t>
            </a:r>
            <a:endParaRPr lang="en-US" altLang="zh-CN" sz="2800" b="1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6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7239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策略因素：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采购</a:t>
            </a:r>
            <a:r>
              <a:rPr lang="en-US" altLang="zh-CN" sz="2400" dirty="0">
                <a:latin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</a:rPr>
              <a:t>制造标识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提前期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安全库存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损耗率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批量政策</a:t>
            </a:r>
            <a:r>
              <a:rPr lang="en-US" altLang="zh-CN" sz="2400" dirty="0">
                <a:latin typeface="Times New Roman" panose="02020603050405020304" pitchFamily="18" charset="0"/>
              </a:rPr>
              <a:t>: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直接批量法</a:t>
            </a:r>
            <a:r>
              <a:rPr lang="zh-CN" altLang="en-US" sz="2000" dirty="0">
                <a:latin typeface="Times New Roman" panose="02020603050405020304" pitchFamily="18" charset="0"/>
              </a:rPr>
              <a:t>： </a:t>
            </a:r>
            <a:r>
              <a:rPr lang="en-US" altLang="zh-CN" sz="2000" dirty="0">
                <a:latin typeface="Times New Roman" panose="02020603050405020304" pitchFamily="18" charset="0"/>
              </a:rPr>
              <a:t>Lot for lot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固定批量法</a:t>
            </a:r>
            <a:r>
              <a:rPr lang="zh-CN" altLang="en-US" sz="2000" dirty="0">
                <a:latin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</a:rPr>
              <a:t>Fixed Quantity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固定周期法</a:t>
            </a:r>
            <a:r>
              <a:rPr lang="zh-CN" altLang="en-US" sz="2000" dirty="0">
                <a:latin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</a:rPr>
              <a:t>Fixed Time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b="1" dirty="0">
                <a:solidFill>
                  <a:srgbClr val="003366"/>
                </a:solidFill>
                <a:latin typeface="Times New Roman" panose="02020603050405020304" pitchFamily="18" charset="0"/>
              </a:rPr>
              <a:t>经济批量法</a:t>
            </a:r>
            <a:r>
              <a:rPr lang="zh-CN" altLang="en-US" sz="2000" dirty="0">
                <a:latin typeface="Times New Roman" panose="02020603050405020304" pitchFamily="18" charset="0"/>
              </a:rPr>
              <a:t>：</a:t>
            </a:r>
            <a:r>
              <a:rPr lang="en-US" altLang="zh-CN" sz="2000" dirty="0">
                <a:latin typeface="Times New Roman" panose="02020603050405020304" pitchFamily="18" charset="0"/>
              </a:rPr>
              <a:t>Economic Order Quantity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655864"/>
      </p:ext>
    </p:extLst>
  </p:cSld>
  <p:clrMapOvr>
    <a:masterClrMapping/>
  </p:clrMapOvr>
  <p:transition>
    <p:strips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5-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物料需求计划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1219200"/>
            <a:ext cx="82296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基本数量：</a:t>
            </a: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毛需求量（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</a:rPr>
              <a:t>Gross Requirement</a:t>
            </a: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）：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>
                <a:latin typeface="Times New Roman" panose="02020603050405020304" pitchFamily="18" charset="0"/>
              </a:rPr>
              <a:t>毛需求量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zh-CN" altLang="en-US" dirty="0">
                <a:latin typeface="Times New Roman" panose="02020603050405020304" pitchFamily="18" charset="0"/>
              </a:rPr>
              <a:t>相关需求量 </a:t>
            </a:r>
            <a:r>
              <a:rPr lang="en-US" altLang="zh-CN" dirty="0">
                <a:latin typeface="Times New Roman" panose="02020603050405020304" pitchFamily="18" charset="0"/>
              </a:rPr>
              <a:t>+ </a:t>
            </a:r>
            <a:r>
              <a:rPr lang="zh-CN" altLang="en-US" dirty="0">
                <a:latin typeface="Times New Roman" panose="02020603050405020304" pitchFamily="18" charset="0"/>
              </a:rPr>
              <a:t>独立需求量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>
                <a:latin typeface="Times New Roman" panose="02020603050405020304" pitchFamily="18" charset="0"/>
              </a:rPr>
              <a:t>相关需求量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zh-CN" altLang="en-US" dirty="0">
                <a:latin typeface="Times New Roman" panose="02020603050405020304" pitchFamily="18" charset="0"/>
              </a:rPr>
              <a:t>母件需求量 * 本级用量因子</a:t>
            </a:r>
          </a:p>
          <a:p>
            <a:pPr lvl="1" eaLnBrk="1" hangingPunct="1">
              <a:lnSpc>
                <a:spcPct val="150000"/>
              </a:lnSpc>
              <a:spcBef>
                <a:spcPct val="3000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已分配量（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</a:rPr>
              <a:t>Allocations</a:t>
            </a: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</a:rPr>
              <a:t>：尚保存在仓库中但已经被分配掉的物料数量。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现有库存量（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</a:rPr>
              <a:t>Projected on Hand</a:t>
            </a: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）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计划接收量（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</a:rPr>
              <a:t>Scheduled Receipts</a:t>
            </a: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）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可用库存量（ 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</a:rPr>
              <a:t>Projected Available Balance</a:t>
            </a: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）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>
                <a:latin typeface="Times New Roman" panose="02020603050405020304" pitchFamily="18" charset="0"/>
              </a:rPr>
              <a:t>可用库存量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zh-CN" altLang="en-US" dirty="0">
                <a:latin typeface="Times New Roman" panose="02020603050405020304" pitchFamily="18" charset="0"/>
              </a:rPr>
              <a:t>上期末可用库存量 </a:t>
            </a:r>
            <a:r>
              <a:rPr lang="en-US" altLang="zh-CN" dirty="0">
                <a:latin typeface="Times New Roman" panose="02020603050405020304" pitchFamily="18" charset="0"/>
              </a:rPr>
              <a:t>+ </a:t>
            </a:r>
            <a:r>
              <a:rPr lang="zh-CN" altLang="en-US" dirty="0">
                <a:latin typeface="Times New Roman" panose="02020603050405020304" pitchFamily="18" charset="0"/>
              </a:rPr>
              <a:t>计划接收量 </a:t>
            </a:r>
            <a:r>
              <a:rPr lang="en-US" altLang="zh-CN" dirty="0">
                <a:latin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</a:rPr>
              <a:t>毛需求量</a:t>
            </a:r>
          </a:p>
          <a:p>
            <a:pPr lvl="1" eaLnBrk="1" hangingPunct="1">
              <a:lnSpc>
                <a:spcPct val="120000"/>
              </a:lnSpc>
              <a:spcBef>
                <a:spcPct val="5000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净需求量（</a:t>
            </a:r>
            <a:r>
              <a:rPr lang="en-US" altLang="zh-CN" b="1" dirty="0">
                <a:solidFill>
                  <a:srgbClr val="003366"/>
                </a:solidFill>
                <a:latin typeface="Times New Roman" panose="02020603050405020304" pitchFamily="18" charset="0"/>
              </a:rPr>
              <a:t>Net Requirement</a:t>
            </a:r>
            <a:r>
              <a:rPr lang="zh-CN" altLang="en-US" b="1" dirty="0">
                <a:solidFill>
                  <a:srgbClr val="003366"/>
                </a:solidFill>
                <a:latin typeface="Times New Roman" panose="02020603050405020304" pitchFamily="18" charset="0"/>
              </a:rPr>
              <a:t>）：</a:t>
            </a:r>
          </a:p>
          <a:p>
            <a:pPr lvl="2" eaLnBrk="1" hangingPunct="1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>
                <a:latin typeface="Times New Roman" panose="02020603050405020304" pitchFamily="18" charset="0"/>
              </a:rPr>
              <a:t>净需求量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zh-CN" altLang="en-US" dirty="0">
                <a:latin typeface="Times New Roman" panose="02020603050405020304" pitchFamily="18" charset="0"/>
              </a:rPr>
              <a:t>毛需求量 </a:t>
            </a:r>
            <a:r>
              <a:rPr lang="en-US" altLang="zh-CN" dirty="0">
                <a:latin typeface="Times New Roman" panose="02020603050405020304" pitchFamily="18" charset="0"/>
              </a:rPr>
              <a:t>+ </a:t>
            </a:r>
            <a:r>
              <a:rPr lang="zh-CN" altLang="en-US" dirty="0">
                <a:latin typeface="Times New Roman" panose="02020603050405020304" pitchFamily="18" charset="0"/>
              </a:rPr>
              <a:t>安全库存量 </a:t>
            </a:r>
            <a:r>
              <a:rPr lang="en-US" altLang="zh-CN" dirty="0">
                <a:latin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</a:rPr>
              <a:t>计划接收量 </a:t>
            </a:r>
            <a:r>
              <a:rPr lang="en-US" altLang="zh-CN" dirty="0">
                <a:latin typeface="Times New Roman" panose="02020603050405020304" pitchFamily="18" charset="0"/>
              </a:rPr>
              <a:t>– </a:t>
            </a:r>
            <a:r>
              <a:rPr lang="zh-CN" altLang="en-US" dirty="0">
                <a:latin typeface="Times New Roman" panose="02020603050405020304" pitchFamily="18" charset="0"/>
              </a:rPr>
              <a:t>上期末可用库存量</a:t>
            </a:r>
          </a:p>
        </p:txBody>
      </p:sp>
    </p:spTree>
    <p:extLst>
      <p:ext uri="{BB962C8B-B14F-4D97-AF65-F5344CB8AC3E}">
        <p14:creationId xmlns:p14="http://schemas.microsoft.com/office/powerpoint/2010/main" val="2027834042"/>
      </p:ext>
    </p:extLst>
  </p:cSld>
  <p:clrMapOvr>
    <a:masterClrMapping/>
  </p:clrMapOvr>
  <p:transition>
    <p:strips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5-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物料需求计划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graphicFrame>
        <p:nvGraphicFramePr>
          <p:cNvPr id="8" name="Object 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381000" y="2590800"/>
          <a:ext cx="8399463" cy="264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Visio" r:id="rId4" imgW="6730594" imgH="1942795" progId="Visio.Drawing.11">
                  <p:embed/>
                </p:oleObj>
              </mc:Choice>
              <mc:Fallback>
                <p:oleObj name="Visio" r:id="rId4" imgW="6730594" imgH="1942795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590800"/>
                        <a:ext cx="8399463" cy="264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cap="rnd" cmpd="sng" algn="ctr">
                            <a:solidFill>
                              <a:srgbClr val="003399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12"/>
          <p:cNvSpPr>
            <a:spLocks noChangeArrowheads="1"/>
          </p:cNvSpPr>
          <p:nvPr/>
        </p:nvSpPr>
        <p:spPr bwMode="auto">
          <a:xfrm>
            <a:off x="4152900" y="4343400"/>
            <a:ext cx="1143000" cy="457200"/>
          </a:xfrm>
          <a:prstGeom prst="wedgeRoundRectCallout">
            <a:avLst>
              <a:gd name="adj1" fmla="val -32361"/>
              <a:gd name="adj2" fmla="val -2431"/>
              <a:gd name="adj3" fmla="val 16667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ap="rnd" algn="ctr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0000" rIns="900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/>
              <a:t>MRP</a:t>
            </a:r>
          </a:p>
        </p:txBody>
      </p:sp>
      <p:sp>
        <p:nvSpPr>
          <p:cNvPr id="10" name="AutoShape 13"/>
          <p:cNvSpPr>
            <a:spLocks noChangeArrowheads="1"/>
          </p:cNvSpPr>
          <p:nvPr/>
        </p:nvSpPr>
        <p:spPr bwMode="auto">
          <a:xfrm>
            <a:off x="4152900" y="2590800"/>
            <a:ext cx="1143000" cy="457200"/>
          </a:xfrm>
          <a:prstGeom prst="wedgeRoundRectCallout">
            <a:avLst>
              <a:gd name="adj1" fmla="val -34583"/>
              <a:gd name="adj2" fmla="val -47917"/>
              <a:gd name="adj3" fmla="val 16667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cap="rnd" algn="ctr">
                <a:solidFill>
                  <a:srgbClr val="000000"/>
                </a:solidFill>
                <a:prstDash val="sysDot"/>
                <a:miter lim="800000"/>
                <a:headEnd/>
                <a:tailEnd/>
              </a14:hiddenLine>
            </a:ext>
          </a:extLst>
        </p:spPr>
        <p:txBody>
          <a:bodyPr lIns="90000" rIns="90000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/>
              <a:t>MPS 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7239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注意低层码的作用：</a:t>
            </a:r>
          </a:p>
        </p:txBody>
      </p:sp>
      <p:pic>
        <p:nvPicPr>
          <p:cNvPr id="5" name="Picture 6" descr="MRP运算表-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0"/>
            <a:ext cx="8001000" cy="69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9580953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6-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能力需求计划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1143000"/>
            <a:ext cx="3586238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能力需求计划的层次：</a:t>
            </a:r>
          </a:p>
        </p:txBody>
      </p:sp>
      <p:graphicFrame>
        <p:nvGraphicFramePr>
          <p:cNvPr id="5" name="Group 231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165532516"/>
              </p:ext>
            </p:extLst>
          </p:nvPr>
        </p:nvGraphicFramePr>
        <p:xfrm>
          <a:off x="419100" y="1828800"/>
          <a:ext cx="8305800" cy="2093913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能力计划名称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对应的生产计划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计划展望期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计划周期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计划频度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使用计算机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资源需求计划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生产规划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长期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季、月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每月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可用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粗能力需求计划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主生产计划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中长期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月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需要时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细能力需求计划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物料需求计划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中期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月、周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每周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生产能力控制</a:t>
                      </a:r>
                    </a:p>
                  </a:txBody>
                  <a:tcPr marL="90000" marR="90000" marT="46800" marB="46800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车间作业管理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短期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周、日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每周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不用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304800" y="4591003"/>
            <a:ext cx="32768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工作中心能力核算：</a:t>
            </a:r>
          </a:p>
        </p:txBody>
      </p:sp>
      <p:sp>
        <p:nvSpPr>
          <p:cNvPr id="3" name="矩形 2"/>
          <p:cNvSpPr/>
          <p:nvPr/>
        </p:nvSpPr>
        <p:spPr>
          <a:xfrm>
            <a:off x="172452" y="5246023"/>
            <a:ext cx="820954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lnSpc>
                <a:spcPct val="120000"/>
              </a:lnSpc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b="1" dirty="0">
                <a:solidFill>
                  <a:srgbClr val="003366"/>
                </a:solidFill>
              </a:rPr>
              <a:t>工作中心的定额能力</a:t>
            </a:r>
            <a:r>
              <a:rPr lang="zh-CN" altLang="en-US" dirty="0">
                <a:solidFill>
                  <a:srgbClr val="003366"/>
                </a:solidFill>
              </a:rPr>
              <a:t> </a:t>
            </a:r>
            <a:r>
              <a:rPr lang="en-US" altLang="zh-CN" dirty="0">
                <a:solidFill>
                  <a:srgbClr val="003366"/>
                </a:solidFill>
              </a:rPr>
              <a:t>= </a:t>
            </a:r>
            <a:r>
              <a:rPr lang="zh-CN" altLang="en-US" dirty="0">
                <a:solidFill>
                  <a:srgbClr val="003366"/>
                </a:solidFill>
              </a:rPr>
              <a:t>可用机器数或人数 * 每班工时 * 每天开班数 * 每周工作天数 * 利用率 * 效率</a:t>
            </a:r>
          </a:p>
        </p:txBody>
      </p:sp>
    </p:spTree>
    <p:extLst>
      <p:ext uri="{BB962C8B-B14F-4D97-AF65-F5344CB8AC3E}">
        <p14:creationId xmlns:p14="http://schemas.microsoft.com/office/powerpoint/2010/main" val="1640450304"/>
      </p:ext>
    </p:extLst>
  </p:cSld>
  <p:clrMapOvr>
    <a:masterClrMapping/>
  </p:clrMapOvr>
  <p:transition>
    <p:strips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6-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能力需求计划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838200"/>
            <a:ext cx="4475905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Rough Cut Capacity Plan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15240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800" dirty="0"/>
              <a:t>1) </a:t>
            </a:r>
            <a:r>
              <a:rPr lang="zh-CN" altLang="en-US" sz="2800" dirty="0"/>
              <a:t>资源清单法：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/>
              <a:t>编制过程：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1</a:t>
            </a:r>
            <a:r>
              <a:rPr lang="zh-CN" altLang="en-US" sz="2000" dirty="0"/>
              <a:t>、定义关键资源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2</a:t>
            </a:r>
            <a:r>
              <a:rPr lang="zh-CN" altLang="en-US" sz="2000" dirty="0"/>
              <a:t>、从</a:t>
            </a:r>
            <a:r>
              <a:rPr lang="en-US" altLang="zh-CN" sz="2000" dirty="0"/>
              <a:t>MPS</a:t>
            </a:r>
            <a:r>
              <a:rPr lang="zh-CN" altLang="en-US" sz="2000" dirty="0"/>
              <a:t>中的每种产品系列中选出将要进行</a:t>
            </a:r>
            <a:r>
              <a:rPr lang="en-US" altLang="zh-CN" sz="2000" dirty="0"/>
              <a:t>RCCP</a:t>
            </a:r>
            <a:r>
              <a:rPr lang="zh-CN" altLang="en-US" sz="2000" dirty="0"/>
              <a:t>的代表产品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3</a:t>
            </a:r>
            <a:r>
              <a:rPr lang="zh-CN" altLang="en-US" sz="2000" dirty="0"/>
              <a:t>、对每个代表产品确定生产单位产品对关键资源的需求量，确定依据包括</a:t>
            </a:r>
            <a:r>
              <a:rPr lang="en-US" altLang="zh-CN" sz="2000" dirty="0"/>
              <a:t>MPS</a:t>
            </a:r>
            <a:r>
              <a:rPr lang="zh-CN" altLang="en-US" sz="2000" dirty="0"/>
              <a:t>、</a:t>
            </a:r>
            <a:r>
              <a:rPr lang="en-US" altLang="zh-CN" sz="2000" dirty="0"/>
              <a:t>BOM</a:t>
            </a:r>
            <a:r>
              <a:rPr lang="zh-CN" altLang="en-US" sz="2000" dirty="0"/>
              <a:t>、工艺路线、定额工时以及在</a:t>
            </a:r>
            <a:r>
              <a:rPr lang="en-US" altLang="zh-CN" sz="2000" dirty="0"/>
              <a:t>BOM</a:t>
            </a:r>
            <a:r>
              <a:rPr lang="zh-CN" altLang="en-US" sz="2000" dirty="0"/>
              <a:t>中每个零件的平均批量等。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4</a:t>
            </a:r>
            <a:r>
              <a:rPr lang="zh-CN" altLang="en-US" sz="2000" dirty="0"/>
              <a:t>、对每个产品系列，确定其</a:t>
            </a:r>
            <a:r>
              <a:rPr lang="en-US" altLang="zh-CN" sz="2000" dirty="0"/>
              <a:t>MPS</a:t>
            </a:r>
            <a:r>
              <a:rPr lang="zh-CN" altLang="en-US" sz="2000" dirty="0"/>
              <a:t>的计划产量。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5</a:t>
            </a:r>
            <a:r>
              <a:rPr lang="zh-CN" altLang="en-US" sz="2000" dirty="0"/>
              <a:t>、将</a:t>
            </a:r>
            <a:r>
              <a:rPr lang="en-US" altLang="zh-CN" sz="2000" dirty="0"/>
              <a:t>MPS</a:t>
            </a:r>
            <a:r>
              <a:rPr lang="zh-CN" altLang="en-US" sz="2000" dirty="0"/>
              <a:t>中的计划产量与能力清单中的资源需求量相乘。</a:t>
            </a:r>
          </a:p>
          <a:p>
            <a:pPr lvl="2" eaLnBrk="1" hangingPunct="1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dirty="0"/>
              <a:t>6</a:t>
            </a:r>
            <a:r>
              <a:rPr lang="zh-CN" altLang="en-US" sz="2000" dirty="0"/>
              <a:t>、将所有产品系列所需要的能力加起来，得到对应计划的总能力需求。</a:t>
            </a:r>
          </a:p>
        </p:txBody>
      </p:sp>
    </p:spTree>
    <p:extLst>
      <p:ext uri="{BB962C8B-B14F-4D97-AF65-F5344CB8AC3E}">
        <p14:creationId xmlns:p14="http://schemas.microsoft.com/office/powerpoint/2010/main" val="1095733224"/>
      </p:ext>
    </p:extLst>
  </p:cSld>
  <p:clrMapOvr>
    <a:masterClrMapping/>
  </p:clrMapOvr>
  <p:transition>
    <p:strips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6-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能力需求计划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838200"/>
            <a:ext cx="6950942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粗能力需求计划（</a:t>
            </a:r>
            <a:r>
              <a:rPr lang="en-US" altLang="zh-CN" sz="2400" b="1" dirty="0">
                <a:solidFill>
                  <a:srgbClr val="FF0000"/>
                </a:solidFill>
              </a:rPr>
              <a:t>Rough Cut Capacity Plan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371600"/>
            <a:ext cx="8382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800" dirty="0">
                <a:latin typeface="Times New Roman" panose="02020603050405020304" pitchFamily="18" charset="0"/>
              </a:rPr>
              <a:t>2) </a:t>
            </a:r>
            <a:r>
              <a:rPr lang="zh-CN" altLang="en-US" sz="2800" dirty="0">
                <a:latin typeface="Times New Roman" panose="02020603050405020304" pitchFamily="18" charset="0"/>
              </a:rPr>
              <a:t>分时间周期的资源清单法：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把对资源能力的需求按时间周期分配，将各种资源需求分配在对应的一段周期内。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b="1" dirty="0">
                <a:latin typeface="Times New Roman" panose="02020603050405020304" pitchFamily="18" charset="0"/>
              </a:rPr>
              <a:t>方法的关键问题：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>
                <a:latin typeface="Times New Roman" panose="02020603050405020304" pitchFamily="18" charset="0"/>
              </a:rPr>
              <a:t>画出某类代表产品的工序网络图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>
                <a:latin typeface="Times New Roman" panose="02020603050405020304" pitchFamily="18" charset="0"/>
              </a:rPr>
              <a:t>计算该产品的分时间周期的能力清单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000" dirty="0">
                <a:latin typeface="Times New Roman" panose="02020603050405020304" pitchFamily="18" charset="0"/>
              </a:rPr>
              <a:t>根据主生产计划和每个代表产品的能力清单，求出分阶段的能力计划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 dirty="0">
                <a:latin typeface="Times New Roman" panose="02020603050405020304" pitchFamily="18" charset="0"/>
              </a:rPr>
              <a:t>方法中的时间周期与主生产计划对应，如果这个周期是周，那么主生产计划也按周给出。</a:t>
            </a:r>
          </a:p>
        </p:txBody>
      </p:sp>
    </p:spTree>
    <p:extLst>
      <p:ext uri="{BB962C8B-B14F-4D97-AF65-F5344CB8AC3E}">
        <p14:creationId xmlns:p14="http://schemas.microsoft.com/office/powerpoint/2010/main" val="989998719"/>
      </p:ext>
    </p:extLst>
  </p:cSld>
  <p:clrMapOvr>
    <a:masterClrMapping/>
  </p:clrMapOvr>
  <p:transition>
    <p:strips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6-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能力需求计划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838200"/>
            <a:ext cx="6950942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粗能力需求计划（</a:t>
            </a:r>
            <a:r>
              <a:rPr lang="en-US" altLang="zh-CN" sz="2400" b="1" dirty="0">
                <a:solidFill>
                  <a:srgbClr val="FF0000"/>
                </a:solidFill>
              </a:rPr>
              <a:t>Rough Cut Capacity Plan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" y="1371600"/>
            <a:ext cx="8915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800">
                <a:latin typeface="Times New Roman" panose="02020603050405020304" pitchFamily="18" charset="0"/>
              </a:rPr>
              <a:t>分时间周期的资源清单法</a:t>
            </a:r>
            <a:r>
              <a:rPr lang="en-US" altLang="zh-CN" sz="2800">
                <a:latin typeface="Times New Roman" panose="02020603050405020304" pitchFamily="18" charset="0"/>
              </a:rPr>
              <a:t>——</a:t>
            </a:r>
            <a:r>
              <a:rPr lang="zh-CN" altLang="en-US" sz="2800">
                <a:latin typeface="Times New Roman" panose="02020603050405020304" pitchFamily="18" charset="0"/>
              </a:rPr>
              <a:t>示例：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sz="2400">
                <a:latin typeface="Times New Roman" panose="02020603050405020304" pitchFamily="18" charset="0"/>
              </a:rPr>
              <a:t>产品</a:t>
            </a:r>
            <a:r>
              <a:rPr lang="en-US" altLang="zh-CN" sz="2400">
                <a:latin typeface="Times New Roman" panose="02020603050405020304" pitchFamily="18" charset="0"/>
              </a:rPr>
              <a:t>A</a:t>
            </a:r>
            <a:r>
              <a:rPr lang="zh-CN" altLang="en-US" sz="2400">
                <a:latin typeface="Times New Roman" panose="02020603050405020304" pitchFamily="18" charset="0"/>
              </a:rPr>
              <a:t>的分时间周期资源清单</a:t>
            </a:r>
            <a:r>
              <a:rPr lang="en-US" altLang="zh-CN" sz="2400">
                <a:latin typeface="Times New Roman" panose="02020603050405020304" pitchFamily="18" charset="0"/>
              </a:rPr>
              <a:t>(RT-</a:t>
            </a:r>
            <a:r>
              <a:rPr lang="zh-CN" altLang="en-US" sz="2400">
                <a:latin typeface="Times New Roman" panose="02020603050405020304" pitchFamily="18" charset="0"/>
              </a:rPr>
              <a:t>加工时间；</a:t>
            </a:r>
            <a:r>
              <a:rPr lang="en-US" altLang="zh-CN" sz="2400">
                <a:latin typeface="Times New Roman" panose="02020603050405020304" pitchFamily="18" charset="0"/>
              </a:rPr>
              <a:t>ST-</a:t>
            </a:r>
            <a:r>
              <a:rPr lang="zh-CN" altLang="en-US" sz="2400">
                <a:latin typeface="Times New Roman" panose="02020603050405020304" pitchFamily="18" charset="0"/>
              </a:rPr>
              <a:t>准备时间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8" name="Group 118"/>
          <p:cNvGraphicFramePr>
            <a:graphicFrameLocks noGrp="1"/>
          </p:cNvGraphicFramePr>
          <p:nvPr/>
        </p:nvGraphicFramePr>
        <p:xfrm>
          <a:off x="119063" y="2854325"/>
          <a:ext cx="8915400" cy="3787790"/>
        </p:xfrm>
        <a:graphic>
          <a:graphicData uri="http://schemas.openxmlformats.org/drawingml/2006/table">
            <a:tbl>
              <a:tblPr/>
              <a:tblGrid>
                <a:gridCol w="105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69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082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工作中心</a:t>
                      </a:r>
                    </a:p>
                  </a:txBody>
                  <a:tcPr marL="90000" marR="90000" marT="46779" marB="46779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对某一主生产计划的相对周期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6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-3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-2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-1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79" marB="46779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项目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A-10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RT=1*0.09; ST=1*0.020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25</a:t>
                      </a:r>
                    </a:p>
                  </a:txBody>
                  <a:tcPr marL="90000" marR="90000" marT="46779" marB="46779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项目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B-10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RT=1*0.06; ST=1*0.007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L="90000" marR="90000" marT="46779" marB="46779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项目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C-20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RT=2*0.07; ST=2*0.0138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L="90000" marR="90000" marT="46779" marB="46779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项目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C-10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RT=2*0.14; ST=2*0.02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L="90000" marR="90000" marT="46779" marB="46779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项目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E-20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RT=1*0.26; ST=1*0.0096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L="90000" marR="90000" marT="46779" marB="46779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项目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E-10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RT=1*0.11; 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ST=1*0.0085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项目</a:t>
                      </a: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F-10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RT=1*0.11; ST=1*0.0106</a:t>
                      </a: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79" marB="4677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790298"/>
      </p:ext>
    </p:extLst>
  </p:cSld>
  <p:clrMapOvr>
    <a:masterClrMapping/>
  </p:clrMapOvr>
  <p:transition>
    <p:strips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6-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能力需求计划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838200"/>
            <a:ext cx="73308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细能力需求计划（</a:t>
            </a:r>
            <a:r>
              <a:rPr lang="en-US" altLang="zh-CN" sz="2400" b="1" dirty="0">
                <a:solidFill>
                  <a:srgbClr val="FF0000"/>
                </a:solidFill>
              </a:rPr>
              <a:t>Capacity requirements Plan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4478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800">
                <a:latin typeface="Times New Roman" panose="02020603050405020304" pitchFamily="18" charset="0"/>
              </a:rPr>
              <a:t>CRP</a:t>
            </a:r>
            <a:r>
              <a:rPr lang="zh-CN" altLang="en-US" sz="2800">
                <a:latin typeface="Times New Roman" panose="02020603050405020304" pitchFamily="18" charset="0"/>
              </a:rPr>
              <a:t>编制的基本步骤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、收集数据</a:t>
            </a:r>
            <a:r>
              <a:rPr lang="zh-CN" altLang="en-US" sz="2400">
                <a:latin typeface="Times New Roman" panose="02020603050405020304" pitchFamily="18" charset="0"/>
              </a:rPr>
              <a:t>：参照</a:t>
            </a:r>
            <a:r>
              <a:rPr lang="en-US" altLang="zh-CN" sz="2400">
                <a:latin typeface="Times New Roman" panose="02020603050405020304" pitchFamily="18" charset="0"/>
              </a:rPr>
              <a:t>CRP</a:t>
            </a:r>
            <a:r>
              <a:rPr lang="zh-CN" altLang="en-US" sz="2400">
                <a:latin typeface="Times New Roman" panose="02020603050405020304" pitchFamily="18" charset="0"/>
              </a:rPr>
              <a:t>数据环境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、编制工序计划</a:t>
            </a:r>
            <a:r>
              <a:rPr lang="zh-CN" altLang="en-US" sz="2400">
                <a:latin typeface="Times New Roman" panose="02020603050405020304" pitchFamily="18" charset="0"/>
              </a:rPr>
              <a:t>：</a:t>
            </a:r>
          </a:p>
          <a:p>
            <a:pPr lvl="2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>
                <a:latin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</a:rPr>
              <a:t>）根据订单、工艺路线和工作中心文件计算每道工序的负荷</a:t>
            </a:r>
          </a:p>
          <a:p>
            <a:pPr lvl="2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>
                <a:latin typeface="Times New Roman" panose="02020603050405020304" pitchFamily="18" charset="0"/>
              </a:rPr>
              <a:t>2</a:t>
            </a:r>
            <a:r>
              <a:rPr lang="zh-CN" altLang="en-US" sz="2000">
                <a:latin typeface="Times New Roman" panose="02020603050405020304" pitchFamily="18" charset="0"/>
              </a:rPr>
              <a:t>）计算每道工序在每个工作中心上的负荷</a:t>
            </a:r>
          </a:p>
          <a:p>
            <a:pPr lvl="2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>
                <a:latin typeface="Times New Roman" panose="02020603050405020304" pitchFamily="18" charset="0"/>
              </a:rPr>
              <a:t>3</a:t>
            </a:r>
            <a:r>
              <a:rPr lang="zh-CN" altLang="en-US" sz="2000">
                <a:latin typeface="Times New Roman" panose="02020603050405020304" pitchFamily="18" charset="0"/>
              </a:rPr>
              <a:t>）计算每道工序的交货日期和开工时间</a:t>
            </a:r>
          </a:p>
          <a:p>
            <a:pPr lvl="2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>
                <a:latin typeface="Times New Roman" panose="02020603050405020304" pitchFamily="18" charset="0"/>
              </a:rPr>
              <a:t>4</a:t>
            </a:r>
            <a:r>
              <a:rPr lang="zh-CN" altLang="en-US" sz="2000">
                <a:latin typeface="Times New Roman" panose="02020603050405020304" pitchFamily="18" charset="0"/>
              </a:rPr>
              <a:t>）按时间周期计算每个工作中心的负荷</a:t>
            </a: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、编制负荷图</a:t>
            </a:r>
            <a:r>
              <a:rPr lang="zh-CN" altLang="en-US" sz="2400">
                <a:latin typeface="Times New Roman" panose="02020603050405020304" pitchFamily="18" charset="0"/>
              </a:rPr>
              <a:t>：分析结果，调整能力。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008867"/>
      </p:ext>
    </p:extLst>
  </p:cSld>
  <p:clrMapOvr>
    <a:masterClrMapping/>
  </p:clrMapOvr>
  <p:transition>
    <p:strips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6-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能力需求计划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838200"/>
            <a:ext cx="7330853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细能力需求计划（</a:t>
            </a:r>
            <a:r>
              <a:rPr lang="en-US" altLang="zh-CN" sz="2400" b="1" dirty="0">
                <a:solidFill>
                  <a:srgbClr val="FF0000"/>
                </a:solidFill>
              </a:rPr>
              <a:t>Capacity requirements Plan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28600" y="1447800"/>
            <a:ext cx="8458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800" dirty="0">
                <a:latin typeface="Times New Roman" panose="02020603050405020304" pitchFamily="18" charset="0"/>
              </a:rPr>
              <a:t>CRP</a:t>
            </a:r>
            <a:r>
              <a:rPr lang="zh-CN" altLang="en-US" sz="2800" dirty="0">
                <a:latin typeface="Times New Roman" panose="02020603050405020304" pitchFamily="18" charset="0"/>
              </a:rPr>
              <a:t>编制示例：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*Step 2.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编制工作中心能力需求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b="1" dirty="0">
                <a:latin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</a:rPr>
              <a:t>、计算每个工作中心每道工序的负荷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>
                <a:latin typeface="Times New Roman" panose="02020603050405020304" pitchFamily="18" charset="0"/>
              </a:rPr>
              <a:t>件数 * 单件加工时间 </a:t>
            </a:r>
            <a:r>
              <a:rPr lang="en-US" altLang="zh-CN" dirty="0">
                <a:latin typeface="Times New Roman" panose="02020603050405020304" pitchFamily="18" charset="0"/>
              </a:rPr>
              <a:t>+ </a:t>
            </a:r>
            <a:r>
              <a:rPr lang="zh-CN" altLang="en-US" dirty="0">
                <a:latin typeface="Times New Roman" panose="02020603050405020304" pitchFamily="18" charset="0"/>
              </a:rPr>
              <a:t>准备时间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b="1" dirty="0">
                <a:latin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</a:rPr>
              <a:t>、计算每个工作中心的可用能力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>
                <a:latin typeface="Times New Roman" panose="02020603050405020304" pitchFamily="18" charset="0"/>
              </a:rPr>
              <a:t>每天的可用工时 </a:t>
            </a:r>
            <a:r>
              <a:rPr lang="en-US" altLang="zh-CN" dirty="0">
                <a:latin typeface="Times New Roman" panose="02020603050405020304" pitchFamily="18" charset="0"/>
              </a:rPr>
              <a:t>= </a:t>
            </a:r>
            <a:r>
              <a:rPr lang="zh-CN" altLang="en-US" dirty="0">
                <a:latin typeface="Times New Roman" panose="02020603050405020304" pitchFamily="18" charset="0"/>
              </a:rPr>
              <a:t>每天工时 * 操作人数 * 效率 * 利用率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>
                <a:latin typeface="Times New Roman" panose="02020603050405020304" pitchFamily="18" charset="0"/>
              </a:rPr>
              <a:t>例中，假定每周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天，每天工作</a:t>
            </a:r>
            <a:r>
              <a:rPr lang="en-US" altLang="zh-CN" dirty="0"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</a:rPr>
              <a:t>小时，每个工作中心有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位操作工，所有工作中心利用率和效率均为</a:t>
            </a:r>
            <a:r>
              <a:rPr lang="en-US" altLang="zh-CN" dirty="0">
                <a:latin typeface="Times New Roman" panose="02020603050405020304" pitchFamily="18" charset="0"/>
              </a:rPr>
              <a:t>95%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dirty="0">
                <a:latin typeface="Times New Roman" panose="02020603050405020304" pitchFamily="18" charset="0"/>
              </a:rPr>
              <a:t>8 * 1 * 95% * 95% = 7.22</a:t>
            </a:r>
            <a:r>
              <a:rPr lang="zh-CN" altLang="en-US" dirty="0">
                <a:latin typeface="Times New Roman" panose="02020603050405020304" pitchFamily="18" charset="0"/>
              </a:rPr>
              <a:t>定额工时</a:t>
            </a:r>
          </a:p>
          <a:p>
            <a:pPr lvl="2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b="1" dirty="0">
                <a:latin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</a:rPr>
              <a:t>、计算每个工作中心对各负荷的加工天数</a:t>
            </a:r>
          </a:p>
          <a:p>
            <a:pPr lvl="3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>
                <a:latin typeface="Times New Roman" panose="02020603050405020304" pitchFamily="18" charset="0"/>
              </a:rPr>
              <a:t>负荷能力 </a:t>
            </a:r>
            <a:r>
              <a:rPr lang="en-US" altLang="zh-CN" dirty="0">
                <a:latin typeface="Times New Roman" panose="02020603050405020304" pitchFamily="18" charset="0"/>
              </a:rPr>
              <a:t>/ </a:t>
            </a:r>
            <a:r>
              <a:rPr lang="zh-CN" altLang="en-US" dirty="0">
                <a:latin typeface="Times New Roman" panose="02020603050405020304" pitchFamily="18" charset="0"/>
              </a:rPr>
              <a:t>可用能力</a:t>
            </a:r>
          </a:p>
        </p:txBody>
      </p:sp>
    </p:spTree>
    <p:extLst>
      <p:ext uri="{BB962C8B-B14F-4D97-AF65-F5344CB8AC3E}">
        <p14:creationId xmlns:p14="http://schemas.microsoft.com/office/powerpoint/2010/main" val="4253942320"/>
      </p:ext>
    </p:extLst>
  </p:cSld>
  <p:clrMapOvr>
    <a:masterClrMapping/>
  </p:clrMapOvr>
  <p:transition>
    <p:strips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6-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能力需求计划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838200"/>
            <a:ext cx="7330853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细能力需求计划（</a:t>
            </a:r>
            <a:r>
              <a:rPr lang="en-US" altLang="zh-CN" sz="2400" b="1" dirty="0">
                <a:solidFill>
                  <a:srgbClr val="FF0000"/>
                </a:solidFill>
              </a:rPr>
              <a:t>Capacity requirements Plan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8600" y="1447800"/>
            <a:ext cx="8458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800">
                <a:latin typeface="Times New Roman" panose="02020603050405020304" pitchFamily="18" charset="0"/>
              </a:rPr>
              <a:t>CRP</a:t>
            </a:r>
            <a:r>
              <a:rPr lang="zh-CN" altLang="en-US" sz="2800">
                <a:latin typeface="Times New Roman" panose="02020603050405020304" pitchFamily="18" charset="0"/>
              </a:rPr>
              <a:t>编制示例</a:t>
            </a:r>
            <a:r>
              <a:rPr lang="en-US" altLang="zh-CN" sz="2800">
                <a:latin typeface="Times New Roman" panose="02020603050405020304" pitchFamily="18" charset="0"/>
              </a:rPr>
              <a:t>—</a:t>
            </a:r>
            <a:r>
              <a:rPr lang="zh-CN" altLang="en-US" sz="2800">
                <a:latin typeface="Times New Roman" panose="02020603050405020304" pitchFamily="18" charset="0"/>
              </a:rPr>
              <a:t>产品</a:t>
            </a:r>
            <a:r>
              <a:rPr lang="en-US" altLang="zh-CN" sz="2800">
                <a:latin typeface="Times New Roman" panose="02020603050405020304" pitchFamily="18" charset="0"/>
              </a:rPr>
              <a:t>A</a:t>
            </a:r>
            <a:r>
              <a:rPr lang="zh-CN" altLang="en-US" sz="2800">
                <a:latin typeface="Times New Roman" panose="02020603050405020304" pitchFamily="18" charset="0"/>
              </a:rPr>
              <a:t>的制造信息：</a:t>
            </a:r>
          </a:p>
        </p:txBody>
      </p:sp>
      <p:graphicFrame>
        <p:nvGraphicFramePr>
          <p:cNvPr id="6" name="Group 262"/>
          <p:cNvGraphicFramePr>
            <a:graphicFrameLocks noGrp="1"/>
          </p:cNvGraphicFramePr>
          <p:nvPr/>
        </p:nvGraphicFramePr>
        <p:xfrm>
          <a:off x="457200" y="2249488"/>
          <a:ext cx="8232775" cy="4486304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7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2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302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5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物料</a:t>
                      </a: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工作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中心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可用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能力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排队时间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工序前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运输时间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工序后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订单数量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件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能力负荷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生产时间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天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7.22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25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2.65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2.20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3.10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25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7.22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38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2.56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40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2.68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3.88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55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3.58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7.22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75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6.35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6.70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9.50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110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8.80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7.22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75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12.1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6" marB="46796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6" marB="4679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0428317"/>
      </p:ext>
    </p:extLst>
  </p:cSld>
  <p:clrMapOvr>
    <a:masterClrMapping/>
  </p:clrMapOvr>
  <p:transition>
    <p:strips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6-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能力需求计划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838200"/>
            <a:ext cx="7330853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细能力需求计划（</a:t>
            </a:r>
            <a:r>
              <a:rPr lang="en-US" altLang="zh-CN" sz="2400" b="1" dirty="0">
                <a:solidFill>
                  <a:srgbClr val="FF0000"/>
                </a:solidFill>
              </a:rPr>
              <a:t>Capacity requirements Plan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57200" y="1219200"/>
            <a:ext cx="8382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800" dirty="0">
                <a:latin typeface="Times New Roman" panose="02020603050405020304" pitchFamily="18" charset="0"/>
              </a:rPr>
              <a:t>CRP</a:t>
            </a:r>
            <a:r>
              <a:rPr lang="zh-CN" altLang="en-US" sz="2800" dirty="0">
                <a:latin typeface="Times New Roman" panose="02020603050405020304" pitchFamily="18" charset="0"/>
              </a:rPr>
              <a:t>编制示例：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*Step 2.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编制工作中心能力需求</a:t>
            </a:r>
          </a:p>
          <a:p>
            <a:pPr lvl="2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000" b="1" dirty="0">
                <a:latin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</a:rPr>
              <a:t>、计算每道工序的开工日期和完工日期</a:t>
            </a:r>
          </a:p>
          <a:p>
            <a:pPr lvl="3"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zh-CN" altLang="en-US" dirty="0"/>
              <a:t>物料</a:t>
            </a:r>
            <a:r>
              <a:rPr lang="en-US" altLang="zh-CN" dirty="0"/>
              <a:t>C</a:t>
            </a:r>
            <a:r>
              <a:rPr lang="zh-CN" altLang="en-US" dirty="0"/>
              <a:t>的第一个订单</a:t>
            </a:r>
            <a:r>
              <a:rPr lang="en-US" altLang="zh-CN" dirty="0"/>
              <a:t>75</a:t>
            </a:r>
            <a:r>
              <a:rPr lang="zh-CN" altLang="en-US" dirty="0"/>
              <a:t>件工序安排</a:t>
            </a:r>
          </a:p>
        </p:txBody>
      </p:sp>
      <p:graphicFrame>
        <p:nvGraphicFramePr>
          <p:cNvPr id="9" name="Object 1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09700" y="3200400"/>
          <a:ext cx="6324600" cy="362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Visio" r:id="rId4" imgW="3948379" imgH="2264969" progId="Visio.Drawing.11">
                  <p:embed/>
                </p:oleObj>
              </mc:Choice>
              <mc:Fallback>
                <p:oleObj name="Visio" r:id="rId4" imgW="3948379" imgH="2264969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9700" y="3200400"/>
                        <a:ext cx="6324600" cy="362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cap="rnd" cmpd="sng" algn="ctr">
                            <a:solidFill>
                              <a:srgbClr val="003399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7905669"/>
      </p:ext>
    </p:extLst>
  </p:cSld>
  <p:clrMapOvr>
    <a:masterClrMapping/>
  </p:clrMapOvr>
  <p:transition>
    <p:strips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6-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能力需求计划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4800" y="838200"/>
            <a:ext cx="7330853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Marlett" pitchFamily="2" charset="2"/>
              <a:buChar char="2"/>
              <a:defRPr/>
            </a:pPr>
            <a:r>
              <a:rPr lang="zh-CN" altLang="en-US" sz="2400" b="1" dirty="0">
                <a:solidFill>
                  <a:srgbClr val="FF0000"/>
                </a:solidFill>
              </a:rPr>
              <a:t>细能力需求计划（</a:t>
            </a:r>
            <a:r>
              <a:rPr lang="en-US" altLang="zh-CN" sz="2400" b="1" dirty="0">
                <a:solidFill>
                  <a:srgbClr val="FF0000"/>
                </a:solidFill>
              </a:rPr>
              <a:t>Capacity requirements Plan</a:t>
            </a:r>
            <a:r>
              <a:rPr lang="zh-CN" altLang="en-US" sz="24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1371600"/>
            <a:ext cx="8382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800">
                <a:latin typeface="Times New Roman" panose="02020603050405020304" pitchFamily="18" charset="0"/>
              </a:rPr>
              <a:t>CRP</a:t>
            </a:r>
            <a:r>
              <a:rPr lang="zh-CN" altLang="en-US" sz="2800">
                <a:latin typeface="Times New Roman" panose="02020603050405020304" pitchFamily="18" charset="0"/>
              </a:rPr>
              <a:t>编制示例：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Step 3. 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绘制能力负荷图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Font typeface="Marlett" pitchFamily="2" charset="2"/>
              <a:buChar char="2"/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Step 4. 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能力分析与控制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1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066800" y="3276600"/>
          <a:ext cx="6477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1" name="图表" r:id="rId4" imgW="5010302" imgH="3133649" progId="Excel.Chart.8">
                  <p:embed/>
                </p:oleObj>
              </mc:Choice>
              <mc:Fallback>
                <p:oleObj name="图表" r:id="rId4" imgW="5010302" imgH="3133649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76600"/>
                        <a:ext cx="64770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9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 cap="rnd" cmpd="sng" algn="ctr">
                            <a:solidFill>
                              <a:srgbClr val="003399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8"/>
          <p:cNvGrpSpPr>
            <a:grpSpLocks/>
          </p:cNvGrpSpPr>
          <p:nvPr/>
        </p:nvGrpSpPr>
        <p:grpSpPr bwMode="auto">
          <a:xfrm>
            <a:off x="2149475" y="4167188"/>
            <a:ext cx="5210175" cy="384175"/>
            <a:chOff x="1354" y="2625"/>
            <a:chExt cx="3282" cy="242"/>
          </a:xfrm>
        </p:grpSpPr>
        <p:sp>
          <p:nvSpPr>
            <p:cNvPr id="12" name="Line 15"/>
            <p:cNvSpPr>
              <a:spLocks noChangeShapeType="1"/>
            </p:cNvSpPr>
            <p:nvPr/>
          </p:nvSpPr>
          <p:spPr bwMode="auto">
            <a:xfrm>
              <a:off x="1354" y="2867"/>
              <a:ext cx="3282" cy="0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lIns="90000" rIns="1890000" anchor="ctr"/>
            <a:lstStyle/>
            <a:p>
              <a:endParaRPr lang="zh-CN" altLang="en-US"/>
            </a:p>
          </p:txBody>
        </p:sp>
        <p:sp>
          <p:nvSpPr>
            <p:cNvPr id="13" name="Text Box 16"/>
            <p:cNvSpPr txBox="1">
              <a:spLocks noChangeArrowheads="1"/>
            </p:cNvSpPr>
            <p:nvPr/>
          </p:nvSpPr>
          <p:spPr bwMode="auto">
            <a:xfrm>
              <a:off x="4190" y="2625"/>
              <a:ext cx="39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28575" cap="rnd" algn="ctr">
                  <a:solidFill>
                    <a:srgbClr val="003399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rIns="90000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FF0000"/>
                  </a:solidFill>
                </a:rPr>
                <a:t>36.1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6888441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7-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生产计划的优化模型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72605" y="2935288"/>
            <a:ext cx="2563091" cy="739775"/>
            <a:chOff x="76200" y="2935288"/>
            <a:chExt cx="2819400" cy="739775"/>
          </a:xfrm>
        </p:grpSpPr>
        <p:sp>
          <p:nvSpPr>
            <p:cNvPr id="11" name="文本框 10"/>
            <p:cNvSpPr txBox="1"/>
            <p:nvPr/>
          </p:nvSpPr>
          <p:spPr>
            <a:xfrm>
              <a:off x="76200" y="2935288"/>
              <a:ext cx="2416175" cy="739775"/>
            </a:xfrm>
            <a:prstGeom prst="rect">
              <a:avLst/>
            </a:prstGeom>
            <a:solidFill>
              <a:srgbClr val="C00000"/>
            </a:solidFill>
            <a:ln w="28575"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</a:rPr>
                <a:t>能力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(Capacity constraints)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右箭头 11"/>
            <p:cNvSpPr/>
            <p:nvPr/>
          </p:nvSpPr>
          <p:spPr bwMode="auto">
            <a:xfrm>
              <a:off x="2595563" y="2957513"/>
              <a:ext cx="300037" cy="695325"/>
            </a:xfrm>
            <a:prstGeom prst="rightArrow">
              <a:avLst/>
            </a:prstGeom>
            <a:solidFill>
              <a:srgbClr val="CACAFF"/>
            </a:solidFill>
            <a:ln w="6350" cap="rnd" cmpd="sng" algn="ctr">
              <a:solidFill>
                <a:srgbClr val="00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90000" rIns="1890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7725353" y="2935288"/>
            <a:ext cx="1101147" cy="739775"/>
          </a:xfrm>
          <a:prstGeom prst="rect">
            <a:avLst/>
          </a:prstGeom>
          <a:solidFill>
            <a:srgbClr val="9999FF">
              <a:lumMod val="90000"/>
            </a:srgbClr>
          </a:solidFill>
          <a:ln w="28575">
            <a:noFill/>
          </a:ln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需求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(Demand)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454150" y="5334000"/>
            <a:ext cx="6781800" cy="777875"/>
            <a:chOff x="1600200" y="5334000"/>
            <a:chExt cx="6781800" cy="777875"/>
          </a:xfrm>
        </p:grpSpPr>
        <p:cxnSp>
          <p:nvCxnSpPr>
            <p:cNvPr id="15" name="直接箭头连接符 154634"/>
            <p:cNvCxnSpPr>
              <a:cxnSpLocks noChangeShapeType="1"/>
            </p:cNvCxnSpPr>
            <p:nvPr/>
          </p:nvCxnSpPr>
          <p:spPr bwMode="auto">
            <a:xfrm>
              <a:off x="1600200" y="5715000"/>
              <a:ext cx="6781800" cy="0"/>
            </a:xfrm>
            <a:prstGeom prst="straightConnector1">
              <a:avLst/>
            </a:prstGeom>
            <a:noFill/>
            <a:ln w="28575" cap="rnd" algn="ctr">
              <a:solidFill>
                <a:srgbClr val="003399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文本框 62"/>
            <p:cNvSpPr txBox="1">
              <a:spLocks noChangeArrowheads="1"/>
            </p:cNvSpPr>
            <p:nvPr/>
          </p:nvSpPr>
          <p:spPr bwMode="auto">
            <a:xfrm>
              <a:off x="8077200" y="5743575"/>
              <a:ext cx="249238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t</a:t>
              </a:r>
              <a:endParaRPr kumimoji="0" lang="zh-CN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文本框 65"/>
            <p:cNvSpPr txBox="1">
              <a:spLocks noChangeArrowheads="1"/>
            </p:cNvSpPr>
            <p:nvPr/>
          </p:nvSpPr>
          <p:spPr bwMode="auto">
            <a:xfrm>
              <a:off x="3990975" y="5334000"/>
              <a:ext cx="2390775" cy="738188"/>
            </a:xfrm>
            <a:prstGeom prst="rect">
              <a:avLst/>
            </a:prstGeom>
            <a:solidFill>
              <a:srgbClr val="CCFFCC">
                <a:alpha val="69804"/>
              </a:srgbClr>
            </a:solidFill>
            <a:ln w="6350">
              <a:solidFill>
                <a:srgbClr val="FFC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计划展望期</a:t>
              </a:r>
              <a:endPara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(Planning Horizon)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" name="文本框 66"/>
          <p:cNvSpPr txBox="1">
            <a:spLocks noChangeArrowheads="1"/>
          </p:cNvSpPr>
          <p:nvPr/>
        </p:nvSpPr>
        <p:spPr bwMode="auto">
          <a:xfrm>
            <a:off x="3833813" y="1787525"/>
            <a:ext cx="2413000" cy="738188"/>
          </a:xfrm>
          <a:prstGeom prst="rect">
            <a:avLst/>
          </a:prstGeom>
          <a:solidFill>
            <a:srgbClr val="FFFF00">
              <a:alpha val="69804"/>
            </a:srgbClr>
          </a:solidFill>
          <a:ln w="6350">
            <a:solidFill>
              <a:srgbClr val="FFC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计划层级</a:t>
            </a:r>
            <a:endParaRPr kumimoji="0" lang="en-US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(Number of Levels)</a:t>
            </a: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文本框 67"/>
          <p:cNvSpPr txBox="1">
            <a:spLocks noChangeArrowheads="1"/>
          </p:cNvSpPr>
          <p:nvPr/>
        </p:nvSpPr>
        <p:spPr bwMode="auto">
          <a:xfrm>
            <a:off x="3844925" y="4114800"/>
            <a:ext cx="2390775" cy="738188"/>
          </a:xfrm>
          <a:prstGeom prst="rect">
            <a:avLst/>
          </a:prstGeom>
          <a:solidFill>
            <a:srgbClr val="FFFF00">
              <a:alpha val="69804"/>
            </a:srgbClr>
          </a:solidFill>
          <a:ln w="6350">
            <a:solidFill>
              <a:srgbClr val="FFC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对象数量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(Number of Products)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830513" y="2133600"/>
            <a:ext cx="4824412" cy="2438400"/>
            <a:chOff x="2976563" y="2133600"/>
            <a:chExt cx="4824412" cy="2438400"/>
          </a:xfrm>
        </p:grpSpPr>
        <p:grpSp>
          <p:nvGrpSpPr>
            <p:cNvPr id="21" name="组合 154639"/>
            <p:cNvGrpSpPr>
              <a:grpSpLocks/>
            </p:cNvGrpSpPr>
            <p:nvPr/>
          </p:nvGrpSpPr>
          <p:grpSpPr bwMode="auto">
            <a:xfrm>
              <a:off x="3844925" y="2667000"/>
              <a:ext cx="2682875" cy="1276350"/>
              <a:chOff x="3185046" y="2971800"/>
              <a:chExt cx="2682354" cy="1276350"/>
            </a:xfrm>
          </p:grpSpPr>
          <p:sp>
            <p:nvSpPr>
              <p:cNvPr id="25" name="椭圆 2"/>
              <p:cNvSpPr>
                <a:spLocks noChangeArrowheads="1"/>
              </p:cNvSpPr>
              <p:nvPr/>
            </p:nvSpPr>
            <p:spPr bwMode="auto">
              <a:xfrm>
                <a:off x="5562600" y="31264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椭圆 18"/>
              <p:cNvSpPr>
                <a:spLocks noChangeArrowheads="1"/>
              </p:cNvSpPr>
              <p:nvPr/>
            </p:nvSpPr>
            <p:spPr bwMode="auto">
              <a:xfrm>
                <a:off x="4785246" y="297180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椭圆 19"/>
              <p:cNvSpPr>
                <a:spLocks noChangeArrowheads="1"/>
              </p:cNvSpPr>
              <p:nvPr/>
            </p:nvSpPr>
            <p:spPr bwMode="auto">
              <a:xfrm>
                <a:off x="4785246" y="346710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椭圆 20"/>
              <p:cNvSpPr>
                <a:spLocks noChangeArrowheads="1"/>
              </p:cNvSpPr>
              <p:nvPr/>
            </p:nvSpPr>
            <p:spPr bwMode="auto">
              <a:xfrm>
                <a:off x="5562600" y="3936241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椭圆 21"/>
              <p:cNvSpPr>
                <a:spLocks noChangeArrowheads="1"/>
              </p:cNvSpPr>
              <p:nvPr/>
            </p:nvSpPr>
            <p:spPr bwMode="auto">
              <a:xfrm>
                <a:off x="4785246" y="4019550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椭圆 22"/>
              <p:cNvSpPr>
                <a:spLocks noChangeArrowheads="1"/>
              </p:cNvSpPr>
              <p:nvPr/>
            </p:nvSpPr>
            <p:spPr bwMode="auto">
              <a:xfrm>
                <a:off x="3965243" y="30121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椭圆 23"/>
              <p:cNvSpPr>
                <a:spLocks noChangeArrowheads="1"/>
              </p:cNvSpPr>
              <p:nvPr/>
            </p:nvSpPr>
            <p:spPr bwMode="auto">
              <a:xfrm>
                <a:off x="3185046" y="3515436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椭圆 24"/>
              <p:cNvSpPr>
                <a:spLocks noChangeArrowheads="1"/>
              </p:cNvSpPr>
              <p:nvPr/>
            </p:nvSpPr>
            <p:spPr bwMode="auto">
              <a:xfrm>
                <a:off x="3970930" y="3507475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3" name="直接箭头连接符 4"/>
              <p:cNvCxnSpPr>
                <a:cxnSpLocks noChangeShapeType="1"/>
                <a:stCxn id="26" idx="6"/>
                <a:endCxn id="25" idx="2"/>
              </p:cNvCxnSpPr>
              <p:nvPr/>
            </p:nvCxnSpPr>
            <p:spPr bwMode="auto">
              <a:xfrm>
                <a:off x="5090046" y="3086100"/>
                <a:ext cx="472554" cy="154675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4" name="直接箭头连接符 6"/>
              <p:cNvCxnSpPr>
                <a:cxnSpLocks noChangeShapeType="1"/>
                <a:stCxn id="27" idx="6"/>
                <a:endCxn id="25" idx="3"/>
              </p:cNvCxnSpPr>
              <p:nvPr/>
            </p:nvCxnSpPr>
            <p:spPr bwMode="auto">
              <a:xfrm flipV="1">
                <a:off x="5090046" y="3321597"/>
                <a:ext cx="517191" cy="259803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5" name="直接箭头连接符 9"/>
              <p:cNvCxnSpPr>
                <a:cxnSpLocks noChangeShapeType="1"/>
                <a:stCxn id="30" idx="6"/>
                <a:endCxn id="27" idx="2"/>
              </p:cNvCxnSpPr>
              <p:nvPr/>
            </p:nvCxnSpPr>
            <p:spPr bwMode="auto">
              <a:xfrm>
                <a:off x="4270043" y="3126475"/>
                <a:ext cx="515203" cy="454925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" name="直接箭头连接符 11"/>
              <p:cNvCxnSpPr>
                <a:cxnSpLocks noChangeShapeType="1"/>
                <a:stCxn id="32" idx="6"/>
                <a:endCxn id="26" idx="3"/>
              </p:cNvCxnSpPr>
              <p:nvPr/>
            </p:nvCxnSpPr>
            <p:spPr bwMode="auto">
              <a:xfrm flipV="1">
                <a:off x="4275730" y="3166922"/>
                <a:ext cx="554153" cy="454853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7" name="直接箭头连接符 13"/>
              <p:cNvCxnSpPr>
                <a:cxnSpLocks noChangeShapeType="1"/>
                <a:stCxn id="29" idx="6"/>
                <a:endCxn id="28" idx="2"/>
              </p:cNvCxnSpPr>
              <p:nvPr/>
            </p:nvCxnSpPr>
            <p:spPr bwMode="auto">
              <a:xfrm flipV="1">
                <a:off x="5090046" y="4050541"/>
                <a:ext cx="472554" cy="83309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" name="直接箭头连接符 15"/>
              <p:cNvCxnSpPr>
                <a:cxnSpLocks noChangeShapeType="1"/>
                <a:stCxn id="27" idx="5"/>
                <a:endCxn id="28" idx="2"/>
              </p:cNvCxnSpPr>
              <p:nvPr/>
            </p:nvCxnSpPr>
            <p:spPr bwMode="auto">
              <a:xfrm>
                <a:off x="5045409" y="3662222"/>
                <a:ext cx="517191" cy="388319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直接箭头连接符 17"/>
              <p:cNvCxnSpPr>
                <a:cxnSpLocks noChangeShapeType="1"/>
                <a:stCxn id="26" idx="5"/>
                <a:endCxn id="28" idx="2"/>
              </p:cNvCxnSpPr>
              <p:nvPr/>
            </p:nvCxnSpPr>
            <p:spPr bwMode="auto">
              <a:xfrm>
                <a:off x="5045409" y="3166922"/>
                <a:ext cx="517191" cy="883619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" name="直接箭头连接符 26"/>
              <p:cNvCxnSpPr>
                <a:cxnSpLocks noChangeShapeType="1"/>
                <a:stCxn id="32" idx="5"/>
                <a:endCxn id="29" idx="2"/>
              </p:cNvCxnSpPr>
              <p:nvPr/>
            </p:nvCxnSpPr>
            <p:spPr bwMode="auto">
              <a:xfrm>
                <a:off x="4231093" y="3702597"/>
                <a:ext cx="554153" cy="431253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直接箭头连接符 28"/>
              <p:cNvCxnSpPr>
                <a:cxnSpLocks noChangeShapeType="1"/>
                <a:stCxn id="31" idx="6"/>
                <a:endCxn id="32" idx="2"/>
              </p:cNvCxnSpPr>
              <p:nvPr/>
            </p:nvCxnSpPr>
            <p:spPr bwMode="auto">
              <a:xfrm flipV="1">
                <a:off x="3489846" y="3621775"/>
                <a:ext cx="481084" cy="7961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2" name="直接箭头连接符 30"/>
              <p:cNvCxnSpPr>
                <a:cxnSpLocks noChangeShapeType="1"/>
                <a:stCxn id="30" idx="6"/>
                <a:endCxn id="26" idx="2"/>
              </p:cNvCxnSpPr>
              <p:nvPr/>
            </p:nvCxnSpPr>
            <p:spPr bwMode="auto">
              <a:xfrm flipV="1">
                <a:off x="4270043" y="3086100"/>
                <a:ext cx="515203" cy="40375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3" name="椭圆 49"/>
              <p:cNvSpPr>
                <a:spLocks noChangeArrowheads="1"/>
              </p:cNvSpPr>
              <p:nvPr/>
            </p:nvSpPr>
            <p:spPr bwMode="auto">
              <a:xfrm>
                <a:off x="3965243" y="4001069"/>
                <a:ext cx="304800" cy="228600"/>
              </a:xfrm>
              <a:prstGeom prst="ellipse">
                <a:avLst/>
              </a:prstGeom>
              <a:solidFill>
                <a:srgbClr val="99CCFF"/>
              </a:solidFill>
              <a:ln w="6350" cap="rnd" algn="ctr">
                <a:solidFill>
                  <a:srgbClr val="00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44" name="直接箭头连接符 154628"/>
              <p:cNvCxnSpPr>
                <a:cxnSpLocks noChangeShapeType="1"/>
                <a:stCxn id="43" idx="6"/>
                <a:endCxn id="29" idx="2"/>
              </p:cNvCxnSpPr>
              <p:nvPr/>
            </p:nvCxnSpPr>
            <p:spPr bwMode="auto">
              <a:xfrm>
                <a:off x="4270043" y="4115369"/>
                <a:ext cx="515203" cy="18481"/>
              </a:xfrm>
              <a:prstGeom prst="straightConnector1">
                <a:avLst/>
              </a:prstGeom>
              <a:noFill/>
              <a:ln w="6350" cap="rnd" algn="ctr">
                <a:solidFill>
                  <a:srgbClr val="0033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2" name="组合 21"/>
            <p:cNvGrpSpPr/>
            <p:nvPr/>
          </p:nvGrpSpPr>
          <p:grpSpPr>
            <a:xfrm>
              <a:off x="2976563" y="2133600"/>
              <a:ext cx="4824412" cy="2438400"/>
              <a:chOff x="2976563" y="2133600"/>
              <a:chExt cx="4824412" cy="2438400"/>
            </a:xfrm>
          </p:grpSpPr>
          <p:sp>
            <p:nvSpPr>
              <p:cNvPr id="23" name="椭圆 1"/>
              <p:cNvSpPr>
                <a:spLocks noChangeArrowheads="1"/>
              </p:cNvSpPr>
              <p:nvPr/>
            </p:nvSpPr>
            <p:spPr bwMode="auto">
              <a:xfrm>
                <a:off x="2976563" y="2133600"/>
                <a:ext cx="4419600" cy="2438400"/>
              </a:xfrm>
              <a:prstGeom prst="ellipse">
                <a:avLst/>
              </a:prstGeom>
              <a:noFill/>
              <a:ln w="38100" cap="rnd" algn="ctr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eaVert" wrap="none" lIns="90000" rIns="189000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右箭头 23"/>
              <p:cNvSpPr/>
              <p:nvPr/>
            </p:nvSpPr>
            <p:spPr bwMode="auto">
              <a:xfrm>
                <a:off x="7500938" y="2986088"/>
                <a:ext cx="300037" cy="695325"/>
              </a:xfrm>
              <a:prstGeom prst="rightArrow">
                <a:avLst/>
              </a:prstGeom>
              <a:solidFill>
                <a:srgbClr val="CACAFF"/>
              </a:solidFill>
              <a:ln w="6350" cap="rnd" cmpd="sng" algn="ctr">
                <a:solidFill>
                  <a:srgbClr val="00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eaVert" wrap="none" lIns="90000" rIns="189000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</a:endParaRP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1008063" y="1787525"/>
            <a:ext cx="3189287" cy="1414463"/>
            <a:chOff x="1154113" y="1787525"/>
            <a:chExt cx="3189287" cy="1414463"/>
          </a:xfrm>
        </p:grpSpPr>
        <p:sp>
          <p:nvSpPr>
            <p:cNvPr id="46" name="文本框 74"/>
            <p:cNvSpPr txBox="1">
              <a:spLocks noChangeArrowheads="1"/>
            </p:cNvSpPr>
            <p:nvPr/>
          </p:nvSpPr>
          <p:spPr bwMode="auto">
            <a:xfrm>
              <a:off x="1154113" y="1787525"/>
              <a:ext cx="2032000" cy="738188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生产启动结构</a:t>
              </a:r>
              <a:endPara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(Setup Structure)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47" name="直接箭头连接符 154644"/>
            <p:cNvCxnSpPr>
              <a:cxnSpLocks noChangeShapeType="1"/>
              <a:stCxn id="46" idx="3"/>
            </p:cNvCxnSpPr>
            <p:nvPr/>
          </p:nvCxnSpPr>
          <p:spPr bwMode="auto">
            <a:xfrm>
              <a:off x="3186113" y="2157413"/>
              <a:ext cx="1157287" cy="1044575"/>
            </a:xfrm>
            <a:prstGeom prst="straightConnector1">
              <a:avLst/>
            </a:prstGeom>
            <a:noFill/>
            <a:ln w="38100" cap="rnd" algn="ctr">
              <a:solidFill>
                <a:srgbClr val="339933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8" name="组合 47"/>
          <p:cNvGrpSpPr/>
          <p:nvPr/>
        </p:nvGrpSpPr>
        <p:grpSpPr>
          <a:xfrm>
            <a:off x="6388100" y="1787525"/>
            <a:ext cx="2405063" cy="1148450"/>
            <a:chOff x="6534150" y="1787525"/>
            <a:chExt cx="2405063" cy="1148450"/>
          </a:xfrm>
        </p:grpSpPr>
        <p:sp>
          <p:nvSpPr>
            <p:cNvPr id="49" name="文本框 73"/>
            <p:cNvSpPr txBox="1">
              <a:spLocks noChangeArrowheads="1"/>
            </p:cNvSpPr>
            <p:nvPr/>
          </p:nvSpPr>
          <p:spPr bwMode="auto">
            <a:xfrm>
              <a:off x="7215188" y="1787525"/>
              <a:ext cx="1724025" cy="738188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rgbClr val="339933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物料衰退性</a:t>
              </a:r>
              <a:endParaRPr kumimoji="0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(Deterioration)</a:t>
              </a: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50" name="直接箭头连接符 154646"/>
            <p:cNvCxnSpPr>
              <a:cxnSpLocks noChangeShapeType="1"/>
              <a:stCxn id="49" idx="1"/>
              <a:endCxn id="25" idx="6"/>
            </p:cNvCxnSpPr>
            <p:nvPr/>
          </p:nvCxnSpPr>
          <p:spPr bwMode="auto">
            <a:xfrm flipH="1">
              <a:off x="6534150" y="2156619"/>
              <a:ext cx="681038" cy="779356"/>
            </a:xfrm>
            <a:prstGeom prst="straightConnector1">
              <a:avLst/>
            </a:prstGeom>
            <a:noFill/>
            <a:ln w="38100" cap="rnd" algn="ctr">
              <a:solidFill>
                <a:srgbClr val="339933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5920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7-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生产计划的优化模型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807143"/>
              </p:ext>
            </p:extLst>
          </p:nvPr>
        </p:nvGraphicFramePr>
        <p:xfrm>
          <a:off x="647700" y="1524000"/>
          <a:ext cx="7848600" cy="5176520"/>
        </p:xfrm>
        <a:graphic>
          <a:graphicData uri="http://schemas.openxmlformats.org/drawingml/2006/table">
            <a:tbl>
              <a:tblPr firstRow="1" bandRow="1"/>
              <a:tblGrid>
                <a:gridCol w="2362200">
                  <a:extLst>
                    <a:ext uri="{9D8B030D-6E8A-4147-A177-3AD203B41FA5}">
                      <a16:colId xmlns:a16="http://schemas.microsoft.com/office/drawing/2014/main" val="91559611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957588069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建模要素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ctr"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要素分类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405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计划展望期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>
                          <a:solidFill>
                            <a:srgbClr val="002060"/>
                          </a:solidFill>
                        </a:rPr>
                        <a:t>Finite / Infinite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00912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计划层级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Single-level / Multi-level</a:t>
                      </a:r>
                      <a:endParaRPr lang="zh-CN" altLang="en-US" sz="2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76929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对象数量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Single-item / Multi-item</a:t>
                      </a:r>
                      <a:endParaRPr lang="zh-CN" altLang="en-US" sz="2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23794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需求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>
                          <a:solidFill>
                            <a:srgbClr val="002060"/>
                          </a:solidFill>
                        </a:rPr>
                        <a:t>Static demand / Dynamic</a:t>
                      </a:r>
                      <a:r>
                        <a:rPr lang="en-US" altLang="zh-CN" sz="2400" baseline="0" dirty="0">
                          <a:solidFill>
                            <a:srgbClr val="002060"/>
                          </a:solidFill>
                        </a:rPr>
                        <a:t> demand</a:t>
                      </a:r>
                    </a:p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aseline="0" dirty="0">
                          <a:solidFill>
                            <a:srgbClr val="002060"/>
                          </a:solidFill>
                        </a:rPr>
                        <a:t>Deterministic / Probabilistic</a:t>
                      </a:r>
                    </a:p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aseline="0" dirty="0">
                          <a:solidFill>
                            <a:srgbClr val="002060"/>
                          </a:solidFill>
                        </a:rPr>
                        <a:t>Independent / Dependent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26241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能力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 err="1">
                          <a:solidFill>
                            <a:srgbClr val="002060"/>
                          </a:solidFill>
                        </a:rPr>
                        <a:t>Uncapacitated</a:t>
                      </a:r>
                      <a:r>
                        <a:rPr lang="en-US" altLang="zh-CN" sz="2400" dirty="0">
                          <a:solidFill>
                            <a:srgbClr val="002060"/>
                          </a:solidFill>
                        </a:rPr>
                        <a:t> / Capacitated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91819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物料衰退性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>
                          <a:solidFill>
                            <a:srgbClr val="002060"/>
                          </a:solidFill>
                        </a:rPr>
                        <a:t>No</a:t>
                      </a:r>
                      <a:r>
                        <a:rPr lang="en-US" altLang="zh-CN" sz="2400" baseline="0" dirty="0">
                          <a:solidFill>
                            <a:srgbClr val="002060"/>
                          </a:solidFill>
                        </a:rPr>
                        <a:t> / Yes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98366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生产启动结构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>
                        <a:lnSpc>
                          <a:spcPts val="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dirty="0">
                          <a:solidFill>
                            <a:srgbClr val="002060"/>
                          </a:solidFill>
                        </a:rPr>
                        <a:t>Simple setup / Complex</a:t>
                      </a:r>
                      <a:r>
                        <a:rPr lang="en-US" altLang="zh-CN" sz="2400" baseline="0" dirty="0">
                          <a:solidFill>
                            <a:srgbClr val="002060"/>
                          </a:solidFill>
                        </a:rPr>
                        <a:t> setup</a:t>
                      </a:r>
                      <a:endParaRPr lang="zh-CN" altLang="en-US" sz="24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99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6925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524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467600" cy="533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kumimoji="0" lang="en-US" altLang="zh-CN" sz="2400" b="1" cap="none" dirty="0">
                <a:latin typeface="Verdana" pitchFamily="34" charset="0"/>
                <a:ea typeface="宋体" pitchFamily="2" charset="-122"/>
              </a:rPr>
              <a:t>Scheduling Decisions</a:t>
            </a:r>
            <a:endParaRPr kumimoji="0" lang="zh-CN" altLang="en-US" sz="2400" b="1" cap="none" dirty="0">
              <a:latin typeface="Verdana" pitchFamily="34" charset="0"/>
              <a:ea typeface="宋体" pitchFamily="2" charset="-122"/>
            </a:endParaRPr>
          </a:p>
        </p:txBody>
      </p:sp>
      <p:graphicFrame>
        <p:nvGraphicFramePr>
          <p:cNvPr id="15" name="Group 93"/>
          <p:cNvGraphicFramePr>
            <a:graphicFrameLocks noGrp="1"/>
          </p:cNvGraphicFramePr>
          <p:nvPr/>
        </p:nvGraphicFramePr>
        <p:xfrm>
          <a:off x="609600" y="1644648"/>
          <a:ext cx="7772400" cy="5060952"/>
        </p:xfrm>
        <a:graphic>
          <a:graphicData uri="http://schemas.openxmlformats.org/drawingml/2006/table">
            <a:tbl>
              <a:tblPr/>
              <a:tblGrid>
                <a:gridCol w="22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2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Organization</a:t>
                      </a:r>
                    </a:p>
                  </a:txBody>
                  <a:tcPr marT="45703" marB="45703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Managers Must Schedule the Following</a:t>
                      </a:r>
                    </a:p>
                  </a:txBody>
                  <a:tcPr marT="45703" marB="45703" anchor="ctr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92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Arnold Palmer Hospital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Operating room use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Patient admissions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Nursing, security, maintenance staffs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Outpatient treatments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0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HUST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Classrooms and audiovisual equipment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Student and instructor schedules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Graduate and undergraduate courses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0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Lockheed-Martin factory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Production of goods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Purchases of materials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Workers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92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Hard Rock Cafe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Chef, waiters, bartenders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Delivery of fresh foods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Entertainers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Opening of dining areas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20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Delta Airlines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Maintenance of aircraft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Departure timetables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itchFamily="34" charset="0"/>
                          <a:ea typeface="宋体" pitchFamily="2" charset="-122"/>
                        </a:rPr>
                        <a:t>Flight crews, catering, gate, ticketing personnel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209210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467600" cy="533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kumimoji="0" lang="en-US" altLang="zh-CN" sz="2400" b="1" cap="none" dirty="0">
                <a:latin typeface="Verdana" pitchFamily="34" charset="0"/>
                <a:ea typeface="宋体" pitchFamily="2" charset="-122"/>
              </a:rPr>
              <a:t>Scheduling Decisions</a:t>
            </a:r>
            <a:endParaRPr kumimoji="0" lang="zh-CN" altLang="en-US" sz="2400" b="1" cap="none" dirty="0"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8305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/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Scheduling concerns optimal allocation or assignment of resources, over time, to a set of tasks or activities.</a:t>
            </a:r>
          </a:p>
          <a:p>
            <a:pPr marL="0" indent="0" eaLnBrk="1" hangingPunct="1"/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Combinatorial optimization problem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			Maximize profit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			Subject to constraints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en-US" altLang="zh-CN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eaLnBrk="1" hangingPunct="1"/>
            <a:r>
              <a:rPr lang="en-US" altLang="zh-CN">
                <a:latin typeface="Verdana" panose="020B0604030504040204" pitchFamily="34" charset="0"/>
                <a:ea typeface="宋体" panose="02010600030101010101" pitchFamily="2" charset="-122"/>
              </a:rPr>
              <a:t>Mathematical techniques and heuristics</a:t>
            </a:r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0902781"/>
      </p:ext>
    </p:extLst>
  </p:cSld>
  <p:clrMapOvr>
    <a:masterClrMapping/>
  </p:clrMapOvr>
  <p:transition>
    <p:strips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467600" cy="533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400" b="1" dirty="0">
                <a:latin typeface="Verdana" charset="0"/>
                <a:cs typeface="宋体" charset="0"/>
              </a:rPr>
              <a:t>Objectives of production scheduling</a:t>
            </a:r>
            <a:endParaRPr kumimoji="0" lang="zh-CN" altLang="en-US" sz="2400" b="1" cap="none" dirty="0"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76400"/>
            <a:ext cx="83058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Meet due dates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Minimize Work-in-process inventory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Minimize the average flow time through the system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Provide for high machine/worker time utilization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Provide for accurate job status information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Reduce setup times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Minimize production and worker costs</a:t>
            </a: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354970"/>
      </p:ext>
    </p:extLst>
  </p:cSld>
  <p:clrMapOvr>
    <a:masterClrMapping/>
  </p:clrMapOvr>
  <p:transition>
    <p:strips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467600" cy="533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400" b="1" dirty="0">
                <a:latin typeface="Verdana" charset="0"/>
                <a:cs typeface="宋体" charset="0"/>
              </a:rPr>
              <a:t>Our Approach</a:t>
            </a:r>
            <a:endParaRPr kumimoji="0" lang="zh-CN" altLang="en-US" sz="2400" b="1" cap="none" dirty="0">
              <a:latin typeface="Verdana" pitchFamily="34" charset="0"/>
              <a:ea typeface="宋体" pitchFamily="2" charset="-122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600200" y="2038350"/>
            <a:ext cx="2819400" cy="49530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b="0" dirty="0">
                <a:latin typeface="Times New Roman" panose="02020603050405020304" pitchFamily="18" charset="0"/>
                <a:ea typeface="宋体" panose="02010600030101010101" pitchFamily="2" charset="-122"/>
              </a:rPr>
              <a:t>Scheduling Problem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600200" y="3486150"/>
            <a:ext cx="2819400" cy="49530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Model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600200" y="4991100"/>
            <a:ext cx="2819400" cy="495300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Conclusions</a:t>
            </a:r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2971800" y="2495550"/>
            <a:ext cx="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7"/>
          <p:cNvSpPr>
            <a:spLocks noChangeShapeType="1"/>
          </p:cNvSpPr>
          <p:nvPr/>
        </p:nvSpPr>
        <p:spPr bwMode="auto">
          <a:xfrm>
            <a:off x="2971800" y="394335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701801" y="2832059"/>
            <a:ext cx="218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Problem Formulation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636296" y="4332498"/>
            <a:ext cx="317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800" b="0" i="1" dirty="0">
                <a:latin typeface="Times New Roman" panose="02020603050405020304" pitchFamily="18" charset="0"/>
                <a:ea typeface="宋体" panose="02010600030101010101" pitchFamily="2" charset="-122"/>
              </a:rPr>
              <a:t>Solve with Computer Algorithms</a:t>
            </a:r>
            <a:endParaRPr lang="en-US" altLang="zh-CN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76200" y="2190750"/>
            <a:ext cx="0" cy="30480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76200" y="2190750"/>
            <a:ext cx="15240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76200" y="5238750"/>
            <a:ext cx="1524000" cy="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572000" y="914400"/>
            <a:ext cx="4343400" cy="5707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/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Three components to any model: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Decision variables</a:t>
            </a: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This is what we can change to affect the system, that is, the variables we can decide upon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Objective function</a:t>
            </a:r>
          </a:p>
          <a:p>
            <a:pPr lvl="2" eaLnBrk="1" hangingPunct="1"/>
            <a:r>
              <a:rPr lang="en-US" altLang="zh-CN" sz="2000" dirty="0" err="1">
                <a:ea typeface="宋体" panose="02010600030101010101" pitchFamily="2" charset="-122"/>
              </a:rPr>
              <a:t>E.g</a:t>
            </a:r>
            <a:r>
              <a:rPr lang="en-US" altLang="zh-CN" sz="2000" dirty="0">
                <a:ea typeface="宋体" panose="02010600030101010101" pitchFamily="2" charset="-122"/>
              </a:rPr>
              <a:t>, cost to be minimized, quality measure to be maximized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Constraints</a:t>
            </a:r>
          </a:p>
          <a:p>
            <a:pPr lvl="2" eaLnBrk="1" hangingPunct="1"/>
            <a:r>
              <a:rPr lang="en-US" altLang="zh-CN" sz="2000" dirty="0">
                <a:ea typeface="宋体" panose="02010600030101010101" pitchFamily="2" charset="-122"/>
              </a:rPr>
              <a:t>Which values the decision variables can be set to</a:t>
            </a:r>
          </a:p>
        </p:txBody>
      </p:sp>
      <p:sp>
        <p:nvSpPr>
          <p:cNvPr id="2" name="右箭头 1"/>
          <p:cNvSpPr/>
          <p:nvPr/>
        </p:nvSpPr>
        <p:spPr>
          <a:xfrm>
            <a:off x="4510503" y="3454003"/>
            <a:ext cx="315497" cy="628650"/>
          </a:xfrm>
          <a:prstGeom prst="rightArrow">
            <a:avLst/>
          </a:prstGeom>
          <a:solidFill>
            <a:srgbClr val="33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441755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419100" y="1752600"/>
            <a:ext cx="83058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/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Production scheduling problems are classified based on machine environment, job characteristics, and optimality criteria.</a:t>
            </a:r>
          </a:p>
          <a:p>
            <a:pPr marL="0" indent="0" eaLnBrk="1" hangingPunct="1"/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algn="ctr" eaLnBrk="1" hangingPunct="1"/>
            <a:r>
              <a:rPr lang="en-US" altLang="zh-CN" sz="2400" dirty="0">
                <a:solidFill>
                  <a:srgbClr val="0070C0"/>
                </a:solidFill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Model: </a:t>
            </a:r>
            <a:r>
              <a:rPr lang="en-US" altLang="zh-CN" sz="2400" i="1" dirty="0">
                <a:solidFill>
                  <a:srgbClr val="0070C0"/>
                </a:solidFill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 |  | </a:t>
            </a:r>
          </a:p>
          <a:p>
            <a:pPr marL="0" indent="0" algn="ctr" eaLnBrk="1" hangingPunct="1"/>
            <a:endParaRPr lang="en-US" altLang="zh-CN" i="1" dirty="0">
              <a:latin typeface="Verdan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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dirty="0">
                <a:ea typeface="宋体" panose="02010600030101010101" pitchFamily="2" charset="-122"/>
              </a:rPr>
              <a:t>machine environment</a:t>
            </a:r>
          </a:p>
          <a:p>
            <a:pPr lvl="1" eaLnBrk="1" hangingPunct="1"/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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dirty="0">
                <a:ea typeface="宋体" panose="02010600030101010101" pitchFamily="2" charset="-122"/>
              </a:rPr>
              <a:t>job characteristics</a:t>
            </a:r>
          </a:p>
          <a:p>
            <a:pPr lvl="1" eaLnBrk="1" hangingPunct="1"/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</a:t>
            </a:r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	optimality criteria</a:t>
            </a:r>
          </a:p>
          <a:p>
            <a:pPr marL="0" indent="0" eaLnBrk="1" hangingPunct="1"/>
            <a:endParaRPr lang="en-US" altLang="zh-CN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467600" cy="533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400" b="1" dirty="0">
                <a:latin typeface="Verdana" charset="0"/>
                <a:cs typeface="宋体" charset="0"/>
              </a:rPr>
              <a:t>Classification:</a:t>
            </a:r>
            <a:endParaRPr kumimoji="0" lang="zh-CN" altLang="en-US" sz="2400" b="1" cap="none" dirty="0">
              <a:latin typeface="Verdan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8939119"/>
      </p:ext>
    </p:extLst>
  </p:cSld>
  <p:clrMapOvr>
    <a:masterClrMapping/>
  </p:clrMapOvr>
  <p:transition>
    <p:strips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467600" cy="5334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CN" sz="2400" b="1" dirty="0">
                <a:latin typeface="Verdana" charset="0"/>
                <a:cs typeface="宋体" charset="0"/>
              </a:rPr>
              <a:t>Machine Configurations</a:t>
            </a:r>
            <a:endParaRPr kumimoji="0" lang="zh-CN" altLang="en-US" sz="2400" b="1" cap="none" dirty="0">
              <a:latin typeface="Verdana" pitchFamily="34" charset="0"/>
              <a:ea typeface="宋体" pitchFamily="2" charset="-122"/>
            </a:endParaRP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914400" y="1981200"/>
            <a:ext cx="1905000" cy="381000"/>
            <a:chOff x="576" y="1632"/>
            <a:chExt cx="1200" cy="240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536" y="1632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912" y="1776"/>
              <a:ext cx="4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6"/>
            <p:cNvSpPr>
              <a:spLocks noChangeArrowheads="1"/>
            </p:cNvSpPr>
            <p:nvPr/>
          </p:nvSpPr>
          <p:spPr bwMode="auto">
            <a:xfrm>
              <a:off x="720" y="1728"/>
              <a:ext cx="96" cy="9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10" name="Oval 7"/>
            <p:cNvSpPr>
              <a:spLocks noChangeArrowheads="1"/>
            </p:cNvSpPr>
            <p:nvPr/>
          </p:nvSpPr>
          <p:spPr bwMode="auto">
            <a:xfrm>
              <a:off x="576" y="1728"/>
              <a:ext cx="96" cy="9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Group 8"/>
          <p:cNvGrpSpPr>
            <a:grpSpLocks/>
          </p:cNvGrpSpPr>
          <p:nvPr/>
        </p:nvGrpSpPr>
        <p:grpSpPr bwMode="auto">
          <a:xfrm>
            <a:off x="5334000" y="1295400"/>
            <a:ext cx="2743200" cy="1828800"/>
            <a:chOff x="2928" y="1248"/>
            <a:chExt cx="1728" cy="1152"/>
          </a:xfrm>
        </p:grpSpPr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4416" y="1248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4416" y="2160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4416" y="1704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15" name="Oval 12"/>
            <p:cNvSpPr>
              <a:spLocks noChangeArrowheads="1"/>
            </p:cNvSpPr>
            <p:nvPr/>
          </p:nvSpPr>
          <p:spPr bwMode="auto">
            <a:xfrm>
              <a:off x="3312" y="1776"/>
              <a:ext cx="96" cy="9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16" name="Oval 13"/>
            <p:cNvSpPr>
              <a:spLocks noChangeArrowheads="1"/>
            </p:cNvSpPr>
            <p:nvPr/>
          </p:nvSpPr>
          <p:spPr bwMode="auto">
            <a:xfrm>
              <a:off x="3120" y="1776"/>
              <a:ext cx="96" cy="9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17" name="Oval 14"/>
            <p:cNvSpPr>
              <a:spLocks noChangeArrowheads="1"/>
            </p:cNvSpPr>
            <p:nvPr/>
          </p:nvSpPr>
          <p:spPr bwMode="auto">
            <a:xfrm>
              <a:off x="2928" y="1776"/>
              <a:ext cx="96" cy="9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V="1">
              <a:off x="3504" y="1392"/>
              <a:ext cx="768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6"/>
            <p:cNvSpPr>
              <a:spLocks noChangeShapeType="1"/>
            </p:cNvSpPr>
            <p:nvPr/>
          </p:nvSpPr>
          <p:spPr bwMode="auto">
            <a:xfrm>
              <a:off x="3504" y="1824"/>
              <a:ext cx="7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3504" y="1872"/>
              <a:ext cx="768" cy="3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18"/>
          <p:cNvGrpSpPr>
            <a:grpSpLocks/>
          </p:cNvGrpSpPr>
          <p:nvPr/>
        </p:nvGrpSpPr>
        <p:grpSpPr bwMode="auto">
          <a:xfrm>
            <a:off x="990600" y="3276600"/>
            <a:ext cx="4191000" cy="419100"/>
            <a:chOff x="336" y="960"/>
            <a:chExt cx="2640" cy="264"/>
          </a:xfrm>
        </p:grpSpPr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2736" y="960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720" y="110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21"/>
            <p:cNvSpPr>
              <a:spLocks noChangeArrowheads="1"/>
            </p:cNvSpPr>
            <p:nvPr/>
          </p:nvSpPr>
          <p:spPr bwMode="auto">
            <a:xfrm>
              <a:off x="528" y="1056"/>
              <a:ext cx="96" cy="9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27" name="Oval 22"/>
            <p:cNvSpPr>
              <a:spLocks noChangeArrowheads="1"/>
            </p:cNvSpPr>
            <p:nvPr/>
          </p:nvSpPr>
          <p:spPr bwMode="auto">
            <a:xfrm>
              <a:off x="336" y="1056"/>
              <a:ext cx="96" cy="9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1968" y="960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>
              <a:off x="1152" y="984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2304" y="110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1536" y="1105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" name="Group 27"/>
          <p:cNvGrpSpPr>
            <a:grpSpLocks/>
          </p:cNvGrpSpPr>
          <p:nvPr/>
        </p:nvGrpSpPr>
        <p:grpSpPr bwMode="auto">
          <a:xfrm>
            <a:off x="990600" y="4419600"/>
            <a:ext cx="6705600" cy="2286000"/>
            <a:chOff x="480" y="1752"/>
            <a:chExt cx="4224" cy="1440"/>
          </a:xfrm>
        </p:grpSpPr>
        <p:sp>
          <p:nvSpPr>
            <p:cNvPr id="33" name="Rectangle 28"/>
            <p:cNvSpPr>
              <a:spLocks noChangeArrowheads="1"/>
            </p:cNvSpPr>
            <p:nvPr/>
          </p:nvSpPr>
          <p:spPr bwMode="auto">
            <a:xfrm>
              <a:off x="2208" y="2952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34" name="Rectangle 29"/>
            <p:cNvSpPr>
              <a:spLocks noChangeArrowheads="1"/>
            </p:cNvSpPr>
            <p:nvPr/>
          </p:nvSpPr>
          <p:spPr bwMode="auto">
            <a:xfrm>
              <a:off x="2184" y="1776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35" name="Rectangle 30"/>
            <p:cNvSpPr>
              <a:spLocks noChangeArrowheads="1"/>
            </p:cNvSpPr>
            <p:nvPr/>
          </p:nvSpPr>
          <p:spPr bwMode="auto">
            <a:xfrm>
              <a:off x="2208" y="2376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36" name="Oval 31"/>
            <p:cNvSpPr>
              <a:spLocks noChangeArrowheads="1"/>
            </p:cNvSpPr>
            <p:nvPr/>
          </p:nvSpPr>
          <p:spPr bwMode="auto">
            <a:xfrm>
              <a:off x="672" y="2496"/>
              <a:ext cx="96" cy="96"/>
            </a:xfrm>
            <a:prstGeom prst="ellipse">
              <a:avLst/>
            </a:prstGeom>
            <a:solidFill>
              <a:srgbClr val="FFCC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37" name="Oval 32"/>
            <p:cNvSpPr>
              <a:spLocks noChangeArrowheads="1"/>
            </p:cNvSpPr>
            <p:nvPr/>
          </p:nvSpPr>
          <p:spPr bwMode="auto">
            <a:xfrm>
              <a:off x="720" y="1824"/>
              <a:ext cx="96" cy="9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38" name="Oval 33"/>
            <p:cNvSpPr>
              <a:spLocks noChangeArrowheads="1"/>
            </p:cNvSpPr>
            <p:nvPr/>
          </p:nvSpPr>
          <p:spPr bwMode="auto">
            <a:xfrm>
              <a:off x="528" y="1824"/>
              <a:ext cx="96" cy="96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>
              <a:off x="1536" y="2517"/>
              <a:ext cx="57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Rectangle 35"/>
            <p:cNvSpPr>
              <a:spLocks noChangeArrowheads="1"/>
            </p:cNvSpPr>
            <p:nvPr/>
          </p:nvSpPr>
          <p:spPr bwMode="auto">
            <a:xfrm>
              <a:off x="1152" y="2376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41" name="Rectangle 36"/>
            <p:cNvSpPr>
              <a:spLocks noChangeArrowheads="1"/>
            </p:cNvSpPr>
            <p:nvPr/>
          </p:nvSpPr>
          <p:spPr bwMode="auto">
            <a:xfrm>
              <a:off x="1152" y="1752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42" name="Rectangle 37"/>
            <p:cNvSpPr>
              <a:spLocks noChangeArrowheads="1"/>
            </p:cNvSpPr>
            <p:nvPr/>
          </p:nvSpPr>
          <p:spPr bwMode="auto">
            <a:xfrm>
              <a:off x="3072" y="2952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3048" y="2376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44" name="Oval 39"/>
            <p:cNvSpPr>
              <a:spLocks noChangeArrowheads="1"/>
            </p:cNvSpPr>
            <p:nvPr/>
          </p:nvSpPr>
          <p:spPr bwMode="auto">
            <a:xfrm>
              <a:off x="1824" y="3096"/>
              <a:ext cx="96" cy="96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45" name="Oval 40"/>
            <p:cNvSpPr>
              <a:spLocks noChangeArrowheads="1"/>
            </p:cNvSpPr>
            <p:nvPr/>
          </p:nvSpPr>
          <p:spPr bwMode="auto">
            <a:xfrm>
              <a:off x="1632" y="3096"/>
              <a:ext cx="96" cy="96"/>
            </a:xfrm>
            <a:prstGeom prst="ellipse">
              <a:avLst/>
            </a:prstGeom>
            <a:solidFill>
              <a:srgbClr val="3366FF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46" name="Oval 41"/>
            <p:cNvSpPr>
              <a:spLocks noChangeArrowheads="1"/>
            </p:cNvSpPr>
            <p:nvPr/>
          </p:nvSpPr>
          <p:spPr bwMode="auto">
            <a:xfrm>
              <a:off x="480" y="2496"/>
              <a:ext cx="96" cy="96"/>
            </a:xfrm>
            <a:prstGeom prst="ellipse">
              <a:avLst/>
            </a:prstGeom>
            <a:solidFill>
              <a:srgbClr val="FFCC00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47" name="Oval 42"/>
            <p:cNvSpPr>
              <a:spLocks noChangeArrowheads="1"/>
            </p:cNvSpPr>
            <p:nvPr/>
          </p:nvSpPr>
          <p:spPr bwMode="auto">
            <a:xfrm>
              <a:off x="864" y="2496"/>
              <a:ext cx="96" cy="96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48" name="Line 43"/>
            <p:cNvSpPr>
              <a:spLocks noChangeShapeType="1"/>
            </p:cNvSpPr>
            <p:nvPr/>
          </p:nvSpPr>
          <p:spPr bwMode="auto">
            <a:xfrm>
              <a:off x="2544" y="1920"/>
              <a:ext cx="384" cy="336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44"/>
            <p:cNvSpPr>
              <a:spLocks noChangeShapeType="1"/>
            </p:cNvSpPr>
            <p:nvPr/>
          </p:nvSpPr>
          <p:spPr bwMode="auto">
            <a:xfrm flipV="1">
              <a:off x="1536" y="1920"/>
              <a:ext cx="576" cy="456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Rectangle 45"/>
            <p:cNvSpPr>
              <a:spLocks noChangeArrowheads="1"/>
            </p:cNvSpPr>
            <p:nvPr/>
          </p:nvSpPr>
          <p:spPr bwMode="auto">
            <a:xfrm>
              <a:off x="3912" y="2952"/>
              <a:ext cx="240" cy="240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zh-CN" altLang="en-US" sz="1800" b="0">
                <a:ea typeface="宋体" panose="02010600030101010101" pitchFamily="2" charset="-122"/>
              </a:endParaRPr>
            </a:p>
          </p:txBody>
        </p:sp>
        <p:sp>
          <p:nvSpPr>
            <p:cNvPr id="51" name="Line 46"/>
            <p:cNvSpPr>
              <a:spLocks noChangeShapeType="1"/>
            </p:cNvSpPr>
            <p:nvPr/>
          </p:nvSpPr>
          <p:spPr bwMode="auto">
            <a:xfrm>
              <a:off x="3072" y="2688"/>
              <a:ext cx="0" cy="192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47"/>
            <p:cNvSpPr>
              <a:spLocks noChangeShapeType="1"/>
            </p:cNvSpPr>
            <p:nvPr/>
          </p:nvSpPr>
          <p:spPr bwMode="auto">
            <a:xfrm>
              <a:off x="3408" y="3139"/>
              <a:ext cx="384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Line 48"/>
            <p:cNvSpPr>
              <a:spLocks noChangeShapeType="1"/>
            </p:cNvSpPr>
            <p:nvPr/>
          </p:nvSpPr>
          <p:spPr bwMode="auto">
            <a:xfrm>
              <a:off x="1536" y="1872"/>
              <a:ext cx="5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Line 49"/>
            <p:cNvSpPr>
              <a:spLocks noChangeShapeType="1"/>
            </p:cNvSpPr>
            <p:nvPr/>
          </p:nvSpPr>
          <p:spPr bwMode="auto">
            <a:xfrm>
              <a:off x="2610" y="2494"/>
              <a:ext cx="384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50"/>
            <p:cNvSpPr>
              <a:spLocks noChangeShapeType="1"/>
            </p:cNvSpPr>
            <p:nvPr/>
          </p:nvSpPr>
          <p:spPr bwMode="auto">
            <a:xfrm>
              <a:off x="2544" y="2517"/>
              <a:ext cx="432" cy="435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" name="Line 51"/>
            <p:cNvSpPr>
              <a:spLocks noChangeShapeType="1"/>
            </p:cNvSpPr>
            <p:nvPr/>
          </p:nvSpPr>
          <p:spPr bwMode="auto">
            <a:xfrm flipH="1" flipV="1">
              <a:off x="2448" y="2016"/>
              <a:ext cx="624" cy="93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Line 52"/>
            <p:cNvSpPr>
              <a:spLocks noChangeShapeType="1"/>
            </p:cNvSpPr>
            <p:nvPr/>
          </p:nvSpPr>
          <p:spPr bwMode="auto">
            <a:xfrm>
              <a:off x="2640" y="1848"/>
              <a:ext cx="384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53"/>
            <p:cNvSpPr>
              <a:spLocks noChangeShapeType="1"/>
            </p:cNvSpPr>
            <p:nvPr/>
          </p:nvSpPr>
          <p:spPr bwMode="auto">
            <a:xfrm>
              <a:off x="3408" y="2496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54"/>
            <p:cNvSpPr>
              <a:spLocks noChangeShapeType="1"/>
            </p:cNvSpPr>
            <p:nvPr/>
          </p:nvSpPr>
          <p:spPr bwMode="auto">
            <a:xfrm>
              <a:off x="4320" y="3155"/>
              <a:ext cx="384" cy="0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55"/>
            <p:cNvSpPr>
              <a:spLocks noChangeShapeType="1"/>
            </p:cNvSpPr>
            <p:nvPr/>
          </p:nvSpPr>
          <p:spPr bwMode="auto">
            <a:xfrm>
              <a:off x="4320" y="3033"/>
              <a:ext cx="384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56"/>
            <p:cNvSpPr>
              <a:spLocks noChangeShapeType="1"/>
            </p:cNvSpPr>
            <p:nvPr/>
          </p:nvSpPr>
          <p:spPr bwMode="auto">
            <a:xfrm>
              <a:off x="3408" y="3033"/>
              <a:ext cx="384" cy="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57"/>
            <p:cNvSpPr>
              <a:spLocks noChangeShapeType="1"/>
            </p:cNvSpPr>
            <p:nvPr/>
          </p:nvSpPr>
          <p:spPr bwMode="auto">
            <a:xfrm>
              <a:off x="2592" y="1785"/>
              <a:ext cx="38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58"/>
            <p:cNvSpPr>
              <a:spLocks noChangeShapeType="1"/>
            </p:cNvSpPr>
            <p:nvPr/>
          </p:nvSpPr>
          <p:spPr bwMode="auto">
            <a:xfrm flipV="1">
              <a:off x="2304" y="2688"/>
              <a:ext cx="0" cy="19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59"/>
            <p:cNvSpPr>
              <a:spLocks noChangeShapeType="1"/>
            </p:cNvSpPr>
            <p:nvPr/>
          </p:nvSpPr>
          <p:spPr bwMode="auto">
            <a:xfrm>
              <a:off x="3216" y="2688"/>
              <a:ext cx="0" cy="192"/>
            </a:xfrm>
            <a:prstGeom prst="line">
              <a:avLst/>
            </a:prstGeom>
            <a:noFill/>
            <a:ln w="38100">
              <a:solidFill>
                <a:srgbClr val="3366FF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5" name="Text Box 60"/>
          <p:cNvSpPr txBox="1">
            <a:spLocks noChangeArrowheads="1"/>
          </p:cNvSpPr>
          <p:nvPr/>
        </p:nvSpPr>
        <p:spPr bwMode="auto">
          <a:xfrm>
            <a:off x="838200" y="14478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0">
                <a:latin typeface="Tahoma" panose="020B0604030504040204" pitchFamily="34" charset="0"/>
                <a:ea typeface="宋体" panose="02010600030101010101" pitchFamily="2" charset="-122"/>
              </a:rPr>
              <a:t>Single Machine</a:t>
            </a:r>
          </a:p>
        </p:txBody>
      </p:sp>
      <p:sp>
        <p:nvSpPr>
          <p:cNvPr id="66" name="Text Box 61"/>
          <p:cNvSpPr txBox="1">
            <a:spLocks noChangeArrowheads="1"/>
          </p:cNvSpPr>
          <p:nvPr/>
        </p:nvSpPr>
        <p:spPr bwMode="auto">
          <a:xfrm>
            <a:off x="4038600" y="14478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0" dirty="0">
                <a:latin typeface="Tahoma" panose="020B0604030504040204" pitchFamily="34" charset="0"/>
                <a:ea typeface="宋体" panose="02010600030101010101" pitchFamily="2" charset="-122"/>
              </a:rPr>
              <a:t>Parallel-Machine</a:t>
            </a:r>
          </a:p>
        </p:txBody>
      </p:sp>
      <p:sp>
        <p:nvSpPr>
          <p:cNvPr id="67" name="Text Box 62"/>
          <p:cNvSpPr txBox="1">
            <a:spLocks noChangeArrowheads="1"/>
          </p:cNvSpPr>
          <p:nvPr/>
        </p:nvSpPr>
        <p:spPr bwMode="auto">
          <a:xfrm>
            <a:off x="838200" y="25908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0">
                <a:latin typeface="Tahoma" panose="020B0604030504040204" pitchFamily="34" charset="0"/>
                <a:ea typeface="宋体" panose="02010600030101010101" pitchFamily="2" charset="-122"/>
              </a:rPr>
              <a:t>Flow Shop</a:t>
            </a:r>
          </a:p>
        </p:txBody>
      </p:sp>
      <p:sp>
        <p:nvSpPr>
          <p:cNvPr id="68" name="Text Box 63"/>
          <p:cNvSpPr txBox="1">
            <a:spLocks noChangeArrowheads="1"/>
          </p:cNvSpPr>
          <p:nvPr/>
        </p:nvSpPr>
        <p:spPr bwMode="auto">
          <a:xfrm>
            <a:off x="914400" y="38100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zh-CN" sz="2800" b="0">
                <a:latin typeface="Tahoma" panose="020B0604030504040204" pitchFamily="34" charset="0"/>
                <a:ea typeface="宋体" panose="02010600030101010101" pitchFamily="2" charset="-122"/>
              </a:rPr>
              <a:t>Job Shop</a:t>
            </a:r>
          </a:p>
        </p:txBody>
      </p:sp>
    </p:spTree>
    <p:extLst>
      <p:ext uri="{BB962C8B-B14F-4D97-AF65-F5344CB8AC3E}">
        <p14:creationId xmlns:p14="http://schemas.microsoft.com/office/powerpoint/2010/main" val="3440009357"/>
      </p:ext>
    </p:extLst>
  </p:cSld>
  <p:clrMapOvr>
    <a:masterClrMapping/>
  </p:clrMapOvr>
  <p:transition>
    <p:strips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5791200" cy="533400"/>
          </a:xfrm>
        </p:spPr>
        <p:txBody>
          <a:bodyPr/>
          <a:lstStyle/>
          <a:p>
            <a:pPr eaLnBrk="1" hangingPunct="1">
              <a:defRPr/>
            </a:pPr>
            <a:r>
              <a:rPr kumimoji="0" lang="en-US" altLang="zh-CN" sz="2800" b="1" dirty="0">
                <a:latin typeface="Verdana" charset="0"/>
                <a:cs typeface="宋体" charset="0"/>
              </a:rPr>
              <a:t>Job Characteristics: </a:t>
            </a:r>
            <a:r>
              <a:rPr kumimoji="0" lang="en-US" altLang="zh-CN" sz="2800" b="1" dirty="0">
                <a:latin typeface="Verdana" charset="0"/>
                <a:cs typeface="宋体" charset="0"/>
                <a:sym typeface="Symbol" charset="0"/>
              </a:rPr>
              <a:t>	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510540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Release date/time </a:t>
            </a:r>
            <a:r>
              <a:rPr lang="en-US" altLang="zh-CN" i="1" dirty="0" err="1">
                <a:latin typeface="Verdana" panose="020B0604030504040204" pitchFamily="34" charset="0"/>
                <a:ea typeface="宋体" panose="02010600030101010101" pitchFamily="2" charset="-122"/>
              </a:rPr>
              <a:t>r</a:t>
            </a:r>
            <a:r>
              <a:rPr lang="en-US" altLang="zh-CN" i="1" baseline="-25000" dirty="0" err="1">
                <a:latin typeface="Verdana" panose="020B0604030504040204" pitchFamily="34" charset="0"/>
                <a:ea typeface="宋体" panose="02010600030101010101" pitchFamily="2" charset="-122"/>
              </a:rPr>
              <a:t>j</a:t>
            </a:r>
            <a:endParaRPr lang="en-US" altLang="zh-CN" i="1" baseline="-250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Sequence dependent setup times </a:t>
            </a:r>
            <a:r>
              <a:rPr lang="en-US" altLang="zh-CN" i="1" dirty="0" err="1">
                <a:latin typeface="Verdana" panose="020B0604030504040204" pitchFamily="34" charset="0"/>
                <a:ea typeface="宋体" panose="02010600030101010101" pitchFamily="2" charset="-122"/>
              </a:rPr>
              <a:t>s</a:t>
            </a:r>
            <a:r>
              <a:rPr lang="en-US" altLang="zh-CN" i="1" baseline="-25000" dirty="0" err="1">
                <a:latin typeface="Verdana" panose="020B0604030504040204" pitchFamily="34" charset="0"/>
                <a:ea typeface="宋体" panose="02010600030101010101" pitchFamily="2" charset="-122"/>
              </a:rPr>
              <a:t>ijk</a:t>
            </a:r>
            <a:endParaRPr lang="en-US" altLang="zh-CN" i="1" baseline="-250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Preemptions  </a:t>
            </a:r>
            <a:r>
              <a:rPr lang="en-US" altLang="zh-CN" i="1" dirty="0" err="1">
                <a:latin typeface="Verdana" panose="020B0604030504040204" pitchFamily="34" charset="0"/>
                <a:ea typeface="宋体" panose="02010600030101010101" pitchFamily="2" charset="-122"/>
              </a:rPr>
              <a:t>prmp</a:t>
            </a:r>
            <a:endParaRPr lang="en-US" altLang="zh-CN" i="1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kumimoji="0" lang="en-US" altLang="zh-CN" i="1" dirty="0">
                <a:ea typeface="宋体" panose="02010600030101010101" pitchFamily="2" charset="-122"/>
              </a:rPr>
              <a:t>Preemptive resume</a:t>
            </a:r>
          </a:p>
          <a:p>
            <a:pPr lvl="1" eaLnBrk="1" hangingPunct="1"/>
            <a:r>
              <a:rPr kumimoji="0" lang="en-US" altLang="zh-CN" i="1" dirty="0">
                <a:ea typeface="宋体" panose="02010600030101010101" pitchFamily="2" charset="-122"/>
              </a:rPr>
              <a:t>Preemptive repeat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Precedence constraints </a:t>
            </a:r>
            <a:r>
              <a:rPr lang="en-US" altLang="zh-CN" i="1" dirty="0" err="1">
                <a:latin typeface="Verdana" panose="020B0604030504040204" pitchFamily="34" charset="0"/>
                <a:ea typeface="宋体" panose="02010600030101010101" pitchFamily="2" charset="-122"/>
              </a:rPr>
              <a:t>prec</a:t>
            </a:r>
            <a:endParaRPr lang="en-US" altLang="zh-CN" i="1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Breakdowns </a:t>
            </a:r>
            <a:r>
              <a:rPr lang="en-US" altLang="zh-CN" i="1" dirty="0" err="1">
                <a:latin typeface="Verdana" panose="020B0604030504040204" pitchFamily="34" charset="0"/>
                <a:ea typeface="宋体" panose="02010600030101010101" pitchFamily="2" charset="-122"/>
              </a:rPr>
              <a:t>brkdwn</a:t>
            </a:r>
            <a:endParaRPr lang="en-US" altLang="zh-CN" i="1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Machine eligibility restrictions </a:t>
            </a:r>
            <a:r>
              <a:rPr lang="en-US" altLang="zh-CN" i="1" dirty="0" err="1">
                <a:latin typeface="Verdan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i="1" baseline="-25000" dirty="0" err="1">
                <a:latin typeface="Verdana" panose="020B0604030504040204" pitchFamily="34" charset="0"/>
                <a:ea typeface="宋体" panose="02010600030101010101" pitchFamily="2" charset="-122"/>
              </a:rPr>
              <a:t>j</a:t>
            </a:r>
            <a:endParaRPr lang="en-US" altLang="zh-CN" i="1" baseline="-250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Blocking  </a:t>
            </a:r>
            <a:r>
              <a:rPr lang="en-US" altLang="zh-CN" i="1" dirty="0">
                <a:latin typeface="Verdana" panose="020B0604030504040204" pitchFamily="34" charset="0"/>
                <a:ea typeface="宋体" panose="02010600030101010101" pitchFamily="2" charset="-122"/>
              </a:rPr>
              <a:t>block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No wait  </a:t>
            </a:r>
            <a:r>
              <a:rPr lang="en-US" altLang="zh-CN" i="1" dirty="0">
                <a:latin typeface="Verdana" panose="020B0604030504040204" pitchFamily="34" charset="0"/>
                <a:ea typeface="宋体" panose="02010600030101010101" pitchFamily="2" charset="-122"/>
              </a:rPr>
              <a:t>no-wait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Recirculation  </a:t>
            </a:r>
            <a:r>
              <a:rPr lang="en-US" altLang="zh-CN" i="1" dirty="0" err="1">
                <a:latin typeface="Verdana" panose="020B0604030504040204" pitchFamily="34" charset="0"/>
                <a:ea typeface="宋体" panose="02010600030101010101" pitchFamily="2" charset="-122"/>
              </a:rPr>
              <a:t>recrc</a:t>
            </a:r>
            <a:endParaRPr lang="en-US" altLang="zh-CN" i="1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dirty="0">
                <a:latin typeface="Verdana" panose="020B0604030504040204" pitchFamily="34" charset="0"/>
                <a:ea typeface="宋体" panose="02010600030101010101" pitchFamily="2" charset="-122"/>
              </a:rPr>
              <a:t>Permutation</a:t>
            </a:r>
            <a:r>
              <a:rPr lang="en-US" altLang="zh-CN" i="1" dirty="0"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latin typeface="Verdana" panose="020B0604030504040204" pitchFamily="34" charset="0"/>
                <a:ea typeface="宋体" panose="02010600030101010101" pitchFamily="2" charset="-122"/>
              </a:rPr>
              <a:t>prmu</a:t>
            </a:r>
            <a:endParaRPr lang="en-US" altLang="zh-CN" i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85200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305800" cy="44196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Throughput (TP) 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Verdana" panose="020B0604030504040204" pitchFamily="34" charset="0"/>
                <a:ea typeface="宋体" panose="02010600030101010101" pitchFamily="2" charset="-122"/>
              </a:rPr>
              <a:t>Makespan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(</a:t>
            </a:r>
            <a:r>
              <a:rPr lang="en-US" altLang="zh-CN" sz="2400" i="1" dirty="0" err="1">
                <a:latin typeface="Verdana" panose="020B0604030504040204" pitchFamily="34" charset="0"/>
                <a:ea typeface="宋体" panose="02010600030101010101" pitchFamily="2" charset="-122"/>
              </a:rPr>
              <a:t>C</a:t>
            </a:r>
            <a:r>
              <a:rPr lang="en-US" altLang="zh-CN" sz="2400" i="1" baseline="-25000" dirty="0" err="1">
                <a:latin typeface="Verdana" panose="020B0604030504040204" pitchFamily="34" charset="0"/>
                <a:ea typeface="宋体" panose="02010600030101010101" pitchFamily="2" charset="-122"/>
              </a:rPr>
              <a:t>max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)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Due date related objectives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Work-in-process (WIP), finished inventory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Lead time (cycle time, response time)</a:t>
            </a: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Others</a:t>
            </a:r>
          </a:p>
        </p:txBody>
      </p:sp>
      <p:sp>
        <p:nvSpPr>
          <p:cNvPr id="73731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1219200"/>
            <a:ext cx="8382000" cy="5334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kumimoji="0" lang="en-US" altLang="zh-CN" sz="3200" b="1" cap="none" dirty="0">
                <a:latin typeface="Verdana" pitchFamily="34" charset="0"/>
                <a:ea typeface="宋体" pitchFamily="2" charset="-122"/>
              </a:rPr>
              <a:t>Objective/Optimality Criteria: </a:t>
            </a:r>
            <a:endParaRPr kumimoji="0" lang="en-US" altLang="zh-CN" sz="3200" b="1" cap="none" dirty="0">
              <a:latin typeface="Verdana" pitchFamily="34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38916" name="页脚占位符 1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000" b="0">
                <a:latin typeface="Verdana" panose="020B0604030504040204" pitchFamily="34" charset="0"/>
                <a:ea typeface="宋体" panose="02010600030101010101" pitchFamily="2" charset="-122"/>
              </a:rPr>
              <a:t>Copyright ©2016 Qi Chao. All rights reserved.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24217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14400"/>
            <a:ext cx="8305800" cy="3048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zh-CN" altLang="en-US" sz="2000" b="1" dirty="0">
                <a:latin typeface="Verdana" charset="0"/>
                <a:cs typeface="宋体" charset="0"/>
              </a:rPr>
              <a:t>单机调度</a:t>
            </a:r>
            <a:r>
              <a:rPr kumimoji="0" lang="zh-CN" altLang="en-US" sz="2000" b="1" dirty="0">
                <a:latin typeface="Verdana" charset="0"/>
                <a:cs typeface="宋体" charset="0"/>
              </a:rPr>
              <a:t>符号定义：</a:t>
            </a:r>
            <a:endParaRPr kumimoji="0" lang="en-US" altLang="zh-CN" sz="2000" b="1" dirty="0">
              <a:latin typeface="Verdana" charset="0"/>
              <a:cs typeface="宋体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23850" y="1447800"/>
            <a:ext cx="851535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任务释放时间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(release time)	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endParaRPr lang="en-US" altLang="zh-CN" i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任务截止时间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(due date) 	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endParaRPr lang="en-US" altLang="zh-CN" i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任务处理时间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(processing time) 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endParaRPr lang="en-US" altLang="zh-CN" i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任务开始时间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(start time) 	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endParaRPr lang="en-US" altLang="zh-CN" i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任务结束时间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(completion time) 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endParaRPr lang="en-US" altLang="zh-CN" i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任务流时间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(flow time)	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endParaRPr lang="en-US" altLang="zh-CN" i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任务等待时间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(waiting time)	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endParaRPr lang="en-US" altLang="zh-CN" i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任务延迟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(lateness)		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endParaRPr lang="en-US" altLang="zh-CN" i="1" baseline="-25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任务拖期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(tardiness)		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max(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–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0) = (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–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0826362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5"/>
          <p:cNvSpPr>
            <a:spLocks noGrp="1" noChangeArrowheads="1"/>
          </p:cNvSpPr>
          <p:nvPr>
            <p:ph type="title"/>
          </p:nvPr>
        </p:nvSpPr>
        <p:spPr>
          <a:xfrm>
            <a:off x="4011" y="609600"/>
            <a:ext cx="8382000" cy="533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kumimoji="0" lang="en-US" altLang="zh-CN" sz="2400" b="1" cap="none" dirty="0">
                <a:latin typeface="Verdana" pitchFamily="34" charset="0"/>
                <a:ea typeface="宋体" pitchFamily="2" charset="-122"/>
                <a:sym typeface="Symbol" pitchFamily="18" charset="2"/>
              </a:rPr>
              <a:t>Dispatching rules</a:t>
            </a:r>
            <a:r>
              <a:rPr kumimoji="0" lang="zh-CN" altLang="en-US" sz="2400" b="1" cap="none" dirty="0">
                <a:latin typeface="Verdana" pitchFamily="34" charset="0"/>
                <a:ea typeface="宋体" pitchFamily="2" charset="-122"/>
                <a:sym typeface="Symbol" pitchFamily="18" charset="2"/>
              </a:rPr>
              <a:t>：</a:t>
            </a:r>
            <a:endParaRPr kumimoji="0" lang="en-US" altLang="zh-CN" sz="2400" b="1" cap="none" dirty="0">
              <a:latin typeface="Verdana" pitchFamily="34" charset="0"/>
              <a:ea typeface="宋体" pitchFamily="2" charset="-122"/>
              <a:sym typeface="Symbol" pitchFamily="18" charset="2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389014"/>
              </p:ext>
            </p:extLst>
          </p:nvPr>
        </p:nvGraphicFramePr>
        <p:xfrm>
          <a:off x="465138" y="1173163"/>
          <a:ext cx="12684125" cy="835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文档" r:id="rId3" imgW="8369300" imgH="6311900" progId="Word.Document.8">
                  <p:embed/>
                </p:oleObj>
              </mc:Choice>
              <mc:Fallback>
                <p:oleObj name="文档" r:id="rId3" imgW="8369300" imgH="63119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38" y="1173163"/>
                        <a:ext cx="12684125" cy="835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4521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914400"/>
            <a:ext cx="8305800" cy="5635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kumimoji="0" lang="en-US" altLang="zh-CN" sz="2800" b="1" dirty="0">
                <a:latin typeface="Verdana" charset="0"/>
                <a:cs typeface="宋体" charset="0"/>
              </a:rPr>
              <a:t>Sequencing theory for </a:t>
            </a:r>
            <a:r>
              <a:rPr kumimoji="0" lang="en-US" altLang="zh-CN" sz="2800" b="1" i="1" u="sng" dirty="0">
                <a:latin typeface="Verdana" charset="0"/>
                <a:cs typeface="宋体" charset="0"/>
              </a:rPr>
              <a:t>a single machine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323850" y="1905000"/>
            <a:ext cx="836295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The scheduling rule that minimizes the </a:t>
            </a:r>
            <a:r>
              <a:rPr lang="en-US" altLang="zh-CN" sz="2400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mean flow time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is </a:t>
            </a:r>
            <a:r>
              <a:rPr lang="en-US" altLang="zh-CN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Shortest Processing Time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The following measures are equivalent: mean flow time, mean waiting time, and mean lateness for single machine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SPT minimizes mean flow time, mean waiting time, and mean lateness for single-machine sequencing.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Earliest due date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minimizes the </a:t>
            </a:r>
            <a:r>
              <a:rPr lang="en-US" altLang="zh-CN" sz="2400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maximum lateness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.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Moore’s algorithm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(1968) minimizes </a:t>
            </a:r>
            <a:r>
              <a:rPr lang="en-US" altLang="zh-CN" sz="2400" dirty="0">
                <a:solidFill>
                  <a:srgbClr val="0000FF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the number of tardy jobs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Lawler’s algorithm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(1973) is a powerful technique for solving a variety of constrained scheduling problems</a:t>
            </a:r>
          </a:p>
        </p:txBody>
      </p:sp>
    </p:spTree>
    <p:extLst>
      <p:ext uri="{BB962C8B-B14F-4D97-AF65-F5344CB8AC3E}">
        <p14:creationId xmlns:p14="http://schemas.microsoft.com/office/powerpoint/2010/main" val="6679651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标题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534400" cy="563563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kumimoji="0" lang="en-US" altLang="zh-CN" sz="3200" b="1" cap="none" dirty="0">
                <a:latin typeface="Verdana" pitchFamily="34" charset="0"/>
                <a:ea typeface="宋体" pitchFamily="2" charset="-122"/>
              </a:rPr>
              <a:t>An important single machine model</a:t>
            </a:r>
            <a:endParaRPr kumimoji="0" lang="zh-CN" altLang="en-US" sz="3200" b="1" cap="none" dirty="0">
              <a:latin typeface="Verdana" pitchFamily="34" charset="0"/>
              <a:ea typeface="宋体" pitchFamily="2" charset="-122"/>
            </a:endParaRPr>
          </a:p>
        </p:txBody>
      </p:sp>
      <p:graphicFrame>
        <p:nvGraphicFramePr>
          <p:cNvPr id="6" name="表格占位符 5"/>
          <p:cNvGraphicFramePr>
            <a:graphicFrameLocks noGrp="1"/>
          </p:cNvGraphicFramePr>
          <p:nvPr>
            <p:ph type="tbl" idx="1"/>
          </p:nvPr>
        </p:nvGraphicFramePr>
        <p:xfrm>
          <a:off x="428625" y="4845050"/>
          <a:ext cx="8229600" cy="1479552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Jobs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p</a:t>
                      </a:r>
                      <a:r>
                        <a:rPr kumimoji="0" lang="en-US" altLang="zh-CN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j</a:t>
                      </a:r>
                      <a:endParaRPr kumimoji="0" lang="zh-CN" altLang="en-US" sz="1800" b="0" i="1" u="none" strike="noStrike" cap="none" normalizeH="0" baseline="-2500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4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6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j</a:t>
                      </a:r>
                      <a:endParaRPr kumimoji="0" lang="zh-CN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0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CN" sz="1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  <a:cs typeface="+mn-cs"/>
                        </a:rPr>
                        <a:t>1</a:t>
                      </a:r>
                      <a:endParaRPr kumimoji="0" lang="zh-CN" altLang="en-US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  <a:cs typeface="+mn-cs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3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5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0" lang="en-US" altLang="zh-CN" sz="1800" b="0" i="1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j</a:t>
                      </a:r>
                      <a:endParaRPr kumimoji="0" lang="zh-CN" altLang="en-US" sz="1800" b="0" i="1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8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12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11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10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Verdana" pitchFamily="34" charset="0"/>
                        <a:ea typeface="宋体" pitchFamily="2" charset="-122"/>
                      </a:endParaRP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419" name="Object 2"/>
          <p:cNvGraphicFramePr>
            <a:graphicFrameLocks noChangeAspect="1"/>
          </p:cNvGraphicFramePr>
          <p:nvPr/>
        </p:nvGraphicFramePr>
        <p:xfrm>
          <a:off x="3773488" y="873125"/>
          <a:ext cx="15398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4" name="公式" r:id="rId3" imgW="609336" imgH="241195" progId="Equation.3">
                  <p:embed/>
                </p:oleObj>
              </mc:Choice>
              <mc:Fallback>
                <p:oleObj name="公式" r:id="rId3" imgW="609336" imgH="241195" progId="Equation.3">
                  <p:embed/>
                  <p:pic>
                    <p:nvPicPr>
                      <p:cNvPr id="1641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88" y="873125"/>
                        <a:ext cx="15398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0" name="TextBox 8"/>
          <p:cNvSpPr txBox="1">
            <a:spLocks noChangeArrowheads="1"/>
          </p:cNvSpPr>
          <p:nvPr/>
        </p:nvSpPr>
        <p:spPr bwMode="auto">
          <a:xfrm>
            <a:off x="342900" y="1524000"/>
            <a:ext cx="3657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0">
                <a:ea typeface="宋体" panose="02010600030101010101" pitchFamily="2" charset="-122"/>
              </a:rPr>
              <a:t>It is strongly NP-hard.</a:t>
            </a: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16421" name="页脚占位符 1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000" b="0">
                <a:latin typeface="Verdana" panose="020B0604030504040204" pitchFamily="34" charset="0"/>
                <a:ea typeface="宋体" panose="02010600030101010101" pitchFamily="2" charset="-122"/>
              </a:rPr>
              <a:t>Copyright ©2016 Qi Chao. All rights reserved.</a:t>
            </a:r>
          </a:p>
        </p:txBody>
      </p:sp>
      <p:sp>
        <p:nvSpPr>
          <p:cNvPr id="16422" name="TextBox 8"/>
          <p:cNvSpPr txBox="1">
            <a:spLocks noChangeArrowheads="1"/>
          </p:cNvSpPr>
          <p:nvPr/>
        </p:nvSpPr>
        <p:spPr bwMode="auto">
          <a:xfrm>
            <a:off x="342900" y="1976438"/>
            <a:ext cx="8572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0">
                <a:ea typeface="宋体" panose="02010600030101010101" pitchFamily="2" charset="-122"/>
              </a:rPr>
              <a:t>It often appears as a subproblem in heuristics for flowshop and jobshop problem</a:t>
            </a: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8" name="TextBox 8"/>
          <p:cNvSpPr txBox="1">
            <a:spLocks noChangeArrowheads="1"/>
          </p:cNvSpPr>
          <p:nvPr/>
        </p:nvSpPr>
        <p:spPr bwMode="auto">
          <a:xfrm>
            <a:off x="342900" y="2778125"/>
            <a:ext cx="8153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>
                <a:solidFill>
                  <a:srgbClr val="0066FF"/>
                </a:solidFill>
                <a:ea typeface="宋体" panose="02010600030101010101" pitchFamily="2" charset="-122"/>
              </a:rPr>
              <a:t>Branch and bound procedure</a:t>
            </a:r>
            <a:r>
              <a:rPr lang="en-US" altLang="zh-CN" b="0">
                <a:ea typeface="宋体" panose="02010600030101010101" pitchFamily="2" charset="-122"/>
              </a:rPr>
              <a:t>:  bounds for nodes can be obtained by solving the following problem.</a:t>
            </a: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" y="4376738"/>
            <a:ext cx="3657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0">
                <a:ea typeface="宋体" panose="02010600030101010101" pitchFamily="2" charset="-122"/>
              </a:rPr>
              <a:t>Example: </a:t>
            </a:r>
            <a:endParaRPr lang="zh-CN" altLang="en-US" b="0">
              <a:ea typeface="宋体" panose="02010600030101010101" pitchFamily="2" charset="-122"/>
            </a:endParaRPr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/>
        </p:nvGraphicFramePr>
        <p:xfrm>
          <a:off x="1143000" y="3581400"/>
          <a:ext cx="30162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5" name="公式" r:id="rId5" imgW="1193800" imgH="241300" progId="Equation.3">
                  <p:embed/>
                </p:oleObj>
              </mc:Choice>
              <mc:Fallback>
                <p:oleObj name="公式" r:id="rId5" imgW="1193800" imgH="241300" progId="Equation.3">
                  <p:embed/>
                  <p:pic>
                    <p:nvPicPr>
                      <p:cNvPr id="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81400"/>
                        <a:ext cx="3016250" cy="6096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343400" y="3640138"/>
            <a:ext cx="3200400" cy="400050"/>
            <a:chOff x="4343400" y="3640299"/>
            <a:chExt cx="3200400" cy="400050"/>
          </a:xfrm>
        </p:grpSpPr>
        <p:sp>
          <p:nvSpPr>
            <p:cNvPr id="16427" name="TextBox 8"/>
            <p:cNvSpPr txBox="1">
              <a:spLocks noChangeArrowheads="1"/>
            </p:cNvSpPr>
            <p:nvPr/>
          </p:nvSpPr>
          <p:spPr bwMode="auto">
            <a:xfrm>
              <a:off x="4800600" y="3640299"/>
              <a:ext cx="27432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solidFill>
                    <a:srgbClr val="FF0000"/>
                  </a:solidFill>
                  <a:ea typeface="宋体" panose="02010600030101010101" pitchFamily="2" charset="-122"/>
                </a:rPr>
                <a:t>Preemptive EDD rule </a:t>
              </a:r>
              <a:endParaRPr lang="zh-CN" altLang="en-US" b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" name="右箭头 1"/>
            <p:cNvSpPr/>
            <p:nvPr/>
          </p:nvSpPr>
          <p:spPr>
            <a:xfrm rot="10800000">
              <a:off x="4343400" y="3733961"/>
              <a:ext cx="457200" cy="306388"/>
            </a:xfrm>
            <a:prstGeom prst="rightArrow">
              <a:avLst/>
            </a:prstGeom>
            <a:solidFill>
              <a:srgbClr val="33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43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3"/>
          <p:cNvSpPr>
            <a:spLocks noChangeArrowheads="1"/>
          </p:cNvSpPr>
          <p:nvPr/>
        </p:nvSpPr>
        <p:spPr bwMode="auto">
          <a:xfrm>
            <a:off x="3886200" y="1524000"/>
            <a:ext cx="1295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(•,•,•,•)</a:t>
            </a:r>
          </a:p>
        </p:txBody>
      </p:sp>
      <p:sp>
        <p:nvSpPr>
          <p:cNvPr id="17411" name="Oval 4"/>
          <p:cNvSpPr>
            <a:spLocks noChangeArrowheads="1"/>
          </p:cNvSpPr>
          <p:nvPr/>
        </p:nvSpPr>
        <p:spPr bwMode="auto">
          <a:xfrm>
            <a:off x="1492250" y="2819400"/>
            <a:ext cx="1295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(1,•,•,•)</a:t>
            </a:r>
          </a:p>
        </p:txBody>
      </p:sp>
      <p:sp>
        <p:nvSpPr>
          <p:cNvPr id="17412" name="Oval 5"/>
          <p:cNvSpPr>
            <a:spLocks noChangeArrowheads="1"/>
          </p:cNvSpPr>
          <p:nvPr/>
        </p:nvSpPr>
        <p:spPr bwMode="auto">
          <a:xfrm>
            <a:off x="3092450" y="2819400"/>
            <a:ext cx="1295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(2,•,•,•)</a:t>
            </a:r>
          </a:p>
        </p:txBody>
      </p:sp>
      <p:sp>
        <p:nvSpPr>
          <p:cNvPr id="17413" name="Oval 6"/>
          <p:cNvSpPr>
            <a:spLocks noChangeArrowheads="1"/>
          </p:cNvSpPr>
          <p:nvPr/>
        </p:nvSpPr>
        <p:spPr bwMode="auto">
          <a:xfrm>
            <a:off x="4997450" y="2817813"/>
            <a:ext cx="1295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(3,•,•,•)</a:t>
            </a:r>
          </a:p>
        </p:txBody>
      </p:sp>
      <p:sp>
        <p:nvSpPr>
          <p:cNvPr id="17414" name="Line 7"/>
          <p:cNvSpPr>
            <a:spLocks noChangeShapeType="1"/>
          </p:cNvSpPr>
          <p:nvPr/>
        </p:nvSpPr>
        <p:spPr bwMode="auto">
          <a:xfrm flipH="1">
            <a:off x="3816350" y="2362200"/>
            <a:ext cx="800100" cy="4524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5" name="Line 8"/>
          <p:cNvSpPr>
            <a:spLocks noChangeShapeType="1"/>
          </p:cNvSpPr>
          <p:nvPr/>
        </p:nvSpPr>
        <p:spPr bwMode="auto">
          <a:xfrm flipH="1">
            <a:off x="2216150" y="1981200"/>
            <a:ext cx="171450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6" name="Line 9"/>
          <p:cNvSpPr>
            <a:spLocks noChangeShapeType="1"/>
          </p:cNvSpPr>
          <p:nvPr/>
        </p:nvSpPr>
        <p:spPr bwMode="auto">
          <a:xfrm>
            <a:off x="4616450" y="2362200"/>
            <a:ext cx="990600" cy="4587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17" name="Oval 10"/>
          <p:cNvSpPr>
            <a:spLocks noChangeArrowheads="1"/>
          </p:cNvSpPr>
          <p:nvPr/>
        </p:nvSpPr>
        <p:spPr bwMode="auto">
          <a:xfrm>
            <a:off x="654050" y="4191000"/>
            <a:ext cx="1295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(1,2,•,•)</a:t>
            </a:r>
          </a:p>
        </p:txBody>
      </p:sp>
      <p:sp>
        <p:nvSpPr>
          <p:cNvPr id="17418" name="Oval 11"/>
          <p:cNvSpPr>
            <a:spLocks noChangeArrowheads="1"/>
          </p:cNvSpPr>
          <p:nvPr/>
        </p:nvSpPr>
        <p:spPr bwMode="auto">
          <a:xfrm>
            <a:off x="2271713" y="4191000"/>
            <a:ext cx="1295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(1,3,•,•)</a:t>
            </a:r>
          </a:p>
        </p:txBody>
      </p:sp>
      <p:sp>
        <p:nvSpPr>
          <p:cNvPr id="17419" name="Line 12"/>
          <p:cNvSpPr>
            <a:spLocks noChangeShapeType="1"/>
          </p:cNvSpPr>
          <p:nvPr/>
        </p:nvSpPr>
        <p:spPr bwMode="auto">
          <a:xfrm flipH="1">
            <a:off x="1492250" y="3657600"/>
            <a:ext cx="6096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0" name="Line 13"/>
          <p:cNvSpPr>
            <a:spLocks noChangeShapeType="1"/>
          </p:cNvSpPr>
          <p:nvPr/>
        </p:nvSpPr>
        <p:spPr bwMode="auto">
          <a:xfrm>
            <a:off x="2254250" y="3657600"/>
            <a:ext cx="6858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21" name="Object 19"/>
          <p:cNvGraphicFramePr>
            <a:graphicFrameLocks noChangeAspect="1"/>
          </p:cNvGraphicFramePr>
          <p:nvPr/>
        </p:nvGraphicFramePr>
        <p:xfrm>
          <a:off x="3657600" y="5821363"/>
          <a:ext cx="13462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name="公式" r:id="rId3" imgW="571252" imgH="228501" progId="Equation.3">
                  <p:embed/>
                </p:oleObj>
              </mc:Choice>
              <mc:Fallback>
                <p:oleObj name="公式" r:id="rId3" imgW="571252" imgH="228501" progId="Equation.3">
                  <p:embed/>
                  <p:pic>
                    <p:nvPicPr>
                      <p:cNvPr id="1742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821363"/>
                        <a:ext cx="13462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2" name="页脚占位符 1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553200"/>
            <a:ext cx="3429000" cy="3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000" b="0">
                <a:latin typeface="Verdana" panose="020B0604030504040204" pitchFamily="34" charset="0"/>
                <a:ea typeface="宋体" panose="02010600030101010101" pitchFamily="2" charset="-122"/>
              </a:rPr>
              <a:t>Copyright ©2016 Qi Chao. All rights reserved.</a:t>
            </a:r>
          </a:p>
        </p:txBody>
      </p:sp>
      <p:graphicFrame>
        <p:nvGraphicFramePr>
          <p:cNvPr id="17423" name="Object 2"/>
          <p:cNvGraphicFramePr>
            <a:graphicFrameLocks noChangeAspect="1"/>
          </p:cNvGraphicFramePr>
          <p:nvPr/>
        </p:nvGraphicFramePr>
        <p:xfrm>
          <a:off x="3773488" y="304800"/>
          <a:ext cx="15398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9" name="公式" r:id="rId5" imgW="609336" imgH="241195" progId="Equation.3">
                  <p:embed/>
                </p:oleObj>
              </mc:Choice>
              <mc:Fallback>
                <p:oleObj name="公式" r:id="rId5" imgW="609336" imgH="241195" progId="Equation.3">
                  <p:embed/>
                  <p:pic>
                    <p:nvPicPr>
                      <p:cNvPr id="1742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88" y="304800"/>
                        <a:ext cx="15398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4" name="Oval 6"/>
          <p:cNvSpPr>
            <a:spLocks noChangeArrowheads="1"/>
          </p:cNvSpPr>
          <p:nvPr/>
        </p:nvSpPr>
        <p:spPr bwMode="auto">
          <a:xfrm>
            <a:off x="6629400" y="2846388"/>
            <a:ext cx="1295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(4,•,•,•)</a:t>
            </a:r>
          </a:p>
        </p:txBody>
      </p:sp>
      <p:sp>
        <p:nvSpPr>
          <p:cNvPr id="17425" name="Line 9"/>
          <p:cNvSpPr>
            <a:spLocks noChangeShapeType="1"/>
          </p:cNvSpPr>
          <p:nvPr/>
        </p:nvSpPr>
        <p:spPr bwMode="auto">
          <a:xfrm>
            <a:off x="5143500" y="1981200"/>
            <a:ext cx="2019300" cy="8397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6" name="Oval 11"/>
          <p:cNvSpPr>
            <a:spLocks noChangeArrowheads="1"/>
          </p:cNvSpPr>
          <p:nvPr/>
        </p:nvSpPr>
        <p:spPr bwMode="auto">
          <a:xfrm>
            <a:off x="2271713" y="5562600"/>
            <a:ext cx="1295400" cy="8382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rPr>
              <a:t>(1,3,4,2)</a:t>
            </a:r>
          </a:p>
        </p:txBody>
      </p:sp>
      <p:sp>
        <p:nvSpPr>
          <p:cNvPr id="17427" name="TextBox 8"/>
          <p:cNvSpPr txBox="1">
            <a:spLocks noChangeArrowheads="1"/>
          </p:cNvSpPr>
          <p:nvPr/>
        </p:nvSpPr>
        <p:spPr bwMode="auto">
          <a:xfrm>
            <a:off x="82550" y="998538"/>
            <a:ext cx="2324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0" dirty="0">
                <a:ea typeface="宋体" panose="02010600030101010101" pitchFamily="2" charset="-122"/>
              </a:rPr>
              <a:t>LB: Lower Bound</a:t>
            </a:r>
            <a:endParaRPr lang="zh-CN" altLang="en-US" b="0" dirty="0">
              <a:ea typeface="宋体" panose="02010600030101010101" pitchFamily="2" charset="-122"/>
            </a:endParaRPr>
          </a:p>
        </p:txBody>
      </p:sp>
      <p:sp>
        <p:nvSpPr>
          <p:cNvPr id="17428" name="TextBox 8"/>
          <p:cNvSpPr txBox="1">
            <a:spLocks noChangeArrowheads="1"/>
          </p:cNvSpPr>
          <p:nvPr/>
        </p:nvSpPr>
        <p:spPr bwMode="auto">
          <a:xfrm>
            <a:off x="920750" y="3429000"/>
            <a:ext cx="831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FF0000"/>
                </a:solidFill>
                <a:ea typeface="宋体" panose="02010600030101010101" pitchFamily="2" charset="-122"/>
              </a:rPr>
              <a:t>LB=5</a:t>
            </a:r>
            <a:endParaRPr lang="zh-CN" altLang="en-US" b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7429" name="TextBox 8"/>
          <p:cNvSpPr txBox="1">
            <a:spLocks noChangeArrowheads="1"/>
          </p:cNvSpPr>
          <p:nvPr/>
        </p:nvSpPr>
        <p:spPr bwMode="auto">
          <a:xfrm>
            <a:off x="2563813" y="3429000"/>
            <a:ext cx="831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FF0000"/>
                </a:solidFill>
                <a:ea typeface="宋体" panose="02010600030101010101" pitchFamily="2" charset="-122"/>
              </a:rPr>
              <a:t>LB=7</a:t>
            </a:r>
            <a:endParaRPr lang="zh-CN" altLang="en-US" b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17430" name="TextBox 8"/>
          <p:cNvSpPr txBox="1">
            <a:spLocks noChangeArrowheads="1"/>
          </p:cNvSpPr>
          <p:nvPr/>
        </p:nvSpPr>
        <p:spPr bwMode="auto">
          <a:xfrm>
            <a:off x="349250" y="4933950"/>
            <a:ext cx="831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b="0">
                <a:solidFill>
                  <a:srgbClr val="FF0000"/>
                </a:solidFill>
                <a:ea typeface="宋体" panose="02010600030101010101" pitchFamily="2" charset="-122"/>
              </a:rPr>
              <a:t>LB=6</a:t>
            </a:r>
            <a:endParaRPr lang="zh-CN" altLang="en-US" b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919413" y="5029200"/>
            <a:ext cx="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8"/>
          <p:cNvSpPr txBox="1">
            <a:spLocks noChangeArrowheads="1"/>
          </p:cNvSpPr>
          <p:nvPr/>
        </p:nvSpPr>
        <p:spPr bwMode="auto">
          <a:xfrm>
            <a:off x="7981950" y="1581150"/>
            <a:ext cx="1009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b="0" dirty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Level 0</a:t>
            </a:r>
            <a:endParaRPr lang="zh-CN" altLang="en-US" b="0" dirty="0">
              <a:solidFill>
                <a:srgbClr val="3366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36" name="TextBox 8"/>
          <p:cNvSpPr txBox="1">
            <a:spLocks noChangeArrowheads="1"/>
          </p:cNvSpPr>
          <p:nvPr/>
        </p:nvSpPr>
        <p:spPr bwMode="auto">
          <a:xfrm>
            <a:off x="7981950" y="3036888"/>
            <a:ext cx="1009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b="0" dirty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Level 1</a:t>
            </a:r>
            <a:endParaRPr lang="zh-CN" altLang="en-US" b="0" dirty="0">
              <a:solidFill>
                <a:srgbClr val="3366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37" name="TextBox 8"/>
          <p:cNvSpPr txBox="1">
            <a:spLocks noChangeArrowheads="1"/>
          </p:cNvSpPr>
          <p:nvPr/>
        </p:nvSpPr>
        <p:spPr bwMode="auto">
          <a:xfrm>
            <a:off x="7981950" y="4349750"/>
            <a:ext cx="1009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b="0" dirty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Level 2</a:t>
            </a:r>
            <a:endParaRPr lang="zh-CN" altLang="en-US" b="0" dirty="0">
              <a:solidFill>
                <a:srgbClr val="3366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38" name="TextBox 8"/>
          <p:cNvSpPr txBox="1">
            <a:spLocks noChangeArrowheads="1"/>
          </p:cNvSpPr>
          <p:nvPr/>
        </p:nvSpPr>
        <p:spPr bwMode="auto">
          <a:xfrm>
            <a:off x="7981950" y="5781675"/>
            <a:ext cx="1009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zh-CN" b="0" dirty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Level 3</a:t>
            </a:r>
            <a:endParaRPr lang="zh-CN" altLang="en-US" b="0" dirty="0">
              <a:solidFill>
                <a:srgbClr val="3366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89680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838200"/>
            <a:ext cx="9144000" cy="5635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kumimoji="0" lang="en-US" altLang="zh-CN" sz="2400" b="1" dirty="0">
                <a:latin typeface="Verdana" charset="0"/>
                <a:cs typeface="宋体" charset="0"/>
              </a:rPr>
              <a:t>Flow Shop Scheduling Problem with two Machines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1524000"/>
            <a:ext cx="6934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1800" b="0">
                <a:latin typeface="Verdana" panose="020B0604030504040204" pitchFamily="34" charset="0"/>
                <a:ea typeface="宋体" panose="02010600030101010101" pitchFamily="2" charset="-122"/>
              </a:rPr>
              <a:t>Given a set of jobs that must go through a sequence of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1800" b="0">
                <a:latin typeface="Verdana" panose="020B0604030504040204" pitchFamily="34" charset="0"/>
                <a:ea typeface="宋体" panose="02010600030101010101" pitchFamily="2" charset="-122"/>
              </a:rPr>
              <a:t>two machines, what sequence will yield the minimum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en-US" altLang="zh-CN" sz="1800" b="0">
                <a:latin typeface="Verdana" panose="020B0604030504040204" pitchFamily="34" charset="0"/>
                <a:ea typeface="宋体" panose="02010600030101010101" pitchFamily="2" charset="-122"/>
              </a:rPr>
              <a:t>makespan? Mapespan is sequence dependent.</a:t>
            </a:r>
          </a:p>
        </p:txBody>
      </p:sp>
      <p:graphicFrame>
        <p:nvGraphicFramePr>
          <p:cNvPr id="8" name="Group 12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749728254"/>
              </p:ext>
            </p:extLst>
          </p:nvPr>
        </p:nvGraphicFramePr>
        <p:xfrm>
          <a:off x="685800" y="2971800"/>
          <a:ext cx="7391400" cy="2968712"/>
        </p:xfrm>
        <a:graphic>
          <a:graphicData uri="http://schemas.openxmlformats.org/drawingml/2006/table">
            <a:tbl>
              <a:tblPr/>
              <a:tblGrid>
                <a:gridCol w="739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6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Johnson’s algorithm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(Johnson 1954):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  1. Sort the processing times of the jobs on the two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      machines in two lists.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  2. Find the shortest time in either list and remove job from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      both lists.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         If time came from first list, place job in first available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           position.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         If time came from second list, place job in last available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           position in sequence.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pitchFamily="2" charset="-122"/>
                        </a:rPr>
                        <a:t>    3. Repeat until lists are exhausted.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143000" y="6248400"/>
            <a:ext cx="5454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The resulting sequence will minimize </a:t>
            </a:r>
            <a:r>
              <a:rPr lang="en-US" altLang="zh-CN" sz="1800">
                <a:solidFill>
                  <a:srgbClr val="0000FF"/>
                </a:solidFill>
                <a:ea typeface="宋体" panose="02010600030101010101" pitchFamily="2" charset="-122"/>
              </a:rPr>
              <a:t>makespan</a:t>
            </a:r>
            <a:r>
              <a:rPr lang="en-US" altLang="zh-CN" sz="1800"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3925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7391400" cy="5635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kumimoji="0" lang="en-US" altLang="zh-CN" b="1" dirty="0">
                <a:latin typeface="Verdana" charset="0"/>
                <a:cs typeface="宋体" charset="0"/>
              </a:rPr>
              <a:t>Extension to 3 Machines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771525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/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Label the machine A, B, and C. The 3-machine problem can be reduced to a 2-machine problem if the following condition is satisfied:</a:t>
            </a:r>
          </a:p>
          <a:p>
            <a:pPr marL="0" indent="0" eaLnBrk="1" hangingPunct="1"/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eaLnBrk="1" hangingPunct="1"/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eaLnBrk="1" hangingPunct="1"/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If either one of these conditions be satisfied, the problem is reduced to a 2-machine problem in the following way:</a:t>
            </a:r>
          </a:p>
          <a:p>
            <a:pPr marL="0" indent="0" eaLnBrk="1" hangingPunct="1"/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911202305"/>
              </p:ext>
            </p:extLst>
          </p:nvPr>
        </p:nvGraphicFramePr>
        <p:xfrm>
          <a:off x="1219200" y="3276600"/>
          <a:ext cx="67691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3" imgW="2413000" imgH="228600" progId="Equation.3">
                  <p:embed/>
                </p:oleObj>
              </mc:Choice>
              <mc:Fallback>
                <p:oleObj name="Equation" r:id="rId3" imgW="2413000" imgH="228600" progId="Equation.3">
                  <p:embed/>
                  <p:pic>
                    <p:nvPicPr>
                      <p:cNvPr id="1095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276600"/>
                        <a:ext cx="67691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025168633"/>
              </p:ext>
            </p:extLst>
          </p:nvPr>
        </p:nvGraphicFramePr>
        <p:xfrm>
          <a:off x="1828800" y="5715000"/>
          <a:ext cx="504190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1" name="公式" r:id="rId5" imgW="1663700" imgH="241300" progId="Equation.3">
                  <p:embed/>
                </p:oleObj>
              </mc:Choice>
              <mc:Fallback>
                <p:oleObj name="公式" r:id="rId5" imgW="1663700" imgH="241300" progId="Equation.3">
                  <p:embed/>
                  <p:pic>
                    <p:nvPicPr>
                      <p:cNvPr id="1095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715000"/>
                        <a:ext cx="5041900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18804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3611" y="1219200"/>
            <a:ext cx="5791200" cy="36534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kumimoji="0" lang="en-US" altLang="zh-CN" b="1" dirty="0">
                <a:latin typeface="Verdana" charset="0"/>
                <a:cs typeface="宋体" charset="0"/>
              </a:rPr>
              <a:t>Job Shop Scheduling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09600" y="1905000"/>
            <a:ext cx="8305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Have </a:t>
            </a:r>
            <a:r>
              <a:rPr lang="en-US" altLang="zh-CN" sz="2400" i="1">
                <a:latin typeface="Verdan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machines and </a:t>
            </a:r>
            <a:r>
              <a:rPr lang="en-US" altLang="zh-CN" sz="2400" i="1"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jobs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Each job visits some or all of the machines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Customer order of small batches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Wafer fabrication in semiconductor industry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Hospital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Very difficult to solve</a:t>
            </a:r>
          </a:p>
        </p:txBody>
      </p:sp>
    </p:spTree>
    <p:extLst>
      <p:ext uri="{BB962C8B-B14F-4D97-AF65-F5344CB8AC3E}">
        <p14:creationId xmlns:p14="http://schemas.microsoft.com/office/powerpoint/2010/main" val="20997176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3611" y="1219200"/>
            <a:ext cx="5791200" cy="36534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kumimoji="0" lang="en-US" altLang="zh-CN" b="1" dirty="0">
                <a:latin typeface="Verdana" charset="0"/>
                <a:cs typeface="宋体" charset="0"/>
              </a:rPr>
              <a:t>Job Shop Scheduling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09600" y="1905000"/>
            <a:ext cx="8305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Have </a:t>
            </a:r>
            <a:r>
              <a:rPr lang="en-US" altLang="zh-CN" sz="2400" i="1">
                <a:latin typeface="Verdan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machines and </a:t>
            </a:r>
            <a:r>
              <a:rPr lang="en-US" altLang="zh-CN" sz="2400" i="1">
                <a:latin typeface="Verdana" panose="020B060403050404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2400">
                <a:latin typeface="Verdana" panose="020B0604030504040204" pitchFamily="34" charset="0"/>
                <a:ea typeface="宋体" panose="02010600030101010101" pitchFamily="2" charset="-122"/>
              </a:rPr>
              <a:t> jobs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Each job visits some or all of the machines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 sz="2400" dirty="0"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Customer order of small batches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Wafer fabrication in semiconductor industry</a:t>
            </a:r>
          </a:p>
          <a:p>
            <a:pPr lvl="1" eaLnBrk="1" hangingPunct="1"/>
            <a:r>
              <a:rPr lang="en-US" altLang="zh-CN" sz="2400" dirty="0">
                <a:ea typeface="宋体" panose="02010600030101010101" pitchFamily="2" charset="-122"/>
              </a:rPr>
              <a:t>Hospital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Very difficult to solve</a:t>
            </a:r>
          </a:p>
        </p:txBody>
      </p:sp>
    </p:spTree>
    <p:extLst>
      <p:ext uri="{BB962C8B-B14F-4D97-AF65-F5344CB8AC3E}">
        <p14:creationId xmlns:p14="http://schemas.microsoft.com/office/powerpoint/2010/main" val="3362336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7772400" cy="52087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kumimoji="0" lang="en-US" altLang="zh-CN" sz="2800" b="1" dirty="0">
                <a:latin typeface="Verdana" charset="0"/>
                <a:cs typeface="宋体" charset="0"/>
              </a:rPr>
              <a:t>Shifting Bottleneck</a:t>
            </a:r>
            <a:r>
              <a:rPr kumimoji="0" lang="zh-CN" altLang="en-US" sz="2800" b="1" dirty="0">
                <a:latin typeface="Verdana" charset="0"/>
                <a:cs typeface="宋体" charset="0"/>
              </a:rPr>
              <a:t>（移动瓶颈法）</a:t>
            </a:r>
            <a:endParaRPr kumimoji="0" lang="en-US" altLang="zh-CN" sz="2800" b="1" dirty="0">
              <a:latin typeface="Verdana" charset="0"/>
              <a:cs typeface="宋体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1905000"/>
            <a:ext cx="83058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Minimize </a:t>
            </a:r>
            <a:r>
              <a:rPr lang="en-US" altLang="zh-CN" sz="2400" dirty="0" err="1">
                <a:latin typeface="Verdana" panose="020B0604030504040204" pitchFamily="34" charset="0"/>
                <a:ea typeface="宋体" panose="02010600030101010101" pitchFamily="2" charset="-122"/>
              </a:rPr>
              <a:t>makespan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in a job shop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Let </a:t>
            </a:r>
            <a:r>
              <a:rPr lang="en-US" altLang="zh-CN" sz="2400" i="1" dirty="0">
                <a:latin typeface="Verdan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denote the set of machines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Let </a:t>
            </a:r>
            <a:r>
              <a:rPr lang="en-US" altLang="zh-CN" sz="2400" i="1" dirty="0">
                <a:latin typeface="Verdan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400" i="1" baseline="-25000" dirty="0">
                <a:latin typeface="Verdana" panose="020B0604030504040204" pitchFamily="34" charset="0"/>
                <a:ea typeface="宋体" panose="02010600030101010101" pitchFamily="2" charset="-122"/>
              </a:rPr>
              <a:t>0 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 </a:t>
            </a:r>
            <a:r>
              <a:rPr lang="en-US" altLang="zh-CN" sz="2400" i="1" dirty="0">
                <a:latin typeface="Verdana" panose="020B0604030504040204" pitchFamily="34" charset="0"/>
                <a:ea typeface="宋体" panose="02010600030101010101" pitchFamily="2" charset="-122"/>
              </a:rPr>
              <a:t>M</a:t>
            </a: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 be machines for which disjunctive arcs have been selected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Verdana" panose="020B0604030504040204" pitchFamily="34" charset="0"/>
                <a:ea typeface="宋体" panose="02010600030101010101" pitchFamily="2" charset="-122"/>
              </a:rPr>
              <a:t>Basic idea: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Select a machine in </a:t>
            </a:r>
            <a:r>
              <a:rPr lang="en-US" altLang="zh-CN" sz="2400" i="1" dirty="0">
                <a:ea typeface="宋体" panose="02010600030101010101" pitchFamily="2" charset="-122"/>
              </a:rPr>
              <a:t>M</a:t>
            </a:r>
            <a:r>
              <a:rPr lang="en-US" altLang="zh-CN" sz="2400" dirty="0">
                <a:ea typeface="宋体" panose="02010600030101010101" pitchFamily="2" charset="-122"/>
              </a:rPr>
              <a:t> - </a:t>
            </a:r>
            <a:r>
              <a:rPr lang="en-US" altLang="zh-CN" sz="2400" i="1" dirty="0">
                <a:ea typeface="宋体" panose="02010600030101010101" pitchFamily="2" charset="-122"/>
              </a:rPr>
              <a:t>M</a:t>
            </a:r>
            <a:r>
              <a:rPr lang="en-US" altLang="zh-CN" sz="2400" i="1" baseline="-25000" dirty="0"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ea typeface="宋体" panose="02010600030101010101" pitchFamily="2" charset="-122"/>
              </a:rPr>
              <a:t> to be included in </a:t>
            </a:r>
            <a:r>
              <a:rPr lang="en-US" altLang="zh-CN" sz="2400" i="1" dirty="0">
                <a:ea typeface="宋体" panose="02010600030101010101" pitchFamily="2" charset="-122"/>
              </a:rPr>
              <a:t>M</a:t>
            </a:r>
            <a:r>
              <a:rPr lang="en-US" altLang="zh-CN" sz="2400" i="1" baseline="-25000" dirty="0">
                <a:ea typeface="宋体" panose="02010600030101010101" pitchFamily="2" charset="-122"/>
              </a:rPr>
              <a:t>0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Sequence the operations on this machine</a:t>
            </a:r>
          </a:p>
        </p:txBody>
      </p:sp>
    </p:spTree>
    <p:extLst>
      <p:ext uri="{BB962C8B-B14F-4D97-AF65-F5344CB8AC3E}">
        <p14:creationId xmlns:p14="http://schemas.microsoft.com/office/powerpoint/2010/main" val="6684031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685800" y="2678112"/>
            <a:ext cx="85344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>
              <a:defRPr/>
            </a:pPr>
            <a:r>
              <a:rPr lang="en-US" altLang="zh-CN" sz="2400" b="1" cap="none" dirty="0">
                <a:solidFill>
                  <a:srgbClr val="7030A0"/>
                </a:solidFill>
                <a:latin typeface="Verdana" pitchFamily="34" charset="0"/>
                <a:ea typeface="宋体" pitchFamily="2" charset="-122"/>
              </a:rPr>
              <a:t>Another important single machine model</a:t>
            </a:r>
            <a:endParaRPr lang="zh-CN" altLang="en-US" sz="2400" b="1" cap="none" dirty="0">
              <a:solidFill>
                <a:srgbClr val="7030A0"/>
              </a:solidFill>
              <a:latin typeface="Verdana" pitchFamily="34" charset="0"/>
              <a:ea typeface="宋体" pitchFamily="2" charset="-122"/>
            </a:endParaRP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174058"/>
              </p:ext>
            </p:extLst>
          </p:nvPr>
        </p:nvGraphicFramePr>
        <p:xfrm>
          <a:off x="3773488" y="3429000"/>
          <a:ext cx="15398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4" name="公式" r:id="rId3" imgW="609336" imgH="241195" progId="Equation.3">
                  <p:embed/>
                </p:oleObj>
              </mc:Choice>
              <mc:Fallback>
                <p:oleObj name="公式" r:id="rId3" imgW="609336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3488" y="3429000"/>
                        <a:ext cx="15398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342900" y="4267200"/>
            <a:ext cx="8153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>
                <a:solidFill>
                  <a:srgbClr val="0066FF"/>
                </a:solidFill>
                <a:ea typeface="宋体" panose="02010600030101010101" pitchFamily="2" charset="-122"/>
              </a:rPr>
              <a:t>Branch and bound procedure</a:t>
            </a:r>
            <a:r>
              <a:rPr lang="en-US" altLang="zh-CN" b="0">
                <a:ea typeface="宋体" panose="02010600030101010101" pitchFamily="2" charset="-122"/>
              </a:rPr>
              <a:t>:  bounds for nodes can be obtained by solving the following problem.</a:t>
            </a:r>
            <a:endParaRPr lang="zh-CN" altLang="en-US" b="0">
              <a:ea typeface="宋体" panose="02010600030101010101" pitchFamily="2" charset="-122"/>
            </a:endParaRPr>
          </a:p>
        </p:txBody>
      </p: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944574"/>
              </p:ext>
            </p:extLst>
          </p:nvPr>
        </p:nvGraphicFramePr>
        <p:xfrm>
          <a:off x="1143000" y="5410200"/>
          <a:ext cx="30162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5" name="公式" r:id="rId5" imgW="1193760" imgH="241200" progId="Equation.3">
                  <p:embed/>
                </p:oleObj>
              </mc:Choice>
              <mc:Fallback>
                <p:oleObj name="公式" r:id="rId5" imgW="11937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10200"/>
                        <a:ext cx="3016250" cy="60960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4343400" y="5468938"/>
            <a:ext cx="3200400" cy="400050"/>
            <a:chOff x="4343400" y="3640299"/>
            <a:chExt cx="3200400" cy="400050"/>
          </a:xfrm>
        </p:grpSpPr>
        <p:sp>
          <p:nvSpPr>
            <p:cNvPr id="15" name="TextBox 8"/>
            <p:cNvSpPr txBox="1">
              <a:spLocks noChangeArrowheads="1"/>
            </p:cNvSpPr>
            <p:nvPr/>
          </p:nvSpPr>
          <p:spPr bwMode="auto">
            <a:xfrm>
              <a:off x="4800600" y="3640299"/>
              <a:ext cx="27432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solidFill>
                    <a:srgbClr val="FF0000"/>
                  </a:solidFill>
                  <a:ea typeface="宋体" panose="02010600030101010101" pitchFamily="2" charset="-122"/>
                </a:rPr>
                <a:t>Preemptive EDD rule </a:t>
              </a:r>
              <a:endParaRPr lang="zh-CN" altLang="en-US" b="0">
                <a:solidFill>
                  <a:srgbClr val="FF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6" name="右箭头 15"/>
            <p:cNvSpPr/>
            <p:nvPr/>
          </p:nvSpPr>
          <p:spPr>
            <a:xfrm rot="10800000">
              <a:off x="4343400" y="3733961"/>
              <a:ext cx="457200" cy="306388"/>
            </a:xfrm>
            <a:prstGeom prst="rightArrow">
              <a:avLst/>
            </a:prstGeom>
            <a:solidFill>
              <a:srgbClr val="33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52400" y="1793875"/>
            <a:ext cx="834390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0070C0"/>
                </a:solidFill>
              </a:rPr>
              <a:t>Sequence the operations on this machine: 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>
          <a:xfrm>
            <a:off x="457200" y="914400"/>
            <a:ext cx="7772400" cy="5208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latin typeface="Verdana" charset="0"/>
                <a:cs typeface="宋体" charset="0"/>
              </a:rPr>
              <a:t>Shifting Bottleneck</a:t>
            </a:r>
            <a:r>
              <a:rPr lang="zh-CN" altLang="en-US" sz="2800" b="1">
                <a:latin typeface="Verdana" charset="0"/>
                <a:cs typeface="宋体" charset="0"/>
              </a:rPr>
              <a:t>（移动瓶颈法）</a:t>
            </a:r>
            <a:endParaRPr lang="en-US" altLang="zh-CN" sz="2800" b="1" dirty="0">
              <a:latin typeface="Verdana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76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46037"/>
            <a:ext cx="8839200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kern="1200" cap="all" spc="-6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 Black" pitchFamily="34" charset="0"/>
                <a:ea typeface="微软雅黑" pitchFamily="34" charset="-122"/>
              </a:defRPr>
            </a:lvl9pPr>
          </a:lstStyle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8- 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生产调度（</a:t>
            </a:r>
            <a:r>
              <a:rPr lang="en-US" altLang="zh-CN" sz="2800" dirty="0">
                <a:solidFill>
                  <a:srgbClr val="002060"/>
                </a:solidFill>
                <a:ea typeface="宋体" charset="-122"/>
              </a:rPr>
              <a:t>operations scheduling</a:t>
            </a:r>
            <a:r>
              <a:rPr lang="zh-CN" altLang="en-US" sz="2800" dirty="0">
                <a:solidFill>
                  <a:srgbClr val="002060"/>
                </a:solidFill>
                <a:ea typeface="宋体" charset="-122"/>
              </a:rPr>
              <a:t>）</a:t>
            </a:r>
            <a:endParaRPr lang="en-US" altLang="zh-CN" sz="2800" dirty="0">
              <a:solidFill>
                <a:srgbClr val="002060"/>
              </a:solidFill>
              <a:ea typeface="宋体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62000" y="1905000"/>
            <a:ext cx="7543800" cy="4191000"/>
            <a:chOff x="1066800" y="1905000"/>
            <a:chExt cx="7543800" cy="4191000"/>
          </a:xfrm>
        </p:grpSpPr>
        <p:sp>
          <p:nvSpPr>
            <p:cNvPr id="9" name="Oval 3"/>
            <p:cNvSpPr>
              <a:spLocks noChangeArrowheads="1"/>
            </p:cNvSpPr>
            <p:nvPr/>
          </p:nvSpPr>
          <p:spPr bwMode="auto">
            <a:xfrm>
              <a:off x="3124200" y="23971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(1,1)</a:t>
              </a:r>
            </a:p>
          </p:txBody>
        </p:sp>
        <p:sp>
          <p:nvSpPr>
            <p:cNvPr id="10" name="Oval 4"/>
            <p:cNvSpPr>
              <a:spLocks noChangeArrowheads="1"/>
            </p:cNvSpPr>
            <p:nvPr/>
          </p:nvSpPr>
          <p:spPr bwMode="auto">
            <a:xfrm>
              <a:off x="4495800" y="23971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(2,1)</a:t>
              </a:r>
            </a:p>
          </p:txBody>
        </p:sp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5867400" y="23971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(3,1)</a:t>
              </a:r>
            </a:p>
          </p:txBody>
        </p:sp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2438400" y="34639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(2,2)</a:t>
              </a:r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auto">
            <a:xfrm>
              <a:off x="3810000" y="34639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(1,2)</a:t>
              </a: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auto">
            <a:xfrm>
              <a:off x="6477000" y="34639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(3,2)</a:t>
              </a:r>
            </a:p>
          </p:txBody>
        </p:sp>
        <p:sp>
          <p:nvSpPr>
            <p:cNvPr id="15" name="Oval 9"/>
            <p:cNvSpPr>
              <a:spLocks noChangeArrowheads="1"/>
            </p:cNvSpPr>
            <p:nvPr/>
          </p:nvSpPr>
          <p:spPr bwMode="auto">
            <a:xfrm>
              <a:off x="3124200" y="45307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(1,3)</a:t>
              </a:r>
            </a:p>
          </p:txBody>
        </p:sp>
        <p:sp>
          <p:nvSpPr>
            <p:cNvPr id="16" name="Oval 10"/>
            <p:cNvSpPr>
              <a:spLocks noChangeArrowheads="1"/>
            </p:cNvSpPr>
            <p:nvPr/>
          </p:nvSpPr>
          <p:spPr bwMode="auto">
            <a:xfrm>
              <a:off x="4495800" y="45307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(2,3)</a:t>
              </a:r>
            </a:p>
          </p:txBody>
        </p:sp>
        <p:sp>
          <p:nvSpPr>
            <p:cNvPr id="17" name="Oval 11"/>
            <p:cNvSpPr>
              <a:spLocks noChangeArrowheads="1"/>
            </p:cNvSpPr>
            <p:nvPr/>
          </p:nvSpPr>
          <p:spPr bwMode="auto">
            <a:xfrm>
              <a:off x="5867400" y="45307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(4,3)</a:t>
              </a: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3962400" y="27781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5334000" y="27781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3276600" y="38449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15"/>
            <p:cNvSpPr>
              <a:spLocks noChangeShapeType="1"/>
            </p:cNvSpPr>
            <p:nvPr/>
          </p:nvSpPr>
          <p:spPr bwMode="auto">
            <a:xfrm>
              <a:off x="3962400" y="4911725"/>
              <a:ext cx="5334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>
              <a:off x="5334000" y="4911725"/>
              <a:ext cx="53340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17"/>
            <p:cNvSpPr>
              <a:spLocks noChangeArrowheads="1"/>
            </p:cNvSpPr>
            <p:nvPr/>
          </p:nvSpPr>
          <p:spPr bwMode="auto">
            <a:xfrm>
              <a:off x="7772400" y="34639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Sink</a:t>
              </a:r>
              <a:endPara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Oval 18"/>
            <p:cNvSpPr>
              <a:spLocks noChangeArrowheads="1"/>
            </p:cNvSpPr>
            <p:nvPr/>
          </p:nvSpPr>
          <p:spPr bwMode="auto">
            <a:xfrm>
              <a:off x="1066800" y="34639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b="0">
                  <a:latin typeface="Times New Roman" panose="02020603050405020304" pitchFamily="18" charset="0"/>
                  <a:ea typeface="宋体" panose="02010600030101010101" pitchFamily="2" charset="-122"/>
                </a:rPr>
                <a:t>Source</a:t>
              </a:r>
              <a:endParaRPr lang="en-US" altLang="zh-CN" sz="2400" b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 flipV="1">
              <a:off x="1905000" y="2854325"/>
              <a:ext cx="1219200" cy="8382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1905000" y="3997325"/>
              <a:ext cx="1219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1905000" y="38449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 flipV="1">
              <a:off x="7315200" y="3844925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 flipV="1">
              <a:off x="6705600" y="4149725"/>
              <a:ext cx="1295400" cy="7620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24"/>
            <p:cNvSpPr>
              <a:spLocks noChangeArrowheads="1"/>
            </p:cNvSpPr>
            <p:nvPr/>
          </p:nvSpPr>
          <p:spPr bwMode="auto">
            <a:xfrm>
              <a:off x="5181600" y="3463925"/>
              <a:ext cx="838200" cy="76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(4,2)</a:t>
              </a:r>
            </a:p>
          </p:txBody>
        </p:sp>
        <p:sp>
          <p:nvSpPr>
            <p:cNvPr id="31" name="Line 25"/>
            <p:cNvSpPr>
              <a:spLocks noChangeShapeType="1"/>
            </p:cNvSpPr>
            <p:nvPr/>
          </p:nvSpPr>
          <p:spPr bwMode="auto">
            <a:xfrm>
              <a:off x="6705600" y="2778125"/>
              <a:ext cx="1295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26"/>
            <p:cNvSpPr>
              <a:spLocks noChangeShapeType="1"/>
            </p:cNvSpPr>
            <p:nvPr/>
          </p:nvSpPr>
          <p:spPr bwMode="auto">
            <a:xfrm>
              <a:off x="6019800" y="38449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27"/>
            <p:cNvSpPr>
              <a:spLocks noChangeShapeType="1"/>
            </p:cNvSpPr>
            <p:nvPr/>
          </p:nvSpPr>
          <p:spPr bwMode="auto">
            <a:xfrm>
              <a:off x="4648200" y="384492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Text Box 28"/>
            <p:cNvSpPr txBox="1">
              <a:spLocks noChangeArrowheads="1"/>
            </p:cNvSpPr>
            <p:nvPr/>
          </p:nvSpPr>
          <p:spPr bwMode="auto">
            <a:xfrm>
              <a:off x="2193925" y="28956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35" name="Text Box 29"/>
            <p:cNvSpPr txBox="1">
              <a:spLocks noChangeArrowheads="1"/>
            </p:cNvSpPr>
            <p:nvPr/>
          </p:nvSpPr>
          <p:spPr bwMode="auto">
            <a:xfrm>
              <a:off x="3946525" y="23622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36" name="Text Box 30"/>
            <p:cNvSpPr txBox="1">
              <a:spLocks noChangeArrowheads="1"/>
            </p:cNvSpPr>
            <p:nvPr/>
          </p:nvSpPr>
          <p:spPr bwMode="auto">
            <a:xfrm>
              <a:off x="5318125" y="23622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37" name="Text Box 31"/>
            <p:cNvSpPr txBox="1">
              <a:spLocks noChangeArrowheads="1"/>
            </p:cNvSpPr>
            <p:nvPr/>
          </p:nvSpPr>
          <p:spPr bwMode="auto">
            <a:xfrm>
              <a:off x="7223125" y="27432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38" name="Text Box 32"/>
            <p:cNvSpPr txBox="1">
              <a:spLocks noChangeArrowheads="1"/>
            </p:cNvSpPr>
            <p:nvPr/>
          </p:nvSpPr>
          <p:spPr bwMode="auto">
            <a:xfrm>
              <a:off x="3260725" y="3429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39" name="Text Box 33"/>
            <p:cNvSpPr txBox="1">
              <a:spLocks noChangeArrowheads="1"/>
            </p:cNvSpPr>
            <p:nvPr/>
          </p:nvSpPr>
          <p:spPr bwMode="auto">
            <a:xfrm>
              <a:off x="4708525" y="3429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0" name="Text Box 34"/>
            <p:cNvSpPr txBox="1">
              <a:spLocks noChangeArrowheads="1"/>
            </p:cNvSpPr>
            <p:nvPr/>
          </p:nvSpPr>
          <p:spPr bwMode="auto">
            <a:xfrm>
              <a:off x="6080125" y="3429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1" name="Text Box 35"/>
            <p:cNvSpPr txBox="1">
              <a:spLocks noChangeArrowheads="1"/>
            </p:cNvSpPr>
            <p:nvPr/>
          </p:nvSpPr>
          <p:spPr bwMode="auto">
            <a:xfrm>
              <a:off x="7299325" y="3429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42" name="Text Box 36"/>
            <p:cNvSpPr txBox="1">
              <a:spLocks noChangeArrowheads="1"/>
            </p:cNvSpPr>
            <p:nvPr/>
          </p:nvSpPr>
          <p:spPr bwMode="auto">
            <a:xfrm>
              <a:off x="4006850" y="4530725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3" name="Text Box 37"/>
            <p:cNvSpPr txBox="1">
              <a:spLocks noChangeArrowheads="1"/>
            </p:cNvSpPr>
            <p:nvPr/>
          </p:nvSpPr>
          <p:spPr bwMode="auto">
            <a:xfrm>
              <a:off x="5394325" y="44958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44" name="Text Box 38"/>
            <p:cNvSpPr txBox="1">
              <a:spLocks noChangeArrowheads="1"/>
            </p:cNvSpPr>
            <p:nvPr/>
          </p:nvSpPr>
          <p:spPr bwMode="auto">
            <a:xfrm>
              <a:off x="6842125" y="43434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5" name="Text Box 39"/>
            <p:cNvSpPr txBox="1">
              <a:spLocks noChangeArrowheads="1"/>
            </p:cNvSpPr>
            <p:nvPr/>
          </p:nvSpPr>
          <p:spPr bwMode="auto">
            <a:xfrm>
              <a:off x="2651125" y="4191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6" name="Text Box 40"/>
            <p:cNvSpPr txBox="1">
              <a:spLocks noChangeArrowheads="1"/>
            </p:cNvSpPr>
            <p:nvPr/>
          </p:nvSpPr>
          <p:spPr bwMode="auto">
            <a:xfrm>
              <a:off x="2041525" y="3429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</a:p>
          </p:txBody>
        </p:sp>
        <p:graphicFrame>
          <p:nvGraphicFramePr>
            <p:cNvPr id="47" name="Object 41"/>
            <p:cNvGraphicFramePr>
              <a:graphicFrameLocks noChangeAspect="1"/>
            </p:cNvGraphicFramePr>
            <p:nvPr/>
          </p:nvGraphicFramePr>
          <p:xfrm>
            <a:off x="1114425" y="1905000"/>
            <a:ext cx="1239838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2" name="Equation" r:id="rId3" imgW="558800" imgH="228600" progId="Equation.3">
                    <p:embed/>
                  </p:oleObj>
                </mc:Choice>
                <mc:Fallback>
                  <p:oleObj name="Equation" r:id="rId3" imgW="558800" imgH="228600" progId="Equation.3">
                    <p:embed/>
                    <p:pic>
                      <p:nvPicPr>
                        <p:cNvPr id="47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4425" y="1905000"/>
                          <a:ext cx="1239838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42"/>
            <p:cNvGraphicFramePr>
              <a:graphicFrameLocks noChangeAspect="1"/>
            </p:cNvGraphicFramePr>
            <p:nvPr/>
          </p:nvGraphicFramePr>
          <p:xfrm>
            <a:off x="2543175" y="5588000"/>
            <a:ext cx="5838825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3" name="公式" r:id="rId5" imgW="2628900" imgH="228600" progId="Equation.3">
                    <p:embed/>
                  </p:oleObj>
                </mc:Choice>
                <mc:Fallback>
                  <p:oleObj name="公式" r:id="rId5" imgW="2628900" imgH="228600" progId="Equation.3">
                    <p:embed/>
                    <p:pic>
                      <p:nvPicPr>
                        <p:cNvPr id="48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3175" y="5588000"/>
                          <a:ext cx="5838825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Line 43"/>
            <p:cNvSpPr>
              <a:spLocks noChangeShapeType="1"/>
            </p:cNvSpPr>
            <p:nvPr/>
          </p:nvSpPr>
          <p:spPr bwMode="auto">
            <a:xfrm>
              <a:off x="3810000" y="3048000"/>
              <a:ext cx="381000" cy="4572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 flipH="1">
              <a:off x="3733800" y="4191000"/>
              <a:ext cx="304800" cy="4572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Text Box 45"/>
            <p:cNvSpPr txBox="1">
              <a:spLocks noChangeArrowheads="1"/>
            </p:cNvSpPr>
            <p:nvPr/>
          </p:nvSpPr>
          <p:spPr bwMode="auto">
            <a:xfrm>
              <a:off x="3886200" y="2895600"/>
              <a:ext cx="4889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52" name="Text Box 46"/>
            <p:cNvSpPr txBox="1">
              <a:spLocks noChangeArrowheads="1"/>
            </p:cNvSpPr>
            <p:nvPr/>
          </p:nvSpPr>
          <p:spPr bwMode="auto">
            <a:xfrm>
              <a:off x="3886200" y="4191000"/>
              <a:ext cx="3365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spcAft>
                  <a:spcPts val="600"/>
                </a:spcAft>
                <a:buFont typeface="Arial" panose="020B0604020202020204" pitchFamily="34" charset="0"/>
                <a:defRPr sz="20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Arial" panose="020B0604020202020204" pitchFamily="34" charset="0"/>
                <a:buChar char="•"/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zh-CN" sz="2400" b="0"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</a:p>
          </p:txBody>
        </p:sp>
      </p:grpSp>
      <p:sp>
        <p:nvSpPr>
          <p:cNvPr id="5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7772400" cy="52087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kumimoji="0" lang="en-US" altLang="zh-CN" sz="2800" b="1" dirty="0">
                <a:latin typeface="Verdana" charset="0"/>
                <a:cs typeface="宋体" charset="0"/>
              </a:rPr>
              <a:t>Shifting Bottleneck</a:t>
            </a:r>
            <a:r>
              <a:rPr kumimoji="0" lang="zh-CN" altLang="en-US" sz="2800" b="1" dirty="0">
                <a:latin typeface="Verdana" charset="0"/>
                <a:cs typeface="宋体" charset="0"/>
              </a:rPr>
              <a:t>（移动瓶颈法）</a:t>
            </a:r>
            <a:endParaRPr kumimoji="0" lang="en-US" altLang="zh-CN" sz="2800" b="1" dirty="0">
              <a:latin typeface="Verdana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7085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6096000"/>
          </a:xfrm>
        </p:spPr>
        <p:txBody>
          <a:bodyPr/>
          <a:lstStyle/>
          <a:p>
            <a:pPr algn="ctr" eaLnBrk="1" hangingPunct="1"/>
            <a:r>
              <a:rPr lang="zh-CN" altLang="en-US" sz="3600" b="1" dirty="0">
                <a:solidFill>
                  <a:srgbClr val="3366FF"/>
                </a:solidFill>
                <a:latin typeface="Times New Roman" pitchFamily="18" charset="0"/>
              </a:rPr>
              <a:t>几点希望</a:t>
            </a:r>
          </a:p>
          <a:p>
            <a:pPr lvl="1" eaLnBrk="1" hangingPunct="1">
              <a:lnSpc>
                <a:spcPct val="120000"/>
              </a:lnSpc>
            </a:pPr>
            <a:endParaRPr lang="zh-CN" altLang="en-US" sz="2000" b="1" dirty="0">
              <a:solidFill>
                <a:srgbClr val="003399"/>
              </a:solidFill>
              <a:latin typeface="Times New Roman" pitchFamily="18" charset="0"/>
            </a:endParaRPr>
          </a:p>
          <a:p>
            <a:pPr marL="274637" lvl="1" indent="0" algn="ctr" eaLnBrk="1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6000" b="1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征途漫漫，惟有奋斗</a:t>
            </a:r>
            <a:endParaRPr lang="en-US" altLang="zh-CN" sz="6000" b="1" dirty="0">
              <a:solidFill>
                <a:srgbClr val="FF0000"/>
              </a:solidFill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pPr marL="274637" lvl="1" indent="0" eaLnBrk="1" hangingPunct="1">
              <a:lnSpc>
                <a:spcPct val="150000"/>
              </a:lnSpc>
              <a:buNone/>
            </a:pPr>
            <a:endParaRPr lang="en-US" altLang="zh-CN" b="1" dirty="0">
              <a:latin typeface="Times New Roman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</a:rPr>
              <a:t>基本概念认识清晰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itchFamily="18" charset="0"/>
              </a:rPr>
              <a:t>基本原理掌握透彻</a:t>
            </a:r>
            <a:endParaRPr lang="en-US" altLang="zh-CN" b="1" dirty="0">
              <a:latin typeface="Times New Roman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itchFamily="18" charset="0"/>
              </a:rPr>
              <a:t>掌握基本建模方法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b="1" dirty="0">
                <a:latin typeface="Times New Roman" pitchFamily="18" charset="0"/>
              </a:rPr>
              <a:t>常用</a:t>
            </a:r>
            <a:r>
              <a:rPr lang="zh-CN" altLang="en-US" sz="2000" b="1" dirty="0">
                <a:latin typeface="Times New Roman" pitchFamily="18" charset="0"/>
              </a:rPr>
              <a:t>工具使用熟练</a:t>
            </a:r>
            <a:r>
              <a:rPr lang="zh-CN" altLang="en-US" sz="2000" dirty="0">
                <a:latin typeface="Times New Roman" pitchFamily="18" charset="0"/>
              </a:rPr>
              <a:t>：</a:t>
            </a:r>
            <a:r>
              <a:rPr lang="en-US" altLang="zh-CN" sz="2000" dirty="0">
                <a:latin typeface="Times New Roman" pitchFamily="18" charset="0"/>
              </a:rPr>
              <a:t>Microsoft Office(WPS/Word, Excel, </a:t>
            </a:r>
            <a:r>
              <a:rPr lang="en-US" altLang="zh-CN" sz="2000" dirty="0" err="1">
                <a:latin typeface="Times New Roman" pitchFamily="18" charset="0"/>
              </a:rPr>
              <a:t>Powerpoint</a:t>
            </a:r>
            <a:r>
              <a:rPr lang="en-US" altLang="zh-CN" sz="2000" dirty="0">
                <a:latin typeface="Times New Roman" pitchFamily="18" charset="0"/>
              </a:rPr>
              <a:t>, Visio </a:t>
            </a:r>
            <a:r>
              <a:rPr lang="en-US" altLang="zh-CN" sz="2000" dirty="0" err="1">
                <a:latin typeface="Times New Roman" pitchFamily="18" charset="0"/>
              </a:rPr>
              <a:t>etc</a:t>
            </a:r>
            <a:r>
              <a:rPr lang="en-US" altLang="zh-CN" sz="2000" dirty="0">
                <a:latin typeface="Times New Roman" pitchFamily="18" charset="0"/>
              </a:rPr>
              <a:t>)</a:t>
            </a:r>
            <a:r>
              <a:rPr lang="zh-CN" altLang="en-US" sz="2000" dirty="0">
                <a:latin typeface="Times New Roman" pitchFamily="18" charset="0"/>
              </a:rPr>
              <a:t>、</a:t>
            </a:r>
            <a:r>
              <a:rPr lang="en-US" altLang="zh-CN" sz="2000" dirty="0" err="1">
                <a:latin typeface="Times New Roman" pitchFamily="18" charset="0"/>
              </a:rPr>
              <a:t>Matlab</a:t>
            </a:r>
            <a:r>
              <a:rPr lang="zh-CN" altLang="en-US" sz="2000" dirty="0">
                <a:latin typeface="Times New Roman" pitchFamily="18" charset="0"/>
              </a:rPr>
              <a:t>、</a:t>
            </a:r>
            <a:r>
              <a:rPr lang="en-US" altLang="zh-CN" dirty="0" err="1">
                <a:latin typeface="Times New Roman" pitchFamily="18" charset="0"/>
              </a:rPr>
              <a:t>Cplex</a:t>
            </a:r>
            <a:r>
              <a:rPr lang="en-US" altLang="zh-CN" dirty="0">
                <a:latin typeface="Times New Roman" pitchFamily="18" charset="0"/>
              </a:rPr>
              <a:t>/</a:t>
            </a:r>
            <a:r>
              <a:rPr lang="en-US" altLang="zh-CN" dirty="0" err="1">
                <a:latin typeface="Times New Roman" pitchFamily="18" charset="0"/>
              </a:rPr>
              <a:t>Gurobi</a:t>
            </a:r>
            <a:r>
              <a:rPr lang="zh-CN" altLang="en-US" sz="2000" dirty="0">
                <a:latin typeface="Times New Roman" pitchFamily="18" charset="0"/>
              </a:rPr>
              <a:t>等</a:t>
            </a:r>
            <a:endParaRPr lang="zh-CN" altLang="en-US" dirty="0">
              <a:latin typeface="Times New Roman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652534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500" y="6525344"/>
            <a:ext cx="9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2060"/>
                </a:solidFill>
              </a:rPr>
              <a:t>刘振元，</a:t>
            </a:r>
            <a:r>
              <a:rPr lang="en-US" altLang="zh-CN" sz="1400" b="1" dirty="0">
                <a:solidFill>
                  <a:srgbClr val="002060"/>
                </a:solidFill>
              </a:rPr>
              <a:t>Office: </a:t>
            </a:r>
            <a:r>
              <a:rPr lang="en-US" altLang="zh-CN" sz="1400" b="1" dirty="0" smtClean="0">
                <a:solidFill>
                  <a:srgbClr val="002060"/>
                </a:solidFill>
              </a:rPr>
              <a:t>S605</a:t>
            </a:r>
            <a:r>
              <a:rPr lang="en-US" altLang="zh-CN" sz="1400" b="1" dirty="0" smtClean="0">
                <a:solidFill>
                  <a:srgbClr val="002060"/>
                </a:solidFill>
              </a:rPr>
              <a:t>;  </a:t>
            </a:r>
            <a:r>
              <a:rPr lang="en-US" altLang="zh-CN" sz="1400" b="1" dirty="0">
                <a:solidFill>
                  <a:srgbClr val="002060"/>
                </a:solidFill>
              </a:rPr>
              <a:t>Tel: 13995552449; Email: zyliu@mail.hust.edu.cn;  QQ: 834789494</a:t>
            </a:r>
            <a:endParaRPr lang="zh-CN" altLang="en-US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035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652534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7200" y="762000"/>
            <a:ext cx="82296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zh-CN" altLang="en-US" sz="4400" dirty="0">
                <a:solidFill>
                  <a:srgbClr val="FF0000"/>
                </a:solidFill>
                <a:latin typeface="Times New Roman" pitchFamily="18" charset="0"/>
              </a:rPr>
              <a:t>欢迎</a:t>
            </a:r>
          </a:p>
          <a:p>
            <a:pPr lvl="1" eaLnBrk="1" hangingPunct="1">
              <a:lnSpc>
                <a:spcPct val="120000"/>
              </a:lnSpc>
            </a:pPr>
            <a:endParaRPr lang="en-US" altLang="zh-CN" b="1" dirty="0">
              <a:solidFill>
                <a:srgbClr val="003399"/>
              </a:solidFill>
              <a:latin typeface="Times New Roman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itchFamily="18" charset="0"/>
              </a:rPr>
              <a:t>同学们如果有关于</a:t>
            </a:r>
            <a:r>
              <a:rPr lang="zh-CN" altLang="en-US" sz="2400" b="1" u="dash" dirty="0">
                <a:solidFill>
                  <a:srgbClr val="0000FF"/>
                </a:solidFill>
                <a:latin typeface="Times New Roman" pitchFamily="18" charset="0"/>
              </a:rPr>
              <a:t>学业、工作、个人发展、生活</a:t>
            </a:r>
            <a:r>
              <a:rPr lang="zh-CN" altLang="en-US" sz="2400" b="1" dirty="0">
                <a:latin typeface="Times New Roman" pitchFamily="18" charset="0"/>
              </a:rPr>
              <a:t>等各方面的困惑，欢迎与我交流。</a:t>
            </a:r>
            <a:endParaRPr lang="en-US" altLang="zh-CN" sz="2400" b="1" dirty="0">
              <a:latin typeface="Times New Roman" pitchFamily="18" charset="0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CN" sz="2400" b="1" dirty="0">
              <a:solidFill>
                <a:srgbClr val="003399"/>
              </a:solidFill>
              <a:latin typeface="Times New Roman" pitchFamily="18" charset="0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itchFamily="18" charset="0"/>
              </a:rPr>
              <a:t>如果学有余力，同学们可以利用</a:t>
            </a:r>
            <a:r>
              <a:rPr lang="zh-CN" altLang="en-US" sz="2400" b="1" u="dash" dirty="0">
                <a:solidFill>
                  <a:srgbClr val="0000FF"/>
                </a:solidFill>
                <a:uFill>
                  <a:solidFill>
                    <a:srgbClr val="C00000"/>
                  </a:solidFill>
                </a:uFill>
                <a:latin typeface="Times New Roman" pitchFamily="18" charset="0"/>
              </a:rPr>
              <a:t>课余时间参与到老师们的研究和开发</a:t>
            </a:r>
            <a:r>
              <a:rPr lang="zh-CN" altLang="en-US" sz="2400" b="1" dirty="0">
                <a:latin typeface="Times New Roman" pitchFamily="18" charset="0"/>
              </a:rPr>
              <a:t>工作中。</a:t>
            </a:r>
            <a:endParaRPr lang="en-US" altLang="zh-CN" sz="2400" b="1" dirty="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500" y="6525344"/>
            <a:ext cx="9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2060"/>
                </a:solidFill>
              </a:rPr>
              <a:t>刘振元，</a:t>
            </a:r>
            <a:r>
              <a:rPr lang="en-US" altLang="zh-CN" sz="1400" b="1" dirty="0">
                <a:solidFill>
                  <a:srgbClr val="002060"/>
                </a:solidFill>
              </a:rPr>
              <a:t>Office: </a:t>
            </a:r>
            <a:r>
              <a:rPr lang="en-US" altLang="zh-CN" sz="1400" b="1" dirty="0" smtClean="0">
                <a:solidFill>
                  <a:srgbClr val="002060"/>
                </a:solidFill>
              </a:rPr>
              <a:t>S605</a:t>
            </a:r>
            <a:r>
              <a:rPr lang="en-US" altLang="zh-CN" sz="1400" b="1" dirty="0" smtClean="0">
                <a:solidFill>
                  <a:srgbClr val="002060"/>
                </a:solidFill>
              </a:rPr>
              <a:t>;  </a:t>
            </a:r>
            <a:r>
              <a:rPr lang="en-US" altLang="zh-CN" sz="1400" b="1" dirty="0">
                <a:solidFill>
                  <a:srgbClr val="002060"/>
                </a:solidFill>
              </a:rPr>
              <a:t>Tel: 13995552449; Email: zyliu@mail.hust.edu.cn;  QQ: 834789494</a:t>
            </a:r>
            <a:endParaRPr lang="zh-CN" altLang="en-US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0940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/>
          <p:cNvSpPr>
            <a:spLocks noChangeArrowheads="1"/>
          </p:cNvSpPr>
          <p:nvPr/>
        </p:nvSpPr>
        <p:spPr bwMode="auto">
          <a:xfrm>
            <a:off x="1338263" y="787400"/>
            <a:ext cx="6467475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b"/>
          <a:lstStyle/>
          <a:p>
            <a:pPr algn="ctr">
              <a:defRPr/>
            </a:pPr>
            <a:r>
              <a:rPr kumimoji="0"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0030101010101" pitchFamily="2" charset="-122"/>
                <a:ea typeface="黑体" panose="02010600030101010101" pitchFamily="2" charset="-122"/>
              </a:rPr>
              <a:t>团队精神</a:t>
            </a:r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827088" y="2026583"/>
            <a:ext cx="2736850" cy="230832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spAutoFit/>
            <a:flatTx/>
          </a:bodyPr>
          <a:lstStyle/>
          <a:p>
            <a:pPr algn="ctr">
              <a:defRPr/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行楷" pitchFamily="2" charset="-122"/>
                <a:ea typeface="华文行楷" pitchFamily="2" charset="-122"/>
              </a:rPr>
              <a:t>各美其美</a:t>
            </a:r>
          </a:p>
          <a:p>
            <a:pPr algn="ctr">
              <a:defRPr/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行楷" pitchFamily="2" charset="-122"/>
                <a:ea typeface="华文行楷" pitchFamily="2" charset="-122"/>
              </a:rPr>
              <a:t>美人之美</a:t>
            </a:r>
          </a:p>
          <a:p>
            <a:pPr algn="ctr">
              <a:defRPr/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行楷" pitchFamily="2" charset="-122"/>
                <a:ea typeface="华文行楷" pitchFamily="2" charset="-122"/>
              </a:rPr>
              <a:t>美美与共</a:t>
            </a:r>
          </a:p>
          <a:p>
            <a:pPr algn="ctr">
              <a:defRPr/>
            </a:pPr>
            <a:r>
              <a:rPr lang="zh-CN" alt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行楷" pitchFamily="2" charset="-122"/>
                <a:ea typeface="华文行楷" pitchFamily="2" charset="-122"/>
              </a:rPr>
              <a:t>事业成功</a:t>
            </a:r>
          </a:p>
        </p:txBody>
      </p:sp>
      <p:sp>
        <p:nvSpPr>
          <p:cNvPr id="98309" name="Text Box 5"/>
          <p:cNvSpPr txBox="1">
            <a:spLocks noChangeArrowheads="1"/>
          </p:cNvSpPr>
          <p:nvPr/>
        </p:nvSpPr>
        <p:spPr bwMode="auto">
          <a:xfrm>
            <a:off x="3924300" y="2026583"/>
            <a:ext cx="4537075" cy="255454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defRPr/>
            </a:pPr>
            <a:r>
              <a:rPr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itchFamily="2" charset="-122"/>
                <a:ea typeface="华文行楷" pitchFamily="2" charset="-122"/>
              </a:rPr>
              <a:t>健康</a:t>
            </a:r>
          </a:p>
          <a:p>
            <a:pPr algn="l">
              <a:defRPr/>
            </a:pPr>
            <a:r>
              <a:rPr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itchFamily="2" charset="-122"/>
                <a:ea typeface="华文行楷" pitchFamily="2" charset="-122"/>
              </a:rPr>
              <a:t>   进取</a:t>
            </a:r>
          </a:p>
          <a:p>
            <a:pPr algn="l">
              <a:defRPr/>
            </a:pPr>
            <a:r>
              <a:rPr lang="zh-CN" alt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itchFamily="2" charset="-122"/>
                <a:ea typeface="华文行楷" pitchFamily="2" charset="-122"/>
              </a:rPr>
              <a:t>      和谐的大家庭</a:t>
            </a:r>
            <a:endParaRPr lang="en-US" altLang="zh-CN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行楷" pitchFamily="2" charset="-122"/>
              <a:ea typeface="华文行楷" pitchFamily="2" charset="-122"/>
            </a:endParaRPr>
          </a:p>
          <a:p>
            <a:pPr algn="l">
              <a:defRPr/>
            </a:pPr>
            <a:endParaRPr lang="en-US" altLang="zh-CN" sz="4000" b="1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3799" y="4869160"/>
            <a:ext cx="842870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zh-CN" sz="8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itchFamily="2" charset="-122"/>
                <a:ea typeface="华文行楷" pitchFamily="2" charset="-122"/>
              </a:rPr>
              <a:t>Welcome to join us</a:t>
            </a:r>
            <a:r>
              <a:rPr lang="zh-CN" altLang="en-US" sz="88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行楷" pitchFamily="2" charset="-122"/>
                <a:ea typeface="华文行楷" pitchFamily="2" charset="-122"/>
              </a:rPr>
              <a:t>！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0" y="652534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4"/>
          <p:cNvSpPr txBox="1"/>
          <p:nvPr/>
        </p:nvSpPr>
        <p:spPr>
          <a:xfrm>
            <a:off x="71500" y="6525344"/>
            <a:ext cx="900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2060"/>
                </a:solidFill>
              </a:rPr>
              <a:t>刘振元，</a:t>
            </a:r>
            <a:r>
              <a:rPr lang="en-US" altLang="zh-CN" sz="1400" b="1" dirty="0">
                <a:solidFill>
                  <a:srgbClr val="002060"/>
                </a:solidFill>
              </a:rPr>
              <a:t>Office: </a:t>
            </a:r>
            <a:r>
              <a:rPr lang="en-US" altLang="zh-CN" sz="1400" b="1" dirty="0" smtClean="0">
                <a:solidFill>
                  <a:srgbClr val="002060"/>
                </a:solidFill>
              </a:rPr>
              <a:t>S605</a:t>
            </a:r>
            <a:r>
              <a:rPr lang="en-US" altLang="zh-CN" sz="1400" b="1" dirty="0" smtClean="0">
                <a:solidFill>
                  <a:srgbClr val="002060"/>
                </a:solidFill>
              </a:rPr>
              <a:t>;  </a:t>
            </a:r>
            <a:r>
              <a:rPr lang="en-US" altLang="zh-CN" sz="1400" b="1" dirty="0">
                <a:solidFill>
                  <a:srgbClr val="002060"/>
                </a:solidFill>
              </a:rPr>
              <a:t>Tel: 13995552449; Email: zyliu@mail.hust.edu.cn;  QQ: 834789494</a:t>
            </a:r>
            <a:endParaRPr lang="zh-CN" altLang="en-US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4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7982</TotalTime>
  <Words>3882</Words>
  <Application>Microsoft Office PowerPoint</Application>
  <PresentationFormat>全屏显示(4:3)</PresentationFormat>
  <Paragraphs>723</Paragraphs>
  <Slides>54</Slides>
  <Notes>29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54</vt:i4>
      </vt:variant>
    </vt:vector>
  </HeadingPairs>
  <TitlesOfParts>
    <vt:vector size="79" baseType="lpstr">
      <vt:lpstr>MS PGothic</vt:lpstr>
      <vt:lpstr>黑体</vt:lpstr>
      <vt:lpstr>华文琥珀</vt:lpstr>
      <vt:lpstr>华文新魏</vt:lpstr>
      <vt:lpstr>华文行楷</vt:lpstr>
      <vt:lpstr>华文中宋</vt:lpstr>
      <vt:lpstr>宋体</vt:lpstr>
      <vt:lpstr>微软雅黑</vt:lpstr>
      <vt:lpstr>Arial</vt:lpstr>
      <vt:lpstr>Arial Black</vt:lpstr>
      <vt:lpstr>Brush Script MT</vt:lpstr>
      <vt:lpstr>Calibri</vt:lpstr>
      <vt:lpstr>Marlett</vt:lpstr>
      <vt:lpstr>Symbol</vt:lpstr>
      <vt:lpstr>Tahoma</vt:lpstr>
      <vt:lpstr>Times New Roman</vt:lpstr>
      <vt:lpstr>Verdana</vt:lpstr>
      <vt:lpstr>Wingdings</vt:lpstr>
      <vt:lpstr>基本</vt:lpstr>
      <vt:lpstr>Pixel</vt:lpstr>
      <vt:lpstr>Visio</vt:lpstr>
      <vt:lpstr>图表</vt:lpstr>
      <vt:lpstr>文档</vt:lpstr>
      <vt:lpstr>公式</vt:lpstr>
      <vt:lpstr>Equation</vt:lpstr>
      <vt:lpstr>系统集成与优化 （System Integration and Optimization）</vt:lpstr>
      <vt:lpstr>PowerPoint 演示文稿</vt:lpstr>
      <vt:lpstr>教学目标</vt:lpstr>
      <vt:lpstr>课程内容体系</vt:lpstr>
      <vt:lpstr>PowerPoint 演示文稿</vt:lpstr>
      <vt:lpstr>计划-执行-控制三层之间的信息集成</vt:lpstr>
      <vt:lpstr>PowerPoint 演示文稿</vt:lpstr>
      <vt:lpstr>PowerPoint 演示文稿</vt:lpstr>
      <vt:lpstr>PowerPoint 演示文稿</vt:lpstr>
      <vt:lpstr>PowerPoint 演示文稿</vt:lpstr>
      <vt:lpstr>生产规划的制定:</vt:lpstr>
      <vt:lpstr>生产规划的制定: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Scheduling Decisions</vt:lpstr>
      <vt:lpstr>Scheduling Decisions</vt:lpstr>
      <vt:lpstr>Objectives of production scheduling</vt:lpstr>
      <vt:lpstr>Our Approach</vt:lpstr>
      <vt:lpstr>Classification:</vt:lpstr>
      <vt:lpstr>Machine Configurations</vt:lpstr>
      <vt:lpstr>Job Characteristics:  </vt:lpstr>
      <vt:lpstr>Objective/Optimality Criteria: </vt:lpstr>
      <vt:lpstr>单机调度符号定义：</vt:lpstr>
      <vt:lpstr>Dispatching rules：</vt:lpstr>
      <vt:lpstr>Sequencing theory for a single machine</vt:lpstr>
      <vt:lpstr>An important single machine model</vt:lpstr>
      <vt:lpstr>PowerPoint 演示文稿</vt:lpstr>
      <vt:lpstr>Flow Shop Scheduling Problem with two Machines</vt:lpstr>
      <vt:lpstr>Extension to 3 Machines</vt:lpstr>
      <vt:lpstr>Job Shop Scheduling</vt:lpstr>
      <vt:lpstr>Job Shop Scheduling</vt:lpstr>
      <vt:lpstr>Shifting Bottleneck（移动瓶颈法）</vt:lpstr>
      <vt:lpstr>PowerPoint 演示文稿</vt:lpstr>
      <vt:lpstr>Shifting Bottleneck（移动瓶颈法）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hustzyliu</dc:creator>
  <cp:lastModifiedBy>hustzyliu</cp:lastModifiedBy>
  <cp:revision>255</cp:revision>
  <cp:lastPrinted>1601-01-01T00:00:00Z</cp:lastPrinted>
  <dcterms:created xsi:type="dcterms:W3CDTF">1601-01-01T00:00:00Z</dcterms:created>
  <dcterms:modified xsi:type="dcterms:W3CDTF">2026-05-26T15:17:39Z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
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wav" ContentType="audio/x-wav"/>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67" r:id="rId2"/>
    <p:sldId id="269" r:id="rId3"/>
    <p:sldId id="322" r:id="rId4"/>
    <p:sldId id="321" r:id="rId5"/>
    <p:sldId id="318" r:id="rId6"/>
    <p:sldId id="319" r:id="rId7"/>
    <p:sldId id="320" r:id="rId8"/>
    <p:sldId id="272" r:id="rId9"/>
    <p:sldId id="284" r:id="rId10"/>
    <p:sldId id="257" r:id="rId11"/>
    <p:sldId id="258" r:id="rId12"/>
    <p:sldId id="259" r:id="rId13"/>
    <p:sldId id="260" r:id="rId14"/>
    <p:sldId id="264" r:id="rId15"/>
    <p:sldId id="265" r:id="rId16"/>
    <p:sldId id="261" r:id="rId17"/>
    <p:sldId id="262" r:id="rId18"/>
    <p:sldId id="263" r:id="rId19"/>
    <p:sldId id="301" r:id="rId20"/>
    <p:sldId id="302" r:id="rId21"/>
    <p:sldId id="303" r:id="rId22"/>
    <p:sldId id="304" r:id="rId23"/>
    <p:sldId id="305" r:id="rId24"/>
    <p:sldId id="306" r:id="rId25"/>
    <p:sldId id="307" r:id="rId26"/>
    <p:sldId id="308" r:id="rId27"/>
    <p:sldId id="314" r:id="rId28"/>
    <p:sldId id="315" r:id="rId29"/>
    <p:sldId id="316" r:id="rId30"/>
    <p:sldId id="309" r:id="rId31"/>
    <p:sldId id="317" r:id="rId32"/>
    <p:sldId id="310" r:id="rId33"/>
    <p:sldId id="311" r:id="rId34"/>
    <p:sldId id="312" r:id="rId35"/>
    <p:sldId id="313" r:id="rId36"/>
  </p:sldIdLst>
  <p:sldSz cx="9144000" cy="6858000" type="screen4x3"/>
  <p:notesSz cx="6858000" cy="9144000"/>
  <p:defaultTex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FFCC"/>
    <a:srgbClr val="CC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14" autoAdjust="0"/>
    <p:restoredTop sz="94674" autoAdjust="0"/>
  </p:normalViewPr>
  <p:slideViewPr>
    <p:cSldViewPr>
      <p:cViewPr varScale="1">
        <p:scale>
          <a:sx n="75" d="100"/>
          <a:sy n="75" d="100"/>
        </p:scale>
        <p:origin x="1008" y="36"/>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e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2"/>
          <p:cNvGrpSpPr>
            <a:grpSpLocks/>
          </p:cNvGrpSpPr>
          <p:nvPr/>
        </p:nvGrpSpPr>
        <p:grpSpPr bwMode="auto">
          <a:xfrm>
            <a:off x="0" y="0"/>
            <a:ext cx="9144000" cy="6858000"/>
            <a:chOff x="0" y="0"/>
            <a:chExt cx="5760" cy="4320"/>
          </a:xfrm>
        </p:grpSpPr>
        <p:sp>
          <p:nvSpPr>
            <p:cNvPr id="5" name="Rectangle 3"/>
            <p:cNvSpPr>
              <a:spLocks noChangeArrowheads="1"/>
            </p:cNvSpPr>
            <p:nvPr/>
          </p:nvSpPr>
          <p:spPr bwMode="hidden">
            <a:xfrm>
              <a:off x="0" y="0"/>
              <a:ext cx="2208" cy="4320"/>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endParaRPr lang="zh-CN" altLang="zh-CN" sz="2400">
                <a:latin typeface="Times New Roman" pitchFamily="18" charset="0"/>
              </a:endParaRPr>
            </a:p>
          </p:txBody>
        </p:sp>
        <p:sp>
          <p:nvSpPr>
            <p:cNvPr id="6" name="Rectangle 4"/>
            <p:cNvSpPr>
              <a:spLocks noChangeArrowheads="1"/>
            </p:cNvSpPr>
            <p:nvPr/>
          </p:nvSpPr>
          <p:spPr bwMode="hidden">
            <a:xfrm>
              <a:off x="1081" y="1065"/>
              <a:ext cx="4679" cy="1596"/>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sz="2400">
                <a:latin typeface="Times New Roman" pitchFamily="18" charset="0"/>
              </a:endParaRPr>
            </a:p>
          </p:txBody>
        </p:sp>
        <p:grpSp>
          <p:nvGrpSpPr>
            <p:cNvPr id="7" name="Group 5"/>
            <p:cNvGrpSpPr>
              <a:grpSpLocks/>
            </p:cNvGrpSpPr>
            <p:nvPr/>
          </p:nvGrpSpPr>
          <p:grpSpPr bwMode="auto">
            <a:xfrm>
              <a:off x="0" y="672"/>
              <a:ext cx="1806" cy="1989"/>
              <a:chOff x="0" y="672"/>
              <a:chExt cx="1806" cy="1989"/>
            </a:xfrm>
          </p:grpSpPr>
          <p:sp>
            <p:nvSpPr>
              <p:cNvPr id="8" name="Rectangle 6"/>
              <p:cNvSpPr>
                <a:spLocks noChangeArrowheads="1"/>
              </p:cNvSpPr>
              <p:nvPr userDrawn="1"/>
            </p:nvSpPr>
            <p:spPr bwMode="auto">
              <a:xfrm>
                <a:off x="361" y="2257"/>
                <a:ext cx="363" cy="404"/>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sz="2400">
                  <a:latin typeface="Times New Roman" pitchFamily="18" charset="0"/>
                </a:endParaRPr>
              </a:p>
            </p:txBody>
          </p:sp>
          <p:sp>
            <p:nvSpPr>
              <p:cNvPr id="9" name="Rectangle 7"/>
              <p:cNvSpPr>
                <a:spLocks noChangeArrowheads="1"/>
              </p:cNvSpPr>
              <p:nvPr userDrawn="1"/>
            </p:nvSpPr>
            <p:spPr bwMode="auto">
              <a:xfrm>
                <a:off x="1081" y="1065"/>
                <a:ext cx="362" cy="405"/>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sz="2400">
                  <a:latin typeface="Times New Roman" pitchFamily="18" charset="0"/>
                </a:endParaRPr>
              </a:p>
            </p:txBody>
          </p:sp>
          <p:sp>
            <p:nvSpPr>
              <p:cNvPr id="10" name="Rectangle 8"/>
              <p:cNvSpPr>
                <a:spLocks noChangeArrowheads="1"/>
              </p:cNvSpPr>
              <p:nvPr userDrawn="1"/>
            </p:nvSpPr>
            <p:spPr bwMode="auto">
              <a:xfrm>
                <a:off x="1437" y="672"/>
                <a:ext cx="369" cy="400"/>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sz="2400">
                  <a:latin typeface="Times New Roman" pitchFamily="18" charset="0"/>
                </a:endParaRPr>
              </a:p>
            </p:txBody>
          </p:sp>
          <p:sp>
            <p:nvSpPr>
              <p:cNvPr id="11" name="Rectangle 9"/>
              <p:cNvSpPr>
                <a:spLocks noChangeArrowheads="1"/>
              </p:cNvSpPr>
              <p:nvPr userDrawn="1"/>
            </p:nvSpPr>
            <p:spPr bwMode="auto">
              <a:xfrm>
                <a:off x="719" y="2257"/>
                <a:ext cx="368" cy="404"/>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sz="2400">
                  <a:latin typeface="Times New Roman" pitchFamily="18" charset="0"/>
                </a:endParaRPr>
              </a:p>
            </p:txBody>
          </p:sp>
          <p:sp>
            <p:nvSpPr>
              <p:cNvPr id="12" name="Rectangle 10"/>
              <p:cNvSpPr>
                <a:spLocks noChangeArrowheads="1"/>
              </p:cNvSpPr>
              <p:nvPr userDrawn="1"/>
            </p:nvSpPr>
            <p:spPr bwMode="auto">
              <a:xfrm>
                <a:off x="1437" y="1065"/>
                <a:ext cx="369" cy="405"/>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sz="2400">
                  <a:latin typeface="Times New Roman" pitchFamily="18" charset="0"/>
                </a:endParaRPr>
              </a:p>
            </p:txBody>
          </p:sp>
          <p:sp>
            <p:nvSpPr>
              <p:cNvPr id="13" name="Rectangle 11"/>
              <p:cNvSpPr>
                <a:spLocks noChangeArrowheads="1"/>
              </p:cNvSpPr>
              <p:nvPr userDrawn="1"/>
            </p:nvSpPr>
            <p:spPr bwMode="auto">
              <a:xfrm>
                <a:off x="719" y="1464"/>
                <a:ext cx="368" cy="39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sz="2400">
                  <a:latin typeface="Times New Roman" pitchFamily="18" charset="0"/>
                </a:endParaRPr>
              </a:p>
            </p:txBody>
          </p:sp>
          <p:sp>
            <p:nvSpPr>
              <p:cNvPr id="14" name="Rectangle 12"/>
              <p:cNvSpPr>
                <a:spLocks noChangeArrowheads="1"/>
              </p:cNvSpPr>
              <p:nvPr userDrawn="1"/>
            </p:nvSpPr>
            <p:spPr bwMode="auto">
              <a:xfrm>
                <a:off x="0" y="1464"/>
                <a:ext cx="367" cy="399"/>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sz="2400">
                  <a:latin typeface="Times New Roman" pitchFamily="18" charset="0"/>
                </a:endParaRPr>
              </a:p>
            </p:txBody>
          </p:sp>
          <p:sp>
            <p:nvSpPr>
              <p:cNvPr id="15" name="Rectangle 13"/>
              <p:cNvSpPr>
                <a:spLocks noChangeArrowheads="1"/>
              </p:cNvSpPr>
              <p:nvPr userDrawn="1"/>
            </p:nvSpPr>
            <p:spPr bwMode="auto">
              <a:xfrm>
                <a:off x="1081" y="1464"/>
                <a:ext cx="362" cy="399"/>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sz="2400">
                  <a:latin typeface="Times New Roman" pitchFamily="18" charset="0"/>
                </a:endParaRPr>
              </a:p>
            </p:txBody>
          </p:sp>
          <p:sp>
            <p:nvSpPr>
              <p:cNvPr id="16" name="Rectangle 14"/>
              <p:cNvSpPr>
                <a:spLocks noChangeArrowheads="1"/>
              </p:cNvSpPr>
              <p:nvPr userDrawn="1"/>
            </p:nvSpPr>
            <p:spPr bwMode="auto">
              <a:xfrm>
                <a:off x="361" y="1857"/>
                <a:ext cx="363" cy="406"/>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sz="2400">
                  <a:latin typeface="Times New Roman" pitchFamily="18" charset="0"/>
                </a:endParaRPr>
              </a:p>
            </p:txBody>
          </p:sp>
          <p:sp>
            <p:nvSpPr>
              <p:cNvPr id="17" name="Rectangle 15"/>
              <p:cNvSpPr>
                <a:spLocks noChangeArrowheads="1"/>
              </p:cNvSpPr>
              <p:nvPr userDrawn="1"/>
            </p:nvSpPr>
            <p:spPr bwMode="auto">
              <a:xfrm>
                <a:off x="719" y="1857"/>
                <a:ext cx="368" cy="40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sz="2400">
                  <a:latin typeface="Times New Roman" pitchFamily="18" charset="0"/>
                </a:endParaRPr>
              </a:p>
            </p:txBody>
          </p:sp>
        </p:grpSp>
      </p:grpSp>
      <p:sp>
        <p:nvSpPr>
          <p:cNvPr id="27667" name="Rectangle 19"/>
          <p:cNvSpPr>
            <a:spLocks noGrp="1" noChangeArrowheads="1"/>
          </p:cNvSpPr>
          <p:nvPr>
            <p:ph type="ctrTitle"/>
          </p:nvPr>
        </p:nvSpPr>
        <p:spPr>
          <a:xfrm>
            <a:off x="2971800" y="1828800"/>
            <a:ext cx="6019800" cy="2209800"/>
          </a:xfrm>
        </p:spPr>
        <p:txBody>
          <a:bodyPr/>
          <a:lstStyle>
            <a:lvl1pPr>
              <a:defRPr sz="5000">
                <a:solidFill>
                  <a:srgbClr val="FFFFFF"/>
                </a:solidFill>
              </a:defRPr>
            </a:lvl1pPr>
          </a:lstStyle>
          <a:p>
            <a:pPr lvl="0"/>
            <a:r>
              <a:rPr lang="zh-CN" altLang="en-US" noProof="0"/>
              <a:t>单击此处编辑母版标题样式</a:t>
            </a:r>
          </a:p>
        </p:txBody>
      </p:sp>
      <p:sp>
        <p:nvSpPr>
          <p:cNvPr id="27668" name="Rectangle 20"/>
          <p:cNvSpPr>
            <a:spLocks noGrp="1" noChangeArrowheads="1"/>
          </p:cNvSpPr>
          <p:nvPr>
            <p:ph type="subTitle" idx="1"/>
          </p:nvPr>
        </p:nvSpPr>
        <p:spPr>
          <a:xfrm>
            <a:off x="2971800" y="4267200"/>
            <a:ext cx="6019800" cy="1752600"/>
          </a:xfrm>
        </p:spPr>
        <p:txBody>
          <a:bodyPr/>
          <a:lstStyle>
            <a:lvl1pPr marL="0" indent="0">
              <a:buFont typeface="Wingdings" pitchFamily="2" charset="2"/>
              <a:buNone/>
              <a:defRPr sz="3400"/>
            </a:lvl1pPr>
          </a:lstStyle>
          <a:p>
            <a:pPr lvl="0"/>
            <a:r>
              <a:rPr lang="zh-CN" altLang="en-US" noProof="0"/>
              <a:t>单击此处编辑母版副标题样式</a:t>
            </a:r>
          </a:p>
        </p:txBody>
      </p:sp>
      <p:sp>
        <p:nvSpPr>
          <p:cNvPr id="18" name="Rectangle 16"/>
          <p:cNvSpPr>
            <a:spLocks noGrp="1" noChangeArrowheads="1"/>
          </p:cNvSpPr>
          <p:nvPr>
            <p:ph type="dt" sz="half" idx="10"/>
          </p:nvPr>
        </p:nvSpPr>
        <p:spPr>
          <a:xfrm>
            <a:off x="457200" y="6248400"/>
            <a:ext cx="2133600" cy="457200"/>
          </a:xfrm>
        </p:spPr>
        <p:txBody>
          <a:bodyPr/>
          <a:lstStyle>
            <a:lvl1pPr>
              <a:defRPr/>
            </a:lvl1pPr>
          </a:lstStyle>
          <a:p>
            <a:pPr>
              <a:defRPr/>
            </a:pPr>
            <a:endParaRPr lang="en-US" altLang="zh-CN"/>
          </a:p>
        </p:txBody>
      </p:sp>
      <p:sp>
        <p:nvSpPr>
          <p:cNvPr id="19" name="Rectangle 17"/>
          <p:cNvSpPr>
            <a:spLocks noGrp="1" noChangeArrowheads="1"/>
          </p:cNvSpPr>
          <p:nvPr>
            <p:ph type="ftr" sz="quarter" idx="11"/>
          </p:nvPr>
        </p:nvSpPr>
        <p:spPr/>
        <p:txBody>
          <a:bodyPr/>
          <a:lstStyle>
            <a:lvl1pPr>
              <a:defRPr/>
            </a:lvl1pPr>
          </a:lstStyle>
          <a:p>
            <a:pPr>
              <a:defRPr/>
            </a:pPr>
            <a:endParaRPr lang="en-US" altLang="zh-CN"/>
          </a:p>
        </p:txBody>
      </p:sp>
      <p:sp>
        <p:nvSpPr>
          <p:cNvPr id="20" name="Rectangle 18"/>
          <p:cNvSpPr>
            <a:spLocks noGrp="1" noChangeArrowheads="1"/>
          </p:cNvSpPr>
          <p:nvPr>
            <p:ph type="sldNum" sz="quarter" idx="12"/>
          </p:nvPr>
        </p:nvSpPr>
        <p:spPr/>
        <p:txBody>
          <a:bodyPr/>
          <a:lstStyle>
            <a:lvl1pPr>
              <a:defRPr/>
            </a:lvl1pPr>
          </a:lstStyle>
          <a:p>
            <a:pPr>
              <a:defRPr/>
            </a:pPr>
            <a:fld id="{7A903762-9D27-4839-9889-B0631774EB60}" type="slidenum">
              <a:rPr lang="en-US" altLang="zh-CN"/>
              <a:pPr>
                <a:defRPr/>
              </a:pPr>
              <a:t>‹#›</a:t>
            </a:fld>
            <a:endParaRPr lang="en-US" altLang="zh-CN"/>
          </a:p>
        </p:txBody>
      </p:sp>
    </p:spTree>
    <p:extLst>
      <p:ext uri="{BB962C8B-B14F-4D97-AF65-F5344CB8AC3E}">
        <p14:creationId xmlns:p14="http://schemas.microsoft.com/office/powerpoint/2010/main" val="2852132288"/>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2"/>
          <p:cNvSpPr>
            <a:spLocks noGrp="1" noChangeArrowheads="1"/>
          </p:cNvSpPr>
          <p:nvPr>
            <p:ph type="ftr" sz="quarter" idx="10"/>
          </p:nvPr>
        </p:nvSpPr>
        <p:spPr/>
        <p:txBody>
          <a:bodyPr/>
          <a:lstStyle>
            <a:lvl1pPr>
              <a:defRPr/>
            </a:lvl1pPr>
          </a:lstStyle>
          <a:p>
            <a:pPr>
              <a:defRPr/>
            </a:pPr>
            <a:endParaRPr lang="en-US" altLang="zh-CN"/>
          </a:p>
        </p:txBody>
      </p:sp>
      <p:sp>
        <p:nvSpPr>
          <p:cNvPr id="5" name="Rectangle 3"/>
          <p:cNvSpPr>
            <a:spLocks noGrp="1" noChangeArrowheads="1"/>
          </p:cNvSpPr>
          <p:nvPr>
            <p:ph type="sldNum" sz="quarter" idx="11"/>
          </p:nvPr>
        </p:nvSpPr>
        <p:spPr/>
        <p:txBody>
          <a:bodyPr/>
          <a:lstStyle>
            <a:lvl1pPr>
              <a:defRPr/>
            </a:lvl1pPr>
          </a:lstStyle>
          <a:p>
            <a:pPr>
              <a:defRPr/>
            </a:pPr>
            <a:fld id="{18714E88-3826-4BA2-9B11-F0A359B5A701}" type="slidenum">
              <a:rPr lang="en-US" altLang="zh-CN"/>
              <a:pPr>
                <a:defRPr/>
              </a:pPr>
              <a:t>‹#›</a:t>
            </a:fld>
            <a:endParaRPr lang="en-US" altLang="zh-CN"/>
          </a:p>
        </p:txBody>
      </p:sp>
      <p:sp>
        <p:nvSpPr>
          <p:cNvPr id="6" name="Rectangle 16"/>
          <p:cNvSpPr>
            <a:spLocks noGrp="1" noChangeArrowheads="1"/>
          </p:cNvSpPr>
          <p:nvPr>
            <p:ph type="dt" sz="half" idx="12"/>
          </p:nvPr>
        </p:nvSpPr>
        <p:spPr/>
        <p:txBody>
          <a:bodyPr/>
          <a:lstStyle>
            <a:lvl1pPr>
              <a:defRPr/>
            </a:lvl1pPr>
          </a:lstStyle>
          <a:p>
            <a:pPr>
              <a:defRPr/>
            </a:pPr>
            <a:endParaRPr lang="en-US" altLang="zh-CN"/>
          </a:p>
        </p:txBody>
      </p:sp>
    </p:spTree>
    <p:extLst>
      <p:ext uri="{BB962C8B-B14F-4D97-AF65-F5344CB8AC3E}">
        <p14:creationId xmlns:p14="http://schemas.microsoft.com/office/powerpoint/2010/main" val="3046883142"/>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2"/>
          <p:cNvSpPr>
            <a:spLocks noGrp="1" noChangeArrowheads="1"/>
          </p:cNvSpPr>
          <p:nvPr>
            <p:ph type="ftr" sz="quarter" idx="10"/>
          </p:nvPr>
        </p:nvSpPr>
        <p:spPr/>
        <p:txBody>
          <a:bodyPr/>
          <a:lstStyle>
            <a:lvl1pPr>
              <a:defRPr/>
            </a:lvl1pPr>
          </a:lstStyle>
          <a:p>
            <a:pPr>
              <a:defRPr/>
            </a:pPr>
            <a:endParaRPr lang="en-US" altLang="zh-CN"/>
          </a:p>
        </p:txBody>
      </p:sp>
      <p:sp>
        <p:nvSpPr>
          <p:cNvPr id="5" name="Rectangle 3"/>
          <p:cNvSpPr>
            <a:spLocks noGrp="1" noChangeArrowheads="1"/>
          </p:cNvSpPr>
          <p:nvPr>
            <p:ph type="sldNum" sz="quarter" idx="11"/>
          </p:nvPr>
        </p:nvSpPr>
        <p:spPr/>
        <p:txBody>
          <a:bodyPr/>
          <a:lstStyle>
            <a:lvl1pPr>
              <a:defRPr/>
            </a:lvl1pPr>
          </a:lstStyle>
          <a:p>
            <a:pPr>
              <a:defRPr/>
            </a:pPr>
            <a:fld id="{663B02E4-E9B9-4DD3-A203-913BB1394AEA}" type="slidenum">
              <a:rPr lang="en-US" altLang="zh-CN"/>
              <a:pPr>
                <a:defRPr/>
              </a:pPr>
              <a:t>‹#›</a:t>
            </a:fld>
            <a:endParaRPr lang="en-US" altLang="zh-CN"/>
          </a:p>
        </p:txBody>
      </p:sp>
      <p:sp>
        <p:nvSpPr>
          <p:cNvPr id="6" name="Rectangle 16"/>
          <p:cNvSpPr>
            <a:spLocks noGrp="1" noChangeArrowheads="1"/>
          </p:cNvSpPr>
          <p:nvPr>
            <p:ph type="dt" sz="half" idx="12"/>
          </p:nvPr>
        </p:nvSpPr>
        <p:spPr/>
        <p:txBody>
          <a:bodyPr/>
          <a:lstStyle>
            <a:lvl1pPr>
              <a:defRPr/>
            </a:lvl1pPr>
          </a:lstStyle>
          <a:p>
            <a:pPr>
              <a:defRPr/>
            </a:pPr>
            <a:endParaRPr lang="en-US" altLang="zh-CN"/>
          </a:p>
        </p:txBody>
      </p:sp>
    </p:spTree>
    <p:extLst>
      <p:ext uri="{BB962C8B-B14F-4D97-AF65-F5344CB8AC3E}">
        <p14:creationId xmlns:p14="http://schemas.microsoft.com/office/powerpoint/2010/main" val="2628018791"/>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981200"/>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981200"/>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2"/>
          <p:cNvSpPr>
            <a:spLocks noGrp="1" noChangeArrowheads="1"/>
          </p:cNvSpPr>
          <p:nvPr>
            <p:ph type="ftr" sz="quarter" idx="10"/>
          </p:nvPr>
        </p:nvSpPr>
        <p:spPr/>
        <p:txBody>
          <a:bodyPr/>
          <a:lstStyle>
            <a:lvl1pPr>
              <a:defRPr/>
            </a:lvl1pPr>
          </a:lstStyle>
          <a:p>
            <a:pPr>
              <a:defRPr/>
            </a:pPr>
            <a:endParaRPr lang="en-US" altLang="zh-CN"/>
          </a:p>
        </p:txBody>
      </p:sp>
      <p:sp>
        <p:nvSpPr>
          <p:cNvPr id="6" name="Rectangle 3"/>
          <p:cNvSpPr>
            <a:spLocks noGrp="1" noChangeArrowheads="1"/>
          </p:cNvSpPr>
          <p:nvPr>
            <p:ph type="sldNum" sz="quarter" idx="11"/>
          </p:nvPr>
        </p:nvSpPr>
        <p:spPr/>
        <p:txBody>
          <a:bodyPr/>
          <a:lstStyle>
            <a:lvl1pPr>
              <a:defRPr/>
            </a:lvl1pPr>
          </a:lstStyle>
          <a:p>
            <a:pPr>
              <a:defRPr/>
            </a:pPr>
            <a:fld id="{F7A09E50-C70E-4D39-B40C-CB2454FE4FF2}" type="slidenum">
              <a:rPr lang="en-US" altLang="zh-CN"/>
              <a:pPr>
                <a:defRPr/>
              </a:pPr>
              <a:t>‹#›</a:t>
            </a:fld>
            <a:endParaRPr lang="en-US" altLang="zh-CN"/>
          </a:p>
        </p:txBody>
      </p:sp>
      <p:sp>
        <p:nvSpPr>
          <p:cNvPr id="7" name="Rectangle 16"/>
          <p:cNvSpPr>
            <a:spLocks noGrp="1" noChangeArrowheads="1"/>
          </p:cNvSpPr>
          <p:nvPr>
            <p:ph type="dt" sz="half" idx="12"/>
          </p:nvPr>
        </p:nvSpPr>
        <p:spPr/>
        <p:txBody>
          <a:bodyPr/>
          <a:lstStyle>
            <a:lvl1pPr>
              <a:defRPr/>
            </a:lvl1pPr>
          </a:lstStyle>
          <a:p>
            <a:pPr>
              <a:defRPr/>
            </a:pPr>
            <a:endParaRPr lang="en-US" altLang="zh-CN"/>
          </a:p>
        </p:txBody>
      </p:sp>
    </p:spTree>
    <p:extLst>
      <p:ext uri="{BB962C8B-B14F-4D97-AF65-F5344CB8AC3E}">
        <p14:creationId xmlns:p14="http://schemas.microsoft.com/office/powerpoint/2010/main" val="131442070"/>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2"/>
          <p:cNvSpPr>
            <a:spLocks noGrp="1" noChangeArrowheads="1"/>
          </p:cNvSpPr>
          <p:nvPr>
            <p:ph type="ftr" sz="quarter" idx="10"/>
          </p:nvPr>
        </p:nvSpPr>
        <p:spPr/>
        <p:txBody>
          <a:bodyPr/>
          <a:lstStyle>
            <a:lvl1pPr>
              <a:defRPr/>
            </a:lvl1pPr>
          </a:lstStyle>
          <a:p>
            <a:pPr>
              <a:defRPr/>
            </a:pPr>
            <a:endParaRPr lang="en-US" altLang="zh-CN"/>
          </a:p>
        </p:txBody>
      </p:sp>
      <p:sp>
        <p:nvSpPr>
          <p:cNvPr id="8" name="Rectangle 3"/>
          <p:cNvSpPr>
            <a:spLocks noGrp="1" noChangeArrowheads="1"/>
          </p:cNvSpPr>
          <p:nvPr>
            <p:ph type="sldNum" sz="quarter" idx="11"/>
          </p:nvPr>
        </p:nvSpPr>
        <p:spPr/>
        <p:txBody>
          <a:bodyPr/>
          <a:lstStyle>
            <a:lvl1pPr>
              <a:defRPr/>
            </a:lvl1pPr>
          </a:lstStyle>
          <a:p>
            <a:pPr>
              <a:defRPr/>
            </a:pPr>
            <a:fld id="{6CE92B5B-F02F-4B87-99E5-58DC7E9207B1}" type="slidenum">
              <a:rPr lang="en-US" altLang="zh-CN"/>
              <a:pPr>
                <a:defRPr/>
              </a:pPr>
              <a:t>‹#›</a:t>
            </a:fld>
            <a:endParaRPr lang="en-US" altLang="zh-CN"/>
          </a:p>
        </p:txBody>
      </p:sp>
      <p:sp>
        <p:nvSpPr>
          <p:cNvPr id="9" name="Rectangle 16"/>
          <p:cNvSpPr>
            <a:spLocks noGrp="1" noChangeArrowheads="1"/>
          </p:cNvSpPr>
          <p:nvPr>
            <p:ph type="dt" sz="half" idx="12"/>
          </p:nvPr>
        </p:nvSpPr>
        <p:spPr/>
        <p:txBody>
          <a:bodyPr/>
          <a:lstStyle>
            <a:lvl1pPr>
              <a:defRPr/>
            </a:lvl1pPr>
          </a:lstStyle>
          <a:p>
            <a:pPr>
              <a:defRPr/>
            </a:pPr>
            <a:endParaRPr lang="en-US" altLang="zh-CN"/>
          </a:p>
        </p:txBody>
      </p:sp>
    </p:spTree>
    <p:extLst>
      <p:ext uri="{BB962C8B-B14F-4D97-AF65-F5344CB8AC3E}">
        <p14:creationId xmlns:p14="http://schemas.microsoft.com/office/powerpoint/2010/main" val="3024280861"/>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2"/>
          <p:cNvSpPr>
            <a:spLocks noGrp="1" noChangeArrowheads="1"/>
          </p:cNvSpPr>
          <p:nvPr>
            <p:ph type="ftr" sz="quarter" idx="10"/>
          </p:nvPr>
        </p:nvSpPr>
        <p:spPr/>
        <p:txBody>
          <a:bodyPr/>
          <a:lstStyle>
            <a:lvl1pPr>
              <a:defRPr/>
            </a:lvl1pPr>
          </a:lstStyle>
          <a:p>
            <a:pPr>
              <a:defRPr/>
            </a:pPr>
            <a:endParaRPr lang="en-US" altLang="zh-CN"/>
          </a:p>
        </p:txBody>
      </p:sp>
      <p:sp>
        <p:nvSpPr>
          <p:cNvPr id="4" name="Rectangle 3"/>
          <p:cNvSpPr>
            <a:spLocks noGrp="1" noChangeArrowheads="1"/>
          </p:cNvSpPr>
          <p:nvPr>
            <p:ph type="sldNum" sz="quarter" idx="11"/>
          </p:nvPr>
        </p:nvSpPr>
        <p:spPr/>
        <p:txBody>
          <a:bodyPr/>
          <a:lstStyle>
            <a:lvl1pPr>
              <a:defRPr/>
            </a:lvl1pPr>
          </a:lstStyle>
          <a:p>
            <a:pPr>
              <a:defRPr/>
            </a:pPr>
            <a:fld id="{D2EAD7FA-84D7-4F4B-8433-48DB21063946}" type="slidenum">
              <a:rPr lang="en-US" altLang="zh-CN"/>
              <a:pPr>
                <a:defRPr/>
              </a:pPr>
              <a:t>‹#›</a:t>
            </a:fld>
            <a:endParaRPr lang="en-US" altLang="zh-CN"/>
          </a:p>
        </p:txBody>
      </p:sp>
      <p:sp>
        <p:nvSpPr>
          <p:cNvPr id="5" name="Rectangle 16"/>
          <p:cNvSpPr>
            <a:spLocks noGrp="1" noChangeArrowheads="1"/>
          </p:cNvSpPr>
          <p:nvPr>
            <p:ph type="dt" sz="half" idx="12"/>
          </p:nvPr>
        </p:nvSpPr>
        <p:spPr/>
        <p:txBody>
          <a:bodyPr/>
          <a:lstStyle>
            <a:lvl1pPr>
              <a:defRPr/>
            </a:lvl1pPr>
          </a:lstStyle>
          <a:p>
            <a:pPr>
              <a:defRPr/>
            </a:pPr>
            <a:endParaRPr lang="en-US" altLang="zh-CN"/>
          </a:p>
        </p:txBody>
      </p:sp>
    </p:spTree>
    <p:extLst>
      <p:ext uri="{BB962C8B-B14F-4D97-AF65-F5344CB8AC3E}">
        <p14:creationId xmlns:p14="http://schemas.microsoft.com/office/powerpoint/2010/main" val="1896621967"/>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2"/>
          <p:cNvSpPr>
            <a:spLocks noGrp="1" noChangeArrowheads="1"/>
          </p:cNvSpPr>
          <p:nvPr>
            <p:ph type="ftr" sz="quarter" idx="10"/>
          </p:nvPr>
        </p:nvSpPr>
        <p:spPr/>
        <p:txBody>
          <a:bodyPr/>
          <a:lstStyle>
            <a:lvl1pPr>
              <a:defRPr/>
            </a:lvl1pPr>
          </a:lstStyle>
          <a:p>
            <a:pPr>
              <a:defRPr/>
            </a:pPr>
            <a:endParaRPr lang="en-US" altLang="zh-CN"/>
          </a:p>
        </p:txBody>
      </p:sp>
      <p:sp>
        <p:nvSpPr>
          <p:cNvPr id="3" name="Rectangle 3"/>
          <p:cNvSpPr>
            <a:spLocks noGrp="1" noChangeArrowheads="1"/>
          </p:cNvSpPr>
          <p:nvPr>
            <p:ph type="sldNum" sz="quarter" idx="11"/>
          </p:nvPr>
        </p:nvSpPr>
        <p:spPr/>
        <p:txBody>
          <a:bodyPr/>
          <a:lstStyle>
            <a:lvl1pPr>
              <a:defRPr/>
            </a:lvl1pPr>
          </a:lstStyle>
          <a:p>
            <a:pPr>
              <a:defRPr/>
            </a:pPr>
            <a:fld id="{382CF834-C62A-4A46-A27D-DE5AF7396277}" type="slidenum">
              <a:rPr lang="en-US" altLang="zh-CN"/>
              <a:pPr>
                <a:defRPr/>
              </a:pPr>
              <a:t>‹#›</a:t>
            </a:fld>
            <a:endParaRPr lang="en-US" altLang="zh-CN"/>
          </a:p>
        </p:txBody>
      </p:sp>
      <p:sp>
        <p:nvSpPr>
          <p:cNvPr id="4" name="Rectangle 16"/>
          <p:cNvSpPr>
            <a:spLocks noGrp="1" noChangeArrowheads="1"/>
          </p:cNvSpPr>
          <p:nvPr>
            <p:ph type="dt" sz="half" idx="12"/>
          </p:nvPr>
        </p:nvSpPr>
        <p:spPr/>
        <p:txBody>
          <a:bodyPr/>
          <a:lstStyle>
            <a:lvl1pPr>
              <a:defRPr/>
            </a:lvl1pPr>
          </a:lstStyle>
          <a:p>
            <a:pPr>
              <a:defRPr/>
            </a:pPr>
            <a:endParaRPr lang="en-US" altLang="zh-CN"/>
          </a:p>
        </p:txBody>
      </p:sp>
    </p:spTree>
    <p:extLst>
      <p:ext uri="{BB962C8B-B14F-4D97-AF65-F5344CB8AC3E}">
        <p14:creationId xmlns:p14="http://schemas.microsoft.com/office/powerpoint/2010/main" val="2582820333"/>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2"/>
          <p:cNvSpPr>
            <a:spLocks noGrp="1" noChangeArrowheads="1"/>
          </p:cNvSpPr>
          <p:nvPr>
            <p:ph type="ftr" sz="quarter" idx="10"/>
          </p:nvPr>
        </p:nvSpPr>
        <p:spPr/>
        <p:txBody>
          <a:bodyPr/>
          <a:lstStyle>
            <a:lvl1pPr>
              <a:defRPr/>
            </a:lvl1pPr>
          </a:lstStyle>
          <a:p>
            <a:pPr>
              <a:defRPr/>
            </a:pPr>
            <a:endParaRPr lang="en-US" altLang="zh-CN"/>
          </a:p>
        </p:txBody>
      </p:sp>
      <p:sp>
        <p:nvSpPr>
          <p:cNvPr id="6" name="Rectangle 3"/>
          <p:cNvSpPr>
            <a:spLocks noGrp="1" noChangeArrowheads="1"/>
          </p:cNvSpPr>
          <p:nvPr>
            <p:ph type="sldNum" sz="quarter" idx="11"/>
          </p:nvPr>
        </p:nvSpPr>
        <p:spPr/>
        <p:txBody>
          <a:bodyPr/>
          <a:lstStyle>
            <a:lvl1pPr>
              <a:defRPr/>
            </a:lvl1pPr>
          </a:lstStyle>
          <a:p>
            <a:pPr>
              <a:defRPr/>
            </a:pPr>
            <a:fld id="{E90B1C60-04EC-4E52-9C87-2B1AEAA117A7}" type="slidenum">
              <a:rPr lang="en-US" altLang="zh-CN"/>
              <a:pPr>
                <a:defRPr/>
              </a:pPr>
              <a:t>‹#›</a:t>
            </a:fld>
            <a:endParaRPr lang="en-US" altLang="zh-CN"/>
          </a:p>
        </p:txBody>
      </p:sp>
      <p:sp>
        <p:nvSpPr>
          <p:cNvPr id="7" name="Rectangle 16"/>
          <p:cNvSpPr>
            <a:spLocks noGrp="1" noChangeArrowheads="1"/>
          </p:cNvSpPr>
          <p:nvPr>
            <p:ph type="dt" sz="half" idx="12"/>
          </p:nvPr>
        </p:nvSpPr>
        <p:spPr/>
        <p:txBody>
          <a:bodyPr/>
          <a:lstStyle>
            <a:lvl1pPr>
              <a:defRPr/>
            </a:lvl1pPr>
          </a:lstStyle>
          <a:p>
            <a:pPr>
              <a:defRPr/>
            </a:pPr>
            <a:endParaRPr lang="en-US" altLang="zh-CN"/>
          </a:p>
        </p:txBody>
      </p:sp>
    </p:spTree>
    <p:extLst>
      <p:ext uri="{BB962C8B-B14F-4D97-AF65-F5344CB8AC3E}">
        <p14:creationId xmlns:p14="http://schemas.microsoft.com/office/powerpoint/2010/main" val="3979491700"/>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2"/>
          <p:cNvSpPr>
            <a:spLocks noGrp="1" noChangeArrowheads="1"/>
          </p:cNvSpPr>
          <p:nvPr>
            <p:ph type="ftr" sz="quarter" idx="10"/>
          </p:nvPr>
        </p:nvSpPr>
        <p:spPr/>
        <p:txBody>
          <a:bodyPr/>
          <a:lstStyle>
            <a:lvl1pPr>
              <a:defRPr/>
            </a:lvl1pPr>
          </a:lstStyle>
          <a:p>
            <a:pPr>
              <a:defRPr/>
            </a:pPr>
            <a:endParaRPr lang="en-US" altLang="zh-CN"/>
          </a:p>
        </p:txBody>
      </p:sp>
      <p:sp>
        <p:nvSpPr>
          <p:cNvPr id="6" name="Rectangle 3"/>
          <p:cNvSpPr>
            <a:spLocks noGrp="1" noChangeArrowheads="1"/>
          </p:cNvSpPr>
          <p:nvPr>
            <p:ph type="sldNum" sz="quarter" idx="11"/>
          </p:nvPr>
        </p:nvSpPr>
        <p:spPr/>
        <p:txBody>
          <a:bodyPr/>
          <a:lstStyle>
            <a:lvl1pPr>
              <a:defRPr/>
            </a:lvl1pPr>
          </a:lstStyle>
          <a:p>
            <a:pPr>
              <a:defRPr/>
            </a:pPr>
            <a:fld id="{0CFFD6E8-03A9-4B46-B6D9-65D85165DAF6}" type="slidenum">
              <a:rPr lang="en-US" altLang="zh-CN"/>
              <a:pPr>
                <a:defRPr/>
              </a:pPr>
              <a:t>‹#›</a:t>
            </a:fld>
            <a:endParaRPr lang="en-US" altLang="zh-CN"/>
          </a:p>
        </p:txBody>
      </p:sp>
      <p:sp>
        <p:nvSpPr>
          <p:cNvPr id="7" name="Rectangle 16"/>
          <p:cNvSpPr>
            <a:spLocks noGrp="1" noChangeArrowheads="1"/>
          </p:cNvSpPr>
          <p:nvPr>
            <p:ph type="dt" sz="half" idx="12"/>
          </p:nvPr>
        </p:nvSpPr>
        <p:spPr/>
        <p:txBody>
          <a:bodyPr/>
          <a:lstStyle>
            <a:lvl1pPr>
              <a:defRPr/>
            </a:lvl1pPr>
          </a:lstStyle>
          <a:p>
            <a:pPr>
              <a:defRPr/>
            </a:pPr>
            <a:endParaRPr lang="en-US" altLang="zh-CN"/>
          </a:p>
        </p:txBody>
      </p:sp>
    </p:spTree>
    <p:extLst>
      <p:ext uri="{BB962C8B-B14F-4D97-AF65-F5344CB8AC3E}">
        <p14:creationId xmlns:p14="http://schemas.microsoft.com/office/powerpoint/2010/main" val="2967652466"/>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2"/>
          <p:cNvSpPr>
            <a:spLocks noGrp="1" noChangeArrowheads="1"/>
          </p:cNvSpPr>
          <p:nvPr>
            <p:ph type="ftr" sz="quarter" idx="10"/>
          </p:nvPr>
        </p:nvSpPr>
        <p:spPr/>
        <p:txBody>
          <a:bodyPr/>
          <a:lstStyle>
            <a:lvl1pPr>
              <a:defRPr/>
            </a:lvl1pPr>
          </a:lstStyle>
          <a:p>
            <a:pPr>
              <a:defRPr/>
            </a:pPr>
            <a:endParaRPr lang="en-US" altLang="zh-CN"/>
          </a:p>
        </p:txBody>
      </p:sp>
      <p:sp>
        <p:nvSpPr>
          <p:cNvPr id="5" name="Rectangle 3"/>
          <p:cNvSpPr>
            <a:spLocks noGrp="1" noChangeArrowheads="1"/>
          </p:cNvSpPr>
          <p:nvPr>
            <p:ph type="sldNum" sz="quarter" idx="11"/>
          </p:nvPr>
        </p:nvSpPr>
        <p:spPr/>
        <p:txBody>
          <a:bodyPr/>
          <a:lstStyle>
            <a:lvl1pPr>
              <a:defRPr/>
            </a:lvl1pPr>
          </a:lstStyle>
          <a:p>
            <a:pPr>
              <a:defRPr/>
            </a:pPr>
            <a:fld id="{C3E9F67A-EF72-4578-81F7-74281051C972}" type="slidenum">
              <a:rPr lang="en-US" altLang="zh-CN"/>
              <a:pPr>
                <a:defRPr/>
              </a:pPr>
              <a:t>‹#›</a:t>
            </a:fld>
            <a:endParaRPr lang="en-US" altLang="zh-CN"/>
          </a:p>
        </p:txBody>
      </p:sp>
      <p:sp>
        <p:nvSpPr>
          <p:cNvPr id="6" name="Rectangle 16"/>
          <p:cNvSpPr>
            <a:spLocks noGrp="1" noChangeArrowheads="1"/>
          </p:cNvSpPr>
          <p:nvPr>
            <p:ph type="dt" sz="half" idx="12"/>
          </p:nvPr>
        </p:nvSpPr>
        <p:spPr/>
        <p:txBody>
          <a:bodyPr/>
          <a:lstStyle>
            <a:lvl1pPr>
              <a:defRPr/>
            </a:lvl1pPr>
          </a:lstStyle>
          <a:p>
            <a:pPr>
              <a:defRPr/>
            </a:pPr>
            <a:endParaRPr lang="en-US" altLang="zh-CN"/>
          </a:p>
        </p:txBody>
      </p:sp>
    </p:spTree>
    <p:extLst>
      <p:ext uri="{BB962C8B-B14F-4D97-AF65-F5344CB8AC3E}">
        <p14:creationId xmlns:p14="http://schemas.microsoft.com/office/powerpoint/2010/main" val="3982408288"/>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457200"/>
            <a:ext cx="2057400" cy="54102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457200"/>
            <a:ext cx="6019800" cy="54102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2"/>
          <p:cNvSpPr>
            <a:spLocks noGrp="1" noChangeArrowheads="1"/>
          </p:cNvSpPr>
          <p:nvPr>
            <p:ph type="ftr" sz="quarter" idx="10"/>
          </p:nvPr>
        </p:nvSpPr>
        <p:spPr/>
        <p:txBody>
          <a:bodyPr/>
          <a:lstStyle>
            <a:lvl1pPr>
              <a:defRPr/>
            </a:lvl1pPr>
          </a:lstStyle>
          <a:p>
            <a:pPr>
              <a:defRPr/>
            </a:pPr>
            <a:endParaRPr lang="en-US" altLang="zh-CN"/>
          </a:p>
        </p:txBody>
      </p:sp>
      <p:sp>
        <p:nvSpPr>
          <p:cNvPr id="5" name="Rectangle 3"/>
          <p:cNvSpPr>
            <a:spLocks noGrp="1" noChangeArrowheads="1"/>
          </p:cNvSpPr>
          <p:nvPr>
            <p:ph type="sldNum" sz="quarter" idx="11"/>
          </p:nvPr>
        </p:nvSpPr>
        <p:spPr/>
        <p:txBody>
          <a:bodyPr/>
          <a:lstStyle>
            <a:lvl1pPr>
              <a:defRPr/>
            </a:lvl1pPr>
          </a:lstStyle>
          <a:p>
            <a:pPr>
              <a:defRPr/>
            </a:pPr>
            <a:fld id="{47A34DBE-2CE5-4A82-8657-8140BBA6BDDB}" type="slidenum">
              <a:rPr lang="en-US" altLang="zh-CN"/>
              <a:pPr>
                <a:defRPr/>
              </a:pPr>
              <a:t>‹#›</a:t>
            </a:fld>
            <a:endParaRPr lang="en-US" altLang="zh-CN"/>
          </a:p>
        </p:txBody>
      </p:sp>
      <p:sp>
        <p:nvSpPr>
          <p:cNvPr id="6" name="Rectangle 16"/>
          <p:cNvSpPr>
            <a:spLocks noGrp="1" noChangeArrowheads="1"/>
          </p:cNvSpPr>
          <p:nvPr>
            <p:ph type="dt" sz="half" idx="12"/>
          </p:nvPr>
        </p:nvSpPr>
        <p:spPr/>
        <p:txBody>
          <a:bodyPr/>
          <a:lstStyle>
            <a:lvl1pPr>
              <a:defRPr/>
            </a:lvl1pPr>
          </a:lstStyle>
          <a:p>
            <a:pPr>
              <a:defRPr/>
            </a:pPr>
            <a:endParaRPr lang="en-US" altLang="zh-CN"/>
          </a:p>
        </p:txBody>
      </p:sp>
    </p:spTree>
    <p:extLst>
      <p:ext uri="{BB962C8B-B14F-4D97-AF65-F5344CB8AC3E}">
        <p14:creationId xmlns:p14="http://schemas.microsoft.com/office/powerpoint/2010/main" val="1754094254"/>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626" name="Rectangle 2"/>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ctr" eaLnBrk="1" hangingPunct="1">
              <a:defRPr sz="1200">
                <a:latin typeface="Arial" charset="0"/>
              </a:defRPr>
            </a:lvl1pPr>
          </a:lstStyle>
          <a:p>
            <a:pPr>
              <a:defRPr/>
            </a:pPr>
            <a:endParaRPr lang="en-US" altLang="zh-CN"/>
          </a:p>
        </p:txBody>
      </p:sp>
      <p:sp>
        <p:nvSpPr>
          <p:cNvPr id="26627" name="Rectangle 3"/>
          <p:cNvSpPr>
            <a:spLocks noGrp="1" noChangeArrowheads="1"/>
          </p:cNvSpPr>
          <p:nvPr>
            <p:ph type="sldNum" sz="quarter" idx="4"/>
          </p:nvPr>
        </p:nvSpPr>
        <p:spPr bwMode="auto">
          <a:xfrm>
            <a:off x="6553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200">
                <a:latin typeface="Arial Black" panose="020B0A04020102020204" pitchFamily="34" charset="0"/>
              </a:defRPr>
            </a:lvl1pPr>
          </a:lstStyle>
          <a:p>
            <a:pPr>
              <a:defRPr/>
            </a:pPr>
            <a:fld id="{199821A5-FC25-4A3D-ABB3-E9378ACD5C22}" type="slidenum">
              <a:rPr lang="en-US" altLang="zh-CN"/>
              <a:pPr>
                <a:defRPr/>
              </a:pPr>
              <a:t>‹#›</a:t>
            </a:fld>
            <a:endParaRPr lang="en-US" altLang="zh-CN"/>
          </a:p>
        </p:txBody>
      </p:sp>
      <p:grpSp>
        <p:nvGrpSpPr>
          <p:cNvPr id="1028" name="Group 4"/>
          <p:cNvGrpSpPr>
            <a:grpSpLocks/>
          </p:cNvGrpSpPr>
          <p:nvPr/>
        </p:nvGrpSpPr>
        <p:grpSpPr bwMode="auto">
          <a:xfrm>
            <a:off x="0" y="0"/>
            <a:ext cx="9144000" cy="546100"/>
            <a:chOff x="0" y="0"/>
            <a:chExt cx="5760" cy="344"/>
          </a:xfrm>
        </p:grpSpPr>
        <p:sp>
          <p:nvSpPr>
            <p:cNvPr id="1032" name="Rectangle 5"/>
            <p:cNvSpPr>
              <a:spLocks noChangeArrowheads="1"/>
            </p:cNvSpPr>
            <p:nvPr/>
          </p:nvSpPr>
          <p:spPr bwMode="auto">
            <a:xfrm>
              <a:off x="0" y="0"/>
              <a:ext cx="180" cy="336"/>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defRPr/>
              </a:pPr>
              <a:endParaRPr lang="zh-CN" altLang="zh-CN" sz="2400">
                <a:latin typeface="Times New Roman" pitchFamily="18" charset="0"/>
              </a:endParaRPr>
            </a:p>
          </p:txBody>
        </p:sp>
        <p:sp>
          <p:nvSpPr>
            <p:cNvPr id="1033" name="Rectangle 6"/>
            <p:cNvSpPr>
              <a:spLocks noChangeArrowheads="1"/>
            </p:cNvSpPr>
            <p:nvPr/>
          </p:nvSpPr>
          <p:spPr bwMode="auto">
            <a:xfrm>
              <a:off x="260" y="85"/>
              <a:ext cx="5500" cy="173"/>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sz="2400">
                <a:latin typeface="Times New Roman" pitchFamily="18" charset="0"/>
              </a:endParaRPr>
            </a:p>
          </p:txBody>
        </p:sp>
        <p:sp>
          <p:nvSpPr>
            <p:cNvPr id="1034" name="Rectangle 7"/>
            <p:cNvSpPr>
              <a:spLocks noChangeArrowheads="1"/>
            </p:cNvSpPr>
            <p:nvPr/>
          </p:nvSpPr>
          <p:spPr bwMode="auto">
            <a:xfrm>
              <a:off x="258" y="85"/>
              <a:ext cx="87" cy="8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a:solidFill>
                  <a:schemeClr val="hlink"/>
                </a:solidFill>
              </a:endParaRPr>
            </a:p>
          </p:txBody>
        </p:sp>
        <p:sp>
          <p:nvSpPr>
            <p:cNvPr id="1035" name="Rectangle 8"/>
            <p:cNvSpPr>
              <a:spLocks noChangeArrowheads="1"/>
            </p:cNvSpPr>
            <p:nvPr/>
          </p:nvSpPr>
          <p:spPr bwMode="auto">
            <a:xfrm>
              <a:off x="345" y="0"/>
              <a:ext cx="88" cy="87"/>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a:solidFill>
                  <a:schemeClr val="hlink"/>
                </a:solidFill>
              </a:endParaRPr>
            </a:p>
          </p:txBody>
        </p:sp>
        <p:sp>
          <p:nvSpPr>
            <p:cNvPr id="1036" name="Rectangle 9"/>
            <p:cNvSpPr>
              <a:spLocks noChangeArrowheads="1"/>
            </p:cNvSpPr>
            <p:nvPr/>
          </p:nvSpPr>
          <p:spPr bwMode="auto">
            <a:xfrm>
              <a:off x="345" y="85"/>
              <a:ext cx="88" cy="89"/>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a:solidFill>
                  <a:schemeClr val="accent2"/>
                </a:solidFill>
              </a:endParaRPr>
            </a:p>
          </p:txBody>
        </p:sp>
        <p:sp>
          <p:nvSpPr>
            <p:cNvPr id="1037" name="Rectangle 10"/>
            <p:cNvSpPr>
              <a:spLocks noChangeArrowheads="1"/>
            </p:cNvSpPr>
            <p:nvPr/>
          </p:nvSpPr>
          <p:spPr bwMode="auto">
            <a:xfrm>
              <a:off x="173" y="173"/>
              <a:ext cx="86" cy="87"/>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a:solidFill>
                  <a:schemeClr val="hlink"/>
                </a:solidFill>
              </a:endParaRPr>
            </a:p>
          </p:txBody>
        </p:sp>
        <p:sp>
          <p:nvSpPr>
            <p:cNvPr id="1038" name="Rectangle 11"/>
            <p:cNvSpPr>
              <a:spLocks noChangeArrowheads="1"/>
            </p:cNvSpPr>
            <p:nvPr/>
          </p:nvSpPr>
          <p:spPr bwMode="auto">
            <a:xfrm>
              <a:off x="83" y="86"/>
              <a:ext cx="89" cy="87"/>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sz="2400">
                <a:latin typeface="Times New Roman" pitchFamily="18" charset="0"/>
              </a:endParaRPr>
            </a:p>
          </p:txBody>
        </p:sp>
        <p:sp>
          <p:nvSpPr>
            <p:cNvPr id="1039" name="Rectangle 12"/>
            <p:cNvSpPr>
              <a:spLocks noChangeArrowheads="1"/>
            </p:cNvSpPr>
            <p:nvPr/>
          </p:nvSpPr>
          <p:spPr bwMode="auto">
            <a:xfrm>
              <a:off x="258" y="171"/>
              <a:ext cx="87" cy="87"/>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a:solidFill>
                  <a:schemeClr val="accent2"/>
                </a:solidFill>
              </a:endParaRPr>
            </a:p>
          </p:txBody>
        </p:sp>
        <p:sp>
          <p:nvSpPr>
            <p:cNvPr id="1040" name="Rectangle 13"/>
            <p:cNvSpPr>
              <a:spLocks noChangeArrowheads="1"/>
            </p:cNvSpPr>
            <p:nvPr/>
          </p:nvSpPr>
          <p:spPr bwMode="auto">
            <a:xfrm>
              <a:off x="173" y="258"/>
              <a:ext cx="86" cy="8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defRPr/>
              </a:pPr>
              <a:endParaRPr lang="zh-CN" altLang="zh-CN">
                <a:solidFill>
                  <a:schemeClr val="accent2"/>
                </a:solidFill>
              </a:endParaRPr>
            </a:p>
          </p:txBody>
        </p:sp>
      </p:grpSp>
      <p:sp>
        <p:nvSpPr>
          <p:cNvPr id="1029" name="Rectangle 14"/>
          <p:cNvSpPr>
            <a:spLocks noGrp="1" noChangeArrowheads="1"/>
          </p:cNvSpPr>
          <p:nvPr>
            <p:ph type="title"/>
          </p:nvPr>
        </p:nvSpPr>
        <p:spPr bwMode="auto">
          <a:xfrm>
            <a:off x="457200" y="457200"/>
            <a:ext cx="8229600" cy="137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30" name="Rectangle 15"/>
          <p:cNvSpPr>
            <a:spLocks noGrp="1" noChangeArrowheads="1"/>
          </p:cNvSpPr>
          <p:nvPr>
            <p:ph type="body" idx="1"/>
          </p:nvPr>
        </p:nvSpPr>
        <p:spPr bwMode="auto">
          <a:xfrm>
            <a:off x="457200" y="1981200"/>
            <a:ext cx="8229600" cy="3886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26640" name="Rectangle 16"/>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1200">
                <a:latin typeface="Arial" charset="0"/>
              </a:defRPr>
            </a:lvl1pPr>
          </a:lstStyle>
          <a:p>
            <a:pPr>
              <a:defRPr/>
            </a:pPr>
            <a:endParaRPr lang="en-US" altLang="zh-CN"/>
          </a:p>
        </p:txBody>
      </p:sp>
    </p:spTree>
  </p:cSld>
  <p:clrMap bg1="lt1" tx1="dk1" bg2="lt2" tx2="dk2" accent1="accent1" accent2="accent2" accent3="accent3" accent4="accent4" accent5="accent5" accent6="accent6" hlink="hlink" folHlink="folHlink"/>
  <p:sldLayoutIdLst>
    <p:sldLayoutId id="2147483851" r:id="rId1"/>
    <p:sldLayoutId id="2147483852" r:id="rId2"/>
    <p:sldLayoutId id="2147483853" r:id="rId3"/>
    <p:sldLayoutId id="2147483854" r:id="rId4"/>
    <p:sldLayoutId id="2147483855" r:id="rId5"/>
    <p:sldLayoutId id="2147483856" r:id="rId6"/>
    <p:sldLayoutId id="2147483857" r:id="rId7"/>
    <p:sldLayoutId id="2147483858" r:id="rId8"/>
    <p:sldLayoutId id="2147483859" r:id="rId9"/>
    <p:sldLayoutId id="2147483860" r:id="rId10"/>
    <p:sldLayoutId id="2147483861" r:id="rId11"/>
  </p:sldLayoutIdLst>
  <p:transition/>
  <p:txStyles>
    <p:title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Arial" charset="0"/>
          <a:ea typeface="宋体" pitchFamily="2" charset="-122"/>
        </a:defRPr>
      </a:lvl2pPr>
      <a:lvl3pPr algn="l" rtl="0" eaLnBrk="0" fontAlgn="base" hangingPunct="0">
        <a:spcBef>
          <a:spcPct val="0"/>
        </a:spcBef>
        <a:spcAft>
          <a:spcPct val="0"/>
        </a:spcAft>
        <a:defRPr sz="4400">
          <a:solidFill>
            <a:schemeClr val="tx1"/>
          </a:solidFill>
          <a:latin typeface="Arial" charset="0"/>
          <a:ea typeface="宋体" pitchFamily="2" charset="-122"/>
        </a:defRPr>
      </a:lvl3pPr>
      <a:lvl4pPr algn="l" rtl="0" eaLnBrk="0" fontAlgn="base" hangingPunct="0">
        <a:spcBef>
          <a:spcPct val="0"/>
        </a:spcBef>
        <a:spcAft>
          <a:spcPct val="0"/>
        </a:spcAft>
        <a:defRPr sz="4400">
          <a:solidFill>
            <a:schemeClr val="tx1"/>
          </a:solidFill>
          <a:latin typeface="Arial" charset="0"/>
          <a:ea typeface="宋体" pitchFamily="2" charset="-122"/>
        </a:defRPr>
      </a:lvl4pPr>
      <a:lvl5pPr algn="l" rtl="0" eaLnBrk="0" fontAlgn="base" hangingPunct="0">
        <a:spcBef>
          <a:spcPct val="0"/>
        </a:spcBef>
        <a:spcAft>
          <a:spcPct val="0"/>
        </a:spcAft>
        <a:defRPr sz="4400">
          <a:solidFill>
            <a:schemeClr val="tx1"/>
          </a:solidFill>
          <a:latin typeface="Arial" charset="0"/>
          <a:ea typeface="宋体" pitchFamily="2" charset="-122"/>
        </a:defRPr>
      </a:lvl5pPr>
      <a:lvl6pPr marL="457200" algn="l" rtl="0" fontAlgn="base">
        <a:spcBef>
          <a:spcPct val="0"/>
        </a:spcBef>
        <a:spcAft>
          <a:spcPct val="0"/>
        </a:spcAft>
        <a:defRPr sz="4400">
          <a:solidFill>
            <a:schemeClr val="tx1"/>
          </a:solidFill>
          <a:latin typeface="Arial" charset="0"/>
          <a:ea typeface="宋体" pitchFamily="2" charset="-122"/>
        </a:defRPr>
      </a:lvl6pPr>
      <a:lvl7pPr marL="914400" algn="l" rtl="0" fontAlgn="base">
        <a:spcBef>
          <a:spcPct val="0"/>
        </a:spcBef>
        <a:spcAft>
          <a:spcPct val="0"/>
        </a:spcAft>
        <a:defRPr sz="4400">
          <a:solidFill>
            <a:schemeClr val="tx1"/>
          </a:solidFill>
          <a:latin typeface="Arial" charset="0"/>
          <a:ea typeface="宋体" pitchFamily="2" charset="-122"/>
        </a:defRPr>
      </a:lvl7pPr>
      <a:lvl8pPr marL="1371600" algn="l" rtl="0" fontAlgn="base">
        <a:spcBef>
          <a:spcPct val="0"/>
        </a:spcBef>
        <a:spcAft>
          <a:spcPct val="0"/>
        </a:spcAft>
        <a:defRPr sz="4400">
          <a:solidFill>
            <a:schemeClr val="tx1"/>
          </a:solidFill>
          <a:latin typeface="Arial" charset="0"/>
          <a:ea typeface="宋体" pitchFamily="2" charset="-122"/>
        </a:defRPr>
      </a:lvl8pPr>
      <a:lvl9pPr marL="1828800" algn="l" rtl="0" fontAlgn="base">
        <a:spcBef>
          <a:spcPct val="0"/>
        </a:spcBef>
        <a:spcAft>
          <a:spcPct val="0"/>
        </a:spcAft>
        <a:defRPr sz="4400">
          <a:solidFill>
            <a:schemeClr val="tx1"/>
          </a:solidFill>
          <a:latin typeface="Arial" charset="0"/>
          <a:ea typeface="宋体" pitchFamily="2" charset="-122"/>
        </a:defRPr>
      </a:lvl9pPr>
    </p:titleStyle>
    <p:body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3.emf"/></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4.emf"/></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ctrTitle"/>
          </p:nvPr>
        </p:nvSpPr>
        <p:spPr>
          <a:xfrm>
            <a:off x="2555875" y="1828800"/>
            <a:ext cx="6435725" cy="2209800"/>
          </a:xfrm>
        </p:spPr>
        <p:txBody>
          <a:bodyPr/>
          <a:lstStyle/>
          <a:p>
            <a:pPr algn="ctr" eaLnBrk="1" hangingPunct="1"/>
            <a:r>
              <a:rPr lang="zh-CN" altLang="en-US" sz="5400" b="1" dirty="0">
                <a:ea typeface="华文新魏" panose="02010800040101010101" pitchFamily="2" charset="-122"/>
              </a:rPr>
              <a:t>系统集成与优化</a:t>
            </a:r>
            <a:r>
              <a:rPr lang="en-US" altLang="zh-CN" sz="5400" b="1" dirty="0">
                <a:ea typeface="华文新魏" panose="02010800040101010101" pitchFamily="2" charset="-122"/>
              </a:rPr>
              <a:t/>
            </a:r>
            <a:br>
              <a:rPr lang="en-US" altLang="zh-CN" sz="5400" b="1" dirty="0">
                <a:ea typeface="华文新魏" panose="02010800040101010101" pitchFamily="2" charset="-122"/>
              </a:rPr>
            </a:br>
            <a:r>
              <a:rPr lang="zh-CN" altLang="en-US" sz="2400" b="1" dirty="0">
                <a:latin typeface="Brush Script MT" panose="03060802040406070304" pitchFamily="66" charset="0"/>
                <a:ea typeface="华文新魏" panose="02010800040101010101" pitchFamily="2" charset="-122"/>
              </a:rPr>
              <a:t>（</a:t>
            </a:r>
            <a:r>
              <a:rPr lang="en-US" altLang="zh-CN" sz="2400" b="1" dirty="0">
                <a:latin typeface="Brush Script MT" panose="03060802040406070304" pitchFamily="66" charset="0"/>
                <a:ea typeface="华文新魏" panose="02010800040101010101" pitchFamily="2" charset="-122"/>
              </a:rPr>
              <a:t>System Integration and Optimization</a:t>
            </a:r>
            <a:r>
              <a:rPr lang="zh-CN" altLang="en-US" sz="2400" b="1" dirty="0">
                <a:latin typeface="Brush Script MT" panose="03060802040406070304" pitchFamily="66" charset="0"/>
                <a:ea typeface="华文新魏" panose="02010800040101010101" pitchFamily="2" charset="-122"/>
              </a:rPr>
              <a:t>）</a:t>
            </a:r>
            <a:endParaRPr lang="zh-CN" altLang="en-US" sz="4400" b="1" dirty="0">
              <a:latin typeface="Brush Script MT" panose="03060802040406070304" pitchFamily="66" charset="0"/>
              <a:ea typeface="华文新魏" panose="02010800040101010101" pitchFamily="2" charset="-122"/>
            </a:endParaRPr>
          </a:p>
        </p:txBody>
      </p:sp>
      <p:sp>
        <p:nvSpPr>
          <p:cNvPr id="13315" name="Text Box 4"/>
          <p:cNvSpPr txBox="1">
            <a:spLocks noChangeArrowheads="1"/>
          </p:cNvSpPr>
          <p:nvPr/>
        </p:nvSpPr>
        <p:spPr bwMode="auto">
          <a:xfrm>
            <a:off x="152400" y="5292725"/>
            <a:ext cx="6096000" cy="1412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0"/>
              </a:spcBef>
              <a:buClrTx/>
              <a:buSzTx/>
              <a:buFontTx/>
              <a:buNone/>
            </a:pPr>
            <a:r>
              <a:rPr lang="zh-CN" altLang="en-US" sz="1800" dirty="0"/>
              <a:t>主讲教师：刘振元</a:t>
            </a:r>
          </a:p>
          <a:p>
            <a:pPr eaLnBrk="1" hangingPunct="1">
              <a:lnSpc>
                <a:spcPct val="120000"/>
              </a:lnSpc>
              <a:spcBef>
                <a:spcPct val="0"/>
              </a:spcBef>
              <a:buClrTx/>
              <a:buSzTx/>
              <a:buFontTx/>
              <a:buNone/>
            </a:pPr>
            <a:r>
              <a:rPr lang="zh-CN" altLang="en-US" sz="1800" dirty="0"/>
              <a:t>联系电话：</a:t>
            </a:r>
            <a:r>
              <a:rPr lang="en-US" altLang="zh-CN" sz="1800" dirty="0"/>
              <a:t>13995552449</a:t>
            </a:r>
            <a:r>
              <a:rPr lang="zh-CN" altLang="en-US" sz="1800" dirty="0"/>
              <a:t>，</a:t>
            </a:r>
            <a:r>
              <a:rPr lang="en-US" altLang="zh-CN" sz="1800" dirty="0"/>
              <a:t>027-87559490</a:t>
            </a:r>
          </a:p>
          <a:p>
            <a:pPr eaLnBrk="1" hangingPunct="1">
              <a:lnSpc>
                <a:spcPct val="120000"/>
              </a:lnSpc>
              <a:spcBef>
                <a:spcPct val="0"/>
              </a:spcBef>
              <a:buClrTx/>
              <a:buSzTx/>
              <a:buFontTx/>
              <a:buNone/>
            </a:pPr>
            <a:r>
              <a:rPr lang="zh-CN" altLang="en-US" sz="1800" dirty="0"/>
              <a:t>电子邮箱：</a:t>
            </a:r>
            <a:r>
              <a:rPr lang="en-US" altLang="zh-CN" sz="1800" dirty="0"/>
              <a:t>zyliu@mail.hust.edu.cn	QQ</a:t>
            </a:r>
            <a:r>
              <a:rPr lang="zh-CN" altLang="en-US" sz="1800" dirty="0"/>
              <a:t>：</a:t>
            </a:r>
            <a:r>
              <a:rPr lang="en-US" altLang="zh-CN" sz="1800" dirty="0"/>
              <a:t>834789494</a:t>
            </a:r>
          </a:p>
          <a:p>
            <a:pPr eaLnBrk="1" hangingPunct="1">
              <a:lnSpc>
                <a:spcPct val="120000"/>
              </a:lnSpc>
              <a:spcBef>
                <a:spcPct val="0"/>
              </a:spcBef>
              <a:buClrTx/>
              <a:buSzTx/>
              <a:buFontTx/>
              <a:buNone/>
            </a:pPr>
            <a:r>
              <a:rPr lang="zh-CN" altLang="en-US" sz="1800" dirty="0"/>
              <a:t>办公地点：华中科技大学南一楼西</a:t>
            </a:r>
            <a:r>
              <a:rPr lang="en-US" altLang="zh-CN" sz="1800"/>
              <a:t>308 </a:t>
            </a:r>
            <a:r>
              <a:rPr lang="en-US" altLang="zh-CN" sz="1800" smtClean="0"/>
              <a:t>/ </a:t>
            </a:r>
            <a:r>
              <a:rPr lang="zh-CN" altLang="en-US" sz="1800" smtClean="0"/>
              <a:t>新</a:t>
            </a:r>
            <a:r>
              <a:rPr lang="zh-CN" altLang="en-US" sz="1800" dirty="0"/>
              <a:t>大楼</a:t>
            </a:r>
            <a:r>
              <a:rPr lang="en-US" altLang="zh-CN" sz="1800" dirty="0"/>
              <a:t>S605</a:t>
            </a:r>
            <a:endParaRPr lang="en-US" altLang="zh-CN" sz="1800" dirty="0"/>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标题 1"/>
          <p:cNvSpPr>
            <a:spLocks noGrp="1" noChangeArrowheads="1"/>
          </p:cNvSpPr>
          <p:nvPr>
            <p:ph type="title" idx="4294967295"/>
          </p:nvPr>
        </p:nvSpPr>
        <p:spPr/>
        <p:txBody>
          <a:bodyPr/>
          <a:lstStyle/>
          <a:p>
            <a:pPr algn="ctr" eaLnBrk="1" hangingPunct="1">
              <a:defRPr/>
            </a:pPr>
            <a:r>
              <a:rPr lang="zh-CN" altLang="en-US" sz="3200" b="1" dirty="0">
                <a:solidFill>
                  <a:srgbClr val="FF0000"/>
                </a:solidFill>
                <a:effectLst>
                  <a:outerShdw blurRad="38100" dist="38100" dir="2700000" algn="tl">
                    <a:srgbClr val="000000">
                      <a:alpha val="43137"/>
                    </a:srgbClr>
                  </a:outerShdw>
                </a:effectLst>
              </a:rPr>
              <a:t>考核方式</a:t>
            </a:r>
          </a:p>
        </p:txBody>
      </p:sp>
      <p:sp>
        <p:nvSpPr>
          <p:cNvPr id="8195" name="内容占位符 2"/>
          <p:cNvSpPr>
            <a:spLocks noGrp="1" noChangeArrowheads="1"/>
          </p:cNvSpPr>
          <p:nvPr>
            <p:ph idx="4294967295"/>
          </p:nvPr>
        </p:nvSpPr>
        <p:spPr>
          <a:xfrm>
            <a:off x="457200" y="1628775"/>
            <a:ext cx="8229600" cy="5040313"/>
          </a:xfrm>
        </p:spPr>
        <p:txBody>
          <a:bodyPr/>
          <a:lstStyle/>
          <a:p>
            <a:pPr marL="0" indent="0" eaLnBrk="1" hangingPunct="1">
              <a:defRPr/>
            </a:pPr>
            <a:r>
              <a:rPr lang="zh-CN" altLang="en-US" b="1" dirty="0">
                <a:solidFill>
                  <a:schemeClr val="bg2">
                    <a:lumMod val="60000"/>
                    <a:lumOff val="40000"/>
                  </a:schemeClr>
                </a:solidFill>
              </a:rPr>
              <a:t>平时成绩  </a:t>
            </a:r>
            <a:r>
              <a:rPr lang="en-US" altLang="zh-CN" b="1" dirty="0">
                <a:solidFill>
                  <a:schemeClr val="bg2">
                    <a:lumMod val="60000"/>
                    <a:lumOff val="40000"/>
                  </a:schemeClr>
                </a:solidFill>
              </a:rPr>
              <a:t>30%</a:t>
            </a:r>
            <a:endParaRPr lang="zh-CN" altLang="en-US" b="1" dirty="0">
              <a:solidFill>
                <a:schemeClr val="bg2">
                  <a:lumMod val="60000"/>
                  <a:lumOff val="40000"/>
                </a:schemeClr>
              </a:solidFill>
            </a:endParaRPr>
          </a:p>
          <a:p>
            <a:pPr lvl="1" eaLnBrk="1" hangingPunct="1">
              <a:defRPr/>
            </a:pPr>
            <a:r>
              <a:rPr lang="zh-CN" altLang="en-US" b="1" dirty="0"/>
              <a:t>生产计划与调度部分</a:t>
            </a:r>
            <a:r>
              <a:rPr lang="zh-CN" altLang="en-US" dirty="0"/>
              <a:t>：</a:t>
            </a:r>
            <a:r>
              <a:rPr lang="en-US" altLang="zh-CN" dirty="0"/>
              <a:t>1</a:t>
            </a:r>
            <a:r>
              <a:rPr lang="zh-CN" altLang="en-US" dirty="0"/>
              <a:t>次综合作业，</a:t>
            </a:r>
            <a:r>
              <a:rPr lang="en-US" altLang="zh-CN" dirty="0"/>
              <a:t>18</a:t>
            </a:r>
            <a:r>
              <a:rPr lang="zh-CN" altLang="en-US" dirty="0"/>
              <a:t>分</a:t>
            </a:r>
            <a:endParaRPr lang="en-US" altLang="zh-CN" dirty="0"/>
          </a:p>
          <a:p>
            <a:pPr marL="857250" lvl="2" indent="0" eaLnBrk="1" hangingPunct="1">
              <a:buNone/>
              <a:defRPr/>
            </a:pPr>
            <a:r>
              <a:rPr lang="zh-CN" altLang="en-US" sz="2000" dirty="0"/>
              <a:t>调研企业案例，选择一类产品，产品结构分解，形成</a:t>
            </a:r>
            <a:r>
              <a:rPr lang="en-US" altLang="zh-CN" sz="2000" dirty="0"/>
              <a:t>BOM</a:t>
            </a:r>
            <a:r>
              <a:rPr lang="zh-CN" altLang="en-US" sz="2000" dirty="0"/>
              <a:t>，基于案例数据和条件假设，编制生产规划方案、主生产计划、物料需求计划、能力需求计划以及典型场景的生产调度方案（最好用</a:t>
            </a:r>
            <a:r>
              <a:rPr lang="en-US" altLang="zh-CN" sz="2000" dirty="0"/>
              <a:t>excel</a:t>
            </a:r>
            <a:r>
              <a:rPr lang="zh-CN" altLang="en-US" sz="2000" dirty="0"/>
              <a:t>表格来做运算、个别情况下用内嵌的</a:t>
            </a:r>
            <a:r>
              <a:rPr lang="en-US" altLang="zh-CN" sz="2000" dirty="0"/>
              <a:t>solver</a:t>
            </a:r>
            <a:r>
              <a:rPr lang="zh-CN" altLang="en-US" sz="2000" dirty="0"/>
              <a:t>或其它</a:t>
            </a:r>
            <a:r>
              <a:rPr lang="en-US" altLang="zh-CN" sz="2000" dirty="0"/>
              <a:t>solver</a:t>
            </a:r>
            <a:r>
              <a:rPr lang="zh-CN" altLang="en-US" sz="2000" dirty="0"/>
              <a:t>）。</a:t>
            </a:r>
            <a:endParaRPr lang="en-US" altLang="zh-CN" sz="2000" dirty="0"/>
          </a:p>
          <a:p>
            <a:pPr marL="857250" lvl="2" indent="0" eaLnBrk="1" hangingPunct="1">
              <a:buNone/>
              <a:defRPr/>
            </a:pPr>
            <a:r>
              <a:rPr lang="en-US" altLang="zh-CN" sz="2000" b="1" dirty="0">
                <a:solidFill>
                  <a:srgbClr val="FF0000"/>
                </a:solidFill>
                <a:effectLst>
                  <a:outerShdw blurRad="38100" dist="38100" dir="2700000" algn="tl">
                    <a:srgbClr val="000000">
                      <a:alpha val="43137"/>
                    </a:srgbClr>
                  </a:outerShdw>
                </a:effectLst>
              </a:rPr>
              <a:t>2026</a:t>
            </a:r>
            <a:r>
              <a:rPr lang="zh-CN" altLang="en-US" sz="2000" b="1" dirty="0">
                <a:solidFill>
                  <a:srgbClr val="FF0000"/>
                </a:solidFill>
                <a:effectLst>
                  <a:outerShdw blurRad="38100" dist="38100" dir="2700000" algn="tl">
                    <a:srgbClr val="000000">
                      <a:alpha val="43137"/>
                    </a:srgbClr>
                  </a:outerShdw>
                </a:effectLst>
              </a:rPr>
              <a:t>年</a:t>
            </a:r>
            <a:r>
              <a:rPr lang="en-US" altLang="zh-CN" sz="2000" b="1" dirty="0">
                <a:solidFill>
                  <a:srgbClr val="FF0000"/>
                </a:solidFill>
                <a:effectLst>
                  <a:outerShdw blurRad="38100" dist="38100" dir="2700000" algn="tl">
                    <a:srgbClr val="000000">
                      <a:alpha val="43137"/>
                    </a:srgbClr>
                  </a:outerShdw>
                </a:effectLst>
              </a:rPr>
              <a:t>5</a:t>
            </a:r>
            <a:r>
              <a:rPr lang="zh-CN" altLang="en-US" sz="2000" b="1" dirty="0">
                <a:solidFill>
                  <a:srgbClr val="FF0000"/>
                </a:solidFill>
                <a:effectLst>
                  <a:outerShdw blurRad="38100" dist="38100" dir="2700000" algn="tl">
                    <a:srgbClr val="000000">
                      <a:alpha val="43137"/>
                    </a:srgbClr>
                  </a:outerShdw>
                </a:effectLst>
              </a:rPr>
              <a:t>月</a:t>
            </a:r>
            <a:r>
              <a:rPr lang="en-US" altLang="zh-CN" sz="2000" b="1" dirty="0">
                <a:solidFill>
                  <a:srgbClr val="FF0000"/>
                </a:solidFill>
                <a:effectLst>
                  <a:outerShdw blurRad="38100" dist="38100" dir="2700000" algn="tl">
                    <a:srgbClr val="000000">
                      <a:alpha val="43137"/>
                    </a:srgbClr>
                  </a:outerShdw>
                </a:effectLst>
              </a:rPr>
              <a:t>12</a:t>
            </a:r>
            <a:r>
              <a:rPr lang="zh-CN" altLang="en-US" sz="2000" b="1" dirty="0">
                <a:solidFill>
                  <a:srgbClr val="FF0000"/>
                </a:solidFill>
                <a:effectLst>
                  <a:outerShdw blurRad="38100" dist="38100" dir="2700000" algn="tl">
                    <a:srgbClr val="000000">
                      <a:alpha val="43137"/>
                    </a:srgbClr>
                  </a:outerShdw>
                </a:effectLst>
              </a:rPr>
              <a:t>日提交阶段报告，</a:t>
            </a:r>
            <a:r>
              <a:rPr lang="en-US" altLang="zh-CN" sz="2000" b="1" dirty="0">
                <a:solidFill>
                  <a:srgbClr val="FF0000"/>
                </a:solidFill>
                <a:effectLst>
                  <a:outerShdw blurRad="38100" dist="38100" dir="2700000" algn="tl">
                    <a:srgbClr val="000000">
                      <a:alpha val="43137"/>
                    </a:srgbClr>
                  </a:outerShdw>
                </a:effectLst>
              </a:rPr>
              <a:t>2026</a:t>
            </a:r>
            <a:r>
              <a:rPr lang="zh-CN" altLang="en-US" sz="2000" b="1" dirty="0">
                <a:solidFill>
                  <a:srgbClr val="FF0000"/>
                </a:solidFill>
                <a:effectLst>
                  <a:outerShdw blurRad="38100" dist="38100" dir="2700000" algn="tl">
                    <a:srgbClr val="000000">
                      <a:alpha val="43137"/>
                    </a:srgbClr>
                  </a:outerShdw>
                </a:effectLst>
              </a:rPr>
              <a:t>年</a:t>
            </a:r>
            <a:r>
              <a:rPr lang="en-US" altLang="zh-CN" sz="2000" b="1" dirty="0">
                <a:solidFill>
                  <a:srgbClr val="FF0000"/>
                </a:solidFill>
                <a:effectLst>
                  <a:outerShdw blurRad="38100" dist="38100" dir="2700000" algn="tl">
                    <a:srgbClr val="000000">
                      <a:alpha val="43137"/>
                    </a:srgbClr>
                  </a:outerShdw>
                </a:effectLst>
              </a:rPr>
              <a:t>6</a:t>
            </a:r>
            <a:r>
              <a:rPr lang="zh-CN" altLang="en-US" sz="2000" b="1" dirty="0">
                <a:solidFill>
                  <a:srgbClr val="FF0000"/>
                </a:solidFill>
                <a:effectLst>
                  <a:outerShdw blurRad="38100" dist="38100" dir="2700000" algn="tl">
                    <a:srgbClr val="000000">
                      <a:alpha val="43137"/>
                    </a:srgbClr>
                  </a:outerShdw>
                </a:effectLst>
              </a:rPr>
              <a:t>月</a:t>
            </a:r>
            <a:r>
              <a:rPr lang="en-US" altLang="zh-CN" sz="2000" b="1" dirty="0">
                <a:solidFill>
                  <a:srgbClr val="FF0000"/>
                </a:solidFill>
                <a:effectLst>
                  <a:outerShdw blurRad="38100" dist="38100" dir="2700000" algn="tl">
                    <a:srgbClr val="000000">
                      <a:alpha val="43137"/>
                    </a:srgbClr>
                  </a:outerShdw>
                </a:effectLst>
              </a:rPr>
              <a:t>10</a:t>
            </a:r>
            <a:r>
              <a:rPr lang="zh-CN" altLang="en-US" sz="2000" b="1" dirty="0">
                <a:solidFill>
                  <a:srgbClr val="FF0000"/>
                </a:solidFill>
                <a:effectLst>
                  <a:outerShdw blurRad="38100" dist="38100" dir="2700000" algn="tl">
                    <a:srgbClr val="000000">
                      <a:alpha val="43137"/>
                    </a:srgbClr>
                  </a:outerShdw>
                </a:effectLst>
              </a:rPr>
              <a:t>日提交最终报告</a:t>
            </a:r>
            <a:r>
              <a:rPr lang="zh-CN" altLang="en-US" sz="2000" dirty="0"/>
              <a:t>。</a:t>
            </a:r>
            <a:endParaRPr lang="en-US" altLang="zh-CN" sz="2000" dirty="0"/>
          </a:p>
          <a:p>
            <a:pPr lvl="1" eaLnBrk="1" hangingPunct="1">
              <a:spcBef>
                <a:spcPts val="1200"/>
              </a:spcBef>
              <a:defRPr/>
            </a:pPr>
            <a:r>
              <a:rPr lang="zh-CN" altLang="en-US" b="1" dirty="0"/>
              <a:t>集散控制系统部分</a:t>
            </a:r>
            <a:r>
              <a:rPr lang="zh-CN" altLang="en-US" dirty="0"/>
              <a:t>：</a:t>
            </a:r>
            <a:r>
              <a:rPr lang="en-US" altLang="zh-CN" dirty="0"/>
              <a:t>12</a:t>
            </a:r>
            <a:r>
              <a:rPr lang="zh-CN" altLang="en-US" dirty="0"/>
              <a:t>分</a:t>
            </a:r>
            <a:endParaRPr lang="en-US" altLang="zh-CN" dirty="0"/>
          </a:p>
          <a:p>
            <a:pPr marL="0" indent="0" eaLnBrk="1" hangingPunct="1">
              <a:spcBef>
                <a:spcPts val="1200"/>
              </a:spcBef>
              <a:defRPr/>
            </a:pPr>
            <a:r>
              <a:rPr lang="zh-CN" altLang="en-US" b="1" dirty="0">
                <a:solidFill>
                  <a:schemeClr val="bg2">
                    <a:lumMod val="60000"/>
                    <a:lumOff val="40000"/>
                  </a:schemeClr>
                </a:solidFill>
              </a:rPr>
              <a:t>期末考试  </a:t>
            </a:r>
            <a:r>
              <a:rPr lang="en-US" altLang="zh-CN" b="1" dirty="0">
                <a:solidFill>
                  <a:schemeClr val="bg2">
                    <a:lumMod val="60000"/>
                    <a:lumOff val="40000"/>
                  </a:schemeClr>
                </a:solidFill>
              </a:rPr>
              <a:t>70%</a:t>
            </a:r>
          </a:p>
          <a:p>
            <a:pPr lvl="1" eaLnBrk="1" hangingPunct="1">
              <a:defRPr/>
            </a:pPr>
            <a:r>
              <a:rPr lang="zh-CN" altLang="en-US" dirty="0"/>
              <a:t>闭卷</a:t>
            </a:r>
            <a:endParaRPr lang="en-US" altLang="zh-CN" dirty="0"/>
          </a:p>
          <a:p>
            <a:pPr lvl="1" eaLnBrk="1" hangingPunct="1">
              <a:defRPr/>
            </a:pPr>
            <a:r>
              <a:rPr lang="zh-CN" altLang="en-US" dirty="0"/>
              <a:t>中文试题</a:t>
            </a:r>
            <a:r>
              <a:rPr lang="en-US" altLang="zh-CN" dirty="0"/>
              <a:t>/</a:t>
            </a:r>
            <a:r>
              <a:rPr lang="zh-CN" altLang="en-US" dirty="0"/>
              <a:t>答题</a:t>
            </a:r>
            <a:r>
              <a:rPr lang="en-US" altLang="zh-CN" dirty="0"/>
              <a:t> </a:t>
            </a: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标题 1"/>
          <p:cNvSpPr>
            <a:spLocks noGrp="1" noChangeArrowheads="1"/>
          </p:cNvSpPr>
          <p:nvPr>
            <p:ph type="title" idx="4294967295"/>
          </p:nvPr>
        </p:nvSpPr>
        <p:spPr>
          <a:xfrm>
            <a:off x="615156" y="548680"/>
            <a:ext cx="7913688" cy="549275"/>
          </a:xfrm>
        </p:spPr>
        <p:txBody>
          <a:bodyPr/>
          <a:lstStyle/>
          <a:p>
            <a:pPr algn="ctr" eaLnBrk="1" hangingPunct="1">
              <a:defRPr/>
            </a:pPr>
            <a:r>
              <a:rPr lang="zh-CN" altLang="en-US" sz="3200" b="1" dirty="0">
                <a:solidFill>
                  <a:srgbClr val="FF0000"/>
                </a:solidFill>
                <a:effectLst>
                  <a:outerShdw blurRad="38100" dist="38100" dir="2700000" algn="tl">
                    <a:srgbClr val="000000">
                      <a:alpha val="43137"/>
                    </a:srgbClr>
                  </a:outerShdw>
                </a:effectLst>
              </a:rPr>
              <a:t>教学目标</a:t>
            </a:r>
          </a:p>
        </p:txBody>
      </p:sp>
      <p:sp>
        <p:nvSpPr>
          <p:cNvPr id="17411" name="内容占位符 2"/>
          <p:cNvSpPr>
            <a:spLocks noGrp="1" noChangeArrowheads="1"/>
          </p:cNvSpPr>
          <p:nvPr>
            <p:ph idx="4294967295"/>
          </p:nvPr>
        </p:nvSpPr>
        <p:spPr>
          <a:xfrm>
            <a:off x="597694" y="1483891"/>
            <a:ext cx="8229600" cy="4897437"/>
          </a:xfrm>
        </p:spPr>
        <p:txBody>
          <a:bodyPr/>
          <a:lstStyle/>
          <a:p>
            <a:pPr marL="0" indent="0" eaLnBrk="1" hangingPunct="1">
              <a:lnSpc>
                <a:spcPct val="150000"/>
              </a:lnSpc>
            </a:pPr>
            <a:r>
              <a:rPr lang="zh-CN" altLang="en-US" sz="2400" dirty="0"/>
              <a:t>帮助学生理解生产计划与控制中涉及到的重要概念和决策及控制问题。</a:t>
            </a:r>
          </a:p>
          <a:p>
            <a:pPr marL="0" indent="0" eaLnBrk="1" hangingPunct="1">
              <a:lnSpc>
                <a:spcPct val="150000"/>
              </a:lnSpc>
            </a:pPr>
            <a:r>
              <a:rPr lang="zh-CN" altLang="en-US" sz="2400" dirty="0"/>
              <a:t>掌握生产计划与控制的主要模式和策略，以及解决重要决策和控制问题（包括生产计划与调度等）的基本原理和方法。</a:t>
            </a:r>
          </a:p>
          <a:p>
            <a:pPr marL="0" indent="0" eaLnBrk="1" hangingPunct="1">
              <a:lnSpc>
                <a:spcPct val="150000"/>
              </a:lnSpc>
            </a:pPr>
            <a:r>
              <a:rPr lang="zh-CN" altLang="en-US" sz="2400" dirty="0"/>
              <a:t>了解学科发展方向和基本的科学研究方法，为今后相关的学习和工作奠定良好的基础。</a:t>
            </a:r>
            <a:endParaRPr lang="en-US" altLang="zh-CN" sz="2400" dirty="0"/>
          </a:p>
        </p:txBody>
      </p:sp>
    </p:spTree>
    <p:extLst>
      <p:ext uri="{BB962C8B-B14F-4D97-AF65-F5344CB8AC3E}">
        <p14:creationId xmlns:p14="http://schemas.microsoft.com/office/powerpoint/2010/main" val="27004072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标题 1"/>
          <p:cNvSpPr>
            <a:spLocks noGrp="1" noChangeArrowheads="1"/>
          </p:cNvSpPr>
          <p:nvPr>
            <p:ph type="title" idx="4294967295"/>
          </p:nvPr>
        </p:nvSpPr>
        <p:spPr>
          <a:xfrm>
            <a:off x="457200" y="457200"/>
            <a:ext cx="8229600" cy="424917"/>
          </a:xfrm>
        </p:spPr>
        <p:txBody>
          <a:bodyPr/>
          <a:lstStyle/>
          <a:p>
            <a:pPr algn="ctr" eaLnBrk="1" hangingPunct="1">
              <a:defRPr/>
            </a:pPr>
            <a:r>
              <a:rPr lang="zh-CN" altLang="en-US" sz="3200" b="1" dirty="0">
                <a:solidFill>
                  <a:srgbClr val="FF0000"/>
                </a:solidFill>
                <a:effectLst>
                  <a:outerShdw blurRad="38100" dist="38100" dir="2700000" algn="tl">
                    <a:srgbClr val="000000">
                      <a:alpha val="43137"/>
                    </a:srgbClr>
                  </a:outerShdw>
                </a:effectLst>
              </a:rPr>
              <a:t>课程内容体系</a:t>
            </a:r>
          </a:p>
        </p:txBody>
      </p:sp>
      <p:sp>
        <p:nvSpPr>
          <p:cNvPr id="18435" name="文本框 1"/>
          <p:cNvSpPr txBox="1">
            <a:spLocks noChangeArrowheads="1"/>
          </p:cNvSpPr>
          <p:nvPr/>
        </p:nvSpPr>
        <p:spPr bwMode="auto">
          <a:xfrm>
            <a:off x="3005944" y="1778348"/>
            <a:ext cx="3132112" cy="369332"/>
          </a:xfrm>
          <a:prstGeom prst="rect">
            <a:avLst/>
          </a:prstGeom>
          <a:solidFill>
            <a:schemeClr val="bg2">
              <a:lumMod val="60000"/>
              <a:lumOff val="40000"/>
            </a:schemeClr>
          </a:solidFill>
          <a:ln w="9525">
            <a:solidFill>
              <a:schemeClr val="tx1"/>
            </a:solidFill>
            <a:miter lim="800000"/>
            <a:headEnd/>
            <a:tailEnd/>
          </a:ln>
        </p:spPr>
        <p:txBody>
          <a:bodyPr wrap="squar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zh-CN" altLang="en-US" sz="1800" b="1" dirty="0">
                <a:solidFill>
                  <a:srgbClr val="FFFF00"/>
                </a:solidFill>
                <a:latin typeface="Calibri" panose="020F0502020204030204" pitchFamily="34" charset="0"/>
              </a:rPr>
              <a:t>企业生产与运作系统</a:t>
            </a:r>
          </a:p>
        </p:txBody>
      </p:sp>
      <p:sp>
        <p:nvSpPr>
          <p:cNvPr id="18436" name="文本框 4"/>
          <p:cNvSpPr txBox="1">
            <a:spLocks noChangeArrowheads="1"/>
          </p:cNvSpPr>
          <p:nvPr/>
        </p:nvSpPr>
        <p:spPr bwMode="auto">
          <a:xfrm>
            <a:off x="3005944" y="2514746"/>
            <a:ext cx="3132112" cy="369887"/>
          </a:xfrm>
          <a:prstGeom prst="rect">
            <a:avLst/>
          </a:prstGeom>
          <a:solidFill>
            <a:srgbClr val="CCFFFF"/>
          </a:solidFill>
          <a:ln w="9525">
            <a:solidFill>
              <a:schemeClr val="tx1"/>
            </a:solidFill>
            <a:miter lim="800000"/>
            <a:headEnd/>
            <a:tailEnd/>
          </a:ln>
        </p:spPr>
        <p:txBody>
          <a:bodyPr wrap="squar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zh-CN" altLang="en-US" sz="1800" b="1" dirty="0">
                <a:latin typeface="Calibri" panose="020F0502020204030204" pitchFamily="34" charset="0"/>
              </a:rPr>
              <a:t>生产规划</a:t>
            </a:r>
          </a:p>
        </p:txBody>
      </p:sp>
      <p:sp>
        <p:nvSpPr>
          <p:cNvPr id="18437" name="文本框 6"/>
          <p:cNvSpPr txBox="1">
            <a:spLocks noChangeArrowheads="1"/>
          </p:cNvSpPr>
          <p:nvPr/>
        </p:nvSpPr>
        <p:spPr bwMode="auto">
          <a:xfrm>
            <a:off x="3005944" y="3294833"/>
            <a:ext cx="3132112" cy="369887"/>
          </a:xfrm>
          <a:prstGeom prst="rect">
            <a:avLst/>
          </a:prstGeom>
          <a:solidFill>
            <a:srgbClr val="CCFFFF"/>
          </a:solidFill>
          <a:ln w="9525">
            <a:solidFill>
              <a:schemeClr val="tx1"/>
            </a:solidFill>
            <a:miter lim="800000"/>
            <a:headEnd/>
            <a:tailEnd/>
          </a:ln>
        </p:spPr>
        <p:txBody>
          <a:bodyPr wrap="squar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zh-CN" altLang="en-US" sz="1800" b="1">
                <a:latin typeface="Calibri" panose="020F0502020204030204" pitchFamily="34" charset="0"/>
              </a:rPr>
              <a:t>主生产计划</a:t>
            </a:r>
          </a:p>
        </p:txBody>
      </p:sp>
      <p:sp>
        <p:nvSpPr>
          <p:cNvPr id="18438" name="文本框 7"/>
          <p:cNvSpPr txBox="1">
            <a:spLocks noChangeArrowheads="1"/>
          </p:cNvSpPr>
          <p:nvPr/>
        </p:nvSpPr>
        <p:spPr bwMode="auto">
          <a:xfrm>
            <a:off x="3005944" y="4074920"/>
            <a:ext cx="3132112" cy="369887"/>
          </a:xfrm>
          <a:prstGeom prst="rect">
            <a:avLst/>
          </a:prstGeom>
          <a:solidFill>
            <a:srgbClr val="CCFFFF"/>
          </a:solidFill>
          <a:ln w="9525">
            <a:solidFill>
              <a:schemeClr val="tx1"/>
            </a:solidFill>
            <a:miter lim="800000"/>
            <a:headEnd/>
            <a:tailEnd/>
          </a:ln>
        </p:spPr>
        <p:txBody>
          <a:bodyPr wrap="squar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zh-CN" altLang="en-US" sz="1800" b="1">
                <a:latin typeface="Calibri" panose="020F0502020204030204" pitchFamily="34" charset="0"/>
              </a:rPr>
              <a:t>物料需求计划</a:t>
            </a:r>
          </a:p>
        </p:txBody>
      </p:sp>
      <p:sp>
        <p:nvSpPr>
          <p:cNvPr id="18439" name="文本框 8"/>
          <p:cNvSpPr txBox="1">
            <a:spLocks noChangeArrowheads="1"/>
          </p:cNvSpPr>
          <p:nvPr/>
        </p:nvSpPr>
        <p:spPr bwMode="auto">
          <a:xfrm>
            <a:off x="3005944" y="4855007"/>
            <a:ext cx="3132112" cy="369887"/>
          </a:xfrm>
          <a:prstGeom prst="rect">
            <a:avLst/>
          </a:prstGeom>
          <a:solidFill>
            <a:srgbClr val="CCFFFF"/>
          </a:solidFill>
          <a:ln w="9525">
            <a:solidFill>
              <a:schemeClr val="tx1"/>
            </a:solidFill>
            <a:miter lim="800000"/>
            <a:headEnd/>
            <a:tailEnd/>
          </a:ln>
        </p:spPr>
        <p:txBody>
          <a:bodyPr wrap="squar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zh-CN" altLang="en-US" sz="1800" b="1">
                <a:latin typeface="Calibri" panose="020F0502020204030204" pitchFamily="34" charset="0"/>
              </a:rPr>
              <a:t>能力需求计划</a:t>
            </a:r>
          </a:p>
        </p:txBody>
      </p:sp>
      <p:sp>
        <p:nvSpPr>
          <p:cNvPr id="18440" name="文本框 9"/>
          <p:cNvSpPr txBox="1">
            <a:spLocks noChangeArrowheads="1"/>
          </p:cNvSpPr>
          <p:nvPr/>
        </p:nvSpPr>
        <p:spPr bwMode="auto">
          <a:xfrm>
            <a:off x="3005944" y="5613799"/>
            <a:ext cx="3132112" cy="369332"/>
          </a:xfrm>
          <a:prstGeom prst="rect">
            <a:avLst/>
          </a:prstGeom>
          <a:solidFill>
            <a:srgbClr val="CCFFFF"/>
          </a:solidFill>
          <a:ln w="9525">
            <a:solidFill>
              <a:schemeClr val="tx1"/>
            </a:solidFill>
            <a:miter lim="800000"/>
            <a:headEnd/>
            <a:tailEnd/>
          </a:ln>
        </p:spPr>
        <p:txBody>
          <a:bodyPr wrap="squar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zh-CN" altLang="en-US" sz="1800" b="1" dirty="0">
                <a:latin typeface="Calibri" panose="020F0502020204030204" pitchFamily="34" charset="0"/>
              </a:rPr>
              <a:t>生产调度</a:t>
            </a:r>
          </a:p>
        </p:txBody>
      </p:sp>
      <p:sp>
        <p:nvSpPr>
          <p:cNvPr id="3" name="下箭头 2"/>
          <p:cNvSpPr/>
          <p:nvPr/>
        </p:nvSpPr>
        <p:spPr>
          <a:xfrm>
            <a:off x="4107223" y="2201696"/>
            <a:ext cx="929554" cy="215900"/>
          </a:xfrm>
          <a:prstGeom prst="downArrow">
            <a:avLst/>
          </a:prstGeom>
          <a:solidFill>
            <a:srgbClr val="92D050"/>
          </a:solidFill>
          <a:ln>
            <a:solidFill>
              <a:schemeClr val="accent6">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2" name="下箭头 11"/>
          <p:cNvSpPr/>
          <p:nvPr/>
        </p:nvSpPr>
        <p:spPr>
          <a:xfrm>
            <a:off x="4107223" y="2981783"/>
            <a:ext cx="929554" cy="215900"/>
          </a:xfrm>
          <a:prstGeom prst="downArrow">
            <a:avLst/>
          </a:prstGeom>
          <a:solidFill>
            <a:srgbClr val="92D050"/>
          </a:solidFill>
          <a:ln>
            <a:solidFill>
              <a:schemeClr val="accent6">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5" name="下箭头 14"/>
          <p:cNvSpPr/>
          <p:nvPr/>
        </p:nvSpPr>
        <p:spPr>
          <a:xfrm>
            <a:off x="4107223" y="3761870"/>
            <a:ext cx="929554" cy="215900"/>
          </a:xfrm>
          <a:prstGeom prst="downArrow">
            <a:avLst/>
          </a:prstGeom>
          <a:solidFill>
            <a:srgbClr val="92D050"/>
          </a:solidFill>
          <a:ln>
            <a:solidFill>
              <a:schemeClr val="accent6">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6" name="下箭头 15"/>
          <p:cNvSpPr/>
          <p:nvPr/>
        </p:nvSpPr>
        <p:spPr>
          <a:xfrm>
            <a:off x="4107223" y="4541957"/>
            <a:ext cx="929554" cy="215900"/>
          </a:xfrm>
          <a:prstGeom prst="downArrow">
            <a:avLst/>
          </a:prstGeom>
          <a:solidFill>
            <a:srgbClr val="92D050"/>
          </a:solidFill>
          <a:ln>
            <a:solidFill>
              <a:schemeClr val="accent6">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7" name="下箭头 16"/>
          <p:cNvSpPr/>
          <p:nvPr/>
        </p:nvSpPr>
        <p:spPr>
          <a:xfrm>
            <a:off x="4107223" y="5322044"/>
            <a:ext cx="929554" cy="215900"/>
          </a:xfrm>
          <a:prstGeom prst="downArrow">
            <a:avLst/>
          </a:prstGeom>
          <a:solidFill>
            <a:srgbClr val="92D050"/>
          </a:solidFill>
          <a:ln>
            <a:solidFill>
              <a:schemeClr val="accent6">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4" name="文本框 1"/>
          <p:cNvSpPr txBox="1">
            <a:spLocks noChangeArrowheads="1"/>
          </p:cNvSpPr>
          <p:nvPr/>
        </p:nvSpPr>
        <p:spPr bwMode="auto">
          <a:xfrm>
            <a:off x="3005944" y="1086587"/>
            <a:ext cx="3132112" cy="369332"/>
          </a:xfrm>
          <a:prstGeom prst="rect">
            <a:avLst/>
          </a:prstGeom>
          <a:solidFill>
            <a:srgbClr val="CCFFFF"/>
          </a:solidFill>
          <a:ln w="9525">
            <a:solidFill>
              <a:schemeClr val="tx1"/>
            </a:solidFill>
            <a:miter lim="800000"/>
            <a:headEnd/>
            <a:tailEnd/>
          </a:ln>
        </p:spPr>
        <p:txBody>
          <a:bodyPr wrap="squar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None/>
            </a:pPr>
            <a:r>
              <a:rPr lang="zh-CN" altLang="en-US" sz="1800" dirty="0">
                <a:solidFill>
                  <a:schemeClr val="tx2"/>
                </a:solidFill>
                <a:latin typeface="宋体" panose="02010600030101010101" pitchFamily="2" charset="-122"/>
              </a:rPr>
              <a:t>系统集成体系框架</a:t>
            </a:r>
            <a:endParaRPr lang="zh-CN" altLang="en-US" sz="1800" b="1" dirty="0">
              <a:latin typeface="Calibri" panose="020F0502020204030204" pitchFamily="34" charset="0"/>
            </a:endParaRPr>
          </a:p>
        </p:txBody>
      </p:sp>
      <p:sp>
        <p:nvSpPr>
          <p:cNvPr id="18" name="下箭头 17"/>
          <p:cNvSpPr/>
          <p:nvPr/>
        </p:nvSpPr>
        <p:spPr>
          <a:xfrm>
            <a:off x="4107223" y="1470184"/>
            <a:ext cx="929554" cy="215900"/>
          </a:xfrm>
          <a:prstGeom prst="downArrow">
            <a:avLst/>
          </a:prstGeom>
          <a:solidFill>
            <a:srgbClr val="92D050"/>
          </a:solidFill>
          <a:ln>
            <a:solidFill>
              <a:schemeClr val="accent6">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9" name="文本框 9"/>
          <p:cNvSpPr txBox="1">
            <a:spLocks noChangeArrowheads="1"/>
          </p:cNvSpPr>
          <p:nvPr/>
        </p:nvSpPr>
        <p:spPr bwMode="auto">
          <a:xfrm>
            <a:off x="3005944" y="6372036"/>
            <a:ext cx="3132112" cy="369332"/>
          </a:xfrm>
          <a:prstGeom prst="rect">
            <a:avLst/>
          </a:prstGeom>
          <a:solidFill>
            <a:srgbClr val="FFFF00"/>
          </a:solidFill>
          <a:ln w="9525">
            <a:solidFill>
              <a:schemeClr val="tx1"/>
            </a:solidFill>
            <a:miter lim="800000"/>
            <a:headEnd/>
            <a:tailEnd/>
          </a:ln>
        </p:spPr>
        <p:txBody>
          <a:bodyPr wrap="squar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zh-CN" altLang="en-US" sz="1800" b="1" dirty="0">
                <a:latin typeface="Calibri" panose="020F0502020204030204" pitchFamily="34" charset="0"/>
              </a:rPr>
              <a:t>集散控制系统</a:t>
            </a:r>
          </a:p>
        </p:txBody>
      </p:sp>
      <p:sp>
        <p:nvSpPr>
          <p:cNvPr id="20" name="下箭头 19"/>
          <p:cNvSpPr/>
          <p:nvPr/>
        </p:nvSpPr>
        <p:spPr>
          <a:xfrm>
            <a:off x="4081462" y="6069633"/>
            <a:ext cx="929554" cy="215900"/>
          </a:xfrm>
          <a:prstGeom prst="downArrow">
            <a:avLst/>
          </a:prstGeom>
          <a:solidFill>
            <a:srgbClr val="92D050"/>
          </a:solidFill>
          <a:ln>
            <a:solidFill>
              <a:schemeClr val="accent6">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21" name="矩形 20"/>
          <p:cNvSpPr/>
          <p:nvPr/>
        </p:nvSpPr>
        <p:spPr>
          <a:xfrm>
            <a:off x="2699792" y="1701984"/>
            <a:ext cx="4104456" cy="4367649"/>
          </a:xfrm>
          <a:prstGeom prst="rect">
            <a:avLst/>
          </a:prstGeom>
          <a:noFill/>
          <a:ln>
            <a:prstDash val="sysDot"/>
          </a:ln>
        </p:spPr>
        <p:style>
          <a:lnRef idx="2">
            <a:schemeClr val="accent1">
              <a:shade val="50000"/>
            </a:schemeClr>
          </a:lnRef>
          <a:fillRef idx="1">
            <a:schemeClr val="accent1"/>
          </a:fillRef>
          <a:effectRef idx="0">
            <a:schemeClr val="accent1"/>
          </a:effectRef>
          <a:fontRef idx="minor">
            <a:schemeClr val="lt1"/>
          </a:fontRef>
        </p:style>
        <p:txBody>
          <a:bodyPr vert="eaVert" rtlCol="0" anchor="t"/>
          <a:lstStyle/>
          <a:p>
            <a:pPr algn="ctr"/>
            <a:r>
              <a:rPr lang="zh-CN" altLang="en-US" sz="2400" b="1" dirty="0">
                <a:solidFill>
                  <a:schemeClr val="bg2">
                    <a:lumMod val="60000"/>
                    <a:lumOff val="40000"/>
                  </a:schemeClr>
                </a:solidFill>
                <a:effectLst>
                  <a:outerShdw blurRad="38100" dist="38100" dir="2700000" algn="tl">
                    <a:srgbClr val="000000">
                      <a:alpha val="43137"/>
                    </a:srgbClr>
                  </a:outerShdw>
                </a:effectLst>
              </a:rPr>
              <a:t>生产计划与控制</a:t>
            </a:r>
          </a:p>
        </p:txBody>
      </p:sp>
    </p:spTree>
    <p:extLst>
      <p:ext uri="{BB962C8B-B14F-4D97-AF65-F5344CB8AC3E}">
        <p14:creationId xmlns:p14="http://schemas.microsoft.com/office/powerpoint/2010/main" val="20150287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txBox="1">
            <a:spLocks noChangeArrowheads="1"/>
          </p:cNvSpPr>
          <p:nvPr/>
        </p:nvSpPr>
        <p:spPr bwMode="auto">
          <a:xfrm>
            <a:off x="457200" y="1981200"/>
            <a:ext cx="8229600" cy="4832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9pPr>
          </a:lstStyle>
          <a:p>
            <a:pPr marL="0" indent="0" eaLnBrk="1" hangingPunct="1">
              <a:defRPr/>
            </a:pPr>
            <a:r>
              <a:rPr lang="zh-CN" altLang="en-US" sz="2800" b="1" kern="0" dirty="0"/>
              <a:t>新冠疫情爆发之下，需要什么物资设备？</a:t>
            </a:r>
            <a:endParaRPr lang="en-US" altLang="zh-CN" sz="2800" b="1" kern="0" dirty="0"/>
          </a:p>
          <a:p>
            <a:pPr marL="400050" lvl="1" indent="0" eaLnBrk="1" hangingPunct="1">
              <a:defRPr/>
            </a:pPr>
            <a:r>
              <a:rPr lang="zh-CN" altLang="en-US" sz="2400" b="1" kern="0" dirty="0"/>
              <a:t>口罩：表层抗湿层、中间过滤吸附层、内层贴肤层，以及耳带线、鼻梁金属条等部件</a:t>
            </a:r>
            <a:endParaRPr lang="en-US" altLang="zh-CN" sz="2400" b="1" kern="0" dirty="0"/>
          </a:p>
          <a:p>
            <a:pPr marL="400050" lvl="1" indent="0" eaLnBrk="1" hangingPunct="1">
              <a:defRPr/>
            </a:pPr>
            <a:r>
              <a:rPr lang="zh-CN" altLang="en-US" sz="2400" b="1" kern="0" dirty="0"/>
              <a:t>口罩机：我有熔喷布，谁有口罩机</a:t>
            </a:r>
            <a:endParaRPr lang="en-US" altLang="zh-CN" sz="2400" b="1" kern="0" dirty="0"/>
          </a:p>
          <a:p>
            <a:pPr marL="400050" lvl="1" indent="0" eaLnBrk="1" hangingPunct="1">
              <a:defRPr/>
            </a:pPr>
            <a:r>
              <a:rPr lang="zh-CN" altLang="en-US" sz="2400" kern="0" dirty="0"/>
              <a:t>呼吸机</a:t>
            </a:r>
            <a:endParaRPr lang="en-US" altLang="zh-CN" sz="2400" kern="0" dirty="0"/>
          </a:p>
          <a:p>
            <a:pPr marL="400050" lvl="1" indent="0" eaLnBrk="1" hangingPunct="1">
              <a:defRPr/>
            </a:pPr>
            <a:r>
              <a:rPr lang="zh-CN" altLang="en-US" sz="2400" kern="0" dirty="0"/>
              <a:t>负压救护车</a:t>
            </a:r>
            <a:endParaRPr lang="en-US" altLang="zh-CN" sz="2400" kern="0" dirty="0"/>
          </a:p>
          <a:p>
            <a:pPr marL="400050" lvl="1" indent="0" eaLnBrk="1" hangingPunct="1">
              <a:defRPr/>
            </a:pPr>
            <a:r>
              <a:rPr lang="zh-CN" altLang="en-US" sz="2400" kern="0" dirty="0"/>
              <a:t>手套</a:t>
            </a:r>
            <a:endParaRPr lang="en-US" altLang="zh-CN" sz="2400" kern="0" dirty="0"/>
          </a:p>
          <a:p>
            <a:pPr marL="400050" lvl="1" indent="0" eaLnBrk="1" hangingPunct="1">
              <a:defRPr/>
            </a:pPr>
            <a:r>
              <a:rPr lang="zh-CN" altLang="en-US" sz="2400" kern="0" dirty="0"/>
              <a:t>消毒液</a:t>
            </a:r>
            <a:endParaRPr lang="en-US" altLang="zh-CN" sz="2400" kern="0" dirty="0"/>
          </a:p>
          <a:p>
            <a:pPr marL="400050" lvl="1" indent="0" eaLnBrk="1" hangingPunct="1">
              <a:defRPr/>
            </a:pPr>
            <a:r>
              <a:rPr lang="zh-CN" altLang="en-US" sz="2400" kern="0" dirty="0"/>
              <a:t>药材</a:t>
            </a:r>
            <a:endParaRPr lang="en-US" altLang="zh-CN" sz="2400" kern="0" dirty="0"/>
          </a:p>
          <a:p>
            <a:pPr marL="400050" lvl="1" indent="0" eaLnBrk="1" hangingPunct="1">
              <a:defRPr/>
            </a:pPr>
            <a:r>
              <a:rPr lang="en-US" altLang="zh-CN" sz="2400" kern="0" dirty="0"/>
              <a:t>……</a:t>
            </a:r>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667000" y="2092325"/>
            <a:ext cx="3810000" cy="4505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txBox="1">
            <a:spLocks noChangeArrowheads="1"/>
          </p:cNvSpPr>
          <p:nvPr/>
        </p:nvSpPr>
        <p:spPr bwMode="auto">
          <a:xfrm>
            <a:off x="457200" y="457200"/>
            <a:ext cx="8229600" cy="137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Arial" charset="0"/>
                <a:ea typeface="宋体" pitchFamily="2" charset="-122"/>
              </a:defRPr>
            </a:lvl2pPr>
            <a:lvl3pPr algn="l" rtl="0" eaLnBrk="0" fontAlgn="base" hangingPunct="0">
              <a:spcBef>
                <a:spcPct val="0"/>
              </a:spcBef>
              <a:spcAft>
                <a:spcPct val="0"/>
              </a:spcAft>
              <a:defRPr sz="4400">
                <a:solidFill>
                  <a:schemeClr val="tx1"/>
                </a:solidFill>
                <a:latin typeface="Arial" charset="0"/>
                <a:ea typeface="宋体" pitchFamily="2" charset="-122"/>
              </a:defRPr>
            </a:lvl3pPr>
            <a:lvl4pPr algn="l" rtl="0" eaLnBrk="0" fontAlgn="base" hangingPunct="0">
              <a:spcBef>
                <a:spcPct val="0"/>
              </a:spcBef>
              <a:spcAft>
                <a:spcPct val="0"/>
              </a:spcAft>
              <a:defRPr sz="4400">
                <a:solidFill>
                  <a:schemeClr val="tx1"/>
                </a:solidFill>
                <a:latin typeface="Arial" charset="0"/>
                <a:ea typeface="宋体" pitchFamily="2" charset="-122"/>
              </a:defRPr>
            </a:lvl4pPr>
            <a:lvl5pPr algn="l" rtl="0" eaLnBrk="0" fontAlgn="base" hangingPunct="0">
              <a:spcBef>
                <a:spcPct val="0"/>
              </a:spcBef>
              <a:spcAft>
                <a:spcPct val="0"/>
              </a:spcAft>
              <a:defRPr sz="4400">
                <a:solidFill>
                  <a:schemeClr val="tx1"/>
                </a:solidFill>
                <a:latin typeface="Arial" charset="0"/>
                <a:ea typeface="宋体" pitchFamily="2" charset="-122"/>
              </a:defRPr>
            </a:lvl5pPr>
            <a:lvl6pPr marL="457200" algn="l" rtl="0" fontAlgn="base">
              <a:spcBef>
                <a:spcPct val="0"/>
              </a:spcBef>
              <a:spcAft>
                <a:spcPct val="0"/>
              </a:spcAft>
              <a:defRPr sz="4400">
                <a:solidFill>
                  <a:schemeClr val="tx1"/>
                </a:solidFill>
                <a:latin typeface="Arial" charset="0"/>
                <a:ea typeface="宋体" pitchFamily="2" charset="-122"/>
              </a:defRPr>
            </a:lvl6pPr>
            <a:lvl7pPr marL="914400" algn="l" rtl="0" fontAlgn="base">
              <a:spcBef>
                <a:spcPct val="0"/>
              </a:spcBef>
              <a:spcAft>
                <a:spcPct val="0"/>
              </a:spcAft>
              <a:defRPr sz="4400">
                <a:solidFill>
                  <a:schemeClr val="tx1"/>
                </a:solidFill>
                <a:latin typeface="Arial" charset="0"/>
                <a:ea typeface="宋体" pitchFamily="2" charset="-122"/>
              </a:defRPr>
            </a:lvl7pPr>
            <a:lvl8pPr marL="1371600" algn="l" rtl="0" fontAlgn="base">
              <a:spcBef>
                <a:spcPct val="0"/>
              </a:spcBef>
              <a:spcAft>
                <a:spcPct val="0"/>
              </a:spcAft>
              <a:defRPr sz="4400">
                <a:solidFill>
                  <a:schemeClr val="tx1"/>
                </a:solidFill>
                <a:latin typeface="Arial" charset="0"/>
                <a:ea typeface="宋体" pitchFamily="2" charset="-122"/>
              </a:defRPr>
            </a:lvl8pPr>
            <a:lvl9pPr marL="1828800" algn="l" rtl="0" fontAlgn="base">
              <a:spcBef>
                <a:spcPct val="0"/>
              </a:spcBef>
              <a:spcAft>
                <a:spcPct val="0"/>
              </a:spcAft>
              <a:defRPr sz="4400">
                <a:solidFill>
                  <a:schemeClr val="tx1"/>
                </a:solidFill>
                <a:latin typeface="Arial" charset="0"/>
                <a:ea typeface="宋体" pitchFamily="2" charset="-122"/>
              </a:defRPr>
            </a:lvl9pPr>
          </a:lstStyle>
          <a:p>
            <a:pPr algn="ctr" eaLnBrk="1" hangingPunct="1">
              <a:defRPr/>
            </a:pPr>
            <a:r>
              <a:rPr lang="zh-CN" altLang="en-US" sz="3200" b="1" kern="0" dirty="0">
                <a:solidFill>
                  <a:srgbClr val="FF0000"/>
                </a:solidFill>
                <a:effectLst>
                  <a:outerShdw blurRad="38100" dist="38100" dir="2700000" algn="tl">
                    <a:srgbClr val="000000">
                      <a:alpha val="43137"/>
                    </a:srgbClr>
                  </a:outerShdw>
                </a:effectLst>
              </a:rPr>
              <a:t>现实案例引入分析</a:t>
            </a:r>
          </a:p>
        </p:txBody>
      </p:sp>
      <p:pic>
        <p:nvPicPr>
          <p:cNvPr id="5" name="图片 4"/>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908175" y="2781300"/>
            <a:ext cx="5676900" cy="274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灯片编号占位符 3"/>
          <p:cNvSpPr>
            <a:spLocks noGrp="1"/>
          </p:cNvSpPr>
          <p:nvPr>
            <p:ph type="sldNum" sz="quarter" idx="10"/>
          </p:nvPr>
        </p:nvSpPr>
        <p:spPr>
          <a:xfrm>
            <a:off x="3124200" y="6248400"/>
            <a:ext cx="2895600" cy="457200"/>
          </a:xfrm>
          <a:noFill/>
        </p:spPr>
        <p:txBody>
          <a:bodyPr/>
          <a:lstStyle>
            <a:lvl1pPr>
              <a:spcBef>
                <a:spcPct val="20000"/>
              </a:spcBef>
              <a:buClr>
                <a:schemeClr val="folHlink"/>
              </a:buClr>
              <a:buSzPct val="60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0FF991B8-381E-407C-B2D3-871135F99C45}" type="slidenum">
              <a:rPr kumimoji="0" lang="en-US" altLang="zh-CN" sz="1400" smtClean="0"/>
              <a:pPr>
                <a:spcBef>
                  <a:spcPct val="0"/>
                </a:spcBef>
                <a:buClrTx/>
                <a:buSzTx/>
                <a:buFontTx/>
                <a:buNone/>
              </a:pPr>
              <a:t>5</a:t>
            </a:fld>
            <a:endParaRPr kumimoji="0" lang="en-US" altLang="zh-CN" sz="1400" dirty="0"/>
          </a:p>
        </p:txBody>
      </p:sp>
    </p:spTree>
    <p:extLst>
      <p:ext uri="{BB962C8B-B14F-4D97-AF65-F5344CB8AC3E}">
        <p14:creationId xmlns:p14="http://schemas.microsoft.com/office/powerpoint/2010/main" val="81770726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3" presetClass="exit" presetSubtype="10" fill="hold" nodeType="clickEffect">
                                  <p:stCondLst>
                                    <p:cond delay="0"/>
                                  </p:stCondLst>
                                  <p:childTnLst>
                                    <p:animEffect transition="out" filter="blinds(horizontal)">
                                      <p:cBhvr>
                                        <p:cTn id="10" dur="500"/>
                                        <p:tgtEl>
                                          <p:spTgt spid="5"/>
                                        </p:tgtEl>
                                      </p:cBhvr>
                                    </p:animEffect>
                                    <p:set>
                                      <p:cBhvr>
                                        <p:cTn id="11" dur="1" fill="hold">
                                          <p:stCondLst>
                                            <p:cond delay="499"/>
                                          </p:stCondLst>
                                        </p:cTn>
                                        <p:tgtEl>
                                          <p:spTgt spid="5"/>
                                        </p:tgtEl>
                                        <p:attrNameLst>
                                          <p:attrName>style.visibility</p:attrName>
                                        </p:attrNameLst>
                                      </p:cBhvr>
                                      <p:to>
                                        <p:strVal val="hidden"/>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1" presetClass="entr" presetSubtype="0" fill="hold" nodeType="clickEffect">
                                  <p:stCondLst>
                                    <p:cond delay="0"/>
                                  </p:stCondLst>
                                  <p:childTnLst>
                                    <p:set>
                                      <p:cBhvr>
                                        <p:cTn id="15" dur="1" fill="hold">
                                          <p:stCondLst>
                                            <p:cond delay="0"/>
                                          </p:stCondLst>
                                        </p:cTn>
                                        <p:tgtEl>
                                          <p:spTgt spid="4"/>
                                        </p:tgtEl>
                                        <p:attrNameLst>
                                          <p:attrName>style.visibility</p:attrName>
                                        </p:attrNameLst>
                                      </p:cBhvr>
                                      <p:to>
                                        <p:strVal val="visible"/>
                                      </p:to>
                                    </p:set>
                                  </p:childTnLst>
                                </p:cTn>
                              </p:par>
                            </p:childTnLst>
                          </p:cTn>
                        </p:par>
                      </p:childTnLst>
                    </p:cTn>
                  </p:par>
                  <p:par>
                    <p:cTn id="16" fill="hold" nodeType="clickPar">
                      <p:stCondLst>
                        <p:cond delay="indefinite"/>
                      </p:stCondLst>
                      <p:childTnLst>
                        <p:par>
                          <p:cTn id="17" fill="hold" nodeType="withGroup">
                            <p:stCondLst>
                              <p:cond delay="0"/>
                            </p:stCondLst>
                            <p:childTnLst>
                              <p:par>
                                <p:cTn id="18" presetID="3" presetClass="exit" presetSubtype="10" fill="hold" nodeType="clickEffect">
                                  <p:stCondLst>
                                    <p:cond delay="0"/>
                                  </p:stCondLst>
                                  <p:childTnLst>
                                    <p:animEffect transition="out" filter="blinds(horizontal)">
                                      <p:cBhvr>
                                        <p:cTn id="19" dur="500"/>
                                        <p:tgtEl>
                                          <p:spTgt spid="4"/>
                                        </p:tgtEl>
                                      </p:cBhvr>
                                    </p:animEffect>
                                    <p:set>
                                      <p:cBhvr>
                                        <p:cTn id="20" dur="1" fill="hold">
                                          <p:stCondLst>
                                            <p:cond delay="499"/>
                                          </p:stCondLst>
                                        </p:cTn>
                                        <p:tgtEl>
                                          <p:spTgt spid="4"/>
                                        </p:tgtEl>
                                        <p:attrNameLst>
                                          <p:attrName>style.visibility</p:attrName>
                                        </p:attrNameLst>
                                      </p:cBhvr>
                                      <p:to>
                                        <p:strVal val="hidden"/>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ntr" presetSubtype="0" fill="hold" nodeType="clickEffect">
                                  <p:stCondLst>
                                    <p:cond delay="0"/>
                                  </p:stCondLst>
                                  <p:childTnLst>
                                    <p:set>
                                      <p:cBhvr>
                                        <p:cTn id="36" dur="1" fill="hold">
                                          <p:stCondLst>
                                            <p:cond delay="0"/>
                                          </p:stCondLst>
                                        </p:cTn>
                                        <p:tgtEl>
                                          <p:spTgt spid="3">
                                            <p:txEl>
                                              <p:pRg st="4" end="4"/>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
                                            <p:txEl>
                                              <p:pRg st="5" end="5"/>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
                                            <p:txEl>
                                              <p:pRg st="6" end="6"/>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3">
                                            <p:txEl>
                                              <p:pRg st="7" end="7"/>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a:spLocks noChangeArrowheads="1"/>
          </p:cNvSpPr>
          <p:nvPr/>
        </p:nvSpPr>
        <p:spPr bwMode="auto">
          <a:xfrm>
            <a:off x="457200" y="457200"/>
            <a:ext cx="8229600" cy="137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Arial" charset="0"/>
                <a:ea typeface="宋体" pitchFamily="2" charset="-122"/>
              </a:defRPr>
            </a:lvl2pPr>
            <a:lvl3pPr algn="l" rtl="0" eaLnBrk="0" fontAlgn="base" hangingPunct="0">
              <a:spcBef>
                <a:spcPct val="0"/>
              </a:spcBef>
              <a:spcAft>
                <a:spcPct val="0"/>
              </a:spcAft>
              <a:defRPr sz="4400">
                <a:solidFill>
                  <a:schemeClr val="tx1"/>
                </a:solidFill>
                <a:latin typeface="Arial" charset="0"/>
                <a:ea typeface="宋体" pitchFamily="2" charset="-122"/>
              </a:defRPr>
            </a:lvl3pPr>
            <a:lvl4pPr algn="l" rtl="0" eaLnBrk="0" fontAlgn="base" hangingPunct="0">
              <a:spcBef>
                <a:spcPct val="0"/>
              </a:spcBef>
              <a:spcAft>
                <a:spcPct val="0"/>
              </a:spcAft>
              <a:defRPr sz="4400">
                <a:solidFill>
                  <a:schemeClr val="tx1"/>
                </a:solidFill>
                <a:latin typeface="Arial" charset="0"/>
                <a:ea typeface="宋体" pitchFamily="2" charset="-122"/>
              </a:defRPr>
            </a:lvl4pPr>
            <a:lvl5pPr algn="l" rtl="0" eaLnBrk="0" fontAlgn="base" hangingPunct="0">
              <a:spcBef>
                <a:spcPct val="0"/>
              </a:spcBef>
              <a:spcAft>
                <a:spcPct val="0"/>
              </a:spcAft>
              <a:defRPr sz="4400">
                <a:solidFill>
                  <a:schemeClr val="tx1"/>
                </a:solidFill>
                <a:latin typeface="Arial" charset="0"/>
                <a:ea typeface="宋体" pitchFamily="2" charset="-122"/>
              </a:defRPr>
            </a:lvl5pPr>
            <a:lvl6pPr marL="457200" algn="l" rtl="0" fontAlgn="base">
              <a:spcBef>
                <a:spcPct val="0"/>
              </a:spcBef>
              <a:spcAft>
                <a:spcPct val="0"/>
              </a:spcAft>
              <a:defRPr sz="4400">
                <a:solidFill>
                  <a:schemeClr val="tx1"/>
                </a:solidFill>
                <a:latin typeface="Arial" charset="0"/>
                <a:ea typeface="宋体" pitchFamily="2" charset="-122"/>
              </a:defRPr>
            </a:lvl6pPr>
            <a:lvl7pPr marL="914400" algn="l" rtl="0" fontAlgn="base">
              <a:spcBef>
                <a:spcPct val="0"/>
              </a:spcBef>
              <a:spcAft>
                <a:spcPct val="0"/>
              </a:spcAft>
              <a:defRPr sz="4400">
                <a:solidFill>
                  <a:schemeClr val="tx1"/>
                </a:solidFill>
                <a:latin typeface="Arial" charset="0"/>
                <a:ea typeface="宋体" pitchFamily="2" charset="-122"/>
              </a:defRPr>
            </a:lvl7pPr>
            <a:lvl8pPr marL="1371600" algn="l" rtl="0" fontAlgn="base">
              <a:spcBef>
                <a:spcPct val="0"/>
              </a:spcBef>
              <a:spcAft>
                <a:spcPct val="0"/>
              </a:spcAft>
              <a:defRPr sz="4400">
                <a:solidFill>
                  <a:schemeClr val="tx1"/>
                </a:solidFill>
                <a:latin typeface="Arial" charset="0"/>
                <a:ea typeface="宋体" pitchFamily="2" charset="-122"/>
              </a:defRPr>
            </a:lvl8pPr>
            <a:lvl9pPr marL="1828800" algn="l" rtl="0" fontAlgn="base">
              <a:spcBef>
                <a:spcPct val="0"/>
              </a:spcBef>
              <a:spcAft>
                <a:spcPct val="0"/>
              </a:spcAft>
              <a:defRPr sz="4400">
                <a:solidFill>
                  <a:schemeClr val="tx1"/>
                </a:solidFill>
                <a:latin typeface="Arial" charset="0"/>
                <a:ea typeface="宋体" pitchFamily="2" charset="-122"/>
              </a:defRPr>
            </a:lvl9pPr>
          </a:lstStyle>
          <a:p>
            <a:pPr algn="ctr" eaLnBrk="1" hangingPunct="1">
              <a:defRPr/>
            </a:pPr>
            <a:r>
              <a:rPr lang="zh-CN" altLang="en-US" sz="3200" b="1" kern="0" dirty="0">
                <a:solidFill>
                  <a:srgbClr val="FF0000"/>
                </a:solidFill>
                <a:effectLst>
                  <a:outerShdw blurRad="38100" dist="38100" dir="2700000" algn="tl">
                    <a:srgbClr val="000000">
                      <a:alpha val="43137"/>
                    </a:srgbClr>
                  </a:outerShdw>
                </a:effectLst>
              </a:rPr>
              <a:t>现实案例引入分析</a:t>
            </a:r>
          </a:p>
        </p:txBody>
      </p:sp>
      <p:sp>
        <p:nvSpPr>
          <p:cNvPr id="3" name="内容占位符 2"/>
          <p:cNvSpPr txBox="1">
            <a:spLocks noChangeArrowheads="1"/>
          </p:cNvSpPr>
          <p:nvPr/>
        </p:nvSpPr>
        <p:spPr bwMode="auto">
          <a:xfrm>
            <a:off x="914400" y="1916832"/>
            <a:ext cx="7772400" cy="3456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9pPr>
          </a:lstStyle>
          <a:p>
            <a:pPr marL="0" indent="0" eaLnBrk="1" hangingPunct="1">
              <a:lnSpc>
                <a:spcPct val="150000"/>
              </a:lnSpc>
              <a:defRPr/>
            </a:pPr>
            <a:r>
              <a:rPr lang="zh-CN" altLang="en-US" b="1" kern="0" dirty="0"/>
              <a:t>一个更复杂的常见产品生产案例</a:t>
            </a:r>
            <a:endParaRPr lang="en-US" altLang="zh-CN" b="1" kern="0" dirty="0"/>
          </a:p>
          <a:p>
            <a:pPr marL="400050" lvl="1" indent="0" eaLnBrk="1" hangingPunct="1">
              <a:lnSpc>
                <a:spcPct val="150000"/>
              </a:lnSpc>
              <a:defRPr/>
            </a:pPr>
            <a:r>
              <a:rPr lang="zh-CN" altLang="en-US" b="1" kern="0" dirty="0"/>
              <a:t>汽车制造（一段视频）</a:t>
            </a:r>
            <a:endParaRPr lang="en-US" altLang="zh-CN" b="1" kern="0" dirty="0"/>
          </a:p>
          <a:p>
            <a:pPr marL="400050" lvl="1" indent="0" eaLnBrk="1" hangingPunct="1">
              <a:lnSpc>
                <a:spcPct val="150000"/>
              </a:lnSpc>
              <a:defRPr/>
            </a:pPr>
            <a:r>
              <a:rPr lang="zh-CN" altLang="en-US" kern="0" dirty="0"/>
              <a:t>要素：</a:t>
            </a:r>
            <a:endParaRPr lang="en-US" altLang="zh-CN" kern="0" dirty="0"/>
          </a:p>
          <a:p>
            <a:pPr lvl="1" eaLnBrk="1" hangingPunct="1">
              <a:lnSpc>
                <a:spcPct val="150000"/>
              </a:lnSpc>
              <a:defRPr/>
            </a:pPr>
            <a:endParaRPr lang="en-US" altLang="zh-CN" kern="0" dirty="0"/>
          </a:p>
        </p:txBody>
      </p:sp>
      <p:sp>
        <p:nvSpPr>
          <p:cNvPr id="4" name="灯片编号占位符 3"/>
          <p:cNvSpPr>
            <a:spLocks noGrp="1"/>
          </p:cNvSpPr>
          <p:nvPr>
            <p:ph type="sldNum" sz="quarter" idx="10"/>
          </p:nvPr>
        </p:nvSpPr>
        <p:spPr>
          <a:xfrm>
            <a:off x="3124200" y="6248400"/>
            <a:ext cx="2895600" cy="457200"/>
          </a:xfrm>
          <a:noFill/>
        </p:spPr>
        <p:txBody>
          <a:bodyPr/>
          <a:lstStyle>
            <a:lvl1pPr>
              <a:spcBef>
                <a:spcPct val="20000"/>
              </a:spcBef>
              <a:buClr>
                <a:schemeClr val="folHlink"/>
              </a:buClr>
              <a:buSzPct val="60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0FF991B8-381E-407C-B2D3-871135F99C45}" type="slidenum">
              <a:rPr kumimoji="0" lang="en-US" altLang="zh-CN" sz="1400" smtClean="0"/>
              <a:pPr>
                <a:spcBef>
                  <a:spcPct val="0"/>
                </a:spcBef>
                <a:buClrTx/>
                <a:buSzTx/>
                <a:buFontTx/>
                <a:buNone/>
              </a:pPr>
              <a:t>6</a:t>
            </a:fld>
            <a:endParaRPr kumimoji="0" lang="en-US" altLang="zh-CN" sz="1400" dirty="0"/>
          </a:p>
        </p:txBody>
      </p:sp>
    </p:spTree>
    <p:extLst>
      <p:ext uri="{BB962C8B-B14F-4D97-AF65-F5344CB8AC3E}">
        <p14:creationId xmlns:p14="http://schemas.microsoft.com/office/powerpoint/2010/main" val="29958201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a:spLocks noChangeArrowheads="1"/>
          </p:cNvSpPr>
          <p:nvPr/>
        </p:nvSpPr>
        <p:spPr bwMode="auto">
          <a:xfrm>
            <a:off x="457200" y="457200"/>
            <a:ext cx="8229600" cy="10275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Arial" charset="0"/>
                <a:ea typeface="宋体" pitchFamily="2" charset="-122"/>
              </a:defRPr>
            </a:lvl2pPr>
            <a:lvl3pPr algn="l" rtl="0" eaLnBrk="0" fontAlgn="base" hangingPunct="0">
              <a:spcBef>
                <a:spcPct val="0"/>
              </a:spcBef>
              <a:spcAft>
                <a:spcPct val="0"/>
              </a:spcAft>
              <a:defRPr sz="4400">
                <a:solidFill>
                  <a:schemeClr val="tx1"/>
                </a:solidFill>
                <a:latin typeface="Arial" charset="0"/>
                <a:ea typeface="宋体" pitchFamily="2" charset="-122"/>
              </a:defRPr>
            </a:lvl3pPr>
            <a:lvl4pPr algn="l" rtl="0" eaLnBrk="0" fontAlgn="base" hangingPunct="0">
              <a:spcBef>
                <a:spcPct val="0"/>
              </a:spcBef>
              <a:spcAft>
                <a:spcPct val="0"/>
              </a:spcAft>
              <a:defRPr sz="4400">
                <a:solidFill>
                  <a:schemeClr val="tx1"/>
                </a:solidFill>
                <a:latin typeface="Arial" charset="0"/>
                <a:ea typeface="宋体" pitchFamily="2" charset="-122"/>
              </a:defRPr>
            </a:lvl4pPr>
            <a:lvl5pPr algn="l" rtl="0" eaLnBrk="0" fontAlgn="base" hangingPunct="0">
              <a:spcBef>
                <a:spcPct val="0"/>
              </a:spcBef>
              <a:spcAft>
                <a:spcPct val="0"/>
              </a:spcAft>
              <a:defRPr sz="4400">
                <a:solidFill>
                  <a:schemeClr val="tx1"/>
                </a:solidFill>
                <a:latin typeface="Arial" charset="0"/>
                <a:ea typeface="宋体" pitchFamily="2" charset="-122"/>
              </a:defRPr>
            </a:lvl5pPr>
            <a:lvl6pPr marL="457200" algn="l" rtl="0" fontAlgn="base">
              <a:spcBef>
                <a:spcPct val="0"/>
              </a:spcBef>
              <a:spcAft>
                <a:spcPct val="0"/>
              </a:spcAft>
              <a:defRPr sz="4400">
                <a:solidFill>
                  <a:schemeClr val="tx1"/>
                </a:solidFill>
                <a:latin typeface="Arial" charset="0"/>
                <a:ea typeface="宋体" pitchFamily="2" charset="-122"/>
              </a:defRPr>
            </a:lvl6pPr>
            <a:lvl7pPr marL="914400" algn="l" rtl="0" fontAlgn="base">
              <a:spcBef>
                <a:spcPct val="0"/>
              </a:spcBef>
              <a:spcAft>
                <a:spcPct val="0"/>
              </a:spcAft>
              <a:defRPr sz="4400">
                <a:solidFill>
                  <a:schemeClr val="tx1"/>
                </a:solidFill>
                <a:latin typeface="Arial" charset="0"/>
                <a:ea typeface="宋体" pitchFamily="2" charset="-122"/>
              </a:defRPr>
            </a:lvl7pPr>
            <a:lvl8pPr marL="1371600" algn="l" rtl="0" fontAlgn="base">
              <a:spcBef>
                <a:spcPct val="0"/>
              </a:spcBef>
              <a:spcAft>
                <a:spcPct val="0"/>
              </a:spcAft>
              <a:defRPr sz="4400">
                <a:solidFill>
                  <a:schemeClr val="tx1"/>
                </a:solidFill>
                <a:latin typeface="Arial" charset="0"/>
                <a:ea typeface="宋体" pitchFamily="2" charset="-122"/>
              </a:defRPr>
            </a:lvl8pPr>
            <a:lvl9pPr marL="1828800" algn="l" rtl="0" fontAlgn="base">
              <a:spcBef>
                <a:spcPct val="0"/>
              </a:spcBef>
              <a:spcAft>
                <a:spcPct val="0"/>
              </a:spcAft>
              <a:defRPr sz="4400">
                <a:solidFill>
                  <a:schemeClr val="tx1"/>
                </a:solidFill>
                <a:latin typeface="Arial" charset="0"/>
                <a:ea typeface="宋体" pitchFamily="2" charset="-122"/>
              </a:defRPr>
            </a:lvl9pPr>
          </a:lstStyle>
          <a:p>
            <a:pPr algn="ctr" eaLnBrk="1" hangingPunct="1">
              <a:defRPr/>
            </a:pPr>
            <a:r>
              <a:rPr lang="zh-CN" altLang="en-US" sz="3200" b="1" kern="0" dirty="0">
                <a:solidFill>
                  <a:srgbClr val="FF0000"/>
                </a:solidFill>
                <a:effectLst>
                  <a:outerShdw blurRad="38100" dist="38100" dir="2700000" algn="tl">
                    <a:srgbClr val="000000">
                      <a:alpha val="43137"/>
                    </a:srgbClr>
                  </a:outerShdw>
                </a:effectLst>
              </a:rPr>
              <a:t>提出问题</a:t>
            </a:r>
          </a:p>
        </p:txBody>
      </p:sp>
      <p:sp>
        <p:nvSpPr>
          <p:cNvPr id="3" name="内容占位符 2"/>
          <p:cNvSpPr txBox="1">
            <a:spLocks noChangeArrowheads="1"/>
          </p:cNvSpPr>
          <p:nvPr/>
        </p:nvSpPr>
        <p:spPr bwMode="auto">
          <a:xfrm>
            <a:off x="683568" y="1700808"/>
            <a:ext cx="8229600" cy="4471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bg2"/>
              </a:buClr>
              <a:buFont typeface="Wingdings" pitchFamily="2" charset="2"/>
              <a:buChar char="§"/>
              <a:defRPr sz="2000">
                <a:solidFill>
                  <a:schemeClr val="tx1"/>
                </a:solidFill>
                <a:latin typeface="+mn-lt"/>
                <a:ea typeface="+mn-ea"/>
              </a:defRPr>
            </a:lvl9pPr>
          </a:lstStyle>
          <a:p>
            <a:pPr marL="0" indent="0" eaLnBrk="1" hangingPunct="1">
              <a:lnSpc>
                <a:spcPct val="150000"/>
              </a:lnSpc>
              <a:defRPr/>
            </a:pPr>
            <a:r>
              <a:rPr lang="zh-CN" altLang="en-US" sz="2800" b="1" kern="0" dirty="0"/>
              <a:t>如何组织实现一个生产</a:t>
            </a:r>
            <a:r>
              <a:rPr lang="en-US" altLang="zh-CN" sz="2800" b="1" kern="0" dirty="0"/>
              <a:t>/</a:t>
            </a:r>
            <a:r>
              <a:rPr lang="zh-CN" altLang="en-US" sz="2800" b="1" kern="0" dirty="0"/>
              <a:t>服务系统的运行？</a:t>
            </a:r>
            <a:endParaRPr lang="en-US" altLang="zh-CN" sz="2800" b="1" kern="0" dirty="0"/>
          </a:p>
          <a:p>
            <a:pPr marL="400050" lvl="1" indent="0" eaLnBrk="1" hangingPunct="1">
              <a:lnSpc>
                <a:spcPct val="150000"/>
              </a:lnSpc>
              <a:defRPr/>
            </a:pPr>
            <a:r>
              <a:rPr lang="zh-CN" altLang="en-US" kern="0" dirty="0"/>
              <a:t>要向谁提供哪些产品</a:t>
            </a:r>
            <a:r>
              <a:rPr lang="en-US" altLang="zh-CN" kern="0" dirty="0"/>
              <a:t>/</a:t>
            </a:r>
            <a:r>
              <a:rPr lang="zh-CN" altLang="en-US" kern="0" dirty="0"/>
              <a:t>服务？多少量？</a:t>
            </a:r>
            <a:endParaRPr lang="en-US" altLang="zh-CN" kern="0" dirty="0"/>
          </a:p>
          <a:p>
            <a:pPr marL="400050" lvl="1" indent="0" eaLnBrk="1" hangingPunct="1">
              <a:lnSpc>
                <a:spcPct val="150000"/>
              </a:lnSpc>
              <a:defRPr/>
            </a:pPr>
            <a:r>
              <a:rPr lang="zh-CN" altLang="en-US" kern="0" dirty="0"/>
              <a:t>自己有什么？</a:t>
            </a:r>
            <a:endParaRPr lang="en-US" altLang="zh-CN" kern="0" dirty="0"/>
          </a:p>
          <a:p>
            <a:pPr marL="400050" lvl="1" indent="0" eaLnBrk="1" hangingPunct="1">
              <a:lnSpc>
                <a:spcPct val="150000"/>
              </a:lnSpc>
              <a:defRPr/>
            </a:pPr>
            <a:r>
              <a:rPr lang="zh-CN" altLang="en-US" kern="0" dirty="0"/>
              <a:t>为了生产产品</a:t>
            </a:r>
            <a:r>
              <a:rPr lang="en-US" altLang="zh-CN" kern="0" dirty="0"/>
              <a:t>/</a:t>
            </a:r>
            <a:r>
              <a:rPr lang="zh-CN" altLang="en-US" kern="0" dirty="0"/>
              <a:t>提供服务需要什么？</a:t>
            </a:r>
            <a:endParaRPr lang="en-US" altLang="zh-CN" kern="0" dirty="0"/>
          </a:p>
          <a:p>
            <a:pPr marL="400050" lvl="1" indent="0" eaLnBrk="1" hangingPunct="1">
              <a:lnSpc>
                <a:spcPct val="150000"/>
              </a:lnSpc>
              <a:defRPr/>
            </a:pPr>
            <a:r>
              <a:rPr lang="zh-CN" altLang="en-US" kern="0" dirty="0"/>
              <a:t>如何完成产品的生产</a:t>
            </a:r>
            <a:r>
              <a:rPr lang="en-US" altLang="zh-CN" kern="0" dirty="0"/>
              <a:t>/</a:t>
            </a:r>
            <a:r>
              <a:rPr lang="zh-CN" altLang="en-US" kern="0" dirty="0"/>
              <a:t>服务的交付？</a:t>
            </a:r>
            <a:endParaRPr lang="en-US" altLang="zh-CN" kern="0" dirty="0"/>
          </a:p>
        </p:txBody>
      </p:sp>
      <p:sp>
        <p:nvSpPr>
          <p:cNvPr id="4" name="灯片编号占位符 3"/>
          <p:cNvSpPr>
            <a:spLocks noGrp="1"/>
          </p:cNvSpPr>
          <p:nvPr>
            <p:ph type="sldNum" sz="quarter" idx="10"/>
          </p:nvPr>
        </p:nvSpPr>
        <p:spPr>
          <a:xfrm>
            <a:off x="3124200" y="6248400"/>
            <a:ext cx="2895600" cy="457200"/>
          </a:xfrm>
          <a:noFill/>
        </p:spPr>
        <p:txBody>
          <a:bodyPr/>
          <a:lstStyle>
            <a:lvl1pPr>
              <a:spcBef>
                <a:spcPct val="20000"/>
              </a:spcBef>
              <a:buClr>
                <a:schemeClr val="folHlink"/>
              </a:buClr>
              <a:buSzPct val="60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0FF991B8-381E-407C-B2D3-871135F99C45}" type="slidenum">
              <a:rPr kumimoji="0" lang="en-US" altLang="zh-CN" sz="1400" smtClean="0"/>
              <a:pPr>
                <a:spcBef>
                  <a:spcPct val="0"/>
                </a:spcBef>
                <a:buClrTx/>
                <a:buSzTx/>
                <a:buFontTx/>
                <a:buNone/>
              </a:pPr>
              <a:t>7</a:t>
            </a:fld>
            <a:endParaRPr kumimoji="0" lang="en-US" altLang="zh-CN" sz="1400" dirty="0"/>
          </a:p>
        </p:txBody>
      </p:sp>
    </p:spTree>
    <p:extLst>
      <p:ext uri="{BB962C8B-B14F-4D97-AF65-F5344CB8AC3E}">
        <p14:creationId xmlns:p14="http://schemas.microsoft.com/office/powerpoint/2010/main" val="375251060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4450" name="Rectangle 2"/>
          <p:cNvSpPr>
            <a:spLocks noGrp="1" noChangeArrowheads="1"/>
          </p:cNvSpPr>
          <p:nvPr>
            <p:ph type="title"/>
          </p:nvPr>
        </p:nvSpPr>
        <p:spPr>
          <a:xfrm>
            <a:off x="457200" y="685800"/>
            <a:ext cx="8229600" cy="609600"/>
          </a:xfrm>
        </p:spPr>
        <p:txBody>
          <a:bodyPr/>
          <a:lstStyle/>
          <a:p>
            <a:pPr algn="ctr" eaLnBrk="1" hangingPunct="1">
              <a:defRPr/>
            </a:pPr>
            <a:r>
              <a:rPr lang="en-US" altLang="zh-CN" sz="3600" b="1" dirty="0">
                <a:solidFill>
                  <a:srgbClr val="FF0000"/>
                </a:solidFill>
                <a:effectLst>
                  <a:outerShdw blurRad="38100" dist="38100" dir="2700000" algn="tl">
                    <a:srgbClr val="C0C0C0"/>
                  </a:outerShdw>
                </a:effectLst>
                <a:latin typeface="Times New Roman" pitchFamily="18" charset="0"/>
              </a:rPr>
              <a:t>2. </a:t>
            </a:r>
            <a:r>
              <a:rPr lang="zh-CN" altLang="en-US" sz="3600" b="1" dirty="0">
                <a:solidFill>
                  <a:srgbClr val="FF0000"/>
                </a:solidFill>
                <a:effectLst>
                  <a:outerShdw blurRad="38100" dist="38100" dir="2700000" algn="tl">
                    <a:srgbClr val="C0C0C0"/>
                  </a:outerShdw>
                </a:effectLst>
                <a:latin typeface="Times New Roman" pitchFamily="18" charset="0"/>
              </a:rPr>
              <a:t>企业生产与运作系统</a:t>
            </a:r>
          </a:p>
        </p:txBody>
      </p:sp>
      <p:sp>
        <p:nvSpPr>
          <p:cNvPr id="104451" name="Rectangle 3"/>
          <p:cNvSpPr>
            <a:spLocks noGrp="1" noChangeArrowheads="1"/>
          </p:cNvSpPr>
          <p:nvPr>
            <p:ph type="body" idx="1"/>
          </p:nvPr>
        </p:nvSpPr>
        <p:spPr>
          <a:xfrm>
            <a:off x="2438400" y="1752600"/>
            <a:ext cx="4267200" cy="4724400"/>
          </a:xfrm>
        </p:spPr>
        <p:txBody>
          <a:bodyPr/>
          <a:lstStyle/>
          <a:p>
            <a:pPr eaLnBrk="1" hangingPunct="1">
              <a:lnSpc>
                <a:spcPct val="250000"/>
              </a:lnSpc>
              <a:buClr>
                <a:schemeClr val="tx1"/>
              </a:buClr>
              <a:buFont typeface="Marlett" pitchFamily="2" charset="2"/>
              <a:buChar char="2"/>
              <a:defRPr/>
            </a:pPr>
            <a:r>
              <a:rPr lang="en-US" altLang="zh-CN" sz="2400" b="1" dirty="0">
                <a:effectLst>
                  <a:outerShdw blurRad="38100" dist="38100" dir="2700000" algn="tl">
                    <a:srgbClr val="C0C0C0"/>
                  </a:outerShdw>
                </a:effectLst>
                <a:latin typeface="Times New Roman" pitchFamily="18" charset="0"/>
              </a:rPr>
              <a:t>2.1 </a:t>
            </a:r>
            <a:r>
              <a:rPr lang="zh-CN" altLang="en-US" sz="2400" b="1" dirty="0">
                <a:effectLst>
                  <a:outerShdw blurRad="38100" dist="38100" dir="2700000" algn="tl">
                    <a:srgbClr val="C0C0C0"/>
                  </a:outerShdw>
                </a:effectLst>
                <a:latin typeface="Times New Roman" pitchFamily="18" charset="0"/>
              </a:rPr>
              <a:t>企业</a:t>
            </a:r>
            <a:r>
              <a:rPr lang="en-US" altLang="zh-CN" sz="2400" b="1" dirty="0">
                <a:effectLst>
                  <a:outerShdw blurRad="38100" dist="38100" dir="2700000" algn="tl">
                    <a:srgbClr val="C0C0C0"/>
                  </a:outerShdw>
                </a:effectLst>
                <a:latin typeface="Times New Roman" pitchFamily="18" charset="0"/>
              </a:rPr>
              <a:t>/</a:t>
            </a:r>
            <a:r>
              <a:rPr lang="zh-CN" altLang="en-US" sz="2400" b="1" dirty="0">
                <a:effectLst>
                  <a:outerShdw blurRad="38100" dist="38100" dir="2700000" algn="tl">
                    <a:srgbClr val="C0C0C0"/>
                  </a:outerShdw>
                </a:effectLst>
                <a:latin typeface="Times New Roman" pitchFamily="18" charset="0"/>
              </a:rPr>
              <a:t>社会组织</a:t>
            </a:r>
          </a:p>
          <a:p>
            <a:pPr eaLnBrk="1" hangingPunct="1">
              <a:lnSpc>
                <a:spcPct val="250000"/>
              </a:lnSpc>
              <a:buClr>
                <a:schemeClr val="tx1"/>
              </a:buClr>
              <a:buFont typeface="Marlett" pitchFamily="2" charset="2"/>
              <a:buChar char="2"/>
              <a:defRPr/>
            </a:pPr>
            <a:r>
              <a:rPr lang="en-US" altLang="zh-CN" sz="2400" b="1" dirty="0">
                <a:effectLst>
                  <a:outerShdw blurRad="38100" dist="38100" dir="2700000" algn="tl">
                    <a:srgbClr val="C0C0C0"/>
                  </a:outerShdw>
                </a:effectLst>
                <a:latin typeface="Times New Roman" pitchFamily="18" charset="0"/>
              </a:rPr>
              <a:t>2.2 </a:t>
            </a:r>
            <a:r>
              <a:rPr lang="zh-CN" altLang="en-US" sz="2400" b="1" dirty="0">
                <a:effectLst>
                  <a:outerShdw blurRad="38100" dist="38100" dir="2700000" algn="tl">
                    <a:srgbClr val="C0C0C0"/>
                  </a:outerShdw>
                </a:effectLst>
                <a:latin typeface="Times New Roman" pitchFamily="18" charset="0"/>
              </a:rPr>
              <a:t>生产运作系统</a:t>
            </a: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4450" name="Rectangle 2"/>
          <p:cNvSpPr>
            <a:spLocks noGrp="1" noChangeArrowheads="1"/>
          </p:cNvSpPr>
          <p:nvPr>
            <p:ph type="title"/>
          </p:nvPr>
        </p:nvSpPr>
        <p:spPr>
          <a:xfrm>
            <a:off x="457200" y="685800"/>
            <a:ext cx="8229600" cy="609600"/>
          </a:xfrm>
        </p:spPr>
        <p:txBody>
          <a:bodyPr/>
          <a:lstStyle/>
          <a:p>
            <a:pPr algn="ctr" eaLnBrk="1" hangingPunct="1">
              <a:defRPr/>
            </a:pPr>
            <a:r>
              <a:rPr lang="en-US" altLang="zh-CN" sz="3600" b="1" dirty="0">
                <a:solidFill>
                  <a:srgbClr val="FF0000"/>
                </a:solidFill>
                <a:effectLst>
                  <a:outerShdw blurRad="38100" dist="38100" dir="2700000" algn="tl">
                    <a:srgbClr val="C0C0C0"/>
                  </a:outerShdw>
                </a:effectLst>
                <a:latin typeface="Times New Roman" pitchFamily="18" charset="0"/>
              </a:rPr>
              <a:t>2.1 </a:t>
            </a:r>
            <a:r>
              <a:rPr lang="zh-CN" altLang="en-US" sz="3600" b="1" dirty="0">
                <a:solidFill>
                  <a:srgbClr val="FF0000"/>
                </a:solidFill>
                <a:effectLst>
                  <a:outerShdw blurRad="38100" dist="38100" dir="2700000" algn="tl">
                    <a:srgbClr val="C0C0C0"/>
                  </a:outerShdw>
                </a:effectLst>
                <a:latin typeface="Times New Roman" pitchFamily="18" charset="0"/>
              </a:rPr>
              <a:t>企业</a:t>
            </a:r>
            <a:r>
              <a:rPr lang="en-US" altLang="zh-CN" sz="3600" b="1" dirty="0">
                <a:solidFill>
                  <a:srgbClr val="FF0000"/>
                </a:solidFill>
                <a:effectLst>
                  <a:outerShdw blurRad="38100" dist="38100" dir="2700000" algn="tl">
                    <a:srgbClr val="C0C0C0"/>
                  </a:outerShdw>
                </a:effectLst>
                <a:latin typeface="Times New Roman" pitchFamily="18" charset="0"/>
              </a:rPr>
              <a:t>/</a:t>
            </a:r>
            <a:r>
              <a:rPr lang="zh-CN" altLang="en-US" sz="3600" b="1" dirty="0">
                <a:solidFill>
                  <a:srgbClr val="FF0000"/>
                </a:solidFill>
                <a:effectLst>
                  <a:outerShdw blurRad="38100" dist="38100" dir="2700000" algn="tl">
                    <a:srgbClr val="C0C0C0"/>
                  </a:outerShdw>
                </a:effectLst>
                <a:latin typeface="Times New Roman" pitchFamily="18" charset="0"/>
              </a:rPr>
              <a:t>社会组织</a:t>
            </a:r>
          </a:p>
        </p:txBody>
      </p:sp>
      <p:sp>
        <p:nvSpPr>
          <p:cNvPr id="104451" name="Rectangle 3"/>
          <p:cNvSpPr>
            <a:spLocks noGrp="1" noChangeArrowheads="1"/>
          </p:cNvSpPr>
          <p:nvPr>
            <p:ph type="body" idx="1"/>
          </p:nvPr>
        </p:nvSpPr>
        <p:spPr>
          <a:xfrm>
            <a:off x="2438400" y="1752600"/>
            <a:ext cx="4267200" cy="4724400"/>
          </a:xfrm>
        </p:spPr>
        <p:txBody>
          <a:bodyPr/>
          <a:lstStyle/>
          <a:p>
            <a:pPr eaLnBrk="1" hangingPunct="1">
              <a:lnSpc>
                <a:spcPct val="150000"/>
              </a:lnSpc>
              <a:buClr>
                <a:schemeClr val="tx1"/>
              </a:buClr>
              <a:buFont typeface="Marlett" pitchFamily="2" charset="2"/>
              <a:buChar char="2"/>
              <a:defRPr/>
            </a:pPr>
            <a:r>
              <a:rPr lang="zh-CN" altLang="en-US" sz="2400" b="1" dirty="0">
                <a:effectLst>
                  <a:outerShdw blurRad="38100" dist="38100" dir="2700000" algn="tl">
                    <a:srgbClr val="C0C0C0"/>
                  </a:outerShdw>
                </a:effectLst>
                <a:latin typeface="Times New Roman" pitchFamily="18" charset="0"/>
              </a:rPr>
              <a:t>基本定义</a:t>
            </a:r>
          </a:p>
          <a:p>
            <a:pPr eaLnBrk="1" hangingPunct="1">
              <a:lnSpc>
                <a:spcPct val="150000"/>
              </a:lnSpc>
              <a:buClr>
                <a:schemeClr val="tx1"/>
              </a:buClr>
              <a:buFont typeface="Marlett" pitchFamily="2" charset="2"/>
              <a:buChar char="2"/>
              <a:defRPr/>
            </a:pPr>
            <a:r>
              <a:rPr lang="zh-CN" altLang="en-US" sz="2400" b="1" dirty="0">
                <a:effectLst>
                  <a:outerShdw blurRad="38100" dist="38100" dir="2700000" algn="tl">
                    <a:srgbClr val="C0C0C0"/>
                  </a:outerShdw>
                </a:effectLst>
                <a:latin typeface="Times New Roman" pitchFamily="18" charset="0"/>
              </a:rPr>
              <a:t>工业企业</a:t>
            </a:r>
          </a:p>
          <a:p>
            <a:pPr eaLnBrk="1" hangingPunct="1">
              <a:lnSpc>
                <a:spcPct val="150000"/>
              </a:lnSpc>
              <a:buClr>
                <a:schemeClr val="tx1"/>
              </a:buClr>
              <a:buFont typeface="Marlett" pitchFamily="2" charset="2"/>
              <a:buChar char="2"/>
              <a:defRPr/>
            </a:pPr>
            <a:r>
              <a:rPr lang="zh-CN" altLang="en-US" sz="2400" b="1" dirty="0">
                <a:effectLst>
                  <a:outerShdw blurRad="38100" dist="38100" dir="2700000" algn="tl">
                    <a:srgbClr val="C0C0C0"/>
                  </a:outerShdw>
                </a:effectLst>
                <a:latin typeface="Times New Roman" pitchFamily="18" charset="0"/>
              </a:rPr>
              <a:t>生产运作系统</a:t>
            </a:r>
          </a:p>
          <a:p>
            <a:pPr eaLnBrk="1" hangingPunct="1">
              <a:lnSpc>
                <a:spcPct val="150000"/>
              </a:lnSpc>
              <a:buClr>
                <a:schemeClr val="tx1"/>
              </a:buClr>
              <a:buFont typeface="Marlett" pitchFamily="2" charset="2"/>
              <a:buChar char="2"/>
              <a:defRPr/>
            </a:pPr>
            <a:r>
              <a:rPr lang="zh-CN" altLang="en-US" sz="2400" b="1" dirty="0">
                <a:effectLst>
                  <a:outerShdw blurRad="38100" dist="38100" dir="2700000" algn="tl">
                    <a:srgbClr val="C0C0C0"/>
                  </a:outerShdw>
                </a:effectLst>
                <a:latin typeface="Times New Roman" pitchFamily="18" charset="0"/>
              </a:rPr>
              <a:t>企业资源</a:t>
            </a:r>
            <a:endParaRPr lang="en-US" altLang="zh-CN" sz="2400" b="1" dirty="0">
              <a:effectLst>
                <a:outerShdw blurRad="38100" dist="38100" dir="2700000" algn="tl">
                  <a:srgbClr val="C0C0C0"/>
                </a:outerShdw>
              </a:effectLst>
              <a:latin typeface="Times New Roman" pitchFamily="18" charset="0"/>
            </a:endParaRPr>
          </a:p>
          <a:p>
            <a:pPr eaLnBrk="1" hangingPunct="1">
              <a:lnSpc>
                <a:spcPct val="150000"/>
              </a:lnSpc>
              <a:buClr>
                <a:schemeClr val="tx1"/>
              </a:buClr>
              <a:buFont typeface="Marlett" pitchFamily="2" charset="2"/>
              <a:buChar char="2"/>
              <a:defRPr/>
            </a:pPr>
            <a:r>
              <a:rPr lang="zh-CN" altLang="en-US" sz="2400" b="1" dirty="0">
                <a:effectLst>
                  <a:outerShdw blurRad="38100" dist="38100" dir="2700000" algn="tl">
                    <a:srgbClr val="C0C0C0"/>
                  </a:outerShdw>
                </a:effectLst>
                <a:latin typeface="Times New Roman" pitchFamily="18" charset="0"/>
              </a:rPr>
              <a:t>典型生产运作系统</a:t>
            </a:r>
            <a:endParaRPr lang="en-US" altLang="zh-CN" sz="2400" b="1" dirty="0">
              <a:effectLst>
                <a:outerShdw blurRad="38100" dist="38100" dir="2700000" algn="tl">
                  <a:srgbClr val="C0C0C0"/>
                </a:outerShdw>
              </a:effectLst>
              <a:latin typeface="Times New Roman" pitchFamily="18" charset="0"/>
            </a:endParaRPr>
          </a:p>
          <a:p>
            <a:pPr eaLnBrk="1" hangingPunct="1">
              <a:lnSpc>
                <a:spcPct val="150000"/>
              </a:lnSpc>
              <a:buClr>
                <a:schemeClr val="tx1"/>
              </a:buClr>
              <a:buFont typeface="Marlett" pitchFamily="2" charset="2"/>
              <a:buChar char="2"/>
              <a:defRPr/>
            </a:pPr>
            <a:r>
              <a:rPr lang="zh-CN" altLang="en-US" sz="2400" b="1" dirty="0">
                <a:effectLst>
                  <a:outerShdw blurRad="38100" dist="38100" dir="2700000" algn="tl">
                    <a:srgbClr val="C0C0C0"/>
                  </a:outerShdw>
                </a:effectLst>
                <a:latin typeface="Times New Roman" pitchFamily="18" charset="0"/>
              </a:rPr>
              <a:t>功能目标</a:t>
            </a:r>
            <a:endParaRPr lang="en-US" altLang="zh-CN" sz="2400" b="1" dirty="0">
              <a:effectLst>
                <a:outerShdw blurRad="38100" dist="38100" dir="2700000" algn="tl">
                  <a:srgbClr val="C0C0C0"/>
                </a:outerShdw>
              </a:effectLst>
              <a:latin typeface="Times New Roman" pitchFamily="18" charset="0"/>
            </a:endParaRPr>
          </a:p>
          <a:p>
            <a:pPr eaLnBrk="1" hangingPunct="1">
              <a:lnSpc>
                <a:spcPct val="150000"/>
              </a:lnSpc>
              <a:buClr>
                <a:schemeClr val="tx1"/>
              </a:buClr>
              <a:buFont typeface="Marlett" pitchFamily="2" charset="2"/>
              <a:buChar char="2"/>
              <a:defRPr/>
            </a:pPr>
            <a:r>
              <a:rPr lang="zh-CN" altLang="en-US" sz="2400" b="1" dirty="0">
                <a:effectLst>
                  <a:outerShdw blurRad="38100" dist="38100" dir="2700000" algn="tl">
                    <a:srgbClr val="C0C0C0"/>
                  </a:outerShdw>
                </a:effectLst>
                <a:latin typeface="Times New Roman" pitchFamily="18" charset="0"/>
              </a:rPr>
              <a:t>组织结构</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1" fill="hold" grpId="0" nodeType="clickEffect">
                                  <p:stCondLst>
                                    <p:cond delay="0"/>
                                  </p:stCondLst>
                                  <p:childTnLst>
                                    <p:set>
                                      <p:cBhvr>
                                        <p:cTn id="6" dur="1" fill="hold">
                                          <p:stCondLst>
                                            <p:cond delay="0"/>
                                          </p:stCondLst>
                                        </p:cTn>
                                        <p:tgtEl>
                                          <p:spTgt spid="104450"/>
                                        </p:tgtEl>
                                        <p:attrNameLst>
                                          <p:attrName>style.visibility</p:attrName>
                                        </p:attrNameLst>
                                      </p:cBhvr>
                                      <p:to>
                                        <p:strVal val="visible"/>
                                      </p:to>
                                    </p:set>
                                    <p:anim calcmode="lin" valueType="num">
                                      <p:cBhvr additive="base">
                                        <p:cTn id="7" dur="500" fill="hold"/>
                                        <p:tgtEl>
                                          <p:spTgt spid="104450"/>
                                        </p:tgtEl>
                                        <p:attrNameLst>
                                          <p:attrName>ppt_x</p:attrName>
                                        </p:attrNameLst>
                                      </p:cBhvr>
                                      <p:tavLst>
                                        <p:tav tm="0">
                                          <p:val>
                                            <p:strVal val="#ppt_x"/>
                                          </p:val>
                                        </p:tav>
                                        <p:tav tm="100000">
                                          <p:val>
                                            <p:strVal val="#ppt_x"/>
                                          </p:val>
                                        </p:tav>
                                      </p:tavLst>
                                    </p:anim>
                                    <p:anim calcmode="lin" valueType="num">
                                      <p:cBhvr additive="base">
                                        <p:cTn id="8" dur="500" fill="hold"/>
                                        <p:tgtEl>
                                          <p:spTgt spid="104450"/>
                                        </p:tgtEl>
                                        <p:attrNameLst>
                                          <p:attrName>ppt_y</p:attrName>
                                        </p:attrNameLst>
                                      </p:cBhvr>
                                      <p:tavLst>
                                        <p:tav tm="0">
                                          <p:val>
                                            <p:strVal val="0-#ppt_h/2"/>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IR_NEW.WAV"/>
                                        </p:tgtEl>
                                      </p:cMediaNode>
                                    </p:audio>
                                  </p:subTnLst>
                                </p:cTn>
                              </p:par>
                            </p:childTnLst>
                          </p:cTn>
                        </p:par>
                        <p:par>
                          <p:cTn id="9" fill="hold" nodeType="afterGroup">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104451">
                                            <p:txEl>
                                              <p:pRg st="0" end="0"/>
                                            </p:txEl>
                                          </p:spTgt>
                                        </p:tgtEl>
                                        <p:attrNameLst>
                                          <p:attrName>style.visibility</p:attrName>
                                        </p:attrNameLst>
                                      </p:cBhvr>
                                      <p:to>
                                        <p:strVal val="visible"/>
                                      </p:to>
                                    </p:set>
                                    <p:anim calcmode="lin" valueType="num">
                                      <p:cBhvr additive="base">
                                        <p:cTn id="12" dur="500" fill="hold"/>
                                        <p:tgtEl>
                                          <p:spTgt spid="104451">
                                            <p:txEl>
                                              <p:pRg st="0" end="0"/>
                                            </p:txEl>
                                          </p:spTgt>
                                        </p:tgtEl>
                                        <p:attrNameLst>
                                          <p:attrName>ppt_x</p:attrName>
                                        </p:attrNameLst>
                                      </p:cBhvr>
                                      <p:tavLst>
                                        <p:tav tm="0">
                                          <p:val>
                                            <p:strVal val="0-#ppt_w/2"/>
                                          </p:val>
                                        </p:tav>
                                        <p:tav tm="100000">
                                          <p:val>
                                            <p:strVal val="#ppt_x"/>
                                          </p:val>
                                        </p:tav>
                                      </p:tavLst>
                                    </p:anim>
                                    <p:anim calcmode="lin" valueType="num">
                                      <p:cBhvr additive="base">
                                        <p:cTn id="13" dur="500" fill="hold"/>
                                        <p:tgtEl>
                                          <p:spTgt spid="104451">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par>
                          <p:cTn id="14" fill="hold" nodeType="afterGroup">
                            <p:stCondLst>
                              <p:cond delay="1000"/>
                            </p:stCondLst>
                            <p:childTnLst>
                              <p:par>
                                <p:cTn id="15" presetID="2" presetClass="entr" presetSubtype="8" fill="hold" grpId="0" nodeType="afterEffect">
                                  <p:stCondLst>
                                    <p:cond delay="0"/>
                                  </p:stCondLst>
                                  <p:childTnLst>
                                    <p:set>
                                      <p:cBhvr>
                                        <p:cTn id="16" dur="1" fill="hold">
                                          <p:stCondLst>
                                            <p:cond delay="0"/>
                                          </p:stCondLst>
                                        </p:cTn>
                                        <p:tgtEl>
                                          <p:spTgt spid="104451">
                                            <p:txEl>
                                              <p:pRg st="1" end="1"/>
                                            </p:txEl>
                                          </p:spTgt>
                                        </p:tgtEl>
                                        <p:attrNameLst>
                                          <p:attrName>style.visibility</p:attrName>
                                        </p:attrNameLst>
                                      </p:cBhvr>
                                      <p:to>
                                        <p:strVal val="visible"/>
                                      </p:to>
                                    </p:set>
                                    <p:anim calcmode="lin" valueType="num">
                                      <p:cBhvr additive="base">
                                        <p:cTn id="17" dur="500" fill="hold"/>
                                        <p:tgtEl>
                                          <p:spTgt spid="104451">
                                            <p:txEl>
                                              <p:pRg st="1" end="1"/>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104451">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5"/>
                                            </p:cond>
                                          </p:stCondLst>
                                          <p:endCondLst>
                                            <p:cond evt="onStopAudio" delay="0">
                                              <p:tgtEl>
                                                <p:sldTgt/>
                                              </p:tgtEl>
                                            </p:cond>
                                          </p:endCondLst>
                                        </p:cTn>
                                        <p:tgtEl>
                                          <p:sndTgt r:embed="rId3" name="CAMERA.WAV"/>
                                        </p:tgtEl>
                                      </p:cMediaNode>
                                    </p:audio>
                                  </p:subTnLst>
                                </p:cTn>
                              </p:par>
                            </p:childTnLst>
                          </p:cTn>
                        </p:par>
                        <p:par>
                          <p:cTn id="19" fill="hold" nodeType="afterGroup">
                            <p:stCondLst>
                              <p:cond delay="1500"/>
                            </p:stCondLst>
                            <p:childTnLst>
                              <p:par>
                                <p:cTn id="20" presetID="2" presetClass="entr" presetSubtype="8" fill="hold" grpId="0" nodeType="afterEffect">
                                  <p:stCondLst>
                                    <p:cond delay="0"/>
                                  </p:stCondLst>
                                  <p:childTnLst>
                                    <p:set>
                                      <p:cBhvr>
                                        <p:cTn id="21" dur="1" fill="hold">
                                          <p:stCondLst>
                                            <p:cond delay="0"/>
                                          </p:stCondLst>
                                        </p:cTn>
                                        <p:tgtEl>
                                          <p:spTgt spid="104451">
                                            <p:txEl>
                                              <p:pRg st="2" end="2"/>
                                            </p:txEl>
                                          </p:spTgt>
                                        </p:tgtEl>
                                        <p:attrNameLst>
                                          <p:attrName>style.visibility</p:attrName>
                                        </p:attrNameLst>
                                      </p:cBhvr>
                                      <p:to>
                                        <p:strVal val="visible"/>
                                      </p:to>
                                    </p:set>
                                    <p:anim calcmode="lin" valueType="num">
                                      <p:cBhvr additive="base">
                                        <p:cTn id="22" dur="500" fill="hold"/>
                                        <p:tgtEl>
                                          <p:spTgt spid="104451">
                                            <p:txEl>
                                              <p:pRg st="2" end="2"/>
                                            </p:txEl>
                                          </p:spTgt>
                                        </p:tgtEl>
                                        <p:attrNameLst>
                                          <p:attrName>ppt_x</p:attrName>
                                        </p:attrNameLst>
                                      </p:cBhvr>
                                      <p:tavLst>
                                        <p:tav tm="0">
                                          <p:val>
                                            <p:strVal val="0-#ppt_w/2"/>
                                          </p:val>
                                        </p:tav>
                                        <p:tav tm="100000">
                                          <p:val>
                                            <p:strVal val="#ppt_x"/>
                                          </p:val>
                                        </p:tav>
                                      </p:tavLst>
                                    </p:anim>
                                    <p:anim calcmode="lin" valueType="num">
                                      <p:cBhvr additive="base">
                                        <p:cTn id="23" dur="500" fill="hold"/>
                                        <p:tgtEl>
                                          <p:spTgt spid="104451">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0"/>
                                            </p:cond>
                                          </p:stCondLst>
                                          <p:endCondLst>
                                            <p:cond evt="onStopAudio" delay="0">
                                              <p:tgtEl>
                                                <p:sldTgt/>
                                              </p:tgtEl>
                                            </p:cond>
                                          </p:endCondLst>
                                        </p:cTn>
                                        <p:tgtEl>
                                          <p:sndTgt r:embed="rId3" name="CAMERA.WAV"/>
                                        </p:tgtEl>
                                      </p:cMediaNode>
                                    </p:audio>
                                  </p:subTnLst>
                                </p:cTn>
                              </p:par>
                            </p:childTnLst>
                          </p:cTn>
                        </p:par>
                        <p:par>
                          <p:cTn id="24" fill="hold" nodeType="afterGroup">
                            <p:stCondLst>
                              <p:cond delay="2000"/>
                            </p:stCondLst>
                            <p:childTnLst>
                              <p:par>
                                <p:cTn id="25" presetID="2" presetClass="entr" presetSubtype="8" fill="hold" grpId="0" nodeType="afterEffect">
                                  <p:stCondLst>
                                    <p:cond delay="0"/>
                                  </p:stCondLst>
                                  <p:childTnLst>
                                    <p:set>
                                      <p:cBhvr>
                                        <p:cTn id="26" dur="1" fill="hold">
                                          <p:stCondLst>
                                            <p:cond delay="0"/>
                                          </p:stCondLst>
                                        </p:cTn>
                                        <p:tgtEl>
                                          <p:spTgt spid="104451">
                                            <p:txEl>
                                              <p:pRg st="3" end="3"/>
                                            </p:txEl>
                                          </p:spTgt>
                                        </p:tgtEl>
                                        <p:attrNameLst>
                                          <p:attrName>style.visibility</p:attrName>
                                        </p:attrNameLst>
                                      </p:cBhvr>
                                      <p:to>
                                        <p:strVal val="visible"/>
                                      </p:to>
                                    </p:set>
                                    <p:anim calcmode="lin" valueType="num">
                                      <p:cBhvr additive="base">
                                        <p:cTn id="27" dur="500" fill="hold"/>
                                        <p:tgtEl>
                                          <p:spTgt spid="104451">
                                            <p:txEl>
                                              <p:pRg st="3" end="3"/>
                                            </p:txEl>
                                          </p:spTgt>
                                        </p:tgtEl>
                                        <p:attrNameLst>
                                          <p:attrName>ppt_x</p:attrName>
                                        </p:attrNameLst>
                                      </p:cBhvr>
                                      <p:tavLst>
                                        <p:tav tm="0">
                                          <p:val>
                                            <p:strVal val="0-#ppt_w/2"/>
                                          </p:val>
                                        </p:tav>
                                        <p:tav tm="100000">
                                          <p:val>
                                            <p:strVal val="#ppt_x"/>
                                          </p:val>
                                        </p:tav>
                                      </p:tavLst>
                                    </p:anim>
                                    <p:anim calcmode="lin" valueType="num">
                                      <p:cBhvr additive="base">
                                        <p:cTn id="28" dur="500" fill="hold"/>
                                        <p:tgtEl>
                                          <p:spTgt spid="104451">
                                            <p:txEl>
                                              <p:pRg st="3" end="3"/>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5"/>
                                            </p:cond>
                                          </p:stCondLst>
                                          <p:endCondLst>
                                            <p:cond evt="onStopAudio" delay="0">
                                              <p:tgtEl>
                                                <p:sldTgt/>
                                              </p:tgtEl>
                                            </p:cond>
                                          </p:endCondLst>
                                        </p:cTn>
                                        <p:tgtEl>
                                          <p:sndTgt r:embed="rId3" name="CAMERA.WAV"/>
                                        </p:tgtEl>
                                      </p:cMediaNode>
                                    </p:audio>
                                  </p:subTnLst>
                                </p:cTn>
                              </p:par>
                            </p:childTnLst>
                          </p:cTn>
                        </p:par>
                        <p:par>
                          <p:cTn id="29" fill="hold" nodeType="afterGroup">
                            <p:stCondLst>
                              <p:cond delay="2500"/>
                            </p:stCondLst>
                            <p:childTnLst>
                              <p:par>
                                <p:cTn id="30" presetID="2" presetClass="entr" presetSubtype="8" fill="hold" grpId="0" nodeType="afterEffect">
                                  <p:stCondLst>
                                    <p:cond delay="0"/>
                                  </p:stCondLst>
                                  <p:childTnLst>
                                    <p:set>
                                      <p:cBhvr>
                                        <p:cTn id="31" dur="1" fill="hold">
                                          <p:stCondLst>
                                            <p:cond delay="0"/>
                                          </p:stCondLst>
                                        </p:cTn>
                                        <p:tgtEl>
                                          <p:spTgt spid="104451">
                                            <p:txEl>
                                              <p:pRg st="4" end="4"/>
                                            </p:txEl>
                                          </p:spTgt>
                                        </p:tgtEl>
                                        <p:attrNameLst>
                                          <p:attrName>style.visibility</p:attrName>
                                        </p:attrNameLst>
                                      </p:cBhvr>
                                      <p:to>
                                        <p:strVal val="visible"/>
                                      </p:to>
                                    </p:set>
                                    <p:anim calcmode="lin" valueType="num">
                                      <p:cBhvr additive="base">
                                        <p:cTn id="32" dur="500" fill="hold"/>
                                        <p:tgtEl>
                                          <p:spTgt spid="104451">
                                            <p:txEl>
                                              <p:pRg st="4" end="4"/>
                                            </p:txEl>
                                          </p:spTgt>
                                        </p:tgtEl>
                                        <p:attrNameLst>
                                          <p:attrName>ppt_x</p:attrName>
                                        </p:attrNameLst>
                                      </p:cBhvr>
                                      <p:tavLst>
                                        <p:tav tm="0">
                                          <p:val>
                                            <p:strVal val="0-#ppt_w/2"/>
                                          </p:val>
                                        </p:tav>
                                        <p:tav tm="100000">
                                          <p:val>
                                            <p:strVal val="#ppt_x"/>
                                          </p:val>
                                        </p:tav>
                                      </p:tavLst>
                                    </p:anim>
                                    <p:anim calcmode="lin" valueType="num">
                                      <p:cBhvr additive="base">
                                        <p:cTn id="33" dur="500" fill="hold"/>
                                        <p:tgtEl>
                                          <p:spTgt spid="104451">
                                            <p:txEl>
                                              <p:pRg st="4" end="4"/>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0"/>
                                            </p:cond>
                                          </p:stCondLst>
                                          <p:endCondLst>
                                            <p:cond evt="onStopAudio" delay="0">
                                              <p:tgtEl>
                                                <p:sldTgt/>
                                              </p:tgtEl>
                                            </p:cond>
                                          </p:endCondLst>
                                        </p:cTn>
                                        <p:tgtEl>
                                          <p:sndTgt r:embed="rId3" name="CAMERA.WAV"/>
                                        </p:tgtEl>
                                      </p:cMediaNode>
                                    </p:audio>
                                  </p:subTnLst>
                                </p:cTn>
                              </p:par>
                            </p:childTnLst>
                          </p:cTn>
                        </p:par>
                        <p:par>
                          <p:cTn id="34" fill="hold" nodeType="afterGroup">
                            <p:stCondLst>
                              <p:cond delay="3000"/>
                            </p:stCondLst>
                            <p:childTnLst>
                              <p:par>
                                <p:cTn id="35" presetID="2" presetClass="entr" presetSubtype="8" fill="hold" grpId="0" nodeType="afterEffect">
                                  <p:stCondLst>
                                    <p:cond delay="0"/>
                                  </p:stCondLst>
                                  <p:childTnLst>
                                    <p:set>
                                      <p:cBhvr>
                                        <p:cTn id="36" dur="1" fill="hold">
                                          <p:stCondLst>
                                            <p:cond delay="0"/>
                                          </p:stCondLst>
                                        </p:cTn>
                                        <p:tgtEl>
                                          <p:spTgt spid="104451">
                                            <p:txEl>
                                              <p:pRg st="5" end="5"/>
                                            </p:txEl>
                                          </p:spTgt>
                                        </p:tgtEl>
                                        <p:attrNameLst>
                                          <p:attrName>style.visibility</p:attrName>
                                        </p:attrNameLst>
                                      </p:cBhvr>
                                      <p:to>
                                        <p:strVal val="visible"/>
                                      </p:to>
                                    </p:set>
                                    <p:anim calcmode="lin" valueType="num">
                                      <p:cBhvr additive="base">
                                        <p:cTn id="37" dur="500" fill="hold"/>
                                        <p:tgtEl>
                                          <p:spTgt spid="104451">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104451">
                                            <p:txEl>
                                              <p:pRg st="5" end="5"/>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5"/>
                                            </p:cond>
                                          </p:stCondLst>
                                          <p:endCondLst>
                                            <p:cond evt="onStopAudio" delay="0">
                                              <p:tgtEl>
                                                <p:sldTgt/>
                                              </p:tgtEl>
                                            </p:cond>
                                          </p:endCondLst>
                                        </p:cTn>
                                        <p:tgtEl>
                                          <p:sndTgt r:embed="rId3" name="CAMERA.WAV"/>
                                        </p:tgtEl>
                                      </p:cMediaNode>
                                    </p:audio>
                                  </p:subTnLst>
                                </p:cTn>
                              </p:par>
                            </p:childTnLst>
                          </p:cTn>
                        </p:par>
                        <p:par>
                          <p:cTn id="39" fill="hold" nodeType="afterGroup">
                            <p:stCondLst>
                              <p:cond delay="3500"/>
                            </p:stCondLst>
                            <p:childTnLst>
                              <p:par>
                                <p:cTn id="40" presetID="2" presetClass="entr" presetSubtype="8" fill="hold" grpId="0" nodeType="afterEffect">
                                  <p:stCondLst>
                                    <p:cond delay="0"/>
                                  </p:stCondLst>
                                  <p:childTnLst>
                                    <p:set>
                                      <p:cBhvr>
                                        <p:cTn id="41" dur="1" fill="hold">
                                          <p:stCondLst>
                                            <p:cond delay="0"/>
                                          </p:stCondLst>
                                        </p:cTn>
                                        <p:tgtEl>
                                          <p:spTgt spid="104451">
                                            <p:txEl>
                                              <p:pRg st="6" end="6"/>
                                            </p:txEl>
                                          </p:spTgt>
                                        </p:tgtEl>
                                        <p:attrNameLst>
                                          <p:attrName>style.visibility</p:attrName>
                                        </p:attrNameLst>
                                      </p:cBhvr>
                                      <p:to>
                                        <p:strVal val="visible"/>
                                      </p:to>
                                    </p:set>
                                    <p:anim calcmode="lin" valueType="num">
                                      <p:cBhvr additive="base">
                                        <p:cTn id="42" dur="500" fill="hold"/>
                                        <p:tgtEl>
                                          <p:spTgt spid="104451">
                                            <p:txEl>
                                              <p:pRg st="6" end="6"/>
                                            </p:txEl>
                                          </p:spTgt>
                                        </p:tgtEl>
                                        <p:attrNameLst>
                                          <p:attrName>ppt_x</p:attrName>
                                        </p:attrNameLst>
                                      </p:cBhvr>
                                      <p:tavLst>
                                        <p:tav tm="0">
                                          <p:val>
                                            <p:strVal val="0-#ppt_w/2"/>
                                          </p:val>
                                        </p:tav>
                                        <p:tav tm="100000">
                                          <p:val>
                                            <p:strVal val="#ppt_x"/>
                                          </p:val>
                                        </p:tav>
                                      </p:tavLst>
                                    </p:anim>
                                    <p:anim calcmode="lin" valueType="num">
                                      <p:cBhvr additive="base">
                                        <p:cTn id="43" dur="500" fill="hold"/>
                                        <p:tgtEl>
                                          <p:spTgt spid="104451">
                                            <p:txEl>
                                              <p:pRg st="6" end="6"/>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40"/>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450" grpId="0" autoUpdateAnimBg="0"/>
      <p:bldP spid="104451" grpId="0" build="p" autoUpdateAnimBg="0" advAuto="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内容占位符 8"/>
          <p:cNvSpPr>
            <a:spLocks/>
          </p:cNvSpPr>
          <p:nvPr/>
        </p:nvSpPr>
        <p:spPr bwMode="auto">
          <a:xfrm>
            <a:off x="381000" y="908050"/>
            <a:ext cx="8305800" cy="518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latinLnBrk="1" hangingPunct="1">
              <a:lnSpc>
                <a:spcPct val="150000"/>
              </a:lnSpc>
              <a:buClr>
                <a:srgbClr val="2C3F71"/>
              </a:buClr>
            </a:pPr>
            <a:r>
              <a:rPr lang="zh-CN" altLang="en-US" sz="2800" b="1" dirty="0">
                <a:solidFill>
                  <a:srgbClr val="FF0000"/>
                </a:solidFill>
                <a:latin typeface="Calibri" panose="020F0502020204030204" pitchFamily="34" charset="0"/>
              </a:rPr>
              <a:t>基本定义</a:t>
            </a:r>
            <a:r>
              <a:rPr lang="en-US" altLang="zh-CN" sz="2800" b="1" dirty="0">
                <a:solidFill>
                  <a:srgbClr val="FF0000"/>
                </a:solidFill>
                <a:latin typeface="Calibri" panose="020F0502020204030204" pitchFamily="34" charset="0"/>
              </a:rPr>
              <a:t>——</a:t>
            </a:r>
            <a:r>
              <a:rPr lang="zh-CN" altLang="en-US" sz="2800" b="1" dirty="0">
                <a:solidFill>
                  <a:srgbClr val="FF0000"/>
                </a:solidFill>
                <a:latin typeface="Calibri" panose="020F0502020204030204" pitchFamily="34" charset="0"/>
              </a:rPr>
              <a:t>回顾</a:t>
            </a:r>
          </a:p>
          <a:p>
            <a:pPr eaLnBrk="1" latinLnBrk="1" hangingPunct="1">
              <a:lnSpc>
                <a:spcPct val="150000"/>
              </a:lnSpc>
              <a:buClr>
                <a:srgbClr val="2C3F71"/>
              </a:buClr>
            </a:pPr>
            <a:r>
              <a:rPr lang="zh-CN" altLang="en-US" sz="1800" dirty="0"/>
              <a:t>“企业（</a:t>
            </a:r>
            <a:r>
              <a:rPr lang="en-US" altLang="zh-CN" sz="1800" dirty="0"/>
              <a:t>Enterprise</a:t>
            </a:r>
            <a:r>
              <a:rPr lang="zh-CN" altLang="en-US" sz="1800" dirty="0"/>
              <a:t>）”一词的两种用法：</a:t>
            </a:r>
          </a:p>
          <a:p>
            <a:pPr eaLnBrk="1" latinLnBrk="1" hangingPunct="1">
              <a:lnSpc>
                <a:spcPct val="150000"/>
              </a:lnSpc>
              <a:buClr>
                <a:srgbClr val="2C3F71"/>
              </a:buClr>
            </a:pPr>
            <a:r>
              <a:rPr lang="zh-CN" altLang="en-US" sz="1800" dirty="0"/>
              <a:t>企业是从事生产、流通、服务等经济活动，以生产或服务满足社会需要，实行自主经营、独立核算、依法设立的一种盈利性的经济组织。企业主要指独立的盈利性组织，并可进一步分为公司和非公司企业，后者如合伙制企业、个人独资企业等。</a:t>
            </a:r>
          </a:p>
          <a:p>
            <a:pPr eaLnBrk="1" latinLnBrk="1" hangingPunct="1">
              <a:lnSpc>
                <a:spcPct val="150000"/>
              </a:lnSpc>
              <a:buClr>
                <a:srgbClr val="2C3F71"/>
              </a:buClr>
            </a:pPr>
            <a:r>
              <a:rPr lang="zh-CN" altLang="en-US" sz="1800" dirty="0"/>
              <a:t>另一种用法与社会组织接近，可以用来泛指公司、学校、社会团体乃至政府机构等。主要出现在信息技术应用领域的一些专有名词中，如</a:t>
            </a:r>
          </a:p>
          <a:p>
            <a:pPr lvl="1" eaLnBrk="1" latinLnBrk="1" hangingPunct="1">
              <a:lnSpc>
                <a:spcPct val="150000"/>
              </a:lnSpc>
              <a:buClr>
                <a:srgbClr val="2C3F71"/>
              </a:buClr>
            </a:pPr>
            <a:r>
              <a:rPr lang="zh-CN" altLang="en-US" sz="1600" dirty="0"/>
              <a:t>企业应用（</a:t>
            </a:r>
            <a:r>
              <a:rPr lang="en-US" altLang="zh-CN" sz="1600" dirty="0"/>
              <a:t>enterprise applications</a:t>
            </a:r>
            <a:r>
              <a:rPr lang="zh-CN" altLang="en-US" sz="1600" dirty="0"/>
              <a:t>）、企业计算（</a:t>
            </a:r>
            <a:r>
              <a:rPr lang="en-US" altLang="zh-CN" sz="1600" dirty="0"/>
              <a:t>enterprise computing</a:t>
            </a:r>
            <a:r>
              <a:rPr lang="zh-CN" altLang="en-US" sz="1600" dirty="0"/>
              <a:t>）</a:t>
            </a:r>
          </a:p>
          <a:p>
            <a:pPr lvl="1" eaLnBrk="1" latinLnBrk="1" hangingPunct="1">
              <a:lnSpc>
                <a:spcPct val="150000"/>
              </a:lnSpc>
              <a:buClr>
                <a:srgbClr val="2C3F71"/>
              </a:buClr>
            </a:pPr>
            <a:r>
              <a:rPr lang="zh-CN" altLang="en-US" sz="1600" dirty="0"/>
              <a:t>企业集成（</a:t>
            </a:r>
            <a:r>
              <a:rPr lang="en-US" altLang="zh-CN" sz="1600" dirty="0"/>
              <a:t>enterprise integration</a:t>
            </a:r>
            <a:r>
              <a:rPr lang="zh-CN" altLang="en-US" sz="1600" dirty="0"/>
              <a:t>）、企业工程（</a:t>
            </a:r>
            <a:r>
              <a:rPr lang="en-US" altLang="zh-CN" sz="1600" dirty="0"/>
              <a:t>enterprise engineering</a:t>
            </a:r>
            <a:r>
              <a:rPr lang="zh-CN" altLang="en-US" sz="1600" dirty="0"/>
              <a:t>）</a:t>
            </a:r>
          </a:p>
          <a:p>
            <a:pPr lvl="1" eaLnBrk="1" latinLnBrk="1" hangingPunct="1">
              <a:lnSpc>
                <a:spcPct val="150000"/>
              </a:lnSpc>
              <a:buClr>
                <a:srgbClr val="2C3F71"/>
              </a:buClr>
            </a:pPr>
            <a:r>
              <a:rPr lang="zh-CN" altLang="en-US" sz="1600" dirty="0"/>
              <a:t>企业架构（</a:t>
            </a:r>
            <a:r>
              <a:rPr lang="en-US" altLang="zh-CN" sz="1600" dirty="0"/>
              <a:t>enterprise architecture</a:t>
            </a:r>
            <a:r>
              <a:rPr lang="zh-CN" altLang="en-US" sz="1600" dirty="0"/>
              <a:t>）、企业建模（</a:t>
            </a:r>
            <a:r>
              <a:rPr lang="en-US" altLang="zh-CN" sz="1600" dirty="0"/>
              <a:t>enterprise modeling</a:t>
            </a:r>
            <a:r>
              <a:rPr lang="zh-CN" altLang="en-US" sz="1600" dirty="0"/>
              <a:t>）</a:t>
            </a:r>
          </a:p>
        </p:txBody>
      </p:sp>
      <p:sp>
        <p:nvSpPr>
          <p:cNvPr id="5" name="Text Box 9"/>
          <p:cNvSpPr txBox="1">
            <a:spLocks noChangeArrowheads="1"/>
          </p:cNvSpPr>
          <p:nvPr/>
        </p:nvSpPr>
        <p:spPr bwMode="auto">
          <a:xfrm>
            <a:off x="762000" y="87313"/>
            <a:ext cx="2028825"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defRPr/>
            </a:pPr>
            <a:r>
              <a:rPr lang="en-US" altLang="zh-CN" sz="1800" b="1" dirty="0">
                <a:solidFill>
                  <a:srgbClr val="FFFF00"/>
                </a:solidFill>
                <a:effectLst>
                  <a:outerShdw blurRad="38100" dist="38100" dir="2700000" algn="tl">
                    <a:srgbClr val="000000">
                      <a:alpha val="43137"/>
                    </a:srgbClr>
                  </a:outerShdw>
                </a:effectLst>
              </a:rPr>
              <a:t>2.1 </a:t>
            </a:r>
            <a:r>
              <a:rPr lang="zh-CN" altLang="en-US" sz="1800" b="1" dirty="0">
                <a:solidFill>
                  <a:srgbClr val="FFFF00"/>
                </a:solidFill>
                <a:effectLst>
                  <a:outerShdw blurRad="38100" dist="38100" dir="2700000" algn="tl">
                    <a:srgbClr val="000000">
                      <a:alpha val="43137"/>
                    </a:srgbClr>
                  </a:outerShdw>
                </a:effectLst>
              </a:rPr>
              <a:t>企业</a:t>
            </a:r>
            <a:r>
              <a:rPr lang="en-US" altLang="zh-CN" sz="1800" b="1" dirty="0">
                <a:solidFill>
                  <a:srgbClr val="FFFF00"/>
                </a:solidFill>
                <a:effectLst>
                  <a:outerShdw blurRad="38100" dist="38100" dir="2700000" algn="tl">
                    <a:srgbClr val="000000">
                      <a:alpha val="43137"/>
                    </a:srgbClr>
                  </a:outerShdw>
                </a:effectLst>
              </a:rPr>
              <a:t>/</a:t>
            </a:r>
            <a:r>
              <a:rPr lang="zh-CN" altLang="en-US" sz="1800" b="1" dirty="0">
                <a:solidFill>
                  <a:srgbClr val="FFFF00"/>
                </a:solidFill>
                <a:effectLst>
                  <a:outerShdw blurRad="38100" dist="38100" dir="2700000" algn="tl">
                    <a:srgbClr val="000000">
                      <a:alpha val="43137"/>
                    </a:srgbClr>
                  </a:outerShdw>
                </a:effectLst>
              </a:rPr>
              <a:t>社会组织</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123">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123">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5123">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5123">
                                            <p:txEl>
                                              <p:pRg st="4" end="4"/>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5123">
                                            <p:txEl>
                                              <p:pRg st="5" end="5"/>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512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内容占位符 8"/>
          <p:cNvSpPr>
            <a:spLocks/>
          </p:cNvSpPr>
          <p:nvPr/>
        </p:nvSpPr>
        <p:spPr bwMode="auto">
          <a:xfrm>
            <a:off x="381000" y="908050"/>
            <a:ext cx="8305800" cy="518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latinLnBrk="1" hangingPunct="1">
              <a:lnSpc>
                <a:spcPct val="150000"/>
              </a:lnSpc>
              <a:buClr>
                <a:srgbClr val="2C3F71"/>
              </a:buClr>
            </a:pPr>
            <a:r>
              <a:rPr lang="zh-CN" altLang="en-US" sz="2800" b="1">
                <a:solidFill>
                  <a:srgbClr val="FF0000"/>
                </a:solidFill>
                <a:latin typeface="Calibri" panose="020F0502020204030204" pitchFamily="34" charset="0"/>
              </a:rPr>
              <a:t>工业企业</a:t>
            </a:r>
          </a:p>
          <a:p>
            <a:pPr eaLnBrk="1" latinLnBrk="1" hangingPunct="1">
              <a:lnSpc>
                <a:spcPct val="150000"/>
              </a:lnSpc>
              <a:buClr>
                <a:srgbClr val="2C3F71"/>
              </a:buClr>
            </a:pPr>
            <a:r>
              <a:rPr lang="zh-CN" altLang="en-US" sz="2000" b="1">
                <a:solidFill>
                  <a:srgbClr val="0000CC"/>
                </a:solidFill>
              </a:rPr>
              <a:t>工业企业</a:t>
            </a:r>
            <a:r>
              <a:rPr lang="zh-CN" altLang="en-US" sz="2000"/>
              <a:t>：为社会提供用户所需的工业产品（包括工业劳务），同时要求以较少的投入取得较多的产出，以期取得必要的经济效益和社会效益。</a:t>
            </a:r>
          </a:p>
          <a:p>
            <a:pPr eaLnBrk="1" latinLnBrk="1" hangingPunct="1">
              <a:lnSpc>
                <a:spcPct val="150000"/>
              </a:lnSpc>
              <a:buClr>
                <a:srgbClr val="2C3F71"/>
              </a:buClr>
            </a:pPr>
            <a:r>
              <a:rPr lang="zh-CN" altLang="en-US" sz="2000"/>
              <a:t>根据投入物的供求联系和劳动对象的性质，</a:t>
            </a:r>
            <a:r>
              <a:rPr lang="zh-CN" altLang="en-US" sz="2000" b="1">
                <a:solidFill>
                  <a:srgbClr val="0000CC"/>
                </a:solidFill>
              </a:rPr>
              <a:t>工业企业可以分为</a:t>
            </a:r>
            <a:r>
              <a:rPr lang="en-US" altLang="zh-CN" sz="2000" b="1">
                <a:solidFill>
                  <a:srgbClr val="0000CC"/>
                </a:solidFill>
              </a:rPr>
              <a:t>3</a:t>
            </a:r>
            <a:r>
              <a:rPr lang="zh-CN" altLang="en-US" sz="2000" b="1">
                <a:solidFill>
                  <a:srgbClr val="0000CC"/>
                </a:solidFill>
              </a:rPr>
              <a:t>类</a:t>
            </a:r>
            <a:r>
              <a:rPr lang="zh-CN" altLang="en-US" sz="2000"/>
              <a:t>：</a:t>
            </a:r>
          </a:p>
          <a:p>
            <a:pPr lvl="1" eaLnBrk="1" latinLnBrk="1" hangingPunct="1">
              <a:lnSpc>
                <a:spcPct val="150000"/>
              </a:lnSpc>
              <a:buClr>
                <a:srgbClr val="2C3F71"/>
              </a:buClr>
            </a:pPr>
            <a:r>
              <a:rPr lang="zh-CN" altLang="en-US" sz="1800" b="1"/>
              <a:t>采掘业</a:t>
            </a:r>
            <a:r>
              <a:rPr lang="zh-CN" altLang="en-US" sz="1800"/>
              <a:t>：从自然资源中得到物料进行生产加工的过程，如采矿、采煤、石油工业，一般要投入大量资金，对物料储运比较关心；</a:t>
            </a:r>
          </a:p>
          <a:p>
            <a:pPr lvl="1" eaLnBrk="1" latinLnBrk="1" hangingPunct="1">
              <a:lnSpc>
                <a:spcPct val="150000"/>
              </a:lnSpc>
              <a:buClr>
                <a:srgbClr val="2C3F71"/>
              </a:buClr>
            </a:pPr>
            <a:r>
              <a:rPr lang="zh-CN" altLang="en-US" sz="1800" b="1"/>
              <a:t>冶炼业</a:t>
            </a:r>
            <a:r>
              <a:rPr lang="zh-CN" altLang="en-US" sz="1800"/>
              <a:t>：对采掘业的产品进行加工，改变物料化学特性的生产过程，流程式生产或大批量生产；</a:t>
            </a:r>
          </a:p>
          <a:p>
            <a:pPr lvl="1" eaLnBrk="1" latinLnBrk="1" hangingPunct="1">
              <a:lnSpc>
                <a:spcPct val="150000"/>
              </a:lnSpc>
              <a:buClr>
                <a:srgbClr val="2C3F71"/>
              </a:buClr>
            </a:pPr>
            <a:r>
              <a:rPr lang="zh-CN" altLang="en-US" sz="1800" b="1"/>
              <a:t>制造业</a:t>
            </a:r>
            <a:r>
              <a:rPr lang="zh-CN" altLang="en-US" sz="1800"/>
              <a:t>：冶炼业的产品进行再加工，改变物料的物理形式，如机械零件的加工或装配。</a:t>
            </a:r>
          </a:p>
        </p:txBody>
      </p:sp>
      <p:sp>
        <p:nvSpPr>
          <p:cNvPr id="5" name="Text Box 9"/>
          <p:cNvSpPr txBox="1">
            <a:spLocks noChangeArrowheads="1"/>
          </p:cNvSpPr>
          <p:nvPr/>
        </p:nvSpPr>
        <p:spPr bwMode="auto">
          <a:xfrm>
            <a:off x="762000" y="87313"/>
            <a:ext cx="2028825"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defRPr/>
            </a:pPr>
            <a:r>
              <a:rPr lang="en-US" altLang="zh-CN" sz="1800" b="1" dirty="0">
                <a:solidFill>
                  <a:srgbClr val="FFFF00"/>
                </a:solidFill>
                <a:effectLst>
                  <a:outerShdw blurRad="38100" dist="38100" dir="2700000" algn="tl">
                    <a:srgbClr val="000000">
                      <a:alpha val="43137"/>
                    </a:srgbClr>
                  </a:outerShdw>
                </a:effectLst>
              </a:rPr>
              <a:t>2.1 </a:t>
            </a:r>
            <a:r>
              <a:rPr lang="zh-CN" altLang="en-US" sz="1800" b="1" dirty="0">
                <a:solidFill>
                  <a:srgbClr val="FFFF00"/>
                </a:solidFill>
                <a:effectLst>
                  <a:outerShdw blurRad="38100" dist="38100" dir="2700000" algn="tl">
                    <a:srgbClr val="000000">
                      <a:alpha val="43137"/>
                    </a:srgbClr>
                  </a:outerShdw>
                </a:effectLst>
              </a:rPr>
              <a:t>企业</a:t>
            </a:r>
            <a:r>
              <a:rPr lang="en-US" altLang="zh-CN" sz="1800" b="1" dirty="0">
                <a:solidFill>
                  <a:srgbClr val="FFFF00"/>
                </a:solidFill>
                <a:effectLst>
                  <a:outerShdw blurRad="38100" dist="38100" dir="2700000" algn="tl">
                    <a:srgbClr val="000000">
                      <a:alpha val="43137"/>
                    </a:srgbClr>
                  </a:outerShdw>
                </a:effectLst>
              </a:rPr>
              <a:t>/</a:t>
            </a:r>
            <a:r>
              <a:rPr lang="zh-CN" altLang="en-US" sz="1800" b="1" dirty="0">
                <a:solidFill>
                  <a:srgbClr val="FFFF00"/>
                </a:solidFill>
                <a:effectLst>
                  <a:outerShdw blurRad="38100" dist="38100" dir="2700000" algn="tl">
                    <a:srgbClr val="000000">
                      <a:alpha val="43137"/>
                    </a:srgbClr>
                  </a:outerShdw>
                </a:effectLst>
              </a:rPr>
              <a:t>社会组织</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123">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123">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5123">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5123">
                                            <p:txEl>
                                              <p:pRg st="4" end="4"/>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512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内容占位符 8"/>
          <p:cNvSpPr>
            <a:spLocks/>
          </p:cNvSpPr>
          <p:nvPr/>
        </p:nvSpPr>
        <p:spPr bwMode="auto">
          <a:xfrm>
            <a:off x="381000" y="908050"/>
            <a:ext cx="8305800" cy="518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latinLnBrk="1" hangingPunct="1">
              <a:lnSpc>
                <a:spcPct val="150000"/>
              </a:lnSpc>
              <a:buClr>
                <a:srgbClr val="2C3F71"/>
              </a:buClr>
            </a:pPr>
            <a:r>
              <a:rPr lang="zh-CN" altLang="en-US" sz="2800" b="1">
                <a:solidFill>
                  <a:srgbClr val="FF0000"/>
                </a:solidFill>
                <a:latin typeface="Calibri" panose="020F0502020204030204" pitchFamily="34" charset="0"/>
              </a:rPr>
              <a:t>工业企业</a:t>
            </a:r>
          </a:p>
          <a:p>
            <a:pPr eaLnBrk="1" latinLnBrk="1" hangingPunct="1">
              <a:lnSpc>
                <a:spcPct val="150000"/>
              </a:lnSpc>
              <a:buClr>
                <a:srgbClr val="2C3F71"/>
              </a:buClr>
            </a:pPr>
            <a:r>
              <a:rPr lang="zh-CN" altLang="en-US" sz="2400"/>
              <a:t>工业企业的生产经营活动：工业企业在一系列的生产经营活动中实现自己的基本任务。</a:t>
            </a:r>
          </a:p>
          <a:p>
            <a:pPr lvl="1" eaLnBrk="1" latinLnBrk="1" hangingPunct="1">
              <a:lnSpc>
                <a:spcPct val="150000"/>
              </a:lnSpc>
              <a:buClr>
                <a:srgbClr val="2C3F71"/>
              </a:buClr>
            </a:pPr>
            <a:r>
              <a:rPr lang="zh-CN" altLang="en-US" sz="2000"/>
              <a:t>制定经营方针和目标</a:t>
            </a:r>
          </a:p>
          <a:p>
            <a:pPr lvl="1" eaLnBrk="1" latinLnBrk="1" hangingPunct="1">
              <a:lnSpc>
                <a:spcPct val="150000"/>
              </a:lnSpc>
              <a:buClr>
                <a:srgbClr val="2C3F71"/>
              </a:buClr>
            </a:pPr>
            <a:r>
              <a:rPr lang="zh-CN" altLang="en-US" sz="2000"/>
              <a:t>技术活动</a:t>
            </a:r>
          </a:p>
          <a:p>
            <a:pPr lvl="1" eaLnBrk="1" latinLnBrk="1" hangingPunct="1">
              <a:lnSpc>
                <a:spcPct val="150000"/>
              </a:lnSpc>
              <a:buClr>
                <a:srgbClr val="2C3F71"/>
              </a:buClr>
            </a:pPr>
            <a:r>
              <a:rPr lang="zh-CN" altLang="en-US" sz="2000"/>
              <a:t>供应活动</a:t>
            </a:r>
          </a:p>
          <a:p>
            <a:pPr lvl="1" eaLnBrk="1" latinLnBrk="1" hangingPunct="1">
              <a:lnSpc>
                <a:spcPct val="150000"/>
              </a:lnSpc>
              <a:buClr>
                <a:srgbClr val="2C3F71"/>
              </a:buClr>
            </a:pPr>
            <a:r>
              <a:rPr lang="zh-CN" altLang="en-US" sz="2000"/>
              <a:t>生产活动</a:t>
            </a:r>
          </a:p>
          <a:p>
            <a:pPr lvl="1" eaLnBrk="1" latinLnBrk="1" hangingPunct="1">
              <a:lnSpc>
                <a:spcPct val="150000"/>
              </a:lnSpc>
              <a:buClr>
                <a:srgbClr val="2C3F71"/>
              </a:buClr>
            </a:pPr>
            <a:r>
              <a:rPr lang="zh-CN" altLang="en-US" sz="2000"/>
              <a:t>销售活动</a:t>
            </a:r>
          </a:p>
          <a:p>
            <a:pPr lvl="1" eaLnBrk="1" latinLnBrk="1" hangingPunct="1">
              <a:lnSpc>
                <a:spcPct val="150000"/>
              </a:lnSpc>
              <a:buClr>
                <a:srgbClr val="2C3F71"/>
              </a:buClr>
            </a:pPr>
            <a:r>
              <a:rPr lang="zh-CN" altLang="en-US" sz="2000"/>
              <a:t>财务活动</a:t>
            </a:r>
          </a:p>
        </p:txBody>
      </p:sp>
      <p:sp>
        <p:nvSpPr>
          <p:cNvPr id="5" name="Text Box 9"/>
          <p:cNvSpPr txBox="1">
            <a:spLocks noChangeArrowheads="1"/>
          </p:cNvSpPr>
          <p:nvPr/>
        </p:nvSpPr>
        <p:spPr bwMode="auto">
          <a:xfrm>
            <a:off x="762000" y="87313"/>
            <a:ext cx="2028825"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defRPr/>
            </a:pPr>
            <a:r>
              <a:rPr lang="en-US" altLang="zh-CN" sz="1800" b="1" dirty="0">
                <a:solidFill>
                  <a:srgbClr val="FFFF00"/>
                </a:solidFill>
                <a:effectLst>
                  <a:outerShdw blurRad="38100" dist="38100" dir="2700000" algn="tl">
                    <a:srgbClr val="000000">
                      <a:alpha val="43137"/>
                    </a:srgbClr>
                  </a:outerShdw>
                </a:effectLst>
              </a:rPr>
              <a:t>2.1 </a:t>
            </a:r>
            <a:r>
              <a:rPr lang="zh-CN" altLang="en-US" sz="1800" b="1" dirty="0">
                <a:solidFill>
                  <a:srgbClr val="FFFF00"/>
                </a:solidFill>
                <a:effectLst>
                  <a:outerShdw blurRad="38100" dist="38100" dir="2700000" algn="tl">
                    <a:srgbClr val="000000">
                      <a:alpha val="43137"/>
                    </a:srgbClr>
                  </a:outerShdw>
                </a:effectLst>
              </a:rPr>
              <a:t>企业</a:t>
            </a:r>
            <a:r>
              <a:rPr lang="en-US" altLang="zh-CN" sz="1800" b="1" dirty="0">
                <a:solidFill>
                  <a:srgbClr val="FFFF00"/>
                </a:solidFill>
                <a:effectLst>
                  <a:outerShdw blurRad="38100" dist="38100" dir="2700000" algn="tl">
                    <a:srgbClr val="000000">
                      <a:alpha val="43137"/>
                    </a:srgbClr>
                  </a:outerShdw>
                </a:effectLst>
              </a:rPr>
              <a:t>/</a:t>
            </a:r>
            <a:r>
              <a:rPr lang="zh-CN" altLang="en-US" sz="1800" b="1" dirty="0">
                <a:solidFill>
                  <a:srgbClr val="FFFF00"/>
                </a:solidFill>
                <a:effectLst>
                  <a:outerShdw blurRad="38100" dist="38100" dir="2700000" algn="tl">
                    <a:srgbClr val="000000">
                      <a:alpha val="43137"/>
                    </a:srgbClr>
                  </a:outerShdw>
                </a:effectLst>
              </a:rPr>
              <a:t>社会组织</a:t>
            </a:r>
          </a:p>
        </p:txBody>
      </p:sp>
      <p:grpSp>
        <p:nvGrpSpPr>
          <p:cNvPr id="6" name="组合 5"/>
          <p:cNvGrpSpPr>
            <a:grpSpLocks/>
          </p:cNvGrpSpPr>
          <p:nvPr/>
        </p:nvGrpSpPr>
        <p:grpSpPr bwMode="auto">
          <a:xfrm>
            <a:off x="2555875" y="4581525"/>
            <a:ext cx="3455988" cy="1223963"/>
            <a:chOff x="2555776" y="4581128"/>
            <a:chExt cx="3456384" cy="1224136"/>
          </a:xfrm>
        </p:grpSpPr>
        <p:sp>
          <p:nvSpPr>
            <p:cNvPr id="2" name="右大括号 1"/>
            <p:cNvSpPr/>
            <p:nvPr/>
          </p:nvSpPr>
          <p:spPr>
            <a:xfrm>
              <a:off x="2555776" y="4581128"/>
              <a:ext cx="215925" cy="1224136"/>
            </a:xfrm>
            <a:prstGeom prst="rightBrace">
              <a:avLst>
                <a:gd name="adj1" fmla="val 8333"/>
                <a:gd name="adj2" fmla="val 48997"/>
              </a:avLst>
            </a:prstGeom>
            <a:ln w="28575">
              <a:solidFill>
                <a:srgbClr val="0070C0"/>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a:p>
          </p:txBody>
        </p:sp>
        <p:sp>
          <p:nvSpPr>
            <p:cNvPr id="3" name="右箭头 2"/>
            <p:cNvSpPr/>
            <p:nvPr/>
          </p:nvSpPr>
          <p:spPr>
            <a:xfrm>
              <a:off x="2862199" y="4941542"/>
              <a:ext cx="341351" cy="503308"/>
            </a:xfrm>
            <a:prstGeom prst="rightArrow">
              <a:avLst/>
            </a:prstGeom>
            <a:solidFill>
              <a:srgbClr val="CCFFCC"/>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4" name="文本框 3"/>
            <p:cNvSpPr txBox="1"/>
            <p:nvPr/>
          </p:nvSpPr>
          <p:spPr>
            <a:xfrm>
              <a:off x="3287698" y="5008226"/>
              <a:ext cx="2724462" cy="369939"/>
            </a:xfrm>
            <a:prstGeom prst="rect">
              <a:avLst/>
            </a:prstGeom>
            <a:solidFill>
              <a:srgbClr val="CCFFFF"/>
            </a:solidFill>
            <a:ln>
              <a:solidFill>
                <a:schemeClr val="accent1"/>
              </a:solidFill>
            </a:ln>
          </p:spPr>
          <p:txBody>
            <a:bodyPr wrap="none">
              <a:spAutoFit/>
            </a:bodyPr>
            <a:lstStyle/>
            <a:p>
              <a:pPr>
                <a:defRPr/>
              </a:pPr>
              <a:r>
                <a:rPr lang="zh-CN" altLang="en-US" b="1" dirty="0">
                  <a:effectLst>
                    <a:outerShdw blurRad="38100" dist="38100" dir="2700000" algn="tl">
                      <a:srgbClr val="000000">
                        <a:alpha val="43137"/>
                      </a:srgbClr>
                    </a:outerShdw>
                  </a:effectLst>
                </a:rPr>
                <a:t>所有社会组织的核心职能</a:t>
              </a:r>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123">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123">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5123">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5123">
                                            <p:txEl>
                                              <p:pRg st="4" end="4"/>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5123">
                                            <p:txEl>
                                              <p:pRg st="5" end="5"/>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5123">
                                            <p:txEl>
                                              <p:pRg st="6" end="6"/>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5123">
                                            <p:txEl>
                                              <p:pRg st="7" end="7"/>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2" presetClass="entr" presetSubtype="8" fill="hold" nodeType="clickEffect">
                                  <p:stCondLst>
                                    <p:cond delay="0"/>
                                  </p:stCondLst>
                                  <p:childTnLst>
                                    <p:set>
                                      <p:cBhvr>
                                        <p:cTn id="34" dur="1" fill="hold">
                                          <p:stCondLst>
                                            <p:cond delay="0"/>
                                          </p:stCondLst>
                                        </p:cTn>
                                        <p:tgtEl>
                                          <p:spTgt spid="6"/>
                                        </p:tgtEl>
                                        <p:attrNameLst>
                                          <p:attrName>style.visibility</p:attrName>
                                        </p:attrNameLst>
                                      </p:cBhvr>
                                      <p:to>
                                        <p:strVal val="visible"/>
                                      </p:to>
                                    </p:set>
                                    <p:anim calcmode="lin" valueType="num">
                                      <p:cBhvr additive="base">
                                        <p:cTn id="35" dur="500" fill="hold"/>
                                        <p:tgtEl>
                                          <p:spTgt spid="6"/>
                                        </p:tgtEl>
                                        <p:attrNameLst>
                                          <p:attrName>ppt_x</p:attrName>
                                        </p:attrNameLst>
                                      </p:cBhvr>
                                      <p:tavLst>
                                        <p:tav tm="0">
                                          <p:val>
                                            <p:strVal val="0-#ppt_w/2"/>
                                          </p:val>
                                        </p:tav>
                                        <p:tav tm="100000">
                                          <p:val>
                                            <p:strVal val="#ppt_x"/>
                                          </p:val>
                                        </p:tav>
                                      </p:tavLst>
                                    </p:anim>
                                    <p:anim calcmode="lin" valueType="num">
                                      <p:cBhvr additive="base">
                                        <p:cTn id="36"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内容占位符 8"/>
          <p:cNvSpPr>
            <a:spLocks/>
          </p:cNvSpPr>
          <p:nvPr/>
        </p:nvSpPr>
        <p:spPr bwMode="auto">
          <a:xfrm>
            <a:off x="419100" y="908050"/>
            <a:ext cx="8305800" cy="518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latinLnBrk="1" hangingPunct="1">
              <a:lnSpc>
                <a:spcPct val="150000"/>
              </a:lnSpc>
              <a:buClr>
                <a:srgbClr val="2C3F71"/>
              </a:buClr>
            </a:pPr>
            <a:r>
              <a:rPr lang="zh-CN" altLang="en-US" sz="2800" b="1">
                <a:solidFill>
                  <a:srgbClr val="FF0000"/>
                </a:solidFill>
                <a:latin typeface="Calibri" panose="020F0502020204030204" pitchFamily="34" charset="0"/>
              </a:rPr>
              <a:t>生产运作系统</a:t>
            </a:r>
            <a:r>
              <a:rPr lang="en-US" altLang="zh-CN" sz="2800" b="1">
                <a:solidFill>
                  <a:srgbClr val="FF0000"/>
                </a:solidFill>
                <a:latin typeface="Calibri" panose="020F0502020204030204" pitchFamily="34" charset="0"/>
              </a:rPr>
              <a:t>-Production and Operations System</a:t>
            </a:r>
            <a:endParaRPr lang="zh-CN" altLang="en-US" sz="2800" b="1">
              <a:solidFill>
                <a:srgbClr val="FF0000"/>
              </a:solidFill>
              <a:latin typeface="Calibri" panose="020F0502020204030204" pitchFamily="34" charset="0"/>
            </a:endParaRPr>
          </a:p>
        </p:txBody>
      </p:sp>
      <p:sp>
        <p:nvSpPr>
          <p:cNvPr id="5" name="Text Box 9"/>
          <p:cNvSpPr txBox="1">
            <a:spLocks noChangeArrowheads="1"/>
          </p:cNvSpPr>
          <p:nvPr/>
        </p:nvSpPr>
        <p:spPr bwMode="auto">
          <a:xfrm>
            <a:off x="762000" y="87313"/>
            <a:ext cx="2028825"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defRPr/>
            </a:pPr>
            <a:r>
              <a:rPr lang="en-US" altLang="zh-CN" sz="1800" b="1" dirty="0">
                <a:solidFill>
                  <a:srgbClr val="FFFF00"/>
                </a:solidFill>
                <a:effectLst>
                  <a:outerShdw blurRad="38100" dist="38100" dir="2700000" algn="tl">
                    <a:srgbClr val="000000">
                      <a:alpha val="43137"/>
                    </a:srgbClr>
                  </a:outerShdw>
                </a:effectLst>
              </a:rPr>
              <a:t>2.1 </a:t>
            </a:r>
            <a:r>
              <a:rPr lang="zh-CN" altLang="en-US" sz="1800" b="1" dirty="0">
                <a:solidFill>
                  <a:srgbClr val="FFFF00"/>
                </a:solidFill>
                <a:effectLst>
                  <a:outerShdw blurRad="38100" dist="38100" dir="2700000" algn="tl">
                    <a:srgbClr val="000000">
                      <a:alpha val="43137"/>
                    </a:srgbClr>
                  </a:outerShdw>
                </a:effectLst>
              </a:rPr>
              <a:t>企业</a:t>
            </a:r>
            <a:r>
              <a:rPr lang="en-US" altLang="zh-CN" sz="1800" b="1" dirty="0">
                <a:solidFill>
                  <a:srgbClr val="FFFF00"/>
                </a:solidFill>
                <a:effectLst>
                  <a:outerShdw blurRad="38100" dist="38100" dir="2700000" algn="tl">
                    <a:srgbClr val="000000">
                      <a:alpha val="43137"/>
                    </a:srgbClr>
                  </a:outerShdw>
                </a:effectLst>
              </a:rPr>
              <a:t>/</a:t>
            </a:r>
            <a:r>
              <a:rPr lang="zh-CN" altLang="en-US" sz="1800" b="1" dirty="0">
                <a:solidFill>
                  <a:srgbClr val="FFFF00"/>
                </a:solidFill>
                <a:effectLst>
                  <a:outerShdw blurRad="38100" dist="38100" dir="2700000" algn="tl">
                    <a:srgbClr val="000000">
                      <a:alpha val="43137"/>
                    </a:srgbClr>
                  </a:outerShdw>
                </a:effectLst>
              </a:rPr>
              <a:t>社会组织</a:t>
            </a:r>
          </a:p>
        </p:txBody>
      </p:sp>
      <p:grpSp>
        <p:nvGrpSpPr>
          <p:cNvPr id="14340" name="Group 4"/>
          <p:cNvGrpSpPr>
            <a:grpSpLocks/>
          </p:cNvGrpSpPr>
          <p:nvPr/>
        </p:nvGrpSpPr>
        <p:grpSpPr bwMode="auto">
          <a:xfrm>
            <a:off x="381000" y="1916113"/>
            <a:ext cx="8305800" cy="4114800"/>
            <a:chOff x="0" y="0"/>
            <a:chExt cx="7920" cy="3415"/>
          </a:xfrm>
        </p:grpSpPr>
        <p:sp>
          <p:nvSpPr>
            <p:cNvPr id="26630" name="AutoShape 5"/>
            <p:cNvSpPr>
              <a:spLocks noChangeAspect="1" noChangeArrowheads="1"/>
            </p:cNvSpPr>
            <p:nvPr/>
          </p:nvSpPr>
          <p:spPr bwMode="auto">
            <a:xfrm>
              <a:off x="0" y="0"/>
              <a:ext cx="7920" cy="34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endParaRPr lang="zh-CN" altLang="en-US" sz="1800">
                <a:latin typeface="Calibri" panose="020F0502020204030204" pitchFamily="34" charset="0"/>
              </a:endParaRPr>
            </a:p>
          </p:txBody>
        </p:sp>
        <p:sp>
          <p:nvSpPr>
            <p:cNvPr id="26631" name="Rectangle 6"/>
            <p:cNvSpPr>
              <a:spLocks noChangeArrowheads="1"/>
            </p:cNvSpPr>
            <p:nvPr/>
          </p:nvSpPr>
          <p:spPr bwMode="auto">
            <a:xfrm>
              <a:off x="3253" y="1205"/>
              <a:ext cx="1220" cy="457"/>
            </a:xfrm>
            <a:prstGeom prst="rect">
              <a:avLst/>
            </a:prstGeom>
            <a:solidFill>
              <a:srgbClr val="92D050"/>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00007D"/>
                    </a:outerShdw>
                  </a:effectLst>
                </a14:hiddenEffects>
              </a:ext>
            </a:extLst>
          </p:spPr>
          <p:txBody>
            <a:bodyPr lIns="58522" tIns="29261" rIns="58522" bIns="29261"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zh-CN" altLang="en-US" sz="1800">
                  <a:solidFill>
                    <a:srgbClr val="000000"/>
                  </a:solidFill>
                  <a:latin typeface="Times New Roman" panose="02020603050405020304" pitchFamily="18" charset="0"/>
                </a:rPr>
                <a:t>转换过程</a:t>
              </a:r>
              <a:endParaRPr lang="zh-CN" altLang="en-US" sz="1800">
                <a:latin typeface="Calibri" panose="020F0502020204030204" pitchFamily="34" charset="0"/>
              </a:endParaRPr>
            </a:p>
          </p:txBody>
        </p:sp>
        <p:sp>
          <p:nvSpPr>
            <p:cNvPr id="26632" name="Rectangle 7"/>
            <p:cNvSpPr>
              <a:spLocks noChangeArrowheads="1"/>
            </p:cNvSpPr>
            <p:nvPr/>
          </p:nvSpPr>
          <p:spPr bwMode="auto">
            <a:xfrm>
              <a:off x="1272" y="1205"/>
              <a:ext cx="914" cy="457"/>
            </a:xfrm>
            <a:prstGeom prst="rect">
              <a:avLst/>
            </a:prstGeom>
            <a:solidFill>
              <a:srgbClr val="92D050"/>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00007D"/>
                    </a:outerShdw>
                  </a:effectLst>
                </a14:hiddenEffects>
              </a:ext>
            </a:extLst>
          </p:spPr>
          <p:txBody>
            <a:bodyPr lIns="58522" tIns="29261" rIns="58522" bIns="29261"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zh-CN" altLang="en-US" sz="1800">
                  <a:solidFill>
                    <a:srgbClr val="000000"/>
                  </a:solidFill>
                  <a:latin typeface="Times New Roman" panose="02020603050405020304" pitchFamily="18" charset="0"/>
                </a:rPr>
                <a:t>投入</a:t>
              </a:r>
              <a:endParaRPr lang="zh-CN" altLang="en-US" sz="1800">
                <a:latin typeface="Calibri" panose="020F0502020204030204" pitchFamily="34" charset="0"/>
              </a:endParaRPr>
            </a:p>
          </p:txBody>
        </p:sp>
        <p:sp>
          <p:nvSpPr>
            <p:cNvPr id="26633" name="Rectangle 8"/>
            <p:cNvSpPr>
              <a:spLocks noChangeArrowheads="1"/>
            </p:cNvSpPr>
            <p:nvPr/>
          </p:nvSpPr>
          <p:spPr bwMode="auto">
            <a:xfrm>
              <a:off x="5539" y="1205"/>
              <a:ext cx="915" cy="457"/>
            </a:xfrm>
            <a:prstGeom prst="rect">
              <a:avLst/>
            </a:prstGeom>
            <a:solidFill>
              <a:srgbClr val="92D050"/>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00007D"/>
                    </a:outerShdw>
                  </a:effectLst>
                </a14:hiddenEffects>
              </a:ext>
            </a:extLst>
          </p:spPr>
          <p:txBody>
            <a:bodyPr lIns="58522" tIns="29261" rIns="58522" bIns="29261"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zh-CN" altLang="en-US" sz="1800">
                  <a:solidFill>
                    <a:srgbClr val="000000"/>
                  </a:solidFill>
                  <a:latin typeface="Times New Roman" panose="02020603050405020304" pitchFamily="18" charset="0"/>
                </a:rPr>
                <a:t>产出</a:t>
              </a:r>
              <a:endParaRPr lang="zh-CN" altLang="en-US" sz="1800">
                <a:latin typeface="Calibri" panose="020F0502020204030204" pitchFamily="34" charset="0"/>
              </a:endParaRPr>
            </a:p>
          </p:txBody>
        </p:sp>
        <p:cxnSp>
          <p:nvCxnSpPr>
            <p:cNvPr id="26634" name="AutoShape 9"/>
            <p:cNvCxnSpPr>
              <a:cxnSpLocks noChangeShapeType="1"/>
              <a:stCxn id="26632" idx="3"/>
              <a:endCxn id="26631" idx="1"/>
            </p:cNvCxnSpPr>
            <p:nvPr/>
          </p:nvCxnSpPr>
          <p:spPr bwMode="auto">
            <a:xfrm>
              <a:off x="2186" y="1434"/>
              <a:ext cx="1067" cy="0"/>
            </a:xfrm>
            <a:prstGeom prst="straightConnector1">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00007D"/>
                    </a:outerShdw>
                  </a:effectLst>
                </a14:hiddenEffects>
              </a:ext>
            </a:extLst>
          </p:spPr>
        </p:cxnSp>
        <p:cxnSp>
          <p:nvCxnSpPr>
            <p:cNvPr id="26635" name="AutoShape 10"/>
            <p:cNvCxnSpPr>
              <a:cxnSpLocks noChangeShapeType="1"/>
            </p:cNvCxnSpPr>
            <p:nvPr/>
          </p:nvCxnSpPr>
          <p:spPr bwMode="auto">
            <a:xfrm>
              <a:off x="4473" y="1434"/>
              <a:ext cx="1066" cy="0"/>
            </a:xfrm>
            <a:prstGeom prst="straightConnector1">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00007D"/>
                    </a:outerShdw>
                  </a:effectLst>
                </a14:hiddenEffects>
              </a:ext>
            </a:extLst>
          </p:spPr>
        </p:cxnSp>
        <p:sp>
          <p:nvSpPr>
            <p:cNvPr id="26636" name="Text Box 11"/>
            <p:cNvSpPr txBox="1">
              <a:spLocks noChangeArrowheads="1"/>
            </p:cNvSpPr>
            <p:nvPr/>
          </p:nvSpPr>
          <p:spPr bwMode="auto">
            <a:xfrm>
              <a:off x="3913" y="1739"/>
              <a:ext cx="642" cy="366"/>
            </a:xfrm>
            <a:prstGeom prst="rect">
              <a:avLst/>
            </a:prstGeom>
            <a:noFill/>
            <a:ln>
              <a:noFill/>
            </a:ln>
            <a:effectLst/>
            <a:extLst>
              <a:ext uri="{909E8E84-426E-40DD-AFC4-6F175D3DCCD1}">
                <a14:hiddenFill xmlns:a14="http://schemas.microsoft.com/office/drawing/2010/main">
                  <a:solidFill>
                    <a:srgbClr val="9999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7D"/>
                    </a:outerShdw>
                  </a:effectLst>
                </a14:hiddenEffects>
              </a:ext>
            </a:extLst>
          </p:spPr>
          <p:txBody>
            <a:bodyPr lIns="58522" tIns="29261" rIns="58522" bIns="29261"/>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just">
                <a:spcBef>
                  <a:spcPct val="0"/>
                </a:spcBef>
                <a:buClrTx/>
                <a:buSzTx/>
                <a:buFontTx/>
                <a:buNone/>
              </a:pPr>
              <a:r>
                <a:rPr lang="zh-CN" altLang="en-US" sz="1800">
                  <a:solidFill>
                    <a:srgbClr val="000000"/>
                  </a:solidFill>
                  <a:latin typeface="Times New Roman" panose="02020603050405020304" pitchFamily="18" charset="0"/>
                </a:rPr>
                <a:t>反馈</a:t>
              </a:r>
              <a:endParaRPr lang="zh-CN" altLang="en-US" sz="1800">
                <a:latin typeface="Calibri" panose="020F0502020204030204" pitchFamily="34" charset="0"/>
              </a:endParaRPr>
            </a:p>
          </p:txBody>
        </p:sp>
        <p:sp>
          <p:nvSpPr>
            <p:cNvPr id="26637" name="Text Box 12"/>
            <p:cNvSpPr txBox="1">
              <a:spLocks noChangeArrowheads="1"/>
            </p:cNvSpPr>
            <p:nvPr/>
          </p:nvSpPr>
          <p:spPr bwMode="auto">
            <a:xfrm>
              <a:off x="1043" y="1624"/>
              <a:ext cx="591" cy="1652"/>
            </a:xfrm>
            <a:prstGeom prst="rect">
              <a:avLst/>
            </a:prstGeom>
            <a:noFill/>
            <a:ln>
              <a:noFill/>
            </a:ln>
            <a:effectLst/>
            <a:extLst>
              <a:ext uri="{909E8E84-426E-40DD-AFC4-6F175D3DCCD1}">
                <a14:hiddenFill xmlns:a14="http://schemas.microsoft.com/office/drawing/2010/main">
                  <a:solidFill>
                    <a:srgbClr val="9999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7D"/>
                    </a:outerShdw>
                  </a:effectLst>
                </a14:hiddenEffects>
              </a:ext>
            </a:extLst>
          </p:spPr>
          <p:txBody>
            <a:bodyPr lIns="58522" tIns="29261" rIns="58522" bIns="29261"/>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just">
                <a:spcBef>
                  <a:spcPct val="0"/>
                </a:spcBef>
                <a:buClrTx/>
                <a:buSzTx/>
                <a:buFontTx/>
                <a:buNone/>
              </a:pPr>
              <a:r>
                <a:rPr lang="zh-CN" altLang="en-US" sz="1800">
                  <a:solidFill>
                    <a:srgbClr val="000000"/>
                  </a:solidFill>
                  <a:latin typeface="Times New Roman" panose="02020603050405020304" pitchFamily="18" charset="0"/>
                </a:rPr>
                <a:t>土地</a:t>
              </a:r>
              <a:endParaRPr lang="zh-CN" altLang="en-US" sz="1800">
                <a:solidFill>
                  <a:srgbClr val="000000"/>
                </a:solidFill>
                <a:latin typeface="宋体" panose="02010600030101010101" pitchFamily="2" charset="-122"/>
              </a:endParaRPr>
            </a:p>
            <a:p>
              <a:pPr algn="just">
                <a:spcBef>
                  <a:spcPct val="0"/>
                </a:spcBef>
                <a:buClrTx/>
                <a:buSzTx/>
                <a:buFontTx/>
                <a:buNone/>
              </a:pPr>
              <a:r>
                <a:rPr lang="zh-CN" altLang="en-US" sz="1800">
                  <a:solidFill>
                    <a:srgbClr val="000000"/>
                  </a:solidFill>
                  <a:latin typeface="Times New Roman" panose="02020603050405020304" pitchFamily="18" charset="0"/>
                </a:rPr>
                <a:t>劳动</a:t>
              </a:r>
              <a:endParaRPr lang="zh-CN" altLang="en-US" sz="1800">
                <a:solidFill>
                  <a:srgbClr val="000000"/>
                </a:solidFill>
                <a:latin typeface="宋体" panose="02010600030101010101" pitchFamily="2" charset="-122"/>
              </a:endParaRPr>
            </a:p>
            <a:p>
              <a:pPr algn="just">
                <a:spcBef>
                  <a:spcPct val="0"/>
                </a:spcBef>
                <a:buClrTx/>
                <a:buSzTx/>
                <a:buFontTx/>
                <a:buNone/>
              </a:pPr>
              <a:r>
                <a:rPr lang="zh-CN" altLang="en-US" sz="1800">
                  <a:solidFill>
                    <a:srgbClr val="000000"/>
                  </a:solidFill>
                  <a:latin typeface="Times New Roman" panose="02020603050405020304" pitchFamily="18" charset="0"/>
                </a:rPr>
                <a:t>资本</a:t>
              </a:r>
              <a:endParaRPr lang="zh-CN" altLang="en-US" sz="1800">
                <a:solidFill>
                  <a:srgbClr val="000000"/>
                </a:solidFill>
                <a:latin typeface="宋体" panose="02010600030101010101" pitchFamily="2" charset="-122"/>
              </a:endParaRPr>
            </a:p>
            <a:p>
              <a:pPr algn="just">
                <a:spcBef>
                  <a:spcPct val="0"/>
                </a:spcBef>
                <a:buClrTx/>
                <a:buSzTx/>
                <a:buFontTx/>
                <a:buNone/>
              </a:pPr>
              <a:r>
                <a:rPr lang="zh-CN" altLang="en-US" sz="1800">
                  <a:solidFill>
                    <a:srgbClr val="000000"/>
                  </a:solidFill>
                  <a:latin typeface="Times New Roman" panose="02020603050405020304" pitchFamily="18" charset="0"/>
                </a:rPr>
                <a:t>信息</a:t>
              </a:r>
              <a:endParaRPr lang="zh-CN" altLang="en-US" sz="1800">
                <a:latin typeface="Calibri" panose="020F0502020204030204" pitchFamily="34" charset="0"/>
              </a:endParaRPr>
            </a:p>
          </p:txBody>
        </p:sp>
        <p:sp>
          <p:nvSpPr>
            <p:cNvPr id="26638" name="Text Box 13"/>
            <p:cNvSpPr txBox="1">
              <a:spLocks noChangeArrowheads="1"/>
            </p:cNvSpPr>
            <p:nvPr/>
          </p:nvSpPr>
          <p:spPr bwMode="auto">
            <a:xfrm>
              <a:off x="5997" y="1624"/>
              <a:ext cx="590" cy="872"/>
            </a:xfrm>
            <a:prstGeom prst="rect">
              <a:avLst/>
            </a:prstGeom>
            <a:noFill/>
            <a:ln>
              <a:noFill/>
            </a:ln>
            <a:effectLst/>
            <a:extLst>
              <a:ext uri="{909E8E84-426E-40DD-AFC4-6F175D3DCCD1}">
                <a14:hiddenFill xmlns:a14="http://schemas.microsoft.com/office/drawing/2010/main">
                  <a:solidFill>
                    <a:srgbClr val="9999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7D"/>
                    </a:outerShdw>
                  </a:effectLst>
                </a14:hiddenEffects>
              </a:ext>
            </a:extLst>
          </p:spPr>
          <p:txBody>
            <a:bodyPr lIns="58522" tIns="29261" rIns="58522" bIns="29261"/>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just">
                <a:spcBef>
                  <a:spcPct val="0"/>
                </a:spcBef>
                <a:buClrTx/>
                <a:buSzTx/>
                <a:buFontTx/>
                <a:buNone/>
              </a:pPr>
              <a:r>
                <a:rPr lang="zh-CN" altLang="en-US" sz="1800">
                  <a:solidFill>
                    <a:srgbClr val="000000"/>
                  </a:solidFill>
                  <a:latin typeface="Times New Roman" panose="02020603050405020304" pitchFamily="18" charset="0"/>
                </a:rPr>
                <a:t>产品</a:t>
              </a:r>
              <a:endParaRPr lang="zh-CN" altLang="en-US" sz="1800">
                <a:solidFill>
                  <a:srgbClr val="000000"/>
                </a:solidFill>
                <a:latin typeface="宋体" panose="02010600030101010101" pitchFamily="2" charset="-122"/>
              </a:endParaRPr>
            </a:p>
            <a:p>
              <a:pPr algn="just">
                <a:spcBef>
                  <a:spcPct val="0"/>
                </a:spcBef>
                <a:buClrTx/>
                <a:buSzTx/>
                <a:buFontTx/>
                <a:buNone/>
              </a:pPr>
              <a:r>
                <a:rPr lang="zh-CN" altLang="en-US" sz="1800">
                  <a:solidFill>
                    <a:srgbClr val="000000"/>
                  </a:solidFill>
                  <a:latin typeface="Times New Roman" panose="02020603050405020304" pitchFamily="18" charset="0"/>
                </a:rPr>
                <a:t>服务</a:t>
              </a:r>
              <a:endParaRPr lang="zh-CN" altLang="en-US" sz="1800">
                <a:latin typeface="Calibri" panose="020F0502020204030204" pitchFamily="34" charset="0"/>
              </a:endParaRPr>
            </a:p>
          </p:txBody>
        </p:sp>
        <p:sp>
          <p:nvSpPr>
            <p:cNvPr id="26639" name="AutoShape 14"/>
            <p:cNvSpPr>
              <a:spLocks noChangeArrowheads="1"/>
            </p:cNvSpPr>
            <p:nvPr/>
          </p:nvSpPr>
          <p:spPr bwMode="auto">
            <a:xfrm>
              <a:off x="0" y="1016"/>
              <a:ext cx="815" cy="823"/>
            </a:xfrm>
            <a:prstGeom prst="roundRect">
              <a:avLst>
                <a:gd name="adj" fmla="val 16667"/>
              </a:avLst>
            </a:prstGeom>
            <a:solidFill>
              <a:srgbClr val="CCFFFF"/>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00007D"/>
                    </a:outerShdw>
                  </a:effectLst>
                </a14:hiddenEffects>
              </a:ext>
            </a:extLst>
          </p:spPr>
          <p:txBody>
            <a:bodyPr lIns="58522" tIns="29261" rIns="58522" bIns="29261"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zh-CN" altLang="en-US" sz="1800">
                  <a:solidFill>
                    <a:srgbClr val="000000"/>
                  </a:solidFill>
                  <a:latin typeface="Times New Roman" panose="02020603050405020304" pitchFamily="18" charset="0"/>
                </a:rPr>
                <a:t>各类供应商</a:t>
              </a:r>
              <a:endParaRPr lang="zh-CN" altLang="en-US" sz="1800">
                <a:latin typeface="Calibri" panose="020F0502020204030204" pitchFamily="34" charset="0"/>
              </a:endParaRPr>
            </a:p>
          </p:txBody>
        </p:sp>
        <p:sp>
          <p:nvSpPr>
            <p:cNvPr id="26640" name="AutoShape 15"/>
            <p:cNvSpPr>
              <a:spLocks noChangeArrowheads="1"/>
            </p:cNvSpPr>
            <p:nvPr/>
          </p:nvSpPr>
          <p:spPr bwMode="auto">
            <a:xfrm>
              <a:off x="7139" y="1016"/>
              <a:ext cx="781" cy="823"/>
            </a:xfrm>
            <a:prstGeom prst="roundRect">
              <a:avLst>
                <a:gd name="adj" fmla="val 16667"/>
              </a:avLst>
            </a:prstGeom>
            <a:solidFill>
              <a:srgbClr val="00B0F0"/>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00007D"/>
                    </a:outerShdw>
                  </a:effectLst>
                </a14:hiddenEffects>
              </a:ext>
            </a:extLst>
          </p:spPr>
          <p:txBody>
            <a:bodyPr lIns="58522" tIns="29261" rIns="58522" bIns="29261"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zh-CN" altLang="en-US" sz="1800">
                  <a:solidFill>
                    <a:srgbClr val="000000"/>
                  </a:solidFill>
                  <a:latin typeface="Times New Roman" panose="02020603050405020304" pitchFamily="18" charset="0"/>
                </a:rPr>
                <a:t>客户</a:t>
              </a:r>
              <a:r>
                <a:rPr lang="en-US" altLang="zh-CN" sz="1800">
                  <a:solidFill>
                    <a:srgbClr val="000000"/>
                  </a:solidFill>
                  <a:latin typeface="Times New Roman" panose="02020603050405020304" pitchFamily="18" charset="0"/>
                </a:rPr>
                <a:t>/</a:t>
              </a:r>
              <a:r>
                <a:rPr lang="zh-CN" altLang="en-US" sz="1800">
                  <a:solidFill>
                    <a:srgbClr val="000000"/>
                  </a:solidFill>
                  <a:latin typeface="Times New Roman" panose="02020603050405020304" pitchFamily="18" charset="0"/>
                </a:rPr>
                <a:t>市场</a:t>
              </a:r>
              <a:endParaRPr lang="zh-CN" altLang="en-US" sz="1800">
                <a:latin typeface="Calibri" panose="020F0502020204030204" pitchFamily="34" charset="0"/>
              </a:endParaRPr>
            </a:p>
          </p:txBody>
        </p:sp>
        <p:sp>
          <p:nvSpPr>
            <p:cNvPr id="26641" name="Line 16"/>
            <p:cNvSpPr>
              <a:spLocks noChangeShapeType="1"/>
            </p:cNvSpPr>
            <p:nvPr/>
          </p:nvSpPr>
          <p:spPr bwMode="auto">
            <a:xfrm>
              <a:off x="815" y="1434"/>
              <a:ext cx="457" cy="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00007D"/>
                    </a:outerShdw>
                  </a:effectLst>
                </a14:hiddenEffects>
              </a:ext>
            </a:extLst>
          </p:spPr>
          <p:txBody>
            <a:bodyPr/>
            <a:lstStyle/>
            <a:p>
              <a:endParaRPr lang="zh-CN" altLang="en-US"/>
            </a:p>
          </p:txBody>
        </p:sp>
        <p:sp>
          <p:nvSpPr>
            <p:cNvPr id="26642" name="Line 17"/>
            <p:cNvSpPr>
              <a:spLocks noChangeShapeType="1"/>
            </p:cNvSpPr>
            <p:nvPr/>
          </p:nvSpPr>
          <p:spPr bwMode="auto">
            <a:xfrm>
              <a:off x="6454" y="1434"/>
              <a:ext cx="685" cy="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00007D"/>
                    </a:outerShdw>
                  </a:effectLst>
                </a14:hiddenEffects>
              </a:ext>
            </a:extLst>
          </p:spPr>
          <p:txBody>
            <a:bodyPr/>
            <a:lstStyle/>
            <a:p>
              <a:endParaRPr lang="zh-CN" altLang="en-US"/>
            </a:p>
          </p:txBody>
        </p:sp>
        <p:sp>
          <p:nvSpPr>
            <p:cNvPr id="26643" name="Rectangle 18"/>
            <p:cNvSpPr>
              <a:spLocks noChangeArrowheads="1"/>
            </p:cNvSpPr>
            <p:nvPr/>
          </p:nvSpPr>
          <p:spPr bwMode="auto">
            <a:xfrm>
              <a:off x="3025" y="382"/>
              <a:ext cx="1219" cy="457"/>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99CCFF"/>
                  </a:solidFill>
                </a14:hiddenFill>
              </a:ext>
              <a:ext uri="{AF507438-7753-43E0-B8FC-AC1667EBCBE1}">
                <a14:hiddenEffects xmlns:a14="http://schemas.microsoft.com/office/drawing/2010/main">
                  <a:effectLst>
                    <a:outerShdw dist="35921" dir="2700000" algn="ctr" rotWithShape="0">
                      <a:srgbClr val="00007D"/>
                    </a:outerShdw>
                  </a:effectLst>
                </a14:hiddenEffects>
              </a:ext>
            </a:extLst>
          </p:spPr>
          <p:txBody>
            <a:bodyPr lIns="58522" tIns="29261" rIns="58522" bIns="29261"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zh-CN" altLang="en-US" sz="1800">
                  <a:solidFill>
                    <a:srgbClr val="000000"/>
                  </a:solidFill>
                  <a:latin typeface="Times New Roman" panose="02020603050405020304" pitchFamily="18" charset="0"/>
                </a:rPr>
                <a:t>随机干扰</a:t>
              </a:r>
              <a:endParaRPr lang="zh-CN" altLang="en-US" sz="1800">
                <a:latin typeface="Calibri" panose="020F0502020204030204" pitchFamily="34" charset="0"/>
              </a:endParaRPr>
            </a:p>
          </p:txBody>
        </p:sp>
        <p:sp>
          <p:nvSpPr>
            <p:cNvPr id="26644" name="Text Box 19"/>
            <p:cNvSpPr txBox="1">
              <a:spLocks noChangeArrowheads="1"/>
            </p:cNvSpPr>
            <p:nvPr/>
          </p:nvSpPr>
          <p:spPr bwMode="auto">
            <a:xfrm>
              <a:off x="1440" y="323"/>
              <a:ext cx="1556" cy="367"/>
            </a:xfrm>
            <a:prstGeom prst="rect">
              <a:avLst/>
            </a:prstGeom>
            <a:noFill/>
            <a:ln>
              <a:noFill/>
            </a:ln>
            <a:effectLst/>
            <a:extLst>
              <a:ext uri="{909E8E84-426E-40DD-AFC4-6F175D3DCCD1}">
                <a14:hiddenFill xmlns:a14="http://schemas.microsoft.com/office/drawing/2010/main">
                  <a:solidFill>
                    <a:srgbClr val="9999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7D"/>
                    </a:outerShdw>
                  </a:effectLst>
                </a14:hiddenEffects>
              </a:ext>
            </a:extLst>
          </p:spPr>
          <p:txBody>
            <a:bodyPr lIns="58522" tIns="29261" rIns="58522" bIns="29261"/>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just">
                <a:spcBef>
                  <a:spcPct val="0"/>
                </a:spcBef>
                <a:buClrTx/>
                <a:buSzTx/>
                <a:buFontTx/>
                <a:buNone/>
              </a:pPr>
              <a:r>
                <a:rPr lang="zh-CN" altLang="en-US" sz="1800">
                  <a:solidFill>
                    <a:srgbClr val="000000"/>
                  </a:solidFill>
                  <a:latin typeface="Times New Roman" panose="02020603050405020304" pitchFamily="18" charset="0"/>
                </a:rPr>
                <a:t>生产系统环境</a:t>
              </a:r>
              <a:endParaRPr lang="zh-CN" altLang="en-US" sz="1800">
                <a:latin typeface="Calibri" panose="020F0502020204030204" pitchFamily="34" charset="0"/>
              </a:endParaRPr>
            </a:p>
          </p:txBody>
        </p:sp>
        <p:sp>
          <p:nvSpPr>
            <p:cNvPr id="26645" name="Text Box 20"/>
            <p:cNvSpPr txBox="1">
              <a:spLocks noChangeArrowheads="1"/>
            </p:cNvSpPr>
            <p:nvPr/>
          </p:nvSpPr>
          <p:spPr bwMode="auto">
            <a:xfrm>
              <a:off x="4167" y="323"/>
              <a:ext cx="3156" cy="367"/>
            </a:xfrm>
            <a:prstGeom prst="rect">
              <a:avLst/>
            </a:prstGeom>
            <a:noFill/>
            <a:ln>
              <a:noFill/>
            </a:ln>
            <a:effectLst/>
            <a:extLst>
              <a:ext uri="{909E8E84-426E-40DD-AFC4-6F175D3DCCD1}">
                <a14:hiddenFill xmlns:a14="http://schemas.microsoft.com/office/drawing/2010/main">
                  <a:solidFill>
                    <a:srgbClr val="9999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7D"/>
                    </a:outerShdw>
                  </a:effectLst>
                </a14:hiddenEffects>
              </a:ext>
            </a:extLst>
          </p:spPr>
          <p:txBody>
            <a:bodyPr lIns="58522" tIns="29261" rIns="58522" bIns="29261"/>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just">
                <a:spcBef>
                  <a:spcPct val="0"/>
                </a:spcBef>
                <a:buClrTx/>
                <a:buSzTx/>
                <a:buFontTx/>
                <a:buNone/>
              </a:pPr>
              <a:r>
                <a:rPr lang="zh-CN" altLang="en-US" sz="1800">
                  <a:solidFill>
                    <a:srgbClr val="000000"/>
                  </a:solidFill>
                  <a:latin typeface="Times New Roman" panose="02020603050405020304" pitchFamily="18" charset="0"/>
                </a:rPr>
                <a:t>（政治、经济、社会、技术）</a:t>
              </a:r>
              <a:endParaRPr lang="zh-CN" altLang="en-US" sz="1800">
                <a:latin typeface="Calibri" panose="020F0502020204030204" pitchFamily="34" charset="0"/>
              </a:endParaRPr>
            </a:p>
          </p:txBody>
        </p:sp>
        <p:sp>
          <p:nvSpPr>
            <p:cNvPr id="26646" name="Rectangle 22"/>
            <p:cNvSpPr>
              <a:spLocks noChangeArrowheads="1"/>
            </p:cNvSpPr>
            <p:nvPr/>
          </p:nvSpPr>
          <p:spPr bwMode="auto">
            <a:xfrm>
              <a:off x="3431" y="2196"/>
              <a:ext cx="915" cy="457"/>
            </a:xfrm>
            <a:prstGeom prst="rect">
              <a:avLst/>
            </a:prstGeom>
            <a:solidFill>
              <a:srgbClr val="92D050"/>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00007D"/>
                    </a:outerShdw>
                  </a:effectLst>
                </a14:hiddenEffects>
              </a:ext>
            </a:extLst>
          </p:spPr>
          <p:txBody>
            <a:bodyPr lIns="58522" tIns="29261" rIns="58522" bIns="29261"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zh-CN" altLang="en-US" sz="1800">
                  <a:solidFill>
                    <a:srgbClr val="000000"/>
                  </a:solidFill>
                  <a:latin typeface="Times New Roman" panose="02020603050405020304" pitchFamily="18" charset="0"/>
                </a:rPr>
                <a:t>控制</a:t>
              </a:r>
              <a:endParaRPr lang="zh-CN" altLang="en-US" sz="1800">
                <a:latin typeface="Calibri" panose="020F0502020204030204" pitchFamily="34" charset="0"/>
              </a:endParaRPr>
            </a:p>
          </p:txBody>
        </p:sp>
        <p:sp>
          <p:nvSpPr>
            <p:cNvPr id="26647" name="Line 23"/>
            <p:cNvSpPr>
              <a:spLocks noChangeShapeType="1"/>
            </p:cNvSpPr>
            <p:nvPr/>
          </p:nvSpPr>
          <p:spPr bwMode="auto">
            <a:xfrm flipH="1">
              <a:off x="4320" y="2424"/>
              <a:ext cx="1677" cy="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00007D"/>
                    </a:outerShdw>
                  </a:effectLst>
                </a14:hiddenEffects>
              </a:ext>
            </a:extLst>
          </p:spPr>
          <p:txBody>
            <a:bodyPr/>
            <a:lstStyle/>
            <a:p>
              <a:endParaRPr lang="zh-CN" altLang="en-US"/>
            </a:p>
          </p:txBody>
        </p:sp>
        <p:sp>
          <p:nvSpPr>
            <p:cNvPr id="26648" name="Line 24"/>
            <p:cNvSpPr>
              <a:spLocks noChangeShapeType="1"/>
            </p:cNvSpPr>
            <p:nvPr/>
          </p:nvSpPr>
          <p:spPr bwMode="auto">
            <a:xfrm flipV="1">
              <a:off x="1729" y="1662"/>
              <a:ext cx="0" cy="762"/>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00007D"/>
                    </a:outerShdw>
                  </a:effectLst>
                </a14:hiddenEffects>
              </a:ext>
            </a:extLst>
          </p:spPr>
          <p:txBody>
            <a:bodyPr/>
            <a:lstStyle/>
            <a:p>
              <a:endParaRPr lang="zh-CN" altLang="en-US"/>
            </a:p>
          </p:txBody>
        </p:sp>
        <p:sp>
          <p:nvSpPr>
            <p:cNvPr id="26649" name="Line 25"/>
            <p:cNvSpPr>
              <a:spLocks noChangeShapeType="1"/>
            </p:cNvSpPr>
            <p:nvPr/>
          </p:nvSpPr>
          <p:spPr bwMode="auto">
            <a:xfrm flipV="1">
              <a:off x="1729" y="2423"/>
              <a:ext cx="1702" cy="1"/>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00007D"/>
                    </a:outerShdw>
                  </a:effectLst>
                </a14:hiddenEffects>
              </a:ext>
            </a:extLst>
          </p:spPr>
          <p:txBody>
            <a:bodyPr/>
            <a:lstStyle/>
            <a:p>
              <a:endParaRPr lang="zh-CN" altLang="en-US"/>
            </a:p>
          </p:txBody>
        </p:sp>
        <p:sp>
          <p:nvSpPr>
            <p:cNvPr id="26650" name="Line 26"/>
            <p:cNvSpPr>
              <a:spLocks noChangeShapeType="1"/>
            </p:cNvSpPr>
            <p:nvPr/>
          </p:nvSpPr>
          <p:spPr bwMode="auto">
            <a:xfrm>
              <a:off x="5997" y="1662"/>
              <a:ext cx="0" cy="762"/>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00007D"/>
                    </a:outerShdw>
                  </a:effectLst>
                </a14:hiddenEffects>
              </a:ext>
            </a:extLst>
          </p:spPr>
          <p:txBody>
            <a:bodyPr/>
            <a:lstStyle/>
            <a:p>
              <a:endParaRPr lang="zh-CN" altLang="en-US"/>
            </a:p>
          </p:txBody>
        </p:sp>
        <p:sp>
          <p:nvSpPr>
            <p:cNvPr id="26651" name="Line 27"/>
            <p:cNvSpPr>
              <a:spLocks noChangeShapeType="1"/>
            </p:cNvSpPr>
            <p:nvPr/>
          </p:nvSpPr>
          <p:spPr bwMode="auto">
            <a:xfrm>
              <a:off x="3710" y="1662"/>
              <a:ext cx="0" cy="534"/>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00007D"/>
                    </a:outerShdw>
                  </a:effectLst>
                </a14:hiddenEffects>
              </a:ext>
            </a:extLst>
          </p:spPr>
          <p:txBody>
            <a:bodyPr/>
            <a:lstStyle/>
            <a:p>
              <a:endParaRPr lang="zh-CN" altLang="en-US"/>
            </a:p>
          </p:txBody>
        </p:sp>
        <p:sp>
          <p:nvSpPr>
            <p:cNvPr id="26652" name="Line 28"/>
            <p:cNvSpPr>
              <a:spLocks noChangeShapeType="1"/>
            </p:cNvSpPr>
            <p:nvPr/>
          </p:nvSpPr>
          <p:spPr bwMode="auto">
            <a:xfrm flipV="1">
              <a:off x="3939" y="1662"/>
              <a:ext cx="0" cy="534"/>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00007D"/>
                    </a:outerShdw>
                  </a:effectLst>
                </a14:hiddenEffects>
              </a:ext>
            </a:extLst>
          </p:spPr>
          <p:txBody>
            <a:bodyPr/>
            <a:lstStyle/>
            <a:p>
              <a:endParaRPr lang="zh-CN" altLang="en-US"/>
            </a:p>
          </p:txBody>
        </p:sp>
        <p:sp>
          <p:nvSpPr>
            <p:cNvPr id="26653" name="Text Box 29"/>
            <p:cNvSpPr txBox="1">
              <a:spLocks noChangeArrowheads="1"/>
            </p:cNvSpPr>
            <p:nvPr/>
          </p:nvSpPr>
          <p:spPr bwMode="auto">
            <a:xfrm>
              <a:off x="3101" y="1739"/>
              <a:ext cx="641" cy="366"/>
            </a:xfrm>
            <a:prstGeom prst="rect">
              <a:avLst/>
            </a:prstGeom>
            <a:noFill/>
            <a:ln>
              <a:noFill/>
            </a:ln>
            <a:effectLst/>
            <a:extLst>
              <a:ext uri="{909E8E84-426E-40DD-AFC4-6F175D3DCCD1}">
                <a14:hiddenFill xmlns:a14="http://schemas.microsoft.com/office/drawing/2010/main">
                  <a:solidFill>
                    <a:srgbClr val="9999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7D"/>
                    </a:outerShdw>
                  </a:effectLst>
                </a14:hiddenEffects>
              </a:ext>
            </a:extLst>
          </p:spPr>
          <p:txBody>
            <a:bodyPr lIns="58522" tIns="29261" rIns="58522" bIns="29261"/>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just">
                <a:spcBef>
                  <a:spcPct val="0"/>
                </a:spcBef>
                <a:buClrTx/>
                <a:buSzTx/>
                <a:buFontTx/>
                <a:buNone/>
              </a:pPr>
              <a:r>
                <a:rPr lang="zh-CN" altLang="en-US" sz="1800">
                  <a:solidFill>
                    <a:srgbClr val="000000"/>
                  </a:solidFill>
                  <a:latin typeface="Times New Roman" panose="02020603050405020304" pitchFamily="18" charset="0"/>
                </a:rPr>
                <a:t>反馈</a:t>
              </a:r>
              <a:endParaRPr lang="zh-CN" altLang="en-US" sz="1800">
                <a:latin typeface="Calibri" panose="020F0502020204030204" pitchFamily="34" charset="0"/>
              </a:endParaRPr>
            </a:p>
          </p:txBody>
        </p:sp>
        <p:sp>
          <p:nvSpPr>
            <p:cNvPr id="26654" name="Text Box 30"/>
            <p:cNvSpPr txBox="1">
              <a:spLocks noChangeArrowheads="1"/>
            </p:cNvSpPr>
            <p:nvPr/>
          </p:nvSpPr>
          <p:spPr bwMode="auto">
            <a:xfrm>
              <a:off x="4822" y="2056"/>
              <a:ext cx="641" cy="367"/>
            </a:xfrm>
            <a:prstGeom prst="rect">
              <a:avLst/>
            </a:prstGeom>
            <a:noFill/>
            <a:ln>
              <a:noFill/>
            </a:ln>
            <a:effectLst/>
            <a:extLst>
              <a:ext uri="{909E8E84-426E-40DD-AFC4-6F175D3DCCD1}">
                <a14:hiddenFill xmlns:a14="http://schemas.microsoft.com/office/drawing/2010/main">
                  <a:solidFill>
                    <a:srgbClr val="9999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7D"/>
                    </a:outerShdw>
                  </a:effectLst>
                </a14:hiddenEffects>
              </a:ext>
            </a:extLst>
          </p:spPr>
          <p:txBody>
            <a:bodyPr lIns="58522" tIns="29261" rIns="58522" bIns="29261"/>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just">
                <a:spcBef>
                  <a:spcPct val="0"/>
                </a:spcBef>
                <a:buClrTx/>
                <a:buSzTx/>
                <a:buFontTx/>
                <a:buNone/>
              </a:pPr>
              <a:r>
                <a:rPr lang="zh-CN" altLang="en-US" sz="1800">
                  <a:solidFill>
                    <a:srgbClr val="000000"/>
                  </a:solidFill>
                  <a:latin typeface="Times New Roman" panose="02020603050405020304" pitchFamily="18" charset="0"/>
                </a:rPr>
                <a:t>反馈</a:t>
              </a:r>
              <a:endParaRPr lang="zh-CN" altLang="en-US" sz="1800">
                <a:latin typeface="Calibri" panose="020F0502020204030204" pitchFamily="34" charset="0"/>
              </a:endParaRPr>
            </a:p>
          </p:txBody>
        </p:sp>
        <p:sp>
          <p:nvSpPr>
            <p:cNvPr id="26655" name="Text Box 31"/>
            <p:cNvSpPr txBox="1">
              <a:spLocks noChangeArrowheads="1"/>
            </p:cNvSpPr>
            <p:nvPr/>
          </p:nvSpPr>
          <p:spPr bwMode="auto">
            <a:xfrm>
              <a:off x="2263" y="2044"/>
              <a:ext cx="641" cy="366"/>
            </a:xfrm>
            <a:prstGeom prst="rect">
              <a:avLst/>
            </a:prstGeom>
            <a:noFill/>
            <a:ln>
              <a:noFill/>
            </a:ln>
            <a:effectLst/>
            <a:extLst>
              <a:ext uri="{909E8E84-426E-40DD-AFC4-6F175D3DCCD1}">
                <a14:hiddenFill xmlns:a14="http://schemas.microsoft.com/office/drawing/2010/main">
                  <a:solidFill>
                    <a:srgbClr val="9999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7D"/>
                    </a:outerShdw>
                  </a:effectLst>
                </a14:hiddenEffects>
              </a:ext>
            </a:extLst>
          </p:spPr>
          <p:txBody>
            <a:bodyPr lIns="58522" tIns="29261" rIns="58522" bIns="29261"/>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just">
                <a:spcBef>
                  <a:spcPct val="0"/>
                </a:spcBef>
                <a:buClrTx/>
                <a:buSzTx/>
                <a:buFontTx/>
                <a:buNone/>
              </a:pPr>
              <a:r>
                <a:rPr lang="zh-CN" altLang="en-US" sz="1800">
                  <a:solidFill>
                    <a:srgbClr val="000000"/>
                  </a:solidFill>
                  <a:latin typeface="Times New Roman" panose="02020603050405020304" pitchFamily="18" charset="0"/>
                </a:rPr>
                <a:t>反馈</a:t>
              </a:r>
              <a:endParaRPr lang="zh-CN" altLang="en-US" sz="1800">
                <a:latin typeface="Calibri" panose="020F0502020204030204" pitchFamily="34" charset="0"/>
              </a:endParaRPr>
            </a:p>
          </p:txBody>
        </p:sp>
      </p:grpSp>
      <p:sp>
        <p:nvSpPr>
          <p:cNvPr id="14341" name="AutoShape 32"/>
          <p:cNvSpPr>
            <a:spLocks noChangeArrowheads="1"/>
          </p:cNvSpPr>
          <p:nvPr/>
        </p:nvSpPr>
        <p:spPr bwMode="auto">
          <a:xfrm>
            <a:off x="1438275" y="1916113"/>
            <a:ext cx="6248400" cy="3948112"/>
          </a:xfrm>
          <a:prstGeom prst="roundRect">
            <a:avLst>
              <a:gd name="adj" fmla="val 16667"/>
            </a:avLst>
          </a:prstGeom>
          <a:noFill/>
          <a:ln w="9525">
            <a:solidFill>
              <a:srgbClr val="000000"/>
            </a:solidFill>
            <a:round/>
            <a:headEnd/>
            <a:tailEnd/>
          </a:ln>
          <a:effectLst/>
          <a:extLst>
            <a:ext uri="{909E8E84-426E-40DD-AFC4-6F175D3DCCD1}">
              <a14:hiddenFill xmlns:a14="http://schemas.microsoft.com/office/drawing/2010/main">
                <a:solidFill>
                  <a:srgbClr val="9999FF"/>
                </a:solidFill>
              </a14:hiddenFill>
            </a:ext>
            <a:ext uri="{AF507438-7753-43E0-B8FC-AC1667EBCBE1}">
              <a14:hiddenEffects xmlns:a14="http://schemas.microsoft.com/office/drawing/2010/main">
                <a:effectLst>
                  <a:outerShdw dist="35921" dir="2700000" algn="ctr" rotWithShape="0">
                    <a:srgbClr val="00007D"/>
                  </a:outerShdw>
                </a:effectLst>
              </a14:hiddenEffects>
            </a:ext>
          </a:extLst>
        </p:spPr>
        <p:txBody>
          <a:bodyPr lIns="58522" tIns="29261" rIns="58522" bIns="29261"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endParaRPr lang="zh-CN" altLang="en-US" sz="1800">
              <a:latin typeface="Calibri" panose="020F050202020403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434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3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41"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内容占位符 8"/>
          <p:cNvSpPr>
            <a:spLocks/>
          </p:cNvSpPr>
          <p:nvPr/>
        </p:nvSpPr>
        <p:spPr bwMode="auto">
          <a:xfrm>
            <a:off x="419100" y="908050"/>
            <a:ext cx="8305800" cy="5761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latinLnBrk="1" hangingPunct="1">
              <a:lnSpc>
                <a:spcPct val="150000"/>
              </a:lnSpc>
              <a:buClr>
                <a:srgbClr val="2C3F71"/>
              </a:buClr>
            </a:pPr>
            <a:r>
              <a:rPr lang="zh-CN" altLang="en-US" sz="2800" b="1">
                <a:solidFill>
                  <a:srgbClr val="FF0000"/>
                </a:solidFill>
                <a:latin typeface="Calibri" panose="020F0502020204030204" pitchFamily="34" charset="0"/>
              </a:rPr>
              <a:t>企业资源</a:t>
            </a:r>
          </a:p>
          <a:p>
            <a:pPr eaLnBrk="1" latinLnBrk="1" hangingPunct="1">
              <a:lnSpc>
                <a:spcPct val="150000"/>
              </a:lnSpc>
              <a:buClr>
                <a:srgbClr val="2C3F71"/>
              </a:buClr>
            </a:pPr>
            <a:r>
              <a:rPr lang="zh-CN" altLang="en-US" sz="2400" b="1">
                <a:latin typeface="Calibri" panose="020F0502020204030204" pitchFamily="34" charset="0"/>
              </a:rPr>
              <a:t>企业资源</a:t>
            </a:r>
            <a:r>
              <a:rPr lang="zh-CN" altLang="en-US" sz="2400">
                <a:latin typeface="Calibri" panose="020F0502020204030204" pitchFamily="34" charset="0"/>
              </a:rPr>
              <a:t>：企业进行正常生产经营活动必不可少的物质因素。</a:t>
            </a:r>
          </a:p>
          <a:p>
            <a:pPr eaLnBrk="1" latinLnBrk="1" hangingPunct="1">
              <a:lnSpc>
                <a:spcPct val="150000"/>
              </a:lnSpc>
              <a:buClr>
                <a:srgbClr val="2C3F71"/>
              </a:buClr>
            </a:pPr>
            <a:r>
              <a:rPr lang="zh-CN" altLang="en-US" sz="2400">
                <a:latin typeface="Calibri" panose="020F0502020204030204" pitchFamily="34" charset="0"/>
              </a:rPr>
              <a:t>企业所有环节的正常运行都必须得到企业资源的支持。</a:t>
            </a:r>
          </a:p>
          <a:p>
            <a:pPr eaLnBrk="1" latinLnBrk="1" hangingPunct="1">
              <a:lnSpc>
                <a:spcPct val="150000"/>
              </a:lnSpc>
              <a:buClr>
                <a:srgbClr val="2C3F71"/>
              </a:buClr>
            </a:pPr>
            <a:r>
              <a:rPr lang="zh-CN" altLang="en-US" sz="2400">
                <a:latin typeface="Calibri" panose="020F0502020204030204" pitchFamily="34" charset="0"/>
              </a:rPr>
              <a:t>涵盖所有的物的实体。</a:t>
            </a:r>
          </a:p>
          <a:p>
            <a:pPr lvl="1" eaLnBrk="1" latinLnBrk="1" hangingPunct="1">
              <a:lnSpc>
                <a:spcPct val="150000"/>
              </a:lnSpc>
              <a:buClr>
                <a:srgbClr val="2C3F71"/>
              </a:buClr>
            </a:pPr>
            <a:r>
              <a:rPr lang="zh-CN" altLang="en-US" sz="2000">
                <a:latin typeface="Calibri" panose="020F0502020204030204" pitchFamily="34" charset="0"/>
              </a:rPr>
              <a:t>原材料、在制品、半成品、成品、包装材料、其它辅助材料</a:t>
            </a:r>
          </a:p>
          <a:p>
            <a:pPr lvl="1" eaLnBrk="1" latinLnBrk="1" hangingPunct="1">
              <a:lnSpc>
                <a:spcPct val="150000"/>
              </a:lnSpc>
              <a:buClr>
                <a:srgbClr val="2C3F71"/>
              </a:buClr>
            </a:pPr>
            <a:r>
              <a:rPr lang="zh-CN" altLang="en-US" sz="2000">
                <a:latin typeface="Calibri" panose="020F0502020204030204" pitchFamily="34" charset="0"/>
              </a:rPr>
              <a:t>机器设备、工器具、资金、企业员工、供应商、客户</a:t>
            </a:r>
          </a:p>
          <a:p>
            <a:pPr lvl="1" eaLnBrk="1" latinLnBrk="1" hangingPunct="1">
              <a:lnSpc>
                <a:spcPct val="150000"/>
              </a:lnSpc>
              <a:buClr>
                <a:srgbClr val="2C3F71"/>
              </a:buClr>
            </a:pPr>
            <a:r>
              <a:rPr lang="zh-CN" altLang="en-US" sz="2000">
                <a:latin typeface="Calibri" panose="020F0502020204030204" pitchFamily="34" charset="0"/>
              </a:rPr>
              <a:t>技术资料、办公文档、软件工具。</a:t>
            </a:r>
          </a:p>
          <a:p>
            <a:pPr eaLnBrk="1" latinLnBrk="1" hangingPunct="1">
              <a:lnSpc>
                <a:spcPct val="150000"/>
              </a:lnSpc>
              <a:buClr>
                <a:srgbClr val="2C3F71"/>
              </a:buClr>
            </a:pPr>
            <a:r>
              <a:rPr lang="zh-CN" altLang="en-US" sz="2400">
                <a:latin typeface="Calibri" panose="020F0502020204030204" pitchFamily="34" charset="0"/>
              </a:rPr>
              <a:t>企业生产计划和控制的核心是优化和合理配置各类企业资源。</a:t>
            </a:r>
          </a:p>
        </p:txBody>
      </p:sp>
      <p:sp>
        <p:nvSpPr>
          <p:cNvPr id="5" name="Text Box 9"/>
          <p:cNvSpPr txBox="1">
            <a:spLocks noChangeArrowheads="1"/>
          </p:cNvSpPr>
          <p:nvPr/>
        </p:nvSpPr>
        <p:spPr bwMode="auto">
          <a:xfrm>
            <a:off x="762000" y="87313"/>
            <a:ext cx="2028825"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defRPr/>
            </a:pPr>
            <a:r>
              <a:rPr lang="en-US" altLang="zh-CN" sz="1800" b="1" dirty="0">
                <a:solidFill>
                  <a:srgbClr val="FFFF00"/>
                </a:solidFill>
                <a:effectLst>
                  <a:outerShdw blurRad="38100" dist="38100" dir="2700000" algn="tl">
                    <a:srgbClr val="000000">
                      <a:alpha val="43137"/>
                    </a:srgbClr>
                  </a:outerShdw>
                </a:effectLst>
              </a:rPr>
              <a:t>2.1 </a:t>
            </a:r>
            <a:r>
              <a:rPr lang="zh-CN" altLang="en-US" sz="1800" b="1" dirty="0">
                <a:solidFill>
                  <a:srgbClr val="FFFF00"/>
                </a:solidFill>
                <a:effectLst>
                  <a:outerShdw blurRad="38100" dist="38100" dir="2700000" algn="tl">
                    <a:srgbClr val="000000">
                      <a:alpha val="43137"/>
                    </a:srgbClr>
                  </a:outerShdw>
                </a:effectLst>
              </a:rPr>
              <a:t>企业</a:t>
            </a:r>
            <a:r>
              <a:rPr lang="en-US" altLang="zh-CN" sz="1800" b="1" dirty="0">
                <a:solidFill>
                  <a:srgbClr val="FFFF00"/>
                </a:solidFill>
                <a:effectLst>
                  <a:outerShdw blurRad="38100" dist="38100" dir="2700000" algn="tl">
                    <a:srgbClr val="000000">
                      <a:alpha val="43137"/>
                    </a:srgbClr>
                  </a:outerShdw>
                </a:effectLst>
              </a:rPr>
              <a:t>/</a:t>
            </a:r>
            <a:r>
              <a:rPr lang="zh-CN" altLang="en-US" sz="1800" b="1" dirty="0">
                <a:solidFill>
                  <a:srgbClr val="FFFF00"/>
                </a:solidFill>
                <a:effectLst>
                  <a:outerShdw blurRad="38100" dist="38100" dir="2700000" algn="tl">
                    <a:srgbClr val="000000">
                      <a:alpha val="43137"/>
                    </a:srgbClr>
                  </a:outerShdw>
                </a:effectLst>
              </a:rPr>
              <a:t>社会组织</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123">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123">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5123">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5123">
                                            <p:txEl>
                                              <p:pRg st="4" end="4"/>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5123">
                                            <p:txEl>
                                              <p:pRg st="5" end="5"/>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5123">
                                            <p:txEl>
                                              <p:pRg st="6" end="6"/>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512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内容占位符 8"/>
          <p:cNvSpPr>
            <a:spLocks/>
          </p:cNvSpPr>
          <p:nvPr/>
        </p:nvSpPr>
        <p:spPr bwMode="auto">
          <a:xfrm>
            <a:off x="419100" y="908050"/>
            <a:ext cx="8305800" cy="518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latinLnBrk="1" hangingPunct="1">
              <a:lnSpc>
                <a:spcPct val="150000"/>
              </a:lnSpc>
              <a:buClr>
                <a:srgbClr val="2C3F71"/>
              </a:buClr>
            </a:pPr>
            <a:r>
              <a:rPr lang="zh-CN" altLang="en-US" sz="2800" b="1">
                <a:solidFill>
                  <a:srgbClr val="FF0000"/>
                </a:solidFill>
                <a:latin typeface="Calibri" panose="020F0502020204030204" pitchFamily="34" charset="0"/>
              </a:rPr>
              <a:t>典型生产运作系统</a:t>
            </a:r>
          </a:p>
        </p:txBody>
      </p:sp>
      <p:sp>
        <p:nvSpPr>
          <p:cNvPr id="5" name="Text Box 9"/>
          <p:cNvSpPr txBox="1">
            <a:spLocks noChangeArrowheads="1"/>
          </p:cNvSpPr>
          <p:nvPr/>
        </p:nvSpPr>
        <p:spPr bwMode="auto">
          <a:xfrm>
            <a:off x="762000" y="87313"/>
            <a:ext cx="2028825"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defRPr/>
            </a:pPr>
            <a:r>
              <a:rPr lang="en-US" altLang="zh-CN" sz="1800" b="1" dirty="0">
                <a:solidFill>
                  <a:srgbClr val="FFFF00"/>
                </a:solidFill>
                <a:effectLst>
                  <a:outerShdw blurRad="38100" dist="38100" dir="2700000" algn="tl">
                    <a:srgbClr val="000000">
                      <a:alpha val="43137"/>
                    </a:srgbClr>
                  </a:outerShdw>
                </a:effectLst>
              </a:rPr>
              <a:t>2.1 </a:t>
            </a:r>
            <a:r>
              <a:rPr lang="zh-CN" altLang="en-US" sz="1800" b="1" dirty="0">
                <a:solidFill>
                  <a:srgbClr val="FFFF00"/>
                </a:solidFill>
                <a:effectLst>
                  <a:outerShdw blurRad="38100" dist="38100" dir="2700000" algn="tl">
                    <a:srgbClr val="000000">
                      <a:alpha val="43137"/>
                    </a:srgbClr>
                  </a:outerShdw>
                </a:effectLst>
              </a:rPr>
              <a:t>企业</a:t>
            </a:r>
            <a:r>
              <a:rPr lang="en-US" altLang="zh-CN" sz="1800" b="1" dirty="0">
                <a:solidFill>
                  <a:srgbClr val="FFFF00"/>
                </a:solidFill>
                <a:effectLst>
                  <a:outerShdw blurRad="38100" dist="38100" dir="2700000" algn="tl">
                    <a:srgbClr val="000000">
                      <a:alpha val="43137"/>
                    </a:srgbClr>
                  </a:outerShdw>
                </a:effectLst>
              </a:rPr>
              <a:t>/</a:t>
            </a:r>
            <a:r>
              <a:rPr lang="zh-CN" altLang="en-US" sz="1800" b="1" dirty="0">
                <a:solidFill>
                  <a:srgbClr val="FFFF00"/>
                </a:solidFill>
                <a:effectLst>
                  <a:outerShdw blurRad="38100" dist="38100" dir="2700000" algn="tl">
                    <a:srgbClr val="000000">
                      <a:alpha val="43137"/>
                    </a:srgbClr>
                  </a:outerShdw>
                </a:effectLst>
              </a:rPr>
              <a:t>社会组织</a:t>
            </a:r>
          </a:p>
        </p:txBody>
      </p:sp>
      <p:graphicFrame>
        <p:nvGraphicFramePr>
          <p:cNvPr id="35" name="Group 56"/>
          <p:cNvGraphicFramePr>
            <a:graphicFrameLocks noGrp="1"/>
          </p:cNvGraphicFramePr>
          <p:nvPr/>
        </p:nvGraphicFramePr>
        <p:xfrm>
          <a:off x="287338" y="1595438"/>
          <a:ext cx="8569326" cy="4919662"/>
        </p:xfrm>
        <a:graphic>
          <a:graphicData uri="http://schemas.openxmlformats.org/drawingml/2006/table">
            <a:tbl>
              <a:tblPr/>
              <a:tblGrid>
                <a:gridCol w="1713865">
                  <a:extLst>
                    <a:ext uri="{9D8B030D-6E8A-4147-A177-3AD203B41FA5}">
                      <a16:colId xmlns:a16="http://schemas.microsoft.com/office/drawing/2014/main" val="1359376904"/>
                    </a:ext>
                  </a:extLst>
                </a:gridCol>
                <a:gridCol w="1715566">
                  <a:extLst>
                    <a:ext uri="{9D8B030D-6E8A-4147-A177-3AD203B41FA5}">
                      <a16:colId xmlns:a16="http://schemas.microsoft.com/office/drawing/2014/main" val="3005556313"/>
                    </a:ext>
                  </a:extLst>
                </a:gridCol>
                <a:gridCol w="1710465">
                  <a:extLst>
                    <a:ext uri="{9D8B030D-6E8A-4147-A177-3AD203B41FA5}">
                      <a16:colId xmlns:a16="http://schemas.microsoft.com/office/drawing/2014/main" val="695486263"/>
                    </a:ext>
                  </a:extLst>
                </a:gridCol>
                <a:gridCol w="1715565">
                  <a:extLst>
                    <a:ext uri="{9D8B030D-6E8A-4147-A177-3AD203B41FA5}">
                      <a16:colId xmlns:a16="http://schemas.microsoft.com/office/drawing/2014/main" val="3883222107"/>
                    </a:ext>
                  </a:extLst>
                </a:gridCol>
                <a:gridCol w="1713865">
                  <a:extLst>
                    <a:ext uri="{9D8B030D-6E8A-4147-A177-3AD203B41FA5}">
                      <a16:colId xmlns:a16="http://schemas.microsoft.com/office/drawing/2014/main" val="2039066887"/>
                    </a:ext>
                  </a:extLst>
                </a:gridCol>
              </a:tblGrid>
              <a:tr h="420640">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800" b="1" i="0" u="none" strike="noStrike" cap="none" normalizeH="0" baseline="0" dirty="0">
                          <a:ln>
                            <a:noFill/>
                          </a:ln>
                          <a:solidFill>
                            <a:schemeClr val="accent5">
                              <a:lumMod val="50000"/>
                            </a:schemeClr>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rPr>
                        <a:t>系统</a:t>
                      </a:r>
                      <a:endParaRPr kumimoji="0" lang="zh-CN" altLang="en-US" sz="1800" b="1" i="0" u="none" strike="noStrike" cap="none" normalizeH="0" baseline="0" dirty="0">
                        <a:ln>
                          <a:noFill/>
                        </a:ln>
                        <a:solidFill>
                          <a:schemeClr val="accent5">
                            <a:lumMod val="50000"/>
                          </a:schemeClr>
                        </a:solidFill>
                        <a:effectLst>
                          <a:outerShdw blurRad="38100" dist="38100" dir="2700000" algn="tl">
                            <a:srgbClr val="000000">
                              <a:alpha val="43137"/>
                            </a:srgbClr>
                          </a:outerShdw>
                        </a:effectLst>
                        <a:latin typeface="华文细黑" panose="02010600040101010101" pitchFamily="2" charset="-122"/>
                        <a:ea typeface="宋体" panose="02010600030101010101" pitchFamily="2" charset="-122"/>
                      </a:endParaRPr>
                    </a:p>
                  </a:txBody>
                  <a:tcPr marL="91444" marR="91444" marT="45722" marB="4572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800" b="1" i="0" u="none" strike="noStrike" cap="none" normalizeH="0" baseline="0" dirty="0">
                          <a:ln>
                            <a:noFill/>
                          </a:ln>
                          <a:solidFill>
                            <a:schemeClr val="accent5">
                              <a:lumMod val="50000"/>
                            </a:schemeClr>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rPr>
                        <a:t>输入</a:t>
                      </a:r>
                      <a:endParaRPr kumimoji="0" lang="zh-CN" altLang="en-US" sz="1800" b="1" i="0" u="none" strike="noStrike" cap="none" normalizeH="0" baseline="0" dirty="0">
                        <a:ln>
                          <a:noFill/>
                        </a:ln>
                        <a:solidFill>
                          <a:schemeClr val="accent5">
                            <a:lumMod val="50000"/>
                          </a:schemeClr>
                        </a:solidFill>
                        <a:effectLst>
                          <a:outerShdw blurRad="38100" dist="38100" dir="2700000" algn="tl">
                            <a:srgbClr val="000000">
                              <a:alpha val="43137"/>
                            </a:srgbClr>
                          </a:outerShdw>
                        </a:effectLst>
                        <a:latin typeface="华文细黑" panose="02010600040101010101" pitchFamily="2" charset="-122"/>
                        <a:ea typeface="宋体" panose="02010600030101010101" pitchFamily="2" charset="-122"/>
                      </a:endParaRPr>
                    </a:p>
                  </a:txBody>
                  <a:tcPr marL="91444" marR="91444" marT="45722" marB="4572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800" b="1" i="0" u="none" strike="noStrike" cap="none" normalizeH="0" baseline="0" dirty="0">
                          <a:ln>
                            <a:noFill/>
                          </a:ln>
                          <a:solidFill>
                            <a:schemeClr val="accent5">
                              <a:lumMod val="50000"/>
                            </a:schemeClr>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rPr>
                        <a:t>主要资源</a:t>
                      </a:r>
                      <a:endParaRPr kumimoji="0" lang="zh-CN" altLang="en-US" sz="1800" b="1" i="0" u="none" strike="noStrike" cap="none" normalizeH="0" baseline="0" dirty="0">
                        <a:ln>
                          <a:noFill/>
                        </a:ln>
                        <a:solidFill>
                          <a:schemeClr val="accent5">
                            <a:lumMod val="50000"/>
                          </a:schemeClr>
                        </a:solidFill>
                        <a:effectLst>
                          <a:outerShdw blurRad="38100" dist="38100" dir="2700000" algn="tl">
                            <a:srgbClr val="000000">
                              <a:alpha val="43137"/>
                            </a:srgbClr>
                          </a:outerShdw>
                        </a:effectLst>
                        <a:latin typeface="华文细黑" panose="02010600040101010101" pitchFamily="2" charset="-122"/>
                        <a:ea typeface="宋体" panose="02010600030101010101" pitchFamily="2" charset="-122"/>
                      </a:endParaRPr>
                    </a:p>
                  </a:txBody>
                  <a:tcPr marL="91444" marR="91444" marT="45722" marB="4572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800" b="1" i="0" u="none" strike="noStrike" cap="none" normalizeH="0" baseline="0" dirty="0">
                          <a:ln>
                            <a:noFill/>
                          </a:ln>
                          <a:solidFill>
                            <a:schemeClr val="accent5">
                              <a:lumMod val="50000"/>
                            </a:schemeClr>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rPr>
                        <a:t>转换</a:t>
                      </a:r>
                      <a:endParaRPr kumimoji="0" lang="zh-CN" altLang="en-US" sz="1800" b="1" i="0" u="none" strike="noStrike" cap="none" normalizeH="0" baseline="0" dirty="0">
                        <a:ln>
                          <a:noFill/>
                        </a:ln>
                        <a:solidFill>
                          <a:schemeClr val="accent5">
                            <a:lumMod val="50000"/>
                          </a:schemeClr>
                        </a:solidFill>
                        <a:effectLst>
                          <a:outerShdw blurRad="38100" dist="38100" dir="2700000" algn="tl">
                            <a:srgbClr val="000000">
                              <a:alpha val="43137"/>
                            </a:srgbClr>
                          </a:outerShdw>
                        </a:effectLst>
                        <a:latin typeface="华文细黑" panose="02010600040101010101" pitchFamily="2" charset="-122"/>
                        <a:ea typeface="宋体" panose="02010600030101010101" pitchFamily="2" charset="-122"/>
                      </a:endParaRPr>
                    </a:p>
                  </a:txBody>
                  <a:tcPr marL="91444" marR="91444" marT="45722" marB="4572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800" b="1" i="0" u="none" strike="noStrike" cap="none" normalizeH="0" baseline="0" dirty="0">
                          <a:ln>
                            <a:noFill/>
                          </a:ln>
                          <a:solidFill>
                            <a:schemeClr val="accent5">
                              <a:lumMod val="50000"/>
                            </a:schemeClr>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rPr>
                        <a:t>期望输出</a:t>
                      </a:r>
                      <a:endParaRPr kumimoji="0" lang="zh-CN" altLang="en-US" sz="1800" b="1" i="0" u="none" strike="noStrike" cap="none" normalizeH="0" baseline="0" dirty="0">
                        <a:ln>
                          <a:noFill/>
                        </a:ln>
                        <a:solidFill>
                          <a:schemeClr val="accent5">
                            <a:lumMod val="50000"/>
                          </a:schemeClr>
                        </a:solidFill>
                        <a:effectLst>
                          <a:outerShdw blurRad="38100" dist="38100" dir="2700000" algn="tl">
                            <a:srgbClr val="000000">
                              <a:alpha val="43137"/>
                            </a:srgbClr>
                          </a:outerShdw>
                        </a:effectLst>
                        <a:latin typeface="华文细黑" panose="02010600040101010101" pitchFamily="2" charset="-122"/>
                        <a:ea typeface="宋体" panose="02010600030101010101" pitchFamily="2" charset="-122"/>
                      </a:endParaRPr>
                    </a:p>
                  </a:txBody>
                  <a:tcPr marL="91444" marR="91444" marT="45722" marB="45722"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57886299"/>
                  </a:ext>
                </a:extLst>
              </a:tr>
              <a:tr h="749837">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800" b="1" i="0" u="none" strike="noStrike" cap="none" normalizeH="0" baseline="0" dirty="0">
                          <a:ln>
                            <a:noFill/>
                          </a:ln>
                          <a:solidFill>
                            <a:schemeClr val="tx1"/>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rPr>
                        <a:t>医院</a:t>
                      </a:r>
                      <a:endParaRPr kumimoji="0" lang="zh-CN" altLang="en-US" sz="1800" b="1" i="0" u="none" strike="noStrike" cap="none" normalizeH="0" baseline="0" dirty="0">
                        <a:ln>
                          <a:noFill/>
                        </a:ln>
                        <a:solidFill>
                          <a:schemeClr val="tx1"/>
                        </a:solidFill>
                        <a:effectLst>
                          <a:outerShdw blurRad="38100" dist="38100" dir="2700000" algn="tl">
                            <a:srgbClr val="000000">
                              <a:alpha val="43137"/>
                            </a:srgbClr>
                          </a:outerShdw>
                        </a:effectLst>
                        <a:latin typeface="华文细黑" panose="02010600040101010101" pitchFamily="2" charset="-122"/>
                        <a:ea typeface="宋体" panose="02010600030101010101" pitchFamily="2" charset="-122"/>
                      </a:endParaRPr>
                    </a:p>
                  </a:txBody>
                  <a:tcPr marL="91444" marR="91444" marT="45722" marB="45722"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病人</a:t>
                      </a:r>
                      <a:endParaRPr kumimoji="0" lang="zh-CN" altLang="en-US" sz="1800" b="0" i="0" u="none" strike="noStrike" cap="none" normalizeH="0" baseline="0" dirty="0">
                        <a:ln>
                          <a:noFill/>
                        </a:ln>
                        <a:solidFill>
                          <a:schemeClr val="tx1"/>
                        </a:solidFill>
                        <a:effectLst/>
                        <a:latin typeface="华文细黑" panose="02010600040101010101" pitchFamily="2" charset="-122"/>
                        <a:ea typeface="宋体" panose="02010600030101010101" pitchFamily="2" charset="-122"/>
                      </a:endParaRPr>
                    </a:p>
                  </a:txBody>
                  <a:tcPr marL="91444" marR="91444"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医生、护士、药品、设备</a:t>
                      </a:r>
                      <a:endParaRPr kumimoji="0" lang="zh-CN" altLang="en-US" sz="1800" b="0" i="0" u="none" strike="noStrike" cap="none" normalizeH="0" baseline="0" dirty="0">
                        <a:ln>
                          <a:noFill/>
                        </a:ln>
                        <a:solidFill>
                          <a:schemeClr val="tx1"/>
                        </a:solidFill>
                        <a:effectLst/>
                        <a:latin typeface="华文细黑" panose="02010600040101010101" pitchFamily="2" charset="-122"/>
                        <a:ea typeface="宋体" panose="02010600030101010101" pitchFamily="2" charset="-122"/>
                      </a:endParaRPr>
                    </a:p>
                  </a:txBody>
                  <a:tcPr marL="91444" marR="91444"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医疗、护理</a:t>
                      </a:r>
                      <a:endParaRPr kumimoji="0" lang="zh-CN" altLang="en-US" sz="1800" b="0" i="0" u="none" strike="noStrike" cap="none" normalizeH="0" baseline="0" dirty="0">
                        <a:ln>
                          <a:noFill/>
                        </a:ln>
                        <a:solidFill>
                          <a:schemeClr val="tx1"/>
                        </a:solidFill>
                        <a:effectLst/>
                        <a:latin typeface="华文细黑" panose="02010600040101010101" pitchFamily="2" charset="-122"/>
                        <a:ea typeface="宋体" panose="02010600030101010101" pitchFamily="2" charset="-122"/>
                      </a:endParaRPr>
                    </a:p>
                  </a:txBody>
                  <a:tcPr marL="91444" marR="91444"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健康人</a:t>
                      </a:r>
                      <a:endParaRPr kumimoji="0" lang="zh-CN" altLang="en-US" sz="1800" b="0" i="0" u="none" strike="noStrike" cap="none" normalizeH="0" baseline="0" dirty="0">
                        <a:ln>
                          <a:noFill/>
                        </a:ln>
                        <a:solidFill>
                          <a:schemeClr val="tx1"/>
                        </a:solidFill>
                        <a:effectLst/>
                        <a:latin typeface="华文细黑" panose="02010600040101010101" pitchFamily="2" charset="-122"/>
                        <a:ea typeface="宋体" panose="02010600030101010101" pitchFamily="2" charset="-122"/>
                      </a:endParaRPr>
                    </a:p>
                  </a:txBody>
                  <a:tcPr marL="91444" marR="91444" marT="45722" marB="45722"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27673112"/>
                  </a:ext>
                </a:extLst>
              </a:tr>
              <a:tr h="749837">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800" b="1" i="0" u="none" strike="noStrike" cap="none" normalizeH="0" baseline="0" dirty="0">
                          <a:ln>
                            <a:noFill/>
                          </a:ln>
                          <a:solidFill>
                            <a:schemeClr val="tx1"/>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rPr>
                        <a:t>汽车工厂</a:t>
                      </a:r>
                      <a:endParaRPr kumimoji="0" lang="zh-CN" altLang="en-US" sz="1800" b="1" i="0" u="none" strike="noStrike" cap="none" normalizeH="0" baseline="0" dirty="0">
                        <a:ln>
                          <a:noFill/>
                        </a:ln>
                        <a:solidFill>
                          <a:schemeClr val="tx1"/>
                        </a:solidFill>
                        <a:effectLst>
                          <a:outerShdw blurRad="38100" dist="38100" dir="2700000" algn="tl">
                            <a:srgbClr val="000000">
                              <a:alpha val="43137"/>
                            </a:srgbClr>
                          </a:outerShdw>
                        </a:effectLst>
                        <a:latin typeface="华文细黑" panose="02010600040101010101" pitchFamily="2" charset="-122"/>
                        <a:ea typeface="宋体" panose="02010600030101010101" pitchFamily="2" charset="-122"/>
                      </a:endParaRPr>
                    </a:p>
                  </a:txBody>
                  <a:tcPr marL="91444" marR="91444" marT="45722" marB="45722"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钢板、引擎、部件</a:t>
                      </a:r>
                      <a:endParaRPr kumimoji="0" lang="zh-CN" altLang="en-US" sz="1800" b="0" i="0" u="none" strike="noStrike" cap="none" normalizeH="0" baseline="0" dirty="0">
                        <a:ln>
                          <a:noFill/>
                        </a:ln>
                        <a:solidFill>
                          <a:schemeClr val="tx1"/>
                        </a:solidFill>
                        <a:effectLst/>
                        <a:latin typeface="华文细黑" panose="02010600040101010101" pitchFamily="2" charset="-122"/>
                        <a:ea typeface="宋体" panose="02010600030101010101" pitchFamily="2" charset="-122"/>
                      </a:endParaRPr>
                    </a:p>
                  </a:txBody>
                  <a:tcPr marL="91444" marR="91444"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设备、工具和工人</a:t>
                      </a:r>
                      <a:endParaRPr kumimoji="0" lang="zh-CN" altLang="en-US" sz="1800" b="0" i="0" u="none" strike="noStrike" cap="none" normalizeH="0" baseline="0" dirty="0">
                        <a:ln>
                          <a:noFill/>
                        </a:ln>
                        <a:solidFill>
                          <a:schemeClr val="tx1"/>
                        </a:solidFill>
                        <a:effectLst/>
                        <a:latin typeface="华文细黑" panose="02010600040101010101" pitchFamily="2" charset="-122"/>
                        <a:ea typeface="宋体" panose="02010600030101010101" pitchFamily="2" charset="-122"/>
                      </a:endParaRPr>
                    </a:p>
                  </a:txBody>
                  <a:tcPr marL="91444" marR="91444"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装配和制造</a:t>
                      </a:r>
                      <a:endParaRPr kumimoji="0" lang="zh-CN" altLang="en-US" sz="1800" b="0" i="0" u="none" strike="noStrike" cap="none" normalizeH="0" baseline="0" dirty="0">
                        <a:ln>
                          <a:noFill/>
                        </a:ln>
                        <a:solidFill>
                          <a:schemeClr val="tx1"/>
                        </a:solidFill>
                        <a:effectLst/>
                        <a:latin typeface="华文细黑" panose="02010600040101010101" pitchFamily="2" charset="-122"/>
                        <a:ea typeface="宋体" panose="02010600030101010101" pitchFamily="2" charset="-122"/>
                      </a:endParaRPr>
                    </a:p>
                  </a:txBody>
                  <a:tcPr marL="91444" marR="91444"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高质量汽车</a:t>
                      </a:r>
                      <a:endParaRPr kumimoji="0" lang="zh-CN" altLang="en-US" sz="1800" b="0" i="0" u="none" strike="noStrike" cap="none" normalizeH="0" baseline="0" dirty="0">
                        <a:ln>
                          <a:noFill/>
                        </a:ln>
                        <a:solidFill>
                          <a:schemeClr val="tx1"/>
                        </a:solidFill>
                        <a:effectLst/>
                        <a:latin typeface="华文细黑" panose="02010600040101010101" pitchFamily="2" charset="-122"/>
                        <a:ea typeface="宋体" panose="02010600030101010101" pitchFamily="2" charset="-122"/>
                      </a:endParaRPr>
                    </a:p>
                  </a:txBody>
                  <a:tcPr marL="91444" marR="91444" marT="45722" marB="45722"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476923265"/>
                  </a:ext>
                </a:extLst>
              </a:tr>
              <a:tr h="749837">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800" b="1" i="0" u="none" strike="noStrike" cap="none" normalizeH="0" baseline="0" dirty="0">
                          <a:ln>
                            <a:noFill/>
                          </a:ln>
                          <a:solidFill>
                            <a:schemeClr val="tx1"/>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rPr>
                        <a:t>大学</a:t>
                      </a:r>
                      <a:endParaRPr kumimoji="0" lang="zh-CN" altLang="en-US" sz="1800" b="1" i="0" u="none" strike="noStrike" cap="none" normalizeH="0" baseline="0" dirty="0">
                        <a:ln>
                          <a:noFill/>
                        </a:ln>
                        <a:solidFill>
                          <a:schemeClr val="tx1"/>
                        </a:solidFill>
                        <a:effectLst>
                          <a:outerShdw blurRad="38100" dist="38100" dir="2700000" algn="tl">
                            <a:srgbClr val="000000">
                              <a:alpha val="43137"/>
                            </a:srgbClr>
                          </a:outerShdw>
                        </a:effectLst>
                        <a:latin typeface="华文细黑" panose="02010600040101010101" pitchFamily="2" charset="-122"/>
                        <a:ea typeface="宋体" panose="02010600030101010101" pitchFamily="2" charset="-122"/>
                      </a:endParaRPr>
                    </a:p>
                  </a:txBody>
                  <a:tcPr marL="91444" marR="91444" marT="45722" marB="45722"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高中毕业生</a:t>
                      </a:r>
                      <a:endParaRPr kumimoji="0" lang="zh-CN" altLang="en-US" sz="1800" b="0" i="0" u="none" strike="noStrike" cap="none" normalizeH="0" baseline="0" dirty="0">
                        <a:ln>
                          <a:noFill/>
                        </a:ln>
                        <a:solidFill>
                          <a:schemeClr val="tx1"/>
                        </a:solidFill>
                        <a:effectLst/>
                        <a:latin typeface="华文细黑" panose="02010600040101010101" pitchFamily="2" charset="-122"/>
                        <a:ea typeface="宋体" panose="02010600030101010101" pitchFamily="2" charset="-122"/>
                      </a:endParaRPr>
                    </a:p>
                  </a:txBody>
                  <a:tcPr marL="91444" marR="91444"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教师、书、教室、实验室</a:t>
                      </a:r>
                      <a:endParaRPr kumimoji="0" lang="zh-CN" altLang="en-US" sz="1800" b="0" i="0" u="none" strike="noStrike" cap="none" normalizeH="0" baseline="0" dirty="0">
                        <a:ln>
                          <a:noFill/>
                        </a:ln>
                        <a:solidFill>
                          <a:schemeClr val="tx1"/>
                        </a:solidFill>
                        <a:effectLst/>
                        <a:latin typeface="华文细黑" panose="02010600040101010101" pitchFamily="2" charset="-122"/>
                        <a:ea typeface="宋体" panose="02010600030101010101" pitchFamily="2" charset="-122"/>
                      </a:endParaRPr>
                    </a:p>
                  </a:txBody>
                  <a:tcPr marL="91444" marR="91444"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传输知识和技能</a:t>
                      </a:r>
                      <a:endParaRPr kumimoji="0" lang="zh-CN" altLang="en-US" sz="1800" b="0" i="0" u="none" strike="noStrike" cap="none" normalizeH="0" baseline="0" dirty="0">
                        <a:ln>
                          <a:noFill/>
                        </a:ln>
                        <a:solidFill>
                          <a:schemeClr val="tx1"/>
                        </a:solidFill>
                        <a:effectLst/>
                        <a:latin typeface="华文细黑" panose="02010600040101010101" pitchFamily="2" charset="-122"/>
                        <a:ea typeface="宋体" panose="02010600030101010101" pitchFamily="2" charset="-122"/>
                      </a:endParaRPr>
                    </a:p>
                  </a:txBody>
                  <a:tcPr marL="91444" marR="91444"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受过高等教育的人</a:t>
                      </a:r>
                      <a:endParaRPr kumimoji="0" lang="zh-CN" altLang="en-US" sz="1800" b="0" i="0" u="none" strike="noStrike" cap="none" normalizeH="0" baseline="0" dirty="0">
                        <a:ln>
                          <a:noFill/>
                        </a:ln>
                        <a:solidFill>
                          <a:schemeClr val="tx1"/>
                        </a:solidFill>
                        <a:effectLst/>
                        <a:latin typeface="华文细黑" panose="02010600040101010101" pitchFamily="2" charset="-122"/>
                        <a:ea typeface="宋体" panose="02010600030101010101" pitchFamily="2" charset="-122"/>
                      </a:endParaRPr>
                    </a:p>
                  </a:txBody>
                  <a:tcPr marL="91444" marR="91444" marT="45722" marB="45722"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65197184"/>
                  </a:ext>
                </a:extLst>
              </a:tr>
              <a:tr h="749837">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800" b="1" i="0" u="none" strike="noStrike" cap="none" normalizeH="0" baseline="0" dirty="0">
                          <a:ln>
                            <a:noFill/>
                          </a:ln>
                          <a:solidFill>
                            <a:schemeClr val="tx1"/>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rPr>
                        <a:t>餐厅</a:t>
                      </a:r>
                      <a:endParaRPr kumimoji="0" lang="zh-CN" altLang="en-US" sz="1800" b="1" i="0" u="none" strike="noStrike" cap="none" normalizeH="0" baseline="0" dirty="0">
                        <a:ln>
                          <a:noFill/>
                        </a:ln>
                        <a:solidFill>
                          <a:schemeClr val="tx1"/>
                        </a:solidFill>
                        <a:effectLst>
                          <a:outerShdw blurRad="38100" dist="38100" dir="2700000" algn="tl">
                            <a:srgbClr val="000000">
                              <a:alpha val="43137"/>
                            </a:srgbClr>
                          </a:outerShdw>
                        </a:effectLst>
                        <a:latin typeface="华文细黑" panose="02010600040101010101" pitchFamily="2" charset="-122"/>
                        <a:ea typeface="宋体" panose="02010600030101010101" pitchFamily="2" charset="-122"/>
                      </a:endParaRPr>
                    </a:p>
                  </a:txBody>
                  <a:tcPr marL="91444" marR="91444" marT="45722" marB="45722"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饥饿的顾客</a:t>
                      </a:r>
                      <a:endParaRPr kumimoji="0" lang="zh-CN" altLang="en-US" sz="1800" b="0" i="0" u="none" strike="noStrike" cap="none" normalizeH="0" baseline="0" dirty="0">
                        <a:ln>
                          <a:noFill/>
                        </a:ln>
                        <a:solidFill>
                          <a:schemeClr val="tx1"/>
                        </a:solidFill>
                        <a:effectLst/>
                        <a:latin typeface="华文细黑" panose="02010600040101010101" pitchFamily="2" charset="-122"/>
                        <a:ea typeface="宋体" panose="02010600030101010101" pitchFamily="2" charset="-122"/>
                      </a:endParaRPr>
                    </a:p>
                  </a:txBody>
                  <a:tcPr marL="91444" marR="91444"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食物、厨师和服务员、环境</a:t>
                      </a:r>
                      <a:endParaRPr kumimoji="0" lang="zh-CN" altLang="en-US" sz="1800" b="0" i="0" u="none" strike="noStrike" cap="none" normalizeH="0" baseline="0" dirty="0">
                        <a:ln>
                          <a:noFill/>
                        </a:ln>
                        <a:solidFill>
                          <a:schemeClr val="tx1"/>
                        </a:solidFill>
                        <a:effectLst/>
                        <a:latin typeface="华文细黑" panose="02010600040101010101" pitchFamily="2" charset="-122"/>
                        <a:ea typeface="宋体" panose="02010600030101010101" pitchFamily="2" charset="-122"/>
                      </a:endParaRPr>
                    </a:p>
                  </a:txBody>
                  <a:tcPr marL="91444" marR="91444"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精美的食物、舒适的环境</a:t>
                      </a:r>
                      <a:endParaRPr kumimoji="0" lang="zh-CN" altLang="en-US" sz="1800" b="0" i="0" u="none" strike="noStrike" cap="none" normalizeH="0" baseline="0" dirty="0">
                        <a:ln>
                          <a:noFill/>
                        </a:ln>
                        <a:solidFill>
                          <a:schemeClr val="tx1"/>
                        </a:solidFill>
                        <a:effectLst/>
                        <a:latin typeface="华文细黑" panose="02010600040101010101" pitchFamily="2" charset="-122"/>
                        <a:ea typeface="宋体" panose="02010600030101010101" pitchFamily="2" charset="-122"/>
                      </a:endParaRPr>
                    </a:p>
                  </a:txBody>
                  <a:tcPr marL="91444" marR="91444"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满意的顾客</a:t>
                      </a:r>
                      <a:endParaRPr kumimoji="0" lang="zh-CN" altLang="en-US" sz="1800" b="0" i="0" u="none" strike="noStrike" cap="none" normalizeH="0" baseline="0" dirty="0">
                        <a:ln>
                          <a:noFill/>
                        </a:ln>
                        <a:solidFill>
                          <a:schemeClr val="tx1"/>
                        </a:solidFill>
                        <a:effectLst/>
                        <a:latin typeface="华文细黑" panose="02010600040101010101" pitchFamily="2" charset="-122"/>
                        <a:ea typeface="宋体" panose="02010600030101010101" pitchFamily="2" charset="-122"/>
                      </a:endParaRPr>
                    </a:p>
                  </a:txBody>
                  <a:tcPr marL="91444" marR="91444" marT="45722" marB="45722"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118696460"/>
                  </a:ext>
                </a:extLst>
              </a:tr>
              <a:tr h="749837">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800" b="1" i="0" u="none" strike="noStrike" cap="none" normalizeH="0" baseline="0" dirty="0">
                          <a:ln>
                            <a:noFill/>
                          </a:ln>
                          <a:solidFill>
                            <a:schemeClr val="tx1"/>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rPr>
                        <a:t>百货商店</a:t>
                      </a:r>
                      <a:endParaRPr kumimoji="0" lang="zh-CN" altLang="en-US" sz="1800" b="1" i="0" u="none" strike="noStrike" cap="none" normalizeH="0" baseline="0" dirty="0">
                        <a:ln>
                          <a:noFill/>
                        </a:ln>
                        <a:solidFill>
                          <a:schemeClr val="tx1"/>
                        </a:solidFill>
                        <a:effectLst>
                          <a:outerShdw blurRad="38100" dist="38100" dir="2700000" algn="tl">
                            <a:srgbClr val="000000">
                              <a:alpha val="43137"/>
                            </a:srgbClr>
                          </a:outerShdw>
                        </a:effectLst>
                        <a:latin typeface="华文细黑" panose="02010600040101010101" pitchFamily="2" charset="-122"/>
                        <a:ea typeface="宋体" panose="02010600030101010101" pitchFamily="2" charset="-122"/>
                      </a:endParaRPr>
                    </a:p>
                  </a:txBody>
                  <a:tcPr marL="91444" marR="91444" marT="45722" marB="45722"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顾客</a:t>
                      </a:r>
                      <a:endParaRPr kumimoji="0" lang="zh-CN" altLang="en-US" sz="1800" b="0" i="0" u="none" strike="noStrike" cap="none" normalizeH="0" baseline="0">
                        <a:ln>
                          <a:noFill/>
                        </a:ln>
                        <a:solidFill>
                          <a:schemeClr val="tx1"/>
                        </a:solidFill>
                        <a:effectLst/>
                        <a:latin typeface="华文细黑" panose="02010600040101010101" pitchFamily="2" charset="-122"/>
                        <a:ea typeface="宋体" panose="02010600030101010101" pitchFamily="2" charset="-122"/>
                      </a:endParaRPr>
                    </a:p>
                  </a:txBody>
                  <a:tcPr marL="91444" marR="91444"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商品展示、存储、售货员</a:t>
                      </a:r>
                      <a:endParaRPr kumimoji="0" lang="zh-CN" altLang="en-US" sz="1800" b="0" i="0" u="none" strike="noStrike" cap="none" normalizeH="0" baseline="0">
                        <a:ln>
                          <a:noFill/>
                        </a:ln>
                        <a:solidFill>
                          <a:schemeClr val="tx1"/>
                        </a:solidFill>
                        <a:effectLst/>
                        <a:latin typeface="华文细黑" panose="02010600040101010101" pitchFamily="2" charset="-122"/>
                        <a:ea typeface="宋体" panose="02010600030101010101" pitchFamily="2" charset="-122"/>
                      </a:endParaRPr>
                    </a:p>
                  </a:txBody>
                  <a:tcPr marL="91444" marR="91444"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吸引顾客、销售商品</a:t>
                      </a:r>
                      <a:endParaRPr kumimoji="0" lang="zh-CN" altLang="en-US" sz="1800" b="0" i="0" u="none" strike="noStrike" cap="none" normalizeH="0" baseline="0" dirty="0">
                        <a:ln>
                          <a:noFill/>
                        </a:ln>
                        <a:solidFill>
                          <a:schemeClr val="tx1"/>
                        </a:solidFill>
                        <a:effectLst/>
                        <a:latin typeface="华文细黑" panose="02010600040101010101" pitchFamily="2" charset="-122"/>
                        <a:ea typeface="宋体" panose="02010600030101010101" pitchFamily="2" charset="-122"/>
                      </a:endParaRPr>
                    </a:p>
                  </a:txBody>
                  <a:tcPr marL="91444" marR="91444"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顾客满意</a:t>
                      </a:r>
                      <a:endParaRPr kumimoji="0" lang="zh-CN" altLang="en-US" sz="1800" b="0" i="0" u="none" strike="noStrike" cap="none" normalizeH="0" baseline="0" dirty="0">
                        <a:ln>
                          <a:noFill/>
                        </a:ln>
                        <a:solidFill>
                          <a:schemeClr val="tx1"/>
                        </a:solidFill>
                        <a:effectLst/>
                        <a:latin typeface="华文细黑" panose="02010600040101010101" pitchFamily="2" charset="-122"/>
                        <a:ea typeface="宋体" panose="02010600030101010101" pitchFamily="2" charset="-122"/>
                      </a:endParaRPr>
                    </a:p>
                  </a:txBody>
                  <a:tcPr marL="91444" marR="91444" marT="45722" marB="45722"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962946761"/>
                  </a:ext>
                </a:extLst>
              </a:tr>
              <a:tr h="749837">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800" b="1" i="0" u="none" strike="noStrike" cap="none" normalizeH="0" baseline="0" dirty="0">
                          <a:ln>
                            <a:noFill/>
                          </a:ln>
                          <a:solidFill>
                            <a:schemeClr val="tx1"/>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rPr>
                        <a:t>修理站</a:t>
                      </a:r>
                      <a:endParaRPr kumimoji="0" lang="zh-CN" altLang="en-US" sz="1800" b="1" i="0" u="none" strike="noStrike" cap="none" normalizeH="0" baseline="0" dirty="0">
                        <a:ln>
                          <a:noFill/>
                        </a:ln>
                        <a:solidFill>
                          <a:schemeClr val="tx1"/>
                        </a:solidFill>
                        <a:effectLst>
                          <a:outerShdw blurRad="38100" dist="38100" dir="2700000" algn="tl">
                            <a:srgbClr val="000000">
                              <a:alpha val="43137"/>
                            </a:srgbClr>
                          </a:outerShdw>
                        </a:effectLst>
                        <a:latin typeface="华文细黑" panose="02010600040101010101" pitchFamily="2" charset="-122"/>
                        <a:ea typeface="宋体" panose="02010600030101010101" pitchFamily="2" charset="-122"/>
                      </a:endParaRPr>
                    </a:p>
                  </a:txBody>
                  <a:tcPr marL="91444" marR="91444" marT="45722" marB="45722"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损坏的机器</a:t>
                      </a:r>
                      <a:endParaRPr kumimoji="0" lang="zh-CN" altLang="en-US" sz="1800" b="0" i="0" u="none" strike="noStrike" cap="none" normalizeH="0" baseline="0" dirty="0">
                        <a:ln>
                          <a:noFill/>
                        </a:ln>
                        <a:solidFill>
                          <a:schemeClr val="tx1"/>
                        </a:solidFill>
                        <a:effectLst/>
                        <a:latin typeface="华文细黑" panose="02010600040101010101" pitchFamily="2" charset="-122"/>
                        <a:ea typeface="宋体" panose="02010600030101010101" pitchFamily="2" charset="-122"/>
                      </a:endParaRPr>
                    </a:p>
                  </a:txBody>
                  <a:tcPr marL="91444" marR="91444"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修理工、维修设备、工具</a:t>
                      </a:r>
                      <a:endParaRPr kumimoji="0" lang="zh-CN" altLang="en-US" sz="1800" b="0" i="0" u="none" strike="noStrike" cap="none" normalizeH="0" baseline="0" dirty="0">
                        <a:ln>
                          <a:noFill/>
                        </a:ln>
                        <a:solidFill>
                          <a:schemeClr val="tx1"/>
                        </a:solidFill>
                        <a:effectLst/>
                        <a:latin typeface="华文细黑" panose="02010600040101010101" pitchFamily="2" charset="-122"/>
                        <a:ea typeface="宋体" panose="02010600030101010101" pitchFamily="2" charset="-122"/>
                      </a:endParaRPr>
                    </a:p>
                  </a:txBody>
                  <a:tcPr marL="91444" marR="91444"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修理</a:t>
                      </a:r>
                      <a:endParaRPr kumimoji="0" lang="zh-CN" altLang="en-US" sz="1800" b="0" i="0" u="none" strike="noStrike" cap="none" normalizeH="0" baseline="0" dirty="0">
                        <a:ln>
                          <a:noFill/>
                        </a:ln>
                        <a:solidFill>
                          <a:schemeClr val="tx1"/>
                        </a:solidFill>
                        <a:effectLst/>
                        <a:latin typeface="华文细黑" panose="02010600040101010101" pitchFamily="2" charset="-122"/>
                        <a:ea typeface="宋体" panose="02010600030101010101" pitchFamily="2" charset="-122"/>
                      </a:endParaRPr>
                    </a:p>
                  </a:txBody>
                  <a:tcPr marL="91444" marR="91444" marT="45722" marB="457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修复的机器</a:t>
                      </a:r>
                      <a:endParaRPr kumimoji="0" lang="zh-CN" altLang="en-US" sz="1800" b="0" i="0" u="none" strike="noStrike" cap="none" normalizeH="0" baseline="0" dirty="0">
                        <a:ln>
                          <a:noFill/>
                        </a:ln>
                        <a:solidFill>
                          <a:schemeClr val="tx1"/>
                        </a:solidFill>
                        <a:effectLst/>
                        <a:latin typeface="华文细黑" panose="02010600040101010101" pitchFamily="2" charset="-122"/>
                        <a:ea typeface="宋体" panose="02010600030101010101" pitchFamily="2" charset="-122"/>
                      </a:endParaRPr>
                    </a:p>
                  </a:txBody>
                  <a:tcPr marL="91444" marR="91444" marT="45722" marB="45722"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878465599"/>
                  </a:ext>
                </a:extLst>
              </a:tr>
            </a:tbl>
          </a:graphicData>
        </a:graphic>
      </p:graphicFrame>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内容占位符 8"/>
          <p:cNvSpPr>
            <a:spLocks/>
          </p:cNvSpPr>
          <p:nvPr/>
        </p:nvSpPr>
        <p:spPr bwMode="auto">
          <a:xfrm>
            <a:off x="381000" y="908050"/>
            <a:ext cx="8305800" cy="556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latinLnBrk="1" hangingPunct="1">
              <a:lnSpc>
                <a:spcPct val="150000"/>
              </a:lnSpc>
              <a:buClr>
                <a:srgbClr val="2C3F71"/>
              </a:buClr>
            </a:pPr>
            <a:r>
              <a:rPr lang="zh-CN" altLang="en-US" sz="2800" b="1">
                <a:solidFill>
                  <a:srgbClr val="FF0000"/>
                </a:solidFill>
                <a:latin typeface="Calibri" panose="020F0502020204030204" pitchFamily="34" charset="0"/>
              </a:rPr>
              <a:t>功能目标</a:t>
            </a:r>
          </a:p>
          <a:p>
            <a:pPr lvl="1" eaLnBrk="1" latinLnBrk="1" hangingPunct="1">
              <a:lnSpc>
                <a:spcPct val="140000"/>
              </a:lnSpc>
              <a:buClr>
                <a:srgbClr val="2C3F71"/>
              </a:buClr>
            </a:pPr>
            <a:r>
              <a:rPr lang="zh-CN" altLang="en-US" sz="2000" b="1"/>
              <a:t>用户对产品的要求</a:t>
            </a:r>
            <a:r>
              <a:rPr lang="zh-CN" altLang="en-US" sz="2000"/>
              <a:t>：品种款式、质量、数量、价格、服务、交货期</a:t>
            </a:r>
          </a:p>
          <a:p>
            <a:pPr lvl="2" eaLnBrk="1" latinLnBrk="1" hangingPunct="1">
              <a:lnSpc>
                <a:spcPct val="140000"/>
              </a:lnSpc>
              <a:buClr>
                <a:srgbClr val="2C3F71"/>
              </a:buClr>
            </a:pPr>
            <a:r>
              <a:rPr lang="zh-CN" altLang="en-US" sz="1800"/>
              <a:t>一个有效的生产系统的功能目标是：制造的产品不仅能达到满足用户对产品</a:t>
            </a:r>
            <a:r>
              <a:rPr lang="en-US" altLang="zh-CN" sz="1800"/>
              <a:t>6</a:t>
            </a:r>
            <a:r>
              <a:rPr lang="zh-CN" altLang="en-US" sz="1800"/>
              <a:t>项要求的基准水平，而且还要适应企业经营战略的要求，使产品具有所需的特色，能在市场中取得竞争优势。</a:t>
            </a:r>
          </a:p>
          <a:p>
            <a:pPr lvl="1" eaLnBrk="1" latinLnBrk="1" hangingPunct="1">
              <a:lnSpc>
                <a:spcPct val="140000"/>
              </a:lnSpc>
              <a:buClr>
                <a:srgbClr val="2C3F71"/>
              </a:buClr>
            </a:pPr>
            <a:r>
              <a:rPr lang="zh-CN" altLang="en-US" sz="2000" b="1"/>
              <a:t>产品对生产系统的功能要求</a:t>
            </a:r>
            <a:r>
              <a:rPr lang="zh-CN" altLang="en-US" sz="2000"/>
              <a:t>：</a:t>
            </a:r>
          </a:p>
          <a:p>
            <a:pPr lvl="2" eaLnBrk="1" latinLnBrk="1" hangingPunct="1">
              <a:lnSpc>
                <a:spcPct val="140000"/>
              </a:lnSpc>
              <a:buClr>
                <a:srgbClr val="2C3F71"/>
              </a:buClr>
            </a:pPr>
            <a:r>
              <a:rPr lang="zh-CN" altLang="en-US" sz="1800"/>
              <a:t>创新、弹性、继承性：由外部环境提出，使系统适应环境要求。</a:t>
            </a:r>
          </a:p>
          <a:p>
            <a:pPr lvl="2" eaLnBrk="1" latinLnBrk="1" hangingPunct="1">
              <a:lnSpc>
                <a:spcPct val="140000"/>
              </a:lnSpc>
              <a:buClr>
                <a:srgbClr val="2C3F71"/>
              </a:buClr>
            </a:pPr>
            <a:r>
              <a:rPr lang="zh-CN" altLang="en-US" sz="1800"/>
              <a:t>质量、成本和按期交货：生产过程的运行规律合理组织生产过程所体现的功能</a:t>
            </a:r>
          </a:p>
        </p:txBody>
      </p:sp>
      <p:sp>
        <p:nvSpPr>
          <p:cNvPr id="5" name="Text Box 9"/>
          <p:cNvSpPr txBox="1">
            <a:spLocks noChangeArrowheads="1"/>
          </p:cNvSpPr>
          <p:nvPr/>
        </p:nvSpPr>
        <p:spPr bwMode="auto">
          <a:xfrm>
            <a:off x="762000" y="87313"/>
            <a:ext cx="2028825"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defRPr/>
            </a:pPr>
            <a:r>
              <a:rPr lang="en-US" altLang="zh-CN" sz="1800" b="1" dirty="0">
                <a:solidFill>
                  <a:srgbClr val="FFFF00"/>
                </a:solidFill>
                <a:effectLst>
                  <a:outerShdw blurRad="38100" dist="38100" dir="2700000" algn="tl">
                    <a:srgbClr val="000000">
                      <a:alpha val="43137"/>
                    </a:srgbClr>
                  </a:outerShdw>
                </a:effectLst>
              </a:rPr>
              <a:t>2.1 </a:t>
            </a:r>
            <a:r>
              <a:rPr lang="zh-CN" altLang="en-US" sz="1800" b="1" dirty="0">
                <a:solidFill>
                  <a:srgbClr val="FFFF00"/>
                </a:solidFill>
                <a:effectLst>
                  <a:outerShdw blurRad="38100" dist="38100" dir="2700000" algn="tl">
                    <a:srgbClr val="000000">
                      <a:alpha val="43137"/>
                    </a:srgbClr>
                  </a:outerShdw>
                </a:effectLst>
              </a:rPr>
              <a:t>企业</a:t>
            </a:r>
            <a:r>
              <a:rPr lang="en-US" altLang="zh-CN" sz="1800" b="1" dirty="0">
                <a:solidFill>
                  <a:srgbClr val="FFFF00"/>
                </a:solidFill>
                <a:effectLst>
                  <a:outerShdw blurRad="38100" dist="38100" dir="2700000" algn="tl">
                    <a:srgbClr val="000000">
                      <a:alpha val="43137"/>
                    </a:srgbClr>
                  </a:outerShdw>
                </a:effectLst>
              </a:rPr>
              <a:t>/</a:t>
            </a:r>
            <a:r>
              <a:rPr lang="zh-CN" altLang="en-US" sz="1800" b="1" dirty="0">
                <a:solidFill>
                  <a:srgbClr val="FFFF00"/>
                </a:solidFill>
                <a:effectLst>
                  <a:outerShdw blurRad="38100" dist="38100" dir="2700000" algn="tl">
                    <a:srgbClr val="000000">
                      <a:alpha val="43137"/>
                    </a:srgbClr>
                  </a:outerShdw>
                </a:effectLst>
              </a:rPr>
              <a:t>社会组织</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12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12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5123">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5123">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5123">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512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内容占位符 8"/>
          <p:cNvSpPr>
            <a:spLocks/>
          </p:cNvSpPr>
          <p:nvPr/>
        </p:nvSpPr>
        <p:spPr bwMode="auto">
          <a:xfrm>
            <a:off x="381000" y="765175"/>
            <a:ext cx="8305800" cy="556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latinLnBrk="1" hangingPunct="1">
              <a:lnSpc>
                <a:spcPct val="150000"/>
              </a:lnSpc>
              <a:buClr>
                <a:srgbClr val="2C3F71"/>
              </a:buClr>
            </a:pPr>
            <a:r>
              <a:rPr lang="zh-CN" altLang="en-US" sz="2800" b="1" dirty="0">
                <a:solidFill>
                  <a:srgbClr val="FF0000"/>
                </a:solidFill>
                <a:latin typeface="Calibri" panose="020F0502020204030204" pitchFamily="34" charset="0"/>
              </a:rPr>
              <a:t>组织结构</a:t>
            </a:r>
          </a:p>
          <a:p>
            <a:pPr lvl="1" eaLnBrk="1" latinLnBrk="1" hangingPunct="1">
              <a:lnSpc>
                <a:spcPct val="150000"/>
              </a:lnSpc>
              <a:buClr>
                <a:srgbClr val="2C3F71"/>
              </a:buClr>
            </a:pPr>
            <a:r>
              <a:rPr lang="zh-CN" altLang="en-US" sz="2000" b="1" dirty="0"/>
              <a:t>生产系统的结构是系统的结构要素及其组合关系</a:t>
            </a:r>
          </a:p>
          <a:p>
            <a:pPr lvl="2" eaLnBrk="1" latinLnBrk="1" hangingPunct="1">
              <a:lnSpc>
                <a:spcPct val="150000"/>
              </a:lnSpc>
              <a:buClr>
                <a:srgbClr val="2C3F71"/>
              </a:buClr>
            </a:pPr>
            <a:r>
              <a:rPr lang="zh-CN" altLang="en-US" sz="1800" dirty="0"/>
              <a:t>结构化要素和非结构化要素</a:t>
            </a:r>
          </a:p>
          <a:p>
            <a:pPr lvl="1" eaLnBrk="1" latinLnBrk="1" hangingPunct="1">
              <a:lnSpc>
                <a:spcPct val="150000"/>
              </a:lnSpc>
              <a:buClr>
                <a:srgbClr val="2C3F71"/>
              </a:buClr>
            </a:pPr>
            <a:r>
              <a:rPr lang="zh-CN" altLang="en-US" sz="2000" b="1" dirty="0"/>
              <a:t>结构化要素</a:t>
            </a:r>
            <a:r>
              <a:rPr lang="zh-CN" altLang="en-US" sz="2000" dirty="0"/>
              <a:t>：生产系统中的硬件及其组织关系</a:t>
            </a:r>
          </a:p>
          <a:p>
            <a:pPr lvl="2" eaLnBrk="1" latinLnBrk="1" hangingPunct="1">
              <a:lnSpc>
                <a:spcPct val="140000"/>
              </a:lnSpc>
              <a:buClr>
                <a:srgbClr val="2C3F71"/>
              </a:buClr>
            </a:pPr>
            <a:r>
              <a:rPr lang="zh-CN" altLang="en-US" sz="1800" dirty="0"/>
              <a:t>生产技术</a:t>
            </a:r>
          </a:p>
          <a:p>
            <a:pPr lvl="2" eaLnBrk="1" latinLnBrk="1" hangingPunct="1">
              <a:lnSpc>
                <a:spcPct val="140000"/>
              </a:lnSpc>
              <a:buClr>
                <a:srgbClr val="2C3F71"/>
              </a:buClr>
            </a:pPr>
            <a:r>
              <a:rPr lang="zh-CN" altLang="en-US" sz="1800" dirty="0"/>
              <a:t>生产设施</a:t>
            </a:r>
          </a:p>
          <a:p>
            <a:pPr lvl="2" eaLnBrk="1" latinLnBrk="1" hangingPunct="1">
              <a:lnSpc>
                <a:spcPct val="140000"/>
              </a:lnSpc>
              <a:buClr>
                <a:srgbClr val="2C3F71"/>
              </a:buClr>
            </a:pPr>
            <a:r>
              <a:rPr lang="zh-CN" altLang="en-US" sz="1800" dirty="0"/>
              <a:t>生产能力</a:t>
            </a:r>
          </a:p>
          <a:p>
            <a:pPr lvl="2" eaLnBrk="1" latinLnBrk="1" hangingPunct="1">
              <a:lnSpc>
                <a:spcPct val="140000"/>
              </a:lnSpc>
              <a:buClr>
                <a:srgbClr val="2C3F71"/>
              </a:buClr>
            </a:pPr>
            <a:r>
              <a:rPr lang="zh-CN" altLang="en-US" sz="1800" dirty="0"/>
              <a:t>生产系统的集成</a:t>
            </a:r>
          </a:p>
          <a:p>
            <a:pPr lvl="1" eaLnBrk="1" latinLnBrk="1" hangingPunct="1">
              <a:lnSpc>
                <a:spcPct val="150000"/>
              </a:lnSpc>
              <a:buClr>
                <a:srgbClr val="2C3F71"/>
              </a:buClr>
            </a:pPr>
            <a:r>
              <a:rPr lang="zh-CN" altLang="en-US" sz="2000" dirty="0"/>
              <a:t>结构化要素对形成系统的功能起决定性作用，是形成生产系统框架结构的物质基础。</a:t>
            </a:r>
          </a:p>
        </p:txBody>
      </p:sp>
      <p:sp>
        <p:nvSpPr>
          <p:cNvPr id="5" name="Text Box 9"/>
          <p:cNvSpPr txBox="1">
            <a:spLocks noChangeArrowheads="1"/>
          </p:cNvSpPr>
          <p:nvPr/>
        </p:nvSpPr>
        <p:spPr bwMode="auto">
          <a:xfrm>
            <a:off x="762000" y="87313"/>
            <a:ext cx="2028825"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defRPr/>
            </a:pPr>
            <a:r>
              <a:rPr lang="en-US" altLang="zh-CN" sz="1800" b="1" dirty="0">
                <a:solidFill>
                  <a:srgbClr val="FFFF00"/>
                </a:solidFill>
                <a:effectLst>
                  <a:outerShdw blurRad="38100" dist="38100" dir="2700000" algn="tl">
                    <a:srgbClr val="000000">
                      <a:alpha val="43137"/>
                    </a:srgbClr>
                  </a:outerShdw>
                </a:effectLst>
              </a:rPr>
              <a:t>2.1 </a:t>
            </a:r>
            <a:r>
              <a:rPr lang="zh-CN" altLang="en-US" sz="1800" b="1" dirty="0">
                <a:solidFill>
                  <a:srgbClr val="FFFF00"/>
                </a:solidFill>
                <a:effectLst>
                  <a:outerShdw blurRad="38100" dist="38100" dir="2700000" algn="tl">
                    <a:srgbClr val="000000">
                      <a:alpha val="43137"/>
                    </a:srgbClr>
                  </a:outerShdw>
                </a:effectLst>
              </a:rPr>
              <a:t>企业</a:t>
            </a:r>
            <a:r>
              <a:rPr lang="en-US" altLang="zh-CN" sz="1800" b="1" dirty="0">
                <a:solidFill>
                  <a:srgbClr val="FFFF00"/>
                </a:solidFill>
                <a:effectLst>
                  <a:outerShdw blurRad="38100" dist="38100" dir="2700000" algn="tl">
                    <a:srgbClr val="000000">
                      <a:alpha val="43137"/>
                    </a:srgbClr>
                  </a:outerShdw>
                </a:effectLst>
              </a:rPr>
              <a:t>/</a:t>
            </a:r>
            <a:r>
              <a:rPr lang="zh-CN" altLang="en-US" sz="1800" b="1" dirty="0">
                <a:solidFill>
                  <a:srgbClr val="FFFF00"/>
                </a:solidFill>
                <a:effectLst>
                  <a:outerShdw blurRad="38100" dist="38100" dir="2700000" algn="tl">
                    <a:srgbClr val="000000">
                      <a:alpha val="43137"/>
                    </a:srgbClr>
                  </a:outerShdw>
                </a:effectLst>
              </a:rPr>
              <a:t>社会组织</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12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12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5123">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5123">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5123">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5123">
                                            <p:txEl>
                                              <p:pRg st="5" end="5"/>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5123">
                                            <p:txEl>
                                              <p:pRg st="6" end="6"/>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0"/>
                                          </p:stCondLst>
                                        </p:cTn>
                                        <p:tgtEl>
                                          <p:spTgt spid="5123">
                                            <p:txEl>
                                              <p:pRg st="7" end="7"/>
                                            </p:txEl>
                                          </p:spTgt>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nodeType="clickEffect">
                                  <p:stCondLst>
                                    <p:cond delay="0"/>
                                  </p:stCondLst>
                                  <p:childTnLst>
                                    <p:set>
                                      <p:cBhvr>
                                        <p:cTn id="38" dur="1" fill="hold">
                                          <p:stCondLst>
                                            <p:cond delay="0"/>
                                          </p:stCondLst>
                                        </p:cTn>
                                        <p:tgtEl>
                                          <p:spTgt spid="512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内容占位符 8"/>
          <p:cNvSpPr>
            <a:spLocks/>
          </p:cNvSpPr>
          <p:nvPr/>
        </p:nvSpPr>
        <p:spPr bwMode="auto">
          <a:xfrm>
            <a:off x="179388" y="765175"/>
            <a:ext cx="8763000" cy="6048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latinLnBrk="1" hangingPunct="1">
              <a:lnSpc>
                <a:spcPct val="150000"/>
              </a:lnSpc>
              <a:buClr>
                <a:srgbClr val="2C3F71"/>
              </a:buClr>
            </a:pPr>
            <a:r>
              <a:rPr lang="zh-CN" altLang="en-US" sz="2800" b="1">
                <a:solidFill>
                  <a:srgbClr val="FF0000"/>
                </a:solidFill>
                <a:latin typeface="Calibri" panose="020F0502020204030204" pitchFamily="34" charset="0"/>
              </a:rPr>
              <a:t>组织结构</a:t>
            </a:r>
          </a:p>
          <a:p>
            <a:pPr lvl="1" eaLnBrk="1" latinLnBrk="1" hangingPunct="1">
              <a:lnSpc>
                <a:spcPct val="150000"/>
              </a:lnSpc>
              <a:buClr>
                <a:srgbClr val="2C3F71"/>
              </a:buClr>
            </a:pPr>
            <a:r>
              <a:rPr lang="zh-CN" altLang="en-US" sz="2000" b="1"/>
              <a:t>非结构化要素</a:t>
            </a:r>
            <a:r>
              <a:rPr lang="zh-CN" altLang="en-US" sz="2000"/>
              <a:t>：生产系统中支持和控制系统运行的软件性要素，“管理”的要素</a:t>
            </a:r>
          </a:p>
          <a:p>
            <a:pPr lvl="2" eaLnBrk="1" latinLnBrk="1" hangingPunct="1">
              <a:lnSpc>
                <a:spcPct val="140000"/>
              </a:lnSpc>
              <a:buClr>
                <a:srgbClr val="2C3F71"/>
              </a:buClr>
            </a:pPr>
            <a:r>
              <a:rPr lang="zh-CN" altLang="en-US" sz="1800"/>
              <a:t>人员组织</a:t>
            </a:r>
          </a:p>
          <a:p>
            <a:pPr lvl="2" eaLnBrk="1" latinLnBrk="1" hangingPunct="1">
              <a:lnSpc>
                <a:spcPct val="140000"/>
              </a:lnSpc>
              <a:buClr>
                <a:srgbClr val="2C3F71"/>
              </a:buClr>
            </a:pPr>
            <a:r>
              <a:rPr lang="zh-CN" altLang="en-US" sz="1800"/>
              <a:t>生产计划</a:t>
            </a:r>
          </a:p>
          <a:p>
            <a:pPr lvl="2" eaLnBrk="1" latinLnBrk="1" hangingPunct="1">
              <a:lnSpc>
                <a:spcPct val="140000"/>
              </a:lnSpc>
              <a:buClr>
                <a:srgbClr val="2C3F71"/>
              </a:buClr>
            </a:pPr>
            <a:r>
              <a:rPr lang="zh-CN" altLang="en-US" sz="1800"/>
              <a:t>生产库存</a:t>
            </a:r>
          </a:p>
          <a:p>
            <a:pPr lvl="2" eaLnBrk="1" latinLnBrk="1" hangingPunct="1">
              <a:lnSpc>
                <a:spcPct val="140000"/>
              </a:lnSpc>
              <a:buClr>
                <a:srgbClr val="2C3F71"/>
              </a:buClr>
            </a:pPr>
            <a:r>
              <a:rPr lang="zh-CN" altLang="en-US" sz="1800"/>
              <a:t>质量管理</a:t>
            </a:r>
          </a:p>
          <a:p>
            <a:pPr lvl="1" eaLnBrk="1" latinLnBrk="1" hangingPunct="1">
              <a:lnSpc>
                <a:spcPct val="150000"/>
              </a:lnSpc>
              <a:buClr>
                <a:srgbClr val="2C3F71"/>
              </a:buClr>
            </a:pPr>
            <a:r>
              <a:rPr lang="zh-CN" altLang="en-US" sz="2000">
                <a:solidFill>
                  <a:srgbClr val="FF0000"/>
                </a:solidFill>
              </a:rPr>
              <a:t>结构化要素</a:t>
            </a:r>
            <a:r>
              <a:rPr lang="zh-CN" altLang="en-US" sz="2000"/>
              <a:t>的内容及其组合形式</a:t>
            </a:r>
            <a:r>
              <a:rPr lang="zh-CN" altLang="en-US" sz="2000" b="1" u="sng">
                <a:solidFill>
                  <a:srgbClr val="0000CC"/>
                </a:solidFill>
              </a:rPr>
              <a:t>决定</a:t>
            </a:r>
            <a:r>
              <a:rPr lang="zh-CN" altLang="en-US" sz="2000" b="1">
                <a:solidFill>
                  <a:srgbClr val="FF0000"/>
                </a:solidFill>
              </a:rPr>
              <a:t>生产系统的结构形式</a:t>
            </a:r>
            <a:endParaRPr lang="en-US" altLang="zh-CN" sz="2000"/>
          </a:p>
          <a:p>
            <a:pPr lvl="1" eaLnBrk="1" latinLnBrk="1" hangingPunct="1">
              <a:lnSpc>
                <a:spcPct val="150000"/>
              </a:lnSpc>
              <a:buClr>
                <a:srgbClr val="2C3F71"/>
              </a:buClr>
            </a:pPr>
            <a:r>
              <a:rPr lang="zh-CN" altLang="en-US" sz="2000">
                <a:solidFill>
                  <a:srgbClr val="FF0000"/>
                </a:solidFill>
              </a:rPr>
              <a:t>非结构化要素</a:t>
            </a:r>
            <a:r>
              <a:rPr lang="zh-CN" altLang="en-US" sz="2000"/>
              <a:t>的内容及其组合形式</a:t>
            </a:r>
            <a:r>
              <a:rPr lang="zh-CN" altLang="en-US" sz="2000" b="1" u="sng">
                <a:solidFill>
                  <a:srgbClr val="0000CC"/>
                </a:solidFill>
              </a:rPr>
              <a:t>决定</a:t>
            </a:r>
            <a:r>
              <a:rPr lang="zh-CN" altLang="en-US" sz="2000" b="1">
                <a:solidFill>
                  <a:srgbClr val="FF0000"/>
                </a:solidFill>
              </a:rPr>
              <a:t>生产系统的运行机制</a:t>
            </a:r>
            <a:r>
              <a:rPr lang="zh-CN" altLang="en-US" sz="2000"/>
              <a:t>。</a:t>
            </a:r>
            <a:endParaRPr lang="en-US" altLang="zh-CN" sz="2000"/>
          </a:p>
          <a:p>
            <a:pPr lvl="1" eaLnBrk="1" latinLnBrk="1" hangingPunct="1">
              <a:lnSpc>
                <a:spcPct val="150000"/>
              </a:lnSpc>
              <a:buClr>
                <a:srgbClr val="2C3F71"/>
              </a:buClr>
            </a:pPr>
            <a:r>
              <a:rPr lang="zh-CN" altLang="en-US" sz="2000"/>
              <a:t>具有某种结构形式的生产系统要求一定的运行机制相匹配，系统才能顺利运转。</a:t>
            </a:r>
          </a:p>
        </p:txBody>
      </p:sp>
      <p:sp>
        <p:nvSpPr>
          <p:cNvPr id="5" name="Text Box 9"/>
          <p:cNvSpPr txBox="1">
            <a:spLocks noChangeArrowheads="1"/>
          </p:cNvSpPr>
          <p:nvPr/>
        </p:nvSpPr>
        <p:spPr bwMode="auto">
          <a:xfrm>
            <a:off x="762000" y="87313"/>
            <a:ext cx="2028825"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defRPr/>
            </a:pPr>
            <a:r>
              <a:rPr lang="en-US" altLang="zh-CN" sz="1800" b="1" dirty="0">
                <a:solidFill>
                  <a:srgbClr val="FFFF00"/>
                </a:solidFill>
                <a:effectLst>
                  <a:outerShdw blurRad="38100" dist="38100" dir="2700000" algn="tl">
                    <a:srgbClr val="000000">
                      <a:alpha val="43137"/>
                    </a:srgbClr>
                  </a:outerShdw>
                </a:effectLst>
              </a:rPr>
              <a:t>2.1 </a:t>
            </a:r>
            <a:r>
              <a:rPr lang="zh-CN" altLang="en-US" sz="1800" b="1" dirty="0">
                <a:solidFill>
                  <a:srgbClr val="FFFF00"/>
                </a:solidFill>
                <a:effectLst>
                  <a:outerShdw blurRad="38100" dist="38100" dir="2700000" algn="tl">
                    <a:srgbClr val="000000">
                      <a:alpha val="43137"/>
                    </a:srgbClr>
                  </a:outerShdw>
                </a:effectLst>
              </a:rPr>
              <a:t>企业</a:t>
            </a:r>
            <a:r>
              <a:rPr lang="en-US" altLang="zh-CN" sz="1800" b="1" dirty="0">
                <a:solidFill>
                  <a:srgbClr val="FFFF00"/>
                </a:solidFill>
                <a:effectLst>
                  <a:outerShdw blurRad="38100" dist="38100" dir="2700000" algn="tl">
                    <a:srgbClr val="000000">
                      <a:alpha val="43137"/>
                    </a:srgbClr>
                  </a:outerShdw>
                </a:effectLst>
              </a:rPr>
              <a:t>/</a:t>
            </a:r>
            <a:r>
              <a:rPr lang="zh-CN" altLang="en-US" sz="1800" b="1" dirty="0">
                <a:solidFill>
                  <a:srgbClr val="FFFF00"/>
                </a:solidFill>
                <a:effectLst>
                  <a:outerShdw blurRad="38100" dist="38100" dir="2700000" algn="tl">
                    <a:srgbClr val="000000">
                      <a:alpha val="43137"/>
                    </a:srgbClr>
                  </a:outerShdw>
                </a:effectLst>
              </a:rPr>
              <a:t>社会组织</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123">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123">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5123">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5123">
                                            <p:txEl>
                                              <p:pRg st="4" end="4"/>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5123">
                                            <p:txEl>
                                              <p:pRg st="5" end="5"/>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5123">
                                            <p:txEl>
                                              <p:pRg st="6" end="6"/>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5123">
                                            <p:txEl>
                                              <p:pRg st="7" end="7"/>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0"/>
                                          </p:stCondLst>
                                        </p:cTn>
                                        <p:tgtEl>
                                          <p:spTgt spid="512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4450" name="Rectangle 2"/>
          <p:cNvSpPr>
            <a:spLocks noGrp="1" noChangeArrowheads="1"/>
          </p:cNvSpPr>
          <p:nvPr>
            <p:ph type="title"/>
          </p:nvPr>
        </p:nvSpPr>
        <p:spPr>
          <a:xfrm>
            <a:off x="457200" y="685800"/>
            <a:ext cx="8229600" cy="609600"/>
          </a:xfrm>
        </p:spPr>
        <p:txBody>
          <a:bodyPr/>
          <a:lstStyle/>
          <a:p>
            <a:pPr algn="ctr" eaLnBrk="1" hangingPunct="1">
              <a:defRPr/>
            </a:pPr>
            <a:r>
              <a:rPr lang="en-US" altLang="zh-CN" sz="3600" b="1" dirty="0">
                <a:solidFill>
                  <a:srgbClr val="FF0000"/>
                </a:solidFill>
                <a:effectLst>
                  <a:outerShdw blurRad="38100" dist="38100" dir="2700000" algn="tl">
                    <a:srgbClr val="C0C0C0"/>
                  </a:outerShdw>
                </a:effectLst>
                <a:latin typeface="Times New Roman" pitchFamily="18" charset="0"/>
              </a:rPr>
              <a:t>2.2 </a:t>
            </a:r>
            <a:r>
              <a:rPr lang="zh-CN" altLang="en-US" sz="3600" b="1" dirty="0">
                <a:solidFill>
                  <a:srgbClr val="FF0000"/>
                </a:solidFill>
                <a:effectLst>
                  <a:outerShdw blurRad="38100" dist="38100" dir="2700000" algn="tl">
                    <a:srgbClr val="C0C0C0"/>
                  </a:outerShdw>
                </a:effectLst>
                <a:latin typeface="Times New Roman" pitchFamily="18" charset="0"/>
              </a:rPr>
              <a:t>生产运作系统</a:t>
            </a:r>
          </a:p>
        </p:txBody>
      </p:sp>
      <p:sp>
        <p:nvSpPr>
          <p:cNvPr id="104451" name="Rectangle 3"/>
          <p:cNvSpPr>
            <a:spLocks noGrp="1" noChangeArrowheads="1"/>
          </p:cNvSpPr>
          <p:nvPr>
            <p:ph type="body" idx="1"/>
          </p:nvPr>
        </p:nvSpPr>
        <p:spPr>
          <a:xfrm>
            <a:off x="3048000" y="1828800"/>
            <a:ext cx="5029200" cy="4038600"/>
          </a:xfrm>
        </p:spPr>
        <p:txBody>
          <a:bodyPr/>
          <a:lstStyle/>
          <a:p>
            <a:pPr eaLnBrk="1" hangingPunct="1">
              <a:lnSpc>
                <a:spcPct val="200000"/>
              </a:lnSpc>
              <a:buClr>
                <a:schemeClr val="tx1"/>
              </a:buClr>
              <a:buFont typeface="Marlett" pitchFamily="2" charset="2"/>
              <a:buChar char="2"/>
              <a:defRPr/>
            </a:pPr>
            <a:r>
              <a:rPr lang="zh-CN" altLang="en-US" sz="2800" b="1" dirty="0">
                <a:effectLst>
                  <a:outerShdw blurRad="38100" dist="38100" dir="2700000" algn="tl">
                    <a:srgbClr val="C0C0C0"/>
                  </a:outerShdw>
                </a:effectLst>
                <a:latin typeface="Times New Roman" pitchFamily="18" charset="0"/>
              </a:rPr>
              <a:t>生产过程</a:t>
            </a:r>
          </a:p>
          <a:p>
            <a:pPr eaLnBrk="1" hangingPunct="1">
              <a:lnSpc>
                <a:spcPct val="200000"/>
              </a:lnSpc>
              <a:buClr>
                <a:schemeClr val="tx1"/>
              </a:buClr>
              <a:buFont typeface="Marlett" pitchFamily="2" charset="2"/>
              <a:buChar char="2"/>
              <a:defRPr/>
            </a:pPr>
            <a:r>
              <a:rPr lang="zh-CN" altLang="en-US" sz="2800" b="1" dirty="0">
                <a:effectLst>
                  <a:outerShdw blurRad="38100" dist="38100" dir="2700000" algn="tl">
                    <a:srgbClr val="C0C0C0"/>
                  </a:outerShdw>
                </a:effectLst>
                <a:latin typeface="Times New Roman" pitchFamily="18" charset="0"/>
              </a:rPr>
              <a:t>生产类型</a:t>
            </a:r>
          </a:p>
          <a:p>
            <a:pPr eaLnBrk="1" hangingPunct="1">
              <a:lnSpc>
                <a:spcPct val="200000"/>
              </a:lnSpc>
              <a:buClr>
                <a:schemeClr val="tx1"/>
              </a:buClr>
              <a:buFont typeface="Marlett" pitchFamily="2" charset="2"/>
              <a:buChar char="2"/>
              <a:defRPr/>
            </a:pPr>
            <a:r>
              <a:rPr lang="zh-CN" altLang="en-US" sz="2800" b="1" dirty="0">
                <a:effectLst>
                  <a:outerShdw blurRad="38100" dist="38100" dir="2700000" algn="tl">
                    <a:srgbClr val="C0C0C0"/>
                  </a:outerShdw>
                </a:effectLst>
                <a:latin typeface="Times New Roman" pitchFamily="18" charset="0"/>
              </a:rPr>
              <a:t>制造的组织模式</a:t>
            </a:r>
            <a:endParaRPr lang="en-US" altLang="zh-CN" sz="2800" b="1" dirty="0">
              <a:effectLst>
                <a:outerShdw blurRad="38100" dist="38100" dir="2700000" algn="tl">
                  <a:srgbClr val="C0C0C0"/>
                </a:outerShdw>
              </a:effectLst>
              <a:latin typeface="Times New Roman" pitchFamily="18" charset="0"/>
            </a:endParaRPr>
          </a:p>
          <a:p>
            <a:pPr eaLnBrk="1" hangingPunct="1">
              <a:lnSpc>
                <a:spcPct val="200000"/>
              </a:lnSpc>
              <a:buClr>
                <a:schemeClr val="tx1"/>
              </a:buClr>
              <a:buFont typeface="Marlett" pitchFamily="2" charset="2"/>
              <a:buChar char="2"/>
              <a:defRPr/>
            </a:pPr>
            <a:r>
              <a:rPr lang="zh-CN" altLang="en-US" sz="2800" b="1" dirty="0">
                <a:effectLst>
                  <a:outerShdw blurRad="38100" dist="38100" dir="2700000" algn="tl">
                    <a:srgbClr val="C0C0C0"/>
                  </a:outerShdw>
                </a:effectLst>
                <a:latin typeface="Times New Roman" pitchFamily="18" charset="0"/>
              </a:rPr>
              <a:t>生产计划体系</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1" fill="hold" grpId="0" nodeType="clickEffect">
                                  <p:stCondLst>
                                    <p:cond delay="0"/>
                                  </p:stCondLst>
                                  <p:childTnLst>
                                    <p:set>
                                      <p:cBhvr>
                                        <p:cTn id="6" dur="1" fill="hold">
                                          <p:stCondLst>
                                            <p:cond delay="0"/>
                                          </p:stCondLst>
                                        </p:cTn>
                                        <p:tgtEl>
                                          <p:spTgt spid="104450"/>
                                        </p:tgtEl>
                                        <p:attrNameLst>
                                          <p:attrName>style.visibility</p:attrName>
                                        </p:attrNameLst>
                                      </p:cBhvr>
                                      <p:to>
                                        <p:strVal val="visible"/>
                                      </p:to>
                                    </p:set>
                                    <p:anim calcmode="lin" valueType="num">
                                      <p:cBhvr additive="base">
                                        <p:cTn id="7" dur="500" fill="hold"/>
                                        <p:tgtEl>
                                          <p:spTgt spid="104450"/>
                                        </p:tgtEl>
                                        <p:attrNameLst>
                                          <p:attrName>ppt_x</p:attrName>
                                        </p:attrNameLst>
                                      </p:cBhvr>
                                      <p:tavLst>
                                        <p:tav tm="0">
                                          <p:val>
                                            <p:strVal val="#ppt_x"/>
                                          </p:val>
                                        </p:tav>
                                        <p:tav tm="100000">
                                          <p:val>
                                            <p:strVal val="#ppt_x"/>
                                          </p:val>
                                        </p:tav>
                                      </p:tavLst>
                                    </p:anim>
                                    <p:anim calcmode="lin" valueType="num">
                                      <p:cBhvr additive="base">
                                        <p:cTn id="8" dur="500" fill="hold"/>
                                        <p:tgtEl>
                                          <p:spTgt spid="104450"/>
                                        </p:tgtEl>
                                        <p:attrNameLst>
                                          <p:attrName>ppt_y</p:attrName>
                                        </p:attrNameLst>
                                      </p:cBhvr>
                                      <p:tavLst>
                                        <p:tav tm="0">
                                          <p:val>
                                            <p:strVal val="0-#ppt_h/2"/>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IR_NEW.WAV"/>
                                        </p:tgtEl>
                                      </p:cMediaNode>
                                    </p:audio>
                                  </p:subTnLst>
                                </p:cTn>
                              </p:par>
                            </p:childTnLst>
                          </p:cTn>
                        </p:par>
                        <p:par>
                          <p:cTn id="9" fill="hold" nodeType="afterGroup">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104451">
                                            <p:txEl>
                                              <p:pRg st="0" end="0"/>
                                            </p:txEl>
                                          </p:spTgt>
                                        </p:tgtEl>
                                        <p:attrNameLst>
                                          <p:attrName>style.visibility</p:attrName>
                                        </p:attrNameLst>
                                      </p:cBhvr>
                                      <p:to>
                                        <p:strVal val="visible"/>
                                      </p:to>
                                    </p:set>
                                    <p:anim calcmode="lin" valueType="num">
                                      <p:cBhvr additive="base">
                                        <p:cTn id="12" dur="500" fill="hold"/>
                                        <p:tgtEl>
                                          <p:spTgt spid="104451">
                                            <p:txEl>
                                              <p:pRg st="0" end="0"/>
                                            </p:txEl>
                                          </p:spTgt>
                                        </p:tgtEl>
                                        <p:attrNameLst>
                                          <p:attrName>ppt_x</p:attrName>
                                        </p:attrNameLst>
                                      </p:cBhvr>
                                      <p:tavLst>
                                        <p:tav tm="0">
                                          <p:val>
                                            <p:strVal val="0-#ppt_w/2"/>
                                          </p:val>
                                        </p:tav>
                                        <p:tav tm="100000">
                                          <p:val>
                                            <p:strVal val="#ppt_x"/>
                                          </p:val>
                                        </p:tav>
                                      </p:tavLst>
                                    </p:anim>
                                    <p:anim calcmode="lin" valueType="num">
                                      <p:cBhvr additive="base">
                                        <p:cTn id="13" dur="500" fill="hold"/>
                                        <p:tgtEl>
                                          <p:spTgt spid="104451">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par>
                          <p:cTn id="14" fill="hold" nodeType="afterGroup">
                            <p:stCondLst>
                              <p:cond delay="1000"/>
                            </p:stCondLst>
                            <p:childTnLst>
                              <p:par>
                                <p:cTn id="15" presetID="2" presetClass="entr" presetSubtype="8" fill="hold" grpId="0" nodeType="afterEffect">
                                  <p:stCondLst>
                                    <p:cond delay="0"/>
                                  </p:stCondLst>
                                  <p:childTnLst>
                                    <p:set>
                                      <p:cBhvr>
                                        <p:cTn id="16" dur="1" fill="hold">
                                          <p:stCondLst>
                                            <p:cond delay="0"/>
                                          </p:stCondLst>
                                        </p:cTn>
                                        <p:tgtEl>
                                          <p:spTgt spid="104451">
                                            <p:txEl>
                                              <p:pRg st="1" end="1"/>
                                            </p:txEl>
                                          </p:spTgt>
                                        </p:tgtEl>
                                        <p:attrNameLst>
                                          <p:attrName>style.visibility</p:attrName>
                                        </p:attrNameLst>
                                      </p:cBhvr>
                                      <p:to>
                                        <p:strVal val="visible"/>
                                      </p:to>
                                    </p:set>
                                    <p:anim calcmode="lin" valueType="num">
                                      <p:cBhvr additive="base">
                                        <p:cTn id="17" dur="500" fill="hold"/>
                                        <p:tgtEl>
                                          <p:spTgt spid="104451">
                                            <p:txEl>
                                              <p:pRg st="1" end="1"/>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104451">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5"/>
                                            </p:cond>
                                          </p:stCondLst>
                                          <p:endCondLst>
                                            <p:cond evt="onStopAudio" delay="0">
                                              <p:tgtEl>
                                                <p:sldTgt/>
                                              </p:tgtEl>
                                            </p:cond>
                                          </p:endCondLst>
                                        </p:cTn>
                                        <p:tgtEl>
                                          <p:sndTgt r:embed="rId3" name="CAMERA.WAV"/>
                                        </p:tgtEl>
                                      </p:cMediaNode>
                                    </p:audio>
                                  </p:subTnLst>
                                </p:cTn>
                              </p:par>
                            </p:childTnLst>
                          </p:cTn>
                        </p:par>
                        <p:par>
                          <p:cTn id="19" fill="hold" nodeType="afterGroup">
                            <p:stCondLst>
                              <p:cond delay="1500"/>
                            </p:stCondLst>
                            <p:childTnLst>
                              <p:par>
                                <p:cTn id="20" presetID="2" presetClass="entr" presetSubtype="8" fill="hold" grpId="0" nodeType="afterEffect">
                                  <p:stCondLst>
                                    <p:cond delay="0"/>
                                  </p:stCondLst>
                                  <p:childTnLst>
                                    <p:set>
                                      <p:cBhvr>
                                        <p:cTn id="21" dur="1" fill="hold">
                                          <p:stCondLst>
                                            <p:cond delay="0"/>
                                          </p:stCondLst>
                                        </p:cTn>
                                        <p:tgtEl>
                                          <p:spTgt spid="104451">
                                            <p:txEl>
                                              <p:pRg st="2" end="2"/>
                                            </p:txEl>
                                          </p:spTgt>
                                        </p:tgtEl>
                                        <p:attrNameLst>
                                          <p:attrName>style.visibility</p:attrName>
                                        </p:attrNameLst>
                                      </p:cBhvr>
                                      <p:to>
                                        <p:strVal val="visible"/>
                                      </p:to>
                                    </p:set>
                                    <p:anim calcmode="lin" valueType="num">
                                      <p:cBhvr additive="base">
                                        <p:cTn id="22" dur="500" fill="hold"/>
                                        <p:tgtEl>
                                          <p:spTgt spid="104451">
                                            <p:txEl>
                                              <p:pRg st="2" end="2"/>
                                            </p:txEl>
                                          </p:spTgt>
                                        </p:tgtEl>
                                        <p:attrNameLst>
                                          <p:attrName>ppt_x</p:attrName>
                                        </p:attrNameLst>
                                      </p:cBhvr>
                                      <p:tavLst>
                                        <p:tav tm="0">
                                          <p:val>
                                            <p:strVal val="0-#ppt_w/2"/>
                                          </p:val>
                                        </p:tav>
                                        <p:tav tm="100000">
                                          <p:val>
                                            <p:strVal val="#ppt_x"/>
                                          </p:val>
                                        </p:tav>
                                      </p:tavLst>
                                    </p:anim>
                                    <p:anim calcmode="lin" valueType="num">
                                      <p:cBhvr additive="base">
                                        <p:cTn id="23" dur="500" fill="hold"/>
                                        <p:tgtEl>
                                          <p:spTgt spid="104451">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0"/>
                                            </p:cond>
                                          </p:stCondLst>
                                          <p:endCondLst>
                                            <p:cond evt="onStopAudio" delay="0">
                                              <p:tgtEl>
                                                <p:sldTgt/>
                                              </p:tgtEl>
                                            </p:cond>
                                          </p:endCondLst>
                                        </p:cTn>
                                        <p:tgtEl>
                                          <p:sndTgt r:embed="rId3" name="CAMERA.WAV"/>
                                        </p:tgtEl>
                                      </p:cMediaNode>
                                    </p:audio>
                                  </p:subTnLst>
                                </p:cTn>
                              </p:par>
                            </p:childTnLst>
                          </p:cTn>
                        </p:par>
                        <p:par>
                          <p:cTn id="24" fill="hold" nodeType="afterGroup">
                            <p:stCondLst>
                              <p:cond delay="2000"/>
                            </p:stCondLst>
                            <p:childTnLst>
                              <p:par>
                                <p:cTn id="25" presetID="2" presetClass="entr" presetSubtype="8" fill="hold" grpId="0" nodeType="afterEffect">
                                  <p:stCondLst>
                                    <p:cond delay="0"/>
                                  </p:stCondLst>
                                  <p:childTnLst>
                                    <p:set>
                                      <p:cBhvr>
                                        <p:cTn id="26" dur="1" fill="hold">
                                          <p:stCondLst>
                                            <p:cond delay="0"/>
                                          </p:stCondLst>
                                        </p:cTn>
                                        <p:tgtEl>
                                          <p:spTgt spid="104451">
                                            <p:txEl>
                                              <p:pRg st="3" end="3"/>
                                            </p:txEl>
                                          </p:spTgt>
                                        </p:tgtEl>
                                        <p:attrNameLst>
                                          <p:attrName>style.visibility</p:attrName>
                                        </p:attrNameLst>
                                      </p:cBhvr>
                                      <p:to>
                                        <p:strVal val="visible"/>
                                      </p:to>
                                    </p:set>
                                    <p:anim calcmode="lin" valueType="num">
                                      <p:cBhvr additive="base">
                                        <p:cTn id="27" dur="500" fill="hold"/>
                                        <p:tgtEl>
                                          <p:spTgt spid="104451">
                                            <p:txEl>
                                              <p:pRg st="3" end="3"/>
                                            </p:txEl>
                                          </p:spTgt>
                                        </p:tgtEl>
                                        <p:attrNameLst>
                                          <p:attrName>ppt_x</p:attrName>
                                        </p:attrNameLst>
                                      </p:cBhvr>
                                      <p:tavLst>
                                        <p:tav tm="0">
                                          <p:val>
                                            <p:strVal val="0-#ppt_w/2"/>
                                          </p:val>
                                        </p:tav>
                                        <p:tav tm="100000">
                                          <p:val>
                                            <p:strVal val="#ppt_x"/>
                                          </p:val>
                                        </p:tav>
                                      </p:tavLst>
                                    </p:anim>
                                    <p:anim calcmode="lin" valueType="num">
                                      <p:cBhvr additive="base">
                                        <p:cTn id="28" dur="500" fill="hold"/>
                                        <p:tgtEl>
                                          <p:spTgt spid="104451">
                                            <p:txEl>
                                              <p:pRg st="3" end="3"/>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5"/>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450" grpId="0" autoUpdateAnimBg="0"/>
      <p:bldP spid="104451" grpId="0" build="p" autoUpdateAnimBg="0" advAuto="0"/>
    </p:bldLst>
  </p:timing>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4627" name="Rectangle 3"/>
          <p:cNvSpPr>
            <a:spLocks noGrp="1" noChangeArrowheads="1"/>
          </p:cNvSpPr>
          <p:nvPr>
            <p:ph type="body" idx="1"/>
          </p:nvPr>
        </p:nvSpPr>
        <p:spPr>
          <a:xfrm>
            <a:off x="457200" y="1447800"/>
            <a:ext cx="8229600" cy="4038600"/>
          </a:xfrm>
        </p:spPr>
        <p:txBody>
          <a:bodyPr/>
          <a:lstStyle/>
          <a:p>
            <a:pPr eaLnBrk="1" hangingPunct="1">
              <a:lnSpc>
                <a:spcPct val="150000"/>
              </a:lnSpc>
              <a:spcBef>
                <a:spcPct val="0"/>
              </a:spcBef>
              <a:buClr>
                <a:schemeClr val="tx1"/>
              </a:buClr>
              <a:buFont typeface="Marlett" pitchFamily="2" charset="2"/>
              <a:buChar char="2"/>
              <a:defRPr/>
            </a:pPr>
            <a:r>
              <a:rPr lang="zh-CN" altLang="en-US" sz="2800" b="1" dirty="0">
                <a:effectLst>
                  <a:outerShdw blurRad="38100" dist="38100" dir="2700000" algn="tl">
                    <a:srgbClr val="C0C0C0"/>
                  </a:outerShdw>
                </a:effectLst>
              </a:rPr>
              <a:t>生产过程</a:t>
            </a:r>
            <a:r>
              <a:rPr lang="zh-CN" altLang="en-US" sz="2800" b="1" dirty="0"/>
              <a:t>：</a:t>
            </a:r>
            <a:r>
              <a:rPr lang="zh-CN" altLang="en-US" sz="2800" dirty="0"/>
              <a:t>围绕完成产品生产的一系列有组织的生产活动的运行过程。</a:t>
            </a:r>
          </a:p>
          <a:p>
            <a:pPr eaLnBrk="1" hangingPunct="1">
              <a:lnSpc>
                <a:spcPct val="150000"/>
              </a:lnSpc>
              <a:buClr>
                <a:schemeClr val="tx1"/>
              </a:buClr>
              <a:buFont typeface="Marlett" pitchFamily="2" charset="2"/>
              <a:buChar char="2"/>
              <a:defRPr/>
            </a:pPr>
            <a:r>
              <a:rPr lang="zh-CN" altLang="en-US" sz="2800" b="1" dirty="0">
                <a:effectLst>
                  <a:outerShdw blurRad="38100" dist="38100" dir="2700000" algn="tl">
                    <a:srgbClr val="C0C0C0"/>
                  </a:outerShdw>
                </a:effectLst>
              </a:rPr>
              <a:t>生产管理</a:t>
            </a:r>
            <a:r>
              <a:rPr lang="zh-CN" altLang="en-US" sz="2800" dirty="0"/>
              <a:t>：生产过程是生产管理的对象，生产管理就是对生产过程进行计划、组织、指挥、协调、控制和考核等一系列管理活动的总称。</a:t>
            </a:r>
          </a:p>
        </p:txBody>
      </p:sp>
      <p:sp>
        <p:nvSpPr>
          <p:cNvPr id="5" name="Text Box 9"/>
          <p:cNvSpPr txBox="1">
            <a:spLocks noChangeArrowheads="1"/>
          </p:cNvSpPr>
          <p:nvPr/>
        </p:nvSpPr>
        <p:spPr bwMode="auto">
          <a:xfrm>
            <a:off x="762000" y="87313"/>
            <a:ext cx="1963738"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defRPr/>
            </a:pPr>
            <a:r>
              <a:rPr lang="en-US" altLang="zh-CN" sz="1800" b="1" dirty="0">
                <a:solidFill>
                  <a:srgbClr val="FFFF00"/>
                </a:solidFill>
                <a:effectLst>
                  <a:outerShdw blurRad="38100" dist="38100" dir="2700000" algn="tl">
                    <a:srgbClr val="000000">
                      <a:alpha val="43137"/>
                    </a:srgbClr>
                  </a:outerShdw>
                </a:effectLst>
              </a:rPr>
              <a:t>2.2 </a:t>
            </a:r>
            <a:r>
              <a:rPr lang="zh-CN" altLang="en-US" sz="1800" b="1" dirty="0">
                <a:solidFill>
                  <a:srgbClr val="FFFF00"/>
                </a:solidFill>
                <a:effectLst>
                  <a:outerShdw blurRad="38100" dist="38100" dir="2700000" algn="tl">
                    <a:srgbClr val="000000">
                      <a:alpha val="43137"/>
                    </a:srgbClr>
                  </a:outerShdw>
                </a:effectLst>
              </a:rPr>
              <a:t>生产运作系统</a:t>
            </a:r>
          </a:p>
        </p:txBody>
      </p:sp>
      <p:sp>
        <p:nvSpPr>
          <p:cNvPr id="6" name="Rectangle 2"/>
          <p:cNvSpPr>
            <a:spLocks noGrp="1" noChangeArrowheads="1"/>
          </p:cNvSpPr>
          <p:nvPr>
            <p:ph type="title"/>
          </p:nvPr>
        </p:nvSpPr>
        <p:spPr>
          <a:xfrm>
            <a:off x="304800" y="685800"/>
            <a:ext cx="8229600" cy="609600"/>
          </a:xfrm>
        </p:spPr>
        <p:txBody>
          <a:bodyPr/>
          <a:lstStyle/>
          <a:p>
            <a:pPr marL="457200" indent="-457200" eaLnBrk="1" hangingPunct="1">
              <a:buFont typeface="Wingdings" panose="05000000000000000000" pitchFamily="2" charset="2"/>
              <a:buChar char="n"/>
              <a:defRPr/>
            </a:pPr>
            <a:r>
              <a:rPr lang="zh-CN" altLang="en-US" sz="2800" b="1" dirty="0">
                <a:solidFill>
                  <a:srgbClr val="FF0000"/>
                </a:solidFill>
                <a:latin typeface="Times New Roman" panose="02020603050405020304" pitchFamily="18" charset="0"/>
                <a:ea typeface="+mn-ea"/>
                <a:cs typeface="+mn-cs"/>
              </a:rPr>
              <a:t>生产过程</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54627">
                                            <p:txEl>
                                              <p:pRg st="0" end="0"/>
                                            </p:txEl>
                                          </p:spTgt>
                                        </p:tgtEl>
                                        <p:attrNameLst>
                                          <p:attrName>style.visibility</p:attrName>
                                        </p:attrNameLst>
                                      </p:cBhvr>
                                      <p:to>
                                        <p:strVal val="visible"/>
                                      </p:to>
                                    </p:set>
                                    <p:anim calcmode="lin" valueType="num">
                                      <p:cBhvr additive="base">
                                        <p:cTn id="7" dur="500" fill="hold"/>
                                        <p:tgtEl>
                                          <p:spTgt spid="15462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5462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54627">
                                            <p:txEl>
                                              <p:pRg st="1" end="1"/>
                                            </p:txEl>
                                          </p:spTgt>
                                        </p:tgtEl>
                                        <p:attrNameLst>
                                          <p:attrName>style.visibility</p:attrName>
                                        </p:attrNameLst>
                                      </p:cBhvr>
                                      <p:to>
                                        <p:strVal val="visible"/>
                                      </p:to>
                                    </p:set>
                                    <p:anim calcmode="lin" valueType="num">
                                      <p:cBhvr additive="base">
                                        <p:cTn id="13" dur="500" fill="hold"/>
                                        <p:tgtEl>
                                          <p:spTgt spid="154627">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54627">
                                            <p:txEl>
                                              <p:pRg st="1" end="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4627" grpId="0" build="p" autoUpdateAnimBg="0" advAuto="0"/>
    </p:bldLst>
  </p:timing>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5651" name="Rectangle 3"/>
          <p:cNvSpPr>
            <a:spLocks noGrp="1" noChangeArrowheads="1"/>
          </p:cNvSpPr>
          <p:nvPr>
            <p:ph type="body" idx="1"/>
          </p:nvPr>
        </p:nvSpPr>
        <p:spPr>
          <a:xfrm>
            <a:off x="457200" y="1447800"/>
            <a:ext cx="8534400" cy="5181600"/>
          </a:xfrm>
        </p:spPr>
        <p:txBody>
          <a:bodyPr/>
          <a:lstStyle/>
          <a:p>
            <a:pPr eaLnBrk="1" hangingPunct="1">
              <a:lnSpc>
                <a:spcPct val="150000"/>
              </a:lnSpc>
              <a:spcBef>
                <a:spcPct val="0"/>
              </a:spcBef>
              <a:buClr>
                <a:schemeClr val="tx1"/>
              </a:buClr>
              <a:buSzTx/>
              <a:buFont typeface="Marlett" pitchFamily="2" charset="2"/>
              <a:buChar char="2"/>
              <a:defRPr/>
            </a:pPr>
            <a:r>
              <a:rPr lang="zh-CN" altLang="en-US" sz="2800" b="1">
                <a:solidFill>
                  <a:srgbClr val="003366"/>
                </a:solidFill>
                <a:effectLst>
                  <a:outerShdw blurRad="38100" dist="38100" dir="2700000" algn="tl">
                    <a:srgbClr val="C0C0C0"/>
                  </a:outerShdw>
                </a:effectLst>
              </a:rPr>
              <a:t>生产过程的基本组成</a:t>
            </a:r>
          </a:p>
          <a:p>
            <a:pPr lvl="1" eaLnBrk="1" hangingPunct="1">
              <a:lnSpc>
                <a:spcPct val="150000"/>
              </a:lnSpc>
              <a:spcBef>
                <a:spcPct val="0"/>
              </a:spcBef>
              <a:buClr>
                <a:schemeClr val="tx1"/>
              </a:buClr>
              <a:buSzTx/>
              <a:buFont typeface="Marlett" pitchFamily="2" charset="2"/>
              <a:buChar char="2"/>
              <a:defRPr/>
            </a:pPr>
            <a:r>
              <a:rPr lang="zh-CN" altLang="en-US" sz="2400" b="1"/>
              <a:t>狭义</a:t>
            </a:r>
            <a:r>
              <a:rPr lang="zh-CN" altLang="en-US" sz="2400"/>
              <a:t>：产品生产过程</a:t>
            </a:r>
          </a:p>
          <a:p>
            <a:pPr lvl="1" eaLnBrk="1" hangingPunct="1">
              <a:lnSpc>
                <a:spcPct val="150000"/>
              </a:lnSpc>
              <a:spcBef>
                <a:spcPct val="0"/>
              </a:spcBef>
              <a:buClr>
                <a:schemeClr val="tx1"/>
              </a:buClr>
              <a:buSzTx/>
              <a:buFont typeface="Marlett" pitchFamily="2" charset="2"/>
              <a:buChar char="2"/>
              <a:defRPr/>
            </a:pPr>
            <a:r>
              <a:rPr lang="zh-CN" altLang="en-US" sz="2400" b="1"/>
              <a:t>广义</a:t>
            </a:r>
            <a:r>
              <a:rPr lang="zh-CN" altLang="en-US" sz="2400"/>
              <a:t>：企业生产过程或社会生产过程</a:t>
            </a:r>
          </a:p>
          <a:p>
            <a:pPr lvl="1" eaLnBrk="1" hangingPunct="1">
              <a:lnSpc>
                <a:spcPct val="150000"/>
              </a:lnSpc>
              <a:spcBef>
                <a:spcPct val="0"/>
              </a:spcBef>
              <a:buClr>
                <a:schemeClr val="tx1"/>
              </a:buClr>
              <a:buSzTx/>
              <a:buFont typeface="Marlett" pitchFamily="2" charset="2"/>
              <a:buChar char="2"/>
              <a:defRPr/>
            </a:pPr>
            <a:endParaRPr lang="zh-CN" altLang="en-US" sz="2400"/>
          </a:p>
          <a:p>
            <a:pPr lvl="1" eaLnBrk="1" hangingPunct="1">
              <a:lnSpc>
                <a:spcPct val="150000"/>
              </a:lnSpc>
              <a:spcBef>
                <a:spcPct val="0"/>
              </a:spcBef>
              <a:buClr>
                <a:schemeClr val="tx1"/>
              </a:buClr>
              <a:buSzTx/>
              <a:buFont typeface="Marlett" pitchFamily="2" charset="2"/>
              <a:buChar char="2"/>
              <a:defRPr/>
            </a:pPr>
            <a:r>
              <a:rPr lang="zh-CN" altLang="en-US" sz="2400" b="1"/>
              <a:t>生产环节</a:t>
            </a:r>
            <a:r>
              <a:rPr lang="zh-CN" altLang="en-US" sz="2400"/>
              <a:t>：加工制造过程、检验过程、运输过程、停歇过程、自然过程。</a:t>
            </a:r>
          </a:p>
          <a:p>
            <a:pPr lvl="1" eaLnBrk="1" hangingPunct="1">
              <a:lnSpc>
                <a:spcPct val="150000"/>
              </a:lnSpc>
              <a:spcBef>
                <a:spcPct val="0"/>
              </a:spcBef>
              <a:buClr>
                <a:schemeClr val="tx1"/>
              </a:buClr>
              <a:buSzTx/>
              <a:buFont typeface="Marlett" pitchFamily="2" charset="2"/>
              <a:buChar char="2"/>
              <a:defRPr/>
            </a:pPr>
            <a:r>
              <a:rPr lang="zh-CN" altLang="en-US" sz="2400" b="1"/>
              <a:t>工艺角度</a:t>
            </a:r>
            <a:r>
              <a:rPr lang="zh-CN" altLang="en-US" sz="2400"/>
              <a:t>：基本工艺过程、辅助工艺过程、非工艺过程。</a:t>
            </a:r>
          </a:p>
          <a:p>
            <a:pPr lvl="1" eaLnBrk="1" hangingPunct="1">
              <a:lnSpc>
                <a:spcPct val="150000"/>
              </a:lnSpc>
              <a:spcBef>
                <a:spcPct val="0"/>
              </a:spcBef>
              <a:buClr>
                <a:schemeClr val="tx1"/>
              </a:buClr>
              <a:buSzTx/>
              <a:buFont typeface="Marlett" pitchFamily="2" charset="2"/>
              <a:buChar char="2"/>
              <a:defRPr/>
            </a:pPr>
            <a:r>
              <a:rPr lang="zh-CN" altLang="en-US" sz="2400" b="1"/>
              <a:t>专业方向</a:t>
            </a:r>
            <a:r>
              <a:rPr lang="zh-CN" altLang="en-US" sz="2400"/>
              <a:t>：基本生产、辅助生产、生产技术准备、生产服务。</a:t>
            </a:r>
          </a:p>
        </p:txBody>
      </p:sp>
      <p:sp>
        <p:nvSpPr>
          <p:cNvPr id="5" name="Text Box 9"/>
          <p:cNvSpPr txBox="1">
            <a:spLocks noChangeArrowheads="1"/>
          </p:cNvSpPr>
          <p:nvPr/>
        </p:nvSpPr>
        <p:spPr bwMode="auto">
          <a:xfrm>
            <a:off x="762000" y="87313"/>
            <a:ext cx="1963738"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defRPr/>
            </a:pPr>
            <a:r>
              <a:rPr lang="en-US" altLang="zh-CN" sz="1800" b="1" dirty="0">
                <a:solidFill>
                  <a:srgbClr val="FFFF00"/>
                </a:solidFill>
                <a:effectLst>
                  <a:outerShdw blurRad="38100" dist="38100" dir="2700000" algn="tl">
                    <a:srgbClr val="000000">
                      <a:alpha val="43137"/>
                    </a:srgbClr>
                  </a:outerShdw>
                </a:effectLst>
              </a:rPr>
              <a:t>2.2 </a:t>
            </a:r>
            <a:r>
              <a:rPr lang="zh-CN" altLang="en-US" sz="1800" b="1" dirty="0">
                <a:solidFill>
                  <a:srgbClr val="FFFF00"/>
                </a:solidFill>
                <a:effectLst>
                  <a:outerShdw blurRad="38100" dist="38100" dir="2700000" algn="tl">
                    <a:srgbClr val="000000">
                      <a:alpha val="43137"/>
                    </a:srgbClr>
                  </a:outerShdw>
                </a:effectLst>
              </a:rPr>
              <a:t>生产运作系统</a:t>
            </a:r>
          </a:p>
        </p:txBody>
      </p:sp>
      <p:sp>
        <p:nvSpPr>
          <p:cNvPr id="6" name="Rectangle 2"/>
          <p:cNvSpPr>
            <a:spLocks noGrp="1" noChangeArrowheads="1"/>
          </p:cNvSpPr>
          <p:nvPr>
            <p:ph type="title"/>
          </p:nvPr>
        </p:nvSpPr>
        <p:spPr>
          <a:xfrm>
            <a:off x="304800" y="685800"/>
            <a:ext cx="8229600" cy="609600"/>
          </a:xfrm>
        </p:spPr>
        <p:txBody>
          <a:bodyPr/>
          <a:lstStyle/>
          <a:p>
            <a:pPr marL="457200" indent="-457200" eaLnBrk="1" hangingPunct="1">
              <a:buFont typeface="Wingdings" panose="05000000000000000000" pitchFamily="2" charset="2"/>
              <a:buChar char="n"/>
              <a:defRPr/>
            </a:pPr>
            <a:r>
              <a:rPr lang="zh-CN" altLang="en-US" sz="2800" b="1" dirty="0">
                <a:solidFill>
                  <a:srgbClr val="FF0000"/>
                </a:solidFill>
                <a:latin typeface="Times New Roman" panose="02020603050405020304" pitchFamily="18" charset="0"/>
                <a:ea typeface="+mn-ea"/>
                <a:cs typeface="+mn-cs"/>
              </a:rPr>
              <a:t>生产过程</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55651">
                                            <p:txEl>
                                              <p:pRg st="0" end="0"/>
                                            </p:txEl>
                                          </p:spTgt>
                                        </p:tgtEl>
                                        <p:attrNameLst>
                                          <p:attrName>style.visibility</p:attrName>
                                        </p:attrNameLst>
                                      </p:cBhvr>
                                      <p:to>
                                        <p:strVal val="visible"/>
                                      </p:to>
                                    </p:set>
                                    <p:anim calcmode="lin" valueType="num">
                                      <p:cBhvr additive="base">
                                        <p:cTn id="7" dur="500" fill="hold"/>
                                        <p:tgtEl>
                                          <p:spTgt spid="15565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5565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55651">
                                            <p:txEl>
                                              <p:pRg st="1" end="1"/>
                                            </p:txEl>
                                          </p:spTgt>
                                        </p:tgtEl>
                                        <p:attrNameLst>
                                          <p:attrName>style.visibility</p:attrName>
                                        </p:attrNameLst>
                                      </p:cBhvr>
                                      <p:to>
                                        <p:strVal val="visible"/>
                                      </p:to>
                                    </p:set>
                                    <p:anim calcmode="lin" valueType="num">
                                      <p:cBhvr additive="base">
                                        <p:cTn id="13" dur="500" fill="hold"/>
                                        <p:tgtEl>
                                          <p:spTgt spid="155651">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5565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55651">
                                            <p:txEl>
                                              <p:pRg st="2" end="2"/>
                                            </p:txEl>
                                          </p:spTgt>
                                        </p:tgtEl>
                                        <p:attrNameLst>
                                          <p:attrName>style.visibility</p:attrName>
                                        </p:attrNameLst>
                                      </p:cBhvr>
                                      <p:to>
                                        <p:strVal val="visible"/>
                                      </p:to>
                                    </p:set>
                                    <p:anim calcmode="lin" valueType="num">
                                      <p:cBhvr additive="base">
                                        <p:cTn id="19" dur="500" fill="hold"/>
                                        <p:tgtEl>
                                          <p:spTgt spid="155651">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55651">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55651">
                                            <p:txEl>
                                              <p:pRg st="4" end="4"/>
                                            </p:txEl>
                                          </p:spTgt>
                                        </p:tgtEl>
                                        <p:attrNameLst>
                                          <p:attrName>style.visibility</p:attrName>
                                        </p:attrNameLst>
                                      </p:cBhvr>
                                      <p:to>
                                        <p:strVal val="visible"/>
                                      </p:to>
                                    </p:set>
                                    <p:anim calcmode="lin" valueType="num">
                                      <p:cBhvr additive="base">
                                        <p:cTn id="25" dur="500" fill="hold"/>
                                        <p:tgtEl>
                                          <p:spTgt spid="155651">
                                            <p:txEl>
                                              <p:pRg st="4" end="4"/>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55651">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55651">
                                            <p:txEl>
                                              <p:pRg st="5" end="5"/>
                                            </p:txEl>
                                          </p:spTgt>
                                        </p:tgtEl>
                                        <p:attrNameLst>
                                          <p:attrName>style.visibility</p:attrName>
                                        </p:attrNameLst>
                                      </p:cBhvr>
                                      <p:to>
                                        <p:strVal val="visible"/>
                                      </p:to>
                                    </p:set>
                                    <p:anim calcmode="lin" valueType="num">
                                      <p:cBhvr additive="base">
                                        <p:cTn id="31" dur="500" fill="hold"/>
                                        <p:tgtEl>
                                          <p:spTgt spid="155651">
                                            <p:txEl>
                                              <p:pRg st="5" end="5"/>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55651">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155651">
                                            <p:txEl>
                                              <p:pRg st="6" end="6"/>
                                            </p:txEl>
                                          </p:spTgt>
                                        </p:tgtEl>
                                        <p:attrNameLst>
                                          <p:attrName>style.visibility</p:attrName>
                                        </p:attrNameLst>
                                      </p:cBhvr>
                                      <p:to>
                                        <p:strVal val="visible"/>
                                      </p:to>
                                    </p:set>
                                    <p:anim calcmode="lin" valueType="num">
                                      <p:cBhvr additive="base">
                                        <p:cTn id="37" dur="500" fill="hold"/>
                                        <p:tgtEl>
                                          <p:spTgt spid="155651">
                                            <p:txEl>
                                              <p:pRg st="6" end="6"/>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155651">
                                            <p:txEl>
                                              <p:pRg st="6" end="6"/>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5651" grpId="0" build="p" autoUpdateAnimBg="0" advAuto="0"/>
    </p:bldLst>
  </p:timing>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6674" name="Rectangle 2"/>
          <p:cNvSpPr>
            <a:spLocks noGrp="1" noChangeArrowheads="1"/>
          </p:cNvSpPr>
          <p:nvPr>
            <p:ph type="title"/>
          </p:nvPr>
        </p:nvSpPr>
        <p:spPr>
          <a:xfrm>
            <a:off x="304800" y="685800"/>
            <a:ext cx="8229600" cy="609600"/>
          </a:xfrm>
        </p:spPr>
        <p:txBody>
          <a:bodyPr/>
          <a:lstStyle/>
          <a:p>
            <a:pPr marL="457200" indent="-457200" eaLnBrk="1" hangingPunct="1">
              <a:buFont typeface="Wingdings" panose="05000000000000000000" pitchFamily="2" charset="2"/>
              <a:buChar char="n"/>
              <a:defRPr/>
            </a:pPr>
            <a:r>
              <a:rPr lang="zh-CN" altLang="en-US" sz="2800" b="1" dirty="0">
                <a:solidFill>
                  <a:srgbClr val="FF0000"/>
                </a:solidFill>
                <a:latin typeface="Times New Roman" panose="02020603050405020304" pitchFamily="18" charset="0"/>
                <a:ea typeface="+mn-ea"/>
                <a:cs typeface="+mn-cs"/>
              </a:rPr>
              <a:t>生产过程</a:t>
            </a:r>
          </a:p>
        </p:txBody>
      </p:sp>
      <p:sp>
        <p:nvSpPr>
          <p:cNvPr id="156675" name="Rectangle 3"/>
          <p:cNvSpPr>
            <a:spLocks noGrp="1" noChangeArrowheads="1"/>
          </p:cNvSpPr>
          <p:nvPr>
            <p:ph type="body" idx="1"/>
          </p:nvPr>
        </p:nvSpPr>
        <p:spPr>
          <a:xfrm>
            <a:off x="457200" y="1447800"/>
            <a:ext cx="8534400" cy="5410200"/>
          </a:xfrm>
        </p:spPr>
        <p:txBody>
          <a:bodyPr/>
          <a:lstStyle/>
          <a:p>
            <a:pPr eaLnBrk="1" hangingPunct="1">
              <a:lnSpc>
                <a:spcPct val="150000"/>
              </a:lnSpc>
              <a:spcBef>
                <a:spcPct val="0"/>
              </a:spcBef>
              <a:buClr>
                <a:schemeClr val="tx1"/>
              </a:buClr>
              <a:buSzTx/>
              <a:buFont typeface="Marlett" pitchFamily="2" charset="2"/>
              <a:buChar char="2"/>
              <a:defRPr/>
            </a:pPr>
            <a:r>
              <a:rPr lang="zh-CN" altLang="en-US" sz="2800" b="1">
                <a:solidFill>
                  <a:srgbClr val="003366"/>
                </a:solidFill>
                <a:effectLst>
                  <a:outerShdw blurRad="38100" dist="38100" dir="2700000" algn="tl">
                    <a:srgbClr val="C0C0C0"/>
                  </a:outerShdw>
                </a:effectLst>
              </a:rPr>
              <a:t>生产过程的运行原则</a:t>
            </a:r>
          </a:p>
          <a:p>
            <a:pPr lvl="1" eaLnBrk="1" hangingPunct="1">
              <a:lnSpc>
                <a:spcPct val="135000"/>
              </a:lnSpc>
              <a:spcBef>
                <a:spcPct val="0"/>
              </a:spcBef>
              <a:buClr>
                <a:schemeClr val="tx1"/>
              </a:buClr>
              <a:buSzTx/>
              <a:buFont typeface="Marlett" pitchFamily="2" charset="2"/>
              <a:buChar char="2"/>
              <a:defRPr/>
            </a:pPr>
            <a:r>
              <a:rPr lang="zh-CN" altLang="en-US" sz="2400" b="1"/>
              <a:t>连续性</a:t>
            </a:r>
            <a:r>
              <a:rPr lang="zh-CN" altLang="en-US" sz="2400"/>
              <a:t>：空间上的连续性和时间上的连续性</a:t>
            </a:r>
          </a:p>
          <a:p>
            <a:pPr lvl="1" eaLnBrk="1" hangingPunct="1">
              <a:lnSpc>
                <a:spcPct val="135000"/>
              </a:lnSpc>
              <a:spcBef>
                <a:spcPct val="0"/>
              </a:spcBef>
              <a:buClr>
                <a:schemeClr val="tx1"/>
              </a:buClr>
              <a:buSzTx/>
              <a:buFont typeface="Marlett" pitchFamily="2" charset="2"/>
              <a:buChar char="2"/>
              <a:defRPr/>
            </a:pPr>
            <a:r>
              <a:rPr lang="zh-CN" altLang="en-US" sz="2400" b="1"/>
              <a:t>平行性</a:t>
            </a:r>
            <a:r>
              <a:rPr lang="zh-CN" altLang="en-US" sz="2400"/>
              <a:t>：加工对象在生产过程中实现平行交叉作业。</a:t>
            </a:r>
          </a:p>
          <a:p>
            <a:pPr lvl="1" eaLnBrk="1" hangingPunct="1">
              <a:lnSpc>
                <a:spcPct val="135000"/>
              </a:lnSpc>
              <a:spcBef>
                <a:spcPct val="0"/>
              </a:spcBef>
              <a:buClr>
                <a:schemeClr val="tx1"/>
              </a:buClr>
              <a:buSzTx/>
              <a:buFont typeface="Marlett" pitchFamily="2" charset="2"/>
              <a:buChar char="2"/>
              <a:defRPr/>
            </a:pPr>
            <a:r>
              <a:rPr lang="zh-CN" altLang="en-US" sz="2400" b="1"/>
              <a:t>比例性</a:t>
            </a:r>
            <a:r>
              <a:rPr lang="zh-CN" altLang="en-US" sz="2400"/>
              <a:t>：生产过程各环节的生产能力要保持适当比例，使其与承担生产任务所需求的能力相匹配。</a:t>
            </a:r>
          </a:p>
          <a:p>
            <a:pPr lvl="1" eaLnBrk="1" hangingPunct="1">
              <a:lnSpc>
                <a:spcPct val="135000"/>
              </a:lnSpc>
              <a:spcBef>
                <a:spcPct val="0"/>
              </a:spcBef>
              <a:buClr>
                <a:schemeClr val="tx1"/>
              </a:buClr>
              <a:buSzTx/>
              <a:buFont typeface="Marlett" pitchFamily="2" charset="2"/>
              <a:buChar char="2"/>
              <a:defRPr/>
            </a:pPr>
            <a:r>
              <a:rPr lang="zh-CN" altLang="en-US" sz="2400" b="1"/>
              <a:t>均衡性</a:t>
            </a:r>
            <a:r>
              <a:rPr lang="zh-CN" altLang="en-US" sz="2400"/>
              <a:t>：企业的生产任务从投料到最后完工能够按预定计划均衡地完成。</a:t>
            </a:r>
          </a:p>
          <a:p>
            <a:pPr lvl="1" eaLnBrk="1" hangingPunct="1">
              <a:lnSpc>
                <a:spcPct val="135000"/>
              </a:lnSpc>
              <a:spcBef>
                <a:spcPct val="0"/>
              </a:spcBef>
              <a:buClr>
                <a:schemeClr val="tx1"/>
              </a:buClr>
              <a:buSzTx/>
              <a:buFont typeface="Marlett" pitchFamily="2" charset="2"/>
              <a:buChar char="2"/>
              <a:defRPr/>
            </a:pPr>
            <a:r>
              <a:rPr lang="zh-CN" altLang="en-US" sz="2400" b="1"/>
              <a:t>适应性</a:t>
            </a:r>
            <a:r>
              <a:rPr lang="zh-CN" altLang="en-US" sz="2400"/>
              <a:t>：企业产品进行更新换代或品种结构发生变化时，能够由生产一种产品迅速转到生产另一种产品的应变能力</a:t>
            </a:r>
          </a:p>
        </p:txBody>
      </p:sp>
      <p:sp>
        <p:nvSpPr>
          <p:cNvPr id="5" name="Text Box 9"/>
          <p:cNvSpPr txBox="1">
            <a:spLocks noChangeArrowheads="1"/>
          </p:cNvSpPr>
          <p:nvPr/>
        </p:nvSpPr>
        <p:spPr bwMode="auto">
          <a:xfrm>
            <a:off x="762000" y="87313"/>
            <a:ext cx="1963738"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defRPr/>
            </a:pPr>
            <a:r>
              <a:rPr lang="en-US" altLang="zh-CN" sz="1800" b="1" dirty="0">
                <a:solidFill>
                  <a:srgbClr val="FFFF00"/>
                </a:solidFill>
                <a:effectLst>
                  <a:outerShdw blurRad="38100" dist="38100" dir="2700000" algn="tl">
                    <a:srgbClr val="000000">
                      <a:alpha val="43137"/>
                    </a:srgbClr>
                  </a:outerShdw>
                </a:effectLst>
              </a:rPr>
              <a:t>2.2 </a:t>
            </a:r>
            <a:r>
              <a:rPr lang="zh-CN" altLang="en-US" sz="1800" b="1" dirty="0">
                <a:solidFill>
                  <a:srgbClr val="FFFF00"/>
                </a:solidFill>
                <a:effectLst>
                  <a:outerShdw blurRad="38100" dist="38100" dir="2700000" algn="tl">
                    <a:srgbClr val="000000">
                      <a:alpha val="43137"/>
                    </a:srgbClr>
                  </a:outerShdw>
                </a:effectLst>
              </a:rPr>
              <a:t>生产运作系统</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56675">
                                            <p:txEl>
                                              <p:pRg st="0" end="0"/>
                                            </p:txEl>
                                          </p:spTgt>
                                        </p:tgtEl>
                                        <p:attrNameLst>
                                          <p:attrName>style.visibility</p:attrName>
                                        </p:attrNameLst>
                                      </p:cBhvr>
                                      <p:to>
                                        <p:strVal val="visible"/>
                                      </p:to>
                                    </p:set>
                                    <p:anim calcmode="lin" valueType="num">
                                      <p:cBhvr additive="base">
                                        <p:cTn id="7" dur="500" fill="hold"/>
                                        <p:tgtEl>
                                          <p:spTgt spid="15667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5667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56675">
                                            <p:txEl>
                                              <p:pRg st="1" end="1"/>
                                            </p:txEl>
                                          </p:spTgt>
                                        </p:tgtEl>
                                        <p:attrNameLst>
                                          <p:attrName>style.visibility</p:attrName>
                                        </p:attrNameLst>
                                      </p:cBhvr>
                                      <p:to>
                                        <p:strVal val="visible"/>
                                      </p:to>
                                    </p:set>
                                    <p:anim calcmode="lin" valueType="num">
                                      <p:cBhvr additive="base">
                                        <p:cTn id="13" dur="500" fill="hold"/>
                                        <p:tgtEl>
                                          <p:spTgt spid="156675">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56675">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56675">
                                            <p:txEl>
                                              <p:pRg st="2" end="2"/>
                                            </p:txEl>
                                          </p:spTgt>
                                        </p:tgtEl>
                                        <p:attrNameLst>
                                          <p:attrName>style.visibility</p:attrName>
                                        </p:attrNameLst>
                                      </p:cBhvr>
                                      <p:to>
                                        <p:strVal val="visible"/>
                                      </p:to>
                                    </p:set>
                                    <p:anim calcmode="lin" valueType="num">
                                      <p:cBhvr additive="base">
                                        <p:cTn id="19" dur="500" fill="hold"/>
                                        <p:tgtEl>
                                          <p:spTgt spid="156675">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56675">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56675">
                                            <p:txEl>
                                              <p:pRg st="3" end="3"/>
                                            </p:txEl>
                                          </p:spTgt>
                                        </p:tgtEl>
                                        <p:attrNameLst>
                                          <p:attrName>style.visibility</p:attrName>
                                        </p:attrNameLst>
                                      </p:cBhvr>
                                      <p:to>
                                        <p:strVal val="visible"/>
                                      </p:to>
                                    </p:set>
                                    <p:anim calcmode="lin" valueType="num">
                                      <p:cBhvr additive="base">
                                        <p:cTn id="25" dur="500" fill="hold"/>
                                        <p:tgtEl>
                                          <p:spTgt spid="156675">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56675">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56675">
                                            <p:txEl>
                                              <p:pRg st="4" end="4"/>
                                            </p:txEl>
                                          </p:spTgt>
                                        </p:tgtEl>
                                        <p:attrNameLst>
                                          <p:attrName>style.visibility</p:attrName>
                                        </p:attrNameLst>
                                      </p:cBhvr>
                                      <p:to>
                                        <p:strVal val="visible"/>
                                      </p:to>
                                    </p:set>
                                    <p:anim calcmode="lin" valueType="num">
                                      <p:cBhvr additive="base">
                                        <p:cTn id="31" dur="500" fill="hold"/>
                                        <p:tgtEl>
                                          <p:spTgt spid="156675">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56675">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156675">
                                            <p:txEl>
                                              <p:pRg st="5" end="5"/>
                                            </p:txEl>
                                          </p:spTgt>
                                        </p:tgtEl>
                                        <p:attrNameLst>
                                          <p:attrName>style.visibility</p:attrName>
                                        </p:attrNameLst>
                                      </p:cBhvr>
                                      <p:to>
                                        <p:strVal val="visible"/>
                                      </p:to>
                                    </p:set>
                                    <p:anim calcmode="lin" valueType="num">
                                      <p:cBhvr additive="base">
                                        <p:cTn id="37" dur="500" fill="hold"/>
                                        <p:tgtEl>
                                          <p:spTgt spid="156675">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156675">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6675" grpId="0" build="p" autoUpdateAnimBg="0" advAuto="0"/>
    </p:bldLst>
  </p:timing>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7698" name="Rectangle 2"/>
          <p:cNvSpPr>
            <a:spLocks noGrp="1" noChangeArrowheads="1"/>
          </p:cNvSpPr>
          <p:nvPr>
            <p:ph type="title"/>
          </p:nvPr>
        </p:nvSpPr>
        <p:spPr>
          <a:xfrm>
            <a:off x="304800" y="685800"/>
            <a:ext cx="8229600" cy="609600"/>
          </a:xfrm>
        </p:spPr>
        <p:txBody>
          <a:bodyPr/>
          <a:lstStyle/>
          <a:p>
            <a:pPr marL="457200" indent="-457200" eaLnBrk="1" hangingPunct="1">
              <a:buFont typeface="Wingdings" panose="05000000000000000000" pitchFamily="2" charset="2"/>
              <a:buChar char="n"/>
              <a:defRPr/>
            </a:pPr>
            <a:r>
              <a:rPr lang="zh-CN" altLang="en-US" sz="2800" b="1" dirty="0">
                <a:solidFill>
                  <a:srgbClr val="FF0000"/>
                </a:solidFill>
                <a:latin typeface="Times New Roman" panose="02020603050405020304" pitchFamily="18" charset="0"/>
                <a:ea typeface="+mn-ea"/>
                <a:cs typeface="+mn-cs"/>
              </a:rPr>
              <a:t>生产过程</a:t>
            </a:r>
          </a:p>
        </p:txBody>
      </p:sp>
      <p:sp>
        <p:nvSpPr>
          <p:cNvPr id="157699" name="Rectangle 3"/>
          <p:cNvSpPr>
            <a:spLocks noGrp="1" noChangeArrowheads="1"/>
          </p:cNvSpPr>
          <p:nvPr>
            <p:ph type="body" idx="1"/>
          </p:nvPr>
        </p:nvSpPr>
        <p:spPr>
          <a:xfrm>
            <a:off x="457200" y="1295400"/>
            <a:ext cx="8534400" cy="5410200"/>
          </a:xfrm>
        </p:spPr>
        <p:txBody>
          <a:bodyPr/>
          <a:lstStyle/>
          <a:p>
            <a:pPr eaLnBrk="1" hangingPunct="1">
              <a:lnSpc>
                <a:spcPct val="150000"/>
              </a:lnSpc>
              <a:spcBef>
                <a:spcPct val="0"/>
              </a:spcBef>
              <a:buClr>
                <a:schemeClr val="tx1"/>
              </a:buClr>
              <a:buSzTx/>
              <a:buFont typeface="Marlett" pitchFamily="2" charset="2"/>
              <a:buChar char="2"/>
              <a:defRPr/>
            </a:pPr>
            <a:r>
              <a:rPr lang="zh-CN" altLang="en-US" sz="2800" b="1">
                <a:solidFill>
                  <a:srgbClr val="003366"/>
                </a:solidFill>
                <a:effectLst>
                  <a:outerShdw blurRad="38100" dist="38100" dir="2700000" algn="tl">
                    <a:srgbClr val="C0C0C0"/>
                  </a:outerShdw>
                </a:effectLst>
              </a:rPr>
              <a:t>生产过程的运行组织：空间组织和时间组织</a:t>
            </a:r>
          </a:p>
          <a:p>
            <a:pPr lvl="1" eaLnBrk="1" hangingPunct="1">
              <a:lnSpc>
                <a:spcPct val="150000"/>
              </a:lnSpc>
              <a:spcBef>
                <a:spcPct val="0"/>
              </a:spcBef>
              <a:buClr>
                <a:schemeClr val="tx1"/>
              </a:buClr>
              <a:buSzTx/>
              <a:buFont typeface="Marlett" pitchFamily="2" charset="2"/>
              <a:buChar char="2"/>
              <a:defRPr/>
            </a:pPr>
            <a:r>
              <a:rPr lang="zh-CN" altLang="en-US" sz="2400" b="1"/>
              <a:t>空间组织</a:t>
            </a:r>
            <a:r>
              <a:rPr lang="zh-CN" altLang="en-US" sz="2400"/>
              <a:t>：在空间上把生产过程的各个环节合理地组织起来，使它们密切配合，协调一致。</a:t>
            </a:r>
          </a:p>
          <a:p>
            <a:pPr lvl="2" eaLnBrk="1" hangingPunct="1">
              <a:lnSpc>
                <a:spcPct val="150000"/>
              </a:lnSpc>
              <a:spcBef>
                <a:spcPct val="0"/>
              </a:spcBef>
              <a:buClr>
                <a:schemeClr val="tx1"/>
              </a:buClr>
              <a:buSzTx/>
              <a:buFont typeface="Marlett" pitchFamily="2" charset="2"/>
              <a:buChar char="2"/>
              <a:defRPr/>
            </a:pPr>
            <a:r>
              <a:rPr lang="zh-CN" altLang="en-US" sz="2000" b="1"/>
              <a:t>大型企业</a:t>
            </a:r>
            <a:r>
              <a:rPr lang="zh-CN" altLang="en-US" sz="2000"/>
              <a:t>：工厂</a:t>
            </a:r>
            <a:r>
              <a:rPr lang="en-US" altLang="zh-CN" sz="2000"/>
              <a:t>-</a:t>
            </a:r>
            <a:r>
              <a:rPr lang="zh-CN" altLang="en-US" sz="2000"/>
              <a:t>分厂</a:t>
            </a:r>
            <a:r>
              <a:rPr lang="en-US" altLang="zh-CN" sz="2000"/>
              <a:t>-</a:t>
            </a:r>
            <a:r>
              <a:rPr lang="zh-CN" altLang="en-US" sz="2000"/>
              <a:t>车间</a:t>
            </a:r>
            <a:r>
              <a:rPr lang="en-US" altLang="zh-CN" sz="2000"/>
              <a:t>-</a:t>
            </a:r>
            <a:r>
              <a:rPr lang="zh-CN" altLang="en-US" sz="2000"/>
              <a:t>工段</a:t>
            </a:r>
            <a:r>
              <a:rPr lang="en-US" altLang="zh-CN" sz="2000"/>
              <a:t>-</a:t>
            </a:r>
            <a:r>
              <a:rPr lang="zh-CN" altLang="en-US" sz="2000"/>
              <a:t>班组</a:t>
            </a:r>
            <a:r>
              <a:rPr lang="en-US" altLang="zh-CN" sz="2000"/>
              <a:t>-</a:t>
            </a:r>
            <a:r>
              <a:rPr lang="zh-CN" altLang="en-US" sz="2000"/>
              <a:t>工作地</a:t>
            </a:r>
          </a:p>
          <a:p>
            <a:pPr lvl="2" eaLnBrk="1" hangingPunct="1">
              <a:lnSpc>
                <a:spcPct val="150000"/>
              </a:lnSpc>
              <a:spcBef>
                <a:spcPct val="0"/>
              </a:spcBef>
              <a:buClr>
                <a:schemeClr val="tx1"/>
              </a:buClr>
              <a:buSzTx/>
              <a:buFont typeface="Marlett" pitchFamily="2" charset="2"/>
              <a:buChar char="2"/>
              <a:defRPr/>
            </a:pPr>
            <a:r>
              <a:rPr lang="zh-CN" altLang="en-US" sz="2000" b="1"/>
              <a:t>中小型企业</a:t>
            </a:r>
            <a:r>
              <a:rPr lang="zh-CN" altLang="en-US" sz="2000"/>
              <a:t>：工厂</a:t>
            </a:r>
            <a:r>
              <a:rPr lang="en-US" altLang="zh-CN" sz="2000"/>
              <a:t>-</a:t>
            </a:r>
            <a:r>
              <a:rPr lang="zh-CN" altLang="en-US" sz="2000"/>
              <a:t>车间</a:t>
            </a:r>
            <a:r>
              <a:rPr lang="en-US" altLang="zh-CN" sz="2000"/>
              <a:t>-</a:t>
            </a:r>
            <a:r>
              <a:rPr lang="zh-CN" altLang="en-US" sz="2000"/>
              <a:t>班组</a:t>
            </a:r>
            <a:r>
              <a:rPr lang="en-US" altLang="zh-CN" sz="2000"/>
              <a:t>-</a:t>
            </a:r>
            <a:r>
              <a:rPr lang="zh-CN" altLang="en-US" sz="2000"/>
              <a:t>工作地</a:t>
            </a:r>
          </a:p>
          <a:p>
            <a:pPr lvl="2" eaLnBrk="1" hangingPunct="1">
              <a:lnSpc>
                <a:spcPct val="150000"/>
              </a:lnSpc>
              <a:spcBef>
                <a:spcPct val="0"/>
              </a:spcBef>
              <a:buClr>
                <a:schemeClr val="tx1"/>
              </a:buClr>
              <a:buSzTx/>
              <a:buFont typeface="Marlett" pitchFamily="2" charset="2"/>
              <a:buChar char="2"/>
              <a:defRPr/>
            </a:pPr>
            <a:r>
              <a:rPr lang="zh-CN" altLang="en-US" sz="2000" b="1"/>
              <a:t>工作地</a:t>
            </a:r>
            <a:r>
              <a:rPr lang="zh-CN" altLang="en-US" sz="2000"/>
              <a:t>：最基层的生产单位，由工人、加工设备、工位器具与一定的生产面积和某些专用设施组成，每个工作地都具有特定的加工能力，在生产过程中按照专业分工的原则承担一定的加工任务。</a:t>
            </a:r>
          </a:p>
          <a:p>
            <a:pPr lvl="2" eaLnBrk="1" hangingPunct="1">
              <a:lnSpc>
                <a:spcPct val="150000"/>
              </a:lnSpc>
              <a:spcBef>
                <a:spcPct val="0"/>
              </a:spcBef>
              <a:buClr>
                <a:schemeClr val="tx1"/>
              </a:buClr>
              <a:buSzTx/>
              <a:buFont typeface="Marlett" pitchFamily="2" charset="2"/>
              <a:buChar char="2"/>
              <a:defRPr/>
            </a:pPr>
            <a:r>
              <a:rPr lang="zh-CN" altLang="en-US" sz="2000" b="1"/>
              <a:t>生产过程空间组织的主要问题</a:t>
            </a:r>
            <a:r>
              <a:rPr lang="zh-CN" altLang="en-US" sz="2000"/>
              <a:t>：以专业化分工的原则把这些工作地组织起来，使产品生产过程能有效地运行。</a:t>
            </a:r>
          </a:p>
          <a:p>
            <a:pPr lvl="3" eaLnBrk="1" hangingPunct="1">
              <a:lnSpc>
                <a:spcPct val="150000"/>
              </a:lnSpc>
              <a:spcBef>
                <a:spcPct val="0"/>
              </a:spcBef>
              <a:buClr>
                <a:schemeClr val="tx1"/>
              </a:buClr>
              <a:buSzTx/>
              <a:buFont typeface="Marlett" pitchFamily="2" charset="2"/>
              <a:buChar char="2"/>
              <a:defRPr/>
            </a:pPr>
            <a:r>
              <a:rPr lang="zh-CN" altLang="en-US" sz="1800"/>
              <a:t>生产工艺专业化、产品对象专业化</a:t>
            </a:r>
          </a:p>
        </p:txBody>
      </p:sp>
      <p:sp>
        <p:nvSpPr>
          <p:cNvPr id="5" name="Text Box 9"/>
          <p:cNvSpPr txBox="1">
            <a:spLocks noChangeArrowheads="1"/>
          </p:cNvSpPr>
          <p:nvPr/>
        </p:nvSpPr>
        <p:spPr bwMode="auto">
          <a:xfrm>
            <a:off x="762000" y="87313"/>
            <a:ext cx="1963738"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defRPr/>
            </a:pPr>
            <a:r>
              <a:rPr lang="en-US" altLang="zh-CN" sz="1800" b="1" dirty="0">
                <a:solidFill>
                  <a:srgbClr val="FFFF00"/>
                </a:solidFill>
                <a:effectLst>
                  <a:outerShdw blurRad="38100" dist="38100" dir="2700000" algn="tl">
                    <a:srgbClr val="000000">
                      <a:alpha val="43137"/>
                    </a:srgbClr>
                  </a:outerShdw>
                </a:effectLst>
              </a:rPr>
              <a:t>2.2 </a:t>
            </a:r>
            <a:r>
              <a:rPr lang="zh-CN" altLang="en-US" sz="1800" b="1" dirty="0">
                <a:solidFill>
                  <a:srgbClr val="FFFF00"/>
                </a:solidFill>
                <a:effectLst>
                  <a:outerShdw blurRad="38100" dist="38100" dir="2700000" algn="tl">
                    <a:srgbClr val="000000">
                      <a:alpha val="43137"/>
                    </a:srgbClr>
                  </a:outerShdw>
                </a:effectLst>
              </a:rPr>
              <a:t>生产运作系统</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57699">
                                            <p:txEl>
                                              <p:pRg st="0" end="0"/>
                                            </p:txEl>
                                          </p:spTgt>
                                        </p:tgtEl>
                                        <p:attrNameLst>
                                          <p:attrName>style.visibility</p:attrName>
                                        </p:attrNameLst>
                                      </p:cBhvr>
                                      <p:to>
                                        <p:strVal val="visible"/>
                                      </p:to>
                                    </p:set>
                                    <p:anim calcmode="lin" valueType="num">
                                      <p:cBhvr additive="base">
                                        <p:cTn id="7" dur="500" fill="hold"/>
                                        <p:tgtEl>
                                          <p:spTgt spid="15769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5769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57699">
                                            <p:txEl>
                                              <p:pRg st="1" end="1"/>
                                            </p:txEl>
                                          </p:spTgt>
                                        </p:tgtEl>
                                        <p:attrNameLst>
                                          <p:attrName>style.visibility</p:attrName>
                                        </p:attrNameLst>
                                      </p:cBhvr>
                                      <p:to>
                                        <p:strVal val="visible"/>
                                      </p:to>
                                    </p:set>
                                    <p:anim calcmode="lin" valueType="num">
                                      <p:cBhvr additive="base">
                                        <p:cTn id="13" dur="500" fill="hold"/>
                                        <p:tgtEl>
                                          <p:spTgt spid="157699">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57699">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57699">
                                            <p:txEl>
                                              <p:pRg st="2" end="2"/>
                                            </p:txEl>
                                          </p:spTgt>
                                        </p:tgtEl>
                                        <p:attrNameLst>
                                          <p:attrName>style.visibility</p:attrName>
                                        </p:attrNameLst>
                                      </p:cBhvr>
                                      <p:to>
                                        <p:strVal val="visible"/>
                                      </p:to>
                                    </p:set>
                                    <p:anim calcmode="lin" valueType="num">
                                      <p:cBhvr additive="base">
                                        <p:cTn id="19" dur="500" fill="hold"/>
                                        <p:tgtEl>
                                          <p:spTgt spid="157699">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57699">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57699">
                                            <p:txEl>
                                              <p:pRg st="3" end="3"/>
                                            </p:txEl>
                                          </p:spTgt>
                                        </p:tgtEl>
                                        <p:attrNameLst>
                                          <p:attrName>style.visibility</p:attrName>
                                        </p:attrNameLst>
                                      </p:cBhvr>
                                      <p:to>
                                        <p:strVal val="visible"/>
                                      </p:to>
                                    </p:set>
                                    <p:anim calcmode="lin" valueType="num">
                                      <p:cBhvr additive="base">
                                        <p:cTn id="25" dur="500" fill="hold"/>
                                        <p:tgtEl>
                                          <p:spTgt spid="157699">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57699">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57699">
                                            <p:txEl>
                                              <p:pRg st="4" end="4"/>
                                            </p:txEl>
                                          </p:spTgt>
                                        </p:tgtEl>
                                        <p:attrNameLst>
                                          <p:attrName>style.visibility</p:attrName>
                                        </p:attrNameLst>
                                      </p:cBhvr>
                                      <p:to>
                                        <p:strVal val="visible"/>
                                      </p:to>
                                    </p:set>
                                    <p:anim calcmode="lin" valueType="num">
                                      <p:cBhvr additive="base">
                                        <p:cTn id="31" dur="500" fill="hold"/>
                                        <p:tgtEl>
                                          <p:spTgt spid="157699">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57699">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157699">
                                            <p:txEl>
                                              <p:pRg st="5" end="5"/>
                                            </p:txEl>
                                          </p:spTgt>
                                        </p:tgtEl>
                                        <p:attrNameLst>
                                          <p:attrName>style.visibility</p:attrName>
                                        </p:attrNameLst>
                                      </p:cBhvr>
                                      <p:to>
                                        <p:strVal val="visible"/>
                                      </p:to>
                                    </p:set>
                                    <p:anim calcmode="lin" valueType="num">
                                      <p:cBhvr additive="base">
                                        <p:cTn id="37" dur="500" fill="hold"/>
                                        <p:tgtEl>
                                          <p:spTgt spid="157699">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157699">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157699">
                                            <p:txEl>
                                              <p:pRg st="6" end="6"/>
                                            </p:txEl>
                                          </p:spTgt>
                                        </p:tgtEl>
                                        <p:attrNameLst>
                                          <p:attrName>style.visibility</p:attrName>
                                        </p:attrNameLst>
                                      </p:cBhvr>
                                      <p:to>
                                        <p:strVal val="visible"/>
                                      </p:to>
                                    </p:set>
                                    <p:anim calcmode="lin" valueType="num">
                                      <p:cBhvr additive="base">
                                        <p:cTn id="43" dur="500" fill="hold"/>
                                        <p:tgtEl>
                                          <p:spTgt spid="157699">
                                            <p:txEl>
                                              <p:pRg st="6" end="6"/>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157699">
                                            <p:txEl>
                                              <p:pRg st="6" end="6"/>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7699" grpId="0" build="p" autoUpdateAnimBg="0" advAuto="0"/>
    </p:bldLst>
  </p:timing>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4562" name="Rectangle 2"/>
          <p:cNvSpPr>
            <a:spLocks noGrp="1" noChangeArrowheads="1"/>
          </p:cNvSpPr>
          <p:nvPr>
            <p:ph type="title"/>
          </p:nvPr>
        </p:nvSpPr>
        <p:spPr>
          <a:xfrm>
            <a:off x="304800" y="685800"/>
            <a:ext cx="8229600" cy="609600"/>
          </a:xfrm>
        </p:spPr>
        <p:txBody>
          <a:bodyPr/>
          <a:lstStyle/>
          <a:p>
            <a:pPr marL="457200" indent="-457200" eaLnBrk="1" hangingPunct="1">
              <a:buFont typeface="Wingdings" panose="05000000000000000000" pitchFamily="2" charset="2"/>
              <a:buChar char="n"/>
              <a:defRPr/>
            </a:pPr>
            <a:r>
              <a:rPr lang="zh-CN" altLang="en-US" sz="2800" b="1" dirty="0">
                <a:solidFill>
                  <a:srgbClr val="FF0000"/>
                </a:solidFill>
                <a:latin typeface="Times New Roman" panose="02020603050405020304" pitchFamily="18" charset="0"/>
                <a:ea typeface="+mn-ea"/>
                <a:cs typeface="+mn-cs"/>
              </a:rPr>
              <a:t>生产过程</a:t>
            </a:r>
          </a:p>
        </p:txBody>
      </p:sp>
      <p:sp>
        <p:nvSpPr>
          <p:cNvPr id="194563" name="Rectangle 3"/>
          <p:cNvSpPr>
            <a:spLocks noGrp="1" noChangeArrowheads="1"/>
          </p:cNvSpPr>
          <p:nvPr>
            <p:ph type="body" idx="1"/>
          </p:nvPr>
        </p:nvSpPr>
        <p:spPr>
          <a:xfrm>
            <a:off x="457200" y="1295400"/>
            <a:ext cx="8534400" cy="5410200"/>
          </a:xfrm>
        </p:spPr>
        <p:txBody>
          <a:bodyPr/>
          <a:lstStyle/>
          <a:p>
            <a:pPr eaLnBrk="1" hangingPunct="1">
              <a:lnSpc>
                <a:spcPct val="150000"/>
              </a:lnSpc>
              <a:spcBef>
                <a:spcPct val="0"/>
              </a:spcBef>
              <a:buClr>
                <a:schemeClr val="tx1"/>
              </a:buClr>
              <a:buSzTx/>
              <a:buFont typeface="Marlett" pitchFamily="2" charset="2"/>
              <a:buChar char="2"/>
              <a:defRPr/>
            </a:pPr>
            <a:r>
              <a:rPr lang="zh-CN" altLang="en-US" sz="2800" b="1">
                <a:solidFill>
                  <a:srgbClr val="003366"/>
                </a:solidFill>
                <a:effectLst>
                  <a:outerShdw blurRad="38100" dist="38100" dir="2700000" algn="tl">
                    <a:srgbClr val="C0C0C0"/>
                  </a:outerShdw>
                </a:effectLst>
              </a:rPr>
              <a:t>生产过程的运行组织：空间组织和时间组织</a:t>
            </a:r>
          </a:p>
          <a:p>
            <a:pPr lvl="1" eaLnBrk="1" hangingPunct="1">
              <a:lnSpc>
                <a:spcPct val="150000"/>
              </a:lnSpc>
              <a:spcBef>
                <a:spcPct val="0"/>
              </a:spcBef>
              <a:buClr>
                <a:schemeClr val="tx1"/>
              </a:buClr>
              <a:buSzTx/>
              <a:buFont typeface="Marlett" pitchFamily="2" charset="2"/>
              <a:buChar char="2"/>
              <a:defRPr/>
            </a:pPr>
            <a:r>
              <a:rPr lang="zh-CN" altLang="en-US" sz="2400" b="1"/>
              <a:t>时间组织</a:t>
            </a:r>
            <a:r>
              <a:rPr lang="zh-CN" altLang="en-US" sz="2400"/>
              <a:t>：</a:t>
            </a:r>
            <a:r>
              <a:rPr lang="en-US" altLang="zh-CN" sz="2400"/>
              <a:t>WIP(Work in Process)</a:t>
            </a:r>
            <a:r>
              <a:rPr lang="zh-CN" altLang="en-US" sz="2400"/>
              <a:t>物流的距离和速度，在制品（零组件和部件）在工序间的移动方式问题。</a:t>
            </a:r>
          </a:p>
          <a:p>
            <a:pPr lvl="2" eaLnBrk="1" hangingPunct="1">
              <a:lnSpc>
                <a:spcPct val="150000"/>
              </a:lnSpc>
              <a:spcBef>
                <a:spcPct val="0"/>
              </a:spcBef>
              <a:buClr>
                <a:schemeClr val="tx1"/>
              </a:buClr>
              <a:buSzTx/>
              <a:buFont typeface="Marlett" pitchFamily="2" charset="2"/>
              <a:buChar char="2"/>
              <a:defRPr/>
            </a:pPr>
            <a:r>
              <a:rPr lang="zh-CN" altLang="en-US" sz="2000" b="1"/>
              <a:t>顺序移动方式</a:t>
            </a:r>
            <a:r>
              <a:rPr lang="zh-CN" altLang="en-US" sz="2000"/>
              <a:t>：一批零件在一道工序全部加工完毕后，整批送到下一个工序进行加工。</a:t>
            </a:r>
          </a:p>
          <a:p>
            <a:pPr lvl="2" eaLnBrk="1" hangingPunct="1">
              <a:lnSpc>
                <a:spcPct val="150000"/>
              </a:lnSpc>
              <a:spcBef>
                <a:spcPct val="0"/>
              </a:spcBef>
              <a:buClr>
                <a:schemeClr val="tx1"/>
              </a:buClr>
              <a:buSzTx/>
              <a:buFont typeface="Marlett" pitchFamily="2" charset="2"/>
              <a:buChar char="2"/>
              <a:defRPr/>
            </a:pPr>
            <a:r>
              <a:rPr lang="zh-CN" altLang="en-US" sz="2000" b="1"/>
              <a:t>平行移动方式</a:t>
            </a:r>
            <a:r>
              <a:rPr lang="zh-CN" altLang="en-US" sz="2000"/>
              <a:t>：一批零件在一个工序加工完一个零件后，立即将这个零件送到下一道工序进行加工。</a:t>
            </a:r>
          </a:p>
          <a:p>
            <a:pPr lvl="2" eaLnBrk="1" hangingPunct="1">
              <a:lnSpc>
                <a:spcPct val="150000"/>
              </a:lnSpc>
              <a:spcBef>
                <a:spcPct val="0"/>
              </a:spcBef>
              <a:buClr>
                <a:schemeClr val="tx1"/>
              </a:buClr>
              <a:buSzTx/>
              <a:buFont typeface="Marlett" pitchFamily="2" charset="2"/>
              <a:buChar char="2"/>
              <a:defRPr/>
            </a:pPr>
            <a:r>
              <a:rPr lang="zh-CN" altLang="en-US" sz="2000" b="1"/>
              <a:t>平行顺序移动方式</a:t>
            </a:r>
            <a:r>
              <a:rPr lang="zh-CN" altLang="en-US" sz="2000"/>
              <a:t>：混合</a:t>
            </a:r>
          </a:p>
        </p:txBody>
      </p:sp>
      <p:sp>
        <p:nvSpPr>
          <p:cNvPr id="5" name="Text Box 9"/>
          <p:cNvSpPr txBox="1">
            <a:spLocks noChangeArrowheads="1"/>
          </p:cNvSpPr>
          <p:nvPr/>
        </p:nvSpPr>
        <p:spPr bwMode="auto">
          <a:xfrm>
            <a:off x="762000" y="87313"/>
            <a:ext cx="1963738"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defRPr/>
            </a:pPr>
            <a:r>
              <a:rPr lang="en-US" altLang="zh-CN" sz="1800" b="1" dirty="0">
                <a:solidFill>
                  <a:srgbClr val="FFFF00"/>
                </a:solidFill>
                <a:effectLst>
                  <a:outerShdw blurRad="38100" dist="38100" dir="2700000" algn="tl">
                    <a:srgbClr val="000000">
                      <a:alpha val="43137"/>
                    </a:srgbClr>
                  </a:outerShdw>
                </a:effectLst>
              </a:rPr>
              <a:t>2.2 </a:t>
            </a:r>
            <a:r>
              <a:rPr lang="zh-CN" altLang="en-US" sz="1800" b="1" dirty="0">
                <a:solidFill>
                  <a:srgbClr val="FFFF00"/>
                </a:solidFill>
                <a:effectLst>
                  <a:outerShdw blurRad="38100" dist="38100" dir="2700000" algn="tl">
                    <a:srgbClr val="000000">
                      <a:alpha val="43137"/>
                    </a:srgbClr>
                  </a:outerShdw>
                </a:effectLst>
              </a:rPr>
              <a:t>生产运作系统</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94563">
                                            <p:txEl>
                                              <p:pRg st="0" end="0"/>
                                            </p:txEl>
                                          </p:spTgt>
                                        </p:tgtEl>
                                        <p:attrNameLst>
                                          <p:attrName>style.visibility</p:attrName>
                                        </p:attrNameLst>
                                      </p:cBhvr>
                                      <p:to>
                                        <p:strVal val="visible"/>
                                      </p:to>
                                    </p:set>
                                    <p:anim calcmode="lin" valueType="num">
                                      <p:cBhvr additive="base">
                                        <p:cTn id="7" dur="500" fill="hold"/>
                                        <p:tgtEl>
                                          <p:spTgt spid="19456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9456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94563">
                                            <p:txEl>
                                              <p:pRg st="1" end="1"/>
                                            </p:txEl>
                                          </p:spTgt>
                                        </p:tgtEl>
                                        <p:attrNameLst>
                                          <p:attrName>style.visibility</p:attrName>
                                        </p:attrNameLst>
                                      </p:cBhvr>
                                      <p:to>
                                        <p:strVal val="visible"/>
                                      </p:to>
                                    </p:set>
                                    <p:anim calcmode="lin" valueType="num">
                                      <p:cBhvr additive="base">
                                        <p:cTn id="13" dur="500" fill="hold"/>
                                        <p:tgtEl>
                                          <p:spTgt spid="19456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9456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94563">
                                            <p:txEl>
                                              <p:pRg st="2" end="2"/>
                                            </p:txEl>
                                          </p:spTgt>
                                        </p:tgtEl>
                                        <p:attrNameLst>
                                          <p:attrName>style.visibility</p:attrName>
                                        </p:attrNameLst>
                                      </p:cBhvr>
                                      <p:to>
                                        <p:strVal val="visible"/>
                                      </p:to>
                                    </p:set>
                                    <p:anim calcmode="lin" valueType="num">
                                      <p:cBhvr additive="base">
                                        <p:cTn id="19" dur="500" fill="hold"/>
                                        <p:tgtEl>
                                          <p:spTgt spid="194563">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9456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94563">
                                            <p:txEl>
                                              <p:pRg st="3" end="3"/>
                                            </p:txEl>
                                          </p:spTgt>
                                        </p:tgtEl>
                                        <p:attrNameLst>
                                          <p:attrName>style.visibility</p:attrName>
                                        </p:attrNameLst>
                                      </p:cBhvr>
                                      <p:to>
                                        <p:strVal val="visible"/>
                                      </p:to>
                                    </p:set>
                                    <p:anim calcmode="lin" valueType="num">
                                      <p:cBhvr additive="base">
                                        <p:cTn id="25" dur="500" fill="hold"/>
                                        <p:tgtEl>
                                          <p:spTgt spid="194563">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94563">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94563">
                                            <p:txEl>
                                              <p:pRg st="4" end="4"/>
                                            </p:txEl>
                                          </p:spTgt>
                                        </p:tgtEl>
                                        <p:attrNameLst>
                                          <p:attrName>style.visibility</p:attrName>
                                        </p:attrNameLst>
                                      </p:cBhvr>
                                      <p:to>
                                        <p:strVal val="visible"/>
                                      </p:to>
                                    </p:set>
                                    <p:anim calcmode="lin" valueType="num">
                                      <p:cBhvr additive="base">
                                        <p:cTn id="31" dur="500" fill="hold"/>
                                        <p:tgtEl>
                                          <p:spTgt spid="194563">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94563">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63" grpId="0" build="p" autoUpdateAnimBg="0" advAuto="0"/>
    </p:bldLst>
  </p:timing>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8722" name="Rectangle 2"/>
          <p:cNvSpPr>
            <a:spLocks noGrp="1" noChangeArrowheads="1"/>
          </p:cNvSpPr>
          <p:nvPr>
            <p:ph type="title"/>
          </p:nvPr>
        </p:nvSpPr>
        <p:spPr>
          <a:xfrm>
            <a:off x="304800" y="685800"/>
            <a:ext cx="8229600" cy="609600"/>
          </a:xfrm>
        </p:spPr>
        <p:txBody>
          <a:bodyPr/>
          <a:lstStyle/>
          <a:p>
            <a:pPr marL="457200" indent="-457200" eaLnBrk="1" hangingPunct="1">
              <a:buFont typeface="Wingdings" panose="05000000000000000000" pitchFamily="2" charset="2"/>
              <a:buChar char="n"/>
              <a:defRPr/>
            </a:pPr>
            <a:r>
              <a:rPr lang="zh-CN" altLang="en-US" sz="2800" b="1" dirty="0">
                <a:solidFill>
                  <a:srgbClr val="FF0000"/>
                </a:solidFill>
                <a:latin typeface="Times New Roman" panose="02020603050405020304" pitchFamily="18" charset="0"/>
                <a:ea typeface="+mn-ea"/>
                <a:cs typeface="+mn-cs"/>
              </a:rPr>
              <a:t>生产过程</a:t>
            </a:r>
          </a:p>
        </p:txBody>
      </p:sp>
      <p:sp>
        <p:nvSpPr>
          <p:cNvPr id="158723" name="Rectangle 3"/>
          <p:cNvSpPr>
            <a:spLocks noGrp="1" noChangeArrowheads="1"/>
          </p:cNvSpPr>
          <p:nvPr>
            <p:ph type="body" idx="1"/>
          </p:nvPr>
        </p:nvSpPr>
        <p:spPr>
          <a:xfrm>
            <a:off x="457200" y="1447800"/>
            <a:ext cx="8534400" cy="5410200"/>
          </a:xfrm>
        </p:spPr>
        <p:txBody>
          <a:bodyPr/>
          <a:lstStyle/>
          <a:p>
            <a:pPr eaLnBrk="1" hangingPunct="1">
              <a:lnSpc>
                <a:spcPct val="150000"/>
              </a:lnSpc>
              <a:spcBef>
                <a:spcPct val="0"/>
              </a:spcBef>
              <a:buClr>
                <a:schemeClr val="tx1"/>
              </a:buClr>
              <a:buSzTx/>
              <a:buFont typeface="Marlett" pitchFamily="2" charset="2"/>
              <a:buChar char="2"/>
              <a:defRPr/>
            </a:pPr>
            <a:r>
              <a:rPr lang="zh-CN" altLang="en-US" sz="2800" b="1">
                <a:solidFill>
                  <a:srgbClr val="003366"/>
                </a:solidFill>
                <a:effectLst>
                  <a:outerShdw blurRad="38100" dist="38100" dir="2700000" algn="tl">
                    <a:srgbClr val="C0C0C0"/>
                  </a:outerShdw>
                </a:effectLst>
              </a:rPr>
              <a:t>生产过程的管理机制</a:t>
            </a:r>
          </a:p>
          <a:p>
            <a:pPr lvl="1" eaLnBrk="1" hangingPunct="1">
              <a:lnSpc>
                <a:spcPct val="150000"/>
              </a:lnSpc>
              <a:spcBef>
                <a:spcPct val="0"/>
              </a:spcBef>
              <a:buClr>
                <a:schemeClr val="tx1"/>
              </a:buClr>
              <a:buSzTx/>
              <a:buFont typeface="Marlett" pitchFamily="2" charset="2"/>
              <a:buChar char="2"/>
              <a:defRPr/>
            </a:pPr>
            <a:r>
              <a:rPr lang="zh-CN" altLang="en-US" sz="2400" b="1">
                <a:solidFill>
                  <a:srgbClr val="003366"/>
                </a:solidFill>
                <a:effectLst>
                  <a:outerShdw blurRad="38100" dist="38100" dir="2700000" algn="tl">
                    <a:srgbClr val="C0C0C0"/>
                  </a:outerShdw>
                </a:effectLst>
              </a:rPr>
              <a:t>为了使生产过程的各个环节能协调一致地按预定目标顺利地运行，必须建立合适的生产过程管理机制</a:t>
            </a:r>
          </a:p>
          <a:p>
            <a:pPr lvl="1" eaLnBrk="1" hangingPunct="1">
              <a:lnSpc>
                <a:spcPct val="150000"/>
              </a:lnSpc>
              <a:spcBef>
                <a:spcPct val="0"/>
              </a:spcBef>
              <a:buClr>
                <a:schemeClr val="tx1"/>
              </a:buClr>
              <a:buSzTx/>
              <a:buFont typeface="Marlett" pitchFamily="2" charset="2"/>
              <a:buChar char="2"/>
              <a:defRPr/>
            </a:pPr>
            <a:r>
              <a:rPr lang="zh-CN" altLang="en-US" sz="2400" b="1"/>
              <a:t>生产任务的性质</a:t>
            </a:r>
            <a:r>
              <a:rPr lang="zh-CN" altLang="en-US" sz="2400"/>
              <a:t>：任务性质影响生产过程的运行组织，对应不同的生产过程管理机制。</a:t>
            </a:r>
          </a:p>
          <a:p>
            <a:pPr lvl="1" eaLnBrk="1" hangingPunct="1">
              <a:lnSpc>
                <a:spcPct val="150000"/>
              </a:lnSpc>
              <a:spcBef>
                <a:spcPct val="50000"/>
              </a:spcBef>
              <a:buClr>
                <a:schemeClr val="tx1"/>
              </a:buClr>
              <a:buSzTx/>
              <a:buFont typeface="Marlett" pitchFamily="2" charset="2"/>
              <a:buChar char="2"/>
              <a:defRPr/>
            </a:pPr>
            <a:r>
              <a:rPr lang="zh-CN" altLang="en-US" sz="2400">
                <a:solidFill>
                  <a:srgbClr val="003366"/>
                </a:solidFill>
              </a:rPr>
              <a:t>生产人员的组织和管理规则</a:t>
            </a:r>
          </a:p>
          <a:p>
            <a:pPr lvl="1" eaLnBrk="1" hangingPunct="1">
              <a:lnSpc>
                <a:spcPct val="150000"/>
              </a:lnSpc>
              <a:spcBef>
                <a:spcPct val="0"/>
              </a:spcBef>
              <a:buClr>
                <a:schemeClr val="tx1"/>
              </a:buClr>
              <a:buSzTx/>
              <a:buFont typeface="Marlett" pitchFamily="2" charset="2"/>
              <a:buChar char="2"/>
              <a:defRPr/>
            </a:pPr>
            <a:r>
              <a:rPr lang="zh-CN" altLang="en-US" sz="2400">
                <a:solidFill>
                  <a:srgbClr val="003366"/>
                </a:solidFill>
              </a:rPr>
              <a:t>生产计划系统</a:t>
            </a:r>
          </a:p>
          <a:p>
            <a:pPr lvl="1" eaLnBrk="1" hangingPunct="1">
              <a:lnSpc>
                <a:spcPct val="150000"/>
              </a:lnSpc>
              <a:spcBef>
                <a:spcPct val="0"/>
              </a:spcBef>
              <a:buClr>
                <a:schemeClr val="tx1"/>
              </a:buClr>
              <a:buSzTx/>
              <a:buFont typeface="Marlett" pitchFamily="2" charset="2"/>
              <a:buChar char="2"/>
              <a:defRPr/>
            </a:pPr>
            <a:r>
              <a:rPr lang="zh-CN" altLang="en-US" sz="2400">
                <a:solidFill>
                  <a:srgbClr val="003366"/>
                </a:solidFill>
              </a:rPr>
              <a:t>生产监控系统</a:t>
            </a:r>
          </a:p>
          <a:p>
            <a:pPr lvl="1" eaLnBrk="1" hangingPunct="1">
              <a:lnSpc>
                <a:spcPct val="150000"/>
              </a:lnSpc>
              <a:spcBef>
                <a:spcPct val="0"/>
              </a:spcBef>
              <a:buClr>
                <a:schemeClr val="tx1"/>
              </a:buClr>
              <a:buSzTx/>
              <a:buFont typeface="Marlett" pitchFamily="2" charset="2"/>
              <a:buChar char="2"/>
              <a:defRPr/>
            </a:pPr>
            <a:r>
              <a:rPr lang="zh-CN" altLang="en-US" sz="2400">
                <a:solidFill>
                  <a:srgbClr val="003366"/>
                </a:solidFill>
              </a:rPr>
              <a:t>生产考核制度</a:t>
            </a:r>
          </a:p>
        </p:txBody>
      </p:sp>
      <p:sp>
        <p:nvSpPr>
          <p:cNvPr id="5" name="Text Box 9"/>
          <p:cNvSpPr txBox="1">
            <a:spLocks noChangeArrowheads="1"/>
          </p:cNvSpPr>
          <p:nvPr/>
        </p:nvSpPr>
        <p:spPr bwMode="auto">
          <a:xfrm>
            <a:off x="762000" y="87313"/>
            <a:ext cx="1963738"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defRPr/>
            </a:pPr>
            <a:r>
              <a:rPr lang="en-US" altLang="zh-CN" sz="1800" b="1" dirty="0">
                <a:solidFill>
                  <a:srgbClr val="FFFF00"/>
                </a:solidFill>
                <a:effectLst>
                  <a:outerShdw blurRad="38100" dist="38100" dir="2700000" algn="tl">
                    <a:srgbClr val="000000">
                      <a:alpha val="43137"/>
                    </a:srgbClr>
                  </a:outerShdw>
                </a:effectLst>
              </a:rPr>
              <a:t>2.2 </a:t>
            </a:r>
            <a:r>
              <a:rPr lang="zh-CN" altLang="en-US" sz="1800" b="1" dirty="0">
                <a:solidFill>
                  <a:srgbClr val="FFFF00"/>
                </a:solidFill>
                <a:effectLst>
                  <a:outerShdw blurRad="38100" dist="38100" dir="2700000" algn="tl">
                    <a:srgbClr val="000000">
                      <a:alpha val="43137"/>
                    </a:srgbClr>
                  </a:outerShdw>
                </a:effectLst>
              </a:rPr>
              <a:t>生产运作系统</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58723">
                                            <p:txEl>
                                              <p:pRg st="0" end="0"/>
                                            </p:txEl>
                                          </p:spTgt>
                                        </p:tgtEl>
                                        <p:attrNameLst>
                                          <p:attrName>style.visibility</p:attrName>
                                        </p:attrNameLst>
                                      </p:cBhvr>
                                      <p:to>
                                        <p:strVal val="visible"/>
                                      </p:to>
                                    </p:set>
                                    <p:anim calcmode="lin" valueType="num">
                                      <p:cBhvr additive="base">
                                        <p:cTn id="7" dur="500" fill="hold"/>
                                        <p:tgtEl>
                                          <p:spTgt spid="15872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5872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58723">
                                            <p:txEl>
                                              <p:pRg st="1" end="1"/>
                                            </p:txEl>
                                          </p:spTgt>
                                        </p:tgtEl>
                                        <p:attrNameLst>
                                          <p:attrName>style.visibility</p:attrName>
                                        </p:attrNameLst>
                                      </p:cBhvr>
                                      <p:to>
                                        <p:strVal val="visible"/>
                                      </p:to>
                                    </p:set>
                                    <p:anim calcmode="lin" valueType="num">
                                      <p:cBhvr additive="base">
                                        <p:cTn id="13" dur="500" fill="hold"/>
                                        <p:tgtEl>
                                          <p:spTgt spid="15872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5872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58723">
                                            <p:txEl>
                                              <p:pRg st="2" end="2"/>
                                            </p:txEl>
                                          </p:spTgt>
                                        </p:tgtEl>
                                        <p:attrNameLst>
                                          <p:attrName>style.visibility</p:attrName>
                                        </p:attrNameLst>
                                      </p:cBhvr>
                                      <p:to>
                                        <p:strVal val="visible"/>
                                      </p:to>
                                    </p:set>
                                    <p:anim calcmode="lin" valueType="num">
                                      <p:cBhvr additive="base">
                                        <p:cTn id="19" dur="500" fill="hold"/>
                                        <p:tgtEl>
                                          <p:spTgt spid="158723">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5872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58723">
                                            <p:txEl>
                                              <p:pRg st="3" end="3"/>
                                            </p:txEl>
                                          </p:spTgt>
                                        </p:tgtEl>
                                        <p:attrNameLst>
                                          <p:attrName>style.visibility</p:attrName>
                                        </p:attrNameLst>
                                      </p:cBhvr>
                                      <p:to>
                                        <p:strVal val="visible"/>
                                      </p:to>
                                    </p:set>
                                    <p:anim calcmode="lin" valueType="num">
                                      <p:cBhvr additive="base">
                                        <p:cTn id="25" dur="500" fill="hold"/>
                                        <p:tgtEl>
                                          <p:spTgt spid="158723">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58723">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58723">
                                            <p:txEl>
                                              <p:pRg st="4" end="4"/>
                                            </p:txEl>
                                          </p:spTgt>
                                        </p:tgtEl>
                                        <p:attrNameLst>
                                          <p:attrName>style.visibility</p:attrName>
                                        </p:attrNameLst>
                                      </p:cBhvr>
                                      <p:to>
                                        <p:strVal val="visible"/>
                                      </p:to>
                                    </p:set>
                                    <p:anim calcmode="lin" valueType="num">
                                      <p:cBhvr additive="base">
                                        <p:cTn id="31" dur="500" fill="hold"/>
                                        <p:tgtEl>
                                          <p:spTgt spid="158723">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58723">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158723">
                                            <p:txEl>
                                              <p:pRg st="5" end="5"/>
                                            </p:txEl>
                                          </p:spTgt>
                                        </p:tgtEl>
                                        <p:attrNameLst>
                                          <p:attrName>style.visibility</p:attrName>
                                        </p:attrNameLst>
                                      </p:cBhvr>
                                      <p:to>
                                        <p:strVal val="visible"/>
                                      </p:to>
                                    </p:set>
                                    <p:anim calcmode="lin" valueType="num">
                                      <p:cBhvr additive="base">
                                        <p:cTn id="37" dur="500" fill="hold"/>
                                        <p:tgtEl>
                                          <p:spTgt spid="158723">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158723">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158723">
                                            <p:txEl>
                                              <p:pRg st="6" end="6"/>
                                            </p:txEl>
                                          </p:spTgt>
                                        </p:tgtEl>
                                        <p:attrNameLst>
                                          <p:attrName>style.visibility</p:attrName>
                                        </p:attrNameLst>
                                      </p:cBhvr>
                                      <p:to>
                                        <p:strVal val="visible"/>
                                      </p:to>
                                    </p:set>
                                    <p:anim calcmode="lin" valueType="num">
                                      <p:cBhvr additive="base">
                                        <p:cTn id="43" dur="500" fill="hold"/>
                                        <p:tgtEl>
                                          <p:spTgt spid="158723">
                                            <p:txEl>
                                              <p:pRg st="6" end="6"/>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158723">
                                            <p:txEl>
                                              <p:pRg st="6" end="6"/>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8723" grpId="0" build="p" autoUpdateAnimBg="0" advAuto="0"/>
    </p:bldLst>
  </p:timing>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9746" name="Rectangle 2"/>
          <p:cNvSpPr>
            <a:spLocks noGrp="1" noChangeArrowheads="1"/>
          </p:cNvSpPr>
          <p:nvPr>
            <p:ph type="title"/>
          </p:nvPr>
        </p:nvSpPr>
        <p:spPr>
          <a:xfrm>
            <a:off x="304800" y="685800"/>
            <a:ext cx="8229600" cy="609600"/>
          </a:xfrm>
        </p:spPr>
        <p:txBody>
          <a:bodyPr/>
          <a:lstStyle/>
          <a:p>
            <a:pPr marL="457200" indent="-457200" eaLnBrk="1" hangingPunct="1">
              <a:buFont typeface="Wingdings" panose="05000000000000000000" pitchFamily="2" charset="2"/>
              <a:buChar char="n"/>
              <a:defRPr/>
            </a:pPr>
            <a:r>
              <a:rPr lang="zh-CN" altLang="en-US" sz="2800" b="1" dirty="0">
                <a:solidFill>
                  <a:srgbClr val="FF0000"/>
                </a:solidFill>
                <a:latin typeface="Times New Roman" panose="02020603050405020304" pitchFamily="18" charset="0"/>
                <a:ea typeface="+mn-ea"/>
                <a:cs typeface="+mn-cs"/>
              </a:rPr>
              <a:t>生产类型</a:t>
            </a:r>
          </a:p>
        </p:txBody>
      </p:sp>
      <p:sp>
        <p:nvSpPr>
          <p:cNvPr id="159747" name="Rectangle 3"/>
          <p:cNvSpPr>
            <a:spLocks noGrp="1" noChangeArrowheads="1"/>
          </p:cNvSpPr>
          <p:nvPr>
            <p:ph type="body" idx="1"/>
          </p:nvPr>
        </p:nvSpPr>
        <p:spPr>
          <a:xfrm>
            <a:off x="457200" y="1447800"/>
            <a:ext cx="8534400" cy="5181600"/>
          </a:xfrm>
        </p:spPr>
        <p:txBody>
          <a:bodyPr/>
          <a:lstStyle/>
          <a:p>
            <a:pPr eaLnBrk="1" hangingPunct="1">
              <a:lnSpc>
                <a:spcPct val="140000"/>
              </a:lnSpc>
              <a:spcBef>
                <a:spcPct val="0"/>
              </a:spcBef>
              <a:buClr>
                <a:schemeClr val="tx1"/>
              </a:buClr>
              <a:buSzTx/>
              <a:buFont typeface="Marlett" pitchFamily="2" charset="2"/>
              <a:buChar char="2"/>
              <a:defRPr/>
            </a:pPr>
            <a:r>
              <a:rPr lang="zh-CN" altLang="en-US" sz="2400" b="1" dirty="0">
                <a:solidFill>
                  <a:srgbClr val="003366"/>
                </a:solidFill>
                <a:effectLst>
                  <a:outerShdw blurRad="38100" dist="38100" dir="2700000" algn="tl">
                    <a:srgbClr val="C0C0C0"/>
                  </a:outerShdw>
                </a:effectLst>
              </a:rPr>
              <a:t>目的</a:t>
            </a:r>
            <a:r>
              <a:rPr lang="zh-CN" altLang="en-US" sz="2400" dirty="0"/>
              <a:t>：以分类为基础，针对生产过程的特征及其运行规律设计与之相适应的生产计划与控制系统。</a:t>
            </a:r>
          </a:p>
          <a:p>
            <a:pPr eaLnBrk="1" hangingPunct="1">
              <a:lnSpc>
                <a:spcPct val="140000"/>
              </a:lnSpc>
              <a:spcBef>
                <a:spcPct val="50000"/>
              </a:spcBef>
              <a:buClr>
                <a:schemeClr val="tx1"/>
              </a:buClr>
              <a:buSzTx/>
              <a:buFont typeface="Marlett" pitchFamily="2" charset="2"/>
              <a:buChar char="2"/>
              <a:defRPr/>
            </a:pPr>
            <a:r>
              <a:rPr lang="zh-CN" altLang="en-US" sz="2400" b="1" dirty="0">
                <a:solidFill>
                  <a:srgbClr val="003366"/>
                </a:solidFill>
                <a:effectLst>
                  <a:outerShdw blurRad="38100" dist="38100" dir="2700000" algn="tl">
                    <a:srgbClr val="C0C0C0"/>
                  </a:outerShdw>
                </a:effectLst>
              </a:rPr>
              <a:t>按照产品的使用性能分类</a:t>
            </a:r>
          </a:p>
          <a:p>
            <a:pPr lvl="1" eaLnBrk="1" hangingPunct="1">
              <a:lnSpc>
                <a:spcPct val="140000"/>
              </a:lnSpc>
              <a:spcBef>
                <a:spcPct val="0"/>
              </a:spcBef>
              <a:buClr>
                <a:schemeClr val="tx1"/>
              </a:buClr>
              <a:buSzTx/>
              <a:buFont typeface="Marlett" pitchFamily="2" charset="2"/>
              <a:buChar char="2"/>
              <a:defRPr/>
            </a:pPr>
            <a:r>
              <a:rPr lang="zh-CN" altLang="en-US" sz="2000" dirty="0"/>
              <a:t>通用产品、专用产品</a:t>
            </a:r>
            <a:endParaRPr lang="en-US" altLang="zh-CN" sz="2000" dirty="0"/>
          </a:p>
          <a:p>
            <a:pPr lvl="1" eaLnBrk="1" hangingPunct="1">
              <a:lnSpc>
                <a:spcPct val="140000"/>
              </a:lnSpc>
              <a:spcBef>
                <a:spcPct val="0"/>
              </a:spcBef>
              <a:buClr>
                <a:schemeClr val="tx1"/>
              </a:buClr>
              <a:buSzTx/>
              <a:buFont typeface="Marlett" pitchFamily="2" charset="2"/>
              <a:buChar char="2"/>
              <a:defRPr/>
            </a:pPr>
            <a:endParaRPr lang="zh-CN" altLang="en-US" sz="2000" dirty="0"/>
          </a:p>
          <a:p>
            <a:pPr eaLnBrk="1" hangingPunct="1">
              <a:lnSpc>
                <a:spcPct val="140000"/>
              </a:lnSpc>
              <a:spcBef>
                <a:spcPct val="0"/>
              </a:spcBef>
              <a:buClr>
                <a:schemeClr val="tx1"/>
              </a:buClr>
              <a:buSzTx/>
              <a:buFont typeface="Marlett" pitchFamily="2" charset="2"/>
              <a:buChar char="2"/>
              <a:defRPr/>
            </a:pPr>
            <a:r>
              <a:rPr lang="zh-CN" altLang="en-US" sz="2400" b="1" dirty="0">
                <a:solidFill>
                  <a:srgbClr val="003366"/>
                </a:solidFill>
                <a:effectLst>
                  <a:outerShdw blurRad="38100" dist="38100" dir="2700000" algn="tl">
                    <a:srgbClr val="C0C0C0"/>
                  </a:outerShdw>
                </a:effectLst>
              </a:rPr>
              <a:t>按照产品的结构特征分类</a:t>
            </a:r>
          </a:p>
          <a:p>
            <a:pPr lvl="1" eaLnBrk="1" hangingPunct="1">
              <a:lnSpc>
                <a:spcPct val="140000"/>
              </a:lnSpc>
              <a:spcBef>
                <a:spcPct val="0"/>
              </a:spcBef>
              <a:buClr>
                <a:schemeClr val="tx1"/>
              </a:buClr>
              <a:buSzTx/>
              <a:buFont typeface="Marlett" pitchFamily="2" charset="2"/>
              <a:buChar char="2"/>
              <a:defRPr/>
            </a:pPr>
            <a:r>
              <a:rPr lang="zh-CN" altLang="en-US" sz="2000" dirty="0"/>
              <a:t>“三化程度”：系列化、通用化、标准化</a:t>
            </a:r>
            <a:endParaRPr lang="en-US" altLang="zh-CN" sz="2000" dirty="0"/>
          </a:p>
          <a:p>
            <a:pPr lvl="1" eaLnBrk="1" hangingPunct="1">
              <a:lnSpc>
                <a:spcPct val="140000"/>
              </a:lnSpc>
              <a:spcBef>
                <a:spcPct val="0"/>
              </a:spcBef>
              <a:buClr>
                <a:schemeClr val="tx1"/>
              </a:buClr>
              <a:buSzTx/>
              <a:buFont typeface="Marlett" pitchFamily="2" charset="2"/>
              <a:buChar char="2"/>
              <a:defRPr/>
            </a:pPr>
            <a:endParaRPr lang="zh-CN" altLang="en-US" sz="2000" dirty="0"/>
          </a:p>
          <a:p>
            <a:pPr eaLnBrk="1" hangingPunct="1">
              <a:lnSpc>
                <a:spcPct val="140000"/>
              </a:lnSpc>
              <a:spcBef>
                <a:spcPct val="0"/>
              </a:spcBef>
              <a:buClr>
                <a:schemeClr val="tx1"/>
              </a:buClr>
              <a:buSzTx/>
              <a:buFont typeface="Marlett" pitchFamily="2" charset="2"/>
              <a:buChar char="2"/>
              <a:defRPr/>
            </a:pPr>
            <a:r>
              <a:rPr lang="zh-CN" altLang="en-US" sz="2400" b="1" dirty="0">
                <a:solidFill>
                  <a:srgbClr val="003366"/>
                </a:solidFill>
                <a:effectLst>
                  <a:outerShdw blurRad="38100" dist="38100" dir="2700000" algn="tl">
                    <a:srgbClr val="C0C0C0"/>
                  </a:outerShdw>
                </a:effectLst>
              </a:rPr>
              <a:t>按照生产工艺特征分类</a:t>
            </a:r>
          </a:p>
          <a:p>
            <a:pPr lvl="1" eaLnBrk="1" hangingPunct="1">
              <a:lnSpc>
                <a:spcPct val="140000"/>
              </a:lnSpc>
              <a:spcBef>
                <a:spcPct val="0"/>
              </a:spcBef>
              <a:buClr>
                <a:schemeClr val="tx1"/>
              </a:buClr>
              <a:buSzTx/>
              <a:buFont typeface="Marlett" pitchFamily="2" charset="2"/>
              <a:buChar char="2"/>
              <a:defRPr/>
            </a:pPr>
            <a:r>
              <a:rPr lang="zh-CN" altLang="en-US" sz="2000" dirty="0"/>
              <a:t>工艺过程连续的流程生产型、工艺过程离散的加工装配型</a:t>
            </a:r>
          </a:p>
        </p:txBody>
      </p:sp>
      <p:sp>
        <p:nvSpPr>
          <p:cNvPr id="5" name="Text Box 9"/>
          <p:cNvSpPr txBox="1">
            <a:spLocks noChangeArrowheads="1"/>
          </p:cNvSpPr>
          <p:nvPr/>
        </p:nvSpPr>
        <p:spPr bwMode="auto">
          <a:xfrm>
            <a:off x="762000" y="87313"/>
            <a:ext cx="1963738"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defRPr/>
            </a:pPr>
            <a:r>
              <a:rPr lang="en-US" altLang="zh-CN" sz="1800" b="1" dirty="0">
                <a:solidFill>
                  <a:srgbClr val="FFFF00"/>
                </a:solidFill>
                <a:effectLst>
                  <a:outerShdw blurRad="38100" dist="38100" dir="2700000" algn="tl">
                    <a:srgbClr val="000000">
                      <a:alpha val="43137"/>
                    </a:srgbClr>
                  </a:outerShdw>
                </a:effectLst>
              </a:rPr>
              <a:t>2.2 </a:t>
            </a:r>
            <a:r>
              <a:rPr lang="zh-CN" altLang="en-US" sz="1800" b="1" dirty="0">
                <a:solidFill>
                  <a:srgbClr val="FFFF00"/>
                </a:solidFill>
                <a:effectLst>
                  <a:outerShdw blurRad="38100" dist="38100" dir="2700000" algn="tl">
                    <a:srgbClr val="000000">
                      <a:alpha val="43137"/>
                    </a:srgbClr>
                  </a:outerShdw>
                </a:effectLst>
              </a:rPr>
              <a:t>生产运作系统</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59747">
                                            <p:txEl>
                                              <p:pRg st="0" end="0"/>
                                            </p:txEl>
                                          </p:spTgt>
                                        </p:tgtEl>
                                        <p:attrNameLst>
                                          <p:attrName>style.visibility</p:attrName>
                                        </p:attrNameLst>
                                      </p:cBhvr>
                                      <p:to>
                                        <p:strVal val="visible"/>
                                      </p:to>
                                    </p:set>
                                    <p:anim calcmode="lin" valueType="num">
                                      <p:cBhvr additive="base">
                                        <p:cTn id="7" dur="500" fill="hold"/>
                                        <p:tgtEl>
                                          <p:spTgt spid="15974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5974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59747">
                                            <p:txEl>
                                              <p:pRg st="1" end="1"/>
                                            </p:txEl>
                                          </p:spTgt>
                                        </p:tgtEl>
                                        <p:attrNameLst>
                                          <p:attrName>style.visibility</p:attrName>
                                        </p:attrNameLst>
                                      </p:cBhvr>
                                      <p:to>
                                        <p:strVal val="visible"/>
                                      </p:to>
                                    </p:set>
                                    <p:anim calcmode="lin" valueType="num">
                                      <p:cBhvr additive="base">
                                        <p:cTn id="13" dur="500" fill="hold"/>
                                        <p:tgtEl>
                                          <p:spTgt spid="159747">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5974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59747">
                                            <p:txEl>
                                              <p:pRg st="2" end="2"/>
                                            </p:txEl>
                                          </p:spTgt>
                                        </p:tgtEl>
                                        <p:attrNameLst>
                                          <p:attrName>style.visibility</p:attrName>
                                        </p:attrNameLst>
                                      </p:cBhvr>
                                      <p:to>
                                        <p:strVal val="visible"/>
                                      </p:to>
                                    </p:set>
                                    <p:anim calcmode="lin" valueType="num">
                                      <p:cBhvr additive="base">
                                        <p:cTn id="19" dur="500" fill="hold"/>
                                        <p:tgtEl>
                                          <p:spTgt spid="159747">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59747">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59747">
                                            <p:txEl>
                                              <p:pRg st="4" end="4"/>
                                            </p:txEl>
                                          </p:spTgt>
                                        </p:tgtEl>
                                        <p:attrNameLst>
                                          <p:attrName>style.visibility</p:attrName>
                                        </p:attrNameLst>
                                      </p:cBhvr>
                                      <p:to>
                                        <p:strVal val="visible"/>
                                      </p:to>
                                    </p:set>
                                    <p:anim calcmode="lin" valueType="num">
                                      <p:cBhvr additive="base">
                                        <p:cTn id="25" dur="500" fill="hold"/>
                                        <p:tgtEl>
                                          <p:spTgt spid="159747">
                                            <p:txEl>
                                              <p:pRg st="4" end="4"/>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59747">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59747">
                                            <p:txEl>
                                              <p:pRg st="5" end="5"/>
                                            </p:txEl>
                                          </p:spTgt>
                                        </p:tgtEl>
                                        <p:attrNameLst>
                                          <p:attrName>style.visibility</p:attrName>
                                        </p:attrNameLst>
                                      </p:cBhvr>
                                      <p:to>
                                        <p:strVal val="visible"/>
                                      </p:to>
                                    </p:set>
                                    <p:anim calcmode="lin" valueType="num">
                                      <p:cBhvr additive="base">
                                        <p:cTn id="31" dur="500" fill="hold"/>
                                        <p:tgtEl>
                                          <p:spTgt spid="159747">
                                            <p:txEl>
                                              <p:pRg st="5" end="5"/>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59747">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159747">
                                            <p:txEl>
                                              <p:pRg st="7" end="7"/>
                                            </p:txEl>
                                          </p:spTgt>
                                        </p:tgtEl>
                                        <p:attrNameLst>
                                          <p:attrName>style.visibility</p:attrName>
                                        </p:attrNameLst>
                                      </p:cBhvr>
                                      <p:to>
                                        <p:strVal val="visible"/>
                                      </p:to>
                                    </p:set>
                                    <p:anim calcmode="lin" valueType="num">
                                      <p:cBhvr additive="base">
                                        <p:cTn id="37" dur="500" fill="hold"/>
                                        <p:tgtEl>
                                          <p:spTgt spid="159747">
                                            <p:txEl>
                                              <p:pRg st="7" end="7"/>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159747">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159747">
                                            <p:txEl>
                                              <p:pRg st="8" end="8"/>
                                            </p:txEl>
                                          </p:spTgt>
                                        </p:tgtEl>
                                        <p:attrNameLst>
                                          <p:attrName>style.visibility</p:attrName>
                                        </p:attrNameLst>
                                      </p:cBhvr>
                                      <p:to>
                                        <p:strVal val="visible"/>
                                      </p:to>
                                    </p:set>
                                    <p:anim calcmode="lin" valueType="num">
                                      <p:cBhvr additive="base">
                                        <p:cTn id="43" dur="500" fill="hold"/>
                                        <p:tgtEl>
                                          <p:spTgt spid="159747">
                                            <p:txEl>
                                              <p:pRg st="8" end="8"/>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159747">
                                            <p:txEl>
                                              <p:pRg st="8" end="8"/>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9747" grpId="0" build="p" autoUpdateAnimBg="0" advAuto="0"/>
    </p:bldLst>
  </p:timing>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9746" name="Rectangle 2"/>
          <p:cNvSpPr>
            <a:spLocks noGrp="1" noChangeArrowheads="1"/>
          </p:cNvSpPr>
          <p:nvPr>
            <p:ph type="title"/>
          </p:nvPr>
        </p:nvSpPr>
        <p:spPr>
          <a:xfrm>
            <a:off x="304800" y="685800"/>
            <a:ext cx="8229600" cy="609600"/>
          </a:xfrm>
        </p:spPr>
        <p:txBody>
          <a:bodyPr/>
          <a:lstStyle/>
          <a:p>
            <a:pPr marL="457200" indent="-457200" eaLnBrk="1" hangingPunct="1">
              <a:buFont typeface="Wingdings" panose="05000000000000000000" pitchFamily="2" charset="2"/>
              <a:buChar char="n"/>
              <a:defRPr/>
            </a:pPr>
            <a:r>
              <a:rPr lang="zh-CN" altLang="en-US" sz="2800" b="1" dirty="0">
                <a:solidFill>
                  <a:srgbClr val="FF0000"/>
                </a:solidFill>
                <a:latin typeface="Times New Roman" panose="02020603050405020304" pitchFamily="18" charset="0"/>
                <a:ea typeface="+mn-ea"/>
                <a:cs typeface="+mn-cs"/>
              </a:rPr>
              <a:t>生产类型</a:t>
            </a:r>
          </a:p>
        </p:txBody>
      </p:sp>
      <p:sp>
        <p:nvSpPr>
          <p:cNvPr id="5" name="Text Box 9"/>
          <p:cNvSpPr txBox="1">
            <a:spLocks noChangeArrowheads="1"/>
          </p:cNvSpPr>
          <p:nvPr/>
        </p:nvSpPr>
        <p:spPr bwMode="auto">
          <a:xfrm>
            <a:off x="762000" y="87313"/>
            <a:ext cx="1963738"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defRPr/>
            </a:pPr>
            <a:r>
              <a:rPr lang="en-US" altLang="zh-CN" sz="1800" b="1" dirty="0">
                <a:solidFill>
                  <a:srgbClr val="FFFF00"/>
                </a:solidFill>
                <a:effectLst>
                  <a:outerShdw blurRad="38100" dist="38100" dir="2700000" algn="tl">
                    <a:srgbClr val="000000">
                      <a:alpha val="43137"/>
                    </a:srgbClr>
                  </a:outerShdw>
                </a:effectLst>
              </a:rPr>
              <a:t>2.2 </a:t>
            </a:r>
            <a:r>
              <a:rPr lang="zh-CN" altLang="en-US" sz="1800" b="1" dirty="0">
                <a:solidFill>
                  <a:srgbClr val="FFFF00"/>
                </a:solidFill>
                <a:effectLst>
                  <a:outerShdw blurRad="38100" dist="38100" dir="2700000" algn="tl">
                    <a:srgbClr val="000000">
                      <a:alpha val="43137"/>
                    </a:srgbClr>
                  </a:outerShdw>
                </a:effectLst>
              </a:rPr>
              <a:t>生产运作系统</a:t>
            </a:r>
          </a:p>
        </p:txBody>
      </p:sp>
      <p:graphicFrame>
        <p:nvGraphicFramePr>
          <p:cNvPr id="6" name="Group 74"/>
          <p:cNvGraphicFramePr>
            <a:graphicFrameLocks noGrp="1"/>
          </p:cNvGraphicFramePr>
          <p:nvPr/>
        </p:nvGraphicFramePr>
        <p:xfrm>
          <a:off x="381000" y="1266825"/>
          <a:ext cx="8382000" cy="5584818"/>
        </p:xfrm>
        <a:graphic>
          <a:graphicData uri="http://schemas.openxmlformats.org/drawingml/2006/table">
            <a:tbl>
              <a:tblPr/>
              <a:tblGrid>
                <a:gridCol w="2471738">
                  <a:extLst>
                    <a:ext uri="{9D8B030D-6E8A-4147-A177-3AD203B41FA5}">
                      <a16:colId xmlns:a16="http://schemas.microsoft.com/office/drawing/2014/main" val="4102276187"/>
                    </a:ext>
                  </a:extLst>
                </a:gridCol>
                <a:gridCol w="2955925">
                  <a:extLst>
                    <a:ext uri="{9D8B030D-6E8A-4147-A177-3AD203B41FA5}">
                      <a16:colId xmlns:a16="http://schemas.microsoft.com/office/drawing/2014/main" val="84569302"/>
                    </a:ext>
                  </a:extLst>
                </a:gridCol>
                <a:gridCol w="2954337">
                  <a:extLst>
                    <a:ext uri="{9D8B030D-6E8A-4147-A177-3AD203B41FA5}">
                      <a16:colId xmlns:a16="http://schemas.microsoft.com/office/drawing/2014/main" val="1650765567"/>
                    </a:ext>
                  </a:extLst>
                </a:gridCol>
              </a:tblGrid>
              <a:tr h="347505">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400" b="1" i="0" u="none" strike="noStrike" cap="none" normalizeH="0" baseline="0" dirty="0">
                          <a:ln>
                            <a:noFill/>
                          </a:ln>
                          <a:solidFill>
                            <a:schemeClr val="accent5">
                              <a:lumMod val="50000"/>
                            </a:schemeClr>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Times New Roman" panose="02020603050405020304" pitchFamily="18" charset="0"/>
                        </a:rPr>
                        <a:t>特征</a:t>
                      </a:r>
                      <a:endParaRPr kumimoji="0" lang="zh-CN" altLang="en-US" sz="1400" b="1" i="0" u="none" strike="noStrike" cap="none" normalizeH="0" baseline="0" dirty="0">
                        <a:ln>
                          <a:noFill/>
                        </a:ln>
                        <a:solidFill>
                          <a:schemeClr val="accent5">
                            <a:lumMod val="50000"/>
                          </a:schemeClr>
                        </a:solidFill>
                        <a:effectLst>
                          <a:outerShdw blurRad="38100" dist="38100" dir="2700000" algn="tl">
                            <a:srgbClr val="000000">
                              <a:alpha val="43137"/>
                            </a:srgbClr>
                          </a:outerShdw>
                        </a:effectLst>
                        <a:latin typeface="华文细黑" panose="02010600040101010101" pitchFamily="2" charset="-122"/>
                        <a:ea typeface="宋体" panose="02010600030101010101" pitchFamily="2" charset="-122"/>
                      </a:endParaRPr>
                    </a:p>
                  </a:txBody>
                  <a:tcPr marT="45724" marB="4572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400" b="1" i="0" u="none" strike="noStrike" cap="none" normalizeH="0" baseline="0" dirty="0">
                          <a:ln>
                            <a:noFill/>
                          </a:ln>
                          <a:solidFill>
                            <a:schemeClr val="accent5">
                              <a:lumMod val="50000"/>
                            </a:schemeClr>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Times New Roman" panose="02020603050405020304" pitchFamily="18" charset="0"/>
                        </a:rPr>
                        <a:t>流程型生产</a:t>
                      </a:r>
                      <a:endParaRPr kumimoji="0" lang="zh-CN" altLang="en-US" sz="1400" b="1" i="0" u="none" strike="noStrike" cap="none" normalizeH="0" baseline="0" dirty="0">
                        <a:ln>
                          <a:noFill/>
                        </a:ln>
                        <a:solidFill>
                          <a:schemeClr val="accent5">
                            <a:lumMod val="50000"/>
                          </a:schemeClr>
                        </a:solidFill>
                        <a:effectLst>
                          <a:outerShdw blurRad="38100" dist="38100" dir="2700000" algn="tl">
                            <a:srgbClr val="000000">
                              <a:alpha val="43137"/>
                            </a:srgbClr>
                          </a:outerShdw>
                        </a:effectLst>
                        <a:latin typeface="华文细黑" panose="02010600040101010101" pitchFamily="2" charset="-122"/>
                        <a:ea typeface="宋体" panose="02010600030101010101" pitchFamily="2" charset="-122"/>
                      </a:endParaRPr>
                    </a:p>
                  </a:txBody>
                  <a:tcPr marT="45724" marB="4572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400" b="1" i="0" u="none" strike="noStrike" cap="none" normalizeH="0" baseline="0" dirty="0">
                          <a:ln>
                            <a:noFill/>
                          </a:ln>
                          <a:solidFill>
                            <a:schemeClr val="accent5">
                              <a:lumMod val="50000"/>
                            </a:schemeClr>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Times New Roman" panose="02020603050405020304" pitchFamily="18" charset="0"/>
                        </a:rPr>
                        <a:t>加工装配型生产</a:t>
                      </a:r>
                      <a:endParaRPr kumimoji="0" lang="zh-CN" altLang="en-US" sz="1400" b="1" i="0" u="none" strike="noStrike" cap="none" normalizeH="0" baseline="0" dirty="0">
                        <a:ln>
                          <a:noFill/>
                        </a:ln>
                        <a:solidFill>
                          <a:schemeClr val="accent5">
                            <a:lumMod val="50000"/>
                          </a:schemeClr>
                        </a:solidFill>
                        <a:effectLst>
                          <a:outerShdw blurRad="38100" dist="38100" dir="2700000" algn="tl">
                            <a:srgbClr val="000000">
                              <a:alpha val="43137"/>
                            </a:srgbClr>
                          </a:outerShdw>
                        </a:effectLst>
                        <a:latin typeface="华文细黑" panose="02010600040101010101" pitchFamily="2" charset="-122"/>
                        <a:ea typeface="宋体" panose="02010600030101010101" pitchFamily="2" charset="-122"/>
                      </a:endParaRPr>
                    </a:p>
                  </a:txBody>
                  <a:tcPr marT="45724" marB="45724"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2986612148"/>
                  </a:ext>
                </a:extLst>
              </a:tr>
              <a:tr h="347505">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400" b="0" i="0" u="none" strike="noStrike" cap="none" normalizeH="0" baseline="0" dirty="0">
                          <a:ln>
                            <a:noFill/>
                          </a:ln>
                          <a:solidFill>
                            <a:schemeClr val="tx1"/>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Times New Roman" panose="02020603050405020304" pitchFamily="18" charset="0"/>
                        </a:rPr>
                        <a:t>产品品种数</a:t>
                      </a:r>
                      <a:endParaRPr kumimoji="0" lang="zh-CN" altLang="en-US" sz="1400" b="0" i="0" u="none" strike="noStrike" cap="none" normalizeH="0" baseline="0" dirty="0">
                        <a:ln>
                          <a:noFill/>
                        </a:ln>
                        <a:solidFill>
                          <a:schemeClr val="tx1"/>
                        </a:solidFill>
                        <a:effectLst>
                          <a:outerShdw blurRad="38100" dist="38100" dir="2700000" algn="tl">
                            <a:srgbClr val="000000">
                              <a:alpha val="43137"/>
                            </a:srgbClr>
                          </a:outerShdw>
                        </a:effectLst>
                        <a:latin typeface="华文细黑" panose="02010600040101010101" pitchFamily="2" charset="-122"/>
                        <a:ea typeface="宋体" panose="02010600030101010101" pitchFamily="2" charset="-122"/>
                      </a:endParaRPr>
                    </a:p>
                  </a:txBody>
                  <a:tcPr marT="45724" marB="45724"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4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较少</a:t>
                      </a:r>
                      <a:endParaRPr kumimoji="0" lang="zh-CN" altLang="en-US" sz="1400" b="0" i="0" u="none" strike="noStrike" cap="none" normalizeH="0" baseline="0" dirty="0">
                        <a:ln>
                          <a:noFill/>
                        </a:ln>
                        <a:solidFill>
                          <a:schemeClr val="tx1"/>
                        </a:solidFill>
                        <a:effectLst/>
                        <a:latin typeface="华文细黑" panose="02010600040101010101" pitchFamily="2" charset="-122"/>
                        <a:ea typeface="宋体" panose="02010600030101010101" pitchFamily="2" charset="-122"/>
                      </a:endParaRPr>
                    </a:p>
                  </a:txBody>
                  <a:tcPr marT="45724" marB="4572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较多</a:t>
                      </a:r>
                      <a:endParaRPr kumimoji="0" lang="zh-CN" altLang="en-US" sz="1400" b="0" i="0" u="none" strike="noStrike" cap="none" normalizeH="0" baseline="0">
                        <a:ln>
                          <a:noFill/>
                        </a:ln>
                        <a:solidFill>
                          <a:schemeClr val="tx1"/>
                        </a:solidFill>
                        <a:effectLst/>
                        <a:latin typeface="华文细黑" panose="02010600040101010101" pitchFamily="2" charset="-122"/>
                        <a:ea typeface="宋体" panose="02010600030101010101" pitchFamily="2" charset="-122"/>
                      </a:endParaRPr>
                    </a:p>
                  </a:txBody>
                  <a:tcPr marT="45724" marB="45724"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745476562"/>
                  </a:ext>
                </a:extLst>
              </a:tr>
              <a:tr h="347505">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400" b="0" i="0" u="none" strike="noStrike" cap="none" normalizeH="0" baseline="0" dirty="0">
                          <a:ln>
                            <a:noFill/>
                          </a:ln>
                          <a:solidFill>
                            <a:schemeClr val="tx1"/>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Times New Roman" panose="02020603050405020304" pitchFamily="18" charset="0"/>
                        </a:rPr>
                        <a:t>产品差别</a:t>
                      </a:r>
                      <a:endParaRPr kumimoji="0" lang="zh-CN" altLang="en-US" sz="1400" b="0" i="0" u="none" strike="noStrike" cap="none" normalizeH="0" baseline="0" dirty="0">
                        <a:ln>
                          <a:noFill/>
                        </a:ln>
                        <a:solidFill>
                          <a:schemeClr val="tx1"/>
                        </a:solidFill>
                        <a:effectLst>
                          <a:outerShdw blurRad="38100" dist="38100" dir="2700000" algn="tl">
                            <a:srgbClr val="000000">
                              <a:alpha val="43137"/>
                            </a:srgbClr>
                          </a:outerShdw>
                        </a:effectLst>
                        <a:latin typeface="华文细黑" panose="02010600040101010101" pitchFamily="2" charset="-122"/>
                        <a:ea typeface="宋体" panose="02010600030101010101" pitchFamily="2" charset="-122"/>
                      </a:endParaRPr>
                    </a:p>
                  </a:txBody>
                  <a:tcPr marT="45724" marB="45724"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较多标准产品</a:t>
                      </a:r>
                      <a:endParaRPr kumimoji="0" lang="zh-CN" altLang="en-US" sz="1400" b="0" i="0" u="none" strike="noStrike" cap="none" normalizeH="0" baseline="0">
                        <a:ln>
                          <a:noFill/>
                        </a:ln>
                        <a:solidFill>
                          <a:schemeClr val="tx1"/>
                        </a:solidFill>
                        <a:effectLst/>
                        <a:latin typeface="华文细黑" panose="02010600040101010101" pitchFamily="2" charset="-122"/>
                        <a:ea typeface="宋体" panose="02010600030101010101" pitchFamily="2" charset="-122"/>
                      </a:endParaRPr>
                    </a:p>
                  </a:txBody>
                  <a:tcPr marT="45724" marB="4572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较多用户要求的产品</a:t>
                      </a:r>
                      <a:endParaRPr kumimoji="0" lang="zh-CN" altLang="en-US" sz="1400" b="0" i="0" u="none" strike="noStrike" cap="none" normalizeH="0" baseline="0">
                        <a:ln>
                          <a:noFill/>
                        </a:ln>
                        <a:solidFill>
                          <a:schemeClr val="tx1"/>
                        </a:solidFill>
                        <a:effectLst/>
                        <a:latin typeface="华文细黑" panose="02010600040101010101" pitchFamily="2" charset="-122"/>
                        <a:ea typeface="宋体" panose="02010600030101010101" pitchFamily="2" charset="-122"/>
                      </a:endParaRPr>
                    </a:p>
                  </a:txBody>
                  <a:tcPr marT="45724" marB="45724"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681902567"/>
                  </a:ext>
                </a:extLst>
              </a:tr>
              <a:tr h="347505">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400" b="0" i="0" u="none" strike="noStrike" cap="none" normalizeH="0" baseline="0" dirty="0">
                          <a:ln>
                            <a:noFill/>
                          </a:ln>
                          <a:solidFill>
                            <a:schemeClr val="tx1"/>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Times New Roman" panose="02020603050405020304" pitchFamily="18" charset="0"/>
                        </a:rPr>
                        <a:t>营销特点</a:t>
                      </a:r>
                      <a:endParaRPr kumimoji="0" lang="zh-CN" altLang="en-US" sz="1400" b="0" i="0" u="none" strike="noStrike" cap="none" normalizeH="0" baseline="0" dirty="0">
                        <a:ln>
                          <a:noFill/>
                        </a:ln>
                        <a:solidFill>
                          <a:schemeClr val="tx1"/>
                        </a:solidFill>
                        <a:effectLst>
                          <a:outerShdw blurRad="38100" dist="38100" dir="2700000" algn="tl">
                            <a:srgbClr val="000000">
                              <a:alpha val="43137"/>
                            </a:srgbClr>
                          </a:outerShdw>
                        </a:effectLst>
                        <a:latin typeface="华文细黑" panose="02010600040101010101" pitchFamily="2" charset="-122"/>
                        <a:ea typeface="宋体" panose="02010600030101010101" pitchFamily="2" charset="-122"/>
                      </a:endParaRPr>
                    </a:p>
                  </a:txBody>
                  <a:tcPr marT="45724" marB="45724"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依靠产品的价格与可获性</a:t>
                      </a:r>
                      <a:endParaRPr kumimoji="0" lang="zh-CN" altLang="en-US" sz="1400" b="0" i="0" u="none" strike="noStrike" cap="none" normalizeH="0" baseline="0">
                        <a:ln>
                          <a:noFill/>
                        </a:ln>
                        <a:solidFill>
                          <a:schemeClr val="tx1"/>
                        </a:solidFill>
                        <a:effectLst/>
                        <a:latin typeface="华文细黑" panose="02010600040101010101" pitchFamily="2" charset="-122"/>
                        <a:ea typeface="宋体" panose="02010600030101010101" pitchFamily="2" charset="-122"/>
                      </a:endParaRPr>
                    </a:p>
                  </a:txBody>
                  <a:tcPr marT="45724" marB="4572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依靠产品的特点</a:t>
                      </a:r>
                      <a:endParaRPr kumimoji="0" lang="zh-CN" altLang="en-US" sz="1400" b="0" i="0" u="none" strike="noStrike" cap="none" normalizeH="0" baseline="0">
                        <a:ln>
                          <a:noFill/>
                        </a:ln>
                        <a:solidFill>
                          <a:schemeClr val="tx1"/>
                        </a:solidFill>
                        <a:effectLst/>
                        <a:latin typeface="华文细黑" panose="02010600040101010101" pitchFamily="2" charset="-122"/>
                        <a:ea typeface="宋体" panose="02010600030101010101" pitchFamily="2" charset="-122"/>
                      </a:endParaRPr>
                    </a:p>
                  </a:txBody>
                  <a:tcPr marT="45724" marB="45724"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448551425"/>
                  </a:ext>
                </a:extLst>
              </a:tr>
              <a:tr h="347505">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400" b="0" i="0" u="none" strike="noStrike" cap="none" normalizeH="0" baseline="0" dirty="0">
                          <a:ln>
                            <a:noFill/>
                          </a:ln>
                          <a:solidFill>
                            <a:schemeClr val="tx1"/>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Times New Roman" panose="02020603050405020304" pitchFamily="18" charset="0"/>
                        </a:rPr>
                        <a:t>资本</a:t>
                      </a:r>
                      <a:r>
                        <a:rPr kumimoji="0" lang="en-US" altLang="zh-CN" sz="1400" b="0" i="0" u="none" strike="noStrike" cap="none" normalizeH="0" baseline="0" dirty="0">
                          <a:ln>
                            <a:noFill/>
                          </a:ln>
                          <a:solidFill>
                            <a:schemeClr val="tx1"/>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Times New Roman" panose="02020603050405020304" pitchFamily="18" charset="0"/>
                        </a:rPr>
                        <a:t>/</a:t>
                      </a:r>
                      <a:r>
                        <a:rPr kumimoji="0" lang="zh-CN" altLang="en-US" sz="1400" b="0" i="0" u="none" strike="noStrike" cap="none" normalizeH="0" baseline="0" dirty="0">
                          <a:ln>
                            <a:noFill/>
                          </a:ln>
                          <a:solidFill>
                            <a:schemeClr val="tx1"/>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Times New Roman" panose="02020603050405020304" pitchFamily="18" charset="0"/>
                        </a:rPr>
                        <a:t>劳力</a:t>
                      </a:r>
                      <a:r>
                        <a:rPr kumimoji="0" lang="en-US" altLang="zh-CN" sz="1400" b="0" i="0" u="none" strike="noStrike" cap="none" normalizeH="0" baseline="0" dirty="0">
                          <a:ln>
                            <a:noFill/>
                          </a:ln>
                          <a:solidFill>
                            <a:schemeClr val="tx1"/>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Times New Roman" panose="02020603050405020304" pitchFamily="18" charset="0"/>
                        </a:rPr>
                        <a:t>/</a:t>
                      </a:r>
                      <a:r>
                        <a:rPr kumimoji="0" lang="zh-CN" altLang="en-US" sz="1400" b="0" i="0" u="none" strike="noStrike" cap="none" normalizeH="0" baseline="0" dirty="0">
                          <a:ln>
                            <a:noFill/>
                          </a:ln>
                          <a:solidFill>
                            <a:schemeClr val="tx1"/>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Times New Roman" panose="02020603050405020304" pitchFamily="18" charset="0"/>
                        </a:rPr>
                        <a:t>材料密集</a:t>
                      </a:r>
                      <a:endParaRPr kumimoji="0" lang="zh-CN" altLang="en-US" sz="1400" b="0" i="0" u="none" strike="noStrike" cap="none" normalizeH="0" baseline="0" dirty="0">
                        <a:ln>
                          <a:noFill/>
                        </a:ln>
                        <a:solidFill>
                          <a:schemeClr val="tx1"/>
                        </a:solidFill>
                        <a:effectLst>
                          <a:outerShdw blurRad="38100" dist="38100" dir="2700000" algn="tl">
                            <a:srgbClr val="000000">
                              <a:alpha val="43137"/>
                            </a:srgbClr>
                          </a:outerShdw>
                        </a:effectLst>
                        <a:latin typeface="华文细黑" panose="02010600040101010101" pitchFamily="2" charset="-122"/>
                        <a:ea typeface="宋体" panose="02010600030101010101" pitchFamily="2" charset="-122"/>
                      </a:endParaRPr>
                    </a:p>
                  </a:txBody>
                  <a:tcPr marT="45724" marB="45724"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资本密集</a:t>
                      </a:r>
                      <a:endParaRPr kumimoji="0" lang="zh-CN" altLang="en-US" sz="1400" b="0" i="0" u="none" strike="noStrike" cap="none" normalizeH="0" baseline="0">
                        <a:ln>
                          <a:noFill/>
                        </a:ln>
                        <a:solidFill>
                          <a:schemeClr val="tx1"/>
                        </a:solidFill>
                        <a:effectLst/>
                        <a:latin typeface="华文细黑" panose="02010600040101010101" pitchFamily="2" charset="-122"/>
                        <a:ea typeface="宋体" panose="02010600030101010101" pitchFamily="2" charset="-122"/>
                      </a:endParaRPr>
                    </a:p>
                  </a:txBody>
                  <a:tcPr marT="45724" marB="4572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劳力、材料密集</a:t>
                      </a:r>
                      <a:endParaRPr kumimoji="0" lang="zh-CN" altLang="en-US" sz="1400" b="0" i="0" u="none" strike="noStrike" cap="none" normalizeH="0" baseline="0">
                        <a:ln>
                          <a:noFill/>
                        </a:ln>
                        <a:solidFill>
                          <a:schemeClr val="tx1"/>
                        </a:solidFill>
                        <a:effectLst/>
                        <a:latin typeface="华文细黑" panose="02010600040101010101" pitchFamily="2" charset="-122"/>
                        <a:ea typeface="宋体" panose="02010600030101010101" pitchFamily="2" charset="-122"/>
                      </a:endParaRPr>
                    </a:p>
                  </a:txBody>
                  <a:tcPr marT="45724" marB="45724"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936876620"/>
                  </a:ext>
                </a:extLst>
              </a:tr>
              <a:tr h="347505">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400" b="0" i="0" u="none" strike="noStrike" cap="none" normalizeH="0" baseline="0" dirty="0">
                          <a:ln>
                            <a:noFill/>
                          </a:ln>
                          <a:solidFill>
                            <a:schemeClr val="tx1"/>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Times New Roman" panose="02020603050405020304" pitchFamily="18" charset="0"/>
                        </a:rPr>
                        <a:t>自动化程度</a:t>
                      </a:r>
                      <a:endParaRPr kumimoji="0" lang="zh-CN" altLang="en-US" sz="1400" b="0" i="0" u="none" strike="noStrike" cap="none" normalizeH="0" baseline="0" dirty="0">
                        <a:ln>
                          <a:noFill/>
                        </a:ln>
                        <a:solidFill>
                          <a:schemeClr val="tx1"/>
                        </a:solidFill>
                        <a:effectLst>
                          <a:outerShdw blurRad="38100" dist="38100" dir="2700000" algn="tl">
                            <a:srgbClr val="000000">
                              <a:alpha val="43137"/>
                            </a:srgbClr>
                          </a:outerShdw>
                        </a:effectLst>
                        <a:latin typeface="华文细黑" panose="02010600040101010101" pitchFamily="2" charset="-122"/>
                        <a:ea typeface="宋体" panose="02010600030101010101" pitchFamily="2" charset="-122"/>
                      </a:endParaRPr>
                    </a:p>
                  </a:txBody>
                  <a:tcPr marT="45724" marB="45724"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较高</a:t>
                      </a:r>
                      <a:endParaRPr kumimoji="0" lang="zh-CN" altLang="en-US" sz="1400" b="0" i="0" u="none" strike="noStrike" cap="none" normalizeH="0" baseline="0">
                        <a:ln>
                          <a:noFill/>
                        </a:ln>
                        <a:solidFill>
                          <a:schemeClr val="tx1"/>
                        </a:solidFill>
                        <a:effectLst/>
                        <a:latin typeface="华文细黑" panose="02010600040101010101" pitchFamily="2" charset="-122"/>
                        <a:ea typeface="宋体" panose="02010600030101010101" pitchFamily="2" charset="-122"/>
                      </a:endParaRPr>
                    </a:p>
                  </a:txBody>
                  <a:tcPr marT="45724" marB="4572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较低</a:t>
                      </a:r>
                      <a:endParaRPr kumimoji="0" lang="zh-CN" altLang="en-US" sz="1400" b="0" i="0" u="none" strike="noStrike" cap="none" normalizeH="0" baseline="0">
                        <a:ln>
                          <a:noFill/>
                        </a:ln>
                        <a:solidFill>
                          <a:schemeClr val="tx1"/>
                        </a:solidFill>
                        <a:effectLst/>
                        <a:latin typeface="华文细黑" panose="02010600040101010101" pitchFamily="2" charset="-122"/>
                        <a:ea typeface="宋体" panose="02010600030101010101" pitchFamily="2" charset="-122"/>
                      </a:endParaRPr>
                    </a:p>
                  </a:txBody>
                  <a:tcPr marT="45724" marB="45724"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105881055"/>
                  </a:ext>
                </a:extLst>
              </a:tr>
              <a:tr h="372243">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400" b="0" i="0" u="none" strike="noStrike" cap="none" normalizeH="0" baseline="0" dirty="0">
                          <a:ln>
                            <a:noFill/>
                          </a:ln>
                          <a:solidFill>
                            <a:schemeClr val="tx1"/>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Times New Roman" panose="02020603050405020304" pitchFamily="18" charset="0"/>
                        </a:rPr>
                        <a:t>设备布置的性质</a:t>
                      </a:r>
                      <a:endParaRPr kumimoji="0" lang="zh-CN" altLang="en-US" sz="1400" b="0" i="0" u="none" strike="noStrike" cap="none" normalizeH="0" baseline="0" dirty="0">
                        <a:ln>
                          <a:noFill/>
                        </a:ln>
                        <a:solidFill>
                          <a:schemeClr val="tx1"/>
                        </a:solidFill>
                        <a:effectLst>
                          <a:outerShdw blurRad="38100" dist="38100" dir="2700000" algn="tl">
                            <a:srgbClr val="000000">
                              <a:alpha val="43137"/>
                            </a:srgbClr>
                          </a:outerShdw>
                        </a:effectLst>
                        <a:latin typeface="华文细黑" panose="02010600040101010101" pitchFamily="2" charset="-122"/>
                        <a:ea typeface="宋体" panose="02010600030101010101" pitchFamily="2" charset="-122"/>
                      </a:endParaRPr>
                    </a:p>
                  </a:txBody>
                  <a:tcPr marT="45724" marB="45724"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流水式</a:t>
                      </a:r>
                      <a:endParaRPr kumimoji="0" lang="zh-CN" altLang="en-US" sz="1400" b="0" i="0" u="none" strike="noStrike" cap="none" normalizeH="0" baseline="0">
                        <a:ln>
                          <a:noFill/>
                        </a:ln>
                        <a:solidFill>
                          <a:schemeClr val="tx1"/>
                        </a:solidFill>
                        <a:effectLst/>
                        <a:latin typeface="华文细黑" panose="02010600040101010101" pitchFamily="2" charset="-122"/>
                        <a:ea typeface="宋体" panose="02010600030101010101" pitchFamily="2" charset="-122"/>
                      </a:endParaRPr>
                    </a:p>
                  </a:txBody>
                  <a:tcPr marT="45724" marB="4572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工艺</a:t>
                      </a:r>
                      <a:r>
                        <a:rPr kumimoji="0" lang="zh-CN" altLang="en-US" sz="1400" b="0" i="0" u="none" strike="noStrike" cap="none" normalizeH="0" baseline="0">
                          <a:ln>
                            <a:noFill/>
                          </a:ln>
                          <a:solidFill>
                            <a:schemeClr val="tx1"/>
                          </a:solidFill>
                          <a:effectLst/>
                          <a:latin typeface="华文细黑" panose="02010600040101010101" pitchFamily="2" charset="-122"/>
                          <a:ea typeface="宋体" panose="02010600030101010101" pitchFamily="2" charset="-122"/>
                          <a:cs typeface="Times New Roman" panose="02020603050405020304" pitchFamily="18" charset="0"/>
                        </a:rPr>
                        <a:t>“</a:t>
                      </a:r>
                      <a:r>
                        <a:rPr kumimoji="0" lang="zh-CN" altLang="en-US" sz="1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机群</a:t>
                      </a:r>
                      <a:r>
                        <a:rPr kumimoji="0" lang="zh-CN" altLang="en-US" sz="1400" b="0" i="0" u="none" strike="noStrike" cap="none" normalizeH="0" baseline="0">
                          <a:ln>
                            <a:noFill/>
                          </a:ln>
                          <a:solidFill>
                            <a:schemeClr val="tx1"/>
                          </a:solidFill>
                          <a:effectLst/>
                          <a:latin typeface="华文细黑" panose="02010600040101010101" pitchFamily="2" charset="-122"/>
                          <a:ea typeface="宋体" panose="02010600030101010101" pitchFamily="2" charset="-122"/>
                          <a:cs typeface="Times New Roman" panose="02020603050405020304" pitchFamily="18" charset="0"/>
                        </a:rPr>
                        <a:t>”</a:t>
                      </a:r>
                      <a:r>
                        <a:rPr kumimoji="0" lang="zh-CN" altLang="en-US" sz="1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或流水生产</a:t>
                      </a:r>
                      <a:endParaRPr kumimoji="0" lang="zh-CN" altLang="en-US" sz="1400" b="0" i="0" u="none" strike="noStrike" cap="none" normalizeH="0" baseline="0">
                        <a:ln>
                          <a:noFill/>
                        </a:ln>
                        <a:solidFill>
                          <a:schemeClr val="tx1"/>
                        </a:solidFill>
                        <a:effectLst/>
                        <a:latin typeface="华文细黑" panose="02010600040101010101" pitchFamily="2" charset="-122"/>
                        <a:ea typeface="宋体" panose="02010600030101010101" pitchFamily="2" charset="-122"/>
                      </a:endParaRPr>
                    </a:p>
                  </a:txBody>
                  <a:tcPr marT="45724" marB="45724"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27119834"/>
                  </a:ext>
                </a:extLst>
              </a:tr>
              <a:tr h="347505">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400" b="0" i="0" u="none" strike="noStrike" cap="none" normalizeH="0" baseline="0" dirty="0">
                          <a:ln>
                            <a:noFill/>
                          </a:ln>
                          <a:solidFill>
                            <a:schemeClr val="tx1"/>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Times New Roman" panose="02020603050405020304" pitchFamily="18" charset="0"/>
                        </a:rPr>
                        <a:t>设备布置的柔性</a:t>
                      </a:r>
                      <a:endParaRPr kumimoji="0" lang="zh-CN" altLang="en-US" sz="1400" b="0" i="0" u="none" strike="noStrike" cap="none" normalizeH="0" baseline="0" dirty="0">
                        <a:ln>
                          <a:noFill/>
                        </a:ln>
                        <a:solidFill>
                          <a:schemeClr val="tx1"/>
                        </a:solidFill>
                        <a:effectLst>
                          <a:outerShdw blurRad="38100" dist="38100" dir="2700000" algn="tl">
                            <a:srgbClr val="000000">
                              <a:alpha val="43137"/>
                            </a:srgbClr>
                          </a:outerShdw>
                        </a:effectLst>
                        <a:latin typeface="华文细黑" panose="02010600040101010101" pitchFamily="2" charset="-122"/>
                        <a:ea typeface="宋体" panose="02010600030101010101" pitchFamily="2" charset="-122"/>
                      </a:endParaRPr>
                    </a:p>
                  </a:txBody>
                  <a:tcPr marT="45724" marB="45724"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较低</a:t>
                      </a:r>
                      <a:endParaRPr kumimoji="0" lang="zh-CN" altLang="en-US" sz="1400" b="0" i="0" u="none" strike="noStrike" cap="none" normalizeH="0" baseline="0">
                        <a:ln>
                          <a:noFill/>
                        </a:ln>
                        <a:solidFill>
                          <a:schemeClr val="tx1"/>
                        </a:solidFill>
                        <a:effectLst/>
                        <a:latin typeface="华文细黑" panose="02010600040101010101" pitchFamily="2" charset="-122"/>
                        <a:ea typeface="宋体" panose="02010600030101010101" pitchFamily="2" charset="-122"/>
                      </a:endParaRPr>
                    </a:p>
                  </a:txBody>
                  <a:tcPr marT="45724" marB="4572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较高</a:t>
                      </a:r>
                      <a:endParaRPr kumimoji="0" lang="zh-CN" altLang="en-US" sz="1400" b="0" i="0" u="none" strike="noStrike" cap="none" normalizeH="0" baseline="0">
                        <a:ln>
                          <a:noFill/>
                        </a:ln>
                        <a:solidFill>
                          <a:schemeClr val="tx1"/>
                        </a:solidFill>
                        <a:effectLst/>
                        <a:latin typeface="华文细黑" panose="02010600040101010101" pitchFamily="2" charset="-122"/>
                        <a:ea typeface="宋体" panose="02010600030101010101" pitchFamily="2" charset="-122"/>
                      </a:endParaRPr>
                    </a:p>
                  </a:txBody>
                  <a:tcPr marT="45724" marB="45724"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777725820"/>
                  </a:ext>
                </a:extLst>
              </a:tr>
              <a:tr h="347505">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400" b="0" i="0" u="none" strike="noStrike" cap="none" normalizeH="0" baseline="0" dirty="0">
                          <a:ln>
                            <a:noFill/>
                          </a:ln>
                          <a:solidFill>
                            <a:schemeClr val="tx1"/>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Times New Roman" panose="02020603050405020304" pitchFamily="18" charset="0"/>
                        </a:rPr>
                        <a:t>生产能力</a:t>
                      </a:r>
                      <a:endParaRPr kumimoji="0" lang="zh-CN" altLang="en-US" sz="1400" b="0" i="0" u="none" strike="noStrike" cap="none" normalizeH="0" baseline="0" dirty="0">
                        <a:ln>
                          <a:noFill/>
                        </a:ln>
                        <a:solidFill>
                          <a:schemeClr val="tx1"/>
                        </a:solidFill>
                        <a:effectLst>
                          <a:outerShdw blurRad="38100" dist="38100" dir="2700000" algn="tl">
                            <a:srgbClr val="000000">
                              <a:alpha val="43137"/>
                            </a:srgbClr>
                          </a:outerShdw>
                        </a:effectLst>
                        <a:latin typeface="华文细黑" panose="02010600040101010101" pitchFamily="2" charset="-122"/>
                        <a:ea typeface="宋体" panose="02010600030101010101" pitchFamily="2" charset="-122"/>
                      </a:endParaRPr>
                    </a:p>
                  </a:txBody>
                  <a:tcPr marT="45724" marB="45724"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可明确规定</a:t>
                      </a:r>
                      <a:endParaRPr kumimoji="0" lang="zh-CN" altLang="en-US" sz="1400" b="0" i="0" u="none" strike="noStrike" cap="none" normalizeH="0" baseline="0">
                        <a:ln>
                          <a:noFill/>
                        </a:ln>
                        <a:solidFill>
                          <a:schemeClr val="tx1"/>
                        </a:solidFill>
                        <a:effectLst/>
                        <a:latin typeface="华文细黑" panose="02010600040101010101" pitchFamily="2" charset="-122"/>
                        <a:ea typeface="宋体" panose="02010600030101010101" pitchFamily="2" charset="-122"/>
                      </a:endParaRPr>
                    </a:p>
                  </a:txBody>
                  <a:tcPr marT="45724" marB="4572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模糊的</a:t>
                      </a:r>
                      <a:endParaRPr kumimoji="0" lang="zh-CN" altLang="en-US" sz="1400" b="0" i="0" u="none" strike="noStrike" cap="none" normalizeH="0" baseline="0">
                        <a:ln>
                          <a:noFill/>
                        </a:ln>
                        <a:solidFill>
                          <a:schemeClr val="tx1"/>
                        </a:solidFill>
                        <a:effectLst/>
                        <a:latin typeface="华文细黑" panose="02010600040101010101" pitchFamily="2" charset="-122"/>
                        <a:ea typeface="宋体" panose="02010600030101010101" pitchFamily="2" charset="-122"/>
                      </a:endParaRPr>
                    </a:p>
                  </a:txBody>
                  <a:tcPr marT="45724" marB="45724"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73527204"/>
                  </a:ext>
                </a:extLst>
              </a:tr>
              <a:tr h="347505">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400" b="0" i="0" u="none" strike="noStrike" cap="none" normalizeH="0" baseline="0" dirty="0">
                          <a:ln>
                            <a:noFill/>
                          </a:ln>
                          <a:solidFill>
                            <a:schemeClr val="tx1"/>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Times New Roman" panose="02020603050405020304" pitchFamily="18" charset="0"/>
                        </a:rPr>
                        <a:t>扩充能力的周期</a:t>
                      </a:r>
                      <a:endParaRPr kumimoji="0" lang="zh-CN" altLang="en-US" sz="1400" b="0" i="0" u="none" strike="noStrike" cap="none" normalizeH="0" baseline="0" dirty="0">
                        <a:ln>
                          <a:noFill/>
                        </a:ln>
                        <a:solidFill>
                          <a:schemeClr val="tx1"/>
                        </a:solidFill>
                        <a:effectLst>
                          <a:outerShdw blurRad="38100" dist="38100" dir="2700000" algn="tl">
                            <a:srgbClr val="000000">
                              <a:alpha val="43137"/>
                            </a:srgbClr>
                          </a:outerShdw>
                        </a:effectLst>
                        <a:latin typeface="华文细黑" panose="02010600040101010101" pitchFamily="2" charset="-122"/>
                        <a:ea typeface="宋体" panose="02010600030101010101" pitchFamily="2" charset="-122"/>
                      </a:endParaRPr>
                    </a:p>
                  </a:txBody>
                  <a:tcPr marT="45724" marB="45724"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较长</a:t>
                      </a:r>
                      <a:endParaRPr kumimoji="0" lang="zh-CN" altLang="en-US" sz="1400" b="0" i="0" u="none" strike="noStrike" cap="none" normalizeH="0" baseline="0">
                        <a:ln>
                          <a:noFill/>
                        </a:ln>
                        <a:solidFill>
                          <a:schemeClr val="tx1"/>
                        </a:solidFill>
                        <a:effectLst/>
                        <a:latin typeface="华文细黑" panose="02010600040101010101" pitchFamily="2" charset="-122"/>
                        <a:ea typeface="宋体" panose="02010600030101010101" pitchFamily="2" charset="-122"/>
                      </a:endParaRPr>
                    </a:p>
                  </a:txBody>
                  <a:tcPr marT="45724" marB="4572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较短</a:t>
                      </a:r>
                      <a:endParaRPr kumimoji="0" lang="zh-CN" altLang="en-US" sz="1400" b="0" i="0" u="none" strike="noStrike" cap="none" normalizeH="0" baseline="0">
                        <a:ln>
                          <a:noFill/>
                        </a:ln>
                        <a:solidFill>
                          <a:schemeClr val="tx1"/>
                        </a:solidFill>
                        <a:effectLst/>
                        <a:latin typeface="华文细黑" panose="02010600040101010101" pitchFamily="2" charset="-122"/>
                        <a:ea typeface="宋体" panose="02010600030101010101" pitchFamily="2" charset="-122"/>
                      </a:endParaRPr>
                    </a:p>
                  </a:txBody>
                  <a:tcPr marT="45724" marB="45724"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897029422"/>
                  </a:ext>
                </a:extLst>
              </a:tr>
              <a:tr h="347505">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400" b="0" i="0" u="none" strike="noStrike" cap="none" normalizeH="0" baseline="0" dirty="0">
                          <a:ln>
                            <a:noFill/>
                          </a:ln>
                          <a:solidFill>
                            <a:schemeClr val="tx1"/>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Times New Roman" panose="02020603050405020304" pitchFamily="18" charset="0"/>
                        </a:rPr>
                        <a:t>对设备可靠性要求</a:t>
                      </a:r>
                      <a:endParaRPr kumimoji="0" lang="zh-CN" altLang="en-US" sz="1400" b="0" i="0" u="none" strike="noStrike" cap="none" normalizeH="0" baseline="0" dirty="0">
                        <a:ln>
                          <a:noFill/>
                        </a:ln>
                        <a:solidFill>
                          <a:schemeClr val="tx1"/>
                        </a:solidFill>
                        <a:effectLst>
                          <a:outerShdw blurRad="38100" dist="38100" dir="2700000" algn="tl">
                            <a:srgbClr val="000000">
                              <a:alpha val="43137"/>
                            </a:srgbClr>
                          </a:outerShdw>
                        </a:effectLst>
                        <a:latin typeface="华文细黑" panose="02010600040101010101" pitchFamily="2" charset="-122"/>
                        <a:ea typeface="宋体" panose="02010600030101010101" pitchFamily="2" charset="-122"/>
                      </a:endParaRPr>
                    </a:p>
                  </a:txBody>
                  <a:tcPr marT="45724" marB="45724"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高</a:t>
                      </a:r>
                      <a:endParaRPr kumimoji="0" lang="zh-CN" altLang="en-US" sz="1400" b="0" i="0" u="none" strike="noStrike" cap="none" normalizeH="0" baseline="0">
                        <a:ln>
                          <a:noFill/>
                        </a:ln>
                        <a:solidFill>
                          <a:schemeClr val="tx1"/>
                        </a:solidFill>
                        <a:effectLst/>
                        <a:latin typeface="华文细黑" panose="02010600040101010101" pitchFamily="2" charset="-122"/>
                        <a:ea typeface="宋体" panose="02010600030101010101" pitchFamily="2" charset="-122"/>
                      </a:endParaRPr>
                    </a:p>
                  </a:txBody>
                  <a:tcPr marT="45724" marB="4572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较低</a:t>
                      </a:r>
                      <a:endParaRPr kumimoji="0" lang="zh-CN" altLang="en-US" sz="1400" b="0" i="0" u="none" strike="noStrike" cap="none" normalizeH="0" baseline="0">
                        <a:ln>
                          <a:noFill/>
                        </a:ln>
                        <a:solidFill>
                          <a:schemeClr val="tx1"/>
                        </a:solidFill>
                        <a:effectLst/>
                        <a:latin typeface="华文细黑" panose="02010600040101010101" pitchFamily="2" charset="-122"/>
                        <a:ea typeface="宋体" panose="02010600030101010101" pitchFamily="2" charset="-122"/>
                      </a:endParaRPr>
                    </a:p>
                  </a:txBody>
                  <a:tcPr marT="45724" marB="45724"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952998399"/>
                  </a:ext>
                </a:extLst>
              </a:tr>
              <a:tr h="347505">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400" b="0" i="0" u="none" strike="noStrike" cap="none" normalizeH="0" baseline="0" dirty="0">
                          <a:ln>
                            <a:noFill/>
                          </a:ln>
                          <a:solidFill>
                            <a:schemeClr val="tx1"/>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Times New Roman" panose="02020603050405020304" pitchFamily="18" charset="0"/>
                        </a:rPr>
                        <a:t>维修的性质</a:t>
                      </a:r>
                      <a:endParaRPr kumimoji="0" lang="zh-CN" altLang="en-US" sz="1400" b="0" i="0" u="none" strike="noStrike" cap="none" normalizeH="0" baseline="0" dirty="0">
                        <a:ln>
                          <a:noFill/>
                        </a:ln>
                        <a:solidFill>
                          <a:schemeClr val="tx1"/>
                        </a:solidFill>
                        <a:effectLst>
                          <a:outerShdw blurRad="38100" dist="38100" dir="2700000" algn="tl">
                            <a:srgbClr val="000000">
                              <a:alpha val="43137"/>
                            </a:srgbClr>
                          </a:outerShdw>
                        </a:effectLst>
                        <a:latin typeface="华文细黑" panose="02010600040101010101" pitchFamily="2" charset="-122"/>
                        <a:ea typeface="宋体" panose="02010600030101010101" pitchFamily="2" charset="-122"/>
                      </a:endParaRPr>
                    </a:p>
                  </a:txBody>
                  <a:tcPr marT="45724" marB="45724"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停产检修</a:t>
                      </a:r>
                      <a:endParaRPr kumimoji="0" lang="zh-CN" altLang="en-US" sz="1400" b="0" i="0" u="none" strike="noStrike" cap="none" normalizeH="0" baseline="0">
                        <a:ln>
                          <a:noFill/>
                        </a:ln>
                        <a:solidFill>
                          <a:schemeClr val="tx1"/>
                        </a:solidFill>
                        <a:effectLst/>
                        <a:latin typeface="华文细黑" panose="02010600040101010101" pitchFamily="2" charset="-122"/>
                        <a:ea typeface="宋体" panose="02010600030101010101" pitchFamily="2" charset="-122"/>
                      </a:endParaRPr>
                    </a:p>
                  </a:txBody>
                  <a:tcPr marT="45724" marB="4572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多数为局部修理</a:t>
                      </a:r>
                      <a:endParaRPr kumimoji="0" lang="zh-CN" altLang="en-US" sz="1400" b="0" i="0" u="none" strike="noStrike" cap="none" normalizeH="0" baseline="0">
                        <a:ln>
                          <a:noFill/>
                        </a:ln>
                        <a:solidFill>
                          <a:schemeClr val="tx1"/>
                        </a:solidFill>
                        <a:effectLst/>
                        <a:latin typeface="华文细黑" panose="02010600040101010101" pitchFamily="2" charset="-122"/>
                        <a:ea typeface="宋体" panose="02010600030101010101" pitchFamily="2" charset="-122"/>
                      </a:endParaRPr>
                    </a:p>
                  </a:txBody>
                  <a:tcPr marT="45724" marB="45724"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194347849"/>
                  </a:ext>
                </a:extLst>
              </a:tr>
              <a:tr h="347505">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400" b="0" i="0" u="none" strike="noStrike" cap="none" normalizeH="0" baseline="0" dirty="0">
                          <a:ln>
                            <a:noFill/>
                          </a:ln>
                          <a:solidFill>
                            <a:schemeClr val="tx1"/>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Times New Roman" panose="02020603050405020304" pitchFamily="18" charset="0"/>
                        </a:rPr>
                        <a:t>原材料品种数</a:t>
                      </a:r>
                      <a:endParaRPr kumimoji="0" lang="zh-CN" altLang="en-US" sz="1400" b="0" i="0" u="none" strike="noStrike" cap="none" normalizeH="0" baseline="0" dirty="0">
                        <a:ln>
                          <a:noFill/>
                        </a:ln>
                        <a:solidFill>
                          <a:schemeClr val="tx1"/>
                        </a:solidFill>
                        <a:effectLst>
                          <a:outerShdw blurRad="38100" dist="38100" dir="2700000" algn="tl">
                            <a:srgbClr val="000000">
                              <a:alpha val="43137"/>
                            </a:srgbClr>
                          </a:outerShdw>
                        </a:effectLst>
                        <a:latin typeface="华文细黑" panose="02010600040101010101" pitchFamily="2" charset="-122"/>
                        <a:ea typeface="宋体" panose="02010600030101010101" pitchFamily="2" charset="-122"/>
                      </a:endParaRPr>
                    </a:p>
                  </a:txBody>
                  <a:tcPr marT="45724" marB="45724"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较少</a:t>
                      </a:r>
                      <a:endParaRPr kumimoji="0" lang="zh-CN" altLang="en-US" sz="1400" b="0" i="0" u="none" strike="noStrike" cap="none" normalizeH="0" baseline="0">
                        <a:ln>
                          <a:noFill/>
                        </a:ln>
                        <a:solidFill>
                          <a:schemeClr val="tx1"/>
                        </a:solidFill>
                        <a:effectLst/>
                        <a:latin typeface="华文细黑" panose="02010600040101010101" pitchFamily="2" charset="-122"/>
                        <a:ea typeface="宋体" panose="02010600030101010101" pitchFamily="2" charset="-122"/>
                      </a:endParaRPr>
                    </a:p>
                  </a:txBody>
                  <a:tcPr marT="45724" marB="4572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较多</a:t>
                      </a:r>
                      <a:endParaRPr kumimoji="0" lang="zh-CN" altLang="en-US" sz="1400" b="0" i="0" u="none" strike="noStrike" cap="none" normalizeH="0" baseline="0">
                        <a:ln>
                          <a:noFill/>
                        </a:ln>
                        <a:solidFill>
                          <a:schemeClr val="tx1"/>
                        </a:solidFill>
                        <a:effectLst/>
                        <a:latin typeface="华文细黑" panose="02010600040101010101" pitchFamily="2" charset="-122"/>
                        <a:ea typeface="宋体" panose="02010600030101010101" pitchFamily="2" charset="-122"/>
                      </a:endParaRPr>
                    </a:p>
                  </a:txBody>
                  <a:tcPr marT="45724" marB="45724"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964593274"/>
                  </a:ext>
                </a:extLst>
              </a:tr>
              <a:tr h="347505">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400" b="0" i="0" u="none" strike="noStrike" cap="none" normalizeH="0" baseline="0" dirty="0">
                          <a:ln>
                            <a:noFill/>
                          </a:ln>
                          <a:solidFill>
                            <a:schemeClr val="tx1"/>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Times New Roman" panose="02020603050405020304" pitchFamily="18" charset="0"/>
                        </a:rPr>
                        <a:t>能源消耗</a:t>
                      </a:r>
                      <a:endParaRPr kumimoji="0" lang="zh-CN" altLang="en-US" sz="1400" b="0" i="0" u="none" strike="noStrike" cap="none" normalizeH="0" baseline="0" dirty="0">
                        <a:ln>
                          <a:noFill/>
                        </a:ln>
                        <a:solidFill>
                          <a:schemeClr val="tx1"/>
                        </a:solidFill>
                        <a:effectLst>
                          <a:outerShdw blurRad="38100" dist="38100" dir="2700000" algn="tl">
                            <a:srgbClr val="000000">
                              <a:alpha val="43137"/>
                            </a:srgbClr>
                          </a:outerShdw>
                        </a:effectLst>
                        <a:latin typeface="华文细黑" panose="02010600040101010101" pitchFamily="2" charset="-122"/>
                        <a:ea typeface="宋体" panose="02010600030101010101" pitchFamily="2" charset="-122"/>
                      </a:endParaRPr>
                    </a:p>
                  </a:txBody>
                  <a:tcPr marT="45724" marB="45724"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较高</a:t>
                      </a:r>
                      <a:endParaRPr kumimoji="0" lang="zh-CN" altLang="en-US" sz="1400" b="0" i="0" u="none" strike="noStrike" cap="none" normalizeH="0" baseline="0">
                        <a:ln>
                          <a:noFill/>
                        </a:ln>
                        <a:solidFill>
                          <a:schemeClr val="tx1"/>
                        </a:solidFill>
                        <a:effectLst/>
                        <a:latin typeface="华文细黑" panose="02010600040101010101" pitchFamily="2" charset="-122"/>
                        <a:ea typeface="宋体" panose="02010600030101010101" pitchFamily="2" charset="-122"/>
                      </a:endParaRPr>
                    </a:p>
                  </a:txBody>
                  <a:tcPr marT="45724" marB="4572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较低</a:t>
                      </a:r>
                      <a:endParaRPr kumimoji="0" lang="zh-CN" altLang="en-US" sz="1400" b="0" i="0" u="none" strike="noStrike" cap="none" normalizeH="0" baseline="0">
                        <a:ln>
                          <a:noFill/>
                        </a:ln>
                        <a:solidFill>
                          <a:schemeClr val="tx1"/>
                        </a:solidFill>
                        <a:effectLst/>
                        <a:latin typeface="华文细黑" panose="02010600040101010101" pitchFamily="2" charset="-122"/>
                        <a:ea typeface="宋体" panose="02010600030101010101" pitchFamily="2" charset="-122"/>
                      </a:endParaRPr>
                    </a:p>
                  </a:txBody>
                  <a:tcPr marT="45724" marB="45724"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456825957"/>
                  </a:ext>
                </a:extLst>
              </a:tr>
              <a:tr h="347505">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400" b="0" i="0" u="none" strike="noStrike" cap="none" normalizeH="0" baseline="0" dirty="0">
                          <a:ln>
                            <a:noFill/>
                          </a:ln>
                          <a:solidFill>
                            <a:schemeClr val="tx1"/>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Times New Roman" panose="02020603050405020304" pitchFamily="18" charset="0"/>
                        </a:rPr>
                        <a:t>在制品库存</a:t>
                      </a:r>
                      <a:endParaRPr kumimoji="0" lang="zh-CN" altLang="en-US" sz="1400" b="0" i="0" u="none" strike="noStrike" cap="none" normalizeH="0" baseline="0" dirty="0">
                        <a:ln>
                          <a:noFill/>
                        </a:ln>
                        <a:solidFill>
                          <a:schemeClr val="tx1"/>
                        </a:solidFill>
                        <a:effectLst>
                          <a:outerShdw blurRad="38100" dist="38100" dir="2700000" algn="tl">
                            <a:srgbClr val="000000">
                              <a:alpha val="43137"/>
                            </a:srgbClr>
                          </a:outerShdw>
                        </a:effectLst>
                        <a:latin typeface="华文细黑" panose="02010600040101010101" pitchFamily="2" charset="-122"/>
                        <a:ea typeface="宋体" panose="02010600030101010101" pitchFamily="2" charset="-122"/>
                      </a:endParaRPr>
                    </a:p>
                  </a:txBody>
                  <a:tcPr marT="45724" marB="45724"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较低</a:t>
                      </a:r>
                      <a:endParaRPr kumimoji="0" lang="zh-CN" altLang="en-US" sz="1400" b="0" i="0" u="none" strike="noStrike" cap="none" normalizeH="0" baseline="0">
                        <a:ln>
                          <a:noFill/>
                        </a:ln>
                        <a:solidFill>
                          <a:schemeClr val="tx1"/>
                        </a:solidFill>
                        <a:effectLst/>
                        <a:latin typeface="华文细黑" panose="02010600040101010101" pitchFamily="2" charset="-122"/>
                        <a:ea typeface="宋体" panose="02010600030101010101" pitchFamily="2" charset="-122"/>
                      </a:endParaRPr>
                    </a:p>
                  </a:txBody>
                  <a:tcPr marT="45724" marB="4572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较高</a:t>
                      </a:r>
                      <a:endParaRPr kumimoji="0" lang="zh-CN" altLang="en-US" sz="1400" b="0" i="0" u="none" strike="noStrike" cap="none" normalizeH="0" baseline="0">
                        <a:ln>
                          <a:noFill/>
                        </a:ln>
                        <a:solidFill>
                          <a:schemeClr val="tx1"/>
                        </a:solidFill>
                        <a:effectLst/>
                        <a:latin typeface="华文细黑" panose="02010600040101010101" pitchFamily="2" charset="-122"/>
                        <a:ea typeface="宋体" panose="02010600030101010101" pitchFamily="2" charset="-122"/>
                      </a:endParaRPr>
                    </a:p>
                  </a:txBody>
                  <a:tcPr marT="45724" marB="45724"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482660452"/>
                  </a:ext>
                </a:extLst>
              </a:tr>
              <a:tr h="347505">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400" b="0" i="0" u="none" strike="noStrike" cap="none" normalizeH="0" baseline="0" dirty="0">
                          <a:ln>
                            <a:noFill/>
                          </a:ln>
                          <a:solidFill>
                            <a:schemeClr val="tx1"/>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Times New Roman" panose="02020603050405020304" pitchFamily="18" charset="0"/>
                        </a:rPr>
                        <a:t>副产品</a:t>
                      </a:r>
                      <a:endParaRPr kumimoji="0" lang="zh-CN" altLang="en-US" sz="1400" b="0" i="0" u="none" strike="noStrike" cap="none" normalizeH="0" baseline="0" dirty="0">
                        <a:ln>
                          <a:noFill/>
                        </a:ln>
                        <a:solidFill>
                          <a:schemeClr val="tx1"/>
                        </a:solidFill>
                        <a:effectLst>
                          <a:outerShdw blurRad="38100" dist="38100" dir="2700000" algn="tl">
                            <a:srgbClr val="000000">
                              <a:alpha val="43137"/>
                            </a:srgbClr>
                          </a:outerShdw>
                        </a:effectLst>
                        <a:latin typeface="华文细黑" panose="02010600040101010101" pitchFamily="2" charset="-122"/>
                        <a:ea typeface="宋体" panose="02010600030101010101" pitchFamily="2" charset="-122"/>
                      </a:endParaRPr>
                    </a:p>
                  </a:txBody>
                  <a:tcPr marT="45724" marB="45724"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4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较多</a:t>
                      </a:r>
                      <a:endParaRPr kumimoji="0" lang="zh-CN" altLang="en-US" sz="1400" b="0" i="0" u="none" strike="noStrike" cap="none" normalizeH="0" baseline="0">
                        <a:ln>
                          <a:noFill/>
                        </a:ln>
                        <a:solidFill>
                          <a:schemeClr val="tx1"/>
                        </a:solidFill>
                        <a:effectLst/>
                        <a:latin typeface="华文细黑" panose="02010600040101010101" pitchFamily="2" charset="-122"/>
                        <a:ea typeface="宋体" panose="02010600030101010101" pitchFamily="2" charset="-122"/>
                      </a:endParaRPr>
                    </a:p>
                  </a:txBody>
                  <a:tcPr marT="45724" marB="4572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4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较少</a:t>
                      </a:r>
                      <a:endParaRPr kumimoji="0" lang="zh-CN" altLang="en-US" sz="1400" b="0" i="0" u="none" strike="noStrike" cap="none" normalizeH="0" baseline="0" dirty="0">
                        <a:ln>
                          <a:noFill/>
                        </a:ln>
                        <a:solidFill>
                          <a:schemeClr val="tx1"/>
                        </a:solidFill>
                        <a:effectLst/>
                        <a:latin typeface="华文细黑" panose="02010600040101010101" pitchFamily="2" charset="-122"/>
                        <a:ea typeface="宋体" panose="02010600030101010101" pitchFamily="2" charset="-122"/>
                      </a:endParaRPr>
                    </a:p>
                  </a:txBody>
                  <a:tcPr marT="45724" marB="45724"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171272114"/>
                  </a:ext>
                </a:extLst>
              </a:tr>
            </a:tbl>
          </a:graphicData>
        </a:graphic>
      </p:graphicFrame>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9746" name="Rectangle 2"/>
          <p:cNvSpPr>
            <a:spLocks noGrp="1" noChangeArrowheads="1"/>
          </p:cNvSpPr>
          <p:nvPr>
            <p:ph type="title"/>
          </p:nvPr>
        </p:nvSpPr>
        <p:spPr>
          <a:xfrm>
            <a:off x="304800" y="685800"/>
            <a:ext cx="8229600" cy="609600"/>
          </a:xfrm>
        </p:spPr>
        <p:txBody>
          <a:bodyPr/>
          <a:lstStyle/>
          <a:p>
            <a:pPr marL="457200" indent="-457200" eaLnBrk="1" hangingPunct="1">
              <a:buFont typeface="Wingdings" panose="05000000000000000000" pitchFamily="2" charset="2"/>
              <a:buChar char="n"/>
              <a:defRPr/>
            </a:pPr>
            <a:r>
              <a:rPr lang="zh-CN" altLang="en-US" sz="2800" b="1" dirty="0">
                <a:solidFill>
                  <a:srgbClr val="FF0000"/>
                </a:solidFill>
                <a:latin typeface="Times New Roman" panose="02020603050405020304" pitchFamily="18" charset="0"/>
                <a:ea typeface="+mn-ea"/>
                <a:cs typeface="+mn-cs"/>
              </a:rPr>
              <a:t>生产类型</a:t>
            </a:r>
          </a:p>
        </p:txBody>
      </p:sp>
      <p:sp>
        <p:nvSpPr>
          <p:cNvPr id="159747" name="Rectangle 3"/>
          <p:cNvSpPr>
            <a:spLocks noGrp="1" noChangeArrowheads="1"/>
          </p:cNvSpPr>
          <p:nvPr>
            <p:ph type="body" idx="1"/>
          </p:nvPr>
        </p:nvSpPr>
        <p:spPr>
          <a:xfrm>
            <a:off x="457200" y="1447800"/>
            <a:ext cx="8534400" cy="5181600"/>
          </a:xfrm>
        </p:spPr>
        <p:txBody>
          <a:bodyPr/>
          <a:lstStyle/>
          <a:p>
            <a:pPr eaLnBrk="1" hangingPunct="1">
              <a:lnSpc>
                <a:spcPct val="140000"/>
              </a:lnSpc>
              <a:spcBef>
                <a:spcPct val="0"/>
              </a:spcBef>
              <a:buClr>
                <a:schemeClr val="tx1"/>
              </a:buClr>
              <a:buSzTx/>
              <a:buFont typeface="Marlett" pitchFamily="2" charset="2"/>
              <a:buChar char="2"/>
              <a:defRPr/>
            </a:pPr>
            <a:r>
              <a:rPr lang="zh-CN" altLang="en-US" sz="2400" b="1" dirty="0">
                <a:solidFill>
                  <a:srgbClr val="003366"/>
                </a:solidFill>
                <a:effectLst>
                  <a:outerShdw blurRad="38100" dist="38100" dir="2700000" algn="tl">
                    <a:srgbClr val="C0C0C0"/>
                  </a:outerShdw>
                </a:effectLst>
              </a:rPr>
              <a:t>按照生产的稳定性和重复性分类</a:t>
            </a:r>
          </a:p>
          <a:p>
            <a:pPr lvl="1" eaLnBrk="1" hangingPunct="1">
              <a:lnSpc>
                <a:spcPct val="140000"/>
              </a:lnSpc>
              <a:spcBef>
                <a:spcPct val="0"/>
              </a:spcBef>
              <a:buClr>
                <a:schemeClr val="tx1"/>
              </a:buClr>
              <a:buSzTx/>
              <a:buFont typeface="Marlett" pitchFamily="2" charset="2"/>
              <a:buChar char="2"/>
              <a:defRPr/>
            </a:pPr>
            <a:r>
              <a:rPr lang="zh-CN" altLang="en-US" sz="2000" dirty="0"/>
              <a:t>大批量生产（</a:t>
            </a:r>
            <a:r>
              <a:rPr lang="en-US" altLang="zh-CN" sz="2000" dirty="0"/>
              <a:t>Mass production</a:t>
            </a:r>
            <a:r>
              <a:rPr lang="zh-CN" altLang="en-US" sz="2000" dirty="0"/>
              <a:t>）</a:t>
            </a:r>
            <a:endParaRPr lang="en-US" altLang="zh-CN" sz="2000" dirty="0"/>
          </a:p>
          <a:p>
            <a:pPr lvl="1" eaLnBrk="1" hangingPunct="1">
              <a:lnSpc>
                <a:spcPct val="140000"/>
              </a:lnSpc>
              <a:spcBef>
                <a:spcPct val="0"/>
              </a:spcBef>
              <a:buClr>
                <a:schemeClr val="tx1"/>
              </a:buClr>
              <a:buSzTx/>
              <a:buFont typeface="Marlett" pitchFamily="2" charset="2"/>
              <a:buChar char="2"/>
              <a:defRPr/>
            </a:pPr>
            <a:r>
              <a:rPr lang="zh-CN" altLang="en-US" sz="2000" dirty="0"/>
              <a:t>成批生产（</a:t>
            </a:r>
            <a:r>
              <a:rPr lang="en-US" altLang="zh-CN" sz="2000" dirty="0"/>
              <a:t>Batch production</a:t>
            </a:r>
            <a:r>
              <a:rPr lang="zh-CN" altLang="en-US" sz="2000" dirty="0"/>
              <a:t>）</a:t>
            </a:r>
            <a:endParaRPr lang="en-US" altLang="zh-CN" sz="2000" dirty="0"/>
          </a:p>
          <a:p>
            <a:pPr lvl="1" eaLnBrk="1" hangingPunct="1">
              <a:lnSpc>
                <a:spcPct val="140000"/>
              </a:lnSpc>
              <a:spcBef>
                <a:spcPct val="0"/>
              </a:spcBef>
              <a:buClr>
                <a:schemeClr val="tx1"/>
              </a:buClr>
              <a:buSzTx/>
              <a:buFont typeface="Marlett" pitchFamily="2" charset="2"/>
              <a:buChar char="2"/>
              <a:defRPr/>
            </a:pPr>
            <a:r>
              <a:rPr lang="zh-CN" altLang="en-US" sz="2000" dirty="0"/>
              <a:t>单件小批生产（</a:t>
            </a:r>
            <a:r>
              <a:rPr lang="en-US" altLang="zh-CN" sz="2000" dirty="0"/>
              <a:t>Project</a:t>
            </a:r>
            <a:r>
              <a:rPr lang="zh-CN" altLang="en-US" sz="2000" dirty="0"/>
              <a:t>）</a:t>
            </a:r>
          </a:p>
        </p:txBody>
      </p:sp>
      <p:sp>
        <p:nvSpPr>
          <p:cNvPr id="5" name="Text Box 9"/>
          <p:cNvSpPr txBox="1">
            <a:spLocks noChangeArrowheads="1"/>
          </p:cNvSpPr>
          <p:nvPr/>
        </p:nvSpPr>
        <p:spPr bwMode="auto">
          <a:xfrm>
            <a:off x="762000" y="87313"/>
            <a:ext cx="1963738"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defRPr/>
            </a:pPr>
            <a:r>
              <a:rPr lang="en-US" altLang="zh-CN" sz="1800" b="1" dirty="0">
                <a:solidFill>
                  <a:srgbClr val="FFFF00"/>
                </a:solidFill>
                <a:effectLst>
                  <a:outerShdw blurRad="38100" dist="38100" dir="2700000" algn="tl">
                    <a:srgbClr val="000000">
                      <a:alpha val="43137"/>
                    </a:srgbClr>
                  </a:outerShdw>
                </a:effectLst>
              </a:rPr>
              <a:t>2.2 </a:t>
            </a:r>
            <a:r>
              <a:rPr lang="zh-CN" altLang="en-US" sz="1800" b="1" dirty="0">
                <a:solidFill>
                  <a:srgbClr val="FFFF00"/>
                </a:solidFill>
                <a:effectLst>
                  <a:outerShdw blurRad="38100" dist="38100" dir="2700000" algn="tl">
                    <a:srgbClr val="000000">
                      <a:alpha val="43137"/>
                    </a:srgbClr>
                  </a:outerShdw>
                </a:effectLst>
              </a:rPr>
              <a:t>生产运作系统</a:t>
            </a:r>
          </a:p>
        </p:txBody>
      </p:sp>
      <p:graphicFrame>
        <p:nvGraphicFramePr>
          <p:cNvPr id="6" name="Group 50"/>
          <p:cNvGraphicFramePr>
            <a:graphicFrameLocks/>
          </p:cNvGraphicFramePr>
          <p:nvPr/>
        </p:nvGraphicFramePr>
        <p:xfrm>
          <a:off x="876300" y="3500438"/>
          <a:ext cx="7391400" cy="3021012"/>
        </p:xfrm>
        <a:graphic>
          <a:graphicData uri="http://schemas.openxmlformats.org/drawingml/2006/table">
            <a:tbl>
              <a:tblPr/>
              <a:tblGrid>
                <a:gridCol w="1847850">
                  <a:extLst>
                    <a:ext uri="{9D8B030D-6E8A-4147-A177-3AD203B41FA5}">
                      <a16:colId xmlns:a16="http://schemas.microsoft.com/office/drawing/2014/main" val="2779206066"/>
                    </a:ext>
                  </a:extLst>
                </a:gridCol>
                <a:gridCol w="1847850">
                  <a:extLst>
                    <a:ext uri="{9D8B030D-6E8A-4147-A177-3AD203B41FA5}">
                      <a16:colId xmlns:a16="http://schemas.microsoft.com/office/drawing/2014/main" val="4201521121"/>
                    </a:ext>
                  </a:extLst>
                </a:gridCol>
                <a:gridCol w="1847850">
                  <a:extLst>
                    <a:ext uri="{9D8B030D-6E8A-4147-A177-3AD203B41FA5}">
                      <a16:colId xmlns:a16="http://schemas.microsoft.com/office/drawing/2014/main" val="975074696"/>
                    </a:ext>
                  </a:extLst>
                </a:gridCol>
                <a:gridCol w="1847850">
                  <a:extLst>
                    <a:ext uri="{9D8B030D-6E8A-4147-A177-3AD203B41FA5}">
                      <a16:colId xmlns:a16="http://schemas.microsoft.com/office/drawing/2014/main" val="1974538062"/>
                    </a:ext>
                  </a:extLst>
                </a:gridCol>
              </a:tblGrid>
              <a:tr h="420668">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800" b="1" i="0" u="none" strike="noStrike" cap="none" normalizeH="0" baseline="0" dirty="0">
                          <a:ln>
                            <a:noFill/>
                          </a:ln>
                          <a:solidFill>
                            <a:schemeClr val="accent5">
                              <a:lumMod val="50000"/>
                            </a:schemeClr>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Times New Roman" panose="02020603050405020304" pitchFamily="18" charset="0"/>
                        </a:rPr>
                        <a:t>类型</a:t>
                      </a:r>
                      <a:endParaRPr kumimoji="0" lang="zh-CN" altLang="en-US" sz="1800" b="1" i="0" u="none" strike="noStrike" cap="none" normalizeH="0" baseline="0" dirty="0">
                        <a:ln>
                          <a:noFill/>
                        </a:ln>
                        <a:solidFill>
                          <a:schemeClr val="accent5">
                            <a:lumMod val="50000"/>
                          </a:schemeClr>
                        </a:solidFill>
                        <a:effectLst>
                          <a:outerShdw blurRad="38100" dist="38100" dir="2700000" algn="tl">
                            <a:srgbClr val="000000">
                              <a:alpha val="43137"/>
                            </a:srgbClr>
                          </a:outerShdw>
                        </a:effectLst>
                        <a:latin typeface="华文细黑" panose="02010600040101010101" pitchFamily="2" charset="-122"/>
                        <a:ea typeface="宋体" panose="02010600030101010101" pitchFamily="2" charset="-122"/>
                      </a:endParaRPr>
                    </a:p>
                  </a:txBody>
                  <a:tcPr marT="45725" marB="4572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800" b="1" i="0" u="none" strike="noStrike" cap="none" normalizeH="0" baseline="0" dirty="0">
                          <a:ln>
                            <a:noFill/>
                          </a:ln>
                          <a:solidFill>
                            <a:schemeClr val="accent5">
                              <a:lumMod val="50000"/>
                            </a:schemeClr>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Times New Roman" panose="02020603050405020304" pitchFamily="18" charset="0"/>
                        </a:rPr>
                        <a:t>大批量生产</a:t>
                      </a:r>
                      <a:endParaRPr kumimoji="0" lang="zh-CN" altLang="en-US" sz="1800" b="1" i="0" u="none" strike="noStrike" cap="none" normalizeH="0" baseline="0" dirty="0">
                        <a:ln>
                          <a:noFill/>
                        </a:ln>
                        <a:solidFill>
                          <a:schemeClr val="accent5">
                            <a:lumMod val="50000"/>
                          </a:schemeClr>
                        </a:solidFill>
                        <a:effectLst>
                          <a:outerShdw blurRad="38100" dist="38100" dir="2700000" algn="tl">
                            <a:srgbClr val="000000">
                              <a:alpha val="43137"/>
                            </a:srgbClr>
                          </a:outerShdw>
                        </a:effectLst>
                        <a:latin typeface="华文细黑" panose="02010600040101010101" pitchFamily="2" charset="-122"/>
                        <a:ea typeface="宋体" panose="02010600030101010101" pitchFamily="2" charset="-122"/>
                      </a:endParaRPr>
                    </a:p>
                  </a:txBody>
                  <a:tcPr marT="45725" marB="4572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800" b="1" i="0" u="none" strike="noStrike" cap="none" normalizeH="0" baseline="0" dirty="0">
                          <a:ln>
                            <a:noFill/>
                          </a:ln>
                          <a:solidFill>
                            <a:schemeClr val="accent5">
                              <a:lumMod val="50000"/>
                            </a:schemeClr>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Times New Roman" panose="02020603050405020304" pitchFamily="18" charset="0"/>
                        </a:rPr>
                        <a:t>成批生产</a:t>
                      </a:r>
                      <a:endParaRPr kumimoji="0" lang="zh-CN" altLang="en-US" sz="1800" b="1" i="0" u="none" strike="noStrike" cap="none" normalizeH="0" baseline="0" dirty="0">
                        <a:ln>
                          <a:noFill/>
                        </a:ln>
                        <a:solidFill>
                          <a:schemeClr val="accent5">
                            <a:lumMod val="50000"/>
                          </a:schemeClr>
                        </a:solidFill>
                        <a:effectLst>
                          <a:outerShdw blurRad="38100" dist="38100" dir="2700000" algn="tl">
                            <a:srgbClr val="000000">
                              <a:alpha val="43137"/>
                            </a:srgbClr>
                          </a:outerShdw>
                        </a:effectLst>
                        <a:latin typeface="华文细黑" panose="02010600040101010101" pitchFamily="2" charset="-122"/>
                        <a:ea typeface="宋体" panose="02010600030101010101" pitchFamily="2" charset="-122"/>
                      </a:endParaRPr>
                    </a:p>
                  </a:txBody>
                  <a:tcPr marT="45725" marB="4572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800" b="1" i="0" u="none" strike="noStrike" cap="none" normalizeH="0" baseline="0" dirty="0">
                          <a:ln>
                            <a:noFill/>
                          </a:ln>
                          <a:solidFill>
                            <a:schemeClr val="accent5">
                              <a:lumMod val="50000"/>
                            </a:schemeClr>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Times New Roman" panose="02020603050405020304" pitchFamily="18" charset="0"/>
                        </a:rPr>
                        <a:t>单件小批生产</a:t>
                      </a:r>
                      <a:endParaRPr kumimoji="0" lang="zh-CN" altLang="en-US" sz="1800" b="1" i="0" u="none" strike="noStrike" cap="none" normalizeH="0" baseline="0" dirty="0">
                        <a:ln>
                          <a:noFill/>
                        </a:ln>
                        <a:solidFill>
                          <a:schemeClr val="accent5">
                            <a:lumMod val="50000"/>
                          </a:schemeClr>
                        </a:solidFill>
                        <a:effectLst>
                          <a:outerShdw blurRad="38100" dist="38100" dir="2700000" algn="tl">
                            <a:srgbClr val="000000">
                              <a:alpha val="43137"/>
                            </a:srgbClr>
                          </a:outerShdw>
                        </a:effectLst>
                        <a:latin typeface="华文细黑" panose="02010600040101010101" pitchFamily="2" charset="-122"/>
                        <a:ea typeface="宋体" panose="02010600030101010101" pitchFamily="2" charset="-122"/>
                      </a:endParaRPr>
                    </a:p>
                  </a:txBody>
                  <a:tcPr marT="45725" marB="45725"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3430167533"/>
                  </a:ext>
                </a:extLst>
              </a:tr>
              <a:tr h="430258">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800" b="0" i="0" u="none" strike="noStrike" cap="none" normalizeH="0" baseline="0" dirty="0">
                          <a:ln>
                            <a:noFill/>
                          </a:ln>
                          <a:solidFill>
                            <a:schemeClr val="tx1"/>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Times New Roman" panose="02020603050405020304" pitchFamily="18" charset="0"/>
                        </a:rPr>
                        <a:t>品种</a:t>
                      </a:r>
                      <a:endParaRPr kumimoji="0" lang="zh-CN" altLang="en-US" sz="1800" b="0" i="0" u="none" strike="noStrike" cap="none" normalizeH="0" baseline="0" dirty="0">
                        <a:ln>
                          <a:noFill/>
                        </a:ln>
                        <a:solidFill>
                          <a:schemeClr val="tx1"/>
                        </a:solidFill>
                        <a:effectLst>
                          <a:outerShdw blurRad="38100" dist="38100" dir="2700000" algn="tl">
                            <a:srgbClr val="000000">
                              <a:alpha val="43137"/>
                            </a:srgbClr>
                          </a:outerShdw>
                        </a:effectLst>
                        <a:latin typeface="华文细黑" panose="02010600040101010101" pitchFamily="2" charset="-122"/>
                        <a:ea typeface="宋体" panose="02010600030101010101" pitchFamily="2" charset="-122"/>
                      </a:endParaRPr>
                    </a:p>
                  </a:txBody>
                  <a:tcPr marT="45725" marB="45725"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8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少</a:t>
                      </a:r>
                      <a:endParaRPr kumimoji="0" lang="zh-CN" altLang="en-US" sz="1800" b="0" i="0" u="none" strike="noStrike" cap="none" normalizeH="0" baseline="0">
                        <a:ln>
                          <a:noFill/>
                        </a:ln>
                        <a:solidFill>
                          <a:schemeClr val="tx1"/>
                        </a:solidFill>
                        <a:effectLst/>
                        <a:latin typeface="华文细黑" panose="02010600040101010101" pitchFamily="2" charset="-122"/>
                        <a:ea typeface="宋体" panose="02010600030101010101" pitchFamily="2" charset="-122"/>
                      </a:endParaRPr>
                    </a:p>
                  </a:txBody>
                  <a:tcPr marT="45725" marB="4572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8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较多</a:t>
                      </a:r>
                      <a:endParaRPr kumimoji="0" lang="zh-CN" altLang="en-US" sz="1800" b="0" i="0" u="none" strike="noStrike" cap="none" normalizeH="0" baseline="0">
                        <a:ln>
                          <a:noFill/>
                        </a:ln>
                        <a:solidFill>
                          <a:schemeClr val="tx1"/>
                        </a:solidFill>
                        <a:effectLst/>
                        <a:latin typeface="华文细黑" panose="02010600040101010101" pitchFamily="2" charset="-122"/>
                        <a:ea typeface="宋体" panose="02010600030101010101" pitchFamily="2" charset="-122"/>
                      </a:endParaRPr>
                    </a:p>
                  </a:txBody>
                  <a:tcPr marT="45725" marB="4572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8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很多</a:t>
                      </a:r>
                      <a:endParaRPr kumimoji="0" lang="zh-CN" altLang="en-US" sz="1800" b="0" i="0" u="none" strike="noStrike" cap="none" normalizeH="0" baseline="0">
                        <a:ln>
                          <a:noFill/>
                        </a:ln>
                        <a:solidFill>
                          <a:schemeClr val="tx1"/>
                        </a:solidFill>
                        <a:effectLst/>
                        <a:latin typeface="华文细黑" panose="02010600040101010101" pitchFamily="2" charset="-122"/>
                        <a:ea typeface="宋体" panose="02010600030101010101" pitchFamily="2" charset="-122"/>
                      </a:endParaRPr>
                    </a:p>
                  </a:txBody>
                  <a:tcPr marT="45725" marB="45725"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70188047"/>
                  </a:ext>
                </a:extLst>
              </a:tr>
              <a:tr h="420668">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800" b="0" i="0" u="none" strike="noStrike" cap="none" normalizeH="0" baseline="0" dirty="0">
                          <a:ln>
                            <a:noFill/>
                          </a:ln>
                          <a:solidFill>
                            <a:schemeClr val="tx1"/>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Times New Roman" panose="02020603050405020304" pitchFamily="18" charset="0"/>
                        </a:rPr>
                        <a:t>产量</a:t>
                      </a:r>
                      <a:endParaRPr kumimoji="0" lang="zh-CN" altLang="en-US" sz="1800" b="0" i="0" u="none" strike="noStrike" cap="none" normalizeH="0" baseline="0" dirty="0">
                        <a:ln>
                          <a:noFill/>
                        </a:ln>
                        <a:solidFill>
                          <a:schemeClr val="tx1"/>
                        </a:solidFill>
                        <a:effectLst>
                          <a:outerShdw blurRad="38100" dist="38100" dir="2700000" algn="tl">
                            <a:srgbClr val="000000">
                              <a:alpha val="43137"/>
                            </a:srgbClr>
                          </a:outerShdw>
                        </a:effectLst>
                        <a:latin typeface="华文细黑" panose="02010600040101010101" pitchFamily="2" charset="-122"/>
                        <a:ea typeface="宋体" panose="02010600030101010101" pitchFamily="2" charset="-122"/>
                      </a:endParaRPr>
                    </a:p>
                  </a:txBody>
                  <a:tcPr marT="45725" marB="45725"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8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大</a:t>
                      </a:r>
                      <a:endParaRPr kumimoji="0" lang="zh-CN" altLang="en-US" sz="1800" b="0" i="0" u="none" strike="noStrike" cap="none" normalizeH="0" baseline="0">
                        <a:ln>
                          <a:noFill/>
                        </a:ln>
                        <a:solidFill>
                          <a:schemeClr val="tx1"/>
                        </a:solidFill>
                        <a:effectLst/>
                        <a:latin typeface="华文细黑" panose="02010600040101010101" pitchFamily="2" charset="-122"/>
                        <a:ea typeface="宋体" panose="02010600030101010101" pitchFamily="2" charset="-122"/>
                      </a:endParaRPr>
                    </a:p>
                  </a:txBody>
                  <a:tcPr marT="45725" marB="4572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8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中</a:t>
                      </a:r>
                      <a:endParaRPr kumimoji="0" lang="zh-CN" altLang="en-US" sz="1800" b="0" i="0" u="none" strike="noStrike" cap="none" normalizeH="0" baseline="0">
                        <a:ln>
                          <a:noFill/>
                        </a:ln>
                        <a:solidFill>
                          <a:schemeClr val="tx1"/>
                        </a:solidFill>
                        <a:effectLst/>
                        <a:latin typeface="华文细黑" panose="02010600040101010101" pitchFamily="2" charset="-122"/>
                        <a:ea typeface="宋体" panose="02010600030101010101" pitchFamily="2" charset="-122"/>
                      </a:endParaRPr>
                    </a:p>
                  </a:txBody>
                  <a:tcPr marT="45725" marB="4572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8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小</a:t>
                      </a:r>
                      <a:endParaRPr kumimoji="0" lang="zh-CN" altLang="en-US" sz="1800" b="0" i="0" u="none" strike="noStrike" cap="none" normalizeH="0" baseline="0">
                        <a:ln>
                          <a:noFill/>
                        </a:ln>
                        <a:solidFill>
                          <a:schemeClr val="tx1"/>
                        </a:solidFill>
                        <a:effectLst/>
                        <a:latin typeface="华文细黑" panose="02010600040101010101" pitchFamily="2" charset="-122"/>
                        <a:ea typeface="宋体" panose="02010600030101010101" pitchFamily="2" charset="-122"/>
                      </a:endParaRPr>
                    </a:p>
                  </a:txBody>
                  <a:tcPr marT="45725" marB="45725"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309578998"/>
                  </a:ext>
                </a:extLst>
              </a:tr>
              <a:tr h="420668">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800" b="0" i="0" u="none" strike="noStrike" cap="none" normalizeH="0" baseline="0" dirty="0">
                          <a:ln>
                            <a:noFill/>
                          </a:ln>
                          <a:solidFill>
                            <a:schemeClr val="tx1"/>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Times New Roman" panose="02020603050405020304" pitchFamily="18" charset="0"/>
                        </a:rPr>
                        <a:t>设备</a:t>
                      </a:r>
                      <a:endParaRPr kumimoji="0" lang="zh-CN" altLang="en-US" sz="1800" b="0" i="0" u="none" strike="noStrike" cap="none" normalizeH="0" baseline="0" dirty="0">
                        <a:ln>
                          <a:noFill/>
                        </a:ln>
                        <a:solidFill>
                          <a:schemeClr val="tx1"/>
                        </a:solidFill>
                        <a:effectLst>
                          <a:outerShdw blurRad="38100" dist="38100" dir="2700000" algn="tl">
                            <a:srgbClr val="000000">
                              <a:alpha val="43137"/>
                            </a:srgbClr>
                          </a:outerShdw>
                        </a:effectLst>
                        <a:latin typeface="华文细黑" panose="02010600040101010101" pitchFamily="2" charset="-122"/>
                        <a:ea typeface="宋体" panose="02010600030101010101" pitchFamily="2" charset="-122"/>
                      </a:endParaRPr>
                    </a:p>
                  </a:txBody>
                  <a:tcPr marT="45725" marB="45725"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8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专用</a:t>
                      </a:r>
                      <a:endParaRPr kumimoji="0" lang="zh-CN" altLang="en-US" sz="1800" b="0" i="0" u="none" strike="noStrike" cap="none" normalizeH="0" baseline="0">
                        <a:ln>
                          <a:noFill/>
                        </a:ln>
                        <a:solidFill>
                          <a:schemeClr val="tx1"/>
                        </a:solidFill>
                        <a:effectLst/>
                        <a:latin typeface="华文细黑" panose="02010600040101010101" pitchFamily="2" charset="-122"/>
                        <a:ea typeface="宋体" panose="02010600030101010101" pitchFamily="2" charset="-122"/>
                      </a:endParaRPr>
                    </a:p>
                  </a:txBody>
                  <a:tcPr marT="45725" marB="4572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8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部分通用</a:t>
                      </a:r>
                      <a:endParaRPr kumimoji="0" lang="zh-CN" altLang="en-US" sz="1800" b="0" i="0" u="none" strike="noStrike" cap="none" normalizeH="0" baseline="0">
                        <a:ln>
                          <a:noFill/>
                        </a:ln>
                        <a:solidFill>
                          <a:schemeClr val="tx1"/>
                        </a:solidFill>
                        <a:effectLst/>
                        <a:latin typeface="华文细黑" panose="02010600040101010101" pitchFamily="2" charset="-122"/>
                        <a:ea typeface="宋体" panose="02010600030101010101" pitchFamily="2" charset="-122"/>
                      </a:endParaRPr>
                    </a:p>
                  </a:txBody>
                  <a:tcPr marT="45725" marB="4572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8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通用</a:t>
                      </a:r>
                      <a:endParaRPr kumimoji="0" lang="zh-CN" altLang="en-US" sz="1800" b="0" i="0" u="none" strike="noStrike" cap="none" normalizeH="0" baseline="0">
                        <a:ln>
                          <a:noFill/>
                        </a:ln>
                        <a:solidFill>
                          <a:schemeClr val="tx1"/>
                        </a:solidFill>
                        <a:effectLst/>
                        <a:latin typeface="华文细黑" panose="02010600040101010101" pitchFamily="2" charset="-122"/>
                        <a:ea typeface="宋体" panose="02010600030101010101" pitchFamily="2" charset="-122"/>
                      </a:endParaRPr>
                    </a:p>
                  </a:txBody>
                  <a:tcPr marT="45725" marB="45725"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021269241"/>
                  </a:ext>
                </a:extLst>
              </a:tr>
              <a:tr h="420668">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800" b="0" i="0" u="none" strike="noStrike" cap="none" normalizeH="0" baseline="0" dirty="0">
                          <a:ln>
                            <a:noFill/>
                          </a:ln>
                          <a:solidFill>
                            <a:schemeClr val="tx1"/>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Times New Roman" panose="02020603050405020304" pitchFamily="18" charset="0"/>
                        </a:rPr>
                        <a:t>生产周期</a:t>
                      </a:r>
                      <a:endParaRPr kumimoji="0" lang="zh-CN" altLang="en-US" sz="1800" b="0" i="0" u="none" strike="noStrike" cap="none" normalizeH="0" baseline="0" dirty="0">
                        <a:ln>
                          <a:noFill/>
                        </a:ln>
                        <a:solidFill>
                          <a:schemeClr val="tx1"/>
                        </a:solidFill>
                        <a:effectLst>
                          <a:outerShdw blurRad="38100" dist="38100" dir="2700000" algn="tl">
                            <a:srgbClr val="000000">
                              <a:alpha val="43137"/>
                            </a:srgbClr>
                          </a:outerShdw>
                        </a:effectLst>
                        <a:latin typeface="华文细黑" panose="02010600040101010101" pitchFamily="2" charset="-122"/>
                        <a:ea typeface="宋体" panose="02010600030101010101" pitchFamily="2" charset="-122"/>
                      </a:endParaRPr>
                    </a:p>
                  </a:txBody>
                  <a:tcPr marT="45725" marB="45725"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8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短</a:t>
                      </a:r>
                      <a:endParaRPr kumimoji="0" lang="zh-CN" altLang="en-US" sz="1800" b="0" i="0" u="none" strike="noStrike" cap="none" normalizeH="0" baseline="0">
                        <a:ln>
                          <a:noFill/>
                        </a:ln>
                        <a:solidFill>
                          <a:schemeClr val="tx1"/>
                        </a:solidFill>
                        <a:effectLst/>
                        <a:latin typeface="华文细黑" panose="02010600040101010101" pitchFamily="2" charset="-122"/>
                        <a:ea typeface="宋体" panose="02010600030101010101" pitchFamily="2" charset="-122"/>
                      </a:endParaRPr>
                    </a:p>
                  </a:txBody>
                  <a:tcPr marT="45725" marB="4572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8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长短不一</a:t>
                      </a:r>
                      <a:endParaRPr kumimoji="0" lang="zh-CN" altLang="en-US" sz="1800" b="0" i="0" u="none" strike="noStrike" cap="none" normalizeH="0" baseline="0">
                        <a:ln>
                          <a:noFill/>
                        </a:ln>
                        <a:solidFill>
                          <a:schemeClr val="tx1"/>
                        </a:solidFill>
                        <a:effectLst/>
                        <a:latin typeface="华文细黑" panose="02010600040101010101" pitchFamily="2" charset="-122"/>
                        <a:ea typeface="宋体" panose="02010600030101010101" pitchFamily="2" charset="-122"/>
                      </a:endParaRPr>
                    </a:p>
                  </a:txBody>
                  <a:tcPr marT="45725" marB="4572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8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长</a:t>
                      </a:r>
                      <a:endParaRPr kumimoji="0" lang="zh-CN" altLang="en-US" sz="1800" b="0" i="0" u="none" strike="noStrike" cap="none" normalizeH="0" baseline="0">
                        <a:ln>
                          <a:noFill/>
                        </a:ln>
                        <a:solidFill>
                          <a:schemeClr val="tx1"/>
                        </a:solidFill>
                        <a:effectLst/>
                        <a:latin typeface="华文细黑" panose="02010600040101010101" pitchFamily="2" charset="-122"/>
                        <a:ea typeface="宋体" panose="02010600030101010101" pitchFamily="2" charset="-122"/>
                      </a:endParaRPr>
                    </a:p>
                  </a:txBody>
                  <a:tcPr marT="45725" marB="45725"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874333907"/>
                  </a:ext>
                </a:extLst>
              </a:tr>
              <a:tr h="420668">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800" b="0" i="0" u="none" strike="noStrike" cap="none" normalizeH="0" baseline="0" dirty="0">
                          <a:ln>
                            <a:noFill/>
                          </a:ln>
                          <a:solidFill>
                            <a:schemeClr val="tx1"/>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Times New Roman" panose="02020603050405020304" pitchFamily="18" charset="0"/>
                        </a:rPr>
                        <a:t>成本</a:t>
                      </a:r>
                      <a:endParaRPr kumimoji="0" lang="zh-CN" altLang="en-US" sz="1800" b="0" i="0" u="none" strike="noStrike" cap="none" normalizeH="0" baseline="0" dirty="0">
                        <a:ln>
                          <a:noFill/>
                        </a:ln>
                        <a:solidFill>
                          <a:schemeClr val="tx1"/>
                        </a:solidFill>
                        <a:effectLst>
                          <a:outerShdw blurRad="38100" dist="38100" dir="2700000" algn="tl">
                            <a:srgbClr val="000000">
                              <a:alpha val="43137"/>
                            </a:srgbClr>
                          </a:outerShdw>
                        </a:effectLst>
                        <a:latin typeface="华文细黑" panose="02010600040101010101" pitchFamily="2" charset="-122"/>
                        <a:ea typeface="宋体" panose="02010600030101010101" pitchFamily="2" charset="-122"/>
                      </a:endParaRPr>
                    </a:p>
                  </a:txBody>
                  <a:tcPr marT="45725" marB="45725"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8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低</a:t>
                      </a:r>
                      <a:endParaRPr kumimoji="0" lang="zh-CN" altLang="en-US" sz="1800" b="0" i="0" u="none" strike="noStrike" cap="none" normalizeH="0" baseline="0">
                        <a:ln>
                          <a:noFill/>
                        </a:ln>
                        <a:solidFill>
                          <a:schemeClr val="tx1"/>
                        </a:solidFill>
                        <a:effectLst/>
                        <a:latin typeface="华文细黑" panose="02010600040101010101" pitchFamily="2" charset="-122"/>
                        <a:ea typeface="宋体" panose="02010600030101010101" pitchFamily="2" charset="-122"/>
                      </a:endParaRPr>
                    </a:p>
                  </a:txBody>
                  <a:tcPr marT="45725" marB="4572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8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中</a:t>
                      </a:r>
                      <a:endParaRPr kumimoji="0" lang="zh-CN" altLang="en-US" sz="1800" b="0" i="0" u="none" strike="noStrike" cap="none" normalizeH="0" baseline="0">
                        <a:ln>
                          <a:noFill/>
                        </a:ln>
                        <a:solidFill>
                          <a:schemeClr val="tx1"/>
                        </a:solidFill>
                        <a:effectLst/>
                        <a:latin typeface="华文细黑" panose="02010600040101010101" pitchFamily="2" charset="-122"/>
                        <a:ea typeface="宋体" panose="02010600030101010101" pitchFamily="2" charset="-122"/>
                      </a:endParaRPr>
                    </a:p>
                  </a:txBody>
                  <a:tcPr marT="45725" marB="4572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8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高</a:t>
                      </a:r>
                      <a:endParaRPr kumimoji="0" lang="zh-CN" altLang="en-US" sz="1800" b="0" i="0" u="none" strike="noStrike" cap="none" normalizeH="0" baseline="0">
                        <a:ln>
                          <a:noFill/>
                        </a:ln>
                        <a:solidFill>
                          <a:schemeClr val="tx1"/>
                        </a:solidFill>
                        <a:effectLst/>
                        <a:latin typeface="华文细黑" panose="02010600040101010101" pitchFamily="2" charset="-122"/>
                        <a:ea typeface="宋体" panose="02010600030101010101" pitchFamily="2" charset="-122"/>
                      </a:endParaRPr>
                    </a:p>
                  </a:txBody>
                  <a:tcPr marT="45725" marB="45725"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847943474"/>
                  </a:ext>
                </a:extLst>
              </a:tr>
              <a:tr h="487414">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800" b="0" i="0" u="none" strike="noStrike" cap="none" normalizeH="0" baseline="0" dirty="0">
                          <a:ln>
                            <a:noFill/>
                          </a:ln>
                          <a:solidFill>
                            <a:schemeClr val="tx1"/>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Times New Roman" panose="02020603050405020304" pitchFamily="18" charset="0"/>
                        </a:rPr>
                        <a:t>追求目标</a:t>
                      </a:r>
                      <a:endParaRPr kumimoji="0" lang="zh-CN" altLang="en-US" sz="1800" b="0" i="0" u="none" strike="noStrike" cap="none" normalizeH="0" baseline="0" dirty="0">
                        <a:ln>
                          <a:noFill/>
                        </a:ln>
                        <a:solidFill>
                          <a:schemeClr val="tx1"/>
                        </a:solidFill>
                        <a:effectLst>
                          <a:outerShdw blurRad="38100" dist="38100" dir="2700000" algn="tl">
                            <a:srgbClr val="000000">
                              <a:alpha val="43137"/>
                            </a:srgbClr>
                          </a:outerShdw>
                        </a:effectLst>
                        <a:latin typeface="华文细黑" panose="02010600040101010101" pitchFamily="2" charset="-122"/>
                        <a:ea typeface="宋体" panose="02010600030101010101" pitchFamily="2" charset="-122"/>
                      </a:endParaRPr>
                    </a:p>
                  </a:txBody>
                  <a:tcPr marT="45725" marB="45725"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8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连续性</a:t>
                      </a:r>
                      <a:endParaRPr kumimoji="0" lang="zh-CN" altLang="en-US" sz="1800" b="0" i="0" u="none" strike="noStrike" cap="none" normalizeH="0" baseline="0">
                        <a:ln>
                          <a:noFill/>
                        </a:ln>
                        <a:solidFill>
                          <a:schemeClr val="tx1"/>
                        </a:solidFill>
                        <a:effectLst/>
                        <a:latin typeface="华文细黑" panose="02010600040101010101" pitchFamily="2" charset="-122"/>
                        <a:ea typeface="宋体" panose="02010600030101010101" pitchFamily="2" charset="-122"/>
                      </a:endParaRPr>
                    </a:p>
                  </a:txBody>
                  <a:tcPr marT="45725" marB="4572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8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均衡性</a:t>
                      </a:r>
                      <a:endParaRPr kumimoji="0" lang="zh-CN" altLang="en-US" sz="1800" b="0" i="0" u="none" strike="noStrike" cap="none" normalizeH="0" baseline="0">
                        <a:ln>
                          <a:noFill/>
                        </a:ln>
                        <a:solidFill>
                          <a:schemeClr val="tx1"/>
                        </a:solidFill>
                        <a:effectLst/>
                        <a:latin typeface="华文细黑" panose="02010600040101010101" pitchFamily="2" charset="-122"/>
                        <a:ea typeface="宋体" panose="02010600030101010101" pitchFamily="2" charset="-122"/>
                      </a:endParaRPr>
                    </a:p>
                  </a:txBody>
                  <a:tcPr marT="45725" marB="4572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8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柔性</a:t>
                      </a:r>
                      <a:endParaRPr kumimoji="0" lang="zh-CN" altLang="en-US" sz="1800" b="0" i="0" u="none" strike="noStrike" cap="none" normalizeH="0" baseline="0" dirty="0">
                        <a:ln>
                          <a:noFill/>
                        </a:ln>
                        <a:solidFill>
                          <a:schemeClr val="tx1"/>
                        </a:solidFill>
                        <a:effectLst/>
                        <a:latin typeface="华文细黑" panose="02010600040101010101" pitchFamily="2" charset="-122"/>
                        <a:ea typeface="宋体" panose="02010600030101010101" pitchFamily="2" charset="-122"/>
                      </a:endParaRPr>
                    </a:p>
                  </a:txBody>
                  <a:tcPr marT="45725" marB="45725"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24697633"/>
                  </a:ext>
                </a:extLst>
              </a:tr>
            </a:tbl>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59747">
                                            <p:txEl>
                                              <p:pRg st="0" end="0"/>
                                            </p:txEl>
                                          </p:spTgt>
                                        </p:tgtEl>
                                        <p:attrNameLst>
                                          <p:attrName>style.visibility</p:attrName>
                                        </p:attrNameLst>
                                      </p:cBhvr>
                                      <p:to>
                                        <p:strVal val="visible"/>
                                      </p:to>
                                    </p:set>
                                    <p:anim calcmode="lin" valueType="num">
                                      <p:cBhvr additive="base">
                                        <p:cTn id="7" dur="500" fill="hold"/>
                                        <p:tgtEl>
                                          <p:spTgt spid="15974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5974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59747">
                                            <p:txEl>
                                              <p:pRg st="1" end="1"/>
                                            </p:txEl>
                                          </p:spTgt>
                                        </p:tgtEl>
                                        <p:attrNameLst>
                                          <p:attrName>style.visibility</p:attrName>
                                        </p:attrNameLst>
                                      </p:cBhvr>
                                      <p:to>
                                        <p:strVal val="visible"/>
                                      </p:to>
                                    </p:set>
                                    <p:anim calcmode="lin" valueType="num">
                                      <p:cBhvr additive="base">
                                        <p:cTn id="13" dur="500" fill="hold"/>
                                        <p:tgtEl>
                                          <p:spTgt spid="159747">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5974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59747">
                                            <p:txEl>
                                              <p:pRg st="2" end="2"/>
                                            </p:txEl>
                                          </p:spTgt>
                                        </p:tgtEl>
                                        <p:attrNameLst>
                                          <p:attrName>style.visibility</p:attrName>
                                        </p:attrNameLst>
                                      </p:cBhvr>
                                      <p:to>
                                        <p:strVal val="visible"/>
                                      </p:to>
                                    </p:set>
                                    <p:anim calcmode="lin" valueType="num">
                                      <p:cBhvr additive="base">
                                        <p:cTn id="19" dur="500" fill="hold"/>
                                        <p:tgtEl>
                                          <p:spTgt spid="159747">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59747">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59747">
                                            <p:txEl>
                                              <p:pRg st="3" end="3"/>
                                            </p:txEl>
                                          </p:spTgt>
                                        </p:tgtEl>
                                        <p:attrNameLst>
                                          <p:attrName>style.visibility</p:attrName>
                                        </p:attrNameLst>
                                      </p:cBhvr>
                                      <p:to>
                                        <p:strVal val="visible"/>
                                      </p:to>
                                    </p:set>
                                    <p:anim calcmode="lin" valueType="num">
                                      <p:cBhvr additive="base">
                                        <p:cTn id="25" dur="500" fill="hold"/>
                                        <p:tgtEl>
                                          <p:spTgt spid="159747">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59747">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9747" grpId="0" build="p" autoUpdateAnimBg="0" advAuto="0"/>
    </p:bldLst>
  </p:timing>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9746" name="Rectangle 2"/>
          <p:cNvSpPr>
            <a:spLocks noGrp="1" noChangeArrowheads="1"/>
          </p:cNvSpPr>
          <p:nvPr>
            <p:ph type="title"/>
          </p:nvPr>
        </p:nvSpPr>
        <p:spPr>
          <a:xfrm>
            <a:off x="304800" y="685800"/>
            <a:ext cx="8229600" cy="609600"/>
          </a:xfrm>
        </p:spPr>
        <p:txBody>
          <a:bodyPr/>
          <a:lstStyle/>
          <a:p>
            <a:pPr marL="457200" indent="-457200" eaLnBrk="1" hangingPunct="1">
              <a:buFont typeface="Wingdings" panose="05000000000000000000" pitchFamily="2" charset="2"/>
              <a:buChar char="n"/>
              <a:defRPr/>
            </a:pPr>
            <a:r>
              <a:rPr lang="zh-CN" altLang="en-US" sz="2800" b="1" dirty="0">
                <a:solidFill>
                  <a:srgbClr val="FF0000"/>
                </a:solidFill>
                <a:latin typeface="Times New Roman" panose="02020603050405020304" pitchFamily="18" charset="0"/>
                <a:ea typeface="+mn-ea"/>
                <a:cs typeface="+mn-cs"/>
              </a:rPr>
              <a:t>生产类型</a:t>
            </a:r>
          </a:p>
        </p:txBody>
      </p:sp>
      <p:sp>
        <p:nvSpPr>
          <p:cNvPr id="159747" name="Rectangle 3"/>
          <p:cNvSpPr>
            <a:spLocks noGrp="1" noChangeArrowheads="1"/>
          </p:cNvSpPr>
          <p:nvPr>
            <p:ph type="body" idx="1"/>
          </p:nvPr>
        </p:nvSpPr>
        <p:spPr>
          <a:xfrm>
            <a:off x="457200" y="1447800"/>
            <a:ext cx="8534400" cy="5181600"/>
          </a:xfrm>
        </p:spPr>
        <p:txBody>
          <a:bodyPr/>
          <a:lstStyle/>
          <a:p>
            <a:pPr eaLnBrk="1" hangingPunct="1">
              <a:lnSpc>
                <a:spcPct val="140000"/>
              </a:lnSpc>
              <a:spcBef>
                <a:spcPct val="0"/>
              </a:spcBef>
              <a:buClr>
                <a:schemeClr val="tx1"/>
              </a:buClr>
              <a:buSzTx/>
              <a:buFont typeface="Marlett" pitchFamily="2" charset="2"/>
              <a:buChar char="2"/>
              <a:defRPr/>
            </a:pPr>
            <a:r>
              <a:rPr lang="zh-CN" altLang="en-US" sz="2400" b="1" dirty="0">
                <a:solidFill>
                  <a:srgbClr val="003366"/>
                </a:solidFill>
                <a:effectLst>
                  <a:outerShdw blurRad="38100" dist="38100" dir="2700000" algn="tl">
                    <a:srgbClr val="C0C0C0"/>
                  </a:outerShdw>
                </a:effectLst>
              </a:rPr>
              <a:t>大批量定制（</a:t>
            </a:r>
            <a:r>
              <a:rPr lang="en-US" altLang="zh-CN" sz="2400" b="1" dirty="0">
                <a:solidFill>
                  <a:srgbClr val="003366"/>
                </a:solidFill>
                <a:effectLst>
                  <a:outerShdw blurRad="38100" dist="38100" dir="2700000" algn="tl">
                    <a:srgbClr val="C0C0C0"/>
                  </a:outerShdw>
                </a:effectLst>
              </a:rPr>
              <a:t>Mass customization</a:t>
            </a:r>
            <a:r>
              <a:rPr lang="zh-CN" altLang="en-US" sz="2400" b="1" dirty="0">
                <a:solidFill>
                  <a:srgbClr val="003366"/>
                </a:solidFill>
                <a:effectLst>
                  <a:outerShdw blurRad="38100" dist="38100" dir="2700000" algn="tl">
                    <a:srgbClr val="C0C0C0"/>
                  </a:outerShdw>
                </a:effectLst>
              </a:rPr>
              <a:t>）</a:t>
            </a:r>
            <a:endParaRPr lang="en-US" altLang="zh-CN" sz="2400" b="1" dirty="0">
              <a:solidFill>
                <a:srgbClr val="003366"/>
              </a:solidFill>
              <a:effectLst>
                <a:outerShdw blurRad="38100" dist="38100" dir="2700000" algn="tl">
                  <a:srgbClr val="C0C0C0"/>
                </a:outerShdw>
              </a:effectLst>
            </a:endParaRPr>
          </a:p>
          <a:p>
            <a:pPr marL="0" indent="0" eaLnBrk="1" hangingPunct="1">
              <a:lnSpc>
                <a:spcPct val="140000"/>
              </a:lnSpc>
              <a:spcBef>
                <a:spcPct val="0"/>
              </a:spcBef>
              <a:buClr>
                <a:schemeClr val="tx1"/>
              </a:buClr>
              <a:buSzTx/>
              <a:buFont typeface="Wingdings" panose="05000000000000000000" pitchFamily="2" charset="2"/>
              <a:buNone/>
              <a:defRPr/>
            </a:pPr>
            <a:r>
              <a:rPr lang="en-US" altLang="zh-CN" sz="2400" b="1" dirty="0">
                <a:solidFill>
                  <a:srgbClr val="0070C0"/>
                </a:solidFill>
                <a:effectLst>
                  <a:outerShdw blurRad="38100" dist="38100" dir="2700000" algn="tl">
                    <a:srgbClr val="C0C0C0"/>
                  </a:outerShdw>
                </a:effectLst>
              </a:rPr>
              <a:t>1987</a:t>
            </a:r>
            <a:r>
              <a:rPr lang="zh-CN" altLang="en-US" sz="2400" b="1" dirty="0">
                <a:solidFill>
                  <a:srgbClr val="0070C0"/>
                </a:solidFill>
                <a:effectLst>
                  <a:outerShdw blurRad="38100" dist="38100" dir="2700000" algn="tl">
                    <a:srgbClr val="C0C0C0"/>
                  </a:outerShdw>
                </a:effectLst>
              </a:rPr>
              <a:t>，美国学者</a:t>
            </a:r>
            <a:r>
              <a:rPr lang="en-US" altLang="zh-CN" sz="2400" b="1" dirty="0">
                <a:solidFill>
                  <a:srgbClr val="0070C0"/>
                </a:solidFill>
                <a:effectLst>
                  <a:outerShdw blurRad="38100" dist="38100" dir="2700000" algn="tl">
                    <a:srgbClr val="C0C0C0"/>
                  </a:outerShdw>
                </a:effectLst>
              </a:rPr>
              <a:t>Stan Davis</a:t>
            </a:r>
            <a:r>
              <a:rPr lang="zh-CN" altLang="en-US" sz="2400" b="1" dirty="0">
                <a:solidFill>
                  <a:srgbClr val="0070C0"/>
                </a:solidFill>
                <a:effectLst>
                  <a:outerShdw blurRad="38100" dist="38100" dir="2700000" algn="tl">
                    <a:srgbClr val="C0C0C0"/>
                  </a:outerShdw>
                </a:effectLst>
              </a:rPr>
              <a:t>，</a:t>
            </a:r>
            <a:r>
              <a:rPr lang="en-US" altLang="zh-CN" sz="2400" b="1" dirty="0">
                <a:solidFill>
                  <a:srgbClr val="0070C0"/>
                </a:solidFill>
                <a:effectLst>
                  <a:outerShdw blurRad="38100" dist="38100" dir="2700000" algn="tl">
                    <a:srgbClr val="C0C0C0"/>
                  </a:outerShdw>
                </a:effectLst>
              </a:rPr>
              <a:t>《</a:t>
            </a:r>
            <a:r>
              <a:rPr lang="zh-CN" altLang="en-US" sz="2400" b="1" dirty="0">
                <a:solidFill>
                  <a:srgbClr val="0070C0"/>
                </a:solidFill>
                <a:effectLst>
                  <a:outerShdw blurRad="38100" dist="38100" dir="2700000" algn="tl">
                    <a:srgbClr val="C0C0C0"/>
                  </a:outerShdw>
                </a:effectLst>
              </a:rPr>
              <a:t>完美未来</a:t>
            </a:r>
            <a:r>
              <a:rPr lang="en-US" altLang="zh-CN" sz="2400" b="1" dirty="0">
                <a:solidFill>
                  <a:srgbClr val="0070C0"/>
                </a:solidFill>
                <a:effectLst>
                  <a:outerShdw blurRad="38100" dist="38100" dir="2700000" algn="tl">
                    <a:srgbClr val="C0C0C0"/>
                  </a:outerShdw>
                </a:effectLst>
              </a:rPr>
              <a:t>》</a:t>
            </a:r>
            <a:endParaRPr lang="zh-CN" altLang="en-US" sz="2400" b="1" dirty="0">
              <a:solidFill>
                <a:srgbClr val="003366"/>
              </a:solidFill>
              <a:effectLst>
                <a:outerShdw blurRad="38100" dist="38100" dir="2700000" algn="tl">
                  <a:srgbClr val="C0C0C0"/>
                </a:outerShdw>
              </a:effectLst>
            </a:endParaRPr>
          </a:p>
        </p:txBody>
      </p:sp>
      <p:sp>
        <p:nvSpPr>
          <p:cNvPr id="5" name="Text Box 9"/>
          <p:cNvSpPr txBox="1">
            <a:spLocks noChangeArrowheads="1"/>
          </p:cNvSpPr>
          <p:nvPr/>
        </p:nvSpPr>
        <p:spPr bwMode="auto">
          <a:xfrm>
            <a:off x="762000" y="87313"/>
            <a:ext cx="1963738"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defRPr/>
            </a:pPr>
            <a:r>
              <a:rPr lang="en-US" altLang="zh-CN" sz="1800" b="1" dirty="0">
                <a:solidFill>
                  <a:srgbClr val="FFFF00"/>
                </a:solidFill>
                <a:effectLst>
                  <a:outerShdw blurRad="38100" dist="38100" dir="2700000" algn="tl">
                    <a:srgbClr val="000000">
                      <a:alpha val="43137"/>
                    </a:srgbClr>
                  </a:outerShdw>
                </a:effectLst>
              </a:rPr>
              <a:t>2.2 </a:t>
            </a:r>
            <a:r>
              <a:rPr lang="zh-CN" altLang="en-US" sz="1800" b="1" dirty="0">
                <a:solidFill>
                  <a:srgbClr val="FFFF00"/>
                </a:solidFill>
                <a:effectLst>
                  <a:outerShdw blurRad="38100" dist="38100" dir="2700000" algn="tl">
                    <a:srgbClr val="000000">
                      <a:alpha val="43137"/>
                    </a:srgbClr>
                  </a:outerShdw>
                </a:effectLst>
              </a:rPr>
              <a:t>生产运作系统</a:t>
            </a:r>
          </a:p>
        </p:txBody>
      </p:sp>
      <p:graphicFrame>
        <p:nvGraphicFramePr>
          <p:cNvPr id="7" name="Group 34"/>
          <p:cNvGraphicFramePr>
            <a:graphicFrameLocks/>
          </p:cNvGraphicFramePr>
          <p:nvPr/>
        </p:nvGraphicFramePr>
        <p:xfrm>
          <a:off x="266700" y="2743200"/>
          <a:ext cx="8610600" cy="3432175"/>
        </p:xfrm>
        <a:graphic>
          <a:graphicData uri="http://schemas.openxmlformats.org/drawingml/2006/table">
            <a:tbl>
              <a:tblPr/>
              <a:tblGrid>
                <a:gridCol w="1019175">
                  <a:extLst>
                    <a:ext uri="{9D8B030D-6E8A-4147-A177-3AD203B41FA5}">
                      <a16:colId xmlns:a16="http://schemas.microsoft.com/office/drawing/2014/main" val="612634749"/>
                    </a:ext>
                  </a:extLst>
                </a:gridCol>
                <a:gridCol w="3452813">
                  <a:extLst>
                    <a:ext uri="{9D8B030D-6E8A-4147-A177-3AD203B41FA5}">
                      <a16:colId xmlns:a16="http://schemas.microsoft.com/office/drawing/2014/main" val="398736991"/>
                    </a:ext>
                  </a:extLst>
                </a:gridCol>
                <a:gridCol w="4138612">
                  <a:extLst>
                    <a:ext uri="{9D8B030D-6E8A-4147-A177-3AD203B41FA5}">
                      <a16:colId xmlns:a16="http://schemas.microsoft.com/office/drawing/2014/main" val="2199778687"/>
                    </a:ext>
                  </a:extLst>
                </a:gridCol>
              </a:tblGrid>
              <a:tr h="384105">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600" b="1" i="0" u="none" strike="noStrike" cap="none" normalizeH="0" baseline="0" dirty="0">
                          <a:ln>
                            <a:noFill/>
                          </a:ln>
                          <a:solidFill>
                            <a:schemeClr val="accent5">
                              <a:lumMod val="50000"/>
                            </a:schemeClr>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Times New Roman" panose="02020603050405020304" pitchFamily="18" charset="0"/>
                        </a:rPr>
                        <a:t>类型</a:t>
                      </a:r>
                      <a:endParaRPr kumimoji="0" lang="zh-CN" altLang="en-US" sz="1600" b="1" i="0" u="none" strike="noStrike" cap="none" normalizeH="0" baseline="0" dirty="0">
                        <a:ln>
                          <a:noFill/>
                        </a:ln>
                        <a:solidFill>
                          <a:schemeClr val="accent5">
                            <a:lumMod val="50000"/>
                          </a:schemeClr>
                        </a:solidFill>
                        <a:effectLst>
                          <a:outerShdw blurRad="38100" dist="38100" dir="2700000" algn="tl">
                            <a:srgbClr val="000000">
                              <a:alpha val="43137"/>
                            </a:srgbClr>
                          </a:outerShdw>
                        </a:effectLst>
                        <a:latin typeface="华文细黑" panose="02010600040101010101" pitchFamily="2" charset="-122"/>
                        <a:ea typeface="宋体" panose="02010600030101010101" pitchFamily="2" charset="-122"/>
                      </a:endParaRPr>
                    </a:p>
                  </a:txBody>
                  <a:tcPr marT="45727" marB="4572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600" b="1" i="0" u="none" strike="noStrike" cap="none" normalizeH="0" baseline="0" dirty="0">
                          <a:ln>
                            <a:noFill/>
                          </a:ln>
                          <a:solidFill>
                            <a:schemeClr val="accent5">
                              <a:lumMod val="50000"/>
                            </a:schemeClr>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Times New Roman" panose="02020603050405020304" pitchFamily="18" charset="0"/>
                        </a:rPr>
                        <a:t>大批量生产</a:t>
                      </a:r>
                      <a:endParaRPr kumimoji="0" lang="zh-CN" altLang="en-US" sz="1600" b="1" i="0" u="none" strike="noStrike" cap="none" normalizeH="0" baseline="0" dirty="0">
                        <a:ln>
                          <a:noFill/>
                        </a:ln>
                        <a:solidFill>
                          <a:schemeClr val="accent5">
                            <a:lumMod val="50000"/>
                          </a:schemeClr>
                        </a:solidFill>
                        <a:effectLst>
                          <a:outerShdw blurRad="38100" dist="38100" dir="2700000" algn="tl">
                            <a:srgbClr val="000000">
                              <a:alpha val="43137"/>
                            </a:srgbClr>
                          </a:outerShdw>
                        </a:effectLst>
                        <a:latin typeface="华文细黑" panose="02010600040101010101" pitchFamily="2" charset="-122"/>
                        <a:ea typeface="宋体" panose="02010600030101010101" pitchFamily="2" charset="-122"/>
                      </a:endParaRPr>
                    </a:p>
                  </a:txBody>
                  <a:tcPr marT="45727" marB="4572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600" b="1" i="0" u="none" strike="noStrike" cap="none" normalizeH="0" baseline="0" dirty="0">
                          <a:ln>
                            <a:noFill/>
                          </a:ln>
                          <a:solidFill>
                            <a:schemeClr val="accent5">
                              <a:lumMod val="50000"/>
                            </a:schemeClr>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Times New Roman" panose="02020603050405020304" pitchFamily="18" charset="0"/>
                        </a:rPr>
                        <a:t>大批量定制</a:t>
                      </a:r>
                      <a:endParaRPr kumimoji="0" lang="zh-CN" altLang="en-US" sz="1600" b="1" i="0" u="none" strike="noStrike" cap="none" normalizeH="0" baseline="0" dirty="0">
                        <a:ln>
                          <a:noFill/>
                        </a:ln>
                        <a:solidFill>
                          <a:schemeClr val="accent5">
                            <a:lumMod val="50000"/>
                          </a:schemeClr>
                        </a:solidFill>
                        <a:effectLst>
                          <a:outerShdw blurRad="38100" dist="38100" dir="2700000" algn="tl">
                            <a:srgbClr val="000000">
                              <a:alpha val="43137"/>
                            </a:srgbClr>
                          </a:outerShdw>
                        </a:effectLst>
                        <a:latin typeface="华文细黑" panose="02010600040101010101" pitchFamily="2" charset="-122"/>
                        <a:ea typeface="宋体" panose="02010600030101010101" pitchFamily="2" charset="-122"/>
                      </a:endParaRPr>
                    </a:p>
                  </a:txBody>
                  <a:tcPr marT="45727" marB="45727"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910079985"/>
                  </a:ext>
                </a:extLst>
              </a:tr>
              <a:tr h="523953">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600" b="0" i="0" u="none" strike="noStrike" cap="none" normalizeH="0" baseline="0" dirty="0">
                          <a:ln>
                            <a:noFill/>
                          </a:ln>
                          <a:solidFill>
                            <a:schemeClr val="tx1"/>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Times New Roman" panose="02020603050405020304" pitchFamily="18" charset="0"/>
                        </a:rPr>
                        <a:t>焦点</a:t>
                      </a:r>
                      <a:endParaRPr kumimoji="0" lang="zh-CN" altLang="en-US" sz="1600" b="0" i="0" u="none" strike="noStrike" cap="none" normalizeH="0" baseline="0" dirty="0">
                        <a:ln>
                          <a:noFill/>
                        </a:ln>
                        <a:solidFill>
                          <a:schemeClr val="tx1"/>
                        </a:solidFill>
                        <a:effectLst>
                          <a:outerShdw blurRad="38100" dist="38100" dir="2700000" algn="tl">
                            <a:srgbClr val="000000">
                              <a:alpha val="43137"/>
                            </a:srgbClr>
                          </a:outerShdw>
                        </a:effectLst>
                        <a:latin typeface="华文细黑" panose="02010600040101010101" pitchFamily="2" charset="-122"/>
                        <a:ea typeface="宋体" panose="02010600030101010101" pitchFamily="2" charset="-122"/>
                      </a:endParaRPr>
                    </a:p>
                  </a:txBody>
                  <a:tcPr marT="45727" marB="45727"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6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通过加强稳定性和控制来提高效率</a:t>
                      </a:r>
                      <a:endParaRPr kumimoji="0" lang="zh-CN" altLang="en-US" sz="1600" b="0" i="0" u="none" strike="noStrike" cap="none" normalizeH="0" baseline="0">
                        <a:ln>
                          <a:noFill/>
                        </a:ln>
                        <a:solidFill>
                          <a:schemeClr val="tx1"/>
                        </a:solidFill>
                        <a:effectLst/>
                        <a:latin typeface="华文细黑" panose="02010600040101010101" pitchFamily="2" charset="-122"/>
                        <a:ea typeface="宋体" panose="02010600030101010101" pitchFamily="2" charset="-122"/>
                      </a:endParaRPr>
                    </a:p>
                  </a:txBody>
                  <a:tcPr marT="45727" marB="4572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6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通过柔性和快速反应来实现多样化和定制化</a:t>
                      </a:r>
                      <a:endParaRPr kumimoji="0" lang="zh-CN" altLang="en-US" sz="1600" b="0" i="0" u="none" strike="noStrike" cap="none" normalizeH="0" baseline="0">
                        <a:ln>
                          <a:noFill/>
                        </a:ln>
                        <a:solidFill>
                          <a:schemeClr val="tx1"/>
                        </a:solidFill>
                        <a:effectLst/>
                        <a:latin typeface="华文细黑" panose="02010600040101010101" pitchFamily="2" charset="-122"/>
                        <a:ea typeface="宋体" panose="02010600030101010101" pitchFamily="2" charset="-122"/>
                      </a:endParaRPr>
                    </a:p>
                  </a:txBody>
                  <a:tcPr marT="45727" marB="45727"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575256801"/>
                  </a:ext>
                </a:extLst>
              </a:tr>
              <a:tr h="969407">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600" b="0" i="0" u="none" strike="noStrike" cap="none" normalizeH="0" baseline="0" dirty="0">
                          <a:ln>
                            <a:noFill/>
                          </a:ln>
                          <a:solidFill>
                            <a:schemeClr val="tx1"/>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Times New Roman" panose="02020603050405020304" pitchFamily="18" charset="0"/>
                        </a:rPr>
                        <a:t>目标</a:t>
                      </a:r>
                      <a:endParaRPr kumimoji="0" lang="zh-CN" altLang="en-US" sz="1600" b="0" i="0" u="none" strike="noStrike" cap="none" normalizeH="0" baseline="0" dirty="0">
                        <a:ln>
                          <a:noFill/>
                        </a:ln>
                        <a:solidFill>
                          <a:schemeClr val="tx1"/>
                        </a:solidFill>
                        <a:effectLst>
                          <a:outerShdw blurRad="38100" dist="38100" dir="2700000" algn="tl">
                            <a:srgbClr val="000000">
                              <a:alpha val="43137"/>
                            </a:srgbClr>
                          </a:outerShdw>
                        </a:effectLst>
                        <a:latin typeface="华文细黑" panose="02010600040101010101" pitchFamily="2" charset="-122"/>
                        <a:ea typeface="宋体" panose="02010600030101010101" pitchFamily="2" charset="-122"/>
                      </a:endParaRPr>
                    </a:p>
                  </a:txBody>
                  <a:tcPr marT="45727" marB="45727"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6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进行产品和服务的有效生产、销售与配送，尽可能降低产品价格，使几乎每个人都能支付得起</a:t>
                      </a:r>
                      <a:endParaRPr kumimoji="0" lang="zh-CN" altLang="en-US" sz="1600" b="0" i="0" u="none" strike="noStrike" cap="none" normalizeH="0" baseline="0" dirty="0">
                        <a:ln>
                          <a:noFill/>
                        </a:ln>
                        <a:solidFill>
                          <a:schemeClr val="tx1"/>
                        </a:solidFill>
                        <a:effectLst/>
                        <a:latin typeface="华文细黑" panose="02010600040101010101" pitchFamily="2" charset="-122"/>
                        <a:ea typeface="宋体" panose="02010600030101010101" pitchFamily="2" charset="-122"/>
                      </a:endParaRPr>
                    </a:p>
                  </a:txBody>
                  <a:tcPr marT="45727" marB="4572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6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进行产品和服务的有效生产、销售与配送，提高产品的多样性和个性化，使每个人都能找到自己所需要的产品和服务</a:t>
                      </a:r>
                      <a:endParaRPr kumimoji="0" lang="zh-CN" altLang="en-US" sz="1600" b="0" i="0" u="none" strike="noStrike" cap="none" normalizeH="0" baseline="0">
                        <a:ln>
                          <a:noFill/>
                        </a:ln>
                        <a:solidFill>
                          <a:schemeClr val="tx1"/>
                        </a:solidFill>
                        <a:effectLst/>
                        <a:latin typeface="华文细黑" panose="02010600040101010101" pitchFamily="2" charset="-122"/>
                        <a:ea typeface="宋体" panose="02010600030101010101" pitchFamily="2" charset="-122"/>
                      </a:endParaRPr>
                    </a:p>
                  </a:txBody>
                  <a:tcPr marT="45727" marB="45727"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896017865"/>
                  </a:ext>
                </a:extLst>
              </a:tr>
              <a:tr h="1554710">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600" b="0" i="0" u="none" strike="noStrike" cap="none" normalizeH="0" baseline="0" dirty="0">
                          <a:ln>
                            <a:noFill/>
                          </a:ln>
                          <a:solidFill>
                            <a:schemeClr val="tx1"/>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Times New Roman" panose="02020603050405020304" pitchFamily="18" charset="0"/>
                        </a:rPr>
                        <a:t>主要特征</a:t>
                      </a:r>
                      <a:endParaRPr kumimoji="0" lang="zh-CN" altLang="en-US" sz="1600" b="0" i="0" u="none" strike="noStrike" cap="none" normalizeH="0" baseline="0" dirty="0">
                        <a:ln>
                          <a:noFill/>
                        </a:ln>
                        <a:solidFill>
                          <a:schemeClr val="tx1"/>
                        </a:solidFill>
                        <a:effectLst>
                          <a:outerShdw blurRad="38100" dist="38100" dir="2700000" algn="tl">
                            <a:srgbClr val="000000">
                              <a:alpha val="43137"/>
                            </a:srgbClr>
                          </a:outerShdw>
                        </a:effectLst>
                        <a:latin typeface="华文细黑" panose="02010600040101010101" pitchFamily="2" charset="-122"/>
                        <a:ea typeface="宋体" panose="02010600030101010101" pitchFamily="2" charset="-122"/>
                      </a:endParaRPr>
                    </a:p>
                  </a:txBody>
                  <a:tcPr marT="45727" marB="45727"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FF"/>
                    </a:solidFill>
                  </a:tcPr>
                </a:tc>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6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稳定的需求</a:t>
                      </a:r>
                      <a:endPar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6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大的同质市场</a:t>
                      </a:r>
                      <a:endPar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6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低成本，一贯质量，标准产品与服务</a:t>
                      </a:r>
                      <a:endPar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6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较长的产品研发周期</a:t>
                      </a:r>
                      <a:endPar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6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较长的产品生命周期</a:t>
                      </a:r>
                      <a:endParaRPr kumimoji="0" lang="zh-CN" altLang="en-US" sz="1600" b="0" i="0" u="none" strike="noStrike" cap="none" normalizeH="0" baseline="0">
                        <a:ln>
                          <a:noFill/>
                        </a:ln>
                        <a:solidFill>
                          <a:schemeClr val="tx1"/>
                        </a:solidFill>
                        <a:effectLst/>
                        <a:latin typeface="华文细黑" panose="02010600040101010101" pitchFamily="2" charset="-122"/>
                        <a:ea typeface="宋体" panose="02010600030101010101" pitchFamily="2" charset="-122"/>
                      </a:endParaRPr>
                    </a:p>
                  </a:txBody>
                  <a:tcPr marT="45727" marB="4572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ct val="50000"/>
                        </a:spcBef>
                        <a:buClr>
                          <a:srgbClr val="AA1054"/>
                        </a:buClr>
                        <a:buSzPct val="60000"/>
                        <a:buFont typeface="Wingdings 3" panose="05040102010807070707" pitchFamily="18" charset="2"/>
                        <a:defRPr sz="1200">
                          <a:solidFill>
                            <a:schemeClr val="tx1"/>
                          </a:solidFill>
                          <a:latin typeface="华文细黑" panose="02010600040101010101" pitchFamily="2" charset="-122"/>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6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多样细分的非同质需求</a:t>
                      </a:r>
                      <a:endParaRPr kumimoji="0" lang="zh-CN" altLang="en-US"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6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小块分割的市场</a:t>
                      </a:r>
                      <a:endParaRPr kumimoji="0" lang="zh-CN" altLang="en-US"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6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低成本、高质量、个性化产品与服务</a:t>
                      </a:r>
                      <a:endParaRPr kumimoji="0" lang="zh-CN" altLang="en-US"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6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较短的产品研发周期</a:t>
                      </a:r>
                      <a:endParaRPr kumimoji="0" lang="zh-CN" altLang="en-US"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20000"/>
                        </a:lnSpc>
                        <a:spcBef>
                          <a:spcPct val="0"/>
                        </a:spcBef>
                        <a:spcAft>
                          <a:spcPct val="0"/>
                        </a:spcAft>
                        <a:buClr>
                          <a:srgbClr val="AA1054"/>
                        </a:buClr>
                        <a:buSzPct val="60000"/>
                        <a:buFont typeface="Wingdings 3" panose="05040102010807070707" pitchFamily="18" charset="2"/>
                        <a:buNone/>
                        <a:tabLst/>
                      </a:pPr>
                      <a:r>
                        <a:rPr kumimoji="0" lang="zh-CN" altLang="en-US" sz="16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较短的产品生命周期</a:t>
                      </a:r>
                      <a:endParaRPr kumimoji="0" lang="zh-CN" altLang="en-US" sz="1600" b="0" i="0" u="none" strike="noStrike" cap="none" normalizeH="0" baseline="0" dirty="0">
                        <a:ln>
                          <a:noFill/>
                        </a:ln>
                        <a:solidFill>
                          <a:schemeClr val="tx1"/>
                        </a:solidFill>
                        <a:effectLst/>
                        <a:latin typeface="华文细黑" panose="02010600040101010101" pitchFamily="2" charset="-122"/>
                        <a:ea typeface="宋体" panose="02010600030101010101" pitchFamily="2" charset="-122"/>
                      </a:endParaRPr>
                    </a:p>
                  </a:txBody>
                  <a:tcPr marT="45727" marB="45727"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042408045"/>
                  </a:ext>
                </a:extLst>
              </a:tr>
            </a:tbl>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59747">
                                            <p:txEl>
                                              <p:pRg st="0" end="0"/>
                                            </p:txEl>
                                          </p:spTgt>
                                        </p:tgtEl>
                                        <p:attrNameLst>
                                          <p:attrName>style.visibility</p:attrName>
                                        </p:attrNameLst>
                                      </p:cBhvr>
                                      <p:to>
                                        <p:strVal val="visible"/>
                                      </p:to>
                                    </p:set>
                                    <p:anim calcmode="lin" valueType="num">
                                      <p:cBhvr additive="base">
                                        <p:cTn id="7" dur="500" fill="hold"/>
                                        <p:tgtEl>
                                          <p:spTgt spid="15974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59747">
                                            <p:txEl>
                                              <p:pRg st="0" end="0"/>
                                            </p:txEl>
                                          </p:spTgt>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159747">
                                            <p:txEl>
                                              <p:pRg st="1" end="1"/>
                                            </p:txEl>
                                          </p:spTgt>
                                        </p:tgtEl>
                                        <p:attrNameLst>
                                          <p:attrName>style.visibility</p:attrName>
                                        </p:attrNameLst>
                                      </p:cBhvr>
                                      <p:to>
                                        <p:strVal val="visible"/>
                                      </p:to>
                                    </p:set>
                                    <p:anim calcmode="lin" valueType="num">
                                      <p:cBhvr additive="base">
                                        <p:cTn id="12" dur="500" fill="hold"/>
                                        <p:tgtEl>
                                          <p:spTgt spid="159747">
                                            <p:txEl>
                                              <p:pRg st="1" end="1"/>
                                            </p:txEl>
                                          </p:spTgt>
                                        </p:tgtEl>
                                        <p:attrNameLst>
                                          <p:attrName>ppt_x</p:attrName>
                                        </p:attrNameLst>
                                      </p:cBhvr>
                                      <p:tavLst>
                                        <p:tav tm="0">
                                          <p:val>
                                            <p:strVal val="0-#ppt_w/2"/>
                                          </p:val>
                                        </p:tav>
                                        <p:tav tm="100000">
                                          <p:val>
                                            <p:strVal val="#ppt_x"/>
                                          </p:val>
                                        </p:tav>
                                      </p:tavLst>
                                    </p:anim>
                                    <p:anim calcmode="lin" valueType="num">
                                      <p:cBhvr additive="base">
                                        <p:cTn id="13" dur="500" fill="hold"/>
                                        <p:tgtEl>
                                          <p:spTgt spid="15974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1" presetClass="entr" presetSubtype="0" fill="hold" nodeType="clickEffect">
                                  <p:stCondLst>
                                    <p:cond delay="0"/>
                                  </p:stCondLst>
                                  <p:childTnLst>
                                    <p:set>
                                      <p:cBhvr>
                                        <p:cTn id="17"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9747" grpId="0" build="p" autoUpdateAnimBg="0" advAuto="0"/>
    </p:bldLst>
  </p:timing>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3842" name="Rectangle 2"/>
          <p:cNvSpPr>
            <a:spLocks noGrp="1" noChangeArrowheads="1"/>
          </p:cNvSpPr>
          <p:nvPr>
            <p:ph type="title"/>
          </p:nvPr>
        </p:nvSpPr>
        <p:spPr>
          <a:xfrm>
            <a:off x="304800" y="685800"/>
            <a:ext cx="8229600" cy="609600"/>
          </a:xfrm>
        </p:spPr>
        <p:txBody>
          <a:bodyPr/>
          <a:lstStyle/>
          <a:p>
            <a:pPr marL="457200" indent="-457200" eaLnBrk="1" hangingPunct="1">
              <a:buFont typeface="Wingdings" panose="05000000000000000000" pitchFamily="2" charset="2"/>
              <a:buChar char="n"/>
              <a:defRPr/>
            </a:pPr>
            <a:r>
              <a:rPr lang="zh-CN" altLang="en-US" sz="2800" b="1" dirty="0">
                <a:solidFill>
                  <a:srgbClr val="FF0000"/>
                </a:solidFill>
                <a:latin typeface="Times New Roman" panose="02020603050405020304" pitchFamily="18" charset="0"/>
                <a:ea typeface="+mn-ea"/>
                <a:cs typeface="+mn-cs"/>
              </a:rPr>
              <a:t>制造的组织模式</a:t>
            </a:r>
          </a:p>
        </p:txBody>
      </p:sp>
      <p:sp>
        <p:nvSpPr>
          <p:cNvPr id="163843" name="Rectangle 3"/>
          <p:cNvSpPr>
            <a:spLocks noGrp="1" noChangeArrowheads="1"/>
          </p:cNvSpPr>
          <p:nvPr>
            <p:ph type="body" idx="1"/>
          </p:nvPr>
        </p:nvSpPr>
        <p:spPr>
          <a:xfrm>
            <a:off x="457200" y="1447800"/>
            <a:ext cx="8534400" cy="5181600"/>
          </a:xfrm>
        </p:spPr>
        <p:txBody>
          <a:bodyPr/>
          <a:lstStyle/>
          <a:p>
            <a:pPr eaLnBrk="1" hangingPunct="1">
              <a:lnSpc>
                <a:spcPct val="150000"/>
              </a:lnSpc>
              <a:spcBef>
                <a:spcPct val="0"/>
              </a:spcBef>
              <a:buClr>
                <a:schemeClr val="tx1"/>
              </a:buClr>
              <a:buFont typeface="Marlett" pitchFamily="2" charset="2"/>
              <a:buChar char="2"/>
            </a:pPr>
            <a:r>
              <a:rPr lang="zh-CN" altLang="en-US" sz="2400" b="1">
                <a:solidFill>
                  <a:srgbClr val="003366"/>
                </a:solidFill>
              </a:rPr>
              <a:t>制造的组织模式</a:t>
            </a:r>
            <a:r>
              <a:rPr lang="en-US" altLang="zh-CN" sz="2400" b="1">
                <a:solidFill>
                  <a:srgbClr val="003366"/>
                </a:solidFill>
              </a:rPr>
              <a:t>, </a:t>
            </a:r>
            <a:r>
              <a:rPr lang="zh-CN" altLang="en-US" sz="2400" b="1">
                <a:solidFill>
                  <a:srgbClr val="003366"/>
                </a:solidFill>
              </a:rPr>
              <a:t>体现生产制造的目的</a:t>
            </a:r>
            <a:endParaRPr lang="en-US" altLang="zh-CN" sz="2400" b="1">
              <a:solidFill>
                <a:srgbClr val="003366"/>
              </a:solidFill>
            </a:endParaRPr>
          </a:p>
          <a:p>
            <a:pPr eaLnBrk="1" hangingPunct="1">
              <a:lnSpc>
                <a:spcPct val="150000"/>
              </a:lnSpc>
              <a:spcBef>
                <a:spcPct val="0"/>
              </a:spcBef>
              <a:buClr>
                <a:schemeClr val="tx1"/>
              </a:buClr>
              <a:buFont typeface="Marlett" pitchFamily="2" charset="2"/>
              <a:buChar char="2"/>
            </a:pPr>
            <a:endParaRPr lang="zh-CN" altLang="en-US" sz="2000" b="1">
              <a:solidFill>
                <a:srgbClr val="003366"/>
              </a:solidFill>
            </a:endParaRPr>
          </a:p>
          <a:p>
            <a:pPr eaLnBrk="1" hangingPunct="1">
              <a:lnSpc>
                <a:spcPct val="150000"/>
              </a:lnSpc>
              <a:spcBef>
                <a:spcPct val="0"/>
              </a:spcBef>
              <a:buClr>
                <a:schemeClr val="tx1"/>
              </a:buClr>
              <a:buFont typeface="Marlett" pitchFamily="2" charset="2"/>
              <a:buChar char="2"/>
            </a:pPr>
            <a:r>
              <a:rPr lang="zh-CN" altLang="en-US" sz="2400" b="1">
                <a:solidFill>
                  <a:srgbClr val="003366"/>
                </a:solidFill>
              </a:rPr>
              <a:t>订货生产</a:t>
            </a:r>
            <a:r>
              <a:rPr lang="en-US" altLang="zh-CN" sz="2400" b="1">
                <a:solidFill>
                  <a:srgbClr val="003366"/>
                </a:solidFill>
              </a:rPr>
              <a:t>(Make To Order, MTO)</a:t>
            </a:r>
          </a:p>
          <a:p>
            <a:pPr lvl="1" eaLnBrk="1" hangingPunct="1">
              <a:lnSpc>
                <a:spcPct val="150000"/>
              </a:lnSpc>
              <a:spcBef>
                <a:spcPct val="0"/>
              </a:spcBef>
              <a:buClr>
                <a:schemeClr val="tx1"/>
              </a:buClr>
              <a:buFont typeface="Marlett" pitchFamily="2" charset="2"/>
              <a:buChar char="2"/>
            </a:pPr>
            <a:r>
              <a:rPr lang="zh-CN" altLang="en-US" sz="2000"/>
              <a:t>保持少量成品库存，根据订单组织生产，核心是生产计划与控制</a:t>
            </a:r>
          </a:p>
          <a:p>
            <a:pPr eaLnBrk="1" hangingPunct="1">
              <a:lnSpc>
                <a:spcPct val="150000"/>
              </a:lnSpc>
              <a:spcBef>
                <a:spcPct val="0"/>
              </a:spcBef>
              <a:buClr>
                <a:schemeClr val="tx1"/>
              </a:buClr>
              <a:buFont typeface="Marlett" pitchFamily="2" charset="2"/>
              <a:buChar char="2"/>
            </a:pPr>
            <a:r>
              <a:rPr lang="zh-CN" altLang="en-US" sz="2400" b="1">
                <a:solidFill>
                  <a:srgbClr val="003366"/>
                </a:solidFill>
              </a:rPr>
              <a:t>订货组装</a:t>
            </a:r>
            <a:r>
              <a:rPr lang="en-US" altLang="zh-CN" sz="2400" b="1">
                <a:solidFill>
                  <a:srgbClr val="003366"/>
                </a:solidFill>
              </a:rPr>
              <a:t>(Assemble To Order, ATO)</a:t>
            </a:r>
          </a:p>
          <a:p>
            <a:pPr lvl="1" eaLnBrk="1" hangingPunct="1">
              <a:lnSpc>
                <a:spcPct val="150000"/>
              </a:lnSpc>
              <a:spcBef>
                <a:spcPct val="0"/>
              </a:spcBef>
              <a:buClr>
                <a:schemeClr val="tx1"/>
              </a:buClr>
              <a:buFont typeface="Marlett" pitchFamily="2" charset="2"/>
              <a:buChar char="2"/>
            </a:pPr>
            <a:r>
              <a:rPr lang="zh-CN" altLang="en-US" sz="2000"/>
              <a:t>根据订单，由现有库存的零部件组装而成</a:t>
            </a:r>
          </a:p>
          <a:p>
            <a:pPr eaLnBrk="1" hangingPunct="1">
              <a:lnSpc>
                <a:spcPct val="150000"/>
              </a:lnSpc>
              <a:spcBef>
                <a:spcPct val="0"/>
              </a:spcBef>
              <a:buClr>
                <a:schemeClr val="tx1"/>
              </a:buClr>
              <a:buFont typeface="Marlett" pitchFamily="2" charset="2"/>
              <a:buChar char="2"/>
            </a:pPr>
            <a:r>
              <a:rPr lang="zh-CN" altLang="en-US" sz="2400" b="1">
                <a:solidFill>
                  <a:srgbClr val="003366"/>
                </a:solidFill>
              </a:rPr>
              <a:t>专项生产</a:t>
            </a:r>
            <a:r>
              <a:rPr lang="en-US" altLang="zh-CN" sz="2400" b="1">
                <a:solidFill>
                  <a:srgbClr val="003366"/>
                </a:solidFill>
              </a:rPr>
              <a:t>(Engineering To Order, ETO) </a:t>
            </a:r>
          </a:p>
          <a:p>
            <a:pPr lvl="1" eaLnBrk="1" hangingPunct="1">
              <a:lnSpc>
                <a:spcPct val="150000"/>
              </a:lnSpc>
              <a:spcBef>
                <a:spcPct val="0"/>
              </a:spcBef>
              <a:buClr>
                <a:schemeClr val="tx1"/>
              </a:buClr>
              <a:buFont typeface="Marlett" pitchFamily="2" charset="2"/>
              <a:buChar char="2"/>
            </a:pPr>
            <a:r>
              <a:rPr lang="zh-CN" altLang="en-US" sz="2000"/>
              <a:t>涵盖设计，交货期较长</a:t>
            </a:r>
          </a:p>
          <a:p>
            <a:pPr eaLnBrk="1" hangingPunct="1">
              <a:lnSpc>
                <a:spcPct val="150000"/>
              </a:lnSpc>
              <a:spcBef>
                <a:spcPct val="0"/>
              </a:spcBef>
              <a:buClr>
                <a:schemeClr val="tx1"/>
              </a:buClr>
              <a:buFont typeface="Marlett" pitchFamily="2" charset="2"/>
              <a:buChar char="2"/>
            </a:pPr>
            <a:r>
              <a:rPr lang="zh-CN" altLang="en-US" sz="2400" b="1">
                <a:solidFill>
                  <a:srgbClr val="003366"/>
                </a:solidFill>
              </a:rPr>
              <a:t>备货生产</a:t>
            </a:r>
            <a:r>
              <a:rPr lang="en-US" altLang="zh-CN" sz="2400" b="1">
                <a:solidFill>
                  <a:srgbClr val="003366"/>
                </a:solidFill>
              </a:rPr>
              <a:t>(Make To Stock, MTS)</a:t>
            </a:r>
          </a:p>
          <a:p>
            <a:pPr lvl="1" eaLnBrk="1" hangingPunct="1">
              <a:lnSpc>
                <a:spcPct val="150000"/>
              </a:lnSpc>
              <a:spcBef>
                <a:spcPct val="0"/>
              </a:spcBef>
              <a:buClr>
                <a:schemeClr val="tx1"/>
              </a:buClr>
              <a:buFont typeface="Marlett" pitchFamily="2" charset="2"/>
              <a:buChar char="2"/>
            </a:pPr>
            <a:r>
              <a:rPr lang="zh-CN" altLang="en-US" sz="2000"/>
              <a:t>在接受订单之前，基于需求预测组织生产。</a:t>
            </a:r>
          </a:p>
        </p:txBody>
      </p:sp>
      <p:sp>
        <p:nvSpPr>
          <p:cNvPr id="5" name="Text Box 9"/>
          <p:cNvSpPr txBox="1">
            <a:spLocks noChangeArrowheads="1"/>
          </p:cNvSpPr>
          <p:nvPr/>
        </p:nvSpPr>
        <p:spPr bwMode="auto">
          <a:xfrm>
            <a:off x="762000" y="87313"/>
            <a:ext cx="1963738"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defRPr/>
            </a:pPr>
            <a:r>
              <a:rPr lang="en-US" altLang="zh-CN" sz="1800" b="1" dirty="0">
                <a:solidFill>
                  <a:srgbClr val="FFFF00"/>
                </a:solidFill>
                <a:effectLst>
                  <a:outerShdw blurRad="38100" dist="38100" dir="2700000" algn="tl">
                    <a:srgbClr val="000000">
                      <a:alpha val="43137"/>
                    </a:srgbClr>
                  </a:outerShdw>
                </a:effectLst>
              </a:rPr>
              <a:t>2.2 </a:t>
            </a:r>
            <a:r>
              <a:rPr lang="zh-CN" altLang="en-US" sz="1800" b="1" dirty="0">
                <a:solidFill>
                  <a:srgbClr val="FFFF00"/>
                </a:solidFill>
                <a:effectLst>
                  <a:outerShdw blurRad="38100" dist="38100" dir="2700000" algn="tl">
                    <a:srgbClr val="000000">
                      <a:alpha val="43137"/>
                    </a:srgbClr>
                  </a:outerShdw>
                </a:effectLst>
              </a:rPr>
              <a:t>生产运作系统</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63843">
                                            <p:txEl>
                                              <p:pRg st="0" end="0"/>
                                            </p:txEl>
                                          </p:spTgt>
                                        </p:tgtEl>
                                        <p:attrNameLst>
                                          <p:attrName>style.visibility</p:attrName>
                                        </p:attrNameLst>
                                      </p:cBhvr>
                                      <p:to>
                                        <p:strVal val="visible"/>
                                      </p:to>
                                    </p:set>
                                    <p:anim calcmode="lin" valueType="num">
                                      <p:cBhvr additive="base">
                                        <p:cTn id="7" dur="500" fill="hold"/>
                                        <p:tgtEl>
                                          <p:spTgt spid="16384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6384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63843">
                                            <p:txEl>
                                              <p:pRg st="2" end="2"/>
                                            </p:txEl>
                                          </p:spTgt>
                                        </p:tgtEl>
                                        <p:attrNameLst>
                                          <p:attrName>style.visibility</p:attrName>
                                        </p:attrNameLst>
                                      </p:cBhvr>
                                      <p:to>
                                        <p:strVal val="visible"/>
                                      </p:to>
                                    </p:set>
                                    <p:anim calcmode="lin" valueType="num">
                                      <p:cBhvr additive="base">
                                        <p:cTn id="13" dur="500" fill="hold"/>
                                        <p:tgtEl>
                                          <p:spTgt spid="163843">
                                            <p:txEl>
                                              <p:pRg st="2" end="2"/>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6384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63843">
                                            <p:txEl>
                                              <p:pRg st="3" end="3"/>
                                            </p:txEl>
                                          </p:spTgt>
                                        </p:tgtEl>
                                        <p:attrNameLst>
                                          <p:attrName>style.visibility</p:attrName>
                                        </p:attrNameLst>
                                      </p:cBhvr>
                                      <p:to>
                                        <p:strVal val="visible"/>
                                      </p:to>
                                    </p:set>
                                    <p:anim calcmode="lin" valueType="num">
                                      <p:cBhvr additive="base">
                                        <p:cTn id="19" dur="500" fill="hold"/>
                                        <p:tgtEl>
                                          <p:spTgt spid="163843">
                                            <p:txEl>
                                              <p:pRg st="3" end="3"/>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63843">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63843">
                                            <p:txEl>
                                              <p:pRg st="4" end="4"/>
                                            </p:txEl>
                                          </p:spTgt>
                                        </p:tgtEl>
                                        <p:attrNameLst>
                                          <p:attrName>style.visibility</p:attrName>
                                        </p:attrNameLst>
                                      </p:cBhvr>
                                      <p:to>
                                        <p:strVal val="visible"/>
                                      </p:to>
                                    </p:set>
                                    <p:anim calcmode="lin" valueType="num">
                                      <p:cBhvr additive="base">
                                        <p:cTn id="25" dur="500" fill="hold"/>
                                        <p:tgtEl>
                                          <p:spTgt spid="163843">
                                            <p:txEl>
                                              <p:pRg st="4" end="4"/>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63843">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63843">
                                            <p:txEl>
                                              <p:pRg st="5" end="5"/>
                                            </p:txEl>
                                          </p:spTgt>
                                        </p:tgtEl>
                                        <p:attrNameLst>
                                          <p:attrName>style.visibility</p:attrName>
                                        </p:attrNameLst>
                                      </p:cBhvr>
                                      <p:to>
                                        <p:strVal val="visible"/>
                                      </p:to>
                                    </p:set>
                                    <p:anim calcmode="lin" valueType="num">
                                      <p:cBhvr additive="base">
                                        <p:cTn id="31" dur="500" fill="hold"/>
                                        <p:tgtEl>
                                          <p:spTgt spid="163843">
                                            <p:txEl>
                                              <p:pRg st="5" end="5"/>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63843">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163843">
                                            <p:txEl>
                                              <p:pRg st="6" end="6"/>
                                            </p:txEl>
                                          </p:spTgt>
                                        </p:tgtEl>
                                        <p:attrNameLst>
                                          <p:attrName>style.visibility</p:attrName>
                                        </p:attrNameLst>
                                      </p:cBhvr>
                                      <p:to>
                                        <p:strVal val="visible"/>
                                      </p:to>
                                    </p:set>
                                    <p:anim calcmode="lin" valueType="num">
                                      <p:cBhvr additive="base">
                                        <p:cTn id="37" dur="500" fill="hold"/>
                                        <p:tgtEl>
                                          <p:spTgt spid="163843">
                                            <p:txEl>
                                              <p:pRg st="6" end="6"/>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163843">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163843">
                                            <p:txEl>
                                              <p:pRg st="7" end="7"/>
                                            </p:txEl>
                                          </p:spTgt>
                                        </p:tgtEl>
                                        <p:attrNameLst>
                                          <p:attrName>style.visibility</p:attrName>
                                        </p:attrNameLst>
                                      </p:cBhvr>
                                      <p:to>
                                        <p:strVal val="visible"/>
                                      </p:to>
                                    </p:set>
                                    <p:anim calcmode="lin" valueType="num">
                                      <p:cBhvr additive="base">
                                        <p:cTn id="43" dur="500" fill="hold"/>
                                        <p:tgtEl>
                                          <p:spTgt spid="163843">
                                            <p:txEl>
                                              <p:pRg st="7" end="7"/>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163843">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163843">
                                            <p:txEl>
                                              <p:pRg st="8" end="8"/>
                                            </p:txEl>
                                          </p:spTgt>
                                        </p:tgtEl>
                                        <p:attrNameLst>
                                          <p:attrName>style.visibility</p:attrName>
                                        </p:attrNameLst>
                                      </p:cBhvr>
                                      <p:to>
                                        <p:strVal val="visible"/>
                                      </p:to>
                                    </p:set>
                                    <p:anim calcmode="lin" valueType="num">
                                      <p:cBhvr additive="base">
                                        <p:cTn id="49" dur="500" fill="hold"/>
                                        <p:tgtEl>
                                          <p:spTgt spid="163843">
                                            <p:txEl>
                                              <p:pRg st="8" end="8"/>
                                            </p:tx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163843">
                                            <p:txEl>
                                              <p:pRg st="8" end="8"/>
                                            </p:txEl>
                                          </p:spTgt>
                                        </p:tgtEl>
                                        <p:attrNameLst>
                                          <p:attrName>ppt_y</p:attrName>
                                        </p:attrNameLst>
                                      </p:cBhvr>
                                      <p:tavLst>
                                        <p:tav tm="0">
                                          <p:val>
                                            <p:strVal val="#ppt_y"/>
                                          </p:val>
                                        </p:tav>
                                        <p:tav tm="100000">
                                          <p:val>
                                            <p:strVal val="#ppt_y"/>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2" presetClass="entr" presetSubtype="8" fill="hold" grpId="0" nodeType="clickEffect">
                                  <p:stCondLst>
                                    <p:cond delay="0"/>
                                  </p:stCondLst>
                                  <p:childTnLst>
                                    <p:set>
                                      <p:cBhvr>
                                        <p:cTn id="54" dur="1" fill="hold">
                                          <p:stCondLst>
                                            <p:cond delay="0"/>
                                          </p:stCondLst>
                                        </p:cTn>
                                        <p:tgtEl>
                                          <p:spTgt spid="163843">
                                            <p:txEl>
                                              <p:pRg st="9" end="9"/>
                                            </p:txEl>
                                          </p:spTgt>
                                        </p:tgtEl>
                                        <p:attrNameLst>
                                          <p:attrName>style.visibility</p:attrName>
                                        </p:attrNameLst>
                                      </p:cBhvr>
                                      <p:to>
                                        <p:strVal val="visible"/>
                                      </p:to>
                                    </p:set>
                                    <p:anim calcmode="lin" valueType="num">
                                      <p:cBhvr additive="base">
                                        <p:cTn id="55" dur="500" fill="hold"/>
                                        <p:tgtEl>
                                          <p:spTgt spid="163843">
                                            <p:txEl>
                                              <p:pRg st="9" end="9"/>
                                            </p:txEl>
                                          </p:spTgt>
                                        </p:tgtEl>
                                        <p:attrNameLst>
                                          <p:attrName>ppt_x</p:attrName>
                                        </p:attrNameLst>
                                      </p:cBhvr>
                                      <p:tavLst>
                                        <p:tav tm="0">
                                          <p:val>
                                            <p:strVal val="0-#ppt_w/2"/>
                                          </p:val>
                                        </p:tav>
                                        <p:tav tm="100000">
                                          <p:val>
                                            <p:strVal val="#ppt_x"/>
                                          </p:val>
                                        </p:tav>
                                      </p:tavLst>
                                    </p:anim>
                                    <p:anim calcmode="lin" valueType="num">
                                      <p:cBhvr additive="base">
                                        <p:cTn id="56" dur="500" fill="hold"/>
                                        <p:tgtEl>
                                          <p:spTgt spid="163843">
                                            <p:txEl>
                                              <p:pRg st="9" end="9"/>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43" grpId="0" build="p" autoUpdateAnimBg="0" advAuto="0"/>
    </p:bldLst>
  </p:timing>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3842" name="Rectangle 2"/>
          <p:cNvSpPr>
            <a:spLocks noGrp="1" noChangeArrowheads="1"/>
          </p:cNvSpPr>
          <p:nvPr>
            <p:ph type="title"/>
          </p:nvPr>
        </p:nvSpPr>
        <p:spPr>
          <a:xfrm>
            <a:off x="304800" y="685800"/>
            <a:ext cx="8229600" cy="609600"/>
          </a:xfrm>
        </p:spPr>
        <p:txBody>
          <a:bodyPr/>
          <a:lstStyle/>
          <a:p>
            <a:pPr marL="457200" indent="-457200" eaLnBrk="1" hangingPunct="1">
              <a:buFont typeface="Wingdings" panose="05000000000000000000" pitchFamily="2" charset="2"/>
              <a:buChar char="n"/>
              <a:defRPr/>
            </a:pPr>
            <a:r>
              <a:rPr lang="zh-CN" altLang="en-US" sz="2800" b="1" dirty="0">
                <a:solidFill>
                  <a:srgbClr val="FF0000"/>
                </a:solidFill>
                <a:latin typeface="Times New Roman" panose="02020603050405020304" pitchFamily="18" charset="0"/>
                <a:ea typeface="+mn-ea"/>
                <a:cs typeface="+mn-cs"/>
              </a:rPr>
              <a:t>制造的组织模式</a:t>
            </a:r>
          </a:p>
        </p:txBody>
      </p:sp>
      <p:sp>
        <p:nvSpPr>
          <p:cNvPr id="5" name="Text Box 9"/>
          <p:cNvSpPr txBox="1">
            <a:spLocks noChangeArrowheads="1"/>
          </p:cNvSpPr>
          <p:nvPr/>
        </p:nvSpPr>
        <p:spPr bwMode="auto">
          <a:xfrm>
            <a:off x="762000" y="87313"/>
            <a:ext cx="1963738"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defRPr/>
            </a:pPr>
            <a:r>
              <a:rPr lang="en-US" altLang="zh-CN" sz="1800" b="1" dirty="0">
                <a:solidFill>
                  <a:srgbClr val="FFFF00"/>
                </a:solidFill>
                <a:effectLst>
                  <a:outerShdw blurRad="38100" dist="38100" dir="2700000" algn="tl">
                    <a:srgbClr val="000000">
                      <a:alpha val="43137"/>
                    </a:srgbClr>
                  </a:outerShdw>
                </a:effectLst>
              </a:rPr>
              <a:t>2.2 </a:t>
            </a:r>
            <a:r>
              <a:rPr lang="zh-CN" altLang="en-US" sz="1800" b="1" dirty="0">
                <a:solidFill>
                  <a:srgbClr val="FFFF00"/>
                </a:solidFill>
                <a:effectLst>
                  <a:outerShdw blurRad="38100" dist="38100" dir="2700000" algn="tl">
                    <a:srgbClr val="000000">
                      <a:alpha val="43137"/>
                    </a:srgbClr>
                  </a:outerShdw>
                </a:effectLst>
              </a:rPr>
              <a:t>生产运作系统</a:t>
            </a:r>
          </a:p>
        </p:txBody>
      </p:sp>
      <p:graphicFrame>
        <p:nvGraphicFramePr>
          <p:cNvPr id="71684" name="Object 3"/>
          <p:cNvGraphicFramePr>
            <a:graphicFrameLocks noChangeAspect="1"/>
          </p:cNvGraphicFramePr>
          <p:nvPr/>
        </p:nvGraphicFramePr>
        <p:xfrm>
          <a:off x="533400" y="1557338"/>
          <a:ext cx="8077200" cy="4724400"/>
        </p:xfrm>
        <a:graphic>
          <a:graphicData uri="http://schemas.openxmlformats.org/presentationml/2006/ole">
            <mc:AlternateContent xmlns:mc="http://schemas.openxmlformats.org/markup-compatibility/2006">
              <mc:Choice xmlns:v="urn:schemas-microsoft-com:vml" Requires="v">
                <p:oleObj spid="_x0000_s71716" name="Visio" r:id="rId3" imgW="6490789" imgH="3646753" progId="Visio.Drawing.11">
                  <p:embed/>
                </p:oleObj>
              </mc:Choice>
              <mc:Fallback>
                <p:oleObj name="Visio" r:id="rId3" imgW="6490789" imgH="3646753" progId="Visio.Drawing.11">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3400" y="1557338"/>
                        <a:ext cx="8077200" cy="472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8658" name="Rectangle 2"/>
          <p:cNvSpPr>
            <a:spLocks noGrp="1" noChangeArrowheads="1"/>
          </p:cNvSpPr>
          <p:nvPr>
            <p:ph type="title"/>
          </p:nvPr>
        </p:nvSpPr>
        <p:spPr>
          <a:xfrm>
            <a:off x="304800" y="685800"/>
            <a:ext cx="8229600" cy="609600"/>
          </a:xfrm>
        </p:spPr>
        <p:txBody>
          <a:bodyPr/>
          <a:lstStyle/>
          <a:p>
            <a:pPr marL="457200" indent="-457200" eaLnBrk="1" hangingPunct="1">
              <a:buFont typeface="Wingdings" panose="05000000000000000000" pitchFamily="2" charset="2"/>
              <a:buChar char="n"/>
              <a:defRPr/>
            </a:pPr>
            <a:r>
              <a:rPr lang="zh-CN" altLang="en-US" sz="2800" b="1" dirty="0">
                <a:solidFill>
                  <a:srgbClr val="FF0000"/>
                </a:solidFill>
                <a:latin typeface="Times New Roman" panose="02020603050405020304" pitchFamily="18" charset="0"/>
                <a:ea typeface="+mn-ea"/>
                <a:cs typeface="+mn-cs"/>
              </a:rPr>
              <a:t>生产计划体系</a:t>
            </a:r>
          </a:p>
        </p:txBody>
      </p:sp>
      <p:sp>
        <p:nvSpPr>
          <p:cNvPr id="198659" name="Rectangle 3"/>
          <p:cNvSpPr>
            <a:spLocks noGrp="1" noChangeArrowheads="1"/>
          </p:cNvSpPr>
          <p:nvPr>
            <p:ph type="body" idx="1"/>
          </p:nvPr>
        </p:nvSpPr>
        <p:spPr>
          <a:xfrm>
            <a:off x="457200" y="1447800"/>
            <a:ext cx="8534400" cy="5181600"/>
          </a:xfrm>
        </p:spPr>
        <p:txBody>
          <a:bodyPr/>
          <a:lstStyle/>
          <a:p>
            <a:pPr eaLnBrk="1" hangingPunct="1">
              <a:lnSpc>
                <a:spcPct val="150000"/>
              </a:lnSpc>
              <a:spcBef>
                <a:spcPct val="0"/>
              </a:spcBef>
              <a:buClr>
                <a:schemeClr val="tx1"/>
              </a:buClr>
              <a:buFont typeface="Marlett" pitchFamily="2" charset="2"/>
              <a:buChar char="2"/>
            </a:pPr>
            <a:r>
              <a:rPr lang="zh-CN" altLang="en-US" sz="2000"/>
              <a:t>生产管理</a:t>
            </a:r>
            <a:r>
              <a:rPr lang="zh-CN" altLang="en-US" sz="2000" b="1">
                <a:solidFill>
                  <a:srgbClr val="003366"/>
                </a:solidFill>
              </a:rPr>
              <a:t>以生产计划为主线</a:t>
            </a:r>
            <a:r>
              <a:rPr lang="zh-CN" altLang="en-US" sz="2000"/>
              <a:t>，使各种资源按计划所规定的流程、时间和地点进行合理配置与管理。</a:t>
            </a:r>
          </a:p>
          <a:p>
            <a:pPr eaLnBrk="1" hangingPunct="1">
              <a:lnSpc>
                <a:spcPct val="150000"/>
              </a:lnSpc>
              <a:spcBef>
                <a:spcPct val="0"/>
              </a:spcBef>
              <a:buClr>
                <a:schemeClr val="tx1"/>
              </a:buClr>
              <a:buFont typeface="Marlett" pitchFamily="2" charset="2"/>
              <a:buChar char="2"/>
            </a:pPr>
            <a:endParaRPr lang="zh-CN" altLang="en-US" sz="2000"/>
          </a:p>
          <a:p>
            <a:pPr eaLnBrk="1" hangingPunct="1">
              <a:lnSpc>
                <a:spcPct val="150000"/>
              </a:lnSpc>
              <a:spcBef>
                <a:spcPct val="0"/>
              </a:spcBef>
              <a:buClr>
                <a:schemeClr val="tx1"/>
              </a:buClr>
              <a:buFont typeface="Marlett" pitchFamily="2" charset="2"/>
              <a:buChar char="2"/>
            </a:pPr>
            <a:r>
              <a:rPr lang="zh-CN" altLang="en-US" sz="2000"/>
              <a:t>编制生产计划：根据市场的需求和企业的技术、设备、人力、物资、动力等资源能力条件，合理地安排计划期内应当生产的品种、产量和出产进度，充分满足用户的需要。</a:t>
            </a:r>
          </a:p>
          <a:p>
            <a:pPr eaLnBrk="1" hangingPunct="1">
              <a:lnSpc>
                <a:spcPct val="150000"/>
              </a:lnSpc>
              <a:spcBef>
                <a:spcPct val="0"/>
              </a:spcBef>
              <a:buClr>
                <a:schemeClr val="tx1"/>
              </a:buClr>
              <a:buFont typeface="Marlett" pitchFamily="2" charset="2"/>
              <a:buChar char="2"/>
            </a:pPr>
            <a:endParaRPr lang="zh-CN" altLang="en-US" sz="2000"/>
          </a:p>
          <a:p>
            <a:pPr eaLnBrk="1" hangingPunct="1">
              <a:lnSpc>
                <a:spcPct val="150000"/>
              </a:lnSpc>
              <a:spcBef>
                <a:spcPct val="0"/>
              </a:spcBef>
              <a:buClr>
                <a:schemeClr val="tx1"/>
              </a:buClr>
              <a:buFont typeface="Marlett" pitchFamily="2" charset="2"/>
              <a:buChar char="2"/>
            </a:pPr>
            <a:r>
              <a:rPr lang="zh-CN" altLang="en-US" sz="2000"/>
              <a:t>系统的观点：</a:t>
            </a:r>
            <a:r>
              <a:rPr lang="zh-CN" altLang="en-US" sz="2000" b="1">
                <a:solidFill>
                  <a:srgbClr val="003366"/>
                </a:solidFill>
              </a:rPr>
              <a:t>生产计划是一个递阶系统</a:t>
            </a:r>
            <a:r>
              <a:rPr lang="zh-CN" altLang="en-US" sz="2000"/>
              <a:t>，可以从时限上分为长期计划、中期计划和短期计划</a:t>
            </a:r>
            <a:r>
              <a:rPr lang="en-US" altLang="zh-CN" sz="2000"/>
              <a:t>3</a:t>
            </a:r>
            <a:r>
              <a:rPr lang="zh-CN" altLang="en-US" sz="2000"/>
              <a:t>种类型，从组织结构上分为战略层、管理层、作业层</a:t>
            </a:r>
            <a:r>
              <a:rPr lang="en-US" altLang="zh-CN" sz="2000"/>
              <a:t>3</a:t>
            </a:r>
            <a:r>
              <a:rPr lang="zh-CN" altLang="en-US" sz="2000"/>
              <a:t>个计划层次。</a:t>
            </a:r>
          </a:p>
        </p:txBody>
      </p:sp>
      <p:sp>
        <p:nvSpPr>
          <p:cNvPr id="5" name="Text Box 9"/>
          <p:cNvSpPr txBox="1">
            <a:spLocks noChangeArrowheads="1"/>
          </p:cNvSpPr>
          <p:nvPr/>
        </p:nvSpPr>
        <p:spPr bwMode="auto">
          <a:xfrm>
            <a:off x="762000" y="87313"/>
            <a:ext cx="1963738"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defRPr/>
            </a:pPr>
            <a:r>
              <a:rPr lang="en-US" altLang="zh-CN" sz="1800" b="1" dirty="0">
                <a:solidFill>
                  <a:srgbClr val="FFFF00"/>
                </a:solidFill>
                <a:effectLst>
                  <a:outerShdw blurRad="38100" dist="38100" dir="2700000" algn="tl">
                    <a:srgbClr val="000000">
                      <a:alpha val="43137"/>
                    </a:srgbClr>
                  </a:outerShdw>
                </a:effectLst>
              </a:rPr>
              <a:t>2.2 </a:t>
            </a:r>
            <a:r>
              <a:rPr lang="zh-CN" altLang="en-US" sz="1800" b="1" dirty="0">
                <a:solidFill>
                  <a:srgbClr val="FFFF00"/>
                </a:solidFill>
                <a:effectLst>
                  <a:outerShdw blurRad="38100" dist="38100" dir="2700000" algn="tl">
                    <a:srgbClr val="000000">
                      <a:alpha val="43137"/>
                    </a:srgbClr>
                  </a:outerShdw>
                </a:effectLst>
              </a:rPr>
              <a:t>生产运作系统</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98659">
                                            <p:txEl>
                                              <p:pRg st="0" end="0"/>
                                            </p:txEl>
                                          </p:spTgt>
                                        </p:tgtEl>
                                        <p:attrNameLst>
                                          <p:attrName>style.visibility</p:attrName>
                                        </p:attrNameLst>
                                      </p:cBhvr>
                                      <p:to>
                                        <p:strVal val="visible"/>
                                      </p:to>
                                    </p:set>
                                    <p:anim calcmode="lin" valueType="num">
                                      <p:cBhvr additive="base">
                                        <p:cTn id="7" dur="500" fill="hold"/>
                                        <p:tgtEl>
                                          <p:spTgt spid="19865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9865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98659">
                                            <p:txEl>
                                              <p:pRg st="2" end="2"/>
                                            </p:txEl>
                                          </p:spTgt>
                                        </p:tgtEl>
                                        <p:attrNameLst>
                                          <p:attrName>style.visibility</p:attrName>
                                        </p:attrNameLst>
                                      </p:cBhvr>
                                      <p:to>
                                        <p:strVal val="visible"/>
                                      </p:to>
                                    </p:set>
                                    <p:anim calcmode="lin" valueType="num">
                                      <p:cBhvr additive="base">
                                        <p:cTn id="13" dur="500" fill="hold"/>
                                        <p:tgtEl>
                                          <p:spTgt spid="198659">
                                            <p:txEl>
                                              <p:pRg st="2" end="2"/>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98659">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98659">
                                            <p:txEl>
                                              <p:pRg st="4" end="4"/>
                                            </p:txEl>
                                          </p:spTgt>
                                        </p:tgtEl>
                                        <p:attrNameLst>
                                          <p:attrName>style.visibility</p:attrName>
                                        </p:attrNameLst>
                                      </p:cBhvr>
                                      <p:to>
                                        <p:strVal val="visible"/>
                                      </p:to>
                                    </p:set>
                                    <p:anim calcmode="lin" valueType="num">
                                      <p:cBhvr additive="base">
                                        <p:cTn id="19" dur="500" fill="hold"/>
                                        <p:tgtEl>
                                          <p:spTgt spid="198659">
                                            <p:txEl>
                                              <p:pRg st="4" end="4"/>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98659">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8659" grpId="0" build="p" autoUpdateAnimBg="0" advAuto="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内容占位符 2"/>
          <p:cNvSpPr>
            <a:spLocks noGrp="1" noChangeArrowheads="1"/>
          </p:cNvSpPr>
          <p:nvPr>
            <p:ph idx="4294967295"/>
          </p:nvPr>
        </p:nvSpPr>
        <p:spPr>
          <a:xfrm>
            <a:off x="342900" y="1219200"/>
            <a:ext cx="8458200" cy="4953000"/>
          </a:xfrm>
        </p:spPr>
        <p:txBody>
          <a:bodyPr/>
          <a:lstStyle/>
          <a:p>
            <a:pPr marL="0" indent="0">
              <a:defRPr/>
            </a:pPr>
            <a:r>
              <a:rPr lang="en-US" altLang="zh-CN" dirty="0">
                <a:effectLst>
                  <a:outerShdw blurRad="38100" dist="38100" dir="2700000" algn="tl">
                    <a:srgbClr val="000000">
                      <a:alpha val="43137"/>
                    </a:srgbClr>
                  </a:outerShdw>
                </a:effectLst>
              </a:rPr>
              <a:t>“</a:t>
            </a:r>
            <a:r>
              <a:rPr lang="zh-CN" altLang="en-US" dirty="0">
                <a:effectLst>
                  <a:outerShdw blurRad="38100" dist="38100" dir="2700000" algn="tl">
                    <a:srgbClr val="000000">
                      <a:alpha val="43137"/>
                    </a:srgbClr>
                  </a:outerShdw>
                </a:effectLst>
              </a:rPr>
              <a:t>凡事豫则立，不豫则废。言前定，则不跲；事前定，则不困；行前定，则不疚；道前定，则不穷。</a:t>
            </a:r>
            <a:r>
              <a:rPr lang="en-US" altLang="zh-CN" dirty="0">
                <a:effectLst>
                  <a:outerShdw blurRad="38100" dist="38100" dir="2700000" algn="tl">
                    <a:srgbClr val="000000">
                      <a:alpha val="43137"/>
                    </a:srgbClr>
                  </a:outerShdw>
                </a:effectLst>
              </a:rPr>
              <a:t>”</a:t>
            </a:r>
          </a:p>
          <a:p>
            <a:pPr marL="0" indent="0" algn="r">
              <a:buFont typeface="Wingdings" panose="05000000000000000000" pitchFamily="2" charset="2"/>
              <a:buNone/>
              <a:defRPr/>
            </a:pPr>
            <a:r>
              <a:rPr lang="en-US" altLang="zh-CN" sz="3600" dirty="0">
                <a:solidFill>
                  <a:srgbClr val="FF0000"/>
                </a:solidFill>
                <a:effectLst>
                  <a:outerShdw blurRad="38100" dist="38100" dir="2700000" algn="tl">
                    <a:srgbClr val="000000">
                      <a:alpha val="43137"/>
                    </a:srgbClr>
                  </a:outerShdw>
                </a:effectLst>
              </a:rPr>
              <a:t>——《</a:t>
            </a:r>
            <a:r>
              <a:rPr lang="zh-CN" altLang="en-US" sz="3600" dirty="0">
                <a:solidFill>
                  <a:srgbClr val="FF0000"/>
                </a:solidFill>
                <a:effectLst>
                  <a:outerShdw blurRad="38100" dist="38100" dir="2700000" algn="tl">
                    <a:srgbClr val="000000">
                      <a:alpha val="43137"/>
                    </a:srgbClr>
                  </a:outerShdw>
                </a:effectLst>
              </a:rPr>
              <a:t>礼记</a:t>
            </a:r>
            <a:r>
              <a:rPr lang="en-US" altLang="zh-CN" sz="3600" dirty="0">
                <a:solidFill>
                  <a:srgbClr val="FF0000"/>
                </a:solidFill>
                <a:effectLst>
                  <a:outerShdw blurRad="38100" dist="38100" dir="2700000" algn="tl">
                    <a:srgbClr val="000000">
                      <a:alpha val="43137"/>
                    </a:srgbClr>
                  </a:outerShdw>
                </a:effectLst>
              </a:rPr>
              <a:t>·</a:t>
            </a:r>
            <a:r>
              <a:rPr lang="zh-CN" altLang="en-US" sz="3600" dirty="0">
                <a:solidFill>
                  <a:srgbClr val="FF0000"/>
                </a:solidFill>
                <a:effectLst>
                  <a:outerShdw blurRad="38100" dist="38100" dir="2700000" algn="tl">
                    <a:srgbClr val="000000">
                      <a:alpha val="43137"/>
                    </a:srgbClr>
                  </a:outerShdw>
                </a:effectLst>
              </a:rPr>
              <a:t>中庸</a:t>
            </a:r>
            <a:r>
              <a:rPr lang="en-US" altLang="zh-CN" sz="3600" dirty="0">
                <a:solidFill>
                  <a:srgbClr val="FF0000"/>
                </a:solidFill>
                <a:effectLst>
                  <a:outerShdw blurRad="38100" dist="38100" dir="2700000" algn="tl">
                    <a:srgbClr val="000000">
                      <a:alpha val="43137"/>
                    </a:srgbClr>
                  </a:outerShdw>
                </a:effectLst>
              </a:rPr>
              <a:t>》</a:t>
            </a:r>
          </a:p>
          <a:p>
            <a:pPr marL="0" indent="0" algn="r">
              <a:defRPr/>
            </a:pPr>
            <a:endParaRPr lang="en-US" altLang="zh-CN" sz="3600" dirty="0">
              <a:solidFill>
                <a:srgbClr val="0000CC"/>
              </a:solidFill>
              <a:effectLst>
                <a:outerShdw blurRad="38100" dist="38100" dir="2700000" algn="tl">
                  <a:srgbClr val="000000">
                    <a:alpha val="43137"/>
                  </a:srgbClr>
                </a:outerShdw>
              </a:effectLst>
            </a:endParaRPr>
          </a:p>
          <a:p>
            <a:pPr marL="0" indent="0">
              <a:defRPr/>
            </a:pPr>
            <a:r>
              <a:rPr lang="zh-CN" altLang="en-US" dirty="0">
                <a:effectLst>
                  <a:outerShdw blurRad="38100" dist="38100" dir="2700000" algn="tl">
                    <a:srgbClr val="000000">
                      <a:alpha val="43137"/>
                    </a:srgbClr>
                  </a:outerShdw>
                </a:effectLst>
              </a:rPr>
              <a:t>“‘</a:t>
            </a:r>
            <a:r>
              <a:rPr lang="zh-CN" altLang="en-US" dirty="0">
                <a:solidFill>
                  <a:schemeClr val="tx1">
                    <a:lumMod val="95000"/>
                    <a:lumOff val="5000"/>
                  </a:schemeClr>
                </a:solidFill>
                <a:effectLst>
                  <a:outerShdw blurRad="38100" dist="38100" dir="2700000" algn="tl">
                    <a:srgbClr val="000000">
                      <a:alpha val="43137"/>
                    </a:srgbClr>
                  </a:outerShdw>
                </a:effectLst>
              </a:rPr>
              <a:t>凡事豫则立，不豫则废</a:t>
            </a:r>
            <a:r>
              <a:rPr lang="zh-CN" altLang="en-US" dirty="0">
                <a:effectLst>
                  <a:outerShdw blurRad="38100" dist="38100" dir="2700000" algn="tl">
                    <a:srgbClr val="000000">
                      <a:alpha val="43137"/>
                    </a:srgbClr>
                  </a:outerShdw>
                </a:effectLst>
              </a:rPr>
              <a:t>’，没有事先的计划和准备，就不能获得战争的胜利。”</a:t>
            </a:r>
            <a:endParaRPr lang="en-US" altLang="zh-CN" dirty="0">
              <a:effectLst>
                <a:outerShdw blurRad="38100" dist="38100" dir="2700000" algn="tl">
                  <a:srgbClr val="000000">
                    <a:alpha val="43137"/>
                  </a:srgbClr>
                </a:outerShdw>
              </a:effectLst>
            </a:endParaRPr>
          </a:p>
          <a:p>
            <a:pPr marL="0" indent="0" algn="r">
              <a:buFont typeface="Wingdings" panose="05000000000000000000" pitchFamily="2" charset="2"/>
              <a:buNone/>
              <a:defRPr/>
            </a:pPr>
            <a:r>
              <a:rPr lang="en-US" altLang="zh-CN" sz="3600" dirty="0">
                <a:solidFill>
                  <a:srgbClr val="FF0000"/>
                </a:solidFill>
                <a:effectLst>
                  <a:outerShdw blurRad="38100" dist="38100" dir="2700000" algn="tl">
                    <a:srgbClr val="000000">
                      <a:alpha val="43137"/>
                    </a:srgbClr>
                  </a:outerShdw>
                </a:effectLst>
              </a:rPr>
              <a:t>——《</a:t>
            </a:r>
            <a:r>
              <a:rPr lang="zh-CN" altLang="en-US" sz="3600" dirty="0">
                <a:solidFill>
                  <a:srgbClr val="FF0000"/>
                </a:solidFill>
                <a:effectLst>
                  <a:outerShdw blurRad="38100" dist="38100" dir="2700000" algn="tl">
                    <a:srgbClr val="000000">
                      <a:alpha val="43137"/>
                    </a:srgbClr>
                  </a:outerShdw>
                </a:effectLst>
              </a:rPr>
              <a:t>论持久战</a:t>
            </a:r>
            <a:r>
              <a:rPr lang="en-US" altLang="zh-CN" sz="3600" dirty="0">
                <a:solidFill>
                  <a:srgbClr val="FF0000"/>
                </a:solidFill>
                <a:effectLst>
                  <a:outerShdw blurRad="38100" dist="38100" dir="2700000" algn="tl">
                    <a:srgbClr val="000000">
                      <a:alpha val="43137"/>
                    </a:srgbClr>
                  </a:outerShdw>
                </a:effectLst>
              </a:rPr>
              <a:t>》</a:t>
            </a:r>
          </a:p>
        </p:txBody>
      </p:sp>
      <p:sp>
        <p:nvSpPr>
          <p:cNvPr id="5" name="Text Box 9"/>
          <p:cNvSpPr txBox="1">
            <a:spLocks noChangeArrowheads="1"/>
          </p:cNvSpPr>
          <p:nvPr/>
        </p:nvSpPr>
        <p:spPr bwMode="auto">
          <a:xfrm>
            <a:off x="762000" y="87313"/>
            <a:ext cx="1963738"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defRPr/>
            </a:pPr>
            <a:r>
              <a:rPr lang="en-US" altLang="zh-CN" sz="1800" b="1" dirty="0">
                <a:solidFill>
                  <a:srgbClr val="FFFF00"/>
                </a:solidFill>
                <a:effectLst>
                  <a:outerShdw blurRad="38100" dist="38100" dir="2700000" algn="tl">
                    <a:srgbClr val="000000">
                      <a:alpha val="43137"/>
                    </a:srgbClr>
                  </a:outerShdw>
                </a:effectLst>
              </a:rPr>
              <a:t>2.2 </a:t>
            </a:r>
            <a:r>
              <a:rPr lang="zh-CN" altLang="en-US" sz="1800" b="1" dirty="0">
                <a:solidFill>
                  <a:srgbClr val="FFFF00"/>
                </a:solidFill>
                <a:effectLst>
                  <a:outerShdw blurRad="38100" dist="38100" dir="2700000" algn="tl">
                    <a:srgbClr val="000000">
                      <a:alpha val="43137"/>
                    </a:srgbClr>
                  </a:outerShdw>
                </a:effectLst>
              </a:rPr>
              <a:t>生产运作系统</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2771">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277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4866" name="Rectangle 2"/>
          <p:cNvSpPr>
            <a:spLocks noGrp="1" noChangeArrowheads="1"/>
          </p:cNvSpPr>
          <p:nvPr>
            <p:ph type="title"/>
          </p:nvPr>
        </p:nvSpPr>
        <p:spPr>
          <a:xfrm>
            <a:off x="457200" y="457200"/>
            <a:ext cx="8229600" cy="1219200"/>
          </a:xfrm>
        </p:spPr>
        <p:txBody>
          <a:bodyPr/>
          <a:lstStyle/>
          <a:p>
            <a:pPr marL="457200" indent="-457200" eaLnBrk="1" hangingPunct="1">
              <a:buFont typeface="Wingdings" panose="05000000000000000000" pitchFamily="2" charset="2"/>
              <a:buChar char="n"/>
              <a:defRPr/>
            </a:pPr>
            <a:r>
              <a:rPr lang="zh-CN" altLang="en-US" sz="2800" b="1" dirty="0">
                <a:solidFill>
                  <a:srgbClr val="FF0000"/>
                </a:solidFill>
                <a:latin typeface="Times New Roman" panose="02020603050405020304" pitchFamily="18" charset="0"/>
                <a:ea typeface="+mn-ea"/>
                <a:cs typeface="+mn-cs"/>
              </a:rPr>
              <a:t>生产计划体系  </a:t>
            </a:r>
          </a:p>
        </p:txBody>
      </p:sp>
      <p:graphicFrame>
        <p:nvGraphicFramePr>
          <p:cNvPr id="74755" name="Object 11"/>
          <p:cNvGraphicFramePr>
            <a:graphicFrameLocks noGrp="1" noChangeAspect="1"/>
          </p:cNvGraphicFramePr>
          <p:nvPr>
            <p:ph idx="1"/>
          </p:nvPr>
        </p:nvGraphicFramePr>
        <p:xfrm>
          <a:off x="1433513" y="1589088"/>
          <a:ext cx="6276975" cy="5189537"/>
        </p:xfrm>
        <a:graphic>
          <a:graphicData uri="http://schemas.openxmlformats.org/presentationml/2006/ole">
            <mc:AlternateContent xmlns:mc="http://schemas.openxmlformats.org/markup-compatibility/2006">
              <mc:Choice xmlns:v="urn:schemas-microsoft-com:vml" Requires="v">
                <p:oleObj spid="_x0000_s74788" name="Visio" r:id="rId3" imgW="5991441" imgH="4952836" progId="Visio.Drawing.11">
                  <p:embed/>
                </p:oleObj>
              </mc:Choice>
              <mc:Fallback>
                <p:oleObj name="Visio" r:id="rId3" imgW="5991441" imgH="4952836" progId="Visio.Drawing.11">
                  <p:embed/>
                  <p:pic>
                    <p:nvPicPr>
                      <p:cNvPr id="0" name="Object 11"/>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33513" y="1589088"/>
                        <a:ext cx="6276975" cy="51895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5" name="Text Box 9"/>
          <p:cNvSpPr txBox="1">
            <a:spLocks noChangeArrowheads="1"/>
          </p:cNvSpPr>
          <p:nvPr/>
        </p:nvSpPr>
        <p:spPr bwMode="auto">
          <a:xfrm>
            <a:off x="762000" y="87313"/>
            <a:ext cx="1963738"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defRPr/>
            </a:pPr>
            <a:r>
              <a:rPr lang="en-US" altLang="zh-CN" sz="1800" b="1" dirty="0">
                <a:solidFill>
                  <a:srgbClr val="FFFF00"/>
                </a:solidFill>
                <a:effectLst>
                  <a:outerShdw blurRad="38100" dist="38100" dir="2700000" algn="tl">
                    <a:srgbClr val="000000">
                      <a:alpha val="43137"/>
                    </a:srgbClr>
                  </a:outerShdw>
                </a:effectLst>
              </a:rPr>
              <a:t>2.2 </a:t>
            </a:r>
            <a:r>
              <a:rPr lang="zh-CN" altLang="en-US" sz="1800" b="1" dirty="0">
                <a:solidFill>
                  <a:srgbClr val="FFFF00"/>
                </a:solidFill>
                <a:effectLst>
                  <a:outerShdw blurRad="38100" dist="38100" dir="2700000" algn="tl">
                    <a:srgbClr val="000000">
                      <a:alpha val="43137"/>
                    </a:srgbClr>
                  </a:outerShdw>
                </a:effectLst>
              </a:rPr>
              <a:t>生产运作系统</a:t>
            </a:r>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9" name="Rectangle 3"/>
          <p:cNvSpPr>
            <a:spLocks noGrp="1" noChangeArrowheads="1"/>
          </p:cNvSpPr>
          <p:nvPr>
            <p:ph type="body" idx="1"/>
          </p:nvPr>
        </p:nvSpPr>
        <p:spPr>
          <a:xfrm>
            <a:off x="457200" y="762000"/>
            <a:ext cx="8229600" cy="5486400"/>
          </a:xfrm>
        </p:spPr>
        <p:txBody>
          <a:bodyPr/>
          <a:lstStyle/>
          <a:p>
            <a:pPr eaLnBrk="1" hangingPunct="1">
              <a:defRPr/>
            </a:pPr>
            <a:r>
              <a:rPr lang="zh-CN" altLang="en-US" sz="3600" b="1" dirty="0">
                <a:solidFill>
                  <a:srgbClr val="FF0000"/>
                </a:solidFill>
                <a:effectLst>
                  <a:outerShdw blurRad="38100" dist="38100" dir="2700000" algn="tl">
                    <a:srgbClr val="C0C0C0"/>
                  </a:outerShdw>
                </a:effectLst>
              </a:rPr>
              <a:t>小结</a:t>
            </a:r>
            <a:endParaRPr lang="en-US" altLang="zh-CN" sz="3600" b="1" dirty="0">
              <a:solidFill>
                <a:srgbClr val="FF0000"/>
              </a:solidFill>
              <a:effectLst>
                <a:outerShdw blurRad="38100" dist="38100" dir="2700000" algn="tl">
                  <a:srgbClr val="C0C0C0"/>
                </a:outerShdw>
              </a:effectLst>
            </a:endParaRPr>
          </a:p>
          <a:p>
            <a:pPr eaLnBrk="1" hangingPunct="1">
              <a:defRPr/>
            </a:pPr>
            <a:endParaRPr lang="en-US" altLang="zh-CN" sz="3600" b="1" dirty="0">
              <a:solidFill>
                <a:srgbClr val="FF0000"/>
              </a:solidFill>
              <a:effectLst>
                <a:outerShdw blurRad="38100" dist="38100" dir="2700000" algn="tl">
                  <a:srgbClr val="C0C0C0"/>
                </a:outerShdw>
              </a:effectLst>
            </a:endParaRPr>
          </a:p>
          <a:p>
            <a:pPr eaLnBrk="1" hangingPunct="1">
              <a:defRPr/>
            </a:pPr>
            <a:endParaRPr lang="en-US" altLang="zh-CN" sz="3600" b="1" dirty="0">
              <a:solidFill>
                <a:srgbClr val="FF0000"/>
              </a:solidFill>
              <a:effectLst>
                <a:outerShdw blurRad="38100" dist="38100" dir="2700000" algn="tl">
                  <a:srgbClr val="C0C0C0"/>
                </a:outerShdw>
              </a:effectLst>
            </a:endParaRPr>
          </a:p>
          <a:p>
            <a:pPr eaLnBrk="1" hangingPunct="1">
              <a:defRPr/>
            </a:pPr>
            <a:endParaRPr lang="en-US" altLang="zh-CN" sz="3600" b="1" dirty="0">
              <a:solidFill>
                <a:srgbClr val="FF0000"/>
              </a:solidFill>
              <a:effectLst>
                <a:outerShdw blurRad="38100" dist="38100" dir="2700000" algn="tl">
                  <a:srgbClr val="C0C0C0"/>
                </a:outerShdw>
              </a:effectLst>
            </a:endParaRPr>
          </a:p>
          <a:p>
            <a:pPr eaLnBrk="1" hangingPunct="1">
              <a:defRPr/>
            </a:pPr>
            <a:r>
              <a:rPr lang="zh-CN" altLang="en-US" sz="3600" b="1" dirty="0">
                <a:solidFill>
                  <a:srgbClr val="FF0000"/>
                </a:solidFill>
                <a:effectLst>
                  <a:outerShdw blurRad="38100" dist="38100" dir="2700000" algn="tl">
                    <a:srgbClr val="C0C0C0"/>
                  </a:outerShdw>
                </a:effectLst>
              </a:rPr>
              <a:t>思考题：</a:t>
            </a:r>
            <a:endParaRPr lang="en-US" altLang="zh-CN" sz="3600" b="1" dirty="0">
              <a:solidFill>
                <a:srgbClr val="FF0000"/>
              </a:solidFill>
              <a:effectLst>
                <a:outerShdw blurRad="38100" dist="38100" dir="2700000" algn="tl">
                  <a:srgbClr val="C0C0C0"/>
                </a:outerShdw>
              </a:effectLst>
            </a:endParaRPr>
          </a:p>
          <a:p>
            <a:pPr marL="457200" lvl="1" indent="0" eaLnBrk="1" hangingPunct="1">
              <a:buNone/>
              <a:defRPr/>
            </a:pPr>
            <a:r>
              <a:rPr lang="zh-CN" altLang="en-US" sz="3200" b="1" dirty="0">
                <a:effectLst>
                  <a:outerShdw blurRad="38100" dist="38100" dir="2700000" algn="tl">
                    <a:srgbClr val="C0C0C0"/>
                  </a:outerShdw>
                </a:effectLst>
              </a:rPr>
              <a:t>选择自己感兴趣的某一类产品，分析产品需求特征和生产运作系统的运行要求</a:t>
            </a:r>
          </a:p>
          <a:p>
            <a:pPr lvl="1" eaLnBrk="1" hangingPunct="1">
              <a:lnSpc>
                <a:spcPct val="120000"/>
              </a:lnSpc>
              <a:defRPr/>
            </a:pPr>
            <a:endParaRPr lang="en-US" altLang="zh-CN" dirty="0">
              <a:latin typeface="Times New Roman"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5539">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553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Pixel">
  <a:themeElements>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fontScheme name="Pixel">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Pixel 1">
        <a:dk1>
          <a:srgbClr val="0066FF"/>
        </a:dk1>
        <a:lt1>
          <a:srgbClr val="FFFFFF"/>
        </a:lt1>
        <a:dk2>
          <a:srgbClr val="000066"/>
        </a:dk2>
        <a:lt2>
          <a:srgbClr val="FFFFFF"/>
        </a:lt2>
        <a:accent1>
          <a:srgbClr val="6699FF"/>
        </a:accent1>
        <a:accent2>
          <a:srgbClr val="3333FF"/>
        </a:accent2>
        <a:accent3>
          <a:srgbClr val="AAAAB8"/>
        </a:accent3>
        <a:accent4>
          <a:srgbClr val="DADADA"/>
        </a:accent4>
        <a:accent5>
          <a:srgbClr val="B8CAFF"/>
        </a:accent5>
        <a:accent6>
          <a:srgbClr val="2D2DE7"/>
        </a:accent6>
        <a:hlink>
          <a:srgbClr val="FFCC00"/>
        </a:hlink>
        <a:folHlink>
          <a:srgbClr val="0000CC"/>
        </a:folHlink>
      </a:clrScheme>
      <a:clrMap bg1="dk2" tx1="lt1" bg2="dk1" tx2="lt2" accent1="accent1" accent2="accent2" accent3="accent3" accent4="accent4" accent5="accent5" accent6="accent6" hlink="hlink" folHlink="folHlink"/>
    </a:extraClrScheme>
    <a:extraClrScheme>
      <a:clrScheme name="Pixel 2">
        <a:dk1>
          <a:srgbClr val="009999"/>
        </a:dk1>
        <a:lt1>
          <a:srgbClr val="FFFFFF"/>
        </a:lt1>
        <a:dk2>
          <a:srgbClr val="334B49"/>
        </a:dk2>
        <a:lt2>
          <a:srgbClr val="FFFFFF"/>
        </a:lt2>
        <a:accent1>
          <a:srgbClr val="33CCCC"/>
        </a:accent1>
        <a:accent2>
          <a:srgbClr val="008080"/>
        </a:accent2>
        <a:accent3>
          <a:srgbClr val="ADB1B1"/>
        </a:accent3>
        <a:accent4>
          <a:srgbClr val="DADADA"/>
        </a:accent4>
        <a:accent5>
          <a:srgbClr val="ADE2E2"/>
        </a:accent5>
        <a:accent6>
          <a:srgbClr val="007373"/>
        </a:accent6>
        <a:hlink>
          <a:srgbClr val="FFCC00"/>
        </a:hlink>
        <a:folHlink>
          <a:srgbClr val="006666"/>
        </a:folHlink>
      </a:clrScheme>
      <a:clrMap bg1="dk2" tx1="lt1" bg2="dk1" tx2="lt2" accent1="accent1" accent2="accent2" accent3="accent3" accent4="accent4" accent5="accent5" accent6="accent6" hlink="hlink" folHlink="folHlink"/>
    </a:extraClrScheme>
    <a:extraClrScheme>
      <a:clrScheme name="Pixel 3">
        <a:dk1>
          <a:srgbClr val="006699"/>
        </a:dk1>
        <a:lt1>
          <a:srgbClr val="FFFFFF"/>
        </a:lt1>
        <a:dk2>
          <a:srgbClr val="333399"/>
        </a:dk2>
        <a:lt2>
          <a:srgbClr val="FFFFFF"/>
        </a:lt2>
        <a:accent1>
          <a:srgbClr val="0099CC"/>
        </a:accent1>
        <a:accent2>
          <a:srgbClr val="0386AF"/>
        </a:accent2>
        <a:accent3>
          <a:srgbClr val="ADADCA"/>
        </a:accent3>
        <a:accent4>
          <a:srgbClr val="DADADA"/>
        </a:accent4>
        <a:accent5>
          <a:srgbClr val="AACAE2"/>
        </a:accent5>
        <a:accent6>
          <a:srgbClr val="02799E"/>
        </a:accent6>
        <a:hlink>
          <a:srgbClr val="FFCC00"/>
        </a:hlink>
        <a:folHlink>
          <a:srgbClr val="6699FF"/>
        </a:folHlink>
      </a:clrScheme>
      <a:clrMap bg1="dk2" tx1="lt1" bg2="dk1" tx2="lt2" accent1="accent1" accent2="accent2" accent3="accent3" accent4="accent4" accent5="accent5" accent6="accent6" hlink="hlink" folHlink="folHlink"/>
    </a:extraClrScheme>
    <a:extraClrScheme>
      <a:clrScheme name="Pixel 4">
        <a:dk1>
          <a:srgbClr val="008080"/>
        </a:dk1>
        <a:lt1>
          <a:srgbClr val="FFFFFF"/>
        </a:lt1>
        <a:dk2>
          <a:srgbClr val="2F978D"/>
        </a:dk2>
        <a:lt2>
          <a:srgbClr val="FFFFFF"/>
        </a:lt2>
        <a:accent1>
          <a:srgbClr val="0099FF"/>
        </a:accent1>
        <a:accent2>
          <a:srgbClr val="009999"/>
        </a:accent2>
        <a:accent3>
          <a:srgbClr val="ADC9C5"/>
        </a:accent3>
        <a:accent4>
          <a:srgbClr val="DADADA"/>
        </a:accent4>
        <a:accent5>
          <a:srgbClr val="AACAFF"/>
        </a:accent5>
        <a:accent6>
          <a:srgbClr val="008A8A"/>
        </a:accent6>
        <a:hlink>
          <a:srgbClr val="FFFFCC"/>
        </a:hlink>
        <a:folHlink>
          <a:srgbClr val="70CAC6"/>
        </a:folHlink>
      </a:clrScheme>
      <a:clrMap bg1="dk2" tx1="lt1" bg2="dk1" tx2="lt2" accent1="accent1" accent2="accent2" accent3="accent3" accent4="accent4" accent5="accent5" accent6="accent6" hlink="hlink" folHlink="folHlink"/>
    </a:extraClrScheme>
    <a:extraClrScheme>
      <a:clrScheme name="Pixel 5">
        <a:dk1>
          <a:srgbClr val="822504"/>
        </a:dk1>
        <a:lt1>
          <a:srgbClr val="FFFFFF"/>
        </a:lt1>
        <a:dk2>
          <a:srgbClr val="330000"/>
        </a:dk2>
        <a:lt2>
          <a:srgbClr val="FFFFFF"/>
        </a:lt2>
        <a:accent1>
          <a:srgbClr val="FF9900"/>
        </a:accent1>
        <a:accent2>
          <a:srgbClr val="9E2A06"/>
        </a:accent2>
        <a:accent3>
          <a:srgbClr val="ADAAAA"/>
        </a:accent3>
        <a:accent4>
          <a:srgbClr val="DADADA"/>
        </a:accent4>
        <a:accent5>
          <a:srgbClr val="FFCAAA"/>
        </a:accent5>
        <a:accent6>
          <a:srgbClr val="8F2505"/>
        </a:accent6>
        <a:hlink>
          <a:srgbClr val="FF3300"/>
        </a:hlink>
        <a:folHlink>
          <a:srgbClr val="7C0704"/>
        </a:folHlink>
      </a:clrScheme>
      <a:clrMap bg1="dk2" tx1="lt1" bg2="dk1" tx2="lt2" accent1="accent1" accent2="accent2" accent3="accent3" accent4="accent4" accent5="accent5" accent6="accent6" hlink="hlink" folHlink="folHlink"/>
    </a:extraClrScheme>
    <a:extraClrScheme>
      <a:clrScheme name="Pixel 6">
        <a:dk1>
          <a:srgbClr val="336600"/>
        </a:dk1>
        <a:lt1>
          <a:srgbClr val="FFFFFF"/>
        </a:lt1>
        <a:dk2>
          <a:srgbClr val="4A7911"/>
        </a:dk2>
        <a:lt2>
          <a:srgbClr val="FFFFFF"/>
        </a:lt2>
        <a:accent1>
          <a:srgbClr val="666633"/>
        </a:accent1>
        <a:accent2>
          <a:srgbClr val="669900"/>
        </a:accent2>
        <a:accent3>
          <a:srgbClr val="B1BEAA"/>
        </a:accent3>
        <a:accent4>
          <a:srgbClr val="DADADA"/>
        </a:accent4>
        <a:accent5>
          <a:srgbClr val="B8B8AD"/>
        </a:accent5>
        <a:accent6>
          <a:srgbClr val="5C8A00"/>
        </a:accent6>
        <a:hlink>
          <a:srgbClr val="FFCC00"/>
        </a:hlink>
        <a:folHlink>
          <a:srgbClr val="99CC00"/>
        </a:folHlink>
      </a:clrScheme>
      <a:clrMap bg1="dk2" tx1="lt1" bg2="dk1" tx2="lt2" accent1="accent1" accent2="accent2" accent3="accent3" accent4="accent4" accent5="accent5" accent6="accent6" hlink="hlink" folHlink="folHlink"/>
    </a:extraClrScheme>
    <a:extraClrScheme>
      <a:clrScheme name="Pixel 7">
        <a:dk1>
          <a:srgbClr val="000000"/>
        </a:dk1>
        <a:lt1>
          <a:srgbClr val="FFFFFF"/>
        </a:lt1>
        <a:dk2>
          <a:srgbClr val="000000"/>
        </a:dk2>
        <a:lt2>
          <a:srgbClr val="CC3300"/>
        </a:lt2>
        <a:accent1>
          <a:srgbClr val="FFCC00"/>
        </a:accent1>
        <a:accent2>
          <a:srgbClr val="CC6600"/>
        </a:accent2>
        <a:accent3>
          <a:srgbClr val="FFFFFF"/>
        </a:accent3>
        <a:accent4>
          <a:srgbClr val="000000"/>
        </a:accent4>
        <a:accent5>
          <a:srgbClr val="FFE2AA"/>
        </a:accent5>
        <a:accent6>
          <a:srgbClr val="B95C00"/>
        </a:accent6>
        <a:hlink>
          <a:srgbClr val="663300"/>
        </a:hlink>
        <a:folHlink>
          <a:srgbClr val="CC9900"/>
        </a:folHlink>
      </a:clrScheme>
      <a:clrMap bg1="lt1" tx1="dk1" bg2="lt2" tx2="dk2" accent1="accent1" accent2="accent2" accent3="accent3" accent4="accent4" accent5="accent5" accent6="accent6" hlink="hlink" folHlink="folHlink"/>
    </a:extraClrScheme>
    <a:extraClrScheme>
      <a:clrScheme name="Pixel 8">
        <a:dk1>
          <a:srgbClr val="003300"/>
        </a:dk1>
        <a:lt1>
          <a:srgbClr val="FFFFFF"/>
        </a:lt1>
        <a:dk2>
          <a:srgbClr val="000000"/>
        </a:dk2>
        <a:lt2>
          <a:srgbClr val="336600"/>
        </a:lt2>
        <a:accent1>
          <a:srgbClr val="CCCC00"/>
        </a:accent1>
        <a:accent2>
          <a:srgbClr val="669900"/>
        </a:accent2>
        <a:accent3>
          <a:srgbClr val="FFFFFF"/>
        </a:accent3>
        <a:accent4>
          <a:srgbClr val="002A00"/>
        </a:accent4>
        <a:accent5>
          <a:srgbClr val="E2E2AA"/>
        </a:accent5>
        <a:accent6>
          <a:srgbClr val="5C8A00"/>
        </a:accent6>
        <a:hlink>
          <a:srgbClr val="333300"/>
        </a:hlink>
        <a:folHlink>
          <a:srgbClr val="99CC00"/>
        </a:folHlink>
      </a:clrScheme>
      <a:clrMap bg1="lt1" tx1="dk1" bg2="lt2" tx2="dk2" accent1="accent1" accent2="accent2" accent3="accent3" accent4="accent4" accent5="accent5" accent6="accent6" hlink="hlink" folHlink="folHlink"/>
    </a:extraClrScheme>
    <a:extraClrScheme>
      <a:clrScheme name="Pixel 9">
        <a:dk1>
          <a:srgbClr val="000000"/>
        </a:dk1>
        <a:lt1>
          <a:srgbClr val="FFFFFF"/>
        </a:lt1>
        <a:dk2>
          <a:srgbClr val="000000"/>
        </a:dk2>
        <a:lt2>
          <a:srgbClr val="440044"/>
        </a:lt2>
        <a:accent1>
          <a:srgbClr val="FFCCCC"/>
        </a:accent1>
        <a:accent2>
          <a:srgbClr val="790571"/>
        </a:accent2>
        <a:accent3>
          <a:srgbClr val="FFFFFF"/>
        </a:accent3>
        <a:accent4>
          <a:srgbClr val="000000"/>
        </a:accent4>
        <a:accent5>
          <a:srgbClr val="FFE2E2"/>
        </a:accent5>
        <a:accent6>
          <a:srgbClr val="6D0466"/>
        </a:accent6>
        <a:hlink>
          <a:srgbClr val="993366"/>
        </a:hlink>
        <a:folHlink>
          <a:srgbClr val="9F839F"/>
        </a:folHlink>
      </a:clrScheme>
      <a:clrMap bg1="lt1" tx1="dk1" bg2="lt2" tx2="dk2" accent1="accent1" accent2="accent2" accent3="accent3" accent4="accent4" accent5="accent5" accent6="accent6" hlink="hlink" folHlink="folHlink"/>
    </a:extraClrScheme>
    <a:extraClrScheme>
      <a:clrScheme name="Pixel 10">
        <a:dk1>
          <a:srgbClr val="000000"/>
        </a:dk1>
        <a:lt1>
          <a:srgbClr val="FFFFFF"/>
        </a:lt1>
        <a:dk2>
          <a:srgbClr val="000000"/>
        </a:dk2>
        <a:lt2>
          <a:srgbClr val="FF9900"/>
        </a:lt2>
        <a:accent1>
          <a:srgbClr val="FFCC99"/>
        </a:accent1>
        <a:accent2>
          <a:srgbClr val="FBA313"/>
        </a:accent2>
        <a:accent3>
          <a:srgbClr val="FFFFFF"/>
        </a:accent3>
        <a:accent4>
          <a:srgbClr val="000000"/>
        </a:accent4>
        <a:accent5>
          <a:srgbClr val="FFE2CA"/>
        </a:accent5>
        <a:accent6>
          <a:srgbClr val="E39310"/>
        </a:accent6>
        <a:hlink>
          <a:srgbClr val="CC3300"/>
        </a:hlink>
        <a:folHlink>
          <a:srgbClr val="FCC66E"/>
        </a:folHlink>
      </a:clrScheme>
      <a:clrMap bg1="lt1" tx1="dk1" bg2="lt2" tx2="dk2" accent1="accent1" accent2="accent2" accent3="accent3" accent4="accent4" accent5="accent5" accent6="accent6" hlink="hlink" folHlink="folHlink"/>
    </a:extraClrScheme>
    <a:extraClrScheme>
      <a:clrScheme name="Pixel 11">
        <a:dk1>
          <a:srgbClr val="000000"/>
        </a:dk1>
        <a:lt1>
          <a:srgbClr val="FFFFFF"/>
        </a:lt1>
        <a:dk2>
          <a:srgbClr val="000000"/>
        </a:dk2>
        <a:lt2>
          <a:srgbClr val="779F92"/>
        </a:lt2>
        <a:accent1>
          <a:srgbClr val="33CCCC"/>
        </a:accent1>
        <a:accent2>
          <a:srgbClr val="9DC2D7"/>
        </a:accent2>
        <a:accent3>
          <a:srgbClr val="FFFFFF"/>
        </a:accent3>
        <a:accent4>
          <a:srgbClr val="000000"/>
        </a:accent4>
        <a:accent5>
          <a:srgbClr val="ADE2E2"/>
        </a:accent5>
        <a:accent6>
          <a:srgbClr val="8EB0C3"/>
        </a:accent6>
        <a:hlink>
          <a:srgbClr val="006666"/>
        </a:hlink>
        <a:folHlink>
          <a:srgbClr val="CCCCFF"/>
        </a:folHlink>
      </a:clrScheme>
      <a:clrMap bg1="lt1" tx1="dk1" bg2="lt2" tx2="dk2" accent1="accent1" accent2="accent2" accent3="accent3" accent4="accent4" accent5="accent5" accent6="accent6" hlink="hlink" folHlink="folHlink"/>
    </a:extraClrScheme>
    <a:extraClrScheme>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clrMap bg1="lt1" tx1="dk1" bg2="lt2" tx2="dk2" accent1="accent1" accent2="accent2" accent3="accent3" accent4="accent4" accent5="accent5" accent6="accent6" hlink="hlink" folHlink="folHlink"/>
    </a:extraClrScheme>
  </a:extraClrSchemeLst>
</a:theme>
</file>

<file path=docProps/app.xml><?xml version="1.0" encoding="utf-8"?>
<Properties xmlns="http://schemas.openxmlformats.org/officeDocument/2006/extended-properties" xmlns:vt="http://schemas.openxmlformats.org/officeDocument/2006/docPropsVTypes">
  <TotalTime>1059</TotalTime>
  <Words>2658</Words>
  <Application>Microsoft Office PowerPoint</Application>
  <PresentationFormat>全屏显示(4:3)</PresentationFormat>
  <Paragraphs>386</Paragraphs>
  <Slides>35</Slides>
  <Notes>0</Notes>
  <HiddenSlides>0</HiddenSlides>
  <MMClips>0</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1</vt:i4>
      </vt:variant>
      <vt:variant>
        <vt:lpstr>幻灯片标题</vt:lpstr>
      </vt:variant>
      <vt:variant>
        <vt:i4>35</vt:i4>
      </vt:variant>
    </vt:vector>
  </HeadingPairs>
  <TitlesOfParts>
    <vt:vector size="49" baseType="lpstr">
      <vt:lpstr>华文细黑</vt:lpstr>
      <vt:lpstr>华文新魏</vt:lpstr>
      <vt:lpstr>宋体</vt:lpstr>
      <vt:lpstr>Arial</vt:lpstr>
      <vt:lpstr>Arial Black</vt:lpstr>
      <vt:lpstr>Brush Script MT</vt:lpstr>
      <vt:lpstr>Calibri</vt:lpstr>
      <vt:lpstr>Marlett</vt:lpstr>
      <vt:lpstr>Tahoma</vt:lpstr>
      <vt:lpstr>Times New Roman</vt:lpstr>
      <vt:lpstr>Wingdings</vt:lpstr>
      <vt:lpstr>Wingdings 3</vt:lpstr>
      <vt:lpstr>Pixel</vt:lpstr>
      <vt:lpstr>Visio</vt:lpstr>
      <vt:lpstr>系统集成与优化 （System Integration and Optimization）</vt:lpstr>
      <vt:lpstr>考核方式</vt:lpstr>
      <vt:lpstr>教学目标</vt:lpstr>
      <vt:lpstr>课程内容体系</vt:lpstr>
      <vt:lpstr>PowerPoint 演示文稿</vt:lpstr>
      <vt:lpstr>PowerPoint 演示文稿</vt:lpstr>
      <vt:lpstr>PowerPoint 演示文稿</vt:lpstr>
      <vt:lpstr>2. 企业生产与运作系统</vt:lpstr>
      <vt:lpstr>2.1 企业/社会组织</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2.2 生产运作系统</vt:lpstr>
      <vt:lpstr>生产过程</vt:lpstr>
      <vt:lpstr>生产过程</vt:lpstr>
      <vt:lpstr>生产过程</vt:lpstr>
      <vt:lpstr>生产过程</vt:lpstr>
      <vt:lpstr>生产过程</vt:lpstr>
      <vt:lpstr>生产过程</vt:lpstr>
      <vt:lpstr>生产类型</vt:lpstr>
      <vt:lpstr>生产类型</vt:lpstr>
      <vt:lpstr>生产类型</vt:lpstr>
      <vt:lpstr>生产类型</vt:lpstr>
      <vt:lpstr>制造的组织模式</vt:lpstr>
      <vt:lpstr>制造的组织模式</vt:lpstr>
      <vt:lpstr>生产计划体系</vt:lpstr>
      <vt:lpstr>PowerPoint 演示文稿</vt:lpstr>
      <vt:lpstr>生产计划体系  </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引子——思考几个问题</dc:title>
  <dc:creator>zy</dc:creator>
  <cp:lastModifiedBy>hustzyliu</cp:lastModifiedBy>
  <cp:revision>88</cp:revision>
  <dcterms:created xsi:type="dcterms:W3CDTF">2012-11-09T08:12:16Z</dcterms:created>
  <dcterms:modified xsi:type="dcterms:W3CDTF">2026-04-21T14:08:54Z</dcterms:modified>
</cp:coreProperties>
</file>
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6"/>
  </p:notesMasterIdLst>
  <p:sldIdLst>
    <p:sldId id="267" r:id="rId2"/>
    <p:sldId id="276" r:id="rId3"/>
    <p:sldId id="372" r:id="rId4"/>
    <p:sldId id="365" r:id="rId5"/>
    <p:sldId id="368" r:id="rId6"/>
    <p:sldId id="281" r:id="rId7"/>
    <p:sldId id="282" r:id="rId8"/>
    <p:sldId id="283" r:id="rId9"/>
    <p:sldId id="284" r:id="rId10"/>
    <p:sldId id="285" r:id="rId11"/>
    <p:sldId id="286" r:id="rId12"/>
    <p:sldId id="288" r:id="rId13"/>
    <p:sldId id="289" r:id="rId14"/>
    <p:sldId id="290" r:id="rId15"/>
    <p:sldId id="291" r:id="rId16"/>
    <p:sldId id="292" r:id="rId17"/>
    <p:sldId id="287" r:id="rId18"/>
    <p:sldId id="369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70" r:id="rId45"/>
    <p:sldId id="371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29" r:id="rId58"/>
    <p:sldId id="330" r:id="rId59"/>
    <p:sldId id="331" r:id="rId60"/>
    <p:sldId id="332" r:id="rId61"/>
    <p:sldId id="333" r:id="rId62"/>
    <p:sldId id="334" r:id="rId63"/>
    <p:sldId id="335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43" r:id="rId72"/>
    <p:sldId id="344" r:id="rId73"/>
    <p:sldId id="367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3" r:id="rId83"/>
    <p:sldId id="354" r:id="rId84"/>
    <p:sldId id="355" r:id="rId85"/>
    <p:sldId id="356" r:id="rId86"/>
    <p:sldId id="357" r:id="rId87"/>
    <p:sldId id="358" r:id="rId88"/>
    <p:sldId id="359" r:id="rId89"/>
    <p:sldId id="360" r:id="rId90"/>
    <p:sldId id="361" r:id="rId91"/>
    <p:sldId id="362" r:id="rId92"/>
    <p:sldId id="363" r:id="rId93"/>
    <p:sldId id="364" r:id="rId94"/>
    <p:sldId id="366" r:id="rId9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74" autoAdjust="0"/>
  </p:normalViewPr>
  <p:slideViewPr>
    <p:cSldViewPr>
      <p:cViewPr varScale="1">
        <p:scale>
          <a:sx n="75" d="100"/>
          <a:sy n="75" d="100"/>
        </p:scale>
        <p:origin x="100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1.xml"/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6CC18-13BF-443D-A490-339EDA650D39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A7AF9-C1DB-4E76-887B-13B29E126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48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6923AE0-4A73-4A64-82E8-50CA7DAD518B}" type="datetime1">
              <a:rPr lang="zh-CN" altLang="en-US" smtClean="0"/>
              <a:pPr>
                <a:defRPr/>
              </a:pPr>
              <a:t>2026/4/21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0C4F900-6277-4D50-A676-CC43EB33FA74}" type="slidenum">
              <a:rPr lang="zh-CN" altLang="en-US" smtClean="0"/>
              <a:pPr>
                <a:defRPr/>
              </a:pPr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77931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617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6D17DE-9988-4E16-A175-6FB82BD85DEF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04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7118C1D-368C-4CDB-B0A5-F66A2AC734C9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018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708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339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617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itchFamily="34" charset="0"/>
              </a:rPr>
              <a:t>工业</a:t>
            </a:r>
            <a:r>
              <a:rPr lang="en-US" altLang="zh-CN">
                <a:latin typeface="Arial" pitchFamily="34" charset="0"/>
              </a:rPr>
              <a:t>4.0</a:t>
            </a:r>
            <a:r>
              <a:rPr lang="zh-CN" altLang="en-US">
                <a:latin typeface="Arial" pitchFamily="34" charset="0"/>
              </a:rPr>
              <a:t>中，物联网和服务网络是智慧工厂的基础。</a:t>
            </a:r>
            <a:r>
              <a:rPr lang="zh-CN" altLang="zh-CN">
                <a:latin typeface="Arial" pitchFamily="34" charset="0"/>
              </a:rPr>
              <a:t>工业</a:t>
            </a:r>
            <a:r>
              <a:rPr lang="en-US" altLang="zh-CN">
                <a:latin typeface="Arial" pitchFamily="34" charset="0"/>
              </a:rPr>
              <a:t>4.0</a:t>
            </a:r>
            <a:r>
              <a:rPr lang="zh-CN" altLang="zh-CN">
                <a:latin typeface="Arial" pitchFamily="34" charset="0"/>
              </a:rPr>
              <a:t>拥有巨大的潜力。智慧工厂让用户的个性定制化需求得以满足，这就意味着，即使是一次性的产品也可以通过颇具收益的方式制造出来。</a:t>
            </a:r>
            <a:endParaRPr lang="zh-CN" altLang="en-US">
              <a:latin typeface="Arial" pitchFamily="34" charset="0"/>
            </a:endParaRPr>
          </a:p>
        </p:txBody>
      </p:sp>
      <p:sp>
        <p:nvSpPr>
          <p:cNvPr id="30617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/>
            <a:fld id="{3B5613E3-ED8F-41D2-9F75-B103ED6B39CC}" type="slidenum">
              <a:rPr lang="en-US" altLang="zh-CN" b="0">
                <a:solidFill>
                  <a:prstClr val="black"/>
                </a:solidFill>
                <a:latin typeface="Arial" pitchFamily="34" charset="0"/>
              </a:rPr>
              <a:pPr algn="r"/>
              <a:t>79</a:t>
            </a:fld>
            <a:endParaRPr lang="en-US" altLang="zh-CN" b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013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617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itchFamily="34" charset="0"/>
              </a:rPr>
              <a:t>工业</a:t>
            </a:r>
            <a:r>
              <a:rPr lang="en-US" altLang="zh-CN">
                <a:latin typeface="Arial" pitchFamily="34" charset="0"/>
              </a:rPr>
              <a:t>4.0</a:t>
            </a:r>
            <a:r>
              <a:rPr lang="zh-CN" altLang="en-US">
                <a:latin typeface="Arial" pitchFamily="34" charset="0"/>
              </a:rPr>
              <a:t>中，物联网和服务网络是智慧工厂的基础。</a:t>
            </a:r>
            <a:r>
              <a:rPr lang="zh-CN" altLang="zh-CN">
                <a:latin typeface="Arial" pitchFamily="34" charset="0"/>
              </a:rPr>
              <a:t>工业</a:t>
            </a:r>
            <a:r>
              <a:rPr lang="en-US" altLang="zh-CN">
                <a:latin typeface="Arial" pitchFamily="34" charset="0"/>
              </a:rPr>
              <a:t>4.0</a:t>
            </a:r>
            <a:r>
              <a:rPr lang="zh-CN" altLang="zh-CN">
                <a:latin typeface="Arial" pitchFamily="34" charset="0"/>
              </a:rPr>
              <a:t>拥有巨大的潜力。智慧工厂让用户的个性定制化需求得以满足，这就意味着，即使是一次性的产品也可以通过颇具收益的方式制造出来。</a:t>
            </a:r>
            <a:endParaRPr lang="zh-CN" altLang="en-US">
              <a:latin typeface="Arial" pitchFamily="34" charset="0"/>
            </a:endParaRPr>
          </a:p>
        </p:txBody>
      </p:sp>
      <p:sp>
        <p:nvSpPr>
          <p:cNvPr id="30617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/>
            <a:fld id="{3B5613E3-ED8F-41D2-9F75-B103ED6B39CC}" type="slidenum">
              <a:rPr lang="en-US" altLang="zh-CN" b="0">
                <a:solidFill>
                  <a:prstClr val="black"/>
                </a:solidFill>
                <a:latin typeface="Arial" pitchFamily="34" charset="0"/>
              </a:rPr>
              <a:pPr algn="r"/>
              <a:t>80</a:t>
            </a:fld>
            <a:endParaRPr lang="en-US" altLang="zh-CN" b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913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822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itchFamily="34" charset="0"/>
              </a:rPr>
              <a:t>基于云安全网络的智慧工厂流程。</a:t>
            </a:r>
            <a:r>
              <a:rPr lang="zh-CN" altLang="zh-CN">
                <a:latin typeface="Arial" pitchFamily="34" charset="0"/>
              </a:rPr>
              <a:t>在工业</a:t>
            </a:r>
            <a:r>
              <a:rPr lang="en-US" altLang="zh-CN">
                <a:latin typeface="Arial" pitchFamily="34" charset="0"/>
              </a:rPr>
              <a:t>4.0</a:t>
            </a:r>
            <a:r>
              <a:rPr lang="zh-CN" altLang="zh-CN">
                <a:latin typeface="Arial" pitchFamily="34" charset="0"/>
              </a:rPr>
              <a:t>中，对供应商而言，动态商业模式和工程流程使生产和交付变得更加灵活，而且对于生产中断和故障可以灵活反应。现在工业制造在制造流程中已经能够提供端到端的透明化，以促进选择决策的制定。</a:t>
            </a:r>
            <a:endParaRPr lang="en-US" altLang="zh-CN">
              <a:latin typeface="Arial" pitchFamily="34" charset="0"/>
            </a:endParaRPr>
          </a:p>
          <a:p>
            <a:r>
              <a:rPr lang="zh-CN" altLang="zh-CN">
                <a:latin typeface="Arial" pitchFamily="34" charset="0"/>
              </a:rPr>
              <a:t>安全和安保是智能制造系统成功的关键</a:t>
            </a:r>
            <a:r>
              <a:rPr lang="zh-CN" altLang="en-US">
                <a:latin typeface="Arial" pitchFamily="34" charset="0"/>
              </a:rPr>
              <a:t>，</a:t>
            </a:r>
            <a:r>
              <a:rPr lang="zh-CN" altLang="zh-CN">
                <a:latin typeface="Arial" pitchFamily="34" charset="0"/>
              </a:rPr>
              <a:t>设备和产品中包含的信息特别需要被保护，以防止这些信息被滥用或者在未被授权的情况下使用。这将对安全和安保的架构和特殊识别码的集成调用产生更高的要求</a:t>
            </a:r>
            <a:r>
              <a:rPr lang="zh-CN" altLang="en-US">
                <a:latin typeface="Arial" pitchFamily="34" charset="0"/>
              </a:rPr>
              <a:t>。</a:t>
            </a:r>
          </a:p>
        </p:txBody>
      </p:sp>
      <p:sp>
        <p:nvSpPr>
          <p:cNvPr id="30822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/>
            <a:fld id="{722F8706-4CBE-4760-A757-A651D274AF9A}" type="slidenum">
              <a:rPr lang="en-US" altLang="zh-CN" b="0">
                <a:solidFill>
                  <a:prstClr val="black"/>
                </a:solidFill>
                <a:latin typeface="Arial" pitchFamily="34" charset="0"/>
              </a:rPr>
              <a:pPr algn="r"/>
              <a:t>81</a:t>
            </a:fld>
            <a:endParaRPr lang="en-US" altLang="zh-CN" b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563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EB7FBA1-463B-4775-AE9D-EE01D86BB81A}" type="slidenum">
              <a:rPr lang="zh-CN" altLang="en-US" b="0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90</a:t>
            </a:fld>
            <a:endParaRPr lang="zh-CN" altLang="en-US" b="0"/>
          </a:p>
        </p:txBody>
      </p:sp>
    </p:spTree>
    <p:extLst>
      <p:ext uri="{BB962C8B-B14F-4D97-AF65-F5344CB8AC3E}">
        <p14:creationId xmlns:p14="http://schemas.microsoft.com/office/powerpoint/2010/main" val="388284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76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76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03762-9D27-4839-9889-B0631774EB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213228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14E88-3826-4BA2-9B11-F0A359B5A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88314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B02E4-E9B9-4DD3-A203-913BB1394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801879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09E50-C70E-4D39-B40C-CB2454FE4F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44207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92B5B-F02F-4B87-99E5-58DC7E9207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428086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AD7FA-84D7-4F4B-8433-48DB210639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662196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CF834-C62A-4A46-A27D-DE5AF73962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82033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B1C60-04EC-4E52-9C87-2B1AEAA117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49170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FD6E8-03A9-4B46-B6D9-65D85165DA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765246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9F67A-EF72-4578-81F7-74281051C9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40828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34DBE-2CE5-4A82-8657-8140BBA6BD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409425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533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41148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914400"/>
            <a:ext cx="41148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0059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199821A5-FC25-4A3D-ABB3-E9378ACD5C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6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2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6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3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6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55875" y="1828800"/>
            <a:ext cx="6435725" cy="2209800"/>
          </a:xfrm>
        </p:spPr>
        <p:txBody>
          <a:bodyPr/>
          <a:lstStyle/>
          <a:p>
            <a:pPr algn="ctr" eaLnBrk="1" hangingPunct="1"/>
            <a:r>
              <a:rPr lang="zh-CN" altLang="en-US" sz="5400" b="1" dirty="0">
                <a:ea typeface="华文新魏" panose="02010800040101010101" pitchFamily="2" charset="-122"/>
              </a:rPr>
              <a:t>系统集成与优化</a:t>
            </a:r>
            <a:r>
              <a:rPr lang="en-US" altLang="zh-CN" sz="5400" b="1" dirty="0">
                <a:ea typeface="华文新魏" panose="02010800040101010101" pitchFamily="2" charset="-122"/>
              </a:rPr>
              <a:t/>
            </a:r>
            <a:br>
              <a:rPr lang="en-US" altLang="zh-CN" sz="5400" b="1" dirty="0">
                <a:ea typeface="华文新魏" panose="02010800040101010101" pitchFamily="2" charset="-122"/>
              </a:rPr>
            </a:br>
            <a:r>
              <a:rPr lang="zh-CN" altLang="en-US" sz="2400" b="1" dirty="0">
                <a:latin typeface="Brush Script MT" panose="03060802040406070304" pitchFamily="66" charset="0"/>
                <a:ea typeface="华文新魏" panose="02010800040101010101" pitchFamily="2" charset="-122"/>
              </a:rPr>
              <a:t>（</a:t>
            </a:r>
            <a:r>
              <a:rPr lang="en-US" altLang="zh-CN" sz="2400" b="1" dirty="0">
                <a:latin typeface="Brush Script MT" panose="03060802040406070304" pitchFamily="66" charset="0"/>
                <a:ea typeface="华文新魏" panose="02010800040101010101" pitchFamily="2" charset="-122"/>
              </a:rPr>
              <a:t>System Integration and Optimization</a:t>
            </a:r>
            <a:r>
              <a:rPr lang="zh-CN" altLang="en-US" sz="2400" b="1" dirty="0">
                <a:latin typeface="Brush Script MT" panose="03060802040406070304" pitchFamily="66" charset="0"/>
                <a:ea typeface="华文新魏" panose="02010800040101010101" pitchFamily="2" charset="-122"/>
              </a:rPr>
              <a:t>）</a:t>
            </a:r>
            <a:endParaRPr lang="zh-CN" altLang="en-US" sz="4400" b="1" dirty="0">
              <a:latin typeface="Brush Script MT" panose="03060802040406070304" pitchFamily="66" charset="0"/>
              <a:ea typeface="华文新魏" panose="02010800040101010101" pitchFamily="2" charset="-122"/>
            </a:endParaRP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52400" y="5292725"/>
            <a:ext cx="6096000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主讲教师：刘振元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联系电话：</a:t>
            </a:r>
            <a:r>
              <a:rPr lang="en-US" altLang="zh-CN" sz="1800" dirty="0"/>
              <a:t>13995552449</a:t>
            </a:r>
            <a:r>
              <a:rPr lang="zh-CN" altLang="en-US" sz="1800" dirty="0"/>
              <a:t>，</a:t>
            </a:r>
            <a:r>
              <a:rPr lang="en-US" altLang="zh-CN" sz="1800" dirty="0"/>
              <a:t>027-87559490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电子邮箱：</a:t>
            </a:r>
            <a:r>
              <a:rPr lang="en-US" altLang="zh-CN" sz="1800" dirty="0"/>
              <a:t>zyliu@mail.hust.edu.cn	QQ</a:t>
            </a:r>
            <a:r>
              <a:rPr lang="zh-CN" altLang="en-US" sz="1800" dirty="0"/>
              <a:t>：</a:t>
            </a:r>
            <a:r>
              <a:rPr lang="en-US" altLang="zh-CN" sz="1800" dirty="0"/>
              <a:t>834789494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办公地点：华中科技大学南一楼西</a:t>
            </a:r>
            <a:r>
              <a:rPr lang="en-US" altLang="zh-CN" sz="1800" dirty="0" smtClean="0"/>
              <a:t>308 / </a:t>
            </a:r>
            <a:r>
              <a:rPr lang="zh-CN" altLang="en-US" sz="1800" dirty="0" smtClean="0"/>
              <a:t>新</a:t>
            </a:r>
            <a:r>
              <a:rPr lang="zh-CN" altLang="en-US" sz="1800" dirty="0"/>
              <a:t>大楼</a:t>
            </a:r>
            <a:r>
              <a:rPr lang="en-US" altLang="zh-CN" sz="1800" dirty="0"/>
              <a:t>S605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42491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课程内容体系</a:t>
            </a:r>
          </a:p>
        </p:txBody>
      </p:sp>
      <p:sp>
        <p:nvSpPr>
          <p:cNvPr id="18435" name="文本框 1"/>
          <p:cNvSpPr txBox="1">
            <a:spLocks noChangeArrowheads="1"/>
          </p:cNvSpPr>
          <p:nvPr/>
        </p:nvSpPr>
        <p:spPr bwMode="auto">
          <a:xfrm>
            <a:off x="3005944" y="1778348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企业生产与运作系统</a:t>
            </a:r>
          </a:p>
        </p:txBody>
      </p:sp>
      <p:sp>
        <p:nvSpPr>
          <p:cNvPr id="18436" name="文本框 4"/>
          <p:cNvSpPr txBox="1">
            <a:spLocks noChangeArrowheads="1"/>
          </p:cNvSpPr>
          <p:nvPr/>
        </p:nvSpPr>
        <p:spPr bwMode="auto">
          <a:xfrm>
            <a:off x="3005944" y="2514746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生产规划</a:t>
            </a:r>
          </a:p>
        </p:txBody>
      </p:sp>
      <p:sp>
        <p:nvSpPr>
          <p:cNvPr id="18437" name="文本框 6"/>
          <p:cNvSpPr txBox="1">
            <a:spLocks noChangeArrowheads="1"/>
          </p:cNvSpPr>
          <p:nvPr/>
        </p:nvSpPr>
        <p:spPr bwMode="auto">
          <a:xfrm>
            <a:off x="3005944" y="3294833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主生产计划</a:t>
            </a:r>
          </a:p>
        </p:txBody>
      </p:sp>
      <p:sp>
        <p:nvSpPr>
          <p:cNvPr id="18438" name="文本框 7"/>
          <p:cNvSpPr txBox="1">
            <a:spLocks noChangeArrowheads="1"/>
          </p:cNvSpPr>
          <p:nvPr/>
        </p:nvSpPr>
        <p:spPr bwMode="auto">
          <a:xfrm>
            <a:off x="3005944" y="4074920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物料需求计划</a:t>
            </a:r>
          </a:p>
        </p:txBody>
      </p:sp>
      <p:sp>
        <p:nvSpPr>
          <p:cNvPr id="18439" name="文本框 8"/>
          <p:cNvSpPr txBox="1">
            <a:spLocks noChangeArrowheads="1"/>
          </p:cNvSpPr>
          <p:nvPr/>
        </p:nvSpPr>
        <p:spPr bwMode="auto">
          <a:xfrm>
            <a:off x="3005944" y="4855007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能力需求计划</a:t>
            </a:r>
          </a:p>
        </p:txBody>
      </p:sp>
      <p:sp>
        <p:nvSpPr>
          <p:cNvPr id="18440" name="文本框 9"/>
          <p:cNvSpPr txBox="1">
            <a:spLocks noChangeArrowheads="1"/>
          </p:cNvSpPr>
          <p:nvPr/>
        </p:nvSpPr>
        <p:spPr bwMode="auto">
          <a:xfrm>
            <a:off x="3005944" y="5613799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生产调度</a:t>
            </a:r>
          </a:p>
        </p:txBody>
      </p:sp>
      <p:sp>
        <p:nvSpPr>
          <p:cNvPr id="3" name="下箭头 2"/>
          <p:cNvSpPr/>
          <p:nvPr/>
        </p:nvSpPr>
        <p:spPr>
          <a:xfrm>
            <a:off x="4107223" y="2201696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4107223" y="298178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107223" y="3761870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4107223" y="4541957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4107223" y="532204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文本框 1"/>
          <p:cNvSpPr txBox="1">
            <a:spLocks noChangeArrowheads="1"/>
          </p:cNvSpPr>
          <p:nvPr/>
        </p:nvSpPr>
        <p:spPr bwMode="auto">
          <a:xfrm>
            <a:off x="3005944" y="1086587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1800" dirty="0">
                <a:solidFill>
                  <a:schemeClr val="tx2"/>
                </a:solidFill>
                <a:latin typeface="宋体" panose="02010600030101010101" pitchFamily="2" charset="-122"/>
              </a:rPr>
              <a:t>系统集成体系框架</a:t>
            </a:r>
            <a:endParaRPr lang="zh-CN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4107223" y="147018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文本框 9"/>
          <p:cNvSpPr txBox="1">
            <a:spLocks noChangeArrowheads="1"/>
          </p:cNvSpPr>
          <p:nvPr/>
        </p:nvSpPr>
        <p:spPr bwMode="auto">
          <a:xfrm>
            <a:off x="3005944" y="6372036"/>
            <a:ext cx="3132112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集散控制系统</a:t>
            </a:r>
          </a:p>
        </p:txBody>
      </p:sp>
      <p:sp>
        <p:nvSpPr>
          <p:cNvPr id="20" name="下箭头 19"/>
          <p:cNvSpPr/>
          <p:nvPr/>
        </p:nvSpPr>
        <p:spPr>
          <a:xfrm>
            <a:off x="4081462" y="606963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99792" y="1701984"/>
            <a:ext cx="4104456" cy="436764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生产计划与控制</a:t>
            </a:r>
          </a:p>
        </p:txBody>
      </p:sp>
    </p:spTree>
    <p:extLst>
      <p:ext uri="{BB962C8B-B14F-4D97-AF65-F5344CB8AC3E}">
        <p14:creationId xmlns:p14="http://schemas.microsoft.com/office/powerpoint/2010/main" val="105511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52115"/>
          </a:xfrm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主要参考教材</a:t>
            </a: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33501"/>
            <a:ext cx="1944688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9" t="2458" r="12354"/>
          <a:stretch>
            <a:fillRect/>
          </a:stretch>
        </p:blipFill>
        <p:spPr bwMode="auto">
          <a:xfrm>
            <a:off x="3491880" y="1160898"/>
            <a:ext cx="2232248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1150561"/>
            <a:ext cx="2088232" cy="287877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39553" y="4399124"/>
            <a:ext cx="8452047" cy="2342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吴爱华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张绪柱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王平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生产计划与控制（第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版）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北京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机械工业出版社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2017</a:t>
            </a: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Nahmias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S. Production and Operations Analysis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7th Edition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北京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清华大学出版社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2018</a:t>
            </a: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刘翠玲，黄建兵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集散控制系统（第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版）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北京：北京大学出版社，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</a:p>
        </p:txBody>
      </p:sp>
    </p:spTree>
    <p:extLst>
      <p:ext uri="{BB962C8B-B14F-4D97-AF65-F5344CB8AC3E}">
        <p14:creationId xmlns:p14="http://schemas.microsoft.com/office/powerpoint/2010/main" val="199774509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827088" y="704031"/>
            <a:ext cx="7127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章 系统集成体系框架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051050" y="2072456"/>
            <a:ext cx="496887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1.1 </a:t>
            </a:r>
            <a:r>
              <a:rPr kumimoji="0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系统的基本概念 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1.2 </a:t>
            </a:r>
            <a:r>
              <a:rPr kumimoji="0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系统集成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1.3 </a:t>
            </a:r>
            <a:r>
              <a:rPr kumimoji="0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企业信息系统集成</a:t>
            </a:r>
            <a:endParaRPr kumimoji="0"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1.4 </a:t>
            </a:r>
            <a:r>
              <a:rPr kumimoji="0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系统集成与智能制造</a:t>
            </a:r>
            <a:endParaRPr kumimoji="0" lang="en-US" altLang="zh-CN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6180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F991B8-381E-407C-B2D3-871135F99C45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400" dirty="0"/>
          </a:p>
        </p:txBody>
      </p:sp>
      <p:sp>
        <p:nvSpPr>
          <p:cNvPr id="46083" name="Rectangle 8"/>
          <p:cNvSpPr>
            <a:spLocks noGrp="1" noChangeArrowheads="1"/>
          </p:cNvSpPr>
          <p:nvPr>
            <p:ph type="title"/>
          </p:nvPr>
        </p:nvSpPr>
        <p:spPr>
          <a:xfrm>
            <a:off x="611188" y="620688"/>
            <a:ext cx="7793037" cy="544512"/>
          </a:xfrm>
          <a:noFill/>
        </p:spPr>
        <p:txBody>
          <a:bodyPr/>
          <a:lstStyle/>
          <a:p>
            <a:pPr eaLnBrk="1" hangingPunct="1"/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1.1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系统的基本概念</a:t>
            </a:r>
          </a:p>
        </p:txBody>
      </p:sp>
      <p:sp>
        <p:nvSpPr>
          <p:cNvPr id="46084" name="Text Box 9"/>
          <p:cNvSpPr txBox="1">
            <a:spLocks noChangeArrowheads="1"/>
          </p:cNvSpPr>
          <p:nvPr/>
        </p:nvSpPr>
        <p:spPr bwMode="auto">
          <a:xfrm>
            <a:off x="971550" y="1485875"/>
            <a:ext cx="770413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chemeClr val="bg2"/>
              </a:buClr>
              <a:buSzPct val="75000"/>
            </a:pP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大家见过哪些系统？</a:t>
            </a:r>
            <a:endParaRPr lang="en-US" altLang="zh-CN" sz="32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bg2"/>
              </a:buClr>
              <a:buSzPct val="75000"/>
            </a:pPr>
            <a:endParaRPr lang="en-US" altLang="zh-CN" sz="32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bg2"/>
              </a:buClr>
              <a:buSzPct val="75000"/>
            </a:pPr>
            <a:endParaRPr lang="zh-CN" altLang="en-US" sz="32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bg2"/>
              </a:buClr>
              <a:buSzPct val="75000"/>
            </a:pP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什么是系统？</a:t>
            </a:r>
            <a:endParaRPr lang="en-US" altLang="zh-CN" sz="32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5395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F991B8-381E-407C-B2D3-871135F99C45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1400" dirty="0"/>
          </a:p>
        </p:txBody>
      </p:sp>
      <p:sp>
        <p:nvSpPr>
          <p:cNvPr id="46083" name="Rectangle 8"/>
          <p:cNvSpPr>
            <a:spLocks noGrp="1" noChangeArrowheads="1"/>
          </p:cNvSpPr>
          <p:nvPr>
            <p:ph type="title"/>
          </p:nvPr>
        </p:nvSpPr>
        <p:spPr>
          <a:xfrm>
            <a:off x="611188" y="620688"/>
            <a:ext cx="7793037" cy="544512"/>
          </a:xfrm>
          <a:noFill/>
        </p:spPr>
        <p:txBody>
          <a:bodyPr/>
          <a:lstStyle/>
          <a:p>
            <a:pPr eaLnBrk="1" hangingPunct="1"/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1.1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系统的基本概念</a:t>
            </a:r>
          </a:p>
        </p:txBody>
      </p:sp>
      <p:sp>
        <p:nvSpPr>
          <p:cNvPr id="46084" name="Text Box 9"/>
          <p:cNvSpPr txBox="1">
            <a:spLocks noChangeArrowheads="1"/>
          </p:cNvSpPr>
          <p:nvPr/>
        </p:nvSpPr>
        <p:spPr bwMode="auto">
          <a:xfrm>
            <a:off x="971550" y="1485875"/>
            <a:ext cx="7704138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系统论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的创立者贝塔朗菲</a:t>
            </a:r>
            <a:r>
              <a:rPr lang="zh-CN" altLang="en-US" sz="2400" b="0" dirty="0">
                <a:latin typeface="宋体" panose="02010600030101010101" pitchFamily="2" charset="-122"/>
              </a:rPr>
              <a:t>：相互作用的要素的综合体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endParaRPr lang="en-US" altLang="zh-CN" sz="2400" b="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0" dirty="0">
                <a:latin typeface="宋体" panose="02010600030101010101" pitchFamily="2" charset="-122"/>
              </a:rPr>
              <a:t>目前比较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公认的定义</a:t>
            </a:r>
            <a:r>
              <a:rPr lang="zh-CN" altLang="en-US" sz="2400" b="0" dirty="0">
                <a:latin typeface="宋体" panose="02010600030101010101" pitchFamily="2" charset="-122"/>
              </a:rPr>
              <a:t>：系统是为达到某种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目的</a:t>
            </a:r>
            <a:r>
              <a:rPr lang="zh-CN" altLang="en-US" sz="2400" b="0" dirty="0">
                <a:latin typeface="宋体" panose="02010600030101010101" pitchFamily="2" charset="-122"/>
              </a:rPr>
              <a:t>，由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相互作用、相互关联的若干要素</a:t>
            </a:r>
            <a:r>
              <a:rPr lang="zh-CN" altLang="en-US" sz="2400" b="0" dirty="0">
                <a:latin typeface="宋体" panose="02010600030101010101" pitchFamily="2" charset="-122"/>
              </a:rPr>
              <a:t>结合而成的具有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特定功能</a:t>
            </a:r>
            <a:r>
              <a:rPr lang="zh-CN" altLang="en-US" sz="2400" b="0" dirty="0">
                <a:latin typeface="宋体" panose="02010600030101010101" pitchFamily="2" charset="-122"/>
              </a:rPr>
              <a:t>的有机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整体</a:t>
            </a:r>
            <a:endParaRPr lang="zh-CN" altLang="en-US" sz="2400" b="0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050450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6FF43D-B845-42DF-96C6-1FB600EB09C2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400"/>
          </a:p>
        </p:txBody>
      </p:sp>
      <p:sp>
        <p:nvSpPr>
          <p:cNvPr id="47107" name="Oval 5"/>
          <p:cNvSpPr>
            <a:spLocks noChangeArrowheads="1"/>
          </p:cNvSpPr>
          <p:nvPr/>
        </p:nvSpPr>
        <p:spPr bwMode="auto">
          <a:xfrm>
            <a:off x="1546225" y="1740371"/>
            <a:ext cx="1512888" cy="574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/>
              <a:t>输入</a:t>
            </a:r>
          </a:p>
        </p:txBody>
      </p:sp>
      <p:sp>
        <p:nvSpPr>
          <p:cNvPr id="47108" name="Oval 7"/>
          <p:cNvSpPr>
            <a:spLocks noChangeArrowheads="1"/>
          </p:cNvSpPr>
          <p:nvPr/>
        </p:nvSpPr>
        <p:spPr bwMode="auto">
          <a:xfrm>
            <a:off x="5867400" y="1741958"/>
            <a:ext cx="1512888" cy="574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/>
              <a:t>输出</a:t>
            </a:r>
          </a:p>
        </p:txBody>
      </p:sp>
      <p:sp>
        <p:nvSpPr>
          <p:cNvPr id="47109" name="Rectangle 8"/>
          <p:cNvSpPr>
            <a:spLocks noChangeArrowheads="1"/>
          </p:cNvSpPr>
          <p:nvPr/>
        </p:nvSpPr>
        <p:spPr bwMode="auto">
          <a:xfrm>
            <a:off x="3706813" y="1811808"/>
            <a:ext cx="1512887" cy="433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/>
              <a:t>系统</a:t>
            </a:r>
          </a:p>
        </p:txBody>
      </p:sp>
      <p:sp>
        <p:nvSpPr>
          <p:cNvPr id="47110" name="Text Box 14"/>
          <p:cNvSpPr txBox="1">
            <a:spLocks noChangeArrowheads="1"/>
          </p:cNvSpPr>
          <p:nvPr/>
        </p:nvSpPr>
        <p:spPr bwMode="auto">
          <a:xfrm>
            <a:off x="3096419" y="729133"/>
            <a:ext cx="2951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系统的三要素</a:t>
            </a:r>
          </a:p>
        </p:txBody>
      </p:sp>
      <p:sp>
        <p:nvSpPr>
          <p:cNvPr id="47111" name="Text Box 15"/>
          <p:cNvSpPr txBox="1">
            <a:spLocks noChangeArrowheads="1"/>
          </p:cNvSpPr>
          <p:nvPr/>
        </p:nvSpPr>
        <p:spPr bwMode="auto">
          <a:xfrm>
            <a:off x="684213" y="2892896"/>
            <a:ext cx="8208962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400" b="0"/>
              <a:t> </a:t>
            </a:r>
            <a:r>
              <a:rPr lang="zh-CN" altLang="en-US" sz="2400" b="0"/>
              <a:t>系统是相对于外部环境而言的，外部环境向系统提供资源、能量、信息等，称为</a:t>
            </a:r>
            <a:r>
              <a:rPr lang="zh-CN" altLang="en-US" sz="2400" b="0">
                <a:latin typeface="Times New Roman" panose="02020603050405020304" pitchFamily="18" charset="0"/>
              </a:rPr>
              <a:t>“</a:t>
            </a:r>
            <a:r>
              <a:rPr lang="zh-CN" altLang="en-US" sz="2400" b="0"/>
              <a:t>输入</a:t>
            </a:r>
            <a:r>
              <a:rPr lang="zh-CN" altLang="en-US" sz="2400" b="0">
                <a:latin typeface="Times New Roman" panose="02020603050405020304" pitchFamily="18" charset="0"/>
              </a:rPr>
              <a:t>”</a:t>
            </a:r>
            <a:endParaRPr lang="zh-CN" altLang="en-US" sz="2400" b="0"/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0"/>
              <a:t> 系统应用自身所具有的功能，对输入的元素进行转换处理，形成有用产品，再</a:t>
            </a:r>
            <a:r>
              <a:rPr lang="zh-CN" altLang="en-US" sz="2400" b="0">
                <a:latin typeface="Times New Roman" panose="02020603050405020304" pitchFamily="18" charset="0"/>
              </a:rPr>
              <a:t>“</a:t>
            </a:r>
            <a:r>
              <a:rPr lang="zh-CN" altLang="en-US" sz="2400" b="0"/>
              <a:t>输出</a:t>
            </a:r>
            <a:r>
              <a:rPr lang="zh-CN" altLang="en-US" sz="2400" b="0">
                <a:latin typeface="Times New Roman" panose="02020603050405020304" pitchFamily="18" charset="0"/>
              </a:rPr>
              <a:t>”</a:t>
            </a:r>
            <a:r>
              <a:rPr lang="zh-CN" altLang="en-US" sz="2400" b="0"/>
              <a:t>到外部环境供其使用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0"/>
              <a:t> 由于外部环境的影响，系统的输出结果可能偏离预期目标，所以系统还具有将输出结果的信息反馈给输入的功能。 </a:t>
            </a:r>
          </a:p>
        </p:txBody>
      </p:sp>
      <p:sp>
        <p:nvSpPr>
          <p:cNvPr id="47112" name="Line 16"/>
          <p:cNvSpPr>
            <a:spLocks noChangeShapeType="1"/>
          </p:cNvSpPr>
          <p:nvPr/>
        </p:nvSpPr>
        <p:spPr bwMode="auto">
          <a:xfrm>
            <a:off x="3059113" y="2029296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7113" name="Line 17"/>
          <p:cNvSpPr>
            <a:spLocks noChangeShapeType="1"/>
          </p:cNvSpPr>
          <p:nvPr/>
        </p:nvSpPr>
        <p:spPr bwMode="auto">
          <a:xfrm>
            <a:off x="5219700" y="2029296"/>
            <a:ext cx="64928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9286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3E770F-8E11-45B0-8EFC-AA22C0AEFAE1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400"/>
          </a:p>
        </p:txBody>
      </p:sp>
      <p:graphicFrame>
        <p:nvGraphicFramePr>
          <p:cNvPr id="481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629153"/>
              </p:ext>
            </p:extLst>
          </p:nvPr>
        </p:nvGraphicFramePr>
        <p:xfrm>
          <a:off x="3203575" y="1974626"/>
          <a:ext cx="5329238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7" r:id="rId3" imgW="3785437" imgH="2090748" progId="Visio.Drawing.11">
                  <p:embed/>
                </p:oleObj>
              </mc:Choice>
              <mc:Fallback>
                <p:oleObj r:id="rId3" imgW="3785437" imgH="2090748" progId="Visio.Drawing.11">
                  <p:embed/>
                  <p:pic>
                    <p:nvPicPr>
                      <p:cNvPr id="4813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974626"/>
                        <a:ext cx="5329238" cy="266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11"/>
          <p:cNvSpPr txBox="1">
            <a:spLocks noChangeArrowheads="1"/>
          </p:cNvSpPr>
          <p:nvPr/>
        </p:nvSpPr>
        <p:spPr bwMode="auto">
          <a:xfrm>
            <a:off x="4932363" y="4630514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/>
              <a:t>系统的一般模式</a:t>
            </a:r>
          </a:p>
        </p:txBody>
      </p:sp>
      <p:sp>
        <p:nvSpPr>
          <p:cNvPr id="48133" name="Text Box 12"/>
          <p:cNvSpPr txBox="1">
            <a:spLocks noChangeArrowheads="1"/>
          </p:cNvSpPr>
          <p:nvPr/>
        </p:nvSpPr>
        <p:spPr bwMode="auto">
          <a:xfrm>
            <a:off x="684213" y="2188939"/>
            <a:ext cx="5256212" cy="361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0" dirty="0"/>
              <a:t>系统环节构成：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0" dirty="0">
                <a:solidFill>
                  <a:schemeClr val="hlink"/>
                </a:solidFill>
              </a:rPr>
              <a:t> </a:t>
            </a:r>
            <a:r>
              <a:rPr lang="zh-CN" altLang="en-US" b="0" dirty="0"/>
              <a:t>输入部分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0" dirty="0">
                <a:solidFill>
                  <a:schemeClr val="hlink"/>
                </a:solidFill>
              </a:rPr>
              <a:t> </a:t>
            </a:r>
            <a:r>
              <a:rPr lang="zh-CN" altLang="en-US" b="0" dirty="0"/>
              <a:t>输出部分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0" dirty="0"/>
              <a:t> 转换过程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0" dirty="0"/>
              <a:t> 系统运行过程中的信息反馈</a:t>
            </a:r>
          </a:p>
        </p:txBody>
      </p:sp>
      <p:sp>
        <p:nvSpPr>
          <p:cNvPr id="48134" name="Text Box 13"/>
          <p:cNvSpPr txBox="1">
            <a:spLocks noChangeArrowheads="1"/>
          </p:cNvSpPr>
          <p:nvPr/>
        </p:nvSpPr>
        <p:spPr bwMode="auto">
          <a:xfrm>
            <a:off x="2339975" y="745901"/>
            <a:ext cx="4464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系统的三要素</a:t>
            </a:r>
          </a:p>
        </p:txBody>
      </p:sp>
    </p:spTree>
    <p:extLst>
      <p:ext uri="{BB962C8B-B14F-4D97-AF65-F5344CB8AC3E}">
        <p14:creationId xmlns:p14="http://schemas.microsoft.com/office/powerpoint/2010/main" val="94068994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19EC25-8820-40FF-9536-47DCBDE9E3D2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400"/>
          </a:p>
        </p:txBody>
      </p:sp>
      <p:sp>
        <p:nvSpPr>
          <p:cNvPr id="49155" name="Text Box 0"/>
          <p:cNvSpPr txBox="1">
            <a:spLocks noChangeArrowheads="1"/>
          </p:cNvSpPr>
          <p:nvPr/>
        </p:nvSpPr>
        <p:spPr bwMode="auto">
          <a:xfrm>
            <a:off x="757238" y="1216049"/>
            <a:ext cx="799147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整体性</a:t>
            </a:r>
            <a:r>
              <a:rPr lang="zh-CN" altLang="en-US" sz="2400" dirty="0">
                <a:latin typeface="宋体" panose="02010600030101010101" pitchFamily="2" charset="-122"/>
              </a:rPr>
              <a:t>：</a:t>
            </a:r>
            <a:r>
              <a:rPr lang="zh-CN" altLang="en-US" sz="2400" b="0" dirty="0">
                <a:latin typeface="宋体" panose="02010600030101010101" pitchFamily="2" charset="-122"/>
              </a:rPr>
              <a:t>整体大于部分之和</a:t>
            </a:r>
            <a:r>
              <a:rPr lang="zh-CN" altLang="en-US" sz="2400" b="0" dirty="0"/>
              <a:t>   </a:t>
            </a:r>
            <a:r>
              <a:rPr lang="en-US" altLang="zh-CN" sz="2400" b="0" dirty="0"/>
              <a:t>1+1&gt;2</a:t>
            </a:r>
            <a:endParaRPr lang="zh-CN" altLang="en-US" sz="2400" b="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相关性</a:t>
            </a:r>
            <a:r>
              <a:rPr lang="zh-CN" altLang="en-US" sz="2400" dirty="0">
                <a:latin typeface="宋体" panose="02010600030101010101" pitchFamily="2" charset="-122"/>
              </a:rPr>
              <a:t>：</a:t>
            </a:r>
            <a:r>
              <a:rPr lang="zh-CN" altLang="en-US" sz="2400" b="0" dirty="0"/>
              <a:t>系统构成要素之间存在着相互作用和相互依赖的内在联系</a:t>
            </a:r>
            <a:endParaRPr lang="zh-CN" altLang="en-US" sz="2400" b="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目的性</a:t>
            </a:r>
            <a:r>
              <a:rPr lang="zh-CN" altLang="en-US" sz="2400" dirty="0">
                <a:latin typeface="宋体" panose="02010600030101010101" pitchFamily="2" charset="-122"/>
              </a:rPr>
              <a:t>：</a:t>
            </a:r>
            <a:r>
              <a:rPr lang="zh-CN" altLang="en-US" sz="2400" b="0" dirty="0"/>
              <a:t>任何一个系统都是以实现某种功能为目的的，其行为具有极其明确的目标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动态性</a:t>
            </a:r>
            <a:r>
              <a:rPr lang="zh-CN" altLang="en-US" sz="2400" dirty="0"/>
              <a:t>：</a:t>
            </a:r>
            <a:r>
              <a:rPr lang="zh-CN" altLang="en-US" sz="2400" b="0" dirty="0"/>
              <a:t>系统的动态性是指系统处于不断的变化和运动之中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适应性</a:t>
            </a:r>
            <a:r>
              <a:rPr lang="zh-CN" altLang="en-US" sz="2400" dirty="0"/>
              <a:t>：</a:t>
            </a:r>
            <a:r>
              <a:rPr lang="zh-CN" altLang="en-US" sz="2400" b="0" dirty="0"/>
              <a:t>系统必须具有自我调节能力，以适应环境的各种变化</a:t>
            </a:r>
          </a:p>
        </p:txBody>
      </p:sp>
      <p:sp>
        <p:nvSpPr>
          <p:cNvPr id="49156" name="Rectangle 7"/>
          <p:cNvSpPr>
            <a:spLocks noChangeArrowheads="1"/>
          </p:cNvSpPr>
          <p:nvPr/>
        </p:nvSpPr>
        <p:spPr bwMode="auto">
          <a:xfrm>
            <a:off x="2838450" y="442937"/>
            <a:ext cx="3068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系统的主要特征</a:t>
            </a:r>
          </a:p>
        </p:txBody>
      </p:sp>
    </p:spTree>
    <p:extLst>
      <p:ext uri="{BB962C8B-B14F-4D97-AF65-F5344CB8AC3E}">
        <p14:creationId xmlns:p14="http://schemas.microsoft.com/office/powerpoint/2010/main" val="5099898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B9CF04-9E96-48D8-BDE4-CA182553D306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400"/>
          </a:p>
        </p:txBody>
      </p:sp>
      <p:sp>
        <p:nvSpPr>
          <p:cNvPr id="50179" name="Text Box 2053"/>
          <p:cNvSpPr txBox="1">
            <a:spLocks noChangeArrowheads="1"/>
          </p:cNvSpPr>
          <p:nvPr/>
        </p:nvSpPr>
        <p:spPr bwMode="auto">
          <a:xfrm>
            <a:off x="2339975" y="473298"/>
            <a:ext cx="4392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几种基本的系统原理 </a:t>
            </a:r>
          </a:p>
        </p:txBody>
      </p:sp>
      <p:sp>
        <p:nvSpPr>
          <p:cNvPr id="50180" name="Text Box 2055"/>
          <p:cNvSpPr txBox="1">
            <a:spLocks noChangeArrowheads="1"/>
          </p:cNvSpPr>
          <p:nvPr/>
        </p:nvSpPr>
        <p:spPr bwMode="auto">
          <a:xfrm>
            <a:off x="684213" y="1129307"/>
            <a:ext cx="7920037" cy="518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整体性原理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zh-CN" altLang="en-US" b="0" dirty="0">
                <a:latin typeface="宋体" panose="02010600030101010101" pitchFamily="2" charset="-122"/>
              </a:rPr>
              <a:t>整体大于它的各个部分的总和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层次性原理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zh-CN" altLang="en-US" b="0" dirty="0">
                <a:latin typeface="宋体" panose="02010600030101010101" pitchFamily="2" charset="-122"/>
              </a:rPr>
              <a:t>系统组织在地位与作用、结构与功能上表现出等级秩序，形成具有质的差异的系统等级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开放性原理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zh-CN" altLang="en-US" b="0" dirty="0"/>
              <a:t>系统具有不断与外界环境交换物质、能量、信息的性质和功能（接口）   </a:t>
            </a:r>
            <a:endParaRPr lang="zh-CN" altLang="en-US" b="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目的性原理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zh-CN" altLang="en-US" b="0" dirty="0"/>
              <a:t>系统在与环境的相互作用中，表现出某种趋向预先确定的状态的特性</a:t>
            </a:r>
            <a:r>
              <a:rPr lang="zh-CN" altLang="en-US" sz="2400" b="0" dirty="0"/>
              <a:t> </a:t>
            </a:r>
            <a:r>
              <a:rPr lang="zh-CN" altLang="en-US" sz="2400" b="0" dirty="0">
                <a:latin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109073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791CEC-9DEF-4339-8979-19FEC0E0188C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系统的结构和功能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28502"/>
            <a:ext cx="8415338" cy="4464794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kumimoji="1" lang="zh-CN" altLang="en-US" sz="2800" b="1" kern="12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系统结构</a:t>
            </a:r>
            <a:r>
              <a:rPr lang="zh-CN" altLang="en-US" sz="2800" dirty="0"/>
              <a:t>是指系统内部各组成要素之间的相互关系、相互作用方式或秩序，即各要素之间在时间和空间排列组合的具体形式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</a:pPr>
            <a:endParaRPr lang="zh-CN" altLang="en-US" sz="2800" dirty="0"/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b="1" kern="12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系统功能</a:t>
            </a:r>
            <a:r>
              <a:rPr lang="zh-CN" altLang="en-US" sz="2800" dirty="0"/>
              <a:t>是指系统与外部环境相互作用所反映出来的能力，它体现了一个系统与外部环境之间的物质、能量和信息的输入输出的转换关系</a:t>
            </a:r>
          </a:p>
        </p:txBody>
      </p:sp>
    </p:spTree>
    <p:extLst>
      <p:ext uri="{BB962C8B-B14F-4D97-AF65-F5344CB8AC3E}">
        <p14:creationId xmlns:p14="http://schemas.microsoft.com/office/powerpoint/2010/main" val="193651279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185F9F-B0CC-46EF-8BC5-082A036F71D7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380" y="404664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系统的层次结构：以身边的系统为例</a:t>
            </a:r>
          </a:p>
        </p:txBody>
      </p:sp>
      <p:sp>
        <p:nvSpPr>
          <p:cNvPr id="53252" name="Rectangle 5"/>
          <p:cNvSpPr>
            <a:spLocks noChangeArrowheads="1"/>
          </p:cNvSpPr>
          <p:nvPr/>
        </p:nvSpPr>
        <p:spPr bwMode="auto">
          <a:xfrm>
            <a:off x="0" y="2595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en-US" sz="2400"/>
          </a:p>
        </p:txBody>
      </p:sp>
      <p:graphicFrame>
        <p:nvGraphicFramePr>
          <p:cNvPr id="5325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867837"/>
              </p:ext>
            </p:extLst>
          </p:nvPr>
        </p:nvGraphicFramePr>
        <p:xfrm>
          <a:off x="527286" y="2060848"/>
          <a:ext cx="8075240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32" r:id="rId3" imgW="3964838" imgH="1666890" progId="Visio.Drawing.11">
                  <p:embed/>
                </p:oleObj>
              </mc:Choice>
              <mc:Fallback>
                <p:oleObj r:id="rId3" imgW="3964838" imgH="1666890" progId="Visio.Drawing.11">
                  <p:embed/>
                  <p:pic>
                    <p:nvPicPr>
                      <p:cNvPr id="5325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86" y="2060848"/>
                        <a:ext cx="8075240" cy="352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979712" y="1628800"/>
            <a:ext cx="7344816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b="1" kern="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物流系统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601988" y="2057698"/>
            <a:ext cx="4896544" cy="38884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kern="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              教学组织系统</a:t>
            </a:r>
          </a:p>
        </p:txBody>
      </p:sp>
    </p:spTree>
    <p:extLst>
      <p:ext uri="{BB962C8B-B14F-4D97-AF65-F5344CB8AC3E}">
        <p14:creationId xmlns:p14="http://schemas.microsoft.com/office/powerpoint/2010/main" val="17747171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3CA9D3-2406-4849-9622-1412104DBA04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83568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系统的层次结构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0768"/>
            <a:ext cx="8270875" cy="5040982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战略层</a:t>
            </a:r>
            <a:r>
              <a:rPr lang="zh-CN" altLang="en-US" sz="2800" b="1" dirty="0">
                <a:solidFill>
                  <a:schemeClr val="hlink"/>
                </a:solidFill>
              </a:rPr>
              <a:t>：</a:t>
            </a:r>
            <a:r>
              <a:rPr lang="zh-CN" altLang="en-US" sz="2800" dirty="0"/>
              <a:t>主要对物流系统的总体结构和功能进行统一的规划、设计和评估，其核心内容是物流系统战略规划、供应链物流设计和物流系统评价等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战术层</a:t>
            </a:r>
            <a:r>
              <a:rPr lang="zh-CN" altLang="en-US" sz="2800" b="1" dirty="0">
                <a:solidFill>
                  <a:schemeClr val="hlink"/>
                </a:solidFill>
              </a:rPr>
              <a:t>：</a:t>
            </a:r>
            <a:r>
              <a:rPr lang="zh-CN" altLang="en-US" sz="2800" dirty="0"/>
              <a:t>在总体战略规划的前提下对物流系统流程进行计划、调度和控制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作业层</a:t>
            </a:r>
            <a:r>
              <a:rPr lang="zh-CN" altLang="en-US" sz="2800" b="1" dirty="0">
                <a:solidFill>
                  <a:schemeClr val="hlink"/>
                </a:solidFill>
              </a:rPr>
              <a:t>：</a:t>
            </a:r>
            <a:r>
              <a:rPr lang="zh-CN" altLang="en-US" sz="2800" dirty="0"/>
              <a:t>是按照战术层的计划和调度规则来完成物品的时间转移和空间转移，从而创造出时间效用和空间效用。作业层是生产活动得以实现和运作的载体</a:t>
            </a:r>
          </a:p>
        </p:txBody>
      </p:sp>
    </p:spTree>
    <p:extLst>
      <p:ext uri="{BB962C8B-B14F-4D97-AF65-F5344CB8AC3E}">
        <p14:creationId xmlns:p14="http://schemas.microsoft.com/office/powerpoint/2010/main" val="295851961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23D018-B0F5-4937-9686-0BA54161622F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CN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574451"/>
            <a:ext cx="7913688" cy="54927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系统的功能结构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060351"/>
            <a:ext cx="7920037" cy="3744913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物流系统的功能</a:t>
            </a:r>
            <a:r>
              <a:rPr lang="zh-CN" altLang="en-US" sz="2800" dirty="0"/>
              <a:t>指的是物流系统所具有的完成基本物流活动的能力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物流系统功能要素之间相互作用和组合的方式就是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物流系统的功能结构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物流系统从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功能结构</a:t>
            </a:r>
            <a:r>
              <a:rPr lang="zh-CN" altLang="en-US" sz="2800" dirty="0"/>
              <a:t>上可分为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物流信息系统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物流作业系统</a:t>
            </a:r>
            <a:r>
              <a:rPr lang="zh-CN" altLang="en-US" sz="2800" dirty="0"/>
              <a:t>两个子系统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00113" y="1325339"/>
            <a:ext cx="309582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kern="0" dirty="0">
                <a:latin typeface="Times New Roman" panose="02020603050405020304" pitchFamily="18" charset="0"/>
              </a:rPr>
              <a:t>以物流系统为例：</a:t>
            </a:r>
          </a:p>
        </p:txBody>
      </p:sp>
    </p:spTree>
    <p:extLst>
      <p:ext uri="{BB962C8B-B14F-4D97-AF65-F5344CB8AC3E}">
        <p14:creationId xmlns:p14="http://schemas.microsoft.com/office/powerpoint/2010/main" val="81586958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F54076-0EFC-47BB-BA9B-5ED5F599EB2F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CN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68760"/>
            <a:ext cx="8229600" cy="72008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系统的功能结构</a:t>
            </a:r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en-US" sz="2400"/>
          </a:p>
        </p:txBody>
      </p:sp>
      <p:graphicFrame>
        <p:nvGraphicFramePr>
          <p:cNvPr id="563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316547"/>
              </p:ext>
            </p:extLst>
          </p:nvPr>
        </p:nvGraphicFramePr>
        <p:xfrm>
          <a:off x="755650" y="2080543"/>
          <a:ext cx="3529013" cy="386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7" r:id="rId3" imgW="2212637" imgH="2104742" progId="Visio.Drawing.11">
                  <p:embed/>
                </p:oleObj>
              </mc:Choice>
              <mc:Fallback>
                <p:oleObj r:id="rId3" imgW="2212637" imgH="2104742" progId="Visio.Drawing.11">
                  <p:embed/>
                  <p:pic>
                    <p:nvPicPr>
                      <p:cNvPr id="563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080543"/>
                        <a:ext cx="3529013" cy="386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AutoShape 7"/>
          <p:cNvSpPr>
            <a:spLocks noChangeArrowheads="1"/>
          </p:cNvSpPr>
          <p:nvPr/>
        </p:nvSpPr>
        <p:spPr bwMode="auto">
          <a:xfrm>
            <a:off x="5057775" y="2132930"/>
            <a:ext cx="3594100" cy="3744913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rgbClr val="B2B2B2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物流信息系统与物流作业系统的层次关系：</a:t>
            </a:r>
            <a:endParaRPr lang="en-US" altLang="zh-CN" sz="20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信息系统对作业系统下达指令，作业系统反馈信息给信息系统；</a:t>
            </a:r>
            <a:endParaRPr lang="en-US" altLang="zh-CN" sz="20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信息系统处在作业系统的上层，起着调控管理的作用。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900113" y="764704"/>
            <a:ext cx="266382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以物流系统为例：</a:t>
            </a:r>
          </a:p>
        </p:txBody>
      </p:sp>
    </p:spTree>
    <p:extLst>
      <p:ext uri="{BB962C8B-B14F-4D97-AF65-F5344CB8AC3E}">
        <p14:creationId xmlns:p14="http://schemas.microsoft.com/office/powerpoint/2010/main" val="101603302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87624" y="6341258"/>
            <a:ext cx="77045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智能化：智能感知与识别、智能优化与调度、智能分析与决策</a:t>
            </a:r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56871" y="1635221"/>
            <a:ext cx="12471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自动化</a:t>
            </a: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251892" y="3363341"/>
            <a:ext cx="11520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信息化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403648" y="1196929"/>
            <a:ext cx="5904410" cy="4248295"/>
            <a:chOff x="971750" y="2181021"/>
            <a:chExt cx="6984485" cy="463221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750" y="4420555"/>
              <a:ext cx="3312230" cy="239268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980" y="4410593"/>
              <a:ext cx="3672254" cy="2402642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750" y="2181021"/>
              <a:ext cx="3344888" cy="2232155"/>
            </a:xfrm>
            <a:prstGeom prst="rect">
              <a:avLst/>
            </a:prstGeom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979" y="2181022"/>
              <a:ext cx="3672256" cy="225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TextBox 10"/>
          <p:cNvSpPr txBox="1">
            <a:spLocks noChangeArrowheads="1"/>
          </p:cNvSpPr>
          <p:nvPr/>
        </p:nvSpPr>
        <p:spPr bwMode="auto">
          <a:xfrm>
            <a:off x="340684" y="2283266"/>
            <a:ext cx="830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charset="0"/>
              <a:buNone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0"/>
          <p:cNvSpPr txBox="1">
            <a:spLocks noChangeArrowheads="1"/>
          </p:cNvSpPr>
          <p:nvPr/>
        </p:nvSpPr>
        <p:spPr bwMode="auto">
          <a:xfrm>
            <a:off x="1251213" y="5777154"/>
            <a:ext cx="65216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系统化：系统建模、系统分析、系统设计、系统优化</a:t>
            </a: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7560717" y="1894701"/>
            <a:ext cx="133177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京东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菜鸟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亚马逊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ClrTx/>
              <a:buFont typeface="Arial" charset="0"/>
              <a:buNone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10"/>
          <p:cNvSpPr txBox="1">
            <a:spLocks noChangeArrowheads="1"/>
          </p:cNvSpPr>
          <p:nvPr/>
        </p:nvSpPr>
        <p:spPr bwMode="auto">
          <a:xfrm>
            <a:off x="7380387" y="1419206"/>
            <a:ext cx="1800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无人仓系统：</a:t>
            </a:r>
          </a:p>
        </p:txBody>
      </p:sp>
      <p:sp>
        <p:nvSpPr>
          <p:cNvPr id="15" name="TextBox 10"/>
          <p:cNvSpPr txBox="1">
            <a:spLocks noChangeArrowheads="1"/>
          </p:cNvSpPr>
          <p:nvPr/>
        </p:nvSpPr>
        <p:spPr bwMode="auto">
          <a:xfrm>
            <a:off x="261252" y="4953183"/>
            <a:ext cx="11520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智能化</a:t>
            </a:r>
          </a:p>
        </p:txBody>
      </p:sp>
      <p:sp>
        <p:nvSpPr>
          <p:cNvPr id="18" name="TextBox 10"/>
          <p:cNvSpPr txBox="1">
            <a:spLocks noChangeArrowheads="1"/>
          </p:cNvSpPr>
          <p:nvPr/>
        </p:nvSpPr>
        <p:spPr bwMode="auto">
          <a:xfrm>
            <a:off x="350044" y="3873108"/>
            <a:ext cx="830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charset="0"/>
              <a:buNone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503461"/>
            <a:ext cx="7913688" cy="549275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系统的功能结构</a:t>
            </a:r>
          </a:p>
        </p:txBody>
      </p:sp>
    </p:spTree>
    <p:extLst>
      <p:ext uri="{BB962C8B-B14F-4D97-AF65-F5344CB8AC3E}">
        <p14:creationId xmlns:p14="http://schemas.microsoft.com/office/powerpoint/2010/main" val="17136595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EA048B-5081-4A23-B7F5-D64A69450EB2}" type="slidenum">
              <a:rPr kumimoji="0"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140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系统结构是系统功能的基础，结构决定功能</a:t>
            </a:r>
            <a:r>
              <a:rPr lang="zh-CN" altLang="en-US" sz="2400" dirty="0"/>
              <a:t>。系统结构说明了系统内部状态和内部作用，而系统功能说明了系统的外部状态和外部作用，它是系统内部固有能力的外部表现，是由系统结构所决定的</a:t>
            </a:r>
            <a:endParaRPr lang="en-US" altLang="zh-CN" sz="2400" dirty="0"/>
          </a:p>
          <a:p>
            <a:pPr eaLnBrk="1" hangingPunct="1">
              <a:lnSpc>
                <a:spcPct val="125000"/>
              </a:lnSpc>
            </a:pPr>
            <a:endParaRPr lang="zh-CN" altLang="en-US" sz="2400" dirty="0"/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系统结构具有相对的独立性，系统功能则具有易变性和相关性</a:t>
            </a:r>
            <a:r>
              <a:rPr lang="zh-CN" altLang="en-US" sz="2400" dirty="0"/>
              <a:t>，它对系统结构具有绝对的依赖性，它的发挥受环境变化和系统结构的决定和制约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系统的结构和功能</a:t>
            </a:r>
          </a:p>
        </p:txBody>
      </p:sp>
    </p:spTree>
    <p:extLst>
      <p:ext uri="{BB962C8B-B14F-4D97-AF65-F5344CB8AC3E}">
        <p14:creationId xmlns:p14="http://schemas.microsoft.com/office/powerpoint/2010/main" val="347381635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03461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1.2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150" y="1700361"/>
            <a:ext cx="7993063" cy="47529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大家见过系统集成的场景吗？</a:t>
            </a:r>
            <a:endParaRPr lang="en-US" altLang="zh-C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什么是系统集成？</a:t>
            </a:r>
            <a:endParaRPr lang="zh-CN" altLang="en-US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34072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03461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1.2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150" y="1700361"/>
            <a:ext cx="7993063" cy="47529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集成：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一个整体的各部分之间能彼此有机地、协调地工作，以发挥整体效益，达到整体性能好、功能强的目的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系统集成：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根据用户需求，优选各种技术和产品，将各个分离子系统连接成为一个完整、可靠、经济和有效的整体，并使之能彼此协调工作，发挥整体效益，达到整体优化的目的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系统集成是一门综合性很强的技术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27088" y="1151086"/>
            <a:ext cx="20161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3000" kern="0" dirty="0">
                <a:latin typeface="Times New Roman" panose="02020603050405020304" pitchFamily="18" charset="0"/>
              </a:rPr>
              <a:t>定义：</a:t>
            </a:r>
          </a:p>
        </p:txBody>
      </p:sp>
    </p:spTree>
    <p:extLst>
      <p:ext uri="{BB962C8B-B14F-4D97-AF65-F5344CB8AC3E}">
        <p14:creationId xmlns:p14="http://schemas.microsoft.com/office/powerpoint/2010/main" val="4166357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5500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1.2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79450" y="2159918"/>
            <a:ext cx="8066088" cy="3789362"/>
          </a:xfrm>
        </p:spPr>
        <p:txBody>
          <a:bodyPr/>
          <a:lstStyle/>
          <a:p>
            <a:pPr marL="342900" lvl="1" indent="-342900" eaLnBrk="1" hangingPunct="1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狭义的系统集成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：对分散、异构的系统进行集成的过程，局限在工程技术范畴。</a:t>
            </a:r>
          </a:p>
          <a:p>
            <a:pPr marL="342900" lvl="1" indent="-342900" eaLnBrk="1" hangingPunct="1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广义的系统集成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：按照管理变革的要求对业务流程进行改造或再造，同时对分散、异构的系统进行集成的过程。</a:t>
            </a:r>
          </a:p>
          <a:p>
            <a:pPr marL="342900" lvl="1" indent="-342900" eaLnBrk="1" hangingPunct="1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系统集成的目的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：将系统建设或改造成为具有较高环境适应能力的系统。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00113" y="1412205"/>
            <a:ext cx="20161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3000" kern="0" dirty="0">
                <a:latin typeface="Times New Roman" panose="02020603050405020304" pitchFamily="18" charset="0"/>
              </a:rPr>
              <a:t>定义：</a:t>
            </a:r>
          </a:p>
        </p:txBody>
      </p:sp>
    </p:spTree>
    <p:extLst>
      <p:ext uri="{BB962C8B-B14F-4D97-AF65-F5344CB8AC3E}">
        <p14:creationId xmlns:p14="http://schemas.microsoft.com/office/powerpoint/2010/main" val="6529600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8729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1.2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061617"/>
            <a:ext cx="8255000" cy="41036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过程层面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集成是一种建设过程，将分散的事物统一成相互联系、相互制约、优势互补的系统化建设过程。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状态层面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集成后产生的再造系统体现了相关性、整体性和目标性等状态，是一个整体，而不是一盘“散沙” 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效用层面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400" dirty="0"/>
              <a:t>形成协同的整体，实现系统整体更优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，体现出某些功能目标方面的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改进和优化。</a:t>
            </a:r>
            <a:endParaRPr lang="zh-CN" altLang="en-US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84225" y="1336129"/>
            <a:ext cx="75533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系统集成的含义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：体现在过程、状态和效用三个方面</a:t>
            </a:r>
          </a:p>
        </p:txBody>
      </p:sp>
    </p:spTree>
    <p:extLst>
      <p:ext uri="{BB962C8B-B14F-4D97-AF65-F5344CB8AC3E}">
        <p14:creationId xmlns:p14="http://schemas.microsoft.com/office/powerpoint/2010/main" val="4037319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050504"/>
            <a:ext cx="8205787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建造一个计算机网络并成功地开发各种分布应用，系统集成工程师要懂得计算机网络硬件和软件、计算机操作系统、数据库技术、联机事务处理技术，要有系统工程的观念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当不同厂家的计算机产品、网络产品、操作系统和数据库产品组合在一起时，常常会遇到许多具体的、有些是深层次的技术问题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37616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1.2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27088" y="1401216"/>
            <a:ext cx="20161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kern="0" dirty="0">
                <a:latin typeface="Times New Roman" panose="02020603050405020304" pitchFamily="18" charset="0"/>
              </a:rPr>
              <a:t>案例：</a:t>
            </a:r>
          </a:p>
        </p:txBody>
      </p:sp>
    </p:spTree>
    <p:extLst>
      <p:ext uri="{BB962C8B-B14F-4D97-AF65-F5344CB8AC3E}">
        <p14:creationId xmlns:p14="http://schemas.microsoft.com/office/powerpoint/2010/main" val="29245845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03461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1.2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014"/>
            <a:ext cx="8205787" cy="468032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例如有一系列计算机运行着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Harmony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操作系统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，作为一个系统管理员，可能必须至少需要完成下述工作中的两条：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确保所有的计算机之间可以进行通信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使所有的计算机可以实现文件共享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确保用户可以从任意一台计算机上进行打印操作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所有计算机都连接到互联网上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在任意一台计算机上执行管理操作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27088" y="1123726"/>
            <a:ext cx="20161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kern="0" dirty="0">
                <a:latin typeface="Times New Roman" panose="02020603050405020304" pitchFamily="18" charset="0"/>
              </a:rPr>
              <a:t>案例：</a:t>
            </a:r>
          </a:p>
        </p:txBody>
      </p:sp>
    </p:spTree>
    <p:extLst>
      <p:ext uri="{BB962C8B-B14F-4D97-AF65-F5344CB8AC3E}">
        <p14:creationId xmlns:p14="http://schemas.microsoft.com/office/powerpoint/2010/main" val="1593762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32025" y="664046"/>
            <a:ext cx="4679950" cy="54927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系统集成的分类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675" y="1673696"/>
            <a:ext cx="8569325" cy="44196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一般可分解为硬件集成、网络集成、软件集成、数据集成、业务过程集成和应用集成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硬件集成：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使用硬件设备把各个子系统连接起来，以达到或超过系统设计的性能技术指标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软件集成：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为某特定的应用环境架构的工作平台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网络集成：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主要包括网络互连设备、传输介质、布线系统、服务平台、网络操作系统等，通常需要面对混合网络</a:t>
            </a:r>
          </a:p>
        </p:txBody>
      </p:sp>
    </p:spTree>
    <p:extLst>
      <p:ext uri="{BB962C8B-B14F-4D97-AF65-F5344CB8AC3E}">
        <p14:creationId xmlns:p14="http://schemas.microsoft.com/office/powerpoint/2010/main" val="197182944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412776"/>
            <a:ext cx="8064500" cy="4753074"/>
          </a:xfrm>
        </p:spPr>
        <p:txBody>
          <a:bodyPr/>
          <a:lstStyle/>
          <a:p>
            <a:pPr marL="342900" lvl="1" indent="-342900" eaLnBrk="1" hangingPunct="1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+mn-cs"/>
              </a:rPr>
              <a:t>数据集成：</a:t>
            </a:r>
            <a:r>
              <a:rPr lang="zh-CN" altLang="en-US" sz="2400" dirty="0">
                <a:latin typeface="宋体" panose="02010600030101010101" pitchFamily="2" charset="-122"/>
                <a:cs typeface="+mn-cs"/>
              </a:rPr>
              <a:t>为了完成应用集成和业务过程集成，必须首先解决数据和数据库的集成问题。在集成之前，首先要对数据进行标识并编成目录，另外还要确定元数据模型</a:t>
            </a:r>
          </a:p>
          <a:p>
            <a:pPr marL="342900" lvl="1" indent="-342900" eaLnBrk="1" hangingPunct="1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+mn-cs"/>
              </a:rPr>
              <a:t>应用系统集成：</a:t>
            </a:r>
            <a:r>
              <a:rPr lang="zh-CN" altLang="en-US" sz="2400" dirty="0">
                <a:latin typeface="宋体" panose="02010600030101010101" pitchFamily="2" charset="-122"/>
                <a:cs typeface="+mn-cs"/>
              </a:rPr>
              <a:t>为两个应用中的数据和函数提供接近实时的集成</a:t>
            </a:r>
          </a:p>
          <a:p>
            <a:pPr marL="342900" lvl="1" indent="-342900" eaLnBrk="1" hangingPunct="1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+mn-cs"/>
              </a:rPr>
              <a:t>业务过程集成：</a:t>
            </a:r>
            <a:r>
              <a:rPr lang="zh-CN" altLang="en-US" sz="2400" dirty="0">
                <a:latin typeface="宋体" panose="02010600030101010101" pitchFamily="2" charset="-122"/>
                <a:cs typeface="+mn-cs"/>
              </a:rPr>
              <a:t>包括业务管理、进程模拟以及综合任务、流程、组织和进出信息的工作流，还包括业务处理中每一步都需要的工具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2232025" y="503461"/>
            <a:ext cx="4679950" cy="54927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系统集成的分类</a:t>
            </a:r>
          </a:p>
        </p:txBody>
      </p:sp>
      <p:sp>
        <p:nvSpPr>
          <p:cNvPr id="2" name="动作按钮: 前进或下一项 1">
            <a:hlinkClick r:id="rId2" action="ppaction://hlinksldjump" highlightClick="1"/>
          </p:cNvPr>
          <p:cNvSpPr/>
          <p:nvPr/>
        </p:nvSpPr>
        <p:spPr>
          <a:xfrm>
            <a:off x="8100392" y="6093296"/>
            <a:ext cx="864096" cy="647526"/>
          </a:xfrm>
          <a:prstGeom prst="actionButtonForwardNext">
            <a:avLst/>
          </a:prstGeom>
          <a:solidFill>
            <a:srgbClr val="CC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4655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535285"/>
            <a:ext cx="6624736" cy="5492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系统集成的原则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7265" y="1916931"/>
            <a:ext cx="7416824" cy="3096245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开放性和标准化原则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实用性和先进性原则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可靠性和安全性原则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可用性和经济性原则</a:t>
            </a:r>
          </a:p>
          <a:p>
            <a:pPr lvl="1" eaLnBrk="1" hangingPunct="1">
              <a:lnSpc>
                <a:spcPct val="130000"/>
              </a:lnSpc>
            </a:pPr>
            <a:endParaRPr lang="zh-CN" altLang="en-US" sz="2000" dirty="0"/>
          </a:p>
          <a:p>
            <a:pPr lvl="1" eaLnBrk="1" hangingPunct="1">
              <a:lnSpc>
                <a:spcPct val="130000"/>
              </a:lnSpc>
            </a:pP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46026" y="1367656"/>
            <a:ext cx="59753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/>
              <a:t>系统集成应遵循的原则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35637797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16"/>
          <p:cNvSpPr>
            <a:spLocks noChangeArrowheads="1"/>
          </p:cNvSpPr>
          <p:nvPr/>
        </p:nvSpPr>
        <p:spPr bwMode="auto">
          <a:xfrm>
            <a:off x="3284538" y="1549400"/>
            <a:ext cx="5535612" cy="32845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09" name="Oval 17"/>
          <p:cNvSpPr>
            <a:spLocks noChangeArrowheads="1"/>
          </p:cNvSpPr>
          <p:nvPr/>
        </p:nvSpPr>
        <p:spPr bwMode="auto">
          <a:xfrm>
            <a:off x="3419475" y="1908175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0" name="Oval 18"/>
          <p:cNvSpPr>
            <a:spLocks noChangeArrowheads="1"/>
          </p:cNvSpPr>
          <p:nvPr/>
        </p:nvSpPr>
        <p:spPr bwMode="auto">
          <a:xfrm>
            <a:off x="6164263" y="1908175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1" name="Oval 19"/>
          <p:cNvSpPr>
            <a:spLocks noChangeArrowheads="1"/>
          </p:cNvSpPr>
          <p:nvPr/>
        </p:nvSpPr>
        <p:spPr bwMode="auto">
          <a:xfrm>
            <a:off x="4724400" y="3438525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2" name="Rectangle 20"/>
          <p:cNvSpPr>
            <a:spLocks noChangeArrowheads="1"/>
          </p:cNvSpPr>
          <p:nvPr/>
        </p:nvSpPr>
        <p:spPr bwMode="auto">
          <a:xfrm>
            <a:off x="3284538" y="5149850"/>
            <a:ext cx="5535612" cy="14398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3" name="Oval 21"/>
          <p:cNvSpPr>
            <a:spLocks noChangeArrowheads="1"/>
          </p:cNvSpPr>
          <p:nvPr/>
        </p:nvSpPr>
        <p:spPr bwMode="auto">
          <a:xfrm>
            <a:off x="4768850" y="5238750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4" name="AutoShape 22"/>
          <p:cNvSpPr>
            <a:spLocks noChangeArrowheads="1"/>
          </p:cNvSpPr>
          <p:nvPr/>
        </p:nvSpPr>
        <p:spPr bwMode="auto">
          <a:xfrm>
            <a:off x="4589463" y="1954213"/>
            <a:ext cx="269875" cy="269875"/>
          </a:xfrm>
          <a:prstGeom prst="plus">
            <a:avLst>
              <a:gd name="adj" fmla="val 25000"/>
            </a:avLst>
          </a:prstGeom>
          <a:solidFill>
            <a:srgbClr val="0000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5" name="AutoShape 24"/>
          <p:cNvSpPr>
            <a:spLocks noChangeArrowheads="1"/>
          </p:cNvSpPr>
          <p:nvPr/>
        </p:nvSpPr>
        <p:spPr bwMode="auto">
          <a:xfrm>
            <a:off x="3643313" y="2268538"/>
            <a:ext cx="449262" cy="179387"/>
          </a:xfrm>
          <a:prstGeom prst="plus">
            <a:avLst>
              <a:gd name="adj" fmla="val 3363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6" name="AutoShape 25"/>
          <p:cNvSpPr>
            <a:spLocks noChangeArrowheads="1"/>
          </p:cNvSpPr>
          <p:nvPr/>
        </p:nvSpPr>
        <p:spPr bwMode="auto">
          <a:xfrm>
            <a:off x="4229100" y="2043113"/>
            <a:ext cx="225425" cy="360362"/>
          </a:xfrm>
          <a:prstGeom prst="plus">
            <a:avLst>
              <a:gd name="adj" fmla="val 32458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7" name="AutoShape 26"/>
          <p:cNvSpPr>
            <a:spLocks noChangeArrowheads="1"/>
          </p:cNvSpPr>
          <p:nvPr/>
        </p:nvSpPr>
        <p:spPr bwMode="auto">
          <a:xfrm>
            <a:off x="5219700" y="2133600"/>
            <a:ext cx="404813" cy="269875"/>
          </a:xfrm>
          <a:prstGeom prst="plus">
            <a:avLst>
              <a:gd name="adj" fmla="val 25000"/>
            </a:avLst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8" name="AutoShape 27"/>
          <p:cNvSpPr>
            <a:spLocks noChangeArrowheads="1"/>
          </p:cNvSpPr>
          <p:nvPr/>
        </p:nvSpPr>
        <p:spPr bwMode="auto">
          <a:xfrm>
            <a:off x="4498975" y="2268538"/>
            <a:ext cx="674688" cy="134937"/>
          </a:xfrm>
          <a:prstGeom prst="plus">
            <a:avLst>
              <a:gd name="adj" fmla="val 41593"/>
            </a:avLst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19" name="Oval 28"/>
          <p:cNvSpPr>
            <a:spLocks noChangeArrowheads="1"/>
          </p:cNvSpPr>
          <p:nvPr/>
        </p:nvSpPr>
        <p:spPr bwMode="auto">
          <a:xfrm>
            <a:off x="5759450" y="3529013"/>
            <a:ext cx="719138" cy="179387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0" name="Oval 29"/>
          <p:cNvSpPr>
            <a:spLocks noChangeArrowheads="1"/>
          </p:cNvSpPr>
          <p:nvPr/>
        </p:nvSpPr>
        <p:spPr bwMode="auto">
          <a:xfrm>
            <a:off x="4903788" y="3798888"/>
            <a:ext cx="630237" cy="1793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1" name="Oval 30"/>
          <p:cNvSpPr>
            <a:spLocks noChangeArrowheads="1"/>
          </p:cNvSpPr>
          <p:nvPr/>
        </p:nvSpPr>
        <p:spPr bwMode="auto">
          <a:xfrm>
            <a:off x="5713413" y="3843338"/>
            <a:ext cx="720725" cy="271462"/>
          </a:xfrm>
          <a:prstGeom prst="ellipse">
            <a:avLst/>
          </a:prstGeom>
          <a:solidFill>
            <a:srgbClr val="0000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2" name="Oval 31"/>
          <p:cNvSpPr>
            <a:spLocks noChangeArrowheads="1"/>
          </p:cNvSpPr>
          <p:nvPr/>
        </p:nvSpPr>
        <p:spPr bwMode="auto">
          <a:xfrm>
            <a:off x="6659563" y="3754438"/>
            <a:ext cx="495300" cy="223837"/>
          </a:xfrm>
          <a:prstGeom prst="ellipse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3" name="Rectangle 33"/>
          <p:cNvSpPr>
            <a:spLocks noChangeArrowheads="1"/>
          </p:cNvSpPr>
          <p:nvPr/>
        </p:nvSpPr>
        <p:spPr bwMode="auto">
          <a:xfrm>
            <a:off x="7378700" y="2089150"/>
            <a:ext cx="315913" cy="225425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4" name="Rectangle 34"/>
          <p:cNvSpPr>
            <a:spLocks noChangeArrowheads="1"/>
          </p:cNvSpPr>
          <p:nvPr/>
        </p:nvSpPr>
        <p:spPr bwMode="auto">
          <a:xfrm>
            <a:off x="6704013" y="2133600"/>
            <a:ext cx="404812" cy="225425"/>
          </a:xfrm>
          <a:prstGeom prst="rect">
            <a:avLst/>
          </a:prstGeom>
          <a:solidFill>
            <a:srgbClr val="3333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5" name="Rectangle 35"/>
          <p:cNvSpPr>
            <a:spLocks noChangeArrowheads="1"/>
          </p:cNvSpPr>
          <p:nvPr/>
        </p:nvSpPr>
        <p:spPr bwMode="auto">
          <a:xfrm>
            <a:off x="7920038" y="2089150"/>
            <a:ext cx="404812" cy="2254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6" name="Rectangle 36"/>
          <p:cNvSpPr>
            <a:spLocks noChangeArrowheads="1"/>
          </p:cNvSpPr>
          <p:nvPr/>
        </p:nvSpPr>
        <p:spPr bwMode="auto">
          <a:xfrm>
            <a:off x="6569075" y="2449513"/>
            <a:ext cx="404813" cy="2238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7" name="Rectangle 37"/>
          <p:cNvSpPr>
            <a:spLocks noChangeArrowheads="1"/>
          </p:cNvSpPr>
          <p:nvPr/>
        </p:nvSpPr>
        <p:spPr bwMode="auto">
          <a:xfrm>
            <a:off x="7920038" y="2403475"/>
            <a:ext cx="584200" cy="1349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28" name="Rectangle 38"/>
          <p:cNvSpPr>
            <a:spLocks noChangeArrowheads="1"/>
          </p:cNvSpPr>
          <p:nvPr/>
        </p:nvSpPr>
        <p:spPr bwMode="auto">
          <a:xfrm>
            <a:off x="4319588" y="258445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>
                <a:latin typeface="+mj-ea"/>
                <a:ea typeface="+mj-ea"/>
              </a:rPr>
              <a:t>要素</a:t>
            </a:r>
          </a:p>
        </p:txBody>
      </p:sp>
      <p:sp>
        <p:nvSpPr>
          <p:cNvPr id="21529" name="Rectangle 39"/>
          <p:cNvSpPr>
            <a:spLocks noChangeArrowheads="1"/>
          </p:cNvSpPr>
          <p:nvPr/>
        </p:nvSpPr>
        <p:spPr bwMode="auto">
          <a:xfrm>
            <a:off x="7064375" y="262890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>
                <a:latin typeface="+mj-ea"/>
                <a:ea typeface="+mj-ea"/>
              </a:rPr>
              <a:t>功能</a:t>
            </a:r>
          </a:p>
        </p:txBody>
      </p:sp>
      <p:sp>
        <p:nvSpPr>
          <p:cNvPr id="21530" name="Rectangle 40"/>
          <p:cNvSpPr>
            <a:spLocks noChangeArrowheads="1"/>
          </p:cNvSpPr>
          <p:nvPr/>
        </p:nvSpPr>
        <p:spPr bwMode="auto">
          <a:xfrm>
            <a:off x="5578475" y="420370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>
                <a:latin typeface="+mj-ea"/>
                <a:ea typeface="+mj-ea"/>
              </a:rPr>
              <a:t>资源</a:t>
            </a:r>
          </a:p>
        </p:txBody>
      </p:sp>
      <p:sp>
        <p:nvSpPr>
          <p:cNvPr id="21531" name="AutoShape 41"/>
          <p:cNvSpPr>
            <a:spLocks noChangeArrowheads="1"/>
          </p:cNvSpPr>
          <p:nvPr/>
        </p:nvSpPr>
        <p:spPr bwMode="auto">
          <a:xfrm>
            <a:off x="5803900" y="5329238"/>
            <a:ext cx="539750" cy="358775"/>
          </a:xfrm>
          <a:prstGeom prst="hexagon">
            <a:avLst>
              <a:gd name="adj" fmla="val 37611"/>
              <a:gd name="vf" fmla="val 115470"/>
            </a:avLst>
          </a:prstGeom>
          <a:solidFill>
            <a:srgbClr val="3333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32" name="AutoShape 42"/>
          <p:cNvSpPr>
            <a:spLocks noChangeArrowheads="1"/>
          </p:cNvSpPr>
          <p:nvPr/>
        </p:nvSpPr>
        <p:spPr bwMode="auto">
          <a:xfrm>
            <a:off x="4948238" y="5554663"/>
            <a:ext cx="719137" cy="314325"/>
          </a:xfrm>
          <a:prstGeom prst="hexagon">
            <a:avLst>
              <a:gd name="adj" fmla="val 57197"/>
              <a:gd name="vf" fmla="val 11547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33" name="AutoShape 43"/>
          <p:cNvSpPr>
            <a:spLocks noChangeArrowheads="1"/>
          </p:cNvSpPr>
          <p:nvPr/>
        </p:nvSpPr>
        <p:spPr bwMode="auto">
          <a:xfrm>
            <a:off x="6434138" y="5508625"/>
            <a:ext cx="630237" cy="269875"/>
          </a:xfrm>
          <a:prstGeom prst="hexagon">
            <a:avLst>
              <a:gd name="adj" fmla="val 58382"/>
              <a:gd name="vf" fmla="val 115470"/>
            </a:avLst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34" name="Rectangle 44"/>
          <p:cNvSpPr>
            <a:spLocks noChangeArrowheads="1"/>
          </p:cNvSpPr>
          <p:nvPr/>
        </p:nvSpPr>
        <p:spPr bwMode="auto">
          <a:xfrm>
            <a:off x="5308600" y="5915025"/>
            <a:ext cx="1620838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外界环境资源</a:t>
            </a:r>
          </a:p>
        </p:txBody>
      </p:sp>
      <p:sp>
        <p:nvSpPr>
          <p:cNvPr id="21535" name="AutoShape 45"/>
          <p:cNvSpPr>
            <a:spLocks noChangeArrowheads="1"/>
          </p:cNvSpPr>
          <p:nvPr/>
        </p:nvSpPr>
        <p:spPr bwMode="auto">
          <a:xfrm>
            <a:off x="5308600" y="1863725"/>
            <a:ext cx="1665288" cy="179388"/>
          </a:xfrm>
          <a:prstGeom prst="curvedDownArrow">
            <a:avLst>
              <a:gd name="adj1" fmla="val 185664"/>
              <a:gd name="adj2" fmla="val 371329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36" name="Rectangle 46"/>
          <p:cNvSpPr>
            <a:spLocks noChangeArrowheads="1"/>
          </p:cNvSpPr>
          <p:nvPr/>
        </p:nvSpPr>
        <p:spPr bwMode="auto">
          <a:xfrm>
            <a:off x="5713413" y="150495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组织</a:t>
            </a:r>
          </a:p>
        </p:txBody>
      </p:sp>
      <p:sp>
        <p:nvSpPr>
          <p:cNvPr id="21537" name="AutoShape 47"/>
          <p:cNvSpPr>
            <a:spLocks noChangeArrowheads="1"/>
          </p:cNvSpPr>
          <p:nvPr/>
        </p:nvSpPr>
        <p:spPr bwMode="auto">
          <a:xfrm rot="13465964">
            <a:off x="3643313" y="3349625"/>
            <a:ext cx="1260475" cy="269875"/>
          </a:xfrm>
          <a:prstGeom prst="curvedDownArrow">
            <a:avLst>
              <a:gd name="adj1" fmla="val 93412"/>
              <a:gd name="adj2" fmla="val 18682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38" name="Rectangle 48"/>
          <p:cNvSpPr>
            <a:spLocks noChangeArrowheads="1"/>
          </p:cNvSpPr>
          <p:nvPr/>
        </p:nvSpPr>
        <p:spPr bwMode="auto">
          <a:xfrm>
            <a:off x="3598863" y="3573463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使用</a:t>
            </a:r>
          </a:p>
        </p:txBody>
      </p:sp>
      <p:sp>
        <p:nvSpPr>
          <p:cNvPr id="21539" name="AutoShape 49"/>
          <p:cNvSpPr>
            <a:spLocks noChangeArrowheads="1"/>
          </p:cNvSpPr>
          <p:nvPr/>
        </p:nvSpPr>
        <p:spPr bwMode="auto">
          <a:xfrm rot="18347694">
            <a:off x="7017544" y="3529806"/>
            <a:ext cx="1485900" cy="223838"/>
          </a:xfrm>
          <a:prstGeom prst="curvedUpArrow">
            <a:avLst>
              <a:gd name="adj1" fmla="val 125574"/>
              <a:gd name="adj2" fmla="val 25834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40" name="Rectangle 50"/>
          <p:cNvSpPr>
            <a:spLocks noChangeArrowheads="1"/>
          </p:cNvSpPr>
          <p:nvPr/>
        </p:nvSpPr>
        <p:spPr bwMode="auto">
          <a:xfrm>
            <a:off x="7739063" y="361950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运行</a:t>
            </a:r>
          </a:p>
        </p:txBody>
      </p:sp>
      <p:sp>
        <p:nvSpPr>
          <p:cNvPr id="21541" name="AutoShape 51"/>
          <p:cNvSpPr>
            <a:spLocks noChangeArrowheads="1"/>
          </p:cNvSpPr>
          <p:nvPr/>
        </p:nvSpPr>
        <p:spPr bwMode="auto">
          <a:xfrm>
            <a:off x="5759450" y="4699000"/>
            <a:ext cx="449263" cy="539750"/>
          </a:xfrm>
          <a:prstGeom prst="upDownArrow">
            <a:avLst>
              <a:gd name="adj1" fmla="val 50000"/>
              <a:gd name="adj2" fmla="val 2402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1542" name="Rectangle 52"/>
          <p:cNvSpPr>
            <a:spLocks noChangeArrowheads="1"/>
          </p:cNvSpPr>
          <p:nvPr/>
        </p:nvSpPr>
        <p:spPr bwMode="auto">
          <a:xfrm>
            <a:off x="6119813" y="479107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交换</a:t>
            </a:r>
          </a:p>
        </p:txBody>
      </p:sp>
      <p:sp>
        <p:nvSpPr>
          <p:cNvPr id="21543" name="Rectangle 53"/>
          <p:cNvSpPr>
            <a:spLocks noChangeArrowheads="1"/>
          </p:cNvSpPr>
          <p:nvPr/>
        </p:nvSpPr>
        <p:spPr bwMode="auto">
          <a:xfrm>
            <a:off x="7964488" y="622935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solidFill>
                  <a:srgbClr val="3333FF"/>
                </a:solidFill>
                <a:latin typeface="+mj-ea"/>
                <a:ea typeface="+mj-ea"/>
              </a:rPr>
              <a:t>环境</a:t>
            </a:r>
          </a:p>
        </p:txBody>
      </p:sp>
      <p:sp>
        <p:nvSpPr>
          <p:cNvPr id="21544" name="Rectangle 54"/>
          <p:cNvSpPr>
            <a:spLocks noChangeArrowheads="1"/>
          </p:cNvSpPr>
          <p:nvPr/>
        </p:nvSpPr>
        <p:spPr bwMode="auto">
          <a:xfrm>
            <a:off x="7920038" y="442912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solidFill>
                  <a:srgbClr val="3333FF"/>
                </a:solidFill>
                <a:latin typeface="+mj-ea"/>
                <a:ea typeface="+mj-ea"/>
              </a:rPr>
              <a:t>系统</a:t>
            </a:r>
          </a:p>
        </p:txBody>
      </p:sp>
      <p:sp>
        <p:nvSpPr>
          <p:cNvPr id="93239" name="AutoShape 55"/>
          <p:cNvSpPr>
            <a:spLocks noChangeArrowheads="1"/>
          </p:cNvSpPr>
          <p:nvPr/>
        </p:nvSpPr>
        <p:spPr bwMode="auto">
          <a:xfrm>
            <a:off x="825500" y="3168650"/>
            <a:ext cx="2339975" cy="630238"/>
          </a:xfrm>
          <a:prstGeom prst="wedgeRectCallout">
            <a:avLst>
              <a:gd name="adj1" fmla="val 64722"/>
              <a:gd name="adj2" fmla="val -128083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800">
                <a:latin typeface="+mj-ea"/>
                <a:ea typeface="+mj-ea"/>
              </a:rPr>
              <a:t>人、设备、技术、原材料等</a:t>
            </a:r>
          </a:p>
        </p:txBody>
      </p:sp>
      <p:sp>
        <p:nvSpPr>
          <p:cNvPr id="93240" name="AutoShape 56"/>
          <p:cNvSpPr>
            <a:spLocks noChangeArrowheads="1"/>
          </p:cNvSpPr>
          <p:nvPr/>
        </p:nvSpPr>
        <p:spPr bwMode="auto">
          <a:xfrm>
            <a:off x="587375" y="4294188"/>
            <a:ext cx="2578100" cy="434975"/>
          </a:xfrm>
          <a:prstGeom prst="wedgeRectCallout">
            <a:avLst>
              <a:gd name="adj1" fmla="val 113792"/>
              <a:gd name="adj2" fmla="val -71176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800" dirty="0">
                <a:latin typeface="+mj-ea"/>
                <a:ea typeface="+mj-ea"/>
              </a:rPr>
              <a:t>系统内的数据、方法等</a:t>
            </a:r>
          </a:p>
        </p:txBody>
      </p:sp>
      <p:sp>
        <p:nvSpPr>
          <p:cNvPr id="93241" name="AutoShape 57"/>
          <p:cNvSpPr>
            <a:spLocks noChangeArrowheads="1"/>
          </p:cNvSpPr>
          <p:nvPr/>
        </p:nvSpPr>
        <p:spPr bwMode="auto">
          <a:xfrm>
            <a:off x="6254750" y="765175"/>
            <a:ext cx="2565400" cy="630238"/>
          </a:xfrm>
          <a:prstGeom prst="wedgeRectCallout">
            <a:avLst>
              <a:gd name="adj1" fmla="val 4208"/>
              <a:gd name="adj2" fmla="val 139167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800">
                <a:latin typeface="+mj-ea"/>
                <a:ea typeface="+mj-ea"/>
              </a:rPr>
              <a:t>系统运行的基本单位，完成某种数据操纵</a:t>
            </a:r>
          </a:p>
        </p:txBody>
      </p:sp>
      <p:sp>
        <p:nvSpPr>
          <p:cNvPr id="93242" name="AutoShape 58"/>
          <p:cNvSpPr>
            <a:spLocks noChangeArrowheads="1"/>
          </p:cNvSpPr>
          <p:nvPr/>
        </p:nvSpPr>
        <p:spPr bwMode="auto">
          <a:xfrm>
            <a:off x="720725" y="5734050"/>
            <a:ext cx="2428875" cy="404813"/>
          </a:xfrm>
          <a:prstGeom prst="wedgeRectCallout">
            <a:avLst>
              <a:gd name="adj1" fmla="val 116731"/>
              <a:gd name="adj2" fmla="val -42551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800">
                <a:latin typeface="+mj-ea"/>
                <a:ea typeface="+mj-ea"/>
              </a:rPr>
              <a:t>外部数据、方法等</a:t>
            </a:r>
          </a:p>
        </p:txBody>
      </p:sp>
      <p:sp>
        <p:nvSpPr>
          <p:cNvPr id="65579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  <p:sp>
        <p:nvSpPr>
          <p:cNvPr id="65580" name="矩形 2"/>
          <p:cNvSpPr>
            <a:spLocks noChangeArrowheads="1"/>
          </p:cNvSpPr>
          <p:nvPr/>
        </p:nvSpPr>
        <p:spPr bwMode="auto">
          <a:xfrm>
            <a:off x="453221" y="1549400"/>
            <a:ext cx="234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FontTx/>
              <a:buNone/>
            </a:pPr>
            <a:r>
              <a:rPr lang="zh-CN" altLang="en-US" sz="2400" dirty="0"/>
              <a:t>系统集成的内容</a:t>
            </a:r>
          </a:p>
        </p:txBody>
      </p:sp>
    </p:spTree>
    <p:extLst>
      <p:ext uri="{BB962C8B-B14F-4D97-AF65-F5344CB8AC3E}">
        <p14:creationId xmlns:p14="http://schemas.microsoft.com/office/powerpoint/2010/main" val="11976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39" grpId="0" animBg="1"/>
      <p:bldP spid="93240" grpId="0" animBg="1"/>
      <p:bldP spid="93241" grpId="0" animBg="1"/>
      <p:bldP spid="9324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222625" y="1628775"/>
            <a:ext cx="5535613" cy="32845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3357563" y="1987550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6102350" y="1987550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4662488" y="3517900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3222625" y="5229225"/>
            <a:ext cx="5535613" cy="14398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4706938" y="5318125"/>
            <a:ext cx="2565400" cy="1260475"/>
          </a:xfrm>
          <a:prstGeom prst="ellipse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38" name="AutoShape 10"/>
          <p:cNvSpPr>
            <a:spLocks noChangeArrowheads="1"/>
          </p:cNvSpPr>
          <p:nvPr/>
        </p:nvSpPr>
        <p:spPr bwMode="auto">
          <a:xfrm>
            <a:off x="4527550" y="2033588"/>
            <a:ext cx="269875" cy="269875"/>
          </a:xfrm>
          <a:prstGeom prst="plus">
            <a:avLst>
              <a:gd name="adj" fmla="val 25000"/>
            </a:avLst>
          </a:prstGeom>
          <a:solidFill>
            <a:srgbClr val="0000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39" name="AutoShape 11"/>
          <p:cNvSpPr>
            <a:spLocks noChangeArrowheads="1"/>
          </p:cNvSpPr>
          <p:nvPr/>
        </p:nvSpPr>
        <p:spPr bwMode="auto">
          <a:xfrm>
            <a:off x="3581400" y="2347913"/>
            <a:ext cx="449263" cy="179387"/>
          </a:xfrm>
          <a:prstGeom prst="plus">
            <a:avLst>
              <a:gd name="adj" fmla="val 3363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0" name="AutoShape 12"/>
          <p:cNvSpPr>
            <a:spLocks noChangeArrowheads="1"/>
          </p:cNvSpPr>
          <p:nvPr/>
        </p:nvSpPr>
        <p:spPr bwMode="auto">
          <a:xfrm>
            <a:off x="4167188" y="2122488"/>
            <a:ext cx="225425" cy="360362"/>
          </a:xfrm>
          <a:prstGeom prst="plus">
            <a:avLst>
              <a:gd name="adj" fmla="val 32458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1" name="AutoShape 13"/>
          <p:cNvSpPr>
            <a:spLocks noChangeArrowheads="1"/>
          </p:cNvSpPr>
          <p:nvPr/>
        </p:nvSpPr>
        <p:spPr bwMode="auto">
          <a:xfrm>
            <a:off x="5157788" y="2212975"/>
            <a:ext cx="404812" cy="269875"/>
          </a:xfrm>
          <a:prstGeom prst="plus">
            <a:avLst>
              <a:gd name="adj" fmla="val 25000"/>
            </a:avLst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2" name="AutoShape 14"/>
          <p:cNvSpPr>
            <a:spLocks noChangeArrowheads="1"/>
          </p:cNvSpPr>
          <p:nvPr/>
        </p:nvSpPr>
        <p:spPr bwMode="auto">
          <a:xfrm>
            <a:off x="4437063" y="2347913"/>
            <a:ext cx="674687" cy="134937"/>
          </a:xfrm>
          <a:prstGeom prst="plus">
            <a:avLst>
              <a:gd name="adj" fmla="val 41593"/>
            </a:avLst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3" name="Oval 15"/>
          <p:cNvSpPr>
            <a:spLocks noChangeArrowheads="1"/>
          </p:cNvSpPr>
          <p:nvPr/>
        </p:nvSpPr>
        <p:spPr bwMode="auto">
          <a:xfrm>
            <a:off x="5697538" y="3608388"/>
            <a:ext cx="719137" cy="179387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4" name="Oval 16"/>
          <p:cNvSpPr>
            <a:spLocks noChangeArrowheads="1"/>
          </p:cNvSpPr>
          <p:nvPr/>
        </p:nvSpPr>
        <p:spPr bwMode="auto">
          <a:xfrm>
            <a:off x="4841875" y="3878263"/>
            <a:ext cx="630238" cy="1793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5" name="Oval 17"/>
          <p:cNvSpPr>
            <a:spLocks noChangeArrowheads="1"/>
          </p:cNvSpPr>
          <p:nvPr/>
        </p:nvSpPr>
        <p:spPr bwMode="auto">
          <a:xfrm>
            <a:off x="5651500" y="3922713"/>
            <a:ext cx="720725" cy="271462"/>
          </a:xfrm>
          <a:prstGeom prst="ellipse">
            <a:avLst/>
          </a:prstGeom>
          <a:solidFill>
            <a:srgbClr val="0000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6" name="Oval 18"/>
          <p:cNvSpPr>
            <a:spLocks noChangeArrowheads="1"/>
          </p:cNvSpPr>
          <p:nvPr/>
        </p:nvSpPr>
        <p:spPr bwMode="auto">
          <a:xfrm>
            <a:off x="6597650" y="3833813"/>
            <a:ext cx="495300" cy="223837"/>
          </a:xfrm>
          <a:prstGeom prst="ellipse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7316788" y="2168525"/>
            <a:ext cx="315912" cy="225425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8" name="Rectangle 20"/>
          <p:cNvSpPr>
            <a:spLocks noChangeArrowheads="1"/>
          </p:cNvSpPr>
          <p:nvPr/>
        </p:nvSpPr>
        <p:spPr bwMode="auto">
          <a:xfrm>
            <a:off x="6642100" y="2212975"/>
            <a:ext cx="404813" cy="225425"/>
          </a:xfrm>
          <a:prstGeom prst="rect">
            <a:avLst/>
          </a:prstGeom>
          <a:solidFill>
            <a:srgbClr val="3333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49" name="Rectangle 21"/>
          <p:cNvSpPr>
            <a:spLocks noChangeArrowheads="1"/>
          </p:cNvSpPr>
          <p:nvPr/>
        </p:nvSpPr>
        <p:spPr bwMode="auto">
          <a:xfrm>
            <a:off x="7858125" y="2168525"/>
            <a:ext cx="404813" cy="2254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50" name="Rectangle 22"/>
          <p:cNvSpPr>
            <a:spLocks noChangeArrowheads="1"/>
          </p:cNvSpPr>
          <p:nvPr/>
        </p:nvSpPr>
        <p:spPr bwMode="auto">
          <a:xfrm>
            <a:off x="6507163" y="2528888"/>
            <a:ext cx="404812" cy="2238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7858125" y="2482850"/>
            <a:ext cx="584200" cy="1349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52" name="Rectangle 24"/>
          <p:cNvSpPr>
            <a:spLocks noChangeArrowheads="1"/>
          </p:cNvSpPr>
          <p:nvPr/>
        </p:nvSpPr>
        <p:spPr bwMode="auto">
          <a:xfrm>
            <a:off x="4257675" y="266382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>
                <a:latin typeface="+mj-ea"/>
                <a:ea typeface="+mj-ea"/>
              </a:rPr>
              <a:t>要素</a:t>
            </a:r>
          </a:p>
        </p:txBody>
      </p:sp>
      <p:sp>
        <p:nvSpPr>
          <p:cNvPr id="22553" name="Rectangle 25"/>
          <p:cNvSpPr>
            <a:spLocks noChangeArrowheads="1"/>
          </p:cNvSpPr>
          <p:nvPr/>
        </p:nvSpPr>
        <p:spPr bwMode="auto">
          <a:xfrm>
            <a:off x="7002463" y="270827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>
                <a:latin typeface="+mj-ea"/>
                <a:ea typeface="+mj-ea"/>
              </a:rPr>
              <a:t>功能</a:t>
            </a:r>
          </a:p>
        </p:txBody>
      </p: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5516563" y="428307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>
                <a:latin typeface="+mj-ea"/>
                <a:ea typeface="+mj-ea"/>
              </a:rPr>
              <a:t>资源</a:t>
            </a:r>
          </a:p>
        </p:txBody>
      </p:sp>
      <p:sp>
        <p:nvSpPr>
          <p:cNvPr id="22555" name="AutoShape 27"/>
          <p:cNvSpPr>
            <a:spLocks noChangeArrowheads="1"/>
          </p:cNvSpPr>
          <p:nvPr/>
        </p:nvSpPr>
        <p:spPr bwMode="auto">
          <a:xfrm>
            <a:off x="5741988" y="5408613"/>
            <a:ext cx="539750" cy="358775"/>
          </a:xfrm>
          <a:prstGeom prst="hexagon">
            <a:avLst>
              <a:gd name="adj" fmla="val 37611"/>
              <a:gd name="vf" fmla="val 115470"/>
            </a:avLst>
          </a:prstGeom>
          <a:solidFill>
            <a:srgbClr val="3333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56" name="AutoShape 28"/>
          <p:cNvSpPr>
            <a:spLocks noChangeArrowheads="1"/>
          </p:cNvSpPr>
          <p:nvPr/>
        </p:nvSpPr>
        <p:spPr bwMode="auto">
          <a:xfrm>
            <a:off x="4886325" y="5634038"/>
            <a:ext cx="719138" cy="314325"/>
          </a:xfrm>
          <a:prstGeom prst="hexagon">
            <a:avLst>
              <a:gd name="adj" fmla="val 57197"/>
              <a:gd name="vf" fmla="val 11547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57" name="AutoShape 29"/>
          <p:cNvSpPr>
            <a:spLocks noChangeArrowheads="1"/>
          </p:cNvSpPr>
          <p:nvPr/>
        </p:nvSpPr>
        <p:spPr bwMode="auto">
          <a:xfrm>
            <a:off x="6372225" y="5588000"/>
            <a:ext cx="630238" cy="269875"/>
          </a:xfrm>
          <a:prstGeom prst="hexagon">
            <a:avLst>
              <a:gd name="adj" fmla="val 58382"/>
              <a:gd name="vf" fmla="val 115470"/>
            </a:avLst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58" name="Rectangle 30"/>
          <p:cNvSpPr>
            <a:spLocks noChangeArrowheads="1"/>
          </p:cNvSpPr>
          <p:nvPr/>
        </p:nvSpPr>
        <p:spPr bwMode="auto">
          <a:xfrm>
            <a:off x="5246688" y="5994400"/>
            <a:ext cx="1620837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外界环境资源</a:t>
            </a:r>
          </a:p>
        </p:txBody>
      </p:sp>
      <p:sp>
        <p:nvSpPr>
          <p:cNvPr id="22559" name="AutoShape 31"/>
          <p:cNvSpPr>
            <a:spLocks noChangeArrowheads="1"/>
          </p:cNvSpPr>
          <p:nvPr/>
        </p:nvSpPr>
        <p:spPr bwMode="auto">
          <a:xfrm>
            <a:off x="5246688" y="1943100"/>
            <a:ext cx="1665287" cy="179388"/>
          </a:xfrm>
          <a:prstGeom prst="curvedDownArrow">
            <a:avLst>
              <a:gd name="adj1" fmla="val 185664"/>
              <a:gd name="adj2" fmla="val 371329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5651500" y="158432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组织</a:t>
            </a:r>
          </a:p>
        </p:txBody>
      </p:sp>
      <p:sp>
        <p:nvSpPr>
          <p:cNvPr id="22561" name="AutoShape 33"/>
          <p:cNvSpPr>
            <a:spLocks noChangeArrowheads="1"/>
          </p:cNvSpPr>
          <p:nvPr/>
        </p:nvSpPr>
        <p:spPr bwMode="auto">
          <a:xfrm rot="13465964">
            <a:off x="3581400" y="3429000"/>
            <a:ext cx="1260475" cy="269875"/>
          </a:xfrm>
          <a:prstGeom prst="curvedDownArrow">
            <a:avLst>
              <a:gd name="adj1" fmla="val 93412"/>
              <a:gd name="adj2" fmla="val 18682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62" name="Rectangle 34"/>
          <p:cNvSpPr>
            <a:spLocks noChangeArrowheads="1"/>
          </p:cNvSpPr>
          <p:nvPr/>
        </p:nvSpPr>
        <p:spPr bwMode="auto">
          <a:xfrm>
            <a:off x="3446463" y="3652838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使用</a:t>
            </a:r>
          </a:p>
        </p:txBody>
      </p:sp>
      <p:sp>
        <p:nvSpPr>
          <p:cNvPr id="22563" name="AutoShape 35"/>
          <p:cNvSpPr>
            <a:spLocks noChangeArrowheads="1"/>
          </p:cNvSpPr>
          <p:nvPr/>
        </p:nvSpPr>
        <p:spPr bwMode="auto">
          <a:xfrm rot="18162026" flipH="1">
            <a:off x="6866732" y="3653631"/>
            <a:ext cx="1485900" cy="315913"/>
          </a:xfrm>
          <a:prstGeom prst="curvedUpArrow">
            <a:avLst>
              <a:gd name="adj1" fmla="val 77869"/>
              <a:gd name="adj2" fmla="val 17194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64" name="Rectangle 36"/>
          <p:cNvSpPr>
            <a:spLocks noChangeArrowheads="1"/>
          </p:cNvSpPr>
          <p:nvPr/>
        </p:nvSpPr>
        <p:spPr bwMode="auto">
          <a:xfrm>
            <a:off x="7677150" y="369887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运行</a:t>
            </a:r>
          </a:p>
        </p:txBody>
      </p:sp>
      <p:sp>
        <p:nvSpPr>
          <p:cNvPr id="22565" name="AutoShape 37"/>
          <p:cNvSpPr>
            <a:spLocks noChangeArrowheads="1"/>
          </p:cNvSpPr>
          <p:nvPr/>
        </p:nvSpPr>
        <p:spPr bwMode="auto">
          <a:xfrm>
            <a:off x="5697538" y="4778375"/>
            <a:ext cx="449262" cy="539750"/>
          </a:xfrm>
          <a:prstGeom prst="upDownArrow">
            <a:avLst>
              <a:gd name="adj1" fmla="val 50000"/>
              <a:gd name="adj2" fmla="val 2402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566" name="Rectangle 38"/>
          <p:cNvSpPr>
            <a:spLocks noChangeArrowheads="1"/>
          </p:cNvSpPr>
          <p:nvPr/>
        </p:nvSpPr>
        <p:spPr bwMode="auto">
          <a:xfrm>
            <a:off x="6057900" y="487045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交换</a:t>
            </a:r>
          </a:p>
        </p:txBody>
      </p:sp>
      <p:sp>
        <p:nvSpPr>
          <p:cNvPr id="22567" name="Rectangle 39"/>
          <p:cNvSpPr>
            <a:spLocks noChangeArrowheads="1"/>
          </p:cNvSpPr>
          <p:nvPr/>
        </p:nvSpPr>
        <p:spPr bwMode="auto">
          <a:xfrm>
            <a:off x="7902575" y="6308725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solidFill>
                  <a:srgbClr val="3333FF"/>
                </a:solidFill>
                <a:latin typeface="+mj-ea"/>
                <a:ea typeface="+mj-ea"/>
              </a:rPr>
              <a:t>环境</a:t>
            </a:r>
          </a:p>
        </p:txBody>
      </p:sp>
      <p:sp>
        <p:nvSpPr>
          <p:cNvPr id="22568" name="Rectangle 40"/>
          <p:cNvSpPr>
            <a:spLocks noChangeArrowheads="1"/>
          </p:cNvSpPr>
          <p:nvPr/>
        </p:nvSpPr>
        <p:spPr bwMode="auto">
          <a:xfrm>
            <a:off x="7858125" y="4508500"/>
            <a:ext cx="8540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000">
                <a:solidFill>
                  <a:srgbClr val="3333FF"/>
                </a:solidFill>
                <a:latin typeface="+mj-ea"/>
                <a:ea typeface="+mj-ea"/>
              </a:rPr>
              <a:t>系统</a:t>
            </a:r>
          </a:p>
        </p:txBody>
      </p:sp>
      <p:sp>
        <p:nvSpPr>
          <p:cNvPr id="94249" name="AutoShape 41"/>
          <p:cNvSpPr>
            <a:spLocks noChangeArrowheads="1"/>
          </p:cNvSpPr>
          <p:nvPr/>
        </p:nvSpPr>
        <p:spPr bwMode="auto">
          <a:xfrm>
            <a:off x="701675" y="3248025"/>
            <a:ext cx="2339975" cy="630238"/>
          </a:xfrm>
          <a:prstGeom prst="wedgeRectCallout">
            <a:avLst>
              <a:gd name="adj1" fmla="val 91454"/>
              <a:gd name="adj2" fmla="val -3653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800">
                <a:latin typeface="+mj-ea"/>
                <a:ea typeface="+mj-ea"/>
              </a:rPr>
              <a:t>系统要素使用需要的资源</a:t>
            </a:r>
          </a:p>
        </p:txBody>
      </p:sp>
      <p:sp>
        <p:nvSpPr>
          <p:cNvPr id="94250" name="AutoShape 42"/>
          <p:cNvSpPr>
            <a:spLocks noChangeArrowheads="1"/>
          </p:cNvSpPr>
          <p:nvPr/>
        </p:nvSpPr>
        <p:spPr bwMode="auto">
          <a:xfrm>
            <a:off x="611188" y="4194175"/>
            <a:ext cx="2474912" cy="584200"/>
          </a:xfrm>
          <a:prstGeom prst="wedgeRectCallout">
            <a:avLst>
              <a:gd name="adj1" fmla="val 238069"/>
              <a:gd name="adj2" fmla="val -128532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1800">
                <a:latin typeface="+mj-ea"/>
                <a:ea typeface="+mj-ea"/>
              </a:rPr>
              <a:t>使用资源、产生资源</a:t>
            </a:r>
          </a:p>
        </p:txBody>
      </p:sp>
      <p:sp>
        <p:nvSpPr>
          <p:cNvPr id="94251" name="AutoShape 43"/>
          <p:cNvSpPr>
            <a:spLocks noChangeArrowheads="1"/>
          </p:cNvSpPr>
          <p:nvPr/>
        </p:nvSpPr>
        <p:spPr bwMode="auto">
          <a:xfrm>
            <a:off x="6597650" y="773113"/>
            <a:ext cx="2160588" cy="630237"/>
          </a:xfrm>
          <a:prstGeom prst="wedgeRectCallout">
            <a:avLst>
              <a:gd name="adj1" fmla="val -53380"/>
              <a:gd name="adj2" fmla="val 129847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000">
                <a:latin typeface="+mj-ea"/>
                <a:ea typeface="+mj-ea"/>
              </a:rPr>
              <a:t>功能映射到要素，多对多映射</a:t>
            </a:r>
          </a:p>
        </p:txBody>
      </p:sp>
      <p:sp>
        <p:nvSpPr>
          <p:cNvPr id="94252" name="AutoShape 44"/>
          <p:cNvSpPr>
            <a:spLocks noChangeArrowheads="1"/>
          </p:cNvSpPr>
          <p:nvPr/>
        </p:nvSpPr>
        <p:spPr bwMode="auto">
          <a:xfrm>
            <a:off x="611188" y="5273675"/>
            <a:ext cx="2519362" cy="630238"/>
          </a:xfrm>
          <a:prstGeom prst="wedgeRectCallout">
            <a:avLst>
              <a:gd name="adj1" fmla="val 154662"/>
              <a:gd name="adj2" fmla="val -84005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1800">
                <a:latin typeface="+mj-ea"/>
                <a:ea typeface="+mj-ea"/>
              </a:rPr>
              <a:t>系统与外界的资源交换</a:t>
            </a:r>
          </a:p>
        </p:txBody>
      </p:sp>
      <p:sp>
        <p:nvSpPr>
          <p:cNvPr id="66603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1742401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49" grpId="0" animBg="1"/>
      <p:bldP spid="94250" grpId="0" animBg="1"/>
      <p:bldP spid="94251" grpId="0" animBg="1"/>
      <p:bldP spid="9425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84213" y="908050"/>
            <a:ext cx="7777162" cy="424973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dirty="0"/>
              <a:t>系统的集成视图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功能视图（业务视图）</a:t>
            </a:r>
            <a:r>
              <a:rPr lang="en-US" altLang="zh-CN" dirty="0"/>
              <a:t>—</a:t>
            </a:r>
            <a:r>
              <a:rPr lang="zh-CN" altLang="en-US" dirty="0"/>
              <a:t>从业务功能角度观察系统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信息视图</a:t>
            </a:r>
            <a:r>
              <a:rPr lang="en-US" altLang="zh-CN" dirty="0"/>
              <a:t>—</a:t>
            </a:r>
            <a:r>
              <a:rPr lang="zh-CN" altLang="en-US" dirty="0"/>
              <a:t>从信息流、信息操纵、信息服务角度观察系统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资源视图</a:t>
            </a:r>
            <a:r>
              <a:rPr lang="en-US" altLang="zh-CN" dirty="0"/>
              <a:t>—</a:t>
            </a:r>
            <a:r>
              <a:rPr lang="zh-CN" altLang="en-US" dirty="0"/>
              <a:t>从资源配置、使用及流动角度观察系统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组织视图</a:t>
            </a:r>
            <a:r>
              <a:rPr lang="en-US" altLang="zh-CN" dirty="0"/>
              <a:t>—</a:t>
            </a:r>
            <a:r>
              <a:rPr lang="zh-CN" altLang="en-US" dirty="0"/>
              <a:t>从系统的组织结构角度观察系统</a:t>
            </a: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47977229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98438" y="1159023"/>
            <a:ext cx="2544762" cy="4960938"/>
          </a:xfrm>
        </p:spPr>
        <p:txBody>
          <a:bodyPr/>
          <a:lstStyle/>
          <a:p>
            <a:pPr marL="0" indent="0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功能视图</a:t>
            </a:r>
          </a:p>
          <a:p>
            <a:pPr marL="449263" lvl="1" indent="-187325" eaLnBrk="1" hangingPunct="1">
              <a:buFont typeface="Wingdings" panose="05000000000000000000" pitchFamily="2" charset="2"/>
              <a:buChar char="Ø"/>
            </a:pPr>
            <a:r>
              <a:rPr lang="zh-CN" altLang="en-US"/>
              <a:t>功能集成面向业务，也可称为业务集成</a:t>
            </a:r>
            <a:endParaRPr lang="en-US" altLang="zh-CN"/>
          </a:p>
          <a:p>
            <a:pPr marL="449263" lvl="1" indent="-187325" eaLnBrk="1" hangingPunct="1">
              <a:buFont typeface="Wingdings" panose="05000000000000000000" pitchFamily="2" charset="2"/>
              <a:buChar char="Ø"/>
            </a:pPr>
            <a:r>
              <a:rPr lang="zh-CN" altLang="en-US"/>
              <a:t>功能集成过程</a:t>
            </a:r>
            <a:endParaRPr lang="en-US" altLang="zh-CN"/>
          </a:p>
          <a:p>
            <a:pPr marL="449263" lvl="1" indent="-187325" eaLnBrk="1" hangingPunct="1">
              <a:buFont typeface="Wingdings" panose="05000000000000000000" pitchFamily="2" charset="2"/>
              <a:buChar char="Ø"/>
            </a:pPr>
            <a:r>
              <a:rPr lang="zh-CN" altLang="en-US"/>
              <a:t>功能集成的实物性成果：应用系统、相关规程（文档）</a:t>
            </a: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2681288" y="1682898"/>
            <a:ext cx="6416675" cy="4770438"/>
            <a:chOff x="1718" y="743"/>
            <a:chExt cx="4042" cy="3005"/>
          </a:xfrm>
        </p:grpSpPr>
        <p:sp>
          <p:nvSpPr>
            <p:cNvPr id="68625" name="Rectangle 15"/>
            <p:cNvSpPr>
              <a:spLocks noChangeArrowheads="1"/>
            </p:cNvSpPr>
            <p:nvPr/>
          </p:nvSpPr>
          <p:spPr bwMode="auto">
            <a:xfrm>
              <a:off x="1746" y="884"/>
              <a:ext cx="3912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系统集成的背景及各项集成要求</a:t>
              </a:r>
            </a:p>
          </p:txBody>
        </p:sp>
        <p:sp>
          <p:nvSpPr>
            <p:cNvPr id="68626" name="Rectangle 22"/>
            <p:cNvSpPr>
              <a:spLocks noChangeArrowheads="1"/>
            </p:cNvSpPr>
            <p:nvPr/>
          </p:nvSpPr>
          <p:spPr bwMode="auto">
            <a:xfrm>
              <a:off x="1746" y="1395"/>
              <a:ext cx="765" cy="70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功能模块分析与结构优化</a:t>
              </a:r>
            </a:p>
          </p:txBody>
        </p:sp>
        <p:sp>
          <p:nvSpPr>
            <p:cNvPr id="68627" name="Rectangle 23"/>
            <p:cNvSpPr>
              <a:spLocks noChangeArrowheads="1"/>
            </p:cNvSpPr>
            <p:nvPr/>
          </p:nvSpPr>
          <p:spPr bwMode="auto">
            <a:xfrm>
              <a:off x="1746" y="2359"/>
              <a:ext cx="765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建模技术及工具</a:t>
              </a:r>
            </a:p>
          </p:txBody>
        </p:sp>
        <p:sp>
          <p:nvSpPr>
            <p:cNvPr id="68628" name="Rectangle 24"/>
            <p:cNvSpPr>
              <a:spLocks noChangeArrowheads="1"/>
            </p:cNvSpPr>
            <p:nvPr/>
          </p:nvSpPr>
          <p:spPr bwMode="auto">
            <a:xfrm>
              <a:off x="2654" y="1395"/>
              <a:ext cx="765" cy="70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功能集成框架</a:t>
              </a:r>
            </a:p>
          </p:txBody>
        </p:sp>
        <p:sp>
          <p:nvSpPr>
            <p:cNvPr id="68629" name="Rectangle 25"/>
            <p:cNvSpPr>
              <a:spLocks noChangeArrowheads="1"/>
            </p:cNvSpPr>
            <p:nvPr/>
          </p:nvSpPr>
          <p:spPr bwMode="auto">
            <a:xfrm>
              <a:off x="2653" y="2359"/>
              <a:ext cx="765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框架理论技术</a:t>
              </a:r>
            </a:p>
          </p:txBody>
        </p:sp>
        <p:sp>
          <p:nvSpPr>
            <p:cNvPr id="68630" name="Rectangle 26"/>
            <p:cNvSpPr>
              <a:spLocks noChangeArrowheads="1"/>
            </p:cNvSpPr>
            <p:nvPr/>
          </p:nvSpPr>
          <p:spPr bwMode="auto">
            <a:xfrm>
              <a:off x="3589" y="1395"/>
              <a:ext cx="1616" cy="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功能约束</a:t>
              </a:r>
            </a:p>
          </p:txBody>
        </p:sp>
        <p:sp>
          <p:nvSpPr>
            <p:cNvPr id="68631" name="Rectangle 27"/>
            <p:cNvSpPr>
              <a:spLocks noChangeArrowheads="1"/>
            </p:cNvSpPr>
            <p:nvPr/>
          </p:nvSpPr>
          <p:spPr bwMode="auto">
            <a:xfrm>
              <a:off x="3589" y="1848"/>
              <a:ext cx="708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功能设计</a:t>
              </a:r>
            </a:p>
          </p:txBody>
        </p:sp>
        <p:sp>
          <p:nvSpPr>
            <p:cNvPr id="68632" name="Rectangle 28"/>
            <p:cNvSpPr>
              <a:spLocks noChangeArrowheads="1"/>
            </p:cNvSpPr>
            <p:nvPr/>
          </p:nvSpPr>
          <p:spPr bwMode="auto">
            <a:xfrm>
              <a:off x="4497" y="1848"/>
              <a:ext cx="708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功能实现</a:t>
              </a:r>
            </a:p>
          </p:txBody>
        </p:sp>
        <p:sp>
          <p:nvSpPr>
            <p:cNvPr id="68633" name="Rectangle 29"/>
            <p:cNvSpPr>
              <a:spLocks noChangeArrowheads="1"/>
            </p:cNvSpPr>
            <p:nvPr/>
          </p:nvSpPr>
          <p:spPr bwMode="auto">
            <a:xfrm>
              <a:off x="3589" y="2358"/>
              <a:ext cx="708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功能设计技术</a:t>
              </a:r>
            </a:p>
          </p:txBody>
        </p:sp>
        <p:sp>
          <p:nvSpPr>
            <p:cNvPr id="68634" name="Rectangle 30"/>
            <p:cNvSpPr>
              <a:spLocks noChangeArrowheads="1"/>
            </p:cNvSpPr>
            <p:nvPr/>
          </p:nvSpPr>
          <p:spPr bwMode="auto">
            <a:xfrm>
              <a:off x="4496" y="2359"/>
              <a:ext cx="709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功能实现工具</a:t>
              </a:r>
            </a:p>
          </p:txBody>
        </p:sp>
        <p:sp>
          <p:nvSpPr>
            <p:cNvPr id="68635" name="Rectangle 31"/>
            <p:cNvSpPr>
              <a:spLocks noChangeArrowheads="1"/>
            </p:cNvSpPr>
            <p:nvPr/>
          </p:nvSpPr>
          <p:spPr bwMode="auto">
            <a:xfrm>
              <a:off x="1746" y="3011"/>
              <a:ext cx="3912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功能集成的指导思想和技术</a:t>
              </a:r>
            </a:p>
          </p:txBody>
        </p:sp>
        <p:sp>
          <p:nvSpPr>
            <p:cNvPr id="68636" name="Rectangle 32"/>
            <p:cNvSpPr>
              <a:spLocks noChangeArrowheads="1"/>
            </p:cNvSpPr>
            <p:nvPr/>
          </p:nvSpPr>
          <p:spPr bwMode="auto">
            <a:xfrm>
              <a:off x="1803" y="3379"/>
              <a:ext cx="70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系统分析</a:t>
              </a:r>
            </a:p>
          </p:txBody>
        </p:sp>
        <p:sp>
          <p:nvSpPr>
            <p:cNvPr id="68637" name="Rectangle 33"/>
            <p:cNvSpPr>
              <a:spLocks noChangeArrowheads="1"/>
            </p:cNvSpPr>
            <p:nvPr/>
          </p:nvSpPr>
          <p:spPr bwMode="auto">
            <a:xfrm>
              <a:off x="2710" y="3379"/>
              <a:ext cx="70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总体设计</a:t>
              </a:r>
            </a:p>
          </p:txBody>
        </p:sp>
        <p:sp>
          <p:nvSpPr>
            <p:cNvPr id="68638" name="Rectangle 34"/>
            <p:cNvSpPr>
              <a:spLocks noChangeArrowheads="1"/>
            </p:cNvSpPr>
            <p:nvPr/>
          </p:nvSpPr>
          <p:spPr bwMode="auto">
            <a:xfrm>
              <a:off x="3589" y="3379"/>
              <a:ext cx="70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详细设计</a:t>
              </a:r>
            </a:p>
          </p:txBody>
        </p:sp>
        <p:sp>
          <p:nvSpPr>
            <p:cNvPr id="68639" name="Rectangle 35"/>
            <p:cNvSpPr>
              <a:spLocks noChangeArrowheads="1"/>
            </p:cNvSpPr>
            <p:nvPr/>
          </p:nvSpPr>
          <p:spPr bwMode="auto">
            <a:xfrm>
              <a:off x="4496" y="3379"/>
              <a:ext cx="70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系统实现</a:t>
              </a:r>
            </a:p>
          </p:txBody>
        </p:sp>
        <p:sp>
          <p:nvSpPr>
            <p:cNvPr id="68640" name="Rectangle 36"/>
            <p:cNvSpPr>
              <a:spLocks noChangeArrowheads="1"/>
            </p:cNvSpPr>
            <p:nvPr/>
          </p:nvSpPr>
          <p:spPr bwMode="auto">
            <a:xfrm>
              <a:off x="5405" y="1395"/>
              <a:ext cx="253" cy="130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培训与维护</a:t>
              </a:r>
            </a:p>
          </p:txBody>
        </p:sp>
        <p:sp>
          <p:nvSpPr>
            <p:cNvPr id="68641" name="Rectangle 38"/>
            <p:cNvSpPr>
              <a:spLocks noChangeArrowheads="1"/>
            </p:cNvSpPr>
            <p:nvPr/>
          </p:nvSpPr>
          <p:spPr bwMode="auto">
            <a:xfrm>
              <a:off x="5290" y="3351"/>
              <a:ext cx="47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系统维护</a:t>
              </a:r>
            </a:p>
          </p:txBody>
        </p:sp>
        <p:sp>
          <p:nvSpPr>
            <p:cNvPr id="68642" name="AutoShape 39"/>
            <p:cNvSpPr>
              <a:spLocks noChangeArrowheads="1"/>
            </p:cNvSpPr>
            <p:nvPr/>
          </p:nvSpPr>
          <p:spPr bwMode="auto">
            <a:xfrm>
              <a:off x="2001" y="1168"/>
              <a:ext cx="255" cy="227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3" name="AutoShape 40"/>
            <p:cNvSpPr>
              <a:spLocks noChangeArrowheads="1"/>
            </p:cNvSpPr>
            <p:nvPr/>
          </p:nvSpPr>
          <p:spPr bwMode="auto">
            <a:xfrm>
              <a:off x="2908" y="1168"/>
              <a:ext cx="255" cy="227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4" name="AutoShape 41"/>
            <p:cNvSpPr>
              <a:spLocks noChangeArrowheads="1"/>
            </p:cNvSpPr>
            <p:nvPr/>
          </p:nvSpPr>
          <p:spPr bwMode="auto">
            <a:xfrm>
              <a:off x="4269" y="1168"/>
              <a:ext cx="255" cy="227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5" name="AutoShape 42"/>
            <p:cNvSpPr>
              <a:spLocks noChangeArrowheads="1"/>
            </p:cNvSpPr>
            <p:nvPr/>
          </p:nvSpPr>
          <p:spPr bwMode="auto">
            <a:xfrm>
              <a:off x="5403" y="1168"/>
              <a:ext cx="255" cy="227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6" name="AutoShape 43"/>
            <p:cNvSpPr>
              <a:spLocks noChangeArrowheads="1"/>
            </p:cNvSpPr>
            <p:nvPr/>
          </p:nvSpPr>
          <p:spPr bwMode="auto">
            <a:xfrm>
              <a:off x="2058" y="2755"/>
              <a:ext cx="227" cy="255"/>
            </a:xfrm>
            <a:prstGeom prst="upArrow">
              <a:avLst>
                <a:gd name="adj1" fmla="val 50000"/>
                <a:gd name="adj2" fmla="val 28084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7" name="AutoShape 44"/>
            <p:cNvSpPr>
              <a:spLocks noChangeArrowheads="1"/>
            </p:cNvSpPr>
            <p:nvPr/>
          </p:nvSpPr>
          <p:spPr bwMode="auto">
            <a:xfrm>
              <a:off x="2937" y="2755"/>
              <a:ext cx="227" cy="255"/>
            </a:xfrm>
            <a:prstGeom prst="upArrow">
              <a:avLst>
                <a:gd name="adj1" fmla="val 50000"/>
                <a:gd name="adj2" fmla="val 28084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8" name="AutoShape 45"/>
            <p:cNvSpPr>
              <a:spLocks noChangeArrowheads="1"/>
            </p:cNvSpPr>
            <p:nvPr/>
          </p:nvSpPr>
          <p:spPr bwMode="auto">
            <a:xfrm>
              <a:off x="3815" y="2755"/>
              <a:ext cx="227" cy="255"/>
            </a:xfrm>
            <a:prstGeom prst="upArrow">
              <a:avLst>
                <a:gd name="adj1" fmla="val 50000"/>
                <a:gd name="adj2" fmla="val 28084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9" name="AutoShape 46"/>
            <p:cNvSpPr>
              <a:spLocks noChangeArrowheads="1"/>
            </p:cNvSpPr>
            <p:nvPr/>
          </p:nvSpPr>
          <p:spPr bwMode="auto">
            <a:xfrm>
              <a:off x="4751" y="2755"/>
              <a:ext cx="227" cy="255"/>
            </a:xfrm>
            <a:prstGeom prst="upArrow">
              <a:avLst>
                <a:gd name="adj1" fmla="val 50000"/>
                <a:gd name="adj2" fmla="val 28084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0" name="AutoShape 47"/>
            <p:cNvSpPr>
              <a:spLocks noChangeArrowheads="1"/>
            </p:cNvSpPr>
            <p:nvPr/>
          </p:nvSpPr>
          <p:spPr bwMode="auto">
            <a:xfrm>
              <a:off x="2030" y="2132"/>
              <a:ext cx="226" cy="226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1" name="AutoShape 48"/>
            <p:cNvSpPr>
              <a:spLocks noChangeArrowheads="1"/>
            </p:cNvSpPr>
            <p:nvPr/>
          </p:nvSpPr>
          <p:spPr bwMode="auto">
            <a:xfrm>
              <a:off x="2937" y="2132"/>
              <a:ext cx="226" cy="226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2" name="AutoShape 49"/>
            <p:cNvSpPr>
              <a:spLocks noChangeArrowheads="1"/>
            </p:cNvSpPr>
            <p:nvPr/>
          </p:nvSpPr>
          <p:spPr bwMode="auto">
            <a:xfrm>
              <a:off x="3844" y="2132"/>
              <a:ext cx="226" cy="226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3" name="AutoShape 50"/>
            <p:cNvSpPr>
              <a:spLocks noChangeArrowheads="1"/>
            </p:cNvSpPr>
            <p:nvPr/>
          </p:nvSpPr>
          <p:spPr bwMode="auto">
            <a:xfrm>
              <a:off x="4751" y="2132"/>
              <a:ext cx="226" cy="226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4" name="AutoShape 51"/>
            <p:cNvSpPr>
              <a:spLocks noChangeArrowheads="1"/>
            </p:cNvSpPr>
            <p:nvPr/>
          </p:nvSpPr>
          <p:spPr bwMode="auto">
            <a:xfrm>
              <a:off x="4723" y="1621"/>
              <a:ext cx="255" cy="227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5" name="AutoShape 52"/>
            <p:cNvSpPr>
              <a:spLocks noChangeArrowheads="1"/>
            </p:cNvSpPr>
            <p:nvPr/>
          </p:nvSpPr>
          <p:spPr bwMode="auto">
            <a:xfrm>
              <a:off x="3816" y="1621"/>
              <a:ext cx="255" cy="227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6" name="AutoShape 53"/>
            <p:cNvSpPr>
              <a:spLocks noChangeArrowheads="1"/>
            </p:cNvSpPr>
            <p:nvPr/>
          </p:nvSpPr>
          <p:spPr bwMode="auto">
            <a:xfrm>
              <a:off x="2511" y="1735"/>
              <a:ext cx="142" cy="142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7" name="AutoShape 54"/>
            <p:cNvSpPr>
              <a:spLocks noChangeArrowheads="1"/>
            </p:cNvSpPr>
            <p:nvPr/>
          </p:nvSpPr>
          <p:spPr bwMode="auto">
            <a:xfrm>
              <a:off x="3419" y="1451"/>
              <a:ext cx="170" cy="141"/>
            </a:xfrm>
            <a:prstGeom prst="rightArrow">
              <a:avLst>
                <a:gd name="adj1" fmla="val 50000"/>
                <a:gd name="adj2" fmla="val 30142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8" name="AutoShape 55"/>
            <p:cNvSpPr>
              <a:spLocks noChangeArrowheads="1"/>
            </p:cNvSpPr>
            <p:nvPr/>
          </p:nvSpPr>
          <p:spPr bwMode="auto">
            <a:xfrm>
              <a:off x="3419" y="1905"/>
              <a:ext cx="170" cy="141"/>
            </a:xfrm>
            <a:prstGeom prst="rightArrow">
              <a:avLst>
                <a:gd name="adj1" fmla="val 50000"/>
                <a:gd name="adj2" fmla="val 30142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9" name="AutoShape 56"/>
            <p:cNvSpPr>
              <a:spLocks noChangeArrowheads="1"/>
            </p:cNvSpPr>
            <p:nvPr/>
          </p:nvSpPr>
          <p:spPr bwMode="auto">
            <a:xfrm>
              <a:off x="4298" y="1905"/>
              <a:ext cx="198" cy="142"/>
            </a:xfrm>
            <a:prstGeom prst="rightArrow">
              <a:avLst>
                <a:gd name="adj1" fmla="val 50000"/>
                <a:gd name="adj2" fmla="val 34859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0" name="AutoShape 57"/>
            <p:cNvSpPr>
              <a:spLocks noChangeArrowheads="1"/>
            </p:cNvSpPr>
            <p:nvPr/>
          </p:nvSpPr>
          <p:spPr bwMode="auto">
            <a:xfrm>
              <a:off x="5205" y="1905"/>
              <a:ext cx="198" cy="142"/>
            </a:xfrm>
            <a:prstGeom prst="rightArrow">
              <a:avLst>
                <a:gd name="adj1" fmla="val 50000"/>
                <a:gd name="adj2" fmla="val 34859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68661" name="Group 37"/>
            <p:cNvGrpSpPr>
              <a:grpSpLocks/>
            </p:cNvGrpSpPr>
            <p:nvPr/>
          </p:nvGrpSpPr>
          <p:grpSpPr bwMode="auto">
            <a:xfrm>
              <a:off x="1718" y="743"/>
              <a:ext cx="3997" cy="3005"/>
              <a:chOff x="1718" y="743"/>
              <a:chExt cx="3997" cy="3005"/>
            </a:xfrm>
          </p:grpSpPr>
          <p:sp>
            <p:nvSpPr>
              <p:cNvPr id="68662" name="Line 16"/>
              <p:cNvSpPr>
                <a:spLocks noChangeShapeType="1"/>
              </p:cNvSpPr>
              <p:nvPr/>
            </p:nvSpPr>
            <p:spPr bwMode="auto">
              <a:xfrm>
                <a:off x="1718" y="743"/>
                <a:ext cx="0" cy="300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63" name="Line 17"/>
              <p:cNvSpPr>
                <a:spLocks noChangeShapeType="1"/>
              </p:cNvSpPr>
              <p:nvPr/>
            </p:nvSpPr>
            <p:spPr bwMode="auto">
              <a:xfrm>
                <a:off x="5715" y="743"/>
                <a:ext cx="0" cy="294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64" name="Line 18"/>
              <p:cNvSpPr>
                <a:spLocks noChangeShapeType="1"/>
              </p:cNvSpPr>
              <p:nvPr/>
            </p:nvSpPr>
            <p:spPr bwMode="auto">
              <a:xfrm>
                <a:off x="5290" y="1224"/>
                <a:ext cx="0" cy="249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65" name="Line 19"/>
              <p:cNvSpPr>
                <a:spLocks noChangeShapeType="1"/>
              </p:cNvSpPr>
              <p:nvPr/>
            </p:nvSpPr>
            <p:spPr bwMode="auto">
              <a:xfrm>
                <a:off x="3504" y="1224"/>
                <a:ext cx="0" cy="252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66" name="Line 20"/>
              <p:cNvSpPr>
                <a:spLocks noChangeShapeType="1"/>
              </p:cNvSpPr>
              <p:nvPr/>
            </p:nvSpPr>
            <p:spPr bwMode="auto">
              <a:xfrm>
                <a:off x="2611" y="1224"/>
                <a:ext cx="0" cy="252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67" name="Line 21"/>
              <p:cNvSpPr>
                <a:spLocks noChangeShapeType="1"/>
              </p:cNvSpPr>
              <p:nvPr/>
            </p:nvSpPr>
            <p:spPr bwMode="auto">
              <a:xfrm>
                <a:off x="4397" y="1224"/>
                <a:ext cx="0" cy="252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51"/>
          <p:cNvGrpSpPr>
            <a:grpSpLocks/>
          </p:cNvGrpSpPr>
          <p:nvPr/>
        </p:nvGrpSpPr>
        <p:grpSpPr bwMode="auto">
          <a:xfrm>
            <a:off x="215900" y="4419748"/>
            <a:ext cx="4133850" cy="1649413"/>
            <a:chOff x="215899" y="4095750"/>
            <a:chExt cx="4133851" cy="1689100"/>
          </a:xfrm>
        </p:grpSpPr>
        <p:sp>
          <p:nvSpPr>
            <p:cNvPr id="68623" name="矩形 48"/>
            <p:cNvSpPr>
              <a:spLocks noChangeArrowheads="1"/>
            </p:cNvSpPr>
            <p:nvPr/>
          </p:nvSpPr>
          <p:spPr bwMode="auto">
            <a:xfrm>
              <a:off x="215899" y="4095750"/>
              <a:ext cx="3836989" cy="16891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分布式技术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/Web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技术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工作流技术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/J2EE/.NET/Web Service/SOA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计算模式；体系结构；功能结构（包图、功能结构图）</a:t>
              </a:r>
            </a:p>
          </p:txBody>
        </p:sp>
        <p:cxnSp>
          <p:nvCxnSpPr>
            <p:cNvPr id="68624" name="直接箭头连接符 50"/>
            <p:cNvCxnSpPr>
              <a:cxnSpLocks noChangeShapeType="1"/>
              <a:stCxn id="68623" idx="3"/>
            </p:cNvCxnSpPr>
            <p:nvPr/>
          </p:nvCxnSpPr>
          <p:spPr bwMode="auto">
            <a:xfrm flipV="1">
              <a:off x="4052888" y="4362452"/>
              <a:ext cx="296862" cy="577849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组合 56"/>
          <p:cNvGrpSpPr>
            <a:grpSpLocks/>
          </p:cNvGrpSpPr>
          <p:nvPr/>
        </p:nvGrpSpPr>
        <p:grpSpPr bwMode="auto">
          <a:xfrm>
            <a:off x="215900" y="4572148"/>
            <a:ext cx="2844800" cy="711200"/>
            <a:chOff x="63499" y="4095750"/>
            <a:chExt cx="2844801" cy="481428"/>
          </a:xfrm>
        </p:grpSpPr>
        <p:sp>
          <p:nvSpPr>
            <p:cNvPr id="68621" name="矩形 57"/>
            <p:cNvSpPr>
              <a:spLocks noChangeArrowheads="1"/>
            </p:cNvSpPr>
            <p:nvPr/>
          </p:nvSpPr>
          <p:spPr bwMode="auto">
            <a:xfrm>
              <a:off x="63499" y="4095750"/>
              <a:ext cx="2552701" cy="48142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UML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DFD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角色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业务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功能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数据</a:t>
              </a:r>
            </a:p>
          </p:txBody>
        </p:sp>
        <p:cxnSp>
          <p:nvCxnSpPr>
            <p:cNvPr id="68622" name="直接箭头连接符 58"/>
            <p:cNvCxnSpPr>
              <a:cxnSpLocks noChangeShapeType="1"/>
              <a:stCxn id="68621" idx="3"/>
            </p:cNvCxnSpPr>
            <p:nvPr/>
          </p:nvCxnSpPr>
          <p:spPr bwMode="auto">
            <a:xfrm flipV="1">
              <a:off x="2616200" y="4298950"/>
              <a:ext cx="292100" cy="37516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组合 52"/>
          <p:cNvGrpSpPr>
            <a:grpSpLocks/>
          </p:cNvGrpSpPr>
          <p:nvPr/>
        </p:nvGrpSpPr>
        <p:grpSpPr bwMode="auto">
          <a:xfrm>
            <a:off x="368300" y="4730898"/>
            <a:ext cx="5803900" cy="1511300"/>
            <a:chOff x="-139700" y="4076700"/>
            <a:chExt cx="5803900" cy="1511300"/>
          </a:xfrm>
        </p:grpSpPr>
        <p:sp>
          <p:nvSpPr>
            <p:cNvPr id="68619" name="矩形 53"/>
            <p:cNvSpPr>
              <a:spLocks noChangeArrowheads="1"/>
            </p:cNvSpPr>
            <p:nvPr/>
          </p:nvSpPr>
          <p:spPr bwMode="auto">
            <a:xfrm>
              <a:off x="-139700" y="4743450"/>
              <a:ext cx="2959100" cy="8445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OOD (UML</a:t>
              </a: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建模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、结构化设计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(HIPO)</a:t>
              </a:r>
              <a:endPara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68620" name="直接箭头连接符 54"/>
            <p:cNvCxnSpPr>
              <a:cxnSpLocks noChangeShapeType="1"/>
            </p:cNvCxnSpPr>
            <p:nvPr/>
          </p:nvCxnSpPr>
          <p:spPr bwMode="auto">
            <a:xfrm flipV="1">
              <a:off x="2393950" y="4076700"/>
              <a:ext cx="3270250" cy="774700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组合 61"/>
          <p:cNvGrpSpPr>
            <a:grpSpLocks/>
          </p:cNvGrpSpPr>
          <p:nvPr/>
        </p:nvGrpSpPr>
        <p:grpSpPr bwMode="auto">
          <a:xfrm>
            <a:off x="1168400" y="4730898"/>
            <a:ext cx="6203950" cy="1663700"/>
            <a:chOff x="419100" y="3924300"/>
            <a:chExt cx="6203950" cy="1663700"/>
          </a:xfrm>
        </p:grpSpPr>
        <p:sp>
          <p:nvSpPr>
            <p:cNvPr id="68617" name="矩形 62"/>
            <p:cNvSpPr>
              <a:spLocks noChangeArrowheads="1"/>
            </p:cNvSpPr>
            <p:nvPr/>
          </p:nvSpPr>
          <p:spPr bwMode="auto">
            <a:xfrm>
              <a:off x="419100" y="4743450"/>
              <a:ext cx="3803650" cy="84455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编码、测试；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OS/DBMS/</a:t>
              </a: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中间件安装配置</a:t>
              </a:r>
            </a:p>
          </p:txBody>
        </p:sp>
        <p:cxnSp>
          <p:nvCxnSpPr>
            <p:cNvPr id="68618" name="直接箭头连接符 63"/>
            <p:cNvCxnSpPr>
              <a:cxnSpLocks noChangeShapeType="1"/>
            </p:cNvCxnSpPr>
            <p:nvPr/>
          </p:nvCxnSpPr>
          <p:spPr bwMode="auto">
            <a:xfrm flipV="1">
              <a:off x="2393950" y="3924300"/>
              <a:ext cx="4229100" cy="927100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861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30637931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23528" y="1124744"/>
            <a:ext cx="7245350" cy="5181600"/>
          </a:xfrm>
        </p:spPr>
        <p:txBody>
          <a:bodyPr/>
          <a:lstStyle/>
          <a:p>
            <a:pPr marL="0" indent="0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功能视图</a:t>
            </a:r>
          </a:p>
          <a:p>
            <a:pPr marL="439738" lvl="1" indent="-187325" eaLnBrk="1" hangingPunct="1">
              <a:buFont typeface="Wingdings" panose="05000000000000000000" pitchFamily="2" charset="2"/>
              <a:buChar char="Ø"/>
            </a:pPr>
            <a:r>
              <a:rPr lang="zh-CN" altLang="en-US"/>
              <a:t>功能视图描述</a:t>
            </a:r>
          </a:p>
          <a:p>
            <a:pPr marL="808038" lvl="2" indent="-188913" eaLnBrk="1" hangingPunct="1">
              <a:spcBef>
                <a:spcPts val="575"/>
              </a:spcBef>
              <a:buFont typeface="Wingdings" panose="05000000000000000000" pitchFamily="2" charset="2"/>
              <a:buChar char="ü"/>
            </a:pPr>
            <a:r>
              <a:rPr lang="zh-CN" altLang="en-US" sz="2400"/>
              <a:t>静态结构描述</a:t>
            </a:r>
          </a:p>
          <a:p>
            <a:pPr marL="1160463" lvl="3" indent="-173038" algn="just" eaLnBrk="1" hangingPunct="1"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FF0000"/>
                </a:solidFill>
              </a:rPr>
              <a:t>功能结构图及功能规格说明</a:t>
            </a:r>
            <a:r>
              <a:rPr lang="en-US" altLang="zh-CN" sz="2400">
                <a:solidFill>
                  <a:srgbClr val="FF0000"/>
                </a:solidFill>
              </a:rPr>
              <a:t>(</a:t>
            </a:r>
            <a:r>
              <a:rPr lang="zh-CN" altLang="en-US" sz="2400">
                <a:solidFill>
                  <a:srgbClr val="FF0000"/>
                </a:solidFill>
              </a:rPr>
              <a:t>设计</a:t>
            </a:r>
            <a:r>
              <a:rPr lang="en-US" altLang="zh-CN" sz="2400">
                <a:solidFill>
                  <a:srgbClr val="FF0000"/>
                </a:solidFill>
              </a:rPr>
              <a:t>)</a:t>
            </a:r>
            <a:endParaRPr lang="zh-CN" altLang="en-US" sz="2400">
              <a:solidFill>
                <a:srgbClr val="FF0000"/>
              </a:solidFill>
            </a:endParaRPr>
          </a:p>
          <a:p>
            <a:pPr marL="1160463" lvl="3" indent="-173038" eaLnBrk="1" hangingPunct="1">
              <a:spcBef>
                <a:spcPct val="0"/>
              </a:spcBef>
              <a:buFontTx/>
              <a:buChar char="•"/>
            </a:pPr>
            <a:r>
              <a:rPr lang="zh-CN" altLang="en-US" sz="2400"/>
              <a:t>用例图</a:t>
            </a:r>
            <a:endParaRPr lang="en-US" altLang="zh-CN" sz="2400"/>
          </a:p>
          <a:p>
            <a:pPr marL="1160463" lvl="3" indent="-173038" eaLnBrk="1" hangingPunct="1">
              <a:spcBef>
                <a:spcPct val="0"/>
              </a:spcBef>
              <a:buFontTx/>
              <a:buChar char="•"/>
            </a:pPr>
            <a:r>
              <a:rPr lang="zh-CN" altLang="en-US" sz="2400"/>
              <a:t>包图、类图</a:t>
            </a:r>
          </a:p>
          <a:p>
            <a:pPr marL="808038" lvl="2" indent="-188913" eaLnBrk="1" hangingPunct="1">
              <a:spcBef>
                <a:spcPts val="575"/>
              </a:spcBef>
              <a:buFont typeface="Wingdings" panose="05000000000000000000" pitchFamily="2" charset="2"/>
              <a:buChar char="ü"/>
            </a:pPr>
            <a:r>
              <a:rPr lang="zh-CN" altLang="en-US" sz="2400"/>
              <a:t>动态结构描述</a:t>
            </a:r>
          </a:p>
          <a:p>
            <a:pPr marL="1160463" lvl="3" indent="-173038">
              <a:buFontTx/>
              <a:buChar char="•"/>
            </a:pPr>
            <a:r>
              <a:rPr lang="zh-CN" altLang="en-US" sz="2400"/>
              <a:t>顺序图</a:t>
            </a:r>
            <a:r>
              <a:rPr lang="en-US" altLang="zh-CN" sz="2400"/>
              <a:t>/</a:t>
            </a:r>
            <a:r>
              <a:rPr lang="zh-CN" altLang="en-US" sz="2400"/>
              <a:t>协作图</a:t>
            </a:r>
            <a:endParaRPr lang="en-US" altLang="zh-CN" sz="2400"/>
          </a:p>
          <a:p>
            <a:pPr marL="1160463" lvl="3" indent="-173038">
              <a:buFontTx/>
              <a:buChar char="•"/>
            </a:pPr>
            <a:r>
              <a:rPr lang="zh-CN" altLang="en-US" sz="2400"/>
              <a:t>活动图</a:t>
            </a:r>
            <a:r>
              <a:rPr lang="en-US" altLang="zh-CN" sz="2400"/>
              <a:t>/</a:t>
            </a:r>
            <a:r>
              <a:rPr lang="zh-CN" altLang="en-US" sz="2400"/>
              <a:t>状态图</a:t>
            </a:r>
            <a:endParaRPr lang="en-US" altLang="zh-CN" sz="2400"/>
          </a:p>
          <a:p>
            <a:pPr marL="1160463" lvl="3" indent="-173038">
              <a:buFontTx/>
              <a:buChar char="•"/>
            </a:pPr>
            <a:r>
              <a:rPr lang="zh-CN" altLang="en-US" sz="2400"/>
              <a:t>数据流图</a:t>
            </a:r>
            <a:r>
              <a:rPr lang="en-US" altLang="zh-CN" sz="2400"/>
              <a:t>/</a:t>
            </a:r>
            <a:r>
              <a:rPr lang="zh-CN" altLang="en-US" sz="2400"/>
              <a:t>程序流程图</a:t>
            </a:r>
          </a:p>
        </p:txBody>
      </p:sp>
      <p:grpSp>
        <p:nvGrpSpPr>
          <p:cNvPr id="69635" name="Group 70"/>
          <p:cNvGrpSpPr>
            <a:grpSpLocks/>
          </p:cNvGrpSpPr>
          <p:nvPr/>
        </p:nvGrpSpPr>
        <p:grpSpPr bwMode="auto">
          <a:xfrm>
            <a:off x="3630290" y="3094832"/>
            <a:ext cx="5400675" cy="1728787"/>
            <a:chOff x="1633" y="1083"/>
            <a:chExt cx="3629" cy="1474"/>
          </a:xfrm>
        </p:grpSpPr>
        <p:sp>
          <p:nvSpPr>
            <p:cNvPr id="100400" name="Rectangle 48"/>
            <p:cNvSpPr>
              <a:spLocks noChangeArrowheads="1"/>
            </p:cNvSpPr>
            <p:nvPr/>
          </p:nvSpPr>
          <p:spPr bwMode="auto">
            <a:xfrm>
              <a:off x="3362" y="1083"/>
              <a:ext cx="539" cy="25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000" dirty="0">
                  <a:latin typeface="+mj-ea"/>
                  <a:ea typeface="+mj-ea"/>
                </a:rPr>
                <a:t>功能</a:t>
              </a:r>
            </a:p>
          </p:txBody>
        </p:sp>
        <p:sp>
          <p:nvSpPr>
            <p:cNvPr id="100401" name="Rectangle 49"/>
            <p:cNvSpPr>
              <a:spLocks noChangeArrowheads="1"/>
            </p:cNvSpPr>
            <p:nvPr/>
          </p:nvSpPr>
          <p:spPr bwMode="auto">
            <a:xfrm>
              <a:off x="2426" y="1593"/>
              <a:ext cx="654" cy="25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000" dirty="0">
                  <a:latin typeface="+mj-ea"/>
                  <a:ea typeface="+mj-ea"/>
                </a:rPr>
                <a:t>子功能</a:t>
              </a:r>
              <a:r>
                <a:rPr lang="en-US" altLang="zh-CN" sz="2000" dirty="0">
                  <a:latin typeface="+mj-ea"/>
                  <a:ea typeface="+mj-ea"/>
                </a:rPr>
                <a:t>1</a:t>
              </a:r>
            </a:p>
          </p:txBody>
        </p:sp>
        <p:sp>
          <p:nvSpPr>
            <p:cNvPr id="100403" name="Rectangle 51"/>
            <p:cNvSpPr>
              <a:spLocks noChangeArrowheads="1"/>
            </p:cNvSpPr>
            <p:nvPr/>
          </p:nvSpPr>
          <p:spPr bwMode="auto">
            <a:xfrm>
              <a:off x="4184" y="1593"/>
              <a:ext cx="655" cy="25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000">
                  <a:latin typeface="+mj-ea"/>
                  <a:ea typeface="+mj-ea"/>
                </a:rPr>
                <a:t>子功能</a:t>
              </a:r>
              <a:r>
                <a:rPr lang="en-US" altLang="zh-CN" sz="2000">
                  <a:latin typeface="+mj-ea"/>
                  <a:ea typeface="+mj-ea"/>
                </a:rPr>
                <a:t>n</a:t>
              </a:r>
            </a:p>
          </p:txBody>
        </p:sp>
        <p:sp>
          <p:nvSpPr>
            <p:cNvPr id="28681" name="Line 52"/>
            <p:cNvSpPr>
              <a:spLocks noChangeShapeType="1"/>
            </p:cNvSpPr>
            <p:nvPr/>
          </p:nvSpPr>
          <p:spPr bwMode="auto">
            <a:xfrm>
              <a:off x="2738" y="1480"/>
              <a:ext cx="17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82" name="Line 53"/>
            <p:cNvSpPr>
              <a:spLocks noChangeShapeType="1"/>
            </p:cNvSpPr>
            <p:nvPr/>
          </p:nvSpPr>
          <p:spPr bwMode="auto">
            <a:xfrm>
              <a:off x="3645" y="1337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83" name="Line 54"/>
            <p:cNvSpPr>
              <a:spLocks noChangeShapeType="1"/>
            </p:cNvSpPr>
            <p:nvPr/>
          </p:nvSpPr>
          <p:spPr bwMode="auto">
            <a:xfrm>
              <a:off x="2738" y="1480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84" name="Line 55"/>
            <p:cNvSpPr>
              <a:spLocks noChangeShapeType="1"/>
            </p:cNvSpPr>
            <p:nvPr/>
          </p:nvSpPr>
          <p:spPr bwMode="auto">
            <a:xfrm>
              <a:off x="4524" y="1480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85" name="Rectangle 56"/>
            <p:cNvSpPr>
              <a:spLocks noChangeArrowheads="1"/>
            </p:cNvSpPr>
            <p:nvPr/>
          </p:nvSpPr>
          <p:spPr bwMode="auto">
            <a:xfrm>
              <a:off x="3334" y="1593"/>
              <a:ext cx="652" cy="25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000">
                  <a:latin typeface="+mj-ea"/>
                  <a:ea typeface="+mj-ea"/>
                </a:rPr>
                <a:t>……</a:t>
              </a:r>
            </a:p>
          </p:txBody>
        </p:sp>
        <p:sp>
          <p:nvSpPr>
            <p:cNvPr id="28686" name="Line 57"/>
            <p:cNvSpPr>
              <a:spLocks noChangeShapeType="1"/>
            </p:cNvSpPr>
            <p:nvPr/>
          </p:nvSpPr>
          <p:spPr bwMode="auto">
            <a:xfrm>
              <a:off x="2738" y="1878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00410" name="Rectangle 58"/>
            <p:cNvSpPr>
              <a:spLocks noChangeArrowheads="1"/>
            </p:cNvSpPr>
            <p:nvPr/>
          </p:nvSpPr>
          <p:spPr bwMode="auto">
            <a:xfrm>
              <a:off x="1633" y="2303"/>
              <a:ext cx="822" cy="25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000">
                  <a:latin typeface="+mj-ea"/>
                  <a:ea typeface="+mj-ea"/>
                </a:rPr>
                <a:t>子功能</a:t>
              </a:r>
              <a:r>
                <a:rPr lang="en-US" altLang="zh-CN" sz="2000">
                  <a:latin typeface="+mj-ea"/>
                  <a:ea typeface="+mj-ea"/>
                </a:rPr>
                <a:t>11</a:t>
              </a:r>
            </a:p>
          </p:txBody>
        </p:sp>
        <p:sp>
          <p:nvSpPr>
            <p:cNvPr id="100411" name="Rectangle 59"/>
            <p:cNvSpPr>
              <a:spLocks noChangeArrowheads="1"/>
            </p:cNvSpPr>
            <p:nvPr/>
          </p:nvSpPr>
          <p:spPr bwMode="auto">
            <a:xfrm>
              <a:off x="2965" y="2303"/>
              <a:ext cx="818" cy="25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000">
                  <a:latin typeface="+mj-ea"/>
                  <a:ea typeface="+mj-ea"/>
                </a:rPr>
                <a:t>子功能</a:t>
              </a:r>
              <a:r>
                <a:rPr lang="en-US" altLang="zh-CN" sz="2000">
                  <a:latin typeface="+mj-ea"/>
                  <a:ea typeface="+mj-ea"/>
                </a:rPr>
                <a:t>1m</a:t>
              </a:r>
            </a:p>
          </p:txBody>
        </p:sp>
        <p:sp>
          <p:nvSpPr>
            <p:cNvPr id="28689" name="Rectangle 60"/>
            <p:cNvSpPr>
              <a:spLocks noChangeArrowheads="1"/>
            </p:cNvSpPr>
            <p:nvPr/>
          </p:nvSpPr>
          <p:spPr bwMode="auto">
            <a:xfrm>
              <a:off x="2511" y="2303"/>
              <a:ext cx="482" cy="2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000">
                  <a:latin typeface="+mj-ea"/>
                  <a:ea typeface="+mj-ea"/>
                </a:rPr>
                <a:t>……</a:t>
              </a:r>
            </a:p>
          </p:txBody>
        </p:sp>
        <p:sp>
          <p:nvSpPr>
            <p:cNvPr id="28690" name="Line 61"/>
            <p:cNvSpPr>
              <a:spLocks noChangeShapeType="1"/>
            </p:cNvSpPr>
            <p:nvPr/>
          </p:nvSpPr>
          <p:spPr bwMode="auto">
            <a:xfrm>
              <a:off x="2086" y="2047"/>
              <a:ext cx="1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91" name="Line 62"/>
            <p:cNvSpPr>
              <a:spLocks noChangeShapeType="1"/>
            </p:cNvSpPr>
            <p:nvPr/>
          </p:nvSpPr>
          <p:spPr bwMode="auto">
            <a:xfrm>
              <a:off x="2086" y="2047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92" name="Line 63"/>
            <p:cNvSpPr>
              <a:spLocks noChangeShapeType="1"/>
            </p:cNvSpPr>
            <p:nvPr/>
          </p:nvSpPr>
          <p:spPr bwMode="auto">
            <a:xfrm>
              <a:off x="3390" y="2047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00416" name="Rectangle 64"/>
            <p:cNvSpPr>
              <a:spLocks noChangeArrowheads="1"/>
            </p:cNvSpPr>
            <p:nvPr/>
          </p:nvSpPr>
          <p:spPr bwMode="auto">
            <a:xfrm>
              <a:off x="3957" y="2303"/>
              <a:ext cx="737" cy="25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000" dirty="0">
                  <a:latin typeface="+mj-ea"/>
                  <a:ea typeface="+mj-ea"/>
                </a:rPr>
                <a:t>子功能</a:t>
              </a:r>
              <a:r>
                <a:rPr lang="en-US" altLang="zh-CN" sz="2000" dirty="0">
                  <a:latin typeface="+mj-ea"/>
                  <a:ea typeface="+mj-ea"/>
                </a:rPr>
                <a:t>n1</a:t>
              </a:r>
            </a:p>
          </p:txBody>
        </p:sp>
        <p:sp>
          <p:nvSpPr>
            <p:cNvPr id="28694" name="Line 65"/>
            <p:cNvSpPr>
              <a:spLocks noChangeShapeType="1"/>
            </p:cNvSpPr>
            <p:nvPr/>
          </p:nvSpPr>
          <p:spPr bwMode="auto">
            <a:xfrm>
              <a:off x="4524" y="1878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95" name="Line 66"/>
            <p:cNvSpPr>
              <a:spLocks noChangeShapeType="1"/>
            </p:cNvSpPr>
            <p:nvPr/>
          </p:nvSpPr>
          <p:spPr bwMode="auto">
            <a:xfrm>
              <a:off x="4326" y="2047"/>
              <a:ext cx="9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96" name="Line 67"/>
            <p:cNvSpPr>
              <a:spLocks noChangeShapeType="1"/>
            </p:cNvSpPr>
            <p:nvPr/>
          </p:nvSpPr>
          <p:spPr bwMode="auto">
            <a:xfrm>
              <a:off x="4326" y="2047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697" name="Rectangle 69"/>
            <p:cNvSpPr>
              <a:spLocks noChangeArrowheads="1"/>
            </p:cNvSpPr>
            <p:nvPr/>
          </p:nvSpPr>
          <p:spPr bwMode="auto">
            <a:xfrm>
              <a:off x="4779" y="2303"/>
              <a:ext cx="482" cy="2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+mj-ea"/>
                  <a:ea typeface="+mj-ea"/>
                </a:rPr>
                <a:t>……</a:t>
              </a:r>
            </a:p>
          </p:txBody>
        </p:sp>
      </p:grpSp>
      <p:sp>
        <p:nvSpPr>
          <p:cNvPr id="6963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259315531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47688" y="980728"/>
            <a:ext cx="5219700" cy="4893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800" kern="0" dirty="0">
                <a:solidFill>
                  <a:srgbClr val="3333FF"/>
                </a:solidFill>
                <a:latin typeface="+mj-ea"/>
                <a:ea typeface="+mj-ea"/>
              </a:rPr>
              <a:t>功能视图</a:t>
            </a:r>
          </a:p>
          <a:p>
            <a:pPr marL="439738" lvl="1" indent="-187325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功能视图描述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静态结构描述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功能结构图及功能规格说明</a:t>
            </a:r>
            <a:endParaRPr lang="en-US" altLang="zh-CN" kern="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用例图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包图、类图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动态结构描述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顺序图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协作图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活动图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状态图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数据流图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程序流程图</a:t>
            </a:r>
          </a:p>
        </p:txBody>
      </p:sp>
      <p:sp>
        <p:nvSpPr>
          <p:cNvPr id="7065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0" name="Rectangle 7"/>
          <p:cNvSpPr>
            <a:spLocks noChangeArrowheads="1"/>
          </p:cNvSpPr>
          <p:nvPr/>
        </p:nvSpPr>
        <p:spPr bwMode="auto">
          <a:xfrm>
            <a:off x="889000" y="1203325"/>
            <a:ext cx="11098213" cy="5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661" name="组合 4"/>
          <p:cNvGrpSpPr>
            <a:grpSpLocks/>
          </p:cNvGrpSpPr>
          <p:nvPr/>
        </p:nvGrpSpPr>
        <p:grpSpPr bwMode="auto">
          <a:xfrm>
            <a:off x="395536" y="1700808"/>
            <a:ext cx="8499475" cy="4619625"/>
            <a:chOff x="161510" y="1763815"/>
            <a:chExt cx="8885330" cy="4860540"/>
          </a:xfrm>
        </p:grpSpPr>
        <p:sp>
          <p:nvSpPr>
            <p:cNvPr id="4" name="矩形 3"/>
            <p:cNvSpPr/>
            <p:nvPr/>
          </p:nvSpPr>
          <p:spPr bwMode="auto">
            <a:xfrm>
              <a:off x="161510" y="1763815"/>
              <a:ext cx="8885330" cy="486054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graphicFrame>
          <p:nvGraphicFramePr>
            <p:cNvPr id="70667" name="对象 2"/>
            <p:cNvGraphicFramePr>
              <a:graphicFrameLocks noChangeAspect="1"/>
            </p:cNvGraphicFramePr>
            <p:nvPr/>
          </p:nvGraphicFramePr>
          <p:xfrm>
            <a:off x="317366" y="1941114"/>
            <a:ext cx="8573618" cy="4385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880" r:id="rId3" imgW="9658483" imgH="4876928" progId="Visio.Drawing.15">
                    <p:embed/>
                  </p:oleObj>
                </mc:Choice>
                <mc:Fallback>
                  <p:oleObj r:id="rId3" imgW="9658483" imgH="4876928" progId="Visio.Drawing.15">
                    <p:embed/>
                    <p:pic>
                      <p:nvPicPr>
                        <p:cNvPr id="70667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366" y="1941114"/>
                          <a:ext cx="8573618" cy="4385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089273" y="1700808"/>
            <a:ext cx="7065963" cy="3719512"/>
            <a:chOff x="1511660" y="1600199"/>
            <a:chExt cx="7065785" cy="3719011"/>
          </a:xfrm>
        </p:grpSpPr>
        <p:sp>
          <p:nvSpPr>
            <p:cNvPr id="6" name="矩形 5"/>
            <p:cNvSpPr/>
            <p:nvPr/>
          </p:nvSpPr>
          <p:spPr bwMode="auto">
            <a:xfrm>
              <a:off x="1511660" y="1600199"/>
              <a:ext cx="7065785" cy="371901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pic>
          <p:nvPicPr>
            <p:cNvPr id="70665" name="图片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304" y="2032180"/>
              <a:ext cx="6398768" cy="2881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663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17568639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161925" y="1268413"/>
            <a:ext cx="594042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800" kern="0" dirty="0">
                <a:solidFill>
                  <a:srgbClr val="3333FF"/>
                </a:solidFill>
                <a:latin typeface="+mj-ea"/>
                <a:ea typeface="+mj-ea"/>
              </a:rPr>
              <a:t>功能视图</a:t>
            </a:r>
          </a:p>
          <a:p>
            <a:pPr marL="439738" lvl="1" indent="-187325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功能视图描述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静态结构描述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功能结构图及功能规格说明</a:t>
            </a:r>
            <a:endParaRPr lang="en-US" altLang="zh-CN" kern="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用例图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包图、类图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动态结构描述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顺序图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协作图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活动图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状态图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数据流图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程序流程图</a:t>
            </a:r>
          </a:p>
        </p:txBody>
      </p:sp>
      <p:grpSp>
        <p:nvGrpSpPr>
          <p:cNvPr id="71683" name="Group 34"/>
          <p:cNvGrpSpPr>
            <a:grpSpLocks/>
          </p:cNvGrpSpPr>
          <p:nvPr/>
        </p:nvGrpSpPr>
        <p:grpSpPr bwMode="auto">
          <a:xfrm>
            <a:off x="3844925" y="1155700"/>
            <a:ext cx="5002213" cy="2047875"/>
            <a:chOff x="2639" y="1196"/>
            <a:chExt cx="3019" cy="1290"/>
          </a:xfrm>
        </p:grpSpPr>
        <p:sp>
          <p:nvSpPr>
            <p:cNvPr id="101381" name="Rectangle 5"/>
            <p:cNvSpPr>
              <a:spLocks noChangeArrowheads="1"/>
            </p:cNvSpPr>
            <p:nvPr/>
          </p:nvSpPr>
          <p:spPr bwMode="auto">
            <a:xfrm>
              <a:off x="3418" y="1196"/>
              <a:ext cx="2240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+mn-lt"/>
                  <a:ea typeface="+mj-ea"/>
                </a:rPr>
                <a:t>H</a:t>
              </a:r>
              <a:r>
                <a:rPr lang="zh-CN" altLang="en-US" sz="2000" dirty="0">
                  <a:latin typeface="+mn-lt"/>
                  <a:ea typeface="+mj-ea"/>
                </a:rPr>
                <a:t>：功能组成（功能结构图）</a:t>
              </a:r>
            </a:p>
          </p:txBody>
        </p:sp>
        <p:sp>
          <p:nvSpPr>
            <p:cNvPr id="101402" name="Rectangle 26"/>
            <p:cNvSpPr>
              <a:spLocks noChangeArrowheads="1"/>
            </p:cNvSpPr>
            <p:nvPr/>
          </p:nvSpPr>
          <p:spPr bwMode="auto">
            <a:xfrm>
              <a:off x="3418" y="1541"/>
              <a:ext cx="2240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+mn-lt"/>
                  <a:ea typeface="+mj-ea"/>
                </a:rPr>
                <a:t>I</a:t>
              </a:r>
              <a:r>
                <a:rPr lang="zh-CN" altLang="en-US" sz="2000" dirty="0">
                  <a:latin typeface="+mn-lt"/>
                  <a:ea typeface="+mj-ea"/>
                </a:rPr>
                <a:t>：输入</a:t>
              </a:r>
              <a:r>
                <a:rPr lang="en-US" altLang="zh-CN" sz="2000" dirty="0">
                  <a:latin typeface="+mn-lt"/>
                  <a:ea typeface="+mj-ea"/>
                </a:rPr>
                <a:t>(</a:t>
              </a:r>
              <a:r>
                <a:rPr lang="zh-CN" altLang="en-US" sz="2000" dirty="0">
                  <a:latin typeface="+mn-lt"/>
                  <a:ea typeface="+mj-ea"/>
                </a:rPr>
                <a:t>键盘、数据表、其它</a:t>
              </a:r>
              <a:r>
                <a:rPr lang="en-US" altLang="zh-CN" sz="2000" dirty="0">
                  <a:latin typeface="+mn-lt"/>
                  <a:ea typeface="+mj-ea"/>
                </a:rPr>
                <a:t>)</a:t>
              </a:r>
              <a:endParaRPr lang="zh-CN" altLang="en-US" sz="2000" dirty="0">
                <a:latin typeface="+mn-lt"/>
                <a:ea typeface="+mj-ea"/>
              </a:endParaRPr>
            </a:p>
          </p:txBody>
        </p:sp>
        <p:sp>
          <p:nvSpPr>
            <p:cNvPr id="101403" name="Rectangle 27"/>
            <p:cNvSpPr>
              <a:spLocks noChangeArrowheads="1"/>
            </p:cNvSpPr>
            <p:nvPr/>
          </p:nvSpPr>
          <p:spPr bwMode="auto">
            <a:xfrm>
              <a:off x="3418" y="1886"/>
              <a:ext cx="2240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+mn-lt"/>
                  <a:ea typeface="+mj-ea"/>
                </a:rPr>
                <a:t>P</a:t>
              </a:r>
              <a:r>
                <a:rPr lang="zh-CN" altLang="en-US" sz="2000" dirty="0">
                  <a:latin typeface="+mn-lt"/>
                  <a:ea typeface="+mj-ea"/>
                </a:rPr>
                <a:t>：处理流程</a:t>
              </a:r>
              <a:r>
                <a:rPr lang="en-US" altLang="zh-CN" sz="2000" dirty="0">
                  <a:latin typeface="+mn-lt"/>
                  <a:ea typeface="+mj-ea"/>
                </a:rPr>
                <a:t>/</a:t>
              </a:r>
              <a:r>
                <a:rPr lang="zh-CN" altLang="en-US" sz="2000" dirty="0">
                  <a:latin typeface="+mn-lt"/>
                  <a:ea typeface="+mj-ea"/>
                </a:rPr>
                <a:t>步骤</a:t>
              </a:r>
            </a:p>
          </p:txBody>
        </p:sp>
        <p:sp>
          <p:nvSpPr>
            <p:cNvPr id="101404" name="Rectangle 28"/>
            <p:cNvSpPr>
              <a:spLocks noChangeArrowheads="1"/>
            </p:cNvSpPr>
            <p:nvPr/>
          </p:nvSpPr>
          <p:spPr bwMode="auto">
            <a:xfrm>
              <a:off x="3418" y="2231"/>
              <a:ext cx="2240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+mn-lt"/>
                  <a:ea typeface="+mj-ea"/>
                </a:rPr>
                <a:t>O</a:t>
              </a:r>
              <a:r>
                <a:rPr lang="zh-CN" altLang="en-US" sz="2000" dirty="0">
                  <a:latin typeface="+mn-lt"/>
                  <a:ea typeface="+mj-ea"/>
                </a:rPr>
                <a:t>：输出</a:t>
              </a:r>
              <a:r>
                <a:rPr lang="en-US" altLang="zh-CN" sz="2000" dirty="0">
                  <a:latin typeface="+mn-lt"/>
                  <a:ea typeface="+mj-ea"/>
                </a:rPr>
                <a:t>(</a:t>
              </a:r>
              <a:r>
                <a:rPr lang="zh-CN" altLang="en-US" sz="2000" dirty="0">
                  <a:latin typeface="+mn-lt"/>
                  <a:ea typeface="+mj-ea"/>
                </a:rPr>
                <a:t>显示、数据表、打印</a:t>
              </a:r>
              <a:r>
                <a:rPr lang="en-US" altLang="zh-CN" sz="2000" dirty="0">
                  <a:latin typeface="+mn-lt"/>
                  <a:ea typeface="+mj-ea"/>
                </a:rPr>
                <a:t>)</a:t>
              </a:r>
              <a:endParaRPr lang="zh-CN" altLang="en-US" sz="2000" dirty="0">
                <a:latin typeface="+mn-lt"/>
                <a:ea typeface="+mj-ea"/>
              </a:endParaRPr>
            </a:p>
          </p:txBody>
        </p:sp>
        <p:sp>
          <p:nvSpPr>
            <p:cNvPr id="101408" name="Rectangle 32"/>
            <p:cNvSpPr>
              <a:spLocks noChangeArrowheads="1"/>
            </p:cNvSpPr>
            <p:nvPr/>
          </p:nvSpPr>
          <p:spPr bwMode="auto">
            <a:xfrm>
              <a:off x="2639" y="1758"/>
              <a:ext cx="624" cy="25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000" dirty="0">
                  <a:latin typeface="+mn-lt"/>
                  <a:ea typeface="+mj-ea"/>
                </a:rPr>
                <a:t>子功能</a:t>
              </a:r>
              <a:r>
                <a:rPr lang="en-US" altLang="zh-CN" sz="2000" dirty="0" err="1">
                  <a:latin typeface="+mn-lt"/>
                  <a:ea typeface="+mj-ea"/>
                </a:rPr>
                <a:t>ij</a:t>
              </a:r>
              <a:endParaRPr lang="en-US" altLang="zh-CN" sz="2000" dirty="0">
                <a:latin typeface="+mn-lt"/>
                <a:ea typeface="+mj-ea"/>
              </a:endParaRPr>
            </a:p>
          </p:txBody>
        </p:sp>
        <p:sp>
          <p:nvSpPr>
            <p:cNvPr id="30734" name="AutoShape 33"/>
            <p:cNvSpPr>
              <a:spLocks/>
            </p:cNvSpPr>
            <p:nvPr/>
          </p:nvSpPr>
          <p:spPr bwMode="auto">
            <a:xfrm>
              <a:off x="3249" y="1253"/>
              <a:ext cx="169" cy="1147"/>
            </a:xfrm>
            <a:prstGeom prst="leftBrace">
              <a:avLst>
                <a:gd name="adj1" fmla="val 13067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>
                <a:latin typeface="+mn-lt"/>
                <a:ea typeface="+mj-ea"/>
              </a:endParaRPr>
            </a:p>
          </p:txBody>
        </p:sp>
      </p:grpSp>
      <p:sp>
        <p:nvSpPr>
          <p:cNvPr id="71684" name="Rectangle 27"/>
          <p:cNvSpPr>
            <a:spLocks noChangeArrowheads="1"/>
          </p:cNvSpPr>
          <p:nvPr/>
        </p:nvSpPr>
        <p:spPr bwMode="auto">
          <a:xfrm>
            <a:off x="3222625" y="21415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13"/>
          <p:cNvGrpSpPr>
            <a:grpSpLocks noChangeAspect="1"/>
          </p:cNvGrpSpPr>
          <p:nvPr/>
        </p:nvGrpSpPr>
        <p:grpSpPr bwMode="auto">
          <a:xfrm>
            <a:off x="3716338" y="3562350"/>
            <a:ext cx="5265737" cy="2836863"/>
            <a:chOff x="1808" y="3563"/>
            <a:chExt cx="8101" cy="4468"/>
          </a:xfrm>
        </p:grpSpPr>
        <p:sp>
          <p:nvSpPr>
            <p:cNvPr id="71689" name="Rectangle 25"/>
            <p:cNvSpPr>
              <a:spLocks noChangeArrowheads="1"/>
            </p:cNvSpPr>
            <p:nvPr/>
          </p:nvSpPr>
          <p:spPr bwMode="auto">
            <a:xfrm>
              <a:off x="1808" y="3563"/>
              <a:ext cx="8101" cy="4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0" name="Rectangle 24"/>
            <p:cNvSpPr>
              <a:spLocks noChangeArrowheads="1"/>
            </p:cNvSpPr>
            <p:nvPr/>
          </p:nvSpPr>
          <p:spPr bwMode="auto">
            <a:xfrm>
              <a:off x="1989" y="4655"/>
              <a:ext cx="3778" cy="3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1" name="Rectangle 23"/>
            <p:cNvSpPr>
              <a:spLocks noChangeArrowheads="1"/>
            </p:cNvSpPr>
            <p:nvPr/>
          </p:nvSpPr>
          <p:spPr bwMode="auto">
            <a:xfrm>
              <a:off x="5948" y="4655"/>
              <a:ext cx="3778" cy="3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2" name="Text Box 19"/>
            <p:cNvSpPr txBox="1">
              <a:spLocks noChangeArrowheads="1"/>
            </p:cNvSpPr>
            <p:nvPr/>
          </p:nvSpPr>
          <p:spPr bwMode="auto">
            <a:xfrm>
              <a:off x="1989" y="3563"/>
              <a:ext cx="7739" cy="1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>
                  <a:latin typeface="Times New Roman" panose="02020603050405020304" pitchFamily="18" charset="0"/>
                </a:rPr>
                <a:t>IPO</a:t>
              </a:r>
              <a:r>
                <a:rPr lang="zh-CN" altLang="en-US" sz="900">
                  <a:latin typeface="Times New Roman" panose="02020603050405020304" pitchFamily="18" charset="0"/>
                </a:rPr>
                <a:t>图</a:t>
              </a:r>
              <a:endParaRPr lang="zh-CN" altLang="en-US" sz="1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>
                  <a:latin typeface="Times New Roman" panose="02020603050405020304" pitchFamily="18" charset="0"/>
                </a:rPr>
                <a:t>系统名称：某印务有限公司生产计划管理系统</a:t>
              </a:r>
              <a:endParaRPr lang="zh-CN" altLang="en-US" sz="1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>
                  <a:latin typeface="Times New Roman" panose="02020603050405020304" pitchFamily="18" charset="0"/>
                </a:rPr>
                <a:t>模块名称：销售计划编制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3" name="Text Box 18"/>
            <p:cNvSpPr txBox="1">
              <a:spLocks noChangeArrowheads="1"/>
            </p:cNvSpPr>
            <p:nvPr/>
          </p:nvSpPr>
          <p:spPr bwMode="auto">
            <a:xfrm>
              <a:off x="1989" y="4655"/>
              <a:ext cx="3779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900">
                  <a:latin typeface="Times New Roman" panose="02020603050405020304" pitchFamily="18" charset="0"/>
                </a:rPr>
                <a:t>上层调用模块：计划编制模块</a:t>
              </a:r>
              <a:endParaRPr lang="zh-CN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71694" name="Text Box 17"/>
            <p:cNvSpPr txBox="1">
              <a:spLocks noChangeArrowheads="1"/>
            </p:cNvSpPr>
            <p:nvPr/>
          </p:nvSpPr>
          <p:spPr bwMode="auto">
            <a:xfrm>
              <a:off x="5948" y="4655"/>
              <a:ext cx="3779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900">
                  <a:latin typeface="Times New Roman" panose="02020603050405020304" pitchFamily="18" charset="0"/>
                </a:rPr>
                <a:t>可调用的下层模块：能力需求计划编制</a:t>
              </a:r>
              <a:endParaRPr lang="zh-CN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71695" name="Text Box 16"/>
            <p:cNvSpPr txBox="1">
              <a:spLocks noChangeArrowheads="1"/>
            </p:cNvSpPr>
            <p:nvPr/>
          </p:nvSpPr>
          <p:spPr bwMode="auto">
            <a:xfrm>
              <a:off x="1988" y="5133"/>
              <a:ext cx="3779" cy="74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900">
                  <a:latin typeface="Times New Roman" panose="02020603050405020304" pitchFamily="18" charset="0"/>
                </a:rPr>
                <a:t>输入：</a:t>
              </a:r>
              <a:endParaRPr lang="zh-CN" altLang="zh-CN" sz="1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900">
                  <a:latin typeface="Times New Roman" panose="02020603050405020304" pitchFamily="18" charset="0"/>
                </a:rPr>
                <a:t>产品名称、产品规格、客户名称、年度销售计划量</a:t>
              </a: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1696" name="Text Box 15"/>
            <p:cNvSpPr txBox="1">
              <a:spLocks noChangeArrowheads="1"/>
            </p:cNvSpPr>
            <p:nvPr/>
          </p:nvSpPr>
          <p:spPr bwMode="auto">
            <a:xfrm>
              <a:off x="5947" y="5116"/>
              <a:ext cx="3779" cy="7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900">
                  <a:latin typeface="Times New Roman" panose="02020603050405020304" pitchFamily="18" charset="0"/>
                </a:rPr>
                <a:t>输出：</a:t>
              </a:r>
              <a:endParaRPr lang="zh-CN" altLang="zh-CN" sz="1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900">
                  <a:latin typeface="Times New Roman" panose="02020603050405020304" pitchFamily="18" charset="0"/>
                </a:rPr>
                <a:t>产品名称、产品规格、客户名称、半年销售计划量、季度销售计划量、月度销售计划量</a:t>
              </a:r>
              <a:endParaRPr lang="zh-CN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1962" y="5983"/>
              <a:ext cx="7742" cy="188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kumimoji="1" sz="24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处理：</a:t>
              </a:r>
              <a:endParaRPr lang="zh-CN" sz="1200" dirty="0">
                <a:solidFill>
                  <a:schemeClr val="tx1"/>
                </a:solidFill>
                <a:cs typeface="宋体" panose="02010600030101010101" pitchFamily="2" charset="-122"/>
              </a:endParaRPr>
            </a:p>
            <a:p>
              <a:pPr marL="92075" indent="-92075" algn="ctr">
                <a:buFont typeface="+mj-lt"/>
                <a:buAutoNum type="arabicPeriod"/>
                <a:tabLst>
                  <a:tab pos="92075" algn="l"/>
                </a:tabLst>
                <a:defRPr/>
              </a:pPr>
              <a:r>
                <a:rPr 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调用能力需求计划对年度销售计划量进行计算，判断是否能够完成；</a:t>
              </a:r>
              <a:endParaRPr lang="zh-CN" sz="1200" dirty="0">
                <a:solidFill>
                  <a:schemeClr val="tx1"/>
                </a:solidFill>
                <a:cs typeface="宋体" panose="02010600030101010101" pitchFamily="2" charset="-122"/>
              </a:endParaRPr>
            </a:p>
            <a:p>
              <a:pPr marL="92075" indent="-92075" algn="ctr">
                <a:buFont typeface="+mj-lt"/>
                <a:buAutoNum type="arabicPeriod"/>
                <a:tabLst>
                  <a:tab pos="92075" algn="l"/>
                </a:tabLst>
                <a:defRPr/>
              </a:pPr>
              <a:r>
                <a:rPr 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若步骤</a:t>
              </a:r>
              <a:r>
                <a:rPr lang="en-US" alt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1</a:t>
              </a: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可执行，则计算：半年销售计划</a:t>
              </a:r>
              <a:r>
                <a:rPr lang="en-US" alt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=</a:t>
              </a: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年度销售计划</a:t>
              </a:r>
              <a:r>
                <a:rPr lang="en-US" alt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÷2</a:t>
              </a: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，否则返回错误提示；</a:t>
              </a:r>
              <a:endParaRPr lang="zh-CN" altLang="en-US" sz="1200" dirty="0">
                <a:solidFill>
                  <a:schemeClr val="tx1"/>
                </a:solidFill>
                <a:cs typeface="宋体" panose="02010600030101010101" pitchFamily="2" charset="-122"/>
              </a:endParaRPr>
            </a:p>
            <a:p>
              <a:pPr marL="92075" indent="-92075" algn="ctr">
                <a:buFont typeface="+mj-lt"/>
                <a:buAutoNum type="arabicPeriod"/>
                <a:tabLst>
                  <a:tab pos="92075" algn="l"/>
                </a:tabLst>
                <a:defRPr/>
              </a:pP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是否需要手动调整系统建议半年计划，如需要调整可手动进行计划分配，完成后审核存档；</a:t>
              </a:r>
              <a:endParaRPr lang="zh-CN" altLang="en-US" sz="1200" dirty="0">
                <a:solidFill>
                  <a:schemeClr val="tx1"/>
                </a:solidFill>
                <a:cs typeface="宋体" panose="02010600030101010101" pitchFamily="2" charset="-122"/>
              </a:endParaRPr>
            </a:p>
            <a:p>
              <a:pPr marL="92075" indent="-92075" algn="ctr">
                <a:buFont typeface="+mj-lt"/>
                <a:buAutoNum type="arabicPeriod"/>
                <a:tabLst>
                  <a:tab pos="92075" algn="l"/>
                </a:tabLst>
                <a:defRPr/>
              </a:pP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计算：季度销售计划</a:t>
              </a:r>
              <a:r>
                <a:rPr lang="en-US" alt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=</a:t>
              </a: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半年销售计划</a:t>
              </a:r>
              <a:r>
                <a:rPr lang="en-US" alt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÷2</a:t>
              </a: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；</a:t>
              </a:r>
              <a:endParaRPr lang="zh-CN" altLang="en-US" sz="1200" dirty="0">
                <a:solidFill>
                  <a:schemeClr val="tx1"/>
                </a:solidFill>
                <a:cs typeface="宋体" panose="02010600030101010101" pitchFamily="2" charset="-122"/>
              </a:endParaRPr>
            </a:p>
            <a:p>
              <a:pPr marL="92075" indent="-92075" algn="ctr">
                <a:buFont typeface="+mj-lt"/>
                <a:buAutoNum type="arabicPeriod"/>
                <a:tabLst>
                  <a:tab pos="92075" algn="l"/>
                </a:tabLst>
                <a:defRPr/>
              </a:pP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是否需要手动调整系统建议季度计划，如需要调整可手动进行计划分配，完成后审核存档；</a:t>
              </a:r>
              <a:endParaRPr lang="zh-CN" altLang="en-US" sz="1200" dirty="0">
                <a:solidFill>
                  <a:schemeClr val="tx1"/>
                </a:solidFill>
                <a:cs typeface="宋体" panose="02010600030101010101" pitchFamily="2" charset="-122"/>
              </a:endParaRPr>
            </a:p>
            <a:p>
              <a:pPr marL="92075" indent="-92075" algn="ctr">
                <a:buFont typeface="+mj-lt"/>
                <a:buAutoNum type="arabicPeriod"/>
                <a:tabLst>
                  <a:tab pos="92075" algn="l"/>
                </a:tabLst>
                <a:defRPr/>
              </a:pP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计算：月度销售计划</a:t>
              </a:r>
              <a:r>
                <a:rPr lang="en-US" alt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=</a:t>
              </a: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季度销售计划</a:t>
              </a:r>
              <a:r>
                <a:rPr lang="en-US" altLang="zh-CN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÷3</a:t>
              </a: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；</a:t>
              </a:r>
              <a:endParaRPr lang="zh-CN" altLang="en-US" sz="1200" dirty="0">
                <a:solidFill>
                  <a:schemeClr val="tx1"/>
                </a:solidFill>
                <a:cs typeface="宋体" panose="02010600030101010101" pitchFamily="2" charset="-122"/>
              </a:endParaRPr>
            </a:p>
            <a:p>
              <a:pPr marL="92075" indent="-92075" algn="ctr">
                <a:buFont typeface="+mj-lt"/>
                <a:buAutoNum type="arabicPeriod"/>
                <a:tabLst>
                  <a:tab pos="92075" algn="l"/>
                </a:tabLst>
                <a:defRPr/>
              </a:pPr>
              <a:r>
                <a:rPr lang="zh-CN" altLang="en-US" sz="900" dirty="0">
                  <a:solidFill>
                    <a:schemeClr val="tx1"/>
                  </a:solidFill>
                  <a:cs typeface="宋体" panose="02010600030101010101" pitchFamily="2" charset="-122"/>
                </a:rPr>
                <a:t>是否需要手动调整系统建议月度计划，如需要调整可手动进行计划分配，完成后审核存档；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1686" name="Rectangle 34"/>
          <p:cNvSpPr>
            <a:spLocks noChangeArrowheads="1"/>
          </p:cNvSpPr>
          <p:nvPr/>
        </p:nvSpPr>
        <p:spPr bwMode="auto">
          <a:xfrm>
            <a:off x="3222625" y="6858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5" y="3322638"/>
            <a:ext cx="5021263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3200161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467544" y="1224756"/>
            <a:ext cx="4464868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功能视图</a:t>
            </a:r>
          </a:p>
          <a:p>
            <a:pPr marL="439738" lvl="1" indent="-187325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功能视图描述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静态结构描述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功能结构图及功能规格说明</a:t>
            </a:r>
            <a:endParaRPr lang="en-US" altLang="zh-CN" sz="2000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FF0000"/>
                </a:solidFill>
                <a:latin typeface="+mj-ea"/>
                <a:ea typeface="+mj-ea"/>
              </a:rPr>
              <a:t>用例图</a:t>
            </a:r>
            <a:r>
              <a:rPr lang="en-US" altLang="zh-CN" sz="20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</a:rPr>
              <a:t>需求</a:t>
            </a:r>
            <a:r>
              <a:rPr lang="en-US" altLang="zh-CN" sz="200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lang="en-US" altLang="zh-CN" sz="2000" kern="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包图、类图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动态结构描述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顺序图</a:t>
            </a:r>
            <a:r>
              <a:rPr lang="en-US" altLang="zh-CN" sz="2000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协作图</a:t>
            </a:r>
            <a:endParaRPr lang="en-US" altLang="zh-CN" sz="2000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活动图</a:t>
            </a:r>
            <a:r>
              <a:rPr lang="en-US" altLang="zh-CN" sz="2000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状态图</a:t>
            </a:r>
            <a:endParaRPr lang="en-US" altLang="zh-CN" sz="2000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数据流图</a:t>
            </a:r>
            <a:r>
              <a:rPr lang="en-US" altLang="zh-CN" sz="2000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程序流程图</a:t>
            </a:r>
          </a:p>
        </p:txBody>
      </p:sp>
      <p:pic>
        <p:nvPicPr>
          <p:cNvPr id="72707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224756"/>
            <a:ext cx="4087118" cy="467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157358956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703982"/>
            <a:ext cx="4545012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611188" y="1127720"/>
            <a:ext cx="6075362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800" kern="0" dirty="0">
                <a:solidFill>
                  <a:srgbClr val="3333FF"/>
                </a:solidFill>
                <a:latin typeface="+mj-ea"/>
                <a:ea typeface="+mj-ea"/>
              </a:rPr>
              <a:t>功能视图</a:t>
            </a:r>
          </a:p>
          <a:p>
            <a:pPr marL="439738" lvl="1" indent="-187325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功能视图描述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静态结构描述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功能结构图及功能规格说明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用例图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包图、</a:t>
            </a: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类图</a:t>
            </a:r>
            <a:r>
              <a:rPr lang="en-US" altLang="zh-CN" kern="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需求、设计</a:t>
            </a:r>
            <a:r>
              <a:rPr lang="en-US" altLang="zh-CN" kern="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lang="zh-CN" altLang="en-US" kern="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动态结构描述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顺序图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协作图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活动图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状态图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数据流图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程序流程图</a:t>
            </a: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216068536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1925" y="1268413"/>
            <a:ext cx="62674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800" kern="0" dirty="0">
                <a:solidFill>
                  <a:srgbClr val="3333FF"/>
                </a:solidFill>
                <a:latin typeface="+mj-ea"/>
                <a:ea typeface="+mj-ea"/>
              </a:rPr>
              <a:t>功能视图</a:t>
            </a:r>
          </a:p>
          <a:p>
            <a:pPr marL="439738" lvl="1" indent="-187325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功能视图描述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静态结构描述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功能结构图及功能规格说明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用例图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包图、类图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动态结构描述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顺序图</a:t>
            </a:r>
            <a:r>
              <a:rPr lang="en-US" altLang="zh-CN" kern="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需求、设计</a:t>
            </a:r>
            <a:r>
              <a:rPr lang="en-US" altLang="zh-CN" kern="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协作图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活动图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状态图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数据流图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程序流程图</a:t>
            </a:r>
          </a:p>
        </p:txBody>
      </p:sp>
      <p:pic>
        <p:nvPicPr>
          <p:cNvPr id="747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403350"/>
            <a:ext cx="542925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12093304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51842" y="954088"/>
            <a:ext cx="5184254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800" kern="0" dirty="0">
                <a:solidFill>
                  <a:srgbClr val="3333FF"/>
                </a:solidFill>
                <a:latin typeface="+mj-ea"/>
                <a:ea typeface="+mj-ea"/>
              </a:rPr>
              <a:t>功能视图</a:t>
            </a:r>
          </a:p>
          <a:p>
            <a:pPr marL="439738" lvl="1" indent="-187325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功能视图描述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静态结构描述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功能结构图及功能规格说明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用例图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包图、类图</a:t>
            </a:r>
          </a:p>
          <a:p>
            <a:pPr marL="808038" lvl="2" indent="-188913" eaLnBrk="1" hangingPunct="1">
              <a:lnSpc>
                <a:spcPct val="13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动态结构描述</a:t>
            </a: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172CF7"/>
                </a:solidFill>
                <a:latin typeface="+mj-ea"/>
                <a:ea typeface="+mj-ea"/>
              </a:rPr>
              <a:t>顺序图</a:t>
            </a:r>
            <a:r>
              <a:rPr lang="en-US" altLang="zh-CN" kern="0" dirty="0">
                <a:solidFill>
                  <a:srgbClr val="172CF7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协作图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活动图</a:t>
            </a:r>
            <a:r>
              <a:rPr lang="en-US" altLang="zh-CN" kern="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kern="0" dirty="0">
                <a:solidFill>
                  <a:srgbClr val="FF0000"/>
                </a:solidFill>
                <a:latin typeface="+mj-ea"/>
                <a:ea typeface="+mj-ea"/>
              </a:rPr>
              <a:t>需求、设计</a:t>
            </a:r>
            <a:r>
              <a:rPr lang="en-US" altLang="zh-CN" kern="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状态图</a:t>
            </a:r>
            <a:endParaRPr lang="en-US" altLang="zh-CN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3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数据流图</a:t>
            </a:r>
            <a:r>
              <a:rPr lang="en-US" altLang="zh-CN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kern="0" dirty="0">
                <a:solidFill>
                  <a:srgbClr val="3333FF"/>
                </a:solidFill>
                <a:latin typeface="+mj-ea"/>
                <a:ea typeface="+mj-ea"/>
              </a:rPr>
              <a:t>程序流程图</a:t>
            </a:r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5780" name="对象 2"/>
          <p:cNvGraphicFramePr>
            <a:graphicFrameLocks noChangeAspect="1"/>
          </p:cNvGraphicFramePr>
          <p:nvPr/>
        </p:nvGraphicFramePr>
        <p:xfrm>
          <a:off x="5273550" y="908720"/>
          <a:ext cx="3690938" cy="567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4" name="Visio" r:id="rId4" imgW="2529316" imgH="3892987" progId="Visio.Drawing.11">
                  <p:embed/>
                </p:oleObj>
              </mc:Choice>
              <mc:Fallback>
                <p:oleObj name="Visio" r:id="rId4" imgW="2529316" imgH="3892987" progId="Visio.Drawing.11">
                  <p:embed/>
                  <p:pic>
                    <p:nvPicPr>
                      <p:cNvPr id="7578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550" y="908720"/>
                        <a:ext cx="3690938" cy="567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44428650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313" y="1053206"/>
            <a:ext cx="4463727" cy="5656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功能视图</a:t>
            </a:r>
          </a:p>
          <a:p>
            <a:pPr marL="439738" lvl="1" indent="-187325" eaLnBrk="1" hangingPunct="1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功能视图描述</a:t>
            </a:r>
          </a:p>
          <a:p>
            <a:pPr marL="808038" lvl="2" indent="-188913" eaLnBrk="1" hangingPunct="1">
              <a:lnSpc>
                <a:spcPct val="15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静态结构描述</a:t>
            </a:r>
          </a:p>
          <a:p>
            <a:pPr marL="1160463" lvl="3" indent="-173038" eaLnBrk="1" hangingPunct="1">
              <a:lnSpc>
                <a:spcPct val="15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功能结构图及功能规格说明</a:t>
            </a:r>
            <a:endParaRPr lang="en-US" altLang="zh-CN" sz="2000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5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用例图</a:t>
            </a:r>
            <a:endParaRPr lang="en-US" altLang="zh-CN" sz="2000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5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包图、类图</a:t>
            </a:r>
          </a:p>
          <a:p>
            <a:pPr marL="808038" lvl="2" indent="-188913" eaLnBrk="1" hangingPunct="1">
              <a:lnSpc>
                <a:spcPct val="150000"/>
              </a:lnSpc>
              <a:spcBef>
                <a:spcPts val="575"/>
              </a:spcBef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动态结构描述</a:t>
            </a:r>
          </a:p>
          <a:p>
            <a:pPr marL="1160463" lvl="3" indent="-173038" eaLnBrk="1" hangingPunct="1">
              <a:lnSpc>
                <a:spcPct val="15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172CF7"/>
                </a:solidFill>
                <a:latin typeface="+mj-ea"/>
                <a:ea typeface="+mj-ea"/>
              </a:rPr>
              <a:t>顺序图</a:t>
            </a:r>
            <a:r>
              <a:rPr lang="en-US" altLang="zh-CN" sz="2000" kern="0" dirty="0">
                <a:solidFill>
                  <a:srgbClr val="172CF7"/>
                </a:solidFill>
                <a:latin typeface="+mj-ea"/>
                <a:ea typeface="+mj-ea"/>
              </a:rPr>
              <a:t>/</a:t>
            </a: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协作图</a:t>
            </a:r>
            <a:endParaRPr lang="en-US" altLang="zh-CN" sz="2000" kern="0" dirty="0">
              <a:solidFill>
                <a:srgbClr val="3333FF"/>
              </a:solidFill>
              <a:latin typeface="+mj-ea"/>
              <a:ea typeface="+mj-ea"/>
            </a:endParaRPr>
          </a:p>
          <a:p>
            <a:pPr marL="1160463" lvl="3" indent="-173038" eaLnBrk="1" hangingPunct="1">
              <a:lnSpc>
                <a:spcPct val="15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172CF7"/>
                </a:solidFill>
                <a:latin typeface="+mj-ea"/>
                <a:ea typeface="+mj-ea"/>
              </a:rPr>
              <a:t>活动图</a:t>
            </a:r>
            <a:r>
              <a:rPr lang="en-US" altLang="zh-CN" sz="2000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sz="2000" kern="0" dirty="0">
                <a:solidFill>
                  <a:srgbClr val="172CF7"/>
                </a:solidFill>
                <a:latin typeface="+mj-ea"/>
                <a:ea typeface="+mj-ea"/>
              </a:rPr>
              <a:t>状态图</a:t>
            </a:r>
            <a:r>
              <a:rPr lang="en-US" altLang="zh-CN" sz="2000" kern="0" dirty="0">
                <a:solidFill>
                  <a:srgbClr val="172CF7"/>
                </a:solidFill>
                <a:latin typeface="+mj-ea"/>
                <a:ea typeface="+mj-ea"/>
              </a:rPr>
              <a:t>(</a:t>
            </a:r>
            <a:r>
              <a:rPr lang="zh-CN" altLang="en-US" sz="2000" kern="0" dirty="0">
                <a:solidFill>
                  <a:srgbClr val="172CF7"/>
                </a:solidFill>
                <a:latin typeface="+mj-ea"/>
                <a:ea typeface="+mj-ea"/>
              </a:rPr>
              <a:t>设计</a:t>
            </a:r>
            <a:r>
              <a:rPr lang="en-US" altLang="zh-CN" sz="2000" kern="0" dirty="0">
                <a:solidFill>
                  <a:srgbClr val="172CF7"/>
                </a:solidFill>
                <a:latin typeface="+mj-ea"/>
                <a:ea typeface="+mj-ea"/>
              </a:rPr>
              <a:t>)</a:t>
            </a:r>
          </a:p>
          <a:p>
            <a:pPr marL="1160463" lvl="3" indent="-173038" eaLnBrk="1" hangingPunct="1">
              <a:lnSpc>
                <a:spcPct val="150000"/>
              </a:lnSpc>
              <a:buClr>
                <a:srgbClr val="FF0000"/>
              </a:buClr>
              <a:buFontTx/>
              <a:buChar char="•"/>
              <a:defRPr/>
            </a:pPr>
            <a:r>
              <a:rPr lang="zh-CN" altLang="en-US" sz="2000" kern="0" dirty="0">
                <a:solidFill>
                  <a:srgbClr val="3333FF"/>
                </a:solidFill>
                <a:latin typeface="+mj-ea"/>
                <a:ea typeface="+mj-ea"/>
              </a:rPr>
              <a:t>数据流图</a:t>
            </a:r>
            <a:r>
              <a:rPr lang="en-US" altLang="zh-CN" sz="2000" kern="0" dirty="0">
                <a:solidFill>
                  <a:srgbClr val="3333FF"/>
                </a:solidFill>
                <a:latin typeface="+mj-ea"/>
                <a:ea typeface="+mj-ea"/>
              </a:rPr>
              <a:t>/</a:t>
            </a:r>
            <a:r>
              <a:rPr lang="zh-CN" altLang="en-US" sz="2000" kern="0" dirty="0">
                <a:solidFill>
                  <a:srgbClr val="FF0000"/>
                </a:solidFill>
                <a:latin typeface="+mj-ea"/>
                <a:ea typeface="+mj-ea"/>
              </a:rPr>
              <a:t>程序流程图</a:t>
            </a:r>
            <a:r>
              <a:rPr lang="en-US" altLang="zh-CN" sz="2000" kern="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sz="2000" kern="0" dirty="0">
                <a:solidFill>
                  <a:srgbClr val="FF0000"/>
                </a:solidFill>
                <a:latin typeface="+mj-ea"/>
                <a:ea typeface="+mj-ea"/>
              </a:rPr>
              <a:t>设计</a:t>
            </a:r>
            <a:r>
              <a:rPr lang="en-US" altLang="zh-CN" sz="2000" kern="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lang="zh-CN" altLang="en-US" sz="2000" kern="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  <p:sp>
        <p:nvSpPr>
          <p:cNvPr id="2" name="Rectangle 47"/>
          <p:cNvSpPr>
            <a:spLocks noChangeArrowheads="1"/>
          </p:cNvSpPr>
          <p:nvPr/>
        </p:nvSpPr>
        <p:spPr bwMode="auto">
          <a:xfrm>
            <a:off x="5364088" y="14205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198090"/>
              </p:ext>
            </p:extLst>
          </p:nvPr>
        </p:nvGraphicFramePr>
        <p:xfrm>
          <a:off x="4952497" y="1124978"/>
          <a:ext cx="3888432" cy="511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8" name="Visio" r:id="rId4" imgW="2850011" imgH="3728376" progId="Visio.Drawing.11">
                  <p:embed/>
                </p:oleObj>
              </mc:Choice>
              <mc:Fallback>
                <p:oleObj name="Visio" r:id="rId4" imgW="2850011" imgH="3728376" progId="Visio.Drawing.11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497" y="1124978"/>
                        <a:ext cx="3888432" cy="51123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76056" y="6412629"/>
            <a:ext cx="3291912" cy="328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典型的服务系统</a:t>
            </a:r>
          </a:p>
        </p:txBody>
      </p:sp>
    </p:spTree>
    <p:extLst>
      <p:ext uri="{BB962C8B-B14F-4D97-AF65-F5344CB8AC3E}">
        <p14:creationId xmlns:p14="http://schemas.microsoft.com/office/powerpoint/2010/main" val="330335211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01638" y="989707"/>
            <a:ext cx="8418512" cy="272732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信息视图</a:t>
            </a:r>
          </a:p>
          <a:p>
            <a:pPr marL="533400" lvl="1" indent="-280988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是以信息流、信息操纵为主来观察系统所得到的视图</a:t>
            </a:r>
          </a:p>
          <a:p>
            <a:pPr marL="533400" lvl="1" indent="-280988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信息集成的实物性成果：以计算机网络、数据库为基础，</a:t>
            </a:r>
            <a:r>
              <a:rPr lang="zh-CN" altLang="en-US" dirty="0">
                <a:solidFill>
                  <a:srgbClr val="FF0000"/>
                </a:solidFill>
              </a:rPr>
              <a:t>构建信息集成平台，为各种功能提供公用接口或特殊接口</a:t>
            </a:r>
            <a:endParaRPr lang="zh-CN" altLang="en-US" dirty="0"/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1042988" y="3716338"/>
            <a:ext cx="7489825" cy="2692400"/>
            <a:chOff x="158" y="2188"/>
            <a:chExt cx="4791" cy="1956"/>
          </a:xfrm>
        </p:grpSpPr>
        <p:grpSp>
          <p:nvGrpSpPr>
            <p:cNvPr id="79877" name="Group 57"/>
            <p:cNvGrpSpPr>
              <a:grpSpLocks/>
            </p:cNvGrpSpPr>
            <p:nvPr/>
          </p:nvGrpSpPr>
          <p:grpSpPr bwMode="auto">
            <a:xfrm>
              <a:off x="1859" y="2188"/>
              <a:ext cx="3090" cy="1956"/>
              <a:chOff x="1746" y="2160"/>
              <a:chExt cx="3090" cy="1956"/>
            </a:xfrm>
          </p:grpSpPr>
          <p:sp>
            <p:nvSpPr>
              <p:cNvPr id="79883" name="Oval 34" descr="10%"/>
              <p:cNvSpPr>
                <a:spLocks noChangeArrowheads="1"/>
              </p:cNvSpPr>
              <p:nvPr/>
            </p:nvSpPr>
            <p:spPr bwMode="auto">
              <a:xfrm>
                <a:off x="1774" y="2642"/>
                <a:ext cx="1956" cy="1106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84" name="Oval 33"/>
              <p:cNvSpPr>
                <a:spLocks noChangeArrowheads="1"/>
              </p:cNvSpPr>
              <p:nvPr/>
            </p:nvSpPr>
            <p:spPr bwMode="auto">
              <a:xfrm>
                <a:off x="2115" y="2868"/>
                <a:ext cx="1276" cy="596"/>
              </a:xfrm>
              <a:prstGeom prst="ellipse">
                <a:avLst/>
              </a:prstGeom>
              <a:solidFill>
                <a:srgbClr val="CCCC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计算机网络及各种数据源</a:t>
                </a:r>
              </a:p>
            </p:txBody>
          </p:sp>
          <p:sp>
            <p:nvSpPr>
              <p:cNvPr id="79885" name="Rectangle 35" descr="40%"/>
              <p:cNvSpPr>
                <a:spLocks noChangeArrowheads="1"/>
              </p:cNvSpPr>
              <p:nvPr/>
            </p:nvSpPr>
            <p:spPr bwMode="auto">
              <a:xfrm>
                <a:off x="2625" y="2501"/>
                <a:ext cx="227" cy="22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86" name="Rectangle 36" descr="40%"/>
              <p:cNvSpPr>
                <a:spLocks noChangeArrowheads="1"/>
              </p:cNvSpPr>
              <p:nvPr/>
            </p:nvSpPr>
            <p:spPr bwMode="auto">
              <a:xfrm>
                <a:off x="1859" y="2727"/>
                <a:ext cx="227" cy="22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87" name="Rectangle 37" descr="40%"/>
              <p:cNvSpPr>
                <a:spLocks noChangeArrowheads="1"/>
              </p:cNvSpPr>
              <p:nvPr/>
            </p:nvSpPr>
            <p:spPr bwMode="auto">
              <a:xfrm>
                <a:off x="2058" y="3521"/>
                <a:ext cx="227" cy="22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88" name="Rectangle 38" descr="40%"/>
              <p:cNvSpPr>
                <a:spLocks noChangeArrowheads="1"/>
              </p:cNvSpPr>
              <p:nvPr/>
            </p:nvSpPr>
            <p:spPr bwMode="auto">
              <a:xfrm>
                <a:off x="3560" y="2925"/>
                <a:ext cx="227" cy="22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89" name="Rectangle 39"/>
              <p:cNvSpPr>
                <a:spLocks noChangeArrowheads="1"/>
              </p:cNvSpPr>
              <p:nvPr/>
            </p:nvSpPr>
            <p:spPr bwMode="auto">
              <a:xfrm>
                <a:off x="2256" y="3492"/>
                <a:ext cx="1021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latin typeface="黑体" panose="02010609060101010101" pitchFamily="49" charset="-122"/>
                    <a:ea typeface="黑体" panose="02010609060101010101" pitchFamily="49" charset="-122"/>
                  </a:rPr>
                  <a:t>信息集成平台</a:t>
                </a:r>
              </a:p>
            </p:txBody>
          </p:sp>
          <p:sp>
            <p:nvSpPr>
              <p:cNvPr id="79890" name="AutoShape 40" descr="对角砖形"/>
              <p:cNvSpPr>
                <a:spLocks noChangeArrowheads="1"/>
              </p:cNvSpPr>
              <p:nvPr/>
            </p:nvSpPr>
            <p:spPr bwMode="auto">
              <a:xfrm>
                <a:off x="4184" y="2897"/>
                <a:ext cx="538" cy="255"/>
              </a:xfrm>
              <a:prstGeom prst="flowChartDecision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91" name="Rectangle 41"/>
              <p:cNvSpPr>
                <a:spLocks noChangeArrowheads="1"/>
              </p:cNvSpPr>
              <p:nvPr/>
            </p:nvSpPr>
            <p:spPr bwMode="auto">
              <a:xfrm>
                <a:off x="4070" y="2443"/>
                <a:ext cx="766" cy="227"/>
              </a:xfrm>
              <a:prstGeom prst="rect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遗产系统功能</a:t>
                </a:r>
              </a:p>
            </p:txBody>
          </p:sp>
          <p:sp>
            <p:nvSpPr>
              <p:cNvPr id="79892" name="Line 42"/>
              <p:cNvSpPr>
                <a:spLocks noChangeShapeType="1"/>
              </p:cNvSpPr>
              <p:nvPr/>
            </p:nvSpPr>
            <p:spPr bwMode="auto">
              <a:xfrm>
                <a:off x="4453" y="2670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3" name="Line 43"/>
              <p:cNvSpPr>
                <a:spLocks noChangeShapeType="1"/>
              </p:cNvSpPr>
              <p:nvPr/>
            </p:nvSpPr>
            <p:spPr bwMode="auto">
              <a:xfrm flipH="1">
                <a:off x="3787" y="3025"/>
                <a:ext cx="3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4" name="Rectangle 44"/>
              <p:cNvSpPr>
                <a:spLocks noChangeArrowheads="1"/>
              </p:cNvSpPr>
              <p:nvPr/>
            </p:nvSpPr>
            <p:spPr bwMode="auto">
              <a:xfrm>
                <a:off x="2511" y="2160"/>
                <a:ext cx="454" cy="227"/>
              </a:xfrm>
              <a:prstGeom prst="rect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功能</a:t>
                </a:r>
              </a:p>
            </p:txBody>
          </p:sp>
          <p:sp>
            <p:nvSpPr>
              <p:cNvPr id="79895" name="Rectangle 45"/>
              <p:cNvSpPr>
                <a:spLocks noChangeArrowheads="1"/>
              </p:cNvSpPr>
              <p:nvPr/>
            </p:nvSpPr>
            <p:spPr bwMode="auto">
              <a:xfrm>
                <a:off x="1746" y="2330"/>
                <a:ext cx="454" cy="227"/>
              </a:xfrm>
              <a:prstGeom prst="rect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功能</a:t>
                </a:r>
              </a:p>
            </p:txBody>
          </p:sp>
          <p:sp>
            <p:nvSpPr>
              <p:cNvPr id="79896" name="Rectangle 46"/>
              <p:cNvSpPr>
                <a:spLocks noChangeArrowheads="1"/>
              </p:cNvSpPr>
              <p:nvPr/>
            </p:nvSpPr>
            <p:spPr bwMode="auto">
              <a:xfrm>
                <a:off x="1944" y="3889"/>
                <a:ext cx="454" cy="227"/>
              </a:xfrm>
              <a:prstGeom prst="rect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功能</a:t>
                </a:r>
              </a:p>
            </p:txBody>
          </p:sp>
          <p:sp>
            <p:nvSpPr>
              <p:cNvPr id="79897" name="Rectangle 47" descr="40%"/>
              <p:cNvSpPr>
                <a:spLocks noChangeArrowheads="1"/>
              </p:cNvSpPr>
              <p:nvPr/>
            </p:nvSpPr>
            <p:spPr bwMode="auto">
              <a:xfrm>
                <a:off x="3475" y="3436"/>
                <a:ext cx="227" cy="22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98" name="Rectangle 48"/>
              <p:cNvSpPr>
                <a:spLocks noChangeArrowheads="1"/>
              </p:cNvSpPr>
              <p:nvPr/>
            </p:nvSpPr>
            <p:spPr bwMode="auto">
              <a:xfrm>
                <a:off x="3390" y="3833"/>
                <a:ext cx="454" cy="227"/>
              </a:xfrm>
              <a:prstGeom prst="rect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功能</a:t>
                </a:r>
              </a:p>
            </p:txBody>
          </p:sp>
          <p:sp>
            <p:nvSpPr>
              <p:cNvPr id="79899" name="Line 49"/>
              <p:cNvSpPr>
                <a:spLocks noChangeShapeType="1"/>
              </p:cNvSpPr>
              <p:nvPr/>
            </p:nvSpPr>
            <p:spPr bwMode="auto">
              <a:xfrm flipV="1">
                <a:off x="2171" y="3748"/>
                <a:ext cx="0" cy="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0" name="Line 50"/>
              <p:cNvSpPr>
                <a:spLocks noChangeShapeType="1"/>
              </p:cNvSpPr>
              <p:nvPr/>
            </p:nvSpPr>
            <p:spPr bwMode="auto">
              <a:xfrm flipV="1">
                <a:off x="3589" y="3663"/>
                <a:ext cx="0" cy="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1" name="Line 51"/>
              <p:cNvSpPr>
                <a:spLocks noChangeShapeType="1"/>
              </p:cNvSpPr>
              <p:nvPr/>
            </p:nvSpPr>
            <p:spPr bwMode="auto">
              <a:xfrm>
                <a:off x="1973" y="2557"/>
                <a:ext cx="0" cy="1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2" name="Line 52"/>
              <p:cNvSpPr>
                <a:spLocks noChangeShapeType="1"/>
              </p:cNvSpPr>
              <p:nvPr/>
            </p:nvSpPr>
            <p:spPr bwMode="auto">
              <a:xfrm>
                <a:off x="2738" y="2415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9878" name="Group 58"/>
            <p:cNvGrpSpPr>
              <a:grpSpLocks/>
            </p:cNvGrpSpPr>
            <p:nvPr/>
          </p:nvGrpSpPr>
          <p:grpSpPr bwMode="auto">
            <a:xfrm>
              <a:off x="158" y="2755"/>
              <a:ext cx="879" cy="624"/>
              <a:chOff x="159" y="2840"/>
              <a:chExt cx="879" cy="624"/>
            </a:xfrm>
          </p:grpSpPr>
          <p:sp>
            <p:nvSpPr>
              <p:cNvPr id="79879" name="Rectangle 53" descr="40%"/>
              <p:cNvSpPr>
                <a:spLocks noChangeArrowheads="1"/>
              </p:cNvSpPr>
              <p:nvPr/>
            </p:nvSpPr>
            <p:spPr bwMode="auto">
              <a:xfrm>
                <a:off x="216" y="2840"/>
                <a:ext cx="227" cy="22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80" name="Rectangle 54"/>
              <p:cNvSpPr>
                <a:spLocks noChangeArrowheads="1"/>
              </p:cNvSpPr>
              <p:nvPr/>
            </p:nvSpPr>
            <p:spPr bwMode="auto">
              <a:xfrm>
                <a:off x="442" y="2840"/>
                <a:ext cx="567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公用接口</a:t>
                </a:r>
              </a:p>
            </p:txBody>
          </p:sp>
          <p:sp>
            <p:nvSpPr>
              <p:cNvPr id="79881" name="AutoShape 55" descr="对角砖形"/>
              <p:cNvSpPr>
                <a:spLocks noChangeArrowheads="1"/>
              </p:cNvSpPr>
              <p:nvPr/>
            </p:nvSpPr>
            <p:spPr bwMode="auto">
              <a:xfrm>
                <a:off x="159" y="3294"/>
                <a:ext cx="312" cy="142"/>
              </a:xfrm>
              <a:prstGeom prst="flowChartDecision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8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882" name="Rectangle 56"/>
              <p:cNvSpPr>
                <a:spLocks noChangeArrowheads="1"/>
              </p:cNvSpPr>
              <p:nvPr/>
            </p:nvSpPr>
            <p:spPr bwMode="auto">
              <a:xfrm>
                <a:off x="471" y="3265"/>
                <a:ext cx="567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rPr>
                  <a:t>特殊接口</a:t>
                </a:r>
              </a:p>
            </p:txBody>
          </p:sp>
        </p:grpSp>
      </p:grp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19828917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50825" y="1268413"/>
            <a:ext cx="2232025" cy="4783137"/>
          </a:xfrm>
        </p:spPr>
        <p:txBody>
          <a:bodyPr/>
          <a:lstStyle/>
          <a:p>
            <a:pPr marL="0" indent="0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信息视图</a:t>
            </a:r>
          </a:p>
          <a:p>
            <a:pPr marL="439738" lvl="1" indent="-187325" eaLnBrk="1" hangingPunct="1">
              <a:buFont typeface="Wingdings" panose="05000000000000000000" pitchFamily="2" charset="2"/>
              <a:buChar char="Ø"/>
            </a:pPr>
            <a:r>
              <a:rPr lang="zh-CN" altLang="en-US" dirty="0"/>
              <a:t>信息集成 过程</a:t>
            </a:r>
            <a:endParaRPr lang="en-US" altLang="zh-CN" dirty="0"/>
          </a:p>
          <a:p>
            <a:pPr marL="439738" lvl="1" indent="-187325" eaLnBrk="1" hangingPunct="1">
              <a:buFont typeface="Wingdings" panose="05000000000000000000" pitchFamily="2" charset="2"/>
              <a:buChar char="Ø"/>
            </a:pPr>
            <a:r>
              <a:rPr lang="zh-CN" altLang="en-US" dirty="0"/>
              <a:t>建立流畅的数据流、信息流，形成功能运行所需的信息支撑平台</a:t>
            </a:r>
            <a:endParaRPr lang="en-US" altLang="zh-CN" dirty="0"/>
          </a:p>
          <a:p>
            <a:pPr marL="439738" lvl="1" indent="-187325" eaLnBrk="1" hangingPunct="1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grpSp>
        <p:nvGrpSpPr>
          <p:cNvPr id="80899" name="Group 124"/>
          <p:cNvGrpSpPr>
            <a:grpSpLocks/>
          </p:cNvGrpSpPr>
          <p:nvPr/>
        </p:nvGrpSpPr>
        <p:grpSpPr bwMode="auto">
          <a:xfrm>
            <a:off x="2476500" y="1314450"/>
            <a:ext cx="6461125" cy="4859338"/>
            <a:chOff x="1491" y="828"/>
            <a:chExt cx="4070" cy="3061"/>
          </a:xfrm>
        </p:grpSpPr>
        <p:sp>
          <p:nvSpPr>
            <p:cNvPr id="80901" name="Rectangle 32"/>
            <p:cNvSpPr>
              <a:spLocks noChangeArrowheads="1"/>
            </p:cNvSpPr>
            <p:nvPr/>
          </p:nvSpPr>
          <p:spPr bwMode="auto">
            <a:xfrm>
              <a:off x="1576" y="1054"/>
              <a:ext cx="510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网络结构分析</a:t>
              </a:r>
            </a:p>
          </p:txBody>
        </p:sp>
        <p:sp>
          <p:nvSpPr>
            <p:cNvPr id="80902" name="Rectangle 34"/>
            <p:cNvSpPr>
              <a:spLocks noChangeArrowheads="1"/>
            </p:cNvSpPr>
            <p:nvPr/>
          </p:nvSpPr>
          <p:spPr bwMode="auto">
            <a:xfrm>
              <a:off x="2341" y="1054"/>
              <a:ext cx="652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信息点规划设计</a:t>
              </a:r>
            </a:p>
          </p:txBody>
        </p:sp>
        <p:sp>
          <p:nvSpPr>
            <p:cNvPr id="80903" name="Rectangle 42"/>
            <p:cNvSpPr>
              <a:spLocks noChangeArrowheads="1"/>
            </p:cNvSpPr>
            <p:nvPr/>
          </p:nvSpPr>
          <p:spPr bwMode="auto">
            <a:xfrm>
              <a:off x="1548" y="3634"/>
              <a:ext cx="70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分析</a:t>
              </a:r>
            </a:p>
          </p:txBody>
        </p:sp>
        <p:sp>
          <p:nvSpPr>
            <p:cNvPr id="80904" name="Rectangle 43"/>
            <p:cNvSpPr>
              <a:spLocks noChangeArrowheads="1"/>
            </p:cNvSpPr>
            <p:nvPr/>
          </p:nvSpPr>
          <p:spPr bwMode="auto">
            <a:xfrm>
              <a:off x="3051" y="3634"/>
              <a:ext cx="70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设计</a:t>
              </a:r>
            </a:p>
          </p:txBody>
        </p:sp>
        <p:sp>
          <p:nvSpPr>
            <p:cNvPr id="80905" name="Rectangle 45"/>
            <p:cNvSpPr>
              <a:spLocks noChangeArrowheads="1"/>
            </p:cNvSpPr>
            <p:nvPr/>
          </p:nvSpPr>
          <p:spPr bwMode="auto">
            <a:xfrm>
              <a:off x="4411" y="3606"/>
              <a:ext cx="70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实现</a:t>
              </a:r>
            </a:p>
          </p:txBody>
        </p:sp>
        <p:sp>
          <p:nvSpPr>
            <p:cNvPr id="80906" name="Rectangle 47"/>
            <p:cNvSpPr>
              <a:spLocks noChangeArrowheads="1"/>
            </p:cNvSpPr>
            <p:nvPr/>
          </p:nvSpPr>
          <p:spPr bwMode="auto">
            <a:xfrm>
              <a:off x="5091" y="3577"/>
              <a:ext cx="47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维护</a:t>
              </a:r>
            </a:p>
          </p:txBody>
        </p:sp>
        <p:sp>
          <p:nvSpPr>
            <p:cNvPr id="80907" name="Line 68"/>
            <p:cNvSpPr>
              <a:spLocks noChangeShapeType="1"/>
            </p:cNvSpPr>
            <p:nvPr/>
          </p:nvSpPr>
          <p:spPr bwMode="auto">
            <a:xfrm>
              <a:off x="1491" y="856"/>
              <a:ext cx="0" cy="300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8" name="Line 69"/>
            <p:cNvSpPr>
              <a:spLocks noChangeShapeType="1"/>
            </p:cNvSpPr>
            <p:nvPr/>
          </p:nvSpPr>
          <p:spPr bwMode="auto">
            <a:xfrm>
              <a:off x="5488" y="856"/>
              <a:ext cx="0" cy="29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9" name="Line 70"/>
            <p:cNvSpPr>
              <a:spLocks noChangeShapeType="1"/>
            </p:cNvSpPr>
            <p:nvPr/>
          </p:nvSpPr>
          <p:spPr bwMode="auto">
            <a:xfrm>
              <a:off x="5035" y="828"/>
              <a:ext cx="0" cy="30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0" name="Line 72"/>
            <p:cNvSpPr>
              <a:spLocks noChangeShapeType="1"/>
            </p:cNvSpPr>
            <p:nvPr/>
          </p:nvSpPr>
          <p:spPr bwMode="auto">
            <a:xfrm>
              <a:off x="2228" y="856"/>
              <a:ext cx="0" cy="300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1" name="Line 73"/>
            <p:cNvSpPr>
              <a:spLocks noChangeShapeType="1"/>
            </p:cNvSpPr>
            <p:nvPr/>
          </p:nvSpPr>
          <p:spPr bwMode="auto">
            <a:xfrm>
              <a:off x="4468" y="828"/>
              <a:ext cx="0" cy="303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2" name="Rectangle 74"/>
            <p:cNvSpPr>
              <a:spLocks noChangeArrowheads="1"/>
            </p:cNvSpPr>
            <p:nvPr/>
          </p:nvSpPr>
          <p:spPr bwMode="auto">
            <a:xfrm>
              <a:off x="3220" y="1054"/>
              <a:ext cx="709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网络整体规划设计</a:t>
              </a:r>
            </a:p>
          </p:txBody>
        </p:sp>
        <p:sp>
          <p:nvSpPr>
            <p:cNvPr id="80913" name="Rectangle 75"/>
            <p:cNvSpPr>
              <a:spLocks noChangeArrowheads="1"/>
            </p:cNvSpPr>
            <p:nvPr/>
          </p:nvSpPr>
          <p:spPr bwMode="auto">
            <a:xfrm>
              <a:off x="4554" y="1054"/>
              <a:ext cx="396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网络建设</a:t>
              </a:r>
            </a:p>
          </p:txBody>
        </p:sp>
        <p:sp>
          <p:nvSpPr>
            <p:cNvPr id="80914" name="Rectangle 76"/>
            <p:cNvSpPr>
              <a:spLocks noChangeArrowheads="1"/>
            </p:cNvSpPr>
            <p:nvPr/>
          </p:nvSpPr>
          <p:spPr bwMode="auto">
            <a:xfrm>
              <a:off x="1576" y="1678"/>
              <a:ext cx="510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数据结构分析</a:t>
              </a:r>
            </a:p>
          </p:txBody>
        </p:sp>
        <p:sp>
          <p:nvSpPr>
            <p:cNvPr id="80915" name="Rectangle 77"/>
            <p:cNvSpPr>
              <a:spLocks noChangeArrowheads="1"/>
            </p:cNvSpPr>
            <p:nvPr/>
          </p:nvSpPr>
          <p:spPr bwMode="auto">
            <a:xfrm>
              <a:off x="2341" y="1678"/>
              <a:ext cx="510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数据结构优化</a:t>
              </a:r>
            </a:p>
          </p:txBody>
        </p:sp>
        <p:sp>
          <p:nvSpPr>
            <p:cNvPr id="80916" name="Rectangle 78"/>
            <p:cNvSpPr>
              <a:spLocks noChangeArrowheads="1"/>
            </p:cNvSpPr>
            <p:nvPr/>
          </p:nvSpPr>
          <p:spPr bwMode="auto">
            <a:xfrm>
              <a:off x="1576" y="2699"/>
              <a:ext cx="510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信息结构分析</a:t>
              </a:r>
            </a:p>
          </p:txBody>
        </p:sp>
        <p:sp>
          <p:nvSpPr>
            <p:cNvPr id="80917" name="Rectangle 79"/>
            <p:cNvSpPr>
              <a:spLocks noChangeArrowheads="1"/>
            </p:cNvSpPr>
            <p:nvPr/>
          </p:nvSpPr>
          <p:spPr bwMode="auto">
            <a:xfrm>
              <a:off x="3220" y="1479"/>
              <a:ext cx="708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数据库规划设计</a:t>
              </a:r>
            </a:p>
          </p:txBody>
        </p:sp>
        <p:sp>
          <p:nvSpPr>
            <p:cNvPr id="80918" name="Rectangle 80"/>
            <p:cNvSpPr>
              <a:spLocks noChangeArrowheads="1"/>
            </p:cNvSpPr>
            <p:nvPr/>
          </p:nvSpPr>
          <p:spPr bwMode="auto">
            <a:xfrm>
              <a:off x="3220" y="1904"/>
              <a:ext cx="708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数据</a:t>
              </a:r>
              <a:r>
                <a:rPr lang="en-US" altLang="zh-CN" sz="1600"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信息映射结构</a:t>
              </a:r>
            </a:p>
          </p:txBody>
        </p:sp>
        <p:sp>
          <p:nvSpPr>
            <p:cNvPr id="80919" name="Rectangle 82"/>
            <p:cNvSpPr>
              <a:spLocks noChangeArrowheads="1"/>
            </p:cNvSpPr>
            <p:nvPr/>
          </p:nvSpPr>
          <p:spPr bwMode="auto">
            <a:xfrm>
              <a:off x="3220" y="2330"/>
              <a:ext cx="708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信息语义规则</a:t>
              </a:r>
            </a:p>
          </p:txBody>
        </p:sp>
        <p:sp>
          <p:nvSpPr>
            <p:cNvPr id="80920" name="Rectangle 83"/>
            <p:cNvSpPr>
              <a:spLocks noChangeArrowheads="1"/>
            </p:cNvSpPr>
            <p:nvPr/>
          </p:nvSpPr>
          <p:spPr bwMode="auto">
            <a:xfrm>
              <a:off x="3220" y="2755"/>
              <a:ext cx="708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信息操纵规则</a:t>
              </a:r>
            </a:p>
          </p:txBody>
        </p:sp>
        <p:sp>
          <p:nvSpPr>
            <p:cNvPr id="80921" name="Rectangle 84"/>
            <p:cNvSpPr>
              <a:spLocks noChangeArrowheads="1"/>
            </p:cNvSpPr>
            <p:nvPr/>
          </p:nvSpPr>
          <p:spPr bwMode="auto">
            <a:xfrm>
              <a:off x="3220" y="3181"/>
              <a:ext cx="708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信息服务规则</a:t>
              </a:r>
            </a:p>
          </p:txBody>
        </p:sp>
        <p:sp>
          <p:nvSpPr>
            <p:cNvPr id="80922" name="Rectangle 85"/>
            <p:cNvSpPr>
              <a:spLocks noChangeArrowheads="1"/>
            </p:cNvSpPr>
            <p:nvPr/>
          </p:nvSpPr>
          <p:spPr bwMode="auto">
            <a:xfrm>
              <a:off x="4158" y="1593"/>
              <a:ext cx="253" cy="184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信息集成平台设计</a:t>
              </a:r>
            </a:p>
          </p:txBody>
        </p:sp>
        <p:sp>
          <p:nvSpPr>
            <p:cNvPr id="80923" name="Rectangle 86"/>
            <p:cNvSpPr>
              <a:spLocks noChangeArrowheads="1"/>
            </p:cNvSpPr>
            <p:nvPr/>
          </p:nvSpPr>
          <p:spPr bwMode="auto">
            <a:xfrm>
              <a:off x="4638" y="1593"/>
              <a:ext cx="253" cy="184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信息集成平台实现</a:t>
              </a:r>
            </a:p>
          </p:txBody>
        </p:sp>
        <p:sp>
          <p:nvSpPr>
            <p:cNvPr id="80924" name="Rectangle 87"/>
            <p:cNvSpPr>
              <a:spLocks noChangeArrowheads="1"/>
            </p:cNvSpPr>
            <p:nvPr/>
          </p:nvSpPr>
          <p:spPr bwMode="auto">
            <a:xfrm>
              <a:off x="5148" y="1593"/>
              <a:ext cx="253" cy="184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信息集成系统维护</a:t>
              </a:r>
            </a:p>
          </p:txBody>
        </p:sp>
        <p:sp>
          <p:nvSpPr>
            <p:cNvPr id="80925" name="Line 88"/>
            <p:cNvSpPr>
              <a:spLocks noChangeShapeType="1"/>
            </p:cNvSpPr>
            <p:nvPr/>
          </p:nvSpPr>
          <p:spPr bwMode="auto">
            <a:xfrm>
              <a:off x="2086" y="1224"/>
              <a:ext cx="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6" name="Line 89"/>
            <p:cNvSpPr>
              <a:spLocks noChangeShapeType="1"/>
            </p:cNvSpPr>
            <p:nvPr/>
          </p:nvSpPr>
          <p:spPr bwMode="auto">
            <a:xfrm>
              <a:off x="2993" y="1253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7" name="Line 90"/>
            <p:cNvSpPr>
              <a:spLocks noChangeShapeType="1"/>
            </p:cNvSpPr>
            <p:nvPr/>
          </p:nvSpPr>
          <p:spPr bwMode="auto">
            <a:xfrm>
              <a:off x="3929" y="1253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8" name="Line 91"/>
            <p:cNvSpPr>
              <a:spLocks noChangeShapeType="1"/>
            </p:cNvSpPr>
            <p:nvPr/>
          </p:nvSpPr>
          <p:spPr bwMode="auto">
            <a:xfrm>
              <a:off x="4269" y="1253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9" name="Line 93"/>
            <p:cNvSpPr>
              <a:spLocks noChangeShapeType="1"/>
            </p:cNvSpPr>
            <p:nvPr/>
          </p:nvSpPr>
          <p:spPr bwMode="auto">
            <a:xfrm>
              <a:off x="2086" y="1876"/>
              <a:ext cx="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0" name="Line 94"/>
            <p:cNvSpPr>
              <a:spLocks noChangeShapeType="1"/>
            </p:cNvSpPr>
            <p:nvPr/>
          </p:nvSpPr>
          <p:spPr bwMode="auto">
            <a:xfrm>
              <a:off x="2880" y="1877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1" name="Line 95"/>
            <p:cNvSpPr>
              <a:spLocks noChangeShapeType="1"/>
            </p:cNvSpPr>
            <p:nvPr/>
          </p:nvSpPr>
          <p:spPr bwMode="auto">
            <a:xfrm flipV="1">
              <a:off x="2993" y="1678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2" name="Line 96"/>
            <p:cNvSpPr>
              <a:spLocks noChangeShapeType="1"/>
            </p:cNvSpPr>
            <p:nvPr/>
          </p:nvSpPr>
          <p:spPr bwMode="auto">
            <a:xfrm>
              <a:off x="2993" y="167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3" name="Line 97"/>
            <p:cNvSpPr>
              <a:spLocks noChangeShapeType="1"/>
            </p:cNvSpPr>
            <p:nvPr/>
          </p:nvSpPr>
          <p:spPr bwMode="auto">
            <a:xfrm>
              <a:off x="2993" y="201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4" name="Rectangle 98"/>
            <p:cNvSpPr>
              <a:spLocks noChangeArrowheads="1"/>
            </p:cNvSpPr>
            <p:nvPr/>
          </p:nvSpPr>
          <p:spPr bwMode="auto">
            <a:xfrm>
              <a:off x="2341" y="2443"/>
              <a:ext cx="510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信息结构优化</a:t>
              </a:r>
            </a:p>
          </p:txBody>
        </p:sp>
        <p:sp>
          <p:nvSpPr>
            <p:cNvPr id="80935" name="Rectangle 99"/>
            <p:cNvSpPr>
              <a:spLocks noChangeArrowheads="1"/>
            </p:cNvSpPr>
            <p:nvPr/>
          </p:nvSpPr>
          <p:spPr bwMode="auto">
            <a:xfrm>
              <a:off x="2341" y="2982"/>
              <a:ext cx="510" cy="36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信息资源配置</a:t>
              </a:r>
            </a:p>
          </p:txBody>
        </p:sp>
        <p:sp>
          <p:nvSpPr>
            <p:cNvPr id="80936" name="Line 100"/>
            <p:cNvSpPr>
              <a:spLocks noChangeShapeType="1"/>
            </p:cNvSpPr>
            <p:nvPr/>
          </p:nvSpPr>
          <p:spPr bwMode="auto">
            <a:xfrm>
              <a:off x="2171" y="2642"/>
              <a:ext cx="0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7" name="Line 102"/>
            <p:cNvSpPr>
              <a:spLocks noChangeShapeType="1"/>
            </p:cNvSpPr>
            <p:nvPr/>
          </p:nvSpPr>
          <p:spPr bwMode="auto">
            <a:xfrm>
              <a:off x="2086" y="2897"/>
              <a:ext cx="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8" name="Line 104"/>
            <p:cNvSpPr>
              <a:spLocks noChangeShapeType="1"/>
            </p:cNvSpPr>
            <p:nvPr/>
          </p:nvSpPr>
          <p:spPr bwMode="auto">
            <a:xfrm>
              <a:off x="2171" y="264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9" name="Line 105"/>
            <p:cNvSpPr>
              <a:spLocks noChangeShapeType="1"/>
            </p:cNvSpPr>
            <p:nvPr/>
          </p:nvSpPr>
          <p:spPr bwMode="auto">
            <a:xfrm>
              <a:off x="2171" y="320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0" name="Line 106"/>
            <p:cNvSpPr>
              <a:spLocks noChangeShapeType="1"/>
            </p:cNvSpPr>
            <p:nvPr/>
          </p:nvSpPr>
          <p:spPr bwMode="auto">
            <a:xfrm>
              <a:off x="2852" y="2557"/>
              <a:ext cx="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1" name="Line 107"/>
            <p:cNvSpPr>
              <a:spLocks noChangeShapeType="1"/>
            </p:cNvSpPr>
            <p:nvPr/>
          </p:nvSpPr>
          <p:spPr bwMode="auto">
            <a:xfrm flipV="1">
              <a:off x="2937" y="2188"/>
              <a:ext cx="0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2" name="Line 108"/>
            <p:cNvSpPr>
              <a:spLocks noChangeShapeType="1"/>
            </p:cNvSpPr>
            <p:nvPr/>
          </p:nvSpPr>
          <p:spPr bwMode="auto">
            <a:xfrm>
              <a:off x="2937" y="2188"/>
              <a:ext cx="2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3" name="Line 109"/>
            <p:cNvSpPr>
              <a:spLocks noChangeShapeType="1"/>
            </p:cNvSpPr>
            <p:nvPr/>
          </p:nvSpPr>
          <p:spPr bwMode="auto">
            <a:xfrm>
              <a:off x="3050" y="2529"/>
              <a:ext cx="0" cy="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4" name="Line 110"/>
            <p:cNvSpPr>
              <a:spLocks noChangeShapeType="1"/>
            </p:cNvSpPr>
            <p:nvPr/>
          </p:nvSpPr>
          <p:spPr bwMode="auto">
            <a:xfrm>
              <a:off x="3050" y="337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5" name="Line 111"/>
            <p:cNvSpPr>
              <a:spLocks noChangeShapeType="1"/>
            </p:cNvSpPr>
            <p:nvPr/>
          </p:nvSpPr>
          <p:spPr bwMode="auto">
            <a:xfrm>
              <a:off x="3050" y="2954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6" name="Line 112"/>
            <p:cNvSpPr>
              <a:spLocks noChangeShapeType="1"/>
            </p:cNvSpPr>
            <p:nvPr/>
          </p:nvSpPr>
          <p:spPr bwMode="auto">
            <a:xfrm>
              <a:off x="3050" y="252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7" name="Line 113"/>
            <p:cNvSpPr>
              <a:spLocks noChangeShapeType="1"/>
            </p:cNvSpPr>
            <p:nvPr/>
          </p:nvSpPr>
          <p:spPr bwMode="auto">
            <a:xfrm>
              <a:off x="2852" y="3152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8" name="Line 114"/>
            <p:cNvSpPr>
              <a:spLocks noChangeShapeType="1"/>
            </p:cNvSpPr>
            <p:nvPr/>
          </p:nvSpPr>
          <p:spPr bwMode="auto">
            <a:xfrm>
              <a:off x="2880" y="269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9" name="Line 115"/>
            <p:cNvSpPr>
              <a:spLocks noChangeShapeType="1"/>
            </p:cNvSpPr>
            <p:nvPr/>
          </p:nvSpPr>
          <p:spPr bwMode="auto">
            <a:xfrm>
              <a:off x="3929" y="167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0" name="Line 116"/>
            <p:cNvSpPr>
              <a:spLocks noChangeShapeType="1"/>
            </p:cNvSpPr>
            <p:nvPr/>
          </p:nvSpPr>
          <p:spPr bwMode="auto">
            <a:xfrm>
              <a:off x="3929" y="2103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1" name="Line 117"/>
            <p:cNvSpPr>
              <a:spLocks noChangeShapeType="1"/>
            </p:cNvSpPr>
            <p:nvPr/>
          </p:nvSpPr>
          <p:spPr bwMode="auto">
            <a:xfrm>
              <a:off x="3929" y="250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2" name="Line 118"/>
            <p:cNvSpPr>
              <a:spLocks noChangeShapeType="1"/>
            </p:cNvSpPr>
            <p:nvPr/>
          </p:nvSpPr>
          <p:spPr bwMode="auto">
            <a:xfrm>
              <a:off x="3929" y="295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3" name="Line 119"/>
            <p:cNvSpPr>
              <a:spLocks noChangeShapeType="1"/>
            </p:cNvSpPr>
            <p:nvPr/>
          </p:nvSpPr>
          <p:spPr bwMode="auto">
            <a:xfrm>
              <a:off x="3929" y="3351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4" name="Line 120"/>
            <p:cNvSpPr>
              <a:spLocks noChangeShapeType="1"/>
            </p:cNvSpPr>
            <p:nvPr/>
          </p:nvSpPr>
          <p:spPr bwMode="auto">
            <a:xfrm>
              <a:off x="4411" y="247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5" name="Line 121"/>
            <p:cNvSpPr>
              <a:spLocks noChangeShapeType="1"/>
            </p:cNvSpPr>
            <p:nvPr/>
          </p:nvSpPr>
          <p:spPr bwMode="auto">
            <a:xfrm>
              <a:off x="4893" y="2472"/>
              <a:ext cx="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6" name="Line 122"/>
            <p:cNvSpPr>
              <a:spLocks noChangeShapeType="1"/>
            </p:cNvSpPr>
            <p:nvPr/>
          </p:nvSpPr>
          <p:spPr bwMode="auto">
            <a:xfrm>
              <a:off x="4950" y="1224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7" name="Line 123"/>
            <p:cNvSpPr>
              <a:spLocks noChangeShapeType="1"/>
            </p:cNvSpPr>
            <p:nvPr/>
          </p:nvSpPr>
          <p:spPr bwMode="auto">
            <a:xfrm>
              <a:off x="5261" y="1224"/>
              <a:ext cx="0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090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2199212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04825" y="910332"/>
            <a:ext cx="8531225" cy="28067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/>
              <a:t>组织视图</a:t>
            </a:r>
          </a:p>
          <a:p>
            <a:pPr marL="536575" lvl="1" indent="-284163" eaLnBrk="1" hangingPunct="1">
              <a:lnSpc>
                <a:spcPct val="125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从系统组织、管理、控制的角度观察系统得到的视图</a:t>
            </a:r>
          </a:p>
          <a:p>
            <a:pPr marL="536575" lvl="1" indent="-284163" eaLnBrk="1" hangingPunct="1">
              <a:lnSpc>
                <a:spcPct val="125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展示系统的组织结构、各要素在组织结构中的位置、活动的约束与控制等</a:t>
            </a:r>
          </a:p>
          <a:p>
            <a:pPr marL="536575" lvl="1" indent="-284163" eaLnBrk="1" hangingPunct="1">
              <a:lnSpc>
                <a:spcPct val="125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组织视图主要用于系统集成的咨询、分析阶段</a:t>
            </a:r>
          </a:p>
          <a:p>
            <a:pPr marL="536575" lvl="1" indent="-284163" eaLnBrk="1" hangingPunct="1">
              <a:lnSpc>
                <a:spcPct val="125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组织视图下的集成称为“组织结构优化重组”</a:t>
            </a:r>
            <a:endParaRPr lang="en-US" altLang="zh-CN" dirty="0"/>
          </a:p>
        </p:txBody>
      </p:sp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1116013" y="3979863"/>
            <a:ext cx="6942137" cy="2689225"/>
            <a:chOff x="810" y="2472"/>
            <a:chExt cx="4223" cy="1275"/>
          </a:xfrm>
        </p:grpSpPr>
        <p:sp>
          <p:nvSpPr>
            <p:cNvPr id="81925" name="Rectangle 62"/>
            <p:cNvSpPr>
              <a:spLocks noChangeArrowheads="1"/>
            </p:cNvSpPr>
            <p:nvPr/>
          </p:nvSpPr>
          <p:spPr bwMode="auto">
            <a:xfrm>
              <a:off x="3077" y="2472"/>
              <a:ext cx="1134" cy="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角色设置</a:t>
              </a:r>
            </a:p>
          </p:txBody>
        </p:sp>
        <p:sp>
          <p:nvSpPr>
            <p:cNvPr id="81926" name="Rectangle 63"/>
            <p:cNvSpPr>
              <a:spLocks noChangeArrowheads="1"/>
            </p:cNvSpPr>
            <p:nvPr/>
          </p:nvSpPr>
          <p:spPr bwMode="auto">
            <a:xfrm>
              <a:off x="3077" y="2741"/>
              <a:ext cx="1134" cy="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角色职权约定</a:t>
              </a:r>
            </a:p>
          </p:txBody>
        </p:sp>
        <p:sp>
          <p:nvSpPr>
            <p:cNvPr id="81927" name="Rectangle 64"/>
            <p:cNvSpPr>
              <a:spLocks noChangeArrowheads="1"/>
            </p:cNvSpPr>
            <p:nvPr/>
          </p:nvSpPr>
          <p:spPr bwMode="auto">
            <a:xfrm>
              <a:off x="3077" y="3010"/>
              <a:ext cx="1134" cy="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角色功能结构</a:t>
              </a:r>
            </a:p>
          </p:txBody>
        </p:sp>
        <p:sp>
          <p:nvSpPr>
            <p:cNvPr id="81928" name="Rectangle 65"/>
            <p:cNvSpPr>
              <a:spLocks noChangeArrowheads="1"/>
            </p:cNvSpPr>
            <p:nvPr/>
          </p:nvSpPr>
          <p:spPr bwMode="auto">
            <a:xfrm>
              <a:off x="3077" y="3279"/>
              <a:ext cx="1134" cy="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角色资源结构</a:t>
              </a:r>
            </a:p>
          </p:txBody>
        </p:sp>
        <p:sp>
          <p:nvSpPr>
            <p:cNvPr id="81929" name="Rectangle 66"/>
            <p:cNvSpPr>
              <a:spLocks noChangeArrowheads="1"/>
            </p:cNvSpPr>
            <p:nvPr/>
          </p:nvSpPr>
          <p:spPr bwMode="auto">
            <a:xfrm>
              <a:off x="3077" y="3549"/>
              <a:ext cx="1134" cy="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角色信息结构</a:t>
              </a:r>
            </a:p>
          </p:txBody>
        </p:sp>
        <p:sp>
          <p:nvSpPr>
            <p:cNvPr id="81930" name="Rectangle 67"/>
            <p:cNvSpPr>
              <a:spLocks noChangeArrowheads="1"/>
            </p:cNvSpPr>
            <p:nvPr/>
          </p:nvSpPr>
          <p:spPr bwMode="auto">
            <a:xfrm>
              <a:off x="1943" y="2472"/>
              <a:ext cx="567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组织结构优化</a:t>
              </a:r>
            </a:p>
          </p:txBody>
        </p:sp>
        <p:sp>
          <p:nvSpPr>
            <p:cNvPr id="81931" name="Rectangle 68"/>
            <p:cNvSpPr>
              <a:spLocks noChangeArrowheads="1"/>
            </p:cNvSpPr>
            <p:nvPr/>
          </p:nvSpPr>
          <p:spPr bwMode="auto">
            <a:xfrm>
              <a:off x="1943" y="3096"/>
              <a:ext cx="567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运行结构优化</a:t>
              </a:r>
            </a:p>
          </p:txBody>
        </p:sp>
        <p:sp>
          <p:nvSpPr>
            <p:cNvPr id="81932" name="Rectangle 69"/>
            <p:cNvSpPr>
              <a:spLocks noChangeArrowheads="1"/>
            </p:cNvSpPr>
            <p:nvPr/>
          </p:nvSpPr>
          <p:spPr bwMode="auto">
            <a:xfrm>
              <a:off x="810" y="2472"/>
              <a:ext cx="680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组织结构分析</a:t>
              </a:r>
            </a:p>
          </p:txBody>
        </p:sp>
        <p:sp>
          <p:nvSpPr>
            <p:cNvPr id="81933" name="Rectangle 70"/>
            <p:cNvSpPr>
              <a:spLocks noChangeArrowheads="1"/>
            </p:cNvSpPr>
            <p:nvPr/>
          </p:nvSpPr>
          <p:spPr bwMode="auto">
            <a:xfrm>
              <a:off x="810" y="2897"/>
              <a:ext cx="680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系统运行特点分析</a:t>
              </a:r>
            </a:p>
          </p:txBody>
        </p:sp>
        <p:sp>
          <p:nvSpPr>
            <p:cNvPr id="81934" name="Rectangle 72"/>
            <p:cNvSpPr>
              <a:spLocks noChangeArrowheads="1"/>
            </p:cNvSpPr>
            <p:nvPr/>
          </p:nvSpPr>
          <p:spPr bwMode="auto">
            <a:xfrm>
              <a:off x="810" y="3323"/>
              <a:ext cx="680" cy="36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系统要素特点分析</a:t>
              </a:r>
            </a:p>
          </p:txBody>
        </p:sp>
        <p:sp>
          <p:nvSpPr>
            <p:cNvPr id="81935" name="Rectangle 73"/>
            <p:cNvSpPr>
              <a:spLocks noChangeArrowheads="1"/>
            </p:cNvSpPr>
            <p:nvPr/>
          </p:nvSpPr>
          <p:spPr bwMode="auto">
            <a:xfrm>
              <a:off x="4778" y="2472"/>
              <a:ext cx="255" cy="124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黑体" panose="02010609060101010101" pitchFamily="49" charset="-122"/>
                  <a:ea typeface="黑体" panose="02010609060101010101" pitchFamily="49" charset="-122"/>
                </a:rPr>
                <a:t>针对角色培训</a:t>
              </a:r>
            </a:p>
          </p:txBody>
        </p:sp>
        <p:sp>
          <p:nvSpPr>
            <p:cNvPr id="81936" name="Line 74"/>
            <p:cNvSpPr>
              <a:spLocks noChangeShapeType="1"/>
            </p:cNvSpPr>
            <p:nvPr/>
          </p:nvSpPr>
          <p:spPr bwMode="auto">
            <a:xfrm>
              <a:off x="1491" y="2670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1937" name="AutoShape 75"/>
            <p:cNvCxnSpPr>
              <a:cxnSpLocks noChangeShapeType="1"/>
              <a:stCxn id="81933" idx="3"/>
              <a:endCxn id="81934" idx="3"/>
            </p:cNvCxnSpPr>
            <p:nvPr/>
          </p:nvCxnSpPr>
          <p:spPr bwMode="auto">
            <a:xfrm>
              <a:off x="1490" y="3081"/>
              <a:ext cx="1" cy="426"/>
            </a:xfrm>
            <a:prstGeom prst="bent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38" name="Line 78"/>
            <p:cNvSpPr>
              <a:spLocks noChangeShapeType="1"/>
            </p:cNvSpPr>
            <p:nvPr/>
          </p:nvSpPr>
          <p:spPr bwMode="auto">
            <a:xfrm>
              <a:off x="1633" y="3294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1939" name="AutoShape 79"/>
            <p:cNvCxnSpPr>
              <a:cxnSpLocks noChangeShapeType="1"/>
              <a:stCxn id="81925" idx="1"/>
              <a:endCxn id="81929" idx="1"/>
            </p:cNvCxnSpPr>
            <p:nvPr/>
          </p:nvCxnSpPr>
          <p:spPr bwMode="auto">
            <a:xfrm rot="10800000" flipH="1" flipV="1">
              <a:off x="3077" y="2571"/>
              <a:ext cx="1" cy="1077"/>
            </a:xfrm>
            <a:prstGeom prst="bentConnector3">
              <a:avLst>
                <a:gd name="adj1" fmla="val -16300005"/>
              </a:avLst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40" name="Line 81"/>
            <p:cNvSpPr>
              <a:spLocks noChangeShapeType="1"/>
            </p:cNvSpPr>
            <p:nvPr/>
          </p:nvSpPr>
          <p:spPr bwMode="auto">
            <a:xfrm>
              <a:off x="2908" y="284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1" name="Line 82"/>
            <p:cNvSpPr>
              <a:spLocks noChangeShapeType="1"/>
            </p:cNvSpPr>
            <p:nvPr/>
          </p:nvSpPr>
          <p:spPr bwMode="auto">
            <a:xfrm>
              <a:off x="2908" y="309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2" name="Line 83"/>
            <p:cNvSpPr>
              <a:spLocks noChangeShapeType="1"/>
            </p:cNvSpPr>
            <p:nvPr/>
          </p:nvSpPr>
          <p:spPr bwMode="auto">
            <a:xfrm>
              <a:off x="2908" y="337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3" name="Line 84"/>
            <p:cNvSpPr>
              <a:spLocks noChangeShapeType="1"/>
            </p:cNvSpPr>
            <p:nvPr/>
          </p:nvSpPr>
          <p:spPr bwMode="auto">
            <a:xfrm>
              <a:off x="2511" y="2670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4" name="Line 85"/>
            <p:cNvSpPr>
              <a:spLocks noChangeShapeType="1"/>
            </p:cNvSpPr>
            <p:nvPr/>
          </p:nvSpPr>
          <p:spPr bwMode="auto">
            <a:xfrm>
              <a:off x="2511" y="3294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1945" name="AutoShape 87"/>
            <p:cNvCxnSpPr>
              <a:cxnSpLocks noChangeShapeType="1"/>
              <a:stCxn id="81925" idx="3"/>
              <a:endCxn id="81929" idx="3"/>
            </p:cNvCxnSpPr>
            <p:nvPr/>
          </p:nvCxnSpPr>
          <p:spPr bwMode="auto">
            <a:xfrm>
              <a:off x="4211" y="2571"/>
              <a:ext cx="1" cy="1077"/>
            </a:xfrm>
            <a:prstGeom prst="bentConnector3">
              <a:avLst>
                <a:gd name="adj1" fmla="val 2810000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46" name="Line 88"/>
            <p:cNvSpPr>
              <a:spLocks noChangeShapeType="1"/>
            </p:cNvSpPr>
            <p:nvPr/>
          </p:nvSpPr>
          <p:spPr bwMode="auto">
            <a:xfrm>
              <a:off x="4212" y="2840"/>
              <a:ext cx="2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7" name="Line 89"/>
            <p:cNvSpPr>
              <a:spLocks noChangeShapeType="1"/>
            </p:cNvSpPr>
            <p:nvPr/>
          </p:nvSpPr>
          <p:spPr bwMode="auto">
            <a:xfrm>
              <a:off x="4212" y="3096"/>
              <a:ext cx="5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8" name="Line 90"/>
            <p:cNvSpPr>
              <a:spLocks noChangeShapeType="1"/>
            </p:cNvSpPr>
            <p:nvPr/>
          </p:nvSpPr>
          <p:spPr bwMode="auto">
            <a:xfrm>
              <a:off x="4212" y="3379"/>
              <a:ext cx="2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2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1702827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04825" y="908050"/>
            <a:ext cx="8531225" cy="51816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资源视图</a:t>
            </a:r>
          </a:p>
          <a:p>
            <a:pPr marL="536575" lvl="1" indent="-284163" eaLnBrk="1" hangingPunct="1"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/>
              <a:t>从资源活动的角度观察系统得到的视图</a:t>
            </a:r>
          </a:p>
          <a:p>
            <a:pPr marL="536575" lvl="1" indent="-284163" eaLnBrk="1" hangingPunct="1"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/>
              <a:t>展示人、资金、物资、信息、技术资源的结构和配置情况</a:t>
            </a:r>
          </a:p>
          <a:p>
            <a:pPr marL="536575" lvl="1" indent="-284163" eaLnBrk="1" hangingPunct="1"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/>
              <a:t>资源视图描述：静态描述、动态描述</a:t>
            </a:r>
          </a:p>
          <a:p>
            <a:pPr marL="904875" lvl="2" indent="-188913" eaLnBrk="1" hangingPunct="1"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zh-CN" altLang="en-US" sz="2400"/>
              <a:t>静态描述：人力资源配置结构、技术配置结构、设备等物资的配置结构等。</a:t>
            </a:r>
          </a:p>
          <a:p>
            <a:pPr marL="904875" lvl="2" indent="-188913" eaLnBrk="1" hangingPunct="1"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zh-CN" altLang="en-US" sz="2400"/>
              <a:t>动态描述：物流、信息流、资金流等</a:t>
            </a:r>
            <a:endParaRPr lang="en-US" altLang="zh-CN" sz="2400"/>
          </a:p>
          <a:p>
            <a:pPr marL="536575" lvl="1" indent="-284163" eaLnBrk="1" hangingPunct="1"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/>
              <a:t>资源视图可用于集成的规划阶段</a:t>
            </a: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系统集成视图</a:t>
            </a:r>
          </a:p>
        </p:txBody>
      </p:sp>
    </p:spTree>
    <p:extLst>
      <p:ext uri="{BB962C8B-B14F-4D97-AF65-F5344CB8AC3E}">
        <p14:creationId xmlns:p14="http://schemas.microsoft.com/office/powerpoint/2010/main" val="1979980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760413" y="1628775"/>
            <a:ext cx="7345362" cy="2952750"/>
          </a:xfrm>
        </p:spPr>
        <p:txBody>
          <a:bodyPr/>
          <a:lstStyle/>
          <a:p>
            <a:pPr marL="593725" lvl="1" indent="-342900" eaLnBrk="1" hangingPunct="1">
              <a:lnSpc>
                <a:spcPct val="200000"/>
              </a:lnSpc>
              <a:spcBef>
                <a:spcPct val="10000"/>
              </a:spcBef>
            </a:pPr>
            <a:r>
              <a:rPr lang="zh-CN" altLang="en-US" dirty="0"/>
              <a:t>系统咨询、分析阶段：组织结构视图、资源视图</a:t>
            </a:r>
            <a:endParaRPr lang="en-US" altLang="zh-CN" dirty="0"/>
          </a:p>
          <a:p>
            <a:pPr marL="593725" lvl="1" indent="-342900" eaLnBrk="1" hangingPunct="1">
              <a:lnSpc>
                <a:spcPct val="200000"/>
              </a:lnSpc>
              <a:spcBef>
                <a:spcPct val="10000"/>
              </a:spcBef>
            </a:pPr>
            <a:r>
              <a:rPr lang="zh-CN" altLang="en-US" dirty="0"/>
              <a:t>系统规划阶段：组织结构视图、资源视图</a:t>
            </a:r>
            <a:endParaRPr lang="en-US" altLang="zh-CN" dirty="0"/>
          </a:p>
          <a:p>
            <a:pPr marL="593725" lvl="1" indent="-342900" eaLnBrk="1" hangingPunct="1">
              <a:lnSpc>
                <a:spcPct val="200000"/>
              </a:lnSpc>
              <a:spcBef>
                <a:spcPct val="10000"/>
              </a:spcBef>
            </a:pPr>
            <a:r>
              <a:rPr lang="zh-CN" altLang="en-US" dirty="0"/>
              <a:t>信息系统平台设计与实现阶段：信息视图</a:t>
            </a:r>
            <a:endParaRPr lang="en-US" altLang="zh-CN" dirty="0"/>
          </a:p>
          <a:p>
            <a:pPr marL="593725" lvl="1" indent="-342900" eaLnBrk="1" hangingPunct="1">
              <a:lnSpc>
                <a:spcPct val="200000"/>
              </a:lnSpc>
              <a:spcBef>
                <a:spcPct val="10000"/>
              </a:spcBef>
            </a:pPr>
            <a:r>
              <a:rPr lang="zh-CN" altLang="en-US" dirty="0"/>
              <a:t>应用系统设计与实现阶段：功能视图</a:t>
            </a:r>
            <a:endParaRPr lang="en-US" altLang="zh-CN" dirty="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系统集成视图</a:t>
            </a:r>
          </a:p>
        </p:txBody>
      </p:sp>
      <p:sp>
        <p:nvSpPr>
          <p:cNvPr id="83972" name="矩形 2"/>
          <p:cNvSpPr>
            <a:spLocks noChangeArrowheads="1"/>
          </p:cNvSpPr>
          <p:nvPr/>
        </p:nvSpPr>
        <p:spPr bwMode="auto">
          <a:xfrm>
            <a:off x="899592" y="1124744"/>
            <a:ext cx="2039937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0000"/>
              </a:spcBef>
              <a:buClr>
                <a:srgbClr val="FF0000"/>
              </a:buClr>
              <a:buSzTx/>
              <a:buFontTx/>
              <a:buNone/>
            </a:pPr>
            <a:r>
              <a:rPr lang="zh-CN" altLang="en-US" sz="2400" dirty="0"/>
              <a:t>集成视图运用</a:t>
            </a:r>
          </a:p>
        </p:txBody>
      </p:sp>
    </p:spTree>
    <p:extLst>
      <p:ext uri="{BB962C8B-B14F-4D97-AF65-F5344CB8AC3E}">
        <p14:creationId xmlns:p14="http://schemas.microsoft.com/office/powerpoint/2010/main" val="41091172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03461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8313" y="1700808"/>
            <a:ext cx="8229600" cy="38862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大家见过哪些企业？</a:t>
            </a:r>
            <a:endParaRPr lang="en-US" altLang="zh-C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什么是企业？</a:t>
            </a:r>
          </a:p>
        </p:txBody>
      </p:sp>
    </p:spTree>
    <p:extLst>
      <p:ext uri="{BB962C8B-B14F-4D97-AF65-F5344CB8AC3E}">
        <p14:creationId xmlns:p14="http://schemas.microsoft.com/office/powerpoint/2010/main" val="32419720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03461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" name="内容占位符 8"/>
          <p:cNvSpPr>
            <a:spLocks/>
          </p:cNvSpPr>
          <p:nvPr/>
        </p:nvSpPr>
        <p:spPr bwMode="auto">
          <a:xfrm>
            <a:off x="323528" y="1196752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lnSpc>
                <a:spcPct val="150000"/>
              </a:lnSpc>
              <a:buClr>
                <a:srgbClr val="2C3F71"/>
              </a:buClr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“企业（</a:t>
            </a:r>
            <a:r>
              <a:rPr lang="en-US" altLang="zh-CN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Enterprise</a:t>
            </a: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）”一词的两种用法：</a:t>
            </a:r>
          </a:p>
          <a:p>
            <a:pPr eaLnBrk="1" latinLnBrk="1" hangingPunct="1">
              <a:lnSpc>
                <a:spcPct val="150000"/>
              </a:lnSpc>
              <a:buClr>
                <a:srgbClr val="2C3F71"/>
              </a:buClr>
            </a:pPr>
            <a:r>
              <a:rPr lang="zh-CN" altLang="en-US" sz="2000" dirty="0"/>
              <a:t>企业是从事生产、流通、服务等经济活动，以生产或服务满足社会需要，实行自主经营、独立核算、依法设立的一种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盈利性的经济组织</a:t>
            </a:r>
            <a:r>
              <a:rPr lang="zh-CN" altLang="en-US" sz="2000" dirty="0"/>
              <a:t>。企业主要指独立的盈利性组织，并可进一步分为公司和非公司企业，后者如合伙制企业、个人独资企业等。</a:t>
            </a:r>
          </a:p>
          <a:p>
            <a:pPr eaLnBrk="1" latinLnBrk="1" hangingPunct="1">
              <a:lnSpc>
                <a:spcPct val="150000"/>
              </a:lnSpc>
              <a:buClr>
                <a:srgbClr val="2C3F71"/>
              </a:buClr>
            </a:pPr>
            <a:r>
              <a:rPr lang="zh-CN" altLang="en-US" sz="2000" dirty="0"/>
              <a:t>另一种用法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与社会组织接近</a:t>
            </a:r>
            <a:r>
              <a:rPr lang="zh-CN" altLang="en-US" sz="2000" dirty="0"/>
              <a:t>，可以用来泛指公司、学校、社会团体乃至政府机构等。主要出现在信息技术应用领域的一些专有名词中，如</a:t>
            </a:r>
          </a:p>
          <a:p>
            <a:pPr lvl="1" eaLnBrk="1" latinLnBrk="1" hangingPunct="1">
              <a:lnSpc>
                <a:spcPct val="150000"/>
              </a:lnSpc>
              <a:buClr>
                <a:srgbClr val="2C3F71"/>
              </a:buClr>
            </a:pPr>
            <a:r>
              <a:rPr lang="zh-CN" altLang="en-US" sz="1800" dirty="0"/>
              <a:t>企业应用（</a:t>
            </a:r>
            <a:r>
              <a:rPr lang="en-US" altLang="zh-CN" sz="1800" dirty="0"/>
              <a:t>enterprise applications</a:t>
            </a:r>
            <a:r>
              <a:rPr lang="zh-CN" altLang="en-US" sz="1800" dirty="0"/>
              <a:t>）、企业计算（</a:t>
            </a:r>
            <a:r>
              <a:rPr lang="en-US" altLang="zh-CN" sz="1800" dirty="0"/>
              <a:t>enterprise computing</a:t>
            </a:r>
            <a:r>
              <a:rPr lang="zh-CN" altLang="en-US" sz="1800" dirty="0"/>
              <a:t>）</a:t>
            </a:r>
          </a:p>
          <a:p>
            <a:pPr lvl="1" eaLnBrk="1" latinLnBrk="1" hangingPunct="1">
              <a:lnSpc>
                <a:spcPct val="150000"/>
              </a:lnSpc>
              <a:buClr>
                <a:srgbClr val="2C3F71"/>
              </a:buClr>
            </a:pPr>
            <a:r>
              <a:rPr lang="zh-CN" altLang="en-US" sz="1800" dirty="0"/>
              <a:t>企业集成（</a:t>
            </a:r>
            <a:r>
              <a:rPr lang="en-US" altLang="zh-CN" sz="1800" dirty="0"/>
              <a:t>enterprise integration</a:t>
            </a:r>
            <a:r>
              <a:rPr lang="zh-CN" altLang="en-US" sz="1800" dirty="0"/>
              <a:t>）、企业工程（</a:t>
            </a:r>
            <a:r>
              <a:rPr lang="en-US" altLang="zh-CN" sz="1800" dirty="0"/>
              <a:t>enterprise engineering</a:t>
            </a:r>
            <a:r>
              <a:rPr lang="zh-CN" altLang="en-US" sz="1800" dirty="0"/>
              <a:t>）</a:t>
            </a:r>
          </a:p>
          <a:p>
            <a:pPr lvl="1" eaLnBrk="1" latinLnBrk="1" hangingPunct="1">
              <a:lnSpc>
                <a:spcPct val="150000"/>
              </a:lnSpc>
              <a:buClr>
                <a:srgbClr val="2C3F71"/>
              </a:buClr>
            </a:pPr>
            <a:r>
              <a:rPr lang="zh-CN" altLang="en-US" sz="1800" dirty="0"/>
              <a:t>企业架构（</a:t>
            </a:r>
            <a:r>
              <a:rPr lang="en-US" altLang="zh-CN" sz="1800" dirty="0"/>
              <a:t>enterprise architecture</a:t>
            </a:r>
            <a:r>
              <a:rPr lang="zh-CN" altLang="en-US" sz="1800" dirty="0"/>
              <a:t>）、企业建模（</a:t>
            </a:r>
            <a:r>
              <a:rPr lang="en-US" altLang="zh-CN" sz="1800" dirty="0"/>
              <a:t>enterprise modeling</a:t>
            </a:r>
            <a:r>
              <a:rPr lang="zh-CN" altLang="en-US" sz="18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714171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03461"/>
            <a:ext cx="7913687" cy="5492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8255000" cy="511333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数据：</a:t>
            </a:r>
            <a:r>
              <a:rPr lang="zh-CN" altLang="en-US" sz="2400" dirty="0"/>
              <a:t>能被主体感知和识别的有意义的元素（符号、文字、声音、图像、视频等） “组合”，是信息的具体符号表示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信息：</a:t>
            </a:r>
            <a:r>
              <a:rPr lang="zh-CN" altLang="en-US" sz="2400" dirty="0"/>
              <a:t>对事物本质特征的刻画</a:t>
            </a:r>
            <a:endParaRPr lang="zh-CN" altLang="en-US" dirty="0"/>
          </a:p>
          <a:p>
            <a:pPr lvl="2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本体论信息：精确表征</a:t>
            </a:r>
          </a:p>
          <a:p>
            <a:pPr lvl="2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认识论信息：近似描述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知识：</a:t>
            </a:r>
            <a:r>
              <a:rPr lang="zh-CN" altLang="en-US" sz="2400" dirty="0"/>
              <a:t>是经过归纳、演绎、验证或证明的对事物运动变化规律的描述，属认识论信息范畴的高层次信息</a:t>
            </a:r>
            <a:endParaRPr lang="en-US" altLang="zh-CN" sz="24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知识是系统化、理论化的信息</a:t>
            </a:r>
            <a:endParaRPr lang="en-US" altLang="zh-CN" sz="2400" dirty="0"/>
          </a:p>
          <a:p>
            <a:pPr lvl="2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知识是可更新的，经验是感性层面的知识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84225" y="1007517"/>
            <a:ext cx="75533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数据、信息和知识</a:t>
            </a:r>
          </a:p>
        </p:txBody>
      </p:sp>
    </p:spTree>
    <p:extLst>
      <p:ext uri="{BB962C8B-B14F-4D97-AF65-F5344CB8AC3E}">
        <p14:creationId xmlns:p14="http://schemas.microsoft.com/office/powerpoint/2010/main" val="7946811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503461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信息系统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2788" y="2134071"/>
            <a:ext cx="7920037" cy="39592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信息操纵角度</a:t>
            </a:r>
            <a:r>
              <a:rPr lang="en-US" altLang="zh-CN" sz="2400"/>
              <a:t>——</a:t>
            </a:r>
            <a:r>
              <a:rPr lang="zh-CN" altLang="en-US" sz="2400"/>
              <a:t>具有信息采集、存储、处理、管理、传递、利用等信息操纵能力的系统。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系统功能角度</a:t>
            </a:r>
            <a:r>
              <a:rPr lang="en-US" altLang="zh-CN" sz="2400"/>
              <a:t>——</a:t>
            </a:r>
            <a:r>
              <a:rPr lang="zh-CN" altLang="en-US" sz="2400"/>
              <a:t>能为使用者提供信息服务，能让使用者利用信息达到某种目的的系统。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系统组成角度</a:t>
            </a:r>
            <a:r>
              <a:rPr lang="en-US" altLang="zh-CN" sz="2400"/>
              <a:t>——</a:t>
            </a:r>
            <a:r>
              <a:rPr lang="zh-CN" altLang="en-US" sz="2400"/>
              <a:t>信息、信息操纵规则、信息操纵手段、信息操纵主体共同构成的有机整体。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4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1254596"/>
            <a:ext cx="703738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信息系统：能实现完整、有序信息操纵的系统</a:t>
            </a:r>
          </a:p>
        </p:txBody>
      </p:sp>
    </p:spTree>
    <p:extLst>
      <p:ext uri="{BB962C8B-B14F-4D97-AF65-F5344CB8AC3E}">
        <p14:creationId xmlns:p14="http://schemas.microsoft.com/office/powerpoint/2010/main" val="919188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475828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信息系统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1109241"/>
            <a:ext cx="703738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信息系统分级</a:t>
            </a:r>
          </a:p>
        </p:txBody>
      </p:sp>
      <p:grpSp>
        <p:nvGrpSpPr>
          <p:cNvPr id="88068" name="组合 27"/>
          <p:cNvGrpSpPr>
            <a:grpSpLocks/>
          </p:cNvGrpSpPr>
          <p:nvPr/>
        </p:nvGrpSpPr>
        <p:grpSpPr bwMode="auto">
          <a:xfrm>
            <a:off x="1116013" y="1844675"/>
            <a:ext cx="6826250" cy="4395788"/>
            <a:chOff x="1106615" y="2016712"/>
            <a:chExt cx="6825632" cy="4394905"/>
          </a:xfrm>
        </p:grpSpPr>
        <p:sp>
          <p:nvSpPr>
            <p:cNvPr id="88069" name="等腰三角形 1"/>
            <p:cNvSpPr>
              <a:spLocks noChangeArrowheads="1"/>
            </p:cNvSpPr>
            <p:nvPr/>
          </p:nvSpPr>
          <p:spPr bwMode="auto">
            <a:xfrm>
              <a:off x="1781690" y="2016712"/>
              <a:ext cx="4740653" cy="3931064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88070" name="直接连接符 6"/>
            <p:cNvCxnSpPr>
              <a:cxnSpLocks noChangeShapeType="1"/>
              <a:stCxn id="88069" idx="0"/>
            </p:cNvCxnSpPr>
            <p:nvPr/>
          </p:nvCxnSpPr>
          <p:spPr bwMode="auto">
            <a:xfrm flipH="1">
              <a:off x="2771800" y="2016712"/>
              <a:ext cx="1380217" cy="3931064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71" name="直接连接符 8"/>
            <p:cNvCxnSpPr>
              <a:cxnSpLocks noChangeShapeType="1"/>
              <a:stCxn id="88069" idx="0"/>
            </p:cNvCxnSpPr>
            <p:nvPr/>
          </p:nvCxnSpPr>
          <p:spPr bwMode="auto">
            <a:xfrm>
              <a:off x="4152017" y="2016712"/>
              <a:ext cx="1352112" cy="3931064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72" name="直接连接符 10"/>
            <p:cNvCxnSpPr>
              <a:cxnSpLocks noChangeShapeType="1"/>
              <a:stCxn id="88069" idx="0"/>
            </p:cNvCxnSpPr>
            <p:nvPr/>
          </p:nvCxnSpPr>
          <p:spPr bwMode="auto">
            <a:xfrm flipH="1">
              <a:off x="3626895" y="2016712"/>
              <a:ext cx="525122" cy="3931064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73" name="直接连接符 12"/>
            <p:cNvCxnSpPr>
              <a:cxnSpLocks noChangeShapeType="1"/>
              <a:stCxn id="88069" idx="0"/>
            </p:cNvCxnSpPr>
            <p:nvPr/>
          </p:nvCxnSpPr>
          <p:spPr bwMode="auto">
            <a:xfrm>
              <a:off x="4152017" y="2016712"/>
              <a:ext cx="525122" cy="3931064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74" name="直接连接符 18"/>
            <p:cNvCxnSpPr>
              <a:cxnSpLocks noChangeShapeType="1"/>
            </p:cNvCxnSpPr>
            <p:nvPr/>
          </p:nvCxnSpPr>
          <p:spPr bwMode="auto">
            <a:xfrm>
              <a:off x="3041830" y="3789040"/>
              <a:ext cx="2160000" cy="0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75" name="直接连接符 20"/>
            <p:cNvCxnSpPr>
              <a:cxnSpLocks noChangeShapeType="1"/>
            </p:cNvCxnSpPr>
            <p:nvPr/>
          </p:nvCxnSpPr>
          <p:spPr bwMode="auto">
            <a:xfrm flipV="1">
              <a:off x="2412140" y="4779150"/>
              <a:ext cx="3420000" cy="45005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76" name="直接连接符 22"/>
            <p:cNvCxnSpPr>
              <a:cxnSpLocks noChangeShapeType="1"/>
            </p:cNvCxnSpPr>
            <p:nvPr/>
          </p:nvCxnSpPr>
          <p:spPr bwMode="auto">
            <a:xfrm flipV="1">
              <a:off x="3564020" y="2978950"/>
              <a:ext cx="1188000" cy="13614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8077" name="矩形 24"/>
            <p:cNvSpPr>
              <a:spLocks noChangeArrowheads="1"/>
            </p:cNvSpPr>
            <p:nvPr/>
          </p:nvSpPr>
          <p:spPr bwMode="auto">
            <a:xfrm>
              <a:off x="1705247" y="5885347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销售</a:t>
              </a:r>
            </a:p>
          </p:txBody>
        </p:sp>
        <p:sp>
          <p:nvSpPr>
            <p:cNvPr id="88078" name="矩形 29"/>
            <p:cNvSpPr>
              <a:spLocks noChangeArrowheads="1"/>
            </p:cNvSpPr>
            <p:nvPr/>
          </p:nvSpPr>
          <p:spPr bwMode="auto">
            <a:xfrm>
              <a:off x="2636300" y="5916562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生产</a:t>
              </a:r>
            </a:p>
          </p:txBody>
        </p:sp>
        <p:sp>
          <p:nvSpPr>
            <p:cNvPr id="88079" name="矩形 30"/>
            <p:cNvSpPr>
              <a:spLocks noChangeArrowheads="1"/>
            </p:cNvSpPr>
            <p:nvPr/>
          </p:nvSpPr>
          <p:spPr bwMode="auto">
            <a:xfrm>
              <a:off x="3626009" y="5885347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财务</a:t>
              </a:r>
            </a:p>
          </p:txBody>
        </p:sp>
        <p:sp>
          <p:nvSpPr>
            <p:cNvPr id="88080" name="矩形 31"/>
            <p:cNvSpPr>
              <a:spLocks noChangeArrowheads="1"/>
            </p:cNvSpPr>
            <p:nvPr/>
          </p:nvSpPr>
          <p:spPr bwMode="auto">
            <a:xfrm>
              <a:off x="4525624" y="5885347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物资</a:t>
              </a:r>
            </a:p>
          </p:txBody>
        </p:sp>
        <p:sp>
          <p:nvSpPr>
            <p:cNvPr id="88081" name="矩形 32"/>
            <p:cNvSpPr>
              <a:spLocks noChangeArrowheads="1"/>
            </p:cNvSpPr>
            <p:nvPr/>
          </p:nvSpPr>
          <p:spPr bwMode="auto">
            <a:xfrm>
              <a:off x="5449380" y="5895971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人力</a:t>
              </a:r>
            </a:p>
          </p:txBody>
        </p:sp>
        <p:sp>
          <p:nvSpPr>
            <p:cNvPr id="88082" name="矩形 33"/>
            <p:cNvSpPr>
              <a:spLocks noChangeArrowheads="1"/>
            </p:cNvSpPr>
            <p:nvPr/>
          </p:nvSpPr>
          <p:spPr bwMode="auto">
            <a:xfrm>
              <a:off x="1106615" y="5076037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操作级</a:t>
              </a:r>
            </a:p>
          </p:txBody>
        </p:sp>
        <p:sp>
          <p:nvSpPr>
            <p:cNvPr id="88083" name="矩形 34"/>
            <p:cNvSpPr>
              <a:spLocks noChangeArrowheads="1"/>
            </p:cNvSpPr>
            <p:nvPr/>
          </p:nvSpPr>
          <p:spPr bwMode="auto">
            <a:xfrm>
              <a:off x="1781690" y="4010212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知识级</a:t>
              </a:r>
            </a:p>
          </p:txBody>
        </p:sp>
        <p:sp>
          <p:nvSpPr>
            <p:cNvPr id="88084" name="矩形 35"/>
            <p:cNvSpPr>
              <a:spLocks noChangeArrowheads="1"/>
            </p:cNvSpPr>
            <p:nvPr/>
          </p:nvSpPr>
          <p:spPr bwMode="auto">
            <a:xfrm>
              <a:off x="2321750" y="3092937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管理级</a:t>
              </a:r>
            </a:p>
          </p:txBody>
        </p:sp>
        <p:sp>
          <p:nvSpPr>
            <p:cNvPr id="88085" name="矩形 36"/>
            <p:cNvSpPr>
              <a:spLocks noChangeArrowheads="1"/>
            </p:cNvSpPr>
            <p:nvPr/>
          </p:nvSpPr>
          <p:spPr bwMode="auto">
            <a:xfrm>
              <a:off x="2861810" y="2273414"/>
              <a:ext cx="103511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战略级</a:t>
              </a:r>
            </a:p>
          </p:txBody>
        </p:sp>
        <p:sp>
          <p:nvSpPr>
            <p:cNvPr id="88086" name="矩形 37"/>
            <p:cNvSpPr>
              <a:spLocks noChangeArrowheads="1"/>
            </p:cNvSpPr>
            <p:nvPr/>
          </p:nvSpPr>
          <p:spPr bwMode="auto">
            <a:xfrm>
              <a:off x="5967155" y="5049180"/>
              <a:ext cx="1965092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操作层管理者</a:t>
              </a:r>
            </a:p>
          </p:txBody>
        </p:sp>
        <p:sp>
          <p:nvSpPr>
            <p:cNvPr id="88087" name="矩形 38"/>
            <p:cNvSpPr>
              <a:spLocks noChangeArrowheads="1"/>
            </p:cNvSpPr>
            <p:nvPr/>
          </p:nvSpPr>
          <p:spPr bwMode="auto">
            <a:xfrm>
              <a:off x="5337085" y="4088372"/>
              <a:ext cx="2497825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知识和数据工作者</a:t>
              </a:r>
            </a:p>
          </p:txBody>
        </p:sp>
        <p:sp>
          <p:nvSpPr>
            <p:cNvPr id="88088" name="矩形 39"/>
            <p:cNvSpPr>
              <a:spLocks noChangeArrowheads="1"/>
            </p:cNvSpPr>
            <p:nvPr/>
          </p:nvSpPr>
          <p:spPr bwMode="auto">
            <a:xfrm>
              <a:off x="4662010" y="3158970"/>
              <a:ext cx="1965092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中层管理者</a:t>
              </a:r>
            </a:p>
          </p:txBody>
        </p:sp>
        <p:sp>
          <p:nvSpPr>
            <p:cNvPr id="88089" name="矩形 40"/>
            <p:cNvSpPr>
              <a:spLocks noChangeArrowheads="1"/>
            </p:cNvSpPr>
            <p:nvPr/>
          </p:nvSpPr>
          <p:spPr bwMode="auto">
            <a:xfrm>
              <a:off x="4317584" y="2249534"/>
              <a:ext cx="1667147" cy="495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高层管理者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2148684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503461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信息系统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1037233"/>
            <a:ext cx="703738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典型信息系统</a:t>
            </a:r>
          </a:p>
        </p:txBody>
      </p:sp>
      <p:grpSp>
        <p:nvGrpSpPr>
          <p:cNvPr id="89092" name="组合 24"/>
          <p:cNvGrpSpPr>
            <a:grpSpLocks/>
          </p:cNvGrpSpPr>
          <p:nvPr/>
        </p:nvGrpSpPr>
        <p:grpSpPr bwMode="auto">
          <a:xfrm>
            <a:off x="611188" y="1773238"/>
            <a:ext cx="8312150" cy="4313237"/>
            <a:chOff x="116505" y="2482425"/>
            <a:chExt cx="8312109" cy="3736885"/>
          </a:xfrm>
        </p:grpSpPr>
        <p:sp>
          <p:nvSpPr>
            <p:cNvPr id="89093" name="矩形 1"/>
            <p:cNvSpPr>
              <a:spLocks noChangeArrowheads="1"/>
            </p:cNvSpPr>
            <p:nvPr/>
          </p:nvSpPr>
          <p:spPr bwMode="auto">
            <a:xfrm>
              <a:off x="1736686" y="5409220"/>
              <a:ext cx="5130570" cy="810090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094" name="椭圆 2"/>
            <p:cNvSpPr>
              <a:spLocks noChangeArrowheads="1"/>
            </p:cNvSpPr>
            <p:nvPr/>
          </p:nvSpPr>
          <p:spPr bwMode="auto">
            <a:xfrm>
              <a:off x="2006715" y="5499230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订货处理</a:t>
              </a:r>
            </a:p>
          </p:txBody>
        </p:sp>
        <p:sp>
          <p:nvSpPr>
            <p:cNvPr id="89095" name="椭圆 6"/>
            <p:cNvSpPr>
              <a:spLocks noChangeArrowheads="1"/>
            </p:cNvSpPr>
            <p:nvPr/>
          </p:nvSpPr>
          <p:spPr bwMode="auto">
            <a:xfrm>
              <a:off x="3030787" y="5499230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生产控制</a:t>
              </a:r>
            </a:p>
          </p:txBody>
        </p:sp>
        <p:sp>
          <p:nvSpPr>
            <p:cNvPr id="89096" name="椭圆 7"/>
            <p:cNvSpPr>
              <a:spLocks noChangeArrowheads="1"/>
            </p:cNvSpPr>
            <p:nvPr/>
          </p:nvSpPr>
          <p:spPr bwMode="auto">
            <a:xfrm>
              <a:off x="4054859" y="5499230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物资发放</a:t>
              </a:r>
            </a:p>
          </p:txBody>
        </p:sp>
        <p:sp>
          <p:nvSpPr>
            <p:cNvPr id="89097" name="椭圆 8"/>
            <p:cNvSpPr>
              <a:spLocks noChangeArrowheads="1"/>
            </p:cNvSpPr>
            <p:nvPr/>
          </p:nvSpPr>
          <p:spPr bwMode="auto">
            <a:xfrm>
              <a:off x="4929309" y="5499230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工资发放</a:t>
              </a:r>
            </a:p>
          </p:txBody>
        </p:sp>
        <p:sp>
          <p:nvSpPr>
            <p:cNvPr id="89098" name="椭圆 9"/>
            <p:cNvSpPr>
              <a:spLocks noChangeArrowheads="1"/>
            </p:cNvSpPr>
            <p:nvPr/>
          </p:nvSpPr>
          <p:spPr bwMode="auto">
            <a:xfrm>
              <a:off x="5832001" y="5499230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开发训练</a:t>
              </a:r>
            </a:p>
          </p:txBody>
        </p:sp>
        <p:sp>
          <p:nvSpPr>
            <p:cNvPr id="89099" name="矩形 10"/>
            <p:cNvSpPr>
              <a:spLocks noChangeArrowheads="1"/>
            </p:cNvSpPr>
            <p:nvPr/>
          </p:nvSpPr>
          <p:spPr bwMode="auto">
            <a:xfrm>
              <a:off x="2276745" y="4425995"/>
              <a:ext cx="4087461" cy="810090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00" name="椭圆 11"/>
            <p:cNvSpPr>
              <a:spLocks noChangeArrowheads="1"/>
            </p:cNvSpPr>
            <p:nvPr/>
          </p:nvSpPr>
          <p:spPr bwMode="auto">
            <a:xfrm>
              <a:off x="2501770" y="4493502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公文管理</a:t>
              </a:r>
            </a:p>
          </p:txBody>
        </p:sp>
        <p:sp>
          <p:nvSpPr>
            <p:cNvPr id="89101" name="椭圆 12"/>
            <p:cNvSpPr>
              <a:spLocks noChangeArrowheads="1"/>
            </p:cNvSpPr>
            <p:nvPr/>
          </p:nvSpPr>
          <p:spPr bwMode="auto">
            <a:xfrm>
              <a:off x="3446875" y="4493502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工资管理</a:t>
              </a:r>
            </a:p>
          </p:txBody>
        </p:sp>
        <p:sp>
          <p:nvSpPr>
            <p:cNvPr id="89102" name="椭圆 13"/>
            <p:cNvSpPr>
              <a:spLocks noChangeArrowheads="1"/>
            </p:cNvSpPr>
            <p:nvPr/>
          </p:nvSpPr>
          <p:spPr bwMode="auto">
            <a:xfrm>
              <a:off x="4346975" y="4504677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档案管理</a:t>
              </a:r>
            </a:p>
          </p:txBody>
        </p:sp>
        <p:sp>
          <p:nvSpPr>
            <p:cNvPr id="89103" name="椭圆 14"/>
            <p:cNvSpPr>
              <a:spLocks noChangeArrowheads="1"/>
            </p:cNvSpPr>
            <p:nvPr/>
          </p:nvSpPr>
          <p:spPr bwMode="auto">
            <a:xfrm>
              <a:off x="5292080" y="4504677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电子日历</a:t>
              </a:r>
            </a:p>
          </p:txBody>
        </p:sp>
        <p:sp>
          <p:nvSpPr>
            <p:cNvPr id="89104" name="矩形 15"/>
            <p:cNvSpPr>
              <a:spLocks noChangeArrowheads="1"/>
            </p:cNvSpPr>
            <p:nvPr/>
          </p:nvSpPr>
          <p:spPr bwMode="auto">
            <a:xfrm>
              <a:off x="2861810" y="3453945"/>
              <a:ext cx="3015335" cy="810090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05" name="椭圆 16"/>
            <p:cNvSpPr>
              <a:spLocks noChangeArrowheads="1"/>
            </p:cNvSpPr>
            <p:nvPr/>
          </p:nvSpPr>
          <p:spPr bwMode="auto">
            <a:xfrm>
              <a:off x="3086835" y="3521452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成本定价</a:t>
              </a:r>
            </a:p>
          </p:txBody>
        </p:sp>
        <p:sp>
          <p:nvSpPr>
            <p:cNvPr id="89106" name="椭圆 17"/>
            <p:cNvSpPr>
              <a:spLocks noChangeArrowheads="1"/>
            </p:cNvSpPr>
            <p:nvPr/>
          </p:nvSpPr>
          <p:spPr bwMode="auto">
            <a:xfrm>
              <a:off x="4031940" y="3521452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人事管理</a:t>
              </a:r>
            </a:p>
          </p:txBody>
        </p:sp>
        <p:sp>
          <p:nvSpPr>
            <p:cNvPr id="89107" name="椭圆 18"/>
            <p:cNvSpPr>
              <a:spLocks noChangeArrowheads="1"/>
            </p:cNvSpPr>
            <p:nvPr/>
          </p:nvSpPr>
          <p:spPr bwMode="auto">
            <a:xfrm>
              <a:off x="4932040" y="3532627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投资分析</a:t>
              </a:r>
            </a:p>
          </p:txBody>
        </p:sp>
        <p:sp>
          <p:nvSpPr>
            <p:cNvPr id="89108" name="矩形 20"/>
            <p:cNvSpPr>
              <a:spLocks noChangeArrowheads="1"/>
            </p:cNvSpPr>
            <p:nvPr/>
          </p:nvSpPr>
          <p:spPr bwMode="auto">
            <a:xfrm>
              <a:off x="3356865" y="2482425"/>
              <a:ext cx="2070230" cy="810090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09" name="椭圆 21"/>
            <p:cNvSpPr>
              <a:spLocks noChangeArrowheads="1"/>
            </p:cNvSpPr>
            <p:nvPr/>
          </p:nvSpPr>
          <p:spPr bwMode="auto">
            <a:xfrm>
              <a:off x="3581889" y="2549932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市场预测</a:t>
              </a:r>
            </a:p>
          </p:txBody>
        </p:sp>
        <p:sp>
          <p:nvSpPr>
            <p:cNvPr id="89110" name="椭圆 22"/>
            <p:cNvSpPr>
              <a:spLocks noChangeArrowheads="1"/>
            </p:cNvSpPr>
            <p:nvPr/>
          </p:nvSpPr>
          <p:spPr bwMode="auto">
            <a:xfrm>
              <a:off x="4526994" y="2549932"/>
              <a:ext cx="765085" cy="67507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solidFill>
                    <a:srgbClr val="008000"/>
                  </a:solidFill>
                  <a:latin typeface="Times New Roman" panose="02020603050405020304" pitchFamily="18" charset="0"/>
                </a:rPr>
                <a:t>生产计划</a:t>
              </a:r>
            </a:p>
          </p:txBody>
        </p:sp>
        <p:sp>
          <p:nvSpPr>
            <p:cNvPr id="89111" name="矩形 4"/>
            <p:cNvSpPr>
              <a:spLocks noChangeArrowheads="1"/>
            </p:cNvSpPr>
            <p:nvPr/>
          </p:nvSpPr>
          <p:spPr bwMode="auto">
            <a:xfrm>
              <a:off x="116505" y="5618627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事务处理系统</a:t>
              </a:r>
            </a:p>
          </p:txBody>
        </p:sp>
        <p:sp>
          <p:nvSpPr>
            <p:cNvPr id="89112" name="矩形 25"/>
            <p:cNvSpPr>
              <a:spLocks noChangeArrowheads="1"/>
            </p:cNvSpPr>
            <p:nvPr/>
          </p:nvSpPr>
          <p:spPr bwMode="auto">
            <a:xfrm>
              <a:off x="457201" y="4770417"/>
              <a:ext cx="1819544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办公自动化系统</a:t>
              </a:r>
            </a:p>
          </p:txBody>
        </p:sp>
        <p:sp>
          <p:nvSpPr>
            <p:cNvPr id="89113" name="矩形 26"/>
            <p:cNvSpPr>
              <a:spLocks noChangeArrowheads="1"/>
            </p:cNvSpPr>
            <p:nvPr/>
          </p:nvSpPr>
          <p:spPr bwMode="auto">
            <a:xfrm>
              <a:off x="683334" y="4421062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知识工作系统</a:t>
              </a:r>
            </a:p>
          </p:txBody>
        </p:sp>
        <p:sp>
          <p:nvSpPr>
            <p:cNvPr id="89114" name="矩形 27"/>
            <p:cNvSpPr>
              <a:spLocks noChangeArrowheads="1"/>
            </p:cNvSpPr>
            <p:nvPr/>
          </p:nvSpPr>
          <p:spPr bwMode="auto">
            <a:xfrm>
              <a:off x="1165004" y="3850691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决策支持系统</a:t>
              </a:r>
            </a:p>
          </p:txBody>
        </p:sp>
        <p:sp>
          <p:nvSpPr>
            <p:cNvPr id="89115" name="矩形 28"/>
            <p:cNvSpPr>
              <a:spLocks noChangeArrowheads="1"/>
            </p:cNvSpPr>
            <p:nvPr/>
          </p:nvSpPr>
          <p:spPr bwMode="auto">
            <a:xfrm>
              <a:off x="1165004" y="3468149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管理信息系统</a:t>
              </a:r>
            </a:p>
          </p:txBody>
        </p:sp>
        <p:sp>
          <p:nvSpPr>
            <p:cNvPr id="89116" name="矩形 29"/>
            <p:cNvSpPr>
              <a:spLocks noChangeArrowheads="1"/>
            </p:cNvSpPr>
            <p:nvPr/>
          </p:nvSpPr>
          <p:spPr bwMode="auto">
            <a:xfrm>
              <a:off x="1729908" y="2692744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高层主管系统</a:t>
              </a:r>
            </a:p>
          </p:txBody>
        </p:sp>
        <p:sp>
          <p:nvSpPr>
            <p:cNvPr id="89117" name="矩形 30"/>
            <p:cNvSpPr>
              <a:spLocks noChangeArrowheads="1"/>
            </p:cNvSpPr>
            <p:nvPr/>
          </p:nvSpPr>
          <p:spPr bwMode="auto">
            <a:xfrm>
              <a:off x="5183835" y="2668876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战略层系统</a:t>
              </a:r>
            </a:p>
          </p:txBody>
        </p:sp>
        <p:sp>
          <p:nvSpPr>
            <p:cNvPr id="89118" name="矩形 31"/>
            <p:cNvSpPr>
              <a:spLocks noChangeArrowheads="1"/>
            </p:cNvSpPr>
            <p:nvPr/>
          </p:nvSpPr>
          <p:spPr bwMode="auto">
            <a:xfrm>
              <a:off x="6149499" y="4628871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知识层系统</a:t>
              </a:r>
            </a:p>
          </p:txBody>
        </p:sp>
        <p:sp>
          <p:nvSpPr>
            <p:cNvPr id="89119" name="矩形 32"/>
            <p:cNvSpPr>
              <a:spLocks noChangeArrowheads="1"/>
            </p:cNvSpPr>
            <p:nvPr/>
          </p:nvSpPr>
          <p:spPr bwMode="auto">
            <a:xfrm>
              <a:off x="5663142" y="3688683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管理层系统</a:t>
              </a:r>
            </a:p>
          </p:txBody>
        </p:sp>
        <p:sp>
          <p:nvSpPr>
            <p:cNvPr id="89120" name="矩形 33"/>
            <p:cNvSpPr>
              <a:spLocks noChangeArrowheads="1"/>
            </p:cNvSpPr>
            <p:nvPr/>
          </p:nvSpPr>
          <p:spPr bwMode="auto">
            <a:xfrm>
              <a:off x="6745193" y="5625086"/>
              <a:ext cx="1683421" cy="46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172CF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操作层系统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571702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476200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信息系统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4213" y="1027063"/>
            <a:ext cx="7035800" cy="66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典型信息系统</a:t>
            </a:r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712788" y="1773188"/>
            <a:ext cx="8107362" cy="4536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数据处理系统（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DPS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）或事务处理系统（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Processing system, TPS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一种结构化程度高、处理步骤固定的系统。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管理信息系统（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Information System, MIS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人机结合的对信息进行收集、传递、存储、加工、维护和使用的系统。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决策支持系统（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System, DSS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在人机交互过程中帮助决策者探索可能方案、生成决策所需信息的系统。</a:t>
            </a:r>
            <a:endParaRPr lang="en-US" altLang="zh-CN" sz="1800" b="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专家系统（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Systems, ES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人工智能实用化后的结果。模仿人脑进行推理、学习等思维活动的系统，处理的信息是“知识”。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办公自动化系统（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Automation System, OAS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18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由人机组成，提供办公所需功能（办文、办会、办事），取代传统办公手段的信息系统。</a:t>
            </a:r>
            <a:endParaRPr lang="zh-CN" altLang="en-US" sz="1800" b="0" kern="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9922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19336"/>
            <a:ext cx="8382000" cy="533400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信息系统的发展阶段</a:t>
            </a: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71525" y="1052736"/>
            <a:ext cx="7775575" cy="309721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</a:rPr>
              <a:t>数据管理阶段：</a:t>
            </a:r>
            <a:r>
              <a:rPr lang="zh-CN" altLang="en-US" sz="1800" dirty="0">
                <a:latin typeface="宋体" panose="02010600030101010101" pitchFamily="2" charset="-122"/>
              </a:rPr>
              <a:t>信息技术应用的特点表现在计算机被当作打印机、笔记本，只是简单的事后记录数据。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</a:rPr>
              <a:t>信息管理阶段：</a:t>
            </a:r>
            <a:r>
              <a:rPr lang="zh-CN" altLang="en-US" sz="1800" dirty="0">
                <a:latin typeface="宋体" panose="02010600030101010101" pitchFamily="2" charset="-122"/>
              </a:rPr>
              <a:t>信息系统的作用主要在于对信息的组织和利用，侧重于信息的搜索、分析、整理与传递，企业业务流程控制等方面。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</a:rPr>
              <a:t>知识管理阶段：</a:t>
            </a:r>
            <a:r>
              <a:rPr lang="zh-CN" altLang="en-US" sz="1800" dirty="0">
                <a:latin typeface="宋体" panose="02010600030101010101" pitchFamily="2" charset="-122"/>
              </a:rPr>
              <a:t>则是对包括信息在内的所有智力资本进行综合决策并实施管理，</a:t>
            </a:r>
            <a:r>
              <a:rPr lang="zh-CN" altLang="en-US" sz="1800" b="1" dirty="0">
                <a:latin typeface="宋体" panose="02010600030101010101" pitchFamily="2" charset="-122"/>
              </a:rPr>
              <a:t>它的核心是强调知识创新</a:t>
            </a:r>
            <a:r>
              <a:rPr lang="zh-CN" altLang="en-US" sz="1800" dirty="0">
                <a:latin typeface="宋体" panose="02010600030101010101" pitchFamily="2" charset="-122"/>
              </a:rPr>
              <a:t>。知识管理阶段是信息管理阶段在深度和广度上的进一步深化和拓展</a:t>
            </a:r>
          </a:p>
        </p:txBody>
      </p:sp>
      <p:graphicFrame>
        <p:nvGraphicFramePr>
          <p:cNvPr id="91140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1409756"/>
              </p:ext>
            </p:extLst>
          </p:nvPr>
        </p:nvGraphicFramePr>
        <p:xfrm>
          <a:off x="1042988" y="4154711"/>
          <a:ext cx="7364412" cy="261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3" name="图片" r:id="rId3" imgW="4922598" imgH="1379177" progId="Word.Picture.8">
                  <p:embed/>
                </p:oleObj>
              </mc:Choice>
              <mc:Fallback>
                <p:oleObj name="图片" r:id="rId3" imgW="4922598" imgH="1379177" progId="Word.Picture.8">
                  <p:embed/>
                  <p:pic>
                    <p:nvPicPr>
                      <p:cNvPr id="9114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154711"/>
                        <a:ext cx="7364412" cy="261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8202683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476672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信息集成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2788" y="1989560"/>
            <a:ext cx="7920037" cy="35274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信息集成是面向某一集成背景和集成需求，将无序的信息掌控，通过信息技术手段将其整理、组织、融合成有序的信息掌控。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信息集成就是针对分散、异构的数据，通过一步步的加工（集成），最终在角色化、个性化的界面上支持业务应用的过程。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1110085"/>
            <a:ext cx="703738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信息集成的基本概念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3987103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471636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信息集成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63600" y="1319361"/>
            <a:ext cx="470693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kern="0" dirty="0">
                <a:latin typeface="Times New Roman" panose="02020603050405020304" pitchFamily="18" charset="0"/>
              </a:rPr>
              <a:t>信息集成的层次结构：</a:t>
            </a:r>
            <a:endParaRPr lang="en-US" altLang="zh-CN" sz="2400" kern="0" dirty="0">
              <a:latin typeface="Times New Roman" panose="02020603050405020304" pitchFamily="18" charset="0"/>
            </a:endParaRPr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181100" y="2204814"/>
            <a:ext cx="6329363" cy="3600450"/>
            <a:chOff x="42" y="1933"/>
            <a:chExt cx="3999" cy="2183"/>
          </a:xfrm>
        </p:grpSpPr>
        <p:sp>
          <p:nvSpPr>
            <p:cNvPr id="93191" name="AutoShape 4"/>
            <p:cNvSpPr>
              <a:spLocks noChangeArrowheads="1"/>
            </p:cNvSpPr>
            <p:nvPr/>
          </p:nvSpPr>
          <p:spPr bwMode="auto">
            <a:xfrm>
              <a:off x="1463" y="1933"/>
              <a:ext cx="2182" cy="1871"/>
            </a:xfrm>
            <a:prstGeom prst="triangle">
              <a:avLst>
                <a:gd name="adj" fmla="val 50000"/>
              </a:avLst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192" name="Line 5"/>
            <p:cNvSpPr>
              <a:spLocks noChangeShapeType="1"/>
            </p:cNvSpPr>
            <p:nvPr/>
          </p:nvSpPr>
          <p:spPr bwMode="auto">
            <a:xfrm>
              <a:off x="1661" y="3464"/>
              <a:ext cx="17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3" name="Line 6"/>
            <p:cNvSpPr>
              <a:spLocks noChangeShapeType="1"/>
            </p:cNvSpPr>
            <p:nvPr/>
          </p:nvSpPr>
          <p:spPr bwMode="auto">
            <a:xfrm>
              <a:off x="1859" y="3124"/>
              <a:ext cx="13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4" name="Line 7"/>
            <p:cNvSpPr>
              <a:spLocks noChangeShapeType="1"/>
            </p:cNvSpPr>
            <p:nvPr/>
          </p:nvSpPr>
          <p:spPr bwMode="auto">
            <a:xfrm>
              <a:off x="2058" y="2755"/>
              <a:ext cx="9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5" name="Rectangle 8"/>
            <p:cNvSpPr>
              <a:spLocks noChangeArrowheads="1"/>
            </p:cNvSpPr>
            <p:nvPr/>
          </p:nvSpPr>
          <p:spPr bwMode="auto">
            <a:xfrm>
              <a:off x="1689" y="3521"/>
              <a:ext cx="1673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</a:rPr>
                <a:t>数据共享、描述统一</a:t>
              </a:r>
            </a:p>
          </p:txBody>
        </p:sp>
        <p:sp>
          <p:nvSpPr>
            <p:cNvPr id="93196" name="Rectangle 9"/>
            <p:cNvSpPr>
              <a:spLocks noChangeArrowheads="1"/>
            </p:cNvSpPr>
            <p:nvPr/>
          </p:nvSpPr>
          <p:spPr bwMode="auto">
            <a:xfrm>
              <a:off x="1718" y="3181"/>
              <a:ext cx="1673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语义一致、语义互操作</a:t>
              </a:r>
            </a:p>
          </p:txBody>
        </p:sp>
        <p:sp>
          <p:nvSpPr>
            <p:cNvPr id="93197" name="Rectangle 10"/>
            <p:cNvSpPr>
              <a:spLocks noChangeArrowheads="1"/>
            </p:cNvSpPr>
            <p:nvPr/>
          </p:nvSpPr>
          <p:spPr bwMode="auto">
            <a:xfrm>
              <a:off x="1973" y="2840"/>
              <a:ext cx="1134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语义级控制管理</a:t>
              </a:r>
            </a:p>
          </p:txBody>
        </p:sp>
        <p:sp>
          <p:nvSpPr>
            <p:cNvPr id="93198" name="Rectangle 11"/>
            <p:cNvSpPr>
              <a:spLocks noChangeArrowheads="1"/>
            </p:cNvSpPr>
            <p:nvPr/>
          </p:nvSpPr>
          <p:spPr bwMode="auto">
            <a:xfrm>
              <a:off x="2200" y="2301"/>
              <a:ext cx="65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个性化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角色化</a:t>
              </a:r>
            </a:p>
          </p:txBody>
        </p:sp>
        <p:sp>
          <p:nvSpPr>
            <p:cNvPr id="93199" name="AutoShape 13"/>
            <p:cNvSpPr>
              <a:spLocks noChangeArrowheads="1"/>
            </p:cNvSpPr>
            <p:nvPr/>
          </p:nvSpPr>
          <p:spPr bwMode="auto">
            <a:xfrm>
              <a:off x="1661" y="3833"/>
              <a:ext cx="255" cy="283"/>
            </a:xfrm>
            <a:prstGeom prst="can">
              <a:avLst>
                <a:gd name="adj" fmla="val 27745"/>
              </a:avLst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200" name="AutoShape 14"/>
            <p:cNvSpPr>
              <a:spLocks noChangeArrowheads="1"/>
            </p:cNvSpPr>
            <p:nvPr/>
          </p:nvSpPr>
          <p:spPr bwMode="auto">
            <a:xfrm>
              <a:off x="2171" y="3833"/>
              <a:ext cx="255" cy="283"/>
            </a:xfrm>
            <a:prstGeom prst="can">
              <a:avLst>
                <a:gd name="adj" fmla="val 27745"/>
              </a:avLst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201" name="AutoShape 15"/>
            <p:cNvSpPr>
              <a:spLocks noChangeArrowheads="1"/>
            </p:cNvSpPr>
            <p:nvPr/>
          </p:nvSpPr>
          <p:spPr bwMode="auto">
            <a:xfrm>
              <a:off x="2681" y="3833"/>
              <a:ext cx="255" cy="283"/>
            </a:xfrm>
            <a:prstGeom prst="can">
              <a:avLst>
                <a:gd name="adj" fmla="val 27745"/>
              </a:avLst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202" name="AutoShape 16"/>
            <p:cNvSpPr>
              <a:spLocks noChangeArrowheads="1"/>
            </p:cNvSpPr>
            <p:nvPr/>
          </p:nvSpPr>
          <p:spPr bwMode="auto">
            <a:xfrm>
              <a:off x="3192" y="3833"/>
              <a:ext cx="255" cy="283"/>
            </a:xfrm>
            <a:prstGeom prst="can">
              <a:avLst>
                <a:gd name="adj" fmla="val 27745"/>
              </a:avLst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203" name="Rectangle 17"/>
            <p:cNvSpPr>
              <a:spLocks noChangeArrowheads="1"/>
            </p:cNvSpPr>
            <p:nvPr/>
          </p:nvSpPr>
          <p:spPr bwMode="auto">
            <a:xfrm>
              <a:off x="215" y="3833"/>
              <a:ext cx="1077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分散、异构数据</a:t>
              </a:r>
            </a:p>
          </p:txBody>
        </p:sp>
        <p:sp>
          <p:nvSpPr>
            <p:cNvPr id="93204" name="Rectangle 18"/>
            <p:cNvSpPr>
              <a:spLocks noChangeArrowheads="1"/>
            </p:cNvSpPr>
            <p:nvPr/>
          </p:nvSpPr>
          <p:spPr bwMode="auto">
            <a:xfrm>
              <a:off x="215" y="3493"/>
              <a:ext cx="1049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数据流集成</a:t>
              </a:r>
            </a:p>
          </p:txBody>
        </p:sp>
        <p:sp>
          <p:nvSpPr>
            <p:cNvPr id="93205" name="Rectangle 19"/>
            <p:cNvSpPr>
              <a:spLocks noChangeArrowheads="1"/>
            </p:cNvSpPr>
            <p:nvPr/>
          </p:nvSpPr>
          <p:spPr bwMode="auto">
            <a:xfrm>
              <a:off x="215" y="2416"/>
              <a:ext cx="1049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信息服务集成</a:t>
              </a:r>
            </a:p>
          </p:txBody>
        </p:sp>
        <p:sp>
          <p:nvSpPr>
            <p:cNvPr id="93206" name="Rectangle 20"/>
            <p:cNvSpPr>
              <a:spLocks noChangeArrowheads="1"/>
            </p:cNvSpPr>
            <p:nvPr/>
          </p:nvSpPr>
          <p:spPr bwMode="auto">
            <a:xfrm>
              <a:off x="215" y="2784"/>
              <a:ext cx="1049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信息管理集成</a:t>
              </a:r>
            </a:p>
          </p:txBody>
        </p:sp>
        <p:sp>
          <p:nvSpPr>
            <p:cNvPr id="93207" name="Rectangle 21"/>
            <p:cNvSpPr>
              <a:spLocks noChangeArrowheads="1"/>
            </p:cNvSpPr>
            <p:nvPr/>
          </p:nvSpPr>
          <p:spPr bwMode="auto">
            <a:xfrm>
              <a:off x="215" y="3124"/>
              <a:ext cx="1049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信息流集成</a:t>
              </a:r>
            </a:p>
          </p:txBody>
        </p:sp>
        <p:sp>
          <p:nvSpPr>
            <p:cNvPr id="93208" name="Line 22"/>
            <p:cNvSpPr>
              <a:spLocks noChangeShapeType="1"/>
            </p:cNvSpPr>
            <p:nvPr/>
          </p:nvSpPr>
          <p:spPr bwMode="auto">
            <a:xfrm flipH="1">
              <a:off x="215" y="380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9" name="Line 23"/>
            <p:cNvSpPr>
              <a:spLocks noChangeShapeType="1"/>
            </p:cNvSpPr>
            <p:nvPr/>
          </p:nvSpPr>
          <p:spPr bwMode="auto">
            <a:xfrm flipH="1">
              <a:off x="187" y="3464"/>
              <a:ext cx="14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0" name="Line 24"/>
            <p:cNvSpPr>
              <a:spLocks noChangeShapeType="1"/>
            </p:cNvSpPr>
            <p:nvPr/>
          </p:nvSpPr>
          <p:spPr bwMode="auto">
            <a:xfrm flipH="1">
              <a:off x="215" y="3124"/>
              <a:ext cx="1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1" name="Line 25"/>
            <p:cNvSpPr>
              <a:spLocks noChangeShapeType="1"/>
            </p:cNvSpPr>
            <p:nvPr/>
          </p:nvSpPr>
          <p:spPr bwMode="auto">
            <a:xfrm flipH="1">
              <a:off x="215" y="2755"/>
              <a:ext cx="18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2" name="Line 26"/>
            <p:cNvSpPr>
              <a:spLocks noChangeShapeType="1"/>
            </p:cNvSpPr>
            <p:nvPr/>
          </p:nvSpPr>
          <p:spPr bwMode="auto">
            <a:xfrm flipH="1" flipV="1">
              <a:off x="42" y="2451"/>
              <a:ext cx="26" cy="1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3" name="Rectangle 27"/>
            <p:cNvSpPr>
              <a:spLocks noChangeArrowheads="1"/>
            </p:cNvSpPr>
            <p:nvPr/>
          </p:nvSpPr>
          <p:spPr bwMode="auto">
            <a:xfrm>
              <a:off x="3814" y="2216"/>
              <a:ext cx="227" cy="1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集成层次从低到高</a:t>
              </a:r>
            </a:p>
          </p:txBody>
        </p:sp>
      </p:grpSp>
      <p:sp>
        <p:nvSpPr>
          <p:cNvPr id="93189" name="上箭头 2"/>
          <p:cNvSpPr>
            <a:spLocks noChangeArrowheads="1"/>
          </p:cNvSpPr>
          <p:nvPr/>
        </p:nvSpPr>
        <p:spPr bwMode="auto">
          <a:xfrm>
            <a:off x="1266825" y="3235102"/>
            <a:ext cx="142875" cy="1495425"/>
          </a:xfrm>
          <a:prstGeom prst="upArrow">
            <a:avLst>
              <a:gd name="adj1" fmla="val 50000"/>
              <a:gd name="adj2" fmla="val 50395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en-US" sz="2400"/>
          </a:p>
        </p:txBody>
      </p:sp>
      <p:sp>
        <p:nvSpPr>
          <p:cNvPr id="93190" name="上箭头 4"/>
          <p:cNvSpPr>
            <a:spLocks noChangeArrowheads="1"/>
          </p:cNvSpPr>
          <p:nvPr/>
        </p:nvSpPr>
        <p:spPr bwMode="auto">
          <a:xfrm>
            <a:off x="911225" y="3700239"/>
            <a:ext cx="269875" cy="1168400"/>
          </a:xfrm>
          <a:prstGeom prst="upArrow">
            <a:avLst>
              <a:gd name="adj1" fmla="val 50000"/>
              <a:gd name="adj2" fmla="val 49868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en-US" sz="2400"/>
          </a:p>
        </p:txBody>
      </p:sp>
      <p:sp>
        <p:nvSpPr>
          <p:cNvPr id="30" name="动作按钮: 前进或下一项 29">
            <a:hlinkClick r:id="rId2" action="ppaction://hlinksldjump" highlightClick="1"/>
          </p:cNvPr>
          <p:cNvSpPr/>
          <p:nvPr/>
        </p:nvSpPr>
        <p:spPr>
          <a:xfrm>
            <a:off x="8100392" y="6093296"/>
            <a:ext cx="864096" cy="647526"/>
          </a:xfrm>
          <a:prstGeom prst="actionButtonForwardNext">
            <a:avLst/>
          </a:prstGeom>
          <a:solidFill>
            <a:srgbClr val="CC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4194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857797"/>
            <a:ext cx="7921625" cy="460851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数据传输层面：在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Intranet/Internet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网络互联互通的基础条件下，实现异构硬件和系统软件之间的数据流畅通。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数据管理层面：合并冗余数据、保证数据一致性、实现数据的有效共享，即实现 “看得见、拿得到、用得了”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看得见：在不同点之间数据相互可达（机制）。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拿得到：能按约定的权限提供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获得数据。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用得了：数据（格式）是接收方所能理解和接受的，无冗余、一致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1110085"/>
            <a:ext cx="703738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/>
              <a:t>数据流集成</a:t>
            </a:r>
            <a:endParaRPr lang="zh-CN" altLang="en-US" sz="2400" kern="0" dirty="0">
              <a:latin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471636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信息集成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232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503461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信息集成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425575"/>
            <a:ext cx="7921625" cy="481171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信息流集成的必要性：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数据本身没有含义，在特定语义环境中才能成为信息。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信息语义可以通过程序代码来限制，实现数据流到信息流的转换，但不利于系统的扩展。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将信息流集成独立出来，可提高系统的柔性。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信息流集成：根据领域内的行为逻辑和知识特点，提炼出领域内进行信息操纵的统一描述（元数据），并施加于数据流上，作为信息操纵的依据。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元数据：数据的数据，即领域内使用的术语、传递的信息及含义等的一致（没有二义性）的描述。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893217"/>
            <a:ext cx="703738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/>
              <a:t>信息流集成</a:t>
            </a:r>
            <a:endParaRPr lang="zh-CN" altLang="en-US" sz="2400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5998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503461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信息集成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641623"/>
            <a:ext cx="7921625" cy="481171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信息管理：对信息流进行有效管理和控制，保证信息流的目的性、有序性、时效性、可靠性。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信息管理集成：信息管理规章制度建立及实施；管理软件的开发和投入使用。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信息管理规章制度：对信息资源使用的政策、法规、规范、标准等。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管理软件：依据信息管理规章制度，将业务活动中的信息操纵逻辑提炼为信息操纵算法，并开发出实现数据操纵算法的软件系统。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893217"/>
            <a:ext cx="703738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/>
              <a:t>信息管理集成</a:t>
            </a:r>
            <a:endParaRPr lang="zh-CN" altLang="en-US" sz="2400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433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5157" y="476349"/>
            <a:ext cx="7913687" cy="549275"/>
          </a:xfrm>
        </p:spPr>
        <p:txBody>
          <a:bodyPr/>
          <a:lstStyle/>
          <a:p>
            <a:pPr algn="ctr" eaLnBrk="1" hangingPunct="1"/>
            <a:r>
              <a:rPr kumimoji="0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信息集成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2788" y="1746349"/>
            <a:ext cx="8204200" cy="36988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信息服务：为各种各样的信息使用者提供合适的信息。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信息服务集成：抽象出接受信息服务的角色，然后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按角色确定可提供的信息（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What)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并授权；</a:t>
            </a:r>
          </a:p>
          <a:p>
            <a:pPr lvl="2" algn="just" eaLnBrk="1" hangingPunct="1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以人为本的信息组织、表达和展现，为使用者营造个体的信息空间（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集成后的系统应成为使用者的智能助手，把使用者从一些不重要的工作中解脱出来，或使使用者把主要精力集中到解决更重要的问题上。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2788" y="1197074"/>
            <a:ext cx="703738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/>
              <a:t>信息服务集成</a:t>
            </a:r>
            <a:endParaRPr lang="zh-CN" altLang="en-US" sz="2400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114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5928"/>
            <a:ext cx="7913687" cy="549275"/>
          </a:xfrm>
        </p:spPr>
        <p:txBody>
          <a:bodyPr/>
          <a:lstStyle/>
          <a:p>
            <a:pPr eaLnBrk="1" hangingPunct="1"/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8308" name="矩形 1"/>
          <p:cNvSpPr>
            <a:spLocks noChangeArrowheads="1"/>
          </p:cNvSpPr>
          <p:nvPr/>
        </p:nvSpPr>
        <p:spPr bwMode="auto">
          <a:xfrm>
            <a:off x="755576" y="1555799"/>
            <a:ext cx="741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latin typeface="Times New Roman" panose="02020603050405020304" pitchFamily="18" charset="0"/>
              </a:rPr>
              <a:t>引例：企业生产经营过程</a:t>
            </a:r>
            <a:endParaRPr lang="zh-CN" altLang="en-US" dirty="0"/>
          </a:p>
        </p:txBody>
      </p:sp>
      <p:grpSp>
        <p:nvGrpSpPr>
          <p:cNvPr id="23" name="Group 4"/>
          <p:cNvGrpSpPr>
            <a:grpSpLocks/>
          </p:cNvGrpSpPr>
          <p:nvPr/>
        </p:nvGrpSpPr>
        <p:grpSpPr bwMode="auto">
          <a:xfrm>
            <a:off x="1835696" y="2419895"/>
            <a:ext cx="5400675" cy="2881313"/>
            <a:chOff x="2381" y="2205"/>
            <a:chExt cx="1944" cy="915"/>
          </a:xfrm>
        </p:grpSpPr>
        <p:sp>
          <p:nvSpPr>
            <p:cNvPr id="24" name="Text Box 5"/>
            <p:cNvSpPr txBox="1">
              <a:spLocks noChangeArrowheads="1"/>
            </p:cNvSpPr>
            <p:nvPr/>
          </p:nvSpPr>
          <p:spPr bwMode="auto">
            <a:xfrm>
              <a:off x="3635" y="2976"/>
              <a:ext cx="69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1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制造</a:t>
              </a:r>
              <a:endParaRPr lang="zh-CN" altLang="en-US" sz="2000" b="1">
                <a:solidFill>
                  <a:srgbClr val="0066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Text Box 6"/>
            <p:cNvSpPr txBox="1">
              <a:spLocks noChangeArrowheads="1"/>
            </p:cNvSpPr>
            <p:nvPr/>
          </p:nvSpPr>
          <p:spPr bwMode="auto">
            <a:xfrm>
              <a:off x="3635" y="2659"/>
              <a:ext cx="69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设计</a:t>
              </a:r>
              <a:endParaRPr lang="en-US" altLang="zh-CN" sz="2000" b="1" dirty="0">
                <a:solidFill>
                  <a:srgbClr val="0066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Text Box 7"/>
            <p:cNvSpPr txBox="1">
              <a:spLocks noChangeArrowheads="1"/>
            </p:cNvSpPr>
            <p:nvPr/>
          </p:nvSpPr>
          <p:spPr bwMode="auto">
            <a:xfrm>
              <a:off x="3635" y="2315"/>
              <a:ext cx="62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经营管理</a:t>
              </a:r>
            </a:p>
            <a:p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27" name="Text Box 8"/>
            <p:cNvSpPr txBox="1">
              <a:spLocks noChangeArrowheads="1"/>
            </p:cNvSpPr>
            <p:nvPr/>
          </p:nvSpPr>
          <p:spPr bwMode="auto">
            <a:xfrm>
              <a:off x="2381" y="2205"/>
              <a:ext cx="376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采购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2757" y="2205"/>
              <a:ext cx="314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计划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9" name="Text Box 10"/>
            <p:cNvSpPr txBox="1">
              <a:spLocks noChangeArrowheads="1"/>
            </p:cNvSpPr>
            <p:nvPr/>
          </p:nvSpPr>
          <p:spPr bwMode="auto">
            <a:xfrm>
              <a:off x="3071" y="2205"/>
              <a:ext cx="439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销售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2381" y="2349"/>
              <a:ext cx="376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库存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31" name="Text Box 12"/>
            <p:cNvSpPr txBox="1">
              <a:spLocks noChangeArrowheads="1"/>
            </p:cNvSpPr>
            <p:nvPr/>
          </p:nvSpPr>
          <p:spPr bwMode="auto">
            <a:xfrm>
              <a:off x="2757" y="2349"/>
              <a:ext cx="314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财务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32" name="Text Box 13"/>
            <p:cNvSpPr txBox="1">
              <a:spLocks noChangeArrowheads="1"/>
            </p:cNvSpPr>
            <p:nvPr/>
          </p:nvSpPr>
          <p:spPr bwMode="auto">
            <a:xfrm>
              <a:off x="3071" y="2349"/>
              <a:ext cx="439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人力资源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33" name="Text Box 14"/>
            <p:cNvSpPr txBox="1">
              <a:spLocks noChangeArrowheads="1"/>
            </p:cNvSpPr>
            <p:nvPr/>
          </p:nvSpPr>
          <p:spPr bwMode="auto">
            <a:xfrm>
              <a:off x="2945" y="2651"/>
              <a:ext cx="565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工艺设计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2381" y="2651"/>
              <a:ext cx="564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产品设计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2381" y="2969"/>
              <a:ext cx="564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零件加工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36" name="Text Box 17"/>
            <p:cNvSpPr txBox="1">
              <a:spLocks noChangeArrowheads="1"/>
            </p:cNvSpPr>
            <p:nvPr/>
          </p:nvSpPr>
          <p:spPr bwMode="auto">
            <a:xfrm>
              <a:off x="2945" y="2969"/>
              <a:ext cx="565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产品装配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37" name="Rectangle 18"/>
            <p:cNvSpPr>
              <a:spLocks noChangeArrowheads="1"/>
            </p:cNvSpPr>
            <p:nvPr/>
          </p:nvSpPr>
          <p:spPr bwMode="auto">
            <a:xfrm>
              <a:off x="2381" y="2205"/>
              <a:ext cx="1881" cy="90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8" name="Line 19"/>
            <p:cNvSpPr>
              <a:spLocks noChangeShapeType="1"/>
            </p:cNvSpPr>
            <p:nvPr/>
          </p:nvSpPr>
          <p:spPr bwMode="auto">
            <a:xfrm>
              <a:off x="2381" y="2555"/>
              <a:ext cx="188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9" name="Line 20"/>
            <p:cNvSpPr>
              <a:spLocks noChangeShapeType="1"/>
            </p:cNvSpPr>
            <p:nvPr/>
          </p:nvSpPr>
          <p:spPr bwMode="auto">
            <a:xfrm>
              <a:off x="2381" y="2886"/>
              <a:ext cx="188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4141424449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4"/>
          <p:cNvGrpSpPr>
            <a:grpSpLocks/>
          </p:cNvGrpSpPr>
          <p:nvPr/>
        </p:nvGrpSpPr>
        <p:grpSpPr bwMode="auto">
          <a:xfrm>
            <a:off x="685800" y="981696"/>
            <a:ext cx="8458200" cy="2057400"/>
            <a:chOff x="192" y="1632"/>
            <a:chExt cx="5185" cy="1235"/>
          </a:xfrm>
        </p:grpSpPr>
        <p:grpSp>
          <p:nvGrpSpPr>
            <p:cNvPr id="41" name="Group 5"/>
            <p:cNvGrpSpPr>
              <a:grpSpLocks/>
            </p:cNvGrpSpPr>
            <p:nvPr/>
          </p:nvGrpSpPr>
          <p:grpSpPr bwMode="auto">
            <a:xfrm>
              <a:off x="915" y="2352"/>
              <a:ext cx="1921" cy="515"/>
              <a:chOff x="915" y="2352"/>
              <a:chExt cx="1921" cy="515"/>
            </a:xfrm>
          </p:grpSpPr>
          <p:grpSp>
            <p:nvGrpSpPr>
              <p:cNvPr id="435" name="Group 6"/>
              <p:cNvGrpSpPr>
                <a:grpSpLocks/>
              </p:cNvGrpSpPr>
              <p:nvPr/>
            </p:nvGrpSpPr>
            <p:grpSpPr bwMode="auto">
              <a:xfrm>
                <a:off x="915" y="2357"/>
                <a:ext cx="1921" cy="510"/>
                <a:chOff x="915" y="2357"/>
                <a:chExt cx="1921" cy="510"/>
              </a:xfrm>
            </p:grpSpPr>
            <p:grpSp>
              <p:nvGrpSpPr>
                <p:cNvPr id="462" name="Group 7"/>
                <p:cNvGrpSpPr>
                  <a:grpSpLocks/>
                </p:cNvGrpSpPr>
                <p:nvPr/>
              </p:nvGrpSpPr>
              <p:grpSpPr bwMode="auto">
                <a:xfrm>
                  <a:off x="915" y="2357"/>
                  <a:ext cx="1921" cy="510"/>
                  <a:chOff x="915" y="2357"/>
                  <a:chExt cx="1921" cy="510"/>
                </a:xfrm>
              </p:grpSpPr>
              <p:sp>
                <p:nvSpPr>
                  <p:cNvPr id="477" name="Freeform 8"/>
                  <p:cNvSpPr>
                    <a:spLocks/>
                  </p:cNvSpPr>
                  <p:nvPr/>
                </p:nvSpPr>
                <p:spPr bwMode="auto">
                  <a:xfrm>
                    <a:off x="915" y="2357"/>
                    <a:ext cx="1921" cy="152"/>
                  </a:xfrm>
                  <a:custGeom>
                    <a:avLst/>
                    <a:gdLst>
                      <a:gd name="T0" fmla="*/ 0 w 3843"/>
                      <a:gd name="T1" fmla="*/ 303 h 304"/>
                      <a:gd name="T2" fmla="*/ 0 w 3843"/>
                      <a:gd name="T3" fmla="*/ 134 h 304"/>
                      <a:gd name="T4" fmla="*/ 126 w 3843"/>
                      <a:gd name="T5" fmla="*/ 115 h 304"/>
                      <a:gd name="T6" fmla="*/ 238 w 3843"/>
                      <a:gd name="T7" fmla="*/ 57 h 304"/>
                      <a:gd name="T8" fmla="*/ 529 w 3843"/>
                      <a:gd name="T9" fmla="*/ 104 h 304"/>
                      <a:gd name="T10" fmla="*/ 710 w 3843"/>
                      <a:gd name="T11" fmla="*/ 0 h 304"/>
                      <a:gd name="T12" fmla="*/ 848 w 3843"/>
                      <a:gd name="T13" fmla="*/ 58 h 304"/>
                      <a:gd name="T14" fmla="*/ 904 w 3843"/>
                      <a:gd name="T15" fmla="*/ 77 h 304"/>
                      <a:gd name="T16" fmla="*/ 1033 w 3843"/>
                      <a:gd name="T17" fmla="*/ 118 h 304"/>
                      <a:gd name="T18" fmla="*/ 1156 w 3843"/>
                      <a:gd name="T19" fmla="*/ 98 h 304"/>
                      <a:gd name="T20" fmla="*/ 1359 w 3843"/>
                      <a:gd name="T21" fmla="*/ 199 h 304"/>
                      <a:gd name="T22" fmla="*/ 1491 w 3843"/>
                      <a:gd name="T23" fmla="*/ 126 h 304"/>
                      <a:gd name="T24" fmla="*/ 1629 w 3843"/>
                      <a:gd name="T25" fmla="*/ 200 h 304"/>
                      <a:gd name="T26" fmla="*/ 1825 w 3843"/>
                      <a:gd name="T27" fmla="*/ 66 h 304"/>
                      <a:gd name="T28" fmla="*/ 1913 w 3843"/>
                      <a:gd name="T29" fmla="*/ 178 h 304"/>
                      <a:gd name="T30" fmla="*/ 2142 w 3843"/>
                      <a:gd name="T31" fmla="*/ 102 h 304"/>
                      <a:gd name="T32" fmla="*/ 2173 w 3843"/>
                      <a:gd name="T33" fmla="*/ 214 h 304"/>
                      <a:gd name="T34" fmla="*/ 2353 w 3843"/>
                      <a:gd name="T35" fmla="*/ 80 h 304"/>
                      <a:gd name="T36" fmla="*/ 2578 w 3843"/>
                      <a:gd name="T37" fmla="*/ 153 h 304"/>
                      <a:gd name="T38" fmla="*/ 2716 w 3843"/>
                      <a:gd name="T39" fmla="*/ 75 h 304"/>
                      <a:gd name="T40" fmla="*/ 2807 w 3843"/>
                      <a:gd name="T41" fmla="*/ 75 h 304"/>
                      <a:gd name="T42" fmla="*/ 2952 w 3843"/>
                      <a:gd name="T43" fmla="*/ 134 h 304"/>
                      <a:gd name="T44" fmla="*/ 3153 w 3843"/>
                      <a:gd name="T45" fmla="*/ 40 h 304"/>
                      <a:gd name="T46" fmla="*/ 3441 w 3843"/>
                      <a:gd name="T47" fmla="*/ 148 h 304"/>
                      <a:gd name="T48" fmla="*/ 3609 w 3843"/>
                      <a:gd name="T49" fmla="*/ 113 h 304"/>
                      <a:gd name="T50" fmla="*/ 3771 w 3843"/>
                      <a:gd name="T51" fmla="*/ 142 h 304"/>
                      <a:gd name="T52" fmla="*/ 3843 w 3843"/>
                      <a:gd name="T53" fmla="*/ 123 h 304"/>
                      <a:gd name="T54" fmla="*/ 3843 w 3843"/>
                      <a:gd name="T55" fmla="*/ 304 h 304"/>
                      <a:gd name="T56" fmla="*/ 0 w 3843"/>
                      <a:gd name="T57" fmla="*/ 303 h 3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3843" h="304">
                        <a:moveTo>
                          <a:pt x="0" y="303"/>
                        </a:moveTo>
                        <a:lnTo>
                          <a:pt x="0" y="134"/>
                        </a:lnTo>
                        <a:lnTo>
                          <a:pt x="126" y="115"/>
                        </a:lnTo>
                        <a:lnTo>
                          <a:pt x="238" y="57"/>
                        </a:lnTo>
                        <a:lnTo>
                          <a:pt x="529" y="104"/>
                        </a:lnTo>
                        <a:lnTo>
                          <a:pt x="710" y="0"/>
                        </a:lnTo>
                        <a:lnTo>
                          <a:pt x="848" y="58"/>
                        </a:lnTo>
                        <a:lnTo>
                          <a:pt x="904" y="77"/>
                        </a:lnTo>
                        <a:lnTo>
                          <a:pt x="1033" y="118"/>
                        </a:lnTo>
                        <a:lnTo>
                          <a:pt x="1156" y="98"/>
                        </a:lnTo>
                        <a:lnTo>
                          <a:pt x="1359" y="199"/>
                        </a:lnTo>
                        <a:lnTo>
                          <a:pt x="1491" y="126"/>
                        </a:lnTo>
                        <a:lnTo>
                          <a:pt x="1629" y="200"/>
                        </a:lnTo>
                        <a:lnTo>
                          <a:pt x="1825" y="66"/>
                        </a:lnTo>
                        <a:lnTo>
                          <a:pt x="1913" y="178"/>
                        </a:lnTo>
                        <a:lnTo>
                          <a:pt x="2142" y="102"/>
                        </a:lnTo>
                        <a:lnTo>
                          <a:pt x="2173" y="214"/>
                        </a:lnTo>
                        <a:lnTo>
                          <a:pt x="2353" y="80"/>
                        </a:lnTo>
                        <a:lnTo>
                          <a:pt x="2578" y="153"/>
                        </a:lnTo>
                        <a:lnTo>
                          <a:pt x="2716" y="75"/>
                        </a:lnTo>
                        <a:lnTo>
                          <a:pt x="2807" y="75"/>
                        </a:lnTo>
                        <a:lnTo>
                          <a:pt x="2952" y="134"/>
                        </a:lnTo>
                        <a:lnTo>
                          <a:pt x="3153" y="40"/>
                        </a:lnTo>
                        <a:lnTo>
                          <a:pt x="3441" y="148"/>
                        </a:lnTo>
                        <a:lnTo>
                          <a:pt x="3609" y="113"/>
                        </a:lnTo>
                        <a:lnTo>
                          <a:pt x="3771" y="142"/>
                        </a:lnTo>
                        <a:lnTo>
                          <a:pt x="3843" y="123"/>
                        </a:lnTo>
                        <a:lnTo>
                          <a:pt x="3843" y="304"/>
                        </a:lnTo>
                        <a:lnTo>
                          <a:pt x="0" y="303"/>
                        </a:lnTo>
                        <a:close/>
                      </a:path>
                    </a:pathLst>
                  </a:custGeom>
                  <a:solidFill>
                    <a:srgbClr val="9FB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8" name="Freeform 9"/>
                  <p:cNvSpPr>
                    <a:spLocks/>
                  </p:cNvSpPr>
                  <p:nvPr/>
                </p:nvSpPr>
                <p:spPr bwMode="auto">
                  <a:xfrm>
                    <a:off x="915" y="2508"/>
                    <a:ext cx="1921" cy="359"/>
                  </a:xfrm>
                  <a:custGeom>
                    <a:avLst/>
                    <a:gdLst>
                      <a:gd name="T0" fmla="*/ 0 w 3843"/>
                      <a:gd name="T1" fmla="*/ 0 h 719"/>
                      <a:gd name="T2" fmla="*/ 0 w 3843"/>
                      <a:gd name="T3" fmla="*/ 719 h 719"/>
                      <a:gd name="T4" fmla="*/ 3843 w 3843"/>
                      <a:gd name="T5" fmla="*/ 714 h 719"/>
                      <a:gd name="T6" fmla="*/ 3843 w 3843"/>
                      <a:gd name="T7" fmla="*/ 1 h 719"/>
                      <a:gd name="T8" fmla="*/ 0 w 3843"/>
                      <a:gd name="T9" fmla="*/ 0 h 7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43" h="719">
                        <a:moveTo>
                          <a:pt x="0" y="0"/>
                        </a:moveTo>
                        <a:lnTo>
                          <a:pt x="0" y="719"/>
                        </a:lnTo>
                        <a:lnTo>
                          <a:pt x="3843" y="714"/>
                        </a:lnTo>
                        <a:lnTo>
                          <a:pt x="3843" y="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1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463" name="Group 10"/>
                <p:cNvGrpSpPr>
                  <a:grpSpLocks/>
                </p:cNvGrpSpPr>
                <p:nvPr/>
              </p:nvGrpSpPr>
              <p:grpSpPr bwMode="auto">
                <a:xfrm>
                  <a:off x="948" y="2598"/>
                  <a:ext cx="1879" cy="234"/>
                  <a:chOff x="948" y="2598"/>
                  <a:chExt cx="1879" cy="234"/>
                </a:xfrm>
              </p:grpSpPr>
              <p:sp>
                <p:nvSpPr>
                  <p:cNvPr id="464" name="Freeform 11"/>
                  <p:cNvSpPr>
                    <a:spLocks/>
                  </p:cNvSpPr>
                  <p:nvPr/>
                </p:nvSpPr>
                <p:spPr bwMode="auto">
                  <a:xfrm>
                    <a:off x="966" y="2757"/>
                    <a:ext cx="188" cy="30"/>
                  </a:xfrm>
                  <a:custGeom>
                    <a:avLst/>
                    <a:gdLst>
                      <a:gd name="T0" fmla="*/ 116 w 375"/>
                      <a:gd name="T1" fmla="*/ 0 h 61"/>
                      <a:gd name="T2" fmla="*/ 91 w 375"/>
                      <a:gd name="T3" fmla="*/ 5 h 61"/>
                      <a:gd name="T4" fmla="*/ 64 w 375"/>
                      <a:gd name="T5" fmla="*/ 6 h 61"/>
                      <a:gd name="T6" fmla="*/ 29 w 375"/>
                      <a:gd name="T7" fmla="*/ 15 h 61"/>
                      <a:gd name="T8" fmla="*/ 8 w 375"/>
                      <a:gd name="T9" fmla="*/ 28 h 61"/>
                      <a:gd name="T10" fmla="*/ 0 w 375"/>
                      <a:gd name="T11" fmla="*/ 45 h 61"/>
                      <a:gd name="T12" fmla="*/ 43 w 375"/>
                      <a:gd name="T13" fmla="*/ 55 h 61"/>
                      <a:gd name="T14" fmla="*/ 98 w 375"/>
                      <a:gd name="T15" fmla="*/ 61 h 61"/>
                      <a:gd name="T16" fmla="*/ 143 w 375"/>
                      <a:gd name="T17" fmla="*/ 50 h 61"/>
                      <a:gd name="T18" fmla="*/ 219 w 375"/>
                      <a:gd name="T19" fmla="*/ 51 h 61"/>
                      <a:gd name="T20" fmla="*/ 306 w 375"/>
                      <a:gd name="T21" fmla="*/ 57 h 61"/>
                      <a:gd name="T22" fmla="*/ 375 w 375"/>
                      <a:gd name="T23" fmla="*/ 50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375" h="61">
                        <a:moveTo>
                          <a:pt x="116" y="0"/>
                        </a:moveTo>
                        <a:lnTo>
                          <a:pt x="91" y="5"/>
                        </a:lnTo>
                        <a:lnTo>
                          <a:pt x="64" y="6"/>
                        </a:lnTo>
                        <a:lnTo>
                          <a:pt x="29" y="15"/>
                        </a:lnTo>
                        <a:lnTo>
                          <a:pt x="8" y="28"/>
                        </a:lnTo>
                        <a:lnTo>
                          <a:pt x="0" y="45"/>
                        </a:lnTo>
                        <a:lnTo>
                          <a:pt x="43" y="55"/>
                        </a:lnTo>
                        <a:lnTo>
                          <a:pt x="98" y="61"/>
                        </a:lnTo>
                        <a:lnTo>
                          <a:pt x="143" y="50"/>
                        </a:lnTo>
                        <a:lnTo>
                          <a:pt x="219" y="51"/>
                        </a:lnTo>
                        <a:lnTo>
                          <a:pt x="306" y="57"/>
                        </a:lnTo>
                        <a:lnTo>
                          <a:pt x="375" y="5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65" name="Freeform 12"/>
                  <p:cNvSpPr>
                    <a:spLocks/>
                  </p:cNvSpPr>
                  <p:nvPr/>
                </p:nvSpPr>
                <p:spPr bwMode="auto">
                  <a:xfrm>
                    <a:off x="948" y="2791"/>
                    <a:ext cx="148" cy="10"/>
                  </a:xfrm>
                  <a:custGeom>
                    <a:avLst/>
                    <a:gdLst>
                      <a:gd name="T0" fmla="*/ 0 w 297"/>
                      <a:gd name="T1" fmla="*/ 13 h 19"/>
                      <a:gd name="T2" fmla="*/ 44 w 297"/>
                      <a:gd name="T3" fmla="*/ 17 h 19"/>
                      <a:gd name="T4" fmla="*/ 128 w 297"/>
                      <a:gd name="T5" fmla="*/ 19 h 19"/>
                      <a:gd name="T6" fmla="*/ 164 w 297"/>
                      <a:gd name="T7" fmla="*/ 9 h 19"/>
                      <a:gd name="T8" fmla="*/ 197 w 297"/>
                      <a:gd name="T9" fmla="*/ 17 h 19"/>
                      <a:gd name="T10" fmla="*/ 245 w 297"/>
                      <a:gd name="T11" fmla="*/ 9 h 19"/>
                      <a:gd name="T12" fmla="*/ 297 w 297"/>
                      <a:gd name="T13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97" h="19">
                        <a:moveTo>
                          <a:pt x="0" y="13"/>
                        </a:moveTo>
                        <a:lnTo>
                          <a:pt x="44" y="17"/>
                        </a:lnTo>
                        <a:lnTo>
                          <a:pt x="128" y="19"/>
                        </a:lnTo>
                        <a:lnTo>
                          <a:pt x="164" y="9"/>
                        </a:lnTo>
                        <a:lnTo>
                          <a:pt x="197" y="17"/>
                        </a:lnTo>
                        <a:lnTo>
                          <a:pt x="245" y="9"/>
                        </a:lnTo>
                        <a:lnTo>
                          <a:pt x="297" y="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66" name="Freeform 13"/>
                  <p:cNvSpPr>
                    <a:spLocks/>
                  </p:cNvSpPr>
                  <p:nvPr/>
                </p:nvSpPr>
                <p:spPr bwMode="auto">
                  <a:xfrm>
                    <a:off x="1155" y="2657"/>
                    <a:ext cx="167" cy="12"/>
                  </a:xfrm>
                  <a:custGeom>
                    <a:avLst/>
                    <a:gdLst>
                      <a:gd name="T0" fmla="*/ 0 w 334"/>
                      <a:gd name="T1" fmla="*/ 17 h 25"/>
                      <a:gd name="T2" fmla="*/ 104 w 334"/>
                      <a:gd name="T3" fmla="*/ 25 h 25"/>
                      <a:gd name="T4" fmla="*/ 142 w 334"/>
                      <a:gd name="T5" fmla="*/ 9 h 25"/>
                      <a:gd name="T6" fmla="*/ 207 w 334"/>
                      <a:gd name="T7" fmla="*/ 8 h 25"/>
                      <a:gd name="T8" fmla="*/ 243 w 334"/>
                      <a:gd name="T9" fmla="*/ 18 h 25"/>
                      <a:gd name="T10" fmla="*/ 276 w 334"/>
                      <a:gd name="T11" fmla="*/ 12 h 25"/>
                      <a:gd name="T12" fmla="*/ 334 w 334"/>
                      <a:gd name="T13" fmla="*/ 0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34" h="25">
                        <a:moveTo>
                          <a:pt x="0" y="17"/>
                        </a:moveTo>
                        <a:lnTo>
                          <a:pt x="104" y="25"/>
                        </a:lnTo>
                        <a:lnTo>
                          <a:pt x="142" y="9"/>
                        </a:lnTo>
                        <a:lnTo>
                          <a:pt x="207" y="8"/>
                        </a:lnTo>
                        <a:lnTo>
                          <a:pt x="243" y="18"/>
                        </a:lnTo>
                        <a:lnTo>
                          <a:pt x="276" y="12"/>
                        </a:lnTo>
                        <a:lnTo>
                          <a:pt x="334" y="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67" name="Freeform 14"/>
                  <p:cNvSpPr>
                    <a:spLocks/>
                  </p:cNvSpPr>
                  <p:nvPr/>
                </p:nvSpPr>
                <p:spPr bwMode="auto">
                  <a:xfrm>
                    <a:off x="1255" y="2663"/>
                    <a:ext cx="54" cy="35"/>
                  </a:xfrm>
                  <a:custGeom>
                    <a:avLst/>
                    <a:gdLst>
                      <a:gd name="T0" fmla="*/ 0 w 109"/>
                      <a:gd name="T1" fmla="*/ 69 h 69"/>
                      <a:gd name="T2" fmla="*/ 20 w 109"/>
                      <a:gd name="T3" fmla="*/ 54 h 69"/>
                      <a:gd name="T4" fmla="*/ 47 w 109"/>
                      <a:gd name="T5" fmla="*/ 44 h 69"/>
                      <a:gd name="T6" fmla="*/ 66 w 109"/>
                      <a:gd name="T7" fmla="*/ 39 h 69"/>
                      <a:gd name="T8" fmla="*/ 84 w 109"/>
                      <a:gd name="T9" fmla="*/ 32 h 69"/>
                      <a:gd name="T10" fmla="*/ 99 w 109"/>
                      <a:gd name="T11" fmla="*/ 15 h 69"/>
                      <a:gd name="T12" fmla="*/ 109 w 109"/>
                      <a:gd name="T13" fmla="*/ 0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09" h="69">
                        <a:moveTo>
                          <a:pt x="0" y="69"/>
                        </a:moveTo>
                        <a:lnTo>
                          <a:pt x="20" y="54"/>
                        </a:lnTo>
                        <a:lnTo>
                          <a:pt x="47" y="44"/>
                        </a:lnTo>
                        <a:lnTo>
                          <a:pt x="66" y="39"/>
                        </a:lnTo>
                        <a:lnTo>
                          <a:pt x="84" y="32"/>
                        </a:lnTo>
                        <a:lnTo>
                          <a:pt x="99" y="15"/>
                        </a:lnTo>
                        <a:lnTo>
                          <a:pt x="109" y="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68" name="Freeform 15"/>
                  <p:cNvSpPr>
                    <a:spLocks/>
                  </p:cNvSpPr>
                  <p:nvPr/>
                </p:nvSpPr>
                <p:spPr bwMode="auto">
                  <a:xfrm>
                    <a:off x="1360" y="2605"/>
                    <a:ext cx="148" cy="116"/>
                  </a:xfrm>
                  <a:custGeom>
                    <a:avLst/>
                    <a:gdLst>
                      <a:gd name="T0" fmla="*/ 113 w 297"/>
                      <a:gd name="T1" fmla="*/ 0 h 232"/>
                      <a:gd name="T2" fmla="*/ 67 w 297"/>
                      <a:gd name="T3" fmla="*/ 18 h 232"/>
                      <a:gd name="T4" fmla="*/ 39 w 297"/>
                      <a:gd name="T5" fmla="*/ 29 h 232"/>
                      <a:gd name="T6" fmla="*/ 17 w 297"/>
                      <a:gd name="T7" fmla="*/ 47 h 232"/>
                      <a:gd name="T8" fmla="*/ 0 w 297"/>
                      <a:gd name="T9" fmla="*/ 61 h 232"/>
                      <a:gd name="T10" fmla="*/ 4 w 297"/>
                      <a:gd name="T11" fmla="*/ 90 h 232"/>
                      <a:gd name="T12" fmla="*/ 16 w 297"/>
                      <a:gd name="T13" fmla="*/ 122 h 232"/>
                      <a:gd name="T14" fmla="*/ 58 w 297"/>
                      <a:gd name="T15" fmla="*/ 129 h 232"/>
                      <a:gd name="T16" fmla="*/ 104 w 297"/>
                      <a:gd name="T17" fmla="*/ 133 h 232"/>
                      <a:gd name="T18" fmla="*/ 131 w 297"/>
                      <a:gd name="T19" fmla="*/ 142 h 232"/>
                      <a:gd name="T20" fmla="*/ 169 w 297"/>
                      <a:gd name="T21" fmla="*/ 155 h 232"/>
                      <a:gd name="T22" fmla="*/ 200 w 297"/>
                      <a:gd name="T23" fmla="*/ 164 h 232"/>
                      <a:gd name="T24" fmla="*/ 247 w 297"/>
                      <a:gd name="T25" fmla="*/ 171 h 232"/>
                      <a:gd name="T26" fmla="*/ 226 w 297"/>
                      <a:gd name="T27" fmla="*/ 201 h 232"/>
                      <a:gd name="T28" fmla="*/ 209 w 297"/>
                      <a:gd name="T29" fmla="*/ 225 h 232"/>
                      <a:gd name="T30" fmla="*/ 258 w 297"/>
                      <a:gd name="T31" fmla="*/ 232 h 232"/>
                      <a:gd name="T32" fmla="*/ 297 w 297"/>
                      <a:gd name="T33" fmla="*/ 228 h 2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97" h="232">
                        <a:moveTo>
                          <a:pt x="113" y="0"/>
                        </a:moveTo>
                        <a:lnTo>
                          <a:pt x="67" y="18"/>
                        </a:lnTo>
                        <a:lnTo>
                          <a:pt x="39" y="29"/>
                        </a:lnTo>
                        <a:lnTo>
                          <a:pt x="17" y="47"/>
                        </a:lnTo>
                        <a:lnTo>
                          <a:pt x="0" y="61"/>
                        </a:lnTo>
                        <a:lnTo>
                          <a:pt x="4" y="90"/>
                        </a:lnTo>
                        <a:lnTo>
                          <a:pt x="16" y="122"/>
                        </a:lnTo>
                        <a:lnTo>
                          <a:pt x="58" y="129"/>
                        </a:lnTo>
                        <a:lnTo>
                          <a:pt x="104" y="133"/>
                        </a:lnTo>
                        <a:lnTo>
                          <a:pt x="131" y="142"/>
                        </a:lnTo>
                        <a:lnTo>
                          <a:pt x="169" y="155"/>
                        </a:lnTo>
                        <a:lnTo>
                          <a:pt x="200" y="164"/>
                        </a:lnTo>
                        <a:lnTo>
                          <a:pt x="247" y="171"/>
                        </a:lnTo>
                        <a:lnTo>
                          <a:pt x="226" y="201"/>
                        </a:lnTo>
                        <a:lnTo>
                          <a:pt x="209" y="225"/>
                        </a:lnTo>
                        <a:lnTo>
                          <a:pt x="258" y="232"/>
                        </a:lnTo>
                        <a:lnTo>
                          <a:pt x="297" y="228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69" name="Freeform 16"/>
                  <p:cNvSpPr>
                    <a:spLocks/>
                  </p:cNvSpPr>
                  <p:nvPr/>
                </p:nvSpPr>
                <p:spPr bwMode="auto">
                  <a:xfrm>
                    <a:off x="1443" y="2613"/>
                    <a:ext cx="537" cy="123"/>
                  </a:xfrm>
                  <a:custGeom>
                    <a:avLst/>
                    <a:gdLst>
                      <a:gd name="T0" fmla="*/ 149 w 1074"/>
                      <a:gd name="T1" fmla="*/ 0 h 246"/>
                      <a:gd name="T2" fmla="*/ 93 w 1074"/>
                      <a:gd name="T3" fmla="*/ 2 h 246"/>
                      <a:gd name="T4" fmla="*/ 51 w 1074"/>
                      <a:gd name="T5" fmla="*/ 8 h 246"/>
                      <a:gd name="T6" fmla="*/ 22 w 1074"/>
                      <a:gd name="T7" fmla="*/ 20 h 246"/>
                      <a:gd name="T8" fmla="*/ 8 w 1074"/>
                      <a:gd name="T9" fmla="*/ 39 h 246"/>
                      <a:gd name="T10" fmla="*/ 0 w 1074"/>
                      <a:gd name="T11" fmla="*/ 60 h 246"/>
                      <a:gd name="T12" fmla="*/ 8 w 1074"/>
                      <a:gd name="T13" fmla="*/ 79 h 246"/>
                      <a:gd name="T14" fmla="*/ 26 w 1074"/>
                      <a:gd name="T15" fmla="*/ 88 h 246"/>
                      <a:gd name="T16" fmla="*/ 63 w 1074"/>
                      <a:gd name="T17" fmla="*/ 97 h 246"/>
                      <a:gd name="T18" fmla="*/ 88 w 1074"/>
                      <a:gd name="T19" fmla="*/ 99 h 246"/>
                      <a:gd name="T20" fmla="*/ 113 w 1074"/>
                      <a:gd name="T21" fmla="*/ 98 h 246"/>
                      <a:gd name="T22" fmla="*/ 128 w 1074"/>
                      <a:gd name="T23" fmla="*/ 99 h 246"/>
                      <a:gd name="T24" fmla="*/ 134 w 1074"/>
                      <a:gd name="T25" fmla="*/ 115 h 246"/>
                      <a:gd name="T26" fmla="*/ 135 w 1074"/>
                      <a:gd name="T27" fmla="*/ 130 h 246"/>
                      <a:gd name="T28" fmla="*/ 160 w 1074"/>
                      <a:gd name="T29" fmla="*/ 137 h 246"/>
                      <a:gd name="T30" fmla="*/ 228 w 1074"/>
                      <a:gd name="T31" fmla="*/ 149 h 246"/>
                      <a:gd name="T32" fmla="*/ 243 w 1074"/>
                      <a:gd name="T33" fmla="*/ 144 h 246"/>
                      <a:gd name="T34" fmla="*/ 262 w 1074"/>
                      <a:gd name="T35" fmla="*/ 140 h 246"/>
                      <a:gd name="T36" fmla="*/ 288 w 1074"/>
                      <a:gd name="T37" fmla="*/ 146 h 246"/>
                      <a:gd name="T38" fmla="*/ 312 w 1074"/>
                      <a:gd name="T39" fmla="*/ 151 h 246"/>
                      <a:gd name="T40" fmla="*/ 336 w 1074"/>
                      <a:gd name="T41" fmla="*/ 155 h 246"/>
                      <a:gd name="T42" fmla="*/ 334 w 1074"/>
                      <a:gd name="T43" fmla="*/ 171 h 246"/>
                      <a:gd name="T44" fmla="*/ 324 w 1074"/>
                      <a:gd name="T45" fmla="*/ 189 h 246"/>
                      <a:gd name="T46" fmla="*/ 368 w 1074"/>
                      <a:gd name="T47" fmla="*/ 207 h 246"/>
                      <a:gd name="T48" fmla="*/ 483 w 1074"/>
                      <a:gd name="T49" fmla="*/ 246 h 246"/>
                      <a:gd name="T50" fmla="*/ 621 w 1074"/>
                      <a:gd name="T51" fmla="*/ 241 h 246"/>
                      <a:gd name="T52" fmla="*/ 841 w 1074"/>
                      <a:gd name="T53" fmla="*/ 218 h 246"/>
                      <a:gd name="T54" fmla="*/ 879 w 1074"/>
                      <a:gd name="T55" fmla="*/ 188 h 246"/>
                      <a:gd name="T56" fmla="*/ 972 w 1074"/>
                      <a:gd name="T57" fmla="*/ 184 h 246"/>
                      <a:gd name="T58" fmla="*/ 1074 w 1074"/>
                      <a:gd name="T59" fmla="*/ 200 h 2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1074" h="246">
                        <a:moveTo>
                          <a:pt x="149" y="0"/>
                        </a:moveTo>
                        <a:lnTo>
                          <a:pt x="93" y="2"/>
                        </a:lnTo>
                        <a:lnTo>
                          <a:pt x="51" y="8"/>
                        </a:lnTo>
                        <a:lnTo>
                          <a:pt x="22" y="20"/>
                        </a:lnTo>
                        <a:lnTo>
                          <a:pt x="8" y="39"/>
                        </a:lnTo>
                        <a:lnTo>
                          <a:pt x="0" y="60"/>
                        </a:lnTo>
                        <a:lnTo>
                          <a:pt x="8" y="79"/>
                        </a:lnTo>
                        <a:lnTo>
                          <a:pt x="26" y="88"/>
                        </a:lnTo>
                        <a:lnTo>
                          <a:pt x="63" y="97"/>
                        </a:lnTo>
                        <a:lnTo>
                          <a:pt x="88" y="99"/>
                        </a:lnTo>
                        <a:lnTo>
                          <a:pt x="113" y="98"/>
                        </a:lnTo>
                        <a:lnTo>
                          <a:pt x="128" y="99"/>
                        </a:lnTo>
                        <a:lnTo>
                          <a:pt x="134" y="115"/>
                        </a:lnTo>
                        <a:lnTo>
                          <a:pt x="135" y="130"/>
                        </a:lnTo>
                        <a:lnTo>
                          <a:pt x="160" y="137"/>
                        </a:lnTo>
                        <a:lnTo>
                          <a:pt x="228" y="149"/>
                        </a:lnTo>
                        <a:lnTo>
                          <a:pt x="243" y="144"/>
                        </a:lnTo>
                        <a:lnTo>
                          <a:pt x="262" y="140"/>
                        </a:lnTo>
                        <a:lnTo>
                          <a:pt x="288" y="146"/>
                        </a:lnTo>
                        <a:lnTo>
                          <a:pt x="312" y="151"/>
                        </a:lnTo>
                        <a:lnTo>
                          <a:pt x="336" y="155"/>
                        </a:lnTo>
                        <a:lnTo>
                          <a:pt x="334" y="171"/>
                        </a:lnTo>
                        <a:lnTo>
                          <a:pt x="324" y="189"/>
                        </a:lnTo>
                        <a:lnTo>
                          <a:pt x="368" y="207"/>
                        </a:lnTo>
                        <a:lnTo>
                          <a:pt x="483" y="246"/>
                        </a:lnTo>
                        <a:lnTo>
                          <a:pt x="621" y="241"/>
                        </a:lnTo>
                        <a:lnTo>
                          <a:pt x="841" y="218"/>
                        </a:lnTo>
                        <a:lnTo>
                          <a:pt x="879" y="188"/>
                        </a:lnTo>
                        <a:lnTo>
                          <a:pt x="972" y="184"/>
                        </a:lnTo>
                        <a:lnTo>
                          <a:pt x="1074" y="20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0" name="Freeform 17"/>
                  <p:cNvSpPr>
                    <a:spLocks/>
                  </p:cNvSpPr>
                  <p:nvPr/>
                </p:nvSpPr>
                <p:spPr bwMode="auto">
                  <a:xfrm>
                    <a:off x="1902" y="2707"/>
                    <a:ext cx="373" cy="41"/>
                  </a:xfrm>
                  <a:custGeom>
                    <a:avLst/>
                    <a:gdLst>
                      <a:gd name="T0" fmla="*/ 0 w 746"/>
                      <a:gd name="T1" fmla="*/ 75 h 82"/>
                      <a:gd name="T2" fmla="*/ 25 w 746"/>
                      <a:gd name="T3" fmla="*/ 65 h 82"/>
                      <a:gd name="T4" fmla="*/ 53 w 746"/>
                      <a:gd name="T5" fmla="*/ 58 h 82"/>
                      <a:gd name="T6" fmla="*/ 94 w 746"/>
                      <a:gd name="T7" fmla="*/ 69 h 82"/>
                      <a:gd name="T8" fmla="*/ 142 w 746"/>
                      <a:gd name="T9" fmla="*/ 82 h 82"/>
                      <a:gd name="T10" fmla="*/ 192 w 746"/>
                      <a:gd name="T11" fmla="*/ 76 h 82"/>
                      <a:gd name="T12" fmla="*/ 230 w 746"/>
                      <a:gd name="T13" fmla="*/ 74 h 82"/>
                      <a:gd name="T14" fmla="*/ 250 w 746"/>
                      <a:gd name="T15" fmla="*/ 68 h 82"/>
                      <a:gd name="T16" fmla="*/ 288 w 746"/>
                      <a:gd name="T17" fmla="*/ 60 h 82"/>
                      <a:gd name="T18" fmla="*/ 323 w 746"/>
                      <a:gd name="T19" fmla="*/ 55 h 82"/>
                      <a:gd name="T20" fmla="*/ 379 w 746"/>
                      <a:gd name="T21" fmla="*/ 59 h 82"/>
                      <a:gd name="T22" fmla="*/ 424 w 746"/>
                      <a:gd name="T23" fmla="*/ 64 h 82"/>
                      <a:gd name="T24" fmla="*/ 444 w 746"/>
                      <a:gd name="T25" fmla="*/ 65 h 82"/>
                      <a:gd name="T26" fmla="*/ 510 w 746"/>
                      <a:gd name="T27" fmla="*/ 47 h 82"/>
                      <a:gd name="T28" fmla="*/ 582 w 746"/>
                      <a:gd name="T29" fmla="*/ 30 h 82"/>
                      <a:gd name="T30" fmla="*/ 662 w 746"/>
                      <a:gd name="T31" fmla="*/ 30 h 82"/>
                      <a:gd name="T32" fmla="*/ 746 w 746"/>
                      <a:gd name="T33" fmla="*/ 0 h 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746" h="82">
                        <a:moveTo>
                          <a:pt x="0" y="75"/>
                        </a:moveTo>
                        <a:lnTo>
                          <a:pt x="25" y="65"/>
                        </a:lnTo>
                        <a:lnTo>
                          <a:pt x="53" y="58"/>
                        </a:lnTo>
                        <a:lnTo>
                          <a:pt x="94" y="69"/>
                        </a:lnTo>
                        <a:lnTo>
                          <a:pt x="142" y="82"/>
                        </a:lnTo>
                        <a:lnTo>
                          <a:pt x="192" y="76"/>
                        </a:lnTo>
                        <a:lnTo>
                          <a:pt x="230" y="74"/>
                        </a:lnTo>
                        <a:lnTo>
                          <a:pt x="250" y="68"/>
                        </a:lnTo>
                        <a:lnTo>
                          <a:pt x="288" y="60"/>
                        </a:lnTo>
                        <a:lnTo>
                          <a:pt x="323" y="55"/>
                        </a:lnTo>
                        <a:lnTo>
                          <a:pt x="379" y="59"/>
                        </a:lnTo>
                        <a:lnTo>
                          <a:pt x="424" y="64"/>
                        </a:lnTo>
                        <a:lnTo>
                          <a:pt x="444" y="65"/>
                        </a:lnTo>
                        <a:lnTo>
                          <a:pt x="510" y="47"/>
                        </a:lnTo>
                        <a:lnTo>
                          <a:pt x="582" y="30"/>
                        </a:lnTo>
                        <a:lnTo>
                          <a:pt x="662" y="30"/>
                        </a:lnTo>
                        <a:lnTo>
                          <a:pt x="746" y="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1" name="Freeform 18"/>
                  <p:cNvSpPr>
                    <a:spLocks/>
                  </p:cNvSpPr>
                  <p:nvPr/>
                </p:nvSpPr>
                <p:spPr bwMode="auto">
                  <a:xfrm>
                    <a:off x="2067" y="2609"/>
                    <a:ext cx="264" cy="98"/>
                  </a:xfrm>
                  <a:custGeom>
                    <a:avLst/>
                    <a:gdLst>
                      <a:gd name="T0" fmla="*/ 0 w 528"/>
                      <a:gd name="T1" fmla="*/ 197 h 197"/>
                      <a:gd name="T2" fmla="*/ 62 w 528"/>
                      <a:gd name="T3" fmla="*/ 188 h 197"/>
                      <a:gd name="T4" fmla="*/ 101 w 528"/>
                      <a:gd name="T5" fmla="*/ 183 h 197"/>
                      <a:gd name="T6" fmla="*/ 153 w 528"/>
                      <a:gd name="T7" fmla="*/ 169 h 197"/>
                      <a:gd name="T8" fmla="*/ 232 w 528"/>
                      <a:gd name="T9" fmla="*/ 164 h 197"/>
                      <a:gd name="T10" fmla="*/ 324 w 528"/>
                      <a:gd name="T11" fmla="*/ 151 h 197"/>
                      <a:gd name="T12" fmla="*/ 389 w 528"/>
                      <a:gd name="T13" fmla="*/ 143 h 197"/>
                      <a:gd name="T14" fmla="*/ 434 w 528"/>
                      <a:gd name="T15" fmla="*/ 120 h 197"/>
                      <a:gd name="T16" fmla="*/ 462 w 528"/>
                      <a:gd name="T17" fmla="*/ 112 h 197"/>
                      <a:gd name="T18" fmla="*/ 479 w 528"/>
                      <a:gd name="T19" fmla="*/ 107 h 197"/>
                      <a:gd name="T20" fmla="*/ 520 w 528"/>
                      <a:gd name="T21" fmla="*/ 71 h 197"/>
                      <a:gd name="T22" fmla="*/ 527 w 528"/>
                      <a:gd name="T23" fmla="*/ 55 h 197"/>
                      <a:gd name="T24" fmla="*/ 528 w 528"/>
                      <a:gd name="T25" fmla="*/ 40 h 197"/>
                      <a:gd name="T26" fmla="*/ 522 w 528"/>
                      <a:gd name="T27" fmla="*/ 31 h 197"/>
                      <a:gd name="T28" fmla="*/ 510 w 528"/>
                      <a:gd name="T29" fmla="*/ 22 h 197"/>
                      <a:gd name="T30" fmla="*/ 486 w 528"/>
                      <a:gd name="T31" fmla="*/ 22 h 197"/>
                      <a:gd name="T32" fmla="*/ 458 w 528"/>
                      <a:gd name="T33" fmla="*/ 9 h 197"/>
                      <a:gd name="T34" fmla="*/ 419 w 528"/>
                      <a:gd name="T35" fmla="*/ 0 h 197"/>
                      <a:gd name="T36" fmla="*/ 370 w 528"/>
                      <a:gd name="T37" fmla="*/ 0 h 1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528" h="197">
                        <a:moveTo>
                          <a:pt x="0" y="197"/>
                        </a:moveTo>
                        <a:lnTo>
                          <a:pt x="62" y="188"/>
                        </a:lnTo>
                        <a:lnTo>
                          <a:pt x="101" y="183"/>
                        </a:lnTo>
                        <a:lnTo>
                          <a:pt x="153" y="169"/>
                        </a:lnTo>
                        <a:lnTo>
                          <a:pt x="232" y="164"/>
                        </a:lnTo>
                        <a:lnTo>
                          <a:pt x="324" y="151"/>
                        </a:lnTo>
                        <a:lnTo>
                          <a:pt x="389" y="143"/>
                        </a:lnTo>
                        <a:lnTo>
                          <a:pt x="434" y="120"/>
                        </a:lnTo>
                        <a:lnTo>
                          <a:pt x="462" y="112"/>
                        </a:lnTo>
                        <a:lnTo>
                          <a:pt x="479" y="107"/>
                        </a:lnTo>
                        <a:lnTo>
                          <a:pt x="520" y="71"/>
                        </a:lnTo>
                        <a:lnTo>
                          <a:pt x="527" y="55"/>
                        </a:lnTo>
                        <a:lnTo>
                          <a:pt x="528" y="40"/>
                        </a:lnTo>
                        <a:lnTo>
                          <a:pt x="522" y="31"/>
                        </a:lnTo>
                        <a:lnTo>
                          <a:pt x="510" y="22"/>
                        </a:lnTo>
                        <a:lnTo>
                          <a:pt x="486" y="22"/>
                        </a:lnTo>
                        <a:lnTo>
                          <a:pt x="458" y="9"/>
                        </a:lnTo>
                        <a:lnTo>
                          <a:pt x="419" y="0"/>
                        </a:lnTo>
                        <a:lnTo>
                          <a:pt x="370" y="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2" name="Freeform 19"/>
                  <p:cNvSpPr>
                    <a:spLocks/>
                  </p:cNvSpPr>
                  <p:nvPr/>
                </p:nvSpPr>
                <p:spPr bwMode="auto">
                  <a:xfrm>
                    <a:off x="2343" y="2598"/>
                    <a:ext cx="70" cy="93"/>
                  </a:xfrm>
                  <a:custGeom>
                    <a:avLst/>
                    <a:gdLst>
                      <a:gd name="T0" fmla="*/ 32 w 141"/>
                      <a:gd name="T1" fmla="*/ 185 h 185"/>
                      <a:gd name="T2" fmla="*/ 74 w 141"/>
                      <a:gd name="T3" fmla="*/ 154 h 185"/>
                      <a:gd name="T4" fmla="*/ 116 w 141"/>
                      <a:gd name="T5" fmla="*/ 127 h 185"/>
                      <a:gd name="T6" fmla="*/ 107 w 141"/>
                      <a:gd name="T7" fmla="*/ 110 h 185"/>
                      <a:gd name="T8" fmla="*/ 101 w 141"/>
                      <a:gd name="T9" fmla="*/ 86 h 185"/>
                      <a:gd name="T10" fmla="*/ 118 w 141"/>
                      <a:gd name="T11" fmla="*/ 60 h 185"/>
                      <a:gd name="T12" fmla="*/ 141 w 141"/>
                      <a:gd name="T13" fmla="*/ 39 h 185"/>
                      <a:gd name="T14" fmla="*/ 111 w 141"/>
                      <a:gd name="T15" fmla="*/ 22 h 185"/>
                      <a:gd name="T16" fmla="*/ 70 w 141"/>
                      <a:gd name="T17" fmla="*/ 0 h 185"/>
                      <a:gd name="T18" fmla="*/ 0 w 141"/>
                      <a:gd name="T19" fmla="*/ 6 h 1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41" h="185">
                        <a:moveTo>
                          <a:pt x="32" y="185"/>
                        </a:moveTo>
                        <a:lnTo>
                          <a:pt x="74" y="154"/>
                        </a:lnTo>
                        <a:lnTo>
                          <a:pt x="116" y="127"/>
                        </a:lnTo>
                        <a:lnTo>
                          <a:pt x="107" y="110"/>
                        </a:lnTo>
                        <a:lnTo>
                          <a:pt x="101" y="86"/>
                        </a:lnTo>
                        <a:lnTo>
                          <a:pt x="118" y="60"/>
                        </a:lnTo>
                        <a:lnTo>
                          <a:pt x="141" y="39"/>
                        </a:lnTo>
                        <a:lnTo>
                          <a:pt x="111" y="22"/>
                        </a:lnTo>
                        <a:lnTo>
                          <a:pt x="70" y="0"/>
                        </a:lnTo>
                        <a:lnTo>
                          <a:pt x="0" y="6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3" name="Freeform 20"/>
                  <p:cNvSpPr>
                    <a:spLocks/>
                  </p:cNvSpPr>
                  <p:nvPr/>
                </p:nvSpPr>
                <p:spPr bwMode="auto">
                  <a:xfrm>
                    <a:off x="2509" y="2676"/>
                    <a:ext cx="155" cy="10"/>
                  </a:xfrm>
                  <a:custGeom>
                    <a:avLst/>
                    <a:gdLst>
                      <a:gd name="T0" fmla="*/ 0 w 309"/>
                      <a:gd name="T1" fmla="*/ 4 h 20"/>
                      <a:gd name="T2" fmla="*/ 32 w 309"/>
                      <a:gd name="T3" fmla="*/ 0 h 20"/>
                      <a:gd name="T4" fmla="*/ 54 w 309"/>
                      <a:gd name="T5" fmla="*/ 5 h 20"/>
                      <a:gd name="T6" fmla="*/ 116 w 309"/>
                      <a:gd name="T7" fmla="*/ 20 h 20"/>
                      <a:gd name="T8" fmla="*/ 144 w 309"/>
                      <a:gd name="T9" fmla="*/ 17 h 20"/>
                      <a:gd name="T10" fmla="*/ 176 w 309"/>
                      <a:gd name="T11" fmla="*/ 14 h 20"/>
                      <a:gd name="T12" fmla="*/ 309 w 309"/>
                      <a:gd name="T13" fmla="*/ 18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09" h="20">
                        <a:moveTo>
                          <a:pt x="0" y="4"/>
                        </a:moveTo>
                        <a:lnTo>
                          <a:pt x="32" y="0"/>
                        </a:lnTo>
                        <a:lnTo>
                          <a:pt x="54" y="5"/>
                        </a:lnTo>
                        <a:lnTo>
                          <a:pt x="116" y="20"/>
                        </a:lnTo>
                        <a:lnTo>
                          <a:pt x="144" y="17"/>
                        </a:lnTo>
                        <a:lnTo>
                          <a:pt x="176" y="14"/>
                        </a:lnTo>
                        <a:lnTo>
                          <a:pt x="309" y="18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4" name="Freeform 21"/>
                  <p:cNvSpPr>
                    <a:spLocks/>
                  </p:cNvSpPr>
                  <p:nvPr/>
                </p:nvSpPr>
                <p:spPr bwMode="auto">
                  <a:xfrm>
                    <a:off x="2471" y="2690"/>
                    <a:ext cx="164" cy="16"/>
                  </a:xfrm>
                  <a:custGeom>
                    <a:avLst/>
                    <a:gdLst>
                      <a:gd name="T0" fmla="*/ 0 w 328"/>
                      <a:gd name="T1" fmla="*/ 6 h 32"/>
                      <a:gd name="T2" fmla="*/ 34 w 328"/>
                      <a:gd name="T3" fmla="*/ 0 h 32"/>
                      <a:gd name="T4" fmla="*/ 70 w 328"/>
                      <a:gd name="T5" fmla="*/ 1 h 32"/>
                      <a:gd name="T6" fmla="*/ 99 w 328"/>
                      <a:gd name="T7" fmla="*/ 11 h 32"/>
                      <a:gd name="T8" fmla="*/ 121 w 328"/>
                      <a:gd name="T9" fmla="*/ 19 h 32"/>
                      <a:gd name="T10" fmla="*/ 149 w 328"/>
                      <a:gd name="T11" fmla="*/ 14 h 32"/>
                      <a:gd name="T12" fmla="*/ 195 w 328"/>
                      <a:gd name="T13" fmla="*/ 12 h 32"/>
                      <a:gd name="T14" fmla="*/ 238 w 328"/>
                      <a:gd name="T15" fmla="*/ 17 h 32"/>
                      <a:gd name="T16" fmla="*/ 277 w 328"/>
                      <a:gd name="T17" fmla="*/ 26 h 32"/>
                      <a:gd name="T18" fmla="*/ 309 w 328"/>
                      <a:gd name="T19" fmla="*/ 29 h 32"/>
                      <a:gd name="T20" fmla="*/ 328 w 328"/>
                      <a:gd name="T21" fmla="*/ 32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28" h="32">
                        <a:moveTo>
                          <a:pt x="0" y="6"/>
                        </a:moveTo>
                        <a:lnTo>
                          <a:pt x="34" y="0"/>
                        </a:lnTo>
                        <a:lnTo>
                          <a:pt x="70" y="1"/>
                        </a:lnTo>
                        <a:lnTo>
                          <a:pt x="99" y="11"/>
                        </a:lnTo>
                        <a:lnTo>
                          <a:pt x="121" y="19"/>
                        </a:lnTo>
                        <a:lnTo>
                          <a:pt x="149" y="14"/>
                        </a:lnTo>
                        <a:lnTo>
                          <a:pt x="195" y="12"/>
                        </a:lnTo>
                        <a:lnTo>
                          <a:pt x="238" y="17"/>
                        </a:lnTo>
                        <a:lnTo>
                          <a:pt x="277" y="26"/>
                        </a:lnTo>
                        <a:lnTo>
                          <a:pt x="309" y="29"/>
                        </a:lnTo>
                        <a:lnTo>
                          <a:pt x="328" y="32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5" name="Freeform 22"/>
                  <p:cNvSpPr>
                    <a:spLocks/>
                  </p:cNvSpPr>
                  <p:nvPr/>
                </p:nvSpPr>
                <p:spPr bwMode="auto">
                  <a:xfrm>
                    <a:off x="2493" y="2707"/>
                    <a:ext cx="207" cy="125"/>
                  </a:xfrm>
                  <a:custGeom>
                    <a:avLst/>
                    <a:gdLst>
                      <a:gd name="T0" fmla="*/ 0 w 414"/>
                      <a:gd name="T1" fmla="*/ 0 h 248"/>
                      <a:gd name="T2" fmla="*/ 58 w 414"/>
                      <a:gd name="T3" fmla="*/ 27 h 248"/>
                      <a:gd name="T4" fmla="*/ 92 w 414"/>
                      <a:gd name="T5" fmla="*/ 42 h 248"/>
                      <a:gd name="T6" fmla="*/ 116 w 414"/>
                      <a:gd name="T7" fmla="*/ 58 h 248"/>
                      <a:gd name="T8" fmla="*/ 149 w 414"/>
                      <a:gd name="T9" fmla="*/ 77 h 248"/>
                      <a:gd name="T10" fmla="*/ 176 w 414"/>
                      <a:gd name="T11" fmla="*/ 105 h 248"/>
                      <a:gd name="T12" fmla="*/ 218 w 414"/>
                      <a:gd name="T13" fmla="*/ 142 h 248"/>
                      <a:gd name="T14" fmla="*/ 262 w 414"/>
                      <a:gd name="T15" fmla="*/ 153 h 248"/>
                      <a:gd name="T16" fmla="*/ 305 w 414"/>
                      <a:gd name="T17" fmla="*/ 163 h 248"/>
                      <a:gd name="T18" fmla="*/ 342 w 414"/>
                      <a:gd name="T19" fmla="*/ 201 h 248"/>
                      <a:gd name="T20" fmla="*/ 414 w 414"/>
                      <a:gd name="T21" fmla="*/ 248 h 2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414" h="248">
                        <a:moveTo>
                          <a:pt x="0" y="0"/>
                        </a:moveTo>
                        <a:lnTo>
                          <a:pt x="58" y="27"/>
                        </a:lnTo>
                        <a:lnTo>
                          <a:pt x="92" y="42"/>
                        </a:lnTo>
                        <a:lnTo>
                          <a:pt x="116" y="58"/>
                        </a:lnTo>
                        <a:lnTo>
                          <a:pt x="149" y="77"/>
                        </a:lnTo>
                        <a:lnTo>
                          <a:pt x="176" y="105"/>
                        </a:lnTo>
                        <a:lnTo>
                          <a:pt x="218" y="142"/>
                        </a:lnTo>
                        <a:lnTo>
                          <a:pt x="262" y="153"/>
                        </a:lnTo>
                        <a:lnTo>
                          <a:pt x="305" y="163"/>
                        </a:lnTo>
                        <a:lnTo>
                          <a:pt x="342" y="201"/>
                        </a:lnTo>
                        <a:lnTo>
                          <a:pt x="414" y="248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476" name="Freeform 23"/>
                  <p:cNvSpPr>
                    <a:spLocks/>
                  </p:cNvSpPr>
                  <p:nvPr/>
                </p:nvSpPr>
                <p:spPr bwMode="auto">
                  <a:xfrm>
                    <a:off x="2724" y="2765"/>
                    <a:ext cx="103" cy="42"/>
                  </a:xfrm>
                  <a:custGeom>
                    <a:avLst/>
                    <a:gdLst>
                      <a:gd name="T0" fmla="*/ 0 w 208"/>
                      <a:gd name="T1" fmla="*/ 57 h 84"/>
                      <a:gd name="T2" fmla="*/ 28 w 208"/>
                      <a:gd name="T3" fmla="*/ 59 h 84"/>
                      <a:gd name="T4" fmla="*/ 55 w 208"/>
                      <a:gd name="T5" fmla="*/ 63 h 84"/>
                      <a:gd name="T6" fmla="*/ 82 w 208"/>
                      <a:gd name="T7" fmla="*/ 67 h 84"/>
                      <a:gd name="T8" fmla="*/ 117 w 208"/>
                      <a:gd name="T9" fmla="*/ 69 h 84"/>
                      <a:gd name="T10" fmla="*/ 164 w 208"/>
                      <a:gd name="T11" fmla="*/ 84 h 84"/>
                      <a:gd name="T12" fmla="*/ 177 w 208"/>
                      <a:gd name="T13" fmla="*/ 79 h 84"/>
                      <a:gd name="T14" fmla="*/ 196 w 208"/>
                      <a:gd name="T15" fmla="*/ 73 h 84"/>
                      <a:gd name="T16" fmla="*/ 204 w 208"/>
                      <a:gd name="T17" fmla="*/ 64 h 84"/>
                      <a:gd name="T18" fmla="*/ 208 w 208"/>
                      <a:gd name="T19" fmla="*/ 45 h 84"/>
                      <a:gd name="T20" fmla="*/ 204 w 208"/>
                      <a:gd name="T21" fmla="*/ 29 h 84"/>
                      <a:gd name="T22" fmla="*/ 198 w 208"/>
                      <a:gd name="T23" fmla="*/ 16 h 84"/>
                      <a:gd name="T24" fmla="*/ 187 w 208"/>
                      <a:gd name="T25" fmla="*/ 0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08" h="84">
                        <a:moveTo>
                          <a:pt x="0" y="57"/>
                        </a:moveTo>
                        <a:lnTo>
                          <a:pt x="28" y="59"/>
                        </a:lnTo>
                        <a:lnTo>
                          <a:pt x="55" y="63"/>
                        </a:lnTo>
                        <a:lnTo>
                          <a:pt x="82" y="67"/>
                        </a:lnTo>
                        <a:lnTo>
                          <a:pt x="117" y="69"/>
                        </a:lnTo>
                        <a:lnTo>
                          <a:pt x="164" y="84"/>
                        </a:lnTo>
                        <a:lnTo>
                          <a:pt x="177" y="79"/>
                        </a:lnTo>
                        <a:lnTo>
                          <a:pt x="196" y="73"/>
                        </a:lnTo>
                        <a:lnTo>
                          <a:pt x="204" y="64"/>
                        </a:lnTo>
                        <a:lnTo>
                          <a:pt x="208" y="45"/>
                        </a:lnTo>
                        <a:lnTo>
                          <a:pt x="204" y="29"/>
                        </a:lnTo>
                        <a:lnTo>
                          <a:pt x="198" y="16"/>
                        </a:lnTo>
                        <a:lnTo>
                          <a:pt x="187" y="0"/>
                        </a:lnTo>
                      </a:path>
                    </a:pathLst>
                  </a:custGeom>
                  <a:noFill/>
                  <a:ln w="635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</p:grpSp>
          <p:grpSp>
            <p:nvGrpSpPr>
              <p:cNvPr id="436" name="Group 24"/>
              <p:cNvGrpSpPr>
                <a:grpSpLocks/>
              </p:cNvGrpSpPr>
              <p:nvPr/>
            </p:nvGrpSpPr>
            <p:grpSpPr bwMode="auto">
              <a:xfrm>
                <a:off x="1490" y="2352"/>
                <a:ext cx="781" cy="346"/>
                <a:chOff x="1490" y="1892"/>
                <a:chExt cx="781" cy="806"/>
              </a:xfrm>
            </p:grpSpPr>
            <p:grpSp>
              <p:nvGrpSpPr>
                <p:cNvPr id="437" name="Group 25"/>
                <p:cNvGrpSpPr>
                  <a:grpSpLocks/>
                </p:cNvGrpSpPr>
                <p:nvPr/>
              </p:nvGrpSpPr>
              <p:grpSpPr bwMode="auto">
                <a:xfrm>
                  <a:off x="1490" y="1892"/>
                  <a:ext cx="781" cy="775"/>
                  <a:chOff x="1490" y="1892"/>
                  <a:chExt cx="781" cy="775"/>
                </a:xfrm>
              </p:grpSpPr>
              <p:grpSp>
                <p:nvGrpSpPr>
                  <p:cNvPr id="445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1537" y="1943"/>
                    <a:ext cx="705" cy="724"/>
                    <a:chOff x="1537" y="1943"/>
                    <a:chExt cx="705" cy="724"/>
                  </a:xfrm>
                </p:grpSpPr>
                <p:grpSp>
                  <p:nvGrpSpPr>
                    <p:cNvPr id="447" name="Group 2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7" y="1943"/>
                      <a:ext cx="705" cy="724"/>
                      <a:chOff x="1537" y="1943"/>
                      <a:chExt cx="705" cy="724"/>
                    </a:xfrm>
                  </p:grpSpPr>
                  <p:grpSp>
                    <p:nvGrpSpPr>
                      <p:cNvPr id="457" name="Group 2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37" y="1951"/>
                        <a:ext cx="705" cy="716"/>
                        <a:chOff x="1537" y="1951"/>
                        <a:chExt cx="705" cy="716"/>
                      </a:xfrm>
                    </p:grpSpPr>
                    <p:sp>
                      <p:nvSpPr>
                        <p:cNvPr id="459" name="Freeform 2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7" y="1953"/>
                          <a:ext cx="705" cy="714"/>
                        </a:xfrm>
                        <a:custGeom>
                          <a:avLst/>
                          <a:gdLst>
                            <a:gd name="T0" fmla="*/ 5 w 1410"/>
                            <a:gd name="T1" fmla="*/ 0 h 1430"/>
                            <a:gd name="T2" fmla="*/ 20 w 1410"/>
                            <a:gd name="T3" fmla="*/ 34 h 1430"/>
                            <a:gd name="T4" fmla="*/ 37 w 1410"/>
                            <a:gd name="T5" fmla="*/ 63 h 1430"/>
                            <a:gd name="T6" fmla="*/ 33 w 1410"/>
                            <a:gd name="T7" fmla="*/ 116 h 1430"/>
                            <a:gd name="T8" fmla="*/ 52 w 1410"/>
                            <a:gd name="T9" fmla="*/ 211 h 1430"/>
                            <a:gd name="T10" fmla="*/ 67 w 1410"/>
                            <a:gd name="T11" fmla="*/ 256 h 1430"/>
                            <a:gd name="T12" fmla="*/ 63 w 1410"/>
                            <a:gd name="T13" fmla="*/ 291 h 1430"/>
                            <a:gd name="T14" fmla="*/ 73 w 1410"/>
                            <a:gd name="T15" fmla="*/ 316 h 1430"/>
                            <a:gd name="T16" fmla="*/ 74 w 1410"/>
                            <a:gd name="T17" fmla="*/ 400 h 1430"/>
                            <a:gd name="T18" fmla="*/ 60 w 1410"/>
                            <a:gd name="T19" fmla="*/ 465 h 1430"/>
                            <a:gd name="T20" fmla="*/ 51 w 1410"/>
                            <a:gd name="T21" fmla="*/ 528 h 1430"/>
                            <a:gd name="T22" fmla="*/ 51 w 1410"/>
                            <a:gd name="T23" fmla="*/ 600 h 1430"/>
                            <a:gd name="T24" fmla="*/ 56 w 1410"/>
                            <a:gd name="T25" fmla="*/ 629 h 1430"/>
                            <a:gd name="T26" fmla="*/ 62 w 1410"/>
                            <a:gd name="T27" fmla="*/ 703 h 1430"/>
                            <a:gd name="T28" fmla="*/ 29 w 1410"/>
                            <a:gd name="T29" fmla="*/ 900 h 1430"/>
                            <a:gd name="T30" fmla="*/ 23 w 1410"/>
                            <a:gd name="T31" fmla="*/ 1106 h 1430"/>
                            <a:gd name="T32" fmla="*/ 29 w 1410"/>
                            <a:gd name="T33" fmla="*/ 1249 h 1430"/>
                            <a:gd name="T34" fmla="*/ 0 w 1410"/>
                            <a:gd name="T35" fmla="*/ 1343 h 1430"/>
                            <a:gd name="T36" fmla="*/ 7 w 1410"/>
                            <a:gd name="T37" fmla="*/ 1371 h 1430"/>
                            <a:gd name="T38" fmla="*/ 85 w 1410"/>
                            <a:gd name="T39" fmla="*/ 1364 h 1430"/>
                            <a:gd name="T40" fmla="*/ 194 w 1410"/>
                            <a:gd name="T41" fmla="*/ 1368 h 1430"/>
                            <a:gd name="T42" fmla="*/ 285 w 1410"/>
                            <a:gd name="T43" fmla="*/ 1385 h 1430"/>
                            <a:gd name="T44" fmla="*/ 361 w 1410"/>
                            <a:gd name="T45" fmla="*/ 1394 h 1430"/>
                            <a:gd name="T46" fmla="*/ 467 w 1410"/>
                            <a:gd name="T47" fmla="*/ 1418 h 1430"/>
                            <a:gd name="T48" fmla="*/ 727 w 1410"/>
                            <a:gd name="T49" fmla="*/ 1425 h 1430"/>
                            <a:gd name="T50" fmla="*/ 954 w 1410"/>
                            <a:gd name="T51" fmla="*/ 1425 h 1430"/>
                            <a:gd name="T52" fmla="*/ 1078 w 1410"/>
                            <a:gd name="T53" fmla="*/ 1430 h 1430"/>
                            <a:gd name="T54" fmla="*/ 1278 w 1410"/>
                            <a:gd name="T55" fmla="*/ 1403 h 1430"/>
                            <a:gd name="T56" fmla="*/ 1333 w 1410"/>
                            <a:gd name="T57" fmla="*/ 1396 h 1430"/>
                            <a:gd name="T58" fmla="*/ 1369 w 1410"/>
                            <a:gd name="T59" fmla="*/ 1383 h 1430"/>
                            <a:gd name="T60" fmla="*/ 1399 w 1410"/>
                            <a:gd name="T61" fmla="*/ 1346 h 1430"/>
                            <a:gd name="T62" fmla="*/ 1398 w 1410"/>
                            <a:gd name="T63" fmla="*/ 1323 h 1430"/>
                            <a:gd name="T64" fmla="*/ 1410 w 1410"/>
                            <a:gd name="T65" fmla="*/ 1284 h 1430"/>
                            <a:gd name="T66" fmla="*/ 1398 w 1410"/>
                            <a:gd name="T67" fmla="*/ 1225 h 1430"/>
                            <a:gd name="T68" fmla="*/ 1376 w 1410"/>
                            <a:gd name="T69" fmla="*/ 1160 h 1430"/>
                            <a:gd name="T70" fmla="*/ 1376 w 1410"/>
                            <a:gd name="T71" fmla="*/ 1098 h 1430"/>
                            <a:gd name="T72" fmla="*/ 1367 w 1410"/>
                            <a:gd name="T73" fmla="*/ 1014 h 1430"/>
                            <a:gd name="T74" fmla="*/ 1374 w 1410"/>
                            <a:gd name="T75" fmla="*/ 926 h 1430"/>
                            <a:gd name="T76" fmla="*/ 1359 w 1410"/>
                            <a:gd name="T77" fmla="*/ 852 h 1430"/>
                            <a:gd name="T78" fmla="*/ 1359 w 1410"/>
                            <a:gd name="T79" fmla="*/ 660 h 1430"/>
                            <a:gd name="T80" fmla="*/ 1355 w 1410"/>
                            <a:gd name="T81" fmla="*/ 579 h 1430"/>
                            <a:gd name="T82" fmla="*/ 1362 w 1410"/>
                            <a:gd name="T83" fmla="*/ 515 h 1430"/>
                            <a:gd name="T84" fmla="*/ 1352 w 1410"/>
                            <a:gd name="T85" fmla="*/ 488 h 1430"/>
                            <a:gd name="T86" fmla="*/ 1361 w 1410"/>
                            <a:gd name="T87" fmla="*/ 338 h 1430"/>
                            <a:gd name="T88" fmla="*/ 1351 w 1410"/>
                            <a:gd name="T89" fmla="*/ 302 h 1430"/>
                            <a:gd name="T90" fmla="*/ 1385 w 1410"/>
                            <a:gd name="T91" fmla="*/ 222 h 1430"/>
                            <a:gd name="T92" fmla="*/ 1367 w 1410"/>
                            <a:gd name="T93" fmla="*/ 0 h 1430"/>
                            <a:gd name="T94" fmla="*/ 5 w 1410"/>
                            <a:gd name="T95" fmla="*/ 0 h 143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  <a:cxn ang="0">
                              <a:pos x="T70" y="T71"/>
                            </a:cxn>
                            <a:cxn ang="0">
                              <a:pos x="T72" y="T73"/>
                            </a:cxn>
                            <a:cxn ang="0">
                              <a:pos x="T74" y="T75"/>
                            </a:cxn>
                            <a:cxn ang="0">
                              <a:pos x="T76" y="T77"/>
                            </a:cxn>
                            <a:cxn ang="0">
                              <a:pos x="T78" y="T79"/>
                            </a:cxn>
                            <a:cxn ang="0">
                              <a:pos x="T80" y="T81"/>
                            </a:cxn>
                            <a:cxn ang="0">
                              <a:pos x="T82" y="T83"/>
                            </a:cxn>
                            <a:cxn ang="0">
                              <a:pos x="T84" y="T85"/>
                            </a:cxn>
                            <a:cxn ang="0">
                              <a:pos x="T86" y="T87"/>
                            </a:cxn>
                            <a:cxn ang="0">
                              <a:pos x="T88" y="T89"/>
                            </a:cxn>
                            <a:cxn ang="0">
                              <a:pos x="T90" y="T91"/>
                            </a:cxn>
                            <a:cxn ang="0">
                              <a:pos x="T92" y="T93"/>
                            </a:cxn>
                            <a:cxn ang="0">
                              <a:pos x="T94" y="T95"/>
                            </a:cxn>
                          </a:cxnLst>
                          <a:rect l="0" t="0" r="r" b="b"/>
                          <a:pathLst>
                            <a:path w="1410" h="1430">
                              <a:moveTo>
                                <a:pt x="5" y="0"/>
                              </a:moveTo>
                              <a:lnTo>
                                <a:pt x="20" y="34"/>
                              </a:lnTo>
                              <a:lnTo>
                                <a:pt x="37" y="63"/>
                              </a:lnTo>
                              <a:lnTo>
                                <a:pt x="33" y="116"/>
                              </a:lnTo>
                              <a:lnTo>
                                <a:pt x="52" y="211"/>
                              </a:lnTo>
                              <a:lnTo>
                                <a:pt x="67" y="256"/>
                              </a:lnTo>
                              <a:lnTo>
                                <a:pt x="63" y="291"/>
                              </a:lnTo>
                              <a:lnTo>
                                <a:pt x="73" y="316"/>
                              </a:lnTo>
                              <a:lnTo>
                                <a:pt x="74" y="400"/>
                              </a:lnTo>
                              <a:lnTo>
                                <a:pt x="60" y="465"/>
                              </a:lnTo>
                              <a:lnTo>
                                <a:pt x="51" y="528"/>
                              </a:lnTo>
                              <a:lnTo>
                                <a:pt x="51" y="600"/>
                              </a:lnTo>
                              <a:lnTo>
                                <a:pt x="56" y="629"/>
                              </a:lnTo>
                              <a:lnTo>
                                <a:pt x="62" y="703"/>
                              </a:lnTo>
                              <a:lnTo>
                                <a:pt x="29" y="900"/>
                              </a:lnTo>
                              <a:lnTo>
                                <a:pt x="23" y="1106"/>
                              </a:lnTo>
                              <a:lnTo>
                                <a:pt x="29" y="1249"/>
                              </a:lnTo>
                              <a:lnTo>
                                <a:pt x="0" y="1343"/>
                              </a:lnTo>
                              <a:lnTo>
                                <a:pt x="7" y="1371"/>
                              </a:lnTo>
                              <a:lnTo>
                                <a:pt x="85" y="1364"/>
                              </a:lnTo>
                              <a:lnTo>
                                <a:pt x="194" y="1368"/>
                              </a:lnTo>
                              <a:lnTo>
                                <a:pt x="285" y="1385"/>
                              </a:lnTo>
                              <a:lnTo>
                                <a:pt x="361" y="1394"/>
                              </a:lnTo>
                              <a:lnTo>
                                <a:pt x="467" y="1418"/>
                              </a:lnTo>
                              <a:lnTo>
                                <a:pt x="727" y="1425"/>
                              </a:lnTo>
                              <a:lnTo>
                                <a:pt x="954" y="1425"/>
                              </a:lnTo>
                              <a:lnTo>
                                <a:pt x="1078" y="1430"/>
                              </a:lnTo>
                              <a:lnTo>
                                <a:pt x="1278" y="1403"/>
                              </a:lnTo>
                              <a:lnTo>
                                <a:pt x="1333" y="1396"/>
                              </a:lnTo>
                              <a:lnTo>
                                <a:pt x="1369" y="1383"/>
                              </a:lnTo>
                              <a:lnTo>
                                <a:pt x="1399" y="1346"/>
                              </a:lnTo>
                              <a:lnTo>
                                <a:pt x="1398" y="1323"/>
                              </a:lnTo>
                              <a:lnTo>
                                <a:pt x="1410" y="1284"/>
                              </a:lnTo>
                              <a:lnTo>
                                <a:pt x="1398" y="1225"/>
                              </a:lnTo>
                              <a:lnTo>
                                <a:pt x="1376" y="1160"/>
                              </a:lnTo>
                              <a:lnTo>
                                <a:pt x="1376" y="1098"/>
                              </a:lnTo>
                              <a:lnTo>
                                <a:pt x="1367" y="1014"/>
                              </a:lnTo>
                              <a:lnTo>
                                <a:pt x="1374" y="926"/>
                              </a:lnTo>
                              <a:lnTo>
                                <a:pt x="1359" y="852"/>
                              </a:lnTo>
                              <a:lnTo>
                                <a:pt x="1359" y="660"/>
                              </a:lnTo>
                              <a:lnTo>
                                <a:pt x="1355" y="579"/>
                              </a:lnTo>
                              <a:lnTo>
                                <a:pt x="1362" y="515"/>
                              </a:lnTo>
                              <a:lnTo>
                                <a:pt x="1352" y="488"/>
                              </a:lnTo>
                              <a:lnTo>
                                <a:pt x="1361" y="338"/>
                              </a:lnTo>
                              <a:lnTo>
                                <a:pt x="1351" y="302"/>
                              </a:lnTo>
                              <a:lnTo>
                                <a:pt x="1385" y="222"/>
                              </a:lnTo>
                              <a:lnTo>
                                <a:pt x="1367" y="0"/>
                              </a:lnTo>
                              <a:lnTo>
                                <a:pt x="5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bg2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60" name="Freeform 3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7" y="1952"/>
                          <a:ext cx="68" cy="685"/>
                        </a:xfrm>
                        <a:custGeom>
                          <a:avLst/>
                          <a:gdLst>
                            <a:gd name="T0" fmla="*/ 5 w 136"/>
                            <a:gd name="T1" fmla="*/ 0 h 1370"/>
                            <a:gd name="T2" fmla="*/ 20 w 136"/>
                            <a:gd name="T3" fmla="*/ 34 h 1370"/>
                            <a:gd name="T4" fmla="*/ 37 w 136"/>
                            <a:gd name="T5" fmla="*/ 63 h 1370"/>
                            <a:gd name="T6" fmla="*/ 33 w 136"/>
                            <a:gd name="T7" fmla="*/ 116 h 1370"/>
                            <a:gd name="T8" fmla="*/ 52 w 136"/>
                            <a:gd name="T9" fmla="*/ 211 h 1370"/>
                            <a:gd name="T10" fmla="*/ 67 w 136"/>
                            <a:gd name="T11" fmla="*/ 255 h 1370"/>
                            <a:gd name="T12" fmla="*/ 63 w 136"/>
                            <a:gd name="T13" fmla="*/ 291 h 1370"/>
                            <a:gd name="T14" fmla="*/ 73 w 136"/>
                            <a:gd name="T15" fmla="*/ 316 h 1370"/>
                            <a:gd name="T16" fmla="*/ 74 w 136"/>
                            <a:gd name="T17" fmla="*/ 400 h 1370"/>
                            <a:gd name="T18" fmla="*/ 60 w 136"/>
                            <a:gd name="T19" fmla="*/ 465 h 1370"/>
                            <a:gd name="T20" fmla="*/ 51 w 136"/>
                            <a:gd name="T21" fmla="*/ 528 h 1370"/>
                            <a:gd name="T22" fmla="*/ 51 w 136"/>
                            <a:gd name="T23" fmla="*/ 600 h 1370"/>
                            <a:gd name="T24" fmla="*/ 56 w 136"/>
                            <a:gd name="T25" fmla="*/ 629 h 1370"/>
                            <a:gd name="T26" fmla="*/ 62 w 136"/>
                            <a:gd name="T27" fmla="*/ 703 h 1370"/>
                            <a:gd name="T28" fmla="*/ 29 w 136"/>
                            <a:gd name="T29" fmla="*/ 900 h 1370"/>
                            <a:gd name="T30" fmla="*/ 23 w 136"/>
                            <a:gd name="T31" fmla="*/ 1106 h 1370"/>
                            <a:gd name="T32" fmla="*/ 29 w 136"/>
                            <a:gd name="T33" fmla="*/ 1249 h 1370"/>
                            <a:gd name="T34" fmla="*/ 0 w 136"/>
                            <a:gd name="T35" fmla="*/ 1342 h 1370"/>
                            <a:gd name="T36" fmla="*/ 7 w 136"/>
                            <a:gd name="T37" fmla="*/ 1370 h 1370"/>
                            <a:gd name="T38" fmla="*/ 97 w 136"/>
                            <a:gd name="T39" fmla="*/ 1367 h 1370"/>
                            <a:gd name="T40" fmla="*/ 92 w 136"/>
                            <a:gd name="T41" fmla="*/ 1272 h 1370"/>
                            <a:gd name="T42" fmla="*/ 85 w 136"/>
                            <a:gd name="T43" fmla="*/ 1157 h 1370"/>
                            <a:gd name="T44" fmla="*/ 74 w 136"/>
                            <a:gd name="T45" fmla="*/ 1015 h 1370"/>
                            <a:gd name="T46" fmla="*/ 78 w 136"/>
                            <a:gd name="T47" fmla="*/ 972 h 1370"/>
                            <a:gd name="T48" fmla="*/ 90 w 136"/>
                            <a:gd name="T49" fmla="*/ 835 h 1370"/>
                            <a:gd name="T50" fmla="*/ 119 w 136"/>
                            <a:gd name="T51" fmla="*/ 688 h 1370"/>
                            <a:gd name="T52" fmla="*/ 136 w 136"/>
                            <a:gd name="T53" fmla="*/ 518 h 1370"/>
                            <a:gd name="T54" fmla="*/ 132 w 136"/>
                            <a:gd name="T55" fmla="*/ 382 h 1370"/>
                            <a:gd name="T56" fmla="*/ 127 w 136"/>
                            <a:gd name="T57" fmla="*/ 232 h 1370"/>
                            <a:gd name="T58" fmla="*/ 110 w 136"/>
                            <a:gd name="T59" fmla="*/ 145 h 1370"/>
                            <a:gd name="T60" fmla="*/ 104 w 136"/>
                            <a:gd name="T61" fmla="*/ 110 h 1370"/>
                            <a:gd name="T62" fmla="*/ 110 w 136"/>
                            <a:gd name="T63" fmla="*/ 0 h 1370"/>
                            <a:gd name="T64" fmla="*/ 5 w 136"/>
                            <a:gd name="T65" fmla="*/ 0 h 137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</a:cxnLst>
                          <a:rect l="0" t="0" r="r" b="b"/>
                          <a:pathLst>
                            <a:path w="136" h="1370">
                              <a:moveTo>
                                <a:pt x="5" y="0"/>
                              </a:moveTo>
                              <a:lnTo>
                                <a:pt x="20" y="34"/>
                              </a:lnTo>
                              <a:lnTo>
                                <a:pt x="37" y="63"/>
                              </a:lnTo>
                              <a:lnTo>
                                <a:pt x="33" y="116"/>
                              </a:lnTo>
                              <a:lnTo>
                                <a:pt x="52" y="211"/>
                              </a:lnTo>
                              <a:lnTo>
                                <a:pt x="67" y="255"/>
                              </a:lnTo>
                              <a:lnTo>
                                <a:pt x="63" y="291"/>
                              </a:lnTo>
                              <a:lnTo>
                                <a:pt x="73" y="316"/>
                              </a:lnTo>
                              <a:lnTo>
                                <a:pt x="74" y="400"/>
                              </a:lnTo>
                              <a:lnTo>
                                <a:pt x="60" y="465"/>
                              </a:lnTo>
                              <a:lnTo>
                                <a:pt x="51" y="528"/>
                              </a:lnTo>
                              <a:lnTo>
                                <a:pt x="51" y="600"/>
                              </a:lnTo>
                              <a:lnTo>
                                <a:pt x="56" y="629"/>
                              </a:lnTo>
                              <a:lnTo>
                                <a:pt x="62" y="703"/>
                              </a:lnTo>
                              <a:lnTo>
                                <a:pt x="29" y="900"/>
                              </a:lnTo>
                              <a:lnTo>
                                <a:pt x="23" y="1106"/>
                              </a:lnTo>
                              <a:lnTo>
                                <a:pt x="29" y="1249"/>
                              </a:lnTo>
                              <a:lnTo>
                                <a:pt x="0" y="1342"/>
                              </a:lnTo>
                              <a:lnTo>
                                <a:pt x="7" y="1370"/>
                              </a:lnTo>
                              <a:lnTo>
                                <a:pt x="97" y="1367"/>
                              </a:lnTo>
                              <a:lnTo>
                                <a:pt x="92" y="1272"/>
                              </a:lnTo>
                              <a:lnTo>
                                <a:pt x="85" y="1157"/>
                              </a:lnTo>
                              <a:lnTo>
                                <a:pt x="74" y="1015"/>
                              </a:lnTo>
                              <a:lnTo>
                                <a:pt x="78" y="972"/>
                              </a:lnTo>
                              <a:lnTo>
                                <a:pt x="90" y="835"/>
                              </a:lnTo>
                              <a:lnTo>
                                <a:pt x="119" y="688"/>
                              </a:lnTo>
                              <a:lnTo>
                                <a:pt x="136" y="518"/>
                              </a:lnTo>
                              <a:lnTo>
                                <a:pt x="132" y="382"/>
                              </a:lnTo>
                              <a:lnTo>
                                <a:pt x="127" y="232"/>
                              </a:lnTo>
                              <a:lnTo>
                                <a:pt x="110" y="145"/>
                              </a:lnTo>
                              <a:lnTo>
                                <a:pt x="104" y="110"/>
                              </a:lnTo>
                              <a:lnTo>
                                <a:pt x="110" y="0"/>
                              </a:lnTo>
                              <a:lnTo>
                                <a:pt x="5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bg2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61" name="Freeform 3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75" y="1951"/>
                          <a:ext cx="404" cy="716"/>
                        </a:xfrm>
                        <a:custGeom>
                          <a:avLst/>
                          <a:gdLst>
                            <a:gd name="T0" fmla="*/ 52 w 809"/>
                            <a:gd name="T1" fmla="*/ 0 h 1432"/>
                            <a:gd name="T2" fmla="*/ 70 w 809"/>
                            <a:gd name="T3" fmla="*/ 112 h 1432"/>
                            <a:gd name="T4" fmla="*/ 85 w 809"/>
                            <a:gd name="T5" fmla="*/ 158 h 1432"/>
                            <a:gd name="T6" fmla="*/ 87 w 809"/>
                            <a:gd name="T7" fmla="*/ 254 h 1432"/>
                            <a:gd name="T8" fmla="*/ 108 w 809"/>
                            <a:gd name="T9" fmla="*/ 458 h 1432"/>
                            <a:gd name="T10" fmla="*/ 101 w 809"/>
                            <a:gd name="T11" fmla="*/ 565 h 1432"/>
                            <a:gd name="T12" fmla="*/ 79 w 809"/>
                            <a:gd name="T13" fmla="*/ 682 h 1432"/>
                            <a:gd name="T14" fmla="*/ 100 w 809"/>
                            <a:gd name="T15" fmla="*/ 736 h 1432"/>
                            <a:gd name="T16" fmla="*/ 107 w 809"/>
                            <a:gd name="T17" fmla="*/ 798 h 1432"/>
                            <a:gd name="T18" fmla="*/ 110 w 809"/>
                            <a:gd name="T19" fmla="*/ 896 h 1432"/>
                            <a:gd name="T20" fmla="*/ 92 w 809"/>
                            <a:gd name="T21" fmla="*/ 961 h 1432"/>
                            <a:gd name="T22" fmla="*/ 61 w 809"/>
                            <a:gd name="T23" fmla="*/ 1034 h 1432"/>
                            <a:gd name="T24" fmla="*/ 63 w 809"/>
                            <a:gd name="T25" fmla="*/ 1238 h 1432"/>
                            <a:gd name="T26" fmla="*/ 0 w 809"/>
                            <a:gd name="T27" fmla="*/ 1354 h 1432"/>
                            <a:gd name="T28" fmla="*/ 1 w 809"/>
                            <a:gd name="T29" fmla="*/ 1385 h 1432"/>
                            <a:gd name="T30" fmla="*/ 96 w 809"/>
                            <a:gd name="T31" fmla="*/ 1397 h 1432"/>
                            <a:gd name="T32" fmla="*/ 184 w 809"/>
                            <a:gd name="T33" fmla="*/ 1420 h 1432"/>
                            <a:gd name="T34" fmla="*/ 408 w 809"/>
                            <a:gd name="T35" fmla="*/ 1426 h 1432"/>
                            <a:gd name="T36" fmla="*/ 627 w 809"/>
                            <a:gd name="T37" fmla="*/ 1427 h 1432"/>
                            <a:gd name="T38" fmla="*/ 801 w 809"/>
                            <a:gd name="T39" fmla="*/ 1432 h 1432"/>
                            <a:gd name="T40" fmla="*/ 799 w 809"/>
                            <a:gd name="T41" fmla="*/ 1283 h 1432"/>
                            <a:gd name="T42" fmla="*/ 809 w 809"/>
                            <a:gd name="T43" fmla="*/ 980 h 1432"/>
                            <a:gd name="T44" fmla="*/ 773 w 809"/>
                            <a:gd name="T45" fmla="*/ 900 h 1432"/>
                            <a:gd name="T46" fmla="*/ 726 w 809"/>
                            <a:gd name="T47" fmla="*/ 795 h 1432"/>
                            <a:gd name="T48" fmla="*/ 722 w 809"/>
                            <a:gd name="T49" fmla="*/ 742 h 1432"/>
                            <a:gd name="T50" fmla="*/ 728 w 809"/>
                            <a:gd name="T51" fmla="*/ 643 h 1432"/>
                            <a:gd name="T52" fmla="*/ 754 w 809"/>
                            <a:gd name="T53" fmla="*/ 450 h 1432"/>
                            <a:gd name="T54" fmla="*/ 737 w 809"/>
                            <a:gd name="T55" fmla="*/ 375 h 1432"/>
                            <a:gd name="T56" fmla="*/ 759 w 809"/>
                            <a:gd name="T57" fmla="*/ 265 h 1432"/>
                            <a:gd name="T58" fmla="*/ 788 w 809"/>
                            <a:gd name="T59" fmla="*/ 206 h 1432"/>
                            <a:gd name="T60" fmla="*/ 765 w 809"/>
                            <a:gd name="T61" fmla="*/ 0 h 1432"/>
                            <a:gd name="T62" fmla="*/ 52 w 809"/>
                            <a:gd name="T63" fmla="*/ 0 h 143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</a:cxnLst>
                          <a:rect l="0" t="0" r="r" b="b"/>
                          <a:pathLst>
                            <a:path w="809" h="1432">
                              <a:moveTo>
                                <a:pt x="52" y="0"/>
                              </a:moveTo>
                              <a:lnTo>
                                <a:pt x="70" y="112"/>
                              </a:lnTo>
                              <a:lnTo>
                                <a:pt x="85" y="158"/>
                              </a:lnTo>
                              <a:lnTo>
                                <a:pt x="87" y="254"/>
                              </a:lnTo>
                              <a:lnTo>
                                <a:pt x="108" y="458"/>
                              </a:lnTo>
                              <a:lnTo>
                                <a:pt x="101" y="565"/>
                              </a:lnTo>
                              <a:lnTo>
                                <a:pt x="79" y="682"/>
                              </a:lnTo>
                              <a:lnTo>
                                <a:pt x="100" y="736"/>
                              </a:lnTo>
                              <a:lnTo>
                                <a:pt x="107" y="798"/>
                              </a:lnTo>
                              <a:lnTo>
                                <a:pt x="110" y="896"/>
                              </a:lnTo>
                              <a:lnTo>
                                <a:pt x="92" y="961"/>
                              </a:lnTo>
                              <a:lnTo>
                                <a:pt x="61" y="1034"/>
                              </a:lnTo>
                              <a:lnTo>
                                <a:pt x="63" y="1238"/>
                              </a:lnTo>
                              <a:lnTo>
                                <a:pt x="0" y="1354"/>
                              </a:lnTo>
                              <a:lnTo>
                                <a:pt x="1" y="1385"/>
                              </a:lnTo>
                              <a:lnTo>
                                <a:pt x="96" y="1397"/>
                              </a:lnTo>
                              <a:lnTo>
                                <a:pt x="184" y="1420"/>
                              </a:lnTo>
                              <a:lnTo>
                                <a:pt x="408" y="1426"/>
                              </a:lnTo>
                              <a:lnTo>
                                <a:pt x="627" y="1427"/>
                              </a:lnTo>
                              <a:lnTo>
                                <a:pt x="801" y="1432"/>
                              </a:lnTo>
                              <a:lnTo>
                                <a:pt x="799" y="1283"/>
                              </a:lnTo>
                              <a:lnTo>
                                <a:pt x="809" y="980"/>
                              </a:lnTo>
                              <a:lnTo>
                                <a:pt x="773" y="900"/>
                              </a:lnTo>
                              <a:lnTo>
                                <a:pt x="726" y="795"/>
                              </a:lnTo>
                              <a:lnTo>
                                <a:pt x="722" y="742"/>
                              </a:lnTo>
                              <a:lnTo>
                                <a:pt x="728" y="643"/>
                              </a:lnTo>
                              <a:lnTo>
                                <a:pt x="754" y="450"/>
                              </a:lnTo>
                              <a:lnTo>
                                <a:pt x="737" y="375"/>
                              </a:lnTo>
                              <a:lnTo>
                                <a:pt x="759" y="265"/>
                              </a:lnTo>
                              <a:lnTo>
                                <a:pt x="788" y="206"/>
                              </a:lnTo>
                              <a:lnTo>
                                <a:pt x="765" y="0"/>
                              </a:lnTo>
                              <a:lnTo>
                                <a:pt x="52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bg2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  <p:sp>
                    <p:nvSpPr>
                      <p:cNvPr id="458" name="Freeform 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9" y="1943"/>
                        <a:ext cx="690" cy="134"/>
                      </a:xfrm>
                      <a:custGeom>
                        <a:avLst/>
                        <a:gdLst>
                          <a:gd name="T0" fmla="*/ 0 w 1381"/>
                          <a:gd name="T1" fmla="*/ 6 h 266"/>
                          <a:gd name="T2" fmla="*/ 30 w 1381"/>
                          <a:gd name="T3" fmla="*/ 82 h 266"/>
                          <a:gd name="T4" fmla="*/ 52 w 1381"/>
                          <a:gd name="T5" fmla="*/ 99 h 266"/>
                          <a:gd name="T6" fmla="*/ 66 w 1381"/>
                          <a:gd name="T7" fmla="*/ 137 h 266"/>
                          <a:gd name="T8" fmla="*/ 76 w 1381"/>
                          <a:gd name="T9" fmla="*/ 162 h 266"/>
                          <a:gd name="T10" fmla="*/ 133 w 1381"/>
                          <a:gd name="T11" fmla="*/ 143 h 266"/>
                          <a:gd name="T12" fmla="*/ 174 w 1381"/>
                          <a:gd name="T13" fmla="*/ 113 h 266"/>
                          <a:gd name="T14" fmla="*/ 212 w 1381"/>
                          <a:gd name="T15" fmla="*/ 125 h 266"/>
                          <a:gd name="T16" fmla="*/ 234 w 1381"/>
                          <a:gd name="T17" fmla="*/ 248 h 266"/>
                          <a:gd name="T18" fmla="*/ 329 w 1381"/>
                          <a:gd name="T19" fmla="*/ 173 h 266"/>
                          <a:gd name="T20" fmla="*/ 415 w 1381"/>
                          <a:gd name="T21" fmla="*/ 123 h 266"/>
                          <a:gd name="T22" fmla="*/ 423 w 1381"/>
                          <a:gd name="T23" fmla="*/ 133 h 266"/>
                          <a:gd name="T24" fmla="*/ 467 w 1381"/>
                          <a:gd name="T25" fmla="*/ 137 h 266"/>
                          <a:gd name="T26" fmla="*/ 484 w 1381"/>
                          <a:gd name="T27" fmla="*/ 194 h 266"/>
                          <a:gd name="T28" fmla="*/ 522 w 1381"/>
                          <a:gd name="T29" fmla="*/ 184 h 266"/>
                          <a:gd name="T30" fmla="*/ 543 w 1381"/>
                          <a:gd name="T31" fmla="*/ 266 h 266"/>
                          <a:gd name="T32" fmla="*/ 604 w 1381"/>
                          <a:gd name="T33" fmla="*/ 216 h 266"/>
                          <a:gd name="T34" fmla="*/ 669 w 1381"/>
                          <a:gd name="T35" fmla="*/ 190 h 266"/>
                          <a:gd name="T36" fmla="*/ 711 w 1381"/>
                          <a:gd name="T37" fmla="*/ 128 h 266"/>
                          <a:gd name="T38" fmla="*/ 741 w 1381"/>
                          <a:gd name="T39" fmla="*/ 146 h 266"/>
                          <a:gd name="T40" fmla="*/ 768 w 1381"/>
                          <a:gd name="T41" fmla="*/ 218 h 266"/>
                          <a:gd name="T42" fmla="*/ 821 w 1381"/>
                          <a:gd name="T43" fmla="*/ 165 h 266"/>
                          <a:gd name="T44" fmla="*/ 859 w 1381"/>
                          <a:gd name="T45" fmla="*/ 193 h 266"/>
                          <a:gd name="T46" fmla="*/ 927 w 1381"/>
                          <a:gd name="T47" fmla="*/ 132 h 266"/>
                          <a:gd name="T48" fmla="*/ 944 w 1381"/>
                          <a:gd name="T49" fmla="*/ 146 h 266"/>
                          <a:gd name="T50" fmla="*/ 965 w 1381"/>
                          <a:gd name="T51" fmla="*/ 154 h 266"/>
                          <a:gd name="T52" fmla="*/ 987 w 1381"/>
                          <a:gd name="T53" fmla="*/ 246 h 266"/>
                          <a:gd name="T54" fmla="*/ 1021 w 1381"/>
                          <a:gd name="T55" fmla="*/ 194 h 266"/>
                          <a:gd name="T56" fmla="*/ 1071 w 1381"/>
                          <a:gd name="T57" fmla="*/ 143 h 266"/>
                          <a:gd name="T58" fmla="*/ 1095 w 1381"/>
                          <a:gd name="T59" fmla="*/ 167 h 266"/>
                          <a:gd name="T60" fmla="*/ 1145 w 1381"/>
                          <a:gd name="T61" fmla="*/ 122 h 266"/>
                          <a:gd name="T62" fmla="*/ 1183 w 1381"/>
                          <a:gd name="T63" fmla="*/ 132 h 266"/>
                          <a:gd name="T64" fmla="*/ 1199 w 1381"/>
                          <a:gd name="T65" fmla="*/ 151 h 266"/>
                          <a:gd name="T66" fmla="*/ 1208 w 1381"/>
                          <a:gd name="T67" fmla="*/ 190 h 266"/>
                          <a:gd name="T68" fmla="*/ 1222 w 1381"/>
                          <a:gd name="T69" fmla="*/ 145 h 266"/>
                          <a:gd name="T70" fmla="*/ 1227 w 1381"/>
                          <a:gd name="T71" fmla="*/ 130 h 266"/>
                          <a:gd name="T72" fmla="*/ 1279 w 1381"/>
                          <a:gd name="T73" fmla="*/ 114 h 266"/>
                          <a:gd name="T74" fmla="*/ 1357 w 1381"/>
                          <a:gd name="T75" fmla="*/ 106 h 266"/>
                          <a:gd name="T76" fmla="*/ 1381 w 1381"/>
                          <a:gd name="T77" fmla="*/ 0 h 266"/>
                          <a:gd name="T78" fmla="*/ 0 w 1381"/>
                          <a:gd name="T79" fmla="*/ 6 h 26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</a:cxnLst>
                        <a:rect l="0" t="0" r="r" b="b"/>
                        <a:pathLst>
                          <a:path w="1381" h="266">
                            <a:moveTo>
                              <a:pt x="0" y="6"/>
                            </a:moveTo>
                            <a:lnTo>
                              <a:pt x="30" y="82"/>
                            </a:lnTo>
                            <a:lnTo>
                              <a:pt x="52" y="99"/>
                            </a:lnTo>
                            <a:lnTo>
                              <a:pt x="66" y="137"/>
                            </a:lnTo>
                            <a:lnTo>
                              <a:pt x="76" y="162"/>
                            </a:lnTo>
                            <a:lnTo>
                              <a:pt x="133" y="143"/>
                            </a:lnTo>
                            <a:lnTo>
                              <a:pt x="174" y="113"/>
                            </a:lnTo>
                            <a:lnTo>
                              <a:pt x="212" y="125"/>
                            </a:lnTo>
                            <a:lnTo>
                              <a:pt x="234" y="248"/>
                            </a:lnTo>
                            <a:lnTo>
                              <a:pt x="329" y="173"/>
                            </a:lnTo>
                            <a:lnTo>
                              <a:pt x="415" y="123"/>
                            </a:lnTo>
                            <a:lnTo>
                              <a:pt x="423" y="133"/>
                            </a:lnTo>
                            <a:lnTo>
                              <a:pt x="467" y="137"/>
                            </a:lnTo>
                            <a:lnTo>
                              <a:pt x="484" y="194"/>
                            </a:lnTo>
                            <a:lnTo>
                              <a:pt x="522" y="184"/>
                            </a:lnTo>
                            <a:lnTo>
                              <a:pt x="543" y="266"/>
                            </a:lnTo>
                            <a:lnTo>
                              <a:pt x="604" y="216"/>
                            </a:lnTo>
                            <a:lnTo>
                              <a:pt x="669" y="190"/>
                            </a:lnTo>
                            <a:lnTo>
                              <a:pt x="711" y="128"/>
                            </a:lnTo>
                            <a:lnTo>
                              <a:pt x="741" y="146"/>
                            </a:lnTo>
                            <a:lnTo>
                              <a:pt x="768" y="218"/>
                            </a:lnTo>
                            <a:lnTo>
                              <a:pt x="821" y="165"/>
                            </a:lnTo>
                            <a:lnTo>
                              <a:pt x="859" y="193"/>
                            </a:lnTo>
                            <a:lnTo>
                              <a:pt x="927" y="132"/>
                            </a:lnTo>
                            <a:lnTo>
                              <a:pt x="944" y="146"/>
                            </a:lnTo>
                            <a:lnTo>
                              <a:pt x="965" y="154"/>
                            </a:lnTo>
                            <a:lnTo>
                              <a:pt x="987" y="246"/>
                            </a:lnTo>
                            <a:lnTo>
                              <a:pt x="1021" y="194"/>
                            </a:lnTo>
                            <a:lnTo>
                              <a:pt x="1071" y="143"/>
                            </a:lnTo>
                            <a:lnTo>
                              <a:pt x="1095" y="167"/>
                            </a:lnTo>
                            <a:lnTo>
                              <a:pt x="1145" y="122"/>
                            </a:lnTo>
                            <a:lnTo>
                              <a:pt x="1183" y="132"/>
                            </a:lnTo>
                            <a:lnTo>
                              <a:pt x="1199" y="151"/>
                            </a:lnTo>
                            <a:lnTo>
                              <a:pt x="1208" y="190"/>
                            </a:lnTo>
                            <a:lnTo>
                              <a:pt x="1222" y="145"/>
                            </a:lnTo>
                            <a:lnTo>
                              <a:pt x="1227" y="130"/>
                            </a:lnTo>
                            <a:lnTo>
                              <a:pt x="1279" y="114"/>
                            </a:lnTo>
                            <a:lnTo>
                              <a:pt x="1357" y="106"/>
                            </a:lnTo>
                            <a:lnTo>
                              <a:pt x="1381" y="0"/>
                            </a:lnTo>
                            <a:lnTo>
                              <a:pt x="0" y="6"/>
                            </a:lnTo>
                            <a:close/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grpSp>
                  <p:nvGrpSpPr>
                    <p:cNvPr id="448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88" y="1970"/>
                      <a:ext cx="636" cy="694"/>
                      <a:chOff x="1588" y="1970"/>
                      <a:chExt cx="636" cy="694"/>
                    </a:xfrm>
                  </p:grpSpPr>
                  <p:sp>
                    <p:nvSpPr>
                      <p:cNvPr id="449" name="Freeform 3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88" y="1974"/>
                        <a:ext cx="5" cy="46"/>
                      </a:xfrm>
                      <a:custGeom>
                        <a:avLst/>
                        <a:gdLst>
                          <a:gd name="T0" fmla="*/ 6 w 11"/>
                          <a:gd name="T1" fmla="*/ 93 h 93"/>
                          <a:gd name="T2" fmla="*/ 0 w 11"/>
                          <a:gd name="T3" fmla="*/ 67 h 93"/>
                          <a:gd name="T4" fmla="*/ 11 w 11"/>
                          <a:gd name="T5" fmla="*/ 0 h 9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11" h="93">
                            <a:moveTo>
                              <a:pt x="6" y="93"/>
                            </a:moveTo>
                            <a:lnTo>
                              <a:pt x="0" y="67"/>
                            </a:lnTo>
                            <a:lnTo>
                              <a:pt x="11" y="0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450" name="Freeform 3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27" y="1970"/>
                        <a:ext cx="57" cy="664"/>
                      </a:xfrm>
                      <a:custGeom>
                        <a:avLst/>
                        <a:gdLst>
                          <a:gd name="T0" fmla="*/ 98 w 112"/>
                          <a:gd name="T1" fmla="*/ 0 h 1328"/>
                          <a:gd name="T2" fmla="*/ 109 w 112"/>
                          <a:gd name="T3" fmla="*/ 153 h 1328"/>
                          <a:gd name="T4" fmla="*/ 112 w 112"/>
                          <a:gd name="T5" fmla="*/ 396 h 1328"/>
                          <a:gd name="T6" fmla="*/ 105 w 112"/>
                          <a:gd name="T7" fmla="*/ 487 h 1328"/>
                          <a:gd name="T8" fmla="*/ 65 w 112"/>
                          <a:gd name="T9" fmla="*/ 589 h 1328"/>
                          <a:gd name="T10" fmla="*/ 69 w 112"/>
                          <a:gd name="T11" fmla="*/ 662 h 1328"/>
                          <a:gd name="T12" fmla="*/ 87 w 112"/>
                          <a:gd name="T13" fmla="*/ 840 h 1328"/>
                          <a:gd name="T14" fmla="*/ 36 w 112"/>
                          <a:gd name="T15" fmla="*/ 1040 h 1328"/>
                          <a:gd name="T16" fmla="*/ 29 w 112"/>
                          <a:gd name="T17" fmla="*/ 1171 h 1328"/>
                          <a:gd name="T18" fmla="*/ 0 w 112"/>
                          <a:gd name="T19" fmla="*/ 1328 h 132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112" h="1328">
                            <a:moveTo>
                              <a:pt x="98" y="0"/>
                            </a:moveTo>
                            <a:lnTo>
                              <a:pt x="109" y="153"/>
                            </a:lnTo>
                            <a:lnTo>
                              <a:pt x="112" y="396"/>
                            </a:lnTo>
                            <a:lnTo>
                              <a:pt x="105" y="487"/>
                            </a:lnTo>
                            <a:lnTo>
                              <a:pt x="65" y="589"/>
                            </a:lnTo>
                            <a:lnTo>
                              <a:pt x="69" y="662"/>
                            </a:lnTo>
                            <a:lnTo>
                              <a:pt x="87" y="840"/>
                            </a:lnTo>
                            <a:lnTo>
                              <a:pt x="36" y="1040"/>
                            </a:lnTo>
                            <a:lnTo>
                              <a:pt x="29" y="1171"/>
                            </a:lnTo>
                            <a:lnTo>
                              <a:pt x="0" y="1328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451" name="Freeform 3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93" y="1970"/>
                        <a:ext cx="34" cy="690"/>
                      </a:xfrm>
                      <a:custGeom>
                        <a:avLst/>
                        <a:gdLst>
                          <a:gd name="T0" fmla="*/ 55 w 70"/>
                          <a:gd name="T1" fmla="*/ 0 h 1379"/>
                          <a:gd name="T2" fmla="*/ 44 w 70"/>
                          <a:gd name="T3" fmla="*/ 131 h 1379"/>
                          <a:gd name="T4" fmla="*/ 0 w 70"/>
                          <a:gd name="T5" fmla="*/ 451 h 1379"/>
                          <a:gd name="T6" fmla="*/ 44 w 70"/>
                          <a:gd name="T7" fmla="*/ 713 h 1379"/>
                          <a:gd name="T8" fmla="*/ 30 w 70"/>
                          <a:gd name="T9" fmla="*/ 836 h 1379"/>
                          <a:gd name="T10" fmla="*/ 19 w 70"/>
                          <a:gd name="T11" fmla="*/ 938 h 1379"/>
                          <a:gd name="T12" fmla="*/ 70 w 70"/>
                          <a:gd name="T13" fmla="*/ 1109 h 1379"/>
                          <a:gd name="T14" fmla="*/ 26 w 70"/>
                          <a:gd name="T15" fmla="*/ 1379 h 137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70" h="1379">
                            <a:moveTo>
                              <a:pt x="55" y="0"/>
                            </a:moveTo>
                            <a:lnTo>
                              <a:pt x="44" y="131"/>
                            </a:lnTo>
                            <a:lnTo>
                              <a:pt x="0" y="451"/>
                            </a:lnTo>
                            <a:lnTo>
                              <a:pt x="44" y="713"/>
                            </a:lnTo>
                            <a:lnTo>
                              <a:pt x="30" y="836"/>
                            </a:lnTo>
                            <a:lnTo>
                              <a:pt x="19" y="938"/>
                            </a:lnTo>
                            <a:lnTo>
                              <a:pt x="70" y="1109"/>
                            </a:lnTo>
                            <a:lnTo>
                              <a:pt x="26" y="1379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452" name="Freeform 3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98" y="2130"/>
                        <a:ext cx="71" cy="534"/>
                      </a:xfrm>
                      <a:custGeom>
                        <a:avLst/>
                        <a:gdLst>
                          <a:gd name="T0" fmla="*/ 33 w 142"/>
                          <a:gd name="T1" fmla="*/ 0 h 1069"/>
                          <a:gd name="T2" fmla="*/ 0 w 142"/>
                          <a:gd name="T3" fmla="*/ 211 h 1069"/>
                          <a:gd name="T4" fmla="*/ 11 w 142"/>
                          <a:gd name="T5" fmla="*/ 393 h 1069"/>
                          <a:gd name="T6" fmla="*/ 95 w 142"/>
                          <a:gd name="T7" fmla="*/ 665 h 1069"/>
                          <a:gd name="T8" fmla="*/ 87 w 142"/>
                          <a:gd name="T9" fmla="*/ 782 h 1069"/>
                          <a:gd name="T10" fmla="*/ 127 w 142"/>
                          <a:gd name="T11" fmla="*/ 854 h 1069"/>
                          <a:gd name="T12" fmla="*/ 142 w 142"/>
                          <a:gd name="T13" fmla="*/ 1069 h 106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42" h="1069">
                            <a:moveTo>
                              <a:pt x="33" y="0"/>
                            </a:moveTo>
                            <a:lnTo>
                              <a:pt x="0" y="211"/>
                            </a:lnTo>
                            <a:lnTo>
                              <a:pt x="11" y="393"/>
                            </a:lnTo>
                            <a:lnTo>
                              <a:pt x="95" y="665"/>
                            </a:lnTo>
                            <a:lnTo>
                              <a:pt x="87" y="782"/>
                            </a:lnTo>
                            <a:lnTo>
                              <a:pt x="127" y="854"/>
                            </a:lnTo>
                            <a:lnTo>
                              <a:pt x="142" y="1069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453" name="Freeform 3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94" y="1977"/>
                        <a:ext cx="55" cy="681"/>
                      </a:xfrm>
                      <a:custGeom>
                        <a:avLst/>
                        <a:gdLst>
                          <a:gd name="T0" fmla="*/ 40 w 109"/>
                          <a:gd name="T1" fmla="*/ 0 h 1361"/>
                          <a:gd name="T2" fmla="*/ 83 w 109"/>
                          <a:gd name="T3" fmla="*/ 211 h 1361"/>
                          <a:gd name="T4" fmla="*/ 18 w 109"/>
                          <a:gd name="T5" fmla="*/ 389 h 1361"/>
                          <a:gd name="T6" fmla="*/ 0 w 109"/>
                          <a:gd name="T7" fmla="*/ 530 h 1361"/>
                          <a:gd name="T8" fmla="*/ 22 w 109"/>
                          <a:gd name="T9" fmla="*/ 661 h 1361"/>
                          <a:gd name="T10" fmla="*/ 76 w 109"/>
                          <a:gd name="T11" fmla="*/ 796 h 1361"/>
                          <a:gd name="T12" fmla="*/ 109 w 109"/>
                          <a:gd name="T13" fmla="*/ 865 h 1361"/>
                          <a:gd name="T14" fmla="*/ 80 w 109"/>
                          <a:gd name="T15" fmla="*/ 1090 h 1361"/>
                          <a:gd name="T16" fmla="*/ 105 w 109"/>
                          <a:gd name="T17" fmla="*/ 1145 h 1361"/>
                          <a:gd name="T18" fmla="*/ 85 w 109"/>
                          <a:gd name="T19" fmla="*/ 1361 h 136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109" h="1361">
                            <a:moveTo>
                              <a:pt x="40" y="0"/>
                            </a:moveTo>
                            <a:lnTo>
                              <a:pt x="83" y="211"/>
                            </a:lnTo>
                            <a:lnTo>
                              <a:pt x="18" y="389"/>
                            </a:lnTo>
                            <a:lnTo>
                              <a:pt x="0" y="530"/>
                            </a:lnTo>
                            <a:lnTo>
                              <a:pt x="22" y="661"/>
                            </a:lnTo>
                            <a:lnTo>
                              <a:pt x="76" y="796"/>
                            </a:lnTo>
                            <a:lnTo>
                              <a:pt x="109" y="865"/>
                            </a:lnTo>
                            <a:lnTo>
                              <a:pt x="80" y="1090"/>
                            </a:lnTo>
                            <a:lnTo>
                              <a:pt x="105" y="1145"/>
                            </a:lnTo>
                            <a:lnTo>
                              <a:pt x="85" y="1361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454" name="Freeform 3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73" y="1974"/>
                        <a:ext cx="45" cy="441"/>
                      </a:xfrm>
                      <a:custGeom>
                        <a:avLst/>
                        <a:gdLst>
                          <a:gd name="T0" fmla="*/ 4 w 91"/>
                          <a:gd name="T1" fmla="*/ 0 h 884"/>
                          <a:gd name="T2" fmla="*/ 0 w 91"/>
                          <a:gd name="T3" fmla="*/ 204 h 884"/>
                          <a:gd name="T4" fmla="*/ 40 w 91"/>
                          <a:gd name="T5" fmla="*/ 309 h 884"/>
                          <a:gd name="T6" fmla="*/ 7 w 91"/>
                          <a:gd name="T7" fmla="*/ 495 h 884"/>
                          <a:gd name="T8" fmla="*/ 29 w 91"/>
                          <a:gd name="T9" fmla="*/ 604 h 884"/>
                          <a:gd name="T10" fmla="*/ 91 w 91"/>
                          <a:gd name="T11" fmla="*/ 884 h 88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</a:cxnLst>
                        <a:rect l="0" t="0" r="r" b="b"/>
                        <a:pathLst>
                          <a:path w="91" h="884">
                            <a:moveTo>
                              <a:pt x="4" y="0"/>
                            </a:moveTo>
                            <a:lnTo>
                              <a:pt x="0" y="204"/>
                            </a:lnTo>
                            <a:lnTo>
                              <a:pt x="40" y="309"/>
                            </a:lnTo>
                            <a:lnTo>
                              <a:pt x="7" y="495"/>
                            </a:lnTo>
                            <a:lnTo>
                              <a:pt x="29" y="604"/>
                            </a:lnTo>
                            <a:lnTo>
                              <a:pt x="91" y="884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455" name="Freeform 4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44" y="2368"/>
                        <a:ext cx="65" cy="271"/>
                      </a:xfrm>
                      <a:custGeom>
                        <a:avLst/>
                        <a:gdLst>
                          <a:gd name="T0" fmla="*/ 131 w 131"/>
                          <a:gd name="T1" fmla="*/ 0 h 543"/>
                          <a:gd name="T2" fmla="*/ 73 w 131"/>
                          <a:gd name="T3" fmla="*/ 142 h 543"/>
                          <a:gd name="T4" fmla="*/ 91 w 131"/>
                          <a:gd name="T5" fmla="*/ 204 h 543"/>
                          <a:gd name="T6" fmla="*/ 77 w 131"/>
                          <a:gd name="T7" fmla="*/ 360 h 543"/>
                          <a:gd name="T8" fmla="*/ 0 w 131"/>
                          <a:gd name="T9" fmla="*/ 543 h 54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31" h="543">
                            <a:moveTo>
                              <a:pt x="131" y="0"/>
                            </a:moveTo>
                            <a:lnTo>
                              <a:pt x="73" y="142"/>
                            </a:lnTo>
                            <a:lnTo>
                              <a:pt x="91" y="204"/>
                            </a:lnTo>
                            <a:lnTo>
                              <a:pt x="77" y="360"/>
                            </a:lnTo>
                            <a:lnTo>
                              <a:pt x="0" y="543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456" name="Freeform 4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69" y="2375"/>
                        <a:ext cx="55" cy="266"/>
                      </a:xfrm>
                      <a:custGeom>
                        <a:avLst/>
                        <a:gdLst>
                          <a:gd name="T0" fmla="*/ 0 w 110"/>
                          <a:gd name="T1" fmla="*/ 0 h 532"/>
                          <a:gd name="T2" fmla="*/ 32 w 110"/>
                          <a:gd name="T3" fmla="*/ 185 h 532"/>
                          <a:gd name="T4" fmla="*/ 14 w 110"/>
                          <a:gd name="T5" fmla="*/ 305 h 532"/>
                          <a:gd name="T6" fmla="*/ 94 w 110"/>
                          <a:gd name="T7" fmla="*/ 423 h 532"/>
                          <a:gd name="T8" fmla="*/ 110 w 110"/>
                          <a:gd name="T9" fmla="*/ 532 h 53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10" h="532">
                            <a:moveTo>
                              <a:pt x="0" y="0"/>
                            </a:moveTo>
                            <a:lnTo>
                              <a:pt x="32" y="185"/>
                            </a:lnTo>
                            <a:lnTo>
                              <a:pt x="14" y="305"/>
                            </a:lnTo>
                            <a:lnTo>
                              <a:pt x="94" y="423"/>
                            </a:lnTo>
                            <a:lnTo>
                              <a:pt x="110" y="532"/>
                            </a:lnTo>
                          </a:path>
                        </a:pathLst>
                      </a:custGeom>
                      <a:solidFill>
                        <a:schemeClr val="bg2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</p:grpSp>
              <p:sp>
                <p:nvSpPr>
                  <p:cNvPr id="446" name="Freeform 42"/>
                  <p:cNvSpPr>
                    <a:spLocks/>
                  </p:cNvSpPr>
                  <p:nvPr/>
                </p:nvSpPr>
                <p:spPr bwMode="auto">
                  <a:xfrm>
                    <a:off x="1490" y="1892"/>
                    <a:ext cx="781" cy="117"/>
                  </a:xfrm>
                  <a:custGeom>
                    <a:avLst/>
                    <a:gdLst>
                      <a:gd name="T0" fmla="*/ 0 w 1561"/>
                      <a:gd name="T1" fmla="*/ 223 h 234"/>
                      <a:gd name="T2" fmla="*/ 93 w 1561"/>
                      <a:gd name="T3" fmla="*/ 88 h 234"/>
                      <a:gd name="T4" fmla="*/ 134 w 1561"/>
                      <a:gd name="T5" fmla="*/ 65 h 234"/>
                      <a:gd name="T6" fmla="*/ 188 w 1561"/>
                      <a:gd name="T7" fmla="*/ 56 h 234"/>
                      <a:gd name="T8" fmla="*/ 315 w 1561"/>
                      <a:gd name="T9" fmla="*/ 48 h 234"/>
                      <a:gd name="T10" fmla="*/ 352 w 1561"/>
                      <a:gd name="T11" fmla="*/ 47 h 234"/>
                      <a:gd name="T12" fmla="*/ 446 w 1561"/>
                      <a:gd name="T13" fmla="*/ 29 h 234"/>
                      <a:gd name="T14" fmla="*/ 509 w 1561"/>
                      <a:gd name="T15" fmla="*/ 18 h 234"/>
                      <a:gd name="T16" fmla="*/ 559 w 1561"/>
                      <a:gd name="T17" fmla="*/ 25 h 234"/>
                      <a:gd name="T18" fmla="*/ 631 w 1561"/>
                      <a:gd name="T19" fmla="*/ 45 h 234"/>
                      <a:gd name="T20" fmla="*/ 694 w 1561"/>
                      <a:gd name="T21" fmla="*/ 40 h 234"/>
                      <a:gd name="T22" fmla="*/ 776 w 1561"/>
                      <a:gd name="T23" fmla="*/ 27 h 234"/>
                      <a:gd name="T24" fmla="*/ 853 w 1561"/>
                      <a:gd name="T25" fmla="*/ 14 h 234"/>
                      <a:gd name="T26" fmla="*/ 930 w 1561"/>
                      <a:gd name="T27" fmla="*/ 8 h 234"/>
                      <a:gd name="T28" fmla="*/ 1042 w 1561"/>
                      <a:gd name="T29" fmla="*/ 1 h 234"/>
                      <a:gd name="T30" fmla="*/ 1101 w 1561"/>
                      <a:gd name="T31" fmla="*/ 8 h 234"/>
                      <a:gd name="T32" fmla="*/ 1180 w 1561"/>
                      <a:gd name="T33" fmla="*/ 0 h 234"/>
                      <a:gd name="T34" fmla="*/ 1319 w 1561"/>
                      <a:gd name="T35" fmla="*/ 25 h 234"/>
                      <a:gd name="T36" fmla="*/ 1369 w 1561"/>
                      <a:gd name="T37" fmla="*/ 18 h 234"/>
                      <a:gd name="T38" fmla="*/ 1413 w 1561"/>
                      <a:gd name="T39" fmla="*/ 22 h 234"/>
                      <a:gd name="T40" fmla="*/ 1457 w 1561"/>
                      <a:gd name="T41" fmla="*/ 36 h 234"/>
                      <a:gd name="T42" fmla="*/ 1496 w 1561"/>
                      <a:gd name="T43" fmla="*/ 65 h 234"/>
                      <a:gd name="T44" fmla="*/ 1561 w 1561"/>
                      <a:gd name="T45" fmla="*/ 139 h 234"/>
                      <a:gd name="T46" fmla="*/ 1523 w 1561"/>
                      <a:gd name="T47" fmla="*/ 130 h 234"/>
                      <a:gd name="T48" fmla="*/ 1486 w 1561"/>
                      <a:gd name="T49" fmla="*/ 128 h 234"/>
                      <a:gd name="T50" fmla="*/ 1519 w 1561"/>
                      <a:gd name="T51" fmla="*/ 184 h 234"/>
                      <a:gd name="T52" fmla="*/ 1401 w 1561"/>
                      <a:gd name="T53" fmla="*/ 159 h 234"/>
                      <a:gd name="T54" fmla="*/ 1341 w 1561"/>
                      <a:gd name="T55" fmla="*/ 208 h 234"/>
                      <a:gd name="T56" fmla="*/ 1326 w 1561"/>
                      <a:gd name="T57" fmla="*/ 180 h 234"/>
                      <a:gd name="T58" fmla="*/ 1272 w 1561"/>
                      <a:gd name="T59" fmla="*/ 197 h 234"/>
                      <a:gd name="T60" fmla="*/ 1221 w 1561"/>
                      <a:gd name="T61" fmla="*/ 188 h 234"/>
                      <a:gd name="T62" fmla="*/ 1195 w 1561"/>
                      <a:gd name="T63" fmla="*/ 180 h 234"/>
                      <a:gd name="T64" fmla="*/ 1163 w 1561"/>
                      <a:gd name="T65" fmla="*/ 183 h 234"/>
                      <a:gd name="T66" fmla="*/ 1112 w 1561"/>
                      <a:gd name="T67" fmla="*/ 202 h 234"/>
                      <a:gd name="T68" fmla="*/ 1056 w 1561"/>
                      <a:gd name="T69" fmla="*/ 230 h 234"/>
                      <a:gd name="T70" fmla="*/ 907 w 1561"/>
                      <a:gd name="T71" fmla="*/ 205 h 234"/>
                      <a:gd name="T72" fmla="*/ 853 w 1561"/>
                      <a:gd name="T73" fmla="*/ 226 h 234"/>
                      <a:gd name="T74" fmla="*/ 707 w 1561"/>
                      <a:gd name="T75" fmla="*/ 188 h 234"/>
                      <a:gd name="T76" fmla="*/ 603 w 1561"/>
                      <a:gd name="T77" fmla="*/ 184 h 234"/>
                      <a:gd name="T78" fmla="*/ 515 w 1561"/>
                      <a:gd name="T79" fmla="*/ 234 h 234"/>
                      <a:gd name="T80" fmla="*/ 489 w 1561"/>
                      <a:gd name="T81" fmla="*/ 208 h 234"/>
                      <a:gd name="T82" fmla="*/ 378 w 1561"/>
                      <a:gd name="T83" fmla="*/ 166 h 234"/>
                      <a:gd name="T84" fmla="*/ 312 w 1561"/>
                      <a:gd name="T85" fmla="*/ 228 h 234"/>
                      <a:gd name="T86" fmla="*/ 264 w 1561"/>
                      <a:gd name="T87" fmla="*/ 212 h 234"/>
                      <a:gd name="T88" fmla="*/ 249 w 1561"/>
                      <a:gd name="T89" fmla="*/ 212 h 234"/>
                      <a:gd name="T90" fmla="*/ 202 w 1561"/>
                      <a:gd name="T91" fmla="*/ 186 h 234"/>
                      <a:gd name="T92" fmla="*/ 192 w 1561"/>
                      <a:gd name="T93" fmla="*/ 168 h 234"/>
                      <a:gd name="T94" fmla="*/ 155 w 1561"/>
                      <a:gd name="T95" fmla="*/ 177 h 234"/>
                      <a:gd name="T96" fmla="*/ 155 w 1561"/>
                      <a:gd name="T97" fmla="*/ 157 h 234"/>
                      <a:gd name="T98" fmla="*/ 72 w 1561"/>
                      <a:gd name="T99" fmla="*/ 162 h 234"/>
                      <a:gd name="T100" fmla="*/ 0 w 1561"/>
                      <a:gd name="T101" fmla="*/ 223 h 2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1561" h="234">
                        <a:moveTo>
                          <a:pt x="0" y="223"/>
                        </a:moveTo>
                        <a:lnTo>
                          <a:pt x="93" y="88"/>
                        </a:lnTo>
                        <a:lnTo>
                          <a:pt x="134" y="65"/>
                        </a:lnTo>
                        <a:lnTo>
                          <a:pt x="188" y="56"/>
                        </a:lnTo>
                        <a:lnTo>
                          <a:pt x="315" y="48"/>
                        </a:lnTo>
                        <a:lnTo>
                          <a:pt x="352" y="47"/>
                        </a:lnTo>
                        <a:lnTo>
                          <a:pt x="446" y="29"/>
                        </a:lnTo>
                        <a:lnTo>
                          <a:pt x="509" y="18"/>
                        </a:lnTo>
                        <a:lnTo>
                          <a:pt x="559" y="25"/>
                        </a:lnTo>
                        <a:lnTo>
                          <a:pt x="631" y="45"/>
                        </a:lnTo>
                        <a:lnTo>
                          <a:pt x="694" y="40"/>
                        </a:lnTo>
                        <a:lnTo>
                          <a:pt x="776" y="27"/>
                        </a:lnTo>
                        <a:lnTo>
                          <a:pt x="853" y="14"/>
                        </a:lnTo>
                        <a:lnTo>
                          <a:pt x="930" y="8"/>
                        </a:lnTo>
                        <a:lnTo>
                          <a:pt x="1042" y="1"/>
                        </a:lnTo>
                        <a:lnTo>
                          <a:pt x="1101" y="8"/>
                        </a:lnTo>
                        <a:lnTo>
                          <a:pt x="1180" y="0"/>
                        </a:lnTo>
                        <a:lnTo>
                          <a:pt x="1319" y="25"/>
                        </a:lnTo>
                        <a:lnTo>
                          <a:pt x="1369" y="18"/>
                        </a:lnTo>
                        <a:lnTo>
                          <a:pt x="1413" y="22"/>
                        </a:lnTo>
                        <a:lnTo>
                          <a:pt x="1457" y="36"/>
                        </a:lnTo>
                        <a:lnTo>
                          <a:pt x="1496" y="65"/>
                        </a:lnTo>
                        <a:lnTo>
                          <a:pt x="1561" y="139"/>
                        </a:lnTo>
                        <a:lnTo>
                          <a:pt x="1523" y="130"/>
                        </a:lnTo>
                        <a:lnTo>
                          <a:pt x="1486" y="128"/>
                        </a:lnTo>
                        <a:lnTo>
                          <a:pt x="1519" y="184"/>
                        </a:lnTo>
                        <a:lnTo>
                          <a:pt x="1401" y="159"/>
                        </a:lnTo>
                        <a:lnTo>
                          <a:pt x="1341" y="208"/>
                        </a:lnTo>
                        <a:lnTo>
                          <a:pt x="1326" y="180"/>
                        </a:lnTo>
                        <a:lnTo>
                          <a:pt x="1272" y="197"/>
                        </a:lnTo>
                        <a:lnTo>
                          <a:pt x="1221" y="188"/>
                        </a:lnTo>
                        <a:lnTo>
                          <a:pt x="1195" y="180"/>
                        </a:lnTo>
                        <a:lnTo>
                          <a:pt x="1163" y="183"/>
                        </a:lnTo>
                        <a:lnTo>
                          <a:pt x="1112" y="202"/>
                        </a:lnTo>
                        <a:lnTo>
                          <a:pt x="1056" y="230"/>
                        </a:lnTo>
                        <a:lnTo>
                          <a:pt x="907" y="205"/>
                        </a:lnTo>
                        <a:lnTo>
                          <a:pt x="853" y="226"/>
                        </a:lnTo>
                        <a:lnTo>
                          <a:pt x="707" y="188"/>
                        </a:lnTo>
                        <a:lnTo>
                          <a:pt x="603" y="184"/>
                        </a:lnTo>
                        <a:lnTo>
                          <a:pt x="515" y="234"/>
                        </a:lnTo>
                        <a:lnTo>
                          <a:pt x="489" y="208"/>
                        </a:lnTo>
                        <a:lnTo>
                          <a:pt x="378" y="166"/>
                        </a:lnTo>
                        <a:lnTo>
                          <a:pt x="312" y="228"/>
                        </a:lnTo>
                        <a:lnTo>
                          <a:pt x="264" y="212"/>
                        </a:lnTo>
                        <a:lnTo>
                          <a:pt x="249" y="212"/>
                        </a:lnTo>
                        <a:lnTo>
                          <a:pt x="202" y="186"/>
                        </a:lnTo>
                        <a:lnTo>
                          <a:pt x="192" y="168"/>
                        </a:lnTo>
                        <a:lnTo>
                          <a:pt x="155" y="177"/>
                        </a:lnTo>
                        <a:lnTo>
                          <a:pt x="155" y="157"/>
                        </a:lnTo>
                        <a:lnTo>
                          <a:pt x="72" y="162"/>
                        </a:lnTo>
                        <a:lnTo>
                          <a:pt x="0" y="223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438" name="Group 43"/>
                <p:cNvGrpSpPr>
                  <a:grpSpLocks/>
                </p:cNvGrpSpPr>
                <p:nvPr/>
              </p:nvGrpSpPr>
              <p:grpSpPr bwMode="auto">
                <a:xfrm>
                  <a:off x="1581" y="2610"/>
                  <a:ext cx="216" cy="88"/>
                  <a:chOff x="1581" y="2610"/>
                  <a:chExt cx="216" cy="88"/>
                </a:xfrm>
              </p:grpSpPr>
              <p:grpSp>
                <p:nvGrpSpPr>
                  <p:cNvPr id="439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1663" y="2610"/>
                    <a:ext cx="134" cy="88"/>
                    <a:chOff x="1663" y="2610"/>
                    <a:chExt cx="134" cy="88"/>
                  </a:xfrm>
                </p:grpSpPr>
                <p:sp>
                  <p:nvSpPr>
                    <p:cNvPr id="443" name="Freeform 45"/>
                    <p:cNvSpPr>
                      <a:spLocks/>
                    </p:cNvSpPr>
                    <p:nvPr/>
                  </p:nvSpPr>
                  <p:spPr bwMode="auto">
                    <a:xfrm>
                      <a:off x="1712" y="2610"/>
                      <a:ext cx="85" cy="84"/>
                    </a:xfrm>
                    <a:custGeom>
                      <a:avLst/>
                      <a:gdLst>
                        <a:gd name="T0" fmla="*/ 11 w 170"/>
                        <a:gd name="T1" fmla="*/ 0 h 168"/>
                        <a:gd name="T2" fmla="*/ 69 w 170"/>
                        <a:gd name="T3" fmla="*/ 7 h 168"/>
                        <a:gd name="T4" fmla="*/ 113 w 170"/>
                        <a:gd name="T5" fmla="*/ 43 h 168"/>
                        <a:gd name="T6" fmla="*/ 115 w 170"/>
                        <a:gd name="T7" fmla="*/ 37 h 168"/>
                        <a:gd name="T8" fmla="*/ 166 w 170"/>
                        <a:gd name="T9" fmla="*/ 89 h 168"/>
                        <a:gd name="T10" fmla="*/ 170 w 170"/>
                        <a:gd name="T11" fmla="*/ 142 h 168"/>
                        <a:gd name="T12" fmla="*/ 140 w 170"/>
                        <a:gd name="T13" fmla="*/ 168 h 168"/>
                        <a:gd name="T14" fmla="*/ 28 w 170"/>
                        <a:gd name="T15" fmla="*/ 86 h 168"/>
                        <a:gd name="T16" fmla="*/ 0 w 170"/>
                        <a:gd name="T17" fmla="*/ 31 h 168"/>
                        <a:gd name="T18" fmla="*/ 11 w 170"/>
                        <a:gd name="T19" fmla="*/ 0 h 1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70" h="168">
                          <a:moveTo>
                            <a:pt x="11" y="0"/>
                          </a:moveTo>
                          <a:lnTo>
                            <a:pt x="69" y="7"/>
                          </a:lnTo>
                          <a:lnTo>
                            <a:pt x="113" y="43"/>
                          </a:lnTo>
                          <a:lnTo>
                            <a:pt x="115" y="37"/>
                          </a:lnTo>
                          <a:lnTo>
                            <a:pt x="166" y="89"/>
                          </a:lnTo>
                          <a:lnTo>
                            <a:pt x="170" y="142"/>
                          </a:lnTo>
                          <a:lnTo>
                            <a:pt x="140" y="168"/>
                          </a:lnTo>
                          <a:lnTo>
                            <a:pt x="28" y="86"/>
                          </a:lnTo>
                          <a:lnTo>
                            <a:pt x="0" y="31"/>
                          </a:lnTo>
                          <a:lnTo>
                            <a:pt x="11" y="0"/>
                          </a:lnTo>
                          <a:close/>
                        </a:path>
                      </a:pathLst>
                    </a:custGeom>
                    <a:solidFill>
                      <a:schemeClr val="bg2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444" name="Freeform 46"/>
                    <p:cNvSpPr>
                      <a:spLocks/>
                    </p:cNvSpPr>
                    <p:nvPr/>
                  </p:nvSpPr>
                  <p:spPr bwMode="auto">
                    <a:xfrm>
                      <a:off x="1663" y="2610"/>
                      <a:ext cx="117" cy="88"/>
                    </a:xfrm>
                    <a:custGeom>
                      <a:avLst/>
                      <a:gdLst>
                        <a:gd name="T0" fmla="*/ 108 w 234"/>
                        <a:gd name="T1" fmla="*/ 0 h 175"/>
                        <a:gd name="T2" fmla="*/ 79 w 234"/>
                        <a:gd name="T3" fmla="*/ 25 h 175"/>
                        <a:gd name="T4" fmla="*/ 54 w 234"/>
                        <a:gd name="T5" fmla="*/ 40 h 175"/>
                        <a:gd name="T6" fmla="*/ 39 w 234"/>
                        <a:gd name="T7" fmla="*/ 71 h 175"/>
                        <a:gd name="T8" fmla="*/ 24 w 234"/>
                        <a:gd name="T9" fmla="*/ 102 h 175"/>
                        <a:gd name="T10" fmla="*/ 16 w 234"/>
                        <a:gd name="T11" fmla="*/ 137 h 175"/>
                        <a:gd name="T12" fmla="*/ 12 w 234"/>
                        <a:gd name="T13" fmla="*/ 159 h 175"/>
                        <a:gd name="T14" fmla="*/ 0 w 234"/>
                        <a:gd name="T15" fmla="*/ 167 h 175"/>
                        <a:gd name="T16" fmla="*/ 106 w 234"/>
                        <a:gd name="T17" fmla="*/ 173 h 175"/>
                        <a:gd name="T18" fmla="*/ 193 w 234"/>
                        <a:gd name="T19" fmla="*/ 175 h 175"/>
                        <a:gd name="T20" fmla="*/ 234 w 234"/>
                        <a:gd name="T21" fmla="*/ 168 h 175"/>
                        <a:gd name="T22" fmla="*/ 224 w 234"/>
                        <a:gd name="T23" fmla="*/ 137 h 175"/>
                        <a:gd name="T24" fmla="*/ 199 w 234"/>
                        <a:gd name="T25" fmla="*/ 114 h 175"/>
                        <a:gd name="T26" fmla="*/ 188 w 234"/>
                        <a:gd name="T27" fmla="*/ 91 h 175"/>
                        <a:gd name="T28" fmla="*/ 177 w 234"/>
                        <a:gd name="T29" fmla="*/ 72 h 175"/>
                        <a:gd name="T30" fmla="*/ 160 w 234"/>
                        <a:gd name="T31" fmla="*/ 62 h 175"/>
                        <a:gd name="T32" fmla="*/ 137 w 234"/>
                        <a:gd name="T33" fmla="*/ 51 h 175"/>
                        <a:gd name="T34" fmla="*/ 127 w 234"/>
                        <a:gd name="T35" fmla="*/ 35 h 175"/>
                        <a:gd name="T36" fmla="*/ 119 w 234"/>
                        <a:gd name="T37" fmla="*/ 16 h 175"/>
                        <a:gd name="T38" fmla="*/ 108 w 234"/>
                        <a:gd name="T39" fmla="*/ 0 h 1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234" h="175">
                          <a:moveTo>
                            <a:pt x="108" y="0"/>
                          </a:moveTo>
                          <a:lnTo>
                            <a:pt x="79" y="25"/>
                          </a:lnTo>
                          <a:lnTo>
                            <a:pt x="54" y="40"/>
                          </a:lnTo>
                          <a:lnTo>
                            <a:pt x="39" y="71"/>
                          </a:lnTo>
                          <a:lnTo>
                            <a:pt x="24" y="102"/>
                          </a:lnTo>
                          <a:lnTo>
                            <a:pt x="16" y="137"/>
                          </a:lnTo>
                          <a:lnTo>
                            <a:pt x="12" y="159"/>
                          </a:lnTo>
                          <a:lnTo>
                            <a:pt x="0" y="167"/>
                          </a:lnTo>
                          <a:lnTo>
                            <a:pt x="106" y="173"/>
                          </a:lnTo>
                          <a:lnTo>
                            <a:pt x="193" y="175"/>
                          </a:lnTo>
                          <a:lnTo>
                            <a:pt x="234" y="168"/>
                          </a:lnTo>
                          <a:lnTo>
                            <a:pt x="224" y="137"/>
                          </a:lnTo>
                          <a:lnTo>
                            <a:pt x="199" y="114"/>
                          </a:lnTo>
                          <a:lnTo>
                            <a:pt x="188" y="91"/>
                          </a:lnTo>
                          <a:lnTo>
                            <a:pt x="177" y="72"/>
                          </a:lnTo>
                          <a:lnTo>
                            <a:pt x="160" y="62"/>
                          </a:lnTo>
                          <a:lnTo>
                            <a:pt x="137" y="51"/>
                          </a:lnTo>
                          <a:lnTo>
                            <a:pt x="127" y="35"/>
                          </a:lnTo>
                          <a:lnTo>
                            <a:pt x="119" y="16"/>
                          </a:lnTo>
                          <a:lnTo>
                            <a:pt x="108" y="0"/>
                          </a:lnTo>
                          <a:close/>
                        </a:path>
                      </a:pathLst>
                    </a:custGeom>
                    <a:solidFill>
                      <a:schemeClr val="bg2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  <p:grpSp>
                <p:nvGrpSpPr>
                  <p:cNvPr id="440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1581" y="2617"/>
                    <a:ext cx="51" cy="44"/>
                    <a:chOff x="1581" y="2617"/>
                    <a:chExt cx="51" cy="44"/>
                  </a:xfrm>
                </p:grpSpPr>
                <p:sp>
                  <p:nvSpPr>
                    <p:cNvPr id="441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1608" y="2617"/>
                      <a:ext cx="24" cy="39"/>
                    </a:xfrm>
                    <a:custGeom>
                      <a:avLst/>
                      <a:gdLst>
                        <a:gd name="T0" fmla="*/ 2 w 47"/>
                        <a:gd name="T1" fmla="*/ 0 h 78"/>
                        <a:gd name="T2" fmla="*/ 21 w 47"/>
                        <a:gd name="T3" fmla="*/ 14 h 78"/>
                        <a:gd name="T4" fmla="*/ 39 w 47"/>
                        <a:gd name="T5" fmla="*/ 43 h 78"/>
                        <a:gd name="T6" fmla="*/ 46 w 47"/>
                        <a:gd name="T7" fmla="*/ 60 h 78"/>
                        <a:gd name="T8" fmla="*/ 47 w 47"/>
                        <a:gd name="T9" fmla="*/ 78 h 78"/>
                        <a:gd name="T10" fmla="*/ 11 w 47"/>
                        <a:gd name="T11" fmla="*/ 71 h 78"/>
                        <a:gd name="T12" fmla="*/ 0 w 47"/>
                        <a:gd name="T13" fmla="*/ 31 h 78"/>
                        <a:gd name="T14" fmla="*/ 2 w 47"/>
                        <a:gd name="T15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7" h="78">
                          <a:moveTo>
                            <a:pt x="2" y="0"/>
                          </a:moveTo>
                          <a:lnTo>
                            <a:pt x="21" y="14"/>
                          </a:lnTo>
                          <a:lnTo>
                            <a:pt x="39" y="43"/>
                          </a:lnTo>
                          <a:lnTo>
                            <a:pt x="46" y="60"/>
                          </a:lnTo>
                          <a:lnTo>
                            <a:pt x="47" y="78"/>
                          </a:lnTo>
                          <a:lnTo>
                            <a:pt x="11" y="71"/>
                          </a:lnTo>
                          <a:lnTo>
                            <a:pt x="0" y="31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chemeClr val="bg2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442" name="Freeform 49"/>
                    <p:cNvSpPr>
                      <a:spLocks/>
                    </p:cNvSpPr>
                    <p:nvPr/>
                  </p:nvSpPr>
                  <p:spPr bwMode="auto">
                    <a:xfrm>
                      <a:off x="1581" y="2618"/>
                      <a:ext cx="36" cy="43"/>
                    </a:xfrm>
                    <a:custGeom>
                      <a:avLst/>
                      <a:gdLst>
                        <a:gd name="T0" fmla="*/ 53 w 71"/>
                        <a:gd name="T1" fmla="*/ 0 h 86"/>
                        <a:gd name="T2" fmla="*/ 38 w 71"/>
                        <a:gd name="T3" fmla="*/ 13 h 86"/>
                        <a:gd name="T4" fmla="*/ 29 w 71"/>
                        <a:gd name="T5" fmla="*/ 18 h 86"/>
                        <a:gd name="T6" fmla="*/ 24 w 71"/>
                        <a:gd name="T7" fmla="*/ 29 h 86"/>
                        <a:gd name="T8" fmla="*/ 14 w 71"/>
                        <a:gd name="T9" fmla="*/ 38 h 86"/>
                        <a:gd name="T10" fmla="*/ 9 w 71"/>
                        <a:gd name="T11" fmla="*/ 65 h 86"/>
                        <a:gd name="T12" fmla="*/ 0 w 71"/>
                        <a:gd name="T13" fmla="*/ 72 h 86"/>
                        <a:gd name="T14" fmla="*/ 17 w 71"/>
                        <a:gd name="T15" fmla="*/ 86 h 86"/>
                        <a:gd name="T16" fmla="*/ 37 w 71"/>
                        <a:gd name="T17" fmla="*/ 76 h 86"/>
                        <a:gd name="T18" fmla="*/ 44 w 71"/>
                        <a:gd name="T19" fmla="*/ 82 h 86"/>
                        <a:gd name="T20" fmla="*/ 64 w 71"/>
                        <a:gd name="T21" fmla="*/ 71 h 86"/>
                        <a:gd name="T22" fmla="*/ 71 w 71"/>
                        <a:gd name="T23" fmla="*/ 60 h 86"/>
                        <a:gd name="T24" fmla="*/ 67 w 71"/>
                        <a:gd name="T25" fmla="*/ 43 h 86"/>
                        <a:gd name="T26" fmla="*/ 67 w 71"/>
                        <a:gd name="T27" fmla="*/ 29 h 86"/>
                        <a:gd name="T28" fmla="*/ 53 w 71"/>
                        <a:gd name="T29" fmla="*/ 0 h 8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71" h="86">
                          <a:moveTo>
                            <a:pt x="53" y="0"/>
                          </a:moveTo>
                          <a:lnTo>
                            <a:pt x="38" y="13"/>
                          </a:lnTo>
                          <a:lnTo>
                            <a:pt x="29" y="18"/>
                          </a:lnTo>
                          <a:lnTo>
                            <a:pt x="24" y="29"/>
                          </a:lnTo>
                          <a:lnTo>
                            <a:pt x="14" y="38"/>
                          </a:lnTo>
                          <a:lnTo>
                            <a:pt x="9" y="65"/>
                          </a:lnTo>
                          <a:lnTo>
                            <a:pt x="0" y="72"/>
                          </a:lnTo>
                          <a:lnTo>
                            <a:pt x="17" y="86"/>
                          </a:lnTo>
                          <a:lnTo>
                            <a:pt x="37" y="76"/>
                          </a:lnTo>
                          <a:lnTo>
                            <a:pt x="44" y="82"/>
                          </a:lnTo>
                          <a:lnTo>
                            <a:pt x="64" y="71"/>
                          </a:lnTo>
                          <a:lnTo>
                            <a:pt x="71" y="60"/>
                          </a:lnTo>
                          <a:lnTo>
                            <a:pt x="67" y="43"/>
                          </a:lnTo>
                          <a:lnTo>
                            <a:pt x="67" y="29"/>
                          </a:lnTo>
                          <a:lnTo>
                            <a:pt x="53" y="0"/>
                          </a:lnTo>
                          <a:close/>
                        </a:path>
                      </a:pathLst>
                    </a:custGeom>
                    <a:solidFill>
                      <a:schemeClr val="bg2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</p:grpSp>
        </p:grpSp>
        <p:grpSp>
          <p:nvGrpSpPr>
            <p:cNvPr id="42" name="Group 50"/>
            <p:cNvGrpSpPr>
              <a:grpSpLocks/>
            </p:cNvGrpSpPr>
            <p:nvPr/>
          </p:nvGrpSpPr>
          <p:grpSpPr bwMode="auto">
            <a:xfrm>
              <a:off x="1584" y="2064"/>
              <a:ext cx="631" cy="319"/>
              <a:chOff x="1310" y="1639"/>
              <a:chExt cx="631" cy="319"/>
            </a:xfrm>
          </p:grpSpPr>
          <p:grpSp>
            <p:nvGrpSpPr>
              <p:cNvPr id="325" name="Group 51"/>
              <p:cNvGrpSpPr>
                <a:grpSpLocks/>
              </p:cNvGrpSpPr>
              <p:nvPr/>
            </p:nvGrpSpPr>
            <p:grpSpPr bwMode="auto">
              <a:xfrm>
                <a:off x="1310" y="1685"/>
                <a:ext cx="452" cy="272"/>
                <a:chOff x="1310" y="1685"/>
                <a:chExt cx="452" cy="272"/>
              </a:xfrm>
            </p:grpSpPr>
            <p:grpSp>
              <p:nvGrpSpPr>
                <p:cNvPr id="405" name="Group 52"/>
                <p:cNvGrpSpPr>
                  <a:grpSpLocks/>
                </p:cNvGrpSpPr>
                <p:nvPr/>
              </p:nvGrpSpPr>
              <p:grpSpPr bwMode="auto">
                <a:xfrm>
                  <a:off x="1310" y="1685"/>
                  <a:ext cx="452" cy="272"/>
                  <a:chOff x="1310" y="1685"/>
                  <a:chExt cx="452" cy="272"/>
                </a:xfrm>
              </p:grpSpPr>
              <p:grpSp>
                <p:nvGrpSpPr>
                  <p:cNvPr id="412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1331" y="1685"/>
                    <a:ext cx="280" cy="272"/>
                    <a:chOff x="1331" y="1685"/>
                    <a:chExt cx="280" cy="272"/>
                  </a:xfrm>
                </p:grpSpPr>
                <p:grpSp>
                  <p:nvGrpSpPr>
                    <p:cNvPr id="414" name="Group 5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31" y="1685"/>
                      <a:ext cx="127" cy="109"/>
                      <a:chOff x="1331" y="1685"/>
                      <a:chExt cx="127" cy="109"/>
                    </a:xfrm>
                  </p:grpSpPr>
                  <p:sp>
                    <p:nvSpPr>
                      <p:cNvPr id="424" name="Freeform 5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62" y="1688"/>
                        <a:ext cx="96" cy="106"/>
                      </a:xfrm>
                      <a:custGeom>
                        <a:avLst/>
                        <a:gdLst>
                          <a:gd name="T0" fmla="*/ 23 w 193"/>
                          <a:gd name="T1" fmla="*/ 153 h 214"/>
                          <a:gd name="T2" fmla="*/ 6 w 193"/>
                          <a:gd name="T3" fmla="*/ 165 h 214"/>
                          <a:gd name="T4" fmla="*/ 0 w 193"/>
                          <a:gd name="T5" fmla="*/ 185 h 214"/>
                          <a:gd name="T6" fmla="*/ 13 w 193"/>
                          <a:gd name="T7" fmla="*/ 197 h 214"/>
                          <a:gd name="T8" fmla="*/ 22 w 193"/>
                          <a:gd name="T9" fmla="*/ 200 h 214"/>
                          <a:gd name="T10" fmla="*/ 23 w 193"/>
                          <a:gd name="T11" fmla="*/ 214 h 214"/>
                          <a:gd name="T12" fmla="*/ 43 w 193"/>
                          <a:gd name="T13" fmla="*/ 214 h 214"/>
                          <a:gd name="T14" fmla="*/ 50 w 193"/>
                          <a:gd name="T15" fmla="*/ 202 h 214"/>
                          <a:gd name="T16" fmla="*/ 57 w 193"/>
                          <a:gd name="T17" fmla="*/ 182 h 214"/>
                          <a:gd name="T18" fmla="*/ 57 w 193"/>
                          <a:gd name="T19" fmla="*/ 169 h 214"/>
                          <a:gd name="T20" fmla="*/ 66 w 193"/>
                          <a:gd name="T21" fmla="*/ 179 h 214"/>
                          <a:gd name="T22" fmla="*/ 67 w 193"/>
                          <a:gd name="T23" fmla="*/ 187 h 214"/>
                          <a:gd name="T24" fmla="*/ 73 w 193"/>
                          <a:gd name="T25" fmla="*/ 194 h 214"/>
                          <a:gd name="T26" fmla="*/ 86 w 193"/>
                          <a:gd name="T27" fmla="*/ 199 h 214"/>
                          <a:gd name="T28" fmla="*/ 103 w 193"/>
                          <a:gd name="T29" fmla="*/ 198 h 214"/>
                          <a:gd name="T30" fmla="*/ 116 w 193"/>
                          <a:gd name="T31" fmla="*/ 194 h 214"/>
                          <a:gd name="T32" fmla="*/ 130 w 193"/>
                          <a:gd name="T33" fmla="*/ 198 h 214"/>
                          <a:gd name="T34" fmla="*/ 141 w 193"/>
                          <a:gd name="T35" fmla="*/ 211 h 214"/>
                          <a:gd name="T36" fmla="*/ 173 w 193"/>
                          <a:gd name="T37" fmla="*/ 194 h 214"/>
                          <a:gd name="T38" fmla="*/ 193 w 193"/>
                          <a:gd name="T39" fmla="*/ 180 h 214"/>
                          <a:gd name="T40" fmla="*/ 182 w 193"/>
                          <a:gd name="T41" fmla="*/ 173 h 214"/>
                          <a:gd name="T42" fmla="*/ 171 w 193"/>
                          <a:gd name="T43" fmla="*/ 168 h 214"/>
                          <a:gd name="T44" fmla="*/ 161 w 193"/>
                          <a:gd name="T45" fmla="*/ 165 h 214"/>
                          <a:gd name="T46" fmla="*/ 161 w 193"/>
                          <a:gd name="T47" fmla="*/ 141 h 214"/>
                          <a:gd name="T48" fmla="*/ 177 w 193"/>
                          <a:gd name="T49" fmla="*/ 125 h 214"/>
                          <a:gd name="T50" fmla="*/ 183 w 193"/>
                          <a:gd name="T51" fmla="*/ 113 h 214"/>
                          <a:gd name="T52" fmla="*/ 184 w 193"/>
                          <a:gd name="T53" fmla="*/ 101 h 214"/>
                          <a:gd name="T54" fmla="*/ 178 w 193"/>
                          <a:gd name="T55" fmla="*/ 94 h 214"/>
                          <a:gd name="T56" fmla="*/ 170 w 193"/>
                          <a:gd name="T57" fmla="*/ 87 h 214"/>
                          <a:gd name="T58" fmla="*/ 158 w 193"/>
                          <a:gd name="T59" fmla="*/ 77 h 214"/>
                          <a:gd name="T60" fmla="*/ 148 w 193"/>
                          <a:gd name="T61" fmla="*/ 73 h 214"/>
                          <a:gd name="T62" fmla="*/ 138 w 193"/>
                          <a:gd name="T63" fmla="*/ 42 h 214"/>
                          <a:gd name="T64" fmla="*/ 127 w 193"/>
                          <a:gd name="T65" fmla="*/ 15 h 214"/>
                          <a:gd name="T66" fmla="*/ 119 w 193"/>
                          <a:gd name="T67" fmla="*/ 8 h 214"/>
                          <a:gd name="T68" fmla="*/ 107 w 193"/>
                          <a:gd name="T69" fmla="*/ 2 h 214"/>
                          <a:gd name="T70" fmla="*/ 91 w 193"/>
                          <a:gd name="T71" fmla="*/ 0 h 214"/>
                          <a:gd name="T72" fmla="*/ 76 w 193"/>
                          <a:gd name="T73" fmla="*/ 0 h 214"/>
                          <a:gd name="T74" fmla="*/ 57 w 193"/>
                          <a:gd name="T75" fmla="*/ 5 h 214"/>
                          <a:gd name="T76" fmla="*/ 39 w 193"/>
                          <a:gd name="T77" fmla="*/ 16 h 214"/>
                          <a:gd name="T78" fmla="*/ 23 w 193"/>
                          <a:gd name="T79" fmla="*/ 31 h 214"/>
                          <a:gd name="T80" fmla="*/ 17 w 193"/>
                          <a:gd name="T81" fmla="*/ 40 h 214"/>
                          <a:gd name="T82" fmla="*/ 10 w 193"/>
                          <a:gd name="T83" fmla="*/ 60 h 214"/>
                          <a:gd name="T84" fmla="*/ 7 w 193"/>
                          <a:gd name="T85" fmla="*/ 79 h 214"/>
                          <a:gd name="T86" fmla="*/ 13 w 193"/>
                          <a:gd name="T87" fmla="*/ 116 h 214"/>
                          <a:gd name="T88" fmla="*/ 23 w 193"/>
                          <a:gd name="T89" fmla="*/ 153 h 21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</a:cxnLst>
                        <a:rect l="0" t="0" r="r" b="b"/>
                        <a:pathLst>
                          <a:path w="193" h="214">
                            <a:moveTo>
                              <a:pt x="23" y="153"/>
                            </a:moveTo>
                            <a:lnTo>
                              <a:pt x="6" y="165"/>
                            </a:lnTo>
                            <a:lnTo>
                              <a:pt x="0" y="185"/>
                            </a:lnTo>
                            <a:lnTo>
                              <a:pt x="13" y="197"/>
                            </a:lnTo>
                            <a:lnTo>
                              <a:pt x="22" y="200"/>
                            </a:lnTo>
                            <a:lnTo>
                              <a:pt x="23" y="214"/>
                            </a:lnTo>
                            <a:lnTo>
                              <a:pt x="43" y="214"/>
                            </a:lnTo>
                            <a:lnTo>
                              <a:pt x="50" y="202"/>
                            </a:lnTo>
                            <a:lnTo>
                              <a:pt x="57" y="182"/>
                            </a:lnTo>
                            <a:lnTo>
                              <a:pt x="57" y="169"/>
                            </a:lnTo>
                            <a:lnTo>
                              <a:pt x="66" y="179"/>
                            </a:lnTo>
                            <a:lnTo>
                              <a:pt x="67" y="187"/>
                            </a:lnTo>
                            <a:lnTo>
                              <a:pt x="73" y="194"/>
                            </a:lnTo>
                            <a:lnTo>
                              <a:pt x="86" y="199"/>
                            </a:lnTo>
                            <a:lnTo>
                              <a:pt x="103" y="198"/>
                            </a:lnTo>
                            <a:lnTo>
                              <a:pt x="116" y="194"/>
                            </a:lnTo>
                            <a:lnTo>
                              <a:pt x="130" y="198"/>
                            </a:lnTo>
                            <a:lnTo>
                              <a:pt x="141" y="211"/>
                            </a:lnTo>
                            <a:lnTo>
                              <a:pt x="173" y="194"/>
                            </a:lnTo>
                            <a:lnTo>
                              <a:pt x="193" y="180"/>
                            </a:lnTo>
                            <a:lnTo>
                              <a:pt x="182" y="173"/>
                            </a:lnTo>
                            <a:lnTo>
                              <a:pt x="171" y="168"/>
                            </a:lnTo>
                            <a:lnTo>
                              <a:pt x="161" y="165"/>
                            </a:lnTo>
                            <a:lnTo>
                              <a:pt x="161" y="141"/>
                            </a:lnTo>
                            <a:lnTo>
                              <a:pt x="177" y="125"/>
                            </a:lnTo>
                            <a:lnTo>
                              <a:pt x="183" y="113"/>
                            </a:lnTo>
                            <a:lnTo>
                              <a:pt x="184" y="101"/>
                            </a:lnTo>
                            <a:lnTo>
                              <a:pt x="178" y="94"/>
                            </a:lnTo>
                            <a:lnTo>
                              <a:pt x="170" y="87"/>
                            </a:lnTo>
                            <a:lnTo>
                              <a:pt x="158" y="77"/>
                            </a:lnTo>
                            <a:lnTo>
                              <a:pt x="148" y="73"/>
                            </a:lnTo>
                            <a:lnTo>
                              <a:pt x="138" y="42"/>
                            </a:lnTo>
                            <a:lnTo>
                              <a:pt x="127" y="15"/>
                            </a:lnTo>
                            <a:lnTo>
                              <a:pt x="119" y="8"/>
                            </a:lnTo>
                            <a:lnTo>
                              <a:pt x="107" y="2"/>
                            </a:lnTo>
                            <a:lnTo>
                              <a:pt x="91" y="0"/>
                            </a:lnTo>
                            <a:lnTo>
                              <a:pt x="76" y="0"/>
                            </a:lnTo>
                            <a:lnTo>
                              <a:pt x="57" y="5"/>
                            </a:lnTo>
                            <a:lnTo>
                              <a:pt x="39" y="16"/>
                            </a:lnTo>
                            <a:lnTo>
                              <a:pt x="23" y="31"/>
                            </a:lnTo>
                            <a:lnTo>
                              <a:pt x="17" y="40"/>
                            </a:lnTo>
                            <a:lnTo>
                              <a:pt x="10" y="60"/>
                            </a:lnTo>
                            <a:lnTo>
                              <a:pt x="7" y="79"/>
                            </a:lnTo>
                            <a:lnTo>
                              <a:pt x="13" y="116"/>
                            </a:lnTo>
                            <a:lnTo>
                              <a:pt x="23" y="153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grpSp>
                    <p:nvGrpSpPr>
                      <p:cNvPr id="425" name="Group 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31" y="1685"/>
                        <a:ext cx="112" cy="95"/>
                        <a:chOff x="1331" y="1685"/>
                        <a:chExt cx="112" cy="95"/>
                      </a:xfrm>
                    </p:grpSpPr>
                    <p:sp>
                      <p:nvSpPr>
                        <p:cNvPr id="426" name="Freeform 5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34" y="1730"/>
                          <a:ext cx="9" cy="26"/>
                        </a:xfrm>
                        <a:custGeom>
                          <a:avLst/>
                          <a:gdLst>
                            <a:gd name="T0" fmla="*/ 2 w 19"/>
                            <a:gd name="T1" fmla="*/ 0 h 52"/>
                            <a:gd name="T2" fmla="*/ 0 w 19"/>
                            <a:gd name="T3" fmla="*/ 19 h 52"/>
                            <a:gd name="T4" fmla="*/ 13 w 19"/>
                            <a:gd name="T5" fmla="*/ 32 h 52"/>
                            <a:gd name="T6" fmla="*/ 4 w 19"/>
                            <a:gd name="T7" fmla="*/ 52 h 52"/>
                            <a:gd name="T8" fmla="*/ 19 w 19"/>
                            <a:gd name="T9" fmla="*/ 52 h 5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19" h="52">
                              <a:moveTo>
                                <a:pt x="2" y="0"/>
                              </a:moveTo>
                              <a:lnTo>
                                <a:pt x="0" y="19"/>
                              </a:lnTo>
                              <a:lnTo>
                                <a:pt x="13" y="32"/>
                              </a:lnTo>
                              <a:lnTo>
                                <a:pt x="4" y="52"/>
                              </a:lnTo>
                              <a:lnTo>
                                <a:pt x="19" y="52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27" name="Freeform 5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97" y="1705"/>
                          <a:ext cx="26" cy="29"/>
                        </a:xfrm>
                        <a:custGeom>
                          <a:avLst/>
                          <a:gdLst>
                            <a:gd name="T0" fmla="*/ 0 w 52"/>
                            <a:gd name="T1" fmla="*/ 0 h 60"/>
                            <a:gd name="T2" fmla="*/ 11 w 52"/>
                            <a:gd name="T3" fmla="*/ 4 h 60"/>
                            <a:gd name="T4" fmla="*/ 27 w 52"/>
                            <a:gd name="T5" fmla="*/ 10 h 60"/>
                            <a:gd name="T6" fmla="*/ 38 w 52"/>
                            <a:gd name="T7" fmla="*/ 17 h 60"/>
                            <a:gd name="T8" fmla="*/ 44 w 52"/>
                            <a:gd name="T9" fmla="*/ 23 h 60"/>
                            <a:gd name="T10" fmla="*/ 47 w 52"/>
                            <a:gd name="T11" fmla="*/ 38 h 60"/>
                            <a:gd name="T12" fmla="*/ 52 w 52"/>
                            <a:gd name="T13" fmla="*/ 60 h 6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</a:cxnLst>
                          <a:rect l="0" t="0" r="r" b="b"/>
                          <a:pathLst>
                            <a:path w="52" h="60">
                              <a:moveTo>
                                <a:pt x="0" y="0"/>
                              </a:moveTo>
                              <a:lnTo>
                                <a:pt x="11" y="4"/>
                              </a:lnTo>
                              <a:lnTo>
                                <a:pt x="27" y="10"/>
                              </a:lnTo>
                              <a:lnTo>
                                <a:pt x="38" y="17"/>
                              </a:lnTo>
                              <a:lnTo>
                                <a:pt x="44" y="23"/>
                              </a:lnTo>
                              <a:lnTo>
                                <a:pt x="47" y="38"/>
                              </a:lnTo>
                              <a:lnTo>
                                <a:pt x="52" y="6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28" name="Freeform 5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03" y="1725"/>
                          <a:ext cx="23" cy="7"/>
                        </a:xfrm>
                        <a:custGeom>
                          <a:avLst/>
                          <a:gdLst>
                            <a:gd name="T0" fmla="*/ 0 w 46"/>
                            <a:gd name="T1" fmla="*/ 0 h 15"/>
                            <a:gd name="T2" fmla="*/ 14 w 46"/>
                            <a:gd name="T3" fmla="*/ 10 h 15"/>
                            <a:gd name="T4" fmla="*/ 27 w 46"/>
                            <a:gd name="T5" fmla="*/ 15 h 15"/>
                            <a:gd name="T6" fmla="*/ 46 w 46"/>
                            <a:gd name="T7" fmla="*/ 9 h 1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0" t="0" r="r" b="b"/>
                          <a:pathLst>
                            <a:path w="46" h="15">
                              <a:moveTo>
                                <a:pt x="0" y="0"/>
                              </a:moveTo>
                              <a:lnTo>
                                <a:pt x="14" y="10"/>
                              </a:lnTo>
                              <a:lnTo>
                                <a:pt x="27" y="15"/>
                              </a:lnTo>
                              <a:lnTo>
                                <a:pt x="46" y="9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29" name="Freeform 6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86" y="1735"/>
                          <a:ext cx="18" cy="14"/>
                        </a:xfrm>
                        <a:custGeom>
                          <a:avLst/>
                          <a:gdLst>
                            <a:gd name="T0" fmla="*/ 0 w 36"/>
                            <a:gd name="T1" fmla="*/ 0 h 28"/>
                            <a:gd name="T2" fmla="*/ 12 w 36"/>
                            <a:gd name="T3" fmla="*/ 2 h 28"/>
                            <a:gd name="T4" fmla="*/ 23 w 36"/>
                            <a:gd name="T5" fmla="*/ 6 h 28"/>
                            <a:gd name="T6" fmla="*/ 36 w 36"/>
                            <a:gd name="T7" fmla="*/ 28 h 2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0" t="0" r="r" b="b"/>
                          <a:pathLst>
                            <a:path w="36" h="28">
                              <a:moveTo>
                                <a:pt x="0" y="0"/>
                              </a:moveTo>
                              <a:lnTo>
                                <a:pt x="12" y="2"/>
                              </a:lnTo>
                              <a:lnTo>
                                <a:pt x="23" y="6"/>
                              </a:lnTo>
                              <a:lnTo>
                                <a:pt x="36" y="28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30" name="Freeform 6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95" y="1776"/>
                          <a:ext cx="22" cy="4"/>
                        </a:xfrm>
                        <a:custGeom>
                          <a:avLst/>
                          <a:gdLst>
                            <a:gd name="T0" fmla="*/ 0 w 44"/>
                            <a:gd name="T1" fmla="*/ 3 h 10"/>
                            <a:gd name="T2" fmla="*/ 10 w 44"/>
                            <a:gd name="T3" fmla="*/ 0 h 10"/>
                            <a:gd name="T4" fmla="*/ 23 w 44"/>
                            <a:gd name="T5" fmla="*/ 1 h 10"/>
                            <a:gd name="T6" fmla="*/ 36 w 44"/>
                            <a:gd name="T7" fmla="*/ 6 h 10"/>
                            <a:gd name="T8" fmla="*/ 44 w 44"/>
                            <a:gd name="T9" fmla="*/ 10 h 1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44" h="10">
                              <a:moveTo>
                                <a:pt x="0" y="3"/>
                              </a:moveTo>
                              <a:lnTo>
                                <a:pt x="10" y="0"/>
                              </a:lnTo>
                              <a:lnTo>
                                <a:pt x="23" y="1"/>
                              </a:lnTo>
                              <a:lnTo>
                                <a:pt x="36" y="6"/>
                              </a:lnTo>
                              <a:lnTo>
                                <a:pt x="44" y="1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31" name="Freeform 6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31" y="1722"/>
                          <a:ext cx="36" cy="8"/>
                        </a:xfrm>
                        <a:custGeom>
                          <a:avLst/>
                          <a:gdLst>
                            <a:gd name="T0" fmla="*/ 0 w 73"/>
                            <a:gd name="T1" fmla="*/ 0 h 17"/>
                            <a:gd name="T2" fmla="*/ 15 w 73"/>
                            <a:gd name="T3" fmla="*/ 10 h 17"/>
                            <a:gd name="T4" fmla="*/ 27 w 73"/>
                            <a:gd name="T5" fmla="*/ 15 h 17"/>
                            <a:gd name="T6" fmla="*/ 44 w 73"/>
                            <a:gd name="T7" fmla="*/ 17 h 17"/>
                            <a:gd name="T8" fmla="*/ 58 w 73"/>
                            <a:gd name="T9" fmla="*/ 15 h 17"/>
                            <a:gd name="T10" fmla="*/ 73 w 73"/>
                            <a:gd name="T11" fmla="*/ 11 h 1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73" h="17">
                              <a:moveTo>
                                <a:pt x="0" y="0"/>
                              </a:moveTo>
                              <a:lnTo>
                                <a:pt x="15" y="10"/>
                              </a:lnTo>
                              <a:lnTo>
                                <a:pt x="27" y="15"/>
                              </a:lnTo>
                              <a:lnTo>
                                <a:pt x="44" y="17"/>
                              </a:lnTo>
                              <a:lnTo>
                                <a:pt x="58" y="15"/>
                              </a:lnTo>
                              <a:lnTo>
                                <a:pt x="73" y="11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32" name="Freeform 6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705"/>
                          <a:ext cx="37" cy="11"/>
                        </a:xfrm>
                        <a:custGeom>
                          <a:avLst/>
                          <a:gdLst>
                            <a:gd name="T0" fmla="*/ 0 w 74"/>
                            <a:gd name="T1" fmla="*/ 6 h 20"/>
                            <a:gd name="T2" fmla="*/ 7 w 74"/>
                            <a:gd name="T3" fmla="*/ 15 h 20"/>
                            <a:gd name="T4" fmla="*/ 15 w 74"/>
                            <a:gd name="T5" fmla="*/ 19 h 20"/>
                            <a:gd name="T6" fmla="*/ 30 w 74"/>
                            <a:gd name="T7" fmla="*/ 20 h 20"/>
                            <a:gd name="T8" fmla="*/ 45 w 74"/>
                            <a:gd name="T9" fmla="*/ 18 h 20"/>
                            <a:gd name="T10" fmla="*/ 53 w 74"/>
                            <a:gd name="T11" fmla="*/ 13 h 20"/>
                            <a:gd name="T12" fmla="*/ 63 w 74"/>
                            <a:gd name="T13" fmla="*/ 6 h 20"/>
                            <a:gd name="T14" fmla="*/ 74 w 74"/>
                            <a:gd name="T15" fmla="*/ 0 h 2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</a:cxnLst>
                          <a:rect l="0" t="0" r="r" b="b"/>
                          <a:pathLst>
                            <a:path w="74" h="20">
                              <a:moveTo>
                                <a:pt x="0" y="6"/>
                              </a:moveTo>
                              <a:lnTo>
                                <a:pt x="7" y="15"/>
                              </a:lnTo>
                              <a:lnTo>
                                <a:pt x="15" y="19"/>
                              </a:lnTo>
                              <a:lnTo>
                                <a:pt x="30" y="20"/>
                              </a:lnTo>
                              <a:lnTo>
                                <a:pt x="45" y="18"/>
                              </a:lnTo>
                              <a:lnTo>
                                <a:pt x="53" y="13"/>
                              </a:lnTo>
                              <a:lnTo>
                                <a:pt x="63" y="6"/>
                              </a:lnTo>
                              <a:lnTo>
                                <a:pt x="74" y="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33" name="Freeform 6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72" y="1685"/>
                          <a:ext cx="32" cy="9"/>
                        </a:xfrm>
                        <a:custGeom>
                          <a:avLst/>
                          <a:gdLst>
                            <a:gd name="T0" fmla="*/ 0 w 65"/>
                            <a:gd name="T1" fmla="*/ 17 h 17"/>
                            <a:gd name="T2" fmla="*/ 15 w 65"/>
                            <a:gd name="T3" fmla="*/ 12 h 17"/>
                            <a:gd name="T4" fmla="*/ 31 w 65"/>
                            <a:gd name="T5" fmla="*/ 2 h 17"/>
                            <a:gd name="T6" fmla="*/ 47 w 65"/>
                            <a:gd name="T7" fmla="*/ 0 h 17"/>
                            <a:gd name="T8" fmla="*/ 65 w 65"/>
                            <a:gd name="T9" fmla="*/ 11 h 1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65" h="17">
                              <a:moveTo>
                                <a:pt x="0" y="17"/>
                              </a:moveTo>
                              <a:lnTo>
                                <a:pt x="15" y="12"/>
                              </a:lnTo>
                              <a:lnTo>
                                <a:pt x="31" y="2"/>
                              </a:lnTo>
                              <a:lnTo>
                                <a:pt x="47" y="0"/>
                              </a:lnTo>
                              <a:lnTo>
                                <a:pt x="65" y="11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434" name="Oval 6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83" y="1744"/>
                          <a:ext cx="6" cy="11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</p:grpSp>
                <p:grpSp>
                  <p:nvGrpSpPr>
                    <p:cNvPr id="415" name="Group 6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96" y="1763"/>
                      <a:ext cx="215" cy="194"/>
                      <a:chOff x="1396" y="1763"/>
                      <a:chExt cx="215" cy="194"/>
                    </a:xfrm>
                  </p:grpSpPr>
                  <p:grpSp>
                    <p:nvGrpSpPr>
                      <p:cNvPr id="416" name="Group 6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460" y="1826"/>
                        <a:ext cx="151" cy="131"/>
                        <a:chOff x="1460" y="1826"/>
                        <a:chExt cx="151" cy="131"/>
                      </a:xfrm>
                    </p:grpSpPr>
                    <p:grpSp>
                      <p:nvGrpSpPr>
                        <p:cNvPr id="418" name="Group 6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26" y="1860"/>
                          <a:ext cx="85" cy="97"/>
                          <a:chOff x="1526" y="1860"/>
                          <a:chExt cx="85" cy="97"/>
                        </a:xfrm>
                      </p:grpSpPr>
                      <p:sp>
                        <p:nvSpPr>
                          <p:cNvPr id="422" name="Freeform 6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26" y="1860"/>
                            <a:ext cx="85" cy="97"/>
                          </a:xfrm>
                          <a:custGeom>
                            <a:avLst/>
                            <a:gdLst>
                              <a:gd name="T0" fmla="*/ 86 w 170"/>
                              <a:gd name="T1" fmla="*/ 50 h 194"/>
                              <a:gd name="T2" fmla="*/ 107 w 170"/>
                              <a:gd name="T3" fmla="*/ 34 h 194"/>
                              <a:gd name="T4" fmla="*/ 122 w 170"/>
                              <a:gd name="T5" fmla="*/ 17 h 194"/>
                              <a:gd name="T6" fmla="*/ 126 w 170"/>
                              <a:gd name="T7" fmla="*/ 8 h 194"/>
                              <a:gd name="T8" fmla="*/ 135 w 170"/>
                              <a:gd name="T9" fmla="*/ 2 h 194"/>
                              <a:gd name="T10" fmla="*/ 145 w 170"/>
                              <a:gd name="T11" fmla="*/ 0 h 194"/>
                              <a:gd name="T12" fmla="*/ 164 w 170"/>
                              <a:gd name="T13" fmla="*/ 19 h 194"/>
                              <a:gd name="T14" fmla="*/ 166 w 170"/>
                              <a:gd name="T15" fmla="*/ 34 h 194"/>
                              <a:gd name="T16" fmla="*/ 170 w 170"/>
                              <a:gd name="T17" fmla="*/ 59 h 194"/>
                              <a:gd name="T18" fmla="*/ 168 w 170"/>
                              <a:gd name="T19" fmla="*/ 68 h 194"/>
                              <a:gd name="T20" fmla="*/ 146 w 170"/>
                              <a:gd name="T21" fmla="*/ 88 h 194"/>
                              <a:gd name="T22" fmla="*/ 149 w 170"/>
                              <a:gd name="T23" fmla="*/ 114 h 194"/>
                              <a:gd name="T24" fmla="*/ 129 w 170"/>
                              <a:gd name="T25" fmla="*/ 132 h 194"/>
                              <a:gd name="T26" fmla="*/ 108 w 170"/>
                              <a:gd name="T27" fmla="*/ 146 h 194"/>
                              <a:gd name="T28" fmla="*/ 91 w 170"/>
                              <a:gd name="T29" fmla="*/ 133 h 194"/>
                              <a:gd name="T30" fmla="*/ 92 w 170"/>
                              <a:gd name="T31" fmla="*/ 154 h 194"/>
                              <a:gd name="T32" fmla="*/ 60 w 170"/>
                              <a:gd name="T33" fmla="*/ 174 h 194"/>
                              <a:gd name="T34" fmla="*/ 28 w 170"/>
                              <a:gd name="T35" fmla="*/ 194 h 194"/>
                              <a:gd name="T36" fmla="*/ 15 w 170"/>
                              <a:gd name="T37" fmla="*/ 179 h 194"/>
                              <a:gd name="T38" fmla="*/ 6 w 170"/>
                              <a:gd name="T39" fmla="*/ 171 h 194"/>
                              <a:gd name="T40" fmla="*/ 0 w 170"/>
                              <a:gd name="T41" fmla="*/ 145 h 194"/>
                              <a:gd name="T42" fmla="*/ 89 w 170"/>
                              <a:gd name="T43" fmla="*/ 91 h 194"/>
                              <a:gd name="T44" fmla="*/ 86 w 170"/>
                              <a:gd name="T45" fmla="*/ 50 h 19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</a:cxnLst>
                            <a:rect l="0" t="0" r="r" b="b"/>
                            <a:pathLst>
                              <a:path w="170" h="194">
                                <a:moveTo>
                                  <a:pt x="86" y="50"/>
                                </a:moveTo>
                                <a:lnTo>
                                  <a:pt x="107" y="34"/>
                                </a:lnTo>
                                <a:lnTo>
                                  <a:pt x="122" y="17"/>
                                </a:lnTo>
                                <a:lnTo>
                                  <a:pt x="126" y="8"/>
                                </a:lnTo>
                                <a:lnTo>
                                  <a:pt x="135" y="2"/>
                                </a:lnTo>
                                <a:lnTo>
                                  <a:pt x="145" y="0"/>
                                </a:lnTo>
                                <a:lnTo>
                                  <a:pt x="164" y="19"/>
                                </a:lnTo>
                                <a:lnTo>
                                  <a:pt x="166" y="34"/>
                                </a:lnTo>
                                <a:lnTo>
                                  <a:pt x="170" y="59"/>
                                </a:lnTo>
                                <a:lnTo>
                                  <a:pt x="168" y="68"/>
                                </a:lnTo>
                                <a:lnTo>
                                  <a:pt x="146" y="88"/>
                                </a:lnTo>
                                <a:lnTo>
                                  <a:pt x="149" y="114"/>
                                </a:lnTo>
                                <a:lnTo>
                                  <a:pt x="129" y="132"/>
                                </a:lnTo>
                                <a:lnTo>
                                  <a:pt x="108" y="146"/>
                                </a:lnTo>
                                <a:lnTo>
                                  <a:pt x="91" y="133"/>
                                </a:lnTo>
                                <a:lnTo>
                                  <a:pt x="92" y="154"/>
                                </a:lnTo>
                                <a:lnTo>
                                  <a:pt x="60" y="174"/>
                                </a:lnTo>
                                <a:lnTo>
                                  <a:pt x="28" y="194"/>
                                </a:lnTo>
                                <a:lnTo>
                                  <a:pt x="15" y="179"/>
                                </a:lnTo>
                                <a:lnTo>
                                  <a:pt x="6" y="171"/>
                                </a:lnTo>
                                <a:lnTo>
                                  <a:pt x="0" y="145"/>
                                </a:lnTo>
                                <a:lnTo>
                                  <a:pt x="89" y="91"/>
                                </a:lnTo>
                                <a:lnTo>
                                  <a:pt x="86" y="5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7F5F3F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423" name="Freeform 7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81" y="1899"/>
                            <a:ext cx="17" cy="7"/>
                          </a:xfrm>
                          <a:custGeom>
                            <a:avLst/>
                            <a:gdLst>
                              <a:gd name="T0" fmla="*/ 0 w 34"/>
                              <a:gd name="T1" fmla="*/ 9 h 15"/>
                              <a:gd name="T2" fmla="*/ 20 w 34"/>
                              <a:gd name="T3" fmla="*/ 0 h 15"/>
                              <a:gd name="T4" fmla="*/ 34 w 34"/>
                              <a:gd name="T5" fmla="*/ 15 h 1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34" h="15">
                                <a:moveTo>
                                  <a:pt x="0" y="9"/>
                                </a:moveTo>
                                <a:lnTo>
                                  <a:pt x="20" y="0"/>
                                </a:lnTo>
                                <a:lnTo>
                                  <a:pt x="34" y="15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grpSp>
                      <p:nvGrpSpPr>
                        <p:cNvPr id="419" name="Group 7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460" y="1826"/>
                          <a:ext cx="125" cy="111"/>
                          <a:chOff x="1460" y="1826"/>
                          <a:chExt cx="125" cy="111"/>
                        </a:xfrm>
                      </p:grpSpPr>
                      <p:sp>
                        <p:nvSpPr>
                          <p:cNvPr id="420" name="Freeform 7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487" y="1826"/>
                            <a:ext cx="98" cy="98"/>
                          </a:xfrm>
                          <a:custGeom>
                            <a:avLst/>
                            <a:gdLst>
                              <a:gd name="T0" fmla="*/ 0 w 195"/>
                              <a:gd name="T1" fmla="*/ 25 h 196"/>
                              <a:gd name="T2" fmla="*/ 23 w 195"/>
                              <a:gd name="T3" fmla="*/ 0 h 196"/>
                              <a:gd name="T4" fmla="*/ 46 w 195"/>
                              <a:gd name="T5" fmla="*/ 14 h 196"/>
                              <a:gd name="T6" fmla="*/ 50 w 195"/>
                              <a:gd name="T7" fmla="*/ 28 h 196"/>
                              <a:gd name="T8" fmla="*/ 71 w 195"/>
                              <a:gd name="T9" fmla="*/ 25 h 196"/>
                              <a:gd name="T10" fmla="*/ 97 w 195"/>
                              <a:gd name="T11" fmla="*/ 32 h 196"/>
                              <a:gd name="T12" fmla="*/ 119 w 195"/>
                              <a:gd name="T13" fmla="*/ 25 h 196"/>
                              <a:gd name="T14" fmla="*/ 138 w 195"/>
                              <a:gd name="T15" fmla="*/ 37 h 196"/>
                              <a:gd name="T16" fmla="*/ 160 w 195"/>
                              <a:gd name="T17" fmla="*/ 32 h 196"/>
                              <a:gd name="T18" fmla="*/ 168 w 195"/>
                              <a:gd name="T19" fmla="*/ 42 h 196"/>
                              <a:gd name="T20" fmla="*/ 171 w 195"/>
                              <a:gd name="T21" fmla="*/ 64 h 196"/>
                              <a:gd name="T22" fmla="*/ 167 w 195"/>
                              <a:gd name="T23" fmla="*/ 79 h 196"/>
                              <a:gd name="T24" fmla="*/ 169 w 195"/>
                              <a:gd name="T25" fmla="*/ 97 h 196"/>
                              <a:gd name="T26" fmla="*/ 177 w 195"/>
                              <a:gd name="T27" fmla="*/ 108 h 196"/>
                              <a:gd name="T28" fmla="*/ 185 w 195"/>
                              <a:gd name="T29" fmla="*/ 115 h 196"/>
                              <a:gd name="T30" fmla="*/ 190 w 195"/>
                              <a:gd name="T31" fmla="*/ 133 h 196"/>
                              <a:gd name="T32" fmla="*/ 195 w 195"/>
                              <a:gd name="T33" fmla="*/ 150 h 196"/>
                              <a:gd name="T34" fmla="*/ 191 w 195"/>
                              <a:gd name="T35" fmla="*/ 163 h 196"/>
                              <a:gd name="T36" fmla="*/ 153 w 195"/>
                              <a:gd name="T37" fmla="*/ 189 h 196"/>
                              <a:gd name="T38" fmla="*/ 133 w 195"/>
                              <a:gd name="T39" fmla="*/ 196 h 196"/>
                              <a:gd name="T40" fmla="*/ 102 w 195"/>
                              <a:gd name="T41" fmla="*/ 81 h 196"/>
                              <a:gd name="T42" fmla="*/ 11 w 195"/>
                              <a:gd name="T43" fmla="*/ 58 h 196"/>
                              <a:gd name="T44" fmla="*/ 0 w 195"/>
                              <a:gd name="T45" fmla="*/ 25 h 19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</a:cxnLst>
                            <a:rect l="0" t="0" r="r" b="b"/>
                            <a:pathLst>
                              <a:path w="195" h="196">
                                <a:moveTo>
                                  <a:pt x="0" y="25"/>
                                </a:moveTo>
                                <a:lnTo>
                                  <a:pt x="23" y="0"/>
                                </a:lnTo>
                                <a:lnTo>
                                  <a:pt x="46" y="14"/>
                                </a:lnTo>
                                <a:lnTo>
                                  <a:pt x="50" y="28"/>
                                </a:lnTo>
                                <a:lnTo>
                                  <a:pt x="71" y="25"/>
                                </a:lnTo>
                                <a:lnTo>
                                  <a:pt x="97" y="32"/>
                                </a:lnTo>
                                <a:lnTo>
                                  <a:pt x="119" y="25"/>
                                </a:lnTo>
                                <a:lnTo>
                                  <a:pt x="138" y="37"/>
                                </a:lnTo>
                                <a:lnTo>
                                  <a:pt x="160" y="32"/>
                                </a:lnTo>
                                <a:lnTo>
                                  <a:pt x="168" y="42"/>
                                </a:lnTo>
                                <a:lnTo>
                                  <a:pt x="171" y="64"/>
                                </a:lnTo>
                                <a:lnTo>
                                  <a:pt x="167" y="79"/>
                                </a:lnTo>
                                <a:lnTo>
                                  <a:pt x="169" y="97"/>
                                </a:lnTo>
                                <a:lnTo>
                                  <a:pt x="177" y="108"/>
                                </a:lnTo>
                                <a:lnTo>
                                  <a:pt x="185" y="115"/>
                                </a:lnTo>
                                <a:lnTo>
                                  <a:pt x="190" y="133"/>
                                </a:lnTo>
                                <a:lnTo>
                                  <a:pt x="195" y="150"/>
                                </a:lnTo>
                                <a:lnTo>
                                  <a:pt x="191" y="163"/>
                                </a:lnTo>
                                <a:lnTo>
                                  <a:pt x="153" y="189"/>
                                </a:lnTo>
                                <a:lnTo>
                                  <a:pt x="133" y="196"/>
                                </a:lnTo>
                                <a:lnTo>
                                  <a:pt x="102" y="81"/>
                                </a:lnTo>
                                <a:lnTo>
                                  <a:pt x="11" y="58"/>
                                </a:lnTo>
                                <a:lnTo>
                                  <a:pt x="0" y="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80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421" name="Freeform 7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460" y="1833"/>
                            <a:ext cx="106" cy="104"/>
                          </a:xfrm>
                          <a:custGeom>
                            <a:avLst/>
                            <a:gdLst>
                              <a:gd name="T0" fmla="*/ 0 w 212"/>
                              <a:gd name="T1" fmla="*/ 46 h 209"/>
                              <a:gd name="T2" fmla="*/ 16 w 212"/>
                              <a:gd name="T3" fmla="*/ 12 h 209"/>
                              <a:gd name="T4" fmla="*/ 34 w 212"/>
                              <a:gd name="T5" fmla="*/ 0 h 209"/>
                              <a:gd name="T6" fmla="*/ 49 w 212"/>
                              <a:gd name="T7" fmla="*/ 1 h 209"/>
                              <a:gd name="T8" fmla="*/ 64 w 212"/>
                              <a:gd name="T9" fmla="*/ 1 h 209"/>
                              <a:gd name="T10" fmla="*/ 76 w 212"/>
                              <a:gd name="T11" fmla="*/ 19 h 209"/>
                              <a:gd name="T12" fmla="*/ 75 w 212"/>
                              <a:gd name="T13" fmla="*/ 29 h 209"/>
                              <a:gd name="T14" fmla="*/ 89 w 212"/>
                              <a:gd name="T15" fmla="*/ 35 h 209"/>
                              <a:gd name="T16" fmla="*/ 104 w 212"/>
                              <a:gd name="T17" fmla="*/ 36 h 209"/>
                              <a:gd name="T18" fmla="*/ 123 w 212"/>
                              <a:gd name="T19" fmla="*/ 30 h 209"/>
                              <a:gd name="T20" fmla="*/ 136 w 212"/>
                              <a:gd name="T21" fmla="*/ 38 h 209"/>
                              <a:gd name="T22" fmla="*/ 149 w 212"/>
                              <a:gd name="T23" fmla="*/ 51 h 209"/>
                              <a:gd name="T24" fmla="*/ 169 w 212"/>
                              <a:gd name="T25" fmla="*/ 51 h 209"/>
                              <a:gd name="T26" fmla="*/ 179 w 212"/>
                              <a:gd name="T27" fmla="*/ 59 h 209"/>
                              <a:gd name="T28" fmla="*/ 172 w 212"/>
                              <a:gd name="T29" fmla="*/ 70 h 209"/>
                              <a:gd name="T30" fmla="*/ 184 w 212"/>
                              <a:gd name="T31" fmla="*/ 74 h 209"/>
                              <a:gd name="T32" fmla="*/ 186 w 212"/>
                              <a:gd name="T33" fmla="*/ 109 h 209"/>
                              <a:gd name="T34" fmla="*/ 190 w 212"/>
                              <a:gd name="T35" fmla="*/ 120 h 209"/>
                              <a:gd name="T36" fmla="*/ 195 w 212"/>
                              <a:gd name="T37" fmla="*/ 135 h 209"/>
                              <a:gd name="T38" fmla="*/ 198 w 212"/>
                              <a:gd name="T39" fmla="*/ 150 h 209"/>
                              <a:gd name="T40" fmla="*/ 201 w 212"/>
                              <a:gd name="T41" fmla="*/ 165 h 209"/>
                              <a:gd name="T42" fmla="*/ 212 w 212"/>
                              <a:gd name="T43" fmla="*/ 183 h 209"/>
                              <a:gd name="T44" fmla="*/ 158 w 212"/>
                              <a:gd name="T45" fmla="*/ 209 h 209"/>
                              <a:gd name="T46" fmla="*/ 132 w 212"/>
                              <a:gd name="T47" fmla="*/ 205 h 209"/>
                              <a:gd name="T48" fmla="*/ 138 w 212"/>
                              <a:gd name="T49" fmla="*/ 185 h 209"/>
                              <a:gd name="T50" fmla="*/ 143 w 212"/>
                              <a:gd name="T51" fmla="*/ 169 h 209"/>
                              <a:gd name="T52" fmla="*/ 136 w 212"/>
                              <a:gd name="T53" fmla="*/ 143 h 209"/>
                              <a:gd name="T54" fmla="*/ 143 w 212"/>
                              <a:gd name="T55" fmla="*/ 116 h 209"/>
                              <a:gd name="T56" fmla="*/ 133 w 212"/>
                              <a:gd name="T57" fmla="*/ 103 h 209"/>
                              <a:gd name="T58" fmla="*/ 126 w 212"/>
                              <a:gd name="T59" fmla="*/ 89 h 209"/>
                              <a:gd name="T60" fmla="*/ 114 w 212"/>
                              <a:gd name="T61" fmla="*/ 85 h 209"/>
                              <a:gd name="T62" fmla="*/ 112 w 212"/>
                              <a:gd name="T63" fmla="*/ 69 h 209"/>
                              <a:gd name="T64" fmla="*/ 95 w 212"/>
                              <a:gd name="T65" fmla="*/ 64 h 209"/>
                              <a:gd name="T66" fmla="*/ 79 w 212"/>
                              <a:gd name="T67" fmla="*/ 61 h 209"/>
                              <a:gd name="T68" fmla="*/ 60 w 212"/>
                              <a:gd name="T69" fmla="*/ 63 h 209"/>
                              <a:gd name="T70" fmla="*/ 40 w 212"/>
                              <a:gd name="T71" fmla="*/ 78 h 209"/>
                              <a:gd name="T72" fmla="*/ 15 w 212"/>
                              <a:gd name="T73" fmla="*/ 67 h 209"/>
                              <a:gd name="T74" fmla="*/ 0 w 212"/>
                              <a:gd name="T75" fmla="*/ 46 h 20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  <a:cxn ang="0">
                                <a:pos x="T52" y="T53"/>
                              </a:cxn>
                              <a:cxn ang="0">
                                <a:pos x="T54" y="T55"/>
                              </a:cxn>
                              <a:cxn ang="0">
                                <a:pos x="T56" y="T57"/>
                              </a:cxn>
                              <a:cxn ang="0">
                                <a:pos x="T58" y="T59"/>
                              </a:cxn>
                              <a:cxn ang="0">
                                <a:pos x="T60" y="T61"/>
                              </a:cxn>
                              <a:cxn ang="0">
                                <a:pos x="T62" y="T63"/>
                              </a:cxn>
                              <a:cxn ang="0">
                                <a:pos x="T64" y="T65"/>
                              </a:cxn>
                              <a:cxn ang="0">
                                <a:pos x="T66" y="T67"/>
                              </a:cxn>
                              <a:cxn ang="0">
                                <a:pos x="T68" y="T69"/>
                              </a:cxn>
                              <a:cxn ang="0">
                                <a:pos x="T70" y="T71"/>
                              </a:cxn>
                              <a:cxn ang="0">
                                <a:pos x="T72" y="T73"/>
                              </a:cxn>
                              <a:cxn ang="0">
                                <a:pos x="T74" y="T75"/>
                              </a:cxn>
                            </a:cxnLst>
                            <a:rect l="0" t="0" r="r" b="b"/>
                            <a:pathLst>
                              <a:path w="212" h="209">
                                <a:moveTo>
                                  <a:pt x="0" y="46"/>
                                </a:moveTo>
                                <a:lnTo>
                                  <a:pt x="16" y="12"/>
                                </a:lnTo>
                                <a:lnTo>
                                  <a:pt x="34" y="0"/>
                                </a:lnTo>
                                <a:lnTo>
                                  <a:pt x="49" y="1"/>
                                </a:lnTo>
                                <a:lnTo>
                                  <a:pt x="64" y="1"/>
                                </a:lnTo>
                                <a:lnTo>
                                  <a:pt x="76" y="19"/>
                                </a:lnTo>
                                <a:lnTo>
                                  <a:pt x="75" y="29"/>
                                </a:lnTo>
                                <a:lnTo>
                                  <a:pt x="89" y="35"/>
                                </a:lnTo>
                                <a:lnTo>
                                  <a:pt x="104" y="36"/>
                                </a:lnTo>
                                <a:lnTo>
                                  <a:pt x="123" y="30"/>
                                </a:lnTo>
                                <a:lnTo>
                                  <a:pt x="136" y="38"/>
                                </a:lnTo>
                                <a:lnTo>
                                  <a:pt x="149" y="51"/>
                                </a:lnTo>
                                <a:lnTo>
                                  <a:pt x="169" y="51"/>
                                </a:lnTo>
                                <a:lnTo>
                                  <a:pt x="179" y="59"/>
                                </a:lnTo>
                                <a:lnTo>
                                  <a:pt x="172" y="70"/>
                                </a:lnTo>
                                <a:lnTo>
                                  <a:pt x="184" y="74"/>
                                </a:lnTo>
                                <a:lnTo>
                                  <a:pt x="186" y="109"/>
                                </a:lnTo>
                                <a:lnTo>
                                  <a:pt x="190" y="120"/>
                                </a:lnTo>
                                <a:lnTo>
                                  <a:pt x="195" y="135"/>
                                </a:lnTo>
                                <a:lnTo>
                                  <a:pt x="198" y="150"/>
                                </a:lnTo>
                                <a:lnTo>
                                  <a:pt x="201" y="165"/>
                                </a:lnTo>
                                <a:lnTo>
                                  <a:pt x="212" y="183"/>
                                </a:lnTo>
                                <a:lnTo>
                                  <a:pt x="158" y="209"/>
                                </a:lnTo>
                                <a:lnTo>
                                  <a:pt x="132" y="205"/>
                                </a:lnTo>
                                <a:lnTo>
                                  <a:pt x="138" y="185"/>
                                </a:lnTo>
                                <a:lnTo>
                                  <a:pt x="143" y="169"/>
                                </a:lnTo>
                                <a:lnTo>
                                  <a:pt x="136" y="143"/>
                                </a:lnTo>
                                <a:lnTo>
                                  <a:pt x="143" y="116"/>
                                </a:lnTo>
                                <a:lnTo>
                                  <a:pt x="133" y="103"/>
                                </a:lnTo>
                                <a:lnTo>
                                  <a:pt x="126" y="89"/>
                                </a:lnTo>
                                <a:lnTo>
                                  <a:pt x="114" y="85"/>
                                </a:lnTo>
                                <a:lnTo>
                                  <a:pt x="112" y="69"/>
                                </a:lnTo>
                                <a:lnTo>
                                  <a:pt x="95" y="64"/>
                                </a:lnTo>
                                <a:lnTo>
                                  <a:pt x="79" y="61"/>
                                </a:lnTo>
                                <a:lnTo>
                                  <a:pt x="60" y="63"/>
                                </a:lnTo>
                                <a:lnTo>
                                  <a:pt x="40" y="78"/>
                                </a:lnTo>
                                <a:lnTo>
                                  <a:pt x="15" y="67"/>
                                </a:lnTo>
                                <a:lnTo>
                                  <a:pt x="0" y="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FF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  <p:sp>
                    <p:nvSpPr>
                      <p:cNvPr id="417" name="Freeform 7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96" y="1763"/>
                        <a:ext cx="104" cy="80"/>
                      </a:xfrm>
                      <a:custGeom>
                        <a:avLst/>
                        <a:gdLst>
                          <a:gd name="T0" fmla="*/ 102 w 208"/>
                          <a:gd name="T1" fmla="*/ 0 h 161"/>
                          <a:gd name="T2" fmla="*/ 87 w 208"/>
                          <a:gd name="T3" fmla="*/ 45 h 161"/>
                          <a:gd name="T4" fmla="*/ 48 w 208"/>
                          <a:gd name="T5" fmla="*/ 49 h 161"/>
                          <a:gd name="T6" fmla="*/ 54 w 208"/>
                          <a:gd name="T7" fmla="*/ 64 h 161"/>
                          <a:gd name="T8" fmla="*/ 38 w 208"/>
                          <a:gd name="T9" fmla="*/ 63 h 161"/>
                          <a:gd name="T10" fmla="*/ 28 w 208"/>
                          <a:gd name="T11" fmla="*/ 74 h 161"/>
                          <a:gd name="T12" fmla="*/ 13 w 208"/>
                          <a:gd name="T13" fmla="*/ 82 h 161"/>
                          <a:gd name="T14" fmla="*/ 11 w 208"/>
                          <a:gd name="T15" fmla="*/ 103 h 161"/>
                          <a:gd name="T16" fmla="*/ 0 w 208"/>
                          <a:gd name="T17" fmla="*/ 110 h 161"/>
                          <a:gd name="T18" fmla="*/ 0 w 208"/>
                          <a:gd name="T19" fmla="*/ 125 h 161"/>
                          <a:gd name="T20" fmla="*/ 12 w 208"/>
                          <a:gd name="T21" fmla="*/ 135 h 161"/>
                          <a:gd name="T22" fmla="*/ 67 w 208"/>
                          <a:gd name="T23" fmla="*/ 143 h 161"/>
                          <a:gd name="T24" fmla="*/ 81 w 208"/>
                          <a:gd name="T25" fmla="*/ 145 h 161"/>
                          <a:gd name="T26" fmla="*/ 98 w 208"/>
                          <a:gd name="T27" fmla="*/ 151 h 161"/>
                          <a:gd name="T28" fmla="*/ 102 w 208"/>
                          <a:gd name="T29" fmla="*/ 161 h 161"/>
                          <a:gd name="T30" fmla="*/ 167 w 208"/>
                          <a:gd name="T31" fmla="*/ 143 h 161"/>
                          <a:gd name="T32" fmla="*/ 193 w 208"/>
                          <a:gd name="T33" fmla="*/ 143 h 161"/>
                          <a:gd name="T34" fmla="*/ 206 w 208"/>
                          <a:gd name="T35" fmla="*/ 129 h 161"/>
                          <a:gd name="T36" fmla="*/ 206 w 208"/>
                          <a:gd name="T37" fmla="*/ 121 h 161"/>
                          <a:gd name="T38" fmla="*/ 191 w 208"/>
                          <a:gd name="T39" fmla="*/ 109 h 161"/>
                          <a:gd name="T40" fmla="*/ 205 w 208"/>
                          <a:gd name="T41" fmla="*/ 95 h 161"/>
                          <a:gd name="T42" fmla="*/ 208 w 208"/>
                          <a:gd name="T43" fmla="*/ 88 h 161"/>
                          <a:gd name="T44" fmla="*/ 201 w 208"/>
                          <a:gd name="T45" fmla="*/ 74 h 161"/>
                          <a:gd name="T46" fmla="*/ 185 w 208"/>
                          <a:gd name="T47" fmla="*/ 72 h 161"/>
                          <a:gd name="T48" fmla="*/ 174 w 208"/>
                          <a:gd name="T49" fmla="*/ 74 h 161"/>
                          <a:gd name="T50" fmla="*/ 160 w 208"/>
                          <a:gd name="T51" fmla="*/ 63 h 161"/>
                          <a:gd name="T52" fmla="*/ 126 w 208"/>
                          <a:gd name="T53" fmla="*/ 68 h 161"/>
                          <a:gd name="T54" fmla="*/ 136 w 208"/>
                          <a:gd name="T55" fmla="*/ 29 h 161"/>
                          <a:gd name="T56" fmla="*/ 102 w 208"/>
                          <a:gd name="T57" fmla="*/ 0 h 16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</a:cxnLst>
                        <a:rect l="0" t="0" r="r" b="b"/>
                        <a:pathLst>
                          <a:path w="208" h="161">
                            <a:moveTo>
                              <a:pt x="102" y="0"/>
                            </a:moveTo>
                            <a:lnTo>
                              <a:pt x="87" y="45"/>
                            </a:lnTo>
                            <a:lnTo>
                              <a:pt x="48" y="49"/>
                            </a:lnTo>
                            <a:lnTo>
                              <a:pt x="54" y="64"/>
                            </a:lnTo>
                            <a:lnTo>
                              <a:pt x="38" y="63"/>
                            </a:lnTo>
                            <a:lnTo>
                              <a:pt x="28" y="74"/>
                            </a:lnTo>
                            <a:lnTo>
                              <a:pt x="13" y="82"/>
                            </a:lnTo>
                            <a:lnTo>
                              <a:pt x="11" y="103"/>
                            </a:lnTo>
                            <a:lnTo>
                              <a:pt x="0" y="110"/>
                            </a:lnTo>
                            <a:lnTo>
                              <a:pt x="0" y="125"/>
                            </a:lnTo>
                            <a:lnTo>
                              <a:pt x="12" y="135"/>
                            </a:lnTo>
                            <a:lnTo>
                              <a:pt x="67" y="143"/>
                            </a:lnTo>
                            <a:lnTo>
                              <a:pt x="81" y="145"/>
                            </a:lnTo>
                            <a:lnTo>
                              <a:pt x="98" y="151"/>
                            </a:lnTo>
                            <a:lnTo>
                              <a:pt x="102" y="161"/>
                            </a:lnTo>
                            <a:lnTo>
                              <a:pt x="167" y="143"/>
                            </a:lnTo>
                            <a:lnTo>
                              <a:pt x="193" y="143"/>
                            </a:lnTo>
                            <a:lnTo>
                              <a:pt x="206" y="129"/>
                            </a:lnTo>
                            <a:lnTo>
                              <a:pt x="206" y="121"/>
                            </a:lnTo>
                            <a:lnTo>
                              <a:pt x="191" y="109"/>
                            </a:lnTo>
                            <a:lnTo>
                              <a:pt x="205" y="95"/>
                            </a:lnTo>
                            <a:lnTo>
                              <a:pt x="208" y="88"/>
                            </a:lnTo>
                            <a:lnTo>
                              <a:pt x="201" y="74"/>
                            </a:lnTo>
                            <a:lnTo>
                              <a:pt x="185" y="72"/>
                            </a:lnTo>
                            <a:lnTo>
                              <a:pt x="174" y="74"/>
                            </a:lnTo>
                            <a:lnTo>
                              <a:pt x="160" y="63"/>
                            </a:lnTo>
                            <a:lnTo>
                              <a:pt x="126" y="68"/>
                            </a:lnTo>
                            <a:lnTo>
                              <a:pt x="136" y="29"/>
                            </a:lnTo>
                            <a:lnTo>
                              <a:pt x="102" y="0"/>
                            </a:lnTo>
                            <a:close/>
                          </a:path>
                        </a:pathLst>
                      </a:custGeom>
                      <a:solidFill>
                        <a:srgbClr val="FF0000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</p:grpSp>
              <p:sp>
                <p:nvSpPr>
                  <p:cNvPr id="413" name="Freeform 75"/>
                  <p:cNvSpPr>
                    <a:spLocks/>
                  </p:cNvSpPr>
                  <p:nvPr/>
                </p:nvSpPr>
                <p:spPr bwMode="auto">
                  <a:xfrm>
                    <a:off x="1310" y="1790"/>
                    <a:ext cx="452" cy="147"/>
                  </a:xfrm>
                  <a:custGeom>
                    <a:avLst/>
                    <a:gdLst>
                      <a:gd name="T0" fmla="*/ 0 w 904"/>
                      <a:gd name="T1" fmla="*/ 288 h 296"/>
                      <a:gd name="T2" fmla="*/ 4 w 904"/>
                      <a:gd name="T3" fmla="*/ 296 h 296"/>
                      <a:gd name="T4" fmla="*/ 10 w 904"/>
                      <a:gd name="T5" fmla="*/ 295 h 296"/>
                      <a:gd name="T6" fmla="*/ 39 w 904"/>
                      <a:gd name="T7" fmla="*/ 245 h 296"/>
                      <a:gd name="T8" fmla="*/ 73 w 904"/>
                      <a:gd name="T9" fmla="*/ 227 h 296"/>
                      <a:gd name="T10" fmla="*/ 86 w 904"/>
                      <a:gd name="T11" fmla="*/ 208 h 296"/>
                      <a:gd name="T12" fmla="*/ 127 w 904"/>
                      <a:gd name="T13" fmla="*/ 189 h 296"/>
                      <a:gd name="T14" fmla="*/ 126 w 904"/>
                      <a:gd name="T15" fmla="*/ 156 h 296"/>
                      <a:gd name="T16" fmla="*/ 150 w 904"/>
                      <a:gd name="T17" fmla="*/ 138 h 296"/>
                      <a:gd name="T18" fmla="*/ 177 w 904"/>
                      <a:gd name="T19" fmla="*/ 138 h 296"/>
                      <a:gd name="T20" fmla="*/ 186 w 904"/>
                      <a:gd name="T21" fmla="*/ 122 h 296"/>
                      <a:gd name="T22" fmla="*/ 206 w 904"/>
                      <a:gd name="T23" fmla="*/ 130 h 296"/>
                      <a:gd name="T24" fmla="*/ 240 w 904"/>
                      <a:gd name="T25" fmla="*/ 119 h 296"/>
                      <a:gd name="T26" fmla="*/ 277 w 904"/>
                      <a:gd name="T27" fmla="*/ 114 h 296"/>
                      <a:gd name="T28" fmla="*/ 308 w 904"/>
                      <a:gd name="T29" fmla="*/ 97 h 296"/>
                      <a:gd name="T30" fmla="*/ 348 w 904"/>
                      <a:gd name="T31" fmla="*/ 81 h 296"/>
                      <a:gd name="T32" fmla="*/ 388 w 904"/>
                      <a:gd name="T33" fmla="*/ 76 h 296"/>
                      <a:gd name="T34" fmla="*/ 474 w 904"/>
                      <a:gd name="T35" fmla="*/ 62 h 296"/>
                      <a:gd name="T36" fmla="*/ 569 w 904"/>
                      <a:gd name="T37" fmla="*/ 50 h 296"/>
                      <a:gd name="T38" fmla="*/ 644 w 904"/>
                      <a:gd name="T39" fmla="*/ 35 h 296"/>
                      <a:gd name="T40" fmla="*/ 705 w 904"/>
                      <a:gd name="T41" fmla="*/ 15 h 296"/>
                      <a:gd name="T42" fmla="*/ 724 w 904"/>
                      <a:gd name="T43" fmla="*/ 17 h 296"/>
                      <a:gd name="T44" fmla="*/ 753 w 904"/>
                      <a:gd name="T45" fmla="*/ 24 h 296"/>
                      <a:gd name="T46" fmla="*/ 820 w 904"/>
                      <a:gd name="T47" fmla="*/ 17 h 296"/>
                      <a:gd name="T48" fmla="*/ 904 w 904"/>
                      <a:gd name="T49" fmla="*/ 13 h 296"/>
                      <a:gd name="T50" fmla="*/ 893 w 904"/>
                      <a:gd name="T51" fmla="*/ 0 h 296"/>
                      <a:gd name="T52" fmla="*/ 816 w 904"/>
                      <a:gd name="T53" fmla="*/ 4 h 296"/>
                      <a:gd name="T54" fmla="*/ 753 w 904"/>
                      <a:gd name="T55" fmla="*/ 10 h 296"/>
                      <a:gd name="T56" fmla="*/ 721 w 904"/>
                      <a:gd name="T57" fmla="*/ 2 h 296"/>
                      <a:gd name="T58" fmla="*/ 695 w 904"/>
                      <a:gd name="T59" fmla="*/ 5 h 296"/>
                      <a:gd name="T60" fmla="*/ 637 w 904"/>
                      <a:gd name="T61" fmla="*/ 24 h 296"/>
                      <a:gd name="T62" fmla="*/ 551 w 904"/>
                      <a:gd name="T63" fmla="*/ 40 h 296"/>
                      <a:gd name="T64" fmla="*/ 470 w 904"/>
                      <a:gd name="T65" fmla="*/ 50 h 296"/>
                      <a:gd name="T66" fmla="*/ 386 w 904"/>
                      <a:gd name="T67" fmla="*/ 64 h 296"/>
                      <a:gd name="T68" fmla="*/ 344 w 904"/>
                      <a:gd name="T69" fmla="*/ 70 h 296"/>
                      <a:gd name="T70" fmla="*/ 315 w 904"/>
                      <a:gd name="T71" fmla="*/ 84 h 296"/>
                      <a:gd name="T72" fmla="*/ 268 w 904"/>
                      <a:gd name="T73" fmla="*/ 103 h 296"/>
                      <a:gd name="T74" fmla="*/ 242 w 904"/>
                      <a:gd name="T75" fmla="*/ 107 h 296"/>
                      <a:gd name="T76" fmla="*/ 224 w 904"/>
                      <a:gd name="T77" fmla="*/ 112 h 296"/>
                      <a:gd name="T78" fmla="*/ 206 w 904"/>
                      <a:gd name="T79" fmla="*/ 118 h 296"/>
                      <a:gd name="T80" fmla="*/ 183 w 904"/>
                      <a:gd name="T81" fmla="*/ 109 h 296"/>
                      <a:gd name="T82" fmla="*/ 172 w 904"/>
                      <a:gd name="T83" fmla="*/ 126 h 296"/>
                      <a:gd name="T84" fmla="*/ 147 w 904"/>
                      <a:gd name="T85" fmla="*/ 125 h 296"/>
                      <a:gd name="T86" fmla="*/ 113 w 904"/>
                      <a:gd name="T87" fmla="*/ 153 h 296"/>
                      <a:gd name="T88" fmla="*/ 114 w 904"/>
                      <a:gd name="T89" fmla="*/ 181 h 296"/>
                      <a:gd name="T90" fmla="*/ 77 w 904"/>
                      <a:gd name="T91" fmla="*/ 200 h 296"/>
                      <a:gd name="T92" fmla="*/ 65 w 904"/>
                      <a:gd name="T93" fmla="*/ 219 h 296"/>
                      <a:gd name="T94" fmla="*/ 30 w 904"/>
                      <a:gd name="T95" fmla="*/ 238 h 296"/>
                      <a:gd name="T96" fmla="*/ 0 w 904"/>
                      <a:gd name="T97" fmla="*/ 288 h 2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904" h="296">
                        <a:moveTo>
                          <a:pt x="0" y="288"/>
                        </a:moveTo>
                        <a:lnTo>
                          <a:pt x="4" y="296"/>
                        </a:lnTo>
                        <a:lnTo>
                          <a:pt x="10" y="295"/>
                        </a:lnTo>
                        <a:lnTo>
                          <a:pt x="39" y="245"/>
                        </a:lnTo>
                        <a:lnTo>
                          <a:pt x="73" y="227"/>
                        </a:lnTo>
                        <a:lnTo>
                          <a:pt x="86" y="208"/>
                        </a:lnTo>
                        <a:lnTo>
                          <a:pt x="127" y="189"/>
                        </a:lnTo>
                        <a:lnTo>
                          <a:pt x="126" y="156"/>
                        </a:lnTo>
                        <a:lnTo>
                          <a:pt x="150" y="138"/>
                        </a:lnTo>
                        <a:lnTo>
                          <a:pt x="177" y="138"/>
                        </a:lnTo>
                        <a:lnTo>
                          <a:pt x="186" y="122"/>
                        </a:lnTo>
                        <a:lnTo>
                          <a:pt x="206" y="130"/>
                        </a:lnTo>
                        <a:lnTo>
                          <a:pt x="240" y="119"/>
                        </a:lnTo>
                        <a:lnTo>
                          <a:pt x="277" y="114"/>
                        </a:lnTo>
                        <a:lnTo>
                          <a:pt x="308" y="97"/>
                        </a:lnTo>
                        <a:lnTo>
                          <a:pt x="348" y="81"/>
                        </a:lnTo>
                        <a:lnTo>
                          <a:pt x="388" y="76"/>
                        </a:lnTo>
                        <a:lnTo>
                          <a:pt x="474" y="62"/>
                        </a:lnTo>
                        <a:lnTo>
                          <a:pt x="569" y="50"/>
                        </a:lnTo>
                        <a:lnTo>
                          <a:pt x="644" y="35"/>
                        </a:lnTo>
                        <a:lnTo>
                          <a:pt x="705" y="15"/>
                        </a:lnTo>
                        <a:lnTo>
                          <a:pt x="724" y="17"/>
                        </a:lnTo>
                        <a:lnTo>
                          <a:pt x="753" y="24"/>
                        </a:lnTo>
                        <a:lnTo>
                          <a:pt x="820" y="17"/>
                        </a:lnTo>
                        <a:lnTo>
                          <a:pt x="904" y="13"/>
                        </a:lnTo>
                        <a:lnTo>
                          <a:pt x="893" y="0"/>
                        </a:lnTo>
                        <a:lnTo>
                          <a:pt x="816" y="4"/>
                        </a:lnTo>
                        <a:lnTo>
                          <a:pt x="753" y="10"/>
                        </a:lnTo>
                        <a:lnTo>
                          <a:pt x="721" y="2"/>
                        </a:lnTo>
                        <a:lnTo>
                          <a:pt x="695" y="5"/>
                        </a:lnTo>
                        <a:lnTo>
                          <a:pt x="637" y="24"/>
                        </a:lnTo>
                        <a:lnTo>
                          <a:pt x="551" y="40"/>
                        </a:lnTo>
                        <a:lnTo>
                          <a:pt x="470" y="50"/>
                        </a:lnTo>
                        <a:lnTo>
                          <a:pt x="386" y="64"/>
                        </a:lnTo>
                        <a:lnTo>
                          <a:pt x="344" y="70"/>
                        </a:lnTo>
                        <a:lnTo>
                          <a:pt x="315" y="84"/>
                        </a:lnTo>
                        <a:lnTo>
                          <a:pt x="268" y="103"/>
                        </a:lnTo>
                        <a:lnTo>
                          <a:pt x="242" y="107"/>
                        </a:lnTo>
                        <a:lnTo>
                          <a:pt x="224" y="112"/>
                        </a:lnTo>
                        <a:lnTo>
                          <a:pt x="206" y="118"/>
                        </a:lnTo>
                        <a:lnTo>
                          <a:pt x="183" y="109"/>
                        </a:lnTo>
                        <a:lnTo>
                          <a:pt x="172" y="126"/>
                        </a:lnTo>
                        <a:lnTo>
                          <a:pt x="147" y="125"/>
                        </a:lnTo>
                        <a:lnTo>
                          <a:pt x="113" y="153"/>
                        </a:lnTo>
                        <a:lnTo>
                          <a:pt x="114" y="181"/>
                        </a:lnTo>
                        <a:lnTo>
                          <a:pt x="77" y="200"/>
                        </a:lnTo>
                        <a:lnTo>
                          <a:pt x="65" y="219"/>
                        </a:lnTo>
                        <a:lnTo>
                          <a:pt x="30" y="238"/>
                        </a:lnTo>
                        <a:lnTo>
                          <a:pt x="0" y="28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406" name="Group 76"/>
                <p:cNvGrpSpPr>
                  <a:grpSpLocks/>
                </p:cNvGrpSpPr>
                <p:nvPr/>
              </p:nvGrpSpPr>
              <p:grpSpPr bwMode="auto">
                <a:xfrm>
                  <a:off x="1443" y="1790"/>
                  <a:ext cx="100" cy="63"/>
                  <a:chOff x="1443" y="1790"/>
                  <a:chExt cx="100" cy="63"/>
                </a:xfrm>
              </p:grpSpPr>
              <p:sp>
                <p:nvSpPr>
                  <p:cNvPr id="407" name="Freeform 77"/>
                  <p:cNvSpPr>
                    <a:spLocks/>
                  </p:cNvSpPr>
                  <p:nvPr/>
                </p:nvSpPr>
                <p:spPr bwMode="auto">
                  <a:xfrm>
                    <a:off x="1443" y="1819"/>
                    <a:ext cx="41" cy="34"/>
                  </a:xfrm>
                  <a:custGeom>
                    <a:avLst/>
                    <a:gdLst>
                      <a:gd name="T0" fmla="*/ 0 w 83"/>
                      <a:gd name="T1" fmla="*/ 49 h 69"/>
                      <a:gd name="T2" fmla="*/ 7 w 83"/>
                      <a:gd name="T3" fmla="*/ 35 h 69"/>
                      <a:gd name="T4" fmla="*/ 15 w 83"/>
                      <a:gd name="T5" fmla="*/ 28 h 69"/>
                      <a:gd name="T6" fmla="*/ 22 w 83"/>
                      <a:gd name="T7" fmla="*/ 18 h 69"/>
                      <a:gd name="T8" fmla="*/ 32 w 83"/>
                      <a:gd name="T9" fmla="*/ 4 h 69"/>
                      <a:gd name="T10" fmla="*/ 46 w 83"/>
                      <a:gd name="T11" fmla="*/ 0 h 69"/>
                      <a:gd name="T12" fmla="*/ 62 w 83"/>
                      <a:gd name="T13" fmla="*/ 0 h 69"/>
                      <a:gd name="T14" fmla="*/ 71 w 83"/>
                      <a:gd name="T15" fmla="*/ 7 h 69"/>
                      <a:gd name="T16" fmla="*/ 80 w 83"/>
                      <a:gd name="T17" fmla="*/ 15 h 69"/>
                      <a:gd name="T18" fmla="*/ 83 w 83"/>
                      <a:gd name="T19" fmla="*/ 28 h 69"/>
                      <a:gd name="T20" fmla="*/ 80 w 83"/>
                      <a:gd name="T21" fmla="*/ 44 h 69"/>
                      <a:gd name="T22" fmla="*/ 62 w 83"/>
                      <a:gd name="T23" fmla="*/ 40 h 69"/>
                      <a:gd name="T24" fmla="*/ 60 w 83"/>
                      <a:gd name="T25" fmla="*/ 51 h 69"/>
                      <a:gd name="T26" fmla="*/ 50 w 83"/>
                      <a:gd name="T27" fmla="*/ 63 h 69"/>
                      <a:gd name="T28" fmla="*/ 43 w 83"/>
                      <a:gd name="T29" fmla="*/ 69 h 69"/>
                      <a:gd name="T30" fmla="*/ 16 w 83"/>
                      <a:gd name="T31" fmla="*/ 61 h 69"/>
                      <a:gd name="T32" fmla="*/ 0 w 83"/>
                      <a:gd name="T33" fmla="*/ 4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83" h="69">
                        <a:moveTo>
                          <a:pt x="0" y="49"/>
                        </a:moveTo>
                        <a:lnTo>
                          <a:pt x="7" y="35"/>
                        </a:lnTo>
                        <a:lnTo>
                          <a:pt x="15" y="28"/>
                        </a:lnTo>
                        <a:lnTo>
                          <a:pt x="22" y="18"/>
                        </a:lnTo>
                        <a:lnTo>
                          <a:pt x="32" y="4"/>
                        </a:lnTo>
                        <a:lnTo>
                          <a:pt x="46" y="0"/>
                        </a:lnTo>
                        <a:lnTo>
                          <a:pt x="62" y="0"/>
                        </a:lnTo>
                        <a:lnTo>
                          <a:pt x="71" y="7"/>
                        </a:lnTo>
                        <a:lnTo>
                          <a:pt x="80" y="15"/>
                        </a:lnTo>
                        <a:lnTo>
                          <a:pt x="83" y="28"/>
                        </a:lnTo>
                        <a:lnTo>
                          <a:pt x="80" y="44"/>
                        </a:lnTo>
                        <a:lnTo>
                          <a:pt x="62" y="40"/>
                        </a:lnTo>
                        <a:lnTo>
                          <a:pt x="60" y="51"/>
                        </a:lnTo>
                        <a:lnTo>
                          <a:pt x="50" y="63"/>
                        </a:lnTo>
                        <a:lnTo>
                          <a:pt x="43" y="69"/>
                        </a:lnTo>
                        <a:lnTo>
                          <a:pt x="16" y="61"/>
                        </a:lnTo>
                        <a:lnTo>
                          <a:pt x="0" y="49"/>
                        </a:lnTo>
                        <a:close/>
                      </a:path>
                    </a:pathLst>
                  </a:custGeom>
                  <a:solidFill>
                    <a:srgbClr val="FFBF7F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grpSp>
                <p:nvGrpSpPr>
                  <p:cNvPr id="408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1493" y="1790"/>
                    <a:ext cx="50" cy="44"/>
                    <a:chOff x="1493" y="1790"/>
                    <a:chExt cx="50" cy="44"/>
                  </a:xfrm>
                </p:grpSpPr>
                <p:sp>
                  <p:nvSpPr>
                    <p:cNvPr id="409" name="Freeform 79"/>
                    <p:cNvSpPr>
                      <a:spLocks/>
                    </p:cNvSpPr>
                    <p:nvPr/>
                  </p:nvSpPr>
                  <p:spPr bwMode="auto">
                    <a:xfrm>
                      <a:off x="1493" y="1805"/>
                      <a:ext cx="50" cy="29"/>
                    </a:xfrm>
                    <a:custGeom>
                      <a:avLst/>
                      <a:gdLst>
                        <a:gd name="T0" fmla="*/ 0 w 100"/>
                        <a:gd name="T1" fmla="*/ 19 h 58"/>
                        <a:gd name="T2" fmla="*/ 8 w 100"/>
                        <a:gd name="T3" fmla="*/ 12 h 58"/>
                        <a:gd name="T4" fmla="*/ 25 w 100"/>
                        <a:gd name="T5" fmla="*/ 18 h 58"/>
                        <a:gd name="T6" fmla="*/ 24 w 100"/>
                        <a:gd name="T7" fmla="*/ 3 h 58"/>
                        <a:gd name="T8" fmla="*/ 35 w 100"/>
                        <a:gd name="T9" fmla="*/ 0 h 58"/>
                        <a:gd name="T10" fmla="*/ 46 w 100"/>
                        <a:gd name="T11" fmla="*/ 3 h 58"/>
                        <a:gd name="T12" fmla="*/ 62 w 100"/>
                        <a:gd name="T13" fmla="*/ 24 h 58"/>
                        <a:gd name="T14" fmla="*/ 60 w 100"/>
                        <a:gd name="T15" fmla="*/ 10 h 58"/>
                        <a:gd name="T16" fmla="*/ 68 w 100"/>
                        <a:gd name="T17" fmla="*/ 1 h 58"/>
                        <a:gd name="T18" fmla="*/ 80 w 100"/>
                        <a:gd name="T19" fmla="*/ 1 h 58"/>
                        <a:gd name="T20" fmla="*/ 100 w 100"/>
                        <a:gd name="T21" fmla="*/ 29 h 58"/>
                        <a:gd name="T22" fmla="*/ 89 w 100"/>
                        <a:gd name="T23" fmla="*/ 46 h 58"/>
                        <a:gd name="T24" fmla="*/ 76 w 100"/>
                        <a:gd name="T25" fmla="*/ 44 h 58"/>
                        <a:gd name="T26" fmla="*/ 68 w 100"/>
                        <a:gd name="T27" fmla="*/ 41 h 58"/>
                        <a:gd name="T28" fmla="*/ 64 w 100"/>
                        <a:gd name="T29" fmla="*/ 47 h 58"/>
                        <a:gd name="T30" fmla="*/ 58 w 100"/>
                        <a:gd name="T31" fmla="*/ 57 h 58"/>
                        <a:gd name="T32" fmla="*/ 36 w 100"/>
                        <a:gd name="T33" fmla="*/ 58 h 58"/>
                        <a:gd name="T34" fmla="*/ 17 w 100"/>
                        <a:gd name="T35" fmla="*/ 48 h 58"/>
                        <a:gd name="T36" fmla="*/ 6 w 100"/>
                        <a:gd name="T37" fmla="*/ 36 h 58"/>
                        <a:gd name="T38" fmla="*/ 0 w 100"/>
                        <a:gd name="T39" fmla="*/ 19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00" h="58">
                          <a:moveTo>
                            <a:pt x="0" y="19"/>
                          </a:moveTo>
                          <a:lnTo>
                            <a:pt x="8" y="12"/>
                          </a:lnTo>
                          <a:lnTo>
                            <a:pt x="25" y="18"/>
                          </a:lnTo>
                          <a:lnTo>
                            <a:pt x="24" y="3"/>
                          </a:lnTo>
                          <a:lnTo>
                            <a:pt x="35" y="0"/>
                          </a:lnTo>
                          <a:lnTo>
                            <a:pt x="46" y="3"/>
                          </a:lnTo>
                          <a:lnTo>
                            <a:pt x="62" y="24"/>
                          </a:lnTo>
                          <a:lnTo>
                            <a:pt x="60" y="10"/>
                          </a:lnTo>
                          <a:lnTo>
                            <a:pt x="68" y="1"/>
                          </a:lnTo>
                          <a:lnTo>
                            <a:pt x="80" y="1"/>
                          </a:lnTo>
                          <a:lnTo>
                            <a:pt x="100" y="29"/>
                          </a:lnTo>
                          <a:lnTo>
                            <a:pt x="89" y="46"/>
                          </a:lnTo>
                          <a:lnTo>
                            <a:pt x="76" y="44"/>
                          </a:lnTo>
                          <a:lnTo>
                            <a:pt x="68" y="41"/>
                          </a:lnTo>
                          <a:lnTo>
                            <a:pt x="64" y="47"/>
                          </a:lnTo>
                          <a:lnTo>
                            <a:pt x="58" y="57"/>
                          </a:lnTo>
                          <a:lnTo>
                            <a:pt x="36" y="58"/>
                          </a:lnTo>
                          <a:lnTo>
                            <a:pt x="17" y="48"/>
                          </a:lnTo>
                          <a:lnTo>
                            <a:pt x="6" y="36"/>
                          </a:lnTo>
                          <a:lnTo>
                            <a:pt x="0" y="19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410" name="Freeform 80"/>
                    <p:cNvSpPr>
                      <a:spLocks/>
                    </p:cNvSpPr>
                    <p:nvPr/>
                  </p:nvSpPr>
                  <p:spPr bwMode="auto">
                    <a:xfrm>
                      <a:off x="1520" y="1790"/>
                      <a:ext cx="17" cy="19"/>
                    </a:xfrm>
                    <a:custGeom>
                      <a:avLst/>
                      <a:gdLst>
                        <a:gd name="T0" fmla="*/ 9 w 34"/>
                        <a:gd name="T1" fmla="*/ 39 h 39"/>
                        <a:gd name="T2" fmla="*/ 0 w 34"/>
                        <a:gd name="T3" fmla="*/ 15 h 39"/>
                        <a:gd name="T4" fmla="*/ 13 w 34"/>
                        <a:gd name="T5" fmla="*/ 0 h 39"/>
                        <a:gd name="T6" fmla="*/ 34 w 34"/>
                        <a:gd name="T7" fmla="*/ 11 h 39"/>
                        <a:gd name="T8" fmla="*/ 29 w 34"/>
                        <a:gd name="T9" fmla="*/ 33 h 39"/>
                        <a:gd name="T10" fmla="*/ 9 w 34"/>
                        <a:gd name="T11" fmla="*/ 39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34" h="39">
                          <a:moveTo>
                            <a:pt x="9" y="39"/>
                          </a:moveTo>
                          <a:lnTo>
                            <a:pt x="0" y="15"/>
                          </a:lnTo>
                          <a:lnTo>
                            <a:pt x="13" y="0"/>
                          </a:lnTo>
                          <a:lnTo>
                            <a:pt x="34" y="11"/>
                          </a:lnTo>
                          <a:lnTo>
                            <a:pt x="29" y="33"/>
                          </a:lnTo>
                          <a:lnTo>
                            <a:pt x="9" y="39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411" name="Line 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06" y="1815"/>
                      <a:ext cx="5" cy="13"/>
                    </a:xfrm>
                    <a:prstGeom prst="line">
                      <a:avLst/>
                    </a:prstGeom>
                    <a:noFill/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</p:grpSp>
          <p:grpSp>
            <p:nvGrpSpPr>
              <p:cNvPr id="326" name="Group 82"/>
              <p:cNvGrpSpPr>
                <a:grpSpLocks/>
              </p:cNvGrpSpPr>
              <p:nvPr/>
            </p:nvGrpSpPr>
            <p:grpSpPr bwMode="auto">
              <a:xfrm>
                <a:off x="1494" y="1639"/>
                <a:ext cx="235" cy="315"/>
                <a:chOff x="1494" y="1639"/>
                <a:chExt cx="235" cy="315"/>
              </a:xfrm>
            </p:grpSpPr>
            <p:grpSp>
              <p:nvGrpSpPr>
                <p:cNvPr id="369" name="Group 83"/>
                <p:cNvGrpSpPr>
                  <a:grpSpLocks/>
                </p:cNvGrpSpPr>
                <p:nvPr/>
              </p:nvGrpSpPr>
              <p:grpSpPr bwMode="auto">
                <a:xfrm>
                  <a:off x="1494" y="1639"/>
                  <a:ext cx="235" cy="315"/>
                  <a:chOff x="1494" y="1639"/>
                  <a:chExt cx="235" cy="315"/>
                </a:xfrm>
              </p:grpSpPr>
              <p:grpSp>
                <p:nvGrpSpPr>
                  <p:cNvPr id="377" name="Group 84"/>
                  <p:cNvGrpSpPr>
                    <a:grpSpLocks/>
                  </p:cNvGrpSpPr>
                  <p:nvPr/>
                </p:nvGrpSpPr>
                <p:grpSpPr bwMode="auto">
                  <a:xfrm>
                    <a:off x="1494" y="1639"/>
                    <a:ext cx="235" cy="315"/>
                    <a:chOff x="1494" y="1639"/>
                    <a:chExt cx="235" cy="315"/>
                  </a:xfrm>
                </p:grpSpPr>
                <p:grpSp>
                  <p:nvGrpSpPr>
                    <p:cNvPr id="379" name="Group 8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86" y="1814"/>
                      <a:ext cx="143" cy="140"/>
                      <a:chOff x="1586" y="1814"/>
                      <a:chExt cx="143" cy="140"/>
                    </a:xfrm>
                  </p:grpSpPr>
                  <p:grpSp>
                    <p:nvGrpSpPr>
                      <p:cNvPr id="399" name="Group 8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06" y="1817"/>
                        <a:ext cx="123" cy="137"/>
                        <a:chOff x="1606" y="1817"/>
                        <a:chExt cx="123" cy="137"/>
                      </a:xfrm>
                    </p:grpSpPr>
                    <p:grpSp>
                      <p:nvGrpSpPr>
                        <p:cNvPr id="401" name="Group 8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606" y="1817"/>
                          <a:ext cx="123" cy="106"/>
                          <a:chOff x="1606" y="1817"/>
                          <a:chExt cx="123" cy="106"/>
                        </a:xfrm>
                      </p:grpSpPr>
                      <p:sp>
                        <p:nvSpPr>
                          <p:cNvPr id="403" name="Freeform 8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678" y="1860"/>
                            <a:ext cx="51" cy="63"/>
                          </a:xfrm>
                          <a:custGeom>
                            <a:avLst/>
                            <a:gdLst>
                              <a:gd name="T0" fmla="*/ 0 w 102"/>
                              <a:gd name="T1" fmla="*/ 94 h 125"/>
                              <a:gd name="T2" fmla="*/ 10 w 102"/>
                              <a:gd name="T3" fmla="*/ 63 h 125"/>
                              <a:gd name="T4" fmla="*/ 22 w 102"/>
                              <a:gd name="T5" fmla="*/ 36 h 125"/>
                              <a:gd name="T6" fmla="*/ 38 w 102"/>
                              <a:gd name="T7" fmla="*/ 13 h 125"/>
                              <a:gd name="T8" fmla="*/ 51 w 102"/>
                              <a:gd name="T9" fmla="*/ 6 h 125"/>
                              <a:gd name="T10" fmla="*/ 65 w 102"/>
                              <a:gd name="T11" fmla="*/ 1 h 125"/>
                              <a:gd name="T12" fmla="*/ 76 w 102"/>
                              <a:gd name="T13" fmla="*/ 0 h 125"/>
                              <a:gd name="T14" fmla="*/ 88 w 102"/>
                              <a:gd name="T15" fmla="*/ 5 h 125"/>
                              <a:gd name="T16" fmla="*/ 95 w 102"/>
                              <a:gd name="T17" fmla="*/ 12 h 125"/>
                              <a:gd name="T18" fmla="*/ 99 w 102"/>
                              <a:gd name="T19" fmla="*/ 22 h 125"/>
                              <a:gd name="T20" fmla="*/ 102 w 102"/>
                              <a:gd name="T21" fmla="*/ 35 h 125"/>
                              <a:gd name="T22" fmla="*/ 101 w 102"/>
                              <a:gd name="T23" fmla="*/ 51 h 125"/>
                              <a:gd name="T24" fmla="*/ 95 w 102"/>
                              <a:gd name="T25" fmla="*/ 68 h 125"/>
                              <a:gd name="T26" fmla="*/ 88 w 102"/>
                              <a:gd name="T27" fmla="*/ 82 h 125"/>
                              <a:gd name="T28" fmla="*/ 77 w 102"/>
                              <a:gd name="T29" fmla="*/ 96 h 125"/>
                              <a:gd name="T30" fmla="*/ 70 w 102"/>
                              <a:gd name="T31" fmla="*/ 103 h 125"/>
                              <a:gd name="T32" fmla="*/ 11 w 102"/>
                              <a:gd name="T33" fmla="*/ 125 h 125"/>
                              <a:gd name="T34" fmla="*/ 2 w 102"/>
                              <a:gd name="T35" fmla="*/ 116 h 125"/>
                              <a:gd name="T36" fmla="*/ 0 w 102"/>
                              <a:gd name="T37" fmla="*/ 94 h 12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</a:cxnLst>
                            <a:rect l="0" t="0" r="r" b="b"/>
                            <a:pathLst>
                              <a:path w="102" h="125">
                                <a:moveTo>
                                  <a:pt x="0" y="94"/>
                                </a:moveTo>
                                <a:lnTo>
                                  <a:pt x="10" y="63"/>
                                </a:lnTo>
                                <a:lnTo>
                                  <a:pt x="22" y="36"/>
                                </a:lnTo>
                                <a:lnTo>
                                  <a:pt x="38" y="13"/>
                                </a:lnTo>
                                <a:lnTo>
                                  <a:pt x="51" y="6"/>
                                </a:lnTo>
                                <a:lnTo>
                                  <a:pt x="65" y="1"/>
                                </a:lnTo>
                                <a:lnTo>
                                  <a:pt x="76" y="0"/>
                                </a:lnTo>
                                <a:lnTo>
                                  <a:pt x="88" y="5"/>
                                </a:lnTo>
                                <a:lnTo>
                                  <a:pt x="95" y="12"/>
                                </a:lnTo>
                                <a:lnTo>
                                  <a:pt x="99" y="22"/>
                                </a:lnTo>
                                <a:lnTo>
                                  <a:pt x="102" y="35"/>
                                </a:lnTo>
                                <a:lnTo>
                                  <a:pt x="101" y="51"/>
                                </a:lnTo>
                                <a:lnTo>
                                  <a:pt x="95" y="68"/>
                                </a:lnTo>
                                <a:lnTo>
                                  <a:pt x="88" y="82"/>
                                </a:lnTo>
                                <a:lnTo>
                                  <a:pt x="77" y="96"/>
                                </a:lnTo>
                                <a:lnTo>
                                  <a:pt x="70" y="103"/>
                                </a:lnTo>
                                <a:lnTo>
                                  <a:pt x="11" y="125"/>
                                </a:lnTo>
                                <a:lnTo>
                                  <a:pt x="2" y="116"/>
                                </a:lnTo>
                                <a:lnTo>
                                  <a:pt x="0" y="9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F5F00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404" name="Freeform 8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606" y="1817"/>
                            <a:ext cx="95" cy="93"/>
                          </a:xfrm>
                          <a:custGeom>
                            <a:avLst/>
                            <a:gdLst>
                              <a:gd name="T0" fmla="*/ 58 w 192"/>
                              <a:gd name="T1" fmla="*/ 0 h 186"/>
                              <a:gd name="T2" fmla="*/ 78 w 192"/>
                              <a:gd name="T3" fmla="*/ 25 h 186"/>
                              <a:gd name="T4" fmla="*/ 106 w 192"/>
                              <a:gd name="T5" fmla="*/ 48 h 186"/>
                              <a:gd name="T6" fmla="*/ 132 w 192"/>
                              <a:gd name="T7" fmla="*/ 71 h 186"/>
                              <a:gd name="T8" fmla="*/ 137 w 192"/>
                              <a:gd name="T9" fmla="*/ 83 h 186"/>
                              <a:gd name="T10" fmla="*/ 172 w 192"/>
                              <a:gd name="T11" fmla="*/ 95 h 186"/>
                              <a:gd name="T12" fmla="*/ 190 w 192"/>
                              <a:gd name="T13" fmla="*/ 106 h 186"/>
                              <a:gd name="T14" fmla="*/ 192 w 192"/>
                              <a:gd name="T15" fmla="*/ 118 h 186"/>
                              <a:gd name="T16" fmla="*/ 183 w 192"/>
                              <a:gd name="T17" fmla="*/ 144 h 186"/>
                              <a:gd name="T18" fmla="*/ 175 w 192"/>
                              <a:gd name="T19" fmla="*/ 164 h 186"/>
                              <a:gd name="T20" fmla="*/ 155 w 192"/>
                              <a:gd name="T21" fmla="*/ 186 h 186"/>
                              <a:gd name="T22" fmla="*/ 122 w 192"/>
                              <a:gd name="T23" fmla="*/ 166 h 186"/>
                              <a:gd name="T24" fmla="*/ 98 w 192"/>
                              <a:gd name="T25" fmla="*/ 150 h 186"/>
                              <a:gd name="T26" fmla="*/ 76 w 192"/>
                              <a:gd name="T27" fmla="*/ 139 h 186"/>
                              <a:gd name="T28" fmla="*/ 57 w 192"/>
                              <a:gd name="T29" fmla="*/ 115 h 186"/>
                              <a:gd name="T30" fmla="*/ 36 w 192"/>
                              <a:gd name="T31" fmla="*/ 106 h 186"/>
                              <a:gd name="T32" fmla="*/ 19 w 192"/>
                              <a:gd name="T33" fmla="*/ 81 h 186"/>
                              <a:gd name="T34" fmla="*/ 0 w 192"/>
                              <a:gd name="T35" fmla="*/ 59 h 186"/>
                              <a:gd name="T36" fmla="*/ 58 w 192"/>
                              <a:gd name="T37" fmla="*/ 0 h 18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</a:cxnLst>
                            <a:rect l="0" t="0" r="r" b="b"/>
                            <a:pathLst>
                              <a:path w="192" h="186">
                                <a:moveTo>
                                  <a:pt x="58" y="0"/>
                                </a:moveTo>
                                <a:lnTo>
                                  <a:pt x="78" y="25"/>
                                </a:lnTo>
                                <a:lnTo>
                                  <a:pt x="106" y="48"/>
                                </a:lnTo>
                                <a:lnTo>
                                  <a:pt x="132" y="71"/>
                                </a:lnTo>
                                <a:lnTo>
                                  <a:pt x="137" y="83"/>
                                </a:lnTo>
                                <a:lnTo>
                                  <a:pt x="172" y="95"/>
                                </a:lnTo>
                                <a:lnTo>
                                  <a:pt x="190" y="106"/>
                                </a:lnTo>
                                <a:lnTo>
                                  <a:pt x="192" y="118"/>
                                </a:lnTo>
                                <a:lnTo>
                                  <a:pt x="183" y="144"/>
                                </a:lnTo>
                                <a:lnTo>
                                  <a:pt x="175" y="164"/>
                                </a:lnTo>
                                <a:lnTo>
                                  <a:pt x="155" y="186"/>
                                </a:lnTo>
                                <a:lnTo>
                                  <a:pt x="122" y="166"/>
                                </a:lnTo>
                                <a:lnTo>
                                  <a:pt x="98" y="150"/>
                                </a:lnTo>
                                <a:lnTo>
                                  <a:pt x="76" y="139"/>
                                </a:lnTo>
                                <a:lnTo>
                                  <a:pt x="57" y="115"/>
                                </a:lnTo>
                                <a:lnTo>
                                  <a:pt x="36" y="106"/>
                                </a:lnTo>
                                <a:lnTo>
                                  <a:pt x="19" y="81"/>
                                </a:lnTo>
                                <a:lnTo>
                                  <a:pt x="0" y="59"/>
                                </a:lnTo>
                                <a:lnTo>
                                  <a:pt x="58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BF3F00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sp>
                      <p:nvSpPr>
                        <p:cNvPr id="402" name="Freeform 9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43" y="1910"/>
                          <a:ext cx="76" cy="44"/>
                        </a:xfrm>
                        <a:custGeom>
                          <a:avLst/>
                          <a:gdLst>
                            <a:gd name="T0" fmla="*/ 18 w 153"/>
                            <a:gd name="T1" fmla="*/ 37 h 89"/>
                            <a:gd name="T2" fmla="*/ 80 w 153"/>
                            <a:gd name="T3" fmla="*/ 26 h 89"/>
                            <a:gd name="T4" fmla="*/ 106 w 153"/>
                            <a:gd name="T5" fmla="*/ 12 h 89"/>
                            <a:gd name="T6" fmla="*/ 140 w 153"/>
                            <a:gd name="T7" fmla="*/ 0 h 89"/>
                            <a:gd name="T8" fmla="*/ 147 w 153"/>
                            <a:gd name="T9" fmla="*/ 5 h 89"/>
                            <a:gd name="T10" fmla="*/ 152 w 153"/>
                            <a:gd name="T11" fmla="*/ 18 h 89"/>
                            <a:gd name="T12" fmla="*/ 153 w 153"/>
                            <a:gd name="T13" fmla="*/ 38 h 89"/>
                            <a:gd name="T14" fmla="*/ 138 w 153"/>
                            <a:gd name="T15" fmla="*/ 52 h 89"/>
                            <a:gd name="T16" fmla="*/ 129 w 153"/>
                            <a:gd name="T17" fmla="*/ 60 h 89"/>
                            <a:gd name="T18" fmla="*/ 108 w 153"/>
                            <a:gd name="T19" fmla="*/ 68 h 89"/>
                            <a:gd name="T20" fmla="*/ 100 w 153"/>
                            <a:gd name="T21" fmla="*/ 58 h 89"/>
                            <a:gd name="T22" fmla="*/ 89 w 153"/>
                            <a:gd name="T23" fmla="*/ 63 h 89"/>
                            <a:gd name="T24" fmla="*/ 85 w 153"/>
                            <a:gd name="T25" fmla="*/ 79 h 89"/>
                            <a:gd name="T26" fmla="*/ 63 w 153"/>
                            <a:gd name="T27" fmla="*/ 84 h 89"/>
                            <a:gd name="T28" fmla="*/ 44 w 153"/>
                            <a:gd name="T29" fmla="*/ 89 h 89"/>
                            <a:gd name="T30" fmla="*/ 26 w 153"/>
                            <a:gd name="T31" fmla="*/ 85 h 89"/>
                            <a:gd name="T32" fmla="*/ 1 w 153"/>
                            <a:gd name="T33" fmla="*/ 83 h 89"/>
                            <a:gd name="T34" fmla="*/ 0 w 153"/>
                            <a:gd name="T35" fmla="*/ 67 h 89"/>
                            <a:gd name="T36" fmla="*/ 1 w 153"/>
                            <a:gd name="T37" fmla="*/ 52 h 89"/>
                            <a:gd name="T38" fmla="*/ 18 w 153"/>
                            <a:gd name="T39" fmla="*/ 37 h 8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</a:cxnLst>
                          <a:rect l="0" t="0" r="r" b="b"/>
                          <a:pathLst>
                            <a:path w="153" h="89">
                              <a:moveTo>
                                <a:pt x="18" y="37"/>
                              </a:moveTo>
                              <a:lnTo>
                                <a:pt x="80" y="26"/>
                              </a:lnTo>
                              <a:lnTo>
                                <a:pt x="106" y="12"/>
                              </a:lnTo>
                              <a:lnTo>
                                <a:pt x="140" y="0"/>
                              </a:lnTo>
                              <a:lnTo>
                                <a:pt x="147" y="5"/>
                              </a:lnTo>
                              <a:lnTo>
                                <a:pt x="152" y="18"/>
                              </a:lnTo>
                              <a:lnTo>
                                <a:pt x="153" y="38"/>
                              </a:lnTo>
                              <a:lnTo>
                                <a:pt x="138" y="52"/>
                              </a:lnTo>
                              <a:lnTo>
                                <a:pt x="129" y="60"/>
                              </a:lnTo>
                              <a:lnTo>
                                <a:pt x="108" y="68"/>
                              </a:lnTo>
                              <a:lnTo>
                                <a:pt x="100" y="58"/>
                              </a:lnTo>
                              <a:lnTo>
                                <a:pt x="89" y="63"/>
                              </a:lnTo>
                              <a:lnTo>
                                <a:pt x="85" y="79"/>
                              </a:lnTo>
                              <a:lnTo>
                                <a:pt x="63" y="84"/>
                              </a:lnTo>
                              <a:lnTo>
                                <a:pt x="44" y="89"/>
                              </a:lnTo>
                              <a:lnTo>
                                <a:pt x="26" y="85"/>
                              </a:lnTo>
                              <a:lnTo>
                                <a:pt x="1" y="83"/>
                              </a:lnTo>
                              <a:lnTo>
                                <a:pt x="0" y="67"/>
                              </a:lnTo>
                              <a:lnTo>
                                <a:pt x="1" y="52"/>
                              </a:lnTo>
                              <a:lnTo>
                                <a:pt x="18" y="3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8000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  <p:sp>
                    <p:nvSpPr>
                      <p:cNvPr id="400" name="Freeform 9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86" y="1814"/>
                        <a:ext cx="97" cy="118"/>
                      </a:xfrm>
                      <a:custGeom>
                        <a:avLst/>
                        <a:gdLst>
                          <a:gd name="T0" fmla="*/ 0 w 195"/>
                          <a:gd name="T1" fmla="*/ 14 h 236"/>
                          <a:gd name="T2" fmla="*/ 33 w 195"/>
                          <a:gd name="T3" fmla="*/ 10 h 236"/>
                          <a:gd name="T4" fmla="*/ 55 w 195"/>
                          <a:gd name="T5" fmla="*/ 0 h 236"/>
                          <a:gd name="T6" fmla="*/ 83 w 195"/>
                          <a:gd name="T7" fmla="*/ 3 h 236"/>
                          <a:gd name="T8" fmla="*/ 97 w 195"/>
                          <a:gd name="T9" fmla="*/ 4 h 236"/>
                          <a:gd name="T10" fmla="*/ 109 w 195"/>
                          <a:gd name="T11" fmla="*/ 13 h 236"/>
                          <a:gd name="T12" fmla="*/ 126 w 195"/>
                          <a:gd name="T13" fmla="*/ 24 h 236"/>
                          <a:gd name="T14" fmla="*/ 138 w 195"/>
                          <a:gd name="T15" fmla="*/ 25 h 236"/>
                          <a:gd name="T16" fmla="*/ 149 w 195"/>
                          <a:gd name="T17" fmla="*/ 29 h 236"/>
                          <a:gd name="T18" fmla="*/ 162 w 195"/>
                          <a:gd name="T19" fmla="*/ 40 h 236"/>
                          <a:gd name="T20" fmla="*/ 173 w 195"/>
                          <a:gd name="T21" fmla="*/ 52 h 236"/>
                          <a:gd name="T22" fmla="*/ 187 w 195"/>
                          <a:gd name="T23" fmla="*/ 73 h 236"/>
                          <a:gd name="T24" fmla="*/ 184 w 195"/>
                          <a:gd name="T25" fmla="*/ 86 h 236"/>
                          <a:gd name="T26" fmla="*/ 178 w 195"/>
                          <a:gd name="T27" fmla="*/ 103 h 236"/>
                          <a:gd name="T28" fmla="*/ 172 w 195"/>
                          <a:gd name="T29" fmla="*/ 109 h 236"/>
                          <a:gd name="T30" fmla="*/ 173 w 195"/>
                          <a:gd name="T31" fmla="*/ 126 h 236"/>
                          <a:gd name="T32" fmla="*/ 182 w 195"/>
                          <a:gd name="T33" fmla="*/ 127 h 236"/>
                          <a:gd name="T34" fmla="*/ 181 w 195"/>
                          <a:gd name="T35" fmla="*/ 138 h 236"/>
                          <a:gd name="T36" fmla="*/ 188 w 195"/>
                          <a:gd name="T37" fmla="*/ 144 h 236"/>
                          <a:gd name="T38" fmla="*/ 185 w 195"/>
                          <a:gd name="T39" fmla="*/ 163 h 236"/>
                          <a:gd name="T40" fmla="*/ 185 w 195"/>
                          <a:gd name="T41" fmla="*/ 187 h 236"/>
                          <a:gd name="T42" fmla="*/ 195 w 195"/>
                          <a:gd name="T43" fmla="*/ 219 h 236"/>
                          <a:gd name="T44" fmla="*/ 184 w 195"/>
                          <a:gd name="T45" fmla="*/ 224 h 236"/>
                          <a:gd name="T46" fmla="*/ 172 w 195"/>
                          <a:gd name="T47" fmla="*/ 230 h 236"/>
                          <a:gd name="T48" fmla="*/ 153 w 195"/>
                          <a:gd name="T49" fmla="*/ 229 h 236"/>
                          <a:gd name="T50" fmla="*/ 132 w 195"/>
                          <a:gd name="T51" fmla="*/ 231 h 236"/>
                          <a:gd name="T52" fmla="*/ 110 w 195"/>
                          <a:gd name="T53" fmla="*/ 236 h 236"/>
                          <a:gd name="T54" fmla="*/ 120 w 195"/>
                          <a:gd name="T55" fmla="*/ 199 h 236"/>
                          <a:gd name="T56" fmla="*/ 125 w 195"/>
                          <a:gd name="T57" fmla="*/ 179 h 236"/>
                          <a:gd name="T58" fmla="*/ 112 w 195"/>
                          <a:gd name="T59" fmla="*/ 145 h 236"/>
                          <a:gd name="T60" fmla="*/ 125 w 195"/>
                          <a:gd name="T61" fmla="*/ 136 h 236"/>
                          <a:gd name="T62" fmla="*/ 124 w 195"/>
                          <a:gd name="T63" fmla="*/ 129 h 236"/>
                          <a:gd name="T64" fmla="*/ 113 w 195"/>
                          <a:gd name="T65" fmla="*/ 122 h 236"/>
                          <a:gd name="T66" fmla="*/ 114 w 195"/>
                          <a:gd name="T67" fmla="*/ 115 h 236"/>
                          <a:gd name="T68" fmla="*/ 99 w 195"/>
                          <a:gd name="T69" fmla="*/ 105 h 236"/>
                          <a:gd name="T70" fmla="*/ 110 w 195"/>
                          <a:gd name="T71" fmla="*/ 96 h 236"/>
                          <a:gd name="T72" fmla="*/ 116 w 195"/>
                          <a:gd name="T73" fmla="*/ 90 h 236"/>
                          <a:gd name="T74" fmla="*/ 102 w 195"/>
                          <a:gd name="T75" fmla="*/ 89 h 236"/>
                          <a:gd name="T76" fmla="*/ 85 w 195"/>
                          <a:gd name="T77" fmla="*/ 83 h 236"/>
                          <a:gd name="T78" fmla="*/ 76 w 195"/>
                          <a:gd name="T79" fmla="*/ 78 h 236"/>
                          <a:gd name="T80" fmla="*/ 72 w 195"/>
                          <a:gd name="T81" fmla="*/ 69 h 236"/>
                          <a:gd name="T82" fmla="*/ 57 w 195"/>
                          <a:gd name="T83" fmla="*/ 72 h 236"/>
                          <a:gd name="T84" fmla="*/ 44 w 195"/>
                          <a:gd name="T85" fmla="*/ 73 h 236"/>
                          <a:gd name="T86" fmla="*/ 32 w 195"/>
                          <a:gd name="T87" fmla="*/ 67 h 236"/>
                          <a:gd name="T88" fmla="*/ 17 w 195"/>
                          <a:gd name="T89" fmla="*/ 54 h 236"/>
                          <a:gd name="T90" fmla="*/ 7 w 195"/>
                          <a:gd name="T91" fmla="*/ 40 h 236"/>
                          <a:gd name="T92" fmla="*/ 0 w 195"/>
                          <a:gd name="T93" fmla="*/ 14 h 23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</a:cxnLst>
                        <a:rect l="0" t="0" r="r" b="b"/>
                        <a:pathLst>
                          <a:path w="195" h="236">
                            <a:moveTo>
                              <a:pt x="0" y="14"/>
                            </a:moveTo>
                            <a:lnTo>
                              <a:pt x="33" y="10"/>
                            </a:lnTo>
                            <a:lnTo>
                              <a:pt x="55" y="0"/>
                            </a:lnTo>
                            <a:lnTo>
                              <a:pt x="83" y="3"/>
                            </a:lnTo>
                            <a:lnTo>
                              <a:pt x="97" y="4"/>
                            </a:lnTo>
                            <a:lnTo>
                              <a:pt x="109" y="13"/>
                            </a:lnTo>
                            <a:lnTo>
                              <a:pt x="126" y="24"/>
                            </a:lnTo>
                            <a:lnTo>
                              <a:pt x="138" y="25"/>
                            </a:lnTo>
                            <a:lnTo>
                              <a:pt x="149" y="29"/>
                            </a:lnTo>
                            <a:lnTo>
                              <a:pt x="162" y="40"/>
                            </a:lnTo>
                            <a:lnTo>
                              <a:pt x="173" y="52"/>
                            </a:lnTo>
                            <a:lnTo>
                              <a:pt x="187" y="73"/>
                            </a:lnTo>
                            <a:lnTo>
                              <a:pt x="184" y="86"/>
                            </a:lnTo>
                            <a:lnTo>
                              <a:pt x="178" y="103"/>
                            </a:lnTo>
                            <a:lnTo>
                              <a:pt x="172" y="109"/>
                            </a:lnTo>
                            <a:lnTo>
                              <a:pt x="173" y="126"/>
                            </a:lnTo>
                            <a:lnTo>
                              <a:pt x="182" y="127"/>
                            </a:lnTo>
                            <a:lnTo>
                              <a:pt x="181" y="138"/>
                            </a:lnTo>
                            <a:lnTo>
                              <a:pt x="188" y="144"/>
                            </a:lnTo>
                            <a:lnTo>
                              <a:pt x="185" y="163"/>
                            </a:lnTo>
                            <a:lnTo>
                              <a:pt x="185" y="187"/>
                            </a:lnTo>
                            <a:lnTo>
                              <a:pt x="195" y="219"/>
                            </a:lnTo>
                            <a:lnTo>
                              <a:pt x="184" y="224"/>
                            </a:lnTo>
                            <a:lnTo>
                              <a:pt x="172" y="230"/>
                            </a:lnTo>
                            <a:lnTo>
                              <a:pt x="153" y="229"/>
                            </a:lnTo>
                            <a:lnTo>
                              <a:pt x="132" y="231"/>
                            </a:lnTo>
                            <a:lnTo>
                              <a:pt x="110" y="236"/>
                            </a:lnTo>
                            <a:lnTo>
                              <a:pt x="120" y="199"/>
                            </a:lnTo>
                            <a:lnTo>
                              <a:pt x="125" y="179"/>
                            </a:lnTo>
                            <a:lnTo>
                              <a:pt x="112" y="145"/>
                            </a:lnTo>
                            <a:lnTo>
                              <a:pt x="125" y="136"/>
                            </a:lnTo>
                            <a:lnTo>
                              <a:pt x="124" y="129"/>
                            </a:lnTo>
                            <a:lnTo>
                              <a:pt x="113" y="122"/>
                            </a:lnTo>
                            <a:lnTo>
                              <a:pt x="114" y="115"/>
                            </a:lnTo>
                            <a:lnTo>
                              <a:pt x="99" y="105"/>
                            </a:lnTo>
                            <a:lnTo>
                              <a:pt x="110" y="96"/>
                            </a:lnTo>
                            <a:lnTo>
                              <a:pt x="116" y="90"/>
                            </a:lnTo>
                            <a:lnTo>
                              <a:pt x="102" y="89"/>
                            </a:lnTo>
                            <a:lnTo>
                              <a:pt x="85" y="83"/>
                            </a:lnTo>
                            <a:lnTo>
                              <a:pt x="76" y="78"/>
                            </a:lnTo>
                            <a:lnTo>
                              <a:pt x="72" y="69"/>
                            </a:lnTo>
                            <a:lnTo>
                              <a:pt x="57" y="72"/>
                            </a:lnTo>
                            <a:lnTo>
                              <a:pt x="44" y="73"/>
                            </a:lnTo>
                            <a:lnTo>
                              <a:pt x="32" y="67"/>
                            </a:lnTo>
                            <a:lnTo>
                              <a:pt x="17" y="54"/>
                            </a:lnTo>
                            <a:lnTo>
                              <a:pt x="7" y="40"/>
                            </a:lnTo>
                            <a:lnTo>
                              <a:pt x="0" y="14"/>
                            </a:lnTo>
                            <a:close/>
                          </a:path>
                        </a:pathLst>
                      </a:custGeom>
                      <a:solidFill>
                        <a:srgbClr val="FF5F00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grpSp>
                  <p:nvGrpSpPr>
                    <p:cNvPr id="380" name="Group 9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94" y="1639"/>
                      <a:ext cx="118" cy="130"/>
                      <a:chOff x="1494" y="1639"/>
                      <a:chExt cx="118" cy="130"/>
                    </a:xfrm>
                  </p:grpSpPr>
                  <p:sp>
                    <p:nvSpPr>
                      <p:cNvPr id="381" name="Freeform 9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94" y="1657"/>
                        <a:ext cx="98" cy="112"/>
                      </a:xfrm>
                      <a:custGeom>
                        <a:avLst/>
                        <a:gdLst>
                          <a:gd name="T0" fmla="*/ 3 w 195"/>
                          <a:gd name="T1" fmla="*/ 97 h 223"/>
                          <a:gd name="T2" fmla="*/ 12 w 195"/>
                          <a:gd name="T3" fmla="*/ 93 h 223"/>
                          <a:gd name="T4" fmla="*/ 24 w 195"/>
                          <a:gd name="T5" fmla="*/ 93 h 223"/>
                          <a:gd name="T6" fmla="*/ 22 w 195"/>
                          <a:gd name="T7" fmla="*/ 82 h 223"/>
                          <a:gd name="T8" fmla="*/ 23 w 195"/>
                          <a:gd name="T9" fmla="*/ 65 h 223"/>
                          <a:gd name="T10" fmla="*/ 27 w 195"/>
                          <a:gd name="T11" fmla="*/ 51 h 223"/>
                          <a:gd name="T12" fmla="*/ 33 w 195"/>
                          <a:gd name="T13" fmla="*/ 40 h 223"/>
                          <a:gd name="T14" fmla="*/ 43 w 195"/>
                          <a:gd name="T15" fmla="*/ 28 h 223"/>
                          <a:gd name="T16" fmla="*/ 54 w 195"/>
                          <a:gd name="T17" fmla="*/ 18 h 223"/>
                          <a:gd name="T18" fmla="*/ 61 w 195"/>
                          <a:gd name="T19" fmla="*/ 13 h 223"/>
                          <a:gd name="T20" fmla="*/ 78 w 195"/>
                          <a:gd name="T21" fmla="*/ 10 h 223"/>
                          <a:gd name="T22" fmla="*/ 87 w 195"/>
                          <a:gd name="T23" fmla="*/ 10 h 223"/>
                          <a:gd name="T24" fmla="*/ 98 w 195"/>
                          <a:gd name="T25" fmla="*/ 2 h 223"/>
                          <a:gd name="T26" fmla="*/ 110 w 195"/>
                          <a:gd name="T27" fmla="*/ 0 h 223"/>
                          <a:gd name="T28" fmla="*/ 123 w 195"/>
                          <a:gd name="T29" fmla="*/ 6 h 223"/>
                          <a:gd name="T30" fmla="*/ 133 w 195"/>
                          <a:gd name="T31" fmla="*/ 11 h 223"/>
                          <a:gd name="T32" fmla="*/ 152 w 195"/>
                          <a:gd name="T33" fmla="*/ 20 h 223"/>
                          <a:gd name="T34" fmla="*/ 163 w 195"/>
                          <a:gd name="T35" fmla="*/ 29 h 223"/>
                          <a:gd name="T36" fmla="*/ 178 w 195"/>
                          <a:gd name="T37" fmla="*/ 42 h 223"/>
                          <a:gd name="T38" fmla="*/ 192 w 195"/>
                          <a:gd name="T39" fmla="*/ 58 h 223"/>
                          <a:gd name="T40" fmla="*/ 195 w 195"/>
                          <a:gd name="T41" fmla="*/ 73 h 223"/>
                          <a:gd name="T42" fmla="*/ 195 w 195"/>
                          <a:gd name="T43" fmla="*/ 96 h 223"/>
                          <a:gd name="T44" fmla="*/ 192 w 195"/>
                          <a:gd name="T45" fmla="*/ 122 h 223"/>
                          <a:gd name="T46" fmla="*/ 183 w 195"/>
                          <a:gd name="T47" fmla="*/ 133 h 223"/>
                          <a:gd name="T48" fmla="*/ 171 w 195"/>
                          <a:gd name="T49" fmla="*/ 144 h 223"/>
                          <a:gd name="T50" fmla="*/ 155 w 195"/>
                          <a:gd name="T51" fmla="*/ 151 h 223"/>
                          <a:gd name="T52" fmla="*/ 154 w 195"/>
                          <a:gd name="T53" fmla="*/ 180 h 223"/>
                          <a:gd name="T54" fmla="*/ 144 w 195"/>
                          <a:gd name="T55" fmla="*/ 197 h 223"/>
                          <a:gd name="T56" fmla="*/ 131 w 195"/>
                          <a:gd name="T57" fmla="*/ 201 h 223"/>
                          <a:gd name="T58" fmla="*/ 121 w 195"/>
                          <a:gd name="T59" fmla="*/ 223 h 223"/>
                          <a:gd name="T60" fmla="*/ 104 w 195"/>
                          <a:gd name="T61" fmla="*/ 208 h 223"/>
                          <a:gd name="T62" fmla="*/ 106 w 195"/>
                          <a:gd name="T63" fmla="*/ 196 h 223"/>
                          <a:gd name="T64" fmla="*/ 109 w 195"/>
                          <a:gd name="T65" fmla="*/ 184 h 223"/>
                          <a:gd name="T66" fmla="*/ 93 w 195"/>
                          <a:gd name="T67" fmla="*/ 179 h 223"/>
                          <a:gd name="T68" fmla="*/ 74 w 195"/>
                          <a:gd name="T69" fmla="*/ 171 h 223"/>
                          <a:gd name="T70" fmla="*/ 63 w 195"/>
                          <a:gd name="T71" fmla="*/ 162 h 223"/>
                          <a:gd name="T72" fmla="*/ 47 w 195"/>
                          <a:gd name="T73" fmla="*/ 144 h 223"/>
                          <a:gd name="T74" fmla="*/ 43 w 195"/>
                          <a:gd name="T75" fmla="*/ 133 h 223"/>
                          <a:gd name="T76" fmla="*/ 35 w 195"/>
                          <a:gd name="T77" fmla="*/ 136 h 223"/>
                          <a:gd name="T78" fmla="*/ 28 w 195"/>
                          <a:gd name="T79" fmla="*/ 137 h 223"/>
                          <a:gd name="T80" fmla="*/ 17 w 195"/>
                          <a:gd name="T81" fmla="*/ 133 h 223"/>
                          <a:gd name="T82" fmla="*/ 7 w 195"/>
                          <a:gd name="T83" fmla="*/ 126 h 223"/>
                          <a:gd name="T84" fmla="*/ 1 w 195"/>
                          <a:gd name="T85" fmla="*/ 117 h 223"/>
                          <a:gd name="T86" fmla="*/ 0 w 195"/>
                          <a:gd name="T87" fmla="*/ 108 h 223"/>
                          <a:gd name="T88" fmla="*/ 3 w 195"/>
                          <a:gd name="T89" fmla="*/ 97 h 22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</a:cxnLst>
                        <a:rect l="0" t="0" r="r" b="b"/>
                        <a:pathLst>
                          <a:path w="195" h="223">
                            <a:moveTo>
                              <a:pt x="3" y="97"/>
                            </a:moveTo>
                            <a:lnTo>
                              <a:pt x="12" y="93"/>
                            </a:lnTo>
                            <a:lnTo>
                              <a:pt x="24" y="93"/>
                            </a:lnTo>
                            <a:lnTo>
                              <a:pt x="22" y="82"/>
                            </a:lnTo>
                            <a:lnTo>
                              <a:pt x="23" y="65"/>
                            </a:lnTo>
                            <a:lnTo>
                              <a:pt x="27" y="51"/>
                            </a:lnTo>
                            <a:lnTo>
                              <a:pt x="33" y="40"/>
                            </a:lnTo>
                            <a:lnTo>
                              <a:pt x="43" y="28"/>
                            </a:lnTo>
                            <a:lnTo>
                              <a:pt x="54" y="18"/>
                            </a:lnTo>
                            <a:lnTo>
                              <a:pt x="61" y="13"/>
                            </a:lnTo>
                            <a:lnTo>
                              <a:pt x="78" y="10"/>
                            </a:lnTo>
                            <a:lnTo>
                              <a:pt x="87" y="10"/>
                            </a:lnTo>
                            <a:lnTo>
                              <a:pt x="98" y="2"/>
                            </a:lnTo>
                            <a:lnTo>
                              <a:pt x="110" y="0"/>
                            </a:lnTo>
                            <a:lnTo>
                              <a:pt x="123" y="6"/>
                            </a:lnTo>
                            <a:lnTo>
                              <a:pt x="133" y="11"/>
                            </a:lnTo>
                            <a:lnTo>
                              <a:pt x="152" y="20"/>
                            </a:lnTo>
                            <a:lnTo>
                              <a:pt x="163" y="29"/>
                            </a:lnTo>
                            <a:lnTo>
                              <a:pt x="178" y="42"/>
                            </a:lnTo>
                            <a:lnTo>
                              <a:pt x="192" y="58"/>
                            </a:lnTo>
                            <a:lnTo>
                              <a:pt x="195" y="73"/>
                            </a:lnTo>
                            <a:lnTo>
                              <a:pt x="195" y="96"/>
                            </a:lnTo>
                            <a:lnTo>
                              <a:pt x="192" y="122"/>
                            </a:lnTo>
                            <a:lnTo>
                              <a:pt x="183" y="133"/>
                            </a:lnTo>
                            <a:lnTo>
                              <a:pt x="171" y="144"/>
                            </a:lnTo>
                            <a:lnTo>
                              <a:pt x="155" y="151"/>
                            </a:lnTo>
                            <a:lnTo>
                              <a:pt x="154" y="180"/>
                            </a:lnTo>
                            <a:lnTo>
                              <a:pt x="144" y="197"/>
                            </a:lnTo>
                            <a:lnTo>
                              <a:pt x="131" y="201"/>
                            </a:lnTo>
                            <a:lnTo>
                              <a:pt x="121" y="223"/>
                            </a:lnTo>
                            <a:lnTo>
                              <a:pt x="104" y="208"/>
                            </a:lnTo>
                            <a:lnTo>
                              <a:pt x="106" y="196"/>
                            </a:lnTo>
                            <a:lnTo>
                              <a:pt x="109" y="184"/>
                            </a:lnTo>
                            <a:lnTo>
                              <a:pt x="93" y="179"/>
                            </a:lnTo>
                            <a:lnTo>
                              <a:pt x="74" y="171"/>
                            </a:lnTo>
                            <a:lnTo>
                              <a:pt x="63" y="162"/>
                            </a:lnTo>
                            <a:lnTo>
                              <a:pt x="47" y="144"/>
                            </a:lnTo>
                            <a:lnTo>
                              <a:pt x="43" y="133"/>
                            </a:lnTo>
                            <a:lnTo>
                              <a:pt x="35" y="136"/>
                            </a:lnTo>
                            <a:lnTo>
                              <a:pt x="28" y="137"/>
                            </a:lnTo>
                            <a:lnTo>
                              <a:pt x="17" y="133"/>
                            </a:lnTo>
                            <a:lnTo>
                              <a:pt x="7" y="126"/>
                            </a:lnTo>
                            <a:lnTo>
                              <a:pt x="1" y="117"/>
                            </a:lnTo>
                            <a:lnTo>
                              <a:pt x="0" y="108"/>
                            </a:lnTo>
                            <a:lnTo>
                              <a:pt x="3" y="97"/>
                            </a:lnTo>
                            <a:close/>
                          </a:path>
                        </a:pathLst>
                      </a:custGeom>
                      <a:solidFill>
                        <a:srgbClr val="FFBF7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grpSp>
                    <p:nvGrpSpPr>
                      <p:cNvPr id="382" name="Group 9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495" y="1639"/>
                        <a:ext cx="117" cy="89"/>
                        <a:chOff x="1495" y="1639"/>
                        <a:chExt cx="117" cy="89"/>
                      </a:xfrm>
                    </p:grpSpPr>
                    <p:grpSp>
                      <p:nvGrpSpPr>
                        <p:cNvPr id="383" name="Group 9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495" y="1639"/>
                          <a:ext cx="117" cy="63"/>
                          <a:chOff x="1495" y="1639"/>
                          <a:chExt cx="117" cy="63"/>
                        </a:xfrm>
                      </p:grpSpPr>
                      <p:sp>
                        <p:nvSpPr>
                          <p:cNvPr id="391" name="Freeform 9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495" y="1659"/>
                            <a:ext cx="17" cy="43"/>
                          </a:xfrm>
                          <a:custGeom>
                            <a:avLst/>
                            <a:gdLst>
                              <a:gd name="T0" fmla="*/ 16 w 36"/>
                              <a:gd name="T1" fmla="*/ 88 h 88"/>
                              <a:gd name="T2" fmla="*/ 5 w 36"/>
                              <a:gd name="T3" fmla="*/ 55 h 88"/>
                              <a:gd name="T4" fmla="*/ 0 w 36"/>
                              <a:gd name="T5" fmla="*/ 25 h 88"/>
                              <a:gd name="T6" fmla="*/ 6 w 36"/>
                              <a:gd name="T7" fmla="*/ 14 h 88"/>
                              <a:gd name="T8" fmla="*/ 20 w 36"/>
                              <a:gd name="T9" fmla="*/ 5 h 88"/>
                              <a:gd name="T10" fmla="*/ 36 w 36"/>
                              <a:gd name="T11" fmla="*/ 0 h 8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</a:cxnLst>
                            <a:rect l="0" t="0" r="r" b="b"/>
                            <a:pathLst>
                              <a:path w="36" h="88">
                                <a:moveTo>
                                  <a:pt x="16" y="88"/>
                                </a:moveTo>
                                <a:lnTo>
                                  <a:pt x="5" y="55"/>
                                </a:lnTo>
                                <a:lnTo>
                                  <a:pt x="0" y="25"/>
                                </a:lnTo>
                                <a:lnTo>
                                  <a:pt x="6" y="14"/>
                                </a:lnTo>
                                <a:lnTo>
                                  <a:pt x="20" y="5"/>
                                </a:lnTo>
                                <a:lnTo>
                                  <a:pt x="36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92" name="Freeform 9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21" y="1645"/>
                            <a:ext cx="28" cy="12"/>
                          </a:xfrm>
                          <a:custGeom>
                            <a:avLst/>
                            <a:gdLst>
                              <a:gd name="T0" fmla="*/ 0 w 56"/>
                              <a:gd name="T1" fmla="*/ 25 h 25"/>
                              <a:gd name="T2" fmla="*/ 14 w 56"/>
                              <a:gd name="T3" fmla="*/ 25 h 25"/>
                              <a:gd name="T4" fmla="*/ 29 w 56"/>
                              <a:gd name="T5" fmla="*/ 21 h 25"/>
                              <a:gd name="T6" fmla="*/ 41 w 56"/>
                              <a:gd name="T7" fmla="*/ 14 h 25"/>
                              <a:gd name="T8" fmla="*/ 56 w 56"/>
                              <a:gd name="T9" fmla="*/ 0 h 2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56" h="25">
                                <a:moveTo>
                                  <a:pt x="0" y="25"/>
                                </a:moveTo>
                                <a:lnTo>
                                  <a:pt x="14" y="25"/>
                                </a:lnTo>
                                <a:lnTo>
                                  <a:pt x="29" y="21"/>
                                </a:lnTo>
                                <a:lnTo>
                                  <a:pt x="41" y="14"/>
                                </a:lnTo>
                                <a:lnTo>
                                  <a:pt x="56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93" name="Freeform 9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48" y="1639"/>
                            <a:ext cx="45" cy="20"/>
                          </a:xfrm>
                          <a:custGeom>
                            <a:avLst/>
                            <a:gdLst>
                              <a:gd name="T0" fmla="*/ 0 w 91"/>
                              <a:gd name="T1" fmla="*/ 38 h 38"/>
                              <a:gd name="T2" fmla="*/ 10 w 91"/>
                              <a:gd name="T3" fmla="*/ 31 h 38"/>
                              <a:gd name="T4" fmla="*/ 17 w 91"/>
                              <a:gd name="T5" fmla="*/ 20 h 38"/>
                              <a:gd name="T6" fmla="*/ 29 w 91"/>
                              <a:gd name="T7" fmla="*/ 21 h 38"/>
                              <a:gd name="T8" fmla="*/ 46 w 91"/>
                              <a:gd name="T9" fmla="*/ 18 h 38"/>
                              <a:gd name="T10" fmla="*/ 58 w 91"/>
                              <a:gd name="T11" fmla="*/ 9 h 38"/>
                              <a:gd name="T12" fmla="*/ 73 w 91"/>
                              <a:gd name="T13" fmla="*/ 2 h 38"/>
                              <a:gd name="T14" fmla="*/ 91 w 91"/>
                              <a:gd name="T15" fmla="*/ 0 h 3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</a:cxnLst>
                            <a:rect l="0" t="0" r="r" b="b"/>
                            <a:pathLst>
                              <a:path w="91" h="38">
                                <a:moveTo>
                                  <a:pt x="0" y="38"/>
                                </a:moveTo>
                                <a:lnTo>
                                  <a:pt x="10" y="31"/>
                                </a:lnTo>
                                <a:lnTo>
                                  <a:pt x="17" y="20"/>
                                </a:lnTo>
                                <a:lnTo>
                                  <a:pt x="29" y="21"/>
                                </a:lnTo>
                                <a:lnTo>
                                  <a:pt x="46" y="18"/>
                                </a:lnTo>
                                <a:lnTo>
                                  <a:pt x="58" y="9"/>
                                </a:lnTo>
                                <a:lnTo>
                                  <a:pt x="73" y="2"/>
                                </a:lnTo>
                                <a:lnTo>
                                  <a:pt x="91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94" name="Freeform 9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53" y="1646"/>
                            <a:ext cx="40" cy="22"/>
                          </a:xfrm>
                          <a:custGeom>
                            <a:avLst/>
                            <a:gdLst>
                              <a:gd name="T0" fmla="*/ 0 w 80"/>
                              <a:gd name="T1" fmla="*/ 43 h 43"/>
                              <a:gd name="T2" fmla="*/ 19 w 80"/>
                              <a:gd name="T3" fmla="*/ 40 h 43"/>
                              <a:gd name="T4" fmla="*/ 33 w 80"/>
                              <a:gd name="T5" fmla="*/ 35 h 43"/>
                              <a:gd name="T6" fmla="*/ 50 w 80"/>
                              <a:gd name="T7" fmla="*/ 27 h 43"/>
                              <a:gd name="T8" fmla="*/ 62 w 80"/>
                              <a:gd name="T9" fmla="*/ 18 h 43"/>
                              <a:gd name="T10" fmla="*/ 80 w 80"/>
                              <a:gd name="T11" fmla="*/ 1 h 43"/>
                              <a:gd name="T12" fmla="*/ 80 w 80"/>
                              <a:gd name="T13" fmla="*/ 0 h 4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</a:cxnLst>
                            <a:rect l="0" t="0" r="r" b="b"/>
                            <a:pathLst>
                              <a:path w="80" h="43">
                                <a:moveTo>
                                  <a:pt x="0" y="43"/>
                                </a:moveTo>
                                <a:lnTo>
                                  <a:pt x="19" y="40"/>
                                </a:lnTo>
                                <a:lnTo>
                                  <a:pt x="33" y="35"/>
                                </a:lnTo>
                                <a:lnTo>
                                  <a:pt x="50" y="27"/>
                                </a:lnTo>
                                <a:lnTo>
                                  <a:pt x="62" y="18"/>
                                </a:lnTo>
                                <a:lnTo>
                                  <a:pt x="80" y="1"/>
                                </a:lnTo>
                                <a:lnTo>
                                  <a:pt x="80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95" name="Freeform 10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86" y="1659"/>
                            <a:ext cx="26" cy="3"/>
                          </a:xfrm>
                          <a:custGeom>
                            <a:avLst/>
                            <a:gdLst>
                              <a:gd name="T0" fmla="*/ 0 w 52"/>
                              <a:gd name="T1" fmla="*/ 2 h 8"/>
                              <a:gd name="T2" fmla="*/ 20 w 52"/>
                              <a:gd name="T3" fmla="*/ 8 h 8"/>
                              <a:gd name="T4" fmla="*/ 33 w 52"/>
                              <a:gd name="T5" fmla="*/ 8 h 8"/>
                              <a:gd name="T6" fmla="*/ 52 w 52"/>
                              <a:gd name="T7" fmla="*/ 0 h 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</a:cxnLst>
                            <a:rect l="0" t="0" r="r" b="b"/>
                            <a:pathLst>
                              <a:path w="52" h="8">
                                <a:moveTo>
                                  <a:pt x="0" y="2"/>
                                </a:moveTo>
                                <a:lnTo>
                                  <a:pt x="20" y="8"/>
                                </a:lnTo>
                                <a:lnTo>
                                  <a:pt x="33" y="8"/>
                                </a:lnTo>
                                <a:lnTo>
                                  <a:pt x="52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96" name="Freeform 10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64" y="1670"/>
                            <a:ext cx="25" cy="7"/>
                          </a:xfrm>
                          <a:custGeom>
                            <a:avLst/>
                            <a:gdLst>
                              <a:gd name="T0" fmla="*/ 0 w 48"/>
                              <a:gd name="T1" fmla="*/ 5 h 16"/>
                              <a:gd name="T2" fmla="*/ 26 w 48"/>
                              <a:gd name="T3" fmla="*/ 16 h 16"/>
                              <a:gd name="T4" fmla="*/ 48 w 48"/>
                              <a:gd name="T5" fmla="*/ 0 h 1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48" h="16">
                                <a:moveTo>
                                  <a:pt x="0" y="5"/>
                                </a:moveTo>
                                <a:lnTo>
                                  <a:pt x="26" y="16"/>
                                </a:lnTo>
                                <a:lnTo>
                                  <a:pt x="48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97" name="Freeform 10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77" y="1679"/>
                            <a:ext cx="29" cy="11"/>
                          </a:xfrm>
                          <a:custGeom>
                            <a:avLst/>
                            <a:gdLst>
                              <a:gd name="T0" fmla="*/ 0 w 58"/>
                              <a:gd name="T1" fmla="*/ 20 h 20"/>
                              <a:gd name="T2" fmla="*/ 7 w 58"/>
                              <a:gd name="T3" fmla="*/ 9 h 20"/>
                              <a:gd name="T4" fmla="*/ 18 w 58"/>
                              <a:gd name="T5" fmla="*/ 3 h 20"/>
                              <a:gd name="T6" fmla="*/ 29 w 58"/>
                              <a:gd name="T7" fmla="*/ 7 h 20"/>
                              <a:gd name="T8" fmla="*/ 34 w 58"/>
                              <a:gd name="T9" fmla="*/ 14 h 20"/>
                              <a:gd name="T10" fmla="*/ 58 w 58"/>
                              <a:gd name="T11" fmla="*/ 0 h 2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</a:cxnLst>
                            <a:rect l="0" t="0" r="r" b="b"/>
                            <a:pathLst>
                              <a:path w="58" h="20">
                                <a:moveTo>
                                  <a:pt x="0" y="20"/>
                                </a:moveTo>
                                <a:lnTo>
                                  <a:pt x="7" y="9"/>
                                </a:lnTo>
                                <a:lnTo>
                                  <a:pt x="18" y="3"/>
                                </a:lnTo>
                                <a:lnTo>
                                  <a:pt x="29" y="7"/>
                                </a:lnTo>
                                <a:lnTo>
                                  <a:pt x="34" y="14"/>
                                </a:lnTo>
                                <a:lnTo>
                                  <a:pt x="58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98" name="Line 10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1579" y="1696"/>
                            <a:ext cx="19" cy="5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grpSp>
                      <p:nvGrpSpPr>
                        <p:cNvPr id="384" name="Group 10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02" y="1690"/>
                          <a:ext cx="61" cy="38"/>
                          <a:chOff x="1502" y="1690"/>
                          <a:chExt cx="61" cy="38"/>
                        </a:xfrm>
                      </p:grpSpPr>
                      <p:grpSp>
                        <p:nvGrpSpPr>
                          <p:cNvPr id="385" name="Group 105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533" y="1690"/>
                            <a:ext cx="30" cy="38"/>
                            <a:chOff x="1533" y="1690"/>
                            <a:chExt cx="30" cy="38"/>
                          </a:xfrm>
                        </p:grpSpPr>
                        <p:sp>
                          <p:nvSpPr>
                            <p:cNvPr id="387" name="Freeform 106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533" y="1702"/>
                              <a:ext cx="30" cy="26"/>
                            </a:xfrm>
                            <a:custGeom>
                              <a:avLst/>
                              <a:gdLst>
                                <a:gd name="T0" fmla="*/ 18 w 59"/>
                                <a:gd name="T1" fmla="*/ 1 h 50"/>
                                <a:gd name="T2" fmla="*/ 8 w 59"/>
                                <a:gd name="T3" fmla="*/ 9 h 50"/>
                                <a:gd name="T4" fmla="*/ 1 w 59"/>
                                <a:gd name="T5" fmla="*/ 18 h 50"/>
                                <a:gd name="T6" fmla="*/ 0 w 59"/>
                                <a:gd name="T7" fmla="*/ 26 h 50"/>
                                <a:gd name="T8" fmla="*/ 1 w 59"/>
                                <a:gd name="T9" fmla="*/ 33 h 50"/>
                                <a:gd name="T10" fmla="*/ 8 w 59"/>
                                <a:gd name="T11" fmla="*/ 36 h 50"/>
                                <a:gd name="T12" fmla="*/ 15 w 59"/>
                                <a:gd name="T13" fmla="*/ 35 h 50"/>
                                <a:gd name="T14" fmla="*/ 18 w 59"/>
                                <a:gd name="T15" fmla="*/ 42 h 50"/>
                                <a:gd name="T16" fmla="*/ 23 w 59"/>
                                <a:gd name="T17" fmla="*/ 47 h 50"/>
                                <a:gd name="T18" fmla="*/ 32 w 59"/>
                                <a:gd name="T19" fmla="*/ 49 h 50"/>
                                <a:gd name="T20" fmla="*/ 41 w 59"/>
                                <a:gd name="T21" fmla="*/ 50 h 50"/>
                                <a:gd name="T22" fmla="*/ 48 w 59"/>
                                <a:gd name="T23" fmla="*/ 47 h 50"/>
                                <a:gd name="T24" fmla="*/ 57 w 59"/>
                                <a:gd name="T25" fmla="*/ 41 h 50"/>
                                <a:gd name="T26" fmla="*/ 59 w 59"/>
                                <a:gd name="T27" fmla="*/ 29 h 50"/>
                                <a:gd name="T28" fmla="*/ 55 w 59"/>
                                <a:gd name="T29" fmla="*/ 17 h 50"/>
                                <a:gd name="T30" fmla="*/ 42 w 59"/>
                                <a:gd name="T31" fmla="*/ 0 h 5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</a:cxnLst>
                              <a:rect l="0" t="0" r="r" b="b"/>
                              <a:pathLst>
                                <a:path w="59" h="50">
                                  <a:moveTo>
                                    <a:pt x="18" y="1"/>
                                  </a:moveTo>
                                  <a:lnTo>
                                    <a:pt x="8" y="9"/>
                                  </a:lnTo>
                                  <a:lnTo>
                                    <a:pt x="1" y="18"/>
                                  </a:lnTo>
                                  <a:lnTo>
                                    <a:pt x="0" y="26"/>
                                  </a:lnTo>
                                  <a:lnTo>
                                    <a:pt x="1" y="33"/>
                                  </a:lnTo>
                                  <a:lnTo>
                                    <a:pt x="8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18" y="42"/>
                                  </a:lnTo>
                                  <a:lnTo>
                                    <a:pt x="23" y="47"/>
                                  </a:lnTo>
                                  <a:lnTo>
                                    <a:pt x="32" y="49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8" y="47"/>
                                  </a:lnTo>
                                  <a:lnTo>
                                    <a:pt x="57" y="41"/>
                                  </a:lnTo>
                                  <a:lnTo>
                                    <a:pt x="59" y="29"/>
                                  </a:lnTo>
                                  <a:lnTo>
                                    <a:pt x="55" y="17"/>
                                  </a:lnTo>
                                  <a:lnTo>
                                    <a:pt x="42" y="0"/>
                                  </a:lnTo>
                                </a:path>
                              </a:pathLst>
                            </a:custGeom>
                            <a:noFill/>
                            <a:ln w="6350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  <p:grpSp>
                          <p:nvGrpSpPr>
                            <p:cNvPr id="388" name="Group 107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1540" y="1690"/>
                              <a:ext cx="13" cy="7"/>
                              <a:chOff x="1540" y="1690"/>
                              <a:chExt cx="13" cy="7"/>
                            </a:xfrm>
                          </p:grpSpPr>
                          <p:sp>
                            <p:nvSpPr>
                              <p:cNvPr id="389" name="Oval 108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540" y="1690"/>
                                <a:ext cx="6" cy="7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1800"/>
                              </a:p>
                            </p:txBody>
                          </p:sp>
                          <p:sp>
                            <p:nvSpPr>
                              <p:cNvPr id="390" name="Oval 109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547" y="1690"/>
                                <a:ext cx="6" cy="7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1800"/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386" name="Oval 11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02" y="1710"/>
                            <a:ext cx="5" cy="8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378" name="Freeform 111"/>
                  <p:cNvSpPr>
                    <a:spLocks/>
                  </p:cNvSpPr>
                  <p:nvPr/>
                </p:nvSpPr>
                <p:spPr bwMode="auto">
                  <a:xfrm>
                    <a:off x="1545" y="1744"/>
                    <a:ext cx="84" cy="73"/>
                  </a:xfrm>
                  <a:custGeom>
                    <a:avLst/>
                    <a:gdLst>
                      <a:gd name="T0" fmla="*/ 50 w 168"/>
                      <a:gd name="T1" fmla="*/ 0 h 147"/>
                      <a:gd name="T2" fmla="*/ 33 w 168"/>
                      <a:gd name="T3" fmla="*/ 29 h 147"/>
                      <a:gd name="T4" fmla="*/ 0 w 168"/>
                      <a:gd name="T5" fmla="*/ 45 h 147"/>
                      <a:gd name="T6" fmla="*/ 17 w 168"/>
                      <a:gd name="T7" fmla="*/ 58 h 147"/>
                      <a:gd name="T8" fmla="*/ 34 w 168"/>
                      <a:gd name="T9" fmla="*/ 62 h 147"/>
                      <a:gd name="T10" fmla="*/ 25 w 168"/>
                      <a:gd name="T11" fmla="*/ 67 h 147"/>
                      <a:gd name="T12" fmla="*/ 15 w 168"/>
                      <a:gd name="T13" fmla="*/ 66 h 147"/>
                      <a:gd name="T14" fmla="*/ 4 w 168"/>
                      <a:gd name="T15" fmla="*/ 78 h 147"/>
                      <a:gd name="T16" fmla="*/ 1 w 168"/>
                      <a:gd name="T17" fmla="*/ 91 h 147"/>
                      <a:gd name="T18" fmla="*/ 4 w 168"/>
                      <a:gd name="T19" fmla="*/ 106 h 147"/>
                      <a:gd name="T20" fmla="*/ 11 w 168"/>
                      <a:gd name="T21" fmla="*/ 118 h 147"/>
                      <a:gd name="T22" fmla="*/ 24 w 168"/>
                      <a:gd name="T23" fmla="*/ 127 h 147"/>
                      <a:gd name="T24" fmla="*/ 41 w 168"/>
                      <a:gd name="T25" fmla="*/ 133 h 147"/>
                      <a:gd name="T26" fmla="*/ 64 w 168"/>
                      <a:gd name="T27" fmla="*/ 144 h 147"/>
                      <a:gd name="T28" fmla="*/ 74 w 168"/>
                      <a:gd name="T29" fmla="*/ 147 h 147"/>
                      <a:gd name="T30" fmla="*/ 91 w 168"/>
                      <a:gd name="T31" fmla="*/ 146 h 147"/>
                      <a:gd name="T32" fmla="*/ 105 w 168"/>
                      <a:gd name="T33" fmla="*/ 127 h 147"/>
                      <a:gd name="T34" fmla="*/ 122 w 168"/>
                      <a:gd name="T35" fmla="*/ 101 h 147"/>
                      <a:gd name="T36" fmla="*/ 138 w 168"/>
                      <a:gd name="T37" fmla="*/ 107 h 147"/>
                      <a:gd name="T38" fmla="*/ 156 w 168"/>
                      <a:gd name="T39" fmla="*/ 112 h 147"/>
                      <a:gd name="T40" fmla="*/ 168 w 168"/>
                      <a:gd name="T41" fmla="*/ 102 h 147"/>
                      <a:gd name="T42" fmla="*/ 164 w 168"/>
                      <a:gd name="T43" fmla="*/ 95 h 147"/>
                      <a:gd name="T44" fmla="*/ 156 w 168"/>
                      <a:gd name="T45" fmla="*/ 85 h 147"/>
                      <a:gd name="T46" fmla="*/ 142 w 168"/>
                      <a:gd name="T47" fmla="*/ 78 h 147"/>
                      <a:gd name="T48" fmla="*/ 132 w 168"/>
                      <a:gd name="T49" fmla="*/ 58 h 147"/>
                      <a:gd name="T50" fmla="*/ 107 w 168"/>
                      <a:gd name="T51" fmla="*/ 50 h 147"/>
                      <a:gd name="T52" fmla="*/ 91 w 168"/>
                      <a:gd name="T53" fmla="*/ 29 h 147"/>
                      <a:gd name="T54" fmla="*/ 75 w 168"/>
                      <a:gd name="T55" fmla="*/ 11 h 147"/>
                      <a:gd name="T56" fmla="*/ 50 w 168"/>
                      <a:gd name="T57" fmla="*/ 0 h 1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168" h="147">
                        <a:moveTo>
                          <a:pt x="50" y="0"/>
                        </a:moveTo>
                        <a:lnTo>
                          <a:pt x="33" y="29"/>
                        </a:lnTo>
                        <a:lnTo>
                          <a:pt x="0" y="45"/>
                        </a:lnTo>
                        <a:lnTo>
                          <a:pt x="17" y="58"/>
                        </a:lnTo>
                        <a:lnTo>
                          <a:pt x="34" y="62"/>
                        </a:lnTo>
                        <a:lnTo>
                          <a:pt x="25" y="67"/>
                        </a:lnTo>
                        <a:lnTo>
                          <a:pt x="15" y="66"/>
                        </a:lnTo>
                        <a:lnTo>
                          <a:pt x="4" y="78"/>
                        </a:lnTo>
                        <a:lnTo>
                          <a:pt x="1" y="91"/>
                        </a:lnTo>
                        <a:lnTo>
                          <a:pt x="4" y="106"/>
                        </a:lnTo>
                        <a:lnTo>
                          <a:pt x="11" y="118"/>
                        </a:lnTo>
                        <a:lnTo>
                          <a:pt x="24" y="127"/>
                        </a:lnTo>
                        <a:lnTo>
                          <a:pt x="41" y="133"/>
                        </a:lnTo>
                        <a:lnTo>
                          <a:pt x="64" y="144"/>
                        </a:lnTo>
                        <a:lnTo>
                          <a:pt x="74" y="147"/>
                        </a:lnTo>
                        <a:lnTo>
                          <a:pt x="91" y="146"/>
                        </a:lnTo>
                        <a:lnTo>
                          <a:pt x="105" y="127"/>
                        </a:lnTo>
                        <a:lnTo>
                          <a:pt x="122" y="101"/>
                        </a:lnTo>
                        <a:lnTo>
                          <a:pt x="138" y="107"/>
                        </a:lnTo>
                        <a:lnTo>
                          <a:pt x="156" y="112"/>
                        </a:lnTo>
                        <a:lnTo>
                          <a:pt x="168" y="102"/>
                        </a:lnTo>
                        <a:lnTo>
                          <a:pt x="164" y="95"/>
                        </a:lnTo>
                        <a:lnTo>
                          <a:pt x="156" y="85"/>
                        </a:lnTo>
                        <a:lnTo>
                          <a:pt x="142" y="78"/>
                        </a:lnTo>
                        <a:lnTo>
                          <a:pt x="132" y="58"/>
                        </a:lnTo>
                        <a:lnTo>
                          <a:pt x="107" y="50"/>
                        </a:lnTo>
                        <a:lnTo>
                          <a:pt x="91" y="29"/>
                        </a:lnTo>
                        <a:lnTo>
                          <a:pt x="75" y="11"/>
                        </a:lnTo>
                        <a:lnTo>
                          <a:pt x="50" y="0"/>
                        </a:lnTo>
                        <a:close/>
                      </a:path>
                    </a:pathLst>
                  </a:custGeom>
                  <a:solidFill>
                    <a:srgbClr val="3F5F00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370" name="Group 112"/>
                <p:cNvGrpSpPr>
                  <a:grpSpLocks/>
                </p:cNvGrpSpPr>
                <p:nvPr/>
              </p:nvGrpSpPr>
              <p:grpSpPr bwMode="auto">
                <a:xfrm>
                  <a:off x="1585" y="1778"/>
                  <a:ext cx="95" cy="48"/>
                  <a:chOff x="1585" y="1778"/>
                  <a:chExt cx="95" cy="48"/>
                </a:xfrm>
              </p:grpSpPr>
              <p:sp>
                <p:nvSpPr>
                  <p:cNvPr id="371" name="Freeform 113"/>
                  <p:cNvSpPr>
                    <a:spLocks/>
                  </p:cNvSpPr>
                  <p:nvPr/>
                </p:nvSpPr>
                <p:spPr bwMode="auto">
                  <a:xfrm>
                    <a:off x="1585" y="1795"/>
                    <a:ext cx="49" cy="31"/>
                  </a:xfrm>
                  <a:custGeom>
                    <a:avLst/>
                    <a:gdLst>
                      <a:gd name="T0" fmla="*/ 0 w 98"/>
                      <a:gd name="T1" fmla="*/ 48 h 62"/>
                      <a:gd name="T2" fmla="*/ 6 w 98"/>
                      <a:gd name="T3" fmla="*/ 36 h 62"/>
                      <a:gd name="T4" fmla="*/ 14 w 98"/>
                      <a:gd name="T5" fmla="*/ 28 h 62"/>
                      <a:gd name="T6" fmla="*/ 25 w 98"/>
                      <a:gd name="T7" fmla="*/ 19 h 62"/>
                      <a:gd name="T8" fmla="*/ 31 w 98"/>
                      <a:gd name="T9" fmla="*/ 0 h 62"/>
                      <a:gd name="T10" fmla="*/ 48 w 98"/>
                      <a:gd name="T11" fmla="*/ 4 h 62"/>
                      <a:gd name="T12" fmla="*/ 60 w 98"/>
                      <a:gd name="T13" fmla="*/ 6 h 62"/>
                      <a:gd name="T14" fmla="*/ 70 w 98"/>
                      <a:gd name="T15" fmla="*/ 4 h 62"/>
                      <a:gd name="T16" fmla="*/ 80 w 98"/>
                      <a:gd name="T17" fmla="*/ 10 h 62"/>
                      <a:gd name="T18" fmla="*/ 90 w 98"/>
                      <a:gd name="T19" fmla="*/ 18 h 62"/>
                      <a:gd name="T20" fmla="*/ 97 w 98"/>
                      <a:gd name="T21" fmla="*/ 29 h 62"/>
                      <a:gd name="T22" fmla="*/ 98 w 98"/>
                      <a:gd name="T23" fmla="*/ 36 h 62"/>
                      <a:gd name="T24" fmla="*/ 92 w 98"/>
                      <a:gd name="T25" fmla="*/ 44 h 62"/>
                      <a:gd name="T26" fmla="*/ 82 w 98"/>
                      <a:gd name="T27" fmla="*/ 47 h 62"/>
                      <a:gd name="T28" fmla="*/ 73 w 98"/>
                      <a:gd name="T29" fmla="*/ 46 h 62"/>
                      <a:gd name="T30" fmla="*/ 62 w 98"/>
                      <a:gd name="T31" fmla="*/ 44 h 62"/>
                      <a:gd name="T32" fmla="*/ 57 w 98"/>
                      <a:gd name="T33" fmla="*/ 53 h 62"/>
                      <a:gd name="T34" fmla="*/ 51 w 98"/>
                      <a:gd name="T35" fmla="*/ 62 h 62"/>
                      <a:gd name="T36" fmla="*/ 29 w 98"/>
                      <a:gd name="T37" fmla="*/ 62 h 62"/>
                      <a:gd name="T38" fmla="*/ 18 w 98"/>
                      <a:gd name="T39" fmla="*/ 56 h 62"/>
                      <a:gd name="T40" fmla="*/ 0 w 98"/>
                      <a:gd name="T41" fmla="*/ 48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98" h="62">
                        <a:moveTo>
                          <a:pt x="0" y="48"/>
                        </a:moveTo>
                        <a:lnTo>
                          <a:pt x="6" y="36"/>
                        </a:lnTo>
                        <a:lnTo>
                          <a:pt x="14" y="28"/>
                        </a:lnTo>
                        <a:lnTo>
                          <a:pt x="25" y="19"/>
                        </a:lnTo>
                        <a:lnTo>
                          <a:pt x="31" y="0"/>
                        </a:lnTo>
                        <a:lnTo>
                          <a:pt x="48" y="4"/>
                        </a:lnTo>
                        <a:lnTo>
                          <a:pt x="60" y="6"/>
                        </a:lnTo>
                        <a:lnTo>
                          <a:pt x="70" y="4"/>
                        </a:lnTo>
                        <a:lnTo>
                          <a:pt x="80" y="10"/>
                        </a:lnTo>
                        <a:lnTo>
                          <a:pt x="90" y="18"/>
                        </a:lnTo>
                        <a:lnTo>
                          <a:pt x="97" y="29"/>
                        </a:lnTo>
                        <a:lnTo>
                          <a:pt x="98" y="36"/>
                        </a:lnTo>
                        <a:lnTo>
                          <a:pt x="92" y="44"/>
                        </a:lnTo>
                        <a:lnTo>
                          <a:pt x="82" y="47"/>
                        </a:lnTo>
                        <a:lnTo>
                          <a:pt x="73" y="46"/>
                        </a:lnTo>
                        <a:lnTo>
                          <a:pt x="62" y="44"/>
                        </a:lnTo>
                        <a:lnTo>
                          <a:pt x="57" y="53"/>
                        </a:lnTo>
                        <a:lnTo>
                          <a:pt x="51" y="62"/>
                        </a:lnTo>
                        <a:lnTo>
                          <a:pt x="29" y="62"/>
                        </a:lnTo>
                        <a:lnTo>
                          <a:pt x="18" y="56"/>
                        </a:lnTo>
                        <a:lnTo>
                          <a:pt x="0" y="48"/>
                        </a:lnTo>
                        <a:close/>
                      </a:path>
                    </a:pathLst>
                  </a:custGeom>
                  <a:solidFill>
                    <a:srgbClr val="FFBF7F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grpSp>
                <p:nvGrpSpPr>
                  <p:cNvPr id="372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1639" y="1778"/>
                    <a:ext cx="41" cy="41"/>
                    <a:chOff x="1639" y="1778"/>
                    <a:chExt cx="41" cy="41"/>
                  </a:xfrm>
                </p:grpSpPr>
                <p:sp>
                  <p:nvSpPr>
                    <p:cNvPr id="373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639" y="1790"/>
                      <a:ext cx="16" cy="29"/>
                    </a:xfrm>
                    <a:custGeom>
                      <a:avLst/>
                      <a:gdLst>
                        <a:gd name="T0" fmla="*/ 0 w 30"/>
                        <a:gd name="T1" fmla="*/ 29 h 59"/>
                        <a:gd name="T2" fmla="*/ 10 w 30"/>
                        <a:gd name="T3" fmla="*/ 33 h 59"/>
                        <a:gd name="T4" fmla="*/ 7 w 30"/>
                        <a:gd name="T5" fmla="*/ 24 h 59"/>
                        <a:gd name="T6" fmla="*/ 2 w 30"/>
                        <a:gd name="T7" fmla="*/ 5 h 59"/>
                        <a:gd name="T8" fmla="*/ 7 w 30"/>
                        <a:gd name="T9" fmla="*/ 0 h 59"/>
                        <a:gd name="T10" fmla="*/ 14 w 30"/>
                        <a:gd name="T11" fmla="*/ 1 h 59"/>
                        <a:gd name="T12" fmla="*/ 25 w 30"/>
                        <a:gd name="T13" fmla="*/ 12 h 59"/>
                        <a:gd name="T14" fmla="*/ 29 w 30"/>
                        <a:gd name="T15" fmla="*/ 21 h 59"/>
                        <a:gd name="T16" fmla="*/ 29 w 30"/>
                        <a:gd name="T17" fmla="*/ 29 h 59"/>
                        <a:gd name="T18" fmla="*/ 30 w 30"/>
                        <a:gd name="T19" fmla="*/ 50 h 59"/>
                        <a:gd name="T20" fmla="*/ 18 w 30"/>
                        <a:gd name="T21" fmla="*/ 59 h 59"/>
                        <a:gd name="T22" fmla="*/ 8 w 30"/>
                        <a:gd name="T23" fmla="*/ 53 h 59"/>
                        <a:gd name="T24" fmla="*/ 0 w 30"/>
                        <a:gd name="T25" fmla="*/ 41 h 59"/>
                        <a:gd name="T26" fmla="*/ 0 w 30"/>
                        <a:gd name="T27" fmla="*/ 29 h 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30" h="59">
                          <a:moveTo>
                            <a:pt x="0" y="29"/>
                          </a:moveTo>
                          <a:lnTo>
                            <a:pt x="10" y="33"/>
                          </a:lnTo>
                          <a:lnTo>
                            <a:pt x="7" y="24"/>
                          </a:lnTo>
                          <a:lnTo>
                            <a:pt x="2" y="5"/>
                          </a:lnTo>
                          <a:lnTo>
                            <a:pt x="7" y="0"/>
                          </a:lnTo>
                          <a:lnTo>
                            <a:pt x="14" y="1"/>
                          </a:lnTo>
                          <a:lnTo>
                            <a:pt x="25" y="12"/>
                          </a:lnTo>
                          <a:lnTo>
                            <a:pt x="29" y="21"/>
                          </a:lnTo>
                          <a:lnTo>
                            <a:pt x="29" y="29"/>
                          </a:lnTo>
                          <a:lnTo>
                            <a:pt x="30" y="50"/>
                          </a:lnTo>
                          <a:lnTo>
                            <a:pt x="18" y="59"/>
                          </a:lnTo>
                          <a:lnTo>
                            <a:pt x="8" y="53"/>
                          </a:lnTo>
                          <a:lnTo>
                            <a:pt x="0" y="41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374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1649" y="1778"/>
                      <a:ext cx="13" cy="12"/>
                    </a:xfrm>
                    <a:custGeom>
                      <a:avLst/>
                      <a:gdLst>
                        <a:gd name="T0" fmla="*/ 0 w 28"/>
                        <a:gd name="T1" fmla="*/ 24 h 24"/>
                        <a:gd name="T2" fmla="*/ 4 w 28"/>
                        <a:gd name="T3" fmla="*/ 12 h 24"/>
                        <a:gd name="T4" fmla="*/ 11 w 28"/>
                        <a:gd name="T5" fmla="*/ 0 h 24"/>
                        <a:gd name="T6" fmla="*/ 18 w 28"/>
                        <a:gd name="T7" fmla="*/ 2 h 24"/>
                        <a:gd name="T8" fmla="*/ 28 w 28"/>
                        <a:gd name="T9" fmla="*/ 15 h 24"/>
                        <a:gd name="T10" fmla="*/ 24 w 28"/>
                        <a:gd name="T11" fmla="*/ 23 h 24"/>
                        <a:gd name="T12" fmla="*/ 0 w 28"/>
                        <a:gd name="T13" fmla="*/ 24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28" h="24">
                          <a:moveTo>
                            <a:pt x="0" y="24"/>
                          </a:moveTo>
                          <a:lnTo>
                            <a:pt x="4" y="12"/>
                          </a:lnTo>
                          <a:lnTo>
                            <a:pt x="11" y="0"/>
                          </a:lnTo>
                          <a:lnTo>
                            <a:pt x="18" y="2"/>
                          </a:lnTo>
                          <a:lnTo>
                            <a:pt x="28" y="15"/>
                          </a:lnTo>
                          <a:lnTo>
                            <a:pt x="24" y="23"/>
                          </a:lnTo>
                          <a:lnTo>
                            <a:pt x="0" y="24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375" name="Freeform 117"/>
                    <p:cNvSpPr>
                      <a:spLocks/>
                    </p:cNvSpPr>
                    <p:nvPr/>
                  </p:nvSpPr>
                  <p:spPr bwMode="auto">
                    <a:xfrm>
                      <a:off x="1652" y="1790"/>
                      <a:ext cx="14" cy="24"/>
                    </a:xfrm>
                    <a:custGeom>
                      <a:avLst/>
                      <a:gdLst>
                        <a:gd name="T0" fmla="*/ 17 w 27"/>
                        <a:gd name="T1" fmla="*/ 5 h 50"/>
                        <a:gd name="T2" fmla="*/ 9 w 27"/>
                        <a:gd name="T3" fmla="*/ 0 h 50"/>
                        <a:gd name="T4" fmla="*/ 3 w 27"/>
                        <a:gd name="T5" fmla="*/ 1 h 50"/>
                        <a:gd name="T6" fmla="*/ 0 w 27"/>
                        <a:gd name="T7" fmla="*/ 7 h 50"/>
                        <a:gd name="T8" fmla="*/ 9 w 27"/>
                        <a:gd name="T9" fmla="*/ 19 h 50"/>
                        <a:gd name="T10" fmla="*/ 5 w 27"/>
                        <a:gd name="T11" fmla="*/ 29 h 50"/>
                        <a:gd name="T12" fmla="*/ 9 w 27"/>
                        <a:gd name="T13" fmla="*/ 47 h 50"/>
                        <a:gd name="T14" fmla="*/ 19 w 27"/>
                        <a:gd name="T15" fmla="*/ 50 h 50"/>
                        <a:gd name="T16" fmla="*/ 27 w 27"/>
                        <a:gd name="T17" fmla="*/ 46 h 50"/>
                        <a:gd name="T18" fmla="*/ 27 w 27"/>
                        <a:gd name="T19" fmla="*/ 30 h 50"/>
                        <a:gd name="T20" fmla="*/ 23 w 27"/>
                        <a:gd name="T21" fmla="*/ 21 h 50"/>
                        <a:gd name="T22" fmla="*/ 17 w 27"/>
                        <a:gd name="T23" fmla="*/ 5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27" h="50">
                          <a:moveTo>
                            <a:pt x="17" y="5"/>
                          </a:moveTo>
                          <a:lnTo>
                            <a:pt x="9" y="0"/>
                          </a:lnTo>
                          <a:lnTo>
                            <a:pt x="3" y="1"/>
                          </a:lnTo>
                          <a:lnTo>
                            <a:pt x="0" y="7"/>
                          </a:lnTo>
                          <a:lnTo>
                            <a:pt x="9" y="19"/>
                          </a:lnTo>
                          <a:lnTo>
                            <a:pt x="5" y="29"/>
                          </a:lnTo>
                          <a:lnTo>
                            <a:pt x="9" y="47"/>
                          </a:lnTo>
                          <a:lnTo>
                            <a:pt x="19" y="50"/>
                          </a:lnTo>
                          <a:lnTo>
                            <a:pt x="27" y="46"/>
                          </a:lnTo>
                          <a:lnTo>
                            <a:pt x="27" y="30"/>
                          </a:lnTo>
                          <a:lnTo>
                            <a:pt x="23" y="21"/>
                          </a:lnTo>
                          <a:lnTo>
                            <a:pt x="17" y="5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376" name="Freeform 118"/>
                    <p:cNvSpPr>
                      <a:spLocks/>
                    </p:cNvSpPr>
                    <p:nvPr/>
                  </p:nvSpPr>
                  <p:spPr bwMode="auto">
                    <a:xfrm>
                      <a:off x="1667" y="1793"/>
                      <a:ext cx="13" cy="17"/>
                    </a:xfrm>
                    <a:custGeom>
                      <a:avLst/>
                      <a:gdLst>
                        <a:gd name="T0" fmla="*/ 2 w 27"/>
                        <a:gd name="T1" fmla="*/ 0 h 33"/>
                        <a:gd name="T2" fmla="*/ 0 w 27"/>
                        <a:gd name="T3" fmla="*/ 8 h 33"/>
                        <a:gd name="T4" fmla="*/ 4 w 27"/>
                        <a:gd name="T5" fmla="*/ 26 h 33"/>
                        <a:gd name="T6" fmla="*/ 11 w 27"/>
                        <a:gd name="T7" fmla="*/ 31 h 33"/>
                        <a:gd name="T8" fmla="*/ 19 w 27"/>
                        <a:gd name="T9" fmla="*/ 33 h 33"/>
                        <a:gd name="T10" fmla="*/ 25 w 27"/>
                        <a:gd name="T11" fmla="*/ 28 h 33"/>
                        <a:gd name="T12" fmla="*/ 27 w 27"/>
                        <a:gd name="T13" fmla="*/ 17 h 33"/>
                        <a:gd name="T14" fmla="*/ 14 w 27"/>
                        <a:gd name="T15" fmla="*/ 0 h 33"/>
                        <a:gd name="T16" fmla="*/ 2 w 27"/>
                        <a:gd name="T17" fmla="*/ 0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27" h="33">
                          <a:moveTo>
                            <a:pt x="2" y="0"/>
                          </a:moveTo>
                          <a:lnTo>
                            <a:pt x="0" y="8"/>
                          </a:lnTo>
                          <a:lnTo>
                            <a:pt x="4" y="26"/>
                          </a:lnTo>
                          <a:lnTo>
                            <a:pt x="11" y="31"/>
                          </a:lnTo>
                          <a:lnTo>
                            <a:pt x="19" y="33"/>
                          </a:lnTo>
                          <a:lnTo>
                            <a:pt x="25" y="28"/>
                          </a:lnTo>
                          <a:lnTo>
                            <a:pt x="27" y="17"/>
                          </a:lnTo>
                          <a:lnTo>
                            <a:pt x="14" y="0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</p:grpSp>
          <p:grpSp>
            <p:nvGrpSpPr>
              <p:cNvPr id="327" name="Group 119"/>
              <p:cNvGrpSpPr>
                <a:grpSpLocks/>
              </p:cNvGrpSpPr>
              <p:nvPr/>
            </p:nvGrpSpPr>
            <p:grpSpPr bwMode="auto">
              <a:xfrm>
                <a:off x="1634" y="1657"/>
                <a:ext cx="307" cy="301"/>
                <a:chOff x="1634" y="1657"/>
                <a:chExt cx="307" cy="301"/>
              </a:xfrm>
            </p:grpSpPr>
            <p:grpSp>
              <p:nvGrpSpPr>
                <p:cNvPr id="328" name="Group 120"/>
                <p:cNvGrpSpPr>
                  <a:grpSpLocks/>
                </p:cNvGrpSpPr>
                <p:nvPr/>
              </p:nvGrpSpPr>
              <p:grpSpPr bwMode="auto">
                <a:xfrm>
                  <a:off x="1781" y="1707"/>
                  <a:ext cx="160" cy="92"/>
                  <a:chOff x="1781" y="1707"/>
                  <a:chExt cx="160" cy="92"/>
                </a:xfrm>
              </p:grpSpPr>
              <p:sp>
                <p:nvSpPr>
                  <p:cNvPr id="367" name="Freeform 121"/>
                  <p:cNvSpPr>
                    <a:spLocks/>
                  </p:cNvSpPr>
                  <p:nvPr/>
                </p:nvSpPr>
                <p:spPr bwMode="auto">
                  <a:xfrm>
                    <a:off x="1875" y="1707"/>
                    <a:ext cx="66" cy="69"/>
                  </a:xfrm>
                  <a:custGeom>
                    <a:avLst/>
                    <a:gdLst>
                      <a:gd name="T0" fmla="*/ 7 w 132"/>
                      <a:gd name="T1" fmla="*/ 119 h 137"/>
                      <a:gd name="T2" fmla="*/ 30 w 132"/>
                      <a:gd name="T3" fmla="*/ 127 h 137"/>
                      <a:gd name="T4" fmla="*/ 61 w 132"/>
                      <a:gd name="T5" fmla="*/ 127 h 137"/>
                      <a:gd name="T6" fmla="*/ 65 w 132"/>
                      <a:gd name="T7" fmla="*/ 121 h 137"/>
                      <a:gd name="T8" fmla="*/ 78 w 132"/>
                      <a:gd name="T9" fmla="*/ 121 h 137"/>
                      <a:gd name="T10" fmla="*/ 98 w 132"/>
                      <a:gd name="T11" fmla="*/ 113 h 137"/>
                      <a:gd name="T12" fmla="*/ 104 w 132"/>
                      <a:gd name="T13" fmla="*/ 112 h 137"/>
                      <a:gd name="T14" fmla="*/ 104 w 132"/>
                      <a:gd name="T15" fmla="*/ 103 h 137"/>
                      <a:gd name="T16" fmla="*/ 101 w 132"/>
                      <a:gd name="T17" fmla="*/ 96 h 137"/>
                      <a:gd name="T18" fmla="*/ 99 w 132"/>
                      <a:gd name="T19" fmla="*/ 90 h 137"/>
                      <a:gd name="T20" fmla="*/ 90 w 132"/>
                      <a:gd name="T21" fmla="*/ 80 h 137"/>
                      <a:gd name="T22" fmla="*/ 82 w 132"/>
                      <a:gd name="T23" fmla="*/ 73 h 137"/>
                      <a:gd name="T24" fmla="*/ 71 w 132"/>
                      <a:gd name="T25" fmla="*/ 56 h 137"/>
                      <a:gd name="T26" fmla="*/ 125 w 132"/>
                      <a:gd name="T27" fmla="*/ 0 h 137"/>
                      <a:gd name="T28" fmla="*/ 130 w 132"/>
                      <a:gd name="T29" fmla="*/ 1 h 137"/>
                      <a:gd name="T30" fmla="*/ 132 w 132"/>
                      <a:gd name="T31" fmla="*/ 8 h 137"/>
                      <a:gd name="T32" fmla="*/ 87 w 132"/>
                      <a:gd name="T33" fmla="*/ 56 h 137"/>
                      <a:gd name="T34" fmla="*/ 96 w 132"/>
                      <a:gd name="T35" fmla="*/ 67 h 137"/>
                      <a:gd name="T36" fmla="*/ 110 w 132"/>
                      <a:gd name="T37" fmla="*/ 81 h 137"/>
                      <a:gd name="T38" fmla="*/ 118 w 132"/>
                      <a:gd name="T39" fmla="*/ 103 h 137"/>
                      <a:gd name="T40" fmla="*/ 118 w 132"/>
                      <a:gd name="T41" fmla="*/ 118 h 137"/>
                      <a:gd name="T42" fmla="*/ 111 w 132"/>
                      <a:gd name="T43" fmla="*/ 121 h 137"/>
                      <a:gd name="T44" fmla="*/ 108 w 132"/>
                      <a:gd name="T45" fmla="*/ 125 h 137"/>
                      <a:gd name="T46" fmla="*/ 103 w 132"/>
                      <a:gd name="T47" fmla="*/ 125 h 137"/>
                      <a:gd name="T48" fmla="*/ 84 w 132"/>
                      <a:gd name="T49" fmla="*/ 132 h 137"/>
                      <a:gd name="T50" fmla="*/ 70 w 132"/>
                      <a:gd name="T51" fmla="*/ 134 h 137"/>
                      <a:gd name="T52" fmla="*/ 67 w 132"/>
                      <a:gd name="T53" fmla="*/ 137 h 137"/>
                      <a:gd name="T54" fmla="*/ 24 w 132"/>
                      <a:gd name="T55" fmla="*/ 137 h 137"/>
                      <a:gd name="T56" fmla="*/ 0 w 132"/>
                      <a:gd name="T57" fmla="*/ 127 h 137"/>
                      <a:gd name="T58" fmla="*/ 7 w 132"/>
                      <a:gd name="T59" fmla="*/ 119 h 1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132" h="137">
                        <a:moveTo>
                          <a:pt x="7" y="119"/>
                        </a:moveTo>
                        <a:lnTo>
                          <a:pt x="30" y="127"/>
                        </a:lnTo>
                        <a:lnTo>
                          <a:pt x="61" y="127"/>
                        </a:lnTo>
                        <a:lnTo>
                          <a:pt x="65" y="121"/>
                        </a:lnTo>
                        <a:lnTo>
                          <a:pt x="78" y="121"/>
                        </a:lnTo>
                        <a:lnTo>
                          <a:pt x="98" y="113"/>
                        </a:lnTo>
                        <a:lnTo>
                          <a:pt x="104" y="112"/>
                        </a:lnTo>
                        <a:lnTo>
                          <a:pt x="104" y="103"/>
                        </a:lnTo>
                        <a:lnTo>
                          <a:pt x="101" y="96"/>
                        </a:lnTo>
                        <a:lnTo>
                          <a:pt x="99" y="90"/>
                        </a:lnTo>
                        <a:lnTo>
                          <a:pt x="90" y="80"/>
                        </a:lnTo>
                        <a:lnTo>
                          <a:pt x="82" y="73"/>
                        </a:lnTo>
                        <a:lnTo>
                          <a:pt x="71" y="56"/>
                        </a:lnTo>
                        <a:lnTo>
                          <a:pt x="125" y="0"/>
                        </a:lnTo>
                        <a:lnTo>
                          <a:pt x="130" y="1"/>
                        </a:lnTo>
                        <a:lnTo>
                          <a:pt x="132" y="8"/>
                        </a:lnTo>
                        <a:lnTo>
                          <a:pt x="87" y="56"/>
                        </a:lnTo>
                        <a:lnTo>
                          <a:pt x="96" y="67"/>
                        </a:lnTo>
                        <a:lnTo>
                          <a:pt x="110" y="81"/>
                        </a:lnTo>
                        <a:lnTo>
                          <a:pt x="118" y="103"/>
                        </a:lnTo>
                        <a:lnTo>
                          <a:pt x="118" y="118"/>
                        </a:lnTo>
                        <a:lnTo>
                          <a:pt x="111" y="121"/>
                        </a:lnTo>
                        <a:lnTo>
                          <a:pt x="108" y="125"/>
                        </a:lnTo>
                        <a:lnTo>
                          <a:pt x="103" y="125"/>
                        </a:lnTo>
                        <a:lnTo>
                          <a:pt x="84" y="132"/>
                        </a:lnTo>
                        <a:lnTo>
                          <a:pt x="70" y="134"/>
                        </a:lnTo>
                        <a:lnTo>
                          <a:pt x="67" y="137"/>
                        </a:lnTo>
                        <a:lnTo>
                          <a:pt x="24" y="137"/>
                        </a:lnTo>
                        <a:lnTo>
                          <a:pt x="0" y="127"/>
                        </a:lnTo>
                        <a:lnTo>
                          <a:pt x="7" y="11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368" name="Freeform 122"/>
                  <p:cNvSpPr>
                    <a:spLocks/>
                  </p:cNvSpPr>
                  <p:nvPr/>
                </p:nvSpPr>
                <p:spPr bwMode="auto">
                  <a:xfrm>
                    <a:off x="1781" y="1761"/>
                    <a:ext cx="131" cy="38"/>
                  </a:xfrm>
                  <a:custGeom>
                    <a:avLst/>
                    <a:gdLst>
                      <a:gd name="T0" fmla="*/ 0 w 263"/>
                      <a:gd name="T1" fmla="*/ 64 h 75"/>
                      <a:gd name="T2" fmla="*/ 32 w 263"/>
                      <a:gd name="T3" fmla="*/ 56 h 75"/>
                      <a:gd name="T4" fmla="*/ 64 w 263"/>
                      <a:gd name="T5" fmla="*/ 49 h 75"/>
                      <a:gd name="T6" fmla="*/ 98 w 263"/>
                      <a:gd name="T7" fmla="*/ 40 h 75"/>
                      <a:gd name="T8" fmla="*/ 143 w 263"/>
                      <a:gd name="T9" fmla="*/ 46 h 75"/>
                      <a:gd name="T10" fmla="*/ 233 w 263"/>
                      <a:gd name="T11" fmla="*/ 61 h 75"/>
                      <a:gd name="T12" fmla="*/ 250 w 263"/>
                      <a:gd name="T13" fmla="*/ 61 h 75"/>
                      <a:gd name="T14" fmla="*/ 250 w 263"/>
                      <a:gd name="T15" fmla="*/ 46 h 75"/>
                      <a:gd name="T16" fmla="*/ 241 w 263"/>
                      <a:gd name="T17" fmla="*/ 32 h 75"/>
                      <a:gd name="T18" fmla="*/ 230 w 263"/>
                      <a:gd name="T19" fmla="*/ 13 h 75"/>
                      <a:gd name="T20" fmla="*/ 221 w 263"/>
                      <a:gd name="T21" fmla="*/ 12 h 75"/>
                      <a:gd name="T22" fmla="*/ 211 w 263"/>
                      <a:gd name="T23" fmla="*/ 16 h 75"/>
                      <a:gd name="T24" fmla="*/ 195 w 263"/>
                      <a:gd name="T25" fmla="*/ 22 h 75"/>
                      <a:gd name="T26" fmla="*/ 189 w 263"/>
                      <a:gd name="T27" fmla="*/ 21 h 75"/>
                      <a:gd name="T28" fmla="*/ 188 w 263"/>
                      <a:gd name="T29" fmla="*/ 17 h 75"/>
                      <a:gd name="T30" fmla="*/ 190 w 263"/>
                      <a:gd name="T31" fmla="*/ 10 h 75"/>
                      <a:gd name="T32" fmla="*/ 217 w 263"/>
                      <a:gd name="T33" fmla="*/ 0 h 75"/>
                      <a:gd name="T34" fmla="*/ 239 w 263"/>
                      <a:gd name="T35" fmla="*/ 5 h 75"/>
                      <a:gd name="T36" fmla="*/ 251 w 263"/>
                      <a:gd name="T37" fmla="*/ 21 h 75"/>
                      <a:gd name="T38" fmla="*/ 262 w 263"/>
                      <a:gd name="T39" fmla="*/ 43 h 75"/>
                      <a:gd name="T40" fmla="*/ 263 w 263"/>
                      <a:gd name="T41" fmla="*/ 64 h 75"/>
                      <a:gd name="T42" fmla="*/ 262 w 263"/>
                      <a:gd name="T43" fmla="*/ 72 h 75"/>
                      <a:gd name="T44" fmla="*/ 258 w 263"/>
                      <a:gd name="T45" fmla="*/ 75 h 75"/>
                      <a:gd name="T46" fmla="*/ 233 w 263"/>
                      <a:gd name="T47" fmla="*/ 74 h 75"/>
                      <a:gd name="T48" fmla="*/ 178 w 263"/>
                      <a:gd name="T49" fmla="*/ 66 h 75"/>
                      <a:gd name="T50" fmla="*/ 127 w 263"/>
                      <a:gd name="T51" fmla="*/ 57 h 75"/>
                      <a:gd name="T52" fmla="*/ 102 w 263"/>
                      <a:gd name="T53" fmla="*/ 55 h 75"/>
                      <a:gd name="T54" fmla="*/ 75 w 263"/>
                      <a:gd name="T55" fmla="*/ 59 h 75"/>
                      <a:gd name="T56" fmla="*/ 32 w 263"/>
                      <a:gd name="T57" fmla="*/ 69 h 75"/>
                      <a:gd name="T58" fmla="*/ 7 w 263"/>
                      <a:gd name="T59" fmla="*/ 75 h 75"/>
                      <a:gd name="T60" fmla="*/ 0 w 263"/>
                      <a:gd name="T61" fmla="*/ 64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263" h="75">
                        <a:moveTo>
                          <a:pt x="0" y="64"/>
                        </a:moveTo>
                        <a:lnTo>
                          <a:pt x="32" y="56"/>
                        </a:lnTo>
                        <a:lnTo>
                          <a:pt x="64" y="49"/>
                        </a:lnTo>
                        <a:lnTo>
                          <a:pt x="98" y="40"/>
                        </a:lnTo>
                        <a:lnTo>
                          <a:pt x="143" y="46"/>
                        </a:lnTo>
                        <a:lnTo>
                          <a:pt x="233" y="61"/>
                        </a:lnTo>
                        <a:lnTo>
                          <a:pt x="250" y="61"/>
                        </a:lnTo>
                        <a:lnTo>
                          <a:pt x="250" y="46"/>
                        </a:lnTo>
                        <a:lnTo>
                          <a:pt x="241" y="32"/>
                        </a:lnTo>
                        <a:lnTo>
                          <a:pt x="230" y="13"/>
                        </a:lnTo>
                        <a:lnTo>
                          <a:pt x="221" y="12"/>
                        </a:lnTo>
                        <a:lnTo>
                          <a:pt x="211" y="16"/>
                        </a:lnTo>
                        <a:lnTo>
                          <a:pt x="195" y="22"/>
                        </a:lnTo>
                        <a:lnTo>
                          <a:pt x="189" y="21"/>
                        </a:lnTo>
                        <a:lnTo>
                          <a:pt x="188" y="17"/>
                        </a:lnTo>
                        <a:lnTo>
                          <a:pt x="190" y="10"/>
                        </a:lnTo>
                        <a:lnTo>
                          <a:pt x="217" y="0"/>
                        </a:lnTo>
                        <a:lnTo>
                          <a:pt x="239" y="5"/>
                        </a:lnTo>
                        <a:lnTo>
                          <a:pt x="251" y="21"/>
                        </a:lnTo>
                        <a:lnTo>
                          <a:pt x="262" y="43"/>
                        </a:lnTo>
                        <a:lnTo>
                          <a:pt x="263" y="64"/>
                        </a:lnTo>
                        <a:lnTo>
                          <a:pt x="262" y="72"/>
                        </a:lnTo>
                        <a:lnTo>
                          <a:pt x="258" y="75"/>
                        </a:lnTo>
                        <a:lnTo>
                          <a:pt x="233" y="74"/>
                        </a:lnTo>
                        <a:lnTo>
                          <a:pt x="178" y="66"/>
                        </a:lnTo>
                        <a:lnTo>
                          <a:pt x="127" y="57"/>
                        </a:lnTo>
                        <a:lnTo>
                          <a:pt x="102" y="55"/>
                        </a:lnTo>
                        <a:lnTo>
                          <a:pt x="75" y="59"/>
                        </a:lnTo>
                        <a:lnTo>
                          <a:pt x="32" y="69"/>
                        </a:lnTo>
                        <a:lnTo>
                          <a:pt x="7" y="75"/>
                        </a:lnTo>
                        <a:lnTo>
                          <a:pt x="0" y="6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329" name="Group 123"/>
                <p:cNvGrpSpPr>
                  <a:grpSpLocks/>
                </p:cNvGrpSpPr>
                <p:nvPr/>
              </p:nvGrpSpPr>
              <p:grpSpPr bwMode="auto">
                <a:xfrm>
                  <a:off x="1634" y="1657"/>
                  <a:ext cx="235" cy="301"/>
                  <a:chOff x="1634" y="1657"/>
                  <a:chExt cx="235" cy="301"/>
                </a:xfrm>
              </p:grpSpPr>
              <p:grpSp>
                <p:nvGrpSpPr>
                  <p:cNvPr id="330" name="Group 124"/>
                  <p:cNvGrpSpPr>
                    <a:grpSpLocks/>
                  </p:cNvGrpSpPr>
                  <p:nvPr/>
                </p:nvGrpSpPr>
                <p:grpSpPr bwMode="auto">
                  <a:xfrm>
                    <a:off x="1634" y="1657"/>
                    <a:ext cx="235" cy="301"/>
                    <a:chOff x="1634" y="1657"/>
                    <a:chExt cx="235" cy="301"/>
                  </a:xfrm>
                </p:grpSpPr>
                <p:grpSp>
                  <p:nvGrpSpPr>
                    <p:cNvPr id="340" name="Group 12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34" y="1657"/>
                      <a:ext cx="235" cy="301"/>
                      <a:chOff x="1634" y="1657"/>
                      <a:chExt cx="235" cy="301"/>
                    </a:xfrm>
                  </p:grpSpPr>
                  <p:grpSp>
                    <p:nvGrpSpPr>
                      <p:cNvPr id="344" name="Group 12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34" y="1657"/>
                        <a:ext cx="117" cy="103"/>
                        <a:chOff x="1634" y="1657"/>
                        <a:chExt cx="117" cy="103"/>
                      </a:xfrm>
                    </p:grpSpPr>
                    <p:sp>
                      <p:nvSpPr>
                        <p:cNvPr id="357" name="Freeform 12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51" y="1662"/>
                          <a:ext cx="100" cy="98"/>
                        </a:xfrm>
                        <a:custGeom>
                          <a:avLst/>
                          <a:gdLst>
                            <a:gd name="T0" fmla="*/ 11 w 200"/>
                            <a:gd name="T1" fmla="*/ 143 h 196"/>
                            <a:gd name="T2" fmla="*/ 5 w 200"/>
                            <a:gd name="T3" fmla="*/ 133 h 196"/>
                            <a:gd name="T4" fmla="*/ 1 w 200"/>
                            <a:gd name="T5" fmla="*/ 115 h 196"/>
                            <a:gd name="T6" fmla="*/ 0 w 200"/>
                            <a:gd name="T7" fmla="*/ 97 h 196"/>
                            <a:gd name="T8" fmla="*/ 1 w 200"/>
                            <a:gd name="T9" fmla="*/ 77 h 196"/>
                            <a:gd name="T10" fmla="*/ 5 w 200"/>
                            <a:gd name="T11" fmla="*/ 57 h 196"/>
                            <a:gd name="T12" fmla="*/ 8 w 200"/>
                            <a:gd name="T13" fmla="*/ 42 h 196"/>
                            <a:gd name="T14" fmla="*/ 16 w 200"/>
                            <a:gd name="T15" fmla="*/ 29 h 196"/>
                            <a:gd name="T16" fmla="*/ 27 w 200"/>
                            <a:gd name="T17" fmla="*/ 19 h 196"/>
                            <a:gd name="T18" fmla="*/ 41 w 200"/>
                            <a:gd name="T19" fmla="*/ 9 h 196"/>
                            <a:gd name="T20" fmla="*/ 53 w 200"/>
                            <a:gd name="T21" fmla="*/ 4 h 196"/>
                            <a:gd name="T22" fmla="*/ 68 w 200"/>
                            <a:gd name="T23" fmla="*/ 2 h 196"/>
                            <a:gd name="T24" fmla="*/ 82 w 200"/>
                            <a:gd name="T25" fmla="*/ 1 h 196"/>
                            <a:gd name="T26" fmla="*/ 97 w 200"/>
                            <a:gd name="T27" fmla="*/ 0 h 196"/>
                            <a:gd name="T28" fmla="*/ 117 w 200"/>
                            <a:gd name="T29" fmla="*/ 2 h 196"/>
                            <a:gd name="T30" fmla="*/ 128 w 200"/>
                            <a:gd name="T31" fmla="*/ 8 h 196"/>
                            <a:gd name="T32" fmla="*/ 132 w 200"/>
                            <a:gd name="T33" fmla="*/ 15 h 196"/>
                            <a:gd name="T34" fmla="*/ 132 w 200"/>
                            <a:gd name="T35" fmla="*/ 25 h 196"/>
                            <a:gd name="T36" fmla="*/ 136 w 200"/>
                            <a:gd name="T37" fmla="*/ 35 h 196"/>
                            <a:gd name="T38" fmla="*/ 138 w 200"/>
                            <a:gd name="T39" fmla="*/ 55 h 196"/>
                            <a:gd name="T40" fmla="*/ 133 w 200"/>
                            <a:gd name="T41" fmla="*/ 82 h 196"/>
                            <a:gd name="T42" fmla="*/ 155 w 200"/>
                            <a:gd name="T43" fmla="*/ 78 h 196"/>
                            <a:gd name="T44" fmla="*/ 174 w 200"/>
                            <a:gd name="T45" fmla="*/ 81 h 196"/>
                            <a:gd name="T46" fmla="*/ 195 w 200"/>
                            <a:gd name="T47" fmla="*/ 87 h 196"/>
                            <a:gd name="T48" fmla="*/ 200 w 200"/>
                            <a:gd name="T49" fmla="*/ 95 h 196"/>
                            <a:gd name="T50" fmla="*/ 197 w 200"/>
                            <a:gd name="T51" fmla="*/ 109 h 196"/>
                            <a:gd name="T52" fmla="*/ 193 w 200"/>
                            <a:gd name="T53" fmla="*/ 120 h 196"/>
                            <a:gd name="T54" fmla="*/ 184 w 200"/>
                            <a:gd name="T55" fmla="*/ 123 h 196"/>
                            <a:gd name="T56" fmla="*/ 173 w 200"/>
                            <a:gd name="T57" fmla="*/ 121 h 196"/>
                            <a:gd name="T58" fmla="*/ 164 w 200"/>
                            <a:gd name="T59" fmla="*/ 115 h 196"/>
                            <a:gd name="T60" fmla="*/ 156 w 200"/>
                            <a:gd name="T61" fmla="*/ 115 h 196"/>
                            <a:gd name="T62" fmla="*/ 149 w 200"/>
                            <a:gd name="T63" fmla="*/ 120 h 196"/>
                            <a:gd name="T64" fmla="*/ 139 w 200"/>
                            <a:gd name="T65" fmla="*/ 123 h 196"/>
                            <a:gd name="T66" fmla="*/ 143 w 200"/>
                            <a:gd name="T67" fmla="*/ 153 h 196"/>
                            <a:gd name="T68" fmla="*/ 136 w 200"/>
                            <a:gd name="T69" fmla="*/ 152 h 196"/>
                            <a:gd name="T70" fmla="*/ 125 w 200"/>
                            <a:gd name="T71" fmla="*/ 145 h 196"/>
                            <a:gd name="T72" fmla="*/ 103 w 200"/>
                            <a:gd name="T73" fmla="*/ 143 h 196"/>
                            <a:gd name="T74" fmla="*/ 86 w 200"/>
                            <a:gd name="T75" fmla="*/ 155 h 196"/>
                            <a:gd name="T76" fmla="*/ 103 w 200"/>
                            <a:gd name="T77" fmla="*/ 149 h 196"/>
                            <a:gd name="T78" fmla="*/ 117 w 200"/>
                            <a:gd name="T79" fmla="*/ 150 h 196"/>
                            <a:gd name="T80" fmla="*/ 130 w 200"/>
                            <a:gd name="T81" fmla="*/ 155 h 196"/>
                            <a:gd name="T82" fmla="*/ 136 w 200"/>
                            <a:gd name="T83" fmla="*/ 163 h 196"/>
                            <a:gd name="T84" fmla="*/ 132 w 200"/>
                            <a:gd name="T85" fmla="*/ 180 h 196"/>
                            <a:gd name="T86" fmla="*/ 121 w 200"/>
                            <a:gd name="T87" fmla="*/ 193 h 196"/>
                            <a:gd name="T88" fmla="*/ 111 w 200"/>
                            <a:gd name="T89" fmla="*/ 195 h 196"/>
                            <a:gd name="T90" fmla="*/ 101 w 200"/>
                            <a:gd name="T91" fmla="*/ 189 h 196"/>
                            <a:gd name="T92" fmla="*/ 91 w 200"/>
                            <a:gd name="T93" fmla="*/ 187 h 196"/>
                            <a:gd name="T94" fmla="*/ 74 w 200"/>
                            <a:gd name="T95" fmla="*/ 191 h 196"/>
                            <a:gd name="T96" fmla="*/ 68 w 200"/>
                            <a:gd name="T97" fmla="*/ 196 h 196"/>
                            <a:gd name="T98" fmla="*/ 67 w 200"/>
                            <a:gd name="T99" fmla="*/ 177 h 196"/>
                            <a:gd name="T100" fmla="*/ 69 w 200"/>
                            <a:gd name="T101" fmla="*/ 163 h 196"/>
                            <a:gd name="T102" fmla="*/ 57 w 200"/>
                            <a:gd name="T103" fmla="*/ 164 h 196"/>
                            <a:gd name="T104" fmla="*/ 33 w 200"/>
                            <a:gd name="T105" fmla="*/ 161 h 196"/>
                            <a:gd name="T106" fmla="*/ 19 w 200"/>
                            <a:gd name="T107" fmla="*/ 155 h 196"/>
                            <a:gd name="T108" fmla="*/ 11 w 200"/>
                            <a:gd name="T109" fmla="*/ 143 h 19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  <a:cxn ang="0">
                              <a:pos x="T70" y="T71"/>
                            </a:cxn>
                            <a:cxn ang="0">
                              <a:pos x="T72" y="T73"/>
                            </a:cxn>
                            <a:cxn ang="0">
                              <a:pos x="T74" y="T75"/>
                            </a:cxn>
                            <a:cxn ang="0">
                              <a:pos x="T76" y="T77"/>
                            </a:cxn>
                            <a:cxn ang="0">
                              <a:pos x="T78" y="T79"/>
                            </a:cxn>
                            <a:cxn ang="0">
                              <a:pos x="T80" y="T81"/>
                            </a:cxn>
                            <a:cxn ang="0">
                              <a:pos x="T82" y="T83"/>
                            </a:cxn>
                            <a:cxn ang="0">
                              <a:pos x="T84" y="T85"/>
                            </a:cxn>
                            <a:cxn ang="0">
                              <a:pos x="T86" y="T87"/>
                            </a:cxn>
                            <a:cxn ang="0">
                              <a:pos x="T88" y="T89"/>
                            </a:cxn>
                            <a:cxn ang="0">
                              <a:pos x="T90" y="T91"/>
                            </a:cxn>
                            <a:cxn ang="0">
                              <a:pos x="T92" y="T93"/>
                            </a:cxn>
                            <a:cxn ang="0">
                              <a:pos x="T94" y="T95"/>
                            </a:cxn>
                            <a:cxn ang="0">
                              <a:pos x="T96" y="T97"/>
                            </a:cxn>
                            <a:cxn ang="0">
                              <a:pos x="T98" y="T99"/>
                            </a:cxn>
                            <a:cxn ang="0">
                              <a:pos x="T100" y="T101"/>
                            </a:cxn>
                            <a:cxn ang="0">
                              <a:pos x="T102" y="T103"/>
                            </a:cxn>
                            <a:cxn ang="0">
                              <a:pos x="T104" y="T105"/>
                            </a:cxn>
                            <a:cxn ang="0">
                              <a:pos x="T106" y="T107"/>
                            </a:cxn>
                            <a:cxn ang="0">
                              <a:pos x="T108" y="T109"/>
                            </a:cxn>
                          </a:cxnLst>
                          <a:rect l="0" t="0" r="r" b="b"/>
                          <a:pathLst>
                            <a:path w="200" h="196">
                              <a:moveTo>
                                <a:pt x="11" y="143"/>
                              </a:moveTo>
                              <a:lnTo>
                                <a:pt x="5" y="133"/>
                              </a:lnTo>
                              <a:lnTo>
                                <a:pt x="1" y="115"/>
                              </a:lnTo>
                              <a:lnTo>
                                <a:pt x="0" y="97"/>
                              </a:lnTo>
                              <a:lnTo>
                                <a:pt x="1" y="77"/>
                              </a:lnTo>
                              <a:lnTo>
                                <a:pt x="5" y="57"/>
                              </a:lnTo>
                              <a:lnTo>
                                <a:pt x="8" y="42"/>
                              </a:lnTo>
                              <a:lnTo>
                                <a:pt x="16" y="29"/>
                              </a:lnTo>
                              <a:lnTo>
                                <a:pt x="27" y="19"/>
                              </a:lnTo>
                              <a:lnTo>
                                <a:pt x="41" y="9"/>
                              </a:lnTo>
                              <a:lnTo>
                                <a:pt x="53" y="4"/>
                              </a:lnTo>
                              <a:lnTo>
                                <a:pt x="68" y="2"/>
                              </a:lnTo>
                              <a:lnTo>
                                <a:pt x="82" y="1"/>
                              </a:lnTo>
                              <a:lnTo>
                                <a:pt x="97" y="0"/>
                              </a:lnTo>
                              <a:lnTo>
                                <a:pt x="117" y="2"/>
                              </a:lnTo>
                              <a:lnTo>
                                <a:pt x="128" y="8"/>
                              </a:lnTo>
                              <a:lnTo>
                                <a:pt x="132" y="15"/>
                              </a:lnTo>
                              <a:lnTo>
                                <a:pt x="132" y="25"/>
                              </a:lnTo>
                              <a:lnTo>
                                <a:pt x="136" y="35"/>
                              </a:lnTo>
                              <a:lnTo>
                                <a:pt x="138" y="55"/>
                              </a:lnTo>
                              <a:lnTo>
                                <a:pt x="133" y="82"/>
                              </a:lnTo>
                              <a:lnTo>
                                <a:pt x="155" y="78"/>
                              </a:lnTo>
                              <a:lnTo>
                                <a:pt x="174" y="81"/>
                              </a:lnTo>
                              <a:lnTo>
                                <a:pt x="195" y="87"/>
                              </a:lnTo>
                              <a:lnTo>
                                <a:pt x="200" y="95"/>
                              </a:lnTo>
                              <a:lnTo>
                                <a:pt x="197" y="109"/>
                              </a:lnTo>
                              <a:lnTo>
                                <a:pt x="193" y="120"/>
                              </a:lnTo>
                              <a:lnTo>
                                <a:pt x="184" y="123"/>
                              </a:lnTo>
                              <a:lnTo>
                                <a:pt x="173" y="121"/>
                              </a:lnTo>
                              <a:lnTo>
                                <a:pt x="164" y="115"/>
                              </a:lnTo>
                              <a:lnTo>
                                <a:pt x="156" y="115"/>
                              </a:lnTo>
                              <a:lnTo>
                                <a:pt x="149" y="120"/>
                              </a:lnTo>
                              <a:lnTo>
                                <a:pt x="139" y="123"/>
                              </a:lnTo>
                              <a:lnTo>
                                <a:pt x="143" y="153"/>
                              </a:lnTo>
                              <a:lnTo>
                                <a:pt x="136" y="152"/>
                              </a:lnTo>
                              <a:lnTo>
                                <a:pt x="125" y="145"/>
                              </a:lnTo>
                              <a:lnTo>
                                <a:pt x="103" y="143"/>
                              </a:lnTo>
                              <a:lnTo>
                                <a:pt x="86" y="155"/>
                              </a:lnTo>
                              <a:lnTo>
                                <a:pt x="103" y="149"/>
                              </a:lnTo>
                              <a:lnTo>
                                <a:pt x="117" y="150"/>
                              </a:lnTo>
                              <a:lnTo>
                                <a:pt x="130" y="155"/>
                              </a:lnTo>
                              <a:lnTo>
                                <a:pt x="136" y="163"/>
                              </a:lnTo>
                              <a:lnTo>
                                <a:pt x="132" y="180"/>
                              </a:lnTo>
                              <a:lnTo>
                                <a:pt x="121" y="193"/>
                              </a:lnTo>
                              <a:lnTo>
                                <a:pt x="111" y="195"/>
                              </a:lnTo>
                              <a:lnTo>
                                <a:pt x="101" y="189"/>
                              </a:lnTo>
                              <a:lnTo>
                                <a:pt x="91" y="187"/>
                              </a:lnTo>
                              <a:lnTo>
                                <a:pt x="74" y="191"/>
                              </a:lnTo>
                              <a:lnTo>
                                <a:pt x="68" y="196"/>
                              </a:lnTo>
                              <a:lnTo>
                                <a:pt x="67" y="177"/>
                              </a:lnTo>
                              <a:lnTo>
                                <a:pt x="69" y="163"/>
                              </a:lnTo>
                              <a:lnTo>
                                <a:pt x="57" y="164"/>
                              </a:lnTo>
                              <a:lnTo>
                                <a:pt x="33" y="161"/>
                              </a:lnTo>
                              <a:lnTo>
                                <a:pt x="19" y="155"/>
                              </a:lnTo>
                              <a:lnTo>
                                <a:pt x="11" y="1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BF5F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grpSp>
                      <p:nvGrpSpPr>
                        <p:cNvPr id="358" name="Group 12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634" y="1657"/>
                          <a:ext cx="97" cy="63"/>
                          <a:chOff x="1634" y="1657"/>
                          <a:chExt cx="97" cy="63"/>
                        </a:xfrm>
                      </p:grpSpPr>
                      <p:sp>
                        <p:nvSpPr>
                          <p:cNvPr id="359" name="Freeform 12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713" y="1667"/>
                            <a:ext cx="18" cy="7"/>
                          </a:xfrm>
                          <a:custGeom>
                            <a:avLst/>
                            <a:gdLst>
                              <a:gd name="T0" fmla="*/ 0 w 35"/>
                              <a:gd name="T1" fmla="*/ 11 h 15"/>
                              <a:gd name="T2" fmla="*/ 9 w 35"/>
                              <a:gd name="T3" fmla="*/ 15 h 15"/>
                              <a:gd name="T4" fmla="*/ 19 w 35"/>
                              <a:gd name="T5" fmla="*/ 13 h 15"/>
                              <a:gd name="T6" fmla="*/ 29 w 35"/>
                              <a:gd name="T7" fmla="*/ 6 h 15"/>
                              <a:gd name="T8" fmla="*/ 35 w 35"/>
                              <a:gd name="T9" fmla="*/ 0 h 1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35" h="15">
                                <a:moveTo>
                                  <a:pt x="0" y="11"/>
                                </a:moveTo>
                                <a:lnTo>
                                  <a:pt x="9" y="15"/>
                                </a:lnTo>
                                <a:lnTo>
                                  <a:pt x="19" y="13"/>
                                </a:lnTo>
                                <a:lnTo>
                                  <a:pt x="29" y="6"/>
                                </a:lnTo>
                                <a:lnTo>
                                  <a:pt x="35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60" name="Freeform 13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701" y="1657"/>
                            <a:ext cx="21" cy="11"/>
                          </a:xfrm>
                          <a:custGeom>
                            <a:avLst/>
                            <a:gdLst>
                              <a:gd name="T0" fmla="*/ 43 w 43"/>
                              <a:gd name="T1" fmla="*/ 0 h 21"/>
                              <a:gd name="T2" fmla="*/ 33 w 43"/>
                              <a:gd name="T3" fmla="*/ 11 h 21"/>
                              <a:gd name="T4" fmla="*/ 20 w 43"/>
                              <a:gd name="T5" fmla="*/ 18 h 21"/>
                              <a:gd name="T6" fmla="*/ 8 w 43"/>
                              <a:gd name="T7" fmla="*/ 21 h 21"/>
                              <a:gd name="T8" fmla="*/ 0 w 43"/>
                              <a:gd name="T9" fmla="*/ 19 h 21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43" h="21">
                                <a:moveTo>
                                  <a:pt x="43" y="0"/>
                                </a:moveTo>
                                <a:lnTo>
                                  <a:pt x="33" y="11"/>
                                </a:lnTo>
                                <a:lnTo>
                                  <a:pt x="20" y="18"/>
                                </a:lnTo>
                                <a:lnTo>
                                  <a:pt x="8" y="21"/>
                                </a:lnTo>
                                <a:lnTo>
                                  <a:pt x="0" y="19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61" name="Freeform 13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660" y="1664"/>
                            <a:ext cx="41" cy="14"/>
                          </a:xfrm>
                          <a:custGeom>
                            <a:avLst/>
                            <a:gdLst>
                              <a:gd name="T0" fmla="*/ 0 w 81"/>
                              <a:gd name="T1" fmla="*/ 29 h 29"/>
                              <a:gd name="T2" fmla="*/ 3 w 81"/>
                              <a:gd name="T3" fmla="*/ 16 h 29"/>
                              <a:gd name="T4" fmla="*/ 9 w 81"/>
                              <a:gd name="T5" fmla="*/ 6 h 29"/>
                              <a:gd name="T6" fmla="*/ 16 w 81"/>
                              <a:gd name="T7" fmla="*/ 1 h 29"/>
                              <a:gd name="T8" fmla="*/ 28 w 81"/>
                              <a:gd name="T9" fmla="*/ 0 h 29"/>
                              <a:gd name="T10" fmla="*/ 38 w 81"/>
                              <a:gd name="T11" fmla="*/ 4 h 29"/>
                              <a:gd name="T12" fmla="*/ 47 w 81"/>
                              <a:gd name="T13" fmla="*/ 11 h 29"/>
                              <a:gd name="T14" fmla="*/ 52 w 81"/>
                              <a:gd name="T15" fmla="*/ 18 h 29"/>
                              <a:gd name="T16" fmla="*/ 60 w 81"/>
                              <a:gd name="T17" fmla="*/ 12 h 29"/>
                              <a:gd name="T18" fmla="*/ 70 w 81"/>
                              <a:gd name="T19" fmla="*/ 15 h 29"/>
                              <a:gd name="T20" fmla="*/ 81 w 81"/>
                              <a:gd name="T21" fmla="*/ 22 h 2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81" h="29">
                                <a:moveTo>
                                  <a:pt x="0" y="29"/>
                                </a:moveTo>
                                <a:lnTo>
                                  <a:pt x="3" y="16"/>
                                </a:lnTo>
                                <a:lnTo>
                                  <a:pt x="9" y="6"/>
                                </a:lnTo>
                                <a:lnTo>
                                  <a:pt x="16" y="1"/>
                                </a:lnTo>
                                <a:lnTo>
                                  <a:pt x="28" y="0"/>
                                </a:lnTo>
                                <a:lnTo>
                                  <a:pt x="38" y="4"/>
                                </a:lnTo>
                                <a:lnTo>
                                  <a:pt x="47" y="11"/>
                                </a:lnTo>
                                <a:lnTo>
                                  <a:pt x="52" y="18"/>
                                </a:lnTo>
                                <a:lnTo>
                                  <a:pt x="60" y="12"/>
                                </a:lnTo>
                                <a:lnTo>
                                  <a:pt x="70" y="15"/>
                                </a:lnTo>
                                <a:lnTo>
                                  <a:pt x="81" y="22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62" name="Freeform 13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652" y="1677"/>
                            <a:ext cx="42" cy="40"/>
                          </a:xfrm>
                          <a:custGeom>
                            <a:avLst/>
                            <a:gdLst>
                              <a:gd name="T0" fmla="*/ 32 w 85"/>
                              <a:gd name="T1" fmla="*/ 81 h 81"/>
                              <a:gd name="T2" fmla="*/ 22 w 85"/>
                              <a:gd name="T3" fmla="*/ 75 h 81"/>
                              <a:gd name="T4" fmla="*/ 15 w 85"/>
                              <a:gd name="T5" fmla="*/ 75 h 81"/>
                              <a:gd name="T6" fmla="*/ 7 w 85"/>
                              <a:gd name="T7" fmla="*/ 69 h 81"/>
                              <a:gd name="T8" fmla="*/ 4 w 85"/>
                              <a:gd name="T9" fmla="*/ 65 h 81"/>
                              <a:gd name="T10" fmla="*/ 0 w 85"/>
                              <a:gd name="T11" fmla="*/ 54 h 81"/>
                              <a:gd name="T12" fmla="*/ 3 w 85"/>
                              <a:gd name="T13" fmla="*/ 47 h 81"/>
                              <a:gd name="T14" fmla="*/ 7 w 85"/>
                              <a:gd name="T15" fmla="*/ 42 h 81"/>
                              <a:gd name="T16" fmla="*/ 15 w 85"/>
                              <a:gd name="T17" fmla="*/ 41 h 81"/>
                              <a:gd name="T18" fmla="*/ 22 w 85"/>
                              <a:gd name="T19" fmla="*/ 47 h 81"/>
                              <a:gd name="T20" fmla="*/ 28 w 85"/>
                              <a:gd name="T21" fmla="*/ 53 h 81"/>
                              <a:gd name="T22" fmla="*/ 29 w 85"/>
                              <a:gd name="T23" fmla="*/ 36 h 81"/>
                              <a:gd name="T24" fmla="*/ 37 w 85"/>
                              <a:gd name="T25" fmla="*/ 32 h 81"/>
                              <a:gd name="T26" fmla="*/ 49 w 85"/>
                              <a:gd name="T27" fmla="*/ 23 h 81"/>
                              <a:gd name="T28" fmla="*/ 56 w 85"/>
                              <a:gd name="T29" fmla="*/ 15 h 81"/>
                              <a:gd name="T30" fmla="*/ 58 w 85"/>
                              <a:gd name="T31" fmla="*/ 5 h 81"/>
                              <a:gd name="T32" fmla="*/ 67 w 85"/>
                              <a:gd name="T33" fmla="*/ 1 h 81"/>
                              <a:gd name="T34" fmla="*/ 77 w 85"/>
                              <a:gd name="T35" fmla="*/ 0 h 81"/>
                              <a:gd name="T36" fmla="*/ 85 w 85"/>
                              <a:gd name="T37" fmla="*/ 7 h 81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</a:cxnLst>
                            <a:rect l="0" t="0" r="r" b="b"/>
                            <a:pathLst>
                              <a:path w="85" h="81">
                                <a:moveTo>
                                  <a:pt x="32" y="81"/>
                                </a:moveTo>
                                <a:lnTo>
                                  <a:pt x="22" y="75"/>
                                </a:lnTo>
                                <a:lnTo>
                                  <a:pt x="15" y="75"/>
                                </a:lnTo>
                                <a:lnTo>
                                  <a:pt x="7" y="69"/>
                                </a:lnTo>
                                <a:lnTo>
                                  <a:pt x="4" y="65"/>
                                </a:lnTo>
                                <a:lnTo>
                                  <a:pt x="0" y="54"/>
                                </a:lnTo>
                                <a:lnTo>
                                  <a:pt x="3" y="47"/>
                                </a:lnTo>
                                <a:lnTo>
                                  <a:pt x="7" y="42"/>
                                </a:lnTo>
                                <a:lnTo>
                                  <a:pt x="15" y="41"/>
                                </a:lnTo>
                                <a:lnTo>
                                  <a:pt x="22" y="47"/>
                                </a:lnTo>
                                <a:lnTo>
                                  <a:pt x="28" y="53"/>
                                </a:lnTo>
                                <a:lnTo>
                                  <a:pt x="29" y="36"/>
                                </a:lnTo>
                                <a:lnTo>
                                  <a:pt x="37" y="32"/>
                                </a:lnTo>
                                <a:lnTo>
                                  <a:pt x="49" y="23"/>
                                </a:lnTo>
                                <a:lnTo>
                                  <a:pt x="56" y="15"/>
                                </a:lnTo>
                                <a:lnTo>
                                  <a:pt x="58" y="5"/>
                                </a:lnTo>
                                <a:lnTo>
                                  <a:pt x="67" y="1"/>
                                </a:lnTo>
                                <a:lnTo>
                                  <a:pt x="77" y="0"/>
                                </a:lnTo>
                                <a:lnTo>
                                  <a:pt x="85" y="7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63" name="Freeform 13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634" y="1672"/>
                            <a:ext cx="43" cy="33"/>
                          </a:xfrm>
                          <a:custGeom>
                            <a:avLst/>
                            <a:gdLst>
                              <a:gd name="T0" fmla="*/ 0 w 86"/>
                              <a:gd name="T1" fmla="*/ 65 h 65"/>
                              <a:gd name="T2" fmla="*/ 17 w 86"/>
                              <a:gd name="T3" fmla="*/ 56 h 65"/>
                              <a:gd name="T4" fmla="*/ 32 w 86"/>
                              <a:gd name="T5" fmla="*/ 50 h 65"/>
                              <a:gd name="T6" fmla="*/ 49 w 86"/>
                              <a:gd name="T7" fmla="*/ 48 h 65"/>
                              <a:gd name="T8" fmla="*/ 50 w 86"/>
                              <a:gd name="T9" fmla="*/ 44 h 65"/>
                              <a:gd name="T10" fmla="*/ 49 w 86"/>
                              <a:gd name="T11" fmla="*/ 35 h 65"/>
                              <a:gd name="T12" fmla="*/ 57 w 86"/>
                              <a:gd name="T13" fmla="*/ 28 h 65"/>
                              <a:gd name="T14" fmla="*/ 72 w 86"/>
                              <a:gd name="T15" fmla="*/ 23 h 65"/>
                              <a:gd name="T16" fmla="*/ 70 w 86"/>
                              <a:gd name="T17" fmla="*/ 15 h 65"/>
                              <a:gd name="T18" fmla="*/ 72 w 86"/>
                              <a:gd name="T19" fmla="*/ 8 h 65"/>
                              <a:gd name="T20" fmla="*/ 78 w 86"/>
                              <a:gd name="T21" fmla="*/ 2 h 65"/>
                              <a:gd name="T22" fmla="*/ 86 w 86"/>
                              <a:gd name="T23" fmla="*/ 0 h 6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</a:cxnLst>
                            <a:rect l="0" t="0" r="r" b="b"/>
                            <a:pathLst>
                              <a:path w="86" h="65">
                                <a:moveTo>
                                  <a:pt x="0" y="65"/>
                                </a:moveTo>
                                <a:lnTo>
                                  <a:pt x="17" y="56"/>
                                </a:lnTo>
                                <a:lnTo>
                                  <a:pt x="32" y="50"/>
                                </a:lnTo>
                                <a:lnTo>
                                  <a:pt x="49" y="48"/>
                                </a:lnTo>
                                <a:lnTo>
                                  <a:pt x="50" y="44"/>
                                </a:lnTo>
                                <a:lnTo>
                                  <a:pt x="49" y="35"/>
                                </a:lnTo>
                                <a:lnTo>
                                  <a:pt x="57" y="28"/>
                                </a:lnTo>
                                <a:lnTo>
                                  <a:pt x="72" y="23"/>
                                </a:lnTo>
                                <a:lnTo>
                                  <a:pt x="70" y="15"/>
                                </a:lnTo>
                                <a:lnTo>
                                  <a:pt x="72" y="8"/>
                                </a:lnTo>
                                <a:lnTo>
                                  <a:pt x="78" y="2"/>
                                </a:lnTo>
                                <a:lnTo>
                                  <a:pt x="86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64" name="Freeform 13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644" y="1708"/>
                            <a:ext cx="7" cy="12"/>
                          </a:xfrm>
                          <a:custGeom>
                            <a:avLst/>
                            <a:gdLst>
                              <a:gd name="T0" fmla="*/ 13 w 13"/>
                              <a:gd name="T1" fmla="*/ 0 h 26"/>
                              <a:gd name="T2" fmla="*/ 6 w 13"/>
                              <a:gd name="T3" fmla="*/ 3 h 26"/>
                              <a:gd name="T4" fmla="*/ 1 w 13"/>
                              <a:gd name="T5" fmla="*/ 9 h 26"/>
                              <a:gd name="T6" fmla="*/ 0 w 13"/>
                              <a:gd name="T7" fmla="*/ 16 h 26"/>
                              <a:gd name="T8" fmla="*/ 3 w 13"/>
                              <a:gd name="T9" fmla="*/ 26 h 2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13" h="26">
                                <a:moveTo>
                                  <a:pt x="13" y="0"/>
                                </a:moveTo>
                                <a:lnTo>
                                  <a:pt x="6" y="3"/>
                                </a:lnTo>
                                <a:lnTo>
                                  <a:pt x="1" y="9"/>
                                </a:lnTo>
                                <a:lnTo>
                                  <a:pt x="0" y="16"/>
                                </a:lnTo>
                                <a:lnTo>
                                  <a:pt x="3" y="26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65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699" y="1691"/>
                            <a:ext cx="6" cy="21"/>
                          </a:xfrm>
                          <a:custGeom>
                            <a:avLst/>
                            <a:gdLst>
                              <a:gd name="T0" fmla="*/ 11 w 11"/>
                              <a:gd name="T1" fmla="*/ 0 h 41"/>
                              <a:gd name="T2" fmla="*/ 5 w 11"/>
                              <a:gd name="T3" fmla="*/ 7 h 41"/>
                              <a:gd name="T4" fmla="*/ 0 w 11"/>
                              <a:gd name="T5" fmla="*/ 18 h 41"/>
                              <a:gd name="T6" fmla="*/ 1 w 11"/>
                              <a:gd name="T7" fmla="*/ 29 h 41"/>
                              <a:gd name="T8" fmla="*/ 6 w 11"/>
                              <a:gd name="T9" fmla="*/ 41 h 41"/>
                              <a:gd name="T10" fmla="*/ 6 w 11"/>
                              <a:gd name="T11" fmla="*/ 40 h 41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</a:cxnLst>
                            <a:rect l="0" t="0" r="r" b="b"/>
                            <a:pathLst>
                              <a:path w="11" h="41">
                                <a:moveTo>
                                  <a:pt x="11" y="0"/>
                                </a:moveTo>
                                <a:lnTo>
                                  <a:pt x="5" y="7"/>
                                </a:lnTo>
                                <a:lnTo>
                                  <a:pt x="0" y="18"/>
                                </a:lnTo>
                                <a:lnTo>
                                  <a:pt x="1" y="29"/>
                                </a:lnTo>
                                <a:lnTo>
                                  <a:pt x="6" y="41"/>
                                </a:lnTo>
                                <a:lnTo>
                                  <a:pt x="6" y="4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66" name="Oval 13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08" y="1698"/>
                            <a:ext cx="5" cy="9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  <p:grpSp>
                    <p:nvGrpSpPr>
                      <p:cNvPr id="345" name="Group 13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98" y="1814"/>
                        <a:ext cx="171" cy="144"/>
                        <a:chOff x="1698" y="1814"/>
                        <a:chExt cx="171" cy="144"/>
                      </a:xfrm>
                    </p:grpSpPr>
                    <p:grpSp>
                      <p:nvGrpSpPr>
                        <p:cNvPr id="346" name="Group 13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5" y="1815"/>
                          <a:ext cx="134" cy="143"/>
                          <a:chOff x="1735" y="1815"/>
                          <a:chExt cx="134" cy="143"/>
                        </a:xfrm>
                      </p:grpSpPr>
                      <p:grpSp>
                        <p:nvGrpSpPr>
                          <p:cNvPr id="348" name="Group 139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807" y="1834"/>
                            <a:ext cx="62" cy="124"/>
                            <a:chOff x="1807" y="1834"/>
                            <a:chExt cx="62" cy="124"/>
                          </a:xfrm>
                        </p:grpSpPr>
                        <p:sp>
                          <p:nvSpPr>
                            <p:cNvPr id="350" name="Freeform 140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807" y="1834"/>
                              <a:ext cx="62" cy="124"/>
                            </a:xfrm>
                            <a:custGeom>
                              <a:avLst/>
                              <a:gdLst>
                                <a:gd name="T0" fmla="*/ 0 w 123"/>
                                <a:gd name="T1" fmla="*/ 175 h 248"/>
                                <a:gd name="T2" fmla="*/ 3 w 123"/>
                                <a:gd name="T3" fmla="*/ 199 h 248"/>
                                <a:gd name="T4" fmla="*/ 9 w 123"/>
                                <a:gd name="T5" fmla="*/ 222 h 248"/>
                                <a:gd name="T6" fmla="*/ 29 w 123"/>
                                <a:gd name="T7" fmla="*/ 248 h 248"/>
                                <a:gd name="T8" fmla="*/ 43 w 123"/>
                                <a:gd name="T9" fmla="*/ 237 h 248"/>
                                <a:gd name="T10" fmla="*/ 72 w 123"/>
                                <a:gd name="T11" fmla="*/ 237 h 248"/>
                                <a:gd name="T12" fmla="*/ 87 w 123"/>
                                <a:gd name="T13" fmla="*/ 218 h 248"/>
                                <a:gd name="T14" fmla="*/ 83 w 123"/>
                                <a:gd name="T15" fmla="*/ 191 h 248"/>
                                <a:gd name="T16" fmla="*/ 98 w 123"/>
                                <a:gd name="T17" fmla="*/ 201 h 248"/>
                                <a:gd name="T18" fmla="*/ 123 w 123"/>
                                <a:gd name="T19" fmla="*/ 163 h 248"/>
                                <a:gd name="T20" fmla="*/ 119 w 123"/>
                                <a:gd name="T21" fmla="*/ 145 h 248"/>
                                <a:gd name="T22" fmla="*/ 118 w 123"/>
                                <a:gd name="T23" fmla="*/ 130 h 248"/>
                                <a:gd name="T24" fmla="*/ 119 w 123"/>
                                <a:gd name="T25" fmla="*/ 119 h 248"/>
                                <a:gd name="T26" fmla="*/ 123 w 123"/>
                                <a:gd name="T27" fmla="*/ 100 h 248"/>
                                <a:gd name="T28" fmla="*/ 106 w 123"/>
                                <a:gd name="T29" fmla="*/ 76 h 248"/>
                                <a:gd name="T30" fmla="*/ 116 w 123"/>
                                <a:gd name="T31" fmla="*/ 69 h 248"/>
                                <a:gd name="T32" fmla="*/ 118 w 123"/>
                                <a:gd name="T33" fmla="*/ 48 h 248"/>
                                <a:gd name="T34" fmla="*/ 116 w 123"/>
                                <a:gd name="T35" fmla="*/ 23 h 248"/>
                                <a:gd name="T36" fmla="*/ 110 w 123"/>
                                <a:gd name="T37" fmla="*/ 3 h 248"/>
                                <a:gd name="T38" fmla="*/ 92 w 123"/>
                                <a:gd name="T39" fmla="*/ 0 h 248"/>
                                <a:gd name="T40" fmla="*/ 59 w 123"/>
                                <a:gd name="T41" fmla="*/ 0 h 248"/>
                                <a:gd name="T42" fmla="*/ 55 w 123"/>
                                <a:gd name="T43" fmla="*/ 14 h 248"/>
                                <a:gd name="T44" fmla="*/ 50 w 123"/>
                                <a:gd name="T45" fmla="*/ 40 h 248"/>
                                <a:gd name="T46" fmla="*/ 54 w 123"/>
                                <a:gd name="T47" fmla="*/ 55 h 248"/>
                                <a:gd name="T48" fmla="*/ 65 w 123"/>
                                <a:gd name="T49" fmla="*/ 79 h 248"/>
                                <a:gd name="T50" fmla="*/ 0 w 123"/>
                                <a:gd name="T51" fmla="*/ 175 h 24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  <a:cxn ang="0">
                                  <a:pos x="T44" y="T45"/>
                                </a:cxn>
                                <a:cxn ang="0">
                                  <a:pos x="T46" y="T47"/>
                                </a:cxn>
                                <a:cxn ang="0">
                                  <a:pos x="T48" y="T49"/>
                                </a:cxn>
                                <a:cxn ang="0">
                                  <a:pos x="T50" y="T51"/>
                                </a:cxn>
                              </a:cxnLst>
                              <a:rect l="0" t="0" r="r" b="b"/>
                              <a:pathLst>
                                <a:path w="123" h="248">
                                  <a:moveTo>
                                    <a:pt x="0" y="175"/>
                                  </a:moveTo>
                                  <a:lnTo>
                                    <a:pt x="3" y="199"/>
                                  </a:lnTo>
                                  <a:lnTo>
                                    <a:pt x="9" y="222"/>
                                  </a:lnTo>
                                  <a:lnTo>
                                    <a:pt x="29" y="248"/>
                                  </a:lnTo>
                                  <a:lnTo>
                                    <a:pt x="43" y="237"/>
                                  </a:lnTo>
                                  <a:lnTo>
                                    <a:pt x="72" y="237"/>
                                  </a:lnTo>
                                  <a:lnTo>
                                    <a:pt x="87" y="218"/>
                                  </a:lnTo>
                                  <a:lnTo>
                                    <a:pt x="83" y="191"/>
                                  </a:lnTo>
                                  <a:lnTo>
                                    <a:pt x="98" y="201"/>
                                  </a:lnTo>
                                  <a:lnTo>
                                    <a:pt x="123" y="163"/>
                                  </a:lnTo>
                                  <a:lnTo>
                                    <a:pt x="119" y="145"/>
                                  </a:lnTo>
                                  <a:lnTo>
                                    <a:pt x="118" y="130"/>
                                  </a:lnTo>
                                  <a:lnTo>
                                    <a:pt x="119" y="119"/>
                                  </a:lnTo>
                                  <a:lnTo>
                                    <a:pt x="123" y="100"/>
                                  </a:lnTo>
                                  <a:lnTo>
                                    <a:pt x="106" y="76"/>
                                  </a:lnTo>
                                  <a:lnTo>
                                    <a:pt x="116" y="69"/>
                                  </a:lnTo>
                                  <a:lnTo>
                                    <a:pt x="118" y="48"/>
                                  </a:lnTo>
                                  <a:lnTo>
                                    <a:pt x="116" y="23"/>
                                  </a:lnTo>
                                  <a:lnTo>
                                    <a:pt x="110" y="3"/>
                                  </a:lnTo>
                                  <a:lnTo>
                                    <a:pt x="92" y="0"/>
                                  </a:lnTo>
                                  <a:lnTo>
                                    <a:pt x="59" y="0"/>
                                  </a:lnTo>
                                  <a:lnTo>
                                    <a:pt x="55" y="14"/>
                                  </a:lnTo>
                                  <a:lnTo>
                                    <a:pt x="50" y="40"/>
                                  </a:lnTo>
                                  <a:lnTo>
                                    <a:pt x="54" y="55"/>
                                  </a:lnTo>
                                  <a:lnTo>
                                    <a:pt x="65" y="79"/>
                                  </a:lnTo>
                                  <a:lnTo>
                                    <a:pt x="0" y="17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9F7F5F"/>
                            </a:solidFill>
                            <a:ln w="6350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  <p:grpSp>
                          <p:nvGrpSpPr>
                            <p:cNvPr id="351" name="Group 141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1835" y="1835"/>
                              <a:ext cx="27" cy="110"/>
                              <a:chOff x="1835" y="1835"/>
                              <a:chExt cx="27" cy="110"/>
                            </a:xfrm>
                          </p:grpSpPr>
                          <p:sp>
                            <p:nvSpPr>
                              <p:cNvPr id="352" name="Freeform 142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1853" y="1835"/>
                                <a:ext cx="6" cy="26"/>
                              </a:xfrm>
                              <a:custGeom>
                                <a:avLst/>
                                <a:gdLst>
                                  <a:gd name="T0" fmla="*/ 0 w 14"/>
                                  <a:gd name="T1" fmla="*/ 0 h 52"/>
                                  <a:gd name="T2" fmla="*/ 14 w 14"/>
                                  <a:gd name="T3" fmla="*/ 33 h 52"/>
                                  <a:gd name="T4" fmla="*/ 13 w 14"/>
                                  <a:gd name="T5" fmla="*/ 52 h 52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</a:cxnLst>
                                <a:rect l="0" t="0" r="r" b="b"/>
                                <a:pathLst>
                                  <a:path w="14" h="52">
                                    <a:moveTo>
                                      <a:pt x="0" y="0"/>
                                    </a:moveTo>
                                    <a:lnTo>
                                      <a:pt x="14" y="33"/>
                                    </a:lnTo>
                                    <a:lnTo>
                                      <a:pt x="13" y="52"/>
                                    </a:lnTo>
                                  </a:path>
                                </a:pathLst>
                              </a:custGeom>
                              <a:noFill/>
                              <a:ln w="635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1800"/>
                              </a:p>
                            </p:txBody>
                          </p:sp>
                          <p:sp>
                            <p:nvSpPr>
                              <p:cNvPr id="353" name="Line 143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1839" y="1868"/>
                                <a:ext cx="19" cy="4"/>
                              </a:xfrm>
                              <a:prstGeom prst="line">
                                <a:avLst/>
                              </a:prstGeom>
                              <a:noFill/>
                              <a:ln w="635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1800"/>
                              </a:p>
                            </p:txBody>
                          </p:sp>
                          <p:sp>
                            <p:nvSpPr>
                              <p:cNvPr id="354" name="Freeform 144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1842" y="1876"/>
                                <a:ext cx="19" cy="9"/>
                              </a:xfrm>
                              <a:custGeom>
                                <a:avLst/>
                                <a:gdLst>
                                  <a:gd name="T0" fmla="*/ 36 w 36"/>
                                  <a:gd name="T1" fmla="*/ 4 h 19"/>
                                  <a:gd name="T2" fmla="*/ 18 w 36"/>
                                  <a:gd name="T3" fmla="*/ 0 h 19"/>
                                  <a:gd name="T4" fmla="*/ 0 w 36"/>
                                  <a:gd name="T5" fmla="*/ 19 h 19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</a:cxnLst>
                                <a:rect l="0" t="0" r="r" b="b"/>
                                <a:pathLst>
                                  <a:path w="36" h="19">
                                    <a:moveTo>
                                      <a:pt x="36" y="4"/>
                                    </a:moveTo>
                                    <a:lnTo>
                                      <a:pt x="18" y="0"/>
                                    </a:lnTo>
                                    <a:lnTo>
                                      <a:pt x="0" y="19"/>
                                    </a:lnTo>
                                  </a:path>
                                </a:pathLst>
                              </a:custGeom>
                              <a:noFill/>
                              <a:ln w="635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1800"/>
                              </a:p>
                            </p:txBody>
                          </p:sp>
                          <p:sp>
                            <p:nvSpPr>
                              <p:cNvPr id="355" name="Line 145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>
                                <a:off x="1854" y="1898"/>
                                <a:ext cx="8" cy="20"/>
                              </a:xfrm>
                              <a:prstGeom prst="line">
                                <a:avLst/>
                              </a:prstGeom>
                              <a:noFill/>
                              <a:ln w="635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1800"/>
                              </a:p>
                            </p:txBody>
                          </p:sp>
                          <p:sp>
                            <p:nvSpPr>
                              <p:cNvPr id="356" name="Line 146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>
                                <a:off x="1835" y="1931"/>
                                <a:ext cx="9" cy="14"/>
                              </a:xfrm>
                              <a:prstGeom prst="line">
                                <a:avLst/>
                              </a:prstGeom>
                              <a:noFill/>
                              <a:ln w="635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1800"/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349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735" y="1815"/>
                            <a:ext cx="112" cy="82"/>
                          </a:xfrm>
                          <a:custGeom>
                            <a:avLst/>
                            <a:gdLst>
                              <a:gd name="T0" fmla="*/ 0 w 223"/>
                              <a:gd name="T1" fmla="*/ 0 h 165"/>
                              <a:gd name="T2" fmla="*/ 49 w 223"/>
                              <a:gd name="T3" fmla="*/ 14 h 165"/>
                              <a:gd name="T4" fmla="*/ 84 w 223"/>
                              <a:gd name="T5" fmla="*/ 36 h 165"/>
                              <a:gd name="T6" fmla="*/ 92 w 223"/>
                              <a:gd name="T7" fmla="*/ 51 h 165"/>
                              <a:gd name="T8" fmla="*/ 97 w 223"/>
                              <a:gd name="T9" fmla="*/ 67 h 165"/>
                              <a:gd name="T10" fmla="*/ 113 w 223"/>
                              <a:gd name="T11" fmla="*/ 64 h 165"/>
                              <a:gd name="T12" fmla="*/ 129 w 223"/>
                              <a:gd name="T13" fmla="*/ 65 h 165"/>
                              <a:gd name="T14" fmla="*/ 174 w 223"/>
                              <a:gd name="T15" fmla="*/ 87 h 165"/>
                              <a:gd name="T16" fmla="*/ 181 w 223"/>
                              <a:gd name="T17" fmla="*/ 81 h 165"/>
                              <a:gd name="T18" fmla="*/ 192 w 223"/>
                              <a:gd name="T19" fmla="*/ 105 h 165"/>
                              <a:gd name="T20" fmla="*/ 208 w 223"/>
                              <a:gd name="T21" fmla="*/ 110 h 165"/>
                              <a:gd name="T22" fmla="*/ 223 w 223"/>
                              <a:gd name="T23" fmla="*/ 103 h 165"/>
                              <a:gd name="T24" fmla="*/ 221 w 223"/>
                              <a:gd name="T25" fmla="*/ 141 h 165"/>
                              <a:gd name="T26" fmla="*/ 195 w 223"/>
                              <a:gd name="T27" fmla="*/ 165 h 165"/>
                              <a:gd name="T28" fmla="*/ 113 w 223"/>
                              <a:gd name="T29" fmla="*/ 130 h 165"/>
                              <a:gd name="T30" fmla="*/ 21 w 223"/>
                              <a:gd name="T31" fmla="*/ 59 h 165"/>
                              <a:gd name="T32" fmla="*/ 0 w 223"/>
                              <a:gd name="T33" fmla="*/ 0 h 16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</a:cxnLst>
                            <a:rect l="0" t="0" r="r" b="b"/>
                            <a:pathLst>
                              <a:path w="223" h="165">
                                <a:moveTo>
                                  <a:pt x="0" y="0"/>
                                </a:moveTo>
                                <a:lnTo>
                                  <a:pt x="49" y="14"/>
                                </a:lnTo>
                                <a:lnTo>
                                  <a:pt x="84" y="36"/>
                                </a:lnTo>
                                <a:lnTo>
                                  <a:pt x="92" y="51"/>
                                </a:lnTo>
                                <a:lnTo>
                                  <a:pt x="97" y="67"/>
                                </a:lnTo>
                                <a:lnTo>
                                  <a:pt x="113" y="64"/>
                                </a:lnTo>
                                <a:lnTo>
                                  <a:pt x="129" y="65"/>
                                </a:lnTo>
                                <a:lnTo>
                                  <a:pt x="174" y="87"/>
                                </a:lnTo>
                                <a:lnTo>
                                  <a:pt x="181" y="81"/>
                                </a:lnTo>
                                <a:lnTo>
                                  <a:pt x="192" y="105"/>
                                </a:lnTo>
                                <a:lnTo>
                                  <a:pt x="208" y="110"/>
                                </a:lnTo>
                                <a:lnTo>
                                  <a:pt x="223" y="103"/>
                                </a:lnTo>
                                <a:lnTo>
                                  <a:pt x="221" y="141"/>
                                </a:lnTo>
                                <a:lnTo>
                                  <a:pt x="195" y="165"/>
                                </a:lnTo>
                                <a:lnTo>
                                  <a:pt x="113" y="130"/>
                                </a:lnTo>
                                <a:lnTo>
                                  <a:pt x="21" y="59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7F7F9F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sp>
                      <p:nvSpPr>
                        <p:cNvPr id="347" name="Freeform 14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98" y="1814"/>
                          <a:ext cx="143" cy="125"/>
                        </a:xfrm>
                        <a:custGeom>
                          <a:avLst/>
                          <a:gdLst>
                            <a:gd name="T0" fmla="*/ 0 w 286"/>
                            <a:gd name="T1" fmla="*/ 46 h 250"/>
                            <a:gd name="T2" fmla="*/ 37 w 286"/>
                            <a:gd name="T3" fmla="*/ 19 h 250"/>
                            <a:gd name="T4" fmla="*/ 91 w 286"/>
                            <a:gd name="T5" fmla="*/ 0 h 250"/>
                            <a:gd name="T6" fmla="*/ 99 w 286"/>
                            <a:gd name="T7" fmla="*/ 8 h 250"/>
                            <a:gd name="T8" fmla="*/ 97 w 286"/>
                            <a:gd name="T9" fmla="*/ 16 h 250"/>
                            <a:gd name="T10" fmla="*/ 117 w 286"/>
                            <a:gd name="T11" fmla="*/ 31 h 250"/>
                            <a:gd name="T12" fmla="*/ 124 w 286"/>
                            <a:gd name="T13" fmla="*/ 43 h 250"/>
                            <a:gd name="T14" fmla="*/ 142 w 286"/>
                            <a:gd name="T15" fmla="*/ 78 h 250"/>
                            <a:gd name="T16" fmla="*/ 170 w 286"/>
                            <a:gd name="T17" fmla="*/ 86 h 250"/>
                            <a:gd name="T18" fmla="*/ 199 w 286"/>
                            <a:gd name="T19" fmla="*/ 107 h 250"/>
                            <a:gd name="T20" fmla="*/ 233 w 286"/>
                            <a:gd name="T21" fmla="*/ 141 h 250"/>
                            <a:gd name="T22" fmla="*/ 271 w 286"/>
                            <a:gd name="T23" fmla="*/ 158 h 250"/>
                            <a:gd name="T24" fmla="*/ 286 w 286"/>
                            <a:gd name="T25" fmla="*/ 164 h 250"/>
                            <a:gd name="T26" fmla="*/ 269 w 286"/>
                            <a:gd name="T27" fmla="*/ 180 h 250"/>
                            <a:gd name="T28" fmla="*/ 250 w 286"/>
                            <a:gd name="T29" fmla="*/ 190 h 250"/>
                            <a:gd name="T30" fmla="*/ 244 w 286"/>
                            <a:gd name="T31" fmla="*/ 198 h 250"/>
                            <a:gd name="T32" fmla="*/ 237 w 286"/>
                            <a:gd name="T33" fmla="*/ 214 h 250"/>
                            <a:gd name="T34" fmla="*/ 223 w 286"/>
                            <a:gd name="T35" fmla="*/ 231 h 250"/>
                            <a:gd name="T36" fmla="*/ 205 w 286"/>
                            <a:gd name="T37" fmla="*/ 250 h 250"/>
                            <a:gd name="T38" fmla="*/ 189 w 286"/>
                            <a:gd name="T39" fmla="*/ 226 h 250"/>
                            <a:gd name="T40" fmla="*/ 166 w 286"/>
                            <a:gd name="T41" fmla="*/ 185 h 250"/>
                            <a:gd name="T42" fmla="*/ 157 w 286"/>
                            <a:gd name="T43" fmla="*/ 173 h 250"/>
                            <a:gd name="T44" fmla="*/ 140 w 286"/>
                            <a:gd name="T45" fmla="*/ 161 h 250"/>
                            <a:gd name="T46" fmla="*/ 139 w 286"/>
                            <a:gd name="T47" fmla="*/ 150 h 250"/>
                            <a:gd name="T48" fmla="*/ 136 w 286"/>
                            <a:gd name="T49" fmla="*/ 132 h 250"/>
                            <a:gd name="T50" fmla="*/ 123 w 286"/>
                            <a:gd name="T51" fmla="*/ 122 h 250"/>
                            <a:gd name="T52" fmla="*/ 103 w 286"/>
                            <a:gd name="T53" fmla="*/ 105 h 250"/>
                            <a:gd name="T54" fmla="*/ 78 w 286"/>
                            <a:gd name="T55" fmla="*/ 98 h 250"/>
                            <a:gd name="T56" fmla="*/ 62 w 286"/>
                            <a:gd name="T57" fmla="*/ 96 h 250"/>
                            <a:gd name="T58" fmla="*/ 45 w 286"/>
                            <a:gd name="T59" fmla="*/ 98 h 250"/>
                            <a:gd name="T60" fmla="*/ 32 w 286"/>
                            <a:gd name="T61" fmla="*/ 96 h 250"/>
                            <a:gd name="T62" fmla="*/ 17 w 286"/>
                            <a:gd name="T63" fmla="*/ 90 h 250"/>
                            <a:gd name="T64" fmla="*/ 10 w 286"/>
                            <a:gd name="T65" fmla="*/ 82 h 250"/>
                            <a:gd name="T66" fmla="*/ 3 w 286"/>
                            <a:gd name="T67" fmla="*/ 61 h 250"/>
                            <a:gd name="T68" fmla="*/ 0 w 286"/>
                            <a:gd name="T69" fmla="*/ 46 h 25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</a:cxnLst>
                          <a:rect l="0" t="0" r="r" b="b"/>
                          <a:pathLst>
                            <a:path w="286" h="250">
                              <a:moveTo>
                                <a:pt x="0" y="46"/>
                              </a:moveTo>
                              <a:lnTo>
                                <a:pt x="37" y="19"/>
                              </a:lnTo>
                              <a:lnTo>
                                <a:pt x="91" y="0"/>
                              </a:lnTo>
                              <a:lnTo>
                                <a:pt x="99" y="8"/>
                              </a:lnTo>
                              <a:lnTo>
                                <a:pt x="97" y="16"/>
                              </a:lnTo>
                              <a:lnTo>
                                <a:pt x="117" y="31"/>
                              </a:lnTo>
                              <a:lnTo>
                                <a:pt x="124" y="43"/>
                              </a:lnTo>
                              <a:lnTo>
                                <a:pt x="142" y="78"/>
                              </a:lnTo>
                              <a:lnTo>
                                <a:pt x="170" y="86"/>
                              </a:lnTo>
                              <a:lnTo>
                                <a:pt x="199" y="107"/>
                              </a:lnTo>
                              <a:lnTo>
                                <a:pt x="233" y="141"/>
                              </a:lnTo>
                              <a:lnTo>
                                <a:pt x="271" y="158"/>
                              </a:lnTo>
                              <a:lnTo>
                                <a:pt x="286" y="164"/>
                              </a:lnTo>
                              <a:lnTo>
                                <a:pt x="269" y="180"/>
                              </a:lnTo>
                              <a:lnTo>
                                <a:pt x="250" y="190"/>
                              </a:lnTo>
                              <a:lnTo>
                                <a:pt x="244" y="198"/>
                              </a:lnTo>
                              <a:lnTo>
                                <a:pt x="237" y="214"/>
                              </a:lnTo>
                              <a:lnTo>
                                <a:pt x="223" y="231"/>
                              </a:lnTo>
                              <a:lnTo>
                                <a:pt x="205" y="250"/>
                              </a:lnTo>
                              <a:lnTo>
                                <a:pt x="189" y="226"/>
                              </a:lnTo>
                              <a:lnTo>
                                <a:pt x="166" y="185"/>
                              </a:lnTo>
                              <a:lnTo>
                                <a:pt x="157" y="173"/>
                              </a:lnTo>
                              <a:lnTo>
                                <a:pt x="140" y="161"/>
                              </a:lnTo>
                              <a:lnTo>
                                <a:pt x="139" y="150"/>
                              </a:lnTo>
                              <a:lnTo>
                                <a:pt x="136" y="132"/>
                              </a:lnTo>
                              <a:lnTo>
                                <a:pt x="123" y="122"/>
                              </a:lnTo>
                              <a:lnTo>
                                <a:pt x="103" y="105"/>
                              </a:lnTo>
                              <a:lnTo>
                                <a:pt x="78" y="98"/>
                              </a:lnTo>
                              <a:lnTo>
                                <a:pt x="62" y="96"/>
                              </a:lnTo>
                              <a:lnTo>
                                <a:pt x="45" y="98"/>
                              </a:lnTo>
                              <a:lnTo>
                                <a:pt x="32" y="96"/>
                              </a:lnTo>
                              <a:lnTo>
                                <a:pt x="17" y="90"/>
                              </a:lnTo>
                              <a:lnTo>
                                <a:pt x="10" y="82"/>
                              </a:lnTo>
                              <a:lnTo>
                                <a:pt x="3" y="61"/>
                              </a:lnTo>
                              <a:lnTo>
                                <a:pt x="0" y="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9F9FBF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</p:grpSp>
                <p:grpSp>
                  <p:nvGrpSpPr>
                    <p:cNvPr id="341" name="Group 14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74" y="1751"/>
                      <a:ext cx="78" cy="88"/>
                      <a:chOff x="1674" y="1751"/>
                      <a:chExt cx="78" cy="88"/>
                    </a:xfrm>
                  </p:grpSpPr>
                  <p:sp>
                    <p:nvSpPr>
                      <p:cNvPr id="342" name="Freeform 1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74" y="1751"/>
                        <a:ext cx="78" cy="88"/>
                      </a:xfrm>
                      <a:custGeom>
                        <a:avLst/>
                        <a:gdLst>
                          <a:gd name="T0" fmla="*/ 12 w 155"/>
                          <a:gd name="T1" fmla="*/ 0 h 174"/>
                          <a:gd name="T2" fmla="*/ 56 w 155"/>
                          <a:gd name="T3" fmla="*/ 6 h 174"/>
                          <a:gd name="T4" fmla="*/ 67 w 155"/>
                          <a:gd name="T5" fmla="*/ 11 h 174"/>
                          <a:gd name="T6" fmla="*/ 86 w 155"/>
                          <a:gd name="T7" fmla="*/ 7 h 174"/>
                          <a:gd name="T8" fmla="*/ 90 w 155"/>
                          <a:gd name="T9" fmla="*/ 35 h 174"/>
                          <a:gd name="T10" fmla="*/ 102 w 155"/>
                          <a:gd name="T11" fmla="*/ 32 h 174"/>
                          <a:gd name="T12" fmla="*/ 119 w 155"/>
                          <a:gd name="T13" fmla="*/ 34 h 174"/>
                          <a:gd name="T14" fmla="*/ 143 w 155"/>
                          <a:gd name="T15" fmla="*/ 40 h 174"/>
                          <a:gd name="T16" fmla="*/ 155 w 155"/>
                          <a:gd name="T17" fmla="*/ 46 h 174"/>
                          <a:gd name="T18" fmla="*/ 145 w 155"/>
                          <a:gd name="T19" fmla="*/ 81 h 174"/>
                          <a:gd name="T20" fmla="*/ 107 w 155"/>
                          <a:gd name="T21" fmla="*/ 86 h 174"/>
                          <a:gd name="T22" fmla="*/ 96 w 155"/>
                          <a:gd name="T23" fmla="*/ 99 h 174"/>
                          <a:gd name="T24" fmla="*/ 151 w 155"/>
                          <a:gd name="T25" fmla="*/ 126 h 174"/>
                          <a:gd name="T26" fmla="*/ 139 w 155"/>
                          <a:gd name="T27" fmla="*/ 148 h 174"/>
                          <a:gd name="T28" fmla="*/ 115 w 155"/>
                          <a:gd name="T29" fmla="*/ 158 h 174"/>
                          <a:gd name="T30" fmla="*/ 96 w 155"/>
                          <a:gd name="T31" fmla="*/ 154 h 174"/>
                          <a:gd name="T32" fmla="*/ 81 w 155"/>
                          <a:gd name="T33" fmla="*/ 166 h 174"/>
                          <a:gd name="T34" fmla="*/ 53 w 155"/>
                          <a:gd name="T35" fmla="*/ 173 h 174"/>
                          <a:gd name="T36" fmla="*/ 30 w 155"/>
                          <a:gd name="T37" fmla="*/ 174 h 174"/>
                          <a:gd name="T38" fmla="*/ 36 w 155"/>
                          <a:gd name="T39" fmla="*/ 149 h 174"/>
                          <a:gd name="T40" fmla="*/ 19 w 155"/>
                          <a:gd name="T41" fmla="*/ 118 h 174"/>
                          <a:gd name="T42" fmla="*/ 6 w 155"/>
                          <a:gd name="T43" fmla="*/ 83 h 174"/>
                          <a:gd name="T44" fmla="*/ 0 w 155"/>
                          <a:gd name="T45" fmla="*/ 63 h 174"/>
                          <a:gd name="T46" fmla="*/ 8 w 155"/>
                          <a:gd name="T47" fmla="*/ 52 h 174"/>
                          <a:gd name="T48" fmla="*/ 15 w 155"/>
                          <a:gd name="T49" fmla="*/ 41 h 174"/>
                          <a:gd name="T50" fmla="*/ 12 w 155"/>
                          <a:gd name="T51" fmla="*/ 0 h 17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</a:cxnLst>
                        <a:rect l="0" t="0" r="r" b="b"/>
                        <a:pathLst>
                          <a:path w="155" h="174">
                            <a:moveTo>
                              <a:pt x="12" y="0"/>
                            </a:moveTo>
                            <a:lnTo>
                              <a:pt x="56" y="6"/>
                            </a:lnTo>
                            <a:lnTo>
                              <a:pt x="67" y="11"/>
                            </a:lnTo>
                            <a:lnTo>
                              <a:pt x="86" y="7"/>
                            </a:lnTo>
                            <a:lnTo>
                              <a:pt x="90" y="35"/>
                            </a:lnTo>
                            <a:lnTo>
                              <a:pt x="102" y="32"/>
                            </a:lnTo>
                            <a:lnTo>
                              <a:pt x="119" y="34"/>
                            </a:lnTo>
                            <a:lnTo>
                              <a:pt x="143" y="40"/>
                            </a:lnTo>
                            <a:lnTo>
                              <a:pt x="155" y="46"/>
                            </a:lnTo>
                            <a:lnTo>
                              <a:pt x="145" y="81"/>
                            </a:lnTo>
                            <a:lnTo>
                              <a:pt x="107" y="86"/>
                            </a:lnTo>
                            <a:lnTo>
                              <a:pt x="96" y="99"/>
                            </a:lnTo>
                            <a:lnTo>
                              <a:pt x="151" y="126"/>
                            </a:lnTo>
                            <a:lnTo>
                              <a:pt x="139" y="148"/>
                            </a:lnTo>
                            <a:lnTo>
                              <a:pt x="115" y="158"/>
                            </a:lnTo>
                            <a:lnTo>
                              <a:pt x="96" y="154"/>
                            </a:lnTo>
                            <a:lnTo>
                              <a:pt x="81" y="166"/>
                            </a:lnTo>
                            <a:lnTo>
                              <a:pt x="53" y="173"/>
                            </a:lnTo>
                            <a:lnTo>
                              <a:pt x="30" y="174"/>
                            </a:lnTo>
                            <a:lnTo>
                              <a:pt x="36" y="149"/>
                            </a:lnTo>
                            <a:lnTo>
                              <a:pt x="19" y="118"/>
                            </a:lnTo>
                            <a:lnTo>
                              <a:pt x="6" y="83"/>
                            </a:lnTo>
                            <a:lnTo>
                              <a:pt x="0" y="63"/>
                            </a:lnTo>
                            <a:lnTo>
                              <a:pt x="8" y="52"/>
                            </a:lnTo>
                            <a:lnTo>
                              <a:pt x="15" y="41"/>
                            </a:lnTo>
                            <a:lnTo>
                              <a:pt x="12" y="0"/>
                            </a:lnTo>
                            <a:close/>
                          </a:path>
                        </a:pathLst>
                      </a:custGeom>
                      <a:solidFill>
                        <a:srgbClr val="007F9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343" name="Freeform 1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89" y="1774"/>
                        <a:ext cx="41" cy="42"/>
                      </a:xfrm>
                      <a:custGeom>
                        <a:avLst/>
                        <a:gdLst>
                          <a:gd name="T0" fmla="*/ 0 w 83"/>
                          <a:gd name="T1" fmla="*/ 17 h 82"/>
                          <a:gd name="T2" fmla="*/ 11 w 83"/>
                          <a:gd name="T3" fmla="*/ 53 h 82"/>
                          <a:gd name="T4" fmla="*/ 22 w 83"/>
                          <a:gd name="T5" fmla="*/ 60 h 82"/>
                          <a:gd name="T6" fmla="*/ 29 w 83"/>
                          <a:gd name="T7" fmla="*/ 82 h 82"/>
                          <a:gd name="T8" fmla="*/ 62 w 83"/>
                          <a:gd name="T9" fmla="*/ 59 h 82"/>
                          <a:gd name="T10" fmla="*/ 83 w 83"/>
                          <a:gd name="T11" fmla="*/ 31 h 82"/>
                          <a:gd name="T12" fmla="*/ 50 w 83"/>
                          <a:gd name="T13" fmla="*/ 0 h 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3" h="82">
                            <a:moveTo>
                              <a:pt x="0" y="17"/>
                            </a:moveTo>
                            <a:lnTo>
                              <a:pt x="11" y="53"/>
                            </a:lnTo>
                            <a:lnTo>
                              <a:pt x="22" y="60"/>
                            </a:lnTo>
                            <a:lnTo>
                              <a:pt x="29" y="82"/>
                            </a:lnTo>
                            <a:lnTo>
                              <a:pt x="62" y="59"/>
                            </a:lnTo>
                            <a:lnTo>
                              <a:pt x="83" y="31"/>
                            </a:lnTo>
                            <a:lnTo>
                              <a:pt x="50" y="0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</p:grpSp>
              <p:grpSp>
                <p:nvGrpSpPr>
                  <p:cNvPr id="331" name="Group 152"/>
                  <p:cNvGrpSpPr>
                    <a:grpSpLocks/>
                  </p:cNvGrpSpPr>
                  <p:nvPr/>
                </p:nvGrpSpPr>
                <p:grpSpPr bwMode="auto">
                  <a:xfrm>
                    <a:off x="1722" y="1767"/>
                    <a:ext cx="129" cy="51"/>
                    <a:chOff x="1722" y="1767"/>
                    <a:chExt cx="129" cy="51"/>
                  </a:xfrm>
                </p:grpSpPr>
                <p:grpSp>
                  <p:nvGrpSpPr>
                    <p:cNvPr id="332" name="Group 15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22" y="1780"/>
                      <a:ext cx="80" cy="38"/>
                      <a:chOff x="1722" y="1780"/>
                      <a:chExt cx="80" cy="38"/>
                    </a:xfrm>
                  </p:grpSpPr>
                  <p:sp>
                    <p:nvSpPr>
                      <p:cNvPr id="338" name="Freeform 15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45" y="1780"/>
                        <a:ext cx="26" cy="16"/>
                      </a:xfrm>
                      <a:custGeom>
                        <a:avLst/>
                        <a:gdLst>
                          <a:gd name="T0" fmla="*/ 9 w 52"/>
                          <a:gd name="T1" fmla="*/ 0 h 30"/>
                          <a:gd name="T2" fmla="*/ 52 w 52"/>
                          <a:gd name="T3" fmla="*/ 14 h 30"/>
                          <a:gd name="T4" fmla="*/ 41 w 52"/>
                          <a:gd name="T5" fmla="*/ 30 h 30"/>
                          <a:gd name="T6" fmla="*/ 0 w 52"/>
                          <a:gd name="T7" fmla="*/ 30 h 30"/>
                          <a:gd name="T8" fmla="*/ 9 w 52"/>
                          <a:gd name="T9" fmla="*/ 0 h 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52" h="30">
                            <a:moveTo>
                              <a:pt x="9" y="0"/>
                            </a:moveTo>
                            <a:lnTo>
                              <a:pt x="52" y="14"/>
                            </a:lnTo>
                            <a:lnTo>
                              <a:pt x="41" y="30"/>
                            </a:lnTo>
                            <a:lnTo>
                              <a:pt x="0" y="30"/>
                            </a:lnTo>
                            <a:lnTo>
                              <a:pt x="9" y="0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339" name="Freeform 15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2" y="1782"/>
                        <a:ext cx="80" cy="36"/>
                      </a:xfrm>
                      <a:custGeom>
                        <a:avLst/>
                        <a:gdLst>
                          <a:gd name="T0" fmla="*/ 17 w 160"/>
                          <a:gd name="T1" fmla="*/ 17 h 73"/>
                          <a:gd name="T2" fmla="*/ 0 w 160"/>
                          <a:gd name="T3" fmla="*/ 40 h 73"/>
                          <a:gd name="T4" fmla="*/ 42 w 160"/>
                          <a:gd name="T5" fmla="*/ 62 h 73"/>
                          <a:gd name="T6" fmla="*/ 53 w 160"/>
                          <a:gd name="T7" fmla="*/ 57 h 73"/>
                          <a:gd name="T8" fmla="*/ 69 w 160"/>
                          <a:gd name="T9" fmla="*/ 71 h 73"/>
                          <a:gd name="T10" fmla="*/ 80 w 160"/>
                          <a:gd name="T11" fmla="*/ 58 h 73"/>
                          <a:gd name="T12" fmla="*/ 91 w 160"/>
                          <a:gd name="T13" fmla="*/ 71 h 73"/>
                          <a:gd name="T14" fmla="*/ 104 w 160"/>
                          <a:gd name="T15" fmla="*/ 73 h 73"/>
                          <a:gd name="T16" fmla="*/ 116 w 160"/>
                          <a:gd name="T17" fmla="*/ 68 h 73"/>
                          <a:gd name="T18" fmla="*/ 111 w 160"/>
                          <a:gd name="T19" fmla="*/ 40 h 73"/>
                          <a:gd name="T20" fmla="*/ 136 w 160"/>
                          <a:gd name="T21" fmla="*/ 54 h 73"/>
                          <a:gd name="T22" fmla="*/ 151 w 160"/>
                          <a:gd name="T23" fmla="*/ 61 h 73"/>
                          <a:gd name="T24" fmla="*/ 157 w 160"/>
                          <a:gd name="T25" fmla="*/ 60 h 73"/>
                          <a:gd name="T26" fmla="*/ 160 w 160"/>
                          <a:gd name="T27" fmla="*/ 51 h 73"/>
                          <a:gd name="T28" fmla="*/ 139 w 160"/>
                          <a:gd name="T29" fmla="*/ 32 h 73"/>
                          <a:gd name="T30" fmla="*/ 134 w 160"/>
                          <a:gd name="T31" fmla="*/ 14 h 73"/>
                          <a:gd name="T32" fmla="*/ 127 w 160"/>
                          <a:gd name="T33" fmla="*/ 3 h 73"/>
                          <a:gd name="T34" fmla="*/ 109 w 160"/>
                          <a:gd name="T35" fmla="*/ 0 h 73"/>
                          <a:gd name="T36" fmla="*/ 90 w 160"/>
                          <a:gd name="T37" fmla="*/ 5 h 73"/>
                          <a:gd name="T38" fmla="*/ 74 w 160"/>
                          <a:gd name="T39" fmla="*/ 20 h 73"/>
                          <a:gd name="T40" fmla="*/ 47 w 160"/>
                          <a:gd name="T41" fmla="*/ 16 h 73"/>
                          <a:gd name="T42" fmla="*/ 17 w 160"/>
                          <a:gd name="T43" fmla="*/ 17 h 7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160" h="73">
                            <a:moveTo>
                              <a:pt x="17" y="17"/>
                            </a:moveTo>
                            <a:lnTo>
                              <a:pt x="0" y="40"/>
                            </a:lnTo>
                            <a:lnTo>
                              <a:pt x="42" y="62"/>
                            </a:lnTo>
                            <a:lnTo>
                              <a:pt x="53" y="57"/>
                            </a:lnTo>
                            <a:lnTo>
                              <a:pt x="69" y="71"/>
                            </a:lnTo>
                            <a:lnTo>
                              <a:pt x="80" y="58"/>
                            </a:lnTo>
                            <a:lnTo>
                              <a:pt x="91" y="71"/>
                            </a:lnTo>
                            <a:lnTo>
                              <a:pt x="104" y="73"/>
                            </a:lnTo>
                            <a:lnTo>
                              <a:pt x="116" y="68"/>
                            </a:lnTo>
                            <a:lnTo>
                              <a:pt x="111" y="40"/>
                            </a:lnTo>
                            <a:lnTo>
                              <a:pt x="136" y="54"/>
                            </a:lnTo>
                            <a:lnTo>
                              <a:pt x="151" y="61"/>
                            </a:lnTo>
                            <a:lnTo>
                              <a:pt x="157" y="60"/>
                            </a:lnTo>
                            <a:lnTo>
                              <a:pt x="160" y="51"/>
                            </a:lnTo>
                            <a:lnTo>
                              <a:pt x="139" y="32"/>
                            </a:lnTo>
                            <a:lnTo>
                              <a:pt x="134" y="14"/>
                            </a:lnTo>
                            <a:lnTo>
                              <a:pt x="127" y="3"/>
                            </a:lnTo>
                            <a:lnTo>
                              <a:pt x="109" y="0"/>
                            </a:lnTo>
                            <a:lnTo>
                              <a:pt x="90" y="5"/>
                            </a:lnTo>
                            <a:lnTo>
                              <a:pt x="74" y="20"/>
                            </a:lnTo>
                            <a:lnTo>
                              <a:pt x="47" y="16"/>
                            </a:lnTo>
                            <a:lnTo>
                              <a:pt x="17" y="17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grpSp>
                  <p:nvGrpSpPr>
                    <p:cNvPr id="333" name="Group 15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2" y="1767"/>
                      <a:ext cx="49" cy="46"/>
                      <a:chOff x="1802" y="1767"/>
                      <a:chExt cx="49" cy="46"/>
                    </a:xfrm>
                  </p:grpSpPr>
                  <p:sp>
                    <p:nvSpPr>
                      <p:cNvPr id="334" name="Freeform 15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02" y="1787"/>
                        <a:ext cx="16" cy="26"/>
                      </a:xfrm>
                      <a:custGeom>
                        <a:avLst/>
                        <a:gdLst>
                          <a:gd name="T0" fmla="*/ 7 w 31"/>
                          <a:gd name="T1" fmla="*/ 0 h 51"/>
                          <a:gd name="T2" fmla="*/ 18 w 31"/>
                          <a:gd name="T3" fmla="*/ 3 h 51"/>
                          <a:gd name="T4" fmla="*/ 24 w 31"/>
                          <a:gd name="T5" fmla="*/ 7 h 51"/>
                          <a:gd name="T6" fmla="*/ 26 w 31"/>
                          <a:gd name="T7" fmla="*/ 24 h 51"/>
                          <a:gd name="T8" fmla="*/ 31 w 31"/>
                          <a:gd name="T9" fmla="*/ 44 h 51"/>
                          <a:gd name="T10" fmla="*/ 25 w 31"/>
                          <a:gd name="T11" fmla="*/ 49 h 51"/>
                          <a:gd name="T12" fmla="*/ 15 w 31"/>
                          <a:gd name="T13" fmla="*/ 51 h 51"/>
                          <a:gd name="T14" fmla="*/ 8 w 31"/>
                          <a:gd name="T15" fmla="*/ 50 h 51"/>
                          <a:gd name="T16" fmla="*/ 0 w 31"/>
                          <a:gd name="T17" fmla="*/ 40 h 51"/>
                          <a:gd name="T18" fmla="*/ 2 w 31"/>
                          <a:gd name="T19" fmla="*/ 22 h 51"/>
                          <a:gd name="T20" fmla="*/ 7 w 31"/>
                          <a:gd name="T21" fmla="*/ 0 h 5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</a:cxnLst>
                        <a:rect l="0" t="0" r="r" b="b"/>
                        <a:pathLst>
                          <a:path w="31" h="51">
                            <a:moveTo>
                              <a:pt x="7" y="0"/>
                            </a:moveTo>
                            <a:lnTo>
                              <a:pt x="18" y="3"/>
                            </a:lnTo>
                            <a:lnTo>
                              <a:pt x="24" y="7"/>
                            </a:lnTo>
                            <a:lnTo>
                              <a:pt x="26" y="24"/>
                            </a:lnTo>
                            <a:lnTo>
                              <a:pt x="31" y="44"/>
                            </a:lnTo>
                            <a:lnTo>
                              <a:pt x="25" y="49"/>
                            </a:lnTo>
                            <a:lnTo>
                              <a:pt x="15" y="51"/>
                            </a:lnTo>
                            <a:lnTo>
                              <a:pt x="8" y="50"/>
                            </a:lnTo>
                            <a:lnTo>
                              <a:pt x="0" y="40"/>
                            </a:lnTo>
                            <a:lnTo>
                              <a:pt x="2" y="22"/>
                            </a:lnTo>
                            <a:lnTo>
                              <a:pt x="7" y="0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335" name="Freeform 15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17" y="1785"/>
                        <a:ext cx="17" cy="26"/>
                      </a:xfrm>
                      <a:custGeom>
                        <a:avLst/>
                        <a:gdLst>
                          <a:gd name="T0" fmla="*/ 0 w 34"/>
                          <a:gd name="T1" fmla="*/ 4 h 54"/>
                          <a:gd name="T2" fmla="*/ 8 w 34"/>
                          <a:gd name="T3" fmla="*/ 0 h 54"/>
                          <a:gd name="T4" fmla="*/ 17 w 34"/>
                          <a:gd name="T5" fmla="*/ 2 h 54"/>
                          <a:gd name="T6" fmla="*/ 24 w 34"/>
                          <a:gd name="T7" fmla="*/ 12 h 54"/>
                          <a:gd name="T8" fmla="*/ 29 w 34"/>
                          <a:gd name="T9" fmla="*/ 23 h 54"/>
                          <a:gd name="T10" fmla="*/ 34 w 34"/>
                          <a:gd name="T11" fmla="*/ 42 h 54"/>
                          <a:gd name="T12" fmla="*/ 30 w 34"/>
                          <a:gd name="T13" fmla="*/ 49 h 54"/>
                          <a:gd name="T14" fmla="*/ 22 w 34"/>
                          <a:gd name="T15" fmla="*/ 54 h 54"/>
                          <a:gd name="T16" fmla="*/ 11 w 34"/>
                          <a:gd name="T17" fmla="*/ 52 h 54"/>
                          <a:gd name="T18" fmla="*/ 5 w 34"/>
                          <a:gd name="T19" fmla="*/ 49 h 54"/>
                          <a:gd name="T20" fmla="*/ 0 w 34"/>
                          <a:gd name="T21" fmla="*/ 28 h 54"/>
                          <a:gd name="T22" fmla="*/ 0 w 34"/>
                          <a:gd name="T23" fmla="*/ 4 h 5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</a:cxnLst>
                        <a:rect l="0" t="0" r="r" b="b"/>
                        <a:pathLst>
                          <a:path w="34" h="54">
                            <a:moveTo>
                              <a:pt x="0" y="4"/>
                            </a:moveTo>
                            <a:lnTo>
                              <a:pt x="8" y="0"/>
                            </a:lnTo>
                            <a:lnTo>
                              <a:pt x="17" y="2"/>
                            </a:lnTo>
                            <a:lnTo>
                              <a:pt x="24" y="12"/>
                            </a:lnTo>
                            <a:lnTo>
                              <a:pt x="29" y="23"/>
                            </a:lnTo>
                            <a:lnTo>
                              <a:pt x="34" y="42"/>
                            </a:lnTo>
                            <a:lnTo>
                              <a:pt x="30" y="49"/>
                            </a:lnTo>
                            <a:lnTo>
                              <a:pt x="22" y="54"/>
                            </a:lnTo>
                            <a:lnTo>
                              <a:pt x="11" y="52"/>
                            </a:lnTo>
                            <a:lnTo>
                              <a:pt x="5" y="49"/>
                            </a:lnTo>
                            <a:lnTo>
                              <a:pt x="0" y="28"/>
                            </a:lnTo>
                            <a:lnTo>
                              <a:pt x="0" y="4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336" name="Freeform 15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6" y="1767"/>
                        <a:ext cx="13" cy="20"/>
                      </a:xfrm>
                      <a:custGeom>
                        <a:avLst/>
                        <a:gdLst>
                          <a:gd name="T0" fmla="*/ 0 w 27"/>
                          <a:gd name="T1" fmla="*/ 35 h 40"/>
                          <a:gd name="T2" fmla="*/ 3 w 27"/>
                          <a:gd name="T3" fmla="*/ 5 h 40"/>
                          <a:gd name="T4" fmla="*/ 10 w 27"/>
                          <a:gd name="T5" fmla="*/ 1 h 40"/>
                          <a:gd name="T6" fmla="*/ 17 w 27"/>
                          <a:gd name="T7" fmla="*/ 0 h 40"/>
                          <a:gd name="T8" fmla="*/ 21 w 27"/>
                          <a:gd name="T9" fmla="*/ 5 h 40"/>
                          <a:gd name="T10" fmla="*/ 24 w 27"/>
                          <a:gd name="T11" fmla="*/ 22 h 40"/>
                          <a:gd name="T12" fmla="*/ 27 w 27"/>
                          <a:gd name="T13" fmla="*/ 37 h 40"/>
                          <a:gd name="T14" fmla="*/ 13 w 27"/>
                          <a:gd name="T15" fmla="*/ 40 h 40"/>
                          <a:gd name="T16" fmla="*/ 0 w 27"/>
                          <a:gd name="T17" fmla="*/ 35 h 4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</a:cxnLst>
                        <a:rect l="0" t="0" r="r" b="b"/>
                        <a:pathLst>
                          <a:path w="27" h="40">
                            <a:moveTo>
                              <a:pt x="0" y="35"/>
                            </a:moveTo>
                            <a:lnTo>
                              <a:pt x="3" y="5"/>
                            </a:lnTo>
                            <a:lnTo>
                              <a:pt x="10" y="1"/>
                            </a:lnTo>
                            <a:lnTo>
                              <a:pt x="17" y="0"/>
                            </a:lnTo>
                            <a:lnTo>
                              <a:pt x="21" y="5"/>
                            </a:lnTo>
                            <a:lnTo>
                              <a:pt x="24" y="22"/>
                            </a:lnTo>
                            <a:lnTo>
                              <a:pt x="27" y="37"/>
                            </a:lnTo>
                            <a:lnTo>
                              <a:pt x="13" y="40"/>
                            </a:lnTo>
                            <a:lnTo>
                              <a:pt x="0" y="35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337" name="Freeform 16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33" y="1786"/>
                        <a:ext cx="18" cy="20"/>
                      </a:xfrm>
                      <a:custGeom>
                        <a:avLst/>
                        <a:gdLst>
                          <a:gd name="T0" fmla="*/ 25 w 37"/>
                          <a:gd name="T1" fmla="*/ 3 h 41"/>
                          <a:gd name="T2" fmla="*/ 15 w 37"/>
                          <a:gd name="T3" fmla="*/ 1 h 41"/>
                          <a:gd name="T4" fmla="*/ 8 w 37"/>
                          <a:gd name="T5" fmla="*/ 0 h 41"/>
                          <a:gd name="T6" fmla="*/ 3 w 37"/>
                          <a:gd name="T7" fmla="*/ 5 h 41"/>
                          <a:gd name="T8" fmla="*/ 0 w 37"/>
                          <a:gd name="T9" fmla="*/ 13 h 41"/>
                          <a:gd name="T10" fmla="*/ 4 w 37"/>
                          <a:gd name="T11" fmla="*/ 28 h 41"/>
                          <a:gd name="T12" fmla="*/ 10 w 37"/>
                          <a:gd name="T13" fmla="*/ 35 h 41"/>
                          <a:gd name="T14" fmla="*/ 19 w 37"/>
                          <a:gd name="T15" fmla="*/ 41 h 41"/>
                          <a:gd name="T16" fmla="*/ 31 w 37"/>
                          <a:gd name="T17" fmla="*/ 40 h 41"/>
                          <a:gd name="T18" fmla="*/ 37 w 37"/>
                          <a:gd name="T19" fmla="*/ 33 h 41"/>
                          <a:gd name="T20" fmla="*/ 25 w 37"/>
                          <a:gd name="T21" fmla="*/ 3 h 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</a:cxnLst>
                        <a:rect l="0" t="0" r="r" b="b"/>
                        <a:pathLst>
                          <a:path w="37" h="41">
                            <a:moveTo>
                              <a:pt x="25" y="3"/>
                            </a:moveTo>
                            <a:lnTo>
                              <a:pt x="15" y="1"/>
                            </a:lnTo>
                            <a:lnTo>
                              <a:pt x="8" y="0"/>
                            </a:lnTo>
                            <a:lnTo>
                              <a:pt x="3" y="5"/>
                            </a:lnTo>
                            <a:lnTo>
                              <a:pt x="0" y="13"/>
                            </a:lnTo>
                            <a:lnTo>
                              <a:pt x="4" y="28"/>
                            </a:lnTo>
                            <a:lnTo>
                              <a:pt x="10" y="35"/>
                            </a:lnTo>
                            <a:lnTo>
                              <a:pt x="19" y="41"/>
                            </a:lnTo>
                            <a:lnTo>
                              <a:pt x="31" y="40"/>
                            </a:lnTo>
                            <a:lnTo>
                              <a:pt x="37" y="33"/>
                            </a:lnTo>
                            <a:lnTo>
                              <a:pt x="25" y="3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</p:grpSp>
            </p:grpSp>
          </p:grpSp>
        </p:grpSp>
        <p:grpSp>
          <p:nvGrpSpPr>
            <p:cNvPr id="43" name="Group 161"/>
            <p:cNvGrpSpPr>
              <a:grpSpLocks/>
            </p:cNvGrpSpPr>
            <p:nvPr/>
          </p:nvGrpSpPr>
          <p:grpSpPr bwMode="auto">
            <a:xfrm>
              <a:off x="2976" y="2160"/>
              <a:ext cx="523" cy="315"/>
              <a:chOff x="1951" y="1656"/>
              <a:chExt cx="523" cy="315"/>
            </a:xfrm>
          </p:grpSpPr>
          <p:grpSp>
            <p:nvGrpSpPr>
              <p:cNvPr id="179" name="Group 162"/>
              <p:cNvGrpSpPr>
                <a:grpSpLocks/>
              </p:cNvGrpSpPr>
              <p:nvPr/>
            </p:nvGrpSpPr>
            <p:grpSpPr bwMode="auto">
              <a:xfrm>
                <a:off x="2189" y="1716"/>
                <a:ext cx="285" cy="255"/>
                <a:chOff x="2189" y="1716"/>
                <a:chExt cx="285" cy="255"/>
              </a:xfrm>
            </p:grpSpPr>
            <p:sp>
              <p:nvSpPr>
                <p:cNvPr id="289" name="Freeform 163"/>
                <p:cNvSpPr>
                  <a:spLocks/>
                </p:cNvSpPr>
                <p:nvPr/>
              </p:nvSpPr>
              <p:spPr bwMode="auto">
                <a:xfrm>
                  <a:off x="2380" y="1862"/>
                  <a:ext cx="66" cy="33"/>
                </a:xfrm>
                <a:custGeom>
                  <a:avLst/>
                  <a:gdLst>
                    <a:gd name="T0" fmla="*/ 34 w 134"/>
                    <a:gd name="T1" fmla="*/ 0 h 67"/>
                    <a:gd name="T2" fmla="*/ 17 w 134"/>
                    <a:gd name="T3" fmla="*/ 50 h 67"/>
                    <a:gd name="T4" fmla="*/ 62 w 134"/>
                    <a:gd name="T5" fmla="*/ 22 h 67"/>
                    <a:gd name="T6" fmla="*/ 84 w 134"/>
                    <a:gd name="T7" fmla="*/ 21 h 67"/>
                    <a:gd name="T8" fmla="*/ 134 w 134"/>
                    <a:gd name="T9" fmla="*/ 56 h 67"/>
                    <a:gd name="T10" fmla="*/ 134 w 134"/>
                    <a:gd name="T11" fmla="*/ 61 h 67"/>
                    <a:gd name="T12" fmla="*/ 130 w 134"/>
                    <a:gd name="T13" fmla="*/ 64 h 67"/>
                    <a:gd name="T14" fmla="*/ 125 w 134"/>
                    <a:gd name="T15" fmla="*/ 64 h 67"/>
                    <a:gd name="T16" fmla="*/ 84 w 134"/>
                    <a:gd name="T17" fmla="*/ 35 h 67"/>
                    <a:gd name="T18" fmla="*/ 67 w 134"/>
                    <a:gd name="T19" fmla="*/ 35 h 67"/>
                    <a:gd name="T20" fmla="*/ 12 w 134"/>
                    <a:gd name="T21" fmla="*/ 67 h 67"/>
                    <a:gd name="T22" fmla="*/ 5 w 134"/>
                    <a:gd name="T23" fmla="*/ 66 h 67"/>
                    <a:gd name="T24" fmla="*/ 0 w 134"/>
                    <a:gd name="T25" fmla="*/ 62 h 67"/>
                    <a:gd name="T26" fmla="*/ 21 w 134"/>
                    <a:gd name="T27" fmla="*/ 6 h 67"/>
                    <a:gd name="T28" fmla="*/ 34 w 134"/>
                    <a:gd name="T29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34" h="67">
                      <a:moveTo>
                        <a:pt x="34" y="0"/>
                      </a:moveTo>
                      <a:lnTo>
                        <a:pt x="17" y="50"/>
                      </a:lnTo>
                      <a:lnTo>
                        <a:pt x="62" y="22"/>
                      </a:lnTo>
                      <a:lnTo>
                        <a:pt x="84" y="21"/>
                      </a:lnTo>
                      <a:lnTo>
                        <a:pt x="134" y="56"/>
                      </a:lnTo>
                      <a:lnTo>
                        <a:pt x="134" y="61"/>
                      </a:lnTo>
                      <a:lnTo>
                        <a:pt x="130" y="64"/>
                      </a:lnTo>
                      <a:lnTo>
                        <a:pt x="125" y="64"/>
                      </a:lnTo>
                      <a:lnTo>
                        <a:pt x="84" y="35"/>
                      </a:lnTo>
                      <a:lnTo>
                        <a:pt x="67" y="35"/>
                      </a:lnTo>
                      <a:lnTo>
                        <a:pt x="12" y="67"/>
                      </a:lnTo>
                      <a:lnTo>
                        <a:pt x="5" y="66"/>
                      </a:lnTo>
                      <a:lnTo>
                        <a:pt x="0" y="62"/>
                      </a:lnTo>
                      <a:lnTo>
                        <a:pt x="21" y="6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grpSp>
              <p:nvGrpSpPr>
                <p:cNvPr id="290" name="Group 164"/>
                <p:cNvGrpSpPr>
                  <a:grpSpLocks/>
                </p:cNvGrpSpPr>
                <p:nvPr/>
              </p:nvGrpSpPr>
              <p:grpSpPr bwMode="auto">
                <a:xfrm>
                  <a:off x="2189" y="1716"/>
                  <a:ext cx="285" cy="255"/>
                  <a:chOff x="2189" y="1716"/>
                  <a:chExt cx="285" cy="255"/>
                </a:xfrm>
              </p:grpSpPr>
              <p:grpSp>
                <p:nvGrpSpPr>
                  <p:cNvPr id="291" name="Group 165"/>
                  <p:cNvGrpSpPr>
                    <a:grpSpLocks/>
                  </p:cNvGrpSpPr>
                  <p:nvPr/>
                </p:nvGrpSpPr>
                <p:grpSpPr bwMode="auto">
                  <a:xfrm>
                    <a:off x="2189" y="1716"/>
                    <a:ext cx="285" cy="255"/>
                    <a:chOff x="2189" y="1716"/>
                    <a:chExt cx="285" cy="255"/>
                  </a:xfrm>
                </p:grpSpPr>
                <p:grpSp>
                  <p:nvGrpSpPr>
                    <p:cNvPr id="295" name="Group 16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62" y="1716"/>
                      <a:ext cx="112" cy="131"/>
                      <a:chOff x="2362" y="1716"/>
                      <a:chExt cx="112" cy="131"/>
                    </a:xfrm>
                  </p:grpSpPr>
                  <p:sp>
                    <p:nvSpPr>
                      <p:cNvPr id="308" name="Freeform 16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62" y="1737"/>
                        <a:ext cx="101" cy="110"/>
                      </a:xfrm>
                      <a:custGeom>
                        <a:avLst/>
                        <a:gdLst>
                          <a:gd name="T0" fmla="*/ 0 w 203"/>
                          <a:gd name="T1" fmla="*/ 186 h 219"/>
                          <a:gd name="T2" fmla="*/ 26 w 203"/>
                          <a:gd name="T3" fmla="*/ 171 h 219"/>
                          <a:gd name="T4" fmla="*/ 43 w 203"/>
                          <a:gd name="T5" fmla="*/ 159 h 219"/>
                          <a:gd name="T6" fmla="*/ 45 w 203"/>
                          <a:gd name="T7" fmla="*/ 137 h 219"/>
                          <a:gd name="T8" fmla="*/ 51 w 203"/>
                          <a:gd name="T9" fmla="*/ 115 h 219"/>
                          <a:gd name="T10" fmla="*/ 40 w 203"/>
                          <a:gd name="T11" fmla="*/ 109 h 219"/>
                          <a:gd name="T12" fmla="*/ 32 w 203"/>
                          <a:gd name="T13" fmla="*/ 98 h 219"/>
                          <a:gd name="T14" fmla="*/ 26 w 203"/>
                          <a:gd name="T15" fmla="*/ 82 h 219"/>
                          <a:gd name="T16" fmla="*/ 27 w 203"/>
                          <a:gd name="T17" fmla="*/ 64 h 219"/>
                          <a:gd name="T18" fmla="*/ 32 w 203"/>
                          <a:gd name="T19" fmla="*/ 57 h 219"/>
                          <a:gd name="T20" fmla="*/ 39 w 203"/>
                          <a:gd name="T21" fmla="*/ 51 h 219"/>
                          <a:gd name="T22" fmla="*/ 47 w 203"/>
                          <a:gd name="T23" fmla="*/ 47 h 219"/>
                          <a:gd name="T24" fmla="*/ 55 w 203"/>
                          <a:gd name="T25" fmla="*/ 51 h 219"/>
                          <a:gd name="T26" fmla="*/ 57 w 203"/>
                          <a:gd name="T27" fmla="*/ 40 h 219"/>
                          <a:gd name="T28" fmla="*/ 63 w 203"/>
                          <a:gd name="T29" fmla="*/ 33 h 219"/>
                          <a:gd name="T30" fmla="*/ 72 w 203"/>
                          <a:gd name="T31" fmla="*/ 30 h 219"/>
                          <a:gd name="T32" fmla="*/ 85 w 203"/>
                          <a:gd name="T33" fmla="*/ 24 h 219"/>
                          <a:gd name="T34" fmla="*/ 95 w 203"/>
                          <a:gd name="T35" fmla="*/ 19 h 219"/>
                          <a:gd name="T36" fmla="*/ 101 w 203"/>
                          <a:gd name="T37" fmla="*/ 11 h 219"/>
                          <a:gd name="T38" fmla="*/ 108 w 203"/>
                          <a:gd name="T39" fmla="*/ 3 h 219"/>
                          <a:gd name="T40" fmla="*/ 119 w 203"/>
                          <a:gd name="T41" fmla="*/ 0 h 219"/>
                          <a:gd name="T42" fmla="*/ 131 w 203"/>
                          <a:gd name="T43" fmla="*/ 3 h 219"/>
                          <a:gd name="T44" fmla="*/ 142 w 203"/>
                          <a:gd name="T45" fmla="*/ 8 h 219"/>
                          <a:gd name="T46" fmla="*/ 153 w 203"/>
                          <a:gd name="T47" fmla="*/ 13 h 219"/>
                          <a:gd name="T48" fmla="*/ 169 w 203"/>
                          <a:gd name="T49" fmla="*/ 16 h 219"/>
                          <a:gd name="T50" fmla="*/ 182 w 203"/>
                          <a:gd name="T51" fmla="*/ 18 h 219"/>
                          <a:gd name="T52" fmla="*/ 186 w 203"/>
                          <a:gd name="T53" fmla="*/ 22 h 219"/>
                          <a:gd name="T54" fmla="*/ 189 w 203"/>
                          <a:gd name="T55" fmla="*/ 33 h 219"/>
                          <a:gd name="T56" fmla="*/ 192 w 203"/>
                          <a:gd name="T57" fmla="*/ 48 h 219"/>
                          <a:gd name="T58" fmla="*/ 196 w 203"/>
                          <a:gd name="T59" fmla="*/ 65 h 219"/>
                          <a:gd name="T60" fmla="*/ 200 w 203"/>
                          <a:gd name="T61" fmla="*/ 81 h 219"/>
                          <a:gd name="T62" fmla="*/ 203 w 203"/>
                          <a:gd name="T63" fmla="*/ 102 h 219"/>
                          <a:gd name="T64" fmla="*/ 199 w 203"/>
                          <a:gd name="T65" fmla="*/ 121 h 219"/>
                          <a:gd name="T66" fmla="*/ 192 w 203"/>
                          <a:gd name="T67" fmla="*/ 142 h 219"/>
                          <a:gd name="T68" fmla="*/ 182 w 203"/>
                          <a:gd name="T69" fmla="*/ 155 h 219"/>
                          <a:gd name="T70" fmla="*/ 172 w 203"/>
                          <a:gd name="T71" fmla="*/ 167 h 219"/>
                          <a:gd name="T72" fmla="*/ 161 w 203"/>
                          <a:gd name="T73" fmla="*/ 177 h 219"/>
                          <a:gd name="T74" fmla="*/ 148 w 203"/>
                          <a:gd name="T75" fmla="*/ 185 h 219"/>
                          <a:gd name="T76" fmla="*/ 149 w 203"/>
                          <a:gd name="T77" fmla="*/ 193 h 219"/>
                          <a:gd name="T78" fmla="*/ 147 w 203"/>
                          <a:gd name="T79" fmla="*/ 201 h 219"/>
                          <a:gd name="T80" fmla="*/ 146 w 203"/>
                          <a:gd name="T81" fmla="*/ 207 h 219"/>
                          <a:gd name="T82" fmla="*/ 142 w 203"/>
                          <a:gd name="T83" fmla="*/ 214 h 219"/>
                          <a:gd name="T84" fmla="*/ 136 w 203"/>
                          <a:gd name="T85" fmla="*/ 218 h 219"/>
                          <a:gd name="T86" fmla="*/ 125 w 203"/>
                          <a:gd name="T87" fmla="*/ 219 h 219"/>
                          <a:gd name="T88" fmla="*/ 117 w 203"/>
                          <a:gd name="T89" fmla="*/ 217 h 219"/>
                          <a:gd name="T90" fmla="*/ 112 w 203"/>
                          <a:gd name="T91" fmla="*/ 209 h 219"/>
                          <a:gd name="T92" fmla="*/ 104 w 203"/>
                          <a:gd name="T93" fmla="*/ 200 h 219"/>
                          <a:gd name="T94" fmla="*/ 101 w 203"/>
                          <a:gd name="T95" fmla="*/ 190 h 219"/>
                          <a:gd name="T96" fmla="*/ 100 w 203"/>
                          <a:gd name="T97" fmla="*/ 180 h 219"/>
                          <a:gd name="T98" fmla="*/ 102 w 203"/>
                          <a:gd name="T99" fmla="*/ 166 h 219"/>
                          <a:gd name="T100" fmla="*/ 102 w 203"/>
                          <a:gd name="T101" fmla="*/ 156 h 219"/>
                          <a:gd name="T102" fmla="*/ 100 w 203"/>
                          <a:gd name="T103" fmla="*/ 169 h 219"/>
                          <a:gd name="T104" fmla="*/ 96 w 203"/>
                          <a:gd name="T105" fmla="*/ 186 h 219"/>
                          <a:gd name="T106" fmla="*/ 89 w 203"/>
                          <a:gd name="T107" fmla="*/ 196 h 219"/>
                          <a:gd name="T108" fmla="*/ 75 w 203"/>
                          <a:gd name="T109" fmla="*/ 207 h 219"/>
                          <a:gd name="T110" fmla="*/ 29 w 203"/>
                          <a:gd name="T111" fmla="*/ 200 h 219"/>
                          <a:gd name="T112" fmla="*/ 0 w 203"/>
                          <a:gd name="T113" fmla="*/ 186 h 21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</a:cxnLst>
                        <a:rect l="0" t="0" r="r" b="b"/>
                        <a:pathLst>
                          <a:path w="203" h="219">
                            <a:moveTo>
                              <a:pt x="0" y="186"/>
                            </a:moveTo>
                            <a:lnTo>
                              <a:pt x="26" y="171"/>
                            </a:lnTo>
                            <a:lnTo>
                              <a:pt x="43" y="159"/>
                            </a:lnTo>
                            <a:lnTo>
                              <a:pt x="45" y="137"/>
                            </a:lnTo>
                            <a:lnTo>
                              <a:pt x="51" y="115"/>
                            </a:lnTo>
                            <a:lnTo>
                              <a:pt x="40" y="109"/>
                            </a:lnTo>
                            <a:lnTo>
                              <a:pt x="32" y="98"/>
                            </a:lnTo>
                            <a:lnTo>
                              <a:pt x="26" y="82"/>
                            </a:lnTo>
                            <a:lnTo>
                              <a:pt x="27" y="64"/>
                            </a:lnTo>
                            <a:lnTo>
                              <a:pt x="32" y="57"/>
                            </a:lnTo>
                            <a:lnTo>
                              <a:pt x="39" y="51"/>
                            </a:lnTo>
                            <a:lnTo>
                              <a:pt x="47" y="47"/>
                            </a:lnTo>
                            <a:lnTo>
                              <a:pt x="55" y="51"/>
                            </a:lnTo>
                            <a:lnTo>
                              <a:pt x="57" y="40"/>
                            </a:lnTo>
                            <a:lnTo>
                              <a:pt x="63" y="33"/>
                            </a:lnTo>
                            <a:lnTo>
                              <a:pt x="72" y="30"/>
                            </a:lnTo>
                            <a:lnTo>
                              <a:pt x="85" y="24"/>
                            </a:lnTo>
                            <a:lnTo>
                              <a:pt x="95" y="19"/>
                            </a:lnTo>
                            <a:lnTo>
                              <a:pt x="101" y="11"/>
                            </a:lnTo>
                            <a:lnTo>
                              <a:pt x="108" y="3"/>
                            </a:lnTo>
                            <a:lnTo>
                              <a:pt x="119" y="0"/>
                            </a:lnTo>
                            <a:lnTo>
                              <a:pt x="131" y="3"/>
                            </a:lnTo>
                            <a:lnTo>
                              <a:pt x="142" y="8"/>
                            </a:lnTo>
                            <a:lnTo>
                              <a:pt x="153" y="13"/>
                            </a:lnTo>
                            <a:lnTo>
                              <a:pt x="169" y="16"/>
                            </a:lnTo>
                            <a:lnTo>
                              <a:pt x="182" y="18"/>
                            </a:lnTo>
                            <a:lnTo>
                              <a:pt x="186" y="22"/>
                            </a:lnTo>
                            <a:lnTo>
                              <a:pt x="189" y="33"/>
                            </a:lnTo>
                            <a:lnTo>
                              <a:pt x="192" y="48"/>
                            </a:lnTo>
                            <a:lnTo>
                              <a:pt x="196" y="65"/>
                            </a:lnTo>
                            <a:lnTo>
                              <a:pt x="200" y="81"/>
                            </a:lnTo>
                            <a:lnTo>
                              <a:pt x="203" y="102"/>
                            </a:lnTo>
                            <a:lnTo>
                              <a:pt x="199" y="121"/>
                            </a:lnTo>
                            <a:lnTo>
                              <a:pt x="192" y="142"/>
                            </a:lnTo>
                            <a:lnTo>
                              <a:pt x="182" y="155"/>
                            </a:lnTo>
                            <a:lnTo>
                              <a:pt x="172" y="167"/>
                            </a:lnTo>
                            <a:lnTo>
                              <a:pt x="161" y="177"/>
                            </a:lnTo>
                            <a:lnTo>
                              <a:pt x="148" y="185"/>
                            </a:lnTo>
                            <a:lnTo>
                              <a:pt x="149" y="193"/>
                            </a:lnTo>
                            <a:lnTo>
                              <a:pt x="147" y="201"/>
                            </a:lnTo>
                            <a:lnTo>
                              <a:pt x="146" y="207"/>
                            </a:lnTo>
                            <a:lnTo>
                              <a:pt x="142" y="214"/>
                            </a:lnTo>
                            <a:lnTo>
                              <a:pt x="136" y="218"/>
                            </a:lnTo>
                            <a:lnTo>
                              <a:pt x="125" y="219"/>
                            </a:lnTo>
                            <a:lnTo>
                              <a:pt x="117" y="217"/>
                            </a:lnTo>
                            <a:lnTo>
                              <a:pt x="112" y="209"/>
                            </a:lnTo>
                            <a:lnTo>
                              <a:pt x="104" y="200"/>
                            </a:lnTo>
                            <a:lnTo>
                              <a:pt x="101" y="190"/>
                            </a:lnTo>
                            <a:lnTo>
                              <a:pt x="100" y="180"/>
                            </a:lnTo>
                            <a:lnTo>
                              <a:pt x="102" y="166"/>
                            </a:lnTo>
                            <a:lnTo>
                              <a:pt x="102" y="156"/>
                            </a:lnTo>
                            <a:lnTo>
                              <a:pt x="100" y="169"/>
                            </a:lnTo>
                            <a:lnTo>
                              <a:pt x="96" y="186"/>
                            </a:lnTo>
                            <a:lnTo>
                              <a:pt x="89" y="196"/>
                            </a:lnTo>
                            <a:lnTo>
                              <a:pt x="75" y="207"/>
                            </a:lnTo>
                            <a:lnTo>
                              <a:pt x="29" y="200"/>
                            </a:lnTo>
                            <a:lnTo>
                              <a:pt x="0" y="186"/>
                            </a:lnTo>
                            <a:close/>
                          </a:path>
                        </a:pathLst>
                      </a:custGeom>
                      <a:solidFill>
                        <a:srgbClr val="FFBF7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grpSp>
                    <p:nvGrpSpPr>
                      <p:cNvPr id="309" name="Group 1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385" y="1716"/>
                        <a:ext cx="89" cy="114"/>
                        <a:chOff x="2385" y="1716"/>
                        <a:chExt cx="89" cy="114"/>
                      </a:xfrm>
                    </p:grpSpPr>
                    <p:grpSp>
                      <p:nvGrpSpPr>
                        <p:cNvPr id="310" name="Group 16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385" y="1716"/>
                          <a:ext cx="89" cy="114"/>
                          <a:chOff x="2385" y="1716"/>
                          <a:chExt cx="89" cy="114"/>
                        </a:xfrm>
                      </p:grpSpPr>
                      <p:sp>
                        <p:nvSpPr>
                          <p:cNvPr id="314" name="Freeform 17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32" y="1817"/>
                            <a:ext cx="3" cy="13"/>
                          </a:xfrm>
                          <a:custGeom>
                            <a:avLst/>
                            <a:gdLst>
                              <a:gd name="T0" fmla="*/ 7 w 7"/>
                              <a:gd name="T1" fmla="*/ 24 h 24"/>
                              <a:gd name="T2" fmla="*/ 4 w 7"/>
                              <a:gd name="T3" fmla="*/ 9 h 24"/>
                              <a:gd name="T4" fmla="*/ 0 w 7"/>
                              <a:gd name="T5" fmla="*/ 0 h 2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7" h="24">
                                <a:moveTo>
                                  <a:pt x="7" y="24"/>
                                </a:moveTo>
                                <a:lnTo>
                                  <a:pt x="4" y="9"/>
                                </a:lnTo>
                                <a:lnTo>
                                  <a:pt x="0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15" name="Freeform 17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389" y="1763"/>
                            <a:ext cx="20" cy="22"/>
                          </a:xfrm>
                          <a:custGeom>
                            <a:avLst/>
                            <a:gdLst>
                              <a:gd name="T0" fmla="*/ 0 w 39"/>
                              <a:gd name="T1" fmla="*/ 0 h 45"/>
                              <a:gd name="T2" fmla="*/ 8 w 39"/>
                              <a:gd name="T3" fmla="*/ 7 h 45"/>
                              <a:gd name="T4" fmla="*/ 13 w 39"/>
                              <a:gd name="T5" fmla="*/ 14 h 45"/>
                              <a:gd name="T6" fmla="*/ 14 w 39"/>
                              <a:gd name="T7" fmla="*/ 24 h 45"/>
                              <a:gd name="T8" fmla="*/ 14 w 39"/>
                              <a:gd name="T9" fmla="*/ 39 h 45"/>
                              <a:gd name="T10" fmla="*/ 13 w 39"/>
                              <a:gd name="T11" fmla="*/ 45 h 45"/>
                              <a:gd name="T12" fmla="*/ 22 w 39"/>
                              <a:gd name="T13" fmla="*/ 26 h 45"/>
                              <a:gd name="T14" fmla="*/ 28 w 39"/>
                              <a:gd name="T15" fmla="*/ 20 h 45"/>
                              <a:gd name="T16" fmla="*/ 39 w 39"/>
                              <a:gd name="T17" fmla="*/ 15 h 4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</a:cxnLst>
                            <a:rect l="0" t="0" r="r" b="b"/>
                            <a:pathLst>
                              <a:path w="39" h="45">
                                <a:moveTo>
                                  <a:pt x="0" y="0"/>
                                </a:moveTo>
                                <a:lnTo>
                                  <a:pt x="8" y="7"/>
                                </a:lnTo>
                                <a:lnTo>
                                  <a:pt x="13" y="14"/>
                                </a:lnTo>
                                <a:lnTo>
                                  <a:pt x="14" y="24"/>
                                </a:lnTo>
                                <a:lnTo>
                                  <a:pt x="14" y="39"/>
                                </a:lnTo>
                                <a:lnTo>
                                  <a:pt x="13" y="45"/>
                                </a:lnTo>
                                <a:lnTo>
                                  <a:pt x="22" y="26"/>
                                </a:lnTo>
                                <a:lnTo>
                                  <a:pt x="28" y="20"/>
                                </a:lnTo>
                                <a:lnTo>
                                  <a:pt x="39" y="15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16" name="Line 17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385" y="1774"/>
                            <a:ext cx="5" cy="7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17" name="Freeform 17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389" y="1745"/>
                            <a:ext cx="7" cy="20"/>
                          </a:xfrm>
                          <a:custGeom>
                            <a:avLst/>
                            <a:gdLst>
                              <a:gd name="T0" fmla="*/ 7 w 13"/>
                              <a:gd name="T1" fmla="*/ 38 h 38"/>
                              <a:gd name="T2" fmla="*/ 12 w 13"/>
                              <a:gd name="T3" fmla="*/ 32 h 38"/>
                              <a:gd name="T4" fmla="*/ 13 w 13"/>
                              <a:gd name="T5" fmla="*/ 21 h 38"/>
                              <a:gd name="T6" fmla="*/ 11 w 13"/>
                              <a:gd name="T7" fmla="*/ 13 h 38"/>
                              <a:gd name="T8" fmla="*/ 0 w 13"/>
                              <a:gd name="T9" fmla="*/ 0 h 3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13" h="38">
                                <a:moveTo>
                                  <a:pt x="7" y="38"/>
                                </a:moveTo>
                                <a:lnTo>
                                  <a:pt x="12" y="32"/>
                                </a:lnTo>
                                <a:lnTo>
                                  <a:pt x="13" y="21"/>
                                </a:lnTo>
                                <a:lnTo>
                                  <a:pt x="11" y="13"/>
                                </a:lnTo>
                                <a:lnTo>
                                  <a:pt x="0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18" name="Freeform 17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397" y="1743"/>
                            <a:ext cx="20" cy="17"/>
                          </a:xfrm>
                          <a:custGeom>
                            <a:avLst/>
                            <a:gdLst>
                              <a:gd name="T0" fmla="*/ 0 w 39"/>
                              <a:gd name="T1" fmla="*/ 34 h 34"/>
                              <a:gd name="T2" fmla="*/ 10 w 39"/>
                              <a:gd name="T3" fmla="*/ 32 h 34"/>
                              <a:gd name="T4" fmla="*/ 20 w 39"/>
                              <a:gd name="T5" fmla="*/ 30 h 34"/>
                              <a:gd name="T6" fmla="*/ 27 w 39"/>
                              <a:gd name="T7" fmla="*/ 25 h 34"/>
                              <a:gd name="T8" fmla="*/ 34 w 39"/>
                              <a:gd name="T9" fmla="*/ 17 h 34"/>
                              <a:gd name="T10" fmla="*/ 38 w 39"/>
                              <a:gd name="T11" fmla="*/ 6 h 34"/>
                              <a:gd name="T12" fmla="*/ 39 w 39"/>
                              <a:gd name="T13" fmla="*/ 0 h 3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</a:cxnLst>
                            <a:rect l="0" t="0" r="r" b="b"/>
                            <a:pathLst>
                              <a:path w="39" h="34">
                                <a:moveTo>
                                  <a:pt x="0" y="34"/>
                                </a:moveTo>
                                <a:lnTo>
                                  <a:pt x="10" y="32"/>
                                </a:lnTo>
                                <a:lnTo>
                                  <a:pt x="20" y="30"/>
                                </a:lnTo>
                                <a:lnTo>
                                  <a:pt x="27" y="25"/>
                                </a:lnTo>
                                <a:lnTo>
                                  <a:pt x="34" y="17"/>
                                </a:lnTo>
                                <a:lnTo>
                                  <a:pt x="38" y="6"/>
                                </a:lnTo>
                                <a:lnTo>
                                  <a:pt x="39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19" name="Freeform 17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18" y="1718"/>
                            <a:ext cx="18" cy="38"/>
                          </a:xfrm>
                          <a:custGeom>
                            <a:avLst/>
                            <a:gdLst>
                              <a:gd name="T0" fmla="*/ 35 w 35"/>
                              <a:gd name="T1" fmla="*/ 0 h 76"/>
                              <a:gd name="T2" fmla="*/ 30 w 35"/>
                              <a:gd name="T3" fmla="*/ 12 h 76"/>
                              <a:gd name="T4" fmla="*/ 23 w 35"/>
                              <a:gd name="T5" fmla="*/ 16 h 76"/>
                              <a:gd name="T6" fmla="*/ 14 w 35"/>
                              <a:gd name="T7" fmla="*/ 18 h 76"/>
                              <a:gd name="T8" fmla="*/ 6 w 35"/>
                              <a:gd name="T9" fmla="*/ 23 h 76"/>
                              <a:gd name="T10" fmla="*/ 2 w 35"/>
                              <a:gd name="T11" fmla="*/ 28 h 76"/>
                              <a:gd name="T12" fmla="*/ 0 w 35"/>
                              <a:gd name="T13" fmla="*/ 39 h 76"/>
                              <a:gd name="T14" fmla="*/ 4 w 35"/>
                              <a:gd name="T15" fmla="*/ 57 h 76"/>
                              <a:gd name="T16" fmla="*/ 7 w 35"/>
                              <a:gd name="T17" fmla="*/ 76 h 7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</a:cxnLst>
                            <a:rect l="0" t="0" r="r" b="b"/>
                            <a:pathLst>
                              <a:path w="35" h="76">
                                <a:moveTo>
                                  <a:pt x="35" y="0"/>
                                </a:moveTo>
                                <a:lnTo>
                                  <a:pt x="30" y="12"/>
                                </a:lnTo>
                                <a:lnTo>
                                  <a:pt x="23" y="16"/>
                                </a:lnTo>
                                <a:lnTo>
                                  <a:pt x="14" y="18"/>
                                </a:lnTo>
                                <a:lnTo>
                                  <a:pt x="6" y="23"/>
                                </a:lnTo>
                                <a:lnTo>
                                  <a:pt x="2" y="28"/>
                                </a:lnTo>
                                <a:lnTo>
                                  <a:pt x="0" y="39"/>
                                </a:lnTo>
                                <a:lnTo>
                                  <a:pt x="4" y="57"/>
                                </a:lnTo>
                                <a:lnTo>
                                  <a:pt x="7" y="76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20" name="Freeform 17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17" y="1716"/>
                            <a:ext cx="11" cy="36"/>
                          </a:xfrm>
                          <a:custGeom>
                            <a:avLst/>
                            <a:gdLst>
                              <a:gd name="T0" fmla="*/ 0 w 22"/>
                              <a:gd name="T1" fmla="*/ 0 h 73"/>
                              <a:gd name="T2" fmla="*/ 9 w 22"/>
                              <a:gd name="T3" fmla="*/ 4 h 73"/>
                              <a:gd name="T4" fmla="*/ 15 w 22"/>
                              <a:gd name="T5" fmla="*/ 12 h 73"/>
                              <a:gd name="T6" fmla="*/ 20 w 22"/>
                              <a:gd name="T7" fmla="*/ 22 h 73"/>
                              <a:gd name="T8" fmla="*/ 22 w 22"/>
                              <a:gd name="T9" fmla="*/ 33 h 73"/>
                              <a:gd name="T10" fmla="*/ 21 w 22"/>
                              <a:gd name="T11" fmla="*/ 44 h 73"/>
                              <a:gd name="T12" fmla="*/ 18 w 22"/>
                              <a:gd name="T13" fmla="*/ 54 h 73"/>
                              <a:gd name="T14" fmla="*/ 18 w 22"/>
                              <a:gd name="T15" fmla="*/ 62 h 73"/>
                              <a:gd name="T16" fmla="*/ 22 w 22"/>
                              <a:gd name="T17" fmla="*/ 73 h 7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</a:cxnLst>
                            <a:rect l="0" t="0" r="r" b="b"/>
                            <a:pathLst>
                              <a:path w="22" h="73">
                                <a:moveTo>
                                  <a:pt x="0" y="0"/>
                                </a:moveTo>
                                <a:lnTo>
                                  <a:pt x="9" y="4"/>
                                </a:lnTo>
                                <a:lnTo>
                                  <a:pt x="15" y="12"/>
                                </a:lnTo>
                                <a:lnTo>
                                  <a:pt x="20" y="22"/>
                                </a:lnTo>
                                <a:lnTo>
                                  <a:pt x="22" y="33"/>
                                </a:lnTo>
                                <a:lnTo>
                                  <a:pt x="21" y="44"/>
                                </a:lnTo>
                                <a:lnTo>
                                  <a:pt x="18" y="54"/>
                                </a:lnTo>
                                <a:lnTo>
                                  <a:pt x="18" y="62"/>
                                </a:lnTo>
                                <a:lnTo>
                                  <a:pt x="22" y="73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21" name="Freeform 17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32" y="1730"/>
                            <a:ext cx="26" cy="33"/>
                          </a:xfrm>
                          <a:custGeom>
                            <a:avLst/>
                            <a:gdLst>
                              <a:gd name="T0" fmla="*/ 0 w 52"/>
                              <a:gd name="T1" fmla="*/ 0 h 67"/>
                              <a:gd name="T2" fmla="*/ 8 w 52"/>
                              <a:gd name="T3" fmla="*/ 10 h 67"/>
                              <a:gd name="T4" fmla="*/ 12 w 52"/>
                              <a:gd name="T5" fmla="*/ 22 h 67"/>
                              <a:gd name="T6" fmla="*/ 12 w 52"/>
                              <a:gd name="T7" fmla="*/ 31 h 67"/>
                              <a:gd name="T8" fmla="*/ 12 w 52"/>
                              <a:gd name="T9" fmla="*/ 38 h 67"/>
                              <a:gd name="T10" fmla="*/ 18 w 52"/>
                              <a:gd name="T11" fmla="*/ 44 h 67"/>
                              <a:gd name="T12" fmla="*/ 26 w 52"/>
                              <a:gd name="T13" fmla="*/ 48 h 67"/>
                              <a:gd name="T14" fmla="*/ 37 w 52"/>
                              <a:gd name="T15" fmla="*/ 55 h 67"/>
                              <a:gd name="T16" fmla="*/ 45 w 52"/>
                              <a:gd name="T17" fmla="*/ 60 h 67"/>
                              <a:gd name="T18" fmla="*/ 52 w 52"/>
                              <a:gd name="T19" fmla="*/ 67 h 6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</a:cxnLst>
                            <a:rect l="0" t="0" r="r" b="b"/>
                            <a:pathLst>
                              <a:path w="52" h="67">
                                <a:moveTo>
                                  <a:pt x="0" y="0"/>
                                </a:moveTo>
                                <a:lnTo>
                                  <a:pt x="8" y="10"/>
                                </a:lnTo>
                                <a:lnTo>
                                  <a:pt x="12" y="22"/>
                                </a:lnTo>
                                <a:lnTo>
                                  <a:pt x="12" y="31"/>
                                </a:lnTo>
                                <a:lnTo>
                                  <a:pt x="12" y="38"/>
                                </a:lnTo>
                                <a:lnTo>
                                  <a:pt x="18" y="44"/>
                                </a:lnTo>
                                <a:lnTo>
                                  <a:pt x="26" y="48"/>
                                </a:lnTo>
                                <a:lnTo>
                                  <a:pt x="37" y="55"/>
                                </a:lnTo>
                                <a:lnTo>
                                  <a:pt x="45" y="60"/>
                                </a:lnTo>
                                <a:lnTo>
                                  <a:pt x="52" y="67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22" name="Freeform 17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06" y="1725"/>
                            <a:ext cx="12" cy="11"/>
                          </a:xfrm>
                          <a:custGeom>
                            <a:avLst/>
                            <a:gdLst>
                              <a:gd name="T0" fmla="*/ 25 w 25"/>
                              <a:gd name="T1" fmla="*/ 20 h 20"/>
                              <a:gd name="T2" fmla="*/ 20 w 25"/>
                              <a:gd name="T3" fmla="*/ 9 h 20"/>
                              <a:gd name="T4" fmla="*/ 11 w 25"/>
                              <a:gd name="T5" fmla="*/ 4 h 20"/>
                              <a:gd name="T6" fmla="*/ 0 w 25"/>
                              <a:gd name="T7" fmla="*/ 0 h 2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</a:cxnLst>
                            <a:rect l="0" t="0" r="r" b="b"/>
                            <a:pathLst>
                              <a:path w="25" h="20">
                                <a:moveTo>
                                  <a:pt x="25" y="20"/>
                                </a:moveTo>
                                <a:lnTo>
                                  <a:pt x="20" y="9"/>
                                </a:lnTo>
                                <a:lnTo>
                                  <a:pt x="11" y="4"/>
                                </a:lnTo>
                                <a:lnTo>
                                  <a:pt x="0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23" name="Freeform 17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60" y="1750"/>
                            <a:ext cx="14" cy="22"/>
                          </a:xfrm>
                          <a:custGeom>
                            <a:avLst/>
                            <a:gdLst>
                              <a:gd name="T0" fmla="*/ 0 w 29"/>
                              <a:gd name="T1" fmla="*/ 44 h 44"/>
                              <a:gd name="T2" fmla="*/ 4 w 29"/>
                              <a:gd name="T3" fmla="*/ 35 h 44"/>
                              <a:gd name="T4" fmla="*/ 12 w 29"/>
                              <a:gd name="T5" fmla="*/ 18 h 44"/>
                              <a:gd name="T6" fmla="*/ 20 w 29"/>
                              <a:gd name="T7" fmla="*/ 9 h 44"/>
                              <a:gd name="T8" fmla="*/ 29 w 29"/>
                              <a:gd name="T9" fmla="*/ 0 h 4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29" h="44">
                                <a:moveTo>
                                  <a:pt x="0" y="44"/>
                                </a:moveTo>
                                <a:lnTo>
                                  <a:pt x="4" y="35"/>
                                </a:lnTo>
                                <a:lnTo>
                                  <a:pt x="12" y="18"/>
                                </a:lnTo>
                                <a:lnTo>
                                  <a:pt x="20" y="9"/>
                                </a:lnTo>
                                <a:lnTo>
                                  <a:pt x="29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24" name="Freeform 18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62" y="1741"/>
                            <a:ext cx="10" cy="50"/>
                          </a:xfrm>
                          <a:custGeom>
                            <a:avLst/>
                            <a:gdLst>
                              <a:gd name="T0" fmla="*/ 4 w 21"/>
                              <a:gd name="T1" fmla="*/ 0 h 101"/>
                              <a:gd name="T2" fmla="*/ 0 w 21"/>
                              <a:gd name="T3" fmla="*/ 11 h 101"/>
                              <a:gd name="T4" fmla="*/ 4 w 21"/>
                              <a:gd name="T5" fmla="*/ 23 h 101"/>
                              <a:gd name="T6" fmla="*/ 10 w 21"/>
                              <a:gd name="T7" fmla="*/ 30 h 101"/>
                              <a:gd name="T8" fmla="*/ 16 w 21"/>
                              <a:gd name="T9" fmla="*/ 40 h 101"/>
                              <a:gd name="T10" fmla="*/ 21 w 21"/>
                              <a:gd name="T11" fmla="*/ 52 h 101"/>
                              <a:gd name="T12" fmla="*/ 21 w 21"/>
                              <a:gd name="T13" fmla="*/ 61 h 101"/>
                              <a:gd name="T14" fmla="*/ 17 w 21"/>
                              <a:gd name="T15" fmla="*/ 74 h 101"/>
                              <a:gd name="T16" fmla="*/ 12 w 21"/>
                              <a:gd name="T17" fmla="*/ 84 h 101"/>
                              <a:gd name="T18" fmla="*/ 3 w 21"/>
                              <a:gd name="T19" fmla="*/ 101 h 101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</a:cxnLst>
                            <a:rect l="0" t="0" r="r" b="b"/>
                            <a:pathLst>
                              <a:path w="21" h="101">
                                <a:moveTo>
                                  <a:pt x="4" y="0"/>
                                </a:moveTo>
                                <a:lnTo>
                                  <a:pt x="0" y="11"/>
                                </a:lnTo>
                                <a:lnTo>
                                  <a:pt x="4" y="23"/>
                                </a:lnTo>
                                <a:lnTo>
                                  <a:pt x="10" y="30"/>
                                </a:lnTo>
                                <a:lnTo>
                                  <a:pt x="16" y="40"/>
                                </a:lnTo>
                                <a:lnTo>
                                  <a:pt x="21" y="52"/>
                                </a:lnTo>
                                <a:lnTo>
                                  <a:pt x="21" y="61"/>
                                </a:lnTo>
                                <a:lnTo>
                                  <a:pt x="17" y="74"/>
                                </a:lnTo>
                                <a:lnTo>
                                  <a:pt x="12" y="84"/>
                                </a:lnTo>
                                <a:lnTo>
                                  <a:pt x="3" y="101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grpSp>
                      <p:nvGrpSpPr>
                        <p:cNvPr id="311" name="Group 18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417" y="1796"/>
                          <a:ext cx="15" cy="12"/>
                          <a:chOff x="2417" y="1796"/>
                          <a:chExt cx="15" cy="12"/>
                        </a:xfrm>
                      </p:grpSpPr>
                      <p:sp>
                        <p:nvSpPr>
                          <p:cNvPr id="312" name="Oval 18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426" y="1796"/>
                            <a:ext cx="6" cy="12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13" name="Oval 18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417" y="1796"/>
                            <a:ext cx="6" cy="12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96" name="Group 18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89" y="1814"/>
                      <a:ext cx="223" cy="157"/>
                      <a:chOff x="2189" y="1814"/>
                      <a:chExt cx="223" cy="157"/>
                    </a:xfrm>
                  </p:grpSpPr>
                  <p:grpSp>
                    <p:nvGrpSpPr>
                      <p:cNvPr id="297" name="Group 18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89" y="1852"/>
                        <a:ext cx="174" cy="119"/>
                        <a:chOff x="2189" y="1852"/>
                        <a:chExt cx="174" cy="119"/>
                      </a:xfrm>
                    </p:grpSpPr>
                    <p:grpSp>
                      <p:nvGrpSpPr>
                        <p:cNvPr id="302" name="Group 18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189" y="1890"/>
                          <a:ext cx="69" cy="81"/>
                          <a:chOff x="2189" y="1890"/>
                          <a:chExt cx="69" cy="81"/>
                        </a:xfrm>
                      </p:grpSpPr>
                      <p:sp>
                        <p:nvSpPr>
                          <p:cNvPr id="306" name="Freeform 18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189" y="1890"/>
                            <a:ext cx="69" cy="81"/>
                          </a:xfrm>
                          <a:custGeom>
                            <a:avLst/>
                            <a:gdLst>
                              <a:gd name="T0" fmla="*/ 0 w 137"/>
                              <a:gd name="T1" fmla="*/ 6 h 164"/>
                              <a:gd name="T2" fmla="*/ 17 w 137"/>
                              <a:gd name="T3" fmla="*/ 0 h 164"/>
                              <a:gd name="T4" fmla="*/ 35 w 137"/>
                              <a:gd name="T5" fmla="*/ 2 h 164"/>
                              <a:gd name="T6" fmla="*/ 46 w 137"/>
                              <a:gd name="T7" fmla="*/ 11 h 164"/>
                              <a:gd name="T8" fmla="*/ 52 w 137"/>
                              <a:gd name="T9" fmla="*/ 18 h 164"/>
                              <a:gd name="T10" fmla="*/ 63 w 137"/>
                              <a:gd name="T11" fmla="*/ 23 h 164"/>
                              <a:gd name="T12" fmla="*/ 80 w 137"/>
                              <a:gd name="T13" fmla="*/ 29 h 164"/>
                              <a:gd name="T14" fmla="*/ 96 w 137"/>
                              <a:gd name="T15" fmla="*/ 30 h 164"/>
                              <a:gd name="T16" fmla="*/ 136 w 137"/>
                              <a:gd name="T17" fmla="*/ 93 h 164"/>
                              <a:gd name="T18" fmla="*/ 137 w 137"/>
                              <a:gd name="T19" fmla="*/ 114 h 164"/>
                              <a:gd name="T20" fmla="*/ 133 w 137"/>
                              <a:gd name="T21" fmla="*/ 131 h 164"/>
                              <a:gd name="T22" fmla="*/ 126 w 137"/>
                              <a:gd name="T23" fmla="*/ 145 h 164"/>
                              <a:gd name="T24" fmla="*/ 120 w 137"/>
                              <a:gd name="T25" fmla="*/ 149 h 164"/>
                              <a:gd name="T26" fmla="*/ 108 w 137"/>
                              <a:gd name="T27" fmla="*/ 147 h 164"/>
                              <a:gd name="T28" fmla="*/ 99 w 137"/>
                              <a:gd name="T29" fmla="*/ 156 h 164"/>
                              <a:gd name="T30" fmla="*/ 81 w 137"/>
                              <a:gd name="T31" fmla="*/ 164 h 164"/>
                              <a:gd name="T32" fmla="*/ 73 w 137"/>
                              <a:gd name="T33" fmla="*/ 149 h 164"/>
                              <a:gd name="T34" fmla="*/ 63 w 137"/>
                              <a:gd name="T35" fmla="*/ 125 h 164"/>
                              <a:gd name="T36" fmla="*/ 52 w 137"/>
                              <a:gd name="T37" fmla="*/ 135 h 164"/>
                              <a:gd name="T38" fmla="*/ 40 w 137"/>
                              <a:gd name="T39" fmla="*/ 131 h 164"/>
                              <a:gd name="T40" fmla="*/ 34 w 137"/>
                              <a:gd name="T41" fmla="*/ 124 h 164"/>
                              <a:gd name="T42" fmla="*/ 23 w 137"/>
                              <a:gd name="T43" fmla="*/ 85 h 164"/>
                              <a:gd name="T44" fmla="*/ 19 w 137"/>
                              <a:gd name="T45" fmla="*/ 70 h 164"/>
                              <a:gd name="T46" fmla="*/ 5 w 137"/>
                              <a:gd name="T47" fmla="*/ 45 h 164"/>
                              <a:gd name="T48" fmla="*/ 2 w 137"/>
                              <a:gd name="T49" fmla="*/ 25 h 164"/>
                              <a:gd name="T50" fmla="*/ 0 w 137"/>
                              <a:gd name="T51" fmla="*/ 6 h 16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</a:cxnLst>
                            <a:rect l="0" t="0" r="r" b="b"/>
                            <a:pathLst>
                              <a:path w="137" h="164">
                                <a:moveTo>
                                  <a:pt x="0" y="6"/>
                                </a:moveTo>
                                <a:lnTo>
                                  <a:pt x="17" y="0"/>
                                </a:lnTo>
                                <a:lnTo>
                                  <a:pt x="35" y="2"/>
                                </a:lnTo>
                                <a:lnTo>
                                  <a:pt x="46" y="11"/>
                                </a:lnTo>
                                <a:lnTo>
                                  <a:pt x="52" y="18"/>
                                </a:lnTo>
                                <a:lnTo>
                                  <a:pt x="63" y="23"/>
                                </a:lnTo>
                                <a:lnTo>
                                  <a:pt x="80" y="29"/>
                                </a:lnTo>
                                <a:lnTo>
                                  <a:pt x="96" y="30"/>
                                </a:lnTo>
                                <a:lnTo>
                                  <a:pt x="136" y="93"/>
                                </a:lnTo>
                                <a:lnTo>
                                  <a:pt x="137" y="114"/>
                                </a:lnTo>
                                <a:lnTo>
                                  <a:pt x="133" y="131"/>
                                </a:lnTo>
                                <a:lnTo>
                                  <a:pt x="126" y="145"/>
                                </a:lnTo>
                                <a:lnTo>
                                  <a:pt x="120" y="149"/>
                                </a:lnTo>
                                <a:lnTo>
                                  <a:pt x="108" y="147"/>
                                </a:lnTo>
                                <a:lnTo>
                                  <a:pt x="99" y="156"/>
                                </a:lnTo>
                                <a:lnTo>
                                  <a:pt x="81" y="164"/>
                                </a:lnTo>
                                <a:lnTo>
                                  <a:pt x="73" y="149"/>
                                </a:lnTo>
                                <a:lnTo>
                                  <a:pt x="63" y="125"/>
                                </a:lnTo>
                                <a:lnTo>
                                  <a:pt x="52" y="135"/>
                                </a:lnTo>
                                <a:lnTo>
                                  <a:pt x="40" y="131"/>
                                </a:lnTo>
                                <a:lnTo>
                                  <a:pt x="34" y="124"/>
                                </a:lnTo>
                                <a:lnTo>
                                  <a:pt x="23" y="85"/>
                                </a:lnTo>
                                <a:lnTo>
                                  <a:pt x="19" y="70"/>
                                </a:lnTo>
                                <a:lnTo>
                                  <a:pt x="5" y="45"/>
                                </a:lnTo>
                                <a:lnTo>
                                  <a:pt x="2" y="25"/>
                                </a:lnTo>
                                <a:lnTo>
                                  <a:pt x="0" y="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7F7F9F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07" name="Freeform 18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03" y="1899"/>
                            <a:ext cx="18" cy="53"/>
                          </a:xfrm>
                          <a:custGeom>
                            <a:avLst/>
                            <a:gdLst>
                              <a:gd name="T0" fmla="*/ 19 w 36"/>
                              <a:gd name="T1" fmla="*/ 3 h 107"/>
                              <a:gd name="T2" fmla="*/ 11 w 36"/>
                              <a:gd name="T3" fmla="*/ 0 h 107"/>
                              <a:gd name="T4" fmla="*/ 4 w 36"/>
                              <a:gd name="T5" fmla="*/ 0 h 107"/>
                              <a:gd name="T6" fmla="*/ 0 w 36"/>
                              <a:gd name="T7" fmla="*/ 6 h 107"/>
                              <a:gd name="T8" fmla="*/ 0 w 36"/>
                              <a:gd name="T9" fmla="*/ 28 h 107"/>
                              <a:gd name="T10" fmla="*/ 3 w 36"/>
                              <a:gd name="T11" fmla="*/ 37 h 107"/>
                              <a:gd name="T12" fmla="*/ 13 w 36"/>
                              <a:gd name="T13" fmla="*/ 47 h 107"/>
                              <a:gd name="T14" fmla="*/ 21 w 36"/>
                              <a:gd name="T15" fmla="*/ 63 h 107"/>
                              <a:gd name="T16" fmla="*/ 29 w 36"/>
                              <a:gd name="T17" fmla="*/ 80 h 107"/>
                              <a:gd name="T18" fmla="*/ 36 w 36"/>
                              <a:gd name="T19" fmla="*/ 107 h 1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</a:cxnLst>
                            <a:rect l="0" t="0" r="r" b="b"/>
                            <a:pathLst>
                              <a:path w="36" h="107">
                                <a:moveTo>
                                  <a:pt x="19" y="3"/>
                                </a:moveTo>
                                <a:lnTo>
                                  <a:pt x="11" y="0"/>
                                </a:lnTo>
                                <a:lnTo>
                                  <a:pt x="4" y="0"/>
                                </a:lnTo>
                                <a:lnTo>
                                  <a:pt x="0" y="6"/>
                                </a:lnTo>
                                <a:lnTo>
                                  <a:pt x="0" y="28"/>
                                </a:lnTo>
                                <a:lnTo>
                                  <a:pt x="3" y="37"/>
                                </a:lnTo>
                                <a:lnTo>
                                  <a:pt x="13" y="47"/>
                                </a:lnTo>
                                <a:lnTo>
                                  <a:pt x="21" y="63"/>
                                </a:lnTo>
                                <a:lnTo>
                                  <a:pt x="29" y="80"/>
                                </a:lnTo>
                                <a:lnTo>
                                  <a:pt x="36" y="107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grpSp>
                      <p:nvGrpSpPr>
                        <p:cNvPr id="303" name="Group 18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26" y="1852"/>
                          <a:ext cx="137" cy="91"/>
                          <a:chOff x="2226" y="1852"/>
                          <a:chExt cx="137" cy="91"/>
                        </a:xfrm>
                      </p:grpSpPr>
                      <p:sp>
                        <p:nvSpPr>
                          <p:cNvPr id="304" name="Freeform 19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26" y="1852"/>
                            <a:ext cx="137" cy="91"/>
                          </a:xfrm>
                          <a:custGeom>
                            <a:avLst/>
                            <a:gdLst>
                              <a:gd name="T0" fmla="*/ 0 w 272"/>
                              <a:gd name="T1" fmla="*/ 71 h 182"/>
                              <a:gd name="T2" fmla="*/ 1 w 272"/>
                              <a:gd name="T3" fmla="*/ 90 h 182"/>
                              <a:gd name="T4" fmla="*/ 11 w 272"/>
                              <a:gd name="T5" fmla="*/ 108 h 182"/>
                              <a:gd name="T6" fmla="*/ 17 w 272"/>
                              <a:gd name="T7" fmla="*/ 121 h 182"/>
                              <a:gd name="T8" fmla="*/ 25 w 272"/>
                              <a:gd name="T9" fmla="*/ 150 h 182"/>
                              <a:gd name="T10" fmla="*/ 40 w 272"/>
                              <a:gd name="T11" fmla="*/ 166 h 182"/>
                              <a:gd name="T12" fmla="*/ 62 w 272"/>
                              <a:gd name="T13" fmla="*/ 182 h 182"/>
                              <a:gd name="T14" fmla="*/ 82 w 272"/>
                              <a:gd name="T15" fmla="*/ 177 h 182"/>
                              <a:gd name="T16" fmla="*/ 97 w 272"/>
                              <a:gd name="T17" fmla="*/ 151 h 182"/>
                              <a:gd name="T18" fmla="*/ 108 w 272"/>
                              <a:gd name="T19" fmla="*/ 116 h 182"/>
                              <a:gd name="T20" fmla="*/ 115 w 272"/>
                              <a:gd name="T21" fmla="*/ 88 h 182"/>
                              <a:gd name="T22" fmla="*/ 142 w 272"/>
                              <a:gd name="T23" fmla="*/ 105 h 182"/>
                              <a:gd name="T24" fmla="*/ 151 w 272"/>
                              <a:gd name="T25" fmla="*/ 74 h 182"/>
                              <a:gd name="T26" fmla="*/ 167 w 272"/>
                              <a:gd name="T27" fmla="*/ 91 h 182"/>
                              <a:gd name="T28" fmla="*/ 183 w 272"/>
                              <a:gd name="T29" fmla="*/ 96 h 182"/>
                              <a:gd name="T30" fmla="*/ 196 w 272"/>
                              <a:gd name="T31" fmla="*/ 93 h 182"/>
                              <a:gd name="T32" fmla="*/ 203 w 272"/>
                              <a:gd name="T33" fmla="*/ 90 h 182"/>
                              <a:gd name="T34" fmla="*/ 209 w 272"/>
                              <a:gd name="T35" fmla="*/ 86 h 182"/>
                              <a:gd name="T36" fmla="*/ 214 w 272"/>
                              <a:gd name="T37" fmla="*/ 92 h 182"/>
                              <a:gd name="T38" fmla="*/ 272 w 272"/>
                              <a:gd name="T39" fmla="*/ 75 h 182"/>
                              <a:gd name="T40" fmla="*/ 208 w 272"/>
                              <a:gd name="T41" fmla="*/ 11 h 182"/>
                              <a:gd name="T42" fmla="*/ 160 w 272"/>
                              <a:gd name="T43" fmla="*/ 2 h 182"/>
                              <a:gd name="T44" fmla="*/ 133 w 272"/>
                              <a:gd name="T45" fmla="*/ 0 h 182"/>
                              <a:gd name="T46" fmla="*/ 85 w 272"/>
                              <a:gd name="T47" fmla="*/ 2 h 182"/>
                              <a:gd name="T48" fmla="*/ 77 w 272"/>
                              <a:gd name="T49" fmla="*/ 14 h 182"/>
                              <a:gd name="T50" fmla="*/ 52 w 272"/>
                              <a:gd name="T51" fmla="*/ 28 h 182"/>
                              <a:gd name="T52" fmla="*/ 30 w 272"/>
                              <a:gd name="T53" fmla="*/ 60 h 182"/>
                              <a:gd name="T54" fmla="*/ 0 w 272"/>
                              <a:gd name="T55" fmla="*/ 71 h 182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  <a:cxn ang="0">
                                <a:pos x="T52" y="T53"/>
                              </a:cxn>
                              <a:cxn ang="0">
                                <a:pos x="T54" y="T55"/>
                              </a:cxn>
                            </a:cxnLst>
                            <a:rect l="0" t="0" r="r" b="b"/>
                            <a:pathLst>
                              <a:path w="272" h="182">
                                <a:moveTo>
                                  <a:pt x="0" y="71"/>
                                </a:moveTo>
                                <a:lnTo>
                                  <a:pt x="1" y="90"/>
                                </a:lnTo>
                                <a:lnTo>
                                  <a:pt x="11" y="108"/>
                                </a:lnTo>
                                <a:lnTo>
                                  <a:pt x="17" y="121"/>
                                </a:lnTo>
                                <a:lnTo>
                                  <a:pt x="25" y="150"/>
                                </a:lnTo>
                                <a:lnTo>
                                  <a:pt x="40" y="166"/>
                                </a:lnTo>
                                <a:lnTo>
                                  <a:pt x="62" y="182"/>
                                </a:lnTo>
                                <a:lnTo>
                                  <a:pt x="82" y="177"/>
                                </a:lnTo>
                                <a:lnTo>
                                  <a:pt x="97" y="151"/>
                                </a:lnTo>
                                <a:lnTo>
                                  <a:pt x="108" y="116"/>
                                </a:lnTo>
                                <a:lnTo>
                                  <a:pt x="115" y="88"/>
                                </a:lnTo>
                                <a:lnTo>
                                  <a:pt x="142" y="105"/>
                                </a:lnTo>
                                <a:lnTo>
                                  <a:pt x="151" y="74"/>
                                </a:lnTo>
                                <a:lnTo>
                                  <a:pt x="167" y="91"/>
                                </a:lnTo>
                                <a:lnTo>
                                  <a:pt x="183" y="96"/>
                                </a:lnTo>
                                <a:lnTo>
                                  <a:pt x="196" y="93"/>
                                </a:lnTo>
                                <a:lnTo>
                                  <a:pt x="203" y="90"/>
                                </a:lnTo>
                                <a:lnTo>
                                  <a:pt x="209" y="86"/>
                                </a:lnTo>
                                <a:lnTo>
                                  <a:pt x="214" y="92"/>
                                </a:lnTo>
                                <a:lnTo>
                                  <a:pt x="272" y="75"/>
                                </a:lnTo>
                                <a:lnTo>
                                  <a:pt x="208" y="11"/>
                                </a:lnTo>
                                <a:lnTo>
                                  <a:pt x="160" y="2"/>
                                </a:lnTo>
                                <a:lnTo>
                                  <a:pt x="133" y="0"/>
                                </a:lnTo>
                                <a:lnTo>
                                  <a:pt x="85" y="2"/>
                                </a:lnTo>
                                <a:lnTo>
                                  <a:pt x="77" y="14"/>
                                </a:lnTo>
                                <a:lnTo>
                                  <a:pt x="52" y="28"/>
                                </a:lnTo>
                                <a:lnTo>
                                  <a:pt x="30" y="60"/>
                                </a:lnTo>
                                <a:lnTo>
                                  <a:pt x="0" y="71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00080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305" name="Freeform 19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33" y="1862"/>
                            <a:ext cx="77" cy="41"/>
                          </a:xfrm>
                          <a:custGeom>
                            <a:avLst/>
                            <a:gdLst>
                              <a:gd name="T0" fmla="*/ 0 w 154"/>
                              <a:gd name="T1" fmla="*/ 83 h 83"/>
                              <a:gd name="T2" fmla="*/ 23 w 154"/>
                              <a:gd name="T3" fmla="*/ 62 h 83"/>
                              <a:gd name="T4" fmla="*/ 38 w 154"/>
                              <a:gd name="T5" fmla="*/ 51 h 83"/>
                              <a:gd name="T6" fmla="*/ 51 w 154"/>
                              <a:gd name="T7" fmla="*/ 27 h 83"/>
                              <a:gd name="T8" fmla="*/ 68 w 154"/>
                              <a:gd name="T9" fmla="*/ 19 h 83"/>
                              <a:gd name="T10" fmla="*/ 75 w 154"/>
                              <a:gd name="T11" fmla="*/ 3 h 83"/>
                              <a:gd name="T12" fmla="*/ 114 w 154"/>
                              <a:gd name="T13" fmla="*/ 0 h 83"/>
                              <a:gd name="T14" fmla="*/ 154 w 154"/>
                              <a:gd name="T15" fmla="*/ 4 h 8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</a:cxnLst>
                            <a:rect l="0" t="0" r="r" b="b"/>
                            <a:pathLst>
                              <a:path w="154" h="83">
                                <a:moveTo>
                                  <a:pt x="0" y="83"/>
                                </a:moveTo>
                                <a:lnTo>
                                  <a:pt x="23" y="62"/>
                                </a:lnTo>
                                <a:lnTo>
                                  <a:pt x="38" y="51"/>
                                </a:lnTo>
                                <a:lnTo>
                                  <a:pt x="51" y="27"/>
                                </a:lnTo>
                                <a:lnTo>
                                  <a:pt x="68" y="19"/>
                                </a:lnTo>
                                <a:lnTo>
                                  <a:pt x="75" y="3"/>
                                </a:lnTo>
                                <a:lnTo>
                                  <a:pt x="114" y="0"/>
                                </a:lnTo>
                                <a:lnTo>
                                  <a:pt x="154" y="4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  <p:grpSp>
                    <p:nvGrpSpPr>
                      <p:cNvPr id="298" name="Group 19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91" y="1814"/>
                        <a:ext cx="121" cy="83"/>
                        <a:chOff x="2291" y="1814"/>
                        <a:chExt cx="121" cy="83"/>
                      </a:xfrm>
                    </p:grpSpPr>
                    <p:sp>
                      <p:nvSpPr>
                        <p:cNvPr id="299" name="Freeform 19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91" y="1814"/>
                          <a:ext cx="121" cy="83"/>
                        </a:xfrm>
                        <a:custGeom>
                          <a:avLst/>
                          <a:gdLst>
                            <a:gd name="T0" fmla="*/ 0 w 243"/>
                            <a:gd name="T1" fmla="*/ 13 h 165"/>
                            <a:gd name="T2" fmla="*/ 22 w 243"/>
                            <a:gd name="T3" fmla="*/ 2 h 165"/>
                            <a:gd name="T4" fmla="*/ 54 w 243"/>
                            <a:gd name="T5" fmla="*/ 0 h 165"/>
                            <a:gd name="T6" fmla="*/ 77 w 243"/>
                            <a:gd name="T7" fmla="*/ 2 h 165"/>
                            <a:gd name="T8" fmla="*/ 116 w 243"/>
                            <a:gd name="T9" fmla="*/ 8 h 165"/>
                            <a:gd name="T10" fmla="*/ 149 w 243"/>
                            <a:gd name="T11" fmla="*/ 17 h 165"/>
                            <a:gd name="T12" fmla="*/ 159 w 243"/>
                            <a:gd name="T13" fmla="*/ 28 h 165"/>
                            <a:gd name="T14" fmla="*/ 243 w 243"/>
                            <a:gd name="T15" fmla="*/ 48 h 165"/>
                            <a:gd name="T16" fmla="*/ 232 w 243"/>
                            <a:gd name="T17" fmla="*/ 81 h 165"/>
                            <a:gd name="T18" fmla="*/ 219 w 243"/>
                            <a:gd name="T19" fmla="*/ 108 h 165"/>
                            <a:gd name="T20" fmla="*/ 202 w 243"/>
                            <a:gd name="T21" fmla="*/ 121 h 165"/>
                            <a:gd name="T22" fmla="*/ 168 w 243"/>
                            <a:gd name="T23" fmla="*/ 145 h 165"/>
                            <a:gd name="T24" fmla="*/ 156 w 243"/>
                            <a:gd name="T25" fmla="*/ 165 h 165"/>
                            <a:gd name="T26" fmla="*/ 140 w 243"/>
                            <a:gd name="T27" fmla="*/ 162 h 165"/>
                            <a:gd name="T28" fmla="*/ 126 w 243"/>
                            <a:gd name="T29" fmla="*/ 158 h 165"/>
                            <a:gd name="T30" fmla="*/ 113 w 243"/>
                            <a:gd name="T31" fmla="*/ 133 h 165"/>
                            <a:gd name="T32" fmla="*/ 89 w 243"/>
                            <a:gd name="T33" fmla="*/ 108 h 165"/>
                            <a:gd name="T34" fmla="*/ 65 w 243"/>
                            <a:gd name="T35" fmla="*/ 64 h 165"/>
                            <a:gd name="T36" fmla="*/ 86 w 243"/>
                            <a:gd name="T37" fmla="*/ 49 h 165"/>
                            <a:gd name="T38" fmla="*/ 62 w 243"/>
                            <a:gd name="T39" fmla="*/ 45 h 165"/>
                            <a:gd name="T40" fmla="*/ 34 w 243"/>
                            <a:gd name="T41" fmla="*/ 43 h 165"/>
                            <a:gd name="T42" fmla="*/ 25 w 243"/>
                            <a:gd name="T43" fmla="*/ 45 h 165"/>
                            <a:gd name="T44" fmla="*/ 0 w 243"/>
                            <a:gd name="T45" fmla="*/ 13 h 16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</a:cxnLst>
                          <a:rect l="0" t="0" r="r" b="b"/>
                          <a:pathLst>
                            <a:path w="243" h="165">
                              <a:moveTo>
                                <a:pt x="0" y="13"/>
                              </a:moveTo>
                              <a:lnTo>
                                <a:pt x="22" y="2"/>
                              </a:lnTo>
                              <a:lnTo>
                                <a:pt x="54" y="0"/>
                              </a:lnTo>
                              <a:lnTo>
                                <a:pt x="77" y="2"/>
                              </a:lnTo>
                              <a:lnTo>
                                <a:pt x="116" y="8"/>
                              </a:lnTo>
                              <a:lnTo>
                                <a:pt x="149" y="17"/>
                              </a:lnTo>
                              <a:lnTo>
                                <a:pt x="159" y="28"/>
                              </a:lnTo>
                              <a:lnTo>
                                <a:pt x="243" y="48"/>
                              </a:lnTo>
                              <a:lnTo>
                                <a:pt x="232" y="81"/>
                              </a:lnTo>
                              <a:lnTo>
                                <a:pt x="219" y="108"/>
                              </a:lnTo>
                              <a:lnTo>
                                <a:pt x="202" y="121"/>
                              </a:lnTo>
                              <a:lnTo>
                                <a:pt x="168" y="145"/>
                              </a:lnTo>
                              <a:lnTo>
                                <a:pt x="156" y="165"/>
                              </a:lnTo>
                              <a:lnTo>
                                <a:pt x="140" y="162"/>
                              </a:lnTo>
                              <a:lnTo>
                                <a:pt x="126" y="158"/>
                              </a:lnTo>
                              <a:lnTo>
                                <a:pt x="113" y="133"/>
                              </a:lnTo>
                              <a:lnTo>
                                <a:pt x="89" y="108"/>
                              </a:lnTo>
                              <a:lnTo>
                                <a:pt x="65" y="64"/>
                              </a:lnTo>
                              <a:lnTo>
                                <a:pt x="86" y="49"/>
                              </a:lnTo>
                              <a:lnTo>
                                <a:pt x="62" y="45"/>
                              </a:lnTo>
                              <a:lnTo>
                                <a:pt x="34" y="43"/>
                              </a:lnTo>
                              <a:lnTo>
                                <a:pt x="25" y="45"/>
                              </a:lnTo>
                              <a:lnTo>
                                <a:pt x="0" y="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9FDF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300" name="Freeform 19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1" y="1825"/>
                          <a:ext cx="34" cy="10"/>
                        </a:xfrm>
                        <a:custGeom>
                          <a:avLst/>
                          <a:gdLst>
                            <a:gd name="T0" fmla="*/ 0 w 68"/>
                            <a:gd name="T1" fmla="*/ 21 h 21"/>
                            <a:gd name="T2" fmla="*/ 9 w 68"/>
                            <a:gd name="T3" fmla="*/ 11 h 21"/>
                            <a:gd name="T4" fmla="*/ 16 w 68"/>
                            <a:gd name="T5" fmla="*/ 5 h 21"/>
                            <a:gd name="T6" fmla="*/ 30 w 68"/>
                            <a:gd name="T7" fmla="*/ 0 h 21"/>
                            <a:gd name="T8" fmla="*/ 42 w 68"/>
                            <a:gd name="T9" fmla="*/ 0 h 21"/>
                            <a:gd name="T10" fmla="*/ 68 w 68"/>
                            <a:gd name="T11" fmla="*/ 4 h 2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68" h="21">
                              <a:moveTo>
                                <a:pt x="0" y="21"/>
                              </a:moveTo>
                              <a:lnTo>
                                <a:pt x="9" y="11"/>
                              </a:lnTo>
                              <a:lnTo>
                                <a:pt x="16" y="5"/>
                              </a:lnTo>
                              <a:lnTo>
                                <a:pt x="30" y="0"/>
                              </a:lnTo>
                              <a:lnTo>
                                <a:pt x="42" y="0"/>
                              </a:lnTo>
                              <a:lnTo>
                                <a:pt x="68" y="4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301" name="Freeform 195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5" y="1839"/>
                          <a:ext cx="57" cy="42"/>
                        </a:xfrm>
                        <a:custGeom>
                          <a:avLst/>
                          <a:gdLst>
                            <a:gd name="T0" fmla="*/ 114 w 114"/>
                            <a:gd name="T1" fmla="*/ 16 h 84"/>
                            <a:gd name="T2" fmla="*/ 86 w 114"/>
                            <a:gd name="T3" fmla="*/ 33 h 84"/>
                            <a:gd name="T4" fmla="*/ 80 w 114"/>
                            <a:gd name="T5" fmla="*/ 26 h 84"/>
                            <a:gd name="T6" fmla="*/ 70 w 114"/>
                            <a:gd name="T7" fmla="*/ 27 h 84"/>
                            <a:gd name="T8" fmla="*/ 0 w 114"/>
                            <a:gd name="T9" fmla="*/ 0 h 84"/>
                            <a:gd name="T10" fmla="*/ 3 w 114"/>
                            <a:gd name="T11" fmla="*/ 48 h 84"/>
                            <a:gd name="T12" fmla="*/ 87 w 114"/>
                            <a:gd name="T13" fmla="*/ 84 h 8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</a:cxnLst>
                          <a:rect l="0" t="0" r="r" b="b"/>
                          <a:pathLst>
                            <a:path w="114" h="84">
                              <a:moveTo>
                                <a:pt x="114" y="16"/>
                              </a:moveTo>
                              <a:lnTo>
                                <a:pt x="86" y="33"/>
                              </a:lnTo>
                              <a:lnTo>
                                <a:pt x="80" y="26"/>
                              </a:lnTo>
                              <a:lnTo>
                                <a:pt x="70" y="27"/>
                              </a:lnTo>
                              <a:lnTo>
                                <a:pt x="0" y="0"/>
                              </a:lnTo>
                              <a:lnTo>
                                <a:pt x="3" y="48"/>
                              </a:lnTo>
                              <a:lnTo>
                                <a:pt x="87" y="84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</p:grpSp>
              </p:grpSp>
              <p:grpSp>
                <p:nvGrpSpPr>
                  <p:cNvPr id="292" name="Group 196"/>
                  <p:cNvGrpSpPr>
                    <a:grpSpLocks/>
                  </p:cNvGrpSpPr>
                  <p:nvPr/>
                </p:nvGrpSpPr>
                <p:grpSpPr bwMode="auto">
                  <a:xfrm>
                    <a:off x="2275" y="1811"/>
                    <a:ext cx="63" cy="53"/>
                    <a:chOff x="2275" y="1811"/>
                    <a:chExt cx="63" cy="53"/>
                  </a:xfrm>
                </p:grpSpPr>
                <p:sp>
                  <p:nvSpPr>
                    <p:cNvPr id="293" name="Freeform 197"/>
                    <p:cNvSpPr>
                      <a:spLocks/>
                    </p:cNvSpPr>
                    <p:nvPr/>
                  </p:nvSpPr>
                  <p:spPr bwMode="auto">
                    <a:xfrm>
                      <a:off x="2275" y="1811"/>
                      <a:ext cx="31" cy="20"/>
                    </a:xfrm>
                    <a:custGeom>
                      <a:avLst/>
                      <a:gdLst>
                        <a:gd name="T0" fmla="*/ 63 w 63"/>
                        <a:gd name="T1" fmla="*/ 8 h 40"/>
                        <a:gd name="T2" fmla="*/ 41 w 63"/>
                        <a:gd name="T3" fmla="*/ 40 h 40"/>
                        <a:gd name="T4" fmla="*/ 6 w 63"/>
                        <a:gd name="T5" fmla="*/ 33 h 40"/>
                        <a:gd name="T6" fmla="*/ 0 w 63"/>
                        <a:gd name="T7" fmla="*/ 26 h 40"/>
                        <a:gd name="T8" fmla="*/ 1 w 63"/>
                        <a:gd name="T9" fmla="*/ 0 h 40"/>
                        <a:gd name="T10" fmla="*/ 63 w 63"/>
                        <a:gd name="T11" fmla="*/ 8 h 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3" h="40">
                          <a:moveTo>
                            <a:pt x="63" y="8"/>
                          </a:moveTo>
                          <a:lnTo>
                            <a:pt x="41" y="40"/>
                          </a:lnTo>
                          <a:lnTo>
                            <a:pt x="6" y="33"/>
                          </a:lnTo>
                          <a:lnTo>
                            <a:pt x="0" y="26"/>
                          </a:lnTo>
                          <a:lnTo>
                            <a:pt x="1" y="0"/>
                          </a:lnTo>
                          <a:lnTo>
                            <a:pt x="63" y="8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294" name="Freeform 198"/>
                    <p:cNvSpPr>
                      <a:spLocks/>
                    </p:cNvSpPr>
                    <p:nvPr/>
                  </p:nvSpPr>
                  <p:spPr bwMode="auto">
                    <a:xfrm>
                      <a:off x="2295" y="1825"/>
                      <a:ext cx="43" cy="39"/>
                    </a:xfrm>
                    <a:custGeom>
                      <a:avLst/>
                      <a:gdLst>
                        <a:gd name="T0" fmla="*/ 83 w 86"/>
                        <a:gd name="T1" fmla="*/ 29 h 79"/>
                        <a:gd name="T2" fmla="*/ 64 w 86"/>
                        <a:gd name="T3" fmla="*/ 17 h 79"/>
                        <a:gd name="T4" fmla="*/ 57 w 86"/>
                        <a:gd name="T5" fmla="*/ 6 h 79"/>
                        <a:gd name="T6" fmla="*/ 48 w 86"/>
                        <a:gd name="T7" fmla="*/ 4 h 79"/>
                        <a:gd name="T8" fmla="*/ 30 w 86"/>
                        <a:gd name="T9" fmla="*/ 0 h 79"/>
                        <a:gd name="T10" fmla="*/ 9 w 86"/>
                        <a:gd name="T11" fmla="*/ 3 h 79"/>
                        <a:gd name="T12" fmla="*/ 3 w 86"/>
                        <a:gd name="T13" fmla="*/ 5 h 79"/>
                        <a:gd name="T14" fmla="*/ 0 w 86"/>
                        <a:gd name="T15" fmla="*/ 11 h 79"/>
                        <a:gd name="T16" fmla="*/ 1 w 86"/>
                        <a:gd name="T17" fmla="*/ 22 h 79"/>
                        <a:gd name="T18" fmla="*/ 7 w 86"/>
                        <a:gd name="T19" fmla="*/ 33 h 79"/>
                        <a:gd name="T20" fmla="*/ 17 w 86"/>
                        <a:gd name="T21" fmla="*/ 38 h 79"/>
                        <a:gd name="T22" fmla="*/ 23 w 86"/>
                        <a:gd name="T23" fmla="*/ 42 h 79"/>
                        <a:gd name="T24" fmla="*/ 19 w 86"/>
                        <a:gd name="T25" fmla="*/ 55 h 79"/>
                        <a:gd name="T26" fmla="*/ 24 w 86"/>
                        <a:gd name="T27" fmla="*/ 74 h 79"/>
                        <a:gd name="T28" fmla="*/ 39 w 86"/>
                        <a:gd name="T29" fmla="*/ 69 h 79"/>
                        <a:gd name="T30" fmla="*/ 86 w 86"/>
                        <a:gd name="T31" fmla="*/ 79 h 79"/>
                        <a:gd name="T32" fmla="*/ 83 w 86"/>
                        <a:gd name="T33" fmla="*/ 29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86" h="79">
                          <a:moveTo>
                            <a:pt x="83" y="29"/>
                          </a:moveTo>
                          <a:lnTo>
                            <a:pt x="64" y="17"/>
                          </a:lnTo>
                          <a:lnTo>
                            <a:pt x="57" y="6"/>
                          </a:lnTo>
                          <a:lnTo>
                            <a:pt x="48" y="4"/>
                          </a:lnTo>
                          <a:lnTo>
                            <a:pt x="30" y="0"/>
                          </a:lnTo>
                          <a:lnTo>
                            <a:pt x="9" y="3"/>
                          </a:lnTo>
                          <a:lnTo>
                            <a:pt x="3" y="5"/>
                          </a:lnTo>
                          <a:lnTo>
                            <a:pt x="0" y="11"/>
                          </a:lnTo>
                          <a:lnTo>
                            <a:pt x="1" y="22"/>
                          </a:lnTo>
                          <a:lnTo>
                            <a:pt x="7" y="33"/>
                          </a:lnTo>
                          <a:lnTo>
                            <a:pt x="17" y="38"/>
                          </a:lnTo>
                          <a:lnTo>
                            <a:pt x="23" y="42"/>
                          </a:lnTo>
                          <a:lnTo>
                            <a:pt x="19" y="55"/>
                          </a:lnTo>
                          <a:lnTo>
                            <a:pt x="24" y="74"/>
                          </a:lnTo>
                          <a:lnTo>
                            <a:pt x="39" y="69"/>
                          </a:lnTo>
                          <a:lnTo>
                            <a:pt x="86" y="79"/>
                          </a:lnTo>
                          <a:lnTo>
                            <a:pt x="83" y="29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</p:grpSp>
          <p:grpSp>
            <p:nvGrpSpPr>
              <p:cNvPr id="180" name="Group 199"/>
              <p:cNvGrpSpPr>
                <a:grpSpLocks/>
              </p:cNvGrpSpPr>
              <p:nvPr/>
            </p:nvGrpSpPr>
            <p:grpSpPr bwMode="auto">
              <a:xfrm>
                <a:off x="2055" y="1668"/>
                <a:ext cx="311" cy="277"/>
                <a:chOff x="2055" y="1668"/>
                <a:chExt cx="311" cy="277"/>
              </a:xfrm>
            </p:grpSpPr>
            <p:grpSp>
              <p:nvGrpSpPr>
                <p:cNvPr id="240" name="Group 200"/>
                <p:cNvGrpSpPr>
                  <a:grpSpLocks/>
                </p:cNvGrpSpPr>
                <p:nvPr/>
              </p:nvGrpSpPr>
              <p:grpSpPr bwMode="auto">
                <a:xfrm>
                  <a:off x="2055" y="1668"/>
                  <a:ext cx="311" cy="277"/>
                  <a:chOff x="2055" y="1668"/>
                  <a:chExt cx="311" cy="277"/>
                </a:xfrm>
              </p:grpSpPr>
              <p:grpSp>
                <p:nvGrpSpPr>
                  <p:cNvPr id="242" name="Group 201"/>
                  <p:cNvGrpSpPr>
                    <a:grpSpLocks/>
                  </p:cNvGrpSpPr>
                  <p:nvPr/>
                </p:nvGrpSpPr>
                <p:grpSpPr bwMode="auto">
                  <a:xfrm>
                    <a:off x="2055" y="1668"/>
                    <a:ext cx="311" cy="277"/>
                    <a:chOff x="2055" y="1668"/>
                    <a:chExt cx="311" cy="277"/>
                  </a:xfrm>
                </p:grpSpPr>
                <p:grpSp>
                  <p:nvGrpSpPr>
                    <p:cNvPr id="251" name="Group 20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7" y="1668"/>
                      <a:ext cx="109" cy="122"/>
                      <a:chOff x="2257" y="1668"/>
                      <a:chExt cx="109" cy="122"/>
                    </a:xfrm>
                  </p:grpSpPr>
                  <p:grpSp>
                    <p:nvGrpSpPr>
                      <p:cNvPr id="271" name="Group 20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57" y="1681"/>
                        <a:ext cx="86" cy="109"/>
                        <a:chOff x="2257" y="1681"/>
                        <a:chExt cx="86" cy="109"/>
                      </a:xfrm>
                    </p:grpSpPr>
                    <p:grpSp>
                      <p:nvGrpSpPr>
                        <p:cNvPr id="284" name="Group 20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6" y="1740"/>
                          <a:ext cx="46" cy="31"/>
                          <a:chOff x="2266" y="1740"/>
                          <a:chExt cx="46" cy="31"/>
                        </a:xfrm>
                      </p:grpSpPr>
                      <p:sp>
                        <p:nvSpPr>
                          <p:cNvPr id="286" name="Freeform 20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66" y="1740"/>
                            <a:ext cx="46" cy="31"/>
                          </a:xfrm>
                          <a:custGeom>
                            <a:avLst/>
                            <a:gdLst>
                              <a:gd name="T0" fmla="*/ 93 w 93"/>
                              <a:gd name="T1" fmla="*/ 27 h 62"/>
                              <a:gd name="T2" fmla="*/ 82 w 93"/>
                              <a:gd name="T3" fmla="*/ 33 h 62"/>
                              <a:gd name="T4" fmla="*/ 71 w 93"/>
                              <a:gd name="T5" fmla="*/ 39 h 62"/>
                              <a:gd name="T6" fmla="*/ 61 w 93"/>
                              <a:gd name="T7" fmla="*/ 48 h 62"/>
                              <a:gd name="T8" fmla="*/ 55 w 93"/>
                              <a:gd name="T9" fmla="*/ 62 h 62"/>
                              <a:gd name="T10" fmla="*/ 42 w 93"/>
                              <a:gd name="T11" fmla="*/ 60 h 62"/>
                              <a:gd name="T12" fmla="*/ 11 w 93"/>
                              <a:gd name="T13" fmla="*/ 50 h 62"/>
                              <a:gd name="T14" fmla="*/ 0 w 93"/>
                              <a:gd name="T15" fmla="*/ 31 h 62"/>
                              <a:gd name="T16" fmla="*/ 14 w 93"/>
                              <a:gd name="T17" fmla="*/ 1 h 62"/>
                              <a:gd name="T18" fmla="*/ 60 w 93"/>
                              <a:gd name="T19" fmla="*/ 0 h 62"/>
                              <a:gd name="T20" fmla="*/ 83 w 93"/>
                              <a:gd name="T21" fmla="*/ 8 h 62"/>
                              <a:gd name="T22" fmla="*/ 93 w 93"/>
                              <a:gd name="T23" fmla="*/ 27 h 62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</a:cxnLst>
                            <a:rect l="0" t="0" r="r" b="b"/>
                            <a:pathLst>
                              <a:path w="93" h="62">
                                <a:moveTo>
                                  <a:pt x="93" y="27"/>
                                </a:moveTo>
                                <a:lnTo>
                                  <a:pt x="82" y="33"/>
                                </a:lnTo>
                                <a:lnTo>
                                  <a:pt x="71" y="39"/>
                                </a:lnTo>
                                <a:lnTo>
                                  <a:pt x="61" y="48"/>
                                </a:lnTo>
                                <a:lnTo>
                                  <a:pt x="55" y="62"/>
                                </a:lnTo>
                                <a:lnTo>
                                  <a:pt x="42" y="60"/>
                                </a:lnTo>
                                <a:lnTo>
                                  <a:pt x="11" y="50"/>
                                </a:lnTo>
                                <a:lnTo>
                                  <a:pt x="0" y="31"/>
                                </a:lnTo>
                                <a:lnTo>
                                  <a:pt x="14" y="1"/>
                                </a:lnTo>
                                <a:lnTo>
                                  <a:pt x="60" y="0"/>
                                </a:lnTo>
                                <a:lnTo>
                                  <a:pt x="83" y="8"/>
                                </a:lnTo>
                                <a:lnTo>
                                  <a:pt x="93" y="2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87" name="Freeform 20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82" y="1747"/>
                            <a:ext cx="6" cy="16"/>
                          </a:xfrm>
                          <a:custGeom>
                            <a:avLst/>
                            <a:gdLst>
                              <a:gd name="T0" fmla="*/ 13 w 13"/>
                              <a:gd name="T1" fmla="*/ 0 h 33"/>
                              <a:gd name="T2" fmla="*/ 4 w 13"/>
                              <a:gd name="T3" fmla="*/ 14 h 33"/>
                              <a:gd name="T4" fmla="*/ 0 w 13"/>
                              <a:gd name="T5" fmla="*/ 33 h 3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13" h="33">
                                <a:moveTo>
                                  <a:pt x="13" y="0"/>
                                </a:moveTo>
                                <a:lnTo>
                                  <a:pt x="4" y="14"/>
                                </a:lnTo>
                                <a:lnTo>
                                  <a:pt x="0" y="33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88" name="Freeform 20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90" y="1748"/>
                            <a:ext cx="9" cy="18"/>
                          </a:xfrm>
                          <a:custGeom>
                            <a:avLst/>
                            <a:gdLst>
                              <a:gd name="T0" fmla="*/ 18 w 18"/>
                              <a:gd name="T1" fmla="*/ 0 h 35"/>
                              <a:gd name="T2" fmla="*/ 2 w 18"/>
                              <a:gd name="T3" fmla="*/ 15 h 35"/>
                              <a:gd name="T4" fmla="*/ 0 w 18"/>
                              <a:gd name="T5" fmla="*/ 35 h 3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18" h="35">
                                <a:moveTo>
                                  <a:pt x="18" y="0"/>
                                </a:moveTo>
                                <a:lnTo>
                                  <a:pt x="2" y="15"/>
                                </a:lnTo>
                                <a:lnTo>
                                  <a:pt x="0" y="35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sp>
                      <p:nvSpPr>
                        <p:cNvPr id="285" name="Freeform 20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57" y="1681"/>
                          <a:ext cx="86" cy="109"/>
                        </a:xfrm>
                        <a:custGeom>
                          <a:avLst/>
                          <a:gdLst>
                            <a:gd name="T0" fmla="*/ 4 w 174"/>
                            <a:gd name="T1" fmla="*/ 158 h 218"/>
                            <a:gd name="T2" fmla="*/ 10 w 174"/>
                            <a:gd name="T3" fmla="*/ 129 h 218"/>
                            <a:gd name="T4" fmla="*/ 9 w 174"/>
                            <a:gd name="T5" fmla="*/ 98 h 218"/>
                            <a:gd name="T6" fmla="*/ 3 w 174"/>
                            <a:gd name="T7" fmla="*/ 76 h 218"/>
                            <a:gd name="T8" fmla="*/ 2 w 174"/>
                            <a:gd name="T9" fmla="*/ 51 h 218"/>
                            <a:gd name="T10" fmla="*/ 13 w 174"/>
                            <a:gd name="T11" fmla="*/ 43 h 218"/>
                            <a:gd name="T12" fmla="*/ 33 w 174"/>
                            <a:gd name="T13" fmla="*/ 43 h 218"/>
                            <a:gd name="T14" fmla="*/ 51 w 174"/>
                            <a:gd name="T15" fmla="*/ 35 h 218"/>
                            <a:gd name="T16" fmla="*/ 72 w 174"/>
                            <a:gd name="T17" fmla="*/ 11 h 218"/>
                            <a:gd name="T18" fmla="*/ 97 w 174"/>
                            <a:gd name="T19" fmla="*/ 1 h 218"/>
                            <a:gd name="T20" fmla="*/ 126 w 174"/>
                            <a:gd name="T21" fmla="*/ 3 h 218"/>
                            <a:gd name="T22" fmla="*/ 146 w 174"/>
                            <a:gd name="T23" fmla="*/ 13 h 218"/>
                            <a:gd name="T24" fmla="*/ 164 w 174"/>
                            <a:gd name="T25" fmla="*/ 38 h 218"/>
                            <a:gd name="T26" fmla="*/ 174 w 174"/>
                            <a:gd name="T27" fmla="*/ 68 h 218"/>
                            <a:gd name="T28" fmla="*/ 169 w 174"/>
                            <a:gd name="T29" fmla="*/ 104 h 218"/>
                            <a:gd name="T30" fmla="*/ 151 w 174"/>
                            <a:gd name="T31" fmla="*/ 137 h 218"/>
                            <a:gd name="T32" fmla="*/ 165 w 174"/>
                            <a:gd name="T33" fmla="*/ 158 h 218"/>
                            <a:gd name="T34" fmla="*/ 165 w 174"/>
                            <a:gd name="T35" fmla="*/ 175 h 218"/>
                            <a:gd name="T36" fmla="*/ 162 w 174"/>
                            <a:gd name="T37" fmla="*/ 188 h 218"/>
                            <a:gd name="T38" fmla="*/ 153 w 174"/>
                            <a:gd name="T39" fmla="*/ 207 h 218"/>
                            <a:gd name="T40" fmla="*/ 134 w 174"/>
                            <a:gd name="T41" fmla="*/ 218 h 218"/>
                            <a:gd name="T42" fmla="*/ 117 w 174"/>
                            <a:gd name="T43" fmla="*/ 205 h 218"/>
                            <a:gd name="T44" fmla="*/ 124 w 174"/>
                            <a:gd name="T45" fmla="*/ 170 h 218"/>
                            <a:gd name="T46" fmla="*/ 113 w 174"/>
                            <a:gd name="T47" fmla="*/ 153 h 218"/>
                            <a:gd name="T48" fmla="*/ 100 w 174"/>
                            <a:gd name="T49" fmla="*/ 140 h 218"/>
                            <a:gd name="T50" fmla="*/ 80 w 174"/>
                            <a:gd name="T51" fmla="*/ 130 h 218"/>
                            <a:gd name="T52" fmla="*/ 40 w 174"/>
                            <a:gd name="T53" fmla="*/ 135 h 218"/>
                            <a:gd name="T54" fmla="*/ 31 w 174"/>
                            <a:gd name="T55" fmla="*/ 152 h 218"/>
                            <a:gd name="T56" fmla="*/ 38 w 174"/>
                            <a:gd name="T57" fmla="*/ 165 h 218"/>
                            <a:gd name="T58" fmla="*/ 59 w 174"/>
                            <a:gd name="T59" fmla="*/ 169 h 218"/>
                            <a:gd name="T60" fmla="*/ 74 w 174"/>
                            <a:gd name="T61" fmla="*/ 181 h 218"/>
                            <a:gd name="T62" fmla="*/ 63 w 174"/>
                            <a:gd name="T63" fmla="*/ 203 h 21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</a:cxnLst>
                          <a:rect l="0" t="0" r="r" b="b"/>
                          <a:pathLst>
                            <a:path w="174" h="218">
                              <a:moveTo>
                                <a:pt x="6" y="172"/>
                              </a:moveTo>
                              <a:lnTo>
                                <a:pt x="4" y="158"/>
                              </a:lnTo>
                              <a:lnTo>
                                <a:pt x="5" y="142"/>
                              </a:lnTo>
                              <a:lnTo>
                                <a:pt x="10" y="129"/>
                              </a:lnTo>
                              <a:lnTo>
                                <a:pt x="8" y="112"/>
                              </a:lnTo>
                              <a:lnTo>
                                <a:pt x="9" y="98"/>
                              </a:lnTo>
                              <a:lnTo>
                                <a:pt x="4" y="90"/>
                              </a:lnTo>
                              <a:lnTo>
                                <a:pt x="3" y="76"/>
                              </a:lnTo>
                              <a:lnTo>
                                <a:pt x="0" y="63"/>
                              </a:lnTo>
                              <a:lnTo>
                                <a:pt x="2" y="51"/>
                              </a:lnTo>
                              <a:lnTo>
                                <a:pt x="5" y="46"/>
                              </a:lnTo>
                              <a:lnTo>
                                <a:pt x="13" y="43"/>
                              </a:lnTo>
                              <a:lnTo>
                                <a:pt x="25" y="40"/>
                              </a:lnTo>
                              <a:lnTo>
                                <a:pt x="33" y="43"/>
                              </a:lnTo>
                              <a:lnTo>
                                <a:pt x="46" y="47"/>
                              </a:lnTo>
                              <a:lnTo>
                                <a:pt x="51" y="35"/>
                              </a:lnTo>
                              <a:lnTo>
                                <a:pt x="60" y="24"/>
                              </a:lnTo>
                              <a:lnTo>
                                <a:pt x="72" y="11"/>
                              </a:lnTo>
                              <a:lnTo>
                                <a:pt x="85" y="5"/>
                              </a:lnTo>
                              <a:lnTo>
                                <a:pt x="97" y="1"/>
                              </a:lnTo>
                              <a:lnTo>
                                <a:pt x="113" y="0"/>
                              </a:lnTo>
                              <a:lnTo>
                                <a:pt x="126" y="3"/>
                              </a:lnTo>
                              <a:lnTo>
                                <a:pt x="136" y="6"/>
                              </a:lnTo>
                              <a:lnTo>
                                <a:pt x="146" y="13"/>
                              </a:lnTo>
                              <a:lnTo>
                                <a:pt x="155" y="24"/>
                              </a:lnTo>
                              <a:lnTo>
                                <a:pt x="164" y="38"/>
                              </a:lnTo>
                              <a:lnTo>
                                <a:pt x="170" y="50"/>
                              </a:lnTo>
                              <a:lnTo>
                                <a:pt x="174" y="68"/>
                              </a:lnTo>
                              <a:lnTo>
                                <a:pt x="174" y="85"/>
                              </a:lnTo>
                              <a:lnTo>
                                <a:pt x="169" y="104"/>
                              </a:lnTo>
                              <a:lnTo>
                                <a:pt x="160" y="124"/>
                              </a:lnTo>
                              <a:lnTo>
                                <a:pt x="151" y="137"/>
                              </a:lnTo>
                              <a:lnTo>
                                <a:pt x="157" y="146"/>
                              </a:lnTo>
                              <a:lnTo>
                                <a:pt x="165" y="158"/>
                              </a:lnTo>
                              <a:lnTo>
                                <a:pt x="169" y="167"/>
                              </a:lnTo>
                              <a:lnTo>
                                <a:pt x="165" y="175"/>
                              </a:lnTo>
                              <a:lnTo>
                                <a:pt x="157" y="181"/>
                              </a:lnTo>
                              <a:lnTo>
                                <a:pt x="162" y="188"/>
                              </a:lnTo>
                              <a:lnTo>
                                <a:pt x="159" y="198"/>
                              </a:lnTo>
                              <a:lnTo>
                                <a:pt x="153" y="207"/>
                              </a:lnTo>
                              <a:lnTo>
                                <a:pt x="145" y="216"/>
                              </a:lnTo>
                              <a:lnTo>
                                <a:pt x="134" y="218"/>
                              </a:lnTo>
                              <a:lnTo>
                                <a:pt x="123" y="215"/>
                              </a:lnTo>
                              <a:lnTo>
                                <a:pt x="117" y="205"/>
                              </a:lnTo>
                              <a:lnTo>
                                <a:pt x="120" y="188"/>
                              </a:lnTo>
                              <a:lnTo>
                                <a:pt x="124" y="170"/>
                              </a:lnTo>
                              <a:lnTo>
                                <a:pt x="120" y="159"/>
                              </a:lnTo>
                              <a:lnTo>
                                <a:pt x="113" y="153"/>
                              </a:lnTo>
                              <a:lnTo>
                                <a:pt x="102" y="149"/>
                              </a:lnTo>
                              <a:lnTo>
                                <a:pt x="100" y="140"/>
                              </a:lnTo>
                              <a:lnTo>
                                <a:pt x="92" y="133"/>
                              </a:lnTo>
                              <a:lnTo>
                                <a:pt x="80" y="130"/>
                              </a:lnTo>
                              <a:lnTo>
                                <a:pt x="49" y="131"/>
                              </a:lnTo>
                              <a:lnTo>
                                <a:pt x="40" y="135"/>
                              </a:lnTo>
                              <a:lnTo>
                                <a:pt x="33" y="141"/>
                              </a:lnTo>
                              <a:lnTo>
                                <a:pt x="31" y="152"/>
                              </a:lnTo>
                              <a:lnTo>
                                <a:pt x="33" y="160"/>
                              </a:lnTo>
                              <a:lnTo>
                                <a:pt x="38" y="165"/>
                              </a:lnTo>
                              <a:lnTo>
                                <a:pt x="48" y="165"/>
                              </a:lnTo>
                              <a:lnTo>
                                <a:pt x="59" y="169"/>
                              </a:lnTo>
                              <a:lnTo>
                                <a:pt x="69" y="173"/>
                              </a:lnTo>
                              <a:lnTo>
                                <a:pt x="74" y="181"/>
                              </a:lnTo>
                              <a:lnTo>
                                <a:pt x="73" y="193"/>
                              </a:lnTo>
                              <a:lnTo>
                                <a:pt x="63" y="203"/>
                              </a:lnTo>
                              <a:lnTo>
                                <a:pt x="6" y="17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BF5F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  <p:grpSp>
                    <p:nvGrpSpPr>
                      <p:cNvPr id="272" name="Group 20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6" y="1668"/>
                        <a:ext cx="100" cy="79"/>
                        <a:chOff x="2266" y="1668"/>
                        <a:chExt cx="100" cy="79"/>
                      </a:xfrm>
                    </p:grpSpPr>
                    <p:grpSp>
                      <p:nvGrpSpPr>
                        <p:cNvPr id="273" name="Group 21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6" y="1668"/>
                          <a:ext cx="100" cy="62"/>
                          <a:chOff x="2266" y="1668"/>
                          <a:chExt cx="100" cy="62"/>
                        </a:xfrm>
                      </p:grpSpPr>
                      <p:sp>
                        <p:nvSpPr>
                          <p:cNvPr id="277" name="Line 21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2266" y="1712"/>
                            <a:ext cx="3" cy="7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78" name="Freeform 21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69" y="1668"/>
                            <a:ext cx="32" cy="34"/>
                          </a:xfrm>
                          <a:custGeom>
                            <a:avLst/>
                            <a:gdLst>
                              <a:gd name="T0" fmla="*/ 0 w 63"/>
                              <a:gd name="T1" fmla="*/ 68 h 68"/>
                              <a:gd name="T2" fmla="*/ 8 w 63"/>
                              <a:gd name="T3" fmla="*/ 33 h 68"/>
                              <a:gd name="T4" fmla="*/ 13 w 63"/>
                              <a:gd name="T5" fmla="*/ 24 h 68"/>
                              <a:gd name="T6" fmla="*/ 22 w 63"/>
                              <a:gd name="T7" fmla="*/ 17 h 68"/>
                              <a:gd name="T8" fmla="*/ 35 w 63"/>
                              <a:gd name="T9" fmla="*/ 14 h 68"/>
                              <a:gd name="T10" fmla="*/ 45 w 63"/>
                              <a:gd name="T11" fmla="*/ 11 h 68"/>
                              <a:gd name="T12" fmla="*/ 54 w 63"/>
                              <a:gd name="T13" fmla="*/ 8 h 68"/>
                              <a:gd name="T14" fmla="*/ 63 w 63"/>
                              <a:gd name="T15" fmla="*/ 0 h 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</a:cxnLst>
                            <a:rect l="0" t="0" r="r" b="b"/>
                            <a:pathLst>
                              <a:path w="63" h="68">
                                <a:moveTo>
                                  <a:pt x="0" y="68"/>
                                </a:moveTo>
                                <a:lnTo>
                                  <a:pt x="8" y="33"/>
                                </a:lnTo>
                                <a:lnTo>
                                  <a:pt x="13" y="24"/>
                                </a:lnTo>
                                <a:lnTo>
                                  <a:pt x="22" y="17"/>
                                </a:lnTo>
                                <a:lnTo>
                                  <a:pt x="35" y="14"/>
                                </a:lnTo>
                                <a:lnTo>
                                  <a:pt x="45" y="11"/>
                                </a:lnTo>
                                <a:lnTo>
                                  <a:pt x="54" y="8"/>
                                </a:lnTo>
                                <a:lnTo>
                                  <a:pt x="63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79" name="Freeform 21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75" y="1677"/>
                            <a:ext cx="24" cy="31"/>
                          </a:xfrm>
                          <a:custGeom>
                            <a:avLst/>
                            <a:gdLst>
                              <a:gd name="T0" fmla="*/ 47 w 47"/>
                              <a:gd name="T1" fmla="*/ 0 h 60"/>
                              <a:gd name="T2" fmla="*/ 35 w 47"/>
                              <a:gd name="T3" fmla="*/ 0 h 60"/>
                              <a:gd name="T4" fmla="*/ 25 w 47"/>
                              <a:gd name="T5" fmla="*/ 6 h 60"/>
                              <a:gd name="T6" fmla="*/ 23 w 47"/>
                              <a:gd name="T7" fmla="*/ 16 h 60"/>
                              <a:gd name="T8" fmla="*/ 17 w 47"/>
                              <a:gd name="T9" fmla="*/ 35 h 60"/>
                              <a:gd name="T10" fmla="*/ 0 w 47"/>
                              <a:gd name="T11" fmla="*/ 60 h 6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</a:cxnLst>
                            <a:rect l="0" t="0" r="r" b="b"/>
                            <a:pathLst>
                              <a:path w="47" h="60">
                                <a:moveTo>
                                  <a:pt x="47" y="0"/>
                                </a:moveTo>
                                <a:lnTo>
                                  <a:pt x="35" y="0"/>
                                </a:lnTo>
                                <a:lnTo>
                                  <a:pt x="25" y="6"/>
                                </a:lnTo>
                                <a:lnTo>
                                  <a:pt x="23" y="16"/>
                                </a:lnTo>
                                <a:lnTo>
                                  <a:pt x="17" y="35"/>
                                </a:lnTo>
                                <a:lnTo>
                                  <a:pt x="0" y="6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80" name="Freeform 21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308" y="1672"/>
                            <a:ext cx="38" cy="11"/>
                          </a:xfrm>
                          <a:custGeom>
                            <a:avLst/>
                            <a:gdLst>
                              <a:gd name="T0" fmla="*/ 0 w 77"/>
                              <a:gd name="T1" fmla="*/ 22 h 22"/>
                              <a:gd name="T2" fmla="*/ 13 w 77"/>
                              <a:gd name="T3" fmla="*/ 11 h 22"/>
                              <a:gd name="T4" fmla="*/ 23 w 77"/>
                              <a:gd name="T5" fmla="*/ 2 h 22"/>
                              <a:gd name="T6" fmla="*/ 33 w 77"/>
                              <a:gd name="T7" fmla="*/ 0 h 22"/>
                              <a:gd name="T8" fmla="*/ 44 w 77"/>
                              <a:gd name="T9" fmla="*/ 1 h 22"/>
                              <a:gd name="T10" fmla="*/ 61 w 77"/>
                              <a:gd name="T11" fmla="*/ 6 h 22"/>
                              <a:gd name="T12" fmla="*/ 77 w 77"/>
                              <a:gd name="T13" fmla="*/ 12 h 22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</a:cxnLst>
                            <a:rect l="0" t="0" r="r" b="b"/>
                            <a:pathLst>
                              <a:path w="77" h="22">
                                <a:moveTo>
                                  <a:pt x="0" y="22"/>
                                </a:moveTo>
                                <a:lnTo>
                                  <a:pt x="13" y="11"/>
                                </a:lnTo>
                                <a:lnTo>
                                  <a:pt x="23" y="2"/>
                                </a:lnTo>
                                <a:lnTo>
                                  <a:pt x="33" y="0"/>
                                </a:lnTo>
                                <a:lnTo>
                                  <a:pt x="44" y="1"/>
                                </a:lnTo>
                                <a:lnTo>
                                  <a:pt x="61" y="6"/>
                                </a:lnTo>
                                <a:lnTo>
                                  <a:pt x="77" y="12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81" name="Freeform 21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94" y="1691"/>
                            <a:ext cx="67" cy="8"/>
                          </a:xfrm>
                          <a:custGeom>
                            <a:avLst/>
                            <a:gdLst>
                              <a:gd name="T0" fmla="*/ 0 w 133"/>
                              <a:gd name="T1" fmla="*/ 14 h 15"/>
                              <a:gd name="T2" fmla="*/ 10 w 133"/>
                              <a:gd name="T3" fmla="*/ 6 h 15"/>
                              <a:gd name="T4" fmla="*/ 20 w 133"/>
                              <a:gd name="T5" fmla="*/ 2 h 15"/>
                              <a:gd name="T6" fmla="*/ 35 w 133"/>
                              <a:gd name="T7" fmla="*/ 0 h 15"/>
                              <a:gd name="T8" fmla="*/ 49 w 133"/>
                              <a:gd name="T9" fmla="*/ 1 h 15"/>
                              <a:gd name="T10" fmla="*/ 61 w 133"/>
                              <a:gd name="T11" fmla="*/ 7 h 15"/>
                              <a:gd name="T12" fmla="*/ 75 w 133"/>
                              <a:gd name="T13" fmla="*/ 13 h 15"/>
                              <a:gd name="T14" fmla="*/ 88 w 133"/>
                              <a:gd name="T15" fmla="*/ 15 h 15"/>
                              <a:gd name="T16" fmla="*/ 103 w 133"/>
                              <a:gd name="T17" fmla="*/ 12 h 15"/>
                              <a:gd name="T18" fmla="*/ 116 w 133"/>
                              <a:gd name="T19" fmla="*/ 9 h 15"/>
                              <a:gd name="T20" fmla="*/ 133 w 133"/>
                              <a:gd name="T21" fmla="*/ 10 h 1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133" h="15">
                                <a:moveTo>
                                  <a:pt x="0" y="14"/>
                                </a:moveTo>
                                <a:lnTo>
                                  <a:pt x="10" y="6"/>
                                </a:lnTo>
                                <a:lnTo>
                                  <a:pt x="20" y="2"/>
                                </a:lnTo>
                                <a:lnTo>
                                  <a:pt x="35" y="0"/>
                                </a:lnTo>
                                <a:lnTo>
                                  <a:pt x="49" y="1"/>
                                </a:lnTo>
                                <a:lnTo>
                                  <a:pt x="61" y="7"/>
                                </a:lnTo>
                                <a:lnTo>
                                  <a:pt x="75" y="13"/>
                                </a:lnTo>
                                <a:lnTo>
                                  <a:pt x="88" y="15"/>
                                </a:lnTo>
                                <a:lnTo>
                                  <a:pt x="103" y="12"/>
                                </a:lnTo>
                                <a:lnTo>
                                  <a:pt x="116" y="9"/>
                                </a:lnTo>
                                <a:lnTo>
                                  <a:pt x="133" y="1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82" name="Freeform 21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314" y="1704"/>
                            <a:ext cx="52" cy="12"/>
                          </a:xfrm>
                          <a:custGeom>
                            <a:avLst/>
                            <a:gdLst>
                              <a:gd name="T0" fmla="*/ 0 w 104"/>
                              <a:gd name="T1" fmla="*/ 0 h 23"/>
                              <a:gd name="T2" fmla="*/ 9 w 104"/>
                              <a:gd name="T3" fmla="*/ 7 h 23"/>
                              <a:gd name="T4" fmla="*/ 23 w 104"/>
                              <a:gd name="T5" fmla="*/ 17 h 23"/>
                              <a:gd name="T6" fmla="*/ 37 w 104"/>
                              <a:gd name="T7" fmla="*/ 21 h 23"/>
                              <a:gd name="T8" fmla="*/ 54 w 104"/>
                              <a:gd name="T9" fmla="*/ 22 h 23"/>
                              <a:gd name="T10" fmla="*/ 66 w 104"/>
                              <a:gd name="T11" fmla="*/ 20 h 23"/>
                              <a:gd name="T12" fmla="*/ 81 w 104"/>
                              <a:gd name="T13" fmla="*/ 17 h 23"/>
                              <a:gd name="T14" fmla="*/ 104 w 104"/>
                              <a:gd name="T15" fmla="*/ 23 h 2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</a:cxnLst>
                            <a:rect l="0" t="0" r="r" b="b"/>
                            <a:pathLst>
                              <a:path w="104" h="23">
                                <a:moveTo>
                                  <a:pt x="0" y="0"/>
                                </a:moveTo>
                                <a:lnTo>
                                  <a:pt x="9" y="7"/>
                                </a:lnTo>
                                <a:lnTo>
                                  <a:pt x="23" y="17"/>
                                </a:lnTo>
                                <a:lnTo>
                                  <a:pt x="37" y="21"/>
                                </a:lnTo>
                                <a:lnTo>
                                  <a:pt x="54" y="22"/>
                                </a:lnTo>
                                <a:lnTo>
                                  <a:pt x="66" y="20"/>
                                </a:lnTo>
                                <a:lnTo>
                                  <a:pt x="81" y="17"/>
                                </a:lnTo>
                                <a:lnTo>
                                  <a:pt x="104" y="23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83" name="Freeform 21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88" y="1702"/>
                            <a:ext cx="67" cy="28"/>
                          </a:xfrm>
                          <a:custGeom>
                            <a:avLst/>
                            <a:gdLst>
                              <a:gd name="T0" fmla="*/ 0 w 134"/>
                              <a:gd name="T1" fmla="*/ 8 h 54"/>
                              <a:gd name="T2" fmla="*/ 9 w 134"/>
                              <a:gd name="T3" fmla="*/ 3 h 54"/>
                              <a:gd name="T4" fmla="*/ 20 w 134"/>
                              <a:gd name="T5" fmla="*/ 0 h 54"/>
                              <a:gd name="T6" fmla="*/ 28 w 134"/>
                              <a:gd name="T7" fmla="*/ 2 h 54"/>
                              <a:gd name="T8" fmla="*/ 36 w 134"/>
                              <a:gd name="T9" fmla="*/ 7 h 54"/>
                              <a:gd name="T10" fmla="*/ 42 w 134"/>
                              <a:gd name="T11" fmla="*/ 14 h 54"/>
                              <a:gd name="T12" fmla="*/ 46 w 134"/>
                              <a:gd name="T13" fmla="*/ 24 h 54"/>
                              <a:gd name="T14" fmla="*/ 56 w 134"/>
                              <a:gd name="T15" fmla="*/ 32 h 54"/>
                              <a:gd name="T16" fmla="*/ 65 w 134"/>
                              <a:gd name="T17" fmla="*/ 37 h 54"/>
                              <a:gd name="T18" fmla="*/ 82 w 134"/>
                              <a:gd name="T19" fmla="*/ 46 h 54"/>
                              <a:gd name="T20" fmla="*/ 99 w 134"/>
                              <a:gd name="T21" fmla="*/ 50 h 54"/>
                              <a:gd name="T22" fmla="*/ 117 w 134"/>
                              <a:gd name="T23" fmla="*/ 54 h 54"/>
                              <a:gd name="T24" fmla="*/ 134 w 134"/>
                              <a:gd name="T25" fmla="*/ 49 h 5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</a:cxnLst>
                            <a:rect l="0" t="0" r="r" b="b"/>
                            <a:pathLst>
                              <a:path w="134" h="54">
                                <a:moveTo>
                                  <a:pt x="0" y="8"/>
                                </a:moveTo>
                                <a:lnTo>
                                  <a:pt x="9" y="3"/>
                                </a:lnTo>
                                <a:lnTo>
                                  <a:pt x="20" y="0"/>
                                </a:lnTo>
                                <a:lnTo>
                                  <a:pt x="28" y="2"/>
                                </a:lnTo>
                                <a:lnTo>
                                  <a:pt x="36" y="7"/>
                                </a:lnTo>
                                <a:lnTo>
                                  <a:pt x="42" y="14"/>
                                </a:lnTo>
                                <a:lnTo>
                                  <a:pt x="46" y="24"/>
                                </a:lnTo>
                                <a:lnTo>
                                  <a:pt x="56" y="32"/>
                                </a:lnTo>
                                <a:lnTo>
                                  <a:pt x="65" y="37"/>
                                </a:lnTo>
                                <a:lnTo>
                                  <a:pt x="82" y="46"/>
                                </a:lnTo>
                                <a:lnTo>
                                  <a:pt x="99" y="50"/>
                                </a:lnTo>
                                <a:lnTo>
                                  <a:pt x="117" y="54"/>
                                </a:lnTo>
                                <a:lnTo>
                                  <a:pt x="134" y="49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grpSp>
                      <p:nvGrpSpPr>
                        <p:cNvPr id="274" name="Group 21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317" y="1731"/>
                          <a:ext cx="16" cy="16"/>
                          <a:chOff x="2317" y="1731"/>
                          <a:chExt cx="16" cy="16"/>
                        </a:xfrm>
                      </p:grpSpPr>
                      <p:sp>
                        <p:nvSpPr>
                          <p:cNvPr id="275" name="Oval 21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7" y="1731"/>
                            <a:ext cx="6" cy="12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76" name="Oval 22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28" y="1734"/>
                            <a:ext cx="5" cy="13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52" name="Group 22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5" y="1765"/>
                      <a:ext cx="236" cy="180"/>
                      <a:chOff x="2055" y="1765"/>
                      <a:chExt cx="236" cy="180"/>
                    </a:xfrm>
                  </p:grpSpPr>
                  <p:grpSp>
                    <p:nvGrpSpPr>
                      <p:cNvPr id="253" name="Group 22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055" y="1808"/>
                        <a:ext cx="196" cy="137"/>
                        <a:chOff x="2055" y="1808"/>
                        <a:chExt cx="196" cy="137"/>
                      </a:xfrm>
                    </p:grpSpPr>
                    <p:grpSp>
                      <p:nvGrpSpPr>
                        <p:cNvPr id="262" name="Group 22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055" y="1862"/>
                          <a:ext cx="76" cy="83"/>
                          <a:chOff x="2055" y="1862"/>
                          <a:chExt cx="76" cy="83"/>
                        </a:xfrm>
                      </p:grpSpPr>
                      <p:sp>
                        <p:nvSpPr>
                          <p:cNvPr id="266" name="Freeform 22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060" y="1862"/>
                            <a:ext cx="71" cy="81"/>
                          </a:xfrm>
                          <a:custGeom>
                            <a:avLst/>
                            <a:gdLst>
                              <a:gd name="T0" fmla="*/ 0 w 141"/>
                              <a:gd name="T1" fmla="*/ 15 h 163"/>
                              <a:gd name="T2" fmla="*/ 18 w 141"/>
                              <a:gd name="T3" fmla="*/ 80 h 163"/>
                              <a:gd name="T4" fmla="*/ 76 w 141"/>
                              <a:gd name="T5" fmla="*/ 162 h 163"/>
                              <a:gd name="T6" fmla="*/ 100 w 141"/>
                              <a:gd name="T7" fmla="*/ 157 h 163"/>
                              <a:gd name="T8" fmla="*/ 109 w 141"/>
                              <a:gd name="T9" fmla="*/ 162 h 163"/>
                              <a:gd name="T10" fmla="*/ 118 w 141"/>
                              <a:gd name="T11" fmla="*/ 163 h 163"/>
                              <a:gd name="T12" fmla="*/ 127 w 141"/>
                              <a:gd name="T13" fmla="*/ 159 h 163"/>
                              <a:gd name="T14" fmla="*/ 133 w 141"/>
                              <a:gd name="T15" fmla="*/ 150 h 163"/>
                              <a:gd name="T16" fmla="*/ 135 w 141"/>
                              <a:gd name="T17" fmla="*/ 128 h 163"/>
                              <a:gd name="T18" fmla="*/ 141 w 141"/>
                              <a:gd name="T19" fmla="*/ 118 h 163"/>
                              <a:gd name="T20" fmla="*/ 137 w 141"/>
                              <a:gd name="T21" fmla="*/ 68 h 163"/>
                              <a:gd name="T22" fmla="*/ 94 w 141"/>
                              <a:gd name="T23" fmla="*/ 48 h 163"/>
                              <a:gd name="T24" fmla="*/ 80 w 141"/>
                              <a:gd name="T25" fmla="*/ 30 h 163"/>
                              <a:gd name="T26" fmla="*/ 68 w 141"/>
                              <a:gd name="T27" fmla="*/ 27 h 163"/>
                              <a:gd name="T28" fmla="*/ 47 w 141"/>
                              <a:gd name="T29" fmla="*/ 26 h 163"/>
                              <a:gd name="T30" fmla="*/ 37 w 141"/>
                              <a:gd name="T31" fmla="*/ 14 h 163"/>
                              <a:gd name="T32" fmla="*/ 24 w 141"/>
                              <a:gd name="T33" fmla="*/ 4 h 163"/>
                              <a:gd name="T34" fmla="*/ 13 w 141"/>
                              <a:gd name="T35" fmla="*/ 0 h 163"/>
                              <a:gd name="T36" fmla="*/ 3 w 141"/>
                              <a:gd name="T37" fmla="*/ 3 h 163"/>
                              <a:gd name="T38" fmla="*/ 0 w 141"/>
                              <a:gd name="T39" fmla="*/ 15 h 16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</a:cxnLst>
                            <a:rect l="0" t="0" r="r" b="b"/>
                            <a:pathLst>
                              <a:path w="141" h="163">
                                <a:moveTo>
                                  <a:pt x="0" y="15"/>
                                </a:moveTo>
                                <a:lnTo>
                                  <a:pt x="18" y="80"/>
                                </a:lnTo>
                                <a:lnTo>
                                  <a:pt x="76" y="162"/>
                                </a:lnTo>
                                <a:lnTo>
                                  <a:pt x="100" y="157"/>
                                </a:lnTo>
                                <a:lnTo>
                                  <a:pt x="109" y="162"/>
                                </a:lnTo>
                                <a:lnTo>
                                  <a:pt x="118" y="163"/>
                                </a:lnTo>
                                <a:lnTo>
                                  <a:pt x="127" y="159"/>
                                </a:lnTo>
                                <a:lnTo>
                                  <a:pt x="133" y="150"/>
                                </a:lnTo>
                                <a:lnTo>
                                  <a:pt x="135" y="128"/>
                                </a:lnTo>
                                <a:lnTo>
                                  <a:pt x="141" y="118"/>
                                </a:lnTo>
                                <a:lnTo>
                                  <a:pt x="137" y="68"/>
                                </a:lnTo>
                                <a:lnTo>
                                  <a:pt x="94" y="48"/>
                                </a:lnTo>
                                <a:lnTo>
                                  <a:pt x="80" y="30"/>
                                </a:lnTo>
                                <a:lnTo>
                                  <a:pt x="68" y="27"/>
                                </a:lnTo>
                                <a:lnTo>
                                  <a:pt x="47" y="26"/>
                                </a:lnTo>
                                <a:lnTo>
                                  <a:pt x="37" y="14"/>
                                </a:lnTo>
                                <a:lnTo>
                                  <a:pt x="24" y="4"/>
                                </a:lnTo>
                                <a:lnTo>
                                  <a:pt x="13" y="0"/>
                                </a:lnTo>
                                <a:lnTo>
                                  <a:pt x="3" y="3"/>
                                </a:lnTo>
                                <a:lnTo>
                                  <a:pt x="0" y="1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BF7F1F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67" name="Freeform 22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071" y="1873"/>
                            <a:ext cx="40" cy="67"/>
                          </a:xfrm>
                          <a:custGeom>
                            <a:avLst/>
                            <a:gdLst>
                              <a:gd name="T0" fmla="*/ 18 w 79"/>
                              <a:gd name="T1" fmla="*/ 0 h 134"/>
                              <a:gd name="T2" fmla="*/ 2 w 79"/>
                              <a:gd name="T3" fmla="*/ 1 h 134"/>
                              <a:gd name="T4" fmla="*/ 0 w 79"/>
                              <a:gd name="T5" fmla="*/ 11 h 134"/>
                              <a:gd name="T6" fmla="*/ 0 w 79"/>
                              <a:gd name="T7" fmla="*/ 27 h 134"/>
                              <a:gd name="T8" fmla="*/ 4 w 79"/>
                              <a:gd name="T9" fmla="*/ 39 h 134"/>
                              <a:gd name="T10" fmla="*/ 16 w 79"/>
                              <a:gd name="T11" fmla="*/ 48 h 134"/>
                              <a:gd name="T12" fmla="*/ 29 w 79"/>
                              <a:gd name="T13" fmla="*/ 69 h 134"/>
                              <a:gd name="T14" fmla="*/ 32 w 79"/>
                              <a:gd name="T15" fmla="*/ 79 h 134"/>
                              <a:gd name="T16" fmla="*/ 39 w 79"/>
                              <a:gd name="T17" fmla="*/ 86 h 134"/>
                              <a:gd name="T18" fmla="*/ 41 w 79"/>
                              <a:gd name="T19" fmla="*/ 95 h 134"/>
                              <a:gd name="T20" fmla="*/ 65 w 79"/>
                              <a:gd name="T21" fmla="*/ 109 h 134"/>
                              <a:gd name="T22" fmla="*/ 79 w 79"/>
                              <a:gd name="T23" fmla="*/ 134 h 13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</a:cxnLst>
                            <a:rect l="0" t="0" r="r" b="b"/>
                            <a:pathLst>
                              <a:path w="79" h="134">
                                <a:moveTo>
                                  <a:pt x="18" y="0"/>
                                </a:moveTo>
                                <a:lnTo>
                                  <a:pt x="2" y="1"/>
                                </a:lnTo>
                                <a:lnTo>
                                  <a:pt x="0" y="11"/>
                                </a:lnTo>
                                <a:lnTo>
                                  <a:pt x="0" y="27"/>
                                </a:lnTo>
                                <a:lnTo>
                                  <a:pt x="4" y="39"/>
                                </a:lnTo>
                                <a:lnTo>
                                  <a:pt x="16" y="48"/>
                                </a:lnTo>
                                <a:lnTo>
                                  <a:pt x="29" y="69"/>
                                </a:lnTo>
                                <a:lnTo>
                                  <a:pt x="32" y="79"/>
                                </a:lnTo>
                                <a:lnTo>
                                  <a:pt x="39" y="86"/>
                                </a:lnTo>
                                <a:lnTo>
                                  <a:pt x="41" y="95"/>
                                </a:lnTo>
                                <a:lnTo>
                                  <a:pt x="65" y="109"/>
                                </a:lnTo>
                                <a:lnTo>
                                  <a:pt x="79" y="134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grpSp>
                        <p:nvGrpSpPr>
                          <p:cNvPr id="268" name="Group 22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055" y="1867"/>
                            <a:ext cx="45" cy="78"/>
                            <a:chOff x="2055" y="1867"/>
                            <a:chExt cx="45" cy="78"/>
                          </a:xfrm>
                        </p:grpSpPr>
                        <p:sp>
                          <p:nvSpPr>
                            <p:cNvPr id="269" name="Freeform 22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055" y="1867"/>
                              <a:ext cx="45" cy="78"/>
                            </a:xfrm>
                            <a:custGeom>
                              <a:avLst/>
                              <a:gdLst>
                                <a:gd name="T0" fmla="*/ 7 w 90"/>
                                <a:gd name="T1" fmla="*/ 0 h 155"/>
                                <a:gd name="T2" fmla="*/ 18 w 90"/>
                                <a:gd name="T3" fmla="*/ 13 h 155"/>
                                <a:gd name="T4" fmla="*/ 25 w 90"/>
                                <a:gd name="T5" fmla="*/ 26 h 155"/>
                                <a:gd name="T6" fmla="*/ 32 w 90"/>
                                <a:gd name="T7" fmla="*/ 43 h 155"/>
                                <a:gd name="T8" fmla="*/ 32 w 90"/>
                                <a:gd name="T9" fmla="*/ 57 h 155"/>
                                <a:gd name="T10" fmla="*/ 38 w 90"/>
                                <a:gd name="T11" fmla="*/ 73 h 155"/>
                                <a:gd name="T12" fmla="*/ 45 w 90"/>
                                <a:gd name="T13" fmla="*/ 85 h 155"/>
                                <a:gd name="T14" fmla="*/ 55 w 90"/>
                                <a:gd name="T15" fmla="*/ 97 h 155"/>
                                <a:gd name="T16" fmla="*/ 68 w 90"/>
                                <a:gd name="T17" fmla="*/ 113 h 155"/>
                                <a:gd name="T18" fmla="*/ 76 w 90"/>
                                <a:gd name="T19" fmla="*/ 129 h 155"/>
                                <a:gd name="T20" fmla="*/ 87 w 90"/>
                                <a:gd name="T21" fmla="*/ 147 h 155"/>
                                <a:gd name="T22" fmla="*/ 90 w 90"/>
                                <a:gd name="T23" fmla="*/ 155 h 155"/>
                                <a:gd name="T24" fmla="*/ 78 w 90"/>
                                <a:gd name="T25" fmla="*/ 155 h 155"/>
                                <a:gd name="T26" fmla="*/ 58 w 90"/>
                                <a:gd name="T27" fmla="*/ 150 h 155"/>
                                <a:gd name="T28" fmla="*/ 41 w 90"/>
                                <a:gd name="T29" fmla="*/ 135 h 155"/>
                                <a:gd name="T30" fmla="*/ 33 w 90"/>
                                <a:gd name="T31" fmla="*/ 114 h 155"/>
                                <a:gd name="T32" fmla="*/ 25 w 90"/>
                                <a:gd name="T33" fmla="*/ 96 h 155"/>
                                <a:gd name="T34" fmla="*/ 17 w 90"/>
                                <a:gd name="T35" fmla="*/ 80 h 155"/>
                                <a:gd name="T36" fmla="*/ 4 w 90"/>
                                <a:gd name="T37" fmla="*/ 62 h 155"/>
                                <a:gd name="T38" fmla="*/ 0 w 90"/>
                                <a:gd name="T39" fmla="*/ 34 h 155"/>
                                <a:gd name="T40" fmla="*/ 1 w 90"/>
                                <a:gd name="T41" fmla="*/ 20 h 155"/>
                                <a:gd name="T42" fmla="*/ 7 w 90"/>
                                <a:gd name="T43" fmla="*/ 0 h 15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</a:cxnLst>
                              <a:rect l="0" t="0" r="r" b="b"/>
                              <a:pathLst>
                                <a:path w="90" h="155">
                                  <a:moveTo>
                                    <a:pt x="7" y="0"/>
                                  </a:moveTo>
                                  <a:lnTo>
                                    <a:pt x="18" y="13"/>
                                  </a:lnTo>
                                  <a:lnTo>
                                    <a:pt x="25" y="26"/>
                                  </a:lnTo>
                                  <a:lnTo>
                                    <a:pt x="32" y="43"/>
                                  </a:lnTo>
                                  <a:lnTo>
                                    <a:pt x="32" y="57"/>
                                  </a:lnTo>
                                  <a:lnTo>
                                    <a:pt x="38" y="73"/>
                                  </a:lnTo>
                                  <a:lnTo>
                                    <a:pt x="45" y="85"/>
                                  </a:lnTo>
                                  <a:lnTo>
                                    <a:pt x="55" y="97"/>
                                  </a:lnTo>
                                  <a:lnTo>
                                    <a:pt x="68" y="113"/>
                                  </a:lnTo>
                                  <a:lnTo>
                                    <a:pt x="76" y="129"/>
                                  </a:lnTo>
                                  <a:lnTo>
                                    <a:pt x="87" y="147"/>
                                  </a:lnTo>
                                  <a:lnTo>
                                    <a:pt x="90" y="155"/>
                                  </a:lnTo>
                                  <a:lnTo>
                                    <a:pt x="78" y="155"/>
                                  </a:lnTo>
                                  <a:lnTo>
                                    <a:pt x="58" y="150"/>
                                  </a:lnTo>
                                  <a:lnTo>
                                    <a:pt x="41" y="135"/>
                                  </a:lnTo>
                                  <a:lnTo>
                                    <a:pt x="33" y="114"/>
                                  </a:lnTo>
                                  <a:lnTo>
                                    <a:pt x="25" y="96"/>
                                  </a:lnTo>
                                  <a:lnTo>
                                    <a:pt x="17" y="80"/>
                                  </a:lnTo>
                                  <a:lnTo>
                                    <a:pt x="4" y="62"/>
                                  </a:lnTo>
                                  <a:lnTo>
                                    <a:pt x="0" y="34"/>
                                  </a:lnTo>
                                  <a:lnTo>
                                    <a:pt x="1" y="20"/>
                                  </a:lnTo>
                                  <a:lnTo>
                                    <a:pt x="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7F5F3F"/>
                            </a:solidFill>
                            <a:ln w="6350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  <p:sp>
                          <p:nvSpPr>
                            <p:cNvPr id="270" name="Line 22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2079" y="1923"/>
                              <a:ext cx="8" cy="3"/>
                            </a:xfrm>
                            <a:prstGeom prst="line">
                              <a:avLst/>
                            </a:prstGeom>
                            <a:noFill/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</p:grpSp>
                    </p:grpSp>
                    <p:grpSp>
                      <p:nvGrpSpPr>
                        <p:cNvPr id="263" name="Group 22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104" y="1808"/>
                          <a:ext cx="147" cy="114"/>
                          <a:chOff x="2104" y="1808"/>
                          <a:chExt cx="147" cy="114"/>
                        </a:xfrm>
                      </p:grpSpPr>
                      <p:sp>
                        <p:nvSpPr>
                          <p:cNvPr id="264" name="Freeform 23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104" y="1808"/>
                            <a:ext cx="147" cy="114"/>
                          </a:xfrm>
                          <a:custGeom>
                            <a:avLst/>
                            <a:gdLst>
                              <a:gd name="T0" fmla="*/ 259 w 293"/>
                              <a:gd name="T1" fmla="*/ 6 h 227"/>
                              <a:gd name="T2" fmla="*/ 241 w 293"/>
                              <a:gd name="T3" fmla="*/ 2 h 227"/>
                              <a:gd name="T4" fmla="*/ 221 w 293"/>
                              <a:gd name="T5" fmla="*/ 0 h 227"/>
                              <a:gd name="T6" fmla="*/ 206 w 293"/>
                              <a:gd name="T7" fmla="*/ 9 h 227"/>
                              <a:gd name="T8" fmla="*/ 190 w 293"/>
                              <a:gd name="T9" fmla="*/ 25 h 227"/>
                              <a:gd name="T10" fmla="*/ 176 w 293"/>
                              <a:gd name="T11" fmla="*/ 26 h 227"/>
                              <a:gd name="T12" fmla="*/ 161 w 293"/>
                              <a:gd name="T13" fmla="*/ 29 h 227"/>
                              <a:gd name="T14" fmla="*/ 154 w 293"/>
                              <a:gd name="T15" fmla="*/ 29 h 227"/>
                              <a:gd name="T16" fmla="*/ 143 w 293"/>
                              <a:gd name="T17" fmla="*/ 29 h 227"/>
                              <a:gd name="T18" fmla="*/ 136 w 293"/>
                              <a:gd name="T19" fmla="*/ 31 h 227"/>
                              <a:gd name="T20" fmla="*/ 129 w 293"/>
                              <a:gd name="T21" fmla="*/ 38 h 227"/>
                              <a:gd name="T22" fmla="*/ 121 w 293"/>
                              <a:gd name="T23" fmla="*/ 47 h 227"/>
                              <a:gd name="T24" fmla="*/ 110 w 293"/>
                              <a:gd name="T25" fmla="*/ 54 h 227"/>
                              <a:gd name="T26" fmla="*/ 86 w 293"/>
                              <a:gd name="T27" fmla="*/ 71 h 227"/>
                              <a:gd name="T28" fmla="*/ 46 w 293"/>
                              <a:gd name="T29" fmla="*/ 97 h 227"/>
                              <a:gd name="T30" fmla="*/ 9 w 293"/>
                              <a:gd name="T31" fmla="*/ 122 h 227"/>
                              <a:gd name="T32" fmla="*/ 0 w 293"/>
                              <a:gd name="T33" fmla="*/ 156 h 227"/>
                              <a:gd name="T34" fmla="*/ 9 w 293"/>
                              <a:gd name="T35" fmla="*/ 168 h 227"/>
                              <a:gd name="T36" fmla="*/ 9 w 293"/>
                              <a:gd name="T37" fmla="*/ 177 h 227"/>
                              <a:gd name="T38" fmla="*/ 17 w 293"/>
                              <a:gd name="T39" fmla="*/ 180 h 227"/>
                              <a:gd name="T40" fmla="*/ 27 w 293"/>
                              <a:gd name="T41" fmla="*/ 190 h 227"/>
                              <a:gd name="T42" fmla="*/ 32 w 293"/>
                              <a:gd name="T43" fmla="*/ 200 h 227"/>
                              <a:gd name="T44" fmla="*/ 38 w 293"/>
                              <a:gd name="T45" fmla="*/ 203 h 227"/>
                              <a:gd name="T46" fmla="*/ 45 w 293"/>
                              <a:gd name="T47" fmla="*/ 209 h 227"/>
                              <a:gd name="T48" fmla="*/ 49 w 293"/>
                              <a:gd name="T49" fmla="*/ 219 h 227"/>
                              <a:gd name="T50" fmla="*/ 53 w 293"/>
                              <a:gd name="T51" fmla="*/ 227 h 227"/>
                              <a:gd name="T52" fmla="*/ 63 w 293"/>
                              <a:gd name="T53" fmla="*/ 221 h 227"/>
                              <a:gd name="T54" fmla="*/ 75 w 293"/>
                              <a:gd name="T55" fmla="*/ 212 h 227"/>
                              <a:gd name="T56" fmla="*/ 80 w 293"/>
                              <a:gd name="T57" fmla="*/ 200 h 227"/>
                              <a:gd name="T58" fmla="*/ 85 w 293"/>
                              <a:gd name="T59" fmla="*/ 191 h 227"/>
                              <a:gd name="T60" fmla="*/ 85 w 293"/>
                              <a:gd name="T61" fmla="*/ 173 h 227"/>
                              <a:gd name="T62" fmla="*/ 99 w 293"/>
                              <a:gd name="T63" fmla="*/ 155 h 227"/>
                              <a:gd name="T64" fmla="*/ 114 w 293"/>
                              <a:gd name="T65" fmla="*/ 166 h 227"/>
                              <a:gd name="T66" fmla="*/ 122 w 293"/>
                              <a:gd name="T67" fmla="*/ 168 h 227"/>
                              <a:gd name="T68" fmla="*/ 138 w 293"/>
                              <a:gd name="T69" fmla="*/ 144 h 227"/>
                              <a:gd name="T70" fmla="*/ 183 w 293"/>
                              <a:gd name="T71" fmla="*/ 134 h 227"/>
                              <a:gd name="T72" fmla="*/ 217 w 293"/>
                              <a:gd name="T73" fmla="*/ 126 h 227"/>
                              <a:gd name="T74" fmla="*/ 236 w 293"/>
                              <a:gd name="T75" fmla="*/ 129 h 227"/>
                              <a:gd name="T76" fmla="*/ 250 w 293"/>
                              <a:gd name="T77" fmla="*/ 128 h 227"/>
                              <a:gd name="T78" fmla="*/ 265 w 293"/>
                              <a:gd name="T79" fmla="*/ 122 h 227"/>
                              <a:gd name="T80" fmla="*/ 278 w 293"/>
                              <a:gd name="T81" fmla="*/ 111 h 227"/>
                              <a:gd name="T82" fmla="*/ 285 w 293"/>
                              <a:gd name="T83" fmla="*/ 94 h 227"/>
                              <a:gd name="T84" fmla="*/ 293 w 293"/>
                              <a:gd name="T85" fmla="*/ 58 h 227"/>
                              <a:gd name="T86" fmla="*/ 259 w 293"/>
                              <a:gd name="T87" fmla="*/ 6 h 22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  <a:cxn ang="0">
                                <a:pos x="T52" y="T53"/>
                              </a:cxn>
                              <a:cxn ang="0">
                                <a:pos x="T54" y="T55"/>
                              </a:cxn>
                              <a:cxn ang="0">
                                <a:pos x="T56" y="T57"/>
                              </a:cxn>
                              <a:cxn ang="0">
                                <a:pos x="T58" y="T59"/>
                              </a:cxn>
                              <a:cxn ang="0">
                                <a:pos x="T60" y="T61"/>
                              </a:cxn>
                              <a:cxn ang="0">
                                <a:pos x="T62" y="T63"/>
                              </a:cxn>
                              <a:cxn ang="0">
                                <a:pos x="T64" y="T65"/>
                              </a:cxn>
                              <a:cxn ang="0">
                                <a:pos x="T66" y="T67"/>
                              </a:cxn>
                              <a:cxn ang="0">
                                <a:pos x="T68" y="T69"/>
                              </a:cxn>
                              <a:cxn ang="0">
                                <a:pos x="T70" y="T71"/>
                              </a:cxn>
                              <a:cxn ang="0">
                                <a:pos x="T72" y="T73"/>
                              </a:cxn>
                              <a:cxn ang="0">
                                <a:pos x="T74" y="T75"/>
                              </a:cxn>
                              <a:cxn ang="0">
                                <a:pos x="T76" y="T77"/>
                              </a:cxn>
                              <a:cxn ang="0">
                                <a:pos x="T78" y="T79"/>
                              </a:cxn>
                              <a:cxn ang="0">
                                <a:pos x="T80" y="T81"/>
                              </a:cxn>
                              <a:cxn ang="0">
                                <a:pos x="T82" y="T83"/>
                              </a:cxn>
                              <a:cxn ang="0">
                                <a:pos x="T84" y="T85"/>
                              </a:cxn>
                              <a:cxn ang="0">
                                <a:pos x="T86" y="T87"/>
                              </a:cxn>
                            </a:cxnLst>
                            <a:rect l="0" t="0" r="r" b="b"/>
                            <a:pathLst>
                              <a:path w="293" h="227">
                                <a:moveTo>
                                  <a:pt x="259" y="6"/>
                                </a:moveTo>
                                <a:lnTo>
                                  <a:pt x="241" y="2"/>
                                </a:lnTo>
                                <a:lnTo>
                                  <a:pt x="221" y="0"/>
                                </a:lnTo>
                                <a:lnTo>
                                  <a:pt x="206" y="9"/>
                                </a:lnTo>
                                <a:lnTo>
                                  <a:pt x="190" y="25"/>
                                </a:lnTo>
                                <a:lnTo>
                                  <a:pt x="176" y="26"/>
                                </a:lnTo>
                                <a:lnTo>
                                  <a:pt x="161" y="29"/>
                                </a:lnTo>
                                <a:lnTo>
                                  <a:pt x="154" y="29"/>
                                </a:lnTo>
                                <a:lnTo>
                                  <a:pt x="143" y="29"/>
                                </a:lnTo>
                                <a:lnTo>
                                  <a:pt x="136" y="31"/>
                                </a:lnTo>
                                <a:lnTo>
                                  <a:pt x="129" y="38"/>
                                </a:lnTo>
                                <a:lnTo>
                                  <a:pt x="121" y="47"/>
                                </a:lnTo>
                                <a:lnTo>
                                  <a:pt x="110" y="54"/>
                                </a:lnTo>
                                <a:lnTo>
                                  <a:pt x="86" y="71"/>
                                </a:lnTo>
                                <a:lnTo>
                                  <a:pt x="46" y="97"/>
                                </a:lnTo>
                                <a:lnTo>
                                  <a:pt x="9" y="122"/>
                                </a:lnTo>
                                <a:lnTo>
                                  <a:pt x="0" y="156"/>
                                </a:lnTo>
                                <a:lnTo>
                                  <a:pt x="9" y="168"/>
                                </a:lnTo>
                                <a:lnTo>
                                  <a:pt x="9" y="177"/>
                                </a:lnTo>
                                <a:lnTo>
                                  <a:pt x="17" y="180"/>
                                </a:lnTo>
                                <a:lnTo>
                                  <a:pt x="27" y="190"/>
                                </a:lnTo>
                                <a:lnTo>
                                  <a:pt x="32" y="200"/>
                                </a:lnTo>
                                <a:lnTo>
                                  <a:pt x="38" y="203"/>
                                </a:lnTo>
                                <a:lnTo>
                                  <a:pt x="45" y="209"/>
                                </a:lnTo>
                                <a:lnTo>
                                  <a:pt x="49" y="219"/>
                                </a:lnTo>
                                <a:lnTo>
                                  <a:pt x="53" y="227"/>
                                </a:lnTo>
                                <a:lnTo>
                                  <a:pt x="63" y="221"/>
                                </a:lnTo>
                                <a:lnTo>
                                  <a:pt x="75" y="212"/>
                                </a:lnTo>
                                <a:lnTo>
                                  <a:pt x="80" y="200"/>
                                </a:lnTo>
                                <a:lnTo>
                                  <a:pt x="85" y="191"/>
                                </a:lnTo>
                                <a:lnTo>
                                  <a:pt x="85" y="173"/>
                                </a:lnTo>
                                <a:lnTo>
                                  <a:pt x="99" y="155"/>
                                </a:lnTo>
                                <a:lnTo>
                                  <a:pt x="114" y="166"/>
                                </a:lnTo>
                                <a:lnTo>
                                  <a:pt x="122" y="168"/>
                                </a:lnTo>
                                <a:lnTo>
                                  <a:pt x="138" y="144"/>
                                </a:lnTo>
                                <a:lnTo>
                                  <a:pt x="183" y="134"/>
                                </a:lnTo>
                                <a:lnTo>
                                  <a:pt x="217" y="126"/>
                                </a:lnTo>
                                <a:lnTo>
                                  <a:pt x="236" y="129"/>
                                </a:lnTo>
                                <a:lnTo>
                                  <a:pt x="250" y="128"/>
                                </a:lnTo>
                                <a:lnTo>
                                  <a:pt x="265" y="122"/>
                                </a:lnTo>
                                <a:lnTo>
                                  <a:pt x="278" y="111"/>
                                </a:lnTo>
                                <a:lnTo>
                                  <a:pt x="285" y="94"/>
                                </a:lnTo>
                                <a:lnTo>
                                  <a:pt x="293" y="58"/>
                                </a:lnTo>
                                <a:lnTo>
                                  <a:pt x="259" y="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8080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65" name="Freeform 23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105" y="1826"/>
                            <a:ext cx="126" cy="58"/>
                          </a:xfrm>
                          <a:custGeom>
                            <a:avLst/>
                            <a:gdLst>
                              <a:gd name="T0" fmla="*/ 0 w 250"/>
                              <a:gd name="T1" fmla="*/ 116 h 116"/>
                              <a:gd name="T2" fmla="*/ 95 w 250"/>
                              <a:gd name="T3" fmla="*/ 47 h 116"/>
                              <a:gd name="T4" fmla="*/ 143 w 250"/>
                              <a:gd name="T5" fmla="*/ 19 h 116"/>
                              <a:gd name="T6" fmla="*/ 250 w 250"/>
                              <a:gd name="T7" fmla="*/ 0 h 11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</a:cxnLst>
                            <a:rect l="0" t="0" r="r" b="b"/>
                            <a:pathLst>
                              <a:path w="250" h="116">
                                <a:moveTo>
                                  <a:pt x="0" y="116"/>
                                </a:moveTo>
                                <a:lnTo>
                                  <a:pt x="95" y="47"/>
                                </a:lnTo>
                                <a:lnTo>
                                  <a:pt x="143" y="19"/>
                                </a:lnTo>
                                <a:lnTo>
                                  <a:pt x="250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  <p:grpSp>
                    <p:nvGrpSpPr>
                      <p:cNvPr id="254" name="Group 23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07" y="1765"/>
                        <a:ext cx="84" cy="91"/>
                        <a:chOff x="2207" y="1765"/>
                        <a:chExt cx="84" cy="91"/>
                      </a:xfrm>
                    </p:grpSpPr>
                    <p:grpSp>
                      <p:nvGrpSpPr>
                        <p:cNvPr id="255" name="Group 23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07" y="1765"/>
                          <a:ext cx="83" cy="91"/>
                          <a:chOff x="2207" y="1765"/>
                          <a:chExt cx="83" cy="91"/>
                        </a:xfrm>
                      </p:grpSpPr>
                      <p:sp>
                        <p:nvSpPr>
                          <p:cNvPr id="257" name="Freeform 23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207" y="1765"/>
                            <a:ext cx="83" cy="91"/>
                          </a:xfrm>
                          <a:custGeom>
                            <a:avLst/>
                            <a:gdLst>
                              <a:gd name="T0" fmla="*/ 0 w 166"/>
                              <a:gd name="T1" fmla="*/ 69 h 180"/>
                              <a:gd name="T2" fmla="*/ 19 w 166"/>
                              <a:gd name="T3" fmla="*/ 61 h 180"/>
                              <a:gd name="T4" fmla="*/ 35 w 166"/>
                              <a:gd name="T5" fmla="*/ 57 h 180"/>
                              <a:gd name="T6" fmla="*/ 56 w 166"/>
                              <a:gd name="T7" fmla="*/ 52 h 180"/>
                              <a:gd name="T8" fmla="*/ 63 w 166"/>
                              <a:gd name="T9" fmla="*/ 49 h 180"/>
                              <a:gd name="T10" fmla="*/ 69 w 166"/>
                              <a:gd name="T11" fmla="*/ 41 h 180"/>
                              <a:gd name="T12" fmla="*/ 78 w 166"/>
                              <a:gd name="T13" fmla="*/ 23 h 180"/>
                              <a:gd name="T14" fmla="*/ 81 w 166"/>
                              <a:gd name="T15" fmla="*/ 9 h 180"/>
                              <a:gd name="T16" fmla="*/ 103 w 166"/>
                              <a:gd name="T17" fmla="*/ 0 h 180"/>
                              <a:gd name="T18" fmla="*/ 165 w 166"/>
                              <a:gd name="T19" fmla="*/ 52 h 180"/>
                              <a:gd name="T20" fmla="*/ 166 w 166"/>
                              <a:gd name="T21" fmla="*/ 64 h 180"/>
                              <a:gd name="T22" fmla="*/ 160 w 166"/>
                              <a:gd name="T23" fmla="*/ 81 h 180"/>
                              <a:gd name="T24" fmla="*/ 152 w 166"/>
                              <a:gd name="T25" fmla="*/ 100 h 180"/>
                              <a:gd name="T26" fmla="*/ 144 w 166"/>
                              <a:gd name="T27" fmla="*/ 112 h 180"/>
                              <a:gd name="T28" fmla="*/ 132 w 166"/>
                              <a:gd name="T29" fmla="*/ 124 h 180"/>
                              <a:gd name="T30" fmla="*/ 119 w 166"/>
                              <a:gd name="T31" fmla="*/ 138 h 180"/>
                              <a:gd name="T32" fmla="*/ 118 w 166"/>
                              <a:gd name="T33" fmla="*/ 155 h 180"/>
                              <a:gd name="T34" fmla="*/ 114 w 166"/>
                              <a:gd name="T35" fmla="*/ 172 h 180"/>
                              <a:gd name="T36" fmla="*/ 105 w 166"/>
                              <a:gd name="T37" fmla="*/ 179 h 180"/>
                              <a:gd name="T38" fmla="*/ 96 w 166"/>
                              <a:gd name="T39" fmla="*/ 180 h 180"/>
                              <a:gd name="T40" fmla="*/ 67 w 166"/>
                              <a:gd name="T41" fmla="*/ 173 h 180"/>
                              <a:gd name="T42" fmla="*/ 70 w 166"/>
                              <a:gd name="T43" fmla="*/ 168 h 180"/>
                              <a:gd name="T44" fmla="*/ 69 w 166"/>
                              <a:gd name="T45" fmla="*/ 157 h 180"/>
                              <a:gd name="T46" fmla="*/ 63 w 166"/>
                              <a:gd name="T47" fmla="*/ 146 h 180"/>
                              <a:gd name="T48" fmla="*/ 63 w 166"/>
                              <a:gd name="T49" fmla="*/ 135 h 180"/>
                              <a:gd name="T50" fmla="*/ 57 w 166"/>
                              <a:gd name="T51" fmla="*/ 127 h 180"/>
                              <a:gd name="T52" fmla="*/ 51 w 166"/>
                              <a:gd name="T53" fmla="*/ 118 h 180"/>
                              <a:gd name="T54" fmla="*/ 45 w 166"/>
                              <a:gd name="T55" fmla="*/ 109 h 180"/>
                              <a:gd name="T56" fmla="*/ 42 w 166"/>
                              <a:gd name="T57" fmla="*/ 105 h 180"/>
                              <a:gd name="T58" fmla="*/ 34 w 166"/>
                              <a:gd name="T59" fmla="*/ 86 h 180"/>
                              <a:gd name="T60" fmla="*/ 0 w 166"/>
                              <a:gd name="T61" fmla="*/ 69 h 18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  <a:cxn ang="0">
                                <a:pos x="T52" y="T53"/>
                              </a:cxn>
                              <a:cxn ang="0">
                                <a:pos x="T54" y="T55"/>
                              </a:cxn>
                              <a:cxn ang="0">
                                <a:pos x="T56" y="T57"/>
                              </a:cxn>
                              <a:cxn ang="0">
                                <a:pos x="T58" y="T59"/>
                              </a:cxn>
                              <a:cxn ang="0">
                                <a:pos x="T60" y="T61"/>
                              </a:cxn>
                            </a:cxnLst>
                            <a:rect l="0" t="0" r="r" b="b"/>
                            <a:pathLst>
                              <a:path w="166" h="180">
                                <a:moveTo>
                                  <a:pt x="0" y="69"/>
                                </a:moveTo>
                                <a:lnTo>
                                  <a:pt x="19" y="61"/>
                                </a:lnTo>
                                <a:lnTo>
                                  <a:pt x="35" y="57"/>
                                </a:lnTo>
                                <a:lnTo>
                                  <a:pt x="56" y="52"/>
                                </a:lnTo>
                                <a:lnTo>
                                  <a:pt x="63" y="49"/>
                                </a:lnTo>
                                <a:lnTo>
                                  <a:pt x="69" y="41"/>
                                </a:lnTo>
                                <a:lnTo>
                                  <a:pt x="78" y="23"/>
                                </a:lnTo>
                                <a:lnTo>
                                  <a:pt x="81" y="9"/>
                                </a:lnTo>
                                <a:lnTo>
                                  <a:pt x="103" y="0"/>
                                </a:lnTo>
                                <a:lnTo>
                                  <a:pt x="165" y="52"/>
                                </a:lnTo>
                                <a:lnTo>
                                  <a:pt x="166" y="64"/>
                                </a:lnTo>
                                <a:lnTo>
                                  <a:pt x="160" y="81"/>
                                </a:lnTo>
                                <a:lnTo>
                                  <a:pt x="152" y="100"/>
                                </a:lnTo>
                                <a:lnTo>
                                  <a:pt x="144" y="112"/>
                                </a:lnTo>
                                <a:lnTo>
                                  <a:pt x="132" y="124"/>
                                </a:lnTo>
                                <a:lnTo>
                                  <a:pt x="119" y="138"/>
                                </a:lnTo>
                                <a:lnTo>
                                  <a:pt x="118" y="155"/>
                                </a:lnTo>
                                <a:lnTo>
                                  <a:pt x="114" y="172"/>
                                </a:lnTo>
                                <a:lnTo>
                                  <a:pt x="105" y="179"/>
                                </a:lnTo>
                                <a:lnTo>
                                  <a:pt x="96" y="180"/>
                                </a:lnTo>
                                <a:lnTo>
                                  <a:pt x="67" y="173"/>
                                </a:lnTo>
                                <a:lnTo>
                                  <a:pt x="70" y="168"/>
                                </a:lnTo>
                                <a:lnTo>
                                  <a:pt x="69" y="157"/>
                                </a:lnTo>
                                <a:lnTo>
                                  <a:pt x="63" y="146"/>
                                </a:lnTo>
                                <a:lnTo>
                                  <a:pt x="63" y="135"/>
                                </a:lnTo>
                                <a:lnTo>
                                  <a:pt x="57" y="127"/>
                                </a:lnTo>
                                <a:lnTo>
                                  <a:pt x="51" y="118"/>
                                </a:lnTo>
                                <a:lnTo>
                                  <a:pt x="45" y="109"/>
                                </a:lnTo>
                                <a:lnTo>
                                  <a:pt x="42" y="105"/>
                                </a:lnTo>
                                <a:lnTo>
                                  <a:pt x="34" y="86"/>
                                </a:lnTo>
                                <a:lnTo>
                                  <a:pt x="0" y="6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00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grpSp>
                        <p:nvGrpSpPr>
                          <p:cNvPr id="258" name="Group 235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31" y="1790"/>
                            <a:ext cx="38" cy="59"/>
                            <a:chOff x="2231" y="1790"/>
                            <a:chExt cx="38" cy="59"/>
                          </a:xfrm>
                        </p:grpSpPr>
                        <p:sp>
                          <p:nvSpPr>
                            <p:cNvPr id="259" name="Freeform 236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32" y="1794"/>
                              <a:ext cx="37" cy="27"/>
                            </a:xfrm>
                            <a:custGeom>
                              <a:avLst/>
                              <a:gdLst>
                                <a:gd name="T0" fmla="*/ 0 w 74"/>
                                <a:gd name="T1" fmla="*/ 53 h 53"/>
                                <a:gd name="T2" fmla="*/ 50 w 74"/>
                                <a:gd name="T3" fmla="*/ 36 h 53"/>
                                <a:gd name="T4" fmla="*/ 62 w 74"/>
                                <a:gd name="T5" fmla="*/ 36 h 53"/>
                                <a:gd name="T6" fmla="*/ 74 w 74"/>
                                <a:gd name="T7" fmla="*/ 0 h 5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</a:cxnLst>
                              <a:rect l="0" t="0" r="r" b="b"/>
                              <a:pathLst>
                                <a:path w="74" h="53">
                                  <a:moveTo>
                                    <a:pt x="0" y="53"/>
                                  </a:moveTo>
                                  <a:lnTo>
                                    <a:pt x="50" y="36"/>
                                  </a:lnTo>
                                  <a:lnTo>
                                    <a:pt x="62" y="36"/>
                                  </a:lnTo>
                                  <a:lnTo>
                                    <a:pt x="74" y="0"/>
                                  </a:lnTo>
                                </a:path>
                              </a:pathLst>
                            </a:custGeom>
                            <a:noFill/>
                            <a:ln w="6350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  <p:sp>
                          <p:nvSpPr>
                            <p:cNvPr id="260" name="Line 23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2243" y="1834"/>
                              <a:ext cx="20" cy="15"/>
                            </a:xfrm>
                            <a:prstGeom prst="line">
                              <a:avLst/>
                            </a:prstGeom>
                            <a:noFill/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  <p:sp>
                          <p:nvSpPr>
                            <p:cNvPr id="261" name="Line 23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2231" y="1790"/>
                              <a:ext cx="8" cy="10"/>
                            </a:xfrm>
                            <a:prstGeom prst="line">
                              <a:avLst/>
                            </a:prstGeom>
                            <a:noFill/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</p:grpSp>
                    </p:grpSp>
                    <p:sp>
                      <p:nvSpPr>
                        <p:cNvPr id="256" name="Freeform 23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8" y="1765"/>
                          <a:ext cx="43" cy="26"/>
                        </a:xfrm>
                        <a:custGeom>
                          <a:avLst/>
                          <a:gdLst>
                            <a:gd name="T0" fmla="*/ 21 w 86"/>
                            <a:gd name="T1" fmla="*/ 0 h 54"/>
                            <a:gd name="T2" fmla="*/ 0 w 86"/>
                            <a:gd name="T3" fmla="*/ 10 h 54"/>
                            <a:gd name="T4" fmla="*/ 27 w 86"/>
                            <a:gd name="T5" fmla="*/ 15 h 54"/>
                            <a:gd name="T6" fmla="*/ 32 w 86"/>
                            <a:gd name="T7" fmla="*/ 42 h 54"/>
                            <a:gd name="T8" fmla="*/ 86 w 86"/>
                            <a:gd name="T9" fmla="*/ 54 h 54"/>
                            <a:gd name="T10" fmla="*/ 80 w 86"/>
                            <a:gd name="T11" fmla="*/ 28 h 54"/>
                            <a:gd name="T12" fmla="*/ 21 w 86"/>
                            <a:gd name="T13" fmla="*/ 0 h 5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</a:cxnLst>
                          <a:rect l="0" t="0" r="r" b="b"/>
                          <a:pathLst>
                            <a:path w="86" h="54">
                              <a:moveTo>
                                <a:pt x="21" y="0"/>
                              </a:moveTo>
                              <a:lnTo>
                                <a:pt x="0" y="10"/>
                              </a:lnTo>
                              <a:lnTo>
                                <a:pt x="27" y="15"/>
                              </a:lnTo>
                              <a:lnTo>
                                <a:pt x="32" y="42"/>
                              </a:lnTo>
                              <a:lnTo>
                                <a:pt x="86" y="54"/>
                              </a:lnTo>
                              <a:lnTo>
                                <a:pt x="80" y="28"/>
                              </a:lnTo>
                              <a:lnTo>
                                <a:pt x="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9F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</p:grpSp>
              </p:grpSp>
              <p:grpSp>
                <p:nvGrpSpPr>
                  <p:cNvPr id="243" name="Group 240"/>
                  <p:cNvGrpSpPr>
                    <a:grpSpLocks/>
                  </p:cNvGrpSpPr>
                  <p:nvPr/>
                </p:nvGrpSpPr>
                <p:grpSpPr bwMode="auto">
                  <a:xfrm>
                    <a:off x="2186" y="1799"/>
                    <a:ext cx="63" cy="64"/>
                    <a:chOff x="2186" y="1799"/>
                    <a:chExt cx="63" cy="64"/>
                  </a:xfrm>
                </p:grpSpPr>
                <p:grpSp>
                  <p:nvGrpSpPr>
                    <p:cNvPr id="244" name="Group 24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03" y="1816"/>
                      <a:ext cx="46" cy="47"/>
                      <a:chOff x="2203" y="1816"/>
                      <a:chExt cx="46" cy="47"/>
                    </a:xfrm>
                  </p:grpSpPr>
                  <p:sp>
                    <p:nvSpPr>
                      <p:cNvPr id="246" name="Freeform 24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3" y="1816"/>
                        <a:ext cx="46" cy="47"/>
                      </a:xfrm>
                      <a:custGeom>
                        <a:avLst/>
                        <a:gdLst>
                          <a:gd name="T0" fmla="*/ 57 w 92"/>
                          <a:gd name="T1" fmla="*/ 12 h 95"/>
                          <a:gd name="T2" fmla="*/ 50 w 92"/>
                          <a:gd name="T3" fmla="*/ 7 h 95"/>
                          <a:gd name="T4" fmla="*/ 40 w 92"/>
                          <a:gd name="T5" fmla="*/ 1 h 95"/>
                          <a:gd name="T6" fmla="*/ 31 w 92"/>
                          <a:gd name="T7" fmla="*/ 0 h 95"/>
                          <a:gd name="T8" fmla="*/ 20 w 92"/>
                          <a:gd name="T9" fmla="*/ 1 h 95"/>
                          <a:gd name="T10" fmla="*/ 14 w 92"/>
                          <a:gd name="T11" fmla="*/ 6 h 95"/>
                          <a:gd name="T12" fmla="*/ 8 w 92"/>
                          <a:gd name="T13" fmla="*/ 13 h 95"/>
                          <a:gd name="T14" fmla="*/ 2 w 92"/>
                          <a:gd name="T15" fmla="*/ 22 h 95"/>
                          <a:gd name="T16" fmla="*/ 0 w 92"/>
                          <a:gd name="T17" fmla="*/ 30 h 95"/>
                          <a:gd name="T18" fmla="*/ 2 w 92"/>
                          <a:gd name="T19" fmla="*/ 44 h 95"/>
                          <a:gd name="T20" fmla="*/ 8 w 92"/>
                          <a:gd name="T21" fmla="*/ 52 h 95"/>
                          <a:gd name="T22" fmla="*/ 15 w 92"/>
                          <a:gd name="T23" fmla="*/ 58 h 95"/>
                          <a:gd name="T24" fmla="*/ 24 w 92"/>
                          <a:gd name="T25" fmla="*/ 62 h 95"/>
                          <a:gd name="T26" fmla="*/ 26 w 92"/>
                          <a:gd name="T27" fmla="*/ 67 h 95"/>
                          <a:gd name="T28" fmla="*/ 24 w 92"/>
                          <a:gd name="T29" fmla="*/ 74 h 95"/>
                          <a:gd name="T30" fmla="*/ 24 w 92"/>
                          <a:gd name="T31" fmla="*/ 81 h 95"/>
                          <a:gd name="T32" fmla="*/ 29 w 92"/>
                          <a:gd name="T33" fmla="*/ 87 h 95"/>
                          <a:gd name="T34" fmla="*/ 38 w 92"/>
                          <a:gd name="T35" fmla="*/ 95 h 95"/>
                          <a:gd name="T36" fmla="*/ 48 w 92"/>
                          <a:gd name="T37" fmla="*/ 92 h 95"/>
                          <a:gd name="T38" fmla="*/ 57 w 92"/>
                          <a:gd name="T39" fmla="*/ 84 h 95"/>
                          <a:gd name="T40" fmla="*/ 60 w 92"/>
                          <a:gd name="T41" fmla="*/ 89 h 95"/>
                          <a:gd name="T42" fmla="*/ 65 w 92"/>
                          <a:gd name="T43" fmla="*/ 95 h 95"/>
                          <a:gd name="T44" fmla="*/ 75 w 92"/>
                          <a:gd name="T45" fmla="*/ 95 h 95"/>
                          <a:gd name="T46" fmla="*/ 80 w 92"/>
                          <a:gd name="T47" fmla="*/ 89 h 95"/>
                          <a:gd name="T48" fmla="*/ 84 w 92"/>
                          <a:gd name="T49" fmla="*/ 87 h 95"/>
                          <a:gd name="T50" fmla="*/ 89 w 92"/>
                          <a:gd name="T51" fmla="*/ 84 h 95"/>
                          <a:gd name="T52" fmla="*/ 92 w 92"/>
                          <a:gd name="T53" fmla="*/ 77 h 95"/>
                          <a:gd name="T54" fmla="*/ 89 w 92"/>
                          <a:gd name="T55" fmla="*/ 69 h 95"/>
                          <a:gd name="T56" fmla="*/ 86 w 92"/>
                          <a:gd name="T57" fmla="*/ 62 h 95"/>
                          <a:gd name="T58" fmla="*/ 86 w 92"/>
                          <a:gd name="T59" fmla="*/ 58 h 95"/>
                          <a:gd name="T60" fmla="*/ 81 w 92"/>
                          <a:gd name="T61" fmla="*/ 50 h 95"/>
                          <a:gd name="T62" fmla="*/ 75 w 92"/>
                          <a:gd name="T63" fmla="*/ 40 h 95"/>
                          <a:gd name="T64" fmla="*/ 70 w 92"/>
                          <a:gd name="T65" fmla="*/ 33 h 95"/>
                          <a:gd name="T66" fmla="*/ 67 w 92"/>
                          <a:gd name="T67" fmla="*/ 24 h 95"/>
                          <a:gd name="T68" fmla="*/ 57 w 92"/>
                          <a:gd name="T69" fmla="*/ 12 h 9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</a:cxnLst>
                        <a:rect l="0" t="0" r="r" b="b"/>
                        <a:pathLst>
                          <a:path w="92" h="95">
                            <a:moveTo>
                              <a:pt x="57" y="12"/>
                            </a:moveTo>
                            <a:lnTo>
                              <a:pt x="50" y="7"/>
                            </a:lnTo>
                            <a:lnTo>
                              <a:pt x="40" y="1"/>
                            </a:lnTo>
                            <a:lnTo>
                              <a:pt x="31" y="0"/>
                            </a:lnTo>
                            <a:lnTo>
                              <a:pt x="20" y="1"/>
                            </a:lnTo>
                            <a:lnTo>
                              <a:pt x="14" y="6"/>
                            </a:lnTo>
                            <a:lnTo>
                              <a:pt x="8" y="13"/>
                            </a:lnTo>
                            <a:lnTo>
                              <a:pt x="2" y="22"/>
                            </a:lnTo>
                            <a:lnTo>
                              <a:pt x="0" y="30"/>
                            </a:lnTo>
                            <a:lnTo>
                              <a:pt x="2" y="44"/>
                            </a:lnTo>
                            <a:lnTo>
                              <a:pt x="8" y="52"/>
                            </a:lnTo>
                            <a:lnTo>
                              <a:pt x="15" y="58"/>
                            </a:lnTo>
                            <a:lnTo>
                              <a:pt x="24" y="62"/>
                            </a:lnTo>
                            <a:lnTo>
                              <a:pt x="26" y="67"/>
                            </a:lnTo>
                            <a:lnTo>
                              <a:pt x="24" y="74"/>
                            </a:lnTo>
                            <a:lnTo>
                              <a:pt x="24" y="81"/>
                            </a:lnTo>
                            <a:lnTo>
                              <a:pt x="29" y="87"/>
                            </a:lnTo>
                            <a:lnTo>
                              <a:pt x="38" y="95"/>
                            </a:lnTo>
                            <a:lnTo>
                              <a:pt x="48" y="92"/>
                            </a:lnTo>
                            <a:lnTo>
                              <a:pt x="57" y="84"/>
                            </a:lnTo>
                            <a:lnTo>
                              <a:pt x="60" y="89"/>
                            </a:lnTo>
                            <a:lnTo>
                              <a:pt x="65" y="95"/>
                            </a:lnTo>
                            <a:lnTo>
                              <a:pt x="75" y="95"/>
                            </a:lnTo>
                            <a:lnTo>
                              <a:pt x="80" y="89"/>
                            </a:lnTo>
                            <a:lnTo>
                              <a:pt x="84" y="87"/>
                            </a:lnTo>
                            <a:lnTo>
                              <a:pt x="89" y="84"/>
                            </a:lnTo>
                            <a:lnTo>
                              <a:pt x="92" y="77"/>
                            </a:lnTo>
                            <a:lnTo>
                              <a:pt x="89" y="69"/>
                            </a:lnTo>
                            <a:lnTo>
                              <a:pt x="86" y="62"/>
                            </a:lnTo>
                            <a:lnTo>
                              <a:pt x="86" y="58"/>
                            </a:lnTo>
                            <a:lnTo>
                              <a:pt x="81" y="50"/>
                            </a:lnTo>
                            <a:lnTo>
                              <a:pt x="75" y="40"/>
                            </a:lnTo>
                            <a:lnTo>
                              <a:pt x="70" y="33"/>
                            </a:lnTo>
                            <a:lnTo>
                              <a:pt x="67" y="24"/>
                            </a:lnTo>
                            <a:lnTo>
                              <a:pt x="57" y="12"/>
                            </a:lnTo>
                            <a:close/>
                          </a:path>
                        </a:pathLst>
                      </a:custGeom>
                      <a:solidFill>
                        <a:srgbClr val="FFBF7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grpSp>
                    <p:nvGrpSpPr>
                      <p:cNvPr id="247" name="Group 24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12" y="1830"/>
                        <a:ext cx="31" cy="28"/>
                        <a:chOff x="2212" y="1830"/>
                        <a:chExt cx="31" cy="28"/>
                      </a:xfrm>
                    </p:grpSpPr>
                    <p:sp>
                      <p:nvSpPr>
                        <p:cNvPr id="248" name="Freeform 24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12" y="1830"/>
                          <a:ext cx="10" cy="16"/>
                        </a:xfrm>
                        <a:custGeom>
                          <a:avLst/>
                          <a:gdLst>
                            <a:gd name="T0" fmla="*/ 0 w 19"/>
                            <a:gd name="T1" fmla="*/ 0 h 33"/>
                            <a:gd name="T2" fmla="*/ 11 w 19"/>
                            <a:gd name="T3" fmla="*/ 5 h 33"/>
                            <a:gd name="T4" fmla="*/ 16 w 19"/>
                            <a:gd name="T5" fmla="*/ 12 h 33"/>
                            <a:gd name="T6" fmla="*/ 19 w 19"/>
                            <a:gd name="T7" fmla="*/ 22 h 33"/>
                            <a:gd name="T8" fmla="*/ 18 w 19"/>
                            <a:gd name="T9" fmla="*/ 30 h 33"/>
                            <a:gd name="T10" fmla="*/ 15 w 19"/>
                            <a:gd name="T11" fmla="*/ 32 h 33"/>
                            <a:gd name="T12" fmla="*/ 7 w 19"/>
                            <a:gd name="T13" fmla="*/ 33 h 3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</a:cxnLst>
                          <a:rect l="0" t="0" r="r" b="b"/>
                          <a:pathLst>
                            <a:path w="19" h="33">
                              <a:moveTo>
                                <a:pt x="0" y="0"/>
                              </a:moveTo>
                              <a:lnTo>
                                <a:pt x="11" y="5"/>
                              </a:lnTo>
                              <a:lnTo>
                                <a:pt x="16" y="12"/>
                              </a:lnTo>
                              <a:lnTo>
                                <a:pt x="19" y="22"/>
                              </a:lnTo>
                              <a:lnTo>
                                <a:pt x="18" y="30"/>
                              </a:lnTo>
                              <a:lnTo>
                                <a:pt x="15" y="32"/>
                              </a:lnTo>
                              <a:lnTo>
                                <a:pt x="7" y="33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49" name="Freeform 245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29" y="1843"/>
                          <a:ext cx="3" cy="13"/>
                        </a:xfrm>
                        <a:custGeom>
                          <a:avLst/>
                          <a:gdLst>
                            <a:gd name="T0" fmla="*/ 5 w 7"/>
                            <a:gd name="T1" fmla="*/ 25 h 25"/>
                            <a:gd name="T2" fmla="*/ 7 w 7"/>
                            <a:gd name="T3" fmla="*/ 17 h 25"/>
                            <a:gd name="T4" fmla="*/ 5 w 7"/>
                            <a:gd name="T5" fmla="*/ 5 h 25"/>
                            <a:gd name="T6" fmla="*/ 0 w 7"/>
                            <a:gd name="T7" fmla="*/ 0 h 2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0" t="0" r="r" b="b"/>
                          <a:pathLst>
                            <a:path w="7" h="25">
                              <a:moveTo>
                                <a:pt x="5" y="25"/>
                              </a:moveTo>
                              <a:lnTo>
                                <a:pt x="7" y="17"/>
                              </a:lnTo>
                              <a:lnTo>
                                <a:pt x="5" y="5"/>
                              </a:lnTo>
                              <a:lnTo>
                                <a:pt x="0" y="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50" name="Freeform 24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1" y="1849"/>
                          <a:ext cx="2" cy="9"/>
                        </a:xfrm>
                        <a:custGeom>
                          <a:avLst/>
                          <a:gdLst>
                            <a:gd name="T0" fmla="*/ 0 w 4"/>
                            <a:gd name="T1" fmla="*/ 0 h 18"/>
                            <a:gd name="T2" fmla="*/ 4 w 4"/>
                            <a:gd name="T3" fmla="*/ 11 h 18"/>
                            <a:gd name="T4" fmla="*/ 2 w 4"/>
                            <a:gd name="T5" fmla="*/ 18 h 1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</a:cxnLst>
                          <a:rect l="0" t="0" r="r" b="b"/>
                          <a:pathLst>
                            <a:path w="4" h="18">
                              <a:moveTo>
                                <a:pt x="0" y="0"/>
                              </a:moveTo>
                              <a:lnTo>
                                <a:pt x="4" y="11"/>
                              </a:lnTo>
                              <a:lnTo>
                                <a:pt x="2" y="18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</p:grpSp>
                <p:sp>
                  <p:nvSpPr>
                    <p:cNvPr id="245" name="Freeform 247"/>
                    <p:cNvSpPr>
                      <a:spLocks/>
                    </p:cNvSpPr>
                    <p:nvPr/>
                  </p:nvSpPr>
                  <p:spPr bwMode="auto">
                    <a:xfrm>
                      <a:off x="2186" y="1799"/>
                      <a:ext cx="29" cy="17"/>
                    </a:xfrm>
                    <a:custGeom>
                      <a:avLst/>
                      <a:gdLst>
                        <a:gd name="T0" fmla="*/ 58 w 58"/>
                        <a:gd name="T1" fmla="*/ 11 h 35"/>
                        <a:gd name="T2" fmla="*/ 36 w 58"/>
                        <a:gd name="T3" fmla="*/ 3 h 35"/>
                        <a:gd name="T4" fmla="*/ 25 w 58"/>
                        <a:gd name="T5" fmla="*/ 0 h 35"/>
                        <a:gd name="T6" fmla="*/ 12 w 58"/>
                        <a:gd name="T7" fmla="*/ 0 h 35"/>
                        <a:gd name="T8" fmla="*/ 3 w 58"/>
                        <a:gd name="T9" fmla="*/ 5 h 35"/>
                        <a:gd name="T10" fmla="*/ 0 w 58"/>
                        <a:gd name="T11" fmla="*/ 12 h 35"/>
                        <a:gd name="T12" fmla="*/ 3 w 58"/>
                        <a:gd name="T13" fmla="*/ 21 h 35"/>
                        <a:gd name="T14" fmla="*/ 11 w 58"/>
                        <a:gd name="T15" fmla="*/ 23 h 35"/>
                        <a:gd name="T16" fmla="*/ 7 w 58"/>
                        <a:gd name="T17" fmla="*/ 26 h 35"/>
                        <a:gd name="T18" fmla="*/ 8 w 58"/>
                        <a:gd name="T19" fmla="*/ 32 h 35"/>
                        <a:gd name="T20" fmla="*/ 17 w 58"/>
                        <a:gd name="T21" fmla="*/ 35 h 35"/>
                        <a:gd name="T22" fmla="*/ 36 w 58"/>
                        <a:gd name="T23" fmla="*/ 33 h 35"/>
                        <a:gd name="T24" fmla="*/ 58 w 58"/>
                        <a:gd name="T25" fmla="*/ 11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58" h="35">
                          <a:moveTo>
                            <a:pt x="58" y="11"/>
                          </a:moveTo>
                          <a:lnTo>
                            <a:pt x="36" y="3"/>
                          </a:lnTo>
                          <a:lnTo>
                            <a:pt x="25" y="0"/>
                          </a:lnTo>
                          <a:lnTo>
                            <a:pt x="12" y="0"/>
                          </a:lnTo>
                          <a:lnTo>
                            <a:pt x="3" y="5"/>
                          </a:lnTo>
                          <a:lnTo>
                            <a:pt x="0" y="12"/>
                          </a:lnTo>
                          <a:lnTo>
                            <a:pt x="3" y="21"/>
                          </a:lnTo>
                          <a:lnTo>
                            <a:pt x="11" y="23"/>
                          </a:lnTo>
                          <a:lnTo>
                            <a:pt x="7" y="26"/>
                          </a:lnTo>
                          <a:lnTo>
                            <a:pt x="8" y="32"/>
                          </a:lnTo>
                          <a:lnTo>
                            <a:pt x="17" y="35"/>
                          </a:lnTo>
                          <a:lnTo>
                            <a:pt x="36" y="33"/>
                          </a:lnTo>
                          <a:lnTo>
                            <a:pt x="58" y="11"/>
                          </a:lnTo>
                          <a:close/>
                        </a:path>
                      </a:pathLst>
                    </a:custGeom>
                    <a:solidFill>
                      <a:srgbClr val="FFBF7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  <p:sp>
              <p:nvSpPr>
                <p:cNvPr id="241" name="Freeform 248"/>
                <p:cNvSpPr>
                  <a:spLocks/>
                </p:cNvSpPr>
                <p:nvPr/>
              </p:nvSpPr>
              <p:spPr bwMode="auto">
                <a:xfrm>
                  <a:off x="2174" y="1794"/>
                  <a:ext cx="128" cy="36"/>
                </a:xfrm>
                <a:custGeom>
                  <a:avLst/>
                  <a:gdLst>
                    <a:gd name="T0" fmla="*/ 8 w 257"/>
                    <a:gd name="T1" fmla="*/ 0 h 70"/>
                    <a:gd name="T2" fmla="*/ 257 w 257"/>
                    <a:gd name="T3" fmla="*/ 63 h 70"/>
                    <a:gd name="T4" fmla="*/ 246 w 257"/>
                    <a:gd name="T5" fmla="*/ 70 h 70"/>
                    <a:gd name="T6" fmla="*/ 0 w 257"/>
                    <a:gd name="T7" fmla="*/ 12 h 70"/>
                    <a:gd name="T8" fmla="*/ 8 w 257"/>
                    <a:gd name="T9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7" h="70">
                      <a:moveTo>
                        <a:pt x="8" y="0"/>
                      </a:moveTo>
                      <a:lnTo>
                        <a:pt x="257" y="63"/>
                      </a:lnTo>
                      <a:lnTo>
                        <a:pt x="246" y="70"/>
                      </a:lnTo>
                      <a:lnTo>
                        <a:pt x="0" y="12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81" name="Group 249"/>
              <p:cNvGrpSpPr>
                <a:grpSpLocks/>
              </p:cNvGrpSpPr>
              <p:nvPr/>
            </p:nvGrpSpPr>
            <p:grpSpPr bwMode="auto">
              <a:xfrm>
                <a:off x="1951" y="1656"/>
                <a:ext cx="289" cy="297"/>
                <a:chOff x="1951" y="1656"/>
                <a:chExt cx="289" cy="297"/>
              </a:xfrm>
            </p:grpSpPr>
            <p:grpSp>
              <p:nvGrpSpPr>
                <p:cNvPr id="182" name="Group 250"/>
                <p:cNvGrpSpPr>
                  <a:grpSpLocks/>
                </p:cNvGrpSpPr>
                <p:nvPr/>
              </p:nvGrpSpPr>
              <p:grpSpPr bwMode="auto">
                <a:xfrm>
                  <a:off x="1951" y="1656"/>
                  <a:ext cx="289" cy="297"/>
                  <a:chOff x="1951" y="1656"/>
                  <a:chExt cx="289" cy="297"/>
                </a:xfrm>
              </p:grpSpPr>
              <p:grpSp>
                <p:nvGrpSpPr>
                  <p:cNvPr id="196" name="Group 251"/>
                  <p:cNvGrpSpPr>
                    <a:grpSpLocks/>
                  </p:cNvGrpSpPr>
                  <p:nvPr/>
                </p:nvGrpSpPr>
                <p:grpSpPr bwMode="auto">
                  <a:xfrm>
                    <a:off x="2108" y="1656"/>
                    <a:ext cx="132" cy="111"/>
                    <a:chOff x="2108" y="1656"/>
                    <a:chExt cx="132" cy="111"/>
                  </a:xfrm>
                </p:grpSpPr>
                <p:grpSp>
                  <p:nvGrpSpPr>
                    <p:cNvPr id="221" name="Group 2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08" y="1665"/>
                      <a:ext cx="127" cy="102"/>
                      <a:chOff x="2108" y="1665"/>
                      <a:chExt cx="127" cy="102"/>
                    </a:xfrm>
                  </p:grpSpPr>
                  <p:sp>
                    <p:nvSpPr>
                      <p:cNvPr id="238" name="Freeform 2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60" y="1714"/>
                        <a:ext cx="25" cy="33"/>
                      </a:xfrm>
                      <a:custGeom>
                        <a:avLst/>
                        <a:gdLst>
                          <a:gd name="T0" fmla="*/ 0 w 49"/>
                          <a:gd name="T1" fmla="*/ 0 h 65"/>
                          <a:gd name="T2" fmla="*/ 6 w 49"/>
                          <a:gd name="T3" fmla="*/ 65 h 65"/>
                          <a:gd name="T4" fmla="*/ 49 w 49"/>
                          <a:gd name="T5" fmla="*/ 57 h 65"/>
                          <a:gd name="T6" fmla="*/ 37 w 49"/>
                          <a:gd name="T7" fmla="*/ 13 h 65"/>
                          <a:gd name="T8" fmla="*/ 0 w 49"/>
                          <a:gd name="T9" fmla="*/ 0 h 6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65">
                            <a:moveTo>
                              <a:pt x="0" y="0"/>
                            </a:moveTo>
                            <a:lnTo>
                              <a:pt x="6" y="65"/>
                            </a:lnTo>
                            <a:lnTo>
                              <a:pt x="49" y="57"/>
                            </a:lnTo>
                            <a:lnTo>
                              <a:pt x="37" y="13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239" name="Freeform 25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08" y="1665"/>
                        <a:ext cx="127" cy="102"/>
                      </a:xfrm>
                      <a:custGeom>
                        <a:avLst/>
                        <a:gdLst>
                          <a:gd name="T0" fmla="*/ 0 w 253"/>
                          <a:gd name="T1" fmla="*/ 68 h 202"/>
                          <a:gd name="T2" fmla="*/ 2 w 253"/>
                          <a:gd name="T3" fmla="*/ 57 h 202"/>
                          <a:gd name="T4" fmla="*/ 7 w 253"/>
                          <a:gd name="T5" fmla="*/ 47 h 202"/>
                          <a:gd name="T6" fmla="*/ 15 w 253"/>
                          <a:gd name="T7" fmla="*/ 41 h 202"/>
                          <a:gd name="T8" fmla="*/ 34 w 253"/>
                          <a:gd name="T9" fmla="*/ 32 h 202"/>
                          <a:gd name="T10" fmla="*/ 42 w 253"/>
                          <a:gd name="T11" fmla="*/ 31 h 202"/>
                          <a:gd name="T12" fmla="*/ 64 w 253"/>
                          <a:gd name="T13" fmla="*/ 36 h 202"/>
                          <a:gd name="T14" fmla="*/ 78 w 253"/>
                          <a:gd name="T15" fmla="*/ 35 h 202"/>
                          <a:gd name="T16" fmla="*/ 93 w 253"/>
                          <a:gd name="T17" fmla="*/ 37 h 202"/>
                          <a:gd name="T18" fmla="*/ 101 w 253"/>
                          <a:gd name="T19" fmla="*/ 28 h 202"/>
                          <a:gd name="T20" fmla="*/ 111 w 253"/>
                          <a:gd name="T21" fmla="*/ 19 h 202"/>
                          <a:gd name="T22" fmla="*/ 126 w 253"/>
                          <a:gd name="T23" fmla="*/ 9 h 202"/>
                          <a:gd name="T24" fmla="*/ 138 w 253"/>
                          <a:gd name="T25" fmla="*/ 4 h 202"/>
                          <a:gd name="T26" fmla="*/ 151 w 253"/>
                          <a:gd name="T27" fmla="*/ 0 h 202"/>
                          <a:gd name="T28" fmla="*/ 163 w 253"/>
                          <a:gd name="T29" fmla="*/ 1 h 202"/>
                          <a:gd name="T30" fmla="*/ 178 w 253"/>
                          <a:gd name="T31" fmla="*/ 0 h 202"/>
                          <a:gd name="T32" fmla="*/ 195 w 253"/>
                          <a:gd name="T33" fmla="*/ 3 h 202"/>
                          <a:gd name="T34" fmla="*/ 209 w 253"/>
                          <a:gd name="T35" fmla="*/ 17 h 202"/>
                          <a:gd name="T36" fmla="*/ 221 w 253"/>
                          <a:gd name="T37" fmla="*/ 25 h 202"/>
                          <a:gd name="T38" fmla="*/ 236 w 253"/>
                          <a:gd name="T39" fmla="*/ 36 h 202"/>
                          <a:gd name="T40" fmla="*/ 244 w 253"/>
                          <a:gd name="T41" fmla="*/ 43 h 202"/>
                          <a:gd name="T42" fmla="*/ 249 w 253"/>
                          <a:gd name="T43" fmla="*/ 52 h 202"/>
                          <a:gd name="T44" fmla="*/ 253 w 253"/>
                          <a:gd name="T45" fmla="*/ 65 h 202"/>
                          <a:gd name="T46" fmla="*/ 250 w 253"/>
                          <a:gd name="T47" fmla="*/ 83 h 202"/>
                          <a:gd name="T48" fmla="*/ 246 w 253"/>
                          <a:gd name="T49" fmla="*/ 100 h 202"/>
                          <a:gd name="T50" fmla="*/ 241 w 253"/>
                          <a:gd name="T51" fmla="*/ 115 h 202"/>
                          <a:gd name="T52" fmla="*/ 233 w 253"/>
                          <a:gd name="T53" fmla="*/ 124 h 202"/>
                          <a:gd name="T54" fmla="*/ 223 w 253"/>
                          <a:gd name="T55" fmla="*/ 132 h 202"/>
                          <a:gd name="T56" fmla="*/ 212 w 253"/>
                          <a:gd name="T57" fmla="*/ 137 h 202"/>
                          <a:gd name="T58" fmla="*/ 212 w 253"/>
                          <a:gd name="T59" fmla="*/ 151 h 202"/>
                          <a:gd name="T60" fmla="*/ 204 w 253"/>
                          <a:gd name="T61" fmla="*/ 162 h 202"/>
                          <a:gd name="T62" fmla="*/ 195 w 253"/>
                          <a:gd name="T63" fmla="*/ 169 h 202"/>
                          <a:gd name="T64" fmla="*/ 184 w 253"/>
                          <a:gd name="T65" fmla="*/ 175 h 202"/>
                          <a:gd name="T66" fmla="*/ 170 w 253"/>
                          <a:gd name="T67" fmla="*/ 177 h 202"/>
                          <a:gd name="T68" fmla="*/ 166 w 253"/>
                          <a:gd name="T69" fmla="*/ 202 h 202"/>
                          <a:gd name="T70" fmla="*/ 127 w 253"/>
                          <a:gd name="T71" fmla="*/ 189 h 202"/>
                          <a:gd name="T72" fmla="*/ 107 w 253"/>
                          <a:gd name="T73" fmla="*/ 200 h 202"/>
                          <a:gd name="T74" fmla="*/ 70 w 253"/>
                          <a:gd name="T75" fmla="*/ 186 h 202"/>
                          <a:gd name="T76" fmla="*/ 71 w 253"/>
                          <a:gd name="T77" fmla="*/ 156 h 202"/>
                          <a:gd name="T78" fmla="*/ 75 w 253"/>
                          <a:gd name="T79" fmla="*/ 147 h 202"/>
                          <a:gd name="T80" fmla="*/ 83 w 253"/>
                          <a:gd name="T81" fmla="*/ 144 h 202"/>
                          <a:gd name="T82" fmla="*/ 95 w 253"/>
                          <a:gd name="T83" fmla="*/ 143 h 202"/>
                          <a:gd name="T84" fmla="*/ 110 w 253"/>
                          <a:gd name="T85" fmla="*/ 147 h 202"/>
                          <a:gd name="T86" fmla="*/ 120 w 253"/>
                          <a:gd name="T87" fmla="*/ 144 h 202"/>
                          <a:gd name="T88" fmla="*/ 135 w 253"/>
                          <a:gd name="T89" fmla="*/ 141 h 202"/>
                          <a:gd name="T90" fmla="*/ 129 w 253"/>
                          <a:gd name="T91" fmla="*/ 118 h 202"/>
                          <a:gd name="T92" fmla="*/ 115 w 253"/>
                          <a:gd name="T93" fmla="*/ 114 h 202"/>
                          <a:gd name="T94" fmla="*/ 103 w 253"/>
                          <a:gd name="T95" fmla="*/ 110 h 202"/>
                          <a:gd name="T96" fmla="*/ 86 w 253"/>
                          <a:gd name="T97" fmla="*/ 100 h 202"/>
                          <a:gd name="T98" fmla="*/ 74 w 253"/>
                          <a:gd name="T99" fmla="*/ 98 h 202"/>
                          <a:gd name="T100" fmla="*/ 47 w 253"/>
                          <a:gd name="T101" fmla="*/ 95 h 202"/>
                          <a:gd name="T102" fmla="*/ 32 w 253"/>
                          <a:gd name="T103" fmla="*/ 87 h 202"/>
                          <a:gd name="T104" fmla="*/ 15 w 253"/>
                          <a:gd name="T105" fmla="*/ 76 h 202"/>
                          <a:gd name="T106" fmla="*/ 0 w 253"/>
                          <a:gd name="T107" fmla="*/ 68 h 20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</a:cxnLst>
                        <a:rect l="0" t="0" r="r" b="b"/>
                        <a:pathLst>
                          <a:path w="253" h="202">
                            <a:moveTo>
                              <a:pt x="0" y="68"/>
                            </a:moveTo>
                            <a:lnTo>
                              <a:pt x="2" y="57"/>
                            </a:lnTo>
                            <a:lnTo>
                              <a:pt x="7" y="47"/>
                            </a:lnTo>
                            <a:lnTo>
                              <a:pt x="15" y="41"/>
                            </a:lnTo>
                            <a:lnTo>
                              <a:pt x="34" y="32"/>
                            </a:lnTo>
                            <a:lnTo>
                              <a:pt x="42" y="31"/>
                            </a:lnTo>
                            <a:lnTo>
                              <a:pt x="64" y="36"/>
                            </a:lnTo>
                            <a:lnTo>
                              <a:pt x="78" y="35"/>
                            </a:lnTo>
                            <a:lnTo>
                              <a:pt x="93" y="37"/>
                            </a:lnTo>
                            <a:lnTo>
                              <a:pt x="101" y="28"/>
                            </a:lnTo>
                            <a:lnTo>
                              <a:pt x="111" y="19"/>
                            </a:lnTo>
                            <a:lnTo>
                              <a:pt x="126" y="9"/>
                            </a:lnTo>
                            <a:lnTo>
                              <a:pt x="138" y="4"/>
                            </a:lnTo>
                            <a:lnTo>
                              <a:pt x="151" y="0"/>
                            </a:lnTo>
                            <a:lnTo>
                              <a:pt x="163" y="1"/>
                            </a:lnTo>
                            <a:lnTo>
                              <a:pt x="178" y="0"/>
                            </a:lnTo>
                            <a:lnTo>
                              <a:pt x="195" y="3"/>
                            </a:lnTo>
                            <a:lnTo>
                              <a:pt x="209" y="17"/>
                            </a:lnTo>
                            <a:lnTo>
                              <a:pt x="221" y="25"/>
                            </a:lnTo>
                            <a:lnTo>
                              <a:pt x="236" y="36"/>
                            </a:lnTo>
                            <a:lnTo>
                              <a:pt x="244" y="43"/>
                            </a:lnTo>
                            <a:lnTo>
                              <a:pt x="249" y="52"/>
                            </a:lnTo>
                            <a:lnTo>
                              <a:pt x="253" y="65"/>
                            </a:lnTo>
                            <a:lnTo>
                              <a:pt x="250" y="83"/>
                            </a:lnTo>
                            <a:lnTo>
                              <a:pt x="246" y="100"/>
                            </a:lnTo>
                            <a:lnTo>
                              <a:pt x="241" y="115"/>
                            </a:lnTo>
                            <a:lnTo>
                              <a:pt x="233" y="124"/>
                            </a:lnTo>
                            <a:lnTo>
                              <a:pt x="223" y="132"/>
                            </a:lnTo>
                            <a:lnTo>
                              <a:pt x="212" y="137"/>
                            </a:lnTo>
                            <a:lnTo>
                              <a:pt x="212" y="151"/>
                            </a:lnTo>
                            <a:lnTo>
                              <a:pt x="204" y="162"/>
                            </a:lnTo>
                            <a:lnTo>
                              <a:pt x="195" y="169"/>
                            </a:lnTo>
                            <a:lnTo>
                              <a:pt x="184" y="175"/>
                            </a:lnTo>
                            <a:lnTo>
                              <a:pt x="170" y="177"/>
                            </a:lnTo>
                            <a:lnTo>
                              <a:pt x="166" y="202"/>
                            </a:lnTo>
                            <a:lnTo>
                              <a:pt x="127" y="189"/>
                            </a:lnTo>
                            <a:lnTo>
                              <a:pt x="107" y="200"/>
                            </a:lnTo>
                            <a:lnTo>
                              <a:pt x="70" y="186"/>
                            </a:lnTo>
                            <a:lnTo>
                              <a:pt x="71" y="156"/>
                            </a:lnTo>
                            <a:lnTo>
                              <a:pt x="75" y="147"/>
                            </a:lnTo>
                            <a:lnTo>
                              <a:pt x="83" y="144"/>
                            </a:lnTo>
                            <a:lnTo>
                              <a:pt x="95" y="143"/>
                            </a:lnTo>
                            <a:lnTo>
                              <a:pt x="110" y="147"/>
                            </a:lnTo>
                            <a:lnTo>
                              <a:pt x="120" y="144"/>
                            </a:lnTo>
                            <a:lnTo>
                              <a:pt x="135" y="141"/>
                            </a:lnTo>
                            <a:lnTo>
                              <a:pt x="129" y="118"/>
                            </a:lnTo>
                            <a:lnTo>
                              <a:pt x="115" y="114"/>
                            </a:lnTo>
                            <a:lnTo>
                              <a:pt x="103" y="110"/>
                            </a:lnTo>
                            <a:lnTo>
                              <a:pt x="86" y="100"/>
                            </a:lnTo>
                            <a:lnTo>
                              <a:pt x="74" y="98"/>
                            </a:lnTo>
                            <a:lnTo>
                              <a:pt x="47" y="95"/>
                            </a:lnTo>
                            <a:lnTo>
                              <a:pt x="32" y="87"/>
                            </a:lnTo>
                            <a:lnTo>
                              <a:pt x="15" y="76"/>
                            </a:lnTo>
                            <a:lnTo>
                              <a:pt x="0" y="68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grpSp>
                  <p:nvGrpSpPr>
                    <p:cNvPr id="222" name="Group 2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51" y="1656"/>
                      <a:ext cx="89" cy="75"/>
                      <a:chOff x="2151" y="1656"/>
                      <a:chExt cx="89" cy="75"/>
                    </a:xfrm>
                  </p:grpSpPr>
                  <p:grpSp>
                    <p:nvGrpSpPr>
                      <p:cNvPr id="223" name="Group 2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89" y="1656"/>
                        <a:ext cx="51" cy="60"/>
                        <a:chOff x="2189" y="1656"/>
                        <a:chExt cx="51" cy="60"/>
                      </a:xfrm>
                    </p:grpSpPr>
                    <p:sp>
                      <p:nvSpPr>
                        <p:cNvPr id="233" name="Freeform 25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89" y="1656"/>
                          <a:ext cx="26" cy="9"/>
                        </a:xfrm>
                        <a:custGeom>
                          <a:avLst/>
                          <a:gdLst>
                            <a:gd name="T0" fmla="*/ 0 w 52"/>
                            <a:gd name="T1" fmla="*/ 18 h 18"/>
                            <a:gd name="T2" fmla="*/ 9 w 52"/>
                            <a:gd name="T3" fmla="*/ 11 h 18"/>
                            <a:gd name="T4" fmla="*/ 20 w 52"/>
                            <a:gd name="T5" fmla="*/ 8 h 18"/>
                            <a:gd name="T6" fmla="*/ 30 w 52"/>
                            <a:gd name="T7" fmla="*/ 8 h 18"/>
                            <a:gd name="T8" fmla="*/ 40 w 52"/>
                            <a:gd name="T9" fmla="*/ 6 h 18"/>
                            <a:gd name="T10" fmla="*/ 52 w 52"/>
                            <a:gd name="T11" fmla="*/ 0 h 1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52" h="18">
                              <a:moveTo>
                                <a:pt x="0" y="18"/>
                              </a:moveTo>
                              <a:lnTo>
                                <a:pt x="9" y="11"/>
                              </a:lnTo>
                              <a:lnTo>
                                <a:pt x="20" y="8"/>
                              </a:lnTo>
                              <a:lnTo>
                                <a:pt x="30" y="8"/>
                              </a:lnTo>
                              <a:lnTo>
                                <a:pt x="40" y="6"/>
                              </a:lnTo>
                              <a:lnTo>
                                <a:pt x="52" y="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34" name="Freeform 25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99" y="1668"/>
                          <a:ext cx="30" cy="8"/>
                        </a:xfrm>
                        <a:custGeom>
                          <a:avLst/>
                          <a:gdLst>
                            <a:gd name="T0" fmla="*/ 0 w 62"/>
                            <a:gd name="T1" fmla="*/ 17 h 17"/>
                            <a:gd name="T2" fmla="*/ 10 w 62"/>
                            <a:gd name="T3" fmla="*/ 9 h 17"/>
                            <a:gd name="T4" fmla="*/ 21 w 62"/>
                            <a:gd name="T5" fmla="*/ 3 h 17"/>
                            <a:gd name="T6" fmla="*/ 33 w 62"/>
                            <a:gd name="T7" fmla="*/ 0 h 17"/>
                            <a:gd name="T8" fmla="*/ 50 w 62"/>
                            <a:gd name="T9" fmla="*/ 2 h 17"/>
                            <a:gd name="T10" fmla="*/ 62 w 62"/>
                            <a:gd name="T11" fmla="*/ 5 h 1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62" h="17">
                              <a:moveTo>
                                <a:pt x="0" y="17"/>
                              </a:moveTo>
                              <a:lnTo>
                                <a:pt x="10" y="9"/>
                              </a:lnTo>
                              <a:lnTo>
                                <a:pt x="21" y="3"/>
                              </a:lnTo>
                              <a:lnTo>
                                <a:pt x="33" y="0"/>
                              </a:lnTo>
                              <a:lnTo>
                                <a:pt x="50" y="2"/>
                              </a:lnTo>
                              <a:lnTo>
                                <a:pt x="62" y="5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35" name="Freeform 25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11" y="1675"/>
                          <a:ext cx="26" cy="10"/>
                        </a:xfrm>
                        <a:custGeom>
                          <a:avLst/>
                          <a:gdLst>
                            <a:gd name="T0" fmla="*/ 0 w 52"/>
                            <a:gd name="T1" fmla="*/ 21 h 21"/>
                            <a:gd name="T2" fmla="*/ 10 w 52"/>
                            <a:gd name="T3" fmla="*/ 11 h 21"/>
                            <a:gd name="T4" fmla="*/ 20 w 52"/>
                            <a:gd name="T5" fmla="*/ 4 h 21"/>
                            <a:gd name="T6" fmla="*/ 29 w 52"/>
                            <a:gd name="T7" fmla="*/ 0 h 21"/>
                            <a:gd name="T8" fmla="*/ 42 w 52"/>
                            <a:gd name="T9" fmla="*/ 1 h 21"/>
                            <a:gd name="T10" fmla="*/ 52 w 52"/>
                            <a:gd name="T11" fmla="*/ 10 h 2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52" h="21">
                              <a:moveTo>
                                <a:pt x="0" y="21"/>
                              </a:moveTo>
                              <a:lnTo>
                                <a:pt x="10" y="11"/>
                              </a:lnTo>
                              <a:lnTo>
                                <a:pt x="20" y="4"/>
                              </a:lnTo>
                              <a:lnTo>
                                <a:pt x="29" y="0"/>
                              </a:lnTo>
                              <a:lnTo>
                                <a:pt x="42" y="1"/>
                              </a:lnTo>
                              <a:lnTo>
                                <a:pt x="52" y="1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36" name="Freeform 26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21" y="1687"/>
                          <a:ext cx="19" cy="5"/>
                        </a:xfrm>
                        <a:custGeom>
                          <a:avLst/>
                          <a:gdLst>
                            <a:gd name="T0" fmla="*/ 0 w 39"/>
                            <a:gd name="T1" fmla="*/ 10 h 10"/>
                            <a:gd name="T2" fmla="*/ 14 w 39"/>
                            <a:gd name="T3" fmla="*/ 3 h 10"/>
                            <a:gd name="T4" fmla="*/ 22 w 39"/>
                            <a:gd name="T5" fmla="*/ 0 h 10"/>
                            <a:gd name="T6" fmla="*/ 27 w 39"/>
                            <a:gd name="T7" fmla="*/ 0 h 10"/>
                            <a:gd name="T8" fmla="*/ 34 w 39"/>
                            <a:gd name="T9" fmla="*/ 3 h 10"/>
                            <a:gd name="T10" fmla="*/ 39 w 39"/>
                            <a:gd name="T11" fmla="*/ 9 h 10"/>
                            <a:gd name="T12" fmla="*/ 39 w 39"/>
                            <a:gd name="T13" fmla="*/ 10 h 1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</a:cxnLst>
                          <a:rect l="0" t="0" r="r" b="b"/>
                          <a:pathLst>
                            <a:path w="39" h="10">
                              <a:moveTo>
                                <a:pt x="0" y="10"/>
                              </a:moveTo>
                              <a:lnTo>
                                <a:pt x="14" y="3"/>
                              </a:lnTo>
                              <a:lnTo>
                                <a:pt x="22" y="0"/>
                              </a:lnTo>
                              <a:lnTo>
                                <a:pt x="27" y="0"/>
                              </a:lnTo>
                              <a:lnTo>
                                <a:pt x="34" y="3"/>
                              </a:lnTo>
                              <a:lnTo>
                                <a:pt x="39" y="9"/>
                              </a:lnTo>
                              <a:lnTo>
                                <a:pt x="39" y="1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37" name="Freeform 26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19" y="1700"/>
                          <a:ext cx="20" cy="16"/>
                        </a:xfrm>
                        <a:custGeom>
                          <a:avLst/>
                          <a:gdLst>
                            <a:gd name="T0" fmla="*/ 0 w 39"/>
                            <a:gd name="T1" fmla="*/ 0 h 31"/>
                            <a:gd name="T2" fmla="*/ 14 w 39"/>
                            <a:gd name="T3" fmla="*/ 2 h 31"/>
                            <a:gd name="T4" fmla="*/ 25 w 39"/>
                            <a:gd name="T5" fmla="*/ 7 h 31"/>
                            <a:gd name="T6" fmla="*/ 32 w 39"/>
                            <a:gd name="T7" fmla="*/ 13 h 31"/>
                            <a:gd name="T8" fmla="*/ 37 w 39"/>
                            <a:gd name="T9" fmla="*/ 19 h 31"/>
                            <a:gd name="T10" fmla="*/ 39 w 39"/>
                            <a:gd name="T11" fmla="*/ 31 h 3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39" h="31">
                              <a:moveTo>
                                <a:pt x="0" y="0"/>
                              </a:moveTo>
                              <a:lnTo>
                                <a:pt x="14" y="2"/>
                              </a:lnTo>
                              <a:lnTo>
                                <a:pt x="25" y="7"/>
                              </a:lnTo>
                              <a:lnTo>
                                <a:pt x="32" y="13"/>
                              </a:lnTo>
                              <a:lnTo>
                                <a:pt x="37" y="19"/>
                              </a:lnTo>
                              <a:lnTo>
                                <a:pt x="39" y="31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  <p:grpSp>
                    <p:nvGrpSpPr>
                      <p:cNvPr id="224" name="Group 26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51" y="1680"/>
                        <a:ext cx="73" cy="51"/>
                        <a:chOff x="2151" y="1680"/>
                        <a:chExt cx="73" cy="51"/>
                      </a:xfrm>
                    </p:grpSpPr>
                    <p:grpSp>
                      <p:nvGrpSpPr>
                        <p:cNvPr id="225" name="Group 26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151" y="1680"/>
                          <a:ext cx="28" cy="36"/>
                          <a:chOff x="2151" y="1680"/>
                          <a:chExt cx="28" cy="36"/>
                        </a:xfrm>
                      </p:grpSpPr>
                      <p:grpSp>
                        <p:nvGrpSpPr>
                          <p:cNvPr id="229" name="Group 264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157" y="1680"/>
                            <a:ext cx="22" cy="17"/>
                            <a:chOff x="2157" y="1680"/>
                            <a:chExt cx="22" cy="17"/>
                          </a:xfrm>
                        </p:grpSpPr>
                        <p:sp>
                          <p:nvSpPr>
                            <p:cNvPr id="231" name="Freeform 26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159" y="1680"/>
                              <a:ext cx="20" cy="3"/>
                            </a:xfrm>
                            <a:custGeom>
                              <a:avLst/>
                              <a:gdLst>
                                <a:gd name="T0" fmla="*/ 0 w 40"/>
                                <a:gd name="T1" fmla="*/ 6 h 6"/>
                                <a:gd name="T2" fmla="*/ 21 w 40"/>
                                <a:gd name="T3" fmla="*/ 0 h 6"/>
                                <a:gd name="T4" fmla="*/ 40 w 40"/>
                                <a:gd name="T5" fmla="*/ 0 h 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</a:cxnLst>
                              <a:rect l="0" t="0" r="r" b="b"/>
                              <a:pathLst>
                                <a:path w="40" h="6">
                                  <a:moveTo>
                                    <a:pt x="0" y="6"/>
                                  </a:moveTo>
                                  <a:lnTo>
                                    <a:pt x="21" y="0"/>
                                  </a:lnTo>
                                  <a:lnTo>
                                    <a:pt x="40" y="0"/>
                                  </a:lnTo>
                                </a:path>
                              </a:pathLst>
                            </a:custGeom>
                            <a:noFill/>
                            <a:ln w="6350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  <p:sp>
                          <p:nvSpPr>
                            <p:cNvPr id="232" name="Freeform 266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157" y="1687"/>
                              <a:ext cx="19" cy="10"/>
                            </a:xfrm>
                            <a:custGeom>
                              <a:avLst/>
                              <a:gdLst>
                                <a:gd name="T0" fmla="*/ 0 w 37"/>
                                <a:gd name="T1" fmla="*/ 0 h 22"/>
                                <a:gd name="T2" fmla="*/ 10 w 37"/>
                                <a:gd name="T3" fmla="*/ 5 h 22"/>
                                <a:gd name="T4" fmla="*/ 18 w 37"/>
                                <a:gd name="T5" fmla="*/ 9 h 22"/>
                                <a:gd name="T6" fmla="*/ 21 w 37"/>
                                <a:gd name="T7" fmla="*/ 15 h 22"/>
                                <a:gd name="T8" fmla="*/ 27 w 37"/>
                                <a:gd name="T9" fmla="*/ 21 h 22"/>
                                <a:gd name="T10" fmla="*/ 37 w 37"/>
                                <a:gd name="T11" fmla="*/ 22 h 2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</a:cxnLst>
                              <a:rect l="0" t="0" r="r" b="b"/>
                              <a:pathLst>
                                <a:path w="37" h="22">
                                  <a:moveTo>
                                    <a:pt x="0" y="0"/>
                                  </a:moveTo>
                                  <a:lnTo>
                                    <a:pt x="10" y="5"/>
                                  </a:lnTo>
                                  <a:lnTo>
                                    <a:pt x="18" y="9"/>
                                  </a:lnTo>
                                  <a:lnTo>
                                    <a:pt x="21" y="15"/>
                                  </a:lnTo>
                                  <a:lnTo>
                                    <a:pt x="27" y="21"/>
                                  </a:lnTo>
                                  <a:lnTo>
                                    <a:pt x="37" y="22"/>
                                  </a:lnTo>
                                </a:path>
                              </a:pathLst>
                            </a:custGeom>
                            <a:noFill/>
                            <a:ln w="6350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1800"/>
                            </a:p>
                          </p:txBody>
                        </p:sp>
                      </p:grpSp>
                      <p:sp>
                        <p:nvSpPr>
                          <p:cNvPr id="230" name="Freeform 26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151" y="1707"/>
                            <a:ext cx="22" cy="9"/>
                          </a:xfrm>
                          <a:custGeom>
                            <a:avLst/>
                            <a:gdLst>
                              <a:gd name="T0" fmla="*/ 0 w 43"/>
                              <a:gd name="T1" fmla="*/ 17 h 18"/>
                              <a:gd name="T2" fmla="*/ 8 w 43"/>
                              <a:gd name="T3" fmla="*/ 12 h 18"/>
                              <a:gd name="T4" fmla="*/ 15 w 43"/>
                              <a:gd name="T5" fmla="*/ 12 h 18"/>
                              <a:gd name="T6" fmla="*/ 23 w 43"/>
                              <a:gd name="T7" fmla="*/ 16 h 18"/>
                              <a:gd name="T8" fmla="*/ 32 w 43"/>
                              <a:gd name="T9" fmla="*/ 18 h 18"/>
                              <a:gd name="T10" fmla="*/ 38 w 43"/>
                              <a:gd name="T11" fmla="*/ 17 h 18"/>
                              <a:gd name="T12" fmla="*/ 42 w 43"/>
                              <a:gd name="T13" fmla="*/ 12 h 18"/>
                              <a:gd name="T14" fmla="*/ 43 w 43"/>
                              <a:gd name="T15" fmla="*/ 6 h 18"/>
                              <a:gd name="T16" fmla="*/ 40 w 43"/>
                              <a:gd name="T17" fmla="*/ 2 h 18"/>
                              <a:gd name="T18" fmla="*/ 36 w 43"/>
                              <a:gd name="T19" fmla="*/ 0 h 1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</a:cxnLst>
                            <a:rect l="0" t="0" r="r" b="b"/>
                            <a:pathLst>
                              <a:path w="43" h="18">
                                <a:moveTo>
                                  <a:pt x="0" y="17"/>
                                </a:moveTo>
                                <a:lnTo>
                                  <a:pt x="8" y="12"/>
                                </a:lnTo>
                                <a:lnTo>
                                  <a:pt x="15" y="12"/>
                                </a:lnTo>
                                <a:lnTo>
                                  <a:pt x="23" y="16"/>
                                </a:lnTo>
                                <a:lnTo>
                                  <a:pt x="32" y="18"/>
                                </a:lnTo>
                                <a:lnTo>
                                  <a:pt x="38" y="17"/>
                                </a:lnTo>
                                <a:lnTo>
                                  <a:pt x="42" y="12"/>
                                </a:lnTo>
                                <a:lnTo>
                                  <a:pt x="43" y="6"/>
                                </a:lnTo>
                                <a:lnTo>
                                  <a:pt x="40" y="2"/>
                                </a:lnTo>
                                <a:lnTo>
                                  <a:pt x="36" y="0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grpSp>
                      <p:nvGrpSpPr>
                        <p:cNvPr id="226" name="Group 26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193" y="1707"/>
                          <a:ext cx="31" cy="24"/>
                          <a:chOff x="2193" y="1707"/>
                          <a:chExt cx="31" cy="24"/>
                        </a:xfrm>
                      </p:grpSpPr>
                      <p:sp>
                        <p:nvSpPr>
                          <p:cNvPr id="227" name="Line 26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202" y="1716"/>
                            <a:ext cx="9" cy="7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28" name="Freeform 27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193" y="1707"/>
                            <a:ext cx="31" cy="24"/>
                          </a:xfrm>
                          <a:custGeom>
                            <a:avLst/>
                            <a:gdLst>
                              <a:gd name="T0" fmla="*/ 26 w 62"/>
                              <a:gd name="T1" fmla="*/ 5 h 50"/>
                              <a:gd name="T2" fmla="*/ 33 w 62"/>
                              <a:gd name="T3" fmla="*/ 1 h 50"/>
                              <a:gd name="T4" fmla="*/ 41 w 62"/>
                              <a:gd name="T5" fmla="*/ 0 h 50"/>
                              <a:gd name="T6" fmla="*/ 50 w 62"/>
                              <a:gd name="T7" fmla="*/ 2 h 50"/>
                              <a:gd name="T8" fmla="*/ 56 w 62"/>
                              <a:gd name="T9" fmla="*/ 7 h 50"/>
                              <a:gd name="T10" fmla="*/ 60 w 62"/>
                              <a:gd name="T11" fmla="*/ 13 h 50"/>
                              <a:gd name="T12" fmla="*/ 62 w 62"/>
                              <a:gd name="T13" fmla="*/ 22 h 50"/>
                              <a:gd name="T14" fmla="*/ 61 w 62"/>
                              <a:gd name="T15" fmla="*/ 29 h 50"/>
                              <a:gd name="T16" fmla="*/ 51 w 62"/>
                              <a:gd name="T17" fmla="*/ 36 h 50"/>
                              <a:gd name="T18" fmla="*/ 44 w 62"/>
                              <a:gd name="T19" fmla="*/ 41 h 50"/>
                              <a:gd name="T20" fmla="*/ 33 w 62"/>
                              <a:gd name="T21" fmla="*/ 45 h 50"/>
                              <a:gd name="T22" fmla="*/ 20 w 62"/>
                              <a:gd name="T23" fmla="*/ 47 h 50"/>
                              <a:gd name="T24" fmla="*/ 9 w 62"/>
                              <a:gd name="T25" fmla="*/ 50 h 50"/>
                              <a:gd name="T26" fmla="*/ 0 w 62"/>
                              <a:gd name="T27" fmla="*/ 46 h 50"/>
                              <a:gd name="T28" fmla="*/ 0 w 62"/>
                              <a:gd name="T29" fmla="*/ 39 h 5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</a:cxnLst>
                            <a:rect l="0" t="0" r="r" b="b"/>
                            <a:pathLst>
                              <a:path w="62" h="50">
                                <a:moveTo>
                                  <a:pt x="26" y="5"/>
                                </a:moveTo>
                                <a:lnTo>
                                  <a:pt x="33" y="1"/>
                                </a:lnTo>
                                <a:lnTo>
                                  <a:pt x="41" y="0"/>
                                </a:lnTo>
                                <a:lnTo>
                                  <a:pt x="50" y="2"/>
                                </a:lnTo>
                                <a:lnTo>
                                  <a:pt x="56" y="7"/>
                                </a:lnTo>
                                <a:lnTo>
                                  <a:pt x="60" y="13"/>
                                </a:lnTo>
                                <a:lnTo>
                                  <a:pt x="62" y="22"/>
                                </a:lnTo>
                                <a:lnTo>
                                  <a:pt x="61" y="29"/>
                                </a:lnTo>
                                <a:lnTo>
                                  <a:pt x="51" y="36"/>
                                </a:lnTo>
                                <a:lnTo>
                                  <a:pt x="44" y="41"/>
                                </a:lnTo>
                                <a:lnTo>
                                  <a:pt x="33" y="45"/>
                                </a:lnTo>
                                <a:lnTo>
                                  <a:pt x="20" y="47"/>
                                </a:lnTo>
                                <a:lnTo>
                                  <a:pt x="9" y="50"/>
                                </a:lnTo>
                                <a:lnTo>
                                  <a:pt x="0" y="46"/>
                                </a:lnTo>
                                <a:lnTo>
                                  <a:pt x="0" y="39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97" name="Group 271"/>
                  <p:cNvGrpSpPr>
                    <a:grpSpLocks/>
                  </p:cNvGrpSpPr>
                  <p:nvPr/>
                </p:nvGrpSpPr>
                <p:grpSpPr bwMode="auto">
                  <a:xfrm>
                    <a:off x="1951" y="1745"/>
                    <a:ext cx="242" cy="208"/>
                    <a:chOff x="1951" y="1745"/>
                    <a:chExt cx="242" cy="208"/>
                  </a:xfrm>
                </p:grpSpPr>
                <p:grpSp>
                  <p:nvGrpSpPr>
                    <p:cNvPr id="198" name="Group 27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51" y="1809"/>
                      <a:ext cx="179" cy="144"/>
                      <a:chOff x="1951" y="1809"/>
                      <a:chExt cx="179" cy="144"/>
                    </a:xfrm>
                  </p:grpSpPr>
                  <p:grpSp>
                    <p:nvGrpSpPr>
                      <p:cNvPr id="205" name="Group 27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51" y="1850"/>
                        <a:ext cx="65" cy="103"/>
                        <a:chOff x="1951" y="1850"/>
                        <a:chExt cx="65" cy="103"/>
                      </a:xfrm>
                    </p:grpSpPr>
                    <p:grpSp>
                      <p:nvGrpSpPr>
                        <p:cNvPr id="209" name="Group 27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51" y="1850"/>
                          <a:ext cx="65" cy="103"/>
                          <a:chOff x="1951" y="1850"/>
                          <a:chExt cx="65" cy="103"/>
                        </a:xfrm>
                      </p:grpSpPr>
                      <p:sp>
                        <p:nvSpPr>
                          <p:cNvPr id="219" name="Freeform 27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951" y="1850"/>
                            <a:ext cx="65" cy="103"/>
                          </a:xfrm>
                          <a:custGeom>
                            <a:avLst/>
                            <a:gdLst>
                              <a:gd name="T0" fmla="*/ 130 w 130"/>
                              <a:gd name="T1" fmla="*/ 116 h 206"/>
                              <a:gd name="T2" fmla="*/ 112 w 130"/>
                              <a:gd name="T3" fmla="*/ 55 h 206"/>
                              <a:gd name="T4" fmla="*/ 99 w 130"/>
                              <a:gd name="T5" fmla="*/ 36 h 206"/>
                              <a:gd name="T6" fmla="*/ 61 w 130"/>
                              <a:gd name="T7" fmla="*/ 0 h 206"/>
                              <a:gd name="T8" fmla="*/ 36 w 130"/>
                              <a:gd name="T9" fmla="*/ 5 h 206"/>
                              <a:gd name="T10" fmla="*/ 54 w 130"/>
                              <a:gd name="T11" fmla="*/ 87 h 206"/>
                              <a:gd name="T12" fmla="*/ 26 w 130"/>
                              <a:gd name="T13" fmla="*/ 52 h 206"/>
                              <a:gd name="T14" fmla="*/ 0 w 130"/>
                              <a:gd name="T15" fmla="*/ 67 h 206"/>
                              <a:gd name="T16" fmla="*/ 9 w 130"/>
                              <a:gd name="T17" fmla="*/ 122 h 206"/>
                              <a:gd name="T18" fmla="*/ 44 w 130"/>
                              <a:gd name="T19" fmla="*/ 198 h 206"/>
                              <a:gd name="T20" fmla="*/ 69 w 130"/>
                              <a:gd name="T21" fmla="*/ 206 h 206"/>
                              <a:gd name="T22" fmla="*/ 105 w 130"/>
                              <a:gd name="T23" fmla="*/ 144 h 206"/>
                              <a:gd name="T24" fmla="*/ 130 w 130"/>
                              <a:gd name="T25" fmla="*/ 116 h 20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</a:cxnLst>
                            <a:rect l="0" t="0" r="r" b="b"/>
                            <a:pathLst>
                              <a:path w="130" h="206">
                                <a:moveTo>
                                  <a:pt x="130" y="116"/>
                                </a:moveTo>
                                <a:lnTo>
                                  <a:pt x="112" y="55"/>
                                </a:lnTo>
                                <a:lnTo>
                                  <a:pt x="99" y="36"/>
                                </a:lnTo>
                                <a:lnTo>
                                  <a:pt x="61" y="0"/>
                                </a:lnTo>
                                <a:lnTo>
                                  <a:pt x="36" y="5"/>
                                </a:lnTo>
                                <a:lnTo>
                                  <a:pt x="54" y="87"/>
                                </a:lnTo>
                                <a:lnTo>
                                  <a:pt x="26" y="52"/>
                                </a:lnTo>
                                <a:lnTo>
                                  <a:pt x="0" y="67"/>
                                </a:lnTo>
                                <a:lnTo>
                                  <a:pt x="9" y="122"/>
                                </a:lnTo>
                                <a:lnTo>
                                  <a:pt x="44" y="198"/>
                                </a:lnTo>
                                <a:lnTo>
                                  <a:pt x="69" y="206"/>
                                </a:lnTo>
                                <a:lnTo>
                                  <a:pt x="105" y="144"/>
                                </a:lnTo>
                                <a:lnTo>
                                  <a:pt x="130" y="11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/>
                          </a:solidFill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20" name="Freeform 27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978" y="1893"/>
                            <a:ext cx="26" cy="29"/>
                          </a:xfrm>
                          <a:custGeom>
                            <a:avLst/>
                            <a:gdLst>
                              <a:gd name="T0" fmla="*/ 0 w 52"/>
                              <a:gd name="T1" fmla="*/ 0 h 57"/>
                              <a:gd name="T2" fmla="*/ 22 w 52"/>
                              <a:gd name="T3" fmla="*/ 57 h 57"/>
                              <a:gd name="T4" fmla="*/ 52 w 52"/>
                              <a:gd name="T5" fmla="*/ 57 h 5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52" h="57">
                                <a:moveTo>
                                  <a:pt x="0" y="0"/>
                                </a:moveTo>
                                <a:lnTo>
                                  <a:pt x="22" y="57"/>
                                </a:lnTo>
                                <a:lnTo>
                                  <a:pt x="52" y="57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  <p:grpSp>
                      <p:nvGrpSpPr>
                        <p:cNvPr id="210" name="Group 27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57" y="1854"/>
                          <a:ext cx="53" cy="91"/>
                          <a:chOff x="1957" y="1854"/>
                          <a:chExt cx="53" cy="91"/>
                        </a:xfrm>
                      </p:grpSpPr>
                      <p:sp>
                        <p:nvSpPr>
                          <p:cNvPr id="211" name="Line 27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1988" y="1860"/>
                            <a:ext cx="3" cy="9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FF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12" name="Line 27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1999" y="1871"/>
                            <a:ext cx="3" cy="14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FF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13" name="Line 28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004" y="1893"/>
                            <a:ext cx="6" cy="16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FF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14" name="Freeform 28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977" y="1854"/>
                            <a:ext cx="19" cy="65"/>
                          </a:xfrm>
                          <a:custGeom>
                            <a:avLst/>
                            <a:gdLst>
                              <a:gd name="T0" fmla="*/ 0 w 39"/>
                              <a:gd name="T1" fmla="*/ 0 h 129"/>
                              <a:gd name="T2" fmla="*/ 17 w 39"/>
                              <a:gd name="T3" fmla="*/ 75 h 129"/>
                              <a:gd name="T4" fmla="*/ 39 w 39"/>
                              <a:gd name="T5" fmla="*/ 129 h 12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39" h="129">
                                <a:moveTo>
                                  <a:pt x="0" y="0"/>
                                </a:moveTo>
                                <a:lnTo>
                                  <a:pt x="17" y="75"/>
                                </a:lnTo>
                                <a:lnTo>
                                  <a:pt x="39" y="129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FF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15" name="Line 28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1969" y="1887"/>
                            <a:ext cx="3" cy="9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FF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16" name="Line 28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1976" y="1896"/>
                            <a:ext cx="2" cy="16"/>
                          </a:xfrm>
                          <a:prstGeom prst="line">
                            <a:avLst/>
                          </a:prstGeom>
                          <a:noFill/>
                          <a:ln w="6350">
                            <a:solidFill>
                              <a:srgbClr val="0000FF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17" name="Freeform 28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983" y="1922"/>
                            <a:ext cx="11" cy="7"/>
                          </a:xfrm>
                          <a:custGeom>
                            <a:avLst/>
                            <a:gdLst>
                              <a:gd name="T0" fmla="*/ 0 w 23"/>
                              <a:gd name="T1" fmla="*/ 0 h 14"/>
                              <a:gd name="T2" fmla="*/ 12 w 23"/>
                              <a:gd name="T3" fmla="*/ 14 h 14"/>
                              <a:gd name="T4" fmla="*/ 23 w 23"/>
                              <a:gd name="T5" fmla="*/ 14 h 1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</a:cxnLst>
                            <a:rect l="0" t="0" r="r" b="b"/>
                            <a:pathLst>
                              <a:path w="23" h="14">
                                <a:moveTo>
                                  <a:pt x="0" y="0"/>
                                </a:moveTo>
                                <a:lnTo>
                                  <a:pt x="12" y="14"/>
                                </a:lnTo>
                                <a:lnTo>
                                  <a:pt x="23" y="14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FF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  <p:sp>
                        <p:nvSpPr>
                          <p:cNvPr id="218" name="Freeform 28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957" y="1882"/>
                            <a:ext cx="30" cy="63"/>
                          </a:xfrm>
                          <a:custGeom>
                            <a:avLst/>
                            <a:gdLst>
                              <a:gd name="T0" fmla="*/ 0 w 59"/>
                              <a:gd name="T1" fmla="*/ 0 h 125"/>
                              <a:gd name="T2" fmla="*/ 9 w 59"/>
                              <a:gd name="T3" fmla="*/ 53 h 125"/>
                              <a:gd name="T4" fmla="*/ 42 w 59"/>
                              <a:gd name="T5" fmla="*/ 119 h 125"/>
                              <a:gd name="T6" fmla="*/ 59 w 59"/>
                              <a:gd name="T7" fmla="*/ 125 h 12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</a:cxnLst>
                            <a:rect l="0" t="0" r="r" b="b"/>
                            <a:pathLst>
                              <a:path w="59" h="125">
                                <a:moveTo>
                                  <a:pt x="0" y="0"/>
                                </a:moveTo>
                                <a:lnTo>
                                  <a:pt x="9" y="53"/>
                                </a:lnTo>
                                <a:lnTo>
                                  <a:pt x="42" y="119"/>
                                </a:lnTo>
                                <a:lnTo>
                                  <a:pt x="59" y="125"/>
                                </a:lnTo>
                              </a:path>
                            </a:pathLst>
                          </a:custGeom>
                          <a:noFill/>
                          <a:ln w="6350">
                            <a:solidFill>
                              <a:srgbClr val="0000FF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1800"/>
                          </a:p>
                        </p:txBody>
                      </p:sp>
                    </p:grpSp>
                  </p:grpSp>
                  <p:grpSp>
                    <p:nvGrpSpPr>
                      <p:cNvPr id="206" name="Group 28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87" y="1809"/>
                        <a:ext cx="143" cy="144"/>
                        <a:chOff x="1987" y="1809"/>
                        <a:chExt cx="143" cy="144"/>
                      </a:xfrm>
                    </p:grpSpPr>
                    <p:sp>
                      <p:nvSpPr>
                        <p:cNvPr id="207" name="Freeform 28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87" y="1809"/>
                          <a:ext cx="143" cy="144"/>
                        </a:xfrm>
                        <a:custGeom>
                          <a:avLst/>
                          <a:gdLst>
                            <a:gd name="T0" fmla="*/ 29 w 286"/>
                            <a:gd name="T1" fmla="*/ 183 h 288"/>
                            <a:gd name="T2" fmla="*/ 21 w 286"/>
                            <a:gd name="T3" fmla="*/ 209 h 288"/>
                            <a:gd name="T4" fmla="*/ 0 w 286"/>
                            <a:gd name="T5" fmla="*/ 288 h 288"/>
                            <a:gd name="T6" fmla="*/ 114 w 286"/>
                            <a:gd name="T7" fmla="*/ 155 h 288"/>
                            <a:gd name="T8" fmla="*/ 129 w 286"/>
                            <a:gd name="T9" fmla="*/ 139 h 288"/>
                            <a:gd name="T10" fmla="*/ 194 w 286"/>
                            <a:gd name="T11" fmla="*/ 103 h 288"/>
                            <a:gd name="T12" fmla="*/ 210 w 286"/>
                            <a:gd name="T13" fmla="*/ 85 h 288"/>
                            <a:gd name="T14" fmla="*/ 230 w 286"/>
                            <a:gd name="T15" fmla="*/ 92 h 288"/>
                            <a:gd name="T16" fmla="*/ 246 w 286"/>
                            <a:gd name="T17" fmla="*/ 97 h 288"/>
                            <a:gd name="T18" fmla="*/ 259 w 286"/>
                            <a:gd name="T19" fmla="*/ 94 h 288"/>
                            <a:gd name="T20" fmla="*/ 274 w 286"/>
                            <a:gd name="T21" fmla="*/ 86 h 288"/>
                            <a:gd name="T22" fmla="*/ 286 w 286"/>
                            <a:gd name="T23" fmla="*/ 70 h 288"/>
                            <a:gd name="T24" fmla="*/ 228 w 286"/>
                            <a:gd name="T25" fmla="*/ 0 h 288"/>
                            <a:gd name="T26" fmla="*/ 210 w 286"/>
                            <a:gd name="T27" fmla="*/ 1 h 288"/>
                            <a:gd name="T28" fmla="*/ 190 w 286"/>
                            <a:gd name="T29" fmla="*/ 8 h 288"/>
                            <a:gd name="T30" fmla="*/ 175 w 286"/>
                            <a:gd name="T31" fmla="*/ 7 h 288"/>
                            <a:gd name="T32" fmla="*/ 158 w 286"/>
                            <a:gd name="T33" fmla="*/ 10 h 288"/>
                            <a:gd name="T34" fmla="*/ 147 w 286"/>
                            <a:gd name="T35" fmla="*/ 12 h 288"/>
                            <a:gd name="T36" fmla="*/ 135 w 286"/>
                            <a:gd name="T37" fmla="*/ 6 h 288"/>
                            <a:gd name="T38" fmla="*/ 124 w 286"/>
                            <a:gd name="T39" fmla="*/ 5 h 288"/>
                            <a:gd name="T40" fmla="*/ 110 w 286"/>
                            <a:gd name="T41" fmla="*/ 8 h 288"/>
                            <a:gd name="T42" fmla="*/ 103 w 286"/>
                            <a:gd name="T43" fmla="*/ 17 h 288"/>
                            <a:gd name="T44" fmla="*/ 99 w 286"/>
                            <a:gd name="T45" fmla="*/ 26 h 288"/>
                            <a:gd name="T46" fmla="*/ 101 w 286"/>
                            <a:gd name="T47" fmla="*/ 41 h 288"/>
                            <a:gd name="T48" fmla="*/ 78 w 286"/>
                            <a:gd name="T49" fmla="*/ 57 h 288"/>
                            <a:gd name="T50" fmla="*/ 55 w 286"/>
                            <a:gd name="T51" fmla="*/ 73 h 288"/>
                            <a:gd name="T52" fmla="*/ 23 w 286"/>
                            <a:gd name="T53" fmla="*/ 106 h 288"/>
                            <a:gd name="T54" fmla="*/ 29 w 286"/>
                            <a:gd name="T55" fmla="*/ 183 h 28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</a:cxnLst>
                          <a:rect l="0" t="0" r="r" b="b"/>
                          <a:pathLst>
                            <a:path w="286" h="288">
                              <a:moveTo>
                                <a:pt x="29" y="183"/>
                              </a:moveTo>
                              <a:lnTo>
                                <a:pt x="21" y="209"/>
                              </a:lnTo>
                              <a:lnTo>
                                <a:pt x="0" y="288"/>
                              </a:lnTo>
                              <a:lnTo>
                                <a:pt x="114" y="155"/>
                              </a:lnTo>
                              <a:lnTo>
                                <a:pt x="129" y="139"/>
                              </a:lnTo>
                              <a:lnTo>
                                <a:pt x="194" y="103"/>
                              </a:lnTo>
                              <a:lnTo>
                                <a:pt x="210" y="85"/>
                              </a:lnTo>
                              <a:lnTo>
                                <a:pt x="230" y="92"/>
                              </a:lnTo>
                              <a:lnTo>
                                <a:pt x="246" y="97"/>
                              </a:lnTo>
                              <a:lnTo>
                                <a:pt x="259" y="94"/>
                              </a:lnTo>
                              <a:lnTo>
                                <a:pt x="274" y="86"/>
                              </a:lnTo>
                              <a:lnTo>
                                <a:pt x="286" y="70"/>
                              </a:lnTo>
                              <a:lnTo>
                                <a:pt x="228" y="0"/>
                              </a:lnTo>
                              <a:lnTo>
                                <a:pt x="210" y="1"/>
                              </a:lnTo>
                              <a:lnTo>
                                <a:pt x="190" y="8"/>
                              </a:lnTo>
                              <a:lnTo>
                                <a:pt x="175" y="7"/>
                              </a:lnTo>
                              <a:lnTo>
                                <a:pt x="158" y="10"/>
                              </a:lnTo>
                              <a:lnTo>
                                <a:pt x="147" y="12"/>
                              </a:lnTo>
                              <a:lnTo>
                                <a:pt x="135" y="6"/>
                              </a:lnTo>
                              <a:lnTo>
                                <a:pt x="124" y="5"/>
                              </a:lnTo>
                              <a:lnTo>
                                <a:pt x="110" y="8"/>
                              </a:lnTo>
                              <a:lnTo>
                                <a:pt x="103" y="17"/>
                              </a:lnTo>
                              <a:lnTo>
                                <a:pt x="99" y="26"/>
                              </a:lnTo>
                              <a:lnTo>
                                <a:pt x="101" y="41"/>
                              </a:lnTo>
                              <a:lnTo>
                                <a:pt x="78" y="57"/>
                              </a:lnTo>
                              <a:lnTo>
                                <a:pt x="55" y="73"/>
                              </a:lnTo>
                              <a:lnTo>
                                <a:pt x="23" y="106"/>
                              </a:lnTo>
                              <a:lnTo>
                                <a:pt x="29" y="18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7F3F"/>
                        </a:solidFill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08" name="Freeform 28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02" y="1845"/>
                          <a:ext cx="89" cy="58"/>
                        </a:xfrm>
                        <a:custGeom>
                          <a:avLst/>
                          <a:gdLst>
                            <a:gd name="T0" fmla="*/ 0 w 180"/>
                            <a:gd name="T1" fmla="*/ 118 h 118"/>
                            <a:gd name="T2" fmla="*/ 61 w 180"/>
                            <a:gd name="T3" fmla="*/ 66 h 118"/>
                            <a:gd name="T4" fmla="*/ 115 w 180"/>
                            <a:gd name="T5" fmla="*/ 0 h 118"/>
                            <a:gd name="T6" fmla="*/ 180 w 180"/>
                            <a:gd name="T7" fmla="*/ 14 h 11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0" t="0" r="r" b="b"/>
                          <a:pathLst>
                            <a:path w="180" h="118">
                              <a:moveTo>
                                <a:pt x="0" y="118"/>
                              </a:moveTo>
                              <a:lnTo>
                                <a:pt x="61" y="66"/>
                              </a:lnTo>
                              <a:lnTo>
                                <a:pt x="115" y="0"/>
                              </a:lnTo>
                              <a:lnTo>
                                <a:pt x="180" y="14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</p:grpSp>
                <p:grpSp>
                  <p:nvGrpSpPr>
                    <p:cNvPr id="199" name="Group 2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79" y="1745"/>
                      <a:ext cx="114" cy="106"/>
                      <a:chOff x="2079" y="1745"/>
                      <a:chExt cx="114" cy="106"/>
                    </a:xfrm>
                  </p:grpSpPr>
                  <p:sp>
                    <p:nvSpPr>
                      <p:cNvPr id="200" name="Freeform 29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79" y="1745"/>
                        <a:ext cx="114" cy="106"/>
                      </a:xfrm>
                      <a:custGeom>
                        <a:avLst/>
                        <a:gdLst>
                          <a:gd name="T0" fmla="*/ 126 w 228"/>
                          <a:gd name="T1" fmla="*/ 0 h 212"/>
                          <a:gd name="T2" fmla="*/ 137 w 228"/>
                          <a:gd name="T3" fmla="*/ 29 h 212"/>
                          <a:gd name="T4" fmla="*/ 172 w 228"/>
                          <a:gd name="T5" fmla="*/ 13 h 212"/>
                          <a:gd name="T6" fmla="*/ 228 w 228"/>
                          <a:gd name="T7" fmla="*/ 36 h 212"/>
                          <a:gd name="T8" fmla="*/ 228 w 228"/>
                          <a:gd name="T9" fmla="*/ 76 h 212"/>
                          <a:gd name="T10" fmla="*/ 199 w 228"/>
                          <a:gd name="T11" fmla="*/ 76 h 212"/>
                          <a:gd name="T12" fmla="*/ 200 w 228"/>
                          <a:gd name="T13" fmla="*/ 101 h 212"/>
                          <a:gd name="T14" fmla="*/ 204 w 228"/>
                          <a:gd name="T15" fmla="*/ 121 h 212"/>
                          <a:gd name="T16" fmla="*/ 203 w 228"/>
                          <a:gd name="T17" fmla="*/ 139 h 212"/>
                          <a:gd name="T18" fmla="*/ 199 w 228"/>
                          <a:gd name="T19" fmla="*/ 153 h 212"/>
                          <a:gd name="T20" fmla="*/ 193 w 228"/>
                          <a:gd name="T21" fmla="*/ 168 h 212"/>
                          <a:gd name="T22" fmla="*/ 182 w 228"/>
                          <a:gd name="T23" fmla="*/ 178 h 212"/>
                          <a:gd name="T24" fmla="*/ 146 w 228"/>
                          <a:gd name="T25" fmla="*/ 200 h 212"/>
                          <a:gd name="T26" fmla="*/ 102 w 228"/>
                          <a:gd name="T27" fmla="*/ 196 h 212"/>
                          <a:gd name="T28" fmla="*/ 98 w 228"/>
                          <a:gd name="T29" fmla="*/ 212 h 212"/>
                          <a:gd name="T30" fmla="*/ 80 w 228"/>
                          <a:gd name="T31" fmla="*/ 201 h 212"/>
                          <a:gd name="T32" fmla="*/ 69 w 228"/>
                          <a:gd name="T33" fmla="*/ 184 h 212"/>
                          <a:gd name="T34" fmla="*/ 56 w 228"/>
                          <a:gd name="T35" fmla="*/ 160 h 212"/>
                          <a:gd name="T36" fmla="*/ 44 w 228"/>
                          <a:gd name="T37" fmla="*/ 139 h 212"/>
                          <a:gd name="T38" fmla="*/ 35 w 228"/>
                          <a:gd name="T39" fmla="*/ 134 h 212"/>
                          <a:gd name="T40" fmla="*/ 43 w 228"/>
                          <a:gd name="T41" fmla="*/ 122 h 212"/>
                          <a:gd name="T42" fmla="*/ 55 w 228"/>
                          <a:gd name="T43" fmla="*/ 115 h 212"/>
                          <a:gd name="T44" fmla="*/ 69 w 228"/>
                          <a:gd name="T45" fmla="*/ 106 h 212"/>
                          <a:gd name="T46" fmla="*/ 29 w 228"/>
                          <a:gd name="T47" fmla="*/ 86 h 212"/>
                          <a:gd name="T48" fmla="*/ 0 w 228"/>
                          <a:gd name="T49" fmla="*/ 61 h 212"/>
                          <a:gd name="T50" fmla="*/ 106 w 228"/>
                          <a:gd name="T51" fmla="*/ 41 h 212"/>
                          <a:gd name="T52" fmla="*/ 69 w 228"/>
                          <a:gd name="T53" fmla="*/ 27 h 212"/>
                          <a:gd name="T54" fmla="*/ 126 w 228"/>
                          <a:gd name="T55" fmla="*/ 0 h 21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</a:cxnLst>
                        <a:rect l="0" t="0" r="r" b="b"/>
                        <a:pathLst>
                          <a:path w="228" h="212">
                            <a:moveTo>
                              <a:pt x="126" y="0"/>
                            </a:moveTo>
                            <a:lnTo>
                              <a:pt x="137" y="29"/>
                            </a:lnTo>
                            <a:lnTo>
                              <a:pt x="172" y="13"/>
                            </a:lnTo>
                            <a:lnTo>
                              <a:pt x="228" y="36"/>
                            </a:lnTo>
                            <a:lnTo>
                              <a:pt x="228" y="76"/>
                            </a:lnTo>
                            <a:lnTo>
                              <a:pt x="199" y="76"/>
                            </a:lnTo>
                            <a:lnTo>
                              <a:pt x="200" y="101"/>
                            </a:lnTo>
                            <a:lnTo>
                              <a:pt x="204" y="121"/>
                            </a:lnTo>
                            <a:lnTo>
                              <a:pt x="203" y="139"/>
                            </a:lnTo>
                            <a:lnTo>
                              <a:pt x="199" y="153"/>
                            </a:lnTo>
                            <a:lnTo>
                              <a:pt x="193" y="168"/>
                            </a:lnTo>
                            <a:lnTo>
                              <a:pt x="182" y="178"/>
                            </a:lnTo>
                            <a:lnTo>
                              <a:pt x="146" y="200"/>
                            </a:lnTo>
                            <a:lnTo>
                              <a:pt x="102" y="196"/>
                            </a:lnTo>
                            <a:lnTo>
                              <a:pt x="98" y="212"/>
                            </a:lnTo>
                            <a:lnTo>
                              <a:pt x="80" y="201"/>
                            </a:lnTo>
                            <a:lnTo>
                              <a:pt x="69" y="184"/>
                            </a:lnTo>
                            <a:lnTo>
                              <a:pt x="56" y="160"/>
                            </a:lnTo>
                            <a:lnTo>
                              <a:pt x="44" y="139"/>
                            </a:lnTo>
                            <a:lnTo>
                              <a:pt x="35" y="134"/>
                            </a:lnTo>
                            <a:lnTo>
                              <a:pt x="43" y="122"/>
                            </a:lnTo>
                            <a:lnTo>
                              <a:pt x="55" y="115"/>
                            </a:lnTo>
                            <a:lnTo>
                              <a:pt x="69" y="106"/>
                            </a:lnTo>
                            <a:lnTo>
                              <a:pt x="29" y="86"/>
                            </a:lnTo>
                            <a:lnTo>
                              <a:pt x="0" y="61"/>
                            </a:lnTo>
                            <a:lnTo>
                              <a:pt x="106" y="41"/>
                            </a:lnTo>
                            <a:lnTo>
                              <a:pt x="69" y="27"/>
                            </a:lnTo>
                            <a:lnTo>
                              <a:pt x="126" y="0"/>
                            </a:lnTo>
                            <a:close/>
                          </a:path>
                        </a:pathLst>
                      </a:custGeom>
                      <a:solidFill>
                        <a:srgbClr val="7F00D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grpSp>
                    <p:nvGrpSpPr>
                      <p:cNvPr id="201" name="Group 29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28" y="1759"/>
                        <a:ext cx="25" cy="83"/>
                        <a:chOff x="2128" y="1759"/>
                        <a:chExt cx="25" cy="83"/>
                      </a:xfrm>
                    </p:grpSpPr>
                    <p:sp>
                      <p:nvSpPr>
                        <p:cNvPr id="202" name="Freeform 29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43" y="1782"/>
                          <a:ext cx="10" cy="34"/>
                        </a:xfrm>
                        <a:custGeom>
                          <a:avLst/>
                          <a:gdLst>
                            <a:gd name="T0" fmla="*/ 0 w 20"/>
                            <a:gd name="T1" fmla="*/ 56 h 69"/>
                            <a:gd name="T2" fmla="*/ 6 w 20"/>
                            <a:gd name="T3" fmla="*/ 69 h 69"/>
                            <a:gd name="T4" fmla="*/ 20 w 20"/>
                            <a:gd name="T5" fmla="*/ 0 h 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</a:cxnLst>
                          <a:rect l="0" t="0" r="r" b="b"/>
                          <a:pathLst>
                            <a:path w="20" h="69">
                              <a:moveTo>
                                <a:pt x="0" y="56"/>
                              </a:moveTo>
                              <a:lnTo>
                                <a:pt x="6" y="69"/>
                              </a:lnTo>
                              <a:lnTo>
                                <a:pt x="20" y="0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03" name="Line 29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28" y="1816"/>
                          <a:ext cx="2" cy="26"/>
                        </a:xfrm>
                        <a:prstGeom prst="line">
                          <a:avLst/>
                        </a:prstGeom>
                        <a:noFill/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  <p:sp>
                      <p:nvSpPr>
                        <p:cNvPr id="204" name="Line 29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32" y="1759"/>
                          <a:ext cx="11" cy="8"/>
                        </a:xfrm>
                        <a:prstGeom prst="line">
                          <a:avLst/>
                        </a:prstGeom>
                        <a:noFill/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800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83" name="Group 295"/>
                <p:cNvGrpSpPr>
                  <a:grpSpLocks/>
                </p:cNvGrpSpPr>
                <p:nvPr/>
              </p:nvGrpSpPr>
              <p:grpSpPr bwMode="auto">
                <a:xfrm>
                  <a:off x="1967" y="1679"/>
                  <a:ext cx="213" cy="136"/>
                  <a:chOff x="1967" y="1679"/>
                  <a:chExt cx="213" cy="136"/>
                </a:xfrm>
              </p:grpSpPr>
              <p:grpSp>
                <p:nvGrpSpPr>
                  <p:cNvPr id="184" name="Group 296"/>
                  <p:cNvGrpSpPr>
                    <a:grpSpLocks/>
                  </p:cNvGrpSpPr>
                  <p:nvPr/>
                </p:nvGrpSpPr>
                <p:grpSpPr bwMode="auto">
                  <a:xfrm>
                    <a:off x="1967" y="1679"/>
                    <a:ext cx="213" cy="123"/>
                    <a:chOff x="1967" y="1679"/>
                    <a:chExt cx="213" cy="123"/>
                  </a:xfrm>
                </p:grpSpPr>
                <p:sp>
                  <p:nvSpPr>
                    <p:cNvPr id="194" name="Freeform 297"/>
                    <p:cNvSpPr>
                      <a:spLocks/>
                    </p:cNvSpPr>
                    <p:nvPr/>
                  </p:nvSpPr>
                  <p:spPr bwMode="auto">
                    <a:xfrm>
                      <a:off x="2024" y="1773"/>
                      <a:ext cx="156" cy="29"/>
                    </a:xfrm>
                    <a:custGeom>
                      <a:avLst/>
                      <a:gdLst>
                        <a:gd name="T0" fmla="*/ 314 w 314"/>
                        <a:gd name="T1" fmla="*/ 45 h 57"/>
                        <a:gd name="T2" fmla="*/ 5 w 314"/>
                        <a:gd name="T3" fmla="*/ 0 h 57"/>
                        <a:gd name="T4" fmla="*/ 1 w 314"/>
                        <a:gd name="T5" fmla="*/ 3 h 57"/>
                        <a:gd name="T6" fmla="*/ 0 w 314"/>
                        <a:gd name="T7" fmla="*/ 8 h 57"/>
                        <a:gd name="T8" fmla="*/ 4 w 314"/>
                        <a:gd name="T9" fmla="*/ 14 h 57"/>
                        <a:gd name="T10" fmla="*/ 314 w 314"/>
                        <a:gd name="T11" fmla="*/ 57 h 57"/>
                        <a:gd name="T12" fmla="*/ 314 w 314"/>
                        <a:gd name="T13" fmla="*/ 45 h 5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14" h="57">
                          <a:moveTo>
                            <a:pt x="314" y="45"/>
                          </a:moveTo>
                          <a:lnTo>
                            <a:pt x="5" y="0"/>
                          </a:lnTo>
                          <a:lnTo>
                            <a:pt x="1" y="3"/>
                          </a:lnTo>
                          <a:lnTo>
                            <a:pt x="0" y="8"/>
                          </a:lnTo>
                          <a:lnTo>
                            <a:pt x="4" y="14"/>
                          </a:lnTo>
                          <a:lnTo>
                            <a:pt x="314" y="57"/>
                          </a:lnTo>
                          <a:lnTo>
                            <a:pt x="314" y="4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95" name="Freeform 298"/>
                    <p:cNvSpPr>
                      <a:spLocks/>
                    </p:cNvSpPr>
                    <p:nvPr/>
                  </p:nvSpPr>
                  <p:spPr bwMode="auto">
                    <a:xfrm>
                      <a:off x="1967" y="1679"/>
                      <a:ext cx="59" cy="99"/>
                    </a:xfrm>
                    <a:custGeom>
                      <a:avLst/>
                      <a:gdLst>
                        <a:gd name="T0" fmla="*/ 118 w 118"/>
                        <a:gd name="T1" fmla="*/ 197 h 199"/>
                        <a:gd name="T2" fmla="*/ 92 w 118"/>
                        <a:gd name="T3" fmla="*/ 199 h 199"/>
                        <a:gd name="T4" fmla="*/ 71 w 118"/>
                        <a:gd name="T5" fmla="*/ 195 h 199"/>
                        <a:gd name="T6" fmla="*/ 52 w 118"/>
                        <a:gd name="T7" fmla="*/ 189 h 199"/>
                        <a:gd name="T8" fmla="*/ 33 w 118"/>
                        <a:gd name="T9" fmla="*/ 183 h 199"/>
                        <a:gd name="T10" fmla="*/ 25 w 118"/>
                        <a:gd name="T11" fmla="*/ 178 h 199"/>
                        <a:gd name="T12" fmla="*/ 12 w 118"/>
                        <a:gd name="T13" fmla="*/ 171 h 199"/>
                        <a:gd name="T14" fmla="*/ 4 w 118"/>
                        <a:gd name="T15" fmla="*/ 164 h 199"/>
                        <a:gd name="T16" fmla="*/ 0 w 118"/>
                        <a:gd name="T17" fmla="*/ 158 h 199"/>
                        <a:gd name="T18" fmla="*/ 2 w 118"/>
                        <a:gd name="T19" fmla="*/ 152 h 199"/>
                        <a:gd name="T20" fmla="*/ 10 w 118"/>
                        <a:gd name="T21" fmla="*/ 145 h 199"/>
                        <a:gd name="T22" fmla="*/ 20 w 118"/>
                        <a:gd name="T23" fmla="*/ 137 h 199"/>
                        <a:gd name="T24" fmla="*/ 34 w 118"/>
                        <a:gd name="T25" fmla="*/ 134 h 199"/>
                        <a:gd name="T26" fmla="*/ 51 w 118"/>
                        <a:gd name="T27" fmla="*/ 131 h 199"/>
                        <a:gd name="T28" fmla="*/ 59 w 118"/>
                        <a:gd name="T29" fmla="*/ 123 h 199"/>
                        <a:gd name="T30" fmla="*/ 65 w 118"/>
                        <a:gd name="T31" fmla="*/ 115 h 199"/>
                        <a:gd name="T32" fmla="*/ 72 w 118"/>
                        <a:gd name="T33" fmla="*/ 111 h 199"/>
                        <a:gd name="T34" fmla="*/ 82 w 118"/>
                        <a:gd name="T35" fmla="*/ 106 h 199"/>
                        <a:gd name="T36" fmla="*/ 84 w 118"/>
                        <a:gd name="T37" fmla="*/ 98 h 199"/>
                        <a:gd name="T38" fmla="*/ 82 w 118"/>
                        <a:gd name="T39" fmla="*/ 91 h 199"/>
                        <a:gd name="T40" fmla="*/ 75 w 118"/>
                        <a:gd name="T41" fmla="*/ 89 h 199"/>
                        <a:gd name="T42" fmla="*/ 62 w 118"/>
                        <a:gd name="T43" fmla="*/ 86 h 199"/>
                        <a:gd name="T44" fmla="*/ 44 w 118"/>
                        <a:gd name="T45" fmla="*/ 89 h 199"/>
                        <a:gd name="T46" fmla="*/ 34 w 118"/>
                        <a:gd name="T47" fmla="*/ 86 h 199"/>
                        <a:gd name="T48" fmla="*/ 21 w 118"/>
                        <a:gd name="T49" fmla="*/ 80 h 199"/>
                        <a:gd name="T50" fmla="*/ 16 w 118"/>
                        <a:gd name="T51" fmla="*/ 75 h 199"/>
                        <a:gd name="T52" fmla="*/ 15 w 118"/>
                        <a:gd name="T53" fmla="*/ 67 h 199"/>
                        <a:gd name="T54" fmla="*/ 16 w 118"/>
                        <a:gd name="T55" fmla="*/ 58 h 199"/>
                        <a:gd name="T56" fmla="*/ 22 w 118"/>
                        <a:gd name="T57" fmla="*/ 49 h 199"/>
                        <a:gd name="T58" fmla="*/ 25 w 118"/>
                        <a:gd name="T59" fmla="*/ 38 h 199"/>
                        <a:gd name="T60" fmla="*/ 23 w 118"/>
                        <a:gd name="T61" fmla="*/ 28 h 199"/>
                        <a:gd name="T62" fmla="*/ 17 w 118"/>
                        <a:gd name="T63" fmla="*/ 17 h 199"/>
                        <a:gd name="T64" fmla="*/ 11 w 118"/>
                        <a:gd name="T65" fmla="*/ 8 h 199"/>
                        <a:gd name="T66" fmla="*/ 2 w 118"/>
                        <a:gd name="T67" fmla="*/ 0 h 1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</a:cxnLst>
                      <a:rect l="0" t="0" r="r" b="b"/>
                      <a:pathLst>
                        <a:path w="118" h="199">
                          <a:moveTo>
                            <a:pt x="118" y="197"/>
                          </a:moveTo>
                          <a:lnTo>
                            <a:pt x="92" y="199"/>
                          </a:lnTo>
                          <a:lnTo>
                            <a:pt x="71" y="195"/>
                          </a:lnTo>
                          <a:lnTo>
                            <a:pt x="52" y="189"/>
                          </a:lnTo>
                          <a:lnTo>
                            <a:pt x="33" y="183"/>
                          </a:lnTo>
                          <a:lnTo>
                            <a:pt x="25" y="178"/>
                          </a:lnTo>
                          <a:lnTo>
                            <a:pt x="12" y="171"/>
                          </a:lnTo>
                          <a:lnTo>
                            <a:pt x="4" y="164"/>
                          </a:lnTo>
                          <a:lnTo>
                            <a:pt x="0" y="158"/>
                          </a:lnTo>
                          <a:lnTo>
                            <a:pt x="2" y="152"/>
                          </a:lnTo>
                          <a:lnTo>
                            <a:pt x="10" y="145"/>
                          </a:lnTo>
                          <a:lnTo>
                            <a:pt x="20" y="137"/>
                          </a:lnTo>
                          <a:lnTo>
                            <a:pt x="34" y="134"/>
                          </a:lnTo>
                          <a:lnTo>
                            <a:pt x="51" y="131"/>
                          </a:lnTo>
                          <a:lnTo>
                            <a:pt x="59" y="123"/>
                          </a:lnTo>
                          <a:lnTo>
                            <a:pt x="65" y="115"/>
                          </a:lnTo>
                          <a:lnTo>
                            <a:pt x="72" y="111"/>
                          </a:lnTo>
                          <a:lnTo>
                            <a:pt x="82" y="106"/>
                          </a:lnTo>
                          <a:lnTo>
                            <a:pt x="84" y="98"/>
                          </a:lnTo>
                          <a:lnTo>
                            <a:pt x="82" y="91"/>
                          </a:lnTo>
                          <a:lnTo>
                            <a:pt x="75" y="89"/>
                          </a:lnTo>
                          <a:lnTo>
                            <a:pt x="62" y="86"/>
                          </a:lnTo>
                          <a:lnTo>
                            <a:pt x="44" y="89"/>
                          </a:lnTo>
                          <a:lnTo>
                            <a:pt x="34" y="86"/>
                          </a:lnTo>
                          <a:lnTo>
                            <a:pt x="21" y="80"/>
                          </a:lnTo>
                          <a:lnTo>
                            <a:pt x="16" y="75"/>
                          </a:lnTo>
                          <a:lnTo>
                            <a:pt x="15" y="67"/>
                          </a:lnTo>
                          <a:lnTo>
                            <a:pt x="16" y="58"/>
                          </a:lnTo>
                          <a:lnTo>
                            <a:pt x="22" y="49"/>
                          </a:lnTo>
                          <a:lnTo>
                            <a:pt x="25" y="38"/>
                          </a:lnTo>
                          <a:lnTo>
                            <a:pt x="23" y="28"/>
                          </a:lnTo>
                          <a:lnTo>
                            <a:pt x="17" y="17"/>
                          </a:lnTo>
                          <a:lnTo>
                            <a:pt x="11" y="8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  <p:grpSp>
                <p:nvGrpSpPr>
                  <p:cNvPr id="185" name="Group 299"/>
                  <p:cNvGrpSpPr>
                    <a:grpSpLocks/>
                  </p:cNvGrpSpPr>
                  <p:nvPr/>
                </p:nvGrpSpPr>
                <p:grpSpPr bwMode="auto">
                  <a:xfrm>
                    <a:off x="2056" y="1766"/>
                    <a:ext cx="87" cy="49"/>
                    <a:chOff x="2056" y="1766"/>
                    <a:chExt cx="87" cy="49"/>
                  </a:xfrm>
                </p:grpSpPr>
                <p:grpSp>
                  <p:nvGrpSpPr>
                    <p:cNvPr id="186" name="Group 30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97" y="1775"/>
                      <a:ext cx="46" cy="40"/>
                      <a:chOff x="2097" y="1775"/>
                      <a:chExt cx="46" cy="40"/>
                    </a:xfrm>
                  </p:grpSpPr>
                  <p:sp>
                    <p:nvSpPr>
                      <p:cNvPr id="192" name="Freeform 30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97" y="1775"/>
                        <a:ext cx="46" cy="40"/>
                      </a:xfrm>
                      <a:custGeom>
                        <a:avLst/>
                        <a:gdLst>
                          <a:gd name="T0" fmla="*/ 59 w 91"/>
                          <a:gd name="T1" fmla="*/ 80 h 80"/>
                          <a:gd name="T2" fmla="*/ 91 w 91"/>
                          <a:gd name="T3" fmla="*/ 65 h 80"/>
                          <a:gd name="T4" fmla="*/ 86 w 91"/>
                          <a:gd name="T5" fmla="*/ 42 h 80"/>
                          <a:gd name="T6" fmla="*/ 80 w 91"/>
                          <a:gd name="T7" fmla="*/ 21 h 80"/>
                          <a:gd name="T8" fmla="*/ 71 w 91"/>
                          <a:gd name="T9" fmla="*/ 10 h 80"/>
                          <a:gd name="T10" fmla="*/ 59 w 91"/>
                          <a:gd name="T11" fmla="*/ 2 h 80"/>
                          <a:gd name="T12" fmla="*/ 48 w 91"/>
                          <a:gd name="T13" fmla="*/ 0 h 80"/>
                          <a:gd name="T14" fmla="*/ 36 w 91"/>
                          <a:gd name="T15" fmla="*/ 0 h 80"/>
                          <a:gd name="T16" fmla="*/ 25 w 91"/>
                          <a:gd name="T17" fmla="*/ 1 h 80"/>
                          <a:gd name="T18" fmla="*/ 13 w 91"/>
                          <a:gd name="T19" fmla="*/ 5 h 80"/>
                          <a:gd name="T20" fmla="*/ 6 w 91"/>
                          <a:gd name="T21" fmla="*/ 11 h 80"/>
                          <a:gd name="T22" fmla="*/ 1 w 91"/>
                          <a:gd name="T23" fmla="*/ 18 h 80"/>
                          <a:gd name="T24" fmla="*/ 0 w 91"/>
                          <a:gd name="T25" fmla="*/ 28 h 80"/>
                          <a:gd name="T26" fmla="*/ 2 w 91"/>
                          <a:gd name="T27" fmla="*/ 39 h 80"/>
                          <a:gd name="T28" fmla="*/ 10 w 91"/>
                          <a:gd name="T29" fmla="*/ 47 h 80"/>
                          <a:gd name="T30" fmla="*/ 23 w 91"/>
                          <a:gd name="T31" fmla="*/ 48 h 80"/>
                          <a:gd name="T32" fmla="*/ 39 w 91"/>
                          <a:gd name="T33" fmla="*/ 50 h 80"/>
                          <a:gd name="T34" fmla="*/ 51 w 91"/>
                          <a:gd name="T35" fmla="*/ 50 h 80"/>
                          <a:gd name="T36" fmla="*/ 53 w 91"/>
                          <a:gd name="T37" fmla="*/ 48 h 80"/>
                          <a:gd name="T38" fmla="*/ 59 w 91"/>
                          <a:gd name="T39" fmla="*/ 80 h 8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91" h="80">
                            <a:moveTo>
                              <a:pt x="59" y="80"/>
                            </a:moveTo>
                            <a:lnTo>
                              <a:pt x="91" y="65"/>
                            </a:lnTo>
                            <a:lnTo>
                              <a:pt x="86" y="42"/>
                            </a:lnTo>
                            <a:lnTo>
                              <a:pt x="80" y="21"/>
                            </a:lnTo>
                            <a:lnTo>
                              <a:pt x="71" y="10"/>
                            </a:lnTo>
                            <a:lnTo>
                              <a:pt x="59" y="2"/>
                            </a:lnTo>
                            <a:lnTo>
                              <a:pt x="48" y="0"/>
                            </a:lnTo>
                            <a:lnTo>
                              <a:pt x="36" y="0"/>
                            </a:lnTo>
                            <a:lnTo>
                              <a:pt x="25" y="1"/>
                            </a:lnTo>
                            <a:lnTo>
                              <a:pt x="13" y="5"/>
                            </a:lnTo>
                            <a:lnTo>
                              <a:pt x="6" y="11"/>
                            </a:lnTo>
                            <a:lnTo>
                              <a:pt x="1" y="18"/>
                            </a:lnTo>
                            <a:lnTo>
                              <a:pt x="0" y="28"/>
                            </a:lnTo>
                            <a:lnTo>
                              <a:pt x="2" y="39"/>
                            </a:lnTo>
                            <a:lnTo>
                              <a:pt x="10" y="47"/>
                            </a:lnTo>
                            <a:lnTo>
                              <a:pt x="23" y="48"/>
                            </a:lnTo>
                            <a:lnTo>
                              <a:pt x="39" y="50"/>
                            </a:lnTo>
                            <a:lnTo>
                              <a:pt x="51" y="50"/>
                            </a:lnTo>
                            <a:lnTo>
                              <a:pt x="53" y="48"/>
                            </a:lnTo>
                            <a:lnTo>
                              <a:pt x="59" y="80"/>
                            </a:lnTo>
                            <a:close/>
                          </a:path>
                        </a:pathLst>
                      </a:custGeom>
                      <a:solidFill>
                        <a:srgbClr val="FFBF5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93" name="Line 302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123" y="1794"/>
                        <a:ext cx="5" cy="3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grpSp>
                  <p:nvGrpSpPr>
                    <p:cNvPr id="187" name="Group 30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56" y="1766"/>
                      <a:ext cx="40" cy="31"/>
                      <a:chOff x="2056" y="1766"/>
                      <a:chExt cx="40" cy="31"/>
                    </a:xfrm>
                  </p:grpSpPr>
                  <p:sp>
                    <p:nvSpPr>
                      <p:cNvPr id="188" name="Freeform 30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56" y="1766"/>
                        <a:ext cx="40" cy="31"/>
                      </a:xfrm>
                      <a:custGeom>
                        <a:avLst/>
                        <a:gdLst>
                          <a:gd name="T0" fmla="*/ 8 w 79"/>
                          <a:gd name="T1" fmla="*/ 0 h 62"/>
                          <a:gd name="T2" fmla="*/ 2 w 79"/>
                          <a:gd name="T3" fmla="*/ 5 h 62"/>
                          <a:gd name="T4" fmla="*/ 0 w 79"/>
                          <a:gd name="T5" fmla="*/ 9 h 62"/>
                          <a:gd name="T6" fmla="*/ 2 w 79"/>
                          <a:gd name="T7" fmla="*/ 14 h 62"/>
                          <a:gd name="T8" fmla="*/ 5 w 79"/>
                          <a:gd name="T9" fmla="*/ 19 h 62"/>
                          <a:gd name="T10" fmla="*/ 5 w 79"/>
                          <a:gd name="T11" fmla="*/ 31 h 62"/>
                          <a:gd name="T12" fmla="*/ 8 w 79"/>
                          <a:gd name="T13" fmla="*/ 49 h 62"/>
                          <a:gd name="T14" fmla="*/ 10 w 79"/>
                          <a:gd name="T15" fmla="*/ 57 h 62"/>
                          <a:gd name="T16" fmla="*/ 16 w 79"/>
                          <a:gd name="T17" fmla="*/ 59 h 62"/>
                          <a:gd name="T18" fmla="*/ 21 w 79"/>
                          <a:gd name="T19" fmla="*/ 57 h 62"/>
                          <a:gd name="T20" fmla="*/ 26 w 79"/>
                          <a:gd name="T21" fmla="*/ 51 h 62"/>
                          <a:gd name="T22" fmla="*/ 33 w 79"/>
                          <a:gd name="T23" fmla="*/ 53 h 62"/>
                          <a:gd name="T24" fmla="*/ 34 w 79"/>
                          <a:gd name="T25" fmla="*/ 59 h 62"/>
                          <a:gd name="T26" fmla="*/ 39 w 79"/>
                          <a:gd name="T27" fmla="*/ 62 h 62"/>
                          <a:gd name="T28" fmla="*/ 44 w 79"/>
                          <a:gd name="T29" fmla="*/ 60 h 62"/>
                          <a:gd name="T30" fmla="*/ 46 w 79"/>
                          <a:gd name="T31" fmla="*/ 60 h 62"/>
                          <a:gd name="T32" fmla="*/ 49 w 79"/>
                          <a:gd name="T33" fmla="*/ 62 h 62"/>
                          <a:gd name="T34" fmla="*/ 55 w 79"/>
                          <a:gd name="T35" fmla="*/ 62 h 62"/>
                          <a:gd name="T36" fmla="*/ 59 w 79"/>
                          <a:gd name="T37" fmla="*/ 59 h 62"/>
                          <a:gd name="T38" fmla="*/ 65 w 79"/>
                          <a:gd name="T39" fmla="*/ 62 h 62"/>
                          <a:gd name="T40" fmla="*/ 71 w 79"/>
                          <a:gd name="T41" fmla="*/ 59 h 62"/>
                          <a:gd name="T42" fmla="*/ 74 w 79"/>
                          <a:gd name="T43" fmla="*/ 53 h 62"/>
                          <a:gd name="T44" fmla="*/ 74 w 79"/>
                          <a:gd name="T45" fmla="*/ 40 h 62"/>
                          <a:gd name="T46" fmla="*/ 79 w 79"/>
                          <a:gd name="T47" fmla="*/ 19 h 62"/>
                          <a:gd name="T48" fmla="*/ 74 w 79"/>
                          <a:gd name="T49" fmla="*/ 11 h 62"/>
                          <a:gd name="T50" fmla="*/ 68 w 79"/>
                          <a:gd name="T51" fmla="*/ 3 h 62"/>
                          <a:gd name="T52" fmla="*/ 62 w 79"/>
                          <a:gd name="T53" fmla="*/ 2 h 62"/>
                          <a:gd name="T54" fmla="*/ 56 w 79"/>
                          <a:gd name="T55" fmla="*/ 5 h 62"/>
                          <a:gd name="T56" fmla="*/ 53 w 79"/>
                          <a:gd name="T57" fmla="*/ 11 h 62"/>
                          <a:gd name="T58" fmla="*/ 49 w 79"/>
                          <a:gd name="T59" fmla="*/ 6 h 62"/>
                          <a:gd name="T60" fmla="*/ 45 w 79"/>
                          <a:gd name="T61" fmla="*/ 3 h 62"/>
                          <a:gd name="T62" fmla="*/ 40 w 79"/>
                          <a:gd name="T63" fmla="*/ 2 h 62"/>
                          <a:gd name="T64" fmla="*/ 34 w 79"/>
                          <a:gd name="T65" fmla="*/ 5 h 62"/>
                          <a:gd name="T66" fmla="*/ 33 w 79"/>
                          <a:gd name="T67" fmla="*/ 9 h 62"/>
                          <a:gd name="T68" fmla="*/ 31 w 79"/>
                          <a:gd name="T69" fmla="*/ 6 h 62"/>
                          <a:gd name="T70" fmla="*/ 27 w 79"/>
                          <a:gd name="T71" fmla="*/ 3 h 62"/>
                          <a:gd name="T72" fmla="*/ 23 w 79"/>
                          <a:gd name="T73" fmla="*/ 3 h 62"/>
                          <a:gd name="T74" fmla="*/ 20 w 79"/>
                          <a:gd name="T75" fmla="*/ 6 h 62"/>
                          <a:gd name="T76" fmla="*/ 14 w 79"/>
                          <a:gd name="T77" fmla="*/ 1 h 62"/>
                          <a:gd name="T78" fmla="*/ 8 w 79"/>
                          <a:gd name="T79" fmla="*/ 0 h 6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</a:cxnLst>
                        <a:rect l="0" t="0" r="r" b="b"/>
                        <a:pathLst>
                          <a:path w="79" h="62">
                            <a:moveTo>
                              <a:pt x="8" y="0"/>
                            </a:moveTo>
                            <a:lnTo>
                              <a:pt x="2" y="5"/>
                            </a:lnTo>
                            <a:lnTo>
                              <a:pt x="0" y="9"/>
                            </a:lnTo>
                            <a:lnTo>
                              <a:pt x="2" y="14"/>
                            </a:lnTo>
                            <a:lnTo>
                              <a:pt x="5" y="19"/>
                            </a:lnTo>
                            <a:lnTo>
                              <a:pt x="5" y="31"/>
                            </a:lnTo>
                            <a:lnTo>
                              <a:pt x="8" y="49"/>
                            </a:lnTo>
                            <a:lnTo>
                              <a:pt x="10" y="57"/>
                            </a:lnTo>
                            <a:lnTo>
                              <a:pt x="16" y="59"/>
                            </a:lnTo>
                            <a:lnTo>
                              <a:pt x="21" y="57"/>
                            </a:lnTo>
                            <a:lnTo>
                              <a:pt x="26" y="51"/>
                            </a:lnTo>
                            <a:lnTo>
                              <a:pt x="33" y="53"/>
                            </a:lnTo>
                            <a:lnTo>
                              <a:pt x="34" y="59"/>
                            </a:lnTo>
                            <a:lnTo>
                              <a:pt x="39" y="62"/>
                            </a:lnTo>
                            <a:lnTo>
                              <a:pt x="44" y="60"/>
                            </a:lnTo>
                            <a:lnTo>
                              <a:pt x="46" y="60"/>
                            </a:lnTo>
                            <a:lnTo>
                              <a:pt x="49" y="62"/>
                            </a:lnTo>
                            <a:lnTo>
                              <a:pt x="55" y="62"/>
                            </a:lnTo>
                            <a:lnTo>
                              <a:pt x="59" y="59"/>
                            </a:lnTo>
                            <a:lnTo>
                              <a:pt x="65" y="62"/>
                            </a:lnTo>
                            <a:lnTo>
                              <a:pt x="71" y="59"/>
                            </a:lnTo>
                            <a:lnTo>
                              <a:pt x="74" y="53"/>
                            </a:lnTo>
                            <a:lnTo>
                              <a:pt x="74" y="40"/>
                            </a:lnTo>
                            <a:lnTo>
                              <a:pt x="79" y="19"/>
                            </a:lnTo>
                            <a:lnTo>
                              <a:pt x="74" y="11"/>
                            </a:lnTo>
                            <a:lnTo>
                              <a:pt x="68" y="3"/>
                            </a:lnTo>
                            <a:lnTo>
                              <a:pt x="62" y="2"/>
                            </a:lnTo>
                            <a:lnTo>
                              <a:pt x="56" y="5"/>
                            </a:lnTo>
                            <a:lnTo>
                              <a:pt x="53" y="11"/>
                            </a:lnTo>
                            <a:lnTo>
                              <a:pt x="49" y="6"/>
                            </a:lnTo>
                            <a:lnTo>
                              <a:pt x="45" y="3"/>
                            </a:lnTo>
                            <a:lnTo>
                              <a:pt x="40" y="2"/>
                            </a:lnTo>
                            <a:lnTo>
                              <a:pt x="34" y="5"/>
                            </a:lnTo>
                            <a:lnTo>
                              <a:pt x="33" y="9"/>
                            </a:lnTo>
                            <a:lnTo>
                              <a:pt x="31" y="6"/>
                            </a:lnTo>
                            <a:lnTo>
                              <a:pt x="27" y="3"/>
                            </a:lnTo>
                            <a:lnTo>
                              <a:pt x="23" y="3"/>
                            </a:lnTo>
                            <a:lnTo>
                              <a:pt x="20" y="6"/>
                            </a:lnTo>
                            <a:lnTo>
                              <a:pt x="14" y="1"/>
                            </a:lnTo>
                            <a:lnTo>
                              <a:pt x="8" y="0"/>
                            </a:lnTo>
                            <a:close/>
                          </a:path>
                        </a:pathLst>
                      </a:custGeom>
                      <a:solidFill>
                        <a:srgbClr val="FFBF7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89" name="Line 30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80" y="1773"/>
                        <a:ext cx="3" cy="18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90" name="Line 30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71" y="1771"/>
                        <a:ext cx="2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91" name="Line 30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64" y="1768"/>
                        <a:ext cx="2" cy="21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</p:grpSp>
            </p:grpSp>
          </p:grpSp>
        </p:grpSp>
        <p:sp>
          <p:nvSpPr>
            <p:cNvPr id="44" name="Freeform 308"/>
            <p:cNvSpPr>
              <a:spLocks/>
            </p:cNvSpPr>
            <p:nvPr/>
          </p:nvSpPr>
          <p:spPr bwMode="auto">
            <a:xfrm>
              <a:off x="1714" y="1760"/>
              <a:ext cx="7" cy="41"/>
            </a:xfrm>
            <a:custGeom>
              <a:avLst/>
              <a:gdLst>
                <a:gd name="T0" fmla="*/ 0 w 15"/>
                <a:gd name="T1" fmla="*/ 0 h 81"/>
                <a:gd name="T2" fmla="*/ 15 w 15"/>
                <a:gd name="T3" fmla="*/ 81 h 81"/>
                <a:gd name="T4" fmla="*/ 0 w 15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81">
                  <a:moveTo>
                    <a:pt x="0" y="0"/>
                  </a:moveTo>
                  <a:lnTo>
                    <a:pt x="15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grpSp>
          <p:nvGrpSpPr>
            <p:cNvPr id="45" name="Group 309"/>
            <p:cNvGrpSpPr>
              <a:grpSpLocks/>
            </p:cNvGrpSpPr>
            <p:nvPr/>
          </p:nvGrpSpPr>
          <p:grpSpPr bwMode="auto">
            <a:xfrm>
              <a:off x="2592" y="2357"/>
              <a:ext cx="912" cy="510"/>
              <a:chOff x="915" y="2357"/>
              <a:chExt cx="1921" cy="510"/>
            </a:xfrm>
          </p:grpSpPr>
          <p:grpSp>
            <p:nvGrpSpPr>
              <p:cNvPr id="162" name="Group 310"/>
              <p:cNvGrpSpPr>
                <a:grpSpLocks/>
              </p:cNvGrpSpPr>
              <p:nvPr/>
            </p:nvGrpSpPr>
            <p:grpSpPr bwMode="auto">
              <a:xfrm>
                <a:off x="915" y="2357"/>
                <a:ext cx="1921" cy="510"/>
                <a:chOff x="915" y="2357"/>
                <a:chExt cx="1921" cy="510"/>
              </a:xfrm>
            </p:grpSpPr>
            <p:sp>
              <p:nvSpPr>
                <p:cNvPr id="177" name="Freeform 311"/>
                <p:cNvSpPr>
                  <a:spLocks/>
                </p:cNvSpPr>
                <p:nvPr/>
              </p:nvSpPr>
              <p:spPr bwMode="auto">
                <a:xfrm>
                  <a:off x="915" y="2357"/>
                  <a:ext cx="1921" cy="152"/>
                </a:xfrm>
                <a:custGeom>
                  <a:avLst/>
                  <a:gdLst>
                    <a:gd name="T0" fmla="*/ 0 w 3843"/>
                    <a:gd name="T1" fmla="*/ 303 h 304"/>
                    <a:gd name="T2" fmla="*/ 0 w 3843"/>
                    <a:gd name="T3" fmla="*/ 134 h 304"/>
                    <a:gd name="T4" fmla="*/ 126 w 3843"/>
                    <a:gd name="T5" fmla="*/ 115 h 304"/>
                    <a:gd name="T6" fmla="*/ 238 w 3843"/>
                    <a:gd name="T7" fmla="*/ 57 h 304"/>
                    <a:gd name="T8" fmla="*/ 529 w 3843"/>
                    <a:gd name="T9" fmla="*/ 104 h 304"/>
                    <a:gd name="T10" fmla="*/ 710 w 3843"/>
                    <a:gd name="T11" fmla="*/ 0 h 304"/>
                    <a:gd name="T12" fmla="*/ 848 w 3843"/>
                    <a:gd name="T13" fmla="*/ 58 h 304"/>
                    <a:gd name="T14" fmla="*/ 904 w 3843"/>
                    <a:gd name="T15" fmla="*/ 77 h 304"/>
                    <a:gd name="T16" fmla="*/ 1033 w 3843"/>
                    <a:gd name="T17" fmla="*/ 118 h 304"/>
                    <a:gd name="T18" fmla="*/ 1156 w 3843"/>
                    <a:gd name="T19" fmla="*/ 98 h 304"/>
                    <a:gd name="T20" fmla="*/ 1359 w 3843"/>
                    <a:gd name="T21" fmla="*/ 199 h 304"/>
                    <a:gd name="T22" fmla="*/ 1491 w 3843"/>
                    <a:gd name="T23" fmla="*/ 126 h 304"/>
                    <a:gd name="T24" fmla="*/ 1629 w 3843"/>
                    <a:gd name="T25" fmla="*/ 200 h 304"/>
                    <a:gd name="T26" fmla="*/ 1825 w 3843"/>
                    <a:gd name="T27" fmla="*/ 66 h 304"/>
                    <a:gd name="T28" fmla="*/ 1913 w 3843"/>
                    <a:gd name="T29" fmla="*/ 178 h 304"/>
                    <a:gd name="T30" fmla="*/ 2142 w 3843"/>
                    <a:gd name="T31" fmla="*/ 102 h 304"/>
                    <a:gd name="T32" fmla="*/ 2173 w 3843"/>
                    <a:gd name="T33" fmla="*/ 214 h 304"/>
                    <a:gd name="T34" fmla="*/ 2353 w 3843"/>
                    <a:gd name="T35" fmla="*/ 80 h 304"/>
                    <a:gd name="T36" fmla="*/ 2578 w 3843"/>
                    <a:gd name="T37" fmla="*/ 153 h 304"/>
                    <a:gd name="T38" fmla="*/ 2716 w 3843"/>
                    <a:gd name="T39" fmla="*/ 75 h 304"/>
                    <a:gd name="T40" fmla="*/ 2807 w 3843"/>
                    <a:gd name="T41" fmla="*/ 75 h 304"/>
                    <a:gd name="T42" fmla="*/ 2952 w 3843"/>
                    <a:gd name="T43" fmla="*/ 134 h 304"/>
                    <a:gd name="T44" fmla="*/ 3153 w 3843"/>
                    <a:gd name="T45" fmla="*/ 40 h 304"/>
                    <a:gd name="T46" fmla="*/ 3441 w 3843"/>
                    <a:gd name="T47" fmla="*/ 148 h 304"/>
                    <a:gd name="T48" fmla="*/ 3609 w 3843"/>
                    <a:gd name="T49" fmla="*/ 113 h 304"/>
                    <a:gd name="T50" fmla="*/ 3771 w 3843"/>
                    <a:gd name="T51" fmla="*/ 142 h 304"/>
                    <a:gd name="T52" fmla="*/ 3843 w 3843"/>
                    <a:gd name="T53" fmla="*/ 123 h 304"/>
                    <a:gd name="T54" fmla="*/ 3843 w 3843"/>
                    <a:gd name="T55" fmla="*/ 304 h 304"/>
                    <a:gd name="T56" fmla="*/ 0 w 3843"/>
                    <a:gd name="T57" fmla="*/ 303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843" h="304">
                      <a:moveTo>
                        <a:pt x="0" y="303"/>
                      </a:moveTo>
                      <a:lnTo>
                        <a:pt x="0" y="134"/>
                      </a:lnTo>
                      <a:lnTo>
                        <a:pt x="126" y="115"/>
                      </a:lnTo>
                      <a:lnTo>
                        <a:pt x="238" y="57"/>
                      </a:lnTo>
                      <a:lnTo>
                        <a:pt x="529" y="104"/>
                      </a:lnTo>
                      <a:lnTo>
                        <a:pt x="710" y="0"/>
                      </a:lnTo>
                      <a:lnTo>
                        <a:pt x="848" y="58"/>
                      </a:lnTo>
                      <a:lnTo>
                        <a:pt x="904" y="77"/>
                      </a:lnTo>
                      <a:lnTo>
                        <a:pt x="1033" y="118"/>
                      </a:lnTo>
                      <a:lnTo>
                        <a:pt x="1156" y="98"/>
                      </a:lnTo>
                      <a:lnTo>
                        <a:pt x="1359" y="199"/>
                      </a:lnTo>
                      <a:lnTo>
                        <a:pt x="1491" y="126"/>
                      </a:lnTo>
                      <a:lnTo>
                        <a:pt x="1629" y="200"/>
                      </a:lnTo>
                      <a:lnTo>
                        <a:pt x="1825" y="66"/>
                      </a:lnTo>
                      <a:lnTo>
                        <a:pt x="1913" y="178"/>
                      </a:lnTo>
                      <a:lnTo>
                        <a:pt x="2142" y="102"/>
                      </a:lnTo>
                      <a:lnTo>
                        <a:pt x="2173" y="214"/>
                      </a:lnTo>
                      <a:lnTo>
                        <a:pt x="2353" y="80"/>
                      </a:lnTo>
                      <a:lnTo>
                        <a:pt x="2578" y="153"/>
                      </a:lnTo>
                      <a:lnTo>
                        <a:pt x="2716" y="75"/>
                      </a:lnTo>
                      <a:lnTo>
                        <a:pt x="2807" y="75"/>
                      </a:lnTo>
                      <a:lnTo>
                        <a:pt x="2952" y="134"/>
                      </a:lnTo>
                      <a:lnTo>
                        <a:pt x="3153" y="40"/>
                      </a:lnTo>
                      <a:lnTo>
                        <a:pt x="3441" y="148"/>
                      </a:lnTo>
                      <a:lnTo>
                        <a:pt x="3609" y="113"/>
                      </a:lnTo>
                      <a:lnTo>
                        <a:pt x="3771" y="142"/>
                      </a:lnTo>
                      <a:lnTo>
                        <a:pt x="3843" y="123"/>
                      </a:lnTo>
                      <a:lnTo>
                        <a:pt x="3843" y="304"/>
                      </a:lnTo>
                      <a:lnTo>
                        <a:pt x="0" y="303"/>
                      </a:lnTo>
                      <a:close/>
                    </a:path>
                  </a:pathLst>
                </a:custGeom>
                <a:solidFill>
                  <a:srgbClr val="9FB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8" name="Freeform 312"/>
                <p:cNvSpPr>
                  <a:spLocks/>
                </p:cNvSpPr>
                <p:nvPr/>
              </p:nvSpPr>
              <p:spPr bwMode="auto">
                <a:xfrm>
                  <a:off x="915" y="2508"/>
                  <a:ext cx="1921" cy="359"/>
                </a:xfrm>
                <a:custGeom>
                  <a:avLst/>
                  <a:gdLst>
                    <a:gd name="T0" fmla="*/ 0 w 3843"/>
                    <a:gd name="T1" fmla="*/ 0 h 719"/>
                    <a:gd name="T2" fmla="*/ 0 w 3843"/>
                    <a:gd name="T3" fmla="*/ 719 h 719"/>
                    <a:gd name="T4" fmla="*/ 3843 w 3843"/>
                    <a:gd name="T5" fmla="*/ 714 h 719"/>
                    <a:gd name="T6" fmla="*/ 3843 w 3843"/>
                    <a:gd name="T7" fmla="*/ 1 h 719"/>
                    <a:gd name="T8" fmla="*/ 0 w 3843"/>
                    <a:gd name="T9" fmla="*/ 0 h 7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43" h="719">
                      <a:moveTo>
                        <a:pt x="0" y="0"/>
                      </a:moveTo>
                      <a:lnTo>
                        <a:pt x="0" y="719"/>
                      </a:lnTo>
                      <a:lnTo>
                        <a:pt x="3843" y="714"/>
                      </a:lnTo>
                      <a:lnTo>
                        <a:pt x="3843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1F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63" name="Group 313"/>
              <p:cNvGrpSpPr>
                <a:grpSpLocks/>
              </p:cNvGrpSpPr>
              <p:nvPr/>
            </p:nvGrpSpPr>
            <p:grpSpPr bwMode="auto">
              <a:xfrm>
                <a:off x="948" y="2598"/>
                <a:ext cx="1879" cy="234"/>
                <a:chOff x="948" y="2598"/>
                <a:chExt cx="1879" cy="234"/>
              </a:xfrm>
            </p:grpSpPr>
            <p:sp>
              <p:nvSpPr>
                <p:cNvPr id="164" name="Freeform 314"/>
                <p:cNvSpPr>
                  <a:spLocks/>
                </p:cNvSpPr>
                <p:nvPr/>
              </p:nvSpPr>
              <p:spPr bwMode="auto">
                <a:xfrm>
                  <a:off x="966" y="2757"/>
                  <a:ext cx="188" cy="30"/>
                </a:xfrm>
                <a:custGeom>
                  <a:avLst/>
                  <a:gdLst>
                    <a:gd name="T0" fmla="*/ 116 w 375"/>
                    <a:gd name="T1" fmla="*/ 0 h 61"/>
                    <a:gd name="T2" fmla="*/ 91 w 375"/>
                    <a:gd name="T3" fmla="*/ 5 h 61"/>
                    <a:gd name="T4" fmla="*/ 64 w 375"/>
                    <a:gd name="T5" fmla="*/ 6 h 61"/>
                    <a:gd name="T6" fmla="*/ 29 w 375"/>
                    <a:gd name="T7" fmla="*/ 15 h 61"/>
                    <a:gd name="T8" fmla="*/ 8 w 375"/>
                    <a:gd name="T9" fmla="*/ 28 h 61"/>
                    <a:gd name="T10" fmla="*/ 0 w 375"/>
                    <a:gd name="T11" fmla="*/ 45 h 61"/>
                    <a:gd name="T12" fmla="*/ 43 w 375"/>
                    <a:gd name="T13" fmla="*/ 55 h 61"/>
                    <a:gd name="T14" fmla="*/ 98 w 375"/>
                    <a:gd name="T15" fmla="*/ 61 h 61"/>
                    <a:gd name="T16" fmla="*/ 143 w 375"/>
                    <a:gd name="T17" fmla="*/ 50 h 61"/>
                    <a:gd name="T18" fmla="*/ 219 w 375"/>
                    <a:gd name="T19" fmla="*/ 51 h 61"/>
                    <a:gd name="T20" fmla="*/ 306 w 375"/>
                    <a:gd name="T21" fmla="*/ 57 h 61"/>
                    <a:gd name="T22" fmla="*/ 375 w 375"/>
                    <a:gd name="T23" fmla="*/ 50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75" h="61">
                      <a:moveTo>
                        <a:pt x="116" y="0"/>
                      </a:moveTo>
                      <a:lnTo>
                        <a:pt x="91" y="5"/>
                      </a:lnTo>
                      <a:lnTo>
                        <a:pt x="64" y="6"/>
                      </a:lnTo>
                      <a:lnTo>
                        <a:pt x="29" y="15"/>
                      </a:lnTo>
                      <a:lnTo>
                        <a:pt x="8" y="28"/>
                      </a:lnTo>
                      <a:lnTo>
                        <a:pt x="0" y="45"/>
                      </a:lnTo>
                      <a:lnTo>
                        <a:pt x="43" y="55"/>
                      </a:lnTo>
                      <a:lnTo>
                        <a:pt x="98" y="61"/>
                      </a:lnTo>
                      <a:lnTo>
                        <a:pt x="143" y="50"/>
                      </a:lnTo>
                      <a:lnTo>
                        <a:pt x="219" y="51"/>
                      </a:lnTo>
                      <a:lnTo>
                        <a:pt x="306" y="57"/>
                      </a:lnTo>
                      <a:lnTo>
                        <a:pt x="375" y="5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65" name="Freeform 315"/>
                <p:cNvSpPr>
                  <a:spLocks/>
                </p:cNvSpPr>
                <p:nvPr/>
              </p:nvSpPr>
              <p:spPr bwMode="auto">
                <a:xfrm>
                  <a:off x="948" y="2791"/>
                  <a:ext cx="148" cy="10"/>
                </a:xfrm>
                <a:custGeom>
                  <a:avLst/>
                  <a:gdLst>
                    <a:gd name="T0" fmla="*/ 0 w 297"/>
                    <a:gd name="T1" fmla="*/ 13 h 19"/>
                    <a:gd name="T2" fmla="*/ 44 w 297"/>
                    <a:gd name="T3" fmla="*/ 17 h 19"/>
                    <a:gd name="T4" fmla="*/ 128 w 297"/>
                    <a:gd name="T5" fmla="*/ 19 h 19"/>
                    <a:gd name="T6" fmla="*/ 164 w 297"/>
                    <a:gd name="T7" fmla="*/ 9 h 19"/>
                    <a:gd name="T8" fmla="*/ 197 w 297"/>
                    <a:gd name="T9" fmla="*/ 17 h 19"/>
                    <a:gd name="T10" fmla="*/ 245 w 297"/>
                    <a:gd name="T11" fmla="*/ 9 h 19"/>
                    <a:gd name="T12" fmla="*/ 297 w 297"/>
                    <a:gd name="T1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7" h="19">
                      <a:moveTo>
                        <a:pt x="0" y="13"/>
                      </a:moveTo>
                      <a:lnTo>
                        <a:pt x="44" y="17"/>
                      </a:lnTo>
                      <a:lnTo>
                        <a:pt x="128" y="19"/>
                      </a:lnTo>
                      <a:lnTo>
                        <a:pt x="164" y="9"/>
                      </a:lnTo>
                      <a:lnTo>
                        <a:pt x="197" y="17"/>
                      </a:lnTo>
                      <a:lnTo>
                        <a:pt x="245" y="9"/>
                      </a:lnTo>
                      <a:lnTo>
                        <a:pt x="297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66" name="Freeform 316"/>
                <p:cNvSpPr>
                  <a:spLocks/>
                </p:cNvSpPr>
                <p:nvPr/>
              </p:nvSpPr>
              <p:spPr bwMode="auto">
                <a:xfrm>
                  <a:off x="1155" y="2657"/>
                  <a:ext cx="167" cy="12"/>
                </a:xfrm>
                <a:custGeom>
                  <a:avLst/>
                  <a:gdLst>
                    <a:gd name="T0" fmla="*/ 0 w 334"/>
                    <a:gd name="T1" fmla="*/ 17 h 25"/>
                    <a:gd name="T2" fmla="*/ 104 w 334"/>
                    <a:gd name="T3" fmla="*/ 25 h 25"/>
                    <a:gd name="T4" fmla="*/ 142 w 334"/>
                    <a:gd name="T5" fmla="*/ 9 h 25"/>
                    <a:gd name="T6" fmla="*/ 207 w 334"/>
                    <a:gd name="T7" fmla="*/ 8 h 25"/>
                    <a:gd name="T8" fmla="*/ 243 w 334"/>
                    <a:gd name="T9" fmla="*/ 18 h 25"/>
                    <a:gd name="T10" fmla="*/ 276 w 334"/>
                    <a:gd name="T11" fmla="*/ 12 h 25"/>
                    <a:gd name="T12" fmla="*/ 334 w 334"/>
                    <a:gd name="T13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4" h="25">
                      <a:moveTo>
                        <a:pt x="0" y="17"/>
                      </a:moveTo>
                      <a:lnTo>
                        <a:pt x="104" y="25"/>
                      </a:lnTo>
                      <a:lnTo>
                        <a:pt x="142" y="9"/>
                      </a:lnTo>
                      <a:lnTo>
                        <a:pt x="207" y="8"/>
                      </a:lnTo>
                      <a:lnTo>
                        <a:pt x="243" y="18"/>
                      </a:lnTo>
                      <a:lnTo>
                        <a:pt x="276" y="12"/>
                      </a:lnTo>
                      <a:lnTo>
                        <a:pt x="334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67" name="Freeform 317"/>
                <p:cNvSpPr>
                  <a:spLocks/>
                </p:cNvSpPr>
                <p:nvPr/>
              </p:nvSpPr>
              <p:spPr bwMode="auto">
                <a:xfrm>
                  <a:off x="1255" y="2663"/>
                  <a:ext cx="54" cy="35"/>
                </a:xfrm>
                <a:custGeom>
                  <a:avLst/>
                  <a:gdLst>
                    <a:gd name="T0" fmla="*/ 0 w 109"/>
                    <a:gd name="T1" fmla="*/ 69 h 69"/>
                    <a:gd name="T2" fmla="*/ 20 w 109"/>
                    <a:gd name="T3" fmla="*/ 54 h 69"/>
                    <a:gd name="T4" fmla="*/ 47 w 109"/>
                    <a:gd name="T5" fmla="*/ 44 h 69"/>
                    <a:gd name="T6" fmla="*/ 66 w 109"/>
                    <a:gd name="T7" fmla="*/ 39 h 69"/>
                    <a:gd name="T8" fmla="*/ 84 w 109"/>
                    <a:gd name="T9" fmla="*/ 32 h 69"/>
                    <a:gd name="T10" fmla="*/ 99 w 109"/>
                    <a:gd name="T11" fmla="*/ 15 h 69"/>
                    <a:gd name="T12" fmla="*/ 109 w 109"/>
                    <a:gd name="T13" fmla="*/ 0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9" h="69">
                      <a:moveTo>
                        <a:pt x="0" y="69"/>
                      </a:moveTo>
                      <a:lnTo>
                        <a:pt x="20" y="54"/>
                      </a:lnTo>
                      <a:lnTo>
                        <a:pt x="47" y="44"/>
                      </a:lnTo>
                      <a:lnTo>
                        <a:pt x="66" y="39"/>
                      </a:lnTo>
                      <a:lnTo>
                        <a:pt x="84" y="32"/>
                      </a:lnTo>
                      <a:lnTo>
                        <a:pt x="99" y="15"/>
                      </a:lnTo>
                      <a:lnTo>
                        <a:pt x="109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68" name="Freeform 318"/>
                <p:cNvSpPr>
                  <a:spLocks/>
                </p:cNvSpPr>
                <p:nvPr/>
              </p:nvSpPr>
              <p:spPr bwMode="auto">
                <a:xfrm>
                  <a:off x="1360" y="2605"/>
                  <a:ext cx="148" cy="116"/>
                </a:xfrm>
                <a:custGeom>
                  <a:avLst/>
                  <a:gdLst>
                    <a:gd name="T0" fmla="*/ 113 w 297"/>
                    <a:gd name="T1" fmla="*/ 0 h 232"/>
                    <a:gd name="T2" fmla="*/ 67 w 297"/>
                    <a:gd name="T3" fmla="*/ 18 h 232"/>
                    <a:gd name="T4" fmla="*/ 39 w 297"/>
                    <a:gd name="T5" fmla="*/ 29 h 232"/>
                    <a:gd name="T6" fmla="*/ 17 w 297"/>
                    <a:gd name="T7" fmla="*/ 47 h 232"/>
                    <a:gd name="T8" fmla="*/ 0 w 297"/>
                    <a:gd name="T9" fmla="*/ 61 h 232"/>
                    <a:gd name="T10" fmla="*/ 4 w 297"/>
                    <a:gd name="T11" fmla="*/ 90 h 232"/>
                    <a:gd name="T12" fmla="*/ 16 w 297"/>
                    <a:gd name="T13" fmla="*/ 122 h 232"/>
                    <a:gd name="T14" fmla="*/ 58 w 297"/>
                    <a:gd name="T15" fmla="*/ 129 h 232"/>
                    <a:gd name="T16" fmla="*/ 104 w 297"/>
                    <a:gd name="T17" fmla="*/ 133 h 232"/>
                    <a:gd name="T18" fmla="*/ 131 w 297"/>
                    <a:gd name="T19" fmla="*/ 142 h 232"/>
                    <a:gd name="T20" fmla="*/ 169 w 297"/>
                    <a:gd name="T21" fmla="*/ 155 h 232"/>
                    <a:gd name="T22" fmla="*/ 200 w 297"/>
                    <a:gd name="T23" fmla="*/ 164 h 232"/>
                    <a:gd name="T24" fmla="*/ 247 w 297"/>
                    <a:gd name="T25" fmla="*/ 171 h 232"/>
                    <a:gd name="T26" fmla="*/ 226 w 297"/>
                    <a:gd name="T27" fmla="*/ 201 h 232"/>
                    <a:gd name="T28" fmla="*/ 209 w 297"/>
                    <a:gd name="T29" fmla="*/ 225 h 232"/>
                    <a:gd name="T30" fmla="*/ 258 w 297"/>
                    <a:gd name="T31" fmla="*/ 232 h 232"/>
                    <a:gd name="T32" fmla="*/ 297 w 297"/>
                    <a:gd name="T33" fmla="*/ 228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97" h="232">
                      <a:moveTo>
                        <a:pt x="113" y="0"/>
                      </a:moveTo>
                      <a:lnTo>
                        <a:pt x="67" y="18"/>
                      </a:lnTo>
                      <a:lnTo>
                        <a:pt x="39" y="29"/>
                      </a:lnTo>
                      <a:lnTo>
                        <a:pt x="17" y="47"/>
                      </a:lnTo>
                      <a:lnTo>
                        <a:pt x="0" y="61"/>
                      </a:lnTo>
                      <a:lnTo>
                        <a:pt x="4" y="90"/>
                      </a:lnTo>
                      <a:lnTo>
                        <a:pt x="16" y="122"/>
                      </a:lnTo>
                      <a:lnTo>
                        <a:pt x="58" y="129"/>
                      </a:lnTo>
                      <a:lnTo>
                        <a:pt x="104" y="133"/>
                      </a:lnTo>
                      <a:lnTo>
                        <a:pt x="131" y="142"/>
                      </a:lnTo>
                      <a:lnTo>
                        <a:pt x="169" y="155"/>
                      </a:lnTo>
                      <a:lnTo>
                        <a:pt x="200" y="164"/>
                      </a:lnTo>
                      <a:lnTo>
                        <a:pt x="247" y="171"/>
                      </a:lnTo>
                      <a:lnTo>
                        <a:pt x="226" y="201"/>
                      </a:lnTo>
                      <a:lnTo>
                        <a:pt x="209" y="225"/>
                      </a:lnTo>
                      <a:lnTo>
                        <a:pt x="258" y="232"/>
                      </a:lnTo>
                      <a:lnTo>
                        <a:pt x="297" y="22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69" name="Freeform 319"/>
                <p:cNvSpPr>
                  <a:spLocks/>
                </p:cNvSpPr>
                <p:nvPr/>
              </p:nvSpPr>
              <p:spPr bwMode="auto">
                <a:xfrm>
                  <a:off x="1443" y="2613"/>
                  <a:ext cx="537" cy="123"/>
                </a:xfrm>
                <a:custGeom>
                  <a:avLst/>
                  <a:gdLst>
                    <a:gd name="T0" fmla="*/ 149 w 1074"/>
                    <a:gd name="T1" fmla="*/ 0 h 246"/>
                    <a:gd name="T2" fmla="*/ 93 w 1074"/>
                    <a:gd name="T3" fmla="*/ 2 h 246"/>
                    <a:gd name="T4" fmla="*/ 51 w 1074"/>
                    <a:gd name="T5" fmla="*/ 8 h 246"/>
                    <a:gd name="T6" fmla="*/ 22 w 1074"/>
                    <a:gd name="T7" fmla="*/ 20 h 246"/>
                    <a:gd name="T8" fmla="*/ 8 w 1074"/>
                    <a:gd name="T9" fmla="*/ 39 h 246"/>
                    <a:gd name="T10" fmla="*/ 0 w 1074"/>
                    <a:gd name="T11" fmla="*/ 60 h 246"/>
                    <a:gd name="T12" fmla="*/ 8 w 1074"/>
                    <a:gd name="T13" fmla="*/ 79 h 246"/>
                    <a:gd name="T14" fmla="*/ 26 w 1074"/>
                    <a:gd name="T15" fmla="*/ 88 h 246"/>
                    <a:gd name="T16" fmla="*/ 63 w 1074"/>
                    <a:gd name="T17" fmla="*/ 97 h 246"/>
                    <a:gd name="T18" fmla="*/ 88 w 1074"/>
                    <a:gd name="T19" fmla="*/ 99 h 246"/>
                    <a:gd name="T20" fmla="*/ 113 w 1074"/>
                    <a:gd name="T21" fmla="*/ 98 h 246"/>
                    <a:gd name="T22" fmla="*/ 128 w 1074"/>
                    <a:gd name="T23" fmla="*/ 99 h 246"/>
                    <a:gd name="T24" fmla="*/ 134 w 1074"/>
                    <a:gd name="T25" fmla="*/ 115 h 246"/>
                    <a:gd name="T26" fmla="*/ 135 w 1074"/>
                    <a:gd name="T27" fmla="*/ 130 h 246"/>
                    <a:gd name="T28" fmla="*/ 160 w 1074"/>
                    <a:gd name="T29" fmla="*/ 137 h 246"/>
                    <a:gd name="T30" fmla="*/ 228 w 1074"/>
                    <a:gd name="T31" fmla="*/ 149 h 246"/>
                    <a:gd name="T32" fmla="*/ 243 w 1074"/>
                    <a:gd name="T33" fmla="*/ 144 h 246"/>
                    <a:gd name="T34" fmla="*/ 262 w 1074"/>
                    <a:gd name="T35" fmla="*/ 140 h 246"/>
                    <a:gd name="T36" fmla="*/ 288 w 1074"/>
                    <a:gd name="T37" fmla="*/ 146 h 246"/>
                    <a:gd name="T38" fmla="*/ 312 w 1074"/>
                    <a:gd name="T39" fmla="*/ 151 h 246"/>
                    <a:gd name="T40" fmla="*/ 336 w 1074"/>
                    <a:gd name="T41" fmla="*/ 155 h 246"/>
                    <a:gd name="T42" fmla="*/ 334 w 1074"/>
                    <a:gd name="T43" fmla="*/ 171 h 246"/>
                    <a:gd name="T44" fmla="*/ 324 w 1074"/>
                    <a:gd name="T45" fmla="*/ 189 h 246"/>
                    <a:gd name="T46" fmla="*/ 368 w 1074"/>
                    <a:gd name="T47" fmla="*/ 207 h 246"/>
                    <a:gd name="T48" fmla="*/ 483 w 1074"/>
                    <a:gd name="T49" fmla="*/ 246 h 246"/>
                    <a:gd name="T50" fmla="*/ 621 w 1074"/>
                    <a:gd name="T51" fmla="*/ 241 h 246"/>
                    <a:gd name="T52" fmla="*/ 841 w 1074"/>
                    <a:gd name="T53" fmla="*/ 218 h 246"/>
                    <a:gd name="T54" fmla="*/ 879 w 1074"/>
                    <a:gd name="T55" fmla="*/ 188 h 246"/>
                    <a:gd name="T56" fmla="*/ 972 w 1074"/>
                    <a:gd name="T57" fmla="*/ 184 h 246"/>
                    <a:gd name="T58" fmla="*/ 1074 w 1074"/>
                    <a:gd name="T59" fmla="*/ 200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74" h="246">
                      <a:moveTo>
                        <a:pt x="149" y="0"/>
                      </a:moveTo>
                      <a:lnTo>
                        <a:pt x="93" y="2"/>
                      </a:lnTo>
                      <a:lnTo>
                        <a:pt x="51" y="8"/>
                      </a:lnTo>
                      <a:lnTo>
                        <a:pt x="22" y="20"/>
                      </a:lnTo>
                      <a:lnTo>
                        <a:pt x="8" y="39"/>
                      </a:lnTo>
                      <a:lnTo>
                        <a:pt x="0" y="60"/>
                      </a:lnTo>
                      <a:lnTo>
                        <a:pt x="8" y="79"/>
                      </a:lnTo>
                      <a:lnTo>
                        <a:pt x="26" y="88"/>
                      </a:lnTo>
                      <a:lnTo>
                        <a:pt x="63" y="97"/>
                      </a:lnTo>
                      <a:lnTo>
                        <a:pt x="88" y="99"/>
                      </a:lnTo>
                      <a:lnTo>
                        <a:pt x="113" y="98"/>
                      </a:lnTo>
                      <a:lnTo>
                        <a:pt x="128" y="99"/>
                      </a:lnTo>
                      <a:lnTo>
                        <a:pt x="134" y="115"/>
                      </a:lnTo>
                      <a:lnTo>
                        <a:pt x="135" y="130"/>
                      </a:lnTo>
                      <a:lnTo>
                        <a:pt x="160" y="137"/>
                      </a:lnTo>
                      <a:lnTo>
                        <a:pt x="228" y="149"/>
                      </a:lnTo>
                      <a:lnTo>
                        <a:pt x="243" y="144"/>
                      </a:lnTo>
                      <a:lnTo>
                        <a:pt x="262" y="140"/>
                      </a:lnTo>
                      <a:lnTo>
                        <a:pt x="288" y="146"/>
                      </a:lnTo>
                      <a:lnTo>
                        <a:pt x="312" y="151"/>
                      </a:lnTo>
                      <a:lnTo>
                        <a:pt x="336" y="155"/>
                      </a:lnTo>
                      <a:lnTo>
                        <a:pt x="334" y="171"/>
                      </a:lnTo>
                      <a:lnTo>
                        <a:pt x="324" y="189"/>
                      </a:lnTo>
                      <a:lnTo>
                        <a:pt x="368" y="207"/>
                      </a:lnTo>
                      <a:lnTo>
                        <a:pt x="483" y="246"/>
                      </a:lnTo>
                      <a:lnTo>
                        <a:pt x="621" y="241"/>
                      </a:lnTo>
                      <a:lnTo>
                        <a:pt x="841" y="218"/>
                      </a:lnTo>
                      <a:lnTo>
                        <a:pt x="879" y="188"/>
                      </a:lnTo>
                      <a:lnTo>
                        <a:pt x="972" y="184"/>
                      </a:lnTo>
                      <a:lnTo>
                        <a:pt x="1074" y="20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0" name="Freeform 320"/>
                <p:cNvSpPr>
                  <a:spLocks/>
                </p:cNvSpPr>
                <p:nvPr/>
              </p:nvSpPr>
              <p:spPr bwMode="auto">
                <a:xfrm>
                  <a:off x="1902" y="2707"/>
                  <a:ext cx="373" cy="41"/>
                </a:xfrm>
                <a:custGeom>
                  <a:avLst/>
                  <a:gdLst>
                    <a:gd name="T0" fmla="*/ 0 w 746"/>
                    <a:gd name="T1" fmla="*/ 75 h 82"/>
                    <a:gd name="T2" fmla="*/ 25 w 746"/>
                    <a:gd name="T3" fmla="*/ 65 h 82"/>
                    <a:gd name="T4" fmla="*/ 53 w 746"/>
                    <a:gd name="T5" fmla="*/ 58 h 82"/>
                    <a:gd name="T6" fmla="*/ 94 w 746"/>
                    <a:gd name="T7" fmla="*/ 69 h 82"/>
                    <a:gd name="T8" fmla="*/ 142 w 746"/>
                    <a:gd name="T9" fmla="*/ 82 h 82"/>
                    <a:gd name="T10" fmla="*/ 192 w 746"/>
                    <a:gd name="T11" fmla="*/ 76 h 82"/>
                    <a:gd name="T12" fmla="*/ 230 w 746"/>
                    <a:gd name="T13" fmla="*/ 74 h 82"/>
                    <a:gd name="T14" fmla="*/ 250 w 746"/>
                    <a:gd name="T15" fmla="*/ 68 h 82"/>
                    <a:gd name="T16" fmla="*/ 288 w 746"/>
                    <a:gd name="T17" fmla="*/ 60 h 82"/>
                    <a:gd name="T18" fmla="*/ 323 w 746"/>
                    <a:gd name="T19" fmla="*/ 55 h 82"/>
                    <a:gd name="T20" fmla="*/ 379 w 746"/>
                    <a:gd name="T21" fmla="*/ 59 h 82"/>
                    <a:gd name="T22" fmla="*/ 424 w 746"/>
                    <a:gd name="T23" fmla="*/ 64 h 82"/>
                    <a:gd name="T24" fmla="*/ 444 w 746"/>
                    <a:gd name="T25" fmla="*/ 65 h 82"/>
                    <a:gd name="T26" fmla="*/ 510 w 746"/>
                    <a:gd name="T27" fmla="*/ 47 h 82"/>
                    <a:gd name="T28" fmla="*/ 582 w 746"/>
                    <a:gd name="T29" fmla="*/ 30 h 82"/>
                    <a:gd name="T30" fmla="*/ 662 w 746"/>
                    <a:gd name="T31" fmla="*/ 30 h 82"/>
                    <a:gd name="T32" fmla="*/ 746 w 746"/>
                    <a:gd name="T33" fmla="*/ 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46" h="82">
                      <a:moveTo>
                        <a:pt x="0" y="75"/>
                      </a:moveTo>
                      <a:lnTo>
                        <a:pt x="25" y="65"/>
                      </a:lnTo>
                      <a:lnTo>
                        <a:pt x="53" y="58"/>
                      </a:lnTo>
                      <a:lnTo>
                        <a:pt x="94" y="69"/>
                      </a:lnTo>
                      <a:lnTo>
                        <a:pt x="142" y="82"/>
                      </a:lnTo>
                      <a:lnTo>
                        <a:pt x="192" y="76"/>
                      </a:lnTo>
                      <a:lnTo>
                        <a:pt x="230" y="74"/>
                      </a:lnTo>
                      <a:lnTo>
                        <a:pt x="250" y="68"/>
                      </a:lnTo>
                      <a:lnTo>
                        <a:pt x="288" y="60"/>
                      </a:lnTo>
                      <a:lnTo>
                        <a:pt x="323" y="55"/>
                      </a:lnTo>
                      <a:lnTo>
                        <a:pt x="379" y="59"/>
                      </a:lnTo>
                      <a:lnTo>
                        <a:pt x="424" y="64"/>
                      </a:lnTo>
                      <a:lnTo>
                        <a:pt x="444" y="65"/>
                      </a:lnTo>
                      <a:lnTo>
                        <a:pt x="510" y="47"/>
                      </a:lnTo>
                      <a:lnTo>
                        <a:pt x="582" y="30"/>
                      </a:lnTo>
                      <a:lnTo>
                        <a:pt x="662" y="30"/>
                      </a:lnTo>
                      <a:lnTo>
                        <a:pt x="746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1" name="Freeform 321"/>
                <p:cNvSpPr>
                  <a:spLocks/>
                </p:cNvSpPr>
                <p:nvPr/>
              </p:nvSpPr>
              <p:spPr bwMode="auto">
                <a:xfrm>
                  <a:off x="2067" y="2609"/>
                  <a:ext cx="264" cy="98"/>
                </a:xfrm>
                <a:custGeom>
                  <a:avLst/>
                  <a:gdLst>
                    <a:gd name="T0" fmla="*/ 0 w 528"/>
                    <a:gd name="T1" fmla="*/ 197 h 197"/>
                    <a:gd name="T2" fmla="*/ 62 w 528"/>
                    <a:gd name="T3" fmla="*/ 188 h 197"/>
                    <a:gd name="T4" fmla="*/ 101 w 528"/>
                    <a:gd name="T5" fmla="*/ 183 h 197"/>
                    <a:gd name="T6" fmla="*/ 153 w 528"/>
                    <a:gd name="T7" fmla="*/ 169 h 197"/>
                    <a:gd name="T8" fmla="*/ 232 w 528"/>
                    <a:gd name="T9" fmla="*/ 164 h 197"/>
                    <a:gd name="T10" fmla="*/ 324 w 528"/>
                    <a:gd name="T11" fmla="*/ 151 h 197"/>
                    <a:gd name="T12" fmla="*/ 389 w 528"/>
                    <a:gd name="T13" fmla="*/ 143 h 197"/>
                    <a:gd name="T14" fmla="*/ 434 w 528"/>
                    <a:gd name="T15" fmla="*/ 120 h 197"/>
                    <a:gd name="T16" fmla="*/ 462 w 528"/>
                    <a:gd name="T17" fmla="*/ 112 h 197"/>
                    <a:gd name="T18" fmla="*/ 479 w 528"/>
                    <a:gd name="T19" fmla="*/ 107 h 197"/>
                    <a:gd name="T20" fmla="*/ 520 w 528"/>
                    <a:gd name="T21" fmla="*/ 71 h 197"/>
                    <a:gd name="T22" fmla="*/ 527 w 528"/>
                    <a:gd name="T23" fmla="*/ 55 h 197"/>
                    <a:gd name="T24" fmla="*/ 528 w 528"/>
                    <a:gd name="T25" fmla="*/ 40 h 197"/>
                    <a:gd name="T26" fmla="*/ 522 w 528"/>
                    <a:gd name="T27" fmla="*/ 31 h 197"/>
                    <a:gd name="T28" fmla="*/ 510 w 528"/>
                    <a:gd name="T29" fmla="*/ 22 h 197"/>
                    <a:gd name="T30" fmla="*/ 486 w 528"/>
                    <a:gd name="T31" fmla="*/ 22 h 197"/>
                    <a:gd name="T32" fmla="*/ 458 w 528"/>
                    <a:gd name="T33" fmla="*/ 9 h 197"/>
                    <a:gd name="T34" fmla="*/ 419 w 528"/>
                    <a:gd name="T35" fmla="*/ 0 h 197"/>
                    <a:gd name="T36" fmla="*/ 370 w 528"/>
                    <a:gd name="T37" fmla="*/ 0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28" h="197">
                      <a:moveTo>
                        <a:pt x="0" y="197"/>
                      </a:moveTo>
                      <a:lnTo>
                        <a:pt x="62" y="188"/>
                      </a:lnTo>
                      <a:lnTo>
                        <a:pt x="101" y="183"/>
                      </a:lnTo>
                      <a:lnTo>
                        <a:pt x="153" y="169"/>
                      </a:lnTo>
                      <a:lnTo>
                        <a:pt x="232" y="164"/>
                      </a:lnTo>
                      <a:lnTo>
                        <a:pt x="324" y="151"/>
                      </a:lnTo>
                      <a:lnTo>
                        <a:pt x="389" y="143"/>
                      </a:lnTo>
                      <a:lnTo>
                        <a:pt x="434" y="120"/>
                      </a:lnTo>
                      <a:lnTo>
                        <a:pt x="462" y="112"/>
                      </a:lnTo>
                      <a:lnTo>
                        <a:pt x="479" y="107"/>
                      </a:lnTo>
                      <a:lnTo>
                        <a:pt x="520" y="71"/>
                      </a:lnTo>
                      <a:lnTo>
                        <a:pt x="527" y="55"/>
                      </a:lnTo>
                      <a:lnTo>
                        <a:pt x="528" y="40"/>
                      </a:lnTo>
                      <a:lnTo>
                        <a:pt x="522" y="31"/>
                      </a:lnTo>
                      <a:lnTo>
                        <a:pt x="510" y="22"/>
                      </a:lnTo>
                      <a:lnTo>
                        <a:pt x="486" y="22"/>
                      </a:lnTo>
                      <a:lnTo>
                        <a:pt x="458" y="9"/>
                      </a:lnTo>
                      <a:lnTo>
                        <a:pt x="419" y="0"/>
                      </a:lnTo>
                      <a:lnTo>
                        <a:pt x="370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2" name="Freeform 322"/>
                <p:cNvSpPr>
                  <a:spLocks/>
                </p:cNvSpPr>
                <p:nvPr/>
              </p:nvSpPr>
              <p:spPr bwMode="auto">
                <a:xfrm>
                  <a:off x="2343" y="2598"/>
                  <a:ext cx="70" cy="93"/>
                </a:xfrm>
                <a:custGeom>
                  <a:avLst/>
                  <a:gdLst>
                    <a:gd name="T0" fmla="*/ 32 w 141"/>
                    <a:gd name="T1" fmla="*/ 185 h 185"/>
                    <a:gd name="T2" fmla="*/ 74 w 141"/>
                    <a:gd name="T3" fmla="*/ 154 h 185"/>
                    <a:gd name="T4" fmla="*/ 116 w 141"/>
                    <a:gd name="T5" fmla="*/ 127 h 185"/>
                    <a:gd name="T6" fmla="*/ 107 w 141"/>
                    <a:gd name="T7" fmla="*/ 110 h 185"/>
                    <a:gd name="T8" fmla="*/ 101 w 141"/>
                    <a:gd name="T9" fmla="*/ 86 h 185"/>
                    <a:gd name="T10" fmla="*/ 118 w 141"/>
                    <a:gd name="T11" fmla="*/ 60 h 185"/>
                    <a:gd name="T12" fmla="*/ 141 w 141"/>
                    <a:gd name="T13" fmla="*/ 39 h 185"/>
                    <a:gd name="T14" fmla="*/ 111 w 141"/>
                    <a:gd name="T15" fmla="*/ 22 h 185"/>
                    <a:gd name="T16" fmla="*/ 70 w 141"/>
                    <a:gd name="T17" fmla="*/ 0 h 185"/>
                    <a:gd name="T18" fmla="*/ 0 w 141"/>
                    <a:gd name="T19" fmla="*/ 6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1" h="185">
                      <a:moveTo>
                        <a:pt x="32" y="185"/>
                      </a:moveTo>
                      <a:lnTo>
                        <a:pt x="74" y="154"/>
                      </a:lnTo>
                      <a:lnTo>
                        <a:pt x="116" y="127"/>
                      </a:lnTo>
                      <a:lnTo>
                        <a:pt x="107" y="110"/>
                      </a:lnTo>
                      <a:lnTo>
                        <a:pt x="101" y="86"/>
                      </a:lnTo>
                      <a:lnTo>
                        <a:pt x="118" y="60"/>
                      </a:lnTo>
                      <a:lnTo>
                        <a:pt x="141" y="39"/>
                      </a:lnTo>
                      <a:lnTo>
                        <a:pt x="111" y="22"/>
                      </a:lnTo>
                      <a:lnTo>
                        <a:pt x="70" y="0"/>
                      </a:lnTo>
                      <a:lnTo>
                        <a:pt x="0" y="6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3" name="Freeform 323"/>
                <p:cNvSpPr>
                  <a:spLocks/>
                </p:cNvSpPr>
                <p:nvPr/>
              </p:nvSpPr>
              <p:spPr bwMode="auto">
                <a:xfrm>
                  <a:off x="2509" y="2676"/>
                  <a:ext cx="155" cy="10"/>
                </a:xfrm>
                <a:custGeom>
                  <a:avLst/>
                  <a:gdLst>
                    <a:gd name="T0" fmla="*/ 0 w 309"/>
                    <a:gd name="T1" fmla="*/ 4 h 20"/>
                    <a:gd name="T2" fmla="*/ 32 w 309"/>
                    <a:gd name="T3" fmla="*/ 0 h 20"/>
                    <a:gd name="T4" fmla="*/ 54 w 309"/>
                    <a:gd name="T5" fmla="*/ 5 h 20"/>
                    <a:gd name="T6" fmla="*/ 116 w 309"/>
                    <a:gd name="T7" fmla="*/ 20 h 20"/>
                    <a:gd name="T8" fmla="*/ 144 w 309"/>
                    <a:gd name="T9" fmla="*/ 17 h 20"/>
                    <a:gd name="T10" fmla="*/ 176 w 309"/>
                    <a:gd name="T11" fmla="*/ 14 h 20"/>
                    <a:gd name="T12" fmla="*/ 309 w 309"/>
                    <a:gd name="T13" fmla="*/ 1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9" h="20">
                      <a:moveTo>
                        <a:pt x="0" y="4"/>
                      </a:moveTo>
                      <a:lnTo>
                        <a:pt x="32" y="0"/>
                      </a:lnTo>
                      <a:lnTo>
                        <a:pt x="54" y="5"/>
                      </a:lnTo>
                      <a:lnTo>
                        <a:pt x="116" y="20"/>
                      </a:lnTo>
                      <a:lnTo>
                        <a:pt x="144" y="17"/>
                      </a:lnTo>
                      <a:lnTo>
                        <a:pt x="176" y="14"/>
                      </a:lnTo>
                      <a:lnTo>
                        <a:pt x="309" y="1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4" name="Freeform 324"/>
                <p:cNvSpPr>
                  <a:spLocks/>
                </p:cNvSpPr>
                <p:nvPr/>
              </p:nvSpPr>
              <p:spPr bwMode="auto">
                <a:xfrm>
                  <a:off x="2471" y="2690"/>
                  <a:ext cx="164" cy="16"/>
                </a:xfrm>
                <a:custGeom>
                  <a:avLst/>
                  <a:gdLst>
                    <a:gd name="T0" fmla="*/ 0 w 328"/>
                    <a:gd name="T1" fmla="*/ 6 h 32"/>
                    <a:gd name="T2" fmla="*/ 34 w 328"/>
                    <a:gd name="T3" fmla="*/ 0 h 32"/>
                    <a:gd name="T4" fmla="*/ 70 w 328"/>
                    <a:gd name="T5" fmla="*/ 1 h 32"/>
                    <a:gd name="T6" fmla="*/ 99 w 328"/>
                    <a:gd name="T7" fmla="*/ 11 h 32"/>
                    <a:gd name="T8" fmla="*/ 121 w 328"/>
                    <a:gd name="T9" fmla="*/ 19 h 32"/>
                    <a:gd name="T10" fmla="*/ 149 w 328"/>
                    <a:gd name="T11" fmla="*/ 14 h 32"/>
                    <a:gd name="T12" fmla="*/ 195 w 328"/>
                    <a:gd name="T13" fmla="*/ 12 h 32"/>
                    <a:gd name="T14" fmla="*/ 238 w 328"/>
                    <a:gd name="T15" fmla="*/ 17 h 32"/>
                    <a:gd name="T16" fmla="*/ 277 w 328"/>
                    <a:gd name="T17" fmla="*/ 26 h 32"/>
                    <a:gd name="T18" fmla="*/ 309 w 328"/>
                    <a:gd name="T19" fmla="*/ 29 h 32"/>
                    <a:gd name="T20" fmla="*/ 328 w 328"/>
                    <a:gd name="T2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28" h="32">
                      <a:moveTo>
                        <a:pt x="0" y="6"/>
                      </a:moveTo>
                      <a:lnTo>
                        <a:pt x="34" y="0"/>
                      </a:lnTo>
                      <a:lnTo>
                        <a:pt x="70" y="1"/>
                      </a:lnTo>
                      <a:lnTo>
                        <a:pt x="99" y="11"/>
                      </a:lnTo>
                      <a:lnTo>
                        <a:pt x="121" y="19"/>
                      </a:lnTo>
                      <a:lnTo>
                        <a:pt x="149" y="14"/>
                      </a:lnTo>
                      <a:lnTo>
                        <a:pt x="195" y="12"/>
                      </a:lnTo>
                      <a:lnTo>
                        <a:pt x="238" y="17"/>
                      </a:lnTo>
                      <a:lnTo>
                        <a:pt x="277" y="26"/>
                      </a:lnTo>
                      <a:lnTo>
                        <a:pt x="309" y="29"/>
                      </a:lnTo>
                      <a:lnTo>
                        <a:pt x="328" y="32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5" name="Freeform 325"/>
                <p:cNvSpPr>
                  <a:spLocks/>
                </p:cNvSpPr>
                <p:nvPr/>
              </p:nvSpPr>
              <p:spPr bwMode="auto">
                <a:xfrm>
                  <a:off x="2493" y="2707"/>
                  <a:ext cx="207" cy="125"/>
                </a:xfrm>
                <a:custGeom>
                  <a:avLst/>
                  <a:gdLst>
                    <a:gd name="T0" fmla="*/ 0 w 414"/>
                    <a:gd name="T1" fmla="*/ 0 h 248"/>
                    <a:gd name="T2" fmla="*/ 58 w 414"/>
                    <a:gd name="T3" fmla="*/ 27 h 248"/>
                    <a:gd name="T4" fmla="*/ 92 w 414"/>
                    <a:gd name="T5" fmla="*/ 42 h 248"/>
                    <a:gd name="T6" fmla="*/ 116 w 414"/>
                    <a:gd name="T7" fmla="*/ 58 h 248"/>
                    <a:gd name="T8" fmla="*/ 149 w 414"/>
                    <a:gd name="T9" fmla="*/ 77 h 248"/>
                    <a:gd name="T10" fmla="*/ 176 w 414"/>
                    <a:gd name="T11" fmla="*/ 105 h 248"/>
                    <a:gd name="T12" fmla="*/ 218 w 414"/>
                    <a:gd name="T13" fmla="*/ 142 h 248"/>
                    <a:gd name="T14" fmla="*/ 262 w 414"/>
                    <a:gd name="T15" fmla="*/ 153 h 248"/>
                    <a:gd name="T16" fmla="*/ 305 w 414"/>
                    <a:gd name="T17" fmla="*/ 163 h 248"/>
                    <a:gd name="T18" fmla="*/ 342 w 414"/>
                    <a:gd name="T19" fmla="*/ 201 h 248"/>
                    <a:gd name="T20" fmla="*/ 414 w 414"/>
                    <a:gd name="T21" fmla="*/ 248 h 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14" h="248">
                      <a:moveTo>
                        <a:pt x="0" y="0"/>
                      </a:moveTo>
                      <a:lnTo>
                        <a:pt x="58" y="27"/>
                      </a:lnTo>
                      <a:lnTo>
                        <a:pt x="92" y="42"/>
                      </a:lnTo>
                      <a:lnTo>
                        <a:pt x="116" y="58"/>
                      </a:lnTo>
                      <a:lnTo>
                        <a:pt x="149" y="77"/>
                      </a:lnTo>
                      <a:lnTo>
                        <a:pt x="176" y="105"/>
                      </a:lnTo>
                      <a:lnTo>
                        <a:pt x="218" y="142"/>
                      </a:lnTo>
                      <a:lnTo>
                        <a:pt x="262" y="153"/>
                      </a:lnTo>
                      <a:lnTo>
                        <a:pt x="305" y="163"/>
                      </a:lnTo>
                      <a:lnTo>
                        <a:pt x="342" y="201"/>
                      </a:lnTo>
                      <a:lnTo>
                        <a:pt x="414" y="24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76" name="Freeform 326"/>
                <p:cNvSpPr>
                  <a:spLocks/>
                </p:cNvSpPr>
                <p:nvPr/>
              </p:nvSpPr>
              <p:spPr bwMode="auto">
                <a:xfrm>
                  <a:off x="2724" y="2765"/>
                  <a:ext cx="103" cy="42"/>
                </a:xfrm>
                <a:custGeom>
                  <a:avLst/>
                  <a:gdLst>
                    <a:gd name="T0" fmla="*/ 0 w 208"/>
                    <a:gd name="T1" fmla="*/ 57 h 84"/>
                    <a:gd name="T2" fmla="*/ 28 w 208"/>
                    <a:gd name="T3" fmla="*/ 59 h 84"/>
                    <a:gd name="T4" fmla="*/ 55 w 208"/>
                    <a:gd name="T5" fmla="*/ 63 h 84"/>
                    <a:gd name="T6" fmla="*/ 82 w 208"/>
                    <a:gd name="T7" fmla="*/ 67 h 84"/>
                    <a:gd name="T8" fmla="*/ 117 w 208"/>
                    <a:gd name="T9" fmla="*/ 69 h 84"/>
                    <a:gd name="T10" fmla="*/ 164 w 208"/>
                    <a:gd name="T11" fmla="*/ 84 h 84"/>
                    <a:gd name="T12" fmla="*/ 177 w 208"/>
                    <a:gd name="T13" fmla="*/ 79 h 84"/>
                    <a:gd name="T14" fmla="*/ 196 w 208"/>
                    <a:gd name="T15" fmla="*/ 73 h 84"/>
                    <a:gd name="T16" fmla="*/ 204 w 208"/>
                    <a:gd name="T17" fmla="*/ 64 h 84"/>
                    <a:gd name="T18" fmla="*/ 208 w 208"/>
                    <a:gd name="T19" fmla="*/ 45 h 84"/>
                    <a:gd name="T20" fmla="*/ 204 w 208"/>
                    <a:gd name="T21" fmla="*/ 29 h 84"/>
                    <a:gd name="T22" fmla="*/ 198 w 208"/>
                    <a:gd name="T23" fmla="*/ 16 h 84"/>
                    <a:gd name="T24" fmla="*/ 187 w 208"/>
                    <a:gd name="T25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8" h="84">
                      <a:moveTo>
                        <a:pt x="0" y="57"/>
                      </a:moveTo>
                      <a:lnTo>
                        <a:pt x="28" y="59"/>
                      </a:lnTo>
                      <a:lnTo>
                        <a:pt x="55" y="63"/>
                      </a:lnTo>
                      <a:lnTo>
                        <a:pt x="82" y="67"/>
                      </a:lnTo>
                      <a:lnTo>
                        <a:pt x="117" y="69"/>
                      </a:lnTo>
                      <a:lnTo>
                        <a:pt x="164" y="84"/>
                      </a:lnTo>
                      <a:lnTo>
                        <a:pt x="177" y="79"/>
                      </a:lnTo>
                      <a:lnTo>
                        <a:pt x="196" y="73"/>
                      </a:lnTo>
                      <a:lnTo>
                        <a:pt x="204" y="64"/>
                      </a:lnTo>
                      <a:lnTo>
                        <a:pt x="208" y="45"/>
                      </a:lnTo>
                      <a:lnTo>
                        <a:pt x="204" y="29"/>
                      </a:lnTo>
                      <a:lnTo>
                        <a:pt x="198" y="16"/>
                      </a:lnTo>
                      <a:lnTo>
                        <a:pt x="187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46" name="Group 327"/>
            <p:cNvGrpSpPr>
              <a:grpSpLocks/>
            </p:cNvGrpSpPr>
            <p:nvPr/>
          </p:nvGrpSpPr>
          <p:grpSpPr bwMode="auto">
            <a:xfrm>
              <a:off x="2865" y="2448"/>
              <a:ext cx="591" cy="240"/>
              <a:chOff x="1490" y="1892"/>
              <a:chExt cx="781" cy="806"/>
            </a:xfrm>
          </p:grpSpPr>
          <p:grpSp>
            <p:nvGrpSpPr>
              <p:cNvPr id="137" name="Group 328"/>
              <p:cNvGrpSpPr>
                <a:grpSpLocks/>
              </p:cNvGrpSpPr>
              <p:nvPr/>
            </p:nvGrpSpPr>
            <p:grpSpPr bwMode="auto">
              <a:xfrm>
                <a:off x="1490" y="1892"/>
                <a:ext cx="781" cy="775"/>
                <a:chOff x="1490" y="1892"/>
                <a:chExt cx="781" cy="775"/>
              </a:xfrm>
            </p:grpSpPr>
            <p:grpSp>
              <p:nvGrpSpPr>
                <p:cNvPr id="145" name="Group 329"/>
                <p:cNvGrpSpPr>
                  <a:grpSpLocks/>
                </p:cNvGrpSpPr>
                <p:nvPr/>
              </p:nvGrpSpPr>
              <p:grpSpPr bwMode="auto">
                <a:xfrm>
                  <a:off x="1537" y="1943"/>
                  <a:ext cx="705" cy="724"/>
                  <a:chOff x="1537" y="1943"/>
                  <a:chExt cx="705" cy="724"/>
                </a:xfrm>
              </p:grpSpPr>
              <p:grpSp>
                <p:nvGrpSpPr>
                  <p:cNvPr id="147" name="Group 330"/>
                  <p:cNvGrpSpPr>
                    <a:grpSpLocks/>
                  </p:cNvGrpSpPr>
                  <p:nvPr/>
                </p:nvGrpSpPr>
                <p:grpSpPr bwMode="auto">
                  <a:xfrm>
                    <a:off x="1537" y="1943"/>
                    <a:ext cx="705" cy="724"/>
                    <a:chOff x="1537" y="1943"/>
                    <a:chExt cx="705" cy="724"/>
                  </a:xfrm>
                </p:grpSpPr>
                <p:grpSp>
                  <p:nvGrpSpPr>
                    <p:cNvPr id="157" name="Group 33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7" y="1951"/>
                      <a:ext cx="705" cy="716"/>
                      <a:chOff x="1537" y="1951"/>
                      <a:chExt cx="705" cy="716"/>
                    </a:xfrm>
                  </p:grpSpPr>
                  <p:sp>
                    <p:nvSpPr>
                      <p:cNvPr id="159" name="Freeform 3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7" y="1953"/>
                        <a:ext cx="705" cy="714"/>
                      </a:xfrm>
                      <a:custGeom>
                        <a:avLst/>
                        <a:gdLst>
                          <a:gd name="T0" fmla="*/ 5 w 1410"/>
                          <a:gd name="T1" fmla="*/ 0 h 1430"/>
                          <a:gd name="T2" fmla="*/ 20 w 1410"/>
                          <a:gd name="T3" fmla="*/ 34 h 1430"/>
                          <a:gd name="T4" fmla="*/ 37 w 1410"/>
                          <a:gd name="T5" fmla="*/ 63 h 1430"/>
                          <a:gd name="T6" fmla="*/ 33 w 1410"/>
                          <a:gd name="T7" fmla="*/ 116 h 1430"/>
                          <a:gd name="T8" fmla="*/ 52 w 1410"/>
                          <a:gd name="T9" fmla="*/ 211 h 1430"/>
                          <a:gd name="T10" fmla="*/ 67 w 1410"/>
                          <a:gd name="T11" fmla="*/ 256 h 1430"/>
                          <a:gd name="T12" fmla="*/ 63 w 1410"/>
                          <a:gd name="T13" fmla="*/ 291 h 1430"/>
                          <a:gd name="T14" fmla="*/ 73 w 1410"/>
                          <a:gd name="T15" fmla="*/ 316 h 1430"/>
                          <a:gd name="T16" fmla="*/ 74 w 1410"/>
                          <a:gd name="T17" fmla="*/ 400 h 1430"/>
                          <a:gd name="T18" fmla="*/ 60 w 1410"/>
                          <a:gd name="T19" fmla="*/ 465 h 1430"/>
                          <a:gd name="T20" fmla="*/ 51 w 1410"/>
                          <a:gd name="T21" fmla="*/ 528 h 1430"/>
                          <a:gd name="T22" fmla="*/ 51 w 1410"/>
                          <a:gd name="T23" fmla="*/ 600 h 1430"/>
                          <a:gd name="T24" fmla="*/ 56 w 1410"/>
                          <a:gd name="T25" fmla="*/ 629 h 1430"/>
                          <a:gd name="T26" fmla="*/ 62 w 1410"/>
                          <a:gd name="T27" fmla="*/ 703 h 1430"/>
                          <a:gd name="T28" fmla="*/ 29 w 1410"/>
                          <a:gd name="T29" fmla="*/ 900 h 1430"/>
                          <a:gd name="T30" fmla="*/ 23 w 1410"/>
                          <a:gd name="T31" fmla="*/ 1106 h 1430"/>
                          <a:gd name="T32" fmla="*/ 29 w 1410"/>
                          <a:gd name="T33" fmla="*/ 1249 h 1430"/>
                          <a:gd name="T34" fmla="*/ 0 w 1410"/>
                          <a:gd name="T35" fmla="*/ 1343 h 1430"/>
                          <a:gd name="T36" fmla="*/ 7 w 1410"/>
                          <a:gd name="T37" fmla="*/ 1371 h 1430"/>
                          <a:gd name="T38" fmla="*/ 85 w 1410"/>
                          <a:gd name="T39" fmla="*/ 1364 h 1430"/>
                          <a:gd name="T40" fmla="*/ 194 w 1410"/>
                          <a:gd name="T41" fmla="*/ 1368 h 1430"/>
                          <a:gd name="T42" fmla="*/ 285 w 1410"/>
                          <a:gd name="T43" fmla="*/ 1385 h 1430"/>
                          <a:gd name="T44" fmla="*/ 361 w 1410"/>
                          <a:gd name="T45" fmla="*/ 1394 h 1430"/>
                          <a:gd name="T46" fmla="*/ 467 w 1410"/>
                          <a:gd name="T47" fmla="*/ 1418 h 1430"/>
                          <a:gd name="T48" fmla="*/ 727 w 1410"/>
                          <a:gd name="T49" fmla="*/ 1425 h 1430"/>
                          <a:gd name="T50" fmla="*/ 954 w 1410"/>
                          <a:gd name="T51" fmla="*/ 1425 h 1430"/>
                          <a:gd name="T52" fmla="*/ 1078 w 1410"/>
                          <a:gd name="T53" fmla="*/ 1430 h 1430"/>
                          <a:gd name="T54" fmla="*/ 1278 w 1410"/>
                          <a:gd name="T55" fmla="*/ 1403 h 1430"/>
                          <a:gd name="T56" fmla="*/ 1333 w 1410"/>
                          <a:gd name="T57" fmla="*/ 1396 h 1430"/>
                          <a:gd name="T58" fmla="*/ 1369 w 1410"/>
                          <a:gd name="T59" fmla="*/ 1383 h 1430"/>
                          <a:gd name="T60" fmla="*/ 1399 w 1410"/>
                          <a:gd name="T61" fmla="*/ 1346 h 1430"/>
                          <a:gd name="T62" fmla="*/ 1398 w 1410"/>
                          <a:gd name="T63" fmla="*/ 1323 h 1430"/>
                          <a:gd name="T64" fmla="*/ 1410 w 1410"/>
                          <a:gd name="T65" fmla="*/ 1284 h 1430"/>
                          <a:gd name="T66" fmla="*/ 1398 w 1410"/>
                          <a:gd name="T67" fmla="*/ 1225 h 1430"/>
                          <a:gd name="T68" fmla="*/ 1376 w 1410"/>
                          <a:gd name="T69" fmla="*/ 1160 h 1430"/>
                          <a:gd name="T70" fmla="*/ 1376 w 1410"/>
                          <a:gd name="T71" fmla="*/ 1098 h 1430"/>
                          <a:gd name="T72" fmla="*/ 1367 w 1410"/>
                          <a:gd name="T73" fmla="*/ 1014 h 1430"/>
                          <a:gd name="T74" fmla="*/ 1374 w 1410"/>
                          <a:gd name="T75" fmla="*/ 926 h 1430"/>
                          <a:gd name="T76" fmla="*/ 1359 w 1410"/>
                          <a:gd name="T77" fmla="*/ 852 h 1430"/>
                          <a:gd name="T78" fmla="*/ 1359 w 1410"/>
                          <a:gd name="T79" fmla="*/ 660 h 1430"/>
                          <a:gd name="T80" fmla="*/ 1355 w 1410"/>
                          <a:gd name="T81" fmla="*/ 579 h 1430"/>
                          <a:gd name="T82" fmla="*/ 1362 w 1410"/>
                          <a:gd name="T83" fmla="*/ 515 h 1430"/>
                          <a:gd name="T84" fmla="*/ 1352 w 1410"/>
                          <a:gd name="T85" fmla="*/ 488 h 1430"/>
                          <a:gd name="T86" fmla="*/ 1361 w 1410"/>
                          <a:gd name="T87" fmla="*/ 338 h 1430"/>
                          <a:gd name="T88" fmla="*/ 1351 w 1410"/>
                          <a:gd name="T89" fmla="*/ 302 h 1430"/>
                          <a:gd name="T90" fmla="*/ 1385 w 1410"/>
                          <a:gd name="T91" fmla="*/ 222 h 1430"/>
                          <a:gd name="T92" fmla="*/ 1367 w 1410"/>
                          <a:gd name="T93" fmla="*/ 0 h 1430"/>
                          <a:gd name="T94" fmla="*/ 5 w 1410"/>
                          <a:gd name="T95" fmla="*/ 0 h 14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</a:cxnLst>
                        <a:rect l="0" t="0" r="r" b="b"/>
                        <a:pathLst>
                          <a:path w="1410" h="1430">
                            <a:moveTo>
                              <a:pt x="5" y="0"/>
                            </a:moveTo>
                            <a:lnTo>
                              <a:pt x="20" y="34"/>
                            </a:lnTo>
                            <a:lnTo>
                              <a:pt x="37" y="63"/>
                            </a:lnTo>
                            <a:lnTo>
                              <a:pt x="33" y="116"/>
                            </a:lnTo>
                            <a:lnTo>
                              <a:pt x="52" y="211"/>
                            </a:lnTo>
                            <a:lnTo>
                              <a:pt x="67" y="256"/>
                            </a:lnTo>
                            <a:lnTo>
                              <a:pt x="63" y="291"/>
                            </a:lnTo>
                            <a:lnTo>
                              <a:pt x="73" y="316"/>
                            </a:lnTo>
                            <a:lnTo>
                              <a:pt x="74" y="400"/>
                            </a:lnTo>
                            <a:lnTo>
                              <a:pt x="60" y="465"/>
                            </a:lnTo>
                            <a:lnTo>
                              <a:pt x="51" y="528"/>
                            </a:lnTo>
                            <a:lnTo>
                              <a:pt x="51" y="600"/>
                            </a:lnTo>
                            <a:lnTo>
                              <a:pt x="56" y="629"/>
                            </a:lnTo>
                            <a:lnTo>
                              <a:pt x="62" y="703"/>
                            </a:lnTo>
                            <a:lnTo>
                              <a:pt x="29" y="900"/>
                            </a:lnTo>
                            <a:lnTo>
                              <a:pt x="23" y="1106"/>
                            </a:lnTo>
                            <a:lnTo>
                              <a:pt x="29" y="1249"/>
                            </a:lnTo>
                            <a:lnTo>
                              <a:pt x="0" y="1343"/>
                            </a:lnTo>
                            <a:lnTo>
                              <a:pt x="7" y="1371"/>
                            </a:lnTo>
                            <a:lnTo>
                              <a:pt x="85" y="1364"/>
                            </a:lnTo>
                            <a:lnTo>
                              <a:pt x="194" y="1368"/>
                            </a:lnTo>
                            <a:lnTo>
                              <a:pt x="285" y="1385"/>
                            </a:lnTo>
                            <a:lnTo>
                              <a:pt x="361" y="1394"/>
                            </a:lnTo>
                            <a:lnTo>
                              <a:pt x="467" y="1418"/>
                            </a:lnTo>
                            <a:lnTo>
                              <a:pt x="727" y="1425"/>
                            </a:lnTo>
                            <a:lnTo>
                              <a:pt x="954" y="1425"/>
                            </a:lnTo>
                            <a:lnTo>
                              <a:pt x="1078" y="1430"/>
                            </a:lnTo>
                            <a:lnTo>
                              <a:pt x="1278" y="1403"/>
                            </a:lnTo>
                            <a:lnTo>
                              <a:pt x="1333" y="1396"/>
                            </a:lnTo>
                            <a:lnTo>
                              <a:pt x="1369" y="1383"/>
                            </a:lnTo>
                            <a:lnTo>
                              <a:pt x="1399" y="1346"/>
                            </a:lnTo>
                            <a:lnTo>
                              <a:pt x="1398" y="1323"/>
                            </a:lnTo>
                            <a:lnTo>
                              <a:pt x="1410" y="1284"/>
                            </a:lnTo>
                            <a:lnTo>
                              <a:pt x="1398" y="1225"/>
                            </a:lnTo>
                            <a:lnTo>
                              <a:pt x="1376" y="1160"/>
                            </a:lnTo>
                            <a:lnTo>
                              <a:pt x="1376" y="1098"/>
                            </a:lnTo>
                            <a:lnTo>
                              <a:pt x="1367" y="1014"/>
                            </a:lnTo>
                            <a:lnTo>
                              <a:pt x="1374" y="926"/>
                            </a:lnTo>
                            <a:lnTo>
                              <a:pt x="1359" y="852"/>
                            </a:lnTo>
                            <a:lnTo>
                              <a:pt x="1359" y="660"/>
                            </a:lnTo>
                            <a:lnTo>
                              <a:pt x="1355" y="579"/>
                            </a:lnTo>
                            <a:lnTo>
                              <a:pt x="1362" y="515"/>
                            </a:lnTo>
                            <a:lnTo>
                              <a:pt x="1352" y="488"/>
                            </a:lnTo>
                            <a:lnTo>
                              <a:pt x="1361" y="338"/>
                            </a:lnTo>
                            <a:lnTo>
                              <a:pt x="1351" y="302"/>
                            </a:lnTo>
                            <a:lnTo>
                              <a:pt x="1385" y="222"/>
                            </a:lnTo>
                            <a:lnTo>
                              <a:pt x="1367" y="0"/>
                            </a:lnTo>
                            <a:lnTo>
                              <a:pt x="5" y="0"/>
                            </a:lnTo>
                            <a:close/>
                          </a:path>
                        </a:pathLst>
                      </a:custGeom>
                      <a:solidFill>
                        <a:srgbClr val="CCCC00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60" name="Freeform 33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7" y="1952"/>
                        <a:ext cx="68" cy="685"/>
                      </a:xfrm>
                      <a:custGeom>
                        <a:avLst/>
                        <a:gdLst>
                          <a:gd name="T0" fmla="*/ 5 w 136"/>
                          <a:gd name="T1" fmla="*/ 0 h 1370"/>
                          <a:gd name="T2" fmla="*/ 20 w 136"/>
                          <a:gd name="T3" fmla="*/ 34 h 1370"/>
                          <a:gd name="T4" fmla="*/ 37 w 136"/>
                          <a:gd name="T5" fmla="*/ 63 h 1370"/>
                          <a:gd name="T6" fmla="*/ 33 w 136"/>
                          <a:gd name="T7" fmla="*/ 116 h 1370"/>
                          <a:gd name="T8" fmla="*/ 52 w 136"/>
                          <a:gd name="T9" fmla="*/ 211 h 1370"/>
                          <a:gd name="T10" fmla="*/ 67 w 136"/>
                          <a:gd name="T11" fmla="*/ 255 h 1370"/>
                          <a:gd name="T12" fmla="*/ 63 w 136"/>
                          <a:gd name="T13" fmla="*/ 291 h 1370"/>
                          <a:gd name="T14" fmla="*/ 73 w 136"/>
                          <a:gd name="T15" fmla="*/ 316 h 1370"/>
                          <a:gd name="T16" fmla="*/ 74 w 136"/>
                          <a:gd name="T17" fmla="*/ 400 h 1370"/>
                          <a:gd name="T18" fmla="*/ 60 w 136"/>
                          <a:gd name="T19" fmla="*/ 465 h 1370"/>
                          <a:gd name="T20" fmla="*/ 51 w 136"/>
                          <a:gd name="T21" fmla="*/ 528 h 1370"/>
                          <a:gd name="T22" fmla="*/ 51 w 136"/>
                          <a:gd name="T23" fmla="*/ 600 h 1370"/>
                          <a:gd name="T24" fmla="*/ 56 w 136"/>
                          <a:gd name="T25" fmla="*/ 629 h 1370"/>
                          <a:gd name="T26" fmla="*/ 62 w 136"/>
                          <a:gd name="T27" fmla="*/ 703 h 1370"/>
                          <a:gd name="T28" fmla="*/ 29 w 136"/>
                          <a:gd name="T29" fmla="*/ 900 h 1370"/>
                          <a:gd name="T30" fmla="*/ 23 w 136"/>
                          <a:gd name="T31" fmla="*/ 1106 h 1370"/>
                          <a:gd name="T32" fmla="*/ 29 w 136"/>
                          <a:gd name="T33" fmla="*/ 1249 h 1370"/>
                          <a:gd name="T34" fmla="*/ 0 w 136"/>
                          <a:gd name="T35" fmla="*/ 1342 h 1370"/>
                          <a:gd name="T36" fmla="*/ 7 w 136"/>
                          <a:gd name="T37" fmla="*/ 1370 h 1370"/>
                          <a:gd name="T38" fmla="*/ 97 w 136"/>
                          <a:gd name="T39" fmla="*/ 1367 h 1370"/>
                          <a:gd name="T40" fmla="*/ 92 w 136"/>
                          <a:gd name="T41" fmla="*/ 1272 h 1370"/>
                          <a:gd name="T42" fmla="*/ 85 w 136"/>
                          <a:gd name="T43" fmla="*/ 1157 h 1370"/>
                          <a:gd name="T44" fmla="*/ 74 w 136"/>
                          <a:gd name="T45" fmla="*/ 1015 h 1370"/>
                          <a:gd name="T46" fmla="*/ 78 w 136"/>
                          <a:gd name="T47" fmla="*/ 972 h 1370"/>
                          <a:gd name="T48" fmla="*/ 90 w 136"/>
                          <a:gd name="T49" fmla="*/ 835 h 1370"/>
                          <a:gd name="T50" fmla="*/ 119 w 136"/>
                          <a:gd name="T51" fmla="*/ 688 h 1370"/>
                          <a:gd name="T52" fmla="*/ 136 w 136"/>
                          <a:gd name="T53" fmla="*/ 518 h 1370"/>
                          <a:gd name="T54" fmla="*/ 132 w 136"/>
                          <a:gd name="T55" fmla="*/ 382 h 1370"/>
                          <a:gd name="T56" fmla="*/ 127 w 136"/>
                          <a:gd name="T57" fmla="*/ 232 h 1370"/>
                          <a:gd name="T58" fmla="*/ 110 w 136"/>
                          <a:gd name="T59" fmla="*/ 145 h 1370"/>
                          <a:gd name="T60" fmla="*/ 104 w 136"/>
                          <a:gd name="T61" fmla="*/ 110 h 1370"/>
                          <a:gd name="T62" fmla="*/ 110 w 136"/>
                          <a:gd name="T63" fmla="*/ 0 h 1370"/>
                          <a:gd name="T64" fmla="*/ 5 w 136"/>
                          <a:gd name="T65" fmla="*/ 0 h 13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</a:cxnLst>
                        <a:rect l="0" t="0" r="r" b="b"/>
                        <a:pathLst>
                          <a:path w="136" h="1370">
                            <a:moveTo>
                              <a:pt x="5" y="0"/>
                            </a:moveTo>
                            <a:lnTo>
                              <a:pt x="20" y="34"/>
                            </a:lnTo>
                            <a:lnTo>
                              <a:pt x="37" y="63"/>
                            </a:lnTo>
                            <a:lnTo>
                              <a:pt x="33" y="116"/>
                            </a:lnTo>
                            <a:lnTo>
                              <a:pt x="52" y="211"/>
                            </a:lnTo>
                            <a:lnTo>
                              <a:pt x="67" y="255"/>
                            </a:lnTo>
                            <a:lnTo>
                              <a:pt x="63" y="291"/>
                            </a:lnTo>
                            <a:lnTo>
                              <a:pt x="73" y="316"/>
                            </a:lnTo>
                            <a:lnTo>
                              <a:pt x="74" y="400"/>
                            </a:lnTo>
                            <a:lnTo>
                              <a:pt x="60" y="465"/>
                            </a:lnTo>
                            <a:lnTo>
                              <a:pt x="51" y="528"/>
                            </a:lnTo>
                            <a:lnTo>
                              <a:pt x="51" y="600"/>
                            </a:lnTo>
                            <a:lnTo>
                              <a:pt x="56" y="629"/>
                            </a:lnTo>
                            <a:lnTo>
                              <a:pt x="62" y="703"/>
                            </a:lnTo>
                            <a:lnTo>
                              <a:pt x="29" y="900"/>
                            </a:lnTo>
                            <a:lnTo>
                              <a:pt x="23" y="1106"/>
                            </a:lnTo>
                            <a:lnTo>
                              <a:pt x="29" y="1249"/>
                            </a:lnTo>
                            <a:lnTo>
                              <a:pt x="0" y="1342"/>
                            </a:lnTo>
                            <a:lnTo>
                              <a:pt x="7" y="1370"/>
                            </a:lnTo>
                            <a:lnTo>
                              <a:pt x="97" y="1367"/>
                            </a:lnTo>
                            <a:lnTo>
                              <a:pt x="92" y="1272"/>
                            </a:lnTo>
                            <a:lnTo>
                              <a:pt x="85" y="1157"/>
                            </a:lnTo>
                            <a:lnTo>
                              <a:pt x="74" y="1015"/>
                            </a:lnTo>
                            <a:lnTo>
                              <a:pt x="78" y="972"/>
                            </a:lnTo>
                            <a:lnTo>
                              <a:pt x="90" y="835"/>
                            </a:lnTo>
                            <a:lnTo>
                              <a:pt x="119" y="688"/>
                            </a:lnTo>
                            <a:lnTo>
                              <a:pt x="136" y="518"/>
                            </a:lnTo>
                            <a:lnTo>
                              <a:pt x="132" y="382"/>
                            </a:lnTo>
                            <a:lnTo>
                              <a:pt x="127" y="232"/>
                            </a:lnTo>
                            <a:lnTo>
                              <a:pt x="110" y="145"/>
                            </a:lnTo>
                            <a:lnTo>
                              <a:pt x="104" y="110"/>
                            </a:lnTo>
                            <a:lnTo>
                              <a:pt x="110" y="0"/>
                            </a:lnTo>
                            <a:lnTo>
                              <a:pt x="5" y="0"/>
                            </a:lnTo>
                            <a:close/>
                          </a:path>
                        </a:pathLst>
                      </a:custGeom>
                      <a:solidFill>
                        <a:srgbClr val="CCCC00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61" name="Freeform 33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75" y="1951"/>
                        <a:ext cx="404" cy="716"/>
                      </a:xfrm>
                      <a:custGeom>
                        <a:avLst/>
                        <a:gdLst>
                          <a:gd name="T0" fmla="*/ 52 w 809"/>
                          <a:gd name="T1" fmla="*/ 0 h 1432"/>
                          <a:gd name="T2" fmla="*/ 70 w 809"/>
                          <a:gd name="T3" fmla="*/ 112 h 1432"/>
                          <a:gd name="T4" fmla="*/ 85 w 809"/>
                          <a:gd name="T5" fmla="*/ 158 h 1432"/>
                          <a:gd name="T6" fmla="*/ 87 w 809"/>
                          <a:gd name="T7" fmla="*/ 254 h 1432"/>
                          <a:gd name="T8" fmla="*/ 108 w 809"/>
                          <a:gd name="T9" fmla="*/ 458 h 1432"/>
                          <a:gd name="T10" fmla="*/ 101 w 809"/>
                          <a:gd name="T11" fmla="*/ 565 h 1432"/>
                          <a:gd name="T12" fmla="*/ 79 w 809"/>
                          <a:gd name="T13" fmla="*/ 682 h 1432"/>
                          <a:gd name="T14" fmla="*/ 100 w 809"/>
                          <a:gd name="T15" fmla="*/ 736 h 1432"/>
                          <a:gd name="T16" fmla="*/ 107 w 809"/>
                          <a:gd name="T17" fmla="*/ 798 h 1432"/>
                          <a:gd name="T18" fmla="*/ 110 w 809"/>
                          <a:gd name="T19" fmla="*/ 896 h 1432"/>
                          <a:gd name="T20" fmla="*/ 92 w 809"/>
                          <a:gd name="T21" fmla="*/ 961 h 1432"/>
                          <a:gd name="T22" fmla="*/ 61 w 809"/>
                          <a:gd name="T23" fmla="*/ 1034 h 1432"/>
                          <a:gd name="T24" fmla="*/ 63 w 809"/>
                          <a:gd name="T25" fmla="*/ 1238 h 1432"/>
                          <a:gd name="T26" fmla="*/ 0 w 809"/>
                          <a:gd name="T27" fmla="*/ 1354 h 1432"/>
                          <a:gd name="T28" fmla="*/ 1 w 809"/>
                          <a:gd name="T29" fmla="*/ 1385 h 1432"/>
                          <a:gd name="T30" fmla="*/ 96 w 809"/>
                          <a:gd name="T31" fmla="*/ 1397 h 1432"/>
                          <a:gd name="T32" fmla="*/ 184 w 809"/>
                          <a:gd name="T33" fmla="*/ 1420 h 1432"/>
                          <a:gd name="T34" fmla="*/ 408 w 809"/>
                          <a:gd name="T35" fmla="*/ 1426 h 1432"/>
                          <a:gd name="T36" fmla="*/ 627 w 809"/>
                          <a:gd name="T37" fmla="*/ 1427 h 1432"/>
                          <a:gd name="T38" fmla="*/ 801 w 809"/>
                          <a:gd name="T39" fmla="*/ 1432 h 1432"/>
                          <a:gd name="T40" fmla="*/ 799 w 809"/>
                          <a:gd name="T41" fmla="*/ 1283 h 1432"/>
                          <a:gd name="T42" fmla="*/ 809 w 809"/>
                          <a:gd name="T43" fmla="*/ 980 h 1432"/>
                          <a:gd name="T44" fmla="*/ 773 w 809"/>
                          <a:gd name="T45" fmla="*/ 900 h 1432"/>
                          <a:gd name="T46" fmla="*/ 726 w 809"/>
                          <a:gd name="T47" fmla="*/ 795 h 1432"/>
                          <a:gd name="T48" fmla="*/ 722 w 809"/>
                          <a:gd name="T49" fmla="*/ 742 h 1432"/>
                          <a:gd name="T50" fmla="*/ 728 w 809"/>
                          <a:gd name="T51" fmla="*/ 643 h 1432"/>
                          <a:gd name="T52" fmla="*/ 754 w 809"/>
                          <a:gd name="T53" fmla="*/ 450 h 1432"/>
                          <a:gd name="T54" fmla="*/ 737 w 809"/>
                          <a:gd name="T55" fmla="*/ 375 h 1432"/>
                          <a:gd name="T56" fmla="*/ 759 w 809"/>
                          <a:gd name="T57" fmla="*/ 265 h 1432"/>
                          <a:gd name="T58" fmla="*/ 788 w 809"/>
                          <a:gd name="T59" fmla="*/ 206 h 1432"/>
                          <a:gd name="T60" fmla="*/ 765 w 809"/>
                          <a:gd name="T61" fmla="*/ 0 h 1432"/>
                          <a:gd name="T62" fmla="*/ 52 w 809"/>
                          <a:gd name="T63" fmla="*/ 0 h 143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809" h="1432">
                            <a:moveTo>
                              <a:pt x="52" y="0"/>
                            </a:moveTo>
                            <a:lnTo>
                              <a:pt x="70" y="112"/>
                            </a:lnTo>
                            <a:lnTo>
                              <a:pt x="85" y="158"/>
                            </a:lnTo>
                            <a:lnTo>
                              <a:pt x="87" y="254"/>
                            </a:lnTo>
                            <a:lnTo>
                              <a:pt x="108" y="458"/>
                            </a:lnTo>
                            <a:lnTo>
                              <a:pt x="101" y="565"/>
                            </a:lnTo>
                            <a:lnTo>
                              <a:pt x="79" y="682"/>
                            </a:lnTo>
                            <a:lnTo>
                              <a:pt x="100" y="736"/>
                            </a:lnTo>
                            <a:lnTo>
                              <a:pt x="107" y="798"/>
                            </a:lnTo>
                            <a:lnTo>
                              <a:pt x="110" y="896"/>
                            </a:lnTo>
                            <a:lnTo>
                              <a:pt x="92" y="961"/>
                            </a:lnTo>
                            <a:lnTo>
                              <a:pt x="61" y="1034"/>
                            </a:lnTo>
                            <a:lnTo>
                              <a:pt x="63" y="1238"/>
                            </a:lnTo>
                            <a:lnTo>
                              <a:pt x="0" y="1354"/>
                            </a:lnTo>
                            <a:lnTo>
                              <a:pt x="1" y="1385"/>
                            </a:lnTo>
                            <a:lnTo>
                              <a:pt x="96" y="1397"/>
                            </a:lnTo>
                            <a:lnTo>
                              <a:pt x="184" y="1420"/>
                            </a:lnTo>
                            <a:lnTo>
                              <a:pt x="408" y="1426"/>
                            </a:lnTo>
                            <a:lnTo>
                              <a:pt x="627" y="1427"/>
                            </a:lnTo>
                            <a:lnTo>
                              <a:pt x="801" y="1432"/>
                            </a:lnTo>
                            <a:lnTo>
                              <a:pt x="799" y="1283"/>
                            </a:lnTo>
                            <a:lnTo>
                              <a:pt x="809" y="980"/>
                            </a:lnTo>
                            <a:lnTo>
                              <a:pt x="773" y="900"/>
                            </a:lnTo>
                            <a:lnTo>
                              <a:pt x="726" y="795"/>
                            </a:lnTo>
                            <a:lnTo>
                              <a:pt x="722" y="742"/>
                            </a:lnTo>
                            <a:lnTo>
                              <a:pt x="728" y="643"/>
                            </a:lnTo>
                            <a:lnTo>
                              <a:pt x="754" y="450"/>
                            </a:lnTo>
                            <a:lnTo>
                              <a:pt x="737" y="375"/>
                            </a:lnTo>
                            <a:lnTo>
                              <a:pt x="759" y="265"/>
                            </a:lnTo>
                            <a:lnTo>
                              <a:pt x="788" y="206"/>
                            </a:lnTo>
                            <a:lnTo>
                              <a:pt x="765" y="0"/>
                            </a:lnTo>
                            <a:lnTo>
                              <a:pt x="52" y="0"/>
                            </a:lnTo>
                            <a:close/>
                          </a:path>
                        </a:pathLst>
                      </a:custGeom>
                      <a:solidFill>
                        <a:srgbClr val="CCCC00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sp>
                  <p:nvSpPr>
                    <p:cNvPr id="158" name="Freeform 335"/>
                    <p:cNvSpPr>
                      <a:spLocks/>
                    </p:cNvSpPr>
                    <p:nvPr/>
                  </p:nvSpPr>
                  <p:spPr bwMode="auto">
                    <a:xfrm>
                      <a:off x="1539" y="1943"/>
                      <a:ext cx="690" cy="134"/>
                    </a:xfrm>
                    <a:custGeom>
                      <a:avLst/>
                      <a:gdLst>
                        <a:gd name="T0" fmla="*/ 0 w 1381"/>
                        <a:gd name="T1" fmla="*/ 6 h 266"/>
                        <a:gd name="T2" fmla="*/ 30 w 1381"/>
                        <a:gd name="T3" fmla="*/ 82 h 266"/>
                        <a:gd name="T4" fmla="*/ 52 w 1381"/>
                        <a:gd name="T5" fmla="*/ 99 h 266"/>
                        <a:gd name="T6" fmla="*/ 66 w 1381"/>
                        <a:gd name="T7" fmla="*/ 137 h 266"/>
                        <a:gd name="T8" fmla="*/ 76 w 1381"/>
                        <a:gd name="T9" fmla="*/ 162 h 266"/>
                        <a:gd name="T10" fmla="*/ 133 w 1381"/>
                        <a:gd name="T11" fmla="*/ 143 h 266"/>
                        <a:gd name="T12" fmla="*/ 174 w 1381"/>
                        <a:gd name="T13" fmla="*/ 113 h 266"/>
                        <a:gd name="T14" fmla="*/ 212 w 1381"/>
                        <a:gd name="T15" fmla="*/ 125 h 266"/>
                        <a:gd name="T16" fmla="*/ 234 w 1381"/>
                        <a:gd name="T17" fmla="*/ 248 h 266"/>
                        <a:gd name="T18" fmla="*/ 329 w 1381"/>
                        <a:gd name="T19" fmla="*/ 173 h 266"/>
                        <a:gd name="T20" fmla="*/ 415 w 1381"/>
                        <a:gd name="T21" fmla="*/ 123 h 266"/>
                        <a:gd name="T22" fmla="*/ 423 w 1381"/>
                        <a:gd name="T23" fmla="*/ 133 h 266"/>
                        <a:gd name="T24" fmla="*/ 467 w 1381"/>
                        <a:gd name="T25" fmla="*/ 137 h 266"/>
                        <a:gd name="T26" fmla="*/ 484 w 1381"/>
                        <a:gd name="T27" fmla="*/ 194 h 266"/>
                        <a:gd name="T28" fmla="*/ 522 w 1381"/>
                        <a:gd name="T29" fmla="*/ 184 h 266"/>
                        <a:gd name="T30" fmla="*/ 543 w 1381"/>
                        <a:gd name="T31" fmla="*/ 266 h 266"/>
                        <a:gd name="T32" fmla="*/ 604 w 1381"/>
                        <a:gd name="T33" fmla="*/ 216 h 266"/>
                        <a:gd name="T34" fmla="*/ 669 w 1381"/>
                        <a:gd name="T35" fmla="*/ 190 h 266"/>
                        <a:gd name="T36" fmla="*/ 711 w 1381"/>
                        <a:gd name="T37" fmla="*/ 128 h 266"/>
                        <a:gd name="T38" fmla="*/ 741 w 1381"/>
                        <a:gd name="T39" fmla="*/ 146 h 266"/>
                        <a:gd name="T40" fmla="*/ 768 w 1381"/>
                        <a:gd name="T41" fmla="*/ 218 h 266"/>
                        <a:gd name="T42" fmla="*/ 821 w 1381"/>
                        <a:gd name="T43" fmla="*/ 165 h 266"/>
                        <a:gd name="T44" fmla="*/ 859 w 1381"/>
                        <a:gd name="T45" fmla="*/ 193 h 266"/>
                        <a:gd name="T46" fmla="*/ 927 w 1381"/>
                        <a:gd name="T47" fmla="*/ 132 h 266"/>
                        <a:gd name="T48" fmla="*/ 944 w 1381"/>
                        <a:gd name="T49" fmla="*/ 146 h 266"/>
                        <a:gd name="T50" fmla="*/ 965 w 1381"/>
                        <a:gd name="T51" fmla="*/ 154 h 266"/>
                        <a:gd name="T52" fmla="*/ 987 w 1381"/>
                        <a:gd name="T53" fmla="*/ 246 h 266"/>
                        <a:gd name="T54" fmla="*/ 1021 w 1381"/>
                        <a:gd name="T55" fmla="*/ 194 h 266"/>
                        <a:gd name="T56" fmla="*/ 1071 w 1381"/>
                        <a:gd name="T57" fmla="*/ 143 h 266"/>
                        <a:gd name="T58" fmla="*/ 1095 w 1381"/>
                        <a:gd name="T59" fmla="*/ 167 h 266"/>
                        <a:gd name="T60" fmla="*/ 1145 w 1381"/>
                        <a:gd name="T61" fmla="*/ 122 h 266"/>
                        <a:gd name="T62" fmla="*/ 1183 w 1381"/>
                        <a:gd name="T63" fmla="*/ 132 h 266"/>
                        <a:gd name="T64" fmla="*/ 1199 w 1381"/>
                        <a:gd name="T65" fmla="*/ 151 h 266"/>
                        <a:gd name="T66" fmla="*/ 1208 w 1381"/>
                        <a:gd name="T67" fmla="*/ 190 h 266"/>
                        <a:gd name="T68" fmla="*/ 1222 w 1381"/>
                        <a:gd name="T69" fmla="*/ 145 h 266"/>
                        <a:gd name="T70" fmla="*/ 1227 w 1381"/>
                        <a:gd name="T71" fmla="*/ 130 h 266"/>
                        <a:gd name="T72" fmla="*/ 1279 w 1381"/>
                        <a:gd name="T73" fmla="*/ 114 h 266"/>
                        <a:gd name="T74" fmla="*/ 1357 w 1381"/>
                        <a:gd name="T75" fmla="*/ 106 h 266"/>
                        <a:gd name="T76" fmla="*/ 1381 w 1381"/>
                        <a:gd name="T77" fmla="*/ 0 h 266"/>
                        <a:gd name="T78" fmla="*/ 0 w 1381"/>
                        <a:gd name="T79" fmla="*/ 6 h 2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</a:cxnLst>
                      <a:rect l="0" t="0" r="r" b="b"/>
                      <a:pathLst>
                        <a:path w="1381" h="266">
                          <a:moveTo>
                            <a:pt x="0" y="6"/>
                          </a:moveTo>
                          <a:lnTo>
                            <a:pt x="30" y="82"/>
                          </a:lnTo>
                          <a:lnTo>
                            <a:pt x="52" y="99"/>
                          </a:lnTo>
                          <a:lnTo>
                            <a:pt x="66" y="137"/>
                          </a:lnTo>
                          <a:lnTo>
                            <a:pt x="76" y="162"/>
                          </a:lnTo>
                          <a:lnTo>
                            <a:pt x="133" y="143"/>
                          </a:lnTo>
                          <a:lnTo>
                            <a:pt x="174" y="113"/>
                          </a:lnTo>
                          <a:lnTo>
                            <a:pt x="212" y="125"/>
                          </a:lnTo>
                          <a:lnTo>
                            <a:pt x="234" y="248"/>
                          </a:lnTo>
                          <a:lnTo>
                            <a:pt x="329" y="173"/>
                          </a:lnTo>
                          <a:lnTo>
                            <a:pt x="415" y="123"/>
                          </a:lnTo>
                          <a:lnTo>
                            <a:pt x="423" y="133"/>
                          </a:lnTo>
                          <a:lnTo>
                            <a:pt x="467" y="137"/>
                          </a:lnTo>
                          <a:lnTo>
                            <a:pt x="484" y="194"/>
                          </a:lnTo>
                          <a:lnTo>
                            <a:pt x="522" y="184"/>
                          </a:lnTo>
                          <a:lnTo>
                            <a:pt x="543" y="266"/>
                          </a:lnTo>
                          <a:lnTo>
                            <a:pt x="604" y="216"/>
                          </a:lnTo>
                          <a:lnTo>
                            <a:pt x="669" y="190"/>
                          </a:lnTo>
                          <a:lnTo>
                            <a:pt x="711" y="128"/>
                          </a:lnTo>
                          <a:lnTo>
                            <a:pt x="741" y="146"/>
                          </a:lnTo>
                          <a:lnTo>
                            <a:pt x="768" y="218"/>
                          </a:lnTo>
                          <a:lnTo>
                            <a:pt x="821" y="165"/>
                          </a:lnTo>
                          <a:lnTo>
                            <a:pt x="859" y="193"/>
                          </a:lnTo>
                          <a:lnTo>
                            <a:pt x="927" y="132"/>
                          </a:lnTo>
                          <a:lnTo>
                            <a:pt x="944" y="146"/>
                          </a:lnTo>
                          <a:lnTo>
                            <a:pt x="965" y="154"/>
                          </a:lnTo>
                          <a:lnTo>
                            <a:pt x="987" y="246"/>
                          </a:lnTo>
                          <a:lnTo>
                            <a:pt x="1021" y="194"/>
                          </a:lnTo>
                          <a:lnTo>
                            <a:pt x="1071" y="143"/>
                          </a:lnTo>
                          <a:lnTo>
                            <a:pt x="1095" y="167"/>
                          </a:lnTo>
                          <a:lnTo>
                            <a:pt x="1145" y="122"/>
                          </a:lnTo>
                          <a:lnTo>
                            <a:pt x="1183" y="132"/>
                          </a:lnTo>
                          <a:lnTo>
                            <a:pt x="1199" y="151"/>
                          </a:lnTo>
                          <a:lnTo>
                            <a:pt x="1208" y="190"/>
                          </a:lnTo>
                          <a:lnTo>
                            <a:pt x="1222" y="145"/>
                          </a:lnTo>
                          <a:lnTo>
                            <a:pt x="1227" y="130"/>
                          </a:lnTo>
                          <a:lnTo>
                            <a:pt x="1279" y="114"/>
                          </a:lnTo>
                          <a:lnTo>
                            <a:pt x="1357" y="106"/>
                          </a:lnTo>
                          <a:lnTo>
                            <a:pt x="1381" y="0"/>
                          </a:lnTo>
                          <a:lnTo>
                            <a:pt x="0" y="6"/>
                          </a:lnTo>
                          <a:close/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  <p:grpSp>
                <p:nvGrpSpPr>
                  <p:cNvPr id="148" name="Group 336"/>
                  <p:cNvGrpSpPr>
                    <a:grpSpLocks/>
                  </p:cNvGrpSpPr>
                  <p:nvPr/>
                </p:nvGrpSpPr>
                <p:grpSpPr bwMode="auto">
                  <a:xfrm>
                    <a:off x="1588" y="1970"/>
                    <a:ext cx="636" cy="694"/>
                    <a:chOff x="1588" y="1970"/>
                    <a:chExt cx="636" cy="694"/>
                  </a:xfrm>
                </p:grpSpPr>
                <p:sp>
                  <p:nvSpPr>
                    <p:cNvPr id="149" name="Freeform 337"/>
                    <p:cNvSpPr>
                      <a:spLocks/>
                    </p:cNvSpPr>
                    <p:nvPr/>
                  </p:nvSpPr>
                  <p:spPr bwMode="auto">
                    <a:xfrm>
                      <a:off x="1588" y="1974"/>
                      <a:ext cx="5" cy="46"/>
                    </a:xfrm>
                    <a:custGeom>
                      <a:avLst/>
                      <a:gdLst>
                        <a:gd name="T0" fmla="*/ 6 w 11"/>
                        <a:gd name="T1" fmla="*/ 93 h 93"/>
                        <a:gd name="T2" fmla="*/ 0 w 11"/>
                        <a:gd name="T3" fmla="*/ 67 h 93"/>
                        <a:gd name="T4" fmla="*/ 11 w 11"/>
                        <a:gd name="T5" fmla="*/ 0 h 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1" h="93">
                          <a:moveTo>
                            <a:pt x="6" y="93"/>
                          </a:moveTo>
                          <a:lnTo>
                            <a:pt x="0" y="67"/>
                          </a:lnTo>
                          <a:lnTo>
                            <a:pt x="11" y="0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50" name="Freeform 338"/>
                    <p:cNvSpPr>
                      <a:spLocks/>
                    </p:cNvSpPr>
                    <p:nvPr/>
                  </p:nvSpPr>
                  <p:spPr bwMode="auto">
                    <a:xfrm>
                      <a:off x="1627" y="1970"/>
                      <a:ext cx="57" cy="664"/>
                    </a:xfrm>
                    <a:custGeom>
                      <a:avLst/>
                      <a:gdLst>
                        <a:gd name="T0" fmla="*/ 98 w 112"/>
                        <a:gd name="T1" fmla="*/ 0 h 1328"/>
                        <a:gd name="T2" fmla="*/ 109 w 112"/>
                        <a:gd name="T3" fmla="*/ 153 h 1328"/>
                        <a:gd name="T4" fmla="*/ 112 w 112"/>
                        <a:gd name="T5" fmla="*/ 396 h 1328"/>
                        <a:gd name="T6" fmla="*/ 105 w 112"/>
                        <a:gd name="T7" fmla="*/ 487 h 1328"/>
                        <a:gd name="T8" fmla="*/ 65 w 112"/>
                        <a:gd name="T9" fmla="*/ 589 h 1328"/>
                        <a:gd name="T10" fmla="*/ 69 w 112"/>
                        <a:gd name="T11" fmla="*/ 662 h 1328"/>
                        <a:gd name="T12" fmla="*/ 87 w 112"/>
                        <a:gd name="T13" fmla="*/ 840 h 1328"/>
                        <a:gd name="T14" fmla="*/ 36 w 112"/>
                        <a:gd name="T15" fmla="*/ 1040 h 1328"/>
                        <a:gd name="T16" fmla="*/ 29 w 112"/>
                        <a:gd name="T17" fmla="*/ 1171 h 1328"/>
                        <a:gd name="T18" fmla="*/ 0 w 112"/>
                        <a:gd name="T19" fmla="*/ 1328 h 13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12" h="1328">
                          <a:moveTo>
                            <a:pt x="98" y="0"/>
                          </a:moveTo>
                          <a:lnTo>
                            <a:pt x="109" y="153"/>
                          </a:lnTo>
                          <a:lnTo>
                            <a:pt x="112" y="396"/>
                          </a:lnTo>
                          <a:lnTo>
                            <a:pt x="105" y="487"/>
                          </a:lnTo>
                          <a:lnTo>
                            <a:pt x="65" y="589"/>
                          </a:lnTo>
                          <a:lnTo>
                            <a:pt x="69" y="662"/>
                          </a:lnTo>
                          <a:lnTo>
                            <a:pt x="87" y="840"/>
                          </a:lnTo>
                          <a:lnTo>
                            <a:pt x="36" y="1040"/>
                          </a:lnTo>
                          <a:lnTo>
                            <a:pt x="29" y="1171"/>
                          </a:lnTo>
                          <a:lnTo>
                            <a:pt x="0" y="1328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51" name="Freeform 339"/>
                    <p:cNvSpPr>
                      <a:spLocks/>
                    </p:cNvSpPr>
                    <p:nvPr/>
                  </p:nvSpPr>
                  <p:spPr bwMode="auto">
                    <a:xfrm>
                      <a:off x="1793" y="1970"/>
                      <a:ext cx="34" cy="690"/>
                    </a:xfrm>
                    <a:custGeom>
                      <a:avLst/>
                      <a:gdLst>
                        <a:gd name="T0" fmla="*/ 55 w 70"/>
                        <a:gd name="T1" fmla="*/ 0 h 1379"/>
                        <a:gd name="T2" fmla="*/ 44 w 70"/>
                        <a:gd name="T3" fmla="*/ 131 h 1379"/>
                        <a:gd name="T4" fmla="*/ 0 w 70"/>
                        <a:gd name="T5" fmla="*/ 451 h 1379"/>
                        <a:gd name="T6" fmla="*/ 44 w 70"/>
                        <a:gd name="T7" fmla="*/ 713 h 1379"/>
                        <a:gd name="T8" fmla="*/ 30 w 70"/>
                        <a:gd name="T9" fmla="*/ 836 h 1379"/>
                        <a:gd name="T10" fmla="*/ 19 w 70"/>
                        <a:gd name="T11" fmla="*/ 938 h 1379"/>
                        <a:gd name="T12" fmla="*/ 70 w 70"/>
                        <a:gd name="T13" fmla="*/ 1109 h 1379"/>
                        <a:gd name="T14" fmla="*/ 26 w 70"/>
                        <a:gd name="T15" fmla="*/ 1379 h 13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70" h="1379">
                          <a:moveTo>
                            <a:pt x="55" y="0"/>
                          </a:moveTo>
                          <a:lnTo>
                            <a:pt x="44" y="131"/>
                          </a:lnTo>
                          <a:lnTo>
                            <a:pt x="0" y="451"/>
                          </a:lnTo>
                          <a:lnTo>
                            <a:pt x="44" y="713"/>
                          </a:lnTo>
                          <a:lnTo>
                            <a:pt x="30" y="836"/>
                          </a:lnTo>
                          <a:lnTo>
                            <a:pt x="19" y="938"/>
                          </a:lnTo>
                          <a:lnTo>
                            <a:pt x="70" y="1109"/>
                          </a:lnTo>
                          <a:lnTo>
                            <a:pt x="26" y="1379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52" name="Freeform 340"/>
                    <p:cNvSpPr>
                      <a:spLocks/>
                    </p:cNvSpPr>
                    <p:nvPr/>
                  </p:nvSpPr>
                  <p:spPr bwMode="auto">
                    <a:xfrm>
                      <a:off x="1898" y="2130"/>
                      <a:ext cx="71" cy="534"/>
                    </a:xfrm>
                    <a:custGeom>
                      <a:avLst/>
                      <a:gdLst>
                        <a:gd name="T0" fmla="*/ 33 w 142"/>
                        <a:gd name="T1" fmla="*/ 0 h 1069"/>
                        <a:gd name="T2" fmla="*/ 0 w 142"/>
                        <a:gd name="T3" fmla="*/ 211 h 1069"/>
                        <a:gd name="T4" fmla="*/ 11 w 142"/>
                        <a:gd name="T5" fmla="*/ 393 h 1069"/>
                        <a:gd name="T6" fmla="*/ 95 w 142"/>
                        <a:gd name="T7" fmla="*/ 665 h 1069"/>
                        <a:gd name="T8" fmla="*/ 87 w 142"/>
                        <a:gd name="T9" fmla="*/ 782 h 1069"/>
                        <a:gd name="T10" fmla="*/ 127 w 142"/>
                        <a:gd name="T11" fmla="*/ 854 h 1069"/>
                        <a:gd name="T12" fmla="*/ 142 w 142"/>
                        <a:gd name="T13" fmla="*/ 1069 h 10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42" h="1069">
                          <a:moveTo>
                            <a:pt x="33" y="0"/>
                          </a:moveTo>
                          <a:lnTo>
                            <a:pt x="0" y="211"/>
                          </a:lnTo>
                          <a:lnTo>
                            <a:pt x="11" y="393"/>
                          </a:lnTo>
                          <a:lnTo>
                            <a:pt x="95" y="665"/>
                          </a:lnTo>
                          <a:lnTo>
                            <a:pt x="87" y="782"/>
                          </a:lnTo>
                          <a:lnTo>
                            <a:pt x="127" y="854"/>
                          </a:lnTo>
                          <a:lnTo>
                            <a:pt x="142" y="1069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53" name="Freeform 341"/>
                    <p:cNvSpPr>
                      <a:spLocks/>
                    </p:cNvSpPr>
                    <p:nvPr/>
                  </p:nvSpPr>
                  <p:spPr bwMode="auto">
                    <a:xfrm>
                      <a:off x="2094" y="1977"/>
                      <a:ext cx="55" cy="681"/>
                    </a:xfrm>
                    <a:custGeom>
                      <a:avLst/>
                      <a:gdLst>
                        <a:gd name="T0" fmla="*/ 40 w 109"/>
                        <a:gd name="T1" fmla="*/ 0 h 1361"/>
                        <a:gd name="T2" fmla="*/ 83 w 109"/>
                        <a:gd name="T3" fmla="*/ 211 h 1361"/>
                        <a:gd name="T4" fmla="*/ 18 w 109"/>
                        <a:gd name="T5" fmla="*/ 389 h 1361"/>
                        <a:gd name="T6" fmla="*/ 0 w 109"/>
                        <a:gd name="T7" fmla="*/ 530 h 1361"/>
                        <a:gd name="T8" fmla="*/ 22 w 109"/>
                        <a:gd name="T9" fmla="*/ 661 h 1361"/>
                        <a:gd name="T10" fmla="*/ 76 w 109"/>
                        <a:gd name="T11" fmla="*/ 796 h 1361"/>
                        <a:gd name="T12" fmla="*/ 109 w 109"/>
                        <a:gd name="T13" fmla="*/ 865 h 1361"/>
                        <a:gd name="T14" fmla="*/ 80 w 109"/>
                        <a:gd name="T15" fmla="*/ 1090 h 1361"/>
                        <a:gd name="T16" fmla="*/ 105 w 109"/>
                        <a:gd name="T17" fmla="*/ 1145 h 1361"/>
                        <a:gd name="T18" fmla="*/ 85 w 109"/>
                        <a:gd name="T19" fmla="*/ 1361 h 13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09" h="1361">
                          <a:moveTo>
                            <a:pt x="40" y="0"/>
                          </a:moveTo>
                          <a:lnTo>
                            <a:pt x="83" y="211"/>
                          </a:lnTo>
                          <a:lnTo>
                            <a:pt x="18" y="389"/>
                          </a:lnTo>
                          <a:lnTo>
                            <a:pt x="0" y="530"/>
                          </a:lnTo>
                          <a:lnTo>
                            <a:pt x="22" y="661"/>
                          </a:lnTo>
                          <a:lnTo>
                            <a:pt x="76" y="796"/>
                          </a:lnTo>
                          <a:lnTo>
                            <a:pt x="109" y="865"/>
                          </a:lnTo>
                          <a:lnTo>
                            <a:pt x="80" y="1090"/>
                          </a:lnTo>
                          <a:lnTo>
                            <a:pt x="105" y="1145"/>
                          </a:lnTo>
                          <a:lnTo>
                            <a:pt x="85" y="1361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54" name="Freeform 342"/>
                    <p:cNvSpPr>
                      <a:spLocks/>
                    </p:cNvSpPr>
                    <p:nvPr/>
                  </p:nvSpPr>
                  <p:spPr bwMode="auto">
                    <a:xfrm>
                      <a:off x="2173" y="1974"/>
                      <a:ext cx="45" cy="441"/>
                    </a:xfrm>
                    <a:custGeom>
                      <a:avLst/>
                      <a:gdLst>
                        <a:gd name="T0" fmla="*/ 4 w 91"/>
                        <a:gd name="T1" fmla="*/ 0 h 884"/>
                        <a:gd name="T2" fmla="*/ 0 w 91"/>
                        <a:gd name="T3" fmla="*/ 204 h 884"/>
                        <a:gd name="T4" fmla="*/ 40 w 91"/>
                        <a:gd name="T5" fmla="*/ 309 h 884"/>
                        <a:gd name="T6" fmla="*/ 7 w 91"/>
                        <a:gd name="T7" fmla="*/ 495 h 884"/>
                        <a:gd name="T8" fmla="*/ 29 w 91"/>
                        <a:gd name="T9" fmla="*/ 604 h 884"/>
                        <a:gd name="T10" fmla="*/ 91 w 91"/>
                        <a:gd name="T11" fmla="*/ 884 h 8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91" h="884">
                          <a:moveTo>
                            <a:pt x="4" y="0"/>
                          </a:moveTo>
                          <a:lnTo>
                            <a:pt x="0" y="204"/>
                          </a:lnTo>
                          <a:lnTo>
                            <a:pt x="40" y="309"/>
                          </a:lnTo>
                          <a:lnTo>
                            <a:pt x="7" y="495"/>
                          </a:lnTo>
                          <a:lnTo>
                            <a:pt x="29" y="604"/>
                          </a:lnTo>
                          <a:lnTo>
                            <a:pt x="91" y="884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55" name="Freeform 343"/>
                    <p:cNvSpPr>
                      <a:spLocks/>
                    </p:cNvSpPr>
                    <p:nvPr/>
                  </p:nvSpPr>
                  <p:spPr bwMode="auto">
                    <a:xfrm>
                      <a:off x="1644" y="2368"/>
                      <a:ext cx="65" cy="271"/>
                    </a:xfrm>
                    <a:custGeom>
                      <a:avLst/>
                      <a:gdLst>
                        <a:gd name="T0" fmla="*/ 131 w 131"/>
                        <a:gd name="T1" fmla="*/ 0 h 543"/>
                        <a:gd name="T2" fmla="*/ 73 w 131"/>
                        <a:gd name="T3" fmla="*/ 142 h 543"/>
                        <a:gd name="T4" fmla="*/ 91 w 131"/>
                        <a:gd name="T5" fmla="*/ 204 h 543"/>
                        <a:gd name="T6" fmla="*/ 77 w 131"/>
                        <a:gd name="T7" fmla="*/ 360 h 543"/>
                        <a:gd name="T8" fmla="*/ 0 w 131"/>
                        <a:gd name="T9" fmla="*/ 543 h 54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31" h="543">
                          <a:moveTo>
                            <a:pt x="131" y="0"/>
                          </a:moveTo>
                          <a:lnTo>
                            <a:pt x="73" y="142"/>
                          </a:lnTo>
                          <a:lnTo>
                            <a:pt x="91" y="204"/>
                          </a:lnTo>
                          <a:lnTo>
                            <a:pt x="77" y="360"/>
                          </a:lnTo>
                          <a:lnTo>
                            <a:pt x="0" y="543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56" name="Freeform 344"/>
                    <p:cNvSpPr>
                      <a:spLocks/>
                    </p:cNvSpPr>
                    <p:nvPr/>
                  </p:nvSpPr>
                  <p:spPr bwMode="auto">
                    <a:xfrm>
                      <a:off x="2169" y="2375"/>
                      <a:ext cx="55" cy="266"/>
                    </a:xfrm>
                    <a:custGeom>
                      <a:avLst/>
                      <a:gdLst>
                        <a:gd name="T0" fmla="*/ 0 w 110"/>
                        <a:gd name="T1" fmla="*/ 0 h 532"/>
                        <a:gd name="T2" fmla="*/ 32 w 110"/>
                        <a:gd name="T3" fmla="*/ 185 h 532"/>
                        <a:gd name="T4" fmla="*/ 14 w 110"/>
                        <a:gd name="T5" fmla="*/ 305 h 532"/>
                        <a:gd name="T6" fmla="*/ 94 w 110"/>
                        <a:gd name="T7" fmla="*/ 423 h 532"/>
                        <a:gd name="T8" fmla="*/ 110 w 110"/>
                        <a:gd name="T9" fmla="*/ 532 h 5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0" h="532">
                          <a:moveTo>
                            <a:pt x="0" y="0"/>
                          </a:moveTo>
                          <a:lnTo>
                            <a:pt x="32" y="185"/>
                          </a:lnTo>
                          <a:lnTo>
                            <a:pt x="14" y="305"/>
                          </a:lnTo>
                          <a:lnTo>
                            <a:pt x="94" y="423"/>
                          </a:lnTo>
                          <a:lnTo>
                            <a:pt x="110" y="532"/>
                          </a:lnTo>
                        </a:path>
                      </a:pathLst>
                    </a:custGeom>
                    <a:solidFill>
                      <a:srgbClr val="CCCC00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  <p:sp>
              <p:nvSpPr>
                <p:cNvPr id="146" name="Freeform 345"/>
                <p:cNvSpPr>
                  <a:spLocks/>
                </p:cNvSpPr>
                <p:nvPr/>
              </p:nvSpPr>
              <p:spPr bwMode="auto">
                <a:xfrm>
                  <a:off x="1490" y="1892"/>
                  <a:ext cx="781" cy="117"/>
                </a:xfrm>
                <a:custGeom>
                  <a:avLst/>
                  <a:gdLst>
                    <a:gd name="T0" fmla="*/ 0 w 1561"/>
                    <a:gd name="T1" fmla="*/ 223 h 234"/>
                    <a:gd name="T2" fmla="*/ 93 w 1561"/>
                    <a:gd name="T3" fmla="*/ 88 h 234"/>
                    <a:gd name="T4" fmla="*/ 134 w 1561"/>
                    <a:gd name="T5" fmla="*/ 65 h 234"/>
                    <a:gd name="T6" fmla="*/ 188 w 1561"/>
                    <a:gd name="T7" fmla="*/ 56 h 234"/>
                    <a:gd name="T8" fmla="*/ 315 w 1561"/>
                    <a:gd name="T9" fmla="*/ 48 h 234"/>
                    <a:gd name="T10" fmla="*/ 352 w 1561"/>
                    <a:gd name="T11" fmla="*/ 47 h 234"/>
                    <a:gd name="T12" fmla="*/ 446 w 1561"/>
                    <a:gd name="T13" fmla="*/ 29 h 234"/>
                    <a:gd name="T14" fmla="*/ 509 w 1561"/>
                    <a:gd name="T15" fmla="*/ 18 h 234"/>
                    <a:gd name="T16" fmla="*/ 559 w 1561"/>
                    <a:gd name="T17" fmla="*/ 25 h 234"/>
                    <a:gd name="T18" fmla="*/ 631 w 1561"/>
                    <a:gd name="T19" fmla="*/ 45 h 234"/>
                    <a:gd name="T20" fmla="*/ 694 w 1561"/>
                    <a:gd name="T21" fmla="*/ 40 h 234"/>
                    <a:gd name="T22" fmla="*/ 776 w 1561"/>
                    <a:gd name="T23" fmla="*/ 27 h 234"/>
                    <a:gd name="T24" fmla="*/ 853 w 1561"/>
                    <a:gd name="T25" fmla="*/ 14 h 234"/>
                    <a:gd name="T26" fmla="*/ 930 w 1561"/>
                    <a:gd name="T27" fmla="*/ 8 h 234"/>
                    <a:gd name="T28" fmla="*/ 1042 w 1561"/>
                    <a:gd name="T29" fmla="*/ 1 h 234"/>
                    <a:gd name="T30" fmla="*/ 1101 w 1561"/>
                    <a:gd name="T31" fmla="*/ 8 h 234"/>
                    <a:gd name="T32" fmla="*/ 1180 w 1561"/>
                    <a:gd name="T33" fmla="*/ 0 h 234"/>
                    <a:gd name="T34" fmla="*/ 1319 w 1561"/>
                    <a:gd name="T35" fmla="*/ 25 h 234"/>
                    <a:gd name="T36" fmla="*/ 1369 w 1561"/>
                    <a:gd name="T37" fmla="*/ 18 h 234"/>
                    <a:gd name="T38" fmla="*/ 1413 w 1561"/>
                    <a:gd name="T39" fmla="*/ 22 h 234"/>
                    <a:gd name="T40" fmla="*/ 1457 w 1561"/>
                    <a:gd name="T41" fmla="*/ 36 h 234"/>
                    <a:gd name="T42" fmla="*/ 1496 w 1561"/>
                    <a:gd name="T43" fmla="*/ 65 h 234"/>
                    <a:gd name="T44" fmla="*/ 1561 w 1561"/>
                    <a:gd name="T45" fmla="*/ 139 h 234"/>
                    <a:gd name="T46" fmla="*/ 1523 w 1561"/>
                    <a:gd name="T47" fmla="*/ 130 h 234"/>
                    <a:gd name="T48" fmla="*/ 1486 w 1561"/>
                    <a:gd name="T49" fmla="*/ 128 h 234"/>
                    <a:gd name="T50" fmla="*/ 1519 w 1561"/>
                    <a:gd name="T51" fmla="*/ 184 h 234"/>
                    <a:gd name="T52" fmla="*/ 1401 w 1561"/>
                    <a:gd name="T53" fmla="*/ 159 h 234"/>
                    <a:gd name="T54" fmla="*/ 1341 w 1561"/>
                    <a:gd name="T55" fmla="*/ 208 h 234"/>
                    <a:gd name="T56" fmla="*/ 1326 w 1561"/>
                    <a:gd name="T57" fmla="*/ 180 h 234"/>
                    <a:gd name="T58" fmla="*/ 1272 w 1561"/>
                    <a:gd name="T59" fmla="*/ 197 h 234"/>
                    <a:gd name="T60" fmla="*/ 1221 w 1561"/>
                    <a:gd name="T61" fmla="*/ 188 h 234"/>
                    <a:gd name="T62" fmla="*/ 1195 w 1561"/>
                    <a:gd name="T63" fmla="*/ 180 h 234"/>
                    <a:gd name="T64" fmla="*/ 1163 w 1561"/>
                    <a:gd name="T65" fmla="*/ 183 h 234"/>
                    <a:gd name="T66" fmla="*/ 1112 w 1561"/>
                    <a:gd name="T67" fmla="*/ 202 h 234"/>
                    <a:gd name="T68" fmla="*/ 1056 w 1561"/>
                    <a:gd name="T69" fmla="*/ 230 h 234"/>
                    <a:gd name="T70" fmla="*/ 907 w 1561"/>
                    <a:gd name="T71" fmla="*/ 205 h 234"/>
                    <a:gd name="T72" fmla="*/ 853 w 1561"/>
                    <a:gd name="T73" fmla="*/ 226 h 234"/>
                    <a:gd name="T74" fmla="*/ 707 w 1561"/>
                    <a:gd name="T75" fmla="*/ 188 h 234"/>
                    <a:gd name="T76" fmla="*/ 603 w 1561"/>
                    <a:gd name="T77" fmla="*/ 184 h 234"/>
                    <a:gd name="T78" fmla="*/ 515 w 1561"/>
                    <a:gd name="T79" fmla="*/ 234 h 234"/>
                    <a:gd name="T80" fmla="*/ 489 w 1561"/>
                    <a:gd name="T81" fmla="*/ 208 h 234"/>
                    <a:gd name="T82" fmla="*/ 378 w 1561"/>
                    <a:gd name="T83" fmla="*/ 166 h 234"/>
                    <a:gd name="T84" fmla="*/ 312 w 1561"/>
                    <a:gd name="T85" fmla="*/ 228 h 234"/>
                    <a:gd name="T86" fmla="*/ 264 w 1561"/>
                    <a:gd name="T87" fmla="*/ 212 h 234"/>
                    <a:gd name="T88" fmla="*/ 249 w 1561"/>
                    <a:gd name="T89" fmla="*/ 212 h 234"/>
                    <a:gd name="T90" fmla="*/ 202 w 1561"/>
                    <a:gd name="T91" fmla="*/ 186 h 234"/>
                    <a:gd name="T92" fmla="*/ 192 w 1561"/>
                    <a:gd name="T93" fmla="*/ 168 h 234"/>
                    <a:gd name="T94" fmla="*/ 155 w 1561"/>
                    <a:gd name="T95" fmla="*/ 177 h 234"/>
                    <a:gd name="T96" fmla="*/ 155 w 1561"/>
                    <a:gd name="T97" fmla="*/ 157 h 234"/>
                    <a:gd name="T98" fmla="*/ 72 w 1561"/>
                    <a:gd name="T99" fmla="*/ 162 h 234"/>
                    <a:gd name="T100" fmla="*/ 0 w 1561"/>
                    <a:gd name="T101" fmla="*/ 223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561" h="234">
                      <a:moveTo>
                        <a:pt x="0" y="223"/>
                      </a:moveTo>
                      <a:lnTo>
                        <a:pt x="93" y="88"/>
                      </a:lnTo>
                      <a:lnTo>
                        <a:pt x="134" y="65"/>
                      </a:lnTo>
                      <a:lnTo>
                        <a:pt x="188" y="56"/>
                      </a:lnTo>
                      <a:lnTo>
                        <a:pt x="315" y="48"/>
                      </a:lnTo>
                      <a:lnTo>
                        <a:pt x="352" y="47"/>
                      </a:lnTo>
                      <a:lnTo>
                        <a:pt x="446" y="29"/>
                      </a:lnTo>
                      <a:lnTo>
                        <a:pt x="509" y="18"/>
                      </a:lnTo>
                      <a:lnTo>
                        <a:pt x="559" y="25"/>
                      </a:lnTo>
                      <a:lnTo>
                        <a:pt x="631" y="45"/>
                      </a:lnTo>
                      <a:lnTo>
                        <a:pt x="694" y="40"/>
                      </a:lnTo>
                      <a:lnTo>
                        <a:pt x="776" y="27"/>
                      </a:lnTo>
                      <a:lnTo>
                        <a:pt x="853" y="14"/>
                      </a:lnTo>
                      <a:lnTo>
                        <a:pt x="930" y="8"/>
                      </a:lnTo>
                      <a:lnTo>
                        <a:pt x="1042" y="1"/>
                      </a:lnTo>
                      <a:lnTo>
                        <a:pt x="1101" y="8"/>
                      </a:lnTo>
                      <a:lnTo>
                        <a:pt x="1180" y="0"/>
                      </a:lnTo>
                      <a:lnTo>
                        <a:pt x="1319" y="25"/>
                      </a:lnTo>
                      <a:lnTo>
                        <a:pt x="1369" y="18"/>
                      </a:lnTo>
                      <a:lnTo>
                        <a:pt x="1413" y="22"/>
                      </a:lnTo>
                      <a:lnTo>
                        <a:pt x="1457" y="36"/>
                      </a:lnTo>
                      <a:lnTo>
                        <a:pt x="1496" y="65"/>
                      </a:lnTo>
                      <a:lnTo>
                        <a:pt x="1561" y="139"/>
                      </a:lnTo>
                      <a:lnTo>
                        <a:pt x="1523" y="130"/>
                      </a:lnTo>
                      <a:lnTo>
                        <a:pt x="1486" y="128"/>
                      </a:lnTo>
                      <a:lnTo>
                        <a:pt x="1519" y="184"/>
                      </a:lnTo>
                      <a:lnTo>
                        <a:pt x="1401" y="159"/>
                      </a:lnTo>
                      <a:lnTo>
                        <a:pt x="1341" y="208"/>
                      </a:lnTo>
                      <a:lnTo>
                        <a:pt x="1326" y="180"/>
                      </a:lnTo>
                      <a:lnTo>
                        <a:pt x="1272" y="197"/>
                      </a:lnTo>
                      <a:lnTo>
                        <a:pt x="1221" y="188"/>
                      </a:lnTo>
                      <a:lnTo>
                        <a:pt x="1195" y="180"/>
                      </a:lnTo>
                      <a:lnTo>
                        <a:pt x="1163" y="183"/>
                      </a:lnTo>
                      <a:lnTo>
                        <a:pt x="1112" y="202"/>
                      </a:lnTo>
                      <a:lnTo>
                        <a:pt x="1056" y="230"/>
                      </a:lnTo>
                      <a:lnTo>
                        <a:pt x="907" y="205"/>
                      </a:lnTo>
                      <a:lnTo>
                        <a:pt x="853" y="226"/>
                      </a:lnTo>
                      <a:lnTo>
                        <a:pt x="707" y="188"/>
                      </a:lnTo>
                      <a:lnTo>
                        <a:pt x="603" y="184"/>
                      </a:lnTo>
                      <a:lnTo>
                        <a:pt x="515" y="234"/>
                      </a:lnTo>
                      <a:lnTo>
                        <a:pt x="489" y="208"/>
                      </a:lnTo>
                      <a:lnTo>
                        <a:pt x="378" y="166"/>
                      </a:lnTo>
                      <a:lnTo>
                        <a:pt x="312" y="228"/>
                      </a:lnTo>
                      <a:lnTo>
                        <a:pt x="264" y="212"/>
                      </a:lnTo>
                      <a:lnTo>
                        <a:pt x="249" y="212"/>
                      </a:lnTo>
                      <a:lnTo>
                        <a:pt x="202" y="186"/>
                      </a:lnTo>
                      <a:lnTo>
                        <a:pt x="192" y="168"/>
                      </a:lnTo>
                      <a:lnTo>
                        <a:pt x="155" y="177"/>
                      </a:lnTo>
                      <a:lnTo>
                        <a:pt x="155" y="157"/>
                      </a:lnTo>
                      <a:lnTo>
                        <a:pt x="72" y="162"/>
                      </a:lnTo>
                      <a:lnTo>
                        <a:pt x="0" y="223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38" name="Group 346"/>
              <p:cNvGrpSpPr>
                <a:grpSpLocks/>
              </p:cNvGrpSpPr>
              <p:nvPr/>
            </p:nvGrpSpPr>
            <p:grpSpPr bwMode="auto">
              <a:xfrm>
                <a:off x="1581" y="2610"/>
                <a:ext cx="216" cy="88"/>
                <a:chOff x="1581" y="2610"/>
                <a:chExt cx="216" cy="88"/>
              </a:xfrm>
            </p:grpSpPr>
            <p:grpSp>
              <p:nvGrpSpPr>
                <p:cNvPr id="139" name="Group 347"/>
                <p:cNvGrpSpPr>
                  <a:grpSpLocks/>
                </p:cNvGrpSpPr>
                <p:nvPr/>
              </p:nvGrpSpPr>
              <p:grpSpPr bwMode="auto">
                <a:xfrm>
                  <a:off x="1663" y="2610"/>
                  <a:ext cx="134" cy="88"/>
                  <a:chOff x="1663" y="2610"/>
                  <a:chExt cx="134" cy="88"/>
                </a:xfrm>
              </p:grpSpPr>
              <p:sp>
                <p:nvSpPr>
                  <p:cNvPr id="143" name="Freeform 348"/>
                  <p:cNvSpPr>
                    <a:spLocks/>
                  </p:cNvSpPr>
                  <p:nvPr/>
                </p:nvSpPr>
                <p:spPr bwMode="auto">
                  <a:xfrm>
                    <a:off x="1712" y="2610"/>
                    <a:ext cx="85" cy="84"/>
                  </a:xfrm>
                  <a:custGeom>
                    <a:avLst/>
                    <a:gdLst>
                      <a:gd name="T0" fmla="*/ 11 w 170"/>
                      <a:gd name="T1" fmla="*/ 0 h 168"/>
                      <a:gd name="T2" fmla="*/ 69 w 170"/>
                      <a:gd name="T3" fmla="*/ 7 h 168"/>
                      <a:gd name="T4" fmla="*/ 113 w 170"/>
                      <a:gd name="T5" fmla="*/ 43 h 168"/>
                      <a:gd name="T6" fmla="*/ 115 w 170"/>
                      <a:gd name="T7" fmla="*/ 37 h 168"/>
                      <a:gd name="T8" fmla="*/ 166 w 170"/>
                      <a:gd name="T9" fmla="*/ 89 h 168"/>
                      <a:gd name="T10" fmla="*/ 170 w 170"/>
                      <a:gd name="T11" fmla="*/ 142 h 168"/>
                      <a:gd name="T12" fmla="*/ 140 w 170"/>
                      <a:gd name="T13" fmla="*/ 168 h 168"/>
                      <a:gd name="T14" fmla="*/ 28 w 170"/>
                      <a:gd name="T15" fmla="*/ 86 h 168"/>
                      <a:gd name="T16" fmla="*/ 0 w 170"/>
                      <a:gd name="T17" fmla="*/ 31 h 168"/>
                      <a:gd name="T18" fmla="*/ 11 w 170"/>
                      <a:gd name="T19" fmla="*/ 0 h 1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0" h="168">
                        <a:moveTo>
                          <a:pt x="11" y="0"/>
                        </a:moveTo>
                        <a:lnTo>
                          <a:pt x="69" y="7"/>
                        </a:lnTo>
                        <a:lnTo>
                          <a:pt x="113" y="43"/>
                        </a:lnTo>
                        <a:lnTo>
                          <a:pt x="115" y="37"/>
                        </a:lnTo>
                        <a:lnTo>
                          <a:pt x="166" y="89"/>
                        </a:lnTo>
                        <a:lnTo>
                          <a:pt x="170" y="142"/>
                        </a:lnTo>
                        <a:lnTo>
                          <a:pt x="140" y="168"/>
                        </a:lnTo>
                        <a:lnTo>
                          <a:pt x="28" y="86"/>
                        </a:lnTo>
                        <a:lnTo>
                          <a:pt x="0" y="31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CCCC00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144" name="Freeform 349"/>
                  <p:cNvSpPr>
                    <a:spLocks/>
                  </p:cNvSpPr>
                  <p:nvPr/>
                </p:nvSpPr>
                <p:spPr bwMode="auto">
                  <a:xfrm>
                    <a:off x="1663" y="2610"/>
                    <a:ext cx="117" cy="88"/>
                  </a:xfrm>
                  <a:custGeom>
                    <a:avLst/>
                    <a:gdLst>
                      <a:gd name="T0" fmla="*/ 108 w 234"/>
                      <a:gd name="T1" fmla="*/ 0 h 175"/>
                      <a:gd name="T2" fmla="*/ 79 w 234"/>
                      <a:gd name="T3" fmla="*/ 25 h 175"/>
                      <a:gd name="T4" fmla="*/ 54 w 234"/>
                      <a:gd name="T5" fmla="*/ 40 h 175"/>
                      <a:gd name="T6" fmla="*/ 39 w 234"/>
                      <a:gd name="T7" fmla="*/ 71 h 175"/>
                      <a:gd name="T8" fmla="*/ 24 w 234"/>
                      <a:gd name="T9" fmla="*/ 102 h 175"/>
                      <a:gd name="T10" fmla="*/ 16 w 234"/>
                      <a:gd name="T11" fmla="*/ 137 h 175"/>
                      <a:gd name="T12" fmla="*/ 12 w 234"/>
                      <a:gd name="T13" fmla="*/ 159 h 175"/>
                      <a:gd name="T14" fmla="*/ 0 w 234"/>
                      <a:gd name="T15" fmla="*/ 167 h 175"/>
                      <a:gd name="T16" fmla="*/ 106 w 234"/>
                      <a:gd name="T17" fmla="*/ 173 h 175"/>
                      <a:gd name="T18" fmla="*/ 193 w 234"/>
                      <a:gd name="T19" fmla="*/ 175 h 175"/>
                      <a:gd name="T20" fmla="*/ 234 w 234"/>
                      <a:gd name="T21" fmla="*/ 168 h 175"/>
                      <a:gd name="T22" fmla="*/ 224 w 234"/>
                      <a:gd name="T23" fmla="*/ 137 h 175"/>
                      <a:gd name="T24" fmla="*/ 199 w 234"/>
                      <a:gd name="T25" fmla="*/ 114 h 175"/>
                      <a:gd name="T26" fmla="*/ 188 w 234"/>
                      <a:gd name="T27" fmla="*/ 91 h 175"/>
                      <a:gd name="T28" fmla="*/ 177 w 234"/>
                      <a:gd name="T29" fmla="*/ 72 h 175"/>
                      <a:gd name="T30" fmla="*/ 160 w 234"/>
                      <a:gd name="T31" fmla="*/ 62 h 175"/>
                      <a:gd name="T32" fmla="*/ 137 w 234"/>
                      <a:gd name="T33" fmla="*/ 51 h 175"/>
                      <a:gd name="T34" fmla="*/ 127 w 234"/>
                      <a:gd name="T35" fmla="*/ 35 h 175"/>
                      <a:gd name="T36" fmla="*/ 119 w 234"/>
                      <a:gd name="T37" fmla="*/ 16 h 175"/>
                      <a:gd name="T38" fmla="*/ 108 w 234"/>
                      <a:gd name="T39" fmla="*/ 0 h 1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234" h="175">
                        <a:moveTo>
                          <a:pt x="108" y="0"/>
                        </a:moveTo>
                        <a:lnTo>
                          <a:pt x="79" y="25"/>
                        </a:lnTo>
                        <a:lnTo>
                          <a:pt x="54" y="40"/>
                        </a:lnTo>
                        <a:lnTo>
                          <a:pt x="39" y="71"/>
                        </a:lnTo>
                        <a:lnTo>
                          <a:pt x="24" y="102"/>
                        </a:lnTo>
                        <a:lnTo>
                          <a:pt x="16" y="137"/>
                        </a:lnTo>
                        <a:lnTo>
                          <a:pt x="12" y="159"/>
                        </a:lnTo>
                        <a:lnTo>
                          <a:pt x="0" y="167"/>
                        </a:lnTo>
                        <a:lnTo>
                          <a:pt x="106" y="173"/>
                        </a:lnTo>
                        <a:lnTo>
                          <a:pt x="193" y="175"/>
                        </a:lnTo>
                        <a:lnTo>
                          <a:pt x="234" y="168"/>
                        </a:lnTo>
                        <a:lnTo>
                          <a:pt x="224" y="137"/>
                        </a:lnTo>
                        <a:lnTo>
                          <a:pt x="199" y="114"/>
                        </a:lnTo>
                        <a:lnTo>
                          <a:pt x="188" y="91"/>
                        </a:lnTo>
                        <a:lnTo>
                          <a:pt x="177" y="72"/>
                        </a:lnTo>
                        <a:lnTo>
                          <a:pt x="160" y="62"/>
                        </a:lnTo>
                        <a:lnTo>
                          <a:pt x="137" y="51"/>
                        </a:lnTo>
                        <a:lnTo>
                          <a:pt x="127" y="35"/>
                        </a:lnTo>
                        <a:lnTo>
                          <a:pt x="119" y="16"/>
                        </a:lnTo>
                        <a:lnTo>
                          <a:pt x="108" y="0"/>
                        </a:lnTo>
                        <a:close/>
                      </a:path>
                    </a:pathLst>
                  </a:custGeom>
                  <a:solidFill>
                    <a:srgbClr val="CCCC00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140" name="Group 350"/>
                <p:cNvGrpSpPr>
                  <a:grpSpLocks/>
                </p:cNvGrpSpPr>
                <p:nvPr/>
              </p:nvGrpSpPr>
              <p:grpSpPr bwMode="auto">
                <a:xfrm>
                  <a:off x="1581" y="2617"/>
                  <a:ext cx="51" cy="44"/>
                  <a:chOff x="1581" y="2617"/>
                  <a:chExt cx="51" cy="44"/>
                </a:xfrm>
              </p:grpSpPr>
              <p:sp>
                <p:nvSpPr>
                  <p:cNvPr id="141" name="Freeform 351"/>
                  <p:cNvSpPr>
                    <a:spLocks/>
                  </p:cNvSpPr>
                  <p:nvPr/>
                </p:nvSpPr>
                <p:spPr bwMode="auto">
                  <a:xfrm>
                    <a:off x="1608" y="2617"/>
                    <a:ext cx="24" cy="39"/>
                  </a:xfrm>
                  <a:custGeom>
                    <a:avLst/>
                    <a:gdLst>
                      <a:gd name="T0" fmla="*/ 2 w 47"/>
                      <a:gd name="T1" fmla="*/ 0 h 78"/>
                      <a:gd name="T2" fmla="*/ 21 w 47"/>
                      <a:gd name="T3" fmla="*/ 14 h 78"/>
                      <a:gd name="T4" fmla="*/ 39 w 47"/>
                      <a:gd name="T5" fmla="*/ 43 h 78"/>
                      <a:gd name="T6" fmla="*/ 46 w 47"/>
                      <a:gd name="T7" fmla="*/ 60 h 78"/>
                      <a:gd name="T8" fmla="*/ 47 w 47"/>
                      <a:gd name="T9" fmla="*/ 78 h 78"/>
                      <a:gd name="T10" fmla="*/ 11 w 47"/>
                      <a:gd name="T11" fmla="*/ 71 h 78"/>
                      <a:gd name="T12" fmla="*/ 0 w 47"/>
                      <a:gd name="T13" fmla="*/ 31 h 78"/>
                      <a:gd name="T14" fmla="*/ 2 w 47"/>
                      <a:gd name="T15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7" h="78">
                        <a:moveTo>
                          <a:pt x="2" y="0"/>
                        </a:moveTo>
                        <a:lnTo>
                          <a:pt x="21" y="14"/>
                        </a:lnTo>
                        <a:lnTo>
                          <a:pt x="39" y="43"/>
                        </a:lnTo>
                        <a:lnTo>
                          <a:pt x="46" y="60"/>
                        </a:lnTo>
                        <a:lnTo>
                          <a:pt x="47" y="78"/>
                        </a:lnTo>
                        <a:lnTo>
                          <a:pt x="11" y="71"/>
                        </a:lnTo>
                        <a:lnTo>
                          <a:pt x="0" y="3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CCCC00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142" name="Freeform 352"/>
                  <p:cNvSpPr>
                    <a:spLocks/>
                  </p:cNvSpPr>
                  <p:nvPr/>
                </p:nvSpPr>
                <p:spPr bwMode="auto">
                  <a:xfrm>
                    <a:off x="1581" y="2618"/>
                    <a:ext cx="36" cy="43"/>
                  </a:xfrm>
                  <a:custGeom>
                    <a:avLst/>
                    <a:gdLst>
                      <a:gd name="T0" fmla="*/ 53 w 71"/>
                      <a:gd name="T1" fmla="*/ 0 h 86"/>
                      <a:gd name="T2" fmla="*/ 38 w 71"/>
                      <a:gd name="T3" fmla="*/ 13 h 86"/>
                      <a:gd name="T4" fmla="*/ 29 w 71"/>
                      <a:gd name="T5" fmla="*/ 18 h 86"/>
                      <a:gd name="T6" fmla="*/ 24 w 71"/>
                      <a:gd name="T7" fmla="*/ 29 h 86"/>
                      <a:gd name="T8" fmla="*/ 14 w 71"/>
                      <a:gd name="T9" fmla="*/ 38 h 86"/>
                      <a:gd name="T10" fmla="*/ 9 w 71"/>
                      <a:gd name="T11" fmla="*/ 65 h 86"/>
                      <a:gd name="T12" fmla="*/ 0 w 71"/>
                      <a:gd name="T13" fmla="*/ 72 h 86"/>
                      <a:gd name="T14" fmla="*/ 17 w 71"/>
                      <a:gd name="T15" fmla="*/ 86 h 86"/>
                      <a:gd name="T16" fmla="*/ 37 w 71"/>
                      <a:gd name="T17" fmla="*/ 76 h 86"/>
                      <a:gd name="T18" fmla="*/ 44 w 71"/>
                      <a:gd name="T19" fmla="*/ 82 h 86"/>
                      <a:gd name="T20" fmla="*/ 64 w 71"/>
                      <a:gd name="T21" fmla="*/ 71 h 86"/>
                      <a:gd name="T22" fmla="*/ 71 w 71"/>
                      <a:gd name="T23" fmla="*/ 60 h 86"/>
                      <a:gd name="T24" fmla="*/ 67 w 71"/>
                      <a:gd name="T25" fmla="*/ 43 h 86"/>
                      <a:gd name="T26" fmla="*/ 67 w 71"/>
                      <a:gd name="T27" fmla="*/ 29 h 86"/>
                      <a:gd name="T28" fmla="*/ 53 w 71"/>
                      <a:gd name="T29" fmla="*/ 0 h 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71" h="86">
                        <a:moveTo>
                          <a:pt x="53" y="0"/>
                        </a:moveTo>
                        <a:lnTo>
                          <a:pt x="38" y="13"/>
                        </a:lnTo>
                        <a:lnTo>
                          <a:pt x="29" y="18"/>
                        </a:lnTo>
                        <a:lnTo>
                          <a:pt x="24" y="29"/>
                        </a:lnTo>
                        <a:lnTo>
                          <a:pt x="14" y="38"/>
                        </a:lnTo>
                        <a:lnTo>
                          <a:pt x="9" y="65"/>
                        </a:lnTo>
                        <a:lnTo>
                          <a:pt x="0" y="72"/>
                        </a:lnTo>
                        <a:lnTo>
                          <a:pt x="17" y="86"/>
                        </a:lnTo>
                        <a:lnTo>
                          <a:pt x="37" y="76"/>
                        </a:lnTo>
                        <a:lnTo>
                          <a:pt x="44" y="82"/>
                        </a:lnTo>
                        <a:lnTo>
                          <a:pt x="64" y="71"/>
                        </a:lnTo>
                        <a:lnTo>
                          <a:pt x="71" y="60"/>
                        </a:lnTo>
                        <a:lnTo>
                          <a:pt x="67" y="43"/>
                        </a:lnTo>
                        <a:lnTo>
                          <a:pt x="67" y="29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CCCC00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</p:grpSp>
        </p:grpSp>
        <p:grpSp>
          <p:nvGrpSpPr>
            <p:cNvPr id="47" name="Group 353"/>
            <p:cNvGrpSpPr>
              <a:grpSpLocks/>
            </p:cNvGrpSpPr>
            <p:nvPr/>
          </p:nvGrpSpPr>
          <p:grpSpPr bwMode="auto">
            <a:xfrm>
              <a:off x="192" y="2357"/>
              <a:ext cx="1392" cy="510"/>
              <a:chOff x="915" y="2357"/>
              <a:chExt cx="1921" cy="510"/>
            </a:xfrm>
          </p:grpSpPr>
          <p:grpSp>
            <p:nvGrpSpPr>
              <p:cNvPr id="120" name="Group 354"/>
              <p:cNvGrpSpPr>
                <a:grpSpLocks/>
              </p:cNvGrpSpPr>
              <p:nvPr/>
            </p:nvGrpSpPr>
            <p:grpSpPr bwMode="auto">
              <a:xfrm>
                <a:off x="915" y="2357"/>
                <a:ext cx="1921" cy="510"/>
                <a:chOff x="915" y="2357"/>
                <a:chExt cx="1921" cy="510"/>
              </a:xfrm>
            </p:grpSpPr>
            <p:sp>
              <p:nvSpPr>
                <p:cNvPr id="135" name="Freeform 355"/>
                <p:cNvSpPr>
                  <a:spLocks/>
                </p:cNvSpPr>
                <p:nvPr/>
              </p:nvSpPr>
              <p:spPr bwMode="auto">
                <a:xfrm>
                  <a:off x="915" y="2357"/>
                  <a:ext cx="1921" cy="152"/>
                </a:xfrm>
                <a:custGeom>
                  <a:avLst/>
                  <a:gdLst>
                    <a:gd name="T0" fmla="*/ 0 w 3843"/>
                    <a:gd name="T1" fmla="*/ 303 h 304"/>
                    <a:gd name="T2" fmla="*/ 0 w 3843"/>
                    <a:gd name="T3" fmla="*/ 134 h 304"/>
                    <a:gd name="T4" fmla="*/ 126 w 3843"/>
                    <a:gd name="T5" fmla="*/ 115 h 304"/>
                    <a:gd name="T6" fmla="*/ 238 w 3843"/>
                    <a:gd name="T7" fmla="*/ 57 h 304"/>
                    <a:gd name="T8" fmla="*/ 529 w 3843"/>
                    <a:gd name="T9" fmla="*/ 104 h 304"/>
                    <a:gd name="T10" fmla="*/ 710 w 3843"/>
                    <a:gd name="T11" fmla="*/ 0 h 304"/>
                    <a:gd name="T12" fmla="*/ 848 w 3843"/>
                    <a:gd name="T13" fmla="*/ 58 h 304"/>
                    <a:gd name="T14" fmla="*/ 904 w 3843"/>
                    <a:gd name="T15" fmla="*/ 77 h 304"/>
                    <a:gd name="T16" fmla="*/ 1033 w 3843"/>
                    <a:gd name="T17" fmla="*/ 118 h 304"/>
                    <a:gd name="T18" fmla="*/ 1156 w 3843"/>
                    <a:gd name="T19" fmla="*/ 98 h 304"/>
                    <a:gd name="T20" fmla="*/ 1359 w 3843"/>
                    <a:gd name="T21" fmla="*/ 199 h 304"/>
                    <a:gd name="T22" fmla="*/ 1491 w 3843"/>
                    <a:gd name="T23" fmla="*/ 126 h 304"/>
                    <a:gd name="T24" fmla="*/ 1629 w 3843"/>
                    <a:gd name="T25" fmla="*/ 200 h 304"/>
                    <a:gd name="T26" fmla="*/ 1825 w 3843"/>
                    <a:gd name="T27" fmla="*/ 66 h 304"/>
                    <a:gd name="T28" fmla="*/ 1913 w 3843"/>
                    <a:gd name="T29" fmla="*/ 178 h 304"/>
                    <a:gd name="T30" fmla="*/ 2142 w 3843"/>
                    <a:gd name="T31" fmla="*/ 102 h 304"/>
                    <a:gd name="T32" fmla="*/ 2173 w 3843"/>
                    <a:gd name="T33" fmla="*/ 214 h 304"/>
                    <a:gd name="T34" fmla="*/ 2353 w 3843"/>
                    <a:gd name="T35" fmla="*/ 80 h 304"/>
                    <a:gd name="T36" fmla="*/ 2578 w 3843"/>
                    <a:gd name="T37" fmla="*/ 153 h 304"/>
                    <a:gd name="T38" fmla="*/ 2716 w 3843"/>
                    <a:gd name="T39" fmla="*/ 75 h 304"/>
                    <a:gd name="T40" fmla="*/ 2807 w 3843"/>
                    <a:gd name="T41" fmla="*/ 75 h 304"/>
                    <a:gd name="T42" fmla="*/ 2952 w 3843"/>
                    <a:gd name="T43" fmla="*/ 134 h 304"/>
                    <a:gd name="T44" fmla="*/ 3153 w 3843"/>
                    <a:gd name="T45" fmla="*/ 40 h 304"/>
                    <a:gd name="T46" fmla="*/ 3441 w 3843"/>
                    <a:gd name="T47" fmla="*/ 148 h 304"/>
                    <a:gd name="T48" fmla="*/ 3609 w 3843"/>
                    <a:gd name="T49" fmla="*/ 113 h 304"/>
                    <a:gd name="T50" fmla="*/ 3771 w 3843"/>
                    <a:gd name="T51" fmla="*/ 142 h 304"/>
                    <a:gd name="T52" fmla="*/ 3843 w 3843"/>
                    <a:gd name="T53" fmla="*/ 123 h 304"/>
                    <a:gd name="T54" fmla="*/ 3843 w 3843"/>
                    <a:gd name="T55" fmla="*/ 304 h 304"/>
                    <a:gd name="T56" fmla="*/ 0 w 3843"/>
                    <a:gd name="T57" fmla="*/ 303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843" h="304">
                      <a:moveTo>
                        <a:pt x="0" y="303"/>
                      </a:moveTo>
                      <a:lnTo>
                        <a:pt x="0" y="134"/>
                      </a:lnTo>
                      <a:lnTo>
                        <a:pt x="126" y="115"/>
                      </a:lnTo>
                      <a:lnTo>
                        <a:pt x="238" y="57"/>
                      </a:lnTo>
                      <a:lnTo>
                        <a:pt x="529" y="104"/>
                      </a:lnTo>
                      <a:lnTo>
                        <a:pt x="710" y="0"/>
                      </a:lnTo>
                      <a:lnTo>
                        <a:pt x="848" y="58"/>
                      </a:lnTo>
                      <a:lnTo>
                        <a:pt x="904" y="77"/>
                      </a:lnTo>
                      <a:lnTo>
                        <a:pt x="1033" y="118"/>
                      </a:lnTo>
                      <a:lnTo>
                        <a:pt x="1156" y="98"/>
                      </a:lnTo>
                      <a:lnTo>
                        <a:pt x="1359" y="199"/>
                      </a:lnTo>
                      <a:lnTo>
                        <a:pt x="1491" y="126"/>
                      </a:lnTo>
                      <a:lnTo>
                        <a:pt x="1629" y="200"/>
                      </a:lnTo>
                      <a:lnTo>
                        <a:pt x="1825" y="66"/>
                      </a:lnTo>
                      <a:lnTo>
                        <a:pt x="1913" y="178"/>
                      </a:lnTo>
                      <a:lnTo>
                        <a:pt x="2142" y="102"/>
                      </a:lnTo>
                      <a:lnTo>
                        <a:pt x="2173" y="214"/>
                      </a:lnTo>
                      <a:lnTo>
                        <a:pt x="2353" y="80"/>
                      </a:lnTo>
                      <a:lnTo>
                        <a:pt x="2578" y="153"/>
                      </a:lnTo>
                      <a:lnTo>
                        <a:pt x="2716" y="75"/>
                      </a:lnTo>
                      <a:lnTo>
                        <a:pt x="2807" y="75"/>
                      </a:lnTo>
                      <a:lnTo>
                        <a:pt x="2952" y="134"/>
                      </a:lnTo>
                      <a:lnTo>
                        <a:pt x="3153" y="40"/>
                      </a:lnTo>
                      <a:lnTo>
                        <a:pt x="3441" y="148"/>
                      </a:lnTo>
                      <a:lnTo>
                        <a:pt x="3609" y="113"/>
                      </a:lnTo>
                      <a:lnTo>
                        <a:pt x="3771" y="142"/>
                      </a:lnTo>
                      <a:lnTo>
                        <a:pt x="3843" y="123"/>
                      </a:lnTo>
                      <a:lnTo>
                        <a:pt x="3843" y="304"/>
                      </a:lnTo>
                      <a:lnTo>
                        <a:pt x="0" y="303"/>
                      </a:lnTo>
                      <a:close/>
                    </a:path>
                  </a:pathLst>
                </a:custGeom>
                <a:solidFill>
                  <a:srgbClr val="9FB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36" name="Freeform 356"/>
                <p:cNvSpPr>
                  <a:spLocks/>
                </p:cNvSpPr>
                <p:nvPr/>
              </p:nvSpPr>
              <p:spPr bwMode="auto">
                <a:xfrm>
                  <a:off x="915" y="2508"/>
                  <a:ext cx="1921" cy="359"/>
                </a:xfrm>
                <a:custGeom>
                  <a:avLst/>
                  <a:gdLst>
                    <a:gd name="T0" fmla="*/ 0 w 3843"/>
                    <a:gd name="T1" fmla="*/ 0 h 719"/>
                    <a:gd name="T2" fmla="*/ 0 w 3843"/>
                    <a:gd name="T3" fmla="*/ 719 h 719"/>
                    <a:gd name="T4" fmla="*/ 3843 w 3843"/>
                    <a:gd name="T5" fmla="*/ 714 h 719"/>
                    <a:gd name="T6" fmla="*/ 3843 w 3843"/>
                    <a:gd name="T7" fmla="*/ 1 h 719"/>
                    <a:gd name="T8" fmla="*/ 0 w 3843"/>
                    <a:gd name="T9" fmla="*/ 0 h 7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43" h="719">
                      <a:moveTo>
                        <a:pt x="0" y="0"/>
                      </a:moveTo>
                      <a:lnTo>
                        <a:pt x="0" y="719"/>
                      </a:lnTo>
                      <a:lnTo>
                        <a:pt x="3843" y="714"/>
                      </a:lnTo>
                      <a:lnTo>
                        <a:pt x="3843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1F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21" name="Group 357"/>
              <p:cNvGrpSpPr>
                <a:grpSpLocks/>
              </p:cNvGrpSpPr>
              <p:nvPr/>
            </p:nvGrpSpPr>
            <p:grpSpPr bwMode="auto">
              <a:xfrm>
                <a:off x="948" y="2598"/>
                <a:ext cx="1879" cy="234"/>
                <a:chOff x="948" y="2598"/>
                <a:chExt cx="1879" cy="234"/>
              </a:xfrm>
            </p:grpSpPr>
            <p:sp>
              <p:nvSpPr>
                <p:cNvPr id="122" name="Freeform 358"/>
                <p:cNvSpPr>
                  <a:spLocks/>
                </p:cNvSpPr>
                <p:nvPr/>
              </p:nvSpPr>
              <p:spPr bwMode="auto">
                <a:xfrm>
                  <a:off x="966" y="2757"/>
                  <a:ext cx="188" cy="30"/>
                </a:xfrm>
                <a:custGeom>
                  <a:avLst/>
                  <a:gdLst>
                    <a:gd name="T0" fmla="*/ 116 w 375"/>
                    <a:gd name="T1" fmla="*/ 0 h 61"/>
                    <a:gd name="T2" fmla="*/ 91 w 375"/>
                    <a:gd name="T3" fmla="*/ 5 h 61"/>
                    <a:gd name="T4" fmla="*/ 64 w 375"/>
                    <a:gd name="T5" fmla="*/ 6 h 61"/>
                    <a:gd name="T6" fmla="*/ 29 w 375"/>
                    <a:gd name="T7" fmla="*/ 15 h 61"/>
                    <a:gd name="T8" fmla="*/ 8 w 375"/>
                    <a:gd name="T9" fmla="*/ 28 h 61"/>
                    <a:gd name="T10" fmla="*/ 0 w 375"/>
                    <a:gd name="T11" fmla="*/ 45 h 61"/>
                    <a:gd name="T12" fmla="*/ 43 w 375"/>
                    <a:gd name="T13" fmla="*/ 55 h 61"/>
                    <a:gd name="T14" fmla="*/ 98 w 375"/>
                    <a:gd name="T15" fmla="*/ 61 h 61"/>
                    <a:gd name="T16" fmla="*/ 143 w 375"/>
                    <a:gd name="T17" fmla="*/ 50 h 61"/>
                    <a:gd name="T18" fmla="*/ 219 w 375"/>
                    <a:gd name="T19" fmla="*/ 51 h 61"/>
                    <a:gd name="T20" fmla="*/ 306 w 375"/>
                    <a:gd name="T21" fmla="*/ 57 h 61"/>
                    <a:gd name="T22" fmla="*/ 375 w 375"/>
                    <a:gd name="T23" fmla="*/ 50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75" h="61">
                      <a:moveTo>
                        <a:pt x="116" y="0"/>
                      </a:moveTo>
                      <a:lnTo>
                        <a:pt x="91" y="5"/>
                      </a:lnTo>
                      <a:lnTo>
                        <a:pt x="64" y="6"/>
                      </a:lnTo>
                      <a:lnTo>
                        <a:pt x="29" y="15"/>
                      </a:lnTo>
                      <a:lnTo>
                        <a:pt x="8" y="28"/>
                      </a:lnTo>
                      <a:lnTo>
                        <a:pt x="0" y="45"/>
                      </a:lnTo>
                      <a:lnTo>
                        <a:pt x="43" y="55"/>
                      </a:lnTo>
                      <a:lnTo>
                        <a:pt x="98" y="61"/>
                      </a:lnTo>
                      <a:lnTo>
                        <a:pt x="143" y="50"/>
                      </a:lnTo>
                      <a:lnTo>
                        <a:pt x="219" y="51"/>
                      </a:lnTo>
                      <a:lnTo>
                        <a:pt x="306" y="57"/>
                      </a:lnTo>
                      <a:lnTo>
                        <a:pt x="375" y="5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23" name="Freeform 359"/>
                <p:cNvSpPr>
                  <a:spLocks/>
                </p:cNvSpPr>
                <p:nvPr/>
              </p:nvSpPr>
              <p:spPr bwMode="auto">
                <a:xfrm>
                  <a:off x="948" y="2791"/>
                  <a:ext cx="148" cy="10"/>
                </a:xfrm>
                <a:custGeom>
                  <a:avLst/>
                  <a:gdLst>
                    <a:gd name="T0" fmla="*/ 0 w 297"/>
                    <a:gd name="T1" fmla="*/ 13 h 19"/>
                    <a:gd name="T2" fmla="*/ 44 w 297"/>
                    <a:gd name="T3" fmla="*/ 17 h 19"/>
                    <a:gd name="T4" fmla="*/ 128 w 297"/>
                    <a:gd name="T5" fmla="*/ 19 h 19"/>
                    <a:gd name="T6" fmla="*/ 164 w 297"/>
                    <a:gd name="T7" fmla="*/ 9 h 19"/>
                    <a:gd name="T8" fmla="*/ 197 w 297"/>
                    <a:gd name="T9" fmla="*/ 17 h 19"/>
                    <a:gd name="T10" fmla="*/ 245 w 297"/>
                    <a:gd name="T11" fmla="*/ 9 h 19"/>
                    <a:gd name="T12" fmla="*/ 297 w 297"/>
                    <a:gd name="T1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7" h="19">
                      <a:moveTo>
                        <a:pt x="0" y="13"/>
                      </a:moveTo>
                      <a:lnTo>
                        <a:pt x="44" y="17"/>
                      </a:lnTo>
                      <a:lnTo>
                        <a:pt x="128" y="19"/>
                      </a:lnTo>
                      <a:lnTo>
                        <a:pt x="164" y="9"/>
                      </a:lnTo>
                      <a:lnTo>
                        <a:pt x="197" y="17"/>
                      </a:lnTo>
                      <a:lnTo>
                        <a:pt x="245" y="9"/>
                      </a:lnTo>
                      <a:lnTo>
                        <a:pt x="297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24" name="Freeform 360"/>
                <p:cNvSpPr>
                  <a:spLocks/>
                </p:cNvSpPr>
                <p:nvPr/>
              </p:nvSpPr>
              <p:spPr bwMode="auto">
                <a:xfrm>
                  <a:off x="1155" y="2657"/>
                  <a:ext cx="167" cy="12"/>
                </a:xfrm>
                <a:custGeom>
                  <a:avLst/>
                  <a:gdLst>
                    <a:gd name="T0" fmla="*/ 0 w 334"/>
                    <a:gd name="T1" fmla="*/ 17 h 25"/>
                    <a:gd name="T2" fmla="*/ 104 w 334"/>
                    <a:gd name="T3" fmla="*/ 25 h 25"/>
                    <a:gd name="T4" fmla="*/ 142 w 334"/>
                    <a:gd name="T5" fmla="*/ 9 h 25"/>
                    <a:gd name="T6" fmla="*/ 207 w 334"/>
                    <a:gd name="T7" fmla="*/ 8 h 25"/>
                    <a:gd name="T8" fmla="*/ 243 w 334"/>
                    <a:gd name="T9" fmla="*/ 18 h 25"/>
                    <a:gd name="T10" fmla="*/ 276 w 334"/>
                    <a:gd name="T11" fmla="*/ 12 h 25"/>
                    <a:gd name="T12" fmla="*/ 334 w 334"/>
                    <a:gd name="T13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4" h="25">
                      <a:moveTo>
                        <a:pt x="0" y="17"/>
                      </a:moveTo>
                      <a:lnTo>
                        <a:pt x="104" y="25"/>
                      </a:lnTo>
                      <a:lnTo>
                        <a:pt x="142" y="9"/>
                      </a:lnTo>
                      <a:lnTo>
                        <a:pt x="207" y="8"/>
                      </a:lnTo>
                      <a:lnTo>
                        <a:pt x="243" y="18"/>
                      </a:lnTo>
                      <a:lnTo>
                        <a:pt x="276" y="12"/>
                      </a:lnTo>
                      <a:lnTo>
                        <a:pt x="334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25" name="Freeform 361"/>
                <p:cNvSpPr>
                  <a:spLocks/>
                </p:cNvSpPr>
                <p:nvPr/>
              </p:nvSpPr>
              <p:spPr bwMode="auto">
                <a:xfrm>
                  <a:off x="1255" y="2663"/>
                  <a:ext cx="54" cy="35"/>
                </a:xfrm>
                <a:custGeom>
                  <a:avLst/>
                  <a:gdLst>
                    <a:gd name="T0" fmla="*/ 0 w 109"/>
                    <a:gd name="T1" fmla="*/ 69 h 69"/>
                    <a:gd name="T2" fmla="*/ 20 w 109"/>
                    <a:gd name="T3" fmla="*/ 54 h 69"/>
                    <a:gd name="T4" fmla="*/ 47 w 109"/>
                    <a:gd name="T5" fmla="*/ 44 h 69"/>
                    <a:gd name="T6" fmla="*/ 66 w 109"/>
                    <a:gd name="T7" fmla="*/ 39 h 69"/>
                    <a:gd name="T8" fmla="*/ 84 w 109"/>
                    <a:gd name="T9" fmla="*/ 32 h 69"/>
                    <a:gd name="T10" fmla="*/ 99 w 109"/>
                    <a:gd name="T11" fmla="*/ 15 h 69"/>
                    <a:gd name="T12" fmla="*/ 109 w 109"/>
                    <a:gd name="T13" fmla="*/ 0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9" h="69">
                      <a:moveTo>
                        <a:pt x="0" y="69"/>
                      </a:moveTo>
                      <a:lnTo>
                        <a:pt x="20" y="54"/>
                      </a:lnTo>
                      <a:lnTo>
                        <a:pt x="47" y="44"/>
                      </a:lnTo>
                      <a:lnTo>
                        <a:pt x="66" y="39"/>
                      </a:lnTo>
                      <a:lnTo>
                        <a:pt x="84" y="32"/>
                      </a:lnTo>
                      <a:lnTo>
                        <a:pt x="99" y="15"/>
                      </a:lnTo>
                      <a:lnTo>
                        <a:pt x="109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26" name="Freeform 362"/>
                <p:cNvSpPr>
                  <a:spLocks/>
                </p:cNvSpPr>
                <p:nvPr/>
              </p:nvSpPr>
              <p:spPr bwMode="auto">
                <a:xfrm>
                  <a:off x="1360" y="2605"/>
                  <a:ext cx="148" cy="116"/>
                </a:xfrm>
                <a:custGeom>
                  <a:avLst/>
                  <a:gdLst>
                    <a:gd name="T0" fmla="*/ 113 w 297"/>
                    <a:gd name="T1" fmla="*/ 0 h 232"/>
                    <a:gd name="T2" fmla="*/ 67 w 297"/>
                    <a:gd name="T3" fmla="*/ 18 h 232"/>
                    <a:gd name="T4" fmla="*/ 39 w 297"/>
                    <a:gd name="T5" fmla="*/ 29 h 232"/>
                    <a:gd name="T6" fmla="*/ 17 w 297"/>
                    <a:gd name="T7" fmla="*/ 47 h 232"/>
                    <a:gd name="T8" fmla="*/ 0 w 297"/>
                    <a:gd name="T9" fmla="*/ 61 h 232"/>
                    <a:gd name="T10" fmla="*/ 4 w 297"/>
                    <a:gd name="T11" fmla="*/ 90 h 232"/>
                    <a:gd name="T12" fmla="*/ 16 w 297"/>
                    <a:gd name="T13" fmla="*/ 122 h 232"/>
                    <a:gd name="T14" fmla="*/ 58 w 297"/>
                    <a:gd name="T15" fmla="*/ 129 h 232"/>
                    <a:gd name="T16" fmla="*/ 104 w 297"/>
                    <a:gd name="T17" fmla="*/ 133 h 232"/>
                    <a:gd name="T18" fmla="*/ 131 w 297"/>
                    <a:gd name="T19" fmla="*/ 142 h 232"/>
                    <a:gd name="T20" fmla="*/ 169 w 297"/>
                    <a:gd name="T21" fmla="*/ 155 h 232"/>
                    <a:gd name="T22" fmla="*/ 200 w 297"/>
                    <a:gd name="T23" fmla="*/ 164 h 232"/>
                    <a:gd name="T24" fmla="*/ 247 w 297"/>
                    <a:gd name="T25" fmla="*/ 171 h 232"/>
                    <a:gd name="T26" fmla="*/ 226 w 297"/>
                    <a:gd name="T27" fmla="*/ 201 h 232"/>
                    <a:gd name="T28" fmla="*/ 209 w 297"/>
                    <a:gd name="T29" fmla="*/ 225 h 232"/>
                    <a:gd name="T30" fmla="*/ 258 w 297"/>
                    <a:gd name="T31" fmla="*/ 232 h 232"/>
                    <a:gd name="T32" fmla="*/ 297 w 297"/>
                    <a:gd name="T33" fmla="*/ 228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97" h="232">
                      <a:moveTo>
                        <a:pt x="113" y="0"/>
                      </a:moveTo>
                      <a:lnTo>
                        <a:pt x="67" y="18"/>
                      </a:lnTo>
                      <a:lnTo>
                        <a:pt x="39" y="29"/>
                      </a:lnTo>
                      <a:lnTo>
                        <a:pt x="17" y="47"/>
                      </a:lnTo>
                      <a:lnTo>
                        <a:pt x="0" y="61"/>
                      </a:lnTo>
                      <a:lnTo>
                        <a:pt x="4" y="90"/>
                      </a:lnTo>
                      <a:lnTo>
                        <a:pt x="16" y="122"/>
                      </a:lnTo>
                      <a:lnTo>
                        <a:pt x="58" y="129"/>
                      </a:lnTo>
                      <a:lnTo>
                        <a:pt x="104" y="133"/>
                      </a:lnTo>
                      <a:lnTo>
                        <a:pt x="131" y="142"/>
                      </a:lnTo>
                      <a:lnTo>
                        <a:pt x="169" y="155"/>
                      </a:lnTo>
                      <a:lnTo>
                        <a:pt x="200" y="164"/>
                      </a:lnTo>
                      <a:lnTo>
                        <a:pt x="247" y="171"/>
                      </a:lnTo>
                      <a:lnTo>
                        <a:pt x="226" y="201"/>
                      </a:lnTo>
                      <a:lnTo>
                        <a:pt x="209" y="225"/>
                      </a:lnTo>
                      <a:lnTo>
                        <a:pt x="258" y="232"/>
                      </a:lnTo>
                      <a:lnTo>
                        <a:pt x="297" y="22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27" name="Freeform 363"/>
                <p:cNvSpPr>
                  <a:spLocks/>
                </p:cNvSpPr>
                <p:nvPr/>
              </p:nvSpPr>
              <p:spPr bwMode="auto">
                <a:xfrm>
                  <a:off x="1443" y="2613"/>
                  <a:ext cx="537" cy="123"/>
                </a:xfrm>
                <a:custGeom>
                  <a:avLst/>
                  <a:gdLst>
                    <a:gd name="T0" fmla="*/ 149 w 1074"/>
                    <a:gd name="T1" fmla="*/ 0 h 246"/>
                    <a:gd name="T2" fmla="*/ 93 w 1074"/>
                    <a:gd name="T3" fmla="*/ 2 h 246"/>
                    <a:gd name="T4" fmla="*/ 51 w 1074"/>
                    <a:gd name="T5" fmla="*/ 8 h 246"/>
                    <a:gd name="T6" fmla="*/ 22 w 1074"/>
                    <a:gd name="T7" fmla="*/ 20 h 246"/>
                    <a:gd name="T8" fmla="*/ 8 w 1074"/>
                    <a:gd name="T9" fmla="*/ 39 h 246"/>
                    <a:gd name="T10" fmla="*/ 0 w 1074"/>
                    <a:gd name="T11" fmla="*/ 60 h 246"/>
                    <a:gd name="T12" fmla="*/ 8 w 1074"/>
                    <a:gd name="T13" fmla="*/ 79 h 246"/>
                    <a:gd name="T14" fmla="*/ 26 w 1074"/>
                    <a:gd name="T15" fmla="*/ 88 h 246"/>
                    <a:gd name="T16" fmla="*/ 63 w 1074"/>
                    <a:gd name="T17" fmla="*/ 97 h 246"/>
                    <a:gd name="T18" fmla="*/ 88 w 1074"/>
                    <a:gd name="T19" fmla="*/ 99 h 246"/>
                    <a:gd name="T20" fmla="*/ 113 w 1074"/>
                    <a:gd name="T21" fmla="*/ 98 h 246"/>
                    <a:gd name="T22" fmla="*/ 128 w 1074"/>
                    <a:gd name="T23" fmla="*/ 99 h 246"/>
                    <a:gd name="T24" fmla="*/ 134 w 1074"/>
                    <a:gd name="T25" fmla="*/ 115 h 246"/>
                    <a:gd name="T26" fmla="*/ 135 w 1074"/>
                    <a:gd name="T27" fmla="*/ 130 h 246"/>
                    <a:gd name="T28" fmla="*/ 160 w 1074"/>
                    <a:gd name="T29" fmla="*/ 137 h 246"/>
                    <a:gd name="T30" fmla="*/ 228 w 1074"/>
                    <a:gd name="T31" fmla="*/ 149 h 246"/>
                    <a:gd name="T32" fmla="*/ 243 w 1074"/>
                    <a:gd name="T33" fmla="*/ 144 h 246"/>
                    <a:gd name="T34" fmla="*/ 262 w 1074"/>
                    <a:gd name="T35" fmla="*/ 140 h 246"/>
                    <a:gd name="T36" fmla="*/ 288 w 1074"/>
                    <a:gd name="T37" fmla="*/ 146 h 246"/>
                    <a:gd name="T38" fmla="*/ 312 w 1074"/>
                    <a:gd name="T39" fmla="*/ 151 h 246"/>
                    <a:gd name="T40" fmla="*/ 336 w 1074"/>
                    <a:gd name="T41" fmla="*/ 155 h 246"/>
                    <a:gd name="T42" fmla="*/ 334 w 1074"/>
                    <a:gd name="T43" fmla="*/ 171 h 246"/>
                    <a:gd name="T44" fmla="*/ 324 w 1074"/>
                    <a:gd name="T45" fmla="*/ 189 h 246"/>
                    <a:gd name="T46" fmla="*/ 368 w 1074"/>
                    <a:gd name="T47" fmla="*/ 207 h 246"/>
                    <a:gd name="T48" fmla="*/ 483 w 1074"/>
                    <a:gd name="T49" fmla="*/ 246 h 246"/>
                    <a:gd name="T50" fmla="*/ 621 w 1074"/>
                    <a:gd name="T51" fmla="*/ 241 h 246"/>
                    <a:gd name="T52" fmla="*/ 841 w 1074"/>
                    <a:gd name="T53" fmla="*/ 218 h 246"/>
                    <a:gd name="T54" fmla="*/ 879 w 1074"/>
                    <a:gd name="T55" fmla="*/ 188 h 246"/>
                    <a:gd name="T56" fmla="*/ 972 w 1074"/>
                    <a:gd name="T57" fmla="*/ 184 h 246"/>
                    <a:gd name="T58" fmla="*/ 1074 w 1074"/>
                    <a:gd name="T59" fmla="*/ 200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74" h="246">
                      <a:moveTo>
                        <a:pt x="149" y="0"/>
                      </a:moveTo>
                      <a:lnTo>
                        <a:pt x="93" y="2"/>
                      </a:lnTo>
                      <a:lnTo>
                        <a:pt x="51" y="8"/>
                      </a:lnTo>
                      <a:lnTo>
                        <a:pt x="22" y="20"/>
                      </a:lnTo>
                      <a:lnTo>
                        <a:pt x="8" y="39"/>
                      </a:lnTo>
                      <a:lnTo>
                        <a:pt x="0" y="60"/>
                      </a:lnTo>
                      <a:lnTo>
                        <a:pt x="8" y="79"/>
                      </a:lnTo>
                      <a:lnTo>
                        <a:pt x="26" y="88"/>
                      </a:lnTo>
                      <a:lnTo>
                        <a:pt x="63" y="97"/>
                      </a:lnTo>
                      <a:lnTo>
                        <a:pt x="88" y="99"/>
                      </a:lnTo>
                      <a:lnTo>
                        <a:pt x="113" y="98"/>
                      </a:lnTo>
                      <a:lnTo>
                        <a:pt x="128" y="99"/>
                      </a:lnTo>
                      <a:lnTo>
                        <a:pt x="134" y="115"/>
                      </a:lnTo>
                      <a:lnTo>
                        <a:pt x="135" y="130"/>
                      </a:lnTo>
                      <a:lnTo>
                        <a:pt x="160" y="137"/>
                      </a:lnTo>
                      <a:lnTo>
                        <a:pt x="228" y="149"/>
                      </a:lnTo>
                      <a:lnTo>
                        <a:pt x="243" y="144"/>
                      </a:lnTo>
                      <a:lnTo>
                        <a:pt x="262" y="140"/>
                      </a:lnTo>
                      <a:lnTo>
                        <a:pt x="288" y="146"/>
                      </a:lnTo>
                      <a:lnTo>
                        <a:pt x="312" y="151"/>
                      </a:lnTo>
                      <a:lnTo>
                        <a:pt x="336" y="155"/>
                      </a:lnTo>
                      <a:lnTo>
                        <a:pt x="334" y="171"/>
                      </a:lnTo>
                      <a:lnTo>
                        <a:pt x="324" y="189"/>
                      </a:lnTo>
                      <a:lnTo>
                        <a:pt x="368" y="207"/>
                      </a:lnTo>
                      <a:lnTo>
                        <a:pt x="483" y="246"/>
                      </a:lnTo>
                      <a:lnTo>
                        <a:pt x="621" y="241"/>
                      </a:lnTo>
                      <a:lnTo>
                        <a:pt x="841" y="218"/>
                      </a:lnTo>
                      <a:lnTo>
                        <a:pt x="879" y="188"/>
                      </a:lnTo>
                      <a:lnTo>
                        <a:pt x="972" y="184"/>
                      </a:lnTo>
                      <a:lnTo>
                        <a:pt x="1074" y="20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28" name="Freeform 364"/>
                <p:cNvSpPr>
                  <a:spLocks/>
                </p:cNvSpPr>
                <p:nvPr/>
              </p:nvSpPr>
              <p:spPr bwMode="auto">
                <a:xfrm>
                  <a:off x="1902" y="2707"/>
                  <a:ext cx="373" cy="41"/>
                </a:xfrm>
                <a:custGeom>
                  <a:avLst/>
                  <a:gdLst>
                    <a:gd name="T0" fmla="*/ 0 w 746"/>
                    <a:gd name="T1" fmla="*/ 75 h 82"/>
                    <a:gd name="T2" fmla="*/ 25 w 746"/>
                    <a:gd name="T3" fmla="*/ 65 h 82"/>
                    <a:gd name="T4" fmla="*/ 53 w 746"/>
                    <a:gd name="T5" fmla="*/ 58 h 82"/>
                    <a:gd name="T6" fmla="*/ 94 w 746"/>
                    <a:gd name="T7" fmla="*/ 69 h 82"/>
                    <a:gd name="T8" fmla="*/ 142 w 746"/>
                    <a:gd name="T9" fmla="*/ 82 h 82"/>
                    <a:gd name="T10" fmla="*/ 192 w 746"/>
                    <a:gd name="T11" fmla="*/ 76 h 82"/>
                    <a:gd name="T12" fmla="*/ 230 w 746"/>
                    <a:gd name="T13" fmla="*/ 74 h 82"/>
                    <a:gd name="T14" fmla="*/ 250 w 746"/>
                    <a:gd name="T15" fmla="*/ 68 h 82"/>
                    <a:gd name="T16" fmla="*/ 288 w 746"/>
                    <a:gd name="T17" fmla="*/ 60 h 82"/>
                    <a:gd name="T18" fmla="*/ 323 w 746"/>
                    <a:gd name="T19" fmla="*/ 55 h 82"/>
                    <a:gd name="T20" fmla="*/ 379 w 746"/>
                    <a:gd name="T21" fmla="*/ 59 h 82"/>
                    <a:gd name="T22" fmla="*/ 424 w 746"/>
                    <a:gd name="T23" fmla="*/ 64 h 82"/>
                    <a:gd name="T24" fmla="*/ 444 w 746"/>
                    <a:gd name="T25" fmla="*/ 65 h 82"/>
                    <a:gd name="T26" fmla="*/ 510 w 746"/>
                    <a:gd name="T27" fmla="*/ 47 h 82"/>
                    <a:gd name="T28" fmla="*/ 582 w 746"/>
                    <a:gd name="T29" fmla="*/ 30 h 82"/>
                    <a:gd name="T30" fmla="*/ 662 w 746"/>
                    <a:gd name="T31" fmla="*/ 30 h 82"/>
                    <a:gd name="T32" fmla="*/ 746 w 746"/>
                    <a:gd name="T33" fmla="*/ 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46" h="82">
                      <a:moveTo>
                        <a:pt x="0" y="75"/>
                      </a:moveTo>
                      <a:lnTo>
                        <a:pt x="25" y="65"/>
                      </a:lnTo>
                      <a:lnTo>
                        <a:pt x="53" y="58"/>
                      </a:lnTo>
                      <a:lnTo>
                        <a:pt x="94" y="69"/>
                      </a:lnTo>
                      <a:lnTo>
                        <a:pt x="142" y="82"/>
                      </a:lnTo>
                      <a:lnTo>
                        <a:pt x="192" y="76"/>
                      </a:lnTo>
                      <a:lnTo>
                        <a:pt x="230" y="74"/>
                      </a:lnTo>
                      <a:lnTo>
                        <a:pt x="250" y="68"/>
                      </a:lnTo>
                      <a:lnTo>
                        <a:pt x="288" y="60"/>
                      </a:lnTo>
                      <a:lnTo>
                        <a:pt x="323" y="55"/>
                      </a:lnTo>
                      <a:lnTo>
                        <a:pt x="379" y="59"/>
                      </a:lnTo>
                      <a:lnTo>
                        <a:pt x="424" y="64"/>
                      </a:lnTo>
                      <a:lnTo>
                        <a:pt x="444" y="65"/>
                      </a:lnTo>
                      <a:lnTo>
                        <a:pt x="510" y="47"/>
                      </a:lnTo>
                      <a:lnTo>
                        <a:pt x="582" y="30"/>
                      </a:lnTo>
                      <a:lnTo>
                        <a:pt x="662" y="30"/>
                      </a:lnTo>
                      <a:lnTo>
                        <a:pt x="746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29" name="Freeform 365"/>
                <p:cNvSpPr>
                  <a:spLocks/>
                </p:cNvSpPr>
                <p:nvPr/>
              </p:nvSpPr>
              <p:spPr bwMode="auto">
                <a:xfrm>
                  <a:off x="2067" y="2609"/>
                  <a:ext cx="264" cy="98"/>
                </a:xfrm>
                <a:custGeom>
                  <a:avLst/>
                  <a:gdLst>
                    <a:gd name="T0" fmla="*/ 0 w 528"/>
                    <a:gd name="T1" fmla="*/ 197 h 197"/>
                    <a:gd name="T2" fmla="*/ 62 w 528"/>
                    <a:gd name="T3" fmla="*/ 188 h 197"/>
                    <a:gd name="T4" fmla="*/ 101 w 528"/>
                    <a:gd name="T5" fmla="*/ 183 h 197"/>
                    <a:gd name="T6" fmla="*/ 153 w 528"/>
                    <a:gd name="T7" fmla="*/ 169 h 197"/>
                    <a:gd name="T8" fmla="*/ 232 w 528"/>
                    <a:gd name="T9" fmla="*/ 164 h 197"/>
                    <a:gd name="T10" fmla="*/ 324 w 528"/>
                    <a:gd name="T11" fmla="*/ 151 h 197"/>
                    <a:gd name="T12" fmla="*/ 389 w 528"/>
                    <a:gd name="T13" fmla="*/ 143 h 197"/>
                    <a:gd name="T14" fmla="*/ 434 w 528"/>
                    <a:gd name="T15" fmla="*/ 120 h 197"/>
                    <a:gd name="T16" fmla="*/ 462 w 528"/>
                    <a:gd name="T17" fmla="*/ 112 h 197"/>
                    <a:gd name="T18" fmla="*/ 479 w 528"/>
                    <a:gd name="T19" fmla="*/ 107 h 197"/>
                    <a:gd name="T20" fmla="*/ 520 w 528"/>
                    <a:gd name="T21" fmla="*/ 71 h 197"/>
                    <a:gd name="T22" fmla="*/ 527 w 528"/>
                    <a:gd name="T23" fmla="*/ 55 h 197"/>
                    <a:gd name="T24" fmla="*/ 528 w 528"/>
                    <a:gd name="T25" fmla="*/ 40 h 197"/>
                    <a:gd name="T26" fmla="*/ 522 w 528"/>
                    <a:gd name="T27" fmla="*/ 31 h 197"/>
                    <a:gd name="T28" fmla="*/ 510 w 528"/>
                    <a:gd name="T29" fmla="*/ 22 h 197"/>
                    <a:gd name="T30" fmla="*/ 486 w 528"/>
                    <a:gd name="T31" fmla="*/ 22 h 197"/>
                    <a:gd name="T32" fmla="*/ 458 w 528"/>
                    <a:gd name="T33" fmla="*/ 9 h 197"/>
                    <a:gd name="T34" fmla="*/ 419 w 528"/>
                    <a:gd name="T35" fmla="*/ 0 h 197"/>
                    <a:gd name="T36" fmla="*/ 370 w 528"/>
                    <a:gd name="T37" fmla="*/ 0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28" h="197">
                      <a:moveTo>
                        <a:pt x="0" y="197"/>
                      </a:moveTo>
                      <a:lnTo>
                        <a:pt x="62" y="188"/>
                      </a:lnTo>
                      <a:lnTo>
                        <a:pt x="101" y="183"/>
                      </a:lnTo>
                      <a:lnTo>
                        <a:pt x="153" y="169"/>
                      </a:lnTo>
                      <a:lnTo>
                        <a:pt x="232" y="164"/>
                      </a:lnTo>
                      <a:lnTo>
                        <a:pt x="324" y="151"/>
                      </a:lnTo>
                      <a:lnTo>
                        <a:pt x="389" y="143"/>
                      </a:lnTo>
                      <a:lnTo>
                        <a:pt x="434" y="120"/>
                      </a:lnTo>
                      <a:lnTo>
                        <a:pt x="462" y="112"/>
                      </a:lnTo>
                      <a:lnTo>
                        <a:pt x="479" y="107"/>
                      </a:lnTo>
                      <a:lnTo>
                        <a:pt x="520" y="71"/>
                      </a:lnTo>
                      <a:lnTo>
                        <a:pt x="527" y="55"/>
                      </a:lnTo>
                      <a:lnTo>
                        <a:pt x="528" y="40"/>
                      </a:lnTo>
                      <a:lnTo>
                        <a:pt x="522" y="31"/>
                      </a:lnTo>
                      <a:lnTo>
                        <a:pt x="510" y="22"/>
                      </a:lnTo>
                      <a:lnTo>
                        <a:pt x="486" y="22"/>
                      </a:lnTo>
                      <a:lnTo>
                        <a:pt x="458" y="9"/>
                      </a:lnTo>
                      <a:lnTo>
                        <a:pt x="419" y="0"/>
                      </a:lnTo>
                      <a:lnTo>
                        <a:pt x="370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30" name="Freeform 366"/>
                <p:cNvSpPr>
                  <a:spLocks/>
                </p:cNvSpPr>
                <p:nvPr/>
              </p:nvSpPr>
              <p:spPr bwMode="auto">
                <a:xfrm>
                  <a:off x="2343" y="2598"/>
                  <a:ext cx="70" cy="93"/>
                </a:xfrm>
                <a:custGeom>
                  <a:avLst/>
                  <a:gdLst>
                    <a:gd name="T0" fmla="*/ 32 w 141"/>
                    <a:gd name="T1" fmla="*/ 185 h 185"/>
                    <a:gd name="T2" fmla="*/ 74 w 141"/>
                    <a:gd name="T3" fmla="*/ 154 h 185"/>
                    <a:gd name="T4" fmla="*/ 116 w 141"/>
                    <a:gd name="T5" fmla="*/ 127 h 185"/>
                    <a:gd name="T6" fmla="*/ 107 w 141"/>
                    <a:gd name="T7" fmla="*/ 110 h 185"/>
                    <a:gd name="T8" fmla="*/ 101 w 141"/>
                    <a:gd name="T9" fmla="*/ 86 h 185"/>
                    <a:gd name="T10" fmla="*/ 118 w 141"/>
                    <a:gd name="T11" fmla="*/ 60 h 185"/>
                    <a:gd name="T12" fmla="*/ 141 w 141"/>
                    <a:gd name="T13" fmla="*/ 39 h 185"/>
                    <a:gd name="T14" fmla="*/ 111 w 141"/>
                    <a:gd name="T15" fmla="*/ 22 h 185"/>
                    <a:gd name="T16" fmla="*/ 70 w 141"/>
                    <a:gd name="T17" fmla="*/ 0 h 185"/>
                    <a:gd name="T18" fmla="*/ 0 w 141"/>
                    <a:gd name="T19" fmla="*/ 6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1" h="185">
                      <a:moveTo>
                        <a:pt x="32" y="185"/>
                      </a:moveTo>
                      <a:lnTo>
                        <a:pt x="74" y="154"/>
                      </a:lnTo>
                      <a:lnTo>
                        <a:pt x="116" y="127"/>
                      </a:lnTo>
                      <a:lnTo>
                        <a:pt x="107" y="110"/>
                      </a:lnTo>
                      <a:lnTo>
                        <a:pt x="101" y="86"/>
                      </a:lnTo>
                      <a:lnTo>
                        <a:pt x="118" y="60"/>
                      </a:lnTo>
                      <a:lnTo>
                        <a:pt x="141" y="39"/>
                      </a:lnTo>
                      <a:lnTo>
                        <a:pt x="111" y="22"/>
                      </a:lnTo>
                      <a:lnTo>
                        <a:pt x="70" y="0"/>
                      </a:lnTo>
                      <a:lnTo>
                        <a:pt x="0" y="6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31" name="Freeform 367"/>
                <p:cNvSpPr>
                  <a:spLocks/>
                </p:cNvSpPr>
                <p:nvPr/>
              </p:nvSpPr>
              <p:spPr bwMode="auto">
                <a:xfrm>
                  <a:off x="2509" y="2676"/>
                  <a:ext cx="155" cy="10"/>
                </a:xfrm>
                <a:custGeom>
                  <a:avLst/>
                  <a:gdLst>
                    <a:gd name="T0" fmla="*/ 0 w 309"/>
                    <a:gd name="T1" fmla="*/ 4 h 20"/>
                    <a:gd name="T2" fmla="*/ 32 w 309"/>
                    <a:gd name="T3" fmla="*/ 0 h 20"/>
                    <a:gd name="T4" fmla="*/ 54 w 309"/>
                    <a:gd name="T5" fmla="*/ 5 h 20"/>
                    <a:gd name="T6" fmla="*/ 116 w 309"/>
                    <a:gd name="T7" fmla="*/ 20 h 20"/>
                    <a:gd name="T8" fmla="*/ 144 w 309"/>
                    <a:gd name="T9" fmla="*/ 17 h 20"/>
                    <a:gd name="T10" fmla="*/ 176 w 309"/>
                    <a:gd name="T11" fmla="*/ 14 h 20"/>
                    <a:gd name="T12" fmla="*/ 309 w 309"/>
                    <a:gd name="T13" fmla="*/ 1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9" h="20">
                      <a:moveTo>
                        <a:pt x="0" y="4"/>
                      </a:moveTo>
                      <a:lnTo>
                        <a:pt x="32" y="0"/>
                      </a:lnTo>
                      <a:lnTo>
                        <a:pt x="54" y="5"/>
                      </a:lnTo>
                      <a:lnTo>
                        <a:pt x="116" y="20"/>
                      </a:lnTo>
                      <a:lnTo>
                        <a:pt x="144" y="17"/>
                      </a:lnTo>
                      <a:lnTo>
                        <a:pt x="176" y="14"/>
                      </a:lnTo>
                      <a:lnTo>
                        <a:pt x="309" y="1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32" name="Freeform 368"/>
                <p:cNvSpPr>
                  <a:spLocks/>
                </p:cNvSpPr>
                <p:nvPr/>
              </p:nvSpPr>
              <p:spPr bwMode="auto">
                <a:xfrm>
                  <a:off x="2471" y="2690"/>
                  <a:ext cx="164" cy="16"/>
                </a:xfrm>
                <a:custGeom>
                  <a:avLst/>
                  <a:gdLst>
                    <a:gd name="T0" fmla="*/ 0 w 328"/>
                    <a:gd name="T1" fmla="*/ 6 h 32"/>
                    <a:gd name="T2" fmla="*/ 34 w 328"/>
                    <a:gd name="T3" fmla="*/ 0 h 32"/>
                    <a:gd name="T4" fmla="*/ 70 w 328"/>
                    <a:gd name="T5" fmla="*/ 1 h 32"/>
                    <a:gd name="T6" fmla="*/ 99 w 328"/>
                    <a:gd name="T7" fmla="*/ 11 h 32"/>
                    <a:gd name="T8" fmla="*/ 121 w 328"/>
                    <a:gd name="T9" fmla="*/ 19 h 32"/>
                    <a:gd name="T10" fmla="*/ 149 w 328"/>
                    <a:gd name="T11" fmla="*/ 14 h 32"/>
                    <a:gd name="T12" fmla="*/ 195 w 328"/>
                    <a:gd name="T13" fmla="*/ 12 h 32"/>
                    <a:gd name="T14" fmla="*/ 238 w 328"/>
                    <a:gd name="T15" fmla="*/ 17 h 32"/>
                    <a:gd name="T16" fmla="*/ 277 w 328"/>
                    <a:gd name="T17" fmla="*/ 26 h 32"/>
                    <a:gd name="T18" fmla="*/ 309 w 328"/>
                    <a:gd name="T19" fmla="*/ 29 h 32"/>
                    <a:gd name="T20" fmla="*/ 328 w 328"/>
                    <a:gd name="T2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28" h="32">
                      <a:moveTo>
                        <a:pt x="0" y="6"/>
                      </a:moveTo>
                      <a:lnTo>
                        <a:pt x="34" y="0"/>
                      </a:lnTo>
                      <a:lnTo>
                        <a:pt x="70" y="1"/>
                      </a:lnTo>
                      <a:lnTo>
                        <a:pt x="99" y="11"/>
                      </a:lnTo>
                      <a:lnTo>
                        <a:pt x="121" y="19"/>
                      </a:lnTo>
                      <a:lnTo>
                        <a:pt x="149" y="14"/>
                      </a:lnTo>
                      <a:lnTo>
                        <a:pt x="195" y="12"/>
                      </a:lnTo>
                      <a:lnTo>
                        <a:pt x="238" y="17"/>
                      </a:lnTo>
                      <a:lnTo>
                        <a:pt x="277" y="26"/>
                      </a:lnTo>
                      <a:lnTo>
                        <a:pt x="309" y="29"/>
                      </a:lnTo>
                      <a:lnTo>
                        <a:pt x="328" y="32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33" name="Freeform 369"/>
                <p:cNvSpPr>
                  <a:spLocks/>
                </p:cNvSpPr>
                <p:nvPr/>
              </p:nvSpPr>
              <p:spPr bwMode="auto">
                <a:xfrm>
                  <a:off x="2493" y="2707"/>
                  <a:ext cx="207" cy="125"/>
                </a:xfrm>
                <a:custGeom>
                  <a:avLst/>
                  <a:gdLst>
                    <a:gd name="T0" fmla="*/ 0 w 414"/>
                    <a:gd name="T1" fmla="*/ 0 h 248"/>
                    <a:gd name="T2" fmla="*/ 58 w 414"/>
                    <a:gd name="T3" fmla="*/ 27 h 248"/>
                    <a:gd name="T4" fmla="*/ 92 w 414"/>
                    <a:gd name="T5" fmla="*/ 42 h 248"/>
                    <a:gd name="T6" fmla="*/ 116 w 414"/>
                    <a:gd name="T7" fmla="*/ 58 h 248"/>
                    <a:gd name="T8" fmla="*/ 149 w 414"/>
                    <a:gd name="T9" fmla="*/ 77 h 248"/>
                    <a:gd name="T10" fmla="*/ 176 w 414"/>
                    <a:gd name="T11" fmla="*/ 105 h 248"/>
                    <a:gd name="T12" fmla="*/ 218 w 414"/>
                    <a:gd name="T13" fmla="*/ 142 h 248"/>
                    <a:gd name="T14" fmla="*/ 262 w 414"/>
                    <a:gd name="T15" fmla="*/ 153 h 248"/>
                    <a:gd name="T16" fmla="*/ 305 w 414"/>
                    <a:gd name="T17" fmla="*/ 163 h 248"/>
                    <a:gd name="T18" fmla="*/ 342 w 414"/>
                    <a:gd name="T19" fmla="*/ 201 h 248"/>
                    <a:gd name="T20" fmla="*/ 414 w 414"/>
                    <a:gd name="T21" fmla="*/ 248 h 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14" h="248">
                      <a:moveTo>
                        <a:pt x="0" y="0"/>
                      </a:moveTo>
                      <a:lnTo>
                        <a:pt x="58" y="27"/>
                      </a:lnTo>
                      <a:lnTo>
                        <a:pt x="92" y="42"/>
                      </a:lnTo>
                      <a:lnTo>
                        <a:pt x="116" y="58"/>
                      </a:lnTo>
                      <a:lnTo>
                        <a:pt x="149" y="77"/>
                      </a:lnTo>
                      <a:lnTo>
                        <a:pt x="176" y="105"/>
                      </a:lnTo>
                      <a:lnTo>
                        <a:pt x="218" y="142"/>
                      </a:lnTo>
                      <a:lnTo>
                        <a:pt x="262" y="153"/>
                      </a:lnTo>
                      <a:lnTo>
                        <a:pt x="305" y="163"/>
                      </a:lnTo>
                      <a:lnTo>
                        <a:pt x="342" y="201"/>
                      </a:lnTo>
                      <a:lnTo>
                        <a:pt x="414" y="24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134" name="Freeform 370"/>
                <p:cNvSpPr>
                  <a:spLocks/>
                </p:cNvSpPr>
                <p:nvPr/>
              </p:nvSpPr>
              <p:spPr bwMode="auto">
                <a:xfrm>
                  <a:off x="2724" y="2765"/>
                  <a:ext cx="103" cy="42"/>
                </a:xfrm>
                <a:custGeom>
                  <a:avLst/>
                  <a:gdLst>
                    <a:gd name="T0" fmla="*/ 0 w 208"/>
                    <a:gd name="T1" fmla="*/ 57 h 84"/>
                    <a:gd name="T2" fmla="*/ 28 w 208"/>
                    <a:gd name="T3" fmla="*/ 59 h 84"/>
                    <a:gd name="T4" fmla="*/ 55 w 208"/>
                    <a:gd name="T5" fmla="*/ 63 h 84"/>
                    <a:gd name="T6" fmla="*/ 82 w 208"/>
                    <a:gd name="T7" fmla="*/ 67 h 84"/>
                    <a:gd name="T8" fmla="*/ 117 w 208"/>
                    <a:gd name="T9" fmla="*/ 69 h 84"/>
                    <a:gd name="T10" fmla="*/ 164 w 208"/>
                    <a:gd name="T11" fmla="*/ 84 h 84"/>
                    <a:gd name="T12" fmla="*/ 177 w 208"/>
                    <a:gd name="T13" fmla="*/ 79 h 84"/>
                    <a:gd name="T14" fmla="*/ 196 w 208"/>
                    <a:gd name="T15" fmla="*/ 73 h 84"/>
                    <a:gd name="T16" fmla="*/ 204 w 208"/>
                    <a:gd name="T17" fmla="*/ 64 h 84"/>
                    <a:gd name="T18" fmla="*/ 208 w 208"/>
                    <a:gd name="T19" fmla="*/ 45 h 84"/>
                    <a:gd name="T20" fmla="*/ 204 w 208"/>
                    <a:gd name="T21" fmla="*/ 29 h 84"/>
                    <a:gd name="T22" fmla="*/ 198 w 208"/>
                    <a:gd name="T23" fmla="*/ 16 h 84"/>
                    <a:gd name="T24" fmla="*/ 187 w 208"/>
                    <a:gd name="T25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8" h="84">
                      <a:moveTo>
                        <a:pt x="0" y="57"/>
                      </a:moveTo>
                      <a:lnTo>
                        <a:pt x="28" y="59"/>
                      </a:lnTo>
                      <a:lnTo>
                        <a:pt x="55" y="63"/>
                      </a:lnTo>
                      <a:lnTo>
                        <a:pt x="82" y="67"/>
                      </a:lnTo>
                      <a:lnTo>
                        <a:pt x="117" y="69"/>
                      </a:lnTo>
                      <a:lnTo>
                        <a:pt x="164" y="84"/>
                      </a:lnTo>
                      <a:lnTo>
                        <a:pt x="177" y="79"/>
                      </a:lnTo>
                      <a:lnTo>
                        <a:pt x="196" y="73"/>
                      </a:lnTo>
                      <a:lnTo>
                        <a:pt x="204" y="64"/>
                      </a:lnTo>
                      <a:lnTo>
                        <a:pt x="208" y="45"/>
                      </a:lnTo>
                      <a:lnTo>
                        <a:pt x="204" y="29"/>
                      </a:lnTo>
                      <a:lnTo>
                        <a:pt x="198" y="16"/>
                      </a:lnTo>
                      <a:lnTo>
                        <a:pt x="187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48" name="Group 371"/>
            <p:cNvGrpSpPr>
              <a:grpSpLocks/>
            </p:cNvGrpSpPr>
            <p:nvPr/>
          </p:nvGrpSpPr>
          <p:grpSpPr bwMode="auto">
            <a:xfrm>
              <a:off x="609" y="2352"/>
              <a:ext cx="566" cy="346"/>
              <a:chOff x="1490" y="1892"/>
              <a:chExt cx="781" cy="806"/>
            </a:xfrm>
          </p:grpSpPr>
          <p:grpSp>
            <p:nvGrpSpPr>
              <p:cNvPr id="95" name="Group 372"/>
              <p:cNvGrpSpPr>
                <a:grpSpLocks/>
              </p:cNvGrpSpPr>
              <p:nvPr/>
            </p:nvGrpSpPr>
            <p:grpSpPr bwMode="auto">
              <a:xfrm>
                <a:off x="1490" y="1892"/>
                <a:ext cx="781" cy="775"/>
                <a:chOff x="1490" y="1892"/>
                <a:chExt cx="781" cy="775"/>
              </a:xfrm>
            </p:grpSpPr>
            <p:grpSp>
              <p:nvGrpSpPr>
                <p:cNvPr id="103" name="Group 373"/>
                <p:cNvGrpSpPr>
                  <a:grpSpLocks/>
                </p:cNvGrpSpPr>
                <p:nvPr/>
              </p:nvGrpSpPr>
              <p:grpSpPr bwMode="auto">
                <a:xfrm>
                  <a:off x="1537" y="1943"/>
                  <a:ext cx="705" cy="724"/>
                  <a:chOff x="1537" y="1943"/>
                  <a:chExt cx="705" cy="724"/>
                </a:xfrm>
              </p:grpSpPr>
              <p:grpSp>
                <p:nvGrpSpPr>
                  <p:cNvPr id="105" name="Group 374"/>
                  <p:cNvGrpSpPr>
                    <a:grpSpLocks/>
                  </p:cNvGrpSpPr>
                  <p:nvPr/>
                </p:nvGrpSpPr>
                <p:grpSpPr bwMode="auto">
                  <a:xfrm>
                    <a:off x="1537" y="1943"/>
                    <a:ext cx="705" cy="724"/>
                    <a:chOff x="1537" y="1943"/>
                    <a:chExt cx="705" cy="724"/>
                  </a:xfrm>
                </p:grpSpPr>
                <p:grpSp>
                  <p:nvGrpSpPr>
                    <p:cNvPr id="115" name="Group 3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7" y="1951"/>
                      <a:ext cx="705" cy="716"/>
                      <a:chOff x="1537" y="1951"/>
                      <a:chExt cx="705" cy="716"/>
                    </a:xfrm>
                  </p:grpSpPr>
                  <p:sp>
                    <p:nvSpPr>
                      <p:cNvPr id="117" name="Freeform 37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7" y="1953"/>
                        <a:ext cx="705" cy="714"/>
                      </a:xfrm>
                      <a:custGeom>
                        <a:avLst/>
                        <a:gdLst>
                          <a:gd name="T0" fmla="*/ 5 w 1410"/>
                          <a:gd name="T1" fmla="*/ 0 h 1430"/>
                          <a:gd name="T2" fmla="*/ 20 w 1410"/>
                          <a:gd name="T3" fmla="*/ 34 h 1430"/>
                          <a:gd name="T4" fmla="*/ 37 w 1410"/>
                          <a:gd name="T5" fmla="*/ 63 h 1430"/>
                          <a:gd name="T6" fmla="*/ 33 w 1410"/>
                          <a:gd name="T7" fmla="*/ 116 h 1430"/>
                          <a:gd name="T8" fmla="*/ 52 w 1410"/>
                          <a:gd name="T9" fmla="*/ 211 h 1430"/>
                          <a:gd name="T10" fmla="*/ 67 w 1410"/>
                          <a:gd name="T11" fmla="*/ 256 h 1430"/>
                          <a:gd name="T12" fmla="*/ 63 w 1410"/>
                          <a:gd name="T13" fmla="*/ 291 h 1430"/>
                          <a:gd name="T14" fmla="*/ 73 w 1410"/>
                          <a:gd name="T15" fmla="*/ 316 h 1430"/>
                          <a:gd name="T16" fmla="*/ 74 w 1410"/>
                          <a:gd name="T17" fmla="*/ 400 h 1430"/>
                          <a:gd name="T18" fmla="*/ 60 w 1410"/>
                          <a:gd name="T19" fmla="*/ 465 h 1430"/>
                          <a:gd name="T20" fmla="*/ 51 w 1410"/>
                          <a:gd name="T21" fmla="*/ 528 h 1430"/>
                          <a:gd name="T22" fmla="*/ 51 w 1410"/>
                          <a:gd name="T23" fmla="*/ 600 h 1430"/>
                          <a:gd name="T24" fmla="*/ 56 w 1410"/>
                          <a:gd name="T25" fmla="*/ 629 h 1430"/>
                          <a:gd name="T26" fmla="*/ 62 w 1410"/>
                          <a:gd name="T27" fmla="*/ 703 h 1430"/>
                          <a:gd name="T28" fmla="*/ 29 w 1410"/>
                          <a:gd name="T29" fmla="*/ 900 h 1430"/>
                          <a:gd name="T30" fmla="*/ 23 w 1410"/>
                          <a:gd name="T31" fmla="*/ 1106 h 1430"/>
                          <a:gd name="T32" fmla="*/ 29 w 1410"/>
                          <a:gd name="T33" fmla="*/ 1249 h 1430"/>
                          <a:gd name="T34" fmla="*/ 0 w 1410"/>
                          <a:gd name="T35" fmla="*/ 1343 h 1430"/>
                          <a:gd name="T36" fmla="*/ 7 w 1410"/>
                          <a:gd name="T37" fmla="*/ 1371 h 1430"/>
                          <a:gd name="T38" fmla="*/ 85 w 1410"/>
                          <a:gd name="T39" fmla="*/ 1364 h 1430"/>
                          <a:gd name="T40" fmla="*/ 194 w 1410"/>
                          <a:gd name="T41" fmla="*/ 1368 h 1430"/>
                          <a:gd name="T42" fmla="*/ 285 w 1410"/>
                          <a:gd name="T43" fmla="*/ 1385 h 1430"/>
                          <a:gd name="T44" fmla="*/ 361 w 1410"/>
                          <a:gd name="T45" fmla="*/ 1394 h 1430"/>
                          <a:gd name="T46" fmla="*/ 467 w 1410"/>
                          <a:gd name="T47" fmla="*/ 1418 h 1430"/>
                          <a:gd name="T48" fmla="*/ 727 w 1410"/>
                          <a:gd name="T49" fmla="*/ 1425 h 1430"/>
                          <a:gd name="T50" fmla="*/ 954 w 1410"/>
                          <a:gd name="T51" fmla="*/ 1425 h 1430"/>
                          <a:gd name="T52" fmla="*/ 1078 w 1410"/>
                          <a:gd name="T53" fmla="*/ 1430 h 1430"/>
                          <a:gd name="T54" fmla="*/ 1278 w 1410"/>
                          <a:gd name="T55" fmla="*/ 1403 h 1430"/>
                          <a:gd name="T56" fmla="*/ 1333 w 1410"/>
                          <a:gd name="T57" fmla="*/ 1396 h 1430"/>
                          <a:gd name="T58" fmla="*/ 1369 w 1410"/>
                          <a:gd name="T59" fmla="*/ 1383 h 1430"/>
                          <a:gd name="T60" fmla="*/ 1399 w 1410"/>
                          <a:gd name="T61" fmla="*/ 1346 h 1430"/>
                          <a:gd name="T62" fmla="*/ 1398 w 1410"/>
                          <a:gd name="T63" fmla="*/ 1323 h 1430"/>
                          <a:gd name="T64" fmla="*/ 1410 w 1410"/>
                          <a:gd name="T65" fmla="*/ 1284 h 1430"/>
                          <a:gd name="T66" fmla="*/ 1398 w 1410"/>
                          <a:gd name="T67" fmla="*/ 1225 h 1430"/>
                          <a:gd name="T68" fmla="*/ 1376 w 1410"/>
                          <a:gd name="T69" fmla="*/ 1160 h 1430"/>
                          <a:gd name="T70" fmla="*/ 1376 w 1410"/>
                          <a:gd name="T71" fmla="*/ 1098 h 1430"/>
                          <a:gd name="T72" fmla="*/ 1367 w 1410"/>
                          <a:gd name="T73" fmla="*/ 1014 h 1430"/>
                          <a:gd name="T74" fmla="*/ 1374 w 1410"/>
                          <a:gd name="T75" fmla="*/ 926 h 1430"/>
                          <a:gd name="T76" fmla="*/ 1359 w 1410"/>
                          <a:gd name="T77" fmla="*/ 852 h 1430"/>
                          <a:gd name="T78" fmla="*/ 1359 w 1410"/>
                          <a:gd name="T79" fmla="*/ 660 h 1430"/>
                          <a:gd name="T80" fmla="*/ 1355 w 1410"/>
                          <a:gd name="T81" fmla="*/ 579 h 1430"/>
                          <a:gd name="T82" fmla="*/ 1362 w 1410"/>
                          <a:gd name="T83" fmla="*/ 515 h 1430"/>
                          <a:gd name="T84" fmla="*/ 1352 w 1410"/>
                          <a:gd name="T85" fmla="*/ 488 h 1430"/>
                          <a:gd name="T86" fmla="*/ 1361 w 1410"/>
                          <a:gd name="T87" fmla="*/ 338 h 1430"/>
                          <a:gd name="T88" fmla="*/ 1351 w 1410"/>
                          <a:gd name="T89" fmla="*/ 302 h 1430"/>
                          <a:gd name="T90" fmla="*/ 1385 w 1410"/>
                          <a:gd name="T91" fmla="*/ 222 h 1430"/>
                          <a:gd name="T92" fmla="*/ 1367 w 1410"/>
                          <a:gd name="T93" fmla="*/ 0 h 1430"/>
                          <a:gd name="T94" fmla="*/ 5 w 1410"/>
                          <a:gd name="T95" fmla="*/ 0 h 14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</a:cxnLst>
                        <a:rect l="0" t="0" r="r" b="b"/>
                        <a:pathLst>
                          <a:path w="1410" h="1430">
                            <a:moveTo>
                              <a:pt x="5" y="0"/>
                            </a:moveTo>
                            <a:lnTo>
                              <a:pt x="20" y="34"/>
                            </a:lnTo>
                            <a:lnTo>
                              <a:pt x="37" y="63"/>
                            </a:lnTo>
                            <a:lnTo>
                              <a:pt x="33" y="116"/>
                            </a:lnTo>
                            <a:lnTo>
                              <a:pt x="52" y="211"/>
                            </a:lnTo>
                            <a:lnTo>
                              <a:pt x="67" y="256"/>
                            </a:lnTo>
                            <a:lnTo>
                              <a:pt x="63" y="291"/>
                            </a:lnTo>
                            <a:lnTo>
                              <a:pt x="73" y="316"/>
                            </a:lnTo>
                            <a:lnTo>
                              <a:pt x="74" y="400"/>
                            </a:lnTo>
                            <a:lnTo>
                              <a:pt x="60" y="465"/>
                            </a:lnTo>
                            <a:lnTo>
                              <a:pt x="51" y="528"/>
                            </a:lnTo>
                            <a:lnTo>
                              <a:pt x="51" y="600"/>
                            </a:lnTo>
                            <a:lnTo>
                              <a:pt x="56" y="629"/>
                            </a:lnTo>
                            <a:lnTo>
                              <a:pt x="62" y="703"/>
                            </a:lnTo>
                            <a:lnTo>
                              <a:pt x="29" y="900"/>
                            </a:lnTo>
                            <a:lnTo>
                              <a:pt x="23" y="1106"/>
                            </a:lnTo>
                            <a:lnTo>
                              <a:pt x="29" y="1249"/>
                            </a:lnTo>
                            <a:lnTo>
                              <a:pt x="0" y="1343"/>
                            </a:lnTo>
                            <a:lnTo>
                              <a:pt x="7" y="1371"/>
                            </a:lnTo>
                            <a:lnTo>
                              <a:pt x="85" y="1364"/>
                            </a:lnTo>
                            <a:lnTo>
                              <a:pt x="194" y="1368"/>
                            </a:lnTo>
                            <a:lnTo>
                              <a:pt x="285" y="1385"/>
                            </a:lnTo>
                            <a:lnTo>
                              <a:pt x="361" y="1394"/>
                            </a:lnTo>
                            <a:lnTo>
                              <a:pt x="467" y="1418"/>
                            </a:lnTo>
                            <a:lnTo>
                              <a:pt x="727" y="1425"/>
                            </a:lnTo>
                            <a:lnTo>
                              <a:pt x="954" y="1425"/>
                            </a:lnTo>
                            <a:lnTo>
                              <a:pt x="1078" y="1430"/>
                            </a:lnTo>
                            <a:lnTo>
                              <a:pt x="1278" y="1403"/>
                            </a:lnTo>
                            <a:lnTo>
                              <a:pt x="1333" y="1396"/>
                            </a:lnTo>
                            <a:lnTo>
                              <a:pt x="1369" y="1383"/>
                            </a:lnTo>
                            <a:lnTo>
                              <a:pt x="1399" y="1346"/>
                            </a:lnTo>
                            <a:lnTo>
                              <a:pt x="1398" y="1323"/>
                            </a:lnTo>
                            <a:lnTo>
                              <a:pt x="1410" y="1284"/>
                            </a:lnTo>
                            <a:lnTo>
                              <a:pt x="1398" y="1225"/>
                            </a:lnTo>
                            <a:lnTo>
                              <a:pt x="1376" y="1160"/>
                            </a:lnTo>
                            <a:lnTo>
                              <a:pt x="1376" y="1098"/>
                            </a:lnTo>
                            <a:lnTo>
                              <a:pt x="1367" y="1014"/>
                            </a:lnTo>
                            <a:lnTo>
                              <a:pt x="1374" y="926"/>
                            </a:lnTo>
                            <a:lnTo>
                              <a:pt x="1359" y="852"/>
                            </a:lnTo>
                            <a:lnTo>
                              <a:pt x="1359" y="660"/>
                            </a:lnTo>
                            <a:lnTo>
                              <a:pt x="1355" y="579"/>
                            </a:lnTo>
                            <a:lnTo>
                              <a:pt x="1362" y="515"/>
                            </a:lnTo>
                            <a:lnTo>
                              <a:pt x="1352" y="488"/>
                            </a:lnTo>
                            <a:lnTo>
                              <a:pt x="1361" y="338"/>
                            </a:lnTo>
                            <a:lnTo>
                              <a:pt x="1351" y="302"/>
                            </a:lnTo>
                            <a:lnTo>
                              <a:pt x="1385" y="222"/>
                            </a:lnTo>
                            <a:lnTo>
                              <a:pt x="1367" y="0"/>
                            </a:lnTo>
                            <a:lnTo>
                              <a:pt x="5" y="0"/>
                            </a:lnTo>
                            <a:close/>
                          </a:path>
                        </a:pathLst>
                      </a:custGeom>
                      <a:solidFill>
                        <a:srgbClr val="CCECF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18" name="Freeform 37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7" y="1952"/>
                        <a:ext cx="68" cy="685"/>
                      </a:xfrm>
                      <a:custGeom>
                        <a:avLst/>
                        <a:gdLst>
                          <a:gd name="T0" fmla="*/ 5 w 136"/>
                          <a:gd name="T1" fmla="*/ 0 h 1370"/>
                          <a:gd name="T2" fmla="*/ 20 w 136"/>
                          <a:gd name="T3" fmla="*/ 34 h 1370"/>
                          <a:gd name="T4" fmla="*/ 37 w 136"/>
                          <a:gd name="T5" fmla="*/ 63 h 1370"/>
                          <a:gd name="T6" fmla="*/ 33 w 136"/>
                          <a:gd name="T7" fmla="*/ 116 h 1370"/>
                          <a:gd name="T8" fmla="*/ 52 w 136"/>
                          <a:gd name="T9" fmla="*/ 211 h 1370"/>
                          <a:gd name="T10" fmla="*/ 67 w 136"/>
                          <a:gd name="T11" fmla="*/ 255 h 1370"/>
                          <a:gd name="T12" fmla="*/ 63 w 136"/>
                          <a:gd name="T13" fmla="*/ 291 h 1370"/>
                          <a:gd name="T14" fmla="*/ 73 w 136"/>
                          <a:gd name="T15" fmla="*/ 316 h 1370"/>
                          <a:gd name="T16" fmla="*/ 74 w 136"/>
                          <a:gd name="T17" fmla="*/ 400 h 1370"/>
                          <a:gd name="T18" fmla="*/ 60 w 136"/>
                          <a:gd name="T19" fmla="*/ 465 h 1370"/>
                          <a:gd name="T20" fmla="*/ 51 w 136"/>
                          <a:gd name="T21" fmla="*/ 528 h 1370"/>
                          <a:gd name="T22" fmla="*/ 51 w 136"/>
                          <a:gd name="T23" fmla="*/ 600 h 1370"/>
                          <a:gd name="T24" fmla="*/ 56 w 136"/>
                          <a:gd name="T25" fmla="*/ 629 h 1370"/>
                          <a:gd name="T26" fmla="*/ 62 w 136"/>
                          <a:gd name="T27" fmla="*/ 703 h 1370"/>
                          <a:gd name="T28" fmla="*/ 29 w 136"/>
                          <a:gd name="T29" fmla="*/ 900 h 1370"/>
                          <a:gd name="T30" fmla="*/ 23 w 136"/>
                          <a:gd name="T31" fmla="*/ 1106 h 1370"/>
                          <a:gd name="T32" fmla="*/ 29 w 136"/>
                          <a:gd name="T33" fmla="*/ 1249 h 1370"/>
                          <a:gd name="T34" fmla="*/ 0 w 136"/>
                          <a:gd name="T35" fmla="*/ 1342 h 1370"/>
                          <a:gd name="T36" fmla="*/ 7 w 136"/>
                          <a:gd name="T37" fmla="*/ 1370 h 1370"/>
                          <a:gd name="T38" fmla="*/ 97 w 136"/>
                          <a:gd name="T39" fmla="*/ 1367 h 1370"/>
                          <a:gd name="T40" fmla="*/ 92 w 136"/>
                          <a:gd name="T41" fmla="*/ 1272 h 1370"/>
                          <a:gd name="T42" fmla="*/ 85 w 136"/>
                          <a:gd name="T43" fmla="*/ 1157 h 1370"/>
                          <a:gd name="T44" fmla="*/ 74 w 136"/>
                          <a:gd name="T45" fmla="*/ 1015 h 1370"/>
                          <a:gd name="T46" fmla="*/ 78 w 136"/>
                          <a:gd name="T47" fmla="*/ 972 h 1370"/>
                          <a:gd name="T48" fmla="*/ 90 w 136"/>
                          <a:gd name="T49" fmla="*/ 835 h 1370"/>
                          <a:gd name="T50" fmla="*/ 119 w 136"/>
                          <a:gd name="T51" fmla="*/ 688 h 1370"/>
                          <a:gd name="T52" fmla="*/ 136 w 136"/>
                          <a:gd name="T53" fmla="*/ 518 h 1370"/>
                          <a:gd name="T54" fmla="*/ 132 w 136"/>
                          <a:gd name="T55" fmla="*/ 382 h 1370"/>
                          <a:gd name="T56" fmla="*/ 127 w 136"/>
                          <a:gd name="T57" fmla="*/ 232 h 1370"/>
                          <a:gd name="T58" fmla="*/ 110 w 136"/>
                          <a:gd name="T59" fmla="*/ 145 h 1370"/>
                          <a:gd name="T60" fmla="*/ 104 w 136"/>
                          <a:gd name="T61" fmla="*/ 110 h 1370"/>
                          <a:gd name="T62" fmla="*/ 110 w 136"/>
                          <a:gd name="T63" fmla="*/ 0 h 1370"/>
                          <a:gd name="T64" fmla="*/ 5 w 136"/>
                          <a:gd name="T65" fmla="*/ 0 h 13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</a:cxnLst>
                        <a:rect l="0" t="0" r="r" b="b"/>
                        <a:pathLst>
                          <a:path w="136" h="1370">
                            <a:moveTo>
                              <a:pt x="5" y="0"/>
                            </a:moveTo>
                            <a:lnTo>
                              <a:pt x="20" y="34"/>
                            </a:lnTo>
                            <a:lnTo>
                              <a:pt x="37" y="63"/>
                            </a:lnTo>
                            <a:lnTo>
                              <a:pt x="33" y="116"/>
                            </a:lnTo>
                            <a:lnTo>
                              <a:pt x="52" y="211"/>
                            </a:lnTo>
                            <a:lnTo>
                              <a:pt x="67" y="255"/>
                            </a:lnTo>
                            <a:lnTo>
                              <a:pt x="63" y="291"/>
                            </a:lnTo>
                            <a:lnTo>
                              <a:pt x="73" y="316"/>
                            </a:lnTo>
                            <a:lnTo>
                              <a:pt x="74" y="400"/>
                            </a:lnTo>
                            <a:lnTo>
                              <a:pt x="60" y="465"/>
                            </a:lnTo>
                            <a:lnTo>
                              <a:pt x="51" y="528"/>
                            </a:lnTo>
                            <a:lnTo>
                              <a:pt x="51" y="600"/>
                            </a:lnTo>
                            <a:lnTo>
                              <a:pt x="56" y="629"/>
                            </a:lnTo>
                            <a:lnTo>
                              <a:pt x="62" y="703"/>
                            </a:lnTo>
                            <a:lnTo>
                              <a:pt x="29" y="900"/>
                            </a:lnTo>
                            <a:lnTo>
                              <a:pt x="23" y="1106"/>
                            </a:lnTo>
                            <a:lnTo>
                              <a:pt x="29" y="1249"/>
                            </a:lnTo>
                            <a:lnTo>
                              <a:pt x="0" y="1342"/>
                            </a:lnTo>
                            <a:lnTo>
                              <a:pt x="7" y="1370"/>
                            </a:lnTo>
                            <a:lnTo>
                              <a:pt x="97" y="1367"/>
                            </a:lnTo>
                            <a:lnTo>
                              <a:pt x="92" y="1272"/>
                            </a:lnTo>
                            <a:lnTo>
                              <a:pt x="85" y="1157"/>
                            </a:lnTo>
                            <a:lnTo>
                              <a:pt x="74" y="1015"/>
                            </a:lnTo>
                            <a:lnTo>
                              <a:pt x="78" y="972"/>
                            </a:lnTo>
                            <a:lnTo>
                              <a:pt x="90" y="835"/>
                            </a:lnTo>
                            <a:lnTo>
                              <a:pt x="119" y="688"/>
                            </a:lnTo>
                            <a:lnTo>
                              <a:pt x="136" y="518"/>
                            </a:lnTo>
                            <a:lnTo>
                              <a:pt x="132" y="382"/>
                            </a:lnTo>
                            <a:lnTo>
                              <a:pt x="127" y="232"/>
                            </a:lnTo>
                            <a:lnTo>
                              <a:pt x="110" y="145"/>
                            </a:lnTo>
                            <a:lnTo>
                              <a:pt x="104" y="110"/>
                            </a:lnTo>
                            <a:lnTo>
                              <a:pt x="110" y="0"/>
                            </a:lnTo>
                            <a:lnTo>
                              <a:pt x="5" y="0"/>
                            </a:lnTo>
                            <a:close/>
                          </a:path>
                        </a:pathLst>
                      </a:custGeom>
                      <a:solidFill>
                        <a:srgbClr val="CCECF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119" name="Freeform 37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75" y="1951"/>
                        <a:ext cx="404" cy="716"/>
                      </a:xfrm>
                      <a:custGeom>
                        <a:avLst/>
                        <a:gdLst>
                          <a:gd name="T0" fmla="*/ 52 w 809"/>
                          <a:gd name="T1" fmla="*/ 0 h 1432"/>
                          <a:gd name="T2" fmla="*/ 70 w 809"/>
                          <a:gd name="T3" fmla="*/ 112 h 1432"/>
                          <a:gd name="T4" fmla="*/ 85 w 809"/>
                          <a:gd name="T5" fmla="*/ 158 h 1432"/>
                          <a:gd name="T6" fmla="*/ 87 w 809"/>
                          <a:gd name="T7" fmla="*/ 254 h 1432"/>
                          <a:gd name="T8" fmla="*/ 108 w 809"/>
                          <a:gd name="T9" fmla="*/ 458 h 1432"/>
                          <a:gd name="T10" fmla="*/ 101 w 809"/>
                          <a:gd name="T11" fmla="*/ 565 h 1432"/>
                          <a:gd name="T12" fmla="*/ 79 w 809"/>
                          <a:gd name="T13" fmla="*/ 682 h 1432"/>
                          <a:gd name="T14" fmla="*/ 100 w 809"/>
                          <a:gd name="T15" fmla="*/ 736 h 1432"/>
                          <a:gd name="T16" fmla="*/ 107 w 809"/>
                          <a:gd name="T17" fmla="*/ 798 h 1432"/>
                          <a:gd name="T18" fmla="*/ 110 w 809"/>
                          <a:gd name="T19" fmla="*/ 896 h 1432"/>
                          <a:gd name="T20" fmla="*/ 92 w 809"/>
                          <a:gd name="T21" fmla="*/ 961 h 1432"/>
                          <a:gd name="T22" fmla="*/ 61 w 809"/>
                          <a:gd name="T23" fmla="*/ 1034 h 1432"/>
                          <a:gd name="T24" fmla="*/ 63 w 809"/>
                          <a:gd name="T25" fmla="*/ 1238 h 1432"/>
                          <a:gd name="T26" fmla="*/ 0 w 809"/>
                          <a:gd name="T27" fmla="*/ 1354 h 1432"/>
                          <a:gd name="T28" fmla="*/ 1 w 809"/>
                          <a:gd name="T29" fmla="*/ 1385 h 1432"/>
                          <a:gd name="T30" fmla="*/ 96 w 809"/>
                          <a:gd name="T31" fmla="*/ 1397 h 1432"/>
                          <a:gd name="T32" fmla="*/ 184 w 809"/>
                          <a:gd name="T33" fmla="*/ 1420 h 1432"/>
                          <a:gd name="T34" fmla="*/ 408 w 809"/>
                          <a:gd name="T35" fmla="*/ 1426 h 1432"/>
                          <a:gd name="T36" fmla="*/ 627 w 809"/>
                          <a:gd name="T37" fmla="*/ 1427 h 1432"/>
                          <a:gd name="T38" fmla="*/ 801 w 809"/>
                          <a:gd name="T39" fmla="*/ 1432 h 1432"/>
                          <a:gd name="T40" fmla="*/ 799 w 809"/>
                          <a:gd name="T41" fmla="*/ 1283 h 1432"/>
                          <a:gd name="T42" fmla="*/ 809 w 809"/>
                          <a:gd name="T43" fmla="*/ 980 h 1432"/>
                          <a:gd name="T44" fmla="*/ 773 w 809"/>
                          <a:gd name="T45" fmla="*/ 900 h 1432"/>
                          <a:gd name="T46" fmla="*/ 726 w 809"/>
                          <a:gd name="T47" fmla="*/ 795 h 1432"/>
                          <a:gd name="T48" fmla="*/ 722 w 809"/>
                          <a:gd name="T49" fmla="*/ 742 h 1432"/>
                          <a:gd name="T50" fmla="*/ 728 w 809"/>
                          <a:gd name="T51" fmla="*/ 643 h 1432"/>
                          <a:gd name="T52" fmla="*/ 754 w 809"/>
                          <a:gd name="T53" fmla="*/ 450 h 1432"/>
                          <a:gd name="T54" fmla="*/ 737 w 809"/>
                          <a:gd name="T55" fmla="*/ 375 h 1432"/>
                          <a:gd name="T56" fmla="*/ 759 w 809"/>
                          <a:gd name="T57" fmla="*/ 265 h 1432"/>
                          <a:gd name="T58" fmla="*/ 788 w 809"/>
                          <a:gd name="T59" fmla="*/ 206 h 1432"/>
                          <a:gd name="T60" fmla="*/ 765 w 809"/>
                          <a:gd name="T61" fmla="*/ 0 h 1432"/>
                          <a:gd name="T62" fmla="*/ 52 w 809"/>
                          <a:gd name="T63" fmla="*/ 0 h 143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809" h="1432">
                            <a:moveTo>
                              <a:pt x="52" y="0"/>
                            </a:moveTo>
                            <a:lnTo>
                              <a:pt x="70" y="112"/>
                            </a:lnTo>
                            <a:lnTo>
                              <a:pt x="85" y="158"/>
                            </a:lnTo>
                            <a:lnTo>
                              <a:pt x="87" y="254"/>
                            </a:lnTo>
                            <a:lnTo>
                              <a:pt x="108" y="458"/>
                            </a:lnTo>
                            <a:lnTo>
                              <a:pt x="101" y="565"/>
                            </a:lnTo>
                            <a:lnTo>
                              <a:pt x="79" y="682"/>
                            </a:lnTo>
                            <a:lnTo>
                              <a:pt x="100" y="736"/>
                            </a:lnTo>
                            <a:lnTo>
                              <a:pt x="107" y="798"/>
                            </a:lnTo>
                            <a:lnTo>
                              <a:pt x="110" y="896"/>
                            </a:lnTo>
                            <a:lnTo>
                              <a:pt x="92" y="961"/>
                            </a:lnTo>
                            <a:lnTo>
                              <a:pt x="61" y="1034"/>
                            </a:lnTo>
                            <a:lnTo>
                              <a:pt x="63" y="1238"/>
                            </a:lnTo>
                            <a:lnTo>
                              <a:pt x="0" y="1354"/>
                            </a:lnTo>
                            <a:lnTo>
                              <a:pt x="1" y="1385"/>
                            </a:lnTo>
                            <a:lnTo>
                              <a:pt x="96" y="1397"/>
                            </a:lnTo>
                            <a:lnTo>
                              <a:pt x="184" y="1420"/>
                            </a:lnTo>
                            <a:lnTo>
                              <a:pt x="408" y="1426"/>
                            </a:lnTo>
                            <a:lnTo>
                              <a:pt x="627" y="1427"/>
                            </a:lnTo>
                            <a:lnTo>
                              <a:pt x="801" y="1432"/>
                            </a:lnTo>
                            <a:lnTo>
                              <a:pt x="799" y="1283"/>
                            </a:lnTo>
                            <a:lnTo>
                              <a:pt x="809" y="980"/>
                            </a:lnTo>
                            <a:lnTo>
                              <a:pt x="773" y="900"/>
                            </a:lnTo>
                            <a:lnTo>
                              <a:pt x="726" y="795"/>
                            </a:lnTo>
                            <a:lnTo>
                              <a:pt x="722" y="742"/>
                            </a:lnTo>
                            <a:lnTo>
                              <a:pt x="728" y="643"/>
                            </a:lnTo>
                            <a:lnTo>
                              <a:pt x="754" y="450"/>
                            </a:lnTo>
                            <a:lnTo>
                              <a:pt x="737" y="375"/>
                            </a:lnTo>
                            <a:lnTo>
                              <a:pt x="759" y="265"/>
                            </a:lnTo>
                            <a:lnTo>
                              <a:pt x="788" y="206"/>
                            </a:lnTo>
                            <a:lnTo>
                              <a:pt x="765" y="0"/>
                            </a:lnTo>
                            <a:lnTo>
                              <a:pt x="52" y="0"/>
                            </a:lnTo>
                            <a:close/>
                          </a:path>
                        </a:pathLst>
                      </a:custGeom>
                      <a:solidFill>
                        <a:srgbClr val="CCECFF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sp>
                  <p:nvSpPr>
                    <p:cNvPr id="116" name="Freeform 379"/>
                    <p:cNvSpPr>
                      <a:spLocks/>
                    </p:cNvSpPr>
                    <p:nvPr/>
                  </p:nvSpPr>
                  <p:spPr bwMode="auto">
                    <a:xfrm>
                      <a:off x="1539" y="1943"/>
                      <a:ext cx="690" cy="134"/>
                    </a:xfrm>
                    <a:custGeom>
                      <a:avLst/>
                      <a:gdLst>
                        <a:gd name="T0" fmla="*/ 0 w 1381"/>
                        <a:gd name="T1" fmla="*/ 6 h 266"/>
                        <a:gd name="T2" fmla="*/ 30 w 1381"/>
                        <a:gd name="T3" fmla="*/ 82 h 266"/>
                        <a:gd name="T4" fmla="*/ 52 w 1381"/>
                        <a:gd name="T5" fmla="*/ 99 h 266"/>
                        <a:gd name="T6" fmla="*/ 66 w 1381"/>
                        <a:gd name="T7" fmla="*/ 137 h 266"/>
                        <a:gd name="T8" fmla="*/ 76 w 1381"/>
                        <a:gd name="T9" fmla="*/ 162 h 266"/>
                        <a:gd name="T10" fmla="*/ 133 w 1381"/>
                        <a:gd name="T11" fmla="*/ 143 h 266"/>
                        <a:gd name="T12" fmla="*/ 174 w 1381"/>
                        <a:gd name="T13" fmla="*/ 113 h 266"/>
                        <a:gd name="T14" fmla="*/ 212 w 1381"/>
                        <a:gd name="T15" fmla="*/ 125 h 266"/>
                        <a:gd name="T16" fmla="*/ 234 w 1381"/>
                        <a:gd name="T17" fmla="*/ 248 h 266"/>
                        <a:gd name="T18" fmla="*/ 329 w 1381"/>
                        <a:gd name="T19" fmla="*/ 173 h 266"/>
                        <a:gd name="T20" fmla="*/ 415 w 1381"/>
                        <a:gd name="T21" fmla="*/ 123 h 266"/>
                        <a:gd name="T22" fmla="*/ 423 w 1381"/>
                        <a:gd name="T23" fmla="*/ 133 h 266"/>
                        <a:gd name="T24" fmla="*/ 467 w 1381"/>
                        <a:gd name="T25" fmla="*/ 137 h 266"/>
                        <a:gd name="T26" fmla="*/ 484 w 1381"/>
                        <a:gd name="T27" fmla="*/ 194 h 266"/>
                        <a:gd name="T28" fmla="*/ 522 w 1381"/>
                        <a:gd name="T29" fmla="*/ 184 h 266"/>
                        <a:gd name="T30" fmla="*/ 543 w 1381"/>
                        <a:gd name="T31" fmla="*/ 266 h 266"/>
                        <a:gd name="T32" fmla="*/ 604 w 1381"/>
                        <a:gd name="T33" fmla="*/ 216 h 266"/>
                        <a:gd name="T34" fmla="*/ 669 w 1381"/>
                        <a:gd name="T35" fmla="*/ 190 h 266"/>
                        <a:gd name="T36" fmla="*/ 711 w 1381"/>
                        <a:gd name="T37" fmla="*/ 128 h 266"/>
                        <a:gd name="T38" fmla="*/ 741 w 1381"/>
                        <a:gd name="T39" fmla="*/ 146 h 266"/>
                        <a:gd name="T40" fmla="*/ 768 w 1381"/>
                        <a:gd name="T41" fmla="*/ 218 h 266"/>
                        <a:gd name="T42" fmla="*/ 821 w 1381"/>
                        <a:gd name="T43" fmla="*/ 165 h 266"/>
                        <a:gd name="T44" fmla="*/ 859 w 1381"/>
                        <a:gd name="T45" fmla="*/ 193 h 266"/>
                        <a:gd name="T46" fmla="*/ 927 w 1381"/>
                        <a:gd name="T47" fmla="*/ 132 h 266"/>
                        <a:gd name="T48" fmla="*/ 944 w 1381"/>
                        <a:gd name="T49" fmla="*/ 146 h 266"/>
                        <a:gd name="T50" fmla="*/ 965 w 1381"/>
                        <a:gd name="T51" fmla="*/ 154 h 266"/>
                        <a:gd name="T52" fmla="*/ 987 w 1381"/>
                        <a:gd name="T53" fmla="*/ 246 h 266"/>
                        <a:gd name="T54" fmla="*/ 1021 w 1381"/>
                        <a:gd name="T55" fmla="*/ 194 h 266"/>
                        <a:gd name="T56" fmla="*/ 1071 w 1381"/>
                        <a:gd name="T57" fmla="*/ 143 h 266"/>
                        <a:gd name="T58" fmla="*/ 1095 w 1381"/>
                        <a:gd name="T59" fmla="*/ 167 h 266"/>
                        <a:gd name="T60" fmla="*/ 1145 w 1381"/>
                        <a:gd name="T61" fmla="*/ 122 h 266"/>
                        <a:gd name="T62" fmla="*/ 1183 w 1381"/>
                        <a:gd name="T63" fmla="*/ 132 h 266"/>
                        <a:gd name="T64" fmla="*/ 1199 w 1381"/>
                        <a:gd name="T65" fmla="*/ 151 h 266"/>
                        <a:gd name="T66" fmla="*/ 1208 w 1381"/>
                        <a:gd name="T67" fmla="*/ 190 h 266"/>
                        <a:gd name="T68" fmla="*/ 1222 w 1381"/>
                        <a:gd name="T69" fmla="*/ 145 h 266"/>
                        <a:gd name="T70" fmla="*/ 1227 w 1381"/>
                        <a:gd name="T71" fmla="*/ 130 h 266"/>
                        <a:gd name="T72" fmla="*/ 1279 w 1381"/>
                        <a:gd name="T73" fmla="*/ 114 h 266"/>
                        <a:gd name="T74" fmla="*/ 1357 w 1381"/>
                        <a:gd name="T75" fmla="*/ 106 h 266"/>
                        <a:gd name="T76" fmla="*/ 1381 w 1381"/>
                        <a:gd name="T77" fmla="*/ 0 h 266"/>
                        <a:gd name="T78" fmla="*/ 0 w 1381"/>
                        <a:gd name="T79" fmla="*/ 6 h 2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</a:cxnLst>
                      <a:rect l="0" t="0" r="r" b="b"/>
                      <a:pathLst>
                        <a:path w="1381" h="266">
                          <a:moveTo>
                            <a:pt x="0" y="6"/>
                          </a:moveTo>
                          <a:lnTo>
                            <a:pt x="30" y="82"/>
                          </a:lnTo>
                          <a:lnTo>
                            <a:pt x="52" y="99"/>
                          </a:lnTo>
                          <a:lnTo>
                            <a:pt x="66" y="137"/>
                          </a:lnTo>
                          <a:lnTo>
                            <a:pt x="76" y="162"/>
                          </a:lnTo>
                          <a:lnTo>
                            <a:pt x="133" y="143"/>
                          </a:lnTo>
                          <a:lnTo>
                            <a:pt x="174" y="113"/>
                          </a:lnTo>
                          <a:lnTo>
                            <a:pt x="212" y="125"/>
                          </a:lnTo>
                          <a:lnTo>
                            <a:pt x="234" y="248"/>
                          </a:lnTo>
                          <a:lnTo>
                            <a:pt x="329" y="173"/>
                          </a:lnTo>
                          <a:lnTo>
                            <a:pt x="415" y="123"/>
                          </a:lnTo>
                          <a:lnTo>
                            <a:pt x="423" y="133"/>
                          </a:lnTo>
                          <a:lnTo>
                            <a:pt x="467" y="137"/>
                          </a:lnTo>
                          <a:lnTo>
                            <a:pt x="484" y="194"/>
                          </a:lnTo>
                          <a:lnTo>
                            <a:pt x="522" y="184"/>
                          </a:lnTo>
                          <a:lnTo>
                            <a:pt x="543" y="266"/>
                          </a:lnTo>
                          <a:lnTo>
                            <a:pt x="604" y="216"/>
                          </a:lnTo>
                          <a:lnTo>
                            <a:pt x="669" y="190"/>
                          </a:lnTo>
                          <a:lnTo>
                            <a:pt x="711" y="128"/>
                          </a:lnTo>
                          <a:lnTo>
                            <a:pt x="741" y="146"/>
                          </a:lnTo>
                          <a:lnTo>
                            <a:pt x="768" y="218"/>
                          </a:lnTo>
                          <a:lnTo>
                            <a:pt x="821" y="165"/>
                          </a:lnTo>
                          <a:lnTo>
                            <a:pt x="859" y="193"/>
                          </a:lnTo>
                          <a:lnTo>
                            <a:pt x="927" y="132"/>
                          </a:lnTo>
                          <a:lnTo>
                            <a:pt x="944" y="146"/>
                          </a:lnTo>
                          <a:lnTo>
                            <a:pt x="965" y="154"/>
                          </a:lnTo>
                          <a:lnTo>
                            <a:pt x="987" y="246"/>
                          </a:lnTo>
                          <a:lnTo>
                            <a:pt x="1021" y="194"/>
                          </a:lnTo>
                          <a:lnTo>
                            <a:pt x="1071" y="143"/>
                          </a:lnTo>
                          <a:lnTo>
                            <a:pt x="1095" y="167"/>
                          </a:lnTo>
                          <a:lnTo>
                            <a:pt x="1145" y="122"/>
                          </a:lnTo>
                          <a:lnTo>
                            <a:pt x="1183" y="132"/>
                          </a:lnTo>
                          <a:lnTo>
                            <a:pt x="1199" y="151"/>
                          </a:lnTo>
                          <a:lnTo>
                            <a:pt x="1208" y="190"/>
                          </a:lnTo>
                          <a:lnTo>
                            <a:pt x="1222" y="145"/>
                          </a:lnTo>
                          <a:lnTo>
                            <a:pt x="1227" y="130"/>
                          </a:lnTo>
                          <a:lnTo>
                            <a:pt x="1279" y="114"/>
                          </a:lnTo>
                          <a:lnTo>
                            <a:pt x="1357" y="106"/>
                          </a:lnTo>
                          <a:lnTo>
                            <a:pt x="1381" y="0"/>
                          </a:lnTo>
                          <a:lnTo>
                            <a:pt x="0" y="6"/>
                          </a:lnTo>
                          <a:close/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  <p:grpSp>
                <p:nvGrpSpPr>
                  <p:cNvPr id="106" name="Group 380"/>
                  <p:cNvGrpSpPr>
                    <a:grpSpLocks/>
                  </p:cNvGrpSpPr>
                  <p:nvPr/>
                </p:nvGrpSpPr>
                <p:grpSpPr bwMode="auto">
                  <a:xfrm>
                    <a:off x="1588" y="1970"/>
                    <a:ext cx="636" cy="694"/>
                    <a:chOff x="1588" y="1970"/>
                    <a:chExt cx="636" cy="694"/>
                  </a:xfrm>
                </p:grpSpPr>
                <p:sp>
                  <p:nvSpPr>
                    <p:cNvPr id="107" name="Freeform 381"/>
                    <p:cNvSpPr>
                      <a:spLocks/>
                    </p:cNvSpPr>
                    <p:nvPr/>
                  </p:nvSpPr>
                  <p:spPr bwMode="auto">
                    <a:xfrm>
                      <a:off x="1588" y="1974"/>
                      <a:ext cx="5" cy="46"/>
                    </a:xfrm>
                    <a:custGeom>
                      <a:avLst/>
                      <a:gdLst>
                        <a:gd name="T0" fmla="*/ 6 w 11"/>
                        <a:gd name="T1" fmla="*/ 93 h 93"/>
                        <a:gd name="T2" fmla="*/ 0 w 11"/>
                        <a:gd name="T3" fmla="*/ 67 h 93"/>
                        <a:gd name="T4" fmla="*/ 11 w 11"/>
                        <a:gd name="T5" fmla="*/ 0 h 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1" h="93">
                          <a:moveTo>
                            <a:pt x="6" y="93"/>
                          </a:moveTo>
                          <a:lnTo>
                            <a:pt x="0" y="67"/>
                          </a:lnTo>
                          <a:lnTo>
                            <a:pt x="11" y="0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08" name="Freeform 382"/>
                    <p:cNvSpPr>
                      <a:spLocks/>
                    </p:cNvSpPr>
                    <p:nvPr/>
                  </p:nvSpPr>
                  <p:spPr bwMode="auto">
                    <a:xfrm>
                      <a:off x="1627" y="1970"/>
                      <a:ext cx="57" cy="664"/>
                    </a:xfrm>
                    <a:custGeom>
                      <a:avLst/>
                      <a:gdLst>
                        <a:gd name="T0" fmla="*/ 98 w 112"/>
                        <a:gd name="T1" fmla="*/ 0 h 1328"/>
                        <a:gd name="T2" fmla="*/ 109 w 112"/>
                        <a:gd name="T3" fmla="*/ 153 h 1328"/>
                        <a:gd name="T4" fmla="*/ 112 w 112"/>
                        <a:gd name="T5" fmla="*/ 396 h 1328"/>
                        <a:gd name="T6" fmla="*/ 105 w 112"/>
                        <a:gd name="T7" fmla="*/ 487 h 1328"/>
                        <a:gd name="T8" fmla="*/ 65 w 112"/>
                        <a:gd name="T9" fmla="*/ 589 h 1328"/>
                        <a:gd name="T10" fmla="*/ 69 w 112"/>
                        <a:gd name="T11" fmla="*/ 662 h 1328"/>
                        <a:gd name="T12" fmla="*/ 87 w 112"/>
                        <a:gd name="T13" fmla="*/ 840 h 1328"/>
                        <a:gd name="T14" fmla="*/ 36 w 112"/>
                        <a:gd name="T15" fmla="*/ 1040 h 1328"/>
                        <a:gd name="T16" fmla="*/ 29 w 112"/>
                        <a:gd name="T17" fmla="*/ 1171 h 1328"/>
                        <a:gd name="T18" fmla="*/ 0 w 112"/>
                        <a:gd name="T19" fmla="*/ 1328 h 13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12" h="1328">
                          <a:moveTo>
                            <a:pt x="98" y="0"/>
                          </a:moveTo>
                          <a:lnTo>
                            <a:pt x="109" y="153"/>
                          </a:lnTo>
                          <a:lnTo>
                            <a:pt x="112" y="396"/>
                          </a:lnTo>
                          <a:lnTo>
                            <a:pt x="105" y="487"/>
                          </a:lnTo>
                          <a:lnTo>
                            <a:pt x="65" y="589"/>
                          </a:lnTo>
                          <a:lnTo>
                            <a:pt x="69" y="662"/>
                          </a:lnTo>
                          <a:lnTo>
                            <a:pt x="87" y="840"/>
                          </a:lnTo>
                          <a:lnTo>
                            <a:pt x="36" y="1040"/>
                          </a:lnTo>
                          <a:lnTo>
                            <a:pt x="29" y="1171"/>
                          </a:lnTo>
                          <a:lnTo>
                            <a:pt x="0" y="1328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09" name="Freeform 383"/>
                    <p:cNvSpPr>
                      <a:spLocks/>
                    </p:cNvSpPr>
                    <p:nvPr/>
                  </p:nvSpPr>
                  <p:spPr bwMode="auto">
                    <a:xfrm>
                      <a:off x="1793" y="1970"/>
                      <a:ext cx="34" cy="690"/>
                    </a:xfrm>
                    <a:custGeom>
                      <a:avLst/>
                      <a:gdLst>
                        <a:gd name="T0" fmla="*/ 55 w 70"/>
                        <a:gd name="T1" fmla="*/ 0 h 1379"/>
                        <a:gd name="T2" fmla="*/ 44 w 70"/>
                        <a:gd name="T3" fmla="*/ 131 h 1379"/>
                        <a:gd name="T4" fmla="*/ 0 w 70"/>
                        <a:gd name="T5" fmla="*/ 451 h 1379"/>
                        <a:gd name="T6" fmla="*/ 44 w 70"/>
                        <a:gd name="T7" fmla="*/ 713 h 1379"/>
                        <a:gd name="T8" fmla="*/ 30 w 70"/>
                        <a:gd name="T9" fmla="*/ 836 h 1379"/>
                        <a:gd name="T10" fmla="*/ 19 w 70"/>
                        <a:gd name="T11" fmla="*/ 938 h 1379"/>
                        <a:gd name="T12" fmla="*/ 70 w 70"/>
                        <a:gd name="T13" fmla="*/ 1109 h 1379"/>
                        <a:gd name="T14" fmla="*/ 26 w 70"/>
                        <a:gd name="T15" fmla="*/ 1379 h 13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70" h="1379">
                          <a:moveTo>
                            <a:pt x="55" y="0"/>
                          </a:moveTo>
                          <a:lnTo>
                            <a:pt x="44" y="131"/>
                          </a:lnTo>
                          <a:lnTo>
                            <a:pt x="0" y="451"/>
                          </a:lnTo>
                          <a:lnTo>
                            <a:pt x="44" y="713"/>
                          </a:lnTo>
                          <a:lnTo>
                            <a:pt x="30" y="836"/>
                          </a:lnTo>
                          <a:lnTo>
                            <a:pt x="19" y="938"/>
                          </a:lnTo>
                          <a:lnTo>
                            <a:pt x="70" y="1109"/>
                          </a:lnTo>
                          <a:lnTo>
                            <a:pt x="26" y="1379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10" name="Freeform 384"/>
                    <p:cNvSpPr>
                      <a:spLocks/>
                    </p:cNvSpPr>
                    <p:nvPr/>
                  </p:nvSpPr>
                  <p:spPr bwMode="auto">
                    <a:xfrm>
                      <a:off x="1898" y="2130"/>
                      <a:ext cx="71" cy="534"/>
                    </a:xfrm>
                    <a:custGeom>
                      <a:avLst/>
                      <a:gdLst>
                        <a:gd name="T0" fmla="*/ 33 w 142"/>
                        <a:gd name="T1" fmla="*/ 0 h 1069"/>
                        <a:gd name="T2" fmla="*/ 0 w 142"/>
                        <a:gd name="T3" fmla="*/ 211 h 1069"/>
                        <a:gd name="T4" fmla="*/ 11 w 142"/>
                        <a:gd name="T5" fmla="*/ 393 h 1069"/>
                        <a:gd name="T6" fmla="*/ 95 w 142"/>
                        <a:gd name="T7" fmla="*/ 665 h 1069"/>
                        <a:gd name="T8" fmla="*/ 87 w 142"/>
                        <a:gd name="T9" fmla="*/ 782 h 1069"/>
                        <a:gd name="T10" fmla="*/ 127 w 142"/>
                        <a:gd name="T11" fmla="*/ 854 h 1069"/>
                        <a:gd name="T12" fmla="*/ 142 w 142"/>
                        <a:gd name="T13" fmla="*/ 1069 h 10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42" h="1069">
                          <a:moveTo>
                            <a:pt x="33" y="0"/>
                          </a:moveTo>
                          <a:lnTo>
                            <a:pt x="0" y="211"/>
                          </a:lnTo>
                          <a:lnTo>
                            <a:pt x="11" y="393"/>
                          </a:lnTo>
                          <a:lnTo>
                            <a:pt x="95" y="665"/>
                          </a:lnTo>
                          <a:lnTo>
                            <a:pt x="87" y="782"/>
                          </a:lnTo>
                          <a:lnTo>
                            <a:pt x="127" y="854"/>
                          </a:lnTo>
                          <a:lnTo>
                            <a:pt x="142" y="1069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11" name="Freeform 385"/>
                    <p:cNvSpPr>
                      <a:spLocks/>
                    </p:cNvSpPr>
                    <p:nvPr/>
                  </p:nvSpPr>
                  <p:spPr bwMode="auto">
                    <a:xfrm>
                      <a:off x="2094" y="1977"/>
                      <a:ext cx="55" cy="681"/>
                    </a:xfrm>
                    <a:custGeom>
                      <a:avLst/>
                      <a:gdLst>
                        <a:gd name="T0" fmla="*/ 40 w 109"/>
                        <a:gd name="T1" fmla="*/ 0 h 1361"/>
                        <a:gd name="T2" fmla="*/ 83 w 109"/>
                        <a:gd name="T3" fmla="*/ 211 h 1361"/>
                        <a:gd name="T4" fmla="*/ 18 w 109"/>
                        <a:gd name="T5" fmla="*/ 389 h 1361"/>
                        <a:gd name="T6" fmla="*/ 0 w 109"/>
                        <a:gd name="T7" fmla="*/ 530 h 1361"/>
                        <a:gd name="T8" fmla="*/ 22 w 109"/>
                        <a:gd name="T9" fmla="*/ 661 h 1361"/>
                        <a:gd name="T10" fmla="*/ 76 w 109"/>
                        <a:gd name="T11" fmla="*/ 796 h 1361"/>
                        <a:gd name="T12" fmla="*/ 109 w 109"/>
                        <a:gd name="T13" fmla="*/ 865 h 1361"/>
                        <a:gd name="T14" fmla="*/ 80 w 109"/>
                        <a:gd name="T15" fmla="*/ 1090 h 1361"/>
                        <a:gd name="T16" fmla="*/ 105 w 109"/>
                        <a:gd name="T17" fmla="*/ 1145 h 1361"/>
                        <a:gd name="T18" fmla="*/ 85 w 109"/>
                        <a:gd name="T19" fmla="*/ 1361 h 13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09" h="1361">
                          <a:moveTo>
                            <a:pt x="40" y="0"/>
                          </a:moveTo>
                          <a:lnTo>
                            <a:pt x="83" y="211"/>
                          </a:lnTo>
                          <a:lnTo>
                            <a:pt x="18" y="389"/>
                          </a:lnTo>
                          <a:lnTo>
                            <a:pt x="0" y="530"/>
                          </a:lnTo>
                          <a:lnTo>
                            <a:pt x="22" y="661"/>
                          </a:lnTo>
                          <a:lnTo>
                            <a:pt x="76" y="796"/>
                          </a:lnTo>
                          <a:lnTo>
                            <a:pt x="109" y="865"/>
                          </a:lnTo>
                          <a:lnTo>
                            <a:pt x="80" y="1090"/>
                          </a:lnTo>
                          <a:lnTo>
                            <a:pt x="105" y="1145"/>
                          </a:lnTo>
                          <a:lnTo>
                            <a:pt x="85" y="1361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12" name="Freeform 386"/>
                    <p:cNvSpPr>
                      <a:spLocks/>
                    </p:cNvSpPr>
                    <p:nvPr/>
                  </p:nvSpPr>
                  <p:spPr bwMode="auto">
                    <a:xfrm>
                      <a:off x="2173" y="1974"/>
                      <a:ext cx="45" cy="441"/>
                    </a:xfrm>
                    <a:custGeom>
                      <a:avLst/>
                      <a:gdLst>
                        <a:gd name="T0" fmla="*/ 4 w 91"/>
                        <a:gd name="T1" fmla="*/ 0 h 884"/>
                        <a:gd name="T2" fmla="*/ 0 w 91"/>
                        <a:gd name="T3" fmla="*/ 204 h 884"/>
                        <a:gd name="T4" fmla="*/ 40 w 91"/>
                        <a:gd name="T5" fmla="*/ 309 h 884"/>
                        <a:gd name="T6" fmla="*/ 7 w 91"/>
                        <a:gd name="T7" fmla="*/ 495 h 884"/>
                        <a:gd name="T8" fmla="*/ 29 w 91"/>
                        <a:gd name="T9" fmla="*/ 604 h 884"/>
                        <a:gd name="T10" fmla="*/ 91 w 91"/>
                        <a:gd name="T11" fmla="*/ 884 h 8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91" h="884">
                          <a:moveTo>
                            <a:pt x="4" y="0"/>
                          </a:moveTo>
                          <a:lnTo>
                            <a:pt x="0" y="204"/>
                          </a:lnTo>
                          <a:lnTo>
                            <a:pt x="40" y="309"/>
                          </a:lnTo>
                          <a:lnTo>
                            <a:pt x="7" y="495"/>
                          </a:lnTo>
                          <a:lnTo>
                            <a:pt x="29" y="604"/>
                          </a:lnTo>
                          <a:lnTo>
                            <a:pt x="91" y="884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13" name="Freeform 387"/>
                    <p:cNvSpPr>
                      <a:spLocks/>
                    </p:cNvSpPr>
                    <p:nvPr/>
                  </p:nvSpPr>
                  <p:spPr bwMode="auto">
                    <a:xfrm>
                      <a:off x="1644" y="2368"/>
                      <a:ext cx="65" cy="271"/>
                    </a:xfrm>
                    <a:custGeom>
                      <a:avLst/>
                      <a:gdLst>
                        <a:gd name="T0" fmla="*/ 131 w 131"/>
                        <a:gd name="T1" fmla="*/ 0 h 543"/>
                        <a:gd name="T2" fmla="*/ 73 w 131"/>
                        <a:gd name="T3" fmla="*/ 142 h 543"/>
                        <a:gd name="T4" fmla="*/ 91 w 131"/>
                        <a:gd name="T5" fmla="*/ 204 h 543"/>
                        <a:gd name="T6" fmla="*/ 77 w 131"/>
                        <a:gd name="T7" fmla="*/ 360 h 543"/>
                        <a:gd name="T8" fmla="*/ 0 w 131"/>
                        <a:gd name="T9" fmla="*/ 543 h 54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31" h="543">
                          <a:moveTo>
                            <a:pt x="131" y="0"/>
                          </a:moveTo>
                          <a:lnTo>
                            <a:pt x="73" y="142"/>
                          </a:lnTo>
                          <a:lnTo>
                            <a:pt x="91" y="204"/>
                          </a:lnTo>
                          <a:lnTo>
                            <a:pt x="77" y="360"/>
                          </a:lnTo>
                          <a:lnTo>
                            <a:pt x="0" y="543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114" name="Freeform 388"/>
                    <p:cNvSpPr>
                      <a:spLocks/>
                    </p:cNvSpPr>
                    <p:nvPr/>
                  </p:nvSpPr>
                  <p:spPr bwMode="auto">
                    <a:xfrm>
                      <a:off x="2169" y="2375"/>
                      <a:ext cx="55" cy="266"/>
                    </a:xfrm>
                    <a:custGeom>
                      <a:avLst/>
                      <a:gdLst>
                        <a:gd name="T0" fmla="*/ 0 w 110"/>
                        <a:gd name="T1" fmla="*/ 0 h 532"/>
                        <a:gd name="T2" fmla="*/ 32 w 110"/>
                        <a:gd name="T3" fmla="*/ 185 h 532"/>
                        <a:gd name="T4" fmla="*/ 14 w 110"/>
                        <a:gd name="T5" fmla="*/ 305 h 532"/>
                        <a:gd name="T6" fmla="*/ 94 w 110"/>
                        <a:gd name="T7" fmla="*/ 423 h 532"/>
                        <a:gd name="T8" fmla="*/ 110 w 110"/>
                        <a:gd name="T9" fmla="*/ 532 h 5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0" h="532">
                          <a:moveTo>
                            <a:pt x="0" y="0"/>
                          </a:moveTo>
                          <a:lnTo>
                            <a:pt x="32" y="185"/>
                          </a:lnTo>
                          <a:lnTo>
                            <a:pt x="14" y="305"/>
                          </a:lnTo>
                          <a:lnTo>
                            <a:pt x="94" y="423"/>
                          </a:lnTo>
                          <a:lnTo>
                            <a:pt x="110" y="532"/>
                          </a:lnTo>
                        </a:path>
                      </a:pathLst>
                    </a:custGeom>
                    <a:solidFill>
                      <a:srgbClr val="CCECFF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  <p:sp>
              <p:nvSpPr>
                <p:cNvPr id="104" name="Freeform 389"/>
                <p:cNvSpPr>
                  <a:spLocks/>
                </p:cNvSpPr>
                <p:nvPr/>
              </p:nvSpPr>
              <p:spPr bwMode="auto">
                <a:xfrm>
                  <a:off x="1490" y="1892"/>
                  <a:ext cx="781" cy="117"/>
                </a:xfrm>
                <a:custGeom>
                  <a:avLst/>
                  <a:gdLst>
                    <a:gd name="T0" fmla="*/ 0 w 1561"/>
                    <a:gd name="T1" fmla="*/ 223 h 234"/>
                    <a:gd name="T2" fmla="*/ 93 w 1561"/>
                    <a:gd name="T3" fmla="*/ 88 h 234"/>
                    <a:gd name="T4" fmla="*/ 134 w 1561"/>
                    <a:gd name="T5" fmla="*/ 65 h 234"/>
                    <a:gd name="T6" fmla="*/ 188 w 1561"/>
                    <a:gd name="T7" fmla="*/ 56 h 234"/>
                    <a:gd name="T8" fmla="*/ 315 w 1561"/>
                    <a:gd name="T9" fmla="*/ 48 h 234"/>
                    <a:gd name="T10" fmla="*/ 352 w 1561"/>
                    <a:gd name="T11" fmla="*/ 47 h 234"/>
                    <a:gd name="T12" fmla="*/ 446 w 1561"/>
                    <a:gd name="T13" fmla="*/ 29 h 234"/>
                    <a:gd name="T14" fmla="*/ 509 w 1561"/>
                    <a:gd name="T15" fmla="*/ 18 h 234"/>
                    <a:gd name="T16" fmla="*/ 559 w 1561"/>
                    <a:gd name="T17" fmla="*/ 25 h 234"/>
                    <a:gd name="T18" fmla="*/ 631 w 1561"/>
                    <a:gd name="T19" fmla="*/ 45 h 234"/>
                    <a:gd name="T20" fmla="*/ 694 w 1561"/>
                    <a:gd name="T21" fmla="*/ 40 h 234"/>
                    <a:gd name="T22" fmla="*/ 776 w 1561"/>
                    <a:gd name="T23" fmla="*/ 27 h 234"/>
                    <a:gd name="T24" fmla="*/ 853 w 1561"/>
                    <a:gd name="T25" fmla="*/ 14 h 234"/>
                    <a:gd name="T26" fmla="*/ 930 w 1561"/>
                    <a:gd name="T27" fmla="*/ 8 h 234"/>
                    <a:gd name="T28" fmla="*/ 1042 w 1561"/>
                    <a:gd name="T29" fmla="*/ 1 h 234"/>
                    <a:gd name="T30" fmla="*/ 1101 w 1561"/>
                    <a:gd name="T31" fmla="*/ 8 h 234"/>
                    <a:gd name="T32" fmla="*/ 1180 w 1561"/>
                    <a:gd name="T33" fmla="*/ 0 h 234"/>
                    <a:gd name="T34" fmla="*/ 1319 w 1561"/>
                    <a:gd name="T35" fmla="*/ 25 h 234"/>
                    <a:gd name="T36" fmla="*/ 1369 w 1561"/>
                    <a:gd name="T37" fmla="*/ 18 h 234"/>
                    <a:gd name="T38" fmla="*/ 1413 w 1561"/>
                    <a:gd name="T39" fmla="*/ 22 h 234"/>
                    <a:gd name="T40" fmla="*/ 1457 w 1561"/>
                    <a:gd name="T41" fmla="*/ 36 h 234"/>
                    <a:gd name="T42" fmla="*/ 1496 w 1561"/>
                    <a:gd name="T43" fmla="*/ 65 h 234"/>
                    <a:gd name="T44" fmla="*/ 1561 w 1561"/>
                    <a:gd name="T45" fmla="*/ 139 h 234"/>
                    <a:gd name="T46" fmla="*/ 1523 w 1561"/>
                    <a:gd name="T47" fmla="*/ 130 h 234"/>
                    <a:gd name="T48" fmla="*/ 1486 w 1561"/>
                    <a:gd name="T49" fmla="*/ 128 h 234"/>
                    <a:gd name="T50" fmla="*/ 1519 w 1561"/>
                    <a:gd name="T51" fmla="*/ 184 h 234"/>
                    <a:gd name="T52" fmla="*/ 1401 w 1561"/>
                    <a:gd name="T53" fmla="*/ 159 h 234"/>
                    <a:gd name="T54" fmla="*/ 1341 w 1561"/>
                    <a:gd name="T55" fmla="*/ 208 h 234"/>
                    <a:gd name="T56" fmla="*/ 1326 w 1561"/>
                    <a:gd name="T57" fmla="*/ 180 h 234"/>
                    <a:gd name="T58" fmla="*/ 1272 w 1561"/>
                    <a:gd name="T59" fmla="*/ 197 h 234"/>
                    <a:gd name="T60" fmla="*/ 1221 w 1561"/>
                    <a:gd name="T61" fmla="*/ 188 h 234"/>
                    <a:gd name="T62" fmla="*/ 1195 w 1561"/>
                    <a:gd name="T63" fmla="*/ 180 h 234"/>
                    <a:gd name="T64" fmla="*/ 1163 w 1561"/>
                    <a:gd name="T65" fmla="*/ 183 h 234"/>
                    <a:gd name="T66" fmla="*/ 1112 w 1561"/>
                    <a:gd name="T67" fmla="*/ 202 h 234"/>
                    <a:gd name="T68" fmla="*/ 1056 w 1561"/>
                    <a:gd name="T69" fmla="*/ 230 h 234"/>
                    <a:gd name="T70" fmla="*/ 907 w 1561"/>
                    <a:gd name="T71" fmla="*/ 205 h 234"/>
                    <a:gd name="T72" fmla="*/ 853 w 1561"/>
                    <a:gd name="T73" fmla="*/ 226 h 234"/>
                    <a:gd name="T74" fmla="*/ 707 w 1561"/>
                    <a:gd name="T75" fmla="*/ 188 h 234"/>
                    <a:gd name="T76" fmla="*/ 603 w 1561"/>
                    <a:gd name="T77" fmla="*/ 184 h 234"/>
                    <a:gd name="T78" fmla="*/ 515 w 1561"/>
                    <a:gd name="T79" fmla="*/ 234 h 234"/>
                    <a:gd name="T80" fmla="*/ 489 w 1561"/>
                    <a:gd name="T81" fmla="*/ 208 h 234"/>
                    <a:gd name="T82" fmla="*/ 378 w 1561"/>
                    <a:gd name="T83" fmla="*/ 166 h 234"/>
                    <a:gd name="T84" fmla="*/ 312 w 1561"/>
                    <a:gd name="T85" fmla="*/ 228 h 234"/>
                    <a:gd name="T86" fmla="*/ 264 w 1561"/>
                    <a:gd name="T87" fmla="*/ 212 h 234"/>
                    <a:gd name="T88" fmla="*/ 249 w 1561"/>
                    <a:gd name="T89" fmla="*/ 212 h 234"/>
                    <a:gd name="T90" fmla="*/ 202 w 1561"/>
                    <a:gd name="T91" fmla="*/ 186 h 234"/>
                    <a:gd name="T92" fmla="*/ 192 w 1561"/>
                    <a:gd name="T93" fmla="*/ 168 h 234"/>
                    <a:gd name="T94" fmla="*/ 155 w 1561"/>
                    <a:gd name="T95" fmla="*/ 177 h 234"/>
                    <a:gd name="T96" fmla="*/ 155 w 1561"/>
                    <a:gd name="T97" fmla="*/ 157 h 234"/>
                    <a:gd name="T98" fmla="*/ 72 w 1561"/>
                    <a:gd name="T99" fmla="*/ 162 h 234"/>
                    <a:gd name="T100" fmla="*/ 0 w 1561"/>
                    <a:gd name="T101" fmla="*/ 223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561" h="234">
                      <a:moveTo>
                        <a:pt x="0" y="223"/>
                      </a:moveTo>
                      <a:lnTo>
                        <a:pt x="93" y="88"/>
                      </a:lnTo>
                      <a:lnTo>
                        <a:pt x="134" y="65"/>
                      </a:lnTo>
                      <a:lnTo>
                        <a:pt x="188" y="56"/>
                      </a:lnTo>
                      <a:lnTo>
                        <a:pt x="315" y="48"/>
                      </a:lnTo>
                      <a:lnTo>
                        <a:pt x="352" y="47"/>
                      </a:lnTo>
                      <a:lnTo>
                        <a:pt x="446" y="29"/>
                      </a:lnTo>
                      <a:lnTo>
                        <a:pt x="509" y="18"/>
                      </a:lnTo>
                      <a:lnTo>
                        <a:pt x="559" y="25"/>
                      </a:lnTo>
                      <a:lnTo>
                        <a:pt x="631" y="45"/>
                      </a:lnTo>
                      <a:lnTo>
                        <a:pt x="694" y="40"/>
                      </a:lnTo>
                      <a:lnTo>
                        <a:pt x="776" y="27"/>
                      </a:lnTo>
                      <a:lnTo>
                        <a:pt x="853" y="14"/>
                      </a:lnTo>
                      <a:lnTo>
                        <a:pt x="930" y="8"/>
                      </a:lnTo>
                      <a:lnTo>
                        <a:pt x="1042" y="1"/>
                      </a:lnTo>
                      <a:lnTo>
                        <a:pt x="1101" y="8"/>
                      </a:lnTo>
                      <a:lnTo>
                        <a:pt x="1180" y="0"/>
                      </a:lnTo>
                      <a:lnTo>
                        <a:pt x="1319" y="25"/>
                      </a:lnTo>
                      <a:lnTo>
                        <a:pt x="1369" y="18"/>
                      </a:lnTo>
                      <a:lnTo>
                        <a:pt x="1413" y="22"/>
                      </a:lnTo>
                      <a:lnTo>
                        <a:pt x="1457" y="36"/>
                      </a:lnTo>
                      <a:lnTo>
                        <a:pt x="1496" y="65"/>
                      </a:lnTo>
                      <a:lnTo>
                        <a:pt x="1561" y="139"/>
                      </a:lnTo>
                      <a:lnTo>
                        <a:pt x="1523" y="130"/>
                      </a:lnTo>
                      <a:lnTo>
                        <a:pt x="1486" y="128"/>
                      </a:lnTo>
                      <a:lnTo>
                        <a:pt x="1519" y="184"/>
                      </a:lnTo>
                      <a:lnTo>
                        <a:pt x="1401" y="159"/>
                      </a:lnTo>
                      <a:lnTo>
                        <a:pt x="1341" y="208"/>
                      </a:lnTo>
                      <a:lnTo>
                        <a:pt x="1326" y="180"/>
                      </a:lnTo>
                      <a:lnTo>
                        <a:pt x="1272" y="197"/>
                      </a:lnTo>
                      <a:lnTo>
                        <a:pt x="1221" y="188"/>
                      </a:lnTo>
                      <a:lnTo>
                        <a:pt x="1195" y="180"/>
                      </a:lnTo>
                      <a:lnTo>
                        <a:pt x="1163" y="183"/>
                      </a:lnTo>
                      <a:lnTo>
                        <a:pt x="1112" y="202"/>
                      </a:lnTo>
                      <a:lnTo>
                        <a:pt x="1056" y="230"/>
                      </a:lnTo>
                      <a:lnTo>
                        <a:pt x="907" y="205"/>
                      </a:lnTo>
                      <a:lnTo>
                        <a:pt x="853" y="226"/>
                      </a:lnTo>
                      <a:lnTo>
                        <a:pt x="707" y="188"/>
                      </a:lnTo>
                      <a:lnTo>
                        <a:pt x="603" y="184"/>
                      </a:lnTo>
                      <a:lnTo>
                        <a:pt x="515" y="234"/>
                      </a:lnTo>
                      <a:lnTo>
                        <a:pt x="489" y="208"/>
                      </a:lnTo>
                      <a:lnTo>
                        <a:pt x="378" y="166"/>
                      </a:lnTo>
                      <a:lnTo>
                        <a:pt x="312" y="228"/>
                      </a:lnTo>
                      <a:lnTo>
                        <a:pt x="264" y="212"/>
                      </a:lnTo>
                      <a:lnTo>
                        <a:pt x="249" y="212"/>
                      </a:lnTo>
                      <a:lnTo>
                        <a:pt x="202" y="186"/>
                      </a:lnTo>
                      <a:lnTo>
                        <a:pt x="192" y="168"/>
                      </a:lnTo>
                      <a:lnTo>
                        <a:pt x="155" y="177"/>
                      </a:lnTo>
                      <a:lnTo>
                        <a:pt x="155" y="157"/>
                      </a:lnTo>
                      <a:lnTo>
                        <a:pt x="72" y="162"/>
                      </a:lnTo>
                      <a:lnTo>
                        <a:pt x="0" y="223"/>
                      </a:lnTo>
                      <a:close/>
                    </a:path>
                  </a:pathLst>
                </a:custGeom>
                <a:solidFill>
                  <a:srgbClr val="CCECFF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6" name="Group 390"/>
              <p:cNvGrpSpPr>
                <a:grpSpLocks/>
              </p:cNvGrpSpPr>
              <p:nvPr/>
            </p:nvGrpSpPr>
            <p:grpSpPr bwMode="auto">
              <a:xfrm>
                <a:off x="1581" y="2610"/>
                <a:ext cx="216" cy="88"/>
                <a:chOff x="1581" y="2610"/>
                <a:chExt cx="216" cy="88"/>
              </a:xfrm>
            </p:grpSpPr>
            <p:grpSp>
              <p:nvGrpSpPr>
                <p:cNvPr id="97" name="Group 391"/>
                <p:cNvGrpSpPr>
                  <a:grpSpLocks/>
                </p:cNvGrpSpPr>
                <p:nvPr/>
              </p:nvGrpSpPr>
              <p:grpSpPr bwMode="auto">
                <a:xfrm>
                  <a:off x="1663" y="2610"/>
                  <a:ext cx="134" cy="88"/>
                  <a:chOff x="1663" y="2610"/>
                  <a:chExt cx="134" cy="88"/>
                </a:xfrm>
              </p:grpSpPr>
              <p:sp>
                <p:nvSpPr>
                  <p:cNvPr id="101" name="Freeform 392"/>
                  <p:cNvSpPr>
                    <a:spLocks/>
                  </p:cNvSpPr>
                  <p:nvPr/>
                </p:nvSpPr>
                <p:spPr bwMode="auto">
                  <a:xfrm>
                    <a:off x="1712" y="2610"/>
                    <a:ext cx="85" cy="84"/>
                  </a:xfrm>
                  <a:custGeom>
                    <a:avLst/>
                    <a:gdLst>
                      <a:gd name="T0" fmla="*/ 11 w 170"/>
                      <a:gd name="T1" fmla="*/ 0 h 168"/>
                      <a:gd name="T2" fmla="*/ 69 w 170"/>
                      <a:gd name="T3" fmla="*/ 7 h 168"/>
                      <a:gd name="T4" fmla="*/ 113 w 170"/>
                      <a:gd name="T5" fmla="*/ 43 h 168"/>
                      <a:gd name="T6" fmla="*/ 115 w 170"/>
                      <a:gd name="T7" fmla="*/ 37 h 168"/>
                      <a:gd name="T8" fmla="*/ 166 w 170"/>
                      <a:gd name="T9" fmla="*/ 89 h 168"/>
                      <a:gd name="T10" fmla="*/ 170 w 170"/>
                      <a:gd name="T11" fmla="*/ 142 h 168"/>
                      <a:gd name="T12" fmla="*/ 140 w 170"/>
                      <a:gd name="T13" fmla="*/ 168 h 168"/>
                      <a:gd name="T14" fmla="*/ 28 w 170"/>
                      <a:gd name="T15" fmla="*/ 86 h 168"/>
                      <a:gd name="T16" fmla="*/ 0 w 170"/>
                      <a:gd name="T17" fmla="*/ 31 h 168"/>
                      <a:gd name="T18" fmla="*/ 11 w 170"/>
                      <a:gd name="T19" fmla="*/ 0 h 1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0" h="168">
                        <a:moveTo>
                          <a:pt x="11" y="0"/>
                        </a:moveTo>
                        <a:lnTo>
                          <a:pt x="69" y="7"/>
                        </a:lnTo>
                        <a:lnTo>
                          <a:pt x="113" y="43"/>
                        </a:lnTo>
                        <a:lnTo>
                          <a:pt x="115" y="37"/>
                        </a:lnTo>
                        <a:lnTo>
                          <a:pt x="166" y="89"/>
                        </a:lnTo>
                        <a:lnTo>
                          <a:pt x="170" y="142"/>
                        </a:lnTo>
                        <a:lnTo>
                          <a:pt x="140" y="168"/>
                        </a:lnTo>
                        <a:lnTo>
                          <a:pt x="28" y="86"/>
                        </a:lnTo>
                        <a:lnTo>
                          <a:pt x="0" y="31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CCECFF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102" name="Freeform 393"/>
                  <p:cNvSpPr>
                    <a:spLocks/>
                  </p:cNvSpPr>
                  <p:nvPr/>
                </p:nvSpPr>
                <p:spPr bwMode="auto">
                  <a:xfrm>
                    <a:off x="1663" y="2610"/>
                    <a:ext cx="117" cy="88"/>
                  </a:xfrm>
                  <a:custGeom>
                    <a:avLst/>
                    <a:gdLst>
                      <a:gd name="T0" fmla="*/ 108 w 234"/>
                      <a:gd name="T1" fmla="*/ 0 h 175"/>
                      <a:gd name="T2" fmla="*/ 79 w 234"/>
                      <a:gd name="T3" fmla="*/ 25 h 175"/>
                      <a:gd name="T4" fmla="*/ 54 w 234"/>
                      <a:gd name="T5" fmla="*/ 40 h 175"/>
                      <a:gd name="T6" fmla="*/ 39 w 234"/>
                      <a:gd name="T7" fmla="*/ 71 h 175"/>
                      <a:gd name="T8" fmla="*/ 24 w 234"/>
                      <a:gd name="T9" fmla="*/ 102 h 175"/>
                      <a:gd name="T10" fmla="*/ 16 w 234"/>
                      <a:gd name="T11" fmla="*/ 137 h 175"/>
                      <a:gd name="T12" fmla="*/ 12 w 234"/>
                      <a:gd name="T13" fmla="*/ 159 h 175"/>
                      <a:gd name="T14" fmla="*/ 0 w 234"/>
                      <a:gd name="T15" fmla="*/ 167 h 175"/>
                      <a:gd name="T16" fmla="*/ 106 w 234"/>
                      <a:gd name="T17" fmla="*/ 173 h 175"/>
                      <a:gd name="T18" fmla="*/ 193 w 234"/>
                      <a:gd name="T19" fmla="*/ 175 h 175"/>
                      <a:gd name="T20" fmla="*/ 234 w 234"/>
                      <a:gd name="T21" fmla="*/ 168 h 175"/>
                      <a:gd name="T22" fmla="*/ 224 w 234"/>
                      <a:gd name="T23" fmla="*/ 137 h 175"/>
                      <a:gd name="T24" fmla="*/ 199 w 234"/>
                      <a:gd name="T25" fmla="*/ 114 h 175"/>
                      <a:gd name="T26" fmla="*/ 188 w 234"/>
                      <a:gd name="T27" fmla="*/ 91 h 175"/>
                      <a:gd name="T28" fmla="*/ 177 w 234"/>
                      <a:gd name="T29" fmla="*/ 72 h 175"/>
                      <a:gd name="T30" fmla="*/ 160 w 234"/>
                      <a:gd name="T31" fmla="*/ 62 h 175"/>
                      <a:gd name="T32" fmla="*/ 137 w 234"/>
                      <a:gd name="T33" fmla="*/ 51 h 175"/>
                      <a:gd name="T34" fmla="*/ 127 w 234"/>
                      <a:gd name="T35" fmla="*/ 35 h 175"/>
                      <a:gd name="T36" fmla="*/ 119 w 234"/>
                      <a:gd name="T37" fmla="*/ 16 h 175"/>
                      <a:gd name="T38" fmla="*/ 108 w 234"/>
                      <a:gd name="T39" fmla="*/ 0 h 1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234" h="175">
                        <a:moveTo>
                          <a:pt x="108" y="0"/>
                        </a:moveTo>
                        <a:lnTo>
                          <a:pt x="79" y="25"/>
                        </a:lnTo>
                        <a:lnTo>
                          <a:pt x="54" y="40"/>
                        </a:lnTo>
                        <a:lnTo>
                          <a:pt x="39" y="71"/>
                        </a:lnTo>
                        <a:lnTo>
                          <a:pt x="24" y="102"/>
                        </a:lnTo>
                        <a:lnTo>
                          <a:pt x="16" y="137"/>
                        </a:lnTo>
                        <a:lnTo>
                          <a:pt x="12" y="159"/>
                        </a:lnTo>
                        <a:lnTo>
                          <a:pt x="0" y="167"/>
                        </a:lnTo>
                        <a:lnTo>
                          <a:pt x="106" y="173"/>
                        </a:lnTo>
                        <a:lnTo>
                          <a:pt x="193" y="175"/>
                        </a:lnTo>
                        <a:lnTo>
                          <a:pt x="234" y="168"/>
                        </a:lnTo>
                        <a:lnTo>
                          <a:pt x="224" y="137"/>
                        </a:lnTo>
                        <a:lnTo>
                          <a:pt x="199" y="114"/>
                        </a:lnTo>
                        <a:lnTo>
                          <a:pt x="188" y="91"/>
                        </a:lnTo>
                        <a:lnTo>
                          <a:pt x="177" y="72"/>
                        </a:lnTo>
                        <a:lnTo>
                          <a:pt x="160" y="62"/>
                        </a:lnTo>
                        <a:lnTo>
                          <a:pt x="137" y="51"/>
                        </a:lnTo>
                        <a:lnTo>
                          <a:pt x="127" y="35"/>
                        </a:lnTo>
                        <a:lnTo>
                          <a:pt x="119" y="16"/>
                        </a:lnTo>
                        <a:lnTo>
                          <a:pt x="108" y="0"/>
                        </a:lnTo>
                        <a:close/>
                      </a:path>
                    </a:pathLst>
                  </a:custGeom>
                  <a:solidFill>
                    <a:srgbClr val="CCECFF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98" name="Group 394"/>
                <p:cNvGrpSpPr>
                  <a:grpSpLocks/>
                </p:cNvGrpSpPr>
                <p:nvPr/>
              </p:nvGrpSpPr>
              <p:grpSpPr bwMode="auto">
                <a:xfrm>
                  <a:off x="1581" y="2617"/>
                  <a:ext cx="51" cy="44"/>
                  <a:chOff x="1581" y="2617"/>
                  <a:chExt cx="51" cy="44"/>
                </a:xfrm>
              </p:grpSpPr>
              <p:sp>
                <p:nvSpPr>
                  <p:cNvPr id="99" name="Freeform 395"/>
                  <p:cNvSpPr>
                    <a:spLocks/>
                  </p:cNvSpPr>
                  <p:nvPr/>
                </p:nvSpPr>
                <p:spPr bwMode="auto">
                  <a:xfrm>
                    <a:off x="1608" y="2617"/>
                    <a:ext cx="24" cy="39"/>
                  </a:xfrm>
                  <a:custGeom>
                    <a:avLst/>
                    <a:gdLst>
                      <a:gd name="T0" fmla="*/ 2 w 47"/>
                      <a:gd name="T1" fmla="*/ 0 h 78"/>
                      <a:gd name="T2" fmla="*/ 21 w 47"/>
                      <a:gd name="T3" fmla="*/ 14 h 78"/>
                      <a:gd name="T4" fmla="*/ 39 w 47"/>
                      <a:gd name="T5" fmla="*/ 43 h 78"/>
                      <a:gd name="T6" fmla="*/ 46 w 47"/>
                      <a:gd name="T7" fmla="*/ 60 h 78"/>
                      <a:gd name="T8" fmla="*/ 47 w 47"/>
                      <a:gd name="T9" fmla="*/ 78 h 78"/>
                      <a:gd name="T10" fmla="*/ 11 w 47"/>
                      <a:gd name="T11" fmla="*/ 71 h 78"/>
                      <a:gd name="T12" fmla="*/ 0 w 47"/>
                      <a:gd name="T13" fmla="*/ 31 h 78"/>
                      <a:gd name="T14" fmla="*/ 2 w 47"/>
                      <a:gd name="T15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7" h="78">
                        <a:moveTo>
                          <a:pt x="2" y="0"/>
                        </a:moveTo>
                        <a:lnTo>
                          <a:pt x="21" y="14"/>
                        </a:lnTo>
                        <a:lnTo>
                          <a:pt x="39" y="43"/>
                        </a:lnTo>
                        <a:lnTo>
                          <a:pt x="46" y="60"/>
                        </a:lnTo>
                        <a:lnTo>
                          <a:pt x="47" y="78"/>
                        </a:lnTo>
                        <a:lnTo>
                          <a:pt x="11" y="71"/>
                        </a:lnTo>
                        <a:lnTo>
                          <a:pt x="0" y="3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CCECFF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100" name="Freeform 396"/>
                  <p:cNvSpPr>
                    <a:spLocks/>
                  </p:cNvSpPr>
                  <p:nvPr/>
                </p:nvSpPr>
                <p:spPr bwMode="auto">
                  <a:xfrm>
                    <a:off x="1581" y="2618"/>
                    <a:ext cx="36" cy="43"/>
                  </a:xfrm>
                  <a:custGeom>
                    <a:avLst/>
                    <a:gdLst>
                      <a:gd name="T0" fmla="*/ 53 w 71"/>
                      <a:gd name="T1" fmla="*/ 0 h 86"/>
                      <a:gd name="T2" fmla="*/ 38 w 71"/>
                      <a:gd name="T3" fmla="*/ 13 h 86"/>
                      <a:gd name="T4" fmla="*/ 29 w 71"/>
                      <a:gd name="T5" fmla="*/ 18 h 86"/>
                      <a:gd name="T6" fmla="*/ 24 w 71"/>
                      <a:gd name="T7" fmla="*/ 29 h 86"/>
                      <a:gd name="T8" fmla="*/ 14 w 71"/>
                      <a:gd name="T9" fmla="*/ 38 h 86"/>
                      <a:gd name="T10" fmla="*/ 9 w 71"/>
                      <a:gd name="T11" fmla="*/ 65 h 86"/>
                      <a:gd name="T12" fmla="*/ 0 w 71"/>
                      <a:gd name="T13" fmla="*/ 72 h 86"/>
                      <a:gd name="T14" fmla="*/ 17 w 71"/>
                      <a:gd name="T15" fmla="*/ 86 h 86"/>
                      <a:gd name="T16" fmla="*/ 37 w 71"/>
                      <a:gd name="T17" fmla="*/ 76 h 86"/>
                      <a:gd name="T18" fmla="*/ 44 w 71"/>
                      <a:gd name="T19" fmla="*/ 82 h 86"/>
                      <a:gd name="T20" fmla="*/ 64 w 71"/>
                      <a:gd name="T21" fmla="*/ 71 h 86"/>
                      <a:gd name="T22" fmla="*/ 71 w 71"/>
                      <a:gd name="T23" fmla="*/ 60 h 86"/>
                      <a:gd name="T24" fmla="*/ 67 w 71"/>
                      <a:gd name="T25" fmla="*/ 43 h 86"/>
                      <a:gd name="T26" fmla="*/ 67 w 71"/>
                      <a:gd name="T27" fmla="*/ 29 h 86"/>
                      <a:gd name="T28" fmla="*/ 53 w 71"/>
                      <a:gd name="T29" fmla="*/ 0 h 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71" h="86">
                        <a:moveTo>
                          <a:pt x="53" y="0"/>
                        </a:moveTo>
                        <a:lnTo>
                          <a:pt x="38" y="13"/>
                        </a:lnTo>
                        <a:lnTo>
                          <a:pt x="29" y="18"/>
                        </a:lnTo>
                        <a:lnTo>
                          <a:pt x="24" y="29"/>
                        </a:lnTo>
                        <a:lnTo>
                          <a:pt x="14" y="38"/>
                        </a:lnTo>
                        <a:lnTo>
                          <a:pt x="9" y="65"/>
                        </a:lnTo>
                        <a:lnTo>
                          <a:pt x="0" y="72"/>
                        </a:lnTo>
                        <a:lnTo>
                          <a:pt x="17" y="86"/>
                        </a:lnTo>
                        <a:lnTo>
                          <a:pt x="37" y="76"/>
                        </a:lnTo>
                        <a:lnTo>
                          <a:pt x="44" y="82"/>
                        </a:lnTo>
                        <a:lnTo>
                          <a:pt x="64" y="71"/>
                        </a:lnTo>
                        <a:lnTo>
                          <a:pt x="71" y="60"/>
                        </a:lnTo>
                        <a:lnTo>
                          <a:pt x="67" y="43"/>
                        </a:lnTo>
                        <a:lnTo>
                          <a:pt x="67" y="29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CCECFF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</p:grpSp>
        </p:grpSp>
        <p:grpSp>
          <p:nvGrpSpPr>
            <p:cNvPr id="49" name="Group 397"/>
            <p:cNvGrpSpPr>
              <a:grpSpLocks/>
            </p:cNvGrpSpPr>
            <p:nvPr/>
          </p:nvGrpSpPr>
          <p:grpSpPr bwMode="auto">
            <a:xfrm>
              <a:off x="3456" y="2357"/>
              <a:ext cx="1921" cy="510"/>
              <a:chOff x="915" y="2357"/>
              <a:chExt cx="1921" cy="510"/>
            </a:xfrm>
          </p:grpSpPr>
          <p:grpSp>
            <p:nvGrpSpPr>
              <p:cNvPr id="78" name="Group 398"/>
              <p:cNvGrpSpPr>
                <a:grpSpLocks/>
              </p:cNvGrpSpPr>
              <p:nvPr/>
            </p:nvGrpSpPr>
            <p:grpSpPr bwMode="auto">
              <a:xfrm>
                <a:off x="915" y="2357"/>
                <a:ext cx="1921" cy="510"/>
                <a:chOff x="915" y="2357"/>
                <a:chExt cx="1921" cy="510"/>
              </a:xfrm>
            </p:grpSpPr>
            <p:sp>
              <p:nvSpPr>
                <p:cNvPr id="93" name="Freeform 399"/>
                <p:cNvSpPr>
                  <a:spLocks/>
                </p:cNvSpPr>
                <p:nvPr/>
              </p:nvSpPr>
              <p:spPr bwMode="auto">
                <a:xfrm>
                  <a:off x="915" y="2357"/>
                  <a:ext cx="1921" cy="152"/>
                </a:xfrm>
                <a:custGeom>
                  <a:avLst/>
                  <a:gdLst>
                    <a:gd name="T0" fmla="*/ 0 w 3843"/>
                    <a:gd name="T1" fmla="*/ 303 h 304"/>
                    <a:gd name="T2" fmla="*/ 0 w 3843"/>
                    <a:gd name="T3" fmla="*/ 134 h 304"/>
                    <a:gd name="T4" fmla="*/ 126 w 3843"/>
                    <a:gd name="T5" fmla="*/ 115 h 304"/>
                    <a:gd name="T6" fmla="*/ 238 w 3843"/>
                    <a:gd name="T7" fmla="*/ 57 h 304"/>
                    <a:gd name="T8" fmla="*/ 529 w 3843"/>
                    <a:gd name="T9" fmla="*/ 104 h 304"/>
                    <a:gd name="T10" fmla="*/ 710 w 3843"/>
                    <a:gd name="T11" fmla="*/ 0 h 304"/>
                    <a:gd name="T12" fmla="*/ 848 w 3843"/>
                    <a:gd name="T13" fmla="*/ 58 h 304"/>
                    <a:gd name="T14" fmla="*/ 904 w 3843"/>
                    <a:gd name="T15" fmla="*/ 77 h 304"/>
                    <a:gd name="T16" fmla="*/ 1033 w 3843"/>
                    <a:gd name="T17" fmla="*/ 118 h 304"/>
                    <a:gd name="T18" fmla="*/ 1156 w 3843"/>
                    <a:gd name="T19" fmla="*/ 98 h 304"/>
                    <a:gd name="T20" fmla="*/ 1359 w 3843"/>
                    <a:gd name="T21" fmla="*/ 199 h 304"/>
                    <a:gd name="T22" fmla="*/ 1491 w 3843"/>
                    <a:gd name="T23" fmla="*/ 126 h 304"/>
                    <a:gd name="T24" fmla="*/ 1629 w 3843"/>
                    <a:gd name="T25" fmla="*/ 200 h 304"/>
                    <a:gd name="T26" fmla="*/ 1825 w 3843"/>
                    <a:gd name="T27" fmla="*/ 66 h 304"/>
                    <a:gd name="T28" fmla="*/ 1913 w 3843"/>
                    <a:gd name="T29" fmla="*/ 178 h 304"/>
                    <a:gd name="T30" fmla="*/ 2142 w 3843"/>
                    <a:gd name="T31" fmla="*/ 102 h 304"/>
                    <a:gd name="T32" fmla="*/ 2173 w 3843"/>
                    <a:gd name="T33" fmla="*/ 214 h 304"/>
                    <a:gd name="T34" fmla="*/ 2353 w 3843"/>
                    <a:gd name="T35" fmla="*/ 80 h 304"/>
                    <a:gd name="T36" fmla="*/ 2578 w 3843"/>
                    <a:gd name="T37" fmla="*/ 153 h 304"/>
                    <a:gd name="T38" fmla="*/ 2716 w 3843"/>
                    <a:gd name="T39" fmla="*/ 75 h 304"/>
                    <a:gd name="T40" fmla="*/ 2807 w 3843"/>
                    <a:gd name="T41" fmla="*/ 75 h 304"/>
                    <a:gd name="T42" fmla="*/ 2952 w 3843"/>
                    <a:gd name="T43" fmla="*/ 134 h 304"/>
                    <a:gd name="T44" fmla="*/ 3153 w 3843"/>
                    <a:gd name="T45" fmla="*/ 40 h 304"/>
                    <a:gd name="T46" fmla="*/ 3441 w 3843"/>
                    <a:gd name="T47" fmla="*/ 148 h 304"/>
                    <a:gd name="T48" fmla="*/ 3609 w 3843"/>
                    <a:gd name="T49" fmla="*/ 113 h 304"/>
                    <a:gd name="T50" fmla="*/ 3771 w 3843"/>
                    <a:gd name="T51" fmla="*/ 142 h 304"/>
                    <a:gd name="T52" fmla="*/ 3843 w 3843"/>
                    <a:gd name="T53" fmla="*/ 123 h 304"/>
                    <a:gd name="T54" fmla="*/ 3843 w 3843"/>
                    <a:gd name="T55" fmla="*/ 304 h 304"/>
                    <a:gd name="T56" fmla="*/ 0 w 3843"/>
                    <a:gd name="T57" fmla="*/ 303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843" h="304">
                      <a:moveTo>
                        <a:pt x="0" y="303"/>
                      </a:moveTo>
                      <a:lnTo>
                        <a:pt x="0" y="134"/>
                      </a:lnTo>
                      <a:lnTo>
                        <a:pt x="126" y="115"/>
                      </a:lnTo>
                      <a:lnTo>
                        <a:pt x="238" y="57"/>
                      </a:lnTo>
                      <a:lnTo>
                        <a:pt x="529" y="104"/>
                      </a:lnTo>
                      <a:lnTo>
                        <a:pt x="710" y="0"/>
                      </a:lnTo>
                      <a:lnTo>
                        <a:pt x="848" y="58"/>
                      </a:lnTo>
                      <a:lnTo>
                        <a:pt x="904" y="77"/>
                      </a:lnTo>
                      <a:lnTo>
                        <a:pt x="1033" y="118"/>
                      </a:lnTo>
                      <a:lnTo>
                        <a:pt x="1156" y="98"/>
                      </a:lnTo>
                      <a:lnTo>
                        <a:pt x="1359" y="199"/>
                      </a:lnTo>
                      <a:lnTo>
                        <a:pt x="1491" y="126"/>
                      </a:lnTo>
                      <a:lnTo>
                        <a:pt x="1629" y="200"/>
                      </a:lnTo>
                      <a:lnTo>
                        <a:pt x="1825" y="66"/>
                      </a:lnTo>
                      <a:lnTo>
                        <a:pt x="1913" y="178"/>
                      </a:lnTo>
                      <a:lnTo>
                        <a:pt x="2142" y="102"/>
                      </a:lnTo>
                      <a:lnTo>
                        <a:pt x="2173" y="214"/>
                      </a:lnTo>
                      <a:lnTo>
                        <a:pt x="2353" y="80"/>
                      </a:lnTo>
                      <a:lnTo>
                        <a:pt x="2578" y="153"/>
                      </a:lnTo>
                      <a:lnTo>
                        <a:pt x="2716" y="75"/>
                      </a:lnTo>
                      <a:lnTo>
                        <a:pt x="2807" y="75"/>
                      </a:lnTo>
                      <a:lnTo>
                        <a:pt x="2952" y="134"/>
                      </a:lnTo>
                      <a:lnTo>
                        <a:pt x="3153" y="40"/>
                      </a:lnTo>
                      <a:lnTo>
                        <a:pt x="3441" y="148"/>
                      </a:lnTo>
                      <a:lnTo>
                        <a:pt x="3609" y="113"/>
                      </a:lnTo>
                      <a:lnTo>
                        <a:pt x="3771" y="142"/>
                      </a:lnTo>
                      <a:lnTo>
                        <a:pt x="3843" y="123"/>
                      </a:lnTo>
                      <a:lnTo>
                        <a:pt x="3843" y="304"/>
                      </a:lnTo>
                      <a:lnTo>
                        <a:pt x="0" y="303"/>
                      </a:lnTo>
                      <a:close/>
                    </a:path>
                  </a:pathLst>
                </a:custGeom>
                <a:solidFill>
                  <a:srgbClr val="9FB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94" name="Freeform 400"/>
                <p:cNvSpPr>
                  <a:spLocks/>
                </p:cNvSpPr>
                <p:nvPr/>
              </p:nvSpPr>
              <p:spPr bwMode="auto">
                <a:xfrm>
                  <a:off x="915" y="2508"/>
                  <a:ext cx="1921" cy="359"/>
                </a:xfrm>
                <a:custGeom>
                  <a:avLst/>
                  <a:gdLst>
                    <a:gd name="T0" fmla="*/ 0 w 3843"/>
                    <a:gd name="T1" fmla="*/ 0 h 719"/>
                    <a:gd name="T2" fmla="*/ 0 w 3843"/>
                    <a:gd name="T3" fmla="*/ 719 h 719"/>
                    <a:gd name="T4" fmla="*/ 3843 w 3843"/>
                    <a:gd name="T5" fmla="*/ 714 h 719"/>
                    <a:gd name="T6" fmla="*/ 3843 w 3843"/>
                    <a:gd name="T7" fmla="*/ 1 h 719"/>
                    <a:gd name="T8" fmla="*/ 0 w 3843"/>
                    <a:gd name="T9" fmla="*/ 0 h 7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43" h="719">
                      <a:moveTo>
                        <a:pt x="0" y="0"/>
                      </a:moveTo>
                      <a:lnTo>
                        <a:pt x="0" y="719"/>
                      </a:lnTo>
                      <a:lnTo>
                        <a:pt x="3843" y="714"/>
                      </a:lnTo>
                      <a:lnTo>
                        <a:pt x="3843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1F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79" name="Group 401"/>
              <p:cNvGrpSpPr>
                <a:grpSpLocks/>
              </p:cNvGrpSpPr>
              <p:nvPr/>
            </p:nvGrpSpPr>
            <p:grpSpPr bwMode="auto">
              <a:xfrm>
                <a:off x="948" y="2598"/>
                <a:ext cx="1879" cy="234"/>
                <a:chOff x="948" y="2598"/>
                <a:chExt cx="1879" cy="234"/>
              </a:xfrm>
            </p:grpSpPr>
            <p:sp>
              <p:nvSpPr>
                <p:cNvPr id="80" name="Freeform 402"/>
                <p:cNvSpPr>
                  <a:spLocks/>
                </p:cNvSpPr>
                <p:nvPr/>
              </p:nvSpPr>
              <p:spPr bwMode="auto">
                <a:xfrm>
                  <a:off x="966" y="2757"/>
                  <a:ext cx="188" cy="30"/>
                </a:xfrm>
                <a:custGeom>
                  <a:avLst/>
                  <a:gdLst>
                    <a:gd name="T0" fmla="*/ 116 w 375"/>
                    <a:gd name="T1" fmla="*/ 0 h 61"/>
                    <a:gd name="T2" fmla="*/ 91 w 375"/>
                    <a:gd name="T3" fmla="*/ 5 h 61"/>
                    <a:gd name="T4" fmla="*/ 64 w 375"/>
                    <a:gd name="T5" fmla="*/ 6 h 61"/>
                    <a:gd name="T6" fmla="*/ 29 w 375"/>
                    <a:gd name="T7" fmla="*/ 15 h 61"/>
                    <a:gd name="T8" fmla="*/ 8 w 375"/>
                    <a:gd name="T9" fmla="*/ 28 h 61"/>
                    <a:gd name="T10" fmla="*/ 0 w 375"/>
                    <a:gd name="T11" fmla="*/ 45 h 61"/>
                    <a:gd name="T12" fmla="*/ 43 w 375"/>
                    <a:gd name="T13" fmla="*/ 55 h 61"/>
                    <a:gd name="T14" fmla="*/ 98 w 375"/>
                    <a:gd name="T15" fmla="*/ 61 h 61"/>
                    <a:gd name="T16" fmla="*/ 143 w 375"/>
                    <a:gd name="T17" fmla="*/ 50 h 61"/>
                    <a:gd name="T18" fmla="*/ 219 w 375"/>
                    <a:gd name="T19" fmla="*/ 51 h 61"/>
                    <a:gd name="T20" fmla="*/ 306 w 375"/>
                    <a:gd name="T21" fmla="*/ 57 h 61"/>
                    <a:gd name="T22" fmla="*/ 375 w 375"/>
                    <a:gd name="T23" fmla="*/ 50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75" h="61">
                      <a:moveTo>
                        <a:pt x="116" y="0"/>
                      </a:moveTo>
                      <a:lnTo>
                        <a:pt x="91" y="5"/>
                      </a:lnTo>
                      <a:lnTo>
                        <a:pt x="64" y="6"/>
                      </a:lnTo>
                      <a:lnTo>
                        <a:pt x="29" y="15"/>
                      </a:lnTo>
                      <a:lnTo>
                        <a:pt x="8" y="28"/>
                      </a:lnTo>
                      <a:lnTo>
                        <a:pt x="0" y="45"/>
                      </a:lnTo>
                      <a:lnTo>
                        <a:pt x="43" y="55"/>
                      </a:lnTo>
                      <a:lnTo>
                        <a:pt x="98" y="61"/>
                      </a:lnTo>
                      <a:lnTo>
                        <a:pt x="143" y="50"/>
                      </a:lnTo>
                      <a:lnTo>
                        <a:pt x="219" y="51"/>
                      </a:lnTo>
                      <a:lnTo>
                        <a:pt x="306" y="57"/>
                      </a:lnTo>
                      <a:lnTo>
                        <a:pt x="375" y="5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1" name="Freeform 403"/>
                <p:cNvSpPr>
                  <a:spLocks/>
                </p:cNvSpPr>
                <p:nvPr/>
              </p:nvSpPr>
              <p:spPr bwMode="auto">
                <a:xfrm>
                  <a:off x="948" y="2791"/>
                  <a:ext cx="148" cy="10"/>
                </a:xfrm>
                <a:custGeom>
                  <a:avLst/>
                  <a:gdLst>
                    <a:gd name="T0" fmla="*/ 0 w 297"/>
                    <a:gd name="T1" fmla="*/ 13 h 19"/>
                    <a:gd name="T2" fmla="*/ 44 w 297"/>
                    <a:gd name="T3" fmla="*/ 17 h 19"/>
                    <a:gd name="T4" fmla="*/ 128 w 297"/>
                    <a:gd name="T5" fmla="*/ 19 h 19"/>
                    <a:gd name="T6" fmla="*/ 164 w 297"/>
                    <a:gd name="T7" fmla="*/ 9 h 19"/>
                    <a:gd name="T8" fmla="*/ 197 w 297"/>
                    <a:gd name="T9" fmla="*/ 17 h 19"/>
                    <a:gd name="T10" fmla="*/ 245 w 297"/>
                    <a:gd name="T11" fmla="*/ 9 h 19"/>
                    <a:gd name="T12" fmla="*/ 297 w 297"/>
                    <a:gd name="T1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7" h="19">
                      <a:moveTo>
                        <a:pt x="0" y="13"/>
                      </a:moveTo>
                      <a:lnTo>
                        <a:pt x="44" y="17"/>
                      </a:lnTo>
                      <a:lnTo>
                        <a:pt x="128" y="19"/>
                      </a:lnTo>
                      <a:lnTo>
                        <a:pt x="164" y="9"/>
                      </a:lnTo>
                      <a:lnTo>
                        <a:pt x="197" y="17"/>
                      </a:lnTo>
                      <a:lnTo>
                        <a:pt x="245" y="9"/>
                      </a:lnTo>
                      <a:lnTo>
                        <a:pt x="297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2" name="Freeform 404"/>
                <p:cNvSpPr>
                  <a:spLocks/>
                </p:cNvSpPr>
                <p:nvPr/>
              </p:nvSpPr>
              <p:spPr bwMode="auto">
                <a:xfrm>
                  <a:off x="1155" y="2657"/>
                  <a:ext cx="167" cy="12"/>
                </a:xfrm>
                <a:custGeom>
                  <a:avLst/>
                  <a:gdLst>
                    <a:gd name="T0" fmla="*/ 0 w 334"/>
                    <a:gd name="T1" fmla="*/ 17 h 25"/>
                    <a:gd name="T2" fmla="*/ 104 w 334"/>
                    <a:gd name="T3" fmla="*/ 25 h 25"/>
                    <a:gd name="T4" fmla="*/ 142 w 334"/>
                    <a:gd name="T5" fmla="*/ 9 h 25"/>
                    <a:gd name="T6" fmla="*/ 207 w 334"/>
                    <a:gd name="T7" fmla="*/ 8 h 25"/>
                    <a:gd name="T8" fmla="*/ 243 w 334"/>
                    <a:gd name="T9" fmla="*/ 18 h 25"/>
                    <a:gd name="T10" fmla="*/ 276 w 334"/>
                    <a:gd name="T11" fmla="*/ 12 h 25"/>
                    <a:gd name="T12" fmla="*/ 334 w 334"/>
                    <a:gd name="T13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4" h="25">
                      <a:moveTo>
                        <a:pt x="0" y="17"/>
                      </a:moveTo>
                      <a:lnTo>
                        <a:pt x="104" y="25"/>
                      </a:lnTo>
                      <a:lnTo>
                        <a:pt x="142" y="9"/>
                      </a:lnTo>
                      <a:lnTo>
                        <a:pt x="207" y="8"/>
                      </a:lnTo>
                      <a:lnTo>
                        <a:pt x="243" y="18"/>
                      </a:lnTo>
                      <a:lnTo>
                        <a:pt x="276" y="12"/>
                      </a:lnTo>
                      <a:lnTo>
                        <a:pt x="334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3" name="Freeform 405"/>
                <p:cNvSpPr>
                  <a:spLocks/>
                </p:cNvSpPr>
                <p:nvPr/>
              </p:nvSpPr>
              <p:spPr bwMode="auto">
                <a:xfrm>
                  <a:off x="1255" y="2663"/>
                  <a:ext cx="54" cy="35"/>
                </a:xfrm>
                <a:custGeom>
                  <a:avLst/>
                  <a:gdLst>
                    <a:gd name="T0" fmla="*/ 0 w 109"/>
                    <a:gd name="T1" fmla="*/ 69 h 69"/>
                    <a:gd name="T2" fmla="*/ 20 w 109"/>
                    <a:gd name="T3" fmla="*/ 54 h 69"/>
                    <a:gd name="T4" fmla="*/ 47 w 109"/>
                    <a:gd name="T5" fmla="*/ 44 h 69"/>
                    <a:gd name="T6" fmla="*/ 66 w 109"/>
                    <a:gd name="T7" fmla="*/ 39 h 69"/>
                    <a:gd name="T8" fmla="*/ 84 w 109"/>
                    <a:gd name="T9" fmla="*/ 32 h 69"/>
                    <a:gd name="T10" fmla="*/ 99 w 109"/>
                    <a:gd name="T11" fmla="*/ 15 h 69"/>
                    <a:gd name="T12" fmla="*/ 109 w 109"/>
                    <a:gd name="T13" fmla="*/ 0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9" h="69">
                      <a:moveTo>
                        <a:pt x="0" y="69"/>
                      </a:moveTo>
                      <a:lnTo>
                        <a:pt x="20" y="54"/>
                      </a:lnTo>
                      <a:lnTo>
                        <a:pt x="47" y="44"/>
                      </a:lnTo>
                      <a:lnTo>
                        <a:pt x="66" y="39"/>
                      </a:lnTo>
                      <a:lnTo>
                        <a:pt x="84" y="32"/>
                      </a:lnTo>
                      <a:lnTo>
                        <a:pt x="99" y="15"/>
                      </a:lnTo>
                      <a:lnTo>
                        <a:pt x="109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4" name="Freeform 406"/>
                <p:cNvSpPr>
                  <a:spLocks/>
                </p:cNvSpPr>
                <p:nvPr/>
              </p:nvSpPr>
              <p:spPr bwMode="auto">
                <a:xfrm>
                  <a:off x="1360" y="2605"/>
                  <a:ext cx="148" cy="116"/>
                </a:xfrm>
                <a:custGeom>
                  <a:avLst/>
                  <a:gdLst>
                    <a:gd name="T0" fmla="*/ 113 w 297"/>
                    <a:gd name="T1" fmla="*/ 0 h 232"/>
                    <a:gd name="T2" fmla="*/ 67 w 297"/>
                    <a:gd name="T3" fmla="*/ 18 h 232"/>
                    <a:gd name="T4" fmla="*/ 39 w 297"/>
                    <a:gd name="T5" fmla="*/ 29 h 232"/>
                    <a:gd name="T6" fmla="*/ 17 w 297"/>
                    <a:gd name="T7" fmla="*/ 47 h 232"/>
                    <a:gd name="T8" fmla="*/ 0 w 297"/>
                    <a:gd name="T9" fmla="*/ 61 h 232"/>
                    <a:gd name="T10" fmla="*/ 4 w 297"/>
                    <a:gd name="T11" fmla="*/ 90 h 232"/>
                    <a:gd name="T12" fmla="*/ 16 w 297"/>
                    <a:gd name="T13" fmla="*/ 122 h 232"/>
                    <a:gd name="T14" fmla="*/ 58 w 297"/>
                    <a:gd name="T15" fmla="*/ 129 h 232"/>
                    <a:gd name="T16" fmla="*/ 104 w 297"/>
                    <a:gd name="T17" fmla="*/ 133 h 232"/>
                    <a:gd name="T18" fmla="*/ 131 w 297"/>
                    <a:gd name="T19" fmla="*/ 142 h 232"/>
                    <a:gd name="T20" fmla="*/ 169 w 297"/>
                    <a:gd name="T21" fmla="*/ 155 h 232"/>
                    <a:gd name="T22" fmla="*/ 200 w 297"/>
                    <a:gd name="T23" fmla="*/ 164 h 232"/>
                    <a:gd name="T24" fmla="*/ 247 w 297"/>
                    <a:gd name="T25" fmla="*/ 171 h 232"/>
                    <a:gd name="T26" fmla="*/ 226 w 297"/>
                    <a:gd name="T27" fmla="*/ 201 h 232"/>
                    <a:gd name="T28" fmla="*/ 209 w 297"/>
                    <a:gd name="T29" fmla="*/ 225 h 232"/>
                    <a:gd name="T30" fmla="*/ 258 w 297"/>
                    <a:gd name="T31" fmla="*/ 232 h 232"/>
                    <a:gd name="T32" fmla="*/ 297 w 297"/>
                    <a:gd name="T33" fmla="*/ 228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97" h="232">
                      <a:moveTo>
                        <a:pt x="113" y="0"/>
                      </a:moveTo>
                      <a:lnTo>
                        <a:pt x="67" y="18"/>
                      </a:lnTo>
                      <a:lnTo>
                        <a:pt x="39" y="29"/>
                      </a:lnTo>
                      <a:lnTo>
                        <a:pt x="17" y="47"/>
                      </a:lnTo>
                      <a:lnTo>
                        <a:pt x="0" y="61"/>
                      </a:lnTo>
                      <a:lnTo>
                        <a:pt x="4" y="90"/>
                      </a:lnTo>
                      <a:lnTo>
                        <a:pt x="16" y="122"/>
                      </a:lnTo>
                      <a:lnTo>
                        <a:pt x="58" y="129"/>
                      </a:lnTo>
                      <a:lnTo>
                        <a:pt x="104" y="133"/>
                      </a:lnTo>
                      <a:lnTo>
                        <a:pt x="131" y="142"/>
                      </a:lnTo>
                      <a:lnTo>
                        <a:pt x="169" y="155"/>
                      </a:lnTo>
                      <a:lnTo>
                        <a:pt x="200" y="164"/>
                      </a:lnTo>
                      <a:lnTo>
                        <a:pt x="247" y="171"/>
                      </a:lnTo>
                      <a:lnTo>
                        <a:pt x="226" y="201"/>
                      </a:lnTo>
                      <a:lnTo>
                        <a:pt x="209" y="225"/>
                      </a:lnTo>
                      <a:lnTo>
                        <a:pt x="258" y="232"/>
                      </a:lnTo>
                      <a:lnTo>
                        <a:pt x="297" y="22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5" name="Freeform 407"/>
                <p:cNvSpPr>
                  <a:spLocks/>
                </p:cNvSpPr>
                <p:nvPr/>
              </p:nvSpPr>
              <p:spPr bwMode="auto">
                <a:xfrm>
                  <a:off x="1443" y="2613"/>
                  <a:ext cx="537" cy="123"/>
                </a:xfrm>
                <a:custGeom>
                  <a:avLst/>
                  <a:gdLst>
                    <a:gd name="T0" fmla="*/ 149 w 1074"/>
                    <a:gd name="T1" fmla="*/ 0 h 246"/>
                    <a:gd name="T2" fmla="*/ 93 w 1074"/>
                    <a:gd name="T3" fmla="*/ 2 h 246"/>
                    <a:gd name="T4" fmla="*/ 51 w 1074"/>
                    <a:gd name="T5" fmla="*/ 8 h 246"/>
                    <a:gd name="T6" fmla="*/ 22 w 1074"/>
                    <a:gd name="T7" fmla="*/ 20 h 246"/>
                    <a:gd name="T8" fmla="*/ 8 w 1074"/>
                    <a:gd name="T9" fmla="*/ 39 h 246"/>
                    <a:gd name="T10" fmla="*/ 0 w 1074"/>
                    <a:gd name="T11" fmla="*/ 60 h 246"/>
                    <a:gd name="T12" fmla="*/ 8 w 1074"/>
                    <a:gd name="T13" fmla="*/ 79 h 246"/>
                    <a:gd name="T14" fmla="*/ 26 w 1074"/>
                    <a:gd name="T15" fmla="*/ 88 h 246"/>
                    <a:gd name="T16" fmla="*/ 63 w 1074"/>
                    <a:gd name="T17" fmla="*/ 97 h 246"/>
                    <a:gd name="T18" fmla="*/ 88 w 1074"/>
                    <a:gd name="T19" fmla="*/ 99 h 246"/>
                    <a:gd name="T20" fmla="*/ 113 w 1074"/>
                    <a:gd name="T21" fmla="*/ 98 h 246"/>
                    <a:gd name="T22" fmla="*/ 128 w 1074"/>
                    <a:gd name="T23" fmla="*/ 99 h 246"/>
                    <a:gd name="T24" fmla="*/ 134 w 1074"/>
                    <a:gd name="T25" fmla="*/ 115 h 246"/>
                    <a:gd name="T26" fmla="*/ 135 w 1074"/>
                    <a:gd name="T27" fmla="*/ 130 h 246"/>
                    <a:gd name="T28" fmla="*/ 160 w 1074"/>
                    <a:gd name="T29" fmla="*/ 137 h 246"/>
                    <a:gd name="T30" fmla="*/ 228 w 1074"/>
                    <a:gd name="T31" fmla="*/ 149 h 246"/>
                    <a:gd name="T32" fmla="*/ 243 w 1074"/>
                    <a:gd name="T33" fmla="*/ 144 h 246"/>
                    <a:gd name="T34" fmla="*/ 262 w 1074"/>
                    <a:gd name="T35" fmla="*/ 140 h 246"/>
                    <a:gd name="T36" fmla="*/ 288 w 1074"/>
                    <a:gd name="T37" fmla="*/ 146 h 246"/>
                    <a:gd name="T38" fmla="*/ 312 w 1074"/>
                    <a:gd name="T39" fmla="*/ 151 h 246"/>
                    <a:gd name="T40" fmla="*/ 336 w 1074"/>
                    <a:gd name="T41" fmla="*/ 155 h 246"/>
                    <a:gd name="T42" fmla="*/ 334 w 1074"/>
                    <a:gd name="T43" fmla="*/ 171 h 246"/>
                    <a:gd name="T44" fmla="*/ 324 w 1074"/>
                    <a:gd name="T45" fmla="*/ 189 h 246"/>
                    <a:gd name="T46" fmla="*/ 368 w 1074"/>
                    <a:gd name="T47" fmla="*/ 207 h 246"/>
                    <a:gd name="T48" fmla="*/ 483 w 1074"/>
                    <a:gd name="T49" fmla="*/ 246 h 246"/>
                    <a:gd name="T50" fmla="*/ 621 w 1074"/>
                    <a:gd name="T51" fmla="*/ 241 h 246"/>
                    <a:gd name="T52" fmla="*/ 841 w 1074"/>
                    <a:gd name="T53" fmla="*/ 218 h 246"/>
                    <a:gd name="T54" fmla="*/ 879 w 1074"/>
                    <a:gd name="T55" fmla="*/ 188 h 246"/>
                    <a:gd name="T56" fmla="*/ 972 w 1074"/>
                    <a:gd name="T57" fmla="*/ 184 h 246"/>
                    <a:gd name="T58" fmla="*/ 1074 w 1074"/>
                    <a:gd name="T59" fmla="*/ 200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74" h="246">
                      <a:moveTo>
                        <a:pt x="149" y="0"/>
                      </a:moveTo>
                      <a:lnTo>
                        <a:pt x="93" y="2"/>
                      </a:lnTo>
                      <a:lnTo>
                        <a:pt x="51" y="8"/>
                      </a:lnTo>
                      <a:lnTo>
                        <a:pt x="22" y="20"/>
                      </a:lnTo>
                      <a:lnTo>
                        <a:pt x="8" y="39"/>
                      </a:lnTo>
                      <a:lnTo>
                        <a:pt x="0" y="60"/>
                      </a:lnTo>
                      <a:lnTo>
                        <a:pt x="8" y="79"/>
                      </a:lnTo>
                      <a:lnTo>
                        <a:pt x="26" y="88"/>
                      </a:lnTo>
                      <a:lnTo>
                        <a:pt x="63" y="97"/>
                      </a:lnTo>
                      <a:lnTo>
                        <a:pt x="88" y="99"/>
                      </a:lnTo>
                      <a:lnTo>
                        <a:pt x="113" y="98"/>
                      </a:lnTo>
                      <a:lnTo>
                        <a:pt x="128" y="99"/>
                      </a:lnTo>
                      <a:lnTo>
                        <a:pt x="134" y="115"/>
                      </a:lnTo>
                      <a:lnTo>
                        <a:pt x="135" y="130"/>
                      </a:lnTo>
                      <a:lnTo>
                        <a:pt x="160" y="137"/>
                      </a:lnTo>
                      <a:lnTo>
                        <a:pt x="228" y="149"/>
                      </a:lnTo>
                      <a:lnTo>
                        <a:pt x="243" y="144"/>
                      </a:lnTo>
                      <a:lnTo>
                        <a:pt x="262" y="140"/>
                      </a:lnTo>
                      <a:lnTo>
                        <a:pt x="288" y="146"/>
                      </a:lnTo>
                      <a:lnTo>
                        <a:pt x="312" y="151"/>
                      </a:lnTo>
                      <a:lnTo>
                        <a:pt x="336" y="155"/>
                      </a:lnTo>
                      <a:lnTo>
                        <a:pt x="334" y="171"/>
                      </a:lnTo>
                      <a:lnTo>
                        <a:pt x="324" y="189"/>
                      </a:lnTo>
                      <a:lnTo>
                        <a:pt x="368" y="207"/>
                      </a:lnTo>
                      <a:lnTo>
                        <a:pt x="483" y="246"/>
                      </a:lnTo>
                      <a:lnTo>
                        <a:pt x="621" y="241"/>
                      </a:lnTo>
                      <a:lnTo>
                        <a:pt x="841" y="218"/>
                      </a:lnTo>
                      <a:lnTo>
                        <a:pt x="879" y="188"/>
                      </a:lnTo>
                      <a:lnTo>
                        <a:pt x="972" y="184"/>
                      </a:lnTo>
                      <a:lnTo>
                        <a:pt x="1074" y="20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6" name="Freeform 408"/>
                <p:cNvSpPr>
                  <a:spLocks/>
                </p:cNvSpPr>
                <p:nvPr/>
              </p:nvSpPr>
              <p:spPr bwMode="auto">
                <a:xfrm>
                  <a:off x="1902" y="2707"/>
                  <a:ext cx="373" cy="41"/>
                </a:xfrm>
                <a:custGeom>
                  <a:avLst/>
                  <a:gdLst>
                    <a:gd name="T0" fmla="*/ 0 w 746"/>
                    <a:gd name="T1" fmla="*/ 75 h 82"/>
                    <a:gd name="T2" fmla="*/ 25 w 746"/>
                    <a:gd name="T3" fmla="*/ 65 h 82"/>
                    <a:gd name="T4" fmla="*/ 53 w 746"/>
                    <a:gd name="T5" fmla="*/ 58 h 82"/>
                    <a:gd name="T6" fmla="*/ 94 w 746"/>
                    <a:gd name="T7" fmla="*/ 69 h 82"/>
                    <a:gd name="T8" fmla="*/ 142 w 746"/>
                    <a:gd name="T9" fmla="*/ 82 h 82"/>
                    <a:gd name="T10" fmla="*/ 192 w 746"/>
                    <a:gd name="T11" fmla="*/ 76 h 82"/>
                    <a:gd name="T12" fmla="*/ 230 w 746"/>
                    <a:gd name="T13" fmla="*/ 74 h 82"/>
                    <a:gd name="T14" fmla="*/ 250 w 746"/>
                    <a:gd name="T15" fmla="*/ 68 h 82"/>
                    <a:gd name="T16" fmla="*/ 288 w 746"/>
                    <a:gd name="T17" fmla="*/ 60 h 82"/>
                    <a:gd name="T18" fmla="*/ 323 w 746"/>
                    <a:gd name="T19" fmla="*/ 55 h 82"/>
                    <a:gd name="T20" fmla="*/ 379 w 746"/>
                    <a:gd name="T21" fmla="*/ 59 h 82"/>
                    <a:gd name="T22" fmla="*/ 424 w 746"/>
                    <a:gd name="T23" fmla="*/ 64 h 82"/>
                    <a:gd name="T24" fmla="*/ 444 w 746"/>
                    <a:gd name="T25" fmla="*/ 65 h 82"/>
                    <a:gd name="T26" fmla="*/ 510 w 746"/>
                    <a:gd name="T27" fmla="*/ 47 h 82"/>
                    <a:gd name="T28" fmla="*/ 582 w 746"/>
                    <a:gd name="T29" fmla="*/ 30 h 82"/>
                    <a:gd name="T30" fmla="*/ 662 w 746"/>
                    <a:gd name="T31" fmla="*/ 30 h 82"/>
                    <a:gd name="T32" fmla="*/ 746 w 746"/>
                    <a:gd name="T33" fmla="*/ 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46" h="82">
                      <a:moveTo>
                        <a:pt x="0" y="75"/>
                      </a:moveTo>
                      <a:lnTo>
                        <a:pt x="25" y="65"/>
                      </a:lnTo>
                      <a:lnTo>
                        <a:pt x="53" y="58"/>
                      </a:lnTo>
                      <a:lnTo>
                        <a:pt x="94" y="69"/>
                      </a:lnTo>
                      <a:lnTo>
                        <a:pt x="142" y="82"/>
                      </a:lnTo>
                      <a:lnTo>
                        <a:pt x="192" y="76"/>
                      </a:lnTo>
                      <a:lnTo>
                        <a:pt x="230" y="74"/>
                      </a:lnTo>
                      <a:lnTo>
                        <a:pt x="250" y="68"/>
                      </a:lnTo>
                      <a:lnTo>
                        <a:pt x="288" y="60"/>
                      </a:lnTo>
                      <a:lnTo>
                        <a:pt x="323" y="55"/>
                      </a:lnTo>
                      <a:lnTo>
                        <a:pt x="379" y="59"/>
                      </a:lnTo>
                      <a:lnTo>
                        <a:pt x="424" y="64"/>
                      </a:lnTo>
                      <a:lnTo>
                        <a:pt x="444" y="65"/>
                      </a:lnTo>
                      <a:lnTo>
                        <a:pt x="510" y="47"/>
                      </a:lnTo>
                      <a:lnTo>
                        <a:pt x="582" y="30"/>
                      </a:lnTo>
                      <a:lnTo>
                        <a:pt x="662" y="30"/>
                      </a:lnTo>
                      <a:lnTo>
                        <a:pt x="746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7" name="Freeform 409"/>
                <p:cNvSpPr>
                  <a:spLocks/>
                </p:cNvSpPr>
                <p:nvPr/>
              </p:nvSpPr>
              <p:spPr bwMode="auto">
                <a:xfrm>
                  <a:off x="2067" y="2609"/>
                  <a:ext cx="264" cy="98"/>
                </a:xfrm>
                <a:custGeom>
                  <a:avLst/>
                  <a:gdLst>
                    <a:gd name="T0" fmla="*/ 0 w 528"/>
                    <a:gd name="T1" fmla="*/ 197 h 197"/>
                    <a:gd name="T2" fmla="*/ 62 w 528"/>
                    <a:gd name="T3" fmla="*/ 188 h 197"/>
                    <a:gd name="T4" fmla="*/ 101 w 528"/>
                    <a:gd name="T5" fmla="*/ 183 h 197"/>
                    <a:gd name="T6" fmla="*/ 153 w 528"/>
                    <a:gd name="T7" fmla="*/ 169 h 197"/>
                    <a:gd name="T8" fmla="*/ 232 w 528"/>
                    <a:gd name="T9" fmla="*/ 164 h 197"/>
                    <a:gd name="T10" fmla="*/ 324 w 528"/>
                    <a:gd name="T11" fmla="*/ 151 h 197"/>
                    <a:gd name="T12" fmla="*/ 389 w 528"/>
                    <a:gd name="T13" fmla="*/ 143 h 197"/>
                    <a:gd name="T14" fmla="*/ 434 w 528"/>
                    <a:gd name="T15" fmla="*/ 120 h 197"/>
                    <a:gd name="T16" fmla="*/ 462 w 528"/>
                    <a:gd name="T17" fmla="*/ 112 h 197"/>
                    <a:gd name="T18" fmla="*/ 479 w 528"/>
                    <a:gd name="T19" fmla="*/ 107 h 197"/>
                    <a:gd name="T20" fmla="*/ 520 w 528"/>
                    <a:gd name="T21" fmla="*/ 71 h 197"/>
                    <a:gd name="T22" fmla="*/ 527 w 528"/>
                    <a:gd name="T23" fmla="*/ 55 h 197"/>
                    <a:gd name="T24" fmla="*/ 528 w 528"/>
                    <a:gd name="T25" fmla="*/ 40 h 197"/>
                    <a:gd name="T26" fmla="*/ 522 w 528"/>
                    <a:gd name="T27" fmla="*/ 31 h 197"/>
                    <a:gd name="T28" fmla="*/ 510 w 528"/>
                    <a:gd name="T29" fmla="*/ 22 h 197"/>
                    <a:gd name="T30" fmla="*/ 486 w 528"/>
                    <a:gd name="T31" fmla="*/ 22 h 197"/>
                    <a:gd name="T32" fmla="*/ 458 w 528"/>
                    <a:gd name="T33" fmla="*/ 9 h 197"/>
                    <a:gd name="T34" fmla="*/ 419 w 528"/>
                    <a:gd name="T35" fmla="*/ 0 h 197"/>
                    <a:gd name="T36" fmla="*/ 370 w 528"/>
                    <a:gd name="T37" fmla="*/ 0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28" h="197">
                      <a:moveTo>
                        <a:pt x="0" y="197"/>
                      </a:moveTo>
                      <a:lnTo>
                        <a:pt x="62" y="188"/>
                      </a:lnTo>
                      <a:lnTo>
                        <a:pt x="101" y="183"/>
                      </a:lnTo>
                      <a:lnTo>
                        <a:pt x="153" y="169"/>
                      </a:lnTo>
                      <a:lnTo>
                        <a:pt x="232" y="164"/>
                      </a:lnTo>
                      <a:lnTo>
                        <a:pt x="324" y="151"/>
                      </a:lnTo>
                      <a:lnTo>
                        <a:pt x="389" y="143"/>
                      </a:lnTo>
                      <a:lnTo>
                        <a:pt x="434" y="120"/>
                      </a:lnTo>
                      <a:lnTo>
                        <a:pt x="462" y="112"/>
                      </a:lnTo>
                      <a:lnTo>
                        <a:pt x="479" y="107"/>
                      </a:lnTo>
                      <a:lnTo>
                        <a:pt x="520" y="71"/>
                      </a:lnTo>
                      <a:lnTo>
                        <a:pt x="527" y="55"/>
                      </a:lnTo>
                      <a:lnTo>
                        <a:pt x="528" y="40"/>
                      </a:lnTo>
                      <a:lnTo>
                        <a:pt x="522" y="31"/>
                      </a:lnTo>
                      <a:lnTo>
                        <a:pt x="510" y="22"/>
                      </a:lnTo>
                      <a:lnTo>
                        <a:pt x="486" y="22"/>
                      </a:lnTo>
                      <a:lnTo>
                        <a:pt x="458" y="9"/>
                      </a:lnTo>
                      <a:lnTo>
                        <a:pt x="419" y="0"/>
                      </a:lnTo>
                      <a:lnTo>
                        <a:pt x="370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8" name="Freeform 410"/>
                <p:cNvSpPr>
                  <a:spLocks/>
                </p:cNvSpPr>
                <p:nvPr/>
              </p:nvSpPr>
              <p:spPr bwMode="auto">
                <a:xfrm>
                  <a:off x="2343" y="2598"/>
                  <a:ext cx="70" cy="93"/>
                </a:xfrm>
                <a:custGeom>
                  <a:avLst/>
                  <a:gdLst>
                    <a:gd name="T0" fmla="*/ 32 w 141"/>
                    <a:gd name="T1" fmla="*/ 185 h 185"/>
                    <a:gd name="T2" fmla="*/ 74 w 141"/>
                    <a:gd name="T3" fmla="*/ 154 h 185"/>
                    <a:gd name="T4" fmla="*/ 116 w 141"/>
                    <a:gd name="T5" fmla="*/ 127 h 185"/>
                    <a:gd name="T6" fmla="*/ 107 w 141"/>
                    <a:gd name="T7" fmla="*/ 110 h 185"/>
                    <a:gd name="T8" fmla="*/ 101 w 141"/>
                    <a:gd name="T9" fmla="*/ 86 h 185"/>
                    <a:gd name="T10" fmla="*/ 118 w 141"/>
                    <a:gd name="T11" fmla="*/ 60 h 185"/>
                    <a:gd name="T12" fmla="*/ 141 w 141"/>
                    <a:gd name="T13" fmla="*/ 39 h 185"/>
                    <a:gd name="T14" fmla="*/ 111 w 141"/>
                    <a:gd name="T15" fmla="*/ 22 h 185"/>
                    <a:gd name="T16" fmla="*/ 70 w 141"/>
                    <a:gd name="T17" fmla="*/ 0 h 185"/>
                    <a:gd name="T18" fmla="*/ 0 w 141"/>
                    <a:gd name="T19" fmla="*/ 6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1" h="185">
                      <a:moveTo>
                        <a:pt x="32" y="185"/>
                      </a:moveTo>
                      <a:lnTo>
                        <a:pt x="74" y="154"/>
                      </a:lnTo>
                      <a:lnTo>
                        <a:pt x="116" y="127"/>
                      </a:lnTo>
                      <a:lnTo>
                        <a:pt x="107" y="110"/>
                      </a:lnTo>
                      <a:lnTo>
                        <a:pt x="101" y="86"/>
                      </a:lnTo>
                      <a:lnTo>
                        <a:pt x="118" y="60"/>
                      </a:lnTo>
                      <a:lnTo>
                        <a:pt x="141" y="39"/>
                      </a:lnTo>
                      <a:lnTo>
                        <a:pt x="111" y="22"/>
                      </a:lnTo>
                      <a:lnTo>
                        <a:pt x="70" y="0"/>
                      </a:lnTo>
                      <a:lnTo>
                        <a:pt x="0" y="6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89" name="Freeform 411"/>
                <p:cNvSpPr>
                  <a:spLocks/>
                </p:cNvSpPr>
                <p:nvPr/>
              </p:nvSpPr>
              <p:spPr bwMode="auto">
                <a:xfrm>
                  <a:off x="2509" y="2676"/>
                  <a:ext cx="155" cy="10"/>
                </a:xfrm>
                <a:custGeom>
                  <a:avLst/>
                  <a:gdLst>
                    <a:gd name="T0" fmla="*/ 0 w 309"/>
                    <a:gd name="T1" fmla="*/ 4 h 20"/>
                    <a:gd name="T2" fmla="*/ 32 w 309"/>
                    <a:gd name="T3" fmla="*/ 0 h 20"/>
                    <a:gd name="T4" fmla="*/ 54 w 309"/>
                    <a:gd name="T5" fmla="*/ 5 h 20"/>
                    <a:gd name="T6" fmla="*/ 116 w 309"/>
                    <a:gd name="T7" fmla="*/ 20 h 20"/>
                    <a:gd name="T8" fmla="*/ 144 w 309"/>
                    <a:gd name="T9" fmla="*/ 17 h 20"/>
                    <a:gd name="T10" fmla="*/ 176 w 309"/>
                    <a:gd name="T11" fmla="*/ 14 h 20"/>
                    <a:gd name="T12" fmla="*/ 309 w 309"/>
                    <a:gd name="T13" fmla="*/ 1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9" h="20">
                      <a:moveTo>
                        <a:pt x="0" y="4"/>
                      </a:moveTo>
                      <a:lnTo>
                        <a:pt x="32" y="0"/>
                      </a:lnTo>
                      <a:lnTo>
                        <a:pt x="54" y="5"/>
                      </a:lnTo>
                      <a:lnTo>
                        <a:pt x="116" y="20"/>
                      </a:lnTo>
                      <a:lnTo>
                        <a:pt x="144" y="17"/>
                      </a:lnTo>
                      <a:lnTo>
                        <a:pt x="176" y="14"/>
                      </a:lnTo>
                      <a:lnTo>
                        <a:pt x="309" y="1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90" name="Freeform 412"/>
                <p:cNvSpPr>
                  <a:spLocks/>
                </p:cNvSpPr>
                <p:nvPr/>
              </p:nvSpPr>
              <p:spPr bwMode="auto">
                <a:xfrm>
                  <a:off x="2471" y="2690"/>
                  <a:ext cx="164" cy="16"/>
                </a:xfrm>
                <a:custGeom>
                  <a:avLst/>
                  <a:gdLst>
                    <a:gd name="T0" fmla="*/ 0 w 328"/>
                    <a:gd name="T1" fmla="*/ 6 h 32"/>
                    <a:gd name="T2" fmla="*/ 34 w 328"/>
                    <a:gd name="T3" fmla="*/ 0 h 32"/>
                    <a:gd name="T4" fmla="*/ 70 w 328"/>
                    <a:gd name="T5" fmla="*/ 1 h 32"/>
                    <a:gd name="T6" fmla="*/ 99 w 328"/>
                    <a:gd name="T7" fmla="*/ 11 h 32"/>
                    <a:gd name="T8" fmla="*/ 121 w 328"/>
                    <a:gd name="T9" fmla="*/ 19 h 32"/>
                    <a:gd name="T10" fmla="*/ 149 w 328"/>
                    <a:gd name="T11" fmla="*/ 14 h 32"/>
                    <a:gd name="T12" fmla="*/ 195 w 328"/>
                    <a:gd name="T13" fmla="*/ 12 h 32"/>
                    <a:gd name="T14" fmla="*/ 238 w 328"/>
                    <a:gd name="T15" fmla="*/ 17 h 32"/>
                    <a:gd name="T16" fmla="*/ 277 w 328"/>
                    <a:gd name="T17" fmla="*/ 26 h 32"/>
                    <a:gd name="T18" fmla="*/ 309 w 328"/>
                    <a:gd name="T19" fmla="*/ 29 h 32"/>
                    <a:gd name="T20" fmla="*/ 328 w 328"/>
                    <a:gd name="T2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28" h="32">
                      <a:moveTo>
                        <a:pt x="0" y="6"/>
                      </a:moveTo>
                      <a:lnTo>
                        <a:pt x="34" y="0"/>
                      </a:lnTo>
                      <a:lnTo>
                        <a:pt x="70" y="1"/>
                      </a:lnTo>
                      <a:lnTo>
                        <a:pt x="99" y="11"/>
                      </a:lnTo>
                      <a:lnTo>
                        <a:pt x="121" y="19"/>
                      </a:lnTo>
                      <a:lnTo>
                        <a:pt x="149" y="14"/>
                      </a:lnTo>
                      <a:lnTo>
                        <a:pt x="195" y="12"/>
                      </a:lnTo>
                      <a:lnTo>
                        <a:pt x="238" y="17"/>
                      </a:lnTo>
                      <a:lnTo>
                        <a:pt x="277" y="26"/>
                      </a:lnTo>
                      <a:lnTo>
                        <a:pt x="309" y="29"/>
                      </a:lnTo>
                      <a:lnTo>
                        <a:pt x="328" y="32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91" name="Freeform 413"/>
                <p:cNvSpPr>
                  <a:spLocks/>
                </p:cNvSpPr>
                <p:nvPr/>
              </p:nvSpPr>
              <p:spPr bwMode="auto">
                <a:xfrm>
                  <a:off x="2493" y="2707"/>
                  <a:ext cx="207" cy="125"/>
                </a:xfrm>
                <a:custGeom>
                  <a:avLst/>
                  <a:gdLst>
                    <a:gd name="T0" fmla="*/ 0 w 414"/>
                    <a:gd name="T1" fmla="*/ 0 h 248"/>
                    <a:gd name="T2" fmla="*/ 58 w 414"/>
                    <a:gd name="T3" fmla="*/ 27 h 248"/>
                    <a:gd name="T4" fmla="*/ 92 w 414"/>
                    <a:gd name="T5" fmla="*/ 42 h 248"/>
                    <a:gd name="T6" fmla="*/ 116 w 414"/>
                    <a:gd name="T7" fmla="*/ 58 h 248"/>
                    <a:gd name="T8" fmla="*/ 149 w 414"/>
                    <a:gd name="T9" fmla="*/ 77 h 248"/>
                    <a:gd name="T10" fmla="*/ 176 w 414"/>
                    <a:gd name="T11" fmla="*/ 105 h 248"/>
                    <a:gd name="T12" fmla="*/ 218 w 414"/>
                    <a:gd name="T13" fmla="*/ 142 h 248"/>
                    <a:gd name="T14" fmla="*/ 262 w 414"/>
                    <a:gd name="T15" fmla="*/ 153 h 248"/>
                    <a:gd name="T16" fmla="*/ 305 w 414"/>
                    <a:gd name="T17" fmla="*/ 163 h 248"/>
                    <a:gd name="T18" fmla="*/ 342 w 414"/>
                    <a:gd name="T19" fmla="*/ 201 h 248"/>
                    <a:gd name="T20" fmla="*/ 414 w 414"/>
                    <a:gd name="T21" fmla="*/ 248 h 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14" h="248">
                      <a:moveTo>
                        <a:pt x="0" y="0"/>
                      </a:moveTo>
                      <a:lnTo>
                        <a:pt x="58" y="27"/>
                      </a:lnTo>
                      <a:lnTo>
                        <a:pt x="92" y="42"/>
                      </a:lnTo>
                      <a:lnTo>
                        <a:pt x="116" y="58"/>
                      </a:lnTo>
                      <a:lnTo>
                        <a:pt x="149" y="77"/>
                      </a:lnTo>
                      <a:lnTo>
                        <a:pt x="176" y="105"/>
                      </a:lnTo>
                      <a:lnTo>
                        <a:pt x="218" y="142"/>
                      </a:lnTo>
                      <a:lnTo>
                        <a:pt x="262" y="153"/>
                      </a:lnTo>
                      <a:lnTo>
                        <a:pt x="305" y="163"/>
                      </a:lnTo>
                      <a:lnTo>
                        <a:pt x="342" y="201"/>
                      </a:lnTo>
                      <a:lnTo>
                        <a:pt x="414" y="248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  <p:sp>
              <p:nvSpPr>
                <p:cNvPr id="92" name="Freeform 414"/>
                <p:cNvSpPr>
                  <a:spLocks/>
                </p:cNvSpPr>
                <p:nvPr/>
              </p:nvSpPr>
              <p:spPr bwMode="auto">
                <a:xfrm>
                  <a:off x="2724" y="2765"/>
                  <a:ext cx="103" cy="42"/>
                </a:xfrm>
                <a:custGeom>
                  <a:avLst/>
                  <a:gdLst>
                    <a:gd name="T0" fmla="*/ 0 w 208"/>
                    <a:gd name="T1" fmla="*/ 57 h 84"/>
                    <a:gd name="T2" fmla="*/ 28 w 208"/>
                    <a:gd name="T3" fmla="*/ 59 h 84"/>
                    <a:gd name="T4" fmla="*/ 55 w 208"/>
                    <a:gd name="T5" fmla="*/ 63 h 84"/>
                    <a:gd name="T6" fmla="*/ 82 w 208"/>
                    <a:gd name="T7" fmla="*/ 67 h 84"/>
                    <a:gd name="T8" fmla="*/ 117 w 208"/>
                    <a:gd name="T9" fmla="*/ 69 h 84"/>
                    <a:gd name="T10" fmla="*/ 164 w 208"/>
                    <a:gd name="T11" fmla="*/ 84 h 84"/>
                    <a:gd name="T12" fmla="*/ 177 w 208"/>
                    <a:gd name="T13" fmla="*/ 79 h 84"/>
                    <a:gd name="T14" fmla="*/ 196 w 208"/>
                    <a:gd name="T15" fmla="*/ 73 h 84"/>
                    <a:gd name="T16" fmla="*/ 204 w 208"/>
                    <a:gd name="T17" fmla="*/ 64 h 84"/>
                    <a:gd name="T18" fmla="*/ 208 w 208"/>
                    <a:gd name="T19" fmla="*/ 45 h 84"/>
                    <a:gd name="T20" fmla="*/ 204 w 208"/>
                    <a:gd name="T21" fmla="*/ 29 h 84"/>
                    <a:gd name="T22" fmla="*/ 198 w 208"/>
                    <a:gd name="T23" fmla="*/ 16 h 84"/>
                    <a:gd name="T24" fmla="*/ 187 w 208"/>
                    <a:gd name="T25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8" h="84">
                      <a:moveTo>
                        <a:pt x="0" y="57"/>
                      </a:moveTo>
                      <a:lnTo>
                        <a:pt x="28" y="59"/>
                      </a:lnTo>
                      <a:lnTo>
                        <a:pt x="55" y="63"/>
                      </a:lnTo>
                      <a:lnTo>
                        <a:pt x="82" y="67"/>
                      </a:lnTo>
                      <a:lnTo>
                        <a:pt x="117" y="69"/>
                      </a:lnTo>
                      <a:lnTo>
                        <a:pt x="164" y="84"/>
                      </a:lnTo>
                      <a:lnTo>
                        <a:pt x="177" y="79"/>
                      </a:lnTo>
                      <a:lnTo>
                        <a:pt x="196" y="73"/>
                      </a:lnTo>
                      <a:lnTo>
                        <a:pt x="204" y="64"/>
                      </a:lnTo>
                      <a:lnTo>
                        <a:pt x="208" y="45"/>
                      </a:lnTo>
                      <a:lnTo>
                        <a:pt x="204" y="29"/>
                      </a:lnTo>
                      <a:lnTo>
                        <a:pt x="198" y="16"/>
                      </a:lnTo>
                      <a:lnTo>
                        <a:pt x="187" y="0"/>
                      </a:lnTo>
                    </a:path>
                  </a:pathLst>
                </a:custGeom>
                <a:noFill/>
                <a:ln w="6350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50" name="Group 415"/>
            <p:cNvGrpSpPr>
              <a:grpSpLocks/>
            </p:cNvGrpSpPr>
            <p:nvPr/>
          </p:nvGrpSpPr>
          <p:grpSpPr bwMode="auto">
            <a:xfrm>
              <a:off x="4031" y="2112"/>
              <a:ext cx="781" cy="586"/>
              <a:chOff x="1490" y="1892"/>
              <a:chExt cx="781" cy="806"/>
            </a:xfrm>
          </p:grpSpPr>
          <p:grpSp>
            <p:nvGrpSpPr>
              <p:cNvPr id="53" name="Group 416"/>
              <p:cNvGrpSpPr>
                <a:grpSpLocks/>
              </p:cNvGrpSpPr>
              <p:nvPr/>
            </p:nvGrpSpPr>
            <p:grpSpPr bwMode="auto">
              <a:xfrm>
                <a:off x="1490" y="1892"/>
                <a:ext cx="781" cy="775"/>
                <a:chOff x="1490" y="1892"/>
                <a:chExt cx="781" cy="775"/>
              </a:xfrm>
            </p:grpSpPr>
            <p:grpSp>
              <p:nvGrpSpPr>
                <p:cNvPr id="61" name="Group 417"/>
                <p:cNvGrpSpPr>
                  <a:grpSpLocks/>
                </p:cNvGrpSpPr>
                <p:nvPr/>
              </p:nvGrpSpPr>
              <p:grpSpPr bwMode="auto">
                <a:xfrm>
                  <a:off x="1537" y="1943"/>
                  <a:ext cx="705" cy="724"/>
                  <a:chOff x="1537" y="1943"/>
                  <a:chExt cx="705" cy="724"/>
                </a:xfrm>
              </p:grpSpPr>
              <p:grpSp>
                <p:nvGrpSpPr>
                  <p:cNvPr id="63" name="Group 418"/>
                  <p:cNvGrpSpPr>
                    <a:grpSpLocks/>
                  </p:cNvGrpSpPr>
                  <p:nvPr/>
                </p:nvGrpSpPr>
                <p:grpSpPr bwMode="auto">
                  <a:xfrm>
                    <a:off x="1537" y="1943"/>
                    <a:ext cx="705" cy="724"/>
                    <a:chOff x="1537" y="1943"/>
                    <a:chExt cx="705" cy="724"/>
                  </a:xfrm>
                </p:grpSpPr>
                <p:grpSp>
                  <p:nvGrpSpPr>
                    <p:cNvPr id="73" name="Group 4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37" y="1951"/>
                      <a:ext cx="705" cy="716"/>
                      <a:chOff x="1537" y="1951"/>
                      <a:chExt cx="705" cy="716"/>
                    </a:xfrm>
                  </p:grpSpPr>
                  <p:sp>
                    <p:nvSpPr>
                      <p:cNvPr id="75" name="Freeform 4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7" y="1953"/>
                        <a:ext cx="705" cy="714"/>
                      </a:xfrm>
                      <a:custGeom>
                        <a:avLst/>
                        <a:gdLst>
                          <a:gd name="T0" fmla="*/ 5 w 1410"/>
                          <a:gd name="T1" fmla="*/ 0 h 1430"/>
                          <a:gd name="T2" fmla="*/ 20 w 1410"/>
                          <a:gd name="T3" fmla="*/ 34 h 1430"/>
                          <a:gd name="T4" fmla="*/ 37 w 1410"/>
                          <a:gd name="T5" fmla="*/ 63 h 1430"/>
                          <a:gd name="T6" fmla="*/ 33 w 1410"/>
                          <a:gd name="T7" fmla="*/ 116 h 1430"/>
                          <a:gd name="T8" fmla="*/ 52 w 1410"/>
                          <a:gd name="T9" fmla="*/ 211 h 1430"/>
                          <a:gd name="T10" fmla="*/ 67 w 1410"/>
                          <a:gd name="T11" fmla="*/ 256 h 1430"/>
                          <a:gd name="T12" fmla="*/ 63 w 1410"/>
                          <a:gd name="T13" fmla="*/ 291 h 1430"/>
                          <a:gd name="T14" fmla="*/ 73 w 1410"/>
                          <a:gd name="T15" fmla="*/ 316 h 1430"/>
                          <a:gd name="T16" fmla="*/ 74 w 1410"/>
                          <a:gd name="T17" fmla="*/ 400 h 1430"/>
                          <a:gd name="T18" fmla="*/ 60 w 1410"/>
                          <a:gd name="T19" fmla="*/ 465 h 1430"/>
                          <a:gd name="T20" fmla="*/ 51 w 1410"/>
                          <a:gd name="T21" fmla="*/ 528 h 1430"/>
                          <a:gd name="T22" fmla="*/ 51 w 1410"/>
                          <a:gd name="T23" fmla="*/ 600 h 1430"/>
                          <a:gd name="T24" fmla="*/ 56 w 1410"/>
                          <a:gd name="T25" fmla="*/ 629 h 1430"/>
                          <a:gd name="T26" fmla="*/ 62 w 1410"/>
                          <a:gd name="T27" fmla="*/ 703 h 1430"/>
                          <a:gd name="T28" fmla="*/ 29 w 1410"/>
                          <a:gd name="T29" fmla="*/ 900 h 1430"/>
                          <a:gd name="T30" fmla="*/ 23 w 1410"/>
                          <a:gd name="T31" fmla="*/ 1106 h 1430"/>
                          <a:gd name="T32" fmla="*/ 29 w 1410"/>
                          <a:gd name="T33" fmla="*/ 1249 h 1430"/>
                          <a:gd name="T34" fmla="*/ 0 w 1410"/>
                          <a:gd name="T35" fmla="*/ 1343 h 1430"/>
                          <a:gd name="T36" fmla="*/ 7 w 1410"/>
                          <a:gd name="T37" fmla="*/ 1371 h 1430"/>
                          <a:gd name="T38" fmla="*/ 85 w 1410"/>
                          <a:gd name="T39" fmla="*/ 1364 h 1430"/>
                          <a:gd name="T40" fmla="*/ 194 w 1410"/>
                          <a:gd name="T41" fmla="*/ 1368 h 1430"/>
                          <a:gd name="T42" fmla="*/ 285 w 1410"/>
                          <a:gd name="T43" fmla="*/ 1385 h 1430"/>
                          <a:gd name="T44" fmla="*/ 361 w 1410"/>
                          <a:gd name="T45" fmla="*/ 1394 h 1430"/>
                          <a:gd name="T46" fmla="*/ 467 w 1410"/>
                          <a:gd name="T47" fmla="*/ 1418 h 1430"/>
                          <a:gd name="T48" fmla="*/ 727 w 1410"/>
                          <a:gd name="T49" fmla="*/ 1425 h 1430"/>
                          <a:gd name="T50" fmla="*/ 954 w 1410"/>
                          <a:gd name="T51" fmla="*/ 1425 h 1430"/>
                          <a:gd name="T52" fmla="*/ 1078 w 1410"/>
                          <a:gd name="T53" fmla="*/ 1430 h 1430"/>
                          <a:gd name="T54" fmla="*/ 1278 w 1410"/>
                          <a:gd name="T55" fmla="*/ 1403 h 1430"/>
                          <a:gd name="T56" fmla="*/ 1333 w 1410"/>
                          <a:gd name="T57" fmla="*/ 1396 h 1430"/>
                          <a:gd name="T58" fmla="*/ 1369 w 1410"/>
                          <a:gd name="T59" fmla="*/ 1383 h 1430"/>
                          <a:gd name="T60" fmla="*/ 1399 w 1410"/>
                          <a:gd name="T61" fmla="*/ 1346 h 1430"/>
                          <a:gd name="T62" fmla="*/ 1398 w 1410"/>
                          <a:gd name="T63" fmla="*/ 1323 h 1430"/>
                          <a:gd name="T64" fmla="*/ 1410 w 1410"/>
                          <a:gd name="T65" fmla="*/ 1284 h 1430"/>
                          <a:gd name="T66" fmla="*/ 1398 w 1410"/>
                          <a:gd name="T67" fmla="*/ 1225 h 1430"/>
                          <a:gd name="T68" fmla="*/ 1376 w 1410"/>
                          <a:gd name="T69" fmla="*/ 1160 h 1430"/>
                          <a:gd name="T70" fmla="*/ 1376 w 1410"/>
                          <a:gd name="T71" fmla="*/ 1098 h 1430"/>
                          <a:gd name="T72" fmla="*/ 1367 w 1410"/>
                          <a:gd name="T73" fmla="*/ 1014 h 1430"/>
                          <a:gd name="T74" fmla="*/ 1374 w 1410"/>
                          <a:gd name="T75" fmla="*/ 926 h 1430"/>
                          <a:gd name="T76" fmla="*/ 1359 w 1410"/>
                          <a:gd name="T77" fmla="*/ 852 h 1430"/>
                          <a:gd name="T78" fmla="*/ 1359 w 1410"/>
                          <a:gd name="T79" fmla="*/ 660 h 1430"/>
                          <a:gd name="T80" fmla="*/ 1355 w 1410"/>
                          <a:gd name="T81" fmla="*/ 579 h 1430"/>
                          <a:gd name="T82" fmla="*/ 1362 w 1410"/>
                          <a:gd name="T83" fmla="*/ 515 h 1430"/>
                          <a:gd name="T84" fmla="*/ 1352 w 1410"/>
                          <a:gd name="T85" fmla="*/ 488 h 1430"/>
                          <a:gd name="T86" fmla="*/ 1361 w 1410"/>
                          <a:gd name="T87" fmla="*/ 338 h 1430"/>
                          <a:gd name="T88" fmla="*/ 1351 w 1410"/>
                          <a:gd name="T89" fmla="*/ 302 h 1430"/>
                          <a:gd name="T90" fmla="*/ 1385 w 1410"/>
                          <a:gd name="T91" fmla="*/ 222 h 1430"/>
                          <a:gd name="T92" fmla="*/ 1367 w 1410"/>
                          <a:gd name="T93" fmla="*/ 0 h 1430"/>
                          <a:gd name="T94" fmla="*/ 5 w 1410"/>
                          <a:gd name="T95" fmla="*/ 0 h 14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</a:cxnLst>
                        <a:rect l="0" t="0" r="r" b="b"/>
                        <a:pathLst>
                          <a:path w="1410" h="1430">
                            <a:moveTo>
                              <a:pt x="5" y="0"/>
                            </a:moveTo>
                            <a:lnTo>
                              <a:pt x="20" y="34"/>
                            </a:lnTo>
                            <a:lnTo>
                              <a:pt x="37" y="63"/>
                            </a:lnTo>
                            <a:lnTo>
                              <a:pt x="33" y="116"/>
                            </a:lnTo>
                            <a:lnTo>
                              <a:pt x="52" y="211"/>
                            </a:lnTo>
                            <a:lnTo>
                              <a:pt x="67" y="256"/>
                            </a:lnTo>
                            <a:lnTo>
                              <a:pt x="63" y="291"/>
                            </a:lnTo>
                            <a:lnTo>
                              <a:pt x="73" y="316"/>
                            </a:lnTo>
                            <a:lnTo>
                              <a:pt x="74" y="400"/>
                            </a:lnTo>
                            <a:lnTo>
                              <a:pt x="60" y="465"/>
                            </a:lnTo>
                            <a:lnTo>
                              <a:pt x="51" y="528"/>
                            </a:lnTo>
                            <a:lnTo>
                              <a:pt x="51" y="600"/>
                            </a:lnTo>
                            <a:lnTo>
                              <a:pt x="56" y="629"/>
                            </a:lnTo>
                            <a:lnTo>
                              <a:pt x="62" y="703"/>
                            </a:lnTo>
                            <a:lnTo>
                              <a:pt x="29" y="900"/>
                            </a:lnTo>
                            <a:lnTo>
                              <a:pt x="23" y="1106"/>
                            </a:lnTo>
                            <a:lnTo>
                              <a:pt x="29" y="1249"/>
                            </a:lnTo>
                            <a:lnTo>
                              <a:pt x="0" y="1343"/>
                            </a:lnTo>
                            <a:lnTo>
                              <a:pt x="7" y="1371"/>
                            </a:lnTo>
                            <a:lnTo>
                              <a:pt x="85" y="1364"/>
                            </a:lnTo>
                            <a:lnTo>
                              <a:pt x="194" y="1368"/>
                            </a:lnTo>
                            <a:lnTo>
                              <a:pt x="285" y="1385"/>
                            </a:lnTo>
                            <a:lnTo>
                              <a:pt x="361" y="1394"/>
                            </a:lnTo>
                            <a:lnTo>
                              <a:pt x="467" y="1418"/>
                            </a:lnTo>
                            <a:lnTo>
                              <a:pt x="727" y="1425"/>
                            </a:lnTo>
                            <a:lnTo>
                              <a:pt x="954" y="1425"/>
                            </a:lnTo>
                            <a:lnTo>
                              <a:pt x="1078" y="1430"/>
                            </a:lnTo>
                            <a:lnTo>
                              <a:pt x="1278" y="1403"/>
                            </a:lnTo>
                            <a:lnTo>
                              <a:pt x="1333" y="1396"/>
                            </a:lnTo>
                            <a:lnTo>
                              <a:pt x="1369" y="1383"/>
                            </a:lnTo>
                            <a:lnTo>
                              <a:pt x="1399" y="1346"/>
                            </a:lnTo>
                            <a:lnTo>
                              <a:pt x="1398" y="1323"/>
                            </a:lnTo>
                            <a:lnTo>
                              <a:pt x="1410" y="1284"/>
                            </a:lnTo>
                            <a:lnTo>
                              <a:pt x="1398" y="1225"/>
                            </a:lnTo>
                            <a:lnTo>
                              <a:pt x="1376" y="1160"/>
                            </a:lnTo>
                            <a:lnTo>
                              <a:pt x="1376" y="1098"/>
                            </a:lnTo>
                            <a:lnTo>
                              <a:pt x="1367" y="1014"/>
                            </a:lnTo>
                            <a:lnTo>
                              <a:pt x="1374" y="926"/>
                            </a:lnTo>
                            <a:lnTo>
                              <a:pt x="1359" y="852"/>
                            </a:lnTo>
                            <a:lnTo>
                              <a:pt x="1359" y="660"/>
                            </a:lnTo>
                            <a:lnTo>
                              <a:pt x="1355" y="579"/>
                            </a:lnTo>
                            <a:lnTo>
                              <a:pt x="1362" y="515"/>
                            </a:lnTo>
                            <a:lnTo>
                              <a:pt x="1352" y="488"/>
                            </a:lnTo>
                            <a:lnTo>
                              <a:pt x="1361" y="338"/>
                            </a:lnTo>
                            <a:lnTo>
                              <a:pt x="1351" y="302"/>
                            </a:lnTo>
                            <a:lnTo>
                              <a:pt x="1385" y="222"/>
                            </a:lnTo>
                            <a:lnTo>
                              <a:pt x="1367" y="0"/>
                            </a:lnTo>
                            <a:lnTo>
                              <a:pt x="5" y="0"/>
                            </a:lnTo>
                            <a:close/>
                          </a:path>
                        </a:pathLst>
                      </a:custGeom>
                      <a:solidFill>
                        <a:srgbClr val="FF3399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76" name="Freeform 4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7" y="1952"/>
                        <a:ext cx="68" cy="685"/>
                      </a:xfrm>
                      <a:custGeom>
                        <a:avLst/>
                        <a:gdLst>
                          <a:gd name="T0" fmla="*/ 5 w 136"/>
                          <a:gd name="T1" fmla="*/ 0 h 1370"/>
                          <a:gd name="T2" fmla="*/ 20 w 136"/>
                          <a:gd name="T3" fmla="*/ 34 h 1370"/>
                          <a:gd name="T4" fmla="*/ 37 w 136"/>
                          <a:gd name="T5" fmla="*/ 63 h 1370"/>
                          <a:gd name="T6" fmla="*/ 33 w 136"/>
                          <a:gd name="T7" fmla="*/ 116 h 1370"/>
                          <a:gd name="T8" fmla="*/ 52 w 136"/>
                          <a:gd name="T9" fmla="*/ 211 h 1370"/>
                          <a:gd name="T10" fmla="*/ 67 w 136"/>
                          <a:gd name="T11" fmla="*/ 255 h 1370"/>
                          <a:gd name="T12" fmla="*/ 63 w 136"/>
                          <a:gd name="T13" fmla="*/ 291 h 1370"/>
                          <a:gd name="T14" fmla="*/ 73 w 136"/>
                          <a:gd name="T15" fmla="*/ 316 h 1370"/>
                          <a:gd name="T16" fmla="*/ 74 w 136"/>
                          <a:gd name="T17" fmla="*/ 400 h 1370"/>
                          <a:gd name="T18" fmla="*/ 60 w 136"/>
                          <a:gd name="T19" fmla="*/ 465 h 1370"/>
                          <a:gd name="T20" fmla="*/ 51 w 136"/>
                          <a:gd name="T21" fmla="*/ 528 h 1370"/>
                          <a:gd name="T22" fmla="*/ 51 w 136"/>
                          <a:gd name="T23" fmla="*/ 600 h 1370"/>
                          <a:gd name="T24" fmla="*/ 56 w 136"/>
                          <a:gd name="T25" fmla="*/ 629 h 1370"/>
                          <a:gd name="T26" fmla="*/ 62 w 136"/>
                          <a:gd name="T27" fmla="*/ 703 h 1370"/>
                          <a:gd name="T28" fmla="*/ 29 w 136"/>
                          <a:gd name="T29" fmla="*/ 900 h 1370"/>
                          <a:gd name="T30" fmla="*/ 23 w 136"/>
                          <a:gd name="T31" fmla="*/ 1106 h 1370"/>
                          <a:gd name="T32" fmla="*/ 29 w 136"/>
                          <a:gd name="T33" fmla="*/ 1249 h 1370"/>
                          <a:gd name="T34" fmla="*/ 0 w 136"/>
                          <a:gd name="T35" fmla="*/ 1342 h 1370"/>
                          <a:gd name="T36" fmla="*/ 7 w 136"/>
                          <a:gd name="T37" fmla="*/ 1370 h 1370"/>
                          <a:gd name="T38" fmla="*/ 97 w 136"/>
                          <a:gd name="T39" fmla="*/ 1367 h 1370"/>
                          <a:gd name="T40" fmla="*/ 92 w 136"/>
                          <a:gd name="T41" fmla="*/ 1272 h 1370"/>
                          <a:gd name="T42" fmla="*/ 85 w 136"/>
                          <a:gd name="T43" fmla="*/ 1157 h 1370"/>
                          <a:gd name="T44" fmla="*/ 74 w 136"/>
                          <a:gd name="T45" fmla="*/ 1015 h 1370"/>
                          <a:gd name="T46" fmla="*/ 78 w 136"/>
                          <a:gd name="T47" fmla="*/ 972 h 1370"/>
                          <a:gd name="T48" fmla="*/ 90 w 136"/>
                          <a:gd name="T49" fmla="*/ 835 h 1370"/>
                          <a:gd name="T50" fmla="*/ 119 w 136"/>
                          <a:gd name="T51" fmla="*/ 688 h 1370"/>
                          <a:gd name="T52" fmla="*/ 136 w 136"/>
                          <a:gd name="T53" fmla="*/ 518 h 1370"/>
                          <a:gd name="T54" fmla="*/ 132 w 136"/>
                          <a:gd name="T55" fmla="*/ 382 h 1370"/>
                          <a:gd name="T56" fmla="*/ 127 w 136"/>
                          <a:gd name="T57" fmla="*/ 232 h 1370"/>
                          <a:gd name="T58" fmla="*/ 110 w 136"/>
                          <a:gd name="T59" fmla="*/ 145 h 1370"/>
                          <a:gd name="T60" fmla="*/ 104 w 136"/>
                          <a:gd name="T61" fmla="*/ 110 h 1370"/>
                          <a:gd name="T62" fmla="*/ 110 w 136"/>
                          <a:gd name="T63" fmla="*/ 0 h 1370"/>
                          <a:gd name="T64" fmla="*/ 5 w 136"/>
                          <a:gd name="T65" fmla="*/ 0 h 13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</a:cxnLst>
                        <a:rect l="0" t="0" r="r" b="b"/>
                        <a:pathLst>
                          <a:path w="136" h="1370">
                            <a:moveTo>
                              <a:pt x="5" y="0"/>
                            </a:moveTo>
                            <a:lnTo>
                              <a:pt x="20" y="34"/>
                            </a:lnTo>
                            <a:lnTo>
                              <a:pt x="37" y="63"/>
                            </a:lnTo>
                            <a:lnTo>
                              <a:pt x="33" y="116"/>
                            </a:lnTo>
                            <a:lnTo>
                              <a:pt x="52" y="211"/>
                            </a:lnTo>
                            <a:lnTo>
                              <a:pt x="67" y="255"/>
                            </a:lnTo>
                            <a:lnTo>
                              <a:pt x="63" y="291"/>
                            </a:lnTo>
                            <a:lnTo>
                              <a:pt x="73" y="316"/>
                            </a:lnTo>
                            <a:lnTo>
                              <a:pt x="74" y="400"/>
                            </a:lnTo>
                            <a:lnTo>
                              <a:pt x="60" y="465"/>
                            </a:lnTo>
                            <a:lnTo>
                              <a:pt x="51" y="528"/>
                            </a:lnTo>
                            <a:lnTo>
                              <a:pt x="51" y="600"/>
                            </a:lnTo>
                            <a:lnTo>
                              <a:pt x="56" y="629"/>
                            </a:lnTo>
                            <a:lnTo>
                              <a:pt x="62" y="703"/>
                            </a:lnTo>
                            <a:lnTo>
                              <a:pt x="29" y="900"/>
                            </a:lnTo>
                            <a:lnTo>
                              <a:pt x="23" y="1106"/>
                            </a:lnTo>
                            <a:lnTo>
                              <a:pt x="29" y="1249"/>
                            </a:lnTo>
                            <a:lnTo>
                              <a:pt x="0" y="1342"/>
                            </a:lnTo>
                            <a:lnTo>
                              <a:pt x="7" y="1370"/>
                            </a:lnTo>
                            <a:lnTo>
                              <a:pt x="97" y="1367"/>
                            </a:lnTo>
                            <a:lnTo>
                              <a:pt x="92" y="1272"/>
                            </a:lnTo>
                            <a:lnTo>
                              <a:pt x="85" y="1157"/>
                            </a:lnTo>
                            <a:lnTo>
                              <a:pt x="74" y="1015"/>
                            </a:lnTo>
                            <a:lnTo>
                              <a:pt x="78" y="972"/>
                            </a:lnTo>
                            <a:lnTo>
                              <a:pt x="90" y="835"/>
                            </a:lnTo>
                            <a:lnTo>
                              <a:pt x="119" y="688"/>
                            </a:lnTo>
                            <a:lnTo>
                              <a:pt x="136" y="518"/>
                            </a:lnTo>
                            <a:lnTo>
                              <a:pt x="132" y="382"/>
                            </a:lnTo>
                            <a:lnTo>
                              <a:pt x="127" y="232"/>
                            </a:lnTo>
                            <a:lnTo>
                              <a:pt x="110" y="145"/>
                            </a:lnTo>
                            <a:lnTo>
                              <a:pt x="104" y="110"/>
                            </a:lnTo>
                            <a:lnTo>
                              <a:pt x="110" y="0"/>
                            </a:lnTo>
                            <a:lnTo>
                              <a:pt x="5" y="0"/>
                            </a:lnTo>
                            <a:close/>
                          </a:path>
                        </a:pathLst>
                      </a:custGeom>
                      <a:solidFill>
                        <a:srgbClr val="FF3399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  <p:sp>
                    <p:nvSpPr>
                      <p:cNvPr id="77" name="Freeform 42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75" y="1951"/>
                        <a:ext cx="404" cy="716"/>
                      </a:xfrm>
                      <a:custGeom>
                        <a:avLst/>
                        <a:gdLst>
                          <a:gd name="T0" fmla="*/ 52 w 809"/>
                          <a:gd name="T1" fmla="*/ 0 h 1432"/>
                          <a:gd name="T2" fmla="*/ 70 w 809"/>
                          <a:gd name="T3" fmla="*/ 112 h 1432"/>
                          <a:gd name="T4" fmla="*/ 85 w 809"/>
                          <a:gd name="T5" fmla="*/ 158 h 1432"/>
                          <a:gd name="T6" fmla="*/ 87 w 809"/>
                          <a:gd name="T7" fmla="*/ 254 h 1432"/>
                          <a:gd name="T8" fmla="*/ 108 w 809"/>
                          <a:gd name="T9" fmla="*/ 458 h 1432"/>
                          <a:gd name="T10" fmla="*/ 101 w 809"/>
                          <a:gd name="T11" fmla="*/ 565 h 1432"/>
                          <a:gd name="T12" fmla="*/ 79 w 809"/>
                          <a:gd name="T13" fmla="*/ 682 h 1432"/>
                          <a:gd name="T14" fmla="*/ 100 w 809"/>
                          <a:gd name="T15" fmla="*/ 736 h 1432"/>
                          <a:gd name="T16" fmla="*/ 107 w 809"/>
                          <a:gd name="T17" fmla="*/ 798 h 1432"/>
                          <a:gd name="T18" fmla="*/ 110 w 809"/>
                          <a:gd name="T19" fmla="*/ 896 h 1432"/>
                          <a:gd name="T20" fmla="*/ 92 w 809"/>
                          <a:gd name="T21" fmla="*/ 961 h 1432"/>
                          <a:gd name="T22" fmla="*/ 61 w 809"/>
                          <a:gd name="T23" fmla="*/ 1034 h 1432"/>
                          <a:gd name="T24" fmla="*/ 63 w 809"/>
                          <a:gd name="T25" fmla="*/ 1238 h 1432"/>
                          <a:gd name="T26" fmla="*/ 0 w 809"/>
                          <a:gd name="T27" fmla="*/ 1354 h 1432"/>
                          <a:gd name="T28" fmla="*/ 1 w 809"/>
                          <a:gd name="T29" fmla="*/ 1385 h 1432"/>
                          <a:gd name="T30" fmla="*/ 96 w 809"/>
                          <a:gd name="T31" fmla="*/ 1397 h 1432"/>
                          <a:gd name="T32" fmla="*/ 184 w 809"/>
                          <a:gd name="T33" fmla="*/ 1420 h 1432"/>
                          <a:gd name="T34" fmla="*/ 408 w 809"/>
                          <a:gd name="T35" fmla="*/ 1426 h 1432"/>
                          <a:gd name="T36" fmla="*/ 627 w 809"/>
                          <a:gd name="T37" fmla="*/ 1427 h 1432"/>
                          <a:gd name="T38" fmla="*/ 801 w 809"/>
                          <a:gd name="T39" fmla="*/ 1432 h 1432"/>
                          <a:gd name="T40" fmla="*/ 799 w 809"/>
                          <a:gd name="T41" fmla="*/ 1283 h 1432"/>
                          <a:gd name="T42" fmla="*/ 809 w 809"/>
                          <a:gd name="T43" fmla="*/ 980 h 1432"/>
                          <a:gd name="T44" fmla="*/ 773 w 809"/>
                          <a:gd name="T45" fmla="*/ 900 h 1432"/>
                          <a:gd name="T46" fmla="*/ 726 w 809"/>
                          <a:gd name="T47" fmla="*/ 795 h 1432"/>
                          <a:gd name="T48" fmla="*/ 722 w 809"/>
                          <a:gd name="T49" fmla="*/ 742 h 1432"/>
                          <a:gd name="T50" fmla="*/ 728 w 809"/>
                          <a:gd name="T51" fmla="*/ 643 h 1432"/>
                          <a:gd name="T52" fmla="*/ 754 w 809"/>
                          <a:gd name="T53" fmla="*/ 450 h 1432"/>
                          <a:gd name="T54" fmla="*/ 737 w 809"/>
                          <a:gd name="T55" fmla="*/ 375 h 1432"/>
                          <a:gd name="T56" fmla="*/ 759 w 809"/>
                          <a:gd name="T57" fmla="*/ 265 h 1432"/>
                          <a:gd name="T58" fmla="*/ 788 w 809"/>
                          <a:gd name="T59" fmla="*/ 206 h 1432"/>
                          <a:gd name="T60" fmla="*/ 765 w 809"/>
                          <a:gd name="T61" fmla="*/ 0 h 1432"/>
                          <a:gd name="T62" fmla="*/ 52 w 809"/>
                          <a:gd name="T63" fmla="*/ 0 h 143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809" h="1432">
                            <a:moveTo>
                              <a:pt x="52" y="0"/>
                            </a:moveTo>
                            <a:lnTo>
                              <a:pt x="70" y="112"/>
                            </a:lnTo>
                            <a:lnTo>
                              <a:pt x="85" y="158"/>
                            </a:lnTo>
                            <a:lnTo>
                              <a:pt x="87" y="254"/>
                            </a:lnTo>
                            <a:lnTo>
                              <a:pt x="108" y="458"/>
                            </a:lnTo>
                            <a:lnTo>
                              <a:pt x="101" y="565"/>
                            </a:lnTo>
                            <a:lnTo>
                              <a:pt x="79" y="682"/>
                            </a:lnTo>
                            <a:lnTo>
                              <a:pt x="100" y="736"/>
                            </a:lnTo>
                            <a:lnTo>
                              <a:pt x="107" y="798"/>
                            </a:lnTo>
                            <a:lnTo>
                              <a:pt x="110" y="896"/>
                            </a:lnTo>
                            <a:lnTo>
                              <a:pt x="92" y="961"/>
                            </a:lnTo>
                            <a:lnTo>
                              <a:pt x="61" y="1034"/>
                            </a:lnTo>
                            <a:lnTo>
                              <a:pt x="63" y="1238"/>
                            </a:lnTo>
                            <a:lnTo>
                              <a:pt x="0" y="1354"/>
                            </a:lnTo>
                            <a:lnTo>
                              <a:pt x="1" y="1385"/>
                            </a:lnTo>
                            <a:lnTo>
                              <a:pt x="96" y="1397"/>
                            </a:lnTo>
                            <a:lnTo>
                              <a:pt x="184" y="1420"/>
                            </a:lnTo>
                            <a:lnTo>
                              <a:pt x="408" y="1426"/>
                            </a:lnTo>
                            <a:lnTo>
                              <a:pt x="627" y="1427"/>
                            </a:lnTo>
                            <a:lnTo>
                              <a:pt x="801" y="1432"/>
                            </a:lnTo>
                            <a:lnTo>
                              <a:pt x="799" y="1283"/>
                            </a:lnTo>
                            <a:lnTo>
                              <a:pt x="809" y="980"/>
                            </a:lnTo>
                            <a:lnTo>
                              <a:pt x="773" y="900"/>
                            </a:lnTo>
                            <a:lnTo>
                              <a:pt x="726" y="795"/>
                            </a:lnTo>
                            <a:lnTo>
                              <a:pt x="722" y="742"/>
                            </a:lnTo>
                            <a:lnTo>
                              <a:pt x="728" y="643"/>
                            </a:lnTo>
                            <a:lnTo>
                              <a:pt x="754" y="450"/>
                            </a:lnTo>
                            <a:lnTo>
                              <a:pt x="737" y="375"/>
                            </a:lnTo>
                            <a:lnTo>
                              <a:pt x="759" y="265"/>
                            </a:lnTo>
                            <a:lnTo>
                              <a:pt x="788" y="206"/>
                            </a:lnTo>
                            <a:lnTo>
                              <a:pt x="765" y="0"/>
                            </a:lnTo>
                            <a:lnTo>
                              <a:pt x="52" y="0"/>
                            </a:lnTo>
                            <a:close/>
                          </a:path>
                        </a:pathLst>
                      </a:custGeom>
                      <a:solidFill>
                        <a:srgbClr val="FF3399"/>
                      </a:solidFill>
                      <a:ln w="635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800"/>
                      </a:p>
                    </p:txBody>
                  </p:sp>
                </p:grpSp>
                <p:sp>
                  <p:nvSpPr>
                    <p:cNvPr id="74" name="Freeform 423"/>
                    <p:cNvSpPr>
                      <a:spLocks/>
                    </p:cNvSpPr>
                    <p:nvPr/>
                  </p:nvSpPr>
                  <p:spPr bwMode="auto">
                    <a:xfrm>
                      <a:off x="1539" y="1943"/>
                      <a:ext cx="690" cy="134"/>
                    </a:xfrm>
                    <a:custGeom>
                      <a:avLst/>
                      <a:gdLst>
                        <a:gd name="T0" fmla="*/ 0 w 1381"/>
                        <a:gd name="T1" fmla="*/ 6 h 266"/>
                        <a:gd name="T2" fmla="*/ 30 w 1381"/>
                        <a:gd name="T3" fmla="*/ 82 h 266"/>
                        <a:gd name="T4" fmla="*/ 52 w 1381"/>
                        <a:gd name="T5" fmla="*/ 99 h 266"/>
                        <a:gd name="T6" fmla="*/ 66 w 1381"/>
                        <a:gd name="T7" fmla="*/ 137 h 266"/>
                        <a:gd name="T8" fmla="*/ 76 w 1381"/>
                        <a:gd name="T9" fmla="*/ 162 h 266"/>
                        <a:gd name="T10" fmla="*/ 133 w 1381"/>
                        <a:gd name="T11" fmla="*/ 143 h 266"/>
                        <a:gd name="T12" fmla="*/ 174 w 1381"/>
                        <a:gd name="T13" fmla="*/ 113 h 266"/>
                        <a:gd name="T14" fmla="*/ 212 w 1381"/>
                        <a:gd name="T15" fmla="*/ 125 h 266"/>
                        <a:gd name="T16" fmla="*/ 234 w 1381"/>
                        <a:gd name="T17" fmla="*/ 248 h 266"/>
                        <a:gd name="T18" fmla="*/ 329 w 1381"/>
                        <a:gd name="T19" fmla="*/ 173 h 266"/>
                        <a:gd name="T20" fmla="*/ 415 w 1381"/>
                        <a:gd name="T21" fmla="*/ 123 h 266"/>
                        <a:gd name="T22" fmla="*/ 423 w 1381"/>
                        <a:gd name="T23" fmla="*/ 133 h 266"/>
                        <a:gd name="T24" fmla="*/ 467 w 1381"/>
                        <a:gd name="T25" fmla="*/ 137 h 266"/>
                        <a:gd name="T26" fmla="*/ 484 w 1381"/>
                        <a:gd name="T27" fmla="*/ 194 h 266"/>
                        <a:gd name="T28" fmla="*/ 522 w 1381"/>
                        <a:gd name="T29" fmla="*/ 184 h 266"/>
                        <a:gd name="T30" fmla="*/ 543 w 1381"/>
                        <a:gd name="T31" fmla="*/ 266 h 266"/>
                        <a:gd name="T32" fmla="*/ 604 w 1381"/>
                        <a:gd name="T33" fmla="*/ 216 h 266"/>
                        <a:gd name="T34" fmla="*/ 669 w 1381"/>
                        <a:gd name="T35" fmla="*/ 190 h 266"/>
                        <a:gd name="T36" fmla="*/ 711 w 1381"/>
                        <a:gd name="T37" fmla="*/ 128 h 266"/>
                        <a:gd name="T38" fmla="*/ 741 w 1381"/>
                        <a:gd name="T39" fmla="*/ 146 h 266"/>
                        <a:gd name="T40" fmla="*/ 768 w 1381"/>
                        <a:gd name="T41" fmla="*/ 218 h 266"/>
                        <a:gd name="T42" fmla="*/ 821 w 1381"/>
                        <a:gd name="T43" fmla="*/ 165 h 266"/>
                        <a:gd name="T44" fmla="*/ 859 w 1381"/>
                        <a:gd name="T45" fmla="*/ 193 h 266"/>
                        <a:gd name="T46" fmla="*/ 927 w 1381"/>
                        <a:gd name="T47" fmla="*/ 132 h 266"/>
                        <a:gd name="T48" fmla="*/ 944 w 1381"/>
                        <a:gd name="T49" fmla="*/ 146 h 266"/>
                        <a:gd name="T50" fmla="*/ 965 w 1381"/>
                        <a:gd name="T51" fmla="*/ 154 h 266"/>
                        <a:gd name="T52" fmla="*/ 987 w 1381"/>
                        <a:gd name="T53" fmla="*/ 246 h 266"/>
                        <a:gd name="T54" fmla="*/ 1021 w 1381"/>
                        <a:gd name="T55" fmla="*/ 194 h 266"/>
                        <a:gd name="T56" fmla="*/ 1071 w 1381"/>
                        <a:gd name="T57" fmla="*/ 143 h 266"/>
                        <a:gd name="T58" fmla="*/ 1095 w 1381"/>
                        <a:gd name="T59" fmla="*/ 167 h 266"/>
                        <a:gd name="T60" fmla="*/ 1145 w 1381"/>
                        <a:gd name="T61" fmla="*/ 122 h 266"/>
                        <a:gd name="T62" fmla="*/ 1183 w 1381"/>
                        <a:gd name="T63" fmla="*/ 132 h 266"/>
                        <a:gd name="T64" fmla="*/ 1199 w 1381"/>
                        <a:gd name="T65" fmla="*/ 151 h 266"/>
                        <a:gd name="T66" fmla="*/ 1208 w 1381"/>
                        <a:gd name="T67" fmla="*/ 190 h 266"/>
                        <a:gd name="T68" fmla="*/ 1222 w 1381"/>
                        <a:gd name="T69" fmla="*/ 145 h 266"/>
                        <a:gd name="T70" fmla="*/ 1227 w 1381"/>
                        <a:gd name="T71" fmla="*/ 130 h 266"/>
                        <a:gd name="T72" fmla="*/ 1279 w 1381"/>
                        <a:gd name="T73" fmla="*/ 114 h 266"/>
                        <a:gd name="T74" fmla="*/ 1357 w 1381"/>
                        <a:gd name="T75" fmla="*/ 106 h 266"/>
                        <a:gd name="T76" fmla="*/ 1381 w 1381"/>
                        <a:gd name="T77" fmla="*/ 0 h 266"/>
                        <a:gd name="T78" fmla="*/ 0 w 1381"/>
                        <a:gd name="T79" fmla="*/ 6 h 2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</a:cxnLst>
                      <a:rect l="0" t="0" r="r" b="b"/>
                      <a:pathLst>
                        <a:path w="1381" h="266">
                          <a:moveTo>
                            <a:pt x="0" y="6"/>
                          </a:moveTo>
                          <a:lnTo>
                            <a:pt x="30" y="82"/>
                          </a:lnTo>
                          <a:lnTo>
                            <a:pt x="52" y="99"/>
                          </a:lnTo>
                          <a:lnTo>
                            <a:pt x="66" y="137"/>
                          </a:lnTo>
                          <a:lnTo>
                            <a:pt x="76" y="162"/>
                          </a:lnTo>
                          <a:lnTo>
                            <a:pt x="133" y="143"/>
                          </a:lnTo>
                          <a:lnTo>
                            <a:pt x="174" y="113"/>
                          </a:lnTo>
                          <a:lnTo>
                            <a:pt x="212" y="125"/>
                          </a:lnTo>
                          <a:lnTo>
                            <a:pt x="234" y="248"/>
                          </a:lnTo>
                          <a:lnTo>
                            <a:pt x="329" y="173"/>
                          </a:lnTo>
                          <a:lnTo>
                            <a:pt x="415" y="123"/>
                          </a:lnTo>
                          <a:lnTo>
                            <a:pt x="423" y="133"/>
                          </a:lnTo>
                          <a:lnTo>
                            <a:pt x="467" y="137"/>
                          </a:lnTo>
                          <a:lnTo>
                            <a:pt x="484" y="194"/>
                          </a:lnTo>
                          <a:lnTo>
                            <a:pt x="522" y="184"/>
                          </a:lnTo>
                          <a:lnTo>
                            <a:pt x="543" y="266"/>
                          </a:lnTo>
                          <a:lnTo>
                            <a:pt x="604" y="216"/>
                          </a:lnTo>
                          <a:lnTo>
                            <a:pt x="669" y="190"/>
                          </a:lnTo>
                          <a:lnTo>
                            <a:pt x="711" y="128"/>
                          </a:lnTo>
                          <a:lnTo>
                            <a:pt x="741" y="146"/>
                          </a:lnTo>
                          <a:lnTo>
                            <a:pt x="768" y="218"/>
                          </a:lnTo>
                          <a:lnTo>
                            <a:pt x="821" y="165"/>
                          </a:lnTo>
                          <a:lnTo>
                            <a:pt x="859" y="193"/>
                          </a:lnTo>
                          <a:lnTo>
                            <a:pt x="927" y="132"/>
                          </a:lnTo>
                          <a:lnTo>
                            <a:pt x="944" y="146"/>
                          </a:lnTo>
                          <a:lnTo>
                            <a:pt x="965" y="154"/>
                          </a:lnTo>
                          <a:lnTo>
                            <a:pt x="987" y="246"/>
                          </a:lnTo>
                          <a:lnTo>
                            <a:pt x="1021" y="194"/>
                          </a:lnTo>
                          <a:lnTo>
                            <a:pt x="1071" y="143"/>
                          </a:lnTo>
                          <a:lnTo>
                            <a:pt x="1095" y="167"/>
                          </a:lnTo>
                          <a:lnTo>
                            <a:pt x="1145" y="122"/>
                          </a:lnTo>
                          <a:lnTo>
                            <a:pt x="1183" y="132"/>
                          </a:lnTo>
                          <a:lnTo>
                            <a:pt x="1199" y="151"/>
                          </a:lnTo>
                          <a:lnTo>
                            <a:pt x="1208" y="190"/>
                          </a:lnTo>
                          <a:lnTo>
                            <a:pt x="1222" y="145"/>
                          </a:lnTo>
                          <a:lnTo>
                            <a:pt x="1227" y="130"/>
                          </a:lnTo>
                          <a:lnTo>
                            <a:pt x="1279" y="114"/>
                          </a:lnTo>
                          <a:lnTo>
                            <a:pt x="1357" y="106"/>
                          </a:lnTo>
                          <a:lnTo>
                            <a:pt x="1381" y="0"/>
                          </a:lnTo>
                          <a:lnTo>
                            <a:pt x="0" y="6"/>
                          </a:lnTo>
                          <a:close/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  <p:grpSp>
                <p:nvGrpSpPr>
                  <p:cNvPr id="64" name="Group 424"/>
                  <p:cNvGrpSpPr>
                    <a:grpSpLocks/>
                  </p:cNvGrpSpPr>
                  <p:nvPr/>
                </p:nvGrpSpPr>
                <p:grpSpPr bwMode="auto">
                  <a:xfrm>
                    <a:off x="1588" y="1970"/>
                    <a:ext cx="636" cy="694"/>
                    <a:chOff x="1588" y="1970"/>
                    <a:chExt cx="636" cy="694"/>
                  </a:xfrm>
                </p:grpSpPr>
                <p:sp>
                  <p:nvSpPr>
                    <p:cNvPr id="65" name="Freeform 425"/>
                    <p:cNvSpPr>
                      <a:spLocks/>
                    </p:cNvSpPr>
                    <p:nvPr/>
                  </p:nvSpPr>
                  <p:spPr bwMode="auto">
                    <a:xfrm>
                      <a:off x="1588" y="1974"/>
                      <a:ext cx="5" cy="46"/>
                    </a:xfrm>
                    <a:custGeom>
                      <a:avLst/>
                      <a:gdLst>
                        <a:gd name="T0" fmla="*/ 6 w 11"/>
                        <a:gd name="T1" fmla="*/ 93 h 93"/>
                        <a:gd name="T2" fmla="*/ 0 w 11"/>
                        <a:gd name="T3" fmla="*/ 67 h 93"/>
                        <a:gd name="T4" fmla="*/ 11 w 11"/>
                        <a:gd name="T5" fmla="*/ 0 h 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1" h="93">
                          <a:moveTo>
                            <a:pt x="6" y="93"/>
                          </a:moveTo>
                          <a:lnTo>
                            <a:pt x="0" y="67"/>
                          </a:lnTo>
                          <a:lnTo>
                            <a:pt x="11" y="0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66" name="Freeform 426"/>
                    <p:cNvSpPr>
                      <a:spLocks/>
                    </p:cNvSpPr>
                    <p:nvPr/>
                  </p:nvSpPr>
                  <p:spPr bwMode="auto">
                    <a:xfrm>
                      <a:off x="1627" y="1970"/>
                      <a:ext cx="57" cy="664"/>
                    </a:xfrm>
                    <a:custGeom>
                      <a:avLst/>
                      <a:gdLst>
                        <a:gd name="T0" fmla="*/ 98 w 112"/>
                        <a:gd name="T1" fmla="*/ 0 h 1328"/>
                        <a:gd name="T2" fmla="*/ 109 w 112"/>
                        <a:gd name="T3" fmla="*/ 153 h 1328"/>
                        <a:gd name="T4" fmla="*/ 112 w 112"/>
                        <a:gd name="T5" fmla="*/ 396 h 1328"/>
                        <a:gd name="T6" fmla="*/ 105 w 112"/>
                        <a:gd name="T7" fmla="*/ 487 h 1328"/>
                        <a:gd name="T8" fmla="*/ 65 w 112"/>
                        <a:gd name="T9" fmla="*/ 589 h 1328"/>
                        <a:gd name="T10" fmla="*/ 69 w 112"/>
                        <a:gd name="T11" fmla="*/ 662 h 1328"/>
                        <a:gd name="T12" fmla="*/ 87 w 112"/>
                        <a:gd name="T13" fmla="*/ 840 h 1328"/>
                        <a:gd name="T14" fmla="*/ 36 w 112"/>
                        <a:gd name="T15" fmla="*/ 1040 h 1328"/>
                        <a:gd name="T16" fmla="*/ 29 w 112"/>
                        <a:gd name="T17" fmla="*/ 1171 h 1328"/>
                        <a:gd name="T18" fmla="*/ 0 w 112"/>
                        <a:gd name="T19" fmla="*/ 1328 h 13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12" h="1328">
                          <a:moveTo>
                            <a:pt x="98" y="0"/>
                          </a:moveTo>
                          <a:lnTo>
                            <a:pt x="109" y="153"/>
                          </a:lnTo>
                          <a:lnTo>
                            <a:pt x="112" y="396"/>
                          </a:lnTo>
                          <a:lnTo>
                            <a:pt x="105" y="487"/>
                          </a:lnTo>
                          <a:lnTo>
                            <a:pt x="65" y="589"/>
                          </a:lnTo>
                          <a:lnTo>
                            <a:pt x="69" y="662"/>
                          </a:lnTo>
                          <a:lnTo>
                            <a:pt x="87" y="840"/>
                          </a:lnTo>
                          <a:lnTo>
                            <a:pt x="36" y="1040"/>
                          </a:lnTo>
                          <a:lnTo>
                            <a:pt x="29" y="1171"/>
                          </a:lnTo>
                          <a:lnTo>
                            <a:pt x="0" y="1328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67" name="Freeform 427"/>
                    <p:cNvSpPr>
                      <a:spLocks/>
                    </p:cNvSpPr>
                    <p:nvPr/>
                  </p:nvSpPr>
                  <p:spPr bwMode="auto">
                    <a:xfrm>
                      <a:off x="1793" y="1970"/>
                      <a:ext cx="34" cy="690"/>
                    </a:xfrm>
                    <a:custGeom>
                      <a:avLst/>
                      <a:gdLst>
                        <a:gd name="T0" fmla="*/ 55 w 70"/>
                        <a:gd name="T1" fmla="*/ 0 h 1379"/>
                        <a:gd name="T2" fmla="*/ 44 w 70"/>
                        <a:gd name="T3" fmla="*/ 131 h 1379"/>
                        <a:gd name="T4" fmla="*/ 0 w 70"/>
                        <a:gd name="T5" fmla="*/ 451 h 1379"/>
                        <a:gd name="T6" fmla="*/ 44 w 70"/>
                        <a:gd name="T7" fmla="*/ 713 h 1379"/>
                        <a:gd name="T8" fmla="*/ 30 w 70"/>
                        <a:gd name="T9" fmla="*/ 836 h 1379"/>
                        <a:gd name="T10" fmla="*/ 19 w 70"/>
                        <a:gd name="T11" fmla="*/ 938 h 1379"/>
                        <a:gd name="T12" fmla="*/ 70 w 70"/>
                        <a:gd name="T13" fmla="*/ 1109 h 1379"/>
                        <a:gd name="T14" fmla="*/ 26 w 70"/>
                        <a:gd name="T15" fmla="*/ 1379 h 13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70" h="1379">
                          <a:moveTo>
                            <a:pt x="55" y="0"/>
                          </a:moveTo>
                          <a:lnTo>
                            <a:pt x="44" y="131"/>
                          </a:lnTo>
                          <a:lnTo>
                            <a:pt x="0" y="451"/>
                          </a:lnTo>
                          <a:lnTo>
                            <a:pt x="44" y="713"/>
                          </a:lnTo>
                          <a:lnTo>
                            <a:pt x="30" y="836"/>
                          </a:lnTo>
                          <a:lnTo>
                            <a:pt x="19" y="938"/>
                          </a:lnTo>
                          <a:lnTo>
                            <a:pt x="70" y="1109"/>
                          </a:lnTo>
                          <a:lnTo>
                            <a:pt x="26" y="1379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68" name="Freeform 428"/>
                    <p:cNvSpPr>
                      <a:spLocks/>
                    </p:cNvSpPr>
                    <p:nvPr/>
                  </p:nvSpPr>
                  <p:spPr bwMode="auto">
                    <a:xfrm>
                      <a:off x="1898" y="2130"/>
                      <a:ext cx="71" cy="534"/>
                    </a:xfrm>
                    <a:custGeom>
                      <a:avLst/>
                      <a:gdLst>
                        <a:gd name="T0" fmla="*/ 33 w 142"/>
                        <a:gd name="T1" fmla="*/ 0 h 1069"/>
                        <a:gd name="T2" fmla="*/ 0 w 142"/>
                        <a:gd name="T3" fmla="*/ 211 h 1069"/>
                        <a:gd name="T4" fmla="*/ 11 w 142"/>
                        <a:gd name="T5" fmla="*/ 393 h 1069"/>
                        <a:gd name="T6" fmla="*/ 95 w 142"/>
                        <a:gd name="T7" fmla="*/ 665 h 1069"/>
                        <a:gd name="T8" fmla="*/ 87 w 142"/>
                        <a:gd name="T9" fmla="*/ 782 h 1069"/>
                        <a:gd name="T10" fmla="*/ 127 w 142"/>
                        <a:gd name="T11" fmla="*/ 854 h 1069"/>
                        <a:gd name="T12" fmla="*/ 142 w 142"/>
                        <a:gd name="T13" fmla="*/ 1069 h 10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42" h="1069">
                          <a:moveTo>
                            <a:pt x="33" y="0"/>
                          </a:moveTo>
                          <a:lnTo>
                            <a:pt x="0" y="211"/>
                          </a:lnTo>
                          <a:lnTo>
                            <a:pt x="11" y="393"/>
                          </a:lnTo>
                          <a:lnTo>
                            <a:pt x="95" y="665"/>
                          </a:lnTo>
                          <a:lnTo>
                            <a:pt x="87" y="782"/>
                          </a:lnTo>
                          <a:lnTo>
                            <a:pt x="127" y="854"/>
                          </a:lnTo>
                          <a:lnTo>
                            <a:pt x="142" y="1069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69" name="Freeform 429"/>
                    <p:cNvSpPr>
                      <a:spLocks/>
                    </p:cNvSpPr>
                    <p:nvPr/>
                  </p:nvSpPr>
                  <p:spPr bwMode="auto">
                    <a:xfrm>
                      <a:off x="2094" y="1977"/>
                      <a:ext cx="55" cy="681"/>
                    </a:xfrm>
                    <a:custGeom>
                      <a:avLst/>
                      <a:gdLst>
                        <a:gd name="T0" fmla="*/ 40 w 109"/>
                        <a:gd name="T1" fmla="*/ 0 h 1361"/>
                        <a:gd name="T2" fmla="*/ 83 w 109"/>
                        <a:gd name="T3" fmla="*/ 211 h 1361"/>
                        <a:gd name="T4" fmla="*/ 18 w 109"/>
                        <a:gd name="T5" fmla="*/ 389 h 1361"/>
                        <a:gd name="T6" fmla="*/ 0 w 109"/>
                        <a:gd name="T7" fmla="*/ 530 h 1361"/>
                        <a:gd name="T8" fmla="*/ 22 w 109"/>
                        <a:gd name="T9" fmla="*/ 661 h 1361"/>
                        <a:gd name="T10" fmla="*/ 76 w 109"/>
                        <a:gd name="T11" fmla="*/ 796 h 1361"/>
                        <a:gd name="T12" fmla="*/ 109 w 109"/>
                        <a:gd name="T13" fmla="*/ 865 h 1361"/>
                        <a:gd name="T14" fmla="*/ 80 w 109"/>
                        <a:gd name="T15" fmla="*/ 1090 h 1361"/>
                        <a:gd name="T16" fmla="*/ 105 w 109"/>
                        <a:gd name="T17" fmla="*/ 1145 h 1361"/>
                        <a:gd name="T18" fmla="*/ 85 w 109"/>
                        <a:gd name="T19" fmla="*/ 1361 h 13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09" h="1361">
                          <a:moveTo>
                            <a:pt x="40" y="0"/>
                          </a:moveTo>
                          <a:lnTo>
                            <a:pt x="83" y="211"/>
                          </a:lnTo>
                          <a:lnTo>
                            <a:pt x="18" y="389"/>
                          </a:lnTo>
                          <a:lnTo>
                            <a:pt x="0" y="530"/>
                          </a:lnTo>
                          <a:lnTo>
                            <a:pt x="22" y="661"/>
                          </a:lnTo>
                          <a:lnTo>
                            <a:pt x="76" y="796"/>
                          </a:lnTo>
                          <a:lnTo>
                            <a:pt x="109" y="865"/>
                          </a:lnTo>
                          <a:lnTo>
                            <a:pt x="80" y="1090"/>
                          </a:lnTo>
                          <a:lnTo>
                            <a:pt x="105" y="1145"/>
                          </a:lnTo>
                          <a:lnTo>
                            <a:pt x="85" y="1361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70" name="Freeform 430"/>
                    <p:cNvSpPr>
                      <a:spLocks/>
                    </p:cNvSpPr>
                    <p:nvPr/>
                  </p:nvSpPr>
                  <p:spPr bwMode="auto">
                    <a:xfrm>
                      <a:off x="2173" y="1974"/>
                      <a:ext cx="45" cy="441"/>
                    </a:xfrm>
                    <a:custGeom>
                      <a:avLst/>
                      <a:gdLst>
                        <a:gd name="T0" fmla="*/ 4 w 91"/>
                        <a:gd name="T1" fmla="*/ 0 h 884"/>
                        <a:gd name="T2" fmla="*/ 0 w 91"/>
                        <a:gd name="T3" fmla="*/ 204 h 884"/>
                        <a:gd name="T4" fmla="*/ 40 w 91"/>
                        <a:gd name="T5" fmla="*/ 309 h 884"/>
                        <a:gd name="T6" fmla="*/ 7 w 91"/>
                        <a:gd name="T7" fmla="*/ 495 h 884"/>
                        <a:gd name="T8" fmla="*/ 29 w 91"/>
                        <a:gd name="T9" fmla="*/ 604 h 884"/>
                        <a:gd name="T10" fmla="*/ 91 w 91"/>
                        <a:gd name="T11" fmla="*/ 884 h 8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91" h="884">
                          <a:moveTo>
                            <a:pt x="4" y="0"/>
                          </a:moveTo>
                          <a:lnTo>
                            <a:pt x="0" y="204"/>
                          </a:lnTo>
                          <a:lnTo>
                            <a:pt x="40" y="309"/>
                          </a:lnTo>
                          <a:lnTo>
                            <a:pt x="7" y="495"/>
                          </a:lnTo>
                          <a:lnTo>
                            <a:pt x="29" y="604"/>
                          </a:lnTo>
                          <a:lnTo>
                            <a:pt x="91" y="884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71" name="Freeform 431"/>
                    <p:cNvSpPr>
                      <a:spLocks/>
                    </p:cNvSpPr>
                    <p:nvPr/>
                  </p:nvSpPr>
                  <p:spPr bwMode="auto">
                    <a:xfrm>
                      <a:off x="1644" y="2368"/>
                      <a:ext cx="65" cy="271"/>
                    </a:xfrm>
                    <a:custGeom>
                      <a:avLst/>
                      <a:gdLst>
                        <a:gd name="T0" fmla="*/ 131 w 131"/>
                        <a:gd name="T1" fmla="*/ 0 h 543"/>
                        <a:gd name="T2" fmla="*/ 73 w 131"/>
                        <a:gd name="T3" fmla="*/ 142 h 543"/>
                        <a:gd name="T4" fmla="*/ 91 w 131"/>
                        <a:gd name="T5" fmla="*/ 204 h 543"/>
                        <a:gd name="T6" fmla="*/ 77 w 131"/>
                        <a:gd name="T7" fmla="*/ 360 h 543"/>
                        <a:gd name="T8" fmla="*/ 0 w 131"/>
                        <a:gd name="T9" fmla="*/ 543 h 54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31" h="543">
                          <a:moveTo>
                            <a:pt x="131" y="0"/>
                          </a:moveTo>
                          <a:lnTo>
                            <a:pt x="73" y="142"/>
                          </a:lnTo>
                          <a:lnTo>
                            <a:pt x="91" y="204"/>
                          </a:lnTo>
                          <a:lnTo>
                            <a:pt x="77" y="360"/>
                          </a:lnTo>
                          <a:lnTo>
                            <a:pt x="0" y="543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  <p:sp>
                  <p:nvSpPr>
                    <p:cNvPr id="72" name="Freeform 432"/>
                    <p:cNvSpPr>
                      <a:spLocks/>
                    </p:cNvSpPr>
                    <p:nvPr/>
                  </p:nvSpPr>
                  <p:spPr bwMode="auto">
                    <a:xfrm>
                      <a:off x="2169" y="2375"/>
                      <a:ext cx="55" cy="266"/>
                    </a:xfrm>
                    <a:custGeom>
                      <a:avLst/>
                      <a:gdLst>
                        <a:gd name="T0" fmla="*/ 0 w 110"/>
                        <a:gd name="T1" fmla="*/ 0 h 532"/>
                        <a:gd name="T2" fmla="*/ 32 w 110"/>
                        <a:gd name="T3" fmla="*/ 185 h 532"/>
                        <a:gd name="T4" fmla="*/ 14 w 110"/>
                        <a:gd name="T5" fmla="*/ 305 h 532"/>
                        <a:gd name="T6" fmla="*/ 94 w 110"/>
                        <a:gd name="T7" fmla="*/ 423 h 532"/>
                        <a:gd name="T8" fmla="*/ 110 w 110"/>
                        <a:gd name="T9" fmla="*/ 532 h 5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0" h="532">
                          <a:moveTo>
                            <a:pt x="0" y="0"/>
                          </a:moveTo>
                          <a:lnTo>
                            <a:pt x="32" y="185"/>
                          </a:lnTo>
                          <a:lnTo>
                            <a:pt x="14" y="305"/>
                          </a:lnTo>
                          <a:lnTo>
                            <a:pt x="94" y="423"/>
                          </a:lnTo>
                          <a:lnTo>
                            <a:pt x="110" y="532"/>
                          </a:lnTo>
                        </a:path>
                      </a:pathLst>
                    </a:custGeom>
                    <a:solidFill>
                      <a:srgbClr val="FF3399"/>
                    </a:solidFill>
                    <a:ln w="635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800"/>
                    </a:p>
                  </p:txBody>
                </p:sp>
              </p:grpSp>
            </p:grpSp>
            <p:sp>
              <p:nvSpPr>
                <p:cNvPr id="62" name="Freeform 433"/>
                <p:cNvSpPr>
                  <a:spLocks/>
                </p:cNvSpPr>
                <p:nvPr/>
              </p:nvSpPr>
              <p:spPr bwMode="auto">
                <a:xfrm>
                  <a:off x="1490" y="1892"/>
                  <a:ext cx="781" cy="117"/>
                </a:xfrm>
                <a:custGeom>
                  <a:avLst/>
                  <a:gdLst>
                    <a:gd name="T0" fmla="*/ 0 w 1561"/>
                    <a:gd name="T1" fmla="*/ 223 h 234"/>
                    <a:gd name="T2" fmla="*/ 93 w 1561"/>
                    <a:gd name="T3" fmla="*/ 88 h 234"/>
                    <a:gd name="T4" fmla="*/ 134 w 1561"/>
                    <a:gd name="T5" fmla="*/ 65 h 234"/>
                    <a:gd name="T6" fmla="*/ 188 w 1561"/>
                    <a:gd name="T7" fmla="*/ 56 h 234"/>
                    <a:gd name="T8" fmla="*/ 315 w 1561"/>
                    <a:gd name="T9" fmla="*/ 48 h 234"/>
                    <a:gd name="T10" fmla="*/ 352 w 1561"/>
                    <a:gd name="T11" fmla="*/ 47 h 234"/>
                    <a:gd name="T12" fmla="*/ 446 w 1561"/>
                    <a:gd name="T13" fmla="*/ 29 h 234"/>
                    <a:gd name="T14" fmla="*/ 509 w 1561"/>
                    <a:gd name="T15" fmla="*/ 18 h 234"/>
                    <a:gd name="T16" fmla="*/ 559 w 1561"/>
                    <a:gd name="T17" fmla="*/ 25 h 234"/>
                    <a:gd name="T18" fmla="*/ 631 w 1561"/>
                    <a:gd name="T19" fmla="*/ 45 h 234"/>
                    <a:gd name="T20" fmla="*/ 694 w 1561"/>
                    <a:gd name="T21" fmla="*/ 40 h 234"/>
                    <a:gd name="T22" fmla="*/ 776 w 1561"/>
                    <a:gd name="T23" fmla="*/ 27 h 234"/>
                    <a:gd name="T24" fmla="*/ 853 w 1561"/>
                    <a:gd name="T25" fmla="*/ 14 h 234"/>
                    <a:gd name="T26" fmla="*/ 930 w 1561"/>
                    <a:gd name="T27" fmla="*/ 8 h 234"/>
                    <a:gd name="T28" fmla="*/ 1042 w 1561"/>
                    <a:gd name="T29" fmla="*/ 1 h 234"/>
                    <a:gd name="T30" fmla="*/ 1101 w 1561"/>
                    <a:gd name="T31" fmla="*/ 8 h 234"/>
                    <a:gd name="T32" fmla="*/ 1180 w 1561"/>
                    <a:gd name="T33" fmla="*/ 0 h 234"/>
                    <a:gd name="T34" fmla="*/ 1319 w 1561"/>
                    <a:gd name="T35" fmla="*/ 25 h 234"/>
                    <a:gd name="T36" fmla="*/ 1369 w 1561"/>
                    <a:gd name="T37" fmla="*/ 18 h 234"/>
                    <a:gd name="T38" fmla="*/ 1413 w 1561"/>
                    <a:gd name="T39" fmla="*/ 22 h 234"/>
                    <a:gd name="T40" fmla="*/ 1457 w 1561"/>
                    <a:gd name="T41" fmla="*/ 36 h 234"/>
                    <a:gd name="T42" fmla="*/ 1496 w 1561"/>
                    <a:gd name="T43" fmla="*/ 65 h 234"/>
                    <a:gd name="T44" fmla="*/ 1561 w 1561"/>
                    <a:gd name="T45" fmla="*/ 139 h 234"/>
                    <a:gd name="T46" fmla="*/ 1523 w 1561"/>
                    <a:gd name="T47" fmla="*/ 130 h 234"/>
                    <a:gd name="T48" fmla="*/ 1486 w 1561"/>
                    <a:gd name="T49" fmla="*/ 128 h 234"/>
                    <a:gd name="T50" fmla="*/ 1519 w 1561"/>
                    <a:gd name="T51" fmla="*/ 184 h 234"/>
                    <a:gd name="T52" fmla="*/ 1401 w 1561"/>
                    <a:gd name="T53" fmla="*/ 159 h 234"/>
                    <a:gd name="T54" fmla="*/ 1341 w 1561"/>
                    <a:gd name="T55" fmla="*/ 208 h 234"/>
                    <a:gd name="T56" fmla="*/ 1326 w 1561"/>
                    <a:gd name="T57" fmla="*/ 180 h 234"/>
                    <a:gd name="T58" fmla="*/ 1272 w 1561"/>
                    <a:gd name="T59" fmla="*/ 197 h 234"/>
                    <a:gd name="T60" fmla="*/ 1221 w 1561"/>
                    <a:gd name="T61" fmla="*/ 188 h 234"/>
                    <a:gd name="T62" fmla="*/ 1195 w 1561"/>
                    <a:gd name="T63" fmla="*/ 180 h 234"/>
                    <a:gd name="T64" fmla="*/ 1163 w 1561"/>
                    <a:gd name="T65" fmla="*/ 183 h 234"/>
                    <a:gd name="T66" fmla="*/ 1112 w 1561"/>
                    <a:gd name="T67" fmla="*/ 202 h 234"/>
                    <a:gd name="T68" fmla="*/ 1056 w 1561"/>
                    <a:gd name="T69" fmla="*/ 230 h 234"/>
                    <a:gd name="T70" fmla="*/ 907 w 1561"/>
                    <a:gd name="T71" fmla="*/ 205 h 234"/>
                    <a:gd name="T72" fmla="*/ 853 w 1561"/>
                    <a:gd name="T73" fmla="*/ 226 h 234"/>
                    <a:gd name="T74" fmla="*/ 707 w 1561"/>
                    <a:gd name="T75" fmla="*/ 188 h 234"/>
                    <a:gd name="T76" fmla="*/ 603 w 1561"/>
                    <a:gd name="T77" fmla="*/ 184 h 234"/>
                    <a:gd name="T78" fmla="*/ 515 w 1561"/>
                    <a:gd name="T79" fmla="*/ 234 h 234"/>
                    <a:gd name="T80" fmla="*/ 489 w 1561"/>
                    <a:gd name="T81" fmla="*/ 208 h 234"/>
                    <a:gd name="T82" fmla="*/ 378 w 1561"/>
                    <a:gd name="T83" fmla="*/ 166 h 234"/>
                    <a:gd name="T84" fmla="*/ 312 w 1561"/>
                    <a:gd name="T85" fmla="*/ 228 h 234"/>
                    <a:gd name="T86" fmla="*/ 264 w 1561"/>
                    <a:gd name="T87" fmla="*/ 212 h 234"/>
                    <a:gd name="T88" fmla="*/ 249 w 1561"/>
                    <a:gd name="T89" fmla="*/ 212 h 234"/>
                    <a:gd name="T90" fmla="*/ 202 w 1561"/>
                    <a:gd name="T91" fmla="*/ 186 h 234"/>
                    <a:gd name="T92" fmla="*/ 192 w 1561"/>
                    <a:gd name="T93" fmla="*/ 168 h 234"/>
                    <a:gd name="T94" fmla="*/ 155 w 1561"/>
                    <a:gd name="T95" fmla="*/ 177 h 234"/>
                    <a:gd name="T96" fmla="*/ 155 w 1561"/>
                    <a:gd name="T97" fmla="*/ 157 h 234"/>
                    <a:gd name="T98" fmla="*/ 72 w 1561"/>
                    <a:gd name="T99" fmla="*/ 162 h 234"/>
                    <a:gd name="T100" fmla="*/ 0 w 1561"/>
                    <a:gd name="T101" fmla="*/ 223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561" h="234">
                      <a:moveTo>
                        <a:pt x="0" y="223"/>
                      </a:moveTo>
                      <a:lnTo>
                        <a:pt x="93" y="88"/>
                      </a:lnTo>
                      <a:lnTo>
                        <a:pt x="134" y="65"/>
                      </a:lnTo>
                      <a:lnTo>
                        <a:pt x="188" y="56"/>
                      </a:lnTo>
                      <a:lnTo>
                        <a:pt x="315" y="48"/>
                      </a:lnTo>
                      <a:lnTo>
                        <a:pt x="352" y="47"/>
                      </a:lnTo>
                      <a:lnTo>
                        <a:pt x="446" y="29"/>
                      </a:lnTo>
                      <a:lnTo>
                        <a:pt x="509" y="18"/>
                      </a:lnTo>
                      <a:lnTo>
                        <a:pt x="559" y="25"/>
                      </a:lnTo>
                      <a:lnTo>
                        <a:pt x="631" y="45"/>
                      </a:lnTo>
                      <a:lnTo>
                        <a:pt x="694" y="40"/>
                      </a:lnTo>
                      <a:lnTo>
                        <a:pt x="776" y="27"/>
                      </a:lnTo>
                      <a:lnTo>
                        <a:pt x="853" y="14"/>
                      </a:lnTo>
                      <a:lnTo>
                        <a:pt x="930" y="8"/>
                      </a:lnTo>
                      <a:lnTo>
                        <a:pt x="1042" y="1"/>
                      </a:lnTo>
                      <a:lnTo>
                        <a:pt x="1101" y="8"/>
                      </a:lnTo>
                      <a:lnTo>
                        <a:pt x="1180" y="0"/>
                      </a:lnTo>
                      <a:lnTo>
                        <a:pt x="1319" y="25"/>
                      </a:lnTo>
                      <a:lnTo>
                        <a:pt x="1369" y="18"/>
                      </a:lnTo>
                      <a:lnTo>
                        <a:pt x="1413" y="22"/>
                      </a:lnTo>
                      <a:lnTo>
                        <a:pt x="1457" y="36"/>
                      </a:lnTo>
                      <a:lnTo>
                        <a:pt x="1496" y="65"/>
                      </a:lnTo>
                      <a:lnTo>
                        <a:pt x="1561" y="139"/>
                      </a:lnTo>
                      <a:lnTo>
                        <a:pt x="1523" y="130"/>
                      </a:lnTo>
                      <a:lnTo>
                        <a:pt x="1486" y="128"/>
                      </a:lnTo>
                      <a:lnTo>
                        <a:pt x="1519" y="184"/>
                      </a:lnTo>
                      <a:lnTo>
                        <a:pt x="1401" y="159"/>
                      </a:lnTo>
                      <a:lnTo>
                        <a:pt x="1341" y="208"/>
                      </a:lnTo>
                      <a:lnTo>
                        <a:pt x="1326" y="180"/>
                      </a:lnTo>
                      <a:lnTo>
                        <a:pt x="1272" y="197"/>
                      </a:lnTo>
                      <a:lnTo>
                        <a:pt x="1221" y="188"/>
                      </a:lnTo>
                      <a:lnTo>
                        <a:pt x="1195" y="180"/>
                      </a:lnTo>
                      <a:lnTo>
                        <a:pt x="1163" y="183"/>
                      </a:lnTo>
                      <a:lnTo>
                        <a:pt x="1112" y="202"/>
                      </a:lnTo>
                      <a:lnTo>
                        <a:pt x="1056" y="230"/>
                      </a:lnTo>
                      <a:lnTo>
                        <a:pt x="907" y="205"/>
                      </a:lnTo>
                      <a:lnTo>
                        <a:pt x="853" y="226"/>
                      </a:lnTo>
                      <a:lnTo>
                        <a:pt x="707" y="188"/>
                      </a:lnTo>
                      <a:lnTo>
                        <a:pt x="603" y="184"/>
                      </a:lnTo>
                      <a:lnTo>
                        <a:pt x="515" y="234"/>
                      </a:lnTo>
                      <a:lnTo>
                        <a:pt x="489" y="208"/>
                      </a:lnTo>
                      <a:lnTo>
                        <a:pt x="378" y="166"/>
                      </a:lnTo>
                      <a:lnTo>
                        <a:pt x="312" y="228"/>
                      </a:lnTo>
                      <a:lnTo>
                        <a:pt x="264" y="212"/>
                      </a:lnTo>
                      <a:lnTo>
                        <a:pt x="249" y="212"/>
                      </a:lnTo>
                      <a:lnTo>
                        <a:pt x="202" y="186"/>
                      </a:lnTo>
                      <a:lnTo>
                        <a:pt x="192" y="168"/>
                      </a:lnTo>
                      <a:lnTo>
                        <a:pt x="155" y="177"/>
                      </a:lnTo>
                      <a:lnTo>
                        <a:pt x="155" y="157"/>
                      </a:lnTo>
                      <a:lnTo>
                        <a:pt x="72" y="162"/>
                      </a:lnTo>
                      <a:lnTo>
                        <a:pt x="0" y="223"/>
                      </a:lnTo>
                      <a:close/>
                    </a:path>
                  </a:pathLst>
                </a:custGeom>
                <a:solidFill>
                  <a:srgbClr val="FF3399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4" name="Group 434"/>
              <p:cNvGrpSpPr>
                <a:grpSpLocks/>
              </p:cNvGrpSpPr>
              <p:nvPr/>
            </p:nvGrpSpPr>
            <p:grpSpPr bwMode="auto">
              <a:xfrm>
                <a:off x="1581" y="2610"/>
                <a:ext cx="216" cy="88"/>
                <a:chOff x="1581" y="2610"/>
                <a:chExt cx="216" cy="88"/>
              </a:xfrm>
            </p:grpSpPr>
            <p:grpSp>
              <p:nvGrpSpPr>
                <p:cNvPr id="55" name="Group 435"/>
                <p:cNvGrpSpPr>
                  <a:grpSpLocks/>
                </p:cNvGrpSpPr>
                <p:nvPr/>
              </p:nvGrpSpPr>
              <p:grpSpPr bwMode="auto">
                <a:xfrm>
                  <a:off x="1663" y="2610"/>
                  <a:ext cx="134" cy="88"/>
                  <a:chOff x="1663" y="2610"/>
                  <a:chExt cx="134" cy="88"/>
                </a:xfrm>
              </p:grpSpPr>
              <p:sp>
                <p:nvSpPr>
                  <p:cNvPr id="59" name="Freeform 436"/>
                  <p:cNvSpPr>
                    <a:spLocks/>
                  </p:cNvSpPr>
                  <p:nvPr/>
                </p:nvSpPr>
                <p:spPr bwMode="auto">
                  <a:xfrm>
                    <a:off x="1712" y="2610"/>
                    <a:ext cx="85" cy="84"/>
                  </a:xfrm>
                  <a:custGeom>
                    <a:avLst/>
                    <a:gdLst>
                      <a:gd name="T0" fmla="*/ 11 w 170"/>
                      <a:gd name="T1" fmla="*/ 0 h 168"/>
                      <a:gd name="T2" fmla="*/ 69 w 170"/>
                      <a:gd name="T3" fmla="*/ 7 h 168"/>
                      <a:gd name="T4" fmla="*/ 113 w 170"/>
                      <a:gd name="T5" fmla="*/ 43 h 168"/>
                      <a:gd name="T6" fmla="*/ 115 w 170"/>
                      <a:gd name="T7" fmla="*/ 37 h 168"/>
                      <a:gd name="T8" fmla="*/ 166 w 170"/>
                      <a:gd name="T9" fmla="*/ 89 h 168"/>
                      <a:gd name="T10" fmla="*/ 170 w 170"/>
                      <a:gd name="T11" fmla="*/ 142 h 168"/>
                      <a:gd name="T12" fmla="*/ 140 w 170"/>
                      <a:gd name="T13" fmla="*/ 168 h 168"/>
                      <a:gd name="T14" fmla="*/ 28 w 170"/>
                      <a:gd name="T15" fmla="*/ 86 h 168"/>
                      <a:gd name="T16" fmla="*/ 0 w 170"/>
                      <a:gd name="T17" fmla="*/ 31 h 168"/>
                      <a:gd name="T18" fmla="*/ 11 w 170"/>
                      <a:gd name="T19" fmla="*/ 0 h 1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0" h="168">
                        <a:moveTo>
                          <a:pt x="11" y="0"/>
                        </a:moveTo>
                        <a:lnTo>
                          <a:pt x="69" y="7"/>
                        </a:lnTo>
                        <a:lnTo>
                          <a:pt x="113" y="43"/>
                        </a:lnTo>
                        <a:lnTo>
                          <a:pt x="115" y="37"/>
                        </a:lnTo>
                        <a:lnTo>
                          <a:pt x="166" y="89"/>
                        </a:lnTo>
                        <a:lnTo>
                          <a:pt x="170" y="142"/>
                        </a:lnTo>
                        <a:lnTo>
                          <a:pt x="140" y="168"/>
                        </a:lnTo>
                        <a:lnTo>
                          <a:pt x="28" y="86"/>
                        </a:lnTo>
                        <a:lnTo>
                          <a:pt x="0" y="31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3399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60" name="Freeform 437"/>
                  <p:cNvSpPr>
                    <a:spLocks/>
                  </p:cNvSpPr>
                  <p:nvPr/>
                </p:nvSpPr>
                <p:spPr bwMode="auto">
                  <a:xfrm>
                    <a:off x="1663" y="2610"/>
                    <a:ext cx="117" cy="88"/>
                  </a:xfrm>
                  <a:custGeom>
                    <a:avLst/>
                    <a:gdLst>
                      <a:gd name="T0" fmla="*/ 108 w 234"/>
                      <a:gd name="T1" fmla="*/ 0 h 175"/>
                      <a:gd name="T2" fmla="*/ 79 w 234"/>
                      <a:gd name="T3" fmla="*/ 25 h 175"/>
                      <a:gd name="T4" fmla="*/ 54 w 234"/>
                      <a:gd name="T5" fmla="*/ 40 h 175"/>
                      <a:gd name="T6" fmla="*/ 39 w 234"/>
                      <a:gd name="T7" fmla="*/ 71 h 175"/>
                      <a:gd name="T8" fmla="*/ 24 w 234"/>
                      <a:gd name="T9" fmla="*/ 102 h 175"/>
                      <a:gd name="T10" fmla="*/ 16 w 234"/>
                      <a:gd name="T11" fmla="*/ 137 h 175"/>
                      <a:gd name="T12" fmla="*/ 12 w 234"/>
                      <a:gd name="T13" fmla="*/ 159 h 175"/>
                      <a:gd name="T14" fmla="*/ 0 w 234"/>
                      <a:gd name="T15" fmla="*/ 167 h 175"/>
                      <a:gd name="T16" fmla="*/ 106 w 234"/>
                      <a:gd name="T17" fmla="*/ 173 h 175"/>
                      <a:gd name="T18" fmla="*/ 193 w 234"/>
                      <a:gd name="T19" fmla="*/ 175 h 175"/>
                      <a:gd name="T20" fmla="*/ 234 w 234"/>
                      <a:gd name="T21" fmla="*/ 168 h 175"/>
                      <a:gd name="T22" fmla="*/ 224 w 234"/>
                      <a:gd name="T23" fmla="*/ 137 h 175"/>
                      <a:gd name="T24" fmla="*/ 199 w 234"/>
                      <a:gd name="T25" fmla="*/ 114 h 175"/>
                      <a:gd name="T26" fmla="*/ 188 w 234"/>
                      <a:gd name="T27" fmla="*/ 91 h 175"/>
                      <a:gd name="T28" fmla="*/ 177 w 234"/>
                      <a:gd name="T29" fmla="*/ 72 h 175"/>
                      <a:gd name="T30" fmla="*/ 160 w 234"/>
                      <a:gd name="T31" fmla="*/ 62 h 175"/>
                      <a:gd name="T32" fmla="*/ 137 w 234"/>
                      <a:gd name="T33" fmla="*/ 51 h 175"/>
                      <a:gd name="T34" fmla="*/ 127 w 234"/>
                      <a:gd name="T35" fmla="*/ 35 h 175"/>
                      <a:gd name="T36" fmla="*/ 119 w 234"/>
                      <a:gd name="T37" fmla="*/ 16 h 175"/>
                      <a:gd name="T38" fmla="*/ 108 w 234"/>
                      <a:gd name="T39" fmla="*/ 0 h 1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234" h="175">
                        <a:moveTo>
                          <a:pt x="108" y="0"/>
                        </a:moveTo>
                        <a:lnTo>
                          <a:pt x="79" y="25"/>
                        </a:lnTo>
                        <a:lnTo>
                          <a:pt x="54" y="40"/>
                        </a:lnTo>
                        <a:lnTo>
                          <a:pt x="39" y="71"/>
                        </a:lnTo>
                        <a:lnTo>
                          <a:pt x="24" y="102"/>
                        </a:lnTo>
                        <a:lnTo>
                          <a:pt x="16" y="137"/>
                        </a:lnTo>
                        <a:lnTo>
                          <a:pt x="12" y="159"/>
                        </a:lnTo>
                        <a:lnTo>
                          <a:pt x="0" y="167"/>
                        </a:lnTo>
                        <a:lnTo>
                          <a:pt x="106" y="173"/>
                        </a:lnTo>
                        <a:lnTo>
                          <a:pt x="193" y="175"/>
                        </a:lnTo>
                        <a:lnTo>
                          <a:pt x="234" y="168"/>
                        </a:lnTo>
                        <a:lnTo>
                          <a:pt x="224" y="137"/>
                        </a:lnTo>
                        <a:lnTo>
                          <a:pt x="199" y="114"/>
                        </a:lnTo>
                        <a:lnTo>
                          <a:pt x="188" y="91"/>
                        </a:lnTo>
                        <a:lnTo>
                          <a:pt x="177" y="72"/>
                        </a:lnTo>
                        <a:lnTo>
                          <a:pt x="160" y="62"/>
                        </a:lnTo>
                        <a:lnTo>
                          <a:pt x="137" y="51"/>
                        </a:lnTo>
                        <a:lnTo>
                          <a:pt x="127" y="35"/>
                        </a:lnTo>
                        <a:lnTo>
                          <a:pt x="119" y="16"/>
                        </a:lnTo>
                        <a:lnTo>
                          <a:pt x="108" y="0"/>
                        </a:lnTo>
                        <a:close/>
                      </a:path>
                    </a:pathLst>
                  </a:custGeom>
                  <a:solidFill>
                    <a:srgbClr val="FF3399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  <p:grpSp>
              <p:nvGrpSpPr>
                <p:cNvPr id="56" name="Group 438"/>
                <p:cNvGrpSpPr>
                  <a:grpSpLocks/>
                </p:cNvGrpSpPr>
                <p:nvPr/>
              </p:nvGrpSpPr>
              <p:grpSpPr bwMode="auto">
                <a:xfrm>
                  <a:off x="1581" y="2617"/>
                  <a:ext cx="51" cy="44"/>
                  <a:chOff x="1581" y="2617"/>
                  <a:chExt cx="51" cy="44"/>
                </a:xfrm>
              </p:grpSpPr>
              <p:sp>
                <p:nvSpPr>
                  <p:cNvPr id="57" name="Freeform 439"/>
                  <p:cNvSpPr>
                    <a:spLocks/>
                  </p:cNvSpPr>
                  <p:nvPr/>
                </p:nvSpPr>
                <p:spPr bwMode="auto">
                  <a:xfrm>
                    <a:off x="1608" y="2617"/>
                    <a:ext cx="24" cy="39"/>
                  </a:xfrm>
                  <a:custGeom>
                    <a:avLst/>
                    <a:gdLst>
                      <a:gd name="T0" fmla="*/ 2 w 47"/>
                      <a:gd name="T1" fmla="*/ 0 h 78"/>
                      <a:gd name="T2" fmla="*/ 21 w 47"/>
                      <a:gd name="T3" fmla="*/ 14 h 78"/>
                      <a:gd name="T4" fmla="*/ 39 w 47"/>
                      <a:gd name="T5" fmla="*/ 43 h 78"/>
                      <a:gd name="T6" fmla="*/ 46 w 47"/>
                      <a:gd name="T7" fmla="*/ 60 h 78"/>
                      <a:gd name="T8" fmla="*/ 47 w 47"/>
                      <a:gd name="T9" fmla="*/ 78 h 78"/>
                      <a:gd name="T10" fmla="*/ 11 w 47"/>
                      <a:gd name="T11" fmla="*/ 71 h 78"/>
                      <a:gd name="T12" fmla="*/ 0 w 47"/>
                      <a:gd name="T13" fmla="*/ 31 h 78"/>
                      <a:gd name="T14" fmla="*/ 2 w 47"/>
                      <a:gd name="T15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7" h="78">
                        <a:moveTo>
                          <a:pt x="2" y="0"/>
                        </a:moveTo>
                        <a:lnTo>
                          <a:pt x="21" y="14"/>
                        </a:lnTo>
                        <a:lnTo>
                          <a:pt x="39" y="43"/>
                        </a:lnTo>
                        <a:lnTo>
                          <a:pt x="46" y="60"/>
                        </a:lnTo>
                        <a:lnTo>
                          <a:pt x="47" y="78"/>
                        </a:lnTo>
                        <a:lnTo>
                          <a:pt x="11" y="71"/>
                        </a:lnTo>
                        <a:lnTo>
                          <a:pt x="0" y="3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3399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58" name="Freeform 440"/>
                  <p:cNvSpPr>
                    <a:spLocks/>
                  </p:cNvSpPr>
                  <p:nvPr/>
                </p:nvSpPr>
                <p:spPr bwMode="auto">
                  <a:xfrm>
                    <a:off x="1581" y="2618"/>
                    <a:ext cx="36" cy="43"/>
                  </a:xfrm>
                  <a:custGeom>
                    <a:avLst/>
                    <a:gdLst>
                      <a:gd name="T0" fmla="*/ 53 w 71"/>
                      <a:gd name="T1" fmla="*/ 0 h 86"/>
                      <a:gd name="T2" fmla="*/ 38 w 71"/>
                      <a:gd name="T3" fmla="*/ 13 h 86"/>
                      <a:gd name="T4" fmla="*/ 29 w 71"/>
                      <a:gd name="T5" fmla="*/ 18 h 86"/>
                      <a:gd name="T6" fmla="*/ 24 w 71"/>
                      <a:gd name="T7" fmla="*/ 29 h 86"/>
                      <a:gd name="T8" fmla="*/ 14 w 71"/>
                      <a:gd name="T9" fmla="*/ 38 h 86"/>
                      <a:gd name="T10" fmla="*/ 9 w 71"/>
                      <a:gd name="T11" fmla="*/ 65 h 86"/>
                      <a:gd name="T12" fmla="*/ 0 w 71"/>
                      <a:gd name="T13" fmla="*/ 72 h 86"/>
                      <a:gd name="T14" fmla="*/ 17 w 71"/>
                      <a:gd name="T15" fmla="*/ 86 h 86"/>
                      <a:gd name="T16" fmla="*/ 37 w 71"/>
                      <a:gd name="T17" fmla="*/ 76 h 86"/>
                      <a:gd name="T18" fmla="*/ 44 w 71"/>
                      <a:gd name="T19" fmla="*/ 82 h 86"/>
                      <a:gd name="T20" fmla="*/ 64 w 71"/>
                      <a:gd name="T21" fmla="*/ 71 h 86"/>
                      <a:gd name="T22" fmla="*/ 71 w 71"/>
                      <a:gd name="T23" fmla="*/ 60 h 86"/>
                      <a:gd name="T24" fmla="*/ 67 w 71"/>
                      <a:gd name="T25" fmla="*/ 43 h 86"/>
                      <a:gd name="T26" fmla="*/ 67 w 71"/>
                      <a:gd name="T27" fmla="*/ 29 h 86"/>
                      <a:gd name="T28" fmla="*/ 53 w 71"/>
                      <a:gd name="T29" fmla="*/ 0 h 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71" h="86">
                        <a:moveTo>
                          <a:pt x="53" y="0"/>
                        </a:moveTo>
                        <a:lnTo>
                          <a:pt x="38" y="13"/>
                        </a:lnTo>
                        <a:lnTo>
                          <a:pt x="29" y="18"/>
                        </a:lnTo>
                        <a:lnTo>
                          <a:pt x="24" y="29"/>
                        </a:lnTo>
                        <a:lnTo>
                          <a:pt x="14" y="38"/>
                        </a:lnTo>
                        <a:lnTo>
                          <a:pt x="9" y="65"/>
                        </a:lnTo>
                        <a:lnTo>
                          <a:pt x="0" y="72"/>
                        </a:lnTo>
                        <a:lnTo>
                          <a:pt x="17" y="86"/>
                        </a:lnTo>
                        <a:lnTo>
                          <a:pt x="37" y="76"/>
                        </a:lnTo>
                        <a:lnTo>
                          <a:pt x="44" y="82"/>
                        </a:lnTo>
                        <a:lnTo>
                          <a:pt x="64" y="71"/>
                        </a:lnTo>
                        <a:lnTo>
                          <a:pt x="71" y="60"/>
                        </a:lnTo>
                        <a:lnTo>
                          <a:pt x="67" y="43"/>
                        </a:lnTo>
                        <a:lnTo>
                          <a:pt x="67" y="29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FF3399"/>
                  </a:solidFill>
                  <a:ln w="635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800"/>
                  </a:p>
                </p:txBody>
              </p:sp>
            </p:grpSp>
          </p:grpSp>
        </p:grpSp>
        <p:graphicFrame>
          <p:nvGraphicFramePr>
            <p:cNvPr id="51" name="Object 441"/>
            <p:cNvGraphicFramePr>
              <a:graphicFrameLocks noChangeAspect="1"/>
            </p:cNvGraphicFramePr>
            <p:nvPr/>
          </p:nvGraphicFramePr>
          <p:xfrm flipV="1">
            <a:off x="4080" y="1632"/>
            <a:ext cx="816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06" name="剪辑" r:id="rId3" imgW="8100720" imgH="5508360" progId="MS_ClipArt_Gallery.2">
                    <p:embed/>
                  </p:oleObj>
                </mc:Choice>
                <mc:Fallback>
                  <p:oleObj name="剪辑" r:id="rId3" imgW="8100720" imgH="5508360" progId="MS_ClipArt_Gallery.2">
                    <p:embed/>
                    <p:pic>
                      <p:nvPicPr>
                        <p:cNvPr id="51" name="Object 4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V="1">
                          <a:off x="4080" y="1632"/>
                          <a:ext cx="816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442"/>
            <p:cNvGraphicFramePr>
              <a:graphicFrameLocks noChangeAspect="1"/>
            </p:cNvGraphicFramePr>
            <p:nvPr/>
          </p:nvGraphicFramePr>
          <p:xfrm>
            <a:off x="672" y="2016"/>
            <a:ext cx="430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07" name="剪辑" r:id="rId5" imgW="3954240" imgH="3497040" progId="MS_ClipArt_Gallery.2">
                    <p:embed/>
                  </p:oleObj>
                </mc:Choice>
                <mc:Fallback>
                  <p:oleObj name="剪辑" r:id="rId5" imgW="3954240" imgH="3497040" progId="MS_ClipArt_Gallery.2">
                    <p:embed/>
                    <p:pic>
                      <p:nvPicPr>
                        <p:cNvPr id="52" name="Object 4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016"/>
                          <a:ext cx="430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9" name="Text Box 443"/>
          <p:cNvSpPr txBox="1">
            <a:spLocks noChangeArrowheads="1"/>
          </p:cNvSpPr>
          <p:nvPr/>
        </p:nvSpPr>
        <p:spPr bwMode="auto">
          <a:xfrm>
            <a:off x="2358330" y="836712"/>
            <a:ext cx="4495800" cy="530225"/>
          </a:xfrm>
          <a:prstGeom prst="rect">
            <a:avLst/>
          </a:prstGeom>
          <a:noFill/>
          <a:ln>
            <a:noFill/>
          </a:ln>
          <a:effectLst>
            <a:outerShdw dist="35921" dir="8100000" algn="ctr" rotWithShape="0">
              <a:srgbClr val="99CC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7" rIns="92075" bIns="46037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zh-CN" altLang="en-US" sz="4000" dirty="0">
                <a:solidFill>
                  <a:srgbClr val="003399"/>
                </a:solidFill>
                <a:latin typeface="Verdana" panose="020B0604030504040204" pitchFamily="34" charset="0"/>
                <a:ea typeface="华文行楷" panose="02010800040101010101" pitchFamily="2" charset="-122"/>
              </a:rPr>
              <a:t>“信息化孤岛”</a:t>
            </a:r>
          </a:p>
        </p:txBody>
      </p:sp>
      <p:sp>
        <p:nvSpPr>
          <p:cNvPr id="480" name="Text Box 444"/>
          <p:cNvSpPr txBox="1">
            <a:spLocks noChangeArrowheads="1"/>
          </p:cNvSpPr>
          <p:nvPr/>
        </p:nvSpPr>
        <p:spPr bwMode="auto">
          <a:xfrm>
            <a:off x="6840786" y="3570909"/>
            <a:ext cx="1979686" cy="9255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1800" dirty="0">
                <a:ea typeface="宋体" panose="02010600030101010101" pitchFamily="2" charset="-122"/>
              </a:rPr>
              <a:t>NC</a:t>
            </a:r>
            <a:r>
              <a:rPr lang="zh-CN" altLang="en-US" sz="1800" dirty="0">
                <a:ea typeface="宋体" panose="02010600030101010101" pitchFamily="2" charset="-122"/>
              </a:rPr>
              <a:t>数控</a:t>
            </a:r>
          </a:p>
          <a:p>
            <a:r>
              <a:rPr lang="en-US" altLang="zh-CN" sz="1800" dirty="0">
                <a:ea typeface="宋体" panose="02010600030101010101" pitchFamily="2" charset="-122"/>
              </a:rPr>
              <a:t>FMS</a:t>
            </a:r>
            <a:r>
              <a:rPr lang="zh-CN" altLang="en-US" sz="1800" dirty="0">
                <a:ea typeface="宋体" panose="02010600030101010101" pitchFamily="2" charset="-122"/>
              </a:rPr>
              <a:t>柔性制造系统</a:t>
            </a:r>
            <a:endParaRPr lang="en-US" altLang="zh-CN" sz="1800" dirty="0">
              <a:ea typeface="宋体" panose="02010600030101010101" pitchFamily="2" charset="-122"/>
            </a:endParaRPr>
          </a:p>
          <a:p>
            <a:r>
              <a:rPr lang="en-US" altLang="zh-CN" sz="1800" dirty="0"/>
              <a:t>MES</a:t>
            </a:r>
            <a:r>
              <a:rPr lang="zh-CN" altLang="en-US" sz="1800" dirty="0"/>
              <a:t>制造执行系统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481" name="Text Box 445"/>
          <p:cNvSpPr txBox="1">
            <a:spLocks noChangeArrowheads="1"/>
          </p:cNvSpPr>
          <p:nvPr/>
        </p:nvSpPr>
        <p:spPr bwMode="auto">
          <a:xfrm>
            <a:off x="3304528" y="3583609"/>
            <a:ext cx="3355704" cy="9255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1800">
                <a:ea typeface="宋体" panose="02010600030101010101" pitchFamily="2" charset="-122"/>
              </a:rPr>
              <a:t>CAD</a:t>
            </a:r>
            <a:r>
              <a:rPr lang="zh-CN" altLang="en-US" sz="1800">
                <a:ea typeface="宋体" panose="02010600030101010101" pitchFamily="2" charset="-122"/>
              </a:rPr>
              <a:t>计算机辅助设计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CAM</a:t>
            </a:r>
            <a:r>
              <a:rPr lang="zh-CN" altLang="en-US" sz="1800">
                <a:ea typeface="宋体" panose="02010600030101010101" pitchFamily="2" charset="-122"/>
              </a:rPr>
              <a:t>计算机辅助制造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CAPP</a:t>
            </a:r>
            <a:r>
              <a:rPr lang="zh-CN" altLang="en-US" sz="1800">
                <a:ea typeface="宋体" panose="02010600030101010101" pitchFamily="2" charset="-122"/>
              </a:rPr>
              <a:t>计算机辅助工艺过程设计</a:t>
            </a:r>
          </a:p>
        </p:txBody>
      </p:sp>
      <p:sp>
        <p:nvSpPr>
          <p:cNvPr id="482" name="Text Box 446"/>
          <p:cNvSpPr txBox="1">
            <a:spLocks noChangeArrowheads="1"/>
          </p:cNvSpPr>
          <p:nvPr/>
        </p:nvSpPr>
        <p:spPr bwMode="auto">
          <a:xfrm>
            <a:off x="800587" y="3574084"/>
            <a:ext cx="2193527" cy="9255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1800" dirty="0">
                <a:ea typeface="宋体" panose="02010600030101010101" pitchFamily="2" charset="-122"/>
              </a:rPr>
              <a:t>MRP-II</a:t>
            </a:r>
            <a:r>
              <a:rPr lang="zh-CN" altLang="en-US" sz="1800" dirty="0">
                <a:ea typeface="宋体" panose="02010600030101010101" pitchFamily="2" charset="-122"/>
              </a:rPr>
              <a:t>制造资源计划</a:t>
            </a:r>
            <a:endParaRPr lang="en-US" altLang="zh-CN" sz="1800" dirty="0">
              <a:ea typeface="宋体" panose="02010600030101010101" pitchFamily="2" charset="-122"/>
            </a:endParaRPr>
          </a:p>
          <a:p>
            <a:r>
              <a:rPr lang="en-US" altLang="zh-CN" dirty="0"/>
              <a:t>ERP-</a:t>
            </a:r>
            <a:r>
              <a:rPr lang="zh-CN" altLang="en-US" sz="1800" dirty="0"/>
              <a:t>企业资源计划</a:t>
            </a:r>
            <a:endParaRPr lang="en-US" altLang="zh-CN" sz="1800" dirty="0"/>
          </a:p>
          <a:p>
            <a:r>
              <a:rPr lang="en-US" altLang="zh-CN" sz="1800" dirty="0">
                <a:ea typeface="宋体" panose="02010600030101010101" pitchFamily="2" charset="-122"/>
              </a:rPr>
              <a:t>SCM-</a:t>
            </a:r>
            <a:r>
              <a:rPr lang="zh-CN" altLang="en-US" sz="1800" dirty="0">
                <a:ea typeface="宋体" panose="02010600030101010101" pitchFamily="2" charset="-122"/>
              </a:rPr>
              <a:t>供应链管理</a:t>
            </a:r>
          </a:p>
        </p:txBody>
      </p:sp>
      <p:sp>
        <p:nvSpPr>
          <p:cNvPr id="483" name="Text Box 447"/>
          <p:cNvSpPr txBox="1">
            <a:spLocks noChangeArrowheads="1"/>
          </p:cNvSpPr>
          <p:nvPr/>
        </p:nvSpPr>
        <p:spPr bwMode="auto">
          <a:xfrm>
            <a:off x="7362317" y="3069259"/>
            <a:ext cx="9366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 b="1" dirty="0">
                <a:solidFill>
                  <a:srgbClr val="0066FF"/>
                </a:solidFill>
                <a:ea typeface="宋体" panose="02010600030101010101" pitchFamily="2" charset="-122"/>
              </a:rPr>
              <a:t>制造</a:t>
            </a:r>
          </a:p>
        </p:txBody>
      </p:sp>
      <p:sp>
        <p:nvSpPr>
          <p:cNvPr id="484" name="Text Box 448"/>
          <p:cNvSpPr txBox="1">
            <a:spLocks noChangeArrowheads="1"/>
          </p:cNvSpPr>
          <p:nvPr/>
        </p:nvSpPr>
        <p:spPr bwMode="auto">
          <a:xfrm>
            <a:off x="4514068" y="3069259"/>
            <a:ext cx="9366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 b="1" dirty="0">
                <a:solidFill>
                  <a:srgbClr val="0066FF"/>
                </a:solidFill>
                <a:ea typeface="宋体" panose="02010600030101010101" pitchFamily="2" charset="-122"/>
              </a:rPr>
              <a:t>设计</a:t>
            </a:r>
          </a:p>
        </p:txBody>
      </p:sp>
      <p:sp>
        <p:nvSpPr>
          <p:cNvPr id="485" name="Text Box 449"/>
          <p:cNvSpPr txBox="1">
            <a:spLocks noChangeArrowheads="1"/>
          </p:cNvSpPr>
          <p:nvPr/>
        </p:nvSpPr>
        <p:spPr bwMode="auto">
          <a:xfrm>
            <a:off x="1176625" y="3069259"/>
            <a:ext cx="144145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 b="1" dirty="0">
                <a:solidFill>
                  <a:srgbClr val="0066FF"/>
                </a:solidFill>
                <a:ea typeface="宋体" panose="02010600030101010101" pitchFamily="2" charset="-122"/>
              </a:rPr>
              <a:t>经营管理</a:t>
            </a:r>
          </a:p>
        </p:txBody>
      </p:sp>
      <p:sp>
        <p:nvSpPr>
          <p:cNvPr id="487" name="Text Box 3"/>
          <p:cNvSpPr txBox="1">
            <a:spLocks noChangeArrowheads="1"/>
          </p:cNvSpPr>
          <p:nvPr/>
        </p:nvSpPr>
        <p:spPr bwMode="auto">
          <a:xfrm>
            <a:off x="1156102" y="4978470"/>
            <a:ext cx="7114144" cy="530225"/>
          </a:xfrm>
          <a:prstGeom prst="rect">
            <a:avLst/>
          </a:prstGeom>
          <a:noFill/>
          <a:ln>
            <a:noFill/>
          </a:ln>
          <a:effectLst>
            <a:outerShdw dist="35921" dir="8100000" algn="ctr" rotWithShape="0">
              <a:srgbClr val="99CC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7" rIns="92075" bIns="46037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  <a:ea typeface="华文行楷" panose="02010800040101010101" pitchFamily="2" charset="-122"/>
              </a:rPr>
              <a:t>将“信息化孤岛”集成在一起</a:t>
            </a:r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  <a:ea typeface="华文行楷" panose="02010800040101010101" pitchFamily="2" charset="-122"/>
              </a:rPr>
              <a:t>?</a:t>
            </a:r>
            <a:endParaRPr lang="zh-CN" altLang="en-US" sz="2800" dirty="0">
              <a:solidFill>
                <a:srgbClr val="FF0000"/>
              </a:solidFill>
              <a:latin typeface="Verdan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488" name="Text Box 367"/>
          <p:cNvSpPr txBox="1">
            <a:spLocks noChangeArrowheads="1"/>
          </p:cNvSpPr>
          <p:nvPr/>
        </p:nvSpPr>
        <p:spPr bwMode="auto">
          <a:xfrm>
            <a:off x="1958925" y="6090871"/>
            <a:ext cx="627925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整体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最优化的追求成为企业终极目标！</a:t>
            </a:r>
          </a:p>
        </p:txBody>
      </p:sp>
      <p:sp>
        <p:nvSpPr>
          <p:cNvPr id="3" name="下箭头 2"/>
          <p:cNvSpPr/>
          <p:nvPr/>
        </p:nvSpPr>
        <p:spPr bwMode="auto">
          <a:xfrm>
            <a:off x="4448694" y="5589240"/>
            <a:ext cx="304368" cy="50163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533400" marR="0" indent="-5334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Ø"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5085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01882"/>
            <a:ext cx="7913687" cy="549275"/>
          </a:xfrm>
        </p:spPr>
        <p:txBody>
          <a:bodyPr/>
          <a:lstStyle/>
          <a:p>
            <a:pPr eaLnBrk="1" hangingPunct="1"/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8308" name="矩形 1"/>
          <p:cNvSpPr>
            <a:spLocks noChangeArrowheads="1"/>
          </p:cNvSpPr>
          <p:nvPr/>
        </p:nvSpPr>
        <p:spPr bwMode="auto">
          <a:xfrm>
            <a:off x="683568" y="1239143"/>
            <a:ext cx="741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latin typeface="Times New Roman" panose="02020603050405020304" pitchFamily="18" charset="0"/>
              </a:rPr>
              <a:t>企业信息化需求层次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67544" y="2060848"/>
            <a:ext cx="8256004" cy="4392488"/>
            <a:chOff x="396097" y="1981184"/>
            <a:chExt cx="8256004" cy="4392488"/>
          </a:xfrm>
        </p:grpSpPr>
        <p:sp>
          <p:nvSpPr>
            <p:cNvPr id="5" name="矩形 4"/>
            <p:cNvSpPr/>
            <p:nvPr/>
          </p:nvSpPr>
          <p:spPr>
            <a:xfrm>
              <a:off x="1370821" y="2516172"/>
              <a:ext cx="774700" cy="2317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" kern="0" dirty="0">
                  <a:solidFill>
                    <a:sysClr val="window" lastClr="FFFFFF"/>
                  </a:solidFill>
                </a:rPr>
                <a:t>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模板下载：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www.1ppt.com/moban/     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行业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模板：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www.1ppt.com/hangye/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" kern="0" dirty="0">
                  <a:solidFill>
                    <a:sysClr val="window" lastClr="FFFFFF"/>
                  </a:solidFill>
                </a:rPr>
                <a:t>节日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模板：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www.1ppt.com/jieri/           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素材下载：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www.1ppt.com/sucai/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" kern="0" dirty="0">
                  <a:solidFill>
                    <a:sysClr val="window" lastClr="FFFFFF"/>
                  </a:solidFill>
                </a:rPr>
                <a:t>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背景图片：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www.1ppt.com/beijing/      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图表下载：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www.1ppt.com/tubiao/     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" kern="0" dirty="0">
                  <a:solidFill>
                    <a:sysClr val="window" lastClr="FFFFFF"/>
                  </a:solidFill>
                </a:rPr>
                <a:t>优秀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www.1ppt.com/xiazai/        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教程： 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www.1ppt.com/powerpoint/     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" kern="0" dirty="0">
                  <a:solidFill>
                    <a:sysClr val="window" lastClr="FFFFFF"/>
                  </a:solidFill>
                </a:rPr>
                <a:t>Word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教程： 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www.1ppt.com/word/              Excel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教程：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www.1ppt.com/excel/ 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" kern="0" dirty="0">
                  <a:solidFill>
                    <a:sysClr val="window" lastClr="FFFFFF"/>
                  </a:solidFill>
                </a:rPr>
                <a:t>资料下载：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www.1ppt.com/ziliao/                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课件下载：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www.1ppt.com/kejian/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" kern="0" dirty="0">
                  <a:solidFill>
                    <a:sysClr val="window" lastClr="FFFFFF"/>
                  </a:solidFill>
                </a:rPr>
                <a:t>范文下载：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www.1ppt.com/fanwen/             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试卷下载：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www.1ppt.com/shiti/ 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" kern="0" dirty="0">
                  <a:solidFill>
                    <a:sysClr val="window" lastClr="FFFFFF"/>
                  </a:solidFill>
                </a:rPr>
                <a:t>教案下载：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www.1ppt.com/jiaoan/        PPT</a:t>
              </a:r>
              <a:r>
                <a:rPr lang="zh-CN" altLang="en-US" sz="100" kern="0" dirty="0">
                  <a:solidFill>
                    <a:sysClr val="window" lastClr="FFFFFF"/>
                  </a:solidFill>
                </a:rPr>
                <a:t>论坛：</a:t>
              </a:r>
              <a:r>
                <a:rPr lang="en-US" altLang="zh-CN" sz="100" kern="0" dirty="0">
                  <a:solidFill>
                    <a:sysClr val="window" lastClr="FFFFFF"/>
                  </a:solidFill>
                </a:rPr>
                <a:t>www.1ppt.cn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" kern="0" dirty="0">
                  <a:solidFill>
                    <a:sysClr val="window" lastClr="FFFFFF"/>
                  </a:solidFill>
                </a:rPr>
                <a:t> </a:t>
              </a:r>
              <a:endParaRPr lang="zh-CN" altLang="en-US" sz="100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6" name="Freeform 74"/>
            <p:cNvSpPr>
              <a:spLocks noChangeAspect="1"/>
            </p:cNvSpPr>
            <p:nvPr/>
          </p:nvSpPr>
          <p:spPr bwMode="auto">
            <a:xfrm>
              <a:off x="396097" y="5392722"/>
              <a:ext cx="4664075" cy="817563"/>
            </a:xfrm>
            <a:custGeom>
              <a:avLst/>
              <a:gdLst>
                <a:gd name="T0" fmla="*/ 2147483647 w 2676"/>
                <a:gd name="T1" fmla="*/ 0 h 484"/>
                <a:gd name="T2" fmla="*/ 0 w 2676"/>
                <a:gd name="T3" fmla="*/ 2147483647 h 484"/>
                <a:gd name="T4" fmla="*/ 2147483647 w 2676"/>
                <a:gd name="T5" fmla="*/ 2147483647 h 484"/>
                <a:gd name="T6" fmla="*/ 2147483647 w 2676"/>
                <a:gd name="T7" fmla="*/ 0 h 484"/>
                <a:gd name="T8" fmla="*/ 2147483647 w 2676"/>
                <a:gd name="T9" fmla="*/ 0 h 4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76"/>
                <a:gd name="T16" fmla="*/ 0 h 484"/>
                <a:gd name="T17" fmla="*/ 2676 w 2676"/>
                <a:gd name="T18" fmla="*/ 484 h 4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76" h="484">
                  <a:moveTo>
                    <a:pt x="271" y="0"/>
                  </a:moveTo>
                  <a:lnTo>
                    <a:pt x="0" y="483"/>
                  </a:lnTo>
                  <a:lnTo>
                    <a:pt x="2675" y="483"/>
                  </a:lnTo>
                  <a:lnTo>
                    <a:pt x="2404" y="0"/>
                  </a:lnTo>
                  <a:lnTo>
                    <a:pt x="271" y="0"/>
                  </a:lnTo>
                </a:path>
              </a:pathLst>
            </a:custGeom>
            <a:solidFill>
              <a:srgbClr val="333399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333399"/>
              </a:extrusionClr>
              <a:contourClr>
                <a:srgbClr val="333399"/>
              </a:contourClr>
            </a:sp3d>
          </p:spPr>
          <p:txBody>
            <a:bodyPr lIns="45720" rIns="45720" anchor="ctr" anchorCtr="1">
              <a:flatTx/>
            </a:bodyPr>
            <a:lstStyle/>
            <a:p>
              <a:endParaRPr lang="zh-CN" altLang="en-US"/>
            </a:p>
          </p:txBody>
        </p:sp>
        <p:sp>
          <p:nvSpPr>
            <p:cNvPr id="7" name="Freeform 75"/>
            <p:cNvSpPr>
              <a:spLocks noChangeAspect="1"/>
            </p:cNvSpPr>
            <p:nvPr/>
          </p:nvSpPr>
          <p:spPr bwMode="auto">
            <a:xfrm>
              <a:off x="867584" y="4443396"/>
              <a:ext cx="3719512" cy="903288"/>
            </a:xfrm>
            <a:custGeom>
              <a:avLst/>
              <a:gdLst>
                <a:gd name="T0" fmla="*/ 2147483647 w 2134"/>
                <a:gd name="T1" fmla="*/ 0 h 535"/>
                <a:gd name="T2" fmla="*/ 0 w 2134"/>
                <a:gd name="T3" fmla="*/ 2147483647 h 535"/>
                <a:gd name="T4" fmla="*/ 2147483647 w 2134"/>
                <a:gd name="T5" fmla="*/ 2147483647 h 535"/>
                <a:gd name="T6" fmla="*/ 2147483647 w 2134"/>
                <a:gd name="T7" fmla="*/ 0 h 535"/>
                <a:gd name="T8" fmla="*/ 2147483647 w 2134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34"/>
                <a:gd name="T16" fmla="*/ 0 h 535"/>
                <a:gd name="T17" fmla="*/ 2134 w 2134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34" h="535">
                  <a:moveTo>
                    <a:pt x="299" y="0"/>
                  </a:moveTo>
                  <a:lnTo>
                    <a:pt x="0" y="534"/>
                  </a:lnTo>
                  <a:lnTo>
                    <a:pt x="2133" y="534"/>
                  </a:lnTo>
                  <a:lnTo>
                    <a:pt x="1834" y="0"/>
                  </a:lnTo>
                  <a:lnTo>
                    <a:pt x="299" y="0"/>
                  </a:lnTo>
                </a:path>
              </a:pathLst>
            </a:custGeom>
            <a:solidFill>
              <a:schemeClr val="fol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folHlink"/>
              </a:extrusionClr>
              <a:contourClr>
                <a:schemeClr val="folHlink"/>
              </a:contourClr>
            </a:sp3d>
          </p:spPr>
          <p:txBody>
            <a:bodyPr lIns="45720" rIns="45720" anchor="ctr" anchorCtr="1">
              <a:flatTx/>
            </a:bodyPr>
            <a:lstStyle/>
            <a:p>
              <a:endParaRPr lang="zh-CN" altLang="en-US"/>
            </a:p>
          </p:txBody>
        </p:sp>
        <p:sp>
          <p:nvSpPr>
            <p:cNvPr id="8" name="Freeform 76"/>
            <p:cNvSpPr>
              <a:spLocks noChangeAspect="1"/>
            </p:cNvSpPr>
            <p:nvPr/>
          </p:nvSpPr>
          <p:spPr bwMode="auto">
            <a:xfrm>
              <a:off x="1389872" y="3475021"/>
              <a:ext cx="2676525" cy="901700"/>
            </a:xfrm>
            <a:custGeom>
              <a:avLst/>
              <a:gdLst>
                <a:gd name="T0" fmla="*/ 0 w 1536"/>
                <a:gd name="T1" fmla="*/ 2147483647 h 533"/>
                <a:gd name="T2" fmla="*/ 2147483647 w 1536"/>
                <a:gd name="T3" fmla="*/ 2147483647 h 533"/>
                <a:gd name="T4" fmla="*/ 2147483647 w 1536"/>
                <a:gd name="T5" fmla="*/ 0 h 533"/>
                <a:gd name="T6" fmla="*/ 2147483647 w 1536"/>
                <a:gd name="T7" fmla="*/ 0 h 533"/>
                <a:gd name="T8" fmla="*/ 0 w 1536"/>
                <a:gd name="T9" fmla="*/ 2147483647 h 5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533"/>
                <a:gd name="T17" fmla="*/ 1536 w 1536"/>
                <a:gd name="T18" fmla="*/ 533 h 5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533">
                  <a:moveTo>
                    <a:pt x="0" y="532"/>
                  </a:moveTo>
                  <a:lnTo>
                    <a:pt x="1535" y="532"/>
                  </a:lnTo>
                  <a:lnTo>
                    <a:pt x="1237" y="0"/>
                  </a:lnTo>
                  <a:lnTo>
                    <a:pt x="299" y="0"/>
                  </a:lnTo>
                  <a:lnTo>
                    <a:pt x="0" y="532"/>
                  </a:lnTo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</p:spPr>
          <p:txBody>
            <a:bodyPr lIns="45720" rIns="45720" anchor="ctr" anchorCtr="1">
              <a:flatTx/>
            </a:bodyPr>
            <a:lstStyle/>
            <a:p>
              <a:endParaRPr lang="zh-CN" altLang="en-US"/>
            </a:p>
          </p:txBody>
        </p:sp>
        <p:sp>
          <p:nvSpPr>
            <p:cNvPr id="9" name="Freeform 77"/>
            <p:cNvSpPr>
              <a:spLocks noChangeAspect="1"/>
            </p:cNvSpPr>
            <p:nvPr/>
          </p:nvSpPr>
          <p:spPr bwMode="auto">
            <a:xfrm>
              <a:off x="1908984" y="1981184"/>
              <a:ext cx="1638300" cy="1416050"/>
            </a:xfrm>
            <a:custGeom>
              <a:avLst/>
              <a:gdLst>
                <a:gd name="T0" fmla="*/ 0 w 939"/>
                <a:gd name="T1" fmla="*/ 2147483647 h 839"/>
                <a:gd name="T2" fmla="*/ 2147483647 w 939"/>
                <a:gd name="T3" fmla="*/ 2147483647 h 839"/>
                <a:gd name="T4" fmla="*/ 2147483647 w 939"/>
                <a:gd name="T5" fmla="*/ 0 h 839"/>
                <a:gd name="T6" fmla="*/ 0 w 939"/>
                <a:gd name="T7" fmla="*/ 2147483647 h 8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9"/>
                <a:gd name="T13" fmla="*/ 0 h 839"/>
                <a:gd name="T14" fmla="*/ 939 w 939"/>
                <a:gd name="T15" fmla="*/ 839 h 8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9" h="839">
                  <a:moveTo>
                    <a:pt x="0" y="838"/>
                  </a:moveTo>
                  <a:lnTo>
                    <a:pt x="938" y="838"/>
                  </a:lnTo>
                  <a:lnTo>
                    <a:pt x="469" y="0"/>
                  </a:lnTo>
                  <a:lnTo>
                    <a:pt x="0" y="838"/>
                  </a:lnTo>
                </a:path>
              </a:pathLst>
            </a:custGeom>
            <a:solidFill>
              <a:srgbClr val="CCFFCC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CC"/>
              </a:extrusionClr>
              <a:contourClr>
                <a:srgbClr val="CCFFCC"/>
              </a:contourClr>
            </a:sp3d>
          </p:spPr>
          <p:txBody>
            <a:bodyPr lIns="45720" rIns="45720" anchorCtr="1">
              <a:flatTx/>
            </a:bodyPr>
            <a:lstStyle/>
            <a:p>
              <a:endParaRPr lang="zh-CN" altLang="en-US"/>
            </a:p>
          </p:txBody>
        </p:sp>
        <p:sp>
          <p:nvSpPr>
            <p:cNvPr id="10" name="Rectangle 78"/>
            <p:cNvSpPr>
              <a:spLocks noChangeAspect="1" noChangeArrowheads="1"/>
            </p:cNvSpPr>
            <p:nvPr/>
          </p:nvSpPr>
          <p:spPr bwMode="auto">
            <a:xfrm>
              <a:off x="2039159" y="2689210"/>
              <a:ext cx="1382712" cy="706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 anchor="ctr" anchorCtr="1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企业决策层</a:t>
              </a:r>
              <a:endPara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en-GB" altLang="zh-CN" sz="1200" dirty="0">
                  <a:solidFill>
                    <a:srgbClr val="000000"/>
                  </a:solidFill>
                  <a:ea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11" name="Rectangle 79"/>
            <p:cNvSpPr>
              <a:spLocks noChangeAspect="1" noChangeArrowheads="1"/>
            </p:cNvSpPr>
            <p:nvPr/>
          </p:nvSpPr>
          <p:spPr bwMode="auto">
            <a:xfrm>
              <a:off x="1851834" y="3475021"/>
              <a:ext cx="1816100" cy="901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 anchor="ctr" anchorCtr="1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经营管理层</a:t>
              </a:r>
              <a:endParaRPr lang="zh-CN" altLang="en-GB" sz="1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Rectangle 80"/>
            <p:cNvSpPr>
              <a:spLocks noChangeAspect="1" noChangeArrowheads="1"/>
            </p:cNvSpPr>
            <p:nvPr/>
          </p:nvSpPr>
          <p:spPr bwMode="auto">
            <a:xfrm>
              <a:off x="1389872" y="4443396"/>
              <a:ext cx="2676525" cy="903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 anchor="ctr" anchorCtr="1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生产执行层</a:t>
              </a:r>
              <a:endParaRPr lang="en-GB" altLang="zh-CN" sz="1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Rectangle 81"/>
            <p:cNvSpPr>
              <a:spLocks noChangeAspect="1" noChangeArrowheads="1"/>
            </p:cNvSpPr>
            <p:nvPr/>
          </p:nvSpPr>
          <p:spPr bwMode="auto">
            <a:xfrm>
              <a:off x="867584" y="5403834"/>
              <a:ext cx="3719512" cy="819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 anchor="ctr" anchorCtr="1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过程控制层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gray">
            <a:xfrm>
              <a:off x="5868144" y="2233553"/>
              <a:ext cx="2783957" cy="725250"/>
            </a:xfrm>
            <a:prstGeom prst="rect">
              <a:avLst/>
            </a:prstGeom>
            <a:noFill/>
            <a:ln w="12700" algn="ctr">
              <a:solidFill>
                <a:srgbClr val="993333"/>
              </a:solidFill>
              <a:prstDash val="lgDash"/>
              <a:miter lim="800000"/>
              <a:headEnd/>
              <a:tailEnd/>
            </a:ln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lIns="91439" tIns="45719" rIns="91439" bIns="45719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9pPr>
            </a:lstStyle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tabLst>
                  <a:tab pos="231775" algn="l"/>
                  <a:tab pos="2627313" algn="l"/>
                  <a:tab pos="4340225" algn="l"/>
                </a:tabLst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利用综合信息，分析企业动态</a:t>
              </a:r>
            </a:p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tabLst>
                  <a:tab pos="231775" algn="l"/>
                </a:tabLst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制订各种绩效考核指标，随时分析差距，科学决策，保证企业健康发展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gray">
            <a:xfrm>
              <a:off x="5868144" y="3010719"/>
              <a:ext cx="2783957" cy="1086374"/>
            </a:xfrm>
            <a:prstGeom prst="rect">
              <a:avLst/>
            </a:prstGeom>
            <a:noFill/>
            <a:ln w="12700" algn="ctr">
              <a:solidFill>
                <a:srgbClr val="993333"/>
              </a:solidFill>
              <a:prstDash val="lgDash"/>
              <a:miter lim="800000"/>
              <a:headEnd/>
              <a:tailEnd/>
            </a:ln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lIns="91439" tIns="45719" rIns="91439" bIns="45719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9pPr>
            </a:lstStyle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规范经营管理、降低成本和费用，创造盈利空间</a:t>
              </a:r>
            </a:p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掌握企业外部环境，如供应和产品销售信息，为决策层提供信息</a:t>
              </a:r>
            </a:p>
            <a:p>
              <a:pPr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defRPr/>
              </a:pPr>
              <a:endParaRPr lang="zh-CN" altLang="en-US" sz="1200" b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gray">
            <a:xfrm>
              <a:off x="5868144" y="4149009"/>
              <a:ext cx="2783957" cy="1086374"/>
            </a:xfrm>
            <a:prstGeom prst="rect">
              <a:avLst/>
            </a:prstGeom>
            <a:noFill/>
            <a:ln w="12700" algn="ctr">
              <a:solidFill>
                <a:srgbClr val="993333"/>
              </a:solidFill>
              <a:prstDash val="lgDash"/>
              <a:miter lim="800000"/>
              <a:headEnd/>
              <a:tailEnd/>
            </a:ln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lIns="91438" tIns="45718" rIns="91438" bIns="45718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9pPr>
            </a:lstStyle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制订优化的生产计划，科学调度生产</a:t>
              </a:r>
            </a:p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及时、准确的物料平衡计算，跟踪物流、跟踪每日生产成本动态</a:t>
              </a:r>
            </a:p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提高企业日常生产精细化管理水平</a:t>
              </a:r>
            </a:p>
            <a:p>
              <a:pPr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defRPr/>
              </a:pPr>
              <a:endParaRPr lang="zh-CN" altLang="en-US" sz="1200" b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gray">
            <a:xfrm>
              <a:off x="5868144" y="5287298"/>
              <a:ext cx="2783957" cy="1086374"/>
            </a:xfrm>
            <a:prstGeom prst="rect">
              <a:avLst/>
            </a:prstGeom>
            <a:noFill/>
            <a:ln w="12700" algn="ctr">
              <a:solidFill>
                <a:srgbClr val="993333"/>
              </a:solidFill>
              <a:prstDash val="lgDash"/>
              <a:miter lim="800000"/>
              <a:headEnd/>
              <a:tailEnd/>
            </a:ln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lIns="91438" tIns="45718" rIns="91438" bIns="45718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9pPr>
            </a:lstStyle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提高生产装置安全性，实现长周期、满负荷</a:t>
              </a:r>
            </a:p>
            <a:p>
              <a:pPr marL="119063" lvl="1" indent="-119063"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buClr>
                  <a:srgbClr val="000000"/>
                </a:buClr>
                <a:buSzPct val="100000"/>
                <a:buFontTx/>
                <a:buChar char="•"/>
                <a:defRPr/>
              </a:pPr>
              <a:r>
                <a:rPr lang="zh-CN" altLang="en-US" sz="12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实时监控、先进控制、优化生产、节能减排</a:t>
              </a:r>
            </a:p>
            <a:p>
              <a:pPr>
                <a:lnSpc>
                  <a:spcPct val="105000"/>
                </a:lnSpc>
                <a:spcBef>
                  <a:spcPct val="15000"/>
                </a:spcBef>
                <a:spcAft>
                  <a:spcPct val="15000"/>
                </a:spcAft>
                <a:defRPr/>
              </a:pPr>
              <a:endParaRPr lang="zh-CN" altLang="en-US" sz="1200" b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Right Arrow 30"/>
            <p:cNvSpPr/>
            <p:nvPr/>
          </p:nvSpPr>
          <p:spPr bwMode="auto">
            <a:xfrm>
              <a:off x="4061635" y="2440656"/>
              <a:ext cx="1781175" cy="349250"/>
            </a:xfrm>
            <a:prstGeom prst="rightArrow">
              <a:avLst/>
            </a:prstGeom>
            <a:gradFill>
              <a:gsLst>
                <a:gs pos="0">
                  <a:schemeClr val="accent1">
                    <a:shade val="51000"/>
                    <a:satMod val="130000"/>
                  </a:schemeClr>
                </a:gs>
                <a:gs pos="43000">
                  <a:schemeClr val="accent1">
                    <a:shade val="93000"/>
                    <a:satMod val="13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  <a:defRPr/>
              </a:pPr>
              <a:endPara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ight Arrow 36"/>
            <p:cNvSpPr/>
            <p:nvPr/>
          </p:nvSpPr>
          <p:spPr bwMode="auto">
            <a:xfrm>
              <a:off x="4653771" y="3415381"/>
              <a:ext cx="1189038" cy="349250"/>
            </a:xfrm>
            <a:prstGeom prst="rightArrow">
              <a:avLst/>
            </a:prstGeom>
            <a:gradFill>
              <a:gsLst>
                <a:gs pos="0">
                  <a:schemeClr val="accent1">
                    <a:shade val="51000"/>
                    <a:satMod val="130000"/>
                  </a:schemeClr>
                </a:gs>
                <a:gs pos="43000">
                  <a:schemeClr val="accent1">
                    <a:shade val="93000"/>
                    <a:satMod val="13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  <a:defRPr/>
              </a:pPr>
              <a:endPara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ight Arrow 37"/>
            <p:cNvSpPr/>
            <p:nvPr/>
          </p:nvSpPr>
          <p:spPr bwMode="auto">
            <a:xfrm>
              <a:off x="5060171" y="4477419"/>
              <a:ext cx="782638" cy="347663"/>
            </a:xfrm>
            <a:prstGeom prst="rightArrow">
              <a:avLst/>
            </a:prstGeom>
            <a:gradFill>
              <a:gsLst>
                <a:gs pos="0">
                  <a:schemeClr val="accent1">
                    <a:shade val="51000"/>
                    <a:satMod val="130000"/>
                  </a:schemeClr>
                </a:gs>
                <a:gs pos="43000">
                  <a:schemeClr val="accent1">
                    <a:shade val="93000"/>
                    <a:satMod val="13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  <a:defRPr/>
              </a:pPr>
              <a:endPara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ight Arrow 38"/>
            <p:cNvSpPr/>
            <p:nvPr/>
          </p:nvSpPr>
          <p:spPr bwMode="auto">
            <a:xfrm>
              <a:off x="5428471" y="5577556"/>
              <a:ext cx="414338" cy="349250"/>
            </a:xfrm>
            <a:prstGeom prst="rightArrow">
              <a:avLst/>
            </a:prstGeom>
            <a:gradFill>
              <a:gsLst>
                <a:gs pos="0">
                  <a:schemeClr val="accent1">
                    <a:shade val="51000"/>
                    <a:satMod val="130000"/>
                  </a:schemeClr>
                </a:gs>
                <a:gs pos="43000">
                  <a:schemeClr val="accent1">
                    <a:shade val="93000"/>
                    <a:satMod val="13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1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  <a:defRPr/>
              </a:pPr>
              <a:endPara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607844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893" y="1631206"/>
            <a:ext cx="6264275" cy="511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4737"/>
            <a:ext cx="7913687" cy="549275"/>
          </a:xfrm>
        </p:spPr>
        <p:txBody>
          <a:bodyPr/>
          <a:lstStyle/>
          <a:p>
            <a:pPr eaLnBrk="1" hangingPunct="1"/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8308" name="矩形 1"/>
          <p:cNvSpPr>
            <a:spLocks noChangeArrowheads="1"/>
          </p:cNvSpPr>
          <p:nvPr/>
        </p:nvSpPr>
        <p:spPr bwMode="auto">
          <a:xfrm>
            <a:off x="859630" y="1094829"/>
            <a:ext cx="741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latin typeface="Times New Roman" panose="02020603050405020304" pitchFamily="18" charset="0"/>
              </a:rPr>
              <a:t>企业信息系统层次结构：</a:t>
            </a:r>
            <a:r>
              <a:rPr kumimoji="0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纵向</a:t>
            </a:r>
            <a:r>
              <a:rPr kumimoji="0" lang="en-US" altLang="zh-CN" dirty="0">
                <a:latin typeface="Times New Roman" panose="02020603050405020304" pitchFamily="18" charset="0"/>
              </a:rPr>
              <a:t>+</a:t>
            </a:r>
            <a:r>
              <a:rPr kumimoji="0" lang="zh-CN" altLang="en-US" dirty="0">
                <a:latin typeface="Times New Roman" panose="02020603050405020304" pitchFamily="18" charset="0"/>
              </a:rPr>
              <a:t>横向（供应链集成）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314151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5928"/>
            <a:ext cx="7913687" cy="549275"/>
          </a:xfrm>
        </p:spPr>
        <p:txBody>
          <a:bodyPr/>
          <a:lstStyle/>
          <a:p>
            <a:pPr eaLnBrk="1" hangingPunct="1"/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8308" name="矩形 1"/>
          <p:cNvSpPr>
            <a:spLocks noChangeArrowheads="1"/>
          </p:cNvSpPr>
          <p:nvPr/>
        </p:nvSpPr>
        <p:spPr bwMode="auto">
          <a:xfrm>
            <a:off x="745636" y="1239143"/>
            <a:ext cx="40047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latin typeface="Times New Roman" panose="02020603050405020304" pitchFamily="18" charset="0"/>
              </a:rPr>
              <a:t>企业信息系统结构模型</a:t>
            </a:r>
            <a:endParaRPr lang="zh-CN" altLang="en-US" dirty="0"/>
          </a:p>
        </p:txBody>
      </p:sp>
      <p:grpSp>
        <p:nvGrpSpPr>
          <p:cNvPr id="21" name="Group 4"/>
          <p:cNvGrpSpPr>
            <a:grpSpLocks/>
          </p:cNvGrpSpPr>
          <p:nvPr/>
        </p:nvGrpSpPr>
        <p:grpSpPr bwMode="auto">
          <a:xfrm>
            <a:off x="1293960" y="2001516"/>
            <a:ext cx="6912867" cy="3432175"/>
            <a:chOff x="1292" y="1253"/>
            <a:chExt cx="4128" cy="2162"/>
          </a:xfrm>
        </p:grpSpPr>
        <p:sp>
          <p:nvSpPr>
            <p:cNvPr id="22" name="Text Box 5"/>
            <p:cNvSpPr txBox="1">
              <a:spLocks noChangeArrowheads="1"/>
            </p:cNvSpPr>
            <p:nvPr/>
          </p:nvSpPr>
          <p:spPr bwMode="auto">
            <a:xfrm>
              <a:off x="3739" y="3158"/>
              <a:ext cx="16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生产过程控制层</a:t>
              </a:r>
              <a:r>
                <a:rPr lang="en-US" altLang="zh-CN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(PCS)</a:t>
              </a:r>
              <a:endParaRPr lang="zh-CN" altLang="en-US" sz="2000" b="1" dirty="0">
                <a:solidFill>
                  <a:srgbClr val="0066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Text Box 6"/>
            <p:cNvSpPr txBox="1">
              <a:spLocks noChangeArrowheads="1"/>
            </p:cNvSpPr>
            <p:nvPr/>
          </p:nvSpPr>
          <p:spPr bwMode="auto">
            <a:xfrm>
              <a:off x="3878" y="2432"/>
              <a:ext cx="14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生产管理层</a:t>
              </a:r>
            </a:p>
            <a:p>
              <a:pPr algn="just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MES</a:t>
              </a:r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sz="2000" b="1" dirty="0">
                <a:solidFill>
                  <a:srgbClr val="0066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" name="Text Box 7"/>
            <p:cNvSpPr txBox="1">
              <a:spLocks noChangeArrowheads="1"/>
            </p:cNvSpPr>
            <p:nvPr/>
          </p:nvSpPr>
          <p:spPr bwMode="auto">
            <a:xfrm>
              <a:off x="3878" y="1661"/>
              <a:ext cx="14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企业资源管理层</a:t>
              </a:r>
            </a:p>
            <a:p>
              <a:pPr algn="just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ERP</a:t>
              </a:r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sz="2000" b="1" dirty="0">
                <a:solidFill>
                  <a:srgbClr val="0066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Text Box 8"/>
            <p:cNvSpPr txBox="1">
              <a:spLocks noChangeArrowheads="1"/>
            </p:cNvSpPr>
            <p:nvPr/>
          </p:nvSpPr>
          <p:spPr bwMode="auto">
            <a:xfrm>
              <a:off x="3878" y="1253"/>
              <a:ext cx="1497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企业决策支持层</a:t>
              </a:r>
              <a:r>
                <a:rPr lang="en-US" altLang="zh-CN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(BI)</a:t>
              </a:r>
              <a:endParaRPr lang="zh-CN" altLang="en-US" sz="2000" b="1" dirty="0">
                <a:ea typeface="宋体" panose="02010600030101010101" pitchFamily="2" charset="-122"/>
              </a:endParaRPr>
            </a:p>
          </p:txBody>
        </p:sp>
        <p:sp>
          <p:nvSpPr>
            <p:cNvPr id="43" name="Text Box 9"/>
            <p:cNvSpPr txBox="1">
              <a:spLocks noChangeArrowheads="1"/>
            </p:cNvSpPr>
            <p:nvPr/>
          </p:nvSpPr>
          <p:spPr bwMode="auto">
            <a:xfrm>
              <a:off x="1292" y="1253"/>
              <a:ext cx="1225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数据仓库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44" name="Text Box 10"/>
            <p:cNvSpPr txBox="1">
              <a:spLocks noChangeArrowheads="1"/>
            </p:cNvSpPr>
            <p:nvPr/>
          </p:nvSpPr>
          <p:spPr bwMode="auto">
            <a:xfrm>
              <a:off x="2517" y="1253"/>
              <a:ext cx="1224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经营决策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45" name="Text Box 11"/>
            <p:cNvSpPr txBox="1">
              <a:spLocks noChangeArrowheads="1"/>
            </p:cNvSpPr>
            <p:nvPr/>
          </p:nvSpPr>
          <p:spPr bwMode="auto">
            <a:xfrm>
              <a:off x="1292" y="1669"/>
              <a:ext cx="816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采购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46" name="Text Box 12"/>
            <p:cNvSpPr txBox="1">
              <a:spLocks noChangeArrowheads="1"/>
            </p:cNvSpPr>
            <p:nvPr/>
          </p:nvSpPr>
          <p:spPr bwMode="auto">
            <a:xfrm>
              <a:off x="2108" y="1669"/>
              <a:ext cx="681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计划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47" name="Text Box 13"/>
            <p:cNvSpPr txBox="1">
              <a:spLocks noChangeArrowheads="1"/>
            </p:cNvSpPr>
            <p:nvPr/>
          </p:nvSpPr>
          <p:spPr bwMode="auto">
            <a:xfrm>
              <a:off x="2789" y="1669"/>
              <a:ext cx="952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销售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48" name="Text Box 14"/>
            <p:cNvSpPr txBox="1">
              <a:spLocks noChangeArrowheads="1"/>
            </p:cNvSpPr>
            <p:nvPr/>
          </p:nvSpPr>
          <p:spPr bwMode="auto">
            <a:xfrm>
              <a:off x="1292" y="1918"/>
              <a:ext cx="816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库存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49" name="Text Box 15"/>
            <p:cNvSpPr txBox="1">
              <a:spLocks noChangeArrowheads="1"/>
            </p:cNvSpPr>
            <p:nvPr/>
          </p:nvSpPr>
          <p:spPr bwMode="auto">
            <a:xfrm>
              <a:off x="2108" y="1918"/>
              <a:ext cx="681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财务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50" name="Text Box 16"/>
            <p:cNvSpPr txBox="1">
              <a:spLocks noChangeArrowheads="1"/>
            </p:cNvSpPr>
            <p:nvPr/>
          </p:nvSpPr>
          <p:spPr bwMode="auto">
            <a:xfrm>
              <a:off x="2789" y="1918"/>
              <a:ext cx="952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人力资源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51" name="Text Box 17"/>
            <p:cNvSpPr txBox="1">
              <a:spLocks noChangeArrowheads="1"/>
            </p:cNvSpPr>
            <p:nvPr/>
          </p:nvSpPr>
          <p:spPr bwMode="auto">
            <a:xfrm>
              <a:off x="2517" y="2417"/>
              <a:ext cx="1224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生产调度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52" name="Text Box 18"/>
            <p:cNvSpPr txBox="1">
              <a:spLocks noChangeArrowheads="1"/>
            </p:cNvSpPr>
            <p:nvPr/>
          </p:nvSpPr>
          <p:spPr bwMode="auto">
            <a:xfrm>
              <a:off x="1292" y="2417"/>
              <a:ext cx="1225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工艺设计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53" name="Text Box 19"/>
            <p:cNvSpPr txBox="1">
              <a:spLocks noChangeArrowheads="1"/>
            </p:cNvSpPr>
            <p:nvPr/>
          </p:nvSpPr>
          <p:spPr bwMode="auto">
            <a:xfrm>
              <a:off x="2517" y="2667"/>
              <a:ext cx="1224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成本核算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54" name="Text Box 20"/>
            <p:cNvSpPr txBox="1">
              <a:spLocks noChangeArrowheads="1"/>
            </p:cNvSpPr>
            <p:nvPr/>
          </p:nvSpPr>
          <p:spPr bwMode="auto">
            <a:xfrm>
              <a:off x="1292" y="2667"/>
              <a:ext cx="1225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质量管理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55" name="Text Box 21"/>
            <p:cNvSpPr txBox="1">
              <a:spLocks noChangeArrowheads="1"/>
            </p:cNvSpPr>
            <p:nvPr/>
          </p:nvSpPr>
          <p:spPr bwMode="auto">
            <a:xfrm>
              <a:off x="1292" y="3166"/>
              <a:ext cx="1225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生产过程监控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2517" y="3166"/>
              <a:ext cx="1224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生产数据采集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57" name="Rectangle 23"/>
            <p:cNvSpPr>
              <a:spLocks noChangeArrowheads="1"/>
            </p:cNvSpPr>
            <p:nvPr/>
          </p:nvSpPr>
          <p:spPr bwMode="auto">
            <a:xfrm>
              <a:off x="1292" y="1253"/>
              <a:ext cx="4083" cy="21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8" name="Line 24"/>
            <p:cNvSpPr>
              <a:spLocks noChangeShapeType="1"/>
            </p:cNvSpPr>
            <p:nvPr/>
          </p:nvSpPr>
          <p:spPr bwMode="auto">
            <a:xfrm>
              <a:off x="1292" y="1586"/>
              <a:ext cx="4083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>
              <a:off x="1292" y="2251"/>
              <a:ext cx="4083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>
              <a:off x="1292" y="3082"/>
              <a:ext cx="4083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sp>
        <p:nvSpPr>
          <p:cNvPr id="61" name="Text Box 367"/>
          <p:cNvSpPr txBox="1">
            <a:spLocks noChangeArrowheads="1"/>
          </p:cNvSpPr>
          <p:nvPr/>
        </p:nvSpPr>
        <p:spPr bwMode="auto">
          <a:xfrm>
            <a:off x="2192880" y="5691005"/>
            <a:ext cx="4701341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典型生产制造企业的信息系统集成模型</a:t>
            </a:r>
          </a:p>
        </p:txBody>
      </p:sp>
    </p:spTree>
    <p:extLst>
      <p:ext uri="{BB962C8B-B14F-4D97-AF65-F5344CB8AC3E}">
        <p14:creationId xmlns:p14="http://schemas.microsoft.com/office/powerpoint/2010/main" val="8273808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672"/>
            <a:ext cx="7913687" cy="549275"/>
          </a:xfrm>
        </p:spPr>
        <p:txBody>
          <a:bodyPr/>
          <a:lstStyle/>
          <a:p>
            <a:pPr eaLnBrk="1" hangingPunct="1"/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1.3 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企业信息系统集成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98308" name="矩形 1"/>
          <p:cNvSpPr>
            <a:spLocks noChangeArrowheads="1"/>
          </p:cNvSpPr>
          <p:nvPr/>
        </p:nvSpPr>
        <p:spPr bwMode="auto">
          <a:xfrm>
            <a:off x="745636" y="1413520"/>
            <a:ext cx="40047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latin typeface="Times New Roman" panose="02020603050405020304" pitchFamily="18" charset="0"/>
              </a:rPr>
              <a:t>企业信息系统结构模型</a:t>
            </a:r>
            <a:endParaRPr lang="zh-CN" altLang="en-US" dirty="0"/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745636" y="2064415"/>
            <a:ext cx="3743325" cy="3266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0" kern="0" dirty="0"/>
              <a:t>管理层与控制层之间存在着巨大的鸿沟</a:t>
            </a:r>
          </a:p>
          <a:p>
            <a:pPr>
              <a:lnSpc>
                <a:spcPct val="150000"/>
              </a:lnSpc>
            </a:pPr>
            <a:r>
              <a:rPr lang="zh-CN" altLang="en-US" sz="2400" b="0" kern="0" dirty="0"/>
              <a:t>复杂生产过程的管理</a:t>
            </a:r>
          </a:p>
          <a:p>
            <a:pPr>
              <a:lnSpc>
                <a:spcPct val="150000"/>
              </a:lnSpc>
            </a:pPr>
            <a:r>
              <a:rPr lang="zh-CN" altLang="en-US" sz="2400" b="0" kern="0" dirty="0"/>
              <a:t>人工系统→计算机系统</a:t>
            </a:r>
          </a:p>
        </p:txBody>
      </p:sp>
      <p:sp>
        <p:nvSpPr>
          <p:cNvPr id="30" name="AutoShape 4"/>
          <p:cNvSpPr>
            <a:spLocks noChangeArrowheads="1"/>
          </p:cNvSpPr>
          <p:nvPr/>
        </p:nvSpPr>
        <p:spPr bwMode="auto">
          <a:xfrm>
            <a:off x="5940102" y="3748112"/>
            <a:ext cx="1223963" cy="719138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r>
              <a:rPr lang="en-US" altLang="zh-CN" sz="1800" dirty="0">
                <a:ea typeface="宋体" panose="02010600030101010101" pitchFamily="2" charset="-122"/>
              </a:rPr>
              <a:t>MES</a:t>
            </a:r>
            <a:r>
              <a:rPr lang="zh-CN" altLang="en-US" sz="1800" dirty="0">
                <a:ea typeface="宋体" panose="02010600030101010101" pitchFamily="2" charset="-122"/>
              </a:rPr>
              <a:t>系统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6227440" y="2955950"/>
            <a:ext cx="215900" cy="863600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1800"/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6768777" y="3163912"/>
            <a:ext cx="125888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宋体" panose="02010600030101010101" pitchFamily="2" charset="-122"/>
              </a:rPr>
              <a:t>订单状况</a:t>
            </a:r>
          </a:p>
        </p:txBody>
      </p:sp>
      <p:sp>
        <p:nvSpPr>
          <p:cNvPr id="33" name="AutoShape 7"/>
          <p:cNvSpPr>
            <a:spLocks noChangeArrowheads="1"/>
          </p:cNvSpPr>
          <p:nvPr/>
        </p:nvSpPr>
        <p:spPr bwMode="auto">
          <a:xfrm>
            <a:off x="6659240" y="2955950"/>
            <a:ext cx="215900" cy="863600"/>
          </a:xfrm>
          <a:prstGeom prst="upArrow">
            <a:avLst>
              <a:gd name="adj1" fmla="val 50000"/>
              <a:gd name="adj2" fmla="val 10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1800"/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5184452" y="3171850"/>
            <a:ext cx="125888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>
                <a:ea typeface="宋体" panose="02010600030101010101" pitchFamily="2" charset="-122"/>
              </a:rPr>
              <a:t>生产订单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4932040" y="4029100"/>
            <a:ext cx="100806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66FF"/>
                </a:solidFill>
                <a:ea typeface="宋体" panose="02010600030101010101" pitchFamily="2" charset="-122"/>
              </a:rPr>
              <a:t>执行层</a:t>
            </a:r>
          </a:p>
        </p:txBody>
      </p:sp>
      <p:grpSp>
        <p:nvGrpSpPr>
          <p:cNvPr id="36" name="Group 10"/>
          <p:cNvGrpSpPr>
            <a:grpSpLocks/>
          </p:cNvGrpSpPr>
          <p:nvPr/>
        </p:nvGrpSpPr>
        <p:grpSpPr bwMode="auto">
          <a:xfrm>
            <a:off x="4932040" y="2235225"/>
            <a:ext cx="2232025" cy="3744912"/>
            <a:chOff x="3969" y="1026"/>
            <a:chExt cx="1406" cy="2359"/>
          </a:xfrm>
        </p:grpSpPr>
        <p:sp>
          <p:nvSpPr>
            <p:cNvPr id="37" name="AutoShape 11"/>
            <p:cNvSpPr>
              <a:spLocks noChangeArrowheads="1"/>
            </p:cNvSpPr>
            <p:nvPr/>
          </p:nvSpPr>
          <p:spPr bwMode="auto">
            <a:xfrm>
              <a:off x="4604" y="1026"/>
              <a:ext cx="771" cy="453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r>
                <a:rPr lang="en-US" altLang="zh-CN" sz="1800" dirty="0">
                  <a:ea typeface="宋体" panose="02010600030101010101" pitchFamily="2" charset="-122"/>
                </a:rPr>
                <a:t>ERP</a:t>
              </a:r>
              <a:r>
                <a:rPr lang="zh-CN" altLang="en-US" sz="1800" dirty="0">
                  <a:ea typeface="宋体" panose="02010600030101010101" pitchFamily="2" charset="-122"/>
                </a:rPr>
                <a:t>系统</a:t>
              </a:r>
            </a:p>
          </p:txBody>
        </p:sp>
        <p:sp>
          <p:nvSpPr>
            <p:cNvPr id="38" name="Text Box 12"/>
            <p:cNvSpPr txBox="1">
              <a:spLocks noChangeArrowheads="1"/>
            </p:cNvSpPr>
            <p:nvPr/>
          </p:nvSpPr>
          <p:spPr bwMode="auto">
            <a:xfrm>
              <a:off x="3969" y="1203"/>
              <a:ext cx="635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1D4C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0066FF"/>
                  </a:solidFill>
                  <a:ea typeface="宋体" panose="02010600030101010101" pitchFamily="2" charset="-122"/>
                </a:rPr>
                <a:t>计划层</a:t>
              </a:r>
            </a:p>
          </p:txBody>
        </p:sp>
        <p:sp>
          <p:nvSpPr>
            <p:cNvPr id="39" name="AutoShape 13"/>
            <p:cNvSpPr>
              <a:spLocks noChangeArrowheads="1"/>
            </p:cNvSpPr>
            <p:nvPr/>
          </p:nvSpPr>
          <p:spPr bwMode="auto">
            <a:xfrm>
              <a:off x="4604" y="2932"/>
              <a:ext cx="771" cy="453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PCS</a:t>
              </a:r>
              <a:r>
                <a:rPr lang="zh-CN" altLang="en-US" sz="1800">
                  <a:ea typeface="宋体" panose="02010600030101010101" pitchFamily="2" charset="-122"/>
                </a:rPr>
                <a:t>系统</a:t>
              </a:r>
            </a:p>
          </p:txBody>
        </p:sp>
        <p:sp>
          <p:nvSpPr>
            <p:cNvPr id="62" name="Text Box 14"/>
            <p:cNvSpPr txBox="1">
              <a:spLocks noChangeArrowheads="1"/>
            </p:cNvSpPr>
            <p:nvPr/>
          </p:nvSpPr>
          <p:spPr bwMode="auto">
            <a:xfrm>
              <a:off x="3969" y="3109"/>
              <a:ext cx="635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1D4C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0066FF"/>
                  </a:solidFill>
                  <a:ea typeface="宋体" panose="02010600030101010101" pitchFamily="2" charset="-122"/>
                </a:rPr>
                <a:t>控制层</a:t>
              </a:r>
            </a:p>
          </p:txBody>
        </p:sp>
      </p:grpSp>
      <p:sp>
        <p:nvSpPr>
          <p:cNvPr id="63" name="AutoShape 15"/>
          <p:cNvSpPr>
            <a:spLocks noChangeArrowheads="1"/>
          </p:cNvSpPr>
          <p:nvPr/>
        </p:nvSpPr>
        <p:spPr bwMode="auto">
          <a:xfrm>
            <a:off x="6227440" y="4467250"/>
            <a:ext cx="215900" cy="863600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1800"/>
          </a:p>
        </p:txBody>
      </p:sp>
      <p:sp>
        <p:nvSpPr>
          <p:cNvPr id="64" name="Text Box 16"/>
          <p:cNvSpPr txBox="1">
            <a:spLocks noChangeArrowheads="1"/>
          </p:cNvSpPr>
          <p:nvPr/>
        </p:nvSpPr>
        <p:spPr bwMode="auto">
          <a:xfrm>
            <a:off x="6768777" y="4675212"/>
            <a:ext cx="125888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ea typeface="宋体" panose="02010600030101010101" pitchFamily="2" charset="-122"/>
              </a:rPr>
              <a:t>生产数据</a:t>
            </a:r>
          </a:p>
        </p:txBody>
      </p:sp>
      <p:sp>
        <p:nvSpPr>
          <p:cNvPr id="65" name="AutoShape 17"/>
          <p:cNvSpPr>
            <a:spLocks noChangeArrowheads="1"/>
          </p:cNvSpPr>
          <p:nvPr/>
        </p:nvSpPr>
        <p:spPr bwMode="auto">
          <a:xfrm>
            <a:off x="6659240" y="4467250"/>
            <a:ext cx="215900" cy="863600"/>
          </a:xfrm>
          <a:prstGeom prst="upArrow">
            <a:avLst>
              <a:gd name="adj1" fmla="val 50000"/>
              <a:gd name="adj2" fmla="val 10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1800"/>
          </a:p>
        </p:txBody>
      </p:sp>
      <p:sp>
        <p:nvSpPr>
          <p:cNvPr id="66" name="Text Box 18"/>
          <p:cNvSpPr txBox="1">
            <a:spLocks noChangeArrowheads="1"/>
          </p:cNvSpPr>
          <p:nvPr/>
        </p:nvSpPr>
        <p:spPr bwMode="auto">
          <a:xfrm>
            <a:off x="5184452" y="4683150"/>
            <a:ext cx="125888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D4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1800">
                <a:ea typeface="宋体" panose="02010600030101010101" pitchFamily="2" charset="-122"/>
              </a:rPr>
              <a:t>生产指令</a:t>
            </a:r>
          </a:p>
        </p:txBody>
      </p:sp>
      <p:sp>
        <p:nvSpPr>
          <p:cNvPr id="20" name="动作按钮: 前进或下一项 19">
            <a:hlinkClick r:id="rId2" action="ppaction://hlinksldjump" highlightClick="1"/>
          </p:cNvPr>
          <p:cNvSpPr/>
          <p:nvPr/>
        </p:nvSpPr>
        <p:spPr>
          <a:xfrm>
            <a:off x="8100392" y="6093296"/>
            <a:ext cx="864096" cy="647526"/>
          </a:xfrm>
          <a:prstGeom prst="actionButtonForwardNext">
            <a:avLst/>
          </a:prstGeom>
          <a:solidFill>
            <a:srgbClr val="CC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4575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/>
      <p:bldP spid="34" grpId="0"/>
      <p:bldP spid="35" grpId="0"/>
      <p:bldP spid="64" grpId="0"/>
      <p:bldP spid="6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AutoShape 2"/>
          <p:cNvSpPr>
            <a:spLocks noChangeArrowheads="1"/>
          </p:cNvSpPr>
          <p:nvPr/>
        </p:nvSpPr>
        <p:spPr bwMode="auto">
          <a:xfrm>
            <a:off x="2220913" y="2054671"/>
            <a:ext cx="1358900" cy="825500"/>
          </a:xfrm>
          <a:prstGeom prst="rightArrow">
            <a:avLst>
              <a:gd name="adj1" fmla="val 75009"/>
              <a:gd name="adj2" fmla="val 82483"/>
            </a:avLst>
          </a:prstGeom>
          <a:gradFill rotWithShape="0">
            <a:gsLst>
              <a:gs pos="0">
                <a:srgbClr val="FF6600"/>
              </a:gs>
              <a:gs pos="100000">
                <a:srgbClr val="FF6600">
                  <a:gamma/>
                  <a:shade val="66667"/>
                  <a:invGamma/>
                </a:srgbClr>
              </a:gs>
            </a:gsLst>
            <a:lin ang="0" scaled="1"/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物料</a:t>
            </a:r>
          </a:p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计划</a:t>
            </a:r>
          </a:p>
        </p:txBody>
      </p:sp>
      <p:sp>
        <p:nvSpPr>
          <p:cNvPr id="200707" name="AutoShape 3"/>
          <p:cNvSpPr>
            <a:spLocks noChangeArrowheads="1"/>
          </p:cNvSpPr>
          <p:nvPr/>
        </p:nvSpPr>
        <p:spPr bwMode="auto">
          <a:xfrm>
            <a:off x="3643313" y="2068959"/>
            <a:ext cx="1358900" cy="825500"/>
          </a:xfrm>
          <a:prstGeom prst="rightArrow">
            <a:avLst>
              <a:gd name="adj1" fmla="val 75009"/>
              <a:gd name="adj2" fmla="val 82483"/>
            </a:avLst>
          </a:prstGeom>
          <a:gradFill rotWithShape="0">
            <a:gsLst>
              <a:gs pos="0">
                <a:srgbClr val="FF6600"/>
              </a:gs>
              <a:gs pos="100000">
                <a:srgbClr val="FF6600">
                  <a:gamma/>
                  <a:shade val="66667"/>
                  <a:invGamma/>
                </a:srgbClr>
              </a:gs>
            </a:gsLst>
            <a:lin ang="0" scaled="1"/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生产</a:t>
            </a:r>
          </a:p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计划</a:t>
            </a:r>
          </a:p>
        </p:txBody>
      </p:sp>
      <p:sp>
        <p:nvSpPr>
          <p:cNvPr id="200708" name="AutoShape 4"/>
          <p:cNvSpPr>
            <a:spLocks noChangeArrowheads="1"/>
          </p:cNvSpPr>
          <p:nvPr/>
        </p:nvSpPr>
        <p:spPr bwMode="auto">
          <a:xfrm>
            <a:off x="5116513" y="2054671"/>
            <a:ext cx="1358900" cy="825500"/>
          </a:xfrm>
          <a:prstGeom prst="rightArrow">
            <a:avLst>
              <a:gd name="adj1" fmla="val 75009"/>
              <a:gd name="adj2" fmla="val 82483"/>
            </a:avLst>
          </a:prstGeom>
          <a:gradFill rotWithShape="0">
            <a:gsLst>
              <a:gs pos="0">
                <a:srgbClr val="FF6600"/>
              </a:gs>
              <a:gs pos="100000">
                <a:srgbClr val="FF6600">
                  <a:gamma/>
                  <a:shade val="66667"/>
                  <a:invGamma/>
                </a:srgbClr>
              </a:gs>
            </a:gsLst>
            <a:lin ang="0" scaled="1"/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销售</a:t>
            </a:r>
          </a:p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市场预测</a:t>
            </a:r>
          </a:p>
        </p:txBody>
      </p:sp>
      <p:sp>
        <p:nvSpPr>
          <p:cNvPr id="200709" name="AutoShape 5"/>
          <p:cNvSpPr>
            <a:spLocks noChangeArrowheads="1"/>
          </p:cNvSpPr>
          <p:nvPr/>
        </p:nvSpPr>
        <p:spPr bwMode="auto">
          <a:xfrm>
            <a:off x="6564313" y="2054671"/>
            <a:ext cx="1358900" cy="825500"/>
          </a:xfrm>
          <a:prstGeom prst="rightArrow">
            <a:avLst>
              <a:gd name="adj1" fmla="val 75009"/>
              <a:gd name="adj2" fmla="val 82483"/>
            </a:avLst>
          </a:prstGeom>
          <a:gradFill rotWithShape="0">
            <a:gsLst>
              <a:gs pos="0">
                <a:srgbClr val="FF6600"/>
              </a:gs>
              <a:gs pos="100000">
                <a:srgbClr val="FF6600">
                  <a:gamma/>
                  <a:shade val="66667"/>
                  <a:invGamma/>
                </a:srgbClr>
              </a:gs>
            </a:gsLst>
            <a:lin ang="0" scaled="1"/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分销</a:t>
            </a:r>
          </a:p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管理</a:t>
            </a:r>
          </a:p>
        </p:txBody>
      </p:sp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2220913" y="3034159"/>
            <a:ext cx="1054100" cy="684212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7843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采购</a:t>
            </a:r>
          </a:p>
        </p:txBody>
      </p:sp>
      <p:sp>
        <p:nvSpPr>
          <p:cNvPr id="200711" name="Rectangle 7"/>
          <p:cNvSpPr>
            <a:spLocks noChangeArrowheads="1"/>
          </p:cNvSpPr>
          <p:nvPr/>
        </p:nvSpPr>
        <p:spPr bwMode="auto">
          <a:xfrm>
            <a:off x="3744913" y="3034159"/>
            <a:ext cx="1054100" cy="684212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7843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车间</a:t>
            </a:r>
          </a:p>
          <a:p>
            <a:pPr algn="ctr"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控制</a:t>
            </a:r>
          </a:p>
        </p:txBody>
      </p:sp>
      <p:sp>
        <p:nvSpPr>
          <p:cNvPr id="200712" name="Rectangle 8"/>
          <p:cNvSpPr>
            <a:spLocks noChangeArrowheads="1"/>
          </p:cNvSpPr>
          <p:nvPr/>
        </p:nvSpPr>
        <p:spPr bwMode="auto">
          <a:xfrm>
            <a:off x="5268913" y="3034159"/>
            <a:ext cx="1054100" cy="684212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7843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销售</a:t>
            </a:r>
          </a:p>
          <a:p>
            <a:pPr algn="ctr"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定单</a:t>
            </a:r>
          </a:p>
        </p:txBody>
      </p:sp>
      <p:sp>
        <p:nvSpPr>
          <p:cNvPr id="200713" name="Rectangle 9"/>
          <p:cNvSpPr>
            <a:spLocks noChangeArrowheads="1"/>
          </p:cNvSpPr>
          <p:nvPr/>
        </p:nvSpPr>
        <p:spPr bwMode="auto">
          <a:xfrm>
            <a:off x="6792913" y="3034159"/>
            <a:ext cx="1054100" cy="684212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7843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分销</a:t>
            </a:r>
          </a:p>
        </p:txBody>
      </p:sp>
      <p:sp>
        <p:nvSpPr>
          <p:cNvPr id="200714" name="Rectangle 10"/>
          <p:cNvSpPr>
            <a:spLocks noChangeArrowheads="1"/>
          </p:cNvSpPr>
          <p:nvPr/>
        </p:nvSpPr>
        <p:spPr bwMode="auto">
          <a:xfrm>
            <a:off x="2189163" y="3943796"/>
            <a:ext cx="5626100" cy="469900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7843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defRPr/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库存</a:t>
            </a:r>
          </a:p>
        </p:txBody>
      </p:sp>
      <p:sp>
        <p:nvSpPr>
          <p:cNvPr id="200715" name="Rectangle 11"/>
          <p:cNvSpPr>
            <a:spLocks noChangeArrowheads="1"/>
          </p:cNvSpPr>
          <p:nvPr/>
        </p:nvSpPr>
        <p:spPr bwMode="auto">
          <a:xfrm>
            <a:off x="2220913" y="4739134"/>
            <a:ext cx="5626100" cy="427037"/>
          </a:xfrm>
          <a:prstGeom prst="rect">
            <a:avLst/>
          </a:prstGeom>
          <a:gradFill rotWithShape="0">
            <a:gsLst>
              <a:gs pos="0">
                <a:srgbClr val="6666FF"/>
              </a:gs>
              <a:gs pos="100000">
                <a:srgbClr val="6666FF">
                  <a:gamma/>
                  <a:shade val="60784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数据</a:t>
            </a:r>
          </a:p>
        </p:txBody>
      </p:sp>
      <p:sp>
        <p:nvSpPr>
          <p:cNvPr id="200716" name="Rectangle 12"/>
          <p:cNvSpPr>
            <a:spLocks noChangeArrowheads="1"/>
          </p:cNvSpPr>
          <p:nvPr/>
        </p:nvSpPr>
        <p:spPr bwMode="auto">
          <a:xfrm>
            <a:off x="681038" y="2210246"/>
            <a:ext cx="938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计划</a:t>
            </a:r>
          </a:p>
        </p:txBody>
      </p:sp>
      <p:sp>
        <p:nvSpPr>
          <p:cNvPr id="200717" name="Rectangle 13"/>
          <p:cNvSpPr>
            <a:spLocks noChangeArrowheads="1"/>
          </p:cNvSpPr>
          <p:nvPr/>
        </p:nvSpPr>
        <p:spPr bwMode="auto">
          <a:xfrm>
            <a:off x="666750" y="3567559"/>
            <a:ext cx="1000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执行</a:t>
            </a:r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>
            <a:off x="3305175" y="3419921"/>
            <a:ext cx="42703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>
            <a:off x="4829175" y="3419921"/>
            <a:ext cx="42703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>
            <a:off x="6353175" y="3419921"/>
            <a:ext cx="42703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3" name="AutoShape 17"/>
          <p:cNvSpPr>
            <a:spLocks noChangeArrowheads="1"/>
          </p:cNvSpPr>
          <p:nvPr/>
        </p:nvSpPr>
        <p:spPr bwMode="auto">
          <a:xfrm flipH="1">
            <a:off x="2771775" y="3807271"/>
            <a:ext cx="215900" cy="901700"/>
          </a:xfrm>
          <a:prstGeom prst="downArrow">
            <a:avLst>
              <a:gd name="adj1" fmla="val 50000"/>
              <a:gd name="adj2" fmla="val 209268"/>
            </a:avLst>
          </a:prstGeom>
          <a:gradFill rotWithShape="0">
            <a:gsLst>
              <a:gs pos="0">
                <a:srgbClr val="008080"/>
              </a:gs>
              <a:gs pos="100000">
                <a:srgbClr val="007070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9714" name="AutoShape 18"/>
          <p:cNvSpPr>
            <a:spLocks noChangeArrowheads="1"/>
          </p:cNvSpPr>
          <p:nvPr/>
        </p:nvSpPr>
        <p:spPr bwMode="auto">
          <a:xfrm flipH="1">
            <a:off x="4125913" y="3807271"/>
            <a:ext cx="215900" cy="901700"/>
          </a:xfrm>
          <a:prstGeom prst="downArrow">
            <a:avLst>
              <a:gd name="adj1" fmla="val 50000"/>
              <a:gd name="adj2" fmla="val 209268"/>
            </a:avLst>
          </a:prstGeom>
          <a:gradFill rotWithShape="0">
            <a:gsLst>
              <a:gs pos="0">
                <a:srgbClr val="008080"/>
              </a:gs>
              <a:gs pos="100000">
                <a:srgbClr val="007070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9715" name="AutoShape 19"/>
          <p:cNvSpPr>
            <a:spLocks noChangeArrowheads="1"/>
          </p:cNvSpPr>
          <p:nvPr/>
        </p:nvSpPr>
        <p:spPr bwMode="auto">
          <a:xfrm flipH="1">
            <a:off x="5726113" y="3807271"/>
            <a:ext cx="215900" cy="901700"/>
          </a:xfrm>
          <a:prstGeom prst="downArrow">
            <a:avLst>
              <a:gd name="adj1" fmla="val 50000"/>
              <a:gd name="adj2" fmla="val 209268"/>
            </a:avLst>
          </a:prstGeom>
          <a:gradFill rotWithShape="0">
            <a:gsLst>
              <a:gs pos="0">
                <a:srgbClr val="008080"/>
              </a:gs>
              <a:gs pos="100000">
                <a:srgbClr val="007070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9716" name="AutoShape 20"/>
          <p:cNvSpPr>
            <a:spLocks noChangeArrowheads="1"/>
          </p:cNvSpPr>
          <p:nvPr/>
        </p:nvSpPr>
        <p:spPr bwMode="auto">
          <a:xfrm flipH="1">
            <a:off x="7173913" y="3807271"/>
            <a:ext cx="215900" cy="901700"/>
          </a:xfrm>
          <a:prstGeom prst="downArrow">
            <a:avLst>
              <a:gd name="adj1" fmla="val 50000"/>
              <a:gd name="adj2" fmla="val 209268"/>
            </a:avLst>
          </a:prstGeom>
          <a:gradFill rotWithShape="0">
            <a:gsLst>
              <a:gs pos="0">
                <a:srgbClr val="008080"/>
              </a:gs>
              <a:gs pos="100000">
                <a:srgbClr val="007070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9717" name="AutoShape 21"/>
          <p:cNvSpPr>
            <a:spLocks noChangeArrowheads="1"/>
          </p:cNvSpPr>
          <p:nvPr/>
        </p:nvSpPr>
        <p:spPr bwMode="auto">
          <a:xfrm flipH="1">
            <a:off x="4430713" y="5255071"/>
            <a:ext cx="1206500" cy="215900"/>
          </a:xfrm>
          <a:prstGeom prst="downArrow">
            <a:avLst>
              <a:gd name="adj1" fmla="val 75009"/>
              <a:gd name="adj2" fmla="val 50106"/>
            </a:avLst>
          </a:prstGeom>
          <a:gradFill rotWithShape="0">
            <a:gsLst>
              <a:gs pos="0">
                <a:srgbClr val="6666FF"/>
              </a:gs>
              <a:gs pos="100000">
                <a:srgbClr val="3E3E9B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00726" name="Rectangle 22"/>
          <p:cNvSpPr>
            <a:spLocks noChangeArrowheads="1"/>
          </p:cNvSpPr>
          <p:nvPr/>
        </p:nvSpPr>
        <p:spPr bwMode="auto">
          <a:xfrm>
            <a:off x="2209800" y="6009134"/>
            <a:ext cx="1760538" cy="587375"/>
          </a:xfrm>
          <a:prstGeom prst="rect">
            <a:avLst/>
          </a:prstGeom>
          <a:gradFill rotWithShape="0">
            <a:gsLst>
              <a:gs pos="0">
                <a:srgbClr val="990033"/>
              </a:gs>
              <a:gs pos="100000">
                <a:srgbClr val="990033">
                  <a:gamma/>
                  <a:shade val="84706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173038" indent="-173038">
              <a:buSzPct val="50000"/>
              <a:buFont typeface="Wingdings" pitchFamily="2" charset="2"/>
              <a:buChar char="n"/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总帐</a:t>
            </a:r>
          </a:p>
          <a:p>
            <a:pPr marL="173038" indent="-173038">
              <a:buSzPct val="50000"/>
              <a:buFont typeface="Wingdings" pitchFamily="2" charset="2"/>
              <a:buChar char="n"/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应收帐, 应付帐</a:t>
            </a:r>
          </a:p>
        </p:txBody>
      </p:sp>
      <p:sp>
        <p:nvSpPr>
          <p:cNvPr id="200727" name="Rectangle 23"/>
          <p:cNvSpPr>
            <a:spLocks noChangeArrowheads="1"/>
          </p:cNvSpPr>
          <p:nvPr/>
        </p:nvSpPr>
        <p:spPr bwMode="auto">
          <a:xfrm>
            <a:off x="5934075" y="6009134"/>
            <a:ext cx="1914525" cy="587375"/>
          </a:xfrm>
          <a:prstGeom prst="rect">
            <a:avLst/>
          </a:prstGeom>
          <a:gradFill rotWithShape="0">
            <a:gsLst>
              <a:gs pos="0">
                <a:srgbClr val="990033"/>
              </a:gs>
              <a:gs pos="100000">
                <a:srgbClr val="990033">
                  <a:gamma/>
                  <a:shade val="84706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230188" indent="-230188">
              <a:buSzPct val="50000"/>
              <a:buFont typeface="Wingdings" pitchFamily="2" charset="2"/>
              <a:buChar char="n"/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合并报表</a:t>
            </a:r>
          </a:p>
          <a:p>
            <a:pPr marL="230188" indent="-230188">
              <a:buSzPct val="50000"/>
              <a:buFont typeface="Wingdings" pitchFamily="2" charset="2"/>
              <a:buChar char="n"/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成本核算</a:t>
            </a:r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1835150" y="3462784"/>
            <a:ext cx="185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>
            <a:off x="1835150" y="4229546"/>
            <a:ext cx="185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2" name="Line 26"/>
          <p:cNvSpPr>
            <a:spLocks noChangeShapeType="1"/>
          </p:cNvSpPr>
          <p:nvPr/>
        </p:nvSpPr>
        <p:spPr bwMode="auto">
          <a:xfrm>
            <a:off x="1835150" y="4986784"/>
            <a:ext cx="185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3" name="Line 27"/>
          <p:cNvSpPr>
            <a:spLocks noChangeShapeType="1"/>
          </p:cNvSpPr>
          <p:nvPr/>
        </p:nvSpPr>
        <p:spPr bwMode="auto">
          <a:xfrm>
            <a:off x="1835150" y="5982146"/>
            <a:ext cx="185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4" name="Line 28"/>
          <p:cNvSpPr>
            <a:spLocks noChangeShapeType="1"/>
          </p:cNvSpPr>
          <p:nvPr/>
        </p:nvSpPr>
        <p:spPr bwMode="auto">
          <a:xfrm>
            <a:off x="1473200" y="2429321"/>
            <a:ext cx="566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3" name="Rectangle 29"/>
          <p:cNvSpPr>
            <a:spLocks noChangeArrowheads="1"/>
          </p:cNvSpPr>
          <p:nvPr/>
        </p:nvSpPr>
        <p:spPr bwMode="auto">
          <a:xfrm>
            <a:off x="2209800" y="5548759"/>
            <a:ext cx="5648325" cy="366712"/>
          </a:xfrm>
          <a:prstGeom prst="rect">
            <a:avLst/>
          </a:prstGeom>
          <a:gradFill rotWithShape="0">
            <a:gsLst>
              <a:gs pos="0">
                <a:srgbClr val="990033"/>
              </a:gs>
              <a:gs pos="100000">
                <a:srgbClr val="990033">
                  <a:gamma/>
                  <a:shade val="84706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财务管理</a:t>
            </a:r>
          </a:p>
        </p:txBody>
      </p:sp>
      <p:sp>
        <p:nvSpPr>
          <p:cNvPr id="200734" name="Rectangle 30"/>
          <p:cNvSpPr>
            <a:spLocks noChangeArrowheads="1"/>
          </p:cNvSpPr>
          <p:nvPr/>
        </p:nvSpPr>
        <p:spPr bwMode="auto">
          <a:xfrm>
            <a:off x="3943350" y="6010721"/>
            <a:ext cx="1990725" cy="587375"/>
          </a:xfrm>
          <a:prstGeom prst="rect">
            <a:avLst/>
          </a:prstGeom>
          <a:gradFill rotWithShape="0">
            <a:gsLst>
              <a:gs pos="0">
                <a:srgbClr val="990033"/>
              </a:gs>
              <a:gs pos="100000">
                <a:srgbClr val="990033">
                  <a:gamma/>
                  <a:shade val="84706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230188" indent="-230188">
              <a:buSzPct val="50000"/>
              <a:buFont typeface="Wingdings" pitchFamily="2" charset="2"/>
              <a:buChar char="n"/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固定资产</a:t>
            </a:r>
          </a:p>
          <a:p>
            <a:pPr marL="230188" indent="-230188">
              <a:buSzPct val="50000"/>
              <a:buFont typeface="Wingdings" pitchFamily="2" charset="2"/>
              <a:buChar char="n"/>
              <a:defRPr/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业绩考核</a:t>
            </a:r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1455738" y="5509071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>
            <a:off x="1833563" y="3450084"/>
            <a:ext cx="0" cy="795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1833563" y="4974084"/>
            <a:ext cx="0" cy="1023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0" name="Line 34"/>
          <p:cNvSpPr>
            <a:spLocks noChangeShapeType="1"/>
          </p:cNvSpPr>
          <p:nvPr/>
        </p:nvSpPr>
        <p:spPr bwMode="auto">
          <a:xfrm flipV="1">
            <a:off x="1455738" y="3829496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9" name="Rectangle 35"/>
          <p:cNvSpPr>
            <a:spLocks noChangeArrowheads="1"/>
          </p:cNvSpPr>
          <p:nvPr/>
        </p:nvSpPr>
        <p:spPr bwMode="auto">
          <a:xfrm>
            <a:off x="669925" y="5066159"/>
            <a:ext cx="1014413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报表</a:t>
            </a:r>
          </a:p>
          <a:p>
            <a:pPr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生成 </a:t>
            </a:r>
          </a:p>
        </p:txBody>
      </p:sp>
      <p:sp>
        <p:nvSpPr>
          <p:cNvPr id="29732" name="Rectangle 37"/>
          <p:cNvSpPr>
            <a:spLocks noGrp="1" noChangeArrowheads="1"/>
          </p:cNvSpPr>
          <p:nvPr>
            <p:ph type="title"/>
          </p:nvPr>
        </p:nvSpPr>
        <p:spPr>
          <a:xfrm>
            <a:off x="125771" y="1173609"/>
            <a:ext cx="3828333" cy="549275"/>
          </a:xfrm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 ERP</a:t>
            </a:r>
            <a:r>
              <a:rPr lang="zh-CN" altLang="en-US" sz="2400" dirty="0">
                <a:solidFill>
                  <a:schemeClr val="tx1"/>
                </a:solidFill>
              </a:rPr>
              <a:t>系统整体架构</a:t>
            </a:r>
          </a:p>
        </p:txBody>
      </p:sp>
      <p:sp>
        <p:nvSpPr>
          <p:cNvPr id="38" name="Rectangle 2"/>
          <p:cNvSpPr txBox="1">
            <a:spLocks noChangeArrowheads="1"/>
          </p:cNvSpPr>
          <p:nvPr/>
        </p:nvSpPr>
        <p:spPr bwMode="auto">
          <a:xfrm>
            <a:off x="611188" y="476672"/>
            <a:ext cx="791368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kern="0" dirty="0">
                <a:latin typeface="Times New Roman" panose="02020603050405020304" pitchFamily="18" charset="0"/>
              </a:rPr>
              <a:t>信息系统集成案例</a:t>
            </a:r>
            <a:endParaRPr lang="zh-CN" altLang="en-US" sz="2800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688077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2"/>
          <p:cNvSpPr>
            <a:spLocks noChangeArrowheads="1"/>
          </p:cNvSpPr>
          <p:nvPr/>
        </p:nvSpPr>
        <p:spPr bwMode="auto">
          <a:xfrm>
            <a:off x="417513" y="2384425"/>
            <a:ext cx="1909762" cy="860425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rgbClr val="009900"/>
              </a:gs>
              <a:gs pos="100000">
                <a:srgbClr val="007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442913" y="2592388"/>
            <a:ext cx="17811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客户定单</a:t>
            </a:r>
          </a:p>
        </p:txBody>
      </p:sp>
      <p:sp>
        <p:nvSpPr>
          <p:cNvPr id="30724" name="AutoShape 5"/>
          <p:cNvSpPr>
            <a:spLocks noChangeArrowheads="1"/>
          </p:cNvSpPr>
          <p:nvPr/>
        </p:nvSpPr>
        <p:spPr bwMode="auto">
          <a:xfrm>
            <a:off x="2481263" y="2628900"/>
            <a:ext cx="593725" cy="357188"/>
          </a:xfrm>
          <a:prstGeom prst="rightArrow">
            <a:avLst>
              <a:gd name="adj1" fmla="val 50000"/>
              <a:gd name="adj2" fmla="val 83226"/>
            </a:avLst>
          </a:prstGeom>
          <a:gradFill rotWithShape="0">
            <a:gsLst>
              <a:gs pos="0">
                <a:srgbClr val="009900"/>
              </a:gs>
              <a:gs pos="100000">
                <a:srgbClr val="0047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201734" name="AutoShape 6"/>
          <p:cNvSpPr>
            <a:spLocks noChangeArrowheads="1"/>
          </p:cNvSpPr>
          <p:nvPr/>
        </p:nvSpPr>
        <p:spPr bwMode="auto">
          <a:xfrm>
            <a:off x="3054350" y="2343150"/>
            <a:ext cx="3270250" cy="933450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726" name="Rectangle 7"/>
          <p:cNvSpPr>
            <a:spLocks noChangeArrowheads="1"/>
          </p:cNvSpPr>
          <p:nvPr/>
        </p:nvSpPr>
        <p:spPr bwMode="auto">
          <a:xfrm>
            <a:off x="3298825" y="2392363"/>
            <a:ext cx="2743200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800">
                <a:latin typeface="宋体" panose="02010600030101010101" pitchFamily="2" charset="-122"/>
              </a:rPr>
              <a:t>制造对象</a:t>
            </a:r>
            <a:r>
              <a:rPr lang="zh-CN" altLang="en-US" sz="1800">
                <a:latin typeface="Times New Roman" panose="02020603050405020304" pitchFamily="18" charset="0"/>
              </a:rPr>
              <a:t>    </a:t>
            </a:r>
            <a:r>
              <a:rPr lang="zh-CN" altLang="en-US" sz="1800">
                <a:latin typeface="宋体" panose="02010600030101010101" pitchFamily="2" charset="-122"/>
              </a:rPr>
              <a:t>制造什么</a:t>
            </a:r>
            <a:r>
              <a:rPr lang="zh-CN" altLang="en-US" sz="18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                    </a:t>
            </a:r>
            <a:r>
              <a:rPr lang="zh-CN" altLang="en-US" sz="1800">
                <a:latin typeface="宋体" panose="02010600030101010101" pitchFamily="2" charset="-122"/>
              </a:rPr>
              <a:t>制造多少</a:t>
            </a:r>
            <a:r>
              <a:rPr lang="zh-CN" altLang="en-US" sz="18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                    </a:t>
            </a:r>
            <a:r>
              <a:rPr lang="zh-CN" altLang="en-US" sz="1800">
                <a:latin typeface="宋体" panose="02010600030101010101" pitchFamily="2" charset="-122"/>
              </a:rPr>
              <a:t>何时制造</a:t>
            </a:r>
            <a:r>
              <a:rPr lang="zh-CN" altLang="en-US" sz="18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30727" name="Rectangle 15"/>
          <p:cNvSpPr>
            <a:spLocks noGrp="1" noChangeArrowheads="1"/>
          </p:cNvSpPr>
          <p:nvPr>
            <p:ph type="title"/>
          </p:nvPr>
        </p:nvSpPr>
        <p:spPr>
          <a:xfrm>
            <a:off x="611560" y="1124744"/>
            <a:ext cx="4225826" cy="549275"/>
          </a:xfrm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ERP</a:t>
            </a:r>
            <a:r>
              <a:rPr lang="zh-CN" altLang="en-US" sz="2400" dirty="0">
                <a:solidFill>
                  <a:schemeClr val="tx1"/>
                </a:solidFill>
              </a:rPr>
              <a:t>驱动的企业信息系统集成</a:t>
            </a:r>
          </a:p>
        </p:txBody>
      </p:sp>
    </p:spTree>
    <p:extLst>
      <p:ext uri="{BB962C8B-B14F-4D97-AF65-F5344CB8AC3E}">
        <p14:creationId xmlns:p14="http://schemas.microsoft.com/office/powerpoint/2010/main" val="92808853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6948488" y="2278063"/>
            <a:ext cx="1914525" cy="2230437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rgbClr val="FFFF00"/>
              </a:gs>
              <a:gs pos="100000">
                <a:srgbClr val="D1D1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AutoShape 3"/>
          <p:cNvSpPr>
            <a:spLocks noChangeArrowheads="1"/>
          </p:cNvSpPr>
          <p:nvPr/>
        </p:nvSpPr>
        <p:spPr bwMode="auto">
          <a:xfrm>
            <a:off x="344488" y="2384425"/>
            <a:ext cx="1909762" cy="860425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rgbClr val="009900"/>
              </a:gs>
              <a:gs pos="100000">
                <a:srgbClr val="007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02756" name="AutoShape 4"/>
          <p:cNvSpPr>
            <a:spLocks noChangeArrowheads="1"/>
          </p:cNvSpPr>
          <p:nvPr/>
        </p:nvSpPr>
        <p:spPr bwMode="auto">
          <a:xfrm>
            <a:off x="6319838" y="2617788"/>
            <a:ext cx="593725" cy="357187"/>
          </a:xfrm>
          <a:prstGeom prst="rightArrow">
            <a:avLst>
              <a:gd name="adj1" fmla="val 50000"/>
              <a:gd name="adj2" fmla="val 83227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7010400" y="2940050"/>
            <a:ext cx="178117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采购定单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生产定单</a:t>
            </a:r>
          </a:p>
        </p:txBody>
      </p:sp>
      <p:sp>
        <p:nvSpPr>
          <p:cNvPr id="202758" name="AutoShape 6"/>
          <p:cNvSpPr>
            <a:spLocks noChangeArrowheads="1"/>
          </p:cNvSpPr>
          <p:nvPr/>
        </p:nvSpPr>
        <p:spPr bwMode="auto">
          <a:xfrm>
            <a:off x="6362700" y="4219575"/>
            <a:ext cx="593725" cy="358775"/>
          </a:xfrm>
          <a:prstGeom prst="rightArrow">
            <a:avLst>
              <a:gd name="adj1" fmla="val 50000"/>
              <a:gd name="adj2" fmla="val 82858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369888" y="2606675"/>
            <a:ext cx="17811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客户定单</a:t>
            </a:r>
          </a:p>
        </p:txBody>
      </p:sp>
      <p:sp>
        <p:nvSpPr>
          <p:cNvPr id="31752" name="AutoShape 8"/>
          <p:cNvSpPr>
            <a:spLocks noChangeArrowheads="1"/>
          </p:cNvSpPr>
          <p:nvPr/>
        </p:nvSpPr>
        <p:spPr bwMode="auto">
          <a:xfrm>
            <a:off x="2436813" y="2628900"/>
            <a:ext cx="593725" cy="357188"/>
          </a:xfrm>
          <a:prstGeom prst="rightArrow">
            <a:avLst>
              <a:gd name="adj1" fmla="val 50000"/>
              <a:gd name="adj2" fmla="val 83226"/>
            </a:avLst>
          </a:prstGeom>
          <a:gradFill rotWithShape="0">
            <a:gsLst>
              <a:gs pos="0">
                <a:srgbClr val="009900"/>
              </a:gs>
              <a:gs pos="100000">
                <a:srgbClr val="0047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202761" name="AutoShape 9"/>
          <p:cNvSpPr>
            <a:spLocks noChangeArrowheads="1"/>
          </p:cNvSpPr>
          <p:nvPr/>
        </p:nvSpPr>
        <p:spPr bwMode="auto">
          <a:xfrm>
            <a:off x="2967038" y="3711575"/>
            <a:ext cx="3240087" cy="1728788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Arial" charset="0"/>
            </a:endParaRP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2889250" y="3835400"/>
            <a:ext cx="3509963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制造资源</a:t>
            </a:r>
            <a:r>
              <a:rPr lang="zh-CN" altLang="en-US" sz="1600">
                <a:latin typeface="Times New Roman" panose="02020603050405020304" pitchFamily="18" charset="0"/>
              </a:rPr>
              <a:t>   </a:t>
            </a:r>
            <a:r>
              <a:rPr lang="zh-CN" altLang="en-US" sz="1600">
                <a:latin typeface="宋体" panose="02010600030101010101" pitchFamily="2" charset="-122"/>
              </a:rPr>
              <a:t>部件和物料需求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资金需求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何时生产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何时采购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人和设备的能力需求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02763" name="AutoShape 11"/>
          <p:cNvSpPr>
            <a:spLocks noChangeArrowheads="1"/>
          </p:cNvSpPr>
          <p:nvPr/>
        </p:nvSpPr>
        <p:spPr bwMode="auto">
          <a:xfrm>
            <a:off x="2981325" y="2343150"/>
            <a:ext cx="3270250" cy="933450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3124200" y="2438400"/>
            <a:ext cx="274320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制造对象</a:t>
            </a:r>
            <a:r>
              <a:rPr lang="zh-CN" altLang="en-US" sz="1600">
                <a:latin typeface="Times New Roman" panose="02020603050405020304" pitchFamily="18" charset="0"/>
              </a:rPr>
              <a:t>    </a:t>
            </a:r>
            <a:r>
              <a:rPr lang="zh-CN" altLang="en-US" sz="1600">
                <a:latin typeface="宋体" panose="02010600030101010101" pitchFamily="2" charset="-122"/>
              </a:rPr>
              <a:t>制造什么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 </a:t>
            </a:r>
            <a:r>
              <a:rPr lang="zh-CN" altLang="en-US" sz="1600">
                <a:latin typeface="宋体" panose="02010600030101010101" pitchFamily="2" charset="-122"/>
              </a:rPr>
              <a:t>制造多少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 </a:t>
            </a:r>
            <a:r>
              <a:rPr lang="zh-CN" altLang="en-US" sz="1600">
                <a:latin typeface="宋体" panose="02010600030101010101" pitchFamily="2" charset="-122"/>
              </a:rPr>
              <a:t>何时制造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02765" name="AutoShape 13"/>
          <p:cNvSpPr>
            <a:spLocks noChangeArrowheads="1"/>
          </p:cNvSpPr>
          <p:nvPr/>
        </p:nvSpPr>
        <p:spPr bwMode="auto">
          <a:xfrm>
            <a:off x="4316413" y="3317875"/>
            <a:ext cx="649287" cy="376238"/>
          </a:xfrm>
          <a:prstGeom prst="downArrow">
            <a:avLst>
              <a:gd name="adj1" fmla="val 50120"/>
              <a:gd name="adj2" fmla="val 4768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Arial" charset="0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title"/>
          </p:nvPr>
        </p:nvSpPr>
        <p:spPr>
          <a:xfrm>
            <a:off x="464443" y="942471"/>
            <a:ext cx="4225826" cy="549275"/>
          </a:xfrm>
        </p:spPr>
        <p:txBody>
          <a:bodyPr/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ERP</a:t>
            </a:r>
            <a:r>
              <a:rPr lang="zh-CN" altLang="en-US" sz="2400" b="1" dirty="0">
                <a:solidFill>
                  <a:schemeClr val="tx1"/>
                </a:solidFill>
              </a:rPr>
              <a:t>驱动的企业信息系统集成</a:t>
            </a:r>
          </a:p>
        </p:txBody>
      </p:sp>
    </p:spTree>
    <p:extLst>
      <p:ext uri="{BB962C8B-B14F-4D97-AF65-F5344CB8AC3E}">
        <p14:creationId xmlns:p14="http://schemas.microsoft.com/office/powerpoint/2010/main" val="3649438914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7812360" y="1823690"/>
            <a:ext cx="173037" cy="533400"/>
          </a:xfrm>
          <a:prstGeom prst="rect">
            <a:avLst/>
          </a:prstGeom>
          <a:gradFill rotWithShape="0">
            <a:gsLst>
              <a:gs pos="0">
                <a:srgbClr val="E8E800"/>
              </a:gs>
              <a:gs pos="100000">
                <a:srgbClr val="FFFF00"/>
              </a:gs>
            </a:gsLst>
            <a:lin ang="540000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2771" name="AutoShape 3"/>
          <p:cNvSpPr>
            <a:spLocks noChangeArrowheads="1"/>
          </p:cNvSpPr>
          <p:nvPr/>
        </p:nvSpPr>
        <p:spPr bwMode="auto">
          <a:xfrm>
            <a:off x="6948488" y="2426940"/>
            <a:ext cx="1914525" cy="2230437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rgbClr val="FFFF00"/>
              </a:gs>
              <a:gs pos="100000">
                <a:srgbClr val="D1D1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AutoShape 4"/>
          <p:cNvSpPr>
            <a:spLocks noChangeArrowheads="1"/>
          </p:cNvSpPr>
          <p:nvPr/>
        </p:nvSpPr>
        <p:spPr bwMode="auto">
          <a:xfrm>
            <a:off x="452438" y="2533302"/>
            <a:ext cx="1909762" cy="860425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rgbClr val="009900"/>
              </a:gs>
              <a:gs pos="100000">
                <a:srgbClr val="007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03781" name="AutoShape 5"/>
          <p:cNvSpPr>
            <a:spLocks noChangeArrowheads="1"/>
          </p:cNvSpPr>
          <p:nvPr/>
        </p:nvSpPr>
        <p:spPr bwMode="auto">
          <a:xfrm>
            <a:off x="2967038" y="3860452"/>
            <a:ext cx="3240087" cy="1728788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Arial" charset="0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2889250" y="3984277"/>
            <a:ext cx="3511550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制造资源</a:t>
            </a:r>
            <a:r>
              <a:rPr lang="zh-CN" altLang="en-US" sz="1600">
                <a:latin typeface="Times New Roman" panose="02020603050405020304" pitchFamily="18" charset="0"/>
              </a:rPr>
              <a:t>   </a:t>
            </a:r>
            <a:r>
              <a:rPr lang="zh-CN" altLang="en-US" sz="1600">
                <a:latin typeface="宋体" panose="02010600030101010101" pitchFamily="2" charset="-122"/>
              </a:rPr>
              <a:t>部件和物料需求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资金需求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何时生产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何时采购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>
                <a:latin typeface="宋体" panose="02010600030101010101" pitchFamily="2" charset="-122"/>
              </a:rPr>
              <a:t>人和设备的能力需求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03783" name="AutoShape 7"/>
          <p:cNvSpPr>
            <a:spLocks noChangeArrowheads="1"/>
          </p:cNvSpPr>
          <p:nvPr/>
        </p:nvSpPr>
        <p:spPr bwMode="auto">
          <a:xfrm>
            <a:off x="6319838" y="2766665"/>
            <a:ext cx="593725" cy="357187"/>
          </a:xfrm>
          <a:prstGeom prst="rightArrow">
            <a:avLst>
              <a:gd name="adj1" fmla="val 50000"/>
              <a:gd name="adj2" fmla="val 83227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7069138" y="3088927"/>
            <a:ext cx="178117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采购定单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生产定单</a:t>
            </a:r>
          </a:p>
        </p:txBody>
      </p:sp>
      <p:sp>
        <p:nvSpPr>
          <p:cNvPr id="203785" name="AutoShape 9"/>
          <p:cNvSpPr>
            <a:spLocks noChangeArrowheads="1"/>
          </p:cNvSpPr>
          <p:nvPr/>
        </p:nvSpPr>
        <p:spPr bwMode="auto">
          <a:xfrm>
            <a:off x="6362700" y="4368452"/>
            <a:ext cx="593725" cy="358775"/>
          </a:xfrm>
          <a:prstGeom prst="rightArrow">
            <a:avLst>
              <a:gd name="adj1" fmla="val 50000"/>
              <a:gd name="adj2" fmla="val 82858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341313" y="2741265"/>
            <a:ext cx="17811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客户定单</a:t>
            </a:r>
          </a:p>
        </p:txBody>
      </p:sp>
      <p:sp>
        <p:nvSpPr>
          <p:cNvPr id="203787" name="AutoShape 11"/>
          <p:cNvSpPr>
            <a:spLocks noChangeArrowheads="1"/>
          </p:cNvSpPr>
          <p:nvPr/>
        </p:nvSpPr>
        <p:spPr bwMode="auto">
          <a:xfrm>
            <a:off x="2981325" y="2492027"/>
            <a:ext cx="3270250" cy="933450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3124200" y="2541240"/>
            <a:ext cx="27432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制造对象</a:t>
            </a:r>
            <a:r>
              <a:rPr lang="zh-CN" altLang="en-US" sz="1600">
                <a:latin typeface="Times New Roman" panose="02020603050405020304" pitchFamily="18" charset="0"/>
              </a:rPr>
              <a:t>    </a:t>
            </a:r>
            <a:r>
              <a:rPr lang="zh-CN" altLang="en-US" sz="1600">
                <a:latin typeface="宋体" panose="02010600030101010101" pitchFamily="2" charset="-122"/>
              </a:rPr>
              <a:t>制造什么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 </a:t>
            </a:r>
            <a:r>
              <a:rPr lang="zh-CN" altLang="en-US" sz="1600">
                <a:latin typeface="宋体" panose="02010600030101010101" pitchFamily="2" charset="-122"/>
              </a:rPr>
              <a:t>制造多少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 </a:t>
            </a:r>
            <a:r>
              <a:rPr lang="zh-CN" altLang="en-US" sz="1600">
                <a:latin typeface="宋体" panose="02010600030101010101" pitchFamily="2" charset="-122"/>
              </a:rPr>
              <a:t>何时制造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>
            <a:off x="2436813" y="2777777"/>
            <a:ext cx="593725" cy="357188"/>
          </a:xfrm>
          <a:prstGeom prst="rightArrow">
            <a:avLst>
              <a:gd name="adj1" fmla="val 50000"/>
              <a:gd name="adj2" fmla="val 83226"/>
            </a:avLst>
          </a:prstGeom>
          <a:gradFill rotWithShape="0">
            <a:gsLst>
              <a:gs pos="0">
                <a:srgbClr val="009900"/>
              </a:gs>
              <a:gs pos="100000">
                <a:srgbClr val="0047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203790" name="AutoShape 14"/>
          <p:cNvSpPr>
            <a:spLocks noChangeArrowheads="1"/>
          </p:cNvSpPr>
          <p:nvPr/>
        </p:nvSpPr>
        <p:spPr bwMode="auto">
          <a:xfrm>
            <a:off x="4316413" y="3466752"/>
            <a:ext cx="649287" cy="376238"/>
          </a:xfrm>
          <a:prstGeom prst="downArrow">
            <a:avLst>
              <a:gd name="adj1" fmla="val 50120"/>
              <a:gd name="adj2" fmla="val 4768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Arial" charset="0"/>
            </a:endParaRPr>
          </a:p>
        </p:txBody>
      </p:sp>
      <p:sp>
        <p:nvSpPr>
          <p:cNvPr id="20" name="Rectangle 15"/>
          <p:cNvSpPr txBox="1">
            <a:spLocks noChangeArrowheads="1"/>
          </p:cNvSpPr>
          <p:nvPr/>
        </p:nvSpPr>
        <p:spPr bwMode="auto">
          <a:xfrm>
            <a:off x="498322" y="856168"/>
            <a:ext cx="4225826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sz="2400" kern="0">
                <a:solidFill>
                  <a:schemeClr val="tx1"/>
                </a:solidFill>
              </a:rPr>
              <a:t>ERP</a:t>
            </a:r>
            <a:r>
              <a:rPr lang="zh-CN" altLang="en-US" sz="2400" kern="0">
                <a:solidFill>
                  <a:schemeClr val="tx1"/>
                </a:solidFill>
              </a:rPr>
              <a:t>驱动的企业信息系统集成</a:t>
            </a:r>
            <a:endParaRPr lang="zh-CN" altLang="en-US" sz="2400" kern="0" dirty="0">
              <a:solidFill>
                <a:schemeClr val="tx1"/>
              </a:solidFill>
            </a:endParaRPr>
          </a:p>
        </p:txBody>
      </p:sp>
      <p:sp>
        <p:nvSpPr>
          <p:cNvPr id="32783" name="Rectangle 15"/>
          <p:cNvSpPr>
            <a:spLocks noChangeArrowheads="1"/>
          </p:cNvSpPr>
          <p:nvPr/>
        </p:nvSpPr>
        <p:spPr bwMode="auto">
          <a:xfrm>
            <a:off x="1227138" y="1782415"/>
            <a:ext cx="6753225" cy="201612"/>
          </a:xfrm>
          <a:prstGeom prst="rect">
            <a:avLst/>
          </a:prstGeom>
          <a:gradFill rotWithShape="0">
            <a:gsLst>
              <a:gs pos="0">
                <a:srgbClr val="E8E800"/>
              </a:gs>
              <a:gs pos="100000">
                <a:srgbClr val="FFFF00"/>
              </a:gs>
            </a:gsLst>
            <a:lin ang="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2784" name="AutoShape 16"/>
          <p:cNvSpPr>
            <a:spLocks noChangeArrowheads="1"/>
          </p:cNvSpPr>
          <p:nvPr/>
        </p:nvSpPr>
        <p:spPr bwMode="auto">
          <a:xfrm flipH="1">
            <a:off x="1136650" y="1804640"/>
            <a:ext cx="365125" cy="647700"/>
          </a:xfrm>
          <a:prstGeom prst="downArrow">
            <a:avLst>
              <a:gd name="adj1" fmla="val 50000"/>
              <a:gd name="adj2" fmla="val 88819"/>
            </a:avLst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706400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7944669" y="877987"/>
            <a:ext cx="173037" cy="533400"/>
          </a:xfrm>
          <a:prstGeom prst="rect">
            <a:avLst/>
          </a:prstGeom>
          <a:gradFill rotWithShape="0">
            <a:gsLst>
              <a:gs pos="0">
                <a:srgbClr val="E8E800"/>
              </a:gs>
              <a:gs pos="100000">
                <a:srgbClr val="FFFF00"/>
              </a:gs>
            </a:gsLst>
            <a:lin ang="540000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AutoShape 3"/>
          <p:cNvSpPr>
            <a:spLocks noChangeArrowheads="1"/>
          </p:cNvSpPr>
          <p:nvPr/>
        </p:nvSpPr>
        <p:spPr bwMode="auto">
          <a:xfrm>
            <a:off x="7071544" y="1440484"/>
            <a:ext cx="1914525" cy="2230437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rgbClr val="FFFF00"/>
              </a:gs>
              <a:gs pos="100000">
                <a:srgbClr val="D1D1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AutoShape 4"/>
          <p:cNvSpPr>
            <a:spLocks noChangeArrowheads="1"/>
          </p:cNvSpPr>
          <p:nvPr/>
        </p:nvSpPr>
        <p:spPr bwMode="auto">
          <a:xfrm>
            <a:off x="467544" y="1587599"/>
            <a:ext cx="1909762" cy="860425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rgbClr val="009900"/>
              </a:gs>
              <a:gs pos="100000">
                <a:srgbClr val="007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3251945" y="4606528"/>
            <a:ext cx="3236913" cy="976313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Arial" charset="0"/>
            </a:endParaRP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3288458" y="4673203"/>
            <a:ext cx="332105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成本核算      原材料成本?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         人工成本?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         间接费用?</a:t>
            </a:r>
          </a:p>
        </p:txBody>
      </p:sp>
      <p:grpSp>
        <p:nvGrpSpPr>
          <p:cNvPr id="33799" name="Group 7"/>
          <p:cNvGrpSpPr>
            <a:grpSpLocks/>
          </p:cNvGrpSpPr>
          <p:nvPr/>
        </p:nvGrpSpPr>
        <p:grpSpPr bwMode="auto">
          <a:xfrm>
            <a:off x="6680945" y="4581128"/>
            <a:ext cx="2219325" cy="1004888"/>
            <a:chOff x="4068" y="3356"/>
            <a:chExt cx="1398" cy="633"/>
          </a:xfrm>
        </p:grpSpPr>
        <p:sp>
          <p:nvSpPr>
            <p:cNvPr id="204808" name="AutoShape 8"/>
            <p:cNvSpPr>
              <a:spLocks noChangeArrowheads="1"/>
            </p:cNvSpPr>
            <p:nvPr/>
          </p:nvSpPr>
          <p:spPr bwMode="auto">
            <a:xfrm>
              <a:off x="4071" y="3356"/>
              <a:ext cx="1303" cy="633"/>
            </a:xfrm>
            <a:prstGeom prst="roundRect">
              <a:avLst>
                <a:gd name="adj" fmla="val 12431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66667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600">
                <a:latin typeface="Arial" charset="0"/>
              </a:endParaRPr>
            </a:p>
          </p:txBody>
        </p:sp>
        <p:sp>
          <p:nvSpPr>
            <p:cNvPr id="33819" name="Rectangle 9"/>
            <p:cNvSpPr>
              <a:spLocks noChangeArrowheads="1"/>
            </p:cNvSpPr>
            <p:nvPr/>
          </p:nvSpPr>
          <p:spPr bwMode="auto">
            <a:xfrm>
              <a:off x="4068" y="3418"/>
              <a:ext cx="139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6000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宋体" panose="02010600030101010101" pitchFamily="2" charset="-122"/>
                </a:rPr>
                <a:t>财务管理</a:t>
              </a:r>
              <a:r>
                <a:rPr lang="zh-CN" altLang="en-US" sz="1600">
                  <a:latin typeface="Times New Roman" panose="02020603050405020304" pitchFamily="18" charset="0"/>
                </a:rPr>
                <a:t>      </a:t>
              </a:r>
              <a:r>
                <a:rPr lang="zh-CN" altLang="en-US" sz="1600">
                  <a:latin typeface="宋体" panose="02010600030101010101" pitchFamily="2" charset="-122"/>
                </a:rPr>
                <a:t>应付帐</a:t>
              </a:r>
              <a:endParaRPr lang="zh-CN" altLang="en-US" sz="1600">
                <a:latin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  <a:spcBef>
                  <a:spcPct val="6000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                      </a:t>
              </a:r>
              <a:r>
                <a:rPr lang="zh-CN" altLang="en-US" sz="1600">
                  <a:latin typeface="宋体" panose="02010600030101010101" pitchFamily="2" charset="-122"/>
                </a:rPr>
                <a:t>总帐</a:t>
              </a:r>
            </a:p>
          </p:txBody>
        </p:sp>
      </p:grpSp>
      <p:sp>
        <p:nvSpPr>
          <p:cNvPr id="33800" name="AutoShape 10"/>
          <p:cNvSpPr>
            <a:spLocks noChangeArrowheads="1"/>
          </p:cNvSpPr>
          <p:nvPr/>
        </p:nvSpPr>
        <p:spPr bwMode="auto">
          <a:xfrm flipH="1">
            <a:off x="7882446" y="3707859"/>
            <a:ext cx="365125" cy="892231"/>
          </a:xfrm>
          <a:prstGeom prst="downArrow">
            <a:avLst>
              <a:gd name="adj1" fmla="val 50000"/>
              <a:gd name="adj2" fmla="val 88819"/>
            </a:avLst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3801" name="AutoShape 11"/>
          <p:cNvSpPr>
            <a:spLocks noChangeArrowheads="1"/>
          </p:cNvSpPr>
          <p:nvPr/>
        </p:nvSpPr>
        <p:spPr bwMode="auto">
          <a:xfrm rot="19800000" flipH="1">
            <a:off x="6480593" y="3922547"/>
            <a:ext cx="1083399" cy="361950"/>
          </a:xfrm>
          <a:prstGeom prst="rightArrow">
            <a:avLst>
              <a:gd name="adj1" fmla="val 50000"/>
              <a:gd name="adj2" fmla="val 99700"/>
            </a:avLst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3802" name="AutoShape 12"/>
          <p:cNvSpPr>
            <a:spLocks noChangeArrowheads="1"/>
          </p:cNvSpPr>
          <p:nvPr/>
        </p:nvSpPr>
        <p:spPr bwMode="auto">
          <a:xfrm flipH="1">
            <a:off x="1251769" y="2847528"/>
            <a:ext cx="365125" cy="1551534"/>
          </a:xfrm>
          <a:prstGeom prst="downArrow">
            <a:avLst>
              <a:gd name="adj1" fmla="val 50000"/>
              <a:gd name="adj2" fmla="val 88819"/>
            </a:avLst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04813" name="AutoShape 13"/>
          <p:cNvSpPr>
            <a:spLocks noChangeArrowheads="1"/>
          </p:cNvSpPr>
          <p:nvPr/>
        </p:nvSpPr>
        <p:spPr bwMode="auto">
          <a:xfrm>
            <a:off x="3090094" y="2914749"/>
            <a:ext cx="3240087" cy="1484313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Arial" charset="0"/>
            </a:endParaRPr>
          </a:p>
        </p:txBody>
      </p: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2998019" y="3052862"/>
            <a:ext cx="351155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909638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宋体" panose="02010600030101010101" pitchFamily="2" charset="-122"/>
              </a:rPr>
              <a:t>制造资源</a:t>
            </a:r>
            <a:r>
              <a:rPr lang="zh-CN" altLang="en-US" sz="1600" dirty="0">
                <a:latin typeface="Times New Roman" panose="02020603050405020304" pitchFamily="18" charset="0"/>
              </a:rPr>
              <a:t>   </a:t>
            </a:r>
            <a:r>
              <a:rPr lang="zh-CN" altLang="en-US" sz="1600" dirty="0">
                <a:latin typeface="宋体" panose="02010600030101010101" pitchFamily="2" charset="-122"/>
              </a:rPr>
              <a:t>部件和物料需求</a:t>
            </a:r>
            <a:r>
              <a:rPr lang="zh-CN" altLang="en-US" sz="1600" dirty="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资金需求</a:t>
            </a:r>
            <a:r>
              <a:rPr lang="zh-CN" altLang="en-US" sz="1600" dirty="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何时生产</a:t>
            </a:r>
            <a:r>
              <a:rPr lang="zh-CN" altLang="en-US" sz="1600" dirty="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何时采购</a:t>
            </a:r>
            <a:r>
              <a:rPr lang="zh-CN" altLang="en-US" sz="1600" dirty="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人和设备的能力需求</a:t>
            </a:r>
            <a:r>
              <a:rPr lang="zh-CN" altLang="en-US" sz="1600" dirty="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04815" name="AutoShape 15"/>
          <p:cNvSpPr>
            <a:spLocks noChangeArrowheads="1"/>
          </p:cNvSpPr>
          <p:nvPr/>
        </p:nvSpPr>
        <p:spPr bwMode="auto">
          <a:xfrm>
            <a:off x="6442894" y="1820962"/>
            <a:ext cx="593725" cy="357187"/>
          </a:xfrm>
          <a:prstGeom prst="rightArrow">
            <a:avLst>
              <a:gd name="adj1" fmla="val 50000"/>
              <a:gd name="adj2" fmla="val 83227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3806" name="Rectangle 16"/>
          <p:cNvSpPr>
            <a:spLocks noChangeArrowheads="1"/>
          </p:cNvSpPr>
          <p:nvPr/>
        </p:nvSpPr>
        <p:spPr bwMode="auto">
          <a:xfrm>
            <a:off x="7192194" y="2143224"/>
            <a:ext cx="178117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采购定单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生产定单</a:t>
            </a:r>
          </a:p>
        </p:txBody>
      </p:sp>
      <p:sp>
        <p:nvSpPr>
          <p:cNvPr id="204817" name="AutoShape 17"/>
          <p:cNvSpPr>
            <a:spLocks noChangeArrowheads="1"/>
          </p:cNvSpPr>
          <p:nvPr/>
        </p:nvSpPr>
        <p:spPr bwMode="auto">
          <a:xfrm>
            <a:off x="6485756" y="3422749"/>
            <a:ext cx="593725" cy="358775"/>
          </a:xfrm>
          <a:prstGeom prst="rightArrow">
            <a:avLst>
              <a:gd name="adj1" fmla="val 50000"/>
              <a:gd name="adj2" fmla="val 82858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3808" name="Rectangle 18"/>
          <p:cNvSpPr>
            <a:spLocks noChangeArrowheads="1"/>
          </p:cNvSpPr>
          <p:nvPr/>
        </p:nvSpPr>
        <p:spPr bwMode="auto">
          <a:xfrm>
            <a:off x="492944" y="1795562"/>
            <a:ext cx="17811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客户定单</a:t>
            </a:r>
          </a:p>
        </p:txBody>
      </p:sp>
      <p:sp>
        <p:nvSpPr>
          <p:cNvPr id="204819" name="AutoShape 19"/>
          <p:cNvSpPr>
            <a:spLocks noChangeArrowheads="1"/>
          </p:cNvSpPr>
          <p:nvPr/>
        </p:nvSpPr>
        <p:spPr bwMode="auto">
          <a:xfrm>
            <a:off x="3104381" y="1546324"/>
            <a:ext cx="3270250" cy="933450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3810" name="Rectangle 20"/>
          <p:cNvSpPr>
            <a:spLocks noChangeArrowheads="1"/>
          </p:cNvSpPr>
          <p:nvPr/>
        </p:nvSpPr>
        <p:spPr bwMode="auto">
          <a:xfrm>
            <a:off x="3247256" y="1568549"/>
            <a:ext cx="274320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制造对象</a:t>
            </a:r>
            <a:r>
              <a:rPr lang="zh-CN" altLang="en-US" sz="1600">
                <a:latin typeface="Times New Roman" panose="02020603050405020304" pitchFamily="18" charset="0"/>
              </a:rPr>
              <a:t>    </a:t>
            </a:r>
            <a:r>
              <a:rPr lang="zh-CN" altLang="en-US" sz="1600">
                <a:latin typeface="宋体" panose="02010600030101010101" pitchFamily="2" charset="-122"/>
              </a:rPr>
              <a:t>制造什么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 </a:t>
            </a:r>
            <a:r>
              <a:rPr lang="zh-CN" altLang="en-US" sz="1600">
                <a:latin typeface="宋体" panose="02010600030101010101" pitchFamily="2" charset="-122"/>
              </a:rPr>
              <a:t>制造多少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  <a:p>
            <a:pPr>
              <a:lnSpc>
                <a:spcPct val="7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                    </a:t>
            </a:r>
            <a:r>
              <a:rPr lang="zh-CN" altLang="en-US" sz="1600">
                <a:latin typeface="宋体" panose="02010600030101010101" pitchFamily="2" charset="-122"/>
              </a:rPr>
              <a:t>何时制造</a:t>
            </a:r>
            <a:r>
              <a:rPr lang="zh-CN" altLang="en-US" sz="16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33811" name="AutoShape 21"/>
          <p:cNvSpPr>
            <a:spLocks noChangeArrowheads="1"/>
          </p:cNvSpPr>
          <p:nvPr/>
        </p:nvSpPr>
        <p:spPr bwMode="auto">
          <a:xfrm>
            <a:off x="2487688" y="1832074"/>
            <a:ext cx="593725" cy="357188"/>
          </a:xfrm>
          <a:prstGeom prst="rightArrow">
            <a:avLst>
              <a:gd name="adj1" fmla="val 50000"/>
              <a:gd name="adj2" fmla="val 83226"/>
            </a:avLst>
          </a:prstGeom>
          <a:gradFill rotWithShape="0">
            <a:gsLst>
              <a:gs pos="0">
                <a:srgbClr val="009900"/>
              </a:gs>
              <a:gs pos="100000">
                <a:srgbClr val="0047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204822" name="AutoShape 22"/>
          <p:cNvSpPr>
            <a:spLocks noChangeArrowheads="1"/>
          </p:cNvSpPr>
          <p:nvPr/>
        </p:nvSpPr>
        <p:spPr bwMode="auto">
          <a:xfrm>
            <a:off x="4439469" y="2521049"/>
            <a:ext cx="649287" cy="376238"/>
          </a:xfrm>
          <a:prstGeom prst="downArrow">
            <a:avLst>
              <a:gd name="adj1" fmla="val 50120"/>
              <a:gd name="adj2" fmla="val 4768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Arial" charset="0"/>
            </a:endParaRPr>
          </a:p>
        </p:txBody>
      </p:sp>
      <p:sp>
        <p:nvSpPr>
          <p:cNvPr id="204823" name="AutoShape 23"/>
          <p:cNvSpPr>
            <a:spLocks noChangeArrowheads="1"/>
          </p:cNvSpPr>
          <p:nvPr/>
        </p:nvSpPr>
        <p:spPr bwMode="auto">
          <a:xfrm>
            <a:off x="561133" y="4606528"/>
            <a:ext cx="2270125" cy="976313"/>
          </a:xfrm>
          <a:prstGeom prst="roundRect">
            <a:avLst>
              <a:gd name="adj" fmla="val 12431"/>
            </a:avLst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3814" name="Rectangle 24"/>
          <p:cNvSpPr>
            <a:spLocks noChangeArrowheads="1"/>
          </p:cNvSpPr>
          <p:nvPr/>
        </p:nvSpPr>
        <p:spPr bwMode="auto">
          <a:xfrm>
            <a:off x="672258" y="4719241"/>
            <a:ext cx="2219325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6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宋体" panose="02010600030101010101" pitchFamily="2" charset="-122"/>
              </a:rPr>
              <a:t>财务管理</a:t>
            </a:r>
            <a:r>
              <a:rPr lang="zh-CN" altLang="en-US" sz="1600" dirty="0">
                <a:latin typeface="Times New Roman" panose="02020603050405020304" pitchFamily="18" charset="0"/>
              </a:rPr>
              <a:t>      </a:t>
            </a:r>
            <a:r>
              <a:rPr lang="zh-CN" altLang="en-US" sz="1600" dirty="0">
                <a:latin typeface="宋体" panose="02010600030101010101" pitchFamily="2" charset="-122"/>
              </a:rPr>
              <a:t>应收帐</a:t>
            </a:r>
            <a:endParaRPr lang="zh-CN" altLang="en-US" sz="1600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6000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总帐</a:t>
            </a:r>
          </a:p>
        </p:txBody>
      </p:sp>
      <p:sp>
        <p:nvSpPr>
          <p:cNvPr id="33815" name="Rectangle 25"/>
          <p:cNvSpPr>
            <a:spLocks noChangeArrowheads="1"/>
          </p:cNvSpPr>
          <p:nvPr/>
        </p:nvSpPr>
        <p:spPr bwMode="auto">
          <a:xfrm>
            <a:off x="1350194" y="836712"/>
            <a:ext cx="6753225" cy="201612"/>
          </a:xfrm>
          <a:prstGeom prst="rect">
            <a:avLst/>
          </a:prstGeom>
          <a:gradFill rotWithShape="0">
            <a:gsLst>
              <a:gs pos="0">
                <a:srgbClr val="E8E800"/>
              </a:gs>
              <a:gs pos="100000">
                <a:srgbClr val="FFFF00"/>
              </a:gs>
            </a:gsLst>
            <a:lin ang="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3816" name="AutoShape 26"/>
          <p:cNvSpPr>
            <a:spLocks noChangeArrowheads="1"/>
          </p:cNvSpPr>
          <p:nvPr/>
        </p:nvSpPr>
        <p:spPr bwMode="auto">
          <a:xfrm flipH="1">
            <a:off x="1259706" y="858937"/>
            <a:ext cx="365125" cy="647700"/>
          </a:xfrm>
          <a:prstGeom prst="downArrow">
            <a:avLst>
              <a:gd name="adj1" fmla="val 50000"/>
              <a:gd name="adj2" fmla="val 88819"/>
            </a:avLst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205076" y="35733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MES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193907" y="97035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EOS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078561" y="3123934"/>
            <a:ext cx="7665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APS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61908" y="1093241"/>
            <a:ext cx="1228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MRP-II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262938" y="1128674"/>
            <a:ext cx="885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OMS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180222" y="2372007"/>
            <a:ext cx="920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CRM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217464" y="6145553"/>
            <a:ext cx="783849" cy="4541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800" tIns="38400" rIns="76800" bIns="38400" rtlCol="0" anchor="ctr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电子秤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2073319" y="6145553"/>
            <a:ext cx="1023448" cy="4541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800" tIns="38400" rIns="76800" bIns="38400" rtlCol="0" anchor="ctr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加工设备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4241674" y="6134420"/>
            <a:ext cx="855854" cy="4541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800" tIns="38400" rIns="76800" bIns="38400" rtlCol="0" anchor="ctr"/>
          <a:lstStyle/>
          <a:p>
            <a:pPr algn="ctr"/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输送线</a:t>
            </a:r>
            <a:endParaRPr lang="zh-CN" altLang="en-US" sz="12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5178" y="6142126"/>
            <a:ext cx="855854" cy="4541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800" tIns="38400" rIns="76800" bIns="38400" rtlCol="0" anchor="ctr"/>
          <a:lstStyle/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AGV</a:t>
            </a:r>
            <a:endParaRPr lang="zh-CN" altLang="en-US" sz="12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6299763" y="6361515"/>
            <a:ext cx="362125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1652482" y="5582842"/>
            <a:ext cx="0" cy="394524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59"/>
          <p:cNvSpPr txBox="1"/>
          <p:nvPr/>
        </p:nvSpPr>
        <p:spPr>
          <a:xfrm>
            <a:off x="561133" y="5870585"/>
            <a:ext cx="397352" cy="939324"/>
          </a:xfrm>
          <a:prstGeom prst="rect">
            <a:avLst/>
          </a:prstGeom>
          <a:noFill/>
        </p:spPr>
        <p:txBody>
          <a:bodyPr wrap="square" lIns="76800" tIns="38400" rIns="76800" bIns="38400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生产车间</a:t>
            </a: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672258" y="5751044"/>
            <a:ext cx="8301111" cy="10063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3129808" y="6145849"/>
            <a:ext cx="1023448" cy="4541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800" tIns="38400" rIns="76800" bIns="38400" rtlCol="0" anchor="ctr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自动化立库</a:t>
            </a:r>
          </a:p>
        </p:txBody>
      </p:sp>
      <p:sp>
        <p:nvSpPr>
          <p:cNvPr id="50" name="圆角矩形 49"/>
          <p:cNvSpPr/>
          <p:nvPr/>
        </p:nvSpPr>
        <p:spPr>
          <a:xfrm>
            <a:off x="5190409" y="6134420"/>
            <a:ext cx="855854" cy="4541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800" tIns="38400" rIns="76800" bIns="38400" rtlCol="0" anchor="ctr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机械手</a:t>
            </a:r>
          </a:p>
        </p:txBody>
      </p:sp>
      <p:sp>
        <p:nvSpPr>
          <p:cNvPr id="57" name="圆角矩形 56"/>
          <p:cNvSpPr/>
          <p:nvPr/>
        </p:nvSpPr>
        <p:spPr bwMode="auto">
          <a:xfrm>
            <a:off x="993181" y="6000686"/>
            <a:ext cx="7906428" cy="76724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533400" marR="0" indent="-5334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Ø"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 flipH="1" flipV="1">
            <a:off x="4796397" y="5560627"/>
            <a:ext cx="13208" cy="416218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7773839" y="5582321"/>
            <a:ext cx="0" cy="394524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7987664" y="6126628"/>
            <a:ext cx="7665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PCS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66" name="Rectangle 15"/>
          <p:cNvSpPr>
            <a:spLocks noGrp="1" noChangeArrowheads="1"/>
          </p:cNvSpPr>
          <p:nvPr>
            <p:ph type="title"/>
          </p:nvPr>
        </p:nvSpPr>
        <p:spPr>
          <a:xfrm>
            <a:off x="2546241" y="287437"/>
            <a:ext cx="4225826" cy="549275"/>
          </a:xfrm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ERP</a:t>
            </a:r>
            <a:r>
              <a:rPr lang="zh-CN" altLang="en-US" sz="2400" dirty="0">
                <a:solidFill>
                  <a:schemeClr val="tx1"/>
                </a:solidFill>
              </a:rPr>
              <a:t>驱动的企业信息系统集成</a:t>
            </a:r>
          </a:p>
        </p:txBody>
      </p:sp>
    </p:spTree>
    <p:extLst>
      <p:ext uri="{BB962C8B-B14F-4D97-AF65-F5344CB8AC3E}">
        <p14:creationId xmlns:p14="http://schemas.microsoft.com/office/powerpoint/2010/main" val="1548035686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21"/>
          <p:cNvSpPr txBox="1">
            <a:spLocks noChangeArrowheads="1"/>
          </p:cNvSpPr>
          <p:nvPr/>
        </p:nvSpPr>
        <p:spPr bwMode="auto">
          <a:xfrm>
            <a:off x="3810000" y="2819400"/>
            <a:ext cx="141287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9600">
                <a:solidFill>
                  <a:srgbClr val="FF3300"/>
                </a:solidFill>
              </a:rPr>
              <a:t>？</a:t>
            </a:r>
          </a:p>
        </p:txBody>
      </p:sp>
      <p:sp>
        <p:nvSpPr>
          <p:cNvPr id="319492" name="Rectangle 4"/>
          <p:cNvSpPr>
            <a:spLocks noChangeArrowheads="1"/>
          </p:cNvSpPr>
          <p:nvPr/>
        </p:nvSpPr>
        <p:spPr bwMode="auto">
          <a:xfrm>
            <a:off x="599281" y="679897"/>
            <a:ext cx="7834312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400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MES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：填补了上层生产计划与底层工业控制之间的鸿沟</a:t>
            </a:r>
          </a:p>
        </p:txBody>
      </p:sp>
      <p:graphicFrame>
        <p:nvGraphicFramePr>
          <p:cNvPr id="382976" name="Object 1024"/>
          <p:cNvGraphicFramePr>
            <a:graphicFrameLocks noChangeAspect="1"/>
          </p:cNvGraphicFramePr>
          <p:nvPr/>
        </p:nvGraphicFramePr>
        <p:xfrm>
          <a:off x="2438400" y="1444625"/>
          <a:ext cx="4422775" cy="442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9" r:id="rId3" imgW="4391025" imgH="4391025" progId="Visio.Drawing.6">
                  <p:embed/>
                </p:oleObj>
              </mc:Choice>
              <mc:Fallback>
                <p:oleObj r:id="rId3" imgW="4391025" imgH="4391025" progId="Visio.Drawing.6">
                  <p:embed/>
                  <p:pic>
                    <p:nvPicPr>
                      <p:cNvPr id="382976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4625"/>
                        <a:ext cx="4422775" cy="442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7"/>
          <p:cNvSpPr txBox="1">
            <a:spLocks noChangeArrowheads="1"/>
          </p:cNvSpPr>
          <p:nvPr/>
        </p:nvSpPr>
        <p:spPr bwMode="auto">
          <a:xfrm>
            <a:off x="508040" y="1444625"/>
            <a:ext cx="553998" cy="43434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上层生产计划层</a:t>
            </a:r>
          </a:p>
        </p:txBody>
      </p:sp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8204240" y="1444625"/>
            <a:ext cx="553998" cy="43434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底层设备控制层</a:t>
            </a:r>
          </a:p>
        </p:txBody>
      </p:sp>
      <p:sp>
        <p:nvSpPr>
          <p:cNvPr id="319498" name="AutoShape 10"/>
          <p:cNvSpPr>
            <a:spLocks noChangeArrowheads="1"/>
          </p:cNvSpPr>
          <p:nvPr/>
        </p:nvSpPr>
        <p:spPr bwMode="auto">
          <a:xfrm>
            <a:off x="1200944" y="3044825"/>
            <a:ext cx="1066800" cy="1295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40000"/>
              </a:spcBef>
            </a:pPr>
            <a:r>
              <a:rPr lang="zh-CN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生产什么</a:t>
            </a:r>
          </a:p>
        </p:txBody>
      </p:sp>
      <p:sp>
        <p:nvSpPr>
          <p:cNvPr id="319499" name="AutoShape 11"/>
          <p:cNvSpPr>
            <a:spLocks noChangeArrowheads="1"/>
          </p:cNvSpPr>
          <p:nvPr/>
        </p:nvSpPr>
        <p:spPr bwMode="auto">
          <a:xfrm>
            <a:off x="7020272" y="2892425"/>
            <a:ext cx="1066800" cy="1371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40000"/>
              </a:spcBef>
            </a:pPr>
            <a:r>
              <a:rPr lang="zh-CN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控制指令</a:t>
            </a:r>
          </a:p>
        </p:txBody>
      </p:sp>
      <p:sp>
        <p:nvSpPr>
          <p:cNvPr id="22537" name="Text Box 15"/>
          <p:cNvSpPr txBox="1">
            <a:spLocks noChangeArrowheads="1"/>
          </p:cNvSpPr>
          <p:nvPr/>
        </p:nvSpPr>
        <p:spPr bwMode="auto">
          <a:xfrm>
            <a:off x="304800" y="6006231"/>
            <a:ext cx="901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/>
              <a:t>计划</a:t>
            </a:r>
          </a:p>
        </p:txBody>
      </p:sp>
      <p:sp>
        <p:nvSpPr>
          <p:cNvPr id="22538" name="Text Box 17"/>
          <p:cNvSpPr txBox="1">
            <a:spLocks noChangeArrowheads="1"/>
          </p:cNvSpPr>
          <p:nvPr/>
        </p:nvSpPr>
        <p:spPr bwMode="auto">
          <a:xfrm>
            <a:off x="7924800" y="6006231"/>
            <a:ext cx="901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/>
              <a:t>控制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219200" y="5944095"/>
            <a:ext cx="6781800" cy="519113"/>
            <a:chOff x="768" y="3696"/>
            <a:chExt cx="4272" cy="327"/>
          </a:xfrm>
        </p:grpSpPr>
        <p:sp>
          <p:nvSpPr>
            <p:cNvPr id="22540" name="Text Box 16"/>
            <p:cNvSpPr txBox="1">
              <a:spLocks noChangeArrowheads="1"/>
            </p:cNvSpPr>
            <p:nvPr/>
          </p:nvSpPr>
          <p:spPr bwMode="auto">
            <a:xfrm>
              <a:off x="2640" y="3696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40000"/>
                </a:spcBef>
              </a:pPr>
              <a:r>
                <a:rPr lang="zh-CN" altLang="en-US" dirty="0"/>
                <a:t>执行</a:t>
              </a:r>
            </a:p>
          </p:txBody>
        </p:sp>
        <p:sp>
          <p:nvSpPr>
            <p:cNvPr id="22541" name="AutoShape 18"/>
            <p:cNvSpPr>
              <a:spLocks noChangeArrowheads="1"/>
            </p:cNvSpPr>
            <p:nvPr/>
          </p:nvSpPr>
          <p:spPr bwMode="auto">
            <a:xfrm>
              <a:off x="768" y="3840"/>
              <a:ext cx="1872" cy="96"/>
            </a:xfrm>
            <a:prstGeom prst="leftRightArrow">
              <a:avLst>
                <a:gd name="adj1" fmla="val 50000"/>
                <a:gd name="adj2" fmla="val 390000"/>
              </a:avLst>
            </a:pr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40000"/>
                </a:spcBef>
              </a:pPr>
              <a:endParaRPr lang="zh-CN" altLang="en-US"/>
            </a:p>
          </p:txBody>
        </p:sp>
        <p:sp>
          <p:nvSpPr>
            <p:cNvPr id="22542" name="AutoShape 19"/>
            <p:cNvSpPr>
              <a:spLocks noChangeArrowheads="1"/>
            </p:cNvSpPr>
            <p:nvPr/>
          </p:nvSpPr>
          <p:spPr bwMode="auto">
            <a:xfrm>
              <a:off x="3168" y="3840"/>
              <a:ext cx="1872" cy="96"/>
            </a:xfrm>
            <a:prstGeom prst="leftRightArrow">
              <a:avLst>
                <a:gd name="adj1" fmla="val 50000"/>
                <a:gd name="adj2" fmla="val 390000"/>
              </a:avLst>
            </a:pr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40000"/>
                </a:spcBef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32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2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2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8" grpId="0" animBg="1"/>
      <p:bldP spid="31949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30"/>
          <p:cNvGrpSpPr>
            <a:grpSpLocks/>
          </p:cNvGrpSpPr>
          <p:nvPr/>
        </p:nvGrpSpPr>
        <p:grpSpPr bwMode="auto">
          <a:xfrm>
            <a:off x="1371600" y="990600"/>
            <a:ext cx="7543800" cy="5105400"/>
            <a:chOff x="912" y="624"/>
            <a:chExt cx="4752" cy="3216"/>
          </a:xfrm>
        </p:grpSpPr>
        <p:sp>
          <p:nvSpPr>
            <p:cNvPr id="23554" name="Rectangle 1128"/>
            <p:cNvSpPr>
              <a:spLocks noChangeArrowheads="1"/>
            </p:cNvSpPr>
            <p:nvPr/>
          </p:nvSpPr>
          <p:spPr bwMode="auto">
            <a:xfrm>
              <a:off x="912" y="624"/>
              <a:ext cx="4752" cy="321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40000"/>
                </a:spcBef>
              </a:pPr>
              <a:endParaRPr lang="zh-CN" altLang="en-US"/>
            </a:p>
          </p:txBody>
        </p:sp>
        <p:sp>
          <p:nvSpPr>
            <p:cNvPr id="23555" name="Text Box 1129"/>
            <p:cNvSpPr txBox="1">
              <a:spLocks noChangeArrowheads="1"/>
            </p:cNvSpPr>
            <p:nvPr/>
          </p:nvSpPr>
          <p:spPr bwMode="auto">
            <a:xfrm>
              <a:off x="1112" y="3454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40000"/>
                </a:spcBef>
              </a:pPr>
              <a:r>
                <a:rPr lang="zh-CN" altLang="en-US" dirty="0">
                  <a:solidFill>
                    <a:srgbClr val="FF3300"/>
                  </a:solidFill>
                </a:rPr>
                <a:t>车间</a:t>
              </a:r>
            </a:p>
          </p:txBody>
        </p:sp>
      </p:grpSp>
      <p:sp>
        <p:nvSpPr>
          <p:cNvPr id="320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363257"/>
          </a:xfrm>
        </p:spPr>
        <p:txBody>
          <a:bodyPr/>
          <a:lstStyle/>
          <a:p>
            <a:pPr algn="ctr">
              <a:defRPr/>
            </a:pPr>
            <a:r>
              <a:rPr kumimoji="1" lang="zh-CN" altLang="en-US" sz="2400" dirty="0">
                <a:latin typeface="华文中宋" panose="02010600040101010101" pitchFamily="2" charset="-122"/>
              </a:rPr>
              <a:t>计划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-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执行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-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控制三层之间的信息集成</a:t>
            </a:r>
          </a:p>
        </p:txBody>
      </p:sp>
      <p:sp>
        <p:nvSpPr>
          <p:cNvPr id="23557" name="Rectangle 1098"/>
          <p:cNvSpPr>
            <a:spLocks noChangeArrowheads="1"/>
          </p:cNvSpPr>
          <p:nvPr/>
        </p:nvSpPr>
        <p:spPr bwMode="auto">
          <a:xfrm>
            <a:off x="228600" y="2667000"/>
            <a:ext cx="2057400" cy="9906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ERP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chemeClr val="bg1"/>
                </a:solidFill>
              </a:rPr>
              <a:t>时间尺度：100</a:t>
            </a:r>
            <a:r>
              <a:rPr lang="en-US" altLang="zh-CN" sz="20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20587" name="Rectangle 1099"/>
          <p:cNvSpPr>
            <a:spLocks noChangeArrowheads="1"/>
          </p:cNvSpPr>
          <p:nvPr/>
        </p:nvSpPr>
        <p:spPr bwMode="auto">
          <a:xfrm>
            <a:off x="3581400" y="2667000"/>
            <a:ext cx="1828800" cy="990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dirty="0">
                <a:solidFill>
                  <a:srgbClr val="FF3300"/>
                </a:solidFill>
              </a:rPr>
              <a:t>MES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rgbClr val="FF3300"/>
                </a:solidFill>
              </a:rPr>
              <a:t>时间尺度：10</a:t>
            </a:r>
            <a:r>
              <a:rPr lang="en-US" altLang="zh-CN" sz="2000" dirty="0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23559" name="Rectangle 1100"/>
          <p:cNvSpPr>
            <a:spLocks noChangeArrowheads="1"/>
          </p:cNvSpPr>
          <p:nvPr/>
        </p:nvSpPr>
        <p:spPr bwMode="auto">
          <a:xfrm>
            <a:off x="6705600" y="2667000"/>
            <a:ext cx="1828800" cy="9906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控制层</a:t>
            </a:r>
            <a:r>
              <a:rPr lang="en-US" altLang="zh-CN" dirty="0">
                <a:solidFill>
                  <a:schemeClr val="bg1"/>
                </a:solidFill>
              </a:rPr>
              <a:t>PCS</a:t>
            </a:r>
            <a:endParaRPr lang="zh-CN" altLang="en-US" dirty="0">
              <a:solidFill>
                <a:schemeClr val="bg1"/>
              </a:solidFill>
            </a:endParaRP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chemeClr val="bg1"/>
                </a:solidFill>
              </a:rPr>
              <a:t>时间尺度：1</a:t>
            </a:r>
            <a:r>
              <a:rPr lang="en-US" altLang="zh-CN" sz="20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3560" name="Rectangle 1101"/>
          <p:cNvSpPr>
            <a:spLocks noChangeArrowheads="1"/>
          </p:cNvSpPr>
          <p:nvPr/>
        </p:nvSpPr>
        <p:spPr bwMode="auto">
          <a:xfrm>
            <a:off x="3581400" y="4953000"/>
            <a:ext cx="1828800" cy="838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>
                <a:solidFill>
                  <a:schemeClr val="bg1"/>
                </a:solidFill>
              </a:rPr>
              <a:t>人员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3561" name="Rectangle 1102"/>
          <p:cNvSpPr>
            <a:spLocks noChangeArrowheads="1"/>
          </p:cNvSpPr>
          <p:nvPr/>
        </p:nvSpPr>
        <p:spPr bwMode="auto">
          <a:xfrm>
            <a:off x="6705600" y="4953000"/>
            <a:ext cx="1828800" cy="838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>
                <a:solidFill>
                  <a:schemeClr val="bg1"/>
                </a:solidFill>
              </a:rPr>
              <a:t>设备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3562" name="Line 1103"/>
          <p:cNvSpPr>
            <a:spLocks noChangeShapeType="1"/>
          </p:cNvSpPr>
          <p:nvPr/>
        </p:nvSpPr>
        <p:spPr bwMode="auto">
          <a:xfrm>
            <a:off x="2286000" y="3200400"/>
            <a:ext cx="1295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3" name="Line 1104"/>
          <p:cNvSpPr>
            <a:spLocks noChangeShapeType="1"/>
          </p:cNvSpPr>
          <p:nvPr/>
        </p:nvSpPr>
        <p:spPr bwMode="auto">
          <a:xfrm>
            <a:off x="5410200" y="3200400"/>
            <a:ext cx="1295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4" name="Line 1105"/>
          <p:cNvSpPr>
            <a:spLocks noChangeShapeType="1"/>
          </p:cNvSpPr>
          <p:nvPr/>
        </p:nvSpPr>
        <p:spPr bwMode="auto">
          <a:xfrm>
            <a:off x="4114800" y="36576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5" name="Line 1106"/>
          <p:cNvSpPr>
            <a:spLocks noChangeShapeType="1"/>
          </p:cNvSpPr>
          <p:nvPr/>
        </p:nvSpPr>
        <p:spPr bwMode="auto">
          <a:xfrm flipV="1">
            <a:off x="4800600" y="36576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6" name="Line 1107"/>
          <p:cNvSpPr>
            <a:spLocks noChangeShapeType="1"/>
          </p:cNvSpPr>
          <p:nvPr/>
        </p:nvSpPr>
        <p:spPr bwMode="auto">
          <a:xfrm>
            <a:off x="7391400" y="36576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7" name="Line 1108"/>
          <p:cNvSpPr>
            <a:spLocks noChangeShapeType="1"/>
          </p:cNvSpPr>
          <p:nvPr/>
        </p:nvSpPr>
        <p:spPr bwMode="auto">
          <a:xfrm flipV="1">
            <a:off x="7924800" y="36576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Line 1109"/>
          <p:cNvSpPr>
            <a:spLocks noChangeShapeType="1"/>
          </p:cNvSpPr>
          <p:nvPr/>
        </p:nvSpPr>
        <p:spPr bwMode="auto">
          <a:xfrm>
            <a:off x="1219200" y="19050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9" name="Line 1110"/>
          <p:cNvSpPr>
            <a:spLocks noChangeShapeType="1"/>
          </p:cNvSpPr>
          <p:nvPr/>
        </p:nvSpPr>
        <p:spPr bwMode="auto">
          <a:xfrm>
            <a:off x="1219200" y="1905000"/>
            <a:ext cx="2895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Line 1111"/>
          <p:cNvSpPr>
            <a:spLocks noChangeShapeType="1"/>
          </p:cNvSpPr>
          <p:nvPr/>
        </p:nvSpPr>
        <p:spPr bwMode="auto">
          <a:xfrm>
            <a:off x="4495800" y="1371600"/>
            <a:ext cx="3429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1" name="Line 1112"/>
          <p:cNvSpPr>
            <a:spLocks noChangeShapeType="1"/>
          </p:cNvSpPr>
          <p:nvPr/>
        </p:nvSpPr>
        <p:spPr bwMode="auto">
          <a:xfrm>
            <a:off x="4495800" y="13716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2" name="Line 1113"/>
          <p:cNvSpPr>
            <a:spLocks noChangeShapeType="1"/>
          </p:cNvSpPr>
          <p:nvPr/>
        </p:nvSpPr>
        <p:spPr bwMode="auto">
          <a:xfrm>
            <a:off x="7924800" y="13716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3" name="Line 1114"/>
          <p:cNvSpPr>
            <a:spLocks noChangeShapeType="1"/>
          </p:cNvSpPr>
          <p:nvPr/>
        </p:nvSpPr>
        <p:spPr bwMode="auto">
          <a:xfrm>
            <a:off x="4114800" y="19050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Line 1115"/>
          <p:cNvSpPr>
            <a:spLocks noChangeShapeType="1"/>
          </p:cNvSpPr>
          <p:nvPr/>
        </p:nvSpPr>
        <p:spPr bwMode="auto">
          <a:xfrm>
            <a:off x="4876800" y="19050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5" name="Line 1116"/>
          <p:cNvSpPr>
            <a:spLocks noChangeShapeType="1"/>
          </p:cNvSpPr>
          <p:nvPr/>
        </p:nvSpPr>
        <p:spPr bwMode="auto">
          <a:xfrm>
            <a:off x="4876800" y="1905000"/>
            <a:ext cx="2514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6" name="Line 1117"/>
          <p:cNvSpPr>
            <a:spLocks noChangeShapeType="1"/>
          </p:cNvSpPr>
          <p:nvPr/>
        </p:nvSpPr>
        <p:spPr bwMode="auto">
          <a:xfrm>
            <a:off x="7391400" y="19050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7" name="Text Box 1118"/>
          <p:cNvSpPr txBox="1">
            <a:spLocks noChangeArrowheads="1"/>
          </p:cNvSpPr>
          <p:nvPr/>
        </p:nvSpPr>
        <p:spPr bwMode="auto">
          <a:xfrm>
            <a:off x="2286000" y="2844800"/>
            <a:ext cx="1397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要生产什么？</a:t>
            </a:r>
          </a:p>
        </p:txBody>
      </p:sp>
      <p:sp>
        <p:nvSpPr>
          <p:cNvPr id="23578" name="Text Box 1119"/>
          <p:cNvSpPr txBox="1">
            <a:spLocks noChangeArrowheads="1"/>
          </p:cNvSpPr>
          <p:nvPr/>
        </p:nvSpPr>
        <p:spPr bwMode="auto">
          <a:xfrm>
            <a:off x="5334000" y="2819400"/>
            <a:ext cx="1397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生产方法指令</a:t>
            </a:r>
          </a:p>
        </p:txBody>
      </p:sp>
      <p:sp>
        <p:nvSpPr>
          <p:cNvPr id="23579" name="Text Box 1120"/>
          <p:cNvSpPr txBox="1">
            <a:spLocks noChangeArrowheads="1"/>
          </p:cNvSpPr>
          <p:nvPr/>
        </p:nvSpPr>
        <p:spPr bwMode="auto">
          <a:xfrm>
            <a:off x="2084388" y="1568450"/>
            <a:ext cx="1190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生产了什么</a:t>
            </a:r>
          </a:p>
        </p:txBody>
      </p:sp>
      <p:sp>
        <p:nvSpPr>
          <p:cNvPr id="23580" name="Text Box 1121"/>
          <p:cNvSpPr txBox="1">
            <a:spLocks noChangeArrowheads="1"/>
          </p:cNvSpPr>
          <p:nvPr/>
        </p:nvSpPr>
        <p:spPr bwMode="auto">
          <a:xfrm>
            <a:off x="5686425" y="1035050"/>
            <a:ext cx="996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操作结果</a:t>
            </a:r>
          </a:p>
        </p:txBody>
      </p:sp>
      <p:sp>
        <p:nvSpPr>
          <p:cNvPr id="23581" name="Text Box 1122"/>
          <p:cNvSpPr txBox="1">
            <a:spLocks noChangeArrowheads="1"/>
          </p:cNvSpPr>
          <p:nvPr/>
        </p:nvSpPr>
        <p:spPr bwMode="auto">
          <a:xfrm>
            <a:off x="5686425" y="1600200"/>
            <a:ext cx="996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操作状态</a:t>
            </a:r>
          </a:p>
        </p:txBody>
      </p:sp>
      <p:sp>
        <p:nvSpPr>
          <p:cNvPr id="23582" name="Text Box 1123"/>
          <p:cNvSpPr txBox="1">
            <a:spLocks noChangeArrowheads="1"/>
          </p:cNvSpPr>
          <p:nvPr/>
        </p:nvSpPr>
        <p:spPr bwMode="auto">
          <a:xfrm>
            <a:off x="4776788" y="1905000"/>
            <a:ext cx="2806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生产了什么？是如何生产的？</a:t>
            </a:r>
          </a:p>
        </p:txBody>
      </p:sp>
      <p:sp>
        <p:nvSpPr>
          <p:cNvPr id="23583" name="Text Box 1124"/>
          <p:cNvSpPr txBox="1">
            <a:spLocks noChangeArrowheads="1"/>
          </p:cNvSpPr>
          <p:nvPr/>
        </p:nvSpPr>
        <p:spPr bwMode="auto">
          <a:xfrm>
            <a:off x="2590800" y="4038600"/>
            <a:ext cx="152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     生产方法及人员指令</a:t>
            </a:r>
          </a:p>
        </p:txBody>
      </p:sp>
      <p:sp>
        <p:nvSpPr>
          <p:cNvPr id="23584" name="Text Box 1125"/>
          <p:cNvSpPr txBox="1">
            <a:spLocks noChangeArrowheads="1"/>
          </p:cNvSpPr>
          <p:nvPr/>
        </p:nvSpPr>
        <p:spPr bwMode="auto">
          <a:xfrm>
            <a:off x="4800600" y="4038600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生产结果及人员反馈</a:t>
            </a:r>
          </a:p>
        </p:txBody>
      </p:sp>
      <p:sp>
        <p:nvSpPr>
          <p:cNvPr id="23585" name="Text Box 1126"/>
          <p:cNvSpPr txBox="1">
            <a:spLocks noChangeArrowheads="1"/>
          </p:cNvSpPr>
          <p:nvPr/>
        </p:nvSpPr>
        <p:spPr bwMode="auto">
          <a:xfrm>
            <a:off x="6172200" y="3962400"/>
            <a:ext cx="1219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     设备操纵控制</a:t>
            </a:r>
          </a:p>
        </p:txBody>
      </p:sp>
      <p:sp>
        <p:nvSpPr>
          <p:cNvPr id="23586" name="Text Box 1127"/>
          <p:cNvSpPr txBox="1">
            <a:spLocks noChangeArrowheads="1"/>
          </p:cNvSpPr>
          <p:nvPr/>
        </p:nvSpPr>
        <p:spPr bwMode="auto">
          <a:xfrm>
            <a:off x="7848600" y="3962400"/>
            <a:ext cx="990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输入/输出传感器值</a:t>
            </a:r>
          </a:p>
        </p:txBody>
      </p:sp>
      <p:sp>
        <p:nvSpPr>
          <p:cNvPr id="36" name="Rectangle 1101"/>
          <p:cNvSpPr>
            <a:spLocks noChangeArrowheads="1"/>
          </p:cNvSpPr>
          <p:nvPr/>
        </p:nvSpPr>
        <p:spPr bwMode="auto">
          <a:xfrm>
            <a:off x="457200" y="4430432"/>
            <a:ext cx="1828800" cy="838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chemeClr val="bg1"/>
                </a:solidFill>
              </a:rPr>
              <a:t>物料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0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0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0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8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78903"/>
          </a:xfrm>
        </p:spPr>
        <p:txBody>
          <a:bodyPr/>
          <a:lstStyle/>
          <a:p>
            <a:pPr algn="ctr">
              <a:defRPr/>
            </a:pPr>
            <a:r>
              <a:rPr kumimoji="1" lang="en-US" altLang="zh-CN" sz="2800" u="sng" dirty="0">
                <a:latin typeface="Times New Roman" panose="02020603050405020304" pitchFamily="18" charset="0"/>
              </a:rPr>
              <a:t>ERP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与</a:t>
            </a:r>
            <a:r>
              <a:rPr kumimoji="1" lang="en-US" altLang="zh-CN" sz="2800" u="sng" dirty="0">
                <a:latin typeface="Times New Roman" panose="02020603050405020304" pitchFamily="18" charset="0"/>
              </a:rPr>
              <a:t>MES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之间的信息集成</a:t>
            </a:r>
          </a:p>
        </p:txBody>
      </p:sp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430088" y="1496143"/>
            <a:ext cx="2057400" cy="5029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sz="16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ERP</a:t>
            </a:r>
          </a:p>
          <a:p>
            <a:pPr algn="ctr" eaLnBrk="0" hangingPunct="0">
              <a:spcBef>
                <a:spcPct val="40000"/>
              </a:spcBef>
            </a:pPr>
            <a:endParaRPr lang="zh-CN" altLang="en-US" sz="1600" dirty="0">
              <a:solidFill>
                <a:schemeClr val="bg1"/>
              </a:solidFill>
            </a:endParaRP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预测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成本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生产计划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产品定义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工艺定义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人力资源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采购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</a:rPr>
              <a:t>分销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……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6907088" y="1496143"/>
            <a:ext cx="2057400" cy="50292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sz="1600" b="1" u="sng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资源分配/状态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操作调度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生产分派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文档控制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数据采集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在制品状态/跟踪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质量管理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性能分析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过程管理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产品跟踪及谱系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维护管理</a:t>
            </a:r>
          </a:p>
        </p:txBody>
      </p:sp>
      <p:sp>
        <p:nvSpPr>
          <p:cNvPr id="321542" name="AutoShape 6"/>
          <p:cNvSpPr>
            <a:spLocks noChangeArrowheads="1"/>
          </p:cNvSpPr>
          <p:nvPr/>
        </p:nvSpPr>
        <p:spPr bwMode="auto">
          <a:xfrm>
            <a:off x="2792288" y="1496143"/>
            <a:ext cx="3886200" cy="2362200"/>
          </a:xfrm>
          <a:prstGeom prst="chevron">
            <a:avLst>
              <a:gd name="adj" fmla="val 19612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产品需求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BOM/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图纸/零件程序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生产方法/资源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工艺规程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人员特性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库存状态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 生产指令</a:t>
            </a:r>
            <a:r>
              <a:rPr lang="zh-CN" altLang="en-US" sz="1600" dirty="0">
                <a:latin typeface="Arial" panose="020B0604020202020204" pitchFamily="34" charset="0"/>
                <a:ea typeface="华文中宋" panose="02010600040101010101" pitchFamily="2" charset="-122"/>
              </a:rPr>
              <a:t>…</a:t>
            </a:r>
            <a:endParaRPr lang="zh-CN" alt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06" name="AutoShape 7"/>
          <p:cNvSpPr>
            <a:spLocks noChangeArrowheads="1"/>
          </p:cNvSpPr>
          <p:nvPr/>
        </p:nvSpPr>
        <p:spPr bwMode="auto">
          <a:xfrm rot="10800000">
            <a:off x="2792288" y="4010743"/>
            <a:ext cx="3810000" cy="2514600"/>
          </a:xfrm>
          <a:prstGeom prst="chevron">
            <a:avLst>
              <a:gd name="adj" fmla="val 13629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订单状态/完成情况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资源状态/利用情况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人员状况/利用情况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物料状况/利用情况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实际的</a:t>
            </a:r>
            <a:r>
              <a:rPr lang="en-US" altLang="zh-CN" sz="1600">
                <a:latin typeface="华文中宋" panose="02010600040101010101" pitchFamily="2" charset="-122"/>
                <a:ea typeface="华文中宋" panose="02010600040101010101" pitchFamily="2" charset="-122"/>
              </a:rPr>
              <a:t>BOM/</a:t>
            </a: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图纸/方法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实际的加工路线/工艺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产品谱系，废品/次品</a:t>
            </a:r>
            <a:r>
              <a:rPr lang="zh-CN" altLang="en-US" sz="1600">
                <a:latin typeface="Arial" panose="020B0604020202020204" pitchFamily="34" charset="0"/>
                <a:ea typeface="华文中宋" panose="02010600040101010101" pitchFamily="2" charset="-122"/>
              </a:rPr>
              <a:t>…</a:t>
            </a:r>
            <a:endParaRPr lang="zh-CN" altLang="en-US" sz="16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Line 1103"/>
          <p:cNvSpPr>
            <a:spLocks noChangeShapeType="1"/>
          </p:cNvSpPr>
          <p:nvPr/>
        </p:nvSpPr>
        <p:spPr bwMode="auto">
          <a:xfrm>
            <a:off x="3995936" y="1628800"/>
            <a:ext cx="1295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103"/>
          <p:cNvSpPr>
            <a:spLocks noChangeShapeType="1"/>
          </p:cNvSpPr>
          <p:nvPr/>
        </p:nvSpPr>
        <p:spPr bwMode="auto">
          <a:xfrm flipH="1">
            <a:off x="3995936" y="4149080"/>
            <a:ext cx="144016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37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2" grpId="0" animBg="1"/>
      <p:bldP spid="2560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57200"/>
          </a:xfrm>
        </p:spPr>
        <p:txBody>
          <a:bodyPr anchor="t"/>
          <a:lstStyle/>
          <a:p>
            <a:pPr algn="ctr">
              <a:defRPr/>
            </a:pPr>
            <a:r>
              <a:rPr lang="en-US" altLang="zh-C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之间的信息流</a:t>
            </a:r>
          </a:p>
        </p:txBody>
      </p:sp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6781800" y="1424135"/>
            <a:ext cx="2057400" cy="5029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sz="2000" u="sng" dirty="0">
                <a:solidFill>
                  <a:srgbClr val="FFFF00"/>
                </a:solidFill>
              </a:rPr>
              <a:t>PCS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9900"/>
                </a:solidFill>
              </a:rPr>
              <a:t>监视与传感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过程，设备，环境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人员，物料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rgbClr val="FF9900"/>
                </a:solidFill>
              </a:rPr>
              <a:t>控制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机器控制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调整控制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实时质量控制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高级过程控制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rgbClr val="FF9900"/>
                </a:solidFill>
              </a:rPr>
              <a:t>操作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过程排序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机器与过程指令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人员指令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人机接口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安全，维护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304800" y="1424135"/>
            <a:ext cx="2057400" cy="50292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sz="2000" u="sng" dirty="0">
                <a:solidFill>
                  <a:srgbClr val="FF3300"/>
                </a:solidFill>
              </a:rPr>
              <a:t>MES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资源分配/状态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操作调度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生产分派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文档控制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数据采集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在制品状态/跟踪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质量管理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性能分析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过程管理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产品跟踪及谱系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1600" dirty="0">
                <a:solidFill>
                  <a:srgbClr val="FF3300"/>
                </a:solidFill>
              </a:rPr>
              <a:t>维护管理</a:t>
            </a:r>
          </a:p>
        </p:txBody>
      </p:sp>
      <p:sp>
        <p:nvSpPr>
          <p:cNvPr id="322565" name="AutoShape 5"/>
          <p:cNvSpPr>
            <a:spLocks noChangeArrowheads="1"/>
          </p:cNvSpPr>
          <p:nvPr/>
        </p:nvSpPr>
        <p:spPr bwMode="auto">
          <a:xfrm>
            <a:off x="2667000" y="1424135"/>
            <a:ext cx="3886200" cy="2362200"/>
          </a:xfrm>
          <a:prstGeom prst="chevron">
            <a:avLst>
              <a:gd name="adj" fmla="val 19612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过程指令：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方法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工作指令/零件程序</a:t>
            </a:r>
            <a:r>
              <a:rPr lang="zh-CN" altLang="en-US" sz="1600" dirty="0">
                <a:latin typeface="Arial" panose="020B0604020202020204" pitchFamily="34" charset="0"/>
                <a:ea typeface="华文中宋" panose="02010600040101010101" pitchFamily="2" charset="-122"/>
              </a:rPr>
              <a:t>…</a:t>
            </a:r>
            <a:endParaRPr lang="zh-CN" alt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操作员指令：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预定/预防性维护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物料安全指令（文档）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机器操作指令（文档）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 dirty="0">
                <a:latin typeface="Arial" panose="020B0604020202020204" pitchFamily="34" charset="0"/>
                <a:ea typeface="华文中宋" panose="02010600040101010101" pitchFamily="2" charset="-122"/>
              </a:rPr>
              <a:t>……</a:t>
            </a:r>
            <a:endParaRPr lang="zh-CN" alt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 rot="10800000">
            <a:off x="2667000" y="3938735"/>
            <a:ext cx="3810000" cy="2514600"/>
          </a:xfrm>
          <a:prstGeom prst="chevron">
            <a:avLst>
              <a:gd name="adj" fmla="val 13629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过程状态（工序进展）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批次结束报告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特别查询（设备运行参数）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物料分析（使用状况）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事件: 时间/日期/批/警报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数据采集</a:t>
            </a:r>
          </a:p>
          <a:p>
            <a:pPr algn="ctr" eaLnBrk="0" hangingPunct="0">
              <a:lnSpc>
                <a:spcPct val="70000"/>
              </a:lnSpc>
              <a:spcBef>
                <a:spcPct val="40000"/>
              </a:spcBef>
            </a:pPr>
            <a:r>
              <a:rPr lang="zh-CN" altLang="en-US" sz="1600">
                <a:latin typeface="Arial" panose="020B0604020202020204" pitchFamily="34" charset="0"/>
                <a:ea typeface="华文中宋" panose="02010600040101010101" pitchFamily="2" charset="-122"/>
              </a:rPr>
              <a:t>……</a:t>
            </a:r>
            <a:endParaRPr lang="zh-CN" altLang="en-US" sz="16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Line 1103"/>
          <p:cNvSpPr>
            <a:spLocks noChangeShapeType="1"/>
          </p:cNvSpPr>
          <p:nvPr/>
        </p:nvSpPr>
        <p:spPr bwMode="auto">
          <a:xfrm>
            <a:off x="3851920" y="1554087"/>
            <a:ext cx="1439416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103"/>
          <p:cNvSpPr>
            <a:spLocks noChangeShapeType="1"/>
          </p:cNvSpPr>
          <p:nvPr/>
        </p:nvSpPr>
        <p:spPr bwMode="auto">
          <a:xfrm flipH="1">
            <a:off x="3779912" y="4127903"/>
            <a:ext cx="144016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77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nimBg="1"/>
      <p:bldP spid="2663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/>
          <p:cNvSpPr txBox="1"/>
          <p:nvPr/>
        </p:nvSpPr>
        <p:spPr>
          <a:xfrm>
            <a:off x="129541" y="6400800"/>
            <a:ext cx="8884919" cy="369332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/>
              <a:t>Reference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C00000"/>
                </a:solidFill>
              </a:rPr>
              <a:t>中国制造</a:t>
            </a:r>
            <a:r>
              <a:rPr lang="en-US" altLang="zh-CN" dirty="0">
                <a:solidFill>
                  <a:srgbClr val="C00000"/>
                </a:solidFill>
              </a:rPr>
              <a:t>2025</a:t>
            </a:r>
            <a:r>
              <a:rPr lang="zh-CN" altLang="en-US" dirty="0">
                <a:solidFill>
                  <a:srgbClr val="C00000"/>
                </a:solidFill>
              </a:rPr>
              <a:t>系列丛书</a:t>
            </a:r>
            <a:r>
              <a:rPr lang="en-US" altLang="zh-CN" dirty="0">
                <a:solidFill>
                  <a:srgbClr val="C00000"/>
                </a:solidFill>
              </a:rPr>
              <a:t>——</a:t>
            </a:r>
            <a:r>
              <a:rPr lang="zh-CN" altLang="en-US" dirty="0">
                <a:solidFill>
                  <a:srgbClr val="C00000"/>
                </a:solidFill>
              </a:rPr>
              <a:t>智能制造</a:t>
            </a:r>
            <a:r>
              <a:rPr lang="en-US" altLang="zh-CN" dirty="0">
                <a:solidFill>
                  <a:srgbClr val="C00000"/>
                </a:solidFill>
              </a:rPr>
              <a:t>. </a:t>
            </a:r>
            <a:r>
              <a:rPr lang="zh-CN" altLang="en-US" dirty="0">
                <a:solidFill>
                  <a:srgbClr val="C00000"/>
                </a:solidFill>
              </a:rPr>
              <a:t>北京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C00000"/>
                </a:solidFill>
              </a:rPr>
              <a:t>电子工业出版社</a:t>
            </a:r>
            <a:r>
              <a:rPr lang="en-US" altLang="zh-CN" dirty="0">
                <a:solidFill>
                  <a:srgbClr val="C00000"/>
                </a:solidFill>
              </a:rPr>
              <a:t>, 2016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021" y="2182975"/>
            <a:ext cx="6583958" cy="3760625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81000" y="1295400"/>
            <a:ext cx="8229600" cy="51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800" b="1" kern="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智能制造强国进程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1187" y="476672"/>
            <a:ext cx="791368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0"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1.4  </a:t>
            </a:r>
            <a:r>
              <a:rPr kumimoji="0" lang="zh-CN" altLang="en-US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系统集成与智能制造</a:t>
            </a:r>
            <a:endParaRPr lang="zh-CN" altLang="en-US" sz="2800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4514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组合 20"/>
          <p:cNvGrpSpPr>
            <a:grpSpLocks/>
          </p:cNvGrpSpPr>
          <p:nvPr/>
        </p:nvGrpSpPr>
        <p:grpSpPr bwMode="auto">
          <a:xfrm>
            <a:off x="1092397" y="1739536"/>
            <a:ext cx="7224019" cy="2553560"/>
            <a:chOff x="421675" y="1564466"/>
            <a:chExt cx="8450572" cy="3088670"/>
          </a:xfrm>
        </p:grpSpPr>
        <p:sp>
          <p:nvSpPr>
            <p:cNvPr id="27" name="矩形 26"/>
            <p:cNvSpPr/>
            <p:nvPr/>
          </p:nvSpPr>
          <p:spPr>
            <a:xfrm>
              <a:off x="2029374" y="1564466"/>
              <a:ext cx="6710197" cy="2938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54454" y="1599811"/>
              <a:ext cx="1598335" cy="2938919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" name="矩形 28"/>
            <p:cNvSpPr>
              <a:spLocks noChangeArrowheads="1"/>
            </p:cNvSpPr>
            <p:nvPr/>
          </p:nvSpPr>
          <p:spPr bwMode="auto">
            <a:xfrm>
              <a:off x="2107419" y="2739422"/>
              <a:ext cx="6554111" cy="6913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500" dirty="0"/>
                <a:t>利用传感技术、工业控制技术及其他先进技术嵌入传统产品和服务，增强产品的智能性、网络性和沟通性。</a:t>
              </a:r>
            </a:p>
          </p:txBody>
        </p:sp>
        <p:sp>
          <p:nvSpPr>
            <p:cNvPr id="31753" name="TextBox 4"/>
            <p:cNvSpPr txBox="1">
              <a:spLocks noChangeArrowheads="1"/>
            </p:cNvSpPr>
            <p:nvPr/>
          </p:nvSpPr>
          <p:spPr bwMode="auto">
            <a:xfrm>
              <a:off x="466127" y="1871324"/>
              <a:ext cx="1585970" cy="475299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</a:pPr>
              <a:r>
                <a:rPr lang="zh-CN" altLang="en-US" sz="1500" dirty="0">
                  <a:latin typeface="微软雅黑" pitchFamily="34" charset="-122"/>
                  <a:ea typeface="微软雅黑" pitchFamily="34" charset="-122"/>
                </a:rPr>
                <a:t>生产智能化</a:t>
              </a:r>
            </a:p>
          </p:txBody>
        </p:sp>
        <p:sp>
          <p:nvSpPr>
            <p:cNvPr id="31" name="矩形 30"/>
            <p:cNvSpPr>
              <a:spLocks noChangeArrowheads="1"/>
            </p:cNvSpPr>
            <p:nvPr/>
          </p:nvSpPr>
          <p:spPr bwMode="auto">
            <a:xfrm>
              <a:off x="2107419" y="1801880"/>
              <a:ext cx="6554111" cy="6913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500" dirty="0"/>
                <a:t>借助模拟专家的智能活动</a:t>
              </a:r>
              <a:r>
                <a:rPr lang="en-US" altLang="zh-CN" sz="1500" dirty="0"/>
                <a:t>,</a:t>
              </a:r>
              <a:r>
                <a:rPr lang="zh-CN" altLang="en-US" sz="1500" dirty="0"/>
                <a:t>取代或延伸制造环境中人的部分手工和脑力劳动。</a:t>
              </a:r>
            </a:p>
          </p:txBody>
        </p:sp>
        <p:sp>
          <p:nvSpPr>
            <p:cNvPr id="31755" name="TextBox 6"/>
            <p:cNvSpPr txBox="1">
              <a:spLocks noChangeArrowheads="1"/>
            </p:cNvSpPr>
            <p:nvPr/>
          </p:nvSpPr>
          <p:spPr bwMode="auto">
            <a:xfrm>
              <a:off x="455014" y="2804946"/>
              <a:ext cx="1584384" cy="475299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</a:pPr>
              <a:r>
                <a:rPr lang="zh-CN" altLang="en-US" sz="1500">
                  <a:latin typeface="微软雅黑" pitchFamily="34" charset="-122"/>
                  <a:ea typeface="微软雅黑" pitchFamily="34" charset="-122"/>
                </a:rPr>
                <a:t>产品信息化</a:t>
              </a:r>
            </a:p>
          </p:txBody>
        </p:sp>
        <p:sp>
          <p:nvSpPr>
            <p:cNvPr id="31756" name="TextBox 8"/>
            <p:cNvSpPr txBox="1">
              <a:spLocks noChangeArrowheads="1"/>
            </p:cNvSpPr>
            <p:nvPr/>
          </p:nvSpPr>
          <p:spPr bwMode="auto">
            <a:xfrm>
              <a:off x="466127" y="3738568"/>
              <a:ext cx="1585970" cy="475299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</a:pPr>
              <a:r>
                <a:rPr lang="zh-CN" altLang="en-US" sz="1500" dirty="0">
                  <a:latin typeface="微软雅黑" pitchFamily="34" charset="-122"/>
                  <a:ea typeface="微软雅黑" pitchFamily="34" charset="-122"/>
                </a:rPr>
                <a:t>管理精细化</a:t>
              </a:r>
            </a:p>
          </p:txBody>
        </p:sp>
        <p:sp>
          <p:nvSpPr>
            <p:cNvPr id="34" name="矩形 33"/>
            <p:cNvSpPr>
              <a:spLocks noChangeArrowheads="1"/>
            </p:cNvSpPr>
            <p:nvPr/>
          </p:nvSpPr>
          <p:spPr bwMode="auto">
            <a:xfrm>
              <a:off x="2073081" y="3632391"/>
              <a:ext cx="6550989" cy="10051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dirty="0">
                  <a:latin typeface="华文楷体" pitchFamily="2" charset="-122"/>
                  <a:ea typeface="华文楷体" pitchFamily="2" charset="-122"/>
                </a:rPr>
                <a:t>提高包括产品设计、生产制造、采购、市场开拓、销售和服务支持等环节的智能化水平，从而极大提高管理水平。</a:t>
              </a:r>
            </a:p>
          </p:txBody>
        </p:sp>
        <p:sp>
          <p:nvSpPr>
            <p:cNvPr id="35" name="矩形 34"/>
            <p:cNvSpPr>
              <a:spLocks noChangeArrowheads="1"/>
            </p:cNvSpPr>
            <p:nvPr/>
          </p:nvSpPr>
          <p:spPr bwMode="auto">
            <a:xfrm>
              <a:off x="2073081" y="2739422"/>
              <a:ext cx="6552549" cy="7073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dirty="0">
                  <a:latin typeface="华文楷体" pitchFamily="2" charset="-122"/>
                  <a:ea typeface="华文楷体" pitchFamily="2" charset="-122"/>
                </a:rPr>
                <a:t>利用传感技术、工业控制技术及其他先进技术嵌入传统产品和服务，增强产品的智能性、网络性和沟通性。</a:t>
              </a:r>
            </a:p>
          </p:txBody>
        </p:sp>
        <p:sp>
          <p:nvSpPr>
            <p:cNvPr id="36" name="矩形 35"/>
            <p:cNvSpPr>
              <a:spLocks noChangeArrowheads="1"/>
            </p:cNvSpPr>
            <p:nvPr/>
          </p:nvSpPr>
          <p:spPr bwMode="auto">
            <a:xfrm>
              <a:off x="2073081" y="1801880"/>
              <a:ext cx="6552549" cy="7073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dirty="0">
                  <a:latin typeface="华文楷体" pitchFamily="2" charset="-122"/>
                  <a:ea typeface="华文楷体" pitchFamily="2" charset="-122"/>
                </a:rPr>
                <a:t>借助模拟专家的智能活动</a:t>
              </a:r>
              <a:r>
                <a:rPr lang="en-US" altLang="zh-CN" sz="1600" dirty="0">
                  <a:latin typeface="华文楷体" pitchFamily="2" charset="-122"/>
                  <a:ea typeface="华文楷体" pitchFamily="2" charset="-122"/>
                </a:rPr>
                <a:t>,</a:t>
              </a:r>
              <a:r>
                <a:rPr lang="zh-CN" altLang="en-US" sz="1600" dirty="0">
                  <a:latin typeface="华文楷体" pitchFamily="2" charset="-122"/>
                  <a:ea typeface="华文楷体" pitchFamily="2" charset="-122"/>
                </a:rPr>
                <a:t>取代或延伸制造环境中人的部分手工和脑力劳动。</a:t>
              </a: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421675" y="2543296"/>
              <a:ext cx="843808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34162" y="3512039"/>
              <a:ext cx="843808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52789" y="1599811"/>
              <a:ext cx="0" cy="305332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47" name="标题 1"/>
          <p:cNvSpPr>
            <a:spLocks noGrp="1"/>
          </p:cNvSpPr>
          <p:nvPr>
            <p:ph type="title"/>
          </p:nvPr>
        </p:nvSpPr>
        <p:spPr>
          <a:xfrm>
            <a:off x="899592" y="1096478"/>
            <a:ext cx="6172200" cy="604330"/>
          </a:xfrm>
        </p:spPr>
        <p:txBody>
          <a:bodyPr/>
          <a:lstStyle/>
          <a:p>
            <a:pPr algn="l" eaLnBrk="1" hangingPunct="1"/>
            <a:r>
              <a:rPr lang="zh-CN" altLang="en-US" sz="2400" dirty="0">
                <a:ea typeface="宋体" pitchFamily="2" charset="-122"/>
              </a:rPr>
              <a:t>智能制造内涵及特征</a:t>
            </a:r>
          </a:p>
        </p:txBody>
      </p:sp>
      <p:sp>
        <p:nvSpPr>
          <p:cNvPr id="62" name="矩形 61"/>
          <p:cNvSpPr/>
          <p:nvPr/>
        </p:nvSpPr>
        <p:spPr>
          <a:xfrm>
            <a:off x="1092397" y="4970640"/>
            <a:ext cx="7224019" cy="133882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智能</a:t>
            </a:r>
            <a:r>
              <a:rPr lang="zh-CN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制造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通过各类</a:t>
            </a:r>
            <a:r>
              <a:rPr lang="zh-CN" altLang="en-US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感知技术</a:t>
            </a:r>
            <a:r>
              <a:rPr lang="zh-CN" altLang="zh-CN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、网络传输</a:t>
            </a:r>
            <a:r>
              <a:rPr lang="zh-CN" altLang="en-US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技术</a:t>
            </a:r>
            <a:r>
              <a:rPr lang="zh-CN" altLang="zh-CN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、工业控制技术</a:t>
            </a:r>
            <a:r>
              <a:rPr lang="zh-CN" altLang="en-US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等</a:t>
            </a:r>
            <a:r>
              <a:rPr lang="zh-CN" altLang="zh-CN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实现对工业制造全流程的“感知”，并实施智能控制</a:t>
            </a:r>
            <a:r>
              <a:rPr lang="zh-CN" altLang="en-US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与决策</a:t>
            </a:r>
            <a:r>
              <a:rPr lang="zh-CN" altLang="zh-CN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以</a:t>
            </a:r>
            <a:r>
              <a:rPr lang="zh-CN" altLang="zh-CN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提高产品质量</a:t>
            </a:r>
            <a:r>
              <a:rPr lang="zh-CN" altLang="en-US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和</a:t>
            </a:r>
            <a:r>
              <a:rPr lang="zh-CN" altLang="zh-CN" sz="18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服务水平、降低成本。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虚尾箭头 63"/>
          <p:cNvSpPr/>
          <p:nvPr/>
        </p:nvSpPr>
        <p:spPr>
          <a:xfrm rot="5400000">
            <a:off x="4248293" y="4328791"/>
            <a:ext cx="639476" cy="542276"/>
          </a:xfrm>
          <a:prstGeom prst="striped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611187" y="476672"/>
            <a:ext cx="791368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0"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1.4  </a:t>
            </a:r>
            <a:r>
              <a:rPr kumimoji="0" lang="zh-CN" altLang="en-US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系统集成与智能制造</a:t>
            </a:r>
            <a:endParaRPr lang="zh-CN" altLang="en-US" sz="2800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156842"/>
      </p:ext>
    </p:extLst>
  </p:cSld>
  <p:clrMapOvr>
    <a:masterClrMapping/>
  </p:clrMapOvr>
  <p:transition advTm="7000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图片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7"/>
            <a:ext cx="7272808" cy="391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矩形 61"/>
          <p:cNvSpPr>
            <a:spLocks noChangeArrowheads="1"/>
          </p:cNvSpPr>
          <p:nvPr/>
        </p:nvSpPr>
        <p:spPr bwMode="auto">
          <a:xfrm>
            <a:off x="2267744" y="5873497"/>
            <a:ext cx="1565672" cy="507831"/>
          </a:xfrm>
          <a:prstGeom prst="rect">
            <a:avLst/>
          </a:prstGeom>
          <a:solidFill>
            <a:srgbClr val="9BBB59"/>
          </a:solidFill>
          <a:ln w="381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>
                <a:latin typeface="黑体" pitchFamily="49" charset="-122"/>
                <a:ea typeface="黑体" pitchFamily="49" charset="-122"/>
              </a:rPr>
              <a:t>生产型</a:t>
            </a:r>
            <a:r>
              <a:rPr lang="zh-CN" altLang="zh-CN" sz="1800">
                <a:latin typeface="黑体" pitchFamily="49" charset="-122"/>
                <a:ea typeface="黑体" pitchFamily="49" charset="-122"/>
              </a:rPr>
              <a:t>制</a:t>
            </a:r>
            <a:r>
              <a:rPr lang="zh-CN" altLang="en-US" sz="1800">
                <a:latin typeface="黑体" pitchFamily="49" charset="-122"/>
                <a:ea typeface="黑体" pitchFamily="49" charset="-122"/>
              </a:rPr>
              <a:t>造</a:t>
            </a:r>
          </a:p>
        </p:txBody>
      </p:sp>
      <p:sp>
        <p:nvSpPr>
          <p:cNvPr id="29701" name="矩形 61"/>
          <p:cNvSpPr>
            <a:spLocks noChangeArrowheads="1"/>
          </p:cNvSpPr>
          <p:nvPr/>
        </p:nvSpPr>
        <p:spPr bwMode="auto">
          <a:xfrm>
            <a:off x="5562203" y="5873497"/>
            <a:ext cx="1565672" cy="507831"/>
          </a:xfrm>
          <a:prstGeom prst="rect">
            <a:avLst/>
          </a:prstGeom>
          <a:solidFill>
            <a:srgbClr val="9BBB59"/>
          </a:solidFill>
          <a:ln w="381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latin typeface="黑体" pitchFamily="49" charset="-122"/>
                <a:ea typeface="黑体" pitchFamily="49" charset="-122"/>
              </a:rPr>
              <a:t>服务型</a:t>
            </a:r>
            <a:r>
              <a:rPr lang="zh-CN" altLang="zh-CN" sz="1800" dirty="0">
                <a:latin typeface="黑体" pitchFamily="49" charset="-122"/>
                <a:ea typeface="黑体" pitchFamily="49" charset="-122"/>
              </a:rPr>
              <a:t>制</a:t>
            </a:r>
            <a:r>
              <a:rPr lang="zh-CN" altLang="en-US" sz="1800" dirty="0">
                <a:latin typeface="黑体" pitchFamily="49" charset="-122"/>
                <a:ea typeface="黑体" pitchFamily="49" charset="-122"/>
              </a:rPr>
              <a:t>造</a:t>
            </a:r>
          </a:p>
        </p:txBody>
      </p:sp>
      <p:sp>
        <p:nvSpPr>
          <p:cNvPr id="21" name="下箭头 20"/>
          <p:cNvSpPr>
            <a:spLocks noChangeArrowheads="1"/>
          </p:cNvSpPr>
          <p:nvPr/>
        </p:nvSpPr>
        <p:spPr bwMode="auto">
          <a:xfrm rot="16200000">
            <a:off x="4508500" y="5270756"/>
            <a:ext cx="378619" cy="1728788"/>
          </a:xfrm>
          <a:prstGeom prst="downArrow">
            <a:avLst>
              <a:gd name="adj1" fmla="val 54870"/>
              <a:gd name="adj2" fmla="val 126433"/>
            </a:avLst>
          </a:prstGeom>
          <a:solidFill>
            <a:srgbClr val="E6B9B8"/>
          </a:solidFill>
          <a:ln w="12700" algn="ctr">
            <a:solidFill>
              <a:srgbClr val="385D8A"/>
            </a:solidFill>
            <a:miter lim="800000"/>
            <a:headEnd/>
            <a:tailEnd/>
          </a:ln>
        </p:spPr>
        <p:txBody>
          <a:bodyPr vert="eaVert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3996531" y="5639850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转型升级</a:t>
            </a:r>
          </a:p>
        </p:txBody>
      </p:sp>
      <p:sp>
        <p:nvSpPr>
          <p:cNvPr id="29704" name="矩形 1"/>
          <p:cNvSpPr>
            <a:spLocks noChangeArrowheads="1"/>
          </p:cNvSpPr>
          <p:nvPr/>
        </p:nvSpPr>
        <p:spPr bwMode="auto">
          <a:xfrm>
            <a:off x="752606" y="754008"/>
            <a:ext cx="3009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100" dirty="0"/>
              <a:t>制造业发展趋势</a:t>
            </a:r>
          </a:p>
        </p:txBody>
      </p:sp>
    </p:spTree>
    <p:extLst>
      <p:ext uri="{BB962C8B-B14F-4D97-AF65-F5344CB8AC3E}">
        <p14:creationId xmlns:p14="http://schemas.microsoft.com/office/powerpoint/2010/main" val="2781579387"/>
      </p:ext>
    </p:extLst>
  </p:cSld>
  <p:clrMapOvr>
    <a:masterClrMapping/>
  </p:clrMapOvr>
  <p:transition advTm="7000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 rot="20463502">
            <a:off x="1851422" y="2552700"/>
            <a:ext cx="5237559" cy="2439591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50180" name="矩形 17"/>
          <p:cNvSpPr>
            <a:spLocks noChangeArrowheads="1"/>
          </p:cNvSpPr>
          <p:nvPr/>
        </p:nvSpPr>
        <p:spPr bwMode="auto">
          <a:xfrm>
            <a:off x="3702854" y="2939655"/>
            <a:ext cx="1114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dirty="0">
                <a:solidFill>
                  <a:srgbClr val="FF0000"/>
                </a:solidFill>
              </a:rPr>
              <a:t>生产制造</a:t>
            </a:r>
          </a:p>
        </p:txBody>
      </p:sp>
      <p:grpSp>
        <p:nvGrpSpPr>
          <p:cNvPr id="32772" name="组合 19"/>
          <p:cNvGrpSpPr>
            <a:grpSpLocks/>
          </p:cNvGrpSpPr>
          <p:nvPr/>
        </p:nvGrpSpPr>
        <p:grpSpPr bwMode="auto">
          <a:xfrm>
            <a:off x="2574131" y="2239566"/>
            <a:ext cx="1339454" cy="1232297"/>
            <a:chOff x="285720" y="1785926"/>
            <a:chExt cx="4429156" cy="3071834"/>
          </a:xfrm>
        </p:grpSpPr>
        <p:sp>
          <p:nvSpPr>
            <p:cNvPr id="32794" name="圆角矩形 3"/>
            <p:cNvSpPr>
              <a:spLocks noChangeArrowheads="1"/>
            </p:cNvSpPr>
            <p:nvPr/>
          </p:nvSpPr>
          <p:spPr bwMode="auto">
            <a:xfrm>
              <a:off x="285720" y="1785926"/>
              <a:ext cx="4429156" cy="3071834"/>
            </a:xfrm>
            <a:prstGeom prst="roundRect">
              <a:avLst>
                <a:gd name="adj" fmla="val 1384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800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pic>
          <p:nvPicPr>
            <p:cNvPr id="22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7158" y="1857363"/>
              <a:ext cx="4286280" cy="2887559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3389710" y="4563666"/>
            <a:ext cx="1232297" cy="1415891"/>
            <a:chOff x="3929058" y="4214818"/>
            <a:chExt cx="1643073" cy="1889369"/>
          </a:xfrm>
        </p:grpSpPr>
        <p:pic>
          <p:nvPicPr>
            <p:cNvPr id="23" name="Picture 20" descr="C:\Users\MT\Desktop\新建文件夹\图片24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29058" y="4214818"/>
              <a:ext cx="1643073" cy="1500198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50201" name="矩形 23"/>
            <p:cNvSpPr>
              <a:spLocks noChangeArrowheads="1"/>
            </p:cNvSpPr>
            <p:nvPr/>
          </p:nvSpPr>
          <p:spPr bwMode="auto">
            <a:xfrm>
              <a:off x="4000494" y="5611349"/>
              <a:ext cx="1500197" cy="492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1800">
                  <a:solidFill>
                    <a:srgbClr val="FF0000"/>
                  </a:solidFill>
                </a:rPr>
                <a:t>终端消费</a:t>
              </a:r>
            </a:p>
          </p:txBody>
        </p: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5591175" y="3718324"/>
            <a:ext cx="1195388" cy="1362313"/>
            <a:chOff x="6500826" y="3357562"/>
            <a:chExt cx="1593616" cy="1820624"/>
          </a:xfrm>
        </p:grpSpPr>
        <p:pic>
          <p:nvPicPr>
            <p:cNvPr id="25" name="Picture 8" descr="D:\CHENXI\dev\团队\华工科技\物联网技术研发及产业化专项\奶粉产量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00826" y="3357562"/>
              <a:ext cx="1593616" cy="142876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50199" name="矩形 25"/>
            <p:cNvSpPr>
              <a:spLocks noChangeArrowheads="1"/>
            </p:cNvSpPr>
            <p:nvPr/>
          </p:nvSpPr>
          <p:spPr bwMode="auto">
            <a:xfrm>
              <a:off x="6715108" y="4684603"/>
              <a:ext cx="1142832" cy="493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1800" dirty="0">
                  <a:solidFill>
                    <a:srgbClr val="FF0000"/>
                  </a:solidFill>
                </a:rPr>
                <a:t>分销</a:t>
              </a:r>
            </a:p>
          </p:txBody>
        </p:sp>
      </p:grp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5787630" y="1920479"/>
            <a:ext cx="1253728" cy="1825050"/>
            <a:chOff x="7143768" y="857232"/>
            <a:chExt cx="1671658" cy="2432109"/>
          </a:xfrm>
        </p:grpSpPr>
        <p:sp>
          <p:nvSpPr>
            <p:cNvPr id="50196" name="矩形 27"/>
            <p:cNvSpPr>
              <a:spLocks noChangeArrowheads="1"/>
            </p:cNvSpPr>
            <p:nvPr/>
          </p:nvSpPr>
          <p:spPr bwMode="auto">
            <a:xfrm>
              <a:off x="7358083" y="2428024"/>
              <a:ext cx="1143014" cy="861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1800" dirty="0">
                  <a:solidFill>
                    <a:srgbClr val="FF0000"/>
                  </a:solidFill>
                </a:rPr>
                <a:t>仓储物流</a:t>
              </a:r>
            </a:p>
          </p:txBody>
        </p:sp>
        <p:pic>
          <p:nvPicPr>
            <p:cNvPr id="29" name="Picture 10" descr="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143768" y="857232"/>
              <a:ext cx="1671658" cy="1698621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1606155" y="4358878"/>
            <a:ext cx="991790" cy="1329749"/>
            <a:chOff x="857224" y="5072074"/>
            <a:chExt cx="1321603" cy="1769956"/>
          </a:xfrm>
        </p:grpSpPr>
        <p:pic>
          <p:nvPicPr>
            <p:cNvPr id="45058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57224" y="5072074"/>
              <a:ext cx="1321603" cy="1143008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50195" name="矩形 30"/>
            <p:cNvSpPr>
              <a:spLocks noChangeArrowheads="1"/>
            </p:cNvSpPr>
            <p:nvPr/>
          </p:nvSpPr>
          <p:spPr bwMode="auto">
            <a:xfrm>
              <a:off x="1000014" y="5981735"/>
              <a:ext cx="1142323" cy="860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1800">
                  <a:solidFill>
                    <a:srgbClr val="FF0000"/>
                  </a:solidFill>
                </a:rPr>
                <a:t>政府监管</a:t>
              </a:r>
            </a:p>
          </p:txBody>
        </p:sp>
      </p:grpSp>
      <p:sp>
        <p:nvSpPr>
          <p:cNvPr id="47" name="圆角矩形 46"/>
          <p:cNvSpPr/>
          <p:nvPr/>
        </p:nvSpPr>
        <p:spPr>
          <a:xfrm>
            <a:off x="2303861" y="4237436"/>
            <a:ext cx="940594" cy="5929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安全监管</a:t>
            </a:r>
            <a:endParaRPr lang="en-US" altLang="zh-CN" sz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安全预警</a:t>
            </a:r>
            <a:endParaRPr lang="en-US" altLang="zh-CN" sz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产品召回</a:t>
            </a:r>
            <a:endParaRPr lang="en-US" altLang="zh-CN" sz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680348" y="5263753"/>
            <a:ext cx="1188244" cy="4238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查询、追溯、投诉等服务</a:t>
            </a:r>
          </a:p>
        </p:txBody>
      </p:sp>
      <p:sp>
        <p:nvSpPr>
          <p:cNvPr id="50" name="圆角矩形 49"/>
          <p:cNvSpPr/>
          <p:nvPr/>
        </p:nvSpPr>
        <p:spPr>
          <a:xfrm>
            <a:off x="6786562" y="4113909"/>
            <a:ext cx="1375711" cy="6500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产品追踪、防窜货监管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7017781" y="1951517"/>
            <a:ext cx="1107281" cy="6334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自动化仓储</a:t>
            </a:r>
          </a:p>
          <a:p>
            <a:pPr algn="ctr">
              <a:defRPr/>
            </a:pPr>
            <a:r>
              <a:rPr lang="zh-CN" altLang="en-US" sz="1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物流服务</a:t>
            </a:r>
          </a:p>
        </p:txBody>
      </p:sp>
      <p:sp>
        <p:nvSpPr>
          <p:cNvPr id="52" name="圆角矩形 51"/>
          <p:cNvSpPr/>
          <p:nvPr/>
        </p:nvSpPr>
        <p:spPr>
          <a:xfrm>
            <a:off x="3123713" y="1564137"/>
            <a:ext cx="1760934" cy="6917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多维信息采集</a:t>
            </a:r>
            <a:endParaRPr lang="en-US" altLang="zh-CN" sz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智能标识与识别</a:t>
            </a:r>
            <a:endParaRPr lang="en-US" altLang="zh-CN" sz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自动化产线集成控制</a:t>
            </a:r>
          </a:p>
        </p:txBody>
      </p:sp>
      <p:grpSp>
        <p:nvGrpSpPr>
          <p:cNvPr id="32782" name="Group 32"/>
          <p:cNvGrpSpPr>
            <a:grpSpLocks/>
          </p:cNvGrpSpPr>
          <p:nvPr/>
        </p:nvGrpSpPr>
        <p:grpSpPr bwMode="auto">
          <a:xfrm>
            <a:off x="3567113" y="3371850"/>
            <a:ext cx="1814512" cy="1028940"/>
            <a:chOff x="2064" y="1933"/>
            <a:chExt cx="1452" cy="680"/>
          </a:xfrm>
        </p:grpSpPr>
        <p:sp>
          <p:nvSpPr>
            <p:cNvPr id="32784" name="Oval 31"/>
            <p:cNvSpPr>
              <a:spLocks noChangeArrowheads="1"/>
            </p:cNvSpPr>
            <p:nvPr/>
          </p:nvSpPr>
          <p:spPr bwMode="auto">
            <a:xfrm>
              <a:off x="2064" y="1933"/>
              <a:ext cx="1452" cy="6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785" name="圆角矩形 52"/>
            <p:cNvSpPr>
              <a:spLocks noChangeArrowheads="1"/>
            </p:cNvSpPr>
            <p:nvPr/>
          </p:nvSpPr>
          <p:spPr bwMode="auto">
            <a:xfrm>
              <a:off x="2245" y="2024"/>
              <a:ext cx="1043" cy="42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F79646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600"/>
                <a:t> 云计算、</a:t>
              </a:r>
              <a:endParaRPr lang="en-US" altLang="zh-CN" sz="1600"/>
            </a:p>
            <a:p>
              <a:pPr algn="ctr"/>
              <a:r>
                <a:rPr lang="zh-CN" altLang="en-US" sz="1600"/>
                <a:t>决策优化</a:t>
              </a:r>
            </a:p>
          </p:txBody>
        </p:sp>
      </p:grpSp>
      <p:sp>
        <p:nvSpPr>
          <p:cNvPr id="31" name="标题 1"/>
          <p:cNvSpPr txBox="1">
            <a:spLocks/>
          </p:cNvSpPr>
          <p:nvPr/>
        </p:nvSpPr>
        <p:spPr bwMode="auto">
          <a:xfrm>
            <a:off x="752062" y="697171"/>
            <a:ext cx="6172200" cy="604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kern="0" dirty="0">
                <a:ea typeface="宋体" pitchFamily="2" charset="-122"/>
              </a:rPr>
              <a:t>智能制造及产品全生命周期管理</a:t>
            </a:r>
          </a:p>
        </p:txBody>
      </p:sp>
    </p:spTree>
    <p:extLst>
      <p:ext uri="{BB962C8B-B14F-4D97-AF65-F5344CB8AC3E}">
        <p14:creationId xmlns:p14="http://schemas.microsoft.com/office/powerpoint/2010/main" val="750711949"/>
      </p:ext>
    </p:extLst>
  </p:cSld>
  <p:clrMapOvr>
    <a:masterClrMapping/>
  </p:clrMapOvr>
  <p:transition advTm="7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09" name="标题 1"/>
          <p:cNvSpPr>
            <a:spLocks noGrp="1"/>
          </p:cNvSpPr>
          <p:nvPr>
            <p:ph type="title"/>
          </p:nvPr>
        </p:nvSpPr>
        <p:spPr>
          <a:xfrm>
            <a:off x="1331640" y="836712"/>
            <a:ext cx="6343650" cy="42267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800" dirty="0"/>
              <a:t>从智慧工厂到智能生产</a:t>
            </a:r>
          </a:p>
        </p:txBody>
      </p:sp>
      <p:sp>
        <p:nvSpPr>
          <p:cNvPr id="299010" name="内容占位符 2"/>
          <p:cNvSpPr>
            <a:spLocks noGrp="1"/>
          </p:cNvSpPr>
          <p:nvPr>
            <p:ph idx="1"/>
          </p:nvPr>
        </p:nvSpPr>
        <p:spPr>
          <a:xfrm>
            <a:off x="827584" y="1484784"/>
            <a:ext cx="7920880" cy="48250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工业</a:t>
            </a:r>
            <a:r>
              <a:rPr lang="en-US" altLang="zh-CN" sz="2400" dirty="0"/>
              <a:t>4.0——</a:t>
            </a:r>
            <a:r>
              <a:rPr lang="zh-CN" altLang="en-US" sz="2400" dirty="0"/>
              <a:t>德国高科技战略计划（中国制造</a:t>
            </a:r>
            <a:r>
              <a:rPr lang="en-US" altLang="zh-CN" sz="2400" dirty="0"/>
              <a:t>2025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两大主题：</a:t>
            </a:r>
            <a:r>
              <a:rPr lang="zh-CN" altLang="en-US" sz="2400" b="1" dirty="0">
                <a:solidFill>
                  <a:srgbClr val="FF0000"/>
                </a:solidFill>
              </a:rPr>
              <a:t>智慧工厂（载体）、智能生产（模式）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三个设想：</a:t>
            </a:r>
            <a:r>
              <a:rPr lang="zh-CN" altLang="en-US" sz="2400" b="1" dirty="0">
                <a:solidFill>
                  <a:srgbClr val="FF0000"/>
                </a:solidFill>
              </a:rPr>
              <a:t>产品、设施、管理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产品：</a:t>
            </a:r>
            <a:r>
              <a:rPr lang="zh-CN" altLang="en-US" sz="2400" dirty="0"/>
              <a:t>集成有动态数字存储器、感知和通信能力，承载着在其整个</a:t>
            </a:r>
            <a:r>
              <a:rPr lang="zh-CN" altLang="en-US" sz="2400" u="sng" dirty="0"/>
              <a:t>供应链</a:t>
            </a:r>
            <a:r>
              <a:rPr lang="zh-CN" altLang="en-US" sz="2400" dirty="0"/>
              <a:t>和</a:t>
            </a:r>
            <a:r>
              <a:rPr lang="zh-CN" altLang="en-US" sz="2400" u="sng" dirty="0"/>
              <a:t>生命周期</a:t>
            </a:r>
            <a:r>
              <a:rPr lang="zh-CN" altLang="en-US" sz="2400" dirty="0"/>
              <a:t>中所需的各种必需信息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设施：</a:t>
            </a:r>
            <a:r>
              <a:rPr lang="zh-CN" altLang="en-US" sz="2400" dirty="0"/>
              <a:t>由整个生产</a:t>
            </a:r>
            <a:r>
              <a:rPr lang="zh-CN" altLang="en-US" sz="2400" u="sng" dirty="0"/>
              <a:t>价值链</a:t>
            </a:r>
            <a:r>
              <a:rPr lang="zh-CN" altLang="en-US" sz="2400" dirty="0"/>
              <a:t>所集成，可实现自组织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管理：</a:t>
            </a:r>
            <a:r>
              <a:rPr lang="zh-CN" altLang="en-US" sz="2400" dirty="0"/>
              <a:t>能够根据当前的状况灵活决定生产过程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81670130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937" y="2186864"/>
            <a:ext cx="3591399" cy="3186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115616" y="1606657"/>
            <a:ext cx="26642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数据驱动 </a:t>
            </a:r>
            <a:r>
              <a:rPr lang="en-US" altLang="zh-CN" sz="1800" dirty="0"/>
              <a:t>+ </a:t>
            </a:r>
            <a:r>
              <a:rPr lang="zh-CN" altLang="en-US" sz="1800" dirty="0"/>
              <a:t>个性化定制</a:t>
            </a:r>
          </a:p>
        </p:txBody>
      </p:sp>
      <p:cxnSp>
        <p:nvCxnSpPr>
          <p:cNvPr id="7" name="直接箭头连接符 6"/>
          <p:cNvCxnSpPr/>
          <p:nvPr/>
        </p:nvCxnSpPr>
        <p:spPr bwMode="auto">
          <a:xfrm>
            <a:off x="3383868" y="1831242"/>
            <a:ext cx="162018" cy="0"/>
          </a:xfrm>
          <a:prstGeom prst="straightConnector1">
            <a:avLst/>
          </a:prstGeom>
          <a:gradFill rotWithShape="1">
            <a:gsLst>
              <a:gs pos="0">
                <a:srgbClr val="E9E065">
                  <a:gamma/>
                  <a:tint val="33333"/>
                  <a:invGamma/>
                </a:srgbClr>
              </a:gs>
              <a:gs pos="100000">
                <a:srgbClr val="E9E065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矩形 7"/>
          <p:cNvSpPr/>
          <p:nvPr/>
        </p:nvSpPr>
        <p:spPr>
          <a:xfrm>
            <a:off x="4480186" y="1619508"/>
            <a:ext cx="32961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/>
              <a:t>C2M</a:t>
            </a:r>
            <a:r>
              <a:rPr lang="zh-CN" altLang="en-US" sz="1800" dirty="0"/>
              <a:t>模式（用户到工厂）</a:t>
            </a: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3779912" y="1801079"/>
            <a:ext cx="594066" cy="0"/>
          </a:xfrm>
          <a:prstGeom prst="straightConnector1">
            <a:avLst/>
          </a:prstGeom>
          <a:gradFill rotWithShape="1">
            <a:gsLst>
              <a:gs pos="0">
                <a:srgbClr val="E9E065">
                  <a:gamma/>
                  <a:tint val="33333"/>
                  <a:invGamma/>
                </a:srgbClr>
              </a:gs>
              <a:gs pos="100000">
                <a:srgbClr val="E9E065"/>
              </a:gs>
            </a:gsLst>
            <a:lin ang="5400000" scaled="1"/>
          </a:gra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72" y="2186863"/>
            <a:ext cx="2073927" cy="3186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矩形 15"/>
          <p:cNvSpPr/>
          <p:nvPr/>
        </p:nvSpPr>
        <p:spPr>
          <a:xfrm>
            <a:off x="2915816" y="5710143"/>
            <a:ext cx="36184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红领集团</a:t>
            </a:r>
            <a:r>
              <a:rPr lang="en-US" altLang="zh-CN" sz="1800" dirty="0">
                <a:solidFill>
                  <a:srgbClr val="FF0000"/>
                </a:solidFill>
              </a:rPr>
              <a:t>C2M-</a:t>
            </a:r>
            <a:r>
              <a:rPr lang="zh-CN" altLang="en-US" sz="1800" dirty="0">
                <a:solidFill>
                  <a:srgbClr val="FF0000"/>
                </a:solidFill>
              </a:rPr>
              <a:t>大规模个性化定制</a:t>
            </a:r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354247" y="850803"/>
            <a:ext cx="6343650" cy="42267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dirty="0"/>
              <a:t>青岛红领集团案例</a:t>
            </a:r>
          </a:p>
        </p:txBody>
      </p:sp>
      <p:sp>
        <p:nvSpPr>
          <p:cNvPr id="2" name="右箭头 1"/>
          <p:cNvSpPr/>
          <p:nvPr/>
        </p:nvSpPr>
        <p:spPr bwMode="auto">
          <a:xfrm>
            <a:off x="3420999" y="3664743"/>
            <a:ext cx="609930" cy="181737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 b="0">
              <a:solidFill>
                <a:srgbClr val="FF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715483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3" name="标题 1"/>
          <p:cNvSpPr>
            <a:spLocks noGrp="1"/>
          </p:cNvSpPr>
          <p:nvPr>
            <p:ph type="title"/>
          </p:nvPr>
        </p:nvSpPr>
        <p:spPr>
          <a:xfrm>
            <a:off x="1475656" y="752220"/>
            <a:ext cx="6343650" cy="540059"/>
          </a:xfrm>
        </p:spPr>
        <p:txBody>
          <a:bodyPr/>
          <a:lstStyle/>
          <a:p>
            <a:pPr algn="ctr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从智慧工厂到智能生产</a:t>
            </a:r>
          </a:p>
        </p:txBody>
      </p:sp>
      <p:sp>
        <p:nvSpPr>
          <p:cNvPr id="305154" name="内容占位符 2"/>
          <p:cNvSpPr>
            <a:spLocks noGrp="1"/>
          </p:cNvSpPr>
          <p:nvPr>
            <p:ph idx="1"/>
          </p:nvPr>
        </p:nvSpPr>
        <p:spPr>
          <a:xfrm>
            <a:off x="827584" y="1623352"/>
            <a:ext cx="6324600" cy="48655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智慧工厂的概念</a:t>
            </a:r>
          </a:p>
        </p:txBody>
      </p:sp>
      <p:sp>
        <p:nvSpPr>
          <p:cNvPr id="2" name="矩形 1"/>
          <p:cNvSpPr/>
          <p:nvPr/>
        </p:nvSpPr>
        <p:spPr>
          <a:xfrm>
            <a:off x="977652" y="2348880"/>
            <a:ext cx="74827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       智慧工厂是在制造业一系列科学管理实践的基础上，深度融合自动化技术、信息通信技术和智能科学技术，结合</a:t>
            </a:r>
            <a:r>
              <a:rPr lang="zh-CN" altLang="en-US" sz="1800" dirty="0">
                <a:solidFill>
                  <a:srgbClr val="FF0000"/>
                </a:solidFill>
              </a:rPr>
              <a:t>数据、信息和知识</a:t>
            </a:r>
            <a:r>
              <a:rPr lang="zh-CN" altLang="en-US" sz="1800" dirty="0"/>
              <a:t>建立核心竞争力的新一代</a:t>
            </a:r>
            <a:r>
              <a:rPr lang="zh-CN" altLang="en-US" sz="1800" dirty="0">
                <a:solidFill>
                  <a:srgbClr val="FF0000"/>
                </a:solidFill>
              </a:rPr>
              <a:t>制造企业及其生态系统</a:t>
            </a:r>
          </a:p>
        </p:txBody>
      </p:sp>
      <p:sp>
        <p:nvSpPr>
          <p:cNvPr id="3" name="矩形 2"/>
          <p:cNvSpPr/>
          <p:nvPr/>
        </p:nvSpPr>
        <p:spPr>
          <a:xfrm>
            <a:off x="4885134" y="4288810"/>
            <a:ext cx="3575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/>
              <a:t>————</a:t>
            </a:r>
            <a:r>
              <a:rPr lang="zh-CN" altLang="en-US" sz="1800" dirty="0"/>
              <a:t>中国科技自动化联盟</a:t>
            </a:r>
          </a:p>
        </p:txBody>
      </p:sp>
    </p:spTree>
    <p:extLst>
      <p:ext uri="{BB962C8B-B14F-4D97-AF65-F5344CB8AC3E}">
        <p14:creationId xmlns:p14="http://schemas.microsoft.com/office/powerpoint/2010/main" val="466244793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3" name="标题 1"/>
          <p:cNvSpPr>
            <a:spLocks noGrp="1"/>
          </p:cNvSpPr>
          <p:nvPr>
            <p:ph type="title"/>
          </p:nvPr>
        </p:nvSpPr>
        <p:spPr>
          <a:xfrm>
            <a:off x="1383507" y="859205"/>
            <a:ext cx="6343650" cy="422672"/>
          </a:xfrm>
        </p:spPr>
        <p:txBody>
          <a:bodyPr/>
          <a:lstStyle/>
          <a:p>
            <a:pPr algn="ctr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从智慧工厂到智能生产</a:t>
            </a:r>
          </a:p>
        </p:txBody>
      </p:sp>
      <p:sp>
        <p:nvSpPr>
          <p:cNvPr id="305154" name="内容占位符 2"/>
          <p:cNvSpPr>
            <a:spLocks noGrp="1"/>
          </p:cNvSpPr>
          <p:nvPr>
            <p:ph idx="1"/>
          </p:nvPr>
        </p:nvSpPr>
        <p:spPr>
          <a:xfrm>
            <a:off x="981253" y="1533785"/>
            <a:ext cx="6324600" cy="48655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智慧工厂的架构</a:t>
            </a:r>
          </a:p>
        </p:txBody>
      </p:sp>
      <p:sp>
        <p:nvSpPr>
          <p:cNvPr id="4" name="矩形 3"/>
          <p:cNvSpPr/>
          <p:nvPr/>
        </p:nvSpPr>
        <p:spPr>
          <a:xfrm>
            <a:off x="1871662" y="5083318"/>
            <a:ext cx="5434013" cy="3988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100" dirty="0">
                <a:solidFill>
                  <a:srgbClr val="000000"/>
                </a:solidFill>
                <a:latin typeface="Times New Roman" pitchFamily="18" charset="0"/>
                <a:ea typeface="华文中宋" panose="02010600040101010101" pitchFamily="2" charset="-122"/>
                <a:cs typeface="Times New Roman" pitchFamily="18" charset="0"/>
              </a:rPr>
              <a:t>物联网</a:t>
            </a:r>
          </a:p>
        </p:txBody>
      </p:sp>
      <p:sp>
        <p:nvSpPr>
          <p:cNvPr id="5" name="矩形 4"/>
          <p:cNvSpPr/>
          <p:nvPr/>
        </p:nvSpPr>
        <p:spPr>
          <a:xfrm>
            <a:off x="1871662" y="2294874"/>
            <a:ext cx="5435204" cy="4333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100" dirty="0">
                <a:solidFill>
                  <a:srgbClr val="000000"/>
                </a:solidFill>
                <a:latin typeface="Times New Roman" pitchFamily="18" charset="0"/>
                <a:ea typeface="华文中宋" panose="02010600040101010101" pitchFamily="2" charset="-122"/>
                <a:cs typeface="Times New Roman" pitchFamily="18" charset="0"/>
              </a:rPr>
              <a:t>服务互联网</a:t>
            </a:r>
          </a:p>
        </p:txBody>
      </p:sp>
      <p:sp>
        <p:nvSpPr>
          <p:cNvPr id="6" name="矩形 5"/>
          <p:cNvSpPr/>
          <p:nvPr/>
        </p:nvSpPr>
        <p:spPr>
          <a:xfrm>
            <a:off x="1871662" y="3362865"/>
            <a:ext cx="1215629" cy="673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智能物料</a:t>
            </a:r>
          </a:p>
        </p:txBody>
      </p:sp>
      <p:sp>
        <p:nvSpPr>
          <p:cNvPr id="7" name="矩形 6"/>
          <p:cNvSpPr/>
          <p:nvPr/>
        </p:nvSpPr>
        <p:spPr>
          <a:xfrm>
            <a:off x="1871662" y="4036758"/>
            <a:ext cx="1215629" cy="371475"/>
          </a:xfrm>
          <a:prstGeom prst="rect">
            <a:avLst/>
          </a:prstGeom>
          <a:solidFill>
            <a:srgbClr val="66FF33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APP</a:t>
            </a:r>
            <a:r>
              <a:rPr lang="zh-CN" altLang="en-US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平台</a:t>
            </a:r>
          </a:p>
        </p:txBody>
      </p:sp>
      <p:sp>
        <p:nvSpPr>
          <p:cNvPr id="8" name="矩形 7"/>
          <p:cNvSpPr/>
          <p:nvPr/>
        </p:nvSpPr>
        <p:spPr>
          <a:xfrm>
            <a:off x="6094811" y="3362865"/>
            <a:ext cx="1215628" cy="673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智能产品</a:t>
            </a:r>
          </a:p>
        </p:txBody>
      </p:sp>
      <p:sp>
        <p:nvSpPr>
          <p:cNvPr id="9" name="矩形 8"/>
          <p:cNvSpPr/>
          <p:nvPr/>
        </p:nvSpPr>
        <p:spPr>
          <a:xfrm>
            <a:off x="6094811" y="4036758"/>
            <a:ext cx="1215628" cy="371475"/>
          </a:xfrm>
          <a:prstGeom prst="rect">
            <a:avLst/>
          </a:prstGeom>
          <a:solidFill>
            <a:srgbClr val="66FF33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APP</a:t>
            </a:r>
            <a:r>
              <a:rPr lang="zh-CN" altLang="en-US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平台</a:t>
            </a:r>
          </a:p>
        </p:txBody>
      </p:sp>
      <p:sp>
        <p:nvSpPr>
          <p:cNvPr id="10" name="矩形 9"/>
          <p:cNvSpPr/>
          <p:nvPr/>
        </p:nvSpPr>
        <p:spPr>
          <a:xfrm>
            <a:off x="3409950" y="2990199"/>
            <a:ext cx="2362200" cy="1857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信息物理生产系统</a:t>
            </a:r>
          </a:p>
        </p:txBody>
      </p:sp>
      <p:sp>
        <p:nvSpPr>
          <p:cNvPr id="11" name="矩形 10"/>
          <p:cNvSpPr/>
          <p:nvPr/>
        </p:nvSpPr>
        <p:spPr>
          <a:xfrm>
            <a:off x="3638550" y="3598608"/>
            <a:ext cx="1905000" cy="404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智慧工厂</a:t>
            </a:r>
          </a:p>
        </p:txBody>
      </p:sp>
      <p:sp>
        <p:nvSpPr>
          <p:cNvPr id="12" name="矩形 11"/>
          <p:cNvSpPr/>
          <p:nvPr/>
        </p:nvSpPr>
        <p:spPr>
          <a:xfrm>
            <a:off x="3638550" y="4003421"/>
            <a:ext cx="1905000" cy="371475"/>
          </a:xfrm>
          <a:prstGeom prst="rect">
            <a:avLst/>
          </a:prstGeom>
          <a:solidFill>
            <a:srgbClr val="66FF33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APP</a:t>
            </a:r>
            <a:r>
              <a:rPr lang="zh-CN" altLang="en-US" sz="1800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平台</a:t>
            </a:r>
          </a:p>
        </p:txBody>
      </p:sp>
      <p:sp>
        <p:nvSpPr>
          <p:cNvPr id="13" name="矩形 12"/>
          <p:cNvSpPr/>
          <p:nvPr/>
        </p:nvSpPr>
        <p:spPr>
          <a:xfrm>
            <a:off x="3638550" y="3052707"/>
            <a:ext cx="1905000" cy="545902"/>
          </a:xfrm>
          <a:prstGeom prst="rect">
            <a:avLst/>
          </a:prstGeom>
          <a:solidFill>
            <a:srgbClr val="CCFFCC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基于语义的</a:t>
            </a: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PLM</a:t>
            </a:r>
            <a:r>
              <a:rPr lang="zh-CN" altLang="en-US" sz="1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15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ERP</a:t>
            </a:r>
            <a:r>
              <a:rPr lang="zh-CN" altLang="en-US" sz="1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QMS</a:t>
            </a:r>
            <a:r>
              <a:rPr lang="zh-CN" altLang="en-US" sz="1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ERP</a:t>
            </a:r>
            <a:endParaRPr lang="zh-CN" altLang="en-US" sz="15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下箭头 15"/>
          <p:cNvSpPr>
            <a:spLocks noChangeArrowheads="1"/>
          </p:cNvSpPr>
          <p:nvPr/>
        </p:nvSpPr>
        <p:spPr bwMode="auto">
          <a:xfrm flipV="1">
            <a:off x="2327672" y="4424903"/>
            <a:ext cx="303609" cy="641747"/>
          </a:xfrm>
          <a:prstGeom prst="downArrow">
            <a:avLst>
              <a:gd name="adj1" fmla="val 50000"/>
              <a:gd name="adj2" fmla="val 49996"/>
            </a:avLst>
          </a:prstGeom>
          <a:solidFill>
            <a:schemeClr val="bg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2324101" y="2731834"/>
            <a:ext cx="303610" cy="64174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下箭头 17"/>
          <p:cNvSpPr>
            <a:spLocks noChangeArrowheads="1"/>
          </p:cNvSpPr>
          <p:nvPr/>
        </p:nvSpPr>
        <p:spPr bwMode="auto">
          <a:xfrm flipV="1">
            <a:off x="6550820" y="4424903"/>
            <a:ext cx="303610" cy="641747"/>
          </a:xfrm>
          <a:prstGeom prst="downArrow">
            <a:avLst>
              <a:gd name="adj1" fmla="val 50000"/>
              <a:gd name="adj2" fmla="val 49995"/>
            </a:avLst>
          </a:prstGeom>
          <a:solidFill>
            <a:schemeClr val="bg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6550820" y="2721118"/>
            <a:ext cx="303610" cy="64174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4555332" y="2736595"/>
            <a:ext cx="303610" cy="25360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右箭头 20"/>
          <p:cNvSpPr/>
          <p:nvPr/>
        </p:nvSpPr>
        <p:spPr>
          <a:xfrm>
            <a:off x="3087291" y="3801015"/>
            <a:ext cx="322659" cy="23574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5772151" y="3792681"/>
            <a:ext cx="322660" cy="23574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297247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内容占位符 2"/>
          <p:cNvSpPr>
            <a:spLocks noGrp="1"/>
          </p:cNvSpPr>
          <p:nvPr>
            <p:ph idx="1"/>
          </p:nvPr>
        </p:nvSpPr>
        <p:spPr>
          <a:xfrm>
            <a:off x="670585" y="1321035"/>
            <a:ext cx="2586038" cy="507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/>
              <a:t>智慧工厂的流程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pSp>
        <p:nvGrpSpPr>
          <p:cNvPr id="307223" name="Group 23"/>
          <p:cNvGrpSpPr>
            <a:grpSpLocks/>
          </p:cNvGrpSpPr>
          <p:nvPr/>
        </p:nvGrpSpPr>
        <p:grpSpPr bwMode="auto">
          <a:xfrm>
            <a:off x="1500189" y="2294874"/>
            <a:ext cx="6109097" cy="3495675"/>
            <a:chOff x="300" y="1139"/>
            <a:chExt cx="5131" cy="3095"/>
          </a:xfrm>
        </p:grpSpPr>
        <p:sp>
          <p:nvSpPr>
            <p:cNvPr id="4" name="矩形 3"/>
            <p:cNvSpPr/>
            <p:nvPr/>
          </p:nvSpPr>
          <p:spPr>
            <a:xfrm>
              <a:off x="300" y="2104"/>
              <a:ext cx="1021" cy="56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>
                  <a:solidFill>
                    <a:srgbClr val="0000FF"/>
                  </a:solidFill>
                </a:rPr>
                <a:t>智能物料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4411" y="2104"/>
              <a:ext cx="1020" cy="56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800" dirty="0">
                  <a:solidFill>
                    <a:srgbClr val="0000FF"/>
                  </a:solidFill>
                </a:rPr>
                <a:t>智能产品</a:t>
              </a:r>
            </a:p>
          </p:txBody>
        </p:sp>
        <p:sp>
          <p:nvSpPr>
            <p:cNvPr id="6" name="云形 5"/>
            <p:cNvSpPr/>
            <p:nvPr/>
          </p:nvSpPr>
          <p:spPr>
            <a:xfrm>
              <a:off x="1666" y="3662"/>
              <a:ext cx="1899" cy="572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云端网络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2313" y="1139"/>
              <a:ext cx="1644" cy="187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智慧工厂</a:t>
              </a:r>
              <a:r>
                <a:rPr lang="en-US" altLang="zh-CN" sz="1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2…N</a:t>
              </a:r>
              <a:endParaRPr lang="zh-CN" altLang="en-US" sz="18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793" y="1398"/>
              <a:ext cx="1645" cy="187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智慧工厂</a:t>
              </a:r>
              <a:r>
                <a:rPr lang="en-US" altLang="zh-CN" sz="1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lang="zh-CN" altLang="en-US" sz="18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856" y="2127"/>
              <a:ext cx="529" cy="425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Arial Narrow" panose="020B0606020202030204" pitchFamily="34" charset="0"/>
                  <a:ea typeface="黑体" panose="02010609060101010101" pitchFamily="49" charset="-122"/>
                </a:rPr>
                <a:t>智能机床</a:t>
              </a:r>
              <a:r>
                <a:rPr lang="en-US" altLang="zh-CN" sz="1400" dirty="0">
                  <a:solidFill>
                    <a:srgbClr val="000000"/>
                  </a:solidFill>
                  <a:latin typeface="Arial Narrow" panose="020B0606020202030204" pitchFamily="34" charset="0"/>
                  <a:ea typeface="黑体" panose="02010609060101010101" pitchFamily="49" charset="-122"/>
                </a:rPr>
                <a:t>1</a:t>
              </a:r>
              <a:endParaRPr lang="zh-CN" altLang="en-US" sz="1400" dirty="0">
                <a:solidFill>
                  <a:srgbClr val="000000"/>
                </a:solidFill>
                <a:latin typeface="Arial Narrow" panose="020B0606020202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2861" y="2127"/>
              <a:ext cx="529" cy="425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Arial Narrow" panose="020B0606020202030204" pitchFamily="34" charset="0"/>
                  <a:ea typeface="黑体" panose="02010609060101010101" pitchFamily="49" charset="-122"/>
                </a:rPr>
                <a:t>智能机床</a:t>
              </a:r>
              <a:r>
                <a:rPr lang="en-US" altLang="zh-CN" sz="1400" dirty="0">
                  <a:solidFill>
                    <a:srgbClr val="000000"/>
                  </a:solidFill>
                  <a:latin typeface="Arial Narrow" panose="020B0606020202030204" pitchFamily="34" charset="0"/>
                  <a:ea typeface="黑体" panose="02010609060101010101" pitchFamily="49" charset="-122"/>
                </a:rPr>
                <a:t>2</a:t>
              </a:r>
              <a:endParaRPr lang="zh-CN" altLang="en-US" sz="1400" dirty="0">
                <a:solidFill>
                  <a:srgbClr val="000000"/>
                </a:solidFill>
                <a:latin typeface="Arial Narrow" panose="020B0606020202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856" y="2557"/>
              <a:ext cx="1534" cy="312"/>
            </a:xfrm>
            <a:prstGeom prst="rect">
              <a:avLst/>
            </a:prstGeom>
            <a:solidFill>
              <a:srgbClr val="66FF33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面向机床的</a:t>
              </a:r>
              <a:r>
                <a:rPr lang="en-US" altLang="zh-CN" sz="15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APP</a:t>
              </a:r>
              <a:r>
                <a:rPr lang="zh-CN" altLang="en-US" sz="15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平台</a:t>
              </a:r>
            </a:p>
          </p:txBody>
        </p:sp>
        <p:sp>
          <p:nvSpPr>
            <p:cNvPr id="307211" name="文本框 11"/>
            <p:cNvSpPr txBox="1">
              <a:spLocks noChangeArrowheads="1"/>
            </p:cNvSpPr>
            <p:nvPr/>
          </p:nvSpPr>
          <p:spPr bwMode="auto">
            <a:xfrm>
              <a:off x="1907" y="2954"/>
              <a:ext cx="144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 dirty="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</a:rPr>
                <a:t>信息物理生产系统</a:t>
              </a:r>
            </a:p>
          </p:txBody>
        </p:sp>
        <p:sp>
          <p:nvSpPr>
            <p:cNvPr id="307212" name="文本框 12"/>
            <p:cNvSpPr txBox="1">
              <a:spLocks noChangeArrowheads="1"/>
            </p:cNvSpPr>
            <p:nvPr/>
          </p:nvSpPr>
          <p:spPr bwMode="auto">
            <a:xfrm>
              <a:off x="2501" y="2174"/>
              <a:ext cx="3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>
                  <a:solidFill>
                    <a:srgbClr val="000000"/>
                  </a:solidFill>
                </a:rPr>
                <a:t>…</a:t>
              </a: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4" name="弧形 13"/>
            <p:cNvSpPr>
              <a:spLocks noChangeAspect="1"/>
            </p:cNvSpPr>
            <p:nvPr/>
          </p:nvSpPr>
          <p:spPr>
            <a:xfrm>
              <a:off x="1974" y="1735"/>
              <a:ext cx="1316" cy="800"/>
            </a:xfrm>
            <a:prstGeom prst="arc">
              <a:avLst>
                <a:gd name="adj1" fmla="val 10748707"/>
                <a:gd name="adj2" fmla="val 0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07214" name="文本框 14"/>
            <p:cNvSpPr txBox="1">
              <a:spLocks noChangeArrowheads="1"/>
            </p:cNvSpPr>
            <p:nvPr/>
          </p:nvSpPr>
          <p:spPr bwMode="auto">
            <a:xfrm>
              <a:off x="2191" y="1786"/>
              <a:ext cx="11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>
                  <a:solidFill>
                    <a:srgbClr val="000000"/>
                  </a:solidFill>
                </a:rPr>
                <a:t>机床间通信</a:t>
              </a:r>
            </a:p>
          </p:txBody>
        </p:sp>
        <p:sp>
          <p:nvSpPr>
            <p:cNvPr id="16" name="右箭头 15"/>
            <p:cNvSpPr/>
            <p:nvPr/>
          </p:nvSpPr>
          <p:spPr>
            <a:xfrm>
              <a:off x="1330" y="2288"/>
              <a:ext cx="448" cy="198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17" name="右箭头 16"/>
            <p:cNvSpPr/>
            <p:nvPr/>
          </p:nvSpPr>
          <p:spPr>
            <a:xfrm>
              <a:off x="3957" y="2288"/>
              <a:ext cx="449" cy="198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3972" y="1279"/>
              <a:ext cx="965" cy="817"/>
            </a:xfrm>
            <a:custGeom>
              <a:avLst/>
              <a:gdLst>
                <a:gd name="connsiteX0" fmla="*/ 1531088 w 1544296"/>
                <a:gd name="connsiteY0" fmla="*/ 1297172 h 1297172"/>
                <a:gd name="connsiteX1" fmla="*/ 1456660 w 1544296"/>
                <a:gd name="connsiteY1" fmla="*/ 680483 h 1297172"/>
                <a:gd name="connsiteX2" fmla="*/ 871870 w 1544296"/>
                <a:gd name="connsiteY2" fmla="*/ 127590 h 1297172"/>
                <a:gd name="connsiteX3" fmla="*/ 0 w 1544296"/>
                <a:gd name="connsiteY3" fmla="*/ 0 h 1297172"/>
                <a:gd name="connsiteX0" fmla="*/ 1531088 w 1553455"/>
                <a:gd name="connsiteY0" fmla="*/ 1297172 h 1297172"/>
                <a:gd name="connsiteX1" fmla="*/ 1456660 w 1553455"/>
                <a:gd name="connsiteY1" fmla="*/ 680483 h 1297172"/>
                <a:gd name="connsiteX2" fmla="*/ 691117 w 1553455"/>
                <a:gd name="connsiteY2" fmla="*/ 180753 h 1297172"/>
                <a:gd name="connsiteX3" fmla="*/ 0 w 1553455"/>
                <a:gd name="connsiteY3" fmla="*/ 0 h 1297172"/>
                <a:gd name="connsiteX0" fmla="*/ 1531088 w 1533106"/>
                <a:gd name="connsiteY0" fmla="*/ 1297172 h 1297172"/>
                <a:gd name="connsiteX1" fmla="*/ 1307804 w 1533106"/>
                <a:gd name="connsiteY1" fmla="*/ 754911 h 1297172"/>
                <a:gd name="connsiteX2" fmla="*/ 691117 w 1533106"/>
                <a:gd name="connsiteY2" fmla="*/ 180753 h 1297172"/>
                <a:gd name="connsiteX3" fmla="*/ 0 w 1533106"/>
                <a:gd name="connsiteY3" fmla="*/ 0 h 129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106" h="1297172">
                  <a:moveTo>
                    <a:pt x="1531088" y="1297172"/>
                  </a:moveTo>
                  <a:cubicBezTo>
                    <a:pt x="1548809" y="1086292"/>
                    <a:pt x="1447799" y="940981"/>
                    <a:pt x="1307804" y="754911"/>
                  </a:cubicBezTo>
                  <a:cubicBezTo>
                    <a:pt x="1167809" y="568841"/>
                    <a:pt x="909084" y="306571"/>
                    <a:pt x="691117" y="180753"/>
                  </a:cubicBezTo>
                  <a:cubicBezTo>
                    <a:pt x="473150" y="54935"/>
                    <a:pt x="314546" y="7088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757" y="1196"/>
              <a:ext cx="1547" cy="880"/>
            </a:xfrm>
            <a:custGeom>
              <a:avLst/>
              <a:gdLst>
                <a:gd name="connsiteX0" fmla="*/ 2456121 w 2456121"/>
                <a:gd name="connsiteY0" fmla="*/ 52788 h 1435021"/>
                <a:gd name="connsiteX1" fmla="*/ 1637414 w 2456121"/>
                <a:gd name="connsiteY1" fmla="*/ 31523 h 1435021"/>
                <a:gd name="connsiteX2" fmla="*/ 510363 w 2456121"/>
                <a:gd name="connsiteY2" fmla="*/ 424928 h 1435021"/>
                <a:gd name="connsiteX3" fmla="*/ 0 w 2456121"/>
                <a:gd name="connsiteY3" fmla="*/ 1435021 h 1435021"/>
                <a:gd name="connsiteX0" fmla="*/ 2456121 w 2456121"/>
                <a:gd name="connsiteY0" fmla="*/ 60620 h 1442853"/>
                <a:gd name="connsiteX1" fmla="*/ 1637414 w 2456121"/>
                <a:gd name="connsiteY1" fmla="*/ 39355 h 1442853"/>
                <a:gd name="connsiteX2" fmla="*/ 627321 w 2456121"/>
                <a:gd name="connsiteY2" fmla="*/ 539086 h 1442853"/>
                <a:gd name="connsiteX3" fmla="*/ 0 w 2456121"/>
                <a:gd name="connsiteY3" fmla="*/ 1442853 h 1442853"/>
                <a:gd name="connsiteX0" fmla="*/ 2456121 w 2456121"/>
                <a:gd name="connsiteY0" fmla="*/ 15499 h 1397732"/>
                <a:gd name="connsiteX1" fmla="*/ 1467293 w 2456121"/>
                <a:gd name="connsiteY1" fmla="*/ 100559 h 1397732"/>
                <a:gd name="connsiteX2" fmla="*/ 627321 w 2456121"/>
                <a:gd name="connsiteY2" fmla="*/ 493965 h 1397732"/>
                <a:gd name="connsiteX3" fmla="*/ 0 w 2456121"/>
                <a:gd name="connsiteY3" fmla="*/ 1397732 h 1397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6121" h="1397732">
                  <a:moveTo>
                    <a:pt x="2456121" y="15499"/>
                  </a:moveTo>
                  <a:cubicBezTo>
                    <a:pt x="2208914" y="-26145"/>
                    <a:pt x="1772093" y="20815"/>
                    <a:pt x="1467293" y="100559"/>
                  </a:cubicBezTo>
                  <a:cubicBezTo>
                    <a:pt x="1162493" y="180303"/>
                    <a:pt x="871870" y="277770"/>
                    <a:pt x="627321" y="493965"/>
                  </a:cubicBezTo>
                  <a:cubicBezTo>
                    <a:pt x="382772" y="710160"/>
                    <a:pt x="118730" y="1009643"/>
                    <a:pt x="0" y="1397732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H="1">
              <a:off x="2030" y="3269"/>
              <a:ext cx="161" cy="449"/>
            </a:xfrm>
            <a:prstGeom prst="straightConnector1">
              <a:avLst/>
            </a:prstGeom>
            <a:noFill/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3040" y="3266"/>
              <a:ext cx="188" cy="395"/>
            </a:xfrm>
            <a:prstGeom prst="straightConnector1">
              <a:avLst/>
            </a:prstGeom>
            <a:noFill/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1371600" y="774080"/>
            <a:ext cx="6343650" cy="422672"/>
          </a:xfrm>
        </p:spPr>
        <p:txBody>
          <a:bodyPr/>
          <a:lstStyle/>
          <a:p>
            <a:pPr algn="ctr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从智慧工厂到智能生产</a:t>
            </a:r>
          </a:p>
        </p:txBody>
      </p:sp>
    </p:spTree>
    <p:extLst>
      <p:ext uri="{BB962C8B-B14F-4D97-AF65-F5344CB8AC3E}">
        <p14:creationId xmlns:p14="http://schemas.microsoft.com/office/powerpoint/2010/main" val="3443245995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3"/>
          <p:cNvSpPr txBox="1">
            <a:spLocks noChangeArrowheads="1"/>
          </p:cNvSpPr>
          <p:nvPr/>
        </p:nvSpPr>
        <p:spPr bwMode="auto">
          <a:xfrm>
            <a:off x="1423486" y="1646801"/>
            <a:ext cx="1528334" cy="369332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 b="0" dirty="0">
                <a:solidFill>
                  <a:srgbClr val="0000CC"/>
                </a:solidFill>
                <a:ea typeface="微软雅黑" pitchFamily="34" charset="-122"/>
              </a:rPr>
              <a:t>产品智能化</a:t>
            </a:r>
          </a:p>
        </p:txBody>
      </p:sp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1423486" y="2280500"/>
            <a:ext cx="1528334" cy="369332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kumimoji="1" sz="2800" b="0">
                <a:solidFill>
                  <a:srgbClr val="0000CC"/>
                </a:solidFill>
                <a:ea typeface="微软雅黑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1800" dirty="0"/>
              <a:t>装备智能化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031941" y="1916831"/>
            <a:ext cx="1485022" cy="369332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kumimoji="1" sz="2800" b="0">
                <a:solidFill>
                  <a:srgbClr val="0000CC"/>
                </a:solidFill>
                <a:ea typeface="微软雅黑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1800" dirty="0"/>
              <a:t>产线智能化</a:t>
            </a:r>
          </a:p>
        </p:txBody>
      </p:sp>
      <p:sp>
        <p:nvSpPr>
          <p:cNvPr id="10" name="文本框 15"/>
          <p:cNvSpPr txBox="1">
            <a:spLocks noChangeArrowheads="1"/>
          </p:cNvSpPr>
          <p:nvPr/>
        </p:nvSpPr>
        <p:spPr bwMode="auto">
          <a:xfrm>
            <a:off x="3994134" y="2736693"/>
            <a:ext cx="1566174" cy="369332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kumimoji="1" sz="2800" b="0">
                <a:solidFill>
                  <a:srgbClr val="0000CC"/>
                </a:solidFill>
                <a:ea typeface="微软雅黑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1800" dirty="0"/>
              <a:t>车间智能化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818582" y="908720"/>
            <a:ext cx="2916325" cy="439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100" dirty="0">
                <a:solidFill>
                  <a:schemeClr val="tx1">
                    <a:lumMod val="50000"/>
                  </a:schemeClr>
                </a:solidFill>
                <a:latin typeface="Verdana" pitchFamily="34" charset="0"/>
                <a:ea typeface="黑体" pitchFamily="49" charset="-122"/>
              </a:rPr>
              <a:t>智能制造的演进过程</a:t>
            </a:r>
          </a:p>
        </p:txBody>
      </p:sp>
      <p:sp>
        <p:nvSpPr>
          <p:cNvPr id="13" name="文本框 15"/>
          <p:cNvSpPr txBox="1">
            <a:spLocks noChangeArrowheads="1"/>
          </p:cNvSpPr>
          <p:nvPr/>
        </p:nvSpPr>
        <p:spPr bwMode="auto">
          <a:xfrm>
            <a:off x="3977934" y="3537011"/>
            <a:ext cx="1566174" cy="369332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kumimoji="1" sz="2800" b="0">
                <a:solidFill>
                  <a:srgbClr val="0000CC"/>
                </a:solidFill>
                <a:ea typeface="微软雅黑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1800" dirty="0"/>
              <a:t>工厂智能化</a:t>
            </a:r>
          </a:p>
        </p:txBody>
      </p:sp>
      <p:sp>
        <p:nvSpPr>
          <p:cNvPr id="14" name="文本框 15"/>
          <p:cNvSpPr txBox="1">
            <a:spLocks noChangeArrowheads="1"/>
          </p:cNvSpPr>
          <p:nvPr/>
        </p:nvSpPr>
        <p:spPr bwMode="auto">
          <a:xfrm>
            <a:off x="3869922" y="4332728"/>
            <a:ext cx="1782198" cy="369332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kumimoji="1" sz="2800" b="0">
                <a:solidFill>
                  <a:srgbClr val="0000CC"/>
                </a:solidFill>
                <a:ea typeface="微软雅黑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1800" dirty="0"/>
              <a:t>供应链智能化</a:t>
            </a:r>
          </a:p>
        </p:txBody>
      </p:sp>
      <p:sp>
        <p:nvSpPr>
          <p:cNvPr id="2" name="右大括号 1"/>
          <p:cNvSpPr/>
          <p:nvPr/>
        </p:nvSpPr>
        <p:spPr bwMode="auto">
          <a:xfrm>
            <a:off x="2984571" y="1754813"/>
            <a:ext cx="253864" cy="810090"/>
          </a:xfrm>
          <a:prstGeom prst="rightBrace">
            <a:avLst/>
          </a:prstGeom>
          <a:noFill/>
          <a:ln w="222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 b="0">
              <a:latin typeface="Arial" charset="0"/>
            </a:endParaRPr>
          </a:p>
        </p:txBody>
      </p:sp>
      <p:sp>
        <p:nvSpPr>
          <p:cNvPr id="3" name="右箭头 2"/>
          <p:cNvSpPr/>
          <p:nvPr/>
        </p:nvSpPr>
        <p:spPr bwMode="auto">
          <a:xfrm>
            <a:off x="3329862" y="2076225"/>
            <a:ext cx="594066" cy="167267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 b="0">
              <a:latin typeface="Arial" charset="0"/>
            </a:endParaRPr>
          </a:p>
        </p:txBody>
      </p:sp>
      <p:sp>
        <p:nvSpPr>
          <p:cNvPr id="19" name="右箭头 18"/>
          <p:cNvSpPr/>
          <p:nvPr/>
        </p:nvSpPr>
        <p:spPr bwMode="auto">
          <a:xfrm rot="5400000">
            <a:off x="4530009" y="2444889"/>
            <a:ext cx="396798" cy="167267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 b="0">
              <a:latin typeface="Arial" charset="0"/>
            </a:endParaRPr>
          </a:p>
        </p:txBody>
      </p:sp>
      <p:sp>
        <p:nvSpPr>
          <p:cNvPr id="20" name="右箭头 19"/>
          <p:cNvSpPr/>
          <p:nvPr/>
        </p:nvSpPr>
        <p:spPr bwMode="auto">
          <a:xfrm rot="5400000">
            <a:off x="4530009" y="3238732"/>
            <a:ext cx="396798" cy="167267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 b="0">
              <a:latin typeface="Arial" charset="0"/>
            </a:endParaRPr>
          </a:p>
        </p:txBody>
      </p:sp>
      <p:sp>
        <p:nvSpPr>
          <p:cNvPr id="21" name="右箭头 20"/>
          <p:cNvSpPr/>
          <p:nvPr/>
        </p:nvSpPr>
        <p:spPr bwMode="auto">
          <a:xfrm rot="5400000">
            <a:off x="4530009" y="4050696"/>
            <a:ext cx="396798" cy="167267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 b="0">
              <a:latin typeface="Arial" charset="0"/>
            </a:endParaRPr>
          </a:p>
        </p:txBody>
      </p:sp>
      <p:pic>
        <p:nvPicPr>
          <p:cNvPr id="24" name="Picture 2" descr="28(s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59" y="4332728"/>
            <a:ext cx="1402755" cy="112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970674"/>
      </p:ext>
    </p:extLst>
  </p:cSld>
  <p:clrMapOvr>
    <a:masterClrMapping/>
  </p:clrMapOvr>
  <p:transition advTm="700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合 95"/>
          <p:cNvGrpSpPr/>
          <p:nvPr/>
        </p:nvGrpSpPr>
        <p:grpSpPr>
          <a:xfrm>
            <a:off x="1287101" y="1124744"/>
            <a:ext cx="6786753" cy="4518535"/>
            <a:chOff x="1663700" y="614364"/>
            <a:chExt cx="8801095" cy="6078535"/>
          </a:xfrm>
        </p:grpSpPr>
        <p:sp>
          <p:nvSpPr>
            <p:cNvPr id="97" name="Freeform 3"/>
            <p:cNvSpPr>
              <a:spLocks noChangeArrowheads="1"/>
            </p:cNvSpPr>
            <p:nvPr/>
          </p:nvSpPr>
          <p:spPr bwMode="auto">
            <a:xfrm>
              <a:off x="1874838" y="614364"/>
              <a:ext cx="8472482" cy="22225"/>
            </a:xfrm>
            <a:custGeom>
              <a:avLst/>
              <a:gdLst>
                <a:gd name="T0" fmla="*/ 6350 w 8472487"/>
                <a:gd name="T1" fmla="*/ 6350 h 22237"/>
                <a:gd name="T2" fmla="*/ 8466137 w 8472487"/>
                <a:gd name="T3" fmla="*/ 6350 h 22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72487" h="22237">
                  <a:moveTo>
                    <a:pt x="6350" y="6350"/>
                  </a:moveTo>
                  <a:lnTo>
                    <a:pt x="8466137" y="6350"/>
                  </a:lnTo>
                </a:path>
              </a:pathLst>
            </a:custGeom>
            <a:noFill/>
            <a:ln w="12700">
              <a:solidFill>
                <a:srgbClr val="4A7EBB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8" name="Freeform 3"/>
            <p:cNvSpPr>
              <a:spLocks noChangeArrowheads="1"/>
            </p:cNvSpPr>
            <p:nvPr/>
          </p:nvSpPr>
          <p:spPr bwMode="auto">
            <a:xfrm>
              <a:off x="3859213" y="961054"/>
              <a:ext cx="6605582" cy="2763221"/>
            </a:xfrm>
            <a:custGeom>
              <a:avLst/>
              <a:gdLst>
                <a:gd name="T0" fmla="*/ 12700 w 6713537"/>
                <a:gd name="T1" fmla="*/ 12700 h 2887662"/>
                <a:gd name="T2" fmla="*/ 6700837 w 6713537"/>
                <a:gd name="T3" fmla="*/ 12700 h 2887662"/>
                <a:gd name="T4" fmla="*/ 6700837 w 6713537"/>
                <a:gd name="T5" fmla="*/ 2874962 h 2887662"/>
                <a:gd name="T6" fmla="*/ 12700 w 6713537"/>
                <a:gd name="T7" fmla="*/ 2874962 h 2887662"/>
                <a:gd name="T8" fmla="*/ 12700 w 6713537"/>
                <a:gd name="T9" fmla="*/ 12700 h 2887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13537" h="2887662">
                  <a:moveTo>
                    <a:pt x="12700" y="12700"/>
                  </a:moveTo>
                  <a:lnTo>
                    <a:pt x="6700837" y="12700"/>
                  </a:lnTo>
                  <a:lnTo>
                    <a:pt x="6700837" y="2874962"/>
                  </a:lnTo>
                  <a:lnTo>
                    <a:pt x="12700" y="2874962"/>
                  </a:lnTo>
                  <a:lnTo>
                    <a:pt x="12700" y="127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C0504D"/>
              </a:solidFill>
              <a:prstDash val="dash"/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9" name="Freeform 3"/>
            <p:cNvSpPr>
              <a:spLocks noChangeArrowheads="1"/>
            </p:cNvSpPr>
            <p:nvPr/>
          </p:nvSpPr>
          <p:spPr bwMode="auto">
            <a:xfrm>
              <a:off x="3965574" y="4924424"/>
              <a:ext cx="5535611" cy="50800"/>
            </a:xfrm>
            <a:custGeom>
              <a:avLst/>
              <a:gdLst>
                <a:gd name="T0" fmla="*/ 12700 w 5535612"/>
                <a:gd name="T1" fmla="*/ 12700 h 50800"/>
                <a:gd name="T2" fmla="*/ 5522912 w 5535612"/>
                <a:gd name="T3" fmla="*/ 12700 h 50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35612" h="50800">
                  <a:moveTo>
                    <a:pt x="12700" y="12700"/>
                  </a:moveTo>
                  <a:lnTo>
                    <a:pt x="5522912" y="12700"/>
                  </a:lnTo>
                </a:path>
              </a:pathLst>
            </a:custGeom>
            <a:noFill/>
            <a:ln w="25400">
              <a:solidFill>
                <a:srgbClr val="4BACC6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0" name="Freeform 3"/>
            <p:cNvSpPr>
              <a:spLocks noChangeArrowheads="1"/>
            </p:cNvSpPr>
            <p:nvPr/>
          </p:nvSpPr>
          <p:spPr bwMode="auto">
            <a:xfrm>
              <a:off x="9475783" y="4899024"/>
              <a:ext cx="76200" cy="76201"/>
            </a:xfrm>
            <a:custGeom>
              <a:avLst/>
              <a:gdLst>
                <a:gd name="T0" fmla="*/ 0 w 76200"/>
                <a:gd name="T1" fmla="*/ 0 h 76200"/>
                <a:gd name="T2" fmla="*/ 76200 w 76200"/>
                <a:gd name="T3" fmla="*/ 38100 h 76200"/>
                <a:gd name="T4" fmla="*/ 0 w 76200"/>
                <a:gd name="T5" fmla="*/ 76200 h 76200"/>
                <a:gd name="T6" fmla="*/ 0 w 76200"/>
                <a:gd name="T7" fmla="*/ 0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lnTo>
                    <a:pt x="0" y="0"/>
                  </a:lnTo>
                </a:path>
              </a:pathLst>
            </a:custGeom>
            <a:solidFill>
              <a:srgbClr val="4BACC6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1" name="Freeform 3"/>
            <p:cNvSpPr>
              <a:spLocks noChangeArrowheads="1"/>
            </p:cNvSpPr>
            <p:nvPr/>
          </p:nvSpPr>
          <p:spPr bwMode="auto">
            <a:xfrm>
              <a:off x="3914773" y="4899024"/>
              <a:ext cx="76200" cy="76201"/>
            </a:xfrm>
            <a:custGeom>
              <a:avLst/>
              <a:gdLst>
                <a:gd name="T0" fmla="*/ 76200 w 76200"/>
                <a:gd name="T1" fmla="*/ 76200 h 76200"/>
                <a:gd name="T2" fmla="*/ 0 w 76200"/>
                <a:gd name="T3" fmla="*/ 38100 h 76200"/>
                <a:gd name="T4" fmla="*/ 76200 w 76200"/>
                <a:gd name="T5" fmla="*/ 0 h 76200"/>
                <a:gd name="T6" fmla="*/ 76200 w 76200"/>
                <a:gd name="T7" fmla="*/ 76200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200" h="76200">
                  <a:moveTo>
                    <a:pt x="76200" y="76200"/>
                  </a:moveTo>
                  <a:lnTo>
                    <a:pt x="0" y="38100"/>
                  </a:lnTo>
                  <a:lnTo>
                    <a:pt x="76200" y="0"/>
                  </a:lnTo>
                  <a:lnTo>
                    <a:pt x="76200" y="76200"/>
                  </a:lnTo>
                </a:path>
              </a:pathLst>
            </a:custGeom>
            <a:solidFill>
              <a:srgbClr val="4BACC6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2" name="Freeform 3"/>
            <p:cNvSpPr>
              <a:spLocks noChangeArrowheads="1"/>
            </p:cNvSpPr>
            <p:nvPr/>
          </p:nvSpPr>
          <p:spPr bwMode="auto">
            <a:xfrm>
              <a:off x="1663700" y="2182814"/>
              <a:ext cx="2068512" cy="395287"/>
            </a:xfrm>
            <a:custGeom>
              <a:avLst/>
              <a:gdLst>
                <a:gd name="T0" fmla="*/ 12700 w 2068512"/>
                <a:gd name="T1" fmla="*/ 12700 h 395287"/>
                <a:gd name="T2" fmla="*/ 2055812 w 2068512"/>
                <a:gd name="T3" fmla="*/ 12700 h 395287"/>
                <a:gd name="T4" fmla="*/ 2055812 w 2068512"/>
                <a:gd name="T5" fmla="*/ 382587 h 395287"/>
                <a:gd name="T6" fmla="*/ 12700 w 2068512"/>
                <a:gd name="T7" fmla="*/ 382587 h 395287"/>
                <a:gd name="T8" fmla="*/ 12700 w 2068512"/>
                <a:gd name="T9" fmla="*/ 12700 h 395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8512" h="395287">
                  <a:moveTo>
                    <a:pt x="12700" y="12700"/>
                  </a:moveTo>
                  <a:lnTo>
                    <a:pt x="2055812" y="12700"/>
                  </a:lnTo>
                  <a:lnTo>
                    <a:pt x="2055812" y="382587"/>
                  </a:lnTo>
                  <a:lnTo>
                    <a:pt x="12700" y="382587"/>
                  </a:lnTo>
                  <a:lnTo>
                    <a:pt x="12700" y="12700"/>
                  </a:lnTo>
                </a:path>
              </a:pathLst>
            </a:custGeom>
            <a:solidFill>
              <a:srgbClr val="196685"/>
            </a:solidFill>
            <a:ln w="25400">
              <a:solidFill>
                <a:srgbClr val="196685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3" name="Freeform 3"/>
            <p:cNvSpPr>
              <a:spLocks noChangeArrowheads="1"/>
            </p:cNvSpPr>
            <p:nvPr/>
          </p:nvSpPr>
          <p:spPr bwMode="auto">
            <a:xfrm>
              <a:off x="3851273" y="3875088"/>
              <a:ext cx="3113087" cy="395287"/>
            </a:xfrm>
            <a:custGeom>
              <a:avLst/>
              <a:gdLst>
                <a:gd name="T0" fmla="*/ 12700 w 3113087"/>
                <a:gd name="T1" fmla="*/ 12700 h 395287"/>
                <a:gd name="T2" fmla="*/ 3100387 w 3113087"/>
                <a:gd name="T3" fmla="*/ 12700 h 395287"/>
                <a:gd name="T4" fmla="*/ 3100387 w 3113087"/>
                <a:gd name="T5" fmla="*/ 382587 h 395287"/>
                <a:gd name="T6" fmla="*/ 12700 w 3113087"/>
                <a:gd name="T7" fmla="*/ 382587 h 395287"/>
                <a:gd name="T8" fmla="*/ 12700 w 3113087"/>
                <a:gd name="T9" fmla="*/ 12700 h 395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13087" h="395287">
                  <a:moveTo>
                    <a:pt x="12700" y="12700"/>
                  </a:moveTo>
                  <a:lnTo>
                    <a:pt x="3100387" y="12700"/>
                  </a:lnTo>
                  <a:lnTo>
                    <a:pt x="3100387" y="382587"/>
                  </a:lnTo>
                  <a:lnTo>
                    <a:pt x="12700" y="382587"/>
                  </a:lnTo>
                  <a:lnTo>
                    <a:pt x="12700" y="12700"/>
                  </a:lnTo>
                </a:path>
              </a:pathLst>
            </a:custGeom>
            <a:solidFill>
              <a:srgbClr val="196685"/>
            </a:solidFill>
            <a:ln w="25400">
              <a:solidFill>
                <a:srgbClr val="196685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4" name="Freeform 3"/>
            <p:cNvSpPr>
              <a:spLocks noChangeArrowheads="1"/>
            </p:cNvSpPr>
            <p:nvPr/>
          </p:nvSpPr>
          <p:spPr bwMode="auto">
            <a:xfrm>
              <a:off x="5634035" y="1211264"/>
              <a:ext cx="1312861" cy="493712"/>
            </a:xfrm>
            <a:custGeom>
              <a:avLst/>
              <a:gdLst>
                <a:gd name="T0" fmla="*/ 12700 w 1312862"/>
                <a:gd name="T1" fmla="*/ 12700 h 493712"/>
                <a:gd name="T2" fmla="*/ 1300162 w 1312862"/>
                <a:gd name="T3" fmla="*/ 12700 h 493712"/>
                <a:gd name="T4" fmla="*/ 1300162 w 1312862"/>
                <a:gd name="T5" fmla="*/ 481012 h 493712"/>
                <a:gd name="T6" fmla="*/ 12700 w 1312862"/>
                <a:gd name="T7" fmla="*/ 481012 h 493712"/>
                <a:gd name="T8" fmla="*/ 12700 w 1312862"/>
                <a:gd name="T9" fmla="*/ 12700 h 493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2862" h="493712">
                  <a:moveTo>
                    <a:pt x="12700" y="12700"/>
                  </a:moveTo>
                  <a:lnTo>
                    <a:pt x="1300162" y="12700"/>
                  </a:lnTo>
                  <a:lnTo>
                    <a:pt x="1300162" y="481012"/>
                  </a:lnTo>
                  <a:lnTo>
                    <a:pt x="12700" y="481012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5" name="Freeform 3"/>
            <p:cNvSpPr>
              <a:spLocks noChangeArrowheads="1"/>
            </p:cNvSpPr>
            <p:nvPr/>
          </p:nvSpPr>
          <p:spPr bwMode="auto">
            <a:xfrm>
              <a:off x="7054847" y="1357314"/>
              <a:ext cx="350838" cy="200025"/>
            </a:xfrm>
            <a:custGeom>
              <a:avLst/>
              <a:gdLst>
                <a:gd name="T0" fmla="*/ 0 w 350837"/>
                <a:gd name="T1" fmla="*/ 49999 h 200025"/>
                <a:gd name="T2" fmla="*/ 250837 w 350837"/>
                <a:gd name="T3" fmla="*/ 49999 h 200025"/>
                <a:gd name="T4" fmla="*/ 250837 w 350837"/>
                <a:gd name="T5" fmla="*/ 0 h 200025"/>
                <a:gd name="T6" fmla="*/ 350837 w 350837"/>
                <a:gd name="T7" fmla="*/ 100012 h 200025"/>
                <a:gd name="T8" fmla="*/ 250837 w 350837"/>
                <a:gd name="T9" fmla="*/ 200025 h 200025"/>
                <a:gd name="T10" fmla="*/ 250837 w 350837"/>
                <a:gd name="T11" fmla="*/ 150012 h 200025"/>
                <a:gd name="T12" fmla="*/ 0 w 350837"/>
                <a:gd name="T13" fmla="*/ 150012 h 200025"/>
                <a:gd name="T14" fmla="*/ 0 w 350837"/>
                <a:gd name="T15" fmla="*/ 49999 h 200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0837" h="200025">
                  <a:moveTo>
                    <a:pt x="0" y="49999"/>
                  </a:moveTo>
                  <a:lnTo>
                    <a:pt x="250837" y="49999"/>
                  </a:lnTo>
                  <a:lnTo>
                    <a:pt x="250837" y="0"/>
                  </a:lnTo>
                  <a:lnTo>
                    <a:pt x="350837" y="100012"/>
                  </a:lnTo>
                  <a:lnTo>
                    <a:pt x="250837" y="200025"/>
                  </a:lnTo>
                  <a:lnTo>
                    <a:pt x="250837" y="150012"/>
                  </a:lnTo>
                  <a:lnTo>
                    <a:pt x="0" y="150012"/>
                  </a:lnTo>
                  <a:lnTo>
                    <a:pt x="0" y="49999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6" name="Freeform 3"/>
            <p:cNvSpPr>
              <a:spLocks noChangeArrowheads="1"/>
            </p:cNvSpPr>
            <p:nvPr/>
          </p:nvSpPr>
          <p:spPr bwMode="auto">
            <a:xfrm>
              <a:off x="7042146" y="1344614"/>
              <a:ext cx="376238" cy="225426"/>
            </a:xfrm>
            <a:custGeom>
              <a:avLst/>
              <a:gdLst>
                <a:gd name="T0" fmla="*/ 12700 w 376237"/>
                <a:gd name="T1" fmla="*/ 62699 h 225425"/>
                <a:gd name="T2" fmla="*/ 263537 w 376237"/>
                <a:gd name="T3" fmla="*/ 62699 h 225425"/>
                <a:gd name="T4" fmla="*/ 263537 w 376237"/>
                <a:gd name="T5" fmla="*/ 12700 h 225425"/>
                <a:gd name="T6" fmla="*/ 363537 w 376237"/>
                <a:gd name="T7" fmla="*/ 112712 h 225425"/>
                <a:gd name="T8" fmla="*/ 263537 w 376237"/>
                <a:gd name="T9" fmla="*/ 212725 h 225425"/>
                <a:gd name="T10" fmla="*/ 263537 w 376237"/>
                <a:gd name="T11" fmla="*/ 162712 h 225425"/>
                <a:gd name="T12" fmla="*/ 12700 w 376237"/>
                <a:gd name="T13" fmla="*/ 162712 h 225425"/>
                <a:gd name="T14" fmla="*/ 12700 w 376237"/>
                <a:gd name="T15" fmla="*/ 62699 h 225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6237" h="225425">
                  <a:moveTo>
                    <a:pt x="12700" y="62699"/>
                  </a:moveTo>
                  <a:lnTo>
                    <a:pt x="263537" y="62699"/>
                  </a:lnTo>
                  <a:lnTo>
                    <a:pt x="263537" y="12700"/>
                  </a:lnTo>
                  <a:lnTo>
                    <a:pt x="363537" y="112712"/>
                  </a:lnTo>
                  <a:lnTo>
                    <a:pt x="263537" y="212725"/>
                  </a:lnTo>
                  <a:lnTo>
                    <a:pt x="263537" y="162712"/>
                  </a:lnTo>
                  <a:lnTo>
                    <a:pt x="12700" y="162712"/>
                  </a:lnTo>
                  <a:lnTo>
                    <a:pt x="12700" y="62699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9BBB59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7" name="Freeform 3"/>
            <p:cNvSpPr>
              <a:spLocks noChangeArrowheads="1"/>
            </p:cNvSpPr>
            <p:nvPr/>
          </p:nvSpPr>
          <p:spPr bwMode="auto">
            <a:xfrm>
              <a:off x="7415209" y="1211264"/>
              <a:ext cx="1377949" cy="496887"/>
            </a:xfrm>
            <a:custGeom>
              <a:avLst/>
              <a:gdLst>
                <a:gd name="T0" fmla="*/ 12700 w 1377950"/>
                <a:gd name="T1" fmla="*/ 12700 h 496887"/>
                <a:gd name="T2" fmla="*/ 1365250 w 1377950"/>
                <a:gd name="T3" fmla="*/ 12700 h 496887"/>
                <a:gd name="T4" fmla="*/ 1365250 w 1377950"/>
                <a:gd name="T5" fmla="*/ 484187 h 496887"/>
                <a:gd name="T6" fmla="*/ 12700 w 1377950"/>
                <a:gd name="T7" fmla="*/ 484187 h 496887"/>
                <a:gd name="T8" fmla="*/ 12700 w 1377950"/>
                <a:gd name="T9" fmla="*/ 12700 h 496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7950" h="496887">
                  <a:moveTo>
                    <a:pt x="12700" y="12700"/>
                  </a:moveTo>
                  <a:lnTo>
                    <a:pt x="1365250" y="12700"/>
                  </a:lnTo>
                  <a:lnTo>
                    <a:pt x="1365250" y="484187"/>
                  </a:lnTo>
                  <a:lnTo>
                    <a:pt x="12700" y="484187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8" name="Freeform 3"/>
            <p:cNvSpPr>
              <a:spLocks noChangeArrowheads="1"/>
            </p:cNvSpPr>
            <p:nvPr/>
          </p:nvSpPr>
          <p:spPr bwMode="auto">
            <a:xfrm>
              <a:off x="9283695" y="1211264"/>
              <a:ext cx="1181099" cy="496887"/>
            </a:xfrm>
            <a:custGeom>
              <a:avLst/>
              <a:gdLst>
                <a:gd name="T0" fmla="*/ 12700 w 1181100"/>
                <a:gd name="T1" fmla="*/ 12700 h 496887"/>
                <a:gd name="T2" fmla="*/ 1168400 w 1181100"/>
                <a:gd name="T3" fmla="*/ 12700 h 496887"/>
                <a:gd name="T4" fmla="*/ 1168400 w 1181100"/>
                <a:gd name="T5" fmla="*/ 484187 h 496887"/>
                <a:gd name="T6" fmla="*/ 12700 w 1181100"/>
                <a:gd name="T7" fmla="*/ 484187 h 496887"/>
                <a:gd name="T8" fmla="*/ 12700 w 1181100"/>
                <a:gd name="T9" fmla="*/ 12700 h 496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1100" h="496887">
                  <a:moveTo>
                    <a:pt x="12700" y="12700"/>
                  </a:moveTo>
                  <a:lnTo>
                    <a:pt x="1168400" y="12700"/>
                  </a:lnTo>
                  <a:lnTo>
                    <a:pt x="1168400" y="484187"/>
                  </a:lnTo>
                  <a:lnTo>
                    <a:pt x="12700" y="484187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9" name="Freeform 3"/>
            <p:cNvSpPr>
              <a:spLocks noChangeArrowheads="1"/>
            </p:cNvSpPr>
            <p:nvPr/>
          </p:nvSpPr>
          <p:spPr bwMode="auto">
            <a:xfrm>
              <a:off x="8847133" y="1360489"/>
              <a:ext cx="349250" cy="200025"/>
            </a:xfrm>
            <a:custGeom>
              <a:avLst/>
              <a:gdLst>
                <a:gd name="T0" fmla="*/ 0 w 349250"/>
                <a:gd name="T1" fmla="*/ 49999 h 200025"/>
                <a:gd name="T2" fmla="*/ 249249 w 349250"/>
                <a:gd name="T3" fmla="*/ 49999 h 200025"/>
                <a:gd name="T4" fmla="*/ 249249 w 349250"/>
                <a:gd name="T5" fmla="*/ 0 h 200025"/>
                <a:gd name="T6" fmla="*/ 349250 w 349250"/>
                <a:gd name="T7" fmla="*/ 100012 h 200025"/>
                <a:gd name="T8" fmla="*/ 249249 w 349250"/>
                <a:gd name="T9" fmla="*/ 200025 h 200025"/>
                <a:gd name="T10" fmla="*/ 249249 w 349250"/>
                <a:gd name="T11" fmla="*/ 150012 h 200025"/>
                <a:gd name="T12" fmla="*/ 0 w 349250"/>
                <a:gd name="T13" fmla="*/ 150012 h 200025"/>
                <a:gd name="T14" fmla="*/ 0 w 349250"/>
                <a:gd name="T15" fmla="*/ 49999 h 200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9250" h="200025">
                  <a:moveTo>
                    <a:pt x="0" y="49999"/>
                  </a:moveTo>
                  <a:lnTo>
                    <a:pt x="249249" y="49999"/>
                  </a:lnTo>
                  <a:lnTo>
                    <a:pt x="249249" y="0"/>
                  </a:lnTo>
                  <a:lnTo>
                    <a:pt x="349250" y="100012"/>
                  </a:lnTo>
                  <a:lnTo>
                    <a:pt x="249249" y="200025"/>
                  </a:lnTo>
                  <a:lnTo>
                    <a:pt x="249249" y="150012"/>
                  </a:lnTo>
                  <a:lnTo>
                    <a:pt x="0" y="150012"/>
                  </a:lnTo>
                  <a:lnTo>
                    <a:pt x="0" y="49999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0" name="Freeform 3"/>
            <p:cNvSpPr>
              <a:spLocks noChangeArrowheads="1"/>
            </p:cNvSpPr>
            <p:nvPr/>
          </p:nvSpPr>
          <p:spPr bwMode="auto">
            <a:xfrm>
              <a:off x="8834432" y="1347789"/>
              <a:ext cx="374650" cy="225426"/>
            </a:xfrm>
            <a:custGeom>
              <a:avLst/>
              <a:gdLst>
                <a:gd name="T0" fmla="*/ 12700 w 374650"/>
                <a:gd name="T1" fmla="*/ 62699 h 225425"/>
                <a:gd name="T2" fmla="*/ 261949 w 374650"/>
                <a:gd name="T3" fmla="*/ 62699 h 225425"/>
                <a:gd name="T4" fmla="*/ 261949 w 374650"/>
                <a:gd name="T5" fmla="*/ 12700 h 225425"/>
                <a:gd name="T6" fmla="*/ 361950 w 374650"/>
                <a:gd name="T7" fmla="*/ 112712 h 225425"/>
                <a:gd name="T8" fmla="*/ 261949 w 374650"/>
                <a:gd name="T9" fmla="*/ 212725 h 225425"/>
                <a:gd name="T10" fmla="*/ 261949 w 374650"/>
                <a:gd name="T11" fmla="*/ 162712 h 225425"/>
                <a:gd name="T12" fmla="*/ 12700 w 374650"/>
                <a:gd name="T13" fmla="*/ 162712 h 225425"/>
                <a:gd name="T14" fmla="*/ 12700 w 374650"/>
                <a:gd name="T15" fmla="*/ 62699 h 225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650" h="225425">
                  <a:moveTo>
                    <a:pt x="12700" y="62699"/>
                  </a:moveTo>
                  <a:lnTo>
                    <a:pt x="261949" y="62699"/>
                  </a:lnTo>
                  <a:lnTo>
                    <a:pt x="261949" y="12700"/>
                  </a:lnTo>
                  <a:lnTo>
                    <a:pt x="361950" y="112712"/>
                  </a:lnTo>
                  <a:lnTo>
                    <a:pt x="261949" y="212725"/>
                  </a:lnTo>
                  <a:lnTo>
                    <a:pt x="261949" y="162712"/>
                  </a:lnTo>
                  <a:lnTo>
                    <a:pt x="12700" y="162712"/>
                  </a:lnTo>
                  <a:lnTo>
                    <a:pt x="12700" y="62699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9BBB59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1" name="Freeform 3"/>
            <p:cNvSpPr>
              <a:spLocks noChangeArrowheads="1"/>
            </p:cNvSpPr>
            <p:nvPr/>
          </p:nvSpPr>
          <p:spPr bwMode="auto">
            <a:xfrm>
              <a:off x="2105025" y="3307186"/>
              <a:ext cx="1166812" cy="249238"/>
            </a:xfrm>
            <a:custGeom>
              <a:avLst/>
              <a:gdLst>
                <a:gd name="T0" fmla="*/ 0 w 1166812"/>
                <a:gd name="T1" fmla="*/ 0 h 248958"/>
                <a:gd name="T2" fmla="*/ 583399 w 1166812"/>
                <a:gd name="T3" fmla="*/ 55841 h 248958"/>
                <a:gd name="T4" fmla="*/ 1166812 w 1166812"/>
                <a:gd name="T5" fmla="*/ 0 h 248958"/>
                <a:gd name="T6" fmla="*/ 1166812 w 1166812"/>
                <a:gd name="T7" fmla="*/ 0 h 248958"/>
                <a:gd name="T8" fmla="*/ 1166812 w 1166812"/>
                <a:gd name="T9" fmla="*/ 193116 h 248958"/>
                <a:gd name="T10" fmla="*/ 1166812 w 1166812"/>
                <a:gd name="T11" fmla="*/ 193116 h 248958"/>
                <a:gd name="T12" fmla="*/ 583399 w 1166812"/>
                <a:gd name="T13" fmla="*/ 248958 h 248958"/>
                <a:gd name="T14" fmla="*/ 0 w 1166812"/>
                <a:gd name="T15" fmla="*/ 193116 h 248958"/>
                <a:gd name="T16" fmla="*/ 0 w 1166812"/>
                <a:gd name="T17" fmla="*/ 193103 h 248958"/>
                <a:gd name="T18" fmla="*/ 0 w 1166812"/>
                <a:gd name="T19" fmla="*/ 0 h 248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6812" h="248958">
                  <a:moveTo>
                    <a:pt x="0" y="0"/>
                  </a:moveTo>
                  <a:cubicBezTo>
                    <a:pt x="0" y="30848"/>
                    <a:pt x="261188" y="55841"/>
                    <a:pt x="583399" y="55841"/>
                  </a:cubicBezTo>
                  <a:cubicBezTo>
                    <a:pt x="905611" y="55841"/>
                    <a:pt x="1166812" y="30848"/>
                    <a:pt x="1166812" y="0"/>
                  </a:cubicBezTo>
                  <a:lnTo>
                    <a:pt x="1166812" y="193116"/>
                  </a:lnTo>
                  <a:cubicBezTo>
                    <a:pt x="1166812" y="223951"/>
                    <a:pt x="905611" y="248958"/>
                    <a:pt x="583399" y="248958"/>
                  </a:cubicBezTo>
                  <a:cubicBezTo>
                    <a:pt x="261200" y="248958"/>
                    <a:pt x="0" y="223951"/>
                    <a:pt x="0" y="193116"/>
                  </a:cubicBezTo>
                  <a:cubicBezTo>
                    <a:pt x="0" y="193116"/>
                    <a:pt x="0" y="193116"/>
                    <a:pt x="0" y="193103"/>
                  </a:cubicBezTo>
                  <a:lnTo>
                    <a:pt x="0" y="0"/>
                  </a:lnTo>
                </a:path>
              </a:pathLst>
            </a:custGeom>
            <a:solidFill>
              <a:srgbClr val="438ACB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2" name="Freeform 3"/>
            <p:cNvSpPr>
              <a:spLocks noChangeArrowheads="1"/>
            </p:cNvSpPr>
            <p:nvPr/>
          </p:nvSpPr>
          <p:spPr bwMode="auto">
            <a:xfrm>
              <a:off x="2105025" y="3251624"/>
              <a:ext cx="1166812" cy="112711"/>
            </a:xfrm>
            <a:custGeom>
              <a:avLst/>
              <a:gdLst>
                <a:gd name="T0" fmla="*/ 0 w 1166812"/>
                <a:gd name="T1" fmla="*/ 55841 h 111683"/>
                <a:gd name="T2" fmla="*/ 583412 w 1166812"/>
                <a:gd name="T3" fmla="*/ 0 h 111683"/>
                <a:gd name="T4" fmla="*/ 1166812 w 1166812"/>
                <a:gd name="T5" fmla="*/ 55841 h 111683"/>
                <a:gd name="T6" fmla="*/ 1166812 w 1166812"/>
                <a:gd name="T7" fmla="*/ 55841 h 111683"/>
                <a:gd name="T8" fmla="*/ 1166812 w 1166812"/>
                <a:gd name="T9" fmla="*/ 55841 h 111683"/>
                <a:gd name="T10" fmla="*/ 583412 w 1166812"/>
                <a:gd name="T11" fmla="*/ 111683 h 111683"/>
                <a:gd name="T12" fmla="*/ 0 w 1166812"/>
                <a:gd name="T13" fmla="*/ 55841 h 111683"/>
                <a:gd name="T14" fmla="*/ 0 w 1166812"/>
                <a:gd name="T15" fmla="*/ 55841 h 1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6812" h="111683">
                  <a:moveTo>
                    <a:pt x="0" y="55841"/>
                  </a:moveTo>
                  <a:cubicBezTo>
                    <a:pt x="0" y="24993"/>
                    <a:pt x="261200" y="0"/>
                    <a:pt x="583412" y="0"/>
                  </a:cubicBezTo>
                  <a:cubicBezTo>
                    <a:pt x="905624" y="0"/>
                    <a:pt x="1166812" y="25006"/>
                    <a:pt x="1166812" y="55841"/>
                  </a:cubicBezTo>
                  <a:cubicBezTo>
                    <a:pt x="1166812" y="86690"/>
                    <a:pt x="905611" y="111683"/>
                    <a:pt x="583412" y="111683"/>
                  </a:cubicBezTo>
                  <a:cubicBezTo>
                    <a:pt x="261200" y="111683"/>
                    <a:pt x="0" y="86690"/>
                    <a:pt x="0" y="55841"/>
                  </a:cubicBezTo>
                  <a:cubicBezTo>
                    <a:pt x="0" y="55841"/>
                    <a:pt x="0" y="55841"/>
                    <a:pt x="0" y="55841"/>
                  </a:cubicBezTo>
                </a:path>
              </a:pathLst>
            </a:custGeom>
            <a:solidFill>
              <a:srgbClr val="8EB9E0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3" name="Freeform 3"/>
            <p:cNvSpPr>
              <a:spLocks noChangeArrowheads="1"/>
            </p:cNvSpPr>
            <p:nvPr/>
          </p:nvSpPr>
          <p:spPr bwMode="auto">
            <a:xfrm>
              <a:off x="4214811" y="4398962"/>
              <a:ext cx="925511" cy="493712"/>
            </a:xfrm>
            <a:custGeom>
              <a:avLst/>
              <a:gdLst>
                <a:gd name="T0" fmla="*/ 12700 w 925512"/>
                <a:gd name="T1" fmla="*/ 12700 h 493712"/>
                <a:gd name="T2" fmla="*/ 912812 w 925512"/>
                <a:gd name="T3" fmla="*/ 12700 h 493712"/>
                <a:gd name="T4" fmla="*/ 912812 w 925512"/>
                <a:gd name="T5" fmla="*/ 481012 h 493712"/>
                <a:gd name="T6" fmla="*/ 12700 w 925512"/>
                <a:gd name="T7" fmla="*/ 481012 h 493712"/>
                <a:gd name="T8" fmla="*/ 12700 w 925512"/>
                <a:gd name="T9" fmla="*/ 12700 h 493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5512" h="493712">
                  <a:moveTo>
                    <a:pt x="12700" y="12700"/>
                  </a:moveTo>
                  <a:lnTo>
                    <a:pt x="912812" y="12700"/>
                  </a:lnTo>
                  <a:lnTo>
                    <a:pt x="912812" y="481012"/>
                  </a:lnTo>
                  <a:lnTo>
                    <a:pt x="12700" y="481012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4" name="Freeform 3"/>
            <p:cNvSpPr>
              <a:spLocks noChangeArrowheads="1"/>
            </p:cNvSpPr>
            <p:nvPr/>
          </p:nvSpPr>
          <p:spPr bwMode="auto">
            <a:xfrm>
              <a:off x="5473698" y="4398962"/>
              <a:ext cx="925513" cy="493712"/>
            </a:xfrm>
            <a:custGeom>
              <a:avLst/>
              <a:gdLst>
                <a:gd name="T0" fmla="*/ 12700 w 925512"/>
                <a:gd name="T1" fmla="*/ 12700 h 493712"/>
                <a:gd name="T2" fmla="*/ 912812 w 925512"/>
                <a:gd name="T3" fmla="*/ 12700 h 493712"/>
                <a:gd name="T4" fmla="*/ 912812 w 925512"/>
                <a:gd name="T5" fmla="*/ 481012 h 493712"/>
                <a:gd name="T6" fmla="*/ 12700 w 925512"/>
                <a:gd name="T7" fmla="*/ 481012 h 493712"/>
                <a:gd name="T8" fmla="*/ 12700 w 925512"/>
                <a:gd name="T9" fmla="*/ 12700 h 493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5512" h="493712">
                  <a:moveTo>
                    <a:pt x="12700" y="12700"/>
                  </a:moveTo>
                  <a:lnTo>
                    <a:pt x="912812" y="12700"/>
                  </a:lnTo>
                  <a:lnTo>
                    <a:pt x="912812" y="481012"/>
                  </a:lnTo>
                  <a:lnTo>
                    <a:pt x="12700" y="481012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5" name="Freeform 3"/>
            <p:cNvSpPr>
              <a:spLocks noChangeArrowheads="1"/>
            </p:cNvSpPr>
            <p:nvPr/>
          </p:nvSpPr>
          <p:spPr bwMode="auto">
            <a:xfrm>
              <a:off x="5130798" y="4545013"/>
              <a:ext cx="350838" cy="200025"/>
            </a:xfrm>
            <a:custGeom>
              <a:avLst/>
              <a:gdLst>
                <a:gd name="T0" fmla="*/ 0 w 350837"/>
                <a:gd name="T1" fmla="*/ 50012 h 200037"/>
                <a:gd name="T2" fmla="*/ 250837 w 350837"/>
                <a:gd name="T3" fmla="*/ 50012 h 200037"/>
                <a:gd name="T4" fmla="*/ 250837 w 350837"/>
                <a:gd name="T5" fmla="*/ 0 h 200037"/>
                <a:gd name="T6" fmla="*/ 350837 w 350837"/>
                <a:gd name="T7" fmla="*/ 100024 h 200037"/>
                <a:gd name="T8" fmla="*/ 250837 w 350837"/>
                <a:gd name="T9" fmla="*/ 200037 h 200037"/>
                <a:gd name="T10" fmla="*/ 250837 w 350837"/>
                <a:gd name="T11" fmla="*/ 150024 h 200037"/>
                <a:gd name="T12" fmla="*/ 0 w 350837"/>
                <a:gd name="T13" fmla="*/ 150024 h 200037"/>
                <a:gd name="T14" fmla="*/ 0 w 350837"/>
                <a:gd name="T15" fmla="*/ 50012 h 200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0837" h="200037">
                  <a:moveTo>
                    <a:pt x="0" y="50012"/>
                  </a:moveTo>
                  <a:lnTo>
                    <a:pt x="250837" y="50012"/>
                  </a:lnTo>
                  <a:lnTo>
                    <a:pt x="250837" y="0"/>
                  </a:lnTo>
                  <a:lnTo>
                    <a:pt x="350837" y="100024"/>
                  </a:lnTo>
                  <a:lnTo>
                    <a:pt x="250837" y="200037"/>
                  </a:lnTo>
                  <a:lnTo>
                    <a:pt x="250837" y="150024"/>
                  </a:lnTo>
                  <a:lnTo>
                    <a:pt x="0" y="150024"/>
                  </a:lnTo>
                  <a:lnTo>
                    <a:pt x="0" y="50012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6" name="Freeform 3"/>
            <p:cNvSpPr>
              <a:spLocks noChangeArrowheads="1"/>
            </p:cNvSpPr>
            <p:nvPr/>
          </p:nvSpPr>
          <p:spPr bwMode="auto">
            <a:xfrm>
              <a:off x="5118097" y="4532313"/>
              <a:ext cx="376238" cy="225426"/>
            </a:xfrm>
            <a:custGeom>
              <a:avLst/>
              <a:gdLst>
                <a:gd name="T0" fmla="*/ 12700 w 376237"/>
                <a:gd name="T1" fmla="*/ 62712 h 225437"/>
                <a:gd name="T2" fmla="*/ 263537 w 376237"/>
                <a:gd name="T3" fmla="*/ 62712 h 225437"/>
                <a:gd name="T4" fmla="*/ 263537 w 376237"/>
                <a:gd name="T5" fmla="*/ 12700 h 225437"/>
                <a:gd name="T6" fmla="*/ 363537 w 376237"/>
                <a:gd name="T7" fmla="*/ 112724 h 225437"/>
                <a:gd name="T8" fmla="*/ 263537 w 376237"/>
                <a:gd name="T9" fmla="*/ 212737 h 225437"/>
                <a:gd name="T10" fmla="*/ 263537 w 376237"/>
                <a:gd name="T11" fmla="*/ 162724 h 225437"/>
                <a:gd name="T12" fmla="*/ 12700 w 376237"/>
                <a:gd name="T13" fmla="*/ 162724 h 225437"/>
                <a:gd name="T14" fmla="*/ 12700 w 376237"/>
                <a:gd name="T15" fmla="*/ 62712 h 225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6237" h="225437">
                  <a:moveTo>
                    <a:pt x="12700" y="62712"/>
                  </a:moveTo>
                  <a:lnTo>
                    <a:pt x="263537" y="62712"/>
                  </a:lnTo>
                  <a:lnTo>
                    <a:pt x="263537" y="12700"/>
                  </a:lnTo>
                  <a:lnTo>
                    <a:pt x="363537" y="112724"/>
                  </a:lnTo>
                  <a:lnTo>
                    <a:pt x="263537" y="212737"/>
                  </a:lnTo>
                  <a:lnTo>
                    <a:pt x="263537" y="162724"/>
                  </a:lnTo>
                  <a:lnTo>
                    <a:pt x="12700" y="162724"/>
                  </a:lnTo>
                  <a:lnTo>
                    <a:pt x="12700" y="62712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9BBB59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7" name="Freeform 3"/>
            <p:cNvSpPr>
              <a:spLocks noChangeArrowheads="1"/>
            </p:cNvSpPr>
            <p:nvPr/>
          </p:nvSpPr>
          <p:spPr bwMode="auto">
            <a:xfrm>
              <a:off x="6799259" y="4403725"/>
              <a:ext cx="925511" cy="492125"/>
            </a:xfrm>
            <a:custGeom>
              <a:avLst/>
              <a:gdLst>
                <a:gd name="T0" fmla="*/ 12700 w 925512"/>
                <a:gd name="T1" fmla="*/ 12700 h 492125"/>
                <a:gd name="T2" fmla="*/ 912812 w 925512"/>
                <a:gd name="T3" fmla="*/ 12700 h 492125"/>
                <a:gd name="T4" fmla="*/ 912812 w 925512"/>
                <a:gd name="T5" fmla="*/ 479425 h 492125"/>
                <a:gd name="T6" fmla="*/ 12700 w 925512"/>
                <a:gd name="T7" fmla="*/ 479425 h 492125"/>
                <a:gd name="T8" fmla="*/ 12700 w 925512"/>
                <a:gd name="T9" fmla="*/ 12700 h 492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5512" h="492125">
                  <a:moveTo>
                    <a:pt x="12700" y="12700"/>
                  </a:moveTo>
                  <a:lnTo>
                    <a:pt x="912812" y="12700"/>
                  </a:lnTo>
                  <a:lnTo>
                    <a:pt x="912812" y="479425"/>
                  </a:lnTo>
                  <a:lnTo>
                    <a:pt x="12700" y="479425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8" name="Freeform 3"/>
            <p:cNvSpPr>
              <a:spLocks noChangeArrowheads="1"/>
            </p:cNvSpPr>
            <p:nvPr/>
          </p:nvSpPr>
          <p:spPr bwMode="auto">
            <a:xfrm>
              <a:off x="6434135" y="4535488"/>
              <a:ext cx="349250" cy="200025"/>
            </a:xfrm>
            <a:custGeom>
              <a:avLst/>
              <a:gdLst>
                <a:gd name="T0" fmla="*/ 0 w 349250"/>
                <a:gd name="T1" fmla="*/ 50012 h 200037"/>
                <a:gd name="T2" fmla="*/ 249250 w 349250"/>
                <a:gd name="T3" fmla="*/ 50012 h 200037"/>
                <a:gd name="T4" fmla="*/ 249250 w 349250"/>
                <a:gd name="T5" fmla="*/ 0 h 200037"/>
                <a:gd name="T6" fmla="*/ 349250 w 349250"/>
                <a:gd name="T7" fmla="*/ 100024 h 200037"/>
                <a:gd name="T8" fmla="*/ 249250 w 349250"/>
                <a:gd name="T9" fmla="*/ 200037 h 200037"/>
                <a:gd name="T10" fmla="*/ 249250 w 349250"/>
                <a:gd name="T11" fmla="*/ 150024 h 200037"/>
                <a:gd name="T12" fmla="*/ 0 w 349250"/>
                <a:gd name="T13" fmla="*/ 150024 h 200037"/>
                <a:gd name="T14" fmla="*/ 0 w 349250"/>
                <a:gd name="T15" fmla="*/ 50012 h 200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9250" h="200037">
                  <a:moveTo>
                    <a:pt x="0" y="50012"/>
                  </a:moveTo>
                  <a:lnTo>
                    <a:pt x="249250" y="50012"/>
                  </a:lnTo>
                  <a:lnTo>
                    <a:pt x="249250" y="0"/>
                  </a:lnTo>
                  <a:lnTo>
                    <a:pt x="349250" y="100024"/>
                  </a:lnTo>
                  <a:lnTo>
                    <a:pt x="249250" y="200037"/>
                  </a:lnTo>
                  <a:lnTo>
                    <a:pt x="249250" y="150024"/>
                  </a:lnTo>
                  <a:lnTo>
                    <a:pt x="0" y="150024"/>
                  </a:lnTo>
                  <a:lnTo>
                    <a:pt x="0" y="50012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9" name="Freeform 3"/>
            <p:cNvSpPr>
              <a:spLocks noChangeArrowheads="1"/>
            </p:cNvSpPr>
            <p:nvPr/>
          </p:nvSpPr>
          <p:spPr bwMode="auto">
            <a:xfrm>
              <a:off x="6421435" y="4522788"/>
              <a:ext cx="374650" cy="225426"/>
            </a:xfrm>
            <a:custGeom>
              <a:avLst/>
              <a:gdLst>
                <a:gd name="T0" fmla="*/ 12700 w 374650"/>
                <a:gd name="T1" fmla="*/ 62712 h 225437"/>
                <a:gd name="T2" fmla="*/ 261950 w 374650"/>
                <a:gd name="T3" fmla="*/ 62712 h 225437"/>
                <a:gd name="T4" fmla="*/ 261950 w 374650"/>
                <a:gd name="T5" fmla="*/ 12700 h 225437"/>
                <a:gd name="T6" fmla="*/ 361950 w 374650"/>
                <a:gd name="T7" fmla="*/ 112724 h 225437"/>
                <a:gd name="T8" fmla="*/ 261950 w 374650"/>
                <a:gd name="T9" fmla="*/ 212737 h 225437"/>
                <a:gd name="T10" fmla="*/ 261950 w 374650"/>
                <a:gd name="T11" fmla="*/ 162724 h 225437"/>
                <a:gd name="T12" fmla="*/ 12700 w 374650"/>
                <a:gd name="T13" fmla="*/ 162724 h 225437"/>
                <a:gd name="T14" fmla="*/ 12700 w 374650"/>
                <a:gd name="T15" fmla="*/ 62712 h 225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650" h="225437">
                  <a:moveTo>
                    <a:pt x="12700" y="62712"/>
                  </a:moveTo>
                  <a:lnTo>
                    <a:pt x="261950" y="62712"/>
                  </a:lnTo>
                  <a:lnTo>
                    <a:pt x="261950" y="12700"/>
                  </a:lnTo>
                  <a:lnTo>
                    <a:pt x="361950" y="112724"/>
                  </a:lnTo>
                  <a:lnTo>
                    <a:pt x="261950" y="212737"/>
                  </a:lnTo>
                  <a:lnTo>
                    <a:pt x="261950" y="162724"/>
                  </a:lnTo>
                  <a:lnTo>
                    <a:pt x="12700" y="162724"/>
                  </a:lnTo>
                  <a:lnTo>
                    <a:pt x="12700" y="62712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9BBB59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0" name="Freeform 3"/>
            <p:cNvSpPr>
              <a:spLocks noChangeArrowheads="1"/>
            </p:cNvSpPr>
            <p:nvPr/>
          </p:nvSpPr>
          <p:spPr bwMode="auto">
            <a:xfrm>
              <a:off x="8080370" y="4398963"/>
              <a:ext cx="1181099" cy="496887"/>
            </a:xfrm>
            <a:custGeom>
              <a:avLst/>
              <a:gdLst>
                <a:gd name="T0" fmla="*/ 12700 w 1181100"/>
                <a:gd name="T1" fmla="*/ 12700 h 496887"/>
                <a:gd name="T2" fmla="*/ 1168400 w 1181100"/>
                <a:gd name="T3" fmla="*/ 12700 h 496887"/>
                <a:gd name="T4" fmla="*/ 1168400 w 1181100"/>
                <a:gd name="T5" fmla="*/ 484187 h 496887"/>
                <a:gd name="T6" fmla="*/ 12700 w 1181100"/>
                <a:gd name="T7" fmla="*/ 484187 h 496887"/>
                <a:gd name="T8" fmla="*/ 12700 w 1181100"/>
                <a:gd name="T9" fmla="*/ 12700 h 496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1100" h="496887">
                  <a:moveTo>
                    <a:pt x="12700" y="12700"/>
                  </a:moveTo>
                  <a:lnTo>
                    <a:pt x="1168400" y="12700"/>
                  </a:lnTo>
                  <a:lnTo>
                    <a:pt x="1168400" y="484187"/>
                  </a:lnTo>
                  <a:lnTo>
                    <a:pt x="12700" y="484187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1" name="Freeform 3"/>
            <p:cNvSpPr>
              <a:spLocks noChangeArrowheads="1"/>
            </p:cNvSpPr>
            <p:nvPr/>
          </p:nvSpPr>
          <p:spPr bwMode="auto">
            <a:xfrm>
              <a:off x="7712071" y="4533900"/>
              <a:ext cx="349250" cy="200025"/>
            </a:xfrm>
            <a:custGeom>
              <a:avLst/>
              <a:gdLst>
                <a:gd name="T0" fmla="*/ 0 w 349250"/>
                <a:gd name="T1" fmla="*/ 50000 h 200025"/>
                <a:gd name="T2" fmla="*/ 249250 w 349250"/>
                <a:gd name="T3" fmla="*/ 50000 h 200025"/>
                <a:gd name="T4" fmla="*/ 249250 w 349250"/>
                <a:gd name="T5" fmla="*/ 0 h 200025"/>
                <a:gd name="T6" fmla="*/ 349250 w 349250"/>
                <a:gd name="T7" fmla="*/ 100012 h 200025"/>
                <a:gd name="T8" fmla="*/ 249250 w 349250"/>
                <a:gd name="T9" fmla="*/ 200025 h 200025"/>
                <a:gd name="T10" fmla="*/ 249250 w 349250"/>
                <a:gd name="T11" fmla="*/ 150012 h 200025"/>
                <a:gd name="T12" fmla="*/ 0 w 349250"/>
                <a:gd name="T13" fmla="*/ 150012 h 200025"/>
                <a:gd name="T14" fmla="*/ 0 w 349250"/>
                <a:gd name="T15" fmla="*/ 50000 h 200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9250" h="200025">
                  <a:moveTo>
                    <a:pt x="0" y="50000"/>
                  </a:moveTo>
                  <a:lnTo>
                    <a:pt x="249250" y="50000"/>
                  </a:lnTo>
                  <a:lnTo>
                    <a:pt x="249250" y="0"/>
                  </a:lnTo>
                  <a:lnTo>
                    <a:pt x="349250" y="100012"/>
                  </a:lnTo>
                  <a:lnTo>
                    <a:pt x="249250" y="200025"/>
                  </a:lnTo>
                  <a:lnTo>
                    <a:pt x="249250" y="150012"/>
                  </a:lnTo>
                  <a:lnTo>
                    <a:pt x="0" y="150012"/>
                  </a:lnTo>
                  <a:lnTo>
                    <a:pt x="0" y="5000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2" name="Freeform 3"/>
            <p:cNvSpPr>
              <a:spLocks noChangeArrowheads="1"/>
            </p:cNvSpPr>
            <p:nvPr/>
          </p:nvSpPr>
          <p:spPr bwMode="auto">
            <a:xfrm>
              <a:off x="7699370" y="4521200"/>
              <a:ext cx="374650" cy="225426"/>
            </a:xfrm>
            <a:custGeom>
              <a:avLst/>
              <a:gdLst>
                <a:gd name="T0" fmla="*/ 12700 w 374650"/>
                <a:gd name="T1" fmla="*/ 62700 h 225425"/>
                <a:gd name="T2" fmla="*/ 261950 w 374650"/>
                <a:gd name="T3" fmla="*/ 62700 h 225425"/>
                <a:gd name="T4" fmla="*/ 261950 w 374650"/>
                <a:gd name="T5" fmla="*/ 12700 h 225425"/>
                <a:gd name="T6" fmla="*/ 361950 w 374650"/>
                <a:gd name="T7" fmla="*/ 112712 h 225425"/>
                <a:gd name="T8" fmla="*/ 261950 w 374650"/>
                <a:gd name="T9" fmla="*/ 212725 h 225425"/>
                <a:gd name="T10" fmla="*/ 261950 w 374650"/>
                <a:gd name="T11" fmla="*/ 162712 h 225425"/>
                <a:gd name="T12" fmla="*/ 12700 w 374650"/>
                <a:gd name="T13" fmla="*/ 162712 h 225425"/>
                <a:gd name="T14" fmla="*/ 12700 w 374650"/>
                <a:gd name="T15" fmla="*/ 62700 h 225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650" h="225425">
                  <a:moveTo>
                    <a:pt x="12700" y="62700"/>
                  </a:moveTo>
                  <a:lnTo>
                    <a:pt x="261950" y="62700"/>
                  </a:lnTo>
                  <a:lnTo>
                    <a:pt x="261950" y="12700"/>
                  </a:lnTo>
                  <a:lnTo>
                    <a:pt x="361950" y="112712"/>
                  </a:lnTo>
                  <a:lnTo>
                    <a:pt x="261950" y="212725"/>
                  </a:lnTo>
                  <a:lnTo>
                    <a:pt x="261950" y="162712"/>
                  </a:lnTo>
                  <a:lnTo>
                    <a:pt x="12700" y="162712"/>
                  </a:lnTo>
                  <a:lnTo>
                    <a:pt x="12700" y="627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9BBB59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3" name="Freeform 3"/>
            <p:cNvSpPr>
              <a:spLocks noChangeArrowheads="1"/>
            </p:cNvSpPr>
            <p:nvPr/>
          </p:nvSpPr>
          <p:spPr bwMode="auto">
            <a:xfrm>
              <a:off x="4030662" y="1211264"/>
              <a:ext cx="1214436" cy="493712"/>
            </a:xfrm>
            <a:custGeom>
              <a:avLst/>
              <a:gdLst>
                <a:gd name="T0" fmla="*/ 12700 w 1214437"/>
                <a:gd name="T1" fmla="*/ 12700 h 493712"/>
                <a:gd name="T2" fmla="*/ 1201737 w 1214437"/>
                <a:gd name="T3" fmla="*/ 12700 h 493712"/>
                <a:gd name="T4" fmla="*/ 1201737 w 1214437"/>
                <a:gd name="T5" fmla="*/ 481012 h 493712"/>
                <a:gd name="T6" fmla="*/ 12700 w 1214437"/>
                <a:gd name="T7" fmla="*/ 481012 h 493712"/>
                <a:gd name="T8" fmla="*/ 12700 w 1214437"/>
                <a:gd name="T9" fmla="*/ 12700 h 493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4437" h="493712">
                  <a:moveTo>
                    <a:pt x="12700" y="12700"/>
                  </a:moveTo>
                  <a:lnTo>
                    <a:pt x="1201737" y="12700"/>
                  </a:lnTo>
                  <a:lnTo>
                    <a:pt x="1201737" y="481012"/>
                  </a:lnTo>
                  <a:lnTo>
                    <a:pt x="12700" y="481012"/>
                  </a:lnTo>
                  <a:lnTo>
                    <a:pt x="12700" y="12700"/>
                  </a:lnTo>
                </a:path>
              </a:pathLst>
            </a:custGeom>
            <a:solidFill>
              <a:srgbClr val="FFFFFF"/>
            </a:solidFill>
            <a:ln w="25400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4" name="Freeform 3"/>
            <p:cNvSpPr>
              <a:spLocks noChangeArrowheads="1"/>
            </p:cNvSpPr>
            <p:nvPr/>
          </p:nvSpPr>
          <p:spPr bwMode="auto">
            <a:xfrm>
              <a:off x="5235572" y="1357314"/>
              <a:ext cx="350838" cy="200025"/>
            </a:xfrm>
            <a:custGeom>
              <a:avLst/>
              <a:gdLst>
                <a:gd name="T0" fmla="*/ 0 w 350837"/>
                <a:gd name="T1" fmla="*/ 49999 h 200025"/>
                <a:gd name="T2" fmla="*/ 250837 w 350837"/>
                <a:gd name="T3" fmla="*/ 49999 h 200025"/>
                <a:gd name="T4" fmla="*/ 250837 w 350837"/>
                <a:gd name="T5" fmla="*/ 0 h 200025"/>
                <a:gd name="T6" fmla="*/ 350837 w 350837"/>
                <a:gd name="T7" fmla="*/ 100012 h 200025"/>
                <a:gd name="T8" fmla="*/ 250837 w 350837"/>
                <a:gd name="T9" fmla="*/ 200025 h 200025"/>
                <a:gd name="T10" fmla="*/ 250837 w 350837"/>
                <a:gd name="T11" fmla="*/ 150012 h 200025"/>
                <a:gd name="T12" fmla="*/ 0 w 350837"/>
                <a:gd name="T13" fmla="*/ 150012 h 200025"/>
                <a:gd name="T14" fmla="*/ 0 w 350837"/>
                <a:gd name="T15" fmla="*/ 49999 h 200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0837" h="200025">
                  <a:moveTo>
                    <a:pt x="0" y="49999"/>
                  </a:moveTo>
                  <a:lnTo>
                    <a:pt x="250837" y="49999"/>
                  </a:lnTo>
                  <a:lnTo>
                    <a:pt x="250837" y="0"/>
                  </a:lnTo>
                  <a:lnTo>
                    <a:pt x="350837" y="100012"/>
                  </a:lnTo>
                  <a:lnTo>
                    <a:pt x="250837" y="200025"/>
                  </a:lnTo>
                  <a:lnTo>
                    <a:pt x="250837" y="150012"/>
                  </a:lnTo>
                  <a:lnTo>
                    <a:pt x="0" y="150012"/>
                  </a:lnTo>
                  <a:lnTo>
                    <a:pt x="0" y="49999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5" name="Freeform 3"/>
            <p:cNvSpPr>
              <a:spLocks noChangeArrowheads="1"/>
            </p:cNvSpPr>
            <p:nvPr/>
          </p:nvSpPr>
          <p:spPr bwMode="auto">
            <a:xfrm>
              <a:off x="5222872" y="1344614"/>
              <a:ext cx="376238" cy="225426"/>
            </a:xfrm>
            <a:custGeom>
              <a:avLst/>
              <a:gdLst>
                <a:gd name="T0" fmla="*/ 12700 w 376237"/>
                <a:gd name="T1" fmla="*/ 62699 h 225425"/>
                <a:gd name="T2" fmla="*/ 263537 w 376237"/>
                <a:gd name="T3" fmla="*/ 62699 h 225425"/>
                <a:gd name="T4" fmla="*/ 263537 w 376237"/>
                <a:gd name="T5" fmla="*/ 12700 h 225425"/>
                <a:gd name="T6" fmla="*/ 363537 w 376237"/>
                <a:gd name="T7" fmla="*/ 112712 h 225425"/>
                <a:gd name="T8" fmla="*/ 263537 w 376237"/>
                <a:gd name="T9" fmla="*/ 212725 h 225425"/>
                <a:gd name="T10" fmla="*/ 263537 w 376237"/>
                <a:gd name="T11" fmla="*/ 162712 h 225425"/>
                <a:gd name="T12" fmla="*/ 12700 w 376237"/>
                <a:gd name="T13" fmla="*/ 162712 h 225425"/>
                <a:gd name="T14" fmla="*/ 12700 w 376237"/>
                <a:gd name="T15" fmla="*/ 62699 h 225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6237" h="225425">
                  <a:moveTo>
                    <a:pt x="12700" y="62699"/>
                  </a:moveTo>
                  <a:lnTo>
                    <a:pt x="263537" y="62699"/>
                  </a:lnTo>
                  <a:lnTo>
                    <a:pt x="263537" y="12700"/>
                  </a:lnTo>
                  <a:lnTo>
                    <a:pt x="363537" y="112712"/>
                  </a:lnTo>
                  <a:lnTo>
                    <a:pt x="263537" y="212725"/>
                  </a:lnTo>
                  <a:lnTo>
                    <a:pt x="263537" y="162712"/>
                  </a:lnTo>
                  <a:lnTo>
                    <a:pt x="12700" y="162712"/>
                  </a:lnTo>
                  <a:lnTo>
                    <a:pt x="12700" y="62699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9BBB59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6" name="Freeform 3"/>
            <p:cNvSpPr>
              <a:spLocks noChangeArrowheads="1"/>
            </p:cNvSpPr>
            <p:nvPr/>
          </p:nvSpPr>
          <p:spPr bwMode="auto">
            <a:xfrm>
              <a:off x="2603499" y="3431012"/>
              <a:ext cx="50800" cy="358775"/>
            </a:xfrm>
            <a:custGeom>
              <a:avLst/>
              <a:gdLst>
                <a:gd name="T0" fmla="*/ 12700 w 50800"/>
                <a:gd name="T1" fmla="*/ 12700 h 358775"/>
                <a:gd name="T2" fmla="*/ 12700 w 50800"/>
                <a:gd name="T3" fmla="*/ 346075 h 358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800" h="358775">
                  <a:moveTo>
                    <a:pt x="12700" y="12700"/>
                  </a:moveTo>
                  <a:lnTo>
                    <a:pt x="12700" y="346075"/>
                  </a:lnTo>
                </a:path>
              </a:pathLst>
            </a:custGeom>
            <a:noFill/>
            <a:ln w="25400">
              <a:solidFill>
                <a:srgbClr val="C0504D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7" name="Freeform 3"/>
            <p:cNvSpPr>
              <a:spLocks noChangeArrowheads="1"/>
            </p:cNvSpPr>
            <p:nvPr/>
          </p:nvSpPr>
          <p:spPr bwMode="auto">
            <a:xfrm>
              <a:off x="2578098" y="3764386"/>
              <a:ext cx="76200" cy="76201"/>
            </a:xfrm>
            <a:custGeom>
              <a:avLst/>
              <a:gdLst>
                <a:gd name="T0" fmla="*/ 76200 w 76200"/>
                <a:gd name="T1" fmla="*/ 0 h 76200"/>
                <a:gd name="T2" fmla="*/ 38100 w 76200"/>
                <a:gd name="T3" fmla="*/ 76200 h 76200"/>
                <a:gd name="T4" fmla="*/ 0 w 76200"/>
                <a:gd name="T5" fmla="*/ 0 h 76200"/>
                <a:gd name="T6" fmla="*/ 76200 w 76200"/>
                <a:gd name="T7" fmla="*/ 0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200" h="76200">
                  <a:moveTo>
                    <a:pt x="76200" y="0"/>
                  </a:moveTo>
                  <a:lnTo>
                    <a:pt x="38100" y="76200"/>
                  </a:lnTo>
                  <a:lnTo>
                    <a:pt x="0" y="0"/>
                  </a:lnTo>
                  <a:lnTo>
                    <a:pt x="76200" y="0"/>
                  </a:lnTo>
                </a:path>
              </a:pathLst>
            </a:custGeom>
            <a:solidFill>
              <a:srgbClr val="C0504D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8" name="Freeform 3"/>
            <p:cNvSpPr>
              <a:spLocks noChangeArrowheads="1"/>
            </p:cNvSpPr>
            <p:nvPr/>
          </p:nvSpPr>
          <p:spPr bwMode="auto">
            <a:xfrm>
              <a:off x="2755899" y="3462761"/>
              <a:ext cx="50800" cy="358775"/>
            </a:xfrm>
            <a:custGeom>
              <a:avLst/>
              <a:gdLst>
                <a:gd name="T0" fmla="*/ 12700 w 50800"/>
                <a:gd name="T1" fmla="*/ 12700 h 358775"/>
                <a:gd name="T2" fmla="*/ 12700 w 50800"/>
                <a:gd name="T3" fmla="*/ 346075 h 358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800" h="358775">
                  <a:moveTo>
                    <a:pt x="12700" y="12700"/>
                  </a:moveTo>
                  <a:lnTo>
                    <a:pt x="12700" y="346075"/>
                  </a:lnTo>
                </a:path>
              </a:pathLst>
            </a:custGeom>
            <a:noFill/>
            <a:ln w="25400">
              <a:solidFill>
                <a:srgbClr val="C0504D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9" name="Freeform 3"/>
            <p:cNvSpPr>
              <a:spLocks noChangeArrowheads="1"/>
            </p:cNvSpPr>
            <p:nvPr/>
          </p:nvSpPr>
          <p:spPr bwMode="auto">
            <a:xfrm>
              <a:off x="2730499" y="3411961"/>
              <a:ext cx="76200" cy="76201"/>
            </a:xfrm>
            <a:custGeom>
              <a:avLst/>
              <a:gdLst>
                <a:gd name="T0" fmla="*/ 0 w 76200"/>
                <a:gd name="T1" fmla="*/ 76200 h 76212"/>
                <a:gd name="T2" fmla="*/ 38112 w 76200"/>
                <a:gd name="T3" fmla="*/ 0 h 76212"/>
                <a:gd name="T4" fmla="*/ 76200 w 76200"/>
                <a:gd name="T5" fmla="*/ 76212 h 76212"/>
                <a:gd name="T6" fmla="*/ 0 w 76200"/>
                <a:gd name="T7" fmla="*/ 76200 h 76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200" h="76212">
                  <a:moveTo>
                    <a:pt x="0" y="76200"/>
                  </a:moveTo>
                  <a:lnTo>
                    <a:pt x="38112" y="0"/>
                  </a:lnTo>
                  <a:lnTo>
                    <a:pt x="76200" y="76212"/>
                  </a:lnTo>
                  <a:lnTo>
                    <a:pt x="0" y="76200"/>
                  </a:lnTo>
                </a:path>
              </a:pathLst>
            </a:custGeom>
            <a:solidFill>
              <a:srgbClr val="C0504D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0" name="Freeform 3"/>
            <p:cNvSpPr>
              <a:spLocks noChangeArrowheads="1"/>
            </p:cNvSpPr>
            <p:nvPr/>
          </p:nvSpPr>
          <p:spPr bwMode="auto">
            <a:xfrm>
              <a:off x="2600324" y="4656739"/>
              <a:ext cx="50800" cy="357187"/>
            </a:xfrm>
            <a:custGeom>
              <a:avLst/>
              <a:gdLst>
                <a:gd name="T0" fmla="*/ 12700 w 50800"/>
                <a:gd name="T1" fmla="*/ 12700 h 357187"/>
                <a:gd name="T2" fmla="*/ 12700 w 50800"/>
                <a:gd name="T3" fmla="*/ 344487 h 357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800" h="357187">
                  <a:moveTo>
                    <a:pt x="12700" y="12700"/>
                  </a:moveTo>
                  <a:lnTo>
                    <a:pt x="12700" y="344487"/>
                  </a:lnTo>
                </a:path>
              </a:pathLst>
            </a:custGeom>
            <a:noFill/>
            <a:ln w="25400">
              <a:solidFill>
                <a:srgbClr val="C0504D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1" name="Freeform 3"/>
            <p:cNvSpPr>
              <a:spLocks noChangeArrowheads="1"/>
            </p:cNvSpPr>
            <p:nvPr/>
          </p:nvSpPr>
          <p:spPr bwMode="auto">
            <a:xfrm>
              <a:off x="2574924" y="4988525"/>
              <a:ext cx="76200" cy="76201"/>
            </a:xfrm>
            <a:custGeom>
              <a:avLst/>
              <a:gdLst>
                <a:gd name="T0" fmla="*/ 76200 w 76200"/>
                <a:gd name="T1" fmla="*/ 0 h 76200"/>
                <a:gd name="T2" fmla="*/ 38100 w 76200"/>
                <a:gd name="T3" fmla="*/ 76200 h 76200"/>
                <a:gd name="T4" fmla="*/ 0 w 76200"/>
                <a:gd name="T5" fmla="*/ 0 h 76200"/>
                <a:gd name="T6" fmla="*/ 76200 w 76200"/>
                <a:gd name="T7" fmla="*/ 0 h 7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200" h="76200">
                  <a:moveTo>
                    <a:pt x="76200" y="0"/>
                  </a:moveTo>
                  <a:lnTo>
                    <a:pt x="38100" y="76200"/>
                  </a:lnTo>
                  <a:lnTo>
                    <a:pt x="0" y="0"/>
                  </a:lnTo>
                  <a:lnTo>
                    <a:pt x="76200" y="0"/>
                  </a:lnTo>
                </a:path>
              </a:pathLst>
            </a:custGeom>
            <a:solidFill>
              <a:srgbClr val="C0504D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2" name="Freeform 3"/>
            <p:cNvSpPr>
              <a:spLocks noChangeArrowheads="1"/>
            </p:cNvSpPr>
            <p:nvPr/>
          </p:nvSpPr>
          <p:spPr bwMode="auto">
            <a:xfrm>
              <a:off x="2752723" y="4688490"/>
              <a:ext cx="50800" cy="357187"/>
            </a:xfrm>
            <a:custGeom>
              <a:avLst/>
              <a:gdLst>
                <a:gd name="T0" fmla="*/ 12700 w 50800"/>
                <a:gd name="T1" fmla="*/ 12700 h 357187"/>
                <a:gd name="T2" fmla="*/ 12700 w 50800"/>
                <a:gd name="T3" fmla="*/ 344487 h 357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800" h="357187">
                  <a:moveTo>
                    <a:pt x="12700" y="12700"/>
                  </a:moveTo>
                  <a:lnTo>
                    <a:pt x="12700" y="344487"/>
                  </a:lnTo>
                </a:path>
              </a:pathLst>
            </a:custGeom>
            <a:noFill/>
            <a:ln w="25400">
              <a:solidFill>
                <a:srgbClr val="C0504D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3" name="Freeform 3"/>
            <p:cNvSpPr>
              <a:spLocks noChangeArrowheads="1"/>
            </p:cNvSpPr>
            <p:nvPr/>
          </p:nvSpPr>
          <p:spPr bwMode="auto">
            <a:xfrm>
              <a:off x="2727324" y="4637688"/>
              <a:ext cx="76200" cy="76201"/>
            </a:xfrm>
            <a:custGeom>
              <a:avLst/>
              <a:gdLst>
                <a:gd name="T0" fmla="*/ 0 w 76200"/>
                <a:gd name="T1" fmla="*/ 76200 h 76212"/>
                <a:gd name="T2" fmla="*/ 38112 w 76200"/>
                <a:gd name="T3" fmla="*/ 0 h 76212"/>
                <a:gd name="T4" fmla="*/ 76200 w 76200"/>
                <a:gd name="T5" fmla="*/ 76212 h 76212"/>
                <a:gd name="T6" fmla="*/ 0 w 76200"/>
                <a:gd name="T7" fmla="*/ 76200 h 76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200" h="76212">
                  <a:moveTo>
                    <a:pt x="0" y="76200"/>
                  </a:moveTo>
                  <a:lnTo>
                    <a:pt x="38112" y="0"/>
                  </a:lnTo>
                  <a:lnTo>
                    <a:pt x="76200" y="76212"/>
                  </a:lnTo>
                  <a:lnTo>
                    <a:pt x="0" y="76200"/>
                  </a:lnTo>
                </a:path>
              </a:pathLst>
            </a:custGeom>
            <a:solidFill>
              <a:srgbClr val="C0504D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4" name="Freeform 3"/>
            <p:cNvSpPr>
              <a:spLocks noChangeArrowheads="1"/>
            </p:cNvSpPr>
            <p:nvPr/>
          </p:nvSpPr>
          <p:spPr bwMode="auto">
            <a:xfrm>
              <a:off x="3851274" y="615052"/>
              <a:ext cx="3216273" cy="395287"/>
            </a:xfrm>
            <a:custGeom>
              <a:avLst/>
              <a:gdLst>
                <a:gd name="T0" fmla="*/ 12700 w 3216275"/>
                <a:gd name="T1" fmla="*/ 12700 h 395287"/>
                <a:gd name="T2" fmla="*/ 3203575 w 3216275"/>
                <a:gd name="T3" fmla="*/ 12700 h 395287"/>
                <a:gd name="T4" fmla="*/ 3203575 w 3216275"/>
                <a:gd name="T5" fmla="*/ 382587 h 395287"/>
                <a:gd name="T6" fmla="*/ 12700 w 3216275"/>
                <a:gd name="T7" fmla="*/ 382587 h 395287"/>
                <a:gd name="T8" fmla="*/ 12700 w 3216275"/>
                <a:gd name="T9" fmla="*/ 12700 h 395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6275" h="395287">
                  <a:moveTo>
                    <a:pt x="12700" y="12700"/>
                  </a:moveTo>
                  <a:lnTo>
                    <a:pt x="3203575" y="12700"/>
                  </a:lnTo>
                  <a:lnTo>
                    <a:pt x="3203575" y="382587"/>
                  </a:lnTo>
                  <a:lnTo>
                    <a:pt x="12700" y="382587"/>
                  </a:lnTo>
                  <a:lnTo>
                    <a:pt x="12700" y="12700"/>
                  </a:lnTo>
                </a:path>
              </a:pathLst>
            </a:custGeom>
            <a:solidFill>
              <a:srgbClr val="196685"/>
            </a:solidFill>
            <a:ln w="25400">
              <a:solidFill>
                <a:srgbClr val="196685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lnSpc>
                  <a:spcPts val="2025"/>
                </a:lnSpc>
              </a:pP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产品全生命周期端到端集成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5" name="Freeform 3"/>
            <p:cNvSpPr>
              <a:spLocks noChangeArrowheads="1"/>
            </p:cNvSpPr>
            <p:nvPr/>
          </p:nvSpPr>
          <p:spPr bwMode="auto">
            <a:xfrm>
              <a:off x="8110534" y="3471863"/>
              <a:ext cx="114300" cy="561974"/>
            </a:xfrm>
            <a:custGeom>
              <a:avLst/>
              <a:gdLst>
                <a:gd name="T0" fmla="*/ 28575 w 114300"/>
                <a:gd name="T1" fmla="*/ 28575 h 561975"/>
                <a:gd name="T2" fmla="*/ 28575 w 114300"/>
                <a:gd name="T3" fmla="*/ 533400 h 561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4300" h="561975">
                  <a:moveTo>
                    <a:pt x="28575" y="28575"/>
                  </a:moveTo>
                  <a:lnTo>
                    <a:pt x="28575" y="533400"/>
                  </a:lnTo>
                </a:path>
              </a:pathLst>
            </a:custGeom>
            <a:noFill/>
            <a:ln w="50800">
              <a:solidFill>
                <a:srgbClr val="C0504D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6" name="Freeform 3"/>
            <p:cNvSpPr>
              <a:spLocks noChangeArrowheads="1"/>
            </p:cNvSpPr>
            <p:nvPr/>
          </p:nvSpPr>
          <p:spPr bwMode="auto">
            <a:xfrm>
              <a:off x="8053384" y="3976687"/>
              <a:ext cx="171449" cy="171450"/>
            </a:xfrm>
            <a:custGeom>
              <a:avLst/>
              <a:gdLst>
                <a:gd name="T0" fmla="*/ 171450 w 171450"/>
                <a:gd name="T1" fmla="*/ 0 h 171450"/>
                <a:gd name="T2" fmla="*/ 85725 w 171450"/>
                <a:gd name="T3" fmla="*/ 171450 h 171450"/>
                <a:gd name="T4" fmla="*/ 0 w 171450"/>
                <a:gd name="T5" fmla="*/ 0 h 171450"/>
                <a:gd name="T6" fmla="*/ 171450 w 171450"/>
                <a:gd name="T7" fmla="*/ 0 h 17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450" h="171450">
                  <a:moveTo>
                    <a:pt x="171450" y="0"/>
                  </a:moveTo>
                  <a:lnTo>
                    <a:pt x="85725" y="171450"/>
                  </a:lnTo>
                  <a:lnTo>
                    <a:pt x="0" y="0"/>
                  </a:lnTo>
                  <a:lnTo>
                    <a:pt x="171450" y="0"/>
                  </a:lnTo>
                </a:path>
              </a:pathLst>
            </a:custGeom>
            <a:solidFill>
              <a:srgbClr val="C0504D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7" name="Freeform 3"/>
            <p:cNvSpPr>
              <a:spLocks noChangeArrowheads="1"/>
            </p:cNvSpPr>
            <p:nvPr/>
          </p:nvSpPr>
          <p:spPr bwMode="auto">
            <a:xfrm>
              <a:off x="8453434" y="3543301"/>
              <a:ext cx="114300" cy="561974"/>
            </a:xfrm>
            <a:custGeom>
              <a:avLst/>
              <a:gdLst>
                <a:gd name="T0" fmla="*/ 28575 w 114300"/>
                <a:gd name="T1" fmla="*/ 28575 h 561975"/>
                <a:gd name="T2" fmla="*/ 28575 w 114300"/>
                <a:gd name="T3" fmla="*/ 533400 h 561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4300" h="561975">
                  <a:moveTo>
                    <a:pt x="28575" y="28575"/>
                  </a:moveTo>
                  <a:lnTo>
                    <a:pt x="28575" y="533400"/>
                  </a:lnTo>
                </a:path>
              </a:pathLst>
            </a:custGeom>
            <a:noFill/>
            <a:ln w="50800">
              <a:solidFill>
                <a:srgbClr val="C0504D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8" name="Freeform 3"/>
            <p:cNvSpPr>
              <a:spLocks noChangeArrowheads="1"/>
            </p:cNvSpPr>
            <p:nvPr/>
          </p:nvSpPr>
          <p:spPr bwMode="auto">
            <a:xfrm>
              <a:off x="8396283" y="3429000"/>
              <a:ext cx="171449" cy="171450"/>
            </a:xfrm>
            <a:custGeom>
              <a:avLst/>
              <a:gdLst>
                <a:gd name="T0" fmla="*/ 0 w 171450"/>
                <a:gd name="T1" fmla="*/ 171437 h 171450"/>
                <a:gd name="T2" fmla="*/ 85737 w 171450"/>
                <a:gd name="T3" fmla="*/ 0 h 171450"/>
                <a:gd name="T4" fmla="*/ 171450 w 171450"/>
                <a:gd name="T5" fmla="*/ 171450 h 171450"/>
                <a:gd name="T6" fmla="*/ 0 w 171450"/>
                <a:gd name="T7" fmla="*/ 171437 h 17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450" h="171450">
                  <a:moveTo>
                    <a:pt x="0" y="171437"/>
                  </a:moveTo>
                  <a:lnTo>
                    <a:pt x="85737" y="0"/>
                  </a:lnTo>
                  <a:lnTo>
                    <a:pt x="171450" y="171450"/>
                  </a:lnTo>
                  <a:lnTo>
                    <a:pt x="0" y="171437"/>
                  </a:lnTo>
                </a:path>
              </a:pathLst>
            </a:custGeom>
            <a:solidFill>
              <a:srgbClr val="C0504D"/>
            </a:solidFill>
            <a:ln w="12700">
              <a:solidFill>
                <a:srgbClr val="000000">
                  <a:alpha val="0"/>
                </a:srgbClr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pic>
          <p:nvPicPr>
            <p:cNvPr id="13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599" y="711200"/>
              <a:ext cx="1904999" cy="5956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9397" y="1752600"/>
              <a:ext cx="5181597" cy="2616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2698" y="4851400"/>
              <a:ext cx="6172196" cy="1841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TextBox 1"/>
            <p:cNvSpPr>
              <a:spLocks noChangeArrowheads="1"/>
            </p:cNvSpPr>
            <p:nvPr/>
          </p:nvSpPr>
          <p:spPr bwMode="auto">
            <a:xfrm>
              <a:off x="3949697" y="3924299"/>
              <a:ext cx="2793883" cy="34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网络化生产企业间横向集成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3" name="TextBox 1"/>
            <p:cNvSpPr>
              <a:spLocks noChangeArrowheads="1"/>
            </p:cNvSpPr>
            <p:nvPr/>
          </p:nvSpPr>
          <p:spPr bwMode="auto">
            <a:xfrm>
              <a:off x="5829298" y="1308100"/>
              <a:ext cx="993188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 dirty="0" err="1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产品开发</a:t>
              </a:r>
              <a:endParaRPr lang="zh-CN" altLang="en-US" sz="1400" dirty="0"/>
            </a:p>
          </p:txBody>
        </p:sp>
        <p:sp>
          <p:nvSpPr>
            <p:cNvPr id="144" name="TextBox 1"/>
            <p:cNvSpPr>
              <a:spLocks noChangeArrowheads="1"/>
            </p:cNvSpPr>
            <p:nvPr/>
          </p:nvSpPr>
          <p:spPr bwMode="auto">
            <a:xfrm>
              <a:off x="7632696" y="1308100"/>
              <a:ext cx="993188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产品生产</a:t>
              </a:r>
              <a:endParaRPr lang="zh-CN" altLang="en-US" sz="1400"/>
            </a:p>
          </p:txBody>
        </p:sp>
        <p:sp>
          <p:nvSpPr>
            <p:cNvPr id="145" name="TextBox 1"/>
            <p:cNvSpPr>
              <a:spLocks noChangeArrowheads="1"/>
            </p:cNvSpPr>
            <p:nvPr/>
          </p:nvSpPr>
          <p:spPr bwMode="auto">
            <a:xfrm>
              <a:off x="9410696" y="1308100"/>
              <a:ext cx="993188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产品服务</a:t>
              </a:r>
              <a:endParaRPr lang="zh-CN" altLang="en-US" sz="1400"/>
            </a:p>
          </p:txBody>
        </p:sp>
        <p:sp>
          <p:nvSpPr>
            <p:cNvPr id="146" name="TextBox 1"/>
            <p:cNvSpPr>
              <a:spLocks noChangeArrowheads="1"/>
            </p:cNvSpPr>
            <p:nvPr/>
          </p:nvSpPr>
          <p:spPr bwMode="auto">
            <a:xfrm>
              <a:off x="1765299" y="2247937"/>
              <a:ext cx="1862589" cy="1186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>
              <a:lvl1pPr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609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725"/>
                </a:lnSpc>
              </a:pP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制造体系纵向集成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ts val="750"/>
                </a:lnSpc>
              </a:pPr>
              <a:endParaRPr lang="zh-CN" altLang="en-US" sz="1400" dirty="0">
                <a:solidFill>
                  <a:schemeClr val="bg1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  <a:p>
              <a:pPr>
                <a:lnSpc>
                  <a:spcPts val="750"/>
                </a:lnSpc>
              </a:pPr>
              <a:endParaRPr lang="zh-CN" altLang="en-US" sz="1400" dirty="0">
                <a:solidFill>
                  <a:schemeClr val="bg1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  <a:p>
              <a:pPr>
                <a:lnSpc>
                  <a:spcPts val="750"/>
                </a:lnSpc>
              </a:pPr>
              <a:endParaRPr lang="zh-CN" altLang="en-US" sz="1400" dirty="0">
                <a:solidFill>
                  <a:schemeClr val="bg1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  <a:p>
              <a:pPr>
                <a:lnSpc>
                  <a:spcPts val="2175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             </a:t>
              </a:r>
              <a:r>
                <a:rPr lang="en-US" altLang="zh-CN" sz="140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ERP</a:t>
              </a:r>
              <a:endParaRPr lang="zh-CN" altLang="en-US" sz="1400" dirty="0">
                <a:solidFill>
                  <a:schemeClr val="bg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7" name="TextBox 1"/>
            <p:cNvSpPr>
              <a:spLocks noChangeArrowheads="1"/>
            </p:cNvSpPr>
            <p:nvPr/>
          </p:nvSpPr>
          <p:spPr bwMode="auto">
            <a:xfrm>
              <a:off x="2455652" y="3924299"/>
              <a:ext cx="478120" cy="338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575"/>
                </a:lnSpc>
              </a:pPr>
              <a:r>
                <a:rPr lang="en-US" altLang="zh-CN" sz="1400" dirty="0">
                  <a:solidFill>
                    <a:srgbClr val="FFFF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MES</a:t>
              </a:r>
              <a:endParaRPr lang="zh-CN" altLang="en-US" sz="1400" dirty="0">
                <a:solidFill>
                  <a:srgbClr val="FFFF00"/>
                </a:solidFill>
              </a:endParaRPr>
            </a:p>
          </p:txBody>
        </p:sp>
        <p:sp>
          <p:nvSpPr>
            <p:cNvPr id="148" name="TextBox 1"/>
            <p:cNvSpPr>
              <a:spLocks noChangeArrowheads="1"/>
            </p:cNvSpPr>
            <p:nvPr/>
          </p:nvSpPr>
          <p:spPr bwMode="auto">
            <a:xfrm>
              <a:off x="2433215" y="4779704"/>
              <a:ext cx="413678" cy="338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575"/>
                </a:lnSpc>
              </a:pPr>
              <a:r>
                <a:rPr lang="en-US" altLang="zh-CN" sz="1400" dirty="0">
                  <a:solidFill>
                    <a:srgbClr val="FFFF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PCS</a:t>
              </a:r>
              <a:endParaRPr lang="zh-CN" altLang="en-US" sz="1400" dirty="0">
                <a:solidFill>
                  <a:srgbClr val="FFFF00"/>
                </a:solidFill>
              </a:endParaRPr>
            </a:p>
          </p:txBody>
        </p:sp>
        <p:sp>
          <p:nvSpPr>
            <p:cNvPr id="149" name="TextBox 1"/>
            <p:cNvSpPr>
              <a:spLocks noChangeArrowheads="1"/>
            </p:cNvSpPr>
            <p:nvPr/>
          </p:nvSpPr>
          <p:spPr bwMode="auto">
            <a:xfrm>
              <a:off x="4432300" y="4495801"/>
              <a:ext cx="496595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设计</a:t>
              </a:r>
              <a:endParaRPr lang="zh-CN" altLang="en-US" sz="1400"/>
            </a:p>
          </p:txBody>
        </p:sp>
        <p:sp>
          <p:nvSpPr>
            <p:cNvPr id="150" name="TextBox 1"/>
            <p:cNvSpPr>
              <a:spLocks noChangeArrowheads="1"/>
            </p:cNvSpPr>
            <p:nvPr/>
          </p:nvSpPr>
          <p:spPr bwMode="auto">
            <a:xfrm>
              <a:off x="5689597" y="4495801"/>
              <a:ext cx="496595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生产</a:t>
              </a:r>
              <a:endParaRPr lang="zh-CN" altLang="en-US" sz="1400"/>
            </a:p>
          </p:txBody>
        </p:sp>
        <p:sp>
          <p:nvSpPr>
            <p:cNvPr id="151" name="TextBox 1"/>
            <p:cNvSpPr>
              <a:spLocks noChangeArrowheads="1"/>
            </p:cNvSpPr>
            <p:nvPr/>
          </p:nvSpPr>
          <p:spPr bwMode="auto">
            <a:xfrm>
              <a:off x="7023097" y="4495801"/>
              <a:ext cx="496595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物流</a:t>
              </a:r>
              <a:endParaRPr lang="zh-CN" altLang="en-US" sz="1400"/>
            </a:p>
          </p:txBody>
        </p:sp>
        <p:sp>
          <p:nvSpPr>
            <p:cNvPr id="152" name="TextBox 1"/>
            <p:cNvSpPr>
              <a:spLocks noChangeArrowheads="1"/>
            </p:cNvSpPr>
            <p:nvPr/>
          </p:nvSpPr>
          <p:spPr bwMode="auto">
            <a:xfrm>
              <a:off x="8432796" y="4495801"/>
              <a:ext cx="496595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营销</a:t>
              </a:r>
              <a:endParaRPr lang="zh-CN" altLang="en-US" sz="1400"/>
            </a:p>
          </p:txBody>
        </p:sp>
        <p:sp>
          <p:nvSpPr>
            <p:cNvPr id="153" name="TextBox 1"/>
            <p:cNvSpPr>
              <a:spLocks noChangeArrowheads="1"/>
            </p:cNvSpPr>
            <p:nvPr/>
          </p:nvSpPr>
          <p:spPr bwMode="auto">
            <a:xfrm>
              <a:off x="4178301" y="1308100"/>
              <a:ext cx="993188" cy="380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/>
            <a:p>
              <a:pPr>
                <a:lnSpc>
                  <a:spcPts val="1725"/>
                </a:lnSpc>
              </a:pPr>
              <a:r>
                <a:rPr lang="en-US" altLang="zh-CN" sz="1400">
                  <a:solidFill>
                    <a:srgbClr val="0000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客户需求</a:t>
              </a:r>
              <a:endParaRPr lang="zh-CN" altLang="en-US" sz="1400"/>
            </a:p>
          </p:txBody>
        </p:sp>
      </p:grpSp>
      <p:sp>
        <p:nvSpPr>
          <p:cNvPr id="61" name="标题 1"/>
          <p:cNvSpPr txBox="1">
            <a:spLocks/>
          </p:cNvSpPr>
          <p:nvPr/>
        </p:nvSpPr>
        <p:spPr bwMode="auto">
          <a:xfrm>
            <a:off x="1400175" y="361858"/>
            <a:ext cx="6343650" cy="540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400" kern="0" dirty="0">
                <a:latin typeface="Times New Roman" pitchFamily="18" charset="0"/>
                <a:cs typeface="Times New Roman" pitchFamily="18" charset="0"/>
              </a:rPr>
              <a:t>智能制造的三维集成</a:t>
            </a:r>
          </a:p>
        </p:txBody>
      </p:sp>
      <p:sp>
        <p:nvSpPr>
          <p:cNvPr id="63" name="内容占位符 2"/>
          <p:cNvSpPr>
            <a:spLocks noGrp="1"/>
          </p:cNvSpPr>
          <p:nvPr>
            <p:ph idx="1"/>
          </p:nvPr>
        </p:nvSpPr>
        <p:spPr>
          <a:xfrm>
            <a:off x="1514257" y="5970392"/>
            <a:ext cx="5421664" cy="507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纵向集成、横向集成、端到端集成</a:t>
            </a:r>
          </a:p>
        </p:txBody>
      </p:sp>
    </p:spTree>
    <p:extLst>
      <p:ext uri="{BB962C8B-B14F-4D97-AF65-F5344CB8AC3E}">
        <p14:creationId xmlns:p14="http://schemas.microsoft.com/office/powerpoint/2010/main" val="3145556384"/>
      </p:ext>
    </p:extLst>
  </p:cSld>
  <p:clrMapOvr>
    <a:masterClrMapping/>
  </p:clrMapOvr>
  <p:transition advTm="700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64704"/>
            <a:ext cx="8064896" cy="608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标题 1"/>
          <p:cNvSpPr>
            <a:spLocks noGrp="1"/>
          </p:cNvSpPr>
          <p:nvPr>
            <p:ph type="title"/>
          </p:nvPr>
        </p:nvSpPr>
        <p:spPr>
          <a:xfrm>
            <a:off x="1474348" y="404664"/>
            <a:ext cx="6172200" cy="360040"/>
          </a:xfrm>
        </p:spPr>
        <p:txBody>
          <a:bodyPr/>
          <a:lstStyle/>
          <a:p>
            <a:pPr algn="ctr" eaLnBrk="1" hangingPunct="1"/>
            <a:r>
              <a:rPr lang="zh-CN" altLang="en-US" sz="2400" dirty="0">
                <a:ea typeface="宋体" pitchFamily="2" charset="-122"/>
              </a:rPr>
              <a:t>智慧工厂系统</a:t>
            </a:r>
            <a:r>
              <a:rPr lang="en-US" altLang="zh-CN" sz="2400" dirty="0">
                <a:ea typeface="宋体" pitchFamily="2" charset="-122"/>
              </a:rPr>
              <a:t>—</a:t>
            </a:r>
            <a:r>
              <a:rPr lang="zh-CN" altLang="en-US" sz="2400" dirty="0">
                <a:ea typeface="宋体" pitchFamily="2" charset="-122"/>
              </a:rPr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1723157907"/>
      </p:ext>
    </p:extLst>
  </p:cSld>
  <p:clrMapOvr>
    <a:masterClrMapping/>
  </p:clrMapOvr>
  <p:transition advTm="7000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52736"/>
            <a:ext cx="7620055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474348" y="476672"/>
            <a:ext cx="6172200" cy="360040"/>
          </a:xfrm>
        </p:spPr>
        <p:txBody>
          <a:bodyPr/>
          <a:lstStyle/>
          <a:p>
            <a:pPr algn="ctr" eaLnBrk="1" hangingPunct="1"/>
            <a:r>
              <a:rPr lang="zh-CN" altLang="en-US" sz="2400" dirty="0">
                <a:ea typeface="宋体" pitchFamily="2" charset="-122"/>
              </a:rPr>
              <a:t>智慧工厂系统</a:t>
            </a:r>
            <a:r>
              <a:rPr lang="en-US" altLang="zh-CN" sz="2400" dirty="0">
                <a:ea typeface="宋体" pitchFamily="2" charset="-122"/>
              </a:rPr>
              <a:t>—</a:t>
            </a:r>
            <a:r>
              <a:rPr lang="zh-CN" altLang="en-US" sz="2400" dirty="0">
                <a:ea typeface="宋体" pitchFamily="2" charset="-122"/>
              </a:rPr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1941225173"/>
      </p:ext>
    </p:extLst>
  </p:cSld>
  <p:clrMapOvr>
    <a:masterClrMapping/>
  </p:clrMapOvr>
  <p:transition advTm="7000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757377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474348" y="476672"/>
            <a:ext cx="6172200" cy="360040"/>
          </a:xfrm>
        </p:spPr>
        <p:txBody>
          <a:bodyPr/>
          <a:lstStyle/>
          <a:p>
            <a:pPr algn="ctr" eaLnBrk="1" hangingPunct="1"/>
            <a:r>
              <a:rPr lang="zh-CN" altLang="en-US" sz="2400" dirty="0">
                <a:ea typeface="宋体" pitchFamily="2" charset="-122"/>
              </a:rPr>
              <a:t>智慧工厂系统</a:t>
            </a:r>
            <a:r>
              <a:rPr lang="en-US" altLang="zh-CN" sz="2400" dirty="0">
                <a:ea typeface="宋体" pitchFamily="2" charset="-122"/>
              </a:rPr>
              <a:t>—</a:t>
            </a:r>
            <a:r>
              <a:rPr lang="zh-CN" altLang="en-US" sz="2400" dirty="0">
                <a:ea typeface="宋体" pitchFamily="2" charset="-122"/>
              </a:rPr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2816805620"/>
      </p:ext>
    </p:extLst>
  </p:cSld>
  <p:clrMapOvr>
    <a:masterClrMapping/>
  </p:clrMapOvr>
  <p:transition advTm="7000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xfrm>
            <a:off x="1980010" y="1871664"/>
            <a:ext cx="5299472" cy="3393281"/>
          </a:xfrm>
        </p:spPr>
        <p:txBody>
          <a:bodyPr/>
          <a:lstStyle/>
          <a:p>
            <a:pPr marL="371475" indent="-371475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原材料仓储管理系统</a:t>
            </a:r>
          </a:p>
          <a:p>
            <a:pPr marL="371475" indent="-371475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生产管理与控制系统 </a:t>
            </a:r>
          </a:p>
          <a:p>
            <a:pPr marL="371475" indent="-371475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自动化立库系统 </a:t>
            </a:r>
          </a:p>
          <a:p>
            <a:pPr marL="371475" indent="-371475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DPS</a:t>
            </a: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的拆零拣选系统 </a:t>
            </a:r>
          </a:p>
          <a:p>
            <a:pPr marL="371475" indent="-371475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产品质量安全追溯系统 </a:t>
            </a:r>
          </a:p>
        </p:txBody>
      </p:sp>
      <p:sp>
        <p:nvSpPr>
          <p:cNvPr id="43011" name="标题 1"/>
          <p:cNvSpPr>
            <a:spLocks noGrp="1"/>
          </p:cNvSpPr>
          <p:nvPr>
            <p:ph type="title"/>
          </p:nvPr>
        </p:nvSpPr>
        <p:spPr>
          <a:xfrm>
            <a:off x="1331640" y="980728"/>
            <a:ext cx="6172200" cy="540544"/>
          </a:xfrm>
        </p:spPr>
        <p:txBody>
          <a:bodyPr/>
          <a:lstStyle/>
          <a:p>
            <a:pPr algn="ctr" eaLnBrk="1" hangingPunct="1"/>
            <a:r>
              <a:rPr lang="zh-CN" altLang="en-US" sz="2800" dirty="0">
                <a:ea typeface="宋体" pitchFamily="2" charset="-122"/>
              </a:rPr>
              <a:t>智慧工厂核心功能</a:t>
            </a:r>
          </a:p>
        </p:txBody>
      </p:sp>
    </p:spTree>
    <p:extLst>
      <p:ext uri="{BB962C8B-B14F-4D97-AF65-F5344CB8AC3E}">
        <p14:creationId xmlns:p14="http://schemas.microsoft.com/office/powerpoint/2010/main" val="4224724225"/>
      </p:ext>
    </p:extLst>
  </p:cSld>
  <p:clrMapOvr>
    <a:masterClrMapping/>
  </p:clrMapOvr>
  <p:transition advTm="7000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1485900" y="728663"/>
            <a:ext cx="6172200" cy="612105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ea typeface="黑体" pitchFamily="49" charset="-122"/>
              </a:rPr>
              <a:t>原材料仓储管理系统</a:t>
            </a:r>
            <a:endParaRPr lang="zh-CN" altLang="en-US" sz="2400" dirty="0">
              <a:ea typeface="宋体" pitchFamily="2" charset="-122"/>
            </a:endParaRPr>
          </a:p>
        </p:txBody>
      </p:sp>
      <p:sp>
        <p:nvSpPr>
          <p:cNvPr id="44035" name="Rectangle 5"/>
          <p:cNvSpPr>
            <a:spLocks noChangeArrowheads="1"/>
          </p:cNvSpPr>
          <p:nvPr/>
        </p:nvSpPr>
        <p:spPr bwMode="auto">
          <a:xfrm>
            <a:off x="1459539" y="5048388"/>
            <a:ext cx="642937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对进入原料仓库的原料（或零部件）进行分类贴码，在生产线前端进行可视化的原料仓储管理 （赋码）</a:t>
            </a:r>
          </a:p>
        </p:txBody>
      </p:sp>
      <p:pic>
        <p:nvPicPr>
          <p:cNvPr id="532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9632" y="1700214"/>
            <a:ext cx="3150443" cy="3160546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rgbClr val="808000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44037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674992"/>
            <a:ext cx="3409298" cy="3160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436273"/>
      </p:ext>
    </p:extLst>
  </p:cSld>
  <p:clrMapOvr>
    <a:masterClrMapping/>
  </p:clrMapOvr>
  <p:transition advTm="7000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1485900" y="728663"/>
            <a:ext cx="6172200" cy="54009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>
                <a:ea typeface="黑体" pitchFamily="49" charset="-122"/>
              </a:rPr>
              <a:t>生产管理与控制系统 （</a:t>
            </a:r>
            <a:r>
              <a:rPr lang="en-US" altLang="zh-CN" sz="2400" dirty="0">
                <a:ea typeface="黑体" pitchFamily="49" charset="-122"/>
              </a:rPr>
              <a:t>MES</a:t>
            </a:r>
            <a:r>
              <a:rPr lang="zh-CN" altLang="en-US" sz="2400" dirty="0">
                <a:ea typeface="黑体" pitchFamily="49" charset="-122"/>
              </a:rPr>
              <a:t>）</a:t>
            </a:r>
          </a:p>
        </p:txBody>
      </p:sp>
      <p:sp>
        <p:nvSpPr>
          <p:cNvPr id="45059" name="Rectangle 4"/>
          <p:cNvSpPr>
            <a:spLocks noChangeArrowheads="1"/>
          </p:cNvSpPr>
          <p:nvPr/>
        </p:nvSpPr>
        <p:spPr bwMode="auto">
          <a:xfrm>
            <a:off x="1412081" y="5013869"/>
            <a:ext cx="6426994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对生产的每件产品进行打码、检测及组盘控制，为企业防伪防窜、物流追踪、渠道监控与质量追溯奠定基础 （关联）</a:t>
            </a:r>
          </a:p>
        </p:txBody>
      </p:sp>
      <p:pic>
        <p:nvPicPr>
          <p:cNvPr id="45060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8" y="1646636"/>
            <a:ext cx="3338513" cy="300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41" y="1701405"/>
            <a:ext cx="3294459" cy="2849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8" y="1646635"/>
            <a:ext cx="3214688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8092266"/>
      </p:ext>
    </p:extLst>
  </p:cSld>
  <p:clrMapOvr>
    <a:masterClrMapping/>
  </p:clrMapOvr>
  <p:transition advTm="7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1459707" y="805324"/>
            <a:ext cx="6172200" cy="4859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>
                <a:ea typeface="黑体" pitchFamily="49" charset="-122"/>
              </a:rPr>
              <a:t>自动化仓储管理</a:t>
            </a:r>
          </a:p>
        </p:txBody>
      </p:sp>
      <p:sp>
        <p:nvSpPr>
          <p:cNvPr id="46083" name="矩形 4"/>
          <p:cNvSpPr>
            <a:spLocks noChangeArrowheads="1"/>
          </p:cNvSpPr>
          <p:nvPr/>
        </p:nvSpPr>
        <p:spPr bwMode="auto">
          <a:xfrm>
            <a:off x="1234192" y="5301208"/>
            <a:ext cx="706025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对产品进行自动化入库、出库、电子货位查询等进行可视化操作管理 （储位分配）</a:t>
            </a:r>
          </a:p>
        </p:txBody>
      </p:sp>
      <p:pic>
        <p:nvPicPr>
          <p:cNvPr id="46084" name="内容占位符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3964" y="1863328"/>
            <a:ext cx="3132535" cy="2645792"/>
          </a:xfrm>
        </p:spPr>
      </p:pic>
      <p:pic>
        <p:nvPicPr>
          <p:cNvPr id="46085" name="图片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497" y="1701404"/>
            <a:ext cx="3580209" cy="329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494855"/>
      </p:ext>
    </p:extLst>
  </p:cSld>
  <p:clrMapOvr>
    <a:masterClrMapping/>
  </p:clrMapOvr>
  <p:transition advTm="7000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1485900" y="803672"/>
            <a:ext cx="6172200" cy="53709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>
                <a:ea typeface="黑体" pitchFamily="49" charset="-122"/>
              </a:rPr>
              <a:t>基于</a:t>
            </a:r>
            <a:r>
              <a:rPr lang="en-US" altLang="zh-CN" sz="2400" dirty="0">
                <a:ea typeface="黑体" pitchFamily="49" charset="-122"/>
              </a:rPr>
              <a:t>DPS</a:t>
            </a:r>
            <a:r>
              <a:rPr lang="zh-CN" altLang="en-US" sz="2400" dirty="0">
                <a:ea typeface="黑体" pitchFamily="49" charset="-122"/>
              </a:rPr>
              <a:t>的拆零拣选系统</a:t>
            </a:r>
          </a:p>
        </p:txBody>
      </p:sp>
      <p:pic>
        <p:nvPicPr>
          <p:cNvPr id="4710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646636"/>
            <a:ext cx="2952181" cy="33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矩形 4"/>
          <p:cNvSpPr>
            <a:spLocks noChangeArrowheads="1"/>
          </p:cNvSpPr>
          <p:nvPr/>
        </p:nvSpPr>
        <p:spPr bwMode="auto">
          <a:xfrm>
            <a:off x="1403648" y="5259099"/>
            <a:ext cx="6696744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通过</a:t>
            </a:r>
            <a:r>
              <a:rPr lang="en-US" altLang="zh-CN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LED</a:t>
            </a:r>
            <a:r>
              <a:rPr lang="zh-CN" altLang="en-US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电子标签指示，辅助拣货人员进行摘果式拣货操作，大大提高拣货效率，避免拣货差错（拣选）</a:t>
            </a:r>
          </a:p>
        </p:txBody>
      </p:sp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633" y="1659730"/>
            <a:ext cx="3884438" cy="332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1041420"/>
      </p:ext>
    </p:extLst>
  </p:cSld>
  <p:clrMapOvr>
    <a:masterClrMapping/>
  </p:clrMapOvr>
  <p:transition advTm="7000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1485900" y="837009"/>
            <a:ext cx="6172200" cy="50375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>
                <a:ea typeface="黑体" pitchFamily="49" charset="-122"/>
              </a:rPr>
              <a:t>产品质量安全追溯系统   </a:t>
            </a:r>
          </a:p>
        </p:txBody>
      </p:sp>
      <p:pic>
        <p:nvPicPr>
          <p:cNvPr id="4813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35" y="1660923"/>
            <a:ext cx="3376613" cy="289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256110" y="4797152"/>
            <a:ext cx="6700266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     以产品溯源中心数据库为基础，以触摸屏、手机短信、手机扫描二维条码等为手段，实现不同条件下的产品溯源查询和安全追溯 </a:t>
            </a:r>
          </a:p>
        </p:txBody>
      </p:sp>
      <p:pic>
        <p:nvPicPr>
          <p:cNvPr id="48133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532" y="1638300"/>
            <a:ext cx="3102580" cy="291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8836143"/>
      </p:ext>
    </p:extLst>
  </p:cSld>
  <p:clrMapOvr>
    <a:masterClrMapping/>
  </p:clrMapOvr>
  <p:transition advTm="7000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框 10"/>
          <p:cNvSpPr txBox="1">
            <a:spLocks noChangeArrowheads="1"/>
          </p:cNvSpPr>
          <p:nvPr/>
        </p:nvSpPr>
        <p:spPr bwMode="auto">
          <a:xfrm>
            <a:off x="5861957" y="5102628"/>
            <a:ext cx="1261884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50"/>
              </a:spcBef>
            </a:pPr>
            <a:r>
              <a:rPr lang="zh-CN" altLang="en-US" sz="2100">
                <a:solidFill>
                  <a:srgbClr val="FF0000"/>
                </a:solidFill>
                <a:ea typeface="微软雅黑" pitchFamily="34" charset="-122"/>
                <a:sym typeface="+mn-lt"/>
              </a:rPr>
              <a:t>虚拟系统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524695"/>
            <a:ext cx="3501547" cy="30832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9156" name="文本框 5"/>
          <p:cNvSpPr txBox="1">
            <a:spLocks noChangeArrowheads="1"/>
          </p:cNvSpPr>
          <p:nvPr/>
        </p:nvSpPr>
        <p:spPr bwMode="auto">
          <a:xfrm>
            <a:off x="2076961" y="5102628"/>
            <a:ext cx="1261884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50"/>
              </a:spcBef>
            </a:pPr>
            <a:r>
              <a:rPr lang="zh-CN" altLang="en-US" sz="2100">
                <a:solidFill>
                  <a:srgbClr val="FF0000"/>
                </a:solidFill>
                <a:ea typeface="微软雅黑" pitchFamily="34" charset="-122"/>
                <a:sym typeface="+mn-lt"/>
              </a:rPr>
              <a:t>实际系统</a:t>
            </a:r>
          </a:p>
        </p:txBody>
      </p:sp>
      <p:sp>
        <p:nvSpPr>
          <p:cNvPr id="6" name="文本框 3"/>
          <p:cNvSpPr txBox="1">
            <a:spLocks noChangeArrowheads="1"/>
          </p:cNvSpPr>
          <p:nvPr/>
        </p:nvSpPr>
        <p:spPr bwMode="auto">
          <a:xfrm>
            <a:off x="4066127" y="1797584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CC"/>
                </a:solidFill>
                <a:ea typeface="微软雅黑" pitchFamily="34" charset="-122"/>
              </a:rPr>
              <a:t>实时掌控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066127" y="2451238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CC"/>
                </a:solidFill>
                <a:ea typeface="微软雅黑" pitchFamily="34" charset="-122"/>
              </a:rPr>
              <a:t>精准执行</a:t>
            </a:r>
          </a:p>
        </p:txBody>
      </p:sp>
      <p:sp>
        <p:nvSpPr>
          <p:cNvPr id="8" name="文本框 8"/>
          <p:cNvSpPr txBox="1">
            <a:spLocks noChangeArrowheads="1"/>
          </p:cNvSpPr>
          <p:nvPr/>
        </p:nvSpPr>
        <p:spPr bwMode="auto">
          <a:xfrm>
            <a:off x="4066127" y="310370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CC"/>
                </a:solidFill>
                <a:ea typeface="微软雅黑" pitchFamily="34" charset="-122"/>
              </a:rPr>
              <a:t>科学指挥</a:t>
            </a:r>
          </a:p>
        </p:txBody>
      </p:sp>
      <p:sp>
        <p:nvSpPr>
          <p:cNvPr id="9" name="文本框 15"/>
          <p:cNvSpPr txBox="1">
            <a:spLocks noChangeArrowheads="1"/>
          </p:cNvSpPr>
          <p:nvPr/>
        </p:nvSpPr>
        <p:spPr bwMode="auto">
          <a:xfrm>
            <a:off x="4051209" y="3825577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CC"/>
                </a:solidFill>
                <a:ea typeface="微软雅黑" pitchFamily="34" charset="-122"/>
              </a:rPr>
              <a:t>动态优化</a:t>
            </a:r>
          </a:p>
        </p:txBody>
      </p:sp>
      <p:sp>
        <p:nvSpPr>
          <p:cNvPr id="10" name="左右箭头 9"/>
          <p:cNvSpPr/>
          <p:nvPr/>
        </p:nvSpPr>
        <p:spPr>
          <a:xfrm>
            <a:off x="3404507" y="5083578"/>
            <a:ext cx="2305050" cy="379810"/>
          </a:xfrm>
          <a:prstGeom prst="leftRightArrow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009999"/>
              </a:solidFill>
              <a:latin typeface="+mj-ea"/>
              <a:ea typeface="+mj-ea"/>
            </a:endParaRPr>
          </a:p>
        </p:txBody>
      </p:sp>
      <p:sp>
        <p:nvSpPr>
          <p:cNvPr id="49162" name="文本框 17"/>
          <p:cNvSpPr txBox="1">
            <a:spLocks noChangeArrowheads="1"/>
          </p:cNvSpPr>
          <p:nvPr/>
        </p:nvSpPr>
        <p:spPr bwMode="auto">
          <a:xfrm>
            <a:off x="3967264" y="5533782"/>
            <a:ext cx="111440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100">
                <a:solidFill>
                  <a:srgbClr val="112D7E"/>
                </a:solidFill>
                <a:ea typeface="微软雅黑" pitchFamily="34" charset="-122"/>
              </a:rPr>
              <a:t>人 机 物</a:t>
            </a:r>
          </a:p>
        </p:txBody>
      </p:sp>
      <p:sp>
        <p:nvSpPr>
          <p:cNvPr id="49163" name="Text Box 3"/>
          <p:cNvSpPr txBox="1">
            <a:spLocks noChangeArrowheads="1"/>
          </p:cNvSpPr>
          <p:nvPr/>
        </p:nvSpPr>
        <p:spPr bwMode="auto">
          <a:xfrm>
            <a:off x="1358503" y="541388"/>
            <a:ext cx="6426994" cy="439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solidFill>
                  <a:schemeClr val="tx2"/>
                </a:solidFill>
                <a:latin typeface="+mj-lt"/>
                <a:ea typeface="黑体" pitchFamily="49" charset="-122"/>
                <a:cs typeface="+mj-cs"/>
              </a:defRPr>
            </a:lvl1pPr>
            <a:lvl2pPr algn="ctr">
              <a:defRPr sz="3200">
                <a:solidFill>
                  <a:schemeClr val="tx2"/>
                </a:solidFill>
              </a:defRPr>
            </a:lvl2pPr>
            <a:lvl3pPr algn="ctr">
              <a:defRPr sz="3200">
                <a:solidFill>
                  <a:schemeClr val="tx2"/>
                </a:solidFill>
              </a:defRPr>
            </a:lvl3pPr>
            <a:lvl4pPr algn="ctr">
              <a:defRPr sz="3200">
                <a:solidFill>
                  <a:schemeClr val="tx2"/>
                </a:solidFill>
              </a:defRPr>
            </a:lvl4pPr>
            <a:lvl5pPr algn="ctr">
              <a:defRPr sz="3200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9pPr>
          </a:lstStyle>
          <a:p>
            <a:r>
              <a:rPr lang="zh-CN" altLang="en-US" sz="2400" dirty="0"/>
              <a:t>智慧工厂数字孪生系统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715" y="1524696"/>
            <a:ext cx="3726404" cy="2987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04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0"/>
    </mc:Choice>
    <mc:Fallback xmlns="">
      <p:transition spd="slow" advTm="7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486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00893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1418</TotalTime>
  <Words>6105</Words>
  <Application>Microsoft Office PowerPoint</Application>
  <PresentationFormat>全屏显示(4:3)</PresentationFormat>
  <Paragraphs>974</Paragraphs>
  <Slides>94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94</vt:i4>
      </vt:variant>
    </vt:vector>
  </HeadingPairs>
  <TitlesOfParts>
    <vt:vector size="122" baseType="lpstr">
      <vt:lpstr>Arial Unicode MS</vt:lpstr>
      <vt:lpstr>等线</vt:lpstr>
      <vt:lpstr>黑体</vt:lpstr>
      <vt:lpstr>华文楷体</vt:lpstr>
      <vt:lpstr>华文新魏</vt:lpstr>
      <vt:lpstr>华文行楷</vt:lpstr>
      <vt:lpstr>华文中宋</vt:lpstr>
      <vt:lpstr>楷体_GB2312</vt:lpstr>
      <vt:lpstr>宋体</vt:lpstr>
      <vt:lpstr>微软雅黑</vt:lpstr>
      <vt:lpstr>Arial</vt:lpstr>
      <vt:lpstr>Arial Black</vt:lpstr>
      <vt:lpstr>Arial Narrow</vt:lpstr>
      <vt:lpstr>Book Antiqua</vt:lpstr>
      <vt:lpstr>Brush Script MT</vt:lpstr>
      <vt:lpstr>Calibri</vt:lpstr>
      <vt:lpstr>Marlett</vt:lpstr>
      <vt:lpstr>Tahoma</vt:lpstr>
      <vt:lpstr>Times New Roman</vt:lpstr>
      <vt:lpstr>Verdana</vt:lpstr>
      <vt:lpstr>Wingdings</vt:lpstr>
      <vt:lpstr>Pixel</vt:lpstr>
      <vt:lpstr>Microsoft Visio 2003-2010 绘图</vt:lpstr>
      <vt:lpstr>Microsoft Visio 绘图</vt:lpstr>
      <vt:lpstr>Visio</vt:lpstr>
      <vt:lpstr>图片</vt:lpstr>
      <vt:lpstr>剪辑</vt:lpstr>
      <vt:lpstr>Microsoft Visio 2000/2002 Drawing</vt:lpstr>
      <vt:lpstr>系统集成与优化 （System Integration and Optimization）</vt:lpstr>
      <vt:lpstr>课程内容体系</vt:lpstr>
      <vt:lpstr>主要参考教材</vt:lpstr>
      <vt:lpstr>PowerPoint 演示文稿</vt:lpstr>
      <vt:lpstr>1.1 系统的基本概念</vt:lpstr>
      <vt:lpstr>1.1 系统的基本概念</vt:lpstr>
      <vt:lpstr>PowerPoint 演示文稿</vt:lpstr>
      <vt:lpstr>PowerPoint 演示文稿</vt:lpstr>
      <vt:lpstr>PowerPoint 演示文稿</vt:lpstr>
      <vt:lpstr>PowerPoint 演示文稿</vt:lpstr>
      <vt:lpstr>系统的结构和功能</vt:lpstr>
      <vt:lpstr>系统的层次结构：以身边的系统为例</vt:lpstr>
      <vt:lpstr>系统的层次结构</vt:lpstr>
      <vt:lpstr>系统的功能结构</vt:lpstr>
      <vt:lpstr>系统的功能结构</vt:lpstr>
      <vt:lpstr>系统的功能结构</vt:lpstr>
      <vt:lpstr>系统的结构和功能</vt:lpstr>
      <vt:lpstr>1.2   系统集成</vt:lpstr>
      <vt:lpstr>1.2   系统集成</vt:lpstr>
      <vt:lpstr>1.2  系统集成</vt:lpstr>
      <vt:lpstr>1.2   系统集成</vt:lpstr>
      <vt:lpstr>1.2   系统集成</vt:lpstr>
      <vt:lpstr>1.2   系统集成</vt:lpstr>
      <vt:lpstr>系统集成的分类</vt:lpstr>
      <vt:lpstr>系统集成的分类</vt:lpstr>
      <vt:lpstr>系统集成的原则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系统集成视图</vt:lpstr>
      <vt:lpstr>1.3   企业信息系统集成</vt:lpstr>
      <vt:lpstr>1.3   企业信息系统集成</vt:lpstr>
      <vt:lpstr>1.3   企业信息系统集成</vt:lpstr>
      <vt:lpstr>信息系统</vt:lpstr>
      <vt:lpstr>信息系统</vt:lpstr>
      <vt:lpstr>信息系统</vt:lpstr>
      <vt:lpstr>信息系统</vt:lpstr>
      <vt:lpstr>信息系统的发展阶段</vt:lpstr>
      <vt:lpstr>信息集成</vt:lpstr>
      <vt:lpstr>信息集成</vt:lpstr>
      <vt:lpstr>信息集成</vt:lpstr>
      <vt:lpstr>信息集成</vt:lpstr>
      <vt:lpstr>信息集成</vt:lpstr>
      <vt:lpstr>信息集成</vt:lpstr>
      <vt:lpstr>1.3  企业信息系统集成</vt:lpstr>
      <vt:lpstr>PowerPoint 演示文稿</vt:lpstr>
      <vt:lpstr>1.3  企业信息系统集成</vt:lpstr>
      <vt:lpstr>1.3  企业信息系统集成</vt:lpstr>
      <vt:lpstr>1.3  企业信息系统集成</vt:lpstr>
      <vt:lpstr>1.3  企业信息系统集成</vt:lpstr>
      <vt:lpstr> ERP系统整体架构</vt:lpstr>
      <vt:lpstr>ERP驱动的企业信息系统集成</vt:lpstr>
      <vt:lpstr>ERP驱动的企业信息系统集成</vt:lpstr>
      <vt:lpstr>PowerPoint 演示文稿</vt:lpstr>
      <vt:lpstr>ERP驱动的企业信息系统集成</vt:lpstr>
      <vt:lpstr>PowerPoint 演示文稿</vt:lpstr>
      <vt:lpstr>计划-执行-控制三层之间的信息集成</vt:lpstr>
      <vt:lpstr>ERP与MES之间的信息集成</vt:lpstr>
      <vt:lpstr>MES与PCS之间的信息流</vt:lpstr>
      <vt:lpstr>PowerPoint 演示文稿</vt:lpstr>
      <vt:lpstr>智能制造内涵及特征</vt:lpstr>
      <vt:lpstr>PowerPoint 演示文稿</vt:lpstr>
      <vt:lpstr>PowerPoint 演示文稿</vt:lpstr>
      <vt:lpstr>从智慧工厂到智能生产</vt:lpstr>
      <vt:lpstr>青岛红领集团案例</vt:lpstr>
      <vt:lpstr>从智慧工厂到智能生产</vt:lpstr>
      <vt:lpstr>从智慧工厂到智能生产</vt:lpstr>
      <vt:lpstr>从智慧工厂到智能生产</vt:lpstr>
      <vt:lpstr>PowerPoint 演示文稿</vt:lpstr>
      <vt:lpstr>PowerPoint 演示文稿</vt:lpstr>
      <vt:lpstr>智慧工厂系统—案例</vt:lpstr>
      <vt:lpstr>智慧工厂系统—案例</vt:lpstr>
      <vt:lpstr>智慧工厂系统—案例</vt:lpstr>
      <vt:lpstr>智慧工厂核心功能</vt:lpstr>
      <vt:lpstr>原材料仓储管理系统</vt:lpstr>
      <vt:lpstr>生产管理与控制系统 （MES）</vt:lpstr>
      <vt:lpstr>自动化仓储管理</vt:lpstr>
      <vt:lpstr>基于DPS的拆零拣选系统</vt:lpstr>
      <vt:lpstr>产品质量安全追溯系统  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引子——思考几个问题</dc:title>
  <dc:creator>zy</dc:creator>
  <cp:lastModifiedBy>hustzyliu</cp:lastModifiedBy>
  <cp:revision>105</cp:revision>
  <dcterms:created xsi:type="dcterms:W3CDTF">2012-11-09T08:12:16Z</dcterms:created>
  <dcterms:modified xsi:type="dcterms:W3CDTF">2026-04-21T14:09:11Z</dcterms:modified>
</cp:coreProperties>
</file>
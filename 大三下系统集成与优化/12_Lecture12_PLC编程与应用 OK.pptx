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67" r:id="rId2"/>
    <p:sldId id="257" r:id="rId3"/>
    <p:sldId id="260" r:id="rId4"/>
    <p:sldId id="463" r:id="rId5"/>
    <p:sldId id="464" r:id="rId6"/>
    <p:sldId id="475" r:id="rId7"/>
    <p:sldId id="476" r:id="rId8"/>
    <p:sldId id="562" r:id="rId9"/>
    <p:sldId id="554" r:id="rId10"/>
    <p:sldId id="563" r:id="rId11"/>
    <p:sldId id="564" r:id="rId12"/>
    <p:sldId id="555" r:id="rId13"/>
    <p:sldId id="565" r:id="rId14"/>
    <p:sldId id="567" r:id="rId15"/>
    <p:sldId id="566" r:id="rId16"/>
    <p:sldId id="568" r:id="rId17"/>
    <p:sldId id="569" r:id="rId18"/>
    <p:sldId id="570" r:id="rId19"/>
    <p:sldId id="571" r:id="rId20"/>
    <p:sldId id="572" r:id="rId21"/>
    <p:sldId id="573" r:id="rId22"/>
    <p:sldId id="574" r:id="rId23"/>
    <p:sldId id="575" r:id="rId24"/>
    <p:sldId id="576" r:id="rId25"/>
    <p:sldId id="596" r:id="rId26"/>
    <p:sldId id="597" r:id="rId27"/>
    <p:sldId id="598" r:id="rId28"/>
    <p:sldId id="599" r:id="rId29"/>
    <p:sldId id="600" r:id="rId30"/>
    <p:sldId id="601" r:id="rId31"/>
    <p:sldId id="602" r:id="rId32"/>
    <p:sldId id="603" r:id="rId33"/>
    <p:sldId id="577" r:id="rId34"/>
    <p:sldId id="578" r:id="rId35"/>
    <p:sldId id="579" r:id="rId36"/>
    <p:sldId id="580" r:id="rId37"/>
    <p:sldId id="581" r:id="rId38"/>
    <p:sldId id="582" r:id="rId39"/>
    <p:sldId id="556" r:id="rId40"/>
    <p:sldId id="583" r:id="rId41"/>
    <p:sldId id="584" r:id="rId42"/>
    <p:sldId id="585" r:id="rId43"/>
    <p:sldId id="586" r:id="rId44"/>
    <p:sldId id="587" r:id="rId45"/>
    <p:sldId id="588" r:id="rId46"/>
    <p:sldId id="589" r:id="rId47"/>
    <p:sldId id="591" r:id="rId48"/>
    <p:sldId id="590" r:id="rId49"/>
    <p:sldId id="557" r:id="rId50"/>
    <p:sldId id="559" r:id="rId51"/>
    <p:sldId id="560" r:id="rId52"/>
    <p:sldId id="592" r:id="rId53"/>
    <p:sldId id="561" r:id="rId54"/>
    <p:sldId id="531" r:id="rId55"/>
    <p:sldId id="594" r:id="rId56"/>
    <p:sldId id="593" r:id="rId57"/>
    <p:sldId id="595" r:id="rId58"/>
    <p:sldId id="604" r:id="rId5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55" autoAdjust="0"/>
    <p:restoredTop sz="94674" autoAdjust="0"/>
  </p:normalViewPr>
  <p:slideViewPr>
    <p:cSldViewPr>
      <p:cViewPr varScale="1">
        <p:scale>
          <a:sx n="124" d="100"/>
          <a:sy n="124" d="100"/>
        </p:scale>
        <p:origin x="776" y="16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6CC18-13BF-443D-A490-339EDA650D39}"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A7AF9-C1DB-4E76-887B-13B29E1261BE}" type="slidenum">
              <a:rPr lang="zh-CN" altLang="en-US" smtClean="0"/>
              <a:t>‹#›</a:t>
            </a:fld>
            <a:endParaRPr lang="zh-CN" altLang="en-US"/>
          </a:p>
        </p:txBody>
      </p:sp>
    </p:spTree>
    <p:extLst>
      <p:ext uri="{BB962C8B-B14F-4D97-AF65-F5344CB8AC3E}">
        <p14:creationId xmlns:p14="http://schemas.microsoft.com/office/powerpoint/2010/main" val="3638480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7A903762-9D27-4839-9889-B0631774EB60}" type="slidenum">
              <a:rPr lang="en-US" altLang="zh-CN"/>
              <a:pPr>
                <a:defRPr/>
              </a:pPr>
              <a:t>‹#›</a:t>
            </a:fld>
            <a:endParaRPr lang="en-US" altLang="zh-CN"/>
          </a:p>
        </p:txBody>
      </p:sp>
    </p:spTree>
    <p:extLst>
      <p:ext uri="{BB962C8B-B14F-4D97-AF65-F5344CB8AC3E}">
        <p14:creationId xmlns:p14="http://schemas.microsoft.com/office/powerpoint/2010/main" val="28521322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9552"/>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8714E88-3826-4BA2-9B11-F0A359B5A701}"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6883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663B02E4-E9B9-4DD3-A203-913BB1394AEA}"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6280187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F7A09E50-C70E-4D39-B40C-CB2454FE4FF2}"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14420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38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6CE92B5B-F02F-4B87-99E5-58DC7E9207B1}" type="slidenum">
              <a:rPr lang="en-US" altLang="zh-CN"/>
              <a:pPr>
                <a:defRPr/>
              </a:pPr>
              <a:t>‹#›</a:t>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242808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D2EAD7FA-84D7-4F4B-8433-48DB21063946}" type="slidenum">
              <a:rPr lang="en-US" altLang="zh-CN"/>
              <a:pPr>
                <a:defRPr/>
              </a:pPr>
              <a:t>‹#›</a:t>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89662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82CF834-C62A-4A46-A27D-DE5AF7396277}" type="slidenum">
              <a:rPr lang="en-US" altLang="zh-CN"/>
              <a:pPr>
                <a:defRPr/>
              </a:pPr>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8282033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90B1C60-04EC-4E52-9C87-2B1AEAA117A7}"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79491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CFFD6E8-03A9-4B46-B6D9-65D85165DAF6}"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676524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3E9F67A-EF72-4578-81F7-74281051C972}"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82408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34DBE-2CE5-4A82-8657-8140BBA6BDDB}"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75409425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99821A5-FC25-4A3D-ABB3-E9378ACD5C22}"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yhust@mail.hust.edu.cn" TargetMode="External"/><Relationship Id="rId2" Type="http://schemas.openxmlformats.org/officeDocument/2006/relationships/hyperlink" Target="mailto:wangzhuo@mail.hus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2555875" y="1828800"/>
            <a:ext cx="6435725" cy="2209800"/>
          </a:xfrm>
        </p:spPr>
        <p:txBody>
          <a:bodyPr/>
          <a:lstStyle/>
          <a:p>
            <a:pPr algn="ctr" eaLnBrk="1" hangingPunct="1"/>
            <a:r>
              <a:rPr lang="en-US" altLang="zh-CN" sz="5400" b="1" dirty="0">
                <a:ea typeface="华文新魏" panose="02010800040101010101" pitchFamily="2" charset="-122"/>
              </a:rPr>
              <a:t>12 PLC</a:t>
            </a:r>
            <a:r>
              <a:rPr lang="zh-CN" altLang="en-US" sz="5400" b="1" dirty="0">
                <a:ea typeface="华文新魏" panose="02010800040101010101" pitchFamily="2" charset="-122"/>
              </a:rPr>
              <a:t>编程及应用</a:t>
            </a:r>
            <a:endParaRPr lang="zh-CN" altLang="en-US" sz="4400" b="1" dirty="0">
              <a:latin typeface="Brush Script MT" panose="03060802040406070304" pitchFamily="66" charset="0"/>
              <a:ea typeface="华文新魏" panose="02010800040101010101" pitchFamily="2" charset="-122"/>
            </a:endParaRPr>
          </a:p>
        </p:txBody>
      </p:sp>
      <p:sp>
        <p:nvSpPr>
          <p:cNvPr id="13315" name="Text Box 4"/>
          <p:cNvSpPr txBox="1">
            <a:spLocks noChangeArrowheads="1"/>
          </p:cNvSpPr>
          <p:nvPr/>
        </p:nvSpPr>
        <p:spPr bwMode="auto">
          <a:xfrm>
            <a:off x="152400" y="5292725"/>
            <a:ext cx="7731968" cy="138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1800" b="1" dirty="0"/>
              <a:t>主讲教师：刘振元  蒋建华</a:t>
            </a:r>
            <a:endParaRPr lang="en-US" altLang="zh-CN" sz="1800" b="1" dirty="0"/>
          </a:p>
          <a:p>
            <a:pPr eaLnBrk="1" hangingPunct="1">
              <a:lnSpc>
                <a:spcPct val="120000"/>
              </a:lnSpc>
              <a:spcBef>
                <a:spcPct val="0"/>
              </a:spcBef>
              <a:buClrTx/>
              <a:buSzTx/>
              <a:buFontTx/>
              <a:buNone/>
            </a:pPr>
            <a:r>
              <a:rPr lang="zh-CN" altLang="en-US" sz="1800" dirty="0"/>
              <a:t>联系电话：</a:t>
            </a:r>
            <a:r>
              <a:rPr lang="en-US" altLang="zh-CN" sz="1800" dirty="0"/>
              <a:t>13995552449</a:t>
            </a:r>
            <a:r>
              <a:rPr lang="zh-CN" altLang="en-US" sz="1800" dirty="0"/>
              <a:t>，</a:t>
            </a:r>
            <a:r>
              <a:rPr lang="en-US" altLang="zh-CN" sz="1800" dirty="0"/>
              <a:t>15827271233</a:t>
            </a:r>
          </a:p>
          <a:p>
            <a:pPr eaLnBrk="1" hangingPunct="1">
              <a:lnSpc>
                <a:spcPct val="120000"/>
              </a:lnSpc>
              <a:spcBef>
                <a:spcPct val="0"/>
              </a:spcBef>
              <a:buClrTx/>
              <a:buSzTx/>
              <a:buFontTx/>
              <a:buNone/>
            </a:pPr>
            <a:r>
              <a:rPr lang="zh-CN" altLang="en-US" sz="1800" dirty="0"/>
              <a:t>电子邮箱：</a:t>
            </a:r>
            <a:r>
              <a:rPr lang="en-US" altLang="zh-CN" sz="1800" u="sng" dirty="0" err="1"/>
              <a:t>jiangjh</a:t>
            </a:r>
            <a:r>
              <a:rPr lang="en-US" altLang="zh-CN" sz="1800" u="sng" dirty="0" err="1">
                <a:hlinkClick r:id="rId2"/>
              </a:rPr>
              <a:t>@</a:t>
            </a:r>
            <a:r>
              <a:rPr lang="en-US" altLang="zh-CN" sz="1800" dirty="0" err="1">
                <a:hlinkClick r:id="rId2"/>
              </a:rPr>
              <a:t>mail.hust</a:t>
            </a:r>
            <a:r>
              <a:rPr lang="en-US" altLang="zh-CN" sz="1800" dirty="0" err="1">
                <a:hlinkClick r:id="rId3"/>
              </a:rPr>
              <a:t>.edu.cn</a:t>
            </a:r>
            <a:r>
              <a:rPr lang="en-US" altLang="zh-CN" sz="1800" dirty="0"/>
              <a:t>   QQ</a:t>
            </a:r>
            <a:r>
              <a:rPr lang="zh-CN" altLang="en-US" sz="1800" dirty="0"/>
              <a:t>：</a:t>
            </a:r>
            <a:r>
              <a:rPr lang="en-US" altLang="zh-CN" sz="1800" dirty="0"/>
              <a:t>270281173</a:t>
            </a:r>
          </a:p>
          <a:p>
            <a:pPr eaLnBrk="1" hangingPunct="1">
              <a:lnSpc>
                <a:spcPct val="120000"/>
              </a:lnSpc>
              <a:spcBef>
                <a:spcPct val="0"/>
              </a:spcBef>
              <a:buClrTx/>
              <a:buSzTx/>
              <a:buFontTx/>
              <a:buNone/>
            </a:pPr>
            <a:r>
              <a:rPr lang="zh-CN" altLang="en-US" sz="1800" dirty="0"/>
              <a:t>办公地点：华中科技大学东二楼</a:t>
            </a:r>
            <a:r>
              <a:rPr lang="en-US" altLang="zh-CN" sz="1800" dirty="0"/>
              <a:t>309</a:t>
            </a:r>
            <a:r>
              <a:rPr lang="zh-CN" altLang="en-US" sz="1800" dirty="0"/>
              <a:t>室</a:t>
            </a:r>
            <a:endParaRPr lang="en-US" altLang="zh-CN" sz="1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423D55F-BF3B-E144-ABED-11CBB0E0E959}"/>
              </a:ext>
            </a:extLst>
          </p:cNvPr>
          <p:cNvSpPr>
            <a:spLocks noGrp="1"/>
          </p:cNvSpPr>
          <p:nvPr>
            <p:ph type="title"/>
          </p:nvPr>
        </p:nvSpPr>
        <p:spPr/>
        <p:txBody>
          <a:bodyPr/>
          <a:lstStyle/>
          <a:p>
            <a:r>
              <a:rPr kumimoji="1" lang="zh-CN" altLang="en-US" dirty="0"/>
              <a:t>二、</a:t>
            </a:r>
            <a:r>
              <a:rPr kumimoji="1" lang="en-US" altLang="zh-CN" dirty="0"/>
              <a:t>PLC</a:t>
            </a:r>
            <a:r>
              <a:rPr kumimoji="1" lang="zh-CN" altLang="en-US" dirty="0"/>
              <a:t>编程与应用</a:t>
            </a:r>
          </a:p>
        </p:txBody>
      </p:sp>
      <p:sp>
        <p:nvSpPr>
          <p:cNvPr id="23" name="Rectangle 4">
            <a:extLst>
              <a:ext uri="{FF2B5EF4-FFF2-40B4-BE49-F238E27FC236}">
                <a16:creationId xmlns:a16="http://schemas.microsoft.com/office/drawing/2014/main" id="{8C073540-AFBA-D547-8FCD-B5F8CE8F4158}"/>
              </a:ext>
            </a:extLst>
          </p:cNvPr>
          <p:cNvSpPr>
            <a:spLocks noChangeArrowheads="1"/>
          </p:cNvSpPr>
          <p:nvPr/>
        </p:nvSpPr>
        <p:spPr bwMode="auto">
          <a:xfrm>
            <a:off x="536613" y="2014398"/>
            <a:ext cx="7921625" cy="95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400" b="1" dirty="0">
                <a:solidFill>
                  <a:srgbClr val="000099"/>
                </a:solidFill>
                <a:latin typeface="宋体" panose="02010600030101010101" pitchFamily="2" charset="-122"/>
              </a:rPr>
              <a:t>基本内容：</a:t>
            </a:r>
          </a:p>
          <a:p>
            <a:pPr eaLnBrk="1" hangingPunct="1">
              <a:lnSpc>
                <a:spcPct val="125000"/>
              </a:lnSpc>
            </a:pPr>
            <a:r>
              <a:rPr lang="en-US" altLang="zh-CN" sz="2400" b="1" dirty="0">
                <a:latin typeface="宋体" panose="02010600030101010101" pitchFamily="2" charset="-122"/>
              </a:rPr>
              <a:t>   </a:t>
            </a:r>
            <a:r>
              <a:rPr lang="en-US" altLang="zh-CN" sz="2400" b="1" dirty="0">
                <a:solidFill>
                  <a:srgbClr val="A50021"/>
                </a:solidFill>
                <a:latin typeface="宋体" panose="02010600030101010101" pitchFamily="2" charset="-122"/>
              </a:rPr>
              <a:t>PLC</a:t>
            </a:r>
            <a:r>
              <a:rPr lang="zh-CN" altLang="en-US" sz="2400" b="1" dirty="0">
                <a:solidFill>
                  <a:srgbClr val="A50021"/>
                </a:solidFill>
                <a:latin typeface="宋体" panose="02010600030101010101" pitchFamily="2" charset="-122"/>
              </a:rPr>
              <a:t>控制方式、编程方法、指令含义、使用、案例实施</a:t>
            </a:r>
            <a:endParaRPr lang="zh-CN" altLang="en-US" sz="2400" b="1" dirty="0">
              <a:latin typeface="宋体" panose="02010600030101010101" pitchFamily="2" charset="-122"/>
            </a:endParaRPr>
          </a:p>
        </p:txBody>
      </p:sp>
      <p:sp>
        <p:nvSpPr>
          <p:cNvPr id="24" name="Rectangle 5">
            <a:extLst>
              <a:ext uri="{FF2B5EF4-FFF2-40B4-BE49-F238E27FC236}">
                <a16:creationId xmlns:a16="http://schemas.microsoft.com/office/drawing/2014/main" id="{A0616E15-F3DD-FC43-B1D6-EF15A50A72EB}"/>
              </a:ext>
            </a:extLst>
          </p:cNvPr>
          <p:cNvSpPr>
            <a:spLocks noChangeArrowheads="1"/>
          </p:cNvSpPr>
          <p:nvPr/>
        </p:nvSpPr>
        <p:spPr bwMode="auto">
          <a:xfrm>
            <a:off x="644563" y="4766965"/>
            <a:ext cx="457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99"/>
                </a:solidFill>
                <a:latin typeface="宋体" panose="02010600030101010101" pitchFamily="2" charset="-122"/>
                <a:sym typeface="Arial" panose="020B0604020202020204" pitchFamily="34" charset="0"/>
              </a:rPr>
              <a:t>难点：</a:t>
            </a:r>
          </a:p>
          <a:p>
            <a:pPr eaLnBrk="1" hangingPunct="1"/>
            <a:r>
              <a:rPr lang="zh-CN" altLang="en-US" sz="2400" b="1" dirty="0">
                <a:latin typeface="宋体" panose="02010600030101010101" pitchFamily="2" charset="-122"/>
              </a:rPr>
              <a:t>  </a:t>
            </a:r>
            <a:r>
              <a:rPr lang="zh-CN" altLang="en-US" sz="2400" b="1" dirty="0">
                <a:solidFill>
                  <a:srgbClr val="A50021"/>
                </a:solidFill>
                <a:latin typeface="宋体" panose="02010600030101010101" pitchFamily="2" charset="-122"/>
              </a:rPr>
              <a:t>编程方法、案例实施。</a:t>
            </a:r>
            <a:r>
              <a:rPr lang="zh-CN" altLang="en-US" sz="2400" dirty="0">
                <a:latin typeface="宋体" panose="02010600030101010101" pitchFamily="2" charset="-122"/>
              </a:rPr>
              <a:t> </a:t>
            </a:r>
          </a:p>
        </p:txBody>
      </p:sp>
      <p:sp>
        <p:nvSpPr>
          <p:cNvPr id="25" name="Rectangle 6">
            <a:extLst>
              <a:ext uri="{FF2B5EF4-FFF2-40B4-BE49-F238E27FC236}">
                <a16:creationId xmlns:a16="http://schemas.microsoft.com/office/drawing/2014/main" id="{E5CE21BB-D9BA-534A-9F8B-3CA86F3188B7}"/>
              </a:ext>
            </a:extLst>
          </p:cNvPr>
          <p:cNvSpPr>
            <a:spLocks noChangeArrowheads="1"/>
          </p:cNvSpPr>
          <p:nvPr/>
        </p:nvSpPr>
        <p:spPr bwMode="auto">
          <a:xfrm>
            <a:off x="536613" y="3500140"/>
            <a:ext cx="62658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99"/>
                </a:solidFill>
                <a:latin typeface="宋体" panose="02010600030101010101" pitchFamily="2" charset="-122"/>
                <a:sym typeface="Arial" panose="020B0604020202020204" pitchFamily="34" charset="0"/>
              </a:rPr>
              <a:t>重点：</a:t>
            </a:r>
          </a:p>
          <a:p>
            <a:pPr eaLnBrk="1" hangingPunct="1"/>
            <a:r>
              <a:rPr lang="zh-CN" altLang="en-US" sz="2400" b="1" dirty="0">
                <a:latin typeface="宋体" panose="02010600030101010101" pitchFamily="2" charset="-122"/>
              </a:rPr>
              <a:t>   </a:t>
            </a:r>
            <a:r>
              <a:rPr lang="zh-CN" altLang="en-US" sz="2400" b="1" dirty="0">
                <a:solidFill>
                  <a:srgbClr val="A50021"/>
                </a:solidFill>
                <a:latin typeface="宋体" panose="02010600030101010101" pitchFamily="2" charset="-122"/>
              </a:rPr>
              <a:t>控制方式、指令含义使用方法</a:t>
            </a:r>
          </a:p>
        </p:txBody>
      </p:sp>
      <p:pic>
        <p:nvPicPr>
          <p:cNvPr id="26" name="Picture 7">
            <a:extLst>
              <a:ext uri="{FF2B5EF4-FFF2-40B4-BE49-F238E27FC236}">
                <a16:creationId xmlns:a16="http://schemas.microsoft.com/office/drawing/2014/main" id="{B4AB00C1-3723-0F4A-B8CD-E8F3A56920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5339" y="3444974"/>
            <a:ext cx="3455987"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 calcmode="lin" valueType="num">
                                      <p:cBhvr additive="base">
                                        <p:cTn id="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anim calcmode="lin" valueType="num">
                                      <p:cBhvr additive="base">
                                        <p:cTn id="11"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2A22A3C-D92C-72DE-C152-EFC8265D2FCE}"/>
              </a:ext>
            </a:extLst>
          </p:cNvPr>
          <p:cNvSpPr>
            <a:spLocks noGrp="1" noChangeArrowheads="1"/>
          </p:cNvSpPr>
          <p:nvPr>
            <p:ph type="title"/>
          </p:nvPr>
        </p:nvSpPr>
        <p:spPr>
          <a:xfrm>
            <a:off x="487304" y="692696"/>
            <a:ext cx="8229600" cy="739552"/>
          </a:xfrm>
        </p:spPr>
        <p:txBody>
          <a:bodyPr/>
          <a:lstStyle/>
          <a:p>
            <a:pPr eaLnBrk="1" hangingPunct="1"/>
            <a:r>
              <a:rPr lang="zh-CN" altLang="en-US" sz="3600" dirty="0"/>
              <a:t>主要内容</a:t>
            </a:r>
          </a:p>
        </p:txBody>
      </p:sp>
      <p:sp>
        <p:nvSpPr>
          <p:cNvPr id="4099" name="Rectangle 4">
            <a:extLst>
              <a:ext uri="{FF2B5EF4-FFF2-40B4-BE49-F238E27FC236}">
                <a16:creationId xmlns:a16="http://schemas.microsoft.com/office/drawing/2014/main" id="{346EE29A-BE80-9E2C-69D0-F59622D83834}"/>
              </a:ext>
            </a:extLst>
          </p:cNvPr>
          <p:cNvSpPr>
            <a:spLocks noChangeArrowheads="1"/>
          </p:cNvSpPr>
          <p:nvPr/>
        </p:nvSpPr>
        <p:spPr bwMode="auto">
          <a:xfrm>
            <a:off x="476002" y="1828800"/>
            <a:ext cx="8128446" cy="46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1</a:t>
            </a:r>
            <a:r>
              <a:rPr lang="zh-CN" altLang="en-US" dirty="0"/>
              <a:t>、 </a:t>
            </a:r>
            <a:r>
              <a:rPr lang="en-US" altLang="zh-CN" dirty="0"/>
              <a:t>PLC</a:t>
            </a:r>
            <a:r>
              <a:rPr lang="zh-CN" altLang="en-US" dirty="0"/>
              <a:t>常用器件</a:t>
            </a:r>
          </a:p>
          <a:p>
            <a:pPr eaLnBrk="1" hangingPunct="1">
              <a:spcBef>
                <a:spcPct val="50000"/>
              </a:spcBef>
            </a:pPr>
            <a:r>
              <a:rPr lang="en-US" altLang="zh-CN" dirty="0"/>
              <a:t>2</a:t>
            </a:r>
            <a:r>
              <a:rPr lang="zh-CN" altLang="en-US" dirty="0"/>
              <a:t>、 </a:t>
            </a:r>
            <a:r>
              <a:rPr lang="en-US" altLang="zh-CN" dirty="0"/>
              <a:t>PLC</a:t>
            </a:r>
            <a:r>
              <a:rPr lang="zh-CN" altLang="en-US" dirty="0"/>
              <a:t>常用控制电路</a:t>
            </a:r>
          </a:p>
          <a:p>
            <a:pPr eaLnBrk="1" hangingPunct="1">
              <a:spcBef>
                <a:spcPct val="50000"/>
              </a:spcBef>
            </a:pPr>
            <a:r>
              <a:rPr lang="en-US" altLang="zh-CN" dirty="0"/>
              <a:t>3</a:t>
            </a:r>
            <a:r>
              <a:rPr lang="zh-CN" altLang="en-US" dirty="0"/>
              <a:t>、 </a:t>
            </a:r>
            <a:r>
              <a:rPr lang="en-US" altLang="zh-CN" dirty="0"/>
              <a:t>PLC</a:t>
            </a:r>
            <a:r>
              <a:rPr lang="zh-CN" altLang="en-US" dirty="0"/>
              <a:t>的模拟器及调试</a:t>
            </a:r>
          </a:p>
          <a:p>
            <a:pPr eaLnBrk="1" hangingPunct="1">
              <a:spcBef>
                <a:spcPct val="50000"/>
              </a:spcBef>
            </a:pPr>
            <a:r>
              <a:rPr lang="en-US" altLang="zh-CN" dirty="0"/>
              <a:t>4</a:t>
            </a:r>
            <a:r>
              <a:rPr lang="zh-CN" altLang="en-US" dirty="0"/>
              <a:t>、 </a:t>
            </a:r>
            <a:r>
              <a:rPr lang="en-US" altLang="zh-CN" dirty="0"/>
              <a:t>PLC</a:t>
            </a:r>
            <a:r>
              <a:rPr lang="en" altLang="zh-CN" sz="2800" dirty="0"/>
              <a:t> </a:t>
            </a:r>
            <a:r>
              <a:rPr lang="zh-CN" altLang="en-US" sz="2800" dirty="0"/>
              <a:t>基础功能编程</a:t>
            </a:r>
            <a:endParaRPr lang="en-US" altLang="zh-CN" dirty="0"/>
          </a:p>
          <a:p>
            <a:pPr eaLnBrk="1" hangingPunct="1">
              <a:spcBef>
                <a:spcPct val="50000"/>
              </a:spcBef>
            </a:pPr>
            <a:r>
              <a:rPr lang="en-US" altLang="zh-CN" dirty="0"/>
              <a:t>5</a:t>
            </a:r>
            <a:r>
              <a:rPr lang="zh-CN" altLang="en-US" dirty="0"/>
              <a:t>、 </a:t>
            </a:r>
            <a:r>
              <a:rPr lang="zh-CN" altLang="en" sz="2800" dirty="0"/>
              <a:t>典型</a:t>
            </a:r>
            <a:r>
              <a:rPr lang="zh-CN" altLang="en-US" sz="2800" dirty="0"/>
              <a:t>工程应用实施案例</a:t>
            </a:r>
            <a:endParaRPr lang="zh-CN" altLang="en-US" dirty="0"/>
          </a:p>
          <a:p>
            <a:pPr eaLnBrk="1" hangingPunct="1">
              <a:spcBef>
                <a:spcPct val="50000"/>
              </a:spcBef>
            </a:pPr>
            <a:endParaRPr lang="zh-CN" altLang="en-US" dirty="0"/>
          </a:p>
          <a:p>
            <a:pPr eaLnBrk="1" hangingPunct="1">
              <a:spcBef>
                <a:spcPct val="50000"/>
              </a:spcBef>
            </a:pP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1</a:t>
            </a:r>
            <a:r>
              <a:rPr lang="zh-CN" altLang="en-US" sz="3600" dirty="0"/>
              <a:t>、</a:t>
            </a:r>
            <a:r>
              <a:rPr lang="en" altLang="zh-CN" sz="3600" dirty="0"/>
              <a:t> PLC</a:t>
            </a:r>
            <a:r>
              <a:rPr lang="zh-CN" altLang="en-US" sz="3600" dirty="0"/>
              <a:t>常用器件及应用</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pic>
        <p:nvPicPr>
          <p:cNvPr id="2" name="图片 1">
            <a:extLst>
              <a:ext uri="{FF2B5EF4-FFF2-40B4-BE49-F238E27FC236}">
                <a16:creationId xmlns:a16="http://schemas.microsoft.com/office/drawing/2014/main" id="{4DA7A10B-811F-4849-B5BE-0BE1812A4DDA}"/>
              </a:ext>
            </a:extLst>
          </p:cNvPr>
          <p:cNvPicPr>
            <a:picLocks noChangeAspect="1"/>
          </p:cNvPicPr>
          <p:nvPr/>
        </p:nvPicPr>
        <p:blipFill>
          <a:blip r:embed="rId2"/>
          <a:stretch>
            <a:fillRect/>
          </a:stretch>
        </p:blipFill>
        <p:spPr>
          <a:xfrm>
            <a:off x="1333500" y="2276872"/>
            <a:ext cx="6477000" cy="3200400"/>
          </a:xfrm>
          <a:prstGeom prst="rect">
            <a:avLst/>
          </a:prstGeom>
        </p:spPr>
      </p:pic>
      <p:sp>
        <p:nvSpPr>
          <p:cNvPr id="7" name="文本框 6">
            <a:extLst>
              <a:ext uri="{FF2B5EF4-FFF2-40B4-BE49-F238E27FC236}">
                <a16:creationId xmlns:a16="http://schemas.microsoft.com/office/drawing/2014/main" id="{56E16FC7-1E09-B44D-91B8-C40D97C282F1}"/>
              </a:ext>
            </a:extLst>
          </p:cNvPr>
          <p:cNvSpPr txBox="1"/>
          <p:nvPr/>
        </p:nvSpPr>
        <p:spPr>
          <a:xfrm>
            <a:off x="683568" y="1196752"/>
            <a:ext cx="4600574" cy="800219"/>
          </a:xfrm>
          <a:prstGeom prst="rect">
            <a:avLst/>
          </a:prstGeom>
          <a:noFill/>
        </p:spPr>
        <p:txBody>
          <a:bodyPr wrap="square">
            <a:spAutoFit/>
          </a:bodyPr>
          <a:lstStyle/>
          <a:p>
            <a:r>
              <a:rPr lang="en-US" altLang="zh-CN" sz="2800" b="1" dirty="0">
                <a:effectLst/>
                <a:latin typeface="TimesNewRomanPS"/>
              </a:rPr>
              <a:t>1.1 </a:t>
            </a:r>
            <a:r>
              <a:rPr lang="zh-CN" altLang="en-US" sz="2800" dirty="0">
                <a:effectLst/>
                <a:latin typeface="SimSun" panose="02010600030101010101" pitchFamily="2" charset="-122"/>
                <a:ea typeface="SimSun" panose="02010600030101010101" pitchFamily="2" charset="-122"/>
              </a:rPr>
              <a:t>按钮开关 </a:t>
            </a:r>
            <a:endParaRPr lang="zh-CN" altLang="en-US" sz="2400" dirty="0"/>
          </a:p>
          <a:p>
            <a:r>
              <a:rPr lang="zh-CN" altLang="en-US" sz="1800" dirty="0">
                <a:effectLst/>
                <a:latin typeface="SimSun" panose="02010600030101010101" pitchFamily="2" charset="-122"/>
                <a:ea typeface="SimSun" panose="02010600030101010101" pitchFamily="2" charset="-122"/>
              </a:rPr>
              <a:t>按钮开关的实物照片及符号如图 </a:t>
            </a:r>
            <a:r>
              <a:rPr lang="en-US" altLang="zh-CN" sz="1800" dirty="0">
                <a:effectLst/>
                <a:latin typeface="SimSun" panose="02010600030101010101" pitchFamily="2" charset="-122"/>
                <a:ea typeface="SimSun" panose="02010600030101010101" pitchFamily="2" charset="-122"/>
              </a:rPr>
              <a:t>1-1 </a:t>
            </a:r>
            <a:r>
              <a:rPr lang="zh-CN" altLang="en-US" sz="1800" dirty="0">
                <a:effectLst/>
                <a:latin typeface="SimSun" panose="02010600030101010101" pitchFamily="2" charset="-122"/>
                <a:ea typeface="SimSun" panose="02010600030101010101" pitchFamily="2" charset="-122"/>
              </a:rPr>
              <a:t>所示</a:t>
            </a:r>
            <a:r>
              <a:rPr lang="en-US" altLang="zh-CN" sz="1800" dirty="0">
                <a:effectLst/>
                <a:latin typeface="SimSun" panose="02010600030101010101" pitchFamily="2" charset="-122"/>
                <a:ea typeface="SimSun" panose="02010600030101010101" pitchFamily="2" charset="-122"/>
              </a:rPr>
              <a:t>: </a:t>
            </a:r>
            <a:endParaRPr lang="zh-CN" altLang="en-US" dirty="0"/>
          </a:p>
        </p:txBody>
      </p:sp>
      <p:sp>
        <p:nvSpPr>
          <p:cNvPr id="4" name="Rectangle 2">
            <a:extLst>
              <a:ext uri="{FF2B5EF4-FFF2-40B4-BE49-F238E27FC236}">
                <a16:creationId xmlns:a16="http://schemas.microsoft.com/office/drawing/2014/main" id="{35A25450-AE27-C54C-98E0-F11E74A31356}"/>
              </a:ext>
            </a:extLst>
          </p:cNvPr>
          <p:cNvSpPr>
            <a:spLocks noChangeArrowheads="1"/>
          </p:cNvSpPr>
          <p:nvPr/>
        </p:nvSpPr>
        <p:spPr bwMode="auto">
          <a:xfrm>
            <a:off x="467072" y="5634062"/>
            <a:ext cx="821972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r>
              <a:rPr kumimoji="0" lang="zh-CN" altLang="zh-CN"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原理及作用:利用按钮推动传动机构，使动触点与静触点按通或断开，并实现电路换接 的开关。是一种结构简单，应用十分广泛的主令电器。在电气自动控制电路中，用于手动发 出控制信号，给PLC输入端子输送输入信号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922782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8" name="Rectangle 2">
            <a:extLst>
              <a:ext uri="{FF2B5EF4-FFF2-40B4-BE49-F238E27FC236}">
                <a16:creationId xmlns:a16="http://schemas.microsoft.com/office/drawing/2014/main" id="{372E8066-F65B-5B40-978D-289E6461B87A}"/>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应用举例 </a:t>
            </a:r>
            <a:endParaRPr lang="zh-CN" altLang="en-US" sz="2400" dirty="0"/>
          </a:p>
        </p:txBody>
      </p:sp>
      <p:pic>
        <p:nvPicPr>
          <p:cNvPr id="2" name="图片 1">
            <a:extLst>
              <a:ext uri="{FF2B5EF4-FFF2-40B4-BE49-F238E27FC236}">
                <a16:creationId xmlns:a16="http://schemas.microsoft.com/office/drawing/2014/main" id="{C2F81112-CD4C-6D47-92A5-023196397D0D}"/>
              </a:ext>
            </a:extLst>
          </p:cNvPr>
          <p:cNvPicPr>
            <a:picLocks noChangeAspect="1"/>
          </p:cNvPicPr>
          <p:nvPr/>
        </p:nvPicPr>
        <p:blipFill>
          <a:blip r:embed="rId2"/>
          <a:stretch>
            <a:fillRect/>
          </a:stretch>
        </p:blipFill>
        <p:spPr>
          <a:xfrm>
            <a:off x="1409700" y="1339081"/>
            <a:ext cx="6324600" cy="4483100"/>
          </a:xfrm>
          <a:prstGeom prst="rect">
            <a:avLst/>
          </a:prstGeom>
        </p:spPr>
      </p:pic>
    </p:spTree>
    <p:extLst>
      <p:ext uri="{BB962C8B-B14F-4D97-AF65-F5344CB8AC3E}">
        <p14:creationId xmlns:p14="http://schemas.microsoft.com/office/powerpoint/2010/main" val="346466000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4600574" cy="800219"/>
          </a:xfrm>
          <a:prstGeom prst="rect">
            <a:avLst/>
          </a:prstGeom>
          <a:noFill/>
        </p:spPr>
        <p:txBody>
          <a:bodyPr wrap="square">
            <a:spAutoFit/>
          </a:bodyPr>
          <a:lstStyle/>
          <a:p>
            <a:r>
              <a:rPr lang="en-US" altLang="zh-CN" sz="2800" b="1" dirty="0">
                <a:effectLst/>
                <a:latin typeface="TimesNewRomanPS"/>
              </a:rPr>
              <a:t>1.2 </a:t>
            </a:r>
            <a:r>
              <a:rPr lang="zh-CN" altLang="en-US" sz="2800" dirty="0">
                <a:effectLst/>
                <a:latin typeface="SimSun" panose="02010600030101010101" pitchFamily="2" charset="-122"/>
                <a:ea typeface="SimSun" panose="02010600030101010101" pitchFamily="2" charset="-122"/>
              </a:rPr>
              <a:t>按钮开关 </a:t>
            </a:r>
            <a:endParaRPr lang="zh-CN" altLang="en-US" sz="2400" dirty="0"/>
          </a:p>
          <a:p>
            <a:r>
              <a:rPr lang="zh-CN" altLang="en-US" sz="1800" dirty="0">
                <a:effectLst/>
                <a:latin typeface="SimSun" panose="02010600030101010101" pitchFamily="2" charset="-122"/>
                <a:ea typeface="SimSun" panose="02010600030101010101" pitchFamily="2" charset="-122"/>
              </a:rPr>
              <a:t>继电器的实物照片及符号如图 </a:t>
            </a:r>
            <a:r>
              <a:rPr lang="en-US" altLang="zh-CN" sz="1800" dirty="0">
                <a:effectLst/>
                <a:latin typeface="SimSun" panose="02010600030101010101" pitchFamily="2" charset="-122"/>
                <a:ea typeface="SimSun" panose="02010600030101010101" pitchFamily="2" charset="-122"/>
              </a:rPr>
              <a:t>1-4 </a:t>
            </a:r>
            <a:r>
              <a:rPr lang="zh-CN" altLang="en-US" sz="1800" dirty="0">
                <a:effectLst/>
                <a:latin typeface="SimSun" panose="02010600030101010101" pitchFamily="2" charset="-122"/>
                <a:ea typeface="SimSun" panose="02010600030101010101" pitchFamily="2" charset="-122"/>
              </a:rPr>
              <a:t>所示</a:t>
            </a:r>
            <a:r>
              <a:rPr lang="en-US" altLang="zh-CN" sz="1800" dirty="0">
                <a:effectLst/>
                <a:latin typeface="SimSun" panose="02010600030101010101" pitchFamily="2" charset="-122"/>
                <a:ea typeface="SimSun" panose="02010600030101010101" pitchFamily="2" charset="-122"/>
              </a:rPr>
              <a:t>: </a:t>
            </a:r>
            <a:endParaRPr lang="zh-CN" altLang="en-US" dirty="0"/>
          </a:p>
        </p:txBody>
      </p:sp>
      <p:pic>
        <p:nvPicPr>
          <p:cNvPr id="2" name="图片 1">
            <a:extLst>
              <a:ext uri="{FF2B5EF4-FFF2-40B4-BE49-F238E27FC236}">
                <a16:creationId xmlns:a16="http://schemas.microsoft.com/office/drawing/2014/main" id="{F70E9531-98B0-A24F-BCB0-52998CBF3A67}"/>
              </a:ext>
            </a:extLst>
          </p:cNvPr>
          <p:cNvPicPr>
            <a:picLocks noChangeAspect="1"/>
          </p:cNvPicPr>
          <p:nvPr/>
        </p:nvPicPr>
        <p:blipFill>
          <a:blip r:embed="rId2"/>
          <a:stretch>
            <a:fillRect/>
          </a:stretch>
        </p:blipFill>
        <p:spPr>
          <a:xfrm>
            <a:off x="1016921" y="1736812"/>
            <a:ext cx="7110158" cy="3384376"/>
          </a:xfrm>
          <a:prstGeom prst="rect">
            <a:avLst/>
          </a:prstGeom>
        </p:spPr>
      </p:pic>
    </p:spTree>
    <p:extLst>
      <p:ext uri="{BB962C8B-B14F-4D97-AF65-F5344CB8AC3E}">
        <p14:creationId xmlns:p14="http://schemas.microsoft.com/office/powerpoint/2010/main" val="19491152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4" name="Rectangle 2">
            <a:extLst>
              <a:ext uri="{FF2B5EF4-FFF2-40B4-BE49-F238E27FC236}">
                <a16:creationId xmlns:a16="http://schemas.microsoft.com/office/drawing/2014/main" id="{8E5E1E7C-1DFE-834F-8DE9-00910D00FDD3}"/>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原理及作用</a:t>
            </a:r>
            <a:endParaRPr lang="zh-CN" altLang="en-US" sz="2400" dirty="0"/>
          </a:p>
        </p:txBody>
      </p:sp>
      <p:sp>
        <p:nvSpPr>
          <p:cNvPr id="6" name="文本框 5">
            <a:extLst>
              <a:ext uri="{FF2B5EF4-FFF2-40B4-BE49-F238E27FC236}">
                <a16:creationId xmlns:a16="http://schemas.microsoft.com/office/drawing/2014/main" id="{BF5147DD-7BEB-B248-BC7B-51BD1E58DEB0}"/>
              </a:ext>
            </a:extLst>
          </p:cNvPr>
          <p:cNvSpPr txBox="1"/>
          <p:nvPr/>
        </p:nvSpPr>
        <p:spPr>
          <a:xfrm>
            <a:off x="251520" y="799544"/>
            <a:ext cx="8640960" cy="1477328"/>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当输入量</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激励量</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的变化达到规定要求时，在电气输出电路中使被控量发生预定的阶跃变化的一种电器。继电器是一种电子控制器件，它具有控制系统</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又称输入回路</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和被控制 系统</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又称输出回路</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，通常应用于自动控制电路中，它实际上是用较小的电流去控制较大 电流的一种“自动开关”。故在电路中起着自动调节、安全保护、转换电路等作用。 </a:t>
            </a:r>
            <a:endParaRPr lang="zh-CN" altLang="en-US" dirty="0">
              <a:effectLst/>
            </a:endParaRPr>
          </a:p>
        </p:txBody>
      </p:sp>
      <p:pic>
        <p:nvPicPr>
          <p:cNvPr id="3" name="图片 2">
            <a:extLst>
              <a:ext uri="{FF2B5EF4-FFF2-40B4-BE49-F238E27FC236}">
                <a16:creationId xmlns:a16="http://schemas.microsoft.com/office/drawing/2014/main" id="{FF39E720-DB09-B649-8BFB-7AB531B0CFF0}"/>
              </a:ext>
            </a:extLst>
          </p:cNvPr>
          <p:cNvPicPr>
            <a:picLocks noChangeAspect="1"/>
          </p:cNvPicPr>
          <p:nvPr/>
        </p:nvPicPr>
        <p:blipFill>
          <a:blip r:embed="rId2"/>
          <a:stretch>
            <a:fillRect/>
          </a:stretch>
        </p:blipFill>
        <p:spPr>
          <a:xfrm>
            <a:off x="2339752" y="2132856"/>
            <a:ext cx="6204303" cy="4679031"/>
          </a:xfrm>
          <a:prstGeom prst="rect">
            <a:avLst/>
          </a:prstGeom>
        </p:spPr>
      </p:pic>
    </p:spTree>
    <p:extLst>
      <p:ext uri="{BB962C8B-B14F-4D97-AF65-F5344CB8AC3E}">
        <p14:creationId xmlns:p14="http://schemas.microsoft.com/office/powerpoint/2010/main" val="410892037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8" name="Rectangle 2">
            <a:extLst>
              <a:ext uri="{FF2B5EF4-FFF2-40B4-BE49-F238E27FC236}">
                <a16:creationId xmlns:a16="http://schemas.microsoft.com/office/drawing/2014/main" id="{372E8066-F65B-5B40-978D-289E6461B87A}"/>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应用举例 </a:t>
            </a:r>
            <a:endParaRPr lang="zh-CN" altLang="en-US" sz="2400" dirty="0"/>
          </a:p>
        </p:txBody>
      </p:sp>
      <p:pic>
        <p:nvPicPr>
          <p:cNvPr id="5" name="图片 4">
            <a:extLst>
              <a:ext uri="{FF2B5EF4-FFF2-40B4-BE49-F238E27FC236}">
                <a16:creationId xmlns:a16="http://schemas.microsoft.com/office/drawing/2014/main" id="{99E69991-8D1A-A04D-A72A-340407298C96}"/>
              </a:ext>
            </a:extLst>
          </p:cNvPr>
          <p:cNvPicPr>
            <a:picLocks noChangeAspect="1"/>
          </p:cNvPicPr>
          <p:nvPr/>
        </p:nvPicPr>
        <p:blipFill>
          <a:blip r:embed="rId2"/>
          <a:stretch>
            <a:fillRect/>
          </a:stretch>
        </p:blipFill>
        <p:spPr>
          <a:xfrm>
            <a:off x="1099716" y="867280"/>
            <a:ext cx="6944568" cy="5123440"/>
          </a:xfrm>
          <a:prstGeom prst="rect">
            <a:avLst/>
          </a:prstGeom>
        </p:spPr>
      </p:pic>
      <p:sp>
        <p:nvSpPr>
          <p:cNvPr id="9" name="文本框 8">
            <a:extLst>
              <a:ext uri="{FF2B5EF4-FFF2-40B4-BE49-F238E27FC236}">
                <a16:creationId xmlns:a16="http://schemas.microsoft.com/office/drawing/2014/main" id="{2603AA9C-F2A8-974C-911C-F414794B5743}"/>
              </a:ext>
            </a:extLst>
          </p:cNvPr>
          <p:cNvSpPr txBox="1"/>
          <p:nvPr/>
        </p:nvSpPr>
        <p:spPr>
          <a:xfrm>
            <a:off x="246906" y="6130170"/>
            <a:ext cx="8897094" cy="646331"/>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图</a:t>
            </a:r>
            <a:r>
              <a:rPr lang="en-US" altLang="zh-CN" sz="1800" dirty="0">
                <a:effectLst/>
                <a:latin typeface="SimSun" panose="02010600030101010101" pitchFamily="2" charset="-122"/>
                <a:ea typeface="SimSun" panose="02010600030101010101" pitchFamily="2" charset="-122"/>
              </a:rPr>
              <a:t>1-7:</a:t>
            </a:r>
            <a:r>
              <a:rPr lang="zh-CN" altLang="en-US" sz="1800" dirty="0">
                <a:effectLst/>
                <a:latin typeface="SimSun" panose="02010600030101010101" pitchFamily="2" charset="-122"/>
                <a:ea typeface="SimSun" panose="02010600030101010101" pitchFamily="2" charset="-122"/>
              </a:rPr>
              <a:t>按钮</a:t>
            </a:r>
            <a:r>
              <a:rPr lang="zh-CN" altLang="en-US" sz="1800" dirty="0">
                <a:solidFill>
                  <a:srgbClr val="FF0000"/>
                </a:solidFill>
                <a:effectLst/>
                <a:latin typeface="SimSun" panose="02010600030101010101" pitchFamily="2" charset="-122"/>
                <a:ea typeface="SimSun" panose="02010600030101010101" pitchFamily="2" charset="-122"/>
              </a:rPr>
              <a:t>未按下</a:t>
            </a:r>
            <a:r>
              <a:rPr lang="zh-CN" altLang="en-US" sz="1800" dirty="0">
                <a:effectLst/>
                <a:latin typeface="SimSun" panose="02010600030101010101" pitchFamily="2" charset="-122"/>
                <a:ea typeface="SimSun" panose="02010600030101010101" pitchFamily="2" charset="-122"/>
              </a:rPr>
              <a:t>→继电器线圈</a:t>
            </a:r>
            <a:r>
              <a:rPr lang="zh-CN" altLang="en-US" sz="1800" dirty="0">
                <a:solidFill>
                  <a:srgbClr val="FF0000"/>
                </a:solidFill>
                <a:effectLst/>
                <a:latin typeface="SimSun" panose="02010600030101010101" pitchFamily="2" charset="-122"/>
                <a:ea typeface="SimSun" panose="02010600030101010101" pitchFamily="2" charset="-122"/>
              </a:rPr>
              <a:t>不得电</a:t>
            </a:r>
            <a:r>
              <a:rPr lang="zh-CN" altLang="en-US" sz="1800" dirty="0">
                <a:effectLst/>
                <a:latin typeface="SimSun" panose="02010600030101010101" pitchFamily="2" charset="-122"/>
                <a:ea typeface="SimSun" panose="02010600030101010101" pitchFamily="2" charset="-122"/>
              </a:rPr>
              <a:t>→继电器常开触点</a:t>
            </a:r>
            <a:r>
              <a:rPr lang="zh-CN" altLang="en-US" sz="1800" dirty="0">
                <a:solidFill>
                  <a:srgbClr val="FF0000"/>
                </a:solidFill>
                <a:effectLst/>
                <a:latin typeface="SimSun" panose="02010600030101010101" pitchFamily="2" charset="-122"/>
                <a:ea typeface="SimSun" panose="02010600030101010101" pitchFamily="2" charset="-122"/>
              </a:rPr>
              <a:t>切断</a:t>
            </a:r>
            <a:r>
              <a:rPr lang="zh-CN" altLang="en-US" sz="1800" dirty="0">
                <a:effectLst/>
                <a:latin typeface="SimSun" panose="02010600030101010101" pitchFamily="2" charset="-122"/>
                <a:ea typeface="SimSun" panose="02010600030101010101" pitchFamily="2" charset="-122"/>
              </a:rPr>
              <a:t>回路电流  →灯泡</a:t>
            </a:r>
            <a:r>
              <a:rPr lang="zh-CN" altLang="en-US" sz="1800" dirty="0">
                <a:solidFill>
                  <a:srgbClr val="FF0000"/>
                </a:solidFill>
                <a:effectLst/>
                <a:latin typeface="SimSun" panose="02010600030101010101" pitchFamily="2" charset="-122"/>
                <a:ea typeface="SimSun" panose="02010600030101010101" pitchFamily="2" charset="-122"/>
              </a:rPr>
              <a:t>不亮 </a:t>
            </a:r>
            <a:endParaRPr lang="zh-CN" altLang="en-US" dirty="0">
              <a:solidFill>
                <a:srgbClr val="FF0000"/>
              </a:solidFill>
            </a:endParaRPr>
          </a:p>
          <a:p>
            <a:r>
              <a:rPr lang="zh-CN" altLang="en-US" sz="1800" dirty="0">
                <a:effectLst/>
                <a:latin typeface="SimSun" panose="02010600030101010101" pitchFamily="2" charset="-122"/>
                <a:ea typeface="SimSun" panose="02010600030101010101" pitchFamily="2" charset="-122"/>
              </a:rPr>
              <a:t>图</a:t>
            </a:r>
            <a:r>
              <a:rPr lang="en-US" altLang="zh-CN" sz="1800" dirty="0">
                <a:effectLst/>
                <a:latin typeface="SimSun" panose="02010600030101010101" pitchFamily="2" charset="-122"/>
                <a:ea typeface="SimSun" panose="02010600030101010101" pitchFamily="2" charset="-122"/>
              </a:rPr>
              <a:t>1-8:</a:t>
            </a:r>
            <a:r>
              <a:rPr lang="zh-CN" altLang="en-US" sz="1800" dirty="0">
                <a:effectLst/>
                <a:latin typeface="SimSun" panose="02010600030101010101" pitchFamily="2" charset="-122"/>
                <a:ea typeface="SimSun" panose="02010600030101010101" pitchFamily="2" charset="-122"/>
              </a:rPr>
              <a:t>按钮</a:t>
            </a:r>
            <a:r>
              <a:rPr lang="zh-CN" altLang="en-US" sz="1800" dirty="0">
                <a:solidFill>
                  <a:srgbClr val="FF0000"/>
                </a:solidFill>
                <a:effectLst/>
                <a:latin typeface="SimSun" panose="02010600030101010101" pitchFamily="2" charset="-122"/>
                <a:ea typeface="SimSun" panose="02010600030101010101" pitchFamily="2" charset="-122"/>
              </a:rPr>
              <a:t>按下</a:t>
            </a:r>
            <a:r>
              <a:rPr lang="zh-CN" altLang="en-US" sz="1800" dirty="0">
                <a:effectLst/>
                <a:latin typeface="SimSun" panose="02010600030101010101" pitchFamily="2" charset="-122"/>
                <a:ea typeface="SimSun" panose="02010600030101010101" pitchFamily="2" charset="-122"/>
              </a:rPr>
              <a:t>  →继电器线圈</a:t>
            </a:r>
            <a:r>
              <a:rPr lang="zh-CN" altLang="en-US" sz="1800" dirty="0">
                <a:solidFill>
                  <a:srgbClr val="FF0000"/>
                </a:solidFill>
                <a:effectLst/>
                <a:latin typeface="SimSun" panose="02010600030101010101" pitchFamily="2" charset="-122"/>
                <a:ea typeface="SimSun" panose="02010600030101010101" pitchFamily="2" charset="-122"/>
              </a:rPr>
              <a:t>得电</a:t>
            </a:r>
            <a:r>
              <a:rPr lang="zh-CN" altLang="en-US" sz="1800" dirty="0">
                <a:effectLst/>
                <a:latin typeface="SimSun" panose="02010600030101010101" pitchFamily="2" charset="-122"/>
                <a:ea typeface="SimSun" panose="02010600030101010101" pitchFamily="2" charset="-122"/>
              </a:rPr>
              <a:t>  →继电器常开触点</a:t>
            </a:r>
            <a:r>
              <a:rPr lang="zh-CN" altLang="en-US" sz="1800" dirty="0">
                <a:solidFill>
                  <a:srgbClr val="FF0000"/>
                </a:solidFill>
                <a:effectLst/>
                <a:latin typeface="SimSun" panose="02010600030101010101" pitchFamily="2" charset="-122"/>
                <a:ea typeface="SimSun" panose="02010600030101010101" pitchFamily="2" charset="-122"/>
              </a:rPr>
              <a:t>闭合</a:t>
            </a:r>
            <a:r>
              <a:rPr lang="zh-CN" altLang="en-US" sz="1800" dirty="0">
                <a:effectLst/>
                <a:latin typeface="SimSun" panose="02010600030101010101" pitchFamily="2" charset="-122"/>
                <a:ea typeface="SimSun" panose="02010600030101010101" pitchFamily="2" charset="-122"/>
              </a:rPr>
              <a:t>灯泡有电流→灯泡</a:t>
            </a:r>
            <a:r>
              <a:rPr lang="zh-CN" altLang="en-US" sz="1800" dirty="0">
                <a:solidFill>
                  <a:srgbClr val="FF0000"/>
                </a:solidFill>
                <a:effectLst/>
                <a:latin typeface="SimSun" panose="02010600030101010101" pitchFamily="2" charset="-122"/>
                <a:ea typeface="SimSun" panose="02010600030101010101" pitchFamily="2" charset="-122"/>
              </a:rPr>
              <a:t>点亮</a:t>
            </a:r>
            <a:r>
              <a:rPr lang="zh-CN" altLang="en-US" sz="1800" dirty="0">
                <a:effectLst/>
                <a:latin typeface="SimSun" panose="02010600030101010101" pitchFamily="2" charset="-122"/>
                <a:ea typeface="SimSun" panose="02010600030101010101" pitchFamily="2" charset="-122"/>
              </a:rPr>
              <a:t> </a:t>
            </a:r>
            <a:endParaRPr lang="zh-CN" altLang="en-US" dirty="0"/>
          </a:p>
        </p:txBody>
      </p:sp>
      <p:pic>
        <p:nvPicPr>
          <p:cNvPr id="7" name="图片 6">
            <a:extLst>
              <a:ext uri="{FF2B5EF4-FFF2-40B4-BE49-F238E27FC236}">
                <a16:creationId xmlns:a16="http://schemas.microsoft.com/office/drawing/2014/main" id="{8C9C03C5-06A4-7C4A-925A-0302237B812B}"/>
              </a:ext>
            </a:extLst>
          </p:cNvPr>
          <p:cNvPicPr>
            <a:picLocks noChangeAspect="1"/>
          </p:cNvPicPr>
          <p:nvPr/>
        </p:nvPicPr>
        <p:blipFill>
          <a:blip r:embed="rId3"/>
          <a:stretch>
            <a:fillRect/>
          </a:stretch>
        </p:blipFill>
        <p:spPr>
          <a:xfrm>
            <a:off x="2483768" y="3429000"/>
            <a:ext cx="3773016" cy="2683327"/>
          </a:xfrm>
          <a:prstGeom prst="rect">
            <a:avLst/>
          </a:prstGeom>
        </p:spPr>
      </p:pic>
    </p:spTree>
    <p:extLst>
      <p:ext uri="{BB962C8B-B14F-4D97-AF65-F5344CB8AC3E}">
        <p14:creationId xmlns:p14="http://schemas.microsoft.com/office/powerpoint/2010/main" val="14651442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3913F79-7F34-5C48-80BC-A0D1AAA2D2B4}"/>
              </a:ext>
            </a:extLst>
          </p:cNvPr>
          <p:cNvSpPr txBox="1"/>
          <p:nvPr/>
        </p:nvSpPr>
        <p:spPr>
          <a:xfrm>
            <a:off x="683568" y="404664"/>
            <a:ext cx="4600574" cy="800219"/>
          </a:xfrm>
          <a:prstGeom prst="rect">
            <a:avLst/>
          </a:prstGeom>
          <a:noFill/>
        </p:spPr>
        <p:txBody>
          <a:bodyPr wrap="square">
            <a:spAutoFit/>
          </a:bodyPr>
          <a:lstStyle/>
          <a:p>
            <a:r>
              <a:rPr lang="en-US" altLang="zh-CN" sz="2800" b="1" dirty="0">
                <a:effectLst/>
                <a:latin typeface="TimesNewRomanPS"/>
              </a:rPr>
              <a:t>1.3 </a:t>
            </a:r>
            <a:r>
              <a:rPr lang="zh-CN" altLang="en-US" sz="2800" dirty="0">
                <a:effectLst/>
                <a:latin typeface="SimSun" panose="02010600030101010101" pitchFamily="2" charset="-122"/>
                <a:ea typeface="SimSun" panose="02010600030101010101" pitchFamily="2" charset="-122"/>
              </a:rPr>
              <a:t>三极管</a:t>
            </a:r>
            <a:endParaRPr lang="zh-CN" altLang="en-US" sz="2400" dirty="0"/>
          </a:p>
          <a:p>
            <a:r>
              <a:rPr lang="zh-CN" altLang="en-US" sz="1800" dirty="0">
                <a:effectLst/>
                <a:latin typeface="SimSun" panose="02010600030101010101" pitchFamily="2" charset="-122"/>
                <a:ea typeface="SimSun" panose="02010600030101010101" pitchFamily="2" charset="-122"/>
              </a:rPr>
              <a:t>三极管的实物照片及符号如图 </a:t>
            </a:r>
            <a:r>
              <a:rPr lang="en-US" altLang="zh-CN" sz="1800" dirty="0">
                <a:effectLst/>
                <a:latin typeface="SimSun" panose="02010600030101010101" pitchFamily="2" charset="-122"/>
                <a:ea typeface="SimSun" panose="02010600030101010101" pitchFamily="2" charset="-122"/>
              </a:rPr>
              <a:t>1-10 </a:t>
            </a:r>
            <a:r>
              <a:rPr lang="zh-CN" altLang="en-US" sz="1800" dirty="0">
                <a:effectLst/>
                <a:latin typeface="SimSun" panose="02010600030101010101" pitchFamily="2" charset="-122"/>
                <a:ea typeface="SimSun" panose="02010600030101010101" pitchFamily="2" charset="-122"/>
              </a:rPr>
              <a:t>所示</a:t>
            </a:r>
            <a:r>
              <a:rPr lang="en-US" altLang="zh-CN" sz="1800" dirty="0">
                <a:effectLst/>
                <a:latin typeface="SimSun" panose="02010600030101010101" pitchFamily="2" charset="-122"/>
                <a:ea typeface="SimSun" panose="02010600030101010101" pitchFamily="2" charset="-122"/>
              </a:rPr>
              <a:t>: </a:t>
            </a:r>
            <a:endParaRPr lang="zh-CN" altLang="en-US" dirty="0"/>
          </a:p>
        </p:txBody>
      </p:sp>
      <p:pic>
        <p:nvPicPr>
          <p:cNvPr id="3" name="图片 2">
            <a:extLst>
              <a:ext uri="{FF2B5EF4-FFF2-40B4-BE49-F238E27FC236}">
                <a16:creationId xmlns:a16="http://schemas.microsoft.com/office/drawing/2014/main" id="{790E5246-51F3-A242-A73D-B00137C8E4E6}"/>
              </a:ext>
            </a:extLst>
          </p:cNvPr>
          <p:cNvPicPr>
            <a:picLocks noChangeAspect="1"/>
          </p:cNvPicPr>
          <p:nvPr/>
        </p:nvPicPr>
        <p:blipFill>
          <a:blip r:embed="rId2"/>
          <a:stretch>
            <a:fillRect/>
          </a:stretch>
        </p:blipFill>
        <p:spPr>
          <a:xfrm>
            <a:off x="1060450" y="1196752"/>
            <a:ext cx="7023100" cy="3399277"/>
          </a:xfrm>
          <a:prstGeom prst="rect">
            <a:avLst/>
          </a:prstGeom>
        </p:spPr>
      </p:pic>
      <p:sp>
        <p:nvSpPr>
          <p:cNvPr id="5" name="文本框 4">
            <a:extLst>
              <a:ext uri="{FF2B5EF4-FFF2-40B4-BE49-F238E27FC236}">
                <a16:creationId xmlns:a16="http://schemas.microsoft.com/office/drawing/2014/main" id="{DD441423-9858-2B4E-9995-DA6A49A7EA58}"/>
              </a:ext>
            </a:extLst>
          </p:cNvPr>
          <p:cNvSpPr txBox="1"/>
          <p:nvPr/>
        </p:nvSpPr>
        <p:spPr>
          <a:xfrm>
            <a:off x="179512" y="4725144"/>
            <a:ext cx="8784976" cy="2031325"/>
          </a:xfrm>
          <a:prstGeom prst="rect">
            <a:avLst/>
          </a:prstGeom>
          <a:noFill/>
        </p:spPr>
        <p:txBody>
          <a:bodyPr wrap="square">
            <a:spAutoFit/>
          </a:bodyPr>
          <a:lstStyle/>
          <a:p>
            <a:r>
              <a:rPr lang="zh-CN" altLang="en-US" sz="1800" dirty="0">
                <a:latin typeface="SimSun" panose="02010600030101010101" pitchFamily="2" charset="-122"/>
                <a:ea typeface="SimSun" panose="02010600030101010101" pitchFamily="2" charset="-122"/>
              </a:rPr>
              <a:t>原理及作用：</a:t>
            </a:r>
            <a:r>
              <a:rPr lang="zh-CN" altLang="en-US" sz="1800" dirty="0">
                <a:effectLst/>
                <a:latin typeface="SimSun" panose="02010600030101010101" pitchFamily="2" charset="-122"/>
                <a:ea typeface="SimSun" panose="02010600030101010101" pitchFamily="2" charset="-122"/>
              </a:rPr>
              <a:t>三极管，全称应为半导体三极管，也称双极型晶体管。分成</a:t>
            </a:r>
            <a:r>
              <a:rPr lang="en" altLang="zh-CN" sz="1800" dirty="0">
                <a:effectLst/>
                <a:latin typeface="SimSun" panose="02010600030101010101" pitchFamily="2" charset="-122"/>
                <a:ea typeface="SimSun" panose="02010600030101010101" pitchFamily="2" charset="-122"/>
              </a:rPr>
              <a:t>NPN</a:t>
            </a:r>
            <a:r>
              <a:rPr lang="zh-CN" altLang="en-US" sz="1800" dirty="0">
                <a:effectLst/>
                <a:latin typeface="SimSun" panose="02010600030101010101" pitchFamily="2" charset="-122"/>
                <a:ea typeface="SimSun" panose="02010600030101010101" pitchFamily="2" charset="-122"/>
              </a:rPr>
              <a:t>和</a:t>
            </a:r>
            <a:r>
              <a:rPr lang="en" altLang="zh-CN" sz="1800" dirty="0">
                <a:effectLst/>
                <a:latin typeface="SimSun" panose="02010600030101010101" pitchFamily="2" charset="-122"/>
                <a:ea typeface="SimSun" panose="02010600030101010101" pitchFamily="2" charset="-122"/>
              </a:rPr>
              <a:t>PNP</a:t>
            </a:r>
            <a:r>
              <a:rPr lang="zh-CN" altLang="en-US" sz="1800" dirty="0">
                <a:effectLst/>
                <a:latin typeface="SimSun" panose="02010600030101010101" pitchFamily="2" charset="-122"/>
                <a:ea typeface="SimSun" panose="02010600030101010101" pitchFamily="2" charset="-122"/>
              </a:rPr>
              <a:t>两种。三极管有三个极，分别叫做集电极</a:t>
            </a:r>
            <a:r>
              <a:rPr lang="en" altLang="zh-CN" sz="1800" dirty="0">
                <a:effectLst/>
                <a:latin typeface="SimSun" panose="02010600030101010101" pitchFamily="2" charset="-122"/>
                <a:ea typeface="SimSun" panose="02010600030101010101" pitchFamily="2" charset="-122"/>
              </a:rPr>
              <a:t>C</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基极</a:t>
            </a:r>
            <a:r>
              <a:rPr lang="en" altLang="zh-CN" sz="1800" dirty="0">
                <a:effectLst/>
                <a:latin typeface="SimSun" panose="02010600030101010101" pitchFamily="2" charset="-122"/>
                <a:ea typeface="SimSun" panose="02010600030101010101" pitchFamily="2" charset="-122"/>
              </a:rPr>
              <a:t>B</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发射极</a:t>
            </a:r>
            <a:r>
              <a:rPr lang="en" altLang="zh-CN" sz="1800" dirty="0">
                <a:effectLst/>
                <a:latin typeface="SimSun" panose="02010600030101010101" pitchFamily="2" charset="-122"/>
                <a:ea typeface="SimSun" panose="02010600030101010101" pitchFamily="2" charset="-122"/>
              </a:rPr>
              <a:t>E</a:t>
            </a:r>
            <a:r>
              <a:rPr lang="zh-CN" altLang="en" sz="1800" dirty="0">
                <a:effectLst/>
                <a:latin typeface="SimSun" panose="02010600030101010101" pitchFamily="2" charset="-122"/>
                <a:ea typeface="SimSun" panose="02010600030101010101" pitchFamily="2" charset="-122"/>
              </a:rPr>
              <a:t>。 </a:t>
            </a:r>
            <a:endParaRPr lang="en" altLang="zh-CN" dirty="0"/>
          </a:p>
          <a:p>
            <a:r>
              <a:rPr lang="zh-CN" altLang="en-US" sz="1800" dirty="0">
                <a:effectLst/>
                <a:latin typeface="SimSun" panose="02010600030101010101" pitchFamily="2" charset="-122"/>
                <a:ea typeface="SimSun" panose="02010600030101010101" pitchFamily="2" charset="-122"/>
              </a:rPr>
              <a:t>晶体三极管是一种电流控制电流的半导体器件，其作用是把微弱信号放大成辐值较大的电信号， 也用作无触点开关。如果三极管主要工作在截止和饱和状态，那么这样的三极管 我们一般把它叫做开关管。当基极电流为 </a:t>
            </a:r>
            <a:r>
              <a:rPr lang="en-US" altLang="zh-CN" sz="1800" dirty="0">
                <a:effectLst/>
                <a:latin typeface="SimSun" panose="02010600030101010101" pitchFamily="2" charset="-122"/>
                <a:ea typeface="SimSun" panose="02010600030101010101" pitchFamily="2" charset="-122"/>
              </a:rPr>
              <a:t>0 </a:t>
            </a:r>
            <a:r>
              <a:rPr lang="zh-CN" altLang="en-US" sz="1800" dirty="0">
                <a:effectLst/>
                <a:latin typeface="SimSun" panose="02010600030101010101" pitchFamily="2" charset="-122"/>
                <a:ea typeface="SimSun" panose="02010600030101010101" pitchFamily="2" charset="-122"/>
              </a:rPr>
              <a:t>时，三极管集电极电流为 </a:t>
            </a:r>
            <a:r>
              <a:rPr lang="en-US" altLang="zh-CN" sz="1800" dirty="0">
                <a:effectLst/>
                <a:latin typeface="SimSun" panose="02010600030101010101" pitchFamily="2" charset="-122"/>
                <a:ea typeface="SimSun" panose="02010600030101010101" pitchFamily="2" charset="-122"/>
              </a:rPr>
              <a:t>0(</a:t>
            </a:r>
            <a:r>
              <a:rPr lang="zh-CN" altLang="en-US" sz="1800" dirty="0">
                <a:effectLst/>
                <a:latin typeface="SimSun" panose="02010600030101010101" pitchFamily="2" charset="-122"/>
                <a:ea typeface="SimSun" panose="02010600030101010101" pitchFamily="2" charset="-122"/>
              </a:rPr>
              <a:t>这叫做三极管截止</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 相当于开关断开</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当基极电流很大，以至于三极管饱和时，相当于开关闭合。 </a:t>
            </a:r>
            <a:endParaRPr lang="zh-CN" altLang="en-US" dirty="0"/>
          </a:p>
        </p:txBody>
      </p:sp>
    </p:spTree>
    <p:extLst>
      <p:ext uri="{BB962C8B-B14F-4D97-AF65-F5344CB8AC3E}">
        <p14:creationId xmlns:p14="http://schemas.microsoft.com/office/powerpoint/2010/main" val="273504211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8" name="Rectangle 2">
            <a:extLst>
              <a:ext uri="{FF2B5EF4-FFF2-40B4-BE49-F238E27FC236}">
                <a16:creationId xmlns:a16="http://schemas.microsoft.com/office/drawing/2014/main" id="{372E8066-F65B-5B40-978D-289E6461B87A}"/>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应用举例 </a:t>
            </a:r>
            <a:endParaRPr lang="zh-CN" altLang="en-US" sz="2400" dirty="0"/>
          </a:p>
        </p:txBody>
      </p:sp>
      <p:pic>
        <p:nvPicPr>
          <p:cNvPr id="2" name="图片 1">
            <a:extLst>
              <a:ext uri="{FF2B5EF4-FFF2-40B4-BE49-F238E27FC236}">
                <a16:creationId xmlns:a16="http://schemas.microsoft.com/office/drawing/2014/main" id="{BB9A8099-DEEE-D542-B695-1251E9E145CE}"/>
              </a:ext>
            </a:extLst>
          </p:cNvPr>
          <p:cNvPicPr>
            <a:picLocks noChangeAspect="1"/>
          </p:cNvPicPr>
          <p:nvPr/>
        </p:nvPicPr>
        <p:blipFill>
          <a:blip r:embed="rId2"/>
          <a:stretch>
            <a:fillRect/>
          </a:stretch>
        </p:blipFill>
        <p:spPr>
          <a:xfrm>
            <a:off x="537630" y="1023527"/>
            <a:ext cx="5340350" cy="2703975"/>
          </a:xfrm>
          <a:prstGeom prst="rect">
            <a:avLst/>
          </a:prstGeom>
        </p:spPr>
      </p:pic>
      <p:sp>
        <p:nvSpPr>
          <p:cNvPr id="3" name="Rectangle 2">
            <a:extLst>
              <a:ext uri="{FF2B5EF4-FFF2-40B4-BE49-F238E27FC236}">
                <a16:creationId xmlns:a16="http://schemas.microsoft.com/office/drawing/2014/main" id="{E560449D-F9D5-3648-A536-F66D196B01FC}"/>
              </a:ext>
            </a:extLst>
          </p:cNvPr>
          <p:cNvSpPr>
            <a:spLocks noChangeArrowheads="1"/>
          </p:cNvSpPr>
          <p:nvPr/>
        </p:nvSpPr>
        <p:spPr bwMode="auto">
          <a:xfrm>
            <a:off x="5796136" y="1340768"/>
            <a:ext cx="320780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图 1-11(a)为实物图，(b)是与之相对应的原理图，按钮开关未按下时三极管 b 脚没 有电流，电流无法从三极管 c 脚流向 e 脚，此时灯泡不亮。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5F2CD01C-3D5B-F840-938F-7FBE075283A1}"/>
              </a:ext>
            </a:extLst>
          </p:cNvPr>
          <p:cNvPicPr>
            <a:picLocks noChangeAspect="1"/>
          </p:cNvPicPr>
          <p:nvPr/>
        </p:nvPicPr>
        <p:blipFill>
          <a:blip r:embed="rId3"/>
          <a:stretch>
            <a:fillRect/>
          </a:stretch>
        </p:blipFill>
        <p:spPr>
          <a:xfrm>
            <a:off x="537630" y="3977750"/>
            <a:ext cx="5268739" cy="2445161"/>
          </a:xfrm>
          <a:prstGeom prst="rect">
            <a:avLst/>
          </a:prstGeom>
        </p:spPr>
      </p:pic>
      <p:sp>
        <p:nvSpPr>
          <p:cNvPr id="6" name="Rectangle 3">
            <a:extLst>
              <a:ext uri="{FF2B5EF4-FFF2-40B4-BE49-F238E27FC236}">
                <a16:creationId xmlns:a16="http://schemas.microsoft.com/office/drawing/2014/main" id="{B8126E9C-6A13-C642-98F2-B440D83949FE}"/>
              </a:ext>
            </a:extLst>
          </p:cNvPr>
          <p:cNvSpPr>
            <a:spLocks noChangeArrowheads="1"/>
          </p:cNvSpPr>
          <p:nvPr/>
        </p:nvSpPr>
        <p:spPr bwMode="auto">
          <a:xfrm>
            <a:off x="5759624" y="4184667"/>
            <a:ext cx="338437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a:ln>
                  <a:noFill/>
                </a:ln>
                <a:solidFill>
                  <a:schemeClr val="tx1"/>
                </a:solidFill>
                <a:effectLst/>
                <a:latin typeface="Arial" panose="020B0604020202020204" pitchFamily="34" charset="0"/>
                <a:ea typeface="SimSun" panose="02010600030101010101" pitchFamily="2" charset="-122"/>
              </a:rPr>
              <a:t>图 1-12(a)为实物图，(b)是与之对应的原理图，按下按钮开关时，三极管 b 有电流， 此时 c 脚与 e 脚导通，电流从 ce 脚流过，故灯泡点亮。 </a:t>
            </a:r>
            <a:endParaRPr kumimoji="0" lang="zh-CN" altLang="zh-CN"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2100332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2</a:t>
            </a:r>
            <a:r>
              <a:rPr lang="zh-CN" altLang="en-US" sz="3600" dirty="0"/>
              <a:t>、</a:t>
            </a:r>
            <a:r>
              <a:rPr lang="en" altLang="zh-CN" sz="3600" dirty="0"/>
              <a:t> PLC</a:t>
            </a:r>
            <a:r>
              <a:rPr lang="zh-CN" altLang="en-US" sz="3600" dirty="0"/>
              <a:t>常用控制电路及示例</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7" name="文本框 6">
            <a:extLst>
              <a:ext uri="{FF2B5EF4-FFF2-40B4-BE49-F238E27FC236}">
                <a16:creationId xmlns:a16="http://schemas.microsoft.com/office/drawing/2014/main" id="{56E16FC7-1E09-B44D-91B8-C40D97C282F1}"/>
              </a:ext>
            </a:extLst>
          </p:cNvPr>
          <p:cNvSpPr txBox="1"/>
          <p:nvPr/>
        </p:nvSpPr>
        <p:spPr>
          <a:xfrm>
            <a:off x="683568" y="1196752"/>
            <a:ext cx="8229600" cy="1077218"/>
          </a:xfrm>
          <a:prstGeom prst="rect">
            <a:avLst/>
          </a:prstGeom>
          <a:noFill/>
        </p:spPr>
        <p:txBody>
          <a:bodyPr wrap="square">
            <a:spAutoFit/>
          </a:bodyPr>
          <a:lstStyle/>
          <a:p>
            <a:r>
              <a:rPr lang="en-US" altLang="zh-CN" sz="2800" b="1" dirty="0">
                <a:effectLst/>
                <a:latin typeface="TimesNewRomanPS"/>
              </a:rPr>
              <a:t>2.1 </a:t>
            </a:r>
            <a:r>
              <a:rPr lang="zh-CN" altLang="en-US" sz="2800" dirty="0">
                <a:effectLst/>
                <a:latin typeface="SimSun" panose="02010600030101010101" pitchFamily="2" charset="-122"/>
                <a:ea typeface="SimSun" panose="02010600030101010101" pitchFamily="2" charset="-122"/>
              </a:rPr>
              <a:t>点动电路</a:t>
            </a:r>
            <a:endParaRPr lang="zh-CN" altLang="en-US" sz="2400" dirty="0"/>
          </a:p>
          <a:p>
            <a:r>
              <a:rPr lang="zh-CN" altLang="en-US" sz="1800" dirty="0">
                <a:effectLst/>
                <a:latin typeface="SimSun" panose="02010600030101010101" pitchFamily="2" charset="-122"/>
                <a:ea typeface="SimSun" panose="02010600030101010101" pitchFamily="2" charset="-122"/>
              </a:rPr>
              <a:t>顾名思义</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点则动，松则不动，即按下按钮开，松开按钮停。图</a:t>
            </a:r>
            <a:r>
              <a:rPr lang="en-US" altLang="zh-CN" sz="1800" dirty="0">
                <a:effectLst/>
                <a:latin typeface="SimSun" panose="02010600030101010101" pitchFamily="2" charset="-122"/>
                <a:ea typeface="SimSun" panose="02010600030101010101" pitchFamily="2" charset="-122"/>
              </a:rPr>
              <a:t>2-1 </a:t>
            </a:r>
            <a:r>
              <a:rPr lang="zh-CN" altLang="en-US" sz="1800" dirty="0">
                <a:effectLst/>
                <a:latin typeface="SimSun" panose="02010600030101010101" pitchFamily="2" charset="-122"/>
                <a:ea typeface="SimSun" panose="02010600030101010101" pitchFamily="2" charset="-122"/>
              </a:rPr>
              <a:t>给出了三种形式的点动。 </a:t>
            </a:r>
            <a:endParaRPr lang="zh-CN" altLang="en-US" dirty="0">
              <a:effectLst/>
            </a:endParaRPr>
          </a:p>
        </p:txBody>
      </p:sp>
      <p:pic>
        <p:nvPicPr>
          <p:cNvPr id="3" name="图片 2">
            <a:extLst>
              <a:ext uri="{FF2B5EF4-FFF2-40B4-BE49-F238E27FC236}">
                <a16:creationId xmlns:a16="http://schemas.microsoft.com/office/drawing/2014/main" id="{42075F9C-AE78-D14A-926F-FBFD02C225C7}"/>
              </a:ext>
            </a:extLst>
          </p:cNvPr>
          <p:cNvPicPr>
            <a:picLocks noChangeAspect="1"/>
          </p:cNvPicPr>
          <p:nvPr/>
        </p:nvPicPr>
        <p:blipFill>
          <a:blip r:embed="rId2"/>
          <a:stretch>
            <a:fillRect/>
          </a:stretch>
        </p:blipFill>
        <p:spPr>
          <a:xfrm>
            <a:off x="127190" y="2420888"/>
            <a:ext cx="8781719" cy="2816670"/>
          </a:xfrm>
          <a:prstGeom prst="rect">
            <a:avLst/>
          </a:prstGeom>
        </p:spPr>
      </p:pic>
    </p:spTree>
    <p:extLst>
      <p:ext uri="{BB962C8B-B14F-4D97-AF65-F5344CB8AC3E}">
        <p14:creationId xmlns:p14="http://schemas.microsoft.com/office/powerpoint/2010/main" val="229592092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FCBF30B-22C4-AE49-AF91-30380ED9895B}"/>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工作原理</a:t>
            </a:r>
            <a:endParaRPr lang="zh-CN" altLang="en-US" sz="2400" dirty="0"/>
          </a:p>
        </p:txBody>
      </p:sp>
      <p:pic>
        <p:nvPicPr>
          <p:cNvPr id="3" name="图片 2">
            <a:extLst>
              <a:ext uri="{FF2B5EF4-FFF2-40B4-BE49-F238E27FC236}">
                <a16:creationId xmlns:a16="http://schemas.microsoft.com/office/drawing/2014/main" id="{77EE945F-502D-2541-80AC-BB556F7D847D}"/>
              </a:ext>
            </a:extLst>
          </p:cNvPr>
          <p:cNvPicPr>
            <a:picLocks noChangeAspect="1"/>
          </p:cNvPicPr>
          <p:nvPr/>
        </p:nvPicPr>
        <p:blipFill>
          <a:blip r:embed="rId2"/>
          <a:stretch>
            <a:fillRect/>
          </a:stretch>
        </p:blipFill>
        <p:spPr>
          <a:xfrm>
            <a:off x="962112" y="1052736"/>
            <a:ext cx="7219776" cy="2277368"/>
          </a:xfrm>
          <a:prstGeom prst="rect">
            <a:avLst/>
          </a:prstGeom>
        </p:spPr>
      </p:pic>
      <p:pic>
        <p:nvPicPr>
          <p:cNvPr id="5" name="图片 4">
            <a:extLst>
              <a:ext uri="{FF2B5EF4-FFF2-40B4-BE49-F238E27FC236}">
                <a16:creationId xmlns:a16="http://schemas.microsoft.com/office/drawing/2014/main" id="{0A43CB8F-2280-3F43-9168-3FFCE784D1C2}"/>
              </a:ext>
            </a:extLst>
          </p:cNvPr>
          <p:cNvPicPr>
            <a:picLocks noChangeAspect="1"/>
          </p:cNvPicPr>
          <p:nvPr/>
        </p:nvPicPr>
        <p:blipFill>
          <a:blip r:embed="rId3"/>
          <a:stretch>
            <a:fillRect/>
          </a:stretch>
        </p:blipFill>
        <p:spPr>
          <a:xfrm>
            <a:off x="852359" y="3275656"/>
            <a:ext cx="7439282" cy="3557395"/>
          </a:xfrm>
          <a:prstGeom prst="rect">
            <a:avLst/>
          </a:prstGeom>
        </p:spPr>
      </p:pic>
      <p:pic>
        <p:nvPicPr>
          <p:cNvPr id="6" name="图片 5">
            <a:extLst>
              <a:ext uri="{FF2B5EF4-FFF2-40B4-BE49-F238E27FC236}">
                <a16:creationId xmlns:a16="http://schemas.microsoft.com/office/drawing/2014/main" id="{7141B794-EAEB-5D46-8ABD-C564B01EEA4D}"/>
              </a:ext>
            </a:extLst>
          </p:cNvPr>
          <p:cNvPicPr>
            <a:picLocks noChangeAspect="1"/>
          </p:cNvPicPr>
          <p:nvPr/>
        </p:nvPicPr>
        <p:blipFill>
          <a:blip r:embed="rId4"/>
          <a:stretch>
            <a:fillRect/>
          </a:stretch>
        </p:blipFill>
        <p:spPr>
          <a:xfrm>
            <a:off x="1691680" y="1472256"/>
            <a:ext cx="6223000" cy="1803400"/>
          </a:xfrm>
          <a:prstGeom prst="rect">
            <a:avLst/>
          </a:prstGeom>
        </p:spPr>
      </p:pic>
      <p:sp>
        <p:nvSpPr>
          <p:cNvPr id="7" name="文本框 6">
            <a:extLst>
              <a:ext uri="{FF2B5EF4-FFF2-40B4-BE49-F238E27FC236}">
                <a16:creationId xmlns:a16="http://schemas.microsoft.com/office/drawing/2014/main" id="{6CA222D5-4F76-BA98-1B2F-2F1621D0716B}"/>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7190537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6768752" cy="800219"/>
          </a:xfrm>
          <a:prstGeom prst="rect">
            <a:avLst/>
          </a:prstGeom>
          <a:noFill/>
        </p:spPr>
        <p:txBody>
          <a:bodyPr wrap="square">
            <a:spAutoFit/>
          </a:bodyPr>
          <a:lstStyle/>
          <a:p>
            <a:r>
              <a:rPr lang="en-US" altLang="zh-CN" sz="2800" b="1" dirty="0">
                <a:effectLst/>
                <a:latin typeface="TimesNewRomanPS"/>
              </a:rPr>
              <a:t>2.2</a:t>
            </a:r>
            <a:r>
              <a:rPr lang="zh-CN" altLang="en-US" sz="2800" b="1" dirty="0">
                <a:effectLst/>
                <a:latin typeface="TimesNewRomanPS"/>
              </a:rPr>
              <a:t> 带停止的自动保持电路</a:t>
            </a:r>
            <a:endParaRPr lang="zh-CN" altLang="en-US" sz="2400" dirty="0"/>
          </a:p>
          <a:p>
            <a:r>
              <a:rPr lang="zh-CN" altLang="en-US" sz="1800" dirty="0">
                <a:effectLst/>
                <a:latin typeface="SimSun" panose="02010600030101010101" pitchFamily="2" charset="-122"/>
                <a:ea typeface="SimSun" panose="02010600030101010101" pitchFamily="2" charset="-122"/>
              </a:rPr>
              <a:t>为保持电路状态的一种基本形式，主要用于保持外部信号状态。 </a:t>
            </a:r>
            <a:endParaRPr lang="zh-CN" altLang="en-US" dirty="0">
              <a:effectLst/>
            </a:endParaRPr>
          </a:p>
        </p:txBody>
      </p:sp>
      <p:pic>
        <p:nvPicPr>
          <p:cNvPr id="3" name="图片 2">
            <a:extLst>
              <a:ext uri="{FF2B5EF4-FFF2-40B4-BE49-F238E27FC236}">
                <a16:creationId xmlns:a16="http://schemas.microsoft.com/office/drawing/2014/main" id="{452562AD-1378-A741-8EDB-0BE3E1D82AA4}"/>
              </a:ext>
            </a:extLst>
          </p:cNvPr>
          <p:cNvPicPr>
            <a:picLocks noChangeAspect="1"/>
          </p:cNvPicPr>
          <p:nvPr/>
        </p:nvPicPr>
        <p:blipFill>
          <a:blip r:embed="rId2"/>
          <a:stretch>
            <a:fillRect/>
          </a:stretch>
        </p:blipFill>
        <p:spPr>
          <a:xfrm>
            <a:off x="683568" y="1317256"/>
            <a:ext cx="8084126" cy="2762230"/>
          </a:xfrm>
          <a:prstGeom prst="rect">
            <a:avLst/>
          </a:prstGeom>
        </p:spPr>
      </p:pic>
      <p:sp>
        <p:nvSpPr>
          <p:cNvPr id="8" name="文本框 7">
            <a:extLst>
              <a:ext uri="{FF2B5EF4-FFF2-40B4-BE49-F238E27FC236}">
                <a16:creationId xmlns:a16="http://schemas.microsoft.com/office/drawing/2014/main" id="{8AC46F8D-B6EC-C14E-B57C-1D1A4A26BA5A}"/>
              </a:ext>
            </a:extLst>
          </p:cNvPr>
          <p:cNvSpPr txBox="1"/>
          <p:nvPr/>
        </p:nvSpPr>
        <p:spPr>
          <a:xfrm>
            <a:off x="311606" y="5251587"/>
            <a:ext cx="8520788" cy="1200329"/>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开机 </a:t>
            </a:r>
            <a:r>
              <a:rPr lang="en-US" altLang="zh-CN" sz="1800" dirty="0">
                <a:effectLst/>
                <a:latin typeface="SimSun" panose="02010600030101010101" pitchFamily="2" charset="-122"/>
                <a:ea typeface="SimSun" panose="02010600030101010101" pitchFamily="2" charset="-122"/>
              </a:rPr>
              <a:t>= </a:t>
            </a:r>
            <a:r>
              <a:rPr lang="zh-CN" altLang="en-US" sz="1800" dirty="0">
                <a:effectLst/>
                <a:latin typeface="SimSun" panose="02010600030101010101" pitchFamily="2" charset="-122"/>
                <a:ea typeface="SimSun" panose="02010600030101010101" pitchFamily="2" charset="-122"/>
              </a:rPr>
              <a:t>按下常开按钮 </a:t>
            </a:r>
            <a:r>
              <a:rPr lang="en-US" altLang="zh-CN" sz="1800" dirty="0">
                <a:effectLst/>
                <a:latin typeface="SimSun" panose="02010600030101010101" pitchFamily="2" charset="-122"/>
                <a:ea typeface="SimSun" panose="02010600030101010101" pitchFamily="2" charset="-122"/>
              </a:rPr>
              <a:t>0 → </a:t>
            </a:r>
            <a:r>
              <a:rPr lang="zh-CN" altLang="en-US" sz="1800" dirty="0">
                <a:effectLst/>
                <a:latin typeface="SimSun" panose="02010600030101010101" pitchFamily="2" charset="-122"/>
                <a:ea typeface="SimSun" panose="02010600030101010101" pitchFamily="2" charset="-122"/>
              </a:rPr>
              <a:t>继电器线圈 </a:t>
            </a:r>
            <a:r>
              <a:rPr lang="en" altLang="zh-CN" sz="1800" dirty="0">
                <a:effectLst/>
                <a:latin typeface="SimSun" panose="02010600030101010101" pitchFamily="2" charset="-122"/>
                <a:ea typeface="SimSun" panose="02010600030101010101" pitchFamily="2" charset="-122"/>
              </a:rPr>
              <a:t>J0 </a:t>
            </a:r>
            <a:r>
              <a:rPr lang="zh-CN" altLang="en-US" sz="1800" dirty="0">
                <a:effectLst/>
                <a:latin typeface="SimSun" panose="02010600030101010101" pitchFamily="2" charset="-122"/>
                <a:ea typeface="SimSun" panose="02010600030101010101" pitchFamily="2" charset="-122"/>
              </a:rPr>
              <a:t>得电 → </a:t>
            </a:r>
            <a:r>
              <a:rPr lang="en" altLang="zh-CN" sz="1800" dirty="0">
                <a:effectLst/>
                <a:latin typeface="SimSun" panose="02010600030101010101" pitchFamily="2" charset="-122"/>
                <a:ea typeface="SimSun" panose="02010600030101010101" pitchFamily="2" charset="-122"/>
              </a:rPr>
              <a:t>J0 </a:t>
            </a:r>
            <a:r>
              <a:rPr lang="zh-CN" altLang="en-US" sz="1800" dirty="0">
                <a:effectLst/>
                <a:latin typeface="SimSun" panose="02010600030101010101" pitchFamily="2" charset="-122"/>
                <a:ea typeface="SimSun" panose="02010600030101010101" pitchFamily="2" charset="-122"/>
              </a:rPr>
              <a:t>常开主触点闭合 → 电机得电开机、同时 </a:t>
            </a:r>
            <a:r>
              <a:rPr lang="en" altLang="zh-CN" sz="1800" dirty="0">
                <a:effectLst/>
                <a:latin typeface="SimSun" panose="02010600030101010101" pitchFamily="2" charset="-122"/>
                <a:ea typeface="SimSun" panose="02010600030101010101" pitchFamily="2" charset="-122"/>
              </a:rPr>
              <a:t>J0 </a:t>
            </a:r>
            <a:r>
              <a:rPr lang="zh-CN" altLang="en-US" sz="1800" dirty="0">
                <a:effectLst/>
                <a:latin typeface="SimSun" panose="02010600030101010101" pitchFamily="2" charset="-122"/>
                <a:ea typeface="SimSun" panose="02010600030101010101" pitchFamily="2" charset="-122"/>
              </a:rPr>
              <a:t>常 开辅助触点自锁 → 电机继续运行，如图 </a:t>
            </a:r>
            <a:r>
              <a:rPr lang="en-US" altLang="zh-CN" sz="1800" dirty="0">
                <a:effectLst/>
                <a:latin typeface="SimSun" panose="02010600030101010101" pitchFamily="2" charset="-122"/>
                <a:ea typeface="SimSun" panose="02010600030101010101" pitchFamily="2" charset="-122"/>
              </a:rPr>
              <a:t>2-8</a:t>
            </a:r>
            <a:r>
              <a:rPr lang="zh-CN" altLang="en-US" sz="1800" dirty="0">
                <a:effectLst/>
                <a:latin typeface="SimSun" panose="02010600030101010101" pitchFamily="2" charset="-122"/>
                <a:ea typeface="SimSun" panose="02010600030101010101" pitchFamily="2" charset="-122"/>
              </a:rPr>
              <a:t>。 </a:t>
            </a:r>
            <a:endParaRPr lang="zh-CN" altLang="en-US" dirty="0"/>
          </a:p>
          <a:p>
            <a:r>
              <a:rPr lang="zh-CN" altLang="en-US" sz="1800" dirty="0">
                <a:effectLst/>
                <a:latin typeface="SimSun" panose="02010600030101010101" pitchFamily="2" charset="-122"/>
                <a:ea typeface="SimSun" panose="02010600030101010101" pitchFamily="2" charset="-122"/>
              </a:rPr>
              <a:t>停机 </a:t>
            </a:r>
            <a:r>
              <a:rPr lang="en-US" altLang="zh-CN" sz="1800" dirty="0">
                <a:effectLst/>
                <a:latin typeface="SimSun" panose="02010600030101010101" pitchFamily="2" charset="-122"/>
                <a:ea typeface="SimSun" panose="02010600030101010101" pitchFamily="2" charset="-122"/>
              </a:rPr>
              <a:t>= </a:t>
            </a:r>
            <a:r>
              <a:rPr lang="zh-CN" altLang="en-US" sz="1800" dirty="0">
                <a:effectLst/>
                <a:latin typeface="SimSun" panose="02010600030101010101" pitchFamily="2" charset="-122"/>
                <a:ea typeface="SimSun" panose="02010600030101010101" pitchFamily="2" charset="-122"/>
              </a:rPr>
              <a:t>按下常闭按钮 </a:t>
            </a:r>
            <a:r>
              <a:rPr lang="en-US" altLang="zh-CN" sz="1800" dirty="0">
                <a:effectLst/>
                <a:latin typeface="SimSun" panose="02010600030101010101" pitchFamily="2" charset="-122"/>
                <a:ea typeface="SimSun" panose="02010600030101010101" pitchFamily="2" charset="-122"/>
              </a:rPr>
              <a:t>1 → </a:t>
            </a:r>
            <a:r>
              <a:rPr lang="zh-CN" altLang="en-US" sz="1800" dirty="0">
                <a:effectLst/>
                <a:latin typeface="SimSun" panose="02010600030101010101" pitchFamily="2" charset="-122"/>
                <a:ea typeface="SimSun" panose="02010600030101010101" pitchFamily="2" charset="-122"/>
              </a:rPr>
              <a:t>继电器线圈 </a:t>
            </a:r>
            <a:r>
              <a:rPr lang="en" altLang="zh-CN" sz="1800" dirty="0">
                <a:effectLst/>
                <a:latin typeface="SimSun" panose="02010600030101010101" pitchFamily="2" charset="-122"/>
                <a:ea typeface="SimSun" panose="02010600030101010101" pitchFamily="2" charset="-122"/>
              </a:rPr>
              <a:t>J0 </a:t>
            </a:r>
            <a:r>
              <a:rPr lang="zh-CN" altLang="en-US" sz="1800" dirty="0">
                <a:effectLst/>
                <a:latin typeface="SimSun" panose="02010600030101010101" pitchFamily="2" charset="-122"/>
                <a:ea typeface="SimSun" panose="02010600030101010101" pitchFamily="2" charset="-122"/>
              </a:rPr>
              <a:t>失电、同时 </a:t>
            </a:r>
            <a:r>
              <a:rPr lang="en" altLang="zh-CN" sz="1800" dirty="0">
                <a:effectLst/>
                <a:latin typeface="SimSun" panose="02010600030101010101" pitchFamily="2" charset="-122"/>
                <a:ea typeface="SimSun" panose="02010600030101010101" pitchFamily="2" charset="-122"/>
              </a:rPr>
              <a:t>J0 </a:t>
            </a:r>
            <a:r>
              <a:rPr lang="zh-CN" altLang="en-US" sz="1800" dirty="0">
                <a:effectLst/>
                <a:latin typeface="SimSun" panose="02010600030101010101" pitchFamily="2" charset="-122"/>
                <a:ea typeface="SimSun" panose="02010600030101010101" pitchFamily="2" charset="-122"/>
              </a:rPr>
              <a:t>辅助触点断开→ 电机失电停机，如图 </a:t>
            </a:r>
            <a:r>
              <a:rPr lang="en-US" altLang="zh-CN" sz="1800" dirty="0">
                <a:effectLst/>
                <a:latin typeface="SimSun" panose="02010600030101010101" pitchFamily="2" charset="-122"/>
                <a:ea typeface="SimSun" panose="02010600030101010101" pitchFamily="2" charset="-122"/>
              </a:rPr>
              <a:t>2-7</a:t>
            </a:r>
            <a:r>
              <a:rPr lang="zh-CN" altLang="en-US" sz="1800" dirty="0">
                <a:effectLst/>
                <a:latin typeface="SimSun" panose="02010600030101010101" pitchFamily="2" charset="-122"/>
                <a:ea typeface="SimSun" panose="02010600030101010101" pitchFamily="2" charset="-122"/>
              </a:rPr>
              <a:t>。 </a:t>
            </a:r>
            <a:endParaRPr lang="zh-CN" altLang="en-US" dirty="0"/>
          </a:p>
        </p:txBody>
      </p:sp>
      <p:pic>
        <p:nvPicPr>
          <p:cNvPr id="6" name="图片 5">
            <a:extLst>
              <a:ext uri="{FF2B5EF4-FFF2-40B4-BE49-F238E27FC236}">
                <a16:creationId xmlns:a16="http://schemas.microsoft.com/office/drawing/2014/main" id="{6198B0C1-2B20-7740-B51B-1142EC7E9156}"/>
              </a:ext>
            </a:extLst>
          </p:cNvPr>
          <p:cNvPicPr>
            <a:picLocks noChangeAspect="1"/>
          </p:cNvPicPr>
          <p:nvPr/>
        </p:nvPicPr>
        <p:blipFill>
          <a:blip r:embed="rId3"/>
          <a:stretch>
            <a:fillRect/>
          </a:stretch>
        </p:blipFill>
        <p:spPr>
          <a:xfrm>
            <a:off x="708518" y="1403240"/>
            <a:ext cx="7584677" cy="3540565"/>
          </a:xfrm>
          <a:prstGeom prst="rect">
            <a:avLst/>
          </a:prstGeom>
        </p:spPr>
      </p:pic>
      <p:sp>
        <p:nvSpPr>
          <p:cNvPr id="5" name="文本框 4">
            <a:extLst>
              <a:ext uri="{FF2B5EF4-FFF2-40B4-BE49-F238E27FC236}">
                <a16:creationId xmlns:a16="http://schemas.microsoft.com/office/drawing/2014/main" id="{BC411199-B6C7-2A2B-013D-AF24A3EFD01F}"/>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20531713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077218"/>
          </a:xfrm>
          <a:prstGeom prst="rect">
            <a:avLst/>
          </a:prstGeom>
          <a:noFill/>
        </p:spPr>
        <p:txBody>
          <a:bodyPr wrap="square">
            <a:spAutoFit/>
          </a:bodyPr>
          <a:lstStyle/>
          <a:p>
            <a:r>
              <a:rPr lang="en-US" altLang="zh-CN" sz="2800" b="1" dirty="0">
                <a:effectLst/>
                <a:latin typeface="TimesNewRomanPS"/>
              </a:rPr>
              <a:t>2.3</a:t>
            </a:r>
            <a:r>
              <a:rPr lang="zh-CN" altLang="en-US" sz="2800" b="1" dirty="0">
                <a:effectLst/>
                <a:latin typeface="TimesNewRomanPS"/>
              </a:rPr>
              <a:t> 自保持互锁电路 </a:t>
            </a:r>
            <a:endParaRPr lang="zh-CN" altLang="en-US" sz="2400" dirty="0"/>
          </a:p>
          <a:p>
            <a:r>
              <a:rPr lang="zh-CN" altLang="en-US" sz="1800" dirty="0">
                <a:effectLst/>
                <a:latin typeface="SimSun" panose="02010600030101010101" pitchFamily="2" charset="-122"/>
                <a:ea typeface="SimSun" panose="02010600030101010101" pitchFamily="2" charset="-122"/>
              </a:rPr>
              <a:t>一个停止按钮，两个启动按钮，以先动作的信号优先另一信号因受联锁作用，在停止信号未动作前用不会动作。典型的应用可作电机正反转控制。</a:t>
            </a:r>
            <a:endParaRPr lang="zh-CN" altLang="en-US" dirty="0"/>
          </a:p>
        </p:txBody>
      </p:sp>
      <p:pic>
        <p:nvPicPr>
          <p:cNvPr id="2" name="图片 1">
            <a:extLst>
              <a:ext uri="{FF2B5EF4-FFF2-40B4-BE49-F238E27FC236}">
                <a16:creationId xmlns:a16="http://schemas.microsoft.com/office/drawing/2014/main" id="{17ABDB97-6825-9B4B-8B59-ED4369A21095}"/>
              </a:ext>
            </a:extLst>
          </p:cNvPr>
          <p:cNvPicPr>
            <a:picLocks noChangeAspect="1"/>
          </p:cNvPicPr>
          <p:nvPr/>
        </p:nvPicPr>
        <p:blipFill>
          <a:blip r:embed="rId2"/>
          <a:stretch>
            <a:fillRect/>
          </a:stretch>
        </p:blipFill>
        <p:spPr>
          <a:xfrm>
            <a:off x="1000633" y="1412777"/>
            <a:ext cx="7603815" cy="3587604"/>
          </a:xfrm>
          <a:prstGeom prst="rect">
            <a:avLst/>
          </a:prstGeom>
        </p:spPr>
      </p:pic>
      <p:pic>
        <p:nvPicPr>
          <p:cNvPr id="5" name="图片 4">
            <a:extLst>
              <a:ext uri="{FF2B5EF4-FFF2-40B4-BE49-F238E27FC236}">
                <a16:creationId xmlns:a16="http://schemas.microsoft.com/office/drawing/2014/main" id="{F695A683-74FA-2F4C-8087-1C92D2148D35}"/>
              </a:ext>
            </a:extLst>
          </p:cNvPr>
          <p:cNvPicPr>
            <a:picLocks noChangeAspect="1"/>
          </p:cNvPicPr>
          <p:nvPr/>
        </p:nvPicPr>
        <p:blipFill>
          <a:blip r:embed="rId3"/>
          <a:stretch>
            <a:fillRect/>
          </a:stretch>
        </p:blipFill>
        <p:spPr>
          <a:xfrm>
            <a:off x="1714968" y="4515213"/>
            <a:ext cx="6021325" cy="2239494"/>
          </a:xfrm>
          <a:prstGeom prst="rect">
            <a:avLst/>
          </a:prstGeom>
        </p:spPr>
      </p:pic>
      <p:sp>
        <p:nvSpPr>
          <p:cNvPr id="12" name="文本框 11">
            <a:extLst>
              <a:ext uri="{FF2B5EF4-FFF2-40B4-BE49-F238E27FC236}">
                <a16:creationId xmlns:a16="http://schemas.microsoft.com/office/drawing/2014/main" id="{9D40C3CD-9BA7-5E56-A4AA-1BED7946B9FE}"/>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28284856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077218"/>
          </a:xfrm>
          <a:prstGeom prst="rect">
            <a:avLst/>
          </a:prstGeom>
          <a:noFill/>
        </p:spPr>
        <p:txBody>
          <a:bodyPr wrap="square">
            <a:spAutoFit/>
          </a:bodyPr>
          <a:lstStyle/>
          <a:p>
            <a:r>
              <a:rPr lang="en-US" altLang="zh-CN" sz="2800" b="1" dirty="0">
                <a:effectLst/>
                <a:latin typeface="TimesNewRomanPS"/>
              </a:rPr>
              <a:t>2.4</a:t>
            </a:r>
            <a:r>
              <a:rPr lang="zh-CN" altLang="en-US" sz="2800" b="1" dirty="0">
                <a:effectLst/>
                <a:latin typeface="TimesNewRomanPS"/>
              </a:rPr>
              <a:t> 先动作优先电路</a:t>
            </a:r>
            <a:endParaRPr lang="zh-CN" altLang="en-US" sz="2400" dirty="0"/>
          </a:p>
          <a:p>
            <a:r>
              <a:rPr lang="zh-CN" altLang="en-US" sz="1800" dirty="0">
                <a:effectLst/>
                <a:latin typeface="SimSun" panose="02010600030101010101" pitchFamily="2" charset="-122"/>
                <a:ea typeface="SimSun" panose="02010600030101010101" pitchFamily="2" charset="-122"/>
              </a:rPr>
              <a:t>在多个输入信号的线路中，以最先动作的信号优先。在最先输入的信号未除去之时，其它信号无法动作。 </a:t>
            </a:r>
            <a:endParaRPr lang="zh-CN" altLang="en-US" dirty="0"/>
          </a:p>
        </p:txBody>
      </p:sp>
      <p:pic>
        <p:nvPicPr>
          <p:cNvPr id="3" name="图片 2">
            <a:extLst>
              <a:ext uri="{FF2B5EF4-FFF2-40B4-BE49-F238E27FC236}">
                <a16:creationId xmlns:a16="http://schemas.microsoft.com/office/drawing/2014/main" id="{F273B090-CAA0-E24D-A757-2E0F3C662889}"/>
              </a:ext>
            </a:extLst>
          </p:cNvPr>
          <p:cNvPicPr>
            <a:picLocks noChangeAspect="1"/>
          </p:cNvPicPr>
          <p:nvPr/>
        </p:nvPicPr>
        <p:blipFill>
          <a:blip r:embed="rId2"/>
          <a:stretch>
            <a:fillRect/>
          </a:stretch>
        </p:blipFill>
        <p:spPr>
          <a:xfrm>
            <a:off x="251520" y="1481882"/>
            <a:ext cx="6340567" cy="4971454"/>
          </a:xfrm>
          <a:prstGeom prst="rect">
            <a:avLst/>
          </a:prstGeom>
        </p:spPr>
      </p:pic>
      <p:sp>
        <p:nvSpPr>
          <p:cNvPr id="7" name="文本框 6">
            <a:extLst>
              <a:ext uri="{FF2B5EF4-FFF2-40B4-BE49-F238E27FC236}">
                <a16:creationId xmlns:a16="http://schemas.microsoft.com/office/drawing/2014/main" id="{06943E64-E7C6-4347-A36A-3B9E1977AD0E}"/>
              </a:ext>
            </a:extLst>
          </p:cNvPr>
          <p:cNvSpPr txBox="1"/>
          <p:nvPr/>
        </p:nvSpPr>
        <p:spPr>
          <a:xfrm>
            <a:off x="6660232" y="1700808"/>
            <a:ext cx="2411760" cy="2862322"/>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常开按扭 </a:t>
            </a:r>
            <a:r>
              <a:rPr lang="en-US" altLang="zh-CN" sz="1800" dirty="0">
                <a:effectLst/>
                <a:latin typeface="SimSun" panose="02010600030101010101" pitchFamily="2" charset="-122"/>
                <a:ea typeface="SimSun" panose="02010600030101010101" pitchFamily="2" charset="-122"/>
              </a:rPr>
              <a:t>0 </a:t>
            </a:r>
            <a:r>
              <a:rPr lang="zh-CN" altLang="en-US" sz="1800" dirty="0">
                <a:effectLst/>
                <a:latin typeface="SimSun" panose="02010600030101010101" pitchFamily="2" charset="-122"/>
                <a:ea typeface="SimSun" panose="02010600030101010101" pitchFamily="2" charset="-122"/>
              </a:rPr>
              <a:t>到 </a:t>
            </a:r>
            <a:r>
              <a:rPr lang="en-US" altLang="zh-CN" sz="1800" dirty="0">
                <a:effectLst/>
                <a:latin typeface="SimSun" panose="02010600030101010101" pitchFamily="2" charset="-122"/>
                <a:ea typeface="SimSun" panose="02010600030101010101" pitchFamily="2" charset="-122"/>
              </a:rPr>
              <a:t>3 </a:t>
            </a:r>
            <a:r>
              <a:rPr lang="zh-CN" altLang="en-US" sz="1800" dirty="0">
                <a:effectLst/>
                <a:latin typeface="SimSun" panose="02010600030101010101" pitchFamily="2" charset="-122"/>
                <a:ea typeface="SimSun" panose="02010600030101010101" pitchFamily="2" charset="-122"/>
              </a:rPr>
              <a:t>不管哪一个按下时，其对应的继电器线圈得电，相应的常开触点闭合自锁，同时</a:t>
            </a:r>
            <a:r>
              <a:rPr lang="en" altLang="zh-CN" sz="1800" dirty="0">
                <a:effectLst/>
                <a:latin typeface="SimSun" panose="02010600030101010101" pitchFamily="2" charset="-122"/>
                <a:ea typeface="SimSun" panose="02010600030101010101" pitchFamily="2" charset="-122"/>
              </a:rPr>
              <a:t>J4</a:t>
            </a:r>
            <a:r>
              <a:rPr lang="zh-CN" altLang="en-US" sz="1800" dirty="0">
                <a:effectLst/>
                <a:latin typeface="SimSun" panose="02010600030101010101" pitchFamily="2" charset="-122"/>
                <a:ea typeface="SimSun" panose="02010600030101010101" pitchFamily="2" charset="-122"/>
              </a:rPr>
              <a:t>继电器也动作断开其它 </a:t>
            </a:r>
            <a:r>
              <a:rPr lang="en-US" altLang="zh-CN" sz="1800" dirty="0">
                <a:effectLst/>
                <a:latin typeface="SimSun" panose="02010600030101010101" pitchFamily="2" charset="-122"/>
                <a:ea typeface="SimSun" panose="02010600030101010101" pitchFamily="2" charset="-122"/>
              </a:rPr>
              <a:t>3 </a:t>
            </a:r>
            <a:r>
              <a:rPr lang="zh-CN" altLang="en-US" sz="1800" dirty="0">
                <a:effectLst/>
                <a:latin typeface="SimSun" panose="02010600030101010101" pitchFamily="2" charset="-122"/>
                <a:ea typeface="SimSun" panose="02010600030101010101" pitchFamily="2" charset="-122"/>
              </a:rPr>
              <a:t>组的供电，只要最先得电的继电器不断电，其它继电器就无法动作。</a:t>
            </a:r>
            <a:endParaRPr lang="zh-CN" altLang="en-US" dirty="0"/>
          </a:p>
        </p:txBody>
      </p:sp>
      <p:sp>
        <p:nvSpPr>
          <p:cNvPr id="9" name="文本框 8">
            <a:extLst>
              <a:ext uri="{FF2B5EF4-FFF2-40B4-BE49-F238E27FC236}">
                <a16:creationId xmlns:a16="http://schemas.microsoft.com/office/drawing/2014/main" id="{50E5E849-80AA-7442-AA5D-4D63781EE94A}"/>
              </a:ext>
            </a:extLst>
          </p:cNvPr>
          <p:cNvSpPr txBox="1"/>
          <p:nvPr/>
        </p:nvSpPr>
        <p:spPr>
          <a:xfrm>
            <a:off x="6550971" y="4782056"/>
            <a:ext cx="2630282" cy="923330"/>
          </a:xfrm>
          <a:prstGeom prst="rect">
            <a:avLst/>
          </a:prstGeom>
          <a:noFill/>
        </p:spPr>
        <p:txBody>
          <a:bodyPr wrap="square">
            <a:spAutoFit/>
          </a:bodyPr>
          <a:lstStyle/>
          <a:p>
            <a:r>
              <a:rPr lang="zh-CN" altLang="en-US" sz="1800" dirty="0">
                <a:solidFill>
                  <a:srgbClr val="FF0000"/>
                </a:solidFill>
                <a:effectLst/>
                <a:latin typeface="SimSun" panose="02010600030101010101" pitchFamily="2" charset="-122"/>
                <a:ea typeface="SimSun" panose="02010600030101010101" pitchFamily="2" charset="-122"/>
              </a:rPr>
              <a:t>此电路只要在电源输入端加一个复位开关，可作抢答器用。 </a:t>
            </a:r>
            <a:endParaRPr lang="zh-CN" altLang="en-US" dirty="0">
              <a:solidFill>
                <a:srgbClr val="FF0000"/>
              </a:solidFill>
            </a:endParaRPr>
          </a:p>
        </p:txBody>
      </p:sp>
      <p:sp>
        <p:nvSpPr>
          <p:cNvPr id="5" name="文本框 4">
            <a:extLst>
              <a:ext uri="{FF2B5EF4-FFF2-40B4-BE49-F238E27FC236}">
                <a16:creationId xmlns:a16="http://schemas.microsoft.com/office/drawing/2014/main" id="{5F16F157-7E17-E36E-1D70-6241E36F65D1}"/>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9565422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077218"/>
          </a:xfrm>
          <a:prstGeom prst="rect">
            <a:avLst/>
          </a:prstGeom>
          <a:noFill/>
        </p:spPr>
        <p:txBody>
          <a:bodyPr wrap="square">
            <a:spAutoFit/>
          </a:bodyPr>
          <a:lstStyle/>
          <a:p>
            <a:r>
              <a:rPr lang="en-US" altLang="zh-CN" sz="2800" b="1" dirty="0">
                <a:effectLst/>
                <a:latin typeface="TimesNewRomanPS"/>
              </a:rPr>
              <a:t>2.5</a:t>
            </a:r>
            <a:r>
              <a:rPr lang="zh-CN" altLang="en-US" sz="2800" b="1" dirty="0">
                <a:effectLst/>
                <a:latin typeface="TimesNewRomanPS"/>
              </a:rPr>
              <a:t> 后动作优先电路</a:t>
            </a:r>
            <a:endParaRPr lang="zh-CN" altLang="en-US" sz="2400" dirty="0"/>
          </a:p>
          <a:p>
            <a:r>
              <a:rPr lang="zh-CN" altLang="en-US" sz="1800" dirty="0">
                <a:effectLst/>
                <a:latin typeface="SimSun" panose="02010600030101010101" pitchFamily="2" charset="-122"/>
                <a:ea typeface="SimSun" panose="02010600030101010101" pitchFamily="2" charset="-122"/>
              </a:rPr>
              <a:t>在多个输入信号的线路中，以最后动作的信号优先。前面动作所决定的状态自行解除。 </a:t>
            </a:r>
            <a:endParaRPr lang="zh-CN" altLang="en-US" dirty="0"/>
          </a:p>
        </p:txBody>
      </p:sp>
      <p:sp>
        <p:nvSpPr>
          <p:cNvPr id="7" name="文本框 6">
            <a:extLst>
              <a:ext uri="{FF2B5EF4-FFF2-40B4-BE49-F238E27FC236}">
                <a16:creationId xmlns:a16="http://schemas.microsoft.com/office/drawing/2014/main" id="{06943E64-E7C6-4347-A36A-3B9E1977AD0E}"/>
              </a:ext>
            </a:extLst>
          </p:cNvPr>
          <p:cNvSpPr txBox="1"/>
          <p:nvPr/>
        </p:nvSpPr>
        <p:spPr>
          <a:xfrm>
            <a:off x="6300192" y="1700808"/>
            <a:ext cx="2771800" cy="2031325"/>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在电路通电的任何状态按下常开按扭 </a:t>
            </a:r>
            <a:r>
              <a:rPr lang="en-US" altLang="zh-CN" sz="1800" dirty="0">
                <a:effectLst/>
                <a:latin typeface="SimSun" panose="02010600030101010101" pitchFamily="2" charset="-122"/>
                <a:ea typeface="SimSun" panose="02010600030101010101" pitchFamily="2" charset="-122"/>
              </a:rPr>
              <a:t>0 </a:t>
            </a:r>
            <a:r>
              <a:rPr lang="zh-CN" altLang="en-US" sz="1800" dirty="0">
                <a:effectLst/>
                <a:latin typeface="SimSun" panose="02010600030101010101" pitchFamily="2" charset="-122"/>
                <a:ea typeface="SimSun" panose="02010600030101010101" pitchFamily="2" charset="-122"/>
              </a:rPr>
              <a:t>到 </a:t>
            </a:r>
            <a:r>
              <a:rPr lang="en-US" altLang="zh-CN" sz="1800" dirty="0">
                <a:effectLst/>
                <a:latin typeface="SimSun" panose="02010600030101010101" pitchFamily="2" charset="-122"/>
                <a:ea typeface="SimSun" panose="02010600030101010101" pitchFamily="2" charset="-122"/>
              </a:rPr>
              <a:t>3 </a:t>
            </a:r>
            <a:r>
              <a:rPr lang="zh-CN" altLang="en-US" sz="1800" dirty="0">
                <a:effectLst/>
                <a:latin typeface="SimSun" panose="02010600030101010101" pitchFamily="2" charset="-122"/>
                <a:ea typeface="SimSun" panose="02010600030101010101" pitchFamily="2" charset="-122"/>
              </a:rPr>
              <a:t>时对应的继电器线圈得电，其相应的常闭触点断开、同时解 除其它线圈的自锁</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自保持</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状态。</a:t>
            </a:r>
            <a:br>
              <a:rPr lang="zh-CN" altLang="en-US" sz="1800" dirty="0">
                <a:effectLst/>
                <a:latin typeface="SimSun" panose="02010600030101010101" pitchFamily="2" charset="-122"/>
                <a:ea typeface="SimSun" panose="02010600030101010101" pitchFamily="2" charset="-122"/>
              </a:rPr>
            </a:br>
            <a:endParaRPr lang="zh-CN" altLang="en-US" dirty="0"/>
          </a:p>
        </p:txBody>
      </p:sp>
      <p:sp>
        <p:nvSpPr>
          <p:cNvPr id="9" name="文本框 8">
            <a:extLst>
              <a:ext uri="{FF2B5EF4-FFF2-40B4-BE49-F238E27FC236}">
                <a16:creationId xmlns:a16="http://schemas.microsoft.com/office/drawing/2014/main" id="{50E5E849-80AA-7442-AA5D-4D63781EE94A}"/>
              </a:ext>
            </a:extLst>
          </p:cNvPr>
          <p:cNvSpPr txBox="1"/>
          <p:nvPr/>
        </p:nvSpPr>
        <p:spPr>
          <a:xfrm>
            <a:off x="6550971" y="4782056"/>
            <a:ext cx="2630282" cy="1200329"/>
          </a:xfrm>
          <a:prstGeom prst="rect">
            <a:avLst/>
          </a:prstGeom>
          <a:noFill/>
        </p:spPr>
        <p:txBody>
          <a:bodyPr wrap="square">
            <a:spAutoFit/>
          </a:bodyPr>
          <a:lstStyle/>
          <a:p>
            <a:r>
              <a:rPr lang="zh-CN" altLang="en-US" dirty="0">
                <a:solidFill>
                  <a:srgbClr val="FF0000"/>
                </a:solidFill>
                <a:latin typeface="SimSun" panose="02010600030101010101" pitchFamily="2" charset="-122"/>
                <a:ea typeface="SimSun" panose="02010600030101010101" pitchFamily="2" charset="-122"/>
              </a:rPr>
              <a:t>此电路可在电源输入端加一个复位常闭按钮可作程序选择、生产期顺序控制电路等。 </a:t>
            </a:r>
          </a:p>
        </p:txBody>
      </p:sp>
      <p:pic>
        <p:nvPicPr>
          <p:cNvPr id="2" name="图片 1">
            <a:extLst>
              <a:ext uri="{FF2B5EF4-FFF2-40B4-BE49-F238E27FC236}">
                <a16:creationId xmlns:a16="http://schemas.microsoft.com/office/drawing/2014/main" id="{F1B2357D-8F23-8D46-8AEF-B305029126A7}"/>
              </a:ext>
            </a:extLst>
          </p:cNvPr>
          <p:cNvPicPr>
            <a:picLocks noChangeAspect="1"/>
          </p:cNvPicPr>
          <p:nvPr/>
        </p:nvPicPr>
        <p:blipFill>
          <a:blip r:embed="rId2"/>
          <a:stretch>
            <a:fillRect/>
          </a:stretch>
        </p:blipFill>
        <p:spPr>
          <a:xfrm>
            <a:off x="400240" y="1481882"/>
            <a:ext cx="5755935" cy="5263256"/>
          </a:xfrm>
          <a:prstGeom prst="rect">
            <a:avLst/>
          </a:prstGeom>
        </p:spPr>
      </p:pic>
    </p:spTree>
    <p:extLst>
      <p:ext uri="{BB962C8B-B14F-4D97-AF65-F5344CB8AC3E}">
        <p14:creationId xmlns:p14="http://schemas.microsoft.com/office/powerpoint/2010/main" val="33973483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354217"/>
          </a:xfrm>
          <a:prstGeom prst="rect">
            <a:avLst/>
          </a:prstGeom>
          <a:noFill/>
        </p:spPr>
        <p:txBody>
          <a:bodyPr wrap="square">
            <a:spAutoFit/>
          </a:bodyPr>
          <a:lstStyle/>
          <a:p>
            <a:r>
              <a:rPr lang="en-US" altLang="zh-CN" sz="2800" b="1" dirty="0">
                <a:effectLst/>
                <a:latin typeface="TimesNewRomanPS"/>
              </a:rPr>
              <a:t>2.6</a:t>
            </a:r>
            <a:r>
              <a:rPr lang="zh-CN" altLang="en-US" sz="2800" b="1" dirty="0">
                <a:effectLst/>
                <a:latin typeface="TimesNewRomanPS"/>
              </a:rPr>
              <a:t> 时间继电器（延时继电器）</a:t>
            </a:r>
            <a:endParaRPr lang="zh-CN" altLang="en-US" sz="2400" dirty="0"/>
          </a:p>
          <a:p>
            <a:r>
              <a:rPr lang="zh-CN" altLang="en-US" sz="1800" dirty="0">
                <a:effectLst/>
                <a:latin typeface="SimSun" panose="02010600030101010101" pitchFamily="2" charset="-122"/>
                <a:ea typeface="SimSun" panose="02010600030101010101" pitchFamily="2" charset="-122"/>
              </a:rPr>
              <a:t>当加入</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或去掉</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输入的动作信号后，其输出电路需经过规定的准确时间才产生跳跃式变化</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或触头动作</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的一种继电器，时间继电器按功能分为接通延时、断开延时、瞬动延时等。 </a:t>
            </a:r>
            <a:endParaRPr lang="zh-CN" altLang="en-US" dirty="0"/>
          </a:p>
        </p:txBody>
      </p:sp>
      <p:pic>
        <p:nvPicPr>
          <p:cNvPr id="3" name="图片 2">
            <a:extLst>
              <a:ext uri="{FF2B5EF4-FFF2-40B4-BE49-F238E27FC236}">
                <a16:creationId xmlns:a16="http://schemas.microsoft.com/office/drawing/2014/main" id="{EA473665-520C-554A-AB85-E1C7BF62CDAB}"/>
              </a:ext>
            </a:extLst>
          </p:cNvPr>
          <p:cNvPicPr>
            <a:picLocks noChangeAspect="1"/>
          </p:cNvPicPr>
          <p:nvPr/>
        </p:nvPicPr>
        <p:blipFill>
          <a:blip r:embed="rId2"/>
          <a:stretch>
            <a:fillRect/>
          </a:stretch>
        </p:blipFill>
        <p:spPr>
          <a:xfrm>
            <a:off x="546548" y="1758881"/>
            <a:ext cx="8050903" cy="3747270"/>
          </a:xfrm>
          <a:prstGeom prst="rect">
            <a:avLst/>
          </a:prstGeom>
        </p:spPr>
      </p:pic>
    </p:spTree>
    <p:extLst>
      <p:ext uri="{BB962C8B-B14F-4D97-AF65-F5344CB8AC3E}">
        <p14:creationId xmlns:p14="http://schemas.microsoft.com/office/powerpoint/2010/main" val="37441467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FCBF30B-22C4-AE49-AF91-30380ED9895B}"/>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工作原理</a:t>
            </a:r>
            <a:endParaRPr lang="zh-CN" altLang="en-US" sz="2400" dirty="0"/>
          </a:p>
        </p:txBody>
      </p:sp>
      <p:pic>
        <p:nvPicPr>
          <p:cNvPr id="4" name="图片 3">
            <a:extLst>
              <a:ext uri="{FF2B5EF4-FFF2-40B4-BE49-F238E27FC236}">
                <a16:creationId xmlns:a16="http://schemas.microsoft.com/office/drawing/2014/main" id="{A8C6CDB7-8FE1-8642-900A-69AF38BC1440}"/>
              </a:ext>
            </a:extLst>
          </p:cNvPr>
          <p:cNvPicPr>
            <a:picLocks noChangeAspect="1"/>
          </p:cNvPicPr>
          <p:nvPr/>
        </p:nvPicPr>
        <p:blipFill>
          <a:blip r:embed="rId2"/>
          <a:stretch>
            <a:fillRect/>
          </a:stretch>
        </p:blipFill>
        <p:spPr>
          <a:xfrm>
            <a:off x="1244600" y="859036"/>
            <a:ext cx="6654800" cy="1993900"/>
          </a:xfrm>
          <a:prstGeom prst="rect">
            <a:avLst/>
          </a:prstGeom>
        </p:spPr>
      </p:pic>
      <p:sp>
        <p:nvSpPr>
          <p:cNvPr id="8" name="文本框 7">
            <a:extLst>
              <a:ext uri="{FF2B5EF4-FFF2-40B4-BE49-F238E27FC236}">
                <a16:creationId xmlns:a16="http://schemas.microsoft.com/office/drawing/2014/main" id="{295EA6D9-98CD-A04D-A3AB-0AFDA1B9CA00}"/>
              </a:ext>
            </a:extLst>
          </p:cNvPr>
          <p:cNvSpPr txBox="1"/>
          <p:nvPr/>
        </p:nvSpPr>
        <p:spPr>
          <a:xfrm>
            <a:off x="251520" y="2732727"/>
            <a:ext cx="8892480" cy="1200329"/>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图 </a:t>
            </a:r>
            <a:r>
              <a:rPr lang="en-US" altLang="zh-CN" sz="1800" dirty="0">
                <a:effectLst/>
                <a:latin typeface="SimSun" panose="02010600030101010101" pitchFamily="2" charset="-122"/>
                <a:ea typeface="SimSun" panose="02010600030101010101" pitchFamily="2" charset="-122"/>
              </a:rPr>
              <a:t>2-16 </a:t>
            </a:r>
            <a:r>
              <a:rPr lang="zh-CN" altLang="en-US" sz="1800" dirty="0">
                <a:effectLst/>
                <a:latin typeface="SimSun" panose="02010600030101010101" pitchFamily="2" charset="-122"/>
                <a:ea typeface="SimSun" panose="02010600030101010101" pitchFamily="2" charset="-122"/>
              </a:rPr>
              <a:t>为简单的延时接通应用电路。为便于分析原理，在时间继电器常开触点上串联一个灯泡，当然你 也可以串联其它负载，比如接触器、固态继电器等，图 </a:t>
            </a:r>
            <a:r>
              <a:rPr lang="en-US" altLang="zh-CN" sz="1800" dirty="0">
                <a:effectLst/>
                <a:latin typeface="SimSun" panose="02010600030101010101" pitchFamily="2" charset="-122"/>
                <a:ea typeface="SimSun" panose="02010600030101010101" pitchFamily="2" charset="-122"/>
              </a:rPr>
              <a:t>2-17 </a:t>
            </a:r>
            <a:r>
              <a:rPr lang="zh-CN" altLang="en-US" sz="1800" dirty="0">
                <a:effectLst/>
                <a:latin typeface="SimSun" panose="02010600030101010101" pitchFamily="2" charset="-122"/>
                <a:ea typeface="SimSun" panose="02010600030101010101" pitchFamily="2" charset="-122"/>
              </a:rPr>
              <a:t>为 </a:t>
            </a:r>
            <a:r>
              <a:rPr lang="en" altLang="zh-CN" sz="1800" dirty="0">
                <a:effectLst/>
                <a:latin typeface="SimSun" panose="02010600030101010101" pitchFamily="2" charset="-122"/>
                <a:ea typeface="SimSun" panose="02010600030101010101" pitchFamily="2" charset="-122"/>
              </a:rPr>
              <a:t>PLC </a:t>
            </a:r>
            <a:r>
              <a:rPr lang="zh-CN" altLang="en-US" sz="1800" dirty="0">
                <a:effectLst/>
                <a:latin typeface="SimSun" panose="02010600030101010101" pitchFamily="2" charset="-122"/>
                <a:ea typeface="SimSun" panose="02010600030101010101" pitchFamily="2" charset="-122"/>
              </a:rPr>
              <a:t>梯形图的表达方式，原理图与图 </a:t>
            </a:r>
            <a:r>
              <a:rPr lang="en-US" altLang="zh-CN" sz="1800" dirty="0">
                <a:effectLst/>
                <a:latin typeface="SimSun" panose="02010600030101010101" pitchFamily="2" charset="-122"/>
                <a:ea typeface="SimSun" panose="02010600030101010101" pitchFamily="2" charset="-122"/>
              </a:rPr>
              <a:t>2-16 </a:t>
            </a:r>
            <a:r>
              <a:rPr lang="zh-CN" altLang="en-US" sz="1800" dirty="0">
                <a:effectLst/>
                <a:latin typeface="SimSun" panose="02010600030101010101" pitchFamily="2" charset="-122"/>
                <a:ea typeface="SimSun" panose="02010600030101010101" pitchFamily="2" charset="-122"/>
              </a:rPr>
              <a:t>相 同。为了分析动作流程，在接通延时应用电路中加上电源见图 </a:t>
            </a:r>
            <a:r>
              <a:rPr lang="en-US" altLang="zh-CN" sz="1800" dirty="0">
                <a:effectLst/>
                <a:latin typeface="SimSun" panose="02010600030101010101" pitchFamily="2" charset="-122"/>
                <a:ea typeface="SimSun" panose="02010600030101010101" pitchFamily="2" charset="-122"/>
              </a:rPr>
              <a:t>2-18</a:t>
            </a:r>
            <a:r>
              <a:rPr lang="zh-CN" altLang="en-US" sz="1800" dirty="0">
                <a:effectLst/>
                <a:latin typeface="SimSun" panose="02010600030101010101" pitchFamily="2" charset="-122"/>
                <a:ea typeface="SimSun" panose="02010600030101010101" pitchFamily="2" charset="-122"/>
              </a:rPr>
              <a:t>，此时延时继电器并未工作。 </a:t>
            </a:r>
            <a:endParaRPr lang="zh-CN" altLang="en-US" dirty="0"/>
          </a:p>
        </p:txBody>
      </p:sp>
      <p:pic>
        <p:nvPicPr>
          <p:cNvPr id="9" name="图片 8">
            <a:extLst>
              <a:ext uri="{FF2B5EF4-FFF2-40B4-BE49-F238E27FC236}">
                <a16:creationId xmlns:a16="http://schemas.microsoft.com/office/drawing/2014/main" id="{B5A208FD-9683-A042-949A-B9912BE8289A}"/>
              </a:ext>
            </a:extLst>
          </p:cNvPr>
          <p:cNvPicPr>
            <a:picLocks noChangeAspect="1"/>
          </p:cNvPicPr>
          <p:nvPr/>
        </p:nvPicPr>
        <p:blipFill>
          <a:blip r:embed="rId3"/>
          <a:stretch>
            <a:fillRect/>
          </a:stretch>
        </p:blipFill>
        <p:spPr>
          <a:xfrm>
            <a:off x="1346200" y="3950501"/>
            <a:ext cx="6451600" cy="2425700"/>
          </a:xfrm>
          <a:prstGeom prst="rect">
            <a:avLst/>
          </a:prstGeom>
        </p:spPr>
      </p:pic>
    </p:spTree>
    <p:extLst>
      <p:ext uri="{BB962C8B-B14F-4D97-AF65-F5344CB8AC3E}">
        <p14:creationId xmlns:p14="http://schemas.microsoft.com/office/powerpoint/2010/main" val="22018288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7CA0327-EC95-0D46-BDE5-D34054A5E1DD}"/>
              </a:ext>
            </a:extLst>
          </p:cNvPr>
          <p:cNvPicPr>
            <a:picLocks noChangeAspect="1"/>
          </p:cNvPicPr>
          <p:nvPr/>
        </p:nvPicPr>
        <p:blipFill>
          <a:blip r:embed="rId2"/>
          <a:stretch>
            <a:fillRect/>
          </a:stretch>
        </p:blipFill>
        <p:spPr>
          <a:xfrm>
            <a:off x="1403648" y="404664"/>
            <a:ext cx="5993854" cy="2652251"/>
          </a:xfrm>
          <a:prstGeom prst="rect">
            <a:avLst/>
          </a:prstGeom>
        </p:spPr>
      </p:pic>
      <p:sp>
        <p:nvSpPr>
          <p:cNvPr id="10" name="文本框 9">
            <a:extLst>
              <a:ext uri="{FF2B5EF4-FFF2-40B4-BE49-F238E27FC236}">
                <a16:creationId xmlns:a16="http://schemas.microsoft.com/office/drawing/2014/main" id="{D9DB6391-6889-4049-8433-D3C2BB6F7A4A}"/>
              </a:ext>
            </a:extLst>
          </p:cNvPr>
          <p:cNvSpPr txBox="1"/>
          <p:nvPr/>
        </p:nvSpPr>
        <p:spPr>
          <a:xfrm>
            <a:off x="395536" y="2955585"/>
            <a:ext cx="8748464" cy="923330"/>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假设延时继电器预设时间为 </a:t>
            </a:r>
            <a:r>
              <a:rPr lang="en-US" altLang="zh-CN" sz="1800" dirty="0">
                <a:effectLst/>
                <a:latin typeface="SimSun" panose="02010600030101010101" pitchFamily="2" charset="-122"/>
                <a:ea typeface="SimSun" panose="02010600030101010101" pitchFamily="2" charset="-122"/>
              </a:rPr>
              <a:t>10 </a:t>
            </a:r>
            <a:r>
              <a:rPr lang="zh-CN" altLang="en-US" sz="1800" dirty="0">
                <a:effectLst/>
                <a:latin typeface="SimSun" panose="02010600030101010101" pitchFamily="2" charset="-122"/>
                <a:ea typeface="SimSun" panose="02010600030101010101" pitchFamily="2" charset="-122"/>
              </a:rPr>
              <a:t>秒，按下常开按钮</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时间继电器线圈得电并开始计时，</a:t>
            </a:r>
            <a:r>
              <a:rPr lang="en-US" altLang="zh-CN" sz="1800" dirty="0">
                <a:effectLst/>
                <a:latin typeface="SimSun" panose="02010600030101010101" pitchFamily="2" charset="-122"/>
                <a:ea typeface="SimSun" panose="02010600030101010101" pitchFamily="2" charset="-122"/>
              </a:rPr>
              <a:t>10 </a:t>
            </a:r>
            <a:r>
              <a:rPr lang="zh-CN" altLang="en-US" sz="1800" dirty="0">
                <a:effectLst/>
                <a:latin typeface="SimSun" panose="02010600030101010101" pitchFamily="2" charset="-122"/>
                <a:ea typeface="SimSun" panose="02010600030101010101" pitchFamily="2" charset="-122"/>
              </a:rPr>
              <a:t>秒后时间常开触 点闭合，同时灯泡得电点亮见图 </a:t>
            </a:r>
            <a:r>
              <a:rPr lang="en-US" altLang="zh-CN" sz="1800" dirty="0">
                <a:effectLst/>
                <a:latin typeface="SimSun" panose="02010600030101010101" pitchFamily="2" charset="-122"/>
                <a:ea typeface="SimSun" panose="02010600030101010101" pitchFamily="2" charset="-122"/>
              </a:rPr>
              <a:t>2-20</a:t>
            </a:r>
            <a:r>
              <a:rPr lang="zh-CN" altLang="en-US" sz="1800" dirty="0">
                <a:effectLst/>
                <a:latin typeface="SimSun" panose="02010600030101010101" pitchFamily="2" charset="-122"/>
                <a:ea typeface="SimSun" panose="02010600030101010101" pitchFamily="2" charset="-122"/>
              </a:rPr>
              <a:t>，直到松开常开按钮，时间继电器线圈失电，常开触点恢复常开，此时再回到图 </a:t>
            </a:r>
            <a:r>
              <a:rPr lang="en-US" altLang="zh-CN" sz="1800" dirty="0">
                <a:effectLst/>
                <a:latin typeface="SimSun" panose="02010600030101010101" pitchFamily="2" charset="-122"/>
                <a:ea typeface="SimSun" panose="02010600030101010101" pitchFamily="2" charset="-122"/>
              </a:rPr>
              <a:t>2-18 </a:t>
            </a:r>
            <a:r>
              <a:rPr lang="zh-CN" altLang="en-US" sz="1800" dirty="0">
                <a:effectLst/>
                <a:latin typeface="SimSun" panose="02010600030101010101" pitchFamily="2" charset="-122"/>
                <a:ea typeface="SimSun" panose="02010600030101010101" pitchFamily="2" charset="-122"/>
              </a:rPr>
              <a:t>灯灭状态。 </a:t>
            </a:r>
            <a:endParaRPr lang="zh-CN" altLang="en-US" dirty="0"/>
          </a:p>
        </p:txBody>
      </p:sp>
      <p:pic>
        <p:nvPicPr>
          <p:cNvPr id="6" name="图片 5">
            <a:extLst>
              <a:ext uri="{FF2B5EF4-FFF2-40B4-BE49-F238E27FC236}">
                <a16:creationId xmlns:a16="http://schemas.microsoft.com/office/drawing/2014/main" id="{72B2B2DB-ED4D-754C-80FB-2CF2A863462A}"/>
              </a:ext>
            </a:extLst>
          </p:cNvPr>
          <p:cNvPicPr>
            <a:picLocks noChangeAspect="1"/>
          </p:cNvPicPr>
          <p:nvPr/>
        </p:nvPicPr>
        <p:blipFill>
          <a:blip r:embed="rId3"/>
          <a:stretch>
            <a:fillRect/>
          </a:stretch>
        </p:blipFill>
        <p:spPr>
          <a:xfrm>
            <a:off x="2555776" y="3829078"/>
            <a:ext cx="3528392" cy="3028922"/>
          </a:xfrm>
          <a:prstGeom prst="rect">
            <a:avLst/>
          </a:prstGeom>
        </p:spPr>
      </p:pic>
    </p:spTree>
    <p:extLst>
      <p:ext uri="{BB962C8B-B14F-4D97-AF65-F5344CB8AC3E}">
        <p14:creationId xmlns:p14="http://schemas.microsoft.com/office/powerpoint/2010/main" val="201224775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077218"/>
          </a:xfrm>
          <a:prstGeom prst="rect">
            <a:avLst/>
          </a:prstGeom>
          <a:noFill/>
        </p:spPr>
        <p:txBody>
          <a:bodyPr wrap="square">
            <a:spAutoFit/>
          </a:bodyPr>
          <a:lstStyle/>
          <a:p>
            <a:r>
              <a:rPr lang="en-US" altLang="zh-CN" sz="2800" b="1" dirty="0">
                <a:effectLst/>
                <a:latin typeface="TimesNewRomanPS"/>
              </a:rPr>
              <a:t>2.7</a:t>
            </a:r>
            <a:r>
              <a:rPr lang="zh-CN" altLang="en-US" sz="2800" b="1" dirty="0">
                <a:effectLst/>
                <a:latin typeface="TimesNewRomanPS"/>
              </a:rPr>
              <a:t> 计数器</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通过传动机构驱动计数元件，指示被测量累计</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加法计数</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或逆计</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减法计数</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值的器件，当数量达到 预设值输出接通或断开信号。 </a:t>
            </a:r>
            <a:endParaRPr lang="zh-CN" altLang="en-US" dirty="0"/>
          </a:p>
        </p:txBody>
      </p:sp>
      <p:pic>
        <p:nvPicPr>
          <p:cNvPr id="2" name="图片 1">
            <a:extLst>
              <a:ext uri="{FF2B5EF4-FFF2-40B4-BE49-F238E27FC236}">
                <a16:creationId xmlns:a16="http://schemas.microsoft.com/office/drawing/2014/main" id="{1153C0C7-EC8D-D544-BF4B-CEE231C85580}"/>
              </a:ext>
            </a:extLst>
          </p:cNvPr>
          <p:cNvPicPr>
            <a:picLocks noChangeAspect="1"/>
          </p:cNvPicPr>
          <p:nvPr/>
        </p:nvPicPr>
        <p:blipFill>
          <a:blip r:embed="rId2"/>
          <a:stretch>
            <a:fillRect/>
          </a:stretch>
        </p:blipFill>
        <p:spPr>
          <a:xfrm>
            <a:off x="636647" y="1667612"/>
            <a:ext cx="7870705" cy="3522775"/>
          </a:xfrm>
          <a:prstGeom prst="rect">
            <a:avLst/>
          </a:prstGeom>
        </p:spPr>
      </p:pic>
    </p:spTree>
    <p:extLst>
      <p:ext uri="{BB962C8B-B14F-4D97-AF65-F5344CB8AC3E}">
        <p14:creationId xmlns:p14="http://schemas.microsoft.com/office/powerpoint/2010/main" val="270464939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FCBF30B-22C4-AE49-AF91-30380ED9895B}"/>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工作原理</a:t>
            </a:r>
            <a:endParaRPr lang="zh-CN" altLang="en-US" sz="2400" dirty="0"/>
          </a:p>
        </p:txBody>
      </p:sp>
      <p:sp>
        <p:nvSpPr>
          <p:cNvPr id="8" name="文本框 7">
            <a:extLst>
              <a:ext uri="{FF2B5EF4-FFF2-40B4-BE49-F238E27FC236}">
                <a16:creationId xmlns:a16="http://schemas.microsoft.com/office/drawing/2014/main" id="{295EA6D9-98CD-A04D-A3AB-0AFDA1B9CA00}"/>
              </a:ext>
            </a:extLst>
          </p:cNvPr>
          <p:cNvSpPr txBox="1"/>
          <p:nvPr/>
        </p:nvSpPr>
        <p:spPr>
          <a:xfrm>
            <a:off x="231438" y="3214717"/>
            <a:ext cx="8892480" cy="646331"/>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图 </a:t>
            </a:r>
            <a:r>
              <a:rPr lang="en-US" altLang="zh-CN" sz="1800" dirty="0">
                <a:effectLst/>
                <a:latin typeface="SimSun" panose="02010600030101010101" pitchFamily="2" charset="-122"/>
                <a:ea typeface="SimSun" panose="02010600030101010101" pitchFamily="2" charset="-122"/>
              </a:rPr>
              <a:t>2-24 </a:t>
            </a:r>
            <a:r>
              <a:rPr lang="zh-CN" altLang="en-US" sz="1800" dirty="0">
                <a:effectLst/>
                <a:latin typeface="SimSun" panose="02010600030101010101" pitchFamily="2" charset="-122"/>
                <a:ea typeface="SimSun" panose="02010600030101010101" pitchFamily="2" charset="-122"/>
              </a:rPr>
              <a:t>中 </a:t>
            </a:r>
            <a:r>
              <a:rPr lang="en-US" altLang="zh-CN" sz="1800" dirty="0">
                <a:effectLst/>
                <a:latin typeface="SimSun" panose="02010600030101010101" pitchFamily="2" charset="-122"/>
                <a:ea typeface="SimSun" panose="02010600030101010101" pitchFamily="2" charset="-122"/>
              </a:rPr>
              <a:t>1</a:t>
            </a:r>
            <a:r>
              <a:rPr lang="zh-CN" altLang="en-US" sz="1800" dirty="0">
                <a:effectLst/>
                <a:latin typeface="SimSun" panose="02010600030101010101" pitchFamily="2" charset="-122"/>
                <a:ea typeface="SimSun" panose="02010600030101010101" pitchFamily="2" charset="-122"/>
              </a:rPr>
              <a:t>、</a:t>
            </a:r>
            <a:r>
              <a:rPr lang="en-US" altLang="zh-CN" sz="1800" dirty="0">
                <a:effectLst/>
                <a:latin typeface="SimSun" panose="02010600030101010101" pitchFamily="2" charset="-122"/>
                <a:ea typeface="SimSun" panose="02010600030101010101" pitchFamily="2" charset="-122"/>
              </a:rPr>
              <a:t>4 </a:t>
            </a:r>
            <a:r>
              <a:rPr lang="zh-CN" altLang="en-US" sz="1800" dirty="0">
                <a:effectLst/>
                <a:latin typeface="SimSun" panose="02010600030101010101" pitchFamily="2" charset="-122"/>
                <a:ea typeface="SimSun" panose="02010600030101010101" pitchFamily="2" charset="-122"/>
              </a:rPr>
              <a:t>脚为电源输入端，</a:t>
            </a:r>
            <a:r>
              <a:rPr lang="en-US" altLang="zh-CN" sz="1800" dirty="0">
                <a:effectLst/>
                <a:latin typeface="SimSun" panose="02010600030101010101" pitchFamily="2" charset="-122"/>
                <a:ea typeface="SimSun" panose="02010600030101010101" pitchFamily="2" charset="-122"/>
              </a:rPr>
              <a:t>2</a:t>
            </a:r>
            <a:r>
              <a:rPr lang="zh-CN" altLang="en-US" sz="1800" dirty="0">
                <a:effectLst/>
                <a:latin typeface="SimSun" panose="02010600030101010101" pitchFamily="2" charset="-122"/>
                <a:ea typeface="SimSun" panose="02010600030101010101" pitchFamily="2" charset="-122"/>
              </a:rPr>
              <a:t>、</a:t>
            </a:r>
            <a:r>
              <a:rPr lang="en-US" altLang="zh-CN" sz="1800" dirty="0">
                <a:effectLst/>
                <a:latin typeface="SimSun" panose="02010600030101010101" pitchFamily="2" charset="-122"/>
                <a:ea typeface="SimSun" panose="02010600030101010101" pitchFamily="2" charset="-122"/>
              </a:rPr>
              <a:t>3 </a:t>
            </a:r>
            <a:r>
              <a:rPr lang="zh-CN" altLang="en-US" sz="1800" dirty="0">
                <a:effectLst/>
                <a:latin typeface="SimSun" panose="02010600030101010101" pitchFamily="2" charset="-122"/>
                <a:ea typeface="SimSun" panose="02010600030101010101" pitchFamily="2" charset="-122"/>
              </a:rPr>
              <a:t>脚为信号输入端，</a:t>
            </a:r>
            <a:r>
              <a:rPr lang="en-US" altLang="zh-CN" sz="1800" dirty="0">
                <a:effectLst/>
                <a:latin typeface="SimSun" panose="02010600030101010101" pitchFamily="2" charset="-122"/>
                <a:ea typeface="SimSun" panose="02010600030101010101" pitchFamily="2" charset="-122"/>
              </a:rPr>
              <a:t>5</a:t>
            </a:r>
            <a:r>
              <a:rPr lang="zh-CN" altLang="en-US" sz="1800" dirty="0">
                <a:effectLst/>
                <a:latin typeface="SimSun" panose="02010600030101010101" pitchFamily="2" charset="-122"/>
                <a:ea typeface="SimSun" panose="02010600030101010101" pitchFamily="2" charset="-122"/>
              </a:rPr>
              <a:t>、</a:t>
            </a:r>
            <a:r>
              <a:rPr lang="en-US" altLang="zh-CN" sz="1800" dirty="0">
                <a:effectLst/>
                <a:latin typeface="SimSun" panose="02010600030101010101" pitchFamily="2" charset="-122"/>
                <a:ea typeface="SimSun" panose="02010600030101010101" pitchFamily="2" charset="-122"/>
              </a:rPr>
              <a:t>6 </a:t>
            </a:r>
            <a:r>
              <a:rPr lang="zh-CN" altLang="en-US" sz="1800" dirty="0">
                <a:effectLst/>
                <a:latin typeface="SimSun" panose="02010600030101010101" pitchFamily="2" charset="-122"/>
                <a:ea typeface="SimSun" panose="02010600030101010101" pitchFamily="2" charset="-122"/>
              </a:rPr>
              <a:t>脚为内部常开触点输出端。 </a:t>
            </a:r>
            <a:endParaRPr lang="zh-CN" altLang="en-US" dirty="0"/>
          </a:p>
        </p:txBody>
      </p:sp>
      <p:pic>
        <p:nvPicPr>
          <p:cNvPr id="3" name="图片 2">
            <a:extLst>
              <a:ext uri="{FF2B5EF4-FFF2-40B4-BE49-F238E27FC236}">
                <a16:creationId xmlns:a16="http://schemas.microsoft.com/office/drawing/2014/main" id="{9BB0EF45-EFD8-434A-A934-AAFB55B78F34}"/>
              </a:ext>
            </a:extLst>
          </p:cNvPr>
          <p:cNvPicPr>
            <a:picLocks noChangeAspect="1"/>
          </p:cNvPicPr>
          <p:nvPr/>
        </p:nvPicPr>
        <p:blipFill>
          <a:blip r:embed="rId2"/>
          <a:stretch>
            <a:fillRect/>
          </a:stretch>
        </p:blipFill>
        <p:spPr>
          <a:xfrm>
            <a:off x="2267744" y="681359"/>
            <a:ext cx="5832648" cy="2531617"/>
          </a:xfrm>
          <a:prstGeom prst="rect">
            <a:avLst/>
          </a:prstGeom>
        </p:spPr>
      </p:pic>
      <p:pic>
        <p:nvPicPr>
          <p:cNvPr id="5" name="图片 4">
            <a:extLst>
              <a:ext uri="{FF2B5EF4-FFF2-40B4-BE49-F238E27FC236}">
                <a16:creationId xmlns:a16="http://schemas.microsoft.com/office/drawing/2014/main" id="{5B876005-3EFF-0944-8329-E246EAB85453}"/>
              </a:ext>
            </a:extLst>
          </p:cNvPr>
          <p:cNvPicPr>
            <a:picLocks noChangeAspect="1"/>
          </p:cNvPicPr>
          <p:nvPr/>
        </p:nvPicPr>
        <p:blipFill>
          <a:blip r:embed="rId3"/>
          <a:stretch>
            <a:fillRect/>
          </a:stretch>
        </p:blipFill>
        <p:spPr>
          <a:xfrm>
            <a:off x="981978" y="3960767"/>
            <a:ext cx="7391400" cy="2501900"/>
          </a:xfrm>
          <a:prstGeom prst="rect">
            <a:avLst/>
          </a:prstGeom>
        </p:spPr>
      </p:pic>
    </p:spTree>
    <p:extLst>
      <p:ext uri="{BB962C8B-B14F-4D97-AF65-F5344CB8AC3E}">
        <p14:creationId xmlns:p14="http://schemas.microsoft.com/office/powerpoint/2010/main" val="407271762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077218"/>
          </a:xfrm>
          <a:prstGeom prst="rect">
            <a:avLst/>
          </a:prstGeom>
          <a:noFill/>
        </p:spPr>
        <p:txBody>
          <a:bodyPr wrap="square">
            <a:spAutoFit/>
          </a:bodyPr>
          <a:lstStyle/>
          <a:p>
            <a:r>
              <a:rPr lang="en-US" altLang="zh-CN" sz="2800" b="1" dirty="0">
                <a:effectLst/>
                <a:latin typeface="TimesNewRomanPS"/>
              </a:rPr>
              <a:t>2.8</a:t>
            </a:r>
            <a:r>
              <a:rPr lang="zh-CN" altLang="en-US" sz="2800" b="1" dirty="0">
                <a:effectLst/>
                <a:latin typeface="TimesNewRomanPS"/>
              </a:rPr>
              <a:t> 双设定时间继电器（</a:t>
            </a:r>
            <a:r>
              <a:rPr lang="en-US" altLang="zh-CN" sz="2800" b="1" dirty="0">
                <a:effectLst/>
                <a:latin typeface="TimesNewRomanPS"/>
              </a:rPr>
              <a:t>PWM</a:t>
            </a:r>
            <a:r>
              <a:rPr lang="zh-CN" altLang="en-US" sz="2800" b="1" dirty="0">
                <a:effectLst/>
                <a:latin typeface="TimesNewRomanPS"/>
              </a:rPr>
              <a:t>脉冲宽度调制）</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分有触点低速输出、无触点高速输出，供脉宽调整的控制器件。输出可设定</a:t>
            </a:r>
            <a:r>
              <a:rPr lang="en" altLang="zh-CN" sz="1800" dirty="0">
                <a:effectLst/>
                <a:latin typeface="TimesNewRomanPSMT"/>
              </a:rPr>
              <a:t>T1</a:t>
            </a:r>
            <a:r>
              <a:rPr lang="zh-CN" altLang="en" sz="1800" dirty="0">
                <a:effectLst/>
                <a:latin typeface="SimSun" panose="02010600030101010101" pitchFamily="2" charset="-122"/>
                <a:ea typeface="SimSun" panose="02010600030101010101" pitchFamily="2" charset="-122"/>
              </a:rPr>
              <a:t>、</a:t>
            </a:r>
            <a:r>
              <a:rPr lang="en" altLang="zh-CN" sz="1800" dirty="0">
                <a:effectLst/>
                <a:latin typeface="TimesNewRomanPSMT"/>
              </a:rPr>
              <a:t>T2(</a:t>
            </a:r>
            <a:r>
              <a:rPr lang="zh-CN" altLang="en-US" sz="1800" dirty="0">
                <a:effectLst/>
                <a:latin typeface="SimSun" panose="02010600030101010101" pitchFamily="2" charset="-122"/>
                <a:ea typeface="SimSun" panose="02010600030101010101" pitchFamily="2" charset="-122"/>
              </a:rPr>
              <a:t>接通时间、断开时 间</a:t>
            </a:r>
            <a:r>
              <a:rPr lang="en-US" altLang="zh-CN" sz="1800" dirty="0">
                <a:effectLst/>
                <a:latin typeface="SimSun" panose="02010600030101010101" pitchFamily="2" charset="-122"/>
                <a:ea typeface="SimSun" panose="02010600030101010101" pitchFamily="2" charset="-122"/>
              </a:rPr>
              <a:t>)</a:t>
            </a:r>
            <a:r>
              <a:rPr lang="en-US" altLang="zh-CN" sz="1800" dirty="0">
                <a:effectLst/>
                <a:latin typeface="TimesNewRomanPSMT"/>
              </a:rPr>
              <a:t>2 </a:t>
            </a:r>
            <a:r>
              <a:rPr lang="zh-CN" altLang="en-US" sz="1800" dirty="0">
                <a:effectLst/>
                <a:latin typeface="SimSun" panose="02010600030101010101" pitchFamily="2" charset="-122"/>
                <a:ea typeface="SimSun" panose="02010600030101010101" pitchFamily="2" charset="-122"/>
              </a:rPr>
              <a:t>个延时可实现周期性循环工作。</a:t>
            </a:r>
            <a:endParaRPr lang="zh-CN" altLang="en-US" dirty="0"/>
          </a:p>
        </p:txBody>
      </p:sp>
      <p:pic>
        <p:nvPicPr>
          <p:cNvPr id="3" name="图片 2">
            <a:extLst>
              <a:ext uri="{FF2B5EF4-FFF2-40B4-BE49-F238E27FC236}">
                <a16:creationId xmlns:a16="http://schemas.microsoft.com/office/drawing/2014/main" id="{CB545287-B8F5-4748-AA18-6574E7C07FA4}"/>
              </a:ext>
            </a:extLst>
          </p:cNvPr>
          <p:cNvPicPr>
            <a:picLocks noChangeAspect="1"/>
          </p:cNvPicPr>
          <p:nvPr/>
        </p:nvPicPr>
        <p:blipFill>
          <a:blip r:embed="rId2"/>
          <a:stretch>
            <a:fillRect/>
          </a:stretch>
        </p:blipFill>
        <p:spPr>
          <a:xfrm>
            <a:off x="683568" y="1481882"/>
            <a:ext cx="7888845" cy="3675310"/>
          </a:xfrm>
          <a:prstGeom prst="rect">
            <a:avLst/>
          </a:prstGeom>
        </p:spPr>
      </p:pic>
      <p:sp>
        <p:nvSpPr>
          <p:cNvPr id="5" name="文本框 4">
            <a:extLst>
              <a:ext uri="{FF2B5EF4-FFF2-40B4-BE49-F238E27FC236}">
                <a16:creationId xmlns:a16="http://schemas.microsoft.com/office/drawing/2014/main" id="{25483FD8-1D7A-88F7-885C-D178A6F473AF}"/>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144650168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FCBF30B-22C4-AE49-AF91-30380ED9895B}"/>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工作原理</a:t>
            </a:r>
            <a:endParaRPr lang="zh-CN" altLang="en-US" sz="2400" dirty="0"/>
          </a:p>
        </p:txBody>
      </p:sp>
      <p:pic>
        <p:nvPicPr>
          <p:cNvPr id="4" name="图片 3">
            <a:extLst>
              <a:ext uri="{FF2B5EF4-FFF2-40B4-BE49-F238E27FC236}">
                <a16:creationId xmlns:a16="http://schemas.microsoft.com/office/drawing/2014/main" id="{A0110FF4-76E1-4545-B893-A9D42DADBA9E}"/>
              </a:ext>
            </a:extLst>
          </p:cNvPr>
          <p:cNvPicPr>
            <a:picLocks noChangeAspect="1"/>
          </p:cNvPicPr>
          <p:nvPr/>
        </p:nvPicPr>
        <p:blipFill>
          <a:blip r:embed="rId2"/>
          <a:stretch>
            <a:fillRect/>
          </a:stretch>
        </p:blipFill>
        <p:spPr>
          <a:xfrm>
            <a:off x="1249003" y="764704"/>
            <a:ext cx="6645994" cy="3328942"/>
          </a:xfrm>
          <a:prstGeom prst="rect">
            <a:avLst/>
          </a:prstGeom>
        </p:spPr>
      </p:pic>
      <p:pic>
        <p:nvPicPr>
          <p:cNvPr id="6" name="图片 5">
            <a:extLst>
              <a:ext uri="{FF2B5EF4-FFF2-40B4-BE49-F238E27FC236}">
                <a16:creationId xmlns:a16="http://schemas.microsoft.com/office/drawing/2014/main" id="{3DC14102-0437-8341-96C9-34F20B5BA410}"/>
              </a:ext>
            </a:extLst>
          </p:cNvPr>
          <p:cNvPicPr>
            <a:picLocks noChangeAspect="1"/>
          </p:cNvPicPr>
          <p:nvPr/>
        </p:nvPicPr>
        <p:blipFill>
          <a:blip r:embed="rId3"/>
          <a:stretch>
            <a:fillRect/>
          </a:stretch>
        </p:blipFill>
        <p:spPr>
          <a:xfrm>
            <a:off x="1841500" y="4453686"/>
            <a:ext cx="5461000" cy="2222500"/>
          </a:xfrm>
          <a:prstGeom prst="rect">
            <a:avLst/>
          </a:prstGeom>
        </p:spPr>
      </p:pic>
    </p:spTree>
    <p:extLst>
      <p:ext uri="{BB962C8B-B14F-4D97-AF65-F5344CB8AC3E}">
        <p14:creationId xmlns:p14="http://schemas.microsoft.com/office/powerpoint/2010/main" val="230186655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3</a:t>
            </a:r>
            <a:r>
              <a:rPr lang="zh-CN" altLang="en-US" sz="3600" dirty="0"/>
              <a:t>、</a:t>
            </a:r>
            <a:r>
              <a:rPr lang="en" altLang="zh-CN" sz="3600" dirty="0"/>
              <a:t>PLC</a:t>
            </a:r>
            <a:r>
              <a:rPr lang="zh-CN" altLang="en-US" sz="3600" dirty="0"/>
              <a:t>模拟器及调试</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
        <p:nvSpPr>
          <p:cNvPr id="4" name="文本框 3">
            <a:extLst>
              <a:ext uri="{FF2B5EF4-FFF2-40B4-BE49-F238E27FC236}">
                <a16:creationId xmlns:a16="http://schemas.microsoft.com/office/drawing/2014/main" id="{4D8AC0DF-9C84-F94F-C01D-96D26E7120C3}"/>
              </a:ext>
            </a:extLst>
          </p:cNvPr>
          <p:cNvSpPr txBox="1"/>
          <p:nvPr/>
        </p:nvSpPr>
        <p:spPr>
          <a:xfrm>
            <a:off x="602674" y="1196752"/>
            <a:ext cx="8084126" cy="800219"/>
          </a:xfrm>
          <a:prstGeom prst="rect">
            <a:avLst/>
          </a:prstGeom>
          <a:noFill/>
        </p:spPr>
        <p:txBody>
          <a:bodyPr wrap="square">
            <a:spAutoFit/>
          </a:bodyPr>
          <a:lstStyle/>
          <a:p>
            <a:r>
              <a:rPr lang="en-US" altLang="zh-CN" sz="2800" b="1" dirty="0">
                <a:latin typeface="TimesNewRomanPS"/>
              </a:rPr>
              <a:t>3.1</a:t>
            </a:r>
            <a:r>
              <a:rPr lang="zh-CN" altLang="en-US" sz="2800" b="1" dirty="0">
                <a:effectLst/>
                <a:latin typeface="TimesNewRomanPS"/>
              </a:rPr>
              <a:t> 软件准备</a:t>
            </a:r>
            <a:endParaRPr lang="zh-CN" altLang="en-US" sz="2400" dirty="0"/>
          </a:p>
          <a:p>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编程软件及</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模拟器</a:t>
            </a:r>
            <a:endParaRPr lang="zh-CN" altLang="en-US" dirty="0"/>
          </a:p>
        </p:txBody>
      </p:sp>
      <p:sp>
        <p:nvSpPr>
          <p:cNvPr id="6" name="文本框 5">
            <a:extLst>
              <a:ext uri="{FF2B5EF4-FFF2-40B4-BE49-F238E27FC236}">
                <a16:creationId xmlns:a16="http://schemas.microsoft.com/office/drawing/2014/main" id="{B21A90D9-545B-A240-B0EF-29B11744BB39}"/>
              </a:ext>
            </a:extLst>
          </p:cNvPr>
          <p:cNvSpPr txBox="1"/>
          <p:nvPr/>
        </p:nvSpPr>
        <p:spPr>
          <a:xfrm>
            <a:off x="579903" y="2060848"/>
            <a:ext cx="7643264" cy="1754326"/>
          </a:xfrm>
          <a:prstGeom prst="rect">
            <a:avLst/>
          </a:prstGeom>
          <a:noFill/>
        </p:spPr>
        <p:txBody>
          <a:bodyPr wrap="square">
            <a:spAutoFit/>
          </a:bodyPr>
          <a:lstStyle/>
          <a:p>
            <a:r>
              <a:rPr lang="zh-CN" altLang="en-US" dirty="0">
                <a:latin typeface="SimSun" panose="02010600030101010101" pitchFamily="2" charset="-122"/>
                <a:ea typeface="SimSun" panose="02010600030101010101" pitchFamily="2" charset="-122"/>
              </a:rPr>
              <a:t>    本课程采用</a:t>
            </a:r>
            <a:r>
              <a:rPr lang="en-US" altLang="zh-CN" dirty="0">
                <a:latin typeface="SimSun" panose="02010600030101010101" pitchFamily="2" charset="-122"/>
                <a:ea typeface="SimSun" panose="02010600030101010101" pitchFamily="2" charset="-122"/>
              </a:rPr>
              <a:t>Siemens</a:t>
            </a:r>
            <a:r>
              <a:rPr lang="zh-CN" altLang="en-US" dirty="0">
                <a:latin typeface="SimSun" panose="02010600030101010101" pitchFamily="2" charset="-122"/>
                <a:ea typeface="SimSun" panose="02010600030101010101" pitchFamily="2" charset="-122"/>
              </a:rPr>
              <a:t>系列的</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产品为实例，开展基于</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计算机类型的控制系统设计与实现，并通过仿真模拟器对编制的控制程序进行模拟测试与验证，实现完整的案例实施实验，对形成完整闭环的学习实践经验有重要作用。</a:t>
            </a:r>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    模拟器能够在电脑上进行安装使用，极大地方便了程序验证与测试的工作，提供方便快捷有效的学习过程。</a:t>
            </a:r>
            <a:endParaRPr lang="zh-CN" altLang="en-US" dirty="0"/>
          </a:p>
        </p:txBody>
      </p:sp>
      <p:pic>
        <p:nvPicPr>
          <p:cNvPr id="7" name="图片 6">
            <a:extLst>
              <a:ext uri="{FF2B5EF4-FFF2-40B4-BE49-F238E27FC236}">
                <a16:creationId xmlns:a16="http://schemas.microsoft.com/office/drawing/2014/main" id="{3385F35B-EB5E-4849-AA16-E72A36F94F96}"/>
              </a:ext>
            </a:extLst>
          </p:cNvPr>
          <p:cNvPicPr>
            <a:picLocks noChangeAspect="1"/>
          </p:cNvPicPr>
          <p:nvPr/>
        </p:nvPicPr>
        <p:blipFill>
          <a:blip r:embed="rId2"/>
          <a:stretch>
            <a:fillRect/>
          </a:stretch>
        </p:blipFill>
        <p:spPr>
          <a:xfrm>
            <a:off x="2181890" y="3879051"/>
            <a:ext cx="4439290" cy="2774556"/>
          </a:xfrm>
          <a:prstGeom prst="rect">
            <a:avLst/>
          </a:prstGeom>
        </p:spPr>
      </p:pic>
    </p:spTree>
    <p:extLst>
      <p:ext uri="{BB962C8B-B14F-4D97-AF65-F5344CB8AC3E}">
        <p14:creationId xmlns:p14="http://schemas.microsoft.com/office/powerpoint/2010/main" val="88434070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
        <p:nvSpPr>
          <p:cNvPr id="4" name="文本框 3">
            <a:extLst>
              <a:ext uri="{FF2B5EF4-FFF2-40B4-BE49-F238E27FC236}">
                <a16:creationId xmlns:a16="http://schemas.microsoft.com/office/drawing/2014/main" id="{0B1C28C0-6FD4-8F9B-FCD1-6C32B3E510A5}"/>
              </a:ext>
            </a:extLst>
          </p:cNvPr>
          <p:cNvSpPr txBox="1"/>
          <p:nvPr/>
        </p:nvSpPr>
        <p:spPr>
          <a:xfrm>
            <a:off x="529937" y="366713"/>
            <a:ext cx="8084126" cy="800219"/>
          </a:xfrm>
          <a:prstGeom prst="rect">
            <a:avLst/>
          </a:prstGeom>
          <a:noFill/>
        </p:spPr>
        <p:txBody>
          <a:bodyPr wrap="square">
            <a:spAutoFit/>
          </a:bodyPr>
          <a:lstStyle/>
          <a:p>
            <a:r>
              <a:rPr lang="en-US" altLang="zh-CN" sz="2800" b="1" dirty="0">
                <a:latin typeface="TimesNewRomanPS"/>
              </a:rPr>
              <a:t>3.2</a:t>
            </a:r>
            <a:r>
              <a:rPr lang="zh-CN" altLang="en-US" sz="2800" b="1" dirty="0">
                <a:effectLst/>
                <a:latin typeface="TimesNewRomanPS"/>
              </a:rPr>
              <a:t> </a:t>
            </a:r>
            <a:r>
              <a:rPr lang="en-US" altLang="zh-CN" sz="2800" b="1" dirty="0">
                <a:effectLst/>
                <a:latin typeface="TimesNewRomanPS"/>
              </a:rPr>
              <a:t>PLC</a:t>
            </a:r>
            <a:r>
              <a:rPr lang="zh-CN" altLang="en-US" sz="2800" b="1" dirty="0">
                <a:effectLst/>
                <a:latin typeface="TimesNewRomanPS"/>
              </a:rPr>
              <a:t>编程软件</a:t>
            </a:r>
            <a:endParaRPr lang="zh-CN" altLang="en-US" sz="2400" dirty="0"/>
          </a:p>
          <a:p>
            <a:r>
              <a:rPr lang="en-US" altLang="zh-CN" dirty="0">
                <a:latin typeface="SimSun" panose="02010600030101010101" pitchFamily="2" charset="-122"/>
                <a:ea typeface="SimSun" panose="02010600030101010101" pitchFamily="2" charset="-122"/>
              </a:rPr>
              <a:t>Siemens</a:t>
            </a:r>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 STEP7</a:t>
            </a:r>
            <a:endParaRPr lang="zh-CN" altLang="en-US" dirty="0"/>
          </a:p>
        </p:txBody>
      </p:sp>
      <p:sp>
        <p:nvSpPr>
          <p:cNvPr id="5" name="文本框 4">
            <a:extLst>
              <a:ext uri="{FF2B5EF4-FFF2-40B4-BE49-F238E27FC236}">
                <a16:creationId xmlns:a16="http://schemas.microsoft.com/office/drawing/2014/main" id="{C4EA335B-4392-C744-AFCE-E1F1A3DA094C}"/>
              </a:ext>
            </a:extLst>
          </p:cNvPr>
          <p:cNvSpPr txBox="1"/>
          <p:nvPr/>
        </p:nvSpPr>
        <p:spPr>
          <a:xfrm>
            <a:off x="529137" y="1198493"/>
            <a:ext cx="7643264" cy="923330"/>
          </a:xfrm>
          <a:prstGeom prst="rect">
            <a:avLst/>
          </a:prstGeom>
          <a:noFill/>
        </p:spPr>
        <p:txBody>
          <a:bodyPr wrap="square">
            <a:spAutoFit/>
          </a:bodyPr>
          <a:lstStyle/>
          <a:p>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Siemens</a:t>
            </a:r>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 STEP7</a:t>
            </a:r>
            <a:r>
              <a:rPr lang="zh-CN" altLang="en-US" dirty="0">
                <a:latin typeface="SimSun" panose="02010600030101010101" pitchFamily="2" charset="-122"/>
                <a:ea typeface="SimSun" panose="02010600030101010101" pitchFamily="2" charset="-122"/>
              </a:rPr>
              <a:t>为官方的</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程序编辑器，具有完整而丰富的功能，熟悉后可对</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类控制系统的编程原理得到学习和理解，能够掌握</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控制算法的编制与测试。</a:t>
            </a:r>
            <a:endParaRPr lang="zh-CN" altLang="en-US" dirty="0"/>
          </a:p>
        </p:txBody>
      </p:sp>
      <p:pic>
        <p:nvPicPr>
          <p:cNvPr id="6" name="图片 5">
            <a:extLst>
              <a:ext uri="{FF2B5EF4-FFF2-40B4-BE49-F238E27FC236}">
                <a16:creationId xmlns:a16="http://schemas.microsoft.com/office/drawing/2014/main" id="{61F93BD4-65D9-804A-9055-D4790F2FB89F}"/>
              </a:ext>
            </a:extLst>
          </p:cNvPr>
          <p:cNvPicPr>
            <a:picLocks noChangeAspect="1"/>
          </p:cNvPicPr>
          <p:nvPr/>
        </p:nvPicPr>
        <p:blipFill>
          <a:blip r:embed="rId2"/>
          <a:stretch>
            <a:fillRect/>
          </a:stretch>
        </p:blipFill>
        <p:spPr>
          <a:xfrm>
            <a:off x="1190997" y="2153384"/>
            <a:ext cx="3234330" cy="4354289"/>
          </a:xfrm>
          <a:prstGeom prst="rect">
            <a:avLst/>
          </a:prstGeom>
        </p:spPr>
      </p:pic>
      <p:pic>
        <p:nvPicPr>
          <p:cNvPr id="7" name="图片 6">
            <a:extLst>
              <a:ext uri="{FF2B5EF4-FFF2-40B4-BE49-F238E27FC236}">
                <a16:creationId xmlns:a16="http://schemas.microsoft.com/office/drawing/2014/main" id="{65ABE89F-77F3-F944-90E1-EA308C5A769B}"/>
              </a:ext>
            </a:extLst>
          </p:cNvPr>
          <p:cNvPicPr>
            <a:picLocks noChangeAspect="1"/>
          </p:cNvPicPr>
          <p:nvPr/>
        </p:nvPicPr>
        <p:blipFill>
          <a:blip r:embed="rId3"/>
          <a:stretch>
            <a:fillRect/>
          </a:stretch>
        </p:blipFill>
        <p:spPr>
          <a:xfrm>
            <a:off x="4848596" y="1916832"/>
            <a:ext cx="3104407" cy="4683842"/>
          </a:xfrm>
          <a:prstGeom prst="rect">
            <a:avLst/>
          </a:prstGeom>
        </p:spPr>
      </p:pic>
    </p:spTree>
    <p:extLst>
      <p:ext uri="{BB962C8B-B14F-4D97-AF65-F5344CB8AC3E}">
        <p14:creationId xmlns:p14="http://schemas.microsoft.com/office/powerpoint/2010/main" val="35041061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
        <p:nvSpPr>
          <p:cNvPr id="6" name="文本框 5">
            <a:extLst>
              <a:ext uri="{FF2B5EF4-FFF2-40B4-BE49-F238E27FC236}">
                <a16:creationId xmlns:a16="http://schemas.microsoft.com/office/drawing/2014/main" id="{A993B224-5CB7-7795-7712-B5CB96483312}"/>
              </a:ext>
            </a:extLst>
          </p:cNvPr>
          <p:cNvSpPr txBox="1"/>
          <p:nvPr/>
        </p:nvSpPr>
        <p:spPr>
          <a:xfrm>
            <a:off x="529937" y="366713"/>
            <a:ext cx="8084126" cy="800219"/>
          </a:xfrm>
          <a:prstGeom prst="rect">
            <a:avLst/>
          </a:prstGeom>
          <a:noFill/>
        </p:spPr>
        <p:txBody>
          <a:bodyPr wrap="square">
            <a:spAutoFit/>
          </a:bodyPr>
          <a:lstStyle/>
          <a:p>
            <a:r>
              <a:rPr lang="en-US" altLang="zh-CN" sz="2800" b="1" dirty="0">
                <a:latin typeface="TimesNewRomanPS"/>
              </a:rPr>
              <a:t>3.3</a:t>
            </a:r>
            <a:r>
              <a:rPr lang="zh-CN" altLang="en-US" sz="2800" b="1" dirty="0">
                <a:effectLst/>
                <a:latin typeface="TimesNewRomanPS"/>
              </a:rPr>
              <a:t> </a:t>
            </a:r>
            <a:r>
              <a:rPr lang="en-US" altLang="zh-CN" sz="2800" b="1" dirty="0">
                <a:effectLst/>
                <a:latin typeface="TimesNewRomanPS"/>
              </a:rPr>
              <a:t>PLC</a:t>
            </a:r>
            <a:r>
              <a:rPr lang="zh-CN" altLang="en-US" sz="2800" b="1" dirty="0">
                <a:latin typeface="TimesNewRomanPS"/>
              </a:rPr>
              <a:t>模拟器软件</a:t>
            </a:r>
            <a:endParaRPr lang="zh-CN" altLang="en-US" sz="2400" dirty="0"/>
          </a:p>
          <a:p>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monitor4</a:t>
            </a:r>
            <a:endParaRPr lang="zh-CN" altLang="en-US" dirty="0"/>
          </a:p>
        </p:txBody>
      </p:sp>
      <p:pic>
        <p:nvPicPr>
          <p:cNvPr id="5" name="图片 4">
            <a:extLst>
              <a:ext uri="{FF2B5EF4-FFF2-40B4-BE49-F238E27FC236}">
                <a16:creationId xmlns:a16="http://schemas.microsoft.com/office/drawing/2014/main" id="{C8FE7960-E90A-D744-8A0B-8472C6C7B1A0}"/>
              </a:ext>
            </a:extLst>
          </p:cNvPr>
          <p:cNvPicPr>
            <a:picLocks noChangeAspect="1"/>
          </p:cNvPicPr>
          <p:nvPr/>
        </p:nvPicPr>
        <p:blipFill>
          <a:blip r:embed="rId2"/>
          <a:stretch>
            <a:fillRect/>
          </a:stretch>
        </p:blipFill>
        <p:spPr>
          <a:xfrm>
            <a:off x="529937" y="1804758"/>
            <a:ext cx="7498447" cy="4686529"/>
          </a:xfrm>
          <a:prstGeom prst="rect">
            <a:avLst/>
          </a:prstGeom>
        </p:spPr>
      </p:pic>
      <p:sp>
        <p:nvSpPr>
          <p:cNvPr id="7" name="文本框 6">
            <a:extLst>
              <a:ext uri="{FF2B5EF4-FFF2-40B4-BE49-F238E27FC236}">
                <a16:creationId xmlns:a16="http://schemas.microsoft.com/office/drawing/2014/main" id="{7607B4AD-7F13-CE4A-ACA2-F00425F95D4E}"/>
              </a:ext>
            </a:extLst>
          </p:cNvPr>
          <p:cNvSpPr txBox="1"/>
          <p:nvPr/>
        </p:nvSpPr>
        <p:spPr>
          <a:xfrm>
            <a:off x="529137" y="1198493"/>
            <a:ext cx="7643264" cy="646331"/>
          </a:xfrm>
          <a:prstGeom prst="rect">
            <a:avLst/>
          </a:prstGeom>
          <a:noFill/>
        </p:spPr>
        <p:txBody>
          <a:bodyPr wrap="square">
            <a:spAutoFit/>
          </a:bodyPr>
          <a:lstStyle/>
          <a:p>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 </a:t>
            </a:r>
            <a:r>
              <a:rPr lang="en-US" altLang="zh-CN" dirty="0">
                <a:latin typeface="SimSun" panose="02010600030101010101" pitchFamily="2" charset="-122"/>
                <a:ea typeface="SimSun" panose="02010600030101010101" pitchFamily="2" charset="-122"/>
              </a:rPr>
              <a:t>monitor4</a:t>
            </a:r>
            <a:r>
              <a:rPr lang="zh-CN" altLang="en-US" dirty="0">
                <a:latin typeface="SimSun" panose="02010600030101010101" pitchFamily="2" charset="-122"/>
                <a:ea typeface="SimSun" panose="02010600030101010101" pitchFamily="2" charset="-122"/>
              </a:rPr>
              <a:t>用于对编写的</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程序进行编译与测试，有完整的模块拓展与监控显示功能，能够很直观地观察</a:t>
            </a:r>
            <a:r>
              <a:rPr lang="en-US" altLang="zh-CN" dirty="0">
                <a:latin typeface="SimSun" panose="02010600030101010101" pitchFamily="2" charset="-122"/>
                <a:ea typeface="SimSun" panose="02010600030101010101" pitchFamily="2" charset="-122"/>
              </a:rPr>
              <a:t>PLC</a:t>
            </a:r>
            <a:r>
              <a:rPr lang="zh-CN" altLang="en-US" dirty="0">
                <a:latin typeface="SimSun" panose="02010600030101010101" pitchFamily="2" charset="-122"/>
                <a:ea typeface="SimSun" panose="02010600030101010101" pitchFamily="2" charset="-122"/>
              </a:rPr>
              <a:t>程序的执行过程。</a:t>
            </a:r>
            <a:endParaRPr lang="zh-CN" altLang="en-US" dirty="0"/>
          </a:p>
        </p:txBody>
      </p:sp>
    </p:spTree>
    <p:extLst>
      <p:ext uri="{BB962C8B-B14F-4D97-AF65-F5344CB8AC3E}">
        <p14:creationId xmlns:p14="http://schemas.microsoft.com/office/powerpoint/2010/main" val="290237552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
        <p:nvSpPr>
          <p:cNvPr id="6" name="文本框 5">
            <a:extLst>
              <a:ext uri="{FF2B5EF4-FFF2-40B4-BE49-F238E27FC236}">
                <a16:creationId xmlns:a16="http://schemas.microsoft.com/office/drawing/2014/main" id="{99B59245-9122-2533-BA33-5E5E17B589D3}"/>
              </a:ext>
            </a:extLst>
          </p:cNvPr>
          <p:cNvSpPr txBox="1"/>
          <p:nvPr/>
        </p:nvSpPr>
        <p:spPr>
          <a:xfrm>
            <a:off x="529937" y="366713"/>
            <a:ext cx="8084126" cy="523220"/>
          </a:xfrm>
          <a:prstGeom prst="rect">
            <a:avLst/>
          </a:prstGeom>
          <a:noFill/>
        </p:spPr>
        <p:txBody>
          <a:bodyPr wrap="square">
            <a:spAutoFit/>
          </a:bodyPr>
          <a:lstStyle/>
          <a:p>
            <a:r>
              <a:rPr lang="en-US" altLang="zh-CN" sz="2800" b="1" dirty="0">
                <a:latin typeface="TimesNewRomanPS"/>
              </a:rPr>
              <a:t>3.4</a:t>
            </a:r>
            <a:r>
              <a:rPr lang="zh-CN" altLang="en-US" sz="2800" b="1" dirty="0">
                <a:effectLst/>
                <a:latin typeface="TimesNewRomanPS"/>
              </a:rPr>
              <a:t> </a:t>
            </a:r>
            <a:r>
              <a:rPr lang="en-US" altLang="zh-CN" sz="2800" b="1" dirty="0">
                <a:effectLst/>
                <a:latin typeface="TimesNewRomanPS"/>
              </a:rPr>
              <a:t>PLC</a:t>
            </a:r>
            <a:r>
              <a:rPr lang="zh-CN" altLang="en-US" sz="2800" b="1" dirty="0">
                <a:latin typeface="TimesNewRomanPS"/>
              </a:rPr>
              <a:t>算法测试模拟</a:t>
            </a:r>
            <a:endParaRPr lang="zh-CN" altLang="en-US" sz="2400" dirty="0"/>
          </a:p>
        </p:txBody>
      </p:sp>
      <p:pic>
        <p:nvPicPr>
          <p:cNvPr id="13" name="图片 12">
            <a:extLst>
              <a:ext uri="{FF2B5EF4-FFF2-40B4-BE49-F238E27FC236}">
                <a16:creationId xmlns:a16="http://schemas.microsoft.com/office/drawing/2014/main" id="{75254CD6-3F5B-7672-5204-387F7B46C566}"/>
              </a:ext>
            </a:extLst>
          </p:cNvPr>
          <p:cNvPicPr>
            <a:picLocks noChangeAspect="1"/>
          </p:cNvPicPr>
          <p:nvPr/>
        </p:nvPicPr>
        <p:blipFill>
          <a:blip r:embed="rId2"/>
          <a:stretch>
            <a:fillRect/>
          </a:stretch>
        </p:blipFill>
        <p:spPr>
          <a:xfrm>
            <a:off x="2684761" y="1069952"/>
            <a:ext cx="3774477" cy="2359048"/>
          </a:xfrm>
          <a:prstGeom prst="rect">
            <a:avLst/>
          </a:prstGeom>
        </p:spPr>
      </p:pic>
      <p:pic>
        <p:nvPicPr>
          <p:cNvPr id="19" name="图片 18">
            <a:extLst>
              <a:ext uri="{FF2B5EF4-FFF2-40B4-BE49-F238E27FC236}">
                <a16:creationId xmlns:a16="http://schemas.microsoft.com/office/drawing/2014/main" id="{2F5A95CC-B8B9-6D45-A962-218C8EE6D188}"/>
              </a:ext>
            </a:extLst>
          </p:cNvPr>
          <p:cNvPicPr>
            <a:picLocks noChangeAspect="1"/>
          </p:cNvPicPr>
          <p:nvPr/>
        </p:nvPicPr>
        <p:blipFill>
          <a:blip r:embed="rId3"/>
          <a:stretch>
            <a:fillRect/>
          </a:stretch>
        </p:blipFill>
        <p:spPr>
          <a:xfrm>
            <a:off x="2584687" y="4007145"/>
            <a:ext cx="3974626" cy="2484142"/>
          </a:xfrm>
          <a:prstGeom prst="rect">
            <a:avLst/>
          </a:prstGeom>
        </p:spPr>
      </p:pic>
    </p:spTree>
    <p:extLst>
      <p:ext uri="{BB962C8B-B14F-4D97-AF65-F5344CB8AC3E}">
        <p14:creationId xmlns:p14="http://schemas.microsoft.com/office/powerpoint/2010/main" val="428885533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pic>
        <p:nvPicPr>
          <p:cNvPr id="7" name="图片 6">
            <a:extLst>
              <a:ext uri="{FF2B5EF4-FFF2-40B4-BE49-F238E27FC236}">
                <a16:creationId xmlns:a16="http://schemas.microsoft.com/office/drawing/2014/main" id="{E6C03466-013D-F622-DED0-45F751BE7390}"/>
              </a:ext>
            </a:extLst>
          </p:cNvPr>
          <p:cNvPicPr>
            <a:picLocks noChangeAspect="1"/>
          </p:cNvPicPr>
          <p:nvPr/>
        </p:nvPicPr>
        <p:blipFill>
          <a:blip r:embed="rId2"/>
          <a:stretch>
            <a:fillRect/>
          </a:stretch>
        </p:blipFill>
        <p:spPr>
          <a:xfrm>
            <a:off x="2574532" y="546943"/>
            <a:ext cx="3994935" cy="2496834"/>
          </a:xfrm>
          <a:prstGeom prst="rect">
            <a:avLst/>
          </a:prstGeom>
        </p:spPr>
      </p:pic>
      <p:pic>
        <p:nvPicPr>
          <p:cNvPr id="10" name="图片 9">
            <a:extLst>
              <a:ext uri="{FF2B5EF4-FFF2-40B4-BE49-F238E27FC236}">
                <a16:creationId xmlns:a16="http://schemas.microsoft.com/office/drawing/2014/main" id="{00EA7886-9A7D-23AF-9CAD-11EE732BC2E9}"/>
              </a:ext>
            </a:extLst>
          </p:cNvPr>
          <p:cNvPicPr>
            <a:picLocks noChangeAspect="1"/>
          </p:cNvPicPr>
          <p:nvPr/>
        </p:nvPicPr>
        <p:blipFill>
          <a:blip r:embed="rId3"/>
          <a:stretch>
            <a:fillRect/>
          </a:stretch>
        </p:blipFill>
        <p:spPr>
          <a:xfrm>
            <a:off x="2574532" y="3496956"/>
            <a:ext cx="4739478" cy="2962174"/>
          </a:xfrm>
          <a:prstGeom prst="rect">
            <a:avLst/>
          </a:prstGeom>
        </p:spPr>
      </p:pic>
    </p:spTree>
    <p:extLst>
      <p:ext uri="{BB962C8B-B14F-4D97-AF65-F5344CB8AC3E}">
        <p14:creationId xmlns:p14="http://schemas.microsoft.com/office/powerpoint/2010/main" val="338095943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pic>
        <p:nvPicPr>
          <p:cNvPr id="7" name="图片 6">
            <a:extLst>
              <a:ext uri="{FF2B5EF4-FFF2-40B4-BE49-F238E27FC236}">
                <a16:creationId xmlns:a16="http://schemas.microsoft.com/office/drawing/2014/main" id="{E0C01E0F-FE36-D663-1944-E7DA53A4EC96}"/>
              </a:ext>
            </a:extLst>
          </p:cNvPr>
          <p:cNvPicPr>
            <a:picLocks noChangeAspect="1"/>
          </p:cNvPicPr>
          <p:nvPr/>
        </p:nvPicPr>
        <p:blipFill>
          <a:blip r:embed="rId2"/>
          <a:stretch>
            <a:fillRect/>
          </a:stretch>
        </p:blipFill>
        <p:spPr>
          <a:xfrm>
            <a:off x="2695642" y="546943"/>
            <a:ext cx="4622443" cy="2889027"/>
          </a:xfrm>
          <a:prstGeom prst="rect">
            <a:avLst/>
          </a:prstGeom>
        </p:spPr>
      </p:pic>
      <p:pic>
        <p:nvPicPr>
          <p:cNvPr id="10" name="图片 9">
            <a:extLst>
              <a:ext uri="{FF2B5EF4-FFF2-40B4-BE49-F238E27FC236}">
                <a16:creationId xmlns:a16="http://schemas.microsoft.com/office/drawing/2014/main" id="{191983B7-5888-C587-0192-ABBEF2E2861C}"/>
              </a:ext>
            </a:extLst>
          </p:cNvPr>
          <p:cNvPicPr>
            <a:picLocks noChangeAspect="1"/>
          </p:cNvPicPr>
          <p:nvPr/>
        </p:nvPicPr>
        <p:blipFill>
          <a:blip r:embed="rId3"/>
          <a:stretch>
            <a:fillRect/>
          </a:stretch>
        </p:blipFill>
        <p:spPr>
          <a:xfrm>
            <a:off x="2695642" y="3506008"/>
            <a:ext cx="4622443" cy="2889027"/>
          </a:xfrm>
          <a:prstGeom prst="rect">
            <a:avLst/>
          </a:prstGeom>
        </p:spPr>
      </p:pic>
    </p:spTree>
    <p:extLst>
      <p:ext uri="{BB962C8B-B14F-4D97-AF65-F5344CB8AC3E}">
        <p14:creationId xmlns:p14="http://schemas.microsoft.com/office/powerpoint/2010/main" val="359286804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pic>
        <p:nvPicPr>
          <p:cNvPr id="5" name="图片 4">
            <a:extLst>
              <a:ext uri="{FF2B5EF4-FFF2-40B4-BE49-F238E27FC236}">
                <a16:creationId xmlns:a16="http://schemas.microsoft.com/office/drawing/2014/main" id="{C861757D-CA67-E6D3-9605-DB1979E9E802}"/>
              </a:ext>
            </a:extLst>
          </p:cNvPr>
          <p:cNvPicPr>
            <a:picLocks noChangeAspect="1"/>
          </p:cNvPicPr>
          <p:nvPr/>
        </p:nvPicPr>
        <p:blipFill>
          <a:blip r:embed="rId2"/>
          <a:stretch>
            <a:fillRect/>
          </a:stretch>
        </p:blipFill>
        <p:spPr>
          <a:xfrm>
            <a:off x="2677089" y="412415"/>
            <a:ext cx="3789822" cy="2368639"/>
          </a:xfrm>
          <a:prstGeom prst="rect">
            <a:avLst/>
          </a:prstGeom>
        </p:spPr>
      </p:pic>
      <p:pic>
        <p:nvPicPr>
          <p:cNvPr id="8" name="图片 7">
            <a:extLst>
              <a:ext uri="{FF2B5EF4-FFF2-40B4-BE49-F238E27FC236}">
                <a16:creationId xmlns:a16="http://schemas.microsoft.com/office/drawing/2014/main" id="{8F28338C-D8BC-D200-A5A1-831FB015A0C5}"/>
              </a:ext>
            </a:extLst>
          </p:cNvPr>
          <p:cNvPicPr>
            <a:picLocks noChangeAspect="1"/>
          </p:cNvPicPr>
          <p:nvPr/>
        </p:nvPicPr>
        <p:blipFill>
          <a:blip r:embed="rId3"/>
          <a:stretch>
            <a:fillRect/>
          </a:stretch>
        </p:blipFill>
        <p:spPr>
          <a:xfrm>
            <a:off x="2677089" y="3105305"/>
            <a:ext cx="3789822" cy="2368639"/>
          </a:xfrm>
          <a:prstGeom prst="rect">
            <a:avLst/>
          </a:prstGeom>
        </p:spPr>
      </p:pic>
    </p:spTree>
    <p:extLst>
      <p:ext uri="{BB962C8B-B14F-4D97-AF65-F5344CB8AC3E}">
        <p14:creationId xmlns:p14="http://schemas.microsoft.com/office/powerpoint/2010/main" val="242630638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pic>
        <p:nvPicPr>
          <p:cNvPr id="8" name="图片 7">
            <a:extLst>
              <a:ext uri="{FF2B5EF4-FFF2-40B4-BE49-F238E27FC236}">
                <a16:creationId xmlns:a16="http://schemas.microsoft.com/office/drawing/2014/main" id="{D068A6C3-3D0B-FCE7-F976-38BA70C15A0D}"/>
              </a:ext>
            </a:extLst>
          </p:cNvPr>
          <p:cNvPicPr>
            <a:picLocks noChangeAspect="1"/>
          </p:cNvPicPr>
          <p:nvPr/>
        </p:nvPicPr>
        <p:blipFill>
          <a:blip r:embed="rId2"/>
          <a:stretch>
            <a:fillRect/>
          </a:stretch>
        </p:blipFill>
        <p:spPr>
          <a:xfrm>
            <a:off x="2564573" y="636927"/>
            <a:ext cx="4014854" cy="2509284"/>
          </a:xfrm>
          <a:prstGeom prst="rect">
            <a:avLst/>
          </a:prstGeom>
        </p:spPr>
      </p:pic>
      <p:pic>
        <p:nvPicPr>
          <p:cNvPr id="11" name="图片 10">
            <a:extLst>
              <a:ext uri="{FF2B5EF4-FFF2-40B4-BE49-F238E27FC236}">
                <a16:creationId xmlns:a16="http://schemas.microsoft.com/office/drawing/2014/main" id="{63E5FAC2-5C62-B29B-2BC4-DB5442FFC801}"/>
              </a:ext>
            </a:extLst>
          </p:cNvPr>
          <p:cNvPicPr>
            <a:picLocks noChangeAspect="1"/>
          </p:cNvPicPr>
          <p:nvPr/>
        </p:nvPicPr>
        <p:blipFill>
          <a:blip r:embed="rId3"/>
          <a:stretch>
            <a:fillRect/>
          </a:stretch>
        </p:blipFill>
        <p:spPr>
          <a:xfrm>
            <a:off x="2515935" y="3711790"/>
            <a:ext cx="4014855" cy="2509284"/>
          </a:xfrm>
          <a:prstGeom prst="rect">
            <a:avLst/>
          </a:prstGeom>
        </p:spPr>
      </p:pic>
    </p:spTree>
    <p:extLst>
      <p:ext uri="{BB962C8B-B14F-4D97-AF65-F5344CB8AC3E}">
        <p14:creationId xmlns:p14="http://schemas.microsoft.com/office/powerpoint/2010/main" val="29003335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3" name="文本框 2">
            <a:extLst>
              <a:ext uri="{FF2B5EF4-FFF2-40B4-BE49-F238E27FC236}">
                <a16:creationId xmlns:a16="http://schemas.microsoft.com/office/drawing/2014/main" id="{8EE1150A-916C-6B83-1C34-BC4AB793397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pic>
        <p:nvPicPr>
          <p:cNvPr id="5" name="图片 4">
            <a:extLst>
              <a:ext uri="{FF2B5EF4-FFF2-40B4-BE49-F238E27FC236}">
                <a16:creationId xmlns:a16="http://schemas.microsoft.com/office/drawing/2014/main" id="{89776A1E-3B1A-A13A-01BD-7EC939838613}"/>
              </a:ext>
            </a:extLst>
          </p:cNvPr>
          <p:cNvPicPr>
            <a:picLocks noChangeAspect="1"/>
          </p:cNvPicPr>
          <p:nvPr/>
        </p:nvPicPr>
        <p:blipFill>
          <a:blip r:embed="rId2"/>
          <a:stretch>
            <a:fillRect/>
          </a:stretch>
        </p:blipFill>
        <p:spPr>
          <a:xfrm>
            <a:off x="2352355" y="3635791"/>
            <a:ext cx="4439290" cy="2774556"/>
          </a:xfrm>
          <a:prstGeom prst="rect">
            <a:avLst/>
          </a:prstGeom>
        </p:spPr>
      </p:pic>
      <p:pic>
        <p:nvPicPr>
          <p:cNvPr id="6" name="图片 5">
            <a:extLst>
              <a:ext uri="{FF2B5EF4-FFF2-40B4-BE49-F238E27FC236}">
                <a16:creationId xmlns:a16="http://schemas.microsoft.com/office/drawing/2014/main" id="{3FAF9B3F-09E8-EB9E-4F78-F299A3C62722}"/>
              </a:ext>
            </a:extLst>
          </p:cNvPr>
          <p:cNvPicPr>
            <a:picLocks noChangeAspect="1"/>
          </p:cNvPicPr>
          <p:nvPr/>
        </p:nvPicPr>
        <p:blipFill>
          <a:blip r:embed="rId3"/>
          <a:stretch>
            <a:fillRect/>
          </a:stretch>
        </p:blipFill>
        <p:spPr>
          <a:xfrm>
            <a:off x="2352355" y="475341"/>
            <a:ext cx="4439290" cy="2774556"/>
          </a:xfrm>
          <a:prstGeom prst="rect">
            <a:avLst/>
          </a:prstGeom>
        </p:spPr>
      </p:pic>
    </p:spTree>
    <p:extLst>
      <p:ext uri="{BB962C8B-B14F-4D97-AF65-F5344CB8AC3E}">
        <p14:creationId xmlns:p14="http://schemas.microsoft.com/office/powerpoint/2010/main" val="342420494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4</a:t>
            </a:r>
            <a:r>
              <a:rPr lang="zh-CN" altLang="en-US" sz="3600" dirty="0"/>
              <a:t>、</a:t>
            </a:r>
            <a:r>
              <a:rPr lang="en" altLang="zh-CN" sz="3600" dirty="0"/>
              <a:t>PLC</a:t>
            </a:r>
            <a:r>
              <a:rPr lang="zh-CN" altLang="en-US" sz="3600" dirty="0"/>
              <a:t>基础功能编程</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7" name="文本框 6">
            <a:extLst>
              <a:ext uri="{FF2B5EF4-FFF2-40B4-BE49-F238E27FC236}">
                <a16:creationId xmlns:a16="http://schemas.microsoft.com/office/drawing/2014/main" id="{56E16FC7-1E09-B44D-91B8-C40D97C282F1}"/>
              </a:ext>
            </a:extLst>
          </p:cNvPr>
          <p:cNvSpPr txBox="1"/>
          <p:nvPr/>
        </p:nvSpPr>
        <p:spPr>
          <a:xfrm>
            <a:off x="683568" y="1196752"/>
            <a:ext cx="8003232" cy="1354217"/>
          </a:xfrm>
          <a:prstGeom prst="rect">
            <a:avLst/>
          </a:prstGeom>
          <a:noFill/>
        </p:spPr>
        <p:txBody>
          <a:bodyPr wrap="square">
            <a:spAutoFit/>
          </a:bodyPr>
          <a:lstStyle/>
          <a:p>
            <a:r>
              <a:rPr lang="en-US" altLang="zh-CN" sz="2800" b="1" dirty="0">
                <a:effectLst/>
                <a:latin typeface="TimesNewRomanPS"/>
              </a:rPr>
              <a:t>4.1</a:t>
            </a:r>
            <a:r>
              <a:rPr lang="zh-CN" altLang="en-US" sz="2800" b="1" dirty="0">
                <a:effectLst/>
                <a:latin typeface="TimesNewRomanPS"/>
              </a:rPr>
              <a:t> 先动作优先电路程序编写</a:t>
            </a:r>
            <a:endParaRPr lang="zh-CN" altLang="en-US" sz="2400" dirty="0"/>
          </a:p>
          <a:p>
            <a:r>
              <a:rPr lang="zh-CN" altLang="en-US" sz="1800" dirty="0">
                <a:effectLst/>
                <a:latin typeface="SimSun" panose="02010600030101010101" pitchFamily="2" charset="-122"/>
                <a:ea typeface="SimSun" panose="02010600030101010101" pitchFamily="2" charset="-122"/>
              </a:rPr>
              <a:t>按下相应的常开按钮时，对应的线圈得电自锁，其常开触点闭合，触发中间继电器</a:t>
            </a:r>
            <a:r>
              <a:rPr lang="en-US" altLang="zh-CN" sz="1800" dirty="0">
                <a:effectLst/>
                <a:latin typeface="SimSun" panose="02010600030101010101" pitchFamily="2" charset="-122"/>
                <a:ea typeface="SimSun" panose="02010600030101010101" pitchFamily="2" charset="-122"/>
              </a:rPr>
              <a:t>(</a:t>
            </a:r>
            <a:r>
              <a:rPr lang="en" altLang="zh-CN" sz="1800" dirty="0">
                <a:effectLst/>
                <a:latin typeface="TimesNewRomanPSMT"/>
              </a:rPr>
              <a:t>M0) </a:t>
            </a:r>
            <a:r>
              <a:rPr lang="zh-CN" altLang="en-US" sz="1800" dirty="0">
                <a:effectLst/>
                <a:latin typeface="SimSun" panose="02010600030101010101" pitchFamily="2" charset="-122"/>
                <a:ea typeface="SimSun" panose="02010600030101010101" pitchFamily="2" charset="-122"/>
              </a:rPr>
              <a:t>线圈得电，其常开触点闭合，断开其它按钮的回路，从而达到先动作优先电路。 </a:t>
            </a:r>
            <a:endParaRPr lang="zh-CN" altLang="en-US" dirty="0"/>
          </a:p>
        </p:txBody>
      </p:sp>
      <p:pic>
        <p:nvPicPr>
          <p:cNvPr id="3" name="图片 2">
            <a:extLst>
              <a:ext uri="{FF2B5EF4-FFF2-40B4-BE49-F238E27FC236}">
                <a16:creationId xmlns:a16="http://schemas.microsoft.com/office/drawing/2014/main" id="{0138CE31-4D40-5B42-9E9A-D7E1872B75C1}"/>
              </a:ext>
            </a:extLst>
          </p:cNvPr>
          <p:cNvPicPr>
            <a:picLocks noChangeAspect="1"/>
          </p:cNvPicPr>
          <p:nvPr/>
        </p:nvPicPr>
        <p:blipFill>
          <a:blip r:embed="rId2"/>
          <a:stretch>
            <a:fillRect/>
          </a:stretch>
        </p:blipFill>
        <p:spPr>
          <a:xfrm>
            <a:off x="143211" y="3064172"/>
            <a:ext cx="8857577" cy="2597076"/>
          </a:xfrm>
          <a:prstGeom prst="rect">
            <a:avLst/>
          </a:prstGeom>
        </p:spPr>
      </p:pic>
      <p:sp>
        <p:nvSpPr>
          <p:cNvPr id="11" name="文本框 10">
            <a:extLst>
              <a:ext uri="{FF2B5EF4-FFF2-40B4-BE49-F238E27FC236}">
                <a16:creationId xmlns:a16="http://schemas.microsoft.com/office/drawing/2014/main" id="{EC2002B0-E84E-E1A8-4383-8F04120B0782}"/>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80476017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FCBF30B-22C4-AE49-AF91-30380ED9895B}"/>
              </a:ext>
            </a:extLst>
          </p:cNvPr>
          <p:cNvSpPr txBox="1">
            <a:spLocks noChangeArrowheads="1"/>
          </p:cNvSpPr>
          <p:nvPr/>
        </p:nvSpPr>
        <p:spPr bwMode="auto">
          <a:xfrm>
            <a:off x="251520" y="404664"/>
            <a:ext cx="8640960" cy="64807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latin typeface="SimSun" panose="02010600030101010101" pitchFamily="2" charset="-122"/>
                <a:ea typeface="SimSun" panose="02010600030101010101" pitchFamily="2" charset="-122"/>
              </a:rPr>
              <a:t>2</a:t>
            </a:r>
            <a:r>
              <a:rPr lang="zh-CN" altLang="en-US" sz="2400" dirty="0">
                <a:latin typeface="SimSun" panose="02010600030101010101" pitchFamily="2" charset="-122"/>
                <a:ea typeface="SimSun" panose="02010600030101010101" pitchFamily="2" charset="-122"/>
              </a:rPr>
              <a:t>）编写梯形图</a:t>
            </a:r>
            <a:endParaRPr lang="zh-CN" altLang="en-US" sz="2400" dirty="0"/>
          </a:p>
        </p:txBody>
      </p:sp>
      <p:pic>
        <p:nvPicPr>
          <p:cNvPr id="3" name="图片 2">
            <a:extLst>
              <a:ext uri="{FF2B5EF4-FFF2-40B4-BE49-F238E27FC236}">
                <a16:creationId xmlns:a16="http://schemas.microsoft.com/office/drawing/2014/main" id="{E6DE304E-DE4D-B743-BF42-710C2C8E1F2E}"/>
              </a:ext>
            </a:extLst>
          </p:cNvPr>
          <p:cNvPicPr>
            <a:picLocks noChangeAspect="1"/>
          </p:cNvPicPr>
          <p:nvPr/>
        </p:nvPicPr>
        <p:blipFill>
          <a:blip r:embed="rId2"/>
          <a:stretch>
            <a:fillRect/>
          </a:stretch>
        </p:blipFill>
        <p:spPr>
          <a:xfrm>
            <a:off x="1657534" y="908720"/>
            <a:ext cx="5828931" cy="5724636"/>
          </a:xfrm>
          <a:prstGeom prst="rect">
            <a:avLst/>
          </a:prstGeom>
        </p:spPr>
      </p:pic>
    </p:spTree>
    <p:extLst>
      <p:ext uri="{BB962C8B-B14F-4D97-AF65-F5344CB8AC3E}">
        <p14:creationId xmlns:p14="http://schemas.microsoft.com/office/powerpoint/2010/main" val="384896354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084126" cy="1077218"/>
          </a:xfrm>
          <a:prstGeom prst="rect">
            <a:avLst/>
          </a:prstGeom>
          <a:noFill/>
        </p:spPr>
        <p:txBody>
          <a:bodyPr wrap="square">
            <a:spAutoFit/>
          </a:bodyPr>
          <a:lstStyle/>
          <a:p>
            <a:r>
              <a:rPr lang="en-US" altLang="zh-CN" sz="2800" b="1" dirty="0">
                <a:effectLst/>
                <a:latin typeface="TimesNewRomanPS"/>
              </a:rPr>
              <a:t>4.2</a:t>
            </a:r>
            <a:r>
              <a:rPr lang="zh-CN" altLang="en-US" sz="2800" b="1" dirty="0">
                <a:effectLst/>
                <a:latin typeface="TimesNewRomanPS"/>
              </a:rPr>
              <a:t> 后动作优先电路程序编写</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在电路通电的任何状态中，按下常开按扭 </a:t>
            </a:r>
            <a:r>
              <a:rPr lang="en" altLang="zh-CN" sz="1800" dirty="0">
                <a:effectLst/>
                <a:latin typeface="SimSun" panose="02010600030101010101" pitchFamily="2" charset="-122"/>
                <a:ea typeface="SimSun" panose="02010600030101010101" pitchFamily="2" charset="-122"/>
              </a:rPr>
              <a:t>X000 </a:t>
            </a:r>
            <a:r>
              <a:rPr lang="zh-CN" altLang="en-US" sz="1800" dirty="0">
                <a:effectLst/>
                <a:latin typeface="SimSun" panose="02010600030101010101" pitchFamily="2" charset="-122"/>
                <a:ea typeface="SimSun" panose="02010600030101010101" pitchFamily="2" charset="-122"/>
              </a:rPr>
              <a:t>到 </a:t>
            </a:r>
            <a:r>
              <a:rPr lang="en" altLang="zh-CN" sz="1800" dirty="0">
                <a:effectLst/>
                <a:latin typeface="SimSun" panose="02010600030101010101" pitchFamily="2" charset="-122"/>
                <a:ea typeface="SimSun" panose="02010600030101010101" pitchFamily="2" charset="-122"/>
              </a:rPr>
              <a:t>X003 </a:t>
            </a:r>
            <a:r>
              <a:rPr lang="zh-CN" altLang="en-US" sz="1800" dirty="0">
                <a:effectLst/>
                <a:latin typeface="SimSun" panose="02010600030101010101" pitchFamily="2" charset="-122"/>
                <a:ea typeface="SimSun" panose="02010600030101010101" pitchFamily="2" charset="-122"/>
              </a:rPr>
              <a:t>时对应的继电器线圈得电自锁， 同时相应的常闭触点断开解除其它线圈的自锁</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自保持</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状态。</a:t>
            </a:r>
            <a:endParaRPr lang="zh-CN" altLang="en-US" dirty="0"/>
          </a:p>
        </p:txBody>
      </p:sp>
      <p:pic>
        <p:nvPicPr>
          <p:cNvPr id="2" name="图片 1">
            <a:extLst>
              <a:ext uri="{FF2B5EF4-FFF2-40B4-BE49-F238E27FC236}">
                <a16:creationId xmlns:a16="http://schemas.microsoft.com/office/drawing/2014/main" id="{A95597F4-CB0A-0F42-82BF-9F954286CAD0}"/>
              </a:ext>
            </a:extLst>
          </p:cNvPr>
          <p:cNvPicPr>
            <a:picLocks noChangeAspect="1"/>
          </p:cNvPicPr>
          <p:nvPr/>
        </p:nvPicPr>
        <p:blipFill>
          <a:blip r:embed="rId2"/>
          <a:stretch>
            <a:fillRect/>
          </a:stretch>
        </p:blipFill>
        <p:spPr>
          <a:xfrm>
            <a:off x="2304224" y="1481882"/>
            <a:ext cx="4535552" cy="5376118"/>
          </a:xfrm>
          <a:prstGeom prst="rect">
            <a:avLst/>
          </a:prstGeom>
        </p:spPr>
      </p:pic>
    </p:spTree>
    <p:extLst>
      <p:ext uri="{BB962C8B-B14F-4D97-AF65-F5344CB8AC3E}">
        <p14:creationId xmlns:p14="http://schemas.microsoft.com/office/powerpoint/2010/main" val="29516811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683568" y="404664"/>
            <a:ext cx="8208912" cy="1908215"/>
          </a:xfrm>
          <a:prstGeom prst="rect">
            <a:avLst/>
          </a:prstGeom>
          <a:noFill/>
        </p:spPr>
        <p:txBody>
          <a:bodyPr wrap="square">
            <a:spAutoFit/>
          </a:bodyPr>
          <a:lstStyle/>
          <a:p>
            <a:r>
              <a:rPr lang="en-US" altLang="zh-CN" sz="2800" b="1" dirty="0">
                <a:effectLst/>
                <a:latin typeface="TimesNewRomanPS"/>
              </a:rPr>
              <a:t>4.3</a:t>
            </a:r>
            <a:r>
              <a:rPr lang="zh-CN" altLang="en-US" sz="2800" b="1" dirty="0">
                <a:effectLst/>
                <a:latin typeface="TimesNewRomanPS"/>
              </a:rPr>
              <a:t> 时间继电器电路程序编写</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在电路中，按住常开按扭 </a:t>
            </a:r>
            <a:r>
              <a:rPr lang="en" altLang="zh-CN" sz="1800" dirty="0">
                <a:effectLst/>
                <a:latin typeface="SimSun" panose="02010600030101010101" pitchFamily="2" charset="-122"/>
                <a:ea typeface="SimSun" panose="02010600030101010101" pitchFamily="2" charset="-122"/>
              </a:rPr>
              <a:t>X000 </a:t>
            </a:r>
            <a:r>
              <a:rPr lang="zh-CN" altLang="en-US" sz="1800" dirty="0">
                <a:effectLst/>
                <a:latin typeface="SimSun" panose="02010600030101010101" pitchFamily="2" charset="-122"/>
                <a:ea typeface="SimSun" panose="02010600030101010101" pitchFamily="2" charset="-122"/>
              </a:rPr>
              <a:t>不放，则时间继电器 </a:t>
            </a:r>
            <a:r>
              <a:rPr lang="en" altLang="zh-CN" sz="1800" dirty="0">
                <a:effectLst/>
                <a:latin typeface="SimSun" panose="02010600030101010101" pitchFamily="2" charset="-122"/>
                <a:ea typeface="SimSun" panose="02010600030101010101" pitchFamily="2" charset="-122"/>
              </a:rPr>
              <a:t>T0 </a:t>
            </a:r>
            <a:r>
              <a:rPr lang="zh-CN" altLang="en-US" sz="1800" dirty="0">
                <a:effectLst/>
                <a:latin typeface="SimSun" panose="02010600030101010101" pitchFamily="2" charset="-122"/>
                <a:ea typeface="SimSun" panose="02010600030101010101" pitchFamily="2" charset="-122"/>
              </a:rPr>
              <a:t>线圈得电，开始计时。计时时间 为计时常数 </a:t>
            </a:r>
            <a:r>
              <a:rPr lang="en-US" altLang="zh-CN" sz="1800" dirty="0">
                <a:effectLst/>
                <a:latin typeface="SimSun" panose="02010600030101010101" pitchFamily="2" charset="-122"/>
                <a:ea typeface="SimSun" panose="02010600030101010101" pitchFamily="2" charset="-122"/>
              </a:rPr>
              <a:t>100×</a:t>
            </a:r>
            <a:r>
              <a:rPr lang="zh-CN" altLang="en-US" sz="1800" dirty="0">
                <a:effectLst/>
                <a:latin typeface="SimSun" panose="02010600030101010101" pitchFamily="2" charset="-122"/>
                <a:ea typeface="SimSun" panose="02010600030101010101" pitchFamily="2" charset="-122"/>
              </a:rPr>
              <a:t>计时单位 </a:t>
            </a:r>
            <a:r>
              <a:rPr lang="en-US" altLang="zh-CN" sz="1800" dirty="0">
                <a:effectLst/>
                <a:latin typeface="SimSun" panose="02010600030101010101" pitchFamily="2" charset="-122"/>
                <a:ea typeface="SimSun" panose="02010600030101010101" pitchFamily="2" charset="-122"/>
              </a:rPr>
              <a:t>0.1 </a:t>
            </a:r>
            <a:r>
              <a:rPr lang="zh-CN" altLang="en-US" sz="1800" dirty="0">
                <a:effectLst/>
                <a:latin typeface="SimSun" panose="02010600030101010101" pitchFamily="2" charset="-122"/>
                <a:ea typeface="SimSun" panose="02010600030101010101" pitchFamily="2" charset="-122"/>
              </a:rPr>
              <a:t>秒</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时间继电器 </a:t>
            </a:r>
            <a:r>
              <a:rPr lang="en" altLang="zh-CN" sz="1800" dirty="0">
                <a:effectLst/>
                <a:latin typeface="SimSun" panose="02010600030101010101" pitchFamily="2" charset="-122"/>
                <a:ea typeface="SimSun" panose="02010600030101010101" pitchFamily="2" charset="-122"/>
              </a:rPr>
              <a:t>T0 </a:t>
            </a:r>
            <a:r>
              <a:rPr lang="zh-CN" altLang="en-US" sz="1800" dirty="0">
                <a:effectLst/>
                <a:latin typeface="SimSun" panose="02010600030101010101" pitchFamily="2" charset="-122"/>
                <a:ea typeface="SimSun" panose="02010600030101010101" pitchFamily="2" charset="-122"/>
              </a:rPr>
              <a:t>的计时单位为 </a:t>
            </a:r>
            <a:r>
              <a:rPr lang="en-US" altLang="zh-CN" sz="1800" dirty="0">
                <a:effectLst/>
                <a:latin typeface="SimSun" panose="02010600030101010101" pitchFamily="2" charset="-122"/>
                <a:ea typeface="SimSun" panose="02010600030101010101" pitchFamily="2" charset="-122"/>
              </a:rPr>
              <a:t>0.1 </a:t>
            </a:r>
            <a:r>
              <a:rPr lang="zh-CN" altLang="en-US" sz="1800" dirty="0">
                <a:effectLst/>
                <a:latin typeface="SimSun" panose="02010600030101010101" pitchFamily="2" charset="-122"/>
                <a:ea typeface="SimSun" panose="02010600030101010101" pitchFamily="2" charset="-122"/>
              </a:rPr>
              <a:t>秒</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计时时间 </a:t>
            </a:r>
            <a:r>
              <a:rPr lang="en-US" altLang="zh-CN" sz="1800" dirty="0">
                <a:effectLst/>
                <a:latin typeface="SimSun" panose="02010600030101010101" pitchFamily="2" charset="-122"/>
                <a:ea typeface="SimSun" panose="02010600030101010101" pitchFamily="2" charset="-122"/>
              </a:rPr>
              <a:t>10 </a:t>
            </a:r>
            <a:r>
              <a:rPr lang="zh-CN" altLang="en-US" sz="1800" dirty="0">
                <a:effectLst/>
                <a:latin typeface="SimSun" panose="02010600030101010101" pitchFamily="2" charset="-122"/>
                <a:ea typeface="SimSun" panose="02010600030101010101" pitchFamily="2" charset="-122"/>
              </a:rPr>
              <a:t>秒。 计时时间 </a:t>
            </a:r>
            <a:r>
              <a:rPr lang="en-US" altLang="zh-CN" sz="1800" dirty="0">
                <a:effectLst/>
                <a:latin typeface="SimSun" panose="02010600030101010101" pitchFamily="2" charset="-122"/>
                <a:ea typeface="SimSun" panose="02010600030101010101" pitchFamily="2" charset="-122"/>
              </a:rPr>
              <a:t>10 </a:t>
            </a:r>
            <a:r>
              <a:rPr lang="zh-CN" altLang="en-US" sz="1800" dirty="0">
                <a:effectLst/>
                <a:latin typeface="SimSun" panose="02010600030101010101" pitchFamily="2" charset="-122"/>
                <a:ea typeface="SimSun" panose="02010600030101010101" pitchFamily="2" charset="-122"/>
              </a:rPr>
              <a:t>秒到后，</a:t>
            </a:r>
            <a:r>
              <a:rPr lang="en" altLang="zh-CN" sz="1800" dirty="0">
                <a:effectLst/>
                <a:latin typeface="SimSun" panose="02010600030101010101" pitchFamily="2" charset="-122"/>
                <a:ea typeface="SimSun" panose="02010600030101010101" pitchFamily="2" charset="-122"/>
              </a:rPr>
              <a:t>T0 </a:t>
            </a:r>
            <a:r>
              <a:rPr lang="zh-CN" altLang="en-US" sz="1800" dirty="0">
                <a:effectLst/>
                <a:latin typeface="SimSun" panose="02010600030101010101" pitchFamily="2" charset="-122"/>
                <a:ea typeface="SimSun" panose="02010600030101010101" pitchFamily="2" charset="-122"/>
              </a:rPr>
              <a:t>串联在 </a:t>
            </a:r>
            <a:r>
              <a:rPr lang="en" altLang="zh-CN" sz="1800" dirty="0">
                <a:effectLst/>
                <a:latin typeface="SimSun" panose="02010600030101010101" pitchFamily="2" charset="-122"/>
                <a:ea typeface="SimSun" panose="02010600030101010101" pitchFamily="2" charset="-122"/>
              </a:rPr>
              <a:t>Y000 </a:t>
            </a:r>
            <a:r>
              <a:rPr lang="zh-CN" altLang="en-US" sz="1800" dirty="0">
                <a:effectLst/>
                <a:latin typeface="SimSun" panose="02010600030101010101" pitchFamily="2" charset="-122"/>
                <a:ea typeface="SimSun" panose="02010600030101010101" pitchFamily="2" charset="-122"/>
              </a:rPr>
              <a:t>线圈前面的常开触点闭合，</a:t>
            </a:r>
            <a:r>
              <a:rPr lang="en" altLang="zh-CN" sz="1800" dirty="0">
                <a:effectLst/>
                <a:latin typeface="SimSun" panose="02010600030101010101" pitchFamily="2" charset="-122"/>
                <a:ea typeface="SimSun" panose="02010600030101010101" pitchFamily="2" charset="-122"/>
              </a:rPr>
              <a:t>Y000 </a:t>
            </a:r>
            <a:r>
              <a:rPr lang="zh-CN" altLang="en-US" sz="1800" dirty="0">
                <a:effectLst/>
                <a:latin typeface="SimSun" panose="02010600030101010101" pitchFamily="2" charset="-122"/>
                <a:ea typeface="SimSun" panose="02010600030101010101" pitchFamily="2" charset="-122"/>
              </a:rPr>
              <a:t>线圈得电并自保持， 松开常开按钮 </a:t>
            </a:r>
            <a:r>
              <a:rPr lang="en" altLang="zh-CN" sz="1800" dirty="0">
                <a:effectLst/>
                <a:latin typeface="SimSun" panose="02010600030101010101" pitchFamily="2" charset="-122"/>
                <a:ea typeface="SimSun" panose="02010600030101010101" pitchFamily="2" charset="-122"/>
              </a:rPr>
              <a:t>X000</a:t>
            </a:r>
            <a:r>
              <a:rPr lang="zh-CN" altLang="en" sz="1800" dirty="0">
                <a:effectLst/>
                <a:latin typeface="SimSun" panose="02010600030101010101" pitchFamily="2" charset="-122"/>
                <a:ea typeface="SimSun" panose="02010600030101010101" pitchFamily="2" charset="-122"/>
              </a:rPr>
              <a:t>，</a:t>
            </a:r>
            <a:r>
              <a:rPr lang="en" altLang="zh-CN" sz="1800" dirty="0">
                <a:effectLst/>
                <a:latin typeface="SimSun" panose="02010600030101010101" pitchFamily="2" charset="-122"/>
                <a:ea typeface="SimSun" panose="02010600030101010101" pitchFamily="2" charset="-122"/>
              </a:rPr>
              <a:t>Y000 </a:t>
            </a:r>
            <a:r>
              <a:rPr lang="zh-CN" altLang="en-US" sz="1800" dirty="0">
                <a:effectLst/>
                <a:latin typeface="SimSun" panose="02010600030101010101" pitchFamily="2" charset="-122"/>
                <a:ea typeface="SimSun" panose="02010600030101010101" pitchFamily="2" charset="-122"/>
              </a:rPr>
              <a:t>对应的指示灯亮。 </a:t>
            </a:r>
            <a:endParaRPr lang="zh-CN" altLang="en-US" dirty="0"/>
          </a:p>
        </p:txBody>
      </p:sp>
      <p:pic>
        <p:nvPicPr>
          <p:cNvPr id="3" name="图片 2">
            <a:extLst>
              <a:ext uri="{FF2B5EF4-FFF2-40B4-BE49-F238E27FC236}">
                <a16:creationId xmlns:a16="http://schemas.microsoft.com/office/drawing/2014/main" id="{7061BFB6-BF64-D840-9256-58E132A1D6C0}"/>
              </a:ext>
            </a:extLst>
          </p:cNvPr>
          <p:cNvPicPr>
            <a:picLocks noChangeAspect="1"/>
          </p:cNvPicPr>
          <p:nvPr/>
        </p:nvPicPr>
        <p:blipFill>
          <a:blip r:embed="rId2"/>
          <a:stretch>
            <a:fillRect/>
          </a:stretch>
        </p:blipFill>
        <p:spPr>
          <a:xfrm>
            <a:off x="899592" y="2345536"/>
            <a:ext cx="7488832" cy="3564742"/>
          </a:xfrm>
          <a:prstGeom prst="rect">
            <a:avLst/>
          </a:prstGeom>
        </p:spPr>
      </p:pic>
    </p:spTree>
    <p:extLst>
      <p:ext uri="{BB962C8B-B14F-4D97-AF65-F5344CB8AC3E}">
        <p14:creationId xmlns:p14="http://schemas.microsoft.com/office/powerpoint/2010/main" val="397954715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23528" y="421906"/>
            <a:ext cx="8424936" cy="1908215"/>
          </a:xfrm>
          <a:prstGeom prst="rect">
            <a:avLst/>
          </a:prstGeom>
          <a:noFill/>
        </p:spPr>
        <p:txBody>
          <a:bodyPr wrap="square">
            <a:spAutoFit/>
          </a:bodyPr>
          <a:lstStyle/>
          <a:p>
            <a:r>
              <a:rPr lang="en-US" altLang="zh-CN" sz="2800" b="1" dirty="0">
                <a:effectLst/>
                <a:latin typeface="TimesNewRomanPS"/>
              </a:rPr>
              <a:t>4.4</a:t>
            </a:r>
            <a:r>
              <a:rPr lang="zh-CN" altLang="en-US" sz="2800" b="1" dirty="0">
                <a:effectLst/>
                <a:latin typeface="TimesNewRomanPS"/>
              </a:rPr>
              <a:t> 计数器电路程序编写</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在电路中，按下常开按扭 </a:t>
            </a:r>
            <a:r>
              <a:rPr lang="en" altLang="zh-CN" sz="1800" dirty="0">
                <a:effectLst/>
                <a:latin typeface="TimesNewRomanPSMT"/>
              </a:rPr>
              <a:t>X000</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再松开，给计数器 </a:t>
            </a:r>
            <a:r>
              <a:rPr lang="en" altLang="zh-CN" sz="1800" dirty="0">
                <a:effectLst/>
                <a:latin typeface="TimesNewRomanPSMT"/>
              </a:rPr>
              <a:t>C0 </a:t>
            </a:r>
            <a:r>
              <a:rPr lang="zh-CN" altLang="en-US" sz="1800" dirty="0">
                <a:effectLst/>
                <a:latin typeface="SimSun" panose="02010600030101010101" pitchFamily="2" charset="-122"/>
                <a:ea typeface="SimSun" panose="02010600030101010101" pitchFamily="2" charset="-122"/>
              </a:rPr>
              <a:t>一个计数脉冲</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再按下常开按 扭 </a:t>
            </a:r>
            <a:r>
              <a:rPr lang="en" altLang="zh-CN" sz="1800" dirty="0">
                <a:effectLst/>
                <a:latin typeface="TimesNewRomanPSMT"/>
              </a:rPr>
              <a:t>X000</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再松开，给计数器 </a:t>
            </a:r>
            <a:r>
              <a:rPr lang="en" altLang="zh-CN" sz="1800" dirty="0">
                <a:effectLst/>
                <a:latin typeface="TimesNewRomanPSMT"/>
              </a:rPr>
              <a:t>C0 </a:t>
            </a:r>
            <a:r>
              <a:rPr lang="zh-CN" altLang="en-US" sz="1800" dirty="0">
                <a:effectLst/>
                <a:latin typeface="SimSun" panose="02010600030101010101" pitchFamily="2" charset="-122"/>
                <a:ea typeface="SimSun" panose="02010600030101010101" pitchFamily="2" charset="-122"/>
              </a:rPr>
              <a:t>第二个计数脉冲</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同理再按下松开，给计数器 </a:t>
            </a:r>
            <a:r>
              <a:rPr lang="en" altLang="zh-CN" sz="1800" dirty="0">
                <a:effectLst/>
                <a:latin typeface="TimesNewRomanPSMT"/>
              </a:rPr>
              <a:t>C0 </a:t>
            </a:r>
            <a:r>
              <a:rPr lang="zh-CN" altLang="en-US" sz="1800" dirty="0">
                <a:effectLst/>
                <a:latin typeface="SimSun" panose="02010600030101010101" pitchFamily="2" charset="-122"/>
                <a:ea typeface="SimSun" panose="02010600030101010101" pitchFamily="2" charset="-122"/>
              </a:rPr>
              <a:t>第三个计 数脉冲。计数器计数脉冲 </a:t>
            </a:r>
            <a:r>
              <a:rPr lang="en-US" altLang="zh-CN" sz="1800" dirty="0">
                <a:effectLst/>
                <a:latin typeface="TimesNewRomanPSMT"/>
              </a:rPr>
              <a:t>3 </a:t>
            </a:r>
            <a:r>
              <a:rPr lang="zh-CN" altLang="en-US" sz="1800" dirty="0">
                <a:effectLst/>
                <a:latin typeface="SimSun" panose="02010600030101010101" pitchFamily="2" charset="-122"/>
                <a:ea typeface="SimSun" panose="02010600030101010101" pitchFamily="2" charset="-122"/>
              </a:rPr>
              <a:t>次到，则计数器 </a:t>
            </a:r>
            <a:r>
              <a:rPr lang="en" altLang="zh-CN" sz="1800" dirty="0">
                <a:effectLst/>
                <a:latin typeface="TimesNewRomanPSMT"/>
              </a:rPr>
              <a:t>C0 </a:t>
            </a:r>
            <a:r>
              <a:rPr lang="zh-CN" altLang="en-US" sz="1800" dirty="0">
                <a:effectLst/>
                <a:latin typeface="SimSun" panose="02010600030101010101" pitchFamily="2" charset="-122"/>
                <a:ea typeface="SimSun" panose="02010600030101010101" pitchFamily="2" charset="-122"/>
              </a:rPr>
              <a:t>的线圈得电，</a:t>
            </a:r>
            <a:r>
              <a:rPr lang="en" altLang="zh-CN" sz="1800" dirty="0">
                <a:effectLst/>
                <a:latin typeface="TimesNewRomanPSMT"/>
              </a:rPr>
              <a:t>C0 </a:t>
            </a:r>
            <a:r>
              <a:rPr lang="zh-CN" altLang="en-US" sz="1800" dirty="0">
                <a:effectLst/>
                <a:latin typeface="SimSun" panose="02010600030101010101" pitchFamily="2" charset="-122"/>
                <a:ea typeface="SimSun" panose="02010600030101010101" pitchFamily="2" charset="-122"/>
              </a:rPr>
              <a:t>串联在 </a:t>
            </a:r>
            <a:r>
              <a:rPr lang="en" altLang="zh-CN" sz="1800" dirty="0">
                <a:effectLst/>
                <a:latin typeface="TimesNewRomanPSMT"/>
              </a:rPr>
              <a:t>Y000 </a:t>
            </a:r>
            <a:r>
              <a:rPr lang="zh-CN" altLang="en-US" sz="1800" dirty="0">
                <a:effectLst/>
                <a:latin typeface="SimSun" panose="02010600030101010101" pitchFamily="2" charset="-122"/>
                <a:ea typeface="SimSun" panose="02010600030101010101" pitchFamily="2" charset="-122"/>
              </a:rPr>
              <a:t>线圈前面的常 开触点闭合，</a:t>
            </a:r>
            <a:r>
              <a:rPr lang="en" altLang="zh-CN" sz="1800" dirty="0">
                <a:effectLst/>
                <a:latin typeface="TimesNewRomanPSMT"/>
              </a:rPr>
              <a:t>Y000 </a:t>
            </a:r>
            <a:r>
              <a:rPr lang="zh-CN" altLang="en-US" sz="1800" dirty="0">
                <a:effectLst/>
                <a:latin typeface="SimSun" panose="02010600030101010101" pitchFamily="2" charset="-122"/>
                <a:ea typeface="SimSun" panose="02010600030101010101" pitchFamily="2" charset="-122"/>
              </a:rPr>
              <a:t>线圈得电并自保持，</a:t>
            </a:r>
            <a:r>
              <a:rPr lang="en" altLang="zh-CN" sz="1800" dirty="0">
                <a:effectLst/>
                <a:latin typeface="TimesNewRomanPSMT"/>
              </a:rPr>
              <a:t>Y000 </a:t>
            </a:r>
            <a:r>
              <a:rPr lang="zh-CN" altLang="en-US" sz="1800" dirty="0">
                <a:effectLst/>
                <a:latin typeface="SimSun" panose="02010600030101010101" pitchFamily="2" charset="-122"/>
                <a:ea typeface="SimSun" panose="02010600030101010101" pitchFamily="2" charset="-122"/>
              </a:rPr>
              <a:t>对应的指示灯亮。</a:t>
            </a:r>
            <a:endParaRPr lang="zh-CN" altLang="en-US" dirty="0"/>
          </a:p>
        </p:txBody>
      </p:sp>
      <p:pic>
        <p:nvPicPr>
          <p:cNvPr id="2" name="图片 1">
            <a:extLst>
              <a:ext uri="{FF2B5EF4-FFF2-40B4-BE49-F238E27FC236}">
                <a16:creationId xmlns:a16="http://schemas.microsoft.com/office/drawing/2014/main" id="{69C97E85-25F4-4348-8A79-28B4DAB3F8F7}"/>
              </a:ext>
            </a:extLst>
          </p:cNvPr>
          <p:cNvPicPr>
            <a:picLocks noChangeAspect="1"/>
          </p:cNvPicPr>
          <p:nvPr/>
        </p:nvPicPr>
        <p:blipFill>
          <a:blip r:embed="rId2"/>
          <a:stretch>
            <a:fillRect/>
          </a:stretch>
        </p:blipFill>
        <p:spPr>
          <a:xfrm>
            <a:off x="827584" y="2330121"/>
            <a:ext cx="7920880" cy="3882784"/>
          </a:xfrm>
          <a:prstGeom prst="rect">
            <a:avLst/>
          </a:prstGeom>
        </p:spPr>
      </p:pic>
    </p:spTree>
    <p:extLst>
      <p:ext uri="{BB962C8B-B14F-4D97-AF65-F5344CB8AC3E}">
        <p14:creationId xmlns:p14="http://schemas.microsoft.com/office/powerpoint/2010/main" val="223420301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2462213"/>
          </a:xfrm>
          <a:prstGeom prst="rect">
            <a:avLst/>
          </a:prstGeom>
          <a:noFill/>
        </p:spPr>
        <p:txBody>
          <a:bodyPr wrap="square">
            <a:spAutoFit/>
          </a:bodyPr>
          <a:lstStyle/>
          <a:p>
            <a:pPr algn="just"/>
            <a:r>
              <a:rPr lang="en-US" altLang="zh-CN" sz="2800" b="1" dirty="0">
                <a:effectLst/>
                <a:latin typeface="TimesNewRomanPS"/>
              </a:rPr>
              <a:t>4.4</a:t>
            </a:r>
            <a:r>
              <a:rPr lang="zh-CN" altLang="en-US" sz="2800" b="1" dirty="0">
                <a:effectLst/>
                <a:latin typeface="TimesNewRomanPS"/>
              </a:rPr>
              <a:t> 双设定时间继电器（</a:t>
            </a:r>
            <a:r>
              <a:rPr lang="en-US" altLang="zh-CN" sz="2800" b="1" dirty="0">
                <a:effectLst/>
                <a:latin typeface="TimesNewRomanPS"/>
              </a:rPr>
              <a:t>PWM</a:t>
            </a:r>
            <a:r>
              <a:rPr lang="zh-CN" altLang="en-US" sz="2800" b="1" dirty="0">
                <a:effectLst/>
                <a:latin typeface="TimesNewRomanPS"/>
              </a:rPr>
              <a:t>）电路程序编写</a:t>
            </a:r>
            <a:endParaRPr lang="en-US" altLang="zh-CN" sz="2800" b="1" dirty="0">
              <a:effectLst/>
              <a:latin typeface="TimesNewRomanPS"/>
            </a:endParaRPr>
          </a:p>
          <a:p>
            <a:pPr algn="just"/>
            <a:r>
              <a:rPr lang="zh-CN" altLang="en-US" sz="1800" dirty="0">
                <a:effectLst/>
                <a:latin typeface="SimSun" panose="02010600030101010101" pitchFamily="2" charset="-122"/>
                <a:ea typeface="SimSun" panose="02010600030101010101" pitchFamily="2" charset="-122"/>
              </a:rPr>
              <a:t>    脉冲宽度调制</a:t>
            </a:r>
            <a:r>
              <a:rPr lang="en-US" altLang="zh-CN" sz="1800" dirty="0">
                <a:effectLst/>
                <a:latin typeface="TimesNewRomanPSMT"/>
              </a:rPr>
              <a:t>(</a:t>
            </a:r>
            <a:r>
              <a:rPr lang="en" altLang="zh-CN" sz="1800" dirty="0">
                <a:effectLst/>
                <a:latin typeface="TimesNewRomanPSMT"/>
              </a:rPr>
              <a:t>PWM)</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是英文</a:t>
            </a:r>
            <a:r>
              <a:rPr lang="zh-CN" altLang="en-US" sz="1800" dirty="0">
                <a:effectLst/>
                <a:latin typeface="TimesNewRomanPSMT"/>
              </a:rPr>
              <a:t>“</a:t>
            </a:r>
            <a:r>
              <a:rPr lang="en" altLang="zh-CN" sz="1800" dirty="0">
                <a:effectLst/>
                <a:latin typeface="TimesNewRomanPSMT"/>
              </a:rPr>
              <a:t>Pulse Width Modulation”</a:t>
            </a:r>
            <a:r>
              <a:rPr lang="zh-CN" altLang="en-US" sz="1800" dirty="0">
                <a:effectLst/>
                <a:latin typeface="SimSun" panose="02010600030101010101" pitchFamily="2" charset="-122"/>
                <a:ea typeface="SimSun" panose="02010600030101010101" pitchFamily="2" charset="-122"/>
              </a:rPr>
              <a:t>的缩写，简称脉宽调制，是利用微处理器的数字输出来对模拟电路进行控制的一种非常有效的技术，简单的说就是产生频率周期不同的方波的，一般通过设置其相关定时器来实现产生不同频率，不同占空比的方波信号。 </a:t>
            </a:r>
            <a:endParaRPr lang="zh-CN" altLang="en-US" dirty="0"/>
          </a:p>
          <a:p>
            <a:pPr algn="just"/>
            <a:r>
              <a:rPr lang="zh-CN" altLang="en-US" sz="1800" dirty="0">
                <a:effectLst/>
                <a:latin typeface="SimSun" panose="02010600030101010101" pitchFamily="2" charset="-122"/>
                <a:ea typeface="SimSun" panose="02010600030101010101" pitchFamily="2" charset="-122"/>
              </a:rPr>
              <a:t>    同时通过改变输入</a:t>
            </a:r>
            <a:r>
              <a:rPr lang="en" altLang="zh-CN" sz="1800" dirty="0">
                <a:effectLst/>
                <a:latin typeface="TimesNewRomanPSMT"/>
              </a:rPr>
              <a:t>PWM</a:t>
            </a:r>
            <a:r>
              <a:rPr lang="zh-CN" altLang="en-US" sz="1800" dirty="0">
                <a:effectLst/>
                <a:latin typeface="SimSun" panose="02010600030101010101" pitchFamily="2" charset="-122"/>
                <a:ea typeface="SimSun" panose="02010600030101010101" pitchFamily="2" charset="-122"/>
              </a:rPr>
              <a:t>的占空比与频率控制开关管的开关状态来改变输出电压，如常用的开关电源适配器，</a:t>
            </a:r>
            <a:r>
              <a:rPr lang="en" altLang="zh-CN" sz="1800" dirty="0">
                <a:effectLst/>
                <a:latin typeface="TimesNewRomanPSMT"/>
              </a:rPr>
              <a:t>PWM</a:t>
            </a:r>
            <a:r>
              <a:rPr lang="zh-CN" altLang="en-US" sz="1800" dirty="0">
                <a:effectLst/>
                <a:latin typeface="SimSun" panose="02010600030101010101" pitchFamily="2" charset="-122"/>
                <a:ea typeface="SimSun" panose="02010600030101010101" pitchFamily="2" charset="-122"/>
              </a:rPr>
              <a:t>可调风扇等大都都是利用</a:t>
            </a:r>
            <a:r>
              <a:rPr lang="en" altLang="zh-CN" sz="1800" dirty="0">
                <a:effectLst/>
                <a:latin typeface="TimesNewRomanPSMT"/>
              </a:rPr>
              <a:t>PWM</a:t>
            </a:r>
            <a:r>
              <a:rPr lang="zh-CN" altLang="en-US" sz="1800" dirty="0">
                <a:effectLst/>
                <a:latin typeface="SimSun" panose="02010600030101010101" pitchFamily="2" charset="-122"/>
                <a:ea typeface="SimSun" panose="02010600030101010101" pitchFamily="2" charset="-122"/>
              </a:rPr>
              <a:t>来实现的。 最常用的是电机控制，还有温度控制等。总之，需要控制电压大小的都可以用。 </a:t>
            </a:r>
            <a:endParaRPr lang="zh-CN" altLang="en-US" dirty="0"/>
          </a:p>
        </p:txBody>
      </p:sp>
      <p:pic>
        <p:nvPicPr>
          <p:cNvPr id="3" name="图片 2">
            <a:extLst>
              <a:ext uri="{FF2B5EF4-FFF2-40B4-BE49-F238E27FC236}">
                <a16:creationId xmlns:a16="http://schemas.microsoft.com/office/drawing/2014/main" id="{2F10F9FF-9BA9-BF4F-ABFE-A4C817AFE946}"/>
              </a:ext>
            </a:extLst>
          </p:cNvPr>
          <p:cNvPicPr>
            <a:picLocks noChangeAspect="1"/>
          </p:cNvPicPr>
          <p:nvPr/>
        </p:nvPicPr>
        <p:blipFill>
          <a:blip r:embed="rId2"/>
          <a:stretch>
            <a:fillRect/>
          </a:stretch>
        </p:blipFill>
        <p:spPr>
          <a:xfrm>
            <a:off x="1007604" y="2766734"/>
            <a:ext cx="7128792" cy="4058204"/>
          </a:xfrm>
          <a:prstGeom prst="rect">
            <a:avLst/>
          </a:prstGeom>
        </p:spPr>
      </p:pic>
      <p:sp>
        <p:nvSpPr>
          <p:cNvPr id="5" name="文本框 4">
            <a:extLst>
              <a:ext uri="{FF2B5EF4-FFF2-40B4-BE49-F238E27FC236}">
                <a16:creationId xmlns:a16="http://schemas.microsoft.com/office/drawing/2014/main" id="{1AFE39C6-71B0-135B-F17A-E9530E544B5A}"/>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3389734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EB60E60-4A9E-3548-98E6-4478A8705277}"/>
              </a:ext>
            </a:extLst>
          </p:cNvPr>
          <p:cNvPicPr>
            <a:picLocks noChangeAspect="1"/>
          </p:cNvPicPr>
          <p:nvPr/>
        </p:nvPicPr>
        <p:blipFill>
          <a:blip r:embed="rId2"/>
          <a:stretch>
            <a:fillRect/>
          </a:stretch>
        </p:blipFill>
        <p:spPr>
          <a:xfrm>
            <a:off x="1346200" y="1052736"/>
            <a:ext cx="6451600" cy="2806700"/>
          </a:xfrm>
          <a:prstGeom prst="rect">
            <a:avLst/>
          </a:prstGeom>
        </p:spPr>
      </p:pic>
      <p:sp>
        <p:nvSpPr>
          <p:cNvPr id="4" name="文本框 3">
            <a:extLst>
              <a:ext uri="{FF2B5EF4-FFF2-40B4-BE49-F238E27FC236}">
                <a16:creationId xmlns:a16="http://schemas.microsoft.com/office/drawing/2014/main" id="{B769B894-6BC3-9B48-884B-C2B88A1E846E}"/>
              </a:ext>
            </a:extLst>
          </p:cNvPr>
          <p:cNvSpPr txBox="1"/>
          <p:nvPr/>
        </p:nvSpPr>
        <p:spPr>
          <a:xfrm>
            <a:off x="827584" y="4149080"/>
            <a:ext cx="7488832" cy="1477328"/>
          </a:xfrm>
          <a:prstGeom prst="rect">
            <a:avLst/>
          </a:prstGeom>
          <a:noFill/>
        </p:spPr>
        <p:txBody>
          <a:bodyPr wrap="square">
            <a:spAutoFit/>
          </a:bodyPr>
          <a:lstStyle/>
          <a:p>
            <a:r>
              <a:rPr lang="zh-CN" altLang="en-US" sz="1800" dirty="0">
                <a:effectLst/>
                <a:latin typeface="SimSun" panose="02010600030101010101" pitchFamily="2" charset="-122"/>
                <a:ea typeface="SimSun" panose="02010600030101010101" pitchFamily="2" charset="-122"/>
              </a:rPr>
              <a:t>    从模拟机的运行结果看，按下 </a:t>
            </a:r>
            <a:r>
              <a:rPr lang="en" altLang="zh-CN" sz="1800" dirty="0">
                <a:effectLst/>
                <a:latin typeface="TimesNewRomanPSMT"/>
              </a:rPr>
              <a:t>X0 </a:t>
            </a:r>
            <a:r>
              <a:rPr lang="zh-CN" altLang="en-US" sz="1800" dirty="0">
                <a:effectLst/>
                <a:latin typeface="SimSun" panose="02010600030101010101" pitchFamily="2" charset="-122"/>
                <a:ea typeface="SimSun" panose="02010600030101010101" pitchFamily="2" charset="-122"/>
              </a:rPr>
              <a:t>后</a:t>
            </a:r>
            <a:r>
              <a:rPr lang="en-US" altLang="zh-CN" sz="1800" dirty="0">
                <a:effectLst/>
                <a:latin typeface="TimesNewRomanPSMT"/>
              </a:rPr>
              <a:t>,</a:t>
            </a:r>
            <a:r>
              <a:rPr lang="en" altLang="zh-CN" sz="1800" dirty="0">
                <a:effectLst/>
                <a:latin typeface="TimesNewRomanPSMT"/>
              </a:rPr>
              <a:t>Y0 </a:t>
            </a:r>
            <a:r>
              <a:rPr lang="zh-CN" altLang="en-US" sz="1800" dirty="0">
                <a:effectLst/>
                <a:latin typeface="SimSun" panose="02010600030101010101" pitchFamily="2" charset="-122"/>
                <a:ea typeface="SimSun" panose="02010600030101010101" pitchFamily="2" charset="-122"/>
              </a:rPr>
              <a:t>闪烁，由于 </a:t>
            </a:r>
            <a:r>
              <a:rPr lang="en" altLang="zh-CN" sz="1800" dirty="0">
                <a:effectLst/>
                <a:latin typeface="TimesNewRomanPSMT"/>
              </a:rPr>
              <a:t>PWM </a:t>
            </a:r>
            <a:r>
              <a:rPr lang="zh-CN" altLang="en-US" sz="1800" dirty="0">
                <a:effectLst/>
                <a:latin typeface="SimSun" panose="02010600030101010101" pitchFamily="2" charset="-122"/>
                <a:ea typeface="SimSun" panose="02010600030101010101" pitchFamily="2" charset="-122"/>
              </a:rPr>
              <a:t>的设置值分别是 </a:t>
            </a:r>
            <a:r>
              <a:rPr lang="en" altLang="zh-CN" sz="1800" dirty="0">
                <a:effectLst/>
                <a:latin typeface="TimesNewRomanPSMT"/>
              </a:rPr>
              <a:t>K1000 </a:t>
            </a:r>
            <a:r>
              <a:rPr lang="zh-CN" altLang="en-US" sz="1800" dirty="0">
                <a:effectLst/>
                <a:latin typeface="SimSun" panose="02010600030101010101" pitchFamily="2" charset="-122"/>
                <a:ea typeface="SimSun" panose="02010600030101010101" pitchFamily="2" charset="-122"/>
              </a:rPr>
              <a:t>和 </a:t>
            </a:r>
            <a:r>
              <a:rPr lang="en" altLang="zh-CN" sz="1800" dirty="0">
                <a:effectLst/>
                <a:latin typeface="TimesNewRomanPSMT"/>
              </a:rPr>
              <a:t>K2000</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因此，</a:t>
            </a:r>
            <a:r>
              <a:rPr lang="en" altLang="zh-CN" sz="1800" dirty="0">
                <a:effectLst/>
                <a:latin typeface="TimesNewRomanPSMT"/>
              </a:rPr>
              <a:t>Y0 </a:t>
            </a:r>
            <a:r>
              <a:rPr lang="zh-CN" altLang="en-US" sz="1800" dirty="0">
                <a:effectLst/>
                <a:latin typeface="SimSun" panose="02010600030101010101" pitchFamily="2" charset="-122"/>
                <a:ea typeface="SimSun" panose="02010600030101010101" pitchFamily="2" charset="-122"/>
              </a:rPr>
              <a:t>亮 </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秒，灭 </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秒</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如果将参数设置成 </a:t>
            </a:r>
            <a:r>
              <a:rPr lang="en" altLang="zh-CN" sz="1800" dirty="0">
                <a:effectLst/>
                <a:latin typeface="TimesNewRomanPSMT"/>
              </a:rPr>
              <a:t>K1000 </a:t>
            </a:r>
            <a:r>
              <a:rPr lang="zh-CN" altLang="en-US" sz="1800" dirty="0">
                <a:effectLst/>
                <a:latin typeface="SimSun" panose="02010600030101010101" pitchFamily="2" charset="-122"/>
                <a:ea typeface="SimSun" panose="02010600030101010101" pitchFamily="2" charset="-122"/>
              </a:rPr>
              <a:t>和 </a:t>
            </a:r>
            <a:r>
              <a:rPr lang="en" altLang="zh-CN" sz="1800" dirty="0">
                <a:effectLst/>
                <a:latin typeface="TimesNewRomanPSMT"/>
              </a:rPr>
              <a:t>K3000 Y0</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则可以从学习 机上观察到</a:t>
            </a:r>
            <a:r>
              <a:rPr lang="en" altLang="zh-CN" sz="1800" dirty="0">
                <a:effectLst/>
                <a:latin typeface="TimesNewRomanPSMT"/>
              </a:rPr>
              <a:t>Y0</a:t>
            </a:r>
            <a:r>
              <a:rPr lang="zh-CN" altLang="en-US" sz="1800" dirty="0">
                <a:effectLst/>
                <a:latin typeface="SimSun" panose="02010600030101010101" pitchFamily="2" charset="-122"/>
                <a:ea typeface="SimSun" panose="02010600030101010101" pitchFamily="2" charset="-122"/>
              </a:rPr>
              <a:t>亮</a:t>
            </a:r>
            <a:r>
              <a:rPr lang="en-US" altLang="zh-CN" sz="1800" dirty="0">
                <a:effectLst/>
                <a:latin typeface="TimesNewRomanPSMT"/>
              </a:rPr>
              <a:t>1</a:t>
            </a:r>
            <a:r>
              <a:rPr lang="zh-CN" altLang="en-US" sz="1800" dirty="0">
                <a:effectLst/>
                <a:latin typeface="SimSun" panose="02010600030101010101" pitchFamily="2" charset="-122"/>
                <a:ea typeface="SimSun" panose="02010600030101010101" pitchFamily="2" charset="-122"/>
              </a:rPr>
              <a:t>秒，灭</a:t>
            </a:r>
            <a:r>
              <a:rPr lang="en-US" altLang="zh-CN" sz="1800" dirty="0">
                <a:effectLst/>
                <a:latin typeface="TimesNewRomanPSMT"/>
              </a:rPr>
              <a:t>2</a:t>
            </a:r>
            <a:r>
              <a:rPr lang="zh-CN" altLang="en-US" sz="1800" dirty="0">
                <a:effectLst/>
                <a:latin typeface="SimSun" panose="02010600030101010101" pitchFamily="2" charset="-122"/>
                <a:ea typeface="SimSun" panose="02010600030101010101" pitchFamily="2" charset="-122"/>
              </a:rPr>
              <a:t>秒。</a:t>
            </a:r>
            <a:endParaRPr lang="zh-CN" altLang="en-US" dirty="0"/>
          </a:p>
          <a:p>
            <a:r>
              <a:rPr lang="zh-CN" altLang="en-US" sz="1800" dirty="0">
                <a:effectLst/>
                <a:latin typeface="TimesNewRomanPSMT"/>
              </a:rPr>
              <a:t>        </a:t>
            </a:r>
            <a:r>
              <a:rPr lang="en" altLang="zh-CN" sz="1800" dirty="0">
                <a:effectLst/>
                <a:latin typeface="TimesNewRomanPSMT"/>
              </a:rPr>
              <a:t>PWM </a:t>
            </a:r>
            <a:r>
              <a:rPr lang="zh-CN" altLang="en-US" sz="1800" dirty="0">
                <a:effectLst/>
                <a:latin typeface="SimSun" panose="02010600030101010101" pitchFamily="2" charset="-122"/>
                <a:ea typeface="SimSun" panose="02010600030101010101" pitchFamily="2" charset="-122"/>
              </a:rPr>
              <a:t>可以改变方波的的占空比与频率，常用于电机控制，还有温度控制等。总之，需 要控制电压大小的都可以用。 </a:t>
            </a:r>
            <a:endParaRPr lang="zh-CN" altLang="en-US" dirty="0"/>
          </a:p>
        </p:txBody>
      </p:sp>
    </p:spTree>
    <p:extLst>
      <p:ext uri="{BB962C8B-B14F-4D97-AF65-F5344CB8AC3E}">
        <p14:creationId xmlns:p14="http://schemas.microsoft.com/office/powerpoint/2010/main" val="73551762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1631216"/>
          </a:xfrm>
          <a:prstGeom prst="rect">
            <a:avLst/>
          </a:prstGeom>
          <a:noFill/>
        </p:spPr>
        <p:txBody>
          <a:bodyPr wrap="square">
            <a:spAutoFit/>
          </a:bodyPr>
          <a:lstStyle/>
          <a:p>
            <a:pPr algn="just"/>
            <a:r>
              <a:rPr lang="en-US" altLang="zh-CN" sz="2800" b="1" dirty="0">
                <a:effectLst/>
                <a:latin typeface="TimesNewRomanPS"/>
              </a:rPr>
              <a:t>4.5 </a:t>
            </a:r>
            <a:r>
              <a:rPr lang="zh-CN" altLang="en-US" sz="2800" b="1" dirty="0">
                <a:effectLst/>
                <a:latin typeface="TimesNewRomanPS"/>
              </a:rPr>
              <a:t>与门</a:t>
            </a:r>
            <a:r>
              <a:rPr lang="en-US" altLang="zh-CN" sz="2800" b="1" dirty="0">
                <a:effectLst/>
                <a:latin typeface="TimesNewRomanPS"/>
              </a:rPr>
              <a:t>(AND)</a:t>
            </a:r>
            <a:r>
              <a:rPr lang="zh-CN" altLang="en-US" sz="2800" b="1" dirty="0">
                <a:effectLst/>
                <a:latin typeface="TimesNewRomanPS"/>
              </a:rPr>
              <a:t>解说、编写、测试</a:t>
            </a:r>
            <a:endParaRPr lang="en-US" altLang="zh-CN" sz="2800" b="1" dirty="0">
              <a:effectLst/>
              <a:latin typeface="TimesNewRomanPS"/>
            </a:endParaRPr>
          </a:p>
          <a:p>
            <a:pPr algn="just"/>
            <a:r>
              <a:rPr lang="en-US" altLang="zh-CN" sz="1800" dirty="0">
                <a:effectLst/>
                <a:latin typeface="SimSun" panose="02010600030101010101" pitchFamily="2" charset="-122"/>
                <a:ea typeface="SimSun" panose="02010600030101010101" pitchFamily="2" charset="-122"/>
              </a:rPr>
              <a:t>    </a:t>
            </a:r>
            <a:r>
              <a:rPr lang="zh-CN" altLang="en-US" sz="1800" dirty="0">
                <a:effectLst/>
                <a:latin typeface="SimSun" panose="02010600030101010101" pitchFamily="2" charset="-122"/>
                <a:ea typeface="SimSun" panose="02010600030101010101" pitchFamily="2" charset="-122"/>
              </a:rPr>
              <a:t>又称“与电路”。执行“与”运算的基本门电路。有几个输入端，只有一个输 出端。当所有的输入 同时为“</a:t>
            </a:r>
            <a:r>
              <a:rPr lang="en-US" altLang="zh-CN" sz="1800" dirty="0">
                <a:effectLst/>
                <a:latin typeface="SimSun" panose="02010600030101010101" pitchFamily="2" charset="-122"/>
                <a:ea typeface="SimSun" panose="02010600030101010101" pitchFamily="2" charset="-122"/>
              </a:rPr>
              <a:t>1”</a:t>
            </a:r>
            <a:r>
              <a:rPr lang="zh-CN" altLang="en-US" sz="1800" dirty="0">
                <a:effectLst/>
                <a:latin typeface="SimSun" panose="02010600030101010101" pitchFamily="2" charset="-122"/>
                <a:ea typeface="SimSun" panose="02010600030101010101" pitchFamily="2" charset="-122"/>
              </a:rPr>
              <a:t>电平时，输出才为“</a:t>
            </a:r>
            <a:r>
              <a:rPr lang="en-US" altLang="zh-CN" sz="1800" dirty="0">
                <a:effectLst/>
                <a:latin typeface="SimSun" panose="02010600030101010101" pitchFamily="2" charset="-122"/>
                <a:ea typeface="SimSun" panose="02010600030101010101" pitchFamily="2" charset="-122"/>
              </a:rPr>
              <a:t>1”</a:t>
            </a:r>
            <a:r>
              <a:rPr lang="zh-CN" altLang="en-US" sz="1800" dirty="0">
                <a:effectLst/>
                <a:latin typeface="SimSun" panose="02010600030101010101" pitchFamily="2" charset="-122"/>
                <a:ea typeface="SimSun" panose="02010600030101010101" pitchFamily="2" charset="-122"/>
              </a:rPr>
              <a:t>电平，否则输出为“</a:t>
            </a:r>
            <a:r>
              <a:rPr lang="en-US" altLang="zh-CN" sz="1800" dirty="0">
                <a:effectLst/>
                <a:latin typeface="SimSun" panose="02010600030101010101" pitchFamily="2" charset="-122"/>
                <a:ea typeface="SimSun" panose="02010600030101010101" pitchFamily="2" charset="-122"/>
              </a:rPr>
              <a:t>0”</a:t>
            </a:r>
            <a:r>
              <a:rPr lang="zh-CN" altLang="en-US" sz="1800" dirty="0">
                <a:effectLst/>
                <a:latin typeface="SimSun" panose="02010600030101010101" pitchFamily="2" charset="-122"/>
                <a:ea typeface="SimSun" panose="02010600030101010101" pitchFamily="2" charset="-122"/>
              </a:rPr>
              <a:t>电平。</a:t>
            </a:r>
          </a:p>
          <a:p>
            <a:pPr algn="just"/>
            <a:r>
              <a:rPr lang="en-US" altLang="zh-CN" sz="1800" dirty="0">
                <a:effectLst/>
                <a:latin typeface="SimSun" panose="02010600030101010101" pitchFamily="2" charset="-122"/>
                <a:ea typeface="SimSun" panose="02010600030101010101" pitchFamily="2" charset="-122"/>
              </a:rPr>
              <a:t>    </a:t>
            </a:r>
            <a:r>
              <a:rPr lang="zh-CN" altLang="en-US" sz="1800" dirty="0">
                <a:effectLst/>
                <a:latin typeface="SimSun" panose="02010600030101010101" pitchFamily="2" charset="-122"/>
                <a:ea typeface="SimSun" panose="02010600030101010101" pitchFamily="2" charset="-122"/>
              </a:rPr>
              <a:t>的含义是∶只有当决定一件事情的所有条件都具备时，这个事件才会发生。</a:t>
            </a:r>
            <a:endParaRPr lang="zh-CN" altLang="en-US" dirty="0"/>
          </a:p>
        </p:txBody>
      </p:sp>
      <p:pic>
        <p:nvPicPr>
          <p:cNvPr id="2" name="图片 1">
            <a:extLst>
              <a:ext uri="{FF2B5EF4-FFF2-40B4-BE49-F238E27FC236}">
                <a16:creationId xmlns:a16="http://schemas.microsoft.com/office/drawing/2014/main" id="{AEE214A7-9DA4-9948-BC03-E0D3412B0DF2}"/>
              </a:ext>
            </a:extLst>
          </p:cNvPr>
          <p:cNvPicPr>
            <a:picLocks noChangeAspect="1"/>
          </p:cNvPicPr>
          <p:nvPr/>
        </p:nvPicPr>
        <p:blipFill>
          <a:blip r:embed="rId2"/>
          <a:stretch>
            <a:fillRect/>
          </a:stretch>
        </p:blipFill>
        <p:spPr>
          <a:xfrm>
            <a:off x="224655" y="2035880"/>
            <a:ext cx="8694689" cy="1631216"/>
          </a:xfrm>
          <a:prstGeom prst="rect">
            <a:avLst/>
          </a:prstGeom>
        </p:spPr>
      </p:pic>
      <p:pic>
        <p:nvPicPr>
          <p:cNvPr id="5" name="图片 4">
            <a:extLst>
              <a:ext uri="{FF2B5EF4-FFF2-40B4-BE49-F238E27FC236}">
                <a16:creationId xmlns:a16="http://schemas.microsoft.com/office/drawing/2014/main" id="{EEC833B4-07A5-614B-AD57-2351E3723A1E}"/>
              </a:ext>
            </a:extLst>
          </p:cNvPr>
          <p:cNvPicPr>
            <a:picLocks noChangeAspect="1"/>
          </p:cNvPicPr>
          <p:nvPr/>
        </p:nvPicPr>
        <p:blipFill>
          <a:blip r:embed="rId3"/>
          <a:stretch>
            <a:fillRect/>
          </a:stretch>
        </p:blipFill>
        <p:spPr>
          <a:xfrm>
            <a:off x="1009649" y="3710136"/>
            <a:ext cx="7124700" cy="2743200"/>
          </a:xfrm>
          <a:prstGeom prst="rect">
            <a:avLst/>
          </a:prstGeom>
        </p:spPr>
      </p:pic>
    </p:spTree>
    <p:extLst>
      <p:ext uri="{BB962C8B-B14F-4D97-AF65-F5344CB8AC3E}">
        <p14:creationId xmlns:p14="http://schemas.microsoft.com/office/powerpoint/2010/main" val="133008952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1354217"/>
          </a:xfrm>
          <a:prstGeom prst="rect">
            <a:avLst/>
          </a:prstGeom>
          <a:noFill/>
        </p:spPr>
        <p:txBody>
          <a:bodyPr wrap="square">
            <a:spAutoFit/>
          </a:bodyPr>
          <a:lstStyle/>
          <a:p>
            <a:pPr algn="just"/>
            <a:r>
              <a:rPr lang="en-US" altLang="zh-CN" sz="2800" b="1" dirty="0">
                <a:effectLst/>
                <a:latin typeface="TimesNewRomanPS"/>
              </a:rPr>
              <a:t>4.6 </a:t>
            </a:r>
            <a:r>
              <a:rPr lang="zh-CN" altLang="en-US" sz="2800" b="1" dirty="0">
                <a:effectLst/>
                <a:latin typeface="TimesNewRomanPS"/>
              </a:rPr>
              <a:t>或门</a:t>
            </a:r>
            <a:r>
              <a:rPr lang="en-US" altLang="zh-CN" sz="2800" b="1" dirty="0">
                <a:effectLst/>
                <a:latin typeface="TimesNewRomanPS"/>
              </a:rPr>
              <a:t>(OR)</a:t>
            </a:r>
            <a:r>
              <a:rPr lang="zh-CN" altLang="en-US" sz="2800" b="1" dirty="0">
                <a:effectLst/>
                <a:latin typeface="TimesNewRomanPS"/>
              </a:rPr>
              <a:t>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又称“或电路”。执行“或”运算的基本门电路。有几个输入端，只有一个输出 端。当所有的输入 有一个为“</a:t>
            </a:r>
            <a:r>
              <a:rPr lang="en-US" altLang="zh-CN" sz="1800" dirty="0">
                <a:effectLst/>
                <a:latin typeface="SimSun" panose="02010600030101010101" pitchFamily="2" charset="-122"/>
                <a:ea typeface="SimSun" panose="02010600030101010101" pitchFamily="2" charset="-122"/>
              </a:rPr>
              <a:t>1”</a:t>
            </a:r>
            <a:r>
              <a:rPr lang="zh-CN" altLang="en-US" sz="1800" dirty="0">
                <a:effectLst/>
                <a:latin typeface="SimSun" panose="02010600030101010101" pitchFamily="2" charset="-122"/>
                <a:ea typeface="SimSun" panose="02010600030101010101" pitchFamily="2" charset="-122"/>
              </a:rPr>
              <a:t>电平时，输出就为“</a:t>
            </a:r>
            <a:r>
              <a:rPr lang="en-US" altLang="zh-CN" sz="1800" dirty="0">
                <a:effectLst/>
                <a:latin typeface="SimSun" panose="02010600030101010101" pitchFamily="2" charset="-122"/>
                <a:ea typeface="SimSun" panose="02010600030101010101" pitchFamily="2" charset="-122"/>
              </a:rPr>
              <a:t>1”</a:t>
            </a:r>
            <a:r>
              <a:rPr lang="zh-CN" altLang="en-US" sz="1800" dirty="0">
                <a:effectLst/>
                <a:latin typeface="SimSun" panose="02010600030101010101" pitchFamily="2" charset="-122"/>
                <a:ea typeface="SimSun" panose="02010600030101010101" pitchFamily="2" charset="-122"/>
              </a:rPr>
              <a:t>电平。 </a:t>
            </a:r>
            <a:endParaRPr lang="zh-CN" altLang="en-US" dirty="0"/>
          </a:p>
          <a:p>
            <a:r>
              <a:rPr lang="zh-CN" altLang="en-US" sz="1800" dirty="0">
                <a:effectLst/>
                <a:latin typeface="SimSun" panose="02010600030101010101" pitchFamily="2" charset="-122"/>
                <a:ea typeface="SimSun" panose="02010600030101010101" pitchFamily="2" charset="-122"/>
              </a:rPr>
              <a:t>    或的含义是∶只有当决定一件事情的一个条件具备时，这个事件才会发生 </a:t>
            </a:r>
            <a:endParaRPr lang="zh-CN" altLang="en-US" dirty="0"/>
          </a:p>
        </p:txBody>
      </p:sp>
      <p:pic>
        <p:nvPicPr>
          <p:cNvPr id="3" name="图片 2">
            <a:extLst>
              <a:ext uri="{FF2B5EF4-FFF2-40B4-BE49-F238E27FC236}">
                <a16:creationId xmlns:a16="http://schemas.microsoft.com/office/drawing/2014/main" id="{C7DF4F46-DD3A-B14B-8674-5574B08FF0DB}"/>
              </a:ext>
            </a:extLst>
          </p:cNvPr>
          <p:cNvPicPr>
            <a:picLocks noChangeAspect="1"/>
          </p:cNvPicPr>
          <p:nvPr/>
        </p:nvPicPr>
        <p:blipFill>
          <a:blip r:embed="rId2"/>
          <a:stretch>
            <a:fillRect/>
          </a:stretch>
        </p:blipFill>
        <p:spPr>
          <a:xfrm>
            <a:off x="1402482" y="1758881"/>
            <a:ext cx="6339036" cy="2307312"/>
          </a:xfrm>
          <a:prstGeom prst="rect">
            <a:avLst/>
          </a:prstGeom>
        </p:spPr>
      </p:pic>
      <p:pic>
        <p:nvPicPr>
          <p:cNvPr id="6" name="图片 5">
            <a:extLst>
              <a:ext uri="{FF2B5EF4-FFF2-40B4-BE49-F238E27FC236}">
                <a16:creationId xmlns:a16="http://schemas.microsoft.com/office/drawing/2014/main" id="{020F5BF0-A1B5-6646-A607-3DD3BD879E7F}"/>
              </a:ext>
            </a:extLst>
          </p:cNvPr>
          <p:cNvPicPr>
            <a:picLocks noChangeAspect="1"/>
          </p:cNvPicPr>
          <p:nvPr/>
        </p:nvPicPr>
        <p:blipFill>
          <a:blip r:embed="rId3"/>
          <a:stretch>
            <a:fillRect/>
          </a:stretch>
        </p:blipFill>
        <p:spPr>
          <a:xfrm>
            <a:off x="1016000" y="4010710"/>
            <a:ext cx="7112000" cy="2819400"/>
          </a:xfrm>
          <a:prstGeom prst="rect">
            <a:avLst/>
          </a:prstGeom>
        </p:spPr>
      </p:pic>
    </p:spTree>
    <p:extLst>
      <p:ext uri="{BB962C8B-B14F-4D97-AF65-F5344CB8AC3E}">
        <p14:creationId xmlns:p14="http://schemas.microsoft.com/office/powerpoint/2010/main" val="10171346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1354217"/>
          </a:xfrm>
          <a:prstGeom prst="rect">
            <a:avLst/>
          </a:prstGeom>
          <a:noFill/>
        </p:spPr>
        <p:txBody>
          <a:bodyPr wrap="square">
            <a:spAutoFit/>
          </a:bodyPr>
          <a:lstStyle/>
          <a:p>
            <a:pPr algn="just"/>
            <a:r>
              <a:rPr lang="en-US" altLang="zh-CN" sz="2800" b="1" dirty="0">
                <a:effectLst/>
                <a:latin typeface="TimesNewRomanPS"/>
              </a:rPr>
              <a:t>4.7</a:t>
            </a:r>
            <a:r>
              <a:rPr lang="zh-CN" altLang="en-US" sz="2800" b="1" dirty="0">
                <a:effectLst/>
                <a:latin typeface="TimesNewRomanPS"/>
              </a:rPr>
              <a:t> 非门</a:t>
            </a:r>
            <a:r>
              <a:rPr lang="en-US" altLang="zh-CN" sz="2800" b="1" dirty="0">
                <a:effectLst/>
                <a:latin typeface="TimesNewRomanPS"/>
              </a:rPr>
              <a:t>(NOT)</a:t>
            </a:r>
            <a:r>
              <a:rPr lang="zh-CN" altLang="en-US" sz="2800" b="1" dirty="0">
                <a:effectLst/>
                <a:latin typeface="TimesNewRomanPS"/>
              </a:rPr>
              <a:t>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非门又称反相器，是逻辑电路的重要基本单元，非门有输入和输出两个端，当其 输入端为高电平时输出端为低电平，当其输入端为低电平时输出端为高电平。   也就是说，输入端和输出端的电平状态总是反相的。 </a:t>
            </a:r>
            <a:endParaRPr lang="zh-CN" altLang="en-US" dirty="0"/>
          </a:p>
        </p:txBody>
      </p:sp>
      <p:pic>
        <p:nvPicPr>
          <p:cNvPr id="2" name="图片 1">
            <a:extLst>
              <a:ext uri="{FF2B5EF4-FFF2-40B4-BE49-F238E27FC236}">
                <a16:creationId xmlns:a16="http://schemas.microsoft.com/office/drawing/2014/main" id="{539281BF-110E-3A40-BBE5-477F0FDDAD4C}"/>
              </a:ext>
            </a:extLst>
          </p:cNvPr>
          <p:cNvPicPr>
            <a:picLocks noChangeAspect="1"/>
          </p:cNvPicPr>
          <p:nvPr/>
        </p:nvPicPr>
        <p:blipFill>
          <a:blip r:embed="rId2"/>
          <a:stretch>
            <a:fillRect/>
          </a:stretch>
        </p:blipFill>
        <p:spPr>
          <a:xfrm>
            <a:off x="1282700" y="1758881"/>
            <a:ext cx="6578600" cy="1854200"/>
          </a:xfrm>
          <a:prstGeom prst="rect">
            <a:avLst/>
          </a:prstGeom>
        </p:spPr>
      </p:pic>
      <p:pic>
        <p:nvPicPr>
          <p:cNvPr id="5" name="图片 4">
            <a:extLst>
              <a:ext uri="{FF2B5EF4-FFF2-40B4-BE49-F238E27FC236}">
                <a16:creationId xmlns:a16="http://schemas.microsoft.com/office/drawing/2014/main" id="{6EDDCFF5-A9D5-4547-A7F7-96C79FF3BCC2}"/>
              </a:ext>
            </a:extLst>
          </p:cNvPr>
          <p:cNvPicPr>
            <a:picLocks noChangeAspect="1"/>
          </p:cNvPicPr>
          <p:nvPr/>
        </p:nvPicPr>
        <p:blipFill>
          <a:blip r:embed="rId3"/>
          <a:stretch>
            <a:fillRect/>
          </a:stretch>
        </p:blipFill>
        <p:spPr>
          <a:xfrm>
            <a:off x="1320800" y="3824298"/>
            <a:ext cx="6502400" cy="2286000"/>
          </a:xfrm>
          <a:prstGeom prst="rect">
            <a:avLst/>
          </a:prstGeom>
        </p:spPr>
      </p:pic>
    </p:spTree>
    <p:extLst>
      <p:ext uri="{BB962C8B-B14F-4D97-AF65-F5344CB8AC3E}">
        <p14:creationId xmlns:p14="http://schemas.microsoft.com/office/powerpoint/2010/main" val="120012450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2185214"/>
          </a:xfrm>
          <a:prstGeom prst="rect">
            <a:avLst/>
          </a:prstGeom>
          <a:noFill/>
        </p:spPr>
        <p:txBody>
          <a:bodyPr wrap="square">
            <a:spAutoFit/>
          </a:bodyPr>
          <a:lstStyle/>
          <a:p>
            <a:pPr algn="just"/>
            <a:r>
              <a:rPr lang="en-US" altLang="zh-CN" sz="2800" b="1" dirty="0">
                <a:effectLst/>
                <a:latin typeface="TimesNewRomanPS"/>
              </a:rPr>
              <a:t>4.8</a:t>
            </a:r>
            <a:r>
              <a:rPr lang="zh-CN" altLang="en-US" sz="2800" b="1" dirty="0">
                <a:effectLst/>
                <a:latin typeface="TimesNewRomanPS"/>
              </a:rPr>
              <a:t> 与非门</a:t>
            </a:r>
            <a:r>
              <a:rPr lang="en-US" altLang="zh-CN" sz="2800" b="1" dirty="0">
                <a:effectLst/>
                <a:latin typeface="TimesNewRomanPS"/>
              </a:rPr>
              <a:t>(</a:t>
            </a:r>
            <a:r>
              <a:rPr lang="en" altLang="zh-CN" sz="2800" b="1" dirty="0">
                <a:effectLst/>
                <a:latin typeface="TimesNewRomanPS"/>
              </a:rPr>
              <a:t>ANDN) </a:t>
            </a:r>
            <a:r>
              <a:rPr lang="zh-CN" altLang="en-US" sz="2800" b="1" dirty="0">
                <a:effectLst/>
                <a:latin typeface="TimesNewRomanPS"/>
              </a:rPr>
              <a:t>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与非门是与门和非门的结合，先进行与运算，再进行非运算。与运算输入要求有两个， 如果输入都用 </a:t>
            </a:r>
            <a:r>
              <a:rPr lang="en-US" altLang="zh-CN" sz="1800" dirty="0">
                <a:effectLst/>
                <a:latin typeface="TimesNewRomanPSMT"/>
              </a:rPr>
              <a:t>0 </a:t>
            </a:r>
            <a:r>
              <a:rPr lang="zh-CN" altLang="en-US" sz="1800" dirty="0">
                <a:effectLst/>
                <a:latin typeface="SimSun" panose="02010600030101010101" pitchFamily="2" charset="-122"/>
                <a:ea typeface="SimSun" panose="02010600030101010101" pitchFamily="2" charset="-122"/>
              </a:rPr>
              <a:t>和 </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表示的话，那么与运算的结果就是这两个数的乘积。如 </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和 </a:t>
            </a:r>
            <a:r>
              <a:rPr lang="en-US" altLang="zh-CN" sz="1800" dirty="0">
                <a:effectLst/>
                <a:latin typeface="TimesNewRomanPSMT"/>
              </a:rPr>
              <a:t>1</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两端都 有信号</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，则输出为 </a:t>
            </a:r>
            <a:r>
              <a:rPr lang="en-US" altLang="zh-CN" sz="1800" dirty="0">
                <a:effectLst/>
                <a:latin typeface="TimesNewRomanPSMT"/>
              </a:rPr>
              <a:t>0</a:t>
            </a:r>
            <a:r>
              <a:rPr lang="en-US" altLang="zh-CN" sz="1800" dirty="0">
                <a:effectLst/>
                <a:latin typeface="SimSun" panose="02010600030101010101" pitchFamily="2" charset="-122"/>
                <a:ea typeface="SimSun" panose="02010600030101010101" pitchFamily="2" charset="-122"/>
              </a:rPr>
              <a:t>;</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和 </a:t>
            </a:r>
            <a:r>
              <a:rPr lang="en-US" altLang="zh-CN" sz="1800" dirty="0">
                <a:effectLst/>
                <a:latin typeface="TimesNewRomanPSMT"/>
              </a:rPr>
              <a:t>0</a:t>
            </a:r>
            <a:r>
              <a:rPr lang="zh-CN" altLang="en-US" sz="1800" dirty="0">
                <a:effectLst/>
                <a:latin typeface="SimSun" panose="02010600030101010101" pitchFamily="2" charset="-122"/>
                <a:ea typeface="SimSun" panose="02010600030101010101" pitchFamily="2" charset="-122"/>
              </a:rPr>
              <a:t>，则输出为 </a:t>
            </a:r>
            <a:r>
              <a:rPr lang="en-US" altLang="zh-CN" sz="1800" dirty="0">
                <a:effectLst/>
                <a:latin typeface="TimesNewRomanPSMT"/>
              </a:rPr>
              <a:t>1</a:t>
            </a:r>
            <a:r>
              <a:rPr lang="en-US" altLang="zh-CN" sz="1800" dirty="0">
                <a:effectLst/>
                <a:latin typeface="SimSun" panose="02010600030101010101" pitchFamily="2" charset="-122"/>
                <a:ea typeface="SimSun" panose="02010600030101010101" pitchFamily="2" charset="-122"/>
              </a:rPr>
              <a:t>;</a:t>
            </a:r>
            <a:r>
              <a:rPr lang="en-US" altLang="zh-CN" sz="1800" dirty="0">
                <a:effectLst/>
                <a:latin typeface="TimesNewRomanPSMT"/>
              </a:rPr>
              <a:t>0 </a:t>
            </a:r>
            <a:r>
              <a:rPr lang="zh-CN" altLang="en-US" sz="1800" dirty="0">
                <a:effectLst/>
                <a:latin typeface="SimSun" panose="02010600030101010101" pitchFamily="2" charset="-122"/>
                <a:ea typeface="SimSun" panose="02010600030101010101" pitchFamily="2" charset="-122"/>
              </a:rPr>
              <a:t>和 </a:t>
            </a:r>
            <a:r>
              <a:rPr lang="en-US" altLang="zh-CN" sz="1800" dirty="0">
                <a:effectLst/>
                <a:latin typeface="TimesNewRomanPSMT"/>
              </a:rPr>
              <a:t>0</a:t>
            </a:r>
            <a:r>
              <a:rPr lang="zh-CN" altLang="en-US" sz="1800" dirty="0">
                <a:effectLst/>
                <a:latin typeface="SimSun" panose="02010600030101010101" pitchFamily="2" charset="-122"/>
                <a:ea typeface="SimSun" panose="02010600030101010101" pitchFamily="2" charset="-122"/>
              </a:rPr>
              <a:t>，这输出为 </a:t>
            </a:r>
            <a:r>
              <a:rPr lang="en-US" altLang="zh-CN" sz="1800" dirty="0">
                <a:effectLst/>
                <a:latin typeface="TimesNewRomanPSMT"/>
              </a:rPr>
              <a:t>1</a:t>
            </a:r>
            <a:r>
              <a:rPr lang="zh-CN" altLang="en-US" sz="1800" dirty="0">
                <a:effectLst/>
                <a:latin typeface="SimSun" panose="02010600030101010101" pitchFamily="2" charset="-122"/>
                <a:ea typeface="SimSun" panose="02010600030101010101" pitchFamily="2" charset="-122"/>
              </a:rPr>
              <a:t>。与非门的结果就是对两个 输入信号先进行与运算，再对此与运算结果进行非运算的结果。简单说，与非与非，就是先 与后非。 </a:t>
            </a:r>
            <a:endParaRPr lang="zh-CN" altLang="en-US" dirty="0"/>
          </a:p>
          <a:p>
            <a:endParaRPr lang="zh-CN" altLang="en-US" dirty="0"/>
          </a:p>
        </p:txBody>
      </p:sp>
      <p:pic>
        <p:nvPicPr>
          <p:cNvPr id="3" name="图片 2">
            <a:extLst>
              <a:ext uri="{FF2B5EF4-FFF2-40B4-BE49-F238E27FC236}">
                <a16:creationId xmlns:a16="http://schemas.microsoft.com/office/drawing/2014/main" id="{D43DCA83-DA30-364F-9BC4-5A6B53B703B7}"/>
              </a:ext>
            </a:extLst>
          </p:cNvPr>
          <p:cNvPicPr>
            <a:picLocks noChangeAspect="1"/>
          </p:cNvPicPr>
          <p:nvPr/>
        </p:nvPicPr>
        <p:blipFill>
          <a:blip r:embed="rId2"/>
          <a:stretch>
            <a:fillRect/>
          </a:stretch>
        </p:blipFill>
        <p:spPr>
          <a:xfrm>
            <a:off x="1331640" y="2242208"/>
            <a:ext cx="6120680" cy="4427152"/>
          </a:xfrm>
          <a:prstGeom prst="rect">
            <a:avLst/>
          </a:prstGeom>
        </p:spPr>
      </p:pic>
    </p:spTree>
    <p:extLst>
      <p:ext uri="{BB962C8B-B14F-4D97-AF65-F5344CB8AC3E}">
        <p14:creationId xmlns:p14="http://schemas.microsoft.com/office/powerpoint/2010/main" val="25268825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1908215"/>
          </a:xfrm>
          <a:prstGeom prst="rect">
            <a:avLst/>
          </a:prstGeom>
          <a:noFill/>
        </p:spPr>
        <p:txBody>
          <a:bodyPr wrap="square">
            <a:spAutoFit/>
          </a:bodyPr>
          <a:lstStyle/>
          <a:p>
            <a:pPr algn="just"/>
            <a:r>
              <a:rPr lang="en-US" altLang="zh-CN" sz="2800" b="1" dirty="0">
                <a:effectLst/>
                <a:latin typeface="TimesNewRomanPS"/>
              </a:rPr>
              <a:t>4.9</a:t>
            </a:r>
            <a:r>
              <a:rPr lang="zh-CN" altLang="en-US" sz="2800" b="1" dirty="0">
                <a:effectLst/>
                <a:latin typeface="TimesNewRomanPS"/>
              </a:rPr>
              <a:t> 或非门</a:t>
            </a:r>
            <a:r>
              <a:rPr lang="en-US" altLang="zh-CN" sz="2800" b="1" dirty="0">
                <a:effectLst/>
                <a:latin typeface="TimesNewRomanPS"/>
              </a:rPr>
              <a:t>(N</a:t>
            </a:r>
            <a:r>
              <a:rPr lang="en" altLang="zh-CN" sz="2800" b="1" dirty="0">
                <a:latin typeface="TimesNewRomanPS"/>
              </a:rPr>
              <a:t>OR</a:t>
            </a:r>
            <a:r>
              <a:rPr lang="en" altLang="zh-CN" sz="2800" b="1" dirty="0">
                <a:effectLst/>
                <a:latin typeface="TimesNewRomanPS"/>
              </a:rPr>
              <a:t>) </a:t>
            </a:r>
            <a:r>
              <a:rPr lang="zh-CN" altLang="en-US" sz="2800" b="1" dirty="0">
                <a:effectLst/>
                <a:latin typeface="TimesNewRomanPS"/>
              </a:rPr>
              <a:t>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a:t>
            </a:r>
            <a:r>
              <a:rPr lang="en" altLang="zh-CN" sz="1800" dirty="0">
                <a:effectLst/>
                <a:latin typeface="TimesNewRomanPSMT"/>
              </a:rPr>
              <a:t>NOR</a:t>
            </a:r>
            <a:r>
              <a:rPr lang="zh-CN" altLang="en-US" sz="1800" dirty="0">
                <a:effectLst/>
                <a:latin typeface="SimSun" panose="02010600030101010101" pitchFamily="2" charset="-122"/>
                <a:ea typeface="SimSun" panose="02010600030101010101" pitchFamily="2" charset="-122"/>
              </a:rPr>
              <a:t>用于汇编语言中的或非，在电路中则表示为或非门。 </a:t>
            </a:r>
            <a:endParaRPr lang="zh-CN" altLang="en-US" dirty="0"/>
          </a:p>
          <a:p>
            <a:r>
              <a:rPr lang="zh-CN" altLang="en-US" sz="1800" dirty="0">
                <a:effectLst/>
                <a:latin typeface="SimSun" panose="02010600030101010101" pitchFamily="2" charset="-122"/>
                <a:ea typeface="SimSun" panose="02010600030101010101" pitchFamily="2" charset="-122"/>
              </a:rPr>
              <a:t>或非就是</a:t>
            </a:r>
            <a:r>
              <a:rPr lang="en-US" altLang="zh-CN" sz="1800" dirty="0">
                <a:effectLst/>
                <a:latin typeface="TimesNewRomanPSMT"/>
              </a:rPr>
              <a:t>"</a:t>
            </a:r>
            <a:r>
              <a:rPr lang="zh-CN" altLang="en-US" sz="1800" dirty="0">
                <a:effectLst/>
                <a:latin typeface="SimSun" panose="02010600030101010101" pitchFamily="2" charset="-122"/>
                <a:ea typeface="SimSun" panose="02010600030101010101" pitchFamily="2" charset="-122"/>
              </a:rPr>
              <a:t>或的非</a:t>
            </a:r>
            <a:r>
              <a:rPr lang="en-US" altLang="zh-CN" sz="1800" dirty="0">
                <a:effectLst/>
                <a:latin typeface="TimesNewRomanPSMT"/>
              </a:rPr>
              <a:t>"</a:t>
            </a:r>
            <a:r>
              <a:rPr lang="zh-CN" altLang="en-US" sz="1800" dirty="0">
                <a:effectLst/>
                <a:latin typeface="SimSun" panose="02010600030101010101" pitchFamily="2" charset="-122"/>
                <a:ea typeface="SimSun" panose="02010600030101010101" pitchFamily="2" charset="-122"/>
              </a:rPr>
              <a:t>的意思</a:t>
            </a:r>
            <a:r>
              <a:rPr lang="en-US" altLang="zh-CN" sz="1800" dirty="0">
                <a:effectLst/>
                <a:latin typeface="TimesNewRomanPSMT"/>
              </a:rPr>
              <a:t>,</a:t>
            </a:r>
            <a:r>
              <a:rPr lang="zh-CN" altLang="en-US" sz="1800" dirty="0">
                <a:effectLst/>
                <a:latin typeface="SimSun" panose="02010600030101010101" pitchFamily="2" charset="-122"/>
                <a:ea typeface="SimSun" panose="02010600030101010101" pitchFamily="2" charset="-122"/>
              </a:rPr>
              <a:t>也就是</a:t>
            </a:r>
            <a:r>
              <a:rPr lang="en-US" altLang="zh-CN" sz="1800" dirty="0">
                <a:effectLst/>
                <a:latin typeface="TimesNewRomanPSMT"/>
              </a:rPr>
              <a:t>"</a:t>
            </a:r>
            <a:r>
              <a:rPr lang="zh-CN" altLang="en-US" sz="1800" dirty="0">
                <a:effectLst/>
                <a:latin typeface="SimSun" panose="02010600030101010101" pitchFamily="2" charset="-122"/>
                <a:ea typeface="SimSun" panose="02010600030101010101" pitchFamily="2" charset="-122"/>
              </a:rPr>
              <a:t>对或取反</a:t>
            </a:r>
            <a:r>
              <a:rPr lang="en-US" altLang="zh-CN" sz="1800" dirty="0">
                <a:effectLst/>
                <a:latin typeface="TimesNewRomanPSMT"/>
              </a:rPr>
              <a:t>".</a:t>
            </a:r>
            <a:r>
              <a:rPr lang="zh-CN" altLang="en-US" sz="1800" dirty="0">
                <a:effectLst/>
                <a:latin typeface="SimSun" panose="02010600030101010101" pitchFamily="2" charset="-122"/>
                <a:ea typeface="SimSun" panose="02010600030101010101" pitchFamily="2" charset="-122"/>
              </a:rPr>
              <a:t>或非的功能是将或功能的结果取反而得到 的</a:t>
            </a:r>
            <a:r>
              <a:rPr lang="en-US" altLang="zh-CN" sz="1800" dirty="0">
                <a:effectLst/>
                <a:latin typeface="TimesNewRomanPSMT"/>
              </a:rPr>
              <a:t>.</a:t>
            </a:r>
            <a:r>
              <a:rPr lang="zh-CN" altLang="en-US" sz="1800" dirty="0">
                <a:effectLst/>
                <a:latin typeface="SimSun" panose="02010600030101010101" pitchFamily="2" charset="-122"/>
                <a:ea typeface="SimSun" panose="02010600030101010101" pitchFamily="2" charset="-122"/>
              </a:rPr>
              <a:t>所以如果或逻辑输出为 </a:t>
            </a:r>
            <a:r>
              <a:rPr lang="en-US" altLang="zh-CN" sz="1800" dirty="0">
                <a:effectLst/>
                <a:latin typeface="TimesNewRomanPSMT"/>
              </a:rPr>
              <a:t>1,</a:t>
            </a:r>
            <a:r>
              <a:rPr lang="zh-CN" altLang="en-US" sz="1800" dirty="0">
                <a:effectLst/>
                <a:latin typeface="SimSun" panose="02010600030101010101" pitchFamily="2" charset="-122"/>
                <a:ea typeface="SimSun" panose="02010600030101010101" pitchFamily="2" charset="-122"/>
              </a:rPr>
              <a:t>或非逻辑则变为 </a:t>
            </a:r>
            <a:r>
              <a:rPr lang="en-US" altLang="zh-CN" sz="1800" dirty="0">
                <a:effectLst/>
                <a:latin typeface="TimesNewRomanPSMT"/>
              </a:rPr>
              <a:t>0,</a:t>
            </a:r>
            <a:r>
              <a:rPr lang="zh-CN" altLang="en-US" sz="1800" dirty="0">
                <a:effectLst/>
                <a:latin typeface="SimSun" panose="02010600030101010101" pitchFamily="2" charset="-122"/>
                <a:ea typeface="SimSun" panose="02010600030101010101" pitchFamily="2" charset="-122"/>
              </a:rPr>
              <a:t>或逻辑输出为 </a:t>
            </a:r>
            <a:r>
              <a:rPr lang="en-US" altLang="zh-CN" sz="1800" dirty="0">
                <a:effectLst/>
                <a:latin typeface="TimesNewRomanPSMT"/>
              </a:rPr>
              <a:t>0,</a:t>
            </a:r>
            <a:r>
              <a:rPr lang="zh-CN" altLang="en-US" sz="1800" dirty="0">
                <a:effectLst/>
                <a:latin typeface="SimSun" panose="02010600030101010101" pitchFamily="2" charset="-122"/>
                <a:ea typeface="SimSun" panose="02010600030101010101" pitchFamily="2" charset="-122"/>
              </a:rPr>
              <a:t>或非逻辑则变为 </a:t>
            </a:r>
            <a:r>
              <a:rPr lang="en-US" altLang="zh-CN" sz="1800" dirty="0">
                <a:effectLst/>
                <a:latin typeface="TimesNewRomanPSMT"/>
              </a:rPr>
              <a:t>1.</a:t>
            </a:r>
            <a:r>
              <a:rPr lang="zh-CN" altLang="en-US" sz="1800" dirty="0">
                <a:effectLst/>
                <a:latin typeface="SimSun" panose="02010600030101010101" pitchFamily="2" charset="-122"/>
                <a:ea typeface="SimSun" panose="02010600030101010101" pitchFamily="2" charset="-122"/>
              </a:rPr>
              <a:t>这样就得 到了或非门。 </a:t>
            </a:r>
            <a:endParaRPr lang="zh-CN" altLang="en-US" dirty="0"/>
          </a:p>
          <a:p>
            <a:endParaRPr lang="zh-CN" altLang="en-US" dirty="0"/>
          </a:p>
        </p:txBody>
      </p:sp>
      <p:pic>
        <p:nvPicPr>
          <p:cNvPr id="2" name="图片 1">
            <a:extLst>
              <a:ext uri="{FF2B5EF4-FFF2-40B4-BE49-F238E27FC236}">
                <a16:creationId xmlns:a16="http://schemas.microsoft.com/office/drawing/2014/main" id="{EF057A78-70E4-5C47-AEBD-DF09BCC98EE3}"/>
              </a:ext>
            </a:extLst>
          </p:cNvPr>
          <p:cNvPicPr>
            <a:picLocks noChangeAspect="1"/>
          </p:cNvPicPr>
          <p:nvPr/>
        </p:nvPicPr>
        <p:blipFill>
          <a:blip r:embed="rId2"/>
          <a:stretch>
            <a:fillRect/>
          </a:stretch>
        </p:blipFill>
        <p:spPr>
          <a:xfrm>
            <a:off x="1259632" y="2060848"/>
            <a:ext cx="6624736" cy="4642701"/>
          </a:xfrm>
          <a:prstGeom prst="rect">
            <a:avLst/>
          </a:prstGeom>
        </p:spPr>
      </p:pic>
    </p:spTree>
    <p:extLst>
      <p:ext uri="{BB962C8B-B14F-4D97-AF65-F5344CB8AC3E}">
        <p14:creationId xmlns:p14="http://schemas.microsoft.com/office/powerpoint/2010/main" val="330724803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1908215"/>
          </a:xfrm>
          <a:prstGeom prst="rect">
            <a:avLst/>
          </a:prstGeom>
          <a:noFill/>
        </p:spPr>
        <p:txBody>
          <a:bodyPr wrap="square">
            <a:spAutoFit/>
          </a:bodyPr>
          <a:lstStyle/>
          <a:p>
            <a:pPr algn="just"/>
            <a:r>
              <a:rPr lang="en-US" altLang="zh-CN" sz="2800" b="1" dirty="0">
                <a:effectLst/>
                <a:latin typeface="TimesNewRomanPS"/>
              </a:rPr>
              <a:t>4.10</a:t>
            </a:r>
            <a:r>
              <a:rPr lang="zh-CN" altLang="en-US" sz="2800" b="1" dirty="0">
                <a:effectLst/>
                <a:latin typeface="TimesNewRomanPS"/>
              </a:rPr>
              <a:t> 异或门</a:t>
            </a:r>
            <a:r>
              <a:rPr lang="en-US" altLang="zh-CN" sz="2800" b="1" dirty="0">
                <a:effectLst/>
                <a:latin typeface="TimesNewRomanPS"/>
              </a:rPr>
              <a:t>(X</a:t>
            </a:r>
            <a:r>
              <a:rPr lang="en" altLang="zh-CN" sz="2800" b="1" dirty="0">
                <a:latin typeface="TimesNewRomanPS"/>
              </a:rPr>
              <a:t>OR</a:t>
            </a:r>
            <a:r>
              <a:rPr lang="en" altLang="zh-CN" sz="2800" b="1" dirty="0">
                <a:effectLst/>
                <a:latin typeface="TimesNewRomanPS"/>
              </a:rPr>
              <a:t>) </a:t>
            </a:r>
            <a:r>
              <a:rPr lang="zh-CN" altLang="en-US" sz="2800" b="1" dirty="0">
                <a:effectLst/>
                <a:latin typeface="TimesNewRomanPS"/>
              </a:rPr>
              <a:t>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异或门 </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英语</a:t>
            </a:r>
            <a:r>
              <a:rPr lang="en-US" altLang="zh-CN" sz="1800" dirty="0">
                <a:effectLst/>
                <a:latin typeface="SimSun" panose="02010600030101010101" pitchFamily="2" charset="-122"/>
                <a:ea typeface="SimSun" panose="02010600030101010101" pitchFamily="2" charset="-122"/>
              </a:rPr>
              <a:t>:</a:t>
            </a:r>
            <a:r>
              <a:rPr lang="en" altLang="zh-CN" sz="1800" dirty="0">
                <a:effectLst/>
                <a:latin typeface="TimesNewRomanPSMT"/>
              </a:rPr>
              <a:t>Exclusive-OR gate</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简称</a:t>
            </a:r>
            <a:r>
              <a:rPr lang="en" altLang="zh-CN" sz="1800" dirty="0">
                <a:effectLst/>
                <a:latin typeface="TimesNewRomanPSMT"/>
              </a:rPr>
              <a:t>XOR gate</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又称</a:t>
            </a:r>
            <a:r>
              <a:rPr lang="en" altLang="zh-CN" sz="1800" dirty="0">
                <a:effectLst/>
                <a:latin typeface="TimesNewRomanPSMT"/>
              </a:rPr>
              <a:t>EOR gate</a:t>
            </a:r>
            <a:r>
              <a:rPr lang="zh-CN" altLang="en" sz="1800" dirty="0">
                <a:effectLst/>
                <a:latin typeface="SimSun" panose="02010600030101010101" pitchFamily="2" charset="-122"/>
                <a:ea typeface="SimSun" panose="02010600030101010101" pitchFamily="2" charset="-122"/>
              </a:rPr>
              <a:t>、</a:t>
            </a:r>
            <a:r>
              <a:rPr lang="en" altLang="zh-CN" sz="1800" dirty="0" err="1">
                <a:effectLst/>
                <a:latin typeface="TimesNewRomanPSMT"/>
              </a:rPr>
              <a:t>ExOR</a:t>
            </a:r>
            <a:r>
              <a:rPr lang="en" altLang="zh-CN" sz="1800" dirty="0">
                <a:effectLst/>
                <a:latin typeface="TimesNewRomanPSMT"/>
              </a:rPr>
              <a:t> gate</a:t>
            </a:r>
            <a:r>
              <a:rPr lang="en"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是数 字逻辑中实现逻辑异或的逻辑门，有 </a:t>
            </a:r>
            <a:r>
              <a:rPr lang="en-US" altLang="zh-CN" sz="1800" dirty="0">
                <a:effectLst/>
                <a:latin typeface="TimesNewRomanPSMT"/>
              </a:rPr>
              <a:t>2 </a:t>
            </a:r>
            <a:r>
              <a:rPr lang="zh-CN" altLang="en-US" sz="1800" dirty="0">
                <a:effectLst/>
                <a:latin typeface="SimSun" panose="02010600030101010101" pitchFamily="2" charset="-122"/>
                <a:ea typeface="SimSun" panose="02010600030101010101" pitchFamily="2" charset="-122"/>
              </a:rPr>
              <a:t>个输入端、</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个输出端。若两个输入的电平相异，则 输出为高电平 </a:t>
            </a:r>
            <a:r>
              <a:rPr lang="en-US" altLang="zh-CN" sz="1800" dirty="0">
                <a:effectLst/>
                <a:latin typeface="TimesNewRomanPSMT"/>
              </a:rPr>
              <a:t>1</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若两个输入的电平相同，则输出为低电平 </a:t>
            </a:r>
            <a:r>
              <a:rPr lang="en-US" altLang="zh-CN" sz="1800" dirty="0">
                <a:effectLst/>
                <a:latin typeface="TimesNewRomanPSMT"/>
              </a:rPr>
              <a:t>0</a:t>
            </a:r>
            <a:r>
              <a:rPr lang="zh-CN" altLang="en-US" sz="1800" dirty="0">
                <a:effectLst/>
                <a:latin typeface="SimSun" panose="02010600030101010101" pitchFamily="2" charset="-122"/>
                <a:ea typeface="SimSun" panose="02010600030101010101" pitchFamily="2" charset="-122"/>
              </a:rPr>
              <a:t>。这一函数能实现模为 </a:t>
            </a:r>
            <a:r>
              <a:rPr lang="en-US" altLang="zh-CN" sz="1800" dirty="0">
                <a:effectLst/>
                <a:latin typeface="TimesNewRomanPSMT"/>
              </a:rPr>
              <a:t>2 </a:t>
            </a:r>
            <a:r>
              <a:rPr lang="zh-CN" altLang="en-US" sz="1800" dirty="0">
                <a:effectLst/>
                <a:latin typeface="SimSun" panose="02010600030101010101" pitchFamily="2" charset="-122"/>
                <a:ea typeface="SimSun" panose="02010600030101010101" pitchFamily="2" charset="-122"/>
              </a:rPr>
              <a:t>的加 法，因此，异或门可以实现计算机中的二进制加法。半加器就是由异或门和与门组成的。 </a:t>
            </a:r>
            <a:endParaRPr lang="zh-CN" altLang="en-US" dirty="0"/>
          </a:p>
        </p:txBody>
      </p:sp>
      <p:pic>
        <p:nvPicPr>
          <p:cNvPr id="3" name="图片 2">
            <a:extLst>
              <a:ext uri="{FF2B5EF4-FFF2-40B4-BE49-F238E27FC236}">
                <a16:creationId xmlns:a16="http://schemas.microsoft.com/office/drawing/2014/main" id="{824E03C7-F909-574E-A4C9-E1BBCEEEE532}"/>
              </a:ext>
            </a:extLst>
          </p:cNvPr>
          <p:cNvPicPr>
            <a:picLocks noChangeAspect="1"/>
          </p:cNvPicPr>
          <p:nvPr/>
        </p:nvPicPr>
        <p:blipFill>
          <a:blip r:embed="rId2"/>
          <a:stretch>
            <a:fillRect/>
          </a:stretch>
        </p:blipFill>
        <p:spPr>
          <a:xfrm>
            <a:off x="1232513" y="2293204"/>
            <a:ext cx="6678974" cy="4417423"/>
          </a:xfrm>
          <a:prstGeom prst="rect">
            <a:avLst/>
          </a:prstGeom>
        </p:spPr>
      </p:pic>
    </p:spTree>
    <p:extLst>
      <p:ext uri="{BB962C8B-B14F-4D97-AF65-F5344CB8AC3E}">
        <p14:creationId xmlns:p14="http://schemas.microsoft.com/office/powerpoint/2010/main" val="270298196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1908215"/>
          </a:xfrm>
          <a:prstGeom prst="rect">
            <a:avLst/>
          </a:prstGeom>
          <a:noFill/>
        </p:spPr>
        <p:txBody>
          <a:bodyPr wrap="square">
            <a:spAutoFit/>
          </a:bodyPr>
          <a:lstStyle/>
          <a:p>
            <a:pPr algn="just"/>
            <a:r>
              <a:rPr lang="en-US" altLang="zh-CN" sz="2800" b="1" dirty="0">
                <a:effectLst/>
                <a:latin typeface="TimesNewRomanPS"/>
              </a:rPr>
              <a:t>4.10</a:t>
            </a:r>
            <a:r>
              <a:rPr lang="zh-CN" altLang="en-US" sz="2800" b="1" dirty="0">
                <a:effectLst/>
                <a:latin typeface="TimesNewRomanPS"/>
              </a:rPr>
              <a:t> 异或门</a:t>
            </a:r>
            <a:r>
              <a:rPr lang="en-US" altLang="zh-CN" sz="2800" b="1" dirty="0">
                <a:effectLst/>
                <a:latin typeface="TimesNewRomanPS"/>
              </a:rPr>
              <a:t>(X</a:t>
            </a:r>
            <a:r>
              <a:rPr lang="en" altLang="zh-CN" sz="2800" b="1" dirty="0">
                <a:latin typeface="TimesNewRomanPS"/>
              </a:rPr>
              <a:t>OR</a:t>
            </a:r>
            <a:r>
              <a:rPr lang="en" altLang="zh-CN" sz="2800" b="1" dirty="0">
                <a:effectLst/>
                <a:latin typeface="TimesNewRomanPS"/>
              </a:rPr>
              <a:t>) </a:t>
            </a:r>
            <a:r>
              <a:rPr lang="zh-CN" altLang="en-US" sz="2800" b="1" dirty="0">
                <a:effectLst/>
                <a:latin typeface="TimesNewRomanPS"/>
              </a:rPr>
              <a:t>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异或门 </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英语</a:t>
            </a:r>
            <a:r>
              <a:rPr lang="en-US" altLang="zh-CN" sz="1800" dirty="0">
                <a:effectLst/>
                <a:latin typeface="SimSun" panose="02010600030101010101" pitchFamily="2" charset="-122"/>
                <a:ea typeface="SimSun" panose="02010600030101010101" pitchFamily="2" charset="-122"/>
              </a:rPr>
              <a:t>:</a:t>
            </a:r>
            <a:r>
              <a:rPr lang="en" altLang="zh-CN" sz="1800" dirty="0">
                <a:effectLst/>
                <a:latin typeface="TimesNewRomanPSMT"/>
              </a:rPr>
              <a:t>Exclusive-OR gate</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简称</a:t>
            </a:r>
            <a:r>
              <a:rPr lang="en" altLang="zh-CN" sz="1800" dirty="0">
                <a:effectLst/>
                <a:latin typeface="TimesNewRomanPSMT"/>
              </a:rPr>
              <a:t>XOR gate</a:t>
            </a:r>
            <a:r>
              <a:rPr lang="zh-CN" altLang="e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又称</a:t>
            </a:r>
            <a:r>
              <a:rPr lang="en" altLang="zh-CN" sz="1800" dirty="0">
                <a:effectLst/>
                <a:latin typeface="TimesNewRomanPSMT"/>
              </a:rPr>
              <a:t>EOR gate</a:t>
            </a:r>
            <a:r>
              <a:rPr lang="zh-CN" altLang="en" sz="1800" dirty="0">
                <a:effectLst/>
                <a:latin typeface="SimSun" panose="02010600030101010101" pitchFamily="2" charset="-122"/>
                <a:ea typeface="SimSun" panose="02010600030101010101" pitchFamily="2" charset="-122"/>
              </a:rPr>
              <a:t>、</a:t>
            </a:r>
            <a:r>
              <a:rPr lang="en" altLang="zh-CN" sz="1800" dirty="0" err="1">
                <a:effectLst/>
                <a:latin typeface="TimesNewRomanPSMT"/>
              </a:rPr>
              <a:t>ExOR</a:t>
            </a:r>
            <a:r>
              <a:rPr lang="en" altLang="zh-CN" sz="1800" dirty="0">
                <a:effectLst/>
                <a:latin typeface="TimesNewRomanPSMT"/>
              </a:rPr>
              <a:t> gate</a:t>
            </a:r>
            <a:r>
              <a:rPr lang="en"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是数 字逻辑中实现逻辑异或的逻辑门，有 </a:t>
            </a:r>
            <a:r>
              <a:rPr lang="en-US" altLang="zh-CN" sz="1800" dirty="0">
                <a:effectLst/>
                <a:latin typeface="TimesNewRomanPSMT"/>
              </a:rPr>
              <a:t>2 </a:t>
            </a:r>
            <a:r>
              <a:rPr lang="zh-CN" altLang="en-US" sz="1800" dirty="0">
                <a:effectLst/>
                <a:latin typeface="SimSun" panose="02010600030101010101" pitchFamily="2" charset="-122"/>
                <a:ea typeface="SimSun" panose="02010600030101010101" pitchFamily="2" charset="-122"/>
              </a:rPr>
              <a:t>个输入端、</a:t>
            </a:r>
            <a:r>
              <a:rPr lang="en-US" altLang="zh-CN" sz="1800" dirty="0">
                <a:effectLst/>
                <a:latin typeface="TimesNewRomanPSMT"/>
              </a:rPr>
              <a:t>1 </a:t>
            </a:r>
            <a:r>
              <a:rPr lang="zh-CN" altLang="en-US" sz="1800" dirty="0">
                <a:effectLst/>
                <a:latin typeface="SimSun" panose="02010600030101010101" pitchFamily="2" charset="-122"/>
                <a:ea typeface="SimSun" panose="02010600030101010101" pitchFamily="2" charset="-122"/>
              </a:rPr>
              <a:t>个输出端。若两个输入的电平相异，则 输出为高电平 </a:t>
            </a:r>
            <a:r>
              <a:rPr lang="en-US" altLang="zh-CN" sz="1800" dirty="0">
                <a:effectLst/>
                <a:latin typeface="TimesNewRomanPSMT"/>
              </a:rPr>
              <a:t>1</a:t>
            </a:r>
            <a:r>
              <a:rPr lang="en-US" altLang="zh-CN" sz="1800" dirty="0">
                <a:effectLst/>
                <a:latin typeface="SimSun" panose="02010600030101010101" pitchFamily="2" charset="-122"/>
                <a:ea typeface="SimSun" panose="02010600030101010101" pitchFamily="2" charset="-122"/>
              </a:rPr>
              <a:t>;</a:t>
            </a:r>
            <a:r>
              <a:rPr lang="zh-CN" altLang="en-US" sz="1800" dirty="0">
                <a:effectLst/>
                <a:latin typeface="SimSun" panose="02010600030101010101" pitchFamily="2" charset="-122"/>
                <a:ea typeface="SimSun" panose="02010600030101010101" pitchFamily="2" charset="-122"/>
              </a:rPr>
              <a:t>若两个输入的电平相同，则输出为低电平 </a:t>
            </a:r>
            <a:r>
              <a:rPr lang="en-US" altLang="zh-CN" sz="1800" dirty="0">
                <a:effectLst/>
                <a:latin typeface="TimesNewRomanPSMT"/>
              </a:rPr>
              <a:t>0</a:t>
            </a:r>
            <a:r>
              <a:rPr lang="zh-CN" altLang="en-US" sz="1800" dirty="0">
                <a:effectLst/>
                <a:latin typeface="SimSun" panose="02010600030101010101" pitchFamily="2" charset="-122"/>
                <a:ea typeface="SimSun" panose="02010600030101010101" pitchFamily="2" charset="-122"/>
              </a:rPr>
              <a:t>。这一函数能实现模为 </a:t>
            </a:r>
            <a:r>
              <a:rPr lang="en-US" altLang="zh-CN" sz="1800" dirty="0">
                <a:effectLst/>
                <a:latin typeface="TimesNewRomanPSMT"/>
              </a:rPr>
              <a:t>2 </a:t>
            </a:r>
            <a:r>
              <a:rPr lang="zh-CN" altLang="en-US" sz="1800" dirty="0">
                <a:effectLst/>
                <a:latin typeface="SimSun" panose="02010600030101010101" pitchFamily="2" charset="-122"/>
                <a:ea typeface="SimSun" panose="02010600030101010101" pitchFamily="2" charset="-122"/>
              </a:rPr>
              <a:t>的加 法，因此，异或门可以实现计算机中的二进制加法。半加器就是由异或门和与门组成的。 </a:t>
            </a:r>
            <a:endParaRPr lang="zh-CN" altLang="en-US" dirty="0"/>
          </a:p>
        </p:txBody>
      </p:sp>
      <p:pic>
        <p:nvPicPr>
          <p:cNvPr id="3" name="图片 2">
            <a:extLst>
              <a:ext uri="{FF2B5EF4-FFF2-40B4-BE49-F238E27FC236}">
                <a16:creationId xmlns:a16="http://schemas.microsoft.com/office/drawing/2014/main" id="{824E03C7-F909-574E-A4C9-E1BBCEEEE532}"/>
              </a:ext>
            </a:extLst>
          </p:cNvPr>
          <p:cNvPicPr>
            <a:picLocks noChangeAspect="1"/>
          </p:cNvPicPr>
          <p:nvPr/>
        </p:nvPicPr>
        <p:blipFill>
          <a:blip r:embed="rId2"/>
          <a:stretch>
            <a:fillRect/>
          </a:stretch>
        </p:blipFill>
        <p:spPr>
          <a:xfrm>
            <a:off x="1232513" y="2293204"/>
            <a:ext cx="6678974" cy="4417423"/>
          </a:xfrm>
          <a:prstGeom prst="rect">
            <a:avLst/>
          </a:prstGeom>
        </p:spPr>
      </p:pic>
    </p:spTree>
    <p:extLst>
      <p:ext uri="{BB962C8B-B14F-4D97-AF65-F5344CB8AC3E}">
        <p14:creationId xmlns:p14="http://schemas.microsoft.com/office/powerpoint/2010/main" val="411314864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6E82CE-F0D8-BD43-8836-BA2EC5E980EB}"/>
              </a:ext>
            </a:extLst>
          </p:cNvPr>
          <p:cNvSpPr txBox="1"/>
          <p:nvPr/>
        </p:nvSpPr>
        <p:spPr>
          <a:xfrm>
            <a:off x="341784" y="404664"/>
            <a:ext cx="8460432" cy="800219"/>
          </a:xfrm>
          <a:prstGeom prst="rect">
            <a:avLst/>
          </a:prstGeom>
          <a:noFill/>
        </p:spPr>
        <p:txBody>
          <a:bodyPr wrap="square">
            <a:spAutoFit/>
          </a:bodyPr>
          <a:lstStyle/>
          <a:p>
            <a:pPr algn="just"/>
            <a:r>
              <a:rPr lang="en-US" altLang="zh-CN" sz="2800" b="1" dirty="0">
                <a:effectLst/>
                <a:latin typeface="TimesNewRomanPS"/>
              </a:rPr>
              <a:t>4.11</a:t>
            </a:r>
            <a:r>
              <a:rPr lang="zh-CN" altLang="en-US" sz="2800" b="1" dirty="0">
                <a:effectLst/>
                <a:latin typeface="TimesNewRomanPS"/>
              </a:rPr>
              <a:t> 四则运算解说、编写、测试</a:t>
            </a:r>
            <a:endParaRPr lang="en-US" altLang="zh-CN" sz="2800" b="1" dirty="0">
              <a:effectLst/>
              <a:latin typeface="TimesNewRomanPS"/>
            </a:endParaRPr>
          </a:p>
          <a:p>
            <a:r>
              <a:rPr lang="zh-CN" altLang="en-US" sz="1800" dirty="0">
                <a:effectLst/>
                <a:latin typeface="SimSun" panose="02010600030101010101" pitchFamily="2" charset="-122"/>
                <a:ea typeface="SimSun" panose="02010600030101010101" pitchFamily="2" charset="-122"/>
              </a:rPr>
              <a:t>    </a:t>
            </a:r>
            <a:endParaRPr lang="zh-CN" altLang="en-US" dirty="0"/>
          </a:p>
        </p:txBody>
      </p:sp>
      <p:pic>
        <p:nvPicPr>
          <p:cNvPr id="2" name="图片 1">
            <a:extLst>
              <a:ext uri="{FF2B5EF4-FFF2-40B4-BE49-F238E27FC236}">
                <a16:creationId xmlns:a16="http://schemas.microsoft.com/office/drawing/2014/main" id="{AA18E82D-DE41-FA4D-BFAB-AF87BECFFD1F}"/>
              </a:ext>
            </a:extLst>
          </p:cNvPr>
          <p:cNvPicPr>
            <a:picLocks noChangeAspect="1"/>
          </p:cNvPicPr>
          <p:nvPr/>
        </p:nvPicPr>
        <p:blipFill>
          <a:blip r:embed="rId2"/>
          <a:stretch>
            <a:fillRect/>
          </a:stretch>
        </p:blipFill>
        <p:spPr>
          <a:xfrm>
            <a:off x="179512" y="980728"/>
            <a:ext cx="3561556" cy="4047223"/>
          </a:xfrm>
          <a:prstGeom prst="rect">
            <a:avLst/>
          </a:prstGeom>
        </p:spPr>
      </p:pic>
      <p:pic>
        <p:nvPicPr>
          <p:cNvPr id="5" name="图片 4">
            <a:extLst>
              <a:ext uri="{FF2B5EF4-FFF2-40B4-BE49-F238E27FC236}">
                <a16:creationId xmlns:a16="http://schemas.microsoft.com/office/drawing/2014/main" id="{42DD8863-23BF-B64C-B7E1-A62402B477DB}"/>
              </a:ext>
            </a:extLst>
          </p:cNvPr>
          <p:cNvPicPr>
            <a:picLocks noChangeAspect="1"/>
          </p:cNvPicPr>
          <p:nvPr/>
        </p:nvPicPr>
        <p:blipFill>
          <a:blip r:embed="rId3"/>
          <a:stretch>
            <a:fillRect/>
          </a:stretch>
        </p:blipFill>
        <p:spPr>
          <a:xfrm>
            <a:off x="3903340" y="908720"/>
            <a:ext cx="4276475" cy="2251343"/>
          </a:xfrm>
          <a:prstGeom prst="rect">
            <a:avLst/>
          </a:prstGeom>
        </p:spPr>
      </p:pic>
      <p:pic>
        <p:nvPicPr>
          <p:cNvPr id="6" name="图片 5">
            <a:extLst>
              <a:ext uri="{FF2B5EF4-FFF2-40B4-BE49-F238E27FC236}">
                <a16:creationId xmlns:a16="http://schemas.microsoft.com/office/drawing/2014/main" id="{76AC374B-856F-6B46-A7C8-038B84C8F760}"/>
              </a:ext>
            </a:extLst>
          </p:cNvPr>
          <p:cNvPicPr>
            <a:picLocks noChangeAspect="1"/>
          </p:cNvPicPr>
          <p:nvPr/>
        </p:nvPicPr>
        <p:blipFill>
          <a:blip r:embed="rId4"/>
          <a:stretch>
            <a:fillRect/>
          </a:stretch>
        </p:blipFill>
        <p:spPr>
          <a:xfrm>
            <a:off x="3275856" y="3140968"/>
            <a:ext cx="5688632" cy="3603110"/>
          </a:xfrm>
          <a:prstGeom prst="rect">
            <a:avLst/>
          </a:prstGeom>
        </p:spPr>
      </p:pic>
      <p:sp>
        <p:nvSpPr>
          <p:cNvPr id="7" name="文本框 6">
            <a:extLst>
              <a:ext uri="{FF2B5EF4-FFF2-40B4-BE49-F238E27FC236}">
                <a16:creationId xmlns:a16="http://schemas.microsoft.com/office/drawing/2014/main" id="{42AC23EC-7FAF-29E2-7FE6-5A921FA76A3C}"/>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80383806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5</a:t>
            </a:r>
            <a:r>
              <a:rPr lang="zh-CN" altLang="en-US" sz="3600" dirty="0"/>
              <a:t>、</a:t>
            </a:r>
            <a:r>
              <a:rPr lang="zh-CN" altLang="en" sz="3600" dirty="0"/>
              <a:t>典型</a:t>
            </a:r>
            <a:r>
              <a:rPr lang="zh-CN" altLang="en-US" sz="3600" dirty="0"/>
              <a:t>工程应用实施案例</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7" name="文本框 6">
            <a:extLst>
              <a:ext uri="{FF2B5EF4-FFF2-40B4-BE49-F238E27FC236}">
                <a16:creationId xmlns:a16="http://schemas.microsoft.com/office/drawing/2014/main" id="{56E16FC7-1E09-B44D-91B8-C40D97C282F1}"/>
              </a:ext>
            </a:extLst>
          </p:cNvPr>
          <p:cNvSpPr txBox="1"/>
          <p:nvPr/>
        </p:nvSpPr>
        <p:spPr>
          <a:xfrm>
            <a:off x="683568" y="1196752"/>
            <a:ext cx="8003232" cy="584775"/>
          </a:xfrm>
          <a:prstGeom prst="rect">
            <a:avLst/>
          </a:prstGeom>
          <a:noFill/>
        </p:spPr>
        <p:txBody>
          <a:bodyPr wrap="square">
            <a:spAutoFit/>
          </a:bodyPr>
          <a:lstStyle/>
          <a:p>
            <a:r>
              <a:rPr lang="en-US" altLang="zh-CN" sz="3200" b="1" dirty="0">
                <a:effectLst/>
                <a:latin typeface="TimesNewRomanPS"/>
              </a:rPr>
              <a:t>5.1</a:t>
            </a:r>
            <a:r>
              <a:rPr lang="zh-CN" altLang="en-US" sz="3200" b="1" dirty="0">
                <a:effectLst/>
                <a:latin typeface="TimesNewRomanPS"/>
              </a:rPr>
              <a:t> 自动门</a:t>
            </a:r>
            <a:endParaRPr lang="zh-CN" altLang="en-US" sz="2800" dirty="0"/>
          </a:p>
        </p:txBody>
      </p:sp>
      <p:sp>
        <p:nvSpPr>
          <p:cNvPr id="2" name="Rectangle 2">
            <a:extLst>
              <a:ext uri="{FF2B5EF4-FFF2-40B4-BE49-F238E27FC236}">
                <a16:creationId xmlns:a16="http://schemas.microsoft.com/office/drawing/2014/main" id="{9876578E-82A8-414D-9F1A-E52A51A6D540}"/>
              </a:ext>
            </a:extLst>
          </p:cNvPr>
          <p:cNvSpPr>
            <a:spLocks noChangeArrowheads="1"/>
          </p:cNvSpPr>
          <p:nvPr/>
        </p:nvSpPr>
        <p:spPr bwMode="auto">
          <a:xfrm>
            <a:off x="457200" y="1719972"/>
            <a:ext cx="8229600" cy="389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zh-CN" altLang="en-US"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自动门控制要求： </a:t>
            </a:r>
            <a:endParaRPr kumimoji="0" lang="en-US" altLang="zh-CN"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进门:行人到门前一米，门自动打开，进门后人离门一米开始算起延时 10 秒自动关门。 </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出门:行人到门后一米，门自动打开，出门后人离门一米开始起延时 10 秒自动关门。</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 门下有人:如果门前后一米范围内有人，门不关;直到人离开，延时 10 自动关门。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4" name="文本框 3">
            <a:extLst>
              <a:ext uri="{FF2B5EF4-FFF2-40B4-BE49-F238E27FC236}">
                <a16:creationId xmlns:a16="http://schemas.microsoft.com/office/drawing/2014/main" id="{D06161EE-D437-95EB-43A8-805A42BB16D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312188459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F36F7C8-27F7-DD46-9599-C7DF465B33BF}"/>
              </a:ext>
            </a:extLst>
          </p:cNvPr>
          <p:cNvPicPr>
            <a:picLocks noChangeAspect="1"/>
          </p:cNvPicPr>
          <p:nvPr/>
        </p:nvPicPr>
        <p:blipFill>
          <a:blip r:embed="rId2"/>
          <a:stretch>
            <a:fillRect/>
          </a:stretch>
        </p:blipFill>
        <p:spPr>
          <a:xfrm>
            <a:off x="1547664" y="437518"/>
            <a:ext cx="6048672" cy="4729789"/>
          </a:xfrm>
          <a:prstGeom prst="rect">
            <a:avLst/>
          </a:prstGeom>
        </p:spPr>
      </p:pic>
      <p:pic>
        <p:nvPicPr>
          <p:cNvPr id="3" name="图片 2">
            <a:extLst>
              <a:ext uri="{FF2B5EF4-FFF2-40B4-BE49-F238E27FC236}">
                <a16:creationId xmlns:a16="http://schemas.microsoft.com/office/drawing/2014/main" id="{DB968E76-5023-4942-89E7-11E47EA82D87}"/>
              </a:ext>
            </a:extLst>
          </p:cNvPr>
          <p:cNvPicPr>
            <a:picLocks noChangeAspect="1"/>
          </p:cNvPicPr>
          <p:nvPr/>
        </p:nvPicPr>
        <p:blipFill>
          <a:blip r:embed="rId3"/>
          <a:stretch>
            <a:fillRect/>
          </a:stretch>
        </p:blipFill>
        <p:spPr>
          <a:xfrm>
            <a:off x="2375756" y="5167307"/>
            <a:ext cx="4392488" cy="1690693"/>
          </a:xfrm>
          <a:prstGeom prst="rect">
            <a:avLst/>
          </a:prstGeom>
        </p:spPr>
      </p:pic>
    </p:spTree>
    <p:extLst>
      <p:ext uri="{BB962C8B-B14F-4D97-AF65-F5344CB8AC3E}">
        <p14:creationId xmlns:p14="http://schemas.microsoft.com/office/powerpoint/2010/main" val="105079671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CD897A7-3EF3-094E-9085-F2BECE9A57AF}"/>
              </a:ext>
            </a:extLst>
          </p:cNvPr>
          <p:cNvSpPr txBox="1"/>
          <p:nvPr/>
        </p:nvSpPr>
        <p:spPr>
          <a:xfrm>
            <a:off x="683568" y="601524"/>
            <a:ext cx="8003232" cy="584775"/>
          </a:xfrm>
          <a:prstGeom prst="rect">
            <a:avLst/>
          </a:prstGeom>
          <a:noFill/>
        </p:spPr>
        <p:txBody>
          <a:bodyPr wrap="square">
            <a:spAutoFit/>
          </a:bodyPr>
          <a:lstStyle/>
          <a:p>
            <a:r>
              <a:rPr lang="en-US" altLang="zh-CN" sz="3200" b="1" dirty="0">
                <a:effectLst/>
                <a:latin typeface="TimesNewRomanPS"/>
              </a:rPr>
              <a:t>5.2</a:t>
            </a:r>
            <a:r>
              <a:rPr lang="zh-CN" altLang="en-US" sz="3200" b="1" dirty="0">
                <a:effectLst/>
                <a:latin typeface="TimesNewRomanPS"/>
              </a:rPr>
              <a:t> 单向流水灯</a:t>
            </a:r>
            <a:endParaRPr lang="zh-CN" altLang="en-US" sz="2800" dirty="0"/>
          </a:p>
        </p:txBody>
      </p:sp>
      <p:sp>
        <p:nvSpPr>
          <p:cNvPr id="3" name="Rectangle 2">
            <a:extLst>
              <a:ext uri="{FF2B5EF4-FFF2-40B4-BE49-F238E27FC236}">
                <a16:creationId xmlns:a16="http://schemas.microsoft.com/office/drawing/2014/main" id="{62E5283F-D2F9-9143-9100-01AC5BEDAEA3}"/>
              </a:ext>
            </a:extLst>
          </p:cNvPr>
          <p:cNvSpPr>
            <a:spLocks noChangeArrowheads="1"/>
          </p:cNvSpPr>
          <p:nvPr/>
        </p:nvSpPr>
        <p:spPr bwMode="auto">
          <a:xfrm>
            <a:off x="457200" y="1186299"/>
            <a:ext cx="8229600" cy="4452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zh-CN" altLang="en-US"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单向流水灯控制要求： </a:t>
            </a:r>
            <a:endParaRPr kumimoji="0" lang="en-US" altLang="zh-CN"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X0:Y0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1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秒后熄灭再点亮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Y1</a:t>
            </a:r>
            <a:r>
              <a:rPr kumimoji="0" lang="zh-CN" altLang="e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以此类推直到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Y17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1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秒后熄灭，再自动 点亮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形成一个自动循环流水灯。</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X2:</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状态暂停。</a:t>
            </a:r>
            <a:endParaRPr lang="en-US" altLang="zh-CN" sz="2400" dirty="0">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X3:</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状态恢复。</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灯流水停止，所有灯灭。直到重新按下再松开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键才重新点亮流水灯。 </a:t>
            </a:r>
          </a:p>
        </p:txBody>
      </p:sp>
      <p:sp>
        <p:nvSpPr>
          <p:cNvPr id="5" name="文本框 4">
            <a:extLst>
              <a:ext uri="{FF2B5EF4-FFF2-40B4-BE49-F238E27FC236}">
                <a16:creationId xmlns:a16="http://schemas.microsoft.com/office/drawing/2014/main" id="{497FCC2E-3220-A7D0-2C8E-08A966D9CF13}"/>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367422765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8437A2E-AD6B-9B4A-88E0-5CD44B3FBC43}"/>
              </a:ext>
            </a:extLst>
          </p:cNvPr>
          <p:cNvSpPr txBox="1">
            <a:spLocks noChangeArrowheads="1"/>
          </p:cNvSpPr>
          <p:nvPr/>
        </p:nvSpPr>
        <p:spPr bwMode="auto">
          <a:xfrm>
            <a:off x="251520" y="404664"/>
            <a:ext cx="8640960" cy="416361"/>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编程及工作原理</a:t>
            </a:r>
            <a:endParaRPr lang="zh-CN" altLang="en-US" sz="2400" dirty="0"/>
          </a:p>
        </p:txBody>
      </p:sp>
      <p:pic>
        <p:nvPicPr>
          <p:cNvPr id="3" name="图片 2">
            <a:extLst>
              <a:ext uri="{FF2B5EF4-FFF2-40B4-BE49-F238E27FC236}">
                <a16:creationId xmlns:a16="http://schemas.microsoft.com/office/drawing/2014/main" id="{B110B540-F96D-4745-9CF8-7FBDEE9930BF}"/>
              </a:ext>
            </a:extLst>
          </p:cNvPr>
          <p:cNvPicPr>
            <a:picLocks noChangeAspect="1"/>
          </p:cNvPicPr>
          <p:nvPr/>
        </p:nvPicPr>
        <p:blipFill>
          <a:blip r:embed="rId2"/>
          <a:stretch>
            <a:fillRect/>
          </a:stretch>
        </p:blipFill>
        <p:spPr>
          <a:xfrm>
            <a:off x="467544" y="980728"/>
            <a:ext cx="3856886" cy="5192420"/>
          </a:xfrm>
          <a:prstGeom prst="rect">
            <a:avLst/>
          </a:prstGeom>
        </p:spPr>
      </p:pic>
      <p:pic>
        <p:nvPicPr>
          <p:cNvPr id="4" name="图片 3">
            <a:extLst>
              <a:ext uri="{FF2B5EF4-FFF2-40B4-BE49-F238E27FC236}">
                <a16:creationId xmlns:a16="http://schemas.microsoft.com/office/drawing/2014/main" id="{0ED8D172-E6B2-C942-B77B-9BB49F0DE409}"/>
              </a:ext>
            </a:extLst>
          </p:cNvPr>
          <p:cNvPicPr>
            <a:picLocks noChangeAspect="1"/>
          </p:cNvPicPr>
          <p:nvPr/>
        </p:nvPicPr>
        <p:blipFill>
          <a:blip r:embed="rId3"/>
          <a:stretch>
            <a:fillRect/>
          </a:stretch>
        </p:blipFill>
        <p:spPr>
          <a:xfrm>
            <a:off x="4819570" y="612844"/>
            <a:ext cx="3856886" cy="5819161"/>
          </a:xfrm>
          <a:prstGeom prst="rect">
            <a:avLst/>
          </a:prstGeom>
        </p:spPr>
      </p:pic>
    </p:spTree>
    <p:extLst>
      <p:ext uri="{BB962C8B-B14F-4D97-AF65-F5344CB8AC3E}">
        <p14:creationId xmlns:p14="http://schemas.microsoft.com/office/powerpoint/2010/main" val="122620513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CD897A7-3EF3-094E-9085-F2BECE9A57AF}"/>
              </a:ext>
            </a:extLst>
          </p:cNvPr>
          <p:cNvSpPr txBox="1"/>
          <p:nvPr/>
        </p:nvSpPr>
        <p:spPr>
          <a:xfrm>
            <a:off x="683568" y="601524"/>
            <a:ext cx="8003232" cy="584775"/>
          </a:xfrm>
          <a:prstGeom prst="rect">
            <a:avLst/>
          </a:prstGeom>
          <a:noFill/>
        </p:spPr>
        <p:txBody>
          <a:bodyPr wrap="square">
            <a:spAutoFit/>
          </a:bodyPr>
          <a:lstStyle/>
          <a:p>
            <a:r>
              <a:rPr lang="en-US" altLang="zh-CN" sz="3200" b="1" dirty="0">
                <a:effectLst/>
                <a:latin typeface="TimesNewRomanPS"/>
              </a:rPr>
              <a:t>5.3</a:t>
            </a:r>
            <a:r>
              <a:rPr lang="zh-CN" altLang="en-US" sz="3200" b="1" dirty="0">
                <a:effectLst/>
                <a:latin typeface="TimesNewRomanPS"/>
              </a:rPr>
              <a:t> 单向流水灯</a:t>
            </a:r>
            <a:endParaRPr lang="zh-CN" altLang="en-US" sz="2800" dirty="0"/>
          </a:p>
        </p:txBody>
      </p:sp>
      <p:sp>
        <p:nvSpPr>
          <p:cNvPr id="3" name="Rectangle 2">
            <a:extLst>
              <a:ext uri="{FF2B5EF4-FFF2-40B4-BE49-F238E27FC236}">
                <a16:creationId xmlns:a16="http://schemas.microsoft.com/office/drawing/2014/main" id="{62E5283F-D2F9-9143-9100-01AC5BEDAEA3}"/>
              </a:ext>
            </a:extLst>
          </p:cNvPr>
          <p:cNvSpPr>
            <a:spLocks noChangeArrowheads="1"/>
          </p:cNvSpPr>
          <p:nvPr/>
        </p:nvSpPr>
        <p:spPr bwMode="auto">
          <a:xfrm>
            <a:off x="457200" y="1463298"/>
            <a:ext cx="8229600" cy="389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zh-CN" altLang="en-US"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交通灯控制要求： </a:t>
            </a:r>
            <a:endParaRPr kumimoji="0" lang="en-US" altLang="zh-CN"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启动交通灯</a:t>
            </a: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X1:</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停止交通灯</a:t>
            </a: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*南北通车时</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东西红灯亮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8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秒，同时南北绿灯亮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5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秒、黄灯闪烁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3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*东西通车时</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南北红灯亮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7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秒，同时东西绿灯亮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4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秒、黄灯闪烁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3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a:t>
            </a:r>
          </a:p>
        </p:txBody>
      </p:sp>
      <p:sp>
        <p:nvSpPr>
          <p:cNvPr id="5" name="文本框 4">
            <a:extLst>
              <a:ext uri="{FF2B5EF4-FFF2-40B4-BE49-F238E27FC236}">
                <a16:creationId xmlns:a16="http://schemas.microsoft.com/office/drawing/2014/main" id="{F8C34F73-93A1-E103-CFDC-E2983DC0306C}"/>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214841268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EAB56FB-6F05-4C47-9AE1-F3E866D9C428}"/>
              </a:ext>
            </a:extLst>
          </p:cNvPr>
          <p:cNvPicPr>
            <a:picLocks noChangeAspect="1"/>
          </p:cNvPicPr>
          <p:nvPr/>
        </p:nvPicPr>
        <p:blipFill>
          <a:blip r:embed="rId2"/>
          <a:stretch>
            <a:fillRect/>
          </a:stretch>
        </p:blipFill>
        <p:spPr>
          <a:xfrm>
            <a:off x="1507028" y="955824"/>
            <a:ext cx="6129943" cy="4946352"/>
          </a:xfrm>
          <a:prstGeom prst="rect">
            <a:avLst/>
          </a:prstGeom>
        </p:spPr>
      </p:pic>
    </p:spTree>
    <p:extLst>
      <p:ext uri="{BB962C8B-B14F-4D97-AF65-F5344CB8AC3E}">
        <p14:creationId xmlns:p14="http://schemas.microsoft.com/office/powerpoint/2010/main" val="56417527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873EBD3-5728-9D4D-B4F4-F2B7CD3AB3CF}"/>
              </a:ext>
            </a:extLst>
          </p:cNvPr>
          <p:cNvSpPr txBox="1">
            <a:spLocks noChangeArrowheads="1"/>
          </p:cNvSpPr>
          <p:nvPr/>
        </p:nvSpPr>
        <p:spPr bwMode="auto">
          <a:xfrm>
            <a:off x="251520" y="404664"/>
            <a:ext cx="8640960" cy="416361"/>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SimSun" panose="02010600030101010101" pitchFamily="2" charset="-122"/>
                <a:ea typeface="SimSun" panose="02010600030101010101" pitchFamily="2" charset="-122"/>
              </a:rPr>
              <a:t>编程及工作原理</a:t>
            </a:r>
            <a:endParaRPr lang="zh-CN" altLang="en-US" sz="2400" dirty="0"/>
          </a:p>
        </p:txBody>
      </p:sp>
      <p:pic>
        <p:nvPicPr>
          <p:cNvPr id="3" name="图片 2">
            <a:extLst>
              <a:ext uri="{FF2B5EF4-FFF2-40B4-BE49-F238E27FC236}">
                <a16:creationId xmlns:a16="http://schemas.microsoft.com/office/drawing/2014/main" id="{4C2EE1FE-7876-8742-BEEB-EF8349899BFC}"/>
              </a:ext>
            </a:extLst>
          </p:cNvPr>
          <p:cNvPicPr>
            <a:picLocks noChangeAspect="1"/>
          </p:cNvPicPr>
          <p:nvPr/>
        </p:nvPicPr>
        <p:blipFill>
          <a:blip r:embed="rId2"/>
          <a:stretch>
            <a:fillRect/>
          </a:stretch>
        </p:blipFill>
        <p:spPr>
          <a:xfrm>
            <a:off x="27587" y="1133779"/>
            <a:ext cx="4544413" cy="4628356"/>
          </a:xfrm>
          <a:prstGeom prst="rect">
            <a:avLst/>
          </a:prstGeom>
        </p:spPr>
      </p:pic>
      <p:pic>
        <p:nvPicPr>
          <p:cNvPr id="4" name="图片 3">
            <a:extLst>
              <a:ext uri="{FF2B5EF4-FFF2-40B4-BE49-F238E27FC236}">
                <a16:creationId xmlns:a16="http://schemas.microsoft.com/office/drawing/2014/main" id="{6815459A-53A8-4748-BDEC-019D952DBE70}"/>
              </a:ext>
            </a:extLst>
          </p:cNvPr>
          <p:cNvPicPr>
            <a:picLocks noChangeAspect="1"/>
          </p:cNvPicPr>
          <p:nvPr/>
        </p:nvPicPr>
        <p:blipFill>
          <a:blip r:embed="rId3"/>
          <a:stretch>
            <a:fillRect/>
          </a:stretch>
        </p:blipFill>
        <p:spPr>
          <a:xfrm>
            <a:off x="4581128" y="770974"/>
            <a:ext cx="4320480" cy="5296207"/>
          </a:xfrm>
          <a:prstGeom prst="rect">
            <a:avLst/>
          </a:prstGeom>
        </p:spPr>
      </p:pic>
    </p:spTree>
    <p:extLst>
      <p:ext uri="{BB962C8B-B14F-4D97-AF65-F5344CB8AC3E}">
        <p14:creationId xmlns:p14="http://schemas.microsoft.com/office/powerpoint/2010/main" val="309610438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CD897A7-3EF3-094E-9085-F2BECE9A57AF}"/>
              </a:ext>
            </a:extLst>
          </p:cNvPr>
          <p:cNvSpPr txBox="1"/>
          <p:nvPr/>
        </p:nvSpPr>
        <p:spPr>
          <a:xfrm>
            <a:off x="683568" y="601524"/>
            <a:ext cx="8003232" cy="584775"/>
          </a:xfrm>
          <a:prstGeom prst="rect">
            <a:avLst/>
          </a:prstGeom>
          <a:noFill/>
        </p:spPr>
        <p:txBody>
          <a:bodyPr wrap="square">
            <a:spAutoFit/>
          </a:bodyPr>
          <a:lstStyle/>
          <a:p>
            <a:r>
              <a:rPr lang="en-US" altLang="zh-CN" sz="3200" b="1" dirty="0">
                <a:effectLst/>
                <a:latin typeface="TimesNewRomanPS"/>
              </a:rPr>
              <a:t>5.4</a:t>
            </a:r>
            <a:r>
              <a:rPr lang="zh-CN" altLang="en-US" sz="3200" b="1" dirty="0">
                <a:effectLst/>
                <a:latin typeface="TimesNewRomanPS"/>
              </a:rPr>
              <a:t> 思考题：可选方向流水灯？</a:t>
            </a:r>
            <a:endParaRPr lang="zh-CN" altLang="en-US" sz="2800" dirty="0"/>
          </a:p>
        </p:txBody>
      </p:sp>
      <p:sp>
        <p:nvSpPr>
          <p:cNvPr id="3" name="Rectangle 2">
            <a:extLst>
              <a:ext uri="{FF2B5EF4-FFF2-40B4-BE49-F238E27FC236}">
                <a16:creationId xmlns:a16="http://schemas.microsoft.com/office/drawing/2014/main" id="{62E5283F-D2F9-9143-9100-01AC5BEDAEA3}"/>
              </a:ext>
            </a:extLst>
          </p:cNvPr>
          <p:cNvSpPr>
            <a:spLocks noChangeArrowheads="1"/>
          </p:cNvSpPr>
          <p:nvPr/>
        </p:nvSpPr>
        <p:spPr bwMode="auto">
          <a:xfrm>
            <a:off x="457200" y="1340768"/>
            <a:ext cx="8229600" cy="4452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zh-CN" altLang="en-US" sz="2400" b="1" dirty="0">
                <a:latin typeface="Arial" panose="020B0604020202020204" pitchFamily="34" charset="0"/>
                <a:ea typeface="SimSun" panose="02010600030101010101" pitchFamily="2" charset="-122"/>
              </a:rPr>
              <a:t>流水</a:t>
            </a:r>
            <a:r>
              <a:rPr kumimoji="0" lang="zh-CN" altLang="en-US"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灯控制要求： </a:t>
            </a:r>
            <a:endParaRPr kumimoji="0" lang="en-US" altLang="zh-CN"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X0:Y0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亮，此时若按下再松开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X1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选择灯往左流水，若按下再松开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X2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则 选择往右流水。</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灯在流水时按下再松开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状态回到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亮其它停止。</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灯在流水时</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第一次按下再松开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X3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灯暂停流水，第二次按下再松开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X3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灯恢复流水，此过 程可反复操作。</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灯在暂停或流水状态下只要按下再松开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状态回到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Y0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亮其它停止。</a:t>
            </a:r>
          </a:p>
        </p:txBody>
      </p:sp>
    </p:spTree>
    <p:extLst>
      <p:ext uri="{BB962C8B-B14F-4D97-AF65-F5344CB8AC3E}">
        <p14:creationId xmlns:p14="http://schemas.microsoft.com/office/powerpoint/2010/main" val="61961266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70C21F9-EF22-8A46-9533-1FCD3EC40545}"/>
              </a:ext>
            </a:extLst>
          </p:cNvPr>
          <p:cNvPicPr>
            <a:picLocks noChangeAspect="1"/>
          </p:cNvPicPr>
          <p:nvPr/>
        </p:nvPicPr>
        <p:blipFill>
          <a:blip r:embed="rId2"/>
          <a:stretch>
            <a:fillRect/>
          </a:stretch>
        </p:blipFill>
        <p:spPr>
          <a:xfrm>
            <a:off x="2291802" y="620688"/>
            <a:ext cx="4560396" cy="6237312"/>
          </a:xfrm>
          <a:prstGeom prst="rect">
            <a:avLst/>
          </a:prstGeom>
        </p:spPr>
      </p:pic>
    </p:spTree>
    <p:extLst>
      <p:ext uri="{BB962C8B-B14F-4D97-AF65-F5344CB8AC3E}">
        <p14:creationId xmlns:p14="http://schemas.microsoft.com/office/powerpoint/2010/main" val="340223829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CD897A7-3EF3-094E-9085-F2BECE9A57AF}"/>
              </a:ext>
            </a:extLst>
          </p:cNvPr>
          <p:cNvSpPr txBox="1"/>
          <p:nvPr/>
        </p:nvSpPr>
        <p:spPr>
          <a:xfrm>
            <a:off x="683568" y="601524"/>
            <a:ext cx="8003232" cy="584775"/>
          </a:xfrm>
          <a:prstGeom prst="rect">
            <a:avLst/>
          </a:prstGeom>
          <a:noFill/>
        </p:spPr>
        <p:txBody>
          <a:bodyPr wrap="square">
            <a:spAutoFit/>
          </a:bodyPr>
          <a:lstStyle/>
          <a:p>
            <a:r>
              <a:rPr lang="en-US" altLang="zh-CN" sz="3200" b="1" dirty="0">
                <a:effectLst/>
                <a:latin typeface="TimesNewRomanPS"/>
              </a:rPr>
              <a:t>5.5</a:t>
            </a:r>
            <a:r>
              <a:rPr lang="zh-CN" altLang="en-US" sz="3200" b="1" dirty="0">
                <a:effectLst/>
                <a:latin typeface="TimesNewRomanPS"/>
              </a:rPr>
              <a:t> 交通灯</a:t>
            </a:r>
            <a:endParaRPr lang="zh-CN" altLang="en-US" sz="2800" dirty="0"/>
          </a:p>
        </p:txBody>
      </p:sp>
      <p:sp>
        <p:nvSpPr>
          <p:cNvPr id="3" name="Rectangle 2">
            <a:extLst>
              <a:ext uri="{FF2B5EF4-FFF2-40B4-BE49-F238E27FC236}">
                <a16:creationId xmlns:a16="http://schemas.microsoft.com/office/drawing/2014/main" id="{62E5283F-D2F9-9143-9100-01AC5BEDAEA3}"/>
              </a:ext>
            </a:extLst>
          </p:cNvPr>
          <p:cNvSpPr>
            <a:spLocks noChangeArrowheads="1"/>
          </p:cNvSpPr>
          <p:nvPr/>
        </p:nvSpPr>
        <p:spPr bwMode="auto">
          <a:xfrm>
            <a:off x="457200" y="1463298"/>
            <a:ext cx="8229600" cy="389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zh-CN" altLang="en-US"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交通灯控制要求： </a:t>
            </a:r>
            <a:endParaRPr kumimoji="0" lang="en-US" altLang="zh-CN" sz="2400" b="1"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启动交通灯</a:t>
            </a: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X1:</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停止交通灯</a:t>
            </a: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*南北通车时</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东西红灯亮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8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秒，同时南北绿灯亮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5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秒、黄灯闪烁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3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a:t>
            </a:r>
            <a:endPar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*东西通车时</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南北红灯亮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7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秒，同时东西绿灯亮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4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秒、黄灯闪烁 </a:t>
            </a:r>
            <a:r>
              <a:rPr kumimoji="0" lang="en-US" altLang="zh-CN"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3 </a:t>
            </a:r>
            <a:r>
              <a:rPr kumimoji="0" lang="zh-CN" altLang="en-US" sz="24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秒</a:t>
            </a:r>
          </a:p>
        </p:txBody>
      </p:sp>
      <p:sp>
        <p:nvSpPr>
          <p:cNvPr id="5" name="文本框 4">
            <a:extLst>
              <a:ext uri="{FF2B5EF4-FFF2-40B4-BE49-F238E27FC236}">
                <a16:creationId xmlns:a16="http://schemas.microsoft.com/office/drawing/2014/main" id="{F8C34F73-93A1-E103-CFDC-E2983DC0306C}"/>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618161365"/>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CD897A7-3EF3-094E-9085-F2BECE9A57AF}"/>
              </a:ext>
            </a:extLst>
          </p:cNvPr>
          <p:cNvSpPr txBox="1"/>
          <p:nvPr/>
        </p:nvSpPr>
        <p:spPr>
          <a:xfrm>
            <a:off x="683568" y="601524"/>
            <a:ext cx="8003232" cy="584775"/>
          </a:xfrm>
          <a:prstGeom prst="rect">
            <a:avLst/>
          </a:prstGeom>
          <a:noFill/>
        </p:spPr>
        <p:txBody>
          <a:bodyPr wrap="square">
            <a:spAutoFit/>
          </a:bodyPr>
          <a:lstStyle/>
          <a:p>
            <a:r>
              <a:rPr lang="zh-CN" altLang="en-US" sz="3200" b="1" dirty="0">
                <a:effectLst/>
                <a:latin typeface="TimesNewRomanPS"/>
              </a:rPr>
              <a:t>大作业</a:t>
            </a:r>
            <a:r>
              <a:rPr lang="en-US" altLang="zh-CN" sz="3200" b="1" dirty="0">
                <a:effectLst/>
                <a:latin typeface="TimesNewRomanPS"/>
              </a:rPr>
              <a:t>——</a:t>
            </a:r>
            <a:r>
              <a:rPr lang="zh-CN" altLang="en-US" sz="3200" b="1" dirty="0">
                <a:effectLst/>
                <a:latin typeface="TimesNewRomanPS"/>
              </a:rPr>
              <a:t>单台电梯控制</a:t>
            </a:r>
            <a:r>
              <a:rPr lang="en-US" altLang="zh-CN" sz="3200" b="1" dirty="0">
                <a:effectLst/>
                <a:latin typeface="TimesNewRomanPS"/>
              </a:rPr>
              <a:t>PLC</a:t>
            </a:r>
            <a:r>
              <a:rPr lang="zh-CN" altLang="en-US" sz="3200" b="1" dirty="0">
                <a:effectLst/>
                <a:latin typeface="TimesNewRomanPS"/>
              </a:rPr>
              <a:t>程序编写</a:t>
            </a:r>
            <a:endParaRPr lang="zh-CN" altLang="en-US" sz="2800" dirty="0"/>
          </a:p>
        </p:txBody>
      </p:sp>
      <p:sp>
        <p:nvSpPr>
          <p:cNvPr id="3" name="Rectangle 2">
            <a:extLst>
              <a:ext uri="{FF2B5EF4-FFF2-40B4-BE49-F238E27FC236}">
                <a16:creationId xmlns:a16="http://schemas.microsoft.com/office/drawing/2014/main" id="{62E5283F-D2F9-9143-9100-01AC5BEDAEA3}"/>
              </a:ext>
            </a:extLst>
          </p:cNvPr>
          <p:cNvSpPr>
            <a:spLocks noChangeArrowheads="1"/>
          </p:cNvSpPr>
          <p:nvPr/>
        </p:nvSpPr>
        <p:spPr bwMode="auto">
          <a:xfrm>
            <a:off x="457200" y="1318805"/>
            <a:ext cx="8229600" cy="4187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zh-CN" altLang="en-US" sz="20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电梯控制程序要求（假定只响应外面板指令）： </a:t>
            </a:r>
            <a:endParaRPr kumimoji="0" lang="en-US" altLang="zh-CN" sz="2000" b="1"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X0:</a:t>
            </a: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启动电梯等待</a:t>
            </a: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*按下再松开 </a:t>
            </a:r>
            <a:r>
              <a:rPr kumimoji="0" lang="en"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X1:</a:t>
            </a: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停止电梯</a:t>
            </a: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*电梯响应指令</a:t>
            </a:r>
            <a:r>
              <a:rPr kumimoji="0" lang="en-US"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如果上行则电梯电机正转（输出线圈</a:t>
            </a:r>
            <a:r>
              <a:rPr kumimoji="0" lang="en-US"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Y0</a:t>
            </a: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）如果下行则电梯电机反转（输出线圈</a:t>
            </a:r>
            <a:r>
              <a:rPr kumimoji="0" lang="en-US"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Y1</a:t>
            </a: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），应互锁，电梯所在楼层闪烁，需要到达的目标楼层常亮，当到达目标楼层后取消常亮。</a:t>
            </a:r>
            <a:endParaRPr kumimoji="0" lang="en-US"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*多条指令时</a:t>
            </a:r>
            <a:r>
              <a:rPr kumimoji="0" lang="en-US" altLang="zh-CN"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
            </a:r>
            <a:r>
              <a:rPr kumimoji="0" lang="zh-CN" altLang="en-US" sz="20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第一个指令优先，如果行进途中有新的指令，只有新指令楼层（此处只考虑发出指令楼层，不是目标楼层）在电梯当前楼层与第一个指令楼层之间才响应。（注意区分外面板与内面板的指令）</a:t>
            </a:r>
          </a:p>
        </p:txBody>
      </p:sp>
      <p:sp>
        <p:nvSpPr>
          <p:cNvPr id="5" name="文本框 4">
            <a:extLst>
              <a:ext uri="{FF2B5EF4-FFF2-40B4-BE49-F238E27FC236}">
                <a16:creationId xmlns:a16="http://schemas.microsoft.com/office/drawing/2014/main" id="{F8C34F73-93A1-E103-CFDC-E2983DC0306C}"/>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3231873809"/>
      </p:ext>
    </p:extLst>
  </p:cSld>
  <p:clrMapOvr>
    <a:masterClrMapping/>
  </p:clrMapOv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9680</TotalTime>
  <Words>3695</Words>
  <Application>Microsoft Macintosh PowerPoint</Application>
  <PresentationFormat>全屏显示(4:3)</PresentationFormat>
  <Paragraphs>192</Paragraphs>
  <Slides>58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58</vt:i4>
      </vt:variant>
    </vt:vector>
  </HeadingPairs>
  <TitlesOfParts>
    <vt:vector size="71" baseType="lpstr">
      <vt:lpstr>等线</vt:lpstr>
      <vt:lpstr>华文楷体</vt:lpstr>
      <vt:lpstr>宋体</vt:lpstr>
      <vt:lpstr>宋体</vt:lpstr>
      <vt:lpstr>Brush Script MT</vt:lpstr>
      <vt:lpstr>TimesNewRomanPS</vt:lpstr>
      <vt:lpstr>TimesNewRomanPSMT</vt:lpstr>
      <vt:lpstr>Arial</vt:lpstr>
      <vt:lpstr>Arial Black</vt:lpstr>
      <vt:lpstr>Calibri</vt:lpstr>
      <vt:lpstr>Times New Roman</vt:lpstr>
      <vt:lpstr>Wingdings</vt:lpstr>
      <vt:lpstr>Pixel</vt:lpstr>
      <vt:lpstr>12 PLC编程及应用</vt:lpstr>
      <vt:lpstr>二、PLC编程与应用</vt:lpstr>
      <vt:lpstr>主要内容</vt:lpstr>
      <vt:lpstr>1、 PLC常用器件及应用</vt:lpstr>
      <vt:lpstr>PowerPoint 演示文稿</vt:lpstr>
      <vt:lpstr>PowerPoint 演示文稿</vt:lpstr>
      <vt:lpstr>PowerPoint 演示文稿</vt:lpstr>
      <vt:lpstr>PowerPoint 演示文稿</vt:lpstr>
      <vt:lpstr>PowerPoint 演示文稿</vt:lpstr>
      <vt:lpstr>PowerPoint 演示文稿</vt:lpstr>
      <vt:lpstr>2、 PLC常用控制电路及示例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3、PLC模拟器及调试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4、PLC基础功能编程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5、典型工程应用实施案例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引子——思考几个问题</dc:title>
  <dc:creator>zy</dc:creator>
  <cp:lastModifiedBy>蒋 建华</cp:lastModifiedBy>
  <cp:revision>156</cp:revision>
  <dcterms:created xsi:type="dcterms:W3CDTF">2012-11-09T08:12:16Z</dcterms:created>
  <dcterms:modified xsi:type="dcterms:W3CDTF">2024-06-14T06:08:50Z</dcterms:modified>
</cp:coreProperties>
</file>